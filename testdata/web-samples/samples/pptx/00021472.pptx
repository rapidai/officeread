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0" r:id="rId3"/>
    <p:sldId id="278" r:id="rId4"/>
    <p:sldId id="257" r:id="rId5"/>
    <p:sldId id="259" r:id="rId6"/>
    <p:sldId id="258" r:id="rId7"/>
    <p:sldId id="262" r:id="rId8"/>
    <p:sldId id="263" r:id="rId9"/>
    <p:sldId id="267" r:id="rId10"/>
    <p:sldId id="266" r:id="rId11"/>
    <p:sldId id="265" r:id="rId12"/>
    <p:sldId id="264" r:id="rId13"/>
    <p:sldId id="275" r:id="rId14"/>
    <p:sldId id="261" r:id="rId15"/>
    <p:sldId id="268" r:id="rId16"/>
    <p:sldId id="269" r:id="rId17"/>
    <p:sldId id="270" r:id="rId18"/>
    <p:sldId id="271" r:id="rId19"/>
    <p:sldId id="272" r:id="rId20"/>
    <p:sldId id="273" r:id="rId21"/>
    <p:sldId id="274" r:id="rId22"/>
    <p:sldId id="277" r:id="rId23"/>
    <p:sldId id="276"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5354" autoAdjust="0"/>
  </p:normalViewPr>
  <p:slideViewPr>
    <p:cSldViewPr>
      <p:cViewPr varScale="1">
        <p:scale>
          <a:sx n="54" d="100"/>
          <a:sy n="54" d="100"/>
        </p:scale>
        <p:origin x="-153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192EAA-8703-402E-B2FB-149A293AD4A3}" type="datetimeFigureOut">
              <a:rPr lang="en-US" smtClean="0"/>
              <a:pPr/>
              <a:t>11/14/2011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564424-2BD1-4E9C-ADA1-AC5997CB7EAE}" type="slidenum">
              <a:rPr lang="en-US" smtClean="0"/>
              <a:pPr/>
              <a:t>‹#›</a:t>
            </a:fld>
            <a:endParaRPr lang="en-US"/>
          </a:p>
        </p:txBody>
      </p:sp>
    </p:spTree>
    <p:extLst>
      <p:ext uri="{BB962C8B-B14F-4D97-AF65-F5344CB8AC3E}">
        <p14:creationId xmlns:p14="http://schemas.microsoft.com/office/powerpoint/2010/main" xmlns="" val="1276610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Welcome to the first in a series of webinars based on the Handbook</a:t>
            </a:r>
            <a:r>
              <a:rPr lang="en-US" baseline="0" dirty="0" smtClean="0"/>
              <a:t> on Family and Community Engagement.</a:t>
            </a:r>
          </a:p>
          <a:p>
            <a:endParaRPr lang="en-US" baseline="0" dirty="0" smtClean="0"/>
          </a:p>
          <a:p>
            <a:r>
              <a:rPr lang="en-US" baseline="0" dirty="0" smtClean="0"/>
              <a:t>In this webinar, we will take </a:t>
            </a:r>
            <a:r>
              <a:rPr lang="en-US" baseline="0" smtClean="0"/>
              <a:t>a walk </a:t>
            </a:r>
            <a:r>
              <a:rPr lang="en-US" baseline="0" dirty="0" smtClean="0"/>
              <a:t>through the first two Parts of the Handbook, explaining how the Handbook is organized and a little about its authors. We will hit the high points of the Handbook, its themes, and how you might apply the Handbook in your work or with your children. Then we will engage you—the participants—in discussion. We are eager to learn about your work or your role with children and how the Handbook might be useful to you.</a:t>
            </a:r>
          </a:p>
          <a:p>
            <a:endParaRPr lang="en-US" baseline="0" dirty="0" smtClean="0"/>
          </a:p>
          <a:p>
            <a:r>
              <a:rPr lang="en-US" baseline="0" dirty="0" smtClean="0"/>
              <a:t>Our first discussion question will be: So, after walking through the pages of the Handbook, which topic resonates most with you? Which chapter are you just itching to dive into? Why?</a:t>
            </a:r>
          </a:p>
          <a:p>
            <a:endParaRPr lang="en-US" baseline="0" dirty="0" smtClean="0"/>
          </a:p>
        </p:txBody>
      </p:sp>
      <p:sp>
        <p:nvSpPr>
          <p:cNvPr id="4" name="Slide Number Placeholder 3"/>
          <p:cNvSpPr>
            <a:spLocks noGrp="1"/>
          </p:cNvSpPr>
          <p:nvPr>
            <p:ph type="sldNum" sz="quarter" idx="10"/>
          </p:nvPr>
        </p:nvSpPr>
        <p:spPr/>
        <p:txBody>
          <a:bodyPr/>
          <a:lstStyle/>
          <a:p>
            <a:fld id="{2B564424-2BD1-4E9C-ADA1-AC5997CB7EAE}"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There are four Parts to the Handbook. Part I: Framing the Discussion, Part II: Families and Learning, Part III: Families and Schools, and Part IV Checklist of Suggested Practices.</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this webinar, we will cover Parts I and II. In the next webinar, we will cover Parts III and IV&gt;</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Handbook was made possible through the foresight and funding of our friends in Title 1 at the Office of Elementary and Secondary Education at the U.S. Department of Education. Pat McKee, the interim director of Title 1, will explain why the Handbook came to be. Pat.</a:t>
            </a:r>
            <a:endParaRPr lang="en-US" dirty="0" smtClean="0"/>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aseline="0" dirty="0" smtClean="0"/>
              <a:t>Pat McKee: Since 1965, the Elementary and Secondary Education Act, primarily through Title I, has considered family engagement as a cornerstone of school efforts to enrich the lives of children. </a:t>
            </a:r>
            <a:r>
              <a:rPr lang="en-US" dirty="0" smtClean="0"/>
              <a:t>Through the years, interest in the relationships among families,</a:t>
            </a:r>
            <a:r>
              <a:rPr lang="en-US" baseline="0" dirty="0" smtClean="0"/>
              <a:t> communities, and schools has grown steadily, and in recent years the quality and breadth of research and practice have greatly expanded. This seems like a good time to cast a wide topical net and gather in the many schools of thought that swim the scholarly sea. Some of the high interest in families, communities, and schools arises from concern about the condition of all three: Families have changed significantly in size, composition, and permanency over the last half century, and communities have been become less stable and more diverse. Schools are more varied now, reflecting the diversity and mobility of families and the changing nature of communities. While sociologists and psychologists have stroked their beards and theorized on the causes and consequences of all this change, educators have strived valiantly to keep pace. This seems like a good time to collect our best thoughts and set down what we think we know. </a:t>
            </a:r>
          </a:p>
          <a:p>
            <a:endParaRPr lang="en-US" baseline="0" dirty="0" smtClean="0"/>
          </a:p>
          <a:p>
            <a:r>
              <a:rPr lang="en-US" baseline="0" smtClean="0"/>
              <a:t>Thirty-six </a:t>
            </a:r>
            <a:r>
              <a:rPr lang="en-US" baseline="0" dirty="0" smtClean="0"/>
              <a:t>of the best thinkers on family and community engagement were assembled to produce this Handbook, and they come to the task with varied backgrounds and lines of endeavor. Each could write volumes on the topics they address in the Handbook, and quite a few have. Our charge to them was to give tell us what they know in plain language, succinctly presented in short chapters with practical suggestions for states, districts, and schools at the end. </a:t>
            </a:r>
          </a:p>
          <a:p>
            <a:endParaRPr lang="en-US" baseline="0" dirty="0" smtClean="0"/>
          </a:p>
          <a:p>
            <a:r>
              <a:rPr lang="en-US" baseline="0" dirty="0" smtClean="0"/>
              <a:t>At some point in putting the Handbook together, we yearned for a different mode of expression. All of the writers bring to their scholarly work great hearts for what they do. We wanted to give some of them a forum to reveal that heart. The vignettes in the Handbook are fictional, although we suspect that most are derived from real-life experience. They give us vivid pictures of the real life of parents, teachers, and kids. In all, their portrayal is one of optimism and celebration of the goodness that encompasses the diversity of families, schools, and communities across our nation. They remind us that families, teachers, and children are ready to receive and benefit from the good advice we might throw their way. That is an inspiration to us at Title I and to all the authors and editors of the Handbook.</a:t>
            </a:r>
          </a:p>
          <a:p>
            <a:endParaRPr lang="en-US" baseline="0" dirty="0" smtClean="0"/>
          </a:p>
          <a:p>
            <a:r>
              <a:rPr lang="en-US" baseline="0" dirty="0" smtClean="0"/>
              <a:t>We are eager to hear how you apply the knowledge and suggestions contained in the Handbook to your important work with families, communities, and schools. We are also interested in how the Handbook might be a good resources for families.</a:t>
            </a:r>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Thank</a:t>
            </a:r>
            <a:r>
              <a:rPr lang="en-US" baseline="0" smtClean="0"/>
              <a:t> you, Pat.</a:t>
            </a:r>
            <a:endParaRPr lang="en-US" dirty="0" smtClean="0"/>
          </a:p>
          <a:p>
            <a:endParaRPr lang="en-US" dirty="0" smtClean="0"/>
          </a:p>
          <a:p>
            <a:r>
              <a:rPr lang="en-US" dirty="0" smtClean="0"/>
              <a:t>Helen Westmoreland introduces the Handbook by tracing its themes</a:t>
            </a:r>
            <a:r>
              <a:rPr lang="en-US" baseline="0" dirty="0" smtClean="0"/>
              <a:t> and relating them to the important work of the many people who are devoted to improving the life opportunities of children. </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“Though family and community engagement is hard work,” she says, “the </a:t>
            </a:r>
            <a:r>
              <a:rPr lang="en-US" sz="1200" i="1" kern="1200" dirty="0" smtClean="0">
                <a:solidFill>
                  <a:schemeClr val="tx1"/>
                </a:solidFill>
                <a:latin typeface="+mn-lt"/>
                <a:ea typeface="+mn-ea"/>
                <a:cs typeface="+mn-cs"/>
              </a:rPr>
              <a:t>Handbook</a:t>
            </a:r>
            <a:r>
              <a:rPr lang="en-US" sz="1200" kern="1200" dirty="0" smtClean="0">
                <a:solidFill>
                  <a:schemeClr val="tx1"/>
                </a:solidFill>
                <a:latin typeface="+mn-lt"/>
                <a:ea typeface="+mn-ea"/>
                <a:cs typeface="+mn-cs"/>
              </a:rPr>
              <a:t> helps ground us in what has been accomplished, and what is possible for the future.”</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Part I: Framing the Discussion includes six chapters in which we gave the authors a little room to roam. These chapters</a:t>
            </a:r>
            <a:r>
              <a:rPr lang="en-US" baseline="0" dirty="0" smtClean="0"/>
              <a:t> are longer than in the other parts of the Handbook, and the scope of each of their topics is wider.</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2B564424-2BD1-4E9C-ADA1-AC5997CB7EAE}"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Oliver Moles and Arnold </a:t>
            </a:r>
            <a:r>
              <a:rPr lang="en-US" baseline="0" dirty="0" err="1" smtClean="0"/>
              <a:t>Fege</a:t>
            </a:r>
            <a:r>
              <a:rPr lang="en-US" baseline="0" dirty="0" smtClean="0"/>
              <a:t> retrace the history of the federal government’s commitment to family engagement, especially through Title I of the Elementary and Secondary Education Act, dating back to 1965. We are reminded of the changes of emphases over the years, the way the law has responded to lessons learned. Moles and </a:t>
            </a:r>
            <a:r>
              <a:rPr lang="en-US" baseline="0" dirty="0" err="1" smtClean="0"/>
              <a:t>Fege</a:t>
            </a:r>
            <a:r>
              <a:rPr lang="en-US" baseline="0" dirty="0" smtClean="0"/>
              <a:t> suggest new directions for Title I that build upon the substantial work done to date.</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Sam Redding reminds us that the school is, itself, a community of people devoted to the students in their midst—families, teachers, administrators, staff, volunteers, and the students themselves. He outlines a six-component process for building a strong school community in which everyone works together for student success.</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Heather Weiss and Elena Lopez explain that family engagement gains traction and gets results when based on and guided by data.</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Lauren </a:t>
            </a:r>
            <a:r>
              <a:rPr lang="en-US" baseline="0" dirty="0" err="1" smtClean="0"/>
              <a:t>Morando</a:t>
            </a:r>
            <a:r>
              <a:rPr lang="en-US" baseline="0" dirty="0" smtClean="0"/>
              <a:t> </a:t>
            </a:r>
            <a:r>
              <a:rPr lang="en-US" baseline="0" dirty="0" err="1" smtClean="0"/>
              <a:t>Rhim</a:t>
            </a:r>
            <a:r>
              <a:rPr lang="en-US" baseline="0" dirty="0" smtClean="0"/>
              <a:t> addresses the nation’s priority for turning around low-performing schools and describes how family and community engagement are essential to the task.</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Ask parents what they want most for their children, and they will say: “We want our children to be happy, self-confident, productive, responsible, and surrounded by love.” Amy Mart, Linda </a:t>
            </a:r>
            <a:r>
              <a:rPr lang="en-US" baseline="0" dirty="0" err="1" smtClean="0"/>
              <a:t>Dusenbury</a:t>
            </a:r>
            <a:r>
              <a:rPr lang="en-US" baseline="0" dirty="0" smtClean="0"/>
              <a:t>, and Roger </a:t>
            </a:r>
            <a:r>
              <a:rPr lang="en-US" baseline="0" dirty="0" err="1" smtClean="0"/>
              <a:t>Weissberg</a:t>
            </a:r>
            <a:r>
              <a:rPr lang="en-US" baseline="0" dirty="0" smtClean="0"/>
              <a:t> show us that by engaging families and communities in intentional efforts to enhance social and emotional learning, schools also establish the foundation necessary for students’ academic success.</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Marty Blank encourages schools to look beyond their doors to engage community groups and community members, purposefully, to draw them into close association with the school and to bring their resources and expertise conveniently to the benefit of students and their families.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Framing the Discussion includes</a:t>
            </a:r>
            <a:r>
              <a:rPr lang="en-US" baseline="0" dirty="0" smtClean="0"/>
              <a:t> a lot of food for thought. We will pause for a minute for you to jot a couple notes of what struck a chord with you.</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[Pause for 1 minute,</a:t>
            </a:r>
            <a:r>
              <a:rPr lang="en-US" baseline="0" dirty="0" smtClean="0"/>
              <a:t> then continue.]</a:t>
            </a:r>
            <a:endParaRPr lang="en-US" dirty="0" smtClean="0"/>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The school’s purpose is to advance each student’s learning. Families expect their children’s schools to do just that. But families have a big</a:t>
            </a:r>
            <a:r>
              <a:rPr lang="en-US" baseline="0" dirty="0" smtClean="0"/>
              <a:t> role in their children’s school success. The chapters in this part of the Handbook cover the important aspects of home life that contribute to students’ learning.</a:t>
            </a:r>
          </a:p>
          <a:p>
            <a:endParaRPr lang="en-US" baseline="0" dirty="0" smtClean="0"/>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sz="1200" i="0" kern="1200" baseline="0" dirty="0" smtClean="0">
              <a:solidFill>
                <a:schemeClr val="tx1"/>
              </a:solidFill>
              <a:latin typeface="+mn-lt"/>
              <a:ea typeface="+mn-ea"/>
              <a:cs typeface="+mn-cs"/>
            </a:endParaRPr>
          </a:p>
          <a:p>
            <a:endParaRPr lang="en-US" i="0"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William </a:t>
            </a:r>
            <a:r>
              <a:rPr lang="en-US" sz="1200" kern="1200" dirty="0" err="1" smtClean="0">
                <a:solidFill>
                  <a:schemeClr val="tx1"/>
                </a:solidFill>
                <a:latin typeface="+mn-lt"/>
                <a:ea typeface="+mn-ea"/>
                <a:cs typeface="+mn-cs"/>
              </a:rPr>
              <a:t>Jeynes</a:t>
            </a:r>
            <a:r>
              <a:rPr lang="en-US" sz="1200" kern="1200" dirty="0" smtClean="0">
                <a:solidFill>
                  <a:schemeClr val="tx1"/>
                </a:solidFill>
                <a:latin typeface="+mn-lt"/>
                <a:ea typeface="+mn-ea"/>
                <a:cs typeface="+mn-cs"/>
              </a:rPr>
              <a:t> describes how parents’ aspirations and expectations for their children strongly impact school success, persistence in school, and ultimate goals in life. In fact, recent studies show that parental aspirations and expectations for their children may be the most significant family factors affecting school success. “It is important to note,” </a:t>
            </a:r>
            <a:r>
              <a:rPr lang="en-US" sz="1200" kern="1200" dirty="0" err="1" smtClean="0">
                <a:solidFill>
                  <a:schemeClr val="tx1"/>
                </a:solidFill>
                <a:latin typeface="+mn-lt"/>
                <a:ea typeface="+mn-ea"/>
                <a:cs typeface="+mn-cs"/>
              </a:rPr>
              <a:t>Jeynes</a:t>
            </a:r>
            <a:r>
              <a:rPr lang="en-US" sz="1200" kern="1200" dirty="0" smtClean="0">
                <a:solidFill>
                  <a:schemeClr val="tx1"/>
                </a:solidFill>
                <a:latin typeface="+mn-lt"/>
                <a:ea typeface="+mn-ea"/>
                <a:cs typeface="+mn-cs"/>
              </a:rPr>
              <a:t> writes, “that the high expectations that were associated with elevated levels of academic achievement were not those of an authoritarian nature in which a father or mother bellowed, ‘You will go to Harvard or Princeton’. “Rather, these expectations are often more unspoken than they are spoken. It is a general understanding that is a product of a potent work ethic, a strong faith regarding the future, and a pleasantly steadfast spirit.” </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i="0" kern="1200" baseline="0" dirty="0" smtClean="0">
                <a:solidFill>
                  <a:schemeClr val="tx1"/>
                </a:solidFill>
                <a:latin typeface="+mn-lt"/>
                <a:ea typeface="+mn-ea"/>
                <a:cs typeface="+mn-cs"/>
              </a:rPr>
              <a:t>Kathleen Hoover-Dempsey explains that parents’ inclination to engage with the school and with their children’s learning hinges on their personal assessment of their ability to succeed in the undertaking. Some parents may shy away from engagement with school and with their children’s learning at home because they harbor insecurities, often derived from their own experiences in school. Hoover-Dempsey provides suggestions for how school personnel can intentionally build parents’ sense of self-efficacy in taking an active role with the school and with their children’s learning.</a:t>
            </a:r>
          </a:p>
        </p:txBody>
      </p:sp>
      <p:sp>
        <p:nvSpPr>
          <p:cNvPr id="4" name="Slide Number Placeholder 3"/>
          <p:cNvSpPr>
            <a:spLocks noGrp="1"/>
          </p:cNvSpPr>
          <p:nvPr>
            <p:ph type="sldNum" sz="quarter" idx="10"/>
          </p:nvPr>
        </p:nvSpPr>
        <p:spPr/>
        <p:txBody>
          <a:bodyPr/>
          <a:lstStyle/>
          <a:p>
            <a:fld id="{2B564424-2BD1-4E9C-ADA1-AC5997CB7EAE}"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n-lt"/>
                <a:ea typeface="+mn-ea"/>
                <a:cs typeface="+mn-cs"/>
              </a:rPr>
              <a:t>Herb Walberg reminds us that children spend 92% of their time in their first 18 years of life outside of school and under the supervision of their families. Helping parents provide the out-of-school activities and guidance most conducive to learning is a way for schools to leverage that 92% of students’ time to achieve better results in school learning. The school has its curriculum of knowledge and skills for students to master. The home’s curriculum is of a different kind, but just as important. The parent-child relationships, parental expectations, the routine of family life, the priority given to constructive activity, and parents’ supervision of their children’s out-of-school life bear heavily on the child’s success in school. The role of the school is to help parents understand and support this “curriculum of the home.”</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n-lt"/>
                <a:ea typeface="+mn-ea"/>
                <a:cs typeface="+mn-cs"/>
              </a:rPr>
              <a:t>For many families, their children’s homework is their most obvious connection with the school. Lee </a:t>
            </a:r>
            <a:r>
              <a:rPr lang="en-US" sz="1200" i="0" kern="1200" baseline="0" dirty="0" err="1" smtClean="0">
                <a:solidFill>
                  <a:schemeClr val="tx1"/>
                </a:solidFill>
                <a:latin typeface="+mn-lt"/>
                <a:ea typeface="+mn-ea"/>
                <a:cs typeface="+mn-cs"/>
              </a:rPr>
              <a:t>Shumow</a:t>
            </a:r>
            <a:r>
              <a:rPr lang="en-US" sz="1200" i="0" kern="1200" baseline="0" dirty="0" smtClean="0">
                <a:solidFill>
                  <a:schemeClr val="tx1"/>
                </a:solidFill>
                <a:latin typeface="+mn-lt"/>
                <a:ea typeface="+mn-ea"/>
                <a:cs typeface="+mn-cs"/>
              </a:rPr>
              <a:t> explains how parents can make homework an opportunity for positive connections between parents and children that underscore the importance of learning. </a:t>
            </a:r>
            <a:r>
              <a:rPr lang="en-US" sz="1200" i="0" kern="1200" baseline="0" dirty="0" err="1" smtClean="0">
                <a:solidFill>
                  <a:schemeClr val="tx1"/>
                </a:solidFill>
                <a:latin typeface="+mn-lt"/>
                <a:ea typeface="+mn-ea"/>
                <a:cs typeface="+mn-cs"/>
              </a:rPr>
              <a:t>Shumow</a:t>
            </a:r>
            <a:r>
              <a:rPr lang="en-US" sz="1200" i="0" kern="1200" baseline="0" dirty="0" smtClean="0">
                <a:solidFill>
                  <a:schemeClr val="tx1"/>
                </a:solidFill>
                <a:latin typeface="+mn-lt"/>
                <a:ea typeface="+mn-ea"/>
                <a:cs typeface="+mn-cs"/>
              </a:rPr>
              <a:t> describes the changes in the parent-child relationship relative to homework that occur as the child gets older and passes through the grades in school.</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n-lt"/>
                <a:ea typeface="+mn-ea"/>
                <a:cs typeface="+mn-cs"/>
              </a:rPr>
              <a:t>Because reading and literacy are so critical to school success, two chapters are devoted to the topic. Holly </a:t>
            </a:r>
            <a:r>
              <a:rPr lang="en-US" sz="1200" i="0" kern="1200" baseline="0" dirty="0" err="1" smtClean="0">
                <a:solidFill>
                  <a:schemeClr val="tx1"/>
                </a:solidFill>
                <a:latin typeface="+mn-lt"/>
                <a:ea typeface="+mn-ea"/>
                <a:cs typeface="+mn-cs"/>
              </a:rPr>
              <a:t>Kreider</a:t>
            </a:r>
            <a:r>
              <a:rPr lang="en-US" sz="1200" i="0" kern="1200" baseline="0" dirty="0" smtClean="0">
                <a:solidFill>
                  <a:schemeClr val="tx1"/>
                </a:solidFill>
                <a:latin typeface="+mn-lt"/>
                <a:ea typeface="+mn-ea"/>
                <a:cs typeface="+mn-cs"/>
              </a:rPr>
              <a:t> shows that the school has a great influence on families’ reading habits at home. This is true regardless of the family’s home language or reading ability.</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n-lt"/>
                <a:ea typeface="+mn-ea"/>
                <a:cs typeface="+mn-cs"/>
              </a:rPr>
              <a:t>Diana Hiatt-Michael further emphasizes the significance of reading and literacy to students’ progress in school, throughout the years of schooling. She explains the importance of the school’s library and how it is used, the school’s partnerships with public libraries, and ways the school can help families provide strong reading environments for their children.</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baseline="0" dirty="0" smtClean="0">
                <a:solidFill>
                  <a:schemeClr val="tx1"/>
                </a:solidFill>
                <a:latin typeface="+mn-lt"/>
                <a:ea typeface="+mn-ea"/>
                <a:cs typeface="+mn-cs"/>
              </a:rPr>
              <a:t>You know the old adage “Begin with the end in sight.” Mary Waters and Mark Williams describe the family’s role in preparing their children for college and careers and how schools can provide the information, programs, and supports for parents to assist their children in preparing for life after high school. The authors also call upon schools, especially high schools, to connect students’ academic learning with their personal pursuits and show them pathways to reaching their goals.</a:t>
            </a:r>
          </a:p>
          <a:p>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Part II of the Handbook: Families and Learning covers a range of topics about the family’s role in student learning. We will pause for a minute for you to jot a couple notes of what struck a chord with you.</a:t>
            </a:r>
          </a:p>
          <a:p>
            <a:r>
              <a:rPr lang="en-US" sz="1200" kern="1200" dirty="0" smtClean="0">
                <a:solidFill>
                  <a:schemeClr val="tx1"/>
                </a:solidFill>
                <a:latin typeface="+mn-lt"/>
                <a:ea typeface="+mn-ea"/>
                <a:cs typeface="+mn-cs"/>
              </a:rPr>
              <a:t>[Pause for 1 minute, then continue.]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B564424-2BD1-4E9C-ADA1-AC5997CB7EAE}"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Part II of the Handbook</a:t>
            </a:r>
            <a:r>
              <a:rPr lang="en-US" baseline="0" dirty="0" smtClean="0"/>
              <a:t> includes five vignettes, each a portrayal of people for whom the Handbook is meant to serve. </a:t>
            </a:r>
          </a:p>
          <a:p>
            <a:endParaRPr lang="en-US" baseline="0" dirty="0" smtClean="0"/>
          </a:p>
          <a:p>
            <a:r>
              <a:rPr lang="en-US" baseline="0" dirty="0" smtClean="0"/>
              <a:t>William </a:t>
            </a:r>
            <a:r>
              <a:rPr lang="en-US" baseline="0" dirty="0" err="1" smtClean="0"/>
              <a:t>Jeynes</a:t>
            </a:r>
            <a:r>
              <a:rPr lang="en-US" baseline="0" dirty="0" smtClean="0"/>
              <a:t> tells the story of Jessica and her mother and how the mother’s gently conveyed aspirations for Jessica and her wise guidance formed a strong foundation for Jessica’s success in school and in life.</a:t>
            </a:r>
          </a:p>
          <a:p>
            <a:endParaRPr lang="en-US" baseline="0" dirty="0" smtClean="0"/>
          </a:p>
          <a:p>
            <a:r>
              <a:rPr lang="en-US" baseline="0" dirty="0" smtClean="0"/>
              <a:t>Annabelle, in the vignette written by Marilyn Murphy, is a little girl who loves school and wonders why people celebrate on the last day of the school year.</a:t>
            </a:r>
          </a:p>
          <a:p>
            <a:endParaRPr lang="en-US" baseline="0" dirty="0" smtClean="0"/>
          </a:p>
          <a:p>
            <a:r>
              <a:rPr lang="en-US" baseline="0" dirty="0" smtClean="0"/>
              <a:t>Lee </a:t>
            </a:r>
            <a:r>
              <a:rPr lang="en-US" baseline="0" dirty="0" err="1" smtClean="0"/>
              <a:t>Shumow’s</a:t>
            </a:r>
            <a:r>
              <a:rPr lang="en-US" baseline="0" dirty="0" smtClean="0"/>
              <a:t> vignette about Tyler, a “pudgy, easy-going fifth grader” and the frustrations of his parents and teacher over Tyler’s preference for video games over homework.</a:t>
            </a:r>
          </a:p>
          <a:p>
            <a:endParaRPr lang="en-US" baseline="0" dirty="0" smtClean="0"/>
          </a:p>
          <a:p>
            <a:r>
              <a:rPr lang="en-US" baseline="0" dirty="0" err="1" smtClean="0"/>
              <a:t>Georganne</a:t>
            </a:r>
            <a:r>
              <a:rPr lang="en-US" baseline="0" dirty="0" smtClean="0"/>
              <a:t> Morin and Holly </a:t>
            </a:r>
            <a:r>
              <a:rPr lang="en-US" baseline="0" dirty="0" err="1" smtClean="0"/>
              <a:t>Kreider</a:t>
            </a:r>
            <a:r>
              <a:rPr lang="en-US" baseline="0" dirty="0" smtClean="0"/>
              <a:t> tell of a misunderstanding between Ms. Davis, a teacher, and </a:t>
            </a:r>
            <a:r>
              <a:rPr lang="en-US" baseline="0" dirty="0" err="1" smtClean="0"/>
              <a:t>Enriqueta</a:t>
            </a:r>
            <a:r>
              <a:rPr lang="en-US" baseline="0" dirty="0" smtClean="0"/>
              <a:t>, the mother of </a:t>
            </a:r>
            <a:r>
              <a:rPr lang="en-US" baseline="0" dirty="0" err="1" smtClean="0"/>
              <a:t>Xiomara</a:t>
            </a:r>
            <a:r>
              <a:rPr lang="en-US" baseline="0" dirty="0" smtClean="0"/>
              <a:t>, a kindergartner.</a:t>
            </a:r>
          </a:p>
          <a:p>
            <a:endParaRPr lang="en-US" baseline="0" dirty="0" smtClean="0"/>
          </a:p>
          <a:p>
            <a:r>
              <a:rPr lang="en-US" baseline="0" dirty="0" smtClean="0"/>
              <a:t>Diana Hiatt-Michael describes the misimpressions of Alicia Jackson, a middle school principal, and how Dan Lim, a student teacher supervisor helped her see things in a different light.</a:t>
            </a:r>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will now end the narrated portion of this webinar so that your webinar facilitators can</a:t>
            </a:r>
            <a:r>
              <a:rPr lang="en-US" baseline="0" dirty="0" smtClean="0"/>
              <a:t> engage you in discussion. See you at Webinar 2 in which we will cover Parts III and IV of the Handbook.</a:t>
            </a:r>
            <a:endParaRPr lang="en-US" dirty="0"/>
          </a:p>
        </p:txBody>
      </p:sp>
      <p:sp>
        <p:nvSpPr>
          <p:cNvPr id="4" name="Slide Number Placeholder 3"/>
          <p:cNvSpPr>
            <a:spLocks noGrp="1"/>
          </p:cNvSpPr>
          <p:nvPr>
            <p:ph type="sldNum" sz="quarter" idx="10"/>
          </p:nvPr>
        </p:nvSpPr>
        <p:spPr/>
        <p:txBody>
          <a:bodyPr/>
          <a:lstStyle/>
          <a:p>
            <a:fld id="{2B564424-2BD1-4E9C-ADA1-AC5997CB7EAE}"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F35C21-1F41-47FE-A31D-F81CA0C66F8B}"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55E63A-2933-448F-9FE7-FF99601B397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F35C21-1F41-47FE-A31D-F81CA0C66F8B}" type="datetimeFigureOut">
              <a:rPr lang="en-US" smtClean="0"/>
              <a:pPr/>
              <a:t>11/14/2011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55E63A-2933-448F-9FE7-FF99601B39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families-schools.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www.infoagepub.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95400"/>
            <a:ext cx="7924800" cy="838200"/>
          </a:xfrm>
        </p:spPr>
        <p:style>
          <a:lnRef idx="2">
            <a:schemeClr val="accent2"/>
          </a:lnRef>
          <a:fillRef idx="1">
            <a:schemeClr val="lt1"/>
          </a:fillRef>
          <a:effectRef idx="0">
            <a:schemeClr val="accent2"/>
          </a:effectRef>
          <a:fontRef idx="minor">
            <a:schemeClr val="dk1"/>
          </a:fontRef>
        </p:style>
        <p:txBody>
          <a:bodyPr>
            <a:normAutofit fontScale="90000"/>
          </a:bodyPr>
          <a:lstStyle/>
          <a:p>
            <a:r>
              <a:rPr lang="en-US" b="1" dirty="0" smtClean="0"/>
              <a:t>Family and Community Engagement</a:t>
            </a:r>
            <a:endParaRPr lang="en-US" b="1" dirty="0"/>
          </a:p>
        </p:txBody>
      </p:sp>
      <p:sp>
        <p:nvSpPr>
          <p:cNvPr id="3" name="Subtitle 2"/>
          <p:cNvSpPr>
            <a:spLocks noGrp="1"/>
          </p:cNvSpPr>
          <p:nvPr>
            <p:ph type="subTitle" idx="1"/>
          </p:nvPr>
        </p:nvSpPr>
        <p:spPr>
          <a:xfrm>
            <a:off x="2438400" y="4572000"/>
            <a:ext cx="5486400" cy="1066800"/>
          </a:xfrm>
        </p:spPr>
        <p:txBody>
          <a:bodyPr>
            <a:normAutofit fontScale="70000" lnSpcReduction="20000"/>
          </a:bodyPr>
          <a:lstStyle/>
          <a:p>
            <a:r>
              <a:rPr lang="en-US" dirty="0" smtClean="0">
                <a:solidFill>
                  <a:schemeClr val="tx1"/>
                </a:solidFill>
              </a:rPr>
              <a:t>Center on Innovation &amp; Improvement</a:t>
            </a:r>
          </a:p>
          <a:p>
            <a:r>
              <a:rPr lang="en-US" dirty="0" smtClean="0">
                <a:solidFill>
                  <a:schemeClr val="tx1"/>
                </a:solidFill>
              </a:rPr>
              <a:t>Office of Elementary and Secondary Education</a:t>
            </a:r>
          </a:p>
          <a:p>
            <a:r>
              <a:rPr lang="en-US" dirty="0" smtClean="0">
                <a:solidFill>
                  <a:schemeClr val="tx1"/>
                </a:solidFill>
              </a:rPr>
              <a:t>U. S. Department of Education</a:t>
            </a:r>
            <a:endParaRPr lang="en-US" dirty="0">
              <a:solidFill>
                <a:schemeClr val="tx1"/>
              </a:solidFill>
            </a:endParaRPr>
          </a:p>
        </p:txBody>
      </p:sp>
      <p:sp>
        <p:nvSpPr>
          <p:cNvPr id="4" name="TextBox 3"/>
          <p:cNvSpPr txBox="1"/>
          <p:nvPr/>
        </p:nvSpPr>
        <p:spPr>
          <a:xfrm>
            <a:off x="1447800" y="2590800"/>
            <a:ext cx="6477000" cy="138499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2800" dirty="0" smtClean="0"/>
              <a:t>Webinar 1: A Walk Through the Handbook</a:t>
            </a:r>
          </a:p>
          <a:p>
            <a:pPr algn="ctr"/>
            <a:r>
              <a:rPr lang="en-US" sz="2800" dirty="0" smtClean="0"/>
              <a:t>Framing the Discussion</a:t>
            </a:r>
          </a:p>
          <a:p>
            <a:pPr algn="ctr"/>
            <a:r>
              <a:rPr lang="en-US" sz="2800" dirty="0" smtClean="0"/>
              <a:t>Families and Learning</a:t>
            </a:r>
            <a:endParaRPr lang="en-US" sz="2800" dirty="0"/>
          </a:p>
        </p:txBody>
      </p:sp>
      <p:pic>
        <p:nvPicPr>
          <p:cNvPr id="5" name="Picture 2" descr="C:\Users\Sam Redding\Documents\CURRENT WORK JUNE\OCTOBER\FACE - Phase II\Handbook Cover IAP.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6680" y="4190999"/>
            <a:ext cx="1695519" cy="2292533"/>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Welcome!</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algn="ctr">
              <a:buNone/>
            </a:pPr>
            <a:endParaRPr lang="en-US" dirty="0" smtClean="0"/>
          </a:p>
          <a:p>
            <a:pPr algn="ctr">
              <a:buNone/>
            </a:pPr>
            <a:r>
              <a:rPr lang="en-US" dirty="0" smtClean="0"/>
              <a:t>Download the Handbook free from: </a:t>
            </a:r>
          </a:p>
          <a:p>
            <a:pPr algn="ctr">
              <a:buNone/>
            </a:pPr>
            <a:r>
              <a:rPr lang="en-US" dirty="0" smtClean="0">
                <a:hlinkClick r:id="rId3"/>
              </a:rPr>
              <a:t>www.families-schools.org</a:t>
            </a:r>
            <a:endParaRPr lang="en-US" dirty="0" smtClean="0"/>
          </a:p>
          <a:p>
            <a:pPr algn="ctr">
              <a:buNone/>
            </a:pPr>
            <a:endParaRPr lang="en-US" dirty="0" smtClean="0"/>
          </a:p>
          <a:p>
            <a:pPr algn="ctr">
              <a:buNone/>
            </a:pPr>
            <a:r>
              <a:rPr lang="en-US" dirty="0" smtClean="0"/>
              <a:t>Or purchase the published version from:</a:t>
            </a:r>
          </a:p>
          <a:p>
            <a:pPr algn="ctr">
              <a:buNone/>
            </a:pPr>
            <a:r>
              <a:rPr lang="en-US" dirty="0" smtClean="0"/>
              <a:t>Information Age Publishing</a:t>
            </a:r>
          </a:p>
          <a:p>
            <a:pPr algn="ctr">
              <a:buNone/>
            </a:pPr>
            <a:r>
              <a:rPr lang="en-US" dirty="0" smtClean="0">
                <a:solidFill>
                  <a:schemeClr val="tx1"/>
                </a:solidFill>
                <a:hlinkClick r:id="rId4"/>
              </a:rPr>
              <a:t>www.infoagepub.com</a:t>
            </a:r>
            <a:r>
              <a:rPr lang="en-US" dirty="0" smtClean="0">
                <a:solidFill>
                  <a:schemeClr val="tx1"/>
                </a:solidFill>
              </a:rPr>
              <a:t> </a:t>
            </a:r>
          </a:p>
          <a:p>
            <a:pPr algn="ctr">
              <a:buNone/>
            </a:pPr>
            <a:endParaRPr lang="en-US" dirty="0" smtClean="0"/>
          </a:p>
          <a:p>
            <a:pPr algn="ct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How the Handbook is Organized?</a:t>
            </a:r>
            <a:endParaRPr lang="en-US" dirty="0"/>
          </a:p>
        </p:txBody>
      </p:sp>
      <p:sp>
        <p:nvSpPr>
          <p:cNvPr id="3" name="Content Placeholder 2"/>
          <p:cNvSpPr>
            <a:spLocks noGrp="1"/>
          </p:cNvSpPr>
          <p:nvPr>
            <p:ph idx="1"/>
          </p:nvPr>
        </p:nvSpPr>
        <p:spPr/>
        <p:txBody>
          <a:bodyPr/>
          <a:lstStyle/>
          <a:p>
            <a:r>
              <a:rPr lang="en-US" dirty="0" smtClean="0"/>
              <a:t>Part I: Framing the Discussion</a:t>
            </a:r>
          </a:p>
          <a:p>
            <a:r>
              <a:rPr lang="en-US" dirty="0" smtClean="0"/>
              <a:t>Part II: Families and Learning</a:t>
            </a:r>
          </a:p>
          <a:p>
            <a:r>
              <a:rPr lang="en-US" dirty="0" smtClean="0"/>
              <a:t>Part III: Families and Schools</a:t>
            </a:r>
          </a:p>
          <a:p>
            <a:r>
              <a:rPr lang="en-US" dirty="0" smtClean="0"/>
              <a:t>Part IV: Checklist of Suggested Practices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Why the Handbook?</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r>
              <a:rPr lang="en-US" dirty="0" smtClean="0"/>
              <a:t>Bring best research together in one place</a:t>
            </a:r>
          </a:p>
          <a:p>
            <a:r>
              <a:rPr lang="en-US" dirty="0" smtClean="0"/>
              <a:t>Add the wisdom of many voices</a:t>
            </a:r>
          </a:p>
          <a:p>
            <a:r>
              <a:rPr lang="en-US" dirty="0" smtClean="0"/>
              <a:t>Present in a straight-forward manner</a:t>
            </a:r>
          </a:p>
          <a:p>
            <a:r>
              <a:rPr lang="en-US" dirty="0" smtClean="0"/>
              <a:t>Provide practical application</a:t>
            </a:r>
          </a:p>
          <a:p>
            <a:r>
              <a:rPr lang="en-US" dirty="0" smtClean="0"/>
              <a:t>Include ample references and resources</a:t>
            </a:r>
          </a:p>
          <a:p>
            <a:r>
              <a:rPr lang="en-US" dirty="0" smtClean="0"/>
              <a:t>Leaven with a dash of reality with vignettes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The Introduction</a:t>
            </a:r>
            <a:endParaRPr lang="en-US" dirty="0"/>
          </a:p>
        </p:txBody>
      </p:sp>
      <p:sp>
        <p:nvSpPr>
          <p:cNvPr id="3" name="Content Placeholder 2"/>
          <p:cNvSpPr>
            <a:spLocks noGrp="1"/>
          </p:cNvSpPr>
          <p:nvPr>
            <p:ph idx="1"/>
          </p:nvPr>
        </p:nvSpPr>
        <p:spPr>
          <a:xfrm>
            <a:off x="457200" y="1600200"/>
            <a:ext cx="8229600" cy="3352799"/>
          </a:xfrm>
        </p:spPr>
        <p:style>
          <a:lnRef idx="2">
            <a:schemeClr val="accent2"/>
          </a:lnRef>
          <a:fillRef idx="1">
            <a:schemeClr val="lt1"/>
          </a:fillRef>
          <a:effectRef idx="0">
            <a:schemeClr val="accent2"/>
          </a:effectRef>
          <a:fontRef idx="minor">
            <a:schemeClr val="dk1"/>
          </a:fontRef>
        </p:style>
        <p:txBody>
          <a:bodyPr/>
          <a:lstStyle/>
          <a:p>
            <a:r>
              <a:rPr lang="en-US" dirty="0" smtClean="0"/>
              <a:t>Finding the themes that thread through the Handbook</a:t>
            </a:r>
          </a:p>
          <a:p>
            <a:r>
              <a:rPr lang="en-US" dirty="0" smtClean="0"/>
              <a:t>Weaving together the varied voices into a symphony</a:t>
            </a:r>
          </a:p>
          <a:p>
            <a:r>
              <a:rPr lang="en-US" dirty="0" smtClean="0"/>
              <a:t>Charging the reader with the task of finding personal meaning and applying it</a:t>
            </a:r>
            <a:endParaRPr lang="en-US" dirty="0"/>
          </a:p>
        </p:txBody>
      </p:sp>
      <p:sp>
        <p:nvSpPr>
          <p:cNvPr id="4" name="TextBox 3"/>
          <p:cNvSpPr txBox="1"/>
          <p:nvPr/>
        </p:nvSpPr>
        <p:spPr>
          <a:xfrm>
            <a:off x="533400" y="5181600"/>
            <a:ext cx="8153400" cy="9233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smtClean="0"/>
              <a:t>“The Handbook’s recommendations point to an urgent need to build the capacity of schools, themselves, to effectively reach out to and engage their community and their families.” Helen Westmoreland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Part I: Framing the Discussion</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r>
              <a:rPr lang="en-US" dirty="0" smtClean="0"/>
              <a:t>New Directions for Title I</a:t>
            </a:r>
          </a:p>
          <a:p>
            <a:r>
              <a:rPr lang="en-US" dirty="0" smtClean="0"/>
              <a:t>The School Community</a:t>
            </a:r>
          </a:p>
          <a:p>
            <a:r>
              <a:rPr lang="en-US" dirty="0" smtClean="0"/>
              <a:t>Making Data Matter in Family Engagement</a:t>
            </a:r>
          </a:p>
          <a:p>
            <a:r>
              <a:rPr lang="en-US" dirty="0" smtClean="0"/>
              <a:t>Engaging Families and Communities in School Turnarounds</a:t>
            </a:r>
          </a:p>
          <a:p>
            <a:r>
              <a:rPr lang="en-US" dirty="0" smtClean="0"/>
              <a:t>Social, Emotional, and Academic Learning</a:t>
            </a:r>
          </a:p>
          <a:p>
            <a:r>
              <a:rPr lang="en-US" dirty="0" smtClean="0"/>
              <a:t>Engaging the Entire Community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26670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600" dirty="0" smtClean="0"/>
              <a:t>New Directions for Title I Family and Community Engagement: Expanding Opportunity from a Tradition of Commitment</a:t>
            </a:r>
            <a:br>
              <a:rPr lang="en-US" sz="3600" dirty="0" smtClean="0"/>
            </a:br>
            <a:r>
              <a:rPr lang="en-US" sz="3600" dirty="0" smtClean="0"/>
              <a:t/>
            </a:r>
            <a:br>
              <a:rPr lang="en-US" sz="3600" dirty="0" smtClean="0"/>
            </a:br>
            <a:r>
              <a:rPr lang="en-US" sz="3600" dirty="0" smtClean="0"/>
              <a:t>Oliver Moles &amp; Arnold </a:t>
            </a:r>
            <a:r>
              <a:rPr lang="en-US" sz="3600" dirty="0" err="1" smtClean="0"/>
              <a:t>Fege</a:t>
            </a:r>
            <a:endParaRPr lang="en-US" dirty="0"/>
          </a:p>
        </p:txBody>
      </p:sp>
      <p:sp>
        <p:nvSpPr>
          <p:cNvPr id="3" name="Content Placeholder 2"/>
          <p:cNvSpPr>
            <a:spLocks noGrp="1"/>
          </p:cNvSpPr>
          <p:nvPr>
            <p:ph idx="1"/>
          </p:nvPr>
        </p:nvSpPr>
        <p:spPr>
          <a:xfrm>
            <a:off x="457200" y="3657600"/>
            <a:ext cx="8229600" cy="2286000"/>
          </a:xfrm>
        </p:spPr>
        <p:style>
          <a:lnRef idx="2">
            <a:schemeClr val="accent2"/>
          </a:lnRef>
          <a:fillRef idx="1">
            <a:schemeClr val="lt1"/>
          </a:fillRef>
          <a:effectRef idx="0">
            <a:schemeClr val="accent2"/>
          </a:effectRef>
          <a:fontRef idx="minor">
            <a:schemeClr val="dk1"/>
          </a:fontRef>
        </p:style>
        <p:txBody>
          <a:bodyPr>
            <a:normAutofit/>
          </a:bodyPr>
          <a:lstStyle/>
          <a:p>
            <a:pPr>
              <a:buNone/>
            </a:pPr>
            <a:r>
              <a:rPr lang="en-US" dirty="0" smtClean="0"/>
              <a:t>“We need to visualize a much broader concept of education to move beyond “schooling” and into areas of child development and parent empowerment.”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9050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The School Community: </a:t>
            </a:r>
            <a:br>
              <a:rPr lang="en-US" sz="3200" dirty="0" smtClean="0"/>
            </a:br>
            <a:r>
              <a:rPr lang="en-US" sz="3200" dirty="0" smtClean="0"/>
              <a:t>Working Together for Student Success </a:t>
            </a:r>
            <a:br>
              <a:rPr lang="en-US" sz="3200" dirty="0" smtClean="0"/>
            </a:br>
            <a:r>
              <a:rPr lang="en-US" sz="3200" dirty="0" smtClean="0"/>
              <a:t>Sam Redding </a:t>
            </a:r>
            <a:endParaRPr lang="en-US" sz="3200" dirty="0"/>
          </a:p>
        </p:txBody>
      </p:sp>
      <p:sp>
        <p:nvSpPr>
          <p:cNvPr id="3" name="Content Placeholder 2"/>
          <p:cNvSpPr>
            <a:spLocks noGrp="1"/>
          </p:cNvSpPr>
          <p:nvPr>
            <p:ph idx="1"/>
          </p:nvPr>
        </p:nvSpPr>
        <p:spPr>
          <a:xfrm>
            <a:off x="533400" y="3429000"/>
            <a:ext cx="8229600" cy="22098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“A school community rests upon mutual respect, strong relationships, shared responsibility, and focused attention to students’ academic, personal, social, and emotional learning.”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8288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Making Data Matter in Family Engagement</a:t>
            </a:r>
            <a:br>
              <a:rPr lang="en-US" sz="3200" dirty="0" smtClean="0"/>
            </a:br>
            <a:r>
              <a:rPr lang="en-US" sz="3200" dirty="0" smtClean="0"/>
              <a:t>Heather Weiss &amp; M. Elena Lopez</a:t>
            </a:r>
            <a:endParaRPr lang="en-US" sz="3200" dirty="0"/>
          </a:p>
        </p:txBody>
      </p:sp>
      <p:sp>
        <p:nvSpPr>
          <p:cNvPr id="3" name="Content Placeholder 2"/>
          <p:cNvSpPr>
            <a:spLocks noGrp="1"/>
          </p:cNvSpPr>
          <p:nvPr>
            <p:ph idx="1"/>
          </p:nvPr>
        </p:nvSpPr>
        <p:spPr>
          <a:xfrm>
            <a:off x="498231" y="3048000"/>
            <a:ext cx="8229600" cy="26670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“Families want to know how their child is doing in school so that they can help them at home. They benefit from timely and relevant data on attendance, behavior, and academic progress and performance.”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20574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Engaging Families and Communities in School Turnarounds: When Students Can’t Wait</a:t>
            </a:r>
            <a:br>
              <a:rPr lang="en-US" sz="3200" dirty="0" smtClean="0"/>
            </a:br>
            <a:r>
              <a:rPr lang="en-US" sz="3200" dirty="0" smtClean="0"/>
              <a:t>Lauren </a:t>
            </a:r>
            <a:r>
              <a:rPr lang="en-US" sz="3200" dirty="0" err="1" smtClean="0"/>
              <a:t>Morando</a:t>
            </a:r>
            <a:r>
              <a:rPr lang="en-US" sz="3200" dirty="0" smtClean="0"/>
              <a:t> </a:t>
            </a:r>
            <a:r>
              <a:rPr lang="en-US" sz="3200" dirty="0" err="1" smtClean="0"/>
              <a:t>Rhim</a:t>
            </a:r>
            <a:endParaRPr lang="en-US" sz="3200" dirty="0"/>
          </a:p>
        </p:txBody>
      </p:sp>
      <p:sp>
        <p:nvSpPr>
          <p:cNvPr id="3" name="Content Placeholder 2"/>
          <p:cNvSpPr>
            <a:spLocks noGrp="1"/>
          </p:cNvSpPr>
          <p:nvPr>
            <p:ph idx="1"/>
          </p:nvPr>
        </p:nvSpPr>
        <p:spPr>
          <a:xfrm>
            <a:off x="457200" y="3352800"/>
            <a:ext cx="8229600" cy="2773363"/>
          </a:xfrm>
        </p:spPr>
        <p:style>
          <a:lnRef idx="2">
            <a:schemeClr val="accent2"/>
          </a:lnRef>
          <a:fillRef idx="1">
            <a:schemeClr val="lt1"/>
          </a:fillRef>
          <a:effectRef idx="0">
            <a:schemeClr val="accent2"/>
          </a:effectRef>
          <a:fontRef idx="minor">
            <a:schemeClr val="dk1"/>
          </a:fontRef>
        </p:style>
        <p:txBody>
          <a:bodyPr>
            <a:normAutofit lnSpcReduction="10000"/>
          </a:bodyPr>
          <a:lstStyle/>
          <a:p>
            <a:pPr>
              <a:buNone/>
            </a:pPr>
            <a:r>
              <a:rPr lang="en-US" dirty="0" smtClean="0"/>
              <a:t>“Turnaround efforts require a substantive and long-term engagement of key stakeholders that influence students and the schools they attend. Parents and the broader community are uniquely positioned to advocate for high-quality schools.”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9050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3200" dirty="0" smtClean="0"/>
              <a:t>Social, Emotional, and Academic Learning: Complementary Goals for School-Family Partnerships</a:t>
            </a:r>
            <a:br>
              <a:rPr lang="en-US" sz="3200" dirty="0" smtClean="0"/>
            </a:br>
            <a:r>
              <a:rPr lang="en-US" sz="3200" dirty="0" smtClean="0"/>
              <a:t>Amy Mart, Linda </a:t>
            </a:r>
            <a:r>
              <a:rPr lang="en-US" sz="3200" dirty="0" err="1" smtClean="0"/>
              <a:t>Dusenbury</a:t>
            </a:r>
            <a:r>
              <a:rPr lang="en-US" sz="3200" dirty="0" smtClean="0"/>
              <a:t>, &amp; Roger P. </a:t>
            </a:r>
            <a:r>
              <a:rPr lang="en-US" sz="3200" dirty="0" err="1" smtClean="0"/>
              <a:t>Weissberg</a:t>
            </a:r>
            <a:endParaRPr lang="en-US" sz="3200" dirty="0"/>
          </a:p>
        </p:txBody>
      </p:sp>
      <p:sp>
        <p:nvSpPr>
          <p:cNvPr id="3" name="Content Placeholder 2"/>
          <p:cNvSpPr>
            <a:spLocks noGrp="1"/>
          </p:cNvSpPr>
          <p:nvPr>
            <p:ph idx="1"/>
          </p:nvPr>
        </p:nvSpPr>
        <p:spPr>
          <a:xfrm>
            <a:off x="457200" y="3352801"/>
            <a:ext cx="8229600" cy="25908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“Social and emotional competencies develop in dynamic relationship with others as they are practiced, modeled, and reinforced across contexts.”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600200"/>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3200" dirty="0" smtClean="0"/>
              <a:t>Engaging the Entire Community: </a:t>
            </a:r>
            <a:br>
              <a:rPr lang="en-US" sz="3200" dirty="0" smtClean="0"/>
            </a:br>
            <a:r>
              <a:rPr lang="en-US" sz="3200" dirty="0" smtClean="0"/>
              <a:t>The Community Schools’ Way</a:t>
            </a:r>
            <a:br>
              <a:rPr lang="en-US" sz="3200" dirty="0" smtClean="0"/>
            </a:br>
            <a:r>
              <a:rPr lang="en-US" sz="3200" dirty="0" smtClean="0"/>
              <a:t>Marty Blank</a:t>
            </a:r>
            <a:endParaRPr lang="en-US" sz="3200" dirty="0"/>
          </a:p>
        </p:txBody>
      </p:sp>
      <p:sp>
        <p:nvSpPr>
          <p:cNvPr id="3" name="Content Placeholder 2"/>
          <p:cNvSpPr>
            <a:spLocks noGrp="1"/>
          </p:cNvSpPr>
          <p:nvPr>
            <p:ph idx="1"/>
          </p:nvPr>
        </p:nvSpPr>
        <p:spPr>
          <a:xfrm>
            <a:off x="457200" y="2971801"/>
            <a:ext cx="8229600" cy="2286000"/>
          </a:xfrm>
        </p:spPr>
        <p:txBody>
          <a:bodyPr/>
          <a:lstStyle/>
          <a:p>
            <a:pPr>
              <a:buNone/>
            </a:pPr>
            <a:r>
              <a:rPr lang="en-US" dirty="0" smtClean="0"/>
              <a:t>“Partnerships build relationships among schools and other sectors of the community with a vested interest in the well-being of children and families.”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Pause to Reflect</a:t>
            </a:r>
            <a:endParaRPr lang="en-US" dirty="0"/>
          </a:p>
        </p:txBody>
      </p:sp>
      <p:sp>
        <p:nvSpPr>
          <p:cNvPr id="3" name="Content Placeholder 2"/>
          <p:cNvSpPr>
            <a:spLocks noGrp="1"/>
          </p:cNvSpPr>
          <p:nvPr>
            <p:ph idx="1"/>
          </p:nvPr>
        </p:nvSpPr>
        <p:spPr>
          <a:xfrm>
            <a:off x="457200" y="2286000"/>
            <a:ext cx="8229600" cy="19050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What struck a chord with you in these Part I chapters? – Jot a couple notes for the discussion later.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Part II: Families and Learning</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r>
              <a:rPr lang="en-US" dirty="0" smtClean="0"/>
              <a:t>Aspiration and Expectations</a:t>
            </a:r>
          </a:p>
          <a:p>
            <a:r>
              <a:rPr lang="en-US" dirty="0" smtClean="0"/>
              <a:t>Self-Efficacy: Up to the Challenge</a:t>
            </a:r>
          </a:p>
          <a:p>
            <a:r>
              <a:rPr lang="en-US" dirty="0" smtClean="0"/>
              <a:t>Curriculum of the Home </a:t>
            </a:r>
          </a:p>
          <a:p>
            <a:r>
              <a:rPr lang="en-US" dirty="0" smtClean="0"/>
              <a:t>Homework and Study Habits </a:t>
            </a:r>
          </a:p>
          <a:p>
            <a:r>
              <a:rPr lang="en-US" dirty="0" smtClean="0"/>
              <a:t>Engaging Families in Reading </a:t>
            </a:r>
          </a:p>
          <a:p>
            <a:r>
              <a:rPr lang="en-US" dirty="0" smtClean="0"/>
              <a:t>Reading and Literacy</a:t>
            </a:r>
          </a:p>
          <a:p>
            <a:r>
              <a:rPr lang="en-US" dirty="0" smtClean="0"/>
              <a:t>College and Career Readiness</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54162"/>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3200" dirty="0" smtClean="0"/>
              <a:t>Aspiration and Expectations: </a:t>
            </a:r>
            <a:br>
              <a:rPr lang="en-US" sz="3200" dirty="0" smtClean="0"/>
            </a:br>
            <a:r>
              <a:rPr lang="en-US" sz="3200" dirty="0" smtClean="0"/>
              <a:t>Providing Pathways to Tomorrow </a:t>
            </a:r>
            <a:br>
              <a:rPr lang="en-US" sz="3200" dirty="0" smtClean="0"/>
            </a:br>
            <a:r>
              <a:rPr lang="en-US" sz="3200" dirty="0" smtClean="0"/>
              <a:t>William </a:t>
            </a:r>
            <a:r>
              <a:rPr lang="en-US" sz="3200" dirty="0" err="1" smtClean="0"/>
              <a:t>Jeynes</a:t>
            </a:r>
            <a:r>
              <a:rPr lang="en-US" sz="3200" dirty="0" smtClean="0"/>
              <a:t> </a:t>
            </a:r>
            <a:endParaRPr lang="en-US" sz="3200" dirty="0"/>
          </a:p>
        </p:txBody>
      </p:sp>
      <p:sp>
        <p:nvSpPr>
          <p:cNvPr id="3" name="Content Placeholder 2"/>
          <p:cNvSpPr>
            <a:spLocks noGrp="1"/>
          </p:cNvSpPr>
          <p:nvPr>
            <p:ph idx="1"/>
          </p:nvPr>
        </p:nvSpPr>
        <p:spPr>
          <a:xfrm>
            <a:off x="457200" y="2362200"/>
            <a:ext cx="8229600" cy="3763963"/>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“Myriad studies now confirm that high parental expectations of their children as expressed in their behavior, attitudes, and communication are associated with higher scholastic outcomes among children in school. To the degree that educators foster these expectations, American children can flourish.”</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524000"/>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3200" dirty="0" smtClean="0"/>
              <a:t>Self-Efficacy: </a:t>
            </a:r>
            <a:br>
              <a:rPr lang="en-US" sz="3200" dirty="0" smtClean="0"/>
            </a:br>
            <a:r>
              <a:rPr lang="en-US" sz="3200" dirty="0" smtClean="0"/>
              <a:t>Up to the Challenge</a:t>
            </a:r>
            <a:br>
              <a:rPr lang="en-US" sz="3200" dirty="0" smtClean="0"/>
            </a:br>
            <a:r>
              <a:rPr lang="en-US" sz="3200" dirty="0" smtClean="0"/>
              <a:t>Kathleen Hoover-Dempsey</a:t>
            </a:r>
            <a:endParaRPr lang="en-US" sz="3200" dirty="0"/>
          </a:p>
        </p:txBody>
      </p:sp>
      <p:sp>
        <p:nvSpPr>
          <p:cNvPr id="3" name="Content Placeholder 2"/>
          <p:cNvSpPr>
            <a:spLocks noGrp="1"/>
          </p:cNvSpPr>
          <p:nvPr>
            <p:ph idx="1"/>
          </p:nvPr>
        </p:nvSpPr>
        <p:spPr>
          <a:xfrm>
            <a:off x="457200" y="2667000"/>
            <a:ext cx="8229600" cy="3459163"/>
          </a:xfrm>
        </p:spPr>
        <p:style>
          <a:lnRef idx="2">
            <a:schemeClr val="accent2"/>
          </a:lnRef>
          <a:fillRef idx="1">
            <a:schemeClr val="lt1"/>
          </a:fillRef>
          <a:effectRef idx="0">
            <a:schemeClr val="accent2"/>
          </a:effectRef>
          <a:fontRef idx="minor">
            <a:schemeClr val="dk1"/>
          </a:fontRef>
        </p:style>
        <p:txBody>
          <a:bodyPr>
            <a:normAutofit lnSpcReduction="10000"/>
          </a:bodyPr>
          <a:lstStyle/>
          <a:p>
            <a:pPr>
              <a:buNone/>
            </a:pPr>
            <a:r>
              <a:rPr lang="en-US" dirty="0" smtClean="0"/>
              <a:t>“Self-efficacy is central to understanding how individuals make decisions about the kinds of activities they will undertake in various domains of their lives. For parents, decisions about the activities they will engage in supporting their students’ school learning are among the most important that they make.”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Curriculum of the Home</a:t>
            </a:r>
            <a:br>
              <a:rPr lang="en-US" sz="3200" dirty="0" smtClean="0"/>
            </a:br>
            <a:r>
              <a:rPr lang="en-US" sz="3200" dirty="0" smtClean="0"/>
              <a:t>Herbert J. Walberg </a:t>
            </a:r>
            <a:endParaRPr lang="en-US" sz="3200" dirty="0"/>
          </a:p>
        </p:txBody>
      </p:sp>
      <p:sp>
        <p:nvSpPr>
          <p:cNvPr id="3" name="Content Placeholder 2"/>
          <p:cNvSpPr>
            <a:spLocks noGrp="1"/>
          </p:cNvSpPr>
          <p:nvPr>
            <p:ph idx="1"/>
          </p:nvPr>
        </p:nvSpPr>
        <p:spPr>
          <a:xfrm>
            <a:off x="457200" y="2590800"/>
            <a:ext cx="8229600" cy="3078163"/>
          </a:xfrm>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p>
            <a:pPr>
              <a:buNone/>
            </a:pPr>
            <a:r>
              <a:rPr lang="en-US" dirty="0" smtClean="0"/>
              <a:t>“The first six years of life and the ‘curriculum of the home’ may be decisive influences on academic learning. These effects appear pervasive in school learning, including the development of reading comprehension and verbal literacy. Therefore, reaching out to families to encourage academically constructive child practices is time well spent.”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08" y="381000"/>
            <a:ext cx="8229600" cy="11430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Homework and Study Habits</a:t>
            </a:r>
            <a:br>
              <a:rPr lang="en-US" sz="3200" dirty="0" smtClean="0"/>
            </a:br>
            <a:r>
              <a:rPr lang="en-US" sz="3200" dirty="0" smtClean="0"/>
              <a:t>Lee </a:t>
            </a:r>
            <a:r>
              <a:rPr lang="en-US" sz="3200" dirty="0" err="1" smtClean="0"/>
              <a:t>Shumow</a:t>
            </a:r>
            <a:r>
              <a:rPr lang="en-US" sz="3200" dirty="0" smtClean="0"/>
              <a:t> </a:t>
            </a:r>
            <a:endParaRPr lang="en-US" sz="3200" dirty="0"/>
          </a:p>
        </p:txBody>
      </p:sp>
      <p:sp>
        <p:nvSpPr>
          <p:cNvPr id="3" name="Content Placeholder 2"/>
          <p:cNvSpPr>
            <a:spLocks noGrp="1"/>
          </p:cNvSpPr>
          <p:nvPr>
            <p:ph idx="1"/>
          </p:nvPr>
        </p:nvSpPr>
        <p:spPr>
          <a:xfrm>
            <a:off x="457200" y="1981200"/>
            <a:ext cx="8229600" cy="4144963"/>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“Anecdotal reports regularly appear in mass media describing homework with war metaphors. To the contrary, one recent study found that, when adolescents were doing homework with their parents, they enjoyed it more than when alone and concentrated better than with peers.”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Engaging Families in Reading</a:t>
            </a:r>
            <a:br>
              <a:rPr lang="en-US" sz="3200" dirty="0" smtClean="0"/>
            </a:br>
            <a:r>
              <a:rPr lang="en-US" sz="3200" dirty="0" smtClean="0"/>
              <a:t>Holly </a:t>
            </a:r>
            <a:r>
              <a:rPr lang="en-US" sz="3200" dirty="0" err="1" smtClean="0"/>
              <a:t>Kreider</a:t>
            </a:r>
            <a:r>
              <a:rPr lang="en-US" sz="3200" dirty="0" smtClean="0"/>
              <a:t> </a:t>
            </a:r>
            <a:endParaRPr lang="en-US" sz="3200"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“Research clearly points to third grade as a watershed moment in children’s education. Third grade reading fluency is highly predictive of children’s long-term school success, including high school performance and college enrollment. Parents and other primary caregivers are instrumental in fostering language, reading, and literacy skills so essential for school success”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Reading and Literacy</a:t>
            </a:r>
            <a:br>
              <a:rPr lang="en-US" sz="3200" dirty="0" smtClean="0"/>
            </a:br>
            <a:r>
              <a:rPr lang="en-US" sz="3200" dirty="0" smtClean="0"/>
              <a:t>Diana Hiatt-Michael</a:t>
            </a:r>
            <a:endParaRPr lang="en-US" sz="3200" dirty="0"/>
          </a:p>
        </p:txBody>
      </p:sp>
      <p:sp>
        <p:nvSpPr>
          <p:cNvPr id="3" name="Content Placeholder 2"/>
          <p:cNvSpPr>
            <a:spLocks noGrp="1"/>
          </p:cNvSpPr>
          <p:nvPr>
            <p:ph idx="1"/>
          </p:nvPr>
        </p:nvSpPr>
        <p:spPr>
          <a:xfrm>
            <a:off x="457200" y="2209800"/>
            <a:ext cx="8229600" cy="3916363"/>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a:buNone/>
            </a:pPr>
            <a:r>
              <a:rPr lang="en-US" dirty="0" smtClean="0"/>
              <a:t>“Reading and literacy are the heart of the educational process. Parents affect children’s interest and reading ability in a number of ways. Parental expectations, speaking and reading to children, number of books in the home, parental interest in written and oral communication, parental knowledge of language arts development, and parental enjoyment of reading foster student achievement in reading.”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3200" dirty="0" smtClean="0"/>
              <a:t>College and Career Readiness</a:t>
            </a:r>
            <a:br>
              <a:rPr lang="en-US" sz="3200" dirty="0" smtClean="0"/>
            </a:br>
            <a:r>
              <a:rPr lang="en-US" sz="3200" dirty="0" smtClean="0"/>
              <a:t>Mary R. Waters and John Mark Williams</a:t>
            </a:r>
            <a:endParaRPr lang="en-US" sz="3200" b="1" dirty="0"/>
          </a:p>
        </p:txBody>
      </p:sp>
      <p:sp>
        <p:nvSpPr>
          <p:cNvPr id="3" name="Content Placeholder 2"/>
          <p:cNvSpPr>
            <a:spLocks noGrp="1"/>
          </p:cNvSpPr>
          <p:nvPr>
            <p:ph idx="1"/>
          </p:nvPr>
        </p:nvSpPr>
        <p:spPr>
          <a:xfrm>
            <a:off x="457200" y="2362200"/>
            <a:ext cx="8229600" cy="2316163"/>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“When classroom time has no relevance to the students’ legitimate aspirations, the resulting disengagement makes them casualties of the educational system. “</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Pause to Reflect</a:t>
            </a:r>
            <a:endParaRPr lang="en-US" dirty="0"/>
          </a:p>
        </p:txBody>
      </p:sp>
      <p:sp>
        <p:nvSpPr>
          <p:cNvPr id="3" name="Content Placeholder 2"/>
          <p:cNvSpPr>
            <a:spLocks noGrp="1"/>
          </p:cNvSpPr>
          <p:nvPr>
            <p:ph idx="1"/>
          </p:nvPr>
        </p:nvSpPr>
        <p:spPr>
          <a:xfrm>
            <a:off x="457200" y="2286000"/>
            <a:ext cx="8229600" cy="1905000"/>
          </a:xfrm>
        </p:spPr>
        <p:style>
          <a:lnRef idx="2">
            <a:schemeClr val="accent2"/>
          </a:lnRef>
          <a:fillRef idx="1">
            <a:schemeClr val="lt1"/>
          </a:fillRef>
          <a:effectRef idx="0">
            <a:schemeClr val="accent2"/>
          </a:effectRef>
          <a:fontRef idx="minor">
            <a:schemeClr val="dk1"/>
          </a:fontRef>
        </p:style>
        <p:txBody>
          <a:bodyPr/>
          <a:lstStyle/>
          <a:p>
            <a:pPr>
              <a:buNone/>
            </a:pPr>
            <a:r>
              <a:rPr lang="en-US" dirty="0" smtClean="0"/>
              <a:t>What struck a chord with you in these Part II chapters on Families and Learning? – Jot a couple notes for the discussion later.</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The Vignettes</a:t>
            </a:r>
            <a:endParaRPr lang="en-US"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a:bodyPr>
          <a:lstStyle/>
          <a:p>
            <a:r>
              <a:rPr lang="en-US" i="1" dirty="0" smtClean="0"/>
              <a:t>Jessica</a:t>
            </a:r>
            <a:r>
              <a:rPr lang="en-US" dirty="0" smtClean="0"/>
              <a:t>, by William </a:t>
            </a:r>
            <a:r>
              <a:rPr lang="en-US" dirty="0" err="1" smtClean="0"/>
              <a:t>Jeynes</a:t>
            </a:r>
            <a:endParaRPr lang="en-US" dirty="0" smtClean="0"/>
          </a:p>
          <a:p>
            <a:r>
              <a:rPr lang="en-US" i="1" dirty="0" smtClean="0"/>
              <a:t>Annabelle</a:t>
            </a:r>
            <a:r>
              <a:rPr lang="en-US" dirty="0" smtClean="0"/>
              <a:t>, by Marilyn Murphy</a:t>
            </a:r>
          </a:p>
          <a:p>
            <a:r>
              <a:rPr lang="en-US" i="1" dirty="0" smtClean="0"/>
              <a:t>Tyler</a:t>
            </a:r>
            <a:r>
              <a:rPr lang="en-US" dirty="0" smtClean="0"/>
              <a:t>, by Lee </a:t>
            </a:r>
            <a:r>
              <a:rPr lang="en-US" dirty="0" err="1" smtClean="0"/>
              <a:t>Shumow</a:t>
            </a:r>
            <a:endParaRPr lang="en-US" dirty="0" smtClean="0"/>
          </a:p>
          <a:p>
            <a:r>
              <a:rPr lang="en-US" i="1" dirty="0" err="1" smtClean="0"/>
              <a:t>Xiomara</a:t>
            </a:r>
            <a:r>
              <a:rPr lang="en-US" dirty="0" smtClean="0"/>
              <a:t>, by </a:t>
            </a:r>
            <a:r>
              <a:rPr lang="en-US" dirty="0" err="1" smtClean="0"/>
              <a:t>Georganne</a:t>
            </a:r>
            <a:r>
              <a:rPr lang="en-US" dirty="0" smtClean="0"/>
              <a:t> Morin and Holly </a:t>
            </a:r>
            <a:r>
              <a:rPr lang="en-US" dirty="0" err="1" smtClean="0"/>
              <a:t>Kreider</a:t>
            </a:r>
            <a:r>
              <a:rPr lang="en-US" dirty="0" smtClean="0"/>
              <a:t> </a:t>
            </a:r>
          </a:p>
          <a:p>
            <a:r>
              <a:rPr lang="en-US" i="1" dirty="0" smtClean="0"/>
              <a:t>Alicia</a:t>
            </a:r>
            <a:r>
              <a:rPr lang="en-US" dirty="0" smtClean="0"/>
              <a:t>, by Diana Hiatt-Michael </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dirty="0" smtClean="0"/>
              <a:t>Discussion</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What struck a chord with you in Parts I </a:t>
            </a:r>
            <a:r>
              <a:rPr lang="en-US" smtClean="0"/>
              <a:t>and II, </a:t>
            </a:r>
            <a:r>
              <a:rPr lang="en-US" dirty="0" smtClean="0"/>
              <a:t>and how does it relate to your role?</a:t>
            </a:r>
          </a:p>
          <a:p>
            <a:pPr marL="514350" indent="-514350">
              <a:buFont typeface="+mj-lt"/>
              <a:buAutoNum type="arabicPeriod"/>
            </a:pPr>
            <a:r>
              <a:rPr lang="en-US" dirty="0" smtClean="0"/>
              <a:t>What question do you have that one of the webinar participants or facilitators might be able to answer?</a:t>
            </a:r>
          </a:p>
          <a:p>
            <a:pPr marL="514350" indent="-514350">
              <a:buFont typeface="+mj-lt"/>
              <a:buAutoNum type="arabicPeriod"/>
            </a:pPr>
            <a:endParaRPr lang="en-US" dirty="0"/>
          </a:p>
        </p:txBody>
      </p:sp>
      <p:pic>
        <p:nvPicPr>
          <p:cNvPr id="4" name="Picture 2" descr="C:\Users\Sam Redding\Documents\CURRENT WORK JUNE\OCTOBER\FACE - Phase II\Handbook Cover IAP.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477000" y="4038600"/>
            <a:ext cx="1695519" cy="2292533"/>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TotalTime>
  <Words>3207</Words>
  <Application>Microsoft Office PowerPoint</Application>
  <PresentationFormat>On-screen Show (4:3)</PresentationFormat>
  <Paragraphs>172</Paragraphs>
  <Slides>24</Slides>
  <Notes>23</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Family and Community Engagement</vt:lpstr>
      <vt:lpstr>Welcome!</vt:lpstr>
      <vt:lpstr>How the Handbook is Organized?</vt:lpstr>
      <vt:lpstr>Why the Handbook?</vt:lpstr>
      <vt:lpstr>The Introduction</vt:lpstr>
      <vt:lpstr>Part I: Framing the Discussion</vt:lpstr>
      <vt:lpstr>New Directions for Title I Family and Community Engagement: Expanding Opportunity from a Tradition of Commitment  Oliver Moles &amp; Arnold Fege</vt:lpstr>
      <vt:lpstr>The School Community:  Working Together for Student Success  Sam Redding </vt:lpstr>
      <vt:lpstr>Making Data Matter in Family Engagement Heather Weiss &amp; M. Elena Lopez</vt:lpstr>
      <vt:lpstr>Engaging Families and Communities in School Turnarounds: When Students Can’t Wait Lauren Morando Rhim</vt:lpstr>
      <vt:lpstr>Social, Emotional, and Academic Learning: Complementary Goals for School-Family Partnerships Amy Mart, Linda Dusenbury, &amp; Roger P. Weissberg</vt:lpstr>
      <vt:lpstr>Engaging the Entire Community:  The Community Schools’ Way Marty Blank</vt:lpstr>
      <vt:lpstr>Pause to Reflect</vt:lpstr>
      <vt:lpstr>Part II: Families and Learning</vt:lpstr>
      <vt:lpstr>Aspiration and Expectations:  Providing Pathways to Tomorrow  William Jeynes </vt:lpstr>
      <vt:lpstr>Self-Efficacy:  Up to the Challenge Kathleen Hoover-Dempsey</vt:lpstr>
      <vt:lpstr>Curriculum of the Home Herbert J. Walberg </vt:lpstr>
      <vt:lpstr>Homework and Study Habits Lee Shumow </vt:lpstr>
      <vt:lpstr>Engaging Families in Reading Holly Kreider </vt:lpstr>
      <vt:lpstr>Reading and Literacy Diana Hiatt-Michael</vt:lpstr>
      <vt:lpstr>College and Career Readiness Mary R. Waters and John Mark Williams</vt:lpstr>
      <vt:lpstr>Pause to Reflect</vt:lpstr>
      <vt:lpstr>The Vignettes</vt:lpstr>
      <vt:lpstr>Discussion</vt:lpstr>
    </vt:vector>
  </TitlesOfParts>
  <Company>Academic Development Inst.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Handbook on Family and Community Engagement</dc:title>
  <dc:creator>Sam Redding</dc:creator>
  <cp:lastModifiedBy>Reatha Owen</cp:lastModifiedBy>
  <cp:revision>58</cp:revision>
  <dcterms:created xsi:type="dcterms:W3CDTF">2011-09-24T04:03:49Z</dcterms:created>
  <dcterms:modified xsi:type="dcterms:W3CDTF">2011-11-14T14:19:03Z</dcterms:modified>
</cp:coreProperties>
</file>