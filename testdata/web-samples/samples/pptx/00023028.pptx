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3" r:id="rId4"/>
  </p:sldMasterIdLst>
  <p:notesMasterIdLst>
    <p:notesMasterId r:id="rId34"/>
  </p:notesMasterIdLst>
  <p:handoutMasterIdLst>
    <p:handoutMasterId r:id="rId35"/>
  </p:handoutMasterIdLst>
  <p:sldIdLst>
    <p:sldId id="256" r:id="rId5"/>
    <p:sldId id="29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3" r:id="rId19"/>
    <p:sldId id="272" r:id="rId20"/>
    <p:sldId id="293" r:id="rId21"/>
    <p:sldId id="294" r:id="rId22"/>
    <p:sldId id="291" r:id="rId23"/>
    <p:sldId id="274" r:id="rId24"/>
    <p:sldId id="290" r:id="rId25"/>
    <p:sldId id="298" r:id="rId26"/>
    <p:sldId id="275" r:id="rId27"/>
    <p:sldId id="276" r:id="rId28"/>
    <p:sldId id="277" r:id="rId29"/>
    <p:sldId id="288" r:id="rId30"/>
    <p:sldId id="295" r:id="rId31"/>
    <p:sldId id="296" r:id="rId32"/>
    <p:sldId id="286" r:id="rId33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FFFFFF"/>
    <a:srgbClr val="1939A7"/>
    <a:srgbClr val="000000"/>
    <a:srgbClr val="404040"/>
    <a:srgbClr val="336699"/>
    <a:srgbClr val="FFCC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503" autoAdjust="0"/>
    <p:restoredTop sz="98397" autoAdjust="0"/>
  </p:normalViewPr>
  <p:slideViewPr>
    <p:cSldViewPr snapToGrid="0">
      <p:cViewPr>
        <p:scale>
          <a:sx n="75" d="100"/>
          <a:sy n="75" d="100"/>
        </p:scale>
        <p:origin x="-1674" y="-72"/>
      </p:cViewPr>
      <p:guideLst>
        <p:guide orient="horz" pos="243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2022" y="-96"/>
      </p:cViewPr>
      <p:guideLst>
        <p:guide orient="horz" pos="2928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5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pPr>
              <a:defRPr/>
            </a:pPr>
            <a:fld id="{D2833868-00FA-4C73-BB09-E684B8D836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t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277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700088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4838"/>
            <a:ext cx="54864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021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defTabSz="928688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672" tIns="46338" rIns="92672" bIns="46338" numCol="1" anchor="b" anchorCtr="0" compatLnSpc="1">
            <a:prstTxWarp prst="textNoShape">
              <a:avLst/>
            </a:prstTxWarp>
          </a:bodyPr>
          <a:lstStyle>
            <a:lvl1pPr algn="r" defTabSz="928688">
              <a:defRPr sz="1200"/>
            </a:lvl1pPr>
          </a:lstStyle>
          <a:p>
            <a:pPr>
              <a:defRPr/>
            </a:pPr>
            <a:fld id="{590D52A6-55E0-447A-983C-E077E72E54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BF6075-2205-410C-848B-8C1A7449F1B6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33795" name="Rectangle 7"/>
          <p:cNvSpPr txBox="1">
            <a:spLocks noGrp="1" noChangeArrowheads="1"/>
          </p:cNvSpPr>
          <p:nvPr/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672" tIns="46338" rIns="92672" bIns="46338" anchor="b"/>
          <a:lstStyle/>
          <a:p>
            <a:pPr algn="r" defTabSz="928688"/>
            <a:fld id="{97D293E2-FE25-4DF1-A0C1-7F72366D25B5}" type="slidenum">
              <a:rPr lang="en-US" sz="1200"/>
              <a:pPr algn="r" defTabSz="928688"/>
              <a:t>1</a:t>
            </a:fld>
            <a:endParaRPr lang="en-US" sz="1200" dirty="0"/>
          </a:p>
        </p:txBody>
      </p:sp>
      <p:sp>
        <p:nvSpPr>
          <p:cNvPr id="337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337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B7EEBE-1B9D-4F38-A77D-D7CBD1E4CF4D}" type="slidenum">
              <a:rPr lang="en-US" smtClean="0"/>
              <a:pPr/>
              <a:t>21</a:t>
            </a:fld>
            <a:endParaRPr lang="en-US" dirty="0" smtClean="0"/>
          </a:p>
        </p:txBody>
      </p:sp>
      <p:sp>
        <p:nvSpPr>
          <p:cNvPr id="34819" name="Rectangle 7"/>
          <p:cNvSpPr txBox="1">
            <a:spLocks noGrp="1" noChangeArrowheads="1"/>
          </p:cNvSpPr>
          <p:nvPr/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672" tIns="46338" rIns="92672" bIns="46338" anchor="b"/>
          <a:lstStyle/>
          <a:p>
            <a:pPr algn="r" defTabSz="928688"/>
            <a:fld id="{A9D40076-25B6-4E76-B625-80001FB54BF8}" type="slidenum">
              <a:rPr lang="en-US" sz="1200"/>
              <a:pPr algn="r" defTabSz="928688"/>
              <a:t>21</a:t>
            </a:fld>
            <a:endParaRPr lang="en-US" sz="1200" dirty="0"/>
          </a:p>
        </p:txBody>
      </p:sp>
      <p:sp>
        <p:nvSpPr>
          <p:cNvPr id="348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9663" y="700088"/>
            <a:ext cx="4646612" cy="3486150"/>
          </a:xfrm>
          <a:ln/>
        </p:spPr>
      </p:sp>
      <p:sp>
        <p:nvSpPr>
          <p:cNvPr id="348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55527F-82A6-40C4-B778-FEEBB5DEA2C3}" type="slidenum">
              <a:rPr lang="en-US" smtClean="0"/>
              <a:pPr/>
              <a:t>29</a:t>
            </a:fld>
            <a:endParaRPr lang="en-US" dirty="0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8075" y="700088"/>
            <a:ext cx="4648200" cy="3486150"/>
          </a:xfrm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414838"/>
            <a:ext cx="5483225" cy="4181475"/>
          </a:xfrm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3694_JuiceDrop3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3"/>
          <p:cNvGrpSpPr>
            <a:grpSpLocks/>
          </p:cNvGrpSpPr>
          <p:nvPr userDrawn="1"/>
        </p:nvGrpSpPr>
        <p:grpSpPr bwMode="auto">
          <a:xfrm>
            <a:off x="3043238" y="476250"/>
            <a:ext cx="3038475" cy="4625975"/>
            <a:chOff x="1917" y="300"/>
            <a:chExt cx="1914" cy="2914"/>
          </a:xfrm>
        </p:grpSpPr>
        <p:pic>
          <p:nvPicPr>
            <p:cNvPr id="6" name="Picture 10" descr="SEWP_duckonly_transp"/>
            <p:cNvPicPr>
              <a:picLocks noChangeAspect="1" noChangeArrowheads="1"/>
            </p:cNvPicPr>
            <p:nvPr userDrawn="1"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17" y="300"/>
              <a:ext cx="1914" cy="18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12" descr="sewp_words"/>
            <p:cNvPicPr>
              <a:picLocks noChangeAspect="1" noChangeArrowheads="1"/>
            </p:cNvPicPr>
            <p:nvPr userDrawn="1"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043" y="2009"/>
              <a:ext cx="1662" cy="1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823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47900" y="5992813"/>
            <a:ext cx="3962400" cy="3429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8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823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066800" y="4911725"/>
            <a:ext cx="6324600" cy="1076325"/>
          </a:xfrm>
          <a:noFill/>
        </p:spPr>
        <p:txBody>
          <a:bodyPr lIns="0" bIns="0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80513" cy="1123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0"/>
            <a:ext cx="8393113" cy="1123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271588" y="2635250"/>
            <a:ext cx="6438900" cy="15240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1" descr="3694_JuiceDrop3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276225" y="1114425"/>
            <a:ext cx="8543925" cy="547687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80513" cy="11239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457200" tIns="0" rIns="0" bIns="10972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Customer Service</a:t>
            </a:r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7688" y="1339850"/>
            <a:ext cx="6438900" cy="1524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1030" name="Picture 8" descr="SEWP_duckonly_transp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9550" y="142875"/>
            <a:ext cx="942975" cy="906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0" y="6553200"/>
            <a:ext cx="390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fld id="{AC78539E-8B64-400D-BEF1-89D1EFAA8246}" type="slidenum">
              <a:rPr lang="en-US" sz="1400"/>
              <a:pPr>
                <a:defRPr/>
              </a:pPr>
              <a:t>‹#›</a:t>
            </a:fld>
            <a:endParaRPr lang="en-US" sz="1400" dirty="0"/>
          </a:p>
        </p:txBody>
      </p:sp>
      <p:pic>
        <p:nvPicPr>
          <p:cNvPr id="1032" name="Picture 8" descr="SEWP_duck_only_628w_608h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83563" y="5981700"/>
            <a:ext cx="617537" cy="59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9"/>
          <p:cNvSpPr txBox="1">
            <a:spLocks noChangeArrowheads="1"/>
          </p:cNvSpPr>
          <p:nvPr userDrawn="1"/>
        </p:nvSpPr>
        <p:spPr bwMode="auto">
          <a:xfrm>
            <a:off x="7874000" y="6545263"/>
            <a:ext cx="14097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b="1" dirty="0" smtClean="0">
                <a:solidFill>
                  <a:srgbClr val="FFFFFF"/>
                </a:solidFill>
              </a:rPr>
              <a:t>Symposium </a:t>
            </a:r>
            <a:r>
              <a:rPr lang="en-US" sz="1200" b="1" dirty="0">
                <a:solidFill>
                  <a:srgbClr val="FFFFFF"/>
                </a:solidFill>
              </a:rPr>
              <a:t>‘12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4" r:id="rId2"/>
    <p:sldLayoutId id="2147483885" r:id="rId3"/>
  </p:sldLayoutIdLst>
  <p:transition/>
  <p:timing>
    <p:tnLst>
      <p:par>
        <p:cTn id="1" dur="indefinite" restart="never" nodeType="tmRoot"/>
      </p:par>
    </p:tnLst>
  </p:timing>
  <p:hf hdr="0" ftr="0" dt="0"/>
  <p:txStyles>
    <p:titleStyle>
      <a:lvl1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+mj-lt"/>
          <a:ea typeface="+mj-ea"/>
          <a:cs typeface="+mj-cs"/>
        </a:defRPr>
      </a:lvl1pPr>
      <a:lvl2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2pPr>
      <a:lvl3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3pPr>
      <a:lvl4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4pPr>
      <a:lvl5pPr marL="4763" indent="-4763" algn="ctr" rtl="0" eaLnBrk="0" fontAlgn="base" hangingPunct="0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5pPr>
      <a:lvl6pPr marL="4619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6pPr>
      <a:lvl7pPr marL="9191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7pPr>
      <a:lvl8pPr marL="13763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8pPr>
      <a:lvl9pPr marL="1833563" algn="l" rtl="0" fontAlgn="base">
        <a:lnSpc>
          <a:spcPts val="3800"/>
        </a:lnSpc>
        <a:spcBef>
          <a:spcPct val="0"/>
        </a:spcBef>
        <a:spcAft>
          <a:spcPct val="0"/>
        </a:spcAft>
        <a:defRPr sz="3200" b="1">
          <a:solidFill>
            <a:srgbClr val="FAFAFA"/>
          </a:solidFill>
          <a:latin typeface="Arial" charset="0"/>
        </a:defRPr>
      </a:lvl9pPr>
    </p:titleStyle>
    <p:bodyStyle>
      <a:lvl1pPr marL="285750" indent="-285750" algn="l" rtl="0" eaLnBrk="0" fontAlgn="base" hangingPunct="0">
        <a:lnSpc>
          <a:spcPts val="2700"/>
        </a:lnSpc>
        <a:spcBef>
          <a:spcPts val="26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15938" indent="-115888" algn="l" rtl="0" eaLnBrk="0" fontAlgn="base" hangingPunct="0">
        <a:lnSpc>
          <a:spcPts val="2000"/>
        </a:lnSpc>
        <a:spcBef>
          <a:spcPts val="900"/>
        </a:spcBef>
        <a:spcAft>
          <a:spcPct val="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</a:defRPr>
      </a:lvl2pPr>
      <a:lvl3pPr marL="796925" indent="-111125" algn="l" rtl="0" eaLnBrk="0" fontAlgn="base" hangingPunct="0">
        <a:lnSpc>
          <a:spcPts val="1800"/>
        </a:lnSpc>
        <a:spcBef>
          <a:spcPts val="800"/>
        </a:spcBef>
        <a:spcAft>
          <a:spcPct val="0"/>
        </a:spcAft>
        <a:buClr>
          <a:schemeClr val="tx1"/>
        </a:buClr>
        <a:buChar char="-"/>
        <a:defRPr>
          <a:solidFill>
            <a:schemeClr val="tx1"/>
          </a:solidFill>
          <a:latin typeface="+mn-lt"/>
        </a:defRPr>
      </a:lvl3pPr>
      <a:lvl4pPr marL="1031875" indent="-120650" algn="l" rtl="0" eaLnBrk="0" fontAlgn="base" hangingPunct="0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600">
          <a:solidFill>
            <a:schemeClr val="tx1"/>
          </a:solidFill>
          <a:latin typeface="+mn-lt"/>
        </a:defRPr>
      </a:lvl4pPr>
      <a:lvl5pPr marL="1260475" indent="-114300" algn="l" rtl="0" eaLnBrk="0" fontAlgn="base" hangingPunct="0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5pPr>
      <a:lvl6pPr marL="17176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6pPr>
      <a:lvl7pPr marL="21748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7pPr>
      <a:lvl8pPr marL="26320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8pPr>
      <a:lvl9pPr marL="3089275" indent="-114300" algn="l" rtl="0" fontAlgn="base">
        <a:lnSpc>
          <a:spcPts val="1400"/>
        </a:lnSpc>
        <a:spcBef>
          <a:spcPts val="500"/>
        </a:spcBef>
        <a:spcAft>
          <a:spcPct val="0"/>
        </a:spcAft>
        <a:buClr>
          <a:schemeClr val="tx1"/>
        </a:buClr>
        <a:buFont typeface="Wingdings" pitchFamily="2" charset="2"/>
        <a:buChar char="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help@sewp.nasa.go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mailto:help@sewp.nasa.gov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mailto:help@sewp.nasa.gov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5157788"/>
            <a:ext cx="8191500" cy="1370012"/>
          </a:xfrm>
          <a:ln w="9525"/>
          <a:effectLst>
            <a:outerShdw dist="35921" dir="2700000" algn="ctr" rotWithShape="0">
              <a:schemeClr val="bg1"/>
            </a:outerShdw>
          </a:effectLst>
        </p:spPr>
        <p:txBody>
          <a:bodyPr/>
          <a:lstStyle/>
          <a:p>
            <a:pPr marL="0" indent="4763" eaLnBrk="1" hangingPunct="1">
              <a:defRPr/>
            </a:pPr>
            <a:r>
              <a:rPr lang="en-US" dirty="0" smtClean="0"/>
              <a:t>The Quote Request Model</a:t>
            </a:r>
            <a:br>
              <a:rPr lang="en-US" dirty="0" smtClean="0"/>
            </a:br>
            <a:r>
              <a:rPr lang="en-US" dirty="0" smtClean="0"/>
              <a:t>Joanne Woytek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Acquisition is a Team Effort</a:t>
            </a:r>
            <a:endParaRPr lang="en-US" dirty="0"/>
          </a:p>
        </p:txBody>
      </p:sp>
      <p:pic>
        <p:nvPicPr>
          <p:cNvPr id="4099" name="Picture 2" descr="Z:\Cartoons\shin153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79600" y="1336675"/>
            <a:ext cx="5180013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Why Use the Quote Request Tool</a:t>
            </a:r>
            <a:endParaRPr lang="en-US" dirty="0"/>
          </a:p>
        </p:txBody>
      </p:sp>
      <p:sp>
        <p:nvSpPr>
          <p:cNvPr id="5123" name="Content Placeholder 3"/>
          <p:cNvSpPr>
            <a:spLocks noGrp="1"/>
          </p:cNvSpPr>
          <p:nvPr>
            <p:ph idx="1"/>
          </p:nvPr>
        </p:nvSpPr>
        <p:spPr>
          <a:xfrm>
            <a:off x="539750" y="1625600"/>
            <a:ext cx="7524750" cy="4000500"/>
          </a:xfrm>
        </p:spPr>
        <p:txBody>
          <a:bodyPr/>
          <a:lstStyle/>
          <a:p>
            <a:r>
              <a:rPr lang="en-US" dirty="0" smtClean="0"/>
              <a:t>Only recommended method for:</a:t>
            </a:r>
          </a:p>
          <a:p>
            <a:pPr lvl="1"/>
            <a:r>
              <a:rPr lang="en-US" dirty="0" smtClean="0"/>
              <a:t> Determining what is available on SEWP </a:t>
            </a:r>
          </a:p>
          <a:p>
            <a:pPr lvl="1"/>
            <a:r>
              <a:rPr lang="en-US" dirty="0" smtClean="0"/>
              <a:t> Providing and documenting Fair Opportunity</a:t>
            </a:r>
          </a:p>
          <a:p>
            <a:pPr lvl="1"/>
            <a:r>
              <a:rPr lang="en-US" dirty="0" smtClean="0"/>
              <a:t> Verifying quotes</a:t>
            </a:r>
          </a:p>
          <a:p>
            <a:pPr lvl="1"/>
            <a:r>
              <a:rPr lang="en-US" dirty="0" smtClean="0"/>
              <a:t> Tracking progress and issues </a:t>
            </a:r>
          </a:p>
          <a:p>
            <a:pPr lvl="1"/>
            <a:r>
              <a:rPr lang="en-US" dirty="0" smtClean="0"/>
              <a:t> Obtaining the optimum assistance </a:t>
            </a:r>
          </a:p>
          <a:p>
            <a:pPr lvl="1"/>
            <a:r>
              <a:rPr lang="en-US" dirty="0" smtClean="0"/>
              <a:t> Sharing RFQs and quotes with colleagues</a:t>
            </a:r>
          </a:p>
          <a:p>
            <a:pPr lvl="1"/>
            <a:r>
              <a:rPr lang="en-US" dirty="0" smtClean="0"/>
              <a:t> Creating on-line credit card orders</a:t>
            </a:r>
          </a:p>
          <a:p>
            <a:pPr lvl="1"/>
            <a:r>
              <a:rPr lang="en-US" dirty="0" smtClean="0"/>
              <a:t> Notifying Contract Holders of award status</a:t>
            </a:r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Best Practices for Obtaining Quotes</a:t>
            </a:r>
            <a:endParaRPr lang="en-US" dirty="0"/>
          </a:p>
        </p:txBody>
      </p:sp>
      <p:sp>
        <p:nvSpPr>
          <p:cNvPr id="6147" name="Content Placeholder 3"/>
          <p:cNvSpPr>
            <a:spLocks noGrp="1"/>
          </p:cNvSpPr>
          <p:nvPr>
            <p:ph idx="1"/>
          </p:nvPr>
        </p:nvSpPr>
        <p:spPr>
          <a:xfrm>
            <a:off x="488950" y="1138238"/>
            <a:ext cx="8401050" cy="5719762"/>
          </a:xfrm>
        </p:spPr>
        <p:txBody>
          <a:bodyPr/>
          <a:lstStyle/>
          <a:p>
            <a:r>
              <a:rPr lang="en-US" dirty="0" smtClean="0"/>
              <a:t>Check that the requirements are in scope</a:t>
            </a:r>
          </a:p>
          <a:p>
            <a:pPr lvl="1"/>
            <a:r>
              <a:rPr lang="en-US" dirty="0" smtClean="0"/>
              <a:t> If in doubt, particularly for service related requirements, send Statement of Work (SOW) and/or Requirements statement to </a:t>
            </a:r>
            <a:r>
              <a:rPr lang="en-US" dirty="0" smtClean="0">
                <a:hlinkClick r:id="rId2"/>
              </a:rPr>
              <a:t>help@sewp.nasa.gov</a:t>
            </a:r>
            <a:endParaRPr lang="en-US" dirty="0" smtClean="0"/>
          </a:p>
          <a:p>
            <a:r>
              <a:rPr lang="en-US" dirty="0" smtClean="0"/>
              <a:t> Ensure technical requirements are up to date and feasible</a:t>
            </a:r>
          </a:p>
          <a:p>
            <a:pPr lvl="1"/>
            <a:r>
              <a:rPr lang="en-US" dirty="0" smtClean="0"/>
              <a:t>Use Market Research to ask general research questions – especially for unusual or complex issues</a:t>
            </a:r>
          </a:p>
          <a:p>
            <a:r>
              <a:rPr lang="en-US" dirty="0" smtClean="0"/>
              <a:t>Describe requirements as fully as possible</a:t>
            </a:r>
          </a:p>
          <a:p>
            <a:r>
              <a:rPr lang="en-US" dirty="0" smtClean="0"/>
              <a:t>Provide adequate time for a response</a:t>
            </a:r>
          </a:p>
          <a:p>
            <a:pPr lvl="1"/>
            <a:r>
              <a:rPr lang="en-US" dirty="0" smtClean="0"/>
              <a:t>A requirement that took months to develop cannot be responded to in days</a:t>
            </a:r>
          </a:p>
          <a:p>
            <a:r>
              <a:rPr lang="en-US" dirty="0" smtClean="0"/>
              <a:t>If inadequate responses, contact </a:t>
            </a:r>
            <a:r>
              <a:rPr lang="en-US" dirty="0" smtClean="0">
                <a:hlinkClick r:id="rId2"/>
              </a:rPr>
              <a:t>help@sewp.nasa.gov</a:t>
            </a:r>
            <a:r>
              <a:rPr lang="en-US" dirty="0" smtClean="0"/>
              <a:t> for assistance</a:t>
            </a:r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Types of Requests</a:t>
            </a:r>
            <a:endParaRPr lang="en-US" dirty="0"/>
          </a:p>
        </p:txBody>
      </p:sp>
      <p:sp>
        <p:nvSpPr>
          <p:cNvPr id="7171" name="Content Placeholder 3"/>
          <p:cNvSpPr>
            <a:spLocks noGrp="1"/>
          </p:cNvSpPr>
          <p:nvPr>
            <p:ph idx="1"/>
          </p:nvPr>
        </p:nvSpPr>
        <p:spPr>
          <a:xfrm>
            <a:off x="425450" y="1149350"/>
            <a:ext cx="7902575" cy="3386138"/>
          </a:xfrm>
        </p:spPr>
        <p:txBody>
          <a:bodyPr/>
          <a:lstStyle/>
          <a:p>
            <a:r>
              <a:rPr lang="en-US" dirty="0" smtClean="0"/>
              <a:t>Current tool only lists 2 types of requests </a:t>
            </a:r>
          </a:p>
          <a:p>
            <a:pPr lvl="1"/>
            <a:r>
              <a:rPr lang="en-US" dirty="0" smtClean="0"/>
              <a:t> Market Research and Request A Quote</a:t>
            </a:r>
          </a:p>
          <a:p>
            <a:pPr lvl="1"/>
            <a:r>
              <a:rPr lang="en-US" dirty="0" smtClean="0"/>
              <a:t>Next Version will have 3 types: Market Research, Request for Information (RFI) and Request for Quote (RFQ)</a:t>
            </a:r>
          </a:p>
          <a:p>
            <a:endParaRPr lang="en-US" dirty="0" smtClean="0"/>
          </a:p>
          <a:p>
            <a:r>
              <a:rPr lang="en-US" dirty="0" smtClean="0"/>
              <a:t>Distinguish between an RFI and RFQ in the summary section</a:t>
            </a:r>
          </a:p>
          <a:p>
            <a:endParaRPr lang="en-US" dirty="0" smtClean="0"/>
          </a:p>
        </p:txBody>
      </p:sp>
      <p:pic>
        <p:nvPicPr>
          <p:cNvPr id="7172" name="Picture 3" descr="qtype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0200" y="2598738"/>
            <a:ext cx="80010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4" descr="summary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3" y="4140200"/>
            <a:ext cx="79914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Market Research vs. Request a Quote</a:t>
            </a:r>
            <a:endParaRPr lang="en-US" dirty="0"/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>
          <a:xfrm>
            <a:off x="425450" y="1973263"/>
            <a:ext cx="8324850" cy="1719262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smtClean="0"/>
              <a:t>    The only real difference between Market Research and Request A Quote is that responses to Market Research requests are not verified.</a:t>
            </a:r>
          </a:p>
          <a:p>
            <a:pPr>
              <a:buFont typeface="Wingdings" pitchFamily="2" charset="2"/>
              <a:buNone/>
            </a:pPr>
            <a:r>
              <a:rPr lang="en-US" dirty="0" smtClean="0"/>
              <a:t>    Market Research is best used for general research questions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Overlooked/Misunderstood Features</a:t>
            </a:r>
            <a:endParaRPr lang="en-US" dirty="0"/>
          </a:p>
        </p:txBody>
      </p:sp>
      <p:sp>
        <p:nvSpPr>
          <p:cNvPr id="9219" name="Content Placeholder 3"/>
          <p:cNvSpPr>
            <a:spLocks noGrp="1"/>
          </p:cNvSpPr>
          <p:nvPr>
            <p:ph idx="1"/>
          </p:nvPr>
        </p:nvSpPr>
        <p:spPr>
          <a:xfrm>
            <a:off x="412750" y="1516063"/>
            <a:ext cx="7902575" cy="3744912"/>
          </a:xfrm>
        </p:spPr>
        <p:txBody>
          <a:bodyPr/>
          <a:lstStyle/>
          <a:p>
            <a:r>
              <a:rPr lang="en-US" dirty="0" smtClean="0"/>
              <a:t>Subject</a:t>
            </a:r>
          </a:p>
          <a:p>
            <a:r>
              <a:rPr lang="en-US" dirty="0" smtClean="0"/>
              <a:t>Agency RFQ ID/Name</a:t>
            </a:r>
          </a:p>
          <a:p>
            <a:r>
              <a:rPr lang="en-US" dirty="0" smtClean="0"/>
              <a:t>Include Previous Quote Numbers</a:t>
            </a:r>
          </a:p>
          <a:p>
            <a:r>
              <a:rPr lang="en-US" dirty="0" smtClean="0"/>
              <a:t>OCONUS</a:t>
            </a:r>
          </a:p>
          <a:p>
            <a:r>
              <a:rPr lang="en-US" dirty="0" smtClean="0"/>
              <a:t>E-mail notification options</a:t>
            </a:r>
          </a:p>
          <a:p>
            <a:r>
              <a:rPr lang="en-US" dirty="0" smtClean="0"/>
              <a:t>Contact Information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Subject / Summary</a:t>
            </a:r>
            <a:endParaRPr lang="en-US" dirty="0"/>
          </a:p>
        </p:txBody>
      </p:sp>
      <p:sp>
        <p:nvSpPr>
          <p:cNvPr id="10243" name="Content Placeholder 3"/>
          <p:cNvSpPr>
            <a:spLocks noGrp="1"/>
          </p:cNvSpPr>
          <p:nvPr>
            <p:ph idx="1"/>
          </p:nvPr>
        </p:nvSpPr>
        <p:spPr>
          <a:xfrm>
            <a:off x="323850" y="2424113"/>
            <a:ext cx="7902575" cy="3884612"/>
          </a:xfrm>
        </p:spPr>
        <p:txBody>
          <a:bodyPr/>
          <a:lstStyle/>
          <a:p>
            <a:r>
              <a:rPr lang="en-US" dirty="0" smtClean="0"/>
              <a:t>Subject line should not read “Enter a short description of requirement”</a:t>
            </a:r>
          </a:p>
          <a:p>
            <a:pPr lvl="1"/>
            <a:r>
              <a:rPr lang="en-US" dirty="0" smtClean="0"/>
              <a:t>Be descriptive</a:t>
            </a:r>
          </a:p>
          <a:p>
            <a:pPr lvl="1"/>
            <a:r>
              <a:rPr lang="en-US" dirty="0" smtClean="0"/>
              <a:t>Be attention getting</a:t>
            </a:r>
          </a:p>
          <a:p>
            <a:pPr lvl="1"/>
            <a:r>
              <a:rPr lang="en-US" dirty="0" smtClean="0"/>
              <a:t>Be truthful</a:t>
            </a:r>
          </a:p>
          <a:p>
            <a:pPr lvl="2"/>
            <a:r>
              <a:rPr lang="en-US" dirty="0" smtClean="0"/>
              <a:t>“You have won the Ethiopian Lottery” will probably not work</a:t>
            </a:r>
          </a:p>
          <a:p>
            <a:r>
              <a:rPr lang="en-US" dirty="0" smtClean="0"/>
              <a:t>Contract Holders rely on subject line to determine if RFQ is an opportunity </a:t>
            </a:r>
          </a:p>
          <a:p>
            <a:r>
              <a:rPr lang="en-US" dirty="0" smtClean="0"/>
              <a:t>Customers can use the Subject line to locate Quote Requests</a:t>
            </a:r>
          </a:p>
        </p:txBody>
      </p:sp>
      <p:pic>
        <p:nvPicPr>
          <p:cNvPr id="10244" name="Picture 3" descr="summary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0363" y="1130300"/>
            <a:ext cx="79914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Agency ID</a:t>
            </a:r>
            <a:endParaRPr lang="en-US" dirty="0"/>
          </a:p>
        </p:txBody>
      </p:sp>
      <p:sp>
        <p:nvSpPr>
          <p:cNvPr id="11267" name="Content Placeholder 3"/>
          <p:cNvSpPr>
            <a:spLocks noGrp="1"/>
          </p:cNvSpPr>
          <p:nvPr>
            <p:ph idx="1"/>
          </p:nvPr>
        </p:nvSpPr>
        <p:spPr>
          <a:xfrm>
            <a:off x="260350" y="1889125"/>
            <a:ext cx="8350250" cy="2076450"/>
          </a:xfrm>
        </p:spPr>
        <p:txBody>
          <a:bodyPr/>
          <a:lstStyle/>
          <a:p>
            <a:r>
              <a:rPr lang="en-US" dirty="0" smtClean="0"/>
              <a:t>Optional field</a:t>
            </a:r>
          </a:p>
          <a:p>
            <a:r>
              <a:rPr lang="en-US" dirty="0" smtClean="0"/>
              <a:t>Can be used to provide a second identifier for the Quote Request</a:t>
            </a:r>
          </a:p>
          <a:p>
            <a:pPr lvl="1"/>
            <a:r>
              <a:rPr lang="en-US" dirty="0" smtClean="0"/>
              <a:t>SEWP assigns a unique Quote Request Number when the request is submitted</a:t>
            </a:r>
          </a:p>
          <a:p>
            <a:r>
              <a:rPr lang="en-US" dirty="0" smtClean="0"/>
              <a:t>Searchable</a:t>
            </a:r>
          </a:p>
        </p:txBody>
      </p:sp>
      <p:pic>
        <p:nvPicPr>
          <p:cNvPr id="11268" name="Picture 4" descr="id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1950" y="1230313"/>
            <a:ext cx="6496050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Previous Quote Numbers</a:t>
            </a:r>
            <a:endParaRPr lang="en-US" dirty="0"/>
          </a:p>
        </p:txBody>
      </p:sp>
      <p:sp>
        <p:nvSpPr>
          <p:cNvPr id="12291" name="Content Placeholder 3"/>
          <p:cNvSpPr>
            <a:spLocks noGrp="1"/>
          </p:cNvSpPr>
          <p:nvPr>
            <p:ph idx="1"/>
          </p:nvPr>
        </p:nvSpPr>
        <p:spPr>
          <a:xfrm>
            <a:off x="298450" y="3413125"/>
            <a:ext cx="8350250" cy="2051050"/>
          </a:xfrm>
        </p:spPr>
        <p:txBody>
          <a:bodyPr/>
          <a:lstStyle/>
          <a:p>
            <a:r>
              <a:rPr lang="en-US" dirty="0" smtClean="0"/>
              <a:t>Optional field</a:t>
            </a:r>
          </a:p>
          <a:p>
            <a:r>
              <a:rPr lang="en-US" dirty="0" smtClean="0"/>
              <a:t>Speeds up Quote process when one or more Contract Holders have provided preliminary quotes</a:t>
            </a:r>
          </a:p>
          <a:p>
            <a:r>
              <a:rPr lang="en-US" dirty="0" smtClean="0"/>
              <a:t>Notifies company that provided quote</a:t>
            </a:r>
          </a:p>
        </p:txBody>
      </p:sp>
      <p:pic>
        <p:nvPicPr>
          <p:cNvPr id="12292" name="Picture 5" descr="previous 1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1775" y="1141413"/>
            <a:ext cx="222885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6" descr="previous 2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3" y="1463675"/>
            <a:ext cx="745807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OCONUS</a:t>
            </a:r>
            <a:endParaRPr lang="en-US" dirty="0"/>
          </a:p>
        </p:txBody>
      </p:sp>
      <p:sp>
        <p:nvSpPr>
          <p:cNvPr id="13315" name="Content Placeholder 3"/>
          <p:cNvSpPr>
            <a:spLocks noGrp="1"/>
          </p:cNvSpPr>
          <p:nvPr>
            <p:ph idx="1"/>
          </p:nvPr>
        </p:nvSpPr>
        <p:spPr>
          <a:xfrm>
            <a:off x="323850" y="2206625"/>
            <a:ext cx="8350250" cy="2051050"/>
          </a:xfrm>
        </p:spPr>
        <p:txBody>
          <a:bodyPr/>
          <a:lstStyle/>
          <a:p>
            <a:r>
              <a:rPr lang="en-US" dirty="0" smtClean="0"/>
              <a:t>Optional field</a:t>
            </a:r>
          </a:p>
          <a:p>
            <a:r>
              <a:rPr lang="en-US" dirty="0" smtClean="0"/>
              <a:t>Notifies contract holder if some or all of the order involves oversea requirements</a:t>
            </a:r>
          </a:p>
          <a:p>
            <a:r>
              <a:rPr lang="en-US" dirty="0" smtClean="0"/>
              <a:t>Provide details in the Summary box and/or attachments</a:t>
            </a:r>
          </a:p>
        </p:txBody>
      </p:sp>
      <p:pic>
        <p:nvPicPr>
          <p:cNvPr id="13316" name="Picture 7" descr="conus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6863" y="1122363"/>
            <a:ext cx="5861050" cy="1036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E-mail attachments</a:t>
            </a:r>
            <a:endParaRPr lang="en-US" dirty="0"/>
          </a:p>
        </p:txBody>
      </p:sp>
      <p:sp>
        <p:nvSpPr>
          <p:cNvPr id="14339" name="Content Placeholder 3"/>
          <p:cNvSpPr>
            <a:spLocks noGrp="1"/>
          </p:cNvSpPr>
          <p:nvPr>
            <p:ph idx="1"/>
          </p:nvPr>
        </p:nvSpPr>
        <p:spPr>
          <a:xfrm>
            <a:off x="285750" y="1824038"/>
            <a:ext cx="8566150" cy="3076575"/>
          </a:xfrm>
        </p:spPr>
        <p:txBody>
          <a:bodyPr/>
          <a:lstStyle/>
          <a:p>
            <a:r>
              <a:rPr lang="en-US" dirty="0" smtClean="0"/>
              <a:t>Default is to receive an email notification only when a response is submitted</a:t>
            </a:r>
          </a:p>
          <a:p>
            <a:r>
              <a:rPr lang="en-US" dirty="0" smtClean="0"/>
              <a:t>If “Yes” is checked, the submitted quotes will be attached to the notification</a:t>
            </a:r>
          </a:p>
          <a:p>
            <a:r>
              <a:rPr lang="en-US" dirty="0" smtClean="0"/>
              <a:t>Note that Contract Holders cannot send quotes directly to customer</a:t>
            </a:r>
          </a:p>
          <a:p>
            <a:r>
              <a:rPr lang="en-US" dirty="0" smtClean="0"/>
              <a:t>Next version will have more and clearer options</a:t>
            </a:r>
          </a:p>
        </p:txBody>
      </p:sp>
      <p:pic>
        <p:nvPicPr>
          <p:cNvPr id="14340" name="Picture 6" descr="attach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150938"/>
            <a:ext cx="7138988" cy="588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Contact Information</a:t>
            </a:r>
            <a:endParaRPr lang="en-US" dirty="0"/>
          </a:p>
        </p:txBody>
      </p:sp>
      <p:sp>
        <p:nvSpPr>
          <p:cNvPr id="15363" name="Content Placeholder 3"/>
          <p:cNvSpPr>
            <a:spLocks noGrp="1"/>
          </p:cNvSpPr>
          <p:nvPr>
            <p:ph idx="1"/>
          </p:nvPr>
        </p:nvSpPr>
        <p:spPr>
          <a:xfrm>
            <a:off x="311150" y="3575050"/>
            <a:ext cx="8350250" cy="1371600"/>
          </a:xfrm>
        </p:spPr>
        <p:txBody>
          <a:bodyPr/>
          <a:lstStyle/>
          <a:p>
            <a:r>
              <a:rPr lang="en-US" dirty="0" smtClean="0"/>
              <a:t>Fill in all fields, even though they are optional</a:t>
            </a:r>
          </a:p>
          <a:p>
            <a:r>
              <a:rPr lang="en-US" dirty="0" smtClean="0"/>
              <a:t>The more information on your location =&gt; the better the chance for a response</a:t>
            </a:r>
          </a:p>
        </p:txBody>
      </p:sp>
      <p:pic>
        <p:nvPicPr>
          <p:cNvPr id="15364" name="Picture 4" descr="contact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0989" y="1132300"/>
            <a:ext cx="8545512" cy="191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Modification of Quote Requests</a:t>
            </a:r>
            <a:endParaRPr lang="en-US" dirty="0"/>
          </a:p>
        </p:txBody>
      </p:sp>
      <p:sp>
        <p:nvSpPr>
          <p:cNvPr id="16387" name="Content Placeholder 3"/>
          <p:cNvSpPr>
            <a:spLocks noGrp="1"/>
          </p:cNvSpPr>
          <p:nvPr>
            <p:ph idx="1"/>
          </p:nvPr>
        </p:nvSpPr>
        <p:spPr>
          <a:xfrm>
            <a:off x="285750" y="1293813"/>
            <a:ext cx="8350250" cy="3063875"/>
          </a:xfrm>
        </p:spPr>
        <p:txBody>
          <a:bodyPr/>
          <a:lstStyle/>
          <a:p>
            <a:r>
              <a:rPr lang="en-US" dirty="0" smtClean="0"/>
              <a:t>Either select the Request number in the initial Search Tab: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Or select Request number in Modify Tab</a:t>
            </a:r>
          </a:p>
        </p:txBody>
      </p:sp>
      <p:pic>
        <p:nvPicPr>
          <p:cNvPr id="16388" name="Picture 5" descr="select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1709738"/>
            <a:ext cx="439102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6" descr="modify tab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7650" y="4392613"/>
            <a:ext cx="83883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Modification Options</a:t>
            </a:r>
            <a:endParaRPr lang="en-US" dirty="0"/>
          </a:p>
        </p:txBody>
      </p:sp>
      <p:sp>
        <p:nvSpPr>
          <p:cNvPr id="17411" name="Content Placeholder 3"/>
          <p:cNvSpPr>
            <a:spLocks noGrp="1"/>
          </p:cNvSpPr>
          <p:nvPr>
            <p:ph idx="1"/>
          </p:nvPr>
        </p:nvSpPr>
        <p:spPr>
          <a:xfrm>
            <a:off x="298450" y="1092200"/>
            <a:ext cx="8350250" cy="4103688"/>
          </a:xfrm>
        </p:spPr>
        <p:txBody>
          <a:bodyPr/>
          <a:lstStyle/>
          <a:p>
            <a:r>
              <a:rPr lang="en-US" dirty="0" smtClean="0"/>
              <a:t>Either modify selected Request or select from the following:</a:t>
            </a:r>
          </a:p>
          <a:p>
            <a:endParaRPr lang="en-US" dirty="0" smtClean="0"/>
          </a:p>
          <a:p>
            <a:r>
              <a:rPr lang="en-US" dirty="0" smtClean="0"/>
              <a:t>Copy to New Request:  Uses selected Request as a Template to start a new Request</a:t>
            </a:r>
          </a:p>
          <a:p>
            <a:r>
              <a:rPr lang="en-US" dirty="0" smtClean="0"/>
              <a:t>Cancel this Request: This will notify solicited Contract Holders that the request has been canceled</a:t>
            </a:r>
          </a:p>
          <a:p>
            <a:r>
              <a:rPr lang="en-US" dirty="0" smtClean="0"/>
              <a:t>New version will provide a quick option for canceling, reopening and extending RFQs</a:t>
            </a:r>
          </a:p>
        </p:txBody>
      </p:sp>
      <p:pic>
        <p:nvPicPr>
          <p:cNvPr id="17412" name="Picture 7" descr="m-options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9400" y="1758950"/>
            <a:ext cx="853757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Modification of Requests</a:t>
            </a:r>
            <a:endParaRPr lang="en-US" dirty="0"/>
          </a:p>
        </p:txBody>
      </p:sp>
      <p:sp>
        <p:nvSpPr>
          <p:cNvPr id="18435" name="Content Placeholder 3"/>
          <p:cNvSpPr>
            <a:spLocks noGrp="1"/>
          </p:cNvSpPr>
          <p:nvPr>
            <p:ph idx="1"/>
          </p:nvPr>
        </p:nvSpPr>
        <p:spPr>
          <a:xfrm>
            <a:off x="285750" y="1108075"/>
            <a:ext cx="8350250" cy="3436938"/>
          </a:xfrm>
        </p:spPr>
        <p:txBody>
          <a:bodyPr/>
          <a:lstStyle/>
          <a:p>
            <a:r>
              <a:rPr lang="en-US" dirty="0" smtClean="0"/>
              <a:t>Be sure to update the Reply date: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Note that Extension can be less than 24 hours</a:t>
            </a:r>
          </a:p>
          <a:p>
            <a:r>
              <a:rPr lang="en-US" dirty="0" smtClean="0"/>
              <a:t>Summarize the changes made in the Modify Remarks box: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18436" name="Picture 9" descr="reply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525" y="1747838"/>
            <a:ext cx="8334375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10" descr="modrem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9150" y="3444875"/>
            <a:ext cx="7532688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Quote Verification Process</a:t>
            </a:r>
            <a:endParaRPr lang="en-US" dirty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279400" y="1300163"/>
            <a:ext cx="8559800" cy="5937250"/>
          </a:xfrm>
        </p:spPr>
        <p:txBody>
          <a:bodyPr/>
          <a:lstStyle/>
          <a:p>
            <a:r>
              <a:rPr lang="en-US" sz="2800" dirty="0" smtClean="0"/>
              <a:t>User must compare line items on quote with verification file</a:t>
            </a:r>
          </a:p>
          <a:p>
            <a:pPr lvl="1"/>
            <a:r>
              <a:rPr lang="en-US" dirty="0" smtClean="0"/>
              <a:t>On Quote Page, select “Print this Page” in upper right corner</a:t>
            </a:r>
          </a:p>
          <a:p>
            <a:pPr lvl="2"/>
            <a:r>
              <a:rPr lang="en-US" dirty="0" smtClean="0"/>
              <a:t>All Verification files are printed off</a:t>
            </a:r>
          </a:p>
          <a:p>
            <a:pPr lvl="1"/>
            <a:r>
              <a:rPr lang="en-US" dirty="0" smtClean="0"/>
              <a:t>At a minimum, open the quote being selected for award</a:t>
            </a:r>
          </a:p>
          <a:p>
            <a:pPr lvl="1"/>
            <a:r>
              <a:rPr lang="en-US" dirty="0" smtClean="0"/>
              <a:t>Check the information in the quote against corresponding verification file</a:t>
            </a:r>
          </a:p>
          <a:p>
            <a:pPr lvl="1"/>
            <a:r>
              <a:rPr lang="en-US" dirty="0" smtClean="0"/>
              <a:t>Ignore the 5 Variable CLINS</a:t>
            </a:r>
          </a:p>
          <a:p>
            <a:pPr lvl="2"/>
            <a:r>
              <a:rPr lang="en-US" dirty="0" smtClean="0"/>
              <a:t>SEWP-Z: fee</a:t>
            </a:r>
          </a:p>
          <a:p>
            <a:pPr lvl="2"/>
            <a:r>
              <a:rPr lang="en-US" dirty="0" smtClean="0"/>
              <a:t>Travel</a:t>
            </a:r>
          </a:p>
          <a:p>
            <a:pPr lvl="2"/>
            <a:r>
              <a:rPr lang="en-US" dirty="0" smtClean="0"/>
              <a:t>Delivery</a:t>
            </a:r>
          </a:p>
          <a:p>
            <a:pPr lvl="2"/>
            <a:r>
              <a:rPr lang="en-US" dirty="0" smtClean="0"/>
              <a:t>Open Market: must total less than $3000</a:t>
            </a:r>
          </a:p>
          <a:p>
            <a:pPr lvl="2"/>
            <a:r>
              <a:rPr lang="en-US" dirty="0" smtClean="0"/>
              <a:t>Credit </a:t>
            </a:r>
            <a:endParaRPr lang="en-US" sz="2800" dirty="0" smtClean="0"/>
          </a:p>
          <a:p>
            <a:r>
              <a:rPr lang="en-US" dirty="0" smtClean="0"/>
              <a:t>If Quote does not match verification file</a:t>
            </a:r>
          </a:p>
          <a:p>
            <a:pPr lvl="1"/>
            <a:r>
              <a:rPr lang="en-US" dirty="0" smtClean="0"/>
              <a:t>Ignore Quote</a:t>
            </a:r>
          </a:p>
          <a:p>
            <a:pPr lvl="1"/>
            <a:r>
              <a:rPr lang="en-US" dirty="0" smtClean="0"/>
              <a:t>Notify </a:t>
            </a:r>
            <a:r>
              <a:rPr lang="en-US" dirty="0" smtClean="0">
                <a:hlinkClick r:id="rId2"/>
              </a:rPr>
              <a:t>help@sewp.nasa.gov</a:t>
            </a:r>
            <a:r>
              <a:rPr lang="en-US" dirty="0" smtClean="0"/>
              <a:t> 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Quote Verification</a:t>
            </a:r>
            <a:endParaRPr 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300038" y="1131888"/>
            <a:ext cx="8559800" cy="5848350"/>
          </a:xfrm>
        </p:spPr>
        <p:txBody>
          <a:bodyPr/>
          <a:lstStyle/>
          <a:p>
            <a:r>
              <a:rPr lang="en-US" sz="2800" dirty="0" smtClean="0"/>
              <a:t>Verification File </a:t>
            </a:r>
          </a:p>
          <a:p>
            <a:pPr marL="857250" lvl="1" indent="-457200"/>
            <a:r>
              <a:rPr lang="en-US" dirty="0" smtClean="0"/>
              <a:t>Verifies items on contract &amp; properly priced</a:t>
            </a:r>
          </a:p>
          <a:p>
            <a:pPr marL="857250" lvl="1" indent="-457200"/>
            <a:r>
              <a:rPr lang="en-US" dirty="0" smtClean="0"/>
              <a:t>Shows Discount Off Contract Price</a:t>
            </a:r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>
              <a:buFont typeface="Wingdings" pitchFamily="2" charset="2"/>
              <a:buNone/>
            </a:pPr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dirty="0" smtClean="0"/>
          </a:p>
        </p:txBody>
      </p:sp>
      <p:pic>
        <p:nvPicPr>
          <p:cNvPr id="2048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82900" y="1241425"/>
            <a:ext cx="6477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5450" y="2352675"/>
            <a:ext cx="811847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Quotes</a:t>
            </a:r>
            <a:endParaRPr lang="en-US" dirty="0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420688" y="1162050"/>
            <a:ext cx="8316912" cy="4257675"/>
          </a:xfrm>
        </p:spPr>
        <p:txBody>
          <a:bodyPr/>
          <a:lstStyle/>
          <a:p>
            <a:r>
              <a:rPr lang="en-US" dirty="0" smtClean="0"/>
              <a:t>Quotes (including </a:t>
            </a:r>
            <a:r>
              <a:rPr lang="en-US" dirty="0" smtClean="0"/>
              <a:t>mods</a:t>
            </a:r>
            <a:r>
              <a:rPr lang="en-US" dirty="0" smtClean="0"/>
              <a:t>) must pass through the SEWP Program Office</a:t>
            </a:r>
          </a:p>
          <a:p>
            <a:pPr lvl="1"/>
            <a:r>
              <a:rPr lang="en-US" dirty="0" smtClean="0"/>
              <a:t>Ensures Fair Opportunity</a:t>
            </a:r>
          </a:p>
          <a:p>
            <a:pPr lvl="1"/>
            <a:r>
              <a:rPr lang="en-US" dirty="0" smtClean="0"/>
              <a:t>Avoids customer from unsolicited updates and late submissions</a:t>
            </a:r>
          </a:p>
          <a:p>
            <a:pPr lvl="1"/>
            <a:r>
              <a:rPr lang="en-US" dirty="0" smtClean="0"/>
              <a:t>Ensures all quotes have a corresponding verification file</a:t>
            </a:r>
          </a:p>
          <a:p>
            <a:r>
              <a:rPr lang="en-US" dirty="0" smtClean="0"/>
              <a:t>If an quote is emailed/faxed other than by the SEWP Program office; contact </a:t>
            </a:r>
            <a:r>
              <a:rPr lang="en-US" dirty="0" smtClean="0">
                <a:hlinkClick r:id="rId2"/>
              </a:rPr>
              <a:t>help@sewp.nasa.gov</a:t>
            </a:r>
            <a:endParaRPr lang="en-US" dirty="0" smtClean="0"/>
          </a:p>
          <a:p>
            <a:r>
              <a:rPr lang="en-US" dirty="0" smtClean="0"/>
              <a:t>Do not instruct vendors to send quotes directly</a:t>
            </a:r>
          </a:p>
          <a:p>
            <a:pPr lvl="1"/>
            <a:r>
              <a:rPr lang="en-US" dirty="0" smtClean="0"/>
              <a:t>They are not allowed to – all quotes must go through the Program Office/on-line tool</a:t>
            </a:r>
          </a:p>
          <a:p>
            <a:pPr lvl="1"/>
            <a:r>
              <a:rPr lang="en-US" dirty="0" smtClean="0"/>
              <a:t>Option in tool to receive quotes via email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Partial-</a:t>
            </a:r>
            <a:r>
              <a:rPr lang="en-US" dirty="0" smtClean="0"/>
              <a:t>ity</a:t>
            </a:r>
            <a:endParaRPr lang="en-US" dirty="0"/>
          </a:p>
        </p:txBody>
      </p:sp>
      <p:sp>
        <p:nvSpPr>
          <p:cNvPr id="22531" name="Content Placeholder 3"/>
          <p:cNvSpPr>
            <a:spLocks noGrp="1"/>
          </p:cNvSpPr>
          <p:nvPr>
            <p:ph idx="1"/>
          </p:nvPr>
        </p:nvSpPr>
        <p:spPr>
          <a:xfrm>
            <a:off x="273050" y="1100138"/>
            <a:ext cx="8350250" cy="5757862"/>
          </a:xfrm>
        </p:spPr>
        <p:txBody>
          <a:bodyPr/>
          <a:lstStyle/>
          <a:p>
            <a:r>
              <a:rPr lang="en-US" dirty="0" smtClean="0"/>
              <a:t>Partial Quote Responses</a:t>
            </a:r>
          </a:p>
          <a:p>
            <a:pPr lvl="1"/>
            <a:r>
              <a:rPr lang="en-US" dirty="0" smtClean="0"/>
              <a:t>Contract Holders must reply with a full response to the requirements</a:t>
            </a:r>
          </a:p>
          <a:p>
            <a:pPr lvl="1"/>
            <a:r>
              <a:rPr lang="en-US" dirty="0" smtClean="0"/>
              <a:t>Customer can notify the Contract Holders that partial responses are allowed; Place notification in the Summary box of the Request</a:t>
            </a:r>
          </a:p>
          <a:p>
            <a:pPr lvl="1"/>
            <a:r>
              <a:rPr lang="en-US" dirty="0" smtClean="0"/>
              <a:t>If a partial response is received and was not specified as allowable by the customer:</a:t>
            </a:r>
          </a:p>
          <a:p>
            <a:pPr lvl="2"/>
            <a:r>
              <a:rPr lang="en-US" dirty="0" smtClean="0"/>
              <a:t>Disregard the quote</a:t>
            </a:r>
          </a:p>
          <a:p>
            <a:pPr lvl="2"/>
            <a:r>
              <a:rPr lang="en-US" dirty="0" smtClean="0"/>
              <a:t>Notify help@sewp.nasa.gov</a:t>
            </a:r>
          </a:p>
          <a:p>
            <a:r>
              <a:rPr lang="en-US" dirty="0" smtClean="0"/>
              <a:t>Partial Orders</a:t>
            </a:r>
          </a:p>
          <a:p>
            <a:pPr lvl="1"/>
            <a:r>
              <a:rPr lang="en-US" dirty="0" smtClean="0"/>
              <a:t>An order should be based on an entire quote</a:t>
            </a:r>
          </a:p>
          <a:p>
            <a:pPr lvl="1"/>
            <a:r>
              <a:rPr lang="en-US" dirty="0" smtClean="0"/>
              <a:t>To split a quote into multiple orders and/or only award part of the quote, submit a new and separate RFQ(s) to get refreshed quotes for the partial orders</a:t>
            </a:r>
          </a:p>
          <a:p>
            <a:pPr lvl="2"/>
            <a:r>
              <a:rPr lang="en-US" dirty="0" smtClean="0"/>
              <a:t>If you split a quote into multiple orders, Contract Holder may elect to not accept the order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indent="0" eaLnBrk="1" hangingPunct="1">
              <a:defRPr/>
            </a:pPr>
            <a:r>
              <a:rPr lang="en-US" dirty="0" smtClean="0"/>
              <a:t>SEWP Fee on Quotes</a:t>
            </a:r>
          </a:p>
        </p:txBody>
      </p:sp>
      <p:graphicFrame>
        <p:nvGraphicFramePr>
          <p:cNvPr id="16407" name="Group 23"/>
          <p:cNvGraphicFramePr>
            <a:graphicFrameLocks noGrp="1"/>
          </p:cNvGraphicFramePr>
          <p:nvPr/>
        </p:nvGraphicFramePr>
        <p:xfrm>
          <a:off x="1119188" y="4348163"/>
          <a:ext cx="6904037" cy="2045653"/>
        </p:xfrm>
        <a:graphic>
          <a:graphicData uri="http://schemas.openxmlformats.org/drawingml/2006/table">
            <a:tbl>
              <a:tblPr/>
              <a:tblGrid>
                <a:gridCol w="3457575"/>
                <a:gridCol w="3446462"/>
              </a:tblGrid>
              <a:tr h="36988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Surcharge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itchFamily="34" charset="0"/>
                        </a:rPr>
                        <a:t>Order Amount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 Narrow" pitchFamily="34" charset="0"/>
                        </a:rPr>
                        <a:t>Fee Percentage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$0 to $2,222,222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0.45%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$ 2,222,222 and up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ts val="2700"/>
                        </a:lnSpc>
                        <a:spcBef>
                          <a:spcPts val="2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itchFamily="34" charset="0"/>
                        </a:rPr>
                        <a:t>Capped at $10,000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571" name="Rectangle 22"/>
          <p:cNvSpPr>
            <a:spLocks noChangeArrowheads="1"/>
          </p:cNvSpPr>
          <p:nvPr/>
        </p:nvSpPr>
        <p:spPr bwMode="auto">
          <a:xfrm>
            <a:off x="2447925" y="4808538"/>
            <a:ext cx="184150" cy="349250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ts val="2000"/>
              </a:lnSpc>
              <a:spcBef>
                <a:spcPts val="2000"/>
              </a:spcBef>
              <a:buClr>
                <a:srgbClr val="FAFAFA"/>
              </a:buClr>
              <a:buSzPct val="95000"/>
              <a:buFont typeface="Wingdings" pitchFamily="2" charset="2"/>
              <a:buNone/>
            </a:pPr>
            <a:endParaRPr lang="en-US" sz="1800" b="1" dirty="0">
              <a:latin typeface="Arial Narrow" pitchFamily="34" charset="0"/>
            </a:endParaRPr>
          </a:p>
        </p:txBody>
      </p:sp>
      <p:sp>
        <p:nvSpPr>
          <p:cNvPr id="23572" name="Rectangle 23"/>
          <p:cNvSpPr>
            <a:spLocks noChangeArrowheads="1"/>
          </p:cNvSpPr>
          <p:nvPr/>
        </p:nvSpPr>
        <p:spPr bwMode="auto">
          <a:xfrm>
            <a:off x="336550" y="1209675"/>
            <a:ext cx="831215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Arial Narrow" pitchFamily="34" charset="0"/>
              </a:rPr>
              <a:t>Fee can be quoted either:</a:t>
            </a:r>
          </a:p>
          <a:p>
            <a:pPr lvl="1">
              <a:buFont typeface="Arial" charset="0"/>
              <a:buChar char="•"/>
            </a:pPr>
            <a:r>
              <a:rPr lang="en-US" sz="2000" b="1" dirty="0">
                <a:latin typeface="Arial Narrow" pitchFamily="34" charset="0"/>
              </a:rPr>
              <a:t>As a separate line item (SEWP-Z CLIN)</a:t>
            </a:r>
          </a:p>
          <a:p>
            <a:pPr lvl="1">
              <a:buFont typeface="Arial" charset="0"/>
              <a:buChar char="•"/>
            </a:pPr>
            <a:r>
              <a:rPr lang="en-US" sz="2000" b="1" dirty="0">
                <a:latin typeface="Arial Narrow" pitchFamily="34" charset="0"/>
              </a:rPr>
              <a:t>As part of the product prices (similar to GSA)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Arial Narrow" pitchFamily="34" charset="0"/>
              </a:rPr>
              <a:t>Delivery order should match the selected quote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Arial Narrow" pitchFamily="34" charset="0"/>
              </a:rPr>
              <a:t>E-mail confirmation will provide fee included on an order – informational only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>
                <a:latin typeface="Arial Narrow" pitchFamily="34" charset="0"/>
              </a:rPr>
              <a:t>Fee is calculated separately for every order and each mod</a:t>
            </a:r>
          </a:p>
          <a:p>
            <a:pPr lvl="1">
              <a:buFont typeface="Arial" charset="0"/>
              <a:buChar char="•"/>
            </a:pPr>
            <a:r>
              <a:rPr lang="en-US" sz="2000" b="1" dirty="0">
                <a:latin typeface="Arial Narrow" pitchFamily="34" charset="0"/>
              </a:rPr>
              <a:t>Example: $5 M order with three $3 M </a:t>
            </a:r>
            <a:r>
              <a:rPr lang="en-US" sz="2000" b="1" dirty="0">
                <a:latin typeface="Arial Narrow" pitchFamily="34" charset="0"/>
              </a:rPr>
              <a:t>mods</a:t>
            </a:r>
            <a:r>
              <a:rPr lang="en-US" sz="2000" b="1" dirty="0">
                <a:latin typeface="Arial Narrow" pitchFamily="34" charset="0"/>
              </a:rPr>
              <a:t> will have $40,000 in fees</a:t>
            </a:r>
          </a:p>
          <a:p>
            <a:pPr lvl="1">
              <a:buFont typeface="Arial" charset="0"/>
              <a:buChar char="•"/>
            </a:pPr>
            <a:r>
              <a:rPr lang="en-US" sz="2000" b="1" dirty="0">
                <a:latin typeface="Arial Narrow" pitchFamily="34" charset="0"/>
              </a:rPr>
              <a:t>Fee is based on fee at the time of the initial order or at the time of a mod – </a:t>
            </a:r>
            <a:r>
              <a:rPr lang="en-US" sz="2000" b="1" dirty="0" smtClean="0">
                <a:latin typeface="Arial Narrow" pitchFamily="34" charset="0"/>
              </a:rPr>
              <a:t> whichever </a:t>
            </a:r>
            <a:r>
              <a:rPr lang="en-US" sz="2000" b="1" dirty="0">
                <a:latin typeface="Arial Narrow" pitchFamily="34" charset="0"/>
              </a:rPr>
              <a:t>is lower at that time</a:t>
            </a:r>
          </a:p>
        </p:txBody>
      </p:sp>
      <p:sp>
        <p:nvSpPr>
          <p:cNvPr id="23573" name="TextBox 6"/>
          <p:cNvSpPr txBox="1">
            <a:spLocks noChangeArrowheads="1"/>
          </p:cNvSpPr>
          <p:nvPr/>
        </p:nvSpPr>
        <p:spPr bwMode="auto">
          <a:xfrm>
            <a:off x="2616200" y="4419600"/>
            <a:ext cx="1989138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 dirty="0"/>
              <a:t>Effective November 1, 2010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Selection</a:t>
            </a:r>
            <a:endParaRPr lang="en-US" dirty="0"/>
          </a:p>
        </p:txBody>
      </p:sp>
      <p:pic>
        <p:nvPicPr>
          <p:cNvPr id="24579" name="Picture 3" descr="Z:\Cartoons\shin51h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55863" y="1111250"/>
            <a:ext cx="4568825" cy="534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Award Process</a:t>
            </a:r>
            <a:endParaRPr lang="en-US" dirty="0"/>
          </a:p>
        </p:txBody>
      </p:sp>
      <p:sp>
        <p:nvSpPr>
          <p:cNvPr id="25603" name="Content Placeholder 3"/>
          <p:cNvSpPr>
            <a:spLocks noGrp="1"/>
          </p:cNvSpPr>
          <p:nvPr>
            <p:ph idx="1"/>
          </p:nvPr>
        </p:nvSpPr>
        <p:spPr>
          <a:xfrm>
            <a:off x="273050" y="1112838"/>
            <a:ext cx="8350250" cy="5732462"/>
          </a:xfrm>
        </p:spPr>
        <p:txBody>
          <a:bodyPr/>
          <a:lstStyle/>
          <a:p>
            <a:r>
              <a:rPr lang="en-US" dirty="0" smtClean="0"/>
              <a:t>Award Notification: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By default; the non-awardees are only told they are not selected</a:t>
            </a:r>
          </a:p>
          <a:p>
            <a:pPr lvl="1"/>
            <a:r>
              <a:rPr lang="en-US" dirty="0" smtClean="0"/>
              <a:t>To provide award information; e.g. the </a:t>
            </a:r>
            <a:r>
              <a:rPr lang="en-US" dirty="0" smtClean="0"/>
              <a:t>awardee</a:t>
            </a:r>
            <a:r>
              <a:rPr lang="en-US" dirty="0" smtClean="0"/>
              <a:t> and dollar amount, add that information in the remarks box</a:t>
            </a:r>
          </a:p>
          <a:p>
            <a:r>
              <a:rPr lang="en-US" dirty="0" smtClean="0"/>
              <a:t>Debriefs are not required for orders under $5 Million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25604" name="Picture 3" descr="notify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350" y="1524000"/>
            <a:ext cx="8069263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On-line Credit Card</a:t>
            </a:r>
            <a:endParaRPr lang="en-US" dirty="0"/>
          </a:p>
        </p:txBody>
      </p:sp>
      <p:sp>
        <p:nvSpPr>
          <p:cNvPr id="26627" name="Content Placeholder 3"/>
          <p:cNvSpPr>
            <a:spLocks noGrp="1"/>
          </p:cNvSpPr>
          <p:nvPr>
            <p:ph idx="1"/>
          </p:nvPr>
        </p:nvSpPr>
        <p:spPr>
          <a:xfrm>
            <a:off x="323850" y="3776663"/>
            <a:ext cx="8350250" cy="2386012"/>
          </a:xfrm>
        </p:spPr>
        <p:txBody>
          <a:bodyPr/>
          <a:lstStyle/>
          <a:p>
            <a:r>
              <a:rPr lang="en-US" dirty="0" smtClean="0"/>
              <a:t>Do not include credit card number</a:t>
            </a:r>
          </a:p>
          <a:p>
            <a:r>
              <a:rPr lang="en-US" dirty="0" smtClean="0"/>
              <a:t>Up to 2 additional files may be attached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26628" name="Picture 4" descr="cc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117601"/>
            <a:ext cx="8509000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SEWP Program Office</a:t>
            </a:r>
            <a:endParaRPr lang="en-US" dirty="0"/>
          </a:p>
        </p:txBody>
      </p:sp>
      <p:sp>
        <p:nvSpPr>
          <p:cNvPr id="27651" name="Content Placeholder 3"/>
          <p:cNvSpPr>
            <a:spLocks noGrp="1"/>
          </p:cNvSpPr>
          <p:nvPr>
            <p:ph idx="1"/>
          </p:nvPr>
        </p:nvSpPr>
        <p:spPr>
          <a:xfrm>
            <a:off x="336550" y="1252538"/>
            <a:ext cx="8350250" cy="5821362"/>
          </a:xfrm>
        </p:spPr>
        <p:txBody>
          <a:bodyPr/>
          <a:lstStyle/>
          <a:p>
            <a:r>
              <a:rPr lang="en-US" dirty="0" smtClean="0"/>
              <a:t>Prior to submitting a request</a:t>
            </a:r>
          </a:p>
          <a:p>
            <a:pPr lvl="1"/>
            <a:r>
              <a:rPr lang="en-US" dirty="0" smtClean="0"/>
              <a:t>Assistance with scope and availability issues</a:t>
            </a:r>
          </a:p>
          <a:p>
            <a:r>
              <a:rPr lang="en-US" dirty="0" smtClean="0"/>
              <a:t>Upon submission of a request</a:t>
            </a:r>
          </a:p>
          <a:p>
            <a:pPr lvl="1"/>
            <a:r>
              <a:rPr lang="en-US" dirty="0" smtClean="0"/>
              <a:t>First submission is checked to ensure no pricing data included</a:t>
            </a:r>
          </a:p>
          <a:p>
            <a:pPr lvl="2"/>
            <a:r>
              <a:rPr lang="en-US" dirty="0" smtClean="0"/>
              <a:t>Later submissions are randomly checked – if pricing data is added, quote request will be canceled</a:t>
            </a:r>
          </a:p>
          <a:p>
            <a:pPr lvl="1"/>
            <a:r>
              <a:rPr lang="en-US" dirty="0" smtClean="0"/>
              <a:t>No check is made automatically for scope or other issues</a:t>
            </a:r>
          </a:p>
          <a:p>
            <a:pPr lvl="2"/>
            <a:r>
              <a:rPr lang="en-US" dirty="0" smtClean="0"/>
              <a:t>Contract holders will notify Program Office if a request may be out of scope</a:t>
            </a:r>
          </a:p>
          <a:p>
            <a:r>
              <a:rPr lang="en-US" dirty="0" smtClean="0"/>
              <a:t>Post due date</a:t>
            </a:r>
          </a:p>
          <a:p>
            <a:pPr lvl="1"/>
            <a:r>
              <a:rPr lang="en-US" dirty="0" smtClean="0"/>
              <a:t>Assistance with inadequate responses</a:t>
            </a:r>
          </a:p>
          <a:p>
            <a:pPr lvl="1">
              <a:buFont typeface="Times" pitchFamily="18" charset="0"/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Quote Verification Tool</a:t>
            </a:r>
            <a:endParaRPr lang="en-US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306388" y="1114425"/>
            <a:ext cx="8482012" cy="2051050"/>
          </a:xfrm>
        </p:spPr>
        <p:txBody>
          <a:bodyPr/>
          <a:lstStyle/>
          <a:p>
            <a:r>
              <a:rPr lang="en-US" dirty="0" smtClean="0"/>
              <a:t>Verifies and displays quoted line item information from the catalog. </a:t>
            </a:r>
          </a:p>
          <a:p>
            <a:r>
              <a:rPr lang="en-US" dirty="0" smtClean="0"/>
              <a:t>Confirms authorized reseller status</a:t>
            </a:r>
          </a:p>
          <a:p>
            <a:r>
              <a:rPr lang="en-US" dirty="0" smtClean="0"/>
              <a:t>Provides savings total and percentage off the SEWP catalog price</a:t>
            </a:r>
          </a:p>
        </p:txBody>
      </p:sp>
      <p:pic>
        <p:nvPicPr>
          <p:cNvPr id="28676" name="Picture 3" descr="qvt front page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255963"/>
            <a:ext cx="8509000" cy="331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Quote Verification Tool</a:t>
            </a:r>
            <a:endParaRPr 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306388" y="1287463"/>
            <a:ext cx="8482012" cy="1704975"/>
          </a:xfrm>
        </p:spPr>
        <p:txBody>
          <a:bodyPr/>
          <a:lstStyle/>
          <a:p>
            <a:r>
              <a:rPr lang="en-US" dirty="0" smtClean="0"/>
              <a:t>Full Description – can be copied and paste</a:t>
            </a:r>
          </a:p>
          <a:p>
            <a:r>
              <a:rPr lang="en-US" dirty="0" smtClean="0"/>
              <a:t>TAA Info</a:t>
            </a:r>
          </a:p>
          <a:p>
            <a:r>
              <a:rPr lang="en-US" dirty="0" smtClean="0"/>
              <a:t>Pricing info</a:t>
            </a:r>
          </a:p>
        </p:txBody>
      </p:sp>
      <p:pic>
        <p:nvPicPr>
          <p:cNvPr id="2970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975" y="3378200"/>
            <a:ext cx="8493125" cy="221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Quote Verification Tool</a:t>
            </a:r>
            <a:endParaRPr lang="en-US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319088" y="1649413"/>
            <a:ext cx="8482012" cy="3063875"/>
          </a:xfrm>
        </p:spPr>
        <p:txBody>
          <a:bodyPr/>
          <a:lstStyle/>
          <a:p>
            <a:r>
              <a:rPr lang="en-US" dirty="0" smtClean="0"/>
              <a:t>Authorized Reseller Information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r>
              <a:rPr lang="en-US" dirty="0" smtClean="0"/>
              <a:t>Summary of Savings</a:t>
            </a:r>
          </a:p>
        </p:txBody>
      </p:sp>
      <p:pic>
        <p:nvPicPr>
          <p:cNvPr id="3072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663" y="2273300"/>
            <a:ext cx="8250237" cy="179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3700" y="4927600"/>
            <a:ext cx="5778500" cy="136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0" y="5984875"/>
            <a:ext cx="9144000" cy="1076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lIns="0" tIns="0" rIns="0" bIns="0" anchor="ctr"/>
          <a:lstStyle/>
          <a:p>
            <a:pPr indent="4763" algn="ctr" eaLnBrk="1" hangingPunct="1">
              <a:lnSpc>
                <a:spcPts val="3800"/>
              </a:lnSpc>
              <a:defRPr/>
            </a:pPr>
            <a:endParaRPr lang="en-US" sz="2800" b="1" i="1" kern="0" dirty="0">
              <a:solidFill>
                <a:srgbClr val="FAFAFA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ENC_AIM_PRES_v1.00">
  <a:themeElements>
    <a:clrScheme name="">
      <a:dk1>
        <a:srgbClr val="000000"/>
      </a:dk1>
      <a:lt1>
        <a:srgbClr val="000000"/>
      </a:lt1>
      <a:dk2>
        <a:srgbClr val="3365FB"/>
      </a:dk2>
      <a:lt2>
        <a:srgbClr val="000000"/>
      </a:lt2>
      <a:accent1>
        <a:srgbClr val="00CC99"/>
      </a:accent1>
      <a:accent2>
        <a:srgbClr val="3333CC"/>
      </a:accent2>
      <a:accent3>
        <a:srgbClr val="AAAAAA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9933FF"/>
      </a:folHlink>
    </a:clrScheme>
    <a:fontScheme name="2_ENC_AIM_PRES_v1.00">
      <a:majorFont>
        <a:latin typeface="Arial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2_ENC_AIM_PRES_v1.0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ENC_AIM_PRES_v1.00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ENC_AIM_PRES_v1.00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51B08C68BDEE4CA67B68AE309DC5DA" ma:contentTypeVersion="0" ma:contentTypeDescription="Create a new document." ma:contentTypeScope="" ma:versionID="69c34d9eaa1aba4e460626d6d1262d1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5C9388-3DE8-41E1-9589-EC6E5926B251}">
  <ds:schemaRefs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78B04C1-BD3D-4F63-93DC-95BAF7DF66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018AA3B7-C11E-48B7-B4E0-77362906F4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11297</TotalTime>
  <Words>1208</Words>
  <Application>Microsoft Office PowerPoint</Application>
  <PresentationFormat>On-screen Show (4:3)</PresentationFormat>
  <Paragraphs>186</Paragraphs>
  <Slides>29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2_ENC_AIM_PRES_v1.00</vt:lpstr>
      <vt:lpstr>The Quote Request Model Joanne Woytek</vt:lpstr>
      <vt:lpstr>Acquisition is a Team Effort</vt:lpstr>
      <vt:lpstr>Why Use the Quote Request Tool</vt:lpstr>
      <vt:lpstr>Best Practices for Obtaining Quotes</vt:lpstr>
      <vt:lpstr>Types of Requests</vt:lpstr>
      <vt:lpstr>Market Research vs. Request a Quote</vt:lpstr>
      <vt:lpstr>Overlooked/Misunderstood Features</vt:lpstr>
      <vt:lpstr>Subject / Summary</vt:lpstr>
      <vt:lpstr>Agency ID</vt:lpstr>
      <vt:lpstr>Previous Quote Numbers</vt:lpstr>
      <vt:lpstr>OCONUS</vt:lpstr>
      <vt:lpstr>E-mail attachments</vt:lpstr>
      <vt:lpstr>Contact Information</vt:lpstr>
      <vt:lpstr>Modification of Quote Requests</vt:lpstr>
      <vt:lpstr>Modification Options</vt:lpstr>
      <vt:lpstr>Modification of Requests</vt:lpstr>
      <vt:lpstr>Quote Verification Process</vt:lpstr>
      <vt:lpstr>Quote Verification</vt:lpstr>
      <vt:lpstr>Quotes</vt:lpstr>
      <vt:lpstr>Partial-ity</vt:lpstr>
      <vt:lpstr>SEWP Fee on Quotes</vt:lpstr>
      <vt:lpstr>Selection</vt:lpstr>
      <vt:lpstr>Award Process</vt:lpstr>
      <vt:lpstr>On-line Credit Card</vt:lpstr>
      <vt:lpstr>SEWP Program Office</vt:lpstr>
      <vt:lpstr>Quote Verification Tool</vt:lpstr>
      <vt:lpstr>Quote Verification Tool</vt:lpstr>
      <vt:lpstr>Quote Verification Tool</vt:lpstr>
      <vt:lpstr>Slide 29</vt:lpstr>
    </vt:vector>
  </TitlesOfParts>
  <Company>LI2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dnavarro</dc:creator>
  <cp:lastModifiedBy>mfedeli</cp:lastModifiedBy>
  <cp:revision>457</cp:revision>
  <cp:lastPrinted>2004-06-09T15:40:50Z</cp:lastPrinted>
  <dcterms:created xsi:type="dcterms:W3CDTF">2003-10-01T15:28:34Z</dcterms:created>
  <dcterms:modified xsi:type="dcterms:W3CDTF">2012-03-19T19:37:42Z</dcterms:modified>
</cp:coreProperties>
</file>