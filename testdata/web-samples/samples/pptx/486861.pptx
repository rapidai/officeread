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256" r:id="rId2"/>
    <p:sldId id="310" r:id="rId3"/>
    <p:sldId id="314" r:id="rId4"/>
    <p:sldId id="269" r:id="rId5"/>
    <p:sldId id="268" r:id="rId6"/>
    <p:sldId id="315" r:id="rId7"/>
    <p:sldId id="271" r:id="rId8"/>
    <p:sldId id="274" r:id="rId9"/>
    <p:sldId id="277" r:id="rId10"/>
    <p:sldId id="320" r:id="rId11"/>
    <p:sldId id="321" r:id="rId12"/>
    <p:sldId id="319" r:id="rId13"/>
    <p:sldId id="284" r:id="rId14"/>
    <p:sldId id="280" r:id="rId15"/>
    <p:sldId id="276" r:id="rId16"/>
    <p:sldId id="279" r:id="rId17"/>
    <p:sldId id="327" r:id="rId18"/>
    <p:sldId id="322" r:id="rId19"/>
    <p:sldId id="292" r:id="rId20"/>
    <p:sldId id="309" r:id="rId21"/>
    <p:sldId id="260" r:id="rId22"/>
    <p:sldId id="258" r:id="rId23"/>
    <p:sldId id="264" r:id="rId24"/>
    <p:sldId id="326" r:id="rId25"/>
    <p:sldId id="325" r:id="rId26"/>
    <p:sldId id="324" r:id="rId27"/>
    <p:sldId id="323" r:id="rId28"/>
    <p:sldId id="316" r:id="rId29"/>
    <p:sldId id="312" r:id="rId30"/>
    <p:sldId id="317" r:id="rId31"/>
    <p:sldId id="257" r:id="rId3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2674"/>
    <a:srgbClr val="DDDDDD"/>
    <a:srgbClr val="990000"/>
    <a:srgbClr val="00AAF6"/>
    <a:srgbClr val="21BAFF"/>
    <a:srgbClr val="9FE1FF"/>
    <a:srgbClr val="FF9900"/>
    <a:srgbClr val="339933"/>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20" autoAdjust="0"/>
    <p:restoredTop sz="89613" autoAdjust="0"/>
  </p:normalViewPr>
  <p:slideViewPr>
    <p:cSldViewPr>
      <p:cViewPr>
        <p:scale>
          <a:sx n="66" d="100"/>
          <a:sy n="66" d="100"/>
        </p:scale>
        <p:origin x="-1608" y="-5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54F71C5-B7FC-4479-B1D2-71CB49B7BA44}" type="datetimeFigureOut">
              <a:rPr lang="en-US"/>
              <a:pPr>
                <a:defRPr/>
              </a:pPr>
              <a:t>2/2/2009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B0EAEF0F-37F4-4C14-A815-F2DF49AC1A5D}"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48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233EA682-A40A-45B2-97AE-C65ED97C02C2}"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76B2D327-3E54-4A69-B7D9-2471BA09A447}" type="slidenum">
              <a:rPr lang="en-US" smtClean="0"/>
              <a:pPr/>
              <a:t>1</a:t>
            </a:fld>
            <a:endParaRPr lang="en-US" smtClean="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B4603869-47D1-49BB-887F-071511C920E6}" type="slidenum">
              <a:rPr lang="en-US" smtClean="0"/>
              <a:pPr/>
              <a:t>2</a:t>
            </a:fld>
            <a:endParaRPr lang="en-US" smtClean="0"/>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endParaRPr lang="en-US" smtClean="0"/>
          </a:p>
        </p:txBody>
      </p:sp>
      <p:sp>
        <p:nvSpPr>
          <p:cNvPr id="37892" name="Slide Number Placeholder 3"/>
          <p:cNvSpPr>
            <a:spLocks noGrp="1"/>
          </p:cNvSpPr>
          <p:nvPr>
            <p:ph type="sldNum" sz="quarter" idx="5"/>
          </p:nvPr>
        </p:nvSpPr>
        <p:spPr>
          <a:noFill/>
        </p:spPr>
        <p:txBody>
          <a:bodyPr/>
          <a:lstStyle/>
          <a:p>
            <a:fld id="{C6647BF3-7F4F-4F93-AB70-F3137CB37CF3}" type="slidenum">
              <a:rPr lang="en-US" smtClean="0"/>
              <a:pPr/>
              <a:t>3</a:t>
            </a:fld>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smtClean="0"/>
          </a:p>
        </p:txBody>
      </p:sp>
      <p:sp>
        <p:nvSpPr>
          <p:cNvPr id="38916" name="Slide Number Placeholder 3"/>
          <p:cNvSpPr>
            <a:spLocks noGrp="1"/>
          </p:cNvSpPr>
          <p:nvPr>
            <p:ph type="sldNum" sz="quarter" idx="5"/>
          </p:nvPr>
        </p:nvSpPr>
        <p:spPr>
          <a:noFill/>
        </p:spPr>
        <p:txBody>
          <a:bodyPr/>
          <a:lstStyle/>
          <a:p>
            <a:fld id="{700CFC49-8DC3-4CF0-8786-B62AA0B21483}" type="slidenum">
              <a:rPr lang="en-US" smtClean="0"/>
              <a:pPr/>
              <a:t>4</a:t>
            </a:fld>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smtClean="0"/>
          </a:p>
          <a:p>
            <a:endParaRPr lang="en-US" smtClean="0"/>
          </a:p>
        </p:txBody>
      </p:sp>
      <p:sp>
        <p:nvSpPr>
          <p:cNvPr id="39940" name="Slide Number Placeholder 3"/>
          <p:cNvSpPr>
            <a:spLocks noGrp="1"/>
          </p:cNvSpPr>
          <p:nvPr>
            <p:ph type="sldNum" sz="quarter" idx="5"/>
          </p:nvPr>
        </p:nvSpPr>
        <p:spPr>
          <a:noFill/>
        </p:spPr>
        <p:txBody>
          <a:bodyPr/>
          <a:lstStyle/>
          <a:p>
            <a:fld id="{05871F4A-87D2-46FA-9B5D-988349795585}" type="slidenum">
              <a:rPr lang="en-US" smtClean="0"/>
              <a:pPr/>
              <a:t>5</a:t>
            </a:fld>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r>
              <a:rPr lang="en-US" smtClean="0"/>
              <a:t>Our workflow for obtaining molecular specimens, microarray data procurement and analysis before the adoption of caBIG</a:t>
            </a:r>
            <a:r>
              <a:rPr lang="en-US" baseline="30000" smtClean="0"/>
              <a:t>TM</a:t>
            </a:r>
            <a:r>
              <a:rPr lang="en-US" smtClean="0"/>
              <a:t> tools at WashU.  The steps denoted by star are modified/simplified as a result of caBIG</a:t>
            </a:r>
            <a:r>
              <a:rPr lang="en-US" baseline="30000" smtClean="0"/>
              <a:t>TM</a:t>
            </a:r>
            <a:r>
              <a:rPr lang="en-US" smtClean="0"/>
              <a:t> tools adoption at WashU.</a:t>
            </a:r>
          </a:p>
          <a:p>
            <a:endParaRPr lang="en-US" smtClean="0"/>
          </a:p>
        </p:txBody>
      </p:sp>
      <p:sp>
        <p:nvSpPr>
          <p:cNvPr id="40964" name="Slide Number Placeholder 3"/>
          <p:cNvSpPr>
            <a:spLocks noGrp="1"/>
          </p:cNvSpPr>
          <p:nvPr>
            <p:ph type="sldNum" sz="quarter" idx="5"/>
          </p:nvPr>
        </p:nvSpPr>
        <p:spPr>
          <a:noFill/>
        </p:spPr>
        <p:txBody>
          <a:bodyPr/>
          <a:lstStyle/>
          <a:p>
            <a:fld id="{4F110F46-07BF-4223-9581-29FBBDF9FD13}" type="slidenum">
              <a:rPr lang="en-US" smtClean="0"/>
              <a:pPr/>
              <a:t>6</a:t>
            </a:fld>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p:spPr>
        <p:txBody>
          <a:bodyPr/>
          <a:lstStyle/>
          <a:p>
            <a:endParaRPr lang="en-US" smtClean="0"/>
          </a:p>
        </p:txBody>
      </p:sp>
      <p:sp>
        <p:nvSpPr>
          <p:cNvPr id="41988" name="Slide Number Placeholder 3"/>
          <p:cNvSpPr>
            <a:spLocks noGrp="1"/>
          </p:cNvSpPr>
          <p:nvPr>
            <p:ph type="sldNum" sz="quarter" idx="5"/>
          </p:nvPr>
        </p:nvSpPr>
        <p:spPr>
          <a:noFill/>
        </p:spPr>
        <p:txBody>
          <a:bodyPr/>
          <a:lstStyle/>
          <a:p>
            <a:fld id="{5B9E059E-6EC9-4E75-AAEC-D6465699A5D7}" type="slidenum">
              <a:rPr lang="en-US" smtClean="0"/>
              <a:pPr/>
              <a:t>7</a:t>
            </a:fld>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smtClean="0"/>
          </a:p>
        </p:txBody>
      </p:sp>
      <p:sp>
        <p:nvSpPr>
          <p:cNvPr id="43012" name="Slide Number Placeholder 3"/>
          <p:cNvSpPr>
            <a:spLocks noGrp="1"/>
          </p:cNvSpPr>
          <p:nvPr>
            <p:ph type="sldNum" sz="quarter" idx="5"/>
          </p:nvPr>
        </p:nvSpPr>
        <p:spPr>
          <a:noFill/>
        </p:spPr>
        <p:txBody>
          <a:bodyPr/>
          <a:lstStyle/>
          <a:p>
            <a:fld id="{E4B67F4E-7857-4BF8-B65D-37535719F1B3}" type="slidenum">
              <a:rPr lang="en-US" smtClean="0"/>
              <a:pPr/>
              <a:t>8</a:t>
            </a:fld>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p:spPr>
        <p:txBody>
          <a:bodyPr/>
          <a:lstStyle/>
          <a:p>
            <a:endParaRPr lang="en-US" smtClean="0"/>
          </a:p>
        </p:txBody>
      </p:sp>
      <p:sp>
        <p:nvSpPr>
          <p:cNvPr id="44036" name="Slide Number Placeholder 3"/>
          <p:cNvSpPr>
            <a:spLocks noGrp="1"/>
          </p:cNvSpPr>
          <p:nvPr>
            <p:ph type="sldNum" sz="quarter" idx="5"/>
          </p:nvPr>
        </p:nvSpPr>
        <p:spPr>
          <a:noFill/>
        </p:spPr>
        <p:txBody>
          <a:bodyPr/>
          <a:lstStyle/>
          <a:p>
            <a:fld id="{7E8C3FD6-C1F3-47C2-A100-D990AAC4D5B4}" type="slidenum">
              <a:rPr lang="en-US" smtClean="0"/>
              <a:pPr/>
              <a:t>9</a:t>
            </a:fld>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p:spPr>
        <p:txBody>
          <a:bodyPr/>
          <a:lstStyle/>
          <a:p>
            <a:endParaRPr lang="en-US" smtClean="0"/>
          </a:p>
        </p:txBody>
      </p:sp>
      <p:sp>
        <p:nvSpPr>
          <p:cNvPr id="45060" name="Slide Number Placeholder 3"/>
          <p:cNvSpPr>
            <a:spLocks noGrp="1"/>
          </p:cNvSpPr>
          <p:nvPr>
            <p:ph type="sldNum" sz="quarter" idx="5"/>
          </p:nvPr>
        </p:nvSpPr>
        <p:spPr>
          <a:noFill/>
        </p:spPr>
        <p:txBody>
          <a:bodyPr/>
          <a:lstStyle/>
          <a:p>
            <a:fld id="{824668C5-C66F-46F4-BA1F-F27C5E508F38}" type="slidenum">
              <a:rPr lang="en-US" smtClean="0"/>
              <a:pPr/>
              <a:t>10</a:t>
            </a:fld>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p:spPr>
        <p:txBody>
          <a:bodyPr/>
          <a:lstStyle/>
          <a:p>
            <a:endParaRPr lang="en-US" smtClean="0"/>
          </a:p>
        </p:txBody>
      </p:sp>
      <p:sp>
        <p:nvSpPr>
          <p:cNvPr id="46084" name="Slide Number Placeholder 3"/>
          <p:cNvSpPr>
            <a:spLocks noGrp="1"/>
          </p:cNvSpPr>
          <p:nvPr>
            <p:ph type="sldNum" sz="quarter" idx="5"/>
          </p:nvPr>
        </p:nvSpPr>
        <p:spPr>
          <a:noFill/>
        </p:spPr>
        <p:txBody>
          <a:bodyPr/>
          <a:lstStyle/>
          <a:p>
            <a:fld id="{294B7CFE-33A3-48DF-B55F-AF4A80CE26DE}" type="slidenum">
              <a:rPr lang="en-US" smtClean="0"/>
              <a:pPr/>
              <a:t>11</a:t>
            </a:fld>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endParaRPr lang="en-US" smtClean="0"/>
          </a:p>
        </p:txBody>
      </p:sp>
      <p:sp>
        <p:nvSpPr>
          <p:cNvPr id="47108" name="Slide Number Placeholder 3"/>
          <p:cNvSpPr>
            <a:spLocks noGrp="1"/>
          </p:cNvSpPr>
          <p:nvPr>
            <p:ph type="sldNum" sz="quarter" idx="5"/>
          </p:nvPr>
        </p:nvSpPr>
        <p:spPr>
          <a:noFill/>
        </p:spPr>
        <p:txBody>
          <a:bodyPr/>
          <a:lstStyle/>
          <a:p>
            <a:fld id="{220743AB-C596-4AEA-AE41-CEFCBE5955C5}" type="slidenum">
              <a:rPr lang="en-US" smtClean="0"/>
              <a:pPr/>
              <a:t>12</a:t>
            </a:fld>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endParaRPr lang="en-US" smtClean="0"/>
          </a:p>
        </p:txBody>
      </p:sp>
      <p:sp>
        <p:nvSpPr>
          <p:cNvPr id="48132" name="Slide Number Placeholder 3"/>
          <p:cNvSpPr>
            <a:spLocks noGrp="1"/>
          </p:cNvSpPr>
          <p:nvPr>
            <p:ph type="sldNum" sz="quarter" idx="5"/>
          </p:nvPr>
        </p:nvSpPr>
        <p:spPr>
          <a:noFill/>
        </p:spPr>
        <p:txBody>
          <a:bodyPr/>
          <a:lstStyle/>
          <a:p>
            <a:fld id="{48FA67B1-EC86-4DB8-AA0E-5C64533177D3}" type="slidenum">
              <a:rPr lang="en-US" smtClean="0"/>
              <a:pPr/>
              <a:t>13</a:t>
            </a:fld>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p:spPr>
        <p:txBody>
          <a:bodyPr/>
          <a:lstStyle/>
          <a:p>
            <a:endParaRPr lang="en-US" smtClean="0"/>
          </a:p>
        </p:txBody>
      </p:sp>
      <p:sp>
        <p:nvSpPr>
          <p:cNvPr id="49156" name="Slide Number Placeholder 3"/>
          <p:cNvSpPr>
            <a:spLocks noGrp="1"/>
          </p:cNvSpPr>
          <p:nvPr>
            <p:ph type="sldNum" sz="quarter" idx="5"/>
          </p:nvPr>
        </p:nvSpPr>
        <p:spPr>
          <a:noFill/>
        </p:spPr>
        <p:txBody>
          <a:bodyPr/>
          <a:lstStyle/>
          <a:p>
            <a:fld id="{23D43007-253E-4574-B060-FB89FEDDC354}" type="slidenum">
              <a:rPr lang="en-US" smtClean="0"/>
              <a:pPr/>
              <a:t>14</a:t>
            </a:fld>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p:spPr>
        <p:txBody>
          <a:bodyPr/>
          <a:lstStyle/>
          <a:p>
            <a:endParaRPr lang="en-US" smtClean="0"/>
          </a:p>
        </p:txBody>
      </p:sp>
      <p:sp>
        <p:nvSpPr>
          <p:cNvPr id="50180" name="Slide Number Placeholder 3"/>
          <p:cNvSpPr>
            <a:spLocks noGrp="1"/>
          </p:cNvSpPr>
          <p:nvPr>
            <p:ph type="sldNum" sz="quarter" idx="5"/>
          </p:nvPr>
        </p:nvSpPr>
        <p:spPr>
          <a:noFill/>
        </p:spPr>
        <p:txBody>
          <a:bodyPr/>
          <a:lstStyle/>
          <a:p>
            <a:fld id="{0A908433-A9FA-4F02-9B51-D27CEE3E9982}" type="slidenum">
              <a:rPr lang="en-US" smtClean="0"/>
              <a:pPr/>
              <a:t>15</a:t>
            </a:fld>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smtClean="0"/>
          </a:p>
        </p:txBody>
      </p:sp>
      <p:sp>
        <p:nvSpPr>
          <p:cNvPr id="51204" name="Slide Number Placeholder 3"/>
          <p:cNvSpPr>
            <a:spLocks noGrp="1"/>
          </p:cNvSpPr>
          <p:nvPr>
            <p:ph type="sldNum" sz="quarter" idx="5"/>
          </p:nvPr>
        </p:nvSpPr>
        <p:spPr>
          <a:noFill/>
        </p:spPr>
        <p:txBody>
          <a:bodyPr/>
          <a:lstStyle/>
          <a:p>
            <a:fld id="{D971B4B1-B6CB-4BFC-B7B8-E60BE4B16FA7}" type="slidenum">
              <a:rPr lang="en-US" smtClean="0"/>
              <a:pPr/>
              <a:t>16</a:t>
            </a:fld>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smtClean="0"/>
          </a:p>
        </p:txBody>
      </p:sp>
      <p:sp>
        <p:nvSpPr>
          <p:cNvPr id="52228" name="Slide Number Placeholder 3"/>
          <p:cNvSpPr>
            <a:spLocks noGrp="1"/>
          </p:cNvSpPr>
          <p:nvPr>
            <p:ph type="sldNum" sz="quarter" idx="5"/>
          </p:nvPr>
        </p:nvSpPr>
        <p:spPr>
          <a:noFill/>
        </p:spPr>
        <p:txBody>
          <a:bodyPr/>
          <a:lstStyle/>
          <a:p>
            <a:fld id="{1A994035-E0FA-4BE2-A696-F717955DD8A2}" type="slidenum">
              <a:rPr lang="en-US" smtClean="0"/>
              <a:pPr/>
              <a:t>17</a:t>
            </a:fld>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smtClean="0"/>
          </a:p>
        </p:txBody>
      </p:sp>
      <p:sp>
        <p:nvSpPr>
          <p:cNvPr id="53252" name="Slide Number Placeholder 3"/>
          <p:cNvSpPr>
            <a:spLocks noGrp="1"/>
          </p:cNvSpPr>
          <p:nvPr>
            <p:ph type="sldNum" sz="quarter" idx="5"/>
          </p:nvPr>
        </p:nvSpPr>
        <p:spPr>
          <a:noFill/>
        </p:spPr>
        <p:txBody>
          <a:bodyPr/>
          <a:lstStyle/>
          <a:p>
            <a:fld id="{F71F1E0C-62FB-49CC-B47C-D0E65ED5CDC0}" type="slidenum">
              <a:rPr lang="en-US" smtClean="0"/>
              <a:pPr/>
              <a:t>18</a:t>
            </a:fld>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smtClean="0"/>
          </a:p>
        </p:txBody>
      </p:sp>
      <p:sp>
        <p:nvSpPr>
          <p:cNvPr id="54276" name="Slide Number Placeholder 3"/>
          <p:cNvSpPr>
            <a:spLocks noGrp="1"/>
          </p:cNvSpPr>
          <p:nvPr>
            <p:ph type="sldNum" sz="quarter" idx="5"/>
          </p:nvPr>
        </p:nvSpPr>
        <p:spPr>
          <a:noFill/>
        </p:spPr>
        <p:txBody>
          <a:bodyPr/>
          <a:lstStyle/>
          <a:p>
            <a:fld id="{A14A0F62-9D72-4713-A5CC-D69FE2C05335}" type="slidenum">
              <a:rPr lang="en-US" smtClean="0"/>
              <a:pPr/>
              <a:t>19</a:t>
            </a:fld>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smtClean="0"/>
          </a:p>
        </p:txBody>
      </p:sp>
      <p:sp>
        <p:nvSpPr>
          <p:cNvPr id="55300" name="Slide Number Placeholder 3"/>
          <p:cNvSpPr>
            <a:spLocks noGrp="1"/>
          </p:cNvSpPr>
          <p:nvPr>
            <p:ph type="sldNum" sz="quarter" idx="5"/>
          </p:nvPr>
        </p:nvSpPr>
        <p:spPr>
          <a:noFill/>
        </p:spPr>
        <p:txBody>
          <a:bodyPr/>
          <a:lstStyle/>
          <a:p>
            <a:fld id="{C8DD36B9-6EF6-4B98-9087-257FC6299BED}" type="slidenum">
              <a:rPr lang="en-US" smtClean="0"/>
              <a:pPr/>
              <a:t>20</a:t>
            </a:fld>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pPr eaLnBrk="1" hangingPunct="1"/>
            <a:r>
              <a:rPr lang="en-US" smtClean="0"/>
              <a:t>While independent tools exist to analyze SNP array data, there are no tools that facilitate the entire analysis workflow (e.g. obtain SNP array data, analyze single SNP data, generate amplified or deleted chromosomal segments and prioritize the segment level output).</a:t>
            </a:r>
          </a:p>
        </p:txBody>
      </p:sp>
      <p:sp>
        <p:nvSpPr>
          <p:cNvPr id="56324" name="Slide Number Placeholder 3"/>
          <p:cNvSpPr>
            <a:spLocks noGrp="1"/>
          </p:cNvSpPr>
          <p:nvPr>
            <p:ph type="sldNum" sz="quarter" idx="5"/>
          </p:nvPr>
        </p:nvSpPr>
        <p:spPr>
          <a:noFill/>
        </p:spPr>
        <p:txBody>
          <a:bodyPr/>
          <a:lstStyle/>
          <a:p>
            <a:fld id="{606571B0-E6FF-4923-90FA-18299870B318}" type="slidenum">
              <a:rPr lang="en-US" smtClean="0"/>
              <a:pPr/>
              <a:t>21</a:t>
            </a:fld>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0BAA6F8D-7ABC-4A57-A8A2-2AB7EB0A084E}" type="slidenum">
              <a:rPr lang="en-US" smtClean="0"/>
              <a:pPr/>
              <a:t>22</a:t>
            </a:fld>
            <a:endParaRPr lang="en-US"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r>
              <a:rPr lang="en-US" smtClean="0"/>
              <a:t>	</a:t>
            </a:r>
          </a:p>
        </p:txBody>
      </p:sp>
      <p:sp>
        <p:nvSpPr>
          <p:cNvPr id="58372" name="Slide Number Placeholder 3"/>
          <p:cNvSpPr>
            <a:spLocks noGrp="1"/>
          </p:cNvSpPr>
          <p:nvPr>
            <p:ph type="sldNum" sz="quarter" idx="5"/>
          </p:nvPr>
        </p:nvSpPr>
        <p:spPr>
          <a:noFill/>
        </p:spPr>
        <p:txBody>
          <a:bodyPr/>
          <a:lstStyle/>
          <a:p>
            <a:fld id="{4DDCE47D-CEC0-48FF-8406-25FEE4949EDA}" type="slidenum">
              <a:rPr lang="en-US" smtClean="0"/>
              <a:pPr/>
              <a:t>23</a:t>
            </a:fld>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smtClean="0"/>
          </a:p>
        </p:txBody>
      </p:sp>
      <p:sp>
        <p:nvSpPr>
          <p:cNvPr id="59396" name="Slide Number Placeholder 3"/>
          <p:cNvSpPr>
            <a:spLocks noGrp="1"/>
          </p:cNvSpPr>
          <p:nvPr>
            <p:ph type="sldNum" sz="quarter" idx="5"/>
          </p:nvPr>
        </p:nvSpPr>
        <p:spPr>
          <a:noFill/>
        </p:spPr>
        <p:txBody>
          <a:bodyPr/>
          <a:lstStyle/>
          <a:p>
            <a:fld id="{3DDE2EA1-46CD-4D02-81BC-1BF8AB60B38D}" type="slidenum">
              <a:rPr lang="en-US" smtClean="0"/>
              <a:pPr/>
              <a:t>24</a:t>
            </a:fld>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smtClean="0"/>
          </a:p>
        </p:txBody>
      </p:sp>
      <p:sp>
        <p:nvSpPr>
          <p:cNvPr id="60420" name="Slide Number Placeholder 3"/>
          <p:cNvSpPr>
            <a:spLocks noGrp="1"/>
          </p:cNvSpPr>
          <p:nvPr>
            <p:ph type="sldNum" sz="quarter" idx="5"/>
          </p:nvPr>
        </p:nvSpPr>
        <p:spPr>
          <a:noFill/>
        </p:spPr>
        <p:txBody>
          <a:bodyPr/>
          <a:lstStyle/>
          <a:p>
            <a:fld id="{DECCAD77-D22C-4780-944D-9AB0D9E3305E}" type="slidenum">
              <a:rPr lang="en-US" smtClean="0"/>
              <a:pPr/>
              <a:t>25</a:t>
            </a:fld>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endParaRPr lang="en-US" smtClean="0"/>
          </a:p>
        </p:txBody>
      </p:sp>
      <p:sp>
        <p:nvSpPr>
          <p:cNvPr id="61444" name="Slide Number Placeholder 3"/>
          <p:cNvSpPr>
            <a:spLocks noGrp="1"/>
          </p:cNvSpPr>
          <p:nvPr>
            <p:ph type="sldNum" sz="quarter" idx="5"/>
          </p:nvPr>
        </p:nvSpPr>
        <p:spPr>
          <a:noFill/>
        </p:spPr>
        <p:txBody>
          <a:bodyPr/>
          <a:lstStyle/>
          <a:p>
            <a:fld id="{7346C209-D07C-4A50-9ACC-7526BB59BA42}" type="slidenum">
              <a:rPr lang="en-US" smtClean="0"/>
              <a:pPr/>
              <a:t>26</a:t>
            </a:fld>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smtClean="0"/>
          </a:p>
        </p:txBody>
      </p:sp>
      <p:sp>
        <p:nvSpPr>
          <p:cNvPr id="62468" name="Slide Number Placeholder 3"/>
          <p:cNvSpPr>
            <a:spLocks noGrp="1"/>
          </p:cNvSpPr>
          <p:nvPr>
            <p:ph type="sldNum" sz="quarter" idx="5"/>
          </p:nvPr>
        </p:nvSpPr>
        <p:spPr>
          <a:noFill/>
        </p:spPr>
        <p:txBody>
          <a:bodyPr/>
          <a:lstStyle/>
          <a:p>
            <a:fld id="{7BD6F88C-9A99-4CBF-84B7-43390839AC2A}" type="slidenum">
              <a:rPr lang="en-US" smtClean="0"/>
              <a:pPr/>
              <a:t>27</a:t>
            </a:fld>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r>
              <a:rPr lang="en-US" smtClean="0"/>
              <a:t>Our workflow for obtaining molecular specimens, microarray data procurement and analysis after the adoption of caBIG</a:t>
            </a:r>
            <a:r>
              <a:rPr lang="en-US" baseline="30000" smtClean="0"/>
              <a:t>TM</a:t>
            </a:r>
            <a:r>
              <a:rPr lang="en-US" smtClean="0"/>
              <a:t> tools at WashU.  </a:t>
            </a:r>
          </a:p>
          <a:p>
            <a:endParaRPr lang="en-US" smtClean="0"/>
          </a:p>
        </p:txBody>
      </p:sp>
      <p:sp>
        <p:nvSpPr>
          <p:cNvPr id="63492" name="Slide Number Placeholder 3"/>
          <p:cNvSpPr>
            <a:spLocks noGrp="1"/>
          </p:cNvSpPr>
          <p:nvPr>
            <p:ph type="sldNum" sz="quarter" idx="5"/>
          </p:nvPr>
        </p:nvSpPr>
        <p:spPr>
          <a:noFill/>
        </p:spPr>
        <p:txBody>
          <a:bodyPr/>
          <a:lstStyle/>
          <a:p>
            <a:fld id="{5CDAC834-83A4-40E9-B630-6B98CA5A0C5F}" type="slidenum">
              <a:rPr lang="en-US" smtClean="0"/>
              <a:pPr/>
              <a:t>28</a:t>
            </a:fld>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smtClean="0"/>
          </a:p>
        </p:txBody>
      </p:sp>
      <p:sp>
        <p:nvSpPr>
          <p:cNvPr id="64516" name="Slide Number Placeholder 3"/>
          <p:cNvSpPr>
            <a:spLocks noGrp="1"/>
          </p:cNvSpPr>
          <p:nvPr>
            <p:ph type="sldNum" sz="quarter" idx="5"/>
          </p:nvPr>
        </p:nvSpPr>
        <p:spPr>
          <a:noFill/>
        </p:spPr>
        <p:txBody>
          <a:bodyPr/>
          <a:lstStyle/>
          <a:p>
            <a:fld id="{F4F8877D-0720-45BA-9F3A-09632C6B123A}" type="slidenum">
              <a:rPr lang="en-US" smtClean="0"/>
              <a:pPr/>
              <a:t>29</a:t>
            </a:fld>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endParaRPr lang="en-US" smtClean="0"/>
          </a:p>
        </p:txBody>
      </p:sp>
      <p:sp>
        <p:nvSpPr>
          <p:cNvPr id="65540" name="Slide Number Placeholder 3"/>
          <p:cNvSpPr>
            <a:spLocks noGrp="1"/>
          </p:cNvSpPr>
          <p:nvPr>
            <p:ph type="sldNum" sz="quarter" idx="5"/>
          </p:nvPr>
        </p:nvSpPr>
        <p:spPr>
          <a:noFill/>
        </p:spPr>
        <p:txBody>
          <a:bodyPr/>
          <a:lstStyle/>
          <a:p>
            <a:fld id="{6E9B9777-4A6D-4D32-B5EF-73B0DBFA09F1}" type="slidenum">
              <a:rPr lang="en-US" smtClean="0"/>
              <a:pPr/>
              <a:t>30</a:t>
            </a:fld>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90615084-BD64-4C26-A4B9-5BB6D6060587}" type="slidenum">
              <a:rPr lang="en-US" smtClean="0"/>
              <a:pPr/>
              <a:t>31</a:t>
            </a:fld>
            <a:endParaRPr lang="en-US"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2" descr="Title_slide_nobar"/>
          <p:cNvPicPr>
            <a:picLocks noChangeAspect="1" noChangeArrowheads="1"/>
          </p:cNvPicPr>
          <p:nvPr userDrawn="1"/>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4098" name="Rectangle 2"/>
          <p:cNvSpPr>
            <a:spLocks noGrp="1" noChangeArrowheads="1"/>
          </p:cNvSpPr>
          <p:nvPr>
            <p:ph type="ctrTitle"/>
          </p:nvPr>
        </p:nvSpPr>
        <p:spPr>
          <a:xfrm>
            <a:off x="4953000" y="2133600"/>
            <a:ext cx="3810000" cy="609600"/>
          </a:xfrm>
        </p:spPr>
        <p:txBody>
          <a:bodyPr anchor="t"/>
          <a:lstStyle>
            <a:lvl1pPr algn="r">
              <a:defRPr sz="4000" b="0">
                <a:latin typeface="Arial Black" charset="0"/>
              </a:defRPr>
            </a:lvl1pPr>
          </a:lstStyle>
          <a:p>
            <a:r>
              <a:rPr lang="en-US"/>
              <a:t>Click to edit Master title style</a:t>
            </a:r>
          </a:p>
        </p:txBody>
      </p:sp>
      <p:sp>
        <p:nvSpPr>
          <p:cNvPr id="4099" name="Rectangle 3"/>
          <p:cNvSpPr>
            <a:spLocks noGrp="1" noChangeArrowheads="1"/>
          </p:cNvSpPr>
          <p:nvPr>
            <p:ph type="subTitle" idx="1"/>
          </p:nvPr>
        </p:nvSpPr>
        <p:spPr>
          <a:xfrm>
            <a:off x="5486400" y="4191000"/>
            <a:ext cx="3200400" cy="457200"/>
          </a:xfrm>
        </p:spPr>
        <p:txBody>
          <a:bodyPr/>
          <a:lstStyle>
            <a:lvl1pPr marL="0" indent="0" algn="r">
              <a:buFontTx/>
              <a:buNone/>
              <a:defRPr sz="2000" i="1"/>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371600"/>
            <a:ext cx="41529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371600"/>
            <a:ext cx="41529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0"/>
            <a:ext cx="2114550" cy="6324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0"/>
            <a:ext cx="6191250" cy="6324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8" descr="Interior_slide"/>
          <p:cNvPicPr>
            <a:picLocks noChangeAspect="1" noChangeArrowheads="1"/>
          </p:cNvPicPr>
          <p:nvPr userDrawn="1"/>
        </p:nvPicPr>
        <p:blipFill>
          <a:blip r:embed="rId13"/>
          <a:srcRect/>
          <a:stretch>
            <a:fillRect/>
          </a:stretch>
        </p:blipFill>
        <p:spPr bwMode="auto">
          <a:xfrm>
            <a:off x="0" y="0"/>
            <a:ext cx="9144000" cy="6858000"/>
          </a:xfrm>
          <a:prstGeom prst="rect">
            <a:avLst/>
          </a:prstGeom>
          <a:noFill/>
          <a:ln w="9525">
            <a:noFill/>
            <a:miter lim="800000"/>
            <a:headEnd/>
            <a:tailEnd/>
          </a:ln>
        </p:spPr>
      </p:pic>
      <p:sp>
        <p:nvSpPr>
          <p:cNvPr id="1027" name="Rectangle 2"/>
          <p:cNvSpPr>
            <a:spLocks noGrp="1" noChangeArrowheads="1"/>
          </p:cNvSpPr>
          <p:nvPr>
            <p:ph type="title"/>
          </p:nvPr>
        </p:nvSpPr>
        <p:spPr bwMode="black">
          <a:xfrm>
            <a:off x="304800" y="0"/>
            <a:ext cx="6858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Rectangle 3"/>
          <p:cNvSpPr>
            <a:spLocks noGrp="1" noChangeArrowheads="1"/>
          </p:cNvSpPr>
          <p:nvPr>
            <p:ph type="body" idx="1"/>
          </p:nvPr>
        </p:nvSpPr>
        <p:spPr bwMode="auto">
          <a:xfrm>
            <a:off x="304800" y="1371600"/>
            <a:ext cx="84582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803"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l" rtl="0" eaLnBrk="0" fontAlgn="base" hangingPunct="0">
        <a:spcBef>
          <a:spcPct val="0"/>
        </a:spcBef>
        <a:spcAft>
          <a:spcPct val="0"/>
        </a:spcAft>
        <a:defRPr sz="2800" b="1">
          <a:solidFill>
            <a:srgbClr val="1C2674"/>
          </a:solidFill>
          <a:latin typeface="+mj-lt"/>
          <a:ea typeface="+mj-ea"/>
          <a:cs typeface="+mj-cs"/>
        </a:defRPr>
      </a:lvl1pPr>
      <a:lvl2pPr algn="l" rtl="0" eaLnBrk="0" fontAlgn="base" hangingPunct="0">
        <a:spcBef>
          <a:spcPct val="0"/>
        </a:spcBef>
        <a:spcAft>
          <a:spcPct val="0"/>
        </a:spcAft>
        <a:defRPr sz="2800" b="1">
          <a:solidFill>
            <a:srgbClr val="1C2674"/>
          </a:solidFill>
          <a:latin typeface="Arial" charset="0"/>
        </a:defRPr>
      </a:lvl2pPr>
      <a:lvl3pPr algn="l" rtl="0" eaLnBrk="0" fontAlgn="base" hangingPunct="0">
        <a:spcBef>
          <a:spcPct val="0"/>
        </a:spcBef>
        <a:spcAft>
          <a:spcPct val="0"/>
        </a:spcAft>
        <a:defRPr sz="2800" b="1">
          <a:solidFill>
            <a:srgbClr val="1C2674"/>
          </a:solidFill>
          <a:latin typeface="Arial" charset="0"/>
        </a:defRPr>
      </a:lvl3pPr>
      <a:lvl4pPr algn="l" rtl="0" eaLnBrk="0" fontAlgn="base" hangingPunct="0">
        <a:spcBef>
          <a:spcPct val="0"/>
        </a:spcBef>
        <a:spcAft>
          <a:spcPct val="0"/>
        </a:spcAft>
        <a:defRPr sz="2800" b="1">
          <a:solidFill>
            <a:srgbClr val="1C2674"/>
          </a:solidFill>
          <a:latin typeface="Arial" charset="0"/>
        </a:defRPr>
      </a:lvl4pPr>
      <a:lvl5pPr algn="l" rtl="0" eaLnBrk="0" fontAlgn="base" hangingPunct="0">
        <a:spcBef>
          <a:spcPct val="0"/>
        </a:spcBef>
        <a:spcAft>
          <a:spcPct val="0"/>
        </a:spcAft>
        <a:defRPr sz="2800" b="1">
          <a:solidFill>
            <a:srgbClr val="1C2674"/>
          </a:solidFill>
          <a:latin typeface="Arial" charset="0"/>
        </a:defRPr>
      </a:lvl5pPr>
      <a:lvl6pPr marL="457200" algn="l" rtl="0" fontAlgn="base">
        <a:spcBef>
          <a:spcPct val="0"/>
        </a:spcBef>
        <a:spcAft>
          <a:spcPct val="0"/>
        </a:spcAft>
        <a:defRPr sz="2800" b="1">
          <a:solidFill>
            <a:srgbClr val="1C2674"/>
          </a:solidFill>
          <a:latin typeface="Arial" charset="0"/>
        </a:defRPr>
      </a:lvl6pPr>
      <a:lvl7pPr marL="914400" algn="l" rtl="0" fontAlgn="base">
        <a:spcBef>
          <a:spcPct val="0"/>
        </a:spcBef>
        <a:spcAft>
          <a:spcPct val="0"/>
        </a:spcAft>
        <a:defRPr sz="2800" b="1">
          <a:solidFill>
            <a:srgbClr val="1C2674"/>
          </a:solidFill>
          <a:latin typeface="Arial" charset="0"/>
        </a:defRPr>
      </a:lvl7pPr>
      <a:lvl8pPr marL="1371600" algn="l" rtl="0" fontAlgn="base">
        <a:spcBef>
          <a:spcPct val="0"/>
        </a:spcBef>
        <a:spcAft>
          <a:spcPct val="0"/>
        </a:spcAft>
        <a:defRPr sz="2800" b="1">
          <a:solidFill>
            <a:srgbClr val="1C2674"/>
          </a:solidFill>
          <a:latin typeface="Arial" charset="0"/>
        </a:defRPr>
      </a:lvl8pPr>
      <a:lvl9pPr marL="1828800" algn="l" rtl="0" fontAlgn="base">
        <a:spcBef>
          <a:spcPct val="0"/>
        </a:spcBef>
        <a:spcAft>
          <a:spcPct val="0"/>
        </a:spcAft>
        <a:defRPr sz="2800" b="1">
          <a:solidFill>
            <a:srgbClr val="1C2674"/>
          </a:solidFill>
          <a:latin typeface="Arial" charset="0"/>
        </a:defRPr>
      </a:lvl9pPr>
    </p:titleStyle>
    <p:bodyStyle>
      <a:lvl1pPr marL="342900" indent="-342900" algn="l" rtl="0" eaLnBrk="0" fontAlgn="base" hangingPunct="0">
        <a:spcBef>
          <a:spcPct val="20000"/>
        </a:spcBef>
        <a:spcAft>
          <a:spcPct val="0"/>
        </a:spcAft>
        <a:buClr>
          <a:srgbClr val="00AAF6"/>
        </a:buClr>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AAF6"/>
        </a:buClr>
        <a:buChar char="•"/>
        <a:defRPr sz="2800">
          <a:solidFill>
            <a:schemeClr val="tx1"/>
          </a:solidFill>
          <a:latin typeface="+mn-lt"/>
        </a:defRPr>
      </a:lvl2pPr>
      <a:lvl3pPr marL="1143000" indent="-228600" algn="l" rtl="0" eaLnBrk="0" fontAlgn="base" hangingPunct="0">
        <a:spcBef>
          <a:spcPct val="20000"/>
        </a:spcBef>
        <a:spcAft>
          <a:spcPct val="0"/>
        </a:spcAft>
        <a:buClr>
          <a:srgbClr val="00AAF6"/>
        </a:buClr>
        <a:buChar char="•"/>
        <a:defRPr sz="1600">
          <a:solidFill>
            <a:schemeClr val="tx1"/>
          </a:solidFill>
          <a:latin typeface="+mn-lt"/>
        </a:defRPr>
      </a:lvl3pPr>
      <a:lvl4pPr marL="1600200" indent="-228600" algn="l" rtl="0" eaLnBrk="0" fontAlgn="base" hangingPunct="0">
        <a:spcBef>
          <a:spcPct val="20000"/>
        </a:spcBef>
        <a:spcAft>
          <a:spcPct val="0"/>
        </a:spcAft>
        <a:buClr>
          <a:srgbClr val="00AAF6"/>
        </a:buClr>
        <a:buChar char="•"/>
        <a:defRPr sz="1400">
          <a:solidFill>
            <a:schemeClr val="tx1"/>
          </a:solidFill>
          <a:latin typeface="+mn-lt"/>
        </a:defRPr>
      </a:lvl4pPr>
      <a:lvl5pPr marL="2057400" indent="-228600" algn="l" rtl="0" eaLnBrk="0" fontAlgn="base" hangingPunct="0">
        <a:spcBef>
          <a:spcPct val="20000"/>
        </a:spcBef>
        <a:spcAft>
          <a:spcPct val="0"/>
        </a:spcAft>
        <a:buClr>
          <a:srgbClr val="00AAF6"/>
        </a:buClr>
        <a:buChar char="•"/>
        <a:defRPr sz="1400">
          <a:solidFill>
            <a:schemeClr val="tx1"/>
          </a:solidFill>
          <a:latin typeface="+mn-lt"/>
        </a:defRPr>
      </a:lvl5pPr>
      <a:lvl6pPr marL="2514600" indent="-228600" algn="l" rtl="0" fontAlgn="base">
        <a:spcBef>
          <a:spcPct val="20000"/>
        </a:spcBef>
        <a:spcAft>
          <a:spcPct val="0"/>
        </a:spcAft>
        <a:buClr>
          <a:srgbClr val="00AAF6"/>
        </a:buClr>
        <a:buChar char="•"/>
        <a:defRPr sz="1400">
          <a:solidFill>
            <a:schemeClr val="tx1"/>
          </a:solidFill>
          <a:latin typeface="+mn-lt"/>
        </a:defRPr>
      </a:lvl6pPr>
      <a:lvl7pPr marL="2971800" indent="-228600" algn="l" rtl="0" fontAlgn="base">
        <a:spcBef>
          <a:spcPct val="20000"/>
        </a:spcBef>
        <a:spcAft>
          <a:spcPct val="0"/>
        </a:spcAft>
        <a:buClr>
          <a:srgbClr val="00AAF6"/>
        </a:buClr>
        <a:buChar char="•"/>
        <a:defRPr sz="1400">
          <a:solidFill>
            <a:schemeClr val="tx1"/>
          </a:solidFill>
          <a:latin typeface="+mn-lt"/>
        </a:defRPr>
      </a:lvl7pPr>
      <a:lvl8pPr marL="3429000" indent="-228600" algn="l" rtl="0" fontAlgn="base">
        <a:spcBef>
          <a:spcPct val="20000"/>
        </a:spcBef>
        <a:spcAft>
          <a:spcPct val="0"/>
        </a:spcAft>
        <a:buClr>
          <a:srgbClr val="00AAF6"/>
        </a:buClr>
        <a:buChar char="•"/>
        <a:defRPr sz="1400">
          <a:solidFill>
            <a:schemeClr val="tx1"/>
          </a:solidFill>
          <a:latin typeface="+mn-lt"/>
        </a:defRPr>
      </a:lvl8pPr>
      <a:lvl9pPr marL="3886200" indent="-228600" algn="l" rtl="0" fontAlgn="base">
        <a:spcBef>
          <a:spcPct val="20000"/>
        </a:spcBef>
        <a:spcAft>
          <a:spcPct val="0"/>
        </a:spcAft>
        <a:buClr>
          <a:srgbClr val="00AAF6"/>
        </a:buClr>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catissueshare.wustl.edu:48080/catissuecore"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128.252.227.214:58443/wsrf/services/cagrid/CaTissueCore"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caarray.wustl.edu:38080/caarray/home.action"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caarray.wustl.edu/caarray"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caarray.wustl.edu:18080/wsrf/services/cagrid/CaArraySvc"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affymetrix.com/"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linuxcomp64.wustl.edu:9880/wsrf/services/cagrid/CNAT"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linuxcomp64.wustl.edu:9880/wsrf/services/cagrid/CopyNumberByGenePatternAnalyticalService"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linuxcomp64.wustl.edu:9880/wsrf/services/cagrid/DnaCopy"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linuxcomp64.wustl.edu:9880/wsrf/services/cagrid/ChromosomalSegmentOverlapAcrossSources"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linuxcomp64.wustl.edu:9880/wsrf/services/cagrid/ChromosomalSegmentOverlapAcrossSamples"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hyperlink" Target="http://linuxcomp64.wustl.edu:9880/wsrf/services/cagrid/CNAT" TargetMode="External"/><Relationship Id="rId3" Type="http://schemas.openxmlformats.org/officeDocument/2006/relationships/hyperlink" Target="http://catissueshare.wustl.edu:48080/catissuecore" TargetMode="External"/><Relationship Id="rId7" Type="http://schemas.openxmlformats.org/officeDocument/2006/relationships/hyperlink" Target="https://gforge.nci.nih.gov/docman/index.php?group_id=388&amp;selected_doc_group_id=4600&amp;language_id=1" TargetMode="External"/><Relationship Id="rId12" Type="http://schemas.openxmlformats.org/officeDocument/2006/relationships/hyperlink" Target="http://linuxcomp64.wustl.edu:9880/wsrf/services/cagrid/ChromosomalSegmentOverlapAcrossSamples"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https://cabig.nci.nih.gov/tools/caB2B" TargetMode="External"/><Relationship Id="rId11" Type="http://schemas.openxmlformats.org/officeDocument/2006/relationships/hyperlink" Target="http://linuxcomp64.wustl.edu:9880/wsrf/services/cagrid/ChromosomalSegmentOverlapAcrossSources" TargetMode="External"/><Relationship Id="rId5" Type="http://schemas.openxmlformats.org/officeDocument/2006/relationships/hyperlink" Target="http://gforge.nci.nih.gov/projects/icradopt-washu/" TargetMode="External"/><Relationship Id="rId10" Type="http://schemas.openxmlformats.org/officeDocument/2006/relationships/hyperlink" Target="http://linuxcomp64.wustl.edu:9880/wsrf/services/cagrid/DnaCopy" TargetMode="External"/><Relationship Id="rId4" Type="http://schemas.openxmlformats.org/officeDocument/2006/relationships/hyperlink" Target="http://caarray.wustl.edu/caarray" TargetMode="External"/><Relationship Id="rId9" Type="http://schemas.openxmlformats.org/officeDocument/2006/relationships/hyperlink" Target="http://linuxcomp64.wustl.edu:9880/wsrf/services/cagrid/CopyNumberByGenePatternAnalyticalService"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6"/>
          <p:cNvSpPr>
            <a:spLocks noGrp="1" noChangeArrowheads="1"/>
          </p:cNvSpPr>
          <p:nvPr>
            <p:ph type="ctrTitle"/>
          </p:nvPr>
        </p:nvSpPr>
        <p:spPr>
          <a:xfrm>
            <a:off x="3505200" y="2057400"/>
            <a:ext cx="5257800" cy="609600"/>
          </a:xfrm>
        </p:spPr>
        <p:txBody>
          <a:bodyPr/>
          <a:lstStyle/>
          <a:p>
            <a:pPr eaLnBrk="1" hangingPunct="1"/>
            <a:r>
              <a:rPr lang="en-US" sz="2800" dirty="0" smtClean="0">
                <a:latin typeface="Arial Black" pitchFamily="34" charset="0"/>
              </a:rPr>
              <a:t>Adoption of </a:t>
            </a:r>
            <a:r>
              <a:rPr lang="en-US" sz="2800" dirty="0" err="1" smtClean="0">
                <a:latin typeface="Arial Black" pitchFamily="34" charset="0"/>
              </a:rPr>
              <a:t>caBIG</a:t>
            </a:r>
            <a:r>
              <a:rPr lang="en-US" sz="2800" baseline="30000" dirty="0" smtClean="0">
                <a:latin typeface="Arial Black" pitchFamily="34" charset="0"/>
              </a:rPr>
              <a:t>®</a:t>
            </a:r>
            <a:r>
              <a:rPr lang="en-US" sz="2800" dirty="0" smtClean="0">
                <a:latin typeface="Arial Black" pitchFamily="34" charset="0"/>
              </a:rPr>
              <a:t> </a:t>
            </a:r>
            <a:r>
              <a:rPr lang="en-US" sz="2800" dirty="0" smtClean="0">
                <a:latin typeface="Arial Black" pitchFamily="34" charset="0"/>
              </a:rPr>
              <a:t>Tools: Project Outcome Presentation</a:t>
            </a:r>
            <a:endParaRPr lang="en-US" dirty="0" smtClean="0">
              <a:latin typeface="Arial Black" pitchFamily="34" charset="0"/>
            </a:endParaRPr>
          </a:p>
        </p:txBody>
      </p:sp>
      <p:sp>
        <p:nvSpPr>
          <p:cNvPr id="3075" name="Rectangle 17"/>
          <p:cNvSpPr>
            <a:spLocks noGrp="1" noChangeArrowheads="1"/>
          </p:cNvSpPr>
          <p:nvPr>
            <p:ph type="subTitle" idx="1"/>
          </p:nvPr>
        </p:nvSpPr>
        <p:spPr>
          <a:xfrm>
            <a:off x="3429000" y="4038600"/>
            <a:ext cx="5715000" cy="1371600"/>
          </a:xfrm>
        </p:spPr>
        <p:txBody>
          <a:bodyPr/>
          <a:lstStyle/>
          <a:p>
            <a:pPr eaLnBrk="1" hangingPunct="1"/>
            <a:r>
              <a:rPr lang="en-US" i="0" dirty="0" smtClean="0"/>
              <a:t>Washington University School of Medicine</a:t>
            </a:r>
            <a:r>
              <a:rPr lang="en-US" dirty="0" smtClean="0"/>
              <a:t> </a:t>
            </a:r>
          </a:p>
          <a:p>
            <a:pPr eaLnBrk="1" hangingPunct="1"/>
            <a:r>
              <a:rPr lang="en-US" i="0" dirty="0" smtClean="0"/>
              <a:t>and the Alvin J. </a:t>
            </a:r>
            <a:r>
              <a:rPr lang="en-US" i="0" dirty="0" err="1" smtClean="0"/>
              <a:t>Siteman</a:t>
            </a:r>
            <a:r>
              <a:rPr lang="en-US" i="0" dirty="0" smtClean="0"/>
              <a:t> Cancer Center</a:t>
            </a:r>
          </a:p>
          <a:p>
            <a:pPr eaLnBrk="1" hangingPunct="1"/>
            <a:endParaRPr lang="en-US" i="0" dirty="0" smtClean="0"/>
          </a:p>
          <a:p>
            <a:pPr eaLnBrk="1" hangingPunct="1"/>
            <a:r>
              <a:rPr lang="en-US" i="0" dirty="0" smtClean="0"/>
              <a:t>Saint Louis </a:t>
            </a:r>
          </a:p>
        </p:txBody>
      </p:sp>
      <p:sp>
        <p:nvSpPr>
          <p:cNvPr id="3076" name="Text Box 7"/>
          <p:cNvSpPr txBox="1">
            <a:spLocks noChangeArrowheads="1"/>
          </p:cNvSpPr>
          <p:nvPr/>
        </p:nvSpPr>
        <p:spPr bwMode="auto">
          <a:xfrm>
            <a:off x="5334000" y="5562600"/>
            <a:ext cx="3429000" cy="304800"/>
          </a:xfrm>
          <a:prstGeom prst="rect">
            <a:avLst/>
          </a:prstGeom>
          <a:noFill/>
          <a:ln w="9525">
            <a:noFill/>
            <a:miter lim="800000"/>
            <a:headEnd/>
            <a:tailEnd/>
          </a:ln>
        </p:spPr>
        <p:txBody>
          <a:bodyPr>
            <a:spAutoFit/>
          </a:bodyPr>
          <a:lstStyle/>
          <a:p>
            <a:pPr algn="r">
              <a:spcBef>
                <a:spcPct val="50000"/>
              </a:spcBef>
            </a:pPr>
            <a:r>
              <a:rPr lang="en-US" sz="1400" b="1" dirty="0" smtClean="0">
                <a:solidFill>
                  <a:schemeClr val="bg2"/>
                </a:solidFill>
              </a:rPr>
              <a:t>January, 2009</a:t>
            </a:r>
            <a:endParaRPr lang="en-US" sz="1400" b="1" dirty="0">
              <a:solidFill>
                <a:schemeClr val="bg2"/>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533400" y="1524000"/>
            <a:ext cx="8077200" cy="1524000"/>
          </a:xfrm>
          <a:prstGeom prst="rect">
            <a:avLst/>
          </a:prstGeom>
          <a:solidFill>
            <a:srgbClr val="BAE2EF">
              <a:alpha val="39999"/>
            </a:srgbClr>
          </a:solidFill>
          <a:ln w="38100">
            <a:solidFill>
              <a:srgbClr val="00A1D7">
                <a:alpha val="25098"/>
              </a:srgbClr>
            </a:solidFill>
            <a:miter lim="800000"/>
            <a:headEnd/>
            <a:tailEnd/>
          </a:ln>
        </p:spPr>
        <p:txBody>
          <a:bodyPr wrap="none" anchor="ctr"/>
          <a:lstStyle/>
          <a:p>
            <a:pPr algn="ctr"/>
            <a:endParaRPr lang="en-US"/>
          </a:p>
        </p:txBody>
      </p:sp>
      <p:sp>
        <p:nvSpPr>
          <p:cNvPr id="4099" name="Rectangle 3"/>
          <p:cNvSpPr>
            <a:spLocks noGrp="1" noChangeArrowheads="1"/>
          </p:cNvSpPr>
          <p:nvPr>
            <p:ph type="title"/>
          </p:nvPr>
        </p:nvSpPr>
        <p:spPr/>
        <p:txBody>
          <a:bodyPr/>
          <a:lstStyle/>
          <a:p>
            <a:pPr eaLnBrk="1" hangingPunct="1"/>
            <a:r>
              <a:rPr lang="en-US" dirty="0" err="1" smtClean="0">
                <a:solidFill>
                  <a:schemeClr val="accent2"/>
                </a:solidFill>
              </a:rPr>
              <a:t>caBIG</a:t>
            </a:r>
            <a:r>
              <a:rPr lang="en-US" baseline="30000" dirty="0" smtClean="0">
                <a:latin typeface="Arial Black" pitchFamily="34" charset="0"/>
              </a:rPr>
              <a:t> ®</a:t>
            </a:r>
            <a:r>
              <a:rPr lang="en-US" dirty="0" smtClean="0">
                <a:solidFill>
                  <a:schemeClr val="accent2"/>
                </a:solidFill>
              </a:rPr>
              <a:t> </a:t>
            </a:r>
            <a:r>
              <a:rPr lang="en-US" dirty="0" smtClean="0">
                <a:solidFill>
                  <a:schemeClr val="accent2"/>
                </a:solidFill>
              </a:rPr>
              <a:t>Overview</a:t>
            </a:r>
          </a:p>
        </p:txBody>
      </p:sp>
      <p:sp>
        <p:nvSpPr>
          <p:cNvPr id="4100" name="Rectangle 4"/>
          <p:cNvSpPr>
            <a:spLocks noGrp="1" noChangeArrowheads="1"/>
          </p:cNvSpPr>
          <p:nvPr>
            <p:ph type="body" idx="1"/>
          </p:nvPr>
        </p:nvSpPr>
        <p:spPr/>
        <p:txBody>
          <a:bodyPr/>
          <a:lstStyle/>
          <a:p>
            <a:pPr eaLnBrk="1" hangingPunct="1">
              <a:lnSpc>
                <a:spcPct val="90000"/>
              </a:lnSpc>
              <a:buFontTx/>
              <a:buNone/>
            </a:pPr>
            <a:r>
              <a:rPr lang="en-US" sz="1600" smtClean="0"/>
              <a:t>	</a:t>
            </a:r>
          </a:p>
          <a:p>
            <a:pPr eaLnBrk="1" hangingPunct="1">
              <a:lnSpc>
                <a:spcPct val="90000"/>
              </a:lnSpc>
              <a:buFontTx/>
              <a:buNone/>
            </a:pPr>
            <a:r>
              <a:rPr lang="en-US" sz="1600" smtClean="0"/>
              <a:t>	</a:t>
            </a:r>
            <a:r>
              <a:rPr lang="en-US" sz="2000" b="0" smtClean="0"/>
              <a:t>caBIG™ is an information network enabling all constituencies in the cancer community – researchers, clinicians, patients – to share data and knowledge to accelerate the discovery of new diagnostics and therapeutics, and improve patient outcomes.</a:t>
            </a:r>
          </a:p>
          <a:p>
            <a:pPr eaLnBrk="1" hangingPunct="1">
              <a:lnSpc>
                <a:spcPct val="90000"/>
              </a:lnSpc>
              <a:buFontTx/>
              <a:buNone/>
            </a:pPr>
            <a:endParaRPr lang="en-US" sz="2000" b="0" smtClean="0"/>
          </a:p>
          <a:p>
            <a:pPr eaLnBrk="1" hangingPunct="1">
              <a:lnSpc>
                <a:spcPct val="90000"/>
              </a:lnSpc>
              <a:buFontTx/>
              <a:buNone/>
            </a:pPr>
            <a:endParaRPr lang="en-US" sz="2000" smtClean="0"/>
          </a:p>
          <a:p>
            <a:pPr eaLnBrk="1" hangingPunct="1">
              <a:lnSpc>
                <a:spcPct val="90000"/>
              </a:lnSpc>
              <a:buFontTx/>
              <a:buNone/>
            </a:pPr>
            <a:r>
              <a:rPr lang="en-US" sz="2000" smtClean="0"/>
              <a:t>	caBIG™ Vision</a:t>
            </a:r>
          </a:p>
          <a:p>
            <a:pPr lvl="1" eaLnBrk="1" hangingPunct="1">
              <a:lnSpc>
                <a:spcPct val="90000"/>
              </a:lnSpc>
            </a:pPr>
            <a:r>
              <a:rPr lang="en-US" sz="2000" b="1" smtClean="0"/>
              <a:t>Connect</a:t>
            </a:r>
            <a:r>
              <a:rPr lang="en-US" sz="2000" smtClean="0"/>
              <a:t> the cancer research community through a shareable, interoperable infrastructure</a:t>
            </a:r>
          </a:p>
          <a:p>
            <a:pPr lvl="1" eaLnBrk="1" hangingPunct="1">
              <a:lnSpc>
                <a:spcPct val="90000"/>
              </a:lnSpc>
            </a:pPr>
            <a:r>
              <a:rPr lang="en-US" sz="2000" b="1" smtClean="0"/>
              <a:t>Deploy and extend</a:t>
            </a:r>
            <a:r>
              <a:rPr lang="en-US" sz="2000" smtClean="0"/>
              <a:t> standard rules and a common language to more easily share information</a:t>
            </a:r>
          </a:p>
          <a:p>
            <a:pPr lvl="1" eaLnBrk="1" hangingPunct="1">
              <a:lnSpc>
                <a:spcPct val="90000"/>
              </a:lnSpc>
            </a:pPr>
            <a:r>
              <a:rPr lang="en-US" sz="2000" b="1" smtClean="0"/>
              <a:t>Build</a:t>
            </a:r>
            <a:r>
              <a:rPr lang="en-US" sz="2000" smtClean="0"/>
              <a:t> or adapt tools for collecting, analyzing, integrating and disseminating information associated with cancer research and care</a:t>
            </a:r>
          </a:p>
          <a:p>
            <a:pPr eaLnBrk="1" hangingPunct="1">
              <a:lnSpc>
                <a:spcPct val="90000"/>
              </a:lnSpc>
            </a:pPr>
            <a:endParaRPr lang="en-US" sz="2000" smtClean="0"/>
          </a:p>
        </p:txBody>
      </p:sp>
      <p:sp>
        <p:nvSpPr>
          <p:cNvPr id="4101" name="Rectangle 5"/>
          <p:cNvSpPr>
            <a:spLocks noChangeArrowheads="1"/>
          </p:cNvSpPr>
          <p:nvPr/>
        </p:nvSpPr>
        <p:spPr bwMode="auto">
          <a:xfrm>
            <a:off x="533400" y="3352800"/>
            <a:ext cx="8077200" cy="2819400"/>
          </a:xfrm>
          <a:prstGeom prst="rect">
            <a:avLst/>
          </a:prstGeom>
          <a:solidFill>
            <a:srgbClr val="997EAB">
              <a:alpha val="39999"/>
            </a:srgbClr>
          </a:solidFill>
          <a:ln w="38100">
            <a:solidFill>
              <a:srgbClr val="5C2770">
                <a:alpha val="25098"/>
              </a:srgbClr>
            </a:solidFill>
            <a:miter lim="800000"/>
            <a:headEnd/>
            <a:tailEnd/>
          </a:ln>
        </p:spPr>
        <p:txBody>
          <a:bodyPr wrap="none" anchor="ctr"/>
          <a:lstStyle/>
          <a:p>
            <a:pPr algn="ct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smtClean="0"/>
              <a:t>Scope of Adoption Activity at WUSM</a:t>
            </a:r>
          </a:p>
        </p:txBody>
      </p:sp>
      <p:sp>
        <p:nvSpPr>
          <p:cNvPr id="5123" name="Content Placeholder 2"/>
          <p:cNvSpPr>
            <a:spLocks noGrp="1"/>
          </p:cNvSpPr>
          <p:nvPr>
            <p:ph idx="1"/>
          </p:nvPr>
        </p:nvSpPr>
        <p:spPr/>
        <p:txBody>
          <a:bodyPr/>
          <a:lstStyle/>
          <a:p>
            <a:endParaRPr lang="en-US" sz="2000" smtClean="0"/>
          </a:p>
          <a:p>
            <a:r>
              <a:rPr lang="en-US" sz="2800" smtClean="0"/>
              <a:t>The Alvin J. Siteman Cancer Center (SCC) Bioinformatics Core adopted caBIG</a:t>
            </a:r>
            <a:r>
              <a:rPr lang="en-US" sz="2800" baseline="30000" smtClean="0"/>
              <a:t>TM</a:t>
            </a:r>
            <a:r>
              <a:rPr lang="en-US" sz="2800" smtClean="0"/>
              <a:t> tools to primarily support two research groups</a:t>
            </a:r>
          </a:p>
          <a:p>
            <a:endParaRPr lang="en-US" sz="2000" smtClean="0"/>
          </a:p>
          <a:p>
            <a:pPr lvl="1"/>
            <a:r>
              <a:rPr lang="en-US" sz="2000" b="1" smtClean="0"/>
              <a:t>Acute Myelogenous Leukemia Group: 13 PIs</a:t>
            </a:r>
          </a:p>
          <a:p>
            <a:pPr lvl="1"/>
            <a:r>
              <a:rPr lang="en-US" sz="2000" b="1" smtClean="0"/>
              <a:t>Neuro-Oncology Research Group:16 PIs  </a:t>
            </a:r>
          </a:p>
          <a:p>
            <a:endParaRPr lang="en-US"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6858000" cy="1066800"/>
          </a:xfrm>
        </p:spPr>
        <p:txBody>
          <a:bodyPr/>
          <a:lstStyle/>
          <a:p>
            <a:pPr>
              <a:defRPr/>
            </a:pPr>
            <a:r>
              <a:rPr lang="en-US" dirty="0" smtClean="0"/>
              <a:t/>
            </a:r>
            <a:br>
              <a:rPr lang="en-US" dirty="0" smtClean="0"/>
            </a:br>
            <a:r>
              <a:rPr lang="en-US" dirty="0" smtClean="0"/>
              <a:t>Acute Myelogenous Leukemia (AML) </a:t>
            </a:r>
            <a:r>
              <a:rPr lang="en-US" dirty="0" smtClean="0">
                <a:solidFill>
                  <a:schemeClr val="accent3"/>
                </a:solidFill>
              </a:rPr>
              <a:t>Research Group</a:t>
            </a:r>
            <a:endParaRPr lang="en-US" dirty="0"/>
          </a:p>
        </p:txBody>
      </p:sp>
      <p:sp>
        <p:nvSpPr>
          <p:cNvPr id="3" name="Content Placeholder 2"/>
          <p:cNvSpPr>
            <a:spLocks noGrp="1"/>
          </p:cNvSpPr>
          <p:nvPr>
            <p:ph idx="1"/>
          </p:nvPr>
        </p:nvSpPr>
        <p:spPr/>
        <p:txBody>
          <a:bodyPr/>
          <a:lstStyle/>
          <a:p>
            <a:pPr>
              <a:buFontTx/>
              <a:buNone/>
              <a:defRPr/>
            </a:pPr>
            <a:r>
              <a:rPr lang="en-US" sz="2000" u="sng" dirty="0" smtClean="0"/>
              <a:t>AML</a:t>
            </a:r>
          </a:p>
          <a:p>
            <a:pPr>
              <a:defRPr/>
            </a:pPr>
            <a:r>
              <a:rPr lang="en-US" sz="2000" dirty="0" smtClean="0"/>
              <a:t>AML is the most common acute leukemia affecting adults, and its incidence increases with age.</a:t>
            </a:r>
          </a:p>
          <a:p>
            <a:pPr>
              <a:defRPr/>
            </a:pPr>
            <a:r>
              <a:rPr lang="en-US" sz="2000" dirty="0" smtClean="0"/>
              <a:t>Accounts for approximately 1.2% of cancer deaths in the United States,</a:t>
            </a:r>
            <a:r>
              <a:rPr lang="en-US" sz="2000" baseline="30000" dirty="0" smtClean="0"/>
              <a:t> </a:t>
            </a:r>
            <a:r>
              <a:rPr lang="en-US" sz="2000" dirty="0" smtClean="0"/>
              <a:t>its incidence is expected to increase as the population ages.</a:t>
            </a:r>
          </a:p>
          <a:p>
            <a:pPr>
              <a:defRPr/>
            </a:pPr>
            <a:r>
              <a:rPr lang="en-US" sz="2000" dirty="0" smtClean="0"/>
              <a:t>As an acute leukemia, AML progresses rapidly and is typically fatal within weeks or months if left untreated.</a:t>
            </a:r>
          </a:p>
          <a:p>
            <a:pPr>
              <a:buFontTx/>
              <a:buNone/>
              <a:defRPr/>
            </a:pPr>
            <a:endParaRPr lang="en-US" sz="2000" dirty="0" smtClean="0">
              <a:solidFill>
                <a:schemeClr val="accent2">
                  <a:lumMod val="60000"/>
                  <a:lumOff val="40000"/>
                </a:schemeClr>
              </a:solidFill>
            </a:endParaRPr>
          </a:p>
          <a:p>
            <a:pPr>
              <a:buFontTx/>
              <a:buNone/>
              <a:defRPr/>
            </a:pPr>
            <a:r>
              <a:rPr lang="en-US" sz="2000" dirty="0" smtClean="0">
                <a:solidFill>
                  <a:schemeClr val="accent2">
                    <a:lumMod val="60000"/>
                    <a:lumOff val="40000"/>
                  </a:schemeClr>
                </a:solidFill>
              </a:rPr>
              <a:t>Dr. Timothy Ley </a:t>
            </a:r>
            <a:r>
              <a:rPr lang="en-US" sz="2000" dirty="0" smtClean="0"/>
              <a:t>and his collaborators are integrating comprehensive clinical information, pathology and cytogenetics data, and profiling data sets (expression, aCGH, SNP, proteomics, and mutation profiling) to determine the molecular mechanisms underlying AML.</a:t>
            </a:r>
          </a:p>
          <a:p>
            <a:pPr>
              <a:defRPr/>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mtClean="0"/>
              <a:t>Neuro-oncology Research Group</a:t>
            </a:r>
          </a:p>
        </p:txBody>
      </p:sp>
      <p:sp>
        <p:nvSpPr>
          <p:cNvPr id="4" name="Content Placeholder 2"/>
          <p:cNvSpPr>
            <a:spLocks noGrp="1"/>
          </p:cNvSpPr>
          <p:nvPr>
            <p:ph idx="1"/>
          </p:nvPr>
        </p:nvSpPr>
        <p:spPr>
          <a:xfrm>
            <a:off x="304800" y="1219200"/>
            <a:ext cx="8458200" cy="4953000"/>
          </a:xfrm>
        </p:spPr>
        <p:txBody>
          <a:bodyPr/>
          <a:lstStyle/>
          <a:p>
            <a:pPr>
              <a:buFontTx/>
              <a:buNone/>
              <a:defRPr/>
            </a:pPr>
            <a:r>
              <a:rPr lang="en-US" sz="2000" u="sng" dirty="0" smtClean="0"/>
              <a:t>Juvenile Pilocytic Astrocytoma</a:t>
            </a:r>
          </a:p>
          <a:p>
            <a:pPr>
              <a:defRPr/>
            </a:pPr>
            <a:r>
              <a:rPr lang="en-US" sz="2000" dirty="0" smtClean="0"/>
              <a:t>Most common astrocytic tumors in children (peak incidence:5-14 yrs).</a:t>
            </a:r>
          </a:p>
          <a:p>
            <a:pPr>
              <a:defRPr/>
            </a:pPr>
            <a:r>
              <a:rPr lang="en-US" sz="2000" dirty="0" smtClean="0"/>
              <a:t>Accounts for 80-85% of cerebellar astrocytomas and 60% of optic gliomas.</a:t>
            </a:r>
          </a:p>
          <a:p>
            <a:pPr>
              <a:defRPr/>
            </a:pPr>
            <a:r>
              <a:rPr lang="en-US" sz="2000" dirty="0" smtClean="0"/>
              <a:t>Many PAs are slow-growing or clinically indolent, others exhibit more aggressive features with tumor recurrence and death.</a:t>
            </a:r>
          </a:p>
          <a:p>
            <a:pPr>
              <a:buFontTx/>
              <a:buNone/>
              <a:defRPr/>
            </a:pPr>
            <a:r>
              <a:rPr lang="en-US" sz="2000" u="sng" dirty="0" smtClean="0"/>
              <a:t>MPNST</a:t>
            </a:r>
          </a:p>
          <a:p>
            <a:pPr>
              <a:defRPr/>
            </a:pPr>
            <a:r>
              <a:rPr lang="en-US" sz="2000" dirty="0" smtClean="0"/>
              <a:t>Cancer of the connective tissue surrounding nerves</a:t>
            </a:r>
          </a:p>
          <a:p>
            <a:pPr>
              <a:defRPr/>
            </a:pPr>
            <a:r>
              <a:rPr lang="en-US" sz="2000" dirty="0" smtClean="0"/>
              <a:t>About half the cases are diagnosed in people with NF1</a:t>
            </a:r>
          </a:p>
          <a:p>
            <a:pPr>
              <a:defRPr/>
            </a:pPr>
            <a:r>
              <a:rPr lang="en-US" sz="2000" dirty="0" smtClean="0"/>
              <a:t>MPNSTs are often metastatic and are a frequent cause of death among people with NF1.</a:t>
            </a:r>
          </a:p>
          <a:p>
            <a:pPr>
              <a:defRPr/>
            </a:pPr>
            <a:endParaRPr lang="en-US" sz="2000" dirty="0" smtClean="0"/>
          </a:p>
          <a:p>
            <a:pPr>
              <a:buFontTx/>
              <a:buNone/>
              <a:defRPr/>
            </a:pPr>
            <a:r>
              <a:rPr lang="en-US" sz="2000" dirty="0" smtClean="0">
                <a:solidFill>
                  <a:schemeClr val="accent2">
                    <a:lumMod val="60000"/>
                    <a:lumOff val="40000"/>
                  </a:schemeClr>
                </a:solidFill>
              </a:rPr>
              <a:t>Dr. Gutmann </a:t>
            </a:r>
            <a:r>
              <a:rPr lang="en-US" sz="2000" dirty="0" smtClean="0"/>
              <a:t>and his collaborators are studying a wide range of neuro-oncological tumors and are correlating molecular markers with clinical observations such as outcome and survival.  </a:t>
            </a:r>
          </a:p>
          <a:p>
            <a:pPr>
              <a:defRPr/>
            </a:pPr>
            <a:endParaRPr lang="en-US" sz="2000" dirty="0" smtClean="0"/>
          </a:p>
          <a:p>
            <a:pPr>
              <a:defRPr/>
            </a:pPr>
            <a:endParaRPr 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dirty="0" smtClean="0"/>
              <a:t>Our Workflow Prior To </a:t>
            </a:r>
            <a:r>
              <a:rPr lang="en-US" dirty="0" err="1" smtClean="0"/>
              <a:t>caBIG</a:t>
            </a:r>
            <a:r>
              <a:rPr lang="en-US" baseline="30000" dirty="0" smtClean="0"/>
              <a:t>®</a:t>
            </a:r>
            <a:r>
              <a:rPr lang="en-US" dirty="0" smtClean="0"/>
              <a:t> </a:t>
            </a:r>
            <a:r>
              <a:rPr lang="en-US" dirty="0" smtClean="0"/>
              <a:t>Tools Adoption </a:t>
            </a:r>
          </a:p>
        </p:txBody>
      </p:sp>
      <p:sp>
        <p:nvSpPr>
          <p:cNvPr id="31" name="TextBox 5"/>
          <p:cNvSpPr txBox="1">
            <a:spLocks noChangeArrowheads="1"/>
          </p:cNvSpPr>
          <p:nvPr/>
        </p:nvSpPr>
        <p:spPr bwMode="auto">
          <a:xfrm>
            <a:off x="762000" y="1371600"/>
            <a:ext cx="1752600" cy="1600200"/>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End users send request to Director of SCC Tissue Procurement Core Facility for sample(s) availability</a:t>
            </a:r>
          </a:p>
        </p:txBody>
      </p:sp>
      <p:sp>
        <p:nvSpPr>
          <p:cNvPr id="32" name="TextBox 7"/>
          <p:cNvSpPr txBox="1">
            <a:spLocks noChangeArrowheads="1"/>
          </p:cNvSpPr>
          <p:nvPr/>
        </p:nvSpPr>
        <p:spPr bwMode="auto">
          <a:xfrm>
            <a:off x="2870200" y="2971800"/>
            <a:ext cx="2311400" cy="1384300"/>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Microarray data made available to researchers for download through Washington University Biomedical Informatics Core web page</a:t>
            </a:r>
          </a:p>
        </p:txBody>
      </p:sp>
      <p:sp>
        <p:nvSpPr>
          <p:cNvPr id="33" name="TextBox 8"/>
          <p:cNvSpPr txBox="1">
            <a:spLocks noChangeArrowheads="1"/>
          </p:cNvSpPr>
          <p:nvPr/>
        </p:nvSpPr>
        <p:spPr bwMode="auto">
          <a:xfrm>
            <a:off x="3200400" y="5029200"/>
            <a:ext cx="4267200" cy="522288"/>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Download all the supporting files required for analysis</a:t>
            </a:r>
          </a:p>
        </p:txBody>
      </p:sp>
      <p:sp>
        <p:nvSpPr>
          <p:cNvPr id="34" name="TextBox 13"/>
          <p:cNvSpPr txBox="1">
            <a:spLocks noChangeArrowheads="1"/>
          </p:cNvSpPr>
          <p:nvPr/>
        </p:nvSpPr>
        <p:spPr bwMode="auto">
          <a:xfrm>
            <a:off x="7086600" y="1371600"/>
            <a:ext cx="1371600" cy="1169988"/>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Unavailable molecular specimens are requested to be made</a:t>
            </a:r>
          </a:p>
        </p:txBody>
      </p:sp>
      <p:sp>
        <p:nvSpPr>
          <p:cNvPr id="35" name="TextBox 15"/>
          <p:cNvSpPr txBox="1">
            <a:spLocks noChangeArrowheads="1"/>
          </p:cNvSpPr>
          <p:nvPr/>
        </p:nvSpPr>
        <p:spPr bwMode="auto">
          <a:xfrm>
            <a:off x="5867400" y="2971800"/>
            <a:ext cx="2133600" cy="1169988"/>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Molecular specimens sent to Laboratory for Clinical Genomics for Microarray Hybridization</a:t>
            </a:r>
            <a:endParaRPr lang="en-US" sz="1400" dirty="0">
              <a:latin typeface="Times New Roman" pitchFamily="18" charset="0"/>
              <a:cs typeface="Times New Roman" pitchFamily="18" charset="0"/>
            </a:endParaRPr>
          </a:p>
        </p:txBody>
      </p:sp>
      <p:sp>
        <p:nvSpPr>
          <p:cNvPr id="36" name="TextBox 25"/>
          <p:cNvSpPr txBox="1">
            <a:spLocks noChangeArrowheads="1"/>
          </p:cNvSpPr>
          <p:nvPr/>
        </p:nvSpPr>
        <p:spPr bwMode="auto">
          <a:xfrm>
            <a:off x="990600" y="3200400"/>
            <a:ext cx="1295400" cy="738188"/>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End users download CEL files</a:t>
            </a:r>
          </a:p>
        </p:txBody>
      </p:sp>
      <p:sp>
        <p:nvSpPr>
          <p:cNvPr id="37" name="TextBox 38"/>
          <p:cNvSpPr txBox="1">
            <a:spLocks noChangeArrowheads="1"/>
          </p:cNvSpPr>
          <p:nvPr/>
        </p:nvSpPr>
        <p:spPr bwMode="auto">
          <a:xfrm>
            <a:off x="3200400" y="5867400"/>
            <a:ext cx="4267200" cy="522288"/>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Performs manual processing of output files to make them compatible for other analytical tools</a:t>
            </a:r>
          </a:p>
        </p:txBody>
      </p:sp>
      <p:sp>
        <p:nvSpPr>
          <p:cNvPr id="38" name="TextBox 44"/>
          <p:cNvSpPr txBox="1">
            <a:spLocks noChangeArrowheads="1"/>
          </p:cNvSpPr>
          <p:nvPr/>
        </p:nvSpPr>
        <p:spPr bwMode="auto">
          <a:xfrm>
            <a:off x="3048000" y="1524000"/>
            <a:ext cx="1447800" cy="892175"/>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endParaRPr lang="en-US" sz="1200" dirty="0">
              <a:latin typeface="Times New Roman" pitchFamily="18" charset="0"/>
              <a:cs typeface="Times New Roman" pitchFamily="18" charset="0"/>
            </a:endParaRPr>
          </a:p>
          <a:p>
            <a:pPr algn="ctr">
              <a:defRPr/>
            </a:pPr>
            <a:r>
              <a:rPr lang="en-US" sz="1400" b="1" dirty="0">
                <a:latin typeface="Times New Roman" pitchFamily="18" charset="0"/>
                <a:cs typeface="Times New Roman" pitchFamily="18" charset="0"/>
              </a:rPr>
              <a:t>Samples identified</a:t>
            </a:r>
            <a:endParaRPr lang="en-US" sz="1200" dirty="0">
              <a:latin typeface="Times New Roman" pitchFamily="18" charset="0"/>
              <a:cs typeface="Times New Roman" pitchFamily="18" charset="0"/>
            </a:endParaRPr>
          </a:p>
          <a:p>
            <a:pPr algn="ctr">
              <a:defRPr/>
            </a:pPr>
            <a:endParaRPr lang="en-US" sz="1200" dirty="0">
              <a:latin typeface="Times New Roman" pitchFamily="18" charset="0"/>
              <a:cs typeface="Times New Roman" pitchFamily="18" charset="0"/>
            </a:endParaRPr>
          </a:p>
        </p:txBody>
      </p:sp>
      <p:cxnSp>
        <p:nvCxnSpPr>
          <p:cNvPr id="39" name="Straight Arrow Connector 38"/>
          <p:cNvCxnSpPr/>
          <p:nvPr/>
        </p:nvCxnSpPr>
        <p:spPr>
          <a:xfrm>
            <a:off x="2563813" y="1981200"/>
            <a:ext cx="454025" cy="0"/>
          </a:xfrm>
          <a:prstGeom prst="straightConnector1">
            <a:avLst/>
          </a:prstGeom>
          <a:ln w="254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a:off x="1143001" y="4418012"/>
            <a:ext cx="914400" cy="3175"/>
          </a:xfrm>
          <a:prstGeom prst="straightConnector1">
            <a:avLst/>
          </a:prstGeom>
          <a:ln w="254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1" name="TextBox 52"/>
          <p:cNvSpPr txBox="1">
            <a:spLocks noChangeArrowheads="1"/>
          </p:cNvSpPr>
          <p:nvPr/>
        </p:nvSpPr>
        <p:spPr bwMode="auto">
          <a:xfrm>
            <a:off x="5105400" y="1371600"/>
            <a:ext cx="1371600" cy="1169988"/>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Availability of molecular specimens (RNA/DNA) checked</a:t>
            </a:r>
          </a:p>
        </p:txBody>
      </p:sp>
      <p:sp>
        <p:nvSpPr>
          <p:cNvPr id="42" name="TextBox 88"/>
          <p:cNvSpPr txBox="1">
            <a:spLocks noChangeArrowheads="1"/>
          </p:cNvSpPr>
          <p:nvPr/>
        </p:nvSpPr>
        <p:spPr bwMode="auto">
          <a:xfrm>
            <a:off x="990600" y="4953000"/>
            <a:ext cx="1676400" cy="1600200"/>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Identifies and installs each of the tools required for analyzing SNP microarray data for Copy Number variations..</a:t>
            </a:r>
          </a:p>
        </p:txBody>
      </p:sp>
      <p:cxnSp>
        <p:nvCxnSpPr>
          <p:cNvPr id="43" name="Straight Arrow Connector 42"/>
          <p:cNvCxnSpPr/>
          <p:nvPr/>
        </p:nvCxnSpPr>
        <p:spPr>
          <a:xfrm>
            <a:off x="4572000" y="1981200"/>
            <a:ext cx="454025" cy="0"/>
          </a:xfrm>
          <a:prstGeom prst="straightConnector1">
            <a:avLst/>
          </a:prstGeom>
          <a:ln w="254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6553200" y="1981200"/>
            <a:ext cx="454025" cy="0"/>
          </a:xfrm>
          <a:prstGeom prst="straightConnector1">
            <a:avLst/>
          </a:prstGeom>
          <a:ln w="254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rot="10800000">
            <a:off x="5257800" y="3581400"/>
            <a:ext cx="533400" cy="1588"/>
          </a:xfrm>
          <a:prstGeom prst="straightConnector1">
            <a:avLst/>
          </a:prstGeom>
          <a:ln w="254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6" name="5-Point Star 45"/>
          <p:cNvSpPr/>
          <p:nvPr/>
        </p:nvSpPr>
        <p:spPr>
          <a:xfrm>
            <a:off x="2743200" y="1752600"/>
            <a:ext cx="76200" cy="76200"/>
          </a:xfrm>
          <a:prstGeom prst="star5">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7" name="5-Point Star 46"/>
          <p:cNvSpPr/>
          <p:nvPr/>
        </p:nvSpPr>
        <p:spPr>
          <a:xfrm>
            <a:off x="4724400" y="1752600"/>
            <a:ext cx="76200" cy="76200"/>
          </a:xfrm>
          <a:prstGeom prst="star5">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8" name="5-Point Star 47"/>
          <p:cNvSpPr/>
          <p:nvPr/>
        </p:nvSpPr>
        <p:spPr>
          <a:xfrm>
            <a:off x="6705600" y="1752600"/>
            <a:ext cx="76200" cy="76200"/>
          </a:xfrm>
          <a:prstGeom prst="star5">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9" name="5-Point Star 48"/>
          <p:cNvSpPr/>
          <p:nvPr/>
        </p:nvSpPr>
        <p:spPr>
          <a:xfrm>
            <a:off x="2514600" y="3352800"/>
            <a:ext cx="76200" cy="76200"/>
          </a:xfrm>
          <a:prstGeom prst="star5">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0" name="5-Point Star 49"/>
          <p:cNvSpPr/>
          <p:nvPr/>
        </p:nvSpPr>
        <p:spPr>
          <a:xfrm>
            <a:off x="2971800" y="5029200"/>
            <a:ext cx="76200" cy="76200"/>
          </a:xfrm>
          <a:prstGeom prst="star5">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51" name="Straight Connector 50"/>
          <p:cNvCxnSpPr/>
          <p:nvPr/>
        </p:nvCxnSpPr>
        <p:spPr>
          <a:xfrm>
            <a:off x="2667000" y="6096000"/>
            <a:ext cx="533400" cy="1588"/>
          </a:xfrm>
          <a:prstGeom prst="line">
            <a:avLst/>
          </a:prstGeom>
          <a:ln w="25400">
            <a:solidFill>
              <a:schemeClr val="bg2">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2667000" y="5256213"/>
            <a:ext cx="533400" cy="1587"/>
          </a:xfrm>
          <a:prstGeom prst="line">
            <a:avLst/>
          </a:prstGeom>
          <a:ln w="25400">
            <a:solidFill>
              <a:schemeClr val="bg2">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53" name="5-Point Star 52"/>
          <p:cNvSpPr/>
          <p:nvPr/>
        </p:nvSpPr>
        <p:spPr>
          <a:xfrm>
            <a:off x="2971800" y="5867400"/>
            <a:ext cx="76200" cy="76200"/>
          </a:xfrm>
          <a:prstGeom prst="star5">
            <a:avLst/>
          </a:prstGeom>
          <a:solidFill>
            <a:srgbClr val="C0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54" name="Straight Arrow Connector 53"/>
          <p:cNvCxnSpPr/>
          <p:nvPr/>
        </p:nvCxnSpPr>
        <p:spPr>
          <a:xfrm rot="10800000">
            <a:off x="2286000" y="3581400"/>
            <a:ext cx="533400" cy="1588"/>
          </a:xfrm>
          <a:prstGeom prst="straightConnector1">
            <a:avLst/>
          </a:prstGeom>
          <a:ln w="254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5" name="Elbow Connector 54"/>
          <p:cNvCxnSpPr>
            <a:stCxn id="34" idx="2"/>
          </p:cNvCxnSpPr>
          <p:nvPr/>
        </p:nvCxnSpPr>
        <p:spPr>
          <a:xfrm rot="5400000">
            <a:off x="7367587" y="2565401"/>
            <a:ext cx="428625" cy="381000"/>
          </a:xfrm>
          <a:prstGeom prst="bentConnector3">
            <a:avLst>
              <a:gd name="adj1" fmla="val 50000"/>
            </a:avLst>
          </a:prstGeom>
          <a:ln w="254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mtClean="0"/>
              <a:t>Objectives</a:t>
            </a:r>
          </a:p>
        </p:txBody>
      </p:sp>
      <p:sp>
        <p:nvSpPr>
          <p:cNvPr id="9219" name="Content Placeholder 2"/>
          <p:cNvSpPr>
            <a:spLocks noGrp="1"/>
          </p:cNvSpPr>
          <p:nvPr>
            <p:ph idx="1"/>
          </p:nvPr>
        </p:nvSpPr>
        <p:spPr/>
        <p:txBody>
          <a:bodyPr/>
          <a:lstStyle/>
          <a:p>
            <a:pPr>
              <a:buFontTx/>
              <a:buNone/>
            </a:pPr>
            <a:r>
              <a:rPr lang="en-US" sz="2400" smtClean="0"/>
              <a:t>To address the needs of the research community by providing-</a:t>
            </a:r>
          </a:p>
          <a:p>
            <a:pPr>
              <a:buFontTx/>
              <a:buNone/>
            </a:pPr>
            <a:endParaRPr lang="en-US" sz="2400" smtClean="0"/>
          </a:p>
          <a:p>
            <a:r>
              <a:rPr lang="en-US" sz="2400" smtClean="0"/>
              <a:t>(a) A standards-based biospecimen repository containing QA/QC data and associated pathology and clinical annotations.</a:t>
            </a:r>
          </a:p>
          <a:p>
            <a:pPr>
              <a:buFontTx/>
              <a:buNone/>
            </a:pPr>
            <a:endParaRPr lang="en-US" sz="2400" smtClean="0"/>
          </a:p>
          <a:p>
            <a:r>
              <a:rPr lang="en-US" sz="2400" smtClean="0"/>
              <a:t>(b) A centralized, standards-compliant repository for microarray data. </a:t>
            </a:r>
          </a:p>
          <a:p>
            <a:pPr>
              <a:buFontTx/>
              <a:buNone/>
            </a:pPr>
            <a:endParaRPr lang="en-US" sz="2400" smtClean="0"/>
          </a:p>
          <a:p>
            <a:r>
              <a:rPr lang="en-US" sz="2400" smtClean="0"/>
              <a:t>(c) Tools to analyze SNP microarray data to identify copy number aberrations.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dirty="0" err="1" smtClean="0"/>
              <a:t>caBIG</a:t>
            </a:r>
            <a:r>
              <a:rPr lang="en-US" baseline="30000" dirty="0" smtClean="0">
                <a:latin typeface="Arial Black" pitchFamily="34" charset="0"/>
              </a:rPr>
              <a:t>®</a:t>
            </a:r>
            <a:r>
              <a:rPr lang="en-US" dirty="0" smtClean="0"/>
              <a:t> </a:t>
            </a:r>
            <a:r>
              <a:rPr lang="en-US" dirty="0" smtClean="0"/>
              <a:t>tools adoption</a:t>
            </a:r>
          </a:p>
        </p:txBody>
      </p:sp>
      <p:sp>
        <p:nvSpPr>
          <p:cNvPr id="10243" name="Content Placeholder 2"/>
          <p:cNvSpPr>
            <a:spLocks noGrp="1"/>
          </p:cNvSpPr>
          <p:nvPr>
            <p:ph idx="1"/>
          </p:nvPr>
        </p:nvSpPr>
        <p:spPr>
          <a:xfrm>
            <a:off x="304800" y="1371600"/>
            <a:ext cx="8458200" cy="5181600"/>
          </a:xfrm>
        </p:spPr>
        <p:txBody>
          <a:bodyPr/>
          <a:lstStyle/>
          <a:p>
            <a:r>
              <a:rPr lang="en-US" sz="2600" dirty="0" err="1" smtClean="0">
                <a:solidFill>
                  <a:srgbClr val="6B6BCF"/>
                </a:solidFill>
              </a:rPr>
              <a:t>caTissue</a:t>
            </a:r>
            <a:r>
              <a:rPr lang="en-US" sz="2600" dirty="0" smtClean="0">
                <a:solidFill>
                  <a:srgbClr val="6B6BCF"/>
                </a:solidFill>
              </a:rPr>
              <a:t> Core </a:t>
            </a:r>
            <a:r>
              <a:rPr lang="en-US" sz="2600" dirty="0" smtClean="0"/>
              <a:t>: </a:t>
            </a:r>
            <a:r>
              <a:rPr lang="en-US" sz="2400" dirty="0" smtClean="0"/>
              <a:t>Storage of </a:t>
            </a:r>
            <a:r>
              <a:rPr lang="en-US" sz="2400" dirty="0" err="1" smtClean="0"/>
              <a:t>biospecimen</a:t>
            </a:r>
            <a:r>
              <a:rPr lang="en-US" sz="2400" dirty="0" smtClean="0"/>
              <a:t> data. v1.2.0.1 to manage ALL the </a:t>
            </a:r>
            <a:r>
              <a:rPr lang="en-US" sz="2400" dirty="0" err="1" smtClean="0"/>
              <a:t>biospecimens</a:t>
            </a:r>
            <a:r>
              <a:rPr lang="en-US" sz="2400" dirty="0" smtClean="0"/>
              <a:t> housed by the SCC Tissue Procurement Core. A subset of de-identified </a:t>
            </a:r>
            <a:r>
              <a:rPr lang="en-US" sz="2400" dirty="0" err="1" smtClean="0"/>
              <a:t>biospecimen</a:t>
            </a:r>
            <a:r>
              <a:rPr lang="en-US" sz="2400" dirty="0" smtClean="0"/>
              <a:t> data is shared through a publicly available </a:t>
            </a:r>
            <a:r>
              <a:rPr lang="en-US" sz="2400" dirty="0" err="1" smtClean="0"/>
              <a:t>caTissue</a:t>
            </a:r>
            <a:r>
              <a:rPr lang="en-US" sz="2400" dirty="0" smtClean="0"/>
              <a:t> Core v1.2.2 instance.</a:t>
            </a:r>
          </a:p>
          <a:p>
            <a:pPr>
              <a:buFontTx/>
              <a:buNone/>
            </a:pPr>
            <a:endParaRPr lang="en-US" sz="2400" dirty="0" smtClean="0"/>
          </a:p>
          <a:p>
            <a:r>
              <a:rPr lang="en-US" sz="2600" dirty="0" err="1" smtClean="0">
                <a:solidFill>
                  <a:srgbClr val="6B6BCF"/>
                </a:solidFill>
              </a:rPr>
              <a:t>caArray</a:t>
            </a:r>
            <a:r>
              <a:rPr lang="en-US" sz="2600" dirty="0" smtClean="0"/>
              <a:t>:</a:t>
            </a:r>
            <a:r>
              <a:rPr lang="en-US" sz="2600" dirty="0" smtClean="0">
                <a:solidFill>
                  <a:srgbClr val="FF0000"/>
                </a:solidFill>
              </a:rPr>
              <a:t> </a:t>
            </a:r>
            <a:r>
              <a:rPr lang="en-US" sz="2400" dirty="0" smtClean="0"/>
              <a:t>Storage of microarray data (expression and SNP). v1.5, v1.6 ,v2.0 and v2.1</a:t>
            </a:r>
          </a:p>
          <a:p>
            <a:pPr>
              <a:buFontTx/>
              <a:buNone/>
            </a:pPr>
            <a:endParaRPr lang="en-US" sz="2400" dirty="0" smtClean="0"/>
          </a:p>
          <a:p>
            <a:r>
              <a:rPr lang="en-US" sz="2600" dirty="0" smtClean="0">
                <a:solidFill>
                  <a:srgbClr val="6B6BCF"/>
                </a:solidFill>
              </a:rPr>
              <a:t>Analytical services</a:t>
            </a:r>
            <a:r>
              <a:rPr lang="en-US" sz="2600" dirty="0" smtClean="0"/>
              <a:t>: </a:t>
            </a:r>
            <a:r>
              <a:rPr lang="en-US" sz="2400" dirty="0" smtClean="0"/>
              <a:t>Development of SNP microarray Analytical Services for identifying copy number aberrations.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smtClean="0"/>
              <a:t>caTissue Core</a:t>
            </a:r>
          </a:p>
        </p:txBody>
      </p:sp>
      <p:sp>
        <p:nvSpPr>
          <p:cNvPr id="11267" name="Content Placeholder 3"/>
          <p:cNvSpPr>
            <a:spLocks noGrp="1"/>
          </p:cNvSpPr>
          <p:nvPr>
            <p:ph idx="1"/>
          </p:nvPr>
        </p:nvSpPr>
        <p:spPr/>
        <p:txBody>
          <a:bodyPr/>
          <a:lstStyle/>
          <a:p>
            <a:pPr>
              <a:buFontTx/>
              <a:buNone/>
            </a:pPr>
            <a:r>
              <a:rPr lang="en-US" sz="2000" u="sng" smtClean="0"/>
              <a:t>Prominent Features of caTissue Core include</a:t>
            </a:r>
            <a:r>
              <a:rPr lang="en-US" sz="2000" smtClean="0"/>
              <a:t>: </a:t>
            </a:r>
          </a:p>
          <a:p>
            <a:pPr>
              <a:buFontTx/>
              <a:buNone/>
            </a:pPr>
            <a:endParaRPr lang="en-US" sz="2000" smtClean="0"/>
          </a:p>
          <a:p>
            <a:r>
              <a:rPr lang="en-US" sz="2000" smtClean="0"/>
              <a:t>Web-based application for entering or searching for biospecimens. </a:t>
            </a:r>
          </a:p>
          <a:p>
            <a:r>
              <a:rPr lang="en-US" sz="2000" smtClean="0"/>
              <a:t>Tracking of multiple specimens from the same participant. </a:t>
            </a:r>
          </a:p>
          <a:p>
            <a:r>
              <a:rPr lang="en-US" sz="2000" smtClean="0"/>
              <a:t>Tracking of refined materials (RNA, DNA, Protein) that are used for molecular analysis. </a:t>
            </a:r>
          </a:p>
          <a:p>
            <a:r>
              <a:rPr lang="en-US" sz="2000" smtClean="0"/>
              <a:t>Role-based permission scheme for repository personnel and researchers. </a:t>
            </a:r>
          </a:p>
          <a:p>
            <a:r>
              <a:rPr lang="en-US" sz="2000" smtClean="0"/>
              <a:t>Tracking of quality assurance, distribution, derivation, and aliquotting of biospecimens.</a:t>
            </a:r>
          </a:p>
          <a:p>
            <a:r>
              <a:rPr lang="en-US" sz="2000" smtClean="0"/>
              <a:t>Finding and requesting specimens required by researchers.</a:t>
            </a:r>
          </a:p>
          <a:p>
            <a:pPr>
              <a:buFontTx/>
              <a:buNone/>
            </a:pPr>
            <a:r>
              <a:rPr lang="en-US" sz="1200" b="0" smtClean="0"/>
              <a:t> </a:t>
            </a:r>
          </a:p>
          <a:p>
            <a:pPr>
              <a:buFontTx/>
              <a:buNone/>
            </a:pPr>
            <a:r>
              <a:rPr lang="en-US" sz="1200" b="0" smtClean="0"/>
              <a:t>				</a:t>
            </a:r>
          </a:p>
          <a:p>
            <a:pPr>
              <a:buFontTx/>
              <a:buNone/>
            </a:pPr>
            <a:r>
              <a:rPr lang="en-US" sz="1200" b="0" smtClean="0"/>
              <a:t>							(http://cabig.cancer.gov/action/tools.asp;caTissue_toolsheet_31208v1_Final.pdf)</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mtClean="0"/>
              <a:t>Our instance of caTissue</a:t>
            </a:r>
          </a:p>
        </p:txBody>
      </p:sp>
      <p:sp>
        <p:nvSpPr>
          <p:cNvPr id="12291" name="Content Placeholder 2"/>
          <p:cNvSpPr>
            <a:spLocks noGrp="1"/>
          </p:cNvSpPr>
          <p:nvPr>
            <p:ph idx="1"/>
          </p:nvPr>
        </p:nvSpPr>
        <p:spPr>
          <a:xfrm>
            <a:off x="304800" y="2133600"/>
            <a:ext cx="8458200" cy="3276600"/>
          </a:xfrm>
        </p:spPr>
        <p:txBody>
          <a:bodyPr/>
          <a:lstStyle/>
          <a:p>
            <a:pPr>
              <a:buFontTx/>
              <a:buNone/>
            </a:pPr>
            <a:r>
              <a:rPr lang="en-US" sz="2400" dirty="0" smtClean="0"/>
              <a:t>Our instance of </a:t>
            </a:r>
            <a:r>
              <a:rPr lang="en-US" sz="2400" dirty="0" err="1" smtClean="0"/>
              <a:t>caTissue</a:t>
            </a:r>
            <a:r>
              <a:rPr lang="en-US" sz="2400" dirty="0" smtClean="0"/>
              <a:t> Core v1.2.2 can be accessed at </a:t>
            </a:r>
            <a:r>
              <a:rPr lang="en-US" sz="2400" u="sng" dirty="0" smtClean="0">
                <a:hlinkClick r:id="rId3"/>
              </a:rPr>
              <a:t>http://catissueshare.wustl.edu:48080/catissuecore</a:t>
            </a:r>
            <a:endParaRPr lang="en-US" sz="2400" u="sng" dirty="0" smtClean="0"/>
          </a:p>
          <a:p>
            <a:pPr>
              <a:buFontTx/>
              <a:buNone/>
            </a:pPr>
            <a:endParaRPr lang="en-US" sz="2400" dirty="0" smtClean="0"/>
          </a:p>
          <a:p>
            <a:pPr>
              <a:buFontTx/>
              <a:buNone/>
            </a:pPr>
            <a:r>
              <a:rPr lang="en-US" sz="2400" dirty="0" smtClean="0"/>
              <a:t>The </a:t>
            </a:r>
            <a:r>
              <a:rPr lang="en-US" sz="2400" dirty="0" err="1" smtClean="0"/>
              <a:t>caGrid</a:t>
            </a:r>
            <a:r>
              <a:rPr lang="en-US" sz="2400" dirty="0" smtClean="0"/>
              <a:t> service URL is- </a:t>
            </a:r>
            <a:r>
              <a:rPr lang="en-US" sz="2400" dirty="0" smtClean="0">
                <a:hlinkClick r:id="rId4"/>
              </a:rPr>
              <a:t>https://128.252.227.214:58443/wsrf/services/cagrid/CaTissueCore</a:t>
            </a:r>
            <a:r>
              <a:rPr lang="en-US" sz="2400" dirty="0" smtClean="0"/>
              <a:t> </a:t>
            </a:r>
          </a:p>
          <a:p>
            <a:endParaRPr lang="en-US"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smtClean="0"/>
              <a:t>Our instance of caTissue</a:t>
            </a:r>
          </a:p>
        </p:txBody>
      </p:sp>
      <p:sp>
        <p:nvSpPr>
          <p:cNvPr id="13315" name="Content Placeholder 2"/>
          <p:cNvSpPr>
            <a:spLocks noGrp="1"/>
          </p:cNvSpPr>
          <p:nvPr>
            <p:ph idx="1"/>
          </p:nvPr>
        </p:nvSpPr>
        <p:spPr/>
        <p:txBody>
          <a:bodyPr/>
          <a:lstStyle/>
          <a:p>
            <a:endParaRPr lang="en-US" sz="2800" smtClean="0"/>
          </a:p>
          <a:p>
            <a:r>
              <a:rPr lang="en-US" sz="2800" smtClean="0"/>
              <a:t>Investigators may register and be approved for access to this instance.  </a:t>
            </a:r>
          </a:p>
          <a:p>
            <a:pPr>
              <a:buFontTx/>
              <a:buNone/>
            </a:pPr>
            <a:endParaRPr lang="en-US" sz="2800" smtClean="0"/>
          </a:p>
          <a:p>
            <a:r>
              <a:rPr lang="en-US" sz="2800" smtClean="0"/>
              <a:t>Information on a total of 450 specimens including 103 cell specimens, 122 tissue specimens, and 225 molecular specimens are available on our caTissue Core instance. </a:t>
            </a:r>
            <a:endParaRPr lang="en-US"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52400" y="0"/>
            <a:ext cx="6858000" cy="1143000"/>
          </a:xfrm>
        </p:spPr>
        <p:txBody>
          <a:bodyPr/>
          <a:lstStyle/>
          <a:p>
            <a:r>
              <a:rPr lang="en-US" smtClean="0"/>
              <a:t>caTissue Core v1.2.2 </a:t>
            </a:r>
          </a:p>
        </p:txBody>
      </p:sp>
      <p:pic>
        <p:nvPicPr>
          <p:cNvPr id="14339" name="Picture 1"/>
          <p:cNvPicPr>
            <a:picLocks noGrp="1" noChangeAspect="1" noChangeArrowheads="1"/>
          </p:cNvPicPr>
          <p:nvPr>
            <p:ph idx="1"/>
          </p:nvPr>
        </p:nvPicPr>
        <p:blipFill>
          <a:blip r:embed="rId3"/>
          <a:srcRect t="2600" r="1440" b="5000"/>
          <a:stretch>
            <a:fillRect/>
          </a:stretch>
        </p:blipFill>
        <p:spPr>
          <a:xfrm>
            <a:off x="742950" y="1143000"/>
            <a:ext cx="7353300" cy="5514975"/>
          </a:xfr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mtClean="0"/>
              <a:t>Searching caTissue Core</a:t>
            </a:r>
          </a:p>
        </p:txBody>
      </p:sp>
      <p:pic>
        <p:nvPicPr>
          <p:cNvPr id="15363" name="Picture 4"/>
          <p:cNvPicPr>
            <a:picLocks noGrp="1" noChangeAspect="1" noChangeArrowheads="1"/>
          </p:cNvPicPr>
          <p:nvPr>
            <p:ph idx="1"/>
          </p:nvPr>
        </p:nvPicPr>
        <p:blipFill>
          <a:blip r:embed="rId3"/>
          <a:srcRect t="2667" r="1611" b="5333"/>
          <a:stretch>
            <a:fillRect/>
          </a:stretch>
        </p:blipFill>
        <p:spPr>
          <a:xfrm>
            <a:off x="1125538" y="1143000"/>
            <a:ext cx="7027862" cy="5257800"/>
          </a:xfr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smtClean="0"/>
              <a:t>Searching caTissue Core</a:t>
            </a:r>
          </a:p>
        </p:txBody>
      </p:sp>
      <p:pic>
        <p:nvPicPr>
          <p:cNvPr id="16387" name="Picture 5"/>
          <p:cNvPicPr>
            <a:picLocks noGrp="1" noChangeAspect="1" noChangeArrowheads="1"/>
          </p:cNvPicPr>
          <p:nvPr>
            <p:ph idx="1"/>
          </p:nvPr>
        </p:nvPicPr>
        <p:blipFill>
          <a:blip r:embed="rId3"/>
          <a:srcRect t="2013" b="5370"/>
          <a:stretch>
            <a:fillRect/>
          </a:stretch>
        </p:blipFill>
        <p:spPr>
          <a:xfrm>
            <a:off x="1211263" y="1295400"/>
            <a:ext cx="7096125" cy="5257800"/>
          </a:xfr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err="1" smtClean="0"/>
              <a:t>caArray</a:t>
            </a:r>
            <a:r>
              <a:rPr lang="en-US" dirty="0" smtClean="0"/>
              <a:t> v2.x</a:t>
            </a:r>
          </a:p>
        </p:txBody>
      </p:sp>
      <p:sp>
        <p:nvSpPr>
          <p:cNvPr id="17411" name="Content Placeholder 4"/>
          <p:cNvSpPr>
            <a:spLocks noGrp="1"/>
          </p:cNvSpPr>
          <p:nvPr>
            <p:ph idx="1"/>
          </p:nvPr>
        </p:nvSpPr>
        <p:spPr/>
        <p:txBody>
          <a:bodyPr/>
          <a:lstStyle/>
          <a:p>
            <a:r>
              <a:rPr lang="en-US" sz="2200" dirty="0" err="1" smtClean="0"/>
              <a:t>caArray</a:t>
            </a:r>
            <a:r>
              <a:rPr lang="en-US" sz="2200" dirty="0" smtClean="0"/>
              <a:t> is an open-source, web and programmatically accessible array data management system. </a:t>
            </a:r>
          </a:p>
          <a:p>
            <a:endParaRPr lang="en-US" sz="2200" dirty="0" smtClean="0"/>
          </a:p>
          <a:p>
            <a:r>
              <a:rPr lang="en-US" sz="2200" dirty="0" err="1" smtClean="0"/>
              <a:t>caArray</a:t>
            </a:r>
            <a:r>
              <a:rPr lang="en-US" sz="2200" dirty="0" smtClean="0"/>
              <a:t> guides the annotation and exchange of array data using a federated model of local installations whose results are shareable across the cancer Biomedical Informatics Grid (</a:t>
            </a:r>
            <a:r>
              <a:rPr lang="en-US" sz="2200" dirty="0" err="1" smtClean="0"/>
              <a:t>caBIG</a:t>
            </a:r>
            <a:r>
              <a:rPr lang="en-US" sz="2400" baseline="30000" dirty="0" smtClean="0">
                <a:latin typeface="Arial Black" pitchFamily="34" charset="0"/>
              </a:rPr>
              <a:t>®</a:t>
            </a:r>
            <a:r>
              <a:rPr lang="en-US" sz="2200" dirty="0" smtClean="0"/>
              <a:t>).</a:t>
            </a:r>
            <a:endParaRPr lang="en-US" sz="2200" dirty="0" smtClean="0"/>
          </a:p>
          <a:p>
            <a:pPr>
              <a:buFontTx/>
              <a:buNone/>
            </a:pPr>
            <a:endParaRPr lang="en-US" sz="2200" dirty="0" smtClean="0"/>
          </a:p>
          <a:p>
            <a:r>
              <a:rPr lang="en-US" sz="2200" dirty="0" err="1" smtClean="0"/>
              <a:t>caArray</a:t>
            </a:r>
            <a:r>
              <a:rPr lang="en-US" sz="2200" dirty="0" smtClean="0"/>
              <a:t> furthers translational cancer research through acquisition, dissemination and aggregation of semantically interoperable array data to support subsequent analysis by tools and services on and off the Grid. </a:t>
            </a:r>
          </a:p>
          <a:p>
            <a:pPr algn="r">
              <a:buFontTx/>
              <a:buNone/>
            </a:pPr>
            <a:endParaRPr lang="en-US" sz="1000" dirty="0" smtClean="0">
              <a:hlinkClick r:id="rId3"/>
            </a:endParaRPr>
          </a:p>
          <a:p>
            <a:pPr algn="r">
              <a:buFontTx/>
              <a:buNone/>
            </a:pPr>
            <a:endParaRPr lang="en-US" sz="1000" dirty="0" smtClean="0">
              <a:hlinkClick r:id="rId3"/>
            </a:endParaRPr>
          </a:p>
          <a:p>
            <a:pPr algn="r">
              <a:buFontTx/>
              <a:buNone/>
            </a:pPr>
            <a:endParaRPr lang="en-US" sz="1000" dirty="0" smtClean="0">
              <a:hlinkClick r:id="rId3"/>
            </a:endParaRPr>
          </a:p>
          <a:p>
            <a:pPr algn="r">
              <a:buFontTx/>
              <a:buNone/>
            </a:pPr>
            <a:endParaRPr lang="en-US" sz="1000" dirty="0" smtClean="0">
              <a:hlinkClick r:id="rId3"/>
            </a:endParaRPr>
          </a:p>
          <a:p>
            <a:pPr algn="r">
              <a:buFontTx/>
              <a:buNone/>
            </a:pPr>
            <a:endParaRPr lang="en-US" sz="1000" dirty="0" smtClean="0">
              <a:hlinkClick r:id="rId3"/>
            </a:endParaRPr>
          </a:p>
          <a:p>
            <a:endParaRPr lang="en-US" sz="2200" dirty="0" smtClean="0"/>
          </a:p>
          <a:p>
            <a:endParaRPr lang="en-US" dirty="0" smtClean="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t>Our instance of </a:t>
            </a:r>
            <a:r>
              <a:rPr lang="en-US" dirty="0" err="1" smtClean="0"/>
              <a:t>caArray</a:t>
            </a:r>
            <a:r>
              <a:rPr lang="en-US" dirty="0" smtClean="0"/>
              <a:t> v2.1</a:t>
            </a:r>
          </a:p>
        </p:txBody>
      </p:sp>
      <p:pic>
        <p:nvPicPr>
          <p:cNvPr id="2050" name="Picture 2"/>
          <p:cNvPicPr>
            <a:picLocks noChangeAspect="1" noChangeArrowheads="1"/>
          </p:cNvPicPr>
          <p:nvPr/>
        </p:nvPicPr>
        <p:blipFill>
          <a:blip r:embed="rId3"/>
          <a:srcRect t="17708" b="4167"/>
          <a:stretch>
            <a:fillRect/>
          </a:stretch>
        </p:blipFill>
        <p:spPr bwMode="auto">
          <a:xfrm>
            <a:off x="381000" y="1295400"/>
            <a:ext cx="8583168" cy="5029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t>Our instance of </a:t>
            </a:r>
            <a:r>
              <a:rPr lang="en-US" dirty="0" err="1" smtClean="0"/>
              <a:t>caArray</a:t>
            </a:r>
            <a:r>
              <a:rPr lang="en-US" dirty="0" smtClean="0"/>
              <a:t> v2.1</a:t>
            </a:r>
          </a:p>
        </p:txBody>
      </p:sp>
      <p:sp>
        <p:nvSpPr>
          <p:cNvPr id="19459" name="Content Placeholder 2"/>
          <p:cNvSpPr>
            <a:spLocks noGrp="1"/>
          </p:cNvSpPr>
          <p:nvPr>
            <p:ph idx="1"/>
          </p:nvPr>
        </p:nvSpPr>
        <p:spPr>
          <a:xfrm>
            <a:off x="304800" y="1143000"/>
            <a:ext cx="8458200" cy="5410200"/>
          </a:xfrm>
        </p:spPr>
        <p:txBody>
          <a:bodyPr/>
          <a:lstStyle/>
          <a:p>
            <a:pPr>
              <a:buFontTx/>
              <a:buNone/>
            </a:pPr>
            <a:endParaRPr lang="en-US" sz="1800" dirty="0" smtClean="0"/>
          </a:p>
          <a:p>
            <a:pPr>
              <a:buFontTx/>
              <a:buNone/>
            </a:pPr>
            <a:r>
              <a:rPr lang="en-US" sz="1800" dirty="0" smtClean="0"/>
              <a:t>Our instance of </a:t>
            </a:r>
            <a:r>
              <a:rPr lang="en-US" sz="1800" dirty="0" err="1" smtClean="0"/>
              <a:t>caArray</a:t>
            </a:r>
            <a:r>
              <a:rPr lang="en-US" sz="1800" dirty="0" smtClean="0"/>
              <a:t> v2.1 can be accessed at </a:t>
            </a:r>
            <a:r>
              <a:rPr lang="en-US" sz="1800" u="sng" dirty="0" smtClean="0">
                <a:hlinkClick r:id="rId3"/>
              </a:rPr>
              <a:t>http://caarray.wustl.edu/caarray</a:t>
            </a:r>
            <a:endParaRPr lang="en-US" sz="1800" u="sng" dirty="0" smtClean="0"/>
          </a:p>
          <a:p>
            <a:pPr>
              <a:buFontTx/>
              <a:buNone/>
            </a:pPr>
            <a:endParaRPr lang="en-US" sz="1800" dirty="0" smtClean="0"/>
          </a:p>
          <a:p>
            <a:pPr>
              <a:buFontTx/>
              <a:buNone/>
            </a:pPr>
            <a:r>
              <a:rPr lang="en-US" sz="1800" dirty="0" smtClean="0"/>
              <a:t>To access our instance as a </a:t>
            </a:r>
            <a:r>
              <a:rPr lang="en-US" sz="1800" dirty="0" err="1" smtClean="0"/>
              <a:t>caGrid</a:t>
            </a:r>
            <a:r>
              <a:rPr lang="en-US" sz="1800" dirty="0" smtClean="0"/>
              <a:t> service, please use the following information:  </a:t>
            </a:r>
          </a:p>
          <a:p>
            <a:endParaRPr lang="en-US" sz="1800" dirty="0" smtClean="0"/>
          </a:p>
          <a:p>
            <a:r>
              <a:rPr lang="en-US" sz="1800" dirty="0" smtClean="0"/>
              <a:t>For firing queries and fetching objects from </a:t>
            </a:r>
            <a:r>
              <a:rPr lang="en-US" sz="1800" dirty="0" err="1" smtClean="0"/>
              <a:t>caArray</a:t>
            </a:r>
            <a:r>
              <a:rPr lang="en-US" sz="1800" dirty="0" smtClean="0"/>
              <a:t> v2.1: </a:t>
            </a:r>
            <a:r>
              <a:rPr lang="en-US" sz="1800" dirty="0" smtClean="0">
                <a:hlinkClick r:id="rId4"/>
              </a:rPr>
              <a:t>http://caarray.wustl.edu:18080/wsrf/services/cagrid/CaArraySvc</a:t>
            </a:r>
            <a:endParaRPr lang="en-US" sz="1800" dirty="0" smtClean="0"/>
          </a:p>
          <a:p>
            <a:endParaRPr lang="en-US" sz="1800" dirty="0" smtClean="0"/>
          </a:p>
          <a:p>
            <a:r>
              <a:rPr lang="en-US" sz="1800" dirty="0" smtClean="0"/>
              <a:t>For downloading CEL files, use:</a:t>
            </a:r>
          </a:p>
          <a:p>
            <a:pPr>
              <a:buFontTx/>
              <a:buNone/>
            </a:pPr>
            <a:r>
              <a:rPr lang="en-US" sz="1800" dirty="0" smtClean="0"/>
              <a:t>			SERVER_NAME 	 	= "caarray.wustl.edu"</a:t>
            </a:r>
          </a:p>
          <a:p>
            <a:pPr>
              <a:buFontTx/>
              <a:buNone/>
            </a:pPr>
            <a:r>
              <a:rPr lang="en-US" sz="1800" dirty="0" smtClean="0"/>
              <a:t>			JNDI_PORT		= 11099</a:t>
            </a:r>
          </a:p>
          <a:p>
            <a:pPr>
              <a:buFontTx/>
              <a:buNone/>
            </a:pPr>
            <a:r>
              <a:rPr lang="en-US" sz="1800" dirty="0" smtClean="0"/>
              <a:t>			GRID_SERVICE_PORT 	= 18080</a:t>
            </a:r>
          </a:p>
          <a:p>
            <a:pPr>
              <a:buFontTx/>
              <a:buNone/>
            </a:pPr>
            <a:endParaRPr lang="en-US"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t>Our instance of </a:t>
            </a:r>
            <a:r>
              <a:rPr lang="en-US" dirty="0" err="1" smtClean="0"/>
              <a:t>caArray</a:t>
            </a:r>
            <a:r>
              <a:rPr lang="en-US" dirty="0" smtClean="0"/>
              <a:t> v2.1</a:t>
            </a:r>
          </a:p>
        </p:txBody>
      </p:sp>
      <p:sp>
        <p:nvSpPr>
          <p:cNvPr id="20483" name="Content Placeholder 2"/>
          <p:cNvSpPr>
            <a:spLocks noGrp="1"/>
          </p:cNvSpPr>
          <p:nvPr>
            <p:ph idx="1"/>
          </p:nvPr>
        </p:nvSpPr>
        <p:spPr>
          <a:xfrm>
            <a:off x="304800" y="1371600"/>
            <a:ext cx="8839200" cy="4953000"/>
          </a:xfrm>
        </p:spPr>
        <p:txBody>
          <a:bodyPr/>
          <a:lstStyle/>
          <a:p>
            <a:pPr>
              <a:buFontTx/>
              <a:buNone/>
            </a:pPr>
            <a:r>
              <a:rPr lang="en-US" sz="2400" b="0" u="sng" smtClean="0"/>
              <a:t>There are four public experiments</a:t>
            </a:r>
          </a:p>
          <a:p>
            <a:pPr>
              <a:buFontTx/>
              <a:buNone/>
            </a:pPr>
            <a:endParaRPr lang="en-US" sz="2400" b="0" u="sng" smtClean="0"/>
          </a:p>
          <a:p>
            <a:r>
              <a:rPr lang="en-US" sz="2400" b="0" smtClean="0"/>
              <a:t>Acute Myeloid Leukemia Project : 185 CEL files</a:t>
            </a:r>
          </a:p>
          <a:p>
            <a:endParaRPr lang="en-US" sz="2400" b="0" smtClean="0"/>
          </a:p>
          <a:p>
            <a:r>
              <a:rPr lang="en-US" sz="2400" b="0" smtClean="0"/>
              <a:t>Gene Expression profiling in Pilocytic Astrocytoma : 41 CEL files</a:t>
            </a:r>
          </a:p>
          <a:p>
            <a:endParaRPr lang="en-US" sz="2400" b="0" smtClean="0"/>
          </a:p>
          <a:p>
            <a:r>
              <a:rPr lang="en-US" sz="2400" b="0" smtClean="0"/>
              <a:t>Gene regulation in murine APL cells : 53 CEL files</a:t>
            </a:r>
          </a:p>
          <a:p>
            <a:pPr>
              <a:buFontTx/>
              <a:buNone/>
            </a:pPr>
            <a:endParaRPr lang="en-US" sz="2400" b="0" smtClean="0"/>
          </a:p>
          <a:p>
            <a:r>
              <a:rPr lang="en-US" sz="2400" b="0" smtClean="0"/>
              <a:t>Pilocytic Astrocytoma : Genome-wide copy number profiling: 40 CEL files</a:t>
            </a:r>
          </a:p>
          <a:p>
            <a:pPr>
              <a:buFontTx/>
              <a:buNone/>
            </a:pPr>
            <a:endParaRPr lang="en-US" sz="2800" b="0" smtClean="0"/>
          </a:p>
          <a:p>
            <a:pPr>
              <a:buFontTx/>
              <a:buNone/>
            </a:pPr>
            <a:endParaRPr lang="en-US" sz="2800" b="0" smtClean="0"/>
          </a:p>
          <a:p>
            <a:pPr>
              <a:buFontTx/>
              <a:buNone/>
            </a:pPr>
            <a:endParaRPr lang="en-US" sz="280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err="1" smtClean="0"/>
              <a:t>caArray</a:t>
            </a:r>
            <a:r>
              <a:rPr lang="en-US" dirty="0" smtClean="0"/>
              <a:t> v2.1</a:t>
            </a:r>
          </a:p>
        </p:txBody>
      </p:sp>
      <p:pic>
        <p:nvPicPr>
          <p:cNvPr id="3074" name="Picture 2"/>
          <p:cNvPicPr>
            <a:picLocks noGrp="1" noChangeAspect="1" noChangeArrowheads="1"/>
          </p:cNvPicPr>
          <p:nvPr>
            <p:ph idx="1"/>
          </p:nvPr>
        </p:nvPicPr>
        <p:blipFill>
          <a:blip r:embed="rId3"/>
          <a:srcRect t="17647" b="5882"/>
          <a:stretch>
            <a:fillRect/>
          </a:stretch>
        </p:blipFill>
        <p:spPr bwMode="auto">
          <a:xfrm>
            <a:off x="685799" y="1447800"/>
            <a:ext cx="7705969" cy="44196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smtClean="0"/>
              <a:t>Data For Download</a:t>
            </a:r>
          </a:p>
        </p:txBody>
      </p:sp>
      <p:pic>
        <p:nvPicPr>
          <p:cNvPr id="4098" name="Picture 2"/>
          <p:cNvPicPr>
            <a:picLocks noChangeAspect="1" noChangeArrowheads="1"/>
          </p:cNvPicPr>
          <p:nvPr/>
        </p:nvPicPr>
        <p:blipFill>
          <a:blip r:embed="rId3"/>
          <a:srcRect t="17708" b="4167"/>
          <a:stretch>
            <a:fillRect/>
          </a:stretch>
        </p:blipFill>
        <p:spPr bwMode="auto">
          <a:xfrm>
            <a:off x="228600" y="1295400"/>
            <a:ext cx="8610600" cy="504527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76200" y="0"/>
            <a:ext cx="7391400" cy="1143000"/>
          </a:xfrm>
        </p:spPr>
        <p:txBody>
          <a:bodyPr/>
          <a:lstStyle/>
          <a:p>
            <a:pPr eaLnBrk="1" hangingPunct="1"/>
            <a:r>
              <a:rPr lang="en-US" smtClean="0"/>
              <a:t>Why we need SNP analytical services?</a:t>
            </a:r>
          </a:p>
        </p:txBody>
      </p:sp>
      <p:sp>
        <p:nvSpPr>
          <p:cNvPr id="23555" name="Content Placeholder 2"/>
          <p:cNvSpPr>
            <a:spLocks noGrp="1"/>
          </p:cNvSpPr>
          <p:nvPr>
            <p:ph idx="1"/>
          </p:nvPr>
        </p:nvSpPr>
        <p:spPr/>
        <p:txBody>
          <a:bodyPr/>
          <a:lstStyle/>
          <a:p>
            <a:pPr eaLnBrk="1" hangingPunct="1"/>
            <a:r>
              <a:rPr lang="en-US" sz="2000" smtClean="0"/>
              <a:t>While independent tools exist to analyze SNP array data, there are no tools that facilitate the entire analysis workflow. </a:t>
            </a:r>
          </a:p>
          <a:p>
            <a:pPr eaLnBrk="1" hangingPunct="1">
              <a:buFontTx/>
              <a:buNone/>
            </a:pPr>
            <a:r>
              <a:rPr lang="en-US" sz="2000" smtClean="0"/>
              <a:t>  </a:t>
            </a:r>
          </a:p>
          <a:p>
            <a:pPr eaLnBrk="1" hangingPunct="1"/>
            <a:r>
              <a:rPr lang="en-US" sz="2000" smtClean="0"/>
              <a:t>The SNP array analysis tools available to date are not very user-friendly (i.e. for a bench scientist or translational researcher).  </a:t>
            </a:r>
          </a:p>
          <a:p>
            <a:pPr eaLnBrk="1" hangingPunct="1"/>
            <a:endParaRPr lang="en-US" sz="2000" smtClean="0"/>
          </a:p>
          <a:p>
            <a:pPr eaLnBrk="1" hangingPunct="1"/>
            <a:r>
              <a:rPr lang="en-US" sz="2000" smtClean="0"/>
              <a:t>Most often the workflow becomes very complicated when multiple tools are used. </a:t>
            </a:r>
          </a:p>
          <a:p>
            <a:pPr eaLnBrk="1" hangingPunct="1">
              <a:buFontTx/>
              <a:buNone/>
            </a:pPr>
            <a:r>
              <a:rPr lang="en-US" sz="2000" smtClean="0"/>
              <a:t> </a:t>
            </a:r>
          </a:p>
          <a:p>
            <a:pPr eaLnBrk="1" hangingPunct="1"/>
            <a:r>
              <a:rPr lang="en-US" sz="2000" smtClean="0"/>
              <a:t>We aimed at providing “one-stop shop” software that analyzes SNP data for copy number changes utilizing some newly developed and other available tools.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76200" y="0"/>
            <a:ext cx="6858000" cy="1143000"/>
          </a:xfrm>
        </p:spPr>
        <p:txBody>
          <a:bodyPr/>
          <a:lstStyle/>
          <a:p>
            <a:pPr eaLnBrk="1" hangingPunct="1"/>
            <a:r>
              <a:rPr lang="en-US" dirty="0" smtClean="0"/>
              <a:t>SNP Microarray Analytical Services</a:t>
            </a:r>
          </a:p>
        </p:txBody>
      </p:sp>
      <p:sp>
        <p:nvSpPr>
          <p:cNvPr id="24579" name="Rectangle 3"/>
          <p:cNvSpPr>
            <a:spLocks noGrp="1" noChangeArrowheads="1"/>
          </p:cNvSpPr>
          <p:nvPr>
            <p:ph type="body" idx="1"/>
          </p:nvPr>
        </p:nvSpPr>
        <p:spPr>
          <a:xfrm>
            <a:off x="304800" y="1371600"/>
            <a:ext cx="8839200" cy="4953000"/>
          </a:xfrm>
        </p:spPr>
        <p:txBody>
          <a:bodyPr/>
          <a:lstStyle/>
          <a:p>
            <a:pPr marL="0" indent="0" eaLnBrk="1" hangingPunct="1">
              <a:buFontTx/>
              <a:buNone/>
            </a:pPr>
            <a:r>
              <a:rPr lang="en-US" sz="2400" dirty="0" smtClean="0"/>
              <a:t>The analytical services we developed for SNP Microarray Analytical Services for identifying copy number aberrations-</a:t>
            </a:r>
          </a:p>
          <a:p>
            <a:pPr marL="0" indent="0" eaLnBrk="1" hangingPunct="1"/>
            <a:endParaRPr lang="en-US" sz="1600" b="0" dirty="0" smtClean="0"/>
          </a:p>
          <a:p>
            <a:pPr lvl="1" eaLnBrk="1" hangingPunct="1"/>
            <a:r>
              <a:rPr lang="en-US" sz="2000" dirty="0" smtClean="0"/>
              <a:t>Copy Number Analysis Tool (CNAT) Analytical Service</a:t>
            </a:r>
          </a:p>
          <a:p>
            <a:pPr lvl="1" eaLnBrk="1" hangingPunct="1"/>
            <a:r>
              <a:rPr lang="en-US" sz="2000" dirty="0" err="1" smtClean="0"/>
              <a:t>GenePattern</a:t>
            </a:r>
            <a:r>
              <a:rPr lang="en-US" sz="2000" dirty="0" smtClean="0"/>
              <a:t> Based Copy Number Analytical Service</a:t>
            </a:r>
          </a:p>
          <a:p>
            <a:pPr lvl="1" eaLnBrk="1" hangingPunct="1"/>
            <a:r>
              <a:rPr lang="en-US" sz="2000" dirty="0" err="1" smtClean="0"/>
              <a:t>DNAcopy</a:t>
            </a:r>
            <a:r>
              <a:rPr lang="en-US" sz="2000" dirty="0" smtClean="0"/>
              <a:t> Analytical Service</a:t>
            </a:r>
          </a:p>
          <a:p>
            <a:pPr lvl="1" eaLnBrk="1" hangingPunct="1"/>
            <a:r>
              <a:rPr lang="en-US" sz="2000" dirty="0" smtClean="0"/>
              <a:t>Chromosomal Segment Overlap Finder Across Sources</a:t>
            </a:r>
          </a:p>
          <a:p>
            <a:pPr lvl="1" eaLnBrk="1" hangingPunct="1"/>
            <a:r>
              <a:rPr lang="en-US" sz="2000" dirty="0" smtClean="0"/>
              <a:t>Chromosomal Segment Overlap Finder Across Samples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04800" y="0"/>
            <a:ext cx="7086600" cy="1143000"/>
          </a:xfrm>
        </p:spPr>
        <p:txBody>
          <a:bodyPr/>
          <a:lstStyle/>
          <a:p>
            <a:pPr eaLnBrk="1" hangingPunct="1"/>
            <a:r>
              <a:rPr lang="en-US" dirty="0" smtClean="0"/>
              <a:t>Segment Level Unpaired SNP Copy Number Analysis</a:t>
            </a:r>
          </a:p>
        </p:txBody>
      </p:sp>
      <p:pic>
        <p:nvPicPr>
          <p:cNvPr id="1026" name="Object 1"/>
          <p:cNvPicPr>
            <a:picLocks noChangeArrowheads="1"/>
          </p:cNvPicPr>
          <p:nvPr/>
        </p:nvPicPr>
        <p:blipFill>
          <a:blip r:embed="rId3"/>
          <a:srcRect b="-153"/>
          <a:stretch>
            <a:fillRect/>
          </a:stretch>
        </p:blipFill>
        <p:spPr bwMode="auto">
          <a:xfrm>
            <a:off x="1143000" y="1219200"/>
            <a:ext cx="6553200" cy="5410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304800" y="228600"/>
            <a:ext cx="6858000" cy="914400"/>
          </a:xfrm>
        </p:spPr>
        <p:txBody>
          <a:bodyPr/>
          <a:lstStyle/>
          <a:p>
            <a:r>
              <a:rPr lang="en-US" dirty="0" smtClean="0"/>
              <a:t>Copy Number Analysis Tool (CNAT) Analytical Service</a:t>
            </a:r>
            <a:r>
              <a:rPr lang="en-US" i="1" dirty="0" smtClean="0"/>
              <a:t/>
            </a:r>
            <a:br>
              <a:rPr lang="en-US" i="1" dirty="0" smtClean="0"/>
            </a:br>
            <a:endParaRPr lang="en-US" dirty="0" smtClean="0"/>
          </a:p>
        </p:txBody>
      </p:sp>
      <p:sp>
        <p:nvSpPr>
          <p:cNvPr id="26627" name="Content Placeholder 2"/>
          <p:cNvSpPr>
            <a:spLocks noGrp="1"/>
          </p:cNvSpPr>
          <p:nvPr>
            <p:ph idx="1"/>
          </p:nvPr>
        </p:nvSpPr>
        <p:spPr>
          <a:xfrm>
            <a:off x="304800" y="1371600"/>
            <a:ext cx="8458200" cy="5257800"/>
          </a:xfrm>
        </p:spPr>
        <p:txBody>
          <a:bodyPr/>
          <a:lstStyle/>
          <a:p>
            <a:r>
              <a:rPr lang="en-US" sz="2000" dirty="0" smtClean="0"/>
              <a:t>Implementing </a:t>
            </a:r>
            <a:r>
              <a:rPr lang="en-US" sz="2000" dirty="0" err="1" smtClean="0"/>
              <a:t>GeneChip</a:t>
            </a:r>
            <a:r>
              <a:rPr lang="en-US" sz="2000" dirty="0" smtClean="0"/>
              <a:t>® Genotyping Analysis Software (GTYPE) and CNAT (</a:t>
            </a:r>
            <a:r>
              <a:rPr lang="en-US" sz="2000" u="sng" dirty="0" smtClean="0">
                <a:hlinkClick r:id="rId3"/>
              </a:rPr>
              <a:t>http://www.affymetrix.com</a:t>
            </a:r>
            <a:r>
              <a:rPr lang="en-US" sz="2000" dirty="0" smtClean="0"/>
              <a:t>).</a:t>
            </a:r>
          </a:p>
          <a:p>
            <a:endParaRPr lang="en-US" sz="2000" dirty="0" smtClean="0"/>
          </a:p>
          <a:p>
            <a:r>
              <a:rPr lang="en-US" sz="2000" dirty="0" smtClean="0"/>
              <a:t>GTYPE is used to convert SNP microarray .CEL file to .CHP files and obtain the summary files.  .CHP files and summary files are required by CNAT as input.</a:t>
            </a:r>
          </a:p>
          <a:p>
            <a:endParaRPr lang="en-US" sz="2000" dirty="0" smtClean="0"/>
          </a:p>
          <a:p>
            <a:r>
              <a:rPr lang="en-US" sz="2000" dirty="0" smtClean="0"/>
              <a:t>CNAT will calculate the gains and losses in the copy number and output the results as a .TXT file at a single SNP level.</a:t>
            </a:r>
          </a:p>
          <a:p>
            <a:pPr>
              <a:buFontTx/>
              <a:buNone/>
            </a:pPr>
            <a:endParaRPr lang="en-US" sz="2000" dirty="0" smtClean="0"/>
          </a:p>
          <a:p>
            <a:r>
              <a:rPr lang="en-US" sz="2000" dirty="0" smtClean="0"/>
              <a:t>Chromosome and Physical Location columns in the output file are populated based on the human genome build 35.</a:t>
            </a:r>
          </a:p>
          <a:p>
            <a:pPr>
              <a:buNone/>
            </a:pPr>
            <a:endParaRPr lang="en-US" sz="2000" dirty="0" smtClean="0"/>
          </a:p>
          <a:p>
            <a:pPr marL="342900" lvl="1" indent="-342900"/>
            <a:r>
              <a:rPr lang="en-US" sz="2000" b="1" dirty="0" smtClean="0"/>
              <a:t>Service URL </a:t>
            </a:r>
            <a:r>
              <a:rPr lang="en-US" sz="2000" b="1" u="sng" dirty="0" smtClean="0">
                <a:hlinkClick r:id="rId4"/>
              </a:rPr>
              <a:t>http://linuxcomp64.wustl.edu:9880/wsrf/services/cagrid/CNAT</a:t>
            </a:r>
            <a:endParaRPr lang="en-US" sz="2000" b="1"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304800" y="228600"/>
            <a:ext cx="6858000" cy="914400"/>
          </a:xfrm>
        </p:spPr>
        <p:txBody>
          <a:bodyPr/>
          <a:lstStyle/>
          <a:p>
            <a:r>
              <a:rPr lang="en-US" smtClean="0"/>
              <a:t>GenePattern Based Copy Number Analytical Service</a:t>
            </a:r>
            <a:r>
              <a:rPr lang="en-US" i="1" smtClean="0"/>
              <a:t/>
            </a:r>
            <a:br>
              <a:rPr lang="en-US" i="1" smtClean="0"/>
            </a:br>
            <a:endParaRPr lang="en-US" smtClean="0"/>
          </a:p>
        </p:txBody>
      </p:sp>
      <p:sp>
        <p:nvSpPr>
          <p:cNvPr id="27651" name="Content Placeholder 2"/>
          <p:cNvSpPr>
            <a:spLocks noGrp="1"/>
          </p:cNvSpPr>
          <p:nvPr>
            <p:ph idx="1"/>
          </p:nvPr>
        </p:nvSpPr>
        <p:spPr>
          <a:xfrm>
            <a:off x="304800" y="838200"/>
            <a:ext cx="8458200" cy="5943600"/>
          </a:xfrm>
        </p:spPr>
        <p:txBody>
          <a:bodyPr/>
          <a:lstStyle/>
          <a:p>
            <a:endParaRPr lang="en-US" sz="2000" dirty="0" smtClean="0"/>
          </a:p>
          <a:p>
            <a:r>
              <a:rPr lang="en-US" sz="2000" dirty="0" smtClean="0"/>
              <a:t>Adopting </a:t>
            </a:r>
            <a:r>
              <a:rPr lang="en-US" sz="2000" dirty="0" err="1" smtClean="0"/>
              <a:t>SNPFileCreator</a:t>
            </a:r>
            <a:r>
              <a:rPr lang="en-US" sz="2000" dirty="0" smtClean="0"/>
              <a:t> and </a:t>
            </a:r>
            <a:r>
              <a:rPr lang="en-US" sz="2000" dirty="0" err="1" smtClean="0"/>
              <a:t>CopyNumberDividedByNormals</a:t>
            </a:r>
            <a:r>
              <a:rPr lang="en-US" sz="2000" dirty="0" smtClean="0"/>
              <a:t> modules from </a:t>
            </a:r>
            <a:r>
              <a:rPr lang="en-US" sz="2000" dirty="0" err="1" smtClean="0"/>
              <a:t>GenePattern</a:t>
            </a:r>
            <a:r>
              <a:rPr lang="en-US" sz="2000" dirty="0" smtClean="0"/>
              <a:t> (http://www.broad.mit.edu/cancer/software/genepattern/). </a:t>
            </a:r>
          </a:p>
          <a:p>
            <a:pPr>
              <a:buFontTx/>
              <a:buNone/>
            </a:pPr>
            <a:endParaRPr lang="en-US" sz="2000" dirty="0" smtClean="0"/>
          </a:p>
          <a:p>
            <a:r>
              <a:rPr lang="en-US" sz="2000" dirty="0" smtClean="0"/>
              <a:t> The </a:t>
            </a:r>
            <a:r>
              <a:rPr lang="en-US" sz="2000" dirty="0" err="1" smtClean="0"/>
              <a:t>SNPFileCreator</a:t>
            </a:r>
            <a:r>
              <a:rPr lang="en-US" sz="2000" dirty="0" smtClean="0"/>
              <a:t> module creates a </a:t>
            </a:r>
            <a:r>
              <a:rPr lang="en-US" sz="2000" dirty="0" err="1" smtClean="0"/>
              <a:t>GenePattern</a:t>
            </a:r>
            <a:r>
              <a:rPr lang="en-US" sz="2000" dirty="0" smtClean="0"/>
              <a:t> .</a:t>
            </a:r>
            <a:r>
              <a:rPr lang="en-US" sz="2000" dirty="0" err="1" smtClean="0"/>
              <a:t>snp</a:t>
            </a:r>
            <a:r>
              <a:rPr lang="en-US" sz="2000" dirty="0" smtClean="0"/>
              <a:t> file from a set of individual </a:t>
            </a:r>
            <a:r>
              <a:rPr lang="en-US" sz="2000" dirty="0" err="1" smtClean="0"/>
              <a:t>Affymetrix</a:t>
            </a:r>
            <a:r>
              <a:rPr lang="en-US" sz="2000" dirty="0" smtClean="0"/>
              <a:t> SNP chip CEL files.</a:t>
            </a:r>
          </a:p>
          <a:p>
            <a:pPr>
              <a:buFontTx/>
              <a:buNone/>
            </a:pPr>
            <a:endParaRPr lang="en-US" sz="2000" dirty="0" smtClean="0"/>
          </a:p>
          <a:p>
            <a:r>
              <a:rPr lang="en-US" sz="2000" dirty="0" smtClean="0"/>
              <a:t>The </a:t>
            </a:r>
            <a:r>
              <a:rPr lang="en-US" sz="2000" dirty="0" err="1" smtClean="0"/>
              <a:t>CopyNumberDivideByNormals</a:t>
            </a:r>
            <a:r>
              <a:rPr lang="en-US" sz="2000" dirty="0" smtClean="0"/>
              <a:t> module determines the raw copy number of a target SNP.</a:t>
            </a:r>
          </a:p>
          <a:p>
            <a:endParaRPr lang="en-US" sz="2000" dirty="0" smtClean="0"/>
          </a:p>
          <a:p>
            <a:r>
              <a:rPr lang="en-US" sz="2000" dirty="0" smtClean="0"/>
              <a:t>Chromosome and Physical Location columns in the output file are populated based on human genome build 35.</a:t>
            </a:r>
          </a:p>
          <a:p>
            <a:pPr>
              <a:buNone/>
            </a:pPr>
            <a:endParaRPr lang="en-US" sz="2000" dirty="0" smtClean="0"/>
          </a:p>
          <a:p>
            <a:r>
              <a:rPr lang="en-US" sz="2000" dirty="0" smtClean="0"/>
              <a:t>Service URL </a:t>
            </a:r>
            <a:r>
              <a:rPr lang="en-US" sz="2000" u="sng" dirty="0" smtClean="0">
                <a:hlinkClick r:id="rId3"/>
              </a:rPr>
              <a:t>http://linuxcomp64.wustl.edu:9880/wsrf/services/cagrid/CopyNumberByGenePatternAnalyticalService</a:t>
            </a:r>
            <a:endParaRPr lang="en-US" sz="2000" dirty="0" smtClean="0"/>
          </a:p>
          <a:p>
            <a:endParaRPr lang="en-US" sz="2000" dirty="0" smtClean="0"/>
          </a:p>
          <a:p>
            <a:pPr>
              <a:buFontTx/>
              <a:buNone/>
            </a:pPr>
            <a:endParaRPr lang="en-US"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304800" y="304800"/>
            <a:ext cx="6858000" cy="838200"/>
          </a:xfrm>
        </p:spPr>
        <p:txBody>
          <a:bodyPr/>
          <a:lstStyle/>
          <a:p>
            <a:r>
              <a:rPr lang="en-US" smtClean="0"/>
              <a:t>DNAcopy Based Analytical Service</a:t>
            </a:r>
            <a:r>
              <a:rPr lang="en-US" i="1" smtClean="0"/>
              <a:t/>
            </a:r>
            <a:br>
              <a:rPr lang="en-US" i="1" smtClean="0"/>
            </a:br>
            <a:endParaRPr lang="en-US" smtClean="0"/>
          </a:p>
        </p:txBody>
      </p:sp>
      <p:sp>
        <p:nvSpPr>
          <p:cNvPr id="28675" name="Content Placeholder 2"/>
          <p:cNvSpPr>
            <a:spLocks noGrp="1"/>
          </p:cNvSpPr>
          <p:nvPr>
            <p:ph idx="1"/>
          </p:nvPr>
        </p:nvSpPr>
        <p:spPr>
          <a:xfrm>
            <a:off x="304800" y="1124856"/>
            <a:ext cx="8458200" cy="5791200"/>
          </a:xfrm>
        </p:spPr>
        <p:txBody>
          <a:bodyPr/>
          <a:lstStyle/>
          <a:p>
            <a:pPr>
              <a:buFontTx/>
              <a:buNone/>
            </a:pPr>
            <a:r>
              <a:rPr lang="en-US" sz="2000" dirty="0" smtClean="0"/>
              <a:t>From </a:t>
            </a:r>
            <a:r>
              <a:rPr lang="en-US" sz="2000" dirty="0" err="1" smtClean="0"/>
              <a:t>Bioconductor’s</a:t>
            </a:r>
            <a:r>
              <a:rPr lang="en-US" sz="2000" dirty="0" smtClean="0"/>
              <a:t> </a:t>
            </a:r>
            <a:r>
              <a:rPr lang="en-US" sz="2000" dirty="0" err="1" smtClean="0"/>
              <a:t>DNAcopy</a:t>
            </a:r>
            <a:r>
              <a:rPr lang="en-US" sz="2000" dirty="0" smtClean="0"/>
              <a:t> package we are implementing (http://bioconductor.org/packages/1.8/bioc/html/DNAcopy.html). </a:t>
            </a:r>
          </a:p>
          <a:p>
            <a:pPr lvl="1"/>
            <a:r>
              <a:rPr lang="en-US" sz="2000" dirty="0" smtClean="0"/>
              <a:t>Create Copy Number Array data object (CNA),</a:t>
            </a:r>
          </a:p>
          <a:p>
            <a:pPr lvl="1"/>
            <a:r>
              <a:rPr lang="en-US" sz="2000" dirty="0" smtClean="0"/>
              <a:t>Smooth a Copy Number Array data object (Smooth.CNA), </a:t>
            </a:r>
          </a:p>
          <a:p>
            <a:pPr lvl="1"/>
            <a:r>
              <a:rPr lang="en-US" sz="2000" dirty="0" smtClean="0"/>
              <a:t>Genome Segmentation Program (Segment)</a:t>
            </a:r>
          </a:p>
          <a:p>
            <a:pPr lvl="1"/>
            <a:endParaRPr lang="en-US" sz="2000" i="1" dirty="0" smtClean="0"/>
          </a:p>
          <a:p>
            <a:r>
              <a:rPr lang="en-US" sz="2000" b="0" dirty="0" smtClean="0"/>
              <a:t>CNA creates a 'copy number array' data object used for DNA copy number analyses by programs such as circular binary segmentation (CBS).  </a:t>
            </a:r>
          </a:p>
          <a:p>
            <a:r>
              <a:rPr lang="en-US" sz="2000" b="0" dirty="0" smtClean="0"/>
              <a:t>Smooth CNA, detect outlier and smooth the data prior to analysis by programs such as CBS.</a:t>
            </a:r>
            <a:endParaRPr lang="en-US" sz="2000" b="0" i="1" dirty="0" smtClean="0"/>
          </a:p>
          <a:p>
            <a:r>
              <a:rPr lang="en-US" sz="2000" b="0" dirty="0" smtClean="0"/>
              <a:t>The program" Segment", segments DNA copy number data into regions of estimated equal copy number using circular binary segmentation (CBS).</a:t>
            </a:r>
          </a:p>
          <a:p>
            <a:r>
              <a:rPr lang="en-US" sz="2000" dirty="0" smtClean="0"/>
              <a:t>Service URL </a:t>
            </a:r>
            <a:r>
              <a:rPr lang="en-US" sz="2000" u="sng" dirty="0" smtClean="0">
                <a:hlinkClick r:id="rId3"/>
              </a:rPr>
              <a:t>http://linuxcomp64.wustl.edu:9880/wsrf/services/cagrid/DnaCopy</a:t>
            </a:r>
            <a:endParaRPr lang="en-US" sz="2000" dirty="0" smtClean="0"/>
          </a:p>
          <a:p>
            <a:endParaRPr lang="en-US" sz="2000" b="0"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304800" y="304800"/>
            <a:ext cx="6858000" cy="762000"/>
          </a:xfrm>
        </p:spPr>
        <p:txBody>
          <a:bodyPr/>
          <a:lstStyle/>
          <a:p>
            <a:r>
              <a:rPr lang="en-US" smtClean="0"/>
              <a:t>Chromosomal Segment Overlap Tools </a:t>
            </a:r>
            <a:r>
              <a:rPr lang="en-US" i="1" smtClean="0"/>
              <a:t/>
            </a:r>
            <a:br>
              <a:rPr lang="en-US" i="1" smtClean="0"/>
            </a:br>
            <a:endParaRPr lang="en-US" smtClean="0"/>
          </a:p>
        </p:txBody>
      </p:sp>
      <p:sp>
        <p:nvSpPr>
          <p:cNvPr id="29699" name="Content Placeholder 2"/>
          <p:cNvSpPr>
            <a:spLocks noGrp="1"/>
          </p:cNvSpPr>
          <p:nvPr>
            <p:ph idx="1"/>
          </p:nvPr>
        </p:nvSpPr>
        <p:spPr>
          <a:xfrm>
            <a:off x="304800" y="1066800"/>
            <a:ext cx="8458200" cy="5486400"/>
          </a:xfrm>
        </p:spPr>
        <p:txBody>
          <a:bodyPr/>
          <a:lstStyle/>
          <a:p>
            <a:r>
              <a:rPr lang="en-US" sz="2000" dirty="0" smtClean="0"/>
              <a:t>The Chromosomal Segment Overlap Tool can be used to identify segments of chromosome that represent the amplified or deleted by </a:t>
            </a:r>
          </a:p>
          <a:p>
            <a:pPr lvl="1"/>
            <a:r>
              <a:rPr lang="en-US" sz="2000" dirty="0" smtClean="0"/>
              <a:t>More than one source (Chromosomal Segment Overlap Finder Across Sources). </a:t>
            </a:r>
          </a:p>
          <a:p>
            <a:pPr lvl="1"/>
            <a:r>
              <a:rPr lang="en-US" sz="2000" dirty="0" smtClean="0"/>
              <a:t>In more than 1 sample (Chromosomal Segment Overlap Finder Across Samples).</a:t>
            </a:r>
          </a:p>
          <a:p>
            <a:pPr lvl="1"/>
            <a:r>
              <a:rPr lang="en-US" sz="2000" dirty="0" smtClean="0"/>
              <a:t>A detailed algorithm is available in our white paper available at the project’s </a:t>
            </a:r>
            <a:r>
              <a:rPr lang="en-US" sz="2000" dirty="0" err="1" smtClean="0"/>
              <a:t>Gforge</a:t>
            </a:r>
            <a:r>
              <a:rPr lang="en-US" sz="2000" dirty="0" smtClean="0"/>
              <a:t> site.</a:t>
            </a:r>
          </a:p>
          <a:p>
            <a:pPr marL="735013" lvl="0"/>
            <a:r>
              <a:rPr lang="en-US" sz="2000" b="0" dirty="0" smtClean="0"/>
              <a:t>Chromosomal Segment Overlap Finder Across Sources (</a:t>
            </a:r>
            <a:r>
              <a:rPr lang="en-US" sz="2000" b="0" dirty="0" smtClean="0">
                <a:hlinkClick r:id="rId3"/>
              </a:rPr>
              <a:t>http://linuxcomp64.wustl.edu:9880/wsrf/services/cagrid/ChromosomalSegmentOverlapAcrossSources</a:t>
            </a:r>
            <a:r>
              <a:rPr lang="en-US" sz="2000" b="0" dirty="0" smtClean="0"/>
              <a:t>) </a:t>
            </a:r>
          </a:p>
          <a:p>
            <a:pPr marL="735013"/>
            <a:r>
              <a:rPr lang="en-US" sz="2000" b="0" dirty="0" smtClean="0"/>
              <a:t>Chromosomal Segment Overlap Finder Across Samples (</a:t>
            </a:r>
            <a:r>
              <a:rPr lang="en-US" sz="2000" b="0" dirty="0" smtClean="0">
                <a:hlinkClick r:id="rId4"/>
              </a:rPr>
              <a:t>http://linuxcomp64.wustl.edu:9880/wsrf/services/cagrid/ChromosomalSegmentOverlapAcrossSamples</a:t>
            </a:r>
            <a:r>
              <a:rPr lang="en-US" sz="2000" b="0" dirty="0" smtClean="0"/>
              <a:t> </a:t>
            </a:r>
          </a:p>
          <a:p>
            <a:pPr>
              <a:buFontTx/>
              <a:buNone/>
            </a:pPr>
            <a:endParaRPr lang="en-US"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smtClean="0"/>
              <a:t>Our Workflow Subsequent To caBIG</a:t>
            </a:r>
            <a:r>
              <a:rPr lang="en-US" smtClean="0">
                <a:solidFill>
                  <a:schemeClr val="accent2"/>
                </a:solidFill>
              </a:rPr>
              <a:t>™</a:t>
            </a:r>
            <a:r>
              <a:rPr lang="en-US" smtClean="0"/>
              <a:t> Tools Adoption </a:t>
            </a:r>
          </a:p>
        </p:txBody>
      </p:sp>
      <p:sp>
        <p:nvSpPr>
          <p:cNvPr id="11" name="TextBox 5"/>
          <p:cNvSpPr txBox="1">
            <a:spLocks noChangeArrowheads="1"/>
          </p:cNvSpPr>
          <p:nvPr/>
        </p:nvSpPr>
        <p:spPr bwMode="auto">
          <a:xfrm>
            <a:off x="2057400" y="1143000"/>
            <a:ext cx="5029200" cy="830263"/>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End users uses </a:t>
            </a:r>
            <a:r>
              <a:rPr lang="en-US" sz="2000" b="1" u="sng" dirty="0" err="1">
                <a:latin typeface="Times New Roman" pitchFamily="18" charset="0"/>
                <a:cs typeface="Times New Roman" pitchFamily="18" charset="0"/>
              </a:rPr>
              <a:t>caTissue</a:t>
            </a:r>
            <a:r>
              <a:rPr lang="en-US" sz="2000" b="1" u="sng" dirty="0">
                <a:latin typeface="Times New Roman" pitchFamily="18" charset="0"/>
                <a:cs typeface="Times New Roman" pitchFamily="18" charset="0"/>
              </a:rPr>
              <a:t> Core </a:t>
            </a:r>
            <a:r>
              <a:rPr lang="en-US" sz="1400" b="1" dirty="0">
                <a:latin typeface="Times New Roman" pitchFamily="18" charset="0"/>
                <a:cs typeface="Times New Roman" pitchFamily="18" charset="0"/>
              </a:rPr>
              <a:t>and checks for availability of molecular specimens and submits request for required specimens</a:t>
            </a:r>
          </a:p>
        </p:txBody>
      </p:sp>
      <p:sp>
        <p:nvSpPr>
          <p:cNvPr id="12" name="TextBox 7"/>
          <p:cNvSpPr txBox="1">
            <a:spLocks noChangeArrowheads="1"/>
          </p:cNvSpPr>
          <p:nvPr/>
        </p:nvSpPr>
        <p:spPr bwMode="auto">
          <a:xfrm>
            <a:off x="3657600" y="4122738"/>
            <a:ext cx="1905000" cy="830262"/>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Microarray data available through </a:t>
            </a:r>
            <a:r>
              <a:rPr lang="en-US" sz="2000" b="1" u="sng" dirty="0" err="1">
                <a:latin typeface="Times New Roman" pitchFamily="18" charset="0"/>
                <a:cs typeface="Times New Roman" pitchFamily="18" charset="0"/>
              </a:rPr>
              <a:t>caArray</a:t>
            </a:r>
            <a:r>
              <a:rPr lang="en-US" sz="2000" b="1" u="sng" dirty="0">
                <a:latin typeface="Times New Roman" pitchFamily="18" charset="0"/>
                <a:cs typeface="Times New Roman" pitchFamily="18" charset="0"/>
              </a:rPr>
              <a:t> </a:t>
            </a:r>
            <a:r>
              <a:rPr lang="en-US" sz="2000" b="1" u="sng" dirty="0" smtClean="0">
                <a:latin typeface="Times New Roman" pitchFamily="18" charset="0"/>
                <a:cs typeface="Times New Roman" pitchFamily="18" charset="0"/>
              </a:rPr>
              <a:t>2.1</a:t>
            </a:r>
            <a:endParaRPr lang="en-US" sz="2000" b="1" u="sng" dirty="0">
              <a:latin typeface="Times New Roman" pitchFamily="18" charset="0"/>
              <a:cs typeface="Times New Roman" pitchFamily="18" charset="0"/>
            </a:endParaRPr>
          </a:p>
        </p:txBody>
      </p:sp>
      <p:sp>
        <p:nvSpPr>
          <p:cNvPr id="13" name="TextBox 15"/>
          <p:cNvSpPr txBox="1">
            <a:spLocks noChangeArrowheads="1"/>
          </p:cNvSpPr>
          <p:nvPr/>
        </p:nvSpPr>
        <p:spPr bwMode="auto">
          <a:xfrm>
            <a:off x="3276600" y="2619375"/>
            <a:ext cx="2667000" cy="954088"/>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Molecular Specimens sent to Laboratory for Clinical Genomics for Microarray Hybridization</a:t>
            </a:r>
            <a:endParaRPr lang="en-US" sz="1400" dirty="0">
              <a:latin typeface="Times New Roman" pitchFamily="18" charset="0"/>
              <a:cs typeface="Times New Roman" pitchFamily="18" charset="0"/>
            </a:endParaRPr>
          </a:p>
        </p:txBody>
      </p:sp>
      <p:cxnSp>
        <p:nvCxnSpPr>
          <p:cNvPr id="14" name="Straight Arrow Connector 13"/>
          <p:cNvCxnSpPr/>
          <p:nvPr/>
        </p:nvCxnSpPr>
        <p:spPr>
          <a:xfrm rot="5400000">
            <a:off x="4381501" y="5219700"/>
            <a:ext cx="381000" cy="3175"/>
          </a:xfrm>
          <a:prstGeom prst="straightConnector1">
            <a:avLst/>
          </a:prstGeom>
          <a:ln w="254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a:off x="4381501" y="3848100"/>
            <a:ext cx="381000" cy="3175"/>
          </a:xfrm>
          <a:prstGeom prst="straightConnector1">
            <a:avLst/>
          </a:prstGeom>
          <a:ln w="254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4305301" y="2246312"/>
            <a:ext cx="533400" cy="3175"/>
          </a:xfrm>
          <a:prstGeom prst="straightConnector1">
            <a:avLst/>
          </a:prstGeom>
          <a:ln w="2540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TextBox 88"/>
          <p:cNvSpPr txBox="1">
            <a:spLocks noChangeArrowheads="1"/>
          </p:cNvSpPr>
          <p:nvPr/>
        </p:nvSpPr>
        <p:spPr bwMode="auto">
          <a:xfrm>
            <a:off x="3505200" y="5473700"/>
            <a:ext cx="2133600" cy="1260475"/>
          </a:xfrm>
          <a:prstGeom prst="rect">
            <a:avLst/>
          </a:prstGeom>
          <a:solidFill>
            <a:srgbClr val="FFFF00"/>
          </a:solidFill>
          <a:ln w="25400">
            <a:solidFill>
              <a:schemeClr val="bg2">
                <a:lumMod val="50000"/>
              </a:schemeClr>
            </a:solidFill>
            <a:miter lim="800000"/>
            <a:headEnd/>
            <a:tailEnd/>
          </a:ln>
        </p:spPr>
        <p:txBody>
          <a:bodyPr>
            <a:spAutoFit/>
          </a:bodyPr>
          <a:lstStyle/>
          <a:p>
            <a:pPr algn="ctr">
              <a:defRPr/>
            </a:pPr>
            <a:r>
              <a:rPr lang="en-US" sz="1400" b="1" dirty="0">
                <a:latin typeface="Times New Roman" pitchFamily="18" charset="0"/>
                <a:cs typeface="Times New Roman" pitchFamily="18" charset="0"/>
              </a:rPr>
              <a:t>Analyzes SNP Copy Number Data using </a:t>
            </a:r>
            <a:r>
              <a:rPr lang="en-US" sz="2000" b="1" u="sng" dirty="0">
                <a:latin typeface="Times New Roman" pitchFamily="18" charset="0"/>
                <a:cs typeface="Times New Roman" pitchFamily="18" charset="0"/>
              </a:rPr>
              <a:t>Analytical Tools</a:t>
            </a:r>
            <a:r>
              <a:rPr lang="en-US" sz="1400" b="1" u="sng" dirty="0">
                <a:latin typeface="Times New Roman" pitchFamily="18" charset="0"/>
                <a:cs typeface="Times New Roman" pitchFamily="18" charset="0"/>
              </a:rPr>
              <a:t> </a:t>
            </a:r>
            <a:r>
              <a:rPr lang="en-US" sz="1400" b="1" dirty="0">
                <a:latin typeface="Times New Roman" pitchFamily="18" charset="0"/>
                <a:cs typeface="Times New Roman" pitchFamily="18" charset="0"/>
              </a:rPr>
              <a:t>developed as part of the present project</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smtClean="0"/>
              <a:t>Future Work</a:t>
            </a:r>
          </a:p>
        </p:txBody>
      </p:sp>
      <p:sp>
        <p:nvSpPr>
          <p:cNvPr id="31747" name="Content Placeholder 2"/>
          <p:cNvSpPr>
            <a:spLocks noGrp="1"/>
          </p:cNvSpPr>
          <p:nvPr>
            <p:ph idx="1"/>
          </p:nvPr>
        </p:nvSpPr>
        <p:spPr/>
        <p:txBody>
          <a:bodyPr/>
          <a:lstStyle/>
          <a:p>
            <a:pPr>
              <a:buFontTx/>
              <a:buNone/>
            </a:pPr>
            <a:endParaRPr lang="en-US" sz="2400" smtClean="0"/>
          </a:p>
          <a:p>
            <a:r>
              <a:rPr lang="en-US" sz="2400" smtClean="0"/>
              <a:t>Integration of these various tools and analytical services developed as part of caBIG</a:t>
            </a:r>
            <a:r>
              <a:rPr lang="en-US" sz="2400" baseline="30000" smtClean="0"/>
              <a:t>TM</a:t>
            </a:r>
            <a:r>
              <a:rPr lang="en-US" sz="2400" smtClean="0"/>
              <a:t> tools adoption project at Washington University with cancer Bed to Bedside (caB2B).</a:t>
            </a:r>
          </a:p>
          <a:p>
            <a:endParaRPr lang="en-US" sz="2400" smtClean="0"/>
          </a:p>
          <a:p>
            <a:pPr lvl="1"/>
            <a:r>
              <a:rPr lang="en-US" sz="2000" smtClean="0"/>
              <a:t>caB2B will be utilized to acquire microarray and biospecimen data from caArray and caTissue Core and will then be used to analyze and visualize these data sets.</a:t>
            </a:r>
          </a:p>
          <a:p>
            <a:pPr>
              <a:buFontTx/>
              <a:buNone/>
            </a:pPr>
            <a:r>
              <a:rPr lang="en-US" sz="2400" smtClean="0"/>
              <a:t> </a:t>
            </a:r>
          </a:p>
          <a:p>
            <a:endParaRPr lang="en-US" smtClean="0"/>
          </a:p>
          <a:p>
            <a:endParaRPr lang="en-US" smtClean="0"/>
          </a:p>
          <a:p>
            <a:pPr>
              <a:buFontTx/>
              <a:buNone/>
            </a:pPr>
            <a:endParaRPr lang="en-US" smtClean="0"/>
          </a:p>
          <a:p>
            <a:endParaRPr lang="en-US"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smtClean="0"/>
              <a:t>Useful Links</a:t>
            </a:r>
          </a:p>
        </p:txBody>
      </p:sp>
      <p:sp>
        <p:nvSpPr>
          <p:cNvPr id="32771" name="Content Placeholder 2"/>
          <p:cNvSpPr>
            <a:spLocks noGrp="1"/>
          </p:cNvSpPr>
          <p:nvPr>
            <p:ph idx="1"/>
          </p:nvPr>
        </p:nvSpPr>
        <p:spPr>
          <a:xfrm>
            <a:off x="0" y="1143000"/>
            <a:ext cx="9144000" cy="5410200"/>
          </a:xfrm>
        </p:spPr>
        <p:txBody>
          <a:bodyPr/>
          <a:lstStyle/>
          <a:p>
            <a:r>
              <a:rPr lang="en-US" sz="1400" dirty="0" err="1" smtClean="0"/>
              <a:t>WashU’s</a:t>
            </a:r>
            <a:r>
              <a:rPr lang="en-US" sz="1400" dirty="0" smtClean="0"/>
              <a:t> </a:t>
            </a:r>
            <a:r>
              <a:rPr lang="en-US" sz="1400" dirty="0" err="1" smtClean="0"/>
              <a:t>caTissue</a:t>
            </a:r>
            <a:r>
              <a:rPr lang="en-US" sz="1400" dirty="0" smtClean="0"/>
              <a:t> Core v1.2.2 public instance,  </a:t>
            </a:r>
            <a:r>
              <a:rPr lang="en-US" sz="1400" u="sng" dirty="0" smtClean="0">
                <a:hlinkClick r:id="rId3"/>
              </a:rPr>
              <a:t>http://catissueshare.wustl.edu:48080/catissuecore</a:t>
            </a:r>
            <a:endParaRPr lang="en-US" sz="1400" u="sng" dirty="0" smtClean="0"/>
          </a:p>
          <a:p>
            <a:pPr>
              <a:buFontTx/>
              <a:buNone/>
            </a:pPr>
            <a:endParaRPr lang="en-US" sz="1400" dirty="0" smtClean="0"/>
          </a:p>
          <a:p>
            <a:r>
              <a:rPr lang="en-US" sz="1400" dirty="0" err="1" smtClean="0"/>
              <a:t>WashU’s</a:t>
            </a:r>
            <a:r>
              <a:rPr lang="en-US" sz="1400" dirty="0" smtClean="0"/>
              <a:t> </a:t>
            </a:r>
            <a:r>
              <a:rPr lang="en-US" sz="1400" dirty="0" err="1" smtClean="0"/>
              <a:t>caArray</a:t>
            </a:r>
            <a:r>
              <a:rPr lang="en-US" sz="1400" dirty="0" smtClean="0"/>
              <a:t> 2.0 public instance, </a:t>
            </a:r>
            <a:r>
              <a:rPr lang="en-US" sz="1400" u="sng" dirty="0" smtClean="0">
                <a:hlinkClick r:id="rId4"/>
              </a:rPr>
              <a:t>http://caarray.wustl.edu/caarray</a:t>
            </a:r>
            <a:endParaRPr lang="en-US" sz="1400" u="sng" dirty="0" smtClean="0"/>
          </a:p>
          <a:p>
            <a:pPr>
              <a:buFontTx/>
              <a:buNone/>
            </a:pPr>
            <a:endParaRPr lang="en-US" sz="1400" dirty="0" smtClean="0"/>
          </a:p>
          <a:p>
            <a:r>
              <a:rPr lang="en-US" sz="1400" dirty="0" err="1" smtClean="0"/>
              <a:t>WashU’s</a:t>
            </a:r>
            <a:r>
              <a:rPr lang="en-US" sz="1400" dirty="0" smtClean="0"/>
              <a:t> </a:t>
            </a:r>
            <a:r>
              <a:rPr lang="en-US" sz="1400" dirty="0" err="1" smtClean="0"/>
              <a:t>caBIG</a:t>
            </a:r>
            <a:r>
              <a:rPr lang="en-US" sz="1400" baseline="30000" dirty="0" err="1" smtClean="0"/>
              <a:t>TM</a:t>
            </a:r>
            <a:r>
              <a:rPr lang="en-US" sz="1400" dirty="0" smtClean="0"/>
              <a:t> tools adoption </a:t>
            </a:r>
            <a:r>
              <a:rPr lang="en-US" sz="1400" dirty="0" err="1" smtClean="0"/>
              <a:t>Gforge</a:t>
            </a:r>
            <a:r>
              <a:rPr lang="en-US" sz="1400" dirty="0" smtClean="0"/>
              <a:t> site, </a:t>
            </a:r>
            <a:r>
              <a:rPr lang="en-US" sz="1400" u="sng" dirty="0" smtClean="0">
                <a:hlinkClick r:id="rId5"/>
              </a:rPr>
              <a:t>http://gforge.nci.nih.gov/projects/icradopt-washu/</a:t>
            </a:r>
            <a:endParaRPr lang="en-US" sz="1400" u="sng" dirty="0" smtClean="0"/>
          </a:p>
          <a:p>
            <a:endParaRPr lang="en-US" sz="1400" u="sng" dirty="0" smtClean="0"/>
          </a:p>
          <a:p>
            <a:r>
              <a:rPr lang="en-US" sz="1400" dirty="0" smtClean="0"/>
              <a:t>caB2B, </a:t>
            </a:r>
            <a:r>
              <a:rPr lang="en-US" sz="1400" u="sng" dirty="0" smtClean="0">
                <a:hlinkClick r:id="rId6"/>
              </a:rPr>
              <a:t>https://cabig.nci.nih.gov/tools/caB2B</a:t>
            </a:r>
            <a:endParaRPr lang="en-US" sz="1400" u="sng" dirty="0" smtClean="0"/>
          </a:p>
          <a:p>
            <a:pPr>
              <a:buNone/>
            </a:pPr>
            <a:endParaRPr lang="en-US" sz="1400" u="sng" dirty="0" smtClean="0"/>
          </a:p>
          <a:p>
            <a:r>
              <a:rPr lang="en-US" sz="1400" dirty="0" smtClean="0"/>
              <a:t>Demonstration movies for SNP Microarray Analytical Services, </a:t>
            </a:r>
            <a:r>
              <a:rPr lang="en-US" sz="1400" u="sng" dirty="0" smtClean="0">
                <a:hlinkClick r:id="rId7"/>
              </a:rPr>
              <a:t>https://gforge.nci.nih.gov/docman/index.php?group_id=388&amp;selected_doc_group_id=4600&amp;language_id=1</a:t>
            </a:r>
            <a:endParaRPr lang="en-US" sz="1400" u="sng" dirty="0" smtClean="0"/>
          </a:p>
          <a:p>
            <a:pPr>
              <a:buNone/>
            </a:pPr>
            <a:endParaRPr lang="en-US" sz="1200" u="sng" dirty="0" smtClean="0"/>
          </a:p>
          <a:p>
            <a:pPr lvl="0"/>
            <a:r>
              <a:rPr lang="en-US" sz="1400" dirty="0" smtClean="0"/>
              <a:t>URL for SNP microarray Analytical Services  </a:t>
            </a:r>
          </a:p>
          <a:p>
            <a:pPr lvl="1"/>
            <a:r>
              <a:rPr lang="en-US" sz="1400" dirty="0" smtClean="0"/>
              <a:t>CNAT (</a:t>
            </a:r>
            <a:r>
              <a:rPr lang="en-US" sz="1400" u="sng" dirty="0" smtClean="0">
                <a:hlinkClick r:id="rId8"/>
              </a:rPr>
              <a:t>http://linuxcomp64.wustl.edu:9880/wsrf/services/cagrid/CNAT</a:t>
            </a:r>
            <a:r>
              <a:rPr lang="en-US" sz="1400" dirty="0" smtClean="0"/>
              <a:t>) </a:t>
            </a:r>
          </a:p>
          <a:p>
            <a:pPr lvl="1"/>
            <a:r>
              <a:rPr lang="en-US" sz="1400" dirty="0" err="1" smtClean="0"/>
              <a:t>GenePattern</a:t>
            </a:r>
            <a:r>
              <a:rPr lang="en-US" sz="1400" dirty="0" smtClean="0"/>
              <a:t> Based Copy Number (</a:t>
            </a:r>
            <a:r>
              <a:rPr lang="en-US" sz="1400" u="sng" dirty="0" smtClean="0">
                <a:hlinkClick r:id="rId9"/>
              </a:rPr>
              <a:t>http://linuxcomp64.wustl.edu:9880/wsrf/services/cagrid/CopyNumberByGenePatternAnalyticalService</a:t>
            </a:r>
            <a:r>
              <a:rPr lang="en-US" sz="1400" dirty="0" smtClean="0"/>
              <a:t>) </a:t>
            </a:r>
          </a:p>
          <a:p>
            <a:pPr lvl="1"/>
            <a:r>
              <a:rPr lang="en-US" sz="1400" dirty="0" err="1" smtClean="0"/>
              <a:t>DNAcopy</a:t>
            </a:r>
            <a:r>
              <a:rPr lang="en-US" sz="1400" dirty="0" smtClean="0"/>
              <a:t> (</a:t>
            </a:r>
            <a:r>
              <a:rPr lang="en-US" sz="1400" u="sng" dirty="0" smtClean="0">
                <a:hlinkClick r:id="rId10"/>
              </a:rPr>
              <a:t>http://linuxcomp64.wustl.edu:9880/wsrf/services/cagrid/DnaCopy</a:t>
            </a:r>
            <a:r>
              <a:rPr lang="en-US" sz="1400" dirty="0" smtClean="0"/>
              <a:t>) </a:t>
            </a:r>
          </a:p>
          <a:p>
            <a:pPr lvl="1"/>
            <a:r>
              <a:rPr lang="en-US" sz="1400" dirty="0" smtClean="0"/>
              <a:t>Chromosomal Segment Overlap Finder Across Sources (</a:t>
            </a:r>
            <a:r>
              <a:rPr lang="en-US" sz="1400" u="sng" dirty="0" smtClean="0">
                <a:hlinkClick r:id="rId11"/>
              </a:rPr>
              <a:t>http://linuxcomp64.wustl.edu:9880/wsrf/services/cagrid/ChromosomalSegmentOverlapAcrossSources</a:t>
            </a:r>
            <a:r>
              <a:rPr lang="en-US" sz="1400" dirty="0" smtClean="0"/>
              <a:t>) </a:t>
            </a:r>
          </a:p>
          <a:p>
            <a:pPr lvl="1"/>
            <a:r>
              <a:rPr lang="en-US" sz="1400" dirty="0" smtClean="0"/>
              <a:t>Chromosomal Segment Overlap Finder Across Samples (</a:t>
            </a:r>
            <a:r>
              <a:rPr lang="en-US" sz="1400" u="sng" dirty="0" smtClean="0">
                <a:hlinkClick r:id="rId12"/>
              </a:rPr>
              <a:t>http://linuxcomp64.wustl.edu:9880/wsrf/services/cagrid/ChromosomalSegmentOverlapAcrossSamples</a:t>
            </a:r>
            <a:r>
              <a:rPr lang="en-US" sz="1400" dirty="0" smtClean="0"/>
              <a:t> </a:t>
            </a:r>
          </a:p>
          <a:p>
            <a:endParaRPr lang="en-US"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0"/>
            <a:ext cx="6858000" cy="1143000"/>
          </a:xfrm>
        </p:spPr>
        <p:txBody>
          <a:bodyPr/>
          <a:lstStyle/>
          <a:p>
            <a:pPr lvl="1" eaLnBrk="1" hangingPunct="1">
              <a:defRPr/>
            </a:pPr>
            <a:r>
              <a:rPr lang="en-US" dirty="0" smtClean="0">
                <a:latin typeface="+mj-lt"/>
              </a:rPr>
              <a:t>Teams involved in adoption process</a:t>
            </a:r>
            <a:endParaRPr lang="en-US" dirty="0">
              <a:latin typeface="+mj-lt"/>
            </a:endParaRPr>
          </a:p>
        </p:txBody>
      </p:sp>
      <p:sp>
        <p:nvSpPr>
          <p:cNvPr id="33795" name="TextBox 5"/>
          <p:cNvSpPr txBox="1">
            <a:spLocks noChangeArrowheads="1"/>
          </p:cNvSpPr>
          <p:nvPr/>
        </p:nvSpPr>
        <p:spPr bwMode="auto">
          <a:xfrm>
            <a:off x="0" y="1295400"/>
            <a:ext cx="5121275" cy="5011738"/>
          </a:xfrm>
          <a:prstGeom prst="rect">
            <a:avLst/>
          </a:prstGeom>
          <a:noFill/>
          <a:ln w="9525">
            <a:noFill/>
            <a:miter lim="800000"/>
            <a:headEnd/>
            <a:tailEnd/>
          </a:ln>
        </p:spPr>
        <p:txBody>
          <a:bodyPr wrap="none">
            <a:spAutoFit/>
          </a:bodyPr>
          <a:lstStyle/>
          <a:p>
            <a:r>
              <a:rPr lang="en-US" sz="1600" b="1" u="sng">
                <a:solidFill>
                  <a:srgbClr val="1C2674"/>
                </a:solidFill>
              </a:rPr>
              <a:t>Washington University School of Medicine </a:t>
            </a:r>
          </a:p>
          <a:p>
            <a:r>
              <a:rPr lang="en-US" sz="1600">
                <a:solidFill>
                  <a:srgbClr val="1C2674"/>
                </a:solidFill>
              </a:rPr>
              <a:t>Hrishikesh Deshmukh (Bioinformaticist)</a:t>
            </a:r>
          </a:p>
          <a:p>
            <a:r>
              <a:rPr lang="en-US" sz="1600">
                <a:solidFill>
                  <a:srgbClr val="1C2674"/>
                </a:solidFill>
              </a:rPr>
              <a:t>Burr Fontaine (Bioinformaticist)</a:t>
            </a:r>
          </a:p>
          <a:p>
            <a:r>
              <a:rPr lang="en-US" sz="1600">
                <a:solidFill>
                  <a:srgbClr val="1C2674"/>
                </a:solidFill>
              </a:rPr>
              <a:t>David Gutmann (PI)</a:t>
            </a:r>
          </a:p>
          <a:p>
            <a:r>
              <a:rPr lang="en-US" sz="1600">
                <a:solidFill>
                  <a:srgbClr val="1C2674"/>
                </a:solidFill>
              </a:rPr>
              <a:t>Sunita Koul (Software Engineer; co-Project Manager) </a:t>
            </a:r>
          </a:p>
          <a:p>
            <a:r>
              <a:rPr lang="en-US" sz="1600">
                <a:solidFill>
                  <a:srgbClr val="1C2674"/>
                </a:solidFill>
              </a:rPr>
              <a:t>Tim Ley (PI)</a:t>
            </a:r>
          </a:p>
          <a:p>
            <a:r>
              <a:rPr lang="en-US" sz="1600">
                <a:solidFill>
                  <a:srgbClr val="1C2674"/>
                </a:solidFill>
              </a:rPr>
              <a:t>Rakesh Nagarajan (Faculty Lead)</a:t>
            </a:r>
          </a:p>
          <a:p>
            <a:r>
              <a:rPr lang="en-US" sz="1600">
                <a:solidFill>
                  <a:srgbClr val="1C2674"/>
                </a:solidFill>
              </a:rPr>
              <a:t>Jackie Payton (End User)</a:t>
            </a:r>
          </a:p>
          <a:p>
            <a:r>
              <a:rPr lang="en-US" sz="1600">
                <a:solidFill>
                  <a:srgbClr val="1C2674"/>
                </a:solidFill>
              </a:rPr>
              <a:t>Mukesh Sharma (Bioinformaticist; co-Project Manager)</a:t>
            </a:r>
          </a:p>
          <a:p>
            <a:r>
              <a:rPr lang="en-US" sz="1600">
                <a:solidFill>
                  <a:srgbClr val="1C2674"/>
                </a:solidFill>
              </a:rPr>
              <a:t>Mark Watson (PI)</a:t>
            </a:r>
          </a:p>
          <a:p>
            <a:r>
              <a:rPr lang="en-US" sz="1600">
                <a:solidFill>
                  <a:srgbClr val="1C2674"/>
                </a:solidFill>
              </a:rPr>
              <a:t>Jinsheng Yu (End User)</a:t>
            </a:r>
          </a:p>
          <a:p>
            <a:r>
              <a:rPr lang="en-US" sz="1600">
                <a:solidFill>
                  <a:srgbClr val="1C2674"/>
                </a:solidFill>
              </a:rPr>
              <a:t>Yiye Zhang (End User)</a:t>
            </a:r>
          </a:p>
          <a:p>
            <a:endParaRPr lang="en-US" sz="1600">
              <a:solidFill>
                <a:schemeClr val="accent2"/>
              </a:solidFill>
            </a:endParaRPr>
          </a:p>
          <a:p>
            <a:r>
              <a:rPr lang="en-US" sz="1600" b="1" u="sng">
                <a:solidFill>
                  <a:srgbClr val="1C2674"/>
                </a:solidFill>
              </a:rPr>
              <a:t>BAH</a:t>
            </a:r>
          </a:p>
          <a:p>
            <a:r>
              <a:rPr lang="en-US" sz="1600">
                <a:solidFill>
                  <a:srgbClr val="1C2674"/>
                </a:solidFill>
              </a:rPr>
              <a:t>Elaine Freund</a:t>
            </a:r>
          </a:p>
          <a:p>
            <a:r>
              <a:rPr lang="en-US" sz="1600">
                <a:solidFill>
                  <a:srgbClr val="1C2674"/>
                </a:solidFill>
              </a:rPr>
              <a:t>Li Kramer</a:t>
            </a:r>
          </a:p>
          <a:p>
            <a:r>
              <a:rPr lang="en-US" sz="1600">
                <a:solidFill>
                  <a:srgbClr val="1C2674"/>
                </a:solidFill>
              </a:rPr>
              <a:t>Kevin Groch</a:t>
            </a:r>
          </a:p>
          <a:p>
            <a:r>
              <a:rPr lang="en-US" sz="1600">
                <a:solidFill>
                  <a:srgbClr val="1C2674"/>
                </a:solidFill>
              </a:rPr>
              <a:t>Curt Lockshin</a:t>
            </a:r>
          </a:p>
          <a:p>
            <a:endParaRPr lang="en-US" sz="1600">
              <a:solidFill>
                <a:schemeClr val="accent2"/>
              </a:solidFill>
            </a:endParaRPr>
          </a:p>
          <a:p>
            <a:endParaRPr lang="en-US"/>
          </a:p>
        </p:txBody>
      </p:sp>
      <p:sp>
        <p:nvSpPr>
          <p:cNvPr id="33796" name="TextBox 6"/>
          <p:cNvSpPr txBox="1">
            <a:spLocks noChangeArrowheads="1"/>
          </p:cNvSpPr>
          <p:nvPr/>
        </p:nvSpPr>
        <p:spPr bwMode="auto">
          <a:xfrm>
            <a:off x="5132388" y="1295400"/>
            <a:ext cx="4046537" cy="4522788"/>
          </a:xfrm>
          <a:prstGeom prst="rect">
            <a:avLst/>
          </a:prstGeom>
          <a:noFill/>
          <a:ln w="9525">
            <a:noFill/>
            <a:miter lim="800000"/>
            <a:headEnd/>
            <a:tailEnd/>
          </a:ln>
        </p:spPr>
        <p:txBody>
          <a:bodyPr wrap="none">
            <a:spAutoFit/>
          </a:bodyPr>
          <a:lstStyle/>
          <a:p>
            <a:r>
              <a:rPr lang="en-US" sz="1600" b="1" u="sng">
                <a:solidFill>
                  <a:srgbClr val="1C2674"/>
                </a:solidFill>
              </a:rPr>
              <a:t>Persistent Systems Ltd</a:t>
            </a:r>
          </a:p>
          <a:p>
            <a:r>
              <a:rPr lang="en-US" sz="1600">
                <a:solidFill>
                  <a:srgbClr val="1C2674"/>
                </a:solidFill>
              </a:rPr>
              <a:t>Srikanth Adiga (Project Manager)</a:t>
            </a:r>
          </a:p>
          <a:p>
            <a:r>
              <a:rPr lang="en-US" sz="1600">
                <a:solidFill>
                  <a:srgbClr val="1C2674"/>
                </a:solidFill>
              </a:rPr>
              <a:t>Madhurima Bhattacharjee (Domain Expert)</a:t>
            </a:r>
          </a:p>
          <a:p>
            <a:r>
              <a:rPr lang="en-US" sz="1600">
                <a:solidFill>
                  <a:srgbClr val="1C2674"/>
                </a:solidFill>
              </a:rPr>
              <a:t>Srinath Krishnamurthy (Developer)</a:t>
            </a:r>
          </a:p>
          <a:p>
            <a:r>
              <a:rPr lang="en-US" sz="1600">
                <a:solidFill>
                  <a:srgbClr val="1C2674"/>
                </a:solidFill>
              </a:rPr>
              <a:t>Rahul J. Ner (Developer)</a:t>
            </a:r>
          </a:p>
          <a:p>
            <a:r>
              <a:rPr lang="en-US" sz="1600">
                <a:solidFill>
                  <a:srgbClr val="1C2674"/>
                </a:solidFill>
              </a:rPr>
              <a:t>Ashwini Patil (Domain Expert)</a:t>
            </a:r>
          </a:p>
          <a:p>
            <a:r>
              <a:rPr lang="en-US" sz="1600">
                <a:solidFill>
                  <a:srgbClr val="1C2674"/>
                </a:solidFill>
              </a:rPr>
              <a:t>Chetan Patil (Developer)</a:t>
            </a:r>
          </a:p>
          <a:p>
            <a:r>
              <a:rPr lang="en-US" sz="1600">
                <a:solidFill>
                  <a:srgbClr val="1C2674"/>
                </a:solidFill>
              </a:rPr>
              <a:t>Hrishikesh Rajpathak (Developer)</a:t>
            </a:r>
          </a:p>
          <a:p>
            <a:r>
              <a:rPr lang="en-US" sz="1600">
                <a:solidFill>
                  <a:srgbClr val="1C2674"/>
                </a:solidFill>
              </a:rPr>
              <a:t>Deepak Shingan (Developer)</a:t>
            </a:r>
          </a:p>
          <a:p>
            <a:r>
              <a:rPr lang="en-US" sz="1600">
                <a:solidFill>
                  <a:srgbClr val="1C2674"/>
                </a:solidFill>
              </a:rPr>
              <a:t>Jasbir Sachdeva (Developer)</a:t>
            </a:r>
          </a:p>
          <a:p>
            <a:r>
              <a:rPr lang="en-US" sz="1600">
                <a:solidFill>
                  <a:srgbClr val="1C2674"/>
                </a:solidFill>
              </a:rPr>
              <a:t>Chandrakant J. Talele (Developer)</a:t>
            </a:r>
          </a:p>
          <a:p>
            <a:r>
              <a:rPr lang="en-US" sz="1600">
                <a:solidFill>
                  <a:srgbClr val="1C2674"/>
                </a:solidFill>
              </a:rPr>
              <a:t>Rajesh Vyas (Developer)</a:t>
            </a:r>
          </a:p>
          <a:p>
            <a:endParaRPr lang="en-US" sz="1600">
              <a:solidFill>
                <a:schemeClr val="accent2"/>
              </a:solidFill>
            </a:endParaRPr>
          </a:p>
          <a:p>
            <a:r>
              <a:rPr lang="en-US" sz="1600" b="1" u="sng">
                <a:solidFill>
                  <a:srgbClr val="1C2674"/>
                </a:solidFill>
              </a:rPr>
              <a:t>caArray Team</a:t>
            </a:r>
          </a:p>
          <a:p>
            <a:r>
              <a:rPr lang="en-US" sz="1600">
                <a:solidFill>
                  <a:srgbClr val="1C2674"/>
                </a:solidFill>
              </a:rPr>
              <a:t>Juli Klemm</a:t>
            </a:r>
          </a:p>
          <a:p>
            <a:r>
              <a:rPr lang="en-US" sz="1600">
                <a:solidFill>
                  <a:srgbClr val="1C2674"/>
                </a:solidFill>
              </a:rPr>
              <a:t>Brent Gendleman</a:t>
            </a:r>
          </a:p>
          <a:p>
            <a:r>
              <a:rPr lang="en-US" sz="1600">
                <a:solidFill>
                  <a:srgbClr val="1C2674"/>
                </a:solidFill>
              </a:rPr>
              <a:t>Eric Tavela</a:t>
            </a:r>
          </a:p>
          <a:p>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1982</TotalTime>
  <Words>1843</Words>
  <PresentationFormat>On-screen Show (4:3)</PresentationFormat>
  <Paragraphs>282</Paragraphs>
  <Slides>31</Slides>
  <Notes>31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Default Design</vt:lpstr>
      <vt:lpstr>Adoption of caBIG® Tools: Project Outcome Presentation</vt:lpstr>
      <vt:lpstr>caBIG ® Overview</vt:lpstr>
      <vt:lpstr>Scope of Adoption Activity at WUSM</vt:lpstr>
      <vt:lpstr> Acute Myelogenous Leukemia (AML) Research Group</vt:lpstr>
      <vt:lpstr>Neuro-oncology Research Group</vt:lpstr>
      <vt:lpstr>Our Workflow Prior To caBIG® Tools Adoption </vt:lpstr>
      <vt:lpstr>Objectives</vt:lpstr>
      <vt:lpstr>caBIG® tools adoption</vt:lpstr>
      <vt:lpstr>caTissue Core</vt:lpstr>
      <vt:lpstr>Our instance of caTissue</vt:lpstr>
      <vt:lpstr>Our instance of caTissue</vt:lpstr>
      <vt:lpstr>caTissue Core v1.2.2 </vt:lpstr>
      <vt:lpstr>Searching caTissue Core</vt:lpstr>
      <vt:lpstr>Searching caTissue Core</vt:lpstr>
      <vt:lpstr>caArray v2.x</vt:lpstr>
      <vt:lpstr>Our instance of caArray v2.1</vt:lpstr>
      <vt:lpstr>Our instance of caArray v2.1</vt:lpstr>
      <vt:lpstr>Our instance of caArray v2.1</vt:lpstr>
      <vt:lpstr>caArray v2.1</vt:lpstr>
      <vt:lpstr>Data For Download</vt:lpstr>
      <vt:lpstr>Why we need SNP analytical services?</vt:lpstr>
      <vt:lpstr>SNP Microarray Analytical Services</vt:lpstr>
      <vt:lpstr>Segment Level Unpaired SNP Copy Number Analysis</vt:lpstr>
      <vt:lpstr>Copy Number Analysis Tool (CNAT) Analytical Service </vt:lpstr>
      <vt:lpstr>GenePattern Based Copy Number Analytical Service </vt:lpstr>
      <vt:lpstr>DNAcopy Based Analytical Service </vt:lpstr>
      <vt:lpstr>Chromosomal Segment Overlap Tools  </vt:lpstr>
      <vt:lpstr>Our Workflow Subsequent To caBIG™ Tools Adoption </vt:lpstr>
      <vt:lpstr>Future Work</vt:lpstr>
      <vt:lpstr>Useful Links</vt:lpstr>
      <vt:lpstr>Teams involved in adoption process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Goes Here</dc:title>
  <cp:lastModifiedBy>sharmam</cp:lastModifiedBy>
  <cp:revision>256</cp:revision>
  <dcterms:modified xsi:type="dcterms:W3CDTF">2009-02-02T22:12:19Z</dcterms:modified>
</cp:coreProperties>
</file>