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ls" ContentType="application/vnd.ms-exce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7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30"/>
  </p:notesMasterIdLst>
  <p:sldIdLst>
    <p:sldId id="256" r:id="rId2"/>
    <p:sldId id="257" r:id="rId3"/>
    <p:sldId id="296" r:id="rId4"/>
    <p:sldId id="298" r:id="rId5"/>
    <p:sldId id="262" r:id="rId6"/>
    <p:sldId id="264" r:id="rId7"/>
    <p:sldId id="265" r:id="rId8"/>
    <p:sldId id="266" r:id="rId9"/>
    <p:sldId id="267" r:id="rId10"/>
    <p:sldId id="268" r:id="rId11"/>
    <p:sldId id="303" r:id="rId12"/>
    <p:sldId id="304" r:id="rId13"/>
    <p:sldId id="305" r:id="rId14"/>
    <p:sldId id="271" r:id="rId15"/>
    <p:sldId id="300" r:id="rId16"/>
    <p:sldId id="301" r:id="rId17"/>
    <p:sldId id="272" r:id="rId18"/>
    <p:sldId id="276" r:id="rId19"/>
    <p:sldId id="277" r:id="rId20"/>
    <p:sldId id="278" r:id="rId21"/>
    <p:sldId id="294" r:id="rId22"/>
    <p:sldId id="295" r:id="rId23"/>
    <p:sldId id="281" r:id="rId24"/>
    <p:sldId id="299" r:id="rId25"/>
    <p:sldId id="282" r:id="rId26"/>
    <p:sldId id="291" r:id="rId27"/>
    <p:sldId id="302" r:id="rId28"/>
    <p:sldId id="287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15620"/>
    <p:restoredTop sz="94409" autoAdjust="0"/>
  </p:normalViewPr>
  <p:slideViewPr>
    <p:cSldViewPr>
      <p:cViewPr varScale="1">
        <p:scale>
          <a:sx n="91" d="100"/>
          <a:sy n="91" d="100"/>
        </p:scale>
        <p:origin x="-164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comp-size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us\AppData\Local\Temp\known-gene-log10length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us\AppData\Local\Temp\known-gene-log10length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Application%20Data\SSH\temp\EF-iso-geometric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Application%20Data\SSH\temp\EF-gene-geometric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RichardAbsoluteExpressions.xls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RichardAbsoluteExpressions.xls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mpe750M_by_bins-ion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AMB-plots-ion\mpe750M_by_bins-ion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fixed750M-new.xls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on\Desktop\INFORMS10\AMB-SUBM\fixed750M-new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1"/>
          <c:order val="1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6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6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25714432"/>
        <c:axId val="125715968"/>
      </c:barChart>
      <c:catAx>
        <c:axId val="125714432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25715968"/>
        <c:crossesAt val="0"/>
        <c:auto val="1"/>
        <c:lblAlgn val="ctr"/>
        <c:lblOffset val="100"/>
      </c:catAx>
      <c:valAx>
        <c:axId val="125715968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25714432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1"/>
          <c:order val="1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2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2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25527936"/>
        <c:axId val="125529472"/>
      </c:barChart>
      <c:catAx>
        <c:axId val="125527936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25529472"/>
        <c:crossesAt val="0"/>
        <c:auto val="1"/>
        <c:lblAlgn val="ctr"/>
        <c:lblOffset val="100"/>
      </c:catAx>
      <c:valAx>
        <c:axId val="125529472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25527936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00B050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00B050"/>
              </a:solidFill>
            </c:spPr>
          </c:dPt>
          <c:dPt>
            <c:idx val="4"/>
            <c:spPr>
              <a:solidFill>
                <a:srgbClr val="00B050"/>
              </a:solidFill>
            </c:spPr>
          </c:dPt>
          <c:dPt>
            <c:idx val="5"/>
            <c:spPr>
              <a:solidFill>
                <a:srgbClr val="00B050"/>
              </a:solidFill>
            </c:spPr>
          </c:dPt>
          <c:dPt>
            <c:idx val="6"/>
            <c:spPr>
              <a:solidFill>
                <a:srgbClr val="00B050"/>
              </a:solidFill>
            </c:spPr>
          </c:dPt>
          <c:dPt>
            <c:idx val="7"/>
            <c:spPr>
              <a:solidFill>
                <a:srgbClr val="00B050"/>
              </a:solidFill>
            </c:spPr>
          </c:dPt>
          <c:dPt>
            <c:idx val="8"/>
            <c:spPr>
              <a:solidFill>
                <a:srgbClr val="00B050"/>
              </a:solidFill>
            </c:spPr>
          </c:dPt>
          <c:dPt>
            <c:idx val="9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27909248"/>
        <c:axId val="127915136"/>
      </c:barChart>
      <c:catAx>
        <c:axId val="127909248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27915136"/>
        <c:crossesAt val="0"/>
        <c:auto val="1"/>
        <c:lblAlgn val="ctr"/>
        <c:lblOffset val="100"/>
      </c:catAx>
      <c:valAx>
        <c:axId val="127915136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2790924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0"/>
            <c:spPr>
              <a:solidFill>
                <a:srgbClr val="92D050"/>
              </a:solidFill>
            </c:spPr>
          </c:dPt>
          <c:dPt>
            <c:idx val="1"/>
            <c:spPr>
              <a:solidFill>
                <a:srgbClr val="92D050"/>
              </a:solidFill>
            </c:spPr>
          </c:dPt>
          <c:dPt>
            <c:idx val="2"/>
            <c:spPr>
              <a:solidFill>
                <a:srgbClr val="92D050"/>
              </a:solidFill>
            </c:spPr>
          </c:dPt>
          <c:dPt>
            <c:idx val="3"/>
            <c:spPr>
              <a:solidFill>
                <a:srgbClr val="92D050"/>
              </a:solidFill>
            </c:spPr>
          </c:dPt>
          <c:dPt>
            <c:idx val="4"/>
            <c:spPr>
              <a:solidFill>
                <a:srgbClr val="92D050"/>
              </a:solidFill>
            </c:spPr>
          </c:dPt>
          <c:dPt>
            <c:idx val="5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41"/>
        <c:axId val="125742080"/>
        <c:axId val="125743872"/>
      </c:barChart>
      <c:catAx>
        <c:axId val="125742080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125743872"/>
        <c:crossesAt val="0"/>
        <c:auto val="1"/>
        <c:lblAlgn val="ctr"/>
        <c:lblOffset val="100"/>
      </c:catAx>
      <c:valAx>
        <c:axId val="125743872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12574208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scatterChart>
        <c:scatterStyle val="lineMarker"/>
        <c:ser>
          <c:idx val="0"/>
          <c:order val="0"/>
          <c:spPr>
            <a:ln w="28575">
              <a:noFill/>
            </a:ln>
          </c:spPr>
          <c:marker>
            <c:symbol val="star"/>
            <c:size val="6"/>
            <c:spPr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>'comp-sizes'!$A$1:$A$47</c:f>
              <c:numCache>
                <c:formatCode>General</c:formatCode>
                <c:ptCount val="4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36</c:v>
                </c:pt>
                <c:pt idx="35">
                  <c:v>37</c:v>
                </c:pt>
                <c:pt idx="36">
                  <c:v>39</c:v>
                </c:pt>
                <c:pt idx="37">
                  <c:v>43</c:v>
                </c:pt>
                <c:pt idx="38">
                  <c:v>45</c:v>
                </c:pt>
                <c:pt idx="39">
                  <c:v>46</c:v>
                </c:pt>
                <c:pt idx="40">
                  <c:v>47</c:v>
                </c:pt>
                <c:pt idx="41">
                  <c:v>48</c:v>
                </c:pt>
                <c:pt idx="42">
                  <c:v>50</c:v>
                </c:pt>
                <c:pt idx="43">
                  <c:v>51</c:v>
                </c:pt>
                <c:pt idx="44">
                  <c:v>62</c:v>
                </c:pt>
                <c:pt idx="45">
                  <c:v>104</c:v>
                </c:pt>
                <c:pt idx="46">
                  <c:v>157</c:v>
                </c:pt>
              </c:numCache>
            </c:numRef>
          </c:xVal>
          <c:yVal>
            <c:numRef>
              <c:f>'comp-sizes'!$B$1:$B$47</c:f>
              <c:numCache>
                <c:formatCode>General</c:formatCode>
                <c:ptCount val="47"/>
                <c:pt idx="0">
                  <c:v>5083</c:v>
                </c:pt>
                <c:pt idx="1">
                  <c:v>3992</c:v>
                </c:pt>
                <c:pt idx="2">
                  <c:v>2745</c:v>
                </c:pt>
                <c:pt idx="3">
                  <c:v>1902</c:v>
                </c:pt>
                <c:pt idx="4">
                  <c:v>1187</c:v>
                </c:pt>
                <c:pt idx="5">
                  <c:v>756</c:v>
                </c:pt>
                <c:pt idx="6">
                  <c:v>436</c:v>
                </c:pt>
                <c:pt idx="7">
                  <c:v>258</c:v>
                </c:pt>
                <c:pt idx="8">
                  <c:v>184</c:v>
                </c:pt>
                <c:pt idx="9">
                  <c:v>104</c:v>
                </c:pt>
                <c:pt idx="10">
                  <c:v>77</c:v>
                </c:pt>
                <c:pt idx="11">
                  <c:v>63</c:v>
                </c:pt>
                <c:pt idx="12">
                  <c:v>30</c:v>
                </c:pt>
                <c:pt idx="13">
                  <c:v>23</c:v>
                </c:pt>
                <c:pt idx="14">
                  <c:v>31</c:v>
                </c:pt>
                <c:pt idx="15">
                  <c:v>13</c:v>
                </c:pt>
                <c:pt idx="16">
                  <c:v>8</c:v>
                </c:pt>
                <c:pt idx="17">
                  <c:v>10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1</c:v>
                </c:pt>
                <c:pt idx="22">
                  <c:v>3</c:v>
                </c:pt>
                <c:pt idx="23">
                  <c:v>2</c:v>
                </c:pt>
                <c:pt idx="24">
                  <c:v>1</c:v>
                </c:pt>
                <c:pt idx="25">
                  <c:v>5</c:v>
                </c:pt>
                <c:pt idx="26">
                  <c:v>4</c:v>
                </c:pt>
                <c:pt idx="27">
                  <c:v>2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4</c:v>
                </c:pt>
                <c:pt idx="32">
                  <c:v>2</c:v>
                </c:pt>
                <c:pt idx="33">
                  <c:v>1</c:v>
                </c:pt>
                <c:pt idx="34">
                  <c:v>1</c:v>
                </c:pt>
                <c:pt idx="35">
                  <c:v>2</c:v>
                </c:pt>
                <c:pt idx="36">
                  <c:v>3</c:v>
                </c:pt>
                <c:pt idx="37">
                  <c:v>2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2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</c:numCache>
            </c:numRef>
          </c:yVal>
        </c:ser>
        <c:axId val="127183104"/>
        <c:axId val="127183488"/>
      </c:scatterChart>
      <c:valAx>
        <c:axId val="12718310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Component Size (# isoforms)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127183488"/>
        <c:crosses val="autoZero"/>
        <c:crossBetween val="midCat"/>
      </c:valAx>
      <c:valAx>
        <c:axId val="127183488"/>
        <c:scaling>
          <c:logBase val="10"/>
          <c:orientation val="minMax"/>
          <c:min val="1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</a:t>
                </a:r>
                <a:r>
                  <a:rPr lang="en-US" baseline="0"/>
                  <a:t> of Componets</a:t>
                </a:r>
                <a:endParaRPr lang="en-US"/>
              </a:p>
            </c:rich>
          </c:tx>
          <c:layout/>
        </c:title>
        <c:numFmt formatCode="#,##0" sourceLinked="0"/>
        <c:majorTickMark val="none"/>
        <c:tickLblPos val="nextTo"/>
        <c:crossAx val="127183104"/>
        <c:crosses val="autoZero"/>
        <c:crossBetween val="midCat"/>
      </c:valAx>
      <c:spPr>
        <a:solidFill>
          <a:schemeClr val="bg2">
            <a:lumMod val="75000"/>
          </a:schemeClr>
        </a:solidFill>
      </c:spPr>
    </c:plotArea>
    <c:plotVisOnly val="1"/>
  </c:chart>
  <c:spPr>
    <a:noFill/>
    <a:ln>
      <a:noFill/>
    </a:ln>
  </c:sp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20324864639733592"/>
          <c:y val="5.5517002081887583E-2"/>
          <c:w val="0.74635568513119765"/>
          <c:h val="0.67730742539903122"/>
        </c:manualLayout>
      </c:layout>
      <c:barChart>
        <c:barDir val="col"/>
        <c:grouping val="clustered"/>
        <c:ser>
          <c:idx val="0"/>
          <c:order val="0"/>
          <c:cat>
            <c:numRef>
              <c:f>Sheet1!$L$27:$L$49</c:f>
              <c:numCache>
                <c:formatCode>General</c:formatCode>
                <c:ptCount val="23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</c:numCache>
            </c:numRef>
          </c:cat>
          <c:val>
            <c:numRef>
              <c:f>Sheet1!$K$27:$K$49</c:f>
              <c:numCache>
                <c:formatCode>General</c:formatCode>
                <c:ptCount val="23"/>
                <c:pt idx="1">
                  <c:v>17666</c:v>
                </c:pt>
                <c:pt idx="3">
                  <c:v>1465</c:v>
                </c:pt>
                <c:pt idx="5">
                  <c:v>167</c:v>
                </c:pt>
                <c:pt idx="7">
                  <c:v>37</c:v>
                </c:pt>
                <c:pt idx="9">
                  <c:v>18</c:v>
                </c:pt>
                <c:pt idx="11">
                  <c:v>5</c:v>
                </c:pt>
                <c:pt idx="13">
                  <c:v>5</c:v>
                </c:pt>
                <c:pt idx="15">
                  <c:v>3</c:v>
                </c:pt>
                <c:pt idx="17">
                  <c:v>2</c:v>
                </c:pt>
                <c:pt idx="19">
                  <c:v>1</c:v>
                </c:pt>
                <c:pt idx="21">
                  <c:v>2</c:v>
                </c:pt>
              </c:numCache>
            </c:numRef>
          </c:val>
        </c:ser>
        <c:gapWidth val="0"/>
        <c:overlap val="100"/>
        <c:axId val="83124224"/>
        <c:axId val="83152896"/>
      </c:barChart>
      <c:catAx>
        <c:axId val="8312422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isoforms</a:t>
                </a:r>
              </a:p>
            </c:rich>
          </c:tx>
          <c:layout/>
        </c:title>
        <c:numFmt formatCode="General" sourceLinked="1"/>
        <c:tickLblPos val="nextTo"/>
        <c:crossAx val="83152896"/>
        <c:crosses val="autoZero"/>
        <c:auto val="1"/>
        <c:lblAlgn val="ctr"/>
        <c:lblOffset val="100"/>
        <c:tickLblSkip val="2"/>
        <c:tickMarkSkip val="2"/>
      </c:catAx>
      <c:valAx>
        <c:axId val="83152896"/>
        <c:scaling>
          <c:logBase val="10"/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Number of genes</a:t>
                </a:r>
              </a:p>
            </c:rich>
          </c:tx>
          <c:layout/>
        </c:title>
        <c:numFmt formatCode="General" sourceLinked="1"/>
        <c:tickLblPos val="nextTo"/>
        <c:crossAx val="83124224"/>
        <c:crossesAt val="1"/>
        <c:crossBetween val="midCat"/>
      </c:valAx>
      <c:spPr>
        <a:solidFill>
          <a:sysClr val="window" lastClr="FFFFFF">
            <a:lumMod val="75000"/>
          </a:sysClr>
        </a:solidFill>
        <a:ln>
          <a:solidFill>
            <a:schemeClr val="tx1"/>
          </a:solidFill>
        </a:ln>
      </c:spPr>
    </c:plotArea>
    <c:plotVisOnly val="1"/>
    <c:dispBlanksAs val="gap"/>
  </c:chart>
  <c:spPr>
    <a:solidFill>
      <a:schemeClr val="bg1"/>
    </a:solidFill>
    <a:ln>
      <a:noFill/>
    </a:ln>
  </c:sp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197041776028186"/>
          <c:y val="5.9002624671916561E-2"/>
          <c:w val="0.65234033245844869"/>
          <c:h val="0.66792889525173338"/>
        </c:manualLayout>
      </c:layout>
      <c:barChart>
        <c:barDir val="col"/>
        <c:grouping val="clustered"/>
        <c:ser>
          <c:idx val="0"/>
          <c:order val="0"/>
          <c:cat>
            <c:numRef>
              <c:f>'known-gene-log10lengths'!$E$9:$E$25</c:f>
              <c:numCache>
                <c:formatCode>General</c:formatCode>
                <c:ptCount val="17"/>
                <c:pt idx="0">
                  <c:v>10</c:v>
                </c:pt>
                <c:pt idx="1">
                  <c:v>17.782794100389079</c:v>
                </c:pt>
                <c:pt idx="2">
                  <c:v>31.622776601683789</c:v>
                </c:pt>
                <c:pt idx="3">
                  <c:v>56.234132519035093</c:v>
                </c:pt>
                <c:pt idx="4">
                  <c:v>100</c:v>
                </c:pt>
                <c:pt idx="5">
                  <c:v>177.82794100389287</c:v>
                </c:pt>
                <c:pt idx="6">
                  <c:v>316.2277660168383</c:v>
                </c:pt>
                <c:pt idx="7">
                  <c:v>562.34132519034586</c:v>
                </c:pt>
                <c:pt idx="8">
                  <c:v>1000</c:v>
                </c:pt>
                <c:pt idx="9">
                  <c:v>1778.2794100389171</c:v>
                </c:pt>
                <c:pt idx="10">
                  <c:v>3162.2776601683686</c:v>
                </c:pt>
                <c:pt idx="11">
                  <c:v>5623.4132519034993</c:v>
                </c:pt>
                <c:pt idx="12">
                  <c:v>10000</c:v>
                </c:pt>
                <c:pt idx="13">
                  <c:v>17782.794100389234</c:v>
                </c:pt>
                <c:pt idx="14">
                  <c:v>31622.776601683861</c:v>
                </c:pt>
                <c:pt idx="15">
                  <c:v>56234.132519035003</c:v>
                </c:pt>
                <c:pt idx="16">
                  <c:v>100000</c:v>
                </c:pt>
              </c:numCache>
            </c:numRef>
          </c:cat>
          <c:val>
            <c:numRef>
              <c:f>'known-gene-log10lengths'!$D$9:$D$25</c:f>
              <c:numCache>
                <c:formatCode>General</c:formatCode>
                <c:ptCount val="17"/>
                <c:pt idx="0">
                  <c:v>0</c:v>
                </c:pt>
                <c:pt idx="1">
                  <c:v>629</c:v>
                </c:pt>
                <c:pt idx="2">
                  <c:v>727</c:v>
                </c:pt>
                <c:pt idx="3">
                  <c:v>493</c:v>
                </c:pt>
                <c:pt idx="4">
                  <c:v>272</c:v>
                </c:pt>
                <c:pt idx="5">
                  <c:v>348</c:v>
                </c:pt>
                <c:pt idx="6">
                  <c:v>1874</c:v>
                </c:pt>
                <c:pt idx="7">
                  <c:v>5999</c:v>
                </c:pt>
                <c:pt idx="8">
                  <c:v>15397</c:v>
                </c:pt>
                <c:pt idx="9">
                  <c:v>22757</c:v>
                </c:pt>
                <c:pt idx="10">
                  <c:v>13693</c:v>
                </c:pt>
                <c:pt idx="11">
                  <c:v>4058</c:v>
                </c:pt>
                <c:pt idx="12">
                  <c:v>512</c:v>
                </c:pt>
                <c:pt idx="13">
                  <c:v>35</c:v>
                </c:pt>
                <c:pt idx="14">
                  <c:v>3</c:v>
                </c:pt>
                <c:pt idx="15">
                  <c:v>5</c:v>
                </c:pt>
                <c:pt idx="16">
                  <c:v>1</c:v>
                </c:pt>
              </c:numCache>
            </c:numRef>
          </c:val>
        </c:ser>
        <c:gapWidth val="10"/>
        <c:axId val="83163392"/>
        <c:axId val="62394752"/>
      </c:barChart>
      <c:catAx>
        <c:axId val="8316339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/>
                  <a:t>Isoform</a:t>
                </a:r>
                <a:r>
                  <a:rPr lang="en-US" dirty="0"/>
                  <a:t> length</a:t>
                </a:r>
              </a:p>
            </c:rich>
          </c:tx>
          <c:layout/>
        </c:title>
        <c:numFmt formatCode="General" sourceLinked="1"/>
        <c:tickLblPos val="nextTo"/>
        <c:spPr>
          <a:ln>
            <a:noFill/>
          </a:ln>
        </c:spPr>
        <c:crossAx val="62394752"/>
        <c:crosses val="autoZero"/>
        <c:auto val="1"/>
        <c:lblAlgn val="ctr"/>
        <c:lblOffset val="100"/>
        <c:tickLblSkip val="4"/>
      </c:catAx>
      <c:valAx>
        <c:axId val="62394752"/>
        <c:scaling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Number</a:t>
                </a:r>
                <a:r>
                  <a:rPr lang="en-US" baseline="0"/>
                  <a:t> of isoforms</a:t>
                </a:r>
                <a:endParaRPr lang="en-US"/>
              </a:p>
            </c:rich>
          </c:tx>
          <c:layout/>
        </c:title>
        <c:numFmt formatCode="General" sourceLinked="1"/>
        <c:tickLblPos val="nextTo"/>
        <c:crossAx val="83163392"/>
        <c:crosses val="autoZero"/>
        <c:crossBetween val="between"/>
      </c:valAx>
      <c:spPr>
        <a:solidFill>
          <a:schemeClr val="bg1">
            <a:lumMod val="75000"/>
          </a:schemeClr>
        </a:solidFill>
        <a:ln>
          <a:solidFill>
            <a:schemeClr val="tx1"/>
          </a:solidFill>
        </a:ln>
      </c:spPr>
    </c:plotArea>
    <c:plotVisOnly val="1"/>
  </c:chart>
  <c:spPr>
    <a:ln>
      <a:noFill/>
    </a:ln>
  </c:sp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0145555793882938"/>
          <c:y val="8.8841537583267266E-2"/>
          <c:w val="0.55832442720558573"/>
          <c:h val="0.65570447656891395"/>
        </c:manualLayout>
      </c:layout>
      <c:scatterChart>
        <c:scatterStyle val="lineMarker"/>
        <c:ser>
          <c:idx val="0"/>
          <c:order val="0"/>
          <c:tx>
            <c:strRef>
              <c:f>feng_errf_points_iso!$G$8</c:f>
              <c:strCache>
                <c:ptCount val="1"/>
                <c:pt idx="0">
                  <c:v>Uniq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feng_errf_points_iso!$H$8:$AB$8</c:f>
              <c:numCache>
                <c:formatCode>General</c:formatCode>
                <c:ptCount val="21"/>
                <c:pt idx="0">
                  <c:v>100</c:v>
                </c:pt>
                <c:pt idx="1">
                  <c:v>79.479963474694202</c:v>
                </c:pt>
                <c:pt idx="2">
                  <c:v>78.738978788377693</c:v>
                </c:pt>
                <c:pt idx="3">
                  <c:v>77.999491040821482</c:v>
                </c:pt>
                <c:pt idx="4">
                  <c:v>77.280960435908497</c:v>
                </c:pt>
                <c:pt idx="5">
                  <c:v>76.519018606948705</c:v>
                </c:pt>
                <c:pt idx="6">
                  <c:v>75.761567594269707</c:v>
                </c:pt>
                <c:pt idx="7">
                  <c:v>74.969686990105259</c:v>
                </c:pt>
                <c:pt idx="8">
                  <c:v>74.137389039414359</c:v>
                </c:pt>
                <c:pt idx="9">
                  <c:v>73.272158435998278</c:v>
                </c:pt>
                <c:pt idx="10">
                  <c:v>72.278191099202104</c:v>
                </c:pt>
                <c:pt idx="11">
                  <c:v>71.272248252323806</c:v>
                </c:pt>
                <c:pt idx="12">
                  <c:v>70.148047243387182</c:v>
                </c:pt>
                <c:pt idx="13">
                  <c:v>68.898103378590648</c:v>
                </c:pt>
                <c:pt idx="14">
                  <c:v>67.517925841653806</c:v>
                </c:pt>
                <c:pt idx="15">
                  <c:v>65.829378920108226</c:v>
                </c:pt>
                <c:pt idx="16">
                  <c:v>63.715701390656101</c:v>
                </c:pt>
                <c:pt idx="17">
                  <c:v>60.911935092735298</c:v>
                </c:pt>
                <c:pt idx="18">
                  <c:v>56.877685133901096</c:v>
                </c:pt>
                <c:pt idx="19">
                  <c:v>50.624971932398203</c:v>
                </c:pt>
                <c:pt idx="20">
                  <c:v>10.521982545694</c:v>
                </c:pt>
              </c:numCache>
            </c:numRef>
          </c:yVal>
        </c:ser>
        <c:ser>
          <c:idx val="4"/>
          <c:order val="1"/>
          <c:tx>
            <c:v>Rescue</c:v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feng_errf_points_iso!$H$9:$AB$9</c:f>
              <c:numCache>
                <c:formatCode>General</c:formatCode>
                <c:ptCount val="21"/>
                <c:pt idx="0">
                  <c:v>100</c:v>
                </c:pt>
                <c:pt idx="1">
                  <c:v>83.056150172896295</c:v>
                </c:pt>
                <c:pt idx="2">
                  <c:v>79.041360417945327</c:v>
                </c:pt>
                <c:pt idx="3">
                  <c:v>76.017544122269882</c:v>
                </c:pt>
                <c:pt idx="4">
                  <c:v>73.478735984910799</c:v>
                </c:pt>
                <c:pt idx="5">
                  <c:v>71.143511518943683</c:v>
                </c:pt>
                <c:pt idx="6">
                  <c:v>68.736433992485289</c:v>
                </c:pt>
                <c:pt idx="7">
                  <c:v>66.523958504857447</c:v>
                </c:pt>
                <c:pt idx="8">
                  <c:v>64.37734832267995</c:v>
                </c:pt>
                <c:pt idx="9">
                  <c:v>62.238222834303841</c:v>
                </c:pt>
                <c:pt idx="10">
                  <c:v>60.019759591635072</c:v>
                </c:pt>
                <c:pt idx="11">
                  <c:v>57.865664715656344</c:v>
                </c:pt>
                <c:pt idx="12">
                  <c:v>55.651692289268354</c:v>
                </c:pt>
                <c:pt idx="13">
                  <c:v>53.397302516354003</c:v>
                </c:pt>
                <c:pt idx="14">
                  <c:v>50.988728051135404</c:v>
                </c:pt>
                <c:pt idx="15">
                  <c:v>48.412496444770397</c:v>
                </c:pt>
                <c:pt idx="16">
                  <c:v>45.783871981797169</c:v>
                </c:pt>
                <c:pt idx="17">
                  <c:v>42.821430175291454</c:v>
                </c:pt>
                <c:pt idx="18">
                  <c:v>39.050641438258658</c:v>
                </c:pt>
                <c:pt idx="19">
                  <c:v>34.217026181458898</c:v>
                </c:pt>
                <c:pt idx="20">
                  <c:v>28.176878283909399</c:v>
                </c:pt>
              </c:numCache>
            </c:numRef>
          </c:yVal>
        </c:ser>
        <c:ser>
          <c:idx val="1"/>
          <c:order val="2"/>
          <c:tx>
            <c:strRef>
              <c:f>feng_errf_points_iso!$G$10</c:f>
              <c:strCache>
                <c:ptCount val="1"/>
                <c:pt idx="0">
                  <c:v>UniqLN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feng_errf_points_iso!$H$10:$AB$10</c:f>
              <c:numCache>
                <c:formatCode>General</c:formatCode>
                <c:ptCount val="21"/>
                <c:pt idx="0">
                  <c:v>100</c:v>
                </c:pt>
                <c:pt idx="1">
                  <c:v>76.857326766761858</c:v>
                </c:pt>
                <c:pt idx="2">
                  <c:v>73.480232923671082</c:v>
                </c:pt>
                <c:pt idx="3">
                  <c:v>69.764830920766983</c:v>
                </c:pt>
                <c:pt idx="4">
                  <c:v>65.582384024669395</c:v>
                </c:pt>
                <c:pt idx="5">
                  <c:v>60.247294283190797</c:v>
                </c:pt>
                <c:pt idx="6">
                  <c:v>54.500546382647372</c:v>
                </c:pt>
                <c:pt idx="7">
                  <c:v>50.666886217684798</c:v>
                </c:pt>
                <c:pt idx="8">
                  <c:v>47.915512776372303</c:v>
                </c:pt>
                <c:pt idx="9">
                  <c:v>45.764411777914098</c:v>
                </c:pt>
                <c:pt idx="10">
                  <c:v>44.032453632321939</c:v>
                </c:pt>
                <c:pt idx="11">
                  <c:v>42.587907728694795</c:v>
                </c:pt>
                <c:pt idx="12">
                  <c:v>41.31700672125497</c:v>
                </c:pt>
                <c:pt idx="13">
                  <c:v>40.294597548014302</c:v>
                </c:pt>
                <c:pt idx="14">
                  <c:v>39.376974087989993</c:v>
                </c:pt>
                <c:pt idx="15">
                  <c:v>38.615032259030201</c:v>
                </c:pt>
                <c:pt idx="16">
                  <c:v>37.995299612292797</c:v>
                </c:pt>
                <c:pt idx="17">
                  <c:v>37.405505740760113</c:v>
                </c:pt>
                <c:pt idx="18">
                  <c:v>36.935466970046171</c:v>
                </c:pt>
                <c:pt idx="19">
                  <c:v>36.447464934209471</c:v>
                </c:pt>
                <c:pt idx="20">
                  <c:v>5.6195081059233836</c:v>
                </c:pt>
              </c:numCache>
            </c:numRef>
          </c:yVal>
        </c:ser>
        <c:ser>
          <c:idx val="5"/>
          <c:order val="3"/>
          <c:tx>
            <c:v>Cufflinks</c:v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feng_errf_points_iso!$H$13:$AB$13</c:f>
              <c:numCache>
                <c:formatCode>General</c:formatCode>
                <c:ptCount val="21"/>
                <c:pt idx="0">
                  <c:v>100</c:v>
                </c:pt>
                <c:pt idx="1">
                  <c:v>78.500965525500305</c:v>
                </c:pt>
                <c:pt idx="2">
                  <c:v>73.273655374758548</c:v>
                </c:pt>
                <c:pt idx="3">
                  <c:v>67.940062572040105</c:v>
                </c:pt>
                <c:pt idx="4">
                  <c:v>62.766642216666902</c:v>
                </c:pt>
                <c:pt idx="5">
                  <c:v>57.620166758977838</c:v>
                </c:pt>
                <c:pt idx="6">
                  <c:v>53.053006601499895</c:v>
                </c:pt>
                <c:pt idx="7">
                  <c:v>49.366046435040253</c:v>
                </c:pt>
                <c:pt idx="8">
                  <c:v>46.421567893657354</c:v>
                </c:pt>
                <c:pt idx="9">
                  <c:v>43.935152612906613</c:v>
                </c:pt>
                <c:pt idx="10">
                  <c:v>41.772076104366498</c:v>
                </c:pt>
                <c:pt idx="11">
                  <c:v>39.950301633160095</c:v>
                </c:pt>
                <c:pt idx="12">
                  <c:v>38.32462613954457</c:v>
                </c:pt>
                <c:pt idx="13">
                  <c:v>36.917503704923398</c:v>
                </c:pt>
                <c:pt idx="14">
                  <c:v>35.743903716898913</c:v>
                </c:pt>
                <c:pt idx="15">
                  <c:v>34.706525156055839</c:v>
                </c:pt>
                <c:pt idx="16">
                  <c:v>33.809858838674913</c:v>
                </c:pt>
                <c:pt idx="17">
                  <c:v>32.997021091867055</c:v>
                </c:pt>
                <c:pt idx="18">
                  <c:v>32.345852731164698</c:v>
                </c:pt>
                <c:pt idx="19">
                  <c:v>31.715641513105581</c:v>
                </c:pt>
                <c:pt idx="20">
                  <c:v>12.7958325224915</c:v>
                </c:pt>
              </c:numCache>
            </c:numRef>
          </c:yVal>
        </c:ser>
        <c:ser>
          <c:idx val="2"/>
          <c:order val="4"/>
          <c:tx>
            <c:strRef>
              <c:f>feng_errf_points_iso!$G$11</c:f>
              <c:strCache>
                <c:ptCount val="1"/>
                <c:pt idx="0">
                  <c:v>RSEM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feng_errf_points_iso!$H$11:$AB$11</c:f>
              <c:numCache>
                <c:formatCode>General</c:formatCode>
                <c:ptCount val="21"/>
                <c:pt idx="0">
                  <c:v>100</c:v>
                </c:pt>
                <c:pt idx="1">
                  <c:v>73.805068634642083</c:v>
                </c:pt>
                <c:pt idx="2">
                  <c:v>64.577938116551408</c:v>
                </c:pt>
                <c:pt idx="3">
                  <c:v>56.940556561830995</c:v>
                </c:pt>
                <c:pt idx="4">
                  <c:v>51.220753558971957</c:v>
                </c:pt>
                <c:pt idx="5">
                  <c:v>46.590721973564001</c:v>
                </c:pt>
                <c:pt idx="6">
                  <c:v>42.631318952741601</c:v>
                </c:pt>
                <c:pt idx="7">
                  <c:v>39.335059802703398</c:v>
                </c:pt>
                <c:pt idx="8">
                  <c:v>36.58518330015113</c:v>
                </c:pt>
                <c:pt idx="9">
                  <c:v>34.202056793856499</c:v>
                </c:pt>
                <c:pt idx="10">
                  <c:v>32.046464979117658</c:v>
                </c:pt>
                <c:pt idx="11">
                  <c:v>30.1393649985779</c:v>
                </c:pt>
                <c:pt idx="12">
                  <c:v>28.497223178599686</c:v>
                </c:pt>
                <c:pt idx="13">
                  <c:v>27.194886457195015</c:v>
                </c:pt>
                <c:pt idx="14">
                  <c:v>26.007814020328414</c:v>
                </c:pt>
                <c:pt idx="15">
                  <c:v>24.973429337005779</c:v>
                </c:pt>
                <c:pt idx="16">
                  <c:v>24.061793632022489</c:v>
                </c:pt>
                <c:pt idx="17">
                  <c:v>23.263925272816987</c:v>
                </c:pt>
                <c:pt idx="18">
                  <c:v>22.513958953939113</c:v>
                </c:pt>
                <c:pt idx="19">
                  <c:v>21.686151819529002</c:v>
                </c:pt>
                <c:pt idx="20">
                  <c:v>11.313863149858499</c:v>
                </c:pt>
              </c:numCache>
            </c:numRef>
          </c:yVal>
        </c:ser>
        <c:ser>
          <c:idx val="3"/>
          <c:order val="5"/>
          <c:tx>
            <c:strRef>
              <c:f>feng_errf_points_iso!$G$12</c:f>
              <c:strCache>
                <c:ptCount val="1"/>
                <c:pt idx="0">
                  <c:v>IsoEM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feng_errf_points_iso!$H$7:$AB$7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feng_errf_points_iso!$H$12:$AB$12</c:f>
              <c:numCache>
                <c:formatCode>General</c:formatCode>
                <c:ptCount val="21"/>
                <c:pt idx="0">
                  <c:v>100</c:v>
                </c:pt>
                <c:pt idx="1">
                  <c:v>63.980659551217613</c:v>
                </c:pt>
                <c:pt idx="2">
                  <c:v>52.927263745640055</c:v>
                </c:pt>
                <c:pt idx="3">
                  <c:v>45.496459739832005</c:v>
                </c:pt>
                <c:pt idx="4">
                  <c:v>39.794620002095698</c:v>
                </c:pt>
                <c:pt idx="5">
                  <c:v>35.336736374114913</c:v>
                </c:pt>
                <c:pt idx="6">
                  <c:v>31.667739472778081</c:v>
                </c:pt>
                <c:pt idx="7">
                  <c:v>28.572070116611513</c:v>
                </c:pt>
                <c:pt idx="8">
                  <c:v>26.150023202550699</c:v>
                </c:pt>
                <c:pt idx="9">
                  <c:v>24.030357918057515</c:v>
                </c:pt>
                <c:pt idx="10">
                  <c:v>22.202595691810199</c:v>
                </c:pt>
                <c:pt idx="11">
                  <c:v>20.5619508105923</c:v>
                </c:pt>
                <c:pt idx="12">
                  <c:v>19.026091642590899</c:v>
                </c:pt>
                <c:pt idx="13">
                  <c:v>17.728245737466789</c:v>
                </c:pt>
                <c:pt idx="14">
                  <c:v>16.6699100339805</c:v>
                </c:pt>
                <c:pt idx="15">
                  <c:v>15.705881472388899</c:v>
                </c:pt>
                <c:pt idx="16">
                  <c:v>14.788258012364699</c:v>
                </c:pt>
                <c:pt idx="17">
                  <c:v>13.927518225229402</c:v>
                </c:pt>
                <c:pt idx="18">
                  <c:v>13.0802508869362</c:v>
                </c:pt>
                <c:pt idx="19">
                  <c:v>12.3183090579764</c:v>
                </c:pt>
                <c:pt idx="20">
                  <c:v>7.4831968624163485</c:v>
                </c:pt>
              </c:numCache>
            </c:numRef>
          </c:yVal>
        </c:ser>
        <c:axId val="92346624"/>
        <c:axId val="92361088"/>
      </c:scatterChart>
      <c:valAx>
        <c:axId val="92346624"/>
        <c:scaling>
          <c:orientation val="minMax"/>
          <c:max val="1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Relative error threshold</a:t>
                </a:r>
              </a:p>
            </c:rich>
          </c:tx>
          <c:layout>
            <c:manualLayout>
              <c:xMode val="edge"/>
              <c:yMode val="edge"/>
              <c:x val="0.34974925182322675"/>
              <c:y val="0.83407002917205009"/>
            </c:manualLayout>
          </c:layout>
        </c:title>
        <c:numFmt formatCode="General" sourceLinked="1"/>
        <c:minorTickMark val="out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92361088"/>
        <c:crosses val="autoZero"/>
        <c:crossBetween val="midCat"/>
        <c:majorUnit val="0.2"/>
        <c:minorUnit val="0.05"/>
      </c:valAx>
      <c:valAx>
        <c:axId val="92361088"/>
        <c:scaling>
          <c:orientation val="minMax"/>
          <c:max val="100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% of isoforms over threshold </a:t>
                </a:r>
              </a:p>
            </c:rich>
          </c:tx>
          <c:layout>
            <c:manualLayout>
              <c:xMode val="edge"/>
              <c:yMode val="edge"/>
              <c:x val="0.10134855836747338"/>
              <c:y val="0.16142203586780779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92346624"/>
        <c:crosses val="autoZero"/>
        <c:crossBetween val="midCat"/>
        <c:majorUnit val="10"/>
      </c:valAx>
    </c:plotArea>
    <c:legend>
      <c:legendPos val="r"/>
      <c:layout>
        <c:manualLayout>
          <c:xMode val="edge"/>
          <c:yMode val="edge"/>
          <c:x val="0.79158173978252644"/>
          <c:y val="0.19246142219838624"/>
          <c:w val="0.15986479549834887"/>
          <c:h val="0.44787401574803148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0190739612359096"/>
          <c:y val="8.9095230968945463E-2"/>
          <c:w val="0.5741817670203424"/>
          <c:h val="0.66999613688646975"/>
        </c:manualLayout>
      </c:layout>
      <c:scatterChart>
        <c:scatterStyle val="lineMarker"/>
        <c:ser>
          <c:idx val="0"/>
          <c:order val="0"/>
          <c:tx>
            <c:strRef>
              <c:f>feng_errf_points_gene!$G$8</c:f>
              <c:strCache>
                <c:ptCount val="1"/>
                <c:pt idx="0">
                  <c:v>Uniq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feng_errf_points_gene!$H$8:$AB$8</c:f>
              <c:numCache>
                <c:formatCode>General</c:formatCode>
                <c:ptCount val="21"/>
                <c:pt idx="0">
                  <c:v>100</c:v>
                </c:pt>
                <c:pt idx="1">
                  <c:v>93.975841420606926</c:v>
                </c:pt>
                <c:pt idx="2">
                  <c:v>87.719388808589585</c:v>
                </c:pt>
                <c:pt idx="3">
                  <c:v>81.736526946107759</c:v>
                </c:pt>
                <c:pt idx="4">
                  <c:v>76.192442700805188</c:v>
                </c:pt>
                <c:pt idx="5">
                  <c:v>70.653520545116606</c:v>
                </c:pt>
                <c:pt idx="6">
                  <c:v>64.846169729506556</c:v>
                </c:pt>
                <c:pt idx="7">
                  <c:v>59.271112946520795</c:v>
                </c:pt>
                <c:pt idx="8">
                  <c:v>53.360520338633002</c:v>
                </c:pt>
                <c:pt idx="9">
                  <c:v>47.785463555647226</c:v>
                </c:pt>
                <c:pt idx="10">
                  <c:v>42.189758414206004</c:v>
                </c:pt>
                <c:pt idx="11">
                  <c:v>36.108816849060503</c:v>
                </c:pt>
                <c:pt idx="12">
                  <c:v>30.43051827379718</c:v>
                </c:pt>
                <c:pt idx="13">
                  <c:v>24.705760892008989</c:v>
                </c:pt>
                <c:pt idx="14">
                  <c:v>19.12554201940938</c:v>
                </c:pt>
                <c:pt idx="15">
                  <c:v>14.020235391286302</c:v>
                </c:pt>
                <c:pt idx="16">
                  <c:v>10.370638034276212</c:v>
                </c:pt>
                <c:pt idx="17">
                  <c:v>7.8825108403881758</c:v>
                </c:pt>
                <c:pt idx="18">
                  <c:v>6.1170761924427</c:v>
                </c:pt>
                <c:pt idx="19">
                  <c:v>4.3258310964278275</c:v>
                </c:pt>
                <c:pt idx="20">
                  <c:v>0.18067313648564901</c:v>
                </c:pt>
              </c:numCache>
            </c:numRef>
          </c:yVal>
        </c:ser>
        <c:ser>
          <c:idx val="4"/>
          <c:order val="1"/>
          <c:tx>
            <c:strRef>
              <c:f>feng_errf_points_gene!$G$9</c:f>
              <c:strCache>
                <c:ptCount val="1"/>
                <c:pt idx="0">
                  <c:v>Rescue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feng_errf_points_gene!$H$9:$AB$9</c:f>
              <c:numCache>
                <c:formatCode>General</c:formatCode>
                <c:ptCount val="21"/>
                <c:pt idx="0">
                  <c:v>100</c:v>
                </c:pt>
                <c:pt idx="1">
                  <c:v>90.868263473053801</c:v>
                </c:pt>
                <c:pt idx="2">
                  <c:v>81.82944455915748</c:v>
                </c:pt>
                <c:pt idx="3">
                  <c:v>72.429279372289841</c:v>
                </c:pt>
                <c:pt idx="4">
                  <c:v>63.116869708858097</c:v>
                </c:pt>
                <c:pt idx="5">
                  <c:v>53.262440635969412</c:v>
                </c:pt>
                <c:pt idx="6">
                  <c:v>43.511253355358171</c:v>
                </c:pt>
                <c:pt idx="7">
                  <c:v>33.532934131736504</c:v>
                </c:pt>
                <c:pt idx="8">
                  <c:v>24.50443939706788</c:v>
                </c:pt>
                <c:pt idx="9">
                  <c:v>17.767912450960086</c:v>
                </c:pt>
                <c:pt idx="10">
                  <c:v>13.911831509395</c:v>
                </c:pt>
                <c:pt idx="11">
                  <c:v>11.5475944662399</c:v>
                </c:pt>
                <c:pt idx="12">
                  <c:v>9.6479454883336597</c:v>
                </c:pt>
                <c:pt idx="13">
                  <c:v>8.2283708445178441</c:v>
                </c:pt>
                <c:pt idx="14">
                  <c:v>7.0978732190790765</c:v>
                </c:pt>
                <c:pt idx="15">
                  <c:v>6.1067520132149404</c:v>
                </c:pt>
                <c:pt idx="16">
                  <c:v>5.1775758827173162</c:v>
                </c:pt>
                <c:pt idx="17">
                  <c:v>4.3206690068139499</c:v>
                </c:pt>
                <c:pt idx="18">
                  <c:v>3.44827586206896</c:v>
                </c:pt>
                <c:pt idx="19">
                  <c:v>2.735907495354108</c:v>
                </c:pt>
                <c:pt idx="20">
                  <c:v>1.8531901713813701</c:v>
                </c:pt>
              </c:numCache>
            </c:numRef>
          </c:yVal>
        </c:ser>
        <c:ser>
          <c:idx val="1"/>
          <c:order val="2"/>
          <c:tx>
            <c:strRef>
              <c:f>feng_errf_points_gene!$G$10</c:f>
              <c:strCache>
                <c:ptCount val="1"/>
                <c:pt idx="0">
                  <c:v>GeneEM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feng_errf_points_gene!$H$10:$AB$10</c:f>
              <c:numCache>
                <c:formatCode>General</c:formatCode>
                <c:ptCount val="21"/>
                <c:pt idx="0">
                  <c:v>100</c:v>
                </c:pt>
                <c:pt idx="1">
                  <c:v>90.811480487301196</c:v>
                </c:pt>
                <c:pt idx="2">
                  <c:v>81.762337394177081</c:v>
                </c:pt>
                <c:pt idx="3">
                  <c:v>72.310551311170698</c:v>
                </c:pt>
                <c:pt idx="4">
                  <c:v>62.719388808589748</c:v>
                </c:pt>
                <c:pt idx="5">
                  <c:v>52.735907495354098</c:v>
                </c:pt>
                <c:pt idx="6">
                  <c:v>42.483997522196894</c:v>
                </c:pt>
                <c:pt idx="7">
                  <c:v>32.216601280198198</c:v>
                </c:pt>
                <c:pt idx="8">
                  <c:v>23.317158785876533</c:v>
                </c:pt>
                <c:pt idx="9">
                  <c:v>16.6322527359074</c:v>
                </c:pt>
                <c:pt idx="10">
                  <c:v>13.0497625438777</c:v>
                </c:pt>
                <c:pt idx="11">
                  <c:v>11.010737146396799</c:v>
                </c:pt>
                <c:pt idx="12">
                  <c:v>9.46211026223415</c:v>
                </c:pt>
                <c:pt idx="13">
                  <c:v>8.119966962626469</c:v>
                </c:pt>
                <c:pt idx="14">
                  <c:v>7.1494941152178404</c:v>
                </c:pt>
                <c:pt idx="15">
                  <c:v>6.2512905224034636</c:v>
                </c:pt>
                <c:pt idx="16">
                  <c:v>5.4356803634110999</c:v>
                </c:pt>
                <c:pt idx="17">
                  <c:v>4.7491224447656437</c:v>
                </c:pt>
                <c:pt idx="18">
                  <c:v>4.0935370638034163</c:v>
                </c:pt>
                <c:pt idx="19">
                  <c:v>3.4586000412967102</c:v>
                </c:pt>
                <c:pt idx="20">
                  <c:v>1.6828412141234699</c:v>
                </c:pt>
              </c:numCache>
            </c:numRef>
          </c:yVal>
        </c:ser>
        <c:ser>
          <c:idx val="5"/>
          <c:order val="3"/>
          <c:tx>
            <c:v>Cufflinks</c:v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feng_errf_points_gene!$H$13:$AB$13</c:f>
              <c:numCache>
                <c:formatCode>General</c:formatCode>
                <c:ptCount val="21"/>
                <c:pt idx="0">
                  <c:v>100</c:v>
                </c:pt>
                <c:pt idx="1">
                  <c:v>88.834400165186779</c:v>
                </c:pt>
                <c:pt idx="2">
                  <c:v>76.9048110675201</c:v>
                </c:pt>
                <c:pt idx="3">
                  <c:v>63.483378071443255</c:v>
                </c:pt>
                <c:pt idx="4">
                  <c:v>49.189551930621512</c:v>
                </c:pt>
                <c:pt idx="5">
                  <c:v>34.3278959322733</c:v>
                </c:pt>
                <c:pt idx="6">
                  <c:v>22.078257278546289</c:v>
                </c:pt>
                <c:pt idx="7">
                  <c:v>15.6204831715878</c:v>
                </c:pt>
                <c:pt idx="8">
                  <c:v>12.600660747470492</c:v>
                </c:pt>
                <c:pt idx="9">
                  <c:v>10.4274210200289</c:v>
                </c:pt>
                <c:pt idx="10">
                  <c:v>8.8374974189551896</c:v>
                </c:pt>
                <c:pt idx="11">
                  <c:v>7.5985959116250168</c:v>
                </c:pt>
                <c:pt idx="12">
                  <c:v>6.70555440842453</c:v>
                </c:pt>
                <c:pt idx="13">
                  <c:v>5.9776997728680534</c:v>
                </c:pt>
                <c:pt idx="14">
                  <c:v>5.3634111088168375</c:v>
                </c:pt>
                <c:pt idx="15">
                  <c:v>4.90914722279578</c:v>
                </c:pt>
                <c:pt idx="16">
                  <c:v>4.5271525913689761</c:v>
                </c:pt>
                <c:pt idx="17">
                  <c:v>4.2380755729919395</c:v>
                </c:pt>
                <c:pt idx="18">
                  <c:v>3.93867437538715</c:v>
                </c:pt>
                <c:pt idx="19">
                  <c:v>3.7580012389015018</c:v>
                </c:pt>
                <c:pt idx="20">
                  <c:v>1.2698740450134189</c:v>
                </c:pt>
              </c:numCache>
            </c:numRef>
          </c:yVal>
        </c:ser>
        <c:ser>
          <c:idx val="2"/>
          <c:order val="4"/>
          <c:tx>
            <c:strRef>
              <c:f>feng_errf_points_gene!$G$11</c:f>
              <c:strCache>
                <c:ptCount val="1"/>
                <c:pt idx="0">
                  <c:v>RSEM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feng_errf_points_gene!$H$11:$AB$11</c:f>
              <c:numCache>
                <c:formatCode>General</c:formatCode>
                <c:ptCount val="21"/>
                <c:pt idx="0">
                  <c:v>100</c:v>
                </c:pt>
                <c:pt idx="1">
                  <c:v>67.974396035515099</c:v>
                </c:pt>
                <c:pt idx="2">
                  <c:v>40.310757794755297</c:v>
                </c:pt>
                <c:pt idx="3">
                  <c:v>23.523642370431471</c:v>
                </c:pt>
                <c:pt idx="4">
                  <c:v>15.744373322320786</c:v>
                </c:pt>
                <c:pt idx="5">
                  <c:v>11.563080735081504</c:v>
                </c:pt>
                <c:pt idx="6">
                  <c:v>8.6568242824695396</c:v>
                </c:pt>
                <c:pt idx="7">
                  <c:v>6.7623373941771598</c:v>
                </c:pt>
                <c:pt idx="8">
                  <c:v>5.4098699153417371</c:v>
                </c:pt>
                <c:pt idx="9">
                  <c:v>4.2896964691307033</c:v>
                </c:pt>
                <c:pt idx="10">
                  <c:v>3.3760066074746979</c:v>
                </c:pt>
                <c:pt idx="11">
                  <c:v>2.6326657030765981</c:v>
                </c:pt>
                <c:pt idx="12">
                  <c:v>2.2248606235804198</c:v>
                </c:pt>
                <c:pt idx="13">
                  <c:v>1.863514350609119</c:v>
                </c:pt>
                <c:pt idx="14">
                  <c:v>1.65186867644022</c:v>
                </c:pt>
                <c:pt idx="15">
                  <c:v>1.3318191203799199</c:v>
                </c:pt>
                <c:pt idx="16">
                  <c:v>1.1408218046665208</c:v>
                </c:pt>
                <c:pt idx="17">
                  <c:v>1.0169316539335098</c:v>
                </c:pt>
                <c:pt idx="18">
                  <c:v>0.89820359281437101</c:v>
                </c:pt>
                <c:pt idx="19">
                  <c:v>0.85174478628949102</c:v>
                </c:pt>
                <c:pt idx="20">
                  <c:v>0.50072269254594204</c:v>
                </c:pt>
              </c:numCache>
            </c:numRef>
          </c:yVal>
        </c:ser>
        <c:ser>
          <c:idx val="3"/>
          <c:order val="5"/>
          <c:tx>
            <c:strRef>
              <c:f>feng_errf_points_gene!$G$12</c:f>
              <c:strCache>
                <c:ptCount val="1"/>
                <c:pt idx="0">
                  <c:v>IsoEM</c:v>
                </c:pt>
              </c:strCache>
            </c:strRef>
          </c:tx>
          <c:spPr>
            <a:ln w="38100"/>
          </c:spPr>
          <c:marker>
            <c:symbol val="none"/>
          </c:marker>
          <c:xVal>
            <c:numRef>
              <c:f>feng_errf_points_gene!$H$7:$AB$7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0.15000000000000013</c:v>
                </c:pt>
                <c:pt idx="4">
                  <c:v>0.2</c:v>
                </c:pt>
                <c:pt idx="5">
                  <c:v>0.25</c:v>
                </c:pt>
                <c:pt idx="6">
                  <c:v>0.30000000000000027</c:v>
                </c:pt>
                <c:pt idx="7">
                  <c:v>0.3500000000000002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0.60000000000000053</c:v>
                </c:pt>
                <c:pt idx="13">
                  <c:v>0.65000000000000058</c:v>
                </c:pt>
                <c:pt idx="14">
                  <c:v>0.7000000000000004</c:v>
                </c:pt>
                <c:pt idx="15">
                  <c:v>0.75000000000000044</c:v>
                </c:pt>
                <c:pt idx="16">
                  <c:v>0.8</c:v>
                </c:pt>
                <c:pt idx="17">
                  <c:v>0.85000000000000053</c:v>
                </c:pt>
                <c:pt idx="18">
                  <c:v>0.9</c:v>
                </c:pt>
                <c:pt idx="19">
                  <c:v>0.9500000000000004</c:v>
                </c:pt>
                <c:pt idx="20">
                  <c:v>1</c:v>
                </c:pt>
              </c:numCache>
            </c:numRef>
          </c:xVal>
          <c:yVal>
            <c:numRef>
              <c:f>feng_errf_points_gene!$H$12:$AB$12</c:f>
              <c:numCache>
                <c:formatCode>General</c:formatCode>
                <c:ptCount val="21"/>
                <c:pt idx="0">
                  <c:v>100</c:v>
                </c:pt>
                <c:pt idx="1">
                  <c:v>41.96262647119547</c:v>
                </c:pt>
                <c:pt idx="2">
                  <c:v>21.68077637827788</c:v>
                </c:pt>
                <c:pt idx="3">
                  <c:v>13.328515383027</c:v>
                </c:pt>
                <c:pt idx="4">
                  <c:v>9.1678711542432225</c:v>
                </c:pt>
                <c:pt idx="5">
                  <c:v>6.8397687383852901</c:v>
                </c:pt>
                <c:pt idx="6">
                  <c:v>5.3117902126780896</c:v>
                </c:pt>
                <c:pt idx="7">
                  <c:v>4.2019409456948136</c:v>
                </c:pt>
                <c:pt idx="8">
                  <c:v>3.4121412347718278</c:v>
                </c:pt>
                <c:pt idx="9">
                  <c:v>2.7978525707206199</c:v>
                </c:pt>
                <c:pt idx="10">
                  <c:v>2.3539128639273099</c:v>
                </c:pt>
                <c:pt idx="11">
                  <c:v>1.9512698740450101</c:v>
                </c:pt>
                <c:pt idx="12">
                  <c:v>1.6880033037373501</c:v>
                </c:pt>
                <c:pt idx="13">
                  <c:v>1.4660334503406898</c:v>
                </c:pt>
                <c:pt idx="14">
                  <c:v>1.30600867231055</c:v>
                </c:pt>
                <c:pt idx="15">
                  <c:v>1.1356597150526491</c:v>
                </c:pt>
                <c:pt idx="16">
                  <c:v>0.99628329547800898</c:v>
                </c:pt>
                <c:pt idx="17">
                  <c:v>0.88271732397274327</c:v>
                </c:pt>
                <c:pt idx="18">
                  <c:v>0.82593433822011142</c:v>
                </c:pt>
                <c:pt idx="19">
                  <c:v>0.78463762130910641</c:v>
                </c:pt>
                <c:pt idx="20">
                  <c:v>0.52653314061532042</c:v>
                </c:pt>
              </c:numCache>
            </c:numRef>
          </c:yVal>
        </c:ser>
        <c:axId val="83652992"/>
        <c:axId val="83654912"/>
      </c:scatterChart>
      <c:valAx>
        <c:axId val="83652992"/>
        <c:scaling>
          <c:orientation val="minMax"/>
          <c:max val="1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Relative error threshold</a:t>
                </a:r>
              </a:p>
            </c:rich>
          </c:tx>
          <c:layout>
            <c:manualLayout>
              <c:xMode val="edge"/>
              <c:yMode val="edge"/>
              <c:x val="0.37328566321284978"/>
              <c:y val="0.84618074882205363"/>
            </c:manualLayout>
          </c:layout>
        </c:title>
        <c:numFmt formatCode="General" sourceLinked="1"/>
        <c:minorTickMark val="out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83654912"/>
        <c:crosses val="autoZero"/>
        <c:crossBetween val="midCat"/>
        <c:majorUnit val="0.2"/>
        <c:minorUnit val="0.05"/>
      </c:valAx>
      <c:valAx>
        <c:axId val="83654912"/>
        <c:scaling>
          <c:orientation val="minMax"/>
          <c:max val="100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% of genes over threshold </a:t>
                </a:r>
              </a:p>
              <a:p>
                <a:pPr>
                  <a:defRPr sz="1400"/>
                </a:pPr>
                <a:endParaRPr lang="en-US" sz="1400"/>
              </a:p>
            </c:rich>
          </c:tx>
          <c:layout>
            <c:manualLayout>
              <c:xMode val="edge"/>
              <c:yMode val="edge"/>
              <c:x val="9.7937471237555279E-2"/>
              <c:y val="0.26627102422649163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83652992"/>
        <c:crosses val="autoZero"/>
        <c:crossBetween val="midCat"/>
        <c:majorUnit val="10"/>
      </c:valAx>
    </c:plotArea>
    <c:legend>
      <c:legendPos val="r"/>
      <c:layout>
        <c:manualLayout>
          <c:xMode val="edge"/>
          <c:yMode val="edge"/>
          <c:x val="0.80166950480542987"/>
          <c:y val="0.19087547685574777"/>
          <c:w val="0.16016029419612776"/>
          <c:h val="0.44649154386068385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7068273092369471"/>
          <c:y val="3.8147138964577672E-2"/>
          <c:w val="0.76104417670682778"/>
          <c:h val="0.76294277929155352"/>
        </c:manualLayout>
      </c:layout>
      <c:scatterChart>
        <c:scatterStyle val="lineMarker"/>
        <c:ser>
          <c:idx val="0"/>
          <c:order val="0"/>
          <c:spPr>
            <a:ln w="28575">
              <a:noFill/>
            </a:ln>
          </c:spPr>
          <c:trendline>
            <c:trendlineType val="linear"/>
          </c:trendline>
          <c:trendline>
            <c:spPr>
              <a:ln w="25400"/>
            </c:spPr>
            <c:trendlineType val="linear"/>
            <c:dispRSqr val="1"/>
            <c:trendlineLbl>
              <c:layout>
                <c:manualLayout>
                  <c:x val="-0.10509017698088956"/>
                  <c:y val="-3.204216639132644E-2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 sz="1400" b="1"/>
                  </a:pPr>
                  <a:endParaRPr lang="en-US"/>
                </a:p>
              </c:txPr>
            </c:trendlineLbl>
          </c:trendline>
          <c:xVal>
            <c:numRef>
              <c:f>Combined!$D$3:$D$49</c:f>
              <c:numCache>
                <c:formatCode>General</c:formatCode>
                <c:ptCount val="47"/>
                <c:pt idx="0">
                  <c:v>2631.7632338466465</c:v>
                </c:pt>
                <c:pt idx="1">
                  <c:v>302.59063081931532</c:v>
                </c:pt>
                <c:pt idx="2">
                  <c:v>2648.8272337179528</c:v>
                </c:pt>
                <c:pt idx="3">
                  <c:v>352.75476774888614</c:v>
                </c:pt>
                <c:pt idx="4">
                  <c:v>83.720290559038091</c:v>
                </c:pt>
                <c:pt idx="5">
                  <c:v>2059.2444793891577</c:v>
                </c:pt>
                <c:pt idx="6">
                  <c:v>376.63439711914958</c:v>
                </c:pt>
                <c:pt idx="7">
                  <c:v>2896.3816642361662</c:v>
                </c:pt>
                <c:pt idx="8">
                  <c:v>336.5262006401415</c:v>
                </c:pt>
                <c:pt idx="9">
                  <c:v>247.51445070138834</c:v>
                </c:pt>
                <c:pt idx="10">
                  <c:v>213.7692344074502</c:v>
                </c:pt>
                <c:pt idx="11">
                  <c:v>1545.3514192410798</c:v>
                </c:pt>
                <c:pt idx="12">
                  <c:v>185.4892246663232</c:v>
                </c:pt>
                <c:pt idx="13">
                  <c:v>5118.9549565228508</c:v>
                </c:pt>
                <c:pt idx="14">
                  <c:v>418.06563781171161</c:v>
                </c:pt>
                <c:pt idx="15">
                  <c:v>249.29096833322748</c:v>
                </c:pt>
                <c:pt idx="16">
                  <c:v>747.5905004230649</c:v>
                </c:pt>
                <c:pt idx="17">
                  <c:v>172.55353728938834</c:v>
                </c:pt>
                <c:pt idx="18">
                  <c:v>400.31307388222166</c:v>
                </c:pt>
                <c:pt idx="19">
                  <c:v>1197.571891582166</c:v>
                </c:pt>
                <c:pt idx="20">
                  <c:v>791.57908815644748</c:v>
                </c:pt>
                <c:pt idx="21">
                  <c:v>42.88082042409593</c:v>
                </c:pt>
                <c:pt idx="22">
                  <c:v>579.10865959042258</c:v>
                </c:pt>
                <c:pt idx="23" formatCode="0.00">
                  <c:v>6548.3573653395661</c:v>
                </c:pt>
                <c:pt idx="24" formatCode="0.00">
                  <c:v>1322.7775994694639</c:v>
                </c:pt>
                <c:pt idx="25" formatCode="0.00">
                  <c:v>2968.9669655166804</c:v>
                </c:pt>
                <c:pt idx="26" formatCode="0.00">
                  <c:v>908.39185798199458</c:v>
                </c:pt>
                <c:pt idx="27" formatCode="0.00">
                  <c:v>801.86359412907416</c:v>
                </c:pt>
                <c:pt idx="28" formatCode="0.00">
                  <c:v>2610.4125953191738</c:v>
                </c:pt>
                <c:pt idx="29" formatCode="0.00">
                  <c:v>605.05920157011121</c:v>
                </c:pt>
                <c:pt idx="30" formatCode="0.00">
                  <c:v>2066.3969222950982</c:v>
                </c:pt>
                <c:pt idx="31" formatCode="0.00">
                  <c:v>7979.2734356283363</c:v>
                </c:pt>
                <c:pt idx="32" formatCode="0.00">
                  <c:v>1283.5314115715466</c:v>
                </c:pt>
                <c:pt idx="33" formatCode="0.00">
                  <c:v>1954.1041070339165</c:v>
                </c:pt>
                <c:pt idx="34" formatCode="0.00">
                  <c:v>859.88966951230782</c:v>
                </c:pt>
                <c:pt idx="35" formatCode="0.00">
                  <c:v>3975.0768043523117</c:v>
                </c:pt>
                <c:pt idx="36" formatCode="0.00">
                  <c:v>270.6340693656548</c:v>
                </c:pt>
                <c:pt idx="37" formatCode="0.00">
                  <c:v>4345.4107131281271</c:v>
                </c:pt>
                <c:pt idx="38" formatCode="0.00">
                  <c:v>66.890563130124121</c:v>
                </c:pt>
                <c:pt idx="39" formatCode="0.00">
                  <c:v>227.29323107908823</c:v>
                </c:pt>
                <c:pt idx="40" formatCode="0.00">
                  <c:v>2157.8497747263232</c:v>
                </c:pt>
                <c:pt idx="41" formatCode="0.00">
                  <c:v>150.54042057869756</c:v>
                </c:pt>
                <c:pt idx="42" formatCode="0.00">
                  <c:v>344.43503949047908</c:v>
                </c:pt>
                <c:pt idx="43" formatCode="0.00">
                  <c:v>1410.238499136675</c:v>
                </c:pt>
                <c:pt idx="44" formatCode="0.00">
                  <c:v>877.90487017841372</c:v>
                </c:pt>
                <c:pt idx="45" formatCode="0.00">
                  <c:v>34.662983192297276</c:v>
                </c:pt>
                <c:pt idx="46" formatCode="0.00">
                  <c:v>390.17247035752445</c:v>
                </c:pt>
              </c:numCache>
            </c:numRef>
          </c:xVal>
          <c:yVal>
            <c:numRef>
              <c:f>Combined!$E$3:$E$49</c:f>
              <c:numCache>
                <c:formatCode>General</c:formatCode>
                <c:ptCount val="47"/>
                <c:pt idx="0">
                  <c:v>132.83235000000005</c:v>
                </c:pt>
                <c:pt idx="1">
                  <c:v>18.36478</c:v>
                </c:pt>
                <c:pt idx="2">
                  <c:v>278.83879999999994</c:v>
                </c:pt>
                <c:pt idx="3">
                  <c:v>49.542290000000001</c:v>
                </c:pt>
                <c:pt idx="4">
                  <c:v>5.5924899999999989</c:v>
                </c:pt>
                <c:pt idx="5">
                  <c:v>96.192399999999992</c:v>
                </c:pt>
                <c:pt idx="6">
                  <c:v>6.850568</c:v>
                </c:pt>
                <c:pt idx="7">
                  <c:v>175.70269999999999</c:v>
                </c:pt>
                <c:pt idx="8">
                  <c:v>176.14789999999999</c:v>
                </c:pt>
                <c:pt idx="9">
                  <c:v>14.985150000000003</c:v>
                </c:pt>
                <c:pt idx="10">
                  <c:v>100.3796</c:v>
                </c:pt>
                <c:pt idx="11">
                  <c:v>46.1708</c:v>
                </c:pt>
                <c:pt idx="12">
                  <c:v>46.558630000000001</c:v>
                </c:pt>
                <c:pt idx="13">
                  <c:v>770.58460000000002</c:v>
                </c:pt>
                <c:pt idx="14">
                  <c:v>411.75299999999999</c:v>
                </c:pt>
                <c:pt idx="15">
                  <c:v>42.099880000000006</c:v>
                </c:pt>
                <c:pt idx="16">
                  <c:v>102.38339999999998</c:v>
                </c:pt>
                <c:pt idx="17">
                  <c:v>43.041409999999999</c:v>
                </c:pt>
                <c:pt idx="18">
                  <c:v>74.383499999999998</c:v>
                </c:pt>
                <c:pt idx="19">
                  <c:v>55.504710000000003</c:v>
                </c:pt>
                <c:pt idx="20">
                  <c:v>45.766800000000003</c:v>
                </c:pt>
                <c:pt idx="21">
                  <c:v>56.961500000000001</c:v>
                </c:pt>
                <c:pt idx="22">
                  <c:v>50.355399999999996</c:v>
                </c:pt>
                <c:pt idx="23">
                  <c:v>271.20619999999997</c:v>
                </c:pt>
                <c:pt idx="24">
                  <c:v>95.228920000000002</c:v>
                </c:pt>
                <c:pt idx="25">
                  <c:v>199.14779999999999</c:v>
                </c:pt>
                <c:pt idx="26">
                  <c:v>48.397300000000001</c:v>
                </c:pt>
                <c:pt idx="27">
                  <c:v>39.890889999999999</c:v>
                </c:pt>
                <c:pt idx="28">
                  <c:v>95.098799999999983</c:v>
                </c:pt>
                <c:pt idx="29">
                  <c:v>7.1668199999999995</c:v>
                </c:pt>
                <c:pt idx="30">
                  <c:v>144.32580000000002</c:v>
                </c:pt>
                <c:pt idx="31">
                  <c:v>431.02699999999993</c:v>
                </c:pt>
                <c:pt idx="32">
                  <c:v>334.13799999999992</c:v>
                </c:pt>
                <c:pt idx="33">
                  <c:v>90.979290000000006</c:v>
                </c:pt>
                <c:pt idx="34">
                  <c:v>172.80973</c:v>
                </c:pt>
                <c:pt idx="35">
                  <c:v>99.3202</c:v>
                </c:pt>
                <c:pt idx="36">
                  <c:v>45.695000000000007</c:v>
                </c:pt>
                <c:pt idx="37">
                  <c:v>546.2890000000001</c:v>
                </c:pt>
                <c:pt idx="38">
                  <c:v>27.190999999999999</c:v>
                </c:pt>
                <c:pt idx="39">
                  <c:v>32.283720000000002</c:v>
                </c:pt>
                <c:pt idx="40">
                  <c:v>248.05100000000002</c:v>
                </c:pt>
                <c:pt idx="41">
                  <c:v>20.47589</c:v>
                </c:pt>
                <c:pt idx="42">
                  <c:v>46.066050000000004</c:v>
                </c:pt>
                <c:pt idx="43">
                  <c:v>55.518650000000001</c:v>
                </c:pt>
                <c:pt idx="44">
                  <c:v>48.161000000000001</c:v>
                </c:pt>
                <c:pt idx="45">
                  <c:v>18.211600000000001</c:v>
                </c:pt>
                <c:pt idx="46">
                  <c:v>28.207419999999995</c:v>
                </c:pt>
              </c:numCache>
            </c:numRef>
          </c:yVal>
        </c:ser>
        <c:axId val="92413952"/>
        <c:axId val="92415872"/>
      </c:scatterChart>
      <c:valAx>
        <c:axId val="92413952"/>
        <c:scaling>
          <c:logBase val="10"/>
          <c:orientation val="minMax"/>
          <c:min val="1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qPCR</a:t>
                </a:r>
                <a:r>
                  <a:rPr lang="en-US" baseline="0"/>
                  <a:t> Estimate</a:t>
                </a:r>
                <a:endParaRPr lang="en-US"/>
              </a:p>
            </c:rich>
          </c:tx>
          <c:layout/>
        </c:title>
        <c:numFmt formatCode="#,##0" sourceLinked="0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92415872"/>
        <c:crosses val="autoZero"/>
        <c:crossBetween val="midCat"/>
      </c:valAx>
      <c:valAx>
        <c:axId val="92415872"/>
        <c:scaling>
          <c:logBase val="10"/>
          <c:orientation val="minMax"/>
          <c:min val="1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Cufflinks</a:t>
                </a:r>
                <a:r>
                  <a:rPr lang="en-US" baseline="0"/>
                  <a:t> Estimate</a:t>
                </a:r>
                <a:endParaRPr lang="en-US"/>
              </a:p>
            </c:rich>
          </c:tx>
          <c:layout/>
        </c:title>
        <c:numFmt formatCode="#,##0" sourceLinked="0"/>
        <c:tickLblPos val="nextTo"/>
        <c:crossAx val="92413952"/>
        <c:crosses val="autoZero"/>
        <c:crossBetween val="midCat"/>
      </c:valAx>
    </c:plotArea>
    <c:plotVisOnly val="1"/>
    <c:dispBlanksAs val="gap"/>
  </c:chart>
  <c:spPr>
    <a:ln>
      <a:noFill/>
    </a:ln>
  </c:sp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7206477732793521"/>
          <c:y val="3.8147138964577658E-2"/>
          <c:w val="0.75910931174089102"/>
          <c:h val="0.76294277929155352"/>
        </c:manualLayout>
      </c:layout>
      <c:scatterChart>
        <c:scatterStyle val="lineMarker"/>
        <c:ser>
          <c:idx val="0"/>
          <c:order val="0"/>
          <c:spPr>
            <a:ln w="28575">
              <a:noFill/>
            </a:ln>
          </c:spPr>
          <c:trendline>
            <c:trendlineType val="linear"/>
          </c:trendline>
          <c:trendline>
            <c:spPr>
              <a:ln w="25400"/>
            </c:spPr>
            <c:trendlineType val="linear"/>
            <c:dispRSqr val="1"/>
            <c:trendlineLbl>
              <c:layout>
                <c:manualLayout>
                  <c:x val="-9.2710425366869742E-2"/>
                  <c:y val="-2.7393850972988049E-3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 sz="1400" b="1"/>
                  </a:pPr>
                  <a:endParaRPr lang="en-US"/>
                </a:p>
              </c:txPr>
            </c:trendlineLbl>
          </c:trendline>
          <c:xVal>
            <c:numRef>
              <c:f>Combined!$D$3:$D$49</c:f>
              <c:numCache>
                <c:formatCode>General</c:formatCode>
                <c:ptCount val="47"/>
                <c:pt idx="0">
                  <c:v>2631.7632338466465</c:v>
                </c:pt>
                <c:pt idx="1">
                  <c:v>302.59063081931532</c:v>
                </c:pt>
                <c:pt idx="2">
                  <c:v>2648.8272337179528</c:v>
                </c:pt>
                <c:pt idx="3">
                  <c:v>352.75476774888614</c:v>
                </c:pt>
                <c:pt idx="4">
                  <c:v>83.720290559038091</c:v>
                </c:pt>
                <c:pt idx="5">
                  <c:v>2059.2444793891577</c:v>
                </c:pt>
                <c:pt idx="6">
                  <c:v>376.63439711914958</c:v>
                </c:pt>
                <c:pt idx="7">
                  <c:v>2896.3816642361662</c:v>
                </c:pt>
                <c:pt idx="8">
                  <c:v>336.5262006401415</c:v>
                </c:pt>
                <c:pt idx="9">
                  <c:v>247.51445070138834</c:v>
                </c:pt>
                <c:pt idx="10">
                  <c:v>213.7692344074502</c:v>
                </c:pt>
                <c:pt idx="11">
                  <c:v>1545.3514192410798</c:v>
                </c:pt>
                <c:pt idx="12">
                  <c:v>185.4892246663232</c:v>
                </c:pt>
                <c:pt idx="13">
                  <c:v>5118.9549565228508</c:v>
                </c:pt>
                <c:pt idx="14">
                  <c:v>418.06563781171161</c:v>
                </c:pt>
                <c:pt idx="15">
                  <c:v>249.29096833322748</c:v>
                </c:pt>
                <c:pt idx="16">
                  <c:v>747.5905004230649</c:v>
                </c:pt>
                <c:pt idx="17">
                  <c:v>172.55353728938834</c:v>
                </c:pt>
                <c:pt idx="18">
                  <c:v>400.31307388222166</c:v>
                </c:pt>
                <c:pt idx="19">
                  <c:v>1197.571891582166</c:v>
                </c:pt>
                <c:pt idx="20">
                  <c:v>791.57908815644748</c:v>
                </c:pt>
                <c:pt idx="21">
                  <c:v>42.88082042409593</c:v>
                </c:pt>
                <c:pt idx="22">
                  <c:v>579.10865959042258</c:v>
                </c:pt>
                <c:pt idx="23" formatCode="0.00">
                  <c:v>6548.3573653395661</c:v>
                </c:pt>
                <c:pt idx="24" formatCode="0.00">
                  <c:v>1322.7775994694639</c:v>
                </c:pt>
                <c:pt idx="25" formatCode="0.00">
                  <c:v>2968.9669655166804</c:v>
                </c:pt>
                <c:pt idx="26" formatCode="0.00">
                  <c:v>908.39185798199458</c:v>
                </c:pt>
                <c:pt idx="27" formatCode="0.00">
                  <c:v>801.86359412907416</c:v>
                </c:pt>
                <c:pt idx="28" formatCode="0.00">
                  <c:v>2610.4125953191738</c:v>
                </c:pt>
                <c:pt idx="29" formatCode="0.00">
                  <c:v>605.05920157011121</c:v>
                </c:pt>
                <c:pt idx="30" formatCode="0.00">
                  <c:v>2066.3969222950982</c:v>
                </c:pt>
                <c:pt idx="31" formatCode="0.00">
                  <c:v>7979.2734356283363</c:v>
                </c:pt>
                <c:pt idx="32" formatCode="0.00">
                  <c:v>1283.5314115715466</c:v>
                </c:pt>
                <c:pt idx="33" formatCode="0.00">
                  <c:v>1954.1041070339165</c:v>
                </c:pt>
                <c:pt idx="34" formatCode="0.00">
                  <c:v>859.88966951230782</c:v>
                </c:pt>
                <c:pt idx="35" formatCode="0.00">
                  <c:v>3975.0768043523117</c:v>
                </c:pt>
                <c:pt idx="36" formatCode="0.00">
                  <c:v>270.6340693656548</c:v>
                </c:pt>
                <c:pt idx="37" formatCode="0.00">
                  <c:v>4345.4107131281271</c:v>
                </c:pt>
                <c:pt idx="38" formatCode="0.00">
                  <c:v>66.890563130124121</c:v>
                </c:pt>
                <c:pt idx="39" formatCode="0.00">
                  <c:v>227.29323107908823</c:v>
                </c:pt>
                <c:pt idx="40" formatCode="0.00">
                  <c:v>2157.8497747263232</c:v>
                </c:pt>
                <c:pt idx="41" formatCode="0.00">
                  <c:v>150.54042057869756</c:v>
                </c:pt>
                <c:pt idx="42" formatCode="0.00">
                  <c:v>344.43503949047908</c:v>
                </c:pt>
                <c:pt idx="43" formatCode="0.00">
                  <c:v>1410.238499136675</c:v>
                </c:pt>
                <c:pt idx="44" formatCode="0.00">
                  <c:v>877.90487017841372</c:v>
                </c:pt>
                <c:pt idx="45" formatCode="0.00">
                  <c:v>34.662983192297276</c:v>
                </c:pt>
                <c:pt idx="46" formatCode="0.00">
                  <c:v>390.17247035752445</c:v>
                </c:pt>
              </c:numCache>
            </c:numRef>
          </c:xVal>
          <c:yVal>
            <c:numRef>
              <c:f>Combined!$F$3:$F$49</c:f>
              <c:numCache>
                <c:formatCode>General</c:formatCode>
                <c:ptCount val="47"/>
                <c:pt idx="0">
                  <c:v>158.42670800000002</c:v>
                </c:pt>
                <c:pt idx="1">
                  <c:v>21.716090000000001</c:v>
                </c:pt>
                <c:pt idx="2">
                  <c:v>297.65251799999999</c:v>
                </c:pt>
                <c:pt idx="3">
                  <c:v>55.613623000000004</c:v>
                </c:pt>
                <c:pt idx="4">
                  <c:v>13.822855000000002</c:v>
                </c:pt>
                <c:pt idx="5">
                  <c:v>144.66903099999999</c:v>
                </c:pt>
                <c:pt idx="6">
                  <c:v>37.132486</c:v>
                </c:pt>
                <c:pt idx="7">
                  <c:v>265.767628</c:v>
                </c:pt>
                <c:pt idx="8">
                  <c:v>233.39761000000001</c:v>
                </c:pt>
                <c:pt idx="9">
                  <c:v>20.477333000000002</c:v>
                </c:pt>
                <c:pt idx="10">
                  <c:v>108.39486300000002</c:v>
                </c:pt>
                <c:pt idx="11">
                  <c:v>73.426828</c:v>
                </c:pt>
                <c:pt idx="12">
                  <c:v>52.931007999999999</c:v>
                </c:pt>
                <c:pt idx="13">
                  <c:v>988.73150699999997</c:v>
                </c:pt>
                <c:pt idx="14">
                  <c:v>482.88023399999992</c:v>
                </c:pt>
                <c:pt idx="15">
                  <c:v>49.415838000000001</c:v>
                </c:pt>
                <c:pt idx="16">
                  <c:v>107.657121</c:v>
                </c:pt>
                <c:pt idx="17">
                  <c:v>52.473800000000004</c:v>
                </c:pt>
                <c:pt idx="18">
                  <c:v>90.472217999999998</c:v>
                </c:pt>
                <c:pt idx="19">
                  <c:v>68.749662000000015</c:v>
                </c:pt>
                <c:pt idx="20">
                  <c:v>50.756522000000004</c:v>
                </c:pt>
                <c:pt idx="21">
                  <c:v>69.148445999999993</c:v>
                </c:pt>
                <c:pt idx="22">
                  <c:v>55.840691999999997</c:v>
                </c:pt>
                <c:pt idx="23">
                  <c:v>302.24729300000001</c:v>
                </c:pt>
                <c:pt idx="24">
                  <c:v>97.98947099999998</c:v>
                </c:pt>
                <c:pt idx="25">
                  <c:v>210.70305299999995</c:v>
                </c:pt>
                <c:pt idx="26">
                  <c:v>51.886296999999999</c:v>
                </c:pt>
                <c:pt idx="27">
                  <c:v>71.075564</c:v>
                </c:pt>
                <c:pt idx="28">
                  <c:v>151.84864800000003</c:v>
                </c:pt>
                <c:pt idx="29">
                  <c:v>38.602541000000002</c:v>
                </c:pt>
                <c:pt idx="30">
                  <c:v>167.575245</c:v>
                </c:pt>
                <c:pt idx="31">
                  <c:v>649.48336800000004</c:v>
                </c:pt>
                <c:pt idx="32">
                  <c:v>371.57128699999993</c:v>
                </c:pt>
                <c:pt idx="33">
                  <c:v>105.598101</c:v>
                </c:pt>
                <c:pt idx="34">
                  <c:v>189.40510499999999</c:v>
                </c:pt>
                <c:pt idx="35">
                  <c:v>154.59620600000002</c:v>
                </c:pt>
                <c:pt idx="36">
                  <c:v>48.896876999999996</c:v>
                </c:pt>
                <c:pt idx="37">
                  <c:v>699.90538500000002</c:v>
                </c:pt>
                <c:pt idx="38">
                  <c:v>33.391130000000004</c:v>
                </c:pt>
                <c:pt idx="39">
                  <c:v>36.269883</c:v>
                </c:pt>
                <c:pt idx="40">
                  <c:v>259.23263499999996</c:v>
                </c:pt>
                <c:pt idx="41">
                  <c:v>24.180330999999995</c:v>
                </c:pt>
                <c:pt idx="42">
                  <c:v>48.520103000000013</c:v>
                </c:pt>
                <c:pt idx="43">
                  <c:v>65.717985999999996</c:v>
                </c:pt>
                <c:pt idx="44">
                  <c:v>50.657059999999994</c:v>
                </c:pt>
                <c:pt idx="45">
                  <c:v>23.534874000000002</c:v>
                </c:pt>
                <c:pt idx="46">
                  <c:v>30.951620999999996</c:v>
                </c:pt>
              </c:numCache>
            </c:numRef>
          </c:yVal>
        </c:ser>
        <c:axId val="92437888"/>
        <c:axId val="92452352"/>
      </c:scatterChart>
      <c:valAx>
        <c:axId val="92437888"/>
        <c:scaling>
          <c:logBase val="10"/>
          <c:orientation val="minMax"/>
          <c:min val="1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qPCR Estimate</a:t>
                </a:r>
              </a:p>
            </c:rich>
          </c:tx>
          <c:layout/>
        </c:title>
        <c:numFmt formatCode="#,##0" sourceLinked="0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92452352"/>
        <c:crosses val="autoZero"/>
        <c:crossBetween val="midCat"/>
      </c:valAx>
      <c:valAx>
        <c:axId val="92452352"/>
        <c:scaling>
          <c:logBase val="10"/>
          <c:orientation val="minMax"/>
          <c:min val="1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IsoEM Estimate</a:t>
                </a:r>
              </a:p>
            </c:rich>
          </c:tx>
          <c:layout/>
        </c:title>
        <c:numFmt formatCode="#,##0" sourceLinked="0"/>
        <c:tickLblPos val="nextTo"/>
        <c:crossAx val="92437888"/>
        <c:crosses val="autoZero"/>
        <c:crossBetween val="midCat"/>
      </c:valAx>
    </c:plotArea>
    <c:plotVisOnly val="1"/>
    <c:dispBlanksAs val="gap"/>
  </c:chart>
  <c:spPr>
    <a:ln>
      <a:noFill/>
    </a:ln>
  </c:spPr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scatterChart>
        <c:scatterStyle val="lineMarker"/>
        <c:ser>
          <c:idx val="0"/>
          <c:order val="0"/>
          <c:tx>
            <c:strRef>
              <c:f>ISOFORM_LEVEL!$H$1</c:f>
              <c:strCache>
                <c:ptCount val="1"/>
                <c:pt idx="0">
                  <c:v>(0,10^-6]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ISOFORM_LEVEL!$H$2:$H$9</c:f>
              <c:numCache>
                <c:formatCode>General</c:formatCode>
                <c:ptCount val="8"/>
                <c:pt idx="0">
                  <c:v>3580.9786823450199</c:v>
                </c:pt>
                <c:pt idx="1">
                  <c:v>484.05608698432502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yVal>
        </c:ser>
        <c:ser>
          <c:idx val="1"/>
          <c:order val="1"/>
          <c:tx>
            <c:strRef>
              <c:f>ISOFORM_LEVEL!$I$1</c:f>
              <c:strCache>
                <c:ptCount val="1"/>
                <c:pt idx="0">
                  <c:v>(10^-6,10^-5]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ISOFORM_LEVEL!$I$2:$I$9</c:f>
              <c:numCache>
                <c:formatCode>General</c:formatCode>
                <c:ptCount val="8"/>
                <c:pt idx="0">
                  <c:v>260.26748693272998</c:v>
                </c:pt>
                <c:pt idx="1">
                  <c:v>67.843511081801694</c:v>
                </c:pt>
                <c:pt idx="2">
                  <c:v>27.249518251381996</c:v>
                </c:pt>
                <c:pt idx="3">
                  <c:v>25.279240329671499</c:v>
                </c:pt>
                <c:pt idx="4">
                  <c:v>29.248408908385695</c:v>
                </c:pt>
                <c:pt idx="5">
                  <c:v>30.974127490366996</c:v>
                </c:pt>
                <c:pt idx="6">
                  <c:v>35.580158737713703</c:v>
                </c:pt>
                <c:pt idx="7">
                  <c:v>38.676721393320001</c:v>
                </c:pt>
              </c:numCache>
            </c:numRef>
          </c:yVal>
        </c:ser>
        <c:ser>
          <c:idx val="2"/>
          <c:order val="2"/>
          <c:tx>
            <c:strRef>
              <c:f>ISOFORM_LEVEL!$J$1</c:f>
              <c:strCache>
                <c:ptCount val="1"/>
                <c:pt idx="0">
                  <c:v>(10^-5,10^-4]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ISOFORM_LEVEL!$J$2:$J$9</c:f>
              <c:numCache>
                <c:formatCode>General</c:formatCode>
                <c:ptCount val="8"/>
                <c:pt idx="0">
                  <c:v>47.287215117051808</c:v>
                </c:pt>
                <c:pt idx="1">
                  <c:v>14.1253209370867</c:v>
                </c:pt>
                <c:pt idx="2">
                  <c:v>7.7918344983910304</c:v>
                </c:pt>
                <c:pt idx="3">
                  <c:v>7.2693884867392198</c:v>
                </c:pt>
                <c:pt idx="4">
                  <c:v>8.5222675842103399</c:v>
                </c:pt>
                <c:pt idx="5">
                  <c:v>9.0765706298761195</c:v>
                </c:pt>
                <c:pt idx="6">
                  <c:v>10.674852478788003</c:v>
                </c:pt>
                <c:pt idx="7">
                  <c:v>11.638721648324497</c:v>
                </c:pt>
              </c:numCache>
            </c:numRef>
          </c:yVal>
        </c:ser>
        <c:ser>
          <c:idx val="3"/>
          <c:order val="3"/>
          <c:tx>
            <c:strRef>
              <c:f>ISOFORM_LEVEL!$K$1</c:f>
              <c:strCache>
                <c:ptCount val="1"/>
                <c:pt idx="0">
                  <c:v>(10^-4,10^-3]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ISOFORM_LEVEL!$K$2:$K$9</c:f>
              <c:numCache>
                <c:formatCode>General</c:formatCode>
                <c:ptCount val="8"/>
                <c:pt idx="0">
                  <c:v>90.32532514022229</c:v>
                </c:pt>
                <c:pt idx="1">
                  <c:v>19.752544579955092</c:v>
                </c:pt>
                <c:pt idx="2">
                  <c:v>4.6673412652151391</c:v>
                </c:pt>
                <c:pt idx="3">
                  <c:v>3.1565669162157395</c:v>
                </c:pt>
                <c:pt idx="4">
                  <c:v>3.43651614095619</c:v>
                </c:pt>
                <c:pt idx="5">
                  <c:v>3.7348157322017599</c:v>
                </c:pt>
                <c:pt idx="6">
                  <c:v>3.9287909851109699</c:v>
                </c:pt>
                <c:pt idx="7">
                  <c:v>4.2614094433511012</c:v>
                </c:pt>
              </c:numCache>
            </c:numRef>
          </c:yVal>
        </c:ser>
        <c:ser>
          <c:idx val="4"/>
          <c:order val="4"/>
          <c:tx>
            <c:strRef>
              <c:f>ISOFORM_LEVEL!$L$1</c:f>
              <c:strCache>
                <c:ptCount val="1"/>
                <c:pt idx="0">
                  <c:v>(10^-3,10^-2]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ISOFORM_LEVEL!$L$2:$L$9</c:f>
              <c:numCache>
                <c:formatCode>General</c:formatCode>
                <c:ptCount val="8"/>
                <c:pt idx="0">
                  <c:v>98.440453651664413</c:v>
                </c:pt>
                <c:pt idx="1">
                  <c:v>28.382376718616101</c:v>
                </c:pt>
                <c:pt idx="2">
                  <c:v>11.3196238527965</c:v>
                </c:pt>
                <c:pt idx="3">
                  <c:v>2.1738804945886594</c:v>
                </c:pt>
                <c:pt idx="4">
                  <c:v>2.3279087327729804</c:v>
                </c:pt>
                <c:pt idx="5">
                  <c:v>1.7165126524398098</c:v>
                </c:pt>
                <c:pt idx="6">
                  <c:v>2.0431100204803405</c:v>
                </c:pt>
                <c:pt idx="7">
                  <c:v>2.59829851836672</c:v>
                </c:pt>
              </c:numCache>
            </c:numRef>
          </c:yVal>
        </c:ser>
        <c:ser>
          <c:idx val="5"/>
          <c:order val="5"/>
          <c:tx>
            <c:strRef>
              <c:f>ISOFORM_LEVEL!$M$1</c:f>
              <c:strCache>
                <c:ptCount val="1"/>
                <c:pt idx="0">
                  <c:v>All</c:v>
                </c:pt>
              </c:strCache>
            </c:strRef>
          </c:tx>
          <c:xVal>
            <c:numRef>
              <c:f>ISOFORM_LEVEL!$B$2:$B$9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ISOFORM_LEVEL!$M$2:$M$9</c:f>
              <c:numCache>
                <c:formatCode>General</c:formatCode>
                <c:ptCount val="8"/>
                <c:pt idx="0">
                  <c:v>218.45148263142303</c:v>
                </c:pt>
                <c:pt idx="1">
                  <c:v>62.607273569634792</c:v>
                </c:pt>
                <c:pt idx="2">
                  <c:v>20.359632659806401</c:v>
                </c:pt>
                <c:pt idx="3">
                  <c:v>12.010137573972402</c:v>
                </c:pt>
                <c:pt idx="4">
                  <c:v>13.816638525085802</c:v>
                </c:pt>
                <c:pt idx="5">
                  <c:v>14.576598111482902</c:v>
                </c:pt>
                <c:pt idx="6">
                  <c:v>17.008704658607499</c:v>
                </c:pt>
                <c:pt idx="7">
                  <c:v>18.181488007819702</c:v>
                </c:pt>
              </c:numCache>
            </c:numRef>
          </c:yVal>
        </c:ser>
        <c:axId val="92499968"/>
        <c:axId val="92501504"/>
      </c:scatterChart>
      <c:valAx>
        <c:axId val="92499968"/>
        <c:scaling>
          <c:orientation val="minMax"/>
          <c:max val="100"/>
          <c:min val="0"/>
        </c:scaling>
        <c:axPos val="b"/>
        <c:numFmt formatCode="General" sourceLinked="1"/>
        <c:tickLblPos val="nextTo"/>
        <c:crossAx val="92501504"/>
        <c:crosses val="autoZero"/>
        <c:crossBetween val="midCat"/>
      </c:valAx>
      <c:valAx>
        <c:axId val="92501504"/>
        <c:scaling>
          <c:logBase val="10"/>
          <c:orientation val="minMax"/>
        </c:scaling>
        <c:axPos val="l"/>
        <c:majorGridlines/>
        <c:numFmt formatCode="General" sourceLinked="1"/>
        <c:tickLblPos val="nextTo"/>
        <c:crossAx val="92499968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scatterChart>
        <c:scatterStyle val="lineMarker"/>
        <c:ser>
          <c:idx val="0"/>
          <c:order val="0"/>
          <c:tx>
            <c:strRef>
              <c:f>ISOFORM_LEVEL!$H$1</c:f>
              <c:strCache>
                <c:ptCount val="1"/>
                <c:pt idx="0">
                  <c:v>(0,10^-6]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ISOFORM_LEVEL!$H$10:$H$17</c:f>
              <c:numCache>
                <c:formatCode>General</c:formatCode>
                <c:ptCount val="8"/>
                <c:pt idx="0">
                  <c:v>138.23011795241504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yVal>
        </c:ser>
        <c:ser>
          <c:idx val="1"/>
          <c:order val="1"/>
          <c:tx>
            <c:strRef>
              <c:f>ISOFORM_LEVEL!$I$1</c:f>
              <c:strCache>
                <c:ptCount val="1"/>
                <c:pt idx="0">
                  <c:v>(10^-6,10^-5]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ISOFORM_LEVEL!$I$10:$I$17</c:f>
              <c:numCache>
                <c:formatCode>General</c:formatCode>
                <c:ptCount val="8"/>
                <c:pt idx="0">
                  <c:v>29.283868911508701</c:v>
                </c:pt>
                <c:pt idx="1">
                  <c:v>19.203259177027402</c:v>
                </c:pt>
                <c:pt idx="2">
                  <c:v>21.483085841382096</c:v>
                </c:pt>
                <c:pt idx="3">
                  <c:v>22.9608787659227</c:v>
                </c:pt>
                <c:pt idx="4">
                  <c:v>27.6953117829405</c:v>
                </c:pt>
                <c:pt idx="5">
                  <c:v>31.822542844514693</c:v>
                </c:pt>
                <c:pt idx="6">
                  <c:v>38.707856424741692</c:v>
                </c:pt>
                <c:pt idx="7">
                  <c:v>44.791964217257096</c:v>
                </c:pt>
              </c:numCache>
            </c:numRef>
          </c:yVal>
        </c:ser>
        <c:ser>
          <c:idx val="2"/>
          <c:order val="2"/>
          <c:tx>
            <c:strRef>
              <c:f>ISOFORM_LEVEL!$J$1</c:f>
              <c:strCache>
                <c:ptCount val="1"/>
                <c:pt idx="0">
                  <c:v>(10^-5,10^-4]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ISOFORM_LEVEL!$J$10:$J$17</c:f>
              <c:numCache>
                <c:formatCode>General</c:formatCode>
                <c:ptCount val="8"/>
                <c:pt idx="0">
                  <c:v>10.176893604109599</c:v>
                </c:pt>
                <c:pt idx="1">
                  <c:v>6.3297478078049494</c:v>
                </c:pt>
                <c:pt idx="2">
                  <c:v>7.2331853480024888</c:v>
                </c:pt>
                <c:pt idx="3">
                  <c:v>7.7022435597335805</c:v>
                </c:pt>
                <c:pt idx="4">
                  <c:v>9.045438817260294</c:v>
                </c:pt>
                <c:pt idx="5">
                  <c:v>10.264215106034497</c:v>
                </c:pt>
                <c:pt idx="6">
                  <c:v>12.145509421308303</c:v>
                </c:pt>
                <c:pt idx="7">
                  <c:v>13.647763519833799</c:v>
                </c:pt>
              </c:numCache>
            </c:numRef>
          </c:yVal>
        </c:ser>
        <c:ser>
          <c:idx val="3"/>
          <c:order val="3"/>
          <c:tx>
            <c:strRef>
              <c:f>ISOFORM_LEVEL!$K$1</c:f>
              <c:strCache>
                <c:ptCount val="1"/>
                <c:pt idx="0">
                  <c:v>(10^-4,10^-3]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ISOFORM_LEVEL!$K$10:$K$17</c:f>
              <c:numCache>
                <c:formatCode>General</c:formatCode>
                <c:ptCount val="8"/>
                <c:pt idx="0">
                  <c:v>8.9052039683942894</c:v>
                </c:pt>
                <c:pt idx="1">
                  <c:v>3.2363901732424001</c:v>
                </c:pt>
                <c:pt idx="2">
                  <c:v>3.2703657701775906</c:v>
                </c:pt>
                <c:pt idx="3">
                  <c:v>3.2469106210254899</c:v>
                </c:pt>
                <c:pt idx="4">
                  <c:v>3.5052917859026906</c:v>
                </c:pt>
                <c:pt idx="5">
                  <c:v>3.7696054642057795</c:v>
                </c:pt>
                <c:pt idx="6">
                  <c:v>4.57958936036606</c:v>
                </c:pt>
                <c:pt idx="7">
                  <c:v>4.9986511261377098</c:v>
                </c:pt>
              </c:numCache>
            </c:numRef>
          </c:yVal>
        </c:ser>
        <c:ser>
          <c:idx val="4"/>
          <c:order val="4"/>
          <c:tx>
            <c:strRef>
              <c:f>ISOFORM_LEVEL!$L$1</c:f>
              <c:strCache>
                <c:ptCount val="1"/>
                <c:pt idx="0">
                  <c:v>(10^-3,10^-2]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ISOFORM_LEVEL!$L$10:$L$17</c:f>
              <c:numCache>
                <c:formatCode>General</c:formatCode>
                <c:ptCount val="8"/>
                <c:pt idx="0">
                  <c:v>15.467333338665702</c:v>
                </c:pt>
                <c:pt idx="1">
                  <c:v>4.2990047206569795</c:v>
                </c:pt>
                <c:pt idx="2">
                  <c:v>3.4458088402642395</c:v>
                </c:pt>
                <c:pt idx="3">
                  <c:v>1.57175274831552</c:v>
                </c:pt>
                <c:pt idx="4">
                  <c:v>1.91099558959069</c:v>
                </c:pt>
                <c:pt idx="5">
                  <c:v>1.9580654095898902</c:v>
                </c:pt>
                <c:pt idx="6">
                  <c:v>1.9287198178781</c:v>
                </c:pt>
                <c:pt idx="7">
                  <c:v>2.5382446286331097</c:v>
                </c:pt>
              </c:numCache>
            </c:numRef>
          </c:yVal>
        </c:ser>
        <c:ser>
          <c:idx val="5"/>
          <c:order val="5"/>
          <c:tx>
            <c:strRef>
              <c:f>ISOFORM_LEVEL!$M$1</c:f>
              <c:strCache>
                <c:ptCount val="1"/>
                <c:pt idx="0">
                  <c:v>All</c:v>
                </c:pt>
              </c:strCache>
            </c:strRef>
          </c:tx>
          <c:xVal>
            <c:numRef>
              <c:f>ISOFORM_LEVEL!$B$10:$B$17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ISOFORM_LEVEL!$M$10:$M$17</c:f>
              <c:numCache>
                <c:formatCode>General</c:formatCode>
                <c:ptCount val="8"/>
                <c:pt idx="0">
                  <c:v>30.313367541381897</c:v>
                </c:pt>
                <c:pt idx="1">
                  <c:v>11.850064870110302</c:v>
                </c:pt>
                <c:pt idx="2">
                  <c:v>12.612879495924799</c:v>
                </c:pt>
                <c:pt idx="3">
                  <c:v>11.563467530944102</c:v>
                </c:pt>
                <c:pt idx="4">
                  <c:v>13.670742595380002</c:v>
                </c:pt>
                <c:pt idx="5">
                  <c:v>15.481073464346398</c:v>
                </c:pt>
                <c:pt idx="6">
                  <c:v>18.458412209690696</c:v>
                </c:pt>
                <c:pt idx="7">
                  <c:v>21.065886549799597</c:v>
                </c:pt>
              </c:numCache>
            </c:numRef>
          </c:yVal>
        </c:ser>
        <c:axId val="92545792"/>
        <c:axId val="92547328"/>
      </c:scatterChart>
      <c:valAx>
        <c:axId val="92545792"/>
        <c:scaling>
          <c:orientation val="minMax"/>
          <c:max val="100"/>
          <c:min val="0"/>
        </c:scaling>
        <c:axPos val="b"/>
        <c:numFmt formatCode="General" sourceLinked="1"/>
        <c:tickLblPos val="nextTo"/>
        <c:crossAx val="92547328"/>
        <c:crosses val="autoZero"/>
        <c:crossBetween val="midCat"/>
      </c:valAx>
      <c:valAx>
        <c:axId val="92547328"/>
        <c:scaling>
          <c:logBase val="10"/>
          <c:orientation val="minMax"/>
          <c:max val="10000"/>
          <c:min val="1"/>
        </c:scaling>
        <c:axPos val="l"/>
        <c:majorGridlines/>
        <c:numFmt formatCode="General" sourceLinked="1"/>
        <c:tickLblPos val="nextTo"/>
        <c:crossAx val="92545792"/>
        <c:crosses val="autoZero"/>
        <c:crossBetween val="midCat"/>
      </c:valAx>
    </c:plotArea>
    <c:plotVisOnly val="1"/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>
        <c:manualLayout>
          <c:layoutTarget val="inner"/>
          <c:xMode val="edge"/>
          <c:yMode val="edge"/>
          <c:x val="0.16477585068013492"/>
          <c:y val="2.4360148897737577E-2"/>
          <c:w val="0.76913666415306103"/>
          <c:h val="0.72667485005439025"/>
        </c:manualLayout>
      </c:layout>
      <c:scatterChart>
        <c:scatterStyle val="lineMarker"/>
        <c:ser>
          <c:idx val="1"/>
          <c:order val="1"/>
          <c:tx>
            <c:v>Single Reads</c:v>
          </c:tx>
          <c:spPr>
            <a:ln w="38100">
              <a:solidFill>
                <a:srgbClr val="C00000"/>
              </a:solidFill>
              <a:prstDash val="solid"/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x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Sheet1!$H$2:$H$9</c:f>
              <c:numCache>
                <c:formatCode>General</c:formatCode>
                <c:ptCount val="8"/>
                <c:pt idx="0">
                  <c:v>1.1460749627255796E-3</c:v>
                </c:pt>
                <c:pt idx="1">
                  <c:v>0.88618051308766843</c:v>
                </c:pt>
                <c:pt idx="2">
                  <c:v>0.92144697468078274</c:v>
                </c:pt>
                <c:pt idx="3">
                  <c:v>0.96770275036156927</c:v>
                </c:pt>
                <c:pt idx="4">
                  <c:v>0.97147709820198613</c:v>
                </c:pt>
                <c:pt idx="5">
                  <c:v>0.97228561670960878</c:v>
                </c:pt>
                <c:pt idx="6">
                  <c:v>0.96578672145957334</c:v>
                </c:pt>
                <c:pt idx="7">
                  <c:v>0.96819591200841604</c:v>
                </c:pt>
              </c:numCache>
            </c:numRef>
          </c:yVal>
        </c:ser>
        <c:ser>
          <c:idx val="0"/>
          <c:order val="0"/>
          <c:tx>
            <c:v>Paired Reads</c:v>
          </c:tx>
          <c:spPr>
            <a:ln w="38100">
              <a:solidFill>
                <a:srgbClr val="004586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4586"/>
              </a:solidFill>
              <a:ln>
                <a:solidFill>
                  <a:srgbClr val="004586"/>
                </a:solidFill>
                <a:prstDash val="solid"/>
              </a:ln>
            </c:spPr>
          </c:marker>
          <c:xVal>
            <c:numRef>
              <c:f>Sheet1!$B$10:$B$17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36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xVal>
          <c:yVal>
            <c:numRef>
              <c:f>Sheet1!$H$10:$H$17</c:f>
              <c:numCache>
                <c:formatCode>General</c:formatCode>
                <c:ptCount val="8"/>
                <c:pt idx="0">
                  <c:v>0.77112209329614478</c:v>
                </c:pt>
                <c:pt idx="1">
                  <c:v>0.95001394993667265</c:v>
                </c:pt>
                <c:pt idx="2">
                  <c:v>0.95669116684929933</c:v>
                </c:pt>
                <c:pt idx="3">
                  <c:v>0.97951545691296971</c:v>
                </c:pt>
                <c:pt idx="4">
                  <c:v>0.97126600791425399</c:v>
                </c:pt>
                <c:pt idx="5">
                  <c:v>0.97404184103194913</c:v>
                </c:pt>
                <c:pt idx="6">
                  <c:v>0.97403794562461543</c:v>
                </c:pt>
                <c:pt idx="7">
                  <c:v>0.9745514770120477</c:v>
                </c:pt>
              </c:numCache>
            </c:numRef>
          </c:yVal>
        </c:ser>
        <c:axId val="92593152"/>
        <c:axId val="92603904"/>
      </c:scatterChart>
      <c:valAx>
        <c:axId val="92593152"/>
        <c:scaling>
          <c:orientation val="minMax"/>
          <c:max val="100"/>
          <c:min val="1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Read Length</a:t>
                </a:r>
              </a:p>
            </c:rich>
          </c:tx>
          <c:layout/>
        </c:title>
        <c:numFmt formatCode="General" sourceLinked="1"/>
        <c:majorTickMark val="none"/>
        <c:tickLblPos val="low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92603904"/>
        <c:crosses val="autoZero"/>
        <c:crossBetween val="midCat"/>
      </c:valAx>
      <c:valAx>
        <c:axId val="92603904"/>
        <c:scaling>
          <c:orientation val="minMax"/>
          <c:max val="1"/>
          <c:min val="0"/>
        </c:scaling>
        <c:axPos val="l"/>
        <c:majorGridlines>
          <c:spPr>
            <a:ln w="3175">
              <a:solidFill>
                <a:srgbClr val="B3B3B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</a:t>
                </a:r>
                <a:r>
                  <a:rPr lang="en-US" baseline="30000"/>
                  <a:t>2</a:t>
                </a:r>
              </a:p>
            </c:rich>
          </c:tx>
          <c:layout/>
        </c:title>
        <c:numFmt formatCode="General" sourceLinked="1"/>
        <c:majorTickMark val="none"/>
        <c:tickLblPos val="low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92593152"/>
        <c:crosses val="autoZero"/>
        <c:crossBetween val="midCat"/>
      </c:valAx>
      <c:spPr>
        <a:noFill/>
        <a:ln w="3175">
          <a:solidFill>
            <a:srgbClr val="B3B3B3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59142848664261449"/>
          <c:y val="0.5597694853360724"/>
          <c:w val="0.32782290988486135"/>
          <c:h val="0.17791819500823286"/>
        </c:manualLayout>
      </c:layout>
      <c:spPr>
        <a:solidFill>
          <a:schemeClr val="bg1"/>
        </a:solidFill>
      </c:spPr>
    </c:legend>
    <c:dispBlanksAs val="gap"/>
  </c:chart>
  <c:spPr>
    <a:solidFill>
      <a:srgbClr val="FFFFFF"/>
    </a:solidFill>
    <a:ln w="9525">
      <a:noFill/>
    </a:ln>
  </c:spPr>
  <c:txPr>
    <a:bodyPr/>
    <a:lstStyle/>
    <a:p>
      <a:pPr>
        <a:defRPr sz="14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>
        <c:manualLayout>
          <c:layoutTarget val="inner"/>
          <c:xMode val="edge"/>
          <c:yMode val="edge"/>
          <c:x val="0.16477585068013492"/>
          <c:y val="2.4360148897737577E-2"/>
          <c:w val="0.76913666415306103"/>
          <c:h val="0.72667485005439081"/>
        </c:manualLayout>
      </c:layout>
      <c:scatterChart>
        <c:scatterStyle val="lineMarker"/>
        <c:ser>
          <c:idx val="1"/>
          <c:order val="1"/>
          <c:tx>
            <c:v>Single Reads</c:v>
          </c:tx>
          <c:spPr>
            <a:ln w="38100">
              <a:solidFill>
                <a:srgbClr val="C00000"/>
              </a:solidFill>
              <a:prstDash val="solid"/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xVal>
            <c:numRef>
              <c:f>Sheet1!$B$4:$B$9</c:f>
              <c:numCache>
                <c:formatCode>General</c:formatCode>
                <c:ptCount val="6"/>
                <c:pt idx="0">
                  <c:v>20</c:v>
                </c:pt>
                <c:pt idx="1">
                  <c:v>25</c:v>
                </c:pt>
                <c:pt idx="2">
                  <c:v>36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</c:numCache>
            </c:numRef>
          </c:xVal>
          <c:yVal>
            <c:numRef>
              <c:f>Sheet1!$H$4:$H$9</c:f>
              <c:numCache>
                <c:formatCode>General</c:formatCode>
                <c:ptCount val="6"/>
                <c:pt idx="0">
                  <c:v>0.92144697468078274</c:v>
                </c:pt>
                <c:pt idx="1">
                  <c:v>0.96770275036156927</c:v>
                </c:pt>
                <c:pt idx="2">
                  <c:v>0.97147709820198613</c:v>
                </c:pt>
                <c:pt idx="3">
                  <c:v>0.97228561670960878</c:v>
                </c:pt>
                <c:pt idx="4">
                  <c:v>0.96578672145957334</c:v>
                </c:pt>
                <c:pt idx="5">
                  <c:v>0.96819591200841604</c:v>
                </c:pt>
              </c:numCache>
            </c:numRef>
          </c:yVal>
        </c:ser>
        <c:ser>
          <c:idx val="0"/>
          <c:order val="0"/>
          <c:tx>
            <c:v>Paired Reads</c:v>
          </c:tx>
          <c:spPr>
            <a:ln w="38100">
              <a:solidFill>
                <a:srgbClr val="004586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4586"/>
              </a:solidFill>
              <a:ln>
                <a:solidFill>
                  <a:srgbClr val="004586"/>
                </a:solidFill>
                <a:prstDash val="solid"/>
              </a:ln>
            </c:spPr>
          </c:marker>
          <c:xVal>
            <c:numRef>
              <c:f>Sheet1!$B$12:$B$17</c:f>
              <c:numCache>
                <c:formatCode>General</c:formatCode>
                <c:ptCount val="6"/>
                <c:pt idx="0">
                  <c:v>20</c:v>
                </c:pt>
                <c:pt idx="1">
                  <c:v>25</c:v>
                </c:pt>
                <c:pt idx="2">
                  <c:v>36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</c:numCache>
            </c:numRef>
          </c:xVal>
          <c:yVal>
            <c:numRef>
              <c:f>Sheet1!$H$12:$H$17</c:f>
              <c:numCache>
                <c:formatCode>General</c:formatCode>
                <c:ptCount val="6"/>
                <c:pt idx="0">
                  <c:v>0.95669116684929933</c:v>
                </c:pt>
                <c:pt idx="1">
                  <c:v>0.97951545691296971</c:v>
                </c:pt>
                <c:pt idx="2">
                  <c:v>0.97126600791425399</c:v>
                </c:pt>
                <c:pt idx="3">
                  <c:v>0.97404184103194913</c:v>
                </c:pt>
                <c:pt idx="4">
                  <c:v>0.97403794562461543</c:v>
                </c:pt>
                <c:pt idx="5">
                  <c:v>0.9745514770120477</c:v>
                </c:pt>
              </c:numCache>
            </c:numRef>
          </c:yVal>
        </c:ser>
        <c:axId val="92640768"/>
        <c:axId val="92663808"/>
      </c:scatterChart>
      <c:valAx>
        <c:axId val="92640768"/>
        <c:scaling>
          <c:orientation val="minMax"/>
          <c:max val="100"/>
          <c:min val="2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Read Length</a:t>
                </a:r>
              </a:p>
            </c:rich>
          </c:tx>
          <c:layout/>
        </c:title>
        <c:numFmt formatCode="General" sourceLinked="1"/>
        <c:majorTickMark val="none"/>
        <c:tickLblPos val="low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92663808"/>
        <c:crosses val="autoZero"/>
        <c:crossBetween val="midCat"/>
      </c:valAx>
      <c:valAx>
        <c:axId val="92663808"/>
        <c:scaling>
          <c:orientation val="minMax"/>
          <c:max val="0.98"/>
          <c:min val="0.92"/>
        </c:scaling>
        <c:axPos val="l"/>
        <c:majorGridlines>
          <c:spPr>
            <a:ln w="3175">
              <a:solidFill>
                <a:srgbClr val="B3B3B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</a:t>
                </a:r>
                <a:r>
                  <a:rPr lang="en-US" baseline="30000"/>
                  <a:t>2</a:t>
                </a:r>
              </a:p>
            </c:rich>
          </c:tx>
          <c:layout/>
        </c:title>
        <c:numFmt formatCode="General" sourceLinked="1"/>
        <c:majorTickMark val="none"/>
        <c:tickLblPos val="low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92640768"/>
        <c:crosses val="autoZero"/>
        <c:crossBetween val="midCat"/>
      </c:valAx>
      <c:spPr>
        <a:noFill/>
        <a:ln w="3175">
          <a:solidFill>
            <a:srgbClr val="B3B3B3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59428358949825655"/>
          <c:y val="0.51836161784124768"/>
          <c:w val="0.31571727377693687"/>
          <c:h val="0.18271824717562499"/>
        </c:manualLayout>
      </c:layout>
      <c:spPr>
        <a:solidFill>
          <a:sysClr val="window" lastClr="FFFFFF"/>
        </a:solidFill>
      </c:spPr>
    </c:legend>
    <c:dispBlanksAs val="gap"/>
  </c:chart>
  <c:spPr>
    <a:solidFill>
      <a:srgbClr val="FFFFFF"/>
    </a:solidFill>
    <a:ln w="9525">
      <a:noFill/>
    </a:ln>
  </c:spPr>
  <c:txPr>
    <a:bodyPr/>
    <a:lstStyle/>
    <a:p>
      <a:pPr>
        <a:defRPr sz="14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570B5-88CA-4CD9-8735-5041E1E82782}" type="datetimeFigureOut">
              <a:rPr lang="en-US" smtClean="0"/>
              <a:pPr/>
              <a:t>11/7/2010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6854F-2CC8-4588-ACA0-135A57DB9A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84013A-AFBD-4FAA-A7B5-D13A7213A180}" type="slidenum">
              <a:rPr lang="en-US" smtClean="0"/>
              <a:pPr>
                <a:defRPr/>
              </a:pPr>
              <a:t>3</a:t>
            </a:fld>
            <a:endParaRPr lang="en-US" smtClean="0"/>
          </a:p>
        </p:txBody>
      </p:sp>
      <p:sp>
        <p:nvSpPr>
          <p:cNvPr id="215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8" tIns="45710" rIns="91418" bIns="45710" anchor="b"/>
          <a:lstStyle/>
          <a:p>
            <a:pPr algn="r"/>
            <a:fld id="{384C4D29-ED4D-442D-B23A-14D9C89AE01D}" type="slidenum">
              <a:rPr lang="en-US" sz="1100"/>
              <a:pPr algn="r"/>
              <a:t>3</a:t>
            </a:fld>
            <a:endParaRPr lang="en-US" sz="1100"/>
          </a:p>
        </p:txBody>
      </p:sp>
      <p:sp>
        <p:nvSpPr>
          <p:cNvPr id="21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1418" tIns="45710" rIns="91418" bIns="4571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-SBS: Sequencing by Synthesis</a:t>
            </a:r>
          </a:p>
          <a:p>
            <a:pPr eaLnBrk="1" hangingPunct="1"/>
            <a:r>
              <a:rPr lang="en-US" smtClean="0"/>
              <a:t>-SBL: Sequencing by Ligation</a:t>
            </a:r>
          </a:p>
          <a:p>
            <a:pPr eaLnBrk="1" hangingPunct="1"/>
            <a:r>
              <a:rPr lang="en-US" smtClean="0"/>
              <a:t>-Challenges in Genome Assembly: The short read lengths and absence of paired ends make it difficult for assembly software to disambiguate repeat regions, therefore resulting in fragmented assemblies.</a:t>
            </a:r>
          </a:p>
          <a:p>
            <a:pPr eaLnBrk="1" hangingPunct="1"/>
            <a:r>
              <a:rPr lang="en-US" smtClean="0"/>
              <a:t>-New Type of sequencing error: in 454 including incorrect estimates of homopolymer lengths,</a:t>
            </a:r>
          </a:p>
          <a:p>
            <a:pPr eaLnBrk="1" hangingPunct="1"/>
            <a:r>
              <a:rPr lang="en-US" smtClean="0"/>
              <a:t>‘transposition-like’ insertions (a base identical to a nearby homopolymer is inserted in a nearby nonadjacent location) and errors caused by multiple templates attached to the same bead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concept, stronger words</a:t>
            </a:r>
          </a:p>
          <a:p>
            <a:r>
              <a:rPr lang="en-US" dirty="0" smtClean="0"/>
              <a:t>More details</a:t>
            </a:r>
          </a:p>
          <a:p>
            <a:pPr>
              <a:buFontTx/>
              <a:buChar char="-"/>
            </a:pPr>
            <a:r>
              <a:rPr lang="en-US" dirty="0" smtClean="0"/>
              <a:t> Graph obtained by mapping the reads on to the transcript library</a:t>
            </a:r>
          </a:p>
          <a:p>
            <a:pPr>
              <a:buFontTx/>
              <a:buChar char="-"/>
            </a:pPr>
            <a:r>
              <a:rPr lang="en-US" dirty="0" smtClean="0"/>
              <a:t> Some reads are </a:t>
            </a:r>
            <a:r>
              <a:rPr lang="en-US" dirty="0" err="1" smtClean="0"/>
              <a:t>compat</a:t>
            </a:r>
            <a:r>
              <a:rPr lang="en-US" dirty="0" smtClean="0"/>
              <a:t> .with one </a:t>
            </a:r>
            <a:r>
              <a:rPr lang="en-US" dirty="0" err="1" smtClean="0"/>
              <a:t>iso</a:t>
            </a:r>
            <a:r>
              <a:rPr lang="en-US" dirty="0" smtClean="0"/>
              <a:t> (like first read) some with multiple </a:t>
            </a:r>
            <a:r>
              <a:rPr lang="en-US" dirty="0" err="1" smtClean="0"/>
              <a:t>isoforms</a:t>
            </a:r>
            <a:r>
              <a:rPr lang="en-US" dirty="0" smtClean="0"/>
              <a:t> (like second)</a:t>
            </a:r>
          </a:p>
          <a:p>
            <a:pPr>
              <a:buFontTx/>
              <a:buChar char="-"/>
            </a:pPr>
            <a:r>
              <a:rPr lang="en-US" dirty="0" smtClean="0"/>
              <a:t>-  Animate O formula and Q formula (error </a:t>
            </a:r>
            <a:r>
              <a:rPr lang="en-US" dirty="0" err="1" smtClean="0"/>
              <a:t>prob</a:t>
            </a:r>
            <a:r>
              <a:rPr lang="en-US" dirty="0" smtClean="0"/>
              <a:t> comp from </a:t>
            </a:r>
            <a:r>
              <a:rPr lang="en-US" dirty="0" err="1" smtClean="0"/>
              <a:t>qual</a:t>
            </a:r>
            <a:r>
              <a:rPr lang="en-US" dirty="0" smtClean="0"/>
              <a:t> scores)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Comparison with alternative protocol for measuring gene </a:t>
            </a:r>
            <a:r>
              <a:rPr lang="en-US" dirty="0" err="1" smtClean="0"/>
              <a:t>expr</a:t>
            </a:r>
            <a:r>
              <a:rPr lang="en-US" dirty="0" smtClean="0"/>
              <a:t> called digital gene </a:t>
            </a:r>
            <a:r>
              <a:rPr lang="en-US" dirty="0" err="1" smtClean="0"/>
              <a:t>expr</a:t>
            </a:r>
            <a:endParaRPr lang="en-US" dirty="0" smtClean="0"/>
          </a:p>
          <a:p>
            <a:r>
              <a:rPr lang="en-US" dirty="0" smtClean="0"/>
              <a:t>The techniques behind </a:t>
            </a:r>
            <a:r>
              <a:rPr lang="en-US" dirty="0" err="1" smtClean="0"/>
              <a:t>isoem</a:t>
            </a:r>
            <a:r>
              <a:rPr lang="en-US" dirty="0" smtClean="0"/>
              <a:t> are applicable to reconstruction &amp; freq </a:t>
            </a:r>
            <a:r>
              <a:rPr lang="en-US" dirty="0" err="1" smtClean="0"/>
              <a:t>est</a:t>
            </a:r>
            <a:r>
              <a:rPr lang="en-US" dirty="0" smtClean="0"/>
              <a:t> for virus </a:t>
            </a:r>
            <a:r>
              <a:rPr lang="en-US" dirty="0" err="1" smtClean="0"/>
              <a:t>quasispecies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00165D-C94E-4C87-9EAC-E3AE82C39B33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E887B6-A51F-4E1F-8200-A13BC8C41F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C73D54-B3BB-40D3-88D5-4B89536C2B28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369BB-A5F7-4431-8EFB-4986BAD37D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D89530-391B-412B-BAC8-27A443FAE958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784D34-3E4E-4BFC-986F-093AB1DE83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8DDB46-16A6-4DC6-963D-DC7C1E4151D9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43CA07-485B-4DC5-B480-7C62DB9848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C45C23-243D-4F9C-B933-63428A4134DF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AEBC81-E5C2-438E-A596-6F36A3D72D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A38490-7E3A-4028-B034-C2AD60208D08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F059F-0EA5-435C-B899-277C8A137A5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7BBFFA-6BAC-469E-ACFA-E6CC99D5ECE9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216AA-45A2-4EF4-938B-D9DFFDC320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33C959-1A3E-4DC9-B61A-2F99710605CA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E88756-77B0-4932-AC6D-6BDF23E7EC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C3C0CB-38B3-4F3B-96CE-67B0C16F458C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DC496-FCC2-4B89-A818-DBC563C687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520A16-FBA8-41FB-AD29-1B53458E6B61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E73F8-7D1D-4737-A8CF-BF77A22B98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502924-6F63-4073-B1BC-AF3C640EB7CD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DEC5C5-0190-48D0-A746-BC2DD2D663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207DF8-9BB4-427B-9849-A53E46DC0CBB}" type="datetimeFigureOut">
              <a:rPr lang="en-US" smtClean="0"/>
              <a:pPr>
                <a:defRPr/>
              </a:pPr>
              <a:t>11/7/2010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BE26972-721B-4AD9-ACB4-F71C1809F28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Microsoft_Office_Excel_97-2003_Worksheet2.xls"/><Relationship Id="rId4" Type="http://schemas.openxmlformats.org/officeDocument/2006/relationships/oleObject" Target="../embeddings/Microsoft_Office_Excel_97-2003_Worksheet1.xls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dna.engr.uconn.edu/software/IsoE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800" b="1" dirty="0" smtClean="0"/>
              <a:t>Estimation of alternative splicing </a:t>
            </a:r>
            <a:r>
              <a:rPr lang="en-US" sz="4800" b="1" dirty="0" err="1" smtClean="0"/>
              <a:t>isoform</a:t>
            </a:r>
            <a:r>
              <a:rPr lang="en-US" sz="4800" b="1" dirty="0" smtClean="0"/>
              <a:t> frequencies from RNA-</a:t>
            </a:r>
            <a:r>
              <a:rPr lang="en-US" sz="4800" b="1" dirty="0" err="1" smtClean="0"/>
              <a:t>Seq</a:t>
            </a:r>
            <a:r>
              <a:rPr lang="en-US" sz="4800" b="1" dirty="0" smtClean="0"/>
              <a:t> data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57600"/>
            <a:ext cx="7772400" cy="2590800"/>
          </a:xfrm>
        </p:spPr>
        <p:txBody>
          <a:bodyPr>
            <a:normAutofit/>
          </a:bodyPr>
          <a:lstStyle/>
          <a:p>
            <a:pPr marR="0" algn="ctr">
              <a:lnSpc>
                <a:spcPct val="80000"/>
              </a:lnSpc>
              <a:spcBef>
                <a:spcPct val="50000"/>
              </a:spcBef>
            </a:pPr>
            <a:r>
              <a:rPr lang="en-US" sz="3600" b="1" dirty="0" smtClean="0">
                <a:solidFill>
                  <a:schemeClr val="tx1"/>
                </a:solidFill>
              </a:rPr>
              <a:t>Ion </a:t>
            </a:r>
            <a:r>
              <a:rPr lang="en-US" sz="3600" b="1" dirty="0" err="1" smtClean="0">
                <a:solidFill>
                  <a:schemeClr val="tx1"/>
                </a:solidFill>
              </a:rPr>
              <a:t>Mandoiu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r>
              <a:rPr lang="en-US" sz="2800" dirty="0" smtClean="0">
                <a:solidFill>
                  <a:schemeClr val="tx1"/>
                </a:solidFill>
              </a:rPr>
              <a:t>Computer Science and Engineering Department</a:t>
            </a: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r>
              <a:rPr lang="en-US" sz="2800" dirty="0" smtClean="0">
                <a:solidFill>
                  <a:schemeClr val="tx1"/>
                </a:solidFill>
              </a:rPr>
              <a:t>University of Connecticut</a:t>
            </a: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endParaRPr lang="en-US" sz="1100" dirty="0" smtClean="0">
              <a:solidFill>
                <a:srgbClr val="0070C0"/>
              </a:solidFill>
            </a:endParaRP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Joint work with </a:t>
            </a:r>
            <a:r>
              <a:rPr lang="en-US" sz="2000" b="1" dirty="0" smtClean="0">
                <a:solidFill>
                  <a:schemeClr val="tx1"/>
                </a:solidFill>
              </a:rPr>
              <a:t>Marius </a:t>
            </a:r>
            <a:r>
              <a:rPr lang="en-US" sz="2000" b="1" dirty="0" err="1" smtClean="0">
                <a:solidFill>
                  <a:schemeClr val="tx1"/>
                </a:solidFill>
              </a:rPr>
              <a:t>Nicolae</a:t>
            </a:r>
            <a:r>
              <a:rPr lang="en-US" sz="2000" b="1" dirty="0" smtClean="0">
                <a:solidFill>
                  <a:schemeClr val="tx1"/>
                </a:solidFill>
              </a:rPr>
              <a:t>, </a:t>
            </a:r>
            <a:r>
              <a:rPr lang="en-US" sz="2000" b="1" dirty="0" err="1" smtClean="0">
                <a:solidFill>
                  <a:schemeClr val="tx1"/>
                </a:solidFill>
              </a:rPr>
              <a:t>Serghei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</a:rPr>
              <a:t>Mangul</a:t>
            </a:r>
            <a:r>
              <a:rPr lang="en-US" sz="2000" b="1" dirty="0" smtClean="0">
                <a:solidFill>
                  <a:schemeClr val="tx1"/>
                </a:solidFill>
              </a:rPr>
              <a:t>, </a:t>
            </a:r>
            <a:r>
              <a:rPr lang="en-US" sz="2000" dirty="0" smtClean="0">
                <a:solidFill>
                  <a:schemeClr val="tx1"/>
                </a:solidFill>
              </a:rPr>
              <a:t>and</a:t>
            </a:r>
            <a:r>
              <a:rPr lang="en-US" sz="2000" b="1" dirty="0" smtClean="0">
                <a:solidFill>
                  <a:schemeClr val="tx1"/>
                </a:solidFill>
              </a:rPr>
              <a:t> Alex </a:t>
            </a:r>
            <a:r>
              <a:rPr lang="en-US" sz="2000" b="1" dirty="0" err="1" smtClean="0">
                <a:solidFill>
                  <a:schemeClr val="tx1"/>
                </a:solidFill>
              </a:rPr>
              <a:t>Zelikovsky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endParaRPr lang="en-US" sz="1700" b="1" dirty="0" smtClean="0">
              <a:solidFill>
                <a:schemeClr val="tx1"/>
              </a:solidFill>
            </a:endParaRP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endParaRPr lang="en-US" sz="1700" b="1" dirty="0" smtClean="0">
              <a:solidFill>
                <a:schemeClr val="tx1"/>
              </a:solidFill>
            </a:endParaRPr>
          </a:p>
          <a:p>
            <a:pPr marR="0" algn="ctr">
              <a:lnSpc>
                <a:spcPct val="80000"/>
              </a:lnSpc>
              <a:spcBef>
                <a:spcPct val="50000"/>
              </a:spcBef>
            </a:pPr>
            <a:endParaRPr lang="en-US" sz="1700" b="1" dirty="0" smtClean="0">
              <a:solidFill>
                <a:schemeClr val="tx1"/>
              </a:solidFill>
            </a:endParaRPr>
          </a:p>
          <a:p>
            <a:pPr marR="0" algn="ctr">
              <a:lnSpc>
                <a:spcPct val="80000"/>
              </a:lnSpc>
            </a:pPr>
            <a:endParaRPr lang="en-US" sz="1100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10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EM Algorithm</a:t>
            </a:r>
          </a:p>
          <a:p>
            <a:r>
              <a:rPr lang="en-US" dirty="0" smtClean="0"/>
              <a:t>Experimental results</a:t>
            </a:r>
          </a:p>
          <a:p>
            <a:r>
              <a:rPr lang="en-US" dirty="0" smtClean="0"/>
              <a:t>Conclusions and future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371475" y="1447800"/>
            <a:ext cx="8401050" cy="5097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de-DE" sz="3200" i="1"/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de-DE" sz="3200" i="1"/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de-DE" sz="3200" i="1"/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2362200" y="5956300"/>
            <a:ext cx="28194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/>
              <a:t>Illumina Genome Analyzer</a:t>
            </a:r>
          </a:p>
          <a:p>
            <a:r>
              <a:rPr lang="de-DE" sz="1600"/>
              <a:t>100-150bp reads</a:t>
            </a:r>
          </a:p>
          <a:p>
            <a:r>
              <a:rPr lang="de-DE" sz="1600"/>
              <a:t>Up to 38Gb/run</a:t>
            </a:r>
          </a:p>
        </p:txBody>
      </p:sp>
      <p:sp>
        <p:nvSpPr>
          <p:cNvPr id="13316" name="Text Box 8"/>
          <p:cNvSpPr txBox="1">
            <a:spLocks noChangeArrowheads="1"/>
          </p:cNvSpPr>
          <p:nvPr/>
        </p:nvSpPr>
        <p:spPr bwMode="auto">
          <a:xfrm>
            <a:off x="152400" y="4876800"/>
            <a:ext cx="24384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/>
              <a:t>Roche/454 FLX Titanium</a:t>
            </a:r>
          </a:p>
          <a:p>
            <a:r>
              <a:rPr lang="de-DE" sz="1600"/>
              <a:t>400bp reads</a:t>
            </a:r>
          </a:p>
          <a:p>
            <a:r>
              <a:rPr lang="de-DE" sz="1600"/>
              <a:t>Up to 600Mb/run</a:t>
            </a:r>
          </a:p>
        </p:txBody>
      </p:sp>
      <p:sp>
        <p:nvSpPr>
          <p:cNvPr id="13317" name="Text Box 27"/>
          <p:cNvSpPr txBox="1">
            <a:spLocks noChangeArrowheads="1"/>
          </p:cNvSpPr>
          <p:nvPr/>
        </p:nvSpPr>
        <p:spPr bwMode="auto">
          <a:xfrm>
            <a:off x="4648200" y="5041900"/>
            <a:ext cx="22860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/>
              <a:t>ABI SOLiD </a:t>
            </a:r>
          </a:p>
          <a:p>
            <a:r>
              <a:rPr lang="de-DE" sz="1600"/>
              <a:t>50-75bp reads</a:t>
            </a:r>
          </a:p>
          <a:p>
            <a:r>
              <a:rPr lang="de-DE" sz="1600"/>
              <a:t>Up to 300Gb/run</a:t>
            </a:r>
          </a:p>
        </p:txBody>
      </p:sp>
      <p:sp>
        <p:nvSpPr>
          <p:cNvPr id="13318" name="Rectangle 3"/>
          <p:cNvSpPr>
            <a:spLocks noChangeArrowheads="1"/>
          </p:cNvSpPr>
          <p:nvPr/>
        </p:nvSpPr>
        <p:spPr bwMode="auto">
          <a:xfrm>
            <a:off x="381000" y="1371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 smtClean="0"/>
              <a:t>2nd generation of sequencing </a:t>
            </a:r>
            <a:r>
              <a:rPr lang="en-US" sz="2400" dirty="0"/>
              <a:t>technologies deliver </a:t>
            </a:r>
            <a:r>
              <a:rPr lang="en-US" sz="2400" b="1" dirty="0" smtClean="0">
                <a:solidFill>
                  <a:schemeClr val="hlink"/>
                </a:solidFill>
              </a:rPr>
              <a:t>several orders </a:t>
            </a:r>
            <a:r>
              <a:rPr lang="en-US" sz="2400" b="1" dirty="0">
                <a:solidFill>
                  <a:schemeClr val="hlink"/>
                </a:solidFill>
              </a:rPr>
              <a:t>of magnitude</a:t>
            </a:r>
            <a:r>
              <a:rPr lang="en-US" sz="2400" dirty="0"/>
              <a:t> higher throughput compared to classic Sanger </a:t>
            </a:r>
            <a:r>
              <a:rPr lang="en-US" sz="2400" dirty="0" smtClean="0"/>
              <a:t>sequencing</a:t>
            </a: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b="1" dirty="0" smtClean="0">
                <a:solidFill>
                  <a:srgbClr val="FF0000"/>
                </a:solidFill>
              </a:rPr>
              <a:t>Shorter reads!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3320" name="Picture 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505199"/>
            <a:ext cx="9975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62225" y="4873504"/>
            <a:ext cx="1171575" cy="993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2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91000" y="3392324"/>
            <a:ext cx="1905000" cy="13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86600" y="4572000"/>
            <a:ext cx="854294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4" name="Text Box 36"/>
          <p:cNvSpPr txBox="1">
            <a:spLocks noChangeArrowheads="1"/>
          </p:cNvSpPr>
          <p:nvPr/>
        </p:nvSpPr>
        <p:spPr bwMode="auto">
          <a:xfrm>
            <a:off x="6705600" y="5880100"/>
            <a:ext cx="22860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/>
              <a:t>Helicos HeliScope</a:t>
            </a:r>
          </a:p>
          <a:p>
            <a:r>
              <a:rPr lang="de-DE" sz="1600"/>
              <a:t>25-55bp reads</a:t>
            </a:r>
          </a:p>
          <a:p>
            <a:r>
              <a:rPr lang="de-DE" sz="1600"/>
              <a:t>Up to 35Gb/run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noProof="0" dirty="0" smtClean="0">
                <a:latin typeface="+mj-lt"/>
                <a:ea typeface="+mj-ea"/>
                <a:cs typeface="+mj-cs"/>
              </a:rPr>
              <a:t>Ultra-High Throughput Sequencing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Splicing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6477000"/>
            <a:ext cx="1394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+mn-lt"/>
              </a:rPr>
              <a:t>[</a:t>
            </a:r>
            <a:r>
              <a:rPr lang="en-US" sz="1000" b="1" dirty="0" smtClean="0">
                <a:latin typeface="+mn-lt"/>
              </a:rPr>
              <a:t>Griffith and </a:t>
            </a:r>
            <a:r>
              <a:rPr lang="en-US" sz="1000" b="1" dirty="0" err="1" smtClean="0">
                <a:latin typeface="+mn-lt"/>
              </a:rPr>
              <a:t>Marra</a:t>
            </a:r>
            <a:r>
              <a:rPr lang="en-US" sz="1000" dirty="0" smtClean="0">
                <a:latin typeface="+mn-lt"/>
              </a:rPr>
              <a:t> 07]</a:t>
            </a:r>
            <a:endParaRPr lang="en-US" sz="1000" dirty="0">
              <a:latin typeface="+mn-lt"/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9144000" cy="1385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276599"/>
            <a:ext cx="9122636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3689731"/>
            <a:ext cx="9144000" cy="1669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4114800"/>
            <a:ext cx="909096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RNA-</a:t>
            </a:r>
            <a:r>
              <a:rPr lang="en-US" dirty="0" err="1" smtClean="0"/>
              <a:t>Seq</a:t>
            </a:r>
            <a:endParaRPr lang="en-US" dirty="0"/>
          </a:p>
        </p:txBody>
      </p:sp>
      <p:sp>
        <p:nvSpPr>
          <p:cNvPr id="11267" name="Content Placeholder 1"/>
          <p:cNvSpPr txBox="1">
            <a:spLocks/>
          </p:cNvSpPr>
          <p:nvPr/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>
              <a:latin typeface="Lucida Sans Unicode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2438400" y="1371600"/>
            <a:ext cx="2193925" cy="0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2590800" y="1524000"/>
            <a:ext cx="14478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2743200" y="1676400"/>
            <a:ext cx="190500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 bwMode="auto">
          <a:xfrm rot="5400000">
            <a:off x="3467894" y="1866106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 bwMode="auto">
          <a:xfrm>
            <a:off x="2667000" y="2133600"/>
            <a:ext cx="3048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auto">
          <a:xfrm>
            <a:off x="2819400" y="2057400"/>
            <a:ext cx="457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auto">
          <a:xfrm>
            <a:off x="3429000" y="2057400"/>
            <a:ext cx="2286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 bwMode="auto">
          <a:xfrm>
            <a:off x="3810000" y="2057400"/>
            <a:ext cx="3810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 bwMode="auto">
          <a:xfrm>
            <a:off x="3810000" y="2209800"/>
            <a:ext cx="2286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 bwMode="auto">
          <a:xfrm>
            <a:off x="3048000" y="2209800"/>
            <a:ext cx="3048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 bwMode="auto">
          <a:xfrm>
            <a:off x="2971800" y="2286000"/>
            <a:ext cx="457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 bwMode="auto">
          <a:xfrm>
            <a:off x="3505200" y="2133600"/>
            <a:ext cx="2286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 bwMode="auto">
          <a:xfrm>
            <a:off x="3505200" y="2286000"/>
            <a:ext cx="3810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 bwMode="auto">
          <a:xfrm>
            <a:off x="4114800" y="2286000"/>
            <a:ext cx="2286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 bwMode="auto">
          <a:xfrm rot="5400000">
            <a:off x="3467894" y="2475706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 bwMode="auto">
          <a:xfrm>
            <a:off x="2819400" y="2743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 bwMode="auto">
          <a:xfrm>
            <a:off x="3048000" y="2743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 bwMode="auto">
          <a:xfrm>
            <a:off x="3276600" y="2743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 bwMode="auto">
          <a:xfrm>
            <a:off x="3505200" y="2743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 bwMode="auto">
          <a:xfrm>
            <a:off x="3733800" y="2743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 bwMode="auto">
          <a:xfrm>
            <a:off x="3962400" y="2743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 bwMode="auto">
          <a:xfrm>
            <a:off x="2971800" y="2819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 bwMode="auto">
          <a:xfrm>
            <a:off x="3200400" y="2819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 bwMode="auto">
          <a:xfrm>
            <a:off x="3429000" y="2819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 bwMode="auto">
          <a:xfrm>
            <a:off x="3657600" y="2819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 bwMode="auto">
          <a:xfrm>
            <a:off x="3886200" y="2819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 bwMode="auto">
          <a:xfrm>
            <a:off x="4114800" y="2819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 bwMode="auto">
          <a:xfrm>
            <a:off x="2819400" y="2895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 bwMode="auto">
          <a:xfrm>
            <a:off x="3048000" y="2895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 bwMode="auto">
          <a:xfrm>
            <a:off x="3276600" y="2895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 bwMode="auto">
          <a:xfrm>
            <a:off x="3505200" y="2895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 bwMode="auto">
          <a:xfrm>
            <a:off x="3733800" y="2895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 bwMode="auto">
          <a:xfrm>
            <a:off x="3962400" y="2895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 bwMode="auto">
          <a:xfrm>
            <a:off x="2895600" y="2971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 bwMode="auto">
          <a:xfrm>
            <a:off x="3124200" y="2971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 bwMode="auto">
          <a:xfrm>
            <a:off x="3352800" y="2971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 bwMode="auto">
          <a:xfrm>
            <a:off x="3581400" y="2971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 bwMode="auto">
          <a:xfrm>
            <a:off x="3810000" y="2971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 bwMode="auto">
          <a:xfrm>
            <a:off x="4038600" y="2971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 bwMode="auto">
          <a:xfrm rot="5400000">
            <a:off x="3467894" y="3237706"/>
            <a:ext cx="228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 bwMode="auto">
          <a:xfrm>
            <a:off x="2286000" y="3886200"/>
            <a:ext cx="4953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 bwMode="auto">
          <a:xfrm>
            <a:off x="2514600" y="3810000"/>
            <a:ext cx="533400" cy="152400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A</a:t>
            </a:r>
          </a:p>
        </p:txBody>
      </p:sp>
      <p:sp>
        <p:nvSpPr>
          <p:cNvPr id="133" name="Rectangle 132"/>
          <p:cNvSpPr/>
          <p:nvPr/>
        </p:nvSpPr>
        <p:spPr bwMode="auto">
          <a:xfrm>
            <a:off x="3200400" y="3810000"/>
            <a:ext cx="533400" cy="152400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B</a:t>
            </a:r>
          </a:p>
        </p:txBody>
      </p:sp>
      <p:sp>
        <p:nvSpPr>
          <p:cNvPr id="134" name="Rectangle 133"/>
          <p:cNvSpPr/>
          <p:nvPr/>
        </p:nvSpPr>
        <p:spPr bwMode="auto">
          <a:xfrm>
            <a:off x="3886200" y="3810000"/>
            <a:ext cx="533400" cy="152400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C</a:t>
            </a:r>
          </a:p>
        </p:txBody>
      </p:sp>
      <p:cxnSp>
        <p:nvCxnSpPr>
          <p:cNvPr id="142" name="Elbow Connector 141"/>
          <p:cNvCxnSpPr/>
          <p:nvPr/>
        </p:nvCxnSpPr>
        <p:spPr bwMode="auto">
          <a:xfrm rot="5400000" flipH="1" flipV="1">
            <a:off x="2216150" y="3663950"/>
            <a:ext cx="292100" cy="1524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41"/>
          <p:cNvCxnSpPr/>
          <p:nvPr/>
        </p:nvCxnSpPr>
        <p:spPr bwMode="auto">
          <a:xfrm rot="5400000" flipH="1" flipV="1">
            <a:off x="4959350" y="3651250"/>
            <a:ext cx="292100" cy="1524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 bwMode="auto">
          <a:xfrm>
            <a:off x="5334000" y="3810000"/>
            <a:ext cx="533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D</a:t>
            </a:r>
          </a:p>
        </p:txBody>
      </p:sp>
      <p:sp>
        <p:nvSpPr>
          <p:cNvPr id="161" name="Rectangle 160"/>
          <p:cNvSpPr/>
          <p:nvPr/>
        </p:nvSpPr>
        <p:spPr bwMode="auto">
          <a:xfrm>
            <a:off x="6172200" y="3810000"/>
            <a:ext cx="533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E</a:t>
            </a:r>
          </a:p>
        </p:txBody>
      </p:sp>
      <p:sp>
        <p:nvSpPr>
          <p:cNvPr id="11332" name="TextBox 161"/>
          <p:cNvSpPr txBox="1">
            <a:spLocks noChangeArrowheads="1"/>
          </p:cNvSpPr>
          <p:nvPr/>
        </p:nvSpPr>
        <p:spPr bwMode="auto">
          <a:xfrm>
            <a:off x="4038600" y="1752600"/>
            <a:ext cx="33714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Lucida Sans Unicode" pitchFamily="34" charset="0"/>
              </a:rPr>
              <a:t>Make </a:t>
            </a:r>
            <a:r>
              <a:rPr lang="en-US" sz="1400" dirty="0" err="1" smtClean="0">
                <a:latin typeface="Lucida Sans Unicode" pitchFamily="34" charset="0"/>
              </a:rPr>
              <a:t>cDNA</a:t>
            </a:r>
            <a:r>
              <a:rPr lang="en-US" sz="1400" dirty="0" smtClean="0">
                <a:latin typeface="Lucida Sans Unicode" pitchFamily="34" charset="0"/>
              </a:rPr>
              <a:t> &amp; shatter into fragments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11333" name="Rectangle 162"/>
          <p:cNvSpPr>
            <a:spLocks noChangeArrowheads="1"/>
          </p:cNvSpPr>
          <p:nvPr/>
        </p:nvSpPr>
        <p:spPr bwMode="auto">
          <a:xfrm>
            <a:off x="4038600" y="2362200"/>
            <a:ext cx="23887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Lucida Sans Unicode" pitchFamily="34" charset="0"/>
              </a:rPr>
              <a:t>Sequence fragment ends </a:t>
            </a:r>
            <a:endParaRPr lang="en-US" sz="1400" dirty="0">
              <a:latin typeface="Lucida Sans Unicode" pitchFamily="34" charset="0"/>
            </a:endParaRPr>
          </a:p>
        </p:txBody>
      </p:sp>
      <p:cxnSp>
        <p:nvCxnSpPr>
          <p:cNvPr id="170" name="Straight Connector 169"/>
          <p:cNvCxnSpPr/>
          <p:nvPr/>
        </p:nvCxnSpPr>
        <p:spPr bwMode="auto">
          <a:xfrm>
            <a:off x="25146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 bwMode="auto">
          <a:xfrm>
            <a:off x="25908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 bwMode="auto">
          <a:xfrm>
            <a:off x="27432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 bwMode="auto">
          <a:xfrm>
            <a:off x="28956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 bwMode="auto">
          <a:xfrm>
            <a:off x="26670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 bwMode="auto">
          <a:xfrm>
            <a:off x="28194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 bwMode="auto">
          <a:xfrm>
            <a:off x="32004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 bwMode="auto">
          <a:xfrm>
            <a:off x="32766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 bwMode="auto">
          <a:xfrm>
            <a:off x="34290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 bwMode="auto">
          <a:xfrm>
            <a:off x="35814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 bwMode="auto">
          <a:xfrm>
            <a:off x="33528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 bwMode="auto">
          <a:xfrm>
            <a:off x="35052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 bwMode="auto">
          <a:xfrm>
            <a:off x="38862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 bwMode="auto">
          <a:xfrm>
            <a:off x="39624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 bwMode="auto">
          <a:xfrm>
            <a:off x="41148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 bwMode="auto">
          <a:xfrm>
            <a:off x="42672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 bwMode="auto">
          <a:xfrm>
            <a:off x="40386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 bwMode="auto">
          <a:xfrm>
            <a:off x="41910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 bwMode="auto">
          <a:xfrm>
            <a:off x="2514600" y="3581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 bwMode="auto">
          <a:xfrm>
            <a:off x="2590800" y="3505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 bwMode="auto">
          <a:xfrm>
            <a:off x="2743200" y="3505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 bwMode="auto">
          <a:xfrm>
            <a:off x="2895600" y="3505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 bwMode="auto">
          <a:xfrm>
            <a:off x="2667000" y="3581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 bwMode="auto">
          <a:xfrm>
            <a:off x="2819400" y="3581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 bwMode="auto">
          <a:xfrm>
            <a:off x="3886200" y="3581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 bwMode="auto">
          <a:xfrm>
            <a:off x="3962400" y="3505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 bwMode="auto">
          <a:xfrm>
            <a:off x="4114800" y="3505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 bwMode="auto">
          <a:xfrm>
            <a:off x="4267200" y="35052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 bwMode="auto">
          <a:xfrm>
            <a:off x="4038600" y="3581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 bwMode="auto">
          <a:xfrm>
            <a:off x="4191000" y="35814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 bwMode="auto">
          <a:xfrm>
            <a:off x="54102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 bwMode="auto">
          <a:xfrm>
            <a:off x="54864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 bwMode="auto">
          <a:xfrm>
            <a:off x="56388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 bwMode="auto">
          <a:xfrm>
            <a:off x="57912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 bwMode="auto">
          <a:xfrm>
            <a:off x="55626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 bwMode="auto">
          <a:xfrm>
            <a:off x="57150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 bwMode="auto">
          <a:xfrm>
            <a:off x="61722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 bwMode="auto">
          <a:xfrm>
            <a:off x="62484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 bwMode="auto">
          <a:xfrm>
            <a:off x="64008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 bwMode="auto">
          <a:xfrm>
            <a:off x="6553200" y="365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 bwMode="auto">
          <a:xfrm>
            <a:off x="63246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 bwMode="auto">
          <a:xfrm>
            <a:off x="6477000" y="37338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76" name="Rectangle 226"/>
          <p:cNvSpPr>
            <a:spLocks noChangeArrowheads="1"/>
          </p:cNvSpPr>
          <p:nvPr/>
        </p:nvSpPr>
        <p:spPr bwMode="auto">
          <a:xfrm>
            <a:off x="4038600" y="304800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Lucida Sans Unicode" pitchFamily="34" charset="0"/>
              </a:rPr>
              <a:t>Map reads</a:t>
            </a:r>
          </a:p>
        </p:txBody>
      </p:sp>
      <p:cxnSp>
        <p:nvCxnSpPr>
          <p:cNvPr id="241" name="Straight Connector 240"/>
          <p:cNvCxnSpPr>
            <a:stCxn id="132" idx="3"/>
          </p:cNvCxnSpPr>
          <p:nvPr/>
        </p:nvCxnSpPr>
        <p:spPr bwMode="auto">
          <a:xfrm>
            <a:off x="3048000" y="3886200"/>
            <a:ext cx="381000" cy="381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>
            <a:stCxn id="134" idx="1"/>
          </p:cNvCxnSpPr>
          <p:nvPr/>
        </p:nvCxnSpPr>
        <p:spPr bwMode="auto">
          <a:xfrm rot="10800000" flipV="1">
            <a:off x="3429000" y="3886200"/>
            <a:ext cx="457200" cy="381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250"/>
          <p:cNvGrpSpPr>
            <a:grpSpLocks/>
          </p:cNvGrpSpPr>
          <p:nvPr/>
        </p:nvGrpSpPr>
        <p:grpSpPr bwMode="auto">
          <a:xfrm>
            <a:off x="406400" y="4507992"/>
            <a:ext cx="2551814" cy="1600200"/>
            <a:chOff x="304800" y="4572000"/>
            <a:chExt cx="2031325" cy="1270000"/>
          </a:xfrm>
        </p:grpSpPr>
        <p:graphicFrame>
          <p:nvGraphicFramePr>
            <p:cNvPr id="11282" name="Chart 230"/>
            <p:cNvGraphicFramePr>
              <a:graphicFrameLocks/>
            </p:cNvGraphicFramePr>
            <p:nvPr/>
          </p:nvGraphicFramePr>
          <p:xfrm>
            <a:off x="533400" y="4876800"/>
            <a:ext cx="1524000" cy="965200"/>
          </p:xfrm>
          <a:graphic>
            <a:graphicData uri="http://schemas.openxmlformats.org/presentationml/2006/ole">
              <p:oleObj spid="_x0000_s11282" r:id="rId4" imgW="1524132" imgH="969348" progId="Excel.Sheet.8">
                <p:embed/>
              </p:oleObj>
            </a:graphicData>
          </a:graphic>
        </p:graphicFrame>
        <p:sp>
          <p:nvSpPr>
            <p:cNvPr id="11283" name="TextBox 246"/>
            <p:cNvSpPr txBox="1">
              <a:spLocks noChangeArrowheads="1"/>
            </p:cNvSpPr>
            <p:nvPr/>
          </p:nvSpPr>
          <p:spPr bwMode="auto">
            <a:xfrm>
              <a:off x="304800" y="4572000"/>
              <a:ext cx="20313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latin typeface="Lucida Sans Unicode" pitchFamily="34" charset="0"/>
                </a:rPr>
                <a:t>Gene Expression (GE)</a:t>
              </a:r>
            </a:p>
          </p:txBody>
        </p:sp>
      </p:grpSp>
      <p:grpSp>
        <p:nvGrpSpPr>
          <p:cNvPr id="6" name="Group 251"/>
          <p:cNvGrpSpPr>
            <a:grpSpLocks/>
          </p:cNvGrpSpPr>
          <p:nvPr/>
        </p:nvGrpSpPr>
        <p:grpSpPr bwMode="auto">
          <a:xfrm>
            <a:off x="3376613" y="4495800"/>
            <a:ext cx="2649500" cy="1536192"/>
            <a:chOff x="3352800" y="4572000"/>
            <a:chExt cx="2109873" cy="1219200"/>
          </a:xfrm>
        </p:grpSpPr>
        <p:sp>
          <p:nvSpPr>
            <p:cNvPr id="232" name="Rectangle 231"/>
            <p:cNvSpPr/>
            <p:nvPr/>
          </p:nvSpPr>
          <p:spPr>
            <a:xfrm>
              <a:off x="3505206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4038628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4572050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3505206" y="5334000"/>
              <a:ext cx="533422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4038628" y="5334000"/>
              <a:ext cx="533422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3505206" y="5638800"/>
              <a:ext cx="533422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4038628" y="5638800"/>
              <a:ext cx="533422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sp>
          <p:nvSpPr>
            <p:cNvPr id="11281" name="TextBox 248"/>
            <p:cNvSpPr txBox="1">
              <a:spLocks noChangeArrowheads="1"/>
            </p:cNvSpPr>
            <p:nvPr/>
          </p:nvSpPr>
          <p:spPr bwMode="auto">
            <a:xfrm>
              <a:off x="3352800" y="4572000"/>
              <a:ext cx="210987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err="1">
                  <a:latin typeface="Lucida Sans Unicode" pitchFamily="34" charset="0"/>
                </a:rPr>
                <a:t>Isoform</a:t>
              </a:r>
              <a:r>
                <a:rPr lang="en-US" sz="1400" dirty="0">
                  <a:latin typeface="Lucida Sans Unicode" pitchFamily="34" charset="0"/>
                </a:rPr>
                <a:t> Discovery (ID)</a:t>
              </a:r>
            </a:p>
          </p:txBody>
        </p:sp>
      </p:grpSp>
      <p:grpSp>
        <p:nvGrpSpPr>
          <p:cNvPr id="7" name="Group 252"/>
          <p:cNvGrpSpPr>
            <a:grpSpLocks/>
          </p:cNvGrpSpPr>
          <p:nvPr/>
        </p:nvGrpSpPr>
        <p:grpSpPr bwMode="auto">
          <a:xfrm>
            <a:off x="6248400" y="4507992"/>
            <a:ext cx="2743200" cy="1600200"/>
            <a:chOff x="6324600" y="4495800"/>
            <a:chExt cx="2183611" cy="1270000"/>
          </a:xfrm>
        </p:grpSpPr>
        <p:graphicFrame>
          <p:nvGraphicFramePr>
            <p:cNvPr id="11272" name="Chart 245"/>
            <p:cNvGraphicFramePr>
              <a:graphicFrameLocks/>
            </p:cNvGraphicFramePr>
            <p:nvPr/>
          </p:nvGraphicFramePr>
          <p:xfrm>
            <a:off x="6477000" y="4800600"/>
            <a:ext cx="1524000" cy="965200"/>
          </p:xfrm>
          <a:graphic>
            <a:graphicData uri="http://schemas.openxmlformats.org/presentationml/2006/ole">
              <p:oleObj spid="_x0000_s11272" r:id="rId5" imgW="1524132" imgH="969348" progId="Excel.Sheet.8">
                <p:embed/>
              </p:oleObj>
            </a:graphicData>
          </a:graphic>
        </p:graphicFrame>
        <p:sp>
          <p:nvSpPr>
            <p:cNvPr id="11273" name="TextBox 249"/>
            <p:cNvSpPr txBox="1">
              <a:spLocks noChangeArrowheads="1"/>
            </p:cNvSpPr>
            <p:nvPr/>
          </p:nvSpPr>
          <p:spPr bwMode="auto">
            <a:xfrm>
              <a:off x="6324600" y="4495800"/>
              <a:ext cx="21836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latin typeface="Lucida Sans Unicode" pitchFamily="34" charset="0"/>
                </a:rPr>
                <a:t>Isoform Expression (IE)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Gene Expression Challenges</a:t>
            </a:r>
            <a:endParaRPr lang="en-US" dirty="0"/>
          </a:p>
        </p:txBody>
      </p:sp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 ambiguity (</a:t>
            </a:r>
            <a:r>
              <a:rPr lang="en-US" dirty="0" err="1" smtClean="0"/>
              <a:t>multireads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What is the gene length?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2286000" y="3124200"/>
            <a:ext cx="4953000" cy="685800"/>
            <a:chOff x="2286000" y="3124200"/>
            <a:chExt cx="4953000" cy="685800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2286000" y="3429000"/>
              <a:ext cx="4953000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 bwMode="auto">
            <a:xfrm>
              <a:off x="25146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004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62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9" name="Elbow Connector 141"/>
            <p:cNvCxnSpPr/>
            <p:nvPr/>
          </p:nvCxnSpPr>
          <p:spPr bwMode="auto">
            <a:xfrm rot="5400000" flipH="1" flipV="1">
              <a:off x="2216150" y="32067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141"/>
            <p:cNvCxnSpPr/>
            <p:nvPr/>
          </p:nvCxnSpPr>
          <p:spPr bwMode="auto">
            <a:xfrm rot="5400000" flipH="1" flipV="1">
              <a:off x="4959350" y="31940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 bwMode="auto">
            <a:xfrm>
              <a:off x="53340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61722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cxnSp>
          <p:nvCxnSpPr>
            <p:cNvPr id="13" name="Straight Connector 12"/>
            <p:cNvCxnSpPr>
              <a:stCxn id="6" idx="3"/>
            </p:cNvCxnSpPr>
            <p:nvPr/>
          </p:nvCxnSpPr>
          <p:spPr bwMode="auto">
            <a:xfrm>
              <a:off x="3048000" y="3429000"/>
              <a:ext cx="3810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1"/>
            </p:cNvCxnSpPr>
            <p:nvPr/>
          </p:nvCxnSpPr>
          <p:spPr bwMode="auto">
            <a:xfrm rot="10800000" flipV="1">
              <a:off x="3429000" y="3429000"/>
              <a:ext cx="4572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93" name="Group 14"/>
          <p:cNvGrpSpPr>
            <a:grpSpLocks/>
          </p:cNvGrpSpPr>
          <p:nvPr/>
        </p:nvGrpSpPr>
        <p:grpSpPr bwMode="auto">
          <a:xfrm>
            <a:off x="2819400" y="2514600"/>
            <a:ext cx="685800" cy="609600"/>
            <a:chOff x="2895600" y="2362200"/>
            <a:chExt cx="685800" cy="6096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9718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0480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04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1242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2766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9718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0480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04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3528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1242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2766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ular Callout 27"/>
            <p:cNvSpPr/>
            <p:nvPr/>
          </p:nvSpPr>
          <p:spPr>
            <a:xfrm>
              <a:off x="2895600" y="23622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294" name="Group 28"/>
          <p:cNvGrpSpPr>
            <a:grpSpLocks/>
          </p:cNvGrpSpPr>
          <p:nvPr/>
        </p:nvGrpSpPr>
        <p:grpSpPr bwMode="auto">
          <a:xfrm>
            <a:off x="5638800" y="2514600"/>
            <a:ext cx="685800" cy="609600"/>
            <a:chOff x="5715000" y="2438400"/>
            <a:chExt cx="685800" cy="6096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57912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8674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0198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1722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9436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0960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7912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74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0198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1722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9436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0960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ounded Rectangular Callout 41"/>
            <p:cNvSpPr/>
            <p:nvPr/>
          </p:nvSpPr>
          <p:spPr>
            <a:xfrm>
              <a:off x="5715000" y="24384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2295" name="Group 42"/>
          <p:cNvGrpSpPr>
            <a:grpSpLocks/>
          </p:cNvGrpSpPr>
          <p:nvPr/>
        </p:nvGrpSpPr>
        <p:grpSpPr bwMode="auto">
          <a:xfrm>
            <a:off x="4191000" y="2133600"/>
            <a:ext cx="914400" cy="612775"/>
            <a:chOff x="4191000" y="1981200"/>
            <a:chExt cx="914400" cy="612648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44958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6482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8006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4196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4958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6482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48006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5720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7244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Oval Callout 52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-47500"/>
                <a:gd name="adj2" fmla="val 89863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Oval Callout 53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50833"/>
                <a:gd name="adj2" fmla="val 86546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approaches to GE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Ignore </a:t>
            </a:r>
            <a:r>
              <a:rPr lang="en-US" dirty="0" err="1" smtClean="0"/>
              <a:t>multireads</a:t>
            </a:r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 err="1" smtClean="0"/>
              <a:t>Mortazavi</a:t>
            </a:r>
            <a:r>
              <a:rPr lang="en-US" dirty="0" smtClean="0"/>
              <a:t> et al. 08]</a:t>
            </a:r>
          </a:p>
          <a:p>
            <a:pPr lvl="1"/>
            <a:r>
              <a:rPr lang="en-US" dirty="0" smtClean="0"/>
              <a:t>Fractionally allocate </a:t>
            </a:r>
            <a:r>
              <a:rPr lang="en-US" dirty="0" err="1" smtClean="0"/>
              <a:t>multireads</a:t>
            </a:r>
            <a:r>
              <a:rPr lang="en-US" dirty="0" smtClean="0"/>
              <a:t> based on unique read estimates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Pasaniuc</a:t>
            </a:r>
            <a:r>
              <a:rPr lang="en-US" dirty="0" smtClean="0"/>
              <a:t> et al. 10]</a:t>
            </a:r>
          </a:p>
          <a:p>
            <a:pPr lvl="1"/>
            <a:r>
              <a:rPr lang="en-US" dirty="0" smtClean="0"/>
              <a:t>EM algorithm for solving ambiguities</a:t>
            </a:r>
          </a:p>
          <a:p>
            <a:r>
              <a:rPr lang="en-US" dirty="0" smtClean="0"/>
              <a:t>Gene length: sum of lengths of </a:t>
            </a:r>
            <a:r>
              <a:rPr lang="en-US" dirty="0" err="1" smtClean="0"/>
              <a:t>exons</a:t>
            </a:r>
            <a:r>
              <a:rPr lang="en-US" dirty="0" smtClean="0"/>
              <a:t> that appear in at least one </a:t>
            </a:r>
            <a:r>
              <a:rPr lang="en-US" dirty="0" err="1" smtClean="0"/>
              <a:t>isoform</a:t>
            </a:r>
            <a:endParaRPr lang="en-US" dirty="0" smtClean="0"/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</a:t>
            </a:r>
            <a:r>
              <a:rPr lang="en-US" dirty="0" smtClean="0"/>
              <a:t> Underestimates expression levels for genes with 2 or more </a:t>
            </a:r>
            <a:r>
              <a:rPr lang="en-US" dirty="0" err="1" smtClean="0"/>
              <a:t>isoforms</a:t>
            </a:r>
            <a:r>
              <a:rPr lang="en-US" dirty="0" smtClean="0"/>
              <a:t> [</a:t>
            </a:r>
            <a:r>
              <a:rPr lang="en-US" dirty="0" err="1" smtClean="0"/>
              <a:t>Trapnell</a:t>
            </a:r>
            <a:r>
              <a:rPr lang="en-US" dirty="0" smtClean="0"/>
              <a:t> et al. 10]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Ambiguity in IE</a:t>
            </a:r>
            <a:endParaRPr lang="en-US" dirty="0"/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2743200" y="2514600"/>
            <a:ext cx="685800" cy="609600"/>
            <a:chOff x="2895600" y="2362200"/>
            <a:chExt cx="685800" cy="6096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9718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0480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04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26670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1242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276600" y="27432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9718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0480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04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352800" y="25146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1242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276600" y="2590800"/>
              <a:ext cx="762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ounded Rectangular Callout 27"/>
            <p:cNvSpPr/>
            <p:nvPr/>
          </p:nvSpPr>
          <p:spPr>
            <a:xfrm>
              <a:off x="2895600" y="23622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5638800" y="2514600"/>
            <a:ext cx="685800" cy="609600"/>
            <a:chOff x="5715000" y="2438400"/>
            <a:chExt cx="685800" cy="6096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57912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8674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0198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172200" y="27432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9436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096000" y="28194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7912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74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0198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172200" y="25908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9436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096000" y="2667000"/>
              <a:ext cx="76200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ounded Rectangular Callout 41"/>
            <p:cNvSpPr/>
            <p:nvPr/>
          </p:nvSpPr>
          <p:spPr>
            <a:xfrm>
              <a:off x="5715000" y="2438400"/>
              <a:ext cx="685800" cy="609600"/>
            </a:xfrm>
            <a:prstGeom prst="wedgeRoundRectCallou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92" name="Group 191"/>
          <p:cNvGrpSpPr/>
          <p:nvPr/>
        </p:nvGrpSpPr>
        <p:grpSpPr>
          <a:xfrm>
            <a:off x="2286000" y="3124200"/>
            <a:ext cx="4953000" cy="609600"/>
            <a:chOff x="2286000" y="3124200"/>
            <a:chExt cx="4953000" cy="609600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2286000" y="3429000"/>
              <a:ext cx="4953000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 bwMode="auto">
            <a:xfrm>
              <a:off x="25146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004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6200" y="33528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9" name="Elbow Connector 141"/>
            <p:cNvCxnSpPr/>
            <p:nvPr/>
          </p:nvCxnSpPr>
          <p:spPr bwMode="auto">
            <a:xfrm rot="5400000" flipH="1" flipV="1">
              <a:off x="2216150" y="32067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141"/>
            <p:cNvCxnSpPr/>
            <p:nvPr/>
          </p:nvCxnSpPr>
          <p:spPr bwMode="auto">
            <a:xfrm rot="5400000" flipH="1" flipV="1">
              <a:off x="4959350" y="3194050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 bwMode="auto">
            <a:xfrm>
              <a:off x="53340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6172200" y="3352800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grpSp>
          <p:nvGrpSpPr>
            <p:cNvPr id="190" name="Group 189"/>
            <p:cNvGrpSpPr/>
            <p:nvPr/>
          </p:nvGrpSpPr>
          <p:grpSpPr>
            <a:xfrm>
              <a:off x="2514600" y="3581400"/>
              <a:ext cx="1905000" cy="152400"/>
              <a:chOff x="2514600" y="3657600"/>
              <a:chExt cx="1905000" cy="152400"/>
            </a:xfrm>
          </p:grpSpPr>
          <p:cxnSp>
            <p:nvCxnSpPr>
              <p:cNvPr id="13" name="Straight Connector 12"/>
              <p:cNvCxnSpPr>
                <a:stCxn id="157" idx="3"/>
              </p:cNvCxnSpPr>
              <p:nvPr/>
            </p:nvCxnSpPr>
            <p:spPr bwMode="auto">
              <a:xfrm>
                <a:off x="3048000" y="3733800"/>
                <a:ext cx="381000" cy="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>
                <a:stCxn id="159" idx="1"/>
              </p:cNvCxnSpPr>
              <p:nvPr/>
            </p:nvCxnSpPr>
            <p:spPr bwMode="auto">
              <a:xfrm rot="10800000">
                <a:off x="3429000" y="3733800"/>
                <a:ext cx="457200" cy="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 bwMode="auto">
              <a:xfrm>
                <a:off x="2514600" y="3657600"/>
                <a:ext cx="533400" cy="1524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A</a:t>
                </a:r>
              </a:p>
            </p:txBody>
          </p:sp>
          <p:sp>
            <p:nvSpPr>
              <p:cNvPr id="159" name="Rectangle 158"/>
              <p:cNvSpPr/>
              <p:nvPr/>
            </p:nvSpPr>
            <p:spPr bwMode="auto">
              <a:xfrm>
                <a:off x="3886200" y="3657600"/>
                <a:ext cx="533400" cy="1524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/>
                  <a:t>C</a:t>
                </a:r>
              </a:p>
            </p:txBody>
          </p:sp>
        </p:grpSp>
      </p:grpSp>
      <p:cxnSp>
        <p:nvCxnSpPr>
          <p:cNvPr id="170" name="Straight Connector 169"/>
          <p:cNvCxnSpPr/>
          <p:nvPr/>
        </p:nvCxnSpPr>
        <p:spPr bwMode="auto">
          <a:xfrm>
            <a:off x="29972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 bwMode="auto">
          <a:xfrm>
            <a:off x="30988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 bwMode="auto">
          <a:xfrm>
            <a:off x="33020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 bwMode="auto">
          <a:xfrm>
            <a:off x="35052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 bwMode="auto">
          <a:xfrm>
            <a:off x="32004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 bwMode="auto">
          <a:xfrm>
            <a:off x="34036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Rounded Rectangular Callout 175"/>
          <p:cNvSpPr/>
          <p:nvPr/>
        </p:nvSpPr>
        <p:spPr bwMode="auto">
          <a:xfrm>
            <a:off x="2895600" y="3962400"/>
            <a:ext cx="1143000" cy="381000"/>
          </a:xfrm>
          <a:prstGeom prst="wedgeRoundRectCallout">
            <a:avLst>
              <a:gd name="adj1" fmla="val -38055"/>
              <a:gd name="adj2" fmla="val -101500"/>
              <a:gd name="adj3" fmla="val 16667"/>
            </a:avLst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3810000" y="4419600"/>
            <a:ext cx="914400" cy="612775"/>
            <a:chOff x="4800600" y="4114800"/>
            <a:chExt cx="914400" cy="612775"/>
          </a:xfrm>
        </p:grpSpPr>
        <p:cxnSp>
          <p:nvCxnSpPr>
            <p:cNvPr id="44" name="Straight Connector 43"/>
            <p:cNvCxnSpPr/>
            <p:nvPr/>
          </p:nvCxnSpPr>
          <p:spPr bwMode="auto">
            <a:xfrm>
              <a:off x="51054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 bwMode="auto">
            <a:xfrm>
              <a:off x="52578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 bwMode="auto">
            <a:xfrm>
              <a:off x="54102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>
              <a:off x="50292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 bwMode="auto">
            <a:xfrm>
              <a:off x="51054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 bwMode="auto">
            <a:xfrm>
              <a:off x="52578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 bwMode="auto">
            <a:xfrm>
              <a:off x="54102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51816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>
              <a:off x="53340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Oval Callout 53"/>
            <p:cNvSpPr/>
            <p:nvPr/>
          </p:nvSpPr>
          <p:spPr bwMode="auto">
            <a:xfrm>
              <a:off x="4800600" y="4114800"/>
              <a:ext cx="914400" cy="612775"/>
            </a:xfrm>
            <a:prstGeom prst="wedgeEllipseCallout">
              <a:avLst>
                <a:gd name="adj1" fmla="val 1666"/>
                <a:gd name="adj2" fmla="val -129827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5" name="Group 42"/>
          <p:cNvGrpSpPr>
            <a:grpSpLocks/>
          </p:cNvGrpSpPr>
          <p:nvPr/>
        </p:nvGrpSpPr>
        <p:grpSpPr bwMode="auto">
          <a:xfrm>
            <a:off x="4191000" y="2133600"/>
            <a:ext cx="914400" cy="612775"/>
            <a:chOff x="4191000" y="1981200"/>
            <a:chExt cx="914400" cy="612648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44958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6482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800600" y="2285937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44196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44958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6482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4800600" y="2133568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45720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4724400" y="2209753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Oval Callout 84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-47500"/>
                <a:gd name="adj2" fmla="val 89863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6" name="Oval Callout 85"/>
            <p:cNvSpPr/>
            <p:nvPr/>
          </p:nvSpPr>
          <p:spPr>
            <a:xfrm>
              <a:off x="4191000" y="1981200"/>
              <a:ext cx="914400" cy="612648"/>
            </a:xfrm>
            <a:prstGeom prst="wedgeEllipseCallout">
              <a:avLst>
                <a:gd name="adj1" fmla="val 50833"/>
                <a:gd name="adj2" fmla="val 86546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133600" y="4419600"/>
            <a:ext cx="914400" cy="612775"/>
            <a:chOff x="4800600" y="4114800"/>
            <a:chExt cx="914400" cy="612775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51054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 bwMode="auto">
            <a:xfrm>
              <a:off x="52578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 bwMode="auto">
            <a:xfrm>
              <a:off x="5410200" y="44196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 bwMode="auto">
            <a:xfrm>
              <a:off x="50292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 bwMode="auto">
            <a:xfrm>
              <a:off x="51054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 bwMode="auto">
            <a:xfrm>
              <a:off x="52578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 bwMode="auto">
            <a:xfrm>
              <a:off x="5410200" y="42672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 bwMode="auto">
            <a:xfrm>
              <a:off x="51816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 bwMode="auto">
            <a:xfrm>
              <a:off x="5334000" y="4343400"/>
              <a:ext cx="762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Oval Callout 96"/>
            <p:cNvSpPr/>
            <p:nvPr/>
          </p:nvSpPr>
          <p:spPr bwMode="auto">
            <a:xfrm>
              <a:off x="4800600" y="4114800"/>
              <a:ext cx="914400" cy="612775"/>
            </a:xfrm>
            <a:prstGeom prst="wedgeEllipseCallout">
              <a:avLst>
                <a:gd name="adj1" fmla="val 1666"/>
                <a:gd name="adj2" fmla="val -129827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98" name="Rounded Rectangular Callout 97"/>
          <p:cNvSpPr/>
          <p:nvPr/>
        </p:nvSpPr>
        <p:spPr bwMode="auto">
          <a:xfrm>
            <a:off x="2895600" y="3962400"/>
            <a:ext cx="1143000" cy="381000"/>
          </a:xfrm>
          <a:prstGeom prst="wedgeRoundRectCallout">
            <a:avLst>
              <a:gd name="adj1" fmla="val 36612"/>
              <a:gd name="adj2" fmla="val -99500"/>
              <a:gd name="adj3" fmla="val 16667"/>
            </a:avLst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99" name="Straight Connector 98"/>
          <p:cNvCxnSpPr/>
          <p:nvPr/>
        </p:nvCxnSpPr>
        <p:spPr bwMode="auto">
          <a:xfrm>
            <a:off x="3733800" y="41148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 bwMode="auto">
          <a:xfrm>
            <a:off x="3657600" y="4191000"/>
            <a:ext cx="1016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approaches to IE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Jiang&amp;Wong</a:t>
            </a:r>
            <a:r>
              <a:rPr lang="en-US" dirty="0" smtClean="0"/>
              <a:t> 09]</a:t>
            </a:r>
          </a:p>
          <a:p>
            <a:pPr lvl="1"/>
            <a:r>
              <a:rPr lang="en-US" dirty="0" smtClean="0"/>
              <a:t>Poisson model + importance sampling, single reads</a:t>
            </a:r>
          </a:p>
          <a:p>
            <a:r>
              <a:rPr lang="en-US" dirty="0" smtClean="0"/>
              <a:t>[Richard et al. 10]</a:t>
            </a:r>
          </a:p>
          <a:p>
            <a:pPr marL="742950" lvl="2" indent="-342900"/>
            <a:r>
              <a:rPr lang="en-US" dirty="0" smtClean="0"/>
              <a:t>EM Algorithm based on Poisson model, single reads in </a:t>
            </a:r>
            <a:r>
              <a:rPr lang="en-US" dirty="0" err="1" smtClean="0"/>
              <a:t>exons</a:t>
            </a:r>
            <a:endParaRPr lang="en-US" dirty="0" smtClean="0"/>
          </a:p>
          <a:p>
            <a:r>
              <a:rPr lang="en-US" dirty="0" smtClean="0"/>
              <a:t>[Li et al. 10]</a:t>
            </a:r>
          </a:p>
          <a:p>
            <a:pPr lvl="1"/>
            <a:r>
              <a:rPr lang="en-US" dirty="0" smtClean="0"/>
              <a:t>EM Algorithm, single reads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Feng</a:t>
            </a:r>
            <a:r>
              <a:rPr lang="en-US" dirty="0" smtClean="0"/>
              <a:t> et al. 10]</a:t>
            </a:r>
          </a:p>
          <a:p>
            <a:pPr lvl="1"/>
            <a:r>
              <a:rPr lang="en-US" dirty="0" smtClean="0"/>
              <a:t>Convex quadratic program, pairs used only for ID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Trapnell</a:t>
            </a:r>
            <a:r>
              <a:rPr lang="en-US" dirty="0" smtClean="0"/>
              <a:t> et al. 10]</a:t>
            </a:r>
          </a:p>
          <a:p>
            <a:pPr lvl="1"/>
            <a:r>
              <a:rPr lang="en-US" dirty="0" smtClean="0"/>
              <a:t>Extends Jiang’s model to paired reads</a:t>
            </a:r>
          </a:p>
          <a:p>
            <a:pPr lvl="1"/>
            <a:r>
              <a:rPr lang="en-US" dirty="0" smtClean="0"/>
              <a:t>Fragment length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contribution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 Algorithm for IE</a:t>
            </a:r>
          </a:p>
          <a:p>
            <a:pPr lvl="1"/>
            <a:r>
              <a:rPr lang="en-US" dirty="0" smtClean="0"/>
              <a:t>Single and/or paired reads</a:t>
            </a:r>
          </a:p>
          <a:p>
            <a:pPr lvl="1"/>
            <a:r>
              <a:rPr lang="en-US" dirty="0" smtClean="0"/>
              <a:t>Fragment length distribution</a:t>
            </a:r>
          </a:p>
          <a:p>
            <a:pPr lvl="1"/>
            <a:r>
              <a:rPr lang="en-US" dirty="0" smtClean="0"/>
              <a:t>Strand information</a:t>
            </a:r>
          </a:p>
          <a:p>
            <a:pPr lvl="1"/>
            <a:r>
              <a:rPr lang="en-US" dirty="0" smtClean="0"/>
              <a:t>Base quality scores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Read-</a:t>
            </a:r>
            <a:r>
              <a:rPr lang="en-US" dirty="0" err="1" smtClean="0"/>
              <a:t>Isoform</a:t>
            </a:r>
            <a:r>
              <a:rPr lang="en-US" dirty="0" smtClean="0"/>
              <a:t> Compatibility</a:t>
            </a:r>
            <a:endParaRPr lang="en-US" dirty="0"/>
          </a:p>
        </p:txBody>
      </p:sp>
      <p:grpSp>
        <p:nvGrpSpPr>
          <p:cNvPr id="4" name="Group 88"/>
          <p:cNvGrpSpPr/>
          <p:nvPr/>
        </p:nvGrpSpPr>
        <p:grpSpPr>
          <a:xfrm>
            <a:off x="1219200" y="1600200"/>
            <a:ext cx="6934200" cy="2362200"/>
            <a:chOff x="1295400" y="2438400"/>
            <a:chExt cx="6934200" cy="23622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295400" y="25908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486400" y="3048000"/>
              <a:ext cx="1752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334000" y="3733800"/>
              <a:ext cx="2895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715000" y="4724400"/>
              <a:ext cx="20574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410200" y="2438400"/>
              <a:ext cx="19050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867400" y="4191000"/>
              <a:ext cx="1752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95400" y="30480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295400" y="3657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295400" y="39624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295400" y="4800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295400" y="4419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600200" y="2590800"/>
              <a:ext cx="3810000" cy="457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600200" y="3048000"/>
              <a:ext cx="3810000" cy="158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600200" y="3962400"/>
              <a:ext cx="4038600" cy="7620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1600200" y="4724400"/>
              <a:ext cx="4038600" cy="76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1600200" y="4192588"/>
              <a:ext cx="4191000" cy="227012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1600200" y="3657600"/>
              <a:ext cx="4191000" cy="5334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600200" y="3657600"/>
              <a:ext cx="3657600" cy="76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1600200" y="3733800"/>
              <a:ext cx="3657600" cy="2286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1600200" y="2438400"/>
              <a:ext cx="3733800" cy="1524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2362200" y="990600"/>
          <a:ext cx="762000" cy="762000"/>
        </p:xfrm>
        <a:graphic>
          <a:graphicData uri="http://schemas.openxmlformats.org/presentationml/2006/ole">
            <p:oleObj spid="_x0000_s46082" name="Equation" r:id="rId4" imgW="241200" imgH="241200" progId="Equation.3">
              <p:embed/>
            </p:oleObj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439738" y="4800600"/>
          <a:ext cx="3370262" cy="1084262"/>
        </p:xfrm>
        <a:graphic>
          <a:graphicData uri="http://schemas.openxmlformats.org/presentationml/2006/ole">
            <p:oleObj spid="_x0000_s46083" name="Equation" r:id="rId5" imgW="1066680" imgH="342720" progId="Equation.3">
              <p:embed/>
            </p:oleObj>
          </a:graphicData>
        </a:graphic>
      </p:graphicFrame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4968240"/>
            <a:ext cx="4271010" cy="822960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75862" y="4360469"/>
            <a:ext cx="5215738" cy="19641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Fragment length distribution</a:t>
            </a:r>
            <a:endParaRPr lang="en-US" dirty="0"/>
          </a:p>
        </p:txBody>
      </p:sp>
      <p:sp>
        <p:nvSpPr>
          <p:cNvPr id="8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Paired reads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51"/>
          <p:cNvGrpSpPr/>
          <p:nvPr/>
        </p:nvGrpSpPr>
        <p:grpSpPr>
          <a:xfrm>
            <a:off x="1371600" y="3429000"/>
            <a:ext cx="228600" cy="0"/>
            <a:chOff x="990600" y="1828800"/>
            <a:chExt cx="228600" cy="0"/>
          </a:xfrm>
        </p:grpSpPr>
        <p:cxnSp>
          <p:nvCxnSpPr>
            <p:cNvPr id="25" name="Straight Connector 24"/>
            <p:cNvCxnSpPr/>
            <p:nvPr/>
          </p:nvCxnSpPr>
          <p:spPr bwMode="auto">
            <a:xfrm>
              <a:off x="990600" y="1828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1143000" y="1828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112"/>
          <p:cNvGrpSpPr/>
          <p:nvPr/>
        </p:nvGrpSpPr>
        <p:grpSpPr>
          <a:xfrm>
            <a:off x="990600" y="3810000"/>
            <a:ext cx="1600200" cy="685800"/>
            <a:chOff x="990600" y="3810000"/>
            <a:chExt cx="1600200" cy="685800"/>
          </a:xfrm>
        </p:grpSpPr>
        <p:sp>
          <p:nvSpPr>
            <p:cNvPr id="40" name="Rectangle 39"/>
            <p:cNvSpPr/>
            <p:nvPr/>
          </p:nvSpPr>
          <p:spPr bwMode="auto">
            <a:xfrm>
              <a:off x="9906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5240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20574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990600" y="4343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1524000" y="4343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5" name="Group 99"/>
          <p:cNvGrpSpPr/>
          <p:nvPr/>
        </p:nvGrpSpPr>
        <p:grpSpPr>
          <a:xfrm>
            <a:off x="990600" y="3733800"/>
            <a:ext cx="1600200" cy="762000"/>
            <a:chOff x="1981200" y="2438400"/>
            <a:chExt cx="1600200" cy="762000"/>
          </a:xfrm>
        </p:grpSpPr>
        <p:cxnSp>
          <p:nvCxnSpPr>
            <p:cNvPr id="67" name="Straight Connector 66"/>
            <p:cNvCxnSpPr/>
            <p:nvPr/>
          </p:nvCxnSpPr>
          <p:spPr>
            <a:xfrm>
              <a:off x="2438400" y="2971800"/>
              <a:ext cx="152400" cy="0"/>
            </a:xfrm>
            <a:prstGeom prst="line">
              <a:avLst/>
            </a:prstGeom>
            <a:ln w="508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438400" y="2438400"/>
              <a:ext cx="6858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 bwMode="auto">
            <a:xfrm>
              <a:off x="19812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5146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0480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2362200" y="24384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auto">
            <a:xfrm>
              <a:off x="3124200" y="24384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auto">
            <a:xfrm>
              <a:off x="2362200" y="2971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590800" y="2971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 bwMode="auto">
            <a:xfrm>
              <a:off x="1981200" y="30480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2514600" y="30480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6" name="Group 98"/>
          <p:cNvGrpSpPr/>
          <p:nvPr/>
        </p:nvGrpSpPr>
        <p:grpSpPr>
          <a:xfrm>
            <a:off x="990600" y="3733800"/>
            <a:ext cx="1600200" cy="762000"/>
            <a:chOff x="6629400" y="4114800"/>
            <a:chExt cx="1600200" cy="7620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6629400" y="4724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7162800" y="4724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66294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71628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76962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58" name="Straight Connector 57"/>
            <p:cNvCxnSpPr/>
            <p:nvPr/>
          </p:nvCxnSpPr>
          <p:spPr bwMode="auto">
            <a:xfrm>
              <a:off x="7010400" y="4114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 bwMode="auto">
            <a:xfrm>
              <a:off x="7772400" y="4114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 bwMode="auto">
            <a:xfrm>
              <a:off x="70104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 bwMode="auto">
            <a:xfrm>
              <a:off x="72390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 bwMode="auto">
          <a:xfrm>
            <a:off x="7010400" y="746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 bwMode="auto">
          <a:xfrm>
            <a:off x="7162800" y="76200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85800" y="3669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678438" y="42026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</a:t>
            </a:r>
            <a:endParaRPr lang="en-US" dirty="0"/>
          </a:p>
        </p:txBody>
      </p:sp>
      <p:grpSp>
        <p:nvGrpSpPr>
          <p:cNvPr id="7" name="Group 119"/>
          <p:cNvGrpSpPr/>
          <p:nvPr/>
        </p:nvGrpSpPr>
        <p:grpSpPr>
          <a:xfrm>
            <a:off x="3505200" y="2895600"/>
            <a:ext cx="2400300" cy="2266950"/>
            <a:chOff x="3505200" y="2895600"/>
            <a:chExt cx="2400300" cy="2266950"/>
          </a:xfrm>
        </p:grpSpPr>
        <p:grpSp>
          <p:nvGrpSpPr>
            <p:cNvPr id="8" name="Group 101"/>
            <p:cNvGrpSpPr>
              <a:grpSpLocks noChangeAspect="1"/>
            </p:cNvGrpSpPr>
            <p:nvPr/>
          </p:nvGrpSpPr>
          <p:grpSpPr>
            <a:xfrm>
              <a:off x="3505200" y="2895600"/>
              <a:ext cx="2400300" cy="2266950"/>
              <a:chOff x="4572000" y="1828800"/>
              <a:chExt cx="1828800" cy="1727200"/>
            </a:xfrm>
          </p:grpSpPr>
          <p:graphicFrame>
            <p:nvGraphicFramePr>
              <p:cNvPr id="70" name="Chart 69"/>
              <p:cNvGraphicFramePr/>
              <p:nvPr/>
            </p:nvGraphicFramePr>
            <p:xfrm>
              <a:off x="4572000" y="1828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90" name="Straight Connector 89"/>
              <p:cNvCxnSpPr/>
              <p:nvPr/>
            </p:nvCxnSpPr>
            <p:spPr>
              <a:xfrm>
                <a:off x="4754880" y="3413760"/>
                <a:ext cx="731520" cy="0"/>
              </a:xfrm>
              <a:prstGeom prst="line">
                <a:avLst/>
              </a:prstGeom>
              <a:ln w="508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 bwMode="auto">
              <a:xfrm>
                <a:off x="469392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 bwMode="auto">
              <a:xfrm>
                <a:off x="548640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/>
            <p:cNvSpPr txBox="1"/>
            <p:nvPr/>
          </p:nvSpPr>
          <p:spPr>
            <a:xfrm>
              <a:off x="4495800" y="3152001"/>
              <a:ext cx="502920" cy="276999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120"/>
          <p:cNvGrpSpPr/>
          <p:nvPr/>
        </p:nvGrpSpPr>
        <p:grpSpPr>
          <a:xfrm>
            <a:off x="6248400" y="2895600"/>
            <a:ext cx="2400300" cy="2266950"/>
            <a:chOff x="6248400" y="2895600"/>
            <a:chExt cx="2400300" cy="2266950"/>
          </a:xfrm>
        </p:grpSpPr>
        <p:grpSp>
          <p:nvGrpSpPr>
            <p:cNvPr id="10" name="Group 100"/>
            <p:cNvGrpSpPr>
              <a:grpSpLocks noChangeAspect="1"/>
            </p:cNvGrpSpPr>
            <p:nvPr/>
          </p:nvGrpSpPr>
          <p:grpSpPr>
            <a:xfrm>
              <a:off x="6248400" y="2895600"/>
              <a:ext cx="2400300" cy="2266950"/>
              <a:chOff x="6858000" y="1828800"/>
              <a:chExt cx="1828800" cy="1727200"/>
            </a:xfrm>
          </p:grpSpPr>
          <p:graphicFrame>
            <p:nvGraphicFramePr>
              <p:cNvPr id="88" name="Chart 87"/>
              <p:cNvGraphicFramePr/>
              <p:nvPr/>
            </p:nvGraphicFramePr>
            <p:xfrm>
              <a:off x="6858000" y="1828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cxnSp>
            <p:nvCxnSpPr>
              <p:cNvPr id="96" name="Straight Connector 95"/>
              <p:cNvCxnSpPr/>
              <p:nvPr/>
            </p:nvCxnSpPr>
            <p:spPr>
              <a:xfrm>
                <a:off x="7040880" y="3413760"/>
                <a:ext cx="198120" cy="0"/>
              </a:xfrm>
              <a:prstGeom prst="line">
                <a:avLst/>
              </a:prstGeom>
              <a:ln w="508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 bwMode="auto">
              <a:xfrm>
                <a:off x="697992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 bwMode="auto">
              <a:xfrm>
                <a:off x="723900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9" name="TextBox 118"/>
            <p:cNvSpPr txBox="1"/>
            <p:nvPr/>
          </p:nvSpPr>
          <p:spPr>
            <a:xfrm>
              <a:off x="6477000" y="4419600"/>
              <a:ext cx="502920" cy="276999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(j)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Fragment length distribution</a:t>
            </a:r>
            <a:endParaRPr lang="en-US" dirty="0"/>
          </a:p>
        </p:txBody>
      </p:sp>
      <p:sp>
        <p:nvSpPr>
          <p:cNvPr id="8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reads</a:t>
            </a:r>
            <a:endParaRPr lang="en-US" dirty="0"/>
          </a:p>
        </p:txBody>
      </p:sp>
      <p:grpSp>
        <p:nvGrpSpPr>
          <p:cNvPr id="2" name="Group 90"/>
          <p:cNvGrpSpPr/>
          <p:nvPr/>
        </p:nvGrpSpPr>
        <p:grpSpPr>
          <a:xfrm>
            <a:off x="990600" y="3733800"/>
            <a:ext cx="1600200" cy="762000"/>
            <a:chOff x="1066800" y="4876800"/>
            <a:chExt cx="1600200" cy="762000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1524000" y="5410200"/>
              <a:ext cx="609600" cy="0"/>
            </a:xfrm>
            <a:prstGeom prst="line">
              <a:avLst/>
            </a:prstGeom>
            <a:ln w="508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524000" y="4876800"/>
              <a:ext cx="11430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 bwMode="auto">
            <a:xfrm>
              <a:off x="1066800" y="4953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1600200" y="4953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2133600" y="4953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1066800" y="5486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600200" y="5486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>
              <a:off x="1447800" y="4876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>
              <a:off x="1447800" y="5410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71"/>
          <p:cNvGrpSpPr/>
          <p:nvPr/>
        </p:nvGrpSpPr>
        <p:grpSpPr>
          <a:xfrm>
            <a:off x="990600" y="3810000"/>
            <a:ext cx="1600200" cy="685800"/>
            <a:chOff x="609600" y="2819400"/>
            <a:chExt cx="1600200" cy="685800"/>
          </a:xfrm>
        </p:grpSpPr>
        <p:sp>
          <p:nvSpPr>
            <p:cNvPr id="73" name="Rectangle 72"/>
            <p:cNvSpPr/>
            <p:nvPr/>
          </p:nvSpPr>
          <p:spPr bwMode="auto">
            <a:xfrm>
              <a:off x="609600" y="2819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143000" y="2819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1676400" y="2819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609600" y="3352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143000" y="3352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5" name="Group 64"/>
          <p:cNvGrpSpPr/>
          <p:nvPr/>
        </p:nvGrpSpPr>
        <p:grpSpPr>
          <a:xfrm>
            <a:off x="990600" y="3733800"/>
            <a:ext cx="1600200" cy="762000"/>
            <a:chOff x="2057400" y="4648200"/>
            <a:chExt cx="1600200" cy="762000"/>
          </a:xfrm>
        </p:grpSpPr>
        <p:sp>
          <p:nvSpPr>
            <p:cNvPr id="79" name="Rectangle 78"/>
            <p:cNvSpPr/>
            <p:nvPr/>
          </p:nvSpPr>
          <p:spPr bwMode="auto">
            <a:xfrm>
              <a:off x="2057400" y="4724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80" name="Rectangle 79"/>
            <p:cNvSpPr/>
            <p:nvPr/>
          </p:nvSpPr>
          <p:spPr bwMode="auto">
            <a:xfrm>
              <a:off x="2590800" y="4724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3124200" y="47244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2057400" y="5257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2590800" y="52578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84" name="Straight Connector 83"/>
            <p:cNvCxnSpPr/>
            <p:nvPr/>
          </p:nvCxnSpPr>
          <p:spPr bwMode="auto">
            <a:xfrm>
              <a:off x="24384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 bwMode="auto">
            <a:xfrm>
              <a:off x="2438400" y="51816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93"/>
          <p:cNvGrpSpPr/>
          <p:nvPr/>
        </p:nvGrpSpPr>
        <p:grpSpPr>
          <a:xfrm>
            <a:off x="1371600" y="3429000"/>
            <a:ext cx="76200" cy="0"/>
            <a:chOff x="2438400" y="4038600"/>
            <a:chExt cx="76200" cy="0"/>
          </a:xfrm>
        </p:grpSpPr>
        <p:cxnSp>
          <p:nvCxnSpPr>
            <p:cNvPr id="37" name="Straight Connector 36"/>
            <p:cNvCxnSpPr/>
            <p:nvPr/>
          </p:nvCxnSpPr>
          <p:spPr bwMode="auto">
            <a:xfrm>
              <a:off x="2438400" y="40386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 bwMode="auto">
            <a:xfrm>
              <a:off x="2438400" y="40386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 bwMode="auto">
          <a:xfrm>
            <a:off x="7010400" y="746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 bwMode="auto">
          <a:xfrm>
            <a:off x="7162800" y="76200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85800" y="3669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678438" y="42026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</a:t>
            </a:r>
            <a:endParaRPr lang="en-US" dirty="0"/>
          </a:p>
        </p:txBody>
      </p:sp>
      <p:grpSp>
        <p:nvGrpSpPr>
          <p:cNvPr id="7" name="Group 107"/>
          <p:cNvGrpSpPr/>
          <p:nvPr/>
        </p:nvGrpSpPr>
        <p:grpSpPr>
          <a:xfrm>
            <a:off x="3505200" y="2946400"/>
            <a:ext cx="2400300" cy="2266950"/>
            <a:chOff x="3505200" y="2946400"/>
            <a:chExt cx="2400300" cy="2266950"/>
          </a:xfrm>
        </p:grpSpPr>
        <p:grpSp>
          <p:nvGrpSpPr>
            <p:cNvPr id="8" name="Group 108"/>
            <p:cNvGrpSpPr>
              <a:grpSpLocks noChangeAspect="1"/>
            </p:cNvGrpSpPr>
            <p:nvPr/>
          </p:nvGrpSpPr>
          <p:grpSpPr>
            <a:xfrm>
              <a:off x="3505200" y="2946400"/>
              <a:ext cx="2400300" cy="2266950"/>
              <a:chOff x="4572000" y="4114800"/>
              <a:chExt cx="1828800" cy="1727200"/>
            </a:xfrm>
          </p:grpSpPr>
          <p:graphicFrame>
            <p:nvGraphicFramePr>
              <p:cNvPr id="87" name="Chart 86"/>
              <p:cNvGraphicFramePr/>
              <p:nvPr/>
            </p:nvGraphicFramePr>
            <p:xfrm>
              <a:off x="4572000" y="4114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103" name="Straight Connector 102"/>
              <p:cNvCxnSpPr/>
              <p:nvPr/>
            </p:nvCxnSpPr>
            <p:spPr>
              <a:xfrm>
                <a:off x="4754880" y="5659120"/>
                <a:ext cx="1158240" cy="0"/>
              </a:xfrm>
              <a:prstGeom prst="line">
                <a:avLst/>
              </a:prstGeom>
              <a:ln w="508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 bwMode="auto">
              <a:xfrm>
                <a:off x="4693920" y="565912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1" name="TextBox 100"/>
            <p:cNvSpPr txBox="1"/>
            <p:nvPr/>
          </p:nvSpPr>
          <p:spPr>
            <a:xfrm>
              <a:off x="4343400" y="4523601"/>
              <a:ext cx="502920" cy="276999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6350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12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108"/>
          <p:cNvGrpSpPr/>
          <p:nvPr/>
        </p:nvGrpSpPr>
        <p:grpSpPr>
          <a:xfrm>
            <a:off x="6248398" y="3041649"/>
            <a:ext cx="2400299" cy="2166938"/>
            <a:chOff x="6248398" y="3041649"/>
            <a:chExt cx="2400299" cy="2166938"/>
          </a:xfrm>
        </p:grpSpPr>
        <p:grpSp>
          <p:nvGrpSpPr>
            <p:cNvPr id="10" name="Group 107"/>
            <p:cNvGrpSpPr>
              <a:grpSpLocks noChangeAspect="1"/>
            </p:cNvGrpSpPr>
            <p:nvPr/>
          </p:nvGrpSpPr>
          <p:grpSpPr>
            <a:xfrm>
              <a:off x="6248398" y="3041649"/>
              <a:ext cx="2400299" cy="2166938"/>
              <a:chOff x="6858000" y="4114800"/>
              <a:chExt cx="1828800" cy="1651000"/>
            </a:xfrm>
          </p:grpSpPr>
          <p:graphicFrame>
            <p:nvGraphicFramePr>
              <p:cNvPr id="105" name="Chart 104"/>
              <p:cNvGraphicFramePr/>
              <p:nvPr/>
            </p:nvGraphicFramePr>
            <p:xfrm>
              <a:off x="6858000" y="4114800"/>
              <a:ext cx="1828800" cy="1651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cxnSp>
            <p:nvCxnSpPr>
              <p:cNvPr id="106" name="Straight Connector 105"/>
              <p:cNvCxnSpPr/>
              <p:nvPr/>
            </p:nvCxnSpPr>
            <p:spPr>
              <a:xfrm>
                <a:off x="7040881" y="5582920"/>
                <a:ext cx="670560" cy="0"/>
              </a:xfrm>
              <a:prstGeom prst="line">
                <a:avLst/>
              </a:prstGeom>
              <a:ln w="508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 bwMode="auto">
              <a:xfrm>
                <a:off x="6979921" y="558292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2" name="TextBox 101"/>
            <p:cNvSpPr txBox="1"/>
            <p:nvPr/>
          </p:nvSpPr>
          <p:spPr>
            <a:xfrm>
              <a:off x="6812280" y="4523601"/>
              <a:ext cx="502920" cy="276999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6350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(j)</a:t>
              </a:r>
              <a:endParaRPr lang="en-US" sz="12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IsoEM</a:t>
            </a:r>
            <a:r>
              <a:rPr lang="en-US" dirty="0" smtClean="0"/>
              <a:t> algorithm</a:t>
            </a:r>
            <a:endParaRPr lang="en-US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40" y="1199388"/>
            <a:ext cx="6080760" cy="48966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Left Brace 9"/>
          <p:cNvSpPr/>
          <p:nvPr/>
        </p:nvSpPr>
        <p:spPr>
          <a:xfrm>
            <a:off x="1524000" y="2057400"/>
            <a:ext cx="457200" cy="2133600"/>
          </a:xfrm>
          <a:prstGeom prst="leftBrace">
            <a:avLst>
              <a:gd name="adj1" fmla="val 8333"/>
              <a:gd name="adj2" fmla="val 49583"/>
            </a:avLst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>
            <a:off x="1524000" y="4572000"/>
            <a:ext cx="457200" cy="1066800"/>
          </a:xfrm>
          <a:prstGeom prst="leftBrace">
            <a:avLst>
              <a:gd name="adj1" fmla="val 8333"/>
              <a:gd name="adj2" fmla="val 49583"/>
            </a:avLst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2819400"/>
            <a:ext cx="1066800" cy="612648"/>
          </a:xfrm>
          <a:prstGeom prst="wedgeRoundRectCallout">
            <a:avLst>
              <a:gd name="adj1" fmla="val 62738"/>
              <a:gd name="adj2" fmla="val -8397"/>
              <a:gd name="adj3" fmla="val 16667"/>
            </a:avLst>
          </a:prstGeom>
          <a:solidFill>
            <a:srgbClr val="00B050">
              <a:alpha val="70000"/>
            </a:srgb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E-step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4797552"/>
            <a:ext cx="1066800" cy="612648"/>
          </a:xfrm>
          <a:prstGeom prst="wedgeRoundRectCallout">
            <a:avLst>
              <a:gd name="adj1" fmla="val 64881"/>
              <a:gd name="adj2" fmla="val -10883"/>
              <a:gd name="adj3" fmla="val 16667"/>
            </a:avLst>
          </a:prstGeom>
          <a:solidFill>
            <a:srgbClr val="0070C0">
              <a:alpha val="70000"/>
            </a:srgb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M-step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Speed 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Collapse identical reads into read classes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14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i1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7010400" y="4343400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Isoforms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8288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i2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7432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i3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6576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i4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5720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i5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5486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i6</a:t>
            </a:r>
            <a:endParaRPr lang="en-US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7010400" y="2359152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Reads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(i1,i2)</a:t>
            </a:r>
            <a:endParaRPr lang="en-US" dirty="0"/>
          </a:p>
        </p:txBody>
      </p:sp>
      <p:cxnSp>
        <p:nvCxnSpPr>
          <p:cNvPr id="45" name="Straight Arrow Connector 44"/>
          <p:cNvCxnSpPr>
            <a:endCxn id="4" idx="0"/>
          </p:cNvCxnSpPr>
          <p:nvPr/>
        </p:nvCxnSpPr>
        <p:spPr>
          <a:xfrm rot="5400000">
            <a:off x="1249410" y="3762095"/>
            <a:ext cx="589196" cy="725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(i3,i4)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 rot="10800000" flipV="1">
            <a:off x="3048000" y="38100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(i3,i5)</a:t>
            </a:r>
            <a:endParaRPr lang="en-US" dirty="0"/>
          </a:p>
        </p:txBody>
      </p:sp>
      <p:cxnSp>
        <p:nvCxnSpPr>
          <p:cNvPr id="53" name="Straight Arrow Connector 52"/>
          <p:cNvCxnSpPr>
            <a:endCxn id="27" idx="0"/>
          </p:cNvCxnSpPr>
          <p:nvPr/>
        </p:nvCxnSpPr>
        <p:spPr>
          <a:xfrm>
            <a:off x="4038599" y="3810000"/>
            <a:ext cx="800101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029200" y="2362200"/>
            <a:ext cx="1447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(i3,i4)</a:t>
            </a:r>
            <a:endParaRPr lang="en-US" dirty="0"/>
          </a:p>
        </p:txBody>
      </p:sp>
      <p:sp>
        <p:nvSpPr>
          <p:cNvPr id="57" name="Rounded Rectangular Callout 56"/>
          <p:cNvSpPr/>
          <p:nvPr/>
        </p:nvSpPr>
        <p:spPr>
          <a:xfrm>
            <a:off x="4648200" y="3349752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LCA(i3,i4)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18371E-6 L -0.00417 -0.12772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-6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35539E-6 L -0.00677 -0.1305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" y="-65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18371E-6 L -3.33333E-6 -0.12772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4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66081E-6 L 0.00156 -0.1305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65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9" grpId="0" build="allAtOnce" animBg="1"/>
      <p:bldP spid="13" grpId="0" build="allAtOnce" animBg="1"/>
      <p:bldP spid="13" grpId="1" build="allAtOnce" animBg="1"/>
      <p:bldP spid="14" grpId="0" build="allAtOnce" animBg="1"/>
      <p:bldP spid="35" grpId="0" build="allAtOnce" animBg="1"/>
      <p:bldP spid="35" grpId="1" build="allAtOnce" animBg="1"/>
      <p:bldP spid="27" grpId="0" build="allAtOnce" animBg="1"/>
      <p:bldP spid="28" grpId="0" build="allAtOnce" animBg="1"/>
      <p:bldP spid="29" grpId="0" build="allAtOnce" animBg="1"/>
      <p:bldP spid="31" grpId="0" build="allAtOnce" animBg="1"/>
      <p:bldP spid="46" grpId="0" build="allAtOnce" animBg="1"/>
      <p:bldP spid="49" grpId="0" build="allAtOnce" animBg="1"/>
      <p:bldP spid="56" grpId="0" build="allAtOnce" animBg="1"/>
      <p:bldP spid="57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Speed 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51054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Run </a:t>
            </a:r>
            <a:r>
              <a:rPr lang="en-US" dirty="0" smtClean="0"/>
              <a:t>EM on connected components, in parallel 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14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i1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7010400" y="4343400"/>
            <a:ext cx="1219200" cy="384048"/>
          </a:xfrm>
          <a:prstGeom prst="wedgeRoundRectCallout">
            <a:avLst>
              <a:gd name="adj1" fmla="val -81990"/>
              <a:gd name="adj2" fmla="val 25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Isoforms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752600" y="35052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i2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7432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i3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657600" y="35052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i4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5720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i5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5486400" y="4419600"/>
            <a:ext cx="5334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i6</a:t>
            </a:r>
            <a:endParaRPr lang="en-US" dirty="0"/>
          </a:p>
        </p:txBody>
      </p:sp>
      <p:cxnSp>
        <p:nvCxnSpPr>
          <p:cNvPr id="45" name="Straight Arrow Connector 44"/>
          <p:cNvCxnSpPr>
            <a:endCxn id="4" idx="0"/>
          </p:cNvCxnSpPr>
          <p:nvPr/>
        </p:nvCxnSpPr>
        <p:spPr>
          <a:xfrm rot="5400000">
            <a:off x="1249410" y="3762095"/>
            <a:ext cx="589196" cy="725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 flipV="1">
            <a:off x="3048000" y="38100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7" idx="0"/>
          </p:cNvCxnSpPr>
          <p:nvPr/>
        </p:nvCxnSpPr>
        <p:spPr>
          <a:xfrm>
            <a:off x="4038599" y="3810000"/>
            <a:ext cx="800101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2000" y="3276600"/>
            <a:ext cx="1828800" cy="19050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2667000" y="3429000"/>
            <a:ext cx="2514600" cy="19812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5334000" y="4114800"/>
            <a:ext cx="914400" cy="9906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17" name="Chart 16"/>
          <p:cNvGraphicFramePr/>
          <p:nvPr/>
        </p:nvGraphicFramePr>
        <p:xfrm>
          <a:off x="4800600" y="1219200"/>
          <a:ext cx="423862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setup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382000" cy="4386262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 smtClean="0"/>
              <a:t>Human genome UCSC known </a:t>
            </a:r>
            <a:r>
              <a:rPr lang="en-US" sz="3600" dirty="0" err="1" smtClean="0"/>
              <a:t>isoforms</a:t>
            </a:r>
            <a:endParaRPr lang="en-US" sz="3600" dirty="0" smtClean="0"/>
          </a:p>
          <a:p>
            <a:endParaRPr lang="en-US" sz="3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GNFAtlas2 gene expression levels</a:t>
            </a:r>
          </a:p>
          <a:p>
            <a:pPr lvl="1"/>
            <a:r>
              <a:rPr lang="en-US" dirty="0" smtClean="0"/>
              <a:t>Uniform/geometric expression of gene </a:t>
            </a:r>
            <a:r>
              <a:rPr lang="en-US" dirty="0" err="1" smtClean="0"/>
              <a:t>isoforms</a:t>
            </a:r>
            <a:r>
              <a:rPr lang="en-US" dirty="0" smtClean="0"/>
              <a:t> </a:t>
            </a:r>
          </a:p>
          <a:p>
            <a:r>
              <a:rPr lang="en-US" dirty="0" smtClean="0"/>
              <a:t>Normally distributed fragment lengths</a:t>
            </a:r>
          </a:p>
          <a:p>
            <a:pPr lvl="1"/>
            <a:r>
              <a:rPr lang="en-US" dirty="0" smtClean="0"/>
              <a:t> Mean 250, std. dev. 25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4724400" y="182880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609600" y="1828800"/>
          <a:ext cx="3657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Graphic spid="6" grpId="0" uiExpand="1">
        <p:bldAsOne/>
      </p:bldGraphic>
      <p:bldGraphic spid="7" grpId="0" uiExpand="1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measures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Fraction (</a:t>
            </a:r>
            <a:r>
              <a:rPr lang="en-US" dirty="0" err="1" smtClean="0"/>
              <a:t>EF</a:t>
            </a:r>
            <a:r>
              <a:rPr lang="en-US" baseline="-25000" dirty="0" err="1" smtClean="0"/>
              <a:t>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Percentage of </a:t>
            </a:r>
            <a:r>
              <a:rPr lang="en-US" dirty="0" err="1" smtClean="0"/>
              <a:t>isoforms</a:t>
            </a:r>
            <a:r>
              <a:rPr lang="en-US" dirty="0" smtClean="0"/>
              <a:t> (or genes) with relative error larger than given threshold t</a:t>
            </a:r>
          </a:p>
          <a:p>
            <a:r>
              <a:rPr lang="en-US" dirty="0" smtClean="0"/>
              <a:t>Median Percent Error (MPE)</a:t>
            </a:r>
          </a:p>
          <a:p>
            <a:pPr lvl="1"/>
            <a:r>
              <a:rPr lang="en-US" dirty="0" smtClean="0"/>
              <a:t>Threshold t for which EF is 50%</a:t>
            </a:r>
          </a:p>
          <a:p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Fraction Curves - </a:t>
            </a:r>
            <a:r>
              <a:rPr lang="en-US" dirty="0" err="1" smtClean="0"/>
              <a:t>Isoforms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76726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30M single reads of length 25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990600" y="1890712"/>
          <a:ext cx="7086599" cy="466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Fraction Curves - Genes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500062"/>
          </a:xfrm>
        </p:spPr>
        <p:txBody>
          <a:bodyPr/>
          <a:lstStyle/>
          <a:p>
            <a:r>
              <a:rPr lang="en-US" sz="2400" dirty="0" smtClean="0"/>
              <a:t>30M single reads of length 25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914400" y="1828800"/>
          <a:ext cx="7010400" cy="4514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MPE and EF</a:t>
            </a:r>
            <a:r>
              <a:rPr lang="en-US" baseline="-25000" dirty="0" smtClean="0"/>
              <a:t>15</a:t>
            </a:r>
            <a:r>
              <a:rPr lang="en-US" dirty="0" smtClean="0"/>
              <a:t> by Gene Frequency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500062"/>
          </a:xfrm>
        </p:spPr>
        <p:txBody>
          <a:bodyPr/>
          <a:lstStyle/>
          <a:p>
            <a:r>
              <a:rPr lang="en-US" sz="2400" dirty="0" smtClean="0"/>
              <a:t>30M single reads of length 25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09799"/>
            <a:ext cx="9144000" cy="3292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Validation on Human RNA-</a:t>
            </a:r>
            <a:r>
              <a:rPr lang="en-US" dirty="0" err="1" smtClean="0"/>
              <a:t>Seq</a:t>
            </a:r>
            <a:r>
              <a:rPr lang="en-US" dirty="0" smtClean="0"/>
              <a:t> Data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≈8 million 27bp reads from two cell lines [Sultan et al. 10]</a:t>
            </a:r>
          </a:p>
          <a:p>
            <a:r>
              <a:rPr lang="en-US" sz="2400" dirty="0" smtClean="0"/>
              <a:t>47 AEEs measured by </a:t>
            </a:r>
            <a:r>
              <a:rPr lang="en-US" sz="2400" dirty="0" err="1" smtClean="0"/>
              <a:t>qPCR</a:t>
            </a:r>
            <a:r>
              <a:rPr lang="en-US" sz="2400" dirty="0" smtClean="0"/>
              <a:t> [Richard et al. 10]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152400" y="3048000"/>
          <a:ext cx="4572000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4267200" y="3048000"/>
          <a:ext cx="4648200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Length Effect on IE MPE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Fixed sequencing throughput (750Mb) </a:t>
            </a:r>
          </a:p>
          <a:p>
            <a:pPr lvl="0"/>
            <a:endParaRPr lang="en-US" sz="2400" dirty="0" smtClean="0"/>
          </a:p>
          <a:p>
            <a:pPr lvl="0">
              <a:buNone/>
            </a:pPr>
            <a:r>
              <a:rPr lang="en-US" sz="2400" dirty="0" smtClean="0"/>
              <a:t>              </a:t>
            </a:r>
            <a:r>
              <a:rPr lang="en-US" sz="2400" dirty="0" smtClean="0"/>
              <a:t>Single </a:t>
            </a:r>
            <a:r>
              <a:rPr lang="en-US" sz="2400" dirty="0" smtClean="0"/>
              <a:t>Reads                                            Paired Reads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8" name="Chart 7"/>
          <p:cNvGraphicFramePr/>
          <p:nvPr/>
        </p:nvGraphicFramePr>
        <p:xfrm>
          <a:off x="152400" y="2819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800600" y="2819400"/>
          <a:ext cx="396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Length Effect on IE r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Fixed sequencing throughput (750Mb) </a:t>
            </a: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1676400" y="1905000"/>
          <a:ext cx="5424488" cy="458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/>
        </p:nvGraphicFramePr>
        <p:xfrm>
          <a:off x="1600200" y="1828800"/>
          <a:ext cx="5500688" cy="458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Effect of </a:t>
            </a:r>
            <a:r>
              <a:rPr lang="en-US" dirty="0" smtClean="0"/>
              <a:t>Pairs </a:t>
            </a:r>
            <a:r>
              <a:rPr lang="en-US" dirty="0" smtClean="0"/>
              <a:t>&amp; Strand Information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75bp </a:t>
            </a:r>
            <a:r>
              <a:rPr lang="en-US" sz="2400" dirty="0" smtClean="0"/>
              <a:t>reads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33600"/>
            <a:ext cx="6629400" cy="4115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Runtime scalability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1524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Scalability experiments conducted on a Dell </a:t>
            </a:r>
            <a:r>
              <a:rPr lang="en-US" sz="2400" dirty="0" err="1" smtClean="0"/>
              <a:t>PowerEdge</a:t>
            </a:r>
            <a:r>
              <a:rPr lang="en-US" sz="2400" dirty="0" smtClean="0"/>
              <a:t> R900</a:t>
            </a:r>
          </a:p>
          <a:p>
            <a:pPr lvl="1"/>
            <a:r>
              <a:rPr lang="en-US" sz="2000" dirty="0" smtClean="0"/>
              <a:t>Four 6-core E7450Xeon processors at 2.4Ghz, 128Gb of internal memory</a:t>
            </a: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590800"/>
            <a:ext cx="6553199" cy="405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&amp; Future Work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2209800"/>
          </a:xfrm>
        </p:spPr>
        <p:txBody>
          <a:bodyPr>
            <a:normAutofit fontScale="85000" lnSpcReduction="20000"/>
          </a:bodyPr>
          <a:lstStyle/>
          <a:p>
            <a:r>
              <a:rPr lang="en-US" sz="3300" dirty="0" smtClean="0"/>
              <a:t>Presented EM algorithm for estimating </a:t>
            </a:r>
            <a:r>
              <a:rPr lang="en-US" sz="3300" dirty="0" err="1" smtClean="0"/>
              <a:t>isoform</a:t>
            </a:r>
            <a:r>
              <a:rPr lang="en-US" sz="3300" dirty="0" smtClean="0"/>
              <a:t>/gene expression levels</a:t>
            </a:r>
          </a:p>
          <a:p>
            <a:pPr lvl="1"/>
            <a:r>
              <a:rPr lang="en-US" dirty="0" smtClean="0"/>
              <a:t>Integrates fragment length distribution, base qualities, pair and strand info</a:t>
            </a:r>
          </a:p>
          <a:p>
            <a:pPr lvl="1"/>
            <a:r>
              <a:rPr lang="en-US" dirty="0" smtClean="0"/>
              <a:t>Java implementation available at </a:t>
            </a:r>
            <a:endParaRPr lang="en-US" dirty="0" smtClean="0">
              <a:hlinkClick r:id="rId3"/>
            </a:endParaRPr>
          </a:p>
          <a:p>
            <a:pPr lvl="1">
              <a:buNone/>
            </a:pPr>
            <a:r>
              <a:rPr lang="en-US" dirty="0" smtClean="0">
                <a:hlinkClick r:id="rId3"/>
              </a:rPr>
              <a:t>http://dna.engr.uconn.edu/software/IsoEM/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381000" y="3733800"/>
            <a:ext cx="8534400" cy="24050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Ongoing work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Comparison of RNA-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 DGE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–"/>
            </a:pPr>
            <a:r>
              <a:rPr lang="en-US" sz="2400" dirty="0" err="1" smtClean="0">
                <a:latin typeface="+mn-lt"/>
              </a:rPr>
              <a:t>Isoform</a:t>
            </a:r>
            <a:r>
              <a:rPr lang="en-US" sz="2400" dirty="0" smtClean="0">
                <a:latin typeface="+mn-lt"/>
              </a:rPr>
              <a:t> discovery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Reconstruction &amp; frequency estimation for virus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quasispecies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Acknowledgments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1600200"/>
            <a:ext cx="8534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 smtClean="0"/>
              <a:t>NSF </a:t>
            </a:r>
            <a:r>
              <a:rPr lang="en-US" sz="2400" dirty="0"/>
              <a:t>awards </a:t>
            </a:r>
            <a:r>
              <a:rPr lang="en-US" sz="2400" dirty="0" smtClean="0"/>
              <a:t>0546457 &amp; 0916948 to IM and 0916401 to AZ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2934</TotalTime>
  <Words>925</Words>
  <Application>Microsoft Office PowerPoint</Application>
  <PresentationFormat>On-screen Show (4:3)</PresentationFormat>
  <Paragraphs>272</Paragraphs>
  <Slides>28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Office Theme</vt:lpstr>
      <vt:lpstr>Microsoft Office Excel 97-2003 Worksheet</vt:lpstr>
      <vt:lpstr>Equation</vt:lpstr>
      <vt:lpstr>Estimation of alternative splicing isoform frequencies from RNA-Seq data</vt:lpstr>
      <vt:lpstr>Outline</vt:lpstr>
      <vt:lpstr>Slide 3</vt:lpstr>
      <vt:lpstr>Alternative Splicing</vt:lpstr>
      <vt:lpstr>RNA-Seq</vt:lpstr>
      <vt:lpstr>Gene Expression Challenges</vt:lpstr>
      <vt:lpstr>Previous approaches to GE</vt:lpstr>
      <vt:lpstr>Read Ambiguity in IE</vt:lpstr>
      <vt:lpstr>Previous approaches to IE</vt:lpstr>
      <vt:lpstr>Our contribution</vt:lpstr>
      <vt:lpstr>Read-Isoform Compatibility</vt:lpstr>
      <vt:lpstr>Fragment length distribution</vt:lpstr>
      <vt:lpstr>Fragment length distribution</vt:lpstr>
      <vt:lpstr>IsoEM algorithm</vt:lpstr>
      <vt:lpstr>Speed  improvements</vt:lpstr>
      <vt:lpstr>Speed  improvements</vt:lpstr>
      <vt:lpstr>Simulation setup</vt:lpstr>
      <vt:lpstr>Accuracy measures</vt:lpstr>
      <vt:lpstr>Error Fraction Curves - Isoforms</vt:lpstr>
      <vt:lpstr>Error Fraction Curves - Genes</vt:lpstr>
      <vt:lpstr>MPE and EF15 by Gene Frequency</vt:lpstr>
      <vt:lpstr>Validation on Human RNA-Seq Data </vt:lpstr>
      <vt:lpstr>Read Length Effect on IE MPE</vt:lpstr>
      <vt:lpstr>Read Length Effect on IE r2</vt:lpstr>
      <vt:lpstr>Effect of Pairs &amp; Strand Information</vt:lpstr>
      <vt:lpstr>Runtime scalability</vt:lpstr>
      <vt:lpstr>Conclusions &amp; Future Work</vt:lpstr>
      <vt:lpstr>Acknowledgments</vt:lpstr>
    </vt:vector>
  </TitlesOfParts>
  <Company>University of Connecticut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Estimation of alternative splicing isoform frequencies from RNA-Seq data</dc:title>
  <dc:creator>HuskyPC</dc:creator>
  <cp:lastModifiedBy>ion</cp:lastModifiedBy>
  <cp:revision>309</cp:revision>
  <dcterms:created xsi:type="dcterms:W3CDTF">2010-05-21T16:54:37Z</dcterms:created>
  <dcterms:modified xsi:type="dcterms:W3CDTF">2010-11-07T17:14:40Z</dcterms:modified>
</cp:coreProperties>
</file>