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22"/>
  </p:notesMasterIdLst>
  <p:handoutMasterIdLst>
    <p:handoutMasterId r:id="rId23"/>
  </p:handoutMasterIdLst>
  <p:sldIdLst>
    <p:sldId id="419" r:id="rId2"/>
    <p:sldId id="422" r:id="rId3"/>
    <p:sldId id="442" r:id="rId4"/>
    <p:sldId id="423" r:id="rId5"/>
    <p:sldId id="424" r:id="rId6"/>
    <p:sldId id="425" r:id="rId7"/>
    <p:sldId id="426" r:id="rId8"/>
    <p:sldId id="428" r:id="rId9"/>
    <p:sldId id="431" r:id="rId10"/>
    <p:sldId id="432" r:id="rId11"/>
    <p:sldId id="433" r:id="rId12"/>
    <p:sldId id="434" r:id="rId13"/>
    <p:sldId id="447" r:id="rId14"/>
    <p:sldId id="443" r:id="rId15"/>
    <p:sldId id="446" r:id="rId16"/>
    <p:sldId id="436" r:id="rId17"/>
    <p:sldId id="437" r:id="rId18"/>
    <p:sldId id="438" r:id="rId19"/>
    <p:sldId id="439" r:id="rId20"/>
    <p:sldId id="440" r:id="rId21"/>
  </p:sldIdLst>
  <p:sldSz cx="9144000" cy="6858000" type="screen4x3"/>
  <p:notesSz cx="6858000" cy="90805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78" autoAdjust="0"/>
    <p:restoredTop sz="97895" autoAdjust="0"/>
  </p:normalViewPr>
  <p:slideViewPr>
    <p:cSldViewPr snapToGrid="0">
      <p:cViewPr>
        <p:scale>
          <a:sx n="60" d="100"/>
          <a:sy n="60" d="100"/>
        </p:scale>
        <p:origin x="-318" y="-216"/>
      </p:cViewPr>
      <p:guideLst>
        <p:guide orient="horz" pos="2160"/>
        <p:guide pos="2880"/>
      </p:guideLst>
    </p:cSldViewPr>
  </p:slideViewPr>
  <p:outlineViewPr>
    <p:cViewPr>
      <p:scale>
        <a:sx n="33" d="100"/>
        <a:sy n="33" d="100"/>
      </p:scale>
      <p:origin x="216" y="0"/>
    </p:cViewPr>
  </p:outlineViewPr>
  <p:notesTextViewPr>
    <p:cViewPr>
      <p:scale>
        <a:sx n="100" d="100"/>
        <a:sy n="100" d="100"/>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4025"/>
          </a:xfrm>
          <a:prstGeom prst="rect">
            <a:avLst/>
          </a:prstGeom>
        </p:spPr>
        <p:txBody>
          <a:bodyPr vert="horz" lIns="89373" tIns="44687" rIns="89373" bIns="44687" rtlCol="0"/>
          <a:lstStyle>
            <a:lvl1pPr algn="l">
              <a:defRPr sz="1200">
                <a:latin typeface="Arial" charset="0"/>
                <a:cs typeface="+mn-cs"/>
              </a:defRPr>
            </a:lvl1pPr>
          </a:lstStyle>
          <a:p>
            <a:pPr>
              <a:defRPr/>
            </a:pPr>
            <a:endParaRPr lang="en-US"/>
          </a:p>
        </p:txBody>
      </p:sp>
      <p:sp>
        <p:nvSpPr>
          <p:cNvPr id="3" name="Date Placeholder 2"/>
          <p:cNvSpPr>
            <a:spLocks noGrp="1"/>
          </p:cNvSpPr>
          <p:nvPr>
            <p:ph type="dt" sz="quarter" idx="1"/>
          </p:nvPr>
        </p:nvSpPr>
        <p:spPr>
          <a:xfrm>
            <a:off x="3884613" y="0"/>
            <a:ext cx="2971800" cy="454025"/>
          </a:xfrm>
          <a:prstGeom prst="rect">
            <a:avLst/>
          </a:prstGeom>
        </p:spPr>
        <p:txBody>
          <a:bodyPr vert="horz" lIns="89373" tIns="44687" rIns="89373" bIns="44687" rtlCol="0"/>
          <a:lstStyle>
            <a:lvl1pPr algn="r">
              <a:defRPr sz="1200" smtClean="0">
                <a:latin typeface="Arial" charset="0"/>
                <a:cs typeface="+mn-cs"/>
              </a:defRPr>
            </a:lvl1pPr>
          </a:lstStyle>
          <a:p>
            <a:pPr>
              <a:defRPr/>
            </a:pPr>
            <a:fld id="{71E1EB52-3ABE-4B0C-B37F-8231CFF6693C}" type="datetimeFigureOut">
              <a:rPr lang="en-US"/>
              <a:pPr>
                <a:defRPr/>
              </a:pPr>
              <a:t>2/29/2012</a:t>
            </a:fld>
            <a:endParaRPr lang="en-US"/>
          </a:p>
        </p:txBody>
      </p:sp>
      <p:sp>
        <p:nvSpPr>
          <p:cNvPr id="4" name="Footer Placeholder 3"/>
          <p:cNvSpPr>
            <a:spLocks noGrp="1"/>
          </p:cNvSpPr>
          <p:nvPr>
            <p:ph type="ftr" sz="quarter" idx="2"/>
          </p:nvPr>
        </p:nvSpPr>
        <p:spPr>
          <a:xfrm>
            <a:off x="0" y="8624888"/>
            <a:ext cx="2971800" cy="454025"/>
          </a:xfrm>
          <a:prstGeom prst="rect">
            <a:avLst/>
          </a:prstGeom>
        </p:spPr>
        <p:txBody>
          <a:bodyPr vert="horz" lIns="89373" tIns="44687" rIns="89373" bIns="44687" rtlCol="0" anchor="b"/>
          <a:lstStyle>
            <a:lvl1pPr algn="l">
              <a:defRPr sz="1200">
                <a:latin typeface="Arial" charset="0"/>
                <a:cs typeface="+mn-cs"/>
              </a:defRPr>
            </a:lvl1pPr>
          </a:lstStyle>
          <a:p>
            <a:pPr>
              <a:defRPr/>
            </a:pPr>
            <a:endParaRPr lang="en-US"/>
          </a:p>
        </p:txBody>
      </p:sp>
      <p:sp>
        <p:nvSpPr>
          <p:cNvPr id="5" name="Slide Number Placeholder 4"/>
          <p:cNvSpPr>
            <a:spLocks noGrp="1"/>
          </p:cNvSpPr>
          <p:nvPr>
            <p:ph type="sldNum" sz="quarter" idx="3"/>
          </p:nvPr>
        </p:nvSpPr>
        <p:spPr>
          <a:xfrm>
            <a:off x="3884613" y="8624888"/>
            <a:ext cx="2971800" cy="454025"/>
          </a:xfrm>
          <a:prstGeom prst="rect">
            <a:avLst/>
          </a:prstGeom>
        </p:spPr>
        <p:txBody>
          <a:bodyPr vert="horz" lIns="89373" tIns="44687" rIns="89373" bIns="44687" rtlCol="0" anchor="b"/>
          <a:lstStyle>
            <a:lvl1pPr algn="r">
              <a:defRPr sz="1200" smtClean="0">
                <a:latin typeface="Arial" charset="0"/>
                <a:cs typeface="+mn-cs"/>
              </a:defRPr>
            </a:lvl1pPr>
          </a:lstStyle>
          <a:p>
            <a:pPr>
              <a:defRPr/>
            </a:pPr>
            <a:fld id="{A90BEB35-5314-4FE7-9A0C-EEADF8B7937A}"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4025"/>
          </a:xfrm>
          <a:prstGeom prst="rect">
            <a:avLst/>
          </a:prstGeom>
        </p:spPr>
        <p:txBody>
          <a:bodyPr vert="horz" lIns="91071" tIns="45536" rIns="91071" bIns="45536" rtlCol="0"/>
          <a:lstStyle>
            <a:lvl1pPr algn="l" fontAlgn="auto">
              <a:spcBef>
                <a:spcPts val="0"/>
              </a:spcBef>
              <a:spcAft>
                <a:spcPts val="0"/>
              </a:spcAft>
              <a:defRPr sz="1200" dirty="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4025"/>
          </a:xfrm>
          <a:prstGeom prst="rect">
            <a:avLst/>
          </a:prstGeom>
        </p:spPr>
        <p:txBody>
          <a:bodyPr vert="horz" lIns="91071" tIns="45536" rIns="91071" bIns="45536" rtlCol="0"/>
          <a:lstStyle>
            <a:lvl1pPr algn="r" fontAlgn="auto">
              <a:spcBef>
                <a:spcPts val="0"/>
              </a:spcBef>
              <a:spcAft>
                <a:spcPts val="0"/>
              </a:spcAft>
              <a:defRPr sz="1200">
                <a:latin typeface="+mn-lt"/>
                <a:cs typeface="+mn-cs"/>
              </a:defRPr>
            </a:lvl1pPr>
          </a:lstStyle>
          <a:p>
            <a:pPr>
              <a:defRPr/>
            </a:pPr>
            <a:fld id="{147121DD-3FFE-407F-B0BF-0F36D2ECE816}" type="datetimeFigureOut">
              <a:rPr lang="en-US"/>
              <a:pPr>
                <a:defRPr/>
              </a:pPr>
              <a:t>2/29/2012</a:t>
            </a:fld>
            <a:endParaRPr lang="en-US" dirty="0"/>
          </a:p>
        </p:txBody>
      </p:sp>
      <p:sp>
        <p:nvSpPr>
          <p:cNvPr id="4" name="Slide Image Placeholder 3"/>
          <p:cNvSpPr>
            <a:spLocks noGrp="1" noRot="1" noChangeAspect="1"/>
          </p:cNvSpPr>
          <p:nvPr>
            <p:ph type="sldImg" idx="2"/>
          </p:nvPr>
        </p:nvSpPr>
        <p:spPr>
          <a:xfrm>
            <a:off x="1158875" y="681038"/>
            <a:ext cx="4540250" cy="3405187"/>
          </a:xfrm>
          <a:prstGeom prst="rect">
            <a:avLst/>
          </a:prstGeom>
          <a:noFill/>
          <a:ln w="12700">
            <a:solidFill>
              <a:prstClr val="black"/>
            </a:solidFill>
          </a:ln>
        </p:spPr>
        <p:txBody>
          <a:bodyPr vert="horz" lIns="91071" tIns="45536" rIns="91071" bIns="45536" rtlCol="0" anchor="ctr"/>
          <a:lstStyle/>
          <a:p>
            <a:pPr lvl="0"/>
            <a:endParaRPr lang="en-US" noProof="0" dirty="0"/>
          </a:p>
        </p:txBody>
      </p:sp>
      <p:sp>
        <p:nvSpPr>
          <p:cNvPr id="5" name="Notes Placeholder 4"/>
          <p:cNvSpPr>
            <a:spLocks noGrp="1"/>
          </p:cNvSpPr>
          <p:nvPr>
            <p:ph type="body" sz="quarter" idx="3"/>
          </p:nvPr>
        </p:nvSpPr>
        <p:spPr>
          <a:xfrm>
            <a:off x="685800" y="4313238"/>
            <a:ext cx="5486400" cy="4086225"/>
          </a:xfrm>
          <a:prstGeom prst="rect">
            <a:avLst/>
          </a:prstGeom>
        </p:spPr>
        <p:txBody>
          <a:bodyPr vert="horz" lIns="91071" tIns="45536" rIns="91071" bIns="45536"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24888"/>
            <a:ext cx="2971800" cy="454025"/>
          </a:xfrm>
          <a:prstGeom prst="rect">
            <a:avLst/>
          </a:prstGeom>
        </p:spPr>
        <p:txBody>
          <a:bodyPr vert="horz" lIns="91071" tIns="45536" rIns="91071" bIns="45536" rtlCol="0" anchor="b"/>
          <a:lstStyle>
            <a:lvl1pPr algn="l" fontAlgn="auto">
              <a:spcBef>
                <a:spcPts val="0"/>
              </a:spcBef>
              <a:spcAft>
                <a:spcPts val="0"/>
              </a:spcAft>
              <a:defRPr sz="1200" dirty="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24888"/>
            <a:ext cx="2971800" cy="454025"/>
          </a:xfrm>
          <a:prstGeom prst="rect">
            <a:avLst/>
          </a:prstGeom>
        </p:spPr>
        <p:txBody>
          <a:bodyPr vert="horz" lIns="91071" tIns="45536" rIns="91071" bIns="45536" rtlCol="0" anchor="b"/>
          <a:lstStyle>
            <a:lvl1pPr algn="r" fontAlgn="auto">
              <a:spcBef>
                <a:spcPts val="0"/>
              </a:spcBef>
              <a:spcAft>
                <a:spcPts val="0"/>
              </a:spcAft>
              <a:defRPr sz="1200">
                <a:latin typeface="+mn-lt"/>
                <a:cs typeface="+mn-cs"/>
              </a:defRPr>
            </a:lvl1pPr>
          </a:lstStyle>
          <a:p>
            <a:pPr>
              <a:defRPr/>
            </a:pPr>
            <a:fld id="{307F3C11-4740-4DC0-BC76-3AAC454C360B}"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86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bwMode="auto">
          <a:xfrm>
            <a:off x="1158875" y="682625"/>
            <a:ext cx="4541838" cy="3405188"/>
          </a:xfrm>
          <a:noFill/>
          <a:ln>
            <a:solidFill>
              <a:srgbClr val="000000"/>
            </a:solidFill>
            <a:miter lim="800000"/>
            <a:headEnd/>
            <a:tailEnd/>
          </a:ln>
        </p:spPr>
      </p:sp>
      <p:sp>
        <p:nvSpPr>
          <p:cNvPr id="29699" name="Rectangle 3"/>
          <p:cNvSpPr>
            <a:spLocks noGrp="1" noChangeArrowheads="1"/>
          </p:cNvSpPr>
          <p:nvPr>
            <p:ph type="body" idx="1"/>
          </p:nvPr>
        </p:nvSpPr>
        <p:spPr bwMode="auto">
          <a:xfrm>
            <a:off x="685800" y="4311650"/>
            <a:ext cx="5486400" cy="4086225"/>
          </a:xfrm>
          <a:noFill/>
        </p:spPr>
        <p:txBody>
          <a:bodyPr wrap="square" numCol="1" anchor="t" anchorCtr="0" compatLnSpc="1">
            <a:prstTxWarp prst="textNoShape">
              <a:avLst/>
            </a:prstTxWarp>
          </a:bodyPr>
          <a:lstStyle/>
          <a:p>
            <a:pPr eaLnBrk="1" hangingPunct="1">
              <a:lnSpc>
                <a:spcPct val="80000"/>
              </a:lnSpc>
            </a:pPr>
            <a:r>
              <a:rPr lang="en-US" sz="900" b="1" smtClean="0">
                <a:latin typeface="Arial" pitchFamily="34" charset="0"/>
              </a:rPr>
              <a:t>         </a:t>
            </a:r>
            <a:r>
              <a:rPr lang="en-US" sz="900" smtClean="0">
                <a:latin typeface="Arial" pitchFamily="34" charset="0"/>
              </a:rPr>
              <a:t>                                                                                                                                                                                                                                                                                                                                                                                                                                                                                                                                                                                                                                                                                                                                                                                                          </a:t>
            </a:r>
            <a:r>
              <a:rPr lang="en-US" sz="900" b="1" smtClean="0">
                <a:latin typeface="Arial" pitchFamily="34" charset="0"/>
              </a:rPr>
              <a:t>     </a:t>
            </a:r>
            <a:r>
              <a:rPr lang="en-US" sz="900" smtClean="0">
                <a:latin typeface="Arial" pitchFamily="34" charset="0"/>
              </a:rPr>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bwMode="auto">
          <a:xfrm>
            <a:off x="1158875" y="682625"/>
            <a:ext cx="4541838" cy="3405188"/>
          </a:xfrm>
          <a:noFill/>
          <a:ln>
            <a:solidFill>
              <a:srgbClr val="000000"/>
            </a:solidFill>
            <a:miter lim="800000"/>
            <a:headEnd/>
            <a:tailEnd/>
          </a:ln>
        </p:spPr>
      </p:sp>
      <p:sp>
        <p:nvSpPr>
          <p:cNvPr id="30723" name="Rectangle 3"/>
          <p:cNvSpPr>
            <a:spLocks noGrp="1" noChangeArrowheads="1"/>
          </p:cNvSpPr>
          <p:nvPr>
            <p:ph type="body" idx="1"/>
          </p:nvPr>
        </p:nvSpPr>
        <p:spPr bwMode="auto">
          <a:xfrm>
            <a:off x="685800" y="4311650"/>
            <a:ext cx="5486400" cy="4086225"/>
          </a:xfrm>
          <a:noFill/>
        </p:spPr>
        <p:txBody>
          <a:bodyPr wrap="square" numCol="1" anchor="t" anchorCtr="0" compatLnSpc="1">
            <a:prstTxWarp prst="textNoShape">
              <a:avLst/>
            </a:prstTxWarp>
          </a:bodyPr>
          <a:lstStyle/>
          <a:p>
            <a:pPr eaLnBrk="1" hangingPunct="1">
              <a:lnSpc>
                <a:spcPct val="80000"/>
              </a:lnSpc>
            </a:pPr>
            <a:r>
              <a:rPr lang="en-US" sz="900" b="1" smtClean="0">
                <a:latin typeface="Arial" pitchFamily="34" charset="0"/>
              </a:rPr>
              <a:t>         </a:t>
            </a:r>
            <a:r>
              <a:rPr lang="en-US" sz="900" smtClean="0">
                <a:latin typeface="Arial" pitchFamily="34" charset="0"/>
              </a:rPr>
              <a:t>                                                                                                                                                                                                                                                                                                                                                                                                                                                                                                                                                                                                                                                                                                                                                                                                          </a:t>
            </a:r>
            <a:r>
              <a:rPr lang="en-US" sz="900" b="1" smtClean="0">
                <a:latin typeface="Arial" pitchFamily="34" charset="0"/>
              </a:rPr>
              <a:t>     </a:t>
            </a:r>
            <a:r>
              <a:rPr lang="en-US" sz="900" smtClean="0">
                <a:latin typeface="Arial" pitchFamily="34" charset="0"/>
              </a:rPr>
              <a:t>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bwMode="auto">
          <a:xfrm>
            <a:off x="1158875" y="682625"/>
            <a:ext cx="4541838" cy="3405188"/>
          </a:xfrm>
          <a:noFill/>
          <a:ln>
            <a:solidFill>
              <a:srgbClr val="000000"/>
            </a:solidFill>
            <a:miter lim="800000"/>
            <a:headEnd/>
            <a:tailEnd/>
          </a:ln>
        </p:spPr>
      </p:sp>
      <p:sp>
        <p:nvSpPr>
          <p:cNvPr id="31747" name="Rectangle 3"/>
          <p:cNvSpPr>
            <a:spLocks noGrp="1" noChangeArrowheads="1"/>
          </p:cNvSpPr>
          <p:nvPr>
            <p:ph type="body" idx="1"/>
          </p:nvPr>
        </p:nvSpPr>
        <p:spPr bwMode="auto">
          <a:xfrm>
            <a:off x="685800" y="4311650"/>
            <a:ext cx="5486400" cy="4086225"/>
          </a:xfrm>
          <a:noFill/>
        </p:spPr>
        <p:txBody>
          <a:bodyPr wrap="square" numCol="1" anchor="t" anchorCtr="0" compatLnSpc="1">
            <a:prstTxWarp prst="textNoShape">
              <a:avLst/>
            </a:prstTxWarp>
          </a:bodyPr>
          <a:lstStyle/>
          <a:p>
            <a:pPr eaLnBrk="1" hangingPunct="1">
              <a:lnSpc>
                <a:spcPct val="80000"/>
              </a:lnSpc>
            </a:pPr>
            <a:endParaRPr lang="en-US" sz="900" smtClean="0">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p:spPr>
      </p:sp>
      <p:sp>
        <p:nvSpPr>
          <p:cNvPr id="32771"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latin typeface="Arial" pitchFamily="34" charset="0"/>
              </a:rPr>
              <a:t>Primarily focused on transitional housing programs for a variety of homeless veteran sub-populations</a:t>
            </a:r>
          </a:p>
          <a:p>
            <a:r>
              <a:rPr lang="en-US" smtClean="0">
                <a:latin typeface="Arial" pitchFamily="34" charset="0"/>
              </a:rPr>
              <a:t>Such as female veterans, families, returning veterans and incarcerated veterans</a:t>
            </a:r>
          </a:p>
          <a:p>
            <a:endParaRPr lang="en-US" smtClean="0">
              <a:latin typeface="Arial" pitchFamily="34" charset="0"/>
            </a:endParaRPr>
          </a:p>
          <a:p>
            <a:r>
              <a:rPr lang="en-US" smtClean="0">
                <a:latin typeface="Arial" pitchFamily="34" charset="0"/>
              </a:rPr>
              <a:t>The VA has not funded Service Centers since 2001.</a:t>
            </a:r>
          </a:p>
          <a:p>
            <a:endParaRPr lang="en-US" smtClean="0">
              <a:latin typeface="Arial" pitchFamily="34" charset="0"/>
            </a:endParaRPr>
          </a:p>
          <a:p>
            <a:r>
              <a:rPr lang="en-US" smtClean="0">
                <a:latin typeface="Arial" pitchFamily="34" charset="0"/>
              </a:rPr>
              <a:t>Purchase of vans is for transporting veterans to services and conducting outreach  </a:t>
            </a:r>
          </a:p>
          <a:p>
            <a:endParaRPr lang="en-US" smtClean="0">
              <a:latin typeface="Arial" pitchFamily="34" charset="0"/>
            </a:endParaRPr>
          </a:p>
        </p:txBody>
      </p:sp>
      <p:sp>
        <p:nvSpPr>
          <p:cNvPr id="32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34B85DA-73DB-4ED7-9DFD-A02B64D8194E}" type="slidenum">
              <a:rPr lang="en-US" smtClean="0">
                <a:latin typeface="Arial" pitchFamily="34" charset="0"/>
              </a:rPr>
              <a:pPr fontAlgn="base">
                <a:spcBef>
                  <a:spcPct val="0"/>
                </a:spcBef>
                <a:spcAft>
                  <a:spcPct val="0"/>
                </a:spcAft>
              </a:pPr>
              <a:t>10</a:t>
            </a:fld>
            <a:endParaRPr lang="en-US"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lnSpcReduction="10000"/>
          </a:bodyPr>
          <a:lstStyle/>
          <a:p>
            <a:pPr>
              <a:defRPr/>
            </a:pPr>
            <a:endParaRPr lang="en-US" dirty="0" smtClean="0"/>
          </a:p>
        </p:txBody>
      </p:sp>
      <p:sp>
        <p:nvSpPr>
          <p:cNvPr id="337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DD0CC76-BE47-407B-87A0-83D4A6FE5C26}" type="slidenum">
              <a:rPr lang="en-US" smtClean="0">
                <a:latin typeface="Arial" pitchFamily="34" charset="0"/>
              </a:rPr>
              <a:pPr fontAlgn="base">
                <a:spcBef>
                  <a:spcPct val="0"/>
                </a:spcBef>
                <a:spcAft>
                  <a:spcPct val="0"/>
                </a:spcAft>
              </a:pPr>
              <a:t>16</a:t>
            </a:fld>
            <a:endParaRPr 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AF257B6-FA7D-4E76-B2E9-9BE493D4659C}" type="slidenum">
              <a:rPr lang="en-US" smtClean="0">
                <a:latin typeface="Arial" pitchFamily="34" charset="0"/>
              </a:rPr>
              <a:pPr fontAlgn="base">
                <a:spcBef>
                  <a:spcPct val="0"/>
                </a:spcBef>
                <a:spcAft>
                  <a:spcPct val="0"/>
                </a:spcAft>
              </a:pPr>
              <a:t>19</a:t>
            </a:fld>
            <a:endParaRPr lang="en-US" smtClean="0">
              <a:latin typeface="Arial" pitchFamily="34" charset="0"/>
            </a:endParaRPr>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48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bwMode="auto">
          <a:xfrm>
            <a:off x="1158875" y="681038"/>
            <a:ext cx="4541838" cy="3405187"/>
          </a:xfrm>
          <a:noFill/>
          <a:ln>
            <a:solidFill>
              <a:srgbClr val="000000"/>
            </a:solidFill>
            <a:miter lim="800000"/>
            <a:headEnd/>
            <a:tailEnd/>
          </a:ln>
        </p:spPr>
      </p:sp>
      <p:sp>
        <p:nvSpPr>
          <p:cNvPr id="358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smtClean="0"/>
              <a:t>Click to edit Master title style</a:t>
            </a:r>
            <a:endParaRPr lang="en-US"/>
          </a:p>
        </p:txBody>
      </p:sp>
      <p:sp>
        <p:nvSpPr>
          <p:cNvPr id="11" name="Date Placeholder 27"/>
          <p:cNvSpPr>
            <a:spLocks noGrp="1"/>
          </p:cNvSpPr>
          <p:nvPr>
            <p:ph type="dt" sz="half" idx="10"/>
          </p:nvPr>
        </p:nvSpPr>
        <p:spPr/>
        <p:txBody>
          <a:bodyPr/>
          <a:lstStyle>
            <a:lvl1pPr>
              <a:defRPr/>
            </a:lvl1pPr>
          </a:lstStyle>
          <a:p>
            <a:pPr>
              <a:defRPr/>
            </a:pPr>
            <a:fld id="{81063FDE-59FB-44EE-B1C7-2ED7AEE3DBF5}" type="datetime1">
              <a:rPr lang="en-US"/>
              <a:pPr>
                <a:defRPr/>
              </a:pPr>
              <a:t>2/29/2012</a:t>
            </a:fld>
            <a:endParaRPr lang="en-US" dirty="0"/>
          </a:p>
        </p:txBody>
      </p:sp>
      <p:sp>
        <p:nvSpPr>
          <p:cNvPr id="12" name="Footer Placeholder 16"/>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13" name="Slide Number Placeholder 28"/>
          <p:cNvSpPr>
            <a:spLocks noGrp="1"/>
          </p:cNvSpPr>
          <p:nvPr>
            <p:ph type="sldNum" sz="quarter" idx="12"/>
          </p:nvPr>
        </p:nvSpPr>
        <p:spPr/>
        <p:txBody>
          <a:bodyPr/>
          <a:lstStyle>
            <a:lvl1pPr>
              <a:defRPr sz="1400" smtClean="0">
                <a:solidFill>
                  <a:srgbClr val="FFFFFF"/>
                </a:solidFill>
              </a:defRPr>
            </a:lvl1pPr>
          </a:lstStyle>
          <a:p>
            <a:pPr>
              <a:defRPr/>
            </a:pPr>
            <a:fld id="{246A3FD5-E281-436D-9B93-0ABDBC5C98D1}"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8" name="Content Placeholder 7"/>
          <p:cNvSpPr>
            <a:spLocks noGrp="1"/>
          </p:cNvSpPr>
          <p:nvPr>
            <p:ph sz="quarter" idx="1"/>
          </p:nvPr>
        </p:nvSpPr>
        <p:spPr>
          <a:xfrm>
            <a:off x="914400" y="1447800"/>
            <a:ext cx="77724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E2C3B772-DEAB-44AC-878A-5EC4606F3AA4}" type="datetime1">
              <a:rPr lang="en-US"/>
              <a:pPr>
                <a:defRPr/>
              </a:pPr>
              <a:t>2/29/2012</a:t>
            </a:fld>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55D5FFCB-FE67-4522-AC1D-9E5AF2B60246}"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9" name="Date Placeholder 3"/>
          <p:cNvSpPr>
            <a:spLocks noGrp="1"/>
          </p:cNvSpPr>
          <p:nvPr>
            <p:ph type="dt" sz="half" idx="10"/>
          </p:nvPr>
        </p:nvSpPr>
        <p:spPr/>
        <p:txBody>
          <a:bodyPr/>
          <a:lstStyle>
            <a:lvl1pPr>
              <a:defRPr/>
            </a:lvl1pPr>
          </a:lstStyle>
          <a:p>
            <a:pPr>
              <a:defRPr/>
            </a:pPr>
            <a:fld id="{BD9813BF-8E3C-4857-9B48-F8D9E334026C}" type="datetime1">
              <a:rPr lang="en-US"/>
              <a:pPr>
                <a:defRPr/>
              </a:pPr>
              <a:t>2/29/2012</a:t>
            </a:fld>
            <a:endParaRPr lang="en-US" dirty="0"/>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r>
              <a:rPr lang="en-US"/>
              <a:t>Working Documents/ Predecisional</a:t>
            </a:r>
            <a:endParaRPr lang="en-US" dirty="0"/>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0174A25F-E2F6-4962-909F-F9F1E93090E7}"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
          </p:nvPr>
        </p:nvSpPr>
        <p:spPr>
          <a:xfrm>
            <a:off x="91440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2"/>
          </p:nvPr>
        </p:nvSpPr>
        <p:spPr>
          <a:xfrm>
            <a:off x="4933950" y="1447800"/>
            <a:ext cx="374904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13"/>
          <p:cNvSpPr>
            <a:spLocks noGrp="1"/>
          </p:cNvSpPr>
          <p:nvPr>
            <p:ph type="dt" sz="half" idx="10"/>
          </p:nvPr>
        </p:nvSpPr>
        <p:spPr/>
        <p:txBody>
          <a:bodyPr/>
          <a:lstStyle>
            <a:lvl1pPr>
              <a:defRPr/>
            </a:lvl1pPr>
          </a:lstStyle>
          <a:p>
            <a:pPr>
              <a:defRPr/>
            </a:pPr>
            <a:fld id="{722B9C2F-8446-4EC4-9D16-C7433566A4B1}" type="datetime1">
              <a:rPr lang="en-US"/>
              <a:pPr>
                <a:defRPr/>
              </a:pPr>
              <a:t>2/29/2012</a:t>
            </a:fld>
            <a:endParaRPr lang="en-US" dirty="0"/>
          </a:p>
        </p:txBody>
      </p:sp>
      <p:sp>
        <p:nvSpPr>
          <p:cNvPr id="6"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7" name="Slide Number Placeholder 22"/>
          <p:cNvSpPr>
            <a:spLocks noGrp="1"/>
          </p:cNvSpPr>
          <p:nvPr>
            <p:ph type="sldNum" sz="quarter" idx="12"/>
          </p:nvPr>
        </p:nvSpPr>
        <p:spPr/>
        <p:txBody>
          <a:bodyPr/>
          <a:lstStyle>
            <a:lvl1pPr>
              <a:defRPr/>
            </a:lvl1pPr>
          </a:lstStyle>
          <a:p>
            <a:pPr>
              <a:defRPr/>
            </a:pPr>
            <a:fld id="{9D26A257-0069-47F1-B70C-296E8E7C2C9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Content Placeholder 12"/>
          <p:cNvSpPr>
            <a:spLocks noGrp="1"/>
          </p:cNvSpPr>
          <p:nvPr>
            <p:ph sz="half" idx="4"/>
          </p:nvPr>
        </p:nvSpPr>
        <p:spPr>
          <a:xfrm>
            <a:off x="4953000" y="2247900"/>
            <a:ext cx="37338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13"/>
          <p:cNvSpPr>
            <a:spLocks noGrp="1"/>
          </p:cNvSpPr>
          <p:nvPr>
            <p:ph type="dt" sz="half" idx="10"/>
          </p:nvPr>
        </p:nvSpPr>
        <p:spPr/>
        <p:txBody>
          <a:bodyPr/>
          <a:lstStyle>
            <a:lvl1pPr>
              <a:defRPr/>
            </a:lvl1pPr>
          </a:lstStyle>
          <a:p>
            <a:pPr>
              <a:defRPr/>
            </a:pPr>
            <a:fld id="{234576E5-4620-41B6-89A3-A3E01D51CF24}" type="datetime1">
              <a:rPr lang="en-US"/>
              <a:pPr>
                <a:defRPr/>
              </a:pPr>
              <a:t>2/29/2012</a:t>
            </a:fld>
            <a:endParaRPr lang="en-US" dirty="0"/>
          </a:p>
        </p:txBody>
      </p:sp>
      <p:sp>
        <p:nvSpPr>
          <p:cNvPr id="8"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9" name="Slide Number Placeholder 22"/>
          <p:cNvSpPr>
            <a:spLocks noGrp="1"/>
          </p:cNvSpPr>
          <p:nvPr>
            <p:ph type="sldNum" sz="quarter" idx="12"/>
          </p:nvPr>
        </p:nvSpPr>
        <p:spPr/>
        <p:txBody>
          <a:bodyPr/>
          <a:lstStyle>
            <a:lvl1pPr>
              <a:defRPr/>
            </a:lvl1pPr>
          </a:lstStyle>
          <a:p>
            <a:pPr>
              <a:defRPr/>
            </a:pPr>
            <a:fld id="{B0331515-A12E-4C90-BF24-61BC1F111C8A}"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fld id="{E13DA74C-F603-4EFA-8219-6B8926FB9B09}" type="datetime1">
              <a:rPr lang="en-US"/>
              <a:pPr>
                <a:defRPr/>
              </a:pPr>
              <a:t>2/29/2012</a:t>
            </a:fld>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0C3E6044-2AC3-4136-B948-AC58FA17E901}"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6F66BB73-C4DE-442C-8ED9-A40D368BF30C}" type="datetime1">
              <a:rPr lang="en-US"/>
              <a:pPr>
                <a:defRPr/>
              </a:pPr>
              <a:t>2/29/2012</a:t>
            </a:fld>
            <a:endParaRPr lang="en-US" dirty="0"/>
          </a:p>
        </p:txBody>
      </p:sp>
      <p:sp>
        <p:nvSpPr>
          <p:cNvPr id="3"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4" name="Slide Number Placeholder 22"/>
          <p:cNvSpPr>
            <a:spLocks noGrp="1"/>
          </p:cNvSpPr>
          <p:nvPr>
            <p:ph type="sldNum" sz="quarter" idx="12"/>
          </p:nvPr>
        </p:nvSpPr>
        <p:spPr/>
        <p:txBody>
          <a:bodyPr/>
          <a:lstStyle>
            <a:lvl1pPr>
              <a:defRPr/>
            </a:lvl1pPr>
          </a:lstStyle>
          <a:p>
            <a:pPr>
              <a:defRPr/>
            </a:pPr>
            <a:fld id="{C291988E-A360-47F3-8935-539AA34DA74F}"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smtClean="0"/>
              <a:t>Click to edit Master title style</a:t>
            </a:r>
            <a:endParaRPr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4"/>
          <p:cNvSpPr>
            <a:spLocks noGrp="1"/>
          </p:cNvSpPr>
          <p:nvPr>
            <p:ph type="dt" sz="half" idx="10"/>
          </p:nvPr>
        </p:nvSpPr>
        <p:spPr/>
        <p:txBody>
          <a:bodyPr/>
          <a:lstStyle>
            <a:lvl1pPr>
              <a:defRPr/>
            </a:lvl1pPr>
          </a:lstStyle>
          <a:p>
            <a:pPr>
              <a:defRPr/>
            </a:pPr>
            <a:fld id="{7637A034-9C2F-48FD-8C5A-0F526151A58F}" type="datetime1">
              <a:rPr lang="en-US"/>
              <a:pPr>
                <a:defRPr/>
              </a:pPr>
              <a:t>2/29/2012</a:t>
            </a:fld>
            <a:endParaRPr lang="en-US" dirty="0"/>
          </a:p>
        </p:txBody>
      </p:sp>
      <p:sp>
        <p:nvSpPr>
          <p:cNvPr id="8" name="Footer Placeholder 5"/>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9" name="Slide Number Placeholder 6"/>
          <p:cNvSpPr>
            <a:spLocks noGrp="1"/>
          </p:cNvSpPr>
          <p:nvPr>
            <p:ph type="sldNum" sz="quarter" idx="12"/>
          </p:nvPr>
        </p:nvSpPr>
        <p:spPr/>
        <p:txBody>
          <a:bodyPr/>
          <a:lstStyle>
            <a:lvl1pPr>
              <a:defRPr/>
            </a:lvl1pPr>
          </a:lstStyle>
          <a:p>
            <a:pPr>
              <a:defRPr/>
            </a:pPr>
            <a:fld id="{F4E1F170-5B62-4C36-86EA-751F278B9601}"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smtClean="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98755EE6-2B8F-4DCD-A66D-87719188A650}" type="datetime1">
              <a:rPr lang="en-US"/>
              <a:pPr>
                <a:defRPr/>
              </a:pPr>
              <a:t>2/29/2012</a:t>
            </a:fld>
            <a:endParaRPr lang="en-US" dirty="0"/>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r>
              <a:rPr lang="en-US"/>
              <a:t>Working Documents/ Predecisional</a:t>
            </a:r>
            <a:endParaRPr lang="en-US" dirty="0"/>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7C888F44-42C2-43F2-BD4A-2FC4F38172C8}"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3DE1FD5D-E7E7-40AA-B411-4A08FA3D5356}" type="datetime1">
              <a:rPr lang="en-US"/>
              <a:pPr>
                <a:defRPr/>
              </a:pPr>
              <a:t>2/29/2012</a:t>
            </a:fld>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FB2843CA-F8FC-4CB9-8FBB-7FDB1AD30227}"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fld id="{8C405FE7-3DF3-4503-AF7C-AB19372E3C0E}" type="datetime1">
              <a:rPr lang="en-US"/>
              <a:pPr>
                <a:defRPr/>
              </a:pPr>
              <a:t>2/29/2012</a:t>
            </a:fld>
            <a:endParaRPr lang="en-US" dirty="0"/>
          </a:p>
        </p:txBody>
      </p:sp>
      <p:sp>
        <p:nvSpPr>
          <p:cNvPr id="5" name="Footer Placeholder 2"/>
          <p:cNvSpPr>
            <a:spLocks noGrp="1"/>
          </p:cNvSpPr>
          <p:nvPr>
            <p:ph type="ftr" sz="quarter" idx="11"/>
          </p:nvPr>
        </p:nvSpPr>
        <p:spPr/>
        <p:txBody>
          <a:bodyPr/>
          <a:lstStyle>
            <a:lvl1pPr>
              <a:defRPr/>
            </a:lvl1pPr>
          </a:lstStyle>
          <a:p>
            <a:pPr>
              <a:defRPr/>
            </a:pPr>
            <a:r>
              <a:rPr lang="en-US"/>
              <a:t>Working Documents/ Predecisional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9C015CA4-027A-4102-9712-B93084C09FBE}"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966788"/>
            <a:ext cx="7772400" cy="4851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5"/>
          <p:cNvSpPr>
            <a:spLocks noGrp="1" noChangeArrowheads="1"/>
          </p:cNvSpPr>
          <p:nvPr>
            <p:ph type="ftr" sz="quarter" idx="10"/>
          </p:nvPr>
        </p:nvSpPr>
        <p:spPr/>
        <p:txBody>
          <a:bodyPr/>
          <a:lstStyle>
            <a:lvl1pPr>
              <a:defRPr smtClean="0"/>
            </a:lvl1pPr>
          </a:lstStyle>
          <a:p>
            <a:pPr>
              <a:defRPr/>
            </a:pPr>
            <a:r>
              <a:rPr lang="en-US"/>
              <a:t>Working Documents/ Predecisional</a:t>
            </a:r>
            <a:endParaRPr lang="en-US"/>
          </a:p>
        </p:txBody>
      </p:sp>
      <p:sp>
        <p:nvSpPr>
          <p:cNvPr id="4" name="Rectangle 6"/>
          <p:cNvSpPr>
            <a:spLocks noGrp="1" noChangeArrowheads="1"/>
          </p:cNvSpPr>
          <p:nvPr>
            <p:ph type="sldNum" sz="quarter" idx="11"/>
          </p:nvPr>
        </p:nvSpPr>
        <p:spPr/>
        <p:txBody>
          <a:bodyPr/>
          <a:lstStyle>
            <a:lvl1pPr>
              <a:defRPr/>
            </a:lvl1pPr>
          </a:lstStyle>
          <a:p>
            <a:pPr>
              <a:defRPr/>
            </a:pPr>
            <a:fld id="{EB7DCFF7-D0BD-450F-B1C0-8AD8E743B539}"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w="9525">
            <a:noFill/>
            <a:miter lim="800000"/>
            <a:headEnd/>
            <a:tailEnd/>
          </a:ln>
        </p:spPr>
        <p:txBody>
          <a:bodyPr vert="horz" wrap="square" lIns="91440" tIns="45720" rIns="91440" bIns="91440" numCol="1" anchor="b" anchorCtr="0" compatLnSpc="1">
            <a:prstTxWarp prst="textNoShape">
              <a:avLst/>
            </a:prstTxWarp>
          </a:bodyPr>
          <a:lstStyle/>
          <a:p>
            <a:pPr lvl="0"/>
            <a:r>
              <a:rPr lang="en-US" smtClean="0"/>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smtClean="0">
                <a:solidFill>
                  <a:schemeClr val="tx2"/>
                </a:solidFill>
                <a:latin typeface="Arial" charset="0"/>
                <a:cs typeface="+mn-cs"/>
              </a:defRPr>
            </a:lvl1pPr>
          </a:lstStyle>
          <a:p>
            <a:pPr>
              <a:defRPr/>
            </a:pPr>
            <a:fld id="{B91BB35A-1FC5-4E02-94C9-30A467862CA3}" type="datetime1">
              <a:rPr lang="en-US"/>
              <a:pPr>
                <a:defRPr/>
              </a:pPr>
              <a:t>2/29/2012</a:t>
            </a:fld>
            <a:endParaRPr lang="en-US" dirty="0"/>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smtClean="0">
                <a:solidFill>
                  <a:schemeClr val="tx2"/>
                </a:solidFill>
                <a:latin typeface="Arial" charset="0"/>
                <a:cs typeface="+mn-cs"/>
              </a:defRPr>
            </a:lvl1pPr>
          </a:lstStyle>
          <a:p>
            <a:pPr>
              <a:defRPr/>
            </a:pPr>
            <a:r>
              <a:rPr lang="en-US"/>
              <a:t>Working Documents/ Predecisional</a:t>
            </a:r>
            <a:endParaRPr lang="en-US" dirty="0"/>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smtClean="0">
                <a:solidFill>
                  <a:srgbClr val="FFFFFF"/>
                </a:solidFill>
                <a:latin typeface="+mj-lt"/>
                <a:ea typeface="+mj-ea"/>
                <a:cs typeface="+mj-cs"/>
              </a:defRPr>
            </a:lvl1pPr>
          </a:lstStyle>
          <a:p>
            <a:pPr>
              <a:defRPr/>
            </a:pPr>
            <a:fld id="{51447B87-A8B0-49FB-8A7D-A97F9B85EE02}"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39" r:id="rId1"/>
    <p:sldLayoutId id="2147483732" r:id="rId2"/>
    <p:sldLayoutId id="2147483740" r:id="rId3"/>
    <p:sldLayoutId id="2147483733" r:id="rId4"/>
    <p:sldLayoutId id="2147483734" r:id="rId5"/>
    <p:sldLayoutId id="2147483735" r:id="rId6"/>
    <p:sldLayoutId id="2147483736" r:id="rId7"/>
    <p:sldLayoutId id="2147483741" r:id="rId8"/>
    <p:sldLayoutId id="2147483742" r:id="rId9"/>
    <p:sldLayoutId id="2147483737" r:id="rId10"/>
    <p:sldLayoutId id="2147483738" r:id="rId11"/>
    <p:sldLayoutId id="2147483743" r:id="rId12"/>
  </p:sldLayoutIdLst>
  <p:hf hdr="0" ftr="0" dt="0"/>
  <p:txStyles>
    <p:titleStyle>
      <a:lvl1pPr algn="l" rtl="0" fontAlgn="base">
        <a:spcBef>
          <a:spcPct val="0"/>
        </a:spcBef>
        <a:spcAft>
          <a:spcPct val="0"/>
        </a:spcAft>
        <a:defRPr sz="4000" kern="1200">
          <a:solidFill>
            <a:schemeClr val="tx2"/>
          </a:solidFill>
          <a:latin typeface="+mj-lt"/>
          <a:ea typeface="+mj-ea"/>
          <a:cs typeface="+mj-cs"/>
        </a:defRPr>
      </a:lvl1pPr>
      <a:lvl2pPr algn="l" rtl="0" fontAlgn="base">
        <a:spcBef>
          <a:spcPct val="0"/>
        </a:spcBef>
        <a:spcAft>
          <a:spcPct val="0"/>
        </a:spcAft>
        <a:defRPr sz="4000">
          <a:solidFill>
            <a:schemeClr val="tx2"/>
          </a:solidFill>
          <a:latin typeface="Franklin Gothic Book" pitchFamily="34" charset="0"/>
        </a:defRPr>
      </a:lvl2pPr>
      <a:lvl3pPr algn="l" rtl="0" fontAlgn="base">
        <a:spcBef>
          <a:spcPct val="0"/>
        </a:spcBef>
        <a:spcAft>
          <a:spcPct val="0"/>
        </a:spcAft>
        <a:defRPr sz="4000">
          <a:solidFill>
            <a:schemeClr val="tx2"/>
          </a:solidFill>
          <a:latin typeface="Franklin Gothic Book" pitchFamily="34" charset="0"/>
        </a:defRPr>
      </a:lvl3pPr>
      <a:lvl4pPr algn="l" rtl="0" fontAlgn="base">
        <a:spcBef>
          <a:spcPct val="0"/>
        </a:spcBef>
        <a:spcAft>
          <a:spcPct val="0"/>
        </a:spcAft>
        <a:defRPr sz="4000">
          <a:solidFill>
            <a:schemeClr val="tx2"/>
          </a:solidFill>
          <a:latin typeface="Franklin Gothic Book" pitchFamily="34" charset="0"/>
        </a:defRPr>
      </a:lvl4pPr>
      <a:lvl5pPr algn="l" rtl="0" fontAlgn="base">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fontAlgn="base">
        <a:spcBef>
          <a:spcPts val="575"/>
        </a:spcBef>
        <a:spcAft>
          <a:spcPct val="0"/>
        </a:spcAft>
        <a:buClr>
          <a:schemeClr val="accent1"/>
        </a:buClr>
        <a:buSzPct val="85000"/>
        <a:buFont typeface="Wingdings 2" pitchFamily="18" charset="2"/>
        <a:buChar char=""/>
        <a:defRPr sz="2600" kern="1200">
          <a:solidFill>
            <a:schemeClr val="tx1"/>
          </a:solidFill>
          <a:latin typeface="+mn-lt"/>
          <a:ea typeface="+mn-ea"/>
          <a:cs typeface="+mn-cs"/>
        </a:defRPr>
      </a:lvl1pPr>
      <a:lvl2pPr marL="547688" indent="-228600" algn="l" rtl="0" fontAlgn="base">
        <a:spcBef>
          <a:spcPts val="375"/>
        </a:spcBef>
        <a:spcAft>
          <a:spcPct val="0"/>
        </a:spcAft>
        <a:buClr>
          <a:schemeClr val="accent2"/>
        </a:buClr>
        <a:buSzPct val="85000"/>
        <a:buFont typeface="Wingdings 2" pitchFamily="18" charset="2"/>
        <a:buChar char=""/>
        <a:defRPr sz="2400" kern="1200">
          <a:solidFill>
            <a:schemeClr val="tx1"/>
          </a:solidFill>
          <a:latin typeface="+mn-lt"/>
          <a:ea typeface="+mn-ea"/>
          <a:cs typeface="+mn-cs"/>
        </a:defRPr>
      </a:lvl2pPr>
      <a:lvl3pPr marL="822325" indent="-228600" algn="l" rtl="0" fontAlgn="base">
        <a:spcBef>
          <a:spcPts val="375"/>
        </a:spcBef>
        <a:spcAft>
          <a:spcPct val="0"/>
        </a:spcAft>
        <a:buClr>
          <a:srgbClr val="E6B1AB"/>
        </a:buClr>
        <a:buSzPct val="85000"/>
        <a:buFont typeface="Wingdings 2" pitchFamily="18" charset="2"/>
        <a:buChar char=""/>
        <a:defRPr sz="2000" kern="1200">
          <a:solidFill>
            <a:schemeClr val="tx1"/>
          </a:solidFill>
          <a:latin typeface="+mn-lt"/>
          <a:ea typeface="+mn-ea"/>
          <a:cs typeface="+mn-cs"/>
        </a:defRPr>
      </a:lvl3pPr>
      <a:lvl4pPr marL="1096963" indent="-228600" algn="l" rtl="0" fontAlgn="base">
        <a:spcBef>
          <a:spcPts val="375"/>
        </a:spcBef>
        <a:spcAft>
          <a:spcPct val="0"/>
        </a:spcAft>
        <a:buClr>
          <a:srgbClr val="A28E6A"/>
        </a:buClr>
        <a:buSzPct val="80000"/>
        <a:buFont typeface="Wingdings 2" pitchFamily="18" charset="2"/>
        <a:buChar char=""/>
        <a:defRPr sz="2000" kern="1200">
          <a:solidFill>
            <a:schemeClr val="tx1"/>
          </a:solidFill>
          <a:latin typeface="+mn-lt"/>
          <a:ea typeface="+mn-ea"/>
          <a:cs typeface="+mn-cs"/>
        </a:defRPr>
      </a:lvl4pPr>
      <a:lvl5pPr marL="1371600" indent="-228600" algn="l" rtl="0" fontAlgn="base">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va.gov/"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www.1010ez.med.va.gov/sec/vha/1010ez"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www1.va.gov/opa/publications/benefits_book/federal_benefits.pdf"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va.gov/homeles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mailto:Marco.Ordonez@bankofamerica.com" TargetMode="External"/><Relationship Id="rId2" Type="http://schemas.openxmlformats.org/officeDocument/2006/relationships/hyperlink" Target="http://va.reotrans.com/" TargetMode="Externa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mailto:Valerie.McDougle@va.gov"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va.gov/HOMELESS/GPD.asp"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cwt.va.gov/"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va.gov/HOMELESS/SSVF.asp"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nfcc.org/" TargetMode="External"/><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www.govbenefits.gov/" TargetMode="External"/><Relationship Id="rId5" Type="http://schemas.openxmlformats.org/officeDocument/2006/relationships/hyperlink" Target="http://statesidelegal.org/" TargetMode="External"/><Relationship Id="rId4" Type="http://schemas.openxmlformats.org/officeDocument/2006/relationships/hyperlink" Target="http://www.lawhelp.org/"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www.va.gov/homeles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p:txBody>
          <a:bodyPr>
            <a:normAutofit fontScale="90000"/>
          </a:bodyPr>
          <a:lstStyle/>
          <a:p>
            <a:pPr algn="ctr" fontAlgn="auto">
              <a:spcAft>
                <a:spcPts val="0"/>
              </a:spcAft>
              <a:defRPr/>
            </a:pPr>
            <a:r>
              <a:rPr lang="en-US" sz="3800" smtClean="0"/>
              <a:t/>
            </a:r>
            <a:br>
              <a:rPr lang="en-US" sz="3800" smtClean="0"/>
            </a:br>
            <a:endParaRPr lang="en-US" sz="3800" smtClean="0"/>
          </a:p>
        </p:txBody>
      </p:sp>
      <p:sp>
        <p:nvSpPr>
          <p:cNvPr id="7171" name="Rectangle 1027"/>
          <p:cNvSpPr>
            <a:spLocks noGrp="1" noChangeArrowheads="1"/>
          </p:cNvSpPr>
          <p:nvPr>
            <p:ph sz="quarter" idx="1"/>
          </p:nvPr>
        </p:nvSpPr>
        <p:spPr/>
        <p:txBody>
          <a:bodyPr>
            <a:normAutofit lnSpcReduction="10000"/>
          </a:bodyPr>
          <a:lstStyle/>
          <a:p>
            <a:pPr marL="274320" indent="-274320" algn="ctr" fontAlgn="auto">
              <a:spcBef>
                <a:spcPts val="580"/>
              </a:spcBef>
              <a:spcAft>
                <a:spcPts val="0"/>
              </a:spcAft>
              <a:buFont typeface="Wingdings 2" pitchFamily="18" charset="2"/>
              <a:buNone/>
              <a:defRPr/>
            </a:pPr>
            <a:r>
              <a:rPr lang="en-US" sz="4000" b="1" dirty="0" smtClean="0"/>
              <a:t>Accessing VA Services</a:t>
            </a:r>
          </a:p>
          <a:p>
            <a:pPr marL="274320" indent="-274320" fontAlgn="auto">
              <a:spcBef>
                <a:spcPts val="580"/>
              </a:spcBef>
              <a:spcAft>
                <a:spcPts val="0"/>
              </a:spcAft>
              <a:buFont typeface="Wingdings 2"/>
              <a:buChar char=""/>
              <a:defRPr/>
            </a:pPr>
            <a:endParaRPr lang="en-US" dirty="0" smtClean="0"/>
          </a:p>
          <a:p>
            <a:pPr marL="274320" indent="-274320" algn="r" fontAlgn="auto">
              <a:spcBef>
                <a:spcPts val="580"/>
              </a:spcBef>
              <a:spcAft>
                <a:spcPts val="0"/>
              </a:spcAft>
              <a:buFont typeface="Wingdings 2"/>
              <a:buChar char=""/>
              <a:defRPr/>
            </a:pPr>
            <a:endParaRPr lang="en-US" sz="2400" dirty="0" smtClean="0"/>
          </a:p>
          <a:p>
            <a:pPr marL="274320" indent="-274320" algn="r" fontAlgn="auto">
              <a:spcBef>
                <a:spcPts val="580"/>
              </a:spcBef>
              <a:spcAft>
                <a:spcPts val="0"/>
              </a:spcAft>
              <a:buFont typeface="Wingdings 2"/>
              <a:buChar char=""/>
              <a:defRPr/>
            </a:pPr>
            <a:endParaRPr lang="en-US" sz="2400" dirty="0" smtClean="0"/>
          </a:p>
          <a:p>
            <a:pPr marL="274320" indent="-274320" algn="r" fontAlgn="auto">
              <a:spcBef>
                <a:spcPts val="580"/>
              </a:spcBef>
              <a:spcAft>
                <a:spcPts val="0"/>
              </a:spcAft>
              <a:buFont typeface="Wingdings 2"/>
              <a:buChar char=""/>
              <a:defRPr/>
            </a:pPr>
            <a:endParaRPr lang="en-US" sz="2400" dirty="0" smtClean="0"/>
          </a:p>
          <a:p>
            <a:pPr marL="274320" indent="-274320" algn="r" fontAlgn="auto">
              <a:spcBef>
                <a:spcPts val="580"/>
              </a:spcBef>
              <a:spcAft>
                <a:spcPts val="0"/>
              </a:spcAft>
              <a:buFont typeface="Wingdings 2"/>
              <a:buChar char=""/>
              <a:defRPr/>
            </a:pPr>
            <a:endParaRPr lang="en-US" sz="2400" dirty="0" smtClean="0"/>
          </a:p>
          <a:p>
            <a:pPr marL="274320" indent="-274320" algn="r" fontAlgn="auto">
              <a:spcBef>
                <a:spcPts val="580"/>
              </a:spcBef>
              <a:spcAft>
                <a:spcPts val="0"/>
              </a:spcAft>
              <a:buFont typeface="Wingdings 2" pitchFamily="18" charset="2"/>
              <a:buNone/>
              <a:defRPr/>
            </a:pPr>
            <a:r>
              <a:rPr lang="en-US" sz="2400" dirty="0" smtClean="0"/>
              <a:t>John Kuhn, LCSW, MPH</a:t>
            </a:r>
          </a:p>
          <a:p>
            <a:pPr marL="274320" indent="-274320" algn="r" fontAlgn="auto">
              <a:spcBef>
                <a:spcPts val="580"/>
              </a:spcBef>
              <a:spcAft>
                <a:spcPts val="0"/>
              </a:spcAft>
              <a:buFont typeface="Wingdings 2" pitchFamily="18" charset="2"/>
              <a:buNone/>
              <a:defRPr/>
            </a:pPr>
            <a:r>
              <a:rPr lang="en-US" sz="2400" smtClean="0"/>
              <a:t>Sandra Foley, LCSW</a:t>
            </a:r>
            <a:endParaRPr lang="en-US" sz="2400" dirty="0" smtClean="0"/>
          </a:p>
          <a:p>
            <a:pPr marL="274320" indent="-274320" algn="r" fontAlgn="auto">
              <a:spcBef>
                <a:spcPts val="580"/>
              </a:spcBef>
              <a:spcAft>
                <a:spcPts val="0"/>
              </a:spcAft>
              <a:buFont typeface="Wingdings 2" pitchFamily="18" charset="2"/>
              <a:buNone/>
              <a:defRPr/>
            </a:pPr>
            <a:r>
              <a:rPr lang="en-US" sz="2000" dirty="0" smtClean="0"/>
              <a:t>National Director, Homeless Evaluation</a:t>
            </a:r>
          </a:p>
          <a:p>
            <a:pPr marL="274320" indent="-274320" algn="r" fontAlgn="auto">
              <a:spcBef>
                <a:spcPts val="580"/>
              </a:spcBef>
              <a:spcAft>
                <a:spcPts val="0"/>
              </a:spcAft>
              <a:buFont typeface="Wingdings 2" pitchFamily="18" charset="2"/>
              <a:buNone/>
              <a:defRPr/>
            </a:pPr>
            <a:r>
              <a:rPr lang="en-US" sz="2000" dirty="0" smtClean="0"/>
              <a:t> and Supportive Services for Veteran Families (SSVF)</a:t>
            </a:r>
          </a:p>
          <a:p>
            <a:pPr marL="274320" indent="-274320" algn="r" fontAlgn="auto">
              <a:spcBef>
                <a:spcPts val="580"/>
              </a:spcBef>
              <a:spcAft>
                <a:spcPts val="0"/>
              </a:spcAft>
              <a:buFont typeface="Wingdings 2"/>
              <a:buChar char=""/>
              <a:defRPr/>
            </a:pPr>
            <a:endParaRPr lang="en-US" sz="2400" dirty="0" smtClean="0"/>
          </a:p>
        </p:txBody>
      </p:sp>
      <p:sp>
        <p:nvSpPr>
          <p:cNvPr id="7172" name="TextBox 3"/>
          <p:cNvSpPr txBox="1">
            <a:spLocks noChangeArrowheads="1"/>
          </p:cNvSpPr>
          <p:nvPr/>
        </p:nvSpPr>
        <p:spPr bwMode="auto">
          <a:xfrm>
            <a:off x="1219200" y="2743200"/>
            <a:ext cx="7010400" cy="584200"/>
          </a:xfrm>
          <a:prstGeom prst="rect">
            <a:avLst/>
          </a:prstGeom>
          <a:noFill/>
          <a:ln w="9525">
            <a:noFill/>
            <a:miter lim="800000"/>
            <a:headEnd/>
            <a:tailEnd/>
          </a:ln>
        </p:spPr>
        <p:txBody>
          <a:bodyPr>
            <a:spAutoFit/>
          </a:bodyPr>
          <a:lstStyle/>
          <a:p>
            <a:pPr algn="ctr"/>
            <a:r>
              <a:rPr lang="en-US" sz="3200" b="1">
                <a:hlinkClick r:id="rId3"/>
              </a:rPr>
              <a:t>http://www.va.gov</a:t>
            </a:r>
            <a:r>
              <a:rPr lang="en-US" sz="3200" b="1"/>
              <a:t>    </a:t>
            </a:r>
          </a:p>
        </p:txBody>
      </p:sp>
      <p:pic>
        <p:nvPicPr>
          <p:cNvPr id="7173" name="Picture 5"/>
          <p:cNvPicPr>
            <a:picLocks noChangeAspect="1" noChangeArrowheads="1"/>
          </p:cNvPicPr>
          <p:nvPr/>
        </p:nvPicPr>
        <p:blipFill>
          <a:blip r:embed="rId4"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1"/>
          </p:nvPr>
        </p:nvSpPr>
        <p:spPr>
          <a:noFill/>
        </p:spPr>
        <p:txBody>
          <a:bodyPr/>
          <a:lstStyle/>
          <a:p>
            <a:pPr>
              <a:defRPr/>
            </a:pPr>
            <a:fld id="{CF115948-8286-43F2-8539-CE9773159497}" type="slidenum">
              <a:rPr lang="en-US" smtClean="0"/>
              <a:pPr>
                <a:defRPr/>
              </a:pPr>
              <a:t>2</a:t>
            </a:fld>
            <a:endParaRPr lang="en-US" smtClean="0"/>
          </a:p>
        </p:txBody>
      </p:sp>
      <p:sp>
        <p:nvSpPr>
          <p:cNvPr id="10246" name="Rectangle 11"/>
          <p:cNvSpPr>
            <a:spLocks noChangeArrowheads="1"/>
          </p:cNvSpPr>
          <p:nvPr/>
        </p:nvSpPr>
        <p:spPr bwMode="auto">
          <a:xfrm>
            <a:off x="152400" y="3436938"/>
            <a:ext cx="8763000" cy="1508125"/>
          </a:xfrm>
          <a:prstGeom prst="rect">
            <a:avLst/>
          </a:prstGeom>
          <a:noFill/>
          <a:ln w="25400">
            <a:noFill/>
            <a:miter lim="800000"/>
            <a:headEnd/>
            <a:tailEnd type="none" w="lg" len="lg"/>
          </a:ln>
        </p:spPr>
        <p:txBody>
          <a:bodyPr>
            <a:spAutoFit/>
          </a:bodyPr>
          <a:lstStyle/>
          <a:p>
            <a:pPr>
              <a:defRPr/>
            </a:pPr>
            <a:r>
              <a:rPr lang="en-US" sz="2400" b="1" dirty="0">
                <a:latin typeface="Arial" charset="0"/>
                <a:cs typeface="+mn-cs"/>
              </a:rPr>
              <a:t>  </a:t>
            </a:r>
          </a:p>
          <a:p>
            <a:pPr>
              <a:buFont typeface="Arial" pitchFamily="34" charset="0"/>
              <a:buChar char="•"/>
              <a:defRPr/>
            </a:pPr>
            <a:endParaRPr lang="en-US" sz="2400" b="1" dirty="0">
              <a:latin typeface="Arial" charset="0"/>
              <a:cs typeface="+mn-cs"/>
            </a:endParaRPr>
          </a:p>
          <a:p>
            <a:pPr>
              <a:defRPr/>
            </a:pPr>
            <a:r>
              <a:rPr lang="en-US" sz="2400" dirty="0">
                <a:latin typeface="Arial" charset="0"/>
                <a:cs typeface="+mn-cs"/>
              </a:rPr>
              <a:t>  </a:t>
            </a:r>
          </a:p>
          <a:p>
            <a:pPr marL="236538" indent="-236538">
              <a:defRPr/>
            </a:pPr>
            <a:endParaRPr lang="en-US" sz="2000" dirty="0">
              <a:latin typeface="AvantGarde"/>
              <a:cs typeface="+mn-cs"/>
            </a:endParaRPr>
          </a:p>
        </p:txBody>
      </p:sp>
      <p:sp>
        <p:nvSpPr>
          <p:cNvPr id="1238028" name="Rectangle 12"/>
          <p:cNvSpPr>
            <a:spLocks noChangeArrowheads="1"/>
          </p:cNvSpPr>
          <p:nvPr/>
        </p:nvSpPr>
        <p:spPr bwMode="auto">
          <a:xfrm>
            <a:off x="2819400" y="188913"/>
            <a:ext cx="6040438" cy="977900"/>
          </a:xfrm>
          <a:prstGeom prst="rect">
            <a:avLst/>
          </a:prstGeom>
          <a:noFill/>
          <a:ln w="9525">
            <a:noFill/>
            <a:miter lim="800000"/>
            <a:headEnd/>
            <a:tailEnd/>
          </a:ln>
          <a:effectLst/>
        </p:spPr>
        <p:txBody>
          <a:bodyPr lIns="91427" tIns="45713" rIns="91427" bIns="45713" anchor="ctr"/>
          <a:lstStyle/>
          <a:p>
            <a:pPr algn="r">
              <a:defRPr/>
            </a:pPr>
            <a:r>
              <a:rPr lang="en-US" sz="3000" b="1" i="1" dirty="0">
                <a:effectLst>
                  <a:outerShdw blurRad="38100" dist="38100" dir="2700000" algn="tl">
                    <a:srgbClr val="C0C0C0"/>
                  </a:outerShdw>
                </a:effectLst>
                <a:latin typeface="AvantGarde" pitchFamily="34" charset="0"/>
                <a:cs typeface="+mn-cs"/>
              </a:rPr>
              <a:t>Getting VA Services</a:t>
            </a:r>
            <a:endParaRPr lang="en-US" sz="3000" b="1" i="1" dirty="0">
              <a:effectLst>
                <a:outerShdw blurRad="38100" dist="38100" dir="2700000" algn="tl">
                  <a:srgbClr val="C0C0C0"/>
                </a:outerShdw>
              </a:effectLst>
              <a:latin typeface="AvantGarde" pitchFamily="34" charset="0"/>
              <a:cs typeface="+mn-cs"/>
            </a:endParaRPr>
          </a:p>
        </p:txBody>
      </p:sp>
      <p:pic>
        <p:nvPicPr>
          <p:cNvPr id="8197" name="Picture 5"/>
          <p:cNvPicPr>
            <a:picLocks noChangeAspect="1" noChangeArrowheads="1"/>
          </p:cNvPicPr>
          <p:nvPr/>
        </p:nvPicPr>
        <p:blipFill>
          <a:blip r:embed="rId3" cstate="print"/>
          <a:srcRect/>
          <a:stretch>
            <a:fillRect/>
          </a:stretch>
        </p:blipFill>
        <p:spPr bwMode="auto">
          <a:xfrm>
            <a:off x="446088" y="269875"/>
            <a:ext cx="838200" cy="838200"/>
          </a:xfrm>
          <a:prstGeom prst="rect">
            <a:avLst/>
          </a:prstGeom>
          <a:noFill/>
          <a:ln w="9525" algn="ctr">
            <a:noFill/>
            <a:miter lim="800000"/>
            <a:headEnd/>
            <a:tailEnd/>
          </a:ln>
        </p:spPr>
      </p:pic>
      <p:sp>
        <p:nvSpPr>
          <p:cNvPr id="8198" name="Rectangle 7"/>
          <p:cNvSpPr>
            <a:spLocks noChangeArrowheads="1"/>
          </p:cNvSpPr>
          <p:nvPr/>
        </p:nvSpPr>
        <p:spPr bwMode="auto">
          <a:xfrm>
            <a:off x="457200" y="1246188"/>
            <a:ext cx="8008938" cy="3416300"/>
          </a:xfrm>
          <a:prstGeom prst="rect">
            <a:avLst/>
          </a:prstGeom>
          <a:noFill/>
          <a:ln w="9525">
            <a:noFill/>
            <a:miter lim="800000"/>
            <a:headEnd/>
            <a:tailEnd/>
          </a:ln>
        </p:spPr>
        <p:txBody>
          <a:bodyPr>
            <a:spAutoFit/>
          </a:bodyPr>
          <a:lstStyle/>
          <a:p>
            <a:r>
              <a:rPr lang="en-US" sz="2400"/>
              <a:t>Eligibility for most VA benefits is based upon discharge from active military service under other than dishonorable conditions. In order to expedite benefits delivery, veterans seeking a VA benefit for the first time must submit a copy of their service discharge form (DD-214).</a:t>
            </a:r>
          </a:p>
          <a:p>
            <a:endParaRPr lang="en-US" sz="2400"/>
          </a:p>
          <a:p>
            <a:endParaRPr lang="en-US" sz="2400"/>
          </a:p>
          <a:p>
            <a:endParaRPr lang="en-US" sz="2400"/>
          </a:p>
          <a:p>
            <a:endParaRPr lang="en-US" sz="2400"/>
          </a:p>
        </p:txBody>
      </p:sp>
      <p:sp>
        <p:nvSpPr>
          <p:cNvPr id="8199" name="Rectangle 10"/>
          <p:cNvSpPr>
            <a:spLocks noChangeArrowheads="1"/>
          </p:cNvSpPr>
          <p:nvPr/>
        </p:nvSpPr>
        <p:spPr bwMode="auto">
          <a:xfrm>
            <a:off x="488950" y="3357563"/>
            <a:ext cx="7913688" cy="3416300"/>
          </a:xfrm>
          <a:prstGeom prst="rect">
            <a:avLst/>
          </a:prstGeom>
          <a:noFill/>
          <a:ln w="9525">
            <a:noFill/>
            <a:miter lim="800000"/>
            <a:headEnd/>
            <a:tailEnd/>
          </a:ln>
        </p:spPr>
        <p:txBody>
          <a:bodyPr>
            <a:spAutoFit/>
          </a:bodyPr>
          <a:lstStyle/>
          <a:p>
            <a:r>
              <a:rPr lang="en-US" sz="2400"/>
              <a:t>For most veterans, entry into the VA health care system begins by applying for enrollment. To apply, complete VA Form 10-10EZ, Application for Health Benefits, which may be obtained from any VA health care facility or regional benefits office, on line at </a:t>
            </a:r>
            <a:r>
              <a:rPr lang="en-US" sz="2400">
                <a:hlinkClick r:id="rId4"/>
              </a:rPr>
              <a:t>www.1010ez.med.va.gov/sec/vha/1010ez</a:t>
            </a:r>
            <a:r>
              <a:rPr lang="en-US" sz="2400"/>
              <a:t>  or by calling 1-877-222-VETS (8387). Once enrolled, veterans can receive health care at VA health care facilities anywhere in the country.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38018" name="Group 2"/>
          <p:cNvGraphicFramePr>
            <a:graphicFrameLocks noGrp="1"/>
          </p:cNvGraphicFramePr>
          <p:nvPr>
            <p:ph/>
          </p:nvPr>
        </p:nvGraphicFramePr>
        <p:xfrm>
          <a:off x="1276350" y="4267200"/>
          <a:ext cx="7772400" cy="990600"/>
        </p:xfrm>
        <a:graphic>
          <a:graphicData uri="http://schemas.openxmlformats.org/drawingml/2006/table">
            <a:tbl>
              <a:tblPr/>
              <a:tblGrid>
                <a:gridCol w="4057650"/>
                <a:gridCol w="3714750"/>
              </a:tblGrid>
              <a:tr h="990600">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vantGarde" pitchFamily="34" charset="0"/>
                      </a:endParaRPr>
                    </a:p>
                  </a:txBody>
                  <a:tcPr horzOverflow="overflow">
                    <a:lnL cap="flat">
                      <a:noFill/>
                    </a:lnL>
                    <a:lnR>
                      <a:noFill/>
                    </a:lnR>
                    <a:lnT cap="flat">
                      <a:noFill/>
                    </a:lnT>
                    <a:lnB cap="flat">
                      <a:noFill/>
                    </a:lnB>
                    <a:lnTlToBr>
                      <a:noFill/>
                    </a:lnTlToBr>
                    <a:lnBlToTr>
                      <a:noFill/>
                    </a:lnBlToTr>
                    <a:noFill/>
                  </a:tcPr>
                </a:tc>
                <a:tc>
                  <a:txBody>
                    <a:bodyPr/>
                    <a:lstStyle/>
                    <a:p>
                      <a:pPr marL="228600" marR="0" lvl="0" indent="-228600" algn="l" defTabSz="914400" rtl="0" eaLnBrk="1" fontAlgn="base" latinLnBrk="0" hangingPunct="1">
                        <a:lnSpc>
                          <a:spcPct val="9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vantGarde" pitchFamily="34" charset="0"/>
                      </a:endParaRPr>
                    </a:p>
                  </a:txBody>
                  <a:tcPr horzOverflow="overflow">
                    <a:lnL>
                      <a:noFill/>
                    </a:lnL>
                    <a:lnR cap="flat">
                      <a:noFill/>
                    </a:lnR>
                    <a:lnT cap="flat">
                      <a:noFill/>
                    </a:lnT>
                    <a:lnB cap="flat">
                      <a:noFill/>
                    </a:lnB>
                    <a:lnTlToBr>
                      <a:noFill/>
                    </a:lnTlToBr>
                    <a:lnBlToTr>
                      <a:noFill/>
                    </a:lnBlToTr>
                    <a:noFill/>
                  </a:tcPr>
                </a:tc>
              </a:tr>
            </a:tbl>
          </a:graphicData>
        </a:graphic>
      </p:graphicFrame>
      <p:sp>
        <p:nvSpPr>
          <p:cNvPr id="4098" name="Slide Number Placeholder 3"/>
          <p:cNvSpPr>
            <a:spLocks noGrp="1"/>
          </p:cNvSpPr>
          <p:nvPr>
            <p:ph type="sldNum" sz="quarter" idx="11"/>
          </p:nvPr>
        </p:nvSpPr>
        <p:spPr>
          <a:noFill/>
        </p:spPr>
        <p:txBody>
          <a:bodyPr/>
          <a:lstStyle/>
          <a:p>
            <a:pPr>
              <a:defRPr/>
            </a:pPr>
            <a:fld id="{54AD117B-199A-4E6B-97C1-9D99B10D28EB}" type="slidenum">
              <a:rPr lang="en-US" smtClean="0"/>
              <a:pPr>
                <a:defRPr/>
              </a:pPr>
              <a:t>3</a:t>
            </a:fld>
            <a:endParaRPr lang="en-US" smtClean="0"/>
          </a:p>
        </p:txBody>
      </p:sp>
      <p:sp>
        <p:nvSpPr>
          <p:cNvPr id="10246" name="Rectangle 11"/>
          <p:cNvSpPr>
            <a:spLocks noChangeArrowheads="1"/>
          </p:cNvSpPr>
          <p:nvPr/>
        </p:nvSpPr>
        <p:spPr bwMode="auto">
          <a:xfrm>
            <a:off x="152400" y="1150938"/>
            <a:ext cx="8763000" cy="3354387"/>
          </a:xfrm>
          <a:prstGeom prst="rect">
            <a:avLst/>
          </a:prstGeom>
          <a:noFill/>
          <a:ln w="25400">
            <a:noFill/>
            <a:miter lim="800000"/>
            <a:headEnd/>
            <a:tailEnd type="none" w="lg" len="lg"/>
          </a:ln>
        </p:spPr>
        <p:txBody>
          <a:bodyPr>
            <a:spAutoFit/>
          </a:bodyPr>
          <a:lstStyle/>
          <a:p>
            <a:pPr>
              <a:defRPr/>
            </a:pPr>
            <a:r>
              <a:rPr lang="en-US" sz="2400" b="1" dirty="0">
                <a:latin typeface="Arial" charset="0"/>
                <a:cs typeface="+mn-cs"/>
              </a:rPr>
              <a:t>  </a:t>
            </a:r>
          </a:p>
          <a:p>
            <a:pPr>
              <a:buFont typeface="Arial" pitchFamily="34" charset="0"/>
              <a:buChar char="•"/>
              <a:defRPr/>
            </a:pPr>
            <a:endParaRPr lang="en-US" sz="2400" b="1" dirty="0">
              <a:latin typeface="Arial" charset="0"/>
              <a:cs typeface="+mn-cs"/>
            </a:endParaRPr>
          </a:p>
          <a:p>
            <a:pPr>
              <a:buFont typeface="Arial" pitchFamily="34" charset="0"/>
              <a:buChar char="•"/>
              <a:defRPr/>
            </a:pPr>
            <a:r>
              <a:rPr lang="en-US" sz="2400" dirty="0">
                <a:latin typeface="Arial" charset="0"/>
                <a:cs typeface="+mn-cs"/>
              </a:rPr>
              <a:t>  Disability Benefits/General Information:  1-800-827-1000</a:t>
            </a:r>
          </a:p>
          <a:p>
            <a:pPr>
              <a:buFont typeface="Arial" pitchFamily="34" charset="0"/>
              <a:buChar char="•"/>
              <a:defRPr/>
            </a:pPr>
            <a:r>
              <a:rPr lang="en-US" sz="2400" dirty="0">
                <a:latin typeface="Arial" charset="0"/>
                <a:cs typeface="+mn-cs"/>
              </a:rPr>
              <a:t>  Insurance:  1-800-669-8477</a:t>
            </a:r>
          </a:p>
          <a:p>
            <a:pPr>
              <a:buFont typeface="Arial" pitchFamily="34" charset="0"/>
              <a:buChar char="•"/>
              <a:defRPr/>
            </a:pPr>
            <a:r>
              <a:rPr lang="en-US" sz="2400" dirty="0">
                <a:latin typeface="Arial" charset="0"/>
                <a:cs typeface="+mn-cs"/>
              </a:rPr>
              <a:t>  Education:  1-888-442-4551	</a:t>
            </a:r>
          </a:p>
          <a:p>
            <a:pPr>
              <a:buFont typeface="Arial" pitchFamily="34" charset="0"/>
              <a:buChar char="•"/>
              <a:defRPr/>
            </a:pPr>
            <a:r>
              <a:rPr lang="en-US" sz="2400" dirty="0">
                <a:latin typeface="Arial" charset="0"/>
                <a:cs typeface="+mn-cs"/>
              </a:rPr>
              <a:t>  Health Benefits: 1-877-222-8387</a:t>
            </a:r>
          </a:p>
          <a:p>
            <a:pPr>
              <a:buFont typeface="Arial" pitchFamily="34" charset="0"/>
              <a:buChar char="•"/>
              <a:defRPr/>
            </a:pPr>
            <a:r>
              <a:rPr lang="en-US" sz="2400" dirty="0">
                <a:latin typeface="Arial" charset="0"/>
                <a:cs typeface="+mn-cs"/>
              </a:rPr>
              <a:t>  Veterans Crisis Line: 1-800-273-8255 Press 1</a:t>
            </a:r>
          </a:p>
          <a:p>
            <a:pPr>
              <a:buFont typeface="Arial" pitchFamily="34" charset="0"/>
              <a:buChar char="•"/>
              <a:defRPr/>
            </a:pPr>
            <a:r>
              <a:rPr lang="en-US" sz="2400" dirty="0">
                <a:latin typeface="Arial" charset="0"/>
                <a:cs typeface="+mn-cs"/>
              </a:rPr>
              <a:t>  Homeless Veterans Call Center:  1-877-424-3838</a:t>
            </a:r>
          </a:p>
          <a:p>
            <a:pPr marL="236538" indent="-236538">
              <a:defRPr/>
            </a:pPr>
            <a:endParaRPr lang="en-US" sz="2000" dirty="0">
              <a:latin typeface="AvantGarde"/>
              <a:cs typeface="+mn-cs"/>
            </a:endParaRPr>
          </a:p>
        </p:txBody>
      </p:sp>
      <p:sp>
        <p:nvSpPr>
          <p:cNvPr id="1238028" name="Rectangle 12"/>
          <p:cNvSpPr>
            <a:spLocks noChangeArrowheads="1"/>
          </p:cNvSpPr>
          <p:nvPr/>
        </p:nvSpPr>
        <p:spPr bwMode="auto">
          <a:xfrm>
            <a:off x="2819400" y="188913"/>
            <a:ext cx="6040438" cy="977900"/>
          </a:xfrm>
          <a:prstGeom prst="rect">
            <a:avLst/>
          </a:prstGeom>
          <a:noFill/>
          <a:ln w="9525">
            <a:noFill/>
            <a:miter lim="800000"/>
            <a:headEnd/>
            <a:tailEnd/>
          </a:ln>
          <a:effectLst/>
        </p:spPr>
        <p:txBody>
          <a:bodyPr lIns="91427" tIns="45713" rIns="91427" bIns="45713" anchor="ctr"/>
          <a:lstStyle/>
          <a:p>
            <a:pPr algn="r">
              <a:defRPr/>
            </a:pPr>
            <a:r>
              <a:rPr lang="en-US" sz="3000" b="1" i="1" dirty="0">
                <a:effectLst>
                  <a:outerShdw blurRad="38100" dist="38100" dir="2700000" algn="tl">
                    <a:srgbClr val="C0C0C0"/>
                  </a:outerShdw>
                </a:effectLst>
                <a:latin typeface="AvantGarde" pitchFamily="34" charset="0"/>
                <a:cs typeface="+mn-cs"/>
              </a:rPr>
              <a:t>Critical VA Contact Information</a:t>
            </a:r>
            <a:endParaRPr lang="en-US" sz="3000" b="1" i="1" dirty="0">
              <a:effectLst>
                <a:outerShdw blurRad="38100" dist="38100" dir="2700000" algn="tl">
                  <a:srgbClr val="C0C0C0"/>
                </a:outerShdw>
              </a:effectLst>
              <a:latin typeface="AvantGarde" pitchFamily="34" charset="0"/>
              <a:cs typeface="+mn-cs"/>
            </a:endParaRPr>
          </a:p>
        </p:txBody>
      </p:sp>
      <p:pic>
        <p:nvPicPr>
          <p:cNvPr id="9224" name="Picture 5"/>
          <p:cNvPicPr>
            <a:picLocks noChangeAspect="1" noChangeArrowheads="1"/>
          </p:cNvPicPr>
          <p:nvPr/>
        </p:nvPicPr>
        <p:blipFill>
          <a:blip r:embed="rId3" cstate="print"/>
          <a:srcRect/>
          <a:stretch>
            <a:fillRect/>
          </a:stretch>
        </p:blipFill>
        <p:spPr bwMode="auto">
          <a:xfrm>
            <a:off x="446088" y="269875"/>
            <a:ext cx="838200" cy="838200"/>
          </a:xfrm>
          <a:prstGeom prst="rect">
            <a:avLst/>
          </a:prstGeom>
          <a:noFill/>
          <a:ln w="9525" algn="ctr">
            <a:noFill/>
            <a:miter lim="800000"/>
            <a:headEnd/>
            <a:tailEnd/>
          </a:ln>
        </p:spPr>
      </p:pic>
      <p:sp>
        <p:nvSpPr>
          <p:cNvPr id="9225" name="Rectangle 7"/>
          <p:cNvSpPr>
            <a:spLocks noChangeArrowheads="1"/>
          </p:cNvSpPr>
          <p:nvPr/>
        </p:nvSpPr>
        <p:spPr bwMode="auto">
          <a:xfrm>
            <a:off x="457200" y="1246188"/>
            <a:ext cx="8008938" cy="830262"/>
          </a:xfrm>
          <a:prstGeom prst="rect">
            <a:avLst/>
          </a:prstGeom>
          <a:noFill/>
          <a:ln w="9525">
            <a:noFill/>
            <a:miter lim="800000"/>
            <a:headEnd/>
            <a:tailEnd/>
          </a:ln>
        </p:spPr>
        <p:txBody>
          <a:bodyPr>
            <a:spAutoFit/>
          </a:bodyPr>
          <a:lstStyle/>
          <a:p>
            <a:endParaRPr lang="en-US" sz="2400"/>
          </a:p>
          <a:p>
            <a:endParaRPr lang="en-US" sz="2400"/>
          </a:p>
        </p:txBody>
      </p:sp>
      <p:sp>
        <p:nvSpPr>
          <p:cNvPr id="9226" name="Rectangle 8"/>
          <p:cNvSpPr>
            <a:spLocks noChangeArrowheads="1"/>
          </p:cNvSpPr>
          <p:nvPr/>
        </p:nvSpPr>
        <p:spPr bwMode="auto">
          <a:xfrm>
            <a:off x="204788" y="4587875"/>
            <a:ext cx="8939212" cy="676275"/>
          </a:xfrm>
          <a:prstGeom prst="rect">
            <a:avLst/>
          </a:prstGeom>
          <a:noFill/>
          <a:ln w="9525">
            <a:noFill/>
            <a:miter lim="800000"/>
            <a:headEnd/>
            <a:tailEnd/>
          </a:ln>
        </p:spPr>
        <p:txBody>
          <a:bodyPr>
            <a:spAutoFit/>
          </a:bodyPr>
          <a:lstStyle/>
          <a:p>
            <a:endParaRPr lang="en-US"/>
          </a:p>
          <a:p>
            <a:r>
              <a:rPr lang="en-US" sz="2000" b="1">
                <a:solidFill>
                  <a:srgbClr val="7030A0"/>
                </a:solidFill>
                <a:hlinkClick r:id="rId4"/>
              </a:rPr>
              <a:t>http://www1.va.gov/opa/publications/benefits_book/federal_benefits.pdf</a:t>
            </a:r>
            <a:r>
              <a:rPr lang="en-US" sz="2000" b="1">
                <a:solidFill>
                  <a:srgbClr val="7030A0"/>
                </a:solidFill>
              </a:rPr>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3"/>
          <p:cNvSpPr>
            <a:spLocks noGrp="1"/>
          </p:cNvSpPr>
          <p:nvPr>
            <p:ph type="title"/>
          </p:nvPr>
        </p:nvSpPr>
        <p:spPr>
          <a:xfrm>
            <a:off x="3505200" y="0"/>
            <a:ext cx="5638800" cy="914400"/>
          </a:xfrm>
        </p:spPr>
        <p:txBody>
          <a:bodyPr/>
          <a:lstStyle/>
          <a:p>
            <a:pPr algn="r"/>
            <a:r>
              <a:rPr lang="en-US" b="1" smtClean="0"/>
              <a:t>     </a:t>
            </a:r>
            <a:r>
              <a:rPr lang="en-US" sz="3200" b="1" smtClean="0">
                <a:solidFill>
                  <a:schemeClr val="bg1"/>
                </a:solidFill>
              </a:rPr>
              <a:t>A Continuum of Care</a:t>
            </a:r>
          </a:p>
        </p:txBody>
      </p:sp>
      <p:sp>
        <p:nvSpPr>
          <p:cNvPr id="11267" name="Content Placeholder 3"/>
          <p:cNvSpPr>
            <a:spLocks noGrp="1"/>
          </p:cNvSpPr>
          <p:nvPr>
            <p:ph sz="quarter" idx="1"/>
          </p:nvPr>
        </p:nvSpPr>
        <p:spPr>
          <a:xfrm>
            <a:off x="381000" y="1066800"/>
            <a:ext cx="8534400" cy="5410200"/>
          </a:xfrm>
        </p:spPr>
        <p:txBody>
          <a:bodyPr>
            <a:normAutofit lnSpcReduction="10000"/>
          </a:bodyPr>
          <a:lstStyle/>
          <a:p>
            <a:pPr marL="274320" indent="-274320" algn="ctr" fontAlgn="auto">
              <a:spcBef>
                <a:spcPts val="580"/>
              </a:spcBef>
              <a:spcAft>
                <a:spcPts val="0"/>
              </a:spcAft>
              <a:buFont typeface="Wingdings" pitchFamily="2" charset="2"/>
              <a:buNone/>
              <a:defRPr/>
            </a:pPr>
            <a:r>
              <a:rPr lang="en-US" b="1" u="sng" dirty="0" smtClean="0"/>
              <a:t>VA’s Homeless Program Alphabet Soup</a:t>
            </a:r>
          </a:p>
          <a:p>
            <a:pPr marL="274320" indent="-274320" algn="ctr" fontAlgn="auto">
              <a:spcBef>
                <a:spcPts val="580"/>
              </a:spcBef>
              <a:spcAft>
                <a:spcPts val="0"/>
              </a:spcAft>
              <a:buFont typeface="Wingdings" pitchFamily="2" charset="2"/>
              <a:buNone/>
              <a:defRPr/>
            </a:pPr>
            <a:endParaRPr lang="en-US" sz="2000" u="sng" dirty="0" smtClean="0"/>
          </a:p>
          <a:p>
            <a:pPr marL="274320" indent="-274320" fontAlgn="auto">
              <a:spcBef>
                <a:spcPts val="580"/>
              </a:spcBef>
              <a:spcAft>
                <a:spcPts val="0"/>
              </a:spcAft>
              <a:buFont typeface="Wingdings 2"/>
              <a:buChar char=""/>
              <a:defRPr/>
            </a:pPr>
            <a:r>
              <a:rPr lang="en-US" sz="2400" dirty="0" smtClean="0"/>
              <a:t>Outreach (CRRC, HCHV)</a:t>
            </a:r>
          </a:p>
          <a:p>
            <a:pPr marL="274320" indent="-274320" fontAlgn="auto">
              <a:spcBef>
                <a:spcPts val="580"/>
              </a:spcBef>
              <a:spcAft>
                <a:spcPts val="0"/>
              </a:spcAft>
              <a:buFont typeface="Wingdings 2"/>
              <a:buChar char=""/>
              <a:defRPr/>
            </a:pPr>
            <a:r>
              <a:rPr lang="en-US" sz="2400" dirty="0" smtClean="0"/>
              <a:t>National Call Center for Homeless Veterans (NCCHV)</a:t>
            </a:r>
          </a:p>
          <a:p>
            <a:pPr marL="274320" indent="-274320" fontAlgn="auto">
              <a:spcBef>
                <a:spcPts val="580"/>
              </a:spcBef>
              <a:spcAft>
                <a:spcPts val="0"/>
              </a:spcAft>
              <a:buFont typeface="Wingdings 2"/>
              <a:buChar char=""/>
              <a:defRPr/>
            </a:pPr>
            <a:r>
              <a:rPr lang="en-US" sz="2400" dirty="0" smtClean="0"/>
              <a:t>Prevention (HCRV,  VJO, SSVF, VHPD)</a:t>
            </a:r>
          </a:p>
          <a:p>
            <a:pPr marL="274320" indent="-274320" fontAlgn="auto">
              <a:spcBef>
                <a:spcPts val="580"/>
              </a:spcBef>
              <a:spcAft>
                <a:spcPts val="0"/>
              </a:spcAft>
              <a:buFont typeface="Wingdings 2"/>
              <a:buChar char=""/>
              <a:defRPr/>
            </a:pPr>
            <a:r>
              <a:rPr lang="en-US" sz="2400" dirty="0" smtClean="0"/>
              <a:t>Transitional Housing (GPD, CWT/TR, HCHV Contract Housing)</a:t>
            </a:r>
          </a:p>
          <a:p>
            <a:pPr marL="274320" indent="-274320" fontAlgn="auto">
              <a:spcBef>
                <a:spcPts val="580"/>
              </a:spcBef>
              <a:spcAft>
                <a:spcPts val="0"/>
              </a:spcAft>
              <a:buFont typeface="Wingdings 2"/>
              <a:buChar char=""/>
              <a:defRPr/>
            </a:pPr>
            <a:r>
              <a:rPr lang="en-US" sz="2400" dirty="0" smtClean="0"/>
              <a:t>Residential Rehab (RRTP)</a:t>
            </a:r>
          </a:p>
          <a:p>
            <a:pPr marL="274320" indent="-274320" fontAlgn="auto">
              <a:spcBef>
                <a:spcPts val="580"/>
              </a:spcBef>
              <a:spcAft>
                <a:spcPts val="0"/>
              </a:spcAft>
              <a:buFont typeface="Wingdings 2"/>
              <a:buChar char=""/>
              <a:defRPr/>
            </a:pPr>
            <a:r>
              <a:rPr lang="en-US" sz="2400" dirty="0" smtClean="0"/>
              <a:t>Voc Rehab (CWT, DVRE)</a:t>
            </a:r>
          </a:p>
          <a:p>
            <a:pPr marL="274320" indent="-274320" fontAlgn="auto">
              <a:spcBef>
                <a:spcPts val="580"/>
              </a:spcBef>
              <a:spcAft>
                <a:spcPts val="0"/>
              </a:spcAft>
              <a:buFont typeface="Wingdings 2"/>
              <a:buChar char=""/>
              <a:defRPr/>
            </a:pPr>
            <a:r>
              <a:rPr lang="en-US" sz="2400" dirty="0" smtClean="0"/>
              <a:t>Permanent Housing (HUD-VASH)</a:t>
            </a:r>
          </a:p>
          <a:p>
            <a:pPr marL="274320" indent="-274320" fontAlgn="auto">
              <a:spcBef>
                <a:spcPts val="580"/>
              </a:spcBef>
              <a:spcAft>
                <a:spcPts val="0"/>
              </a:spcAft>
              <a:buFont typeface="Wingdings 2"/>
              <a:buChar char=""/>
              <a:defRPr/>
            </a:pPr>
            <a:endParaRPr lang="en-US" sz="2400" dirty="0" smtClean="0"/>
          </a:p>
          <a:p>
            <a:pPr marL="274320" indent="-274320" fontAlgn="auto">
              <a:spcBef>
                <a:spcPts val="580"/>
              </a:spcBef>
              <a:spcAft>
                <a:spcPts val="0"/>
              </a:spcAft>
              <a:buFontTx/>
              <a:buNone/>
              <a:defRPr/>
            </a:pPr>
            <a:r>
              <a:rPr lang="en-US" sz="2400" dirty="0" smtClean="0"/>
              <a:t>Services must address needs identified by those we serve. </a:t>
            </a:r>
          </a:p>
          <a:p>
            <a:pPr marL="274320" indent="-274320" fontAlgn="auto">
              <a:spcBef>
                <a:spcPts val="580"/>
              </a:spcBef>
              <a:spcAft>
                <a:spcPts val="0"/>
              </a:spcAft>
              <a:buFontTx/>
              <a:buNone/>
              <a:defRPr/>
            </a:pPr>
            <a:r>
              <a:rPr lang="en-US" sz="2400" dirty="0" smtClean="0"/>
              <a:t>Program info: </a:t>
            </a:r>
            <a:r>
              <a:rPr lang="en-US" sz="3600" b="1" dirty="0" smtClean="0">
                <a:solidFill>
                  <a:srgbClr val="00246C"/>
                </a:solidFill>
                <a:hlinkClick r:id="rId2"/>
              </a:rPr>
              <a:t>www.va.gov/homeless</a:t>
            </a:r>
            <a:r>
              <a:rPr lang="en-US" sz="3600" b="1" dirty="0" smtClean="0">
                <a:solidFill>
                  <a:srgbClr val="00246C"/>
                </a:solidFill>
              </a:rPr>
              <a:t> </a:t>
            </a:r>
          </a:p>
        </p:txBody>
      </p:sp>
      <p:pic>
        <p:nvPicPr>
          <p:cNvPr id="10244" name="Picture 5"/>
          <p:cNvPicPr>
            <a:picLocks noChangeAspect="1" noChangeArrowheads="1"/>
          </p:cNvPicPr>
          <p:nvPr/>
        </p:nvPicPr>
        <p:blipFill>
          <a:blip r:embed="rId3"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p:cNvSpPr>
            <a:spLocks noGrp="1"/>
          </p:cNvSpPr>
          <p:nvPr>
            <p:ph sz="quarter" idx="4294967295"/>
          </p:nvPr>
        </p:nvSpPr>
        <p:spPr>
          <a:xfrm>
            <a:off x="0" y="1703388"/>
            <a:ext cx="8610600" cy="4114800"/>
          </a:xfrm>
        </p:spPr>
        <p:txBody>
          <a:bodyPr>
            <a:normAutofit lnSpcReduction="10000"/>
          </a:bodyPr>
          <a:lstStyle/>
          <a:p>
            <a:pPr marL="274320" indent="-274320" fontAlgn="auto">
              <a:spcBef>
                <a:spcPts val="580"/>
              </a:spcBef>
              <a:spcAft>
                <a:spcPts val="0"/>
              </a:spcAft>
              <a:buFont typeface="Wingdings 2"/>
              <a:buChar char=""/>
              <a:defRPr/>
            </a:pPr>
            <a:r>
              <a:rPr lang="en-US" sz="2800" smtClean="0"/>
              <a:t>Homeless Veteran in need of help now? </a:t>
            </a:r>
            <a:br>
              <a:rPr lang="en-US" sz="2800" smtClean="0"/>
            </a:br>
            <a:r>
              <a:rPr lang="en-US" sz="2800" smtClean="0"/>
              <a:t>Call 1-877-4AID VET (</a:t>
            </a:r>
            <a:r>
              <a:rPr lang="en-US" sz="2800" b="1" smtClean="0"/>
              <a:t>1-877-424-3838</a:t>
            </a:r>
            <a:r>
              <a:rPr lang="en-US" sz="2800" smtClean="0"/>
              <a:t>)</a:t>
            </a:r>
          </a:p>
          <a:p>
            <a:pPr marL="274320" indent="-274320" fontAlgn="auto">
              <a:spcBef>
                <a:spcPts val="580"/>
              </a:spcBef>
              <a:spcAft>
                <a:spcPts val="0"/>
              </a:spcAft>
              <a:buFont typeface="Wingdings 2"/>
              <a:buChar char=""/>
              <a:defRPr/>
            </a:pPr>
            <a:endParaRPr lang="en-US" sz="2200" smtClean="0"/>
          </a:p>
          <a:p>
            <a:pPr marL="274320" indent="-274320" fontAlgn="auto">
              <a:spcBef>
                <a:spcPts val="580"/>
              </a:spcBef>
              <a:spcAft>
                <a:spcPts val="0"/>
              </a:spcAft>
              <a:buFont typeface="Wingdings 2"/>
              <a:buChar char=""/>
              <a:defRPr/>
            </a:pPr>
            <a:r>
              <a:rPr lang="en-US" sz="2400" smtClean="0"/>
              <a:t>The Department of Veterans Affairs (VA) has founded a National Call Center for Homeless Veterans hotline to ensure that homeless Veterans or Veterans at-risk for homelessness have free, 24/7 access to trained counselors. The hotline is intended to assist homeless Veterans and their families, VA Medical Centers, federal, state and local partners, community agencies, service providers and others in the community. </a:t>
            </a:r>
          </a:p>
          <a:p>
            <a:pPr marL="274320" indent="-274320" fontAlgn="auto">
              <a:spcBef>
                <a:spcPts val="580"/>
              </a:spcBef>
              <a:spcAft>
                <a:spcPts val="0"/>
              </a:spcAft>
              <a:buFont typeface="Wingdings 2"/>
              <a:buChar char=""/>
              <a:defRPr/>
            </a:pPr>
            <a:endParaRPr lang="en-US" sz="2200" smtClean="0"/>
          </a:p>
        </p:txBody>
      </p:sp>
      <p:sp>
        <p:nvSpPr>
          <p:cNvPr id="1077252" name="Rectangle 4"/>
          <p:cNvSpPr>
            <a:spLocks noChangeArrowheads="1"/>
          </p:cNvSpPr>
          <p:nvPr/>
        </p:nvSpPr>
        <p:spPr bwMode="auto">
          <a:xfrm>
            <a:off x="3657600" y="0"/>
            <a:ext cx="5486400" cy="990600"/>
          </a:xfrm>
          <a:prstGeom prst="rect">
            <a:avLst/>
          </a:prstGeom>
          <a:noFill/>
          <a:ln w="9525">
            <a:noFill/>
            <a:miter lim="800000"/>
            <a:headEnd/>
            <a:tailEnd/>
          </a:ln>
          <a:effectLst/>
        </p:spPr>
        <p:txBody>
          <a:bodyPr lIns="91427" tIns="45713" rIns="91427" bIns="45713" anchor="ctr"/>
          <a:lstStyle/>
          <a:p>
            <a:pPr algn="r">
              <a:defRPr/>
            </a:pPr>
            <a:r>
              <a:rPr lang="en-US" sz="4000" b="1" i="1" dirty="0">
                <a:effectLst>
                  <a:outerShdw blurRad="38100" dist="38100" dir="2700000" algn="tl">
                    <a:srgbClr val="C0C0C0"/>
                  </a:outerShdw>
                </a:effectLst>
                <a:latin typeface="AvantGarde" pitchFamily="34" charset="0"/>
                <a:cs typeface="+mn-cs"/>
              </a:rPr>
              <a:t>National Call Center</a:t>
            </a:r>
          </a:p>
        </p:txBody>
      </p:sp>
      <p:pic>
        <p:nvPicPr>
          <p:cNvPr id="11268" name="Picture 4" descr="callcenter.png"/>
          <p:cNvPicPr>
            <a:picLocks noChangeAspect="1"/>
          </p:cNvPicPr>
          <p:nvPr/>
        </p:nvPicPr>
        <p:blipFill>
          <a:blip r:embed="rId2" cstate="print"/>
          <a:srcRect/>
          <a:stretch>
            <a:fillRect/>
          </a:stretch>
        </p:blipFill>
        <p:spPr bwMode="auto">
          <a:xfrm>
            <a:off x="6121400" y="1295400"/>
            <a:ext cx="2413000" cy="1549400"/>
          </a:xfrm>
          <a:prstGeom prst="rect">
            <a:avLst/>
          </a:prstGeom>
          <a:noFill/>
          <a:ln w="9525">
            <a:noFill/>
            <a:miter lim="800000"/>
            <a:headEnd/>
            <a:tailEnd/>
          </a:ln>
        </p:spPr>
      </p:pic>
      <p:pic>
        <p:nvPicPr>
          <p:cNvPr id="11269" name="Picture 5"/>
          <p:cNvPicPr>
            <a:picLocks noChangeAspect="1" noChangeArrowheads="1"/>
          </p:cNvPicPr>
          <p:nvPr/>
        </p:nvPicPr>
        <p:blipFill>
          <a:blip r:embed="rId3"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p:cNvSpPr txBox="1">
            <a:spLocks noGrp="1"/>
          </p:cNvSpPr>
          <p:nvPr/>
        </p:nvSpPr>
        <p:spPr bwMode="auto">
          <a:xfrm>
            <a:off x="6553200" y="6248400"/>
            <a:ext cx="1905000" cy="457200"/>
          </a:xfrm>
          <a:prstGeom prst="rect">
            <a:avLst/>
          </a:prstGeom>
          <a:noFill/>
          <a:ln w="9525">
            <a:noFill/>
            <a:miter lim="800000"/>
            <a:headEnd/>
            <a:tailEnd/>
          </a:ln>
        </p:spPr>
        <p:txBody>
          <a:bodyPr lIns="91427" tIns="45713" rIns="91427" bIns="45713"/>
          <a:lstStyle/>
          <a:p>
            <a:pPr algn="r"/>
            <a:fld id="{70B7D019-FF6F-42B7-983E-7C0D6D010264}" type="slidenum">
              <a:rPr lang="en-US" sz="1400"/>
              <a:pPr algn="r"/>
              <a:t>6</a:t>
            </a:fld>
            <a:endParaRPr lang="en-US" sz="1400"/>
          </a:p>
        </p:txBody>
      </p:sp>
      <p:sp>
        <p:nvSpPr>
          <p:cNvPr id="12291" name="Title 1"/>
          <p:cNvSpPr>
            <a:spLocks noGrp="1"/>
          </p:cNvSpPr>
          <p:nvPr>
            <p:ph type="title" idx="4294967295"/>
          </p:nvPr>
        </p:nvSpPr>
        <p:spPr>
          <a:xfrm>
            <a:off x="1752600" y="0"/>
            <a:ext cx="7391400" cy="990600"/>
          </a:xfrm>
        </p:spPr>
        <p:txBody>
          <a:bodyPr/>
          <a:lstStyle/>
          <a:p>
            <a:pPr algn="r"/>
            <a:r>
              <a:rPr lang="en-US" sz="3000" b="1" smtClean="0">
                <a:solidFill>
                  <a:schemeClr val="bg1"/>
                </a:solidFill>
                <a:cs typeface="Arial" pitchFamily="34" charset="0"/>
              </a:rPr>
              <a:t>HUD-VASH</a:t>
            </a:r>
          </a:p>
        </p:txBody>
      </p:sp>
      <p:sp>
        <p:nvSpPr>
          <p:cNvPr id="12292" name="Rectangle 7"/>
          <p:cNvSpPr>
            <a:spLocks noGrp="1" noChangeArrowheads="1"/>
          </p:cNvSpPr>
          <p:nvPr>
            <p:ph type="body" idx="4294967295"/>
          </p:nvPr>
        </p:nvSpPr>
        <p:spPr>
          <a:xfrm>
            <a:off x="304800" y="1219200"/>
            <a:ext cx="8839200" cy="4953000"/>
          </a:xfrm>
        </p:spPr>
        <p:txBody>
          <a:bodyPr/>
          <a:lstStyle/>
          <a:p>
            <a:pPr marL="122238" lvl="1" indent="-7938">
              <a:buFontTx/>
              <a:buNone/>
            </a:pPr>
            <a:endParaRPr lang="en-US" sz="2800" smtClean="0"/>
          </a:p>
          <a:p>
            <a:pPr marL="465138" lvl="2"/>
            <a:r>
              <a:rPr lang="en-US" sz="2800" smtClean="0"/>
              <a:t>Largest permanent, supportive housing initiative for homeless Veterans.</a:t>
            </a:r>
          </a:p>
          <a:p>
            <a:pPr marL="465138" lvl="2"/>
            <a:r>
              <a:rPr lang="en-US" sz="2800" smtClean="0"/>
              <a:t>Provides housing (HUD) with case management (VA) and supportive services (VA)</a:t>
            </a:r>
          </a:p>
          <a:p>
            <a:pPr marL="465138" lvl="2"/>
            <a:r>
              <a:rPr lang="en-US" sz="2800" smtClean="0"/>
              <a:t>30,000 Housing Choice vouchers offered through 301 participating PHAs</a:t>
            </a:r>
          </a:p>
          <a:p>
            <a:pPr marL="465138" lvl="2"/>
            <a:r>
              <a:rPr lang="en-US" sz="2800" smtClean="0"/>
              <a:t>Almost 1,000 case managers provide case management and supportive services designed to promote housing stability and recovery.</a:t>
            </a:r>
          </a:p>
          <a:p>
            <a:pPr marL="865188" lvl="3" indent="-285750">
              <a:lnSpc>
                <a:spcPct val="80000"/>
              </a:lnSpc>
              <a:spcAft>
                <a:spcPts val="1200"/>
              </a:spcAft>
              <a:buFontTx/>
              <a:buNone/>
            </a:pPr>
            <a:endParaRPr lang="en-US" sz="2200" smtClean="0">
              <a:cs typeface="Arial" pitchFamily="34" charset="0"/>
            </a:endParaRPr>
          </a:p>
          <a:p>
            <a:pPr marL="122238" lvl="1" indent="-7938">
              <a:lnSpc>
                <a:spcPct val="80000"/>
              </a:lnSpc>
              <a:spcAft>
                <a:spcPts val="600"/>
              </a:spcAft>
              <a:buFont typeface="Verdana" pitchFamily="34" charset="0"/>
              <a:buNone/>
            </a:pPr>
            <a:endParaRPr lang="en-US" sz="2200" smtClean="0">
              <a:cs typeface="Arial" pitchFamily="34" charset="0"/>
            </a:endParaRPr>
          </a:p>
          <a:p>
            <a:pPr marL="122238" lvl="1" indent="-7938">
              <a:lnSpc>
                <a:spcPct val="80000"/>
              </a:lnSpc>
              <a:spcAft>
                <a:spcPts val="600"/>
              </a:spcAft>
              <a:buFont typeface="Verdana" pitchFamily="34" charset="0"/>
              <a:buNone/>
            </a:pPr>
            <a:endParaRPr lang="en-US" sz="2200" smtClean="0">
              <a:cs typeface="Arial" pitchFamily="34" charset="0"/>
            </a:endParaRPr>
          </a:p>
          <a:p>
            <a:pPr marL="122238" lvl="1" indent="-7938">
              <a:lnSpc>
                <a:spcPct val="80000"/>
              </a:lnSpc>
              <a:spcAft>
                <a:spcPts val="600"/>
              </a:spcAft>
              <a:buFont typeface="Verdana" pitchFamily="34" charset="0"/>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FF0000"/>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122238" lvl="1" indent="-7938">
              <a:lnSpc>
                <a:spcPct val="80000"/>
              </a:lnSpc>
              <a:spcAft>
                <a:spcPts val="600"/>
              </a:spcAft>
              <a:buFont typeface="Wingdings" pitchFamily="2" charset="2"/>
              <a:buNone/>
            </a:pPr>
            <a:endParaRPr lang="en-US" sz="2200" smtClean="0">
              <a:solidFill>
                <a:srgbClr val="000099"/>
              </a:solidFill>
              <a:cs typeface="Arial" pitchFamily="34" charset="0"/>
            </a:endParaRPr>
          </a:p>
          <a:p>
            <a:pPr marL="865188" lvl="3" indent="-285750">
              <a:lnSpc>
                <a:spcPct val="80000"/>
              </a:lnSpc>
              <a:spcAft>
                <a:spcPts val="600"/>
              </a:spcAft>
              <a:buFont typeface="Wingdings 2" pitchFamily="18" charset="2"/>
              <a:buNone/>
            </a:pPr>
            <a:endParaRPr lang="en-US" sz="2200" b="1" smtClean="0">
              <a:solidFill>
                <a:schemeClr val="accent2"/>
              </a:solidFill>
            </a:endParaRPr>
          </a:p>
          <a:p>
            <a:pPr marL="0" indent="0">
              <a:lnSpc>
                <a:spcPct val="80000"/>
              </a:lnSpc>
              <a:buFontTx/>
              <a:buNone/>
            </a:pPr>
            <a:endParaRPr lang="en-US" sz="2200" smtClean="0">
              <a:solidFill>
                <a:schemeClr val="accent2"/>
              </a:solidFill>
            </a:endParaRPr>
          </a:p>
          <a:p>
            <a:pPr marL="865188" lvl="3" indent="-285750">
              <a:lnSpc>
                <a:spcPct val="80000"/>
              </a:lnSpc>
            </a:pPr>
            <a:endParaRPr lang="en-US" sz="2200" smtClean="0"/>
          </a:p>
          <a:p>
            <a:pPr marL="465138" lvl="2">
              <a:lnSpc>
                <a:spcPct val="80000"/>
              </a:lnSpc>
            </a:pPr>
            <a:endParaRPr lang="en-US" sz="2200" smtClean="0"/>
          </a:p>
          <a:p>
            <a:pPr marL="465138" lvl="2">
              <a:lnSpc>
                <a:spcPct val="80000"/>
              </a:lnSpc>
            </a:pPr>
            <a:endParaRPr lang="en-US" sz="2200" smtClean="0"/>
          </a:p>
        </p:txBody>
      </p:sp>
      <p:sp>
        <p:nvSpPr>
          <p:cNvPr id="22533" name="TextBox 4"/>
          <p:cNvSpPr txBox="1">
            <a:spLocks noChangeArrowheads="1"/>
          </p:cNvSpPr>
          <p:nvPr/>
        </p:nvSpPr>
        <p:spPr bwMode="auto">
          <a:xfrm>
            <a:off x="4572000" y="228600"/>
            <a:ext cx="4038600" cy="1323975"/>
          </a:xfrm>
          <a:prstGeom prst="rect">
            <a:avLst/>
          </a:prstGeom>
          <a:noFill/>
          <a:ln w="9525">
            <a:noFill/>
            <a:miter lim="800000"/>
            <a:headEnd/>
            <a:tailEnd/>
          </a:ln>
        </p:spPr>
        <p:txBody>
          <a:bodyPr>
            <a:spAutoFit/>
          </a:bodyPr>
          <a:lstStyle/>
          <a:p>
            <a:pPr algn="r">
              <a:defRPr/>
            </a:pPr>
            <a:r>
              <a:rPr lang="en-US" sz="2000" b="1" i="1" dirty="0">
                <a:effectLst>
                  <a:outerShdw blurRad="38100" dist="38100" dir="2700000" algn="tl">
                    <a:srgbClr val="000000">
                      <a:alpha val="43137"/>
                    </a:srgbClr>
                  </a:outerShdw>
                </a:effectLst>
                <a:latin typeface="Arial" charset="0"/>
                <a:cs typeface="+mn-cs"/>
              </a:rPr>
              <a:t>Department of Housing and Urban Development – VA Supportive Housing </a:t>
            </a:r>
          </a:p>
          <a:p>
            <a:pPr algn="r">
              <a:defRPr/>
            </a:pPr>
            <a:r>
              <a:rPr lang="en-US" sz="2000" b="1" i="1" dirty="0">
                <a:effectLst>
                  <a:outerShdw blurRad="38100" dist="38100" dir="2700000" algn="tl">
                    <a:srgbClr val="000000">
                      <a:alpha val="43137"/>
                    </a:srgbClr>
                  </a:outerShdw>
                </a:effectLst>
                <a:latin typeface="Arial" charset="0"/>
                <a:cs typeface="+mn-cs"/>
              </a:rPr>
              <a:t> (HUD-VASH)</a:t>
            </a:r>
          </a:p>
        </p:txBody>
      </p:sp>
      <p:pic>
        <p:nvPicPr>
          <p:cNvPr id="12294" name="Picture 5"/>
          <p:cNvPicPr>
            <a:picLocks noChangeAspect="1" noChangeArrowheads="1"/>
          </p:cNvPicPr>
          <p:nvPr/>
        </p:nvPicPr>
        <p:blipFill>
          <a:blip r:embed="rId2"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914400" y="274638"/>
            <a:ext cx="7772400" cy="944562"/>
          </a:xfrm>
        </p:spPr>
        <p:txBody>
          <a:bodyPr>
            <a:normAutofit/>
          </a:bodyPr>
          <a:lstStyle/>
          <a:p>
            <a:pPr algn="r" fontAlgn="auto">
              <a:spcAft>
                <a:spcPts val="0"/>
              </a:spcAft>
              <a:defRPr/>
            </a:pPr>
            <a:r>
              <a:rPr lang="en-US" b="1" i="1" dirty="0" smtClean="0">
                <a:solidFill>
                  <a:schemeClr val="tx1"/>
                </a:solidFill>
                <a:effectLst>
                  <a:outerShdw blurRad="38100" dist="38100" dir="2700000" algn="tl">
                    <a:srgbClr val="000000">
                      <a:alpha val="43137"/>
                    </a:srgbClr>
                  </a:outerShdw>
                </a:effectLst>
                <a:latin typeface="AvantGarde"/>
              </a:rPr>
              <a:t>HUD-VASH</a:t>
            </a:r>
          </a:p>
        </p:txBody>
      </p:sp>
      <p:sp>
        <p:nvSpPr>
          <p:cNvPr id="14339" name="Content Placeholder 2"/>
          <p:cNvSpPr>
            <a:spLocks noGrp="1"/>
          </p:cNvSpPr>
          <p:nvPr>
            <p:ph sz="quarter" idx="1"/>
          </p:nvPr>
        </p:nvSpPr>
        <p:spPr>
          <a:xfrm>
            <a:off x="914400" y="1752600"/>
            <a:ext cx="7772400" cy="4267200"/>
          </a:xfrm>
        </p:spPr>
        <p:txBody>
          <a:bodyPr>
            <a:normAutofit fontScale="92500" lnSpcReduction="20000"/>
          </a:bodyPr>
          <a:lstStyle/>
          <a:p>
            <a:pPr marL="274320" indent="-274320" fontAlgn="auto">
              <a:spcBef>
                <a:spcPts val="580"/>
              </a:spcBef>
              <a:spcAft>
                <a:spcPts val="0"/>
              </a:spcAft>
              <a:buFont typeface="Wingdings 2" pitchFamily="18" charset="2"/>
              <a:buNone/>
              <a:defRPr/>
            </a:pPr>
            <a:r>
              <a:rPr lang="en-US" sz="2800" dirty="0" smtClean="0"/>
              <a:t>Families can be served and are an important target group.</a:t>
            </a:r>
          </a:p>
          <a:p>
            <a:pPr marL="274320" indent="-274320" fontAlgn="auto">
              <a:spcBef>
                <a:spcPts val="580"/>
              </a:spcBef>
              <a:spcAft>
                <a:spcPts val="0"/>
              </a:spcAft>
              <a:buFont typeface="Wingdings 2" pitchFamily="18" charset="2"/>
              <a:buNone/>
              <a:defRPr/>
            </a:pPr>
            <a:endParaRPr lang="en-US" sz="2800" dirty="0" smtClean="0"/>
          </a:p>
          <a:p>
            <a:pPr marL="274320" indent="-274320" fontAlgn="auto">
              <a:spcBef>
                <a:spcPts val="580"/>
              </a:spcBef>
              <a:spcAft>
                <a:spcPts val="0"/>
              </a:spcAft>
              <a:buFont typeface="Wingdings 2" pitchFamily="18" charset="2"/>
              <a:buNone/>
              <a:defRPr/>
            </a:pPr>
            <a:r>
              <a:rPr lang="en-US" sz="2800" dirty="0" smtClean="0"/>
              <a:t>21,000 in housing as of March 2011</a:t>
            </a:r>
          </a:p>
          <a:p>
            <a:pPr marL="274320" indent="-274320" fontAlgn="auto">
              <a:spcBef>
                <a:spcPts val="580"/>
              </a:spcBef>
              <a:spcAft>
                <a:spcPts val="0"/>
              </a:spcAft>
              <a:buFont typeface="Wingdings 2" pitchFamily="18" charset="2"/>
              <a:buNone/>
              <a:defRPr/>
            </a:pPr>
            <a:endParaRPr lang="en-US" sz="2800" dirty="0" smtClean="0"/>
          </a:p>
          <a:p>
            <a:pPr marL="274320" indent="-274320" fontAlgn="auto">
              <a:spcBef>
                <a:spcPts val="580"/>
              </a:spcBef>
              <a:spcAft>
                <a:spcPts val="0"/>
              </a:spcAft>
              <a:buFont typeface="Wingdings 2"/>
              <a:buChar char=""/>
              <a:defRPr/>
            </a:pPr>
            <a:r>
              <a:rPr lang="en-US" sz="2800" dirty="0" smtClean="0"/>
              <a:t>13.8% of all placements to families with children.</a:t>
            </a:r>
          </a:p>
          <a:p>
            <a:pPr marL="274320" indent="-274320" fontAlgn="auto">
              <a:spcBef>
                <a:spcPts val="580"/>
              </a:spcBef>
              <a:spcAft>
                <a:spcPts val="0"/>
              </a:spcAft>
              <a:buFont typeface="Wingdings 2"/>
              <a:buChar char=""/>
              <a:defRPr/>
            </a:pPr>
            <a:r>
              <a:rPr lang="en-US" sz="2800" dirty="0" smtClean="0"/>
              <a:t>11.5% of all placements to women (compared to 6.6% served in all VA specialized homeless services).</a:t>
            </a:r>
          </a:p>
          <a:p>
            <a:pPr marL="274320" indent="-274320" fontAlgn="auto">
              <a:spcBef>
                <a:spcPts val="580"/>
              </a:spcBef>
              <a:spcAft>
                <a:spcPts val="0"/>
              </a:spcAft>
              <a:buFont typeface="Wingdings 2"/>
              <a:buChar char=""/>
              <a:defRPr/>
            </a:pPr>
            <a:r>
              <a:rPr lang="en-US" sz="2800" dirty="0" smtClean="0"/>
              <a:t>In FY 2008, 5.1% of all homeless Veterans served were women.</a:t>
            </a:r>
          </a:p>
        </p:txBody>
      </p:sp>
      <p:pic>
        <p:nvPicPr>
          <p:cNvPr id="13316" name="Picture 5"/>
          <p:cNvPicPr>
            <a:picLocks noChangeAspect="1" noChangeArrowheads="1"/>
          </p:cNvPicPr>
          <p:nvPr/>
        </p:nvPicPr>
        <p:blipFill>
          <a:blip r:embed="rId2"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1"/>
          </p:nvPr>
        </p:nvSpPr>
        <p:spPr>
          <a:noFill/>
        </p:spPr>
        <p:txBody>
          <a:bodyPr/>
          <a:lstStyle/>
          <a:p>
            <a:pPr>
              <a:defRPr/>
            </a:pPr>
            <a:fld id="{5B54F9A4-0221-4E54-8B52-0B685881D49E}" type="slidenum">
              <a:rPr lang="en-US" smtClean="0"/>
              <a:pPr>
                <a:defRPr/>
              </a:pPr>
              <a:t>8</a:t>
            </a:fld>
            <a:endParaRPr lang="en-US" dirty="0" smtClean="0"/>
          </a:p>
        </p:txBody>
      </p:sp>
      <p:sp>
        <p:nvSpPr>
          <p:cNvPr id="1242115" name="Rectangle 3"/>
          <p:cNvSpPr>
            <a:spLocks noChangeArrowheads="1"/>
          </p:cNvSpPr>
          <p:nvPr/>
        </p:nvSpPr>
        <p:spPr bwMode="auto">
          <a:xfrm>
            <a:off x="2819400" y="0"/>
            <a:ext cx="6324600" cy="990600"/>
          </a:xfrm>
          <a:prstGeom prst="rect">
            <a:avLst/>
          </a:prstGeom>
          <a:noFill/>
          <a:ln w="9525">
            <a:noFill/>
            <a:miter lim="800000"/>
            <a:headEnd/>
            <a:tailEnd/>
          </a:ln>
          <a:effectLst/>
        </p:spPr>
        <p:txBody>
          <a:bodyPr lIns="91427" tIns="45713" rIns="91427" bIns="45713" anchor="ctr"/>
          <a:lstStyle/>
          <a:p>
            <a:pPr algn="r">
              <a:defRPr/>
            </a:pPr>
            <a:r>
              <a:rPr lang="en-US" sz="3000" b="1" i="1" dirty="0">
                <a:effectLst>
                  <a:outerShdw blurRad="38100" dist="38100" dir="2700000" algn="tl">
                    <a:srgbClr val="C0C0C0"/>
                  </a:outerShdw>
                </a:effectLst>
                <a:latin typeface="AvantGarde" pitchFamily="34" charset="0"/>
                <a:cs typeface="+mn-cs"/>
              </a:rPr>
              <a:t>Supportive Services for Veterans Families (SSVF)</a:t>
            </a:r>
          </a:p>
        </p:txBody>
      </p:sp>
      <p:sp>
        <p:nvSpPr>
          <p:cNvPr id="14340" name="Rectangle 4"/>
          <p:cNvSpPr>
            <a:spLocks noChangeArrowheads="1"/>
          </p:cNvSpPr>
          <p:nvPr/>
        </p:nvSpPr>
        <p:spPr bwMode="auto">
          <a:xfrm>
            <a:off x="228600" y="1219200"/>
            <a:ext cx="8686800" cy="5257800"/>
          </a:xfrm>
          <a:prstGeom prst="rect">
            <a:avLst/>
          </a:prstGeom>
          <a:noFill/>
          <a:ln w="9525">
            <a:noFill/>
            <a:miter lim="800000"/>
            <a:headEnd/>
            <a:tailEnd/>
          </a:ln>
        </p:spPr>
        <p:txBody>
          <a:bodyPr lIns="91427" tIns="45713" rIns="91427" bIns="45713"/>
          <a:lstStyle/>
          <a:p>
            <a:pPr marL="236538" indent="-236538">
              <a:spcBef>
                <a:spcPct val="50000"/>
              </a:spcBef>
              <a:buClr>
                <a:srgbClr val="0000FF"/>
              </a:buClr>
            </a:pPr>
            <a:r>
              <a:rPr lang="en-US" sz="2800" u="sng">
                <a:latin typeface="AvantGarde"/>
              </a:rPr>
              <a:t>Goal of SSVF Program </a:t>
            </a:r>
          </a:p>
          <a:p>
            <a:pPr marL="236538" indent="-236538">
              <a:spcBef>
                <a:spcPct val="50000"/>
              </a:spcBef>
              <a:buClr>
                <a:schemeClr val="accent1"/>
              </a:buClr>
              <a:buFontTx/>
              <a:buChar char="•"/>
            </a:pPr>
            <a:r>
              <a:rPr lang="en-US" sz="2800">
                <a:latin typeface="AvantGarde"/>
              </a:rPr>
              <a:t>Provide housing stability to homeless and at-risk Veterans and their families . Modeled after HUD’s HPRP initiative.</a:t>
            </a:r>
          </a:p>
          <a:p>
            <a:pPr marL="236538" indent="-236538">
              <a:spcBef>
                <a:spcPct val="50000"/>
              </a:spcBef>
              <a:buClr>
                <a:srgbClr val="0000FF"/>
              </a:buClr>
            </a:pPr>
            <a:r>
              <a:rPr lang="en-US" sz="2800" u="sng">
                <a:latin typeface="AvantGarde"/>
              </a:rPr>
              <a:t>Process </a:t>
            </a:r>
          </a:p>
          <a:p>
            <a:pPr marL="236538" indent="-236538">
              <a:spcBef>
                <a:spcPct val="50000"/>
              </a:spcBef>
              <a:buClr>
                <a:schemeClr val="accent1"/>
              </a:buClr>
              <a:buFontTx/>
              <a:buChar char="•"/>
            </a:pPr>
            <a:r>
              <a:rPr lang="en-US" sz="2800">
                <a:latin typeface="AvantGarde"/>
              </a:rPr>
              <a:t>VA will award grants to grantees (private non-profit organizations and consumer cooperatives). </a:t>
            </a:r>
          </a:p>
          <a:p>
            <a:pPr marL="236538" indent="-236538">
              <a:spcBef>
                <a:spcPct val="50000"/>
              </a:spcBef>
              <a:buClr>
                <a:schemeClr val="accent1"/>
              </a:buClr>
              <a:buFontTx/>
              <a:buChar char="•"/>
            </a:pPr>
            <a:r>
              <a:rPr lang="en-US" sz="2800">
                <a:latin typeface="AvantGarde"/>
              </a:rPr>
              <a:t>Grantees will provide supportive services to very low-income Veterans and their families who are homeless or at-risk of homelessness. </a:t>
            </a:r>
          </a:p>
        </p:txBody>
      </p:sp>
      <p:pic>
        <p:nvPicPr>
          <p:cNvPr id="14341" name="Picture 5"/>
          <p:cNvPicPr>
            <a:picLocks noChangeAspect="1" noChangeArrowheads="1"/>
          </p:cNvPicPr>
          <p:nvPr/>
        </p:nvPicPr>
        <p:blipFill>
          <a:blip r:embed="rId3" cstate="print"/>
          <a:srcRect/>
          <a:stretch>
            <a:fillRect/>
          </a:stretch>
        </p:blipFill>
        <p:spPr bwMode="auto">
          <a:xfrm>
            <a:off x="509588" y="301625"/>
            <a:ext cx="838200" cy="8382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p:cNvSpPr>
            <a:spLocks noGrp="1"/>
          </p:cNvSpPr>
          <p:nvPr>
            <p:ph type="sldNum" sz="quarter" idx="12"/>
          </p:nvPr>
        </p:nvSpPr>
        <p:spPr bwMode="auto">
          <a:xfrm>
            <a:off x="914400" y="6172200"/>
            <a:ext cx="3962400" cy="457200"/>
          </a:xfrm>
          <a:prstGeom prst="rect">
            <a:avLst/>
          </a:prstGeom>
          <a:noFill/>
          <a:ln>
            <a:miter lim="800000"/>
            <a:headEnd/>
            <a:tailEnd/>
          </a:ln>
        </p:spPr>
        <p:txBody>
          <a:bodyPr vert="horz" wrap="square" lIns="91440" tIns="45720" rIns="91440" bIns="45720" numCol="1" anchorCtr="0" compatLnSpc="1">
            <a:prstTxWarp prst="textNoShape">
              <a:avLst/>
            </a:prstTxWarp>
          </a:bodyPr>
          <a:lstStyle/>
          <a:p>
            <a:pPr algn="l">
              <a:defRPr/>
            </a:pPr>
            <a:fld id="{A79E83B6-6B7D-4FEA-A966-D69775559891}" type="slidenum">
              <a:rPr lang="en-US">
                <a:solidFill>
                  <a:schemeClr val="tx2"/>
                </a:solidFill>
                <a:latin typeface="Arial" charset="0"/>
              </a:rPr>
              <a:pPr algn="l">
                <a:defRPr/>
              </a:pPr>
              <a:t>9</a:t>
            </a:fld>
            <a:endParaRPr lang="en-US">
              <a:solidFill>
                <a:schemeClr val="tx2"/>
              </a:solidFill>
              <a:latin typeface="Arial" charset="0"/>
            </a:endParaRPr>
          </a:p>
        </p:txBody>
      </p:sp>
      <p:sp>
        <p:nvSpPr>
          <p:cNvPr id="19458" name="Content Placeholder 2"/>
          <p:cNvSpPr>
            <a:spLocks noGrp="1"/>
          </p:cNvSpPr>
          <p:nvPr>
            <p:ph sz="quarter" idx="1"/>
          </p:nvPr>
        </p:nvSpPr>
        <p:spPr>
          <a:xfrm>
            <a:off x="228600" y="1143000"/>
            <a:ext cx="8458200" cy="5334000"/>
          </a:xfrm>
        </p:spPr>
        <p:txBody>
          <a:bodyPr>
            <a:normAutofit lnSpcReduction="10000"/>
          </a:bodyPr>
          <a:lstStyle/>
          <a:p>
            <a:pPr marL="274320" indent="-274320" fontAlgn="auto">
              <a:spcBef>
                <a:spcPts val="580"/>
              </a:spcBef>
              <a:spcAft>
                <a:spcPts val="0"/>
              </a:spcAft>
              <a:buFont typeface="Wingdings 2"/>
              <a:buChar char=""/>
              <a:defRPr/>
            </a:pPr>
            <a:r>
              <a:rPr lang="en-US" sz="2400" smtClean="0"/>
              <a:t>Non-profit organizations may be eligible to purchase VA acquired properties at a discount. </a:t>
            </a:r>
          </a:p>
          <a:p>
            <a:pPr marL="274320" indent="-274320" fontAlgn="auto">
              <a:spcBef>
                <a:spcPts val="580"/>
              </a:spcBef>
              <a:spcAft>
                <a:spcPts val="0"/>
              </a:spcAft>
              <a:buFont typeface="Wingdings 2"/>
              <a:buChar char=""/>
              <a:defRPr/>
            </a:pPr>
            <a:r>
              <a:rPr lang="en-US" sz="2400" smtClean="0"/>
              <a:t>VA markets these properties at fair market. Non-profits may purchase these properties at discounts after the properties have been listed for sale. Percentage of discount vary based on length of property listing. </a:t>
            </a:r>
          </a:p>
          <a:p>
            <a:pPr marL="274320" indent="-274320" fontAlgn="auto">
              <a:spcBef>
                <a:spcPts val="580"/>
              </a:spcBef>
              <a:spcAft>
                <a:spcPts val="0"/>
              </a:spcAft>
              <a:buFont typeface="Wingdings 2"/>
              <a:buChar char=""/>
              <a:defRPr/>
            </a:pPr>
            <a:r>
              <a:rPr lang="en-US" sz="2400" smtClean="0"/>
              <a:t>Listings – Bank of America's at </a:t>
            </a:r>
            <a:r>
              <a:rPr lang="en-US" sz="2400" b="1" u="sng" smtClean="0">
                <a:hlinkClick r:id="rId2"/>
              </a:rPr>
              <a:t>http://va.reotrans.com</a:t>
            </a:r>
            <a:endParaRPr lang="en-US" sz="2400" b="1" u="sng" smtClean="0"/>
          </a:p>
          <a:p>
            <a:pPr marL="274320" indent="-274320" fontAlgn="auto">
              <a:spcBef>
                <a:spcPts val="580"/>
              </a:spcBef>
              <a:spcAft>
                <a:spcPts val="0"/>
              </a:spcAft>
              <a:buFont typeface="Wingdings 2" pitchFamily="18" charset="2"/>
              <a:buNone/>
              <a:defRPr/>
            </a:pPr>
            <a:r>
              <a:rPr lang="en-US" sz="2400" smtClean="0"/>
              <a:t>	Telephone : (972)918-8024 </a:t>
            </a:r>
          </a:p>
          <a:p>
            <a:pPr marL="274320" indent="-274320" fontAlgn="auto">
              <a:spcBef>
                <a:spcPts val="580"/>
              </a:spcBef>
              <a:spcAft>
                <a:spcPts val="0"/>
              </a:spcAft>
              <a:buFont typeface="Wingdings 2" pitchFamily="18" charset="2"/>
              <a:buNone/>
              <a:defRPr/>
            </a:pPr>
            <a:r>
              <a:rPr lang="en-US" sz="2400" smtClean="0"/>
              <a:t>	Email: </a:t>
            </a:r>
            <a:r>
              <a:rPr lang="en-US" sz="2400" b="1" u="sng" smtClean="0">
                <a:hlinkClick r:id="rId3"/>
              </a:rPr>
              <a:t>Marco.Ordonez@bankofamerica.com</a:t>
            </a:r>
            <a:endParaRPr lang="en-US" sz="2400" b="1" u="sng" smtClean="0"/>
          </a:p>
          <a:p>
            <a:pPr marL="274320" indent="-274320" fontAlgn="auto">
              <a:spcBef>
                <a:spcPts val="580"/>
              </a:spcBef>
              <a:spcAft>
                <a:spcPts val="0"/>
              </a:spcAft>
              <a:buFontTx/>
              <a:buNone/>
              <a:defRPr/>
            </a:pPr>
            <a:r>
              <a:rPr lang="en-US" sz="2400" smtClean="0"/>
              <a:t>    </a:t>
            </a:r>
          </a:p>
          <a:p>
            <a:pPr marL="274320" indent="-274320" fontAlgn="auto">
              <a:spcBef>
                <a:spcPts val="580"/>
              </a:spcBef>
              <a:spcAft>
                <a:spcPts val="0"/>
              </a:spcAft>
              <a:buFont typeface="Wingdings 2"/>
              <a:buChar char=""/>
              <a:defRPr/>
            </a:pPr>
            <a:r>
              <a:rPr lang="en-US" sz="2400" smtClean="0"/>
              <a:t>VA Point of Contact: Valerie McDougle </a:t>
            </a:r>
          </a:p>
          <a:p>
            <a:pPr marL="274320" indent="-274320" fontAlgn="auto">
              <a:spcBef>
                <a:spcPts val="580"/>
              </a:spcBef>
              <a:spcAft>
                <a:spcPts val="0"/>
              </a:spcAft>
              <a:buFontTx/>
              <a:buNone/>
              <a:defRPr/>
            </a:pPr>
            <a:r>
              <a:rPr lang="en-US" sz="2400" smtClean="0"/>
              <a:t>    Telephone: (571)272-0039</a:t>
            </a:r>
          </a:p>
          <a:p>
            <a:pPr marL="274320" indent="-274320" fontAlgn="auto">
              <a:spcBef>
                <a:spcPts val="580"/>
              </a:spcBef>
              <a:spcAft>
                <a:spcPts val="0"/>
              </a:spcAft>
              <a:buFontTx/>
              <a:buNone/>
              <a:defRPr/>
            </a:pPr>
            <a:r>
              <a:rPr lang="en-US" sz="2400" smtClean="0"/>
              <a:t>    Email: </a:t>
            </a:r>
            <a:r>
              <a:rPr lang="en-US" sz="2400" b="1" smtClean="0">
                <a:hlinkClick r:id="rId4"/>
              </a:rPr>
              <a:t>Valerie.McDougle@va.gov</a:t>
            </a:r>
            <a:endParaRPr lang="en-US" sz="2400" b="1" smtClean="0"/>
          </a:p>
          <a:p>
            <a:pPr marL="274320" indent="-274320" fontAlgn="auto">
              <a:spcBef>
                <a:spcPts val="580"/>
              </a:spcBef>
              <a:spcAft>
                <a:spcPts val="0"/>
              </a:spcAft>
              <a:buFont typeface="Wingdings 2"/>
              <a:buChar char=""/>
              <a:defRPr/>
            </a:pPr>
            <a:endParaRPr lang="en-US" sz="2400" smtClean="0"/>
          </a:p>
        </p:txBody>
      </p:sp>
      <p:sp>
        <p:nvSpPr>
          <p:cNvPr id="6" name="TextBox 5"/>
          <p:cNvSpPr txBox="1"/>
          <p:nvPr/>
        </p:nvSpPr>
        <p:spPr>
          <a:xfrm>
            <a:off x="3429000" y="228600"/>
            <a:ext cx="5562600" cy="584200"/>
          </a:xfrm>
          <a:prstGeom prst="rect">
            <a:avLst/>
          </a:prstGeom>
          <a:noFill/>
        </p:spPr>
        <p:txBody>
          <a:bodyPr>
            <a:spAutoFit/>
          </a:bodyPr>
          <a:lstStyle/>
          <a:p>
            <a:pPr algn="r">
              <a:defRPr/>
            </a:pPr>
            <a:r>
              <a:rPr lang="en-US" sz="3200" b="1" i="1" dirty="0">
                <a:effectLst>
                  <a:outerShdw blurRad="38100" dist="38100" dir="2700000" algn="tl">
                    <a:srgbClr val="000000">
                      <a:alpha val="43137"/>
                    </a:srgbClr>
                  </a:outerShdw>
                </a:effectLst>
                <a:latin typeface="AvantGarde"/>
                <a:cs typeface="+mn-cs"/>
              </a:rPr>
              <a:t>Foreclosed VBA Properties</a:t>
            </a:r>
          </a:p>
        </p:txBody>
      </p:sp>
      <p:pic>
        <p:nvPicPr>
          <p:cNvPr id="15365" name="Picture 5"/>
          <p:cNvPicPr>
            <a:picLocks noChangeAspect="1" noChangeArrowheads="1"/>
          </p:cNvPicPr>
          <p:nvPr/>
        </p:nvPicPr>
        <p:blipFill>
          <a:blip r:embed="rId5" cstate="print"/>
          <a:srcRect/>
          <a:stretch>
            <a:fillRect/>
          </a:stretch>
        </p:blipFill>
        <p:spPr bwMode="auto">
          <a:xfrm>
            <a:off x="384175" y="285750"/>
            <a:ext cx="838200" cy="838200"/>
          </a:xfrm>
          <a:prstGeom prst="rect">
            <a:avLst/>
          </a:prstGeom>
          <a:noFill/>
          <a:ln w="9525" algn="ctr">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3657600" y="0"/>
            <a:ext cx="5181600" cy="990600"/>
          </a:xfrm>
        </p:spPr>
        <p:txBody>
          <a:bodyPr/>
          <a:lstStyle/>
          <a:p>
            <a:pPr algn="r"/>
            <a:r>
              <a:rPr lang="en-US" sz="2800" smtClean="0">
                <a:solidFill>
                  <a:schemeClr val="bg1"/>
                </a:solidFill>
              </a:rPr>
              <a:t>Grant  and Per Diem Program (GPD)</a:t>
            </a:r>
          </a:p>
        </p:txBody>
      </p:sp>
      <p:sp>
        <p:nvSpPr>
          <p:cNvPr id="20484" name="Slide Number Placeholder 5"/>
          <p:cNvSpPr>
            <a:spLocks noGrp="1"/>
          </p:cNvSpPr>
          <p:nvPr>
            <p:ph type="sldNum" sz="quarter" idx="12"/>
          </p:nvPr>
        </p:nvSpPr>
        <p:spPr bwMode="auto">
          <a:xfrm>
            <a:off x="0" y="6553200"/>
            <a:ext cx="2895600" cy="457200"/>
          </a:xfrm>
          <a:prstGeom prst="rect">
            <a:avLst/>
          </a:prstGeom>
          <a:noFill/>
          <a:ln algn="ctr">
            <a:miter lim="800000"/>
            <a:headEnd/>
            <a:tailEnd/>
          </a:ln>
        </p:spPr>
        <p:txBody>
          <a:bodyPr vert="horz" wrap="square" lIns="91440" tIns="45720" rIns="91440" bIns="45720" numCol="1" anchorCtr="0" compatLnSpc="1">
            <a:prstTxWarp prst="textNoShape">
              <a:avLst/>
            </a:prstTxWarp>
          </a:bodyPr>
          <a:lstStyle/>
          <a:p>
            <a:pPr algn="l">
              <a:defRPr/>
            </a:pPr>
            <a:fld id="{99557D84-A540-467C-8795-1503CE1D3BAC}" type="slidenum">
              <a:rPr lang="en-US">
                <a:solidFill>
                  <a:schemeClr val="tx2"/>
                </a:solidFill>
                <a:latin typeface="Arial" charset="0"/>
              </a:rPr>
              <a:pPr algn="l">
                <a:defRPr/>
              </a:pPr>
              <a:t>10</a:t>
            </a:fld>
            <a:endParaRPr lang="en-US">
              <a:solidFill>
                <a:schemeClr val="tx2"/>
              </a:solidFill>
              <a:latin typeface="Arial" charset="0"/>
            </a:endParaRPr>
          </a:p>
        </p:txBody>
      </p:sp>
      <p:sp>
        <p:nvSpPr>
          <p:cNvPr id="20483" name="Content Placeholder 2"/>
          <p:cNvSpPr>
            <a:spLocks noGrp="1"/>
          </p:cNvSpPr>
          <p:nvPr>
            <p:ph sz="quarter" idx="1"/>
          </p:nvPr>
        </p:nvSpPr>
        <p:spPr>
          <a:xfrm>
            <a:off x="304800" y="1143000"/>
            <a:ext cx="8534400" cy="5486400"/>
          </a:xfrm>
        </p:spPr>
        <p:txBody>
          <a:bodyPr>
            <a:normAutofit lnSpcReduction="10000"/>
          </a:bodyPr>
          <a:lstStyle/>
          <a:p>
            <a:pPr marL="274320" indent="-274320" fontAlgn="auto">
              <a:lnSpc>
                <a:spcPct val="90000"/>
              </a:lnSpc>
              <a:spcBef>
                <a:spcPts val="580"/>
              </a:spcBef>
              <a:spcAft>
                <a:spcPts val="0"/>
              </a:spcAft>
              <a:buFontTx/>
              <a:buNone/>
              <a:defRPr/>
            </a:pPr>
            <a:r>
              <a:rPr lang="en-US" sz="2400" i="1" u="sng" smtClean="0"/>
              <a:t>Capital Grants </a:t>
            </a:r>
          </a:p>
          <a:p>
            <a:pPr marL="274320" indent="-274320" fontAlgn="auto">
              <a:lnSpc>
                <a:spcPct val="90000"/>
              </a:lnSpc>
              <a:spcBef>
                <a:spcPts val="580"/>
              </a:spcBef>
              <a:spcAft>
                <a:spcPts val="0"/>
              </a:spcAft>
              <a:buFontTx/>
              <a:buNone/>
              <a:defRPr/>
            </a:pPr>
            <a:r>
              <a:rPr lang="en-US" sz="2400" smtClean="0"/>
              <a:t>May pay up to 65% of construction, renovation, or acquisition costs </a:t>
            </a:r>
          </a:p>
          <a:p>
            <a:pPr marL="274320" indent="-274320" fontAlgn="auto">
              <a:lnSpc>
                <a:spcPct val="90000"/>
              </a:lnSpc>
              <a:spcBef>
                <a:spcPts val="580"/>
              </a:spcBef>
              <a:spcAft>
                <a:spcPts val="0"/>
              </a:spcAft>
              <a:buFontTx/>
              <a:buNone/>
              <a:defRPr/>
            </a:pPr>
            <a:r>
              <a:rPr lang="en-US" sz="2400" smtClean="0"/>
              <a:t>(requires a 35% match).</a:t>
            </a:r>
          </a:p>
          <a:p>
            <a:pPr marL="274320" indent="-274320" fontAlgn="auto">
              <a:lnSpc>
                <a:spcPct val="90000"/>
              </a:lnSpc>
              <a:spcBef>
                <a:spcPts val="580"/>
              </a:spcBef>
              <a:spcAft>
                <a:spcPts val="0"/>
              </a:spcAft>
              <a:buFont typeface="Wingdings 2" pitchFamily="18" charset="2"/>
              <a:buNone/>
              <a:defRPr/>
            </a:pPr>
            <a:endParaRPr lang="en-US" sz="2400" i="1" u="sng" smtClean="0"/>
          </a:p>
          <a:p>
            <a:pPr marL="274320" indent="-274320" fontAlgn="auto">
              <a:lnSpc>
                <a:spcPct val="90000"/>
              </a:lnSpc>
              <a:spcBef>
                <a:spcPts val="580"/>
              </a:spcBef>
              <a:spcAft>
                <a:spcPts val="0"/>
              </a:spcAft>
              <a:buFont typeface="Wingdings 2" pitchFamily="18" charset="2"/>
              <a:buNone/>
              <a:defRPr/>
            </a:pPr>
            <a:r>
              <a:rPr lang="en-US" sz="2400" smtClean="0"/>
              <a:t>Eligible activities are:</a:t>
            </a:r>
          </a:p>
          <a:p>
            <a:pPr marL="274320" indent="-274320" fontAlgn="auto">
              <a:lnSpc>
                <a:spcPct val="90000"/>
              </a:lnSpc>
              <a:spcBef>
                <a:spcPts val="580"/>
              </a:spcBef>
              <a:spcAft>
                <a:spcPts val="0"/>
              </a:spcAft>
              <a:buFont typeface="Wingdings 2"/>
              <a:buChar char=""/>
              <a:defRPr/>
            </a:pPr>
            <a:r>
              <a:rPr lang="en-US" sz="2400" smtClean="0"/>
              <a:t>Acquisition, Rehabilitation or New Construction of Transitional Housing (up to 24 months stay).</a:t>
            </a:r>
          </a:p>
          <a:p>
            <a:pPr marL="274320" indent="-274320" fontAlgn="auto">
              <a:lnSpc>
                <a:spcPct val="90000"/>
              </a:lnSpc>
              <a:spcBef>
                <a:spcPts val="580"/>
              </a:spcBef>
              <a:spcAft>
                <a:spcPts val="0"/>
              </a:spcAft>
              <a:buFont typeface="Wingdings 2"/>
              <a:buChar char=""/>
              <a:defRPr/>
            </a:pPr>
            <a:r>
              <a:rPr lang="en-US" sz="2400" smtClean="0"/>
              <a:t>Acquisition, Rehabilitation or New Construction</a:t>
            </a:r>
          </a:p>
          <a:p>
            <a:pPr marL="274320" indent="-274320" fontAlgn="auto">
              <a:lnSpc>
                <a:spcPct val="90000"/>
              </a:lnSpc>
              <a:spcBef>
                <a:spcPts val="580"/>
              </a:spcBef>
              <a:spcAft>
                <a:spcPts val="0"/>
              </a:spcAft>
              <a:buFont typeface="Wingdings 2"/>
              <a:buChar char=""/>
              <a:defRPr/>
            </a:pPr>
            <a:r>
              <a:rPr lang="en-US" sz="2400" smtClean="0"/>
              <a:t>Procurement of a vans to provide transportation &amp; outreach for the purposes of providing supportive services.</a:t>
            </a:r>
          </a:p>
          <a:p>
            <a:pPr marL="274320" indent="-274320" fontAlgn="auto">
              <a:lnSpc>
                <a:spcPct val="90000"/>
              </a:lnSpc>
              <a:spcBef>
                <a:spcPts val="580"/>
              </a:spcBef>
              <a:spcAft>
                <a:spcPts val="0"/>
              </a:spcAft>
              <a:buFont typeface="Wingdings 2"/>
              <a:buChar char=""/>
              <a:defRPr/>
            </a:pPr>
            <a:r>
              <a:rPr lang="en-US" sz="2400" smtClean="0"/>
              <a:t>Expansion of existing transitional housing or service centers.</a:t>
            </a:r>
          </a:p>
          <a:p>
            <a:pPr marL="274320" indent="-274320" fontAlgn="auto">
              <a:lnSpc>
                <a:spcPct val="90000"/>
              </a:lnSpc>
              <a:spcBef>
                <a:spcPts val="580"/>
              </a:spcBef>
              <a:spcAft>
                <a:spcPts val="0"/>
              </a:spcAft>
              <a:buFont typeface="Wingdings 2"/>
              <a:buChar char=""/>
              <a:defRPr/>
            </a:pPr>
            <a:r>
              <a:rPr lang="en-US" sz="2400" smtClean="0"/>
              <a:t>Capital grant may be awards for construction, expansion or renovation of buildings on VA-owned property.  </a:t>
            </a:r>
          </a:p>
          <a:p>
            <a:pPr marL="274320" indent="-274320" fontAlgn="auto">
              <a:lnSpc>
                <a:spcPct val="80000"/>
              </a:lnSpc>
              <a:spcBef>
                <a:spcPts val="580"/>
              </a:spcBef>
              <a:spcAft>
                <a:spcPts val="0"/>
              </a:spcAft>
              <a:buFont typeface="Wingdings 2" pitchFamily="18" charset="2"/>
              <a:buNone/>
              <a:defRPr/>
            </a:pPr>
            <a:endParaRPr lang="en-US" sz="1900" smtClean="0"/>
          </a:p>
          <a:p>
            <a:pPr marL="274320" indent="-274320" fontAlgn="auto">
              <a:lnSpc>
                <a:spcPct val="80000"/>
              </a:lnSpc>
              <a:spcBef>
                <a:spcPts val="580"/>
              </a:spcBef>
              <a:spcAft>
                <a:spcPts val="0"/>
              </a:spcAft>
              <a:buFont typeface="Wingdings 2" pitchFamily="18" charset="2"/>
              <a:buNone/>
              <a:defRPr/>
            </a:pPr>
            <a:endParaRPr lang="en-US" sz="1900" smtClean="0"/>
          </a:p>
        </p:txBody>
      </p:sp>
      <p:sp>
        <p:nvSpPr>
          <p:cNvPr id="5" name="TextBox 4"/>
          <p:cNvSpPr txBox="1"/>
          <p:nvPr/>
        </p:nvSpPr>
        <p:spPr>
          <a:xfrm>
            <a:off x="3429000" y="304800"/>
            <a:ext cx="5410200" cy="646113"/>
          </a:xfrm>
          <a:prstGeom prst="rect">
            <a:avLst/>
          </a:prstGeom>
          <a:noFill/>
        </p:spPr>
        <p:txBody>
          <a:bodyPr>
            <a:spAutoFit/>
          </a:bodyPr>
          <a:lstStyle/>
          <a:p>
            <a:pPr algn="r">
              <a:defRPr/>
            </a:pPr>
            <a:r>
              <a:rPr lang="en-US" sz="3600" b="1" i="1" dirty="0">
                <a:effectLst>
                  <a:outerShdw blurRad="38100" dist="38100" dir="2700000" algn="tl">
                    <a:srgbClr val="000000">
                      <a:alpha val="43137"/>
                    </a:srgbClr>
                  </a:outerShdw>
                </a:effectLst>
                <a:latin typeface="AvantGarde"/>
                <a:cs typeface="+mn-cs"/>
              </a:rPr>
              <a:t>Grant &amp; Per Diem (GPD)</a:t>
            </a:r>
          </a:p>
        </p:txBody>
      </p:sp>
      <p:pic>
        <p:nvPicPr>
          <p:cNvPr id="16390" name="Picture 5"/>
          <p:cNvPicPr>
            <a:picLocks noChangeAspect="1" noChangeArrowheads="1"/>
          </p:cNvPicPr>
          <p:nvPr/>
        </p:nvPicPr>
        <p:blipFill>
          <a:blip r:embed="rId3" cstate="print"/>
          <a:srcRect/>
          <a:stretch>
            <a:fillRect/>
          </a:stretch>
        </p:blipFill>
        <p:spPr bwMode="auto">
          <a:xfrm>
            <a:off x="446088" y="285750"/>
            <a:ext cx="838200" cy="8382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title"/>
          </p:nvPr>
        </p:nvSpPr>
        <p:spPr>
          <a:xfrm>
            <a:off x="3733800" y="0"/>
            <a:ext cx="5105400" cy="838200"/>
          </a:xfrm>
        </p:spPr>
        <p:txBody>
          <a:bodyPr>
            <a:normAutofit fontScale="90000"/>
          </a:bodyPr>
          <a:lstStyle/>
          <a:p>
            <a:pPr algn="r" fontAlgn="auto">
              <a:spcAft>
                <a:spcPts val="0"/>
              </a:spcAft>
              <a:defRPr/>
            </a:pPr>
            <a:r>
              <a:rPr lang="en-US" sz="2400" b="1" dirty="0" smtClean="0">
                <a:solidFill>
                  <a:schemeClr val="bg1"/>
                </a:solidFill>
              </a:rPr>
              <a:t>Grant  and Per Diem Program (GPD</a:t>
            </a:r>
            <a:r>
              <a:rPr lang="en-US" sz="2400" dirty="0" smtClean="0">
                <a:solidFill>
                  <a:schemeClr val="bg1"/>
                </a:solidFill>
              </a:rPr>
              <a:t>)</a:t>
            </a:r>
            <a:endParaRPr lang="en-US" sz="2400" b="1" cap="all" dirty="0" smtClean="0">
              <a:solidFill>
                <a:schemeClr val="bg1"/>
              </a:solidFill>
            </a:endParaRPr>
          </a:p>
        </p:txBody>
      </p:sp>
      <p:sp>
        <p:nvSpPr>
          <p:cNvPr id="21507" name="Rectangle 5"/>
          <p:cNvSpPr>
            <a:spLocks noGrp="1" noChangeArrowheads="1"/>
          </p:cNvSpPr>
          <p:nvPr>
            <p:ph sz="quarter" idx="1"/>
          </p:nvPr>
        </p:nvSpPr>
        <p:spPr>
          <a:xfrm>
            <a:off x="152400" y="1198563"/>
            <a:ext cx="8763000" cy="5438775"/>
          </a:xfrm>
        </p:spPr>
        <p:txBody>
          <a:bodyPr>
            <a:normAutofit fontScale="92500"/>
          </a:bodyPr>
          <a:lstStyle/>
          <a:p>
            <a:pPr marL="274320" indent="-274320" fontAlgn="auto">
              <a:lnSpc>
                <a:spcPct val="80000"/>
              </a:lnSpc>
              <a:spcBef>
                <a:spcPts val="580"/>
              </a:spcBef>
              <a:spcAft>
                <a:spcPts val="0"/>
              </a:spcAft>
              <a:buFontTx/>
              <a:buNone/>
              <a:defRPr/>
            </a:pPr>
            <a:r>
              <a:rPr lang="en-US" sz="2800" i="1" u="sng" dirty="0" smtClean="0"/>
              <a:t>Per Diem</a:t>
            </a:r>
          </a:p>
          <a:p>
            <a:pPr marL="274320" indent="-274320" fontAlgn="auto">
              <a:lnSpc>
                <a:spcPct val="80000"/>
              </a:lnSpc>
              <a:spcBef>
                <a:spcPts val="580"/>
              </a:spcBef>
              <a:spcAft>
                <a:spcPts val="0"/>
              </a:spcAft>
              <a:buFont typeface="Wingdings 2"/>
              <a:buChar char=""/>
              <a:defRPr/>
            </a:pPr>
            <a:r>
              <a:rPr lang="en-US" sz="2800" dirty="0" smtClean="0"/>
              <a:t>Transitional housing (up to 2 years) with supportive services designed to help homeless Veterans address rehabilitative needs, increase their skill levels and/or income, preparing them for community housing.</a:t>
            </a:r>
          </a:p>
          <a:p>
            <a:pPr marL="274320" indent="-274320" fontAlgn="auto">
              <a:lnSpc>
                <a:spcPct val="80000"/>
              </a:lnSpc>
              <a:spcBef>
                <a:spcPts val="580"/>
              </a:spcBef>
              <a:spcAft>
                <a:spcPts val="0"/>
              </a:spcAft>
              <a:buFont typeface="Wingdings 2"/>
              <a:buChar char=""/>
              <a:defRPr/>
            </a:pPr>
            <a:r>
              <a:rPr lang="en-US" sz="2800" dirty="0" smtClean="0"/>
              <a:t>Veterans are eligible for GPD housing if they are homeless or at-risk of homelessness and need rehabilitative services to find and maintain themselves in independent housing.</a:t>
            </a:r>
          </a:p>
          <a:p>
            <a:pPr marL="274320" indent="-274320" fontAlgn="auto">
              <a:lnSpc>
                <a:spcPct val="80000"/>
              </a:lnSpc>
              <a:spcBef>
                <a:spcPts val="580"/>
              </a:spcBef>
              <a:spcAft>
                <a:spcPts val="0"/>
              </a:spcAft>
              <a:buFont typeface="Wingdings 2"/>
              <a:buChar char=""/>
              <a:defRPr/>
            </a:pPr>
            <a:r>
              <a:rPr lang="en-US" sz="2800" dirty="0" smtClean="0"/>
              <a:t>Per diem payments currently up to $38.90 day and based on current state home rate.</a:t>
            </a:r>
          </a:p>
          <a:p>
            <a:pPr marL="274320" indent="-274320" fontAlgn="auto">
              <a:lnSpc>
                <a:spcPct val="80000"/>
              </a:lnSpc>
              <a:spcBef>
                <a:spcPts val="580"/>
              </a:spcBef>
              <a:spcAft>
                <a:spcPts val="0"/>
              </a:spcAft>
              <a:buFont typeface="Wingdings 2"/>
              <a:buChar char=""/>
              <a:defRPr/>
            </a:pPr>
            <a:r>
              <a:rPr lang="en-US" sz="2800" dirty="0" smtClean="0"/>
              <a:t>Veterans may pay fee up to 30% of their monthly adjusted income.</a:t>
            </a:r>
          </a:p>
          <a:p>
            <a:pPr marL="274320" indent="-274320" fontAlgn="auto">
              <a:lnSpc>
                <a:spcPct val="80000"/>
              </a:lnSpc>
              <a:spcBef>
                <a:spcPts val="580"/>
              </a:spcBef>
              <a:spcAft>
                <a:spcPts val="0"/>
              </a:spcAft>
              <a:buFont typeface="Wingdings 2" pitchFamily="18" charset="2"/>
              <a:buNone/>
              <a:defRPr/>
            </a:pPr>
            <a:endParaRPr lang="en-US" sz="2800" dirty="0" smtClean="0"/>
          </a:p>
          <a:p>
            <a:pPr marL="274320" indent="-274320" fontAlgn="auto">
              <a:lnSpc>
                <a:spcPct val="80000"/>
              </a:lnSpc>
              <a:spcBef>
                <a:spcPts val="580"/>
              </a:spcBef>
              <a:spcAft>
                <a:spcPts val="0"/>
              </a:spcAft>
              <a:buFont typeface="Wingdings 2" pitchFamily="18" charset="2"/>
              <a:buNone/>
              <a:defRPr/>
            </a:pPr>
            <a:r>
              <a:rPr lang="en-US" sz="2400" dirty="0" smtClean="0">
                <a:solidFill>
                  <a:srgbClr val="000000"/>
                </a:solidFill>
              </a:rPr>
              <a:t>Program info: </a:t>
            </a:r>
            <a:r>
              <a:rPr lang="en-US" sz="2800" b="1" dirty="0" smtClean="0">
                <a:hlinkClick r:id="rId2"/>
              </a:rPr>
              <a:t>http://www.va.gov/HOMELESS/GPD.asp</a:t>
            </a:r>
            <a:r>
              <a:rPr lang="en-US" sz="2800" b="1" dirty="0" smtClean="0"/>
              <a:t> </a:t>
            </a:r>
          </a:p>
        </p:txBody>
      </p:sp>
      <p:sp>
        <p:nvSpPr>
          <p:cNvPr id="4" name="TextBox 3"/>
          <p:cNvSpPr txBox="1"/>
          <p:nvPr/>
        </p:nvSpPr>
        <p:spPr>
          <a:xfrm>
            <a:off x="5791200" y="381000"/>
            <a:ext cx="2971800" cy="646113"/>
          </a:xfrm>
          <a:prstGeom prst="rect">
            <a:avLst/>
          </a:prstGeom>
          <a:noFill/>
        </p:spPr>
        <p:txBody>
          <a:bodyPr>
            <a:spAutoFit/>
          </a:bodyPr>
          <a:lstStyle/>
          <a:p>
            <a:pPr algn="r">
              <a:defRPr/>
            </a:pPr>
            <a:r>
              <a:rPr lang="en-US" sz="3600" b="1" i="1" dirty="0">
                <a:effectLst>
                  <a:outerShdw blurRad="38100" dist="38100" dir="2700000" algn="tl">
                    <a:srgbClr val="000000">
                      <a:alpha val="43137"/>
                    </a:srgbClr>
                  </a:outerShdw>
                </a:effectLst>
                <a:latin typeface="AvantGarde"/>
                <a:cs typeface="+mn-cs"/>
              </a:rPr>
              <a:t>GPD</a:t>
            </a:r>
          </a:p>
        </p:txBody>
      </p:sp>
      <p:pic>
        <p:nvPicPr>
          <p:cNvPr id="17413" name="Picture 5"/>
          <p:cNvPicPr>
            <a:picLocks noChangeAspect="1" noChangeArrowheads="1"/>
          </p:cNvPicPr>
          <p:nvPr/>
        </p:nvPicPr>
        <p:blipFill>
          <a:blip r:embed="rId3" cstate="print"/>
          <a:srcRect/>
          <a:stretch>
            <a:fillRect/>
          </a:stretch>
        </p:blipFill>
        <p:spPr bwMode="auto">
          <a:xfrm>
            <a:off x="320675" y="207963"/>
            <a:ext cx="838200" cy="838200"/>
          </a:xfrm>
          <a:prstGeom prst="rect">
            <a:avLst/>
          </a:prstGeom>
          <a:noFill/>
          <a:ln w="9525" algn="ctr">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0" y="0"/>
            <a:ext cx="5334000" cy="838200"/>
          </a:xfrm>
        </p:spPr>
        <p:txBody>
          <a:bodyPr>
            <a:normAutofit/>
          </a:bodyPr>
          <a:lstStyle/>
          <a:p>
            <a:pPr algn="r" fontAlgn="auto">
              <a:spcAft>
                <a:spcPts val="0"/>
              </a:spcAft>
              <a:defRPr/>
            </a:pPr>
            <a:r>
              <a:rPr lang="en-US" sz="3200" b="1" cap="all" dirty="0" smtClean="0">
                <a:solidFill>
                  <a:schemeClr val="bg1"/>
                </a:solidFill>
              </a:rPr>
              <a:t>Income/Employment</a:t>
            </a:r>
            <a:endParaRPr lang="en-US" sz="3200" b="1" cap="all" dirty="0">
              <a:solidFill>
                <a:schemeClr val="bg1"/>
              </a:solidFill>
            </a:endParaRPr>
          </a:p>
        </p:txBody>
      </p:sp>
      <p:sp>
        <p:nvSpPr>
          <p:cNvPr id="22531" name="Content Placeholder 2"/>
          <p:cNvSpPr>
            <a:spLocks noGrp="1"/>
          </p:cNvSpPr>
          <p:nvPr>
            <p:ph sz="quarter" idx="1"/>
          </p:nvPr>
        </p:nvSpPr>
        <p:spPr>
          <a:xfrm>
            <a:off x="228600" y="1676400"/>
            <a:ext cx="8686800" cy="4724400"/>
          </a:xfrm>
        </p:spPr>
        <p:txBody>
          <a:bodyPr>
            <a:normAutofit fontScale="92500"/>
          </a:bodyPr>
          <a:lstStyle/>
          <a:p>
            <a:pPr marL="274320" indent="-274320" fontAlgn="auto">
              <a:spcBef>
                <a:spcPts val="580"/>
              </a:spcBef>
              <a:spcAft>
                <a:spcPts val="0"/>
              </a:spcAft>
              <a:buFont typeface="Wingdings 2"/>
              <a:buChar char=""/>
              <a:defRPr/>
            </a:pPr>
            <a:r>
              <a:rPr lang="en-US" sz="2800" dirty="0" smtClean="0"/>
              <a:t>This strategy includes a multi-pronged effort aimed at improving financial opportunities for Veterans, including, at minimum, vocational training and workplace skills development.</a:t>
            </a:r>
          </a:p>
          <a:p>
            <a:pPr marL="274320" indent="-274320" fontAlgn="auto">
              <a:spcBef>
                <a:spcPts val="580"/>
              </a:spcBef>
              <a:spcAft>
                <a:spcPts val="0"/>
              </a:spcAft>
              <a:buFont typeface="Wingdings 2"/>
              <a:buChar char=""/>
              <a:defRPr/>
            </a:pPr>
            <a:r>
              <a:rPr lang="en-US" sz="2800" dirty="0" smtClean="0"/>
              <a:t>VA’s Work programs provide paid work experience and vocational assistance services to approximately 50,000 Veterans each year, including 6,000 OEF/OIF Veterans. These services are integrated into the Veteran’s overall mental health treatment plan.</a:t>
            </a:r>
          </a:p>
          <a:p>
            <a:pPr marL="274320" indent="-274320" fontAlgn="auto">
              <a:spcBef>
                <a:spcPts val="580"/>
              </a:spcBef>
              <a:spcAft>
                <a:spcPts val="0"/>
              </a:spcAft>
              <a:buFont typeface="Wingdings 2"/>
              <a:buChar char=""/>
              <a:defRPr/>
            </a:pPr>
            <a:r>
              <a:rPr lang="en-US" sz="2800" dirty="0" smtClean="0"/>
              <a:t>Veterans in VA’s work programs earned in excess of $50 million during their participation. </a:t>
            </a:r>
          </a:p>
          <a:p>
            <a:pPr marL="274320" indent="-274320" fontAlgn="auto">
              <a:spcBef>
                <a:spcPts val="580"/>
              </a:spcBef>
              <a:spcAft>
                <a:spcPts val="0"/>
              </a:spcAft>
              <a:buFont typeface="Wingdings 2"/>
              <a:buChar char=""/>
              <a:defRPr/>
            </a:pPr>
            <a:endParaRPr lang="en-US" dirty="0" smtClean="0"/>
          </a:p>
        </p:txBody>
      </p:sp>
      <p:sp>
        <p:nvSpPr>
          <p:cNvPr id="4" name="TextBox 3"/>
          <p:cNvSpPr txBox="1"/>
          <p:nvPr/>
        </p:nvSpPr>
        <p:spPr>
          <a:xfrm>
            <a:off x="2362200" y="304800"/>
            <a:ext cx="6553200" cy="1138238"/>
          </a:xfrm>
          <a:prstGeom prst="rect">
            <a:avLst/>
          </a:prstGeom>
          <a:noFill/>
        </p:spPr>
        <p:txBody>
          <a:bodyPr>
            <a:spAutoFit/>
          </a:bodyPr>
          <a:lstStyle/>
          <a:p>
            <a:pPr algn="r">
              <a:defRPr/>
            </a:pPr>
            <a:r>
              <a:rPr lang="en-US" sz="3200" b="1" i="1" dirty="0">
                <a:effectLst>
                  <a:outerShdw blurRad="38100" dist="38100" dir="2700000" algn="tl">
                    <a:srgbClr val="000000">
                      <a:alpha val="43137"/>
                    </a:srgbClr>
                  </a:outerShdw>
                </a:effectLst>
                <a:latin typeface="AvantGarde"/>
                <a:cs typeface="+mn-cs"/>
              </a:rPr>
              <a:t>Therapeutic and Supported Employment  Services (TSES</a:t>
            </a:r>
            <a:r>
              <a:rPr lang="en-US" sz="3600" b="1" i="1" dirty="0">
                <a:effectLst>
                  <a:outerShdw blurRad="38100" dist="38100" dir="2700000" algn="tl">
                    <a:srgbClr val="000000">
                      <a:alpha val="43137"/>
                    </a:srgbClr>
                  </a:outerShdw>
                </a:effectLst>
                <a:latin typeface="AvantGarde"/>
                <a:cs typeface="+mn-cs"/>
              </a:rPr>
              <a:t>) </a:t>
            </a:r>
            <a:endParaRPr lang="en-US" sz="3600" b="1" i="1" dirty="0">
              <a:effectLst>
                <a:outerShdw blurRad="38100" dist="38100" dir="2700000" algn="tl">
                  <a:srgbClr val="000000">
                    <a:alpha val="43137"/>
                  </a:srgbClr>
                </a:outerShdw>
              </a:effectLst>
              <a:latin typeface="AvantGarde"/>
              <a:cs typeface="+mn-cs"/>
            </a:endParaRPr>
          </a:p>
        </p:txBody>
      </p:sp>
      <p:pic>
        <p:nvPicPr>
          <p:cNvPr id="18437" name="Picture 5"/>
          <p:cNvPicPr>
            <a:picLocks noChangeAspect="1" noChangeArrowheads="1"/>
          </p:cNvPicPr>
          <p:nvPr/>
        </p:nvPicPr>
        <p:blipFill>
          <a:blip r:embed="rId2"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914400" y="1447800"/>
            <a:ext cx="7772400" cy="4827588"/>
          </a:xfrm>
        </p:spPr>
        <p:txBody>
          <a:bodyPr>
            <a:normAutofit fontScale="77500" lnSpcReduction="20000"/>
          </a:bodyPr>
          <a:lstStyle/>
          <a:p>
            <a:pPr marL="274320" indent="-274320" fontAlgn="auto">
              <a:spcBef>
                <a:spcPts val="580"/>
              </a:spcBef>
              <a:spcAft>
                <a:spcPts val="0"/>
              </a:spcAft>
              <a:buFont typeface="Wingdings 2"/>
              <a:buChar char=""/>
              <a:defRPr/>
            </a:pPr>
            <a:r>
              <a:rPr lang="en-US" dirty="0" smtClean="0"/>
              <a:t>Compensated Work Therapy (CWT) vocational rehabilitation program that endeavors to match and support work ready veterans in competitive jobs, and to consult with business and industry regarding their specific employment needs. In some locations CWT is also known as Veterans Industries; these designations are synonymous.</a:t>
            </a:r>
          </a:p>
          <a:p>
            <a:pPr marL="274320" indent="-274320" fontAlgn="auto">
              <a:spcBef>
                <a:spcPts val="580"/>
              </a:spcBef>
              <a:spcAft>
                <a:spcPts val="0"/>
              </a:spcAft>
              <a:buFont typeface="Wingdings 2"/>
              <a:buChar char=""/>
              <a:defRPr/>
            </a:pPr>
            <a:r>
              <a:rPr lang="en-US" dirty="0" smtClean="0"/>
              <a:t>The primary goal of CWT is competitive employment.</a:t>
            </a:r>
          </a:p>
          <a:p>
            <a:pPr marL="274320" indent="-274320" fontAlgn="auto">
              <a:spcBef>
                <a:spcPts val="580"/>
              </a:spcBef>
              <a:spcAft>
                <a:spcPts val="0"/>
              </a:spcAft>
              <a:buFont typeface="Wingdings 2"/>
              <a:buChar char=""/>
              <a:defRPr/>
            </a:pPr>
            <a:r>
              <a:rPr lang="en-US" dirty="0" smtClean="0"/>
              <a:t>The objective to achieve this is rapid job placement and follow along services for as short a time as clinically necessary or as long as the Veteran expresses a need for follow along services</a:t>
            </a:r>
          </a:p>
          <a:p>
            <a:pPr marL="274320" indent="-274320" fontAlgn="auto">
              <a:spcBef>
                <a:spcPts val="580"/>
              </a:spcBef>
              <a:spcAft>
                <a:spcPts val="0"/>
              </a:spcAft>
              <a:buFont typeface="Wingdings 2"/>
              <a:buChar char=""/>
              <a:defRPr/>
            </a:pPr>
            <a:r>
              <a:rPr lang="en-US" dirty="0" smtClean="0"/>
              <a:t>Veterans in CWT are paid at least the federal or state minimum wage, whichever is the higher. </a:t>
            </a:r>
          </a:p>
          <a:p>
            <a:pPr marL="274320" indent="-274320" fontAlgn="auto">
              <a:spcBef>
                <a:spcPts val="580"/>
              </a:spcBef>
              <a:spcAft>
                <a:spcPts val="0"/>
              </a:spcAft>
              <a:buFont typeface="Wingdings 2"/>
              <a:buChar char=""/>
              <a:defRPr/>
            </a:pPr>
            <a:r>
              <a:rPr lang="en-US" dirty="0" smtClean="0"/>
              <a:t>CWT is considered a medical benefit and is provided to eligible Veterans under VA medical care </a:t>
            </a:r>
            <a:br>
              <a:rPr lang="en-US" dirty="0" smtClean="0"/>
            </a:br>
            <a:endParaRPr lang="en-US" dirty="0" smtClean="0"/>
          </a:p>
          <a:p>
            <a:pPr marL="274320" indent="-274320" fontAlgn="auto">
              <a:spcBef>
                <a:spcPts val="580"/>
              </a:spcBef>
              <a:spcAft>
                <a:spcPts val="0"/>
              </a:spcAft>
              <a:buFont typeface="Wingdings 2"/>
              <a:buChar char=""/>
              <a:defRPr/>
            </a:pPr>
            <a:endParaRPr lang="en-US" dirty="0" smtClean="0"/>
          </a:p>
          <a:p>
            <a:pPr marL="274320" indent="-274320" fontAlgn="auto">
              <a:spcBef>
                <a:spcPts val="580"/>
              </a:spcBef>
              <a:spcAft>
                <a:spcPts val="0"/>
              </a:spcAft>
              <a:buFont typeface="Wingdings 2"/>
              <a:buChar char=""/>
              <a:defRPr/>
            </a:pPr>
            <a:endParaRPr lang="en-US" dirty="0"/>
          </a:p>
        </p:txBody>
      </p:sp>
      <p:pic>
        <p:nvPicPr>
          <p:cNvPr id="19459" name="Picture 4"/>
          <p:cNvPicPr>
            <a:picLocks noChangeAspect="1" noChangeArrowheads="1"/>
          </p:cNvPicPr>
          <p:nvPr/>
        </p:nvPicPr>
        <p:blipFill>
          <a:blip r:embed="rId2" cstate="print"/>
          <a:srcRect/>
          <a:stretch>
            <a:fillRect/>
          </a:stretch>
        </p:blipFill>
        <p:spPr bwMode="auto">
          <a:xfrm>
            <a:off x="304800" y="381000"/>
            <a:ext cx="838200" cy="838200"/>
          </a:xfrm>
          <a:prstGeom prst="rect">
            <a:avLst/>
          </a:prstGeom>
          <a:noFill/>
          <a:ln w="9525" algn="ctr">
            <a:noFill/>
            <a:miter lim="800000"/>
            <a:headEnd/>
            <a:tailEnd/>
          </a:ln>
        </p:spPr>
      </p:pic>
      <p:sp>
        <p:nvSpPr>
          <p:cNvPr id="11" name="TextBox 10"/>
          <p:cNvSpPr txBox="1"/>
          <p:nvPr/>
        </p:nvSpPr>
        <p:spPr>
          <a:xfrm>
            <a:off x="2317750" y="304800"/>
            <a:ext cx="6597650" cy="1200150"/>
          </a:xfrm>
          <a:prstGeom prst="rect">
            <a:avLst/>
          </a:prstGeom>
          <a:noFill/>
        </p:spPr>
        <p:txBody>
          <a:bodyPr>
            <a:spAutoFit/>
          </a:bodyPr>
          <a:lstStyle/>
          <a:p>
            <a:pPr algn="r">
              <a:defRPr/>
            </a:pPr>
            <a:r>
              <a:rPr lang="en-US" sz="3200" b="1" i="1" dirty="0">
                <a:effectLst>
                  <a:outerShdw blurRad="38100" dist="38100" dir="2700000" algn="tl">
                    <a:srgbClr val="000000">
                      <a:alpha val="43137"/>
                    </a:srgbClr>
                  </a:outerShdw>
                </a:effectLst>
                <a:latin typeface="AvantGarde"/>
                <a:cs typeface="+mn-cs"/>
              </a:rPr>
              <a:t>TSES</a:t>
            </a:r>
            <a:r>
              <a:rPr lang="en-US" sz="3600" b="1" i="1" dirty="0">
                <a:effectLst>
                  <a:outerShdw blurRad="38100" dist="38100" dir="2700000" algn="tl">
                    <a:srgbClr val="000000">
                      <a:alpha val="43137"/>
                    </a:srgbClr>
                  </a:outerShdw>
                </a:effectLst>
                <a:latin typeface="AvantGarde"/>
                <a:cs typeface="+mn-cs"/>
              </a:rPr>
              <a:t>- Compensated Work Therapy  </a:t>
            </a:r>
            <a:endParaRPr lang="en-US" sz="3600" b="1" i="1" dirty="0">
              <a:effectLst>
                <a:outerShdw blurRad="38100" dist="38100" dir="2700000" algn="tl">
                  <a:srgbClr val="000000">
                    <a:alpha val="43137"/>
                  </a:srgbClr>
                </a:outerShdw>
              </a:effectLst>
              <a:latin typeface="AvantGarde"/>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819150" y="1479550"/>
            <a:ext cx="7772400" cy="4572000"/>
          </a:xfrm>
        </p:spPr>
        <p:txBody>
          <a:bodyPr>
            <a:normAutofit lnSpcReduction="10000"/>
          </a:bodyPr>
          <a:lstStyle/>
          <a:p>
            <a:pPr marL="274320" indent="-274320" fontAlgn="auto">
              <a:spcBef>
                <a:spcPts val="580"/>
              </a:spcBef>
              <a:spcAft>
                <a:spcPts val="0"/>
              </a:spcAft>
              <a:buFont typeface="Wingdings 2"/>
              <a:buNone/>
              <a:defRPr/>
            </a:pPr>
            <a:r>
              <a:rPr lang="en-US" dirty="0" smtClean="0"/>
              <a:t>Compensated Work Therapy  has three main components</a:t>
            </a:r>
          </a:p>
          <a:p>
            <a:pPr marL="274320" indent="-274320" fontAlgn="auto">
              <a:spcBef>
                <a:spcPts val="580"/>
              </a:spcBef>
              <a:spcAft>
                <a:spcPts val="0"/>
              </a:spcAft>
              <a:buFont typeface="Wingdings 2"/>
              <a:buChar char=""/>
              <a:defRPr/>
            </a:pPr>
            <a:r>
              <a:rPr lang="en-US" dirty="0" smtClean="0"/>
              <a:t>Transitional Work (TW)  </a:t>
            </a:r>
          </a:p>
          <a:p>
            <a:pPr marL="548640" lvl="1" fontAlgn="auto">
              <a:spcBef>
                <a:spcPts val="370"/>
              </a:spcBef>
              <a:spcAft>
                <a:spcPts val="0"/>
              </a:spcAft>
              <a:buFont typeface="Wingdings 2"/>
              <a:buChar char=""/>
              <a:defRPr/>
            </a:pPr>
            <a:r>
              <a:rPr lang="en-US" dirty="0" smtClean="0"/>
              <a:t>VA Healthcare facilities based</a:t>
            </a:r>
          </a:p>
          <a:p>
            <a:pPr marL="548640" lvl="1" fontAlgn="auto">
              <a:spcBef>
                <a:spcPts val="370"/>
              </a:spcBef>
              <a:spcAft>
                <a:spcPts val="0"/>
              </a:spcAft>
              <a:buFont typeface="Wingdings 2"/>
              <a:buChar char=""/>
              <a:defRPr/>
            </a:pPr>
            <a:r>
              <a:rPr lang="en-US" dirty="0" smtClean="0"/>
              <a:t>Community Based </a:t>
            </a:r>
          </a:p>
          <a:p>
            <a:pPr marL="548640" lvl="1" fontAlgn="auto">
              <a:spcBef>
                <a:spcPts val="370"/>
              </a:spcBef>
              <a:spcAft>
                <a:spcPts val="0"/>
              </a:spcAft>
              <a:buFont typeface="Wingdings 2"/>
              <a:buChar char=""/>
              <a:defRPr/>
            </a:pPr>
            <a:r>
              <a:rPr lang="en-US" dirty="0" smtClean="0"/>
              <a:t>Time limited (3 to 9 months)</a:t>
            </a:r>
          </a:p>
          <a:p>
            <a:pPr marL="274320" indent="-274320" fontAlgn="auto">
              <a:spcBef>
                <a:spcPts val="580"/>
              </a:spcBef>
              <a:spcAft>
                <a:spcPts val="0"/>
              </a:spcAft>
              <a:buFont typeface="Wingdings 2"/>
              <a:buChar char=""/>
              <a:defRPr/>
            </a:pPr>
            <a:r>
              <a:rPr lang="en-US" dirty="0" smtClean="0"/>
              <a:t>Supported Employment (SE)</a:t>
            </a:r>
          </a:p>
          <a:p>
            <a:pPr marL="548640" lvl="1" fontAlgn="auto">
              <a:spcBef>
                <a:spcPts val="370"/>
              </a:spcBef>
              <a:spcAft>
                <a:spcPts val="0"/>
              </a:spcAft>
              <a:buFont typeface="Wingdings 2"/>
              <a:buChar char=""/>
              <a:defRPr/>
            </a:pPr>
            <a:r>
              <a:rPr lang="en-US" dirty="0" smtClean="0"/>
              <a:t>Mental Health -Veterans with Psychotic Disorders</a:t>
            </a:r>
          </a:p>
          <a:p>
            <a:pPr marL="548640" lvl="1" fontAlgn="auto">
              <a:spcBef>
                <a:spcPts val="370"/>
              </a:spcBef>
              <a:spcAft>
                <a:spcPts val="0"/>
              </a:spcAft>
              <a:buFont typeface="Wingdings 2"/>
              <a:buChar char=""/>
              <a:defRPr/>
            </a:pPr>
            <a:r>
              <a:rPr lang="en-US" dirty="0" err="1" smtClean="0"/>
              <a:t>Polytrauma</a:t>
            </a:r>
            <a:r>
              <a:rPr lang="en-US" dirty="0" smtClean="0"/>
              <a:t> and Spinal/Cord Injury </a:t>
            </a:r>
          </a:p>
          <a:p>
            <a:pPr marL="274320" indent="-274320" fontAlgn="auto">
              <a:spcBef>
                <a:spcPts val="580"/>
              </a:spcBef>
              <a:spcAft>
                <a:spcPts val="0"/>
              </a:spcAft>
              <a:buFont typeface="Wingdings 2"/>
              <a:buChar char=""/>
              <a:defRPr/>
            </a:pPr>
            <a:r>
              <a:rPr lang="en-US" dirty="0" smtClean="0"/>
              <a:t>Homeless Veteran’s Supported Employment Program (HVSEP)</a:t>
            </a:r>
          </a:p>
          <a:p>
            <a:pPr marL="274320" indent="-274320" fontAlgn="auto">
              <a:spcBef>
                <a:spcPts val="580"/>
              </a:spcBef>
              <a:spcAft>
                <a:spcPts val="0"/>
              </a:spcAft>
              <a:buFont typeface="Wingdings 2"/>
              <a:buNone/>
              <a:defRPr/>
            </a:pPr>
            <a:endParaRPr lang="en-US" dirty="0" smtClean="0"/>
          </a:p>
          <a:p>
            <a:pPr marL="274320" indent="-274320" fontAlgn="auto">
              <a:spcBef>
                <a:spcPts val="580"/>
              </a:spcBef>
              <a:spcAft>
                <a:spcPts val="0"/>
              </a:spcAft>
              <a:buFont typeface="Wingdings 2"/>
              <a:buNone/>
              <a:defRPr/>
            </a:pPr>
            <a:endParaRPr lang="en-US" dirty="0" smtClean="0"/>
          </a:p>
          <a:p>
            <a:pPr marL="274320" indent="-274320" fontAlgn="auto">
              <a:spcBef>
                <a:spcPts val="580"/>
              </a:spcBef>
              <a:spcAft>
                <a:spcPts val="0"/>
              </a:spcAft>
              <a:buFont typeface="Wingdings 2"/>
              <a:buChar char=""/>
              <a:defRPr/>
            </a:pPr>
            <a:endParaRPr lang="en-US" dirty="0" smtClean="0"/>
          </a:p>
          <a:p>
            <a:pPr marL="274320" indent="-274320" fontAlgn="auto">
              <a:spcBef>
                <a:spcPts val="580"/>
              </a:spcBef>
              <a:spcAft>
                <a:spcPts val="0"/>
              </a:spcAft>
              <a:buFont typeface="Wingdings 2"/>
              <a:buChar char=""/>
              <a:defRPr/>
            </a:pPr>
            <a:endParaRPr lang="en-US" dirty="0" smtClean="0"/>
          </a:p>
          <a:p>
            <a:pPr marL="274320" indent="-274320" fontAlgn="auto">
              <a:spcBef>
                <a:spcPts val="580"/>
              </a:spcBef>
              <a:spcAft>
                <a:spcPts val="0"/>
              </a:spcAft>
              <a:buFont typeface="Wingdings 2"/>
              <a:buNone/>
              <a:defRPr/>
            </a:pPr>
            <a:endParaRPr lang="en-US" dirty="0"/>
          </a:p>
        </p:txBody>
      </p:sp>
      <p:pic>
        <p:nvPicPr>
          <p:cNvPr id="20483" name="Picture 4"/>
          <p:cNvPicPr>
            <a:picLocks noChangeAspect="1" noChangeArrowheads="1"/>
          </p:cNvPicPr>
          <p:nvPr/>
        </p:nvPicPr>
        <p:blipFill>
          <a:blip r:embed="rId2" cstate="print"/>
          <a:srcRect/>
          <a:stretch>
            <a:fillRect/>
          </a:stretch>
        </p:blipFill>
        <p:spPr bwMode="auto">
          <a:xfrm>
            <a:off x="304800" y="381000"/>
            <a:ext cx="838200" cy="838200"/>
          </a:xfrm>
          <a:prstGeom prst="rect">
            <a:avLst/>
          </a:prstGeom>
          <a:noFill/>
          <a:ln w="9525" algn="ctr">
            <a:noFill/>
            <a:miter lim="800000"/>
            <a:headEnd/>
            <a:tailEnd/>
          </a:ln>
        </p:spPr>
      </p:pic>
      <p:sp>
        <p:nvSpPr>
          <p:cNvPr id="8" name="TextBox 7"/>
          <p:cNvSpPr txBox="1"/>
          <p:nvPr/>
        </p:nvSpPr>
        <p:spPr>
          <a:xfrm>
            <a:off x="2317750" y="304800"/>
            <a:ext cx="6597650" cy="1200150"/>
          </a:xfrm>
          <a:prstGeom prst="rect">
            <a:avLst/>
          </a:prstGeom>
          <a:noFill/>
        </p:spPr>
        <p:txBody>
          <a:bodyPr>
            <a:spAutoFit/>
          </a:bodyPr>
          <a:lstStyle/>
          <a:p>
            <a:pPr algn="r">
              <a:defRPr/>
            </a:pPr>
            <a:r>
              <a:rPr lang="en-US" sz="3200" b="1" i="1" dirty="0">
                <a:effectLst>
                  <a:outerShdw blurRad="38100" dist="38100" dir="2700000" algn="tl">
                    <a:srgbClr val="000000">
                      <a:alpha val="43137"/>
                    </a:srgbClr>
                  </a:outerShdw>
                </a:effectLst>
                <a:latin typeface="AvantGarde"/>
                <a:cs typeface="+mn-cs"/>
              </a:rPr>
              <a:t>TSES</a:t>
            </a:r>
            <a:r>
              <a:rPr lang="en-US" sz="3600" b="1" i="1" dirty="0">
                <a:effectLst>
                  <a:outerShdw blurRad="38100" dist="38100" dir="2700000" algn="tl">
                    <a:srgbClr val="000000">
                      <a:alpha val="43137"/>
                    </a:srgbClr>
                  </a:outerShdw>
                </a:effectLst>
                <a:latin typeface="AvantGarde"/>
                <a:cs typeface="+mn-cs"/>
              </a:rPr>
              <a:t>- Compensated Work Therapy  </a:t>
            </a:r>
            <a:endParaRPr lang="en-US" sz="3600" b="1" i="1" dirty="0">
              <a:effectLst>
                <a:outerShdw blurRad="38100" dist="38100" dir="2700000" algn="tl">
                  <a:srgbClr val="000000">
                    <a:alpha val="43137"/>
                  </a:srgbClr>
                </a:outerShdw>
              </a:effectLst>
              <a:latin typeface="AvantGarde"/>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fontScale="92500" lnSpcReduction="10000"/>
          </a:bodyPr>
          <a:lstStyle/>
          <a:p>
            <a:pPr marL="274320" indent="-274320" fontAlgn="auto">
              <a:spcBef>
                <a:spcPts val="580"/>
              </a:spcBef>
              <a:spcAft>
                <a:spcPts val="0"/>
              </a:spcAft>
              <a:buFont typeface="Wingdings 2"/>
              <a:buNone/>
              <a:defRPr/>
            </a:pPr>
            <a:r>
              <a:rPr lang="en-US" dirty="0" smtClean="0"/>
              <a:t>Developed under  the Five Year Plan to end Homelessness</a:t>
            </a:r>
          </a:p>
          <a:p>
            <a:pPr marL="274320" indent="-274320" fontAlgn="auto">
              <a:spcBef>
                <a:spcPts val="580"/>
              </a:spcBef>
              <a:spcAft>
                <a:spcPts val="0"/>
              </a:spcAft>
              <a:buFont typeface="Wingdings 2"/>
              <a:buNone/>
              <a:defRPr/>
            </a:pPr>
            <a:endParaRPr lang="en-US" dirty="0" smtClean="0"/>
          </a:p>
          <a:p>
            <a:pPr marL="274320" indent="-274320" fontAlgn="auto">
              <a:spcBef>
                <a:spcPts val="580"/>
              </a:spcBef>
              <a:spcAft>
                <a:spcPts val="0"/>
              </a:spcAft>
              <a:buFont typeface="Wingdings 2"/>
              <a:buChar char=""/>
              <a:defRPr/>
            </a:pPr>
            <a:r>
              <a:rPr lang="en-US" dirty="0" smtClean="0"/>
              <a:t>400 Vocational Rehabilitation Specialists (VRS)across the VA</a:t>
            </a:r>
          </a:p>
          <a:p>
            <a:pPr marL="274320" indent="-274320" fontAlgn="auto">
              <a:spcBef>
                <a:spcPts val="580"/>
              </a:spcBef>
              <a:spcAft>
                <a:spcPts val="0"/>
              </a:spcAft>
              <a:buFont typeface="Wingdings 2"/>
              <a:buChar char=""/>
              <a:defRPr/>
            </a:pPr>
            <a:r>
              <a:rPr lang="en-US" dirty="0" smtClean="0"/>
              <a:t>VRS integrated into to Homeless Services Teams</a:t>
            </a:r>
          </a:p>
          <a:p>
            <a:pPr marL="274320" indent="-274320" fontAlgn="auto">
              <a:spcBef>
                <a:spcPts val="580"/>
              </a:spcBef>
              <a:spcAft>
                <a:spcPts val="0"/>
              </a:spcAft>
              <a:buFont typeface="Wingdings 2"/>
              <a:buChar char=""/>
              <a:defRPr/>
            </a:pPr>
            <a:r>
              <a:rPr lang="en-US" dirty="0" smtClean="0"/>
              <a:t> Community Based Supported Employment services </a:t>
            </a:r>
          </a:p>
          <a:p>
            <a:pPr marL="274320" indent="-274320" fontAlgn="auto">
              <a:spcBef>
                <a:spcPts val="580"/>
              </a:spcBef>
              <a:spcAft>
                <a:spcPts val="0"/>
              </a:spcAft>
              <a:buFont typeface="Wingdings 2"/>
              <a:buChar char=""/>
              <a:defRPr/>
            </a:pPr>
            <a:r>
              <a:rPr lang="en-US" dirty="0" smtClean="0"/>
              <a:t>Targeted job search</a:t>
            </a:r>
          </a:p>
          <a:p>
            <a:pPr marL="274320" indent="-274320" fontAlgn="auto">
              <a:spcBef>
                <a:spcPts val="580"/>
              </a:spcBef>
              <a:spcAft>
                <a:spcPts val="0"/>
              </a:spcAft>
              <a:buFont typeface="Wingdings 2"/>
              <a:buChar char=""/>
              <a:defRPr/>
            </a:pPr>
            <a:r>
              <a:rPr lang="en-US" dirty="0" smtClean="0"/>
              <a:t>Job placement </a:t>
            </a:r>
          </a:p>
          <a:p>
            <a:pPr marL="274320" indent="-274320" fontAlgn="auto">
              <a:spcBef>
                <a:spcPts val="580"/>
              </a:spcBef>
              <a:spcAft>
                <a:spcPts val="0"/>
              </a:spcAft>
              <a:buFont typeface="Wingdings 2"/>
              <a:buChar char=""/>
              <a:defRPr/>
            </a:pPr>
            <a:r>
              <a:rPr lang="en-US" dirty="0" smtClean="0"/>
              <a:t>Ongoing Employment Support </a:t>
            </a:r>
          </a:p>
          <a:p>
            <a:pPr marL="274320" indent="-274320" fontAlgn="auto">
              <a:spcBef>
                <a:spcPts val="580"/>
              </a:spcBef>
              <a:spcAft>
                <a:spcPts val="0"/>
              </a:spcAft>
              <a:buFont typeface="Wingdings 2"/>
              <a:buChar char=""/>
              <a:defRPr/>
            </a:pPr>
            <a:r>
              <a:rPr lang="en-US" smtClean="0">
                <a:hlinkClick r:id="rId2"/>
              </a:rPr>
              <a:t>www.cwt.va.gov</a:t>
            </a:r>
            <a:endParaRPr lang="en-US" smtClean="0"/>
          </a:p>
          <a:p>
            <a:pPr marL="274320" indent="-274320" fontAlgn="auto">
              <a:spcBef>
                <a:spcPts val="580"/>
              </a:spcBef>
              <a:spcAft>
                <a:spcPts val="0"/>
              </a:spcAft>
              <a:buFont typeface="Wingdings 2"/>
              <a:buNone/>
              <a:defRPr/>
            </a:pPr>
            <a:endParaRPr lang="en-US" dirty="0" smtClean="0"/>
          </a:p>
          <a:p>
            <a:pPr marL="274320" indent="-274320" fontAlgn="auto">
              <a:spcBef>
                <a:spcPts val="580"/>
              </a:spcBef>
              <a:spcAft>
                <a:spcPts val="0"/>
              </a:spcAft>
              <a:buFont typeface="Wingdings 2"/>
              <a:buNone/>
              <a:defRPr/>
            </a:pPr>
            <a:endParaRPr lang="en-US" dirty="0"/>
          </a:p>
        </p:txBody>
      </p:sp>
      <p:pic>
        <p:nvPicPr>
          <p:cNvPr id="21507" name="Picture 4"/>
          <p:cNvPicPr>
            <a:picLocks noChangeAspect="1" noChangeArrowheads="1"/>
          </p:cNvPicPr>
          <p:nvPr/>
        </p:nvPicPr>
        <p:blipFill>
          <a:blip r:embed="rId3" cstate="print"/>
          <a:srcRect/>
          <a:stretch>
            <a:fillRect/>
          </a:stretch>
        </p:blipFill>
        <p:spPr bwMode="auto">
          <a:xfrm>
            <a:off x="304800" y="381000"/>
            <a:ext cx="838200" cy="838200"/>
          </a:xfrm>
          <a:prstGeom prst="rect">
            <a:avLst/>
          </a:prstGeom>
          <a:noFill/>
          <a:ln w="9525" algn="ctr">
            <a:noFill/>
            <a:miter lim="800000"/>
            <a:headEnd/>
            <a:tailEnd/>
          </a:ln>
        </p:spPr>
      </p:pic>
      <p:sp>
        <p:nvSpPr>
          <p:cNvPr id="6" name="Title 5"/>
          <p:cNvSpPr>
            <a:spLocks noGrp="1"/>
          </p:cNvSpPr>
          <p:nvPr>
            <p:ph type="title"/>
          </p:nvPr>
        </p:nvSpPr>
        <p:spPr/>
        <p:txBody>
          <a:bodyPr>
            <a:normAutofit fontScale="90000"/>
          </a:bodyPr>
          <a:lstStyle/>
          <a:p>
            <a:pPr algn="r" fontAlgn="auto">
              <a:spcAft>
                <a:spcPts val="0"/>
              </a:spcAft>
              <a:defRPr/>
            </a:pPr>
            <a:r>
              <a:rPr lang="en-US" b="1" i="1" dirty="0" smtClean="0">
                <a:solidFill>
                  <a:schemeClr val="tx1"/>
                </a:solidFill>
                <a:effectLst>
                  <a:outerShdw blurRad="38100" dist="38100" dir="2700000" algn="tl">
                    <a:srgbClr val="000000">
                      <a:alpha val="43137"/>
                    </a:srgbClr>
                  </a:outerShdw>
                </a:effectLst>
                <a:latin typeface="AvantGarde"/>
              </a:rPr>
              <a:t>Homeless Veteran’s Supported Employment Program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429000" y="0"/>
            <a:ext cx="5486400" cy="914400"/>
          </a:xfrm>
        </p:spPr>
        <p:txBody>
          <a:bodyPr/>
          <a:lstStyle/>
          <a:p>
            <a:pPr algn="r"/>
            <a:r>
              <a:rPr lang="en-US" sz="2400" b="1" smtClean="0">
                <a:solidFill>
                  <a:schemeClr val="bg1"/>
                </a:solidFill>
              </a:rPr>
              <a:t>Veterans Homelessness Prevention Demonstration (VHPD)</a:t>
            </a:r>
          </a:p>
        </p:txBody>
      </p:sp>
      <p:sp>
        <p:nvSpPr>
          <p:cNvPr id="24579" name="Content Placeholder 2"/>
          <p:cNvSpPr>
            <a:spLocks noGrp="1"/>
          </p:cNvSpPr>
          <p:nvPr>
            <p:ph sz="quarter" idx="1"/>
          </p:nvPr>
        </p:nvSpPr>
        <p:spPr>
          <a:xfrm>
            <a:off x="685800" y="1687513"/>
            <a:ext cx="7772400" cy="4618037"/>
          </a:xfrm>
        </p:spPr>
        <p:txBody>
          <a:bodyPr>
            <a:normAutofit fontScale="92500" lnSpcReduction="10000"/>
          </a:bodyPr>
          <a:lstStyle/>
          <a:p>
            <a:pPr marL="274320" indent="-274320" fontAlgn="auto">
              <a:spcBef>
                <a:spcPts val="580"/>
              </a:spcBef>
              <a:spcAft>
                <a:spcPts val="0"/>
              </a:spcAft>
              <a:buFont typeface="Wingdings 2"/>
              <a:buChar char=""/>
              <a:defRPr/>
            </a:pPr>
            <a:r>
              <a:rPr lang="en-US" sz="2800" dirty="0" smtClean="0"/>
              <a:t>Collaboration of HUD, VA, and Department of Labor</a:t>
            </a:r>
          </a:p>
          <a:p>
            <a:pPr marL="548640" lvl="1" fontAlgn="auto">
              <a:spcBef>
                <a:spcPts val="370"/>
              </a:spcBef>
              <a:spcAft>
                <a:spcPts val="0"/>
              </a:spcAft>
              <a:buFont typeface="Wingdings 2"/>
              <a:buChar char=""/>
              <a:defRPr/>
            </a:pPr>
            <a:r>
              <a:rPr lang="en-US" sz="2800" dirty="0" smtClean="0"/>
              <a:t>HUD $10 million for housing assistance</a:t>
            </a:r>
          </a:p>
          <a:p>
            <a:pPr marL="548640" lvl="1" fontAlgn="auto">
              <a:spcBef>
                <a:spcPts val="370"/>
              </a:spcBef>
              <a:spcAft>
                <a:spcPts val="0"/>
              </a:spcAft>
              <a:buFont typeface="Wingdings 2"/>
              <a:buChar char=""/>
              <a:defRPr/>
            </a:pPr>
            <a:r>
              <a:rPr lang="en-US" sz="2800" dirty="0" smtClean="0"/>
              <a:t>VA  $5 million for health care assessment and services</a:t>
            </a:r>
          </a:p>
          <a:p>
            <a:pPr marL="548640" lvl="1" fontAlgn="auto">
              <a:spcBef>
                <a:spcPts val="370"/>
              </a:spcBef>
              <a:spcAft>
                <a:spcPts val="0"/>
              </a:spcAft>
              <a:buFont typeface="Wingdings 2"/>
              <a:buChar char=""/>
              <a:defRPr/>
            </a:pPr>
            <a:r>
              <a:rPr lang="en-US" sz="2800" dirty="0" smtClean="0"/>
              <a:t>DOL will provide education and job training</a:t>
            </a:r>
          </a:p>
          <a:p>
            <a:pPr marL="274320" indent="-274320" fontAlgn="auto">
              <a:spcBef>
                <a:spcPts val="580"/>
              </a:spcBef>
              <a:spcAft>
                <a:spcPts val="0"/>
              </a:spcAft>
              <a:buFont typeface="Wingdings 2"/>
              <a:buChar char=""/>
              <a:defRPr/>
            </a:pPr>
            <a:r>
              <a:rPr lang="en-US" sz="2800" dirty="0" smtClean="0"/>
              <a:t>Announced 5 sites—near military bases</a:t>
            </a:r>
          </a:p>
          <a:p>
            <a:pPr marL="548640" lvl="1" fontAlgn="auto">
              <a:spcBef>
                <a:spcPts val="370"/>
              </a:spcBef>
              <a:spcAft>
                <a:spcPts val="0"/>
              </a:spcAft>
              <a:buFont typeface="Wingdings 2"/>
              <a:buChar char=""/>
              <a:defRPr/>
            </a:pPr>
            <a:r>
              <a:rPr lang="en-US" sz="2800" dirty="0" smtClean="0"/>
              <a:t>Targets veterans from wars in Iraq and Afghanistan </a:t>
            </a:r>
          </a:p>
          <a:p>
            <a:pPr marL="548640" lvl="1" fontAlgn="auto">
              <a:spcBef>
                <a:spcPts val="370"/>
              </a:spcBef>
              <a:spcAft>
                <a:spcPts val="0"/>
              </a:spcAft>
              <a:buFont typeface="Wingdings 2"/>
              <a:buChar char=""/>
              <a:defRPr/>
            </a:pPr>
            <a:r>
              <a:rPr lang="en-US" sz="2800" dirty="0" smtClean="0"/>
              <a:t>Urban and rural</a:t>
            </a:r>
          </a:p>
          <a:p>
            <a:pPr marL="274320" indent="-274320" fontAlgn="auto">
              <a:spcBef>
                <a:spcPts val="580"/>
              </a:spcBef>
              <a:spcAft>
                <a:spcPts val="0"/>
              </a:spcAft>
              <a:buFont typeface="Wingdings 2"/>
              <a:buChar char=""/>
              <a:defRPr/>
            </a:pPr>
            <a:r>
              <a:rPr lang="en-US" sz="2800" dirty="0" smtClean="0"/>
              <a:t>Similar in design to HPRP</a:t>
            </a:r>
          </a:p>
          <a:p>
            <a:pPr marL="274320" indent="-274320" fontAlgn="auto">
              <a:spcBef>
                <a:spcPts val="580"/>
              </a:spcBef>
              <a:spcAft>
                <a:spcPts val="0"/>
              </a:spcAft>
              <a:buFontTx/>
              <a:buNone/>
              <a:defRPr/>
            </a:pPr>
            <a:endParaRPr lang="en-US" dirty="0" smtClean="0"/>
          </a:p>
        </p:txBody>
      </p:sp>
      <p:sp>
        <p:nvSpPr>
          <p:cNvPr id="4" name="TextBox 3"/>
          <p:cNvSpPr txBox="1"/>
          <p:nvPr/>
        </p:nvSpPr>
        <p:spPr>
          <a:xfrm>
            <a:off x="2819400" y="304800"/>
            <a:ext cx="5638800" cy="954088"/>
          </a:xfrm>
          <a:prstGeom prst="rect">
            <a:avLst/>
          </a:prstGeom>
          <a:noFill/>
        </p:spPr>
        <p:txBody>
          <a:bodyPr>
            <a:spAutoFit/>
          </a:bodyPr>
          <a:lstStyle/>
          <a:p>
            <a:pPr algn="r">
              <a:defRPr/>
            </a:pPr>
            <a:r>
              <a:rPr lang="en-US" sz="2800" b="1" i="1" dirty="0">
                <a:effectLst>
                  <a:outerShdw blurRad="38100" dist="38100" dir="2700000" algn="tl">
                    <a:srgbClr val="000000">
                      <a:alpha val="43137"/>
                    </a:srgbClr>
                  </a:outerShdw>
                </a:effectLst>
                <a:latin typeface="AvantGarde"/>
                <a:cs typeface="+mn-cs"/>
              </a:rPr>
              <a:t>Veterans Homeless Prevention Demonstration (VHPD)</a:t>
            </a:r>
          </a:p>
        </p:txBody>
      </p:sp>
      <p:pic>
        <p:nvPicPr>
          <p:cNvPr id="22533" name="Picture 5"/>
          <p:cNvPicPr>
            <a:picLocks noChangeAspect="1" noChangeArrowheads="1"/>
          </p:cNvPicPr>
          <p:nvPr/>
        </p:nvPicPr>
        <p:blipFill>
          <a:blip r:embed="rId3"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1"/>
          <p:cNvSpPr>
            <a:spLocks noGrp="1"/>
          </p:cNvSpPr>
          <p:nvPr>
            <p:ph type="ftr" sz="quarter" idx="11"/>
          </p:nvPr>
        </p:nvSpPr>
        <p:spPr bwMode="auto">
          <a:xfrm>
            <a:off x="6172200" y="6191250"/>
            <a:ext cx="2476500" cy="476250"/>
          </a:xfrm>
          <a:noFill/>
          <a:ln>
            <a:miter lim="800000"/>
            <a:headEnd/>
            <a:tailEnd/>
          </a:ln>
        </p:spPr>
        <p:txBody>
          <a:bodyPr vert="horz" wrap="square" lIns="91440" tIns="45720" rIns="91440" bIns="45720" numCol="1" compatLnSpc="1">
            <a:prstTxWarp prst="textNoShape">
              <a:avLst/>
            </a:prstTxWarp>
          </a:bodyPr>
          <a:lstStyle/>
          <a:p>
            <a:pPr algn="r"/>
            <a:endParaRPr lang="en-US">
              <a:latin typeface="Arial" pitchFamily="34" charset="0"/>
            </a:endParaRPr>
          </a:p>
        </p:txBody>
      </p:sp>
      <p:sp>
        <p:nvSpPr>
          <p:cNvPr id="25603" name="Slide Number Placeholder 2"/>
          <p:cNvSpPr>
            <a:spLocks noGrp="1"/>
          </p:cNvSpPr>
          <p:nvPr>
            <p:ph type="sldNum" sz="quarter" idx="12"/>
          </p:nvPr>
        </p:nvSpPr>
        <p:spPr bwMode="auto">
          <a:xfrm>
            <a:off x="914400" y="6172200"/>
            <a:ext cx="3962400" cy="457200"/>
          </a:xfrm>
          <a:prstGeom prst="rect">
            <a:avLst/>
          </a:prstGeom>
          <a:noFill/>
          <a:ln>
            <a:miter lim="800000"/>
            <a:headEnd/>
            <a:tailEnd/>
          </a:ln>
        </p:spPr>
        <p:txBody>
          <a:bodyPr vert="horz" wrap="square" lIns="91440" tIns="45720" rIns="91440" bIns="45720" numCol="1" anchorCtr="0" compatLnSpc="1">
            <a:prstTxWarp prst="textNoShape">
              <a:avLst/>
            </a:prstTxWarp>
          </a:bodyPr>
          <a:lstStyle/>
          <a:p>
            <a:pPr algn="l">
              <a:defRPr/>
            </a:pPr>
            <a:fld id="{5D1E5002-CCEF-4239-91AD-D6049259259B}" type="slidenum">
              <a:rPr lang="en-US">
                <a:solidFill>
                  <a:schemeClr val="tx2"/>
                </a:solidFill>
                <a:latin typeface="Arial" charset="0"/>
              </a:rPr>
              <a:pPr algn="l">
                <a:defRPr/>
              </a:pPr>
              <a:t>17</a:t>
            </a:fld>
            <a:endParaRPr lang="en-US">
              <a:solidFill>
                <a:schemeClr val="tx2"/>
              </a:solidFill>
              <a:latin typeface="Arial" charset="0"/>
            </a:endParaRPr>
          </a:p>
        </p:txBody>
      </p:sp>
      <p:sp>
        <p:nvSpPr>
          <p:cNvPr id="4" name="TextBox 3"/>
          <p:cNvSpPr txBox="1"/>
          <p:nvPr/>
        </p:nvSpPr>
        <p:spPr>
          <a:xfrm>
            <a:off x="5410200" y="228600"/>
            <a:ext cx="3352800" cy="708025"/>
          </a:xfrm>
          <a:prstGeom prst="rect">
            <a:avLst/>
          </a:prstGeom>
          <a:noFill/>
        </p:spPr>
        <p:txBody>
          <a:bodyPr>
            <a:spAutoFit/>
          </a:bodyPr>
          <a:lstStyle/>
          <a:p>
            <a:pPr algn="r">
              <a:defRPr/>
            </a:pPr>
            <a:r>
              <a:rPr lang="en-US" sz="4000" b="1" i="1" dirty="0">
                <a:effectLst>
                  <a:outerShdw blurRad="38100" dist="38100" dir="2700000" algn="tl">
                    <a:srgbClr val="000000">
                      <a:alpha val="43137"/>
                    </a:srgbClr>
                  </a:outerShdw>
                </a:effectLst>
                <a:latin typeface="AvantGarde"/>
                <a:cs typeface="+mn-cs"/>
              </a:rPr>
              <a:t>VHPD Sites</a:t>
            </a:r>
          </a:p>
        </p:txBody>
      </p:sp>
      <p:graphicFrame>
        <p:nvGraphicFramePr>
          <p:cNvPr id="6" name="Table 5"/>
          <p:cNvGraphicFramePr>
            <a:graphicFrameLocks noGrp="1"/>
          </p:cNvGraphicFramePr>
          <p:nvPr/>
        </p:nvGraphicFramePr>
        <p:xfrm>
          <a:off x="914400" y="1371600"/>
          <a:ext cx="7696200" cy="4876800"/>
        </p:xfrm>
        <a:graphic>
          <a:graphicData uri="http://schemas.openxmlformats.org/drawingml/2006/table">
            <a:tbl>
              <a:tblPr/>
              <a:tblGrid>
                <a:gridCol w="2570891"/>
                <a:gridCol w="2382000"/>
                <a:gridCol w="2743309"/>
              </a:tblGrid>
              <a:tr h="375139">
                <a:tc>
                  <a:txBody>
                    <a:bodyPr/>
                    <a:lstStyle/>
                    <a:p>
                      <a:pPr marL="0" marR="0">
                        <a:spcBef>
                          <a:spcPts val="0"/>
                        </a:spcBef>
                        <a:spcAft>
                          <a:spcPts val="0"/>
                        </a:spcAft>
                      </a:pPr>
                      <a:r>
                        <a:rPr lang="en-US" sz="1100">
                          <a:solidFill>
                            <a:srgbClr val="000000"/>
                          </a:solidFill>
                          <a:latin typeface="Arial"/>
                          <a:ea typeface="Times New Roman"/>
                          <a:cs typeface="Times New Roman"/>
                        </a:rPr>
                        <a:t>Selected Sites</a:t>
                      </a:r>
                      <a:endParaRPr lang="en-US"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9C3"/>
                    </a:solidFill>
                  </a:tcPr>
                </a:tc>
                <a:tc>
                  <a:txBody>
                    <a:bodyPr/>
                    <a:lstStyle/>
                    <a:p>
                      <a:pPr marL="0" marR="0" algn="ctr">
                        <a:spcBef>
                          <a:spcPts val="0"/>
                        </a:spcBef>
                        <a:spcAft>
                          <a:spcPts val="0"/>
                        </a:spcAft>
                      </a:pPr>
                      <a:r>
                        <a:rPr lang="en-US" sz="1100">
                          <a:latin typeface="Arial"/>
                          <a:ea typeface="Times New Roman"/>
                          <a:cs typeface="Times New Roman"/>
                        </a:rPr>
                        <a:t>VAMC</a:t>
                      </a:r>
                      <a:endParaRPr lang="en-US" sz="11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9C3"/>
                    </a:solidFill>
                  </a:tcPr>
                </a:tc>
                <a:tc>
                  <a:txBody>
                    <a:bodyPr/>
                    <a:lstStyle/>
                    <a:p>
                      <a:pPr marL="0" marR="0" algn="ctr">
                        <a:spcBef>
                          <a:spcPts val="0"/>
                        </a:spcBef>
                        <a:spcAft>
                          <a:spcPts val="0"/>
                        </a:spcAft>
                      </a:pPr>
                      <a:r>
                        <a:rPr lang="en-US" sz="1100">
                          <a:latin typeface="Arial"/>
                          <a:ea typeface="Times New Roman"/>
                          <a:cs typeface="Times New Roman"/>
                        </a:rPr>
                        <a:t>Selected CoC</a:t>
                      </a:r>
                      <a:endParaRPr lang="en-US" sz="11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9C3"/>
                    </a:solidFill>
                  </a:tcPr>
                </a:tc>
              </a:tr>
              <a:tr h="750277">
                <a:tc>
                  <a:txBody>
                    <a:bodyPr/>
                    <a:lstStyle/>
                    <a:p>
                      <a:pPr marL="0" marR="0">
                        <a:spcBef>
                          <a:spcPts val="0"/>
                        </a:spcBef>
                        <a:spcAft>
                          <a:spcPts val="0"/>
                        </a:spcAft>
                      </a:pPr>
                      <a:r>
                        <a:rPr lang="en-US" sz="2000">
                          <a:solidFill>
                            <a:srgbClr val="000000"/>
                          </a:solidFill>
                          <a:latin typeface="Arial"/>
                          <a:ea typeface="Times New Roman"/>
                          <a:cs typeface="Times New Roman"/>
                        </a:rPr>
                        <a:t>Camp Pendleton (San Diego, CA)</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San Diego</a:t>
                      </a:r>
                      <a:endParaRPr lang="en-US" sz="20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City of San Diego CoC</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0277">
                <a:tc>
                  <a:txBody>
                    <a:bodyPr/>
                    <a:lstStyle/>
                    <a:p>
                      <a:pPr marL="0" marR="0">
                        <a:spcBef>
                          <a:spcPts val="0"/>
                        </a:spcBef>
                        <a:spcAft>
                          <a:spcPts val="0"/>
                        </a:spcAft>
                      </a:pPr>
                      <a:r>
                        <a:rPr lang="en-US" sz="2000">
                          <a:solidFill>
                            <a:srgbClr val="000000"/>
                          </a:solidFill>
                          <a:latin typeface="Arial"/>
                          <a:ea typeface="Times New Roman"/>
                          <a:cs typeface="Times New Roman"/>
                        </a:rPr>
                        <a:t>Fort Hood ( Killeen, TX)</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Central Texas</a:t>
                      </a:r>
                      <a:endParaRPr lang="en-US" sz="20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Austin/Travis CoC</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25416">
                <a:tc>
                  <a:txBody>
                    <a:bodyPr/>
                    <a:lstStyle/>
                    <a:p>
                      <a:pPr marL="0" marR="0">
                        <a:spcBef>
                          <a:spcPts val="0"/>
                        </a:spcBef>
                        <a:spcAft>
                          <a:spcPts val="0"/>
                        </a:spcAft>
                      </a:pPr>
                      <a:r>
                        <a:rPr lang="en-US" sz="2000">
                          <a:solidFill>
                            <a:srgbClr val="000000"/>
                          </a:solidFill>
                          <a:latin typeface="Arial"/>
                          <a:ea typeface="Times New Roman"/>
                          <a:cs typeface="Times New Roman"/>
                        </a:rPr>
                        <a:t>Fort Drum  (Watertown, NY)</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Upstate New York</a:t>
                      </a:r>
                      <a:endParaRPr lang="en-US" sz="20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Utica</a:t>
                      </a:r>
                      <a:r>
                        <a:rPr lang="en-US" sz="2000">
                          <a:latin typeface="Arial"/>
                          <a:ea typeface="Times New Roman"/>
                          <a:cs typeface="Times New Roman"/>
                        </a:rPr>
                        <a:t> /Rome/Oneida County CoC</a:t>
                      </a:r>
                      <a:r>
                        <a:rPr lang="en-US" sz="2000">
                          <a:solidFill>
                            <a:srgbClr val="000000"/>
                          </a:solidFill>
                          <a:latin typeface="Arial"/>
                          <a:ea typeface="Times New Roman"/>
                          <a:cs typeface="Times New Roman"/>
                        </a:rPr>
                        <a:t> </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125416">
                <a:tc>
                  <a:txBody>
                    <a:bodyPr/>
                    <a:lstStyle/>
                    <a:p>
                      <a:pPr marL="0" marR="0">
                        <a:spcBef>
                          <a:spcPts val="0"/>
                        </a:spcBef>
                        <a:spcAft>
                          <a:spcPts val="0"/>
                        </a:spcAft>
                      </a:pPr>
                      <a:r>
                        <a:rPr lang="en-US" sz="2000">
                          <a:solidFill>
                            <a:srgbClr val="000000"/>
                          </a:solidFill>
                          <a:latin typeface="Arial"/>
                          <a:ea typeface="Times New Roman"/>
                          <a:cs typeface="Times New Roman"/>
                        </a:rPr>
                        <a:t>Joint Base Lewis - McChord  (Seattle, WA)</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Puget Sound</a:t>
                      </a:r>
                      <a:endParaRPr lang="en-US" sz="20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Tacoma, Lakewood, Pierce County CoC</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0277">
                <a:tc>
                  <a:txBody>
                    <a:bodyPr/>
                    <a:lstStyle/>
                    <a:p>
                      <a:pPr marL="0" marR="0">
                        <a:spcBef>
                          <a:spcPts val="0"/>
                        </a:spcBef>
                        <a:spcAft>
                          <a:spcPts val="0"/>
                        </a:spcAft>
                      </a:pPr>
                      <a:r>
                        <a:rPr lang="en-US" sz="2000">
                          <a:solidFill>
                            <a:srgbClr val="000000"/>
                          </a:solidFill>
                          <a:latin typeface="Arial"/>
                          <a:ea typeface="Times New Roman"/>
                          <a:cs typeface="Times New Roman"/>
                        </a:rPr>
                        <a:t>McDill Air Force Base (Tampa, FL)</a:t>
                      </a:r>
                      <a:endParaRPr lang="en-US" sz="20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solidFill>
                            <a:srgbClr val="000000"/>
                          </a:solidFill>
                          <a:latin typeface="Arial"/>
                          <a:ea typeface="Times New Roman"/>
                          <a:cs typeface="Times New Roman"/>
                        </a:rPr>
                        <a:t>Tampa Bay</a:t>
                      </a:r>
                      <a:endParaRPr lang="en-US" sz="2000">
                        <a:latin typeface="Calibri"/>
                        <a:ea typeface="Times New Roman"/>
                        <a:cs typeface="Times New Roman"/>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solidFill>
                            <a:srgbClr val="000000"/>
                          </a:solidFill>
                          <a:latin typeface="Arial"/>
                          <a:ea typeface="Times New Roman"/>
                          <a:cs typeface="Times New Roman"/>
                        </a:rPr>
                        <a:t>Tampa, Hillsborough County </a:t>
                      </a:r>
                      <a:r>
                        <a:rPr lang="en-US" sz="2000" dirty="0" err="1">
                          <a:solidFill>
                            <a:srgbClr val="000000"/>
                          </a:solidFill>
                          <a:latin typeface="Arial"/>
                          <a:ea typeface="Times New Roman"/>
                          <a:cs typeface="Times New Roman"/>
                        </a:rPr>
                        <a:t>CoC</a:t>
                      </a:r>
                      <a:endParaRPr lang="en-US" sz="20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23587" name="Picture 5"/>
          <p:cNvPicPr>
            <a:picLocks noChangeAspect="1" noChangeArrowheads="1"/>
          </p:cNvPicPr>
          <p:nvPr/>
        </p:nvPicPr>
        <p:blipFill>
          <a:blip r:embed="rId2"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sz="quarter" idx="1"/>
          </p:nvPr>
        </p:nvSpPr>
        <p:spPr>
          <a:xfrm>
            <a:off x="457200" y="1219200"/>
            <a:ext cx="8229600" cy="5322888"/>
          </a:xfrm>
        </p:spPr>
        <p:txBody>
          <a:bodyPr>
            <a:normAutofit fontScale="85000" lnSpcReduction="20000"/>
          </a:bodyPr>
          <a:lstStyle/>
          <a:p>
            <a:pPr marL="274320" indent="-274320" fontAlgn="auto">
              <a:spcBef>
                <a:spcPts val="580"/>
              </a:spcBef>
              <a:spcAft>
                <a:spcPts val="0"/>
              </a:spcAft>
              <a:buFont typeface="Wingdings 2"/>
              <a:buChar char=""/>
              <a:defRPr/>
            </a:pPr>
            <a:r>
              <a:rPr lang="en-US" sz="3200" dirty="0" smtClean="0"/>
              <a:t>Many homeless people are unable to work due to a disability. Veterans are more likely to be older and disabled than the general homeless population. </a:t>
            </a:r>
          </a:p>
          <a:p>
            <a:pPr marL="274320" indent="-274320" fontAlgn="auto">
              <a:spcBef>
                <a:spcPts val="580"/>
              </a:spcBef>
              <a:spcAft>
                <a:spcPts val="0"/>
              </a:spcAft>
              <a:buFont typeface="Wingdings 2"/>
              <a:buChar char=""/>
              <a:defRPr/>
            </a:pPr>
            <a:r>
              <a:rPr lang="en-US" sz="3200" dirty="0" smtClean="0"/>
              <a:t>Both Veterans Benefits Administration (VBA) (service connected and pension payments) and mainstream resources (Social Security, TANF, SNAPs) can offer critical assistance.</a:t>
            </a:r>
          </a:p>
          <a:p>
            <a:pPr marL="274320" indent="-274320" fontAlgn="auto">
              <a:spcBef>
                <a:spcPts val="580"/>
              </a:spcBef>
              <a:spcAft>
                <a:spcPts val="0"/>
              </a:spcAft>
              <a:buFont typeface="Wingdings 2"/>
              <a:buChar char=""/>
              <a:defRPr/>
            </a:pPr>
            <a:r>
              <a:rPr lang="en-US" sz="3200" dirty="0" smtClean="0"/>
              <a:t>VBA provides services for homeless Veterans at all 56 regional offices. For the VA Regional Office nearest you, call the VA toll free number at </a:t>
            </a:r>
            <a:r>
              <a:rPr lang="en-US" sz="3200" b="1" dirty="0" smtClean="0"/>
              <a:t>1-800-827-1000. </a:t>
            </a:r>
          </a:p>
          <a:p>
            <a:pPr marL="274320" indent="-274320" fontAlgn="auto">
              <a:spcBef>
                <a:spcPts val="580"/>
              </a:spcBef>
              <a:spcAft>
                <a:spcPts val="0"/>
              </a:spcAft>
              <a:buFont typeface="Wingdings 2"/>
              <a:buChar char=""/>
              <a:defRPr/>
            </a:pPr>
            <a:r>
              <a:rPr lang="en-US" sz="3200" dirty="0" smtClean="0"/>
              <a:t>Check </a:t>
            </a:r>
            <a:r>
              <a:rPr lang="en-US" sz="3200" dirty="0" smtClean="0">
                <a:hlinkClick r:id="rId2"/>
              </a:rPr>
              <a:t>www.va.gov/HOMELESS/SSVF.asp</a:t>
            </a:r>
            <a:r>
              <a:rPr lang="en-US" sz="3200" dirty="0" smtClean="0"/>
              <a:t>, “SSVF Post-Award Conference Materials” for VBA presentation on benefits.</a:t>
            </a:r>
          </a:p>
          <a:p>
            <a:pPr marL="274320" indent="-274320" fontAlgn="auto">
              <a:spcBef>
                <a:spcPts val="580"/>
              </a:spcBef>
              <a:spcAft>
                <a:spcPts val="0"/>
              </a:spcAft>
              <a:buFontTx/>
              <a:buNone/>
              <a:defRPr/>
            </a:pPr>
            <a:endParaRPr lang="en-US" dirty="0" smtClean="0"/>
          </a:p>
        </p:txBody>
      </p:sp>
      <p:sp>
        <p:nvSpPr>
          <p:cNvPr id="6" name="TextBox 5"/>
          <p:cNvSpPr txBox="1"/>
          <p:nvPr/>
        </p:nvSpPr>
        <p:spPr>
          <a:xfrm>
            <a:off x="4648200" y="152400"/>
            <a:ext cx="4114800" cy="708025"/>
          </a:xfrm>
          <a:prstGeom prst="rect">
            <a:avLst/>
          </a:prstGeom>
          <a:noFill/>
        </p:spPr>
        <p:txBody>
          <a:bodyPr>
            <a:spAutoFit/>
          </a:bodyPr>
          <a:lstStyle/>
          <a:p>
            <a:pPr algn="r">
              <a:defRPr/>
            </a:pPr>
            <a:r>
              <a:rPr lang="en-US" sz="4000" b="1" i="1" dirty="0">
                <a:effectLst>
                  <a:outerShdw blurRad="38100" dist="38100" dir="2700000" algn="tl">
                    <a:srgbClr val="000000">
                      <a:alpha val="43137"/>
                    </a:srgbClr>
                  </a:outerShdw>
                </a:effectLst>
                <a:latin typeface="AvantGarde"/>
                <a:cs typeface="+mn-cs"/>
              </a:rPr>
              <a:t>Benefits</a:t>
            </a:r>
          </a:p>
        </p:txBody>
      </p:sp>
      <p:pic>
        <p:nvPicPr>
          <p:cNvPr id="24580" name="Picture 5"/>
          <p:cNvPicPr>
            <a:picLocks noChangeAspect="1" noChangeArrowheads="1"/>
          </p:cNvPicPr>
          <p:nvPr/>
        </p:nvPicPr>
        <p:blipFill>
          <a:blip r:embed="rId3" cstate="print"/>
          <a:srcRect/>
          <a:stretch>
            <a:fillRect/>
          </a:stretch>
        </p:blipFill>
        <p:spPr bwMode="auto">
          <a:xfrm>
            <a:off x="400050" y="255588"/>
            <a:ext cx="838200" cy="838200"/>
          </a:xfrm>
          <a:prstGeom prst="rect">
            <a:avLst/>
          </a:prstGeom>
          <a:noFill/>
          <a:ln w="9525" algn="ctr">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914400" y="152400"/>
            <a:ext cx="7820025" cy="1219200"/>
          </a:xfrm>
        </p:spPr>
        <p:txBody>
          <a:bodyPr>
            <a:normAutofit fontScale="90000"/>
          </a:bodyPr>
          <a:lstStyle/>
          <a:p>
            <a:pPr algn="r" fontAlgn="auto">
              <a:spcAft>
                <a:spcPts val="0"/>
              </a:spcAft>
              <a:defRPr/>
            </a:pPr>
            <a:r>
              <a:rPr lang="en-US" dirty="0"/>
              <a:t/>
            </a:r>
            <a:br>
              <a:rPr lang="en-US" dirty="0"/>
            </a:br>
            <a:r>
              <a:rPr lang="en-US" b="1" i="1" dirty="0" smtClean="0">
                <a:solidFill>
                  <a:schemeClr val="tx1"/>
                </a:solidFill>
                <a:effectLst>
                  <a:outerShdw blurRad="38100" dist="38100" dir="2700000" algn="tl">
                    <a:srgbClr val="000000">
                      <a:alpha val="43137"/>
                    </a:srgbClr>
                  </a:outerShdw>
                </a:effectLst>
                <a:latin typeface="AvantGarde"/>
              </a:rPr>
              <a:t>Accessing Mainstream </a:t>
            </a:r>
            <a:br>
              <a:rPr lang="en-US" b="1" i="1" dirty="0" smtClean="0">
                <a:solidFill>
                  <a:schemeClr val="tx1"/>
                </a:solidFill>
                <a:effectLst>
                  <a:outerShdw blurRad="38100" dist="38100" dir="2700000" algn="tl">
                    <a:srgbClr val="000000">
                      <a:alpha val="43137"/>
                    </a:srgbClr>
                  </a:outerShdw>
                </a:effectLst>
                <a:latin typeface="AvantGarde"/>
              </a:rPr>
            </a:br>
            <a:r>
              <a:rPr lang="en-US" b="1" i="1" dirty="0" smtClean="0">
                <a:solidFill>
                  <a:schemeClr val="tx1"/>
                </a:solidFill>
                <a:effectLst>
                  <a:outerShdw blurRad="38100" dist="38100" dir="2700000" algn="tl">
                    <a:srgbClr val="000000">
                      <a:alpha val="43137"/>
                    </a:srgbClr>
                  </a:outerShdw>
                </a:effectLst>
                <a:latin typeface="AvantGarde"/>
              </a:rPr>
              <a:t>Resources</a:t>
            </a:r>
            <a:endParaRPr lang="en-US" b="1" i="1" dirty="0">
              <a:solidFill>
                <a:schemeClr val="tx1"/>
              </a:solidFill>
              <a:effectLst>
                <a:outerShdw blurRad="38100" dist="38100" dir="2700000" algn="tl">
                  <a:srgbClr val="000000">
                    <a:alpha val="43137"/>
                  </a:srgbClr>
                </a:outerShdw>
              </a:effectLst>
              <a:latin typeface="AvantGarde"/>
            </a:endParaRPr>
          </a:p>
        </p:txBody>
      </p:sp>
      <p:sp>
        <p:nvSpPr>
          <p:cNvPr id="25603" name="Rectangle 3"/>
          <p:cNvSpPr>
            <a:spLocks noGrp="1" noChangeArrowheads="1"/>
          </p:cNvSpPr>
          <p:nvPr>
            <p:ph sz="quarter" idx="1"/>
          </p:nvPr>
        </p:nvSpPr>
        <p:spPr>
          <a:xfrm>
            <a:off x="609600" y="1828800"/>
            <a:ext cx="8077200" cy="4648200"/>
          </a:xfrm>
        </p:spPr>
        <p:txBody>
          <a:bodyPr/>
          <a:lstStyle/>
          <a:p>
            <a:r>
              <a:rPr lang="en-US" sz="2800" smtClean="0"/>
              <a:t>Income supports including food stamps, SSI/SSD, TANF, Medicaid/Medicare.</a:t>
            </a:r>
          </a:p>
          <a:p>
            <a:r>
              <a:rPr lang="en-US" sz="2800" smtClean="0"/>
              <a:t>National Foundation for Credit Counseling, </a:t>
            </a:r>
            <a:r>
              <a:rPr lang="en-US" sz="2800" b="1" smtClean="0">
                <a:hlinkClick r:id="rId3"/>
              </a:rPr>
              <a:t>www.nfcc.org</a:t>
            </a:r>
            <a:r>
              <a:rPr lang="en-US" sz="2800" smtClean="0"/>
              <a:t>, a counselor can be reached at (800)388-2227</a:t>
            </a:r>
          </a:p>
          <a:p>
            <a:r>
              <a:rPr lang="en-US" sz="2800" smtClean="0"/>
              <a:t>Legal Assistance at low cost </a:t>
            </a:r>
            <a:r>
              <a:rPr lang="en-US" sz="2800" b="1" smtClean="0">
                <a:hlinkClick r:id="rId4"/>
              </a:rPr>
              <a:t>www.lawhelp.org</a:t>
            </a:r>
            <a:r>
              <a:rPr lang="en-US" sz="2800" smtClean="0"/>
              <a:t>, </a:t>
            </a:r>
            <a:r>
              <a:rPr lang="en-US" sz="2800" b="1" smtClean="0">
                <a:hlinkClick r:id="rId5"/>
              </a:rPr>
              <a:t>http://statesidelegal.org</a:t>
            </a:r>
            <a:r>
              <a:rPr lang="en-US" sz="2800" b="1" smtClean="0"/>
              <a:t>  </a:t>
            </a:r>
          </a:p>
          <a:p>
            <a:r>
              <a:rPr lang="en-US" sz="2800" smtClean="0"/>
              <a:t>Available income, health, educational and other supportive services benefits </a:t>
            </a:r>
            <a:r>
              <a:rPr lang="en-US" sz="2800" b="1" smtClean="0">
                <a:hlinkClick r:id="rId6"/>
              </a:rPr>
              <a:t>http://www.govbenefits.gov</a:t>
            </a:r>
            <a:r>
              <a:rPr lang="en-US" sz="2800" b="1" smtClean="0"/>
              <a:t> </a:t>
            </a:r>
          </a:p>
        </p:txBody>
      </p:sp>
      <p:pic>
        <p:nvPicPr>
          <p:cNvPr id="25604" name="Picture 5"/>
          <p:cNvPicPr>
            <a:picLocks noChangeAspect="1" noChangeArrowheads="1"/>
          </p:cNvPicPr>
          <p:nvPr/>
        </p:nvPicPr>
        <p:blipFill>
          <a:blip r:embed="rId7"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2"/>
          </p:nvPr>
        </p:nvSpPr>
        <p:spPr bwMode="auto">
          <a:xfrm>
            <a:off x="914400" y="6172200"/>
            <a:ext cx="3962400" cy="457200"/>
          </a:xfrm>
          <a:prstGeom prst="rect">
            <a:avLst/>
          </a:prstGeom>
          <a:noFill/>
          <a:ln>
            <a:miter lim="800000"/>
            <a:headEnd/>
            <a:tailEnd/>
          </a:ln>
        </p:spPr>
        <p:txBody>
          <a:bodyPr vert="horz" wrap="square" lIns="91440" tIns="45720" rIns="91440" bIns="45720" numCol="1" anchorCtr="0" compatLnSpc="1">
            <a:prstTxWarp prst="textNoShape">
              <a:avLst/>
            </a:prstTxWarp>
          </a:bodyPr>
          <a:lstStyle/>
          <a:p>
            <a:pPr algn="l">
              <a:defRPr/>
            </a:pPr>
            <a:fld id="{2C039202-3F46-4DAB-88F1-DE0C318CA900}" type="slidenum">
              <a:rPr lang="en-US">
                <a:solidFill>
                  <a:schemeClr val="tx2"/>
                </a:solidFill>
                <a:latin typeface="Arial" charset="0"/>
              </a:rPr>
              <a:pPr algn="l">
                <a:defRPr/>
              </a:pPr>
              <a:t>20</a:t>
            </a:fld>
            <a:endParaRPr lang="en-US">
              <a:solidFill>
                <a:schemeClr val="tx2"/>
              </a:solidFill>
              <a:latin typeface="Arial" charset="0"/>
            </a:endParaRPr>
          </a:p>
        </p:txBody>
      </p:sp>
      <p:sp>
        <p:nvSpPr>
          <p:cNvPr id="1244162" name="Rectangle 2"/>
          <p:cNvSpPr>
            <a:spLocks noChangeArrowheads="1"/>
          </p:cNvSpPr>
          <p:nvPr/>
        </p:nvSpPr>
        <p:spPr bwMode="auto">
          <a:xfrm>
            <a:off x="3657600" y="0"/>
            <a:ext cx="5486400" cy="990600"/>
          </a:xfrm>
          <a:prstGeom prst="rect">
            <a:avLst/>
          </a:prstGeom>
          <a:noFill/>
          <a:ln w="9525">
            <a:noFill/>
            <a:miter lim="800000"/>
            <a:headEnd/>
            <a:tailEnd/>
          </a:ln>
          <a:effectLst/>
        </p:spPr>
        <p:txBody>
          <a:bodyPr lIns="91427" tIns="45713" rIns="91427" bIns="45713" anchor="ctr"/>
          <a:lstStyle/>
          <a:p>
            <a:pPr algn="r">
              <a:defRPr/>
            </a:pPr>
            <a:endParaRPr lang="en-US" sz="3000" i="1" dirty="0">
              <a:solidFill>
                <a:schemeClr val="bg1"/>
              </a:solidFill>
              <a:effectLst>
                <a:outerShdw blurRad="38100" dist="38100" dir="2700000" algn="tl">
                  <a:srgbClr val="C0C0C0"/>
                </a:outerShdw>
              </a:effectLst>
              <a:latin typeface="AvantGarde" pitchFamily="34" charset="0"/>
              <a:cs typeface="+mn-cs"/>
            </a:endParaRPr>
          </a:p>
        </p:txBody>
      </p:sp>
      <p:sp>
        <p:nvSpPr>
          <p:cNvPr id="26628" name="Text Box 3"/>
          <p:cNvSpPr txBox="1">
            <a:spLocks noChangeArrowheads="1"/>
          </p:cNvSpPr>
          <p:nvPr/>
        </p:nvSpPr>
        <p:spPr bwMode="auto">
          <a:xfrm>
            <a:off x="0" y="1600200"/>
            <a:ext cx="9144000" cy="2554288"/>
          </a:xfrm>
          <a:prstGeom prst="rect">
            <a:avLst/>
          </a:prstGeom>
          <a:noFill/>
          <a:ln w="25400">
            <a:noFill/>
            <a:miter lim="800000"/>
            <a:headEnd/>
            <a:tailEnd type="none" w="lg" len="lg"/>
          </a:ln>
        </p:spPr>
        <p:txBody>
          <a:bodyPr>
            <a:spAutoFit/>
          </a:bodyPr>
          <a:lstStyle/>
          <a:p>
            <a:pPr algn="ctr">
              <a:spcBef>
                <a:spcPct val="50000"/>
              </a:spcBef>
            </a:pPr>
            <a:endParaRPr lang="en-US" sz="2800">
              <a:latin typeface="AvantGarde"/>
            </a:endParaRPr>
          </a:p>
          <a:p>
            <a:pPr algn="ctr">
              <a:spcBef>
                <a:spcPct val="50000"/>
              </a:spcBef>
            </a:pPr>
            <a:r>
              <a:rPr lang="en-US" sz="2800">
                <a:latin typeface="AvantGarde"/>
              </a:rPr>
              <a:t>For more information about </a:t>
            </a:r>
          </a:p>
          <a:p>
            <a:pPr algn="ctr">
              <a:spcBef>
                <a:spcPct val="50000"/>
              </a:spcBef>
            </a:pPr>
            <a:r>
              <a:rPr lang="en-US" sz="2800">
                <a:latin typeface="AvantGarde"/>
              </a:rPr>
              <a:t>VA’s Homeless Services Program, please visit:</a:t>
            </a:r>
          </a:p>
          <a:p>
            <a:pPr algn="ctr">
              <a:spcBef>
                <a:spcPct val="50000"/>
              </a:spcBef>
            </a:pPr>
            <a:r>
              <a:rPr lang="en-US" sz="3200" b="1">
                <a:latin typeface="AvantGarde"/>
                <a:hlinkClick r:id="rId3"/>
              </a:rPr>
              <a:t>http://www.va.gov/homeless</a:t>
            </a:r>
            <a:r>
              <a:rPr lang="en-US" sz="3200" b="1">
                <a:latin typeface="AvantGarde"/>
              </a:rPr>
              <a:t>  </a:t>
            </a:r>
          </a:p>
        </p:txBody>
      </p:sp>
      <p:sp>
        <p:nvSpPr>
          <p:cNvPr id="26629" name="TextBox 4"/>
          <p:cNvSpPr txBox="1">
            <a:spLocks noChangeArrowheads="1"/>
          </p:cNvSpPr>
          <p:nvPr/>
        </p:nvSpPr>
        <p:spPr bwMode="auto">
          <a:xfrm>
            <a:off x="393700" y="346075"/>
            <a:ext cx="788988" cy="369888"/>
          </a:xfrm>
          <a:prstGeom prst="rect">
            <a:avLst/>
          </a:prstGeom>
          <a:noFill/>
          <a:ln w="9525">
            <a:noFill/>
            <a:miter lim="800000"/>
            <a:headEnd/>
            <a:tailEnd/>
          </a:ln>
        </p:spPr>
        <p:txBody>
          <a:bodyPr>
            <a:spAutoFit/>
          </a:bodyPr>
          <a:lstStyle/>
          <a:p>
            <a:endParaRPr lang="en-US"/>
          </a:p>
        </p:txBody>
      </p:sp>
      <p:pic>
        <p:nvPicPr>
          <p:cNvPr id="26630" name="Picture 5"/>
          <p:cNvPicPr>
            <a:picLocks noChangeAspect="1" noChangeArrowheads="1"/>
          </p:cNvPicPr>
          <p:nvPr/>
        </p:nvPicPr>
        <p:blipFill>
          <a:blip r:embed="rId4" cstate="print"/>
          <a:srcRect/>
          <a:stretch>
            <a:fillRect/>
          </a:stretch>
        </p:blipFill>
        <p:spPr bwMode="auto">
          <a:xfrm>
            <a:off x="304800" y="381000"/>
            <a:ext cx="838200" cy="838200"/>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5555</TotalTime>
  <Words>1429</Words>
  <Application>Microsoft Office PowerPoint</Application>
  <PresentationFormat>On-screen Show (4:3)</PresentationFormat>
  <Paragraphs>215</Paragraphs>
  <Slides>20</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Arial</vt:lpstr>
      <vt:lpstr>Franklin Gothic Book</vt:lpstr>
      <vt:lpstr>Perpetua</vt:lpstr>
      <vt:lpstr>Wingdings 2</vt:lpstr>
      <vt:lpstr>Calibri</vt:lpstr>
      <vt:lpstr>AvantGarde</vt:lpstr>
      <vt:lpstr>Wingdings</vt:lpstr>
      <vt:lpstr>Verdana</vt:lpstr>
      <vt:lpstr>Times New Roman</vt:lpstr>
      <vt:lpstr>Equity</vt:lpstr>
      <vt:lpstr> </vt:lpstr>
      <vt:lpstr>Slide 2</vt:lpstr>
      <vt:lpstr>Slide 3</vt:lpstr>
      <vt:lpstr>     A Continuum of Care</vt:lpstr>
      <vt:lpstr>Slide 5</vt:lpstr>
      <vt:lpstr>HUD-VASH</vt:lpstr>
      <vt:lpstr>HUD-VASH</vt:lpstr>
      <vt:lpstr>Slide 8</vt:lpstr>
      <vt:lpstr>Slide 9</vt:lpstr>
      <vt:lpstr>Grant  and Per Diem Program (GPD)</vt:lpstr>
      <vt:lpstr>Grant  and Per Diem Program (GPD)</vt:lpstr>
      <vt:lpstr>Income/Employment</vt:lpstr>
      <vt:lpstr>Slide 13</vt:lpstr>
      <vt:lpstr>Slide 14</vt:lpstr>
      <vt:lpstr>Homeless Veteran’s Supported Employment Program </vt:lpstr>
      <vt:lpstr>Veterans Homelessness Prevention Demonstration (VHPD)</vt:lpstr>
      <vt:lpstr>Slide 17</vt:lpstr>
      <vt:lpstr>Slide 18</vt:lpstr>
      <vt:lpstr> Accessing Mainstream  Resources</vt:lpstr>
      <vt:lpstr>Slide 20</vt:lpstr>
    </vt:vector>
  </TitlesOfParts>
  <Company>DVA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vhacopapel</dc:creator>
  <cp:lastModifiedBy>vhaphidonet</cp:lastModifiedBy>
  <cp:revision>359</cp:revision>
  <dcterms:created xsi:type="dcterms:W3CDTF">2011-04-02T16:07:41Z</dcterms:created>
  <dcterms:modified xsi:type="dcterms:W3CDTF">2012-02-29T16:49:11Z</dcterms:modified>
</cp:coreProperties>
</file>