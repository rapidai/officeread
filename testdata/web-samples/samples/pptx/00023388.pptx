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7" r:id="rId1"/>
  </p:sldMasterIdLst>
  <p:notesMasterIdLst>
    <p:notesMasterId r:id="rId57"/>
  </p:notesMasterIdLst>
  <p:sldIdLst>
    <p:sldId id="337" r:id="rId2"/>
    <p:sldId id="302" r:id="rId3"/>
    <p:sldId id="329" r:id="rId4"/>
    <p:sldId id="330" r:id="rId5"/>
    <p:sldId id="331" r:id="rId6"/>
    <p:sldId id="338" r:id="rId7"/>
    <p:sldId id="310" r:id="rId8"/>
    <p:sldId id="320" r:id="rId9"/>
    <p:sldId id="342" r:id="rId10"/>
    <p:sldId id="343" r:id="rId11"/>
    <p:sldId id="311" r:id="rId12"/>
    <p:sldId id="339" r:id="rId13"/>
    <p:sldId id="298" r:id="rId14"/>
    <p:sldId id="300" r:id="rId15"/>
    <p:sldId id="292" r:id="rId16"/>
    <p:sldId id="293" r:id="rId17"/>
    <p:sldId id="257" r:id="rId18"/>
    <p:sldId id="258" r:id="rId19"/>
    <p:sldId id="259" r:id="rId20"/>
    <p:sldId id="260" r:id="rId21"/>
    <p:sldId id="315" r:id="rId22"/>
    <p:sldId id="316" r:id="rId23"/>
    <p:sldId id="312" r:id="rId24"/>
    <p:sldId id="313" r:id="rId25"/>
    <p:sldId id="314" r:id="rId26"/>
    <p:sldId id="287" r:id="rId27"/>
    <p:sldId id="288" r:id="rId28"/>
    <p:sldId id="289" r:id="rId29"/>
    <p:sldId id="290" r:id="rId30"/>
    <p:sldId id="291" r:id="rId31"/>
    <p:sldId id="317" r:id="rId32"/>
    <p:sldId id="305" r:id="rId33"/>
    <p:sldId id="306" r:id="rId34"/>
    <p:sldId id="323" r:id="rId35"/>
    <p:sldId id="324" r:id="rId36"/>
    <p:sldId id="325" r:id="rId37"/>
    <p:sldId id="281" r:id="rId38"/>
    <p:sldId id="265" r:id="rId39"/>
    <p:sldId id="266" r:id="rId40"/>
    <p:sldId id="267" r:id="rId41"/>
    <p:sldId id="268" r:id="rId42"/>
    <p:sldId id="269" r:id="rId43"/>
    <p:sldId id="270" r:id="rId44"/>
    <p:sldId id="271" r:id="rId45"/>
    <p:sldId id="326" r:id="rId46"/>
    <p:sldId id="332" r:id="rId47"/>
    <p:sldId id="333" r:id="rId48"/>
    <p:sldId id="334" r:id="rId49"/>
    <p:sldId id="335" r:id="rId50"/>
    <p:sldId id="278" r:id="rId51"/>
    <p:sldId id="336" r:id="rId52"/>
    <p:sldId id="280" r:id="rId53"/>
    <p:sldId id="285" r:id="rId54"/>
    <p:sldId id="294" r:id="rId55"/>
    <p:sldId id="341" r:id="rId5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685" autoAdjust="0"/>
  </p:normalViewPr>
  <p:slideViewPr>
    <p:cSldViewPr snapToGrid="0" snapToObjects="1">
      <p:cViewPr varScale="1">
        <p:scale>
          <a:sx n="90" d="100"/>
          <a:sy n="90" d="100"/>
        </p:scale>
        <p:origin x="-576" y="-11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9234D3-2CB3-1648-AA06-8C1D93E00B17}" type="datetimeFigureOut">
              <a:rPr lang="en-US" smtClean="0"/>
              <a:pPr/>
              <a:t>8/1/2011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D093F49-F787-824F-AD0A-E7D5E8279D1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5ADC3881-1DD6-E248-8F4D-44AA0C934D8F}" type="slidenum">
              <a:rPr lang="en-US"/>
              <a:pPr/>
              <a:t>2</a:t>
            </a:fld>
            <a:endParaRPr lang="en-US"/>
          </a:p>
        </p:txBody>
      </p:sp>
      <p:sp>
        <p:nvSpPr>
          <p:cNvPr id="1945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460" name="Rectangle 3"/>
          <p:cNvSpPr>
            <a:spLocks noGrp="1" noChangeArrowheads="1"/>
          </p:cNvSpPr>
          <p:nvPr>
            <p:ph type="body" idx="1"/>
          </p:nvPr>
        </p:nvSpPr>
        <p:spPr bwMode="auto">
          <a:xfrm>
            <a:off x="914504" y="4343401"/>
            <a:ext cx="5028994" cy="4114800"/>
          </a:xfrm>
          <a:noFill/>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p:cNvSpPr>
          <p:nvPr>
            <p:ph type="sldImg"/>
          </p:nvPr>
        </p:nvSpPr>
        <p:spPr bwMode="auto">
          <a:noFill/>
          <a:ln>
            <a:solidFill>
              <a:srgbClr val="000000"/>
            </a:solidFill>
            <a:miter lim="800000"/>
            <a:headEnd/>
            <a:tailEnd/>
          </a:ln>
        </p:spPr>
      </p:sp>
      <p:sp>
        <p:nvSpPr>
          <p:cNvPr id="2150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4" name="Slide Number Placeholder 3"/>
          <p:cNvSpPr>
            <a:spLocks noGrp="1"/>
          </p:cNvSpPr>
          <p:nvPr>
            <p:ph type="sldNum" sz="quarter" idx="5"/>
          </p:nvPr>
        </p:nvSpPr>
        <p:spPr/>
        <p:txBody>
          <a:bodyPr/>
          <a:lstStyle/>
          <a:p>
            <a:pPr>
              <a:defRPr/>
            </a:pPr>
            <a:fld id="{EFDFD130-CE2B-4329-A88F-F5D2C040F5D7}" type="slidenum">
              <a:rPr lang="en-US" smtClean="0"/>
              <a:pPr>
                <a:defRPr/>
              </a:pPr>
              <a:t>13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p:cNvSpPr>
            <a:spLocks noGrp="1" noRot="1" noChangeAspect="1"/>
          </p:cNvSpPr>
          <p:nvPr>
            <p:ph type="sldImg"/>
          </p:nvPr>
        </p:nvSpPr>
        <p:spPr bwMode="auto">
          <a:noFill/>
          <a:ln>
            <a:solidFill>
              <a:srgbClr val="000000"/>
            </a:solidFill>
            <a:miter lim="800000"/>
            <a:headEnd/>
            <a:tailEnd/>
          </a:ln>
        </p:spPr>
      </p:sp>
      <p:sp>
        <p:nvSpPr>
          <p:cNvPr id="3584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4" name="Slide Number Placeholder 3"/>
          <p:cNvSpPr>
            <a:spLocks noGrp="1"/>
          </p:cNvSpPr>
          <p:nvPr>
            <p:ph type="sldNum" sz="quarter" idx="5"/>
          </p:nvPr>
        </p:nvSpPr>
        <p:spPr/>
        <p:txBody>
          <a:bodyPr/>
          <a:lstStyle/>
          <a:p>
            <a:pPr>
              <a:defRPr/>
            </a:pPr>
            <a:fld id="{77E7FB05-CABA-4DA7-9090-0478B5B452AB}" type="slidenum">
              <a:rPr lang="en-US" smtClean="0"/>
              <a:pPr>
                <a:defRPr/>
              </a:pPr>
              <a:t>14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bwMode="auto">
          <a:noFill/>
          <a:ln>
            <a:miter lim="800000"/>
            <a:headEnd/>
            <a:tailEnd/>
          </a:ln>
        </p:spPr>
        <p:txBody>
          <a:bodyPr/>
          <a:lstStyle/>
          <a:p>
            <a:fld id="{40AB39D6-15D6-8E45-8221-7265CD2C41DA}" type="slidenum">
              <a:rPr lang="en-US" smtClean="0"/>
              <a:pPr/>
              <a:t>17</a:t>
            </a:fld>
            <a:endParaRPr lang="en-US" smtClean="0"/>
          </a:p>
        </p:txBody>
      </p:sp>
      <p:sp>
        <p:nvSpPr>
          <p:cNvPr id="3891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891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bwMode="auto">
          <a:noFill/>
          <a:ln>
            <a:miter lim="800000"/>
            <a:headEnd/>
            <a:tailEnd/>
          </a:ln>
        </p:spPr>
        <p:txBody>
          <a:bodyPr/>
          <a:lstStyle/>
          <a:p>
            <a:fld id="{37864332-1173-FD40-9027-2A680A0C56E0}" type="slidenum">
              <a:rPr lang="en-US" smtClean="0"/>
              <a:pPr/>
              <a:t>18</a:t>
            </a:fld>
            <a:endParaRPr lang="en-US" smtClean="0"/>
          </a:p>
        </p:txBody>
      </p:sp>
      <p:sp>
        <p:nvSpPr>
          <p:cNvPr id="4096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09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bwMode="auto">
          <a:noFill/>
          <a:ln>
            <a:miter lim="800000"/>
            <a:headEnd/>
            <a:tailEnd/>
          </a:ln>
        </p:spPr>
        <p:txBody>
          <a:bodyPr/>
          <a:lstStyle/>
          <a:p>
            <a:fld id="{3D2D773A-2A3E-0047-B968-CD9F12F80E33}" type="slidenum">
              <a:rPr lang="en-US" smtClean="0">
                <a:latin typeface="Arial" charset="0"/>
              </a:rPr>
              <a:pPr/>
              <a:t>19</a:t>
            </a:fld>
            <a:endParaRPr lang="en-US" smtClean="0">
              <a:latin typeface="Arial" charset="0"/>
            </a:endParaRPr>
          </a:p>
        </p:txBody>
      </p:sp>
      <p:sp>
        <p:nvSpPr>
          <p:cNvPr id="4301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301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latin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bwMode="auto">
          <a:noFill/>
          <a:ln>
            <a:miter lim="800000"/>
            <a:headEnd/>
            <a:tailEnd/>
          </a:ln>
        </p:spPr>
        <p:txBody>
          <a:bodyPr/>
          <a:lstStyle/>
          <a:p>
            <a:fld id="{8FF92824-38AC-E746-A38F-BCF501FA2DA7}" type="slidenum">
              <a:rPr lang="en-US" smtClean="0">
                <a:latin typeface="Arial" charset="0"/>
              </a:rPr>
              <a:pPr/>
              <a:t>20</a:t>
            </a:fld>
            <a:endParaRPr lang="en-US" smtClean="0">
              <a:latin typeface="Arial" charset="0"/>
            </a:endParaRPr>
          </a:p>
        </p:txBody>
      </p:sp>
      <p:sp>
        <p:nvSpPr>
          <p:cNvPr id="4505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50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latin typeface="Arial"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4BC970CB-4951-9240-A6E3-2B376D14C7C6}" type="slidenum">
              <a:rPr lang="en-US" smtClean="0"/>
              <a:pPr/>
              <a:t>28</a:t>
            </a:fld>
            <a:endParaRPr lang="en-US" smtClean="0"/>
          </a:p>
        </p:txBody>
      </p:sp>
      <p:sp>
        <p:nvSpPr>
          <p:cNvPr id="10752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752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latin typeface="Arial"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0FBA99BC-D1E9-D744-8860-7F6ECE5919FE}" type="slidenum">
              <a:rPr lang="en-US" smtClean="0"/>
              <a:pPr/>
              <a:t>29</a:t>
            </a:fld>
            <a:endParaRPr lang="en-US" smtClean="0"/>
          </a:p>
        </p:txBody>
      </p:sp>
      <p:sp>
        <p:nvSpPr>
          <p:cNvPr id="10957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957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latin typeface="Arial"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D9C56D27-1401-6C4C-AA5A-672E85565421}" type="slidenum">
              <a:rPr lang="en-US" smtClean="0"/>
              <a:pPr/>
              <a:t>30</a:t>
            </a:fld>
            <a:endParaRPr lang="en-US" smtClean="0"/>
          </a:p>
        </p:txBody>
      </p:sp>
      <p:sp>
        <p:nvSpPr>
          <p:cNvPr id="11161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162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latin typeface="Arial"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866F877B-45AD-4648-B5A7-F26F1F0080ED}" type="slidenum">
              <a:rPr lang="en-US" smtClean="0"/>
              <a:pPr/>
              <a:t>31</a:t>
            </a:fld>
            <a:endParaRPr lang="en-US" smtClean="0"/>
          </a:p>
        </p:txBody>
      </p:sp>
      <p:sp>
        <p:nvSpPr>
          <p:cNvPr id="10137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138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latin typeface="Arial"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6A0F199-86CF-6E45-A810-D23C463DB6C3}" type="slidenum">
              <a:rPr lang="en-US" smtClean="0"/>
              <a:pPr/>
              <a:t>33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341086" y="928914"/>
            <a:ext cx="8432800"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85707" y="968189"/>
            <a:ext cx="7799387" cy="1237130"/>
          </a:xfrm>
        </p:spPr>
        <p:txBody>
          <a:bodyPr anchor="b" anchorCtr="0"/>
          <a:lstStyle>
            <a:lvl1pPr algn="r">
              <a:lnSpc>
                <a:spcPts val="5000"/>
              </a:lnSpc>
              <a:defRPr sz="4600">
                <a:solidFill>
                  <a:schemeClr val="accent1"/>
                </a:solidFill>
                <a:effectLst/>
              </a:defRPr>
            </a:lvl1pPr>
          </a:lstStyle>
          <a:p>
            <a:r>
              <a:rPr lang="en-US" smtClean="0"/>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p:txBody>
          <a:bodyPr/>
          <a:lstStyle/>
          <a:p>
            <a:fld id="{CE927D25-CEEA-944A-8ADB-0CBEA81B9835}" type="datetimeFigureOut">
              <a:rPr lang="en-US" smtClean="0"/>
              <a:pPr/>
              <a:t>8/1/2011</a:t>
            </a:fld>
            <a:endParaRPr lang="en-US"/>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fld id="{722ED621-7C32-4B40-87C9-4BDAAD2C023A}" type="slidenum">
              <a:rPr lang="en-US" smtClean="0"/>
              <a:pPr/>
              <a:t>‹#›</a:t>
            </a:fld>
            <a:endParaRPr lang="en-US"/>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457200" y="457200"/>
            <a:ext cx="8229600" cy="356646"/>
          </a:xfrm>
          <a:prstGeom prst="rect">
            <a:avLst/>
          </a:prstGeom>
        </p:spPr>
      </p:pic>
      <p:pic>
        <p:nvPicPr>
          <p:cNvPr id="10" name="Picture 9" descr="TitleSlideBottom.jpg"/>
          <p:cNvPicPr>
            <a:picLocks noChangeAspect="1"/>
          </p:cNvPicPr>
          <p:nvPr/>
        </p:nvPicPr>
        <p:blipFill>
          <a:blip r:embed="rId3"/>
          <a:stretch>
            <a:fillRect/>
          </a:stretch>
        </p:blipFill>
        <p:spPr>
          <a:xfrm>
            <a:off x="457200" y="2700601"/>
            <a:ext cx="8229600" cy="3700199"/>
          </a:xfrm>
          <a:prstGeom prst="rect">
            <a:avLst/>
          </a:prstGeom>
        </p:spPr>
      </p:pic>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CE927D25-CEEA-944A-8ADB-0CBEA81B9835}"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2ED621-7C32-4B40-87C9-4BDAAD2C023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smtClean="0"/>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E927D25-CEEA-944A-8ADB-0CBEA81B9835}"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fld id="{722ED621-7C32-4B40-87C9-4BDAAD2C023A}" type="slidenum">
              <a:rPr lang="en-US" smtClean="0"/>
              <a:pPr/>
              <a:t>‹#›</a:t>
            </a:fld>
            <a:endParaRPr lang="en-US"/>
          </a:p>
        </p:txBody>
      </p:sp>
      <p:pic>
        <p:nvPicPr>
          <p:cNvPr id="7" name="Picture 6" descr="SectionHeaderLeft.jpg"/>
          <p:cNvPicPr>
            <a:picLocks noChangeAspect="1"/>
          </p:cNvPicPr>
          <p:nvPr/>
        </p:nvPicPr>
        <p:blipFill>
          <a:blip r:embed="rId2"/>
          <a:stretch>
            <a:fillRect/>
          </a:stretch>
        </p:blipFill>
        <p:spPr>
          <a:xfrm>
            <a:off x="470647" y="457200"/>
            <a:ext cx="2216561" cy="5943600"/>
          </a:xfrm>
          <a:prstGeom prst="rect">
            <a:avLst/>
          </a:prstGeom>
        </p:spPr>
      </p:pic>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CE927D25-CEEA-944A-8ADB-0CBEA81B9835}"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2ED621-7C32-4B40-87C9-4BDAAD2C023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CE927D25-CEEA-944A-8ADB-0CBEA81B9835}"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2ED621-7C32-4B40-87C9-4BDAAD2C023A}" type="slidenum">
              <a:rPr lang="en-US" smtClean="0"/>
              <a:pPr/>
              <a:t>‹#›</a:t>
            </a:fld>
            <a:endParaRPr lang="en-US"/>
          </a:p>
        </p:txBody>
      </p:sp>
      <p:cxnSp>
        <p:nvCxnSpPr>
          <p:cNvPr id="11" name="Straight Connector 10"/>
          <p:cNvCxnSpPr/>
          <p:nvPr/>
        </p:nvCxnSpPr>
        <p:spPr>
          <a:xfrm rot="5400000">
            <a:off x="2884488" y="4484687"/>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CE927D25-CEEA-944A-8ADB-0CBEA81B9835}"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2ED621-7C32-4B40-87C9-4BDAAD2C023A}" type="slidenum">
              <a:rPr lang="en-US" smtClean="0"/>
              <a:pPr/>
              <a:t>‹#›</a:t>
            </a:fld>
            <a:endParaRPr lang="en-US"/>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CE927D25-CEEA-944A-8ADB-0CBEA81B9835}"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2ED621-7C32-4B40-87C9-4BDAAD2C023A}" type="slidenum">
              <a:rPr lang="en-US" smtClean="0"/>
              <a:pPr/>
              <a:t>‹#›</a:t>
            </a:fld>
            <a:endParaRPr lang="en-US"/>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CE927D25-CEEA-944A-8ADB-0CBEA81B9835}"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2ED621-7C32-4B40-87C9-4BDAAD2C023A}" type="slidenum">
              <a:rPr lang="en-US" smtClean="0"/>
              <a:pPr/>
              <a:t>‹#›</a:t>
            </a:fld>
            <a:endParaRPr lang="en-US"/>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CE927D25-CEEA-944A-8ADB-0CBEA81B9835}"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2ED621-7C32-4B40-87C9-4BDAAD2C023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CE927D25-CEEA-944A-8ADB-0CBEA81B9835}"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2ED621-7C32-4B40-87C9-4BDAAD2C023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smtClean="0"/>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E927D25-CEEA-944A-8ADB-0CBEA81B9835}"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2ED621-7C32-4B40-87C9-4BDAAD2C023A}"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smtClean="0"/>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E927D25-CEEA-944A-8ADB-0CBEA81B9835}"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2ED621-7C32-4B40-87C9-4BDAAD2C023A}" type="slidenum">
              <a:rPr lang="en-US" smtClean="0"/>
              <a:pPr/>
              <a:t>‹#›</a:t>
            </a:fld>
            <a:endParaRPr lang="en-US"/>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smtClean="0"/>
              <a:t>Click icon to add picture</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CE927D25-CEEA-944A-8ADB-0CBEA81B9835}"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2ED621-7C32-4B40-87C9-4BDAAD2C023A}"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7111668" y="457200"/>
            <a:ext cx="1546230" cy="5943600"/>
          </a:xfrm>
          <a:prstGeom prst="rect">
            <a:avLst/>
          </a:prstGeom>
        </p:spPr>
      </p:pic>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smtClean="0"/>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CE927D25-CEEA-944A-8ADB-0CBEA81B9835}"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2ED621-7C32-4B40-87C9-4BDAAD2C023A}" type="slidenum">
              <a:rPr lang="en-US" smtClean="0"/>
              <a:pPr/>
              <a:t>‹#›</a:t>
            </a:fld>
            <a:endParaRPr lang="en-US"/>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495800"/>
          </a:xfrm>
        </p:spPr>
        <p:txBody>
          <a:bodyPr/>
          <a:lstStyle/>
          <a:p>
            <a:pPr lvl="0"/>
            <a:endParaRPr lang="en-US" noProof="0" smtClean="0"/>
          </a:p>
        </p:txBody>
      </p:sp>
      <p:sp>
        <p:nvSpPr>
          <p:cNvPr id="4" name="Rectangle 24"/>
          <p:cNvSpPr>
            <a:spLocks noGrp="1" noChangeArrowheads="1"/>
          </p:cNvSpPr>
          <p:nvPr>
            <p:ph type="dt" sz="half" idx="10"/>
          </p:nvPr>
        </p:nvSpPr>
        <p:spPr/>
        <p:txBody>
          <a:bodyPr/>
          <a:lstStyle>
            <a:lvl1pPr>
              <a:defRPr/>
            </a:lvl1pPr>
          </a:lstStyle>
          <a:p>
            <a:pPr>
              <a:defRPr/>
            </a:pPr>
            <a:fld id="{2F4B71BD-1682-EA4E-B11A-9F8043AC30D8}" type="datetime1">
              <a:rPr lang="en-US"/>
              <a:pPr>
                <a:defRPr/>
              </a:pPr>
              <a:t>8/1/2011</a:t>
            </a:fld>
            <a:endParaRPr lang="en-US"/>
          </a:p>
        </p:txBody>
      </p:sp>
      <p:sp>
        <p:nvSpPr>
          <p:cNvPr id="5" name="Rectangle 25"/>
          <p:cNvSpPr>
            <a:spLocks noGrp="1" noChangeArrowheads="1"/>
          </p:cNvSpPr>
          <p:nvPr>
            <p:ph type="ftr" sz="quarter" idx="11"/>
          </p:nvPr>
        </p:nvSpPr>
        <p:spPr/>
        <p:txBody>
          <a:bodyPr/>
          <a:lstStyle>
            <a:lvl1pPr>
              <a:defRPr/>
            </a:lvl1pPr>
          </a:lstStyle>
          <a:p>
            <a:pPr>
              <a:defRPr/>
            </a:pPr>
            <a:endParaRPr lang="en-US"/>
          </a:p>
        </p:txBody>
      </p:sp>
      <p:sp>
        <p:nvSpPr>
          <p:cNvPr id="6" name="Rectangle 26"/>
          <p:cNvSpPr>
            <a:spLocks noGrp="1" noChangeArrowheads="1"/>
          </p:cNvSpPr>
          <p:nvPr>
            <p:ph type="sldNum" sz="quarter" idx="12"/>
          </p:nvPr>
        </p:nvSpPr>
        <p:spPr/>
        <p:txBody>
          <a:bodyPr/>
          <a:lstStyle>
            <a:lvl1pPr>
              <a:defRPr/>
            </a:lvl1pPr>
          </a:lstStyle>
          <a:p>
            <a:pPr>
              <a:defRPr/>
            </a:pPr>
            <a:fld id="{C1EB803D-EC85-8E41-9262-DACDAEC8E9B6}"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7"/>
          <a:stretch>
            <a:fillRect/>
          </a:stretch>
        </p:blipFill>
        <p:spPr>
          <a:xfrm>
            <a:off x="457200" y="457200"/>
            <a:ext cx="8229600" cy="1382002"/>
          </a:xfrm>
          <a:prstGeom prst="rect">
            <a:avLst/>
          </a:prstGeom>
        </p:spPr>
      </p:pic>
      <p:sp>
        <p:nvSpPr>
          <p:cNvPr id="2" name="Title Placeholder 1"/>
          <p:cNvSpPr>
            <a:spLocks noGrp="1"/>
          </p:cNvSpPr>
          <p:nvPr>
            <p:ph type="title"/>
          </p:nvPr>
        </p:nvSpPr>
        <p:spPr>
          <a:xfrm>
            <a:off x="658813" y="456252"/>
            <a:ext cx="7824788" cy="1323041"/>
          </a:xfrm>
          <a:prstGeom prst="rect">
            <a:avLst/>
          </a:prstGeom>
          <a:effectLst/>
        </p:spPr>
        <p:txBody>
          <a:bodyPr vert="horz" lIns="91440" tIns="0" rIns="91440" bIns="0" rtlCol="0" anchor="b" anchorCtr="0">
            <a:noAutofit/>
          </a:bodyPr>
          <a:lstStyle/>
          <a:p>
            <a:r>
              <a:rPr lang="en-US" smtClean="0"/>
              <a:t>Click to edit Master title style</a:t>
            </a:r>
            <a:endParaRPr/>
          </a:p>
        </p:txBody>
      </p:sp>
      <p:sp>
        <p:nvSpPr>
          <p:cNvPr id="3" name="Text Placeholder 2"/>
          <p:cNvSpPr>
            <a:spLocks noGrp="1"/>
          </p:cNvSpPr>
          <p:nvPr>
            <p:ph type="body" idx="1"/>
          </p:nvPr>
        </p:nvSpPr>
        <p:spPr>
          <a:xfrm>
            <a:off x="2286000" y="2286000"/>
            <a:ext cx="6197600" cy="3840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fld id="{CE927D25-CEEA-944A-8ADB-0CBEA81B9835}" type="datetimeFigureOut">
              <a:rPr lang="en-US" smtClean="0"/>
              <a:pPr/>
              <a:t>8/1/2011</a:t>
            </a:fld>
            <a:endParaRPr lang="en-US"/>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endParaRPr lang="en-US"/>
          </a:p>
        </p:txBody>
      </p:sp>
      <p:sp>
        <p:nvSpPr>
          <p:cNvPr id="6" name="Slide Number Placeholder 5"/>
          <p:cNvSpPr>
            <a:spLocks noGrp="1"/>
          </p:cNvSpPr>
          <p:nvPr>
            <p:ph type="sldNum" sz="quarter" idx="4"/>
          </p:nvPr>
        </p:nvSpPr>
        <p:spPr>
          <a:xfrm>
            <a:off x="378666" y="6149788"/>
            <a:ext cx="5334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fld id="{722ED621-7C32-4B40-87C9-4BDAAD2C023A}" type="slidenum">
              <a:rPr lang="en-US" smtClean="0"/>
              <a:pPr/>
              <a:t>‹#›</a:t>
            </a:fld>
            <a:endParaRPr lang="en-US"/>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57200" y="184096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Lst>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www.annals.org/content/curren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accent1">
                    <a:lumMod val="60000"/>
                    <a:lumOff val="40000"/>
                  </a:schemeClr>
                </a:solidFill>
              </a:rPr>
              <a:t>Opiate Risk Mitigation in Primary Care </a:t>
            </a:r>
            <a:endParaRPr lang="en-US" dirty="0">
              <a:solidFill>
                <a:schemeClr val="accent1">
                  <a:lumMod val="60000"/>
                  <a:lumOff val="40000"/>
                </a:schemeClr>
              </a:solidFill>
            </a:endParaRPr>
          </a:p>
        </p:txBody>
      </p:sp>
      <p:sp>
        <p:nvSpPr>
          <p:cNvPr id="3" name="Subtitle 2"/>
          <p:cNvSpPr>
            <a:spLocks noGrp="1"/>
          </p:cNvSpPr>
          <p:nvPr>
            <p:ph sz="half" idx="1"/>
          </p:nvPr>
        </p:nvSpPr>
        <p:spPr/>
        <p:txBody>
          <a:bodyPr>
            <a:normAutofit/>
          </a:bodyPr>
          <a:lstStyle/>
          <a:p>
            <a:r>
              <a:rPr lang="en-US" sz="2400" dirty="0" smtClean="0"/>
              <a:t>Ilene R. Robeck, MD</a:t>
            </a:r>
          </a:p>
          <a:p>
            <a:r>
              <a:rPr lang="en-US" sz="2400" dirty="0" smtClean="0"/>
              <a:t>Bay Pines VA Healthcare System</a:t>
            </a:r>
          </a:p>
          <a:p>
            <a:r>
              <a:rPr lang="en-US" sz="2400" dirty="0" smtClean="0"/>
              <a:t>Co Chair National VA Primary Care Pain Task Force </a:t>
            </a:r>
            <a:endParaRPr lang="en-US" sz="2400" dirty="0"/>
          </a:p>
        </p:txBody>
      </p:sp>
      <p:sp>
        <p:nvSpPr>
          <p:cNvPr id="4" name="Content Placeholder 3"/>
          <p:cNvSpPr>
            <a:spLocks noGrp="1"/>
          </p:cNvSpPr>
          <p:nvPr>
            <p:ph sz="half" idx="13"/>
          </p:nvPr>
        </p:nvSpPr>
        <p:spPr/>
        <p:txBody>
          <a:bodyPr>
            <a:normAutofit/>
          </a:bodyPr>
          <a:lstStyle/>
          <a:p>
            <a:r>
              <a:rPr lang="en-US" sz="2400" dirty="0" smtClean="0"/>
              <a:t>It’s Never Too Late to Start All Over Again</a:t>
            </a:r>
          </a:p>
          <a:p>
            <a:r>
              <a:rPr lang="en-US" sz="2400" dirty="0" smtClean="0"/>
              <a:t>Every Challenge is an Opportunity for Growth</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6" descr="29"/>
          <p:cNvPicPr>
            <a:picLocks noChangeAspect="1" noChangeArrowheads="1"/>
          </p:cNvPicPr>
          <p:nvPr/>
        </p:nvPicPr>
        <p:blipFill>
          <a:blip r:embed="rId3"/>
          <a:srcRect/>
          <a:stretch>
            <a:fillRect/>
          </a:stretch>
        </p:blipFill>
        <p:spPr bwMode="auto">
          <a:xfrm>
            <a:off x="2133600" y="838200"/>
            <a:ext cx="4267200" cy="5334000"/>
          </a:xfrm>
          <a:prstGeom prst="rect">
            <a:avLst/>
          </a:prstGeom>
          <a:noFill/>
          <a:ln w="9525">
            <a:noFill/>
            <a:miter lim="800000"/>
            <a:headEnd/>
            <a:tailEnd/>
          </a:ln>
        </p:spPr>
      </p:pic>
      <p:sp>
        <p:nvSpPr>
          <p:cNvPr id="18435" name="Footer Placeholder 8"/>
          <p:cNvSpPr>
            <a:spLocks noGrp="1"/>
          </p:cNvSpPr>
          <p:nvPr>
            <p:ph type="ftr" sz="quarter" idx="11"/>
          </p:nvPr>
        </p:nvSpPr>
        <p:spPr>
          <a:noFill/>
        </p:spPr>
        <p:txBody>
          <a:bodyPr/>
          <a:lstStyle/>
          <a:p>
            <a:r>
              <a:rPr lang="en-US" smtClean="0"/>
              <a:t>April 2001</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2800" dirty="0" smtClean="0">
                <a:solidFill>
                  <a:schemeClr val="accent1">
                    <a:lumMod val="60000"/>
                    <a:lumOff val="40000"/>
                  </a:schemeClr>
                </a:solidFill>
              </a:rPr>
              <a:t>History of Opiate Addiction/Dependence</a:t>
            </a:r>
            <a:br>
              <a:rPr lang="en-US" sz="2800" dirty="0" smtClean="0">
                <a:solidFill>
                  <a:schemeClr val="accent1">
                    <a:lumMod val="60000"/>
                    <a:lumOff val="40000"/>
                  </a:schemeClr>
                </a:solidFill>
              </a:rPr>
            </a:br>
            <a:r>
              <a:rPr lang="en-US" sz="2800" dirty="0" smtClean="0">
                <a:solidFill>
                  <a:schemeClr val="accent1">
                    <a:lumMod val="60000"/>
                    <a:lumOff val="40000"/>
                  </a:schemeClr>
                </a:solidFill>
              </a:rPr>
              <a:t>Déjà Vu All Over Again</a:t>
            </a:r>
            <a:endParaRPr lang="en-US" sz="2800" dirty="0">
              <a:solidFill>
                <a:schemeClr val="accent1">
                  <a:lumMod val="60000"/>
                  <a:lumOff val="40000"/>
                </a:schemeClr>
              </a:solidFill>
            </a:endParaRPr>
          </a:p>
        </p:txBody>
      </p:sp>
      <p:sp>
        <p:nvSpPr>
          <p:cNvPr id="3" name="Content Placeholder 2"/>
          <p:cNvSpPr>
            <a:spLocks noGrp="1"/>
          </p:cNvSpPr>
          <p:nvPr>
            <p:ph idx="1"/>
          </p:nvPr>
        </p:nvSpPr>
        <p:spPr>
          <a:xfrm>
            <a:off x="658813" y="2286000"/>
            <a:ext cx="7824787" cy="3840163"/>
          </a:xfrm>
        </p:spPr>
        <p:txBody>
          <a:bodyPr>
            <a:normAutofit fontScale="92500" lnSpcReduction="10000"/>
          </a:bodyPr>
          <a:lstStyle/>
          <a:p>
            <a:r>
              <a:rPr lang="en-US" sz="2000" dirty="0" smtClean="0"/>
              <a:t>Sixteenth century</a:t>
            </a:r>
            <a:r>
              <a:rPr lang="en-US" sz="2000" dirty="0"/>
              <a:t>-</a:t>
            </a:r>
            <a:r>
              <a:rPr lang="en-US" sz="2000" dirty="0" smtClean="0"/>
              <a:t>the </a:t>
            </a:r>
            <a:r>
              <a:rPr lang="en-US" sz="2000" dirty="0"/>
              <a:t>first</a:t>
            </a:r>
            <a:r>
              <a:rPr lang="en-US" sz="2000" dirty="0" smtClean="0"/>
              <a:t> reports about </a:t>
            </a:r>
            <a:r>
              <a:rPr lang="en-US" sz="2000" dirty="0"/>
              <a:t>addiction to opium throughout Europe, India and China</a:t>
            </a:r>
            <a:r>
              <a:rPr lang="en-US" sz="2000" dirty="0" smtClean="0"/>
              <a:t>.</a:t>
            </a:r>
          </a:p>
          <a:p>
            <a:r>
              <a:rPr lang="en-US" sz="2000" dirty="0" smtClean="0"/>
              <a:t>Early 1800s</a:t>
            </a:r>
            <a:r>
              <a:rPr lang="en-US" sz="2000" dirty="0"/>
              <a:t>, the chemist </a:t>
            </a:r>
            <a:r>
              <a:rPr lang="en-US" sz="2000" dirty="0" err="1"/>
              <a:t>Seturner</a:t>
            </a:r>
            <a:r>
              <a:rPr lang="en-US" sz="2000" dirty="0"/>
              <a:t> was able to isolate and identify the active ingredient in opium, which he named Morphine after the Greek god Morpheus</a:t>
            </a:r>
            <a:r>
              <a:rPr lang="en-US" sz="2000" dirty="0" smtClean="0"/>
              <a:t>. This was touted as the solution to Opium Addiction.</a:t>
            </a:r>
          </a:p>
          <a:p>
            <a:r>
              <a:rPr lang="en-US" sz="2000" dirty="0" smtClean="0"/>
              <a:t>Throughout </a:t>
            </a:r>
            <a:r>
              <a:rPr lang="en-US" sz="2000" dirty="0"/>
              <a:t>the early and mid-</a:t>
            </a:r>
            <a:r>
              <a:rPr lang="en-US" sz="2000" dirty="0" smtClean="0"/>
              <a:t>1800s</a:t>
            </a:r>
            <a:r>
              <a:rPr lang="en-US" sz="2000" dirty="0"/>
              <a:t>, morphine was used during surgical procedures as a general anesthetic and as relief for chronic pain. By the end of the century</a:t>
            </a:r>
            <a:r>
              <a:rPr lang="en-US" sz="2000" dirty="0" smtClean="0"/>
              <a:t> there </a:t>
            </a:r>
            <a:r>
              <a:rPr lang="en-US" sz="2000" dirty="0"/>
              <a:t>were just as many individuals addicted to morphine as there were to opium</a:t>
            </a:r>
            <a:r>
              <a:rPr lang="en-US" sz="2000" dirty="0" smtClean="0"/>
              <a:t>.</a:t>
            </a:r>
          </a:p>
          <a:p>
            <a:r>
              <a:rPr lang="en-US" sz="2000" dirty="0" smtClean="0"/>
              <a:t>Late 1800s- medical profession’s creation of so many morphine addicts led to experiments with cocaine as a potential antidote. </a:t>
            </a:r>
            <a:endParaRPr lang="en-US" sz="2000" dirty="0"/>
          </a:p>
        </p:txBody>
      </p:sp>
      <p:sp>
        <p:nvSpPr>
          <p:cNvPr id="4" name="Footer Placeholder 3"/>
          <p:cNvSpPr>
            <a:spLocks noGrp="1"/>
          </p:cNvSpPr>
          <p:nvPr>
            <p:ph type="ftr" sz="quarter" idx="11"/>
          </p:nvPr>
        </p:nvSpPr>
        <p:spPr/>
        <p:txBody>
          <a:bodyPr/>
          <a:lstStyle/>
          <a:p>
            <a:r>
              <a:rPr lang="en-US" dirty="0" smtClean="0"/>
              <a:t>Markel, Howard (2011). An Anatomy of Addiction: Sigmund Freud, William Halsted, and the Miracle Drug Cocaine </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 </a:t>
            </a:r>
            <a:r>
              <a:rPr lang="en-US" dirty="0" smtClean="0">
                <a:solidFill>
                  <a:schemeClr val="accent1">
                    <a:lumMod val="60000"/>
                    <a:lumOff val="40000"/>
                  </a:schemeClr>
                </a:solidFill>
              </a:rPr>
              <a:t>A Brief History of Opiate Addiction</a:t>
            </a:r>
            <a:endParaRPr lang="en-US" dirty="0">
              <a:solidFill>
                <a:schemeClr val="accent1">
                  <a:lumMod val="60000"/>
                  <a:lumOff val="40000"/>
                </a:schemeClr>
              </a:solidFill>
            </a:endParaRPr>
          </a:p>
        </p:txBody>
      </p:sp>
      <p:sp>
        <p:nvSpPr>
          <p:cNvPr id="3" name="Content Placeholder 2"/>
          <p:cNvSpPr>
            <a:spLocks noGrp="1"/>
          </p:cNvSpPr>
          <p:nvPr>
            <p:ph idx="1"/>
          </p:nvPr>
        </p:nvSpPr>
        <p:spPr>
          <a:xfrm>
            <a:off x="418188" y="2286000"/>
            <a:ext cx="8065412" cy="3840163"/>
          </a:xfrm>
        </p:spPr>
        <p:txBody>
          <a:bodyPr>
            <a:normAutofit fontScale="92500" lnSpcReduction="10000"/>
          </a:bodyPr>
          <a:lstStyle/>
          <a:p>
            <a:r>
              <a:rPr lang="en-US" sz="2000" dirty="0" smtClean="0"/>
              <a:t>Chemists </a:t>
            </a:r>
            <a:r>
              <a:rPr lang="en-US" sz="2000" dirty="0"/>
              <a:t>believed they discovered a non-addictive form of</a:t>
            </a:r>
            <a:r>
              <a:rPr lang="en-US" sz="2000" dirty="0" smtClean="0"/>
              <a:t> opiate </a:t>
            </a:r>
            <a:r>
              <a:rPr lang="en-US" sz="2000" dirty="0"/>
              <a:t>around the turn of the nineteenth </a:t>
            </a:r>
            <a:r>
              <a:rPr lang="en-US" sz="2000" dirty="0" smtClean="0"/>
              <a:t>century –Heroin. The Bayer Company started the production of heroin in 1898.</a:t>
            </a:r>
            <a:endParaRPr lang="en-US" dirty="0" smtClean="0"/>
          </a:p>
          <a:p>
            <a:r>
              <a:rPr lang="en-US" sz="2000" dirty="0" smtClean="0"/>
              <a:t>Over </a:t>
            </a:r>
            <a:r>
              <a:rPr lang="en-US" sz="2000" dirty="0"/>
              <a:t>the course of the next century,</a:t>
            </a:r>
            <a:r>
              <a:rPr lang="en-US" sz="2000" dirty="0" smtClean="0"/>
              <a:t> governments around </a:t>
            </a:r>
            <a:r>
              <a:rPr lang="en-US" sz="2000" dirty="0"/>
              <a:t>the world,</a:t>
            </a:r>
            <a:r>
              <a:rPr lang="en-US" sz="2000" dirty="0" smtClean="0"/>
              <a:t> would </a:t>
            </a:r>
            <a:r>
              <a:rPr lang="en-US" sz="2000" dirty="0"/>
              <a:t>begin to recognize the dangers of heroin, morphine and opium. Soon these drugs were outlawed for medicinal purposes, and pushed underground</a:t>
            </a:r>
            <a:r>
              <a:rPr lang="en-US" sz="2000" dirty="0" smtClean="0"/>
              <a:t>. </a:t>
            </a:r>
          </a:p>
          <a:p>
            <a:r>
              <a:rPr lang="en-US" sz="2000" dirty="0" smtClean="0"/>
              <a:t>Late nineteenth century Laudanum (a tincture of raw opium in 50 percent alcohol) was prescribed to women complaining of “female problems”. Epidemiological studies conducted in Michigan, Iowa, and Chicago between 1878 and 1885 reported that at least 60 percent of the morphine or opium addicts living there were women. </a:t>
            </a:r>
          </a:p>
          <a:p>
            <a:endParaRPr lang="en-US" sz="2000" dirty="0" smtClean="0"/>
          </a:p>
          <a:p>
            <a:endParaRPr lang="en-US" sz="2000" dirty="0" smtClean="0"/>
          </a:p>
        </p:txBody>
      </p:sp>
      <p:sp>
        <p:nvSpPr>
          <p:cNvPr id="4" name="Footer Placeholder 3"/>
          <p:cNvSpPr>
            <a:spLocks noGrp="1"/>
          </p:cNvSpPr>
          <p:nvPr>
            <p:ph type="ftr" sz="quarter" idx="11"/>
          </p:nvPr>
        </p:nvSpPr>
        <p:spPr/>
        <p:txBody>
          <a:bodyPr/>
          <a:lstStyle/>
          <a:p>
            <a:r>
              <a:rPr lang="en-US" dirty="0" smtClean="0"/>
              <a:t>Markel, Howard (2011). An Anatomy of Addiction: Sigmund Freud, William Halsted, and the Miracle Drug Cocaine </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accent1">
                    <a:lumMod val="60000"/>
                    <a:lumOff val="40000"/>
                  </a:schemeClr>
                </a:solidFill>
              </a:rPr>
              <a:t>A Brief History Opiate Addiction</a:t>
            </a:r>
            <a:endParaRPr lang="en-US" dirty="0">
              <a:solidFill>
                <a:schemeClr val="accent1">
                  <a:lumMod val="60000"/>
                  <a:lumOff val="40000"/>
                </a:schemeClr>
              </a:solidFill>
            </a:endParaRPr>
          </a:p>
        </p:txBody>
      </p:sp>
      <p:sp>
        <p:nvSpPr>
          <p:cNvPr id="3" name="Content Placeholder 2"/>
          <p:cNvSpPr>
            <a:spLocks noGrp="1"/>
          </p:cNvSpPr>
          <p:nvPr>
            <p:ph idx="1"/>
          </p:nvPr>
        </p:nvSpPr>
        <p:spPr>
          <a:xfrm>
            <a:off x="318247" y="2286000"/>
            <a:ext cx="8165353" cy="3840163"/>
          </a:xfrm>
        </p:spPr>
        <p:txBody>
          <a:bodyPr>
            <a:normAutofit lnSpcReduction="10000"/>
          </a:bodyPr>
          <a:lstStyle/>
          <a:p>
            <a:r>
              <a:rPr lang="en-US" sz="2000" dirty="0" smtClean="0"/>
              <a:t>Huge numbers of men and children, too, complaining of ailments ranging from acute pain to colic, heart disease, earaches, cholera, whooping cough, hemorrhoids, hysteria, and mumps were prescribed morphine and opium.</a:t>
            </a:r>
          </a:p>
          <a:p>
            <a:r>
              <a:rPr lang="en-US" sz="2000" dirty="0" smtClean="0"/>
              <a:t> A survey of Boston’s drugstores published in an 1888 issue of Popular Science Monthly -of 10,200 prescriptions reviewed, 1,481, or 14.5 percent, contained an opiate. </a:t>
            </a:r>
          </a:p>
          <a:p>
            <a:r>
              <a:rPr lang="en-US" sz="2000" dirty="0" smtClean="0"/>
              <a:t>During this period in the United States and abroad, the abuse of addictive drugs such as opium, morphine, and, soon after it was introduced to the public, cocaine constituted a major public health problem.. </a:t>
            </a:r>
          </a:p>
          <a:p>
            <a:endParaRPr lang="en-US" sz="2000" dirty="0"/>
          </a:p>
        </p:txBody>
      </p:sp>
      <p:sp>
        <p:nvSpPr>
          <p:cNvPr id="4" name="Footer Placeholder 3"/>
          <p:cNvSpPr>
            <a:spLocks noGrp="1"/>
          </p:cNvSpPr>
          <p:nvPr>
            <p:ph type="ftr" sz="quarter" idx="11"/>
          </p:nvPr>
        </p:nvSpPr>
        <p:spPr/>
        <p:txBody>
          <a:bodyPr/>
          <a:lstStyle/>
          <a:p>
            <a:r>
              <a:rPr lang="en-US" dirty="0" smtClean="0"/>
              <a:t>Markel, Howard (2011). An Anatomy of Addiction: Sigmund Freud, William Halsted, and the Miracle Drug Cocaine </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accent1">
                    <a:lumMod val="60000"/>
                    <a:lumOff val="40000"/>
                  </a:schemeClr>
                </a:solidFill>
              </a:rPr>
              <a:t>A Brief History Opiate Addiction</a:t>
            </a:r>
            <a:endParaRPr lang="en-US" dirty="0"/>
          </a:p>
        </p:txBody>
      </p:sp>
      <p:sp>
        <p:nvSpPr>
          <p:cNvPr id="3" name="Content Placeholder 2"/>
          <p:cNvSpPr>
            <a:spLocks noGrp="1"/>
          </p:cNvSpPr>
          <p:nvPr>
            <p:ph idx="1"/>
          </p:nvPr>
        </p:nvSpPr>
        <p:spPr>
          <a:xfrm>
            <a:off x="340746" y="2286000"/>
            <a:ext cx="8142854" cy="3840163"/>
          </a:xfrm>
        </p:spPr>
        <p:txBody>
          <a:bodyPr>
            <a:normAutofit fontScale="92500" lnSpcReduction="20000"/>
          </a:bodyPr>
          <a:lstStyle/>
          <a:p>
            <a:r>
              <a:rPr lang="en-US" dirty="0" smtClean="0"/>
              <a:t>1960s Methadone Maintenance was established as a safer alternative to Heroine Addiction as it decreased crime, complications of iv drug use and sexually transmitted diseases associated with risky behavior linked to Heroine use. However, problems related to concomitant use of other drugs of abuse, overdose deaths and chronic pain in Methadone patients has created ongoing controversy.</a:t>
            </a:r>
          </a:p>
          <a:p>
            <a:r>
              <a:rPr lang="en-US" dirty="0" smtClean="0"/>
              <a:t>In 1996 Purdue marketed a new opiate formulation felt to be less addictive than previous formulations and was touted as the new treatment for chronic pain with minimal side effects and risk of addiction. The name of that drug was </a:t>
            </a:r>
            <a:r>
              <a:rPr lang="en-US" dirty="0" err="1" smtClean="0"/>
              <a:t>Oxycontin</a:t>
            </a:r>
            <a:r>
              <a:rPr lang="en-US" dirty="0" smtClean="0"/>
              <a:t>.</a:t>
            </a:r>
          </a:p>
          <a:p>
            <a:r>
              <a:rPr lang="en-US" dirty="0" smtClean="0"/>
              <a:t>2002 –</a:t>
            </a:r>
            <a:r>
              <a:rPr lang="en-US" dirty="0" err="1" smtClean="0"/>
              <a:t>Suboxone</a:t>
            </a:r>
            <a:r>
              <a:rPr lang="en-US" dirty="0" smtClean="0"/>
              <a:t> approved for Opiate Dependence and Addiction. However problems related to recreational use and overdose when mixed with other substances have raised concerns about </a:t>
            </a:r>
            <a:r>
              <a:rPr lang="en-US" dirty="0" err="1" smtClean="0"/>
              <a:t>Suboxone</a:t>
            </a:r>
            <a:r>
              <a:rPr lang="en-US" dirty="0" smtClean="0"/>
              <a:t> maintenance when not properly supervised. </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2400" dirty="0" smtClean="0">
                <a:solidFill>
                  <a:schemeClr val="accent1">
                    <a:lumMod val="60000"/>
                    <a:lumOff val="40000"/>
                  </a:schemeClr>
                </a:solidFill>
              </a:rPr>
              <a:t>The NEW ENGLAND JOURNAL of MEDICINE </a:t>
            </a:r>
            <a:br>
              <a:rPr lang="en-US" sz="2400" dirty="0" smtClean="0">
                <a:solidFill>
                  <a:schemeClr val="accent1">
                    <a:lumMod val="60000"/>
                    <a:lumOff val="40000"/>
                  </a:schemeClr>
                </a:solidFill>
              </a:rPr>
            </a:br>
            <a:r>
              <a:rPr lang="en-US" sz="2400" dirty="0" smtClean="0">
                <a:solidFill>
                  <a:schemeClr val="accent1">
                    <a:lumMod val="60000"/>
                    <a:lumOff val="40000"/>
                  </a:schemeClr>
                </a:solidFill>
              </a:rPr>
              <a:t>Flood of </a:t>
            </a:r>
            <a:r>
              <a:rPr lang="en-US" sz="2400" dirty="0" err="1" smtClean="0">
                <a:solidFill>
                  <a:schemeClr val="accent1">
                    <a:lumMod val="60000"/>
                    <a:lumOff val="40000"/>
                  </a:schemeClr>
                </a:solidFill>
              </a:rPr>
              <a:t>Opioids</a:t>
            </a:r>
            <a:r>
              <a:rPr lang="en-US" sz="2400" dirty="0" smtClean="0">
                <a:solidFill>
                  <a:schemeClr val="accent1">
                    <a:lumMod val="60000"/>
                    <a:lumOff val="40000"/>
                  </a:schemeClr>
                </a:solidFill>
              </a:rPr>
              <a:t>, a Rising Tide of Deaths</a:t>
            </a:r>
            <a:endParaRPr lang="en-US" sz="2400" dirty="0">
              <a:solidFill>
                <a:schemeClr val="accent1">
                  <a:lumMod val="60000"/>
                  <a:lumOff val="40000"/>
                </a:schemeClr>
              </a:solidFill>
            </a:endParaRPr>
          </a:p>
        </p:txBody>
      </p:sp>
      <p:sp>
        <p:nvSpPr>
          <p:cNvPr id="3" name="Content Placeholder 2"/>
          <p:cNvSpPr>
            <a:spLocks noGrp="1"/>
          </p:cNvSpPr>
          <p:nvPr>
            <p:ph idx="1"/>
          </p:nvPr>
        </p:nvSpPr>
        <p:spPr>
          <a:xfrm>
            <a:off x="658813" y="2286000"/>
            <a:ext cx="7824787" cy="3840163"/>
          </a:xfrm>
        </p:spPr>
        <p:txBody>
          <a:bodyPr>
            <a:normAutofit lnSpcReduction="10000"/>
          </a:bodyPr>
          <a:lstStyle/>
          <a:p>
            <a:r>
              <a:rPr lang="en-US" dirty="0" smtClean="0"/>
              <a:t>Prescription </a:t>
            </a:r>
            <a:r>
              <a:rPr lang="en-US" dirty="0" err="1" smtClean="0"/>
              <a:t>opioids</a:t>
            </a:r>
            <a:r>
              <a:rPr lang="en-US" dirty="0" smtClean="0"/>
              <a:t> caused 11,499 of the deaths in 2007 — more than heroin and cocaine combined</a:t>
            </a:r>
          </a:p>
          <a:p>
            <a:r>
              <a:rPr lang="en-US" dirty="0" smtClean="0"/>
              <a:t>Admissions to substance-abuse treatment programs increased by 400% between 1998 and 2008</a:t>
            </a:r>
          </a:p>
          <a:p>
            <a:r>
              <a:rPr lang="en-US" dirty="0" smtClean="0"/>
              <a:t>Prescription painkillers are the second most prevalent type of abused drug after marijuana</a:t>
            </a:r>
          </a:p>
          <a:p>
            <a:r>
              <a:rPr lang="en-US" dirty="0" smtClean="0"/>
              <a:t>In almost every age group, men have higher death rates from drug overdoses than women</a:t>
            </a:r>
          </a:p>
          <a:p>
            <a:r>
              <a:rPr lang="en-US" dirty="0" smtClean="0"/>
              <a:t>About half of those who died had a medical history of pain treatment</a:t>
            </a:r>
            <a:endParaRPr lang="en-US" dirty="0"/>
          </a:p>
        </p:txBody>
      </p:sp>
      <p:sp>
        <p:nvSpPr>
          <p:cNvPr id="4" name="Footer Placeholder 3"/>
          <p:cNvSpPr>
            <a:spLocks noGrp="1"/>
          </p:cNvSpPr>
          <p:nvPr>
            <p:ph type="ftr" sz="quarter" idx="11"/>
          </p:nvPr>
        </p:nvSpPr>
        <p:spPr>
          <a:xfrm>
            <a:off x="318247" y="6126163"/>
            <a:ext cx="3415554" cy="731837"/>
          </a:xfrm>
        </p:spPr>
        <p:txBody>
          <a:bodyPr/>
          <a:lstStyle/>
          <a:p>
            <a:r>
              <a:rPr lang="en-US" dirty="0" err="1" smtClean="0"/>
              <a:t>n</a:t>
            </a:r>
            <a:r>
              <a:rPr lang="en-US" dirty="0" smtClean="0"/>
              <a:t> </a:t>
            </a:r>
            <a:r>
              <a:rPr lang="en-US" dirty="0" err="1" smtClean="0"/>
              <a:t>engl</a:t>
            </a:r>
            <a:r>
              <a:rPr lang="en-US" dirty="0" smtClean="0"/>
              <a:t> </a:t>
            </a:r>
            <a:r>
              <a:rPr lang="en-US" dirty="0" err="1" smtClean="0"/>
              <a:t>j</a:t>
            </a:r>
            <a:r>
              <a:rPr lang="en-US" dirty="0" smtClean="0"/>
              <a:t> med 363;21nejm.orgnovember 18, 2010</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FF0000"/>
                </a:solidFill>
              </a:rPr>
              <a:t>Opiate Related Deaths </a:t>
            </a:r>
            <a:endParaRPr lang="en-US" dirty="0">
              <a:solidFill>
                <a:srgbClr val="FF0000"/>
              </a:solidFill>
            </a:endParaRPr>
          </a:p>
        </p:txBody>
      </p:sp>
      <p:sp>
        <p:nvSpPr>
          <p:cNvPr id="3" name="Content Placeholder 2"/>
          <p:cNvSpPr>
            <a:spLocks noGrp="1"/>
          </p:cNvSpPr>
          <p:nvPr>
            <p:ph idx="1"/>
          </p:nvPr>
        </p:nvSpPr>
        <p:spPr>
          <a:xfrm>
            <a:off x="441960" y="2286000"/>
            <a:ext cx="8041640" cy="3840163"/>
          </a:xfrm>
        </p:spPr>
        <p:txBody>
          <a:bodyPr/>
          <a:lstStyle/>
          <a:p>
            <a:r>
              <a:rPr lang="en-US" dirty="0" smtClean="0"/>
              <a:t>Respiratory depression leading to an </a:t>
            </a:r>
            <a:r>
              <a:rPr lang="en-US" dirty="0" err="1" smtClean="0"/>
              <a:t>opioid</a:t>
            </a:r>
            <a:r>
              <a:rPr lang="en-US" dirty="0" smtClean="0"/>
              <a:t>-related death is exacerbated by the presence of additional substances, including alcohol, illicit drugs, and other prescription medications, particularly benzodiazepines</a:t>
            </a:r>
          </a:p>
          <a:p>
            <a:r>
              <a:rPr lang="en-US" dirty="0" smtClean="0"/>
              <a:t>Benzodiazepine use has been found to contribute to life threatening sleep-disordered breathing</a:t>
            </a:r>
          </a:p>
          <a:p>
            <a:r>
              <a:rPr lang="en-US" dirty="0" smtClean="0"/>
              <a:t>Examiner found benzodiazepines involved in more than a third of prescription drug deaths in 2006</a:t>
            </a:r>
            <a:endParaRPr lang="en-US" dirty="0"/>
          </a:p>
        </p:txBody>
      </p:sp>
      <p:sp>
        <p:nvSpPr>
          <p:cNvPr id="4" name="Footer Placeholder 3"/>
          <p:cNvSpPr>
            <a:spLocks noGrp="1"/>
          </p:cNvSpPr>
          <p:nvPr>
            <p:ph type="ftr" sz="quarter" idx="11"/>
          </p:nvPr>
        </p:nvSpPr>
        <p:spPr/>
        <p:txBody>
          <a:bodyPr/>
          <a:lstStyle/>
          <a:p>
            <a:r>
              <a:rPr lang="en-US" dirty="0" smtClean="0"/>
              <a:t>“An Analysis of the Root Causes for </a:t>
            </a:r>
            <a:r>
              <a:rPr lang="en-US" dirty="0" err="1" smtClean="0"/>
              <a:t>Opioid</a:t>
            </a:r>
            <a:r>
              <a:rPr lang="en-US" dirty="0" smtClean="0"/>
              <a:t>-</a:t>
            </a:r>
          </a:p>
          <a:p>
            <a:r>
              <a:rPr lang="en-US" dirty="0" smtClean="0"/>
              <a:t>Related Overdose Deaths in the United States” West Virginia Office of the Chief Medical Examiner</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2"/>
          <p:cNvSpPr>
            <a:spLocks noGrp="1"/>
          </p:cNvSpPr>
          <p:nvPr>
            <p:ph type="title"/>
          </p:nvPr>
        </p:nvSpPr>
        <p:spPr>
          <a:xfrm>
            <a:off x="838200" y="0"/>
            <a:ext cx="7848600" cy="1600200"/>
          </a:xfrm>
        </p:spPr>
        <p:txBody>
          <a:bodyPr/>
          <a:lstStyle/>
          <a:p>
            <a:pPr eaLnBrk="1" hangingPunct="1"/>
            <a:r>
              <a:rPr lang="en-US" sz="4000" dirty="0" smtClean="0">
                <a:solidFill>
                  <a:schemeClr val="accent1">
                    <a:lumMod val="60000"/>
                    <a:lumOff val="40000"/>
                  </a:schemeClr>
                </a:solidFill>
              </a:rPr>
              <a:t>Overdose and Prescribed </a:t>
            </a:r>
            <a:r>
              <a:rPr lang="en-US" sz="4000" dirty="0" err="1" smtClean="0">
                <a:solidFill>
                  <a:schemeClr val="accent1">
                    <a:lumMod val="60000"/>
                    <a:lumOff val="40000"/>
                  </a:schemeClr>
                </a:solidFill>
              </a:rPr>
              <a:t>Opioids</a:t>
            </a:r>
            <a:endParaRPr lang="en-US" sz="4000" dirty="0" smtClean="0">
              <a:solidFill>
                <a:schemeClr val="accent1">
                  <a:lumMod val="60000"/>
                  <a:lumOff val="40000"/>
                </a:schemeClr>
              </a:solidFill>
            </a:endParaRPr>
          </a:p>
        </p:txBody>
      </p:sp>
      <p:sp>
        <p:nvSpPr>
          <p:cNvPr id="2" name="Content Placeholder 1"/>
          <p:cNvSpPr>
            <a:spLocks noGrp="1"/>
          </p:cNvSpPr>
          <p:nvPr>
            <p:ph sz="quarter" idx="1"/>
          </p:nvPr>
        </p:nvSpPr>
        <p:spPr>
          <a:xfrm>
            <a:off x="838200" y="2106578"/>
            <a:ext cx="7848600" cy="3989421"/>
          </a:xfrm>
        </p:spPr>
        <p:txBody>
          <a:bodyPr>
            <a:normAutofit/>
          </a:bodyPr>
          <a:lstStyle/>
          <a:p>
            <a:pPr eaLnBrk="1" hangingPunct="1">
              <a:defRPr/>
            </a:pPr>
            <a:r>
              <a:rPr lang="en-US" dirty="0" smtClean="0">
                <a:ea typeface="+mn-ea"/>
                <a:cs typeface="+mn-cs"/>
              </a:rPr>
              <a:t>Estimated Annual Overdose Rates were </a:t>
            </a:r>
          </a:p>
          <a:p>
            <a:pPr lvl="1" eaLnBrk="1" hangingPunct="1">
              <a:defRPr/>
            </a:pPr>
            <a:r>
              <a:rPr lang="en-US" dirty="0" smtClean="0"/>
              <a:t>0.2% for patients receiving less than 20 mg per day</a:t>
            </a:r>
          </a:p>
          <a:p>
            <a:pPr lvl="1" eaLnBrk="1" hangingPunct="1">
              <a:defRPr/>
            </a:pPr>
            <a:r>
              <a:rPr lang="en-US" dirty="0" smtClean="0"/>
              <a:t>0.7% for patients receiving 50 to 99 mg per day</a:t>
            </a:r>
          </a:p>
          <a:p>
            <a:pPr lvl="1" eaLnBrk="1" hangingPunct="1">
              <a:defRPr/>
            </a:pPr>
            <a:r>
              <a:rPr lang="en-US" dirty="0" smtClean="0"/>
              <a:t>1.8 % for patients receiving 100 mg or more per day</a:t>
            </a:r>
          </a:p>
          <a:p>
            <a:pPr lvl="1" eaLnBrk="1" hangingPunct="1">
              <a:defRPr/>
            </a:pPr>
            <a:r>
              <a:rPr lang="en-US" dirty="0" smtClean="0"/>
              <a:t>Above doses all in Morphine equivalents </a:t>
            </a:r>
          </a:p>
          <a:p>
            <a:pPr lvl="1" eaLnBrk="1" hangingPunct="1">
              <a:defRPr/>
            </a:pPr>
            <a:r>
              <a:rPr lang="en-US" dirty="0" smtClean="0"/>
              <a:t>88 % of identified overdoses were nonfatal but required hospitalization</a:t>
            </a:r>
          </a:p>
          <a:p>
            <a:pPr lvl="1" eaLnBrk="1" hangingPunct="1">
              <a:defRPr/>
            </a:pPr>
            <a:r>
              <a:rPr lang="en-US" dirty="0" smtClean="0"/>
              <a:t>Higher in patients over 65 or had a history of substance abuse treatment or had a history of depression</a:t>
            </a:r>
          </a:p>
          <a:p>
            <a:pPr lvl="1" eaLnBrk="1" hangingPunct="1">
              <a:defRPr/>
            </a:pPr>
            <a:r>
              <a:rPr lang="en-US" dirty="0" smtClean="0"/>
              <a:t>Annual rate of overdose 148 per 100,000 person-years overall</a:t>
            </a:r>
          </a:p>
          <a:p>
            <a:pPr lvl="1" eaLnBrk="1" hangingPunct="1">
              <a:defRPr/>
            </a:pPr>
            <a:r>
              <a:rPr lang="en-US" dirty="0" smtClean="0"/>
              <a:t>Highest after a prescription refill or new prescription</a:t>
            </a:r>
            <a:endParaRPr lang="en-US" dirty="0"/>
          </a:p>
        </p:txBody>
      </p:sp>
      <p:sp>
        <p:nvSpPr>
          <p:cNvPr id="50180" name="Footer Placeholder 3"/>
          <p:cNvSpPr>
            <a:spLocks noGrp="1"/>
          </p:cNvSpPr>
          <p:nvPr>
            <p:ph type="ftr" sz="quarter" idx="11"/>
          </p:nvPr>
        </p:nvSpPr>
        <p:spPr>
          <a:xfrm>
            <a:off x="457200" y="6356350"/>
            <a:ext cx="8229600" cy="365125"/>
          </a:xfrm>
          <a:noFill/>
        </p:spPr>
        <p:txBody>
          <a:bodyPr/>
          <a:lstStyle/>
          <a:p>
            <a:r>
              <a:rPr lang="en-US" dirty="0" smtClean="0"/>
              <a:t>Kate M. Dunn et al., </a:t>
            </a:r>
            <a:r>
              <a:rPr lang="en-US" dirty="0" err="1" smtClean="0"/>
              <a:t>Opioid</a:t>
            </a:r>
            <a:r>
              <a:rPr lang="en-US" dirty="0" smtClean="0"/>
              <a:t> Prescriptions for Chronic Pain and Overdose: A Cohort Study', </a:t>
            </a:r>
            <a:r>
              <a:rPr lang="en-US" u="sng" dirty="0" smtClean="0">
                <a:hlinkClick r:id="rId2"/>
              </a:rPr>
              <a:t>Ann Intern Med, January 2010, 152:85-92</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lumMod val="60000"/>
                    <a:lumOff val="40000"/>
                  </a:schemeClr>
                </a:solidFill>
              </a:rPr>
              <a:t>Patients at Highest Risk</a:t>
            </a:r>
            <a:endParaRPr lang="en-US" dirty="0">
              <a:solidFill>
                <a:schemeClr val="accent1">
                  <a:lumMod val="60000"/>
                  <a:lumOff val="40000"/>
                </a:schemeClr>
              </a:solidFill>
            </a:endParaRPr>
          </a:p>
        </p:txBody>
      </p:sp>
      <p:sp>
        <p:nvSpPr>
          <p:cNvPr id="3" name="Content Placeholder 2"/>
          <p:cNvSpPr>
            <a:spLocks noGrp="1"/>
          </p:cNvSpPr>
          <p:nvPr>
            <p:ph idx="1"/>
          </p:nvPr>
        </p:nvSpPr>
        <p:spPr>
          <a:xfrm>
            <a:off x="392186" y="2286000"/>
            <a:ext cx="8091414" cy="3840163"/>
          </a:xfrm>
        </p:spPr>
        <p:txBody>
          <a:bodyPr/>
          <a:lstStyle/>
          <a:p>
            <a:r>
              <a:rPr lang="en-US" dirty="0" smtClean="0"/>
              <a:t>Patients over 65</a:t>
            </a:r>
          </a:p>
          <a:p>
            <a:r>
              <a:rPr lang="en-US" dirty="0" smtClean="0"/>
              <a:t>Patients on 100 mg of Morphine or equivalent per day</a:t>
            </a:r>
          </a:p>
          <a:p>
            <a:r>
              <a:rPr lang="en-US" dirty="0" smtClean="0"/>
              <a:t>Patients with underlying lung disease</a:t>
            </a:r>
          </a:p>
          <a:p>
            <a:r>
              <a:rPr lang="en-US" dirty="0" smtClean="0"/>
              <a:t>Patients with underlying liver disease</a:t>
            </a:r>
          </a:p>
          <a:p>
            <a:r>
              <a:rPr lang="en-US" dirty="0" smtClean="0"/>
              <a:t>Patients with </a:t>
            </a:r>
            <a:r>
              <a:rPr lang="en-US" dirty="0" err="1" smtClean="0"/>
              <a:t>comorbid</a:t>
            </a:r>
            <a:r>
              <a:rPr lang="en-US" dirty="0" smtClean="0"/>
              <a:t> substance use disorder</a:t>
            </a:r>
          </a:p>
          <a:p>
            <a:r>
              <a:rPr lang="en-US" dirty="0" smtClean="0"/>
              <a:t>Patients with </a:t>
            </a:r>
            <a:r>
              <a:rPr lang="en-US" dirty="0" err="1" smtClean="0"/>
              <a:t>comorbid</a:t>
            </a:r>
            <a:r>
              <a:rPr lang="en-US" dirty="0" smtClean="0"/>
              <a:t> Mental Health Disorder</a:t>
            </a:r>
          </a:p>
          <a:p>
            <a:r>
              <a:rPr lang="en-US" dirty="0" smtClean="0"/>
              <a:t>Patients on Benzodiazepines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8000"/>
            <a:ext cx="8229600" cy="1887430"/>
          </a:xfrm>
        </p:spPr>
        <p:txBody>
          <a:bodyPr>
            <a:normAutofit fontScale="90000"/>
          </a:bodyPr>
          <a:lstStyle/>
          <a:p>
            <a:pPr algn="ctr"/>
            <a:r>
              <a:rPr lang="en-US" b="1" dirty="0" smtClean="0"/>
              <a:t>	</a:t>
            </a:r>
            <a:r>
              <a:rPr lang="en-US" dirty="0" smtClean="0"/>
              <a:t/>
            </a:r>
            <a:br>
              <a:rPr lang="en-US" dirty="0" smtClean="0"/>
            </a:br>
            <a:r>
              <a:rPr lang="en-US" b="1" dirty="0" smtClean="0"/>
              <a:t/>
            </a:r>
            <a:br>
              <a:rPr lang="en-US" b="1" dirty="0" smtClean="0"/>
            </a:br>
            <a:r>
              <a:rPr lang="en-US" sz="3111" b="1" dirty="0" smtClean="0"/>
              <a:t>: </a:t>
            </a:r>
            <a:br>
              <a:rPr lang="en-US" sz="3111" b="1" dirty="0" smtClean="0"/>
            </a:br>
            <a:r>
              <a:rPr lang="en-US" sz="2800" b="1" dirty="0" smtClean="0">
                <a:solidFill>
                  <a:schemeClr val="accent1">
                    <a:lumMod val="60000"/>
                    <a:lumOff val="40000"/>
                  </a:schemeClr>
                </a:solidFill>
              </a:rPr>
              <a:t>Trends in Emergency Department (ED) Visits Involving the Nonmedical Use of Narcotic Pain Relievers</a:t>
            </a:r>
            <a:r>
              <a:rPr lang="en-US" sz="2800" b="1" dirty="0" smtClean="0"/>
              <a:t/>
            </a:r>
            <a:br>
              <a:rPr lang="en-US" sz="2800" b="1" dirty="0" smtClean="0"/>
            </a:br>
            <a:endParaRPr lang="en-US" sz="3111" dirty="0"/>
          </a:p>
        </p:txBody>
      </p:sp>
      <p:sp>
        <p:nvSpPr>
          <p:cNvPr id="3" name="Content Placeholder 2"/>
          <p:cNvSpPr>
            <a:spLocks noGrp="1"/>
          </p:cNvSpPr>
          <p:nvPr>
            <p:ph idx="1"/>
          </p:nvPr>
        </p:nvSpPr>
        <p:spPr>
          <a:xfrm>
            <a:off x="457200" y="2395430"/>
            <a:ext cx="8229600" cy="3730733"/>
          </a:xfrm>
        </p:spPr>
        <p:txBody>
          <a:bodyPr>
            <a:normAutofit/>
          </a:bodyPr>
          <a:lstStyle/>
          <a:p>
            <a:r>
              <a:rPr lang="en-US" dirty="0" smtClean="0"/>
              <a:t>2004</a:t>
            </a:r>
            <a:r>
              <a:rPr lang="en-US" dirty="0"/>
              <a:t>	</a:t>
            </a:r>
            <a:r>
              <a:rPr lang="en-US" dirty="0" smtClean="0"/>
              <a:t>	144,644</a:t>
            </a:r>
            <a:r>
              <a:rPr lang="en-US" dirty="0"/>
              <a:t>	</a:t>
            </a:r>
          </a:p>
          <a:p>
            <a:r>
              <a:rPr lang="en-US" dirty="0"/>
              <a:t>2005	</a:t>
            </a:r>
            <a:r>
              <a:rPr lang="en-US" dirty="0" smtClean="0"/>
              <a:t>	168,376</a:t>
            </a:r>
            <a:r>
              <a:rPr lang="en-US" dirty="0"/>
              <a:t>	</a:t>
            </a:r>
          </a:p>
          <a:p>
            <a:r>
              <a:rPr lang="en-US" dirty="0"/>
              <a:t>2006	</a:t>
            </a:r>
            <a:r>
              <a:rPr lang="en-US" dirty="0" smtClean="0"/>
              <a:t>	201,280</a:t>
            </a:r>
            <a:r>
              <a:rPr lang="en-US" dirty="0"/>
              <a:t>	</a:t>
            </a:r>
          </a:p>
          <a:p>
            <a:r>
              <a:rPr lang="en-US" dirty="0"/>
              <a:t>2007	</a:t>
            </a:r>
            <a:r>
              <a:rPr lang="en-US" dirty="0" smtClean="0"/>
              <a:t>	237,143</a:t>
            </a:r>
            <a:r>
              <a:rPr lang="en-US" dirty="0"/>
              <a:t>	</a:t>
            </a:r>
          </a:p>
          <a:p>
            <a:r>
              <a:rPr lang="en-US" dirty="0"/>
              <a:t>2008	</a:t>
            </a:r>
            <a:r>
              <a:rPr lang="en-US" dirty="0" smtClean="0"/>
              <a:t>	305,885</a:t>
            </a:r>
            <a:r>
              <a:rPr lang="en-US" dirty="0"/>
              <a:t>	</a:t>
            </a:r>
          </a:p>
          <a:p>
            <a:pPr>
              <a:buNone/>
            </a:pPr>
            <a:endParaRPr lang="en-US" dirty="0"/>
          </a:p>
        </p:txBody>
      </p:sp>
      <p:sp>
        <p:nvSpPr>
          <p:cNvPr id="5" name="Footer Placeholder 4"/>
          <p:cNvSpPr>
            <a:spLocks noGrp="1"/>
          </p:cNvSpPr>
          <p:nvPr>
            <p:ph type="ftr" sz="quarter" idx="11"/>
          </p:nvPr>
        </p:nvSpPr>
        <p:spPr/>
        <p:txBody>
          <a:bodyPr/>
          <a:lstStyle/>
          <a:p>
            <a:r>
              <a:rPr lang="en-US" smtClean="0"/>
              <a:t>SAMHSA</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18713" y="167481"/>
            <a:ext cx="7047265" cy="64061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447800"/>
          </a:xfrm>
        </p:spPr>
        <p:txBody>
          <a:bodyPr/>
          <a:lstStyle/>
          <a:p>
            <a:pPr algn="ctr" eaLnBrk="1" fontAlgn="auto" hangingPunct="1">
              <a:spcAft>
                <a:spcPts val="0"/>
              </a:spcAft>
              <a:defRPr/>
            </a:pPr>
            <a:r>
              <a:rPr lang="en-US" dirty="0" smtClean="0">
                <a:solidFill>
                  <a:schemeClr val="accent1">
                    <a:lumMod val="60000"/>
                    <a:lumOff val="40000"/>
                  </a:schemeClr>
                </a:solidFill>
                <a:latin typeface="Tahoma" pitchFamily="34" charset="0"/>
                <a:ea typeface="Tahoma" pitchFamily="34" charset="0"/>
                <a:cs typeface="Tahoma" pitchFamily="34" charset="0"/>
              </a:rPr>
              <a:t>Primary Care </a:t>
            </a:r>
            <a:endParaRPr lang="en-US" dirty="0">
              <a:solidFill>
                <a:schemeClr val="accent1">
                  <a:lumMod val="60000"/>
                  <a:lumOff val="40000"/>
                </a:schemeClr>
              </a:solidFill>
              <a:latin typeface="Tahoma" pitchFamily="34" charset="0"/>
              <a:ea typeface="Tahoma" pitchFamily="34" charset="0"/>
              <a:cs typeface="Tahoma" pitchFamily="34" charset="0"/>
            </a:endParaRPr>
          </a:p>
        </p:txBody>
      </p:sp>
      <p:sp>
        <p:nvSpPr>
          <p:cNvPr id="3" name="Content Placeholder 2"/>
          <p:cNvSpPr>
            <a:spLocks noGrp="1"/>
          </p:cNvSpPr>
          <p:nvPr>
            <p:ph idx="1"/>
          </p:nvPr>
        </p:nvSpPr>
        <p:spPr>
          <a:xfrm>
            <a:off x="381000" y="2267856"/>
            <a:ext cx="8229600" cy="4590143"/>
          </a:xfrm>
        </p:spPr>
        <p:txBody>
          <a:bodyPr>
            <a:normAutofit fontScale="47500" lnSpcReduction="20000"/>
          </a:bodyPr>
          <a:lstStyle/>
          <a:p>
            <a:pPr marL="171450" indent="-171450" defTabSz="1046163" eaLnBrk="1" fontAlgn="auto" hangingPunct="1">
              <a:lnSpc>
                <a:spcPct val="125000"/>
              </a:lnSpc>
              <a:spcAft>
                <a:spcPct val="50000"/>
              </a:spcAft>
              <a:buClr>
                <a:schemeClr val="tx1">
                  <a:shade val="95000"/>
                </a:schemeClr>
              </a:buClr>
              <a:buFont typeface="Arial" charset="0"/>
              <a:buChar char="•"/>
              <a:defRPr/>
            </a:pPr>
            <a:r>
              <a:rPr lang="en-US" sz="4400" dirty="0" smtClean="0">
                <a:latin typeface="Tahoma" pitchFamily="34" charset="0"/>
                <a:ea typeface="Tahoma" pitchFamily="34" charset="0"/>
                <a:cs typeface="Tahoma" pitchFamily="34" charset="0"/>
              </a:rPr>
              <a:t>40% of all outpatient visits are related to pain</a:t>
            </a:r>
            <a:r>
              <a:rPr lang="en-US" sz="4400" baseline="30000" dirty="0" smtClean="0">
                <a:latin typeface="Tahoma" pitchFamily="34" charset="0"/>
                <a:ea typeface="Tahoma" pitchFamily="34" charset="0"/>
                <a:cs typeface="Tahoma" pitchFamily="34" charset="0"/>
              </a:rPr>
              <a:t>1</a:t>
            </a:r>
            <a:endParaRPr lang="en-US" sz="4400" dirty="0" smtClean="0">
              <a:latin typeface="Tahoma" pitchFamily="34" charset="0"/>
              <a:ea typeface="Tahoma" pitchFamily="34" charset="0"/>
              <a:cs typeface="Tahoma" pitchFamily="34" charset="0"/>
            </a:endParaRPr>
          </a:p>
          <a:p>
            <a:pPr marL="171450" indent="-171450" defTabSz="1046163" eaLnBrk="1" fontAlgn="auto" hangingPunct="1">
              <a:lnSpc>
                <a:spcPct val="125000"/>
              </a:lnSpc>
              <a:spcAft>
                <a:spcPct val="50000"/>
              </a:spcAft>
              <a:buClr>
                <a:schemeClr val="tx1">
                  <a:shade val="95000"/>
                </a:schemeClr>
              </a:buClr>
              <a:buFont typeface="Arial" charset="0"/>
              <a:buChar char="•"/>
              <a:defRPr/>
            </a:pPr>
            <a:r>
              <a:rPr lang="en-US" sz="4400" dirty="0" smtClean="0">
                <a:latin typeface="Tahoma" pitchFamily="34" charset="0"/>
                <a:ea typeface="Tahoma" pitchFamily="34" charset="0"/>
                <a:cs typeface="Tahoma" pitchFamily="34" charset="0"/>
              </a:rPr>
              <a:t>50% of male veterans and 75% of female veterans report  presence of pain</a:t>
            </a:r>
            <a:r>
              <a:rPr lang="en-US" sz="4400" baseline="30000" dirty="0" smtClean="0">
                <a:latin typeface="Tahoma" pitchFamily="34" charset="0"/>
                <a:ea typeface="Tahoma" pitchFamily="34" charset="0"/>
                <a:cs typeface="Tahoma" pitchFamily="34" charset="0"/>
              </a:rPr>
              <a:t>2,3</a:t>
            </a:r>
            <a:endParaRPr lang="en-US" sz="4400" dirty="0" smtClean="0">
              <a:latin typeface="Tahoma" pitchFamily="34" charset="0"/>
              <a:ea typeface="Tahoma" pitchFamily="34" charset="0"/>
              <a:cs typeface="Tahoma" pitchFamily="34" charset="0"/>
            </a:endParaRPr>
          </a:p>
          <a:p>
            <a:pPr marL="171450" indent="-171450" defTabSz="1046163" eaLnBrk="1" fontAlgn="auto" hangingPunct="1">
              <a:lnSpc>
                <a:spcPct val="125000"/>
              </a:lnSpc>
              <a:spcAft>
                <a:spcPct val="50000"/>
              </a:spcAft>
              <a:buClr>
                <a:schemeClr val="tx1">
                  <a:shade val="95000"/>
                </a:schemeClr>
              </a:buClr>
              <a:buFont typeface="Arial" charset="0"/>
              <a:buChar char="•"/>
              <a:defRPr/>
            </a:pPr>
            <a:r>
              <a:rPr lang="en-US" sz="4400" dirty="0" smtClean="0">
                <a:latin typeface="Tahoma" pitchFamily="34" charset="0"/>
                <a:ea typeface="Tahoma" pitchFamily="34" charset="0"/>
                <a:cs typeface="Tahoma" pitchFamily="34" charset="0"/>
              </a:rPr>
              <a:t>More than half of all CNCP is managed by primary care providers</a:t>
            </a:r>
            <a:r>
              <a:rPr lang="en-US" sz="4400" baseline="30000" dirty="0" smtClean="0">
                <a:latin typeface="Tahoma" pitchFamily="34" charset="0"/>
                <a:ea typeface="Tahoma" pitchFamily="34" charset="0"/>
                <a:cs typeface="Tahoma" pitchFamily="34" charset="0"/>
              </a:rPr>
              <a:t> 4</a:t>
            </a:r>
            <a:endParaRPr lang="en-US" sz="4400" dirty="0" smtClean="0">
              <a:latin typeface="Tahoma" pitchFamily="34" charset="0"/>
              <a:ea typeface="Tahoma" pitchFamily="34" charset="0"/>
              <a:cs typeface="Tahoma" pitchFamily="34" charset="0"/>
            </a:endParaRPr>
          </a:p>
          <a:p>
            <a:pPr marL="137160" indent="0" eaLnBrk="1" fontAlgn="auto" hangingPunct="1">
              <a:spcAft>
                <a:spcPts val="0"/>
              </a:spcAft>
              <a:buClr>
                <a:schemeClr val="tx1">
                  <a:shade val="95000"/>
                </a:schemeClr>
              </a:buClr>
              <a:buFont typeface="Wingdings 2"/>
              <a:buNone/>
              <a:defRPr/>
            </a:pPr>
            <a:r>
              <a:rPr lang="en-US" sz="1900" baseline="30000" dirty="0" smtClean="0"/>
              <a:t>1.</a:t>
            </a:r>
            <a:r>
              <a:rPr lang="en-US" sz="1900" dirty="0" smtClean="0"/>
              <a:t>Poleshuck</a:t>
            </a:r>
            <a:r>
              <a:rPr lang="en-US" sz="1900" dirty="0"/>
              <a:t>, EL, Bair, MJ, </a:t>
            </a:r>
            <a:r>
              <a:rPr lang="en-US" sz="1900" dirty="0" err="1"/>
              <a:t>Kroenke</a:t>
            </a:r>
            <a:r>
              <a:rPr lang="en-US" sz="1900" dirty="0"/>
              <a:t> K. et al. Patients Presenting with Somatic Complaints: Epidemiology, Psychiatric Comorbidity and Management.  </a:t>
            </a:r>
            <a:r>
              <a:rPr lang="en-US" sz="1900" i="1" dirty="0" err="1"/>
              <a:t>Int</a:t>
            </a:r>
            <a:r>
              <a:rPr lang="en-US" sz="1900" i="1" dirty="0"/>
              <a:t> J Methods </a:t>
            </a:r>
            <a:r>
              <a:rPr lang="en-US" sz="1900" i="1" dirty="0" err="1"/>
              <a:t>Psychiatr</a:t>
            </a:r>
            <a:r>
              <a:rPr lang="en-US" sz="1900" i="1" dirty="0"/>
              <a:t> Res. 2003; </a:t>
            </a:r>
            <a:r>
              <a:rPr lang="en-US" sz="1900" dirty="0"/>
              <a:t>12(1): 34-43.</a:t>
            </a:r>
          </a:p>
          <a:p>
            <a:pPr marL="137160" indent="0" eaLnBrk="1" fontAlgn="auto" hangingPunct="1">
              <a:spcAft>
                <a:spcPts val="0"/>
              </a:spcAft>
              <a:buClr>
                <a:schemeClr val="tx1">
                  <a:shade val="95000"/>
                </a:schemeClr>
              </a:buClr>
              <a:buFont typeface="Wingdings 2"/>
              <a:buNone/>
              <a:defRPr/>
            </a:pPr>
            <a:r>
              <a:rPr lang="en-US" sz="1900" baseline="30000" dirty="0" smtClean="0"/>
              <a:t>2.</a:t>
            </a:r>
            <a:r>
              <a:rPr lang="en-US" sz="1900" dirty="0" smtClean="0"/>
              <a:t> </a:t>
            </a:r>
            <a:r>
              <a:rPr lang="en-US" sz="1900" dirty="0"/>
              <a:t>Kerns, R.D., Otis, J.D., Rosenberg, R.   Veterans’ Reports of Pain and Associations with Ratings of Health, Health Risk Behaviors, Affective Distress, and Use of the Healthcare System.  </a:t>
            </a:r>
            <a:r>
              <a:rPr lang="en-US" sz="1900" i="1" dirty="0"/>
              <a:t>Journal of Rehabilitation Research and Development. 2003; 40</a:t>
            </a:r>
            <a:r>
              <a:rPr lang="en-US" sz="1900" dirty="0"/>
              <a:t>, 371-380.</a:t>
            </a:r>
          </a:p>
          <a:p>
            <a:pPr marL="137160" indent="0" eaLnBrk="1" fontAlgn="auto" hangingPunct="1">
              <a:spcAft>
                <a:spcPts val="0"/>
              </a:spcAft>
              <a:buClr>
                <a:schemeClr val="tx1">
                  <a:shade val="95000"/>
                </a:schemeClr>
              </a:buClr>
              <a:buFont typeface="Wingdings 2"/>
              <a:buNone/>
              <a:defRPr/>
            </a:pPr>
            <a:r>
              <a:rPr lang="en-US" sz="1900" baseline="30000" dirty="0" smtClean="0"/>
              <a:t>3.</a:t>
            </a:r>
            <a:r>
              <a:rPr lang="en-US" sz="1900" dirty="0" smtClean="0"/>
              <a:t>Haskell </a:t>
            </a:r>
            <a:r>
              <a:rPr lang="en-US" sz="1900" dirty="0"/>
              <a:t>SG, </a:t>
            </a:r>
            <a:r>
              <a:rPr lang="en-US" sz="1900" dirty="0" err="1"/>
              <a:t>Heapy</a:t>
            </a:r>
            <a:r>
              <a:rPr lang="en-US" sz="1900" dirty="0"/>
              <a:t> A, Reid MC, Papas RK, Kerns RD. The Prevalence and Age-Related Characteristics of Pain in a Sample of Women Veterans Receiving Primary Care. </a:t>
            </a:r>
            <a:r>
              <a:rPr lang="en-US" sz="1900" i="1" dirty="0"/>
              <a:t>J Women's Health. </a:t>
            </a:r>
            <a:r>
              <a:rPr lang="en-US" sz="1900" dirty="0"/>
              <a:t>2006;15(7):862-869.</a:t>
            </a:r>
          </a:p>
          <a:p>
            <a:pPr marL="137160" indent="0" eaLnBrk="1" fontAlgn="auto" hangingPunct="1">
              <a:spcAft>
                <a:spcPts val="0"/>
              </a:spcAft>
              <a:buClr>
                <a:schemeClr val="tx1">
                  <a:shade val="95000"/>
                </a:schemeClr>
              </a:buClr>
              <a:buFont typeface="Wingdings 2"/>
              <a:buNone/>
              <a:defRPr/>
            </a:pPr>
            <a:r>
              <a:rPr lang="en-US" sz="1900" baseline="30000" dirty="0" smtClean="0"/>
              <a:t>4.</a:t>
            </a:r>
            <a:r>
              <a:rPr lang="en-US" sz="1900" dirty="0" smtClean="0"/>
              <a:t>Breuer</a:t>
            </a:r>
            <a:r>
              <a:rPr lang="en-US" sz="1900" dirty="0"/>
              <a:t>, B, </a:t>
            </a:r>
            <a:r>
              <a:rPr lang="en-US" sz="1900" dirty="0" err="1"/>
              <a:t>Cruciani</a:t>
            </a:r>
            <a:r>
              <a:rPr lang="en-US" sz="1900" dirty="0"/>
              <a:t>, R, </a:t>
            </a:r>
            <a:r>
              <a:rPr lang="en-US" sz="1900" dirty="0" err="1"/>
              <a:t>Portenoy</a:t>
            </a:r>
            <a:r>
              <a:rPr lang="en-US" sz="1900" dirty="0"/>
              <a:t>, R K. Pain Management by Primary Care Physicians, Pain Physicians, Chiropractors, and Acupuncturists: A National Survey. </a:t>
            </a:r>
            <a:r>
              <a:rPr lang="en-US" sz="1900" i="1" dirty="0"/>
              <a:t>Southern Medical Journal</a:t>
            </a:r>
            <a:r>
              <a:rPr lang="en-US" sz="1900" dirty="0"/>
              <a:t>. 2010; 103(8):738-747.</a:t>
            </a:r>
          </a:p>
          <a:p>
            <a:pPr marL="0" indent="0" defTabSz="1046163" eaLnBrk="1" fontAlgn="auto" hangingPunct="1">
              <a:lnSpc>
                <a:spcPct val="125000"/>
              </a:lnSpc>
              <a:spcAft>
                <a:spcPct val="50000"/>
              </a:spcAft>
              <a:buClr>
                <a:schemeClr val="tx1">
                  <a:shade val="95000"/>
                </a:schemeClr>
              </a:buClr>
              <a:buFont typeface="Wingdings 2"/>
              <a:buNone/>
              <a:defRPr/>
            </a:pPr>
            <a:endParaRPr lang="en-US" dirty="0" smtClean="0">
              <a:latin typeface="Tahoma" pitchFamily="34" charset="0"/>
              <a:ea typeface="Tahoma" pitchFamily="34" charset="0"/>
              <a:cs typeface="Tahoma" pitchFamily="34" charset="0"/>
            </a:endParaRPr>
          </a:p>
          <a:p>
            <a:pPr marL="171450" indent="-171450" defTabSz="1046163" eaLnBrk="1" fontAlgn="auto" hangingPunct="1">
              <a:lnSpc>
                <a:spcPct val="125000"/>
              </a:lnSpc>
              <a:spcAft>
                <a:spcPct val="50000"/>
              </a:spcAft>
              <a:buClr>
                <a:schemeClr val="tx1">
                  <a:shade val="95000"/>
                </a:schemeClr>
              </a:buClr>
              <a:buFont typeface="Arial" charset="0"/>
              <a:buChar char="•"/>
              <a:defRPr/>
            </a:pPr>
            <a:endParaRPr lang="en-US" dirty="0" smtClean="0">
              <a:latin typeface="Tahoma" pitchFamily="34" charset="0"/>
              <a:ea typeface="Tahoma" pitchFamily="34" charset="0"/>
              <a:cs typeface="Tahoma" pitchFamily="34" charset="0"/>
            </a:endParaRPr>
          </a:p>
          <a:p>
            <a:pPr marL="171450" indent="-171450" defTabSz="1046163" eaLnBrk="1" fontAlgn="auto" hangingPunct="1">
              <a:lnSpc>
                <a:spcPct val="125000"/>
              </a:lnSpc>
              <a:spcAft>
                <a:spcPct val="50000"/>
              </a:spcAft>
              <a:buClr>
                <a:schemeClr val="tx1">
                  <a:shade val="95000"/>
                </a:schemeClr>
              </a:buClr>
              <a:buFont typeface="Arial" charset="0"/>
              <a:buChar char="•"/>
              <a:defRPr/>
            </a:pPr>
            <a:endParaRPr lang="en-US" dirty="0" smtClean="0">
              <a:latin typeface="Tahoma" pitchFamily="34" charset="0"/>
              <a:ea typeface="Tahoma" pitchFamily="34" charset="0"/>
              <a:cs typeface="Tahoma" pitchFamily="34" charset="0"/>
            </a:endParaRPr>
          </a:p>
          <a:p>
            <a:pPr marL="171450" indent="-171450" defTabSz="1046163" eaLnBrk="1" fontAlgn="auto" hangingPunct="1">
              <a:lnSpc>
                <a:spcPct val="125000"/>
              </a:lnSpc>
              <a:spcAft>
                <a:spcPct val="50000"/>
              </a:spcAft>
              <a:buClr>
                <a:schemeClr val="tx1">
                  <a:shade val="95000"/>
                </a:schemeClr>
              </a:buClr>
              <a:buFont typeface="Arial" charset="0"/>
              <a:buChar char="•"/>
              <a:defRPr/>
            </a:pPr>
            <a:endParaRPr lang="en-US" dirty="0" smtClean="0">
              <a:latin typeface="Tahoma" pitchFamily="34" charset="0"/>
              <a:ea typeface="Tahoma" pitchFamily="34" charset="0"/>
              <a:cs typeface="Tahoma" pitchFamily="34" charset="0"/>
            </a:endParaRPr>
          </a:p>
          <a:p>
            <a:pPr marL="171450" indent="-171450" defTabSz="1046163" eaLnBrk="1" fontAlgn="auto" hangingPunct="1">
              <a:lnSpc>
                <a:spcPct val="125000"/>
              </a:lnSpc>
              <a:spcAft>
                <a:spcPct val="50000"/>
              </a:spcAft>
              <a:buClr>
                <a:schemeClr val="tx1">
                  <a:shade val="95000"/>
                </a:schemeClr>
              </a:buClr>
              <a:buFont typeface="Arial" charset="0"/>
              <a:buChar char="•"/>
              <a:defRPr/>
            </a:pPr>
            <a:endParaRPr lang="en-US" dirty="0">
              <a:latin typeface="Tahoma" pitchFamily="34" charset="0"/>
              <a:ea typeface="Tahoma" pitchFamily="34" charset="0"/>
              <a:cs typeface="Tahoma" pitchFamily="34" charset="0"/>
            </a:endParaRPr>
          </a:p>
          <a:p>
            <a:pPr marL="171450" indent="-171450" defTabSz="1046163" eaLnBrk="1" fontAlgn="auto" hangingPunct="1">
              <a:lnSpc>
                <a:spcPct val="125000"/>
              </a:lnSpc>
              <a:spcAft>
                <a:spcPct val="50000"/>
              </a:spcAft>
              <a:buClr>
                <a:schemeClr val="tx1">
                  <a:shade val="95000"/>
                </a:schemeClr>
              </a:buClr>
              <a:buFont typeface="Arial" charset="0"/>
              <a:buChar char="•"/>
              <a:defRPr/>
            </a:pPr>
            <a:endParaRPr lang="en-US" dirty="0" smtClean="0">
              <a:latin typeface="Tahoma" pitchFamily="34" charset="0"/>
              <a:ea typeface="Tahoma" pitchFamily="34" charset="0"/>
              <a:cs typeface="Tahoma" pitchFamily="34" charset="0"/>
            </a:endParaRPr>
          </a:p>
          <a:p>
            <a:pPr marL="171450" indent="-171450" defTabSz="1046163" eaLnBrk="1" fontAlgn="auto" hangingPunct="1">
              <a:lnSpc>
                <a:spcPct val="125000"/>
              </a:lnSpc>
              <a:spcAft>
                <a:spcPct val="50000"/>
              </a:spcAft>
              <a:buClr>
                <a:schemeClr val="tx1">
                  <a:shade val="95000"/>
                </a:schemeClr>
              </a:buClr>
              <a:buFont typeface="Arial" charset="0"/>
              <a:buChar char="•"/>
              <a:defRPr/>
            </a:pPr>
            <a:endParaRPr lang="en-US" dirty="0">
              <a:latin typeface="Tahoma" pitchFamily="34" charset="0"/>
              <a:ea typeface="Tahoma" pitchFamily="34" charset="0"/>
              <a:cs typeface="Tahoma" pitchFamily="34" charset="0"/>
            </a:endParaRPr>
          </a:p>
          <a:p>
            <a:pPr marL="171450" indent="-171450" defTabSz="1046163" eaLnBrk="1" fontAlgn="auto" hangingPunct="1">
              <a:lnSpc>
                <a:spcPct val="125000"/>
              </a:lnSpc>
              <a:spcAft>
                <a:spcPct val="50000"/>
              </a:spcAft>
              <a:buClr>
                <a:schemeClr val="tx1">
                  <a:shade val="95000"/>
                </a:schemeClr>
              </a:buClr>
              <a:buFont typeface="Arial" charset="0"/>
              <a:buChar char="•"/>
              <a:defRPr/>
            </a:pPr>
            <a:endParaRPr lang="en-US"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Tahoma" pitchFamily="34" charset="0"/>
              <a:ea typeface="Tahoma" pitchFamily="34" charset="0"/>
              <a:cs typeface="Tahoma" pitchFamily="34" charset="0"/>
            </a:endParaRPr>
          </a:p>
          <a:p>
            <a:pPr marL="171450" indent="-171450" defTabSz="1046163" eaLnBrk="1" fontAlgn="auto" hangingPunct="1">
              <a:lnSpc>
                <a:spcPct val="125000"/>
              </a:lnSpc>
              <a:spcAft>
                <a:spcPct val="50000"/>
              </a:spcAft>
              <a:buClr>
                <a:schemeClr val="tx1">
                  <a:shade val="95000"/>
                </a:schemeClr>
              </a:buClr>
              <a:buFont typeface="Arial" charset="0"/>
              <a:buChar char="•"/>
              <a:defRPr/>
            </a:pPr>
            <a:endParaRPr lang="en-US" sz="1400" dirty="0" smtClean="0">
              <a:solidFill>
                <a:srgbClr val="000000"/>
              </a:solidFill>
              <a:cs typeface="Times New Roman" pitchFamily="18" charset="0"/>
            </a:endParaRPr>
          </a:p>
          <a:p>
            <a:pPr marL="365760" indent="-256032" eaLnBrk="1" fontAlgn="auto" hangingPunct="1">
              <a:spcAft>
                <a:spcPts val="0"/>
              </a:spcAft>
              <a:buClr>
                <a:schemeClr val="tx1">
                  <a:shade val="95000"/>
                </a:schemeClr>
              </a:buClr>
              <a:buFont typeface="Wingdings 3"/>
              <a:buChar char=""/>
              <a:defRPr/>
            </a:pPr>
            <a:endParaRPr lang="en-US" dirty="0"/>
          </a:p>
        </p:txBody>
      </p:sp>
    </p:spTree>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7"/>
            <a:ext cx="8839200" cy="1506661"/>
          </a:xfrm>
        </p:spPr>
        <p:txBody>
          <a:bodyPr>
            <a:noAutofit/>
          </a:bodyPr>
          <a:lstStyle/>
          <a:p>
            <a:pPr algn="ctr" eaLnBrk="1" fontAlgn="auto" hangingPunct="1">
              <a:spcBef>
                <a:spcPts val="0"/>
              </a:spcBef>
              <a:spcAft>
                <a:spcPts val="0"/>
              </a:spcAft>
              <a:defRPr/>
            </a:pPr>
            <a:r>
              <a:rPr lang="en-US" sz="4000" dirty="0" smtClean="0">
                <a:solidFill>
                  <a:schemeClr val="accent1">
                    <a:lumMod val="60000"/>
                    <a:lumOff val="40000"/>
                  </a:schemeClr>
                </a:solidFill>
              </a:rPr>
              <a:t>Barriers </a:t>
            </a:r>
            <a:r>
              <a:rPr lang="en-US" sz="4000" dirty="0">
                <a:solidFill>
                  <a:schemeClr val="accent1">
                    <a:lumMod val="60000"/>
                    <a:lumOff val="40000"/>
                  </a:schemeClr>
                </a:solidFill>
              </a:rPr>
              <a:t>to Pain </a:t>
            </a:r>
            <a:r>
              <a:rPr lang="en-US" sz="4000" dirty="0" smtClean="0">
                <a:solidFill>
                  <a:schemeClr val="accent1">
                    <a:lumMod val="60000"/>
                    <a:lumOff val="40000"/>
                  </a:schemeClr>
                </a:solidFill>
              </a:rPr>
              <a:t>Management in Primary Care</a:t>
            </a:r>
            <a:endParaRPr lang="en-US" sz="4000" dirty="0">
              <a:solidFill>
                <a:schemeClr val="accent1">
                  <a:lumMod val="60000"/>
                  <a:lumOff val="40000"/>
                </a:schemeClr>
              </a:solidFill>
              <a:effectLst/>
              <a:latin typeface="Tahoma" pitchFamily="34" charset="0"/>
              <a:ea typeface="Tahoma" pitchFamily="34" charset="0"/>
              <a:cs typeface="Tahoma" pitchFamily="34" charset="0"/>
            </a:endParaRPr>
          </a:p>
        </p:txBody>
      </p:sp>
      <p:sp>
        <p:nvSpPr>
          <p:cNvPr id="3" name="Content Placeholder 2"/>
          <p:cNvSpPr>
            <a:spLocks noGrp="1"/>
          </p:cNvSpPr>
          <p:nvPr>
            <p:ph idx="1"/>
          </p:nvPr>
        </p:nvSpPr>
        <p:spPr>
          <a:xfrm>
            <a:off x="304800" y="2304142"/>
            <a:ext cx="8305800" cy="4553857"/>
          </a:xfrm>
        </p:spPr>
        <p:txBody>
          <a:bodyPr>
            <a:noAutofit/>
          </a:bodyPr>
          <a:lstStyle/>
          <a:p>
            <a:pPr marL="914400" indent="0" eaLnBrk="1" fontAlgn="t" hangingPunct="1">
              <a:spcBef>
                <a:spcPts val="0"/>
              </a:spcBef>
              <a:spcAft>
                <a:spcPts val="0"/>
              </a:spcAft>
              <a:buClr>
                <a:schemeClr val="tx1">
                  <a:shade val="95000"/>
                </a:schemeClr>
              </a:buClr>
              <a:buFont typeface="Wingdings 3"/>
              <a:buNone/>
              <a:defRPr/>
            </a:pPr>
            <a:r>
              <a:rPr lang="en-US" dirty="0" smtClean="0"/>
              <a:t> 1. </a:t>
            </a:r>
            <a:r>
              <a:rPr lang="en-US" dirty="0" smtClean="0">
                <a:latin typeface="Tahoma" pitchFamily="34" charset="0"/>
                <a:ea typeface="Tahoma" pitchFamily="34" charset="0"/>
                <a:cs typeface="Tahoma" pitchFamily="34" charset="0"/>
              </a:rPr>
              <a:t>Inadequacies </a:t>
            </a:r>
            <a:r>
              <a:rPr lang="en-US" dirty="0">
                <a:latin typeface="Tahoma" pitchFamily="34" charset="0"/>
                <a:ea typeface="Tahoma" pitchFamily="34" charset="0"/>
                <a:cs typeface="Tahoma" pitchFamily="34" charset="0"/>
              </a:rPr>
              <a:t>in education and training</a:t>
            </a:r>
            <a:r>
              <a:rPr lang="en-US" dirty="0" smtClean="0">
                <a:latin typeface="Tahoma" pitchFamily="34" charset="0"/>
                <a:ea typeface="Tahoma" pitchFamily="34" charset="0"/>
                <a:cs typeface="Tahoma" pitchFamily="34" charset="0"/>
              </a:rPr>
              <a:t> </a:t>
            </a:r>
          </a:p>
          <a:p>
            <a:pPr marL="914400" indent="0" eaLnBrk="1" fontAlgn="t" hangingPunct="1">
              <a:spcBef>
                <a:spcPts val="0"/>
              </a:spcBef>
              <a:spcAft>
                <a:spcPts val="0"/>
              </a:spcAft>
              <a:buClr>
                <a:schemeClr val="tx1">
                  <a:shade val="95000"/>
                </a:schemeClr>
              </a:buClr>
              <a:buFont typeface="Wingdings 3"/>
              <a:buNone/>
              <a:defRPr/>
            </a:pPr>
            <a:endParaRPr lang="en-US" dirty="0" smtClean="0">
              <a:latin typeface="Tahoma" pitchFamily="34" charset="0"/>
              <a:ea typeface="Tahoma" pitchFamily="34" charset="0"/>
              <a:cs typeface="Tahoma" pitchFamily="34" charset="0"/>
            </a:endParaRPr>
          </a:p>
          <a:p>
            <a:pPr marL="914400" indent="0" eaLnBrk="1" fontAlgn="t" hangingPunct="1">
              <a:spcBef>
                <a:spcPts val="0"/>
              </a:spcBef>
              <a:spcAft>
                <a:spcPts val="0"/>
              </a:spcAft>
              <a:buClr>
                <a:schemeClr val="tx1">
                  <a:shade val="95000"/>
                </a:schemeClr>
              </a:buClr>
              <a:buFont typeface="Wingdings 3"/>
              <a:buNone/>
              <a:defRPr/>
            </a:pPr>
            <a:r>
              <a:rPr lang="en-US" dirty="0" smtClean="0">
                <a:latin typeface="Tahoma" pitchFamily="34" charset="0"/>
                <a:ea typeface="Tahoma" pitchFamily="34" charset="0"/>
                <a:cs typeface="Tahoma" pitchFamily="34" charset="0"/>
              </a:rPr>
              <a:t>2. Lack of consultant support</a:t>
            </a:r>
          </a:p>
          <a:p>
            <a:pPr marL="0" indent="0" eaLnBrk="1" fontAlgn="auto" hangingPunct="1">
              <a:lnSpc>
                <a:spcPct val="120000"/>
              </a:lnSpc>
              <a:spcBef>
                <a:spcPts val="0"/>
              </a:spcBef>
              <a:spcAft>
                <a:spcPts val="0"/>
              </a:spcAft>
              <a:buClr>
                <a:schemeClr val="tx1">
                  <a:shade val="95000"/>
                </a:schemeClr>
              </a:buClr>
              <a:buFont typeface="Wingdings 3"/>
              <a:buNone/>
              <a:tabLst>
                <a:tab pos="809625" algn="l"/>
              </a:tabLst>
              <a:defRPr/>
            </a:pPr>
            <a:endParaRPr lang="en-US" dirty="0" smtClean="0">
              <a:latin typeface="Tahoma" pitchFamily="34" charset="0"/>
              <a:ea typeface="Tahoma" pitchFamily="34" charset="0"/>
              <a:cs typeface="Tahoma" pitchFamily="34" charset="0"/>
            </a:endParaRPr>
          </a:p>
          <a:p>
            <a:pPr marL="0" indent="0" eaLnBrk="1" fontAlgn="auto" hangingPunct="1">
              <a:lnSpc>
                <a:spcPct val="120000"/>
              </a:lnSpc>
              <a:spcBef>
                <a:spcPts val="0"/>
              </a:spcBef>
              <a:spcAft>
                <a:spcPts val="0"/>
              </a:spcAft>
              <a:buClr>
                <a:schemeClr val="tx1">
                  <a:shade val="95000"/>
                </a:schemeClr>
              </a:buClr>
              <a:buFont typeface="Wingdings 3"/>
              <a:buNone/>
              <a:defRPr/>
            </a:pPr>
            <a:r>
              <a:rPr lang="en-US" dirty="0" smtClean="0">
                <a:latin typeface="Tahoma" pitchFamily="34" charset="0"/>
                <a:ea typeface="Tahoma" pitchFamily="34" charset="0"/>
                <a:cs typeface="Tahoma" pitchFamily="34" charset="0"/>
              </a:rPr>
              <a:t>            3</a:t>
            </a:r>
            <a:r>
              <a:rPr lang="en-US" dirty="0">
                <a:latin typeface="Tahoma" pitchFamily="34" charset="0"/>
                <a:ea typeface="Tahoma" pitchFamily="34" charset="0"/>
                <a:cs typeface="Tahoma" pitchFamily="34" charset="0"/>
              </a:rPr>
              <a:t>. Psychosocial </a:t>
            </a:r>
            <a:r>
              <a:rPr lang="en-US" dirty="0" smtClean="0">
                <a:latin typeface="Tahoma" pitchFamily="34" charset="0"/>
                <a:ea typeface="Tahoma" pitchFamily="34" charset="0"/>
                <a:cs typeface="Tahoma" pitchFamily="34" charset="0"/>
              </a:rPr>
              <a:t>Complexity</a:t>
            </a:r>
          </a:p>
          <a:p>
            <a:pPr marL="0" indent="0" eaLnBrk="1" fontAlgn="auto" hangingPunct="1">
              <a:lnSpc>
                <a:spcPct val="120000"/>
              </a:lnSpc>
              <a:spcBef>
                <a:spcPts val="0"/>
              </a:spcBef>
              <a:spcAft>
                <a:spcPts val="0"/>
              </a:spcAft>
              <a:buClr>
                <a:schemeClr val="tx1">
                  <a:shade val="95000"/>
                </a:schemeClr>
              </a:buClr>
              <a:buFont typeface="Wingdings 3"/>
              <a:buNone/>
              <a:defRPr/>
            </a:pPr>
            <a:endParaRPr lang="en-US" dirty="0" smtClean="0">
              <a:latin typeface="Tahoma" pitchFamily="34" charset="0"/>
              <a:ea typeface="Tahoma" pitchFamily="34" charset="0"/>
              <a:cs typeface="Tahoma" pitchFamily="34" charset="0"/>
            </a:endParaRPr>
          </a:p>
          <a:p>
            <a:pPr marL="0" indent="0" eaLnBrk="1" fontAlgn="auto" hangingPunct="1">
              <a:lnSpc>
                <a:spcPct val="120000"/>
              </a:lnSpc>
              <a:spcBef>
                <a:spcPts val="0"/>
              </a:spcBef>
              <a:spcAft>
                <a:spcPts val="0"/>
              </a:spcAft>
              <a:buClr>
                <a:schemeClr val="tx1">
                  <a:shade val="95000"/>
                </a:schemeClr>
              </a:buClr>
              <a:buFont typeface="Wingdings 3"/>
              <a:buNone/>
              <a:defRPr/>
            </a:pPr>
            <a:r>
              <a:rPr lang="en-US" dirty="0" smtClean="0">
                <a:latin typeface="Tahoma" pitchFamily="34" charset="0"/>
                <a:ea typeface="Tahoma" pitchFamily="34" charset="0"/>
                <a:cs typeface="Tahoma" pitchFamily="34" charset="0"/>
              </a:rPr>
              <a:t> 	4</a:t>
            </a:r>
            <a:r>
              <a:rPr lang="en-US" dirty="0">
                <a:latin typeface="Tahoma" pitchFamily="34" charset="0"/>
                <a:ea typeface="Tahoma" pitchFamily="34" charset="0"/>
                <a:cs typeface="Tahoma" pitchFamily="34" charset="0"/>
              </a:rPr>
              <a:t>. Time </a:t>
            </a:r>
            <a:r>
              <a:rPr lang="en-US" dirty="0" smtClean="0">
                <a:latin typeface="Tahoma" pitchFamily="34" charset="0"/>
                <a:ea typeface="Tahoma" pitchFamily="34" charset="0"/>
                <a:cs typeface="Tahoma" pitchFamily="34" charset="0"/>
              </a:rPr>
              <a:t>Pressures</a:t>
            </a:r>
          </a:p>
          <a:p>
            <a:pPr marL="0" indent="0" eaLnBrk="1" fontAlgn="auto" hangingPunct="1">
              <a:lnSpc>
                <a:spcPct val="120000"/>
              </a:lnSpc>
              <a:spcBef>
                <a:spcPts val="0"/>
              </a:spcBef>
              <a:spcAft>
                <a:spcPts val="0"/>
              </a:spcAft>
              <a:buClr>
                <a:schemeClr val="tx1">
                  <a:shade val="95000"/>
                </a:schemeClr>
              </a:buClr>
              <a:buFont typeface="Wingdings 3"/>
              <a:buNone/>
              <a:defRPr/>
            </a:pPr>
            <a:endParaRPr lang="en-US" dirty="0" smtClean="0">
              <a:latin typeface="Tahoma" pitchFamily="34" charset="0"/>
              <a:ea typeface="Tahoma" pitchFamily="34" charset="0"/>
              <a:cs typeface="Tahoma" pitchFamily="34" charset="0"/>
            </a:endParaRPr>
          </a:p>
          <a:p>
            <a:pPr marL="0" indent="0" eaLnBrk="1" fontAlgn="auto" hangingPunct="1">
              <a:lnSpc>
                <a:spcPct val="120000"/>
              </a:lnSpc>
              <a:spcBef>
                <a:spcPts val="0"/>
              </a:spcBef>
              <a:spcAft>
                <a:spcPts val="0"/>
              </a:spcAft>
              <a:buClr>
                <a:schemeClr val="tx1">
                  <a:shade val="95000"/>
                </a:schemeClr>
              </a:buClr>
              <a:buFont typeface="Wingdings 3"/>
              <a:buNone/>
              <a:defRPr/>
            </a:pPr>
            <a:r>
              <a:rPr lang="en-US" dirty="0" smtClean="0">
                <a:latin typeface="Tahoma" pitchFamily="34" charset="0"/>
                <a:ea typeface="Tahoma" pitchFamily="34" charset="0"/>
                <a:cs typeface="Tahoma" pitchFamily="34" charset="0"/>
              </a:rPr>
              <a:t>	5</a:t>
            </a:r>
            <a:r>
              <a:rPr lang="en-US" dirty="0">
                <a:latin typeface="Tahoma" pitchFamily="34" charset="0"/>
                <a:ea typeface="Tahoma" pitchFamily="34" charset="0"/>
                <a:cs typeface="Tahoma" pitchFamily="34" charset="0"/>
              </a:rPr>
              <a:t>. Skepticism</a:t>
            </a:r>
            <a:r>
              <a:rPr lang="en-US" dirty="0" smtClean="0">
                <a:latin typeface="Tahoma" pitchFamily="34" charset="0"/>
                <a:ea typeface="Tahoma" pitchFamily="34" charset="0"/>
                <a:cs typeface="Tahoma" pitchFamily="34" charset="0"/>
              </a:rPr>
              <a:t> </a:t>
            </a:r>
          </a:p>
          <a:p>
            <a:pPr marL="0" indent="0" eaLnBrk="1" fontAlgn="auto" hangingPunct="1">
              <a:lnSpc>
                <a:spcPct val="120000"/>
              </a:lnSpc>
              <a:spcBef>
                <a:spcPts val="0"/>
              </a:spcBef>
              <a:spcAft>
                <a:spcPts val="0"/>
              </a:spcAft>
              <a:buClr>
                <a:schemeClr val="tx1">
                  <a:shade val="95000"/>
                </a:schemeClr>
              </a:buClr>
              <a:buFont typeface="Wingdings 3"/>
              <a:buNone/>
              <a:defRPr/>
            </a:pPr>
            <a:endParaRPr lang="en-US" dirty="0" smtClean="0">
              <a:latin typeface="Tahoma" pitchFamily="34" charset="0"/>
              <a:ea typeface="Tahoma" pitchFamily="34" charset="0"/>
              <a:cs typeface="Tahoma" pitchFamily="34" charset="0"/>
            </a:endParaRPr>
          </a:p>
          <a:p>
            <a:pPr marL="0" indent="0" eaLnBrk="1" fontAlgn="t" hangingPunct="1">
              <a:spcAft>
                <a:spcPts val="0"/>
              </a:spcAft>
              <a:buClr>
                <a:schemeClr val="tx1">
                  <a:shade val="95000"/>
                </a:schemeClr>
              </a:buClr>
              <a:buFont typeface="Wingdings 3"/>
              <a:buNone/>
              <a:defRPr/>
            </a:pPr>
            <a:r>
              <a:rPr lang="en-US" dirty="0" smtClean="0">
                <a:latin typeface="Tahoma" pitchFamily="34" charset="0"/>
                <a:ea typeface="Tahoma" pitchFamily="34" charset="0"/>
                <a:cs typeface="Tahoma" pitchFamily="34" charset="0"/>
              </a:rPr>
              <a:t>	6</a:t>
            </a:r>
            <a:r>
              <a:rPr lang="en-US" dirty="0">
                <a:latin typeface="Tahoma" pitchFamily="34" charset="0"/>
                <a:ea typeface="Tahoma" pitchFamily="34" charset="0"/>
                <a:cs typeface="Tahoma" pitchFamily="34" charset="0"/>
              </a:rPr>
              <a:t>. Systems Limitations</a:t>
            </a:r>
            <a:endParaRPr lang="en-US" dirty="0">
              <a:solidFill>
                <a:prstClr val="black"/>
              </a:solidFill>
              <a:latin typeface="Tahoma" pitchFamily="34" charset="0"/>
              <a:ea typeface="Tahoma" pitchFamily="34" charset="0"/>
              <a:cs typeface="Tahoma" pitchFamily="34" charset="0"/>
            </a:endParaRPr>
          </a:p>
          <a:p>
            <a:pPr marL="0" indent="0" eaLnBrk="1" fontAlgn="auto" hangingPunct="1">
              <a:lnSpc>
                <a:spcPct val="120000"/>
              </a:lnSpc>
              <a:spcBef>
                <a:spcPts val="0"/>
              </a:spcBef>
              <a:spcAft>
                <a:spcPts val="0"/>
              </a:spcAft>
              <a:buClr>
                <a:schemeClr val="tx1">
                  <a:shade val="95000"/>
                </a:schemeClr>
              </a:buClr>
              <a:buFont typeface="Wingdings 3"/>
              <a:buNone/>
              <a:tabLst>
                <a:tab pos="809625" algn="l"/>
              </a:tabLst>
              <a:defRPr/>
            </a:pPr>
            <a:r>
              <a:rPr lang="en-US" b="1" dirty="0" smtClean="0">
                <a:solidFill>
                  <a:srgbClr val="000000"/>
                </a:solidFill>
                <a:latin typeface="Tahoma" pitchFamily="34" charset="0"/>
                <a:ea typeface="Tahoma" pitchFamily="34" charset="0"/>
                <a:cs typeface="Tahoma" pitchFamily="34" charset="0"/>
              </a:rPr>
              <a:t>  </a:t>
            </a:r>
            <a:endParaRPr lang="en-US" dirty="0" smtClean="0">
              <a:latin typeface="Tahoma" pitchFamily="34" charset="0"/>
              <a:ea typeface="Tahoma" pitchFamily="34" charset="0"/>
              <a:cs typeface="Tahoma" pitchFamily="34" charset="0"/>
            </a:endParaRPr>
          </a:p>
          <a:p>
            <a:pPr marL="0" indent="0" eaLnBrk="1" fontAlgn="auto" hangingPunct="1">
              <a:lnSpc>
                <a:spcPct val="120000"/>
              </a:lnSpc>
              <a:spcBef>
                <a:spcPts val="0"/>
              </a:spcBef>
              <a:spcAft>
                <a:spcPts val="0"/>
              </a:spcAft>
              <a:buClr>
                <a:schemeClr val="tx1">
                  <a:shade val="95000"/>
                </a:schemeClr>
              </a:buClr>
              <a:buFont typeface="Wingdings 3"/>
              <a:buNone/>
              <a:defRPr/>
            </a:pPr>
            <a:r>
              <a:rPr lang="en-US" sz="2400" dirty="0" smtClean="0">
                <a:solidFill>
                  <a:srgbClr val="000000"/>
                </a:solidFill>
              </a:rPr>
              <a:t>	       	</a:t>
            </a:r>
            <a:endParaRPr lang="en-US" sz="2400" dirty="0"/>
          </a:p>
        </p:txBody>
      </p:sp>
      <p:sp>
        <p:nvSpPr>
          <p:cNvPr id="4" name="Footer Placeholder 3"/>
          <p:cNvSpPr>
            <a:spLocks noGrp="1"/>
          </p:cNvSpPr>
          <p:nvPr>
            <p:ph type="ftr" sz="quarter" idx="11"/>
          </p:nvPr>
        </p:nvSpPr>
        <p:spPr/>
        <p:txBody>
          <a:bodyPr/>
          <a:lstStyle/>
          <a:p>
            <a:r>
              <a:rPr lang="en-US" dirty="0" smtClean="0"/>
              <a:t>Lincoln et al Survey, VA Connecticut Health Care system </a:t>
            </a:r>
            <a:endParaRPr lang="en-US" dirty="0"/>
          </a:p>
        </p:txBody>
      </p:sp>
    </p:spTree>
  </p:cSld>
  <p:clrMapOvr>
    <a:masterClrMapping/>
  </p:clrMapOvr>
  <p:transition spd="slow"/>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solidFill>
                  <a:schemeClr val="accent1">
                    <a:lumMod val="60000"/>
                    <a:lumOff val="40000"/>
                  </a:schemeClr>
                </a:solidFill>
              </a:rPr>
              <a:t>Approach to the Patient with High </a:t>
            </a:r>
            <a:r>
              <a:rPr lang="en-US" dirty="0" err="1" smtClean="0">
                <a:solidFill>
                  <a:schemeClr val="accent1">
                    <a:lumMod val="60000"/>
                    <a:lumOff val="40000"/>
                  </a:schemeClr>
                </a:solidFill>
              </a:rPr>
              <a:t>Opioid</a:t>
            </a:r>
            <a:r>
              <a:rPr lang="en-US" dirty="0" smtClean="0">
                <a:solidFill>
                  <a:schemeClr val="accent1">
                    <a:lumMod val="60000"/>
                    <a:lumOff val="40000"/>
                  </a:schemeClr>
                </a:solidFill>
              </a:rPr>
              <a:t> Risk </a:t>
            </a:r>
            <a:endParaRPr lang="en-US" dirty="0">
              <a:solidFill>
                <a:schemeClr val="accent1">
                  <a:lumMod val="60000"/>
                  <a:lumOff val="40000"/>
                </a:schemeClr>
              </a:solidFill>
            </a:endParaRPr>
          </a:p>
        </p:txBody>
      </p:sp>
      <p:sp>
        <p:nvSpPr>
          <p:cNvPr id="3" name="Content Placeholder 2"/>
          <p:cNvSpPr>
            <a:spLocks noGrp="1"/>
          </p:cNvSpPr>
          <p:nvPr>
            <p:ph idx="1"/>
          </p:nvPr>
        </p:nvSpPr>
        <p:spPr>
          <a:xfrm>
            <a:off x="851865" y="2286000"/>
            <a:ext cx="7631735" cy="3840163"/>
          </a:xfrm>
        </p:spPr>
        <p:txBody>
          <a:bodyPr>
            <a:normAutofit/>
          </a:bodyPr>
          <a:lstStyle/>
          <a:p>
            <a:r>
              <a:rPr lang="en-US" dirty="0" smtClean="0"/>
              <a:t>Be nonjudgmental in all interactions</a:t>
            </a:r>
          </a:p>
          <a:p>
            <a:r>
              <a:rPr lang="en-US" dirty="0" smtClean="0"/>
              <a:t>Take a risk </a:t>
            </a:r>
            <a:r>
              <a:rPr lang="en-US" dirty="0" err="1" smtClean="0"/>
              <a:t>vs</a:t>
            </a:r>
            <a:r>
              <a:rPr lang="en-US" dirty="0" smtClean="0"/>
              <a:t> benefit approach in explanations for further treatment options</a:t>
            </a:r>
          </a:p>
          <a:p>
            <a:r>
              <a:rPr lang="en-US" dirty="0" smtClean="0"/>
              <a:t>Show a commitment to continue to work with the patient for pain control whether </a:t>
            </a:r>
            <a:r>
              <a:rPr lang="en-US" dirty="0" err="1" smtClean="0"/>
              <a:t>opioids</a:t>
            </a:r>
            <a:r>
              <a:rPr lang="en-US" dirty="0" smtClean="0"/>
              <a:t> are used or a non </a:t>
            </a:r>
            <a:r>
              <a:rPr lang="en-US" dirty="0" err="1" smtClean="0"/>
              <a:t>opioid</a:t>
            </a:r>
            <a:r>
              <a:rPr lang="en-US" dirty="0" smtClean="0"/>
              <a:t> approach will be taken</a:t>
            </a:r>
          </a:p>
          <a:p>
            <a:r>
              <a:rPr lang="en-US" dirty="0" smtClean="0"/>
              <a:t>Make appropriate referrals and schedule careful follow-up </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solidFill>
                  <a:schemeClr val="accent1">
                    <a:lumMod val="60000"/>
                    <a:lumOff val="40000"/>
                  </a:schemeClr>
                </a:solidFill>
              </a:rPr>
              <a:t>Approach to the High Risk </a:t>
            </a:r>
            <a:r>
              <a:rPr lang="en-US" dirty="0" err="1" smtClean="0">
                <a:solidFill>
                  <a:schemeClr val="accent1">
                    <a:lumMod val="60000"/>
                    <a:lumOff val="40000"/>
                  </a:schemeClr>
                </a:solidFill>
              </a:rPr>
              <a:t>Opioid</a:t>
            </a:r>
            <a:r>
              <a:rPr lang="en-US" dirty="0" smtClean="0">
                <a:solidFill>
                  <a:schemeClr val="accent1">
                    <a:lumMod val="60000"/>
                    <a:lumOff val="40000"/>
                  </a:schemeClr>
                </a:solidFill>
              </a:rPr>
              <a:t> Patient </a:t>
            </a:r>
            <a:endParaRPr lang="en-US" dirty="0">
              <a:solidFill>
                <a:schemeClr val="accent1">
                  <a:lumMod val="60000"/>
                  <a:lumOff val="40000"/>
                </a:schemeClr>
              </a:solidFill>
            </a:endParaRPr>
          </a:p>
        </p:txBody>
      </p:sp>
      <p:sp>
        <p:nvSpPr>
          <p:cNvPr id="3" name="Content Placeholder 2"/>
          <p:cNvSpPr>
            <a:spLocks noGrp="1"/>
          </p:cNvSpPr>
          <p:nvPr>
            <p:ph idx="1"/>
          </p:nvPr>
        </p:nvSpPr>
        <p:spPr>
          <a:xfrm>
            <a:off x="354835" y="2286000"/>
            <a:ext cx="8128765" cy="3840163"/>
          </a:xfrm>
        </p:spPr>
        <p:txBody>
          <a:bodyPr>
            <a:normAutofit/>
          </a:bodyPr>
          <a:lstStyle/>
          <a:p>
            <a:r>
              <a:rPr lang="en-US" dirty="0" smtClean="0"/>
              <a:t>Whenever possible taper </a:t>
            </a:r>
            <a:r>
              <a:rPr lang="en-US" dirty="0" err="1" smtClean="0"/>
              <a:t>opioids</a:t>
            </a:r>
            <a:r>
              <a:rPr lang="en-US" dirty="0" smtClean="0"/>
              <a:t> slowly to prevent withdrawal symptoms</a:t>
            </a:r>
          </a:p>
          <a:p>
            <a:r>
              <a:rPr lang="en-US" dirty="0" smtClean="0"/>
              <a:t>Understand non-</a:t>
            </a:r>
            <a:r>
              <a:rPr lang="en-US" dirty="0" err="1" smtClean="0"/>
              <a:t>opioid</a:t>
            </a:r>
            <a:r>
              <a:rPr lang="en-US" dirty="0" smtClean="0"/>
              <a:t> options for withdrawal when necessary </a:t>
            </a:r>
          </a:p>
          <a:p>
            <a:r>
              <a:rPr lang="en-US" dirty="0" smtClean="0"/>
              <a:t>Educate about the possible benefits of a lower </a:t>
            </a:r>
            <a:r>
              <a:rPr lang="en-US" dirty="0" err="1" smtClean="0"/>
              <a:t>opioid</a:t>
            </a:r>
            <a:r>
              <a:rPr lang="en-US" dirty="0" smtClean="0"/>
              <a:t> dose or discontinuation of </a:t>
            </a:r>
            <a:r>
              <a:rPr lang="en-US" dirty="0" err="1" smtClean="0"/>
              <a:t>opioids</a:t>
            </a:r>
            <a:r>
              <a:rPr lang="en-US" dirty="0" smtClean="0"/>
              <a:t> when the decision is made that the risks outweigh the benefits </a:t>
            </a:r>
          </a:p>
          <a:p>
            <a:r>
              <a:rPr lang="en-US" dirty="0" smtClean="0"/>
              <a:t>If the patient is resistant to Addiction Treatment and/or other Mental Health Treatment continue to offer this as an option at every visit. Untreated Addiction and Mental Health disorders remain added side effects of risky opiate prescribing in these populations. </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838200" y="457200"/>
            <a:ext cx="7848600" cy="1219200"/>
          </a:xfrm>
        </p:spPr>
        <p:txBody>
          <a:bodyPr>
            <a:normAutofit fontScale="90000"/>
          </a:bodyPr>
          <a:lstStyle/>
          <a:p>
            <a:pPr algn="ctr" eaLnBrk="1" fontAlgn="auto" hangingPunct="1">
              <a:spcAft>
                <a:spcPts val="0"/>
              </a:spcAft>
              <a:defRPr/>
            </a:pPr>
            <a:r>
              <a:rPr lang="en-US" sz="4000" dirty="0" smtClean="0">
                <a:solidFill>
                  <a:srgbClr val="FF0000"/>
                </a:solidFill>
                <a:ea typeface="+mj-ea"/>
                <a:cs typeface="+mj-cs"/>
              </a:rPr>
              <a:t>Universal Precautions in Pain Medicine</a:t>
            </a:r>
          </a:p>
        </p:txBody>
      </p:sp>
      <p:sp>
        <p:nvSpPr>
          <p:cNvPr id="37892" name="Rectangle 3"/>
          <p:cNvSpPr>
            <a:spLocks noGrp="1" noChangeArrowheads="1"/>
          </p:cNvSpPr>
          <p:nvPr>
            <p:ph idx="1"/>
          </p:nvPr>
        </p:nvSpPr>
        <p:spPr>
          <a:xfrm>
            <a:off x="838200" y="2057400"/>
            <a:ext cx="7848600" cy="4038600"/>
          </a:xfrm>
        </p:spPr>
        <p:txBody>
          <a:bodyPr>
            <a:normAutofit/>
          </a:bodyPr>
          <a:lstStyle/>
          <a:p>
            <a:pPr eaLnBrk="1" hangingPunct="1"/>
            <a:r>
              <a:rPr lang="en-US" b="1" smtClean="0"/>
              <a:t>Diagnosis with appropriate differential</a:t>
            </a:r>
          </a:p>
          <a:p>
            <a:pPr eaLnBrk="1" hangingPunct="1"/>
            <a:r>
              <a:rPr lang="en-US" b="1" smtClean="0"/>
              <a:t>Psychological assessment including risk of addictive disorders</a:t>
            </a:r>
          </a:p>
          <a:p>
            <a:pPr eaLnBrk="1" hangingPunct="1"/>
            <a:r>
              <a:rPr lang="en-US" b="1" smtClean="0"/>
              <a:t>Informed consent</a:t>
            </a:r>
          </a:p>
          <a:p>
            <a:pPr eaLnBrk="1" hangingPunct="1"/>
            <a:r>
              <a:rPr lang="en-US" b="1" smtClean="0"/>
              <a:t>Treatment agreement</a:t>
            </a:r>
          </a:p>
          <a:p>
            <a:pPr eaLnBrk="1" hangingPunct="1"/>
            <a:r>
              <a:rPr lang="en-US" b="1" smtClean="0"/>
              <a:t>Pre/Post Interventions Assessment of Pain level and Function</a:t>
            </a:r>
          </a:p>
          <a:p>
            <a:pPr eaLnBrk="1" hangingPunct="1"/>
            <a:r>
              <a:rPr lang="en-US" b="1" smtClean="0"/>
              <a:t>Appropriate TRIAL of opioid therapy with adjunctive therapy</a:t>
            </a:r>
          </a:p>
          <a:p>
            <a:pPr eaLnBrk="1" hangingPunct="1"/>
            <a:endParaRPr lang="en-US" smtClean="0"/>
          </a:p>
          <a:p>
            <a:pPr eaLnBrk="1" hangingPunct="1"/>
            <a:endParaRPr lang="en-US" smtClean="0"/>
          </a:p>
        </p:txBody>
      </p:sp>
      <p:sp>
        <p:nvSpPr>
          <p:cNvPr id="63491" name="Footer Placeholder 3"/>
          <p:cNvSpPr>
            <a:spLocks noGrp="1"/>
          </p:cNvSpPr>
          <p:nvPr>
            <p:ph type="ftr" sz="quarter" idx="11"/>
          </p:nvPr>
        </p:nvSpPr>
        <p:spPr/>
        <p:txBody>
          <a:bodyPr/>
          <a:lstStyle/>
          <a:p>
            <a:pPr>
              <a:defRPr/>
            </a:pPr>
            <a:r>
              <a:rPr lang="en-US" smtClean="0"/>
              <a:t>PAIN MEDICINE</a:t>
            </a:r>
          </a:p>
          <a:p>
            <a:pPr>
              <a:defRPr/>
            </a:pPr>
            <a:r>
              <a:rPr lang="en-US" smtClean="0"/>
              <a:t>Volume 6 • Number 2 • 2005</a:t>
            </a:r>
          </a:p>
          <a:p>
            <a:pPr>
              <a:defRPr/>
            </a:pPr>
            <a:endParaRPr lang="en-US"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838200" y="381000"/>
            <a:ext cx="7848600" cy="1447800"/>
          </a:xfrm>
        </p:spPr>
        <p:txBody>
          <a:bodyPr/>
          <a:lstStyle/>
          <a:p>
            <a:pPr algn="ctr" eaLnBrk="1" fontAlgn="auto" hangingPunct="1">
              <a:spcAft>
                <a:spcPts val="0"/>
              </a:spcAft>
              <a:defRPr/>
            </a:pPr>
            <a:r>
              <a:rPr lang="en-US" sz="4000" dirty="0" smtClean="0">
                <a:solidFill>
                  <a:srgbClr val="FF0000"/>
                </a:solidFill>
                <a:ea typeface="+mj-ea"/>
                <a:cs typeface="+mj-cs"/>
              </a:rPr>
              <a:t>Universal Precautions in Pain Medicine</a:t>
            </a:r>
          </a:p>
        </p:txBody>
      </p:sp>
      <p:sp>
        <p:nvSpPr>
          <p:cNvPr id="65540" name="Rectangle 3"/>
          <p:cNvSpPr>
            <a:spLocks noGrp="1" noChangeArrowheads="1"/>
          </p:cNvSpPr>
          <p:nvPr>
            <p:ph idx="1"/>
          </p:nvPr>
        </p:nvSpPr>
        <p:spPr>
          <a:xfrm>
            <a:off x="838200" y="2209800"/>
            <a:ext cx="7848600" cy="3886200"/>
          </a:xfrm>
        </p:spPr>
        <p:txBody>
          <a:bodyPr rtlCol="0">
            <a:normAutofit lnSpcReduction="10000"/>
          </a:bodyPr>
          <a:lstStyle/>
          <a:p>
            <a:pPr eaLnBrk="1" fontAlgn="auto" hangingPunct="1">
              <a:spcAft>
                <a:spcPts val="0"/>
              </a:spcAft>
              <a:buFont typeface="Wingdings" pitchFamily="2" charset="2"/>
              <a:buChar char="n"/>
              <a:defRPr/>
            </a:pPr>
            <a:r>
              <a:rPr lang="en-US" sz="2800" smtClean="0">
                <a:solidFill>
                  <a:schemeClr val="tx1">
                    <a:lumMod val="85000"/>
                    <a:lumOff val="15000"/>
                  </a:schemeClr>
                </a:solidFill>
                <a:ea typeface="+mn-ea"/>
                <a:cs typeface="+mn-cs"/>
              </a:rPr>
              <a:t>Reassessment of pain score and level of functioning</a:t>
            </a:r>
          </a:p>
          <a:p>
            <a:pPr eaLnBrk="1" fontAlgn="auto" hangingPunct="1">
              <a:spcAft>
                <a:spcPts val="0"/>
              </a:spcAft>
              <a:buFont typeface="Wingdings" pitchFamily="2" charset="2"/>
              <a:buChar char="n"/>
              <a:defRPr/>
            </a:pPr>
            <a:r>
              <a:rPr lang="en-US" sz="2800" smtClean="0">
                <a:solidFill>
                  <a:schemeClr val="tx1">
                    <a:lumMod val="85000"/>
                    <a:lumOff val="15000"/>
                  </a:schemeClr>
                </a:solidFill>
                <a:ea typeface="+mn-ea"/>
                <a:cs typeface="+mn-cs"/>
              </a:rPr>
              <a:t>Regularly asses the “Four As” of pain medicine: Analgesia, Activity, Adverse reactions, Aberrant behavior</a:t>
            </a:r>
          </a:p>
          <a:p>
            <a:pPr eaLnBrk="1" fontAlgn="auto" hangingPunct="1">
              <a:spcAft>
                <a:spcPts val="0"/>
              </a:spcAft>
              <a:buFont typeface="Wingdings" pitchFamily="2" charset="2"/>
              <a:buChar char="n"/>
              <a:defRPr/>
            </a:pPr>
            <a:r>
              <a:rPr lang="en-US" sz="2800" smtClean="0">
                <a:solidFill>
                  <a:schemeClr val="tx1">
                    <a:lumMod val="85000"/>
                    <a:lumOff val="15000"/>
                  </a:schemeClr>
                </a:solidFill>
                <a:ea typeface="+mn-ea"/>
                <a:cs typeface="+mn-cs"/>
              </a:rPr>
              <a:t>Periodically review pain diagnosis and co- morbid conditions, including addictive disorders</a:t>
            </a:r>
          </a:p>
          <a:p>
            <a:pPr eaLnBrk="1" fontAlgn="auto" hangingPunct="1">
              <a:spcAft>
                <a:spcPts val="0"/>
              </a:spcAft>
              <a:buFont typeface="Wingdings" pitchFamily="2" charset="2"/>
              <a:buChar char="n"/>
              <a:defRPr/>
            </a:pPr>
            <a:r>
              <a:rPr lang="en-US" sz="2800" smtClean="0">
                <a:solidFill>
                  <a:schemeClr val="tx1">
                    <a:lumMod val="85000"/>
                    <a:lumOff val="15000"/>
                  </a:schemeClr>
                </a:solidFill>
                <a:ea typeface="+mn-ea"/>
                <a:cs typeface="+mn-cs"/>
              </a:rPr>
              <a:t>Documentation</a:t>
            </a:r>
          </a:p>
          <a:p>
            <a:pPr eaLnBrk="1" fontAlgn="auto" hangingPunct="1">
              <a:spcAft>
                <a:spcPts val="0"/>
              </a:spcAft>
              <a:buFont typeface="Wingdings" pitchFamily="2" charset="2"/>
              <a:buChar char="n"/>
              <a:defRPr/>
            </a:pPr>
            <a:endParaRPr lang="en-US" smtClean="0">
              <a:solidFill>
                <a:schemeClr val="tx1">
                  <a:lumMod val="85000"/>
                  <a:lumOff val="15000"/>
                </a:schemeClr>
              </a:solidFill>
              <a:ea typeface="+mn-ea"/>
              <a:cs typeface="+mn-cs"/>
            </a:endParaRPr>
          </a:p>
        </p:txBody>
      </p:sp>
      <p:sp>
        <p:nvSpPr>
          <p:cNvPr id="65539" name="Footer Placeholder 3"/>
          <p:cNvSpPr>
            <a:spLocks noGrp="1"/>
          </p:cNvSpPr>
          <p:nvPr>
            <p:ph type="ftr" sz="quarter" idx="11"/>
          </p:nvPr>
        </p:nvSpPr>
        <p:spPr/>
        <p:txBody>
          <a:bodyPr/>
          <a:lstStyle/>
          <a:p>
            <a:pPr>
              <a:defRPr/>
            </a:pP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pPr algn="ctr" eaLnBrk="1" fontAlgn="auto" hangingPunct="1">
              <a:spcAft>
                <a:spcPts val="0"/>
              </a:spcAft>
              <a:defRPr/>
            </a:pPr>
            <a:r>
              <a:rPr lang="en-US" dirty="0" smtClean="0">
                <a:solidFill>
                  <a:schemeClr val="accent1">
                    <a:lumMod val="60000"/>
                    <a:lumOff val="40000"/>
                  </a:schemeClr>
                </a:solidFill>
                <a:ea typeface="+mj-ea"/>
                <a:cs typeface="+mj-cs"/>
              </a:rPr>
              <a:t>Opioid Agreement</a:t>
            </a:r>
          </a:p>
        </p:txBody>
      </p:sp>
      <p:sp>
        <p:nvSpPr>
          <p:cNvPr id="45059" name="Rectangle 3"/>
          <p:cNvSpPr>
            <a:spLocks noGrp="1" noChangeArrowheads="1"/>
          </p:cNvSpPr>
          <p:nvPr>
            <p:ph idx="1"/>
          </p:nvPr>
        </p:nvSpPr>
        <p:spPr>
          <a:xfrm>
            <a:off x="381000" y="2286000"/>
            <a:ext cx="8102600" cy="3840163"/>
          </a:xfrm>
        </p:spPr>
        <p:txBody>
          <a:bodyPr rtlCol="0">
            <a:normAutofit lnSpcReduction="10000"/>
          </a:bodyPr>
          <a:lstStyle/>
          <a:p>
            <a:pPr eaLnBrk="1" fontAlgn="auto" hangingPunct="1">
              <a:spcAft>
                <a:spcPts val="0"/>
              </a:spcAft>
              <a:buFont typeface="Wingdings" pitchFamily="2" charset="2"/>
              <a:buChar char="n"/>
              <a:defRPr/>
            </a:pPr>
            <a:r>
              <a:rPr lang="en-US" sz="2800" dirty="0" smtClean="0">
                <a:solidFill>
                  <a:schemeClr val="tx1">
                    <a:lumMod val="85000"/>
                    <a:lumOff val="15000"/>
                  </a:schemeClr>
                </a:solidFill>
                <a:ea typeface="+mn-ea"/>
                <a:cs typeface="+mn-cs"/>
              </a:rPr>
              <a:t>Patients agree to comply fully with all aspects of the treatment program including behavioral medicine and physical therapy if recommended</a:t>
            </a:r>
          </a:p>
          <a:p>
            <a:pPr eaLnBrk="1" fontAlgn="auto" hangingPunct="1">
              <a:spcAft>
                <a:spcPts val="0"/>
              </a:spcAft>
              <a:buFont typeface="Wingdings" pitchFamily="2" charset="2"/>
              <a:buChar char="n"/>
              <a:defRPr/>
            </a:pPr>
            <a:r>
              <a:rPr lang="en-US" sz="2800" dirty="0" smtClean="0">
                <a:solidFill>
                  <a:schemeClr val="tx1">
                    <a:lumMod val="85000"/>
                    <a:lumOff val="15000"/>
                  </a:schemeClr>
                </a:solidFill>
                <a:ea typeface="+mn-ea"/>
                <a:cs typeface="+mn-cs"/>
              </a:rPr>
              <a:t>A prohibition on use with alcohol, other sedating medications or illegal medications</a:t>
            </a:r>
          </a:p>
          <a:p>
            <a:pPr eaLnBrk="1" fontAlgn="auto" hangingPunct="1">
              <a:spcAft>
                <a:spcPts val="0"/>
              </a:spcAft>
              <a:buFont typeface="Wingdings" pitchFamily="2" charset="2"/>
              <a:buChar char="n"/>
              <a:defRPr/>
            </a:pPr>
            <a:r>
              <a:rPr lang="en-US" sz="2800" dirty="0" smtClean="0">
                <a:solidFill>
                  <a:schemeClr val="tx1">
                    <a:lumMod val="85000"/>
                    <a:lumOff val="15000"/>
                  </a:schemeClr>
                </a:solidFill>
                <a:ea typeface="+mn-ea"/>
                <a:cs typeface="+mn-cs"/>
              </a:rPr>
              <a:t>Agreement not to drive or operate heavy machinery until medication-related drowsiness is cleared</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lstStyle/>
          <a:p>
            <a:pPr algn="ctr" eaLnBrk="1" fontAlgn="auto" hangingPunct="1">
              <a:spcAft>
                <a:spcPts val="0"/>
              </a:spcAft>
              <a:defRPr/>
            </a:pPr>
            <a:r>
              <a:rPr lang="en-US" dirty="0" smtClean="0">
                <a:solidFill>
                  <a:schemeClr val="accent1">
                    <a:lumMod val="60000"/>
                    <a:lumOff val="40000"/>
                  </a:schemeClr>
                </a:solidFill>
                <a:ea typeface="+mj-ea"/>
                <a:cs typeface="+mj-cs"/>
              </a:rPr>
              <a:t>Opioid Agreement</a:t>
            </a:r>
          </a:p>
        </p:txBody>
      </p:sp>
      <p:sp>
        <p:nvSpPr>
          <p:cNvPr id="44035" name="Rectangle 3"/>
          <p:cNvSpPr>
            <a:spLocks noGrp="1" noChangeArrowheads="1"/>
          </p:cNvSpPr>
          <p:nvPr>
            <p:ph idx="1"/>
          </p:nvPr>
        </p:nvSpPr>
        <p:spPr>
          <a:xfrm>
            <a:off x="381000" y="2286000"/>
            <a:ext cx="8102600" cy="3840163"/>
          </a:xfrm>
        </p:spPr>
        <p:txBody>
          <a:bodyPr rtlCol="0">
            <a:normAutofit fontScale="92500" lnSpcReduction="10000"/>
          </a:bodyPr>
          <a:lstStyle/>
          <a:p>
            <a:pPr eaLnBrk="1" fontAlgn="auto" hangingPunct="1">
              <a:spcAft>
                <a:spcPts val="0"/>
              </a:spcAft>
              <a:buFont typeface="Wingdings" pitchFamily="2" charset="2"/>
              <a:buChar char="n"/>
              <a:defRPr/>
            </a:pPr>
            <a:r>
              <a:rPr lang="en-US" sz="2800" dirty="0" err="1" smtClean="0">
                <a:solidFill>
                  <a:schemeClr val="tx1">
                    <a:lumMod val="85000"/>
                    <a:lumOff val="15000"/>
                  </a:schemeClr>
                </a:solidFill>
                <a:ea typeface="+mn-ea"/>
                <a:cs typeface="+mn-cs"/>
              </a:rPr>
              <a:t>Opioid</a:t>
            </a:r>
            <a:r>
              <a:rPr lang="en-US" sz="2800" dirty="0" smtClean="0">
                <a:solidFill>
                  <a:schemeClr val="tx1">
                    <a:lumMod val="85000"/>
                    <a:lumOff val="15000"/>
                  </a:schemeClr>
                </a:solidFill>
                <a:ea typeface="+mn-ea"/>
                <a:cs typeface="+mn-cs"/>
              </a:rPr>
              <a:t> prescriptions are provided by only one Provider</a:t>
            </a:r>
          </a:p>
          <a:p>
            <a:pPr eaLnBrk="1" fontAlgn="auto" hangingPunct="1">
              <a:spcAft>
                <a:spcPts val="0"/>
              </a:spcAft>
              <a:buFont typeface="Wingdings" pitchFamily="2" charset="2"/>
              <a:buChar char="n"/>
              <a:defRPr/>
            </a:pPr>
            <a:r>
              <a:rPr lang="en-US" sz="2800" dirty="0" smtClean="0">
                <a:solidFill>
                  <a:schemeClr val="tx1">
                    <a:lumMod val="85000"/>
                    <a:lumOff val="15000"/>
                  </a:schemeClr>
                </a:solidFill>
                <a:ea typeface="+mn-ea"/>
                <a:cs typeface="+mn-cs"/>
              </a:rPr>
              <a:t>Patients agree not to ask for </a:t>
            </a:r>
            <a:r>
              <a:rPr lang="en-US" sz="2800" dirty="0" err="1" smtClean="0">
                <a:solidFill>
                  <a:schemeClr val="tx1">
                    <a:lumMod val="85000"/>
                    <a:lumOff val="15000"/>
                  </a:schemeClr>
                </a:solidFill>
                <a:ea typeface="+mn-ea"/>
                <a:cs typeface="+mn-cs"/>
              </a:rPr>
              <a:t>opioid</a:t>
            </a:r>
            <a:r>
              <a:rPr lang="en-US" sz="2800" dirty="0" smtClean="0">
                <a:solidFill>
                  <a:schemeClr val="tx1">
                    <a:lumMod val="85000"/>
                    <a:lumOff val="15000"/>
                  </a:schemeClr>
                </a:solidFill>
                <a:ea typeface="+mn-ea"/>
                <a:cs typeface="+mn-cs"/>
              </a:rPr>
              <a:t> medications from any other doctor without the knowledge and assent of the provider</a:t>
            </a:r>
          </a:p>
          <a:p>
            <a:pPr eaLnBrk="1" fontAlgn="auto" hangingPunct="1">
              <a:spcAft>
                <a:spcPts val="0"/>
              </a:spcAft>
              <a:buFont typeface="Wingdings" pitchFamily="2" charset="2"/>
              <a:buChar char="n"/>
              <a:defRPr/>
            </a:pPr>
            <a:r>
              <a:rPr lang="en-US" sz="2800" dirty="0" smtClean="0">
                <a:solidFill>
                  <a:schemeClr val="tx1">
                    <a:lumMod val="85000"/>
                    <a:lumOff val="15000"/>
                  </a:schemeClr>
                </a:solidFill>
                <a:ea typeface="+mn-ea"/>
                <a:cs typeface="+mn-cs"/>
              </a:rPr>
              <a:t>Patients agree to keep all scheduled medical appointments</a:t>
            </a:r>
          </a:p>
          <a:p>
            <a:pPr eaLnBrk="1" fontAlgn="auto" hangingPunct="1">
              <a:spcAft>
                <a:spcPts val="0"/>
              </a:spcAft>
              <a:buFont typeface="Wingdings" pitchFamily="2" charset="2"/>
              <a:buChar char="n"/>
              <a:defRPr/>
            </a:pPr>
            <a:r>
              <a:rPr lang="en-US" sz="2800" dirty="0" smtClean="0">
                <a:solidFill>
                  <a:schemeClr val="tx1">
                    <a:lumMod val="85000"/>
                    <a:lumOff val="15000"/>
                  </a:schemeClr>
                </a:solidFill>
                <a:ea typeface="+mn-ea"/>
                <a:cs typeface="+mn-cs"/>
              </a:rPr>
              <a:t>Urine drug screens will be obtained as indicated </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eaLnBrk="1" fontAlgn="auto" hangingPunct="1">
              <a:spcAft>
                <a:spcPts val="0"/>
              </a:spcAft>
              <a:defRPr/>
            </a:pPr>
            <a:r>
              <a:rPr lang="en-US" dirty="0" smtClean="0">
                <a:solidFill>
                  <a:schemeClr val="accent1">
                    <a:lumMod val="60000"/>
                    <a:lumOff val="40000"/>
                  </a:schemeClr>
                </a:solidFill>
                <a:ea typeface="+mj-ea"/>
                <a:cs typeface="+mj-cs"/>
              </a:rPr>
              <a:t>Opioid Adverse Effects</a:t>
            </a:r>
            <a:endParaRPr lang="en-US" dirty="0">
              <a:solidFill>
                <a:schemeClr val="accent1">
                  <a:lumMod val="60000"/>
                  <a:lumOff val="40000"/>
                </a:schemeClr>
              </a:solidFill>
              <a:ea typeface="+mj-ea"/>
              <a:cs typeface="+mj-cs"/>
            </a:endParaRPr>
          </a:p>
        </p:txBody>
      </p:sp>
      <p:sp>
        <p:nvSpPr>
          <p:cNvPr id="80899" name="Content Placeholder 2"/>
          <p:cNvSpPr>
            <a:spLocks noGrp="1"/>
          </p:cNvSpPr>
          <p:nvPr>
            <p:ph idx="1"/>
          </p:nvPr>
        </p:nvSpPr>
        <p:spPr>
          <a:xfrm>
            <a:off x="381000" y="2057400"/>
            <a:ext cx="8229600" cy="4038600"/>
          </a:xfrm>
        </p:spPr>
        <p:txBody>
          <a:bodyPr rtlCol="0">
            <a:normAutofit fontScale="40000" lnSpcReduction="20000"/>
          </a:bodyPr>
          <a:lstStyle/>
          <a:p>
            <a:pPr eaLnBrk="1" fontAlgn="auto" hangingPunct="1">
              <a:spcAft>
                <a:spcPts val="0"/>
              </a:spcAft>
              <a:buFont typeface="Wingdings" pitchFamily="2" charset="2"/>
              <a:buChar char="n"/>
              <a:defRPr/>
            </a:pPr>
            <a:r>
              <a:rPr lang="en-US" sz="4480" b="1" dirty="0" err="1" smtClean="0">
                <a:solidFill>
                  <a:schemeClr val="tx1">
                    <a:lumMod val="85000"/>
                    <a:lumOff val="15000"/>
                  </a:schemeClr>
                </a:solidFill>
                <a:ea typeface="+mn-ea"/>
                <a:cs typeface="+mn-cs"/>
              </a:rPr>
              <a:t>Hyperalgesia</a:t>
            </a:r>
            <a:endParaRPr lang="en-US" sz="4480" b="1" dirty="0" smtClean="0">
              <a:solidFill>
                <a:schemeClr val="tx1">
                  <a:lumMod val="85000"/>
                  <a:lumOff val="15000"/>
                </a:schemeClr>
              </a:solidFill>
              <a:ea typeface="+mn-ea"/>
              <a:cs typeface="+mn-cs"/>
            </a:endParaRPr>
          </a:p>
          <a:p>
            <a:pPr eaLnBrk="1" fontAlgn="auto" hangingPunct="1">
              <a:spcAft>
                <a:spcPts val="0"/>
              </a:spcAft>
              <a:buFont typeface="Wingdings" pitchFamily="2" charset="2"/>
              <a:buChar char="n"/>
              <a:defRPr/>
            </a:pPr>
            <a:r>
              <a:rPr lang="en-US" sz="4480" b="1" dirty="0" err="1" smtClean="0">
                <a:solidFill>
                  <a:schemeClr val="tx1">
                    <a:lumMod val="85000"/>
                    <a:lumOff val="15000"/>
                  </a:schemeClr>
                </a:solidFill>
                <a:ea typeface="+mn-ea"/>
                <a:cs typeface="+mn-cs"/>
              </a:rPr>
              <a:t>Hypogonadism</a:t>
            </a:r>
            <a:endParaRPr lang="en-US" sz="4480" b="1" dirty="0" smtClean="0">
              <a:solidFill>
                <a:schemeClr val="tx1">
                  <a:lumMod val="85000"/>
                  <a:lumOff val="15000"/>
                </a:schemeClr>
              </a:solidFill>
              <a:ea typeface="+mn-ea"/>
              <a:cs typeface="+mn-cs"/>
            </a:endParaRPr>
          </a:p>
          <a:p>
            <a:pPr eaLnBrk="1" fontAlgn="auto" hangingPunct="1">
              <a:spcAft>
                <a:spcPts val="0"/>
              </a:spcAft>
              <a:buFont typeface="Wingdings" pitchFamily="2" charset="2"/>
              <a:buChar char="n"/>
              <a:defRPr/>
            </a:pPr>
            <a:r>
              <a:rPr lang="en-US" sz="4480" b="1" dirty="0" smtClean="0">
                <a:solidFill>
                  <a:schemeClr val="tx1">
                    <a:lumMod val="85000"/>
                    <a:lumOff val="15000"/>
                  </a:schemeClr>
                </a:solidFill>
                <a:ea typeface="+mn-ea"/>
                <a:cs typeface="+mn-cs"/>
              </a:rPr>
              <a:t>Sedation</a:t>
            </a:r>
          </a:p>
          <a:p>
            <a:pPr eaLnBrk="1" fontAlgn="auto" hangingPunct="1">
              <a:spcAft>
                <a:spcPts val="0"/>
              </a:spcAft>
              <a:buFont typeface="Wingdings" pitchFamily="2" charset="2"/>
              <a:buChar char="n"/>
              <a:defRPr/>
            </a:pPr>
            <a:r>
              <a:rPr lang="en-US" sz="4480" b="1" dirty="0" smtClean="0">
                <a:solidFill>
                  <a:schemeClr val="tx1">
                    <a:lumMod val="85000"/>
                    <a:lumOff val="15000"/>
                  </a:schemeClr>
                </a:solidFill>
                <a:ea typeface="+mn-ea"/>
                <a:cs typeface="+mn-cs"/>
              </a:rPr>
              <a:t>Cognitive Impairment</a:t>
            </a:r>
          </a:p>
          <a:p>
            <a:pPr eaLnBrk="1" fontAlgn="auto" hangingPunct="1">
              <a:spcAft>
                <a:spcPts val="0"/>
              </a:spcAft>
              <a:buFont typeface="Wingdings" pitchFamily="2" charset="2"/>
              <a:buChar char="n"/>
              <a:defRPr/>
            </a:pPr>
            <a:r>
              <a:rPr lang="en-US" sz="4480" b="1" dirty="0" smtClean="0">
                <a:solidFill>
                  <a:schemeClr val="tx1">
                    <a:lumMod val="85000"/>
                    <a:lumOff val="15000"/>
                  </a:schemeClr>
                </a:solidFill>
                <a:ea typeface="+mn-ea"/>
                <a:cs typeface="+mn-cs"/>
              </a:rPr>
              <a:t>Constipation</a:t>
            </a:r>
          </a:p>
          <a:p>
            <a:pPr eaLnBrk="1" fontAlgn="auto" hangingPunct="1">
              <a:spcAft>
                <a:spcPts val="0"/>
              </a:spcAft>
              <a:buFont typeface="Wingdings" pitchFamily="2" charset="2"/>
              <a:buChar char="n"/>
              <a:defRPr/>
            </a:pPr>
            <a:r>
              <a:rPr lang="en-US" sz="4480" b="1" dirty="0" smtClean="0">
                <a:solidFill>
                  <a:schemeClr val="tx1">
                    <a:lumMod val="85000"/>
                    <a:lumOff val="15000"/>
                  </a:schemeClr>
                </a:solidFill>
                <a:ea typeface="+mn-ea"/>
                <a:cs typeface="+mn-cs"/>
              </a:rPr>
              <a:t>Nausea/Vomiting</a:t>
            </a:r>
          </a:p>
          <a:p>
            <a:pPr eaLnBrk="1" fontAlgn="auto" hangingPunct="1">
              <a:spcAft>
                <a:spcPts val="0"/>
              </a:spcAft>
              <a:buFont typeface="Wingdings" pitchFamily="2" charset="2"/>
              <a:buChar char="n"/>
              <a:defRPr/>
            </a:pPr>
            <a:r>
              <a:rPr lang="en-US" sz="4480" b="1" dirty="0" err="1" smtClean="0">
                <a:solidFill>
                  <a:schemeClr val="tx1">
                    <a:lumMod val="85000"/>
                    <a:lumOff val="15000"/>
                  </a:schemeClr>
                </a:solidFill>
                <a:ea typeface="+mn-ea"/>
                <a:cs typeface="+mn-cs"/>
              </a:rPr>
              <a:t>Pruritis</a:t>
            </a:r>
            <a:r>
              <a:rPr lang="en-US" sz="4480" b="1" dirty="0" smtClean="0">
                <a:solidFill>
                  <a:schemeClr val="tx1">
                    <a:lumMod val="85000"/>
                    <a:lumOff val="15000"/>
                  </a:schemeClr>
                </a:solidFill>
                <a:ea typeface="+mn-ea"/>
                <a:cs typeface="+mn-cs"/>
              </a:rPr>
              <a:t> </a:t>
            </a:r>
          </a:p>
          <a:p>
            <a:pPr eaLnBrk="1" fontAlgn="auto" hangingPunct="1">
              <a:spcAft>
                <a:spcPts val="0"/>
              </a:spcAft>
              <a:buFont typeface="Wingdings" pitchFamily="2" charset="2"/>
              <a:buChar char="n"/>
              <a:defRPr/>
            </a:pPr>
            <a:r>
              <a:rPr lang="en-US" sz="4480" b="1" dirty="0" smtClean="0">
                <a:solidFill>
                  <a:schemeClr val="tx1">
                    <a:lumMod val="85000"/>
                    <a:lumOff val="15000"/>
                  </a:schemeClr>
                </a:solidFill>
                <a:ea typeface="+mn-ea"/>
                <a:cs typeface="+mn-cs"/>
              </a:rPr>
              <a:t>Respiratory Depression</a:t>
            </a:r>
          </a:p>
          <a:p>
            <a:pPr eaLnBrk="1" fontAlgn="auto" hangingPunct="1">
              <a:spcAft>
                <a:spcPts val="0"/>
              </a:spcAft>
              <a:buFont typeface="Wingdings" pitchFamily="2" charset="2"/>
              <a:buChar char="n"/>
              <a:defRPr/>
            </a:pPr>
            <a:r>
              <a:rPr lang="en-US" sz="4480" b="1" dirty="0" smtClean="0">
                <a:solidFill>
                  <a:schemeClr val="tx1">
                    <a:lumMod val="85000"/>
                    <a:lumOff val="15000"/>
                  </a:schemeClr>
                </a:solidFill>
                <a:ea typeface="+mn-ea"/>
                <a:cs typeface="+mn-cs"/>
              </a:rPr>
              <a:t>Central Sleep Apnea </a:t>
            </a:r>
          </a:p>
          <a:p>
            <a:pPr eaLnBrk="1" fontAlgn="auto" hangingPunct="1">
              <a:spcAft>
                <a:spcPts val="0"/>
              </a:spcAft>
              <a:buFont typeface="Wingdings" pitchFamily="2" charset="2"/>
              <a:buChar char="n"/>
              <a:defRPr/>
            </a:pPr>
            <a:endParaRPr lang="en-US" dirty="0" smtClean="0">
              <a:solidFill>
                <a:schemeClr val="tx1">
                  <a:lumMod val="85000"/>
                  <a:lumOff val="15000"/>
                </a:schemeClr>
              </a:solidFill>
              <a:ea typeface="+mn-ea"/>
              <a:cs typeface="+mn-cs"/>
            </a:endParaRPr>
          </a:p>
          <a:p>
            <a:pPr eaLnBrk="1" fontAlgn="auto" hangingPunct="1">
              <a:spcAft>
                <a:spcPts val="0"/>
              </a:spcAft>
              <a:buFont typeface="Wingdings" pitchFamily="2" charset="2"/>
              <a:buChar char="n"/>
              <a:defRPr/>
            </a:pPr>
            <a:endParaRPr lang="en-US" dirty="0" smtClean="0">
              <a:solidFill>
                <a:schemeClr val="tx1">
                  <a:lumMod val="85000"/>
                  <a:lumOff val="15000"/>
                </a:schemeClr>
              </a:solidFill>
              <a:ea typeface="+mn-ea"/>
              <a:cs typeface="+mn-cs"/>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1"/>
          <p:cNvPicPr>
            <a:picLocks noChangeAspect="1"/>
          </p:cNvPicPr>
          <p:nvPr/>
        </p:nvPicPr>
        <p:blipFill>
          <a:blip r:embed="rId2"/>
          <a:srcRect/>
          <a:stretch>
            <a:fillRect/>
          </a:stretch>
        </p:blipFill>
        <p:spPr bwMode="auto">
          <a:xfrm>
            <a:off x="1171575" y="684213"/>
            <a:ext cx="6740525" cy="5443537"/>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lumMod val="60000"/>
                    <a:lumOff val="40000"/>
                  </a:schemeClr>
                </a:solidFill>
              </a:rPr>
              <a:t>Behaviors More Suggestive of an Addiction Disorder</a:t>
            </a:r>
            <a:endParaRPr lang="en-US" dirty="0">
              <a:solidFill>
                <a:schemeClr val="accent1">
                  <a:lumMod val="60000"/>
                  <a:lumOff val="40000"/>
                </a:schemeClr>
              </a:solidFill>
            </a:endParaRPr>
          </a:p>
        </p:txBody>
      </p:sp>
      <p:sp>
        <p:nvSpPr>
          <p:cNvPr id="3" name="Content Placeholder 2"/>
          <p:cNvSpPr>
            <a:spLocks noGrp="1"/>
          </p:cNvSpPr>
          <p:nvPr>
            <p:ph idx="1"/>
          </p:nvPr>
        </p:nvSpPr>
        <p:spPr>
          <a:xfrm>
            <a:off x="658813" y="2286000"/>
            <a:ext cx="7824787" cy="3840163"/>
          </a:xfrm>
        </p:spPr>
        <p:txBody>
          <a:bodyPr>
            <a:normAutofit/>
          </a:bodyPr>
          <a:lstStyle/>
          <a:p>
            <a:r>
              <a:rPr lang="en-US" dirty="0" smtClean="0"/>
              <a:t>Selling prescription drugs</a:t>
            </a:r>
          </a:p>
          <a:p>
            <a:r>
              <a:rPr lang="en-US" dirty="0" smtClean="0"/>
              <a:t>Prescription forgery</a:t>
            </a:r>
          </a:p>
          <a:p>
            <a:r>
              <a:rPr lang="en-US" dirty="0" smtClean="0"/>
              <a:t>Stealing or “borrowing” drugs from others</a:t>
            </a:r>
          </a:p>
          <a:p>
            <a:r>
              <a:rPr lang="en-US" dirty="0" smtClean="0"/>
              <a:t>Injecting oral formulations</a:t>
            </a:r>
          </a:p>
          <a:p>
            <a:r>
              <a:rPr lang="en-US" dirty="0" smtClean="0"/>
              <a:t>Obtaining prescription drugs from nonmedical sources•</a:t>
            </a:r>
          </a:p>
          <a:p>
            <a:r>
              <a:rPr lang="en-US" dirty="0" smtClean="0"/>
              <a:t>Concurrent abuse of alcohol or illicit drugs</a:t>
            </a:r>
          </a:p>
        </p:txBody>
      </p:sp>
      <p:sp>
        <p:nvSpPr>
          <p:cNvPr id="4" name="Footer Placeholder 3"/>
          <p:cNvSpPr>
            <a:spLocks noGrp="1"/>
          </p:cNvSpPr>
          <p:nvPr>
            <p:ph type="ftr" sz="quarter" idx="11"/>
          </p:nvPr>
        </p:nvSpPr>
        <p:spPr>
          <a:xfrm>
            <a:off x="2485909" y="6126164"/>
            <a:ext cx="3415554" cy="549274"/>
          </a:xfrm>
        </p:spPr>
        <p:txBody>
          <a:bodyPr/>
          <a:lstStyle/>
          <a:p>
            <a:r>
              <a:rPr lang="en-US" dirty="0" err="1" smtClean="0"/>
              <a:t>Portenoy</a:t>
            </a:r>
            <a:r>
              <a:rPr lang="en-US" dirty="0" smtClean="0"/>
              <a:t> RK, Payne R. Acute and chronic pain. In </a:t>
            </a:r>
            <a:r>
              <a:rPr lang="en-US" dirty="0" err="1" smtClean="0"/>
              <a:t>Lowinson</a:t>
            </a:r>
            <a:r>
              <a:rPr lang="en-US" dirty="0" smtClean="0"/>
              <a:t> JH, Ruiz P, </a:t>
            </a:r>
            <a:r>
              <a:rPr lang="en-US" dirty="0" err="1" smtClean="0"/>
              <a:t>Millman</a:t>
            </a:r>
            <a:r>
              <a:rPr lang="en-US" dirty="0" smtClean="0"/>
              <a:t> RB (</a:t>
            </a:r>
            <a:r>
              <a:rPr lang="en-US" dirty="0" err="1" smtClean="0"/>
              <a:t>eds</a:t>
            </a:r>
            <a:r>
              <a:rPr lang="en-US" dirty="0" smtClean="0"/>
              <a:t>): Comprehensive Textbook of Substance Abuse, 3rd Edition. Baltimore: Williams and Wilkins; 1997</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2" y="456252"/>
            <a:ext cx="7824788" cy="1323041"/>
          </a:xfrm>
        </p:spPr>
        <p:txBody>
          <a:bodyPr/>
          <a:lstStyle/>
          <a:p>
            <a:r>
              <a:rPr lang="en-US" dirty="0" smtClean="0">
                <a:solidFill>
                  <a:schemeClr val="accent1">
                    <a:lumMod val="60000"/>
                    <a:lumOff val="40000"/>
                  </a:schemeClr>
                </a:solidFill>
              </a:rPr>
              <a:t>Behaviors More Suggestive of an Addiction Disorder</a:t>
            </a:r>
            <a:endParaRPr lang="en-US" dirty="0">
              <a:solidFill>
                <a:schemeClr val="accent1">
                  <a:lumMod val="60000"/>
                  <a:lumOff val="40000"/>
                </a:schemeClr>
              </a:solidFill>
            </a:endParaRPr>
          </a:p>
        </p:txBody>
      </p:sp>
      <p:sp>
        <p:nvSpPr>
          <p:cNvPr id="3" name="Content Placeholder 2"/>
          <p:cNvSpPr>
            <a:spLocks noGrp="1"/>
          </p:cNvSpPr>
          <p:nvPr>
            <p:ph idx="1"/>
          </p:nvPr>
        </p:nvSpPr>
        <p:spPr>
          <a:xfrm>
            <a:off x="410861" y="2286000"/>
            <a:ext cx="8072739" cy="3840163"/>
          </a:xfrm>
        </p:spPr>
        <p:txBody>
          <a:bodyPr>
            <a:normAutofit lnSpcReduction="10000"/>
          </a:bodyPr>
          <a:lstStyle/>
          <a:p>
            <a:r>
              <a:rPr lang="en-US" dirty="0" smtClean="0"/>
              <a:t>Multiple dose escalations or other noncompliance with therapy despite warnings</a:t>
            </a:r>
          </a:p>
          <a:p>
            <a:r>
              <a:rPr lang="en-US" dirty="0" smtClean="0"/>
              <a:t>Multiple episodes of prescription “loss”</a:t>
            </a:r>
          </a:p>
          <a:p>
            <a:r>
              <a:rPr lang="en-US" dirty="0" smtClean="0"/>
              <a:t>Repeatedly seeking prescriptions from other clinicians or from emergency rooms without informing prescriber or after warnings to desist</a:t>
            </a:r>
          </a:p>
          <a:p>
            <a:r>
              <a:rPr lang="en-US" dirty="0" smtClean="0"/>
              <a:t>Evidence of deterioration in the ability to function at work, in the family, or socially that appear to be related to drug use</a:t>
            </a:r>
          </a:p>
          <a:p>
            <a:r>
              <a:rPr lang="en-US" dirty="0" smtClean="0"/>
              <a:t>Repeated resistance to changes in therapy despite clear evidence of adverse physical or psychological effects from the drug</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smtClean="0">
                <a:solidFill>
                  <a:schemeClr val="accent1">
                    <a:lumMod val="60000"/>
                    <a:lumOff val="40000"/>
                  </a:schemeClr>
                </a:solidFill>
              </a:rPr>
              <a:t>Behaviors Less Suggestive of an Addiction Disorder-But Need to Be Addressed</a:t>
            </a:r>
            <a:endParaRPr lang="en-US" sz="3200" dirty="0">
              <a:solidFill>
                <a:schemeClr val="accent1">
                  <a:lumMod val="60000"/>
                  <a:lumOff val="40000"/>
                </a:schemeClr>
              </a:solidFill>
            </a:endParaRPr>
          </a:p>
        </p:txBody>
      </p:sp>
      <p:sp>
        <p:nvSpPr>
          <p:cNvPr id="3" name="Content Placeholder 2"/>
          <p:cNvSpPr>
            <a:spLocks noGrp="1"/>
          </p:cNvSpPr>
          <p:nvPr>
            <p:ph idx="1"/>
          </p:nvPr>
        </p:nvSpPr>
        <p:spPr>
          <a:xfrm>
            <a:off x="658813" y="2286000"/>
            <a:ext cx="7824787" cy="3840163"/>
          </a:xfrm>
        </p:spPr>
        <p:txBody>
          <a:bodyPr>
            <a:normAutofit fontScale="85000" lnSpcReduction="20000"/>
          </a:bodyPr>
          <a:lstStyle/>
          <a:p>
            <a:r>
              <a:rPr lang="en-US" dirty="0" smtClean="0"/>
              <a:t>Aggressive complaining about the need for more drug</a:t>
            </a:r>
          </a:p>
          <a:p>
            <a:r>
              <a:rPr lang="en-US" dirty="0" smtClean="0"/>
              <a:t>Drug hoarding during periods of reduced symptoms</a:t>
            </a:r>
          </a:p>
          <a:p>
            <a:r>
              <a:rPr lang="en-US" dirty="0" smtClean="0"/>
              <a:t>Requesting specific drugs</a:t>
            </a:r>
          </a:p>
          <a:p>
            <a:r>
              <a:rPr lang="en-US" dirty="0" smtClean="0"/>
              <a:t>Openly acquiring similar drugs from other medical sources</a:t>
            </a:r>
          </a:p>
          <a:p>
            <a:r>
              <a:rPr lang="en-US" dirty="0" smtClean="0"/>
              <a:t>Unsanctioned dose escalation or other noncompliance with therapy on one or two occasions</a:t>
            </a:r>
          </a:p>
          <a:p>
            <a:r>
              <a:rPr lang="en-US" dirty="0" smtClean="0"/>
              <a:t>Unapproved use of the drug to treat another symptom</a:t>
            </a:r>
          </a:p>
          <a:p>
            <a:r>
              <a:rPr lang="en-US" dirty="0" smtClean="0"/>
              <a:t>Reporting psychic effects not intended by the clinician</a:t>
            </a:r>
          </a:p>
          <a:p>
            <a:r>
              <a:rPr lang="en-US" dirty="0" smtClean="0"/>
              <a:t>Resistance to a change in therapy associated with “tolerable” adverse effects with expressions of anxiety related to the return of severe symptoms</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accent1">
                    <a:lumMod val="60000"/>
                    <a:lumOff val="40000"/>
                  </a:schemeClr>
                </a:solidFill>
              </a:rPr>
              <a:t>Explanations for Aberrant Behavior</a:t>
            </a:r>
            <a:endParaRPr lang="en-US" dirty="0">
              <a:solidFill>
                <a:schemeClr val="accent1">
                  <a:lumMod val="60000"/>
                  <a:lumOff val="40000"/>
                </a:schemeClr>
              </a:solidFill>
            </a:endParaRPr>
          </a:p>
        </p:txBody>
      </p:sp>
      <p:sp>
        <p:nvSpPr>
          <p:cNvPr id="3" name="Content Placeholder 2"/>
          <p:cNvSpPr>
            <a:spLocks noGrp="1"/>
          </p:cNvSpPr>
          <p:nvPr>
            <p:ph idx="1"/>
          </p:nvPr>
        </p:nvSpPr>
        <p:spPr>
          <a:xfrm>
            <a:off x="410861" y="2286000"/>
            <a:ext cx="8072739" cy="3840163"/>
          </a:xfrm>
        </p:spPr>
        <p:txBody>
          <a:bodyPr/>
          <a:lstStyle/>
          <a:p>
            <a:r>
              <a:rPr lang="en-US" dirty="0" err="1" smtClean="0"/>
              <a:t>Pseudoaddiction</a:t>
            </a:r>
            <a:r>
              <a:rPr lang="en-US" dirty="0" smtClean="0"/>
              <a:t> – Addictive behavior primarily motivated by poor pain control</a:t>
            </a:r>
          </a:p>
          <a:p>
            <a:r>
              <a:rPr lang="en-US" dirty="0" smtClean="0"/>
              <a:t>Addiction –</a:t>
            </a:r>
            <a:r>
              <a:rPr lang="en-US" dirty="0"/>
              <a:t>L</a:t>
            </a:r>
            <a:r>
              <a:rPr lang="en-US" dirty="0" smtClean="0"/>
              <a:t>oss of control, compulsive use, continued use despite harm, and craving.</a:t>
            </a:r>
          </a:p>
          <a:p>
            <a:r>
              <a:rPr lang="en-US" dirty="0" smtClean="0"/>
              <a:t>Tolerance – Decreased effect from previously effective </a:t>
            </a:r>
            <a:r>
              <a:rPr lang="en-US" dirty="0" err="1" smtClean="0"/>
              <a:t>opioid</a:t>
            </a:r>
            <a:r>
              <a:rPr lang="en-US" dirty="0" smtClean="0"/>
              <a:t> dose. (Can a safe </a:t>
            </a:r>
            <a:r>
              <a:rPr lang="en-US" dirty="0" err="1" smtClean="0"/>
              <a:t>opioid</a:t>
            </a:r>
            <a:r>
              <a:rPr lang="en-US" dirty="0" smtClean="0"/>
              <a:t> dose be used?)</a:t>
            </a:r>
          </a:p>
          <a:p>
            <a:r>
              <a:rPr lang="en-US" dirty="0" smtClean="0"/>
              <a:t>Diversion</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accent1">
                    <a:lumMod val="60000"/>
                    <a:lumOff val="40000"/>
                  </a:schemeClr>
                </a:solidFill>
              </a:rPr>
              <a:t>Explanations for Aberrant Behavior</a:t>
            </a:r>
            <a:endParaRPr lang="en-US" dirty="0">
              <a:solidFill>
                <a:schemeClr val="accent1">
                  <a:lumMod val="60000"/>
                  <a:lumOff val="40000"/>
                </a:schemeClr>
              </a:solidFill>
            </a:endParaRPr>
          </a:p>
        </p:txBody>
      </p:sp>
      <p:sp>
        <p:nvSpPr>
          <p:cNvPr id="3" name="Content Placeholder 2"/>
          <p:cNvSpPr>
            <a:spLocks noGrp="1"/>
          </p:cNvSpPr>
          <p:nvPr>
            <p:ph idx="1"/>
          </p:nvPr>
        </p:nvSpPr>
        <p:spPr>
          <a:xfrm>
            <a:off x="354835" y="2286000"/>
            <a:ext cx="8128765" cy="3840163"/>
          </a:xfrm>
        </p:spPr>
        <p:txBody>
          <a:bodyPr>
            <a:normAutofit/>
          </a:bodyPr>
          <a:lstStyle/>
          <a:p>
            <a:r>
              <a:rPr lang="en-US" dirty="0" smtClean="0"/>
              <a:t>Self medication of underlying Psychiatric Symptoms</a:t>
            </a:r>
          </a:p>
          <a:p>
            <a:r>
              <a:rPr lang="en-US" dirty="0" err="1" smtClean="0"/>
              <a:t>Hyperalgesia</a:t>
            </a:r>
            <a:r>
              <a:rPr lang="en-US" dirty="0" smtClean="0"/>
              <a:t> – The </a:t>
            </a:r>
            <a:r>
              <a:rPr lang="en-US" dirty="0" err="1" smtClean="0"/>
              <a:t>opioid</a:t>
            </a:r>
            <a:r>
              <a:rPr lang="en-US" dirty="0" smtClean="0"/>
              <a:t> has caused a worsening of pain control and the dose may need to be decreased or the </a:t>
            </a:r>
            <a:r>
              <a:rPr lang="en-US" dirty="0" err="1" smtClean="0"/>
              <a:t>opioid</a:t>
            </a:r>
            <a:r>
              <a:rPr lang="en-US" dirty="0" smtClean="0"/>
              <a:t> tapered and discontinued </a:t>
            </a:r>
          </a:p>
          <a:p>
            <a:r>
              <a:rPr lang="en-US" dirty="0" smtClean="0"/>
              <a:t>Disease progression with the need for reevaluation </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838200" y="609600"/>
            <a:ext cx="7848600" cy="1295400"/>
          </a:xfrm>
        </p:spPr>
        <p:txBody>
          <a:bodyPr/>
          <a:lstStyle/>
          <a:p>
            <a:pPr algn="ctr" eaLnBrk="1" hangingPunct="1"/>
            <a:r>
              <a:rPr lang="en-US" dirty="0" smtClean="0">
                <a:solidFill>
                  <a:schemeClr val="accent1">
                    <a:lumMod val="60000"/>
                    <a:lumOff val="40000"/>
                  </a:schemeClr>
                </a:solidFill>
              </a:rPr>
              <a:t>Urine Drug Screen</a:t>
            </a:r>
          </a:p>
        </p:txBody>
      </p:sp>
      <p:sp>
        <p:nvSpPr>
          <p:cNvPr id="106499" name="Footer Placeholder 3"/>
          <p:cNvSpPr>
            <a:spLocks noGrp="1"/>
          </p:cNvSpPr>
          <p:nvPr>
            <p:ph type="ftr" sz="quarter" idx="11"/>
          </p:nvPr>
        </p:nvSpPr>
        <p:spPr>
          <a:noFill/>
        </p:spPr>
        <p:txBody>
          <a:bodyPr/>
          <a:lstStyle/>
          <a:p>
            <a:endParaRPr lang="en-US"/>
          </a:p>
        </p:txBody>
      </p:sp>
      <p:sp>
        <p:nvSpPr>
          <p:cNvPr id="106500" name="Rectangle 3"/>
          <p:cNvSpPr>
            <a:spLocks noGrp="1" noChangeArrowheads="1"/>
          </p:cNvSpPr>
          <p:nvPr>
            <p:ph sz="quarter" idx="1"/>
          </p:nvPr>
        </p:nvSpPr>
        <p:spPr>
          <a:xfrm>
            <a:off x="838200" y="2131490"/>
            <a:ext cx="7848600" cy="3964509"/>
          </a:xfrm>
        </p:spPr>
        <p:txBody>
          <a:bodyPr/>
          <a:lstStyle/>
          <a:p>
            <a:pPr eaLnBrk="1" hangingPunct="1"/>
            <a:r>
              <a:rPr lang="en-US" sz="2800" dirty="0" smtClean="0"/>
              <a:t>Urine drug screens typically check for evidence of opiate, alcohol, benzodiazepine, cocaine, marijuana, amphetamine and barbiturate use</a:t>
            </a:r>
          </a:p>
          <a:p>
            <a:pPr eaLnBrk="1" hangingPunct="1"/>
            <a:r>
              <a:rPr lang="en-US" sz="2800" dirty="0" smtClean="0"/>
              <a:t>Some opiates may need to be specifically requested such as </a:t>
            </a:r>
            <a:r>
              <a:rPr lang="en-US" sz="2800" dirty="0" err="1" smtClean="0"/>
              <a:t>oxycodone</a:t>
            </a:r>
            <a:r>
              <a:rPr lang="en-US" sz="2800" dirty="0" smtClean="0"/>
              <a:t>, </a:t>
            </a:r>
            <a:r>
              <a:rPr lang="en-US" sz="2800" dirty="0" err="1" smtClean="0"/>
              <a:t>fentanyl</a:t>
            </a:r>
            <a:r>
              <a:rPr lang="en-US" sz="2800" dirty="0" smtClean="0"/>
              <a:t>, and methadone</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838200" y="452577"/>
            <a:ext cx="7848600" cy="1328532"/>
          </a:xfrm>
        </p:spPr>
        <p:txBody>
          <a:bodyPr>
            <a:normAutofit fontScale="90000"/>
          </a:bodyPr>
          <a:lstStyle/>
          <a:p>
            <a:pPr algn="ctr" eaLnBrk="1" hangingPunct="1"/>
            <a:r>
              <a:rPr lang="en-US" sz="4000" dirty="0" smtClean="0">
                <a:solidFill>
                  <a:schemeClr val="accent1">
                    <a:lumMod val="60000"/>
                    <a:lumOff val="40000"/>
                  </a:schemeClr>
                </a:solidFill>
              </a:rPr>
              <a:t>Length of Time Drugs of Abuse Can Be Detected in Urine</a:t>
            </a:r>
          </a:p>
        </p:txBody>
      </p:sp>
      <p:sp>
        <p:nvSpPr>
          <p:cNvPr id="108547" name="Footer Placeholder 3"/>
          <p:cNvSpPr>
            <a:spLocks noGrp="1"/>
          </p:cNvSpPr>
          <p:nvPr>
            <p:ph type="ftr" sz="quarter" idx="11"/>
          </p:nvPr>
        </p:nvSpPr>
        <p:spPr>
          <a:noFill/>
        </p:spPr>
        <p:txBody>
          <a:bodyPr/>
          <a:lstStyle/>
          <a:p>
            <a:endParaRPr lang="en-US"/>
          </a:p>
        </p:txBody>
      </p:sp>
      <p:sp>
        <p:nvSpPr>
          <p:cNvPr id="108548" name="Rectangle 3"/>
          <p:cNvSpPr>
            <a:spLocks noGrp="1" noChangeArrowheads="1"/>
          </p:cNvSpPr>
          <p:nvPr>
            <p:ph sz="quarter" idx="1"/>
          </p:nvPr>
        </p:nvSpPr>
        <p:spPr>
          <a:xfrm>
            <a:off x="838200" y="1981200"/>
            <a:ext cx="7848600" cy="4114800"/>
          </a:xfrm>
        </p:spPr>
        <p:txBody>
          <a:bodyPr/>
          <a:lstStyle/>
          <a:p>
            <a:pPr eaLnBrk="1" hangingPunct="1"/>
            <a:r>
              <a:rPr lang="en-US" dirty="0" smtClean="0"/>
              <a:t>Alcohol 			7-12 hours</a:t>
            </a:r>
          </a:p>
          <a:p>
            <a:pPr eaLnBrk="1" hangingPunct="1"/>
            <a:r>
              <a:rPr lang="en-US" dirty="0" smtClean="0"/>
              <a:t>Amphetamine 		48 hours</a:t>
            </a:r>
          </a:p>
          <a:p>
            <a:pPr eaLnBrk="1" hangingPunct="1"/>
            <a:r>
              <a:rPr lang="en-US" dirty="0" smtClean="0"/>
              <a:t>Barbiturate 			24 hours to 3 weeks</a:t>
            </a:r>
          </a:p>
          <a:p>
            <a:pPr eaLnBrk="1" hangingPunct="1"/>
            <a:r>
              <a:rPr lang="en-US" dirty="0" smtClean="0"/>
              <a:t>Benzodiazepines		3 days to 1 month</a:t>
            </a:r>
          </a:p>
          <a:p>
            <a:pPr eaLnBrk="1" hangingPunct="1"/>
            <a:r>
              <a:rPr lang="en-US" dirty="0" smtClean="0"/>
              <a:t>Cocaine 			3 days</a:t>
            </a:r>
          </a:p>
          <a:p>
            <a:pPr eaLnBrk="1" hangingPunct="1"/>
            <a:r>
              <a:rPr lang="en-US" dirty="0" smtClean="0"/>
              <a:t>Marijuana			3 days to over 1 month</a:t>
            </a:r>
          </a:p>
          <a:p>
            <a:pPr eaLnBrk="1" hangingPunct="1"/>
            <a:r>
              <a:rPr lang="en-US" dirty="0" err="1" smtClean="0"/>
              <a:t>Opioids</a:t>
            </a:r>
            <a:r>
              <a:rPr lang="en-US" dirty="0" smtClean="0"/>
              <a:t> 			48 hours to 4 days</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algn="ctr" eaLnBrk="1" hangingPunct="1"/>
            <a:r>
              <a:rPr lang="en-US" dirty="0" smtClean="0">
                <a:solidFill>
                  <a:srgbClr val="FF0000"/>
                </a:solidFill>
              </a:rPr>
              <a:t>Urine Drug Screens</a:t>
            </a:r>
          </a:p>
        </p:txBody>
      </p:sp>
      <p:graphicFrame>
        <p:nvGraphicFramePr>
          <p:cNvPr id="37921" name="Group 33"/>
          <p:cNvGraphicFramePr>
            <a:graphicFrameLocks noGrp="1"/>
          </p:cNvGraphicFramePr>
          <p:nvPr>
            <p:ph type="tbl" idx="1"/>
          </p:nvPr>
        </p:nvGraphicFramePr>
        <p:xfrm>
          <a:off x="1219200" y="1956816"/>
          <a:ext cx="7467600" cy="4383023"/>
        </p:xfrm>
        <a:graphic>
          <a:graphicData uri="http://schemas.openxmlformats.org/drawingml/2006/table">
            <a:tbl>
              <a:tblPr/>
              <a:tblGrid>
                <a:gridCol w="2489200"/>
                <a:gridCol w="2489200"/>
                <a:gridCol w="2489200"/>
              </a:tblGrid>
              <a:tr h="515127">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2800" b="0" i="0" u="none" strike="noStrike" cap="none" normalizeH="0" baseline="0" smtClean="0">
                          <a:ln>
                            <a:noFill/>
                          </a:ln>
                          <a:solidFill>
                            <a:schemeClr val="tx1"/>
                          </a:solidFill>
                          <a:effectLst/>
                          <a:latin typeface="Arial" pitchFamily="34" charset="0"/>
                        </a:rPr>
                        <a:t>Parameter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2800" b="0" i="0" u="none" strike="noStrike" cap="none" normalizeH="0" baseline="0" smtClean="0">
                          <a:ln>
                            <a:noFill/>
                          </a:ln>
                          <a:solidFill>
                            <a:schemeClr val="tx1"/>
                          </a:solidFill>
                          <a:effectLst/>
                          <a:latin typeface="Arial" pitchFamily="34" charset="0"/>
                        </a:rPr>
                        <a:t>Diluted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2800" b="0" i="0" u="none" strike="noStrike" cap="none" normalizeH="0" baseline="0" smtClean="0">
                          <a:ln>
                            <a:noFill/>
                          </a:ln>
                          <a:solidFill>
                            <a:schemeClr val="tx1"/>
                          </a:solidFill>
                          <a:effectLst/>
                          <a:latin typeface="Arial" pitchFamily="34" charset="0"/>
                        </a:rPr>
                        <a:t>Adulterated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5127">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2800" b="0" i="0" u="none" strike="noStrike" cap="none" normalizeH="0" baseline="0" dirty="0" err="1" smtClean="0">
                          <a:ln>
                            <a:noFill/>
                          </a:ln>
                          <a:solidFill>
                            <a:schemeClr val="tx1"/>
                          </a:solidFill>
                          <a:effectLst/>
                          <a:latin typeface="Arial" pitchFamily="34" charset="0"/>
                        </a:rPr>
                        <a:t>Creatinine</a:t>
                      </a:r>
                      <a:endParaRPr kumimoji="0" lang="en-US" sz="2800" b="0" i="0" u="none" strike="noStrike" cap="none" normalizeH="0" baseline="0" dirty="0" smtClean="0">
                        <a:ln>
                          <a:noFill/>
                        </a:ln>
                        <a:solidFill>
                          <a:schemeClr val="tx1"/>
                        </a:solidFill>
                        <a:effectLst/>
                        <a:latin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chemeClr val="tx1"/>
                          </a:solidFill>
                          <a:effectLst/>
                          <a:latin typeface="Arial" pitchFamily="34" charset="0"/>
                        </a:rPr>
                        <a:t>Less than 20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endParaRPr kumimoji="0" lang="en-US" sz="2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448418">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chemeClr val="tx1"/>
                          </a:solidFill>
                          <a:effectLst/>
                          <a:latin typeface="Arial" pitchFamily="34" charset="0"/>
                        </a:rPr>
                        <a:t>ph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endParaRPr kumimoji="0" lang="en-US" sz="2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chemeClr val="tx1"/>
                          </a:solidFill>
                          <a:effectLst/>
                          <a:latin typeface="Arial" pitchFamily="34" charset="0"/>
                        </a:rPr>
                        <a:t>Less than 3</a:t>
                      </a:r>
                    </a:p>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chemeClr val="tx1"/>
                          </a:solidFill>
                          <a:effectLst/>
                          <a:latin typeface="Arial" pitchFamily="34" charset="0"/>
                        </a:rPr>
                        <a:t>Greater than 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39351">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2800" b="0" i="0" u="none" strike="noStrike" cap="none" normalizeH="0" baseline="0" smtClean="0">
                          <a:ln>
                            <a:noFill/>
                          </a:ln>
                          <a:solidFill>
                            <a:schemeClr val="tx1"/>
                          </a:solidFill>
                          <a:effectLst/>
                          <a:latin typeface="Arial" pitchFamily="34" charset="0"/>
                        </a:rPr>
                        <a:t>s.g.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2800" b="0" i="0" u="none" strike="noStrike" cap="none" normalizeH="0" baseline="0" smtClean="0">
                          <a:ln>
                            <a:noFill/>
                          </a:ln>
                          <a:solidFill>
                            <a:schemeClr val="tx1"/>
                          </a:solidFill>
                          <a:effectLst/>
                          <a:latin typeface="Arial" pitchFamily="34" charset="0"/>
                        </a:rPr>
                        <a:t>Less than 1.003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endParaRPr kumimoji="0" lang="en-US" sz="2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39351">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2800" b="0" i="0" u="none" strike="noStrike" cap="none" normalizeH="0" baseline="0" smtClean="0">
                          <a:ln>
                            <a:noFill/>
                          </a:ln>
                          <a:solidFill>
                            <a:schemeClr val="tx1"/>
                          </a:solidFill>
                          <a:effectLst/>
                          <a:latin typeface="Arial" pitchFamily="34" charset="0"/>
                        </a:rPr>
                        <a:t>nitrite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endParaRPr kumimoji="0" lang="en-US" sz="2800" b="0" i="0" u="none" strike="noStrike" cap="none" normalizeH="0" baseline="0" dirty="0" smtClean="0">
                        <a:ln>
                          <a:noFill/>
                        </a:ln>
                        <a:solidFill>
                          <a:schemeClr val="tx1"/>
                        </a:solidFill>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r>
                        <a:rPr kumimoji="0" lang="en-US" sz="2800" b="0" i="0" u="none" strike="noStrike" cap="none" normalizeH="0" baseline="0" dirty="0" smtClean="0">
                          <a:ln>
                            <a:noFill/>
                          </a:ln>
                          <a:solidFill>
                            <a:schemeClr val="tx1"/>
                          </a:solidFill>
                          <a:effectLst/>
                          <a:latin typeface="Arial" pitchFamily="34" charset="0"/>
                        </a:rPr>
                        <a:t>Greater than 500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0625" name="Footer Placeholder 3"/>
          <p:cNvSpPr>
            <a:spLocks noGrp="1"/>
          </p:cNvSpPr>
          <p:nvPr>
            <p:ph type="ftr" sz="quarter" idx="11"/>
          </p:nvPr>
        </p:nvSpPr>
        <p:spPr>
          <a:noFill/>
        </p:spPr>
        <p:txBody>
          <a:bodyPr/>
          <a:lstStyle/>
          <a:p>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Picture 2" descr="we24lsa"/>
          <p:cNvPicPr>
            <a:picLocks noChangeAspect="1" noChangeArrowheads="1"/>
          </p:cNvPicPr>
          <p:nvPr/>
        </p:nvPicPr>
        <p:blipFill>
          <a:blip r:embed="rId3"/>
          <a:srcRect/>
          <a:stretch>
            <a:fillRect/>
          </a:stretch>
        </p:blipFill>
        <p:spPr bwMode="auto">
          <a:xfrm>
            <a:off x="2128838" y="2005013"/>
            <a:ext cx="4886325" cy="2847975"/>
          </a:xfrm>
          <a:prstGeom prst="rect">
            <a:avLst/>
          </a:prstGeom>
          <a:noFill/>
          <a:ln w="9525">
            <a:noFill/>
            <a:miter lim="800000"/>
            <a:headEnd/>
            <a:tailEnd/>
          </a:ln>
        </p:spPr>
      </p:pic>
      <p:sp>
        <p:nvSpPr>
          <p:cNvPr id="100355" name="Footer Placeholder 2"/>
          <p:cNvSpPr>
            <a:spLocks noGrp="1"/>
          </p:cNvSpPr>
          <p:nvPr>
            <p:ph type="ftr" sz="quarter" idx="11"/>
          </p:nvPr>
        </p:nvSpPr>
        <p:spPr>
          <a:noFill/>
        </p:spPr>
        <p:txBody>
          <a:bodyPr/>
          <a:lstStyle/>
          <a:p>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le 1"/>
          <p:cNvSpPr>
            <a:spLocks noGrp="1"/>
          </p:cNvSpPr>
          <p:nvPr>
            <p:ph type="title"/>
          </p:nvPr>
        </p:nvSpPr>
        <p:spPr>
          <a:xfrm>
            <a:off x="838200" y="533400"/>
            <a:ext cx="7848600" cy="1295400"/>
          </a:xfrm>
        </p:spPr>
        <p:txBody>
          <a:bodyPr>
            <a:normAutofit fontScale="90000"/>
          </a:bodyPr>
          <a:lstStyle/>
          <a:p>
            <a:pPr algn="ctr" eaLnBrk="1" hangingPunct="1"/>
            <a:r>
              <a:rPr lang="en-US" dirty="0" smtClean="0">
                <a:solidFill>
                  <a:srgbClr val="FF0000"/>
                </a:solidFill>
              </a:rPr>
              <a:t>Marijuana’s Effects on the Brain</a:t>
            </a:r>
          </a:p>
        </p:txBody>
      </p:sp>
      <p:sp>
        <p:nvSpPr>
          <p:cNvPr id="102403" name="Footer Placeholder 3"/>
          <p:cNvSpPr>
            <a:spLocks noGrp="1"/>
          </p:cNvSpPr>
          <p:nvPr>
            <p:ph type="ftr" sz="quarter" idx="11"/>
          </p:nvPr>
        </p:nvSpPr>
        <p:spPr>
          <a:noFill/>
        </p:spPr>
        <p:txBody>
          <a:bodyPr/>
          <a:lstStyle/>
          <a:p>
            <a:r>
              <a:rPr lang="en-US" smtClean="0"/>
              <a:t>NIDA</a:t>
            </a:r>
          </a:p>
        </p:txBody>
      </p:sp>
      <p:sp>
        <p:nvSpPr>
          <p:cNvPr id="102404" name="Content Placeholder 2"/>
          <p:cNvSpPr>
            <a:spLocks noGrp="1"/>
          </p:cNvSpPr>
          <p:nvPr>
            <p:ph sz="quarter" idx="1"/>
          </p:nvPr>
        </p:nvSpPr>
        <p:spPr>
          <a:xfrm>
            <a:off x="838200" y="2058494"/>
            <a:ext cx="7848600" cy="4113705"/>
          </a:xfrm>
        </p:spPr>
        <p:txBody>
          <a:bodyPr>
            <a:normAutofit fontScale="55000" lnSpcReduction="20000"/>
          </a:bodyPr>
          <a:lstStyle/>
          <a:p>
            <a:pPr eaLnBrk="1" hangingPunct="1"/>
            <a:r>
              <a:rPr lang="en-US" sz="2000" dirty="0" smtClean="0"/>
              <a:t>Cerebellum -Body movement coordination</a:t>
            </a:r>
          </a:p>
          <a:p>
            <a:pPr eaLnBrk="1" hangingPunct="1"/>
            <a:r>
              <a:rPr lang="en-US" sz="2000" dirty="0" smtClean="0"/>
              <a:t>Hippocampus-Learning and memory</a:t>
            </a:r>
          </a:p>
          <a:p>
            <a:pPr eaLnBrk="1" hangingPunct="1"/>
            <a:r>
              <a:rPr lang="en-US" sz="2000" dirty="0" smtClean="0"/>
              <a:t>Cerebral cortex –Higher cognitive functions</a:t>
            </a:r>
          </a:p>
          <a:p>
            <a:pPr eaLnBrk="1" hangingPunct="1"/>
            <a:r>
              <a:rPr lang="en-US" sz="2000" dirty="0" smtClean="0"/>
              <a:t>Nucleus </a:t>
            </a:r>
            <a:r>
              <a:rPr lang="en-US" sz="2000" dirty="0" err="1" smtClean="0"/>
              <a:t>accumbens</a:t>
            </a:r>
            <a:r>
              <a:rPr lang="en-US" sz="2000" dirty="0" smtClean="0"/>
              <a:t> –Reward</a:t>
            </a:r>
          </a:p>
          <a:p>
            <a:pPr eaLnBrk="1" hangingPunct="1"/>
            <a:r>
              <a:rPr lang="en-US" sz="2000" dirty="0" smtClean="0"/>
              <a:t>Basal ganglia – Movement control</a:t>
            </a:r>
          </a:p>
          <a:p>
            <a:pPr eaLnBrk="1" hangingPunct="1"/>
            <a:r>
              <a:rPr lang="en-US" sz="2000" dirty="0" smtClean="0"/>
              <a:t>Hypothalamus – Body housekeeping function</a:t>
            </a:r>
          </a:p>
          <a:p>
            <a:pPr eaLnBrk="1" hangingPunct="1"/>
            <a:r>
              <a:rPr lang="en-US" sz="2000" dirty="0" err="1" smtClean="0"/>
              <a:t>Amygdala</a:t>
            </a:r>
            <a:r>
              <a:rPr lang="en-US" sz="2000" dirty="0" smtClean="0"/>
              <a:t> – Emotional Response, fear</a:t>
            </a:r>
          </a:p>
          <a:p>
            <a:pPr eaLnBrk="1" hangingPunct="1"/>
            <a:r>
              <a:rPr lang="en-US" sz="2000" dirty="0" smtClean="0"/>
              <a:t>Spinal Cord – Peripheral sensation</a:t>
            </a:r>
          </a:p>
          <a:p>
            <a:pPr eaLnBrk="1" hangingPunct="1"/>
            <a:r>
              <a:rPr lang="en-US" sz="2000" dirty="0" smtClean="0"/>
              <a:t>Brain stem – Sleep and arousal, temperature regulation, motor control</a:t>
            </a:r>
          </a:p>
          <a:p>
            <a:pPr eaLnBrk="1" hangingPunct="1"/>
            <a:r>
              <a:rPr lang="en-US" sz="2000" dirty="0" smtClean="0"/>
              <a:t>Central gray – Analgesia </a:t>
            </a:r>
          </a:p>
          <a:p>
            <a:pPr eaLnBrk="1" hangingPunct="1"/>
            <a:r>
              <a:rPr lang="en-US" sz="2000" dirty="0" smtClean="0"/>
              <a:t>Nucleus of the solitary tract – Visceral sensation, nausea and vomiting </a:t>
            </a:r>
          </a:p>
          <a:p>
            <a:pPr eaLnBrk="1" hangingPunct="1"/>
            <a:endParaRPr lang="en-US" sz="2000" dirty="0" smtClean="0"/>
          </a:p>
          <a:p>
            <a:pPr eaLnBrk="1" hangingPunct="1"/>
            <a:endParaRPr lang="en-US" sz="2000" dirty="0" smtClean="0"/>
          </a:p>
          <a:p>
            <a:pPr eaLnBrk="1" hangingPunct="1"/>
            <a:endParaRPr lang="en-US" sz="2000" dirty="0" smtClean="0"/>
          </a:p>
          <a:p>
            <a:pPr eaLnBrk="1" hangingPunct="1"/>
            <a:endParaRPr lang="en-US" sz="2000" dirty="0" smtClean="0"/>
          </a:p>
          <a:p>
            <a:pPr eaLnBrk="1" hangingPunct="1"/>
            <a:endParaRPr lang="en-US" sz="2000" dirty="0"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1511300" y="-1906112"/>
            <a:ext cx="12166600" cy="9131300"/>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8813" y="2286000"/>
            <a:ext cx="7824787" cy="3840163"/>
          </a:xfrm>
        </p:spPr>
        <p:txBody>
          <a:bodyPr>
            <a:normAutofit/>
          </a:bodyPr>
          <a:lstStyle/>
          <a:p>
            <a:r>
              <a:rPr lang="en-US" dirty="0" smtClean="0"/>
              <a:t>Controlled Substances Act classifies marijuana a Schedule I drug with no proven medical value and a 2006 FDA review found that marijuana had no legitimate medical uses.</a:t>
            </a:r>
          </a:p>
          <a:p>
            <a:r>
              <a:rPr lang="en-US" dirty="0" smtClean="0"/>
              <a:t>Using a non-judgmental approach, the VA provider should ensure that the patient is aware of current evidence regarding the health effects of marijuana use, symptoms of marijuana withdrawal and marijuana use disorders, the availability of evidence-based treatments for marijuana use disorders and reduction of marijuana withdrawal symptoms, and other options for treatment of their condition.</a:t>
            </a:r>
            <a:endParaRPr lang="en-US" dirty="0"/>
          </a:p>
        </p:txBody>
      </p:sp>
      <p:sp>
        <p:nvSpPr>
          <p:cNvPr id="2" name="Title 1"/>
          <p:cNvSpPr>
            <a:spLocks noGrp="1"/>
          </p:cNvSpPr>
          <p:nvPr>
            <p:ph type="title"/>
          </p:nvPr>
        </p:nvSpPr>
        <p:spPr/>
        <p:txBody>
          <a:bodyPr>
            <a:noAutofit/>
          </a:bodyPr>
          <a:lstStyle/>
          <a:p>
            <a:pPr algn="ctr"/>
            <a:r>
              <a:rPr lang="en-US" sz="2000" dirty="0" smtClean="0">
                <a:solidFill>
                  <a:srgbClr val="FF0000"/>
                </a:solidFill>
              </a:rPr>
              <a:t>Clinical Considerations Regarding Veteran Patients Who Participate in State-Approved Marijuana Programs December 29, 2010</a:t>
            </a:r>
            <a:endParaRPr lang="en-US" sz="2000" dirty="0">
              <a:solidFill>
                <a:srgbClr val="FF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8813" y="2286000"/>
            <a:ext cx="7824787" cy="3840163"/>
          </a:xfrm>
        </p:spPr>
        <p:txBody>
          <a:bodyPr>
            <a:normAutofit/>
          </a:bodyPr>
          <a:lstStyle/>
          <a:p>
            <a:r>
              <a:rPr lang="en-US" dirty="0" smtClean="0"/>
              <a:t>Providers should also remind patients that it is illegal to possess marijuana for any purpose on VA property.</a:t>
            </a:r>
          </a:p>
          <a:p>
            <a:r>
              <a:rPr lang="en-US" dirty="0" smtClean="0"/>
              <a:t>VHA Directive 2010 - 035 prohibits denying Veterans access to most clinical programs solely because of their participation in State-approved marijuana programs and the VHA Pain Management Program Office strongly supports this policy. Veterans may be restricted from participating in some clinical programs when smoking any substance is an exclusion criterion (for example, organ transplant programs)</a:t>
            </a:r>
            <a:endParaRPr lang="en-US" dirty="0"/>
          </a:p>
        </p:txBody>
      </p:sp>
      <p:sp>
        <p:nvSpPr>
          <p:cNvPr id="2" name="Title 1"/>
          <p:cNvSpPr>
            <a:spLocks noGrp="1"/>
          </p:cNvSpPr>
          <p:nvPr>
            <p:ph type="title"/>
          </p:nvPr>
        </p:nvSpPr>
        <p:spPr/>
        <p:txBody>
          <a:bodyPr/>
          <a:lstStyle/>
          <a:p>
            <a:pPr algn="ctr"/>
            <a:r>
              <a:rPr lang="en-US" dirty="0" smtClean="0">
                <a:solidFill>
                  <a:srgbClr val="FF0000"/>
                </a:solidFill>
              </a:rPr>
              <a:t>Medical Marijuana and the VA</a:t>
            </a:r>
            <a:endParaRPr lang="en-US" dirty="0">
              <a:solidFill>
                <a:srgbClr val="FF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8813" y="2286000"/>
            <a:ext cx="7824787" cy="3840163"/>
          </a:xfrm>
        </p:spPr>
        <p:txBody>
          <a:bodyPr>
            <a:normAutofit fontScale="77500" lnSpcReduction="20000"/>
          </a:bodyPr>
          <a:lstStyle/>
          <a:p>
            <a:r>
              <a:rPr lang="en-US" sz="2595" dirty="0" smtClean="0"/>
              <a:t>When determining the appropriateness of a trial of an </a:t>
            </a:r>
            <a:r>
              <a:rPr lang="en-US" sz="2595" dirty="0" err="1" smtClean="0"/>
              <a:t>opioid</a:t>
            </a:r>
            <a:r>
              <a:rPr lang="en-US" sz="2595" dirty="0" smtClean="0"/>
              <a:t>, assessment of risk for development of prescription medication misuse and addiction or diversion should be specifically included. In most cases, when there is moderate to high risk of medication misuse, addiction and/or diversion, </a:t>
            </a:r>
            <a:r>
              <a:rPr lang="en-US" sz="2595" dirty="0" err="1" smtClean="0"/>
              <a:t>opioids</a:t>
            </a:r>
            <a:r>
              <a:rPr lang="en-US" sz="2595" dirty="0" smtClean="0"/>
              <a:t> should not be considered as part of the plan of care, and alternative methods to control the patient’s pain should be identified and considered.</a:t>
            </a:r>
          </a:p>
          <a:p>
            <a:r>
              <a:rPr lang="en-US" sz="2588" dirty="0" smtClean="0"/>
              <a:t>When therapy with an </a:t>
            </a:r>
            <a:r>
              <a:rPr lang="en-US" sz="2588" dirty="0" err="1" smtClean="0"/>
              <a:t>opioid</a:t>
            </a:r>
            <a:r>
              <a:rPr lang="en-US" sz="2588" dirty="0" smtClean="0"/>
              <a:t> is being considered, Veterans should be fully informed of potential benefits and risks of using </a:t>
            </a:r>
            <a:r>
              <a:rPr lang="en-US" sz="2588" dirty="0" err="1" smtClean="0"/>
              <a:t>opioids</a:t>
            </a:r>
            <a:r>
              <a:rPr lang="en-US" sz="2588" dirty="0" smtClean="0"/>
              <a:t> for pain control, including the increased risks associated with combining use of </a:t>
            </a:r>
            <a:r>
              <a:rPr lang="en-US" sz="2588" dirty="0" err="1" smtClean="0"/>
              <a:t>opioids</a:t>
            </a:r>
            <a:r>
              <a:rPr lang="en-US" sz="2588" dirty="0" smtClean="0"/>
              <a:t> and marijuana such as motor vehicle operation and possible memory deficits that could affect medication adherence.</a:t>
            </a:r>
            <a:endParaRPr lang="en-US" sz="2588" dirty="0"/>
          </a:p>
        </p:txBody>
      </p:sp>
      <p:sp>
        <p:nvSpPr>
          <p:cNvPr id="2" name="Title 1"/>
          <p:cNvSpPr>
            <a:spLocks noGrp="1"/>
          </p:cNvSpPr>
          <p:nvPr>
            <p:ph type="title"/>
          </p:nvPr>
        </p:nvSpPr>
        <p:spPr/>
        <p:txBody>
          <a:bodyPr/>
          <a:lstStyle/>
          <a:p>
            <a:pPr algn="ctr"/>
            <a:r>
              <a:rPr lang="en-US" dirty="0" smtClean="0">
                <a:solidFill>
                  <a:srgbClr val="FF0000"/>
                </a:solidFill>
              </a:rPr>
              <a:t>Medical Marijuana and the VA </a:t>
            </a:r>
            <a:endParaRPr lang="en-US" dirty="0">
              <a:solidFill>
                <a:srgbClr val="FF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Content Placeholder 2"/>
          <p:cNvSpPr>
            <a:spLocks noGrp="1"/>
          </p:cNvSpPr>
          <p:nvPr>
            <p:ph idx="1"/>
          </p:nvPr>
        </p:nvSpPr>
        <p:spPr>
          <a:xfrm>
            <a:off x="658813" y="2286000"/>
            <a:ext cx="7824787" cy="3840163"/>
          </a:xfrm>
        </p:spPr>
        <p:txBody>
          <a:bodyPr/>
          <a:lstStyle/>
          <a:p>
            <a:r>
              <a:rPr lang="en-US" dirty="0" err="1" smtClean="0"/>
              <a:t>QTc</a:t>
            </a:r>
            <a:r>
              <a:rPr lang="en-US" dirty="0" smtClean="0"/>
              <a:t> Prolongation</a:t>
            </a:r>
          </a:p>
          <a:p>
            <a:r>
              <a:rPr lang="en-US" dirty="0" smtClean="0"/>
              <a:t>Drug Interactions</a:t>
            </a:r>
          </a:p>
          <a:p>
            <a:r>
              <a:rPr lang="en-US" dirty="0" smtClean="0"/>
              <a:t>Long and variable half life (15-60 hours) Can be as high as 120 hours</a:t>
            </a:r>
          </a:p>
          <a:p>
            <a:r>
              <a:rPr lang="en-US" dirty="0" smtClean="0"/>
              <a:t>Possible persistence of metabolites after period of analgesia has worn off </a:t>
            </a:r>
          </a:p>
        </p:txBody>
      </p:sp>
      <p:sp>
        <p:nvSpPr>
          <p:cNvPr id="2" name="Title 1"/>
          <p:cNvSpPr>
            <a:spLocks noGrp="1"/>
          </p:cNvSpPr>
          <p:nvPr>
            <p:ph type="title"/>
          </p:nvPr>
        </p:nvSpPr>
        <p:spPr>
          <a:xfrm>
            <a:off x="291166" y="456252"/>
            <a:ext cx="7824788" cy="1323041"/>
          </a:xfrm>
        </p:spPr>
        <p:txBody>
          <a:bodyPr/>
          <a:lstStyle/>
          <a:p>
            <a:pPr algn="ctr">
              <a:defRPr/>
            </a:pPr>
            <a:r>
              <a:rPr lang="en-US" dirty="0" smtClean="0">
                <a:solidFill>
                  <a:schemeClr val="accent1">
                    <a:lumMod val="60000"/>
                    <a:lumOff val="40000"/>
                  </a:schemeClr>
                </a:solidFill>
              </a:rPr>
              <a:t>Methadone Risks</a:t>
            </a:r>
            <a:endParaRPr lang="en-US" dirty="0">
              <a:solidFill>
                <a:schemeClr val="accent1">
                  <a:lumMod val="60000"/>
                  <a:lumOff val="40000"/>
                </a:schemeClr>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lumMod val="60000"/>
                    <a:lumOff val="40000"/>
                  </a:schemeClr>
                </a:solidFill>
              </a:rPr>
              <a:t>Standards of Practice</a:t>
            </a:r>
            <a:endParaRPr lang="en-US" dirty="0">
              <a:solidFill>
                <a:schemeClr val="accent1">
                  <a:lumMod val="60000"/>
                  <a:lumOff val="40000"/>
                </a:schemeClr>
              </a:solidFill>
            </a:endParaRPr>
          </a:p>
        </p:txBody>
      </p:sp>
      <p:sp>
        <p:nvSpPr>
          <p:cNvPr id="3" name="Content Placeholder 2"/>
          <p:cNvSpPr>
            <a:spLocks noGrp="1"/>
          </p:cNvSpPr>
          <p:nvPr>
            <p:ph idx="1"/>
          </p:nvPr>
        </p:nvSpPr>
        <p:spPr>
          <a:xfrm>
            <a:off x="354835" y="2286000"/>
            <a:ext cx="8128765" cy="3840163"/>
          </a:xfrm>
        </p:spPr>
        <p:txBody>
          <a:bodyPr>
            <a:normAutofit/>
          </a:bodyPr>
          <a:lstStyle/>
          <a:p>
            <a:r>
              <a:rPr lang="en-US" dirty="0" smtClean="0"/>
              <a:t>A complete medical history and a physical examination should be conducted before beginning any treatment and must be documented in the medical record.</a:t>
            </a:r>
          </a:p>
          <a:p>
            <a:r>
              <a:rPr lang="en-US" dirty="0" smtClean="0"/>
              <a:t> The medical record should document the nature and intensity of the pain, current and past treatments for pain, underlying or coexisting diseases or conditions, the effect of the pain on physical and psychological function, a review of previous medical records, previous diagnostic studies, and history of alcohol and substance abuse. </a:t>
            </a:r>
          </a:p>
        </p:txBody>
      </p:sp>
      <p:sp>
        <p:nvSpPr>
          <p:cNvPr id="4" name="Footer Placeholder 3"/>
          <p:cNvSpPr>
            <a:spLocks noGrp="1"/>
          </p:cNvSpPr>
          <p:nvPr>
            <p:ph type="ftr" sz="quarter" idx="11"/>
          </p:nvPr>
        </p:nvSpPr>
        <p:spPr/>
        <p:txBody>
          <a:bodyPr/>
          <a:lstStyle/>
          <a:p>
            <a:r>
              <a:rPr lang="en-US" smtClean="0"/>
              <a:t>VA DoD Guidelines, APS, FL Law</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lumMod val="60000"/>
                    <a:lumOff val="40000"/>
                  </a:schemeClr>
                </a:solidFill>
              </a:rPr>
              <a:t>Standards of Practice</a:t>
            </a:r>
            <a:endParaRPr lang="en-US" dirty="0">
              <a:solidFill>
                <a:schemeClr val="accent1">
                  <a:lumMod val="60000"/>
                  <a:lumOff val="40000"/>
                </a:schemeClr>
              </a:solidFill>
            </a:endParaRPr>
          </a:p>
        </p:txBody>
      </p:sp>
      <p:sp>
        <p:nvSpPr>
          <p:cNvPr id="3" name="Content Placeholder 2"/>
          <p:cNvSpPr>
            <a:spLocks noGrp="1"/>
          </p:cNvSpPr>
          <p:nvPr>
            <p:ph idx="1"/>
          </p:nvPr>
        </p:nvSpPr>
        <p:spPr>
          <a:xfrm>
            <a:off x="658813" y="2286000"/>
            <a:ext cx="7824787" cy="3840163"/>
          </a:xfrm>
        </p:spPr>
        <p:txBody>
          <a:bodyPr/>
          <a:lstStyle/>
          <a:p>
            <a:r>
              <a:rPr lang="en-US" dirty="0" smtClean="0"/>
              <a:t> The medical record should also document the presence of one or more recognized medical indications for the use of a controlled substance. </a:t>
            </a:r>
          </a:p>
          <a:p>
            <a:r>
              <a:rPr lang="en-US" dirty="0" smtClean="0"/>
              <a:t>Each provider should develop a written plan for assessing each patient’s risk of aberrant drug-related behavior, which may include patient drug testing. </a:t>
            </a:r>
          </a:p>
          <a:p>
            <a:r>
              <a:rPr lang="en-US" dirty="0" smtClean="0"/>
              <a:t>Each provider should assess each patient’s risk for aberrant drug-related behavior and monitor that risk on an ongoing basis in accordance with the plan.</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lumMod val="60000"/>
                    <a:lumOff val="40000"/>
                  </a:schemeClr>
                </a:solidFill>
              </a:rPr>
              <a:t>Standards of Practice</a:t>
            </a:r>
            <a:endParaRPr lang="en-US" dirty="0">
              <a:solidFill>
                <a:schemeClr val="accent1">
                  <a:lumMod val="60000"/>
                  <a:lumOff val="40000"/>
                </a:schemeClr>
              </a:solidFill>
            </a:endParaRPr>
          </a:p>
        </p:txBody>
      </p:sp>
      <p:sp>
        <p:nvSpPr>
          <p:cNvPr id="3" name="Content Placeholder 2"/>
          <p:cNvSpPr>
            <a:spLocks noGrp="1"/>
          </p:cNvSpPr>
          <p:nvPr>
            <p:ph idx="1"/>
          </p:nvPr>
        </p:nvSpPr>
        <p:spPr>
          <a:xfrm>
            <a:off x="354835" y="2286000"/>
            <a:ext cx="8128765" cy="3840163"/>
          </a:xfrm>
        </p:spPr>
        <p:txBody>
          <a:bodyPr>
            <a:normAutofit/>
          </a:bodyPr>
          <a:lstStyle/>
          <a:p>
            <a:r>
              <a:rPr lang="en-US" dirty="0" smtClean="0"/>
              <a:t>Each provider should develop an individualized treatment plan for each patient.</a:t>
            </a:r>
          </a:p>
          <a:p>
            <a:r>
              <a:rPr lang="en-US" dirty="0" smtClean="0"/>
              <a:t> The treatment plan should  state objectives that will be used to determine treatment success, such as pain relief and improved physical and psychosocial function, and should indicate if any further diagnostic evaluations or other treatments are planned.</a:t>
            </a:r>
          </a:p>
          <a:p>
            <a:r>
              <a:rPr lang="en-US" dirty="0" smtClean="0"/>
              <a:t>After treatment begins, the physician should adjust drug therapy to the individual medical needs of each patient. </a:t>
            </a:r>
          </a:p>
          <a:p>
            <a:pPr>
              <a:buNone/>
            </a:pPr>
            <a:r>
              <a:rPr lang="en-US" dirty="0" smtClean="0"/>
              <a:t>.</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6394" y="456252"/>
            <a:ext cx="10109994" cy="1323041"/>
          </a:xfrm>
        </p:spPr>
        <p:txBody>
          <a:bodyPr/>
          <a:lstStyle/>
          <a:p>
            <a:r>
              <a:rPr lang="en-US" dirty="0" smtClean="0">
                <a:solidFill>
                  <a:schemeClr val="accent1">
                    <a:lumMod val="60000"/>
                    <a:lumOff val="40000"/>
                  </a:schemeClr>
                </a:solidFill>
              </a:rPr>
              <a:t>Standards of Practice</a:t>
            </a:r>
            <a:endParaRPr lang="en-US" dirty="0">
              <a:solidFill>
                <a:schemeClr val="accent1">
                  <a:lumMod val="60000"/>
                  <a:lumOff val="40000"/>
                </a:schemeClr>
              </a:solidFill>
            </a:endParaRPr>
          </a:p>
        </p:txBody>
      </p:sp>
      <p:sp>
        <p:nvSpPr>
          <p:cNvPr id="3" name="Content Placeholder 2"/>
          <p:cNvSpPr>
            <a:spLocks noGrp="1"/>
          </p:cNvSpPr>
          <p:nvPr>
            <p:ph idx="1"/>
          </p:nvPr>
        </p:nvSpPr>
        <p:spPr>
          <a:xfrm>
            <a:off x="466888" y="2286000"/>
            <a:ext cx="8016712" cy="3840163"/>
          </a:xfrm>
        </p:spPr>
        <p:txBody>
          <a:bodyPr>
            <a:normAutofit lnSpcReduction="10000"/>
          </a:bodyPr>
          <a:lstStyle/>
          <a:p>
            <a:r>
              <a:rPr lang="en-US" dirty="0" smtClean="0"/>
              <a:t>Other treatment modalities, including a rehabilitation program, should be considered depending on the etiology of the pain and the extent to which the pain is associated with physical and psychosocial impairment. </a:t>
            </a:r>
          </a:p>
          <a:p>
            <a:r>
              <a:rPr lang="en-US" dirty="0" smtClean="0"/>
              <a:t>The interdisciplinary nature of the treatment plan should be documented</a:t>
            </a:r>
          </a:p>
          <a:p>
            <a:r>
              <a:rPr lang="en-US" dirty="0" smtClean="0"/>
              <a:t>The physician should discuss the risks and benefits of the use of controlled substances, including the risks of abuse and addiction, as well as physical dependence and its consequences, with the patient, persons designated by the patient, or the patient’s surrogate or guardian if the patient is incompetent. </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lumMod val="60000"/>
                    <a:lumOff val="40000"/>
                  </a:schemeClr>
                </a:solidFill>
              </a:rPr>
              <a:t>Standards of Practice</a:t>
            </a:r>
            <a:endParaRPr lang="en-US" dirty="0">
              <a:solidFill>
                <a:schemeClr val="accent1">
                  <a:lumMod val="60000"/>
                  <a:lumOff val="40000"/>
                </a:schemeClr>
              </a:solidFill>
            </a:endParaRPr>
          </a:p>
        </p:txBody>
      </p:sp>
      <p:sp>
        <p:nvSpPr>
          <p:cNvPr id="3" name="Content Placeholder 2"/>
          <p:cNvSpPr>
            <a:spLocks noGrp="1"/>
          </p:cNvSpPr>
          <p:nvPr>
            <p:ph idx="1"/>
          </p:nvPr>
        </p:nvSpPr>
        <p:spPr>
          <a:xfrm>
            <a:off x="373510" y="2286000"/>
            <a:ext cx="8110090" cy="3840163"/>
          </a:xfrm>
        </p:spPr>
        <p:txBody>
          <a:bodyPr>
            <a:normAutofit/>
          </a:bodyPr>
          <a:lstStyle/>
          <a:p>
            <a:r>
              <a:rPr lang="en-US" dirty="0" smtClean="0"/>
              <a:t>The physician should use a written controlled substance agreement between the physician and the patient outlining the patient’s responsibilities, including, but not limited to:</a:t>
            </a:r>
          </a:p>
          <a:p>
            <a:pPr lvl="1"/>
            <a:r>
              <a:rPr lang="en-US" dirty="0" smtClean="0"/>
              <a:t>1. Number and frequency of controlled substance prescriptions and refills.</a:t>
            </a:r>
          </a:p>
          <a:p>
            <a:pPr lvl="1"/>
            <a:r>
              <a:rPr lang="en-US" dirty="0" smtClean="0"/>
              <a:t>2. Patient compliance and reasons for which drug therapy may be discontinued, such as a violation of the agreement.</a:t>
            </a:r>
          </a:p>
          <a:p>
            <a:pPr lvl="1"/>
            <a:r>
              <a:rPr lang="en-US" dirty="0" smtClean="0"/>
              <a:t>3.An agreement that controlled substances for the treatment of chronic nonmalignant pain shall be prescribed by a single treating physician unless otherwise authorized by the treating physician and documented in the medical record.</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lumMod val="60000"/>
                    <a:lumOff val="40000"/>
                  </a:schemeClr>
                </a:solidFill>
              </a:rPr>
              <a:t>Standards of Practice</a:t>
            </a:r>
            <a:endParaRPr lang="en-US" dirty="0">
              <a:solidFill>
                <a:schemeClr val="accent1">
                  <a:lumMod val="60000"/>
                  <a:lumOff val="40000"/>
                </a:schemeClr>
              </a:solidFill>
            </a:endParaRPr>
          </a:p>
        </p:txBody>
      </p:sp>
      <p:sp>
        <p:nvSpPr>
          <p:cNvPr id="3" name="Content Placeholder 2"/>
          <p:cNvSpPr>
            <a:spLocks noGrp="1"/>
          </p:cNvSpPr>
          <p:nvPr>
            <p:ph idx="1"/>
          </p:nvPr>
        </p:nvSpPr>
        <p:spPr>
          <a:xfrm>
            <a:off x="658813" y="2286000"/>
            <a:ext cx="7824787" cy="3840163"/>
          </a:xfrm>
        </p:spPr>
        <p:txBody>
          <a:bodyPr>
            <a:normAutofit fontScale="92500" lnSpcReduction="20000"/>
          </a:bodyPr>
          <a:lstStyle/>
          <a:p>
            <a:r>
              <a:rPr lang="en-US" dirty="0" smtClean="0"/>
              <a:t>The patient should be seen by the physician at regular intervals to assess the efficacy of treatment, ensure that controlled substance therapy remains indicated, evaluate the patient’s progress toward treatment objectives, consider adverse drug effects, and review the etiology of the pain. </a:t>
            </a:r>
          </a:p>
          <a:p>
            <a:r>
              <a:rPr lang="en-US" dirty="0" smtClean="0"/>
              <a:t>Continuation or modification of therapy should depend on the physician’s evaluation of the patient’s progress.</a:t>
            </a:r>
          </a:p>
          <a:p>
            <a:r>
              <a:rPr lang="en-US" dirty="0" smtClean="0"/>
              <a:t> If treatment goals are not being achieved, despite medication adjustments, the physician should reevaluate the appropriateness of continued treatment. </a:t>
            </a:r>
          </a:p>
          <a:p>
            <a:r>
              <a:rPr lang="en-US" dirty="0" smtClean="0"/>
              <a:t>The physician should monitor patient compliance in medication usage, related treatment plans, controlled substance agreements, and indications of substance abuse or diversion.</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lumMod val="60000"/>
                    <a:lumOff val="40000"/>
                  </a:schemeClr>
                </a:solidFill>
              </a:rPr>
              <a:t>Standards of Practice</a:t>
            </a:r>
            <a:endParaRPr lang="en-US" dirty="0">
              <a:solidFill>
                <a:schemeClr val="accent1">
                  <a:lumMod val="60000"/>
                  <a:lumOff val="40000"/>
                </a:schemeClr>
              </a:solidFill>
            </a:endParaRPr>
          </a:p>
        </p:txBody>
      </p:sp>
      <p:sp>
        <p:nvSpPr>
          <p:cNvPr id="3" name="Content Placeholder 2"/>
          <p:cNvSpPr>
            <a:spLocks noGrp="1"/>
          </p:cNvSpPr>
          <p:nvPr>
            <p:ph idx="1"/>
          </p:nvPr>
        </p:nvSpPr>
        <p:spPr>
          <a:xfrm>
            <a:off x="658813" y="2286000"/>
            <a:ext cx="7824787" cy="3840163"/>
          </a:xfrm>
        </p:spPr>
        <p:txBody>
          <a:bodyPr>
            <a:normAutofit/>
          </a:bodyPr>
          <a:lstStyle/>
          <a:p>
            <a:r>
              <a:rPr lang="en-US" dirty="0" smtClean="0"/>
              <a:t>The physician shall refer the patient as necessary for additional evaluation and treatment in order to achieve treatment objectives. </a:t>
            </a:r>
          </a:p>
          <a:p>
            <a:r>
              <a:rPr lang="en-US" dirty="0" smtClean="0"/>
              <a:t>Special attention shall be given to those patients who are at risk for misusing their medications and those whose living arrangements pose a risk for medication misuse or diversion. </a:t>
            </a:r>
          </a:p>
          <a:p>
            <a:r>
              <a:rPr lang="en-US" dirty="0" smtClean="0"/>
              <a:t>The management of pain in patients with a history of substance abuse or with a </a:t>
            </a:r>
            <a:r>
              <a:rPr lang="en-US" dirty="0" err="1" smtClean="0"/>
              <a:t>comorbid</a:t>
            </a:r>
            <a:r>
              <a:rPr lang="en-US" dirty="0" smtClean="0"/>
              <a:t> psychiatric disorder requires extra care, monitoring, and documentation and requires consultation with or referral to an </a:t>
            </a:r>
            <a:r>
              <a:rPr lang="en-US" dirty="0" err="1" smtClean="0"/>
              <a:t>addictionologist</a:t>
            </a:r>
            <a:r>
              <a:rPr lang="en-US" dirty="0" smtClean="0"/>
              <a:t> or psychiatrist.</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smtClean="0">
                <a:solidFill>
                  <a:srgbClr val="FF0000"/>
                </a:solidFill>
              </a:rPr>
              <a:t>Opiate Induced </a:t>
            </a:r>
            <a:r>
              <a:rPr lang="en-US" dirty="0" err="1" smtClean="0">
                <a:solidFill>
                  <a:srgbClr val="FF0000"/>
                </a:solidFill>
              </a:rPr>
              <a:t>Hyperalgesia</a:t>
            </a:r>
            <a:endParaRPr lang="en-US" dirty="0">
              <a:solidFill>
                <a:srgbClr val="FF0000"/>
              </a:solidFill>
            </a:endParaRPr>
          </a:p>
        </p:txBody>
      </p:sp>
      <p:sp>
        <p:nvSpPr>
          <p:cNvPr id="4" name="Content Placeholder 3"/>
          <p:cNvSpPr>
            <a:spLocks noGrp="1"/>
          </p:cNvSpPr>
          <p:nvPr>
            <p:ph idx="1"/>
          </p:nvPr>
        </p:nvSpPr>
        <p:spPr>
          <a:xfrm>
            <a:off x="658813" y="2286000"/>
            <a:ext cx="7824787" cy="3840163"/>
          </a:xfrm>
        </p:spPr>
        <p:txBody>
          <a:bodyPr/>
          <a:lstStyle/>
          <a:p>
            <a:r>
              <a:rPr lang="en-US" dirty="0" smtClean="0"/>
              <a:t>Long-term use of </a:t>
            </a:r>
            <a:r>
              <a:rPr lang="en-US" dirty="0" err="1" smtClean="0"/>
              <a:t>opioids</a:t>
            </a:r>
            <a:r>
              <a:rPr lang="en-US" dirty="0" smtClean="0"/>
              <a:t> may also be associated with the development of abnormal sensitivity to pain, and both preclinical and clinical studies suggest that </a:t>
            </a:r>
            <a:r>
              <a:rPr lang="en-US" dirty="0" err="1" smtClean="0"/>
              <a:t>opioid</a:t>
            </a:r>
            <a:r>
              <a:rPr lang="en-US" dirty="0" smtClean="0"/>
              <a:t>-induced abnormal pain sensitivity has much in common with the cellular mechanisms of neuropathic pain.</a:t>
            </a:r>
          </a:p>
          <a:p>
            <a:r>
              <a:rPr lang="en-US" dirty="0" err="1" smtClean="0"/>
              <a:t>Opioid</a:t>
            </a:r>
            <a:r>
              <a:rPr lang="en-US" dirty="0" smtClean="0"/>
              <a:t> induced abnormal pain sensitivity has been observed in patients treated for both pain and addiction.</a:t>
            </a:r>
            <a:endParaRPr lang="en-US" dirty="0"/>
          </a:p>
        </p:txBody>
      </p:sp>
      <p:sp>
        <p:nvSpPr>
          <p:cNvPr id="5" name="Footer Placeholder 4"/>
          <p:cNvSpPr>
            <a:spLocks noGrp="1"/>
          </p:cNvSpPr>
          <p:nvPr>
            <p:ph type="ftr" sz="quarter" idx="11"/>
          </p:nvPr>
        </p:nvSpPr>
        <p:spPr/>
        <p:txBody>
          <a:bodyPr/>
          <a:lstStyle/>
          <a:p>
            <a:r>
              <a:rPr lang="en-US" dirty="0" smtClean="0"/>
              <a:t>n </a:t>
            </a:r>
            <a:r>
              <a:rPr lang="en-US" dirty="0" err="1" smtClean="0"/>
              <a:t>engl</a:t>
            </a:r>
            <a:r>
              <a:rPr lang="en-US" dirty="0" smtClean="0"/>
              <a:t> j med 349;20 www.nejm.org </a:t>
            </a:r>
            <a:r>
              <a:rPr lang="en-US" dirty="0" err="1" smtClean="0"/>
              <a:t>november</a:t>
            </a:r>
            <a:r>
              <a:rPr lang="en-US" dirty="0" smtClean="0"/>
              <a:t> 13, 2003</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solidFill>
                  <a:schemeClr val="accent1">
                    <a:lumMod val="60000"/>
                    <a:lumOff val="40000"/>
                  </a:schemeClr>
                </a:solidFill>
              </a:rPr>
              <a:t>Opioid</a:t>
            </a:r>
            <a:r>
              <a:rPr lang="en-US" dirty="0" smtClean="0">
                <a:solidFill>
                  <a:schemeClr val="accent1">
                    <a:lumMod val="60000"/>
                    <a:lumOff val="40000"/>
                  </a:schemeClr>
                </a:solidFill>
              </a:rPr>
              <a:t> Contraindications</a:t>
            </a:r>
            <a:endParaRPr lang="en-US" dirty="0">
              <a:solidFill>
                <a:schemeClr val="accent1">
                  <a:lumMod val="60000"/>
                  <a:lumOff val="40000"/>
                </a:schemeClr>
              </a:solidFill>
            </a:endParaRPr>
          </a:p>
        </p:txBody>
      </p:sp>
      <p:sp>
        <p:nvSpPr>
          <p:cNvPr id="3" name="Content Placeholder 2"/>
          <p:cNvSpPr>
            <a:spLocks noGrp="1"/>
          </p:cNvSpPr>
          <p:nvPr>
            <p:ph idx="1"/>
          </p:nvPr>
        </p:nvSpPr>
        <p:spPr>
          <a:xfrm>
            <a:off x="464654" y="2286000"/>
            <a:ext cx="8018946" cy="3840163"/>
          </a:xfrm>
        </p:spPr>
        <p:txBody>
          <a:bodyPr>
            <a:normAutofit fontScale="92500" lnSpcReduction="10000"/>
          </a:bodyPr>
          <a:lstStyle/>
          <a:p>
            <a:pPr lvl="0"/>
            <a:r>
              <a:rPr lang="en-US" dirty="0" smtClean="0"/>
              <a:t>Severe respiratory instability</a:t>
            </a:r>
            <a:endParaRPr lang="en-US" b="1" dirty="0" smtClean="0"/>
          </a:p>
          <a:p>
            <a:pPr lvl="0"/>
            <a:r>
              <a:rPr lang="en-US" dirty="0" smtClean="0"/>
              <a:t>Acute psychiatric instability or uncontrolled suicide risk</a:t>
            </a:r>
            <a:endParaRPr lang="en-US" b="1" dirty="0" smtClean="0"/>
          </a:p>
          <a:p>
            <a:pPr lvl="0"/>
            <a:r>
              <a:rPr lang="en-US" dirty="0" smtClean="0"/>
              <a:t>Diagnosed substance use disorder not in remission or under treatment</a:t>
            </a:r>
            <a:endParaRPr lang="en-US" b="1" dirty="0" smtClean="0"/>
          </a:p>
          <a:p>
            <a:pPr lvl="0"/>
            <a:r>
              <a:rPr lang="en-US" dirty="0" smtClean="0"/>
              <a:t>True allergy to </a:t>
            </a:r>
            <a:r>
              <a:rPr lang="en-US" dirty="0" err="1" smtClean="0"/>
              <a:t>opioids</a:t>
            </a:r>
            <a:endParaRPr lang="en-US" b="1" dirty="0" smtClean="0"/>
          </a:p>
          <a:p>
            <a:pPr lvl="0"/>
            <a:r>
              <a:rPr lang="en-US" dirty="0" smtClean="0"/>
              <a:t>Prior trials of specific </a:t>
            </a:r>
            <a:r>
              <a:rPr lang="en-US" dirty="0" err="1" smtClean="0"/>
              <a:t>opioids</a:t>
            </a:r>
            <a:r>
              <a:rPr lang="en-US" dirty="0" smtClean="0"/>
              <a:t> discontinued due to serious adverse effects.</a:t>
            </a:r>
            <a:endParaRPr lang="en-US" b="1" dirty="0" smtClean="0"/>
          </a:p>
          <a:p>
            <a:pPr lvl="0"/>
            <a:r>
              <a:rPr lang="en-US" dirty="0" smtClean="0"/>
              <a:t>Potentially lethal drug-drug interaction</a:t>
            </a:r>
            <a:endParaRPr lang="en-US" b="1" dirty="0" smtClean="0"/>
          </a:p>
          <a:p>
            <a:pPr lvl="0"/>
            <a:r>
              <a:rPr lang="en-US" dirty="0" smtClean="0"/>
              <a:t>(methadone only) </a:t>
            </a:r>
            <a:r>
              <a:rPr lang="en-US" dirty="0" err="1" smtClean="0"/>
              <a:t>QTc</a:t>
            </a:r>
            <a:r>
              <a:rPr lang="en-US" dirty="0" smtClean="0"/>
              <a:t> interval  &gt; 500 milliseconds</a:t>
            </a:r>
            <a:endParaRPr lang="en-US" b="1" dirty="0" smtClean="0"/>
          </a:p>
          <a:p>
            <a:pPr lvl="0"/>
            <a:r>
              <a:rPr lang="en-US" dirty="0" smtClean="0"/>
              <a:t>Active diversion of controlled substances</a:t>
            </a:r>
            <a:endParaRPr lang="en-US" b="1" dirty="0" smtClean="0"/>
          </a:p>
          <a:p>
            <a:endParaRPr lang="en-US" b="1" dirty="0" smtClean="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dirty="0" smtClean="0">
                <a:solidFill>
                  <a:schemeClr val="accent1">
                    <a:lumMod val="60000"/>
                    <a:lumOff val="40000"/>
                  </a:schemeClr>
                </a:solidFill>
              </a:rPr>
              <a:t>Patients Who Will Weed Extra Monitoring if </a:t>
            </a:r>
            <a:r>
              <a:rPr lang="en-US" sz="3600" dirty="0" err="1" smtClean="0">
                <a:solidFill>
                  <a:schemeClr val="accent1">
                    <a:lumMod val="60000"/>
                    <a:lumOff val="40000"/>
                  </a:schemeClr>
                </a:solidFill>
              </a:rPr>
              <a:t>Opioids</a:t>
            </a:r>
            <a:r>
              <a:rPr lang="en-US" sz="3600" dirty="0" smtClean="0">
                <a:solidFill>
                  <a:schemeClr val="accent1">
                    <a:lumMod val="60000"/>
                    <a:lumOff val="40000"/>
                  </a:schemeClr>
                </a:solidFill>
              </a:rPr>
              <a:t> are Prescribed</a:t>
            </a:r>
            <a:endParaRPr lang="en-US" sz="3600" dirty="0">
              <a:solidFill>
                <a:schemeClr val="accent1">
                  <a:lumMod val="60000"/>
                  <a:lumOff val="40000"/>
                </a:schemeClr>
              </a:solidFill>
            </a:endParaRPr>
          </a:p>
        </p:txBody>
      </p:sp>
      <p:sp>
        <p:nvSpPr>
          <p:cNvPr id="3" name="Content Placeholder 2"/>
          <p:cNvSpPr>
            <a:spLocks noGrp="1"/>
          </p:cNvSpPr>
          <p:nvPr>
            <p:ph idx="1"/>
          </p:nvPr>
        </p:nvSpPr>
        <p:spPr>
          <a:xfrm>
            <a:off x="402700" y="2286000"/>
            <a:ext cx="8080900" cy="3840163"/>
          </a:xfrm>
        </p:spPr>
        <p:txBody>
          <a:bodyPr>
            <a:normAutofit/>
          </a:bodyPr>
          <a:lstStyle/>
          <a:p>
            <a:r>
              <a:rPr lang="en-US" i="1" dirty="0" smtClean="0"/>
              <a:t>Psychosocial factors</a:t>
            </a:r>
            <a:endParaRPr lang="en-US" b="1" dirty="0" smtClean="0"/>
          </a:p>
          <a:p>
            <a:pPr lvl="1"/>
            <a:r>
              <a:rPr lang="en-US" dirty="0" smtClean="0"/>
              <a:t>Unstable psychiatric disorder or suicide risk</a:t>
            </a:r>
            <a:endParaRPr lang="en-US" b="1" dirty="0" smtClean="0"/>
          </a:p>
          <a:p>
            <a:pPr lvl="1"/>
            <a:r>
              <a:rPr lang="en-US" dirty="0" smtClean="0"/>
              <a:t>Significant personality disorder</a:t>
            </a:r>
            <a:endParaRPr lang="en-US" b="1" dirty="0" smtClean="0"/>
          </a:p>
          <a:p>
            <a:pPr lvl="1"/>
            <a:r>
              <a:rPr lang="en-US" dirty="0" smtClean="0"/>
              <a:t>Social instability or other factor that may interfere with </a:t>
            </a:r>
            <a:r>
              <a:rPr lang="en-US" dirty="0" err="1" smtClean="0"/>
              <a:t>opioid</a:t>
            </a:r>
            <a:r>
              <a:rPr lang="en-US" dirty="0" smtClean="0"/>
              <a:t> adherence</a:t>
            </a:r>
            <a:endParaRPr lang="en-US" b="1" dirty="0" smtClean="0"/>
          </a:p>
          <a:p>
            <a:pPr lvl="1"/>
            <a:r>
              <a:rPr lang="en-US" dirty="0" smtClean="0"/>
              <a:t>Suspected cognitive impairment that might interfere with safe use of medications</a:t>
            </a:r>
            <a:endParaRPr lang="en-US" b="1" dirty="0" smtClean="0"/>
          </a:p>
          <a:p>
            <a:pPr lvl="1"/>
            <a:r>
              <a:rPr lang="en-US" dirty="0" smtClean="0"/>
              <a:t>Unwillingness to adjust at-risk activities resulting in serious re-injury</a:t>
            </a:r>
            <a:endParaRPr lang="en-US" b="1" dirty="0" smtClean="0"/>
          </a:p>
          <a:p>
            <a:pPr>
              <a:buNone/>
            </a:pP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smtClean="0">
                <a:solidFill>
                  <a:schemeClr val="accent1">
                    <a:lumMod val="60000"/>
                    <a:lumOff val="40000"/>
                  </a:schemeClr>
                </a:solidFill>
              </a:rPr>
              <a:t>Patients Who Will Need Extra Monitoring if </a:t>
            </a:r>
            <a:r>
              <a:rPr lang="en-US" sz="3200" dirty="0" err="1" smtClean="0">
                <a:solidFill>
                  <a:schemeClr val="accent1">
                    <a:lumMod val="60000"/>
                    <a:lumOff val="40000"/>
                  </a:schemeClr>
                </a:solidFill>
              </a:rPr>
              <a:t>Opioids</a:t>
            </a:r>
            <a:r>
              <a:rPr lang="en-US" sz="3200" dirty="0" smtClean="0">
                <a:solidFill>
                  <a:schemeClr val="accent1">
                    <a:lumMod val="60000"/>
                    <a:lumOff val="40000"/>
                  </a:schemeClr>
                </a:solidFill>
              </a:rPr>
              <a:t> are Prescribed</a:t>
            </a:r>
            <a:endParaRPr lang="en-US" sz="3200" dirty="0"/>
          </a:p>
        </p:txBody>
      </p:sp>
      <p:sp>
        <p:nvSpPr>
          <p:cNvPr id="3" name="Content Placeholder 2"/>
          <p:cNvSpPr>
            <a:spLocks noGrp="1"/>
          </p:cNvSpPr>
          <p:nvPr>
            <p:ph idx="1"/>
          </p:nvPr>
        </p:nvSpPr>
        <p:spPr>
          <a:xfrm>
            <a:off x="294281" y="2286000"/>
            <a:ext cx="8189319" cy="3840163"/>
          </a:xfrm>
        </p:spPr>
        <p:txBody>
          <a:bodyPr/>
          <a:lstStyle/>
          <a:p>
            <a:r>
              <a:rPr lang="en-US" i="1" dirty="0" smtClean="0"/>
              <a:t>Drug and medication use history</a:t>
            </a:r>
            <a:endParaRPr lang="en-US" b="1" dirty="0" smtClean="0"/>
          </a:p>
          <a:p>
            <a:pPr lvl="1"/>
            <a:r>
              <a:rPr lang="en-US" dirty="0" smtClean="0"/>
              <a:t>History of medication mismanagement or </a:t>
            </a:r>
            <a:r>
              <a:rPr lang="en-US" dirty="0" err="1" smtClean="0"/>
              <a:t>nonadherence</a:t>
            </a:r>
            <a:endParaRPr lang="en-US" b="1" dirty="0" smtClean="0"/>
          </a:p>
          <a:p>
            <a:pPr lvl="1"/>
            <a:r>
              <a:rPr lang="en-US" dirty="0" smtClean="0"/>
              <a:t>Evidence of recent illicit substance use, e.g., positive urine screen</a:t>
            </a:r>
          </a:p>
          <a:p>
            <a:pPr lvl="1"/>
            <a:r>
              <a:rPr lang="en-US" dirty="0" smtClean="0"/>
              <a:t>Substance abuse/dependence history or current substance use disorder under treatment</a:t>
            </a:r>
          </a:p>
          <a:p>
            <a:pPr lvl="1"/>
            <a:r>
              <a:rPr lang="en-US" dirty="0" smtClean="0"/>
              <a:t>No benefit from well-crafted prior </a:t>
            </a:r>
            <a:r>
              <a:rPr lang="en-US" dirty="0" err="1" smtClean="0"/>
              <a:t>opioid</a:t>
            </a:r>
            <a:r>
              <a:rPr lang="en-US" dirty="0" smtClean="0"/>
              <a:t> trials for the same clinical problem </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smtClean="0">
                <a:solidFill>
                  <a:schemeClr val="accent1">
                    <a:lumMod val="60000"/>
                    <a:lumOff val="40000"/>
                  </a:schemeClr>
                </a:solidFill>
              </a:rPr>
              <a:t>Patients Who Will Need Extra Monitoring if </a:t>
            </a:r>
            <a:r>
              <a:rPr lang="en-US" sz="3200" dirty="0" err="1" smtClean="0">
                <a:solidFill>
                  <a:schemeClr val="accent1">
                    <a:lumMod val="60000"/>
                    <a:lumOff val="40000"/>
                  </a:schemeClr>
                </a:solidFill>
              </a:rPr>
              <a:t>Opioids</a:t>
            </a:r>
            <a:r>
              <a:rPr lang="en-US" sz="3200" dirty="0" smtClean="0">
                <a:solidFill>
                  <a:schemeClr val="accent1">
                    <a:lumMod val="60000"/>
                    <a:lumOff val="40000"/>
                  </a:schemeClr>
                </a:solidFill>
              </a:rPr>
              <a:t> are Prescribed</a:t>
            </a:r>
            <a:endParaRPr lang="en-US" sz="3200" dirty="0"/>
          </a:p>
        </p:txBody>
      </p:sp>
      <p:sp>
        <p:nvSpPr>
          <p:cNvPr id="3" name="Content Placeholder 2"/>
          <p:cNvSpPr>
            <a:spLocks noGrp="1"/>
          </p:cNvSpPr>
          <p:nvPr>
            <p:ph idx="1"/>
          </p:nvPr>
        </p:nvSpPr>
        <p:spPr>
          <a:xfrm>
            <a:off x="356235" y="2286000"/>
            <a:ext cx="8127365" cy="3840163"/>
          </a:xfrm>
        </p:spPr>
        <p:txBody>
          <a:bodyPr>
            <a:normAutofit/>
          </a:bodyPr>
          <a:lstStyle/>
          <a:p>
            <a:r>
              <a:rPr lang="en-US" i="1" dirty="0" smtClean="0"/>
              <a:t>Pertinent medical history</a:t>
            </a:r>
            <a:endParaRPr lang="en-US" dirty="0" smtClean="0"/>
          </a:p>
          <a:p>
            <a:pPr lvl="1"/>
            <a:r>
              <a:rPr lang="en-US" dirty="0" smtClean="0"/>
              <a:t>Unresolved headache not responsive to other modalities</a:t>
            </a:r>
          </a:p>
          <a:p>
            <a:pPr lvl="1"/>
            <a:r>
              <a:rPr lang="en-US" dirty="0" smtClean="0"/>
              <a:t>Untreated sleep apnea (suspected or verified)</a:t>
            </a:r>
          </a:p>
          <a:p>
            <a:pPr lvl="1"/>
            <a:r>
              <a:rPr lang="en-US" dirty="0" smtClean="0"/>
              <a:t>Chronic pulmonary disease</a:t>
            </a:r>
          </a:p>
          <a:p>
            <a:pPr lvl="1"/>
            <a:r>
              <a:rPr lang="en-US" dirty="0" smtClean="0"/>
              <a:t>Cardiac condition (</a:t>
            </a:r>
            <a:r>
              <a:rPr lang="en-US" dirty="0" err="1" smtClean="0"/>
              <a:t>QTc</a:t>
            </a:r>
            <a:r>
              <a:rPr lang="en-US" dirty="0" smtClean="0"/>
              <a:t> interval 450-500 milliseconds) that makes methadone a risk</a:t>
            </a:r>
          </a:p>
          <a:p>
            <a:pPr lvl="1"/>
            <a:r>
              <a:rPr lang="en-US" dirty="0" smtClean="0"/>
              <a:t>Intestinal motility disorder (constipation, IBS, </a:t>
            </a:r>
            <a:r>
              <a:rPr lang="en-US" dirty="0" err="1" smtClean="0"/>
              <a:t>hx</a:t>
            </a:r>
            <a:r>
              <a:rPr lang="en-US" dirty="0" smtClean="0"/>
              <a:t> bowel obstruction, paralytic </a:t>
            </a:r>
            <a:r>
              <a:rPr lang="en-US" dirty="0" err="1" smtClean="0"/>
              <a:t>ileus</a:t>
            </a:r>
            <a:r>
              <a:rPr lang="en-US" dirty="0" smtClean="0"/>
              <a:t>)</a:t>
            </a:r>
          </a:p>
          <a:p>
            <a:pPr lvl="1"/>
            <a:r>
              <a:rPr lang="en-US" dirty="0" smtClean="0"/>
              <a:t>Respiratory depression in unmonitored setting</a:t>
            </a:r>
          </a:p>
          <a:p>
            <a:pPr lvl="1"/>
            <a:r>
              <a:rPr lang="en-US" dirty="0" smtClean="0"/>
              <a:t>Hepatic or renal insufficiency </a:t>
            </a:r>
            <a:endParaRPr lang="en-US" b="1" dirty="0" smtClean="0"/>
          </a:p>
          <a:p>
            <a:pPr lvl="1"/>
            <a:r>
              <a:rPr lang="en-US" dirty="0" smtClean="0"/>
              <a:t>History of falls or gait instability</a:t>
            </a:r>
            <a:endParaRPr lang="en-US" b="1" dirty="0" smtClean="0"/>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p:cNvPicPr>
            <a:picLocks noChangeAspect="1" noChangeArrowheads="1"/>
          </p:cNvPicPr>
          <p:nvPr/>
        </p:nvPicPr>
        <p:blipFill>
          <a:blip r:embed="rId2"/>
          <a:srcRect/>
          <a:stretch>
            <a:fillRect/>
          </a:stretch>
        </p:blipFill>
        <p:spPr bwMode="auto">
          <a:xfrm>
            <a:off x="1447800" y="1219200"/>
            <a:ext cx="5791200" cy="5257800"/>
          </a:xfrm>
          <a:prstGeom prst="rect">
            <a:avLst/>
          </a:prstGeom>
          <a:noFill/>
          <a:ln w="9525">
            <a:noFill/>
            <a:miter lim="800000"/>
            <a:headEnd/>
            <a:tailEnd/>
          </a:ln>
        </p:spPr>
      </p:pic>
      <p:sp>
        <p:nvSpPr>
          <p:cNvPr id="78851" name="Footer Placeholder 2"/>
          <p:cNvSpPr>
            <a:spLocks noGrp="1"/>
          </p:cNvSpPr>
          <p:nvPr>
            <p:ph type="ftr" sz="quarter" idx="11"/>
          </p:nvPr>
        </p:nvSpPr>
        <p:spPr>
          <a:noFill/>
        </p:spPr>
        <p:txBody>
          <a:bodyPr/>
          <a:lstStyle/>
          <a:p>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FF0000"/>
                </a:solidFill>
              </a:rPr>
              <a:t>PACT</a:t>
            </a:r>
            <a:endParaRPr lang="en-US" dirty="0">
              <a:solidFill>
                <a:srgbClr val="FF0000"/>
              </a:solidFill>
            </a:endParaRPr>
          </a:p>
        </p:txBody>
      </p:sp>
      <p:sp>
        <p:nvSpPr>
          <p:cNvPr id="3" name="Content Placeholder 2"/>
          <p:cNvSpPr>
            <a:spLocks noGrp="1"/>
          </p:cNvSpPr>
          <p:nvPr>
            <p:ph sz="quarter" idx="1"/>
          </p:nvPr>
        </p:nvSpPr>
        <p:spPr/>
        <p:txBody>
          <a:bodyPr>
            <a:normAutofit fontScale="92500"/>
          </a:bodyPr>
          <a:lstStyle/>
          <a:p>
            <a:r>
              <a:rPr lang="en-US" sz="3600" dirty="0" smtClean="0">
                <a:solidFill>
                  <a:srgbClr val="FF0000"/>
                </a:solidFill>
              </a:rPr>
              <a:t>P</a:t>
            </a:r>
            <a:r>
              <a:rPr lang="en-US" sz="3600" dirty="0" smtClean="0"/>
              <a:t>utting it </a:t>
            </a:r>
          </a:p>
          <a:p>
            <a:r>
              <a:rPr lang="en-US" sz="3600" dirty="0" smtClean="0">
                <a:solidFill>
                  <a:srgbClr val="FF0000"/>
                </a:solidFill>
              </a:rPr>
              <a:t>A</a:t>
            </a:r>
            <a:r>
              <a:rPr lang="en-US" sz="3600" dirty="0" smtClean="0"/>
              <a:t>ll</a:t>
            </a:r>
          </a:p>
          <a:p>
            <a:r>
              <a:rPr lang="en-US" sz="3600" dirty="0" smtClean="0">
                <a:solidFill>
                  <a:srgbClr val="FF0000"/>
                </a:solidFill>
              </a:rPr>
              <a:t>C</a:t>
            </a:r>
            <a:r>
              <a:rPr lang="en-US" sz="3600" dirty="0" smtClean="0"/>
              <a:t>ooperatively , Collegially, Compassionately, Collectively, Comprehensively, Cordially </a:t>
            </a:r>
          </a:p>
          <a:p>
            <a:r>
              <a:rPr lang="en-US" sz="3600" dirty="0" smtClean="0">
                <a:solidFill>
                  <a:srgbClr val="FF0000"/>
                </a:solidFill>
              </a:rPr>
              <a:t>T</a:t>
            </a:r>
            <a:r>
              <a:rPr lang="en-US" sz="3600" dirty="0" smtClean="0"/>
              <a:t>ogether  </a:t>
            </a:r>
            <a:endParaRPr lang="en-US" sz="3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9537" y="2286000"/>
            <a:ext cx="8054063" cy="3840163"/>
          </a:xfrm>
        </p:spPr>
        <p:txBody>
          <a:bodyPr/>
          <a:lstStyle/>
          <a:p>
            <a:r>
              <a:rPr lang="en-US" dirty="0" smtClean="0"/>
              <a:t>Many providers can intervene for safer pain treatment</a:t>
            </a:r>
          </a:p>
          <a:p>
            <a:r>
              <a:rPr lang="en-US" dirty="0" smtClean="0"/>
              <a:t>The case manager, social, worker, psychologist, physician, mid level practitioner, RN, and pharmacist all contribute to make sure that appropriate patient education and monitoring of therapeutic changes occurs</a:t>
            </a:r>
            <a:endParaRPr lang="en-US" dirty="0"/>
          </a:p>
        </p:txBody>
      </p:sp>
      <p:sp>
        <p:nvSpPr>
          <p:cNvPr id="3" name="Title 2"/>
          <p:cNvSpPr>
            <a:spLocks noGrp="1"/>
          </p:cNvSpPr>
          <p:nvPr>
            <p:ph type="title"/>
          </p:nvPr>
        </p:nvSpPr>
        <p:spPr/>
        <p:txBody>
          <a:bodyPr>
            <a:normAutofit fontScale="90000"/>
          </a:bodyPr>
          <a:lstStyle/>
          <a:p>
            <a:pPr algn="ctr"/>
            <a:r>
              <a:rPr lang="en-US" dirty="0" smtClean="0">
                <a:solidFill>
                  <a:schemeClr val="accent1">
                    <a:lumMod val="60000"/>
                    <a:lumOff val="40000"/>
                  </a:schemeClr>
                </a:solidFill>
              </a:rPr>
              <a:t>PACT – New Options for Treatment</a:t>
            </a:r>
            <a:endParaRPr lang="en-US" dirty="0">
              <a:solidFill>
                <a:schemeClr val="accent1">
                  <a:lumMod val="60000"/>
                  <a:lumOff val="40000"/>
                </a:schemeClr>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accent1">
                    <a:lumMod val="60000"/>
                    <a:lumOff val="40000"/>
                  </a:schemeClr>
                </a:solidFill>
              </a:rPr>
              <a:t>Considerations for the  Present/Future</a:t>
            </a:r>
            <a:endParaRPr lang="en-US" dirty="0">
              <a:solidFill>
                <a:schemeClr val="accent1">
                  <a:lumMod val="60000"/>
                  <a:lumOff val="40000"/>
                </a:schemeClr>
              </a:solidFill>
            </a:endParaRPr>
          </a:p>
        </p:txBody>
      </p:sp>
      <p:sp>
        <p:nvSpPr>
          <p:cNvPr id="3" name="Content Placeholder 2"/>
          <p:cNvSpPr>
            <a:spLocks noGrp="1"/>
          </p:cNvSpPr>
          <p:nvPr>
            <p:ph idx="1"/>
          </p:nvPr>
        </p:nvSpPr>
        <p:spPr>
          <a:xfrm>
            <a:off x="429537" y="2286000"/>
            <a:ext cx="8054063" cy="3840163"/>
          </a:xfrm>
        </p:spPr>
        <p:txBody>
          <a:bodyPr>
            <a:normAutofit fontScale="92500" lnSpcReduction="20000"/>
          </a:bodyPr>
          <a:lstStyle/>
          <a:p>
            <a:r>
              <a:rPr lang="en-US" dirty="0" smtClean="0"/>
              <a:t>The creation of primary care based pain case management to aid with proper patient evaluation, documentation, patient education and titration of non opiate medication to minimize the use of opiates when not indicated or appropriate and to aid with adjuvant therapy when opiates are used. </a:t>
            </a:r>
          </a:p>
          <a:p>
            <a:r>
              <a:rPr lang="en-US" dirty="0" smtClean="0"/>
              <a:t>Routine use of pain schools for patients with chronic pain. </a:t>
            </a:r>
          </a:p>
          <a:p>
            <a:r>
              <a:rPr lang="en-US" dirty="0" smtClean="0"/>
              <a:t>Opiate renewal clinics to aid in proper medication renewal with emphasis on patient safety. </a:t>
            </a:r>
          </a:p>
          <a:p>
            <a:r>
              <a:rPr lang="en-US" dirty="0" smtClean="0"/>
              <a:t>The use of templates for opiate initiation and renewal to assure safer opiate prescribing</a:t>
            </a:r>
          </a:p>
          <a:p>
            <a:r>
              <a:rPr lang="en-US" dirty="0" smtClean="0"/>
              <a:t>Group Visits that combine education with follow-up for safe medication prescribing. </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58813" y="2286000"/>
            <a:ext cx="7824787" cy="3840163"/>
          </a:xfrm>
        </p:spPr>
        <p:txBody>
          <a:bodyPr>
            <a:normAutofit fontScale="92500"/>
          </a:bodyPr>
          <a:lstStyle/>
          <a:p>
            <a:r>
              <a:rPr lang="en-US" dirty="0" smtClean="0"/>
              <a:t>A complex process requiring time and frequent follow-up appointments.</a:t>
            </a:r>
          </a:p>
          <a:p>
            <a:r>
              <a:rPr lang="en-US" dirty="0" smtClean="0"/>
              <a:t>Patient education is crucial for success. </a:t>
            </a:r>
          </a:p>
          <a:p>
            <a:r>
              <a:rPr lang="en-US" dirty="0" smtClean="0"/>
              <a:t>Coordination of care with multiple specialties may be necessary.</a:t>
            </a:r>
          </a:p>
          <a:p>
            <a:r>
              <a:rPr lang="en-US" dirty="0" smtClean="0"/>
              <a:t>Treatment works. Do not give up. </a:t>
            </a:r>
          </a:p>
          <a:p>
            <a:r>
              <a:rPr lang="en-US" dirty="0" smtClean="0"/>
              <a:t>Treating addiction with ongoing opiate therapy will create more problems and eventually take more time. </a:t>
            </a:r>
          </a:p>
          <a:p>
            <a:r>
              <a:rPr lang="en-US" dirty="0" smtClean="0"/>
              <a:t>Pain treatment and opiates are not necessarily the same thing. </a:t>
            </a:r>
          </a:p>
          <a:p>
            <a:r>
              <a:rPr lang="en-US" dirty="0" smtClean="0"/>
              <a:t>Functional improvement is critical to ongoing success. </a:t>
            </a:r>
            <a:endParaRPr lang="en-US" dirty="0"/>
          </a:p>
        </p:txBody>
      </p:sp>
      <p:sp>
        <p:nvSpPr>
          <p:cNvPr id="3" name="Title 2"/>
          <p:cNvSpPr>
            <a:spLocks noGrp="1"/>
          </p:cNvSpPr>
          <p:nvPr>
            <p:ph type="title"/>
          </p:nvPr>
        </p:nvSpPr>
        <p:spPr/>
        <p:txBody>
          <a:bodyPr>
            <a:normAutofit/>
          </a:bodyPr>
          <a:lstStyle/>
          <a:p>
            <a:pPr algn="ctr"/>
            <a:r>
              <a:rPr lang="en-US" dirty="0" smtClean="0">
                <a:solidFill>
                  <a:schemeClr val="accent1">
                    <a:lumMod val="60000"/>
                    <a:lumOff val="40000"/>
                  </a:schemeClr>
                </a:solidFill>
              </a:rPr>
              <a:t>Chronic Pain</a:t>
            </a:r>
            <a:endParaRPr lang="en-US" dirty="0">
              <a:solidFill>
                <a:schemeClr val="accent1">
                  <a:lumMod val="60000"/>
                  <a:lumOff val="40000"/>
                </a:schemeClr>
              </a:solidFill>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83922" y="334961"/>
            <a:ext cx="5442442" cy="6266583"/>
          </a:xfrm>
          <a:prstGeom prst="rect">
            <a:avLst/>
          </a:prstGeom>
        </p:spPr>
      </p:pic>
    </p:spTree>
  </p:cSld>
  <p:clrMapOvr>
    <a:masterClrMapping/>
  </p:clrMapOvr>
</p:sld>
</file>

<file path=ppt/theme/theme1.xml><?xml version="1.0" encoding="utf-8"?>
<a:theme xmlns:a="http://schemas.openxmlformats.org/drawingml/2006/main" name="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Codex.thmx</Template>
  <TotalTime>1299</TotalTime>
  <Words>3496</Words>
  <Application>Microsoft Office PowerPoint</Application>
  <PresentationFormat>On-screen Show (4:3)</PresentationFormat>
  <Paragraphs>327</Paragraphs>
  <Slides>55</Slides>
  <Notes>12</Notes>
  <HiddenSlides>0</HiddenSlides>
  <MMClips>0</MMClip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Codex</vt:lpstr>
      <vt:lpstr>Opiate Risk Mitigation in Primary Care </vt:lpstr>
      <vt:lpstr>Slide 2</vt:lpstr>
      <vt:lpstr>History of Opiate Addiction/Dependence Déjà Vu All Over Again</vt:lpstr>
      <vt:lpstr> A Brief History of Opiate Addiction</vt:lpstr>
      <vt:lpstr>A Brief History Opiate Addiction</vt:lpstr>
      <vt:lpstr>A Brief History Opiate Addiction</vt:lpstr>
      <vt:lpstr>The NEW ENGLAND JOURNAL of MEDICINE  Flood of Opioids, a Rising Tide of Deaths</vt:lpstr>
      <vt:lpstr>Opiate Related Deaths </vt:lpstr>
      <vt:lpstr>Overdose and Prescribed Opioids</vt:lpstr>
      <vt:lpstr>Patients at Highest Risk</vt:lpstr>
      <vt:lpstr>   :  Trends in Emergency Department (ED) Visits Involving the Nonmedical Use of Narcotic Pain Relievers </vt:lpstr>
      <vt:lpstr>Slide 12</vt:lpstr>
      <vt:lpstr>Primary Care </vt:lpstr>
      <vt:lpstr>Barriers to Pain Management in Primary Care</vt:lpstr>
      <vt:lpstr>Approach to the Patient with High Opioid Risk </vt:lpstr>
      <vt:lpstr>Approach to the High Risk Opioid Patient </vt:lpstr>
      <vt:lpstr>Universal Precautions in Pain Medicine</vt:lpstr>
      <vt:lpstr>Universal Precautions in Pain Medicine</vt:lpstr>
      <vt:lpstr>Opioid Agreement</vt:lpstr>
      <vt:lpstr>Opioid Agreement</vt:lpstr>
      <vt:lpstr>Opioid Adverse Effects</vt:lpstr>
      <vt:lpstr>Slide 22</vt:lpstr>
      <vt:lpstr>Behaviors More Suggestive of an Addiction Disorder</vt:lpstr>
      <vt:lpstr>Behaviors More Suggestive of an Addiction Disorder</vt:lpstr>
      <vt:lpstr>Behaviors Less Suggestive of an Addiction Disorder-But Need to Be Addressed</vt:lpstr>
      <vt:lpstr>Explanations for Aberrant Behavior</vt:lpstr>
      <vt:lpstr>Explanations for Aberrant Behavior</vt:lpstr>
      <vt:lpstr>Urine Drug Screen</vt:lpstr>
      <vt:lpstr>Length of Time Drugs of Abuse Can Be Detected in Urine</vt:lpstr>
      <vt:lpstr>Urine Drug Screens</vt:lpstr>
      <vt:lpstr>Slide 31</vt:lpstr>
      <vt:lpstr>Marijuana’s Effects on the Brain</vt:lpstr>
      <vt:lpstr>Slide 33</vt:lpstr>
      <vt:lpstr>Clinical Considerations Regarding Veteran Patients Who Participate in State-Approved Marijuana Programs December 29, 2010</vt:lpstr>
      <vt:lpstr>Medical Marijuana and the VA</vt:lpstr>
      <vt:lpstr>Medical Marijuana and the VA </vt:lpstr>
      <vt:lpstr>Methadone Risks</vt:lpstr>
      <vt:lpstr>Standards of Practice</vt:lpstr>
      <vt:lpstr>Standards of Practice</vt:lpstr>
      <vt:lpstr>Standards of Practice</vt:lpstr>
      <vt:lpstr>Standards of Practice</vt:lpstr>
      <vt:lpstr>Standards of Practice</vt:lpstr>
      <vt:lpstr>Standards of Practice</vt:lpstr>
      <vt:lpstr>Standards of Practice</vt:lpstr>
      <vt:lpstr>Opiate Induced Hyperalgesia</vt:lpstr>
      <vt:lpstr>Opioid Contraindications</vt:lpstr>
      <vt:lpstr>Patients Who Will Weed Extra Monitoring if Opioids are Prescribed</vt:lpstr>
      <vt:lpstr>Patients Who Will Need Extra Monitoring if Opioids are Prescribed</vt:lpstr>
      <vt:lpstr>Patients Who Will Need Extra Monitoring if Opioids are Prescribed</vt:lpstr>
      <vt:lpstr>Slide 50</vt:lpstr>
      <vt:lpstr>PACT</vt:lpstr>
      <vt:lpstr>PACT – New Options for Treatment</vt:lpstr>
      <vt:lpstr>Considerations for the  Present/Future</vt:lpstr>
      <vt:lpstr>Chronic Pain</vt:lpstr>
      <vt:lpstr>Slide 55</vt:lpstr>
    </vt:vector>
  </TitlesOfParts>
  <Company>Ilene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Opiate Risk Mitigation in Primary Care </dc:title>
  <dc:creator>Ilene Robeck</dc:creator>
  <cp:lastModifiedBy>VHATAMMurphJ1</cp:lastModifiedBy>
  <cp:revision>19</cp:revision>
  <dcterms:created xsi:type="dcterms:W3CDTF">2011-07-24T14:16:41Z</dcterms:created>
  <dcterms:modified xsi:type="dcterms:W3CDTF">2011-08-01T15:24:06Z</dcterms:modified>
</cp:coreProperties>
</file>