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4" saveSubsetFonts="1">
  <p:sldMasterIdLst>
    <p:sldMasterId id="2147483648" r:id="rId1"/>
  </p:sldMasterIdLst>
  <p:notesMasterIdLst>
    <p:notesMasterId r:id="rId64"/>
  </p:notesMasterIdLst>
  <p:handoutMasterIdLst>
    <p:handoutMasterId r:id="rId65"/>
  </p:handoutMasterIdLst>
  <p:sldIdLst>
    <p:sldId id="256" r:id="rId2"/>
    <p:sldId id="328" r:id="rId3"/>
    <p:sldId id="358" r:id="rId4"/>
    <p:sldId id="392" r:id="rId5"/>
    <p:sldId id="401" r:id="rId6"/>
    <p:sldId id="404" r:id="rId7"/>
    <p:sldId id="770" r:id="rId8"/>
    <p:sldId id="406" r:id="rId9"/>
    <p:sldId id="299" r:id="rId10"/>
    <p:sldId id="755" r:id="rId11"/>
    <p:sldId id="829" r:id="rId12"/>
    <p:sldId id="756" r:id="rId13"/>
    <p:sldId id="838" r:id="rId14"/>
    <p:sldId id="840" r:id="rId15"/>
    <p:sldId id="839" r:id="rId16"/>
    <p:sldId id="743" r:id="rId17"/>
    <p:sldId id="771" r:id="rId18"/>
    <p:sldId id="663" r:id="rId19"/>
    <p:sldId id="725" r:id="rId20"/>
    <p:sldId id="470" r:id="rId21"/>
    <p:sldId id="496" r:id="rId22"/>
    <p:sldId id="733" r:id="rId23"/>
    <p:sldId id="742" r:id="rId24"/>
    <p:sldId id="759" r:id="rId25"/>
    <p:sldId id="735" r:id="rId26"/>
    <p:sldId id="831" r:id="rId27"/>
    <p:sldId id="857" r:id="rId28"/>
    <p:sldId id="862" r:id="rId29"/>
    <p:sldId id="858" r:id="rId30"/>
    <p:sldId id="471" r:id="rId31"/>
    <p:sldId id="817" r:id="rId32"/>
    <p:sldId id="855" r:id="rId33"/>
    <p:sldId id="859" r:id="rId34"/>
    <p:sldId id="721" r:id="rId35"/>
    <p:sldId id="739" r:id="rId36"/>
    <p:sldId id="819" r:id="rId37"/>
    <p:sldId id="860" r:id="rId38"/>
    <p:sldId id="818" r:id="rId39"/>
    <p:sldId id="852" r:id="rId40"/>
    <p:sldId id="847" r:id="rId41"/>
    <p:sldId id="861" r:id="rId42"/>
    <p:sldId id="825" r:id="rId43"/>
    <p:sldId id="837" r:id="rId44"/>
    <p:sldId id="834" r:id="rId45"/>
    <p:sldId id="841" r:id="rId46"/>
    <p:sldId id="842" r:id="rId47"/>
    <p:sldId id="848" r:id="rId48"/>
    <p:sldId id="856" r:id="rId49"/>
    <p:sldId id="863" r:id="rId50"/>
    <p:sldId id="853" r:id="rId51"/>
    <p:sldId id="845" r:id="rId52"/>
    <p:sldId id="846" r:id="rId53"/>
    <p:sldId id="849" r:id="rId54"/>
    <p:sldId id="827" r:id="rId55"/>
    <p:sldId id="850" r:id="rId56"/>
    <p:sldId id="864" r:id="rId57"/>
    <p:sldId id="833" r:id="rId58"/>
    <p:sldId id="835" r:id="rId59"/>
    <p:sldId id="440" r:id="rId60"/>
    <p:sldId id="727" r:id="rId61"/>
    <p:sldId id="317" r:id="rId62"/>
    <p:sldId id="342" r:id="rId63"/>
  </p:sldIdLst>
  <p:sldSz cx="9906000" cy="6858000" type="A4"/>
  <p:notesSz cx="10063163" cy="6873875"/>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showPr>
  <p:clrMru>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21709" autoAdjust="0"/>
    <p:restoredTop sz="46127" autoAdjust="0"/>
  </p:normalViewPr>
  <p:slideViewPr>
    <p:cSldViewPr>
      <p:cViewPr>
        <p:scale>
          <a:sx n="66" d="100"/>
          <a:sy n="66" d="100"/>
        </p:scale>
        <p:origin x="-1056" y="-258"/>
      </p:cViewPr>
      <p:guideLst>
        <p:guide orient="horz" pos="2160"/>
        <p:guide pos="3120"/>
      </p:guideLst>
    </p:cSldViewPr>
  </p:slideViewPr>
  <p:outlineViewPr>
    <p:cViewPr>
      <p:scale>
        <a:sx n="33" d="100"/>
        <a:sy n="33" d="100"/>
      </p:scale>
      <p:origin x="0" y="9186"/>
    </p:cViewPr>
  </p:outlineViewPr>
  <p:notesTextViewPr>
    <p:cViewPr>
      <p:scale>
        <a:sx n="100" d="100"/>
        <a:sy n="100" d="100"/>
      </p:scale>
      <p:origin x="0" y="0"/>
    </p:cViewPr>
  </p:notesTextViewPr>
  <p:sorterViewPr>
    <p:cViewPr>
      <p:scale>
        <a:sx n="69" d="100"/>
        <a:sy n="69" d="100"/>
      </p:scale>
      <p:origin x="0" y="5292"/>
    </p:cViewPr>
  </p:sorterViewPr>
  <p:notesViewPr>
    <p:cSldViewPr>
      <p:cViewPr varScale="1">
        <p:scale>
          <a:sx n="78" d="100"/>
          <a:sy n="78" d="100"/>
        </p:scale>
        <p:origin x="-546" y="-84"/>
      </p:cViewPr>
      <p:guideLst>
        <p:guide orient="horz" pos="2165"/>
        <p:guide pos="3170"/>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4359275" cy="3444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p>
        </p:txBody>
      </p:sp>
      <p:sp>
        <p:nvSpPr>
          <p:cNvPr id="8195" name="Rectangle 3"/>
          <p:cNvSpPr>
            <a:spLocks noGrp="1" noChangeArrowheads="1"/>
          </p:cNvSpPr>
          <p:nvPr>
            <p:ph type="dt" sz="quarter" idx="1"/>
          </p:nvPr>
        </p:nvSpPr>
        <p:spPr bwMode="auto">
          <a:xfrm>
            <a:off x="5702300" y="0"/>
            <a:ext cx="4359275" cy="3444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8196" name="Rectangle 4"/>
          <p:cNvSpPr>
            <a:spLocks noGrp="1" noChangeArrowheads="1"/>
          </p:cNvSpPr>
          <p:nvPr>
            <p:ph type="ftr" sz="quarter" idx="2"/>
          </p:nvPr>
        </p:nvSpPr>
        <p:spPr bwMode="auto">
          <a:xfrm>
            <a:off x="0" y="6529388"/>
            <a:ext cx="4359275"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p>
        </p:txBody>
      </p:sp>
      <p:sp>
        <p:nvSpPr>
          <p:cNvPr id="8197" name="Rectangle 5"/>
          <p:cNvSpPr>
            <a:spLocks noGrp="1" noChangeArrowheads="1"/>
          </p:cNvSpPr>
          <p:nvPr>
            <p:ph type="sldNum" sz="quarter" idx="3"/>
          </p:nvPr>
        </p:nvSpPr>
        <p:spPr bwMode="auto">
          <a:xfrm>
            <a:off x="5702300" y="6529388"/>
            <a:ext cx="4359275"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8E91F5F-1BC3-43D4-9EF1-060764026140}"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4359275" cy="3444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p>
        </p:txBody>
      </p:sp>
      <p:sp>
        <p:nvSpPr>
          <p:cNvPr id="32771" name="Rectangle 3"/>
          <p:cNvSpPr>
            <a:spLocks noGrp="1" noChangeArrowheads="1"/>
          </p:cNvSpPr>
          <p:nvPr>
            <p:ph type="dt" idx="1"/>
          </p:nvPr>
        </p:nvSpPr>
        <p:spPr bwMode="auto">
          <a:xfrm>
            <a:off x="5700713" y="0"/>
            <a:ext cx="4360862" cy="3444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62468" name="Rectangle 4"/>
          <p:cNvSpPr>
            <a:spLocks noGrp="1" noRot="1" noChangeAspect="1" noChangeArrowheads="1" noTextEdit="1"/>
          </p:cNvSpPr>
          <p:nvPr>
            <p:ph type="sldImg" idx="2"/>
          </p:nvPr>
        </p:nvSpPr>
        <p:spPr bwMode="auto">
          <a:xfrm>
            <a:off x="3168650" y="515938"/>
            <a:ext cx="3724275" cy="2578100"/>
          </a:xfrm>
          <a:prstGeom prst="rect">
            <a:avLst/>
          </a:prstGeom>
          <a:noFill/>
          <a:ln w="9525">
            <a:solidFill>
              <a:srgbClr val="000000"/>
            </a:solidFill>
            <a:miter lim="800000"/>
            <a:headEnd/>
            <a:tailEnd/>
          </a:ln>
        </p:spPr>
      </p:sp>
      <p:sp>
        <p:nvSpPr>
          <p:cNvPr id="32773" name="Rectangle 5"/>
          <p:cNvSpPr>
            <a:spLocks noGrp="1" noChangeArrowheads="1"/>
          </p:cNvSpPr>
          <p:nvPr>
            <p:ph type="body" sz="quarter" idx="3"/>
          </p:nvPr>
        </p:nvSpPr>
        <p:spPr bwMode="auto">
          <a:xfrm>
            <a:off x="1006475" y="3265488"/>
            <a:ext cx="8050213" cy="30924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2774" name="Rectangle 6"/>
          <p:cNvSpPr>
            <a:spLocks noGrp="1" noChangeArrowheads="1"/>
          </p:cNvSpPr>
          <p:nvPr>
            <p:ph type="ftr" sz="quarter" idx="4"/>
          </p:nvPr>
        </p:nvSpPr>
        <p:spPr bwMode="auto">
          <a:xfrm>
            <a:off x="0" y="6529388"/>
            <a:ext cx="4359275"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p>
        </p:txBody>
      </p:sp>
      <p:sp>
        <p:nvSpPr>
          <p:cNvPr id="32775" name="Rectangle 7"/>
          <p:cNvSpPr>
            <a:spLocks noGrp="1" noChangeArrowheads="1"/>
          </p:cNvSpPr>
          <p:nvPr>
            <p:ph type="sldNum" sz="quarter" idx="5"/>
          </p:nvPr>
        </p:nvSpPr>
        <p:spPr bwMode="auto">
          <a:xfrm>
            <a:off x="5700713" y="6529388"/>
            <a:ext cx="4360862"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AA1EA8D-A220-47C3-B057-FE649FA1E8EF}"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63DF2DB1-222A-4829-8630-76C120B578FA}" type="slidenum">
              <a:rPr lang="en-US" smtClean="0"/>
              <a:pPr/>
              <a:t>7</a:t>
            </a:fld>
            <a:endParaRPr lang="en-US" smtClean="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GB"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0B072412-BC07-491F-AECA-10DC3E6ABBD6}" type="slidenum">
              <a:rPr lang="en-US" smtClean="0"/>
              <a:pPr/>
              <a:t>21</a:t>
            </a:fld>
            <a:endParaRPr lang="en-US" smtClean="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GB"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1E2C0FFE-04F9-48FF-80DC-941F5898D7F9}" type="slidenum">
              <a:rPr lang="en-US" smtClean="0"/>
              <a:pPr/>
              <a:t>37</a:t>
            </a:fld>
            <a:endParaRPr lang="en-US" smtClean="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GB"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201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663CCD4-BBBF-4AD2-B908-B0AE5F79B7C0}" type="slidenum">
              <a:rPr lang="en-US"/>
              <a:pPr>
                <a:defRPr/>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02514A4-9A7E-41C9-A662-7DBFB41F1552}" type="slidenum">
              <a:rPr lang="en-US"/>
              <a:pPr>
                <a:defRPr/>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D3020FC-FC07-438F-9FCB-6877FA50C43B}" type="slidenum">
              <a:rPr lang="en-US"/>
              <a:pPr>
                <a:defRPr/>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95300" y="1600200"/>
            <a:ext cx="4381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5029200" y="1600200"/>
            <a:ext cx="4381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A31CA5C-0D27-4A5C-A2E8-BD95D31C9265}" type="slidenum">
              <a:rPr lang="en-US"/>
              <a:pPr>
                <a:defRPr/>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8C5EC93-DF5C-47D6-9E3F-2231E9293772}" type="slidenum">
              <a:rPr lang="en-US"/>
              <a:pPr>
                <a:defRPr/>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416ED0EB-1AA2-484D-AA5B-9C60F4538A9F}" type="slidenum">
              <a:rPr lang="en-US"/>
              <a:pPr>
                <a:defRPr/>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E837F45C-0EE6-48F1-82A4-2D3EBBD5BD4A}" type="slidenum">
              <a:rPr lang="en-US"/>
              <a:pPr>
                <a:defRPr/>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EF09139-77D1-4C80-819F-81953868A20E}" type="slidenum">
              <a:rPr lang="en-US"/>
              <a:pPr>
                <a:defRPr/>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74EE807-58C9-4878-A29C-E142A1E45CD5}" type="slidenum">
              <a:rPr lang="en-US"/>
              <a:pPr>
                <a:defRPr/>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1F43D4B-F4FE-4AEF-A8A0-29D3BD75FA22}" type="slidenum">
              <a:rPr lang="en-US"/>
              <a:pPr>
                <a:defRPr/>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274638"/>
            <a:ext cx="222885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95300" y="274638"/>
            <a:ext cx="653415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625D99-2E65-4B98-8808-765DFC3D9562}" type="slidenum">
              <a:rPr lang="en-US"/>
              <a:pPr>
                <a:defRPr/>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5300" y="274638"/>
            <a:ext cx="8915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95300" y="1600200"/>
            <a:ext cx="89154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95300" y="6245225"/>
            <a:ext cx="23114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vl1pPr>
          </a:lstStyle>
          <a:p>
            <a:pPr>
              <a:defRPr/>
            </a:pPr>
            <a:endParaRPr lang="en-US"/>
          </a:p>
        </p:txBody>
      </p:sp>
      <p:sp>
        <p:nvSpPr>
          <p:cNvPr id="1029" name="Rectangle 5"/>
          <p:cNvSpPr>
            <a:spLocks noGrp="1" noChangeArrowheads="1"/>
          </p:cNvSpPr>
          <p:nvPr>
            <p:ph type="ftr" sz="quarter" idx="3"/>
          </p:nvPr>
        </p:nvSpPr>
        <p:spPr bwMode="auto">
          <a:xfrm>
            <a:off x="3384550" y="6245225"/>
            <a:ext cx="31369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7099300" y="6245225"/>
            <a:ext cx="23114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96F88616-E1B7-404D-A136-B723EDEB6439}"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mithsrisca@btinternet.com?subject=ESAC10%20Follow-Up" TargetMode="External"/><Relationship Id="rId2" Type="http://schemas.openxmlformats.org/officeDocument/2006/relationships/hyperlink" Target="http://www.smithsrisca.co.uk/" TargetMode="Externa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www.smithsrisca.co.uk/PSYjames1890.html" TargetMode="Externa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8.jpeg"/><Relationship Id="rId4" Type="http://schemas.openxmlformats.org/officeDocument/2006/relationships/hyperlink" Target="http://images.google.co.uk/imgres?imgurl=http://vcencyclopedia.vassar.edu/images/4/41/William_James.jpg&amp;imgrefurl=http://vcencyclopedia.vassar.edu/index.php/Vassar_Visitors&amp;usg=__KhVptkgs7ReDkM3tvsHgDTAUQTY=&amp;h=315&amp;w=221&amp;sz=17&amp;hl=en&amp;start=4&amp;um=1&amp;tbnid=j603ndNAOB9SbM:&amp;tbnh=117&amp;tbnw=82&amp;prev=/images?q=william+james&amp;hl=en&amp;um=1"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www.smithsrisca.co.uk/PSYwundt1902.html" TargetMode="Externa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0.jpeg"/><Relationship Id="rId4" Type="http://schemas.openxmlformats.org/officeDocument/2006/relationships/hyperlink" Target="http://images.google.co.uk/imgres?imgurl=http://www.uni.edu/walsh/wundt.gif&amp;imgrefurl=http://www.uni.edu/walsh/history.html&amp;usg=__xET3lXNKr1qQqTNmorm-rUlDuQg=&amp;h=345&amp;w=280&amp;sz=105&amp;hl=en&amp;start=3&amp;um=1&amp;tbnid=hoc0YHr4ywcCGM:&amp;tbnh=120&amp;tbnw=97&amp;prev=/images?q=wilhelm+wundt&amp;hl=en&amp;sa=N&amp;um=1"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smithsrisca.co.uk/PSYdennett1978.html" TargetMode="Externa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hyperlink" Target="http://images.google.co.uk/imgres?imgurl=http://www.futureofthebook.org/mitchellstephens/archives/daniel_dennett_1.jpg&amp;imgrefurl=http://www.futureofthebook.org/mitchellstephens/archives/dennett/&amp;usg=__5u5Bd1tibLhjAW5-6_hPqsYNDtg=&amp;h=900&amp;w=1290&amp;sz=750&amp;hl=en&amp;start=2&amp;tbnid=92OVlUl5UGd66M:&amp;tbnh=105&amp;tbnw=150&amp;prev=/images?q=daniel+dennett&amp;gbv=2&amp;hl=en&amp;sa=G" TargetMode="Externa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hyperlink" Target="http://www.smithsrisca.co.uk/PSYnorman1990.html" TargetMode="External"/><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hyperlink" Target="http://images.google.co.uk/imgres?imgurl=http://upload.wikimedia.org/wikipedia/commons/2/2b/Ronald_C._Arkin.jpg&amp;imgrefurl=http://commons.wikimedia.org/wiki/File:Ronald_C._Arkin.jpg&amp;usg=__ANj0kzy2B2ed6nlqkBR0UfBX5Oo=&amp;h=1536&amp;w=2048&amp;sz=455&amp;hl=en&amp;start=4&amp;um=1&amp;itbs=1&amp;tbnid=3X18-juYqzkwNM:&amp;tbnh=113&amp;tbnw=150&amp;prev=/images?q=ronald+arkin&amp;um=1&amp;hl=en&amp;sa=N&amp;rlz=1R2SUNC_enGB356&amp;tbs=isch:1" TargetMode="External"/><Relationship Id="rId4" Type="http://schemas.openxmlformats.org/officeDocument/2006/relationships/hyperlink" Target="http://www.smithsrisca.co.uk/motor-programming.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www.smithsrisca.co.uk/PSYrasmussen1983.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www.ca.com/us/products/product.aspx?id=1006"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www.smithsrisca.co.uk/IEHF10/Cartesian.ppt"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www.smithsrisca.co.uk/IEHF10/PRTFILE-B.pdf" TargetMode="External"/><Relationship Id="rId2" Type="http://schemas.openxmlformats.org/officeDocument/2006/relationships/hyperlink" Target="http://www.smithsrisca.co.uk/IEHF10/PRTFILE-A.pdf"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www.carla.umn.edu/speechacts/"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61.xml.rels><?xml version="1.0" encoding="UTF-8" standalone="yes"?>
<Relationships xmlns="http://schemas.openxmlformats.org/package/2006/relationships"><Relationship Id="rId3" Type="http://schemas.openxmlformats.org/officeDocument/2006/relationships/hyperlink" Target="http://www.smithsrisca.co.uk/confs/CCCT05/PPT.ppt" TargetMode="External"/><Relationship Id="rId2" Type="http://schemas.openxmlformats.org/officeDocument/2006/relationships/hyperlink" Target="http://www.smithsrisca.co.uk/confs/WMSCI05/PPT.ppt"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0" y="836613"/>
            <a:ext cx="9905999" cy="5184775"/>
          </a:xfrm>
        </p:spPr>
        <p:txBody>
          <a:bodyPr/>
          <a:lstStyle/>
          <a:p>
            <a:pPr eaLnBrk="1" hangingPunct="1">
              <a:spcAft>
                <a:spcPts val="600"/>
              </a:spcAft>
            </a:pPr>
            <a:r>
              <a:rPr lang="en-US" sz="4000" b="1" dirty="0" smtClean="0"/>
              <a:t/>
            </a:r>
            <a:br>
              <a:rPr lang="en-US" sz="4000" b="1" dirty="0" smtClean="0"/>
            </a:br>
            <a:r>
              <a:rPr lang="en-GB" sz="3600" b="1" dirty="0" smtClean="0"/>
              <a:t>The Forensic Ergonomics of</a:t>
            </a:r>
            <a:br>
              <a:rPr lang="en-GB" sz="3600" b="1" dirty="0" smtClean="0"/>
            </a:br>
            <a:r>
              <a:rPr lang="en-GB" sz="3600" b="1" dirty="0" smtClean="0"/>
              <a:t>Distraction Errors:</a:t>
            </a:r>
            <a:br>
              <a:rPr lang="en-GB" sz="3600" b="1" dirty="0" smtClean="0"/>
            </a:br>
            <a:r>
              <a:rPr lang="en-GB" sz="3600" b="1" dirty="0" smtClean="0"/>
              <a:t>A Computer Simulation</a:t>
            </a:r>
            <a:r>
              <a:rPr lang="en-US" sz="3600" b="1" i="1" dirty="0" smtClean="0"/>
              <a:t/>
            </a:r>
            <a:br>
              <a:rPr lang="en-US" sz="3600" b="1" i="1" dirty="0" smtClean="0"/>
            </a:br>
            <a:r>
              <a:rPr lang="en-US" sz="2400" b="1" dirty="0" smtClean="0"/>
              <a:t/>
            </a:r>
            <a:br>
              <a:rPr lang="en-US" sz="2400" b="1" dirty="0" smtClean="0"/>
            </a:br>
            <a:r>
              <a:rPr lang="en-US" sz="2400" b="1" dirty="0" smtClean="0"/>
              <a:t/>
            </a:r>
            <a:br>
              <a:rPr lang="en-US" sz="2400" b="1" dirty="0" smtClean="0"/>
            </a:br>
            <a:r>
              <a:rPr lang="en-US" sz="2400" b="1" dirty="0" smtClean="0"/>
              <a:t>Derek J. Smith, </a:t>
            </a:r>
            <a:r>
              <a:rPr lang="en-US" sz="2400" b="1" dirty="0" err="1" smtClean="0"/>
              <a:t>CEng</a:t>
            </a:r>
            <a:r>
              <a:rPr lang="en-US" sz="2400" b="1" dirty="0" smtClean="0"/>
              <a:t>, </a:t>
            </a:r>
            <a:r>
              <a:rPr lang="en-US" sz="2400" b="1" dirty="0" err="1" smtClean="0"/>
              <a:t>CITP</a:t>
            </a:r>
            <a:r>
              <a:rPr lang="en-US" sz="2400" b="1" dirty="0" smtClean="0"/>
              <a:t/>
            </a:r>
            <a:br>
              <a:rPr lang="en-US" sz="2400" b="1" dirty="0" smtClean="0"/>
            </a:br>
            <a:r>
              <a:rPr lang="en-US" sz="800" b="1" dirty="0" smtClean="0"/>
              <a:t> </a:t>
            </a:r>
            <a:r>
              <a:rPr lang="en-US" sz="2400" b="1" dirty="0" smtClean="0"/>
              <a:t/>
            </a:r>
            <a:br>
              <a:rPr lang="en-US" sz="2400" b="1" dirty="0" smtClean="0"/>
            </a:br>
            <a:r>
              <a:rPr lang="en-US" sz="1800" dirty="0" smtClean="0"/>
              <a:t>Chief Designer, High Tower Consultants Limited</a:t>
            </a:r>
            <a:r>
              <a:rPr lang="en-US" sz="2400" b="1" dirty="0" smtClean="0"/>
              <a:t/>
            </a:r>
            <a:br>
              <a:rPr lang="en-US" sz="2400" b="1" dirty="0" smtClean="0"/>
            </a:br>
            <a:r>
              <a:rPr lang="en-US" sz="2400" b="1" dirty="0" smtClean="0"/>
              <a:t/>
            </a:r>
            <a:br>
              <a:rPr lang="en-US" sz="2400" b="1" dirty="0" smtClean="0"/>
            </a:br>
            <a:r>
              <a:rPr lang="en-US" sz="2400" b="1" dirty="0" smtClean="0"/>
              <a:t/>
            </a:r>
            <a:br>
              <a:rPr lang="en-US" sz="2400" b="1" dirty="0" smtClean="0"/>
            </a:br>
            <a:r>
              <a:rPr lang="en-US" sz="2400" b="1" dirty="0" err="1" smtClean="0">
                <a:hlinkClick r:id="rId2"/>
              </a:rPr>
              <a:t>http://www.smithsrisca.co.uk</a:t>
            </a:r>
            <a:r>
              <a:rPr lang="en-US" sz="2400" b="1" dirty="0" smtClean="0"/>
              <a:t/>
            </a:r>
            <a:br>
              <a:rPr lang="en-US" sz="2400" b="1" dirty="0" smtClean="0"/>
            </a:br>
            <a:r>
              <a:rPr lang="en-US" sz="2400" b="1" dirty="0" err="1" smtClean="0">
                <a:hlinkClick r:id="rId3"/>
              </a:rPr>
              <a:t>smithsrisca@btinternet.com</a:t>
            </a:r>
            <a:r>
              <a:rPr lang="en-US" sz="2400" b="1" dirty="0" smtClean="0"/>
              <a:t/>
            </a:r>
            <a:br>
              <a:rPr lang="en-US" sz="2400" b="1" dirty="0" smtClean="0"/>
            </a:br>
            <a:endParaRPr lang="en-US" sz="2000" b="1" dirty="0" smtClean="0">
              <a:solidFill>
                <a:schemeClr val="tx1"/>
              </a:solidFill>
            </a:endParaRPr>
          </a:p>
        </p:txBody>
      </p:sp>
      <p:pic>
        <p:nvPicPr>
          <p:cNvPr id="2052" name="Picture 5" descr="union-flag"/>
          <p:cNvPicPr>
            <a:picLocks noChangeAspect="1" noChangeArrowheads="1"/>
          </p:cNvPicPr>
          <p:nvPr/>
        </p:nvPicPr>
        <p:blipFill>
          <a:blip r:embed="rId4" cstate="print"/>
          <a:srcRect/>
          <a:stretch>
            <a:fillRect/>
          </a:stretch>
        </p:blipFill>
        <p:spPr bwMode="auto">
          <a:xfrm>
            <a:off x="457200" y="3009896"/>
            <a:ext cx="1727200" cy="960438"/>
          </a:xfrm>
          <a:prstGeom prst="rect">
            <a:avLst/>
          </a:prstGeom>
          <a:noFill/>
          <a:ln w="9525">
            <a:noFill/>
            <a:miter lim="800000"/>
            <a:headEnd/>
            <a:tailEnd/>
          </a:ln>
        </p:spPr>
      </p:pic>
      <p:pic>
        <p:nvPicPr>
          <p:cNvPr id="2053" name="Picture 6" descr="wales-flag"/>
          <p:cNvPicPr>
            <a:picLocks noChangeAspect="1" noChangeArrowheads="1"/>
          </p:cNvPicPr>
          <p:nvPr/>
        </p:nvPicPr>
        <p:blipFill>
          <a:blip r:embed="rId5" cstate="print"/>
          <a:srcRect/>
          <a:stretch>
            <a:fillRect/>
          </a:stretch>
        </p:blipFill>
        <p:spPr bwMode="auto">
          <a:xfrm>
            <a:off x="7696200" y="2857496"/>
            <a:ext cx="1974850" cy="110013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26"/>
          <p:cNvSpPr>
            <a:spLocks noGrp="1" noChangeArrowheads="1"/>
          </p:cNvSpPr>
          <p:nvPr>
            <p:ph type="title"/>
          </p:nvPr>
        </p:nvSpPr>
        <p:spPr>
          <a:xfrm>
            <a:off x="495300" y="188913"/>
            <a:ext cx="9066213" cy="6480175"/>
          </a:xfrm>
        </p:spPr>
        <p:txBody>
          <a:bodyPr/>
          <a:lstStyle/>
          <a:p>
            <a:pPr eaLnBrk="1" hangingPunct="1"/>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As presented to the 2010 Annual Conference of the Institute of Ergonomics and Human Factors</a:t>
            </a:r>
            <a:r>
              <a:rPr lang="en-US" sz="2800" b="1" dirty="0" smtClean="0"/>
              <a:t/>
            </a:r>
            <a:br>
              <a:rPr lang="en-US" sz="2800" b="1" dirty="0" smtClean="0"/>
            </a:br>
            <a:r>
              <a:rPr lang="en-US" sz="2800" b="1" dirty="0" smtClean="0"/>
              <a:t/>
            </a:r>
            <a:br>
              <a:rPr lang="en-US" sz="2800" b="1" dirty="0" smtClean="0"/>
            </a:br>
            <a:r>
              <a:rPr lang="en-US" sz="2800" b="1" dirty="0" smtClean="0"/>
              <a:t>at</a:t>
            </a:r>
            <a:br>
              <a:rPr lang="en-US" sz="2800" b="1" dirty="0" smtClean="0"/>
            </a:br>
            <a:r>
              <a:rPr lang="en-US" sz="2800" b="1" dirty="0" smtClean="0"/>
              <a:t/>
            </a:r>
            <a:br>
              <a:rPr lang="en-US" sz="2800" b="1" dirty="0" smtClean="0"/>
            </a:br>
            <a:r>
              <a:rPr lang="en-US" sz="2800" b="1" dirty="0" err="1" smtClean="0"/>
              <a:t>Keele</a:t>
            </a:r>
            <a:r>
              <a:rPr lang="en-US" sz="2800" b="1" dirty="0" smtClean="0"/>
              <a:t> University</a:t>
            </a:r>
            <a:br>
              <a:rPr lang="en-US" sz="2800" b="1" dirty="0" smtClean="0"/>
            </a:br>
            <a:r>
              <a:rPr lang="en-US" sz="2800" b="1" dirty="0" smtClean="0"/>
              <a:t/>
            </a:r>
            <a:br>
              <a:rPr lang="en-US" sz="2800" b="1" dirty="0" smtClean="0"/>
            </a:br>
            <a:r>
              <a:rPr lang="en-US" sz="2800" b="1" dirty="0" smtClean="0"/>
              <a:t>Wednesday 14th April 2010</a:t>
            </a:r>
            <a:br>
              <a:rPr lang="en-US" sz="2800" b="1" dirty="0" smtClean="0"/>
            </a:br>
            <a:r>
              <a:rPr lang="en-US" sz="2800" b="1" dirty="0" smtClean="0"/>
              <a:t/>
            </a:r>
            <a:br>
              <a:rPr lang="en-US" sz="2800" b="1" dirty="0" smtClean="0"/>
            </a:br>
            <a:r>
              <a:rPr lang="en-US" sz="2800" b="1" dirty="0" smtClean="0"/>
              <a:t/>
            </a:r>
            <a:br>
              <a:rPr lang="en-US" sz="2800" b="1" dirty="0" smtClean="0"/>
            </a:br>
            <a:r>
              <a:rPr lang="en-US" sz="2800" b="1" dirty="0" smtClean="0">
                <a:solidFill>
                  <a:schemeClr val="bg1">
                    <a:lumMod val="50000"/>
                  </a:schemeClr>
                </a:solidFill>
              </a:rPr>
              <a:t>Downloadable from …..</a:t>
            </a:r>
            <a:br>
              <a:rPr lang="en-US" sz="2800" b="1" dirty="0" smtClean="0">
                <a:solidFill>
                  <a:schemeClr val="bg1">
                    <a:lumMod val="50000"/>
                  </a:schemeClr>
                </a:solidFill>
              </a:rPr>
            </a:br>
            <a:r>
              <a:rPr lang="en-US" sz="2800" b="1" dirty="0" err="1" smtClean="0">
                <a:solidFill>
                  <a:schemeClr val="bg1">
                    <a:lumMod val="50000"/>
                  </a:schemeClr>
                </a:solidFill>
              </a:rPr>
              <a:t>http://www.smithsrisca.co.uk/PPTs/IEHF10-keele.ppt</a:t>
            </a:r>
            <a:r>
              <a:rPr lang="en-US" sz="2800" b="1" dirty="0" smtClean="0"/>
              <a:t/>
            </a:r>
            <a:br>
              <a:rPr lang="en-US" sz="2800" b="1" dirty="0" smtClean="0"/>
            </a:br>
            <a:endParaRPr lang="en-US" sz="2800" dirty="0" smtClean="0"/>
          </a:p>
        </p:txBody>
      </p:sp>
      <p:sp>
        <p:nvSpPr>
          <p:cNvPr id="3075" name="Rectangle 1027"/>
          <p:cNvSpPr>
            <a:spLocks noGrp="1" noChangeArrowheads="1"/>
          </p:cNvSpPr>
          <p:nvPr>
            <p:ph type="body" idx="1"/>
          </p:nvPr>
        </p:nvSpPr>
        <p:spPr>
          <a:xfrm>
            <a:off x="495300" y="4941888"/>
            <a:ext cx="209550" cy="287337"/>
          </a:xfrm>
        </p:spPr>
        <p:txBody>
          <a:bodyPr/>
          <a:lstStyle/>
          <a:p>
            <a:pPr eaLnBrk="1" hangingPunct="1">
              <a:lnSpc>
                <a:spcPct val="80000"/>
              </a:lnSpc>
              <a:buFontTx/>
              <a:buNone/>
            </a:pPr>
            <a:endParaRPr lang="en-US" sz="2400" b="1" smtClean="0"/>
          </a:p>
          <a:p>
            <a:pPr eaLnBrk="1" hangingPunct="1">
              <a:lnSpc>
                <a:spcPct val="80000"/>
              </a:lnSpc>
            </a:pPr>
            <a:endParaRPr lang="en-US" sz="2400" smtClean="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GB" sz="3200" b="1" smtClean="0"/>
              <a:t>ABOUT THE AUTHOR</a:t>
            </a:r>
            <a:endParaRPr lang="en-US" sz="3200" b="1" smtClean="0"/>
          </a:p>
        </p:txBody>
      </p:sp>
      <p:sp>
        <p:nvSpPr>
          <p:cNvPr id="4099" name="Rectangle 3"/>
          <p:cNvSpPr>
            <a:spLocks noGrp="1" noChangeArrowheads="1"/>
          </p:cNvSpPr>
          <p:nvPr>
            <p:ph type="body" idx="1"/>
          </p:nvPr>
        </p:nvSpPr>
        <p:spPr>
          <a:xfrm>
            <a:off x="0" y="1628774"/>
            <a:ext cx="9667908" cy="2300291"/>
          </a:xfrm>
        </p:spPr>
        <p:txBody>
          <a:bodyPr/>
          <a:lstStyle/>
          <a:p>
            <a:pPr eaLnBrk="1" hangingPunct="1"/>
            <a:r>
              <a:rPr lang="en-US" sz="2400" b="1" dirty="0" smtClean="0"/>
              <a:t>During the </a:t>
            </a:r>
            <a:r>
              <a:rPr lang="en-US" sz="2400" b="1" dirty="0" err="1" smtClean="0"/>
              <a:t>1980s</a:t>
            </a:r>
            <a:r>
              <a:rPr lang="en-US" sz="2400" b="1" dirty="0" smtClean="0"/>
              <a:t> Derek Smith worked for British Telecom, Cardiff, where he </a:t>
            </a:r>
            <a:r>
              <a:rPr lang="en-US" sz="2400" b="1" dirty="0" err="1" smtClean="0"/>
              <a:t>specialised</a:t>
            </a:r>
            <a:r>
              <a:rPr lang="en-US" sz="2400" b="1" dirty="0" smtClean="0"/>
              <a:t> in the design and operation of very large CA-</a:t>
            </a:r>
            <a:r>
              <a:rPr lang="en-US" sz="2400" b="1" dirty="0" err="1" smtClean="0"/>
              <a:t>IDMS</a:t>
            </a:r>
            <a:r>
              <a:rPr lang="en-US" sz="2400" b="1" dirty="0" smtClean="0"/>
              <a:t> "semantic network" databases. Since 1991 he has taught psycholinguistics and cognitive neuropsychology to Psychology and Speech and Language Therapy undergraduates at University of Wales Institute, Cardiff</a:t>
            </a:r>
            <a:r>
              <a:rPr lang="en-GB" sz="2400" b="1" dirty="0" smtClean="0"/>
              <a:t>.</a:t>
            </a:r>
          </a:p>
        </p:txBody>
      </p:sp>
      <p:pic>
        <p:nvPicPr>
          <p:cNvPr id="4100" name="Picture 4" descr="isp_logo_with_word_black"/>
          <p:cNvPicPr>
            <a:picLocks noChangeAspect="1" noChangeArrowheads="1"/>
          </p:cNvPicPr>
          <p:nvPr/>
        </p:nvPicPr>
        <p:blipFill>
          <a:blip r:embed="rId2" cstate="print"/>
          <a:srcRect/>
          <a:stretch>
            <a:fillRect/>
          </a:stretch>
        </p:blipFill>
        <p:spPr bwMode="auto">
          <a:xfrm>
            <a:off x="7075521" y="4365625"/>
            <a:ext cx="2663825" cy="2033588"/>
          </a:xfrm>
          <a:prstGeom prst="rect">
            <a:avLst/>
          </a:prstGeom>
          <a:noFill/>
          <a:ln w="9525">
            <a:noFill/>
            <a:miter lim="800000"/>
            <a:headEnd/>
            <a:tailEnd/>
          </a:ln>
        </p:spPr>
      </p:pic>
      <p:sp>
        <p:nvSpPr>
          <p:cNvPr id="4101" name="Rectangle 6"/>
          <p:cNvSpPr>
            <a:spLocks noChangeArrowheads="1"/>
          </p:cNvSpPr>
          <p:nvPr/>
        </p:nvSpPr>
        <p:spPr bwMode="auto">
          <a:xfrm>
            <a:off x="0" y="4530744"/>
            <a:ext cx="6953264" cy="1970090"/>
          </a:xfrm>
          <a:prstGeom prst="rect">
            <a:avLst/>
          </a:prstGeom>
          <a:noFill/>
          <a:ln w="9525">
            <a:noFill/>
            <a:miter lim="800000"/>
            <a:headEnd/>
            <a:tailEnd/>
          </a:ln>
        </p:spPr>
        <p:txBody>
          <a:bodyPr/>
          <a:lstStyle/>
          <a:p>
            <a:pPr marL="342900" indent="-342900">
              <a:spcBef>
                <a:spcPct val="20000"/>
              </a:spcBef>
              <a:buFontTx/>
              <a:buChar char="•"/>
            </a:pPr>
            <a:r>
              <a:rPr lang="en-GB" sz="2400" b="1" dirty="0"/>
              <a:t>He is currently working in association with </a:t>
            </a:r>
            <a:r>
              <a:rPr lang="en-GB" sz="2400" b="1" dirty="0">
                <a:solidFill>
                  <a:srgbClr val="FF0000"/>
                </a:solidFill>
              </a:rPr>
              <a:t>International Software Products, Toronto</a:t>
            </a:r>
            <a:r>
              <a:rPr lang="en-GB" sz="2400" b="1" dirty="0"/>
              <a:t>, on "</a:t>
            </a:r>
            <a:r>
              <a:rPr lang="en-GB" sz="2400" b="1" dirty="0" err="1" smtClean="0"/>
              <a:t>Konrad</a:t>
            </a:r>
            <a:r>
              <a:rPr lang="en-GB" sz="2400" b="1" dirty="0" smtClean="0"/>
              <a:t>”, </a:t>
            </a:r>
            <a:r>
              <a:rPr lang="en-GB" sz="2400" b="1" dirty="0"/>
              <a:t>an artificial </a:t>
            </a:r>
            <a:r>
              <a:rPr lang="en-GB" sz="2400" b="1" dirty="0" smtClean="0"/>
              <a:t>intelligence project </a:t>
            </a:r>
            <a:r>
              <a:rPr lang="en-GB" sz="2400" b="1" dirty="0"/>
              <a:t>using a CA-</a:t>
            </a:r>
            <a:r>
              <a:rPr lang="en-GB" sz="2400" b="1" dirty="0" err="1"/>
              <a:t>IDMS</a:t>
            </a:r>
            <a:r>
              <a:rPr lang="en-GB" sz="2400" b="1" dirty="0"/>
              <a:t> </a:t>
            </a:r>
            <a:r>
              <a:rPr lang="en-GB" sz="2400" b="1" dirty="0" smtClean="0"/>
              <a:t>platform.</a:t>
            </a:r>
            <a:endParaRPr lang="en-GB" sz="2400" b="1"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95300" y="0"/>
            <a:ext cx="8915400" cy="6858000"/>
          </a:xfrm>
        </p:spPr>
        <p:txBody>
          <a:bodyPr/>
          <a:lstStyle/>
          <a:p>
            <a:pPr eaLnBrk="1" hangingPunct="1"/>
            <a:r>
              <a:rPr lang="en-US" sz="4800" b="1" dirty="0" smtClean="0">
                <a:solidFill>
                  <a:srgbClr val="FF0000"/>
                </a:solidFill>
              </a:rPr>
              <a:t>SECTION 1</a:t>
            </a:r>
            <a:r>
              <a:rPr lang="en-US" sz="4800" b="1" dirty="0" smtClean="0"/>
              <a:t/>
            </a:r>
            <a:br>
              <a:rPr lang="en-US" sz="4800" b="1" dirty="0" smtClean="0"/>
            </a:br>
            <a:r>
              <a:rPr lang="en-US" sz="4800" b="1" dirty="0" smtClean="0"/>
              <a:t/>
            </a:r>
            <a:br>
              <a:rPr lang="en-US" sz="4800" b="1" dirty="0" smtClean="0"/>
            </a:br>
            <a:r>
              <a:rPr lang="en-US" sz="4800" b="1" dirty="0" smtClean="0"/>
              <a:t>THE PROBLEMS OF HIERARCHICAL COGNITIVE CONTROL</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4" descr="PICdescartes1662"/>
          <p:cNvPicPr>
            <a:picLocks noChangeAspect="1" noChangeArrowheads="1"/>
          </p:cNvPicPr>
          <p:nvPr/>
        </p:nvPicPr>
        <p:blipFill>
          <a:blip r:embed="rId2" cstate="print"/>
          <a:srcRect/>
          <a:stretch>
            <a:fillRect/>
          </a:stretch>
        </p:blipFill>
        <p:spPr bwMode="auto">
          <a:xfrm>
            <a:off x="3141680" y="2276475"/>
            <a:ext cx="4383088" cy="4581525"/>
          </a:xfrm>
          <a:prstGeom prst="rect">
            <a:avLst/>
          </a:prstGeom>
          <a:noFill/>
          <a:ln w="9525">
            <a:noFill/>
            <a:miter lim="800000"/>
            <a:headEnd/>
            <a:tailEnd/>
          </a:ln>
        </p:spPr>
      </p:pic>
      <p:sp>
        <p:nvSpPr>
          <p:cNvPr id="9219" name="Rectangle 7"/>
          <p:cNvSpPr>
            <a:spLocks noGrp="1" noChangeArrowheads="1"/>
          </p:cNvSpPr>
          <p:nvPr>
            <p:ph type="title"/>
          </p:nvPr>
        </p:nvSpPr>
        <p:spPr>
          <a:xfrm>
            <a:off x="0" y="0"/>
            <a:ext cx="9906000" cy="1700213"/>
          </a:xfrm>
        </p:spPr>
        <p:txBody>
          <a:bodyPr/>
          <a:lstStyle/>
          <a:p>
            <a:pPr eaLnBrk="1" hangingPunct="1"/>
            <a:r>
              <a:rPr lang="en-GB" sz="3200" b="1" smtClean="0"/>
              <a:t>DESCARTES ON THE NERVOUS SYSTEM</a:t>
            </a:r>
            <a:endParaRPr lang="en-US" sz="3200" b="1" smtClean="0"/>
          </a:p>
        </p:txBody>
      </p:sp>
      <p:sp>
        <p:nvSpPr>
          <p:cNvPr id="9220" name="Rectangle 8"/>
          <p:cNvSpPr>
            <a:spLocks noChangeArrowheads="1"/>
          </p:cNvSpPr>
          <p:nvPr/>
        </p:nvSpPr>
        <p:spPr bwMode="auto">
          <a:xfrm>
            <a:off x="142876" y="1428736"/>
            <a:ext cx="3881430" cy="2786082"/>
          </a:xfrm>
          <a:prstGeom prst="rect">
            <a:avLst/>
          </a:prstGeom>
          <a:noFill/>
          <a:ln w="9525">
            <a:noFill/>
            <a:miter lim="800000"/>
            <a:headEnd/>
            <a:tailEnd/>
          </a:ln>
        </p:spPr>
        <p:txBody>
          <a:bodyPr anchor="ctr"/>
          <a:lstStyle/>
          <a:p>
            <a:r>
              <a:rPr lang="en-GB" sz="2400" b="1" dirty="0">
                <a:solidFill>
                  <a:schemeClr val="tx2"/>
                </a:solidFill>
              </a:rPr>
              <a:t>This image is from Rene Descartes' </a:t>
            </a:r>
            <a:r>
              <a:rPr lang="en-GB" sz="2400" b="1" i="1" dirty="0">
                <a:solidFill>
                  <a:schemeClr val="tx2"/>
                </a:solidFill>
              </a:rPr>
              <a:t>Treatise of Man</a:t>
            </a:r>
            <a:r>
              <a:rPr lang="en-GB" sz="2400" b="1" dirty="0">
                <a:solidFill>
                  <a:schemeClr val="tx2"/>
                </a:solidFill>
              </a:rPr>
              <a:t> (1662), and speculates </a:t>
            </a:r>
            <a:r>
              <a:rPr lang="en-GB" sz="2400" b="1" dirty="0" smtClean="0">
                <a:solidFill>
                  <a:schemeClr val="tx2"/>
                </a:solidFill>
              </a:rPr>
              <a:t>as to </a:t>
            </a:r>
            <a:r>
              <a:rPr lang="en-GB" sz="2400" b="1" dirty="0">
                <a:solidFill>
                  <a:schemeClr val="tx2"/>
                </a:solidFill>
              </a:rPr>
              <a:t>how biological information processing might be vertically differentiated.</a:t>
            </a:r>
            <a:endParaRPr lang="en-US" sz="2400" b="1" dirty="0">
              <a:solidFill>
                <a:schemeClr val="tx2"/>
              </a:solidFill>
            </a:endParaRPr>
          </a:p>
        </p:txBody>
      </p:sp>
      <p:pic>
        <p:nvPicPr>
          <p:cNvPr id="9221" name="Picture 9" descr="mugshot-descartes"/>
          <p:cNvPicPr>
            <a:picLocks noChangeAspect="1" noChangeArrowheads="1"/>
          </p:cNvPicPr>
          <p:nvPr/>
        </p:nvPicPr>
        <p:blipFill>
          <a:blip r:embed="rId3" cstate="print"/>
          <a:srcRect/>
          <a:stretch>
            <a:fillRect/>
          </a:stretch>
        </p:blipFill>
        <p:spPr bwMode="auto">
          <a:xfrm>
            <a:off x="238092" y="4500570"/>
            <a:ext cx="1712912" cy="2089150"/>
          </a:xfrm>
          <a:prstGeom prst="rect">
            <a:avLst/>
          </a:prstGeom>
          <a:noFill/>
          <a:ln w="9525">
            <a:noFill/>
            <a:miter lim="800000"/>
            <a:headEnd/>
            <a:tailEnd/>
          </a:ln>
        </p:spPr>
      </p:pic>
      <p:sp>
        <p:nvSpPr>
          <p:cNvPr id="9222" name="AutoShape 12"/>
          <p:cNvSpPr>
            <a:spLocks noChangeArrowheads="1"/>
          </p:cNvSpPr>
          <p:nvPr/>
        </p:nvSpPr>
        <p:spPr bwMode="auto">
          <a:xfrm>
            <a:off x="6953264" y="1500174"/>
            <a:ext cx="2952736" cy="1785950"/>
          </a:xfrm>
          <a:prstGeom prst="wedgeRoundRectCallout">
            <a:avLst>
              <a:gd name="adj1" fmla="val -63474"/>
              <a:gd name="adj2" fmla="val 61654"/>
              <a:gd name="adj3" fmla="val 16667"/>
            </a:avLst>
          </a:prstGeom>
          <a:solidFill>
            <a:srgbClr val="FF9900"/>
          </a:solidFill>
          <a:ln w="9525">
            <a:solidFill>
              <a:schemeClr val="tx1"/>
            </a:solidFill>
            <a:miter lim="800000"/>
            <a:headEnd/>
            <a:tailEnd/>
          </a:ln>
        </p:spPr>
        <p:txBody>
          <a:bodyPr/>
          <a:lstStyle/>
          <a:p>
            <a:pPr algn="ctr"/>
            <a:r>
              <a:rPr lang="en-GB" sz="2000" b="1" dirty="0"/>
              <a:t>NOTE THE PRIMITIVE BIOLOGICAL REAL-TIME CONTROL HIERARCHY.</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7" name="Group 12"/>
          <p:cNvGrpSpPr>
            <a:grpSpLocks/>
          </p:cNvGrpSpPr>
          <p:nvPr/>
        </p:nvGrpSpPr>
        <p:grpSpPr bwMode="auto">
          <a:xfrm>
            <a:off x="1136650" y="1916113"/>
            <a:ext cx="7634288" cy="4941887"/>
            <a:chOff x="716" y="1207"/>
            <a:chExt cx="4809" cy="3113"/>
          </a:xfrm>
        </p:grpSpPr>
        <p:pic>
          <p:nvPicPr>
            <p:cNvPr id="11268" name="Picture 4" descr="PICkleist1934-leftlateral"/>
            <p:cNvPicPr>
              <a:picLocks noChangeAspect="1" noChangeArrowheads="1"/>
            </p:cNvPicPr>
            <p:nvPr/>
          </p:nvPicPr>
          <p:blipFill>
            <a:blip r:embed="rId2" cstate="print"/>
            <a:srcRect/>
            <a:stretch>
              <a:fillRect/>
            </a:stretch>
          </p:blipFill>
          <p:spPr bwMode="auto">
            <a:xfrm>
              <a:off x="807" y="1245"/>
              <a:ext cx="4718" cy="3075"/>
            </a:xfrm>
            <a:prstGeom prst="rect">
              <a:avLst/>
            </a:prstGeom>
            <a:noFill/>
            <a:ln w="9525">
              <a:noFill/>
              <a:miter lim="800000"/>
              <a:headEnd/>
              <a:tailEnd/>
            </a:ln>
          </p:spPr>
        </p:pic>
        <p:sp>
          <p:nvSpPr>
            <p:cNvPr id="11269" name="Rectangle 11"/>
            <p:cNvSpPr>
              <a:spLocks noChangeArrowheads="1"/>
            </p:cNvSpPr>
            <p:nvPr/>
          </p:nvSpPr>
          <p:spPr bwMode="auto">
            <a:xfrm>
              <a:off x="716" y="1207"/>
              <a:ext cx="1860" cy="318"/>
            </a:xfrm>
            <a:prstGeom prst="rect">
              <a:avLst/>
            </a:prstGeom>
            <a:solidFill>
              <a:schemeClr val="bg1"/>
            </a:solidFill>
            <a:ln w="9525">
              <a:noFill/>
              <a:miter lim="800000"/>
              <a:headEnd/>
              <a:tailEnd/>
            </a:ln>
          </p:spPr>
          <p:txBody>
            <a:bodyPr wrap="none" anchor="ctr"/>
            <a:lstStyle/>
            <a:p>
              <a:pPr algn="ctr"/>
              <a:endParaRPr lang="en-GB"/>
            </a:p>
          </p:txBody>
        </p:sp>
      </p:grpSp>
      <p:sp>
        <p:nvSpPr>
          <p:cNvPr id="6" name="Rectangle 3"/>
          <p:cNvSpPr txBox="1">
            <a:spLocks noChangeArrowheads="1"/>
          </p:cNvSpPr>
          <p:nvPr/>
        </p:nvSpPr>
        <p:spPr bwMode="auto">
          <a:xfrm>
            <a:off x="0" y="785794"/>
            <a:ext cx="9906000" cy="10429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400" b="1" i="0" u="none" strike="noStrike" kern="0" cap="none" spc="0" normalizeH="0" baseline="0" noProof="0" dirty="0" smtClean="0">
                <a:ln>
                  <a:noFill/>
                </a:ln>
                <a:solidFill>
                  <a:schemeClr val="tx1"/>
                </a:solidFill>
                <a:effectLst/>
                <a:uLnTx/>
                <a:uFillTx/>
                <a:latin typeface="+mn-lt"/>
                <a:ea typeface="+mn-ea"/>
                <a:cs typeface="+mn-cs"/>
              </a:rPr>
              <a:t>By the mid-20</a:t>
            </a:r>
            <a:r>
              <a:rPr kumimoji="0" lang="en-US" sz="2400" b="1" i="0" u="none" strike="noStrike" kern="0" cap="none" spc="0" normalizeH="0" baseline="30000" noProof="0" dirty="0" smtClean="0">
                <a:ln>
                  <a:noFill/>
                </a:ln>
                <a:solidFill>
                  <a:schemeClr val="tx1"/>
                </a:solidFill>
                <a:effectLst/>
                <a:uLnTx/>
                <a:uFillTx/>
                <a:latin typeface="+mn-lt"/>
                <a:ea typeface="+mn-ea"/>
                <a:cs typeface="+mn-cs"/>
              </a:rPr>
              <a:t>th</a:t>
            </a:r>
            <a:r>
              <a:rPr kumimoji="0" lang="en-US" sz="2400" b="1" i="0" u="none" strike="noStrike" kern="0" cap="none" spc="0" normalizeH="0" baseline="0" noProof="0" dirty="0" smtClean="0">
                <a:ln>
                  <a:noFill/>
                </a:ln>
                <a:solidFill>
                  <a:schemeClr val="tx1"/>
                </a:solidFill>
                <a:effectLst/>
                <a:uLnTx/>
                <a:uFillTx/>
                <a:latin typeface="+mn-lt"/>
                <a:ea typeface="+mn-ea"/>
                <a:cs typeface="+mn-cs"/>
              </a:rPr>
              <a:t> century, neuropsychologists had a reasonable idea where many elements of higher cognition were located.</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0" y="0"/>
            <a:ext cx="9906000" cy="1773238"/>
          </a:xfrm>
          <a:prstGeom prst="rect">
            <a:avLst/>
          </a:prstGeom>
          <a:noFill/>
          <a:ln w="9525">
            <a:noFill/>
            <a:miter lim="800000"/>
            <a:headEnd/>
            <a:tailEnd/>
          </a:ln>
        </p:spPr>
        <p:txBody>
          <a:bodyPr anchor="ctr"/>
          <a:lstStyle/>
          <a:p>
            <a:pPr algn="ctr" eaLnBrk="0" hangingPunct="0">
              <a:defRPr/>
            </a:pPr>
            <a:r>
              <a:rPr lang="en-GB" sz="3200" b="1" kern="0" dirty="0">
                <a:solidFill>
                  <a:schemeClr val="tx2"/>
                </a:solidFill>
                <a:latin typeface="+mj-lt"/>
                <a:ea typeface="+mj-ea"/>
                <a:cs typeface="+mj-cs"/>
              </a:rPr>
              <a:t>BUT THE PICTURE </a:t>
            </a:r>
            <a:r>
              <a:rPr lang="en-GB" sz="3200" b="1" kern="0" dirty="0" smtClean="0">
                <a:solidFill>
                  <a:schemeClr val="tx2"/>
                </a:solidFill>
                <a:latin typeface="+mj-lt"/>
                <a:ea typeface="+mj-ea"/>
                <a:cs typeface="+mj-cs"/>
              </a:rPr>
              <a:t>REMAINS HAZY </a:t>
            </a:r>
            <a:r>
              <a:rPr lang="en-GB" sz="3200" b="1" kern="0" dirty="0">
                <a:solidFill>
                  <a:schemeClr val="tx2"/>
                </a:solidFill>
                <a:latin typeface="+mj-lt"/>
                <a:ea typeface="+mj-ea"/>
                <a:cs typeface="+mj-cs"/>
              </a:rPr>
              <a:t>FOR THE HIGHEST OF THE HIGHER FUNCTIONS</a:t>
            </a:r>
            <a:endParaRPr lang="en-US" sz="3200" b="1" kern="0" dirty="0">
              <a:solidFill>
                <a:schemeClr val="tx2"/>
              </a:solidFill>
              <a:latin typeface="+mj-lt"/>
              <a:ea typeface="+mj-ea"/>
              <a:cs typeface="+mj-cs"/>
            </a:endParaRPr>
          </a:p>
        </p:txBody>
      </p:sp>
      <p:pic>
        <p:nvPicPr>
          <p:cNvPr id="12291" name="Picture 4" descr="PICkleist1934-leftlateral"/>
          <p:cNvPicPr>
            <a:picLocks noChangeAspect="1" noChangeArrowheads="1"/>
          </p:cNvPicPr>
          <p:nvPr/>
        </p:nvPicPr>
        <p:blipFill>
          <a:blip r:embed="rId2" cstate="print"/>
          <a:srcRect/>
          <a:stretch>
            <a:fillRect/>
          </a:stretch>
        </p:blipFill>
        <p:spPr bwMode="auto">
          <a:xfrm>
            <a:off x="4575175" y="3382963"/>
            <a:ext cx="5330825" cy="3475037"/>
          </a:xfrm>
          <a:prstGeom prst="rect">
            <a:avLst/>
          </a:prstGeom>
          <a:noFill/>
          <a:ln w="9525">
            <a:noFill/>
            <a:miter lim="800000"/>
            <a:headEnd/>
            <a:tailEnd/>
          </a:ln>
        </p:spPr>
      </p:pic>
      <p:sp>
        <p:nvSpPr>
          <p:cNvPr id="12292" name="AutoShape 5"/>
          <p:cNvSpPr>
            <a:spLocks noChangeArrowheads="1"/>
          </p:cNvSpPr>
          <p:nvPr/>
        </p:nvSpPr>
        <p:spPr bwMode="auto">
          <a:xfrm>
            <a:off x="200024" y="1916113"/>
            <a:ext cx="3395653" cy="4441845"/>
          </a:xfrm>
          <a:prstGeom prst="wedgeRoundRectCallout">
            <a:avLst>
              <a:gd name="adj1" fmla="val 78804"/>
              <a:gd name="adj2" fmla="val 20495"/>
              <a:gd name="adj3" fmla="val 16667"/>
            </a:avLst>
          </a:prstGeom>
          <a:solidFill>
            <a:schemeClr val="accent1"/>
          </a:solidFill>
          <a:ln w="9525">
            <a:solidFill>
              <a:schemeClr val="tx1"/>
            </a:solidFill>
            <a:miter lim="800000"/>
            <a:headEnd/>
            <a:tailEnd/>
          </a:ln>
        </p:spPr>
        <p:txBody>
          <a:bodyPr/>
          <a:lstStyle/>
          <a:p>
            <a:pPr algn="ctr"/>
            <a:r>
              <a:rPr lang="en-GB" sz="2400" b="1" dirty="0" err="1" smtClean="0"/>
              <a:t>DIRECTABLE</a:t>
            </a:r>
            <a:r>
              <a:rPr lang="en-GB" sz="2400" b="1" dirty="0" smtClean="0"/>
              <a:t> </a:t>
            </a:r>
            <a:endParaRPr lang="en-GB" sz="2400" b="1" dirty="0"/>
          </a:p>
          <a:p>
            <a:pPr algn="ctr"/>
            <a:r>
              <a:rPr lang="en-GB" sz="2400" b="1" dirty="0"/>
              <a:t>PHENOMENAL AWARENESS</a:t>
            </a:r>
            <a:r>
              <a:rPr lang="en-GB" sz="2400" b="1" dirty="0" smtClean="0"/>
              <a:t>???</a:t>
            </a:r>
          </a:p>
          <a:p>
            <a:pPr algn="ctr"/>
            <a:endParaRPr lang="en-GB" sz="2400" b="1" dirty="0" smtClean="0"/>
          </a:p>
          <a:p>
            <a:pPr algn="ctr"/>
            <a:r>
              <a:rPr lang="en-GB" sz="2400" b="1" dirty="0" smtClean="0"/>
              <a:t>SUBJECTIVITY AND SELF???</a:t>
            </a:r>
            <a:endParaRPr lang="en-GB" sz="2400" b="1" dirty="0"/>
          </a:p>
          <a:p>
            <a:pPr algn="ctr"/>
            <a:endParaRPr lang="en-GB" sz="2400" b="1" dirty="0"/>
          </a:p>
          <a:p>
            <a:pPr algn="ctr"/>
            <a:r>
              <a:rPr lang="en-GB" sz="2400" b="1" dirty="0"/>
              <a:t>THE WILL</a:t>
            </a:r>
            <a:r>
              <a:rPr lang="en-GB" sz="2400" b="1" dirty="0" smtClean="0"/>
              <a:t>???</a:t>
            </a:r>
          </a:p>
          <a:p>
            <a:pPr algn="ctr"/>
            <a:endParaRPr lang="en-GB" sz="2400" b="1" dirty="0" smtClean="0"/>
          </a:p>
          <a:p>
            <a:pPr algn="ctr"/>
            <a:r>
              <a:rPr lang="en-GB" sz="2400" b="1" dirty="0" smtClean="0"/>
              <a:t>AESTHETIC APPRECIATION???</a:t>
            </a:r>
          </a:p>
          <a:p>
            <a:pPr algn="ctr"/>
            <a:endParaRPr lang="en-GB" sz="2400" b="1" dirty="0" smtClean="0">
              <a:solidFill>
                <a:srgbClr val="FF0000"/>
              </a:solidFill>
            </a:endParaRPr>
          </a:p>
          <a:p>
            <a:pPr algn="ctr"/>
            <a:endParaRPr lang="en-US" sz="2400" b="1" dirty="0">
              <a:solidFill>
                <a:srgbClr val="FF0000"/>
              </a:solidFill>
            </a:endParaRPr>
          </a:p>
        </p:txBody>
      </p:sp>
      <p:sp>
        <p:nvSpPr>
          <p:cNvPr id="12293" name="Text Box 6"/>
          <p:cNvSpPr txBox="1">
            <a:spLocks noChangeArrowheads="1"/>
          </p:cNvSpPr>
          <p:nvPr/>
        </p:nvSpPr>
        <p:spPr bwMode="auto">
          <a:xfrm>
            <a:off x="4376738" y="3429000"/>
            <a:ext cx="5329237" cy="2530475"/>
          </a:xfrm>
          <a:prstGeom prst="rect">
            <a:avLst/>
          </a:prstGeom>
          <a:noFill/>
          <a:ln w="9525">
            <a:noFill/>
            <a:miter lim="800000"/>
            <a:headEnd/>
            <a:tailEnd/>
          </a:ln>
        </p:spPr>
        <p:txBody>
          <a:bodyPr>
            <a:spAutoFit/>
          </a:bodyPr>
          <a:lstStyle/>
          <a:p>
            <a:pPr>
              <a:spcBef>
                <a:spcPct val="50000"/>
              </a:spcBef>
            </a:pPr>
            <a:r>
              <a:rPr lang="en-GB" sz="8000">
                <a:solidFill>
                  <a:srgbClr val="FF0000"/>
                </a:solidFill>
              </a:rPr>
              <a:t>??????????????????</a:t>
            </a:r>
            <a:endParaRPr lang="en-US" sz="8000">
              <a:solidFill>
                <a:srgbClr val="FF0000"/>
              </a:solidFill>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0" y="0"/>
            <a:ext cx="9906000" cy="1844675"/>
          </a:xfrm>
        </p:spPr>
        <p:txBody>
          <a:bodyPr/>
          <a:lstStyle/>
          <a:p>
            <a:pPr eaLnBrk="1" hangingPunct="1"/>
            <a:r>
              <a:rPr lang="en-GB" sz="3200" b="1" dirty="0" smtClean="0">
                <a:solidFill>
                  <a:schemeClr val="tx1"/>
                </a:solidFill>
              </a:rPr>
              <a:t>HIERARCHICAL MODELS</a:t>
            </a:r>
            <a:endParaRPr lang="en-US" sz="3200" b="1" dirty="0" smtClean="0">
              <a:solidFill>
                <a:schemeClr val="tx1"/>
              </a:solidFill>
            </a:endParaRPr>
          </a:p>
        </p:txBody>
      </p:sp>
      <p:sp>
        <p:nvSpPr>
          <p:cNvPr id="13315" name="Rectangle 3"/>
          <p:cNvSpPr>
            <a:spLocks noGrp="1" noChangeArrowheads="1"/>
          </p:cNvSpPr>
          <p:nvPr>
            <p:ph type="body" idx="1"/>
          </p:nvPr>
        </p:nvSpPr>
        <p:spPr>
          <a:xfrm>
            <a:off x="0" y="1916113"/>
            <a:ext cx="9667908" cy="4941887"/>
          </a:xfrm>
        </p:spPr>
        <p:txBody>
          <a:bodyPr/>
          <a:lstStyle/>
          <a:p>
            <a:pPr eaLnBrk="1" hangingPunct="1"/>
            <a:r>
              <a:rPr lang="en-US" sz="2400" b="1" dirty="0" smtClean="0"/>
              <a:t>Neuropsychological theory has been routinely held back over the years by the fact that there has never been a universally accepted graphical method to help us </a:t>
            </a:r>
            <a:r>
              <a:rPr lang="en-US" sz="2400" b="1" dirty="0" err="1" smtClean="0"/>
              <a:t>analyse</a:t>
            </a:r>
            <a:r>
              <a:rPr lang="en-US" sz="2400" b="1" dirty="0" smtClean="0"/>
              <a:t> the flow of mental information during cognition. </a:t>
            </a:r>
            <a:r>
              <a:rPr lang="en-US" sz="2400" b="1" dirty="0" smtClean="0">
                <a:solidFill>
                  <a:schemeClr val="accent2"/>
                </a:solidFill>
              </a:rPr>
              <a:t>Instead, different authors have presented their conclusions in different ways and at different levels of detail, to suit the thrust of their argument at the time.</a:t>
            </a:r>
          </a:p>
          <a:p>
            <a:pPr eaLnBrk="1" hangingPunct="1"/>
            <a:endParaRPr lang="en-GB" sz="2400" b="1" dirty="0" smtClean="0">
              <a:solidFill>
                <a:schemeClr val="accent2"/>
              </a:solidFill>
            </a:endParaRPr>
          </a:p>
          <a:p>
            <a:pPr eaLnBrk="1" hangingPunct="1"/>
            <a:r>
              <a:rPr lang="en-US" sz="2400" b="1" dirty="0" smtClean="0">
                <a:solidFill>
                  <a:schemeClr val="accent2"/>
                </a:solidFill>
              </a:rPr>
              <a:t>Here are some typical</a:t>
            </a:r>
            <a:r>
              <a:rPr lang="en-GB" sz="2400" b="1" dirty="0" smtClean="0">
                <a:solidFill>
                  <a:schemeClr val="accent2"/>
                </a:solidFill>
              </a:rPr>
              <a:t> hierarchically structured diagrams, identical in intent, if not in detail. </a:t>
            </a:r>
            <a:r>
              <a:rPr lang="en-GB" sz="2400" b="1" dirty="0" smtClean="0">
                <a:solidFill>
                  <a:srgbClr val="FF0000"/>
                </a:solidFill>
              </a:rPr>
              <a:t>NOTE THE UNDERLYING A-SHAPE .....</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0" y="0"/>
            <a:ext cx="9906000" cy="1700213"/>
          </a:xfrm>
        </p:spPr>
        <p:txBody>
          <a:bodyPr/>
          <a:lstStyle/>
          <a:p>
            <a:pPr eaLnBrk="1" hangingPunct="1"/>
            <a:r>
              <a:rPr lang="en-GB" sz="3200" b="1" dirty="0" smtClean="0"/>
              <a:t>WILLIAM JAMES’ (1890) HIERARCHICAL MODEL</a:t>
            </a:r>
            <a:endParaRPr lang="en-US" sz="2000" b="1" dirty="0" smtClean="0"/>
          </a:p>
        </p:txBody>
      </p:sp>
      <p:sp>
        <p:nvSpPr>
          <p:cNvPr id="14339" name="Rectangle 12"/>
          <p:cNvSpPr>
            <a:spLocks noChangeArrowheads="1"/>
          </p:cNvSpPr>
          <p:nvPr/>
        </p:nvSpPr>
        <p:spPr bwMode="auto">
          <a:xfrm>
            <a:off x="7242175" y="2349500"/>
            <a:ext cx="2663825" cy="504825"/>
          </a:xfrm>
          <a:prstGeom prst="rect">
            <a:avLst/>
          </a:prstGeom>
          <a:noFill/>
          <a:ln w="9525">
            <a:noFill/>
            <a:miter lim="800000"/>
            <a:headEnd/>
            <a:tailEnd/>
          </a:ln>
        </p:spPr>
        <p:txBody>
          <a:bodyPr/>
          <a:lstStyle/>
          <a:p>
            <a:pPr marL="342900" indent="-342900">
              <a:lnSpc>
                <a:spcPct val="80000"/>
              </a:lnSpc>
              <a:spcBef>
                <a:spcPct val="20000"/>
              </a:spcBef>
              <a:buFontTx/>
              <a:buChar char="•"/>
            </a:pPr>
            <a:r>
              <a:rPr lang="en-GB" b="1" dirty="0">
                <a:hlinkClick r:id="rId2"/>
              </a:rPr>
              <a:t>Click for additional explanation</a:t>
            </a:r>
            <a:endParaRPr lang="en-GB" b="1" dirty="0"/>
          </a:p>
        </p:txBody>
      </p:sp>
      <p:sp>
        <p:nvSpPr>
          <p:cNvPr id="14340" name="Text Box 13"/>
          <p:cNvSpPr txBox="1">
            <a:spLocks noChangeArrowheads="1"/>
          </p:cNvSpPr>
          <p:nvPr/>
        </p:nvSpPr>
        <p:spPr bwMode="auto">
          <a:xfrm>
            <a:off x="7832725" y="4724400"/>
            <a:ext cx="1868488" cy="519113"/>
          </a:xfrm>
          <a:prstGeom prst="rect">
            <a:avLst/>
          </a:prstGeom>
          <a:noFill/>
          <a:ln w="9525">
            <a:noFill/>
            <a:miter lim="800000"/>
            <a:headEnd/>
            <a:tailEnd/>
          </a:ln>
        </p:spPr>
        <p:txBody>
          <a:bodyPr wrap="none">
            <a:spAutoFit/>
          </a:bodyPr>
          <a:lstStyle/>
          <a:p>
            <a:r>
              <a:rPr lang="en-GB" sz="2800" b="1">
                <a:solidFill>
                  <a:srgbClr val="FF0000"/>
                </a:solidFill>
              </a:rPr>
              <a:t>Aesthesis</a:t>
            </a:r>
            <a:endParaRPr lang="en-US" sz="2800" b="1">
              <a:solidFill>
                <a:srgbClr val="FF0000"/>
              </a:solidFill>
            </a:endParaRPr>
          </a:p>
        </p:txBody>
      </p:sp>
      <p:sp>
        <p:nvSpPr>
          <p:cNvPr id="14341" name="Text Box 14"/>
          <p:cNvSpPr txBox="1">
            <a:spLocks noChangeArrowheads="1"/>
          </p:cNvSpPr>
          <p:nvPr/>
        </p:nvSpPr>
        <p:spPr bwMode="auto">
          <a:xfrm>
            <a:off x="849313" y="4724400"/>
            <a:ext cx="1252537" cy="519113"/>
          </a:xfrm>
          <a:prstGeom prst="rect">
            <a:avLst/>
          </a:prstGeom>
          <a:noFill/>
          <a:ln w="9525">
            <a:noFill/>
            <a:miter lim="800000"/>
            <a:headEnd/>
            <a:tailEnd/>
          </a:ln>
        </p:spPr>
        <p:txBody>
          <a:bodyPr wrap="none">
            <a:spAutoFit/>
          </a:bodyPr>
          <a:lstStyle/>
          <a:p>
            <a:r>
              <a:rPr lang="en-GB" sz="2800" b="1">
                <a:solidFill>
                  <a:srgbClr val="FF0000"/>
                </a:solidFill>
              </a:rPr>
              <a:t>Praxis</a:t>
            </a:r>
            <a:endParaRPr lang="en-US" sz="2800" b="1">
              <a:solidFill>
                <a:srgbClr val="FF0000"/>
              </a:solidFill>
            </a:endParaRPr>
          </a:p>
        </p:txBody>
      </p:sp>
      <p:sp>
        <p:nvSpPr>
          <p:cNvPr id="14342" name="AutoShape 16"/>
          <p:cNvSpPr>
            <a:spLocks/>
          </p:cNvSpPr>
          <p:nvPr/>
        </p:nvSpPr>
        <p:spPr bwMode="auto">
          <a:xfrm>
            <a:off x="2433638" y="3257550"/>
            <a:ext cx="503237" cy="3529013"/>
          </a:xfrm>
          <a:prstGeom prst="leftBrace">
            <a:avLst>
              <a:gd name="adj1" fmla="val 58439"/>
              <a:gd name="adj2" fmla="val 50000"/>
            </a:avLst>
          </a:prstGeom>
          <a:noFill/>
          <a:ln w="38100">
            <a:solidFill>
              <a:schemeClr val="tx1"/>
            </a:solidFill>
            <a:round/>
            <a:headEnd/>
            <a:tailEnd/>
          </a:ln>
        </p:spPr>
        <p:txBody>
          <a:bodyPr wrap="none" anchor="ctr"/>
          <a:lstStyle/>
          <a:p>
            <a:pPr algn="ctr"/>
            <a:endParaRPr lang="en-GB"/>
          </a:p>
        </p:txBody>
      </p:sp>
      <p:sp>
        <p:nvSpPr>
          <p:cNvPr id="14343" name="AutoShape 17"/>
          <p:cNvSpPr>
            <a:spLocks/>
          </p:cNvSpPr>
          <p:nvPr/>
        </p:nvSpPr>
        <p:spPr bwMode="auto">
          <a:xfrm>
            <a:off x="7400925" y="3257550"/>
            <a:ext cx="360363" cy="3529013"/>
          </a:xfrm>
          <a:prstGeom prst="rightBrace">
            <a:avLst>
              <a:gd name="adj1" fmla="val 81608"/>
              <a:gd name="adj2" fmla="val 50000"/>
            </a:avLst>
          </a:prstGeom>
          <a:noFill/>
          <a:ln w="38100">
            <a:solidFill>
              <a:schemeClr val="tx1"/>
            </a:solidFill>
            <a:round/>
            <a:headEnd/>
            <a:tailEnd/>
          </a:ln>
        </p:spPr>
        <p:txBody>
          <a:bodyPr wrap="none" anchor="ctr"/>
          <a:lstStyle/>
          <a:p>
            <a:pPr algn="ctr"/>
            <a:endParaRPr lang="en-GB"/>
          </a:p>
        </p:txBody>
      </p:sp>
      <p:sp>
        <p:nvSpPr>
          <p:cNvPr id="14344" name="Text Box 19"/>
          <p:cNvSpPr txBox="1">
            <a:spLocks noChangeArrowheads="1"/>
          </p:cNvSpPr>
          <p:nvPr/>
        </p:nvSpPr>
        <p:spPr bwMode="auto">
          <a:xfrm>
            <a:off x="2758348" y="1334144"/>
            <a:ext cx="4878259" cy="523220"/>
          </a:xfrm>
          <a:prstGeom prst="rect">
            <a:avLst/>
          </a:prstGeom>
          <a:noFill/>
          <a:ln w="9525">
            <a:noFill/>
            <a:miter lim="800000"/>
            <a:headEnd/>
            <a:tailEnd/>
          </a:ln>
        </p:spPr>
        <p:txBody>
          <a:bodyPr wrap="none">
            <a:spAutoFit/>
          </a:bodyPr>
          <a:lstStyle/>
          <a:p>
            <a:pPr algn="ctr"/>
            <a:r>
              <a:rPr lang="en-GB" sz="2800" b="1" dirty="0" smtClean="0">
                <a:solidFill>
                  <a:srgbClr val="FF0000"/>
                </a:solidFill>
              </a:rPr>
              <a:t>Higher Cognitive Functions</a:t>
            </a:r>
            <a:endParaRPr lang="en-US" sz="2800" b="1" dirty="0">
              <a:solidFill>
                <a:srgbClr val="FF0000"/>
              </a:solidFill>
            </a:endParaRPr>
          </a:p>
        </p:txBody>
      </p:sp>
      <p:sp>
        <p:nvSpPr>
          <p:cNvPr id="14345" name="AutoShape 20"/>
          <p:cNvSpPr>
            <a:spLocks/>
          </p:cNvSpPr>
          <p:nvPr/>
        </p:nvSpPr>
        <p:spPr bwMode="auto">
          <a:xfrm rot="-5400000">
            <a:off x="4916487" y="728663"/>
            <a:ext cx="360363" cy="3024188"/>
          </a:xfrm>
          <a:prstGeom prst="rightBrace">
            <a:avLst>
              <a:gd name="adj1" fmla="val 69934"/>
              <a:gd name="adj2" fmla="val 48657"/>
            </a:avLst>
          </a:prstGeom>
          <a:noFill/>
          <a:ln w="38100">
            <a:solidFill>
              <a:schemeClr val="tx1"/>
            </a:solidFill>
            <a:round/>
            <a:headEnd/>
            <a:tailEnd/>
          </a:ln>
        </p:spPr>
        <p:txBody>
          <a:bodyPr wrap="none" anchor="ctr"/>
          <a:lstStyle/>
          <a:p>
            <a:pPr algn="ctr"/>
            <a:endParaRPr lang="en-GB"/>
          </a:p>
        </p:txBody>
      </p:sp>
      <p:pic>
        <p:nvPicPr>
          <p:cNvPr id="14346" name="Picture 22" descr="[James's loop-line omega diagram]"/>
          <p:cNvPicPr>
            <a:picLocks noChangeAspect="1" noChangeArrowheads="1"/>
          </p:cNvPicPr>
          <p:nvPr/>
        </p:nvPicPr>
        <p:blipFill>
          <a:blip r:embed="rId3" cstate="print"/>
          <a:srcRect/>
          <a:stretch>
            <a:fillRect/>
          </a:stretch>
        </p:blipFill>
        <p:spPr bwMode="auto">
          <a:xfrm>
            <a:off x="3944938" y="3357563"/>
            <a:ext cx="2286000" cy="2571750"/>
          </a:xfrm>
          <a:prstGeom prst="rect">
            <a:avLst/>
          </a:prstGeom>
          <a:noFill/>
          <a:ln w="9525">
            <a:noFill/>
            <a:miter lim="800000"/>
            <a:headEnd/>
            <a:tailEnd/>
          </a:ln>
        </p:spPr>
      </p:pic>
      <p:pic>
        <p:nvPicPr>
          <p:cNvPr id="14347" name="Picture 24" descr="William_James">
            <a:hlinkClick r:id="rId4"/>
          </p:cNvPr>
          <p:cNvPicPr>
            <a:picLocks noChangeAspect="1" noChangeArrowheads="1"/>
          </p:cNvPicPr>
          <p:nvPr/>
        </p:nvPicPr>
        <p:blipFill>
          <a:blip r:embed="rId5" cstate="print"/>
          <a:srcRect/>
          <a:stretch>
            <a:fillRect/>
          </a:stretch>
        </p:blipFill>
        <p:spPr bwMode="auto">
          <a:xfrm>
            <a:off x="604838" y="1844675"/>
            <a:ext cx="1563687" cy="2232025"/>
          </a:xfrm>
          <a:prstGeom prst="rect">
            <a:avLst/>
          </a:prstGeom>
          <a:noFill/>
          <a:ln w="9525">
            <a:noFill/>
            <a:miter lim="800000"/>
            <a:headEnd/>
            <a:tailEnd/>
          </a:ln>
        </p:spPr>
      </p:pic>
      <p:pic>
        <p:nvPicPr>
          <p:cNvPr id="14348" name="Picture 4" descr="PICdescartes1662"/>
          <p:cNvPicPr>
            <a:picLocks noChangeAspect="1" noChangeArrowheads="1"/>
          </p:cNvPicPr>
          <p:nvPr/>
        </p:nvPicPr>
        <p:blipFill>
          <a:blip r:embed="rId6" cstate="print"/>
          <a:srcRect/>
          <a:stretch>
            <a:fillRect/>
          </a:stretch>
        </p:blipFill>
        <p:spPr bwMode="auto">
          <a:xfrm>
            <a:off x="-47625" y="5422900"/>
            <a:ext cx="1373188" cy="14351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0"/>
            <a:ext cx="9906000" cy="1700213"/>
          </a:xfrm>
        </p:spPr>
        <p:txBody>
          <a:bodyPr/>
          <a:lstStyle/>
          <a:p>
            <a:pPr eaLnBrk="1" hangingPunct="1"/>
            <a:r>
              <a:rPr lang="en-GB" sz="3200" b="1" smtClean="0"/>
              <a:t>WUNDT'S (1902) HIERARCHICAL MODEL</a:t>
            </a:r>
            <a:endParaRPr lang="en-US" sz="2000" b="1" smtClean="0"/>
          </a:p>
        </p:txBody>
      </p:sp>
      <p:sp>
        <p:nvSpPr>
          <p:cNvPr id="15363" name="Rectangle 4"/>
          <p:cNvSpPr>
            <a:spLocks noChangeArrowheads="1"/>
          </p:cNvSpPr>
          <p:nvPr/>
        </p:nvSpPr>
        <p:spPr bwMode="auto">
          <a:xfrm>
            <a:off x="7242175" y="2349500"/>
            <a:ext cx="2663825" cy="504825"/>
          </a:xfrm>
          <a:prstGeom prst="rect">
            <a:avLst/>
          </a:prstGeom>
          <a:noFill/>
          <a:ln w="9525">
            <a:noFill/>
            <a:miter lim="800000"/>
            <a:headEnd/>
            <a:tailEnd/>
          </a:ln>
        </p:spPr>
        <p:txBody>
          <a:bodyPr/>
          <a:lstStyle/>
          <a:p>
            <a:pPr marL="342900" indent="-342900">
              <a:lnSpc>
                <a:spcPct val="80000"/>
              </a:lnSpc>
              <a:spcBef>
                <a:spcPct val="20000"/>
              </a:spcBef>
              <a:buFontTx/>
              <a:buChar char="•"/>
            </a:pPr>
            <a:r>
              <a:rPr lang="en-GB" b="1" dirty="0">
                <a:hlinkClick r:id="rId2"/>
              </a:rPr>
              <a:t>Click for additional explanation</a:t>
            </a:r>
            <a:endParaRPr lang="en-GB" b="1" dirty="0"/>
          </a:p>
        </p:txBody>
      </p:sp>
      <p:sp>
        <p:nvSpPr>
          <p:cNvPr id="15364" name="AutoShape 7"/>
          <p:cNvSpPr>
            <a:spLocks/>
          </p:cNvSpPr>
          <p:nvPr/>
        </p:nvSpPr>
        <p:spPr bwMode="auto">
          <a:xfrm>
            <a:off x="2433638" y="3257550"/>
            <a:ext cx="503237" cy="3529013"/>
          </a:xfrm>
          <a:prstGeom prst="leftBrace">
            <a:avLst>
              <a:gd name="adj1" fmla="val 58439"/>
              <a:gd name="adj2" fmla="val 50000"/>
            </a:avLst>
          </a:prstGeom>
          <a:noFill/>
          <a:ln w="38100">
            <a:solidFill>
              <a:schemeClr val="tx1"/>
            </a:solidFill>
            <a:round/>
            <a:headEnd/>
            <a:tailEnd/>
          </a:ln>
        </p:spPr>
        <p:txBody>
          <a:bodyPr wrap="none" anchor="ctr"/>
          <a:lstStyle/>
          <a:p>
            <a:pPr algn="ctr"/>
            <a:endParaRPr lang="en-GB"/>
          </a:p>
        </p:txBody>
      </p:sp>
      <p:sp>
        <p:nvSpPr>
          <p:cNvPr id="15365" name="AutoShape 8"/>
          <p:cNvSpPr>
            <a:spLocks/>
          </p:cNvSpPr>
          <p:nvPr/>
        </p:nvSpPr>
        <p:spPr bwMode="auto">
          <a:xfrm>
            <a:off x="7400925" y="3257550"/>
            <a:ext cx="360363" cy="3529013"/>
          </a:xfrm>
          <a:prstGeom prst="rightBrace">
            <a:avLst>
              <a:gd name="adj1" fmla="val 81608"/>
              <a:gd name="adj2" fmla="val 50000"/>
            </a:avLst>
          </a:prstGeom>
          <a:noFill/>
          <a:ln w="38100">
            <a:solidFill>
              <a:schemeClr val="tx1"/>
            </a:solidFill>
            <a:round/>
            <a:headEnd/>
            <a:tailEnd/>
          </a:ln>
        </p:spPr>
        <p:txBody>
          <a:bodyPr wrap="none" anchor="ctr"/>
          <a:lstStyle/>
          <a:p>
            <a:pPr algn="ctr"/>
            <a:endParaRPr lang="en-GB"/>
          </a:p>
        </p:txBody>
      </p:sp>
      <p:sp>
        <p:nvSpPr>
          <p:cNvPr id="15367" name="AutoShape 11"/>
          <p:cNvSpPr>
            <a:spLocks/>
          </p:cNvSpPr>
          <p:nvPr/>
        </p:nvSpPr>
        <p:spPr bwMode="auto">
          <a:xfrm rot="-5400000">
            <a:off x="4916487" y="728663"/>
            <a:ext cx="360363" cy="3024188"/>
          </a:xfrm>
          <a:prstGeom prst="rightBrace">
            <a:avLst>
              <a:gd name="adj1" fmla="val 69934"/>
              <a:gd name="adj2" fmla="val 48657"/>
            </a:avLst>
          </a:prstGeom>
          <a:noFill/>
          <a:ln w="38100">
            <a:solidFill>
              <a:schemeClr val="tx1"/>
            </a:solidFill>
            <a:round/>
            <a:headEnd/>
            <a:tailEnd/>
          </a:ln>
        </p:spPr>
        <p:txBody>
          <a:bodyPr wrap="none" anchor="ctr"/>
          <a:lstStyle/>
          <a:p>
            <a:pPr algn="ctr"/>
            <a:endParaRPr lang="en-GB"/>
          </a:p>
        </p:txBody>
      </p:sp>
      <p:pic>
        <p:nvPicPr>
          <p:cNvPr id="15368" name="Picture 13" descr="[Wundt's 1902 double omega diagram]"/>
          <p:cNvPicPr>
            <a:picLocks noChangeAspect="1" noChangeArrowheads="1"/>
          </p:cNvPicPr>
          <p:nvPr/>
        </p:nvPicPr>
        <p:blipFill>
          <a:blip r:embed="rId3" cstate="print"/>
          <a:srcRect/>
          <a:stretch>
            <a:fillRect/>
          </a:stretch>
        </p:blipFill>
        <p:spPr bwMode="auto">
          <a:xfrm>
            <a:off x="3624263" y="2565400"/>
            <a:ext cx="3041650" cy="3959225"/>
          </a:xfrm>
          <a:prstGeom prst="rect">
            <a:avLst/>
          </a:prstGeom>
          <a:noFill/>
          <a:ln w="9525">
            <a:noFill/>
            <a:miter lim="800000"/>
            <a:headEnd/>
            <a:tailEnd/>
          </a:ln>
        </p:spPr>
      </p:pic>
      <p:sp>
        <p:nvSpPr>
          <p:cNvPr id="15369" name="Text Box 14"/>
          <p:cNvSpPr txBox="1">
            <a:spLocks noChangeArrowheads="1"/>
          </p:cNvSpPr>
          <p:nvPr/>
        </p:nvSpPr>
        <p:spPr bwMode="auto">
          <a:xfrm>
            <a:off x="7832725" y="4429132"/>
            <a:ext cx="1885453" cy="954107"/>
          </a:xfrm>
          <a:prstGeom prst="rect">
            <a:avLst/>
          </a:prstGeom>
          <a:noFill/>
          <a:ln w="9525">
            <a:noFill/>
            <a:miter lim="800000"/>
            <a:headEnd/>
            <a:tailEnd/>
          </a:ln>
        </p:spPr>
        <p:txBody>
          <a:bodyPr wrap="none">
            <a:spAutoFit/>
          </a:bodyPr>
          <a:lstStyle/>
          <a:p>
            <a:r>
              <a:rPr lang="en-GB" sz="2800" b="1" dirty="0" smtClean="0">
                <a:solidFill>
                  <a:srgbClr val="FF0000"/>
                </a:solidFill>
              </a:rPr>
              <a:t>Auditory</a:t>
            </a:r>
          </a:p>
          <a:p>
            <a:r>
              <a:rPr lang="en-GB" sz="2800" b="1" dirty="0" smtClean="0">
                <a:solidFill>
                  <a:srgbClr val="FF0000"/>
                </a:solidFill>
              </a:rPr>
              <a:t>Aesthesis</a:t>
            </a:r>
            <a:endParaRPr lang="en-US" sz="2800" b="1" dirty="0">
              <a:solidFill>
                <a:srgbClr val="FF0000"/>
              </a:solidFill>
            </a:endParaRPr>
          </a:p>
        </p:txBody>
      </p:sp>
      <p:sp>
        <p:nvSpPr>
          <p:cNvPr id="15370" name="Text Box 15"/>
          <p:cNvSpPr txBox="1">
            <a:spLocks noChangeArrowheads="1"/>
          </p:cNvSpPr>
          <p:nvPr/>
        </p:nvSpPr>
        <p:spPr bwMode="auto">
          <a:xfrm>
            <a:off x="4448175" y="6338888"/>
            <a:ext cx="1252538" cy="519112"/>
          </a:xfrm>
          <a:prstGeom prst="rect">
            <a:avLst/>
          </a:prstGeom>
          <a:noFill/>
          <a:ln w="9525">
            <a:noFill/>
            <a:miter lim="800000"/>
            <a:headEnd/>
            <a:tailEnd/>
          </a:ln>
        </p:spPr>
        <p:txBody>
          <a:bodyPr wrap="none">
            <a:spAutoFit/>
          </a:bodyPr>
          <a:lstStyle/>
          <a:p>
            <a:r>
              <a:rPr lang="en-GB" sz="2800" b="1">
                <a:solidFill>
                  <a:srgbClr val="FF0000"/>
                </a:solidFill>
              </a:rPr>
              <a:t>Praxis</a:t>
            </a:r>
            <a:endParaRPr lang="en-US" sz="2800" b="1">
              <a:solidFill>
                <a:srgbClr val="FF0000"/>
              </a:solidFill>
            </a:endParaRPr>
          </a:p>
        </p:txBody>
      </p:sp>
      <p:sp>
        <p:nvSpPr>
          <p:cNvPr id="15371" name="Text Box 16"/>
          <p:cNvSpPr txBox="1">
            <a:spLocks noChangeArrowheads="1"/>
          </p:cNvSpPr>
          <p:nvPr/>
        </p:nvSpPr>
        <p:spPr bwMode="auto">
          <a:xfrm>
            <a:off x="415925" y="4429132"/>
            <a:ext cx="1885453" cy="954107"/>
          </a:xfrm>
          <a:prstGeom prst="rect">
            <a:avLst/>
          </a:prstGeom>
          <a:noFill/>
          <a:ln w="9525">
            <a:noFill/>
            <a:miter lim="800000"/>
            <a:headEnd/>
            <a:tailEnd/>
          </a:ln>
        </p:spPr>
        <p:txBody>
          <a:bodyPr wrap="none">
            <a:spAutoFit/>
          </a:bodyPr>
          <a:lstStyle/>
          <a:p>
            <a:r>
              <a:rPr lang="en-GB" sz="2800" b="1" dirty="0" smtClean="0">
                <a:solidFill>
                  <a:srgbClr val="FF0000"/>
                </a:solidFill>
              </a:rPr>
              <a:t>Visual</a:t>
            </a:r>
          </a:p>
          <a:p>
            <a:r>
              <a:rPr lang="en-GB" sz="2800" b="1" dirty="0" smtClean="0">
                <a:solidFill>
                  <a:srgbClr val="FF0000"/>
                </a:solidFill>
              </a:rPr>
              <a:t>Aesthesis</a:t>
            </a:r>
            <a:endParaRPr lang="en-US" sz="2800" b="1" dirty="0">
              <a:solidFill>
                <a:srgbClr val="FF0000"/>
              </a:solidFill>
            </a:endParaRPr>
          </a:p>
        </p:txBody>
      </p:sp>
      <p:pic>
        <p:nvPicPr>
          <p:cNvPr id="15372" name="Picture 18" descr="wundt">
            <a:hlinkClick r:id="rId4"/>
          </p:cNvPr>
          <p:cNvPicPr>
            <a:picLocks noChangeAspect="1" noChangeArrowheads="1"/>
          </p:cNvPicPr>
          <p:nvPr/>
        </p:nvPicPr>
        <p:blipFill>
          <a:blip r:embed="rId5" cstate="print"/>
          <a:srcRect/>
          <a:stretch>
            <a:fillRect/>
          </a:stretch>
        </p:blipFill>
        <p:spPr bwMode="auto">
          <a:xfrm>
            <a:off x="560388" y="1844675"/>
            <a:ext cx="1689100" cy="2089150"/>
          </a:xfrm>
          <a:prstGeom prst="rect">
            <a:avLst/>
          </a:prstGeom>
          <a:noFill/>
          <a:ln w="9525">
            <a:noFill/>
            <a:miter lim="800000"/>
            <a:headEnd/>
            <a:tailEnd/>
          </a:ln>
        </p:spPr>
      </p:pic>
      <p:pic>
        <p:nvPicPr>
          <p:cNvPr id="15373" name="Picture 4" descr="PICdescartes1662"/>
          <p:cNvPicPr>
            <a:picLocks noChangeAspect="1" noChangeArrowheads="1"/>
          </p:cNvPicPr>
          <p:nvPr/>
        </p:nvPicPr>
        <p:blipFill>
          <a:blip r:embed="rId6" cstate="print"/>
          <a:srcRect/>
          <a:stretch>
            <a:fillRect/>
          </a:stretch>
        </p:blipFill>
        <p:spPr bwMode="auto">
          <a:xfrm>
            <a:off x="-47625" y="5422900"/>
            <a:ext cx="1373188" cy="1435100"/>
          </a:xfrm>
          <a:prstGeom prst="rect">
            <a:avLst/>
          </a:prstGeom>
          <a:noFill/>
          <a:ln w="9525">
            <a:noFill/>
            <a:miter lim="800000"/>
            <a:headEnd/>
            <a:tailEnd/>
          </a:ln>
        </p:spPr>
      </p:pic>
      <p:sp>
        <p:nvSpPr>
          <p:cNvPr id="14" name="Text Box 19"/>
          <p:cNvSpPr txBox="1">
            <a:spLocks noChangeArrowheads="1"/>
          </p:cNvSpPr>
          <p:nvPr/>
        </p:nvSpPr>
        <p:spPr bwMode="auto">
          <a:xfrm>
            <a:off x="2758348" y="1334144"/>
            <a:ext cx="4878259" cy="523220"/>
          </a:xfrm>
          <a:prstGeom prst="rect">
            <a:avLst/>
          </a:prstGeom>
          <a:noFill/>
          <a:ln w="9525">
            <a:noFill/>
            <a:miter lim="800000"/>
            <a:headEnd/>
            <a:tailEnd/>
          </a:ln>
        </p:spPr>
        <p:txBody>
          <a:bodyPr wrap="none">
            <a:spAutoFit/>
          </a:bodyPr>
          <a:lstStyle/>
          <a:p>
            <a:pPr algn="ctr"/>
            <a:r>
              <a:rPr lang="en-GB" sz="2800" b="1" dirty="0" smtClean="0">
                <a:solidFill>
                  <a:srgbClr val="FF0000"/>
                </a:solidFill>
              </a:rPr>
              <a:t>Higher Cognitive Functions</a:t>
            </a:r>
            <a:endParaRPr lang="en-US" sz="2800" b="1" dirty="0">
              <a:solidFill>
                <a:srgbClr val="FF0000"/>
              </a:solidFill>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0"/>
            <a:ext cx="9906000" cy="1700213"/>
          </a:xfrm>
        </p:spPr>
        <p:txBody>
          <a:bodyPr/>
          <a:lstStyle/>
          <a:p>
            <a:pPr eaLnBrk="1" hangingPunct="1"/>
            <a:r>
              <a:rPr lang="en-GB" sz="3200" b="1" smtClean="0"/>
              <a:t>DENNETT'S (1978) HIERARCHICAL MODEL</a:t>
            </a:r>
            <a:endParaRPr lang="en-US" sz="2000" b="1" smtClean="0"/>
          </a:p>
        </p:txBody>
      </p:sp>
      <p:sp>
        <p:nvSpPr>
          <p:cNvPr id="16387" name="Rectangle 4"/>
          <p:cNvSpPr>
            <a:spLocks noChangeArrowheads="1"/>
          </p:cNvSpPr>
          <p:nvPr/>
        </p:nvSpPr>
        <p:spPr bwMode="auto">
          <a:xfrm>
            <a:off x="7242175" y="2349500"/>
            <a:ext cx="2663825" cy="504825"/>
          </a:xfrm>
          <a:prstGeom prst="rect">
            <a:avLst/>
          </a:prstGeom>
          <a:noFill/>
          <a:ln w="9525">
            <a:noFill/>
            <a:miter lim="800000"/>
            <a:headEnd/>
            <a:tailEnd/>
          </a:ln>
        </p:spPr>
        <p:txBody>
          <a:bodyPr/>
          <a:lstStyle/>
          <a:p>
            <a:pPr marL="342900" indent="-342900">
              <a:lnSpc>
                <a:spcPct val="80000"/>
              </a:lnSpc>
              <a:spcBef>
                <a:spcPct val="20000"/>
              </a:spcBef>
              <a:buFontTx/>
              <a:buChar char="•"/>
            </a:pPr>
            <a:r>
              <a:rPr lang="en-GB" b="1" dirty="0">
                <a:hlinkClick r:id="rId2"/>
              </a:rPr>
              <a:t>Click for additional explanation</a:t>
            </a:r>
            <a:endParaRPr lang="en-GB" b="1" dirty="0"/>
          </a:p>
        </p:txBody>
      </p:sp>
      <p:sp>
        <p:nvSpPr>
          <p:cNvPr id="16388" name="AutoShape 7"/>
          <p:cNvSpPr>
            <a:spLocks/>
          </p:cNvSpPr>
          <p:nvPr/>
        </p:nvSpPr>
        <p:spPr bwMode="auto">
          <a:xfrm>
            <a:off x="2433638" y="3257550"/>
            <a:ext cx="503237" cy="3529013"/>
          </a:xfrm>
          <a:prstGeom prst="leftBrace">
            <a:avLst>
              <a:gd name="adj1" fmla="val 58439"/>
              <a:gd name="adj2" fmla="val 50000"/>
            </a:avLst>
          </a:prstGeom>
          <a:noFill/>
          <a:ln w="38100">
            <a:solidFill>
              <a:schemeClr val="tx1"/>
            </a:solidFill>
            <a:round/>
            <a:headEnd/>
            <a:tailEnd/>
          </a:ln>
        </p:spPr>
        <p:txBody>
          <a:bodyPr wrap="none" anchor="ctr"/>
          <a:lstStyle/>
          <a:p>
            <a:pPr algn="ctr"/>
            <a:endParaRPr lang="en-GB"/>
          </a:p>
        </p:txBody>
      </p:sp>
      <p:sp>
        <p:nvSpPr>
          <p:cNvPr id="16389" name="AutoShape 8"/>
          <p:cNvSpPr>
            <a:spLocks/>
          </p:cNvSpPr>
          <p:nvPr/>
        </p:nvSpPr>
        <p:spPr bwMode="auto">
          <a:xfrm>
            <a:off x="7400925" y="3257550"/>
            <a:ext cx="360363" cy="3529013"/>
          </a:xfrm>
          <a:prstGeom prst="rightBrace">
            <a:avLst>
              <a:gd name="adj1" fmla="val 81608"/>
              <a:gd name="adj2" fmla="val 50000"/>
            </a:avLst>
          </a:prstGeom>
          <a:noFill/>
          <a:ln w="38100">
            <a:solidFill>
              <a:schemeClr val="tx1"/>
            </a:solidFill>
            <a:round/>
            <a:headEnd/>
            <a:tailEnd/>
          </a:ln>
        </p:spPr>
        <p:txBody>
          <a:bodyPr wrap="none" anchor="ctr"/>
          <a:lstStyle/>
          <a:p>
            <a:pPr algn="ctr"/>
            <a:endParaRPr lang="en-GB"/>
          </a:p>
        </p:txBody>
      </p:sp>
      <p:sp>
        <p:nvSpPr>
          <p:cNvPr id="16391" name="AutoShape 11"/>
          <p:cNvSpPr>
            <a:spLocks/>
          </p:cNvSpPr>
          <p:nvPr/>
        </p:nvSpPr>
        <p:spPr bwMode="auto">
          <a:xfrm rot="-5400000">
            <a:off x="4916487" y="728663"/>
            <a:ext cx="360363" cy="3024188"/>
          </a:xfrm>
          <a:prstGeom prst="rightBrace">
            <a:avLst>
              <a:gd name="adj1" fmla="val 69934"/>
              <a:gd name="adj2" fmla="val 48657"/>
            </a:avLst>
          </a:prstGeom>
          <a:noFill/>
          <a:ln w="38100">
            <a:solidFill>
              <a:schemeClr val="tx1"/>
            </a:solidFill>
            <a:round/>
            <a:headEnd/>
            <a:tailEnd/>
          </a:ln>
        </p:spPr>
        <p:txBody>
          <a:bodyPr wrap="none" anchor="ctr"/>
          <a:lstStyle/>
          <a:p>
            <a:pPr algn="ctr"/>
            <a:endParaRPr lang="en-GB"/>
          </a:p>
        </p:txBody>
      </p:sp>
      <p:sp>
        <p:nvSpPr>
          <p:cNvPr id="16392" name="Text Box 16"/>
          <p:cNvSpPr txBox="1">
            <a:spLocks noChangeArrowheads="1"/>
          </p:cNvSpPr>
          <p:nvPr/>
        </p:nvSpPr>
        <p:spPr bwMode="auto">
          <a:xfrm>
            <a:off x="415925" y="4724400"/>
            <a:ext cx="1868488" cy="519113"/>
          </a:xfrm>
          <a:prstGeom prst="rect">
            <a:avLst/>
          </a:prstGeom>
          <a:noFill/>
          <a:ln w="9525">
            <a:noFill/>
            <a:miter lim="800000"/>
            <a:headEnd/>
            <a:tailEnd/>
          </a:ln>
        </p:spPr>
        <p:txBody>
          <a:bodyPr wrap="none">
            <a:spAutoFit/>
          </a:bodyPr>
          <a:lstStyle/>
          <a:p>
            <a:r>
              <a:rPr lang="en-GB" sz="2800" b="1">
                <a:solidFill>
                  <a:srgbClr val="FF0000"/>
                </a:solidFill>
              </a:rPr>
              <a:t>Aesthesis</a:t>
            </a:r>
            <a:endParaRPr lang="en-US" sz="2800" b="1">
              <a:solidFill>
                <a:srgbClr val="FF0000"/>
              </a:solidFill>
            </a:endParaRPr>
          </a:p>
        </p:txBody>
      </p:sp>
      <p:pic>
        <p:nvPicPr>
          <p:cNvPr id="16393" name="Picture 4" descr="PICdescartes1662"/>
          <p:cNvPicPr>
            <a:picLocks noChangeAspect="1" noChangeArrowheads="1"/>
          </p:cNvPicPr>
          <p:nvPr/>
        </p:nvPicPr>
        <p:blipFill>
          <a:blip r:embed="rId3" cstate="print"/>
          <a:srcRect/>
          <a:stretch>
            <a:fillRect/>
          </a:stretch>
        </p:blipFill>
        <p:spPr bwMode="auto">
          <a:xfrm>
            <a:off x="-47625" y="5422900"/>
            <a:ext cx="1373188" cy="1435100"/>
          </a:xfrm>
          <a:prstGeom prst="rect">
            <a:avLst/>
          </a:prstGeom>
          <a:noFill/>
          <a:ln w="9525">
            <a:noFill/>
            <a:miter lim="800000"/>
            <a:headEnd/>
            <a:tailEnd/>
          </a:ln>
        </p:spPr>
      </p:pic>
      <p:pic>
        <p:nvPicPr>
          <p:cNvPr id="16394" name="Picture 2" descr="[Dennett's (1978) Figure 9-1]"/>
          <p:cNvPicPr>
            <a:picLocks noChangeAspect="1" noChangeArrowheads="1"/>
          </p:cNvPicPr>
          <p:nvPr/>
        </p:nvPicPr>
        <p:blipFill>
          <a:blip r:embed="rId4" cstate="print"/>
          <a:srcRect/>
          <a:stretch>
            <a:fillRect/>
          </a:stretch>
        </p:blipFill>
        <p:spPr bwMode="auto">
          <a:xfrm>
            <a:off x="2886075" y="2786063"/>
            <a:ext cx="4387850" cy="3857625"/>
          </a:xfrm>
          <a:prstGeom prst="rect">
            <a:avLst/>
          </a:prstGeom>
          <a:noFill/>
          <a:ln w="9525">
            <a:noFill/>
            <a:miter lim="800000"/>
            <a:headEnd/>
            <a:tailEnd/>
          </a:ln>
        </p:spPr>
      </p:pic>
      <p:sp>
        <p:nvSpPr>
          <p:cNvPr id="16395" name="Text Box 6"/>
          <p:cNvSpPr txBox="1">
            <a:spLocks noChangeArrowheads="1"/>
          </p:cNvSpPr>
          <p:nvPr/>
        </p:nvSpPr>
        <p:spPr bwMode="auto">
          <a:xfrm>
            <a:off x="7905750" y="4719638"/>
            <a:ext cx="1252538" cy="519112"/>
          </a:xfrm>
          <a:prstGeom prst="rect">
            <a:avLst/>
          </a:prstGeom>
          <a:noFill/>
          <a:ln w="9525">
            <a:noFill/>
            <a:miter lim="800000"/>
            <a:headEnd/>
            <a:tailEnd/>
          </a:ln>
        </p:spPr>
        <p:txBody>
          <a:bodyPr wrap="none">
            <a:spAutoFit/>
          </a:bodyPr>
          <a:lstStyle/>
          <a:p>
            <a:r>
              <a:rPr lang="en-GB" sz="2800" b="1">
                <a:solidFill>
                  <a:srgbClr val="FF0000"/>
                </a:solidFill>
              </a:rPr>
              <a:t>Praxis</a:t>
            </a:r>
            <a:endParaRPr lang="en-US" sz="2800" b="1">
              <a:solidFill>
                <a:srgbClr val="FF0000"/>
              </a:solidFill>
            </a:endParaRPr>
          </a:p>
        </p:txBody>
      </p:sp>
      <p:pic>
        <p:nvPicPr>
          <p:cNvPr id="16396" name="Picture 2" descr="http://tbn1.google.com/images?q=tbn:92OVlUl5UGd66M:http://www.futureofthebook.org/mitchellstephens/archives/daniel_dennett_1.jpg">
            <a:hlinkClick r:id="rId5"/>
          </p:cNvPr>
          <p:cNvPicPr>
            <a:picLocks noChangeAspect="1" noChangeArrowheads="1"/>
          </p:cNvPicPr>
          <p:nvPr/>
        </p:nvPicPr>
        <p:blipFill>
          <a:blip r:embed="rId6" cstate="print"/>
          <a:srcRect/>
          <a:stretch>
            <a:fillRect/>
          </a:stretch>
        </p:blipFill>
        <p:spPr bwMode="auto">
          <a:xfrm>
            <a:off x="196850" y="1928813"/>
            <a:ext cx="2041525" cy="1428750"/>
          </a:xfrm>
          <a:prstGeom prst="rect">
            <a:avLst/>
          </a:prstGeom>
          <a:noFill/>
          <a:ln w="9525">
            <a:noFill/>
            <a:miter lim="800000"/>
            <a:headEnd/>
            <a:tailEnd/>
          </a:ln>
        </p:spPr>
      </p:pic>
      <p:sp>
        <p:nvSpPr>
          <p:cNvPr id="13" name="Text Box 19"/>
          <p:cNvSpPr txBox="1">
            <a:spLocks noChangeArrowheads="1"/>
          </p:cNvSpPr>
          <p:nvPr/>
        </p:nvSpPr>
        <p:spPr bwMode="auto">
          <a:xfrm>
            <a:off x="2758348" y="1334144"/>
            <a:ext cx="4878259" cy="523220"/>
          </a:xfrm>
          <a:prstGeom prst="rect">
            <a:avLst/>
          </a:prstGeom>
          <a:noFill/>
          <a:ln w="9525">
            <a:noFill/>
            <a:miter lim="800000"/>
            <a:headEnd/>
            <a:tailEnd/>
          </a:ln>
        </p:spPr>
        <p:txBody>
          <a:bodyPr wrap="none">
            <a:spAutoFit/>
          </a:bodyPr>
          <a:lstStyle/>
          <a:p>
            <a:pPr algn="ctr"/>
            <a:r>
              <a:rPr lang="en-GB" sz="2800" b="1" dirty="0" smtClean="0">
                <a:solidFill>
                  <a:srgbClr val="FF0000"/>
                </a:solidFill>
              </a:rPr>
              <a:t>Higher Cognitive Functions</a:t>
            </a:r>
            <a:endParaRPr lang="en-US" sz="2800" b="1" dirty="0">
              <a:solidFill>
                <a:srgbClr val="FF0000"/>
              </a:solidFill>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0"/>
            <a:ext cx="9906000" cy="1700213"/>
          </a:xfrm>
        </p:spPr>
        <p:txBody>
          <a:bodyPr/>
          <a:lstStyle/>
          <a:p>
            <a:pPr eaLnBrk="1" hangingPunct="1"/>
            <a:r>
              <a:rPr lang="en-GB" sz="3200" b="1" smtClean="0"/>
              <a:t>NORMAN’S (1990) HIERARCHICAL MODEL</a:t>
            </a:r>
            <a:endParaRPr lang="en-US" sz="2000" b="1" smtClean="0"/>
          </a:p>
        </p:txBody>
      </p:sp>
      <p:pic>
        <p:nvPicPr>
          <p:cNvPr id="17411" name="Picture 3" descr="PICnorman1990"/>
          <p:cNvPicPr>
            <a:picLocks noChangeAspect="1" noChangeArrowheads="1"/>
          </p:cNvPicPr>
          <p:nvPr/>
        </p:nvPicPr>
        <p:blipFill>
          <a:blip r:embed="rId2" cstate="print"/>
          <a:srcRect/>
          <a:stretch>
            <a:fillRect/>
          </a:stretch>
        </p:blipFill>
        <p:spPr bwMode="auto">
          <a:xfrm>
            <a:off x="3297238" y="2465388"/>
            <a:ext cx="3635375" cy="4392612"/>
          </a:xfrm>
          <a:prstGeom prst="rect">
            <a:avLst/>
          </a:prstGeom>
          <a:noFill/>
          <a:ln w="9525">
            <a:noFill/>
            <a:miter lim="800000"/>
            <a:headEnd/>
            <a:tailEnd/>
          </a:ln>
        </p:spPr>
      </p:pic>
      <p:sp>
        <p:nvSpPr>
          <p:cNvPr id="17412" name="Rectangle 4"/>
          <p:cNvSpPr>
            <a:spLocks noChangeArrowheads="1"/>
          </p:cNvSpPr>
          <p:nvPr/>
        </p:nvSpPr>
        <p:spPr bwMode="auto">
          <a:xfrm>
            <a:off x="7242175" y="2349500"/>
            <a:ext cx="2663825" cy="504825"/>
          </a:xfrm>
          <a:prstGeom prst="rect">
            <a:avLst/>
          </a:prstGeom>
          <a:noFill/>
          <a:ln w="9525">
            <a:noFill/>
            <a:miter lim="800000"/>
            <a:headEnd/>
            <a:tailEnd/>
          </a:ln>
        </p:spPr>
        <p:txBody>
          <a:bodyPr/>
          <a:lstStyle/>
          <a:p>
            <a:pPr marL="342900" indent="-342900">
              <a:lnSpc>
                <a:spcPct val="80000"/>
              </a:lnSpc>
              <a:spcBef>
                <a:spcPct val="20000"/>
              </a:spcBef>
              <a:buFontTx/>
              <a:buChar char="•"/>
            </a:pPr>
            <a:r>
              <a:rPr lang="en-GB" b="1" dirty="0">
                <a:hlinkClick r:id="rId3"/>
              </a:rPr>
              <a:t>Click for additional explanation</a:t>
            </a:r>
            <a:endParaRPr lang="en-GB" b="1" dirty="0"/>
          </a:p>
        </p:txBody>
      </p:sp>
      <p:sp>
        <p:nvSpPr>
          <p:cNvPr id="17413" name="Text Box 5"/>
          <p:cNvSpPr txBox="1">
            <a:spLocks noChangeArrowheads="1"/>
          </p:cNvSpPr>
          <p:nvPr/>
        </p:nvSpPr>
        <p:spPr bwMode="auto">
          <a:xfrm>
            <a:off x="488950" y="4699000"/>
            <a:ext cx="1868488" cy="519113"/>
          </a:xfrm>
          <a:prstGeom prst="rect">
            <a:avLst/>
          </a:prstGeom>
          <a:noFill/>
          <a:ln w="9525">
            <a:noFill/>
            <a:miter lim="800000"/>
            <a:headEnd/>
            <a:tailEnd/>
          </a:ln>
        </p:spPr>
        <p:txBody>
          <a:bodyPr wrap="none">
            <a:spAutoFit/>
          </a:bodyPr>
          <a:lstStyle/>
          <a:p>
            <a:r>
              <a:rPr lang="en-GB" sz="2800" b="1">
                <a:solidFill>
                  <a:srgbClr val="FF0000"/>
                </a:solidFill>
              </a:rPr>
              <a:t>Aesthesis</a:t>
            </a:r>
            <a:endParaRPr lang="en-US" sz="2800" b="1">
              <a:solidFill>
                <a:srgbClr val="FF0000"/>
              </a:solidFill>
            </a:endParaRPr>
          </a:p>
        </p:txBody>
      </p:sp>
      <p:sp>
        <p:nvSpPr>
          <p:cNvPr id="17414" name="Text Box 6"/>
          <p:cNvSpPr txBox="1">
            <a:spLocks noChangeArrowheads="1"/>
          </p:cNvSpPr>
          <p:nvPr/>
        </p:nvSpPr>
        <p:spPr bwMode="auto">
          <a:xfrm>
            <a:off x="7905750" y="4719638"/>
            <a:ext cx="1252538" cy="519112"/>
          </a:xfrm>
          <a:prstGeom prst="rect">
            <a:avLst/>
          </a:prstGeom>
          <a:noFill/>
          <a:ln w="9525">
            <a:noFill/>
            <a:miter lim="800000"/>
            <a:headEnd/>
            <a:tailEnd/>
          </a:ln>
        </p:spPr>
        <p:txBody>
          <a:bodyPr wrap="none">
            <a:spAutoFit/>
          </a:bodyPr>
          <a:lstStyle/>
          <a:p>
            <a:r>
              <a:rPr lang="en-GB" sz="2800" b="1">
                <a:solidFill>
                  <a:srgbClr val="FF0000"/>
                </a:solidFill>
              </a:rPr>
              <a:t>Praxis</a:t>
            </a:r>
            <a:endParaRPr lang="en-US" sz="2800" b="1">
              <a:solidFill>
                <a:srgbClr val="FF0000"/>
              </a:solidFill>
            </a:endParaRPr>
          </a:p>
        </p:txBody>
      </p:sp>
      <p:sp>
        <p:nvSpPr>
          <p:cNvPr id="17415" name="AutoShape 7"/>
          <p:cNvSpPr>
            <a:spLocks/>
          </p:cNvSpPr>
          <p:nvPr/>
        </p:nvSpPr>
        <p:spPr bwMode="auto">
          <a:xfrm>
            <a:off x="2433638" y="3257550"/>
            <a:ext cx="503237" cy="3529013"/>
          </a:xfrm>
          <a:prstGeom prst="leftBrace">
            <a:avLst>
              <a:gd name="adj1" fmla="val 58439"/>
              <a:gd name="adj2" fmla="val 50000"/>
            </a:avLst>
          </a:prstGeom>
          <a:noFill/>
          <a:ln w="38100">
            <a:solidFill>
              <a:schemeClr val="tx1"/>
            </a:solidFill>
            <a:round/>
            <a:headEnd/>
            <a:tailEnd/>
          </a:ln>
        </p:spPr>
        <p:txBody>
          <a:bodyPr wrap="none" anchor="ctr"/>
          <a:lstStyle/>
          <a:p>
            <a:pPr algn="ctr"/>
            <a:endParaRPr lang="en-GB"/>
          </a:p>
        </p:txBody>
      </p:sp>
      <p:sp>
        <p:nvSpPr>
          <p:cNvPr id="17416" name="AutoShape 8"/>
          <p:cNvSpPr>
            <a:spLocks/>
          </p:cNvSpPr>
          <p:nvPr/>
        </p:nvSpPr>
        <p:spPr bwMode="auto">
          <a:xfrm>
            <a:off x="7400925" y="3257550"/>
            <a:ext cx="360363" cy="3529013"/>
          </a:xfrm>
          <a:prstGeom prst="rightBrace">
            <a:avLst>
              <a:gd name="adj1" fmla="val 81608"/>
              <a:gd name="adj2" fmla="val 50000"/>
            </a:avLst>
          </a:prstGeom>
          <a:noFill/>
          <a:ln w="38100">
            <a:solidFill>
              <a:schemeClr val="tx1"/>
            </a:solidFill>
            <a:round/>
            <a:headEnd/>
            <a:tailEnd/>
          </a:ln>
        </p:spPr>
        <p:txBody>
          <a:bodyPr wrap="none" anchor="ctr"/>
          <a:lstStyle/>
          <a:p>
            <a:pPr algn="ctr"/>
            <a:endParaRPr lang="en-GB"/>
          </a:p>
        </p:txBody>
      </p:sp>
      <p:pic>
        <p:nvPicPr>
          <p:cNvPr id="17417" name="Picture 9" descr="mugshot-norman"/>
          <p:cNvPicPr>
            <a:picLocks noChangeAspect="1" noChangeArrowheads="1"/>
          </p:cNvPicPr>
          <p:nvPr/>
        </p:nvPicPr>
        <p:blipFill>
          <a:blip r:embed="rId4" cstate="print"/>
          <a:srcRect/>
          <a:stretch>
            <a:fillRect/>
          </a:stretch>
        </p:blipFill>
        <p:spPr bwMode="auto">
          <a:xfrm>
            <a:off x="200025" y="1773238"/>
            <a:ext cx="1911350" cy="2232025"/>
          </a:xfrm>
          <a:prstGeom prst="rect">
            <a:avLst/>
          </a:prstGeom>
          <a:noFill/>
          <a:ln w="9525">
            <a:noFill/>
            <a:miter lim="800000"/>
            <a:headEnd/>
            <a:tailEnd/>
          </a:ln>
        </p:spPr>
      </p:pic>
      <p:sp>
        <p:nvSpPr>
          <p:cNvPr id="17419" name="AutoShape 11"/>
          <p:cNvSpPr>
            <a:spLocks/>
          </p:cNvSpPr>
          <p:nvPr/>
        </p:nvSpPr>
        <p:spPr bwMode="auto">
          <a:xfrm rot="-5400000">
            <a:off x="4916487" y="728663"/>
            <a:ext cx="360363" cy="3024188"/>
          </a:xfrm>
          <a:prstGeom prst="rightBrace">
            <a:avLst>
              <a:gd name="adj1" fmla="val 69934"/>
              <a:gd name="adj2" fmla="val 48657"/>
            </a:avLst>
          </a:prstGeom>
          <a:noFill/>
          <a:ln w="38100">
            <a:solidFill>
              <a:schemeClr val="tx1"/>
            </a:solidFill>
            <a:round/>
            <a:headEnd/>
            <a:tailEnd/>
          </a:ln>
        </p:spPr>
        <p:txBody>
          <a:bodyPr wrap="none" anchor="ctr"/>
          <a:lstStyle/>
          <a:p>
            <a:pPr algn="ctr"/>
            <a:endParaRPr lang="en-GB"/>
          </a:p>
        </p:txBody>
      </p:sp>
      <p:pic>
        <p:nvPicPr>
          <p:cNvPr id="17420" name="Picture 4" descr="PICdescartes1662"/>
          <p:cNvPicPr>
            <a:picLocks noChangeAspect="1" noChangeArrowheads="1"/>
          </p:cNvPicPr>
          <p:nvPr/>
        </p:nvPicPr>
        <p:blipFill>
          <a:blip r:embed="rId5" cstate="print"/>
          <a:srcRect/>
          <a:stretch>
            <a:fillRect/>
          </a:stretch>
        </p:blipFill>
        <p:spPr bwMode="auto">
          <a:xfrm>
            <a:off x="-47625" y="5422900"/>
            <a:ext cx="1373188" cy="1435100"/>
          </a:xfrm>
          <a:prstGeom prst="rect">
            <a:avLst/>
          </a:prstGeom>
          <a:noFill/>
          <a:ln w="9525">
            <a:noFill/>
            <a:miter lim="800000"/>
            <a:headEnd/>
            <a:tailEnd/>
          </a:ln>
        </p:spPr>
      </p:pic>
      <p:sp>
        <p:nvSpPr>
          <p:cNvPr id="13" name="Text Box 19"/>
          <p:cNvSpPr txBox="1">
            <a:spLocks noChangeArrowheads="1"/>
          </p:cNvSpPr>
          <p:nvPr/>
        </p:nvSpPr>
        <p:spPr bwMode="auto">
          <a:xfrm>
            <a:off x="2758348" y="1334144"/>
            <a:ext cx="4878259" cy="523220"/>
          </a:xfrm>
          <a:prstGeom prst="rect">
            <a:avLst/>
          </a:prstGeom>
          <a:noFill/>
          <a:ln w="9525">
            <a:noFill/>
            <a:miter lim="800000"/>
            <a:headEnd/>
            <a:tailEnd/>
          </a:ln>
        </p:spPr>
        <p:txBody>
          <a:bodyPr wrap="none">
            <a:spAutoFit/>
          </a:bodyPr>
          <a:lstStyle/>
          <a:p>
            <a:pPr algn="ctr"/>
            <a:r>
              <a:rPr lang="en-GB" sz="2800" b="1" dirty="0" smtClean="0">
                <a:solidFill>
                  <a:srgbClr val="FF0000"/>
                </a:solidFill>
              </a:rPr>
              <a:t>Higher Cognitive Functions</a:t>
            </a:r>
            <a:endParaRPr lang="en-US" sz="2800" b="1" dirty="0">
              <a:solidFill>
                <a:srgbClr val="FF0000"/>
              </a:solidFill>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0"/>
            <a:ext cx="9906000" cy="1700213"/>
          </a:xfrm>
        </p:spPr>
        <p:txBody>
          <a:bodyPr/>
          <a:lstStyle/>
          <a:p>
            <a:pPr eaLnBrk="1" hangingPunct="1"/>
            <a:r>
              <a:rPr lang="en-GB" sz="3200" b="1" dirty="0" err="1" smtClean="0"/>
              <a:t>ARKIN’S</a:t>
            </a:r>
            <a:r>
              <a:rPr lang="en-GB" sz="3200" b="1" dirty="0" smtClean="0"/>
              <a:t> (1990) HIERARCHICAL MODEL</a:t>
            </a:r>
            <a:endParaRPr lang="en-US" sz="2000" b="1" dirty="0" smtClean="0"/>
          </a:p>
        </p:txBody>
      </p:sp>
      <p:sp>
        <p:nvSpPr>
          <p:cNvPr id="17413" name="Text Box 5"/>
          <p:cNvSpPr txBox="1">
            <a:spLocks noChangeArrowheads="1"/>
          </p:cNvSpPr>
          <p:nvPr/>
        </p:nvSpPr>
        <p:spPr bwMode="auto">
          <a:xfrm>
            <a:off x="488950" y="4699000"/>
            <a:ext cx="1868488" cy="519113"/>
          </a:xfrm>
          <a:prstGeom prst="rect">
            <a:avLst/>
          </a:prstGeom>
          <a:noFill/>
          <a:ln w="9525">
            <a:noFill/>
            <a:miter lim="800000"/>
            <a:headEnd/>
            <a:tailEnd/>
          </a:ln>
        </p:spPr>
        <p:txBody>
          <a:bodyPr wrap="none">
            <a:spAutoFit/>
          </a:bodyPr>
          <a:lstStyle/>
          <a:p>
            <a:r>
              <a:rPr lang="en-GB" sz="2800" b="1">
                <a:solidFill>
                  <a:srgbClr val="FF0000"/>
                </a:solidFill>
              </a:rPr>
              <a:t>Aesthesis</a:t>
            </a:r>
            <a:endParaRPr lang="en-US" sz="2800" b="1">
              <a:solidFill>
                <a:srgbClr val="FF0000"/>
              </a:solidFill>
            </a:endParaRPr>
          </a:p>
        </p:txBody>
      </p:sp>
      <p:sp>
        <p:nvSpPr>
          <p:cNvPr id="17414" name="Text Box 6"/>
          <p:cNvSpPr txBox="1">
            <a:spLocks noChangeArrowheads="1"/>
          </p:cNvSpPr>
          <p:nvPr/>
        </p:nvSpPr>
        <p:spPr bwMode="auto">
          <a:xfrm>
            <a:off x="7905750" y="4719638"/>
            <a:ext cx="1252538" cy="519112"/>
          </a:xfrm>
          <a:prstGeom prst="rect">
            <a:avLst/>
          </a:prstGeom>
          <a:noFill/>
          <a:ln w="9525">
            <a:noFill/>
            <a:miter lim="800000"/>
            <a:headEnd/>
            <a:tailEnd/>
          </a:ln>
        </p:spPr>
        <p:txBody>
          <a:bodyPr wrap="none">
            <a:spAutoFit/>
          </a:bodyPr>
          <a:lstStyle/>
          <a:p>
            <a:r>
              <a:rPr lang="en-GB" sz="2800" b="1">
                <a:solidFill>
                  <a:srgbClr val="FF0000"/>
                </a:solidFill>
              </a:rPr>
              <a:t>Praxis</a:t>
            </a:r>
            <a:endParaRPr lang="en-US" sz="2800" b="1">
              <a:solidFill>
                <a:srgbClr val="FF0000"/>
              </a:solidFill>
            </a:endParaRPr>
          </a:p>
        </p:txBody>
      </p:sp>
      <p:sp>
        <p:nvSpPr>
          <p:cNvPr id="17415" name="AutoShape 7"/>
          <p:cNvSpPr>
            <a:spLocks/>
          </p:cNvSpPr>
          <p:nvPr/>
        </p:nvSpPr>
        <p:spPr bwMode="auto">
          <a:xfrm>
            <a:off x="2433638" y="3257550"/>
            <a:ext cx="503237" cy="3529013"/>
          </a:xfrm>
          <a:prstGeom prst="leftBrace">
            <a:avLst>
              <a:gd name="adj1" fmla="val 58439"/>
              <a:gd name="adj2" fmla="val 50000"/>
            </a:avLst>
          </a:prstGeom>
          <a:noFill/>
          <a:ln w="38100">
            <a:solidFill>
              <a:schemeClr val="tx1"/>
            </a:solidFill>
            <a:round/>
            <a:headEnd/>
            <a:tailEnd/>
          </a:ln>
        </p:spPr>
        <p:txBody>
          <a:bodyPr wrap="none" anchor="ctr"/>
          <a:lstStyle/>
          <a:p>
            <a:pPr algn="ctr"/>
            <a:endParaRPr lang="en-GB"/>
          </a:p>
        </p:txBody>
      </p:sp>
      <p:sp>
        <p:nvSpPr>
          <p:cNvPr id="17416" name="AutoShape 8"/>
          <p:cNvSpPr>
            <a:spLocks/>
          </p:cNvSpPr>
          <p:nvPr/>
        </p:nvSpPr>
        <p:spPr bwMode="auto">
          <a:xfrm>
            <a:off x="7400925" y="3257550"/>
            <a:ext cx="360363" cy="3529013"/>
          </a:xfrm>
          <a:prstGeom prst="rightBrace">
            <a:avLst>
              <a:gd name="adj1" fmla="val 81608"/>
              <a:gd name="adj2" fmla="val 50000"/>
            </a:avLst>
          </a:prstGeom>
          <a:noFill/>
          <a:ln w="38100">
            <a:solidFill>
              <a:schemeClr val="tx1"/>
            </a:solidFill>
            <a:round/>
            <a:headEnd/>
            <a:tailEnd/>
          </a:ln>
        </p:spPr>
        <p:txBody>
          <a:bodyPr wrap="none" anchor="ctr"/>
          <a:lstStyle/>
          <a:p>
            <a:pPr algn="ctr"/>
            <a:endParaRPr lang="en-GB"/>
          </a:p>
        </p:txBody>
      </p:sp>
      <p:sp>
        <p:nvSpPr>
          <p:cNvPr id="17419" name="AutoShape 11"/>
          <p:cNvSpPr>
            <a:spLocks/>
          </p:cNvSpPr>
          <p:nvPr/>
        </p:nvSpPr>
        <p:spPr bwMode="auto">
          <a:xfrm rot="-5400000">
            <a:off x="4916487" y="728663"/>
            <a:ext cx="360363" cy="3024188"/>
          </a:xfrm>
          <a:prstGeom prst="rightBrace">
            <a:avLst>
              <a:gd name="adj1" fmla="val 69934"/>
              <a:gd name="adj2" fmla="val 48657"/>
            </a:avLst>
          </a:prstGeom>
          <a:noFill/>
          <a:ln w="38100">
            <a:solidFill>
              <a:schemeClr val="tx1"/>
            </a:solidFill>
            <a:round/>
            <a:headEnd/>
            <a:tailEnd/>
          </a:ln>
        </p:spPr>
        <p:txBody>
          <a:bodyPr wrap="none" anchor="ctr"/>
          <a:lstStyle/>
          <a:p>
            <a:pPr algn="ctr"/>
            <a:endParaRPr lang="en-GB"/>
          </a:p>
        </p:txBody>
      </p:sp>
      <p:pic>
        <p:nvPicPr>
          <p:cNvPr id="17420" name="Picture 4" descr="PICdescartes1662"/>
          <p:cNvPicPr>
            <a:picLocks noChangeAspect="1" noChangeArrowheads="1"/>
          </p:cNvPicPr>
          <p:nvPr/>
        </p:nvPicPr>
        <p:blipFill>
          <a:blip r:embed="rId2" cstate="print"/>
          <a:srcRect/>
          <a:stretch>
            <a:fillRect/>
          </a:stretch>
        </p:blipFill>
        <p:spPr bwMode="auto">
          <a:xfrm>
            <a:off x="-47625" y="5422900"/>
            <a:ext cx="1373188" cy="1435100"/>
          </a:xfrm>
          <a:prstGeom prst="rect">
            <a:avLst/>
          </a:prstGeom>
          <a:noFill/>
          <a:ln w="9525">
            <a:noFill/>
            <a:miter lim="800000"/>
            <a:headEnd/>
            <a:tailEnd/>
          </a:ln>
        </p:spPr>
      </p:pic>
      <p:pic>
        <p:nvPicPr>
          <p:cNvPr id="2050" name="Picture 2" descr="http://www.smithsrisca.co.uk/PICarkin1990.gif"/>
          <p:cNvPicPr>
            <a:picLocks noChangeAspect="1" noChangeArrowheads="1"/>
          </p:cNvPicPr>
          <p:nvPr/>
        </p:nvPicPr>
        <p:blipFill>
          <a:blip r:embed="rId3" cstate="print"/>
          <a:srcRect/>
          <a:stretch>
            <a:fillRect/>
          </a:stretch>
        </p:blipFill>
        <p:spPr bwMode="auto">
          <a:xfrm>
            <a:off x="2917970" y="3000372"/>
            <a:ext cx="4392484" cy="3286148"/>
          </a:xfrm>
          <a:prstGeom prst="rect">
            <a:avLst/>
          </a:prstGeom>
          <a:noFill/>
        </p:spPr>
      </p:pic>
      <p:sp>
        <p:nvSpPr>
          <p:cNvPr id="11" name="Rectangle 4"/>
          <p:cNvSpPr>
            <a:spLocks noChangeArrowheads="1"/>
          </p:cNvSpPr>
          <p:nvPr/>
        </p:nvSpPr>
        <p:spPr bwMode="auto">
          <a:xfrm>
            <a:off x="7242175" y="2349500"/>
            <a:ext cx="2663825" cy="504825"/>
          </a:xfrm>
          <a:prstGeom prst="rect">
            <a:avLst/>
          </a:prstGeom>
          <a:noFill/>
          <a:ln w="9525">
            <a:noFill/>
            <a:miter lim="800000"/>
            <a:headEnd/>
            <a:tailEnd/>
          </a:ln>
        </p:spPr>
        <p:txBody>
          <a:bodyPr/>
          <a:lstStyle/>
          <a:p>
            <a:pPr marL="342900" indent="-342900">
              <a:lnSpc>
                <a:spcPct val="80000"/>
              </a:lnSpc>
              <a:spcBef>
                <a:spcPct val="20000"/>
              </a:spcBef>
              <a:buFontTx/>
              <a:buChar char="•"/>
            </a:pPr>
            <a:r>
              <a:rPr lang="en-GB" b="1" dirty="0" smtClean="0">
                <a:hlinkClick r:id="rId4"/>
              </a:rPr>
              <a:t>Click for additional explanation</a:t>
            </a:r>
            <a:endParaRPr lang="en-GB" b="1" dirty="0"/>
          </a:p>
        </p:txBody>
      </p:sp>
      <p:pic>
        <p:nvPicPr>
          <p:cNvPr id="36866" name="Picture 2" descr="http://t0.gstatic.com/images?q=tbn:3X18-juYqzkwNM:http://upload.wikimedia.org/wikipedia/commons/2/2b/Ronald_C._Arkin.jpg">
            <a:hlinkClick r:id="rId5"/>
          </p:cNvPr>
          <p:cNvPicPr>
            <a:picLocks noChangeAspect="1" noChangeArrowheads="1"/>
          </p:cNvPicPr>
          <p:nvPr/>
        </p:nvPicPr>
        <p:blipFill>
          <a:blip r:embed="rId6" cstate="print"/>
          <a:srcRect/>
          <a:stretch>
            <a:fillRect/>
          </a:stretch>
        </p:blipFill>
        <p:spPr bwMode="auto">
          <a:xfrm>
            <a:off x="238092" y="2285992"/>
            <a:ext cx="2187383" cy="1647830"/>
          </a:xfrm>
          <a:prstGeom prst="rect">
            <a:avLst/>
          </a:prstGeom>
          <a:noFill/>
        </p:spPr>
      </p:pic>
      <p:sp>
        <p:nvSpPr>
          <p:cNvPr id="13" name="Text Box 19"/>
          <p:cNvSpPr txBox="1">
            <a:spLocks noChangeArrowheads="1"/>
          </p:cNvSpPr>
          <p:nvPr/>
        </p:nvSpPr>
        <p:spPr bwMode="auto">
          <a:xfrm>
            <a:off x="2758348" y="1334144"/>
            <a:ext cx="4878259" cy="523220"/>
          </a:xfrm>
          <a:prstGeom prst="rect">
            <a:avLst/>
          </a:prstGeom>
          <a:noFill/>
          <a:ln w="9525">
            <a:noFill/>
            <a:miter lim="800000"/>
            <a:headEnd/>
            <a:tailEnd/>
          </a:ln>
        </p:spPr>
        <p:txBody>
          <a:bodyPr wrap="none">
            <a:spAutoFit/>
          </a:bodyPr>
          <a:lstStyle/>
          <a:p>
            <a:pPr algn="ctr"/>
            <a:r>
              <a:rPr lang="en-GB" sz="2800" b="1" dirty="0" smtClean="0">
                <a:solidFill>
                  <a:srgbClr val="FF0000"/>
                </a:solidFill>
              </a:rPr>
              <a:t>Higher Cognitive Functions</a:t>
            </a:r>
            <a:endParaRPr lang="en-US" sz="2800" b="1" dirty="0">
              <a:solidFill>
                <a:srgbClr val="FF0000"/>
              </a:solidFill>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0" y="2571744"/>
            <a:ext cx="9906000" cy="1844675"/>
          </a:xfrm>
        </p:spPr>
        <p:txBody>
          <a:bodyPr/>
          <a:lstStyle/>
          <a:p>
            <a:pPr eaLnBrk="1" hangingPunct="1"/>
            <a:r>
              <a:rPr lang="en-GB" sz="2800" b="1" dirty="0" smtClean="0">
                <a:solidFill>
                  <a:schemeClr val="tx1"/>
                </a:solidFill>
              </a:rPr>
              <a:t>AND COGNITIVE ERGONOMICS’ VERY OWN .....</a:t>
            </a:r>
            <a:endParaRPr lang="en-US" sz="2800" b="1" dirty="0" smtClean="0">
              <a:solidFill>
                <a:schemeClr val="tx1"/>
              </a:solidFill>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0"/>
            <a:ext cx="9906000" cy="1700213"/>
          </a:xfrm>
        </p:spPr>
        <p:txBody>
          <a:bodyPr/>
          <a:lstStyle/>
          <a:p>
            <a:pPr eaLnBrk="1" hangingPunct="1"/>
            <a:r>
              <a:rPr lang="en-GB" sz="3200" b="1" dirty="0" smtClean="0"/>
              <a:t>RASMUSSEN’S (1983) HIERARCHICAL MODEL</a:t>
            </a:r>
            <a:endParaRPr lang="en-US" sz="2000" b="1" dirty="0" smtClean="0"/>
          </a:p>
        </p:txBody>
      </p:sp>
      <p:sp>
        <p:nvSpPr>
          <p:cNvPr id="17413" name="Text Box 5"/>
          <p:cNvSpPr txBox="1">
            <a:spLocks noChangeArrowheads="1"/>
          </p:cNvSpPr>
          <p:nvPr/>
        </p:nvSpPr>
        <p:spPr bwMode="auto">
          <a:xfrm>
            <a:off x="488950" y="4699000"/>
            <a:ext cx="1868488" cy="519113"/>
          </a:xfrm>
          <a:prstGeom prst="rect">
            <a:avLst/>
          </a:prstGeom>
          <a:noFill/>
          <a:ln w="9525">
            <a:noFill/>
            <a:miter lim="800000"/>
            <a:headEnd/>
            <a:tailEnd/>
          </a:ln>
        </p:spPr>
        <p:txBody>
          <a:bodyPr wrap="none">
            <a:spAutoFit/>
          </a:bodyPr>
          <a:lstStyle/>
          <a:p>
            <a:r>
              <a:rPr lang="en-GB" sz="2800" b="1">
                <a:solidFill>
                  <a:srgbClr val="FF0000"/>
                </a:solidFill>
              </a:rPr>
              <a:t>Aesthesis</a:t>
            </a:r>
            <a:endParaRPr lang="en-US" sz="2800" b="1">
              <a:solidFill>
                <a:srgbClr val="FF0000"/>
              </a:solidFill>
            </a:endParaRPr>
          </a:p>
        </p:txBody>
      </p:sp>
      <p:sp>
        <p:nvSpPr>
          <p:cNvPr id="17414" name="Text Box 6"/>
          <p:cNvSpPr txBox="1">
            <a:spLocks noChangeArrowheads="1"/>
          </p:cNvSpPr>
          <p:nvPr/>
        </p:nvSpPr>
        <p:spPr bwMode="auto">
          <a:xfrm>
            <a:off x="7905750" y="4719638"/>
            <a:ext cx="1252538" cy="519112"/>
          </a:xfrm>
          <a:prstGeom prst="rect">
            <a:avLst/>
          </a:prstGeom>
          <a:noFill/>
          <a:ln w="9525">
            <a:noFill/>
            <a:miter lim="800000"/>
            <a:headEnd/>
            <a:tailEnd/>
          </a:ln>
        </p:spPr>
        <p:txBody>
          <a:bodyPr wrap="none">
            <a:spAutoFit/>
          </a:bodyPr>
          <a:lstStyle/>
          <a:p>
            <a:r>
              <a:rPr lang="en-GB" sz="2800" b="1">
                <a:solidFill>
                  <a:srgbClr val="FF0000"/>
                </a:solidFill>
              </a:rPr>
              <a:t>Praxis</a:t>
            </a:r>
            <a:endParaRPr lang="en-US" sz="2800" b="1">
              <a:solidFill>
                <a:srgbClr val="FF0000"/>
              </a:solidFill>
            </a:endParaRPr>
          </a:p>
        </p:txBody>
      </p:sp>
      <p:sp>
        <p:nvSpPr>
          <p:cNvPr id="17415" name="AutoShape 7"/>
          <p:cNvSpPr>
            <a:spLocks/>
          </p:cNvSpPr>
          <p:nvPr/>
        </p:nvSpPr>
        <p:spPr bwMode="auto">
          <a:xfrm>
            <a:off x="2433638" y="3257550"/>
            <a:ext cx="503237" cy="3529013"/>
          </a:xfrm>
          <a:prstGeom prst="leftBrace">
            <a:avLst>
              <a:gd name="adj1" fmla="val 58439"/>
              <a:gd name="adj2" fmla="val 50000"/>
            </a:avLst>
          </a:prstGeom>
          <a:noFill/>
          <a:ln w="38100">
            <a:solidFill>
              <a:schemeClr val="tx1"/>
            </a:solidFill>
            <a:round/>
            <a:headEnd/>
            <a:tailEnd/>
          </a:ln>
        </p:spPr>
        <p:txBody>
          <a:bodyPr wrap="none" anchor="ctr"/>
          <a:lstStyle/>
          <a:p>
            <a:pPr algn="ctr"/>
            <a:endParaRPr lang="en-GB"/>
          </a:p>
        </p:txBody>
      </p:sp>
      <p:sp>
        <p:nvSpPr>
          <p:cNvPr id="17416" name="AutoShape 8"/>
          <p:cNvSpPr>
            <a:spLocks/>
          </p:cNvSpPr>
          <p:nvPr/>
        </p:nvSpPr>
        <p:spPr bwMode="auto">
          <a:xfrm>
            <a:off x="7400925" y="3257550"/>
            <a:ext cx="360363" cy="3529013"/>
          </a:xfrm>
          <a:prstGeom prst="rightBrace">
            <a:avLst>
              <a:gd name="adj1" fmla="val 81608"/>
              <a:gd name="adj2" fmla="val 50000"/>
            </a:avLst>
          </a:prstGeom>
          <a:noFill/>
          <a:ln w="38100">
            <a:solidFill>
              <a:schemeClr val="tx1"/>
            </a:solidFill>
            <a:round/>
            <a:headEnd/>
            <a:tailEnd/>
          </a:ln>
        </p:spPr>
        <p:txBody>
          <a:bodyPr wrap="none" anchor="ctr"/>
          <a:lstStyle/>
          <a:p>
            <a:pPr algn="ctr"/>
            <a:endParaRPr lang="en-GB"/>
          </a:p>
        </p:txBody>
      </p:sp>
      <p:sp>
        <p:nvSpPr>
          <p:cNvPr id="17419" name="AutoShape 11"/>
          <p:cNvSpPr>
            <a:spLocks/>
          </p:cNvSpPr>
          <p:nvPr/>
        </p:nvSpPr>
        <p:spPr bwMode="auto">
          <a:xfrm rot="-5400000">
            <a:off x="4916487" y="728663"/>
            <a:ext cx="360363" cy="3024188"/>
          </a:xfrm>
          <a:prstGeom prst="rightBrace">
            <a:avLst>
              <a:gd name="adj1" fmla="val 69934"/>
              <a:gd name="adj2" fmla="val 48657"/>
            </a:avLst>
          </a:prstGeom>
          <a:noFill/>
          <a:ln w="38100">
            <a:solidFill>
              <a:schemeClr val="tx1"/>
            </a:solidFill>
            <a:round/>
            <a:headEnd/>
            <a:tailEnd/>
          </a:ln>
        </p:spPr>
        <p:txBody>
          <a:bodyPr wrap="none" anchor="ctr"/>
          <a:lstStyle/>
          <a:p>
            <a:pPr algn="ctr"/>
            <a:endParaRPr lang="en-GB"/>
          </a:p>
        </p:txBody>
      </p:sp>
      <p:pic>
        <p:nvPicPr>
          <p:cNvPr id="17420" name="Picture 4" descr="PICdescartes1662"/>
          <p:cNvPicPr>
            <a:picLocks noChangeAspect="1" noChangeArrowheads="1"/>
          </p:cNvPicPr>
          <p:nvPr/>
        </p:nvPicPr>
        <p:blipFill>
          <a:blip r:embed="rId2" cstate="print"/>
          <a:srcRect/>
          <a:stretch>
            <a:fillRect/>
          </a:stretch>
        </p:blipFill>
        <p:spPr bwMode="auto">
          <a:xfrm>
            <a:off x="-47625" y="5422900"/>
            <a:ext cx="1373188" cy="1435100"/>
          </a:xfrm>
          <a:prstGeom prst="rect">
            <a:avLst/>
          </a:prstGeom>
          <a:noFill/>
          <a:ln w="9525">
            <a:noFill/>
            <a:miter lim="800000"/>
            <a:headEnd/>
            <a:tailEnd/>
          </a:ln>
        </p:spPr>
      </p:pic>
      <p:pic>
        <p:nvPicPr>
          <p:cNvPr id="1026" name="Picture 2" descr="[Rasmussen's Typical Levels of Performance Omega]"/>
          <p:cNvPicPr>
            <a:picLocks noChangeAspect="1" noChangeArrowheads="1"/>
          </p:cNvPicPr>
          <p:nvPr/>
        </p:nvPicPr>
        <p:blipFill>
          <a:blip r:embed="rId3" cstate="print"/>
          <a:srcRect/>
          <a:stretch>
            <a:fillRect/>
          </a:stretch>
        </p:blipFill>
        <p:spPr bwMode="auto">
          <a:xfrm>
            <a:off x="3167050" y="2667004"/>
            <a:ext cx="3810000" cy="4190996"/>
          </a:xfrm>
          <a:prstGeom prst="rect">
            <a:avLst/>
          </a:prstGeom>
          <a:noFill/>
        </p:spPr>
      </p:pic>
      <p:sp>
        <p:nvSpPr>
          <p:cNvPr id="11" name="Rectangle 4"/>
          <p:cNvSpPr>
            <a:spLocks noChangeArrowheads="1"/>
          </p:cNvSpPr>
          <p:nvPr/>
        </p:nvSpPr>
        <p:spPr bwMode="auto">
          <a:xfrm>
            <a:off x="7242175" y="2349500"/>
            <a:ext cx="2663825" cy="504825"/>
          </a:xfrm>
          <a:prstGeom prst="rect">
            <a:avLst/>
          </a:prstGeom>
          <a:noFill/>
          <a:ln w="9525">
            <a:noFill/>
            <a:miter lim="800000"/>
            <a:headEnd/>
            <a:tailEnd/>
          </a:ln>
        </p:spPr>
        <p:txBody>
          <a:bodyPr/>
          <a:lstStyle/>
          <a:p>
            <a:pPr marL="342900" indent="-342900">
              <a:lnSpc>
                <a:spcPct val="80000"/>
              </a:lnSpc>
              <a:spcBef>
                <a:spcPct val="20000"/>
              </a:spcBef>
              <a:buFontTx/>
              <a:buChar char="•"/>
            </a:pPr>
            <a:r>
              <a:rPr lang="en-GB" b="1" dirty="0" smtClean="0">
                <a:hlinkClick r:id="rId4"/>
              </a:rPr>
              <a:t>Click for additional explanation</a:t>
            </a:r>
            <a:endParaRPr lang="en-GB" b="1" dirty="0"/>
          </a:p>
        </p:txBody>
      </p:sp>
      <p:sp>
        <p:nvSpPr>
          <p:cNvPr id="12" name="Text Box 19"/>
          <p:cNvSpPr txBox="1">
            <a:spLocks noChangeArrowheads="1"/>
          </p:cNvSpPr>
          <p:nvPr/>
        </p:nvSpPr>
        <p:spPr bwMode="auto">
          <a:xfrm>
            <a:off x="2758348" y="1334144"/>
            <a:ext cx="4878259" cy="523220"/>
          </a:xfrm>
          <a:prstGeom prst="rect">
            <a:avLst/>
          </a:prstGeom>
          <a:noFill/>
          <a:ln w="9525">
            <a:noFill/>
            <a:miter lim="800000"/>
            <a:headEnd/>
            <a:tailEnd/>
          </a:ln>
        </p:spPr>
        <p:txBody>
          <a:bodyPr wrap="none">
            <a:spAutoFit/>
          </a:bodyPr>
          <a:lstStyle/>
          <a:p>
            <a:pPr algn="ctr"/>
            <a:r>
              <a:rPr lang="en-GB" sz="2800" b="1" dirty="0" smtClean="0">
                <a:solidFill>
                  <a:srgbClr val="FF0000"/>
                </a:solidFill>
              </a:rPr>
              <a:t>Higher Cognitive Functions</a:t>
            </a:r>
            <a:endParaRPr lang="en-US" sz="2800" b="1" dirty="0">
              <a:solidFill>
                <a:srgbClr val="FF0000"/>
              </a:solidFill>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46038"/>
            <a:ext cx="9906000" cy="1557337"/>
          </a:xfrm>
        </p:spPr>
        <p:txBody>
          <a:bodyPr/>
          <a:lstStyle/>
          <a:p>
            <a:pPr eaLnBrk="1" hangingPunct="1"/>
            <a:r>
              <a:rPr lang="en-GB" sz="3200" b="1" dirty="0" smtClean="0"/>
              <a:t>SO HERE ARE SOME OF OUR PROBLEMS .....</a:t>
            </a:r>
            <a:endParaRPr lang="en-US" sz="2000" b="1" dirty="0" smtClean="0"/>
          </a:p>
        </p:txBody>
      </p:sp>
      <p:sp>
        <p:nvSpPr>
          <p:cNvPr id="20483" name="Rectangle 3"/>
          <p:cNvSpPr>
            <a:spLocks noChangeArrowheads="1"/>
          </p:cNvSpPr>
          <p:nvPr/>
        </p:nvSpPr>
        <p:spPr bwMode="auto">
          <a:xfrm>
            <a:off x="0" y="1890713"/>
            <a:ext cx="9906000" cy="4752975"/>
          </a:xfrm>
          <a:prstGeom prst="rect">
            <a:avLst/>
          </a:prstGeom>
          <a:noFill/>
          <a:ln w="9525">
            <a:noFill/>
            <a:miter lim="800000"/>
            <a:headEnd/>
            <a:tailEnd/>
          </a:ln>
        </p:spPr>
        <p:txBody>
          <a:bodyPr/>
          <a:lstStyle/>
          <a:p>
            <a:pPr>
              <a:spcBef>
                <a:spcPct val="20000"/>
              </a:spcBef>
            </a:pPr>
            <a:r>
              <a:rPr lang="en-GB" sz="2400" b="1" dirty="0" smtClean="0"/>
              <a:t>(1) Cognition takes place so quickly that the interesting parts are over before they can be attended to. Moreover, much of it – not least problem solving and sentence construction - is carried out subconsciously and therefore not available for conscious report or introspection.</a:t>
            </a:r>
          </a:p>
          <a:p>
            <a:pPr marL="457200" indent="-457200">
              <a:spcBef>
                <a:spcPct val="20000"/>
              </a:spcBef>
            </a:pPr>
            <a:endParaRPr lang="en-GB" sz="2400" b="1" dirty="0" smtClean="0"/>
          </a:p>
          <a:p>
            <a:pPr>
              <a:spcBef>
                <a:spcPct val="20000"/>
              </a:spcBef>
            </a:pPr>
            <a:r>
              <a:rPr lang="en-GB" sz="2400" b="1" dirty="0" smtClean="0"/>
              <a:t>(2) There </a:t>
            </a:r>
            <a:r>
              <a:rPr lang="en-GB" sz="2400" b="1" dirty="0"/>
              <a:t>is </a:t>
            </a:r>
            <a:r>
              <a:rPr lang="en-GB" sz="2400" b="1" dirty="0" smtClean="0"/>
              <a:t>no </a:t>
            </a:r>
            <a:r>
              <a:rPr lang="en-GB" sz="2400" b="1" dirty="0"/>
              <a:t>consensus as to the </a:t>
            </a:r>
            <a:r>
              <a:rPr lang="en-GB" sz="2400" b="1" dirty="0" smtClean="0"/>
              <a:t>functional components </a:t>
            </a:r>
            <a:r>
              <a:rPr lang="en-GB" sz="2400" b="1" dirty="0"/>
              <a:t>of our cognitive </a:t>
            </a:r>
            <a:r>
              <a:rPr lang="en-GB" sz="2400" b="1" dirty="0" smtClean="0"/>
              <a:t>architecture.</a:t>
            </a:r>
            <a:endParaRPr lang="en-GB" sz="2400" b="1" dirty="0"/>
          </a:p>
          <a:p>
            <a:pPr>
              <a:spcBef>
                <a:spcPct val="20000"/>
              </a:spcBef>
            </a:pPr>
            <a:endParaRPr lang="en-GB" sz="2400" b="1" dirty="0"/>
          </a:p>
          <a:p>
            <a:pPr>
              <a:spcBef>
                <a:spcPct val="20000"/>
              </a:spcBef>
            </a:pPr>
            <a:r>
              <a:rPr lang="en-GB" sz="2400" b="1" dirty="0" smtClean="0"/>
              <a:t>(3) Because mental data are never entirely objective they are of dubious scientific value.</a:t>
            </a:r>
            <a:endParaRPr lang="en-GB" sz="2400" b="1" dirty="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906000" cy="1557338"/>
          </a:xfrm>
        </p:spPr>
        <p:txBody>
          <a:bodyPr/>
          <a:lstStyle/>
          <a:p>
            <a:pPr eaLnBrk="1" hangingPunct="1"/>
            <a:r>
              <a:rPr lang="en-GB" sz="3200" b="1" dirty="0" smtClean="0"/>
              <a:t>..... AND HERE IS OUR MISSION</a:t>
            </a:r>
            <a:endParaRPr lang="en-US" sz="2000" b="1" dirty="0" smtClean="0"/>
          </a:p>
        </p:txBody>
      </p:sp>
      <p:sp>
        <p:nvSpPr>
          <p:cNvPr id="5" name="Rectangle 3"/>
          <p:cNvSpPr>
            <a:spLocks noChangeArrowheads="1"/>
          </p:cNvSpPr>
          <p:nvPr/>
        </p:nvSpPr>
        <p:spPr bwMode="auto">
          <a:xfrm>
            <a:off x="0" y="1844675"/>
            <a:ext cx="9667908" cy="4752975"/>
          </a:xfrm>
          <a:prstGeom prst="rect">
            <a:avLst/>
          </a:prstGeom>
          <a:noFill/>
          <a:ln w="9525">
            <a:noFill/>
            <a:miter lim="800000"/>
            <a:headEnd/>
            <a:tailEnd/>
          </a:ln>
        </p:spPr>
        <p:txBody>
          <a:bodyPr/>
          <a:lstStyle/>
          <a:p>
            <a:pPr>
              <a:spcBef>
                <a:spcPct val="20000"/>
              </a:spcBef>
              <a:defRPr/>
            </a:pPr>
            <a:r>
              <a:rPr lang="en-GB" sz="2400" b="1" dirty="0" smtClean="0"/>
              <a:t>(</a:t>
            </a:r>
            <a:r>
              <a:rPr lang="en-GB" sz="2400" b="1" dirty="0"/>
              <a:t>1) </a:t>
            </a:r>
            <a:r>
              <a:rPr lang="en-GB" sz="2400" b="1" dirty="0" smtClean="0"/>
              <a:t>Guided by what is known about the biological nervous system, to </a:t>
            </a:r>
            <a:r>
              <a:rPr lang="en-GB" sz="2400" b="1" dirty="0"/>
              <a:t>show how </a:t>
            </a:r>
            <a:r>
              <a:rPr lang="en-GB" sz="2400" b="1" dirty="0" smtClean="0"/>
              <a:t>complex </a:t>
            </a:r>
            <a:r>
              <a:rPr lang="en-GB" sz="2400" b="1" dirty="0"/>
              <a:t>mental functions can be </a:t>
            </a:r>
            <a:r>
              <a:rPr lang="en-GB" sz="2400" b="1" dirty="0" smtClean="0"/>
              <a:t>built up from </a:t>
            </a:r>
            <a:r>
              <a:rPr lang="en-GB" sz="2400" b="1" dirty="0"/>
              <a:t>simple components in a computer simulation of a mind.</a:t>
            </a:r>
          </a:p>
          <a:p>
            <a:pPr>
              <a:spcBef>
                <a:spcPct val="20000"/>
              </a:spcBef>
              <a:defRPr/>
            </a:pPr>
            <a:endParaRPr lang="en-GB" sz="2400" b="1" dirty="0"/>
          </a:p>
          <a:p>
            <a:pPr>
              <a:spcBef>
                <a:spcPct val="20000"/>
              </a:spcBef>
              <a:defRPr/>
            </a:pPr>
            <a:r>
              <a:rPr lang="en-GB" sz="2400" b="1" dirty="0"/>
              <a:t>(2) To install some sort of "cognitive tracking" device within said </a:t>
            </a:r>
            <a:r>
              <a:rPr lang="en-GB" sz="2400" b="1" dirty="0" smtClean="0"/>
              <a:t>simulation</a:t>
            </a:r>
            <a:r>
              <a:rPr lang="en-GB" sz="2400" b="1" dirty="0"/>
              <a:t>,</a:t>
            </a:r>
            <a:r>
              <a:rPr lang="en-GB" sz="2400" b="1" cap="all" dirty="0">
                <a:solidFill>
                  <a:srgbClr val="FF0000"/>
                </a:solidFill>
              </a:rPr>
              <a:t> so that we can study it in slow motion after the </a:t>
            </a:r>
            <a:r>
              <a:rPr lang="en-GB" sz="2400" b="1" cap="all" dirty="0" smtClean="0">
                <a:solidFill>
                  <a:srgbClr val="FF0000"/>
                </a:solidFill>
              </a:rPr>
              <a:t>event </a:t>
            </a:r>
            <a:r>
              <a:rPr lang="en-GB" sz="2400" b="1" dirty="0" smtClean="0"/>
              <a:t>(specifically</a:t>
            </a:r>
            <a:r>
              <a:rPr lang="en-GB" sz="2400" b="1" dirty="0"/>
              <a:t>, by having it record its actions to a hard copy </a:t>
            </a:r>
            <a:r>
              <a:rPr lang="en-GB" sz="2400" b="1" dirty="0" smtClean="0"/>
              <a:t>time-stamped objective record).</a:t>
            </a:r>
            <a:endParaRPr lang="en-GB" sz="2400" b="1" dirty="0"/>
          </a:p>
          <a:p>
            <a:pPr marL="0" lvl="5">
              <a:spcBef>
                <a:spcPct val="20000"/>
              </a:spcBef>
              <a:defRPr/>
            </a:pPr>
            <a:endParaRPr lang="en-GB" sz="2400" b="1" dirty="0"/>
          </a:p>
          <a:p>
            <a:pPr>
              <a:spcBef>
                <a:spcPct val="20000"/>
              </a:spcBef>
              <a:defRPr/>
            </a:pPr>
            <a:r>
              <a:rPr lang="en-GB" sz="2400" b="1" dirty="0"/>
              <a:t>(3) To use this device to make cognitive modelling more </a:t>
            </a:r>
            <a:r>
              <a:rPr lang="en-GB" sz="2400" b="1" dirty="0" smtClean="0"/>
              <a:t>ergonomist-friendly </a:t>
            </a:r>
            <a:r>
              <a:rPr lang="en-GB" sz="2400" b="1" dirty="0"/>
              <a:t>than it </a:t>
            </a:r>
            <a:r>
              <a:rPr lang="en-GB" sz="2400" b="1" dirty="0" smtClean="0"/>
              <a:t>has been </a:t>
            </a:r>
            <a:r>
              <a:rPr lang="en-GB" sz="2400" b="1" dirty="0"/>
              <a:t>in the past.</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95300" y="0"/>
            <a:ext cx="8915400" cy="6858000"/>
          </a:xfrm>
        </p:spPr>
        <p:txBody>
          <a:bodyPr/>
          <a:lstStyle/>
          <a:p>
            <a:pPr eaLnBrk="1" hangingPunct="1"/>
            <a:r>
              <a:rPr lang="en-US" sz="4800" b="1" smtClean="0">
                <a:solidFill>
                  <a:srgbClr val="FF0000"/>
                </a:solidFill>
              </a:rPr>
              <a:t>SECTION 2</a:t>
            </a:r>
            <a:r>
              <a:rPr lang="en-US" sz="4800" b="1" smtClean="0"/>
              <a:t/>
            </a:r>
            <a:br>
              <a:rPr lang="en-US" sz="4800" b="1" smtClean="0"/>
            </a:br>
            <a:r>
              <a:rPr lang="en-US" sz="4800" b="1" smtClean="0"/>
              <a:t/>
            </a:r>
            <a:br>
              <a:rPr lang="en-US" sz="4800" b="1" smtClean="0"/>
            </a:br>
            <a:r>
              <a:rPr lang="en-US" sz="4800" b="1" smtClean="0"/>
              <a:t>INTRODUCING PROJECT </a:t>
            </a:r>
            <a:r>
              <a:rPr lang="en-US" sz="4800" b="1" i="1" smtClean="0"/>
              <a:t>KONRAD</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0" y="0"/>
            <a:ext cx="9906000" cy="1700213"/>
          </a:xfrm>
        </p:spPr>
        <p:txBody>
          <a:bodyPr/>
          <a:lstStyle/>
          <a:p>
            <a:pPr eaLnBrk="1" hangingPunct="1"/>
            <a:r>
              <a:rPr lang="en-GB" sz="3200" b="1" smtClean="0"/>
              <a:t>INTRODUCING PROJECT </a:t>
            </a:r>
            <a:r>
              <a:rPr lang="en-GB" sz="3200" b="1" i="1" smtClean="0"/>
              <a:t>KONRAD</a:t>
            </a:r>
            <a:endParaRPr lang="en-US" sz="3200" b="1" smtClean="0"/>
          </a:p>
        </p:txBody>
      </p:sp>
      <p:grpSp>
        <p:nvGrpSpPr>
          <p:cNvPr id="23555" name="Group 7"/>
          <p:cNvGrpSpPr>
            <a:grpSpLocks/>
          </p:cNvGrpSpPr>
          <p:nvPr/>
        </p:nvGrpSpPr>
        <p:grpSpPr bwMode="auto">
          <a:xfrm>
            <a:off x="3440113" y="3357563"/>
            <a:ext cx="5529262" cy="3500437"/>
            <a:chOff x="2757" y="2115"/>
            <a:chExt cx="3483" cy="2205"/>
          </a:xfrm>
        </p:grpSpPr>
        <p:pic>
          <p:nvPicPr>
            <p:cNvPr id="23597" name="Picture 5" descr="PICkleist1934-leftlateral"/>
            <p:cNvPicPr>
              <a:picLocks noChangeAspect="1" noChangeArrowheads="1"/>
            </p:cNvPicPr>
            <p:nvPr/>
          </p:nvPicPr>
          <p:blipFill>
            <a:blip r:embed="rId2" cstate="print"/>
            <a:srcRect/>
            <a:stretch>
              <a:fillRect/>
            </a:stretch>
          </p:blipFill>
          <p:spPr bwMode="auto">
            <a:xfrm>
              <a:off x="2882" y="2131"/>
              <a:ext cx="3358" cy="2189"/>
            </a:xfrm>
            <a:prstGeom prst="rect">
              <a:avLst/>
            </a:prstGeom>
            <a:noFill/>
            <a:ln w="9525">
              <a:noFill/>
              <a:miter lim="800000"/>
              <a:headEnd/>
              <a:tailEnd/>
            </a:ln>
          </p:spPr>
        </p:pic>
        <p:sp>
          <p:nvSpPr>
            <p:cNvPr id="23598" name="Rectangle 6"/>
            <p:cNvSpPr>
              <a:spLocks noChangeArrowheads="1"/>
            </p:cNvSpPr>
            <p:nvPr/>
          </p:nvSpPr>
          <p:spPr bwMode="auto">
            <a:xfrm>
              <a:off x="2757" y="2115"/>
              <a:ext cx="1406" cy="181"/>
            </a:xfrm>
            <a:prstGeom prst="rect">
              <a:avLst/>
            </a:prstGeom>
            <a:solidFill>
              <a:schemeClr val="bg1"/>
            </a:solidFill>
            <a:ln w="9525">
              <a:noFill/>
              <a:miter lim="800000"/>
              <a:headEnd/>
              <a:tailEnd/>
            </a:ln>
          </p:spPr>
          <p:txBody>
            <a:bodyPr wrap="none" anchor="ctr"/>
            <a:lstStyle/>
            <a:p>
              <a:pPr algn="ctr"/>
              <a:endParaRPr lang="en-GB"/>
            </a:p>
          </p:txBody>
        </p:sp>
      </p:grpSp>
      <p:sp>
        <p:nvSpPr>
          <p:cNvPr id="23556" name="Rectangle 3"/>
          <p:cNvSpPr>
            <a:spLocks noGrp="1" noChangeArrowheads="1"/>
          </p:cNvSpPr>
          <p:nvPr>
            <p:ph type="body" idx="1"/>
          </p:nvPr>
        </p:nvSpPr>
        <p:spPr>
          <a:xfrm>
            <a:off x="0" y="1989138"/>
            <a:ext cx="8985250" cy="2232025"/>
          </a:xfrm>
        </p:spPr>
        <p:txBody>
          <a:bodyPr/>
          <a:lstStyle/>
          <a:p>
            <a:pPr eaLnBrk="1" hangingPunct="1">
              <a:lnSpc>
                <a:spcPct val="90000"/>
              </a:lnSpc>
            </a:pPr>
            <a:r>
              <a:rPr lang="en-US" sz="2400" b="1" i="1" dirty="0" err="1" smtClean="0"/>
              <a:t>Konrad</a:t>
            </a:r>
            <a:r>
              <a:rPr lang="en-US" sz="2400" b="1" dirty="0" smtClean="0"/>
              <a:t> is a machine consciousness project. It models the end-to-end flow of biological cognition, with especial emphasis on the </a:t>
            </a:r>
            <a:r>
              <a:rPr lang="en-US" sz="2400" b="1" dirty="0" smtClean="0">
                <a:solidFill>
                  <a:srgbClr val="FF0000"/>
                </a:solidFill>
              </a:rPr>
              <a:t>semantic network</a:t>
            </a:r>
            <a:r>
              <a:rPr lang="en-US" sz="2400" b="1" dirty="0" smtClean="0"/>
              <a:t> nature of the mind's long-term memory system.</a:t>
            </a:r>
            <a:endParaRPr lang="en-GB" sz="2400" b="1" dirty="0" smtClean="0"/>
          </a:p>
        </p:txBody>
      </p:sp>
      <p:grpSp>
        <p:nvGrpSpPr>
          <p:cNvPr id="3" name="Group 45"/>
          <p:cNvGrpSpPr>
            <a:grpSpLocks/>
          </p:cNvGrpSpPr>
          <p:nvPr/>
        </p:nvGrpSpPr>
        <p:grpSpPr bwMode="auto">
          <a:xfrm rot="-2043864">
            <a:off x="5672138" y="4437063"/>
            <a:ext cx="3065462" cy="1958975"/>
            <a:chOff x="1306" y="2659"/>
            <a:chExt cx="1405" cy="1179"/>
          </a:xfrm>
        </p:grpSpPr>
        <p:grpSp>
          <p:nvGrpSpPr>
            <p:cNvPr id="23560" name="Group 44"/>
            <p:cNvGrpSpPr>
              <a:grpSpLocks/>
            </p:cNvGrpSpPr>
            <p:nvPr/>
          </p:nvGrpSpPr>
          <p:grpSpPr bwMode="auto">
            <a:xfrm rot="-10246105">
              <a:off x="1306" y="2976"/>
              <a:ext cx="998" cy="862"/>
              <a:chOff x="897" y="3203"/>
              <a:chExt cx="998" cy="862"/>
            </a:xfrm>
          </p:grpSpPr>
          <p:cxnSp>
            <p:nvCxnSpPr>
              <p:cNvPr id="23579" name="AutoShape 8"/>
              <p:cNvCxnSpPr>
                <a:cxnSpLocks noChangeShapeType="1"/>
              </p:cNvCxnSpPr>
              <p:nvPr/>
            </p:nvCxnSpPr>
            <p:spPr bwMode="auto">
              <a:xfrm flipV="1">
                <a:off x="1124" y="3203"/>
                <a:ext cx="318" cy="136"/>
              </a:xfrm>
              <a:prstGeom prst="straightConnector1">
                <a:avLst/>
              </a:prstGeom>
              <a:noFill/>
              <a:ln w="25400">
                <a:solidFill>
                  <a:srgbClr val="000080"/>
                </a:solidFill>
                <a:round/>
                <a:headEnd/>
                <a:tailEnd/>
              </a:ln>
            </p:spPr>
          </p:cxnSp>
          <p:cxnSp>
            <p:nvCxnSpPr>
              <p:cNvPr id="23580" name="AutoShape 9"/>
              <p:cNvCxnSpPr>
                <a:cxnSpLocks noChangeShapeType="1"/>
              </p:cNvCxnSpPr>
              <p:nvPr/>
            </p:nvCxnSpPr>
            <p:spPr bwMode="auto">
              <a:xfrm flipH="1">
                <a:off x="1033" y="3203"/>
                <a:ext cx="409" cy="635"/>
              </a:xfrm>
              <a:prstGeom prst="straightConnector1">
                <a:avLst/>
              </a:prstGeom>
              <a:noFill/>
              <a:ln w="25400">
                <a:solidFill>
                  <a:srgbClr val="000080"/>
                </a:solidFill>
                <a:round/>
                <a:headEnd/>
                <a:tailEnd/>
              </a:ln>
            </p:spPr>
          </p:cxnSp>
          <p:cxnSp>
            <p:nvCxnSpPr>
              <p:cNvPr id="23581" name="AutoShape 10"/>
              <p:cNvCxnSpPr>
                <a:cxnSpLocks noChangeShapeType="1"/>
              </p:cNvCxnSpPr>
              <p:nvPr/>
            </p:nvCxnSpPr>
            <p:spPr bwMode="auto">
              <a:xfrm flipH="1" flipV="1">
                <a:off x="1442" y="3203"/>
                <a:ext cx="181" cy="182"/>
              </a:xfrm>
              <a:prstGeom prst="straightConnector1">
                <a:avLst/>
              </a:prstGeom>
              <a:noFill/>
              <a:ln w="25400">
                <a:solidFill>
                  <a:srgbClr val="000080"/>
                </a:solidFill>
                <a:round/>
                <a:headEnd/>
                <a:tailEnd/>
              </a:ln>
            </p:spPr>
          </p:cxnSp>
          <p:cxnSp>
            <p:nvCxnSpPr>
              <p:cNvPr id="23582" name="AutoShape 11"/>
              <p:cNvCxnSpPr>
                <a:cxnSpLocks noChangeShapeType="1"/>
              </p:cNvCxnSpPr>
              <p:nvPr/>
            </p:nvCxnSpPr>
            <p:spPr bwMode="auto">
              <a:xfrm flipH="1">
                <a:off x="897" y="3385"/>
                <a:ext cx="409" cy="317"/>
              </a:xfrm>
              <a:prstGeom prst="straightConnector1">
                <a:avLst/>
              </a:prstGeom>
              <a:noFill/>
              <a:ln w="25400">
                <a:solidFill>
                  <a:srgbClr val="000080"/>
                </a:solidFill>
                <a:round/>
                <a:headEnd/>
                <a:tailEnd/>
              </a:ln>
            </p:spPr>
          </p:cxnSp>
          <p:cxnSp>
            <p:nvCxnSpPr>
              <p:cNvPr id="23583" name="AutoShape 12"/>
              <p:cNvCxnSpPr>
                <a:cxnSpLocks noChangeShapeType="1"/>
              </p:cNvCxnSpPr>
              <p:nvPr/>
            </p:nvCxnSpPr>
            <p:spPr bwMode="auto">
              <a:xfrm flipV="1">
                <a:off x="897" y="3339"/>
                <a:ext cx="227" cy="363"/>
              </a:xfrm>
              <a:prstGeom prst="straightConnector1">
                <a:avLst/>
              </a:prstGeom>
              <a:noFill/>
              <a:ln w="25400">
                <a:solidFill>
                  <a:srgbClr val="000080"/>
                </a:solidFill>
                <a:round/>
                <a:headEnd/>
                <a:tailEnd/>
              </a:ln>
            </p:spPr>
          </p:cxnSp>
          <p:cxnSp>
            <p:nvCxnSpPr>
              <p:cNvPr id="23584" name="AutoShape 13"/>
              <p:cNvCxnSpPr>
                <a:cxnSpLocks noChangeShapeType="1"/>
              </p:cNvCxnSpPr>
              <p:nvPr/>
            </p:nvCxnSpPr>
            <p:spPr bwMode="auto">
              <a:xfrm>
                <a:off x="897" y="3702"/>
                <a:ext cx="726" cy="91"/>
              </a:xfrm>
              <a:prstGeom prst="straightConnector1">
                <a:avLst/>
              </a:prstGeom>
              <a:noFill/>
              <a:ln w="25400">
                <a:solidFill>
                  <a:srgbClr val="000080"/>
                </a:solidFill>
                <a:round/>
                <a:headEnd/>
                <a:tailEnd/>
              </a:ln>
            </p:spPr>
          </p:cxnSp>
          <p:cxnSp>
            <p:nvCxnSpPr>
              <p:cNvPr id="23585" name="AutoShape 14"/>
              <p:cNvCxnSpPr>
                <a:cxnSpLocks noChangeShapeType="1"/>
              </p:cNvCxnSpPr>
              <p:nvPr/>
            </p:nvCxnSpPr>
            <p:spPr bwMode="auto">
              <a:xfrm>
                <a:off x="1124" y="3339"/>
                <a:ext cx="771" cy="318"/>
              </a:xfrm>
              <a:prstGeom prst="straightConnector1">
                <a:avLst/>
              </a:prstGeom>
              <a:noFill/>
              <a:ln w="25400">
                <a:solidFill>
                  <a:srgbClr val="000080"/>
                </a:solidFill>
                <a:round/>
                <a:headEnd/>
                <a:tailEnd/>
              </a:ln>
            </p:spPr>
          </p:cxnSp>
          <p:cxnSp>
            <p:nvCxnSpPr>
              <p:cNvPr id="23586" name="AutoShape 15"/>
              <p:cNvCxnSpPr>
                <a:cxnSpLocks noChangeShapeType="1"/>
              </p:cNvCxnSpPr>
              <p:nvPr/>
            </p:nvCxnSpPr>
            <p:spPr bwMode="auto">
              <a:xfrm flipH="1" flipV="1">
                <a:off x="1623" y="3385"/>
                <a:ext cx="272" cy="272"/>
              </a:xfrm>
              <a:prstGeom prst="straightConnector1">
                <a:avLst/>
              </a:prstGeom>
              <a:noFill/>
              <a:ln w="25400">
                <a:solidFill>
                  <a:srgbClr val="000080"/>
                </a:solidFill>
                <a:round/>
                <a:headEnd/>
                <a:tailEnd/>
              </a:ln>
            </p:spPr>
          </p:cxnSp>
          <p:cxnSp>
            <p:nvCxnSpPr>
              <p:cNvPr id="23587" name="AutoShape 16"/>
              <p:cNvCxnSpPr>
                <a:cxnSpLocks noChangeShapeType="1"/>
              </p:cNvCxnSpPr>
              <p:nvPr/>
            </p:nvCxnSpPr>
            <p:spPr bwMode="auto">
              <a:xfrm>
                <a:off x="1442" y="3203"/>
                <a:ext cx="181" cy="590"/>
              </a:xfrm>
              <a:prstGeom prst="straightConnector1">
                <a:avLst/>
              </a:prstGeom>
              <a:noFill/>
              <a:ln w="25400">
                <a:solidFill>
                  <a:srgbClr val="000080"/>
                </a:solidFill>
                <a:round/>
                <a:headEnd/>
                <a:tailEnd/>
              </a:ln>
            </p:spPr>
          </p:cxnSp>
          <p:cxnSp>
            <p:nvCxnSpPr>
              <p:cNvPr id="23588" name="AutoShape 17"/>
              <p:cNvCxnSpPr>
                <a:cxnSpLocks noChangeShapeType="1"/>
              </p:cNvCxnSpPr>
              <p:nvPr/>
            </p:nvCxnSpPr>
            <p:spPr bwMode="auto">
              <a:xfrm>
                <a:off x="897" y="3702"/>
                <a:ext cx="136" cy="136"/>
              </a:xfrm>
              <a:prstGeom prst="straightConnector1">
                <a:avLst/>
              </a:prstGeom>
              <a:noFill/>
              <a:ln w="25400">
                <a:solidFill>
                  <a:srgbClr val="000080"/>
                </a:solidFill>
                <a:round/>
                <a:headEnd/>
                <a:tailEnd/>
              </a:ln>
            </p:spPr>
          </p:cxnSp>
          <p:cxnSp>
            <p:nvCxnSpPr>
              <p:cNvPr id="23589" name="AutoShape 18"/>
              <p:cNvCxnSpPr>
                <a:cxnSpLocks noChangeShapeType="1"/>
              </p:cNvCxnSpPr>
              <p:nvPr/>
            </p:nvCxnSpPr>
            <p:spPr bwMode="auto">
              <a:xfrm flipV="1">
                <a:off x="1033" y="3748"/>
                <a:ext cx="363" cy="90"/>
              </a:xfrm>
              <a:prstGeom prst="straightConnector1">
                <a:avLst/>
              </a:prstGeom>
              <a:noFill/>
              <a:ln w="25400">
                <a:solidFill>
                  <a:srgbClr val="000080"/>
                </a:solidFill>
                <a:round/>
                <a:headEnd/>
                <a:tailEnd/>
              </a:ln>
            </p:spPr>
          </p:cxnSp>
          <p:cxnSp>
            <p:nvCxnSpPr>
              <p:cNvPr id="23590" name="AutoShape 19"/>
              <p:cNvCxnSpPr>
                <a:cxnSpLocks noChangeShapeType="1"/>
              </p:cNvCxnSpPr>
              <p:nvPr/>
            </p:nvCxnSpPr>
            <p:spPr bwMode="auto">
              <a:xfrm flipV="1">
                <a:off x="1351" y="3929"/>
                <a:ext cx="408" cy="136"/>
              </a:xfrm>
              <a:prstGeom prst="straightConnector1">
                <a:avLst/>
              </a:prstGeom>
              <a:noFill/>
              <a:ln w="25400">
                <a:solidFill>
                  <a:srgbClr val="000080"/>
                </a:solidFill>
                <a:round/>
                <a:headEnd/>
                <a:tailEnd/>
              </a:ln>
            </p:spPr>
          </p:cxnSp>
          <p:cxnSp>
            <p:nvCxnSpPr>
              <p:cNvPr id="23591" name="AutoShape 20"/>
              <p:cNvCxnSpPr>
                <a:cxnSpLocks noChangeShapeType="1"/>
              </p:cNvCxnSpPr>
              <p:nvPr/>
            </p:nvCxnSpPr>
            <p:spPr bwMode="auto">
              <a:xfrm>
                <a:off x="1124" y="3339"/>
                <a:ext cx="499" cy="46"/>
              </a:xfrm>
              <a:prstGeom prst="straightConnector1">
                <a:avLst/>
              </a:prstGeom>
              <a:noFill/>
              <a:ln w="25400">
                <a:solidFill>
                  <a:srgbClr val="000080"/>
                </a:solidFill>
                <a:round/>
                <a:headEnd/>
                <a:tailEnd/>
              </a:ln>
            </p:spPr>
          </p:cxnSp>
          <p:cxnSp>
            <p:nvCxnSpPr>
              <p:cNvPr id="23592" name="AutoShape 21"/>
              <p:cNvCxnSpPr>
                <a:cxnSpLocks noChangeShapeType="1"/>
              </p:cNvCxnSpPr>
              <p:nvPr/>
            </p:nvCxnSpPr>
            <p:spPr bwMode="auto">
              <a:xfrm flipV="1">
                <a:off x="1578" y="3657"/>
                <a:ext cx="317" cy="136"/>
              </a:xfrm>
              <a:prstGeom prst="straightConnector1">
                <a:avLst/>
              </a:prstGeom>
              <a:noFill/>
              <a:ln w="25400">
                <a:solidFill>
                  <a:srgbClr val="000080"/>
                </a:solidFill>
                <a:round/>
                <a:headEnd/>
                <a:tailEnd/>
              </a:ln>
            </p:spPr>
          </p:cxnSp>
          <p:cxnSp>
            <p:nvCxnSpPr>
              <p:cNvPr id="23593" name="AutoShape 22"/>
              <p:cNvCxnSpPr>
                <a:cxnSpLocks noChangeShapeType="1"/>
              </p:cNvCxnSpPr>
              <p:nvPr/>
            </p:nvCxnSpPr>
            <p:spPr bwMode="auto">
              <a:xfrm flipH="1">
                <a:off x="1759" y="3657"/>
                <a:ext cx="136" cy="272"/>
              </a:xfrm>
              <a:prstGeom prst="straightConnector1">
                <a:avLst/>
              </a:prstGeom>
              <a:noFill/>
              <a:ln w="25400">
                <a:solidFill>
                  <a:srgbClr val="000080"/>
                </a:solidFill>
                <a:round/>
                <a:headEnd/>
                <a:tailEnd/>
              </a:ln>
            </p:spPr>
          </p:cxnSp>
          <p:cxnSp>
            <p:nvCxnSpPr>
              <p:cNvPr id="23594" name="AutoShape 23"/>
              <p:cNvCxnSpPr>
                <a:cxnSpLocks noChangeShapeType="1"/>
              </p:cNvCxnSpPr>
              <p:nvPr/>
            </p:nvCxnSpPr>
            <p:spPr bwMode="auto">
              <a:xfrm flipH="1">
                <a:off x="1351" y="3203"/>
                <a:ext cx="91" cy="862"/>
              </a:xfrm>
              <a:prstGeom prst="straightConnector1">
                <a:avLst/>
              </a:prstGeom>
              <a:noFill/>
              <a:ln w="25400">
                <a:solidFill>
                  <a:srgbClr val="000080"/>
                </a:solidFill>
                <a:round/>
                <a:headEnd/>
                <a:tailEnd/>
              </a:ln>
            </p:spPr>
          </p:cxnSp>
          <p:cxnSp>
            <p:nvCxnSpPr>
              <p:cNvPr id="23595" name="AutoShape 24"/>
              <p:cNvCxnSpPr>
                <a:cxnSpLocks noChangeShapeType="1"/>
              </p:cNvCxnSpPr>
              <p:nvPr/>
            </p:nvCxnSpPr>
            <p:spPr bwMode="auto">
              <a:xfrm flipH="1" flipV="1">
                <a:off x="1033" y="3838"/>
                <a:ext cx="363" cy="227"/>
              </a:xfrm>
              <a:prstGeom prst="straightConnector1">
                <a:avLst/>
              </a:prstGeom>
              <a:noFill/>
              <a:ln w="25400">
                <a:solidFill>
                  <a:srgbClr val="000080"/>
                </a:solidFill>
                <a:round/>
                <a:headEnd/>
                <a:tailEnd/>
              </a:ln>
            </p:spPr>
          </p:cxnSp>
          <p:cxnSp>
            <p:nvCxnSpPr>
              <p:cNvPr id="23596" name="AutoShape 25"/>
              <p:cNvCxnSpPr>
                <a:cxnSpLocks noChangeShapeType="1"/>
              </p:cNvCxnSpPr>
              <p:nvPr/>
            </p:nvCxnSpPr>
            <p:spPr bwMode="auto">
              <a:xfrm flipH="1" flipV="1">
                <a:off x="1623" y="3793"/>
                <a:ext cx="136" cy="136"/>
              </a:xfrm>
              <a:prstGeom prst="straightConnector1">
                <a:avLst/>
              </a:prstGeom>
              <a:noFill/>
              <a:ln w="25400">
                <a:solidFill>
                  <a:srgbClr val="000080"/>
                </a:solidFill>
                <a:round/>
                <a:headEnd/>
                <a:tailEnd/>
              </a:ln>
            </p:spPr>
          </p:cxnSp>
        </p:grpSp>
        <p:cxnSp>
          <p:nvCxnSpPr>
            <p:cNvPr id="23561" name="AutoShape 26"/>
            <p:cNvCxnSpPr>
              <a:cxnSpLocks noChangeShapeType="1"/>
            </p:cNvCxnSpPr>
            <p:nvPr/>
          </p:nvCxnSpPr>
          <p:spPr bwMode="auto">
            <a:xfrm flipV="1">
              <a:off x="1940" y="2659"/>
              <a:ext cx="318" cy="136"/>
            </a:xfrm>
            <a:prstGeom prst="straightConnector1">
              <a:avLst/>
            </a:prstGeom>
            <a:noFill/>
            <a:ln w="25400">
              <a:solidFill>
                <a:srgbClr val="000080"/>
              </a:solidFill>
              <a:round/>
              <a:headEnd/>
              <a:tailEnd/>
            </a:ln>
          </p:spPr>
        </p:cxnSp>
        <p:cxnSp>
          <p:nvCxnSpPr>
            <p:cNvPr id="23562" name="AutoShape 27"/>
            <p:cNvCxnSpPr>
              <a:cxnSpLocks noChangeShapeType="1"/>
            </p:cNvCxnSpPr>
            <p:nvPr/>
          </p:nvCxnSpPr>
          <p:spPr bwMode="auto">
            <a:xfrm flipH="1">
              <a:off x="1849" y="2659"/>
              <a:ext cx="409" cy="635"/>
            </a:xfrm>
            <a:prstGeom prst="straightConnector1">
              <a:avLst/>
            </a:prstGeom>
            <a:noFill/>
            <a:ln w="25400">
              <a:solidFill>
                <a:srgbClr val="000080"/>
              </a:solidFill>
              <a:round/>
              <a:headEnd/>
              <a:tailEnd/>
            </a:ln>
          </p:spPr>
        </p:cxnSp>
        <p:cxnSp>
          <p:nvCxnSpPr>
            <p:cNvPr id="23563" name="AutoShape 28"/>
            <p:cNvCxnSpPr>
              <a:cxnSpLocks noChangeShapeType="1"/>
            </p:cNvCxnSpPr>
            <p:nvPr/>
          </p:nvCxnSpPr>
          <p:spPr bwMode="auto">
            <a:xfrm flipH="1" flipV="1">
              <a:off x="2258" y="2659"/>
              <a:ext cx="181" cy="182"/>
            </a:xfrm>
            <a:prstGeom prst="straightConnector1">
              <a:avLst/>
            </a:prstGeom>
            <a:noFill/>
            <a:ln w="25400">
              <a:solidFill>
                <a:srgbClr val="000080"/>
              </a:solidFill>
              <a:round/>
              <a:headEnd/>
              <a:tailEnd/>
            </a:ln>
          </p:spPr>
        </p:cxnSp>
        <p:cxnSp>
          <p:nvCxnSpPr>
            <p:cNvPr id="23564" name="AutoShape 29"/>
            <p:cNvCxnSpPr>
              <a:cxnSpLocks noChangeShapeType="1"/>
            </p:cNvCxnSpPr>
            <p:nvPr/>
          </p:nvCxnSpPr>
          <p:spPr bwMode="auto">
            <a:xfrm flipH="1">
              <a:off x="1713" y="2841"/>
              <a:ext cx="409" cy="317"/>
            </a:xfrm>
            <a:prstGeom prst="straightConnector1">
              <a:avLst/>
            </a:prstGeom>
            <a:noFill/>
            <a:ln w="25400">
              <a:solidFill>
                <a:srgbClr val="000080"/>
              </a:solidFill>
              <a:round/>
              <a:headEnd/>
              <a:tailEnd/>
            </a:ln>
          </p:spPr>
        </p:cxnSp>
        <p:cxnSp>
          <p:nvCxnSpPr>
            <p:cNvPr id="23565" name="AutoShape 30"/>
            <p:cNvCxnSpPr>
              <a:cxnSpLocks noChangeShapeType="1"/>
            </p:cNvCxnSpPr>
            <p:nvPr/>
          </p:nvCxnSpPr>
          <p:spPr bwMode="auto">
            <a:xfrm flipV="1">
              <a:off x="1713" y="2795"/>
              <a:ext cx="227" cy="363"/>
            </a:xfrm>
            <a:prstGeom prst="straightConnector1">
              <a:avLst/>
            </a:prstGeom>
            <a:noFill/>
            <a:ln w="25400">
              <a:solidFill>
                <a:srgbClr val="000080"/>
              </a:solidFill>
              <a:round/>
              <a:headEnd/>
              <a:tailEnd/>
            </a:ln>
          </p:spPr>
        </p:cxnSp>
        <p:cxnSp>
          <p:nvCxnSpPr>
            <p:cNvPr id="23566" name="AutoShape 31"/>
            <p:cNvCxnSpPr>
              <a:cxnSpLocks noChangeShapeType="1"/>
            </p:cNvCxnSpPr>
            <p:nvPr/>
          </p:nvCxnSpPr>
          <p:spPr bwMode="auto">
            <a:xfrm>
              <a:off x="1713" y="3158"/>
              <a:ext cx="726" cy="91"/>
            </a:xfrm>
            <a:prstGeom prst="straightConnector1">
              <a:avLst/>
            </a:prstGeom>
            <a:noFill/>
            <a:ln w="25400">
              <a:solidFill>
                <a:srgbClr val="000080"/>
              </a:solidFill>
              <a:round/>
              <a:headEnd/>
              <a:tailEnd/>
            </a:ln>
          </p:spPr>
        </p:cxnSp>
        <p:cxnSp>
          <p:nvCxnSpPr>
            <p:cNvPr id="23567" name="AutoShape 32"/>
            <p:cNvCxnSpPr>
              <a:cxnSpLocks noChangeShapeType="1"/>
            </p:cNvCxnSpPr>
            <p:nvPr/>
          </p:nvCxnSpPr>
          <p:spPr bwMode="auto">
            <a:xfrm>
              <a:off x="1940" y="2795"/>
              <a:ext cx="771" cy="318"/>
            </a:xfrm>
            <a:prstGeom prst="straightConnector1">
              <a:avLst/>
            </a:prstGeom>
            <a:noFill/>
            <a:ln w="25400">
              <a:solidFill>
                <a:srgbClr val="000080"/>
              </a:solidFill>
              <a:round/>
              <a:headEnd/>
              <a:tailEnd/>
            </a:ln>
          </p:spPr>
        </p:cxnSp>
        <p:cxnSp>
          <p:nvCxnSpPr>
            <p:cNvPr id="23568" name="AutoShape 33"/>
            <p:cNvCxnSpPr>
              <a:cxnSpLocks noChangeShapeType="1"/>
            </p:cNvCxnSpPr>
            <p:nvPr/>
          </p:nvCxnSpPr>
          <p:spPr bwMode="auto">
            <a:xfrm flipH="1" flipV="1">
              <a:off x="2439" y="2841"/>
              <a:ext cx="272" cy="272"/>
            </a:xfrm>
            <a:prstGeom prst="straightConnector1">
              <a:avLst/>
            </a:prstGeom>
            <a:noFill/>
            <a:ln w="25400">
              <a:solidFill>
                <a:srgbClr val="000080"/>
              </a:solidFill>
              <a:round/>
              <a:headEnd/>
              <a:tailEnd/>
            </a:ln>
          </p:spPr>
        </p:cxnSp>
        <p:cxnSp>
          <p:nvCxnSpPr>
            <p:cNvPr id="23569" name="AutoShape 34"/>
            <p:cNvCxnSpPr>
              <a:cxnSpLocks noChangeShapeType="1"/>
            </p:cNvCxnSpPr>
            <p:nvPr/>
          </p:nvCxnSpPr>
          <p:spPr bwMode="auto">
            <a:xfrm>
              <a:off x="2258" y="2659"/>
              <a:ext cx="181" cy="590"/>
            </a:xfrm>
            <a:prstGeom prst="straightConnector1">
              <a:avLst/>
            </a:prstGeom>
            <a:noFill/>
            <a:ln w="25400">
              <a:solidFill>
                <a:srgbClr val="000080"/>
              </a:solidFill>
              <a:round/>
              <a:headEnd/>
              <a:tailEnd/>
            </a:ln>
          </p:spPr>
        </p:cxnSp>
        <p:cxnSp>
          <p:nvCxnSpPr>
            <p:cNvPr id="23570" name="AutoShape 35"/>
            <p:cNvCxnSpPr>
              <a:cxnSpLocks noChangeShapeType="1"/>
            </p:cNvCxnSpPr>
            <p:nvPr/>
          </p:nvCxnSpPr>
          <p:spPr bwMode="auto">
            <a:xfrm>
              <a:off x="1713" y="3158"/>
              <a:ext cx="136" cy="136"/>
            </a:xfrm>
            <a:prstGeom prst="straightConnector1">
              <a:avLst/>
            </a:prstGeom>
            <a:noFill/>
            <a:ln w="25400">
              <a:solidFill>
                <a:srgbClr val="000080"/>
              </a:solidFill>
              <a:round/>
              <a:headEnd/>
              <a:tailEnd/>
            </a:ln>
          </p:spPr>
        </p:cxnSp>
        <p:cxnSp>
          <p:nvCxnSpPr>
            <p:cNvPr id="23571" name="AutoShape 36"/>
            <p:cNvCxnSpPr>
              <a:cxnSpLocks noChangeShapeType="1"/>
            </p:cNvCxnSpPr>
            <p:nvPr/>
          </p:nvCxnSpPr>
          <p:spPr bwMode="auto">
            <a:xfrm flipV="1">
              <a:off x="1849" y="3204"/>
              <a:ext cx="363" cy="90"/>
            </a:xfrm>
            <a:prstGeom prst="straightConnector1">
              <a:avLst/>
            </a:prstGeom>
            <a:noFill/>
            <a:ln w="25400">
              <a:solidFill>
                <a:srgbClr val="000080"/>
              </a:solidFill>
              <a:round/>
              <a:headEnd/>
              <a:tailEnd/>
            </a:ln>
          </p:spPr>
        </p:cxnSp>
        <p:cxnSp>
          <p:nvCxnSpPr>
            <p:cNvPr id="23572" name="AutoShape 37"/>
            <p:cNvCxnSpPr>
              <a:cxnSpLocks noChangeShapeType="1"/>
            </p:cNvCxnSpPr>
            <p:nvPr/>
          </p:nvCxnSpPr>
          <p:spPr bwMode="auto">
            <a:xfrm flipV="1">
              <a:off x="2167" y="3385"/>
              <a:ext cx="408" cy="136"/>
            </a:xfrm>
            <a:prstGeom prst="straightConnector1">
              <a:avLst/>
            </a:prstGeom>
            <a:noFill/>
            <a:ln w="25400">
              <a:solidFill>
                <a:srgbClr val="000080"/>
              </a:solidFill>
              <a:round/>
              <a:headEnd/>
              <a:tailEnd/>
            </a:ln>
          </p:spPr>
        </p:cxnSp>
        <p:cxnSp>
          <p:nvCxnSpPr>
            <p:cNvPr id="23573" name="AutoShape 38"/>
            <p:cNvCxnSpPr>
              <a:cxnSpLocks noChangeShapeType="1"/>
            </p:cNvCxnSpPr>
            <p:nvPr/>
          </p:nvCxnSpPr>
          <p:spPr bwMode="auto">
            <a:xfrm>
              <a:off x="1940" y="2795"/>
              <a:ext cx="499" cy="46"/>
            </a:xfrm>
            <a:prstGeom prst="straightConnector1">
              <a:avLst/>
            </a:prstGeom>
            <a:noFill/>
            <a:ln w="25400">
              <a:solidFill>
                <a:srgbClr val="000080"/>
              </a:solidFill>
              <a:round/>
              <a:headEnd/>
              <a:tailEnd/>
            </a:ln>
          </p:spPr>
        </p:cxnSp>
        <p:cxnSp>
          <p:nvCxnSpPr>
            <p:cNvPr id="23574" name="AutoShape 39"/>
            <p:cNvCxnSpPr>
              <a:cxnSpLocks noChangeShapeType="1"/>
            </p:cNvCxnSpPr>
            <p:nvPr/>
          </p:nvCxnSpPr>
          <p:spPr bwMode="auto">
            <a:xfrm flipV="1">
              <a:off x="2394" y="3113"/>
              <a:ext cx="317" cy="136"/>
            </a:xfrm>
            <a:prstGeom prst="straightConnector1">
              <a:avLst/>
            </a:prstGeom>
            <a:noFill/>
            <a:ln w="25400">
              <a:solidFill>
                <a:srgbClr val="000080"/>
              </a:solidFill>
              <a:round/>
              <a:headEnd/>
              <a:tailEnd/>
            </a:ln>
          </p:spPr>
        </p:cxnSp>
        <p:cxnSp>
          <p:nvCxnSpPr>
            <p:cNvPr id="23575" name="AutoShape 40"/>
            <p:cNvCxnSpPr>
              <a:cxnSpLocks noChangeShapeType="1"/>
            </p:cNvCxnSpPr>
            <p:nvPr/>
          </p:nvCxnSpPr>
          <p:spPr bwMode="auto">
            <a:xfrm flipH="1">
              <a:off x="2575" y="3113"/>
              <a:ext cx="136" cy="272"/>
            </a:xfrm>
            <a:prstGeom prst="straightConnector1">
              <a:avLst/>
            </a:prstGeom>
            <a:noFill/>
            <a:ln w="25400">
              <a:solidFill>
                <a:srgbClr val="000080"/>
              </a:solidFill>
              <a:round/>
              <a:headEnd/>
              <a:tailEnd/>
            </a:ln>
          </p:spPr>
        </p:cxnSp>
        <p:cxnSp>
          <p:nvCxnSpPr>
            <p:cNvPr id="23576" name="AutoShape 41"/>
            <p:cNvCxnSpPr>
              <a:cxnSpLocks noChangeShapeType="1"/>
            </p:cNvCxnSpPr>
            <p:nvPr/>
          </p:nvCxnSpPr>
          <p:spPr bwMode="auto">
            <a:xfrm flipH="1">
              <a:off x="2167" y="2659"/>
              <a:ext cx="91" cy="862"/>
            </a:xfrm>
            <a:prstGeom prst="straightConnector1">
              <a:avLst/>
            </a:prstGeom>
            <a:noFill/>
            <a:ln w="25400">
              <a:solidFill>
                <a:srgbClr val="000080"/>
              </a:solidFill>
              <a:round/>
              <a:headEnd/>
              <a:tailEnd/>
            </a:ln>
          </p:spPr>
        </p:cxnSp>
        <p:cxnSp>
          <p:nvCxnSpPr>
            <p:cNvPr id="23577" name="AutoShape 42"/>
            <p:cNvCxnSpPr>
              <a:cxnSpLocks noChangeShapeType="1"/>
            </p:cNvCxnSpPr>
            <p:nvPr/>
          </p:nvCxnSpPr>
          <p:spPr bwMode="auto">
            <a:xfrm flipH="1" flipV="1">
              <a:off x="1849" y="3294"/>
              <a:ext cx="363" cy="227"/>
            </a:xfrm>
            <a:prstGeom prst="straightConnector1">
              <a:avLst/>
            </a:prstGeom>
            <a:noFill/>
            <a:ln w="38100">
              <a:solidFill>
                <a:srgbClr val="000080"/>
              </a:solidFill>
              <a:round/>
              <a:headEnd/>
              <a:tailEnd/>
            </a:ln>
          </p:spPr>
        </p:cxnSp>
        <p:cxnSp>
          <p:nvCxnSpPr>
            <p:cNvPr id="23578" name="AutoShape 43"/>
            <p:cNvCxnSpPr>
              <a:cxnSpLocks noChangeShapeType="1"/>
            </p:cNvCxnSpPr>
            <p:nvPr/>
          </p:nvCxnSpPr>
          <p:spPr bwMode="auto">
            <a:xfrm flipH="1" flipV="1">
              <a:off x="2439" y="3249"/>
              <a:ext cx="136" cy="136"/>
            </a:xfrm>
            <a:prstGeom prst="straightConnector1">
              <a:avLst/>
            </a:prstGeom>
            <a:noFill/>
            <a:ln w="25400">
              <a:solidFill>
                <a:srgbClr val="000080"/>
              </a:solidFill>
              <a:round/>
              <a:headEnd/>
              <a:tailEnd/>
            </a:ln>
          </p:spPr>
        </p:cxnSp>
      </p:grpSp>
      <p:sp>
        <p:nvSpPr>
          <p:cNvPr id="23558" name="Rectangle 46"/>
          <p:cNvSpPr>
            <a:spLocks noChangeArrowheads="1"/>
          </p:cNvSpPr>
          <p:nvPr/>
        </p:nvSpPr>
        <p:spPr bwMode="auto">
          <a:xfrm>
            <a:off x="0" y="3789363"/>
            <a:ext cx="4167182" cy="2519362"/>
          </a:xfrm>
          <a:prstGeom prst="rect">
            <a:avLst/>
          </a:prstGeom>
          <a:noFill/>
          <a:ln w="9525">
            <a:noFill/>
            <a:miter lim="800000"/>
            <a:headEnd/>
            <a:tailEnd/>
          </a:ln>
        </p:spPr>
        <p:txBody>
          <a:bodyPr/>
          <a:lstStyle/>
          <a:p>
            <a:pPr marL="342900" indent="-342900">
              <a:lnSpc>
                <a:spcPct val="90000"/>
              </a:lnSpc>
              <a:spcBef>
                <a:spcPct val="20000"/>
              </a:spcBef>
              <a:buFontTx/>
              <a:buChar char="•"/>
            </a:pPr>
            <a:r>
              <a:rPr lang="en-GB" sz="2400" b="1" dirty="0">
                <a:solidFill>
                  <a:schemeClr val="accent2"/>
                </a:solidFill>
              </a:rPr>
              <a:t>Philosophically speaking, it is </a:t>
            </a:r>
            <a:r>
              <a:rPr lang="en-GB" sz="2400" b="1" dirty="0" err="1" smtClean="0">
                <a:solidFill>
                  <a:schemeClr val="accent2"/>
                </a:solidFill>
              </a:rPr>
              <a:t>Humean</a:t>
            </a:r>
            <a:r>
              <a:rPr lang="en-GB" sz="2400" b="1" dirty="0" smtClean="0">
                <a:solidFill>
                  <a:schemeClr val="accent2"/>
                </a:solidFill>
              </a:rPr>
              <a:t> "</a:t>
            </a:r>
            <a:r>
              <a:rPr lang="en-GB" sz="2400" b="1" dirty="0" err="1" smtClean="0">
                <a:solidFill>
                  <a:schemeClr val="accent2"/>
                </a:solidFill>
              </a:rPr>
              <a:t>Associationism</a:t>
            </a:r>
            <a:r>
              <a:rPr lang="en-GB" sz="2400" b="1" dirty="0">
                <a:solidFill>
                  <a:schemeClr val="accent2"/>
                </a:solidFill>
              </a:rPr>
              <a:t>" brought up to date.</a:t>
            </a:r>
          </a:p>
        </p:txBody>
      </p:sp>
      <p:sp>
        <p:nvSpPr>
          <p:cNvPr id="23559" name="AutoShape 47"/>
          <p:cNvSpPr>
            <a:spLocks noChangeArrowheads="1"/>
          </p:cNvSpPr>
          <p:nvPr/>
        </p:nvSpPr>
        <p:spPr bwMode="auto">
          <a:xfrm>
            <a:off x="7529513" y="3213100"/>
            <a:ext cx="2376487" cy="936625"/>
          </a:xfrm>
          <a:prstGeom prst="wedgeRoundRectCallout">
            <a:avLst>
              <a:gd name="adj1" fmla="val -46324"/>
              <a:gd name="adj2" fmla="val 87968"/>
              <a:gd name="adj3" fmla="val 16667"/>
            </a:avLst>
          </a:prstGeom>
          <a:solidFill>
            <a:schemeClr val="accent1"/>
          </a:solidFill>
          <a:ln w="9525" algn="ctr">
            <a:solidFill>
              <a:schemeClr val="tx1"/>
            </a:solidFill>
            <a:miter lim="800000"/>
            <a:headEnd/>
            <a:tailEnd/>
          </a:ln>
        </p:spPr>
        <p:txBody>
          <a:bodyPr anchor="ctr"/>
          <a:lstStyle/>
          <a:p>
            <a:pPr algn="ctr"/>
            <a:r>
              <a:rPr lang="en-GB" sz="2400" b="1">
                <a:solidFill>
                  <a:srgbClr val="FF0000"/>
                </a:solidFill>
              </a:rPr>
              <a:t>Mental Associations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xit" presetSubtype="0" repeatCount="indefinite" fill="hold" nodeType="afterEffect">
                                  <p:stCondLst>
                                    <p:cond delay="0"/>
                                  </p:stCondLst>
                                  <p:endCondLst>
                                    <p:cond evt="onNext" delay="0">
                                      <p:tgtEl>
                                        <p:sldTgt/>
                                      </p:tgtEl>
                                    </p:cond>
                                  </p:endCondLst>
                                  <p:childTnLst>
                                    <p:animEffect transition="out" filter="fade">
                                      <p:cBhvr>
                                        <p:cTn id="10" dur="500"/>
                                        <p:tgtEl>
                                          <p:spTgt spid="3"/>
                                        </p:tgtEl>
                                      </p:cBhvr>
                                    </p:animEffect>
                                    <p:set>
                                      <p:cBhvr>
                                        <p:cTn id="11"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0"/>
            <a:ext cx="9906000" cy="1700213"/>
          </a:xfrm>
        </p:spPr>
        <p:txBody>
          <a:bodyPr/>
          <a:lstStyle/>
          <a:p>
            <a:pPr eaLnBrk="1" hangingPunct="1"/>
            <a:r>
              <a:rPr lang="en-GB" sz="3200" b="1" smtClean="0"/>
              <a:t>INTRODUCING PROJECT </a:t>
            </a:r>
            <a:r>
              <a:rPr lang="en-GB" sz="3200" b="1" i="1" smtClean="0"/>
              <a:t>KONRAD</a:t>
            </a:r>
            <a:endParaRPr lang="en-US" sz="3200" b="1" smtClean="0"/>
          </a:p>
        </p:txBody>
      </p:sp>
      <p:sp>
        <p:nvSpPr>
          <p:cNvPr id="24579" name="Rectangle 3"/>
          <p:cNvSpPr>
            <a:spLocks noGrp="1" noChangeArrowheads="1"/>
          </p:cNvSpPr>
          <p:nvPr>
            <p:ph type="body" idx="1"/>
          </p:nvPr>
        </p:nvSpPr>
        <p:spPr>
          <a:xfrm>
            <a:off x="0" y="2214554"/>
            <a:ext cx="5816600" cy="4437062"/>
          </a:xfrm>
        </p:spPr>
        <p:txBody>
          <a:bodyPr/>
          <a:lstStyle/>
          <a:p>
            <a:pPr eaLnBrk="1" hangingPunct="1">
              <a:lnSpc>
                <a:spcPct val="90000"/>
              </a:lnSpc>
            </a:pPr>
            <a:r>
              <a:rPr lang="en-US" sz="2400" b="1" dirty="0" smtClean="0"/>
              <a:t>The project is an entrepreneurial academic collaboration between the author and </a:t>
            </a:r>
            <a:r>
              <a:rPr lang="en-US" sz="2400" b="1" dirty="0" smtClean="0">
                <a:solidFill>
                  <a:srgbClr val="FF0000"/>
                </a:solidFill>
              </a:rPr>
              <a:t>International Software Products, Toronto</a:t>
            </a:r>
            <a:r>
              <a:rPr lang="en-US" sz="2400" b="1" dirty="0" smtClean="0"/>
              <a:t>, and is so named as a tribute to the German engineer </a:t>
            </a:r>
            <a:r>
              <a:rPr lang="en-US" sz="2400" b="1" dirty="0" err="1" smtClean="0"/>
              <a:t>Konrad</a:t>
            </a:r>
            <a:r>
              <a:rPr lang="en-US" sz="2400" b="1" dirty="0" smtClean="0"/>
              <a:t> </a:t>
            </a:r>
            <a:r>
              <a:rPr lang="en-US" sz="2400" b="1" dirty="0" err="1" smtClean="0"/>
              <a:t>Zuse</a:t>
            </a:r>
            <a:r>
              <a:rPr lang="en-US" sz="2400" b="1" dirty="0" smtClean="0"/>
              <a:t>, one of the pioneers of digital computing.</a:t>
            </a:r>
          </a:p>
        </p:txBody>
      </p:sp>
      <p:pic>
        <p:nvPicPr>
          <p:cNvPr id="24580" name="Picture 6" descr="mugshot-zuse"/>
          <p:cNvPicPr>
            <a:picLocks noChangeAspect="1" noChangeArrowheads="1"/>
          </p:cNvPicPr>
          <p:nvPr/>
        </p:nvPicPr>
        <p:blipFill>
          <a:blip r:embed="rId2" cstate="print"/>
          <a:srcRect/>
          <a:stretch>
            <a:fillRect/>
          </a:stretch>
        </p:blipFill>
        <p:spPr bwMode="auto">
          <a:xfrm>
            <a:off x="6894513" y="2060575"/>
            <a:ext cx="2789237" cy="3600450"/>
          </a:xfrm>
          <a:prstGeom prst="rect">
            <a:avLst/>
          </a:prstGeom>
          <a:noFill/>
          <a:ln w="9525">
            <a:noFill/>
            <a:miter lim="800000"/>
            <a:headEnd/>
            <a:tailEnd/>
          </a:ln>
        </p:spPr>
      </p:pic>
      <p:pic>
        <p:nvPicPr>
          <p:cNvPr id="24581" name="Picture 7" descr="isp_logo_with_word_black"/>
          <p:cNvPicPr>
            <a:picLocks noChangeAspect="1" noChangeArrowheads="1"/>
          </p:cNvPicPr>
          <p:nvPr/>
        </p:nvPicPr>
        <p:blipFill>
          <a:blip r:embed="rId3" cstate="print"/>
          <a:srcRect/>
          <a:stretch>
            <a:fillRect/>
          </a:stretch>
        </p:blipFill>
        <p:spPr bwMode="auto">
          <a:xfrm>
            <a:off x="3800475" y="4581525"/>
            <a:ext cx="2663825" cy="203358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0" y="0"/>
            <a:ext cx="9906000" cy="1700213"/>
          </a:xfrm>
        </p:spPr>
        <p:txBody>
          <a:bodyPr/>
          <a:lstStyle/>
          <a:p>
            <a:pPr eaLnBrk="1" hangingPunct="1"/>
            <a:r>
              <a:rPr lang="en-GB" sz="3200" b="1" smtClean="0"/>
              <a:t>INTRODUCING PROJECT </a:t>
            </a:r>
            <a:r>
              <a:rPr lang="en-GB" sz="3200" b="1" i="1" smtClean="0"/>
              <a:t>KONRAD</a:t>
            </a:r>
            <a:endParaRPr lang="en-US" sz="3200" b="1" smtClean="0"/>
          </a:p>
        </p:txBody>
      </p:sp>
      <p:sp>
        <p:nvSpPr>
          <p:cNvPr id="25603" name="Rectangle 3"/>
          <p:cNvSpPr>
            <a:spLocks noGrp="1" noChangeArrowheads="1"/>
          </p:cNvSpPr>
          <p:nvPr>
            <p:ph type="body" idx="1"/>
          </p:nvPr>
        </p:nvSpPr>
        <p:spPr>
          <a:xfrm>
            <a:off x="0" y="1989138"/>
            <a:ext cx="9906000" cy="4868862"/>
          </a:xfrm>
        </p:spPr>
        <p:txBody>
          <a:bodyPr/>
          <a:lstStyle/>
          <a:p>
            <a:pPr eaLnBrk="1" hangingPunct="1"/>
            <a:r>
              <a:rPr lang="en-US" sz="2400" b="1" dirty="0" smtClean="0"/>
              <a:t>The application platform is the CA-</a:t>
            </a:r>
            <a:r>
              <a:rPr lang="en-US" sz="2400" b="1" dirty="0" err="1" smtClean="0"/>
              <a:t>IDMS</a:t>
            </a:r>
            <a:r>
              <a:rPr lang="en-US" sz="2400" b="1" dirty="0" smtClean="0"/>
              <a:t> (Release 17) network database [</a:t>
            </a:r>
            <a:r>
              <a:rPr lang="en-US" sz="2400" b="1" dirty="0" smtClean="0">
                <a:hlinkClick r:id="rId2"/>
              </a:rPr>
              <a:t>visit manufacturer's website</a:t>
            </a:r>
            <a:r>
              <a:rPr lang="en-US" sz="2400" b="1" dirty="0" smtClean="0"/>
              <a:t>].</a:t>
            </a:r>
          </a:p>
          <a:p>
            <a:pPr eaLnBrk="1" hangingPunct="1"/>
            <a:endParaRPr lang="en-US" sz="2400" b="1" dirty="0" smtClean="0"/>
          </a:p>
          <a:p>
            <a:pPr eaLnBrk="1" hangingPunct="1"/>
            <a:r>
              <a:rPr lang="en-US" sz="2400" b="1" dirty="0" smtClean="0"/>
              <a:t>Network databases store each content item individually, with addressing pointers to and between each fragment. </a:t>
            </a:r>
            <a:endParaRPr lang="en-US" sz="2400" b="1" dirty="0" smtClean="0">
              <a:solidFill>
                <a:schemeClr val="accent2"/>
              </a:solidFill>
            </a:endParaRPr>
          </a:p>
          <a:p>
            <a:pPr eaLnBrk="1" hangingPunct="1"/>
            <a:endParaRPr lang="en-GB" sz="2400" b="1" dirty="0" smtClean="0"/>
          </a:p>
          <a:p>
            <a:pPr eaLnBrk="1" hangingPunct="1"/>
            <a:r>
              <a:rPr lang="en-GB" sz="2400" b="1" dirty="0" smtClean="0">
                <a:solidFill>
                  <a:schemeClr val="bg1">
                    <a:lumMod val="50000"/>
                  </a:schemeClr>
                </a:solidFill>
              </a:rPr>
              <a:t>For more on the explanatory potential of network databases as models of cognition, see Smith (</a:t>
            </a:r>
            <a:r>
              <a:rPr lang="en-GB" sz="2400" b="1" dirty="0" err="1" smtClean="0">
                <a:solidFill>
                  <a:schemeClr val="bg1">
                    <a:lumMod val="50000"/>
                  </a:schemeClr>
                </a:solidFill>
              </a:rPr>
              <a:t>2005a</a:t>
            </a:r>
            <a:r>
              <a:rPr lang="en-GB" sz="2400" b="1" dirty="0" smtClean="0">
                <a:solidFill>
                  <a:schemeClr val="bg1">
                    <a:lumMod val="50000"/>
                  </a:schemeClr>
                </a:solidFill>
              </a:rPr>
              <a:t>; </a:t>
            </a:r>
            <a:r>
              <a:rPr lang="en-GB" sz="2400" b="1" dirty="0" err="1" smtClean="0">
                <a:solidFill>
                  <a:schemeClr val="bg1">
                    <a:lumMod val="50000"/>
                  </a:schemeClr>
                </a:solidFill>
              </a:rPr>
              <a:t>2005b</a:t>
            </a:r>
            <a:r>
              <a:rPr lang="en-GB" sz="2400" b="1" dirty="0" smtClean="0">
                <a:solidFill>
                  <a:schemeClr val="bg1">
                    <a:lumMod val="50000"/>
                  </a:schemeClr>
                </a:solidFill>
              </a:rPr>
              <a:t>).</a:t>
            </a:r>
            <a:endParaRPr lang="en-US" sz="2400" b="1" dirty="0" smtClean="0">
              <a:solidFill>
                <a:schemeClr val="bg1">
                  <a:lumMod val="50000"/>
                </a:schemeClr>
              </a:solidFill>
            </a:endParaRPr>
          </a:p>
          <a:p>
            <a:pPr eaLnBrk="1" hangingPunct="1"/>
            <a:endParaRPr lang="en-US" sz="2400" b="1" dirty="0" smtClean="0">
              <a:solidFill>
                <a:schemeClr val="bg2"/>
              </a:solidFill>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0" y="0"/>
            <a:ext cx="9906000" cy="1700213"/>
          </a:xfrm>
        </p:spPr>
        <p:txBody>
          <a:bodyPr/>
          <a:lstStyle/>
          <a:p>
            <a:pPr eaLnBrk="1" hangingPunct="1"/>
            <a:r>
              <a:rPr lang="en-GB" sz="3200" b="1" smtClean="0"/>
              <a:t>INTRODUCING PROJECT </a:t>
            </a:r>
            <a:r>
              <a:rPr lang="en-GB" sz="3200" b="1" i="1" smtClean="0"/>
              <a:t>KONRAD</a:t>
            </a:r>
            <a:endParaRPr lang="en-US" sz="3200" b="1" smtClean="0"/>
          </a:p>
        </p:txBody>
      </p:sp>
      <p:sp>
        <p:nvSpPr>
          <p:cNvPr id="26627" name="Rectangle 59"/>
          <p:cNvSpPr>
            <a:spLocks noGrp="1" noChangeArrowheads="1"/>
          </p:cNvSpPr>
          <p:nvPr>
            <p:ph type="body" idx="1"/>
          </p:nvPr>
        </p:nvSpPr>
        <p:spPr>
          <a:xfrm>
            <a:off x="0" y="1989138"/>
            <a:ext cx="9739346" cy="4868862"/>
          </a:xfrm>
        </p:spPr>
        <p:txBody>
          <a:bodyPr/>
          <a:lstStyle/>
          <a:p>
            <a:pPr eaLnBrk="1" hangingPunct="1"/>
            <a:r>
              <a:rPr lang="en-US" sz="2400" b="1" dirty="0" smtClean="0"/>
              <a:t>As is normal for all databases, a </a:t>
            </a:r>
            <a:r>
              <a:rPr lang="en-US" sz="2400" b="1" dirty="0" smtClean="0">
                <a:solidFill>
                  <a:srgbClr val="FF0000"/>
                </a:solidFill>
              </a:rPr>
              <a:t>Data Analysis</a:t>
            </a:r>
            <a:r>
              <a:rPr lang="en-US" sz="2400" b="1" dirty="0" smtClean="0"/>
              <a:t> exercise produces a blueprint document called the </a:t>
            </a:r>
            <a:r>
              <a:rPr lang="en-US" sz="2400" b="1" dirty="0" smtClean="0">
                <a:solidFill>
                  <a:srgbClr val="FF0000"/>
                </a:solidFill>
              </a:rPr>
              <a:t>Logical Data Model</a:t>
            </a:r>
            <a:r>
              <a:rPr lang="en-US" sz="2400" b="1" dirty="0" smtClean="0"/>
              <a:t> which is then computer-encoded as a </a:t>
            </a:r>
            <a:r>
              <a:rPr lang="en-US" sz="2400" b="1" dirty="0" smtClean="0">
                <a:solidFill>
                  <a:srgbClr val="FF0000"/>
                </a:solidFill>
              </a:rPr>
              <a:t>Database Schema</a:t>
            </a:r>
            <a:r>
              <a:rPr lang="en-US" sz="2400" b="1" dirty="0" smtClean="0"/>
              <a:t>. </a:t>
            </a:r>
            <a:endParaRPr lang="en-US" sz="2400" b="1" dirty="0" smtClean="0">
              <a:solidFill>
                <a:srgbClr val="0070C0"/>
              </a:solidFill>
            </a:endParaRPr>
          </a:p>
          <a:p>
            <a:pPr eaLnBrk="1" hangingPunct="1"/>
            <a:endParaRPr lang="en-GB" sz="2400" b="1" dirty="0" smtClean="0"/>
          </a:p>
          <a:p>
            <a:pPr eaLnBrk="1" hangingPunct="1"/>
            <a:r>
              <a:rPr lang="en-GB" sz="2400" b="1" dirty="0" smtClean="0"/>
              <a:t>More than 250 mental domain entity types were identified during </a:t>
            </a:r>
            <a:r>
              <a:rPr lang="en-GB" sz="2400" b="1" i="1" dirty="0" err="1" smtClean="0"/>
              <a:t>Konrad’s</a:t>
            </a:r>
            <a:r>
              <a:rPr lang="en-GB" sz="2400" b="1" dirty="0" smtClean="0"/>
              <a:t> Data Analysis. Fortunately, internal similarities and repetitions in the real world allow the 250 logical entity types to be implemented as </a:t>
            </a:r>
            <a:r>
              <a:rPr lang="en-GB" sz="2400" b="1" u="sng" dirty="0" smtClean="0"/>
              <a:t>only seven</a:t>
            </a:r>
            <a:r>
              <a:rPr lang="en-GB" sz="2400" b="1" dirty="0" smtClean="0"/>
              <a:t> different physical record types.</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type="body" idx="1"/>
          </p:nvPr>
        </p:nvSpPr>
        <p:spPr>
          <a:xfrm>
            <a:off x="0" y="1714488"/>
            <a:ext cx="6310322" cy="5072074"/>
          </a:xfrm>
        </p:spPr>
        <p:txBody>
          <a:bodyPr/>
          <a:lstStyle/>
          <a:p>
            <a:pPr eaLnBrk="1" hangingPunct="1">
              <a:defRPr/>
            </a:pPr>
            <a:r>
              <a:rPr lang="en-GB" sz="2400" b="1" dirty="0" smtClean="0"/>
              <a:t>Here are the seven physical record types in </a:t>
            </a:r>
            <a:r>
              <a:rPr lang="en-GB" sz="2400" b="1" i="1" dirty="0" err="1" smtClean="0"/>
              <a:t>Konrad's</a:t>
            </a:r>
            <a:r>
              <a:rPr lang="en-GB" sz="2400" b="1" dirty="0" smtClean="0"/>
              <a:t> Schema.</a:t>
            </a:r>
          </a:p>
          <a:p>
            <a:pPr eaLnBrk="1" hangingPunct="1">
              <a:defRPr/>
            </a:pPr>
            <a:endParaRPr lang="en-GB" sz="2400" b="1" dirty="0" smtClean="0"/>
          </a:p>
          <a:p>
            <a:pPr eaLnBrk="1" hangingPunct="1">
              <a:defRPr/>
            </a:pPr>
            <a:r>
              <a:rPr lang="en-GB" sz="2400" b="1" dirty="0" smtClean="0"/>
              <a:t>(1) Processing Module</a:t>
            </a:r>
          </a:p>
          <a:p>
            <a:pPr eaLnBrk="1" hangingPunct="1">
              <a:defRPr/>
            </a:pPr>
            <a:r>
              <a:rPr lang="en-GB" sz="2400" b="1" dirty="0" smtClean="0"/>
              <a:t>(2) </a:t>
            </a:r>
            <a:r>
              <a:rPr lang="en-GB" sz="2400" b="1" dirty="0" err="1" smtClean="0"/>
              <a:t>STM</a:t>
            </a:r>
            <a:endParaRPr lang="en-GB" sz="2400" b="1" dirty="0" smtClean="0"/>
          </a:p>
          <a:p>
            <a:pPr eaLnBrk="1" hangingPunct="1">
              <a:defRPr/>
            </a:pPr>
            <a:r>
              <a:rPr lang="en-GB" sz="2400" b="1" dirty="0" smtClean="0"/>
              <a:t>(3) </a:t>
            </a:r>
            <a:r>
              <a:rPr lang="en-GB" sz="2400" b="1" dirty="0" err="1" smtClean="0"/>
              <a:t>MTM</a:t>
            </a:r>
            <a:endParaRPr lang="en-GB" sz="2400" b="1" dirty="0" smtClean="0"/>
          </a:p>
          <a:p>
            <a:pPr eaLnBrk="1" hangingPunct="1">
              <a:defRPr/>
            </a:pPr>
            <a:r>
              <a:rPr lang="en-GB" sz="2400" b="1" dirty="0" smtClean="0"/>
              <a:t>(4) </a:t>
            </a:r>
            <a:r>
              <a:rPr lang="en-GB" sz="2400" b="1" dirty="0" err="1" smtClean="0"/>
              <a:t>LTM</a:t>
            </a:r>
            <a:r>
              <a:rPr lang="en-GB" sz="2400" b="1" dirty="0" smtClean="0"/>
              <a:t>)</a:t>
            </a:r>
          </a:p>
          <a:p>
            <a:pPr eaLnBrk="1" hangingPunct="1">
              <a:defRPr/>
            </a:pPr>
            <a:r>
              <a:rPr lang="en-GB" sz="2400" b="1" dirty="0" smtClean="0">
                <a:solidFill>
                  <a:schemeClr val="bg1">
                    <a:lumMod val="50000"/>
                  </a:schemeClr>
                </a:solidFill>
              </a:rPr>
              <a:t>(5) Hard-wired automatism ["Instinct“]</a:t>
            </a:r>
          </a:p>
          <a:p>
            <a:pPr eaLnBrk="1" hangingPunct="1">
              <a:defRPr/>
            </a:pPr>
            <a:r>
              <a:rPr lang="en-GB" sz="2400" b="1" dirty="0" smtClean="0">
                <a:solidFill>
                  <a:schemeClr val="bg1">
                    <a:lumMod val="50000"/>
                  </a:schemeClr>
                </a:solidFill>
              </a:rPr>
              <a:t>(6/7) "Bill of Materials" and "</a:t>
            </a:r>
            <a:r>
              <a:rPr lang="en-GB" sz="2400" b="1" dirty="0" err="1" smtClean="0">
                <a:solidFill>
                  <a:schemeClr val="bg1">
                    <a:lumMod val="50000"/>
                  </a:schemeClr>
                </a:solidFill>
              </a:rPr>
              <a:t>Superchief</a:t>
            </a:r>
            <a:r>
              <a:rPr lang="en-GB" sz="2400" b="1" dirty="0" smtClean="0">
                <a:solidFill>
                  <a:schemeClr val="bg1">
                    <a:lumMod val="50000"/>
                  </a:schemeClr>
                </a:solidFill>
              </a:rPr>
              <a:t>" records to cope with memories made up of other memories.</a:t>
            </a:r>
          </a:p>
        </p:txBody>
      </p:sp>
      <p:grpSp>
        <p:nvGrpSpPr>
          <p:cNvPr id="27651" name="Group 70"/>
          <p:cNvGrpSpPr>
            <a:grpSpLocks/>
          </p:cNvGrpSpPr>
          <p:nvPr/>
        </p:nvGrpSpPr>
        <p:grpSpPr bwMode="auto">
          <a:xfrm>
            <a:off x="6392863" y="1989138"/>
            <a:ext cx="3213100" cy="4611687"/>
            <a:chOff x="4027" y="1069"/>
            <a:chExt cx="2024" cy="2905"/>
          </a:xfrm>
        </p:grpSpPr>
        <p:sp>
          <p:nvSpPr>
            <p:cNvPr id="27653" name="Rectangle 4"/>
            <p:cNvSpPr>
              <a:spLocks noChangeArrowheads="1"/>
            </p:cNvSpPr>
            <p:nvPr/>
          </p:nvSpPr>
          <p:spPr bwMode="auto">
            <a:xfrm>
              <a:off x="4027" y="1069"/>
              <a:ext cx="2002" cy="2905"/>
            </a:xfrm>
            <a:prstGeom prst="rect">
              <a:avLst/>
            </a:prstGeom>
            <a:solidFill>
              <a:srgbClr val="FFFF99"/>
            </a:solidFill>
            <a:ln w="6350">
              <a:solidFill>
                <a:srgbClr val="00CCFF"/>
              </a:solidFill>
              <a:miter lim="800000"/>
              <a:headEnd/>
              <a:tailEnd/>
            </a:ln>
          </p:spPr>
          <p:txBody>
            <a:bodyPr wrap="none" anchor="ctr"/>
            <a:lstStyle/>
            <a:p>
              <a:pPr algn="ctr"/>
              <a:endParaRPr lang="en-GB"/>
            </a:p>
          </p:txBody>
        </p:sp>
        <p:sp>
          <p:nvSpPr>
            <p:cNvPr id="27654" name="Rectangle 28"/>
            <p:cNvSpPr>
              <a:spLocks noChangeArrowheads="1"/>
            </p:cNvSpPr>
            <p:nvPr/>
          </p:nvSpPr>
          <p:spPr bwMode="auto">
            <a:xfrm>
              <a:off x="4362" y="1580"/>
              <a:ext cx="563" cy="255"/>
            </a:xfrm>
            <a:prstGeom prst="rect">
              <a:avLst/>
            </a:prstGeom>
            <a:solidFill>
              <a:srgbClr val="969696"/>
            </a:solidFill>
            <a:ln w="6350">
              <a:solidFill>
                <a:srgbClr val="000000"/>
              </a:solidFill>
              <a:miter lim="800000"/>
              <a:headEnd/>
              <a:tailEnd/>
            </a:ln>
          </p:spPr>
          <p:txBody>
            <a:bodyPr wrap="none" lIns="91421" tIns="45712" rIns="91421" bIns="45712" anchor="ctr"/>
            <a:lstStyle/>
            <a:p>
              <a:pPr algn="ctr" defTabSz="2817813"/>
              <a:r>
                <a:rPr lang="en-GB" sz="500" b="1">
                  <a:cs typeface="Arial" charset="0"/>
                </a:rPr>
                <a:t>AREA 2 FDPX-REC</a:t>
              </a:r>
            </a:p>
            <a:p>
              <a:pPr algn="ctr" defTabSz="2817813"/>
              <a:r>
                <a:rPr lang="en-GB" sz="500" b="1">
                  <a:cs typeface="Arial" charset="0"/>
                </a:rPr>
                <a:t>Functionally</a:t>
              </a:r>
            </a:p>
            <a:p>
              <a:pPr algn="ctr" defTabSz="2817813"/>
              <a:r>
                <a:rPr lang="en-GB" sz="500" b="1">
                  <a:cs typeface="Arial" charset="0"/>
                </a:rPr>
                <a:t>Discrete</a:t>
              </a:r>
            </a:p>
            <a:p>
              <a:pPr algn="ctr" defTabSz="2817813"/>
              <a:r>
                <a:rPr lang="en-GB" sz="500" b="1">
                  <a:cs typeface="Arial" charset="0"/>
                </a:rPr>
                <a:t>Processor</a:t>
              </a:r>
              <a:endParaRPr lang="en-US" sz="500" b="1">
                <a:cs typeface="Arial" charset="0"/>
              </a:endParaRPr>
            </a:p>
          </p:txBody>
        </p:sp>
        <p:sp>
          <p:nvSpPr>
            <p:cNvPr id="27655" name="Rectangle 31"/>
            <p:cNvSpPr>
              <a:spLocks noChangeArrowheads="1"/>
            </p:cNvSpPr>
            <p:nvPr/>
          </p:nvSpPr>
          <p:spPr bwMode="auto">
            <a:xfrm>
              <a:off x="5403" y="1580"/>
              <a:ext cx="563" cy="253"/>
            </a:xfrm>
            <a:prstGeom prst="rect">
              <a:avLst/>
            </a:prstGeom>
            <a:solidFill>
              <a:srgbClr val="FFCC00"/>
            </a:solidFill>
            <a:ln w="6350">
              <a:solidFill>
                <a:srgbClr val="000000"/>
              </a:solidFill>
              <a:prstDash val="dash"/>
              <a:miter lim="800000"/>
              <a:headEnd/>
              <a:tailEnd/>
            </a:ln>
          </p:spPr>
          <p:txBody>
            <a:bodyPr wrap="none" lIns="91421" tIns="45712" rIns="91421" bIns="45712" anchor="ctr"/>
            <a:lstStyle/>
            <a:p>
              <a:pPr algn="ctr" defTabSz="2817813"/>
              <a:r>
                <a:rPr lang="en-GB" sz="500" b="1">
                  <a:cs typeface="Arial" charset="0"/>
                </a:rPr>
                <a:t>AREA 2 MTEV-REC</a:t>
              </a:r>
            </a:p>
            <a:p>
              <a:pPr algn="ctr" defTabSz="2817813"/>
              <a:r>
                <a:rPr lang="en-GB" sz="500" b="1">
                  <a:cs typeface="Arial" charset="0"/>
                </a:rPr>
                <a:t>Medium-Term Event</a:t>
              </a:r>
              <a:endParaRPr lang="en-US" sz="500" b="1">
                <a:cs typeface="Arial" charset="0"/>
              </a:endParaRPr>
            </a:p>
          </p:txBody>
        </p:sp>
        <p:sp>
          <p:nvSpPr>
            <p:cNvPr id="27656" name="Rectangle 32"/>
            <p:cNvSpPr>
              <a:spLocks noChangeArrowheads="1"/>
            </p:cNvSpPr>
            <p:nvPr/>
          </p:nvSpPr>
          <p:spPr bwMode="auto">
            <a:xfrm>
              <a:off x="4173" y="3197"/>
              <a:ext cx="563" cy="253"/>
            </a:xfrm>
            <a:prstGeom prst="rect">
              <a:avLst/>
            </a:prstGeom>
            <a:solidFill>
              <a:srgbClr val="FF8B8B"/>
            </a:solidFill>
            <a:ln w="6350">
              <a:solidFill>
                <a:srgbClr val="000000"/>
              </a:solidFill>
              <a:prstDash val="dash"/>
              <a:miter lim="800000"/>
              <a:headEnd/>
              <a:tailEnd/>
            </a:ln>
          </p:spPr>
          <p:txBody>
            <a:bodyPr wrap="none" lIns="91421" tIns="45712" rIns="91421" bIns="45712" anchor="ctr"/>
            <a:lstStyle/>
            <a:p>
              <a:pPr algn="ctr" defTabSz="2817813"/>
              <a:r>
                <a:rPr lang="en-GB" sz="500" b="1">
                  <a:cs typeface="Arial" charset="0"/>
                </a:rPr>
                <a:t>AREA 2 STEV-REC</a:t>
              </a:r>
            </a:p>
            <a:p>
              <a:pPr algn="ctr" defTabSz="2817813"/>
              <a:r>
                <a:rPr lang="en-GB" sz="500" b="1">
                  <a:cs typeface="Arial" charset="0"/>
                </a:rPr>
                <a:t>Short-Term Event</a:t>
              </a:r>
              <a:endParaRPr lang="en-US" sz="500" b="1">
                <a:cs typeface="Arial" charset="0"/>
              </a:endParaRPr>
            </a:p>
          </p:txBody>
        </p:sp>
        <p:sp>
          <p:nvSpPr>
            <p:cNvPr id="27657" name="Line 36"/>
            <p:cNvSpPr>
              <a:spLocks noChangeShapeType="1"/>
            </p:cNvSpPr>
            <p:nvPr/>
          </p:nvSpPr>
          <p:spPr bwMode="auto">
            <a:xfrm>
              <a:off x="4215" y="2566"/>
              <a:ext cx="0" cy="631"/>
            </a:xfrm>
            <a:prstGeom prst="line">
              <a:avLst/>
            </a:prstGeom>
            <a:noFill/>
            <a:ln w="6350">
              <a:solidFill>
                <a:srgbClr val="000000"/>
              </a:solidFill>
              <a:round/>
              <a:headEnd/>
              <a:tailEnd type="triangle" w="lg" len="lg"/>
            </a:ln>
          </p:spPr>
          <p:txBody>
            <a:bodyPr/>
            <a:lstStyle/>
            <a:p>
              <a:endParaRPr lang="en-GB"/>
            </a:p>
          </p:txBody>
        </p:sp>
        <p:sp>
          <p:nvSpPr>
            <p:cNvPr id="27658" name="Text Box 37"/>
            <p:cNvSpPr txBox="1">
              <a:spLocks noChangeArrowheads="1"/>
            </p:cNvSpPr>
            <p:nvPr/>
          </p:nvSpPr>
          <p:spPr bwMode="auto">
            <a:xfrm>
              <a:off x="4193" y="2863"/>
              <a:ext cx="480" cy="250"/>
            </a:xfrm>
            <a:prstGeom prst="rect">
              <a:avLst/>
            </a:prstGeom>
            <a:noFill/>
            <a:ln w="6350">
              <a:noFill/>
              <a:miter lim="800000"/>
              <a:headEnd/>
              <a:tailEnd/>
            </a:ln>
          </p:spPr>
          <p:txBody>
            <a:bodyPr>
              <a:spAutoFit/>
            </a:bodyPr>
            <a:lstStyle/>
            <a:p>
              <a:pPr defTabSz="2817813"/>
              <a:r>
                <a:rPr lang="en-GB" sz="500" b="1">
                  <a:solidFill>
                    <a:srgbClr val="006600"/>
                  </a:solidFill>
                  <a:cs typeface="Arial" charset="0"/>
                </a:rPr>
                <a:t>FDPXs</a:t>
              </a:r>
            </a:p>
            <a:p>
              <a:pPr defTabSz="2817813"/>
              <a:r>
                <a:rPr lang="en-GB" sz="500" b="1">
                  <a:solidFill>
                    <a:srgbClr val="006600"/>
                  </a:solidFill>
                  <a:cs typeface="Arial" charset="0"/>
                </a:rPr>
                <a:t>RECEIVE MANY</a:t>
              </a:r>
            </a:p>
            <a:p>
              <a:pPr defTabSz="2817813"/>
              <a:r>
                <a:rPr lang="en-GB" sz="500" b="1">
                  <a:solidFill>
                    <a:srgbClr val="006600"/>
                  </a:solidFill>
                  <a:cs typeface="Arial" charset="0"/>
                </a:rPr>
                <a:t>STEVs</a:t>
              </a:r>
            </a:p>
            <a:p>
              <a:pPr defTabSz="2817813"/>
              <a:r>
                <a:rPr lang="en-GB" sz="500" b="1">
                  <a:solidFill>
                    <a:srgbClr val="006600"/>
                  </a:solidFill>
                  <a:cs typeface="Arial" charset="0"/>
                </a:rPr>
                <a:t>&lt;NO   AM&gt;</a:t>
              </a:r>
            </a:p>
          </p:txBody>
        </p:sp>
        <p:sp>
          <p:nvSpPr>
            <p:cNvPr id="27659" name="Line 40"/>
            <p:cNvSpPr>
              <a:spLocks noChangeShapeType="1"/>
            </p:cNvSpPr>
            <p:nvPr/>
          </p:nvSpPr>
          <p:spPr bwMode="auto">
            <a:xfrm>
              <a:off x="4904" y="1836"/>
              <a:ext cx="0" cy="296"/>
            </a:xfrm>
            <a:prstGeom prst="line">
              <a:avLst/>
            </a:prstGeom>
            <a:noFill/>
            <a:ln w="6350">
              <a:solidFill>
                <a:srgbClr val="000000"/>
              </a:solidFill>
              <a:round/>
              <a:headEnd/>
              <a:tailEnd type="triangle" w="lg" len="lg"/>
            </a:ln>
          </p:spPr>
          <p:txBody>
            <a:bodyPr/>
            <a:lstStyle/>
            <a:p>
              <a:endParaRPr lang="en-GB"/>
            </a:p>
          </p:txBody>
        </p:sp>
        <p:sp>
          <p:nvSpPr>
            <p:cNvPr id="27660" name="Line 41"/>
            <p:cNvSpPr>
              <a:spLocks noChangeShapeType="1"/>
            </p:cNvSpPr>
            <p:nvPr/>
          </p:nvSpPr>
          <p:spPr bwMode="auto">
            <a:xfrm rot="10800000" flipH="1">
              <a:off x="5424" y="1817"/>
              <a:ext cx="0" cy="315"/>
            </a:xfrm>
            <a:prstGeom prst="line">
              <a:avLst/>
            </a:prstGeom>
            <a:noFill/>
            <a:ln w="6350">
              <a:solidFill>
                <a:srgbClr val="000000"/>
              </a:solidFill>
              <a:round/>
              <a:headEnd/>
              <a:tailEnd type="triangle" w="lg" len="lg"/>
            </a:ln>
          </p:spPr>
          <p:txBody>
            <a:bodyPr/>
            <a:lstStyle/>
            <a:p>
              <a:endParaRPr lang="en-GB"/>
            </a:p>
          </p:txBody>
        </p:sp>
        <p:sp>
          <p:nvSpPr>
            <p:cNvPr id="27661" name="Text Box 42"/>
            <p:cNvSpPr txBox="1">
              <a:spLocks noChangeArrowheads="1"/>
            </p:cNvSpPr>
            <p:nvPr/>
          </p:nvSpPr>
          <p:spPr bwMode="auto">
            <a:xfrm>
              <a:off x="4340" y="1127"/>
              <a:ext cx="1646" cy="230"/>
            </a:xfrm>
            <a:prstGeom prst="rect">
              <a:avLst/>
            </a:prstGeom>
            <a:solidFill>
              <a:schemeClr val="bg1"/>
            </a:solidFill>
            <a:ln w="6350">
              <a:solidFill>
                <a:srgbClr val="000000"/>
              </a:solidFill>
              <a:miter lim="800000"/>
              <a:headEnd/>
              <a:tailEnd/>
            </a:ln>
          </p:spPr>
          <p:txBody>
            <a:bodyPr lIns="91421" tIns="45712" rIns="91421" bIns="45712">
              <a:spAutoFit/>
            </a:bodyPr>
            <a:lstStyle/>
            <a:p>
              <a:pPr defTabSz="2817813">
                <a:spcBef>
                  <a:spcPct val="50000"/>
                </a:spcBef>
              </a:pPr>
              <a:r>
                <a:rPr lang="en-GB" sz="500" b="1">
                  <a:solidFill>
                    <a:srgbClr val="FF0000"/>
                  </a:solidFill>
                  <a:cs typeface="Arial" charset="0"/>
                </a:rPr>
                <a:t>DATABASE AREA 2</a:t>
              </a:r>
            </a:p>
            <a:p>
              <a:pPr defTabSz="2817813">
                <a:spcBef>
                  <a:spcPct val="50000"/>
                </a:spcBef>
              </a:pPr>
              <a:r>
                <a:rPr lang="en-GB" sz="500" b="1">
                  <a:solidFill>
                    <a:srgbClr val="FF0000"/>
                  </a:solidFill>
                  <a:cs typeface="Arial" charset="0"/>
                </a:rPr>
                <a:t>A REALM OF FUNCTIONALLY SPECIFIED INFORMATION PROCESSORS, AND THEIR ASSOCIATED INFORMATION TYPES. </a:t>
              </a:r>
            </a:p>
          </p:txBody>
        </p:sp>
        <p:sp>
          <p:nvSpPr>
            <p:cNvPr id="27662" name="Text Box 43"/>
            <p:cNvSpPr txBox="1">
              <a:spLocks noChangeArrowheads="1"/>
            </p:cNvSpPr>
            <p:nvPr/>
          </p:nvSpPr>
          <p:spPr bwMode="auto">
            <a:xfrm>
              <a:off x="4862" y="1817"/>
              <a:ext cx="334" cy="297"/>
            </a:xfrm>
            <a:prstGeom prst="rect">
              <a:avLst/>
            </a:prstGeom>
            <a:noFill/>
            <a:ln w="6350">
              <a:noFill/>
              <a:miter lim="800000"/>
              <a:headEnd/>
              <a:tailEnd/>
            </a:ln>
          </p:spPr>
          <p:txBody>
            <a:bodyPr>
              <a:spAutoFit/>
            </a:bodyPr>
            <a:lstStyle/>
            <a:p>
              <a:pPr defTabSz="2817813"/>
              <a:r>
                <a:rPr lang="en-GB" sz="500" b="1">
                  <a:solidFill>
                    <a:srgbClr val="006600"/>
                  </a:solidFill>
                  <a:cs typeface="Arial" charset="0"/>
                </a:rPr>
                <a:t>FDPXs</a:t>
              </a:r>
            </a:p>
            <a:p>
              <a:pPr defTabSz="2817813"/>
              <a:r>
                <a:rPr lang="en-GB" sz="500" b="1">
                  <a:solidFill>
                    <a:srgbClr val="006600"/>
                  </a:solidFill>
                  <a:cs typeface="Arial" charset="0"/>
                </a:rPr>
                <a:t>MAINTAIN</a:t>
              </a:r>
            </a:p>
            <a:p>
              <a:pPr defTabSz="2817813"/>
              <a:r>
                <a:rPr lang="en-GB" sz="500" b="1">
                  <a:solidFill>
                    <a:srgbClr val="006600"/>
                  </a:solidFill>
                  <a:cs typeface="Arial" charset="0"/>
                </a:rPr>
                <a:t>MANY</a:t>
              </a:r>
            </a:p>
            <a:p>
              <a:pPr defTabSz="2817813"/>
              <a:r>
                <a:rPr lang="en-GB" sz="500" b="1">
                  <a:solidFill>
                    <a:srgbClr val="006600"/>
                  </a:solidFill>
                  <a:cs typeface="Arial" charset="0"/>
                </a:rPr>
                <a:t>LTMs</a:t>
              </a:r>
            </a:p>
            <a:p>
              <a:pPr defTabSz="2817813"/>
              <a:r>
                <a:rPr lang="en-GB" sz="500" b="1">
                  <a:solidFill>
                    <a:srgbClr val="006600"/>
                  </a:solidFill>
                  <a:cs typeface="Arial" charset="0"/>
                </a:rPr>
                <a:t>&lt;NO   AM&gt;</a:t>
              </a:r>
            </a:p>
          </p:txBody>
        </p:sp>
        <p:sp>
          <p:nvSpPr>
            <p:cNvPr id="27663" name="Text Box 44"/>
            <p:cNvSpPr txBox="1">
              <a:spLocks noChangeArrowheads="1"/>
            </p:cNvSpPr>
            <p:nvPr/>
          </p:nvSpPr>
          <p:spPr bwMode="auto">
            <a:xfrm>
              <a:off x="5405" y="1896"/>
              <a:ext cx="437" cy="298"/>
            </a:xfrm>
            <a:prstGeom prst="rect">
              <a:avLst/>
            </a:prstGeom>
            <a:noFill/>
            <a:ln w="6350">
              <a:noFill/>
              <a:miter lim="800000"/>
              <a:headEnd/>
              <a:tailEnd/>
            </a:ln>
          </p:spPr>
          <p:txBody>
            <a:bodyPr>
              <a:spAutoFit/>
            </a:bodyPr>
            <a:lstStyle/>
            <a:p>
              <a:pPr defTabSz="2817813"/>
              <a:r>
                <a:rPr lang="en-GB" sz="500" b="1">
                  <a:solidFill>
                    <a:srgbClr val="006600"/>
                  </a:solidFill>
                  <a:cs typeface="Arial" charset="0"/>
                </a:rPr>
                <a:t>MTEVs</a:t>
              </a:r>
            </a:p>
            <a:p>
              <a:pPr defTabSz="2817813"/>
              <a:r>
                <a:rPr lang="en-GB" sz="500" b="1">
                  <a:solidFill>
                    <a:srgbClr val="006600"/>
                  </a:solidFill>
                  <a:cs typeface="Arial" charset="0"/>
                </a:rPr>
                <a:t>CONSOLIDATE</a:t>
              </a:r>
            </a:p>
            <a:p>
              <a:pPr defTabSz="2817813"/>
              <a:r>
                <a:rPr lang="en-GB" sz="500" b="1">
                  <a:solidFill>
                    <a:srgbClr val="006600"/>
                  </a:solidFill>
                  <a:cs typeface="Arial" charset="0"/>
                </a:rPr>
                <a:t>INTO MANY</a:t>
              </a:r>
            </a:p>
            <a:p>
              <a:pPr defTabSz="2817813"/>
              <a:r>
                <a:rPr lang="en-GB" sz="500" b="1">
                  <a:solidFill>
                    <a:srgbClr val="006600"/>
                  </a:solidFill>
                  <a:cs typeface="Arial" charset="0"/>
                </a:rPr>
                <a:t>LTMs</a:t>
              </a:r>
            </a:p>
            <a:p>
              <a:pPr defTabSz="2817813"/>
              <a:r>
                <a:rPr lang="en-GB" sz="500" b="1">
                  <a:solidFill>
                    <a:srgbClr val="006600"/>
                  </a:solidFill>
                  <a:cs typeface="Arial" charset="0"/>
                </a:rPr>
                <a:t>&lt;NO   AM&gt;</a:t>
              </a:r>
            </a:p>
          </p:txBody>
        </p:sp>
        <p:sp>
          <p:nvSpPr>
            <p:cNvPr id="27664" name="Line 45"/>
            <p:cNvSpPr>
              <a:spLocks noChangeShapeType="1"/>
            </p:cNvSpPr>
            <p:nvPr/>
          </p:nvSpPr>
          <p:spPr bwMode="auto">
            <a:xfrm flipV="1">
              <a:off x="4928" y="1600"/>
              <a:ext cx="480" cy="0"/>
            </a:xfrm>
            <a:prstGeom prst="line">
              <a:avLst/>
            </a:prstGeom>
            <a:noFill/>
            <a:ln w="6350">
              <a:solidFill>
                <a:srgbClr val="000000"/>
              </a:solidFill>
              <a:round/>
              <a:headEnd/>
              <a:tailEnd type="triangle" w="lg" len="lg"/>
            </a:ln>
          </p:spPr>
          <p:txBody>
            <a:bodyPr/>
            <a:lstStyle/>
            <a:p>
              <a:endParaRPr lang="en-GB"/>
            </a:p>
          </p:txBody>
        </p:sp>
        <p:sp>
          <p:nvSpPr>
            <p:cNvPr id="27665" name="Line 46"/>
            <p:cNvSpPr>
              <a:spLocks noChangeShapeType="1"/>
            </p:cNvSpPr>
            <p:nvPr/>
          </p:nvSpPr>
          <p:spPr bwMode="auto">
            <a:xfrm flipV="1">
              <a:off x="4928" y="1816"/>
              <a:ext cx="480" cy="0"/>
            </a:xfrm>
            <a:prstGeom prst="line">
              <a:avLst/>
            </a:prstGeom>
            <a:noFill/>
            <a:ln w="6350">
              <a:solidFill>
                <a:srgbClr val="000000"/>
              </a:solidFill>
              <a:round/>
              <a:headEnd/>
              <a:tailEnd type="triangle" w="lg" len="lg"/>
            </a:ln>
          </p:spPr>
          <p:txBody>
            <a:bodyPr/>
            <a:lstStyle/>
            <a:p>
              <a:endParaRPr lang="en-GB"/>
            </a:p>
          </p:txBody>
        </p:sp>
        <p:sp>
          <p:nvSpPr>
            <p:cNvPr id="27666" name="Rectangle 47"/>
            <p:cNvSpPr>
              <a:spLocks noChangeArrowheads="1"/>
            </p:cNvSpPr>
            <p:nvPr/>
          </p:nvSpPr>
          <p:spPr bwMode="auto">
            <a:xfrm>
              <a:off x="4073" y="2132"/>
              <a:ext cx="563" cy="256"/>
            </a:xfrm>
            <a:prstGeom prst="rect">
              <a:avLst/>
            </a:prstGeom>
            <a:solidFill>
              <a:srgbClr val="969696"/>
            </a:solidFill>
            <a:ln w="6350">
              <a:solidFill>
                <a:srgbClr val="000000"/>
              </a:solidFill>
              <a:miter lim="800000"/>
              <a:headEnd/>
              <a:tailEnd/>
            </a:ln>
          </p:spPr>
          <p:txBody>
            <a:bodyPr wrap="none" lIns="91421" tIns="45712" rIns="91421" bIns="45712" anchor="ctr"/>
            <a:lstStyle/>
            <a:p>
              <a:pPr algn="ctr" defTabSz="2817813"/>
              <a:r>
                <a:rPr lang="en-GB" sz="500" b="1">
                  <a:cs typeface="Arial" charset="0"/>
                </a:rPr>
                <a:t>AREA 2 KML-REC</a:t>
              </a:r>
            </a:p>
            <a:p>
              <a:pPr algn="ctr" defTabSz="2817813"/>
              <a:r>
                <a:rPr lang="en-GB" sz="500" b="1">
                  <a:cs typeface="Arial" charset="0"/>
                </a:rPr>
                <a:t>Innate Read-Only</a:t>
              </a:r>
            </a:p>
            <a:p>
              <a:pPr algn="ctr" defTabSz="2817813"/>
              <a:r>
                <a:rPr lang="en-GB" sz="500" b="1">
                  <a:cs typeface="Arial" charset="0"/>
                </a:rPr>
                <a:t>Memory</a:t>
              </a:r>
              <a:endParaRPr lang="en-US" sz="500" b="1">
                <a:cs typeface="Arial" charset="0"/>
              </a:endParaRPr>
            </a:p>
          </p:txBody>
        </p:sp>
        <p:sp>
          <p:nvSpPr>
            <p:cNvPr id="27667" name="Line 48"/>
            <p:cNvSpPr>
              <a:spLocks noChangeShapeType="1"/>
            </p:cNvSpPr>
            <p:nvPr/>
          </p:nvSpPr>
          <p:spPr bwMode="auto">
            <a:xfrm flipH="1">
              <a:off x="4382" y="1836"/>
              <a:ext cx="0" cy="298"/>
            </a:xfrm>
            <a:prstGeom prst="line">
              <a:avLst/>
            </a:prstGeom>
            <a:noFill/>
            <a:ln w="6350">
              <a:solidFill>
                <a:srgbClr val="000000"/>
              </a:solidFill>
              <a:round/>
              <a:headEnd/>
              <a:tailEnd type="triangle" w="lg" len="lg"/>
            </a:ln>
          </p:spPr>
          <p:txBody>
            <a:bodyPr/>
            <a:lstStyle/>
            <a:p>
              <a:endParaRPr lang="en-GB"/>
            </a:p>
          </p:txBody>
        </p:sp>
        <p:sp>
          <p:nvSpPr>
            <p:cNvPr id="27668" name="Rectangle 49"/>
            <p:cNvSpPr>
              <a:spLocks noChangeArrowheads="1"/>
            </p:cNvSpPr>
            <p:nvPr/>
          </p:nvSpPr>
          <p:spPr bwMode="auto">
            <a:xfrm>
              <a:off x="4886" y="2132"/>
              <a:ext cx="563" cy="253"/>
            </a:xfrm>
            <a:prstGeom prst="rect">
              <a:avLst/>
            </a:prstGeom>
            <a:solidFill>
              <a:schemeClr val="accent1"/>
            </a:solidFill>
            <a:ln w="6350">
              <a:solidFill>
                <a:srgbClr val="000000"/>
              </a:solidFill>
              <a:miter lim="800000"/>
              <a:headEnd/>
              <a:tailEnd/>
            </a:ln>
          </p:spPr>
          <p:txBody>
            <a:bodyPr wrap="none" lIns="91421" tIns="45712" rIns="91421" bIns="45712" anchor="ctr"/>
            <a:lstStyle/>
            <a:p>
              <a:pPr algn="ctr" defTabSz="2817813"/>
              <a:r>
                <a:rPr lang="en-GB" sz="500" b="1">
                  <a:cs typeface="Arial" charset="0"/>
                </a:rPr>
                <a:t>AREA 2 LTM-REC</a:t>
              </a:r>
            </a:p>
            <a:p>
              <a:pPr algn="ctr" defTabSz="2817813"/>
              <a:r>
                <a:rPr lang="en-GB" sz="500" b="1">
                  <a:cs typeface="Arial" charset="0"/>
                </a:rPr>
                <a:t>Long-Term Memory</a:t>
              </a:r>
            </a:p>
            <a:p>
              <a:pPr algn="ctr" defTabSz="2817813"/>
              <a:r>
                <a:rPr lang="en-GB" sz="500" b="1">
                  <a:cs typeface="Arial" charset="0"/>
                </a:rPr>
                <a:t>Primary Trace</a:t>
              </a:r>
              <a:endParaRPr lang="en-US" sz="500" b="1">
                <a:cs typeface="Arial" charset="0"/>
              </a:endParaRPr>
            </a:p>
          </p:txBody>
        </p:sp>
        <p:sp>
          <p:nvSpPr>
            <p:cNvPr id="27669" name="Rectangle 50"/>
            <p:cNvSpPr>
              <a:spLocks noChangeArrowheads="1"/>
            </p:cNvSpPr>
            <p:nvPr/>
          </p:nvSpPr>
          <p:spPr bwMode="auto">
            <a:xfrm>
              <a:off x="4881" y="2980"/>
              <a:ext cx="564" cy="253"/>
            </a:xfrm>
            <a:prstGeom prst="rect">
              <a:avLst/>
            </a:prstGeom>
            <a:solidFill>
              <a:schemeClr val="accent1"/>
            </a:solidFill>
            <a:ln w="6350">
              <a:solidFill>
                <a:srgbClr val="000000"/>
              </a:solidFill>
              <a:miter lim="800000"/>
              <a:headEnd/>
              <a:tailEnd/>
            </a:ln>
          </p:spPr>
          <p:txBody>
            <a:bodyPr wrap="none" lIns="91421" tIns="45712" rIns="91421" bIns="45712" anchor="ctr"/>
            <a:lstStyle/>
            <a:p>
              <a:pPr algn="ctr" defTabSz="2817813"/>
              <a:r>
                <a:rPr lang="en-GB" sz="500" b="1">
                  <a:cs typeface="Arial" charset="0"/>
                </a:rPr>
                <a:t>AREA 2 LTMR-REC</a:t>
              </a:r>
            </a:p>
            <a:p>
              <a:pPr algn="ctr" defTabSz="2817813"/>
              <a:r>
                <a:rPr lang="en-GB" sz="500" b="1">
                  <a:cs typeface="Arial" charset="0"/>
                </a:rPr>
                <a:t>Long-Term Memory</a:t>
              </a:r>
            </a:p>
            <a:p>
              <a:pPr algn="ctr" defTabSz="2817813"/>
              <a:r>
                <a:rPr lang="en-GB" sz="500" b="1">
                  <a:cs typeface="Arial" charset="0"/>
                </a:rPr>
                <a:t>Recursive Analysis</a:t>
              </a:r>
              <a:endParaRPr lang="en-US" sz="500" b="1">
                <a:cs typeface="Arial" charset="0"/>
              </a:endParaRPr>
            </a:p>
          </p:txBody>
        </p:sp>
        <p:sp>
          <p:nvSpPr>
            <p:cNvPr id="27670" name="Line 51"/>
            <p:cNvSpPr>
              <a:spLocks noChangeShapeType="1"/>
            </p:cNvSpPr>
            <p:nvPr/>
          </p:nvSpPr>
          <p:spPr bwMode="auto">
            <a:xfrm flipH="1">
              <a:off x="5133" y="2389"/>
              <a:ext cx="0" cy="591"/>
            </a:xfrm>
            <a:prstGeom prst="line">
              <a:avLst/>
            </a:prstGeom>
            <a:noFill/>
            <a:ln w="6350">
              <a:solidFill>
                <a:srgbClr val="000000"/>
              </a:solidFill>
              <a:round/>
              <a:headEnd/>
              <a:tailEnd type="triangle" w="lg" len="lg"/>
            </a:ln>
          </p:spPr>
          <p:txBody>
            <a:bodyPr/>
            <a:lstStyle/>
            <a:p>
              <a:endParaRPr lang="en-GB"/>
            </a:p>
          </p:txBody>
        </p:sp>
        <p:sp>
          <p:nvSpPr>
            <p:cNvPr id="27671" name="Line 52"/>
            <p:cNvSpPr>
              <a:spLocks noChangeShapeType="1"/>
            </p:cNvSpPr>
            <p:nvPr/>
          </p:nvSpPr>
          <p:spPr bwMode="auto">
            <a:xfrm>
              <a:off x="5216" y="2389"/>
              <a:ext cx="0" cy="591"/>
            </a:xfrm>
            <a:prstGeom prst="line">
              <a:avLst/>
            </a:prstGeom>
            <a:noFill/>
            <a:ln w="6350">
              <a:solidFill>
                <a:srgbClr val="000000"/>
              </a:solidFill>
              <a:round/>
              <a:headEnd/>
              <a:tailEnd type="triangle" w="lg" len="lg"/>
            </a:ln>
          </p:spPr>
          <p:txBody>
            <a:bodyPr/>
            <a:lstStyle/>
            <a:p>
              <a:endParaRPr lang="en-GB"/>
            </a:p>
          </p:txBody>
        </p:sp>
        <p:sp>
          <p:nvSpPr>
            <p:cNvPr id="27672" name="Text Box 53"/>
            <p:cNvSpPr txBox="1">
              <a:spLocks noChangeArrowheads="1"/>
            </p:cNvSpPr>
            <p:nvPr/>
          </p:nvSpPr>
          <p:spPr bwMode="auto">
            <a:xfrm>
              <a:off x="5196" y="2644"/>
              <a:ext cx="406" cy="250"/>
            </a:xfrm>
            <a:prstGeom prst="rect">
              <a:avLst/>
            </a:prstGeom>
            <a:noFill/>
            <a:ln w="6350">
              <a:noFill/>
              <a:miter lim="800000"/>
              <a:headEnd/>
              <a:tailEnd/>
            </a:ln>
          </p:spPr>
          <p:txBody>
            <a:bodyPr>
              <a:spAutoFit/>
            </a:bodyPr>
            <a:lstStyle/>
            <a:p>
              <a:pPr defTabSz="2817813"/>
              <a:r>
                <a:rPr lang="en-GB" sz="500" b="1">
                  <a:solidFill>
                    <a:srgbClr val="006600"/>
                  </a:solidFill>
                  <a:cs typeface="Arial" charset="0"/>
                </a:rPr>
                <a:t>LTM</a:t>
              </a:r>
            </a:p>
            <a:p>
              <a:pPr defTabSz="2817813"/>
              <a:r>
                <a:rPr lang="en-GB" sz="500" b="1">
                  <a:solidFill>
                    <a:srgbClr val="006600"/>
                  </a:solidFill>
                  <a:cs typeface="Arial" charset="0"/>
                </a:rPr>
                <a:t>OCCURS IN</a:t>
              </a:r>
            </a:p>
            <a:p>
              <a:pPr defTabSz="2817813"/>
              <a:r>
                <a:rPr lang="en-GB" sz="500" b="1">
                  <a:solidFill>
                    <a:srgbClr val="006600"/>
                  </a:solidFill>
                  <a:cs typeface="Arial" charset="0"/>
                </a:rPr>
                <a:t>LTMRs</a:t>
              </a:r>
            </a:p>
            <a:p>
              <a:pPr defTabSz="2817813"/>
              <a:r>
                <a:rPr lang="en-GB" sz="500" b="1">
                  <a:solidFill>
                    <a:srgbClr val="006600"/>
                  </a:solidFill>
                  <a:cs typeface="Arial" charset="0"/>
                </a:rPr>
                <a:t>&lt;NO   AM&gt;</a:t>
              </a:r>
            </a:p>
          </p:txBody>
        </p:sp>
        <p:sp>
          <p:nvSpPr>
            <p:cNvPr id="27673" name="Text Box 54"/>
            <p:cNvSpPr txBox="1">
              <a:spLocks noChangeArrowheads="1"/>
            </p:cNvSpPr>
            <p:nvPr/>
          </p:nvSpPr>
          <p:spPr bwMode="auto">
            <a:xfrm>
              <a:off x="4799" y="2644"/>
              <a:ext cx="365" cy="250"/>
            </a:xfrm>
            <a:prstGeom prst="rect">
              <a:avLst/>
            </a:prstGeom>
            <a:noFill/>
            <a:ln w="6350">
              <a:noFill/>
              <a:miter lim="800000"/>
              <a:headEnd/>
              <a:tailEnd/>
            </a:ln>
          </p:spPr>
          <p:txBody>
            <a:bodyPr>
              <a:spAutoFit/>
            </a:bodyPr>
            <a:lstStyle/>
            <a:p>
              <a:pPr algn="r" defTabSz="2817813"/>
              <a:r>
                <a:rPr lang="en-GB" sz="500" b="1">
                  <a:solidFill>
                    <a:srgbClr val="006600"/>
                  </a:solidFill>
                  <a:cs typeface="Arial" charset="0"/>
                </a:rPr>
                <a:t>LTMR</a:t>
              </a:r>
            </a:p>
            <a:p>
              <a:pPr algn="r" defTabSz="2817813"/>
              <a:r>
                <a:rPr lang="en-GB" sz="500" b="1">
                  <a:solidFill>
                    <a:srgbClr val="006600"/>
                  </a:solidFill>
                  <a:cs typeface="Arial" charset="0"/>
                </a:rPr>
                <a:t>LINKS</a:t>
              </a:r>
            </a:p>
            <a:p>
              <a:pPr algn="r" defTabSz="2817813"/>
              <a:r>
                <a:rPr lang="en-GB" sz="500" b="1">
                  <a:solidFill>
                    <a:srgbClr val="006600"/>
                  </a:solidFill>
                  <a:cs typeface="Arial" charset="0"/>
                </a:rPr>
                <a:t>LTMs</a:t>
              </a:r>
            </a:p>
            <a:p>
              <a:pPr algn="r" defTabSz="2817813"/>
              <a:r>
                <a:rPr lang="en-GB" sz="500" b="1">
                  <a:solidFill>
                    <a:srgbClr val="006600"/>
                  </a:solidFill>
                  <a:cs typeface="Arial" charset="0"/>
                </a:rPr>
                <a:t>&lt;NO   AM&gt;</a:t>
              </a:r>
            </a:p>
          </p:txBody>
        </p:sp>
        <p:sp>
          <p:nvSpPr>
            <p:cNvPr id="27674" name="Rectangle 55"/>
            <p:cNvSpPr>
              <a:spLocks noChangeArrowheads="1"/>
            </p:cNvSpPr>
            <p:nvPr/>
          </p:nvSpPr>
          <p:spPr bwMode="auto">
            <a:xfrm>
              <a:off x="5216" y="3650"/>
              <a:ext cx="563" cy="253"/>
            </a:xfrm>
            <a:prstGeom prst="rect">
              <a:avLst/>
            </a:prstGeom>
            <a:solidFill>
              <a:srgbClr val="FFCC00"/>
            </a:solidFill>
            <a:ln w="6350">
              <a:solidFill>
                <a:srgbClr val="000000"/>
              </a:solidFill>
              <a:miter lim="800000"/>
              <a:headEnd/>
              <a:tailEnd/>
            </a:ln>
          </p:spPr>
          <p:txBody>
            <a:bodyPr wrap="none" lIns="91421" tIns="45712" rIns="91421" bIns="45712" anchor="ctr"/>
            <a:lstStyle/>
            <a:p>
              <a:pPr algn="ctr" defTabSz="2817813"/>
              <a:r>
                <a:rPr lang="en-GB" sz="500" b="1">
                  <a:cs typeface="Arial" charset="0"/>
                </a:rPr>
                <a:t>AREA 2 LTMS-REC</a:t>
              </a:r>
            </a:p>
            <a:p>
              <a:pPr algn="ctr" defTabSz="2817813"/>
              <a:r>
                <a:rPr lang="en-GB" sz="500" b="1">
                  <a:cs typeface="Arial" charset="0"/>
                </a:rPr>
                <a:t>Long-Term Memory</a:t>
              </a:r>
            </a:p>
            <a:p>
              <a:pPr algn="ctr" defTabSz="2817813"/>
              <a:r>
                <a:rPr lang="en-GB" sz="500" b="1">
                  <a:cs typeface="Arial" charset="0"/>
                </a:rPr>
                <a:t>Superchief</a:t>
              </a:r>
              <a:endParaRPr lang="en-US" sz="500" b="1">
                <a:cs typeface="Arial" charset="0"/>
              </a:endParaRPr>
            </a:p>
          </p:txBody>
        </p:sp>
        <p:sp>
          <p:nvSpPr>
            <p:cNvPr id="27675" name="Text Box 56"/>
            <p:cNvSpPr txBox="1">
              <a:spLocks noChangeArrowheads="1"/>
            </p:cNvSpPr>
            <p:nvPr/>
          </p:nvSpPr>
          <p:spPr bwMode="auto">
            <a:xfrm>
              <a:off x="5612" y="2507"/>
              <a:ext cx="439" cy="298"/>
            </a:xfrm>
            <a:prstGeom prst="rect">
              <a:avLst/>
            </a:prstGeom>
            <a:noFill/>
            <a:ln w="6350">
              <a:noFill/>
              <a:miter lim="800000"/>
              <a:headEnd/>
              <a:tailEnd/>
            </a:ln>
          </p:spPr>
          <p:txBody>
            <a:bodyPr>
              <a:spAutoFit/>
            </a:bodyPr>
            <a:lstStyle/>
            <a:p>
              <a:pPr defTabSz="2817813"/>
              <a:r>
                <a:rPr lang="en-GB" sz="500" b="1">
                  <a:solidFill>
                    <a:srgbClr val="006600"/>
                  </a:solidFill>
                  <a:cs typeface="Arial" charset="0"/>
                </a:rPr>
                <a:t>LTMs ARE</a:t>
              </a:r>
            </a:p>
            <a:p>
              <a:pPr defTabSz="2817813"/>
              <a:r>
                <a:rPr lang="en-GB" sz="500" b="1">
                  <a:solidFill>
                    <a:srgbClr val="006600"/>
                  </a:solidFill>
                  <a:cs typeface="Arial" charset="0"/>
                </a:rPr>
                <a:t>CLUSTERED</a:t>
              </a:r>
            </a:p>
            <a:p>
              <a:pPr defTabSz="2817813"/>
              <a:r>
                <a:rPr lang="en-GB" sz="500" b="1">
                  <a:solidFill>
                    <a:srgbClr val="006600"/>
                  </a:solidFill>
                  <a:cs typeface="Arial" charset="0"/>
                </a:rPr>
                <a:t>UNDER</a:t>
              </a:r>
            </a:p>
            <a:p>
              <a:pPr defTabSz="2817813"/>
              <a:r>
                <a:rPr lang="en-GB" sz="500" b="1">
                  <a:solidFill>
                    <a:srgbClr val="006600"/>
                  </a:solidFill>
                  <a:cs typeface="Arial" charset="0"/>
                </a:rPr>
                <a:t>LTMSs</a:t>
              </a:r>
            </a:p>
            <a:p>
              <a:pPr defTabSz="2817813"/>
              <a:r>
                <a:rPr lang="en-GB" sz="500" b="1">
                  <a:solidFill>
                    <a:srgbClr val="006600"/>
                  </a:solidFill>
                  <a:cs typeface="Arial" charset="0"/>
                </a:rPr>
                <a:t>&lt;NO   AM&gt;</a:t>
              </a:r>
            </a:p>
          </p:txBody>
        </p:sp>
        <p:sp>
          <p:nvSpPr>
            <p:cNvPr id="27676" name="Line 57"/>
            <p:cNvSpPr>
              <a:spLocks noChangeShapeType="1"/>
            </p:cNvSpPr>
            <p:nvPr/>
          </p:nvSpPr>
          <p:spPr bwMode="auto">
            <a:xfrm rot="-5400000" flipH="1" flipV="1">
              <a:off x="4923" y="2941"/>
              <a:ext cx="1419" cy="0"/>
            </a:xfrm>
            <a:prstGeom prst="line">
              <a:avLst/>
            </a:prstGeom>
            <a:noFill/>
            <a:ln w="6350">
              <a:solidFill>
                <a:srgbClr val="000000"/>
              </a:solidFill>
              <a:round/>
              <a:headEnd/>
              <a:tailEnd type="triangle" w="lg" len="lg"/>
            </a:ln>
          </p:spPr>
          <p:txBody>
            <a:bodyPr/>
            <a:lstStyle/>
            <a:p>
              <a:endParaRPr lang="en-GB"/>
            </a:p>
          </p:txBody>
        </p:sp>
        <p:sp>
          <p:nvSpPr>
            <p:cNvPr id="27677" name="Line 58"/>
            <p:cNvSpPr>
              <a:spLocks noChangeShapeType="1"/>
            </p:cNvSpPr>
            <p:nvPr/>
          </p:nvSpPr>
          <p:spPr bwMode="auto">
            <a:xfrm rot="10800000">
              <a:off x="5450" y="2230"/>
              <a:ext cx="188" cy="0"/>
            </a:xfrm>
            <a:prstGeom prst="line">
              <a:avLst/>
            </a:prstGeom>
            <a:noFill/>
            <a:ln w="6350">
              <a:solidFill>
                <a:srgbClr val="000000"/>
              </a:solidFill>
              <a:round/>
              <a:headEnd/>
              <a:tailEnd type="none" w="lg" len="lg"/>
            </a:ln>
          </p:spPr>
          <p:txBody>
            <a:bodyPr/>
            <a:lstStyle/>
            <a:p>
              <a:endParaRPr lang="en-GB"/>
            </a:p>
          </p:txBody>
        </p:sp>
        <p:sp>
          <p:nvSpPr>
            <p:cNvPr id="27678" name="Line 59"/>
            <p:cNvSpPr>
              <a:spLocks noChangeShapeType="1"/>
            </p:cNvSpPr>
            <p:nvPr/>
          </p:nvSpPr>
          <p:spPr bwMode="auto">
            <a:xfrm flipH="1">
              <a:off x="5884" y="1836"/>
              <a:ext cx="0" cy="572"/>
            </a:xfrm>
            <a:prstGeom prst="line">
              <a:avLst/>
            </a:prstGeom>
            <a:noFill/>
            <a:ln w="6350">
              <a:solidFill>
                <a:srgbClr val="000000"/>
              </a:solidFill>
              <a:round/>
              <a:headEnd/>
              <a:tailEnd type="none" w="lg" len="lg"/>
            </a:ln>
          </p:spPr>
          <p:txBody>
            <a:bodyPr/>
            <a:lstStyle/>
            <a:p>
              <a:endParaRPr lang="en-GB"/>
            </a:p>
          </p:txBody>
        </p:sp>
        <p:sp>
          <p:nvSpPr>
            <p:cNvPr id="27679" name="Line 60"/>
            <p:cNvSpPr>
              <a:spLocks noChangeShapeType="1"/>
            </p:cNvSpPr>
            <p:nvPr/>
          </p:nvSpPr>
          <p:spPr bwMode="auto">
            <a:xfrm flipH="1">
              <a:off x="4694" y="2408"/>
              <a:ext cx="1190" cy="335"/>
            </a:xfrm>
            <a:prstGeom prst="line">
              <a:avLst/>
            </a:prstGeom>
            <a:noFill/>
            <a:ln w="6350">
              <a:solidFill>
                <a:srgbClr val="000000"/>
              </a:solidFill>
              <a:round/>
              <a:headEnd/>
              <a:tailEnd type="none" w="lg" len="lg"/>
            </a:ln>
          </p:spPr>
          <p:txBody>
            <a:bodyPr/>
            <a:lstStyle/>
            <a:p>
              <a:endParaRPr lang="en-GB"/>
            </a:p>
          </p:txBody>
        </p:sp>
        <p:sp>
          <p:nvSpPr>
            <p:cNvPr id="27680" name="Line 61"/>
            <p:cNvSpPr>
              <a:spLocks noChangeShapeType="1"/>
            </p:cNvSpPr>
            <p:nvPr/>
          </p:nvSpPr>
          <p:spPr bwMode="auto">
            <a:xfrm flipH="1">
              <a:off x="4716" y="1836"/>
              <a:ext cx="0" cy="572"/>
            </a:xfrm>
            <a:prstGeom prst="line">
              <a:avLst/>
            </a:prstGeom>
            <a:noFill/>
            <a:ln w="6350">
              <a:solidFill>
                <a:srgbClr val="000000"/>
              </a:solidFill>
              <a:round/>
              <a:headEnd/>
              <a:tailEnd type="none" w="lg" len="lg"/>
            </a:ln>
          </p:spPr>
          <p:txBody>
            <a:bodyPr/>
            <a:lstStyle/>
            <a:p>
              <a:endParaRPr lang="en-GB"/>
            </a:p>
          </p:txBody>
        </p:sp>
        <p:sp>
          <p:nvSpPr>
            <p:cNvPr id="27681" name="Line 62"/>
            <p:cNvSpPr>
              <a:spLocks noChangeShapeType="1"/>
            </p:cNvSpPr>
            <p:nvPr/>
          </p:nvSpPr>
          <p:spPr bwMode="auto">
            <a:xfrm flipH="1">
              <a:off x="4215" y="2408"/>
              <a:ext cx="501" cy="158"/>
            </a:xfrm>
            <a:prstGeom prst="line">
              <a:avLst/>
            </a:prstGeom>
            <a:noFill/>
            <a:ln w="6350">
              <a:solidFill>
                <a:srgbClr val="000000"/>
              </a:solidFill>
              <a:round/>
              <a:headEnd/>
              <a:tailEnd type="none" w="lg" len="lg"/>
            </a:ln>
          </p:spPr>
          <p:txBody>
            <a:bodyPr/>
            <a:lstStyle/>
            <a:p>
              <a:endParaRPr lang="en-GB"/>
            </a:p>
          </p:txBody>
        </p:sp>
        <p:sp>
          <p:nvSpPr>
            <p:cNvPr id="27682" name="Line 63"/>
            <p:cNvSpPr>
              <a:spLocks noChangeShapeType="1"/>
            </p:cNvSpPr>
            <p:nvPr/>
          </p:nvSpPr>
          <p:spPr bwMode="auto">
            <a:xfrm>
              <a:off x="4694" y="2743"/>
              <a:ext cx="0" cy="454"/>
            </a:xfrm>
            <a:prstGeom prst="line">
              <a:avLst/>
            </a:prstGeom>
            <a:noFill/>
            <a:ln w="6350">
              <a:solidFill>
                <a:srgbClr val="000000"/>
              </a:solidFill>
              <a:round/>
              <a:headEnd/>
              <a:tailEnd type="triangle" w="lg" len="lg"/>
            </a:ln>
          </p:spPr>
          <p:txBody>
            <a:bodyPr/>
            <a:lstStyle/>
            <a:p>
              <a:endParaRPr lang="en-GB"/>
            </a:p>
          </p:txBody>
        </p:sp>
        <p:sp>
          <p:nvSpPr>
            <p:cNvPr id="27683" name="Line 64"/>
            <p:cNvSpPr>
              <a:spLocks noChangeShapeType="1"/>
            </p:cNvSpPr>
            <p:nvPr/>
          </p:nvSpPr>
          <p:spPr bwMode="auto">
            <a:xfrm flipH="1">
              <a:off x="4611" y="2389"/>
              <a:ext cx="438" cy="354"/>
            </a:xfrm>
            <a:prstGeom prst="line">
              <a:avLst/>
            </a:prstGeom>
            <a:noFill/>
            <a:ln w="6350">
              <a:solidFill>
                <a:srgbClr val="000000"/>
              </a:solidFill>
              <a:round/>
              <a:headEnd/>
              <a:tailEnd type="none" w="lg" len="lg"/>
            </a:ln>
          </p:spPr>
          <p:txBody>
            <a:bodyPr/>
            <a:lstStyle/>
            <a:p>
              <a:endParaRPr lang="en-GB"/>
            </a:p>
          </p:txBody>
        </p:sp>
        <p:sp>
          <p:nvSpPr>
            <p:cNvPr id="27684" name="Line 65"/>
            <p:cNvSpPr>
              <a:spLocks noChangeShapeType="1"/>
            </p:cNvSpPr>
            <p:nvPr/>
          </p:nvSpPr>
          <p:spPr bwMode="auto">
            <a:xfrm>
              <a:off x="4611" y="2743"/>
              <a:ext cx="0" cy="454"/>
            </a:xfrm>
            <a:prstGeom prst="line">
              <a:avLst/>
            </a:prstGeom>
            <a:noFill/>
            <a:ln w="6350">
              <a:solidFill>
                <a:srgbClr val="000000"/>
              </a:solidFill>
              <a:round/>
              <a:headEnd/>
              <a:tailEnd type="triangle" w="lg" len="lg"/>
            </a:ln>
          </p:spPr>
          <p:txBody>
            <a:bodyPr/>
            <a:lstStyle/>
            <a:p>
              <a:endParaRPr lang="en-GB"/>
            </a:p>
          </p:txBody>
        </p:sp>
      </p:grpSp>
      <p:sp>
        <p:nvSpPr>
          <p:cNvPr id="27652" name="Rectangle 68"/>
          <p:cNvSpPr>
            <a:spLocks noGrp="1" noChangeArrowheads="1"/>
          </p:cNvSpPr>
          <p:nvPr>
            <p:ph type="title"/>
          </p:nvPr>
        </p:nvSpPr>
        <p:spPr>
          <a:xfrm>
            <a:off x="0" y="0"/>
            <a:ext cx="9906000" cy="1700213"/>
          </a:xfrm>
        </p:spPr>
        <p:txBody>
          <a:bodyPr/>
          <a:lstStyle/>
          <a:p>
            <a:pPr eaLnBrk="1" hangingPunct="1"/>
            <a:r>
              <a:rPr lang="en-GB" sz="3200" b="1" smtClean="0"/>
              <a:t>INTRODUCING PROJECT </a:t>
            </a:r>
            <a:r>
              <a:rPr lang="en-GB" sz="3200" b="1" i="1" smtClean="0"/>
              <a:t>KONRAD</a:t>
            </a:r>
            <a:endParaRPr lang="en-US" sz="3200" b="1" smtClean="0"/>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4" descr="PICdescartes1662"/>
          <p:cNvPicPr>
            <a:picLocks noChangeAspect="1" noChangeArrowheads="1"/>
          </p:cNvPicPr>
          <p:nvPr/>
        </p:nvPicPr>
        <p:blipFill>
          <a:blip r:embed="rId2" cstate="print"/>
          <a:srcRect/>
          <a:stretch>
            <a:fillRect/>
          </a:stretch>
        </p:blipFill>
        <p:spPr bwMode="auto">
          <a:xfrm>
            <a:off x="7167563" y="3995738"/>
            <a:ext cx="2738437" cy="2862262"/>
          </a:xfrm>
          <a:prstGeom prst="rect">
            <a:avLst/>
          </a:prstGeom>
          <a:noFill/>
          <a:ln w="9525">
            <a:noFill/>
            <a:miter lim="800000"/>
            <a:headEnd/>
            <a:tailEnd/>
          </a:ln>
        </p:spPr>
      </p:pic>
      <p:sp>
        <p:nvSpPr>
          <p:cNvPr id="28675" name="Rectangle 2"/>
          <p:cNvSpPr>
            <a:spLocks noGrp="1" noChangeArrowheads="1"/>
          </p:cNvSpPr>
          <p:nvPr>
            <p:ph type="title"/>
          </p:nvPr>
        </p:nvSpPr>
        <p:spPr>
          <a:xfrm>
            <a:off x="0" y="0"/>
            <a:ext cx="9906000" cy="1700213"/>
          </a:xfrm>
        </p:spPr>
        <p:txBody>
          <a:bodyPr/>
          <a:lstStyle/>
          <a:p>
            <a:pPr eaLnBrk="1" hangingPunct="1"/>
            <a:r>
              <a:rPr lang="en-GB" sz="3200" b="1" smtClean="0"/>
              <a:t>INTRODUCING PROJECT </a:t>
            </a:r>
            <a:r>
              <a:rPr lang="en-GB" sz="3200" b="1" i="1" smtClean="0"/>
              <a:t>KONRAD</a:t>
            </a:r>
            <a:endParaRPr lang="en-US" sz="3200" b="1" smtClean="0"/>
          </a:p>
        </p:txBody>
      </p:sp>
      <p:sp>
        <p:nvSpPr>
          <p:cNvPr id="28676" name="Rectangle 3"/>
          <p:cNvSpPr>
            <a:spLocks noGrp="1" noChangeArrowheads="1"/>
          </p:cNvSpPr>
          <p:nvPr>
            <p:ph type="body" idx="1"/>
          </p:nvPr>
        </p:nvSpPr>
        <p:spPr>
          <a:xfrm>
            <a:off x="0" y="1989138"/>
            <a:ext cx="9667908" cy="2011362"/>
          </a:xfrm>
        </p:spPr>
        <p:txBody>
          <a:bodyPr/>
          <a:lstStyle/>
          <a:p>
            <a:pPr eaLnBrk="1" hangingPunct="1"/>
            <a:r>
              <a:rPr lang="en-GB" sz="2400" b="1" dirty="0" smtClean="0"/>
              <a:t>The </a:t>
            </a:r>
            <a:r>
              <a:rPr lang="en-GB" sz="2400" b="1" dirty="0" smtClean="0">
                <a:solidFill>
                  <a:schemeClr val="accent2"/>
                </a:solidFill>
              </a:rPr>
              <a:t>Processing Module</a:t>
            </a:r>
            <a:r>
              <a:rPr lang="en-GB" sz="2400" b="1" dirty="0" smtClean="0"/>
              <a:t> (</a:t>
            </a:r>
            <a:r>
              <a:rPr lang="en-GB" sz="2400" b="1" dirty="0" err="1" smtClean="0"/>
              <a:t>FDPX</a:t>
            </a:r>
            <a:r>
              <a:rPr lang="en-GB" sz="2400" b="1" dirty="0" smtClean="0"/>
              <a:t>) and </a:t>
            </a:r>
            <a:r>
              <a:rPr lang="en-GB" sz="2400" b="1" dirty="0" smtClean="0">
                <a:solidFill>
                  <a:schemeClr val="accent2"/>
                </a:solidFill>
              </a:rPr>
              <a:t>Long-Term Memory</a:t>
            </a:r>
            <a:r>
              <a:rPr lang="en-GB" sz="2400" b="1" dirty="0" smtClean="0"/>
              <a:t> (</a:t>
            </a:r>
            <a:r>
              <a:rPr lang="en-GB" sz="2400" b="1" dirty="0" err="1" smtClean="0"/>
              <a:t>LTM</a:t>
            </a:r>
            <a:r>
              <a:rPr lang="en-GB" sz="2400" b="1" dirty="0" smtClean="0"/>
              <a:t>) records set up the basic cognitive architecture. </a:t>
            </a:r>
            <a:r>
              <a:rPr lang="en-GB" sz="2400" b="1" dirty="0" smtClean="0">
                <a:solidFill>
                  <a:schemeClr val="accent2"/>
                </a:solidFill>
              </a:rPr>
              <a:t>21 "occurrences" of the </a:t>
            </a:r>
            <a:r>
              <a:rPr lang="en-GB" sz="2400" b="1" dirty="0" err="1" smtClean="0">
                <a:solidFill>
                  <a:schemeClr val="accent2"/>
                </a:solidFill>
              </a:rPr>
              <a:t>FDPX-REC</a:t>
            </a:r>
            <a:r>
              <a:rPr lang="en-GB" sz="2400" b="1" dirty="0" smtClean="0">
                <a:solidFill>
                  <a:schemeClr val="accent2"/>
                </a:solidFill>
              </a:rPr>
              <a:t> are identified, containing between them a total of 36 functionally (but not physiologically) different types of </a:t>
            </a:r>
            <a:r>
              <a:rPr lang="en-GB" sz="2400" b="1" dirty="0" err="1" smtClean="0">
                <a:solidFill>
                  <a:schemeClr val="accent2"/>
                </a:solidFill>
              </a:rPr>
              <a:t>LTM-REC</a:t>
            </a:r>
            <a:r>
              <a:rPr lang="en-GB" sz="2400" b="1" dirty="0" smtClean="0">
                <a:solidFill>
                  <a:schemeClr val="accent2"/>
                </a:solidFill>
              </a:rPr>
              <a:t>.</a:t>
            </a:r>
          </a:p>
        </p:txBody>
      </p:sp>
      <p:sp>
        <p:nvSpPr>
          <p:cNvPr id="4" name="Rectangle 3"/>
          <p:cNvSpPr txBox="1">
            <a:spLocks noChangeArrowheads="1"/>
          </p:cNvSpPr>
          <p:nvPr/>
        </p:nvSpPr>
        <p:spPr bwMode="auto">
          <a:xfrm>
            <a:off x="0" y="4348163"/>
            <a:ext cx="7748588" cy="2509837"/>
          </a:xfrm>
          <a:prstGeom prst="rect">
            <a:avLst/>
          </a:prstGeom>
          <a:noFill/>
          <a:ln w="9525">
            <a:noFill/>
            <a:miter lim="800000"/>
            <a:headEnd/>
            <a:tailEnd/>
          </a:ln>
        </p:spPr>
        <p:txBody>
          <a:bodyPr/>
          <a:lstStyle/>
          <a:p>
            <a:pPr marL="342900" indent="-342900">
              <a:spcBef>
                <a:spcPct val="20000"/>
              </a:spcBef>
              <a:buFontTx/>
              <a:buChar char="•"/>
              <a:defRPr/>
            </a:pPr>
            <a:r>
              <a:rPr lang="en-GB" sz="2400" b="1" kern="0" dirty="0">
                <a:solidFill>
                  <a:srgbClr val="FF0000"/>
                </a:solidFill>
                <a:latin typeface="+mn-lt"/>
              </a:rPr>
              <a:t>These 21 modules are the building blocks of </a:t>
            </a:r>
            <a:r>
              <a:rPr lang="en-GB" sz="2400" b="1" i="1" kern="0" dirty="0" err="1">
                <a:solidFill>
                  <a:srgbClr val="FF0000"/>
                </a:solidFill>
                <a:latin typeface="+mn-lt"/>
              </a:rPr>
              <a:t>Konrad's</a:t>
            </a:r>
            <a:r>
              <a:rPr lang="en-GB" sz="2400" b="1" kern="0" dirty="0">
                <a:solidFill>
                  <a:srgbClr val="FF0000"/>
                </a:solidFill>
                <a:latin typeface="+mn-lt"/>
              </a:rPr>
              <a:t> machine mind, and "animal spirits" of an electronic sort flow between them.</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0" y="0"/>
            <a:ext cx="9906000" cy="1700213"/>
          </a:xfrm>
        </p:spPr>
        <p:txBody>
          <a:bodyPr/>
          <a:lstStyle/>
          <a:p>
            <a:pPr eaLnBrk="1" hangingPunct="1"/>
            <a:r>
              <a:rPr lang="en-GB" sz="3200" b="1" smtClean="0"/>
              <a:t>INTRODUCING PROJECT </a:t>
            </a:r>
            <a:r>
              <a:rPr lang="en-GB" sz="3200" b="1" i="1" smtClean="0"/>
              <a:t>KONRAD</a:t>
            </a:r>
            <a:endParaRPr lang="en-US" sz="3200" b="1" smtClean="0"/>
          </a:p>
        </p:txBody>
      </p:sp>
      <p:sp>
        <p:nvSpPr>
          <p:cNvPr id="29699" name="Rectangle 224"/>
          <p:cNvSpPr>
            <a:spLocks noChangeArrowheads="1"/>
          </p:cNvSpPr>
          <p:nvPr/>
        </p:nvSpPr>
        <p:spPr bwMode="auto">
          <a:xfrm>
            <a:off x="0" y="1500174"/>
            <a:ext cx="5810256" cy="4714908"/>
          </a:xfrm>
          <a:prstGeom prst="rect">
            <a:avLst/>
          </a:prstGeom>
          <a:noFill/>
          <a:ln w="9525">
            <a:noFill/>
            <a:miter lim="800000"/>
            <a:headEnd/>
            <a:tailEnd/>
          </a:ln>
        </p:spPr>
        <p:txBody>
          <a:bodyPr/>
          <a:lstStyle/>
          <a:p>
            <a:pPr marL="342900" indent="-342900">
              <a:spcBef>
                <a:spcPct val="20000"/>
              </a:spcBef>
              <a:buFontTx/>
              <a:buChar char="•"/>
            </a:pPr>
            <a:r>
              <a:rPr lang="en-GB" sz="2400" b="1" dirty="0"/>
              <a:t>Here are </a:t>
            </a:r>
            <a:r>
              <a:rPr lang="en-GB" sz="2400" b="1" dirty="0" smtClean="0"/>
              <a:t>the 10 </a:t>
            </a:r>
            <a:r>
              <a:rPr lang="en-GB" sz="2400" b="1" dirty="0" err="1" smtClean="0"/>
              <a:t>LTM</a:t>
            </a:r>
            <a:r>
              <a:rPr lang="en-GB" sz="2400" b="1" dirty="0" smtClean="0"/>
              <a:t>-within-</a:t>
            </a:r>
            <a:r>
              <a:rPr lang="en-GB" sz="2400" b="1" dirty="0" err="1" smtClean="0"/>
              <a:t>FDPX</a:t>
            </a:r>
            <a:r>
              <a:rPr lang="en-GB" sz="2400" b="1" dirty="0" smtClean="0"/>
              <a:t> </a:t>
            </a:r>
            <a:r>
              <a:rPr lang="en-GB" sz="2400" b="1" dirty="0"/>
              <a:t>building blocks of </a:t>
            </a:r>
            <a:r>
              <a:rPr lang="en-GB" sz="2400" b="1" dirty="0" smtClean="0"/>
              <a:t>cognition so far simulated, </a:t>
            </a:r>
            <a:r>
              <a:rPr lang="en-GB" sz="2400" b="1" dirty="0"/>
              <a:t>laid out as a cognitive processing </a:t>
            </a:r>
            <a:r>
              <a:rPr lang="en-GB" sz="2400" b="1" dirty="0" smtClean="0"/>
              <a:t>hierarchy. </a:t>
            </a:r>
            <a:r>
              <a:rPr lang="en-GB" sz="2400" b="1" dirty="0" smtClean="0">
                <a:solidFill>
                  <a:srgbClr val="0070C0"/>
                </a:solidFill>
              </a:rPr>
              <a:t>Note the industry standard A-Shape.</a:t>
            </a:r>
            <a:endParaRPr lang="en-GB" sz="2400" b="1" dirty="0">
              <a:solidFill>
                <a:srgbClr val="0070C0"/>
              </a:solidFill>
            </a:endParaRPr>
          </a:p>
          <a:p>
            <a:pPr marL="342900" indent="-342900">
              <a:spcBef>
                <a:spcPct val="20000"/>
              </a:spcBef>
              <a:buFontTx/>
              <a:buChar char="•"/>
            </a:pPr>
            <a:endParaRPr lang="en-GB" sz="2400" b="1" dirty="0" smtClean="0">
              <a:solidFill>
                <a:schemeClr val="bg2"/>
              </a:solidFill>
            </a:endParaRPr>
          </a:p>
          <a:p>
            <a:pPr marL="342900" indent="-342900">
              <a:spcBef>
                <a:spcPct val="20000"/>
              </a:spcBef>
              <a:buFontTx/>
              <a:buChar char="•"/>
            </a:pPr>
            <a:r>
              <a:rPr lang="en-GB" sz="2400" b="1" dirty="0" smtClean="0">
                <a:solidFill>
                  <a:schemeClr val="bg2"/>
                </a:solidFill>
              </a:rPr>
              <a:t>A fully captioned </a:t>
            </a:r>
            <a:r>
              <a:rPr lang="en-GB" sz="2400" b="1" dirty="0">
                <a:solidFill>
                  <a:schemeClr val="bg2"/>
                </a:solidFill>
              </a:rPr>
              <a:t>copy of </a:t>
            </a:r>
            <a:r>
              <a:rPr lang="en-GB" sz="2400" b="1" dirty="0" smtClean="0">
                <a:solidFill>
                  <a:schemeClr val="bg2"/>
                </a:solidFill>
              </a:rPr>
              <a:t>the 21-module diagram is provided in the Conference Pack (or can be downloaded from </a:t>
            </a:r>
            <a:r>
              <a:rPr lang="en-GB" sz="2400" b="1" dirty="0" err="1" smtClean="0">
                <a:solidFill>
                  <a:schemeClr val="bg2"/>
                </a:solidFill>
                <a:hlinkClick r:id="rId2"/>
              </a:rPr>
              <a:t>http://www</a:t>
            </a:r>
            <a:r>
              <a:rPr lang="en-GB" sz="2400" b="1" dirty="0" smtClean="0">
                <a:solidFill>
                  <a:schemeClr val="bg2"/>
                </a:solidFill>
                <a:hlinkClick r:id="rId2"/>
              </a:rPr>
              <a:t>. </a:t>
            </a:r>
            <a:r>
              <a:rPr lang="en-GB" sz="2400" b="1" dirty="0" err="1" smtClean="0">
                <a:solidFill>
                  <a:schemeClr val="bg2"/>
                </a:solidFill>
                <a:hlinkClick r:id="rId2"/>
              </a:rPr>
              <a:t>smithsrisca.co.uk</a:t>
            </a:r>
            <a:r>
              <a:rPr lang="en-GB" sz="2400" b="1" dirty="0" smtClean="0">
                <a:solidFill>
                  <a:schemeClr val="bg2"/>
                </a:solidFill>
                <a:hlinkClick r:id="rId2"/>
              </a:rPr>
              <a:t>/</a:t>
            </a:r>
            <a:r>
              <a:rPr lang="en-GB" sz="2400" b="1" dirty="0" err="1" smtClean="0">
                <a:solidFill>
                  <a:schemeClr val="bg2"/>
                </a:solidFill>
                <a:hlinkClick r:id="rId2"/>
              </a:rPr>
              <a:t>IEHF10</a:t>
            </a:r>
            <a:r>
              <a:rPr lang="en-GB" sz="2400" b="1" dirty="0" smtClean="0">
                <a:solidFill>
                  <a:schemeClr val="bg2"/>
                </a:solidFill>
                <a:hlinkClick r:id="rId2"/>
              </a:rPr>
              <a:t>/</a:t>
            </a:r>
            <a:r>
              <a:rPr lang="en-GB" sz="2400" b="1" dirty="0" err="1" smtClean="0">
                <a:solidFill>
                  <a:schemeClr val="bg2"/>
                </a:solidFill>
                <a:hlinkClick r:id="rId2"/>
              </a:rPr>
              <a:t>Cartesian.ppt</a:t>
            </a:r>
            <a:r>
              <a:rPr lang="en-GB" sz="2400" b="1" dirty="0" smtClean="0">
                <a:solidFill>
                  <a:schemeClr val="bg2"/>
                </a:solidFill>
              </a:rPr>
              <a:t>).</a:t>
            </a:r>
            <a:endParaRPr lang="en-GB" sz="2400" b="1" dirty="0">
              <a:solidFill>
                <a:schemeClr val="bg2"/>
              </a:solidFill>
            </a:endParaRPr>
          </a:p>
        </p:txBody>
      </p:sp>
      <p:grpSp>
        <p:nvGrpSpPr>
          <p:cNvPr id="282" name="Group 281"/>
          <p:cNvGrpSpPr/>
          <p:nvPr/>
        </p:nvGrpSpPr>
        <p:grpSpPr>
          <a:xfrm>
            <a:off x="5834082" y="1500174"/>
            <a:ext cx="3762388" cy="5111754"/>
            <a:chOff x="727075" y="1065213"/>
            <a:chExt cx="6130925" cy="6975475"/>
          </a:xfrm>
        </p:grpSpPr>
        <p:sp>
          <p:nvSpPr>
            <p:cNvPr id="283"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284"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285"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286"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287"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288"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289"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290"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291"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292"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293"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294"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295"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296"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97"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298"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299"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300"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301"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302"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303"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304"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305" name="Group 8930"/>
            <p:cNvGrpSpPr>
              <a:grpSpLocks/>
            </p:cNvGrpSpPr>
            <p:nvPr/>
          </p:nvGrpSpPr>
          <p:grpSpPr bwMode="auto">
            <a:xfrm>
              <a:off x="1268447" y="5702275"/>
              <a:ext cx="1757351" cy="438148"/>
              <a:chOff x="799" y="3592"/>
              <a:chExt cx="1107" cy="276"/>
            </a:xfrm>
          </p:grpSpPr>
          <p:sp>
            <p:nvSpPr>
              <p:cNvPr id="465"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466"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306"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307"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308"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403"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404"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405"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406"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407"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408"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409"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410"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411"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412"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413"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414"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415"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416"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417" name="Group 226"/>
            <p:cNvGrpSpPr>
              <a:grpSpLocks/>
            </p:cNvGrpSpPr>
            <p:nvPr/>
          </p:nvGrpSpPr>
          <p:grpSpPr bwMode="auto">
            <a:xfrm>
              <a:off x="1854230" y="7472328"/>
              <a:ext cx="1757352" cy="471484"/>
              <a:chOff x="1420813" y="7910559"/>
              <a:chExt cx="1757362" cy="471485"/>
            </a:xfrm>
          </p:grpSpPr>
          <p:sp>
            <p:nvSpPr>
              <p:cNvPr id="463"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464"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418" name="Group 88"/>
            <p:cNvGrpSpPr>
              <a:grpSpLocks/>
            </p:cNvGrpSpPr>
            <p:nvPr/>
          </p:nvGrpSpPr>
          <p:grpSpPr bwMode="auto">
            <a:xfrm>
              <a:off x="727075" y="2798720"/>
              <a:ext cx="612772" cy="349249"/>
              <a:chOff x="5364189" y="6450033"/>
              <a:chExt cx="612776" cy="349251"/>
            </a:xfrm>
          </p:grpSpPr>
          <p:sp>
            <p:nvSpPr>
              <p:cNvPr id="46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6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6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419" name="Group 89"/>
            <p:cNvGrpSpPr>
              <a:grpSpLocks/>
            </p:cNvGrpSpPr>
            <p:nvPr/>
          </p:nvGrpSpPr>
          <p:grpSpPr bwMode="auto">
            <a:xfrm>
              <a:off x="6240505" y="4514821"/>
              <a:ext cx="612772" cy="349249"/>
              <a:chOff x="5364189" y="6450033"/>
              <a:chExt cx="612776" cy="349251"/>
            </a:xfrm>
          </p:grpSpPr>
          <p:sp>
            <p:nvSpPr>
              <p:cNvPr id="45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5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5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420" name="Group 93"/>
            <p:cNvGrpSpPr>
              <a:grpSpLocks/>
            </p:cNvGrpSpPr>
            <p:nvPr/>
          </p:nvGrpSpPr>
          <p:grpSpPr bwMode="auto">
            <a:xfrm>
              <a:off x="6245228" y="3273386"/>
              <a:ext cx="612772" cy="349249"/>
              <a:chOff x="5364189" y="6450033"/>
              <a:chExt cx="612776" cy="349251"/>
            </a:xfrm>
          </p:grpSpPr>
          <p:sp>
            <p:nvSpPr>
              <p:cNvPr id="45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5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5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421" name="Group 97"/>
            <p:cNvGrpSpPr>
              <a:grpSpLocks/>
            </p:cNvGrpSpPr>
            <p:nvPr/>
          </p:nvGrpSpPr>
          <p:grpSpPr bwMode="auto">
            <a:xfrm>
              <a:off x="5729326" y="2324053"/>
              <a:ext cx="612772" cy="349249"/>
              <a:chOff x="5364189" y="6450033"/>
              <a:chExt cx="612776" cy="349251"/>
            </a:xfrm>
          </p:grpSpPr>
          <p:sp>
            <p:nvSpPr>
              <p:cNvPr id="45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5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5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422" name="Group 101"/>
            <p:cNvGrpSpPr>
              <a:grpSpLocks/>
            </p:cNvGrpSpPr>
            <p:nvPr/>
          </p:nvGrpSpPr>
          <p:grpSpPr bwMode="auto">
            <a:xfrm>
              <a:off x="3867174" y="2324053"/>
              <a:ext cx="612772" cy="349249"/>
              <a:chOff x="5364189" y="6450033"/>
              <a:chExt cx="612776" cy="349251"/>
            </a:xfrm>
          </p:grpSpPr>
          <p:sp>
            <p:nvSpPr>
              <p:cNvPr id="44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4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5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423" name="Group 105"/>
            <p:cNvGrpSpPr>
              <a:grpSpLocks/>
            </p:cNvGrpSpPr>
            <p:nvPr/>
          </p:nvGrpSpPr>
          <p:grpSpPr bwMode="auto">
            <a:xfrm>
              <a:off x="3794148" y="3090822"/>
              <a:ext cx="612772" cy="349249"/>
              <a:chOff x="5364189" y="6450033"/>
              <a:chExt cx="612776" cy="349251"/>
            </a:xfrm>
          </p:grpSpPr>
          <p:sp>
            <p:nvSpPr>
              <p:cNvPr id="44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4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4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424" name="Group 109"/>
            <p:cNvGrpSpPr>
              <a:grpSpLocks/>
            </p:cNvGrpSpPr>
            <p:nvPr/>
          </p:nvGrpSpPr>
          <p:grpSpPr bwMode="auto">
            <a:xfrm>
              <a:off x="3794148" y="4989488"/>
              <a:ext cx="612772" cy="349249"/>
              <a:chOff x="5364189" y="6450033"/>
              <a:chExt cx="612776" cy="349251"/>
            </a:xfrm>
          </p:grpSpPr>
          <p:sp>
            <p:nvSpPr>
              <p:cNvPr id="44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4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4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425" name="Group 113"/>
            <p:cNvGrpSpPr>
              <a:grpSpLocks/>
            </p:cNvGrpSpPr>
            <p:nvPr/>
          </p:nvGrpSpPr>
          <p:grpSpPr bwMode="auto">
            <a:xfrm>
              <a:off x="800101" y="4040155"/>
              <a:ext cx="612772" cy="349249"/>
              <a:chOff x="5364189" y="6450033"/>
              <a:chExt cx="612776" cy="349251"/>
            </a:xfrm>
          </p:grpSpPr>
          <p:sp>
            <p:nvSpPr>
              <p:cNvPr id="43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4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4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426" name="Group 117"/>
            <p:cNvGrpSpPr>
              <a:grpSpLocks/>
            </p:cNvGrpSpPr>
            <p:nvPr/>
          </p:nvGrpSpPr>
          <p:grpSpPr bwMode="auto">
            <a:xfrm>
              <a:off x="1092203" y="5829282"/>
              <a:ext cx="612772" cy="349249"/>
              <a:chOff x="5364189" y="6450033"/>
              <a:chExt cx="612776" cy="349251"/>
            </a:xfrm>
          </p:grpSpPr>
          <p:sp>
            <p:nvSpPr>
              <p:cNvPr id="43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3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3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427" name="Group 121"/>
            <p:cNvGrpSpPr>
              <a:grpSpLocks/>
            </p:cNvGrpSpPr>
            <p:nvPr/>
          </p:nvGrpSpPr>
          <p:grpSpPr bwMode="auto">
            <a:xfrm>
              <a:off x="1676407" y="7691435"/>
              <a:ext cx="612772" cy="349249"/>
              <a:chOff x="5364189" y="6450033"/>
              <a:chExt cx="612776" cy="349251"/>
            </a:xfrm>
          </p:grpSpPr>
          <p:sp>
            <p:nvSpPr>
              <p:cNvPr id="43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3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3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428" name="Group 125"/>
            <p:cNvGrpSpPr>
              <a:grpSpLocks/>
            </p:cNvGrpSpPr>
            <p:nvPr/>
          </p:nvGrpSpPr>
          <p:grpSpPr bwMode="auto">
            <a:xfrm>
              <a:off x="727075" y="1338208"/>
              <a:ext cx="612772" cy="349249"/>
              <a:chOff x="5364189" y="6450033"/>
              <a:chExt cx="612776" cy="349251"/>
            </a:xfrm>
          </p:grpSpPr>
          <p:sp>
            <p:nvSpPr>
              <p:cNvPr id="43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3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43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429"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0" y="0"/>
            <a:ext cx="9906000" cy="1700213"/>
          </a:xfrm>
        </p:spPr>
        <p:txBody>
          <a:bodyPr/>
          <a:lstStyle/>
          <a:p>
            <a:pPr eaLnBrk="1" hangingPunct="1"/>
            <a:r>
              <a:rPr lang="en-GB" sz="3200" b="1" dirty="0" smtClean="0"/>
              <a:t>INTRODUCING PROJECT </a:t>
            </a:r>
            <a:r>
              <a:rPr lang="en-GB" sz="3200" b="1" i="1" dirty="0" err="1" smtClean="0"/>
              <a:t>KONRAD</a:t>
            </a:r>
            <a:endParaRPr lang="en-US" sz="3200" b="1" dirty="0" smtClean="0"/>
          </a:p>
        </p:txBody>
      </p:sp>
      <p:sp>
        <p:nvSpPr>
          <p:cNvPr id="30723" name="Rectangle 224"/>
          <p:cNvSpPr>
            <a:spLocks noChangeArrowheads="1"/>
          </p:cNvSpPr>
          <p:nvPr/>
        </p:nvSpPr>
        <p:spPr bwMode="auto">
          <a:xfrm>
            <a:off x="0" y="1773238"/>
            <a:ext cx="5524504" cy="4584700"/>
          </a:xfrm>
          <a:prstGeom prst="rect">
            <a:avLst/>
          </a:prstGeom>
          <a:noFill/>
          <a:ln w="9525">
            <a:noFill/>
            <a:miter lim="800000"/>
            <a:headEnd/>
            <a:tailEnd/>
          </a:ln>
        </p:spPr>
        <p:txBody>
          <a:bodyPr/>
          <a:lstStyle/>
          <a:p>
            <a:pPr marL="342900" indent="-342900">
              <a:spcBef>
                <a:spcPct val="20000"/>
              </a:spcBef>
              <a:buFontTx/>
              <a:buChar char="•"/>
            </a:pPr>
            <a:r>
              <a:rPr lang="en-GB" sz="2400" b="1" dirty="0"/>
              <a:t>Each module [</a:t>
            </a:r>
            <a:r>
              <a:rPr lang="en-GB" sz="2400" b="1" dirty="0" err="1"/>
              <a:t>FDPX</a:t>
            </a:r>
            <a:r>
              <a:rPr lang="en-GB" sz="2400" b="1" dirty="0"/>
              <a:t>, grey boxes] manages its own long-term storage [</a:t>
            </a:r>
            <a:r>
              <a:rPr lang="en-GB" sz="2400" b="1" dirty="0" err="1"/>
              <a:t>LTM</a:t>
            </a:r>
            <a:r>
              <a:rPr lang="en-GB" sz="2400" b="1" dirty="0"/>
              <a:t>, blue boxes]. </a:t>
            </a:r>
          </a:p>
          <a:p>
            <a:pPr marL="342900" indent="-342900">
              <a:spcBef>
                <a:spcPct val="20000"/>
              </a:spcBef>
              <a:buFontTx/>
              <a:buChar char="•"/>
            </a:pPr>
            <a:endParaRPr lang="en-GB" sz="2400" b="1" dirty="0"/>
          </a:p>
          <a:p>
            <a:pPr marL="342900" indent="-342900">
              <a:spcBef>
                <a:spcPct val="20000"/>
              </a:spcBef>
              <a:buFontTx/>
              <a:buChar char="•"/>
            </a:pPr>
            <a:r>
              <a:rPr lang="en-GB" sz="2400" b="1" dirty="0"/>
              <a:t>Neurotransmission takes place as </a:t>
            </a:r>
            <a:r>
              <a:rPr lang="en-GB" sz="2400" b="1" dirty="0" smtClean="0"/>
              <a:t>pulsed short-term </a:t>
            </a:r>
            <a:r>
              <a:rPr lang="en-GB" sz="2400" b="1" dirty="0"/>
              <a:t>events [</a:t>
            </a:r>
            <a:r>
              <a:rPr lang="en-GB" sz="2400" b="1" dirty="0" err="1"/>
              <a:t>STM</a:t>
            </a:r>
            <a:r>
              <a:rPr lang="en-GB" sz="2400" b="1" dirty="0"/>
              <a:t>, pink </a:t>
            </a:r>
            <a:r>
              <a:rPr lang="en-GB" sz="2400" b="1" dirty="0" smtClean="0"/>
              <a:t>arrows</a:t>
            </a:r>
            <a:r>
              <a:rPr lang="en-GB" sz="2400" b="1" dirty="0"/>
              <a:t>].</a:t>
            </a:r>
          </a:p>
          <a:p>
            <a:pPr marL="342900" indent="-342900">
              <a:spcBef>
                <a:spcPct val="20000"/>
              </a:spcBef>
              <a:buFontTx/>
              <a:buChar char="•"/>
            </a:pPr>
            <a:endParaRPr lang="en-GB" sz="2400" b="1" dirty="0"/>
          </a:p>
          <a:p>
            <a:pPr marL="342900" indent="-342900">
              <a:spcBef>
                <a:spcPct val="20000"/>
              </a:spcBef>
              <a:buFontTx/>
              <a:buChar char="•"/>
            </a:pPr>
            <a:r>
              <a:rPr lang="en-GB" sz="2400" b="1" dirty="0"/>
              <a:t>Modules also maintain a medium-term record of recent activity [</a:t>
            </a:r>
            <a:r>
              <a:rPr lang="en-GB" sz="2400" b="1" dirty="0" err="1"/>
              <a:t>MTM</a:t>
            </a:r>
            <a:r>
              <a:rPr lang="en-GB" sz="2400" b="1" dirty="0"/>
              <a:t>, yellow boxes].</a:t>
            </a:r>
            <a:endParaRPr lang="en-GB" sz="2400" b="1" dirty="0">
              <a:solidFill>
                <a:schemeClr val="bg2"/>
              </a:solidFill>
            </a:endParaRPr>
          </a:p>
        </p:txBody>
      </p:sp>
      <p:grpSp>
        <p:nvGrpSpPr>
          <p:cNvPr id="98" name="Group 97"/>
          <p:cNvGrpSpPr/>
          <p:nvPr/>
        </p:nvGrpSpPr>
        <p:grpSpPr>
          <a:xfrm>
            <a:off x="5834082" y="1500174"/>
            <a:ext cx="3762388" cy="5111754"/>
            <a:chOff x="727075" y="1065213"/>
            <a:chExt cx="6130925" cy="6975475"/>
          </a:xfrm>
        </p:grpSpPr>
        <p:sp>
          <p:nvSpPr>
            <p:cNvPr id="99"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00"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01"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02"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03"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04"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05"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06"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07"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08"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09"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10"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11"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2"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13"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14"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5"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6"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17"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8"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9"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20"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121" name="Group 8930"/>
            <p:cNvGrpSpPr>
              <a:grpSpLocks/>
            </p:cNvGrpSpPr>
            <p:nvPr/>
          </p:nvGrpSpPr>
          <p:grpSpPr bwMode="auto">
            <a:xfrm>
              <a:off x="1268447" y="5702275"/>
              <a:ext cx="1757351" cy="438148"/>
              <a:chOff x="799" y="3592"/>
              <a:chExt cx="1107" cy="276"/>
            </a:xfrm>
          </p:grpSpPr>
          <p:sp>
            <p:nvSpPr>
              <p:cNvPr id="187"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88"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22"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3"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4"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5"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6"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7"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28"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9"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30"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31"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32"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3"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34"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35"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36"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37"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38"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139" name="Group 226"/>
            <p:cNvGrpSpPr>
              <a:grpSpLocks/>
            </p:cNvGrpSpPr>
            <p:nvPr/>
          </p:nvGrpSpPr>
          <p:grpSpPr bwMode="auto">
            <a:xfrm>
              <a:off x="1854230" y="7472328"/>
              <a:ext cx="1757352" cy="471484"/>
              <a:chOff x="1420813" y="7910559"/>
              <a:chExt cx="1757362" cy="471485"/>
            </a:xfrm>
          </p:grpSpPr>
          <p:sp>
            <p:nvSpPr>
              <p:cNvPr id="185"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86"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140" name="Group 88"/>
            <p:cNvGrpSpPr>
              <a:grpSpLocks/>
            </p:cNvGrpSpPr>
            <p:nvPr/>
          </p:nvGrpSpPr>
          <p:grpSpPr bwMode="auto">
            <a:xfrm>
              <a:off x="727075" y="2798720"/>
              <a:ext cx="612772" cy="349249"/>
              <a:chOff x="5364189" y="6450033"/>
              <a:chExt cx="612776" cy="349251"/>
            </a:xfrm>
          </p:grpSpPr>
          <p:sp>
            <p:nvSpPr>
              <p:cNvPr id="18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1" name="Group 89"/>
            <p:cNvGrpSpPr>
              <a:grpSpLocks/>
            </p:cNvGrpSpPr>
            <p:nvPr/>
          </p:nvGrpSpPr>
          <p:grpSpPr bwMode="auto">
            <a:xfrm>
              <a:off x="6240505" y="4514821"/>
              <a:ext cx="612772" cy="349249"/>
              <a:chOff x="5364189" y="6450033"/>
              <a:chExt cx="612776" cy="349251"/>
            </a:xfrm>
          </p:grpSpPr>
          <p:sp>
            <p:nvSpPr>
              <p:cNvPr id="17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2" name="Group 93"/>
            <p:cNvGrpSpPr>
              <a:grpSpLocks/>
            </p:cNvGrpSpPr>
            <p:nvPr/>
          </p:nvGrpSpPr>
          <p:grpSpPr bwMode="auto">
            <a:xfrm>
              <a:off x="6245228" y="3273386"/>
              <a:ext cx="612772" cy="349249"/>
              <a:chOff x="5364189" y="6450033"/>
              <a:chExt cx="612776" cy="349251"/>
            </a:xfrm>
          </p:grpSpPr>
          <p:sp>
            <p:nvSpPr>
              <p:cNvPr id="17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3" name="Group 97"/>
            <p:cNvGrpSpPr>
              <a:grpSpLocks/>
            </p:cNvGrpSpPr>
            <p:nvPr/>
          </p:nvGrpSpPr>
          <p:grpSpPr bwMode="auto">
            <a:xfrm>
              <a:off x="5729326" y="2324053"/>
              <a:ext cx="612772" cy="349249"/>
              <a:chOff x="5364189" y="6450033"/>
              <a:chExt cx="612776" cy="349251"/>
            </a:xfrm>
          </p:grpSpPr>
          <p:sp>
            <p:nvSpPr>
              <p:cNvPr id="17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4" name="Group 101"/>
            <p:cNvGrpSpPr>
              <a:grpSpLocks/>
            </p:cNvGrpSpPr>
            <p:nvPr/>
          </p:nvGrpSpPr>
          <p:grpSpPr bwMode="auto">
            <a:xfrm>
              <a:off x="3867174" y="2324053"/>
              <a:ext cx="612772" cy="349249"/>
              <a:chOff x="5364189" y="6450033"/>
              <a:chExt cx="612776" cy="349251"/>
            </a:xfrm>
          </p:grpSpPr>
          <p:sp>
            <p:nvSpPr>
              <p:cNvPr id="17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5" name="Group 105"/>
            <p:cNvGrpSpPr>
              <a:grpSpLocks/>
            </p:cNvGrpSpPr>
            <p:nvPr/>
          </p:nvGrpSpPr>
          <p:grpSpPr bwMode="auto">
            <a:xfrm>
              <a:off x="3794148" y="3090822"/>
              <a:ext cx="612772" cy="349249"/>
              <a:chOff x="5364189" y="6450033"/>
              <a:chExt cx="612776" cy="349251"/>
            </a:xfrm>
          </p:grpSpPr>
          <p:sp>
            <p:nvSpPr>
              <p:cNvPr id="16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6" name="Group 109"/>
            <p:cNvGrpSpPr>
              <a:grpSpLocks/>
            </p:cNvGrpSpPr>
            <p:nvPr/>
          </p:nvGrpSpPr>
          <p:grpSpPr bwMode="auto">
            <a:xfrm>
              <a:off x="3794148" y="4989488"/>
              <a:ext cx="612772" cy="349249"/>
              <a:chOff x="5364189" y="6450033"/>
              <a:chExt cx="612776" cy="349251"/>
            </a:xfrm>
          </p:grpSpPr>
          <p:sp>
            <p:nvSpPr>
              <p:cNvPr id="16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7" name="Group 113"/>
            <p:cNvGrpSpPr>
              <a:grpSpLocks/>
            </p:cNvGrpSpPr>
            <p:nvPr/>
          </p:nvGrpSpPr>
          <p:grpSpPr bwMode="auto">
            <a:xfrm>
              <a:off x="800101" y="4040155"/>
              <a:ext cx="612772" cy="349249"/>
              <a:chOff x="5364189" y="6450033"/>
              <a:chExt cx="612776" cy="349251"/>
            </a:xfrm>
          </p:grpSpPr>
          <p:sp>
            <p:nvSpPr>
              <p:cNvPr id="16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8" name="Group 117"/>
            <p:cNvGrpSpPr>
              <a:grpSpLocks/>
            </p:cNvGrpSpPr>
            <p:nvPr/>
          </p:nvGrpSpPr>
          <p:grpSpPr bwMode="auto">
            <a:xfrm>
              <a:off x="1092203" y="5829282"/>
              <a:ext cx="612772" cy="349249"/>
              <a:chOff x="5364189" y="6450033"/>
              <a:chExt cx="612776" cy="349251"/>
            </a:xfrm>
          </p:grpSpPr>
          <p:sp>
            <p:nvSpPr>
              <p:cNvPr id="15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9" name="Group 121"/>
            <p:cNvGrpSpPr>
              <a:grpSpLocks/>
            </p:cNvGrpSpPr>
            <p:nvPr/>
          </p:nvGrpSpPr>
          <p:grpSpPr bwMode="auto">
            <a:xfrm>
              <a:off x="1676407" y="7691435"/>
              <a:ext cx="612772" cy="349249"/>
              <a:chOff x="5364189" y="6450033"/>
              <a:chExt cx="612776" cy="349251"/>
            </a:xfrm>
          </p:grpSpPr>
          <p:sp>
            <p:nvSpPr>
              <p:cNvPr id="15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0" name="Group 125"/>
            <p:cNvGrpSpPr>
              <a:grpSpLocks/>
            </p:cNvGrpSpPr>
            <p:nvPr/>
          </p:nvGrpSpPr>
          <p:grpSpPr bwMode="auto">
            <a:xfrm>
              <a:off x="727075" y="1338208"/>
              <a:ext cx="612772" cy="349249"/>
              <a:chOff x="5364189" y="6450033"/>
              <a:chExt cx="612776" cy="349251"/>
            </a:xfrm>
          </p:grpSpPr>
          <p:sp>
            <p:nvSpPr>
              <p:cNvPr id="15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51"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0" y="0"/>
            <a:ext cx="9906000" cy="1700213"/>
          </a:xfrm>
        </p:spPr>
        <p:txBody>
          <a:bodyPr/>
          <a:lstStyle/>
          <a:p>
            <a:pPr eaLnBrk="1" hangingPunct="1"/>
            <a:r>
              <a:rPr lang="en-GB" sz="3200" b="1" dirty="0" smtClean="0"/>
              <a:t>INTRODUCING PROJECT </a:t>
            </a:r>
            <a:r>
              <a:rPr lang="en-GB" sz="3200" b="1" i="1" dirty="0" err="1" smtClean="0"/>
              <a:t>KONRAD</a:t>
            </a:r>
            <a:endParaRPr lang="en-US" sz="3200" b="1" dirty="0" smtClean="0"/>
          </a:p>
        </p:txBody>
      </p:sp>
      <p:sp>
        <p:nvSpPr>
          <p:cNvPr id="30723" name="Rectangle 224"/>
          <p:cNvSpPr>
            <a:spLocks noChangeArrowheads="1"/>
          </p:cNvSpPr>
          <p:nvPr/>
        </p:nvSpPr>
        <p:spPr bwMode="auto">
          <a:xfrm>
            <a:off x="0" y="1773238"/>
            <a:ext cx="5524504" cy="5084762"/>
          </a:xfrm>
          <a:prstGeom prst="rect">
            <a:avLst/>
          </a:prstGeom>
          <a:noFill/>
          <a:ln w="9525">
            <a:noFill/>
            <a:miter lim="800000"/>
            <a:headEnd/>
            <a:tailEnd/>
          </a:ln>
        </p:spPr>
        <p:txBody>
          <a:bodyPr/>
          <a:lstStyle/>
          <a:p>
            <a:pPr marL="342900" indent="-342900">
              <a:spcBef>
                <a:spcPct val="20000"/>
              </a:spcBef>
              <a:buFontTx/>
              <a:buChar char="•"/>
            </a:pPr>
            <a:r>
              <a:rPr lang="en-GB" sz="2400" b="1" dirty="0" smtClean="0">
                <a:solidFill>
                  <a:srgbClr val="FF0000"/>
                </a:solidFill>
              </a:rPr>
              <a:t>BASIC DESIGN PRESUMPTION</a:t>
            </a:r>
          </a:p>
          <a:p>
            <a:pPr marL="342900" indent="-342900">
              <a:spcBef>
                <a:spcPct val="20000"/>
              </a:spcBef>
              <a:buFontTx/>
              <a:buChar char="•"/>
            </a:pPr>
            <a:r>
              <a:rPr lang="en-GB" sz="2400" b="1" i="1" dirty="0" err="1" smtClean="0"/>
              <a:t>Konrad</a:t>
            </a:r>
            <a:r>
              <a:rPr lang="en-GB" sz="2400" b="1" dirty="0" smtClean="0"/>
              <a:t> presumes that biological </a:t>
            </a:r>
            <a:r>
              <a:rPr lang="en-GB" sz="2400" b="1" dirty="0" err="1" smtClean="0"/>
              <a:t>LTM</a:t>
            </a:r>
            <a:r>
              <a:rPr lang="en-GB" sz="2400" b="1" dirty="0" smtClean="0"/>
              <a:t> exists primarily to store associations, and simulates this by storing two keys on every </a:t>
            </a:r>
            <a:r>
              <a:rPr lang="en-GB" sz="2400" b="1" dirty="0" err="1" smtClean="0"/>
              <a:t>LTM</a:t>
            </a:r>
            <a:r>
              <a:rPr lang="en-GB" sz="2400" b="1" dirty="0" smtClean="0"/>
              <a:t> record. The A-Key is received from a precursor </a:t>
            </a:r>
            <a:r>
              <a:rPr lang="en-GB" sz="2400" b="1" dirty="0" err="1" smtClean="0"/>
              <a:t>STM</a:t>
            </a:r>
            <a:r>
              <a:rPr lang="en-GB" sz="2400" b="1" dirty="0" smtClean="0"/>
              <a:t> pulse and positions the </a:t>
            </a:r>
            <a:r>
              <a:rPr lang="en-GB" sz="2400" b="1" dirty="0" err="1" smtClean="0"/>
              <a:t>LTM</a:t>
            </a:r>
            <a:r>
              <a:rPr lang="en-GB" sz="2400" b="1" dirty="0" smtClean="0"/>
              <a:t> record itself. The B-Key is copied from the </a:t>
            </a:r>
            <a:r>
              <a:rPr lang="en-GB" sz="2400" b="1" dirty="0" err="1" smtClean="0"/>
              <a:t>LTM</a:t>
            </a:r>
            <a:r>
              <a:rPr lang="en-GB" sz="2400" b="1" dirty="0" smtClean="0"/>
              <a:t> record onto an output </a:t>
            </a:r>
            <a:r>
              <a:rPr lang="en-GB" sz="2400" b="1" dirty="0" err="1" smtClean="0"/>
              <a:t>STM</a:t>
            </a:r>
            <a:r>
              <a:rPr lang="en-GB" sz="2400" b="1" dirty="0" smtClean="0"/>
              <a:t> pulse so that the process can be repeated in the next module .</a:t>
            </a:r>
            <a:endParaRPr lang="en-GB" sz="2400" b="1" dirty="0"/>
          </a:p>
        </p:txBody>
      </p:sp>
      <p:grpSp>
        <p:nvGrpSpPr>
          <p:cNvPr id="2" name="Group 97"/>
          <p:cNvGrpSpPr/>
          <p:nvPr/>
        </p:nvGrpSpPr>
        <p:grpSpPr>
          <a:xfrm>
            <a:off x="5834082" y="1500174"/>
            <a:ext cx="3762388" cy="5111754"/>
            <a:chOff x="727075" y="1065213"/>
            <a:chExt cx="6130925" cy="6975475"/>
          </a:xfrm>
        </p:grpSpPr>
        <p:sp>
          <p:nvSpPr>
            <p:cNvPr id="99"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00"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01"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02"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03"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04"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05"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06"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07"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08"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09"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10"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11"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2"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13"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14"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5"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6"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17"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8"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9"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20"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3" name="Group 8930"/>
            <p:cNvGrpSpPr>
              <a:grpSpLocks/>
            </p:cNvGrpSpPr>
            <p:nvPr/>
          </p:nvGrpSpPr>
          <p:grpSpPr bwMode="auto">
            <a:xfrm>
              <a:off x="1268447" y="5702275"/>
              <a:ext cx="1757351" cy="438148"/>
              <a:chOff x="799" y="3592"/>
              <a:chExt cx="1107" cy="276"/>
            </a:xfrm>
          </p:grpSpPr>
          <p:sp>
            <p:nvSpPr>
              <p:cNvPr id="187"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88"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22"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3"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4"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5"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6"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7"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28"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9"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30"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31"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32"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3"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34"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35"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36"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37"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38"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4" name="Group 226"/>
            <p:cNvGrpSpPr>
              <a:grpSpLocks/>
            </p:cNvGrpSpPr>
            <p:nvPr/>
          </p:nvGrpSpPr>
          <p:grpSpPr bwMode="auto">
            <a:xfrm>
              <a:off x="1854230" y="7472328"/>
              <a:ext cx="1757352" cy="471484"/>
              <a:chOff x="1420813" y="7910559"/>
              <a:chExt cx="1757362" cy="471485"/>
            </a:xfrm>
          </p:grpSpPr>
          <p:sp>
            <p:nvSpPr>
              <p:cNvPr id="185"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86"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5" name="Group 88"/>
            <p:cNvGrpSpPr>
              <a:grpSpLocks/>
            </p:cNvGrpSpPr>
            <p:nvPr/>
          </p:nvGrpSpPr>
          <p:grpSpPr bwMode="auto">
            <a:xfrm>
              <a:off x="727075" y="2798720"/>
              <a:ext cx="612772" cy="349249"/>
              <a:chOff x="5364189" y="6450033"/>
              <a:chExt cx="612776" cy="349251"/>
            </a:xfrm>
          </p:grpSpPr>
          <p:sp>
            <p:nvSpPr>
              <p:cNvPr id="18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6" name="Group 89"/>
            <p:cNvGrpSpPr>
              <a:grpSpLocks/>
            </p:cNvGrpSpPr>
            <p:nvPr/>
          </p:nvGrpSpPr>
          <p:grpSpPr bwMode="auto">
            <a:xfrm>
              <a:off x="6240505" y="4514821"/>
              <a:ext cx="612772" cy="349249"/>
              <a:chOff x="5364189" y="6450033"/>
              <a:chExt cx="612776" cy="349251"/>
            </a:xfrm>
          </p:grpSpPr>
          <p:sp>
            <p:nvSpPr>
              <p:cNvPr id="17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7" name="Group 93"/>
            <p:cNvGrpSpPr>
              <a:grpSpLocks/>
            </p:cNvGrpSpPr>
            <p:nvPr/>
          </p:nvGrpSpPr>
          <p:grpSpPr bwMode="auto">
            <a:xfrm>
              <a:off x="6245228" y="3273386"/>
              <a:ext cx="612772" cy="349249"/>
              <a:chOff x="5364189" y="6450033"/>
              <a:chExt cx="612776" cy="349251"/>
            </a:xfrm>
          </p:grpSpPr>
          <p:sp>
            <p:nvSpPr>
              <p:cNvPr id="17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8" name="Group 97"/>
            <p:cNvGrpSpPr>
              <a:grpSpLocks/>
            </p:cNvGrpSpPr>
            <p:nvPr/>
          </p:nvGrpSpPr>
          <p:grpSpPr bwMode="auto">
            <a:xfrm>
              <a:off x="5729326" y="2324053"/>
              <a:ext cx="612772" cy="349249"/>
              <a:chOff x="5364189" y="6450033"/>
              <a:chExt cx="612776" cy="349251"/>
            </a:xfrm>
          </p:grpSpPr>
          <p:sp>
            <p:nvSpPr>
              <p:cNvPr id="17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9" name="Group 101"/>
            <p:cNvGrpSpPr>
              <a:grpSpLocks/>
            </p:cNvGrpSpPr>
            <p:nvPr/>
          </p:nvGrpSpPr>
          <p:grpSpPr bwMode="auto">
            <a:xfrm>
              <a:off x="3867174" y="2324053"/>
              <a:ext cx="612772" cy="349249"/>
              <a:chOff x="5364189" y="6450033"/>
              <a:chExt cx="612776" cy="349251"/>
            </a:xfrm>
          </p:grpSpPr>
          <p:sp>
            <p:nvSpPr>
              <p:cNvPr id="17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0" name="Group 105"/>
            <p:cNvGrpSpPr>
              <a:grpSpLocks/>
            </p:cNvGrpSpPr>
            <p:nvPr/>
          </p:nvGrpSpPr>
          <p:grpSpPr bwMode="auto">
            <a:xfrm>
              <a:off x="3794148" y="3090822"/>
              <a:ext cx="612772" cy="349249"/>
              <a:chOff x="5364189" y="6450033"/>
              <a:chExt cx="612776" cy="349251"/>
            </a:xfrm>
          </p:grpSpPr>
          <p:sp>
            <p:nvSpPr>
              <p:cNvPr id="16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1" name="Group 109"/>
            <p:cNvGrpSpPr>
              <a:grpSpLocks/>
            </p:cNvGrpSpPr>
            <p:nvPr/>
          </p:nvGrpSpPr>
          <p:grpSpPr bwMode="auto">
            <a:xfrm>
              <a:off x="3794148" y="4989488"/>
              <a:ext cx="612772" cy="349249"/>
              <a:chOff x="5364189" y="6450033"/>
              <a:chExt cx="612776" cy="349251"/>
            </a:xfrm>
          </p:grpSpPr>
          <p:sp>
            <p:nvSpPr>
              <p:cNvPr id="16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2" name="Group 113"/>
            <p:cNvGrpSpPr>
              <a:grpSpLocks/>
            </p:cNvGrpSpPr>
            <p:nvPr/>
          </p:nvGrpSpPr>
          <p:grpSpPr bwMode="auto">
            <a:xfrm>
              <a:off x="800101" y="4040155"/>
              <a:ext cx="612772" cy="349249"/>
              <a:chOff x="5364189" y="6450033"/>
              <a:chExt cx="612776" cy="349251"/>
            </a:xfrm>
          </p:grpSpPr>
          <p:sp>
            <p:nvSpPr>
              <p:cNvPr id="16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3" name="Group 117"/>
            <p:cNvGrpSpPr>
              <a:grpSpLocks/>
            </p:cNvGrpSpPr>
            <p:nvPr/>
          </p:nvGrpSpPr>
          <p:grpSpPr bwMode="auto">
            <a:xfrm>
              <a:off x="1092203" y="5829282"/>
              <a:ext cx="612772" cy="349249"/>
              <a:chOff x="5364189" y="6450033"/>
              <a:chExt cx="612776" cy="349251"/>
            </a:xfrm>
          </p:grpSpPr>
          <p:sp>
            <p:nvSpPr>
              <p:cNvPr id="15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 name="Group 121"/>
            <p:cNvGrpSpPr>
              <a:grpSpLocks/>
            </p:cNvGrpSpPr>
            <p:nvPr/>
          </p:nvGrpSpPr>
          <p:grpSpPr bwMode="auto">
            <a:xfrm>
              <a:off x="1676407" y="7691435"/>
              <a:ext cx="612772" cy="349249"/>
              <a:chOff x="5364189" y="6450033"/>
              <a:chExt cx="612776" cy="349251"/>
            </a:xfrm>
          </p:grpSpPr>
          <p:sp>
            <p:nvSpPr>
              <p:cNvPr id="15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 name="Group 125"/>
            <p:cNvGrpSpPr>
              <a:grpSpLocks/>
            </p:cNvGrpSpPr>
            <p:nvPr/>
          </p:nvGrpSpPr>
          <p:grpSpPr bwMode="auto">
            <a:xfrm>
              <a:off x="727075" y="1338208"/>
              <a:ext cx="612772" cy="349249"/>
              <a:chOff x="5364189" y="6450033"/>
              <a:chExt cx="612776" cy="349251"/>
            </a:xfrm>
          </p:grpSpPr>
          <p:sp>
            <p:nvSpPr>
              <p:cNvPr id="15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51"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0" y="0"/>
            <a:ext cx="9906000" cy="1700213"/>
          </a:xfrm>
        </p:spPr>
        <p:txBody>
          <a:bodyPr/>
          <a:lstStyle/>
          <a:p>
            <a:pPr eaLnBrk="1" hangingPunct="1"/>
            <a:r>
              <a:rPr lang="en-GB" sz="3200" b="1" dirty="0" smtClean="0"/>
              <a:t>INTRODUCING PROJECT </a:t>
            </a:r>
            <a:r>
              <a:rPr lang="en-GB" sz="3200" b="1" i="1" dirty="0" err="1" smtClean="0"/>
              <a:t>KONRAD</a:t>
            </a:r>
            <a:endParaRPr lang="en-US" sz="3200" b="1" dirty="0" smtClean="0"/>
          </a:p>
        </p:txBody>
      </p:sp>
      <p:sp>
        <p:nvSpPr>
          <p:cNvPr id="30723" name="Rectangle 224"/>
          <p:cNvSpPr>
            <a:spLocks noChangeArrowheads="1"/>
          </p:cNvSpPr>
          <p:nvPr/>
        </p:nvSpPr>
        <p:spPr bwMode="auto">
          <a:xfrm>
            <a:off x="0" y="1773238"/>
            <a:ext cx="5524504" cy="4584700"/>
          </a:xfrm>
          <a:prstGeom prst="rect">
            <a:avLst/>
          </a:prstGeom>
          <a:noFill/>
          <a:ln w="9525">
            <a:noFill/>
            <a:miter lim="800000"/>
            <a:headEnd/>
            <a:tailEnd/>
          </a:ln>
        </p:spPr>
        <p:txBody>
          <a:bodyPr/>
          <a:lstStyle/>
          <a:p>
            <a:pPr marL="342900" indent="-342900">
              <a:spcBef>
                <a:spcPct val="20000"/>
              </a:spcBef>
              <a:buFontTx/>
              <a:buChar char="•"/>
            </a:pPr>
            <a:r>
              <a:rPr lang="en-GB" sz="2400" b="1" dirty="0" err="1" smtClean="0"/>
              <a:t>STM</a:t>
            </a:r>
            <a:r>
              <a:rPr lang="en-GB" sz="2400" b="1" dirty="0" smtClean="0"/>
              <a:t> records are deleted as soon as they have triggered the necessary activity downstream. </a:t>
            </a:r>
            <a:r>
              <a:rPr lang="en-GB" sz="2400" b="1" dirty="0" smtClean="0">
                <a:solidFill>
                  <a:schemeClr val="bg1">
                    <a:lumMod val="50000"/>
                  </a:schemeClr>
                </a:solidFill>
              </a:rPr>
              <a:t>[They don’t have to be, but it is truer to life.]</a:t>
            </a:r>
          </a:p>
          <a:p>
            <a:pPr marL="342900" indent="-342900">
              <a:spcBef>
                <a:spcPct val="20000"/>
              </a:spcBef>
              <a:buFontTx/>
              <a:buChar char="•"/>
            </a:pPr>
            <a:endParaRPr lang="en-GB" sz="2400" b="1" dirty="0" smtClean="0"/>
          </a:p>
          <a:p>
            <a:pPr marL="342900" indent="-342900">
              <a:spcBef>
                <a:spcPct val="20000"/>
              </a:spcBef>
              <a:buFontTx/>
              <a:buChar char="•"/>
            </a:pPr>
            <a:r>
              <a:rPr lang="en-GB" sz="2400" b="1" dirty="0" err="1" smtClean="0"/>
              <a:t>MTM</a:t>
            </a:r>
            <a:r>
              <a:rPr lang="en-GB" sz="2400" b="1" dirty="0" smtClean="0"/>
              <a:t> records will eventually form new </a:t>
            </a:r>
            <a:r>
              <a:rPr lang="en-GB" sz="2400" b="1" dirty="0" err="1" smtClean="0"/>
              <a:t>LTM</a:t>
            </a:r>
            <a:r>
              <a:rPr lang="en-GB" sz="2400" b="1" dirty="0" smtClean="0"/>
              <a:t> in a process akin to “consolidation” in biological nervous systems </a:t>
            </a:r>
            <a:r>
              <a:rPr lang="en-GB" sz="2400" b="1" dirty="0" smtClean="0">
                <a:solidFill>
                  <a:schemeClr val="bg1">
                    <a:lumMod val="50000"/>
                  </a:schemeClr>
                </a:solidFill>
              </a:rPr>
              <a:t>[this process not yet operational]</a:t>
            </a:r>
            <a:r>
              <a:rPr lang="en-GB" sz="2400" b="1" dirty="0" smtClean="0"/>
              <a:t>.</a:t>
            </a:r>
            <a:endParaRPr lang="en-GB" sz="2400" b="1" dirty="0">
              <a:solidFill>
                <a:schemeClr val="bg2"/>
              </a:solidFill>
            </a:endParaRPr>
          </a:p>
        </p:txBody>
      </p:sp>
      <p:grpSp>
        <p:nvGrpSpPr>
          <p:cNvPr id="2" name="Group 97"/>
          <p:cNvGrpSpPr/>
          <p:nvPr/>
        </p:nvGrpSpPr>
        <p:grpSpPr>
          <a:xfrm>
            <a:off x="5834082" y="1500174"/>
            <a:ext cx="3762388" cy="5111754"/>
            <a:chOff x="727075" y="1065213"/>
            <a:chExt cx="6130925" cy="6975475"/>
          </a:xfrm>
        </p:grpSpPr>
        <p:sp>
          <p:nvSpPr>
            <p:cNvPr id="99"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00"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01"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02"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03"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04"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05"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06"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07"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08"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09"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10"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11"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2"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13"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14"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5"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6"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17"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8"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9"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20"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3" name="Group 8930"/>
            <p:cNvGrpSpPr>
              <a:grpSpLocks/>
            </p:cNvGrpSpPr>
            <p:nvPr/>
          </p:nvGrpSpPr>
          <p:grpSpPr bwMode="auto">
            <a:xfrm>
              <a:off x="1268447" y="5702275"/>
              <a:ext cx="1757351" cy="438148"/>
              <a:chOff x="799" y="3592"/>
              <a:chExt cx="1107" cy="276"/>
            </a:xfrm>
          </p:grpSpPr>
          <p:sp>
            <p:nvSpPr>
              <p:cNvPr id="187"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88"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22"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3"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4"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5"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6"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7"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28"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9"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30"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31"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32"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3"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34"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35"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36"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37"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38"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4" name="Group 226"/>
            <p:cNvGrpSpPr>
              <a:grpSpLocks/>
            </p:cNvGrpSpPr>
            <p:nvPr/>
          </p:nvGrpSpPr>
          <p:grpSpPr bwMode="auto">
            <a:xfrm>
              <a:off x="1854230" y="7472328"/>
              <a:ext cx="1757352" cy="471484"/>
              <a:chOff x="1420813" y="7910559"/>
              <a:chExt cx="1757362" cy="471485"/>
            </a:xfrm>
          </p:grpSpPr>
          <p:sp>
            <p:nvSpPr>
              <p:cNvPr id="185"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86"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5" name="Group 88"/>
            <p:cNvGrpSpPr>
              <a:grpSpLocks/>
            </p:cNvGrpSpPr>
            <p:nvPr/>
          </p:nvGrpSpPr>
          <p:grpSpPr bwMode="auto">
            <a:xfrm>
              <a:off x="727075" y="2798720"/>
              <a:ext cx="612772" cy="349249"/>
              <a:chOff x="5364189" y="6450033"/>
              <a:chExt cx="612776" cy="349251"/>
            </a:xfrm>
          </p:grpSpPr>
          <p:sp>
            <p:nvSpPr>
              <p:cNvPr id="18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6" name="Group 89"/>
            <p:cNvGrpSpPr>
              <a:grpSpLocks/>
            </p:cNvGrpSpPr>
            <p:nvPr/>
          </p:nvGrpSpPr>
          <p:grpSpPr bwMode="auto">
            <a:xfrm>
              <a:off x="6240505" y="4514821"/>
              <a:ext cx="612772" cy="349249"/>
              <a:chOff x="5364189" y="6450033"/>
              <a:chExt cx="612776" cy="349251"/>
            </a:xfrm>
          </p:grpSpPr>
          <p:sp>
            <p:nvSpPr>
              <p:cNvPr id="17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7" name="Group 93"/>
            <p:cNvGrpSpPr>
              <a:grpSpLocks/>
            </p:cNvGrpSpPr>
            <p:nvPr/>
          </p:nvGrpSpPr>
          <p:grpSpPr bwMode="auto">
            <a:xfrm>
              <a:off x="6245228" y="3273386"/>
              <a:ext cx="612772" cy="349249"/>
              <a:chOff x="5364189" y="6450033"/>
              <a:chExt cx="612776" cy="349251"/>
            </a:xfrm>
          </p:grpSpPr>
          <p:sp>
            <p:nvSpPr>
              <p:cNvPr id="17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8" name="Group 97"/>
            <p:cNvGrpSpPr>
              <a:grpSpLocks/>
            </p:cNvGrpSpPr>
            <p:nvPr/>
          </p:nvGrpSpPr>
          <p:grpSpPr bwMode="auto">
            <a:xfrm>
              <a:off x="5729326" y="2324053"/>
              <a:ext cx="612772" cy="349249"/>
              <a:chOff x="5364189" y="6450033"/>
              <a:chExt cx="612776" cy="349251"/>
            </a:xfrm>
          </p:grpSpPr>
          <p:sp>
            <p:nvSpPr>
              <p:cNvPr id="17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9" name="Group 101"/>
            <p:cNvGrpSpPr>
              <a:grpSpLocks/>
            </p:cNvGrpSpPr>
            <p:nvPr/>
          </p:nvGrpSpPr>
          <p:grpSpPr bwMode="auto">
            <a:xfrm>
              <a:off x="3867174" y="2324053"/>
              <a:ext cx="612772" cy="349249"/>
              <a:chOff x="5364189" y="6450033"/>
              <a:chExt cx="612776" cy="349251"/>
            </a:xfrm>
          </p:grpSpPr>
          <p:sp>
            <p:nvSpPr>
              <p:cNvPr id="17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0" name="Group 105"/>
            <p:cNvGrpSpPr>
              <a:grpSpLocks/>
            </p:cNvGrpSpPr>
            <p:nvPr/>
          </p:nvGrpSpPr>
          <p:grpSpPr bwMode="auto">
            <a:xfrm>
              <a:off x="3794148" y="3090822"/>
              <a:ext cx="612772" cy="349249"/>
              <a:chOff x="5364189" y="6450033"/>
              <a:chExt cx="612776" cy="349251"/>
            </a:xfrm>
          </p:grpSpPr>
          <p:sp>
            <p:nvSpPr>
              <p:cNvPr id="16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1" name="Group 109"/>
            <p:cNvGrpSpPr>
              <a:grpSpLocks/>
            </p:cNvGrpSpPr>
            <p:nvPr/>
          </p:nvGrpSpPr>
          <p:grpSpPr bwMode="auto">
            <a:xfrm>
              <a:off x="3794148" y="4989488"/>
              <a:ext cx="612772" cy="349249"/>
              <a:chOff x="5364189" y="6450033"/>
              <a:chExt cx="612776" cy="349251"/>
            </a:xfrm>
          </p:grpSpPr>
          <p:sp>
            <p:nvSpPr>
              <p:cNvPr id="16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2" name="Group 113"/>
            <p:cNvGrpSpPr>
              <a:grpSpLocks/>
            </p:cNvGrpSpPr>
            <p:nvPr/>
          </p:nvGrpSpPr>
          <p:grpSpPr bwMode="auto">
            <a:xfrm>
              <a:off x="800101" y="4040155"/>
              <a:ext cx="612772" cy="349249"/>
              <a:chOff x="5364189" y="6450033"/>
              <a:chExt cx="612776" cy="349251"/>
            </a:xfrm>
          </p:grpSpPr>
          <p:sp>
            <p:nvSpPr>
              <p:cNvPr id="16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3" name="Group 117"/>
            <p:cNvGrpSpPr>
              <a:grpSpLocks/>
            </p:cNvGrpSpPr>
            <p:nvPr/>
          </p:nvGrpSpPr>
          <p:grpSpPr bwMode="auto">
            <a:xfrm>
              <a:off x="1092203" y="5829282"/>
              <a:ext cx="612772" cy="349249"/>
              <a:chOff x="5364189" y="6450033"/>
              <a:chExt cx="612776" cy="349251"/>
            </a:xfrm>
          </p:grpSpPr>
          <p:sp>
            <p:nvSpPr>
              <p:cNvPr id="15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 name="Group 121"/>
            <p:cNvGrpSpPr>
              <a:grpSpLocks/>
            </p:cNvGrpSpPr>
            <p:nvPr/>
          </p:nvGrpSpPr>
          <p:grpSpPr bwMode="auto">
            <a:xfrm>
              <a:off x="1676407" y="7691435"/>
              <a:ext cx="612772" cy="349249"/>
              <a:chOff x="5364189" y="6450033"/>
              <a:chExt cx="612776" cy="349251"/>
            </a:xfrm>
          </p:grpSpPr>
          <p:sp>
            <p:nvSpPr>
              <p:cNvPr id="15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 name="Group 125"/>
            <p:cNvGrpSpPr>
              <a:grpSpLocks/>
            </p:cNvGrpSpPr>
            <p:nvPr/>
          </p:nvGrpSpPr>
          <p:grpSpPr bwMode="auto">
            <a:xfrm>
              <a:off x="727075" y="1338208"/>
              <a:ext cx="612772" cy="349249"/>
              <a:chOff x="5364189" y="6450033"/>
              <a:chExt cx="612776" cy="349251"/>
            </a:xfrm>
          </p:grpSpPr>
          <p:sp>
            <p:nvSpPr>
              <p:cNvPr id="15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51"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0" y="0"/>
            <a:ext cx="9906000" cy="1700213"/>
          </a:xfrm>
        </p:spPr>
        <p:txBody>
          <a:bodyPr/>
          <a:lstStyle/>
          <a:p>
            <a:pPr eaLnBrk="1" hangingPunct="1"/>
            <a:r>
              <a:rPr lang="en-GB" sz="3200" b="1" dirty="0" smtClean="0"/>
              <a:t>INTRODUCING PROJECT </a:t>
            </a:r>
            <a:r>
              <a:rPr lang="en-GB" sz="3200" b="1" i="1" dirty="0" err="1" smtClean="0"/>
              <a:t>KONRAD</a:t>
            </a:r>
            <a:endParaRPr lang="en-US" sz="3200" b="1" dirty="0" smtClean="0"/>
          </a:p>
        </p:txBody>
      </p:sp>
      <p:sp>
        <p:nvSpPr>
          <p:cNvPr id="30723" name="Rectangle 224"/>
          <p:cNvSpPr>
            <a:spLocks noChangeArrowheads="1"/>
          </p:cNvSpPr>
          <p:nvPr/>
        </p:nvSpPr>
        <p:spPr bwMode="auto">
          <a:xfrm>
            <a:off x="0" y="1773238"/>
            <a:ext cx="5524504" cy="4870472"/>
          </a:xfrm>
          <a:prstGeom prst="rect">
            <a:avLst/>
          </a:prstGeom>
          <a:noFill/>
          <a:ln w="9525">
            <a:noFill/>
            <a:miter lim="800000"/>
            <a:headEnd/>
            <a:tailEnd/>
          </a:ln>
        </p:spPr>
        <p:txBody>
          <a:bodyPr/>
          <a:lstStyle/>
          <a:p>
            <a:pPr marL="342900" indent="-342900">
              <a:spcBef>
                <a:spcPct val="20000"/>
              </a:spcBef>
              <a:buFontTx/>
              <a:buChar char="•"/>
            </a:pPr>
            <a:r>
              <a:rPr lang="en-GB" sz="2400" b="1" dirty="0" smtClean="0">
                <a:solidFill>
                  <a:srgbClr val="FF0000"/>
                </a:solidFill>
              </a:rPr>
              <a:t>BASIC PHILOSOPHY</a:t>
            </a:r>
          </a:p>
          <a:p>
            <a:pPr marL="342900" indent="-342900">
              <a:spcBef>
                <a:spcPct val="20000"/>
              </a:spcBef>
              <a:buFontTx/>
              <a:buChar char="•"/>
            </a:pPr>
            <a:r>
              <a:rPr lang="en-GB" sz="2400" b="1" dirty="0" smtClean="0"/>
              <a:t>No module “knows” anything about anything. It exists just to turn inputs into outputs according to the key-paired associations stored within it.</a:t>
            </a:r>
          </a:p>
          <a:p>
            <a:pPr marL="342900" indent="-342900">
              <a:spcBef>
                <a:spcPct val="20000"/>
              </a:spcBef>
              <a:buFontTx/>
              <a:buChar char="•"/>
            </a:pPr>
            <a:endParaRPr lang="en-GB" sz="2400" b="1" dirty="0" smtClean="0"/>
          </a:p>
          <a:p>
            <a:pPr marL="342900" indent="-342900">
              <a:spcBef>
                <a:spcPct val="20000"/>
              </a:spcBef>
              <a:buFontTx/>
              <a:buChar char="•"/>
            </a:pPr>
            <a:r>
              <a:rPr lang="en-GB" sz="2400" b="1" dirty="0" smtClean="0"/>
              <a:t>However, the architecture as a whole is designed to be greater than the sum of its parts in a systems sense.</a:t>
            </a:r>
            <a:endParaRPr lang="en-GB" sz="2400" b="1" dirty="0"/>
          </a:p>
        </p:txBody>
      </p:sp>
      <p:grpSp>
        <p:nvGrpSpPr>
          <p:cNvPr id="2" name="Group 97"/>
          <p:cNvGrpSpPr/>
          <p:nvPr/>
        </p:nvGrpSpPr>
        <p:grpSpPr>
          <a:xfrm>
            <a:off x="5834082" y="1500174"/>
            <a:ext cx="3762388" cy="5111754"/>
            <a:chOff x="727075" y="1065213"/>
            <a:chExt cx="6130925" cy="6975475"/>
          </a:xfrm>
        </p:grpSpPr>
        <p:sp>
          <p:nvSpPr>
            <p:cNvPr id="99"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00"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01"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02"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03"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04"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05"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06"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07"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08"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09"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10"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11"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2"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13"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14"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5"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6"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17"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8"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9"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20"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3" name="Group 8930"/>
            <p:cNvGrpSpPr>
              <a:grpSpLocks/>
            </p:cNvGrpSpPr>
            <p:nvPr/>
          </p:nvGrpSpPr>
          <p:grpSpPr bwMode="auto">
            <a:xfrm>
              <a:off x="1268447" y="5702275"/>
              <a:ext cx="1757351" cy="438148"/>
              <a:chOff x="799" y="3592"/>
              <a:chExt cx="1107" cy="276"/>
            </a:xfrm>
          </p:grpSpPr>
          <p:sp>
            <p:nvSpPr>
              <p:cNvPr id="187"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88"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22"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3"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4"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5"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6"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7"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28"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9"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30"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31"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32"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3"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34"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35"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36"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37"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38"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4" name="Group 226"/>
            <p:cNvGrpSpPr>
              <a:grpSpLocks/>
            </p:cNvGrpSpPr>
            <p:nvPr/>
          </p:nvGrpSpPr>
          <p:grpSpPr bwMode="auto">
            <a:xfrm>
              <a:off x="1854230" y="7472328"/>
              <a:ext cx="1757352" cy="471484"/>
              <a:chOff x="1420813" y="7910559"/>
              <a:chExt cx="1757362" cy="471485"/>
            </a:xfrm>
          </p:grpSpPr>
          <p:sp>
            <p:nvSpPr>
              <p:cNvPr id="185"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86"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5" name="Group 88"/>
            <p:cNvGrpSpPr>
              <a:grpSpLocks/>
            </p:cNvGrpSpPr>
            <p:nvPr/>
          </p:nvGrpSpPr>
          <p:grpSpPr bwMode="auto">
            <a:xfrm>
              <a:off x="727075" y="2798720"/>
              <a:ext cx="612772" cy="349249"/>
              <a:chOff x="5364189" y="6450033"/>
              <a:chExt cx="612776" cy="349251"/>
            </a:xfrm>
          </p:grpSpPr>
          <p:sp>
            <p:nvSpPr>
              <p:cNvPr id="18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6" name="Group 89"/>
            <p:cNvGrpSpPr>
              <a:grpSpLocks/>
            </p:cNvGrpSpPr>
            <p:nvPr/>
          </p:nvGrpSpPr>
          <p:grpSpPr bwMode="auto">
            <a:xfrm>
              <a:off x="6240505" y="4514821"/>
              <a:ext cx="612772" cy="349249"/>
              <a:chOff x="5364189" y="6450033"/>
              <a:chExt cx="612776" cy="349251"/>
            </a:xfrm>
          </p:grpSpPr>
          <p:sp>
            <p:nvSpPr>
              <p:cNvPr id="17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7" name="Group 93"/>
            <p:cNvGrpSpPr>
              <a:grpSpLocks/>
            </p:cNvGrpSpPr>
            <p:nvPr/>
          </p:nvGrpSpPr>
          <p:grpSpPr bwMode="auto">
            <a:xfrm>
              <a:off x="6245228" y="3273386"/>
              <a:ext cx="612772" cy="349249"/>
              <a:chOff x="5364189" y="6450033"/>
              <a:chExt cx="612776" cy="349251"/>
            </a:xfrm>
          </p:grpSpPr>
          <p:sp>
            <p:nvSpPr>
              <p:cNvPr id="17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8" name="Group 97"/>
            <p:cNvGrpSpPr>
              <a:grpSpLocks/>
            </p:cNvGrpSpPr>
            <p:nvPr/>
          </p:nvGrpSpPr>
          <p:grpSpPr bwMode="auto">
            <a:xfrm>
              <a:off x="5729326" y="2324053"/>
              <a:ext cx="612772" cy="349249"/>
              <a:chOff x="5364189" y="6450033"/>
              <a:chExt cx="612776" cy="349251"/>
            </a:xfrm>
          </p:grpSpPr>
          <p:sp>
            <p:nvSpPr>
              <p:cNvPr id="17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9" name="Group 101"/>
            <p:cNvGrpSpPr>
              <a:grpSpLocks/>
            </p:cNvGrpSpPr>
            <p:nvPr/>
          </p:nvGrpSpPr>
          <p:grpSpPr bwMode="auto">
            <a:xfrm>
              <a:off x="3867174" y="2324053"/>
              <a:ext cx="612772" cy="349249"/>
              <a:chOff x="5364189" y="6450033"/>
              <a:chExt cx="612776" cy="349251"/>
            </a:xfrm>
          </p:grpSpPr>
          <p:sp>
            <p:nvSpPr>
              <p:cNvPr id="17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0" name="Group 105"/>
            <p:cNvGrpSpPr>
              <a:grpSpLocks/>
            </p:cNvGrpSpPr>
            <p:nvPr/>
          </p:nvGrpSpPr>
          <p:grpSpPr bwMode="auto">
            <a:xfrm>
              <a:off x="3794148" y="3090822"/>
              <a:ext cx="612772" cy="349249"/>
              <a:chOff x="5364189" y="6450033"/>
              <a:chExt cx="612776" cy="349251"/>
            </a:xfrm>
          </p:grpSpPr>
          <p:sp>
            <p:nvSpPr>
              <p:cNvPr id="16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1" name="Group 109"/>
            <p:cNvGrpSpPr>
              <a:grpSpLocks/>
            </p:cNvGrpSpPr>
            <p:nvPr/>
          </p:nvGrpSpPr>
          <p:grpSpPr bwMode="auto">
            <a:xfrm>
              <a:off x="3794148" y="4989488"/>
              <a:ext cx="612772" cy="349249"/>
              <a:chOff x="5364189" y="6450033"/>
              <a:chExt cx="612776" cy="349251"/>
            </a:xfrm>
          </p:grpSpPr>
          <p:sp>
            <p:nvSpPr>
              <p:cNvPr id="16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2" name="Group 113"/>
            <p:cNvGrpSpPr>
              <a:grpSpLocks/>
            </p:cNvGrpSpPr>
            <p:nvPr/>
          </p:nvGrpSpPr>
          <p:grpSpPr bwMode="auto">
            <a:xfrm>
              <a:off x="800101" y="4040155"/>
              <a:ext cx="612772" cy="349249"/>
              <a:chOff x="5364189" y="6450033"/>
              <a:chExt cx="612776" cy="349251"/>
            </a:xfrm>
          </p:grpSpPr>
          <p:sp>
            <p:nvSpPr>
              <p:cNvPr id="16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3" name="Group 117"/>
            <p:cNvGrpSpPr>
              <a:grpSpLocks/>
            </p:cNvGrpSpPr>
            <p:nvPr/>
          </p:nvGrpSpPr>
          <p:grpSpPr bwMode="auto">
            <a:xfrm>
              <a:off x="1092203" y="5829282"/>
              <a:ext cx="612772" cy="349249"/>
              <a:chOff x="5364189" y="6450033"/>
              <a:chExt cx="612776" cy="349251"/>
            </a:xfrm>
          </p:grpSpPr>
          <p:sp>
            <p:nvSpPr>
              <p:cNvPr id="15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 name="Group 121"/>
            <p:cNvGrpSpPr>
              <a:grpSpLocks/>
            </p:cNvGrpSpPr>
            <p:nvPr/>
          </p:nvGrpSpPr>
          <p:grpSpPr bwMode="auto">
            <a:xfrm>
              <a:off x="1676407" y="7691435"/>
              <a:ext cx="612772" cy="349249"/>
              <a:chOff x="5364189" y="6450033"/>
              <a:chExt cx="612776" cy="349251"/>
            </a:xfrm>
          </p:grpSpPr>
          <p:sp>
            <p:nvSpPr>
              <p:cNvPr id="15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 name="Group 125"/>
            <p:cNvGrpSpPr>
              <a:grpSpLocks/>
            </p:cNvGrpSpPr>
            <p:nvPr/>
          </p:nvGrpSpPr>
          <p:grpSpPr bwMode="auto">
            <a:xfrm>
              <a:off x="727075" y="1338208"/>
              <a:ext cx="612772" cy="349249"/>
              <a:chOff x="5364189" y="6450033"/>
              <a:chExt cx="612776" cy="349251"/>
            </a:xfrm>
          </p:grpSpPr>
          <p:sp>
            <p:nvSpPr>
              <p:cNvPr id="15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51"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0" y="0"/>
            <a:ext cx="9906000" cy="1700213"/>
          </a:xfrm>
        </p:spPr>
        <p:txBody>
          <a:bodyPr/>
          <a:lstStyle/>
          <a:p>
            <a:pPr eaLnBrk="1" hangingPunct="1"/>
            <a:r>
              <a:rPr lang="en-GB" sz="3200" b="1" smtClean="0"/>
              <a:t>INTRODUCING PROJECT </a:t>
            </a:r>
            <a:r>
              <a:rPr lang="en-GB" sz="3200" b="1" i="1" smtClean="0"/>
              <a:t>KONRAD</a:t>
            </a:r>
            <a:endParaRPr lang="en-US" sz="3200" b="1" smtClean="0"/>
          </a:p>
        </p:txBody>
      </p:sp>
      <p:sp>
        <p:nvSpPr>
          <p:cNvPr id="31747" name="AutoShape 29"/>
          <p:cNvSpPr>
            <a:spLocks noChangeArrowheads="1"/>
          </p:cNvSpPr>
          <p:nvPr/>
        </p:nvSpPr>
        <p:spPr bwMode="auto">
          <a:xfrm>
            <a:off x="3309938" y="5805488"/>
            <a:ext cx="2714625" cy="1052512"/>
          </a:xfrm>
          <a:prstGeom prst="wedgeRoundRectCallout">
            <a:avLst>
              <a:gd name="adj1" fmla="val -29861"/>
              <a:gd name="adj2" fmla="val -177301"/>
              <a:gd name="adj3" fmla="val 16667"/>
            </a:avLst>
          </a:prstGeom>
          <a:solidFill>
            <a:schemeClr val="accent1"/>
          </a:solidFill>
          <a:ln w="9525">
            <a:solidFill>
              <a:schemeClr val="tx1"/>
            </a:solidFill>
            <a:miter lim="800000"/>
            <a:headEnd/>
            <a:tailEnd/>
          </a:ln>
        </p:spPr>
        <p:txBody>
          <a:bodyPr/>
          <a:lstStyle/>
          <a:p>
            <a:pPr algn="ctr"/>
            <a:r>
              <a:rPr lang="en-GB" b="1"/>
              <a:t>This is the Main Update Program. It does the "thinking".</a:t>
            </a:r>
          </a:p>
        </p:txBody>
      </p:sp>
      <p:sp>
        <p:nvSpPr>
          <p:cNvPr id="31748" name="AutoShape 32"/>
          <p:cNvSpPr>
            <a:spLocks noChangeArrowheads="1"/>
          </p:cNvSpPr>
          <p:nvPr/>
        </p:nvSpPr>
        <p:spPr bwMode="auto">
          <a:xfrm>
            <a:off x="7185025" y="1916113"/>
            <a:ext cx="2233613" cy="1012825"/>
          </a:xfrm>
          <a:prstGeom prst="wedgeRoundRectCallout">
            <a:avLst>
              <a:gd name="adj1" fmla="val -112574"/>
              <a:gd name="adj2" fmla="val 142343"/>
              <a:gd name="adj3" fmla="val 16667"/>
            </a:avLst>
          </a:prstGeom>
          <a:solidFill>
            <a:srgbClr val="FFC000"/>
          </a:solidFill>
          <a:ln w="9525">
            <a:solidFill>
              <a:schemeClr val="tx1"/>
            </a:solidFill>
            <a:miter lim="800000"/>
            <a:headEnd/>
            <a:tailEnd/>
          </a:ln>
        </p:spPr>
        <p:txBody>
          <a:bodyPr/>
          <a:lstStyle/>
          <a:p>
            <a:pPr algn="ctr"/>
            <a:r>
              <a:rPr lang="en-GB" b="1"/>
              <a:t>And here is the promised Print Out</a:t>
            </a:r>
          </a:p>
        </p:txBody>
      </p:sp>
      <p:grpSp>
        <p:nvGrpSpPr>
          <p:cNvPr id="31749" name="Group 34"/>
          <p:cNvGrpSpPr>
            <a:grpSpLocks/>
          </p:cNvGrpSpPr>
          <p:nvPr/>
        </p:nvGrpSpPr>
        <p:grpSpPr bwMode="auto">
          <a:xfrm>
            <a:off x="2000250" y="1916113"/>
            <a:ext cx="6264275" cy="4264025"/>
            <a:chOff x="1690" y="658"/>
            <a:chExt cx="14696" cy="10261"/>
          </a:xfrm>
        </p:grpSpPr>
        <p:sp>
          <p:nvSpPr>
            <p:cNvPr id="31752" name="AutoShape 35"/>
            <p:cNvSpPr>
              <a:spLocks noChangeArrowheads="1"/>
            </p:cNvSpPr>
            <p:nvPr/>
          </p:nvSpPr>
          <p:spPr bwMode="auto">
            <a:xfrm>
              <a:off x="3368" y="975"/>
              <a:ext cx="5353" cy="2359"/>
            </a:xfrm>
            <a:prstGeom prst="flowChartMagneticDisk">
              <a:avLst/>
            </a:prstGeom>
            <a:solidFill>
              <a:srgbClr val="FF0000"/>
            </a:solidFill>
            <a:ln w="9525">
              <a:solidFill>
                <a:schemeClr val="tx1"/>
              </a:solidFill>
              <a:round/>
              <a:headEnd/>
              <a:tailEnd/>
            </a:ln>
          </p:spPr>
          <p:txBody>
            <a:bodyPr wrap="none" anchor="ctr"/>
            <a:lstStyle/>
            <a:p>
              <a:pPr algn="ctr" defTabSz="2817813"/>
              <a:r>
                <a:rPr lang="en-GB" sz="400" b="1">
                  <a:cs typeface="Arial" charset="0"/>
                </a:rPr>
                <a:t>THE KONRAD2 DATABASE</a:t>
              </a:r>
            </a:p>
            <a:p>
              <a:pPr algn="ctr" defTabSz="2817813"/>
              <a:endParaRPr lang="en-GB" sz="400" b="1">
                <a:cs typeface="Arial" charset="0"/>
              </a:endParaRPr>
            </a:p>
            <a:p>
              <a:pPr algn="ctr" defTabSz="2817813"/>
              <a:endParaRPr lang="en-US" sz="400" b="1">
                <a:cs typeface="Arial" charset="0"/>
              </a:endParaRPr>
            </a:p>
          </p:txBody>
        </p:sp>
        <p:sp>
          <p:nvSpPr>
            <p:cNvPr id="31753" name="Rectangle 36"/>
            <p:cNvSpPr>
              <a:spLocks noChangeArrowheads="1"/>
            </p:cNvSpPr>
            <p:nvPr/>
          </p:nvSpPr>
          <p:spPr bwMode="auto">
            <a:xfrm>
              <a:off x="5183" y="5647"/>
              <a:ext cx="1860" cy="998"/>
            </a:xfrm>
            <a:prstGeom prst="rect">
              <a:avLst/>
            </a:prstGeom>
            <a:solidFill>
              <a:srgbClr val="FF0000"/>
            </a:solidFill>
            <a:ln w="9525">
              <a:solidFill>
                <a:schemeClr val="tx1"/>
              </a:solidFill>
              <a:miter lim="800000"/>
              <a:headEnd/>
              <a:tailEnd/>
            </a:ln>
          </p:spPr>
          <p:txBody>
            <a:bodyPr wrap="none" anchor="ctr"/>
            <a:lstStyle/>
            <a:p>
              <a:pPr algn="ctr" defTabSz="2817813"/>
              <a:r>
                <a:rPr lang="en-GB" sz="400" b="1">
                  <a:cs typeface="Arial" charset="0"/>
                </a:rPr>
                <a:t>KONRAD2</a:t>
              </a:r>
            </a:p>
            <a:p>
              <a:pPr algn="ctr" defTabSz="2817813"/>
              <a:r>
                <a:rPr lang="en-GB" sz="400" b="1">
                  <a:cs typeface="Arial" charset="0"/>
                </a:rPr>
                <a:t>MAIN</a:t>
              </a:r>
              <a:endParaRPr lang="en-US" sz="400" b="1">
                <a:cs typeface="Arial" charset="0"/>
              </a:endParaRPr>
            </a:p>
          </p:txBody>
        </p:sp>
        <p:sp>
          <p:nvSpPr>
            <p:cNvPr id="31754" name="AutoShape 37"/>
            <p:cNvSpPr>
              <a:spLocks noChangeArrowheads="1"/>
            </p:cNvSpPr>
            <p:nvPr/>
          </p:nvSpPr>
          <p:spPr bwMode="auto">
            <a:xfrm>
              <a:off x="2506" y="5420"/>
              <a:ext cx="862" cy="1406"/>
            </a:xfrm>
            <a:prstGeom prst="can">
              <a:avLst>
                <a:gd name="adj" fmla="val 40777"/>
              </a:avLst>
            </a:prstGeom>
            <a:solidFill>
              <a:srgbClr val="FF0000"/>
            </a:solidFill>
            <a:ln w="9525">
              <a:solidFill>
                <a:schemeClr val="tx1"/>
              </a:solidFill>
              <a:round/>
              <a:headEnd/>
              <a:tailEnd/>
            </a:ln>
          </p:spPr>
          <p:txBody>
            <a:bodyPr wrap="none" anchor="ctr"/>
            <a:lstStyle/>
            <a:p>
              <a:pPr algn="ctr" defTabSz="2817813"/>
              <a:r>
                <a:rPr lang="en-GB" sz="400">
                  <a:cs typeface="Arial" charset="0"/>
                </a:rPr>
                <a:t>COMMANDS</a:t>
              </a:r>
            </a:p>
            <a:p>
              <a:pPr algn="ctr" defTabSz="2817813"/>
              <a:r>
                <a:rPr lang="en-GB" sz="400">
                  <a:cs typeface="Arial" charset="0"/>
                </a:rPr>
                <a:t>FILE</a:t>
              </a:r>
            </a:p>
            <a:p>
              <a:pPr algn="ctr" defTabSz="2817813"/>
              <a:r>
                <a:rPr lang="en-GB" sz="400">
                  <a:cs typeface="Arial" charset="0"/>
                </a:rPr>
                <a:t>(Input H01234T</a:t>
              </a:r>
            </a:p>
            <a:p>
              <a:pPr algn="ctr" defTabSz="2817813"/>
              <a:r>
                <a:rPr lang="en-GB" sz="400">
                  <a:cs typeface="Arial" charset="0"/>
                </a:rPr>
                <a:t>VSAM Dataset)</a:t>
              </a:r>
              <a:endParaRPr lang="en-US" sz="400">
                <a:cs typeface="Arial" charset="0"/>
              </a:endParaRPr>
            </a:p>
          </p:txBody>
        </p:sp>
        <p:sp>
          <p:nvSpPr>
            <p:cNvPr id="31755" name="AutoShape 38"/>
            <p:cNvSpPr>
              <a:spLocks noChangeArrowheads="1"/>
            </p:cNvSpPr>
            <p:nvPr/>
          </p:nvSpPr>
          <p:spPr bwMode="auto">
            <a:xfrm>
              <a:off x="8584" y="5421"/>
              <a:ext cx="1814" cy="1270"/>
            </a:xfrm>
            <a:prstGeom prst="flowChartMultidocument">
              <a:avLst/>
            </a:prstGeom>
            <a:solidFill>
              <a:srgbClr val="FF0000"/>
            </a:solidFill>
            <a:ln w="9525">
              <a:solidFill>
                <a:schemeClr val="tx1"/>
              </a:solidFill>
              <a:miter lim="800000"/>
              <a:headEnd/>
              <a:tailEnd/>
            </a:ln>
          </p:spPr>
          <p:txBody>
            <a:bodyPr wrap="none" anchor="ctr"/>
            <a:lstStyle/>
            <a:p>
              <a:pPr algn="ctr" defTabSz="2817813"/>
              <a:r>
                <a:rPr lang="en-GB" sz="400">
                  <a:cs typeface="Arial" charset="0"/>
                </a:rPr>
                <a:t>LOG A/B/C/[D/E]</a:t>
              </a:r>
              <a:endParaRPr lang="en-US" sz="400">
                <a:cs typeface="Arial" charset="0"/>
              </a:endParaRPr>
            </a:p>
          </p:txBody>
        </p:sp>
        <p:sp>
          <p:nvSpPr>
            <p:cNvPr id="31756" name="Line 39"/>
            <p:cNvSpPr>
              <a:spLocks noChangeShapeType="1"/>
            </p:cNvSpPr>
            <p:nvPr/>
          </p:nvSpPr>
          <p:spPr bwMode="auto">
            <a:xfrm>
              <a:off x="3368" y="6146"/>
              <a:ext cx="1815" cy="0"/>
            </a:xfrm>
            <a:prstGeom prst="line">
              <a:avLst/>
            </a:prstGeom>
            <a:noFill/>
            <a:ln w="9525">
              <a:solidFill>
                <a:schemeClr val="tx1"/>
              </a:solidFill>
              <a:round/>
              <a:headEnd/>
              <a:tailEnd type="triangle" w="med" len="med"/>
            </a:ln>
          </p:spPr>
          <p:txBody>
            <a:bodyPr/>
            <a:lstStyle/>
            <a:p>
              <a:endParaRPr lang="en-GB"/>
            </a:p>
          </p:txBody>
        </p:sp>
        <p:grpSp>
          <p:nvGrpSpPr>
            <p:cNvPr id="31757" name="Group 40"/>
            <p:cNvGrpSpPr>
              <a:grpSpLocks/>
            </p:cNvGrpSpPr>
            <p:nvPr/>
          </p:nvGrpSpPr>
          <p:grpSpPr bwMode="auto">
            <a:xfrm>
              <a:off x="5954" y="3334"/>
              <a:ext cx="362" cy="2313"/>
              <a:chOff x="5954" y="3334"/>
              <a:chExt cx="362" cy="3402"/>
            </a:xfrm>
          </p:grpSpPr>
          <p:sp>
            <p:nvSpPr>
              <p:cNvPr id="31789" name="Line 41"/>
              <p:cNvSpPr>
                <a:spLocks noChangeShapeType="1"/>
              </p:cNvSpPr>
              <p:nvPr/>
            </p:nvSpPr>
            <p:spPr bwMode="auto">
              <a:xfrm flipV="1">
                <a:off x="5954" y="3334"/>
                <a:ext cx="0" cy="3402"/>
              </a:xfrm>
              <a:prstGeom prst="line">
                <a:avLst/>
              </a:prstGeom>
              <a:noFill/>
              <a:ln w="9525">
                <a:solidFill>
                  <a:schemeClr val="tx1"/>
                </a:solidFill>
                <a:round/>
                <a:headEnd/>
                <a:tailEnd type="triangle" w="med" len="med"/>
              </a:ln>
            </p:spPr>
            <p:txBody>
              <a:bodyPr/>
              <a:lstStyle/>
              <a:p>
                <a:endParaRPr lang="en-GB"/>
              </a:p>
            </p:txBody>
          </p:sp>
          <p:sp>
            <p:nvSpPr>
              <p:cNvPr id="31790" name="Line 42"/>
              <p:cNvSpPr>
                <a:spLocks noChangeShapeType="1"/>
              </p:cNvSpPr>
              <p:nvPr/>
            </p:nvSpPr>
            <p:spPr bwMode="auto">
              <a:xfrm>
                <a:off x="6316" y="3334"/>
                <a:ext cx="0" cy="3402"/>
              </a:xfrm>
              <a:prstGeom prst="line">
                <a:avLst/>
              </a:prstGeom>
              <a:noFill/>
              <a:ln w="9525">
                <a:solidFill>
                  <a:schemeClr val="tx1"/>
                </a:solidFill>
                <a:round/>
                <a:headEnd/>
                <a:tailEnd type="triangle" w="med" len="med"/>
              </a:ln>
            </p:spPr>
            <p:txBody>
              <a:bodyPr/>
              <a:lstStyle/>
              <a:p>
                <a:endParaRPr lang="en-GB"/>
              </a:p>
            </p:txBody>
          </p:sp>
        </p:grpSp>
        <p:sp>
          <p:nvSpPr>
            <p:cNvPr id="31758" name="AutoShape 43"/>
            <p:cNvSpPr>
              <a:spLocks noChangeArrowheads="1"/>
            </p:cNvSpPr>
            <p:nvPr/>
          </p:nvSpPr>
          <p:spPr bwMode="auto">
            <a:xfrm>
              <a:off x="1871" y="7915"/>
              <a:ext cx="1588" cy="816"/>
            </a:xfrm>
            <a:prstGeom prst="flowChartDisplay">
              <a:avLst/>
            </a:prstGeom>
            <a:solidFill>
              <a:srgbClr val="DDDDDD"/>
            </a:solidFill>
            <a:ln w="9525">
              <a:solidFill>
                <a:schemeClr val="tx1"/>
              </a:solidFill>
              <a:miter lim="800000"/>
              <a:headEnd/>
              <a:tailEnd/>
            </a:ln>
          </p:spPr>
          <p:txBody>
            <a:bodyPr wrap="none" anchor="ctr"/>
            <a:lstStyle/>
            <a:p>
              <a:pPr algn="ctr" defTabSz="2817813"/>
              <a:r>
                <a:rPr lang="en-GB" sz="400">
                  <a:cs typeface="Arial" charset="0"/>
                </a:rPr>
                <a:t>CONSOLE</a:t>
              </a:r>
            </a:p>
            <a:p>
              <a:pPr algn="ctr" defTabSz="2817813"/>
              <a:r>
                <a:rPr lang="en-GB" sz="400">
                  <a:cs typeface="Arial" charset="0"/>
                </a:rPr>
                <a:t>COMMAND</a:t>
              </a:r>
              <a:endParaRPr lang="en-US" sz="400">
                <a:cs typeface="Arial" charset="0"/>
              </a:endParaRPr>
            </a:p>
          </p:txBody>
        </p:sp>
        <p:sp>
          <p:nvSpPr>
            <p:cNvPr id="31759" name="Line 44"/>
            <p:cNvSpPr>
              <a:spLocks noChangeShapeType="1"/>
            </p:cNvSpPr>
            <p:nvPr/>
          </p:nvSpPr>
          <p:spPr bwMode="auto">
            <a:xfrm flipV="1">
              <a:off x="3323" y="6554"/>
              <a:ext cx="1860" cy="1406"/>
            </a:xfrm>
            <a:prstGeom prst="line">
              <a:avLst/>
            </a:prstGeom>
            <a:noFill/>
            <a:ln w="9525">
              <a:solidFill>
                <a:schemeClr val="tx1"/>
              </a:solidFill>
              <a:prstDash val="dash"/>
              <a:round/>
              <a:headEnd/>
              <a:tailEnd/>
            </a:ln>
          </p:spPr>
          <p:txBody>
            <a:bodyPr/>
            <a:lstStyle/>
            <a:p>
              <a:endParaRPr lang="en-GB"/>
            </a:p>
          </p:txBody>
        </p:sp>
        <p:sp>
          <p:nvSpPr>
            <p:cNvPr id="31760" name="AutoShape 45"/>
            <p:cNvSpPr>
              <a:spLocks noChangeArrowheads="1"/>
            </p:cNvSpPr>
            <p:nvPr/>
          </p:nvSpPr>
          <p:spPr bwMode="auto">
            <a:xfrm>
              <a:off x="1690" y="9820"/>
              <a:ext cx="1724" cy="726"/>
            </a:xfrm>
            <a:prstGeom prst="flowChartPunchedCard">
              <a:avLst/>
            </a:prstGeom>
            <a:solidFill>
              <a:srgbClr val="DDDDDD"/>
            </a:solidFill>
            <a:ln w="9525">
              <a:solidFill>
                <a:schemeClr val="tx1"/>
              </a:solidFill>
              <a:miter lim="800000"/>
              <a:headEnd/>
              <a:tailEnd/>
            </a:ln>
          </p:spPr>
          <p:txBody>
            <a:bodyPr wrap="none" anchor="ctr"/>
            <a:lstStyle/>
            <a:p>
              <a:pPr algn="ctr" defTabSz="2817813"/>
              <a:r>
                <a:rPr lang="en-GB" sz="400">
                  <a:cs typeface="Arial" charset="0"/>
                </a:rPr>
                <a:t>JCL</a:t>
              </a:r>
            </a:p>
            <a:p>
              <a:pPr algn="ctr" defTabSz="2817813"/>
              <a:r>
                <a:rPr lang="en-GB" sz="400">
                  <a:cs typeface="Arial" charset="0"/>
                </a:rPr>
                <a:t>COMMAND</a:t>
              </a:r>
              <a:endParaRPr lang="en-US" sz="400">
                <a:cs typeface="Arial" charset="0"/>
              </a:endParaRPr>
            </a:p>
          </p:txBody>
        </p:sp>
        <p:sp>
          <p:nvSpPr>
            <p:cNvPr id="31761" name="Line 46"/>
            <p:cNvSpPr>
              <a:spLocks noChangeShapeType="1"/>
            </p:cNvSpPr>
            <p:nvPr/>
          </p:nvSpPr>
          <p:spPr bwMode="auto">
            <a:xfrm flipV="1">
              <a:off x="3413" y="6645"/>
              <a:ext cx="2087" cy="3266"/>
            </a:xfrm>
            <a:prstGeom prst="line">
              <a:avLst/>
            </a:prstGeom>
            <a:noFill/>
            <a:ln w="9525">
              <a:solidFill>
                <a:schemeClr val="tx1"/>
              </a:solidFill>
              <a:round/>
              <a:headEnd/>
              <a:tailEnd type="triangle" w="med" len="med"/>
            </a:ln>
          </p:spPr>
          <p:txBody>
            <a:bodyPr/>
            <a:lstStyle/>
            <a:p>
              <a:endParaRPr lang="en-GB"/>
            </a:p>
          </p:txBody>
        </p:sp>
        <p:sp>
          <p:nvSpPr>
            <p:cNvPr id="31762" name="Text Box 47"/>
            <p:cNvSpPr txBox="1">
              <a:spLocks noChangeArrowheads="1"/>
            </p:cNvSpPr>
            <p:nvPr/>
          </p:nvSpPr>
          <p:spPr bwMode="auto">
            <a:xfrm>
              <a:off x="3913" y="9483"/>
              <a:ext cx="2063" cy="512"/>
            </a:xfrm>
            <a:prstGeom prst="rect">
              <a:avLst/>
            </a:prstGeom>
            <a:noFill/>
            <a:ln w="9525">
              <a:noFill/>
              <a:miter lim="800000"/>
              <a:headEnd/>
              <a:tailEnd/>
            </a:ln>
          </p:spPr>
          <p:txBody>
            <a:bodyPr wrap="none">
              <a:spAutoFit/>
            </a:bodyPr>
            <a:lstStyle/>
            <a:p>
              <a:pPr defTabSz="2817813"/>
              <a:r>
                <a:rPr lang="en-GB" sz="400">
                  <a:cs typeface="Arial" charset="0"/>
                </a:rPr>
                <a:t>RUN NO</a:t>
              </a:r>
            </a:p>
            <a:p>
              <a:pPr defTabSz="2817813"/>
              <a:r>
                <a:rPr lang="en-GB" sz="400">
                  <a:cs typeface="Arial" charset="0"/>
                </a:rPr>
                <a:t>LANGUAGE TO RESPOND IN</a:t>
              </a:r>
              <a:endParaRPr lang="en-US" sz="400">
                <a:cs typeface="Arial" charset="0"/>
              </a:endParaRPr>
            </a:p>
          </p:txBody>
        </p:sp>
        <p:sp>
          <p:nvSpPr>
            <p:cNvPr id="31763" name="Line 48"/>
            <p:cNvSpPr>
              <a:spLocks noChangeShapeType="1"/>
            </p:cNvSpPr>
            <p:nvPr/>
          </p:nvSpPr>
          <p:spPr bwMode="auto">
            <a:xfrm>
              <a:off x="6135" y="658"/>
              <a:ext cx="0" cy="2676"/>
            </a:xfrm>
            <a:prstGeom prst="line">
              <a:avLst/>
            </a:prstGeom>
            <a:noFill/>
            <a:ln w="9525">
              <a:solidFill>
                <a:schemeClr val="tx1"/>
              </a:solidFill>
              <a:prstDash val="dash"/>
              <a:round/>
              <a:headEnd/>
              <a:tailEnd/>
            </a:ln>
          </p:spPr>
          <p:txBody>
            <a:bodyPr/>
            <a:lstStyle/>
            <a:p>
              <a:endParaRPr lang="en-GB"/>
            </a:p>
          </p:txBody>
        </p:sp>
        <p:sp>
          <p:nvSpPr>
            <p:cNvPr id="31764" name="Line 49"/>
            <p:cNvSpPr>
              <a:spLocks noChangeShapeType="1"/>
            </p:cNvSpPr>
            <p:nvPr/>
          </p:nvSpPr>
          <p:spPr bwMode="auto">
            <a:xfrm>
              <a:off x="7042" y="6146"/>
              <a:ext cx="1542" cy="0"/>
            </a:xfrm>
            <a:prstGeom prst="line">
              <a:avLst/>
            </a:prstGeom>
            <a:noFill/>
            <a:ln w="9525">
              <a:solidFill>
                <a:schemeClr val="tx1"/>
              </a:solidFill>
              <a:round/>
              <a:headEnd/>
              <a:tailEnd type="triangle" w="med" len="med"/>
            </a:ln>
          </p:spPr>
          <p:txBody>
            <a:bodyPr/>
            <a:lstStyle/>
            <a:p>
              <a:endParaRPr lang="en-GB"/>
            </a:p>
          </p:txBody>
        </p:sp>
        <p:sp>
          <p:nvSpPr>
            <p:cNvPr id="31765" name="Text Box 50"/>
            <p:cNvSpPr txBox="1">
              <a:spLocks noChangeArrowheads="1"/>
            </p:cNvSpPr>
            <p:nvPr/>
          </p:nvSpPr>
          <p:spPr bwMode="auto">
            <a:xfrm>
              <a:off x="2732" y="7672"/>
              <a:ext cx="1766" cy="512"/>
            </a:xfrm>
            <a:prstGeom prst="rect">
              <a:avLst/>
            </a:prstGeom>
            <a:noFill/>
            <a:ln w="9525">
              <a:noFill/>
              <a:miter lim="800000"/>
              <a:headEnd/>
              <a:tailEnd/>
            </a:ln>
          </p:spPr>
          <p:txBody>
            <a:bodyPr wrap="none">
              <a:spAutoFit/>
            </a:bodyPr>
            <a:lstStyle/>
            <a:p>
              <a:pPr defTabSz="2817813"/>
              <a:r>
                <a:rPr lang="en-GB" sz="400">
                  <a:cs typeface="Arial" charset="0"/>
                </a:rPr>
                <a:t>USED FOR EXCEPTION</a:t>
              </a:r>
            </a:p>
            <a:p>
              <a:pPr defTabSz="2817813"/>
              <a:r>
                <a:rPr lang="en-GB" sz="400">
                  <a:cs typeface="Arial" charset="0"/>
                </a:rPr>
                <a:t>HANDLING ONLY</a:t>
              </a:r>
              <a:endParaRPr lang="en-US" sz="400">
                <a:cs typeface="Arial" charset="0"/>
              </a:endParaRPr>
            </a:p>
          </p:txBody>
        </p:sp>
        <p:sp>
          <p:nvSpPr>
            <p:cNvPr id="31766" name="Text Box 51"/>
            <p:cNvSpPr txBox="1">
              <a:spLocks noChangeArrowheads="1"/>
            </p:cNvSpPr>
            <p:nvPr/>
          </p:nvSpPr>
          <p:spPr bwMode="auto">
            <a:xfrm>
              <a:off x="3656" y="5842"/>
              <a:ext cx="1140" cy="367"/>
            </a:xfrm>
            <a:prstGeom prst="rect">
              <a:avLst/>
            </a:prstGeom>
            <a:noFill/>
            <a:ln w="9525">
              <a:noFill/>
              <a:miter lim="800000"/>
              <a:headEnd/>
              <a:tailEnd/>
            </a:ln>
          </p:spPr>
          <p:txBody>
            <a:bodyPr wrap="none">
              <a:spAutoFit/>
            </a:bodyPr>
            <a:lstStyle/>
            <a:p>
              <a:pPr algn="ctr" defTabSz="2817813"/>
              <a:r>
                <a:rPr lang="en-GB" sz="400">
                  <a:cs typeface="Arial" charset="0"/>
                </a:rPr>
                <a:t>COMMANDS</a:t>
              </a:r>
              <a:endParaRPr lang="en-US" sz="400">
                <a:cs typeface="Arial" charset="0"/>
              </a:endParaRPr>
            </a:p>
          </p:txBody>
        </p:sp>
        <p:sp>
          <p:nvSpPr>
            <p:cNvPr id="31767" name="Text Box 52"/>
            <p:cNvSpPr txBox="1">
              <a:spLocks noChangeArrowheads="1"/>
            </p:cNvSpPr>
            <p:nvPr/>
          </p:nvSpPr>
          <p:spPr bwMode="auto">
            <a:xfrm>
              <a:off x="7064" y="5842"/>
              <a:ext cx="1043" cy="367"/>
            </a:xfrm>
            <a:prstGeom prst="rect">
              <a:avLst/>
            </a:prstGeom>
            <a:noFill/>
            <a:ln w="9525">
              <a:noFill/>
              <a:miter lim="800000"/>
              <a:headEnd/>
              <a:tailEnd/>
            </a:ln>
          </p:spPr>
          <p:txBody>
            <a:bodyPr wrap="none">
              <a:spAutoFit/>
            </a:bodyPr>
            <a:lstStyle/>
            <a:p>
              <a:pPr algn="ctr" defTabSz="2817813"/>
              <a:r>
                <a:rPr lang="en-GB" sz="400">
                  <a:cs typeface="Arial" charset="0"/>
                </a:rPr>
                <a:t>PRINTLOG</a:t>
              </a:r>
              <a:endParaRPr lang="en-US" sz="400">
                <a:cs typeface="Arial" charset="0"/>
              </a:endParaRPr>
            </a:p>
          </p:txBody>
        </p:sp>
        <p:sp>
          <p:nvSpPr>
            <p:cNvPr id="31768" name="Rectangle 53"/>
            <p:cNvSpPr>
              <a:spLocks noChangeArrowheads="1"/>
            </p:cNvSpPr>
            <p:nvPr/>
          </p:nvSpPr>
          <p:spPr bwMode="auto">
            <a:xfrm>
              <a:off x="3550" y="2200"/>
              <a:ext cx="4989" cy="771"/>
            </a:xfrm>
            <a:prstGeom prst="rect">
              <a:avLst/>
            </a:prstGeom>
            <a:solidFill>
              <a:schemeClr val="bg1"/>
            </a:solidFill>
            <a:ln w="9525">
              <a:solidFill>
                <a:srgbClr val="000000"/>
              </a:solidFill>
              <a:prstDash val="dash"/>
              <a:miter lim="800000"/>
              <a:headEnd/>
              <a:tailEnd/>
            </a:ln>
          </p:spPr>
          <p:txBody>
            <a:bodyPr wrap="none" anchor="ctr"/>
            <a:lstStyle/>
            <a:p>
              <a:pPr algn="ctr" defTabSz="2817813"/>
              <a:r>
                <a:rPr lang="en-GB" sz="400" b="1">
                  <a:cs typeface="Arial" charset="0"/>
                </a:rPr>
                <a:t>SELECTIVELY MASKED OUT BY SUBSCHEMAS</a:t>
              </a:r>
            </a:p>
            <a:p>
              <a:pPr algn="ctr" defTabSz="2817813"/>
              <a:r>
                <a:rPr lang="en-GB" sz="400" b="1">
                  <a:cs typeface="Arial" charset="0"/>
                </a:rPr>
                <a:t>OTHER THAN &lt;UNMASKED&gt;</a:t>
              </a:r>
              <a:endParaRPr lang="en-US" sz="400" b="1">
                <a:cs typeface="Arial" charset="0"/>
              </a:endParaRPr>
            </a:p>
          </p:txBody>
        </p:sp>
        <p:sp>
          <p:nvSpPr>
            <p:cNvPr id="31769" name="Line 54"/>
            <p:cNvSpPr>
              <a:spLocks noChangeShapeType="1"/>
            </p:cNvSpPr>
            <p:nvPr/>
          </p:nvSpPr>
          <p:spPr bwMode="auto">
            <a:xfrm>
              <a:off x="7042" y="6418"/>
              <a:ext cx="1497" cy="1134"/>
            </a:xfrm>
            <a:prstGeom prst="line">
              <a:avLst/>
            </a:prstGeom>
            <a:noFill/>
            <a:ln w="9525">
              <a:solidFill>
                <a:schemeClr val="tx1"/>
              </a:solidFill>
              <a:round/>
              <a:headEnd/>
              <a:tailEnd type="triangle" w="med" len="med"/>
            </a:ln>
          </p:spPr>
          <p:txBody>
            <a:bodyPr/>
            <a:lstStyle/>
            <a:p>
              <a:endParaRPr lang="en-GB"/>
            </a:p>
          </p:txBody>
        </p:sp>
        <p:sp>
          <p:nvSpPr>
            <p:cNvPr id="31770" name="AutoShape 55"/>
            <p:cNvSpPr>
              <a:spLocks noChangeArrowheads="1"/>
            </p:cNvSpPr>
            <p:nvPr/>
          </p:nvSpPr>
          <p:spPr bwMode="auto">
            <a:xfrm>
              <a:off x="14028" y="7054"/>
              <a:ext cx="1588" cy="816"/>
            </a:xfrm>
            <a:prstGeom prst="flowChartDisplay">
              <a:avLst/>
            </a:prstGeom>
            <a:solidFill>
              <a:srgbClr val="DDDDDD"/>
            </a:solidFill>
            <a:ln w="9525">
              <a:solidFill>
                <a:schemeClr val="tx1"/>
              </a:solidFill>
              <a:miter lim="800000"/>
              <a:headEnd/>
              <a:tailEnd/>
            </a:ln>
          </p:spPr>
          <p:txBody>
            <a:bodyPr wrap="none" anchor="ctr"/>
            <a:lstStyle/>
            <a:p>
              <a:pPr algn="ctr" defTabSz="2817813"/>
              <a:r>
                <a:rPr lang="en-GB" sz="400">
                  <a:cs typeface="Arial" charset="0"/>
                </a:rPr>
                <a:t>PC DISPLAY</a:t>
              </a:r>
              <a:endParaRPr lang="en-US" sz="400">
                <a:cs typeface="Arial" charset="0"/>
              </a:endParaRPr>
            </a:p>
          </p:txBody>
        </p:sp>
        <p:sp>
          <p:nvSpPr>
            <p:cNvPr id="31771" name="Line 56"/>
            <p:cNvSpPr>
              <a:spLocks noChangeShapeType="1"/>
            </p:cNvSpPr>
            <p:nvPr/>
          </p:nvSpPr>
          <p:spPr bwMode="auto">
            <a:xfrm>
              <a:off x="7042" y="6600"/>
              <a:ext cx="1452" cy="2223"/>
            </a:xfrm>
            <a:prstGeom prst="line">
              <a:avLst/>
            </a:prstGeom>
            <a:noFill/>
            <a:ln w="9525">
              <a:solidFill>
                <a:schemeClr val="tx1"/>
              </a:solidFill>
              <a:round/>
              <a:headEnd/>
              <a:tailEnd type="triangle" w="med" len="med"/>
            </a:ln>
          </p:spPr>
          <p:txBody>
            <a:bodyPr/>
            <a:lstStyle/>
            <a:p>
              <a:endParaRPr lang="en-GB"/>
            </a:p>
          </p:txBody>
        </p:sp>
        <p:sp>
          <p:nvSpPr>
            <p:cNvPr id="31772" name="Text Box 57"/>
            <p:cNvSpPr txBox="1">
              <a:spLocks noChangeArrowheads="1"/>
            </p:cNvSpPr>
            <p:nvPr/>
          </p:nvSpPr>
          <p:spPr bwMode="auto">
            <a:xfrm>
              <a:off x="7492" y="6702"/>
              <a:ext cx="1088" cy="366"/>
            </a:xfrm>
            <a:prstGeom prst="rect">
              <a:avLst/>
            </a:prstGeom>
            <a:noFill/>
            <a:ln w="9525">
              <a:noFill/>
              <a:miter lim="800000"/>
              <a:headEnd/>
              <a:tailEnd/>
            </a:ln>
          </p:spPr>
          <p:txBody>
            <a:bodyPr wrap="none">
              <a:spAutoFit/>
            </a:bodyPr>
            <a:lstStyle/>
            <a:p>
              <a:pPr algn="ctr" defTabSz="2817813"/>
              <a:r>
                <a:rPr lang="en-GB" sz="400">
                  <a:cs typeface="Arial" charset="0"/>
                </a:rPr>
                <a:t>SEMIOTICS</a:t>
              </a:r>
              <a:endParaRPr lang="en-US" sz="400">
                <a:cs typeface="Arial" charset="0"/>
              </a:endParaRPr>
            </a:p>
          </p:txBody>
        </p:sp>
        <p:sp>
          <p:nvSpPr>
            <p:cNvPr id="31773" name="Text Box 58"/>
            <p:cNvSpPr txBox="1">
              <a:spLocks noChangeArrowheads="1"/>
            </p:cNvSpPr>
            <p:nvPr/>
          </p:nvSpPr>
          <p:spPr bwMode="auto">
            <a:xfrm>
              <a:off x="7005" y="7928"/>
              <a:ext cx="983" cy="367"/>
            </a:xfrm>
            <a:prstGeom prst="rect">
              <a:avLst/>
            </a:prstGeom>
            <a:noFill/>
            <a:ln w="9525">
              <a:noFill/>
              <a:miter lim="800000"/>
              <a:headEnd/>
              <a:tailEnd/>
            </a:ln>
          </p:spPr>
          <p:txBody>
            <a:bodyPr wrap="none">
              <a:spAutoFit/>
            </a:bodyPr>
            <a:lstStyle/>
            <a:p>
              <a:pPr algn="ctr" defTabSz="2817813"/>
              <a:r>
                <a:rPr lang="en-GB" sz="400">
                  <a:cs typeface="Arial" charset="0"/>
                </a:rPr>
                <a:t>KINESICS</a:t>
              </a:r>
              <a:endParaRPr lang="en-US" sz="400">
                <a:cs typeface="Arial" charset="0"/>
              </a:endParaRPr>
            </a:p>
          </p:txBody>
        </p:sp>
        <p:sp>
          <p:nvSpPr>
            <p:cNvPr id="31774" name="AutoShape 59"/>
            <p:cNvSpPr>
              <a:spLocks noChangeArrowheads="1"/>
            </p:cNvSpPr>
            <p:nvPr/>
          </p:nvSpPr>
          <p:spPr bwMode="auto">
            <a:xfrm>
              <a:off x="8494" y="6827"/>
              <a:ext cx="862" cy="1406"/>
            </a:xfrm>
            <a:prstGeom prst="can">
              <a:avLst>
                <a:gd name="adj" fmla="val 40777"/>
              </a:avLst>
            </a:prstGeom>
            <a:solidFill>
              <a:srgbClr val="DDDDDD"/>
            </a:solidFill>
            <a:ln w="9525">
              <a:solidFill>
                <a:schemeClr val="tx1"/>
              </a:solidFill>
              <a:round/>
              <a:headEnd/>
              <a:tailEnd/>
            </a:ln>
          </p:spPr>
          <p:txBody>
            <a:bodyPr wrap="none" anchor="ctr"/>
            <a:lstStyle/>
            <a:p>
              <a:pPr algn="ctr" defTabSz="2817813"/>
              <a:r>
                <a:rPr lang="en-GB" sz="400">
                  <a:cs typeface="Arial" charset="0"/>
                </a:rPr>
                <a:t>SEMIOTICS</a:t>
              </a:r>
            </a:p>
            <a:p>
              <a:pPr algn="ctr" defTabSz="2817813"/>
              <a:r>
                <a:rPr lang="en-GB" sz="400">
                  <a:cs typeface="Arial" charset="0"/>
                </a:rPr>
                <a:t>GUI</a:t>
              </a:r>
            </a:p>
            <a:p>
              <a:pPr algn="ctr" defTabSz="2817813"/>
              <a:r>
                <a:rPr lang="en-GB" sz="400">
                  <a:cs typeface="Arial" charset="0"/>
                </a:rPr>
                <a:t>FILE</a:t>
              </a:r>
              <a:endParaRPr lang="en-US" sz="400">
                <a:cs typeface="Arial" charset="0"/>
              </a:endParaRPr>
            </a:p>
          </p:txBody>
        </p:sp>
        <p:sp>
          <p:nvSpPr>
            <p:cNvPr id="31775" name="AutoShape 60"/>
            <p:cNvSpPr>
              <a:spLocks noChangeArrowheads="1"/>
            </p:cNvSpPr>
            <p:nvPr/>
          </p:nvSpPr>
          <p:spPr bwMode="auto">
            <a:xfrm>
              <a:off x="9356" y="7280"/>
              <a:ext cx="1815" cy="499"/>
            </a:xfrm>
            <a:custGeom>
              <a:avLst/>
              <a:gdLst>
                <a:gd name="T0" fmla="*/ 10 w 21600"/>
                <a:gd name="T1" fmla="*/ 0 h 21600"/>
                <a:gd name="T2" fmla="*/ 0 w 21600"/>
                <a:gd name="T3" fmla="*/ 0 h 21600"/>
                <a:gd name="T4" fmla="*/ 10 w 21600"/>
                <a:gd name="T5" fmla="*/ 0 h 21600"/>
                <a:gd name="T6" fmla="*/ 13 w 21600"/>
                <a:gd name="T7" fmla="*/ 0 h 21600"/>
                <a:gd name="T8" fmla="*/ 17694720 60000 65536"/>
                <a:gd name="T9" fmla="*/ 11796480 60000 65536"/>
                <a:gd name="T10" fmla="*/ 5898240 60000 65536"/>
                <a:gd name="T11" fmla="*/ 0 60000 65536"/>
                <a:gd name="T12" fmla="*/ 3380 w 21600"/>
                <a:gd name="T13" fmla="*/ 5411 h 21600"/>
                <a:gd name="T14" fmla="*/ 18899 w 21600"/>
                <a:gd name="T15" fmla="*/ 16189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DDDDDD"/>
            </a:solidFill>
            <a:ln w="9525">
              <a:solidFill>
                <a:schemeClr val="tx1"/>
              </a:solidFill>
              <a:miter lim="800000"/>
              <a:headEnd/>
              <a:tailEnd/>
            </a:ln>
          </p:spPr>
          <p:txBody>
            <a:bodyPr wrap="none" anchor="ctr"/>
            <a:lstStyle/>
            <a:p>
              <a:pPr algn="ctr" defTabSz="2817813"/>
              <a:r>
                <a:rPr lang="en-GB" sz="400">
                  <a:cs typeface="Arial" charset="0"/>
                </a:rPr>
                <a:t>FROM MAINFRAME</a:t>
              </a:r>
              <a:endParaRPr lang="en-US" sz="400">
                <a:cs typeface="Arial" charset="0"/>
              </a:endParaRPr>
            </a:p>
          </p:txBody>
        </p:sp>
        <p:sp>
          <p:nvSpPr>
            <p:cNvPr id="31776" name="Rectangle 61"/>
            <p:cNvSpPr>
              <a:spLocks noChangeArrowheads="1"/>
            </p:cNvSpPr>
            <p:nvPr/>
          </p:nvSpPr>
          <p:spPr bwMode="auto">
            <a:xfrm>
              <a:off x="11170" y="7008"/>
              <a:ext cx="1860" cy="998"/>
            </a:xfrm>
            <a:prstGeom prst="rect">
              <a:avLst/>
            </a:prstGeom>
            <a:solidFill>
              <a:srgbClr val="DDDDDD"/>
            </a:solidFill>
            <a:ln w="9525">
              <a:solidFill>
                <a:schemeClr val="tx1"/>
              </a:solidFill>
              <a:miter lim="800000"/>
              <a:headEnd/>
              <a:tailEnd/>
            </a:ln>
          </p:spPr>
          <p:txBody>
            <a:bodyPr wrap="none" anchor="ctr"/>
            <a:lstStyle/>
            <a:p>
              <a:pPr algn="ctr" defTabSz="2817813"/>
              <a:r>
                <a:rPr lang="en-GB" sz="400" b="1">
                  <a:cs typeface="Arial" charset="0"/>
                </a:rPr>
                <a:t>DOWNLINE</a:t>
              </a:r>
            </a:p>
            <a:p>
              <a:pPr algn="ctr" defTabSz="2817813"/>
              <a:r>
                <a:rPr lang="en-GB" sz="400" b="1">
                  <a:cs typeface="Arial" charset="0"/>
                </a:rPr>
                <a:t>LINGUISTIC</a:t>
              </a:r>
            </a:p>
            <a:p>
              <a:pPr algn="ctr" defTabSz="2817813"/>
              <a:r>
                <a:rPr lang="en-GB" sz="400" b="1">
                  <a:cs typeface="Arial" charset="0"/>
                </a:rPr>
                <a:t>INTERFACE</a:t>
              </a:r>
              <a:endParaRPr lang="en-US" sz="400" b="1">
                <a:cs typeface="Arial" charset="0"/>
              </a:endParaRPr>
            </a:p>
          </p:txBody>
        </p:sp>
        <p:sp>
          <p:nvSpPr>
            <p:cNvPr id="31777" name="Line 62"/>
            <p:cNvSpPr>
              <a:spLocks noChangeShapeType="1"/>
            </p:cNvSpPr>
            <p:nvPr/>
          </p:nvSpPr>
          <p:spPr bwMode="auto">
            <a:xfrm>
              <a:off x="13030" y="7371"/>
              <a:ext cx="1043" cy="0"/>
            </a:xfrm>
            <a:prstGeom prst="line">
              <a:avLst/>
            </a:prstGeom>
            <a:noFill/>
            <a:ln w="9525">
              <a:solidFill>
                <a:schemeClr val="tx1"/>
              </a:solidFill>
              <a:round/>
              <a:headEnd/>
              <a:tailEnd type="triangle" w="med" len="med"/>
            </a:ln>
          </p:spPr>
          <p:txBody>
            <a:bodyPr/>
            <a:lstStyle/>
            <a:p>
              <a:endParaRPr lang="en-GB"/>
            </a:p>
          </p:txBody>
        </p:sp>
        <p:sp>
          <p:nvSpPr>
            <p:cNvPr id="31778" name="Line 63"/>
            <p:cNvSpPr>
              <a:spLocks noChangeShapeType="1"/>
            </p:cNvSpPr>
            <p:nvPr/>
          </p:nvSpPr>
          <p:spPr bwMode="auto">
            <a:xfrm flipH="1">
              <a:off x="13030" y="7552"/>
              <a:ext cx="1043" cy="0"/>
            </a:xfrm>
            <a:prstGeom prst="line">
              <a:avLst/>
            </a:prstGeom>
            <a:noFill/>
            <a:ln w="9525">
              <a:solidFill>
                <a:schemeClr val="tx1"/>
              </a:solidFill>
              <a:round/>
              <a:headEnd/>
              <a:tailEnd type="triangle" w="med" len="med"/>
            </a:ln>
          </p:spPr>
          <p:txBody>
            <a:bodyPr/>
            <a:lstStyle/>
            <a:p>
              <a:endParaRPr lang="en-GB"/>
            </a:p>
          </p:txBody>
        </p:sp>
        <p:sp>
          <p:nvSpPr>
            <p:cNvPr id="31779" name="AutoShape 64"/>
            <p:cNvSpPr>
              <a:spLocks noChangeArrowheads="1"/>
            </p:cNvSpPr>
            <p:nvPr/>
          </p:nvSpPr>
          <p:spPr bwMode="auto">
            <a:xfrm>
              <a:off x="14028" y="8687"/>
              <a:ext cx="1588" cy="816"/>
            </a:xfrm>
            <a:prstGeom prst="flowChartDisplay">
              <a:avLst/>
            </a:prstGeom>
            <a:solidFill>
              <a:srgbClr val="DDDDDD"/>
            </a:solidFill>
            <a:ln w="9525">
              <a:solidFill>
                <a:schemeClr val="tx1"/>
              </a:solidFill>
              <a:miter lim="800000"/>
              <a:headEnd/>
              <a:tailEnd/>
            </a:ln>
          </p:spPr>
          <p:txBody>
            <a:bodyPr wrap="none" anchor="ctr"/>
            <a:lstStyle/>
            <a:p>
              <a:pPr algn="ctr" defTabSz="2817813"/>
              <a:r>
                <a:rPr lang="en-GB" sz="400">
                  <a:cs typeface="Arial" charset="0"/>
                </a:rPr>
                <a:t>PC DISPLAY</a:t>
              </a:r>
              <a:endParaRPr lang="en-US" sz="400">
                <a:cs typeface="Arial" charset="0"/>
              </a:endParaRPr>
            </a:p>
          </p:txBody>
        </p:sp>
        <p:sp>
          <p:nvSpPr>
            <p:cNvPr id="31780" name="AutoShape 65"/>
            <p:cNvSpPr>
              <a:spLocks noChangeArrowheads="1"/>
            </p:cNvSpPr>
            <p:nvPr/>
          </p:nvSpPr>
          <p:spPr bwMode="auto">
            <a:xfrm>
              <a:off x="8494" y="8460"/>
              <a:ext cx="862" cy="1406"/>
            </a:xfrm>
            <a:prstGeom prst="can">
              <a:avLst>
                <a:gd name="adj" fmla="val 40777"/>
              </a:avLst>
            </a:prstGeom>
            <a:solidFill>
              <a:srgbClr val="DDDDDD"/>
            </a:solidFill>
            <a:ln w="9525">
              <a:solidFill>
                <a:schemeClr val="tx1"/>
              </a:solidFill>
              <a:round/>
              <a:headEnd/>
              <a:tailEnd/>
            </a:ln>
          </p:spPr>
          <p:txBody>
            <a:bodyPr wrap="none" anchor="ctr"/>
            <a:lstStyle/>
            <a:p>
              <a:pPr algn="ctr" defTabSz="2817813"/>
              <a:r>
                <a:rPr lang="en-GB" sz="400">
                  <a:cs typeface="Arial" charset="0"/>
                </a:rPr>
                <a:t>KINESICS</a:t>
              </a:r>
            </a:p>
            <a:p>
              <a:pPr algn="ctr" defTabSz="2817813"/>
              <a:r>
                <a:rPr lang="en-GB" sz="400">
                  <a:cs typeface="Arial" charset="0"/>
                </a:rPr>
                <a:t>GUI</a:t>
              </a:r>
            </a:p>
            <a:p>
              <a:pPr algn="ctr" defTabSz="2817813"/>
              <a:r>
                <a:rPr lang="en-GB" sz="400">
                  <a:cs typeface="Arial" charset="0"/>
                </a:rPr>
                <a:t>FILE</a:t>
              </a:r>
              <a:endParaRPr lang="en-US" sz="400">
                <a:cs typeface="Arial" charset="0"/>
              </a:endParaRPr>
            </a:p>
          </p:txBody>
        </p:sp>
        <p:sp>
          <p:nvSpPr>
            <p:cNvPr id="31781" name="AutoShape 66"/>
            <p:cNvSpPr>
              <a:spLocks noChangeArrowheads="1"/>
            </p:cNvSpPr>
            <p:nvPr/>
          </p:nvSpPr>
          <p:spPr bwMode="auto">
            <a:xfrm>
              <a:off x="9356" y="8913"/>
              <a:ext cx="1815" cy="499"/>
            </a:xfrm>
            <a:custGeom>
              <a:avLst/>
              <a:gdLst>
                <a:gd name="T0" fmla="*/ 10 w 21600"/>
                <a:gd name="T1" fmla="*/ 0 h 21600"/>
                <a:gd name="T2" fmla="*/ 0 w 21600"/>
                <a:gd name="T3" fmla="*/ 0 h 21600"/>
                <a:gd name="T4" fmla="*/ 10 w 21600"/>
                <a:gd name="T5" fmla="*/ 0 h 21600"/>
                <a:gd name="T6" fmla="*/ 13 w 21600"/>
                <a:gd name="T7" fmla="*/ 0 h 21600"/>
                <a:gd name="T8" fmla="*/ 17694720 60000 65536"/>
                <a:gd name="T9" fmla="*/ 11796480 60000 65536"/>
                <a:gd name="T10" fmla="*/ 5898240 60000 65536"/>
                <a:gd name="T11" fmla="*/ 0 60000 65536"/>
                <a:gd name="T12" fmla="*/ 3380 w 21600"/>
                <a:gd name="T13" fmla="*/ 5411 h 21600"/>
                <a:gd name="T14" fmla="*/ 18899 w 21600"/>
                <a:gd name="T15" fmla="*/ 16189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DDDDDD"/>
            </a:solidFill>
            <a:ln w="9525">
              <a:solidFill>
                <a:schemeClr val="tx1"/>
              </a:solidFill>
              <a:miter lim="800000"/>
              <a:headEnd/>
              <a:tailEnd/>
            </a:ln>
          </p:spPr>
          <p:txBody>
            <a:bodyPr wrap="none" anchor="ctr"/>
            <a:lstStyle/>
            <a:p>
              <a:pPr algn="ctr" defTabSz="2817813"/>
              <a:r>
                <a:rPr lang="en-GB" sz="400">
                  <a:cs typeface="Arial" charset="0"/>
                </a:rPr>
                <a:t>FROM MAINFRAME</a:t>
              </a:r>
              <a:endParaRPr lang="en-US" sz="400">
                <a:cs typeface="Arial" charset="0"/>
              </a:endParaRPr>
            </a:p>
          </p:txBody>
        </p:sp>
        <p:sp>
          <p:nvSpPr>
            <p:cNvPr id="31782" name="Rectangle 67"/>
            <p:cNvSpPr>
              <a:spLocks noChangeArrowheads="1"/>
            </p:cNvSpPr>
            <p:nvPr/>
          </p:nvSpPr>
          <p:spPr bwMode="auto">
            <a:xfrm>
              <a:off x="11170" y="8641"/>
              <a:ext cx="1860" cy="998"/>
            </a:xfrm>
            <a:prstGeom prst="rect">
              <a:avLst/>
            </a:prstGeom>
            <a:solidFill>
              <a:srgbClr val="DDDDDD"/>
            </a:solidFill>
            <a:ln w="9525">
              <a:solidFill>
                <a:schemeClr val="tx1"/>
              </a:solidFill>
              <a:miter lim="800000"/>
              <a:headEnd/>
              <a:tailEnd/>
            </a:ln>
          </p:spPr>
          <p:txBody>
            <a:bodyPr wrap="none" anchor="ctr"/>
            <a:lstStyle/>
            <a:p>
              <a:pPr algn="ctr" defTabSz="2817813"/>
              <a:r>
                <a:rPr lang="en-GB" sz="400" b="1">
                  <a:cs typeface="Arial" charset="0"/>
                </a:rPr>
                <a:t>DOWNLINE</a:t>
              </a:r>
            </a:p>
            <a:p>
              <a:pPr algn="ctr" defTabSz="2817813"/>
              <a:r>
                <a:rPr lang="en-GB" sz="400" b="1">
                  <a:cs typeface="Arial" charset="0"/>
                </a:rPr>
                <a:t>ROBOTIC</a:t>
              </a:r>
            </a:p>
            <a:p>
              <a:pPr algn="ctr" defTabSz="2817813"/>
              <a:r>
                <a:rPr lang="en-GB" sz="400" b="1">
                  <a:cs typeface="Arial" charset="0"/>
                </a:rPr>
                <a:t>INTERFACE</a:t>
              </a:r>
              <a:endParaRPr lang="en-US" sz="400" b="1">
                <a:cs typeface="Arial" charset="0"/>
              </a:endParaRPr>
            </a:p>
          </p:txBody>
        </p:sp>
        <p:sp>
          <p:nvSpPr>
            <p:cNvPr id="31783" name="Line 68"/>
            <p:cNvSpPr>
              <a:spLocks noChangeShapeType="1"/>
            </p:cNvSpPr>
            <p:nvPr/>
          </p:nvSpPr>
          <p:spPr bwMode="auto">
            <a:xfrm>
              <a:off x="13030" y="9004"/>
              <a:ext cx="1043" cy="0"/>
            </a:xfrm>
            <a:prstGeom prst="line">
              <a:avLst/>
            </a:prstGeom>
            <a:noFill/>
            <a:ln w="9525">
              <a:solidFill>
                <a:schemeClr val="tx1"/>
              </a:solidFill>
              <a:round/>
              <a:headEnd/>
              <a:tailEnd type="triangle" w="med" len="med"/>
            </a:ln>
          </p:spPr>
          <p:txBody>
            <a:bodyPr/>
            <a:lstStyle/>
            <a:p>
              <a:endParaRPr lang="en-GB"/>
            </a:p>
          </p:txBody>
        </p:sp>
        <p:sp>
          <p:nvSpPr>
            <p:cNvPr id="31784" name="Line 69"/>
            <p:cNvSpPr>
              <a:spLocks noChangeShapeType="1"/>
            </p:cNvSpPr>
            <p:nvPr/>
          </p:nvSpPr>
          <p:spPr bwMode="auto">
            <a:xfrm flipH="1">
              <a:off x="13030" y="9185"/>
              <a:ext cx="1043" cy="0"/>
            </a:xfrm>
            <a:prstGeom prst="line">
              <a:avLst/>
            </a:prstGeom>
            <a:noFill/>
            <a:ln w="9525">
              <a:solidFill>
                <a:schemeClr val="tx1"/>
              </a:solidFill>
              <a:round/>
              <a:headEnd/>
              <a:tailEnd type="triangle" w="med" len="med"/>
            </a:ln>
          </p:spPr>
          <p:txBody>
            <a:bodyPr/>
            <a:lstStyle/>
            <a:p>
              <a:endParaRPr lang="en-GB"/>
            </a:p>
          </p:txBody>
        </p:sp>
        <p:sp>
          <p:nvSpPr>
            <p:cNvPr id="31785" name="AutoShape 70">
              <a:hlinkClick r:id="" action="ppaction://noaction" highlightClick="1">
                <a:snd r:embed="rId2" name="applause.wav"/>
              </a:hlinkClick>
            </p:cNvPr>
            <p:cNvSpPr>
              <a:spLocks noChangeArrowheads="1"/>
            </p:cNvSpPr>
            <p:nvPr/>
          </p:nvSpPr>
          <p:spPr bwMode="auto">
            <a:xfrm>
              <a:off x="14753" y="5920"/>
              <a:ext cx="725" cy="861"/>
            </a:xfrm>
            <a:prstGeom prst="actionButtonSound">
              <a:avLst/>
            </a:prstGeom>
            <a:solidFill>
              <a:srgbClr val="DDDDDD"/>
            </a:solidFill>
            <a:ln w="9525">
              <a:noFill/>
              <a:miter lim="800000"/>
              <a:headEnd/>
              <a:tailEnd/>
            </a:ln>
          </p:spPr>
          <p:txBody>
            <a:bodyPr wrap="none" anchor="ctr"/>
            <a:lstStyle/>
            <a:p>
              <a:pPr algn="ctr"/>
              <a:endParaRPr lang="en-GB"/>
            </a:p>
          </p:txBody>
        </p:sp>
        <p:pic>
          <p:nvPicPr>
            <p:cNvPr id="31786" name="Picture 71" descr="_Lego-Mindstorms-NXT_3"/>
            <p:cNvPicPr>
              <a:picLocks noChangeAspect="1" noChangeArrowheads="1"/>
            </p:cNvPicPr>
            <p:nvPr/>
          </p:nvPicPr>
          <p:blipFill>
            <a:blip r:embed="rId3" cstate="print"/>
            <a:srcRect/>
            <a:stretch>
              <a:fillRect/>
            </a:stretch>
          </p:blipFill>
          <p:spPr bwMode="auto">
            <a:xfrm>
              <a:off x="14708" y="9684"/>
              <a:ext cx="1678" cy="1235"/>
            </a:xfrm>
            <a:prstGeom prst="rect">
              <a:avLst/>
            </a:prstGeom>
            <a:noFill/>
            <a:ln w="9525">
              <a:noFill/>
              <a:miter lim="800000"/>
              <a:headEnd/>
              <a:tailEnd/>
            </a:ln>
          </p:spPr>
        </p:pic>
        <p:sp>
          <p:nvSpPr>
            <p:cNvPr id="31787" name="AutoShape 72"/>
            <p:cNvSpPr>
              <a:spLocks noChangeArrowheads="1"/>
            </p:cNvSpPr>
            <p:nvPr/>
          </p:nvSpPr>
          <p:spPr bwMode="auto">
            <a:xfrm rot="-1808614">
              <a:off x="12894" y="6464"/>
              <a:ext cx="1815" cy="499"/>
            </a:xfrm>
            <a:custGeom>
              <a:avLst/>
              <a:gdLst>
                <a:gd name="T0" fmla="*/ 10 w 21600"/>
                <a:gd name="T1" fmla="*/ 0 h 21600"/>
                <a:gd name="T2" fmla="*/ 0 w 21600"/>
                <a:gd name="T3" fmla="*/ 0 h 21600"/>
                <a:gd name="T4" fmla="*/ 10 w 21600"/>
                <a:gd name="T5" fmla="*/ 0 h 21600"/>
                <a:gd name="T6" fmla="*/ 13 w 21600"/>
                <a:gd name="T7" fmla="*/ 0 h 21600"/>
                <a:gd name="T8" fmla="*/ 17694720 60000 65536"/>
                <a:gd name="T9" fmla="*/ 11796480 60000 65536"/>
                <a:gd name="T10" fmla="*/ 5898240 60000 65536"/>
                <a:gd name="T11" fmla="*/ 0 60000 65536"/>
                <a:gd name="T12" fmla="*/ 3380 w 21600"/>
                <a:gd name="T13" fmla="*/ 5411 h 21600"/>
                <a:gd name="T14" fmla="*/ 18899 w 21600"/>
                <a:gd name="T15" fmla="*/ 16189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DDDDDD"/>
            </a:solidFill>
            <a:ln w="9525">
              <a:solidFill>
                <a:schemeClr val="tx1"/>
              </a:solidFill>
              <a:miter lim="800000"/>
              <a:headEnd/>
              <a:tailEnd/>
            </a:ln>
          </p:spPr>
          <p:txBody>
            <a:bodyPr wrap="none" anchor="ctr"/>
            <a:lstStyle/>
            <a:p>
              <a:pPr algn="ctr" defTabSz="2817813"/>
              <a:r>
                <a:rPr lang="en-GB" sz="400">
                  <a:cs typeface="Arial" charset="0"/>
                </a:rPr>
                <a:t>TEXT-TO-SPEECH</a:t>
              </a:r>
              <a:endParaRPr lang="en-US" sz="400">
                <a:cs typeface="Arial" charset="0"/>
              </a:endParaRPr>
            </a:p>
          </p:txBody>
        </p:sp>
        <p:sp>
          <p:nvSpPr>
            <p:cNvPr id="31788" name="AutoShape 73"/>
            <p:cNvSpPr>
              <a:spLocks noChangeArrowheads="1"/>
            </p:cNvSpPr>
            <p:nvPr/>
          </p:nvSpPr>
          <p:spPr bwMode="auto">
            <a:xfrm rot="1420995">
              <a:off x="12894" y="9639"/>
              <a:ext cx="1815" cy="499"/>
            </a:xfrm>
            <a:custGeom>
              <a:avLst/>
              <a:gdLst>
                <a:gd name="T0" fmla="*/ 10 w 21600"/>
                <a:gd name="T1" fmla="*/ 0 h 21600"/>
                <a:gd name="T2" fmla="*/ 0 w 21600"/>
                <a:gd name="T3" fmla="*/ 0 h 21600"/>
                <a:gd name="T4" fmla="*/ 10 w 21600"/>
                <a:gd name="T5" fmla="*/ 0 h 21600"/>
                <a:gd name="T6" fmla="*/ 13 w 21600"/>
                <a:gd name="T7" fmla="*/ 0 h 21600"/>
                <a:gd name="T8" fmla="*/ 17694720 60000 65536"/>
                <a:gd name="T9" fmla="*/ 11796480 60000 65536"/>
                <a:gd name="T10" fmla="*/ 5898240 60000 65536"/>
                <a:gd name="T11" fmla="*/ 0 60000 65536"/>
                <a:gd name="T12" fmla="*/ 3380 w 21600"/>
                <a:gd name="T13" fmla="*/ 5411 h 21600"/>
                <a:gd name="T14" fmla="*/ 18899 w 21600"/>
                <a:gd name="T15" fmla="*/ 16189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DDDDDD"/>
            </a:solidFill>
            <a:ln w="9525">
              <a:solidFill>
                <a:schemeClr val="tx1"/>
              </a:solidFill>
              <a:miter lim="800000"/>
              <a:headEnd/>
              <a:tailEnd/>
            </a:ln>
          </p:spPr>
          <p:txBody>
            <a:bodyPr wrap="none" anchor="ctr"/>
            <a:lstStyle/>
            <a:p>
              <a:pPr algn="ctr" defTabSz="2817813"/>
              <a:r>
                <a:rPr lang="en-GB" sz="400">
                  <a:cs typeface="Arial" charset="0"/>
                </a:rPr>
                <a:t>SERVO VECTORS</a:t>
              </a:r>
              <a:endParaRPr lang="en-US" sz="400">
                <a:cs typeface="Arial" charset="0"/>
              </a:endParaRPr>
            </a:p>
          </p:txBody>
        </p:sp>
      </p:grpSp>
      <p:sp>
        <p:nvSpPr>
          <p:cNvPr id="31750" name="AutoShape 33"/>
          <p:cNvSpPr>
            <a:spLocks noChangeArrowheads="1"/>
          </p:cNvSpPr>
          <p:nvPr/>
        </p:nvSpPr>
        <p:spPr bwMode="auto">
          <a:xfrm>
            <a:off x="0" y="1214438"/>
            <a:ext cx="2524125" cy="1571625"/>
          </a:xfrm>
          <a:prstGeom prst="wedgeRoundRectCallout">
            <a:avLst>
              <a:gd name="adj1" fmla="val 56356"/>
              <a:gd name="adj2" fmla="val 32324"/>
              <a:gd name="adj3" fmla="val 16667"/>
            </a:avLst>
          </a:prstGeom>
          <a:solidFill>
            <a:schemeClr val="accent1"/>
          </a:solidFill>
          <a:ln w="9525">
            <a:solidFill>
              <a:schemeClr val="tx1"/>
            </a:solidFill>
            <a:miter lim="800000"/>
            <a:headEnd/>
            <a:tailEnd/>
          </a:ln>
        </p:spPr>
        <p:txBody>
          <a:bodyPr/>
          <a:lstStyle/>
          <a:p>
            <a:pPr algn="ctr"/>
            <a:r>
              <a:rPr lang="en-GB" b="1"/>
              <a:t>Here is the database defined by the Schema. It holds the memory network.</a:t>
            </a:r>
          </a:p>
        </p:txBody>
      </p:sp>
      <p:sp>
        <p:nvSpPr>
          <p:cNvPr id="31751" name="AutoShape 28"/>
          <p:cNvSpPr>
            <a:spLocks noChangeArrowheads="1"/>
          </p:cNvSpPr>
          <p:nvPr/>
        </p:nvSpPr>
        <p:spPr bwMode="auto">
          <a:xfrm>
            <a:off x="0" y="4724400"/>
            <a:ext cx="2238375" cy="1512888"/>
          </a:xfrm>
          <a:prstGeom prst="wedgeRoundRectCallout">
            <a:avLst>
              <a:gd name="adj1" fmla="val 52977"/>
              <a:gd name="adj2" fmla="val -77671"/>
              <a:gd name="adj3" fmla="val 16667"/>
            </a:avLst>
          </a:prstGeom>
          <a:solidFill>
            <a:schemeClr val="accent1"/>
          </a:solidFill>
          <a:ln w="9525">
            <a:solidFill>
              <a:schemeClr val="tx1"/>
            </a:solidFill>
            <a:miter lim="800000"/>
            <a:headEnd/>
            <a:tailEnd/>
          </a:ln>
        </p:spPr>
        <p:txBody>
          <a:bodyPr/>
          <a:lstStyle/>
          <a:p>
            <a:pPr algn="ctr"/>
            <a:r>
              <a:rPr lang="en-GB" b="1" dirty="0"/>
              <a:t>Here is the input file. It </a:t>
            </a:r>
            <a:r>
              <a:rPr lang="en-GB" b="1" dirty="0" smtClean="0"/>
              <a:t>preloads </a:t>
            </a:r>
            <a:r>
              <a:rPr lang="en-GB" b="1" dirty="0"/>
              <a:t>the memory network and then tests it.</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0" y="0"/>
            <a:ext cx="9906000" cy="1700213"/>
          </a:xfrm>
        </p:spPr>
        <p:txBody>
          <a:bodyPr/>
          <a:lstStyle/>
          <a:p>
            <a:pPr eaLnBrk="1" hangingPunct="1"/>
            <a:r>
              <a:rPr lang="en-GB" sz="3200" b="1" smtClean="0"/>
              <a:t>INTRODUCING PROJECT </a:t>
            </a:r>
            <a:r>
              <a:rPr lang="en-GB" sz="3200" b="1" i="1" smtClean="0"/>
              <a:t>KONRAD</a:t>
            </a:r>
            <a:br>
              <a:rPr lang="en-GB" sz="3200" b="1" i="1" smtClean="0"/>
            </a:br>
            <a:r>
              <a:rPr lang="en-GB" sz="3200" b="1" smtClean="0"/>
              <a:t>THE PRINT OUT</a:t>
            </a:r>
            <a:endParaRPr lang="en-US" sz="3200" b="1" smtClean="0"/>
          </a:p>
        </p:txBody>
      </p:sp>
      <p:sp>
        <p:nvSpPr>
          <p:cNvPr id="6" name="Rectangle 3"/>
          <p:cNvSpPr txBox="1">
            <a:spLocks noChangeArrowheads="1"/>
          </p:cNvSpPr>
          <p:nvPr/>
        </p:nvSpPr>
        <p:spPr bwMode="auto">
          <a:xfrm>
            <a:off x="0" y="1857364"/>
            <a:ext cx="9906000" cy="14398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spcBef>
                <a:spcPct val="20000"/>
              </a:spcBef>
              <a:spcAft>
                <a:spcPct val="0"/>
              </a:spcAft>
              <a:buClrTx/>
              <a:buSzTx/>
              <a:buFontTx/>
              <a:buChar char="•"/>
              <a:tabLst/>
              <a:defRPr/>
            </a:pPr>
            <a:r>
              <a:rPr kumimoji="0" lang="en-GB" sz="2400" b="1" i="0" u="none" strike="noStrike" kern="0" cap="none" spc="0" normalizeH="0" baseline="0" noProof="0" dirty="0" smtClean="0">
                <a:ln>
                  <a:noFill/>
                </a:ln>
                <a:solidFill>
                  <a:schemeClr val="tx1"/>
                </a:solidFill>
                <a:effectLst/>
                <a:uLnTx/>
                <a:uFillTx/>
                <a:latin typeface="+mn-lt"/>
                <a:ea typeface="+mn-ea"/>
                <a:cs typeface="+mn-cs"/>
              </a:rPr>
              <a:t>Each posting</a:t>
            </a:r>
            <a:r>
              <a:rPr kumimoji="0" lang="en-GB" sz="2400" b="1" i="0" u="none" strike="noStrike" kern="0" cap="none" spc="0" normalizeH="0" noProof="0" dirty="0" smtClean="0">
                <a:ln>
                  <a:noFill/>
                </a:ln>
                <a:solidFill>
                  <a:schemeClr val="tx1"/>
                </a:solidFill>
                <a:effectLst/>
                <a:uLnTx/>
                <a:uFillTx/>
                <a:latin typeface="+mn-lt"/>
                <a:ea typeface="+mn-ea"/>
                <a:cs typeface="+mn-cs"/>
              </a:rPr>
              <a:t> </a:t>
            </a:r>
            <a:r>
              <a:rPr kumimoji="0" lang="en-GB" sz="2400" b="1" i="0" u="none" strike="noStrike" kern="0" cap="none" spc="0" normalizeH="0" baseline="0" noProof="0" dirty="0" smtClean="0">
                <a:ln>
                  <a:noFill/>
                </a:ln>
                <a:solidFill>
                  <a:schemeClr val="tx1"/>
                </a:solidFill>
                <a:effectLst/>
                <a:uLnTx/>
                <a:uFillTx/>
                <a:latin typeface="+mn-lt"/>
                <a:ea typeface="+mn-ea"/>
                <a:cs typeface="+mn-cs"/>
              </a:rPr>
              <a:t>line contains an item number, timing data, step identifier, physical (logical) record type, and</a:t>
            </a:r>
            <a:r>
              <a:rPr kumimoji="0" lang="en-GB" sz="2400" b="1" i="0" u="none" strike="noStrike" kern="0" cap="none" spc="0" normalizeH="0" noProof="0" dirty="0" smtClean="0">
                <a:ln>
                  <a:noFill/>
                </a:ln>
                <a:solidFill>
                  <a:schemeClr val="tx1"/>
                </a:solidFill>
                <a:effectLst/>
                <a:uLnTx/>
                <a:uFillTx/>
                <a:latin typeface="+mn-lt"/>
                <a:ea typeface="+mn-ea"/>
                <a:cs typeface="+mn-cs"/>
              </a:rPr>
              <a:t> both DB and </a:t>
            </a:r>
            <a:r>
              <a:rPr lang="en-GB" sz="2400" b="1" kern="0" dirty="0" smtClean="0">
                <a:latin typeface="+mn-lt"/>
              </a:rPr>
              <a:t>External Keys. Comment lines are inserted to aid the explanatory narrative.</a:t>
            </a:r>
            <a:endParaRPr kumimoji="0" lang="en-GB" sz="2400" b="1" i="0" u="none" strike="noStrike" kern="0" cap="none" spc="0" normalizeH="0" baseline="0" noProof="0" dirty="0" smtClean="0">
              <a:ln>
                <a:noFill/>
              </a:ln>
              <a:solidFill>
                <a:schemeClr val="tx1"/>
              </a:solidFill>
              <a:effectLst/>
              <a:uLnTx/>
              <a:uFillTx/>
              <a:latin typeface="+mn-lt"/>
              <a:ea typeface="+mn-ea"/>
              <a:cs typeface="+mn-cs"/>
            </a:endParaRPr>
          </a:p>
        </p:txBody>
      </p:sp>
      <p:sp>
        <p:nvSpPr>
          <p:cNvPr id="33795" name="Rectangle 1"/>
          <p:cNvSpPr>
            <a:spLocks noChangeArrowheads="1"/>
          </p:cNvSpPr>
          <p:nvPr/>
        </p:nvSpPr>
        <p:spPr bwMode="auto">
          <a:xfrm>
            <a:off x="0" y="3945443"/>
            <a:ext cx="9906000" cy="769441"/>
          </a:xfrm>
          <a:prstGeom prst="rect">
            <a:avLst/>
          </a:prstGeom>
          <a:noFill/>
          <a:ln w="9525">
            <a:noFill/>
            <a:miter lim="800000"/>
            <a:headEnd/>
            <a:tailEnd/>
          </a:ln>
        </p:spPr>
        <p:txBody>
          <a:bodyPr anchor="ctr">
            <a:spAutoFit/>
          </a:bodyPr>
          <a:lstStyle/>
          <a:p>
            <a:r>
              <a:rPr lang="en-GB" sz="1100" dirty="0" smtClean="0">
                <a:latin typeface="Courier New" pitchFamily="49" charset="0"/>
                <a:cs typeface="Courier New" pitchFamily="49" charset="0"/>
              </a:rPr>
              <a:t>P 0151 00001226 </a:t>
            </a:r>
            <a:r>
              <a:rPr lang="en-GB" sz="1100" dirty="0" err="1" smtClean="0">
                <a:latin typeface="Courier New" pitchFamily="49" charset="0"/>
                <a:cs typeface="Courier New" pitchFamily="49" charset="0"/>
              </a:rPr>
              <a:t>224A3</a:t>
            </a:r>
            <a:r>
              <a:rPr lang="en-GB" sz="1100" dirty="0" smtClean="0">
                <a:latin typeface="Courier New" pitchFamily="49" charset="0"/>
                <a:cs typeface="Courier New" pitchFamily="49" charset="0"/>
              </a:rPr>
              <a:t>-- </a:t>
            </a:r>
            <a:r>
              <a:rPr lang="en-GB" sz="1100" dirty="0" err="1" smtClean="0">
                <a:latin typeface="Courier New" pitchFamily="49" charset="0"/>
                <a:cs typeface="Courier New" pitchFamily="49" charset="0"/>
              </a:rPr>
              <a:t>MTEV</a:t>
            </a:r>
            <a:r>
              <a:rPr lang="en-GB" sz="1100" dirty="0" smtClean="0">
                <a:latin typeface="Courier New" pitchFamily="49" charset="0"/>
                <a:cs typeface="Courier New" pitchFamily="49" charset="0"/>
              </a:rPr>
              <a:t>(</a:t>
            </a:r>
            <a:r>
              <a:rPr lang="en-GB" sz="1100" dirty="0" err="1" smtClean="0">
                <a:latin typeface="Courier New" pitchFamily="49" charset="0"/>
                <a:cs typeface="Courier New" pitchFamily="49" charset="0"/>
              </a:rPr>
              <a:t>MOTB</a:t>
            </a:r>
            <a:r>
              <a:rPr lang="en-GB" sz="1100" dirty="0" smtClean="0">
                <a:latin typeface="Courier New" pitchFamily="49" charset="0"/>
                <a:cs typeface="Courier New" pitchFamily="49" charset="0"/>
              </a:rPr>
              <a:t>) 01011268(001) 0000 </a:t>
            </a:r>
            <a:r>
              <a:rPr lang="en-GB" sz="1100" dirty="0" err="1" smtClean="0">
                <a:latin typeface="Courier New" pitchFamily="49" charset="0"/>
                <a:cs typeface="Courier New" pitchFamily="49" charset="0"/>
              </a:rPr>
              <a:t>MOTB-RECSENSORS</a:t>
            </a:r>
            <a:r>
              <a:rPr lang="en-GB" sz="1100" dirty="0" smtClean="0">
                <a:latin typeface="Courier New" pitchFamily="49" charset="0"/>
                <a:cs typeface="Courier New" pitchFamily="49" charset="0"/>
              </a:rPr>
              <a:t>{SEEK NEXT INPUT{{00248641</a:t>
            </a:r>
          </a:p>
          <a:p>
            <a:r>
              <a:rPr lang="en-GB" sz="1100" dirty="0" smtClean="0">
                <a:latin typeface="Courier New" pitchFamily="49" charset="0"/>
                <a:cs typeface="Courier New" pitchFamily="49" charset="0"/>
              </a:rPr>
              <a:t>P 0151 00001229 </a:t>
            </a:r>
            <a:r>
              <a:rPr lang="en-GB" sz="1100" dirty="0" err="1" smtClean="0">
                <a:latin typeface="Courier New" pitchFamily="49" charset="0"/>
                <a:cs typeface="Courier New" pitchFamily="49" charset="0"/>
              </a:rPr>
              <a:t>224A4</a:t>
            </a:r>
            <a:r>
              <a:rPr lang="en-GB" sz="1100" dirty="0" smtClean="0">
                <a:latin typeface="Courier New" pitchFamily="49" charset="0"/>
                <a:cs typeface="Courier New" pitchFamily="49" charset="0"/>
              </a:rPr>
              <a:t>-- </a:t>
            </a:r>
            <a:r>
              <a:rPr lang="en-GB" sz="1100" dirty="0" err="1" smtClean="0">
                <a:latin typeface="Courier New" pitchFamily="49" charset="0"/>
                <a:cs typeface="Courier New" pitchFamily="49" charset="0"/>
              </a:rPr>
              <a:t>STEV</a:t>
            </a:r>
            <a:r>
              <a:rPr lang="en-GB" sz="1100" dirty="0" smtClean="0">
                <a:latin typeface="Courier New" pitchFamily="49" charset="0"/>
                <a:cs typeface="Courier New" pitchFamily="49" charset="0"/>
              </a:rPr>
              <a:t>(MOTO) 01010520(001) 0000 MOTO-</a:t>
            </a:r>
            <a:r>
              <a:rPr lang="en-GB" sz="1100" dirty="0" err="1" smtClean="0">
                <a:latin typeface="Courier New" pitchFamily="49" charset="0"/>
                <a:cs typeface="Courier New" pitchFamily="49" charset="0"/>
              </a:rPr>
              <a:t>RECSENSORS</a:t>
            </a:r>
            <a:r>
              <a:rPr lang="en-GB" sz="1100" dirty="0" smtClean="0">
                <a:latin typeface="Courier New" pitchFamily="49" charset="0"/>
                <a:cs typeface="Courier New" pitchFamily="49" charset="0"/>
              </a:rPr>
              <a:t>{SEEK NEXT INPUT{{00248641</a:t>
            </a:r>
          </a:p>
          <a:p>
            <a:r>
              <a:rPr lang="en-GB" sz="1100" dirty="0" smtClean="0">
                <a:latin typeface="Courier New" pitchFamily="49" charset="0"/>
                <a:cs typeface="Courier New" pitchFamily="49" charset="0"/>
              </a:rPr>
              <a:t>P 0151 00001233 </a:t>
            </a:r>
            <a:r>
              <a:rPr lang="en-GB" sz="1100" dirty="0" err="1" smtClean="0">
                <a:latin typeface="Courier New" pitchFamily="49" charset="0"/>
                <a:cs typeface="Courier New" pitchFamily="49" charset="0"/>
              </a:rPr>
              <a:t>224A5</a:t>
            </a:r>
            <a:r>
              <a:rPr lang="en-GB" sz="1100" dirty="0" smtClean="0">
                <a:latin typeface="Courier New" pitchFamily="49" charset="0"/>
                <a:cs typeface="Courier New" pitchFamily="49" charset="0"/>
              </a:rPr>
              <a:t>-- </a:t>
            </a:r>
            <a:r>
              <a:rPr lang="en-GB" sz="1100" dirty="0" err="1" smtClean="0">
                <a:latin typeface="Courier New" pitchFamily="49" charset="0"/>
                <a:cs typeface="Courier New" pitchFamily="49" charset="0"/>
              </a:rPr>
              <a:t>STEV</a:t>
            </a:r>
            <a:r>
              <a:rPr lang="en-GB" sz="1100" dirty="0" smtClean="0">
                <a:latin typeface="Courier New" pitchFamily="49" charset="0"/>
                <a:cs typeface="Courier New" pitchFamily="49" charset="0"/>
              </a:rPr>
              <a:t>(MOTE) 01012613(001) 0000 MOTE-</a:t>
            </a:r>
            <a:r>
              <a:rPr lang="en-GB" sz="1100" dirty="0" err="1" smtClean="0">
                <a:latin typeface="Courier New" pitchFamily="49" charset="0"/>
                <a:cs typeface="Courier New" pitchFamily="49" charset="0"/>
              </a:rPr>
              <a:t>RECSENSORS</a:t>
            </a:r>
            <a:r>
              <a:rPr lang="en-GB" sz="1100" dirty="0" smtClean="0">
                <a:latin typeface="Courier New" pitchFamily="49" charset="0"/>
                <a:cs typeface="Courier New" pitchFamily="49" charset="0"/>
              </a:rPr>
              <a:t>{SEEK NEXT INPUT{{00248641</a:t>
            </a:r>
          </a:p>
          <a:p>
            <a:r>
              <a:rPr lang="en-GB" sz="1100" dirty="0" smtClean="0">
                <a:latin typeface="Courier New" pitchFamily="49" charset="0"/>
                <a:cs typeface="Courier New" pitchFamily="49" charset="0"/>
              </a:rPr>
              <a:t>C ** COMMENT ** </a:t>
            </a:r>
            <a:r>
              <a:rPr lang="en-GB" sz="1100" dirty="0" err="1" smtClean="0">
                <a:latin typeface="Courier New" pitchFamily="49" charset="0"/>
                <a:cs typeface="Courier New" pitchFamily="49" charset="0"/>
              </a:rPr>
              <a:t>224A5</a:t>
            </a:r>
            <a:r>
              <a:rPr lang="en-GB" sz="1100" dirty="0" smtClean="0">
                <a:latin typeface="Courier New" pitchFamily="49" charset="0"/>
                <a:cs typeface="Courier New" pitchFamily="49" charset="0"/>
              </a:rPr>
              <a:t>-- No KEY DUPLICATE </a:t>
            </a:r>
            <a:r>
              <a:rPr lang="en-GB" sz="1100" dirty="0" err="1" smtClean="0">
                <a:latin typeface="Courier New" pitchFamily="49" charset="0"/>
                <a:cs typeface="Courier New" pitchFamily="49" charset="0"/>
              </a:rPr>
              <a:t>LTM</a:t>
            </a:r>
            <a:r>
              <a:rPr lang="en-GB" sz="1100" dirty="0" smtClean="0">
                <a:latin typeface="Courier New" pitchFamily="49" charset="0"/>
                <a:cs typeface="Courier New" pitchFamily="49" charset="0"/>
              </a:rPr>
              <a:t>(</a:t>
            </a:r>
            <a:r>
              <a:rPr lang="en-GB" sz="1100" dirty="0" err="1" smtClean="0">
                <a:latin typeface="Courier New" pitchFamily="49" charset="0"/>
                <a:cs typeface="Courier New" pitchFamily="49" charset="0"/>
              </a:rPr>
              <a:t>MOTM</a:t>
            </a:r>
            <a:r>
              <a:rPr lang="en-GB" sz="1100" dirty="0" smtClean="0">
                <a:latin typeface="Courier New" pitchFamily="49" charset="0"/>
                <a:cs typeface="Courier New" pitchFamily="49" charset="0"/>
              </a:rPr>
              <a:t>) found, so no 'depth' to </a:t>
            </a:r>
            <a:r>
              <a:rPr lang="en-GB" sz="1100" dirty="0" err="1" smtClean="0">
                <a:latin typeface="Courier New" pitchFamily="49" charset="0"/>
                <a:cs typeface="Courier New" pitchFamily="49" charset="0"/>
              </a:rPr>
              <a:t>MOTM</a:t>
            </a:r>
            <a:r>
              <a:rPr lang="en-GB" sz="1100" dirty="0" smtClean="0">
                <a:latin typeface="Courier New" pitchFamily="49" charset="0"/>
                <a:cs typeface="Courier New" pitchFamily="49" charset="0"/>
              </a:rPr>
              <a:t> MOTOR COMPOSITION for this </a:t>
            </a:r>
            <a:r>
              <a:rPr lang="en-GB" sz="1100" dirty="0" err="1" smtClean="0">
                <a:latin typeface="Courier New" pitchFamily="49" charset="0"/>
                <a:cs typeface="Courier New" pitchFamily="49" charset="0"/>
              </a:rPr>
              <a:t>ACTEME</a:t>
            </a:r>
            <a:endParaRPr lang="en-GB" sz="1100" dirty="0" smtClean="0">
              <a:latin typeface="Courier New" pitchFamily="49" charset="0"/>
              <a:cs typeface="Courier New" pitchFamily="49" charset="0"/>
            </a:endParaRPr>
          </a:p>
        </p:txBody>
      </p:sp>
      <p:sp>
        <p:nvSpPr>
          <p:cNvPr id="7" name="Rounded Rectangular Callout 6"/>
          <p:cNvSpPr/>
          <p:nvPr/>
        </p:nvSpPr>
        <p:spPr bwMode="auto">
          <a:xfrm>
            <a:off x="95216" y="4786322"/>
            <a:ext cx="1000132" cy="642942"/>
          </a:xfrm>
          <a:prstGeom prst="wedgeRoundRectCallout">
            <a:avLst>
              <a:gd name="adj1" fmla="val -15181"/>
              <a:gd name="adj2" fmla="val -98373"/>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Item</a:t>
            </a:r>
            <a:r>
              <a:rPr kumimoji="0" lang="en-GB" sz="1800" b="0" i="0" u="none" strike="noStrike" cap="none" normalizeH="0" dirty="0" smtClean="0">
                <a:ln>
                  <a:noFill/>
                </a:ln>
                <a:solidFill>
                  <a:schemeClr val="tx1"/>
                </a:solidFill>
                <a:effectLst/>
                <a:latin typeface="Arial" charset="0"/>
              </a:rPr>
              <a:t> </a:t>
            </a:r>
          </a:p>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dirty="0" smtClean="0">
                <a:ln>
                  <a:noFill/>
                </a:ln>
                <a:solidFill>
                  <a:schemeClr val="tx1"/>
                </a:solidFill>
                <a:effectLst/>
                <a:latin typeface="Arial" charset="0"/>
              </a:rPr>
              <a:t>No</a:t>
            </a:r>
            <a:endParaRPr kumimoji="0" lang="en-GB" sz="1800" b="0" i="0" u="none" strike="noStrike" cap="none" normalizeH="0" baseline="0" dirty="0" smtClean="0">
              <a:ln>
                <a:noFill/>
              </a:ln>
              <a:solidFill>
                <a:schemeClr val="tx1"/>
              </a:solidFill>
              <a:effectLst/>
              <a:latin typeface="Arial" charset="0"/>
            </a:endParaRPr>
          </a:p>
        </p:txBody>
      </p:sp>
      <p:sp>
        <p:nvSpPr>
          <p:cNvPr id="8" name="Rounded Rectangular Callout 7"/>
          <p:cNvSpPr/>
          <p:nvPr/>
        </p:nvSpPr>
        <p:spPr bwMode="auto">
          <a:xfrm>
            <a:off x="952472" y="4786322"/>
            <a:ext cx="1000132" cy="642942"/>
          </a:xfrm>
          <a:prstGeom prst="wedgeRoundRectCallout">
            <a:avLst>
              <a:gd name="adj1" fmla="val -30169"/>
              <a:gd name="adj2" fmla="val -105368"/>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Time</a:t>
            </a:r>
          </a:p>
          <a:p>
            <a:pPr marL="0" marR="0" indent="0" algn="ctr" defTabSz="914400" rtl="0" eaLnBrk="1" fontAlgn="base" latinLnBrk="0" hangingPunct="1">
              <a:lnSpc>
                <a:spcPct val="100000"/>
              </a:lnSpc>
              <a:spcBef>
                <a:spcPct val="0"/>
              </a:spcBef>
              <a:spcAft>
                <a:spcPct val="0"/>
              </a:spcAft>
              <a:buClrTx/>
              <a:buSzTx/>
              <a:buFontTx/>
              <a:buNone/>
              <a:tabLst/>
            </a:pPr>
            <a:r>
              <a:rPr lang="en-GB" dirty="0" smtClean="0"/>
              <a:t>(thou)</a:t>
            </a:r>
            <a:endParaRPr kumimoji="0" lang="en-GB" sz="1800" b="0" i="0" u="none" strike="noStrike" cap="none" normalizeH="0" baseline="0" dirty="0" smtClean="0">
              <a:ln>
                <a:noFill/>
              </a:ln>
              <a:solidFill>
                <a:schemeClr val="tx1"/>
              </a:solidFill>
              <a:effectLst/>
              <a:latin typeface="Arial" charset="0"/>
            </a:endParaRPr>
          </a:p>
        </p:txBody>
      </p:sp>
      <p:sp>
        <p:nvSpPr>
          <p:cNvPr id="9" name="Rounded Rectangular Callout 8"/>
          <p:cNvSpPr/>
          <p:nvPr/>
        </p:nvSpPr>
        <p:spPr bwMode="auto">
          <a:xfrm>
            <a:off x="1809728" y="4786322"/>
            <a:ext cx="1000132" cy="642942"/>
          </a:xfrm>
          <a:prstGeom prst="wedgeRoundRectCallout">
            <a:avLst>
              <a:gd name="adj1" fmla="val -61645"/>
              <a:gd name="adj2" fmla="val -105368"/>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Step</a:t>
            </a:r>
          </a:p>
          <a:p>
            <a:pPr marL="0" marR="0" indent="0" algn="ctr" defTabSz="914400" rtl="0" eaLnBrk="1" fontAlgn="base" latinLnBrk="0" hangingPunct="1">
              <a:lnSpc>
                <a:spcPct val="100000"/>
              </a:lnSpc>
              <a:spcBef>
                <a:spcPct val="0"/>
              </a:spcBef>
              <a:spcAft>
                <a:spcPct val="0"/>
              </a:spcAft>
              <a:buClrTx/>
              <a:buSzTx/>
              <a:buFontTx/>
              <a:buNone/>
              <a:tabLst/>
            </a:pPr>
            <a:r>
              <a:rPr lang="en-GB" dirty="0" smtClean="0"/>
              <a:t>Id</a:t>
            </a:r>
            <a:endParaRPr kumimoji="0" lang="en-GB" sz="1800" b="0" i="0" u="none" strike="noStrike" cap="none" normalizeH="0" baseline="0" dirty="0" smtClean="0">
              <a:ln>
                <a:noFill/>
              </a:ln>
              <a:solidFill>
                <a:schemeClr val="tx1"/>
              </a:solidFill>
              <a:effectLst/>
              <a:latin typeface="Arial" charset="0"/>
            </a:endParaRPr>
          </a:p>
        </p:txBody>
      </p:sp>
      <p:sp>
        <p:nvSpPr>
          <p:cNvPr id="10" name="Rounded Rectangular Callout 9"/>
          <p:cNvSpPr/>
          <p:nvPr/>
        </p:nvSpPr>
        <p:spPr bwMode="auto">
          <a:xfrm>
            <a:off x="2595546" y="4786322"/>
            <a:ext cx="1000132" cy="642942"/>
          </a:xfrm>
          <a:prstGeom prst="wedgeRoundRectCallout">
            <a:avLst>
              <a:gd name="adj1" fmla="val -63143"/>
              <a:gd name="adj2" fmla="val -105368"/>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err="1" smtClean="0">
                <a:ln>
                  <a:noFill/>
                </a:ln>
                <a:solidFill>
                  <a:schemeClr val="tx1"/>
                </a:solidFill>
                <a:effectLst/>
                <a:latin typeface="Arial" charset="0"/>
              </a:rPr>
              <a:t>Rec</a:t>
            </a:r>
            <a:endParaRPr lang="en-GB" dirty="0" smtClean="0"/>
          </a:p>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Types</a:t>
            </a:r>
          </a:p>
        </p:txBody>
      </p:sp>
      <p:sp>
        <p:nvSpPr>
          <p:cNvPr id="12" name="Rounded Rectangular Callout 11"/>
          <p:cNvSpPr/>
          <p:nvPr/>
        </p:nvSpPr>
        <p:spPr bwMode="auto">
          <a:xfrm>
            <a:off x="3452802" y="4786322"/>
            <a:ext cx="857256" cy="642942"/>
          </a:xfrm>
          <a:prstGeom prst="wedgeRoundRectCallout">
            <a:avLst>
              <a:gd name="adj1" fmla="val -29919"/>
              <a:gd name="adj2" fmla="val -105368"/>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DB</a:t>
            </a:r>
          </a:p>
          <a:p>
            <a:pPr marL="0" marR="0" indent="0" algn="ctr" defTabSz="914400" rtl="0" eaLnBrk="1" fontAlgn="base" latinLnBrk="0" hangingPunct="1">
              <a:lnSpc>
                <a:spcPct val="100000"/>
              </a:lnSpc>
              <a:spcBef>
                <a:spcPct val="0"/>
              </a:spcBef>
              <a:spcAft>
                <a:spcPct val="0"/>
              </a:spcAft>
              <a:buClrTx/>
              <a:buSzTx/>
              <a:buFontTx/>
              <a:buNone/>
              <a:tabLst/>
            </a:pPr>
            <a:r>
              <a:rPr lang="en-GB" dirty="0" smtClean="0"/>
              <a:t>Key</a:t>
            </a:r>
            <a:endParaRPr kumimoji="0" lang="en-GB" sz="1800" b="0" i="0" u="none" strike="noStrike" cap="none" normalizeH="0" baseline="0" dirty="0" smtClean="0">
              <a:ln>
                <a:noFill/>
              </a:ln>
              <a:solidFill>
                <a:schemeClr val="tx1"/>
              </a:solidFill>
              <a:effectLst/>
              <a:latin typeface="Arial" charset="0"/>
            </a:endParaRPr>
          </a:p>
        </p:txBody>
      </p:sp>
      <p:sp>
        <p:nvSpPr>
          <p:cNvPr id="13" name="Rounded Rectangular Callout 12"/>
          <p:cNvSpPr/>
          <p:nvPr/>
        </p:nvSpPr>
        <p:spPr bwMode="auto">
          <a:xfrm>
            <a:off x="4238620" y="4786322"/>
            <a:ext cx="857256" cy="642942"/>
          </a:xfrm>
          <a:prstGeom prst="wedgeRoundRectCallout">
            <a:avLst>
              <a:gd name="adj1" fmla="val -29919"/>
              <a:gd name="adj2" fmla="val -105368"/>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Error</a:t>
            </a:r>
          </a:p>
          <a:p>
            <a:pPr marL="0" marR="0" indent="0" algn="ctr" defTabSz="914400" rtl="0" eaLnBrk="1" fontAlgn="base" latinLnBrk="0" hangingPunct="1">
              <a:lnSpc>
                <a:spcPct val="100000"/>
              </a:lnSpc>
              <a:spcBef>
                <a:spcPct val="0"/>
              </a:spcBef>
              <a:spcAft>
                <a:spcPct val="0"/>
              </a:spcAft>
              <a:buClrTx/>
              <a:buSzTx/>
              <a:buFontTx/>
              <a:buNone/>
              <a:tabLst/>
            </a:pPr>
            <a:r>
              <a:rPr lang="en-GB" dirty="0" smtClean="0"/>
              <a:t>Status</a:t>
            </a:r>
            <a:endParaRPr kumimoji="0" lang="en-GB" sz="1800" b="0" i="0" u="none" strike="noStrike" cap="none" normalizeH="0" baseline="0" dirty="0" smtClean="0">
              <a:ln>
                <a:noFill/>
              </a:ln>
              <a:solidFill>
                <a:schemeClr val="tx1"/>
              </a:solidFill>
              <a:effectLst/>
              <a:latin typeface="Arial" charset="0"/>
            </a:endParaRPr>
          </a:p>
        </p:txBody>
      </p:sp>
      <p:sp>
        <p:nvSpPr>
          <p:cNvPr id="14" name="Rounded Rectangular Callout 13"/>
          <p:cNvSpPr/>
          <p:nvPr/>
        </p:nvSpPr>
        <p:spPr bwMode="auto">
          <a:xfrm>
            <a:off x="5381628" y="4786322"/>
            <a:ext cx="1285884" cy="642942"/>
          </a:xfrm>
          <a:prstGeom prst="wedgeRoundRectCallout">
            <a:avLst>
              <a:gd name="adj1" fmla="val -80047"/>
              <a:gd name="adj2" fmla="val -96042"/>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External</a:t>
            </a:r>
          </a:p>
          <a:p>
            <a:pPr marL="0" marR="0" indent="0" algn="ctr" defTabSz="914400" rtl="0" eaLnBrk="1" fontAlgn="base" latinLnBrk="0" hangingPunct="1">
              <a:lnSpc>
                <a:spcPct val="100000"/>
              </a:lnSpc>
              <a:spcBef>
                <a:spcPct val="0"/>
              </a:spcBef>
              <a:spcAft>
                <a:spcPct val="0"/>
              </a:spcAft>
              <a:buClrTx/>
              <a:buSzTx/>
              <a:buFontTx/>
              <a:buNone/>
              <a:tabLst/>
            </a:pPr>
            <a:r>
              <a:rPr lang="en-GB" dirty="0" smtClean="0"/>
              <a:t>Key Prefix</a:t>
            </a:r>
            <a:endParaRPr kumimoji="0" lang="en-GB" sz="1800" b="0" i="0" u="none" strike="noStrike" cap="none" normalizeH="0" baseline="0" dirty="0" smtClean="0">
              <a:ln>
                <a:noFill/>
              </a:ln>
              <a:solidFill>
                <a:schemeClr val="tx1"/>
              </a:solidFill>
              <a:effectLst/>
              <a:latin typeface="Arial" charset="0"/>
            </a:endParaRPr>
          </a:p>
        </p:txBody>
      </p:sp>
      <p:sp>
        <p:nvSpPr>
          <p:cNvPr id="16" name="Rounded Rectangular Callout 15"/>
          <p:cNvSpPr/>
          <p:nvPr/>
        </p:nvSpPr>
        <p:spPr bwMode="auto">
          <a:xfrm>
            <a:off x="6596074" y="4786322"/>
            <a:ext cx="1285884" cy="642942"/>
          </a:xfrm>
          <a:prstGeom prst="wedgeRoundRectCallout">
            <a:avLst>
              <a:gd name="adj1" fmla="val -70721"/>
              <a:gd name="adj2" fmla="val -93711"/>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External</a:t>
            </a:r>
          </a:p>
          <a:p>
            <a:pPr marL="0" marR="0" indent="0" algn="ctr" defTabSz="914400" rtl="0" eaLnBrk="1" fontAlgn="base" latinLnBrk="0" hangingPunct="1">
              <a:lnSpc>
                <a:spcPct val="100000"/>
              </a:lnSpc>
              <a:spcBef>
                <a:spcPct val="0"/>
              </a:spcBef>
              <a:spcAft>
                <a:spcPct val="0"/>
              </a:spcAft>
              <a:buClrTx/>
              <a:buSzTx/>
              <a:buFontTx/>
              <a:buNone/>
              <a:tabLst/>
            </a:pPr>
            <a:r>
              <a:rPr lang="en-GB" dirty="0" smtClean="0"/>
              <a:t>Key Body</a:t>
            </a:r>
            <a:endParaRPr kumimoji="0" lang="en-GB" sz="1800" b="0" i="0" u="none" strike="noStrike" cap="none" normalizeH="0" baseline="0" dirty="0" smtClean="0">
              <a:ln>
                <a:noFill/>
              </a:ln>
              <a:solidFill>
                <a:schemeClr val="tx1"/>
              </a:solidFill>
              <a:effectLst/>
              <a:latin typeface="Arial" charset="0"/>
            </a:endParaRPr>
          </a:p>
        </p:txBody>
      </p:sp>
      <p:sp>
        <p:nvSpPr>
          <p:cNvPr id="17" name="Rounded Rectangular Callout 16"/>
          <p:cNvSpPr/>
          <p:nvPr/>
        </p:nvSpPr>
        <p:spPr bwMode="auto">
          <a:xfrm>
            <a:off x="7810520" y="4786322"/>
            <a:ext cx="1785950" cy="642942"/>
          </a:xfrm>
          <a:prstGeom prst="wedgeRoundRectCallout">
            <a:avLst>
              <a:gd name="adj1" fmla="val -50903"/>
              <a:gd name="adj2" fmla="val -96042"/>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External</a:t>
            </a:r>
          </a:p>
          <a:p>
            <a:pPr marL="0" marR="0" indent="0" algn="ctr" defTabSz="914400" rtl="0" eaLnBrk="1" fontAlgn="base" latinLnBrk="0" hangingPunct="1">
              <a:lnSpc>
                <a:spcPct val="100000"/>
              </a:lnSpc>
              <a:spcBef>
                <a:spcPct val="0"/>
              </a:spcBef>
              <a:spcAft>
                <a:spcPct val="0"/>
              </a:spcAft>
              <a:buClrTx/>
              <a:buSzTx/>
              <a:buFontTx/>
              <a:buNone/>
              <a:tabLst/>
            </a:pPr>
            <a:r>
              <a:rPr lang="en-GB" dirty="0" smtClean="0"/>
              <a:t>Key Timestamp</a:t>
            </a:r>
            <a:endParaRPr kumimoji="0" lang="en-GB" sz="1800" b="0" i="0" u="none" strike="noStrike" cap="none" normalizeH="0" baseline="0" dirty="0" smtClean="0">
              <a:ln>
                <a:noFill/>
              </a:ln>
              <a:solidFill>
                <a:schemeClr val="tx1"/>
              </a:solidFill>
              <a:effectLst/>
              <a:latin typeface="Arial" charset="0"/>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0" y="0"/>
            <a:ext cx="9906000" cy="1700213"/>
          </a:xfrm>
        </p:spPr>
        <p:txBody>
          <a:bodyPr/>
          <a:lstStyle/>
          <a:p>
            <a:pPr eaLnBrk="1" hangingPunct="1"/>
            <a:r>
              <a:rPr lang="en-GB" sz="3200" b="1" smtClean="0"/>
              <a:t>INTRODUCING PROJECT </a:t>
            </a:r>
            <a:r>
              <a:rPr lang="en-GB" sz="3200" b="1" i="1" smtClean="0"/>
              <a:t>KONRAD</a:t>
            </a:r>
            <a:br>
              <a:rPr lang="en-GB" sz="3200" b="1" i="1" smtClean="0"/>
            </a:br>
            <a:r>
              <a:rPr lang="en-GB" sz="3200" b="1" smtClean="0"/>
              <a:t>THE PRINT OUT</a:t>
            </a:r>
            <a:endParaRPr lang="en-US" sz="3200" b="1" smtClean="0"/>
          </a:p>
        </p:txBody>
      </p:sp>
      <p:sp>
        <p:nvSpPr>
          <p:cNvPr id="5" name="Rectangle 3"/>
          <p:cNvSpPr txBox="1">
            <a:spLocks noChangeArrowheads="1"/>
          </p:cNvSpPr>
          <p:nvPr/>
        </p:nvSpPr>
        <p:spPr bwMode="auto">
          <a:xfrm>
            <a:off x="0" y="1857412"/>
            <a:ext cx="9667908" cy="4214794"/>
          </a:xfrm>
          <a:prstGeom prst="rect">
            <a:avLst/>
          </a:prstGeom>
          <a:noFill/>
          <a:ln w="9525">
            <a:noFill/>
            <a:miter lim="800000"/>
            <a:headEnd/>
            <a:tailEnd/>
          </a:ln>
        </p:spPr>
        <p:txBody>
          <a:bodyPr/>
          <a:lstStyle/>
          <a:p>
            <a:pPr marL="342900" indent="-342900">
              <a:spcBef>
                <a:spcPct val="20000"/>
              </a:spcBef>
              <a:buFontTx/>
              <a:buChar char="•"/>
              <a:defRPr/>
            </a:pPr>
            <a:r>
              <a:rPr lang="en-GB" sz="2400" b="1" kern="0" dirty="0">
                <a:latin typeface="+mn-lt"/>
              </a:rPr>
              <a:t>The report as a whole </a:t>
            </a:r>
            <a:r>
              <a:rPr lang="en-GB" sz="2400" b="1" kern="0" dirty="0" smtClean="0">
                <a:latin typeface="+mn-lt"/>
              </a:rPr>
              <a:t>thus provides </a:t>
            </a:r>
            <a:r>
              <a:rPr lang="en-GB" sz="2400" b="1" kern="0" dirty="0">
                <a:latin typeface="+mn-lt"/>
              </a:rPr>
              <a:t>a permanent record of an act of machine cognition which actually ran in </a:t>
            </a:r>
            <a:r>
              <a:rPr lang="en-GB" sz="2400" b="1" kern="0" dirty="0" smtClean="0">
                <a:latin typeface="+mn-lt"/>
              </a:rPr>
              <a:t>milliseconds. </a:t>
            </a:r>
            <a:r>
              <a:rPr lang="en-GB" sz="2400" b="1" kern="0" cap="all" dirty="0" smtClean="0">
                <a:solidFill>
                  <a:srgbClr val="FF0000"/>
                </a:solidFill>
                <a:latin typeface="+mn-lt"/>
              </a:rPr>
              <a:t>cognition </a:t>
            </a:r>
            <a:r>
              <a:rPr lang="en-GB" sz="2400" b="1" kern="0" cap="all" dirty="0">
                <a:solidFill>
                  <a:srgbClr val="FF0000"/>
                </a:solidFill>
                <a:latin typeface="+mn-lt"/>
              </a:rPr>
              <a:t>thus becomes visible in slow motion after the event, as promised</a:t>
            </a:r>
            <a:r>
              <a:rPr lang="en-GB" sz="2400" b="1" kern="0" dirty="0" smtClean="0">
                <a:solidFill>
                  <a:srgbClr val="FF0000"/>
                </a:solidFill>
                <a:latin typeface="+mn-lt"/>
              </a:rPr>
              <a:t>.</a:t>
            </a:r>
          </a:p>
          <a:p>
            <a:pPr marL="342900" indent="-342900">
              <a:spcBef>
                <a:spcPct val="20000"/>
              </a:spcBef>
              <a:buFontTx/>
              <a:buChar char="•"/>
              <a:defRPr/>
            </a:pPr>
            <a:endParaRPr lang="en-GB" sz="2400" b="1" kern="0" dirty="0" smtClean="0">
              <a:solidFill>
                <a:srgbClr val="FF0000"/>
              </a:solidFill>
              <a:latin typeface="+mn-lt"/>
            </a:endParaRPr>
          </a:p>
          <a:p>
            <a:pPr marL="342900" lvl="0" indent="-342900">
              <a:spcBef>
                <a:spcPct val="20000"/>
              </a:spcBef>
              <a:buFontTx/>
              <a:buChar char="•"/>
              <a:defRPr/>
            </a:pPr>
            <a:r>
              <a:rPr lang="en-GB" sz="2400" b="1" kern="0" dirty="0" smtClean="0"/>
              <a:t>A sample of Print Out is included in the Conference Pack, and full-length originals are available for download from ..... </a:t>
            </a:r>
            <a:r>
              <a:rPr lang="en-GB" sz="2400" b="1" kern="0" dirty="0" err="1" smtClean="0">
                <a:hlinkClick r:id="rId2"/>
              </a:rPr>
              <a:t>http://www.smithsrisca.co.uk/IEHF10/PRTFILE-A.pdf</a:t>
            </a:r>
            <a:endParaRPr lang="en-GB" sz="2400" b="1" kern="0" dirty="0" smtClean="0"/>
          </a:p>
          <a:p>
            <a:pPr marL="342900" lvl="0" indent="-342900">
              <a:spcBef>
                <a:spcPct val="20000"/>
              </a:spcBef>
              <a:buFontTx/>
              <a:buChar char="•"/>
              <a:defRPr/>
            </a:pPr>
            <a:r>
              <a:rPr lang="en-GB" sz="2400" b="1" kern="0" dirty="0" smtClean="0">
                <a:latin typeface="+mn-lt"/>
              </a:rPr>
              <a:t>And</a:t>
            </a:r>
          </a:p>
          <a:p>
            <a:pPr marL="342900" lvl="0" indent="-342900">
              <a:spcBef>
                <a:spcPct val="20000"/>
              </a:spcBef>
              <a:buFontTx/>
              <a:buChar char="•"/>
              <a:defRPr/>
            </a:pPr>
            <a:r>
              <a:rPr lang="en-GB" sz="2400" b="1" kern="0" dirty="0" err="1" smtClean="0">
                <a:hlinkClick r:id="rId3"/>
              </a:rPr>
              <a:t>http://www.smithsrisca.co.uk/IEHF10/PRTFILE-B.pdf</a:t>
            </a:r>
            <a:endParaRPr lang="en-GB" sz="2400" b="1" kern="0" dirty="0">
              <a:latin typeface="+mn-lt"/>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0" y="0"/>
            <a:ext cx="9906000" cy="1700213"/>
          </a:xfrm>
        </p:spPr>
        <p:txBody>
          <a:bodyPr/>
          <a:lstStyle/>
          <a:p>
            <a:pPr eaLnBrk="1" hangingPunct="1"/>
            <a:r>
              <a:rPr lang="en-GB" sz="3200" b="1" smtClean="0"/>
              <a:t>INTRODUCING PROJECT </a:t>
            </a:r>
            <a:r>
              <a:rPr lang="en-GB" sz="3200" b="1" i="1" smtClean="0"/>
              <a:t>KONRAD</a:t>
            </a:r>
            <a:br>
              <a:rPr lang="en-GB" sz="3200" b="1" i="1" smtClean="0"/>
            </a:br>
            <a:r>
              <a:rPr lang="en-GB" sz="3200" b="1" smtClean="0"/>
              <a:t>THE PRINT OUT</a:t>
            </a:r>
            <a:endParaRPr lang="en-US" sz="3200" b="1" smtClean="0"/>
          </a:p>
        </p:txBody>
      </p:sp>
      <p:sp>
        <p:nvSpPr>
          <p:cNvPr id="33795" name="Rectangle 1"/>
          <p:cNvSpPr>
            <a:spLocks noChangeArrowheads="1"/>
          </p:cNvSpPr>
          <p:nvPr/>
        </p:nvSpPr>
        <p:spPr bwMode="auto">
          <a:xfrm>
            <a:off x="0" y="1928802"/>
            <a:ext cx="9906000" cy="769441"/>
          </a:xfrm>
          <a:prstGeom prst="rect">
            <a:avLst/>
          </a:prstGeom>
          <a:noFill/>
          <a:ln w="9525">
            <a:noFill/>
            <a:miter lim="800000"/>
            <a:headEnd/>
            <a:tailEnd/>
          </a:ln>
        </p:spPr>
        <p:txBody>
          <a:bodyPr anchor="ctr">
            <a:spAutoFit/>
          </a:bodyPr>
          <a:lstStyle/>
          <a:p>
            <a:r>
              <a:rPr lang="en-GB" sz="1100" dirty="0" smtClean="0">
                <a:latin typeface="Courier New" pitchFamily="49" charset="0"/>
                <a:cs typeface="Courier New" pitchFamily="49" charset="0"/>
              </a:rPr>
              <a:t>P 0151 00001226 </a:t>
            </a:r>
            <a:r>
              <a:rPr lang="en-GB" sz="1100" dirty="0" err="1" smtClean="0">
                <a:latin typeface="Courier New" pitchFamily="49" charset="0"/>
                <a:cs typeface="Courier New" pitchFamily="49" charset="0"/>
              </a:rPr>
              <a:t>224A3</a:t>
            </a:r>
            <a:r>
              <a:rPr lang="en-GB" sz="1100" dirty="0" smtClean="0">
                <a:latin typeface="Courier New" pitchFamily="49" charset="0"/>
                <a:cs typeface="Courier New" pitchFamily="49" charset="0"/>
              </a:rPr>
              <a:t>-- </a:t>
            </a:r>
            <a:r>
              <a:rPr lang="en-GB" sz="1100" dirty="0" err="1" smtClean="0">
                <a:latin typeface="Courier New" pitchFamily="49" charset="0"/>
                <a:cs typeface="Courier New" pitchFamily="49" charset="0"/>
              </a:rPr>
              <a:t>MTEV</a:t>
            </a:r>
            <a:r>
              <a:rPr lang="en-GB" sz="1100" dirty="0" smtClean="0">
                <a:latin typeface="Courier New" pitchFamily="49" charset="0"/>
                <a:cs typeface="Courier New" pitchFamily="49" charset="0"/>
              </a:rPr>
              <a:t>(</a:t>
            </a:r>
            <a:r>
              <a:rPr lang="en-GB" sz="1100" dirty="0" err="1" smtClean="0">
                <a:latin typeface="Courier New" pitchFamily="49" charset="0"/>
                <a:cs typeface="Courier New" pitchFamily="49" charset="0"/>
              </a:rPr>
              <a:t>MOTB</a:t>
            </a:r>
            <a:r>
              <a:rPr lang="en-GB" sz="1100" dirty="0" smtClean="0">
                <a:latin typeface="Courier New" pitchFamily="49" charset="0"/>
                <a:cs typeface="Courier New" pitchFamily="49" charset="0"/>
              </a:rPr>
              <a:t>) 01011268(001) 0000 </a:t>
            </a:r>
            <a:r>
              <a:rPr lang="en-GB" sz="1100" dirty="0" err="1" smtClean="0">
                <a:latin typeface="Courier New" pitchFamily="49" charset="0"/>
                <a:cs typeface="Courier New" pitchFamily="49" charset="0"/>
              </a:rPr>
              <a:t>MOTB-RECSENSORS</a:t>
            </a:r>
            <a:r>
              <a:rPr lang="en-GB" sz="1100" dirty="0" smtClean="0">
                <a:latin typeface="Courier New" pitchFamily="49" charset="0"/>
                <a:cs typeface="Courier New" pitchFamily="49" charset="0"/>
              </a:rPr>
              <a:t>{SEEK NEXT INPUT{{00248641</a:t>
            </a:r>
          </a:p>
          <a:p>
            <a:r>
              <a:rPr lang="en-GB" sz="1100" dirty="0" smtClean="0">
                <a:latin typeface="Courier New" pitchFamily="49" charset="0"/>
                <a:cs typeface="Courier New" pitchFamily="49" charset="0"/>
              </a:rPr>
              <a:t>P 0151 00001229 </a:t>
            </a:r>
            <a:r>
              <a:rPr lang="en-GB" sz="1100" dirty="0" err="1" smtClean="0">
                <a:latin typeface="Courier New" pitchFamily="49" charset="0"/>
                <a:cs typeface="Courier New" pitchFamily="49" charset="0"/>
              </a:rPr>
              <a:t>224A4</a:t>
            </a:r>
            <a:r>
              <a:rPr lang="en-GB" sz="1100" dirty="0" smtClean="0">
                <a:latin typeface="Courier New" pitchFamily="49" charset="0"/>
                <a:cs typeface="Courier New" pitchFamily="49" charset="0"/>
              </a:rPr>
              <a:t>-- </a:t>
            </a:r>
            <a:r>
              <a:rPr lang="en-GB" sz="1100" dirty="0" err="1" smtClean="0">
                <a:latin typeface="Courier New" pitchFamily="49" charset="0"/>
                <a:cs typeface="Courier New" pitchFamily="49" charset="0"/>
              </a:rPr>
              <a:t>STEV</a:t>
            </a:r>
            <a:r>
              <a:rPr lang="en-GB" sz="1100" dirty="0" smtClean="0">
                <a:latin typeface="Courier New" pitchFamily="49" charset="0"/>
                <a:cs typeface="Courier New" pitchFamily="49" charset="0"/>
              </a:rPr>
              <a:t>(MOTO) 01010520(001) 0000 MOTO-</a:t>
            </a:r>
            <a:r>
              <a:rPr lang="en-GB" sz="1100" dirty="0" err="1" smtClean="0">
                <a:latin typeface="Courier New" pitchFamily="49" charset="0"/>
                <a:cs typeface="Courier New" pitchFamily="49" charset="0"/>
              </a:rPr>
              <a:t>RECSENSORS</a:t>
            </a:r>
            <a:r>
              <a:rPr lang="en-GB" sz="1100" dirty="0" smtClean="0">
                <a:latin typeface="Courier New" pitchFamily="49" charset="0"/>
                <a:cs typeface="Courier New" pitchFamily="49" charset="0"/>
              </a:rPr>
              <a:t>{SEEK NEXT INPUT{{00248641</a:t>
            </a:r>
          </a:p>
          <a:p>
            <a:r>
              <a:rPr lang="en-GB" sz="1100" dirty="0" smtClean="0">
                <a:latin typeface="Courier New" pitchFamily="49" charset="0"/>
                <a:cs typeface="Courier New" pitchFamily="49" charset="0"/>
              </a:rPr>
              <a:t>P 0151 00001233 </a:t>
            </a:r>
            <a:r>
              <a:rPr lang="en-GB" sz="1100" dirty="0" err="1" smtClean="0">
                <a:latin typeface="Courier New" pitchFamily="49" charset="0"/>
                <a:cs typeface="Courier New" pitchFamily="49" charset="0"/>
              </a:rPr>
              <a:t>224A5</a:t>
            </a:r>
            <a:r>
              <a:rPr lang="en-GB" sz="1100" dirty="0" smtClean="0">
                <a:latin typeface="Courier New" pitchFamily="49" charset="0"/>
                <a:cs typeface="Courier New" pitchFamily="49" charset="0"/>
              </a:rPr>
              <a:t>-- </a:t>
            </a:r>
            <a:r>
              <a:rPr lang="en-GB" sz="1100" dirty="0" err="1" smtClean="0">
                <a:latin typeface="Courier New" pitchFamily="49" charset="0"/>
                <a:cs typeface="Courier New" pitchFamily="49" charset="0"/>
              </a:rPr>
              <a:t>STEV</a:t>
            </a:r>
            <a:r>
              <a:rPr lang="en-GB" sz="1100" dirty="0" smtClean="0">
                <a:latin typeface="Courier New" pitchFamily="49" charset="0"/>
                <a:cs typeface="Courier New" pitchFamily="49" charset="0"/>
              </a:rPr>
              <a:t>(MOTE) 01012613(001) 0000 MOTE-</a:t>
            </a:r>
            <a:r>
              <a:rPr lang="en-GB" sz="1100" dirty="0" err="1" smtClean="0">
                <a:latin typeface="Courier New" pitchFamily="49" charset="0"/>
                <a:cs typeface="Courier New" pitchFamily="49" charset="0"/>
              </a:rPr>
              <a:t>RECSENSORS</a:t>
            </a:r>
            <a:r>
              <a:rPr lang="en-GB" sz="1100" dirty="0" smtClean="0">
                <a:latin typeface="Courier New" pitchFamily="49" charset="0"/>
                <a:cs typeface="Courier New" pitchFamily="49" charset="0"/>
              </a:rPr>
              <a:t>{SEEK NEXT INPUT{{00248641</a:t>
            </a:r>
          </a:p>
          <a:p>
            <a:r>
              <a:rPr lang="en-GB" sz="1100" dirty="0" smtClean="0">
                <a:latin typeface="Courier New" pitchFamily="49" charset="0"/>
                <a:cs typeface="Courier New" pitchFamily="49" charset="0"/>
              </a:rPr>
              <a:t>C ** COMMENT ** </a:t>
            </a:r>
            <a:r>
              <a:rPr lang="en-GB" sz="1100" dirty="0" err="1" smtClean="0">
                <a:latin typeface="Courier New" pitchFamily="49" charset="0"/>
                <a:cs typeface="Courier New" pitchFamily="49" charset="0"/>
              </a:rPr>
              <a:t>224A5</a:t>
            </a:r>
            <a:r>
              <a:rPr lang="en-GB" sz="1100" dirty="0" smtClean="0">
                <a:latin typeface="Courier New" pitchFamily="49" charset="0"/>
                <a:cs typeface="Courier New" pitchFamily="49" charset="0"/>
              </a:rPr>
              <a:t>-- No KEY DUPLICATE </a:t>
            </a:r>
            <a:r>
              <a:rPr lang="en-GB" sz="1100" dirty="0" err="1" smtClean="0">
                <a:latin typeface="Courier New" pitchFamily="49" charset="0"/>
                <a:cs typeface="Courier New" pitchFamily="49" charset="0"/>
              </a:rPr>
              <a:t>LTM</a:t>
            </a:r>
            <a:r>
              <a:rPr lang="en-GB" sz="1100" dirty="0" smtClean="0">
                <a:latin typeface="Courier New" pitchFamily="49" charset="0"/>
                <a:cs typeface="Courier New" pitchFamily="49" charset="0"/>
              </a:rPr>
              <a:t>(</a:t>
            </a:r>
            <a:r>
              <a:rPr lang="en-GB" sz="1100" dirty="0" err="1" smtClean="0">
                <a:latin typeface="Courier New" pitchFamily="49" charset="0"/>
                <a:cs typeface="Courier New" pitchFamily="49" charset="0"/>
              </a:rPr>
              <a:t>MOTM</a:t>
            </a:r>
            <a:r>
              <a:rPr lang="en-GB" sz="1100" dirty="0" smtClean="0">
                <a:latin typeface="Courier New" pitchFamily="49" charset="0"/>
                <a:cs typeface="Courier New" pitchFamily="49" charset="0"/>
              </a:rPr>
              <a:t>) found, so no 'depth' to </a:t>
            </a:r>
            <a:r>
              <a:rPr lang="en-GB" sz="1100" dirty="0" err="1" smtClean="0">
                <a:latin typeface="Courier New" pitchFamily="49" charset="0"/>
                <a:cs typeface="Courier New" pitchFamily="49" charset="0"/>
              </a:rPr>
              <a:t>MOTM</a:t>
            </a:r>
            <a:r>
              <a:rPr lang="en-GB" sz="1100" dirty="0" smtClean="0">
                <a:latin typeface="Courier New" pitchFamily="49" charset="0"/>
                <a:cs typeface="Courier New" pitchFamily="49" charset="0"/>
              </a:rPr>
              <a:t> MOTOR COMPOSITION for this </a:t>
            </a:r>
            <a:r>
              <a:rPr lang="en-GB" sz="1100" dirty="0" err="1" smtClean="0">
                <a:latin typeface="Courier New" pitchFamily="49" charset="0"/>
                <a:cs typeface="Courier New" pitchFamily="49" charset="0"/>
              </a:rPr>
              <a:t>ACTEME</a:t>
            </a:r>
            <a:endParaRPr lang="en-GB" sz="1100" dirty="0" smtClean="0">
              <a:latin typeface="Courier New" pitchFamily="49" charset="0"/>
              <a:cs typeface="Courier New" pitchFamily="49" charset="0"/>
            </a:endParaRPr>
          </a:p>
        </p:txBody>
      </p:sp>
      <p:sp>
        <p:nvSpPr>
          <p:cNvPr id="15" name="Rectangle 3"/>
          <p:cNvSpPr txBox="1">
            <a:spLocks noChangeArrowheads="1"/>
          </p:cNvSpPr>
          <p:nvPr/>
        </p:nvSpPr>
        <p:spPr bwMode="auto">
          <a:xfrm>
            <a:off x="0" y="3071810"/>
            <a:ext cx="9667908" cy="3714704"/>
          </a:xfrm>
          <a:prstGeom prst="rect">
            <a:avLst/>
          </a:prstGeom>
          <a:noFill/>
          <a:ln w="9525">
            <a:noFill/>
            <a:miter lim="800000"/>
            <a:headEnd/>
            <a:tailEnd/>
          </a:ln>
        </p:spPr>
        <p:txBody>
          <a:bodyPr/>
          <a:lstStyle/>
          <a:p>
            <a:pPr marL="342900" indent="-342900">
              <a:spcBef>
                <a:spcPct val="20000"/>
              </a:spcBef>
              <a:buFontTx/>
              <a:buChar char="•"/>
              <a:defRPr/>
            </a:pPr>
            <a:r>
              <a:rPr lang="en-GB" sz="2400" b="1" kern="0" dirty="0" smtClean="0">
                <a:latin typeface="+mn-lt"/>
              </a:rPr>
              <a:t>Given 5 or 6 database operations per module, and 10 modules per </a:t>
            </a:r>
            <a:r>
              <a:rPr lang="en-GB" sz="2400" b="1" kern="0" dirty="0" err="1" smtClean="0">
                <a:latin typeface="+mn-lt"/>
              </a:rPr>
              <a:t>attentional</a:t>
            </a:r>
            <a:r>
              <a:rPr lang="en-GB" sz="2400" b="1" kern="0" dirty="0" smtClean="0">
                <a:latin typeface="+mn-lt"/>
              </a:rPr>
              <a:t> cycle, the “round number” execution times are as follows .....</a:t>
            </a:r>
          </a:p>
          <a:p>
            <a:pPr marL="342900" indent="-342900" algn="ctr">
              <a:spcBef>
                <a:spcPct val="20000"/>
              </a:spcBef>
              <a:defRPr/>
            </a:pPr>
            <a:r>
              <a:rPr lang="en-GB" sz="2400" b="1" kern="0" dirty="0" smtClean="0">
                <a:solidFill>
                  <a:schemeClr val="accent2"/>
                </a:solidFill>
              </a:rPr>
              <a:t>150 </a:t>
            </a:r>
            <a:r>
              <a:rPr lang="en-GB" sz="2400" b="1" kern="0" dirty="0" err="1" smtClean="0">
                <a:solidFill>
                  <a:schemeClr val="accent2"/>
                </a:solidFill>
              </a:rPr>
              <a:t>msec</a:t>
            </a:r>
            <a:r>
              <a:rPr lang="en-GB" sz="2400" b="1" kern="0" dirty="0" smtClean="0">
                <a:solidFill>
                  <a:schemeClr val="accent2"/>
                </a:solidFill>
              </a:rPr>
              <a:t> per cycle</a:t>
            </a:r>
          </a:p>
          <a:p>
            <a:pPr marL="342900" indent="-342900" algn="ctr">
              <a:spcBef>
                <a:spcPct val="20000"/>
              </a:spcBef>
              <a:defRPr/>
            </a:pPr>
            <a:r>
              <a:rPr lang="en-GB" sz="2400" b="1" kern="0" dirty="0" smtClean="0">
                <a:solidFill>
                  <a:schemeClr val="accent2"/>
                </a:solidFill>
              </a:rPr>
              <a:t>15 </a:t>
            </a:r>
            <a:r>
              <a:rPr lang="en-GB" sz="2400" b="1" kern="0" dirty="0" err="1" smtClean="0">
                <a:solidFill>
                  <a:schemeClr val="accent2"/>
                </a:solidFill>
              </a:rPr>
              <a:t>msec</a:t>
            </a:r>
            <a:r>
              <a:rPr lang="en-GB" sz="2400" b="1" kern="0" dirty="0" smtClean="0">
                <a:solidFill>
                  <a:schemeClr val="accent2"/>
                </a:solidFill>
              </a:rPr>
              <a:t> per module</a:t>
            </a:r>
          </a:p>
          <a:p>
            <a:pPr marL="342900" indent="-342900" algn="ctr">
              <a:spcBef>
                <a:spcPct val="20000"/>
              </a:spcBef>
              <a:defRPr/>
            </a:pPr>
            <a:r>
              <a:rPr lang="en-GB" sz="2400" b="1" kern="0" dirty="0" smtClean="0">
                <a:solidFill>
                  <a:schemeClr val="accent2"/>
                </a:solidFill>
              </a:rPr>
              <a:t>2-3 </a:t>
            </a:r>
            <a:r>
              <a:rPr lang="en-GB" sz="2400" b="1" kern="0" dirty="0" err="1" smtClean="0">
                <a:solidFill>
                  <a:schemeClr val="accent2"/>
                </a:solidFill>
              </a:rPr>
              <a:t>msec</a:t>
            </a:r>
            <a:r>
              <a:rPr lang="en-GB" sz="2400" b="1" kern="0" dirty="0" smtClean="0">
                <a:solidFill>
                  <a:schemeClr val="accent2"/>
                </a:solidFill>
              </a:rPr>
              <a:t> per database operation</a:t>
            </a:r>
          </a:p>
          <a:p>
            <a:pPr marL="342900" indent="-342900">
              <a:spcBef>
                <a:spcPct val="20000"/>
              </a:spcBef>
              <a:buFontTx/>
              <a:buChar char="•"/>
              <a:defRPr/>
            </a:pPr>
            <a:endParaRPr lang="en-GB" sz="2400" b="1" kern="0" dirty="0" smtClean="0">
              <a:latin typeface="+mn-lt"/>
            </a:endParaRPr>
          </a:p>
          <a:p>
            <a:pPr marL="342900" indent="-342900">
              <a:spcBef>
                <a:spcPct val="20000"/>
              </a:spcBef>
              <a:buFontTx/>
              <a:buChar char="•"/>
              <a:defRPr/>
            </a:pPr>
            <a:r>
              <a:rPr lang="en-GB" sz="2400" b="1" kern="0" dirty="0" smtClean="0">
                <a:latin typeface="+mn-lt"/>
              </a:rPr>
              <a:t>Comments and deliberate synchronisation delays add roughly as much again. </a:t>
            </a:r>
            <a:endParaRPr lang="en-GB" sz="2400" b="1" kern="0" dirty="0">
              <a:latin typeface="+mn-lt"/>
            </a:endParaRPr>
          </a:p>
        </p:txBody>
      </p:sp>
      <p:sp>
        <p:nvSpPr>
          <p:cNvPr id="5" name="Rounded Rectangular Callout 4"/>
          <p:cNvSpPr/>
          <p:nvPr/>
        </p:nvSpPr>
        <p:spPr bwMode="auto">
          <a:xfrm>
            <a:off x="2666984" y="2214554"/>
            <a:ext cx="6786610" cy="714380"/>
          </a:xfrm>
          <a:prstGeom prst="wedgeRoundRectCallout">
            <a:avLst>
              <a:gd name="adj1" fmla="val -68221"/>
              <a:gd name="adj2" fmla="val -36937"/>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You can calculate the processing time for any given Database</a:t>
            </a:r>
            <a:endParaRPr lang="en-GB" dirty="0" smtClean="0"/>
          </a:p>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dirty="0" smtClean="0">
                <a:ln>
                  <a:noFill/>
                </a:ln>
                <a:solidFill>
                  <a:schemeClr val="tx1"/>
                </a:solidFill>
                <a:effectLst/>
                <a:latin typeface="Arial" charset="0"/>
              </a:rPr>
              <a:t>operation by  subtracting successive timestamps</a:t>
            </a:r>
            <a:r>
              <a:rPr lang="en-GB" dirty="0" smtClean="0"/>
              <a:t> [</a:t>
            </a:r>
            <a:r>
              <a:rPr lang="en-GB" dirty="0" err="1" smtClean="0"/>
              <a:t>msec</a:t>
            </a:r>
            <a:r>
              <a:rPr lang="en-GB" dirty="0" smtClean="0"/>
              <a:t>]</a:t>
            </a:r>
            <a:r>
              <a:rPr kumimoji="0" lang="en-GB" sz="1800" b="0" i="0" u="none" strike="noStrike" cap="none" normalizeH="0" dirty="0" smtClean="0">
                <a:ln>
                  <a:noFill/>
                </a:ln>
                <a:solidFill>
                  <a:schemeClr val="tx1"/>
                </a:solidFill>
                <a:effectLst/>
                <a:latin typeface="Arial" charset="0"/>
              </a:rPr>
              <a:t> </a:t>
            </a:r>
            <a:endParaRPr kumimoji="0" lang="en-GB" sz="1800" b="0" i="0" u="none" strike="noStrike" cap="none" normalizeH="0" baseline="0" dirty="0" smtClean="0">
              <a:ln>
                <a:noFill/>
              </a:ln>
              <a:solidFill>
                <a:schemeClr val="tx1"/>
              </a:solidFill>
              <a:effectLst/>
              <a:latin typeface="Arial" charset="0"/>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95300" y="0"/>
            <a:ext cx="8915400" cy="6858000"/>
          </a:xfrm>
        </p:spPr>
        <p:txBody>
          <a:bodyPr/>
          <a:lstStyle/>
          <a:p>
            <a:pPr eaLnBrk="1" hangingPunct="1"/>
            <a:r>
              <a:rPr lang="en-US" sz="4800" b="1" dirty="0" smtClean="0">
                <a:solidFill>
                  <a:srgbClr val="FF0000"/>
                </a:solidFill>
              </a:rPr>
              <a:t>SECTION 3</a:t>
            </a:r>
            <a:r>
              <a:rPr lang="en-US" sz="4800" b="1" dirty="0" smtClean="0"/>
              <a:t/>
            </a:r>
            <a:br>
              <a:rPr lang="en-US" sz="4800" b="1" dirty="0" smtClean="0"/>
            </a:br>
            <a:r>
              <a:rPr lang="en-US" sz="4800" b="1" dirty="0" smtClean="0"/>
              <a:t/>
            </a:r>
            <a:br>
              <a:rPr lang="en-US" sz="4800" b="1" dirty="0" smtClean="0"/>
            </a:br>
            <a:r>
              <a:rPr lang="en-US" sz="4800" b="1" dirty="0" smtClean="0"/>
              <a:t>HAND-EYE COORDINATION IN A MACHINE WITH NEITHER HANDS NOR EYES</a:t>
            </a:r>
            <a:endParaRPr lang="en-US" sz="4800" b="1" i="1" dirty="0" smtClean="0"/>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type="body" idx="1"/>
          </p:nvPr>
        </p:nvSpPr>
        <p:spPr>
          <a:xfrm>
            <a:off x="0" y="785794"/>
            <a:ext cx="9906000" cy="2071702"/>
          </a:xfrm>
        </p:spPr>
        <p:txBody>
          <a:bodyPr/>
          <a:lstStyle/>
          <a:p>
            <a:pPr marL="0" indent="0" algn="ctr" eaLnBrk="1" hangingPunct="1">
              <a:buNone/>
            </a:pPr>
            <a:r>
              <a:rPr lang="en-GB" b="1" cap="all" dirty="0" smtClean="0"/>
              <a:t>The following conducted tour will guide you through the processes of initiating and then distracting a repetitive fine control movement</a:t>
            </a:r>
          </a:p>
        </p:txBody>
      </p:sp>
      <p:sp>
        <p:nvSpPr>
          <p:cNvPr id="3" name="Rectangle 3"/>
          <p:cNvSpPr txBox="1">
            <a:spLocks noChangeArrowheads="1"/>
          </p:cNvSpPr>
          <p:nvPr/>
        </p:nvSpPr>
        <p:spPr bwMode="auto">
          <a:xfrm>
            <a:off x="309530" y="3643314"/>
            <a:ext cx="9286940" cy="28575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GB" sz="2400" b="1" kern="0" dirty="0" smtClean="0">
                <a:latin typeface="+mn-lt"/>
              </a:rPr>
              <a:t>You may care to monitor progress </a:t>
            </a:r>
            <a:r>
              <a:rPr lang="en-GB" sz="2400" b="1" i="1" kern="0" dirty="0" smtClean="0">
                <a:solidFill>
                  <a:schemeClr val="accent2"/>
                </a:solidFill>
                <a:latin typeface="+mn-lt"/>
              </a:rPr>
              <a:t>within each processing cycle</a:t>
            </a:r>
            <a:r>
              <a:rPr lang="en-GB" sz="2400" b="1" kern="0" dirty="0" smtClean="0">
                <a:solidFill>
                  <a:schemeClr val="accent2"/>
                </a:solidFill>
                <a:latin typeface="+mn-lt"/>
              </a:rPr>
              <a:t> </a:t>
            </a:r>
            <a:r>
              <a:rPr lang="en-GB" sz="2400" b="1" kern="0" dirty="0" smtClean="0">
                <a:latin typeface="+mn-lt"/>
              </a:rPr>
              <a:t>on the hierarchy diagram </a:t>
            </a:r>
            <a:r>
              <a:rPr kumimoji="0" lang="en-GB" sz="2400" b="1" i="0" u="none" strike="noStrike" kern="0" cap="none" spc="0" normalizeH="0" baseline="0" noProof="0" dirty="0" smtClean="0">
                <a:ln>
                  <a:noFill/>
                </a:ln>
                <a:solidFill>
                  <a:schemeClr val="tx1"/>
                </a:solidFill>
                <a:effectLst/>
                <a:uLnTx/>
                <a:uFillTx/>
                <a:latin typeface="+mn-lt"/>
                <a:ea typeface="+mn-ea"/>
                <a:cs typeface="+mn-cs"/>
              </a:rPr>
              <a:t>included in the Conference Pack.</a:t>
            </a: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GB" sz="24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sz="2400" b="1" i="0" u="none" strike="noStrike" kern="0" cap="none" spc="0" normalizeH="0" baseline="0" noProof="0" dirty="0" smtClean="0">
                <a:ln>
                  <a:noFill/>
                </a:ln>
                <a:solidFill>
                  <a:schemeClr val="tx1"/>
                </a:solidFill>
                <a:effectLst/>
                <a:uLnTx/>
                <a:uFillTx/>
                <a:latin typeface="+mn-lt"/>
                <a:ea typeface="+mn-ea"/>
                <a:cs typeface="+mn-cs"/>
              </a:rPr>
              <a:t>The Conference Pack also includes a single page </a:t>
            </a:r>
            <a:r>
              <a:rPr kumimoji="0" lang="en-GB" sz="2400" b="1" i="0" u="none" strike="noStrike" kern="0" cap="none" spc="0" normalizeH="0" baseline="0" noProof="0" dirty="0" err="1" smtClean="0">
                <a:ln>
                  <a:noFill/>
                </a:ln>
                <a:solidFill>
                  <a:schemeClr val="tx1"/>
                </a:solidFill>
                <a:effectLst/>
                <a:uLnTx/>
                <a:uFillTx/>
                <a:latin typeface="+mn-lt"/>
                <a:ea typeface="+mn-ea"/>
                <a:cs typeface="+mn-cs"/>
              </a:rPr>
              <a:t>SYSOUT</a:t>
            </a:r>
            <a:r>
              <a:rPr kumimoji="0" lang="en-GB" sz="2400" b="1" i="0" u="none" strike="noStrike" kern="0" cap="none" spc="0" normalizeH="0" baseline="0" noProof="0" dirty="0" smtClean="0">
                <a:ln>
                  <a:noFill/>
                </a:ln>
                <a:solidFill>
                  <a:schemeClr val="tx1"/>
                </a:solidFill>
                <a:effectLst/>
                <a:uLnTx/>
                <a:uFillTx/>
                <a:latin typeface="+mn-lt"/>
                <a:ea typeface="+mn-ea"/>
                <a:cs typeface="+mn-cs"/>
              </a:rPr>
              <a:t> print summarising the motor output sequence </a:t>
            </a:r>
            <a:r>
              <a:rPr kumimoji="0" lang="en-GB" sz="2400" b="1" i="1" u="none" strike="noStrike" kern="0" cap="none" spc="0" normalizeH="0" baseline="0" noProof="0" dirty="0" smtClean="0">
                <a:ln>
                  <a:noFill/>
                </a:ln>
                <a:solidFill>
                  <a:schemeClr val="accent2"/>
                </a:solidFill>
                <a:effectLst/>
                <a:uLnTx/>
                <a:uFillTx/>
                <a:latin typeface="+mn-lt"/>
                <a:ea typeface="+mn-ea"/>
                <a:cs typeface="+mn-cs"/>
              </a:rPr>
              <a:t>of many</a:t>
            </a:r>
            <a:r>
              <a:rPr lang="en-GB" sz="2400" b="1" i="1" kern="0" dirty="0" smtClean="0">
                <a:solidFill>
                  <a:schemeClr val="accent2"/>
                </a:solidFill>
                <a:latin typeface="+mn-lt"/>
              </a:rPr>
              <a:t> </a:t>
            </a:r>
            <a:r>
              <a:rPr kumimoji="0" lang="en-GB" sz="2400" b="1" i="1" u="none" strike="noStrike" kern="0" cap="none" spc="0" normalizeH="0" baseline="0" noProof="0" dirty="0" smtClean="0">
                <a:ln>
                  <a:noFill/>
                </a:ln>
                <a:solidFill>
                  <a:schemeClr val="accent2"/>
                </a:solidFill>
                <a:effectLst/>
                <a:uLnTx/>
                <a:uFillTx/>
                <a:latin typeface="+mn-lt"/>
                <a:ea typeface="+mn-ea"/>
                <a:cs typeface="+mn-cs"/>
              </a:rPr>
              <a:t>processing cycles </a:t>
            </a:r>
            <a:r>
              <a:rPr kumimoji="0" lang="en-GB" sz="2400" b="1" i="0" u="none" strike="noStrike" kern="0" cap="none" spc="0" normalizeH="0" baseline="0" noProof="0" dirty="0" smtClean="0">
                <a:ln>
                  <a:noFill/>
                </a:ln>
                <a:solidFill>
                  <a:schemeClr val="tx1"/>
                </a:solidFill>
                <a:effectLst/>
                <a:uLnTx/>
                <a:uFillTx/>
                <a:latin typeface="+mn-lt"/>
                <a:ea typeface="+mn-ea"/>
                <a:cs typeface="+mn-cs"/>
              </a:rPr>
              <a:t>.</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8" name="Group 107"/>
          <p:cNvGrpSpPr/>
          <p:nvPr/>
        </p:nvGrpSpPr>
        <p:grpSpPr>
          <a:xfrm>
            <a:off x="5834082" y="1500174"/>
            <a:ext cx="3762388" cy="5111754"/>
            <a:chOff x="727075" y="1065213"/>
            <a:chExt cx="6130925" cy="6975475"/>
          </a:xfrm>
        </p:grpSpPr>
        <p:sp>
          <p:nvSpPr>
            <p:cNvPr id="109"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10"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11"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12"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3"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14"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15"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16"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17"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18"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19"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20"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21"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2"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3"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24"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5"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6"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27"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8"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9"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30"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131" name="Group 8930"/>
            <p:cNvGrpSpPr>
              <a:grpSpLocks/>
            </p:cNvGrpSpPr>
            <p:nvPr/>
          </p:nvGrpSpPr>
          <p:grpSpPr bwMode="auto">
            <a:xfrm>
              <a:off x="1268447" y="5702275"/>
              <a:ext cx="1757351" cy="438148"/>
              <a:chOff x="799" y="3592"/>
              <a:chExt cx="1107" cy="276"/>
            </a:xfrm>
          </p:grpSpPr>
          <p:sp>
            <p:nvSpPr>
              <p:cNvPr id="197"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98"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32"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3"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4"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35"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6"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7"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38"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9"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40"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41"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42"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43"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44"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45"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46"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47"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48"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149" name="Group 226"/>
            <p:cNvGrpSpPr>
              <a:grpSpLocks/>
            </p:cNvGrpSpPr>
            <p:nvPr/>
          </p:nvGrpSpPr>
          <p:grpSpPr bwMode="auto">
            <a:xfrm>
              <a:off x="1854230" y="7472328"/>
              <a:ext cx="1757352" cy="471484"/>
              <a:chOff x="1420813" y="7910559"/>
              <a:chExt cx="1757362" cy="471485"/>
            </a:xfrm>
          </p:grpSpPr>
          <p:sp>
            <p:nvSpPr>
              <p:cNvPr id="195"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96"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150" name="Group 88"/>
            <p:cNvGrpSpPr>
              <a:grpSpLocks/>
            </p:cNvGrpSpPr>
            <p:nvPr/>
          </p:nvGrpSpPr>
          <p:grpSpPr bwMode="auto">
            <a:xfrm>
              <a:off x="727075" y="2798720"/>
              <a:ext cx="612772" cy="349249"/>
              <a:chOff x="5364189" y="6450033"/>
              <a:chExt cx="612776" cy="349251"/>
            </a:xfrm>
          </p:grpSpPr>
          <p:sp>
            <p:nvSpPr>
              <p:cNvPr id="19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1" name="Group 89"/>
            <p:cNvGrpSpPr>
              <a:grpSpLocks/>
            </p:cNvGrpSpPr>
            <p:nvPr/>
          </p:nvGrpSpPr>
          <p:grpSpPr bwMode="auto">
            <a:xfrm>
              <a:off x="6240505" y="4514821"/>
              <a:ext cx="612772" cy="349249"/>
              <a:chOff x="5364189" y="6450033"/>
              <a:chExt cx="612776" cy="349251"/>
            </a:xfrm>
          </p:grpSpPr>
          <p:sp>
            <p:nvSpPr>
              <p:cNvPr id="18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2" name="Group 93"/>
            <p:cNvGrpSpPr>
              <a:grpSpLocks/>
            </p:cNvGrpSpPr>
            <p:nvPr/>
          </p:nvGrpSpPr>
          <p:grpSpPr bwMode="auto">
            <a:xfrm>
              <a:off x="6245228" y="3273386"/>
              <a:ext cx="612772" cy="349249"/>
              <a:chOff x="5364189" y="6450033"/>
              <a:chExt cx="612776" cy="349251"/>
            </a:xfrm>
          </p:grpSpPr>
          <p:sp>
            <p:nvSpPr>
              <p:cNvPr id="18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3" name="Group 97"/>
            <p:cNvGrpSpPr>
              <a:grpSpLocks/>
            </p:cNvGrpSpPr>
            <p:nvPr/>
          </p:nvGrpSpPr>
          <p:grpSpPr bwMode="auto">
            <a:xfrm>
              <a:off x="5729326" y="2324053"/>
              <a:ext cx="612772" cy="349249"/>
              <a:chOff x="5364189" y="6450033"/>
              <a:chExt cx="612776" cy="349251"/>
            </a:xfrm>
          </p:grpSpPr>
          <p:sp>
            <p:nvSpPr>
              <p:cNvPr id="18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4" name="Group 101"/>
            <p:cNvGrpSpPr>
              <a:grpSpLocks/>
            </p:cNvGrpSpPr>
            <p:nvPr/>
          </p:nvGrpSpPr>
          <p:grpSpPr bwMode="auto">
            <a:xfrm>
              <a:off x="3867174" y="2324053"/>
              <a:ext cx="612772" cy="349249"/>
              <a:chOff x="5364189" y="6450033"/>
              <a:chExt cx="612776" cy="349251"/>
            </a:xfrm>
          </p:grpSpPr>
          <p:sp>
            <p:nvSpPr>
              <p:cNvPr id="18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5" name="Group 105"/>
            <p:cNvGrpSpPr>
              <a:grpSpLocks/>
            </p:cNvGrpSpPr>
            <p:nvPr/>
          </p:nvGrpSpPr>
          <p:grpSpPr bwMode="auto">
            <a:xfrm>
              <a:off x="3794148" y="3090822"/>
              <a:ext cx="612772" cy="349249"/>
              <a:chOff x="5364189" y="6450033"/>
              <a:chExt cx="612776" cy="349251"/>
            </a:xfrm>
          </p:grpSpPr>
          <p:sp>
            <p:nvSpPr>
              <p:cNvPr id="17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6" name="Group 109"/>
            <p:cNvGrpSpPr>
              <a:grpSpLocks/>
            </p:cNvGrpSpPr>
            <p:nvPr/>
          </p:nvGrpSpPr>
          <p:grpSpPr bwMode="auto">
            <a:xfrm>
              <a:off x="3794148" y="4989488"/>
              <a:ext cx="612772" cy="349249"/>
              <a:chOff x="5364189" y="6450033"/>
              <a:chExt cx="612776" cy="349251"/>
            </a:xfrm>
          </p:grpSpPr>
          <p:sp>
            <p:nvSpPr>
              <p:cNvPr id="17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7" name="Group 113"/>
            <p:cNvGrpSpPr>
              <a:grpSpLocks/>
            </p:cNvGrpSpPr>
            <p:nvPr/>
          </p:nvGrpSpPr>
          <p:grpSpPr bwMode="auto">
            <a:xfrm>
              <a:off x="800101" y="4040155"/>
              <a:ext cx="612772" cy="349249"/>
              <a:chOff x="5364189" y="6450033"/>
              <a:chExt cx="612776" cy="349251"/>
            </a:xfrm>
          </p:grpSpPr>
          <p:sp>
            <p:nvSpPr>
              <p:cNvPr id="17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8" name="Group 117"/>
            <p:cNvGrpSpPr>
              <a:grpSpLocks/>
            </p:cNvGrpSpPr>
            <p:nvPr/>
          </p:nvGrpSpPr>
          <p:grpSpPr bwMode="auto">
            <a:xfrm>
              <a:off x="1092203" y="5829282"/>
              <a:ext cx="612772" cy="349249"/>
              <a:chOff x="5364189" y="6450033"/>
              <a:chExt cx="612776" cy="349251"/>
            </a:xfrm>
          </p:grpSpPr>
          <p:sp>
            <p:nvSpPr>
              <p:cNvPr id="16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9" name="Group 121"/>
            <p:cNvGrpSpPr>
              <a:grpSpLocks/>
            </p:cNvGrpSpPr>
            <p:nvPr/>
          </p:nvGrpSpPr>
          <p:grpSpPr bwMode="auto">
            <a:xfrm>
              <a:off x="1676407" y="7691435"/>
              <a:ext cx="612772" cy="349249"/>
              <a:chOff x="5364189" y="6450033"/>
              <a:chExt cx="612776" cy="349251"/>
            </a:xfrm>
          </p:grpSpPr>
          <p:sp>
            <p:nvSpPr>
              <p:cNvPr id="16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60" name="Group 125"/>
            <p:cNvGrpSpPr>
              <a:grpSpLocks/>
            </p:cNvGrpSpPr>
            <p:nvPr/>
          </p:nvGrpSpPr>
          <p:grpSpPr bwMode="auto">
            <a:xfrm>
              <a:off x="727075" y="1338208"/>
              <a:ext cx="612772" cy="349249"/>
              <a:chOff x="5364189" y="6450033"/>
              <a:chExt cx="612776" cy="349251"/>
            </a:xfrm>
          </p:grpSpPr>
          <p:sp>
            <p:nvSpPr>
              <p:cNvPr id="16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61"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47106" name="Rectangle 2"/>
          <p:cNvSpPr>
            <a:spLocks noGrp="1" noChangeArrowheads="1"/>
          </p:cNvSpPr>
          <p:nvPr>
            <p:ph type="title"/>
          </p:nvPr>
        </p:nvSpPr>
        <p:spPr>
          <a:xfrm>
            <a:off x="0" y="0"/>
            <a:ext cx="9906000" cy="1700213"/>
          </a:xfrm>
        </p:spPr>
        <p:txBody>
          <a:bodyPr/>
          <a:lstStyle/>
          <a:p>
            <a:pPr eaLnBrk="1" hangingPunct="1"/>
            <a:r>
              <a:rPr lang="en-GB" sz="3200" b="1" dirty="0" smtClean="0"/>
              <a:t>THE MEMORY PRE-LOAD PHASE</a:t>
            </a:r>
            <a:endParaRPr lang="en-US" sz="3200" b="1" dirty="0" smtClean="0"/>
          </a:p>
        </p:txBody>
      </p:sp>
      <p:sp>
        <p:nvSpPr>
          <p:cNvPr id="211" name="Rectangle 224"/>
          <p:cNvSpPr>
            <a:spLocks noChangeArrowheads="1"/>
          </p:cNvSpPr>
          <p:nvPr/>
        </p:nvSpPr>
        <p:spPr bwMode="auto">
          <a:xfrm>
            <a:off x="0" y="1773238"/>
            <a:ext cx="5167314" cy="5084762"/>
          </a:xfrm>
          <a:prstGeom prst="rect">
            <a:avLst/>
          </a:prstGeom>
          <a:noFill/>
          <a:ln w="9525">
            <a:noFill/>
            <a:miter lim="800000"/>
            <a:headEnd/>
            <a:tailEnd/>
          </a:ln>
        </p:spPr>
        <p:txBody>
          <a:bodyPr/>
          <a:lstStyle/>
          <a:p>
            <a:pPr marL="342900" indent="-342900">
              <a:spcBef>
                <a:spcPct val="20000"/>
              </a:spcBef>
              <a:buFontTx/>
              <a:buChar char="•"/>
            </a:pPr>
            <a:r>
              <a:rPr lang="en-GB" sz="2400" b="1" dirty="0" smtClean="0"/>
              <a:t>During the preload phase, </a:t>
            </a:r>
            <a:r>
              <a:rPr lang="en-GB" sz="2400" b="1" i="1" dirty="0" err="1" smtClean="0"/>
              <a:t>Konrad’s</a:t>
            </a:r>
            <a:r>
              <a:rPr lang="en-GB" sz="2400" b="1" dirty="0" smtClean="0"/>
              <a:t> initially empty mind is loaded (a) with its </a:t>
            </a:r>
            <a:r>
              <a:rPr lang="en-GB" sz="2400" b="1" dirty="0" err="1" smtClean="0"/>
              <a:t>FDPX</a:t>
            </a:r>
            <a:r>
              <a:rPr lang="en-GB" sz="2400" b="1" dirty="0" smtClean="0"/>
              <a:t> modular architecture, and (b) with the </a:t>
            </a:r>
            <a:r>
              <a:rPr lang="en-GB" sz="2400" b="1" dirty="0" err="1" smtClean="0"/>
              <a:t>LTM</a:t>
            </a:r>
            <a:r>
              <a:rPr lang="en-GB" sz="2400" b="1" dirty="0" smtClean="0"/>
              <a:t>  appropriate to the substantive task which will follow.</a:t>
            </a:r>
          </a:p>
        </p:txBody>
      </p:sp>
      <p:sp>
        <p:nvSpPr>
          <p:cNvPr id="307" name="Striped Right Arrow 306"/>
          <p:cNvSpPr/>
          <p:nvPr/>
        </p:nvSpPr>
        <p:spPr bwMode="auto">
          <a:xfrm>
            <a:off x="5310190" y="3571876"/>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08" name="Striped Right Arrow 307"/>
          <p:cNvSpPr/>
          <p:nvPr/>
        </p:nvSpPr>
        <p:spPr bwMode="auto">
          <a:xfrm>
            <a:off x="6524636" y="4000504"/>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09" name="Striped Right Arrow 308"/>
          <p:cNvSpPr/>
          <p:nvPr/>
        </p:nvSpPr>
        <p:spPr bwMode="auto">
          <a:xfrm>
            <a:off x="8096272" y="4000504"/>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0" name="Striped Right Arrow 309"/>
          <p:cNvSpPr/>
          <p:nvPr/>
        </p:nvSpPr>
        <p:spPr bwMode="auto">
          <a:xfrm>
            <a:off x="8096272" y="3000372"/>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1" name="Striped Right Arrow 310"/>
          <p:cNvSpPr/>
          <p:nvPr/>
        </p:nvSpPr>
        <p:spPr bwMode="auto">
          <a:xfrm>
            <a:off x="7096140" y="3000372"/>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2" name="Striped Right Arrow 311"/>
          <p:cNvSpPr/>
          <p:nvPr/>
        </p:nvSpPr>
        <p:spPr bwMode="auto">
          <a:xfrm>
            <a:off x="7381892" y="2143116"/>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3" name="Striped Right Arrow 312"/>
          <p:cNvSpPr/>
          <p:nvPr/>
        </p:nvSpPr>
        <p:spPr bwMode="auto">
          <a:xfrm>
            <a:off x="5310190" y="1714488"/>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4" name="Striped Right Arrow 313"/>
          <p:cNvSpPr/>
          <p:nvPr/>
        </p:nvSpPr>
        <p:spPr bwMode="auto">
          <a:xfrm>
            <a:off x="5310190" y="2643182"/>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5" name="Striped Right Arrow 314"/>
          <p:cNvSpPr/>
          <p:nvPr/>
        </p:nvSpPr>
        <p:spPr bwMode="auto">
          <a:xfrm>
            <a:off x="6024570" y="6143620"/>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6" name="Striped Right Arrow 315"/>
          <p:cNvSpPr/>
          <p:nvPr/>
        </p:nvSpPr>
        <p:spPr bwMode="auto">
          <a:xfrm>
            <a:off x="5595942" y="4786322"/>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7"/>
          <p:cNvGrpSpPr/>
          <p:nvPr/>
        </p:nvGrpSpPr>
        <p:grpSpPr>
          <a:xfrm>
            <a:off x="5834082" y="1500174"/>
            <a:ext cx="3762388" cy="5111754"/>
            <a:chOff x="727075" y="1065213"/>
            <a:chExt cx="6130925" cy="6975475"/>
          </a:xfrm>
        </p:grpSpPr>
        <p:sp>
          <p:nvSpPr>
            <p:cNvPr id="109"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10"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11"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12"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3"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14"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15"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16"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17"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18"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19"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20"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21"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2"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3"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24"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5"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6"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27"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8"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9"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30"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3" name="Group 8930"/>
            <p:cNvGrpSpPr>
              <a:grpSpLocks/>
            </p:cNvGrpSpPr>
            <p:nvPr/>
          </p:nvGrpSpPr>
          <p:grpSpPr bwMode="auto">
            <a:xfrm>
              <a:off x="1268447" y="5702275"/>
              <a:ext cx="1757351" cy="438148"/>
              <a:chOff x="799" y="3592"/>
              <a:chExt cx="1107" cy="276"/>
            </a:xfrm>
          </p:grpSpPr>
          <p:sp>
            <p:nvSpPr>
              <p:cNvPr id="197"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98"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32"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3"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4"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35"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6"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7"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38"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9"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40"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41"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42"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43"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44"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45"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46"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47"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48"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4" name="Group 226"/>
            <p:cNvGrpSpPr>
              <a:grpSpLocks/>
            </p:cNvGrpSpPr>
            <p:nvPr/>
          </p:nvGrpSpPr>
          <p:grpSpPr bwMode="auto">
            <a:xfrm>
              <a:off x="1854230" y="7472328"/>
              <a:ext cx="1757352" cy="471484"/>
              <a:chOff x="1420813" y="7910559"/>
              <a:chExt cx="1757362" cy="471485"/>
            </a:xfrm>
          </p:grpSpPr>
          <p:sp>
            <p:nvSpPr>
              <p:cNvPr id="195"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96"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5" name="Group 88"/>
            <p:cNvGrpSpPr>
              <a:grpSpLocks/>
            </p:cNvGrpSpPr>
            <p:nvPr/>
          </p:nvGrpSpPr>
          <p:grpSpPr bwMode="auto">
            <a:xfrm>
              <a:off x="727075" y="2798720"/>
              <a:ext cx="612772" cy="349249"/>
              <a:chOff x="5364189" y="6450033"/>
              <a:chExt cx="612776" cy="349251"/>
            </a:xfrm>
          </p:grpSpPr>
          <p:sp>
            <p:nvSpPr>
              <p:cNvPr id="19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6" name="Group 89"/>
            <p:cNvGrpSpPr>
              <a:grpSpLocks/>
            </p:cNvGrpSpPr>
            <p:nvPr/>
          </p:nvGrpSpPr>
          <p:grpSpPr bwMode="auto">
            <a:xfrm>
              <a:off x="6240505" y="4514821"/>
              <a:ext cx="612772" cy="349249"/>
              <a:chOff x="5364189" y="6450033"/>
              <a:chExt cx="612776" cy="349251"/>
            </a:xfrm>
          </p:grpSpPr>
          <p:sp>
            <p:nvSpPr>
              <p:cNvPr id="18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7" name="Group 93"/>
            <p:cNvGrpSpPr>
              <a:grpSpLocks/>
            </p:cNvGrpSpPr>
            <p:nvPr/>
          </p:nvGrpSpPr>
          <p:grpSpPr bwMode="auto">
            <a:xfrm>
              <a:off x="6245228" y="3273386"/>
              <a:ext cx="612772" cy="349249"/>
              <a:chOff x="5364189" y="6450033"/>
              <a:chExt cx="612776" cy="349251"/>
            </a:xfrm>
          </p:grpSpPr>
          <p:sp>
            <p:nvSpPr>
              <p:cNvPr id="18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8" name="Group 97"/>
            <p:cNvGrpSpPr>
              <a:grpSpLocks/>
            </p:cNvGrpSpPr>
            <p:nvPr/>
          </p:nvGrpSpPr>
          <p:grpSpPr bwMode="auto">
            <a:xfrm>
              <a:off x="5729326" y="2324053"/>
              <a:ext cx="612772" cy="349249"/>
              <a:chOff x="5364189" y="6450033"/>
              <a:chExt cx="612776" cy="349251"/>
            </a:xfrm>
          </p:grpSpPr>
          <p:sp>
            <p:nvSpPr>
              <p:cNvPr id="18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9" name="Group 101"/>
            <p:cNvGrpSpPr>
              <a:grpSpLocks/>
            </p:cNvGrpSpPr>
            <p:nvPr/>
          </p:nvGrpSpPr>
          <p:grpSpPr bwMode="auto">
            <a:xfrm>
              <a:off x="3867174" y="2324053"/>
              <a:ext cx="612772" cy="349249"/>
              <a:chOff x="5364189" y="6450033"/>
              <a:chExt cx="612776" cy="349251"/>
            </a:xfrm>
          </p:grpSpPr>
          <p:sp>
            <p:nvSpPr>
              <p:cNvPr id="18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0" name="Group 105"/>
            <p:cNvGrpSpPr>
              <a:grpSpLocks/>
            </p:cNvGrpSpPr>
            <p:nvPr/>
          </p:nvGrpSpPr>
          <p:grpSpPr bwMode="auto">
            <a:xfrm>
              <a:off x="3794148" y="3090822"/>
              <a:ext cx="612772" cy="349249"/>
              <a:chOff x="5364189" y="6450033"/>
              <a:chExt cx="612776" cy="349251"/>
            </a:xfrm>
          </p:grpSpPr>
          <p:sp>
            <p:nvSpPr>
              <p:cNvPr id="17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1" name="Group 109"/>
            <p:cNvGrpSpPr>
              <a:grpSpLocks/>
            </p:cNvGrpSpPr>
            <p:nvPr/>
          </p:nvGrpSpPr>
          <p:grpSpPr bwMode="auto">
            <a:xfrm>
              <a:off x="3794148" y="4989488"/>
              <a:ext cx="612772" cy="349249"/>
              <a:chOff x="5364189" y="6450033"/>
              <a:chExt cx="612776" cy="349251"/>
            </a:xfrm>
          </p:grpSpPr>
          <p:sp>
            <p:nvSpPr>
              <p:cNvPr id="17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2" name="Group 113"/>
            <p:cNvGrpSpPr>
              <a:grpSpLocks/>
            </p:cNvGrpSpPr>
            <p:nvPr/>
          </p:nvGrpSpPr>
          <p:grpSpPr bwMode="auto">
            <a:xfrm>
              <a:off x="800101" y="4040155"/>
              <a:ext cx="612772" cy="349249"/>
              <a:chOff x="5364189" y="6450033"/>
              <a:chExt cx="612776" cy="349251"/>
            </a:xfrm>
          </p:grpSpPr>
          <p:sp>
            <p:nvSpPr>
              <p:cNvPr id="17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3" name="Group 117"/>
            <p:cNvGrpSpPr>
              <a:grpSpLocks/>
            </p:cNvGrpSpPr>
            <p:nvPr/>
          </p:nvGrpSpPr>
          <p:grpSpPr bwMode="auto">
            <a:xfrm>
              <a:off x="1092203" y="5829282"/>
              <a:ext cx="612772" cy="349249"/>
              <a:chOff x="5364189" y="6450033"/>
              <a:chExt cx="612776" cy="349251"/>
            </a:xfrm>
          </p:grpSpPr>
          <p:sp>
            <p:nvSpPr>
              <p:cNvPr id="16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 name="Group 121"/>
            <p:cNvGrpSpPr>
              <a:grpSpLocks/>
            </p:cNvGrpSpPr>
            <p:nvPr/>
          </p:nvGrpSpPr>
          <p:grpSpPr bwMode="auto">
            <a:xfrm>
              <a:off x="1676407" y="7691435"/>
              <a:ext cx="612772" cy="349249"/>
              <a:chOff x="5364189" y="6450033"/>
              <a:chExt cx="612776" cy="349251"/>
            </a:xfrm>
          </p:grpSpPr>
          <p:sp>
            <p:nvSpPr>
              <p:cNvPr id="16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 name="Group 125"/>
            <p:cNvGrpSpPr>
              <a:grpSpLocks/>
            </p:cNvGrpSpPr>
            <p:nvPr/>
          </p:nvGrpSpPr>
          <p:grpSpPr bwMode="auto">
            <a:xfrm>
              <a:off x="727075" y="1338208"/>
              <a:ext cx="612772" cy="349249"/>
              <a:chOff x="5364189" y="6450033"/>
              <a:chExt cx="612776" cy="349251"/>
            </a:xfrm>
          </p:grpSpPr>
          <p:sp>
            <p:nvSpPr>
              <p:cNvPr id="16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61"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47106" name="Rectangle 2"/>
          <p:cNvSpPr>
            <a:spLocks noGrp="1" noChangeArrowheads="1"/>
          </p:cNvSpPr>
          <p:nvPr>
            <p:ph type="title"/>
          </p:nvPr>
        </p:nvSpPr>
        <p:spPr>
          <a:xfrm>
            <a:off x="0" y="0"/>
            <a:ext cx="9906000" cy="1700213"/>
          </a:xfrm>
        </p:spPr>
        <p:txBody>
          <a:bodyPr/>
          <a:lstStyle/>
          <a:p>
            <a:pPr eaLnBrk="1" hangingPunct="1"/>
            <a:r>
              <a:rPr lang="en-GB" sz="3200" b="1" dirty="0" smtClean="0"/>
              <a:t>THE MEMORY PRE-LOAD PHASE</a:t>
            </a:r>
            <a:endParaRPr lang="en-US" sz="3200" b="1" dirty="0" smtClean="0"/>
          </a:p>
        </p:txBody>
      </p:sp>
      <p:sp>
        <p:nvSpPr>
          <p:cNvPr id="211" name="Rectangle 224"/>
          <p:cNvSpPr>
            <a:spLocks noChangeArrowheads="1"/>
          </p:cNvSpPr>
          <p:nvPr/>
        </p:nvSpPr>
        <p:spPr bwMode="auto">
          <a:xfrm>
            <a:off x="0" y="1773238"/>
            <a:ext cx="4953000" cy="5084762"/>
          </a:xfrm>
          <a:prstGeom prst="rect">
            <a:avLst/>
          </a:prstGeom>
          <a:noFill/>
          <a:ln w="9525">
            <a:noFill/>
            <a:miter lim="800000"/>
            <a:headEnd/>
            <a:tailEnd/>
          </a:ln>
        </p:spPr>
        <p:txBody>
          <a:bodyPr/>
          <a:lstStyle/>
          <a:p>
            <a:pPr marL="342900" indent="-342900">
              <a:spcBef>
                <a:spcPct val="20000"/>
              </a:spcBef>
              <a:buFontTx/>
              <a:buChar char="•"/>
            </a:pPr>
            <a:r>
              <a:rPr lang="en-GB" sz="2400" b="1" dirty="0" smtClean="0"/>
              <a:t>Because the </a:t>
            </a:r>
            <a:r>
              <a:rPr lang="en-GB" sz="2400" b="1" dirty="0" err="1" smtClean="0"/>
              <a:t>LTM</a:t>
            </a:r>
            <a:r>
              <a:rPr lang="en-GB" sz="2400" b="1" dirty="0" smtClean="0"/>
              <a:t> records include the pre-learned associative key pairings, this preload establishes the all-important associative network. </a:t>
            </a:r>
          </a:p>
          <a:p>
            <a:pPr marL="342900" indent="-342900">
              <a:spcBef>
                <a:spcPct val="20000"/>
              </a:spcBef>
              <a:buFontTx/>
              <a:buChar char="•"/>
            </a:pPr>
            <a:endParaRPr lang="en-GB" sz="2400" b="1" dirty="0" smtClean="0"/>
          </a:p>
          <a:p>
            <a:pPr marL="342900" indent="-342900">
              <a:spcBef>
                <a:spcPct val="20000"/>
              </a:spcBef>
              <a:buFontTx/>
              <a:buChar char="•"/>
            </a:pPr>
            <a:r>
              <a:rPr lang="en-GB" sz="2400" b="1" dirty="0" smtClean="0">
                <a:solidFill>
                  <a:schemeClr val="accent2"/>
                </a:solidFill>
              </a:rPr>
              <a:t>This facility makes </a:t>
            </a:r>
            <a:r>
              <a:rPr lang="en-GB" sz="2400" b="1" i="1" dirty="0" err="1" smtClean="0">
                <a:solidFill>
                  <a:schemeClr val="accent2"/>
                </a:solidFill>
              </a:rPr>
              <a:t>Konrad</a:t>
            </a:r>
            <a:r>
              <a:rPr lang="en-GB" sz="2400" b="1" dirty="0" smtClean="0">
                <a:solidFill>
                  <a:schemeClr val="accent2"/>
                </a:solidFill>
              </a:rPr>
              <a:t> an ideal experimental subject, because its “prior experience” is totally controllable.</a:t>
            </a:r>
            <a:endParaRPr lang="en-GB" sz="1400" b="1" dirty="0">
              <a:solidFill>
                <a:schemeClr val="accent2"/>
              </a:solidFill>
            </a:endParaRPr>
          </a:p>
        </p:txBody>
      </p:sp>
      <p:sp>
        <p:nvSpPr>
          <p:cNvPr id="307" name="Striped Right Arrow 306"/>
          <p:cNvSpPr/>
          <p:nvPr/>
        </p:nvSpPr>
        <p:spPr bwMode="auto">
          <a:xfrm>
            <a:off x="5310190" y="3571876"/>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08" name="Striped Right Arrow 307"/>
          <p:cNvSpPr/>
          <p:nvPr/>
        </p:nvSpPr>
        <p:spPr bwMode="auto">
          <a:xfrm>
            <a:off x="6524636" y="4000504"/>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09" name="Striped Right Arrow 308"/>
          <p:cNvSpPr/>
          <p:nvPr/>
        </p:nvSpPr>
        <p:spPr bwMode="auto">
          <a:xfrm>
            <a:off x="8096272" y="4000504"/>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0" name="Striped Right Arrow 309"/>
          <p:cNvSpPr/>
          <p:nvPr/>
        </p:nvSpPr>
        <p:spPr bwMode="auto">
          <a:xfrm>
            <a:off x="8096272" y="3000372"/>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1" name="Striped Right Arrow 310"/>
          <p:cNvSpPr/>
          <p:nvPr/>
        </p:nvSpPr>
        <p:spPr bwMode="auto">
          <a:xfrm>
            <a:off x="7096140" y="3000372"/>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2" name="Striped Right Arrow 311"/>
          <p:cNvSpPr/>
          <p:nvPr/>
        </p:nvSpPr>
        <p:spPr bwMode="auto">
          <a:xfrm>
            <a:off x="7381892" y="2143116"/>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3" name="Striped Right Arrow 312"/>
          <p:cNvSpPr/>
          <p:nvPr/>
        </p:nvSpPr>
        <p:spPr bwMode="auto">
          <a:xfrm>
            <a:off x="5310190" y="1714488"/>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4" name="Striped Right Arrow 313"/>
          <p:cNvSpPr/>
          <p:nvPr/>
        </p:nvSpPr>
        <p:spPr bwMode="auto">
          <a:xfrm>
            <a:off x="5310190" y="2643182"/>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5" name="Striped Right Arrow 314"/>
          <p:cNvSpPr/>
          <p:nvPr/>
        </p:nvSpPr>
        <p:spPr bwMode="auto">
          <a:xfrm>
            <a:off x="6024570" y="6143620"/>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6" name="Striped Right Arrow 315"/>
          <p:cNvSpPr/>
          <p:nvPr/>
        </p:nvSpPr>
        <p:spPr bwMode="auto">
          <a:xfrm>
            <a:off x="5595942" y="4786322"/>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 name="Group 104"/>
          <p:cNvGrpSpPr/>
          <p:nvPr/>
        </p:nvGrpSpPr>
        <p:grpSpPr>
          <a:xfrm>
            <a:off x="5834082" y="1500174"/>
            <a:ext cx="3762388" cy="5111754"/>
            <a:chOff x="727075" y="1065213"/>
            <a:chExt cx="6130925" cy="6975475"/>
          </a:xfrm>
        </p:grpSpPr>
        <p:sp>
          <p:nvSpPr>
            <p:cNvPr id="106"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07"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08"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09"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0"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11"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12"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13"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14"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15"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16"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17"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18"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9"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0"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21"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2"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3"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24"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5"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6"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27"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128" name="Group 8930"/>
            <p:cNvGrpSpPr>
              <a:grpSpLocks/>
            </p:cNvGrpSpPr>
            <p:nvPr/>
          </p:nvGrpSpPr>
          <p:grpSpPr bwMode="auto">
            <a:xfrm>
              <a:off x="1268447" y="5702275"/>
              <a:ext cx="1757351" cy="438148"/>
              <a:chOff x="799" y="3592"/>
              <a:chExt cx="1107" cy="276"/>
            </a:xfrm>
          </p:grpSpPr>
          <p:sp>
            <p:nvSpPr>
              <p:cNvPr id="194"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95"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29"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0"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1"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32"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3"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4"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35"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6"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37"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38"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39"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40"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41"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42"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43"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44"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45"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146" name="Group 226"/>
            <p:cNvGrpSpPr>
              <a:grpSpLocks/>
            </p:cNvGrpSpPr>
            <p:nvPr/>
          </p:nvGrpSpPr>
          <p:grpSpPr bwMode="auto">
            <a:xfrm>
              <a:off x="1854230" y="7472328"/>
              <a:ext cx="1757352" cy="471484"/>
              <a:chOff x="1420813" y="7910559"/>
              <a:chExt cx="1757362" cy="471485"/>
            </a:xfrm>
          </p:grpSpPr>
          <p:sp>
            <p:nvSpPr>
              <p:cNvPr id="192"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93"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147" name="Group 88"/>
            <p:cNvGrpSpPr>
              <a:grpSpLocks/>
            </p:cNvGrpSpPr>
            <p:nvPr/>
          </p:nvGrpSpPr>
          <p:grpSpPr bwMode="auto">
            <a:xfrm>
              <a:off x="727075" y="2798720"/>
              <a:ext cx="612772" cy="349249"/>
              <a:chOff x="5364189" y="6450033"/>
              <a:chExt cx="612776" cy="349251"/>
            </a:xfrm>
          </p:grpSpPr>
          <p:sp>
            <p:nvSpPr>
              <p:cNvPr id="18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8" name="Group 89"/>
            <p:cNvGrpSpPr>
              <a:grpSpLocks/>
            </p:cNvGrpSpPr>
            <p:nvPr/>
          </p:nvGrpSpPr>
          <p:grpSpPr bwMode="auto">
            <a:xfrm>
              <a:off x="6240505" y="4514821"/>
              <a:ext cx="612772" cy="349249"/>
              <a:chOff x="5364189" y="6450033"/>
              <a:chExt cx="612776" cy="349251"/>
            </a:xfrm>
          </p:grpSpPr>
          <p:sp>
            <p:nvSpPr>
              <p:cNvPr id="18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9" name="Group 93"/>
            <p:cNvGrpSpPr>
              <a:grpSpLocks/>
            </p:cNvGrpSpPr>
            <p:nvPr/>
          </p:nvGrpSpPr>
          <p:grpSpPr bwMode="auto">
            <a:xfrm>
              <a:off x="6245228" y="3273386"/>
              <a:ext cx="612772" cy="349249"/>
              <a:chOff x="5364189" y="6450033"/>
              <a:chExt cx="612776" cy="349251"/>
            </a:xfrm>
          </p:grpSpPr>
          <p:sp>
            <p:nvSpPr>
              <p:cNvPr id="18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0" name="Group 97"/>
            <p:cNvGrpSpPr>
              <a:grpSpLocks/>
            </p:cNvGrpSpPr>
            <p:nvPr/>
          </p:nvGrpSpPr>
          <p:grpSpPr bwMode="auto">
            <a:xfrm>
              <a:off x="5729326" y="2324053"/>
              <a:ext cx="612772" cy="349249"/>
              <a:chOff x="5364189" y="6450033"/>
              <a:chExt cx="612776" cy="349251"/>
            </a:xfrm>
          </p:grpSpPr>
          <p:sp>
            <p:nvSpPr>
              <p:cNvPr id="18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1" name="Group 101"/>
            <p:cNvGrpSpPr>
              <a:grpSpLocks/>
            </p:cNvGrpSpPr>
            <p:nvPr/>
          </p:nvGrpSpPr>
          <p:grpSpPr bwMode="auto">
            <a:xfrm>
              <a:off x="3867174" y="2324053"/>
              <a:ext cx="612772" cy="349249"/>
              <a:chOff x="5364189" y="6450033"/>
              <a:chExt cx="612776" cy="349251"/>
            </a:xfrm>
          </p:grpSpPr>
          <p:sp>
            <p:nvSpPr>
              <p:cNvPr id="17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2" name="Group 105"/>
            <p:cNvGrpSpPr>
              <a:grpSpLocks/>
            </p:cNvGrpSpPr>
            <p:nvPr/>
          </p:nvGrpSpPr>
          <p:grpSpPr bwMode="auto">
            <a:xfrm>
              <a:off x="3794148" y="3090822"/>
              <a:ext cx="612772" cy="349249"/>
              <a:chOff x="5364189" y="6450033"/>
              <a:chExt cx="612776" cy="349251"/>
            </a:xfrm>
          </p:grpSpPr>
          <p:sp>
            <p:nvSpPr>
              <p:cNvPr id="17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3" name="Group 109"/>
            <p:cNvGrpSpPr>
              <a:grpSpLocks/>
            </p:cNvGrpSpPr>
            <p:nvPr/>
          </p:nvGrpSpPr>
          <p:grpSpPr bwMode="auto">
            <a:xfrm>
              <a:off x="3794148" y="4989488"/>
              <a:ext cx="612772" cy="349249"/>
              <a:chOff x="5364189" y="6450033"/>
              <a:chExt cx="612776" cy="349251"/>
            </a:xfrm>
          </p:grpSpPr>
          <p:sp>
            <p:nvSpPr>
              <p:cNvPr id="17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4" name="Group 113"/>
            <p:cNvGrpSpPr>
              <a:grpSpLocks/>
            </p:cNvGrpSpPr>
            <p:nvPr/>
          </p:nvGrpSpPr>
          <p:grpSpPr bwMode="auto">
            <a:xfrm>
              <a:off x="800101" y="4040155"/>
              <a:ext cx="612772" cy="349249"/>
              <a:chOff x="5364189" y="6450033"/>
              <a:chExt cx="612776" cy="349251"/>
            </a:xfrm>
          </p:grpSpPr>
          <p:sp>
            <p:nvSpPr>
              <p:cNvPr id="16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5" name="Group 117"/>
            <p:cNvGrpSpPr>
              <a:grpSpLocks/>
            </p:cNvGrpSpPr>
            <p:nvPr/>
          </p:nvGrpSpPr>
          <p:grpSpPr bwMode="auto">
            <a:xfrm>
              <a:off x="1092203" y="5829282"/>
              <a:ext cx="612772" cy="349249"/>
              <a:chOff x="5364189" y="6450033"/>
              <a:chExt cx="612776" cy="349251"/>
            </a:xfrm>
          </p:grpSpPr>
          <p:sp>
            <p:nvSpPr>
              <p:cNvPr id="16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6" name="Group 121"/>
            <p:cNvGrpSpPr>
              <a:grpSpLocks/>
            </p:cNvGrpSpPr>
            <p:nvPr/>
          </p:nvGrpSpPr>
          <p:grpSpPr bwMode="auto">
            <a:xfrm>
              <a:off x="1676407" y="7691435"/>
              <a:ext cx="612772" cy="349249"/>
              <a:chOff x="5364189" y="6450033"/>
              <a:chExt cx="612776" cy="349251"/>
            </a:xfrm>
          </p:grpSpPr>
          <p:sp>
            <p:nvSpPr>
              <p:cNvPr id="16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7" name="Group 125"/>
            <p:cNvGrpSpPr>
              <a:grpSpLocks/>
            </p:cNvGrpSpPr>
            <p:nvPr/>
          </p:nvGrpSpPr>
          <p:grpSpPr bwMode="auto">
            <a:xfrm>
              <a:off x="727075" y="1338208"/>
              <a:ext cx="612772" cy="349249"/>
              <a:chOff x="5364189" y="6450033"/>
              <a:chExt cx="612776" cy="349251"/>
            </a:xfrm>
          </p:grpSpPr>
          <p:sp>
            <p:nvSpPr>
              <p:cNvPr id="15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58"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50179" name="Rectangle 2"/>
          <p:cNvSpPr>
            <a:spLocks noGrp="1" noChangeArrowheads="1"/>
          </p:cNvSpPr>
          <p:nvPr>
            <p:ph type="title"/>
          </p:nvPr>
        </p:nvSpPr>
        <p:spPr>
          <a:xfrm>
            <a:off x="0" y="0"/>
            <a:ext cx="9906000" cy="1700213"/>
          </a:xfrm>
        </p:spPr>
        <p:txBody>
          <a:bodyPr/>
          <a:lstStyle/>
          <a:p>
            <a:pPr eaLnBrk="1" hangingPunct="1"/>
            <a:r>
              <a:rPr lang="en-GB" sz="3200" b="1" dirty="0" smtClean="0"/>
              <a:t>THE VISUAL INPUT PHASE</a:t>
            </a:r>
            <a:endParaRPr lang="en-US" sz="3200" b="1" dirty="0" smtClean="0"/>
          </a:p>
        </p:txBody>
      </p:sp>
      <p:sp>
        <p:nvSpPr>
          <p:cNvPr id="212" name="Rectangle 224"/>
          <p:cNvSpPr>
            <a:spLocks noChangeArrowheads="1"/>
          </p:cNvSpPr>
          <p:nvPr/>
        </p:nvSpPr>
        <p:spPr bwMode="auto">
          <a:xfrm>
            <a:off x="0" y="1773239"/>
            <a:ext cx="5238752" cy="1298572"/>
          </a:xfrm>
          <a:prstGeom prst="rect">
            <a:avLst/>
          </a:prstGeom>
          <a:noFill/>
          <a:ln w="9525">
            <a:noFill/>
            <a:miter lim="800000"/>
            <a:headEnd/>
            <a:tailEnd/>
          </a:ln>
        </p:spPr>
        <p:txBody>
          <a:bodyPr/>
          <a:lstStyle/>
          <a:p>
            <a:pPr marL="342900" indent="-342900">
              <a:spcBef>
                <a:spcPct val="20000"/>
              </a:spcBef>
              <a:buFontTx/>
              <a:buChar char="•"/>
            </a:pPr>
            <a:r>
              <a:rPr lang="en-GB" sz="2400" b="1" dirty="0" smtClean="0"/>
              <a:t>After the preload, the eyes scan a simulated visual scene, one item at a time.</a:t>
            </a:r>
          </a:p>
        </p:txBody>
      </p:sp>
      <p:sp>
        <p:nvSpPr>
          <p:cNvPr id="23554" name="AutoShape 2" descr="http://thumbp2.mail.vip.ird.yahoo.com/tn?sid=1334823115&amp;mid=AIy8ktkAAUXzS6s5RgSYgmQehNM&amp;midoffset=1_96319&amp;partid=2&amp;f=866&amp;fid=Inbox"/>
          <p:cNvSpPr>
            <a:spLocks noChangeAspect="1" noChangeArrowheads="1"/>
          </p:cNvSpPr>
          <p:nvPr/>
        </p:nvSpPr>
        <p:spPr bwMode="auto">
          <a:xfrm>
            <a:off x="1301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pic>
        <p:nvPicPr>
          <p:cNvPr id="97" name="Picture 96" descr="CUCUMBER CROP copy.jpg"/>
          <p:cNvPicPr>
            <a:picLocks noChangeAspect="1"/>
          </p:cNvPicPr>
          <p:nvPr/>
        </p:nvPicPr>
        <p:blipFill>
          <a:blip r:embed="rId2" cstate="print"/>
          <a:stretch>
            <a:fillRect/>
          </a:stretch>
        </p:blipFill>
        <p:spPr>
          <a:xfrm>
            <a:off x="715229" y="3500438"/>
            <a:ext cx="3737705" cy="2705156"/>
          </a:xfrm>
          <a:prstGeom prst="rect">
            <a:avLst/>
          </a:prstGeom>
        </p:spPr>
      </p:pic>
      <p:sp>
        <p:nvSpPr>
          <p:cNvPr id="196" name="Striped Right Arrow 195"/>
          <p:cNvSpPr/>
          <p:nvPr/>
        </p:nvSpPr>
        <p:spPr bwMode="auto">
          <a:xfrm rot="1144773">
            <a:off x="2011769" y="5300730"/>
            <a:ext cx="5034457"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4"/>
          <p:cNvGrpSpPr/>
          <p:nvPr/>
        </p:nvGrpSpPr>
        <p:grpSpPr>
          <a:xfrm>
            <a:off x="5834082" y="1500174"/>
            <a:ext cx="3762388" cy="5111754"/>
            <a:chOff x="727075" y="1065213"/>
            <a:chExt cx="6130925" cy="6975475"/>
          </a:xfrm>
        </p:grpSpPr>
        <p:sp>
          <p:nvSpPr>
            <p:cNvPr id="106"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07"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08"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09"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0"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11"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12"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13"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14"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15"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16"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17"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18"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9"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0"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21"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2"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3"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24"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5"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6"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27"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3" name="Group 8930"/>
            <p:cNvGrpSpPr>
              <a:grpSpLocks/>
            </p:cNvGrpSpPr>
            <p:nvPr/>
          </p:nvGrpSpPr>
          <p:grpSpPr bwMode="auto">
            <a:xfrm>
              <a:off x="1268447" y="5702275"/>
              <a:ext cx="1757351" cy="438148"/>
              <a:chOff x="799" y="3592"/>
              <a:chExt cx="1107" cy="276"/>
            </a:xfrm>
          </p:grpSpPr>
          <p:sp>
            <p:nvSpPr>
              <p:cNvPr id="194"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95"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29"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0"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1"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32"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3"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4"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35"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6"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37"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38"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39"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40"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41"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42"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43"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44"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45"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4" name="Group 226"/>
            <p:cNvGrpSpPr>
              <a:grpSpLocks/>
            </p:cNvGrpSpPr>
            <p:nvPr/>
          </p:nvGrpSpPr>
          <p:grpSpPr bwMode="auto">
            <a:xfrm>
              <a:off x="1854230" y="7472328"/>
              <a:ext cx="1757352" cy="471484"/>
              <a:chOff x="1420813" y="7910559"/>
              <a:chExt cx="1757362" cy="471485"/>
            </a:xfrm>
          </p:grpSpPr>
          <p:sp>
            <p:nvSpPr>
              <p:cNvPr id="192"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93"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5" name="Group 88"/>
            <p:cNvGrpSpPr>
              <a:grpSpLocks/>
            </p:cNvGrpSpPr>
            <p:nvPr/>
          </p:nvGrpSpPr>
          <p:grpSpPr bwMode="auto">
            <a:xfrm>
              <a:off x="727075" y="2798720"/>
              <a:ext cx="612772" cy="349249"/>
              <a:chOff x="5364189" y="6450033"/>
              <a:chExt cx="612776" cy="349251"/>
            </a:xfrm>
          </p:grpSpPr>
          <p:sp>
            <p:nvSpPr>
              <p:cNvPr id="18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6" name="Group 89"/>
            <p:cNvGrpSpPr>
              <a:grpSpLocks/>
            </p:cNvGrpSpPr>
            <p:nvPr/>
          </p:nvGrpSpPr>
          <p:grpSpPr bwMode="auto">
            <a:xfrm>
              <a:off x="6240505" y="4514821"/>
              <a:ext cx="612772" cy="349249"/>
              <a:chOff x="5364189" y="6450033"/>
              <a:chExt cx="612776" cy="349251"/>
            </a:xfrm>
          </p:grpSpPr>
          <p:sp>
            <p:nvSpPr>
              <p:cNvPr id="18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7" name="Group 93"/>
            <p:cNvGrpSpPr>
              <a:grpSpLocks/>
            </p:cNvGrpSpPr>
            <p:nvPr/>
          </p:nvGrpSpPr>
          <p:grpSpPr bwMode="auto">
            <a:xfrm>
              <a:off x="6245228" y="3273386"/>
              <a:ext cx="612772" cy="349249"/>
              <a:chOff x="5364189" y="6450033"/>
              <a:chExt cx="612776" cy="349251"/>
            </a:xfrm>
          </p:grpSpPr>
          <p:sp>
            <p:nvSpPr>
              <p:cNvPr id="18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8" name="Group 97"/>
            <p:cNvGrpSpPr>
              <a:grpSpLocks/>
            </p:cNvGrpSpPr>
            <p:nvPr/>
          </p:nvGrpSpPr>
          <p:grpSpPr bwMode="auto">
            <a:xfrm>
              <a:off x="5729326" y="2324053"/>
              <a:ext cx="612772" cy="349249"/>
              <a:chOff x="5364189" y="6450033"/>
              <a:chExt cx="612776" cy="349251"/>
            </a:xfrm>
          </p:grpSpPr>
          <p:sp>
            <p:nvSpPr>
              <p:cNvPr id="18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9" name="Group 101"/>
            <p:cNvGrpSpPr>
              <a:grpSpLocks/>
            </p:cNvGrpSpPr>
            <p:nvPr/>
          </p:nvGrpSpPr>
          <p:grpSpPr bwMode="auto">
            <a:xfrm>
              <a:off x="3867174" y="2324053"/>
              <a:ext cx="612772" cy="349249"/>
              <a:chOff x="5364189" y="6450033"/>
              <a:chExt cx="612776" cy="349251"/>
            </a:xfrm>
          </p:grpSpPr>
          <p:sp>
            <p:nvSpPr>
              <p:cNvPr id="17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0" name="Group 105"/>
            <p:cNvGrpSpPr>
              <a:grpSpLocks/>
            </p:cNvGrpSpPr>
            <p:nvPr/>
          </p:nvGrpSpPr>
          <p:grpSpPr bwMode="auto">
            <a:xfrm>
              <a:off x="3794148" y="3090822"/>
              <a:ext cx="612772" cy="349249"/>
              <a:chOff x="5364189" y="6450033"/>
              <a:chExt cx="612776" cy="349251"/>
            </a:xfrm>
          </p:grpSpPr>
          <p:sp>
            <p:nvSpPr>
              <p:cNvPr id="17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1" name="Group 109"/>
            <p:cNvGrpSpPr>
              <a:grpSpLocks/>
            </p:cNvGrpSpPr>
            <p:nvPr/>
          </p:nvGrpSpPr>
          <p:grpSpPr bwMode="auto">
            <a:xfrm>
              <a:off x="3794148" y="4989488"/>
              <a:ext cx="612772" cy="349249"/>
              <a:chOff x="5364189" y="6450033"/>
              <a:chExt cx="612776" cy="349251"/>
            </a:xfrm>
          </p:grpSpPr>
          <p:sp>
            <p:nvSpPr>
              <p:cNvPr id="17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2" name="Group 113"/>
            <p:cNvGrpSpPr>
              <a:grpSpLocks/>
            </p:cNvGrpSpPr>
            <p:nvPr/>
          </p:nvGrpSpPr>
          <p:grpSpPr bwMode="auto">
            <a:xfrm>
              <a:off x="800101" y="4040155"/>
              <a:ext cx="612772" cy="349249"/>
              <a:chOff x="5364189" y="6450033"/>
              <a:chExt cx="612776" cy="349251"/>
            </a:xfrm>
          </p:grpSpPr>
          <p:sp>
            <p:nvSpPr>
              <p:cNvPr id="16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3" name="Group 117"/>
            <p:cNvGrpSpPr>
              <a:grpSpLocks/>
            </p:cNvGrpSpPr>
            <p:nvPr/>
          </p:nvGrpSpPr>
          <p:grpSpPr bwMode="auto">
            <a:xfrm>
              <a:off x="1092203" y="5829282"/>
              <a:ext cx="612772" cy="349249"/>
              <a:chOff x="5364189" y="6450033"/>
              <a:chExt cx="612776" cy="349251"/>
            </a:xfrm>
          </p:grpSpPr>
          <p:sp>
            <p:nvSpPr>
              <p:cNvPr id="16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 name="Group 121"/>
            <p:cNvGrpSpPr>
              <a:grpSpLocks/>
            </p:cNvGrpSpPr>
            <p:nvPr/>
          </p:nvGrpSpPr>
          <p:grpSpPr bwMode="auto">
            <a:xfrm>
              <a:off x="1676407" y="7691435"/>
              <a:ext cx="612772" cy="349249"/>
              <a:chOff x="5364189" y="6450033"/>
              <a:chExt cx="612776" cy="349251"/>
            </a:xfrm>
          </p:grpSpPr>
          <p:sp>
            <p:nvSpPr>
              <p:cNvPr id="16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 name="Group 125"/>
            <p:cNvGrpSpPr>
              <a:grpSpLocks/>
            </p:cNvGrpSpPr>
            <p:nvPr/>
          </p:nvGrpSpPr>
          <p:grpSpPr bwMode="auto">
            <a:xfrm>
              <a:off x="727075" y="1338208"/>
              <a:ext cx="612772" cy="349249"/>
              <a:chOff x="5364189" y="6450033"/>
              <a:chExt cx="612776" cy="349251"/>
            </a:xfrm>
          </p:grpSpPr>
          <p:sp>
            <p:nvSpPr>
              <p:cNvPr id="15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58"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50179" name="Rectangle 2"/>
          <p:cNvSpPr>
            <a:spLocks noGrp="1" noChangeArrowheads="1"/>
          </p:cNvSpPr>
          <p:nvPr>
            <p:ph type="title"/>
          </p:nvPr>
        </p:nvSpPr>
        <p:spPr>
          <a:xfrm>
            <a:off x="0" y="0"/>
            <a:ext cx="9906000" cy="1700213"/>
          </a:xfrm>
        </p:spPr>
        <p:txBody>
          <a:bodyPr/>
          <a:lstStyle/>
          <a:p>
            <a:pPr eaLnBrk="1" hangingPunct="1"/>
            <a:r>
              <a:rPr lang="en-GB" sz="3200" b="1" dirty="0" smtClean="0"/>
              <a:t>THE VISUAL INPUT PHASE</a:t>
            </a:r>
            <a:endParaRPr lang="en-US" sz="3200" b="1" dirty="0" smtClean="0"/>
          </a:p>
        </p:txBody>
      </p:sp>
      <p:sp>
        <p:nvSpPr>
          <p:cNvPr id="212" name="Rectangle 224"/>
          <p:cNvSpPr>
            <a:spLocks noChangeArrowheads="1"/>
          </p:cNvSpPr>
          <p:nvPr/>
        </p:nvSpPr>
        <p:spPr bwMode="auto">
          <a:xfrm>
            <a:off x="0" y="1773238"/>
            <a:ext cx="5667380" cy="4441843"/>
          </a:xfrm>
          <a:prstGeom prst="rect">
            <a:avLst/>
          </a:prstGeom>
          <a:noFill/>
          <a:ln w="9525">
            <a:noFill/>
            <a:miter lim="800000"/>
            <a:headEnd/>
            <a:tailEnd/>
          </a:ln>
        </p:spPr>
        <p:txBody>
          <a:bodyPr/>
          <a:lstStyle/>
          <a:p>
            <a:pPr marL="342900" indent="-342900">
              <a:spcBef>
                <a:spcPct val="20000"/>
              </a:spcBef>
              <a:buFontTx/>
              <a:buChar char="•"/>
            </a:pPr>
            <a:r>
              <a:rPr lang="en-GB" sz="2400" b="1" dirty="0" smtClean="0"/>
              <a:t>As in biological systems, sensory information is twice transcribed </a:t>
            </a:r>
            <a:r>
              <a:rPr lang="en-GB" sz="2400" b="1" dirty="0" err="1" smtClean="0"/>
              <a:t>subcortically</a:t>
            </a:r>
            <a:r>
              <a:rPr lang="en-GB" sz="2400" b="1" dirty="0" smtClean="0"/>
              <a:t> [once in the brain-stem and again in the thalamus].</a:t>
            </a:r>
          </a:p>
          <a:p>
            <a:pPr marL="342900" indent="-342900">
              <a:spcBef>
                <a:spcPct val="20000"/>
              </a:spcBef>
              <a:buFontTx/>
              <a:buChar char="•"/>
            </a:pPr>
            <a:endParaRPr lang="en-GB" sz="2400" b="1" dirty="0" smtClean="0"/>
          </a:p>
          <a:p>
            <a:pPr marL="342900" indent="-342900">
              <a:spcBef>
                <a:spcPct val="20000"/>
              </a:spcBef>
              <a:buFontTx/>
              <a:buChar char="•"/>
            </a:pPr>
            <a:r>
              <a:rPr lang="en-GB" sz="2400" b="1" dirty="0" smtClean="0"/>
              <a:t>In its “third sensory” form it is then physically recognised in </a:t>
            </a:r>
            <a:r>
              <a:rPr lang="en-GB" sz="2400" b="1" dirty="0" err="1" smtClean="0"/>
              <a:t>PEMM</a:t>
            </a:r>
            <a:r>
              <a:rPr lang="en-GB" sz="2400" b="1" dirty="0" smtClean="0"/>
              <a:t>, the Perceptual Memory Module, and conceptually cross-referenced in </a:t>
            </a:r>
            <a:r>
              <a:rPr lang="en-GB" sz="2400" b="1" dirty="0" err="1" smtClean="0"/>
              <a:t>CONM</a:t>
            </a:r>
            <a:r>
              <a:rPr lang="en-GB" sz="2400" b="1" dirty="0" smtClean="0"/>
              <a:t>, the Conceptual Memory Module.</a:t>
            </a:r>
          </a:p>
        </p:txBody>
      </p:sp>
      <p:sp>
        <p:nvSpPr>
          <p:cNvPr id="102" name="Striped Right Arrow 101"/>
          <p:cNvSpPr/>
          <p:nvPr/>
        </p:nvSpPr>
        <p:spPr bwMode="auto">
          <a:xfrm rot="15588064">
            <a:off x="5930983" y="4232040"/>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03" name="Striped Right Arrow 102"/>
          <p:cNvSpPr/>
          <p:nvPr/>
        </p:nvSpPr>
        <p:spPr bwMode="auto">
          <a:xfrm rot="15072768">
            <a:off x="6359611" y="5416116"/>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04" name="Striped Right Arrow 103"/>
          <p:cNvSpPr/>
          <p:nvPr/>
        </p:nvSpPr>
        <p:spPr bwMode="auto">
          <a:xfrm rot="16200000">
            <a:off x="5888268" y="3078384"/>
            <a:ext cx="986984"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05" name="TextBox 104"/>
          <p:cNvSpPr txBox="1"/>
          <p:nvPr/>
        </p:nvSpPr>
        <p:spPr>
          <a:xfrm>
            <a:off x="6096008" y="2714620"/>
            <a:ext cx="714380" cy="276999"/>
          </a:xfrm>
          <a:prstGeom prst="rect">
            <a:avLst/>
          </a:prstGeom>
          <a:solidFill>
            <a:schemeClr val="bg1"/>
          </a:solidFill>
        </p:spPr>
        <p:txBody>
          <a:bodyPr wrap="square" rtlCol="0">
            <a:spAutoFit/>
          </a:bodyPr>
          <a:lstStyle/>
          <a:p>
            <a:r>
              <a:rPr lang="en-GB" sz="1200" b="1" dirty="0" err="1" smtClean="0"/>
              <a:t>CONM</a:t>
            </a:r>
            <a:endParaRPr lang="en-GB" sz="1200" b="1" dirty="0"/>
          </a:p>
        </p:txBody>
      </p:sp>
      <p:sp>
        <p:nvSpPr>
          <p:cNvPr id="128" name="TextBox 127"/>
          <p:cNvSpPr txBox="1"/>
          <p:nvPr/>
        </p:nvSpPr>
        <p:spPr>
          <a:xfrm>
            <a:off x="6453198" y="5009389"/>
            <a:ext cx="642942" cy="276999"/>
          </a:xfrm>
          <a:prstGeom prst="rect">
            <a:avLst/>
          </a:prstGeom>
          <a:solidFill>
            <a:schemeClr val="bg1"/>
          </a:solidFill>
        </p:spPr>
        <p:txBody>
          <a:bodyPr wrap="square" rtlCol="0">
            <a:spAutoFit/>
          </a:bodyPr>
          <a:lstStyle/>
          <a:p>
            <a:r>
              <a:rPr lang="en-GB" sz="1200" b="1" dirty="0" err="1" smtClean="0"/>
              <a:t>TSP2</a:t>
            </a:r>
            <a:endParaRPr lang="en-GB" sz="1200" b="1" dirty="0"/>
          </a:p>
        </p:txBody>
      </p:sp>
      <p:sp>
        <p:nvSpPr>
          <p:cNvPr id="146" name="TextBox 145"/>
          <p:cNvSpPr txBox="1"/>
          <p:nvPr/>
        </p:nvSpPr>
        <p:spPr>
          <a:xfrm>
            <a:off x="6738950" y="6152397"/>
            <a:ext cx="642942" cy="276999"/>
          </a:xfrm>
          <a:prstGeom prst="rect">
            <a:avLst/>
          </a:prstGeom>
          <a:solidFill>
            <a:schemeClr val="bg1"/>
          </a:solidFill>
        </p:spPr>
        <p:txBody>
          <a:bodyPr wrap="square" rtlCol="0">
            <a:spAutoFit/>
          </a:bodyPr>
          <a:lstStyle/>
          <a:p>
            <a:r>
              <a:rPr lang="en-GB" sz="1200" b="1" dirty="0" err="1" smtClean="0"/>
              <a:t>TSP1</a:t>
            </a:r>
            <a:endParaRPr lang="en-GB" sz="1200" b="1" dirty="0"/>
          </a:p>
        </p:txBody>
      </p:sp>
      <p:sp>
        <p:nvSpPr>
          <p:cNvPr id="147" name="TextBox 146"/>
          <p:cNvSpPr txBox="1"/>
          <p:nvPr/>
        </p:nvSpPr>
        <p:spPr>
          <a:xfrm>
            <a:off x="6167446" y="3794943"/>
            <a:ext cx="642942" cy="276999"/>
          </a:xfrm>
          <a:prstGeom prst="rect">
            <a:avLst/>
          </a:prstGeom>
          <a:solidFill>
            <a:schemeClr val="bg1"/>
          </a:solidFill>
        </p:spPr>
        <p:txBody>
          <a:bodyPr wrap="square" rtlCol="0">
            <a:spAutoFit/>
          </a:bodyPr>
          <a:lstStyle/>
          <a:p>
            <a:r>
              <a:rPr lang="en-GB" sz="1200" b="1" dirty="0" err="1" smtClean="0"/>
              <a:t>PEMM</a:t>
            </a:r>
            <a:endParaRPr lang="en-GB" sz="1200" b="1" dirty="0"/>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8" name="Group 107"/>
          <p:cNvGrpSpPr/>
          <p:nvPr/>
        </p:nvGrpSpPr>
        <p:grpSpPr>
          <a:xfrm>
            <a:off x="5834082" y="1500174"/>
            <a:ext cx="3762388" cy="5111754"/>
            <a:chOff x="727075" y="1065213"/>
            <a:chExt cx="6130925" cy="6975475"/>
          </a:xfrm>
        </p:grpSpPr>
        <p:sp>
          <p:nvSpPr>
            <p:cNvPr id="109"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10"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11"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12"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3"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14"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15"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16"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17"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18"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19"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20"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21"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2"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3"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24"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5"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6"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27"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8"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9"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30"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131" name="Group 8930"/>
            <p:cNvGrpSpPr>
              <a:grpSpLocks/>
            </p:cNvGrpSpPr>
            <p:nvPr/>
          </p:nvGrpSpPr>
          <p:grpSpPr bwMode="auto">
            <a:xfrm>
              <a:off x="1268447" y="5702275"/>
              <a:ext cx="1757351" cy="438148"/>
              <a:chOff x="799" y="3592"/>
              <a:chExt cx="1107" cy="276"/>
            </a:xfrm>
          </p:grpSpPr>
          <p:sp>
            <p:nvSpPr>
              <p:cNvPr id="197"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98"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32"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3"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4"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35"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6"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7"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38"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9"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40"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41"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42"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43"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44"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45"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46"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47"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48"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149" name="Group 226"/>
            <p:cNvGrpSpPr>
              <a:grpSpLocks/>
            </p:cNvGrpSpPr>
            <p:nvPr/>
          </p:nvGrpSpPr>
          <p:grpSpPr bwMode="auto">
            <a:xfrm>
              <a:off x="1854230" y="7472328"/>
              <a:ext cx="1757352" cy="471484"/>
              <a:chOff x="1420813" y="7910559"/>
              <a:chExt cx="1757362" cy="471485"/>
            </a:xfrm>
          </p:grpSpPr>
          <p:sp>
            <p:nvSpPr>
              <p:cNvPr id="195"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96"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150" name="Group 88"/>
            <p:cNvGrpSpPr>
              <a:grpSpLocks/>
            </p:cNvGrpSpPr>
            <p:nvPr/>
          </p:nvGrpSpPr>
          <p:grpSpPr bwMode="auto">
            <a:xfrm>
              <a:off x="727075" y="2798720"/>
              <a:ext cx="612772" cy="349249"/>
              <a:chOff x="5364189" y="6450033"/>
              <a:chExt cx="612776" cy="349251"/>
            </a:xfrm>
          </p:grpSpPr>
          <p:sp>
            <p:nvSpPr>
              <p:cNvPr id="19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1" name="Group 89"/>
            <p:cNvGrpSpPr>
              <a:grpSpLocks/>
            </p:cNvGrpSpPr>
            <p:nvPr/>
          </p:nvGrpSpPr>
          <p:grpSpPr bwMode="auto">
            <a:xfrm>
              <a:off x="6240505" y="4514821"/>
              <a:ext cx="612772" cy="349249"/>
              <a:chOff x="5364189" y="6450033"/>
              <a:chExt cx="612776" cy="349251"/>
            </a:xfrm>
          </p:grpSpPr>
          <p:sp>
            <p:nvSpPr>
              <p:cNvPr id="18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2" name="Group 93"/>
            <p:cNvGrpSpPr>
              <a:grpSpLocks/>
            </p:cNvGrpSpPr>
            <p:nvPr/>
          </p:nvGrpSpPr>
          <p:grpSpPr bwMode="auto">
            <a:xfrm>
              <a:off x="6245228" y="3273386"/>
              <a:ext cx="612772" cy="349249"/>
              <a:chOff x="5364189" y="6450033"/>
              <a:chExt cx="612776" cy="349251"/>
            </a:xfrm>
          </p:grpSpPr>
          <p:sp>
            <p:nvSpPr>
              <p:cNvPr id="18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3" name="Group 97"/>
            <p:cNvGrpSpPr>
              <a:grpSpLocks/>
            </p:cNvGrpSpPr>
            <p:nvPr/>
          </p:nvGrpSpPr>
          <p:grpSpPr bwMode="auto">
            <a:xfrm>
              <a:off x="5729326" y="2324053"/>
              <a:ext cx="612772" cy="349249"/>
              <a:chOff x="5364189" y="6450033"/>
              <a:chExt cx="612776" cy="349251"/>
            </a:xfrm>
          </p:grpSpPr>
          <p:sp>
            <p:nvSpPr>
              <p:cNvPr id="18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4" name="Group 101"/>
            <p:cNvGrpSpPr>
              <a:grpSpLocks/>
            </p:cNvGrpSpPr>
            <p:nvPr/>
          </p:nvGrpSpPr>
          <p:grpSpPr bwMode="auto">
            <a:xfrm>
              <a:off x="3867174" y="2324053"/>
              <a:ext cx="612772" cy="349249"/>
              <a:chOff x="5364189" y="6450033"/>
              <a:chExt cx="612776" cy="349251"/>
            </a:xfrm>
          </p:grpSpPr>
          <p:sp>
            <p:nvSpPr>
              <p:cNvPr id="18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5" name="Group 105"/>
            <p:cNvGrpSpPr>
              <a:grpSpLocks/>
            </p:cNvGrpSpPr>
            <p:nvPr/>
          </p:nvGrpSpPr>
          <p:grpSpPr bwMode="auto">
            <a:xfrm>
              <a:off x="3794148" y="3090822"/>
              <a:ext cx="612772" cy="349249"/>
              <a:chOff x="5364189" y="6450033"/>
              <a:chExt cx="612776" cy="349251"/>
            </a:xfrm>
          </p:grpSpPr>
          <p:sp>
            <p:nvSpPr>
              <p:cNvPr id="17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6" name="Group 109"/>
            <p:cNvGrpSpPr>
              <a:grpSpLocks/>
            </p:cNvGrpSpPr>
            <p:nvPr/>
          </p:nvGrpSpPr>
          <p:grpSpPr bwMode="auto">
            <a:xfrm>
              <a:off x="3794148" y="4989488"/>
              <a:ext cx="612772" cy="349249"/>
              <a:chOff x="5364189" y="6450033"/>
              <a:chExt cx="612776" cy="349251"/>
            </a:xfrm>
          </p:grpSpPr>
          <p:sp>
            <p:nvSpPr>
              <p:cNvPr id="17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7" name="Group 113"/>
            <p:cNvGrpSpPr>
              <a:grpSpLocks/>
            </p:cNvGrpSpPr>
            <p:nvPr/>
          </p:nvGrpSpPr>
          <p:grpSpPr bwMode="auto">
            <a:xfrm>
              <a:off x="800101" y="4040155"/>
              <a:ext cx="612772" cy="349249"/>
              <a:chOff x="5364189" y="6450033"/>
              <a:chExt cx="612776" cy="349251"/>
            </a:xfrm>
          </p:grpSpPr>
          <p:sp>
            <p:nvSpPr>
              <p:cNvPr id="17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8" name="Group 117"/>
            <p:cNvGrpSpPr>
              <a:grpSpLocks/>
            </p:cNvGrpSpPr>
            <p:nvPr/>
          </p:nvGrpSpPr>
          <p:grpSpPr bwMode="auto">
            <a:xfrm>
              <a:off x="1092203" y="5829282"/>
              <a:ext cx="612772" cy="349249"/>
              <a:chOff x="5364189" y="6450033"/>
              <a:chExt cx="612776" cy="349251"/>
            </a:xfrm>
          </p:grpSpPr>
          <p:sp>
            <p:nvSpPr>
              <p:cNvPr id="16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9" name="Group 121"/>
            <p:cNvGrpSpPr>
              <a:grpSpLocks/>
            </p:cNvGrpSpPr>
            <p:nvPr/>
          </p:nvGrpSpPr>
          <p:grpSpPr bwMode="auto">
            <a:xfrm>
              <a:off x="1676407" y="7691435"/>
              <a:ext cx="612772" cy="349249"/>
              <a:chOff x="5364189" y="6450033"/>
              <a:chExt cx="612776" cy="349251"/>
            </a:xfrm>
          </p:grpSpPr>
          <p:sp>
            <p:nvSpPr>
              <p:cNvPr id="16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60" name="Group 125"/>
            <p:cNvGrpSpPr>
              <a:grpSpLocks/>
            </p:cNvGrpSpPr>
            <p:nvPr/>
          </p:nvGrpSpPr>
          <p:grpSpPr bwMode="auto">
            <a:xfrm>
              <a:off x="727075" y="1338208"/>
              <a:ext cx="612772" cy="349249"/>
              <a:chOff x="5364189" y="6450033"/>
              <a:chExt cx="612776" cy="349251"/>
            </a:xfrm>
          </p:grpSpPr>
          <p:sp>
            <p:nvSpPr>
              <p:cNvPr id="16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61"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50179" name="Rectangle 2"/>
          <p:cNvSpPr>
            <a:spLocks noGrp="1" noChangeArrowheads="1"/>
          </p:cNvSpPr>
          <p:nvPr>
            <p:ph type="title"/>
          </p:nvPr>
        </p:nvSpPr>
        <p:spPr>
          <a:xfrm>
            <a:off x="0" y="0"/>
            <a:ext cx="9906000" cy="1700213"/>
          </a:xfrm>
        </p:spPr>
        <p:txBody>
          <a:bodyPr/>
          <a:lstStyle/>
          <a:p>
            <a:pPr eaLnBrk="1" hangingPunct="1"/>
            <a:r>
              <a:rPr lang="en-GB" sz="3200" b="1" dirty="0" smtClean="0"/>
              <a:t>THE VISUAL INPUT PHASE</a:t>
            </a:r>
            <a:endParaRPr lang="en-US" sz="3200" b="1" dirty="0" smtClean="0"/>
          </a:p>
        </p:txBody>
      </p:sp>
      <p:sp>
        <p:nvSpPr>
          <p:cNvPr id="212" name="Rectangle 224"/>
          <p:cNvSpPr>
            <a:spLocks noChangeArrowheads="1"/>
          </p:cNvSpPr>
          <p:nvPr/>
        </p:nvSpPr>
        <p:spPr bwMode="auto">
          <a:xfrm>
            <a:off x="0" y="1773238"/>
            <a:ext cx="5667380" cy="4727596"/>
          </a:xfrm>
          <a:prstGeom prst="rect">
            <a:avLst/>
          </a:prstGeom>
          <a:noFill/>
          <a:ln w="9525">
            <a:noFill/>
            <a:miter lim="800000"/>
            <a:headEnd/>
            <a:tailEnd/>
          </a:ln>
        </p:spPr>
        <p:txBody>
          <a:bodyPr/>
          <a:lstStyle/>
          <a:p>
            <a:pPr marL="342900" indent="-342900">
              <a:spcBef>
                <a:spcPct val="20000"/>
              </a:spcBef>
              <a:buFontTx/>
              <a:buChar char="•"/>
            </a:pPr>
            <a:r>
              <a:rPr lang="en-GB" sz="2400" b="1" dirty="0" smtClean="0"/>
              <a:t>In addition, each object’s coordinates and movement vectors are noted by </a:t>
            </a:r>
            <a:r>
              <a:rPr lang="en-GB" sz="2400" b="1" dirty="0" err="1" smtClean="0"/>
              <a:t>TTRK</a:t>
            </a:r>
            <a:r>
              <a:rPr lang="en-GB" sz="2400" b="1" dirty="0" smtClean="0"/>
              <a:t>, the Tactical Tracking Module.</a:t>
            </a:r>
          </a:p>
          <a:p>
            <a:pPr marL="342900" indent="-342900">
              <a:spcBef>
                <a:spcPct val="20000"/>
              </a:spcBef>
              <a:buFontTx/>
              <a:buChar char="•"/>
            </a:pPr>
            <a:endParaRPr lang="en-GB" sz="2400" b="1" dirty="0" smtClean="0"/>
          </a:p>
          <a:p>
            <a:pPr marL="342900" indent="-342900">
              <a:spcBef>
                <a:spcPct val="20000"/>
              </a:spcBef>
              <a:buFontTx/>
              <a:buChar char="•"/>
            </a:pPr>
            <a:r>
              <a:rPr lang="en-GB" sz="2400" b="1" dirty="0" smtClean="0"/>
              <a:t>This allows the system to maintain a military style “big board” tactical display on which threats can be tracked and evaluated in real-time. Ongoing behaviour can be forcibly interrupted (red arrow) if circum-stances demand it.</a:t>
            </a:r>
          </a:p>
        </p:txBody>
      </p:sp>
      <p:sp>
        <p:nvSpPr>
          <p:cNvPr id="308" name="Striped Right Arrow 307"/>
          <p:cNvSpPr/>
          <p:nvPr/>
        </p:nvSpPr>
        <p:spPr bwMode="auto">
          <a:xfrm rot="15588064">
            <a:off x="5930983" y="4232040"/>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09" name="Striped Right Arrow 308"/>
          <p:cNvSpPr/>
          <p:nvPr/>
        </p:nvSpPr>
        <p:spPr bwMode="auto">
          <a:xfrm rot="15072768">
            <a:off x="6359611" y="5416116"/>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0" name="Striped Right Arrow 309"/>
          <p:cNvSpPr/>
          <p:nvPr/>
        </p:nvSpPr>
        <p:spPr bwMode="auto">
          <a:xfrm rot="16200000">
            <a:off x="5888268" y="3078384"/>
            <a:ext cx="986984"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1" name="TextBox 310"/>
          <p:cNvSpPr txBox="1"/>
          <p:nvPr/>
        </p:nvSpPr>
        <p:spPr>
          <a:xfrm>
            <a:off x="6096008" y="2714620"/>
            <a:ext cx="714380" cy="276999"/>
          </a:xfrm>
          <a:prstGeom prst="rect">
            <a:avLst/>
          </a:prstGeom>
          <a:solidFill>
            <a:schemeClr val="bg1"/>
          </a:solidFill>
        </p:spPr>
        <p:txBody>
          <a:bodyPr wrap="square" rtlCol="0">
            <a:spAutoFit/>
          </a:bodyPr>
          <a:lstStyle/>
          <a:p>
            <a:r>
              <a:rPr lang="en-GB" sz="1200" b="1" dirty="0" err="1" smtClean="0"/>
              <a:t>CONM</a:t>
            </a:r>
            <a:endParaRPr lang="en-GB" sz="1200" b="1" dirty="0"/>
          </a:p>
        </p:txBody>
      </p:sp>
      <p:sp>
        <p:nvSpPr>
          <p:cNvPr id="313" name="TextBox 312"/>
          <p:cNvSpPr txBox="1"/>
          <p:nvPr/>
        </p:nvSpPr>
        <p:spPr>
          <a:xfrm>
            <a:off x="6738950" y="6152397"/>
            <a:ext cx="642942" cy="276999"/>
          </a:xfrm>
          <a:prstGeom prst="rect">
            <a:avLst/>
          </a:prstGeom>
          <a:solidFill>
            <a:schemeClr val="bg1"/>
          </a:solidFill>
        </p:spPr>
        <p:txBody>
          <a:bodyPr wrap="square" rtlCol="0">
            <a:spAutoFit/>
          </a:bodyPr>
          <a:lstStyle/>
          <a:p>
            <a:r>
              <a:rPr lang="en-GB" sz="1200" b="1" dirty="0" err="1" smtClean="0"/>
              <a:t>TSP1</a:t>
            </a:r>
            <a:endParaRPr lang="en-GB" sz="1200" b="1" dirty="0"/>
          </a:p>
        </p:txBody>
      </p:sp>
      <p:sp>
        <p:nvSpPr>
          <p:cNvPr id="314" name="TextBox 313"/>
          <p:cNvSpPr txBox="1"/>
          <p:nvPr/>
        </p:nvSpPr>
        <p:spPr>
          <a:xfrm>
            <a:off x="6167446" y="3794943"/>
            <a:ext cx="642942" cy="276999"/>
          </a:xfrm>
          <a:prstGeom prst="rect">
            <a:avLst/>
          </a:prstGeom>
          <a:solidFill>
            <a:schemeClr val="bg1"/>
          </a:solidFill>
        </p:spPr>
        <p:txBody>
          <a:bodyPr wrap="square" rtlCol="0">
            <a:spAutoFit/>
          </a:bodyPr>
          <a:lstStyle/>
          <a:p>
            <a:r>
              <a:rPr lang="en-GB" sz="1200" b="1" dirty="0" err="1" smtClean="0"/>
              <a:t>PEMM</a:t>
            </a:r>
            <a:endParaRPr lang="en-GB" sz="1200" b="1" dirty="0"/>
          </a:p>
        </p:txBody>
      </p:sp>
      <p:sp>
        <p:nvSpPr>
          <p:cNvPr id="105" name="Striped Right Arrow 104"/>
          <p:cNvSpPr/>
          <p:nvPr/>
        </p:nvSpPr>
        <p:spPr bwMode="auto">
          <a:xfrm rot="19602502">
            <a:off x="6616491" y="4369140"/>
            <a:ext cx="77588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2" name="TextBox 311"/>
          <p:cNvSpPr txBox="1"/>
          <p:nvPr/>
        </p:nvSpPr>
        <p:spPr>
          <a:xfrm>
            <a:off x="6453198" y="5009389"/>
            <a:ext cx="642942" cy="276999"/>
          </a:xfrm>
          <a:prstGeom prst="rect">
            <a:avLst/>
          </a:prstGeom>
          <a:solidFill>
            <a:schemeClr val="bg1"/>
          </a:solidFill>
        </p:spPr>
        <p:txBody>
          <a:bodyPr wrap="square" rtlCol="0">
            <a:spAutoFit/>
          </a:bodyPr>
          <a:lstStyle/>
          <a:p>
            <a:r>
              <a:rPr lang="en-GB" sz="1200" b="1" dirty="0" err="1" smtClean="0"/>
              <a:t>TSP2</a:t>
            </a:r>
            <a:endParaRPr lang="en-GB" sz="1200" b="1" dirty="0"/>
          </a:p>
        </p:txBody>
      </p:sp>
      <p:sp>
        <p:nvSpPr>
          <p:cNvPr id="106" name="TextBox 105"/>
          <p:cNvSpPr txBox="1"/>
          <p:nvPr/>
        </p:nvSpPr>
        <p:spPr>
          <a:xfrm>
            <a:off x="7310454" y="4214818"/>
            <a:ext cx="642942" cy="276999"/>
          </a:xfrm>
          <a:prstGeom prst="rect">
            <a:avLst/>
          </a:prstGeom>
          <a:solidFill>
            <a:schemeClr val="bg1"/>
          </a:solidFill>
        </p:spPr>
        <p:txBody>
          <a:bodyPr wrap="square" rtlCol="0">
            <a:spAutoFit/>
          </a:bodyPr>
          <a:lstStyle/>
          <a:p>
            <a:r>
              <a:rPr lang="en-GB" sz="1200" b="1" dirty="0" err="1" smtClean="0"/>
              <a:t>TTRK</a:t>
            </a:r>
            <a:endParaRPr lang="en-GB" sz="1200" b="1" dirty="0"/>
          </a:p>
        </p:txBody>
      </p:sp>
      <p:sp>
        <p:nvSpPr>
          <p:cNvPr id="107" name="Striped Right Arrow 106"/>
          <p:cNvSpPr/>
          <p:nvPr/>
        </p:nvSpPr>
        <p:spPr bwMode="auto">
          <a:xfrm rot="19602502">
            <a:off x="7330871" y="3440446"/>
            <a:ext cx="775880" cy="714380"/>
          </a:xfrm>
          <a:prstGeom prst="stripedRightArrow">
            <a:avLst/>
          </a:prstGeom>
          <a:solidFill>
            <a:srgbClr val="FF000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07"/>
          <p:cNvGrpSpPr/>
          <p:nvPr/>
        </p:nvGrpSpPr>
        <p:grpSpPr>
          <a:xfrm>
            <a:off x="5834082" y="1500174"/>
            <a:ext cx="3762388" cy="5111754"/>
            <a:chOff x="727075" y="1065213"/>
            <a:chExt cx="6130925" cy="6975475"/>
          </a:xfrm>
        </p:grpSpPr>
        <p:sp>
          <p:nvSpPr>
            <p:cNvPr id="209"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210"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211"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212"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213"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214"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215"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216"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217"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218"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219"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220"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221"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222"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23"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224"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225"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226"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227"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228"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229"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230"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3" name="Group 8930"/>
            <p:cNvGrpSpPr>
              <a:grpSpLocks/>
            </p:cNvGrpSpPr>
            <p:nvPr/>
          </p:nvGrpSpPr>
          <p:grpSpPr bwMode="auto">
            <a:xfrm>
              <a:off x="1268447" y="5702275"/>
              <a:ext cx="1757351" cy="438148"/>
              <a:chOff x="799" y="3592"/>
              <a:chExt cx="1107" cy="276"/>
            </a:xfrm>
          </p:grpSpPr>
          <p:sp>
            <p:nvSpPr>
              <p:cNvPr id="297"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298"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232"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33"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34"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235"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36"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37"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238"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39"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240"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241"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242"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43"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244"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245"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246"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247"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248"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4" name="Group 226"/>
            <p:cNvGrpSpPr>
              <a:grpSpLocks/>
            </p:cNvGrpSpPr>
            <p:nvPr/>
          </p:nvGrpSpPr>
          <p:grpSpPr bwMode="auto">
            <a:xfrm>
              <a:off x="1854230" y="7472328"/>
              <a:ext cx="1757352" cy="471484"/>
              <a:chOff x="1420813" y="7910559"/>
              <a:chExt cx="1757362" cy="471485"/>
            </a:xfrm>
          </p:grpSpPr>
          <p:sp>
            <p:nvSpPr>
              <p:cNvPr id="295"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296"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5" name="Group 88"/>
            <p:cNvGrpSpPr>
              <a:grpSpLocks/>
            </p:cNvGrpSpPr>
            <p:nvPr/>
          </p:nvGrpSpPr>
          <p:grpSpPr bwMode="auto">
            <a:xfrm>
              <a:off x="727075" y="2798720"/>
              <a:ext cx="612772" cy="349249"/>
              <a:chOff x="5364189" y="6450033"/>
              <a:chExt cx="612776" cy="349251"/>
            </a:xfrm>
          </p:grpSpPr>
          <p:sp>
            <p:nvSpPr>
              <p:cNvPr id="29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9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9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6" name="Group 89"/>
            <p:cNvGrpSpPr>
              <a:grpSpLocks/>
            </p:cNvGrpSpPr>
            <p:nvPr/>
          </p:nvGrpSpPr>
          <p:grpSpPr bwMode="auto">
            <a:xfrm>
              <a:off x="6240505" y="4514821"/>
              <a:ext cx="612772" cy="349249"/>
              <a:chOff x="5364189" y="6450033"/>
              <a:chExt cx="612776" cy="349251"/>
            </a:xfrm>
          </p:grpSpPr>
          <p:sp>
            <p:nvSpPr>
              <p:cNvPr id="28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9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9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7" name="Group 93"/>
            <p:cNvGrpSpPr>
              <a:grpSpLocks/>
            </p:cNvGrpSpPr>
            <p:nvPr/>
          </p:nvGrpSpPr>
          <p:grpSpPr bwMode="auto">
            <a:xfrm>
              <a:off x="6245228" y="3273386"/>
              <a:ext cx="612772" cy="349249"/>
              <a:chOff x="5364189" y="6450033"/>
              <a:chExt cx="612776" cy="349251"/>
            </a:xfrm>
          </p:grpSpPr>
          <p:sp>
            <p:nvSpPr>
              <p:cNvPr id="28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8" name="Group 97"/>
            <p:cNvGrpSpPr>
              <a:grpSpLocks/>
            </p:cNvGrpSpPr>
            <p:nvPr/>
          </p:nvGrpSpPr>
          <p:grpSpPr bwMode="auto">
            <a:xfrm>
              <a:off x="5729326" y="2324053"/>
              <a:ext cx="612772" cy="349249"/>
              <a:chOff x="5364189" y="6450033"/>
              <a:chExt cx="612776" cy="349251"/>
            </a:xfrm>
          </p:grpSpPr>
          <p:sp>
            <p:nvSpPr>
              <p:cNvPr id="28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9" name="Group 101"/>
            <p:cNvGrpSpPr>
              <a:grpSpLocks/>
            </p:cNvGrpSpPr>
            <p:nvPr/>
          </p:nvGrpSpPr>
          <p:grpSpPr bwMode="auto">
            <a:xfrm>
              <a:off x="3867174" y="2324053"/>
              <a:ext cx="612772" cy="349249"/>
              <a:chOff x="5364189" y="6450033"/>
              <a:chExt cx="612776" cy="349251"/>
            </a:xfrm>
          </p:grpSpPr>
          <p:sp>
            <p:nvSpPr>
              <p:cNvPr id="28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0" name="Group 105"/>
            <p:cNvGrpSpPr>
              <a:grpSpLocks/>
            </p:cNvGrpSpPr>
            <p:nvPr/>
          </p:nvGrpSpPr>
          <p:grpSpPr bwMode="auto">
            <a:xfrm>
              <a:off x="3794148" y="3090822"/>
              <a:ext cx="612772" cy="349249"/>
              <a:chOff x="5364189" y="6450033"/>
              <a:chExt cx="612776" cy="349251"/>
            </a:xfrm>
          </p:grpSpPr>
          <p:sp>
            <p:nvSpPr>
              <p:cNvPr id="27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1" name="Group 109"/>
            <p:cNvGrpSpPr>
              <a:grpSpLocks/>
            </p:cNvGrpSpPr>
            <p:nvPr/>
          </p:nvGrpSpPr>
          <p:grpSpPr bwMode="auto">
            <a:xfrm>
              <a:off x="3794148" y="4989488"/>
              <a:ext cx="612772" cy="349249"/>
              <a:chOff x="5364189" y="6450033"/>
              <a:chExt cx="612776" cy="349251"/>
            </a:xfrm>
          </p:grpSpPr>
          <p:sp>
            <p:nvSpPr>
              <p:cNvPr id="27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2" name="Group 113"/>
            <p:cNvGrpSpPr>
              <a:grpSpLocks/>
            </p:cNvGrpSpPr>
            <p:nvPr/>
          </p:nvGrpSpPr>
          <p:grpSpPr bwMode="auto">
            <a:xfrm>
              <a:off x="800101" y="4040155"/>
              <a:ext cx="612772" cy="349249"/>
              <a:chOff x="5364189" y="6450033"/>
              <a:chExt cx="612776" cy="349251"/>
            </a:xfrm>
          </p:grpSpPr>
          <p:sp>
            <p:nvSpPr>
              <p:cNvPr id="27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3" name="Group 117"/>
            <p:cNvGrpSpPr>
              <a:grpSpLocks/>
            </p:cNvGrpSpPr>
            <p:nvPr/>
          </p:nvGrpSpPr>
          <p:grpSpPr bwMode="auto">
            <a:xfrm>
              <a:off x="1092203" y="5829282"/>
              <a:ext cx="612772" cy="349249"/>
              <a:chOff x="5364189" y="6450033"/>
              <a:chExt cx="612776" cy="349251"/>
            </a:xfrm>
          </p:grpSpPr>
          <p:sp>
            <p:nvSpPr>
              <p:cNvPr id="26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6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 name="Group 121"/>
            <p:cNvGrpSpPr>
              <a:grpSpLocks/>
            </p:cNvGrpSpPr>
            <p:nvPr/>
          </p:nvGrpSpPr>
          <p:grpSpPr bwMode="auto">
            <a:xfrm>
              <a:off x="1676407" y="7691435"/>
              <a:ext cx="612772" cy="349249"/>
              <a:chOff x="5364189" y="6450033"/>
              <a:chExt cx="612776" cy="349251"/>
            </a:xfrm>
          </p:grpSpPr>
          <p:sp>
            <p:nvSpPr>
              <p:cNvPr id="26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6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6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 name="Group 125"/>
            <p:cNvGrpSpPr>
              <a:grpSpLocks/>
            </p:cNvGrpSpPr>
            <p:nvPr/>
          </p:nvGrpSpPr>
          <p:grpSpPr bwMode="auto">
            <a:xfrm>
              <a:off x="727075" y="1338208"/>
              <a:ext cx="612772" cy="349249"/>
              <a:chOff x="5364189" y="6450033"/>
              <a:chExt cx="612776" cy="349251"/>
            </a:xfrm>
          </p:grpSpPr>
          <p:sp>
            <p:nvSpPr>
              <p:cNvPr id="26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6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6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261"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51203" name="Rectangle 2"/>
          <p:cNvSpPr>
            <a:spLocks noGrp="1" noChangeArrowheads="1"/>
          </p:cNvSpPr>
          <p:nvPr>
            <p:ph type="title"/>
          </p:nvPr>
        </p:nvSpPr>
        <p:spPr>
          <a:xfrm>
            <a:off x="0" y="0"/>
            <a:ext cx="9906000" cy="1700213"/>
          </a:xfrm>
        </p:spPr>
        <p:txBody>
          <a:bodyPr/>
          <a:lstStyle/>
          <a:p>
            <a:pPr eaLnBrk="1" hangingPunct="1"/>
            <a:r>
              <a:rPr lang="en-GB" sz="3200" b="1" dirty="0" smtClean="0"/>
              <a:t>THE TRUTH JUDGEMENT PHASE</a:t>
            </a:r>
            <a:endParaRPr lang="en-US" sz="3200" b="1" dirty="0" smtClean="0"/>
          </a:p>
        </p:txBody>
      </p:sp>
      <p:sp>
        <p:nvSpPr>
          <p:cNvPr id="51204" name="Rectangle 224"/>
          <p:cNvSpPr>
            <a:spLocks noChangeArrowheads="1"/>
          </p:cNvSpPr>
          <p:nvPr/>
        </p:nvSpPr>
        <p:spPr bwMode="auto">
          <a:xfrm>
            <a:off x="0" y="1773238"/>
            <a:ext cx="5667380" cy="5084762"/>
          </a:xfrm>
          <a:prstGeom prst="rect">
            <a:avLst/>
          </a:prstGeom>
          <a:noFill/>
          <a:ln w="9525">
            <a:noFill/>
            <a:miter lim="800000"/>
            <a:headEnd/>
            <a:tailEnd/>
          </a:ln>
        </p:spPr>
        <p:txBody>
          <a:bodyPr/>
          <a:lstStyle/>
          <a:p>
            <a:pPr marL="342900" indent="-342900">
              <a:spcBef>
                <a:spcPct val="20000"/>
              </a:spcBef>
              <a:buFontTx/>
              <a:buChar char="•"/>
            </a:pPr>
            <a:r>
              <a:rPr lang="en-GB" sz="2400" b="1" dirty="0" smtClean="0"/>
              <a:t>Each new visual input helps </a:t>
            </a:r>
            <a:r>
              <a:rPr lang="en-GB" sz="2400" b="1" dirty="0" err="1" smtClean="0"/>
              <a:t>DRAN</a:t>
            </a:r>
            <a:r>
              <a:rPr lang="en-GB" sz="2400" b="1" dirty="0" smtClean="0"/>
              <a:t>, the Dramatic Analysis Module, interpret what is going on.</a:t>
            </a:r>
          </a:p>
          <a:p>
            <a:pPr marL="342900" indent="-342900">
              <a:spcBef>
                <a:spcPct val="20000"/>
              </a:spcBef>
              <a:buFontTx/>
              <a:buChar char="•"/>
            </a:pPr>
            <a:endParaRPr lang="en-GB" sz="2400" b="1" dirty="0" smtClean="0"/>
          </a:p>
          <a:p>
            <a:pPr marL="342900" indent="-342900">
              <a:spcBef>
                <a:spcPct val="20000"/>
              </a:spcBef>
              <a:buFontTx/>
              <a:buChar char="•"/>
            </a:pPr>
            <a:r>
              <a:rPr lang="en-GB" sz="2400" b="1" dirty="0" err="1" smtClean="0"/>
              <a:t>DRAN</a:t>
            </a:r>
            <a:r>
              <a:rPr lang="en-GB" sz="2400" b="1" dirty="0" smtClean="0"/>
              <a:t> then asks </a:t>
            </a:r>
            <a:r>
              <a:rPr lang="en-GB" sz="2400" b="1" dirty="0" err="1" smtClean="0"/>
              <a:t>PPAN</a:t>
            </a:r>
            <a:r>
              <a:rPr lang="en-GB" sz="2400" b="1" dirty="0" smtClean="0"/>
              <a:t>, the Propositional Analysis Module, to note simple </a:t>
            </a:r>
            <a:r>
              <a:rPr lang="en-GB" sz="2400" b="1" cap="all" dirty="0" smtClean="0"/>
              <a:t>existential propositions</a:t>
            </a:r>
            <a:r>
              <a:rPr lang="en-GB" sz="2400" b="1" dirty="0" smtClean="0"/>
              <a:t> .....</a:t>
            </a:r>
          </a:p>
          <a:p>
            <a:pPr marL="342900" indent="-342900">
              <a:spcBef>
                <a:spcPct val="20000"/>
              </a:spcBef>
              <a:buFontTx/>
              <a:buChar char="•"/>
            </a:pPr>
            <a:r>
              <a:rPr lang="en-GB" sz="2400" b="1" dirty="0" smtClean="0">
                <a:solidFill>
                  <a:schemeClr val="bg1">
                    <a:lumMod val="65000"/>
                  </a:schemeClr>
                </a:solidFill>
              </a:rPr>
              <a:t>E.g., A cucumber is at hand; A knife is at hand</a:t>
            </a:r>
          </a:p>
        </p:txBody>
      </p:sp>
      <p:sp>
        <p:nvSpPr>
          <p:cNvPr id="192" name="Striped Right Arrow 191"/>
          <p:cNvSpPr/>
          <p:nvPr/>
        </p:nvSpPr>
        <p:spPr bwMode="auto">
          <a:xfrm rot="15588064">
            <a:off x="5930983" y="4232040"/>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3" name="Striped Right Arrow 192"/>
          <p:cNvSpPr/>
          <p:nvPr/>
        </p:nvSpPr>
        <p:spPr bwMode="auto">
          <a:xfrm rot="15072768">
            <a:off x="6359611" y="5416116"/>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4" name="Striped Right Arrow 193"/>
          <p:cNvSpPr/>
          <p:nvPr/>
        </p:nvSpPr>
        <p:spPr bwMode="auto">
          <a:xfrm rot="16200000">
            <a:off x="5888268" y="3078384"/>
            <a:ext cx="986984"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5" name="TextBox 194"/>
          <p:cNvSpPr txBox="1"/>
          <p:nvPr/>
        </p:nvSpPr>
        <p:spPr>
          <a:xfrm>
            <a:off x="6096008" y="2714620"/>
            <a:ext cx="714380" cy="276999"/>
          </a:xfrm>
          <a:prstGeom prst="rect">
            <a:avLst/>
          </a:prstGeom>
          <a:solidFill>
            <a:schemeClr val="bg1"/>
          </a:solidFill>
        </p:spPr>
        <p:txBody>
          <a:bodyPr wrap="square" rtlCol="0">
            <a:spAutoFit/>
          </a:bodyPr>
          <a:lstStyle/>
          <a:p>
            <a:r>
              <a:rPr lang="en-GB" sz="1200" b="1" dirty="0" err="1" smtClean="0"/>
              <a:t>CONM</a:t>
            </a:r>
            <a:endParaRPr lang="en-GB" sz="1200" b="1" dirty="0"/>
          </a:p>
        </p:txBody>
      </p:sp>
      <p:sp>
        <p:nvSpPr>
          <p:cNvPr id="196" name="TextBox 195"/>
          <p:cNvSpPr txBox="1"/>
          <p:nvPr/>
        </p:nvSpPr>
        <p:spPr>
          <a:xfrm>
            <a:off x="6738950" y="6152397"/>
            <a:ext cx="642942" cy="276999"/>
          </a:xfrm>
          <a:prstGeom prst="rect">
            <a:avLst/>
          </a:prstGeom>
          <a:solidFill>
            <a:schemeClr val="bg1"/>
          </a:solidFill>
        </p:spPr>
        <p:txBody>
          <a:bodyPr wrap="square" rtlCol="0">
            <a:spAutoFit/>
          </a:bodyPr>
          <a:lstStyle/>
          <a:p>
            <a:r>
              <a:rPr lang="en-GB" sz="1200" b="1" dirty="0" err="1" smtClean="0"/>
              <a:t>TSP1</a:t>
            </a:r>
            <a:endParaRPr lang="en-GB" sz="1200" b="1" dirty="0"/>
          </a:p>
        </p:txBody>
      </p:sp>
      <p:sp>
        <p:nvSpPr>
          <p:cNvPr id="197" name="TextBox 196"/>
          <p:cNvSpPr txBox="1"/>
          <p:nvPr/>
        </p:nvSpPr>
        <p:spPr>
          <a:xfrm>
            <a:off x="6167446" y="3794943"/>
            <a:ext cx="642942" cy="276999"/>
          </a:xfrm>
          <a:prstGeom prst="rect">
            <a:avLst/>
          </a:prstGeom>
          <a:solidFill>
            <a:schemeClr val="bg1"/>
          </a:solidFill>
        </p:spPr>
        <p:txBody>
          <a:bodyPr wrap="square" rtlCol="0">
            <a:spAutoFit/>
          </a:bodyPr>
          <a:lstStyle/>
          <a:p>
            <a:r>
              <a:rPr lang="en-GB" sz="1200" b="1" dirty="0" err="1" smtClean="0"/>
              <a:t>PEMM</a:t>
            </a:r>
            <a:endParaRPr lang="en-GB" sz="1200" b="1" dirty="0"/>
          </a:p>
        </p:txBody>
      </p:sp>
      <p:sp>
        <p:nvSpPr>
          <p:cNvPr id="198" name="Striped Right Arrow 197"/>
          <p:cNvSpPr/>
          <p:nvPr/>
        </p:nvSpPr>
        <p:spPr bwMode="auto">
          <a:xfrm rot="19602502">
            <a:off x="6616491" y="4369140"/>
            <a:ext cx="77588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9" name="TextBox 198"/>
          <p:cNvSpPr txBox="1"/>
          <p:nvPr/>
        </p:nvSpPr>
        <p:spPr>
          <a:xfrm>
            <a:off x="6453198" y="5009389"/>
            <a:ext cx="642942" cy="276999"/>
          </a:xfrm>
          <a:prstGeom prst="rect">
            <a:avLst/>
          </a:prstGeom>
          <a:solidFill>
            <a:schemeClr val="bg1"/>
          </a:solidFill>
        </p:spPr>
        <p:txBody>
          <a:bodyPr wrap="square" rtlCol="0">
            <a:spAutoFit/>
          </a:bodyPr>
          <a:lstStyle/>
          <a:p>
            <a:r>
              <a:rPr lang="en-GB" sz="1200" b="1" dirty="0" err="1" smtClean="0"/>
              <a:t>TSP2</a:t>
            </a:r>
            <a:endParaRPr lang="en-GB" sz="1200" b="1" dirty="0"/>
          </a:p>
        </p:txBody>
      </p:sp>
      <p:sp>
        <p:nvSpPr>
          <p:cNvPr id="200" name="TextBox 199"/>
          <p:cNvSpPr txBox="1"/>
          <p:nvPr/>
        </p:nvSpPr>
        <p:spPr>
          <a:xfrm>
            <a:off x="7310454" y="4214818"/>
            <a:ext cx="642942" cy="276999"/>
          </a:xfrm>
          <a:prstGeom prst="rect">
            <a:avLst/>
          </a:prstGeom>
          <a:solidFill>
            <a:schemeClr val="bg1"/>
          </a:solidFill>
        </p:spPr>
        <p:txBody>
          <a:bodyPr wrap="square" rtlCol="0">
            <a:spAutoFit/>
          </a:bodyPr>
          <a:lstStyle/>
          <a:p>
            <a:r>
              <a:rPr lang="en-GB" sz="1200" b="1" dirty="0" err="1" smtClean="0"/>
              <a:t>TTRK</a:t>
            </a:r>
            <a:endParaRPr lang="en-GB" sz="1200" b="1" dirty="0"/>
          </a:p>
        </p:txBody>
      </p:sp>
      <p:sp>
        <p:nvSpPr>
          <p:cNvPr id="201" name="Striped Right Arrow 200"/>
          <p:cNvSpPr/>
          <p:nvPr/>
        </p:nvSpPr>
        <p:spPr bwMode="auto">
          <a:xfrm rot="19126714">
            <a:off x="6677640" y="2724640"/>
            <a:ext cx="124125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2" name="Striped Right Arrow 201"/>
          <p:cNvSpPr/>
          <p:nvPr/>
        </p:nvSpPr>
        <p:spPr bwMode="auto">
          <a:xfrm rot="19602502">
            <a:off x="7330871" y="3440446"/>
            <a:ext cx="775880" cy="714380"/>
          </a:xfrm>
          <a:prstGeom prst="stripedRightArrow">
            <a:avLst/>
          </a:prstGeom>
          <a:solidFill>
            <a:srgbClr val="FF000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3" name="TextBox 202"/>
          <p:cNvSpPr txBox="1"/>
          <p:nvPr/>
        </p:nvSpPr>
        <p:spPr>
          <a:xfrm>
            <a:off x="8167710" y="2357430"/>
            <a:ext cx="642942" cy="276999"/>
          </a:xfrm>
          <a:prstGeom prst="rect">
            <a:avLst/>
          </a:prstGeom>
          <a:solidFill>
            <a:schemeClr val="bg1"/>
          </a:solidFill>
        </p:spPr>
        <p:txBody>
          <a:bodyPr wrap="square" rtlCol="0">
            <a:spAutoFit/>
          </a:bodyPr>
          <a:lstStyle/>
          <a:p>
            <a:r>
              <a:rPr lang="en-GB" sz="1200" b="1" dirty="0" err="1" smtClean="0"/>
              <a:t>DRAN</a:t>
            </a:r>
            <a:endParaRPr lang="en-GB" sz="1200" b="1" dirty="0"/>
          </a:p>
        </p:txBody>
      </p:sp>
      <p:sp>
        <p:nvSpPr>
          <p:cNvPr id="204" name="TextBox 203"/>
          <p:cNvSpPr txBox="1"/>
          <p:nvPr/>
        </p:nvSpPr>
        <p:spPr>
          <a:xfrm>
            <a:off x="7881958" y="3214686"/>
            <a:ext cx="642942" cy="276999"/>
          </a:xfrm>
          <a:prstGeom prst="rect">
            <a:avLst/>
          </a:prstGeom>
          <a:solidFill>
            <a:schemeClr val="bg1"/>
          </a:solidFill>
        </p:spPr>
        <p:txBody>
          <a:bodyPr wrap="square" rtlCol="0">
            <a:spAutoFit/>
          </a:bodyPr>
          <a:lstStyle/>
          <a:p>
            <a:r>
              <a:rPr lang="en-GB" sz="1200" b="1" dirty="0" err="1" smtClean="0"/>
              <a:t>TTAC</a:t>
            </a:r>
            <a:endParaRPr lang="en-GB" sz="1200" b="1" dirty="0"/>
          </a:p>
        </p:txBody>
      </p:sp>
      <p:sp>
        <p:nvSpPr>
          <p:cNvPr id="205" name="TextBox 204"/>
          <p:cNvSpPr txBox="1"/>
          <p:nvPr/>
        </p:nvSpPr>
        <p:spPr>
          <a:xfrm>
            <a:off x="6024570" y="2008993"/>
            <a:ext cx="714380" cy="276999"/>
          </a:xfrm>
          <a:prstGeom prst="rect">
            <a:avLst/>
          </a:prstGeom>
          <a:solidFill>
            <a:schemeClr val="bg1"/>
          </a:solidFill>
        </p:spPr>
        <p:txBody>
          <a:bodyPr wrap="square" rtlCol="0">
            <a:spAutoFit/>
          </a:bodyPr>
          <a:lstStyle/>
          <a:p>
            <a:r>
              <a:rPr lang="en-GB" sz="1200" b="1" dirty="0" err="1" smtClean="0"/>
              <a:t>PPAN</a:t>
            </a:r>
            <a:endParaRPr lang="en-GB" sz="1200" b="1" dirty="0"/>
          </a:p>
        </p:txBody>
      </p:sp>
      <p:sp>
        <p:nvSpPr>
          <p:cNvPr id="206" name="Striped Right Arrow 205"/>
          <p:cNvSpPr/>
          <p:nvPr/>
        </p:nvSpPr>
        <p:spPr bwMode="auto">
          <a:xfrm>
            <a:off x="7453330"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7" name="Striped Right Arrow 206"/>
          <p:cNvSpPr/>
          <p:nvPr/>
        </p:nvSpPr>
        <p:spPr bwMode="auto">
          <a:xfrm rot="10800000">
            <a:off x="6596074"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8" name="Group 207"/>
          <p:cNvGrpSpPr/>
          <p:nvPr/>
        </p:nvGrpSpPr>
        <p:grpSpPr>
          <a:xfrm>
            <a:off x="5834082" y="1500174"/>
            <a:ext cx="3762388" cy="5111754"/>
            <a:chOff x="727075" y="1065213"/>
            <a:chExt cx="6130925" cy="6975475"/>
          </a:xfrm>
        </p:grpSpPr>
        <p:sp>
          <p:nvSpPr>
            <p:cNvPr id="209"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210"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211"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212"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213"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214"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215"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216"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217"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218"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219"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220"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221"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222"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23"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224"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225"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226"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227"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228"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229"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230"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231" name="Group 8930"/>
            <p:cNvGrpSpPr>
              <a:grpSpLocks/>
            </p:cNvGrpSpPr>
            <p:nvPr/>
          </p:nvGrpSpPr>
          <p:grpSpPr bwMode="auto">
            <a:xfrm>
              <a:off x="1268447" y="5702275"/>
              <a:ext cx="1757351" cy="438148"/>
              <a:chOff x="799" y="3592"/>
              <a:chExt cx="1107" cy="276"/>
            </a:xfrm>
          </p:grpSpPr>
          <p:sp>
            <p:nvSpPr>
              <p:cNvPr id="297"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298"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232"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33"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34"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235"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36"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37"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238"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39"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240"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241"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242"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43"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244"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245"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246"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247"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248"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249" name="Group 226"/>
            <p:cNvGrpSpPr>
              <a:grpSpLocks/>
            </p:cNvGrpSpPr>
            <p:nvPr/>
          </p:nvGrpSpPr>
          <p:grpSpPr bwMode="auto">
            <a:xfrm>
              <a:off x="1854230" y="7472328"/>
              <a:ext cx="1757352" cy="471484"/>
              <a:chOff x="1420813" y="7910559"/>
              <a:chExt cx="1757362" cy="471485"/>
            </a:xfrm>
          </p:grpSpPr>
          <p:sp>
            <p:nvSpPr>
              <p:cNvPr id="295"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296"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250" name="Group 88"/>
            <p:cNvGrpSpPr>
              <a:grpSpLocks/>
            </p:cNvGrpSpPr>
            <p:nvPr/>
          </p:nvGrpSpPr>
          <p:grpSpPr bwMode="auto">
            <a:xfrm>
              <a:off x="727075" y="2798720"/>
              <a:ext cx="612772" cy="349249"/>
              <a:chOff x="5364189" y="6450033"/>
              <a:chExt cx="612776" cy="349251"/>
            </a:xfrm>
          </p:grpSpPr>
          <p:sp>
            <p:nvSpPr>
              <p:cNvPr id="29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9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9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51" name="Group 89"/>
            <p:cNvGrpSpPr>
              <a:grpSpLocks/>
            </p:cNvGrpSpPr>
            <p:nvPr/>
          </p:nvGrpSpPr>
          <p:grpSpPr bwMode="auto">
            <a:xfrm>
              <a:off x="6240505" y="4514821"/>
              <a:ext cx="612772" cy="349249"/>
              <a:chOff x="5364189" y="6450033"/>
              <a:chExt cx="612776" cy="349251"/>
            </a:xfrm>
          </p:grpSpPr>
          <p:sp>
            <p:nvSpPr>
              <p:cNvPr id="28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9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9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52" name="Group 93"/>
            <p:cNvGrpSpPr>
              <a:grpSpLocks/>
            </p:cNvGrpSpPr>
            <p:nvPr/>
          </p:nvGrpSpPr>
          <p:grpSpPr bwMode="auto">
            <a:xfrm>
              <a:off x="6245228" y="3273386"/>
              <a:ext cx="612772" cy="349249"/>
              <a:chOff x="5364189" y="6450033"/>
              <a:chExt cx="612776" cy="349251"/>
            </a:xfrm>
          </p:grpSpPr>
          <p:sp>
            <p:nvSpPr>
              <p:cNvPr id="28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53" name="Group 97"/>
            <p:cNvGrpSpPr>
              <a:grpSpLocks/>
            </p:cNvGrpSpPr>
            <p:nvPr/>
          </p:nvGrpSpPr>
          <p:grpSpPr bwMode="auto">
            <a:xfrm>
              <a:off x="5729326" y="2324053"/>
              <a:ext cx="612772" cy="349249"/>
              <a:chOff x="5364189" y="6450033"/>
              <a:chExt cx="612776" cy="349251"/>
            </a:xfrm>
          </p:grpSpPr>
          <p:sp>
            <p:nvSpPr>
              <p:cNvPr id="28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54" name="Group 101"/>
            <p:cNvGrpSpPr>
              <a:grpSpLocks/>
            </p:cNvGrpSpPr>
            <p:nvPr/>
          </p:nvGrpSpPr>
          <p:grpSpPr bwMode="auto">
            <a:xfrm>
              <a:off x="3867174" y="2324053"/>
              <a:ext cx="612772" cy="349249"/>
              <a:chOff x="5364189" y="6450033"/>
              <a:chExt cx="612776" cy="349251"/>
            </a:xfrm>
          </p:grpSpPr>
          <p:sp>
            <p:nvSpPr>
              <p:cNvPr id="28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55" name="Group 105"/>
            <p:cNvGrpSpPr>
              <a:grpSpLocks/>
            </p:cNvGrpSpPr>
            <p:nvPr/>
          </p:nvGrpSpPr>
          <p:grpSpPr bwMode="auto">
            <a:xfrm>
              <a:off x="3794148" y="3090822"/>
              <a:ext cx="612772" cy="349249"/>
              <a:chOff x="5364189" y="6450033"/>
              <a:chExt cx="612776" cy="349251"/>
            </a:xfrm>
          </p:grpSpPr>
          <p:sp>
            <p:nvSpPr>
              <p:cNvPr id="27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56" name="Group 109"/>
            <p:cNvGrpSpPr>
              <a:grpSpLocks/>
            </p:cNvGrpSpPr>
            <p:nvPr/>
          </p:nvGrpSpPr>
          <p:grpSpPr bwMode="auto">
            <a:xfrm>
              <a:off x="3794148" y="4989488"/>
              <a:ext cx="612772" cy="349249"/>
              <a:chOff x="5364189" y="6450033"/>
              <a:chExt cx="612776" cy="349251"/>
            </a:xfrm>
          </p:grpSpPr>
          <p:sp>
            <p:nvSpPr>
              <p:cNvPr id="27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57" name="Group 113"/>
            <p:cNvGrpSpPr>
              <a:grpSpLocks/>
            </p:cNvGrpSpPr>
            <p:nvPr/>
          </p:nvGrpSpPr>
          <p:grpSpPr bwMode="auto">
            <a:xfrm>
              <a:off x="800101" y="4040155"/>
              <a:ext cx="612772" cy="349249"/>
              <a:chOff x="5364189" y="6450033"/>
              <a:chExt cx="612776" cy="349251"/>
            </a:xfrm>
          </p:grpSpPr>
          <p:sp>
            <p:nvSpPr>
              <p:cNvPr id="27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58" name="Group 117"/>
            <p:cNvGrpSpPr>
              <a:grpSpLocks/>
            </p:cNvGrpSpPr>
            <p:nvPr/>
          </p:nvGrpSpPr>
          <p:grpSpPr bwMode="auto">
            <a:xfrm>
              <a:off x="1092203" y="5829282"/>
              <a:ext cx="612772" cy="349249"/>
              <a:chOff x="5364189" y="6450033"/>
              <a:chExt cx="612776" cy="349251"/>
            </a:xfrm>
          </p:grpSpPr>
          <p:sp>
            <p:nvSpPr>
              <p:cNvPr id="26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6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59" name="Group 121"/>
            <p:cNvGrpSpPr>
              <a:grpSpLocks/>
            </p:cNvGrpSpPr>
            <p:nvPr/>
          </p:nvGrpSpPr>
          <p:grpSpPr bwMode="auto">
            <a:xfrm>
              <a:off x="1676407" y="7691435"/>
              <a:ext cx="612772" cy="349249"/>
              <a:chOff x="5364189" y="6450033"/>
              <a:chExt cx="612776" cy="349251"/>
            </a:xfrm>
          </p:grpSpPr>
          <p:sp>
            <p:nvSpPr>
              <p:cNvPr id="26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6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6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60" name="Group 125"/>
            <p:cNvGrpSpPr>
              <a:grpSpLocks/>
            </p:cNvGrpSpPr>
            <p:nvPr/>
          </p:nvGrpSpPr>
          <p:grpSpPr bwMode="auto">
            <a:xfrm>
              <a:off x="727075" y="1338208"/>
              <a:ext cx="612772" cy="349249"/>
              <a:chOff x="5364189" y="6450033"/>
              <a:chExt cx="612776" cy="349251"/>
            </a:xfrm>
          </p:grpSpPr>
          <p:sp>
            <p:nvSpPr>
              <p:cNvPr id="26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6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6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261"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51203" name="Rectangle 2"/>
          <p:cNvSpPr>
            <a:spLocks noGrp="1" noChangeArrowheads="1"/>
          </p:cNvSpPr>
          <p:nvPr>
            <p:ph type="title"/>
          </p:nvPr>
        </p:nvSpPr>
        <p:spPr>
          <a:xfrm>
            <a:off x="0" y="0"/>
            <a:ext cx="9906000" cy="1700213"/>
          </a:xfrm>
        </p:spPr>
        <p:txBody>
          <a:bodyPr/>
          <a:lstStyle/>
          <a:p>
            <a:pPr eaLnBrk="1" hangingPunct="1"/>
            <a:r>
              <a:rPr lang="en-GB" sz="3200" b="1" dirty="0" smtClean="0"/>
              <a:t>THE TRUTH JUDGEMENT PHASE</a:t>
            </a:r>
            <a:endParaRPr lang="en-US" sz="3200" b="1" dirty="0" smtClean="0"/>
          </a:p>
        </p:txBody>
      </p:sp>
      <p:sp>
        <p:nvSpPr>
          <p:cNvPr id="51204" name="Rectangle 224"/>
          <p:cNvSpPr>
            <a:spLocks noChangeArrowheads="1"/>
          </p:cNvSpPr>
          <p:nvPr/>
        </p:nvSpPr>
        <p:spPr bwMode="auto">
          <a:xfrm>
            <a:off x="0" y="1773238"/>
            <a:ext cx="5238752" cy="5084762"/>
          </a:xfrm>
          <a:prstGeom prst="rect">
            <a:avLst/>
          </a:prstGeom>
          <a:noFill/>
          <a:ln w="9525">
            <a:noFill/>
            <a:miter lim="800000"/>
            <a:headEnd/>
            <a:tailEnd/>
          </a:ln>
        </p:spPr>
        <p:txBody>
          <a:bodyPr/>
          <a:lstStyle/>
          <a:p>
            <a:pPr marL="342900" indent="-342900">
              <a:spcBef>
                <a:spcPct val="20000"/>
              </a:spcBef>
              <a:buFontTx/>
              <a:buChar char="•"/>
            </a:pPr>
            <a:r>
              <a:rPr lang="en-GB" sz="2400" b="1" dirty="0" smtClean="0"/>
              <a:t>As more and more elements are scanned, increasingly complex </a:t>
            </a:r>
            <a:r>
              <a:rPr lang="en-GB" sz="2400" b="1" cap="all" dirty="0" smtClean="0"/>
              <a:t>relational </a:t>
            </a:r>
            <a:r>
              <a:rPr lang="en-GB" sz="2400" b="1" cap="all" dirty="0" err="1" smtClean="0"/>
              <a:t>truthS</a:t>
            </a:r>
            <a:r>
              <a:rPr lang="en-GB" sz="2400" b="1" cap="all" dirty="0" smtClean="0"/>
              <a:t> </a:t>
            </a:r>
            <a:r>
              <a:rPr lang="en-GB" sz="2400" b="1" dirty="0" smtClean="0"/>
              <a:t>are submitted to </a:t>
            </a:r>
            <a:r>
              <a:rPr lang="en-GB" sz="2400" b="1" dirty="0" err="1" smtClean="0"/>
              <a:t>PPAN</a:t>
            </a:r>
            <a:r>
              <a:rPr lang="en-GB" sz="2400" b="1" dirty="0" smtClean="0"/>
              <a:t> for judgement as &lt;TRUE&gt; or &lt;FALSE&gt;.</a:t>
            </a:r>
          </a:p>
          <a:p>
            <a:pPr marL="342900" indent="-342900">
              <a:spcBef>
                <a:spcPct val="20000"/>
              </a:spcBef>
              <a:buFontTx/>
              <a:buChar char="•"/>
            </a:pPr>
            <a:r>
              <a:rPr lang="en-GB" sz="2400" b="1" dirty="0" smtClean="0">
                <a:solidFill>
                  <a:schemeClr val="bg1">
                    <a:lumMod val="65000"/>
                  </a:schemeClr>
                </a:solidFill>
              </a:rPr>
              <a:t>E.g., The cucumber is on the table </a:t>
            </a:r>
          </a:p>
          <a:p>
            <a:pPr marL="342900" indent="-342900">
              <a:spcBef>
                <a:spcPct val="20000"/>
              </a:spcBef>
              <a:buFontTx/>
              <a:buChar char="•"/>
            </a:pPr>
            <a:endParaRPr lang="en-GB" sz="1400" b="1" dirty="0">
              <a:solidFill>
                <a:schemeClr val="bg1">
                  <a:lumMod val="65000"/>
                </a:schemeClr>
              </a:solidFill>
            </a:endParaRPr>
          </a:p>
        </p:txBody>
      </p:sp>
      <p:sp>
        <p:nvSpPr>
          <p:cNvPr id="192" name="Striped Right Arrow 191"/>
          <p:cNvSpPr/>
          <p:nvPr/>
        </p:nvSpPr>
        <p:spPr bwMode="auto">
          <a:xfrm rot="15588064">
            <a:off x="5930983" y="4232040"/>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3" name="Striped Right Arrow 192"/>
          <p:cNvSpPr/>
          <p:nvPr/>
        </p:nvSpPr>
        <p:spPr bwMode="auto">
          <a:xfrm rot="15072768">
            <a:off x="6359611" y="5416116"/>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4" name="Striped Right Arrow 193"/>
          <p:cNvSpPr/>
          <p:nvPr/>
        </p:nvSpPr>
        <p:spPr bwMode="auto">
          <a:xfrm rot="16200000">
            <a:off x="5888268" y="3078384"/>
            <a:ext cx="986984"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5" name="TextBox 194"/>
          <p:cNvSpPr txBox="1"/>
          <p:nvPr/>
        </p:nvSpPr>
        <p:spPr>
          <a:xfrm>
            <a:off x="6096008" y="2714620"/>
            <a:ext cx="714380" cy="276999"/>
          </a:xfrm>
          <a:prstGeom prst="rect">
            <a:avLst/>
          </a:prstGeom>
          <a:solidFill>
            <a:schemeClr val="bg1"/>
          </a:solidFill>
        </p:spPr>
        <p:txBody>
          <a:bodyPr wrap="square" rtlCol="0">
            <a:spAutoFit/>
          </a:bodyPr>
          <a:lstStyle/>
          <a:p>
            <a:r>
              <a:rPr lang="en-GB" sz="1200" b="1" dirty="0" err="1" smtClean="0"/>
              <a:t>CONM</a:t>
            </a:r>
            <a:endParaRPr lang="en-GB" sz="1200" b="1" dirty="0"/>
          </a:p>
        </p:txBody>
      </p:sp>
      <p:sp>
        <p:nvSpPr>
          <p:cNvPr id="196" name="TextBox 195"/>
          <p:cNvSpPr txBox="1"/>
          <p:nvPr/>
        </p:nvSpPr>
        <p:spPr>
          <a:xfrm>
            <a:off x="6738950" y="6152397"/>
            <a:ext cx="642942" cy="276999"/>
          </a:xfrm>
          <a:prstGeom prst="rect">
            <a:avLst/>
          </a:prstGeom>
          <a:solidFill>
            <a:schemeClr val="bg1"/>
          </a:solidFill>
        </p:spPr>
        <p:txBody>
          <a:bodyPr wrap="square" rtlCol="0">
            <a:spAutoFit/>
          </a:bodyPr>
          <a:lstStyle/>
          <a:p>
            <a:r>
              <a:rPr lang="en-GB" sz="1200" b="1" dirty="0" err="1" smtClean="0"/>
              <a:t>TSP1</a:t>
            </a:r>
            <a:endParaRPr lang="en-GB" sz="1200" b="1" dirty="0"/>
          </a:p>
        </p:txBody>
      </p:sp>
      <p:sp>
        <p:nvSpPr>
          <p:cNvPr id="197" name="TextBox 196"/>
          <p:cNvSpPr txBox="1"/>
          <p:nvPr/>
        </p:nvSpPr>
        <p:spPr>
          <a:xfrm>
            <a:off x="6167446" y="3794943"/>
            <a:ext cx="642942" cy="276999"/>
          </a:xfrm>
          <a:prstGeom prst="rect">
            <a:avLst/>
          </a:prstGeom>
          <a:solidFill>
            <a:schemeClr val="bg1"/>
          </a:solidFill>
        </p:spPr>
        <p:txBody>
          <a:bodyPr wrap="square" rtlCol="0">
            <a:spAutoFit/>
          </a:bodyPr>
          <a:lstStyle/>
          <a:p>
            <a:r>
              <a:rPr lang="en-GB" sz="1200" b="1" dirty="0" err="1" smtClean="0"/>
              <a:t>PEMM</a:t>
            </a:r>
            <a:endParaRPr lang="en-GB" sz="1200" b="1" dirty="0"/>
          </a:p>
        </p:txBody>
      </p:sp>
      <p:sp>
        <p:nvSpPr>
          <p:cNvPr id="198" name="Striped Right Arrow 197"/>
          <p:cNvSpPr/>
          <p:nvPr/>
        </p:nvSpPr>
        <p:spPr bwMode="auto">
          <a:xfrm rot="19602502">
            <a:off x="6616491" y="4369140"/>
            <a:ext cx="77588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9" name="TextBox 198"/>
          <p:cNvSpPr txBox="1"/>
          <p:nvPr/>
        </p:nvSpPr>
        <p:spPr>
          <a:xfrm>
            <a:off x="6453198" y="5009389"/>
            <a:ext cx="642942" cy="276999"/>
          </a:xfrm>
          <a:prstGeom prst="rect">
            <a:avLst/>
          </a:prstGeom>
          <a:solidFill>
            <a:schemeClr val="bg1"/>
          </a:solidFill>
        </p:spPr>
        <p:txBody>
          <a:bodyPr wrap="square" rtlCol="0">
            <a:spAutoFit/>
          </a:bodyPr>
          <a:lstStyle/>
          <a:p>
            <a:r>
              <a:rPr lang="en-GB" sz="1200" b="1" dirty="0" err="1" smtClean="0"/>
              <a:t>TSP2</a:t>
            </a:r>
            <a:endParaRPr lang="en-GB" sz="1200" b="1" dirty="0"/>
          </a:p>
        </p:txBody>
      </p:sp>
      <p:sp>
        <p:nvSpPr>
          <p:cNvPr id="200" name="TextBox 199"/>
          <p:cNvSpPr txBox="1"/>
          <p:nvPr/>
        </p:nvSpPr>
        <p:spPr>
          <a:xfrm>
            <a:off x="7310454" y="4214818"/>
            <a:ext cx="642942" cy="276999"/>
          </a:xfrm>
          <a:prstGeom prst="rect">
            <a:avLst/>
          </a:prstGeom>
          <a:solidFill>
            <a:schemeClr val="bg1"/>
          </a:solidFill>
        </p:spPr>
        <p:txBody>
          <a:bodyPr wrap="square" rtlCol="0">
            <a:spAutoFit/>
          </a:bodyPr>
          <a:lstStyle/>
          <a:p>
            <a:r>
              <a:rPr lang="en-GB" sz="1200" b="1" dirty="0" err="1" smtClean="0"/>
              <a:t>TTRK</a:t>
            </a:r>
            <a:endParaRPr lang="en-GB" sz="1200" b="1" dirty="0"/>
          </a:p>
        </p:txBody>
      </p:sp>
      <p:sp>
        <p:nvSpPr>
          <p:cNvPr id="201" name="Striped Right Arrow 200"/>
          <p:cNvSpPr/>
          <p:nvPr/>
        </p:nvSpPr>
        <p:spPr bwMode="auto">
          <a:xfrm rot="19126714">
            <a:off x="6677640" y="2724640"/>
            <a:ext cx="124125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2" name="Striped Right Arrow 201"/>
          <p:cNvSpPr/>
          <p:nvPr/>
        </p:nvSpPr>
        <p:spPr bwMode="auto">
          <a:xfrm rot="19602502">
            <a:off x="7330871" y="3440446"/>
            <a:ext cx="775880" cy="714380"/>
          </a:xfrm>
          <a:prstGeom prst="stripedRightArrow">
            <a:avLst/>
          </a:prstGeom>
          <a:solidFill>
            <a:srgbClr val="FF000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3" name="TextBox 202"/>
          <p:cNvSpPr txBox="1"/>
          <p:nvPr/>
        </p:nvSpPr>
        <p:spPr>
          <a:xfrm>
            <a:off x="8167710" y="2357430"/>
            <a:ext cx="642942" cy="276999"/>
          </a:xfrm>
          <a:prstGeom prst="rect">
            <a:avLst/>
          </a:prstGeom>
          <a:solidFill>
            <a:schemeClr val="bg1"/>
          </a:solidFill>
        </p:spPr>
        <p:txBody>
          <a:bodyPr wrap="square" rtlCol="0">
            <a:spAutoFit/>
          </a:bodyPr>
          <a:lstStyle/>
          <a:p>
            <a:r>
              <a:rPr lang="en-GB" sz="1200" b="1" dirty="0" err="1" smtClean="0"/>
              <a:t>DRAN</a:t>
            </a:r>
            <a:endParaRPr lang="en-GB" sz="1200" b="1" dirty="0"/>
          </a:p>
        </p:txBody>
      </p:sp>
      <p:sp>
        <p:nvSpPr>
          <p:cNvPr id="204" name="TextBox 203"/>
          <p:cNvSpPr txBox="1"/>
          <p:nvPr/>
        </p:nvSpPr>
        <p:spPr>
          <a:xfrm>
            <a:off x="7881958" y="3214686"/>
            <a:ext cx="642942" cy="276999"/>
          </a:xfrm>
          <a:prstGeom prst="rect">
            <a:avLst/>
          </a:prstGeom>
          <a:solidFill>
            <a:schemeClr val="bg1"/>
          </a:solidFill>
        </p:spPr>
        <p:txBody>
          <a:bodyPr wrap="square" rtlCol="0">
            <a:spAutoFit/>
          </a:bodyPr>
          <a:lstStyle/>
          <a:p>
            <a:r>
              <a:rPr lang="en-GB" sz="1200" b="1" dirty="0" err="1" smtClean="0"/>
              <a:t>TTAC</a:t>
            </a:r>
            <a:endParaRPr lang="en-GB" sz="1200" b="1" dirty="0"/>
          </a:p>
        </p:txBody>
      </p:sp>
      <p:sp>
        <p:nvSpPr>
          <p:cNvPr id="205" name="TextBox 204"/>
          <p:cNvSpPr txBox="1"/>
          <p:nvPr/>
        </p:nvSpPr>
        <p:spPr>
          <a:xfrm>
            <a:off x="6024570" y="2008993"/>
            <a:ext cx="714380" cy="276999"/>
          </a:xfrm>
          <a:prstGeom prst="rect">
            <a:avLst/>
          </a:prstGeom>
          <a:solidFill>
            <a:schemeClr val="bg1"/>
          </a:solidFill>
        </p:spPr>
        <p:txBody>
          <a:bodyPr wrap="square" rtlCol="0">
            <a:spAutoFit/>
          </a:bodyPr>
          <a:lstStyle/>
          <a:p>
            <a:r>
              <a:rPr lang="en-GB" sz="1200" b="1" dirty="0" err="1" smtClean="0"/>
              <a:t>PPAN</a:t>
            </a:r>
            <a:endParaRPr lang="en-GB" sz="1200" b="1" dirty="0"/>
          </a:p>
        </p:txBody>
      </p:sp>
      <p:sp>
        <p:nvSpPr>
          <p:cNvPr id="206" name="Striped Right Arrow 205"/>
          <p:cNvSpPr/>
          <p:nvPr/>
        </p:nvSpPr>
        <p:spPr bwMode="auto">
          <a:xfrm>
            <a:off x="7453330"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7" name="Striped Right Arrow 206"/>
          <p:cNvSpPr/>
          <p:nvPr/>
        </p:nvSpPr>
        <p:spPr bwMode="auto">
          <a:xfrm rot="10800000">
            <a:off x="6596074"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5" name="Group 304"/>
          <p:cNvGrpSpPr/>
          <p:nvPr/>
        </p:nvGrpSpPr>
        <p:grpSpPr>
          <a:xfrm>
            <a:off x="5834082" y="1500174"/>
            <a:ext cx="3762388" cy="5111754"/>
            <a:chOff x="727075" y="1065213"/>
            <a:chExt cx="6130925" cy="6975475"/>
          </a:xfrm>
        </p:grpSpPr>
        <p:sp>
          <p:nvSpPr>
            <p:cNvPr id="306"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307"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308"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309"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310"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311"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312"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313"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314"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315"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316"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317"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318"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319"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320"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321"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322"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323"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324"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325"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326"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327"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328" name="Group 8930"/>
            <p:cNvGrpSpPr>
              <a:grpSpLocks/>
            </p:cNvGrpSpPr>
            <p:nvPr/>
          </p:nvGrpSpPr>
          <p:grpSpPr bwMode="auto">
            <a:xfrm>
              <a:off x="1268447" y="5702275"/>
              <a:ext cx="1757351" cy="438148"/>
              <a:chOff x="799" y="3592"/>
              <a:chExt cx="1107" cy="276"/>
            </a:xfrm>
          </p:grpSpPr>
          <p:sp>
            <p:nvSpPr>
              <p:cNvPr id="394"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395"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329"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330"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331"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332"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333"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334"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335"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336"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337"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338"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339"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340"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341"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342"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343"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344"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345"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346" name="Group 226"/>
            <p:cNvGrpSpPr>
              <a:grpSpLocks/>
            </p:cNvGrpSpPr>
            <p:nvPr/>
          </p:nvGrpSpPr>
          <p:grpSpPr bwMode="auto">
            <a:xfrm>
              <a:off x="1854230" y="7472328"/>
              <a:ext cx="1757352" cy="471484"/>
              <a:chOff x="1420813" y="7910559"/>
              <a:chExt cx="1757362" cy="471485"/>
            </a:xfrm>
          </p:grpSpPr>
          <p:sp>
            <p:nvSpPr>
              <p:cNvPr id="392"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393"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347" name="Group 88"/>
            <p:cNvGrpSpPr>
              <a:grpSpLocks/>
            </p:cNvGrpSpPr>
            <p:nvPr/>
          </p:nvGrpSpPr>
          <p:grpSpPr bwMode="auto">
            <a:xfrm>
              <a:off x="727075" y="2798722"/>
              <a:ext cx="612772" cy="349249"/>
              <a:chOff x="5364189" y="6450033"/>
              <a:chExt cx="612776" cy="349251"/>
            </a:xfrm>
          </p:grpSpPr>
          <p:sp>
            <p:nvSpPr>
              <p:cNvPr id="38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9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9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348" name="Group 89"/>
            <p:cNvGrpSpPr>
              <a:grpSpLocks/>
            </p:cNvGrpSpPr>
            <p:nvPr/>
          </p:nvGrpSpPr>
          <p:grpSpPr bwMode="auto">
            <a:xfrm>
              <a:off x="6240505" y="4514823"/>
              <a:ext cx="612772" cy="349249"/>
              <a:chOff x="5364189" y="6450033"/>
              <a:chExt cx="612776" cy="349251"/>
            </a:xfrm>
          </p:grpSpPr>
          <p:sp>
            <p:nvSpPr>
              <p:cNvPr id="38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8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8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349" name="Group 93"/>
            <p:cNvGrpSpPr>
              <a:grpSpLocks/>
            </p:cNvGrpSpPr>
            <p:nvPr/>
          </p:nvGrpSpPr>
          <p:grpSpPr bwMode="auto">
            <a:xfrm>
              <a:off x="6245228" y="3273388"/>
              <a:ext cx="612772" cy="349249"/>
              <a:chOff x="5364189" y="6450033"/>
              <a:chExt cx="612776" cy="349251"/>
            </a:xfrm>
          </p:grpSpPr>
          <p:sp>
            <p:nvSpPr>
              <p:cNvPr id="38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8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8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350" name="Group 97"/>
            <p:cNvGrpSpPr>
              <a:grpSpLocks/>
            </p:cNvGrpSpPr>
            <p:nvPr/>
          </p:nvGrpSpPr>
          <p:grpSpPr bwMode="auto">
            <a:xfrm>
              <a:off x="5729326" y="2324055"/>
              <a:ext cx="612772" cy="349249"/>
              <a:chOff x="5364189" y="6450033"/>
              <a:chExt cx="612776" cy="349251"/>
            </a:xfrm>
          </p:grpSpPr>
          <p:sp>
            <p:nvSpPr>
              <p:cNvPr id="38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8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8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351" name="Group 101"/>
            <p:cNvGrpSpPr>
              <a:grpSpLocks/>
            </p:cNvGrpSpPr>
            <p:nvPr/>
          </p:nvGrpSpPr>
          <p:grpSpPr bwMode="auto">
            <a:xfrm>
              <a:off x="3867174" y="2324055"/>
              <a:ext cx="612772" cy="349249"/>
              <a:chOff x="5364189" y="6450033"/>
              <a:chExt cx="612776" cy="349251"/>
            </a:xfrm>
          </p:grpSpPr>
          <p:sp>
            <p:nvSpPr>
              <p:cNvPr id="37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7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7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352" name="Group 105"/>
            <p:cNvGrpSpPr>
              <a:grpSpLocks/>
            </p:cNvGrpSpPr>
            <p:nvPr/>
          </p:nvGrpSpPr>
          <p:grpSpPr bwMode="auto">
            <a:xfrm>
              <a:off x="3794148" y="3090824"/>
              <a:ext cx="612772" cy="349249"/>
              <a:chOff x="5364189" y="6450033"/>
              <a:chExt cx="612776" cy="349251"/>
            </a:xfrm>
          </p:grpSpPr>
          <p:sp>
            <p:nvSpPr>
              <p:cNvPr id="37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7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7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353" name="Group 109"/>
            <p:cNvGrpSpPr>
              <a:grpSpLocks/>
            </p:cNvGrpSpPr>
            <p:nvPr/>
          </p:nvGrpSpPr>
          <p:grpSpPr bwMode="auto">
            <a:xfrm>
              <a:off x="3794148" y="4989490"/>
              <a:ext cx="612772" cy="349249"/>
              <a:chOff x="5364189" y="6450033"/>
              <a:chExt cx="612776" cy="349251"/>
            </a:xfrm>
          </p:grpSpPr>
          <p:sp>
            <p:nvSpPr>
              <p:cNvPr id="37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7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7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354" name="Group 113"/>
            <p:cNvGrpSpPr>
              <a:grpSpLocks/>
            </p:cNvGrpSpPr>
            <p:nvPr/>
          </p:nvGrpSpPr>
          <p:grpSpPr bwMode="auto">
            <a:xfrm>
              <a:off x="800101" y="4040157"/>
              <a:ext cx="612772" cy="349249"/>
              <a:chOff x="5364189" y="6450033"/>
              <a:chExt cx="612776" cy="349251"/>
            </a:xfrm>
          </p:grpSpPr>
          <p:sp>
            <p:nvSpPr>
              <p:cNvPr id="36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6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7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355" name="Group 117"/>
            <p:cNvGrpSpPr>
              <a:grpSpLocks/>
            </p:cNvGrpSpPr>
            <p:nvPr/>
          </p:nvGrpSpPr>
          <p:grpSpPr bwMode="auto">
            <a:xfrm>
              <a:off x="1092203" y="5829284"/>
              <a:ext cx="612772" cy="349249"/>
              <a:chOff x="5364189" y="6450033"/>
              <a:chExt cx="612776" cy="349251"/>
            </a:xfrm>
          </p:grpSpPr>
          <p:sp>
            <p:nvSpPr>
              <p:cNvPr id="36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6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6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356" name="Group 121"/>
            <p:cNvGrpSpPr>
              <a:grpSpLocks/>
            </p:cNvGrpSpPr>
            <p:nvPr/>
          </p:nvGrpSpPr>
          <p:grpSpPr bwMode="auto">
            <a:xfrm>
              <a:off x="1676407" y="7691437"/>
              <a:ext cx="612772" cy="349249"/>
              <a:chOff x="5364189" y="6450033"/>
              <a:chExt cx="612776" cy="349251"/>
            </a:xfrm>
          </p:grpSpPr>
          <p:sp>
            <p:nvSpPr>
              <p:cNvPr id="36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6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6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357" name="Group 125"/>
            <p:cNvGrpSpPr>
              <a:grpSpLocks/>
            </p:cNvGrpSpPr>
            <p:nvPr/>
          </p:nvGrpSpPr>
          <p:grpSpPr bwMode="auto">
            <a:xfrm>
              <a:off x="727075" y="1338210"/>
              <a:ext cx="612772" cy="349249"/>
              <a:chOff x="5364189" y="6450033"/>
              <a:chExt cx="612776" cy="349251"/>
            </a:xfrm>
          </p:grpSpPr>
          <p:sp>
            <p:nvSpPr>
              <p:cNvPr id="35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6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6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358"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52227" name="Rectangle 2"/>
          <p:cNvSpPr>
            <a:spLocks noGrp="1" noChangeArrowheads="1"/>
          </p:cNvSpPr>
          <p:nvPr>
            <p:ph type="title"/>
          </p:nvPr>
        </p:nvSpPr>
        <p:spPr>
          <a:xfrm>
            <a:off x="0" y="0"/>
            <a:ext cx="9906000" cy="1700213"/>
          </a:xfrm>
        </p:spPr>
        <p:txBody>
          <a:bodyPr/>
          <a:lstStyle/>
          <a:p>
            <a:pPr eaLnBrk="1" hangingPunct="1"/>
            <a:r>
              <a:rPr lang="en-GB" sz="3200" b="1" dirty="0" smtClean="0"/>
              <a:t>VISUAL SCANNING</a:t>
            </a:r>
            <a:endParaRPr lang="en-US" sz="3200" b="1" dirty="0" smtClean="0"/>
          </a:p>
        </p:txBody>
      </p:sp>
      <p:sp>
        <p:nvSpPr>
          <p:cNvPr id="52228" name="Rectangle 224"/>
          <p:cNvSpPr>
            <a:spLocks noChangeArrowheads="1"/>
          </p:cNvSpPr>
          <p:nvPr/>
        </p:nvSpPr>
        <p:spPr bwMode="auto">
          <a:xfrm>
            <a:off x="0" y="1773238"/>
            <a:ext cx="5667380" cy="4513262"/>
          </a:xfrm>
          <a:prstGeom prst="rect">
            <a:avLst/>
          </a:prstGeom>
          <a:noFill/>
          <a:ln w="9525">
            <a:noFill/>
            <a:miter lim="800000"/>
            <a:headEnd/>
            <a:tailEnd/>
          </a:ln>
        </p:spPr>
        <p:txBody>
          <a:bodyPr/>
          <a:lstStyle/>
          <a:p>
            <a:pPr marL="342900" indent="-342900">
              <a:spcBef>
                <a:spcPct val="20000"/>
              </a:spcBef>
              <a:buFontTx/>
              <a:buChar char="•"/>
            </a:pPr>
            <a:r>
              <a:rPr lang="en-GB" sz="2400" b="1" dirty="0" smtClean="0"/>
              <a:t>Unless and until a significant PROPOSITIONAL TRUTH is identified, each cycle produces only a simple “re-sampling” of the sensory environment. This is shown in the Print Out as .....</a:t>
            </a:r>
          </a:p>
          <a:p>
            <a:pPr marL="342900" indent="-342900">
              <a:spcBef>
                <a:spcPct val="20000"/>
              </a:spcBef>
              <a:buFontTx/>
              <a:buChar char="•"/>
            </a:pPr>
            <a:r>
              <a:rPr lang="en-GB" sz="2400" b="1" dirty="0" smtClean="0">
                <a:solidFill>
                  <a:schemeClr val="bg1">
                    <a:lumMod val="50000"/>
                  </a:schemeClr>
                </a:solidFill>
              </a:rPr>
              <a:t>SENSORS{SEEK NEXT INPUT</a:t>
            </a:r>
          </a:p>
          <a:p>
            <a:pPr marL="342900" indent="-342900">
              <a:spcBef>
                <a:spcPct val="20000"/>
              </a:spcBef>
              <a:buFontTx/>
              <a:buChar char="•"/>
            </a:pPr>
            <a:endParaRPr lang="en-GB" sz="2400" b="1" dirty="0" smtClean="0">
              <a:solidFill>
                <a:schemeClr val="bg1">
                  <a:lumMod val="50000"/>
                </a:schemeClr>
              </a:solidFill>
            </a:endParaRPr>
          </a:p>
          <a:p>
            <a:pPr marL="342900" indent="-342900">
              <a:spcBef>
                <a:spcPct val="20000"/>
              </a:spcBef>
              <a:buFontTx/>
              <a:buChar char="•"/>
            </a:pPr>
            <a:r>
              <a:rPr lang="en-GB" sz="2400" b="1" dirty="0" smtClean="0"/>
              <a:t>This allows our eyes to move to their next fixation point, our head to tilt to hear better, and so on.</a:t>
            </a:r>
          </a:p>
        </p:txBody>
      </p:sp>
      <p:sp>
        <p:nvSpPr>
          <p:cNvPr id="192" name="Striped Right Arrow 191"/>
          <p:cNvSpPr/>
          <p:nvPr/>
        </p:nvSpPr>
        <p:spPr bwMode="auto">
          <a:xfrm rot="15588064">
            <a:off x="5930983" y="4232040"/>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3" name="Striped Right Arrow 192"/>
          <p:cNvSpPr/>
          <p:nvPr/>
        </p:nvSpPr>
        <p:spPr bwMode="auto">
          <a:xfrm rot="15072768">
            <a:off x="6359611" y="5416116"/>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4" name="Striped Right Arrow 193"/>
          <p:cNvSpPr/>
          <p:nvPr/>
        </p:nvSpPr>
        <p:spPr bwMode="auto">
          <a:xfrm rot="16200000">
            <a:off x="5888268" y="3078384"/>
            <a:ext cx="986984"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5" name="TextBox 194"/>
          <p:cNvSpPr txBox="1"/>
          <p:nvPr/>
        </p:nvSpPr>
        <p:spPr>
          <a:xfrm>
            <a:off x="6096008" y="2714620"/>
            <a:ext cx="714380" cy="276999"/>
          </a:xfrm>
          <a:prstGeom prst="rect">
            <a:avLst/>
          </a:prstGeom>
          <a:solidFill>
            <a:schemeClr val="bg1"/>
          </a:solidFill>
        </p:spPr>
        <p:txBody>
          <a:bodyPr wrap="square" rtlCol="0">
            <a:spAutoFit/>
          </a:bodyPr>
          <a:lstStyle/>
          <a:p>
            <a:r>
              <a:rPr lang="en-GB" sz="1200" b="1" dirty="0" err="1" smtClean="0"/>
              <a:t>CONM</a:t>
            </a:r>
            <a:endParaRPr lang="en-GB" sz="1200" b="1" dirty="0"/>
          </a:p>
        </p:txBody>
      </p:sp>
      <p:sp>
        <p:nvSpPr>
          <p:cNvPr id="196" name="TextBox 195"/>
          <p:cNvSpPr txBox="1"/>
          <p:nvPr/>
        </p:nvSpPr>
        <p:spPr>
          <a:xfrm>
            <a:off x="6738950" y="6152397"/>
            <a:ext cx="642942" cy="276999"/>
          </a:xfrm>
          <a:prstGeom prst="rect">
            <a:avLst/>
          </a:prstGeom>
          <a:solidFill>
            <a:schemeClr val="bg1"/>
          </a:solidFill>
        </p:spPr>
        <p:txBody>
          <a:bodyPr wrap="square" rtlCol="0">
            <a:spAutoFit/>
          </a:bodyPr>
          <a:lstStyle/>
          <a:p>
            <a:r>
              <a:rPr lang="en-GB" sz="1200" b="1" dirty="0" err="1" smtClean="0"/>
              <a:t>TSP1</a:t>
            </a:r>
            <a:endParaRPr lang="en-GB" sz="1200" b="1" dirty="0"/>
          </a:p>
        </p:txBody>
      </p:sp>
      <p:sp>
        <p:nvSpPr>
          <p:cNvPr id="197" name="TextBox 196"/>
          <p:cNvSpPr txBox="1"/>
          <p:nvPr/>
        </p:nvSpPr>
        <p:spPr>
          <a:xfrm>
            <a:off x="6167446" y="3794943"/>
            <a:ext cx="642942" cy="276999"/>
          </a:xfrm>
          <a:prstGeom prst="rect">
            <a:avLst/>
          </a:prstGeom>
          <a:solidFill>
            <a:schemeClr val="bg1"/>
          </a:solidFill>
        </p:spPr>
        <p:txBody>
          <a:bodyPr wrap="square" rtlCol="0">
            <a:spAutoFit/>
          </a:bodyPr>
          <a:lstStyle/>
          <a:p>
            <a:r>
              <a:rPr lang="en-GB" sz="1200" b="1" dirty="0" err="1" smtClean="0"/>
              <a:t>PEMM</a:t>
            </a:r>
            <a:endParaRPr lang="en-GB" sz="1200" b="1" dirty="0"/>
          </a:p>
        </p:txBody>
      </p:sp>
      <p:sp>
        <p:nvSpPr>
          <p:cNvPr id="198" name="Striped Right Arrow 197"/>
          <p:cNvSpPr/>
          <p:nvPr/>
        </p:nvSpPr>
        <p:spPr bwMode="auto">
          <a:xfrm rot="19602502">
            <a:off x="6616491" y="4369140"/>
            <a:ext cx="77588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9" name="TextBox 198"/>
          <p:cNvSpPr txBox="1"/>
          <p:nvPr/>
        </p:nvSpPr>
        <p:spPr>
          <a:xfrm>
            <a:off x="6453198" y="5009389"/>
            <a:ext cx="642942" cy="276999"/>
          </a:xfrm>
          <a:prstGeom prst="rect">
            <a:avLst/>
          </a:prstGeom>
          <a:solidFill>
            <a:schemeClr val="bg1"/>
          </a:solidFill>
        </p:spPr>
        <p:txBody>
          <a:bodyPr wrap="square" rtlCol="0">
            <a:spAutoFit/>
          </a:bodyPr>
          <a:lstStyle/>
          <a:p>
            <a:r>
              <a:rPr lang="en-GB" sz="1200" b="1" dirty="0" err="1" smtClean="0"/>
              <a:t>TSP2</a:t>
            </a:r>
            <a:endParaRPr lang="en-GB" sz="1200" b="1" dirty="0"/>
          </a:p>
        </p:txBody>
      </p:sp>
      <p:sp>
        <p:nvSpPr>
          <p:cNvPr id="200" name="TextBox 199"/>
          <p:cNvSpPr txBox="1"/>
          <p:nvPr/>
        </p:nvSpPr>
        <p:spPr>
          <a:xfrm>
            <a:off x="7310454" y="4214818"/>
            <a:ext cx="642942" cy="276999"/>
          </a:xfrm>
          <a:prstGeom prst="rect">
            <a:avLst/>
          </a:prstGeom>
          <a:solidFill>
            <a:schemeClr val="bg1"/>
          </a:solidFill>
        </p:spPr>
        <p:txBody>
          <a:bodyPr wrap="square" rtlCol="0">
            <a:spAutoFit/>
          </a:bodyPr>
          <a:lstStyle/>
          <a:p>
            <a:r>
              <a:rPr lang="en-GB" sz="1200" b="1" dirty="0" err="1" smtClean="0"/>
              <a:t>TTRK</a:t>
            </a:r>
            <a:endParaRPr lang="en-GB" sz="1200" b="1" dirty="0"/>
          </a:p>
        </p:txBody>
      </p:sp>
      <p:sp>
        <p:nvSpPr>
          <p:cNvPr id="201" name="Striped Right Arrow 200"/>
          <p:cNvSpPr/>
          <p:nvPr/>
        </p:nvSpPr>
        <p:spPr bwMode="auto">
          <a:xfrm rot="19126714">
            <a:off x="6677640" y="2724640"/>
            <a:ext cx="124125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2" name="Striped Right Arrow 201"/>
          <p:cNvSpPr/>
          <p:nvPr/>
        </p:nvSpPr>
        <p:spPr bwMode="auto">
          <a:xfrm rot="19602502">
            <a:off x="7330871" y="3440446"/>
            <a:ext cx="775880" cy="714380"/>
          </a:xfrm>
          <a:prstGeom prst="stripedRightArrow">
            <a:avLst/>
          </a:prstGeom>
          <a:solidFill>
            <a:srgbClr val="FF000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3" name="TextBox 202"/>
          <p:cNvSpPr txBox="1"/>
          <p:nvPr/>
        </p:nvSpPr>
        <p:spPr>
          <a:xfrm>
            <a:off x="8167710" y="2357430"/>
            <a:ext cx="642942" cy="276999"/>
          </a:xfrm>
          <a:prstGeom prst="rect">
            <a:avLst/>
          </a:prstGeom>
          <a:solidFill>
            <a:schemeClr val="bg1"/>
          </a:solidFill>
        </p:spPr>
        <p:txBody>
          <a:bodyPr wrap="square" rtlCol="0">
            <a:spAutoFit/>
          </a:bodyPr>
          <a:lstStyle/>
          <a:p>
            <a:r>
              <a:rPr lang="en-GB" sz="1200" b="1" dirty="0" err="1" smtClean="0"/>
              <a:t>DRAN</a:t>
            </a:r>
            <a:endParaRPr lang="en-GB" sz="1200" b="1" dirty="0"/>
          </a:p>
        </p:txBody>
      </p:sp>
      <p:sp>
        <p:nvSpPr>
          <p:cNvPr id="204" name="TextBox 203"/>
          <p:cNvSpPr txBox="1"/>
          <p:nvPr/>
        </p:nvSpPr>
        <p:spPr>
          <a:xfrm>
            <a:off x="7881958" y="3214686"/>
            <a:ext cx="642942" cy="276999"/>
          </a:xfrm>
          <a:prstGeom prst="rect">
            <a:avLst/>
          </a:prstGeom>
          <a:solidFill>
            <a:schemeClr val="bg1"/>
          </a:solidFill>
        </p:spPr>
        <p:txBody>
          <a:bodyPr wrap="square" rtlCol="0">
            <a:spAutoFit/>
          </a:bodyPr>
          <a:lstStyle/>
          <a:p>
            <a:r>
              <a:rPr lang="en-GB" sz="1200" b="1" dirty="0" err="1" smtClean="0"/>
              <a:t>TTAC</a:t>
            </a:r>
            <a:endParaRPr lang="en-GB" sz="1200" b="1" dirty="0"/>
          </a:p>
        </p:txBody>
      </p:sp>
      <p:sp>
        <p:nvSpPr>
          <p:cNvPr id="205" name="TextBox 204"/>
          <p:cNvSpPr txBox="1"/>
          <p:nvPr/>
        </p:nvSpPr>
        <p:spPr>
          <a:xfrm>
            <a:off x="6024570" y="2008993"/>
            <a:ext cx="714380" cy="276999"/>
          </a:xfrm>
          <a:prstGeom prst="rect">
            <a:avLst/>
          </a:prstGeom>
          <a:solidFill>
            <a:schemeClr val="bg1"/>
          </a:solidFill>
        </p:spPr>
        <p:txBody>
          <a:bodyPr wrap="square" rtlCol="0">
            <a:spAutoFit/>
          </a:bodyPr>
          <a:lstStyle/>
          <a:p>
            <a:r>
              <a:rPr lang="en-GB" sz="1200" b="1" dirty="0" err="1" smtClean="0"/>
              <a:t>PPAN</a:t>
            </a:r>
            <a:endParaRPr lang="en-GB" sz="1200" b="1" dirty="0"/>
          </a:p>
        </p:txBody>
      </p:sp>
      <p:sp>
        <p:nvSpPr>
          <p:cNvPr id="206" name="Striped Right Arrow 205"/>
          <p:cNvSpPr/>
          <p:nvPr/>
        </p:nvSpPr>
        <p:spPr bwMode="auto">
          <a:xfrm>
            <a:off x="7453330"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7" name="Striped Right Arrow 206"/>
          <p:cNvSpPr/>
          <p:nvPr/>
        </p:nvSpPr>
        <p:spPr bwMode="auto">
          <a:xfrm rot="10800000">
            <a:off x="6596074"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8" name="Striped Right Arrow 207"/>
          <p:cNvSpPr/>
          <p:nvPr/>
        </p:nvSpPr>
        <p:spPr bwMode="auto">
          <a:xfrm rot="5400000">
            <a:off x="8377134" y="5138622"/>
            <a:ext cx="2010044" cy="714380"/>
          </a:xfrm>
          <a:prstGeom prst="stripedRightArrow">
            <a:avLst/>
          </a:prstGeom>
          <a:solidFill>
            <a:schemeClr val="accent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accent2"/>
              </a:solidFill>
              <a:effectLst/>
              <a:latin typeface="Arial" charset="0"/>
            </a:endParaRPr>
          </a:p>
        </p:txBody>
      </p:sp>
      <p:sp>
        <p:nvSpPr>
          <p:cNvPr id="209" name="Striped Right Arrow 208"/>
          <p:cNvSpPr/>
          <p:nvPr/>
        </p:nvSpPr>
        <p:spPr bwMode="auto">
          <a:xfrm rot="5400000">
            <a:off x="8922778" y="3531188"/>
            <a:ext cx="77588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10" name="Striped Right Arrow 209"/>
          <p:cNvSpPr/>
          <p:nvPr/>
        </p:nvSpPr>
        <p:spPr bwMode="auto">
          <a:xfrm rot="5400000">
            <a:off x="8386993" y="2281023"/>
            <a:ext cx="775880" cy="1500198"/>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11" name="TextBox 210"/>
          <p:cNvSpPr txBox="1"/>
          <p:nvPr/>
        </p:nvSpPr>
        <p:spPr>
          <a:xfrm>
            <a:off x="8882090" y="3214686"/>
            <a:ext cx="642942" cy="276999"/>
          </a:xfrm>
          <a:prstGeom prst="rect">
            <a:avLst/>
          </a:prstGeom>
          <a:solidFill>
            <a:schemeClr val="bg1"/>
          </a:solidFill>
        </p:spPr>
        <p:txBody>
          <a:bodyPr wrap="square" rtlCol="0">
            <a:spAutoFit/>
          </a:bodyPr>
          <a:lstStyle/>
          <a:p>
            <a:r>
              <a:rPr lang="en-GB" sz="1200" b="1" dirty="0" err="1" smtClean="0"/>
              <a:t>BREL</a:t>
            </a:r>
            <a:endParaRPr lang="en-GB" sz="1200" b="1" dirty="0"/>
          </a:p>
        </p:txBody>
      </p:sp>
      <p:sp>
        <p:nvSpPr>
          <p:cNvPr id="212" name="TextBox 211"/>
          <p:cNvSpPr txBox="1"/>
          <p:nvPr/>
        </p:nvSpPr>
        <p:spPr>
          <a:xfrm>
            <a:off x="8953528" y="4223571"/>
            <a:ext cx="642942" cy="276999"/>
          </a:xfrm>
          <a:prstGeom prst="rect">
            <a:avLst/>
          </a:prstGeom>
          <a:solidFill>
            <a:schemeClr val="bg1"/>
          </a:solidFill>
        </p:spPr>
        <p:txBody>
          <a:bodyPr wrap="square" rtlCol="0">
            <a:spAutoFit/>
          </a:bodyPr>
          <a:lstStyle/>
          <a:p>
            <a:r>
              <a:rPr lang="en-GB" sz="1200" b="1" dirty="0" err="1" smtClean="0"/>
              <a:t>MOT1</a:t>
            </a:r>
            <a:endParaRPr lang="en-GB" sz="1200" b="1" dirty="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0" name="Group 119"/>
          <p:cNvGrpSpPr/>
          <p:nvPr/>
        </p:nvGrpSpPr>
        <p:grpSpPr>
          <a:xfrm>
            <a:off x="5834082" y="1500174"/>
            <a:ext cx="3762388" cy="5111754"/>
            <a:chOff x="727075" y="1065213"/>
            <a:chExt cx="6130925" cy="6975475"/>
          </a:xfrm>
        </p:grpSpPr>
        <p:sp>
          <p:nvSpPr>
            <p:cNvPr id="121"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22"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23"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24"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5"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26"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27"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28"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29"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30"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31"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32"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33"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34"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5"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36"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37"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38"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39"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40"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41"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42"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143" name="Group 8930"/>
            <p:cNvGrpSpPr>
              <a:grpSpLocks/>
            </p:cNvGrpSpPr>
            <p:nvPr/>
          </p:nvGrpSpPr>
          <p:grpSpPr bwMode="auto">
            <a:xfrm>
              <a:off x="1268447" y="5702275"/>
              <a:ext cx="1757351" cy="438148"/>
              <a:chOff x="799" y="3592"/>
              <a:chExt cx="1107" cy="276"/>
            </a:xfrm>
          </p:grpSpPr>
          <p:sp>
            <p:nvSpPr>
              <p:cNvPr id="325"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326"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44"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45"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46"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47"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48"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49"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50"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51"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52"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53"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54"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55"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56"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57"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58"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59"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60"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161" name="Group 226"/>
            <p:cNvGrpSpPr>
              <a:grpSpLocks/>
            </p:cNvGrpSpPr>
            <p:nvPr/>
          </p:nvGrpSpPr>
          <p:grpSpPr bwMode="auto">
            <a:xfrm>
              <a:off x="1854230" y="7472328"/>
              <a:ext cx="1757352" cy="471484"/>
              <a:chOff x="1420813" y="7910559"/>
              <a:chExt cx="1757362" cy="471485"/>
            </a:xfrm>
          </p:grpSpPr>
          <p:sp>
            <p:nvSpPr>
              <p:cNvPr id="323"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324"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162" name="Group 88"/>
            <p:cNvGrpSpPr>
              <a:grpSpLocks/>
            </p:cNvGrpSpPr>
            <p:nvPr/>
          </p:nvGrpSpPr>
          <p:grpSpPr bwMode="auto">
            <a:xfrm>
              <a:off x="727075" y="2798720"/>
              <a:ext cx="612772" cy="349249"/>
              <a:chOff x="5364189" y="6450033"/>
              <a:chExt cx="612776" cy="349251"/>
            </a:xfrm>
          </p:grpSpPr>
          <p:sp>
            <p:nvSpPr>
              <p:cNvPr id="32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2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2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63" name="Group 89"/>
            <p:cNvGrpSpPr>
              <a:grpSpLocks/>
            </p:cNvGrpSpPr>
            <p:nvPr/>
          </p:nvGrpSpPr>
          <p:grpSpPr bwMode="auto">
            <a:xfrm>
              <a:off x="6240505" y="4514821"/>
              <a:ext cx="612772" cy="349249"/>
              <a:chOff x="5364189" y="6450033"/>
              <a:chExt cx="612776" cy="349251"/>
            </a:xfrm>
          </p:grpSpPr>
          <p:sp>
            <p:nvSpPr>
              <p:cNvPr id="31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1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31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64" name="Group 93"/>
            <p:cNvGrpSpPr>
              <a:grpSpLocks/>
            </p:cNvGrpSpPr>
            <p:nvPr/>
          </p:nvGrpSpPr>
          <p:grpSpPr bwMode="auto">
            <a:xfrm>
              <a:off x="6245228" y="3273386"/>
              <a:ext cx="612772" cy="349249"/>
              <a:chOff x="5364189" y="6450033"/>
              <a:chExt cx="612776" cy="349251"/>
            </a:xfrm>
          </p:grpSpPr>
          <p:sp>
            <p:nvSpPr>
              <p:cNvPr id="19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0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65" name="Group 97"/>
            <p:cNvGrpSpPr>
              <a:grpSpLocks/>
            </p:cNvGrpSpPr>
            <p:nvPr/>
          </p:nvGrpSpPr>
          <p:grpSpPr bwMode="auto">
            <a:xfrm>
              <a:off x="5729326" y="2324053"/>
              <a:ext cx="612772" cy="349249"/>
              <a:chOff x="5364189" y="6450033"/>
              <a:chExt cx="612776" cy="349251"/>
            </a:xfrm>
          </p:grpSpPr>
          <p:sp>
            <p:nvSpPr>
              <p:cNvPr id="19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66" name="Group 101"/>
            <p:cNvGrpSpPr>
              <a:grpSpLocks/>
            </p:cNvGrpSpPr>
            <p:nvPr/>
          </p:nvGrpSpPr>
          <p:grpSpPr bwMode="auto">
            <a:xfrm>
              <a:off x="3867174" y="2324053"/>
              <a:ext cx="612772" cy="349249"/>
              <a:chOff x="5364189" y="6450033"/>
              <a:chExt cx="612776" cy="349251"/>
            </a:xfrm>
          </p:grpSpPr>
          <p:sp>
            <p:nvSpPr>
              <p:cNvPr id="19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67" name="Group 105"/>
            <p:cNvGrpSpPr>
              <a:grpSpLocks/>
            </p:cNvGrpSpPr>
            <p:nvPr/>
          </p:nvGrpSpPr>
          <p:grpSpPr bwMode="auto">
            <a:xfrm>
              <a:off x="3794148" y="3090822"/>
              <a:ext cx="612772" cy="349249"/>
              <a:chOff x="5364189" y="6450033"/>
              <a:chExt cx="612776" cy="349251"/>
            </a:xfrm>
          </p:grpSpPr>
          <p:sp>
            <p:nvSpPr>
              <p:cNvPr id="18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68" name="Group 109"/>
            <p:cNvGrpSpPr>
              <a:grpSpLocks/>
            </p:cNvGrpSpPr>
            <p:nvPr/>
          </p:nvGrpSpPr>
          <p:grpSpPr bwMode="auto">
            <a:xfrm>
              <a:off x="3794148" y="4989488"/>
              <a:ext cx="612772" cy="349249"/>
              <a:chOff x="5364189" y="6450033"/>
              <a:chExt cx="612776" cy="349251"/>
            </a:xfrm>
          </p:grpSpPr>
          <p:sp>
            <p:nvSpPr>
              <p:cNvPr id="18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69" name="Group 113"/>
            <p:cNvGrpSpPr>
              <a:grpSpLocks/>
            </p:cNvGrpSpPr>
            <p:nvPr/>
          </p:nvGrpSpPr>
          <p:grpSpPr bwMode="auto">
            <a:xfrm>
              <a:off x="800101" y="4040155"/>
              <a:ext cx="612772" cy="349249"/>
              <a:chOff x="5364189" y="6450033"/>
              <a:chExt cx="612776" cy="349251"/>
            </a:xfrm>
          </p:grpSpPr>
          <p:sp>
            <p:nvSpPr>
              <p:cNvPr id="18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70" name="Group 117"/>
            <p:cNvGrpSpPr>
              <a:grpSpLocks/>
            </p:cNvGrpSpPr>
            <p:nvPr/>
          </p:nvGrpSpPr>
          <p:grpSpPr bwMode="auto">
            <a:xfrm>
              <a:off x="1092203" y="5829282"/>
              <a:ext cx="612772" cy="349249"/>
              <a:chOff x="5364189" y="6450033"/>
              <a:chExt cx="612776" cy="349251"/>
            </a:xfrm>
          </p:grpSpPr>
          <p:sp>
            <p:nvSpPr>
              <p:cNvPr id="18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71" name="Group 121"/>
            <p:cNvGrpSpPr>
              <a:grpSpLocks/>
            </p:cNvGrpSpPr>
            <p:nvPr/>
          </p:nvGrpSpPr>
          <p:grpSpPr bwMode="auto">
            <a:xfrm>
              <a:off x="1676407" y="7691435"/>
              <a:ext cx="612772" cy="349249"/>
              <a:chOff x="5364189" y="6450033"/>
              <a:chExt cx="612776" cy="349251"/>
            </a:xfrm>
          </p:grpSpPr>
          <p:sp>
            <p:nvSpPr>
              <p:cNvPr id="17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72" name="Group 125"/>
            <p:cNvGrpSpPr>
              <a:grpSpLocks/>
            </p:cNvGrpSpPr>
            <p:nvPr/>
          </p:nvGrpSpPr>
          <p:grpSpPr bwMode="auto">
            <a:xfrm>
              <a:off x="727075" y="1338208"/>
              <a:ext cx="612772" cy="349249"/>
              <a:chOff x="5364189" y="6450033"/>
              <a:chExt cx="612776" cy="349251"/>
            </a:xfrm>
          </p:grpSpPr>
          <p:sp>
            <p:nvSpPr>
              <p:cNvPr id="17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73"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54274" name="Rectangle 2"/>
          <p:cNvSpPr>
            <a:spLocks noGrp="1" noChangeArrowheads="1"/>
          </p:cNvSpPr>
          <p:nvPr>
            <p:ph type="title"/>
          </p:nvPr>
        </p:nvSpPr>
        <p:spPr>
          <a:xfrm>
            <a:off x="0" y="0"/>
            <a:ext cx="9906000" cy="1700213"/>
          </a:xfrm>
        </p:spPr>
        <p:txBody>
          <a:bodyPr/>
          <a:lstStyle/>
          <a:p>
            <a:pPr eaLnBrk="1" hangingPunct="1"/>
            <a:r>
              <a:rPr lang="en-GB" sz="3200" b="1" dirty="0" smtClean="0"/>
              <a:t>THE AUDITORY INSTRUCTION PHASE</a:t>
            </a:r>
            <a:endParaRPr lang="en-US" sz="3200" b="1" dirty="0" smtClean="0"/>
          </a:p>
        </p:txBody>
      </p:sp>
      <p:sp>
        <p:nvSpPr>
          <p:cNvPr id="54275" name="Rectangle 224"/>
          <p:cNvSpPr>
            <a:spLocks noChangeArrowheads="1"/>
          </p:cNvSpPr>
          <p:nvPr/>
        </p:nvSpPr>
        <p:spPr bwMode="auto">
          <a:xfrm>
            <a:off x="0" y="1773238"/>
            <a:ext cx="4738686" cy="2870208"/>
          </a:xfrm>
          <a:prstGeom prst="rect">
            <a:avLst/>
          </a:prstGeom>
          <a:noFill/>
          <a:ln w="9525">
            <a:noFill/>
            <a:miter lim="800000"/>
            <a:headEnd/>
            <a:tailEnd/>
          </a:ln>
        </p:spPr>
        <p:txBody>
          <a:bodyPr/>
          <a:lstStyle/>
          <a:p>
            <a:pPr marL="342900" indent="-342900">
              <a:spcBef>
                <a:spcPct val="20000"/>
              </a:spcBef>
              <a:buFontTx/>
              <a:buChar char="•"/>
            </a:pPr>
            <a:r>
              <a:rPr lang="en-GB" sz="2400" b="1" dirty="0" smtClean="0"/>
              <a:t>The </a:t>
            </a:r>
            <a:r>
              <a:rPr lang="en-GB" sz="2400" b="1" dirty="0"/>
              <a:t>processing cycle is then repeated </a:t>
            </a:r>
            <a:r>
              <a:rPr lang="en-GB" sz="2400" b="1" dirty="0" smtClean="0"/>
              <a:t>in the auditory modality for </a:t>
            </a:r>
            <a:r>
              <a:rPr lang="en-GB" sz="2400" b="1" dirty="0"/>
              <a:t>the "spoken" words making up the </a:t>
            </a:r>
            <a:r>
              <a:rPr lang="en-GB" sz="2400" b="1" dirty="0" smtClean="0"/>
              <a:t>task instruction.</a:t>
            </a:r>
          </a:p>
          <a:p>
            <a:pPr marL="342900" indent="-342900">
              <a:spcBef>
                <a:spcPct val="20000"/>
              </a:spcBef>
              <a:buFontTx/>
              <a:buChar char="•"/>
            </a:pPr>
            <a:r>
              <a:rPr lang="en-GB" sz="2400" b="1" dirty="0" smtClean="0">
                <a:solidFill>
                  <a:schemeClr val="bg1">
                    <a:lumMod val="50000"/>
                  </a:schemeClr>
                </a:solidFill>
              </a:rPr>
              <a:t>E.g.,</a:t>
            </a:r>
          </a:p>
          <a:p>
            <a:pPr marL="342900" indent="-342900">
              <a:spcBef>
                <a:spcPct val="20000"/>
              </a:spcBef>
              <a:buFontTx/>
              <a:buChar char="•"/>
            </a:pPr>
            <a:r>
              <a:rPr lang="en-GB" sz="2400" b="1" dirty="0" smtClean="0">
                <a:solidFill>
                  <a:schemeClr val="bg1">
                    <a:lumMod val="50000"/>
                  </a:schemeClr>
                </a:solidFill>
              </a:rPr>
              <a:t>&lt;SLICE&gt;&lt;THIS&gt;&lt;.&gt;</a:t>
            </a:r>
            <a:endParaRPr lang="en-GB" sz="2400" b="1" dirty="0">
              <a:solidFill>
                <a:schemeClr val="bg1">
                  <a:lumMod val="50000"/>
                </a:schemeClr>
              </a:solidFill>
            </a:endParaRPr>
          </a:p>
        </p:txBody>
      </p:sp>
      <p:sp>
        <p:nvSpPr>
          <p:cNvPr id="295" name="Striped Right Arrow 294"/>
          <p:cNvSpPr/>
          <p:nvPr/>
        </p:nvSpPr>
        <p:spPr bwMode="auto">
          <a:xfrm rot="15588064">
            <a:off x="5930983" y="4232040"/>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96" name="Striped Right Arrow 295"/>
          <p:cNvSpPr/>
          <p:nvPr/>
        </p:nvSpPr>
        <p:spPr bwMode="auto">
          <a:xfrm rot="15072768">
            <a:off x="6359611" y="5416116"/>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97" name="Striped Right Arrow 296"/>
          <p:cNvSpPr/>
          <p:nvPr/>
        </p:nvSpPr>
        <p:spPr bwMode="auto">
          <a:xfrm rot="16200000">
            <a:off x="5888268" y="3078384"/>
            <a:ext cx="986984"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98" name="TextBox 297"/>
          <p:cNvSpPr txBox="1"/>
          <p:nvPr/>
        </p:nvSpPr>
        <p:spPr>
          <a:xfrm>
            <a:off x="6096008" y="2714620"/>
            <a:ext cx="714380" cy="276999"/>
          </a:xfrm>
          <a:prstGeom prst="rect">
            <a:avLst/>
          </a:prstGeom>
          <a:solidFill>
            <a:schemeClr val="bg1"/>
          </a:solidFill>
        </p:spPr>
        <p:txBody>
          <a:bodyPr wrap="square" rtlCol="0">
            <a:spAutoFit/>
          </a:bodyPr>
          <a:lstStyle/>
          <a:p>
            <a:r>
              <a:rPr lang="en-GB" sz="1200" b="1" dirty="0" err="1" smtClean="0"/>
              <a:t>CONM</a:t>
            </a:r>
            <a:endParaRPr lang="en-GB" sz="1200" b="1" dirty="0"/>
          </a:p>
        </p:txBody>
      </p:sp>
      <p:sp>
        <p:nvSpPr>
          <p:cNvPr id="299" name="TextBox 298"/>
          <p:cNvSpPr txBox="1"/>
          <p:nvPr/>
        </p:nvSpPr>
        <p:spPr>
          <a:xfrm>
            <a:off x="6738950" y="6152397"/>
            <a:ext cx="642942" cy="276999"/>
          </a:xfrm>
          <a:prstGeom prst="rect">
            <a:avLst/>
          </a:prstGeom>
          <a:solidFill>
            <a:schemeClr val="bg1"/>
          </a:solidFill>
        </p:spPr>
        <p:txBody>
          <a:bodyPr wrap="square" rtlCol="0">
            <a:spAutoFit/>
          </a:bodyPr>
          <a:lstStyle/>
          <a:p>
            <a:r>
              <a:rPr lang="en-GB" sz="1200" b="1" dirty="0" err="1" smtClean="0"/>
              <a:t>TSP1</a:t>
            </a:r>
            <a:endParaRPr lang="en-GB" sz="1200" b="1" dirty="0"/>
          </a:p>
        </p:txBody>
      </p:sp>
      <p:sp>
        <p:nvSpPr>
          <p:cNvPr id="300" name="TextBox 299"/>
          <p:cNvSpPr txBox="1"/>
          <p:nvPr/>
        </p:nvSpPr>
        <p:spPr>
          <a:xfrm>
            <a:off x="6167446" y="3794943"/>
            <a:ext cx="642942" cy="276999"/>
          </a:xfrm>
          <a:prstGeom prst="rect">
            <a:avLst/>
          </a:prstGeom>
          <a:solidFill>
            <a:schemeClr val="bg1"/>
          </a:solidFill>
        </p:spPr>
        <p:txBody>
          <a:bodyPr wrap="square" rtlCol="0">
            <a:spAutoFit/>
          </a:bodyPr>
          <a:lstStyle/>
          <a:p>
            <a:r>
              <a:rPr lang="en-GB" sz="1200" b="1" dirty="0" err="1" smtClean="0"/>
              <a:t>PEMM</a:t>
            </a:r>
            <a:endParaRPr lang="en-GB" sz="1200" b="1" dirty="0"/>
          </a:p>
        </p:txBody>
      </p:sp>
      <p:sp>
        <p:nvSpPr>
          <p:cNvPr id="301" name="Striped Right Arrow 300"/>
          <p:cNvSpPr/>
          <p:nvPr/>
        </p:nvSpPr>
        <p:spPr bwMode="auto">
          <a:xfrm rot="19602502">
            <a:off x="6616491" y="4369140"/>
            <a:ext cx="77588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02" name="TextBox 301"/>
          <p:cNvSpPr txBox="1"/>
          <p:nvPr/>
        </p:nvSpPr>
        <p:spPr>
          <a:xfrm>
            <a:off x="6453198" y="5009389"/>
            <a:ext cx="642942" cy="276999"/>
          </a:xfrm>
          <a:prstGeom prst="rect">
            <a:avLst/>
          </a:prstGeom>
          <a:solidFill>
            <a:schemeClr val="bg1"/>
          </a:solidFill>
        </p:spPr>
        <p:txBody>
          <a:bodyPr wrap="square" rtlCol="0">
            <a:spAutoFit/>
          </a:bodyPr>
          <a:lstStyle/>
          <a:p>
            <a:r>
              <a:rPr lang="en-GB" sz="1200" b="1" dirty="0" err="1" smtClean="0"/>
              <a:t>TSP2</a:t>
            </a:r>
            <a:endParaRPr lang="en-GB" sz="1200" b="1" dirty="0"/>
          </a:p>
        </p:txBody>
      </p:sp>
      <p:sp>
        <p:nvSpPr>
          <p:cNvPr id="303" name="TextBox 302"/>
          <p:cNvSpPr txBox="1"/>
          <p:nvPr/>
        </p:nvSpPr>
        <p:spPr>
          <a:xfrm>
            <a:off x="7310454" y="4214818"/>
            <a:ext cx="642942" cy="276999"/>
          </a:xfrm>
          <a:prstGeom prst="rect">
            <a:avLst/>
          </a:prstGeom>
          <a:solidFill>
            <a:schemeClr val="bg1"/>
          </a:solidFill>
        </p:spPr>
        <p:txBody>
          <a:bodyPr wrap="square" rtlCol="0">
            <a:spAutoFit/>
          </a:bodyPr>
          <a:lstStyle/>
          <a:p>
            <a:r>
              <a:rPr lang="en-GB" sz="1200" b="1" dirty="0" err="1" smtClean="0"/>
              <a:t>TTRK</a:t>
            </a:r>
            <a:endParaRPr lang="en-GB" sz="1200" b="1" dirty="0"/>
          </a:p>
        </p:txBody>
      </p:sp>
      <p:sp>
        <p:nvSpPr>
          <p:cNvPr id="304" name="Striped Right Arrow 303"/>
          <p:cNvSpPr/>
          <p:nvPr/>
        </p:nvSpPr>
        <p:spPr bwMode="auto">
          <a:xfrm rot="19126714">
            <a:off x="6677640" y="2724640"/>
            <a:ext cx="124125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05" name="Striped Right Arrow 304"/>
          <p:cNvSpPr/>
          <p:nvPr/>
        </p:nvSpPr>
        <p:spPr bwMode="auto">
          <a:xfrm rot="19602502">
            <a:off x="7330871" y="3440446"/>
            <a:ext cx="775880" cy="714380"/>
          </a:xfrm>
          <a:prstGeom prst="stripedRightArrow">
            <a:avLst/>
          </a:prstGeom>
          <a:solidFill>
            <a:srgbClr val="FF000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06" name="TextBox 305"/>
          <p:cNvSpPr txBox="1"/>
          <p:nvPr/>
        </p:nvSpPr>
        <p:spPr>
          <a:xfrm>
            <a:off x="8167710" y="2357430"/>
            <a:ext cx="642942" cy="276999"/>
          </a:xfrm>
          <a:prstGeom prst="rect">
            <a:avLst/>
          </a:prstGeom>
          <a:solidFill>
            <a:schemeClr val="bg1"/>
          </a:solidFill>
        </p:spPr>
        <p:txBody>
          <a:bodyPr wrap="square" rtlCol="0">
            <a:spAutoFit/>
          </a:bodyPr>
          <a:lstStyle/>
          <a:p>
            <a:r>
              <a:rPr lang="en-GB" sz="1200" b="1" dirty="0" err="1" smtClean="0"/>
              <a:t>DRAN</a:t>
            </a:r>
            <a:endParaRPr lang="en-GB" sz="1200" b="1" dirty="0"/>
          </a:p>
        </p:txBody>
      </p:sp>
      <p:sp>
        <p:nvSpPr>
          <p:cNvPr id="307" name="TextBox 306"/>
          <p:cNvSpPr txBox="1"/>
          <p:nvPr/>
        </p:nvSpPr>
        <p:spPr>
          <a:xfrm>
            <a:off x="7881958" y="3214686"/>
            <a:ext cx="642942" cy="276999"/>
          </a:xfrm>
          <a:prstGeom prst="rect">
            <a:avLst/>
          </a:prstGeom>
          <a:solidFill>
            <a:schemeClr val="bg1"/>
          </a:solidFill>
        </p:spPr>
        <p:txBody>
          <a:bodyPr wrap="square" rtlCol="0">
            <a:spAutoFit/>
          </a:bodyPr>
          <a:lstStyle/>
          <a:p>
            <a:r>
              <a:rPr lang="en-GB" sz="1200" b="1" dirty="0" err="1" smtClean="0"/>
              <a:t>TTAC</a:t>
            </a:r>
            <a:endParaRPr lang="en-GB" sz="1200" b="1" dirty="0"/>
          </a:p>
        </p:txBody>
      </p:sp>
      <p:sp>
        <p:nvSpPr>
          <p:cNvPr id="308" name="TextBox 307"/>
          <p:cNvSpPr txBox="1"/>
          <p:nvPr/>
        </p:nvSpPr>
        <p:spPr>
          <a:xfrm>
            <a:off x="6024570" y="2008993"/>
            <a:ext cx="714380" cy="276999"/>
          </a:xfrm>
          <a:prstGeom prst="rect">
            <a:avLst/>
          </a:prstGeom>
          <a:solidFill>
            <a:schemeClr val="bg1"/>
          </a:solidFill>
        </p:spPr>
        <p:txBody>
          <a:bodyPr wrap="square" rtlCol="0">
            <a:spAutoFit/>
          </a:bodyPr>
          <a:lstStyle/>
          <a:p>
            <a:r>
              <a:rPr lang="en-GB" sz="1200" b="1" dirty="0" err="1" smtClean="0"/>
              <a:t>PPAN</a:t>
            </a:r>
            <a:endParaRPr lang="en-GB" sz="1200" b="1" dirty="0"/>
          </a:p>
        </p:txBody>
      </p:sp>
      <p:sp>
        <p:nvSpPr>
          <p:cNvPr id="309" name="Striped Right Arrow 308"/>
          <p:cNvSpPr/>
          <p:nvPr/>
        </p:nvSpPr>
        <p:spPr bwMode="auto">
          <a:xfrm>
            <a:off x="7453330"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0" name="Striped Right Arrow 309"/>
          <p:cNvSpPr/>
          <p:nvPr/>
        </p:nvSpPr>
        <p:spPr bwMode="auto">
          <a:xfrm rot="10800000">
            <a:off x="6596074"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2" name="Striped Right Arrow 311"/>
          <p:cNvSpPr/>
          <p:nvPr/>
        </p:nvSpPr>
        <p:spPr bwMode="auto">
          <a:xfrm rot="5400000">
            <a:off x="8922778" y="3531188"/>
            <a:ext cx="77588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3" name="Striped Right Arrow 312"/>
          <p:cNvSpPr/>
          <p:nvPr/>
        </p:nvSpPr>
        <p:spPr bwMode="auto">
          <a:xfrm rot="5400000">
            <a:off x="8386993" y="2281023"/>
            <a:ext cx="775880" cy="1500198"/>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14" name="TextBox 313"/>
          <p:cNvSpPr txBox="1"/>
          <p:nvPr/>
        </p:nvSpPr>
        <p:spPr>
          <a:xfrm>
            <a:off x="8882090" y="3214686"/>
            <a:ext cx="642942" cy="276999"/>
          </a:xfrm>
          <a:prstGeom prst="rect">
            <a:avLst/>
          </a:prstGeom>
          <a:solidFill>
            <a:schemeClr val="bg1"/>
          </a:solidFill>
        </p:spPr>
        <p:txBody>
          <a:bodyPr wrap="square" rtlCol="0">
            <a:spAutoFit/>
          </a:bodyPr>
          <a:lstStyle/>
          <a:p>
            <a:r>
              <a:rPr lang="en-GB" sz="1200" b="1" dirty="0" err="1" smtClean="0"/>
              <a:t>BREL</a:t>
            </a:r>
            <a:endParaRPr lang="en-GB" sz="1200" b="1" dirty="0"/>
          </a:p>
        </p:txBody>
      </p:sp>
      <p:sp>
        <p:nvSpPr>
          <p:cNvPr id="315" name="TextBox 314"/>
          <p:cNvSpPr txBox="1"/>
          <p:nvPr/>
        </p:nvSpPr>
        <p:spPr>
          <a:xfrm>
            <a:off x="8953528" y="4223571"/>
            <a:ext cx="642942" cy="276999"/>
          </a:xfrm>
          <a:prstGeom prst="rect">
            <a:avLst/>
          </a:prstGeom>
          <a:solidFill>
            <a:schemeClr val="bg1"/>
          </a:solidFill>
        </p:spPr>
        <p:txBody>
          <a:bodyPr wrap="square" rtlCol="0">
            <a:spAutoFit/>
          </a:bodyPr>
          <a:lstStyle/>
          <a:p>
            <a:r>
              <a:rPr lang="en-GB" sz="1200" b="1" dirty="0" err="1" smtClean="0"/>
              <a:t>MOT1</a:t>
            </a:r>
            <a:endParaRPr lang="en-GB" sz="1200" b="1" dirty="0"/>
          </a:p>
        </p:txBody>
      </p:sp>
      <p:sp>
        <p:nvSpPr>
          <p:cNvPr id="316" name="TextBox 315"/>
          <p:cNvSpPr txBox="1"/>
          <p:nvPr/>
        </p:nvSpPr>
        <p:spPr>
          <a:xfrm>
            <a:off x="6537009" y="3073786"/>
            <a:ext cx="2270173" cy="1569660"/>
          </a:xfrm>
          <a:prstGeom prst="rect">
            <a:avLst/>
          </a:prstGeom>
          <a:solidFill>
            <a:schemeClr val="bg1"/>
          </a:solidFill>
          <a:ln w="12700">
            <a:solidFill>
              <a:schemeClr val="tx1"/>
            </a:solidFill>
          </a:ln>
        </p:spPr>
        <p:txBody>
          <a:bodyPr wrap="none" rtlCol="0">
            <a:spAutoFit/>
          </a:bodyPr>
          <a:lstStyle/>
          <a:p>
            <a:pPr algn="ctr"/>
            <a:r>
              <a:rPr lang="en-GB" sz="4800" dirty="0" smtClean="0">
                <a:solidFill>
                  <a:schemeClr val="bg1">
                    <a:lumMod val="50000"/>
                  </a:schemeClr>
                </a:solidFill>
              </a:rPr>
              <a:t>TIMES</a:t>
            </a:r>
          </a:p>
          <a:p>
            <a:pPr algn="ctr"/>
            <a:r>
              <a:rPr lang="en-GB" sz="4800" dirty="0" smtClean="0">
                <a:solidFill>
                  <a:schemeClr val="bg1">
                    <a:lumMod val="50000"/>
                  </a:schemeClr>
                </a:solidFill>
              </a:rPr>
              <a:t>THREE</a:t>
            </a:r>
            <a:endParaRPr lang="en-GB" sz="4800" dirty="0">
              <a:solidFill>
                <a:schemeClr val="bg1">
                  <a:lumMod val="50000"/>
                </a:schemeClr>
              </a:solidFill>
            </a:endParaRPr>
          </a:p>
        </p:txBody>
      </p:sp>
      <p:sp>
        <p:nvSpPr>
          <p:cNvPr id="327" name="Striped Right Arrow 326"/>
          <p:cNvSpPr/>
          <p:nvPr/>
        </p:nvSpPr>
        <p:spPr bwMode="auto">
          <a:xfrm rot="5400000">
            <a:off x="8377134" y="5138622"/>
            <a:ext cx="2010044" cy="714380"/>
          </a:xfrm>
          <a:prstGeom prst="stripedRightArrow">
            <a:avLst/>
          </a:prstGeom>
          <a:solidFill>
            <a:schemeClr val="accent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accent2"/>
              </a:solidFill>
              <a:effectLst/>
              <a:latin typeface="Arial" charset="0"/>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1" name="Group 210"/>
          <p:cNvGrpSpPr/>
          <p:nvPr/>
        </p:nvGrpSpPr>
        <p:grpSpPr>
          <a:xfrm>
            <a:off x="5834082" y="1500174"/>
            <a:ext cx="3762388" cy="5111754"/>
            <a:chOff x="727075" y="1065213"/>
            <a:chExt cx="6130925" cy="6975475"/>
          </a:xfrm>
        </p:grpSpPr>
        <p:sp>
          <p:nvSpPr>
            <p:cNvPr id="212"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213"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214"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215"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216"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217"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218"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219"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220"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221"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222"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223"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224"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225"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26"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227"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228"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229"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230"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231"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232"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233"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234" name="Group 8930"/>
            <p:cNvGrpSpPr>
              <a:grpSpLocks/>
            </p:cNvGrpSpPr>
            <p:nvPr/>
          </p:nvGrpSpPr>
          <p:grpSpPr bwMode="auto">
            <a:xfrm>
              <a:off x="1268447" y="5702275"/>
              <a:ext cx="1757351" cy="438148"/>
              <a:chOff x="799" y="3592"/>
              <a:chExt cx="1107" cy="276"/>
            </a:xfrm>
          </p:grpSpPr>
          <p:sp>
            <p:nvSpPr>
              <p:cNvPr id="300"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301"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235"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36"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37"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238"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39"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40"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241"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42"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243"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244"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245"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46"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247"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248"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249"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250"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251"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252" name="Group 226"/>
            <p:cNvGrpSpPr>
              <a:grpSpLocks/>
            </p:cNvGrpSpPr>
            <p:nvPr/>
          </p:nvGrpSpPr>
          <p:grpSpPr bwMode="auto">
            <a:xfrm>
              <a:off x="1854230" y="7472328"/>
              <a:ext cx="1757352" cy="471484"/>
              <a:chOff x="1420813" y="7910559"/>
              <a:chExt cx="1757362" cy="471485"/>
            </a:xfrm>
          </p:grpSpPr>
          <p:sp>
            <p:nvSpPr>
              <p:cNvPr id="298"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299"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253" name="Group 88"/>
            <p:cNvGrpSpPr>
              <a:grpSpLocks/>
            </p:cNvGrpSpPr>
            <p:nvPr/>
          </p:nvGrpSpPr>
          <p:grpSpPr bwMode="auto">
            <a:xfrm>
              <a:off x="727075" y="2798720"/>
              <a:ext cx="612772" cy="349249"/>
              <a:chOff x="5364189" y="6450033"/>
              <a:chExt cx="612776" cy="349251"/>
            </a:xfrm>
          </p:grpSpPr>
          <p:sp>
            <p:nvSpPr>
              <p:cNvPr id="29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9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9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54" name="Group 89"/>
            <p:cNvGrpSpPr>
              <a:grpSpLocks/>
            </p:cNvGrpSpPr>
            <p:nvPr/>
          </p:nvGrpSpPr>
          <p:grpSpPr bwMode="auto">
            <a:xfrm>
              <a:off x="6240505" y="4514821"/>
              <a:ext cx="612772" cy="349249"/>
              <a:chOff x="5364189" y="6450033"/>
              <a:chExt cx="612776" cy="349251"/>
            </a:xfrm>
          </p:grpSpPr>
          <p:sp>
            <p:nvSpPr>
              <p:cNvPr id="29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9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9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55" name="Group 93"/>
            <p:cNvGrpSpPr>
              <a:grpSpLocks/>
            </p:cNvGrpSpPr>
            <p:nvPr/>
          </p:nvGrpSpPr>
          <p:grpSpPr bwMode="auto">
            <a:xfrm>
              <a:off x="6245228" y="3273386"/>
              <a:ext cx="612772" cy="349249"/>
              <a:chOff x="5364189" y="6450033"/>
              <a:chExt cx="612776" cy="349251"/>
            </a:xfrm>
          </p:grpSpPr>
          <p:sp>
            <p:nvSpPr>
              <p:cNvPr id="28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9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9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56" name="Group 97"/>
            <p:cNvGrpSpPr>
              <a:grpSpLocks/>
            </p:cNvGrpSpPr>
            <p:nvPr/>
          </p:nvGrpSpPr>
          <p:grpSpPr bwMode="auto">
            <a:xfrm>
              <a:off x="5729326" y="2324053"/>
              <a:ext cx="612772" cy="349249"/>
              <a:chOff x="5364189" y="6450033"/>
              <a:chExt cx="612776" cy="349251"/>
            </a:xfrm>
          </p:grpSpPr>
          <p:sp>
            <p:nvSpPr>
              <p:cNvPr id="28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57" name="Group 101"/>
            <p:cNvGrpSpPr>
              <a:grpSpLocks/>
            </p:cNvGrpSpPr>
            <p:nvPr/>
          </p:nvGrpSpPr>
          <p:grpSpPr bwMode="auto">
            <a:xfrm>
              <a:off x="3867174" y="2324053"/>
              <a:ext cx="612772" cy="349249"/>
              <a:chOff x="5364189" y="6450033"/>
              <a:chExt cx="612776" cy="349251"/>
            </a:xfrm>
          </p:grpSpPr>
          <p:sp>
            <p:nvSpPr>
              <p:cNvPr id="28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58" name="Group 105"/>
            <p:cNvGrpSpPr>
              <a:grpSpLocks/>
            </p:cNvGrpSpPr>
            <p:nvPr/>
          </p:nvGrpSpPr>
          <p:grpSpPr bwMode="auto">
            <a:xfrm>
              <a:off x="3794148" y="3090822"/>
              <a:ext cx="612772" cy="349249"/>
              <a:chOff x="5364189" y="6450033"/>
              <a:chExt cx="612776" cy="349251"/>
            </a:xfrm>
          </p:grpSpPr>
          <p:sp>
            <p:nvSpPr>
              <p:cNvPr id="28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8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59" name="Group 109"/>
            <p:cNvGrpSpPr>
              <a:grpSpLocks/>
            </p:cNvGrpSpPr>
            <p:nvPr/>
          </p:nvGrpSpPr>
          <p:grpSpPr bwMode="auto">
            <a:xfrm>
              <a:off x="3794148" y="4989488"/>
              <a:ext cx="612772" cy="349249"/>
              <a:chOff x="5364189" y="6450033"/>
              <a:chExt cx="612776" cy="349251"/>
            </a:xfrm>
          </p:grpSpPr>
          <p:sp>
            <p:nvSpPr>
              <p:cNvPr id="27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60" name="Group 113"/>
            <p:cNvGrpSpPr>
              <a:grpSpLocks/>
            </p:cNvGrpSpPr>
            <p:nvPr/>
          </p:nvGrpSpPr>
          <p:grpSpPr bwMode="auto">
            <a:xfrm>
              <a:off x="800101" y="4040155"/>
              <a:ext cx="612772" cy="349249"/>
              <a:chOff x="5364189" y="6450033"/>
              <a:chExt cx="612776" cy="349251"/>
            </a:xfrm>
          </p:grpSpPr>
          <p:sp>
            <p:nvSpPr>
              <p:cNvPr id="27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61" name="Group 117"/>
            <p:cNvGrpSpPr>
              <a:grpSpLocks/>
            </p:cNvGrpSpPr>
            <p:nvPr/>
          </p:nvGrpSpPr>
          <p:grpSpPr bwMode="auto">
            <a:xfrm>
              <a:off x="1092203" y="5829282"/>
              <a:ext cx="612772" cy="349249"/>
              <a:chOff x="5364189" y="6450033"/>
              <a:chExt cx="612776" cy="349251"/>
            </a:xfrm>
          </p:grpSpPr>
          <p:sp>
            <p:nvSpPr>
              <p:cNvPr id="27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62" name="Group 121"/>
            <p:cNvGrpSpPr>
              <a:grpSpLocks/>
            </p:cNvGrpSpPr>
            <p:nvPr/>
          </p:nvGrpSpPr>
          <p:grpSpPr bwMode="auto">
            <a:xfrm>
              <a:off x="1676407" y="7691435"/>
              <a:ext cx="612772" cy="349249"/>
              <a:chOff x="5364189" y="6450033"/>
              <a:chExt cx="612776" cy="349251"/>
            </a:xfrm>
          </p:grpSpPr>
          <p:sp>
            <p:nvSpPr>
              <p:cNvPr id="26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6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7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63" name="Group 125"/>
            <p:cNvGrpSpPr>
              <a:grpSpLocks/>
            </p:cNvGrpSpPr>
            <p:nvPr/>
          </p:nvGrpSpPr>
          <p:grpSpPr bwMode="auto">
            <a:xfrm>
              <a:off x="727075" y="1338208"/>
              <a:ext cx="612772" cy="349249"/>
              <a:chOff x="5364189" y="6450033"/>
              <a:chExt cx="612776" cy="349251"/>
            </a:xfrm>
          </p:grpSpPr>
          <p:sp>
            <p:nvSpPr>
              <p:cNvPr id="26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6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6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264"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54274" name="Rectangle 2"/>
          <p:cNvSpPr>
            <a:spLocks noGrp="1" noChangeArrowheads="1"/>
          </p:cNvSpPr>
          <p:nvPr>
            <p:ph type="title"/>
          </p:nvPr>
        </p:nvSpPr>
        <p:spPr>
          <a:xfrm>
            <a:off x="0" y="0"/>
            <a:ext cx="9906000" cy="1700213"/>
          </a:xfrm>
        </p:spPr>
        <p:txBody>
          <a:bodyPr/>
          <a:lstStyle/>
          <a:p>
            <a:pPr eaLnBrk="1" hangingPunct="1"/>
            <a:r>
              <a:rPr lang="en-GB" sz="3200" b="1" dirty="0" smtClean="0"/>
              <a:t>THE CONTINUOUS BEHAVIOUR PHASE</a:t>
            </a:r>
            <a:endParaRPr lang="en-US" sz="3200" b="1" dirty="0" smtClean="0"/>
          </a:p>
        </p:txBody>
      </p:sp>
      <p:sp>
        <p:nvSpPr>
          <p:cNvPr id="54275" name="Rectangle 224"/>
          <p:cNvSpPr>
            <a:spLocks noChangeArrowheads="1"/>
          </p:cNvSpPr>
          <p:nvPr/>
        </p:nvSpPr>
        <p:spPr bwMode="auto">
          <a:xfrm>
            <a:off x="0" y="1773238"/>
            <a:ext cx="5595942" cy="5084762"/>
          </a:xfrm>
          <a:prstGeom prst="rect">
            <a:avLst/>
          </a:prstGeom>
          <a:noFill/>
          <a:ln w="9525">
            <a:noFill/>
            <a:miter lim="800000"/>
            <a:headEnd/>
            <a:tailEnd/>
          </a:ln>
        </p:spPr>
        <p:txBody>
          <a:bodyPr/>
          <a:lstStyle/>
          <a:p>
            <a:pPr marL="342900" indent="-342900">
              <a:spcBef>
                <a:spcPct val="20000"/>
              </a:spcBef>
              <a:buFontTx/>
              <a:buChar char="•"/>
            </a:pPr>
            <a:r>
              <a:rPr lang="en-GB" sz="2400" b="1" dirty="0" smtClean="0"/>
              <a:t>Each new auditory input helps </a:t>
            </a:r>
            <a:r>
              <a:rPr lang="en-GB" sz="2400" b="1" dirty="0" err="1" smtClean="0"/>
              <a:t>DRAN</a:t>
            </a:r>
            <a:r>
              <a:rPr lang="en-GB" sz="2400" b="1" dirty="0" smtClean="0"/>
              <a:t> and </a:t>
            </a:r>
            <a:r>
              <a:rPr lang="en-GB" sz="2400" b="1" dirty="0" err="1" smtClean="0"/>
              <a:t>PPAN</a:t>
            </a:r>
            <a:r>
              <a:rPr lang="en-GB" sz="2400" b="1" dirty="0" smtClean="0"/>
              <a:t> interpret what is going on, until eventually a single AGENT-ACTION-PATIENT-INSTRUMENT propositional cognition emerges.</a:t>
            </a:r>
          </a:p>
          <a:p>
            <a:pPr marL="342900" indent="-342900">
              <a:spcBef>
                <a:spcPct val="20000"/>
              </a:spcBef>
              <a:buFontTx/>
              <a:buChar char="•"/>
            </a:pPr>
            <a:r>
              <a:rPr lang="en-GB" sz="2400" b="1" dirty="0" smtClean="0">
                <a:solidFill>
                  <a:schemeClr val="bg1">
                    <a:lumMod val="50000"/>
                  </a:schemeClr>
                </a:solidFill>
              </a:rPr>
              <a:t>E.g.,  &lt;SELF&gt;&lt;SLICE&gt;&lt;current of focal attention&gt;&lt;[with]KNIFE&gt;</a:t>
            </a:r>
          </a:p>
          <a:p>
            <a:pPr marL="342900" indent="-342900">
              <a:spcBef>
                <a:spcPct val="20000"/>
              </a:spcBef>
              <a:buFontTx/>
              <a:buChar char="•"/>
            </a:pPr>
            <a:endParaRPr lang="en-GB" sz="2400" b="1" dirty="0" smtClean="0">
              <a:solidFill>
                <a:schemeClr val="bg1">
                  <a:lumMod val="50000"/>
                </a:schemeClr>
              </a:solidFill>
            </a:endParaRPr>
          </a:p>
          <a:p>
            <a:pPr marL="342900" indent="-342900">
              <a:spcBef>
                <a:spcPct val="20000"/>
              </a:spcBef>
              <a:buFontTx/>
              <a:buChar char="•"/>
            </a:pPr>
            <a:r>
              <a:rPr lang="en-GB" sz="2400" b="1" dirty="0" smtClean="0">
                <a:solidFill>
                  <a:schemeClr val="bg1">
                    <a:lumMod val="50000"/>
                  </a:schemeClr>
                </a:solidFill>
              </a:rPr>
              <a:t>[Here </a:t>
            </a:r>
            <a:r>
              <a:rPr lang="en-GB" sz="2400" b="1" i="1" dirty="0" err="1" smtClean="0">
                <a:solidFill>
                  <a:schemeClr val="bg1">
                    <a:lumMod val="50000"/>
                  </a:schemeClr>
                </a:solidFill>
              </a:rPr>
              <a:t>Konrad</a:t>
            </a:r>
            <a:r>
              <a:rPr lang="en-GB" sz="2400" b="1" dirty="0" smtClean="0">
                <a:solidFill>
                  <a:schemeClr val="bg1">
                    <a:lumMod val="50000"/>
                  </a:schemeClr>
                </a:solidFill>
              </a:rPr>
              <a:t> follows the work of linguistic theorists such as Kenneth Burke (e.g., Burke, 1945).]</a:t>
            </a:r>
            <a:endParaRPr lang="en-GB" sz="2400" b="1" dirty="0">
              <a:solidFill>
                <a:schemeClr val="bg1">
                  <a:lumMod val="50000"/>
                </a:schemeClr>
              </a:solidFill>
            </a:endParaRPr>
          </a:p>
        </p:txBody>
      </p:sp>
      <p:sp>
        <p:nvSpPr>
          <p:cNvPr id="192" name="Striped Right Arrow 191"/>
          <p:cNvSpPr/>
          <p:nvPr/>
        </p:nvSpPr>
        <p:spPr bwMode="auto">
          <a:xfrm rot="15588064">
            <a:off x="5930983" y="4232040"/>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3" name="Striped Right Arrow 192"/>
          <p:cNvSpPr/>
          <p:nvPr/>
        </p:nvSpPr>
        <p:spPr bwMode="auto">
          <a:xfrm rot="15072768">
            <a:off x="6359611" y="5416116"/>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4" name="Striped Right Arrow 193"/>
          <p:cNvSpPr/>
          <p:nvPr/>
        </p:nvSpPr>
        <p:spPr bwMode="auto">
          <a:xfrm rot="16200000">
            <a:off x="5888268" y="3078384"/>
            <a:ext cx="986984"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5" name="TextBox 194"/>
          <p:cNvSpPr txBox="1"/>
          <p:nvPr/>
        </p:nvSpPr>
        <p:spPr>
          <a:xfrm>
            <a:off x="6096008" y="2714620"/>
            <a:ext cx="714380" cy="276999"/>
          </a:xfrm>
          <a:prstGeom prst="rect">
            <a:avLst/>
          </a:prstGeom>
          <a:solidFill>
            <a:schemeClr val="bg1"/>
          </a:solidFill>
        </p:spPr>
        <p:txBody>
          <a:bodyPr wrap="square" rtlCol="0">
            <a:spAutoFit/>
          </a:bodyPr>
          <a:lstStyle/>
          <a:p>
            <a:r>
              <a:rPr lang="en-GB" sz="1200" b="1" dirty="0" err="1" smtClean="0"/>
              <a:t>CONM</a:t>
            </a:r>
            <a:endParaRPr lang="en-GB" sz="1200" b="1" dirty="0"/>
          </a:p>
        </p:txBody>
      </p:sp>
      <p:sp>
        <p:nvSpPr>
          <p:cNvPr id="196" name="TextBox 195"/>
          <p:cNvSpPr txBox="1"/>
          <p:nvPr/>
        </p:nvSpPr>
        <p:spPr>
          <a:xfrm>
            <a:off x="6738950" y="6152397"/>
            <a:ext cx="642942" cy="276999"/>
          </a:xfrm>
          <a:prstGeom prst="rect">
            <a:avLst/>
          </a:prstGeom>
          <a:solidFill>
            <a:schemeClr val="bg1"/>
          </a:solidFill>
        </p:spPr>
        <p:txBody>
          <a:bodyPr wrap="square" rtlCol="0">
            <a:spAutoFit/>
          </a:bodyPr>
          <a:lstStyle/>
          <a:p>
            <a:r>
              <a:rPr lang="en-GB" sz="1200" b="1" dirty="0" err="1" smtClean="0"/>
              <a:t>TSP1</a:t>
            </a:r>
            <a:endParaRPr lang="en-GB" sz="1200" b="1" dirty="0"/>
          </a:p>
        </p:txBody>
      </p:sp>
      <p:sp>
        <p:nvSpPr>
          <p:cNvPr id="197" name="TextBox 196"/>
          <p:cNvSpPr txBox="1"/>
          <p:nvPr/>
        </p:nvSpPr>
        <p:spPr>
          <a:xfrm>
            <a:off x="6167446" y="3794943"/>
            <a:ext cx="642942" cy="276999"/>
          </a:xfrm>
          <a:prstGeom prst="rect">
            <a:avLst/>
          </a:prstGeom>
          <a:solidFill>
            <a:schemeClr val="bg1"/>
          </a:solidFill>
        </p:spPr>
        <p:txBody>
          <a:bodyPr wrap="square" rtlCol="0">
            <a:spAutoFit/>
          </a:bodyPr>
          <a:lstStyle/>
          <a:p>
            <a:r>
              <a:rPr lang="en-GB" sz="1200" b="1" dirty="0" err="1" smtClean="0"/>
              <a:t>PEMM</a:t>
            </a:r>
            <a:endParaRPr lang="en-GB" sz="1200" b="1" dirty="0"/>
          </a:p>
        </p:txBody>
      </p:sp>
      <p:sp>
        <p:nvSpPr>
          <p:cNvPr id="198" name="Striped Right Arrow 197"/>
          <p:cNvSpPr/>
          <p:nvPr/>
        </p:nvSpPr>
        <p:spPr bwMode="auto">
          <a:xfrm rot="19602502">
            <a:off x="6616491" y="4369140"/>
            <a:ext cx="77588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9" name="TextBox 198"/>
          <p:cNvSpPr txBox="1"/>
          <p:nvPr/>
        </p:nvSpPr>
        <p:spPr>
          <a:xfrm>
            <a:off x="6453198" y="5009389"/>
            <a:ext cx="642942" cy="276999"/>
          </a:xfrm>
          <a:prstGeom prst="rect">
            <a:avLst/>
          </a:prstGeom>
          <a:solidFill>
            <a:schemeClr val="bg1"/>
          </a:solidFill>
        </p:spPr>
        <p:txBody>
          <a:bodyPr wrap="square" rtlCol="0">
            <a:spAutoFit/>
          </a:bodyPr>
          <a:lstStyle/>
          <a:p>
            <a:r>
              <a:rPr lang="en-GB" sz="1200" b="1" dirty="0" err="1" smtClean="0"/>
              <a:t>TSP2</a:t>
            </a:r>
            <a:endParaRPr lang="en-GB" sz="1200" b="1" dirty="0"/>
          </a:p>
        </p:txBody>
      </p:sp>
      <p:sp>
        <p:nvSpPr>
          <p:cNvPr id="200" name="TextBox 199"/>
          <p:cNvSpPr txBox="1"/>
          <p:nvPr/>
        </p:nvSpPr>
        <p:spPr>
          <a:xfrm>
            <a:off x="7310454" y="4214818"/>
            <a:ext cx="642942" cy="276999"/>
          </a:xfrm>
          <a:prstGeom prst="rect">
            <a:avLst/>
          </a:prstGeom>
          <a:solidFill>
            <a:schemeClr val="bg1"/>
          </a:solidFill>
        </p:spPr>
        <p:txBody>
          <a:bodyPr wrap="square" rtlCol="0">
            <a:spAutoFit/>
          </a:bodyPr>
          <a:lstStyle/>
          <a:p>
            <a:r>
              <a:rPr lang="en-GB" sz="1200" b="1" dirty="0" err="1" smtClean="0"/>
              <a:t>TTRK</a:t>
            </a:r>
            <a:endParaRPr lang="en-GB" sz="1200" b="1" dirty="0"/>
          </a:p>
        </p:txBody>
      </p:sp>
      <p:sp>
        <p:nvSpPr>
          <p:cNvPr id="201" name="Striped Right Arrow 200"/>
          <p:cNvSpPr/>
          <p:nvPr/>
        </p:nvSpPr>
        <p:spPr bwMode="auto">
          <a:xfrm rot="19126714">
            <a:off x="6677640" y="2724640"/>
            <a:ext cx="124125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2" name="Striped Right Arrow 201"/>
          <p:cNvSpPr/>
          <p:nvPr/>
        </p:nvSpPr>
        <p:spPr bwMode="auto">
          <a:xfrm rot="19602502">
            <a:off x="7330871" y="3440446"/>
            <a:ext cx="775880" cy="714380"/>
          </a:xfrm>
          <a:prstGeom prst="stripedRightArrow">
            <a:avLst/>
          </a:prstGeom>
          <a:solidFill>
            <a:srgbClr val="FF000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4" name="TextBox 203"/>
          <p:cNvSpPr txBox="1"/>
          <p:nvPr/>
        </p:nvSpPr>
        <p:spPr>
          <a:xfrm>
            <a:off x="7881958" y="3214686"/>
            <a:ext cx="642942" cy="276999"/>
          </a:xfrm>
          <a:prstGeom prst="rect">
            <a:avLst/>
          </a:prstGeom>
          <a:solidFill>
            <a:schemeClr val="bg1"/>
          </a:solidFill>
        </p:spPr>
        <p:txBody>
          <a:bodyPr wrap="square" rtlCol="0">
            <a:spAutoFit/>
          </a:bodyPr>
          <a:lstStyle/>
          <a:p>
            <a:r>
              <a:rPr lang="en-GB" sz="1200" b="1" dirty="0" err="1" smtClean="0"/>
              <a:t>TTAC</a:t>
            </a:r>
            <a:endParaRPr lang="en-GB" sz="1200" b="1" dirty="0"/>
          </a:p>
        </p:txBody>
      </p:sp>
      <p:sp>
        <p:nvSpPr>
          <p:cNvPr id="205" name="TextBox 204"/>
          <p:cNvSpPr txBox="1"/>
          <p:nvPr/>
        </p:nvSpPr>
        <p:spPr>
          <a:xfrm>
            <a:off x="6024570" y="2008993"/>
            <a:ext cx="714380" cy="276999"/>
          </a:xfrm>
          <a:prstGeom prst="rect">
            <a:avLst/>
          </a:prstGeom>
          <a:solidFill>
            <a:schemeClr val="bg1"/>
          </a:solidFill>
        </p:spPr>
        <p:txBody>
          <a:bodyPr wrap="square" rtlCol="0">
            <a:spAutoFit/>
          </a:bodyPr>
          <a:lstStyle/>
          <a:p>
            <a:r>
              <a:rPr lang="en-GB" sz="1200" b="1" dirty="0" err="1" smtClean="0"/>
              <a:t>PPAN</a:t>
            </a:r>
            <a:endParaRPr lang="en-GB" sz="1200" b="1" dirty="0"/>
          </a:p>
        </p:txBody>
      </p:sp>
      <p:sp>
        <p:nvSpPr>
          <p:cNvPr id="206" name="Striped Right Arrow 205"/>
          <p:cNvSpPr/>
          <p:nvPr/>
        </p:nvSpPr>
        <p:spPr bwMode="auto">
          <a:xfrm>
            <a:off x="7453330"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7" name="Striped Right Arrow 206"/>
          <p:cNvSpPr/>
          <p:nvPr/>
        </p:nvSpPr>
        <p:spPr bwMode="auto">
          <a:xfrm rot="10800000">
            <a:off x="6596074"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 name="Group 105"/>
          <p:cNvGrpSpPr/>
          <p:nvPr/>
        </p:nvGrpSpPr>
        <p:grpSpPr>
          <a:xfrm>
            <a:off x="5834082" y="1500174"/>
            <a:ext cx="3762388" cy="5111754"/>
            <a:chOff x="727075" y="1065213"/>
            <a:chExt cx="6130925" cy="6975475"/>
          </a:xfrm>
        </p:grpSpPr>
        <p:sp>
          <p:nvSpPr>
            <p:cNvPr id="107"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08"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09"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10"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1"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12"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13"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14"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15"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16"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17"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18"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19"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0"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1"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22"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3"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4"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25"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6"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7"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28"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129" name="Group 8930"/>
            <p:cNvGrpSpPr>
              <a:grpSpLocks/>
            </p:cNvGrpSpPr>
            <p:nvPr/>
          </p:nvGrpSpPr>
          <p:grpSpPr bwMode="auto">
            <a:xfrm>
              <a:off x="1268447" y="5702275"/>
              <a:ext cx="1757351" cy="438148"/>
              <a:chOff x="799" y="3592"/>
              <a:chExt cx="1107" cy="276"/>
            </a:xfrm>
          </p:grpSpPr>
          <p:sp>
            <p:nvSpPr>
              <p:cNvPr id="195"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96"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30"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1"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2"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33"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4"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5"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36"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7"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38"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39"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40"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41"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42"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43"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44"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45"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46"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147" name="Group 226"/>
            <p:cNvGrpSpPr>
              <a:grpSpLocks/>
            </p:cNvGrpSpPr>
            <p:nvPr/>
          </p:nvGrpSpPr>
          <p:grpSpPr bwMode="auto">
            <a:xfrm>
              <a:off x="1854230" y="7472328"/>
              <a:ext cx="1757352" cy="471484"/>
              <a:chOff x="1420813" y="7910559"/>
              <a:chExt cx="1757362" cy="471485"/>
            </a:xfrm>
          </p:grpSpPr>
          <p:sp>
            <p:nvSpPr>
              <p:cNvPr id="193"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94"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148" name="Group 88"/>
            <p:cNvGrpSpPr>
              <a:grpSpLocks/>
            </p:cNvGrpSpPr>
            <p:nvPr/>
          </p:nvGrpSpPr>
          <p:grpSpPr bwMode="auto">
            <a:xfrm>
              <a:off x="727075" y="2798720"/>
              <a:ext cx="612772" cy="349249"/>
              <a:chOff x="5364189" y="6450033"/>
              <a:chExt cx="612776" cy="349251"/>
            </a:xfrm>
          </p:grpSpPr>
          <p:sp>
            <p:nvSpPr>
              <p:cNvPr id="19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9" name="Group 89"/>
            <p:cNvGrpSpPr>
              <a:grpSpLocks/>
            </p:cNvGrpSpPr>
            <p:nvPr/>
          </p:nvGrpSpPr>
          <p:grpSpPr bwMode="auto">
            <a:xfrm>
              <a:off x="6240505" y="4514821"/>
              <a:ext cx="612772" cy="349249"/>
              <a:chOff x="5364189" y="6450033"/>
              <a:chExt cx="612776" cy="349251"/>
            </a:xfrm>
          </p:grpSpPr>
          <p:sp>
            <p:nvSpPr>
              <p:cNvPr id="18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0" name="Group 93"/>
            <p:cNvGrpSpPr>
              <a:grpSpLocks/>
            </p:cNvGrpSpPr>
            <p:nvPr/>
          </p:nvGrpSpPr>
          <p:grpSpPr bwMode="auto">
            <a:xfrm>
              <a:off x="6245228" y="3273386"/>
              <a:ext cx="612772" cy="349249"/>
              <a:chOff x="5364189" y="6450033"/>
              <a:chExt cx="612776" cy="349251"/>
            </a:xfrm>
          </p:grpSpPr>
          <p:sp>
            <p:nvSpPr>
              <p:cNvPr id="18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1" name="Group 97"/>
            <p:cNvGrpSpPr>
              <a:grpSpLocks/>
            </p:cNvGrpSpPr>
            <p:nvPr/>
          </p:nvGrpSpPr>
          <p:grpSpPr bwMode="auto">
            <a:xfrm>
              <a:off x="5729326" y="2324053"/>
              <a:ext cx="612772" cy="349249"/>
              <a:chOff x="5364189" y="6450033"/>
              <a:chExt cx="612776" cy="349251"/>
            </a:xfrm>
          </p:grpSpPr>
          <p:sp>
            <p:nvSpPr>
              <p:cNvPr id="18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2" name="Group 101"/>
            <p:cNvGrpSpPr>
              <a:grpSpLocks/>
            </p:cNvGrpSpPr>
            <p:nvPr/>
          </p:nvGrpSpPr>
          <p:grpSpPr bwMode="auto">
            <a:xfrm>
              <a:off x="3867174" y="2324053"/>
              <a:ext cx="612772" cy="349249"/>
              <a:chOff x="5364189" y="6450033"/>
              <a:chExt cx="612776" cy="349251"/>
            </a:xfrm>
          </p:grpSpPr>
          <p:sp>
            <p:nvSpPr>
              <p:cNvPr id="17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3" name="Group 105"/>
            <p:cNvGrpSpPr>
              <a:grpSpLocks/>
            </p:cNvGrpSpPr>
            <p:nvPr/>
          </p:nvGrpSpPr>
          <p:grpSpPr bwMode="auto">
            <a:xfrm>
              <a:off x="3794148" y="3090822"/>
              <a:ext cx="612772" cy="349249"/>
              <a:chOff x="5364189" y="6450033"/>
              <a:chExt cx="612776" cy="349251"/>
            </a:xfrm>
          </p:grpSpPr>
          <p:sp>
            <p:nvSpPr>
              <p:cNvPr id="17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4" name="Group 109"/>
            <p:cNvGrpSpPr>
              <a:grpSpLocks/>
            </p:cNvGrpSpPr>
            <p:nvPr/>
          </p:nvGrpSpPr>
          <p:grpSpPr bwMode="auto">
            <a:xfrm>
              <a:off x="3794148" y="4989488"/>
              <a:ext cx="612772" cy="349249"/>
              <a:chOff x="5364189" y="6450033"/>
              <a:chExt cx="612776" cy="349251"/>
            </a:xfrm>
          </p:grpSpPr>
          <p:sp>
            <p:nvSpPr>
              <p:cNvPr id="17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5" name="Group 113"/>
            <p:cNvGrpSpPr>
              <a:grpSpLocks/>
            </p:cNvGrpSpPr>
            <p:nvPr/>
          </p:nvGrpSpPr>
          <p:grpSpPr bwMode="auto">
            <a:xfrm>
              <a:off x="800101" y="4040155"/>
              <a:ext cx="612772" cy="349249"/>
              <a:chOff x="5364189" y="6450033"/>
              <a:chExt cx="612776" cy="349251"/>
            </a:xfrm>
          </p:grpSpPr>
          <p:sp>
            <p:nvSpPr>
              <p:cNvPr id="16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6" name="Group 117"/>
            <p:cNvGrpSpPr>
              <a:grpSpLocks/>
            </p:cNvGrpSpPr>
            <p:nvPr/>
          </p:nvGrpSpPr>
          <p:grpSpPr bwMode="auto">
            <a:xfrm>
              <a:off x="1092203" y="5829282"/>
              <a:ext cx="612772" cy="349249"/>
              <a:chOff x="5364189" y="6450033"/>
              <a:chExt cx="612776" cy="349251"/>
            </a:xfrm>
          </p:grpSpPr>
          <p:sp>
            <p:nvSpPr>
              <p:cNvPr id="16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7" name="Group 121"/>
            <p:cNvGrpSpPr>
              <a:grpSpLocks/>
            </p:cNvGrpSpPr>
            <p:nvPr/>
          </p:nvGrpSpPr>
          <p:grpSpPr bwMode="auto">
            <a:xfrm>
              <a:off x="1676407" y="7691435"/>
              <a:ext cx="612772" cy="349249"/>
              <a:chOff x="5364189" y="6450033"/>
              <a:chExt cx="612776" cy="349251"/>
            </a:xfrm>
          </p:grpSpPr>
          <p:sp>
            <p:nvSpPr>
              <p:cNvPr id="16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8" name="Group 125"/>
            <p:cNvGrpSpPr>
              <a:grpSpLocks/>
            </p:cNvGrpSpPr>
            <p:nvPr/>
          </p:nvGrpSpPr>
          <p:grpSpPr bwMode="auto">
            <a:xfrm>
              <a:off x="727075" y="1338208"/>
              <a:ext cx="612772" cy="349249"/>
              <a:chOff x="5364189" y="6450033"/>
              <a:chExt cx="612776" cy="349251"/>
            </a:xfrm>
          </p:grpSpPr>
          <p:sp>
            <p:nvSpPr>
              <p:cNvPr id="16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59"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54274" name="Rectangle 2"/>
          <p:cNvSpPr>
            <a:spLocks noGrp="1" noChangeArrowheads="1"/>
          </p:cNvSpPr>
          <p:nvPr>
            <p:ph type="title"/>
          </p:nvPr>
        </p:nvSpPr>
        <p:spPr>
          <a:xfrm>
            <a:off x="0" y="0"/>
            <a:ext cx="9906000" cy="1700213"/>
          </a:xfrm>
        </p:spPr>
        <p:txBody>
          <a:bodyPr/>
          <a:lstStyle/>
          <a:p>
            <a:pPr eaLnBrk="1" hangingPunct="1"/>
            <a:r>
              <a:rPr lang="en-GB" sz="3200" b="1" dirty="0" smtClean="0"/>
              <a:t>THE CONTINUOUS BEHAVIOUR PHASE</a:t>
            </a:r>
            <a:endParaRPr lang="en-US" sz="3200" b="1" dirty="0" smtClean="0"/>
          </a:p>
        </p:txBody>
      </p:sp>
      <p:sp>
        <p:nvSpPr>
          <p:cNvPr id="54275" name="Rectangle 224"/>
          <p:cNvSpPr>
            <a:spLocks noChangeArrowheads="1"/>
          </p:cNvSpPr>
          <p:nvPr/>
        </p:nvSpPr>
        <p:spPr bwMode="auto">
          <a:xfrm>
            <a:off x="0" y="1773238"/>
            <a:ext cx="5381628" cy="4441844"/>
          </a:xfrm>
          <a:prstGeom prst="rect">
            <a:avLst/>
          </a:prstGeom>
          <a:noFill/>
          <a:ln w="9525">
            <a:noFill/>
            <a:miter lim="800000"/>
            <a:headEnd/>
            <a:tailEnd/>
          </a:ln>
        </p:spPr>
        <p:txBody>
          <a:bodyPr/>
          <a:lstStyle/>
          <a:p>
            <a:pPr marL="342900" indent="-342900">
              <a:spcBef>
                <a:spcPct val="20000"/>
              </a:spcBef>
              <a:buFontTx/>
              <a:buChar char="•"/>
            </a:pPr>
            <a:r>
              <a:rPr lang="en-GB" sz="2400" b="1" dirty="0" smtClean="0"/>
              <a:t>This sentence-structured cognition generates a </a:t>
            </a:r>
            <a:r>
              <a:rPr lang="en-GB" sz="2400" b="1" dirty="0" err="1" smtClean="0"/>
              <a:t>PRAXEME</a:t>
            </a:r>
            <a:r>
              <a:rPr lang="en-GB" sz="2400" b="1" dirty="0" smtClean="0"/>
              <a:t>,  our name for what mental philosophers refer to as a “</a:t>
            </a:r>
            <a:r>
              <a:rPr lang="en-GB" sz="2400" b="1" smtClean="0"/>
              <a:t>psychological act”.</a:t>
            </a:r>
            <a:endParaRPr lang="en-GB" sz="2400" b="1" dirty="0" smtClean="0"/>
          </a:p>
          <a:p>
            <a:pPr marL="342900" indent="-342900">
              <a:spcBef>
                <a:spcPct val="20000"/>
              </a:spcBef>
              <a:buFontTx/>
              <a:buChar char="•"/>
            </a:pPr>
            <a:endParaRPr lang="en-GB" sz="2400" b="1" dirty="0" smtClean="0"/>
          </a:p>
          <a:p>
            <a:pPr marL="342900" indent="-342900">
              <a:spcBef>
                <a:spcPct val="20000"/>
              </a:spcBef>
              <a:buFontTx/>
              <a:buChar char="•"/>
            </a:pPr>
            <a:r>
              <a:rPr lang="en-GB" sz="2400" b="1" dirty="0" smtClean="0"/>
              <a:t>The host science at this point is known as “Pragmatics” [</a:t>
            </a:r>
            <a:r>
              <a:rPr lang="en-GB" sz="2400" b="1" dirty="0" smtClean="0">
                <a:hlinkClick r:id="rId2"/>
              </a:rPr>
              <a:t>more</a:t>
            </a:r>
            <a:r>
              <a:rPr lang="en-GB" sz="2400" b="1" dirty="0" smtClean="0"/>
              <a:t>].</a:t>
            </a:r>
          </a:p>
        </p:txBody>
      </p:sp>
      <p:sp>
        <p:nvSpPr>
          <p:cNvPr id="98" name="TextBox 97"/>
          <p:cNvSpPr txBox="1"/>
          <p:nvPr/>
        </p:nvSpPr>
        <p:spPr>
          <a:xfrm>
            <a:off x="8167710" y="2357430"/>
            <a:ext cx="642942" cy="276999"/>
          </a:xfrm>
          <a:prstGeom prst="rect">
            <a:avLst/>
          </a:prstGeom>
          <a:solidFill>
            <a:schemeClr val="bg1"/>
          </a:solidFill>
        </p:spPr>
        <p:txBody>
          <a:bodyPr wrap="square" rtlCol="0">
            <a:spAutoFit/>
          </a:bodyPr>
          <a:lstStyle/>
          <a:p>
            <a:r>
              <a:rPr lang="en-GB" sz="1200" b="1" dirty="0" err="1" smtClean="0"/>
              <a:t>DRAN</a:t>
            </a:r>
            <a:endParaRPr lang="en-GB" sz="1200" b="1" dirty="0"/>
          </a:p>
        </p:txBody>
      </p:sp>
      <p:sp>
        <p:nvSpPr>
          <p:cNvPr id="100" name="Striped Right Arrow 99"/>
          <p:cNvSpPr/>
          <p:nvPr/>
        </p:nvSpPr>
        <p:spPr bwMode="auto">
          <a:xfrm>
            <a:off x="7453330"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 name="Group 105"/>
          <p:cNvGrpSpPr/>
          <p:nvPr/>
        </p:nvGrpSpPr>
        <p:grpSpPr>
          <a:xfrm>
            <a:off x="5834082" y="1500174"/>
            <a:ext cx="3762388" cy="5111754"/>
            <a:chOff x="727075" y="1065213"/>
            <a:chExt cx="6130925" cy="6975475"/>
          </a:xfrm>
        </p:grpSpPr>
        <p:sp>
          <p:nvSpPr>
            <p:cNvPr id="107"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08"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09"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10"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1"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12"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13"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14"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15"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16"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17"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18"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19"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0"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1"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22"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3"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4"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25"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6"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7"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28"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129" name="Group 8930"/>
            <p:cNvGrpSpPr>
              <a:grpSpLocks/>
            </p:cNvGrpSpPr>
            <p:nvPr/>
          </p:nvGrpSpPr>
          <p:grpSpPr bwMode="auto">
            <a:xfrm>
              <a:off x="1268447" y="5702275"/>
              <a:ext cx="1757351" cy="438148"/>
              <a:chOff x="799" y="3592"/>
              <a:chExt cx="1107" cy="276"/>
            </a:xfrm>
          </p:grpSpPr>
          <p:sp>
            <p:nvSpPr>
              <p:cNvPr id="195"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96"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30"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1"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2"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33"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4"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5"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36"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7"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38"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39"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40"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41"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42"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43"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44"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45"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46"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147" name="Group 226"/>
            <p:cNvGrpSpPr>
              <a:grpSpLocks/>
            </p:cNvGrpSpPr>
            <p:nvPr/>
          </p:nvGrpSpPr>
          <p:grpSpPr bwMode="auto">
            <a:xfrm>
              <a:off x="1854230" y="7472328"/>
              <a:ext cx="1757352" cy="471484"/>
              <a:chOff x="1420813" y="7910559"/>
              <a:chExt cx="1757362" cy="471485"/>
            </a:xfrm>
          </p:grpSpPr>
          <p:sp>
            <p:nvSpPr>
              <p:cNvPr id="193"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94"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148" name="Group 88"/>
            <p:cNvGrpSpPr>
              <a:grpSpLocks/>
            </p:cNvGrpSpPr>
            <p:nvPr/>
          </p:nvGrpSpPr>
          <p:grpSpPr bwMode="auto">
            <a:xfrm>
              <a:off x="727075" y="2798720"/>
              <a:ext cx="612772" cy="349249"/>
              <a:chOff x="5364189" y="6450033"/>
              <a:chExt cx="612776" cy="349251"/>
            </a:xfrm>
          </p:grpSpPr>
          <p:sp>
            <p:nvSpPr>
              <p:cNvPr id="19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9" name="Group 89"/>
            <p:cNvGrpSpPr>
              <a:grpSpLocks/>
            </p:cNvGrpSpPr>
            <p:nvPr/>
          </p:nvGrpSpPr>
          <p:grpSpPr bwMode="auto">
            <a:xfrm>
              <a:off x="6240505" y="4514821"/>
              <a:ext cx="612772" cy="349249"/>
              <a:chOff x="5364189" y="6450033"/>
              <a:chExt cx="612776" cy="349251"/>
            </a:xfrm>
          </p:grpSpPr>
          <p:sp>
            <p:nvSpPr>
              <p:cNvPr id="18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0" name="Group 93"/>
            <p:cNvGrpSpPr>
              <a:grpSpLocks/>
            </p:cNvGrpSpPr>
            <p:nvPr/>
          </p:nvGrpSpPr>
          <p:grpSpPr bwMode="auto">
            <a:xfrm>
              <a:off x="6245228" y="3273386"/>
              <a:ext cx="612772" cy="349249"/>
              <a:chOff x="5364189" y="6450033"/>
              <a:chExt cx="612776" cy="349251"/>
            </a:xfrm>
          </p:grpSpPr>
          <p:sp>
            <p:nvSpPr>
              <p:cNvPr id="18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1" name="Group 97"/>
            <p:cNvGrpSpPr>
              <a:grpSpLocks/>
            </p:cNvGrpSpPr>
            <p:nvPr/>
          </p:nvGrpSpPr>
          <p:grpSpPr bwMode="auto">
            <a:xfrm>
              <a:off x="5729326" y="2324053"/>
              <a:ext cx="612772" cy="349249"/>
              <a:chOff x="5364189" y="6450033"/>
              <a:chExt cx="612776" cy="349251"/>
            </a:xfrm>
          </p:grpSpPr>
          <p:sp>
            <p:nvSpPr>
              <p:cNvPr id="18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2" name="Group 101"/>
            <p:cNvGrpSpPr>
              <a:grpSpLocks/>
            </p:cNvGrpSpPr>
            <p:nvPr/>
          </p:nvGrpSpPr>
          <p:grpSpPr bwMode="auto">
            <a:xfrm>
              <a:off x="3867174" y="2324053"/>
              <a:ext cx="612772" cy="349249"/>
              <a:chOff x="5364189" y="6450033"/>
              <a:chExt cx="612776" cy="349251"/>
            </a:xfrm>
          </p:grpSpPr>
          <p:sp>
            <p:nvSpPr>
              <p:cNvPr id="17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3" name="Group 105"/>
            <p:cNvGrpSpPr>
              <a:grpSpLocks/>
            </p:cNvGrpSpPr>
            <p:nvPr/>
          </p:nvGrpSpPr>
          <p:grpSpPr bwMode="auto">
            <a:xfrm>
              <a:off x="3794148" y="3090822"/>
              <a:ext cx="612772" cy="349249"/>
              <a:chOff x="5364189" y="6450033"/>
              <a:chExt cx="612776" cy="349251"/>
            </a:xfrm>
          </p:grpSpPr>
          <p:sp>
            <p:nvSpPr>
              <p:cNvPr id="17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4" name="Group 109"/>
            <p:cNvGrpSpPr>
              <a:grpSpLocks/>
            </p:cNvGrpSpPr>
            <p:nvPr/>
          </p:nvGrpSpPr>
          <p:grpSpPr bwMode="auto">
            <a:xfrm>
              <a:off x="3794148" y="4989488"/>
              <a:ext cx="612772" cy="349249"/>
              <a:chOff x="5364189" y="6450033"/>
              <a:chExt cx="612776" cy="349251"/>
            </a:xfrm>
          </p:grpSpPr>
          <p:sp>
            <p:nvSpPr>
              <p:cNvPr id="17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5" name="Group 113"/>
            <p:cNvGrpSpPr>
              <a:grpSpLocks/>
            </p:cNvGrpSpPr>
            <p:nvPr/>
          </p:nvGrpSpPr>
          <p:grpSpPr bwMode="auto">
            <a:xfrm>
              <a:off x="800101" y="4040155"/>
              <a:ext cx="612772" cy="349249"/>
              <a:chOff x="5364189" y="6450033"/>
              <a:chExt cx="612776" cy="349251"/>
            </a:xfrm>
          </p:grpSpPr>
          <p:sp>
            <p:nvSpPr>
              <p:cNvPr id="16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6" name="Group 117"/>
            <p:cNvGrpSpPr>
              <a:grpSpLocks/>
            </p:cNvGrpSpPr>
            <p:nvPr/>
          </p:nvGrpSpPr>
          <p:grpSpPr bwMode="auto">
            <a:xfrm>
              <a:off x="1092203" y="5829282"/>
              <a:ext cx="612772" cy="349249"/>
              <a:chOff x="5364189" y="6450033"/>
              <a:chExt cx="612776" cy="349251"/>
            </a:xfrm>
          </p:grpSpPr>
          <p:sp>
            <p:nvSpPr>
              <p:cNvPr id="16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7" name="Group 121"/>
            <p:cNvGrpSpPr>
              <a:grpSpLocks/>
            </p:cNvGrpSpPr>
            <p:nvPr/>
          </p:nvGrpSpPr>
          <p:grpSpPr bwMode="auto">
            <a:xfrm>
              <a:off x="1676407" y="7691435"/>
              <a:ext cx="612772" cy="349249"/>
              <a:chOff x="5364189" y="6450033"/>
              <a:chExt cx="612776" cy="349251"/>
            </a:xfrm>
          </p:grpSpPr>
          <p:sp>
            <p:nvSpPr>
              <p:cNvPr id="16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8" name="Group 125"/>
            <p:cNvGrpSpPr>
              <a:grpSpLocks/>
            </p:cNvGrpSpPr>
            <p:nvPr/>
          </p:nvGrpSpPr>
          <p:grpSpPr bwMode="auto">
            <a:xfrm>
              <a:off x="727075" y="1338208"/>
              <a:ext cx="612772" cy="349249"/>
              <a:chOff x="5364189" y="6450033"/>
              <a:chExt cx="612776" cy="349251"/>
            </a:xfrm>
          </p:grpSpPr>
          <p:sp>
            <p:nvSpPr>
              <p:cNvPr id="16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59"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54274" name="Rectangle 2"/>
          <p:cNvSpPr>
            <a:spLocks noGrp="1" noChangeArrowheads="1"/>
          </p:cNvSpPr>
          <p:nvPr>
            <p:ph type="title"/>
          </p:nvPr>
        </p:nvSpPr>
        <p:spPr>
          <a:xfrm>
            <a:off x="0" y="0"/>
            <a:ext cx="9906000" cy="1700213"/>
          </a:xfrm>
        </p:spPr>
        <p:txBody>
          <a:bodyPr/>
          <a:lstStyle/>
          <a:p>
            <a:pPr eaLnBrk="1" hangingPunct="1"/>
            <a:r>
              <a:rPr lang="en-GB" sz="3200" b="1" dirty="0" smtClean="0"/>
              <a:t>THE CONTINUOUS BEHAVIOUR PHASE</a:t>
            </a:r>
            <a:endParaRPr lang="en-US" sz="3200" b="1" dirty="0" smtClean="0"/>
          </a:p>
        </p:txBody>
      </p:sp>
      <p:sp>
        <p:nvSpPr>
          <p:cNvPr id="54275" name="Rectangle 224"/>
          <p:cNvSpPr>
            <a:spLocks noChangeArrowheads="1"/>
          </p:cNvSpPr>
          <p:nvPr/>
        </p:nvSpPr>
        <p:spPr bwMode="auto">
          <a:xfrm>
            <a:off x="0" y="1773238"/>
            <a:ext cx="5310190" cy="5084762"/>
          </a:xfrm>
          <a:prstGeom prst="rect">
            <a:avLst/>
          </a:prstGeom>
          <a:noFill/>
          <a:ln w="9525">
            <a:noFill/>
            <a:miter lim="800000"/>
            <a:headEnd/>
            <a:tailEnd/>
          </a:ln>
        </p:spPr>
        <p:txBody>
          <a:bodyPr/>
          <a:lstStyle/>
          <a:p>
            <a:pPr marL="342900" indent="-342900">
              <a:spcBef>
                <a:spcPct val="20000"/>
              </a:spcBef>
              <a:buFontTx/>
              <a:buChar char="•"/>
            </a:pPr>
            <a:r>
              <a:rPr lang="en-GB" sz="2400" b="1" dirty="0" smtClean="0"/>
              <a:t>This </a:t>
            </a:r>
            <a:r>
              <a:rPr lang="en-GB" sz="2400" b="1" dirty="0" err="1" smtClean="0"/>
              <a:t>PRAXEME</a:t>
            </a:r>
            <a:r>
              <a:rPr lang="en-GB" sz="2400" b="1" dirty="0" smtClean="0"/>
              <a:t> is then passed to </a:t>
            </a:r>
            <a:r>
              <a:rPr lang="en-GB" sz="2400" b="1" dirty="0" err="1" smtClean="0"/>
              <a:t>TTAC</a:t>
            </a:r>
            <a:r>
              <a:rPr lang="en-GB" sz="2400" b="1" dirty="0" smtClean="0"/>
              <a:t>, the Tactical Action Module, where it activates a stack of identically keyed </a:t>
            </a:r>
            <a:r>
              <a:rPr lang="en-GB" sz="2400" b="1" dirty="0" err="1" smtClean="0"/>
              <a:t>ACTEMES</a:t>
            </a:r>
            <a:r>
              <a:rPr lang="en-GB" sz="2400" b="1" dirty="0" smtClean="0"/>
              <a:t>, collectively encoding the sequential actions making up a MOTOR SCHEMA.</a:t>
            </a:r>
          </a:p>
          <a:p>
            <a:pPr marL="342900" indent="-342900">
              <a:spcBef>
                <a:spcPct val="20000"/>
              </a:spcBef>
              <a:buFontTx/>
              <a:buChar char="•"/>
            </a:pPr>
            <a:endParaRPr lang="en-GB" sz="2400" b="1" dirty="0" smtClean="0"/>
          </a:p>
          <a:p>
            <a:pPr marL="342900" indent="-342900">
              <a:spcBef>
                <a:spcPct val="20000"/>
              </a:spcBef>
              <a:buFontTx/>
              <a:buChar char="•"/>
            </a:pPr>
            <a:r>
              <a:rPr lang="en-GB" sz="2400" b="1" dirty="0" smtClean="0"/>
              <a:t>However, because there are many schemas to choose from, the output needs to be validated in some way, so .....</a:t>
            </a:r>
          </a:p>
        </p:txBody>
      </p:sp>
      <p:sp>
        <p:nvSpPr>
          <p:cNvPr id="98" name="TextBox 97"/>
          <p:cNvSpPr txBox="1"/>
          <p:nvPr/>
        </p:nvSpPr>
        <p:spPr>
          <a:xfrm>
            <a:off x="8167710" y="2357430"/>
            <a:ext cx="642942" cy="276999"/>
          </a:xfrm>
          <a:prstGeom prst="rect">
            <a:avLst/>
          </a:prstGeom>
          <a:solidFill>
            <a:schemeClr val="bg1"/>
          </a:solidFill>
        </p:spPr>
        <p:txBody>
          <a:bodyPr wrap="square" rtlCol="0">
            <a:spAutoFit/>
          </a:bodyPr>
          <a:lstStyle/>
          <a:p>
            <a:r>
              <a:rPr lang="en-GB" sz="1200" b="1" dirty="0" err="1" smtClean="0"/>
              <a:t>DRAN</a:t>
            </a:r>
            <a:endParaRPr lang="en-GB" sz="1200" b="1" dirty="0"/>
          </a:p>
        </p:txBody>
      </p:sp>
      <p:sp>
        <p:nvSpPr>
          <p:cNvPr id="99" name="TextBox 98"/>
          <p:cNvSpPr txBox="1"/>
          <p:nvPr/>
        </p:nvSpPr>
        <p:spPr>
          <a:xfrm>
            <a:off x="7881958" y="3214686"/>
            <a:ext cx="642942" cy="276999"/>
          </a:xfrm>
          <a:prstGeom prst="rect">
            <a:avLst/>
          </a:prstGeom>
          <a:solidFill>
            <a:schemeClr val="bg1"/>
          </a:solidFill>
        </p:spPr>
        <p:txBody>
          <a:bodyPr wrap="square" rtlCol="0">
            <a:spAutoFit/>
          </a:bodyPr>
          <a:lstStyle/>
          <a:p>
            <a:r>
              <a:rPr lang="en-GB" sz="1200" b="1" dirty="0" err="1" smtClean="0"/>
              <a:t>TTAC</a:t>
            </a:r>
            <a:endParaRPr lang="en-GB" sz="1200" b="1" dirty="0"/>
          </a:p>
        </p:txBody>
      </p:sp>
      <p:sp>
        <p:nvSpPr>
          <p:cNvPr id="100" name="Striped Right Arrow 99"/>
          <p:cNvSpPr/>
          <p:nvPr/>
        </p:nvSpPr>
        <p:spPr bwMode="auto">
          <a:xfrm>
            <a:off x="7453330"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03" name="Striped Right Arrow 102"/>
          <p:cNvSpPr/>
          <p:nvPr/>
        </p:nvSpPr>
        <p:spPr bwMode="auto">
          <a:xfrm rot="5400000">
            <a:off x="8386993" y="2281023"/>
            <a:ext cx="775880" cy="1500198"/>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04" name="TextBox 103"/>
          <p:cNvSpPr txBox="1"/>
          <p:nvPr/>
        </p:nvSpPr>
        <p:spPr>
          <a:xfrm>
            <a:off x="8882090" y="3214686"/>
            <a:ext cx="642942" cy="276999"/>
          </a:xfrm>
          <a:prstGeom prst="rect">
            <a:avLst/>
          </a:prstGeom>
          <a:solidFill>
            <a:schemeClr val="bg1"/>
          </a:solidFill>
        </p:spPr>
        <p:txBody>
          <a:bodyPr wrap="square" rtlCol="0">
            <a:spAutoFit/>
          </a:bodyPr>
          <a:lstStyle/>
          <a:p>
            <a:r>
              <a:rPr lang="en-GB" sz="1200" b="1" dirty="0" err="1" smtClean="0"/>
              <a:t>BREL</a:t>
            </a:r>
            <a:endParaRPr lang="en-GB" sz="1200" b="1" dirty="0"/>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5"/>
          <p:cNvGrpSpPr/>
          <p:nvPr/>
        </p:nvGrpSpPr>
        <p:grpSpPr>
          <a:xfrm>
            <a:off x="5834082" y="1500174"/>
            <a:ext cx="3762388" cy="5111754"/>
            <a:chOff x="727075" y="1065213"/>
            <a:chExt cx="6130925" cy="6975475"/>
          </a:xfrm>
        </p:grpSpPr>
        <p:sp>
          <p:nvSpPr>
            <p:cNvPr id="107"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08"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09"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10"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1"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12"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13"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14"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15"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16"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17"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18"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19"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0"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1"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22"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3"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4"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25"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6"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7"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28"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3" name="Group 8930"/>
            <p:cNvGrpSpPr>
              <a:grpSpLocks/>
            </p:cNvGrpSpPr>
            <p:nvPr/>
          </p:nvGrpSpPr>
          <p:grpSpPr bwMode="auto">
            <a:xfrm>
              <a:off x="1268447" y="5702275"/>
              <a:ext cx="1757351" cy="438148"/>
              <a:chOff x="799" y="3592"/>
              <a:chExt cx="1107" cy="276"/>
            </a:xfrm>
          </p:grpSpPr>
          <p:sp>
            <p:nvSpPr>
              <p:cNvPr id="195"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96"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30"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1"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2"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33"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4"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5"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36"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7"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38"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39"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40"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41"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42"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43"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44"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45"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46"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4" name="Group 226"/>
            <p:cNvGrpSpPr>
              <a:grpSpLocks/>
            </p:cNvGrpSpPr>
            <p:nvPr/>
          </p:nvGrpSpPr>
          <p:grpSpPr bwMode="auto">
            <a:xfrm>
              <a:off x="1854230" y="7472328"/>
              <a:ext cx="1757352" cy="471484"/>
              <a:chOff x="1420813" y="7910559"/>
              <a:chExt cx="1757362" cy="471485"/>
            </a:xfrm>
          </p:grpSpPr>
          <p:sp>
            <p:nvSpPr>
              <p:cNvPr id="193"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94"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5" name="Group 88"/>
            <p:cNvGrpSpPr>
              <a:grpSpLocks/>
            </p:cNvGrpSpPr>
            <p:nvPr/>
          </p:nvGrpSpPr>
          <p:grpSpPr bwMode="auto">
            <a:xfrm>
              <a:off x="727075" y="2798720"/>
              <a:ext cx="612772" cy="349249"/>
              <a:chOff x="5364189" y="6450033"/>
              <a:chExt cx="612776" cy="349251"/>
            </a:xfrm>
          </p:grpSpPr>
          <p:sp>
            <p:nvSpPr>
              <p:cNvPr id="19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6" name="Group 89"/>
            <p:cNvGrpSpPr>
              <a:grpSpLocks/>
            </p:cNvGrpSpPr>
            <p:nvPr/>
          </p:nvGrpSpPr>
          <p:grpSpPr bwMode="auto">
            <a:xfrm>
              <a:off x="6240505" y="4514821"/>
              <a:ext cx="612772" cy="349249"/>
              <a:chOff x="5364189" y="6450033"/>
              <a:chExt cx="612776" cy="349251"/>
            </a:xfrm>
          </p:grpSpPr>
          <p:sp>
            <p:nvSpPr>
              <p:cNvPr id="18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7" name="Group 93"/>
            <p:cNvGrpSpPr>
              <a:grpSpLocks/>
            </p:cNvGrpSpPr>
            <p:nvPr/>
          </p:nvGrpSpPr>
          <p:grpSpPr bwMode="auto">
            <a:xfrm>
              <a:off x="6245228" y="3273386"/>
              <a:ext cx="612772" cy="349249"/>
              <a:chOff x="5364189" y="6450033"/>
              <a:chExt cx="612776" cy="349251"/>
            </a:xfrm>
          </p:grpSpPr>
          <p:sp>
            <p:nvSpPr>
              <p:cNvPr id="18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8" name="Group 97"/>
            <p:cNvGrpSpPr>
              <a:grpSpLocks/>
            </p:cNvGrpSpPr>
            <p:nvPr/>
          </p:nvGrpSpPr>
          <p:grpSpPr bwMode="auto">
            <a:xfrm>
              <a:off x="5729326" y="2324053"/>
              <a:ext cx="612772" cy="349249"/>
              <a:chOff x="5364189" y="6450033"/>
              <a:chExt cx="612776" cy="349251"/>
            </a:xfrm>
          </p:grpSpPr>
          <p:sp>
            <p:nvSpPr>
              <p:cNvPr id="18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9" name="Group 101"/>
            <p:cNvGrpSpPr>
              <a:grpSpLocks/>
            </p:cNvGrpSpPr>
            <p:nvPr/>
          </p:nvGrpSpPr>
          <p:grpSpPr bwMode="auto">
            <a:xfrm>
              <a:off x="3867174" y="2324053"/>
              <a:ext cx="612772" cy="349249"/>
              <a:chOff x="5364189" y="6450033"/>
              <a:chExt cx="612776" cy="349251"/>
            </a:xfrm>
          </p:grpSpPr>
          <p:sp>
            <p:nvSpPr>
              <p:cNvPr id="17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0" name="Group 105"/>
            <p:cNvGrpSpPr>
              <a:grpSpLocks/>
            </p:cNvGrpSpPr>
            <p:nvPr/>
          </p:nvGrpSpPr>
          <p:grpSpPr bwMode="auto">
            <a:xfrm>
              <a:off x="3794148" y="3090822"/>
              <a:ext cx="612772" cy="349249"/>
              <a:chOff x="5364189" y="6450033"/>
              <a:chExt cx="612776" cy="349251"/>
            </a:xfrm>
          </p:grpSpPr>
          <p:sp>
            <p:nvSpPr>
              <p:cNvPr id="17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1" name="Group 109"/>
            <p:cNvGrpSpPr>
              <a:grpSpLocks/>
            </p:cNvGrpSpPr>
            <p:nvPr/>
          </p:nvGrpSpPr>
          <p:grpSpPr bwMode="auto">
            <a:xfrm>
              <a:off x="3794148" y="4989488"/>
              <a:ext cx="612772" cy="349249"/>
              <a:chOff x="5364189" y="6450033"/>
              <a:chExt cx="612776" cy="349251"/>
            </a:xfrm>
          </p:grpSpPr>
          <p:sp>
            <p:nvSpPr>
              <p:cNvPr id="17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2" name="Group 113"/>
            <p:cNvGrpSpPr>
              <a:grpSpLocks/>
            </p:cNvGrpSpPr>
            <p:nvPr/>
          </p:nvGrpSpPr>
          <p:grpSpPr bwMode="auto">
            <a:xfrm>
              <a:off x="800101" y="4040155"/>
              <a:ext cx="612772" cy="349249"/>
              <a:chOff x="5364189" y="6450033"/>
              <a:chExt cx="612776" cy="349251"/>
            </a:xfrm>
          </p:grpSpPr>
          <p:sp>
            <p:nvSpPr>
              <p:cNvPr id="16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3" name="Group 117"/>
            <p:cNvGrpSpPr>
              <a:grpSpLocks/>
            </p:cNvGrpSpPr>
            <p:nvPr/>
          </p:nvGrpSpPr>
          <p:grpSpPr bwMode="auto">
            <a:xfrm>
              <a:off x="1092203" y="5829282"/>
              <a:ext cx="612772" cy="349249"/>
              <a:chOff x="5364189" y="6450033"/>
              <a:chExt cx="612776" cy="349251"/>
            </a:xfrm>
          </p:grpSpPr>
          <p:sp>
            <p:nvSpPr>
              <p:cNvPr id="16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 name="Group 121"/>
            <p:cNvGrpSpPr>
              <a:grpSpLocks/>
            </p:cNvGrpSpPr>
            <p:nvPr/>
          </p:nvGrpSpPr>
          <p:grpSpPr bwMode="auto">
            <a:xfrm>
              <a:off x="1676407" y="7691435"/>
              <a:ext cx="612772" cy="349249"/>
              <a:chOff x="5364189" y="6450033"/>
              <a:chExt cx="612776" cy="349251"/>
            </a:xfrm>
          </p:grpSpPr>
          <p:sp>
            <p:nvSpPr>
              <p:cNvPr id="16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 name="Group 125"/>
            <p:cNvGrpSpPr>
              <a:grpSpLocks/>
            </p:cNvGrpSpPr>
            <p:nvPr/>
          </p:nvGrpSpPr>
          <p:grpSpPr bwMode="auto">
            <a:xfrm>
              <a:off x="727075" y="1338208"/>
              <a:ext cx="612772" cy="349249"/>
              <a:chOff x="5364189" y="6450033"/>
              <a:chExt cx="612776" cy="349251"/>
            </a:xfrm>
          </p:grpSpPr>
          <p:sp>
            <p:nvSpPr>
              <p:cNvPr id="16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59"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54274" name="Rectangle 2"/>
          <p:cNvSpPr>
            <a:spLocks noGrp="1" noChangeArrowheads="1"/>
          </p:cNvSpPr>
          <p:nvPr>
            <p:ph type="title"/>
          </p:nvPr>
        </p:nvSpPr>
        <p:spPr>
          <a:xfrm>
            <a:off x="0" y="0"/>
            <a:ext cx="9906000" cy="1700213"/>
          </a:xfrm>
        </p:spPr>
        <p:txBody>
          <a:bodyPr/>
          <a:lstStyle/>
          <a:p>
            <a:pPr eaLnBrk="1" hangingPunct="1"/>
            <a:r>
              <a:rPr lang="en-GB" sz="3200" b="1" dirty="0" smtClean="0"/>
              <a:t>THE CONTINUOUS BEHAVIOUR PHASE</a:t>
            </a:r>
            <a:endParaRPr lang="en-US" sz="3200" b="1" dirty="0" smtClean="0"/>
          </a:p>
        </p:txBody>
      </p:sp>
      <p:sp>
        <p:nvSpPr>
          <p:cNvPr id="54275" name="Rectangle 224"/>
          <p:cNvSpPr>
            <a:spLocks noChangeArrowheads="1"/>
          </p:cNvSpPr>
          <p:nvPr/>
        </p:nvSpPr>
        <p:spPr bwMode="auto">
          <a:xfrm>
            <a:off x="0" y="1773238"/>
            <a:ext cx="5595942" cy="2370142"/>
          </a:xfrm>
          <a:prstGeom prst="rect">
            <a:avLst/>
          </a:prstGeom>
          <a:noFill/>
          <a:ln w="9525">
            <a:noFill/>
            <a:miter lim="800000"/>
            <a:headEnd/>
            <a:tailEnd/>
          </a:ln>
        </p:spPr>
        <p:txBody>
          <a:bodyPr/>
          <a:lstStyle/>
          <a:p>
            <a:pPr marL="342900" indent="-342900">
              <a:spcBef>
                <a:spcPct val="20000"/>
              </a:spcBef>
              <a:buFontTx/>
              <a:buChar char="•"/>
            </a:pPr>
            <a:r>
              <a:rPr lang="en-GB" sz="2400" b="1" dirty="0" smtClean="0"/>
              <a:t>..... </a:t>
            </a:r>
            <a:r>
              <a:rPr lang="en-GB" sz="2400" b="1" dirty="0" err="1" smtClean="0"/>
              <a:t>BREL</a:t>
            </a:r>
            <a:r>
              <a:rPr lang="en-GB" sz="2400" b="1" dirty="0" smtClean="0"/>
              <a:t>, the Behavioural Release Module, then “ticks these out” safely one by one (in the same way that biology’s </a:t>
            </a:r>
            <a:r>
              <a:rPr lang="en-GB" sz="2400" b="1" dirty="0" smtClean="0">
                <a:solidFill>
                  <a:schemeClr val="accent2"/>
                </a:solidFill>
              </a:rPr>
              <a:t>Anterior </a:t>
            </a:r>
            <a:r>
              <a:rPr lang="en-GB" sz="2400" b="1" dirty="0" err="1" smtClean="0">
                <a:solidFill>
                  <a:schemeClr val="accent2"/>
                </a:solidFill>
              </a:rPr>
              <a:t>Cingulate</a:t>
            </a:r>
            <a:r>
              <a:rPr lang="en-GB" sz="2400" b="1" dirty="0" smtClean="0">
                <a:solidFill>
                  <a:schemeClr val="accent2"/>
                </a:solidFill>
              </a:rPr>
              <a:t> </a:t>
            </a:r>
            <a:r>
              <a:rPr lang="en-GB" sz="2400" b="1" dirty="0" err="1" smtClean="0">
                <a:solidFill>
                  <a:schemeClr val="accent2"/>
                </a:solidFill>
              </a:rPr>
              <a:t>Gyrus</a:t>
            </a:r>
            <a:r>
              <a:rPr lang="en-GB" sz="2400" b="1" dirty="0" smtClean="0"/>
              <a:t> seems to control impulsivity in human behaviour). </a:t>
            </a:r>
            <a:endParaRPr lang="en-GB" sz="2400" b="1" dirty="0"/>
          </a:p>
        </p:txBody>
      </p:sp>
      <p:sp>
        <p:nvSpPr>
          <p:cNvPr id="98" name="TextBox 97"/>
          <p:cNvSpPr txBox="1"/>
          <p:nvPr/>
        </p:nvSpPr>
        <p:spPr>
          <a:xfrm>
            <a:off x="8167710" y="2357430"/>
            <a:ext cx="642942" cy="276999"/>
          </a:xfrm>
          <a:prstGeom prst="rect">
            <a:avLst/>
          </a:prstGeom>
          <a:solidFill>
            <a:schemeClr val="bg1"/>
          </a:solidFill>
        </p:spPr>
        <p:txBody>
          <a:bodyPr wrap="square" rtlCol="0">
            <a:spAutoFit/>
          </a:bodyPr>
          <a:lstStyle/>
          <a:p>
            <a:r>
              <a:rPr lang="en-GB" sz="1200" b="1" dirty="0" err="1" smtClean="0"/>
              <a:t>DRAN</a:t>
            </a:r>
            <a:endParaRPr lang="en-GB" sz="1200" b="1" dirty="0"/>
          </a:p>
        </p:txBody>
      </p:sp>
      <p:sp>
        <p:nvSpPr>
          <p:cNvPr id="99" name="TextBox 98"/>
          <p:cNvSpPr txBox="1"/>
          <p:nvPr/>
        </p:nvSpPr>
        <p:spPr>
          <a:xfrm>
            <a:off x="7881958" y="3214686"/>
            <a:ext cx="642942" cy="276999"/>
          </a:xfrm>
          <a:prstGeom prst="rect">
            <a:avLst/>
          </a:prstGeom>
          <a:solidFill>
            <a:schemeClr val="bg1"/>
          </a:solidFill>
        </p:spPr>
        <p:txBody>
          <a:bodyPr wrap="square" rtlCol="0">
            <a:spAutoFit/>
          </a:bodyPr>
          <a:lstStyle/>
          <a:p>
            <a:r>
              <a:rPr lang="en-GB" sz="1200" b="1" dirty="0" err="1" smtClean="0"/>
              <a:t>TTAC</a:t>
            </a:r>
            <a:endParaRPr lang="en-GB" sz="1200" b="1" dirty="0"/>
          </a:p>
        </p:txBody>
      </p:sp>
      <p:sp>
        <p:nvSpPr>
          <p:cNvPr id="100" name="Striped Right Arrow 99"/>
          <p:cNvSpPr/>
          <p:nvPr/>
        </p:nvSpPr>
        <p:spPr bwMode="auto">
          <a:xfrm>
            <a:off x="7453330"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03" name="Striped Right Arrow 102"/>
          <p:cNvSpPr/>
          <p:nvPr/>
        </p:nvSpPr>
        <p:spPr bwMode="auto">
          <a:xfrm rot="5400000">
            <a:off x="8386993" y="2281023"/>
            <a:ext cx="775880" cy="1500198"/>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04" name="TextBox 103"/>
          <p:cNvSpPr txBox="1"/>
          <p:nvPr/>
        </p:nvSpPr>
        <p:spPr>
          <a:xfrm>
            <a:off x="8882090" y="3214686"/>
            <a:ext cx="642942" cy="276999"/>
          </a:xfrm>
          <a:prstGeom prst="rect">
            <a:avLst/>
          </a:prstGeom>
          <a:solidFill>
            <a:schemeClr val="bg1"/>
          </a:solidFill>
        </p:spPr>
        <p:txBody>
          <a:bodyPr wrap="square" rtlCol="0">
            <a:spAutoFit/>
          </a:bodyPr>
          <a:lstStyle/>
          <a:p>
            <a:r>
              <a:rPr lang="en-GB" sz="1200" b="1" dirty="0" err="1" smtClean="0"/>
              <a:t>BREL</a:t>
            </a:r>
            <a:endParaRPr lang="en-GB" sz="1200" b="1" dirty="0"/>
          </a:p>
        </p:txBody>
      </p:sp>
      <p:sp>
        <p:nvSpPr>
          <p:cNvPr id="101" name="TextBox 100"/>
          <p:cNvSpPr txBox="1"/>
          <p:nvPr/>
        </p:nvSpPr>
        <p:spPr>
          <a:xfrm>
            <a:off x="238092" y="4643446"/>
            <a:ext cx="1301959" cy="584775"/>
          </a:xfrm>
          <a:prstGeom prst="rect">
            <a:avLst/>
          </a:prstGeom>
          <a:noFill/>
        </p:spPr>
        <p:txBody>
          <a:bodyPr wrap="none" rtlCol="0">
            <a:spAutoFit/>
          </a:bodyPr>
          <a:lstStyle/>
          <a:p>
            <a:pPr algn="ctr"/>
            <a:r>
              <a:rPr lang="en-GB" sz="3200" b="1" dirty="0" smtClean="0">
                <a:solidFill>
                  <a:srgbClr val="FF0000"/>
                </a:solidFill>
              </a:rPr>
              <a:t>BLUE</a:t>
            </a:r>
            <a:endParaRPr lang="en-GB" sz="3200" b="1" dirty="0">
              <a:solidFill>
                <a:srgbClr val="FF0000"/>
              </a:solidFill>
            </a:endParaRPr>
          </a:p>
        </p:txBody>
      </p:sp>
      <p:sp>
        <p:nvSpPr>
          <p:cNvPr id="150" name="TextBox 149"/>
          <p:cNvSpPr txBox="1"/>
          <p:nvPr/>
        </p:nvSpPr>
        <p:spPr>
          <a:xfrm>
            <a:off x="2141505" y="4643446"/>
            <a:ext cx="1645002" cy="584775"/>
          </a:xfrm>
          <a:prstGeom prst="rect">
            <a:avLst/>
          </a:prstGeom>
          <a:noFill/>
        </p:spPr>
        <p:txBody>
          <a:bodyPr wrap="none" rtlCol="0">
            <a:spAutoFit/>
          </a:bodyPr>
          <a:lstStyle/>
          <a:p>
            <a:pPr algn="ctr"/>
            <a:r>
              <a:rPr lang="en-GB" sz="3200" b="1" dirty="0" smtClean="0"/>
              <a:t>GREEN</a:t>
            </a:r>
            <a:endParaRPr lang="en-GB" sz="3200" b="1" dirty="0"/>
          </a:p>
        </p:txBody>
      </p:sp>
      <p:sp>
        <p:nvSpPr>
          <p:cNvPr id="151" name="TextBox 150"/>
          <p:cNvSpPr txBox="1"/>
          <p:nvPr/>
        </p:nvSpPr>
        <p:spPr>
          <a:xfrm>
            <a:off x="4154522" y="4643446"/>
            <a:ext cx="1051891" cy="584775"/>
          </a:xfrm>
          <a:prstGeom prst="rect">
            <a:avLst/>
          </a:prstGeom>
          <a:noFill/>
        </p:spPr>
        <p:txBody>
          <a:bodyPr wrap="none" rtlCol="0">
            <a:spAutoFit/>
          </a:bodyPr>
          <a:lstStyle/>
          <a:p>
            <a:pPr algn="ctr"/>
            <a:r>
              <a:rPr lang="en-GB" sz="3200" b="1" dirty="0" smtClean="0">
                <a:solidFill>
                  <a:schemeClr val="accent2"/>
                </a:solidFill>
              </a:rPr>
              <a:t>RED</a:t>
            </a:r>
            <a:endParaRPr lang="en-GB" sz="3200" b="1" dirty="0">
              <a:solidFill>
                <a:schemeClr val="accent2"/>
              </a:solidFill>
            </a:endParaRPr>
          </a:p>
        </p:txBody>
      </p:sp>
      <p:sp>
        <p:nvSpPr>
          <p:cNvPr id="152" name="TextBox 151"/>
          <p:cNvSpPr txBox="1"/>
          <p:nvPr/>
        </p:nvSpPr>
        <p:spPr>
          <a:xfrm>
            <a:off x="238092" y="5274246"/>
            <a:ext cx="1939955" cy="584775"/>
          </a:xfrm>
          <a:prstGeom prst="rect">
            <a:avLst/>
          </a:prstGeom>
          <a:noFill/>
        </p:spPr>
        <p:txBody>
          <a:bodyPr wrap="none" rtlCol="0">
            <a:spAutoFit/>
          </a:bodyPr>
          <a:lstStyle/>
          <a:p>
            <a:pPr algn="ctr"/>
            <a:r>
              <a:rPr lang="en-GB" sz="3200" b="1" dirty="0" smtClean="0">
                <a:solidFill>
                  <a:schemeClr val="accent2"/>
                </a:solidFill>
              </a:rPr>
              <a:t>YELLOW</a:t>
            </a:r>
            <a:endParaRPr lang="en-GB" sz="3200" b="1" dirty="0">
              <a:solidFill>
                <a:schemeClr val="accent2"/>
              </a:solidFill>
            </a:endParaRPr>
          </a:p>
        </p:txBody>
      </p:sp>
      <p:sp>
        <p:nvSpPr>
          <p:cNvPr id="153" name="TextBox 152"/>
          <p:cNvSpPr txBox="1"/>
          <p:nvPr/>
        </p:nvSpPr>
        <p:spPr>
          <a:xfrm>
            <a:off x="2141505" y="5274246"/>
            <a:ext cx="1051891" cy="584775"/>
          </a:xfrm>
          <a:prstGeom prst="rect">
            <a:avLst/>
          </a:prstGeom>
          <a:noFill/>
        </p:spPr>
        <p:txBody>
          <a:bodyPr wrap="none" rtlCol="0">
            <a:spAutoFit/>
          </a:bodyPr>
          <a:lstStyle/>
          <a:p>
            <a:pPr algn="ctr"/>
            <a:r>
              <a:rPr lang="en-GB" sz="3200" b="1" dirty="0" smtClean="0">
                <a:solidFill>
                  <a:srgbClr val="00B050"/>
                </a:solidFill>
              </a:rPr>
              <a:t>RED</a:t>
            </a:r>
            <a:endParaRPr lang="en-GB" sz="3200" b="1" dirty="0">
              <a:solidFill>
                <a:srgbClr val="00B050"/>
              </a:solidFill>
            </a:endParaRPr>
          </a:p>
        </p:txBody>
      </p:sp>
      <p:sp>
        <p:nvSpPr>
          <p:cNvPr id="154" name="TextBox 153"/>
          <p:cNvSpPr txBox="1"/>
          <p:nvPr/>
        </p:nvSpPr>
        <p:spPr>
          <a:xfrm>
            <a:off x="4154522" y="5274246"/>
            <a:ext cx="1620957" cy="584775"/>
          </a:xfrm>
          <a:prstGeom prst="rect">
            <a:avLst/>
          </a:prstGeom>
          <a:noFill/>
        </p:spPr>
        <p:txBody>
          <a:bodyPr wrap="none" rtlCol="0">
            <a:spAutoFit/>
          </a:bodyPr>
          <a:lstStyle/>
          <a:p>
            <a:pPr algn="ctr"/>
            <a:r>
              <a:rPr lang="en-GB" sz="3200" b="1" dirty="0" smtClean="0">
                <a:solidFill>
                  <a:srgbClr val="FFFF00"/>
                </a:solidFill>
              </a:rPr>
              <a:t>BLACK</a:t>
            </a:r>
            <a:endParaRPr lang="en-GB" sz="3200" b="1" dirty="0">
              <a:solidFill>
                <a:srgbClr val="FFFF00"/>
              </a:solidFill>
            </a:endParaRPr>
          </a:p>
        </p:txBody>
      </p:sp>
      <p:sp>
        <p:nvSpPr>
          <p:cNvPr id="155" name="TextBox 154"/>
          <p:cNvSpPr txBox="1"/>
          <p:nvPr/>
        </p:nvSpPr>
        <p:spPr>
          <a:xfrm>
            <a:off x="238092" y="5917188"/>
            <a:ext cx="1645002" cy="584775"/>
          </a:xfrm>
          <a:prstGeom prst="rect">
            <a:avLst/>
          </a:prstGeom>
          <a:noFill/>
        </p:spPr>
        <p:txBody>
          <a:bodyPr wrap="none" rtlCol="0">
            <a:spAutoFit/>
          </a:bodyPr>
          <a:lstStyle/>
          <a:p>
            <a:pPr algn="ctr"/>
            <a:r>
              <a:rPr lang="en-GB" sz="3200" b="1" dirty="0" smtClean="0">
                <a:solidFill>
                  <a:srgbClr val="FFFF00"/>
                </a:solidFill>
              </a:rPr>
              <a:t>GREEN</a:t>
            </a:r>
            <a:endParaRPr lang="en-GB" sz="3200" b="1" dirty="0">
              <a:solidFill>
                <a:srgbClr val="FFFF00"/>
              </a:solidFill>
            </a:endParaRPr>
          </a:p>
        </p:txBody>
      </p:sp>
      <p:sp>
        <p:nvSpPr>
          <p:cNvPr id="156" name="TextBox 155"/>
          <p:cNvSpPr txBox="1"/>
          <p:nvPr/>
        </p:nvSpPr>
        <p:spPr>
          <a:xfrm>
            <a:off x="2141505" y="5917188"/>
            <a:ext cx="1939955" cy="584775"/>
          </a:xfrm>
          <a:prstGeom prst="rect">
            <a:avLst/>
          </a:prstGeom>
          <a:noFill/>
        </p:spPr>
        <p:txBody>
          <a:bodyPr wrap="none" rtlCol="0">
            <a:spAutoFit/>
          </a:bodyPr>
          <a:lstStyle/>
          <a:p>
            <a:pPr algn="ctr"/>
            <a:r>
              <a:rPr lang="en-GB" sz="3200" b="1" dirty="0" smtClean="0">
                <a:solidFill>
                  <a:srgbClr val="FF0000"/>
                </a:solidFill>
              </a:rPr>
              <a:t>YELLOW</a:t>
            </a:r>
            <a:endParaRPr lang="en-GB" sz="3200" b="1" dirty="0">
              <a:solidFill>
                <a:srgbClr val="FF0000"/>
              </a:solidFill>
            </a:endParaRPr>
          </a:p>
        </p:txBody>
      </p:sp>
      <p:sp>
        <p:nvSpPr>
          <p:cNvPr id="157" name="TextBox 156"/>
          <p:cNvSpPr txBox="1"/>
          <p:nvPr/>
        </p:nvSpPr>
        <p:spPr>
          <a:xfrm>
            <a:off x="4154522" y="5917188"/>
            <a:ext cx="1301959" cy="584775"/>
          </a:xfrm>
          <a:prstGeom prst="rect">
            <a:avLst/>
          </a:prstGeom>
          <a:noFill/>
        </p:spPr>
        <p:txBody>
          <a:bodyPr wrap="none" rtlCol="0">
            <a:spAutoFit/>
          </a:bodyPr>
          <a:lstStyle/>
          <a:p>
            <a:pPr algn="ctr"/>
            <a:r>
              <a:rPr lang="en-GB" sz="3200" b="1" dirty="0" smtClean="0"/>
              <a:t>BLUE</a:t>
            </a:r>
            <a:endParaRPr lang="en-GB" sz="3200" b="1" dirty="0"/>
          </a:p>
        </p:txBody>
      </p:sp>
      <p:sp>
        <p:nvSpPr>
          <p:cNvPr id="158" name="TextBox 157"/>
          <p:cNvSpPr txBox="1"/>
          <p:nvPr/>
        </p:nvSpPr>
        <p:spPr>
          <a:xfrm>
            <a:off x="166654" y="4071942"/>
            <a:ext cx="5572164" cy="2616101"/>
          </a:xfrm>
          <a:prstGeom prst="rect">
            <a:avLst/>
          </a:prstGeom>
          <a:solidFill>
            <a:schemeClr val="bg1"/>
          </a:solidFill>
        </p:spPr>
        <p:txBody>
          <a:bodyPr wrap="square" rtlCol="0">
            <a:spAutoFit/>
          </a:bodyPr>
          <a:lstStyle/>
          <a:p>
            <a:endParaRPr lang="en-GB" sz="3600" b="1" dirty="0" smtClean="0">
              <a:solidFill>
                <a:srgbClr val="FF0000"/>
              </a:solidFill>
            </a:endParaRPr>
          </a:p>
          <a:p>
            <a:endParaRPr lang="en-GB" sz="3600" b="1" dirty="0" smtClean="0">
              <a:solidFill>
                <a:srgbClr val="FF0000"/>
              </a:solidFill>
            </a:endParaRPr>
          </a:p>
          <a:p>
            <a:r>
              <a:rPr lang="en-GB" sz="3600" b="1" dirty="0" smtClean="0">
                <a:solidFill>
                  <a:srgbClr val="FF0000"/>
                </a:solidFill>
              </a:rPr>
              <a:t>   </a:t>
            </a:r>
            <a:r>
              <a:rPr lang="en-GB" sz="3200" b="1" dirty="0" smtClean="0">
                <a:solidFill>
                  <a:srgbClr val="FF0000"/>
                </a:solidFill>
              </a:rPr>
              <a:t> CLICK</a:t>
            </a:r>
            <a:r>
              <a:rPr lang="en-GB" sz="3200" b="1" dirty="0" smtClean="0"/>
              <a:t> </a:t>
            </a:r>
            <a:r>
              <a:rPr lang="en-GB" sz="3200" b="1" dirty="0" smtClean="0">
                <a:solidFill>
                  <a:srgbClr val="0070C0"/>
                </a:solidFill>
              </a:rPr>
              <a:t>FOR</a:t>
            </a:r>
            <a:r>
              <a:rPr lang="en-GB" sz="3200" b="1" dirty="0" smtClean="0"/>
              <a:t> </a:t>
            </a:r>
            <a:r>
              <a:rPr lang="en-GB" sz="3200" b="1" dirty="0" err="1" smtClean="0">
                <a:solidFill>
                  <a:srgbClr val="00B050"/>
                </a:solidFill>
              </a:rPr>
              <a:t>STROOP</a:t>
            </a:r>
            <a:endParaRPr lang="en-GB" sz="2800" b="1" dirty="0" smtClean="0">
              <a:solidFill>
                <a:srgbClr val="00B050"/>
              </a:solidFill>
            </a:endParaRPr>
          </a:p>
          <a:p>
            <a:endParaRPr lang="en-GB" sz="2800" b="1" dirty="0" smtClean="0">
              <a:solidFill>
                <a:srgbClr val="00B050"/>
              </a:solidFill>
            </a:endParaRPr>
          </a:p>
          <a:p>
            <a:endParaRPr lang="en-GB" sz="2800" b="1" dirty="0">
              <a:solidFill>
                <a:srgbClr val="00B05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5"/>
          <p:cNvGrpSpPr/>
          <p:nvPr/>
        </p:nvGrpSpPr>
        <p:grpSpPr>
          <a:xfrm>
            <a:off x="5834082" y="1500174"/>
            <a:ext cx="3762388" cy="5111754"/>
            <a:chOff x="727075" y="1065213"/>
            <a:chExt cx="6130925" cy="6975475"/>
          </a:xfrm>
        </p:grpSpPr>
        <p:sp>
          <p:nvSpPr>
            <p:cNvPr id="107"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08"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09"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10"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1"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12"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13"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14"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15"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16"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17"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18"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19"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0"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1"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22"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3"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4"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25"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6"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7"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28"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3" name="Group 8930"/>
            <p:cNvGrpSpPr>
              <a:grpSpLocks/>
            </p:cNvGrpSpPr>
            <p:nvPr/>
          </p:nvGrpSpPr>
          <p:grpSpPr bwMode="auto">
            <a:xfrm>
              <a:off x="1268447" y="5702275"/>
              <a:ext cx="1757351" cy="438148"/>
              <a:chOff x="799" y="3592"/>
              <a:chExt cx="1107" cy="276"/>
            </a:xfrm>
          </p:grpSpPr>
          <p:sp>
            <p:nvSpPr>
              <p:cNvPr id="195"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96"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30"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1"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2"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33"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4"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5"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36"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7"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38"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39"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40"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41"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42"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43"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44"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45"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46"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4" name="Group 226"/>
            <p:cNvGrpSpPr>
              <a:grpSpLocks/>
            </p:cNvGrpSpPr>
            <p:nvPr/>
          </p:nvGrpSpPr>
          <p:grpSpPr bwMode="auto">
            <a:xfrm>
              <a:off x="1854230" y="7472328"/>
              <a:ext cx="1757352" cy="471484"/>
              <a:chOff x="1420813" y="7910559"/>
              <a:chExt cx="1757362" cy="471485"/>
            </a:xfrm>
          </p:grpSpPr>
          <p:sp>
            <p:nvSpPr>
              <p:cNvPr id="193"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94"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5" name="Group 88"/>
            <p:cNvGrpSpPr>
              <a:grpSpLocks/>
            </p:cNvGrpSpPr>
            <p:nvPr/>
          </p:nvGrpSpPr>
          <p:grpSpPr bwMode="auto">
            <a:xfrm>
              <a:off x="727075" y="2798720"/>
              <a:ext cx="612772" cy="349249"/>
              <a:chOff x="5364189" y="6450033"/>
              <a:chExt cx="612776" cy="349251"/>
            </a:xfrm>
          </p:grpSpPr>
          <p:sp>
            <p:nvSpPr>
              <p:cNvPr id="19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6" name="Group 89"/>
            <p:cNvGrpSpPr>
              <a:grpSpLocks/>
            </p:cNvGrpSpPr>
            <p:nvPr/>
          </p:nvGrpSpPr>
          <p:grpSpPr bwMode="auto">
            <a:xfrm>
              <a:off x="6240505" y="4514821"/>
              <a:ext cx="612772" cy="349249"/>
              <a:chOff x="5364189" y="6450033"/>
              <a:chExt cx="612776" cy="349251"/>
            </a:xfrm>
          </p:grpSpPr>
          <p:sp>
            <p:nvSpPr>
              <p:cNvPr id="18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7" name="Group 93"/>
            <p:cNvGrpSpPr>
              <a:grpSpLocks/>
            </p:cNvGrpSpPr>
            <p:nvPr/>
          </p:nvGrpSpPr>
          <p:grpSpPr bwMode="auto">
            <a:xfrm>
              <a:off x="6245228" y="3273386"/>
              <a:ext cx="612772" cy="349249"/>
              <a:chOff x="5364189" y="6450033"/>
              <a:chExt cx="612776" cy="349251"/>
            </a:xfrm>
          </p:grpSpPr>
          <p:sp>
            <p:nvSpPr>
              <p:cNvPr id="18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8" name="Group 97"/>
            <p:cNvGrpSpPr>
              <a:grpSpLocks/>
            </p:cNvGrpSpPr>
            <p:nvPr/>
          </p:nvGrpSpPr>
          <p:grpSpPr bwMode="auto">
            <a:xfrm>
              <a:off x="5729326" y="2324053"/>
              <a:ext cx="612772" cy="349249"/>
              <a:chOff x="5364189" y="6450033"/>
              <a:chExt cx="612776" cy="349251"/>
            </a:xfrm>
          </p:grpSpPr>
          <p:sp>
            <p:nvSpPr>
              <p:cNvPr id="18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9" name="Group 101"/>
            <p:cNvGrpSpPr>
              <a:grpSpLocks/>
            </p:cNvGrpSpPr>
            <p:nvPr/>
          </p:nvGrpSpPr>
          <p:grpSpPr bwMode="auto">
            <a:xfrm>
              <a:off x="3867174" y="2324053"/>
              <a:ext cx="612772" cy="349249"/>
              <a:chOff x="5364189" y="6450033"/>
              <a:chExt cx="612776" cy="349251"/>
            </a:xfrm>
          </p:grpSpPr>
          <p:sp>
            <p:nvSpPr>
              <p:cNvPr id="17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0" name="Group 105"/>
            <p:cNvGrpSpPr>
              <a:grpSpLocks/>
            </p:cNvGrpSpPr>
            <p:nvPr/>
          </p:nvGrpSpPr>
          <p:grpSpPr bwMode="auto">
            <a:xfrm>
              <a:off x="3794148" y="3090822"/>
              <a:ext cx="612772" cy="349249"/>
              <a:chOff x="5364189" y="6450033"/>
              <a:chExt cx="612776" cy="349251"/>
            </a:xfrm>
          </p:grpSpPr>
          <p:sp>
            <p:nvSpPr>
              <p:cNvPr id="17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1" name="Group 109"/>
            <p:cNvGrpSpPr>
              <a:grpSpLocks/>
            </p:cNvGrpSpPr>
            <p:nvPr/>
          </p:nvGrpSpPr>
          <p:grpSpPr bwMode="auto">
            <a:xfrm>
              <a:off x="3794148" y="4989488"/>
              <a:ext cx="612772" cy="349249"/>
              <a:chOff x="5364189" y="6450033"/>
              <a:chExt cx="612776" cy="349251"/>
            </a:xfrm>
          </p:grpSpPr>
          <p:sp>
            <p:nvSpPr>
              <p:cNvPr id="17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2" name="Group 113"/>
            <p:cNvGrpSpPr>
              <a:grpSpLocks/>
            </p:cNvGrpSpPr>
            <p:nvPr/>
          </p:nvGrpSpPr>
          <p:grpSpPr bwMode="auto">
            <a:xfrm>
              <a:off x="800101" y="4040155"/>
              <a:ext cx="612772" cy="349249"/>
              <a:chOff x="5364189" y="6450033"/>
              <a:chExt cx="612776" cy="349251"/>
            </a:xfrm>
          </p:grpSpPr>
          <p:sp>
            <p:nvSpPr>
              <p:cNvPr id="16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3" name="Group 117"/>
            <p:cNvGrpSpPr>
              <a:grpSpLocks/>
            </p:cNvGrpSpPr>
            <p:nvPr/>
          </p:nvGrpSpPr>
          <p:grpSpPr bwMode="auto">
            <a:xfrm>
              <a:off x="1092203" y="5829282"/>
              <a:ext cx="612772" cy="349249"/>
              <a:chOff x="5364189" y="6450033"/>
              <a:chExt cx="612776" cy="349251"/>
            </a:xfrm>
          </p:grpSpPr>
          <p:sp>
            <p:nvSpPr>
              <p:cNvPr id="16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 name="Group 121"/>
            <p:cNvGrpSpPr>
              <a:grpSpLocks/>
            </p:cNvGrpSpPr>
            <p:nvPr/>
          </p:nvGrpSpPr>
          <p:grpSpPr bwMode="auto">
            <a:xfrm>
              <a:off x="1676407" y="7691435"/>
              <a:ext cx="612772" cy="349249"/>
              <a:chOff x="5364189" y="6450033"/>
              <a:chExt cx="612776" cy="349251"/>
            </a:xfrm>
          </p:grpSpPr>
          <p:sp>
            <p:nvSpPr>
              <p:cNvPr id="16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 name="Group 125"/>
            <p:cNvGrpSpPr>
              <a:grpSpLocks/>
            </p:cNvGrpSpPr>
            <p:nvPr/>
          </p:nvGrpSpPr>
          <p:grpSpPr bwMode="auto">
            <a:xfrm>
              <a:off x="727075" y="1338208"/>
              <a:ext cx="612772" cy="349249"/>
              <a:chOff x="5364189" y="6450033"/>
              <a:chExt cx="612776" cy="349251"/>
            </a:xfrm>
          </p:grpSpPr>
          <p:sp>
            <p:nvSpPr>
              <p:cNvPr id="16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59"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54274" name="Rectangle 2"/>
          <p:cNvSpPr>
            <a:spLocks noGrp="1" noChangeArrowheads="1"/>
          </p:cNvSpPr>
          <p:nvPr>
            <p:ph type="title"/>
          </p:nvPr>
        </p:nvSpPr>
        <p:spPr>
          <a:xfrm>
            <a:off x="0" y="0"/>
            <a:ext cx="9906000" cy="1700213"/>
          </a:xfrm>
        </p:spPr>
        <p:txBody>
          <a:bodyPr/>
          <a:lstStyle/>
          <a:p>
            <a:pPr eaLnBrk="1" hangingPunct="1"/>
            <a:r>
              <a:rPr lang="en-GB" sz="3200" b="1" dirty="0" smtClean="0"/>
              <a:t>THE CONTINUOUS BEHAVIOUR PHASE</a:t>
            </a:r>
            <a:endParaRPr lang="en-US" sz="3200" b="1" dirty="0" smtClean="0"/>
          </a:p>
        </p:txBody>
      </p:sp>
      <p:sp>
        <p:nvSpPr>
          <p:cNvPr id="54275" name="Rectangle 224"/>
          <p:cNvSpPr>
            <a:spLocks noChangeArrowheads="1"/>
          </p:cNvSpPr>
          <p:nvPr/>
        </p:nvSpPr>
        <p:spPr bwMode="auto">
          <a:xfrm>
            <a:off x="0" y="1714488"/>
            <a:ext cx="5453066" cy="5084762"/>
          </a:xfrm>
          <a:prstGeom prst="rect">
            <a:avLst/>
          </a:prstGeom>
          <a:noFill/>
          <a:ln w="9525">
            <a:noFill/>
            <a:miter lim="800000"/>
            <a:headEnd/>
            <a:tailEnd/>
          </a:ln>
        </p:spPr>
        <p:txBody>
          <a:bodyPr/>
          <a:lstStyle/>
          <a:p>
            <a:pPr marL="342900" indent="-342900">
              <a:spcBef>
                <a:spcPct val="20000"/>
              </a:spcBef>
              <a:buFontTx/>
              <a:buChar char="•"/>
            </a:pPr>
            <a:r>
              <a:rPr lang="en-GB" sz="2400" b="1" dirty="0" smtClean="0"/>
              <a:t>Note that the output stream has now become </a:t>
            </a:r>
            <a:r>
              <a:rPr lang="en-GB" sz="2400" b="1" dirty="0" smtClean="0">
                <a:solidFill>
                  <a:srgbClr val="FF0000"/>
                </a:solidFill>
              </a:rPr>
              <a:t>time-extensive</a:t>
            </a:r>
            <a:r>
              <a:rPr lang="en-GB" sz="2400" b="1" dirty="0" smtClean="0"/>
              <a:t>. Each spatially located set of </a:t>
            </a:r>
            <a:r>
              <a:rPr lang="en-GB" sz="2400" b="1" dirty="0" err="1" smtClean="0"/>
              <a:t>ACTEMEs</a:t>
            </a:r>
            <a:r>
              <a:rPr lang="en-GB" sz="2400" b="1" dirty="0" smtClean="0"/>
              <a:t> will, if activated one at a time, generate a sequence of motor actions.</a:t>
            </a:r>
          </a:p>
          <a:p>
            <a:pPr marL="342900" indent="-342900">
              <a:spcBef>
                <a:spcPct val="20000"/>
              </a:spcBef>
              <a:buFontTx/>
              <a:buChar char="•"/>
            </a:pPr>
            <a:endParaRPr lang="en-GB" sz="2400" b="1" dirty="0" smtClean="0">
              <a:solidFill>
                <a:schemeClr val="bg1">
                  <a:lumMod val="50000"/>
                </a:schemeClr>
              </a:solidFill>
            </a:endParaRPr>
          </a:p>
          <a:p>
            <a:pPr marL="342900" indent="-342900">
              <a:spcBef>
                <a:spcPct val="20000"/>
              </a:spcBef>
              <a:buFontTx/>
              <a:buChar char="•"/>
            </a:pPr>
            <a:r>
              <a:rPr lang="en-GB" sz="2400" b="1" dirty="0" smtClean="0">
                <a:solidFill>
                  <a:schemeClr val="bg1">
                    <a:lumMod val="50000"/>
                  </a:schemeClr>
                </a:solidFill>
              </a:rPr>
              <a:t>Readers familiar with </a:t>
            </a:r>
            <a:r>
              <a:rPr lang="en-GB" sz="2400" b="1" dirty="0" err="1" smtClean="0">
                <a:solidFill>
                  <a:schemeClr val="bg1">
                    <a:lumMod val="50000"/>
                  </a:schemeClr>
                </a:solidFill>
              </a:rPr>
              <a:t>Lashley’s</a:t>
            </a:r>
            <a:r>
              <a:rPr lang="en-GB" sz="2400" b="1" dirty="0" smtClean="0">
                <a:solidFill>
                  <a:schemeClr val="bg1">
                    <a:lumMod val="50000"/>
                  </a:schemeClr>
                </a:solidFill>
              </a:rPr>
              <a:t> (1950) paper “The Problem of Serial Order in Behaviour” will appreciate the value of this mechanism.</a:t>
            </a:r>
          </a:p>
        </p:txBody>
      </p:sp>
      <p:sp>
        <p:nvSpPr>
          <p:cNvPr id="98" name="TextBox 97"/>
          <p:cNvSpPr txBox="1"/>
          <p:nvPr/>
        </p:nvSpPr>
        <p:spPr>
          <a:xfrm>
            <a:off x="8167710" y="2357430"/>
            <a:ext cx="642942" cy="276999"/>
          </a:xfrm>
          <a:prstGeom prst="rect">
            <a:avLst/>
          </a:prstGeom>
          <a:solidFill>
            <a:schemeClr val="bg1"/>
          </a:solidFill>
        </p:spPr>
        <p:txBody>
          <a:bodyPr wrap="square" rtlCol="0">
            <a:spAutoFit/>
          </a:bodyPr>
          <a:lstStyle/>
          <a:p>
            <a:r>
              <a:rPr lang="en-GB" sz="1200" b="1" dirty="0" err="1" smtClean="0"/>
              <a:t>DRAN</a:t>
            </a:r>
            <a:endParaRPr lang="en-GB" sz="1200" b="1" dirty="0"/>
          </a:p>
        </p:txBody>
      </p:sp>
      <p:sp>
        <p:nvSpPr>
          <p:cNvPr id="100" name="Striped Right Arrow 99"/>
          <p:cNvSpPr/>
          <p:nvPr/>
        </p:nvSpPr>
        <p:spPr bwMode="auto">
          <a:xfrm>
            <a:off x="7453330"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01" name="TextBox 100"/>
          <p:cNvSpPr txBox="1"/>
          <p:nvPr/>
        </p:nvSpPr>
        <p:spPr>
          <a:xfrm>
            <a:off x="7881958" y="3214686"/>
            <a:ext cx="642942" cy="276999"/>
          </a:xfrm>
          <a:prstGeom prst="rect">
            <a:avLst/>
          </a:prstGeom>
          <a:solidFill>
            <a:schemeClr val="bg1"/>
          </a:solidFill>
        </p:spPr>
        <p:txBody>
          <a:bodyPr wrap="square" rtlCol="0">
            <a:spAutoFit/>
          </a:bodyPr>
          <a:lstStyle/>
          <a:p>
            <a:r>
              <a:rPr lang="en-GB" sz="1200" b="1" dirty="0" err="1" smtClean="0"/>
              <a:t>TTAC</a:t>
            </a:r>
            <a:endParaRPr lang="en-GB" sz="1200" b="1" dirty="0"/>
          </a:p>
        </p:txBody>
      </p:sp>
      <p:sp>
        <p:nvSpPr>
          <p:cNvPr id="102" name="Striped Right Arrow 101"/>
          <p:cNvSpPr/>
          <p:nvPr/>
        </p:nvSpPr>
        <p:spPr bwMode="auto">
          <a:xfrm rot="5400000">
            <a:off x="8386993" y="2281023"/>
            <a:ext cx="775880" cy="1500198"/>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05" name="TextBox 104"/>
          <p:cNvSpPr txBox="1"/>
          <p:nvPr/>
        </p:nvSpPr>
        <p:spPr>
          <a:xfrm>
            <a:off x="8882090" y="3214686"/>
            <a:ext cx="642942" cy="276999"/>
          </a:xfrm>
          <a:prstGeom prst="rect">
            <a:avLst/>
          </a:prstGeom>
          <a:solidFill>
            <a:schemeClr val="bg1"/>
          </a:solidFill>
        </p:spPr>
        <p:txBody>
          <a:bodyPr wrap="square" rtlCol="0">
            <a:spAutoFit/>
          </a:bodyPr>
          <a:lstStyle/>
          <a:p>
            <a:r>
              <a:rPr lang="en-GB" sz="1200" b="1" dirty="0" err="1" smtClean="0"/>
              <a:t>BREL</a:t>
            </a:r>
            <a:endParaRPr lang="en-GB" sz="1200" b="1" dirty="0"/>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5"/>
          <p:cNvGrpSpPr/>
          <p:nvPr/>
        </p:nvGrpSpPr>
        <p:grpSpPr>
          <a:xfrm>
            <a:off x="5834082" y="1500174"/>
            <a:ext cx="3762388" cy="5111754"/>
            <a:chOff x="727075" y="1065213"/>
            <a:chExt cx="6130925" cy="6975475"/>
          </a:xfrm>
        </p:grpSpPr>
        <p:sp>
          <p:nvSpPr>
            <p:cNvPr id="107"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08"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09"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10"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1"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12"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13"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14"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15"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16"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17"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18"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19"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0"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1"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22"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23"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4"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25"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6"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7"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28"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3" name="Group 8930"/>
            <p:cNvGrpSpPr>
              <a:grpSpLocks/>
            </p:cNvGrpSpPr>
            <p:nvPr/>
          </p:nvGrpSpPr>
          <p:grpSpPr bwMode="auto">
            <a:xfrm>
              <a:off x="1268447" y="5702275"/>
              <a:ext cx="1757351" cy="438148"/>
              <a:chOff x="799" y="3592"/>
              <a:chExt cx="1107" cy="276"/>
            </a:xfrm>
          </p:grpSpPr>
          <p:sp>
            <p:nvSpPr>
              <p:cNvPr id="195"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96"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30"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1"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2"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33"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4"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5"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36"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7"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38"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39"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40"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41"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42"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43"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44"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45"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46"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4" name="Group 226"/>
            <p:cNvGrpSpPr>
              <a:grpSpLocks/>
            </p:cNvGrpSpPr>
            <p:nvPr/>
          </p:nvGrpSpPr>
          <p:grpSpPr bwMode="auto">
            <a:xfrm>
              <a:off x="1854230" y="7472328"/>
              <a:ext cx="1757352" cy="471484"/>
              <a:chOff x="1420813" y="7910559"/>
              <a:chExt cx="1757362" cy="471485"/>
            </a:xfrm>
          </p:grpSpPr>
          <p:sp>
            <p:nvSpPr>
              <p:cNvPr id="193"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94"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5" name="Group 88"/>
            <p:cNvGrpSpPr>
              <a:grpSpLocks/>
            </p:cNvGrpSpPr>
            <p:nvPr/>
          </p:nvGrpSpPr>
          <p:grpSpPr bwMode="auto">
            <a:xfrm>
              <a:off x="727075" y="2798720"/>
              <a:ext cx="612772" cy="349249"/>
              <a:chOff x="5364189" y="6450033"/>
              <a:chExt cx="612776" cy="349251"/>
            </a:xfrm>
          </p:grpSpPr>
          <p:sp>
            <p:nvSpPr>
              <p:cNvPr id="19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9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6" name="Group 89"/>
            <p:cNvGrpSpPr>
              <a:grpSpLocks/>
            </p:cNvGrpSpPr>
            <p:nvPr/>
          </p:nvGrpSpPr>
          <p:grpSpPr bwMode="auto">
            <a:xfrm>
              <a:off x="6240505" y="4514821"/>
              <a:ext cx="612772" cy="349249"/>
              <a:chOff x="5364189" y="6450033"/>
              <a:chExt cx="612776" cy="349251"/>
            </a:xfrm>
          </p:grpSpPr>
          <p:sp>
            <p:nvSpPr>
              <p:cNvPr id="18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7" name="Group 93"/>
            <p:cNvGrpSpPr>
              <a:grpSpLocks/>
            </p:cNvGrpSpPr>
            <p:nvPr/>
          </p:nvGrpSpPr>
          <p:grpSpPr bwMode="auto">
            <a:xfrm>
              <a:off x="6245228" y="3273386"/>
              <a:ext cx="612772" cy="349249"/>
              <a:chOff x="5364189" y="6450033"/>
              <a:chExt cx="612776" cy="349251"/>
            </a:xfrm>
          </p:grpSpPr>
          <p:sp>
            <p:nvSpPr>
              <p:cNvPr id="18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8" name="Group 97"/>
            <p:cNvGrpSpPr>
              <a:grpSpLocks/>
            </p:cNvGrpSpPr>
            <p:nvPr/>
          </p:nvGrpSpPr>
          <p:grpSpPr bwMode="auto">
            <a:xfrm>
              <a:off x="5729326" y="2324053"/>
              <a:ext cx="612772" cy="349249"/>
              <a:chOff x="5364189" y="6450033"/>
              <a:chExt cx="612776" cy="349251"/>
            </a:xfrm>
          </p:grpSpPr>
          <p:sp>
            <p:nvSpPr>
              <p:cNvPr id="18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9" name="Group 101"/>
            <p:cNvGrpSpPr>
              <a:grpSpLocks/>
            </p:cNvGrpSpPr>
            <p:nvPr/>
          </p:nvGrpSpPr>
          <p:grpSpPr bwMode="auto">
            <a:xfrm>
              <a:off x="3867174" y="2324053"/>
              <a:ext cx="612772" cy="349249"/>
              <a:chOff x="5364189" y="6450033"/>
              <a:chExt cx="612776" cy="349251"/>
            </a:xfrm>
          </p:grpSpPr>
          <p:sp>
            <p:nvSpPr>
              <p:cNvPr id="17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0" name="Group 105"/>
            <p:cNvGrpSpPr>
              <a:grpSpLocks/>
            </p:cNvGrpSpPr>
            <p:nvPr/>
          </p:nvGrpSpPr>
          <p:grpSpPr bwMode="auto">
            <a:xfrm>
              <a:off x="3794148" y="3090822"/>
              <a:ext cx="612772" cy="349249"/>
              <a:chOff x="5364189" y="6450033"/>
              <a:chExt cx="612776" cy="349251"/>
            </a:xfrm>
          </p:grpSpPr>
          <p:sp>
            <p:nvSpPr>
              <p:cNvPr id="17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1" name="Group 109"/>
            <p:cNvGrpSpPr>
              <a:grpSpLocks/>
            </p:cNvGrpSpPr>
            <p:nvPr/>
          </p:nvGrpSpPr>
          <p:grpSpPr bwMode="auto">
            <a:xfrm>
              <a:off x="3794148" y="4989488"/>
              <a:ext cx="612772" cy="349249"/>
              <a:chOff x="5364189" y="6450033"/>
              <a:chExt cx="612776" cy="349251"/>
            </a:xfrm>
          </p:grpSpPr>
          <p:sp>
            <p:nvSpPr>
              <p:cNvPr id="17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2" name="Group 113"/>
            <p:cNvGrpSpPr>
              <a:grpSpLocks/>
            </p:cNvGrpSpPr>
            <p:nvPr/>
          </p:nvGrpSpPr>
          <p:grpSpPr bwMode="auto">
            <a:xfrm>
              <a:off x="800101" y="4040155"/>
              <a:ext cx="612772" cy="349249"/>
              <a:chOff x="5364189" y="6450033"/>
              <a:chExt cx="612776" cy="349251"/>
            </a:xfrm>
          </p:grpSpPr>
          <p:sp>
            <p:nvSpPr>
              <p:cNvPr id="16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3" name="Group 117"/>
            <p:cNvGrpSpPr>
              <a:grpSpLocks/>
            </p:cNvGrpSpPr>
            <p:nvPr/>
          </p:nvGrpSpPr>
          <p:grpSpPr bwMode="auto">
            <a:xfrm>
              <a:off x="1092203" y="5829282"/>
              <a:ext cx="612772" cy="349249"/>
              <a:chOff x="5364189" y="6450033"/>
              <a:chExt cx="612776" cy="349251"/>
            </a:xfrm>
          </p:grpSpPr>
          <p:sp>
            <p:nvSpPr>
              <p:cNvPr id="16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 name="Group 121"/>
            <p:cNvGrpSpPr>
              <a:grpSpLocks/>
            </p:cNvGrpSpPr>
            <p:nvPr/>
          </p:nvGrpSpPr>
          <p:grpSpPr bwMode="auto">
            <a:xfrm>
              <a:off x="1676407" y="7691435"/>
              <a:ext cx="612772" cy="349249"/>
              <a:chOff x="5364189" y="6450033"/>
              <a:chExt cx="612776" cy="349251"/>
            </a:xfrm>
          </p:grpSpPr>
          <p:sp>
            <p:nvSpPr>
              <p:cNvPr id="16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 name="Group 125"/>
            <p:cNvGrpSpPr>
              <a:grpSpLocks/>
            </p:cNvGrpSpPr>
            <p:nvPr/>
          </p:nvGrpSpPr>
          <p:grpSpPr bwMode="auto">
            <a:xfrm>
              <a:off x="727075" y="1338208"/>
              <a:ext cx="612772" cy="349249"/>
              <a:chOff x="5364189" y="6450033"/>
              <a:chExt cx="612776" cy="349251"/>
            </a:xfrm>
          </p:grpSpPr>
          <p:sp>
            <p:nvSpPr>
              <p:cNvPr id="16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59"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54274" name="Rectangle 2"/>
          <p:cNvSpPr>
            <a:spLocks noGrp="1" noChangeArrowheads="1"/>
          </p:cNvSpPr>
          <p:nvPr>
            <p:ph type="title"/>
          </p:nvPr>
        </p:nvSpPr>
        <p:spPr>
          <a:xfrm>
            <a:off x="0" y="0"/>
            <a:ext cx="9906000" cy="1700213"/>
          </a:xfrm>
        </p:spPr>
        <p:txBody>
          <a:bodyPr/>
          <a:lstStyle/>
          <a:p>
            <a:pPr eaLnBrk="1" hangingPunct="1"/>
            <a:r>
              <a:rPr lang="en-GB" sz="3200" b="1" dirty="0" smtClean="0"/>
              <a:t>THE CONTINUOUS BEHAVIOUR PHASE</a:t>
            </a:r>
            <a:endParaRPr lang="en-US" sz="3200" b="1" dirty="0" smtClean="0"/>
          </a:p>
        </p:txBody>
      </p:sp>
      <p:sp>
        <p:nvSpPr>
          <p:cNvPr id="54275" name="Rectangle 224"/>
          <p:cNvSpPr>
            <a:spLocks noChangeArrowheads="1"/>
          </p:cNvSpPr>
          <p:nvPr/>
        </p:nvSpPr>
        <p:spPr bwMode="auto">
          <a:xfrm>
            <a:off x="0" y="1773238"/>
            <a:ext cx="5453066" cy="4799034"/>
          </a:xfrm>
          <a:prstGeom prst="rect">
            <a:avLst/>
          </a:prstGeom>
          <a:noFill/>
          <a:ln w="9525">
            <a:noFill/>
            <a:miter lim="800000"/>
            <a:headEnd/>
            <a:tailEnd/>
          </a:ln>
        </p:spPr>
        <p:txBody>
          <a:bodyPr/>
          <a:lstStyle/>
          <a:p>
            <a:pPr marL="342900" indent="-342900">
              <a:spcBef>
                <a:spcPct val="20000"/>
              </a:spcBef>
              <a:buFontTx/>
              <a:buChar char="•"/>
            </a:pPr>
            <a:r>
              <a:rPr lang="en-GB" sz="2400" b="1" dirty="0" smtClean="0"/>
              <a:t>The essence of safe HAND-EYE COORDINATION is that the SEEK NEXT INPUT facility now has to be focally directed to the “</a:t>
            </a:r>
            <a:r>
              <a:rPr lang="en-GB" sz="2400" b="1" dirty="0" err="1" smtClean="0"/>
              <a:t>attentional</a:t>
            </a:r>
            <a:r>
              <a:rPr lang="en-GB" sz="2400" b="1" dirty="0" smtClean="0"/>
              <a:t> patient” of the MOTOR SCHEMA at hand, thus .....</a:t>
            </a:r>
          </a:p>
          <a:p>
            <a:pPr marL="342900" indent="-342900">
              <a:spcBef>
                <a:spcPct val="20000"/>
              </a:spcBef>
              <a:buFontTx/>
              <a:buChar char="•"/>
            </a:pPr>
            <a:endParaRPr lang="en-GB" sz="2400" b="1" dirty="0" smtClean="0"/>
          </a:p>
          <a:p>
            <a:pPr marL="342900" indent="-342900">
              <a:spcBef>
                <a:spcPct val="20000"/>
              </a:spcBef>
              <a:buFontTx/>
              <a:buChar char="•"/>
            </a:pPr>
            <a:r>
              <a:rPr lang="en-GB" sz="2400" b="1" dirty="0" smtClean="0">
                <a:solidFill>
                  <a:schemeClr val="bg1">
                    <a:lumMod val="50000"/>
                  </a:schemeClr>
                </a:solidFill>
              </a:rPr>
              <a:t>&lt;SELF&gt;&lt;SLICE&gt;</a:t>
            </a:r>
            <a:r>
              <a:rPr lang="en-GB" sz="2400" b="1" dirty="0" smtClean="0">
                <a:solidFill>
                  <a:srgbClr val="FF0000"/>
                </a:solidFill>
              </a:rPr>
              <a:t>&lt;current of focal attention&gt;</a:t>
            </a:r>
            <a:r>
              <a:rPr lang="en-GB" sz="2400" b="1" dirty="0" smtClean="0">
                <a:solidFill>
                  <a:schemeClr val="bg1">
                    <a:lumMod val="50000"/>
                  </a:schemeClr>
                </a:solidFill>
              </a:rPr>
              <a:t>&lt;[with]KNIFE&gt;</a:t>
            </a:r>
            <a:endParaRPr lang="en-GB" sz="2400" b="1" dirty="0" smtClean="0"/>
          </a:p>
        </p:txBody>
      </p:sp>
      <p:sp>
        <p:nvSpPr>
          <p:cNvPr id="98" name="TextBox 97"/>
          <p:cNvSpPr txBox="1"/>
          <p:nvPr/>
        </p:nvSpPr>
        <p:spPr>
          <a:xfrm>
            <a:off x="8167710" y="2357430"/>
            <a:ext cx="642942" cy="276999"/>
          </a:xfrm>
          <a:prstGeom prst="rect">
            <a:avLst/>
          </a:prstGeom>
          <a:solidFill>
            <a:schemeClr val="bg1"/>
          </a:solidFill>
        </p:spPr>
        <p:txBody>
          <a:bodyPr wrap="square" rtlCol="0">
            <a:spAutoFit/>
          </a:bodyPr>
          <a:lstStyle/>
          <a:p>
            <a:r>
              <a:rPr lang="en-GB" sz="1200" b="1" dirty="0" err="1" smtClean="0"/>
              <a:t>DRAN</a:t>
            </a:r>
            <a:endParaRPr lang="en-GB" sz="1200" b="1" dirty="0"/>
          </a:p>
        </p:txBody>
      </p:sp>
      <p:sp>
        <p:nvSpPr>
          <p:cNvPr id="100" name="Striped Right Arrow 99"/>
          <p:cNvSpPr/>
          <p:nvPr/>
        </p:nvSpPr>
        <p:spPr bwMode="auto">
          <a:xfrm>
            <a:off x="7453330"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01" name="TextBox 100"/>
          <p:cNvSpPr txBox="1"/>
          <p:nvPr/>
        </p:nvSpPr>
        <p:spPr>
          <a:xfrm>
            <a:off x="7881958" y="3214686"/>
            <a:ext cx="642942" cy="276999"/>
          </a:xfrm>
          <a:prstGeom prst="rect">
            <a:avLst/>
          </a:prstGeom>
          <a:solidFill>
            <a:schemeClr val="bg1"/>
          </a:solidFill>
        </p:spPr>
        <p:txBody>
          <a:bodyPr wrap="square" rtlCol="0">
            <a:spAutoFit/>
          </a:bodyPr>
          <a:lstStyle/>
          <a:p>
            <a:r>
              <a:rPr lang="en-GB" sz="1200" b="1" dirty="0" err="1" smtClean="0"/>
              <a:t>TTAC</a:t>
            </a:r>
            <a:endParaRPr lang="en-GB" sz="1200" b="1" dirty="0"/>
          </a:p>
        </p:txBody>
      </p:sp>
      <p:sp>
        <p:nvSpPr>
          <p:cNvPr id="102" name="Striped Right Arrow 101"/>
          <p:cNvSpPr/>
          <p:nvPr/>
        </p:nvSpPr>
        <p:spPr bwMode="auto">
          <a:xfrm rot="5400000">
            <a:off x="8386993" y="2281023"/>
            <a:ext cx="775880" cy="1500198"/>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05" name="TextBox 104"/>
          <p:cNvSpPr txBox="1"/>
          <p:nvPr/>
        </p:nvSpPr>
        <p:spPr>
          <a:xfrm>
            <a:off x="8882090" y="3214686"/>
            <a:ext cx="642942" cy="276999"/>
          </a:xfrm>
          <a:prstGeom prst="rect">
            <a:avLst/>
          </a:prstGeom>
          <a:solidFill>
            <a:schemeClr val="bg1"/>
          </a:solidFill>
        </p:spPr>
        <p:txBody>
          <a:bodyPr wrap="square" rtlCol="0">
            <a:spAutoFit/>
          </a:bodyPr>
          <a:lstStyle/>
          <a:p>
            <a:r>
              <a:rPr lang="en-GB" sz="1200" b="1" dirty="0" err="1" smtClean="0"/>
              <a:t>BREL</a:t>
            </a:r>
            <a:endParaRPr lang="en-GB" sz="1200" b="1" dirty="0"/>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0" y="0"/>
            <a:ext cx="9906000" cy="1700213"/>
          </a:xfrm>
        </p:spPr>
        <p:txBody>
          <a:bodyPr/>
          <a:lstStyle/>
          <a:p>
            <a:pPr eaLnBrk="1" hangingPunct="1"/>
            <a:r>
              <a:rPr lang="en-GB" sz="3200" b="1" dirty="0" smtClean="0"/>
              <a:t>THE CONTINUOUS BEHAVIOUR PHASE</a:t>
            </a:r>
            <a:endParaRPr lang="en-US" sz="3200" b="1" dirty="0" smtClean="0"/>
          </a:p>
        </p:txBody>
      </p:sp>
      <p:sp>
        <p:nvSpPr>
          <p:cNvPr id="54275" name="Rectangle 224"/>
          <p:cNvSpPr>
            <a:spLocks noChangeArrowheads="1"/>
          </p:cNvSpPr>
          <p:nvPr/>
        </p:nvSpPr>
        <p:spPr bwMode="auto">
          <a:xfrm>
            <a:off x="0" y="1773238"/>
            <a:ext cx="5310190" cy="4799034"/>
          </a:xfrm>
          <a:prstGeom prst="rect">
            <a:avLst/>
          </a:prstGeom>
          <a:noFill/>
          <a:ln w="9525">
            <a:noFill/>
            <a:miter lim="800000"/>
            <a:headEnd/>
            <a:tailEnd/>
          </a:ln>
        </p:spPr>
        <p:txBody>
          <a:bodyPr/>
          <a:lstStyle/>
          <a:p>
            <a:pPr marL="342900" indent="-342900">
              <a:spcBef>
                <a:spcPct val="20000"/>
              </a:spcBef>
              <a:buFontTx/>
              <a:buChar char="•"/>
            </a:pPr>
            <a:r>
              <a:rPr lang="en-GB" sz="2400" b="1" dirty="0" smtClean="0"/>
              <a:t>Each </a:t>
            </a:r>
            <a:r>
              <a:rPr lang="en-GB" sz="2400" b="1" dirty="0" err="1" smtClean="0"/>
              <a:t>ACTEME</a:t>
            </a:r>
            <a:r>
              <a:rPr lang="en-GB" sz="2400" b="1" dirty="0" smtClean="0"/>
              <a:t> is passed to </a:t>
            </a:r>
            <a:r>
              <a:rPr lang="en-GB" sz="2400" b="1" dirty="0" err="1" smtClean="0"/>
              <a:t>MOT1</a:t>
            </a:r>
            <a:r>
              <a:rPr lang="en-GB" sz="2400" b="1" dirty="0" smtClean="0"/>
              <a:t>, the Upper Motor Neuron Module, where it accesses a stack of identically keyed FINAL MOTOR OUTPUT  (MOTO) instructions.</a:t>
            </a:r>
          </a:p>
          <a:p>
            <a:pPr marL="342900" indent="-342900">
              <a:spcBef>
                <a:spcPct val="20000"/>
              </a:spcBef>
              <a:buFontTx/>
              <a:buChar char="•"/>
            </a:pPr>
            <a:endParaRPr lang="en-GB" sz="2400" b="1" dirty="0" smtClean="0"/>
          </a:p>
          <a:p>
            <a:pPr marL="342900" indent="-342900">
              <a:spcBef>
                <a:spcPct val="20000"/>
              </a:spcBef>
              <a:buFontTx/>
              <a:buChar char="•"/>
            </a:pPr>
            <a:r>
              <a:rPr lang="en-GB" sz="2400" b="1" dirty="0" smtClean="0"/>
              <a:t>Each MOTO directly commands a unit of composed multiple joint muscle contraction.</a:t>
            </a:r>
            <a:endParaRPr lang="en-GB" sz="2400" b="1" dirty="0"/>
          </a:p>
        </p:txBody>
      </p:sp>
      <p:grpSp>
        <p:nvGrpSpPr>
          <p:cNvPr id="98" name="Group 97"/>
          <p:cNvGrpSpPr/>
          <p:nvPr/>
        </p:nvGrpSpPr>
        <p:grpSpPr>
          <a:xfrm>
            <a:off x="5834082" y="1500174"/>
            <a:ext cx="3762388" cy="5111754"/>
            <a:chOff x="727075" y="1065213"/>
            <a:chExt cx="6130925" cy="6975475"/>
          </a:xfrm>
        </p:grpSpPr>
        <p:sp>
          <p:nvSpPr>
            <p:cNvPr id="99"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00"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01"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02"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03"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04"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05"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06"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07"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08"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09"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10"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11"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2"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13"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14"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5"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6"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17"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8"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9"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20"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121" name="Group 8930"/>
            <p:cNvGrpSpPr>
              <a:grpSpLocks/>
            </p:cNvGrpSpPr>
            <p:nvPr/>
          </p:nvGrpSpPr>
          <p:grpSpPr bwMode="auto">
            <a:xfrm>
              <a:off x="1268447" y="5702275"/>
              <a:ext cx="1757351" cy="438148"/>
              <a:chOff x="799" y="3592"/>
              <a:chExt cx="1107" cy="276"/>
            </a:xfrm>
          </p:grpSpPr>
          <p:sp>
            <p:nvSpPr>
              <p:cNvPr id="187"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88"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22"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3"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4"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5"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6"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7"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28"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9"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30"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31"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32"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3"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34"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35"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36"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37"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38"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139" name="Group 226"/>
            <p:cNvGrpSpPr>
              <a:grpSpLocks/>
            </p:cNvGrpSpPr>
            <p:nvPr/>
          </p:nvGrpSpPr>
          <p:grpSpPr bwMode="auto">
            <a:xfrm>
              <a:off x="1854230" y="7472328"/>
              <a:ext cx="1757352" cy="471484"/>
              <a:chOff x="1420813" y="7910559"/>
              <a:chExt cx="1757362" cy="471485"/>
            </a:xfrm>
          </p:grpSpPr>
          <p:sp>
            <p:nvSpPr>
              <p:cNvPr id="185"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86"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140" name="Group 88"/>
            <p:cNvGrpSpPr>
              <a:grpSpLocks/>
            </p:cNvGrpSpPr>
            <p:nvPr/>
          </p:nvGrpSpPr>
          <p:grpSpPr bwMode="auto">
            <a:xfrm>
              <a:off x="727075" y="2798720"/>
              <a:ext cx="612772" cy="349249"/>
              <a:chOff x="5364189" y="6450033"/>
              <a:chExt cx="612776" cy="349251"/>
            </a:xfrm>
          </p:grpSpPr>
          <p:sp>
            <p:nvSpPr>
              <p:cNvPr id="18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1" name="Group 89"/>
            <p:cNvGrpSpPr>
              <a:grpSpLocks/>
            </p:cNvGrpSpPr>
            <p:nvPr/>
          </p:nvGrpSpPr>
          <p:grpSpPr bwMode="auto">
            <a:xfrm>
              <a:off x="6240505" y="4514821"/>
              <a:ext cx="612772" cy="349249"/>
              <a:chOff x="5364189" y="6450033"/>
              <a:chExt cx="612776" cy="349251"/>
            </a:xfrm>
          </p:grpSpPr>
          <p:sp>
            <p:nvSpPr>
              <p:cNvPr id="17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2" name="Group 93"/>
            <p:cNvGrpSpPr>
              <a:grpSpLocks/>
            </p:cNvGrpSpPr>
            <p:nvPr/>
          </p:nvGrpSpPr>
          <p:grpSpPr bwMode="auto">
            <a:xfrm>
              <a:off x="6245228" y="3273386"/>
              <a:ext cx="612772" cy="349249"/>
              <a:chOff x="5364189" y="6450033"/>
              <a:chExt cx="612776" cy="349251"/>
            </a:xfrm>
          </p:grpSpPr>
          <p:sp>
            <p:nvSpPr>
              <p:cNvPr id="17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3" name="Group 97"/>
            <p:cNvGrpSpPr>
              <a:grpSpLocks/>
            </p:cNvGrpSpPr>
            <p:nvPr/>
          </p:nvGrpSpPr>
          <p:grpSpPr bwMode="auto">
            <a:xfrm>
              <a:off x="5729326" y="2324053"/>
              <a:ext cx="612772" cy="349249"/>
              <a:chOff x="5364189" y="6450033"/>
              <a:chExt cx="612776" cy="349251"/>
            </a:xfrm>
          </p:grpSpPr>
          <p:sp>
            <p:nvSpPr>
              <p:cNvPr id="17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4" name="Group 101"/>
            <p:cNvGrpSpPr>
              <a:grpSpLocks/>
            </p:cNvGrpSpPr>
            <p:nvPr/>
          </p:nvGrpSpPr>
          <p:grpSpPr bwMode="auto">
            <a:xfrm>
              <a:off x="3867174" y="2324053"/>
              <a:ext cx="612772" cy="349249"/>
              <a:chOff x="5364189" y="6450033"/>
              <a:chExt cx="612776" cy="349251"/>
            </a:xfrm>
          </p:grpSpPr>
          <p:sp>
            <p:nvSpPr>
              <p:cNvPr id="17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5" name="Group 105"/>
            <p:cNvGrpSpPr>
              <a:grpSpLocks/>
            </p:cNvGrpSpPr>
            <p:nvPr/>
          </p:nvGrpSpPr>
          <p:grpSpPr bwMode="auto">
            <a:xfrm>
              <a:off x="3794148" y="3090822"/>
              <a:ext cx="612772" cy="349249"/>
              <a:chOff x="5364189" y="6450033"/>
              <a:chExt cx="612776" cy="349251"/>
            </a:xfrm>
          </p:grpSpPr>
          <p:sp>
            <p:nvSpPr>
              <p:cNvPr id="16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6" name="Group 109"/>
            <p:cNvGrpSpPr>
              <a:grpSpLocks/>
            </p:cNvGrpSpPr>
            <p:nvPr/>
          </p:nvGrpSpPr>
          <p:grpSpPr bwMode="auto">
            <a:xfrm>
              <a:off x="3794148" y="4989488"/>
              <a:ext cx="612772" cy="349249"/>
              <a:chOff x="5364189" y="6450033"/>
              <a:chExt cx="612776" cy="349251"/>
            </a:xfrm>
          </p:grpSpPr>
          <p:sp>
            <p:nvSpPr>
              <p:cNvPr id="16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7" name="Group 113"/>
            <p:cNvGrpSpPr>
              <a:grpSpLocks/>
            </p:cNvGrpSpPr>
            <p:nvPr/>
          </p:nvGrpSpPr>
          <p:grpSpPr bwMode="auto">
            <a:xfrm>
              <a:off x="800101" y="4040155"/>
              <a:ext cx="612772" cy="349249"/>
              <a:chOff x="5364189" y="6450033"/>
              <a:chExt cx="612776" cy="349251"/>
            </a:xfrm>
          </p:grpSpPr>
          <p:sp>
            <p:nvSpPr>
              <p:cNvPr id="16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8" name="Group 117"/>
            <p:cNvGrpSpPr>
              <a:grpSpLocks/>
            </p:cNvGrpSpPr>
            <p:nvPr/>
          </p:nvGrpSpPr>
          <p:grpSpPr bwMode="auto">
            <a:xfrm>
              <a:off x="1092203" y="5829282"/>
              <a:ext cx="612772" cy="349249"/>
              <a:chOff x="5364189" y="6450033"/>
              <a:chExt cx="612776" cy="349251"/>
            </a:xfrm>
          </p:grpSpPr>
          <p:sp>
            <p:nvSpPr>
              <p:cNvPr id="15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9" name="Group 121"/>
            <p:cNvGrpSpPr>
              <a:grpSpLocks/>
            </p:cNvGrpSpPr>
            <p:nvPr/>
          </p:nvGrpSpPr>
          <p:grpSpPr bwMode="auto">
            <a:xfrm>
              <a:off x="1676407" y="7691435"/>
              <a:ext cx="612772" cy="349249"/>
              <a:chOff x="5364189" y="6450033"/>
              <a:chExt cx="612776" cy="349251"/>
            </a:xfrm>
          </p:grpSpPr>
          <p:sp>
            <p:nvSpPr>
              <p:cNvPr id="15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0" name="Group 125"/>
            <p:cNvGrpSpPr>
              <a:grpSpLocks/>
            </p:cNvGrpSpPr>
            <p:nvPr/>
          </p:nvGrpSpPr>
          <p:grpSpPr bwMode="auto">
            <a:xfrm>
              <a:off x="727075" y="1338208"/>
              <a:ext cx="612772" cy="349249"/>
              <a:chOff x="5364189" y="6450033"/>
              <a:chExt cx="612776" cy="349251"/>
            </a:xfrm>
          </p:grpSpPr>
          <p:sp>
            <p:nvSpPr>
              <p:cNvPr id="15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51"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193" name="Striped Right Arrow 192"/>
          <p:cNvSpPr/>
          <p:nvPr/>
        </p:nvSpPr>
        <p:spPr bwMode="auto">
          <a:xfrm rot="5400000">
            <a:off x="8922778" y="3531188"/>
            <a:ext cx="77588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5" name="TextBox 194"/>
          <p:cNvSpPr txBox="1"/>
          <p:nvPr/>
        </p:nvSpPr>
        <p:spPr>
          <a:xfrm>
            <a:off x="8882090" y="3214686"/>
            <a:ext cx="642942" cy="276999"/>
          </a:xfrm>
          <a:prstGeom prst="rect">
            <a:avLst/>
          </a:prstGeom>
          <a:solidFill>
            <a:schemeClr val="bg1"/>
          </a:solidFill>
        </p:spPr>
        <p:txBody>
          <a:bodyPr wrap="square" rtlCol="0">
            <a:spAutoFit/>
          </a:bodyPr>
          <a:lstStyle/>
          <a:p>
            <a:r>
              <a:rPr lang="en-GB" sz="1200" b="1" dirty="0" err="1" smtClean="0"/>
              <a:t>BREL</a:t>
            </a:r>
            <a:endParaRPr lang="en-GB" sz="1200" b="1" dirty="0"/>
          </a:p>
        </p:txBody>
      </p:sp>
      <p:sp>
        <p:nvSpPr>
          <p:cNvPr id="196" name="TextBox 195"/>
          <p:cNvSpPr txBox="1"/>
          <p:nvPr/>
        </p:nvSpPr>
        <p:spPr>
          <a:xfrm>
            <a:off x="8953528" y="4223571"/>
            <a:ext cx="642942" cy="276999"/>
          </a:xfrm>
          <a:prstGeom prst="rect">
            <a:avLst/>
          </a:prstGeom>
          <a:solidFill>
            <a:schemeClr val="bg1"/>
          </a:solidFill>
        </p:spPr>
        <p:txBody>
          <a:bodyPr wrap="square" rtlCol="0">
            <a:spAutoFit/>
          </a:bodyPr>
          <a:lstStyle/>
          <a:p>
            <a:r>
              <a:rPr lang="en-GB" sz="1200" b="1" dirty="0" err="1" smtClean="0"/>
              <a:t>MOT1</a:t>
            </a:r>
            <a:endParaRPr lang="en-GB" sz="1200" b="1" dirty="0"/>
          </a:p>
        </p:txBody>
      </p:sp>
      <p:sp>
        <p:nvSpPr>
          <p:cNvPr id="197" name="Striped Right Arrow 196"/>
          <p:cNvSpPr/>
          <p:nvPr/>
        </p:nvSpPr>
        <p:spPr bwMode="auto">
          <a:xfrm rot="5400000">
            <a:off x="8377134" y="5138622"/>
            <a:ext cx="2010044" cy="714380"/>
          </a:xfrm>
          <a:prstGeom prst="stripedRightArrow">
            <a:avLst/>
          </a:prstGeom>
          <a:solidFill>
            <a:schemeClr val="accent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accent2"/>
              </a:solidFill>
              <a:effectLst/>
              <a:latin typeface="Arial" charset="0"/>
            </a:endParaRP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0" y="0"/>
            <a:ext cx="9906000" cy="1700213"/>
          </a:xfrm>
        </p:spPr>
        <p:txBody>
          <a:bodyPr/>
          <a:lstStyle/>
          <a:p>
            <a:pPr eaLnBrk="1" hangingPunct="1"/>
            <a:r>
              <a:rPr lang="en-GB" sz="3200" b="1" dirty="0" smtClean="0"/>
              <a:t>THE CONTINUOUS BEHAVIOUR PHASE</a:t>
            </a:r>
            <a:endParaRPr lang="en-US" sz="3200" b="1" dirty="0" smtClean="0"/>
          </a:p>
        </p:txBody>
      </p:sp>
      <p:sp>
        <p:nvSpPr>
          <p:cNvPr id="54275" name="Rectangle 224"/>
          <p:cNvSpPr>
            <a:spLocks noChangeArrowheads="1"/>
          </p:cNvSpPr>
          <p:nvPr/>
        </p:nvSpPr>
        <p:spPr bwMode="auto">
          <a:xfrm>
            <a:off x="0" y="1773238"/>
            <a:ext cx="5238752" cy="3941762"/>
          </a:xfrm>
          <a:prstGeom prst="rect">
            <a:avLst/>
          </a:prstGeom>
          <a:noFill/>
          <a:ln w="9525">
            <a:noFill/>
            <a:miter lim="800000"/>
            <a:headEnd/>
            <a:tailEnd/>
          </a:ln>
        </p:spPr>
        <p:txBody>
          <a:bodyPr/>
          <a:lstStyle/>
          <a:p>
            <a:pPr marL="342900" indent="-342900">
              <a:spcBef>
                <a:spcPct val="20000"/>
              </a:spcBef>
              <a:buFontTx/>
              <a:buChar char="•"/>
            </a:pPr>
            <a:r>
              <a:rPr lang="en-GB" sz="2400" b="1" dirty="0" smtClean="0"/>
              <a:t>FINAL MOTOR OUTPUT is quality assured by two complementary streams of  </a:t>
            </a:r>
            <a:r>
              <a:rPr lang="en-GB" sz="2400" b="1" dirty="0" err="1" smtClean="0"/>
              <a:t>EFFERENCE</a:t>
            </a:r>
            <a:r>
              <a:rPr lang="en-GB" sz="2400" b="1" dirty="0" smtClean="0"/>
              <a:t> COPY.</a:t>
            </a:r>
          </a:p>
        </p:txBody>
      </p:sp>
      <p:grpSp>
        <p:nvGrpSpPr>
          <p:cNvPr id="98" name="Group 97"/>
          <p:cNvGrpSpPr/>
          <p:nvPr/>
        </p:nvGrpSpPr>
        <p:grpSpPr>
          <a:xfrm>
            <a:off x="5834082" y="1500174"/>
            <a:ext cx="3762388" cy="5111754"/>
            <a:chOff x="727075" y="1065213"/>
            <a:chExt cx="6130925" cy="6975475"/>
          </a:xfrm>
        </p:grpSpPr>
        <p:sp>
          <p:nvSpPr>
            <p:cNvPr id="99"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00"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01"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02"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03"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04"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05"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06"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07"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08"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09"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10"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11"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2"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13"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14"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5"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6"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17"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8"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9"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20"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121" name="Group 8930"/>
            <p:cNvGrpSpPr>
              <a:grpSpLocks/>
            </p:cNvGrpSpPr>
            <p:nvPr/>
          </p:nvGrpSpPr>
          <p:grpSpPr bwMode="auto">
            <a:xfrm>
              <a:off x="1268447" y="5702275"/>
              <a:ext cx="1757351" cy="438148"/>
              <a:chOff x="799" y="3592"/>
              <a:chExt cx="1107" cy="276"/>
            </a:xfrm>
          </p:grpSpPr>
          <p:sp>
            <p:nvSpPr>
              <p:cNvPr id="187"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88"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22"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3"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4"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5"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6"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7"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28"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9"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30"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31"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32"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3"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34"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35"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36"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37"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38"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139" name="Group 226"/>
            <p:cNvGrpSpPr>
              <a:grpSpLocks/>
            </p:cNvGrpSpPr>
            <p:nvPr/>
          </p:nvGrpSpPr>
          <p:grpSpPr bwMode="auto">
            <a:xfrm>
              <a:off x="1854230" y="7472328"/>
              <a:ext cx="1757352" cy="471484"/>
              <a:chOff x="1420813" y="7910559"/>
              <a:chExt cx="1757362" cy="471485"/>
            </a:xfrm>
          </p:grpSpPr>
          <p:sp>
            <p:nvSpPr>
              <p:cNvPr id="185"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86"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140" name="Group 88"/>
            <p:cNvGrpSpPr>
              <a:grpSpLocks/>
            </p:cNvGrpSpPr>
            <p:nvPr/>
          </p:nvGrpSpPr>
          <p:grpSpPr bwMode="auto">
            <a:xfrm>
              <a:off x="727075" y="2798720"/>
              <a:ext cx="612772" cy="349249"/>
              <a:chOff x="5364189" y="6450033"/>
              <a:chExt cx="612776" cy="349251"/>
            </a:xfrm>
          </p:grpSpPr>
          <p:sp>
            <p:nvSpPr>
              <p:cNvPr id="18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1" name="Group 89"/>
            <p:cNvGrpSpPr>
              <a:grpSpLocks/>
            </p:cNvGrpSpPr>
            <p:nvPr/>
          </p:nvGrpSpPr>
          <p:grpSpPr bwMode="auto">
            <a:xfrm>
              <a:off x="6240505" y="4514821"/>
              <a:ext cx="612772" cy="349249"/>
              <a:chOff x="5364189" y="6450033"/>
              <a:chExt cx="612776" cy="349251"/>
            </a:xfrm>
          </p:grpSpPr>
          <p:sp>
            <p:nvSpPr>
              <p:cNvPr id="17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2" name="Group 93"/>
            <p:cNvGrpSpPr>
              <a:grpSpLocks/>
            </p:cNvGrpSpPr>
            <p:nvPr/>
          </p:nvGrpSpPr>
          <p:grpSpPr bwMode="auto">
            <a:xfrm>
              <a:off x="6245228" y="3273386"/>
              <a:ext cx="612772" cy="349249"/>
              <a:chOff x="5364189" y="6450033"/>
              <a:chExt cx="612776" cy="349251"/>
            </a:xfrm>
          </p:grpSpPr>
          <p:sp>
            <p:nvSpPr>
              <p:cNvPr id="17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3" name="Group 97"/>
            <p:cNvGrpSpPr>
              <a:grpSpLocks/>
            </p:cNvGrpSpPr>
            <p:nvPr/>
          </p:nvGrpSpPr>
          <p:grpSpPr bwMode="auto">
            <a:xfrm>
              <a:off x="5729326" y="2324053"/>
              <a:ext cx="612772" cy="349249"/>
              <a:chOff x="5364189" y="6450033"/>
              <a:chExt cx="612776" cy="349251"/>
            </a:xfrm>
          </p:grpSpPr>
          <p:sp>
            <p:nvSpPr>
              <p:cNvPr id="17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4" name="Group 101"/>
            <p:cNvGrpSpPr>
              <a:grpSpLocks/>
            </p:cNvGrpSpPr>
            <p:nvPr/>
          </p:nvGrpSpPr>
          <p:grpSpPr bwMode="auto">
            <a:xfrm>
              <a:off x="3867174" y="2324053"/>
              <a:ext cx="612772" cy="349249"/>
              <a:chOff x="5364189" y="6450033"/>
              <a:chExt cx="612776" cy="349251"/>
            </a:xfrm>
          </p:grpSpPr>
          <p:sp>
            <p:nvSpPr>
              <p:cNvPr id="17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5" name="Group 105"/>
            <p:cNvGrpSpPr>
              <a:grpSpLocks/>
            </p:cNvGrpSpPr>
            <p:nvPr/>
          </p:nvGrpSpPr>
          <p:grpSpPr bwMode="auto">
            <a:xfrm>
              <a:off x="3794148" y="3090822"/>
              <a:ext cx="612772" cy="349249"/>
              <a:chOff x="5364189" y="6450033"/>
              <a:chExt cx="612776" cy="349251"/>
            </a:xfrm>
          </p:grpSpPr>
          <p:sp>
            <p:nvSpPr>
              <p:cNvPr id="16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6" name="Group 109"/>
            <p:cNvGrpSpPr>
              <a:grpSpLocks/>
            </p:cNvGrpSpPr>
            <p:nvPr/>
          </p:nvGrpSpPr>
          <p:grpSpPr bwMode="auto">
            <a:xfrm>
              <a:off x="3794148" y="4989488"/>
              <a:ext cx="612772" cy="349249"/>
              <a:chOff x="5364189" y="6450033"/>
              <a:chExt cx="612776" cy="349251"/>
            </a:xfrm>
          </p:grpSpPr>
          <p:sp>
            <p:nvSpPr>
              <p:cNvPr id="16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7" name="Group 113"/>
            <p:cNvGrpSpPr>
              <a:grpSpLocks/>
            </p:cNvGrpSpPr>
            <p:nvPr/>
          </p:nvGrpSpPr>
          <p:grpSpPr bwMode="auto">
            <a:xfrm>
              <a:off x="800101" y="4040155"/>
              <a:ext cx="612772" cy="349249"/>
              <a:chOff x="5364189" y="6450033"/>
              <a:chExt cx="612776" cy="349251"/>
            </a:xfrm>
          </p:grpSpPr>
          <p:sp>
            <p:nvSpPr>
              <p:cNvPr id="16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8" name="Group 117"/>
            <p:cNvGrpSpPr>
              <a:grpSpLocks/>
            </p:cNvGrpSpPr>
            <p:nvPr/>
          </p:nvGrpSpPr>
          <p:grpSpPr bwMode="auto">
            <a:xfrm>
              <a:off x="1092203" y="5829282"/>
              <a:ext cx="612772" cy="349249"/>
              <a:chOff x="5364189" y="6450033"/>
              <a:chExt cx="612776" cy="349251"/>
            </a:xfrm>
          </p:grpSpPr>
          <p:sp>
            <p:nvSpPr>
              <p:cNvPr id="15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9" name="Group 121"/>
            <p:cNvGrpSpPr>
              <a:grpSpLocks/>
            </p:cNvGrpSpPr>
            <p:nvPr/>
          </p:nvGrpSpPr>
          <p:grpSpPr bwMode="auto">
            <a:xfrm>
              <a:off x="1676407" y="7691435"/>
              <a:ext cx="612772" cy="349249"/>
              <a:chOff x="5364189" y="6450033"/>
              <a:chExt cx="612776" cy="349251"/>
            </a:xfrm>
          </p:grpSpPr>
          <p:sp>
            <p:nvSpPr>
              <p:cNvPr id="15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0" name="Group 125"/>
            <p:cNvGrpSpPr>
              <a:grpSpLocks/>
            </p:cNvGrpSpPr>
            <p:nvPr/>
          </p:nvGrpSpPr>
          <p:grpSpPr bwMode="auto">
            <a:xfrm>
              <a:off x="727075" y="1338208"/>
              <a:ext cx="612772" cy="349249"/>
              <a:chOff x="5364189" y="6450033"/>
              <a:chExt cx="612776" cy="349251"/>
            </a:xfrm>
          </p:grpSpPr>
          <p:sp>
            <p:nvSpPr>
              <p:cNvPr id="15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51"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193" name="Striped Right Arrow 192"/>
          <p:cNvSpPr/>
          <p:nvPr/>
        </p:nvSpPr>
        <p:spPr bwMode="auto">
          <a:xfrm rot="5400000">
            <a:off x="8922778" y="3531188"/>
            <a:ext cx="77588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5" name="TextBox 194"/>
          <p:cNvSpPr txBox="1"/>
          <p:nvPr/>
        </p:nvSpPr>
        <p:spPr>
          <a:xfrm>
            <a:off x="8882090" y="3214686"/>
            <a:ext cx="642942" cy="276999"/>
          </a:xfrm>
          <a:prstGeom prst="rect">
            <a:avLst/>
          </a:prstGeom>
          <a:solidFill>
            <a:schemeClr val="bg1"/>
          </a:solidFill>
        </p:spPr>
        <p:txBody>
          <a:bodyPr wrap="square" rtlCol="0">
            <a:spAutoFit/>
          </a:bodyPr>
          <a:lstStyle/>
          <a:p>
            <a:r>
              <a:rPr lang="en-GB" sz="1200" b="1" dirty="0" err="1" smtClean="0"/>
              <a:t>BREL</a:t>
            </a:r>
            <a:endParaRPr lang="en-GB" sz="1200" b="1" dirty="0"/>
          </a:p>
        </p:txBody>
      </p:sp>
      <p:sp>
        <p:nvSpPr>
          <p:cNvPr id="196" name="TextBox 195"/>
          <p:cNvSpPr txBox="1"/>
          <p:nvPr/>
        </p:nvSpPr>
        <p:spPr>
          <a:xfrm>
            <a:off x="8953528" y="4223571"/>
            <a:ext cx="642942" cy="276999"/>
          </a:xfrm>
          <a:prstGeom prst="rect">
            <a:avLst/>
          </a:prstGeom>
          <a:solidFill>
            <a:schemeClr val="bg1"/>
          </a:solidFill>
        </p:spPr>
        <p:txBody>
          <a:bodyPr wrap="square" rtlCol="0">
            <a:spAutoFit/>
          </a:bodyPr>
          <a:lstStyle/>
          <a:p>
            <a:r>
              <a:rPr lang="en-GB" sz="1200" b="1" dirty="0" err="1" smtClean="0"/>
              <a:t>MOT1</a:t>
            </a:r>
            <a:endParaRPr lang="en-GB" sz="1200" b="1" dirty="0"/>
          </a:p>
        </p:txBody>
      </p:sp>
      <p:sp>
        <p:nvSpPr>
          <p:cNvPr id="197" name="Striped Right Arrow 196"/>
          <p:cNvSpPr/>
          <p:nvPr/>
        </p:nvSpPr>
        <p:spPr bwMode="auto">
          <a:xfrm rot="7669105">
            <a:off x="7072329" y="4869624"/>
            <a:ext cx="2369384" cy="714380"/>
          </a:xfrm>
          <a:prstGeom prst="stripedRightArrow">
            <a:avLst/>
          </a:prstGeom>
          <a:solidFill>
            <a:schemeClr val="accent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8" name="Striped Right Arrow 197"/>
          <p:cNvSpPr/>
          <p:nvPr/>
        </p:nvSpPr>
        <p:spPr bwMode="auto">
          <a:xfrm rot="9020439">
            <a:off x="7528967" y="3427036"/>
            <a:ext cx="1543553" cy="714380"/>
          </a:xfrm>
          <a:prstGeom prst="stripedRightArrow">
            <a:avLst/>
          </a:prstGeom>
          <a:solidFill>
            <a:schemeClr val="accent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9" name="Striped Right Arrow 198"/>
          <p:cNvSpPr/>
          <p:nvPr/>
        </p:nvSpPr>
        <p:spPr bwMode="auto">
          <a:xfrm rot="5400000">
            <a:off x="8377134" y="5138622"/>
            <a:ext cx="2010044" cy="714380"/>
          </a:xfrm>
          <a:prstGeom prst="stripedRightArrow">
            <a:avLst/>
          </a:prstGeom>
          <a:solidFill>
            <a:schemeClr val="accent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accent2"/>
              </a:solidFill>
              <a:effectLst/>
              <a:latin typeface="Arial" charset="0"/>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0" y="0"/>
            <a:ext cx="9906000" cy="1700213"/>
          </a:xfrm>
        </p:spPr>
        <p:txBody>
          <a:bodyPr/>
          <a:lstStyle/>
          <a:p>
            <a:pPr eaLnBrk="1" hangingPunct="1"/>
            <a:r>
              <a:rPr lang="en-GB" sz="3200" b="1" dirty="0" smtClean="0"/>
              <a:t>THE CONTINUOUS BEHAVIOUR PHASE</a:t>
            </a:r>
            <a:endParaRPr lang="en-US" sz="3200" b="1" dirty="0" smtClean="0"/>
          </a:p>
        </p:txBody>
      </p:sp>
      <p:sp>
        <p:nvSpPr>
          <p:cNvPr id="54275" name="Rectangle 224"/>
          <p:cNvSpPr>
            <a:spLocks noChangeArrowheads="1"/>
          </p:cNvSpPr>
          <p:nvPr/>
        </p:nvSpPr>
        <p:spPr bwMode="auto">
          <a:xfrm>
            <a:off x="0" y="1773238"/>
            <a:ext cx="5238752" cy="941382"/>
          </a:xfrm>
          <a:prstGeom prst="rect">
            <a:avLst/>
          </a:prstGeom>
          <a:noFill/>
          <a:ln w="9525">
            <a:noFill/>
            <a:miter lim="800000"/>
            <a:headEnd/>
            <a:tailEnd/>
          </a:ln>
        </p:spPr>
        <p:txBody>
          <a:bodyPr/>
          <a:lstStyle/>
          <a:p>
            <a:pPr marL="342900" indent="-342900">
              <a:spcBef>
                <a:spcPct val="20000"/>
              </a:spcBef>
              <a:buFontTx/>
              <a:buChar char="•"/>
            </a:pPr>
            <a:r>
              <a:rPr lang="en-GB" sz="2400" b="1" dirty="0" smtClean="0"/>
              <a:t>Put all the steps together and the cucumber duly gets sliced!</a:t>
            </a:r>
          </a:p>
        </p:txBody>
      </p:sp>
      <p:grpSp>
        <p:nvGrpSpPr>
          <p:cNvPr id="98" name="Group 97"/>
          <p:cNvGrpSpPr/>
          <p:nvPr/>
        </p:nvGrpSpPr>
        <p:grpSpPr>
          <a:xfrm>
            <a:off x="5834082" y="1500174"/>
            <a:ext cx="3762388" cy="5111754"/>
            <a:chOff x="727075" y="1065213"/>
            <a:chExt cx="6130925" cy="6975475"/>
          </a:xfrm>
        </p:grpSpPr>
        <p:sp>
          <p:nvSpPr>
            <p:cNvPr id="99"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00"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01"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02"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03"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04"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05"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06"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07"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08"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09"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10"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11"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2"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13"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14"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5"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6"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17"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8"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9"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20"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121" name="Group 8930"/>
            <p:cNvGrpSpPr>
              <a:grpSpLocks/>
            </p:cNvGrpSpPr>
            <p:nvPr/>
          </p:nvGrpSpPr>
          <p:grpSpPr bwMode="auto">
            <a:xfrm>
              <a:off x="1268447" y="5702275"/>
              <a:ext cx="1757351" cy="438148"/>
              <a:chOff x="799" y="3592"/>
              <a:chExt cx="1107" cy="276"/>
            </a:xfrm>
          </p:grpSpPr>
          <p:sp>
            <p:nvSpPr>
              <p:cNvPr id="187"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88"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22"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3"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4"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5"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6"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7"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28"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9"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30"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31"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32"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3"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34"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35"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36"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37"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38"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139" name="Group 226"/>
            <p:cNvGrpSpPr>
              <a:grpSpLocks/>
            </p:cNvGrpSpPr>
            <p:nvPr/>
          </p:nvGrpSpPr>
          <p:grpSpPr bwMode="auto">
            <a:xfrm>
              <a:off x="1854230" y="7472328"/>
              <a:ext cx="1757352" cy="471484"/>
              <a:chOff x="1420813" y="7910559"/>
              <a:chExt cx="1757362" cy="471485"/>
            </a:xfrm>
          </p:grpSpPr>
          <p:sp>
            <p:nvSpPr>
              <p:cNvPr id="185"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86"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140" name="Group 88"/>
            <p:cNvGrpSpPr>
              <a:grpSpLocks/>
            </p:cNvGrpSpPr>
            <p:nvPr/>
          </p:nvGrpSpPr>
          <p:grpSpPr bwMode="auto">
            <a:xfrm>
              <a:off x="727075" y="2798720"/>
              <a:ext cx="612772" cy="349249"/>
              <a:chOff x="5364189" y="6450033"/>
              <a:chExt cx="612776" cy="349251"/>
            </a:xfrm>
          </p:grpSpPr>
          <p:sp>
            <p:nvSpPr>
              <p:cNvPr id="18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1" name="Group 89"/>
            <p:cNvGrpSpPr>
              <a:grpSpLocks/>
            </p:cNvGrpSpPr>
            <p:nvPr/>
          </p:nvGrpSpPr>
          <p:grpSpPr bwMode="auto">
            <a:xfrm>
              <a:off x="6240505" y="4514821"/>
              <a:ext cx="612772" cy="349249"/>
              <a:chOff x="5364189" y="6450033"/>
              <a:chExt cx="612776" cy="349251"/>
            </a:xfrm>
          </p:grpSpPr>
          <p:sp>
            <p:nvSpPr>
              <p:cNvPr id="17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2" name="Group 93"/>
            <p:cNvGrpSpPr>
              <a:grpSpLocks/>
            </p:cNvGrpSpPr>
            <p:nvPr/>
          </p:nvGrpSpPr>
          <p:grpSpPr bwMode="auto">
            <a:xfrm>
              <a:off x="6245228" y="3273386"/>
              <a:ext cx="612772" cy="349249"/>
              <a:chOff x="5364189" y="6450033"/>
              <a:chExt cx="612776" cy="349251"/>
            </a:xfrm>
          </p:grpSpPr>
          <p:sp>
            <p:nvSpPr>
              <p:cNvPr id="17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3" name="Group 97"/>
            <p:cNvGrpSpPr>
              <a:grpSpLocks/>
            </p:cNvGrpSpPr>
            <p:nvPr/>
          </p:nvGrpSpPr>
          <p:grpSpPr bwMode="auto">
            <a:xfrm>
              <a:off x="5729326" y="2324053"/>
              <a:ext cx="612772" cy="349249"/>
              <a:chOff x="5364189" y="6450033"/>
              <a:chExt cx="612776" cy="349251"/>
            </a:xfrm>
          </p:grpSpPr>
          <p:sp>
            <p:nvSpPr>
              <p:cNvPr id="17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4" name="Group 101"/>
            <p:cNvGrpSpPr>
              <a:grpSpLocks/>
            </p:cNvGrpSpPr>
            <p:nvPr/>
          </p:nvGrpSpPr>
          <p:grpSpPr bwMode="auto">
            <a:xfrm>
              <a:off x="3867174" y="2324053"/>
              <a:ext cx="612772" cy="349249"/>
              <a:chOff x="5364189" y="6450033"/>
              <a:chExt cx="612776" cy="349251"/>
            </a:xfrm>
          </p:grpSpPr>
          <p:sp>
            <p:nvSpPr>
              <p:cNvPr id="17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5" name="Group 105"/>
            <p:cNvGrpSpPr>
              <a:grpSpLocks/>
            </p:cNvGrpSpPr>
            <p:nvPr/>
          </p:nvGrpSpPr>
          <p:grpSpPr bwMode="auto">
            <a:xfrm>
              <a:off x="3794148" y="3090822"/>
              <a:ext cx="612772" cy="349249"/>
              <a:chOff x="5364189" y="6450033"/>
              <a:chExt cx="612776" cy="349251"/>
            </a:xfrm>
          </p:grpSpPr>
          <p:sp>
            <p:nvSpPr>
              <p:cNvPr id="16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6" name="Group 109"/>
            <p:cNvGrpSpPr>
              <a:grpSpLocks/>
            </p:cNvGrpSpPr>
            <p:nvPr/>
          </p:nvGrpSpPr>
          <p:grpSpPr bwMode="auto">
            <a:xfrm>
              <a:off x="3794148" y="4989488"/>
              <a:ext cx="612772" cy="349249"/>
              <a:chOff x="5364189" y="6450033"/>
              <a:chExt cx="612776" cy="349251"/>
            </a:xfrm>
          </p:grpSpPr>
          <p:sp>
            <p:nvSpPr>
              <p:cNvPr id="16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7" name="Group 113"/>
            <p:cNvGrpSpPr>
              <a:grpSpLocks/>
            </p:cNvGrpSpPr>
            <p:nvPr/>
          </p:nvGrpSpPr>
          <p:grpSpPr bwMode="auto">
            <a:xfrm>
              <a:off x="800101" y="4040155"/>
              <a:ext cx="612772" cy="349249"/>
              <a:chOff x="5364189" y="6450033"/>
              <a:chExt cx="612776" cy="349251"/>
            </a:xfrm>
          </p:grpSpPr>
          <p:sp>
            <p:nvSpPr>
              <p:cNvPr id="16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8" name="Group 117"/>
            <p:cNvGrpSpPr>
              <a:grpSpLocks/>
            </p:cNvGrpSpPr>
            <p:nvPr/>
          </p:nvGrpSpPr>
          <p:grpSpPr bwMode="auto">
            <a:xfrm>
              <a:off x="1092203" y="5829282"/>
              <a:ext cx="612772" cy="349249"/>
              <a:chOff x="5364189" y="6450033"/>
              <a:chExt cx="612776" cy="349251"/>
            </a:xfrm>
          </p:grpSpPr>
          <p:sp>
            <p:nvSpPr>
              <p:cNvPr id="15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9" name="Group 121"/>
            <p:cNvGrpSpPr>
              <a:grpSpLocks/>
            </p:cNvGrpSpPr>
            <p:nvPr/>
          </p:nvGrpSpPr>
          <p:grpSpPr bwMode="auto">
            <a:xfrm>
              <a:off x="1676407" y="7691435"/>
              <a:ext cx="612772" cy="349249"/>
              <a:chOff x="5364189" y="6450033"/>
              <a:chExt cx="612776" cy="349251"/>
            </a:xfrm>
          </p:grpSpPr>
          <p:sp>
            <p:nvSpPr>
              <p:cNvPr id="15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0" name="Group 125"/>
            <p:cNvGrpSpPr>
              <a:grpSpLocks/>
            </p:cNvGrpSpPr>
            <p:nvPr/>
          </p:nvGrpSpPr>
          <p:grpSpPr bwMode="auto">
            <a:xfrm>
              <a:off x="727075" y="1338208"/>
              <a:ext cx="612772" cy="349249"/>
              <a:chOff x="5364189" y="6450033"/>
              <a:chExt cx="612776" cy="349251"/>
            </a:xfrm>
          </p:grpSpPr>
          <p:sp>
            <p:nvSpPr>
              <p:cNvPr id="15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51"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pic>
        <p:nvPicPr>
          <p:cNvPr id="95" name="Picture 94" descr="cucumber 2 003 crop.jpg"/>
          <p:cNvPicPr>
            <a:picLocks noChangeAspect="1"/>
          </p:cNvPicPr>
          <p:nvPr/>
        </p:nvPicPr>
        <p:blipFill>
          <a:blip r:embed="rId2" cstate="print"/>
          <a:stretch>
            <a:fillRect/>
          </a:stretch>
        </p:blipFill>
        <p:spPr>
          <a:xfrm rot="5400000">
            <a:off x="554317" y="3000372"/>
            <a:ext cx="3541427" cy="3500438"/>
          </a:xfrm>
          <a:prstGeom prst="rect">
            <a:avLst/>
          </a:prstGeom>
        </p:spPr>
      </p:pic>
      <p:sp>
        <p:nvSpPr>
          <p:cNvPr id="96" name="Striped Right Arrow 95"/>
          <p:cNvSpPr/>
          <p:nvPr/>
        </p:nvSpPr>
        <p:spPr bwMode="auto">
          <a:xfrm rot="15588064">
            <a:off x="5930983" y="4232040"/>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97" name="Striped Right Arrow 96"/>
          <p:cNvSpPr/>
          <p:nvPr/>
        </p:nvSpPr>
        <p:spPr bwMode="auto">
          <a:xfrm rot="15072768">
            <a:off x="6359611" y="5416116"/>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89" name="Striped Right Arrow 188"/>
          <p:cNvSpPr/>
          <p:nvPr/>
        </p:nvSpPr>
        <p:spPr bwMode="auto">
          <a:xfrm rot="16200000">
            <a:off x="5888268" y="3078384"/>
            <a:ext cx="986984"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0" name="TextBox 189"/>
          <p:cNvSpPr txBox="1"/>
          <p:nvPr/>
        </p:nvSpPr>
        <p:spPr>
          <a:xfrm>
            <a:off x="6096008" y="2714620"/>
            <a:ext cx="714380" cy="276999"/>
          </a:xfrm>
          <a:prstGeom prst="rect">
            <a:avLst/>
          </a:prstGeom>
          <a:solidFill>
            <a:schemeClr val="bg1"/>
          </a:solidFill>
        </p:spPr>
        <p:txBody>
          <a:bodyPr wrap="square" rtlCol="0">
            <a:spAutoFit/>
          </a:bodyPr>
          <a:lstStyle/>
          <a:p>
            <a:r>
              <a:rPr lang="en-GB" sz="1200" b="1" dirty="0" err="1" smtClean="0"/>
              <a:t>CONM</a:t>
            </a:r>
            <a:endParaRPr lang="en-GB" sz="1200" b="1" dirty="0"/>
          </a:p>
        </p:txBody>
      </p:sp>
      <p:sp>
        <p:nvSpPr>
          <p:cNvPr id="191" name="TextBox 190"/>
          <p:cNvSpPr txBox="1"/>
          <p:nvPr/>
        </p:nvSpPr>
        <p:spPr>
          <a:xfrm>
            <a:off x="6738950" y="6152397"/>
            <a:ext cx="642942" cy="276999"/>
          </a:xfrm>
          <a:prstGeom prst="rect">
            <a:avLst/>
          </a:prstGeom>
          <a:solidFill>
            <a:schemeClr val="bg1"/>
          </a:solidFill>
        </p:spPr>
        <p:txBody>
          <a:bodyPr wrap="square" rtlCol="0">
            <a:spAutoFit/>
          </a:bodyPr>
          <a:lstStyle/>
          <a:p>
            <a:r>
              <a:rPr lang="en-GB" sz="1200" b="1" dirty="0" err="1" smtClean="0"/>
              <a:t>TSP1</a:t>
            </a:r>
            <a:endParaRPr lang="en-GB" sz="1200" b="1" dirty="0"/>
          </a:p>
        </p:txBody>
      </p:sp>
      <p:sp>
        <p:nvSpPr>
          <p:cNvPr id="192" name="TextBox 191"/>
          <p:cNvSpPr txBox="1"/>
          <p:nvPr/>
        </p:nvSpPr>
        <p:spPr>
          <a:xfrm>
            <a:off x="6167446" y="3794943"/>
            <a:ext cx="642942" cy="276999"/>
          </a:xfrm>
          <a:prstGeom prst="rect">
            <a:avLst/>
          </a:prstGeom>
          <a:solidFill>
            <a:schemeClr val="bg1"/>
          </a:solidFill>
        </p:spPr>
        <p:txBody>
          <a:bodyPr wrap="square" rtlCol="0">
            <a:spAutoFit/>
          </a:bodyPr>
          <a:lstStyle/>
          <a:p>
            <a:r>
              <a:rPr lang="en-GB" sz="1200" b="1" dirty="0" err="1" smtClean="0"/>
              <a:t>PEMM</a:t>
            </a:r>
            <a:endParaRPr lang="en-GB" sz="1200" b="1" dirty="0"/>
          </a:p>
        </p:txBody>
      </p:sp>
      <p:sp>
        <p:nvSpPr>
          <p:cNvPr id="193" name="Striped Right Arrow 192"/>
          <p:cNvSpPr/>
          <p:nvPr/>
        </p:nvSpPr>
        <p:spPr bwMode="auto">
          <a:xfrm rot="19602502">
            <a:off x="6616491" y="4369140"/>
            <a:ext cx="77588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4" name="TextBox 193"/>
          <p:cNvSpPr txBox="1"/>
          <p:nvPr/>
        </p:nvSpPr>
        <p:spPr>
          <a:xfrm>
            <a:off x="6453198" y="5009389"/>
            <a:ext cx="642942" cy="276999"/>
          </a:xfrm>
          <a:prstGeom prst="rect">
            <a:avLst/>
          </a:prstGeom>
          <a:solidFill>
            <a:schemeClr val="bg1"/>
          </a:solidFill>
        </p:spPr>
        <p:txBody>
          <a:bodyPr wrap="square" rtlCol="0">
            <a:spAutoFit/>
          </a:bodyPr>
          <a:lstStyle/>
          <a:p>
            <a:r>
              <a:rPr lang="en-GB" sz="1200" b="1" dirty="0" err="1" smtClean="0"/>
              <a:t>TSP2</a:t>
            </a:r>
            <a:endParaRPr lang="en-GB" sz="1200" b="1" dirty="0"/>
          </a:p>
        </p:txBody>
      </p:sp>
      <p:sp>
        <p:nvSpPr>
          <p:cNvPr id="195" name="TextBox 194"/>
          <p:cNvSpPr txBox="1"/>
          <p:nvPr/>
        </p:nvSpPr>
        <p:spPr>
          <a:xfrm>
            <a:off x="7310454" y="4214818"/>
            <a:ext cx="642942" cy="276999"/>
          </a:xfrm>
          <a:prstGeom prst="rect">
            <a:avLst/>
          </a:prstGeom>
          <a:solidFill>
            <a:schemeClr val="bg1"/>
          </a:solidFill>
        </p:spPr>
        <p:txBody>
          <a:bodyPr wrap="square" rtlCol="0">
            <a:spAutoFit/>
          </a:bodyPr>
          <a:lstStyle/>
          <a:p>
            <a:r>
              <a:rPr lang="en-GB" sz="1200" b="1" dirty="0" err="1" smtClean="0"/>
              <a:t>TTRK</a:t>
            </a:r>
            <a:endParaRPr lang="en-GB" sz="1200" b="1" dirty="0"/>
          </a:p>
        </p:txBody>
      </p:sp>
      <p:sp>
        <p:nvSpPr>
          <p:cNvPr id="196" name="Striped Right Arrow 195"/>
          <p:cNvSpPr/>
          <p:nvPr/>
        </p:nvSpPr>
        <p:spPr bwMode="auto">
          <a:xfrm rot="19126714">
            <a:off x="6677640" y="2724640"/>
            <a:ext cx="124125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7" name="Striped Right Arrow 196"/>
          <p:cNvSpPr/>
          <p:nvPr/>
        </p:nvSpPr>
        <p:spPr bwMode="auto">
          <a:xfrm rot="19602502">
            <a:off x="7330871" y="3440446"/>
            <a:ext cx="775880" cy="714380"/>
          </a:xfrm>
          <a:prstGeom prst="stripedRightArrow">
            <a:avLst/>
          </a:prstGeom>
          <a:solidFill>
            <a:srgbClr val="FF000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8" name="TextBox 197"/>
          <p:cNvSpPr txBox="1"/>
          <p:nvPr/>
        </p:nvSpPr>
        <p:spPr>
          <a:xfrm>
            <a:off x="8167710" y="2357430"/>
            <a:ext cx="642942" cy="276999"/>
          </a:xfrm>
          <a:prstGeom prst="rect">
            <a:avLst/>
          </a:prstGeom>
          <a:solidFill>
            <a:schemeClr val="bg1"/>
          </a:solidFill>
        </p:spPr>
        <p:txBody>
          <a:bodyPr wrap="square" rtlCol="0">
            <a:spAutoFit/>
          </a:bodyPr>
          <a:lstStyle/>
          <a:p>
            <a:r>
              <a:rPr lang="en-GB" sz="1200" b="1" dirty="0" err="1" smtClean="0"/>
              <a:t>DRAN</a:t>
            </a:r>
            <a:endParaRPr lang="en-GB" sz="1200" b="1" dirty="0"/>
          </a:p>
        </p:txBody>
      </p:sp>
      <p:sp>
        <p:nvSpPr>
          <p:cNvPr id="199" name="TextBox 198"/>
          <p:cNvSpPr txBox="1"/>
          <p:nvPr/>
        </p:nvSpPr>
        <p:spPr>
          <a:xfrm>
            <a:off x="7881958" y="3214686"/>
            <a:ext cx="642942" cy="276999"/>
          </a:xfrm>
          <a:prstGeom prst="rect">
            <a:avLst/>
          </a:prstGeom>
          <a:solidFill>
            <a:schemeClr val="bg1"/>
          </a:solidFill>
        </p:spPr>
        <p:txBody>
          <a:bodyPr wrap="square" rtlCol="0">
            <a:spAutoFit/>
          </a:bodyPr>
          <a:lstStyle/>
          <a:p>
            <a:r>
              <a:rPr lang="en-GB" sz="1200" b="1" dirty="0" err="1" smtClean="0"/>
              <a:t>TTAC</a:t>
            </a:r>
            <a:endParaRPr lang="en-GB" sz="1200" b="1" dirty="0"/>
          </a:p>
        </p:txBody>
      </p:sp>
      <p:sp>
        <p:nvSpPr>
          <p:cNvPr id="200" name="TextBox 199"/>
          <p:cNvSpPr txBox="1"/>
          <p:nvPr/>
        </p:nvSpPr>
        <p:spPr>
          <a:xfrm>
            <a:off x="6024570" y="2008993"/>
            <a:ext cx="714380" cy="276999"/>
          </a:xfrm>
          <a:prstGeom prst="rect">
            <a:avLst/>
          </a:prstGeom>
          <a:solidFill>
            <a:schemeClr val="bg1"/>
          </a:solidFill>
        </p:spPr>
        <p:txBody>
          <a:bodyPr wrap="square" rtlCol="0">
            <a:spAutoFit/>
          </a:bodyPr>
          <a:lstStyle/>
          <a:p>
            <a:r>
              <a:rPr lang="en-GB" sz="1200" b="1" dirty="0" err="1" smtClean="0"/>
              <a:t>PPAN</a:t>
            </a:r>
            <a:endParaRPr lang="en-GB" sz="1200" b="1" dirty="0"/>
          </a:p>
        </p:txBody>
      </p:sp>
      <p:sp>
        <p:nvSpPr>
          <p:cNvPr id="201" name="Striped Right Arrow 200"/>
          <p:cNvSpPr/>
          <p:nvPr/>
        </p:nvSpPr>
        <p:spPr bwMode="auto">
          <a:xfrm>
            <a:off x="7453330"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2" name="Striped Right Arrow 201"/>
          <p:cNvSpPr/>
          <p:nvPr/>
        </p:nvSpPr>
        <p:spPr bwMode="auto">
          <a:xfrm rot="10800000">
            <a:off x="6596074"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3" name="Striped Right Arrow 202"/>
          <p:cNvSpPr/>
          <p:nvPr/>
        </p:nvSpPr>
        <p:spPr bwMode="auto">
          <a:xfrm rot="5400000">
            <a:off x="8922778" y="3531188"/>
            <a:ext cx="77588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4" name="Striped Right Arrow 203"/>
          <p:cNvSpPr/>
          <p:nvPr/>
        </p:nvSpPr>
        <p:spPr bwMode="auto">
          <a:xfrm rot="5400000">
            <a:off x="8386993" y="2281023"/>
            <a:ext cx="775880" cy="1500198"/>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5" name="TextBox 204"/>
          <p:cNvSpPr txBox="1"/>
          <p:nvPr/>
        </p:nvSpPr>
        <p:spPr>
          <a:xfrm>
            <a:off x="8882090" y="3214686"/>
            <a:ext cx="642942" cy="276999"/>
          </a:xfrm>
          <a:prstGeom prst="rect">
            <a:avLst/>
          </a:prstGeom>
          <a:solidFill>
            <a:schemeClr val="bg1"/>
          </a:solidFill>
        </p:spPr>
        <p:txBody>
          <a:bodyPr wrap="square" rtlCol="0">
            <a:spAutoFit/>
          </a:bodyPr>
          <a:lstStyle/>
          <a:p>
            <a:r>
              <a:rPr lang="en-GB" sz="1200" b="1" dirty="0" err="1" smtClean="0"/>
              <a:t>BREL</a:t>
            </a:r>
            <a:endParaRPr lang="en-GB" sz="1200" b="1" dirty="0"/>
          </a:p>
        </p:txBody>
      </p:sp>
      <p:sp>
        <p:nvSpPr>
          <p:cNvPr id="206" name="TextBox 205"/>
          <p:cNvSpPr txBox="1"/>
          <p:nvPr/>
        </p:nvSpPr>
        <p:spPr>
          <a:xfrm>
            <a:off x="8953528" y="4223571"/>
            <a:ext cx="642942" cy="276999"/>
          </a:xfrm>
          <a:prstGeom prst="rect">
            <a:avLst/>
          </a:prstGeom>
          <a:solidFill>
            <a:schemeClr val="bg1"/>
          </a:solidFill>
        </p:spPr>
        <p:txBody>
          <a:bodyPr wrap="square" rtlCol="0">
            <a:spAutoFit/>
          </a:bodyPr>
          <a:lstStyle/>
          <a:p>
            <a:r>
              <a:rPr lang="en-GB" sz="1200" b="1" dirty="0" err="1" smtClean="0"/>
              <a:t>MOT1</a:t>
            </a:r>
            <a:endParaRPr lang="en-GB" sz="1200" b="1" dirty="0"/>
          </a:p>
        </p:txBody>
      </p:sp>
      <p:sp>
        <p:nvSpPr>
          <p:cNvPr id="208" name="Striped Right Arrow 207"/>
          <p:cNvSpPr/>
          <p:nvPr/>
        </p:nvSpPr>
        <p:spPr bwMode="auto">
          <a:xfrm rot="5400000">
            <a:off x="8377134" y="5138622"/>
            <a:ext cx="2010044" cy="714380"/>
          </a:xfrm>
          <a:prstGeom prst="stripedRightArrow">
            <a:avLst/>
          </a:prstGeom>
          <a:solidFill>
            <a:schemeClr val="accent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accent2"/>
              </a:solidFill>
              <a:effectLst/>
              <a:latin typeface="Arial" charset="0"/>
            </a:endParaRPr>
          </a:p>
        </p:txBody>
      </p:sp>
      <p:sp>
        <p:nvSpPr>
          <p:cNvPr id="209" name="Striped Right Arrow 208"/>
          <p:cNvSpPr/>
          <p:nvPr/>
        </p:nvSpPr>
        <p:spPr bwMode="auto">
          <a:xfrm rot="7669105">
            <a:off x="7072329" y="4869624"/>
            <a:ext cx="2369384" cy="714380"/>
          </a:xfrm>
          <a:prstGeom prst="stripedRightArrow">
            <a:avLst/>
          </a:prstGeom>
          <a:solidFill>
            <a:schemeClr val="accent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10" name="Striped Right Arrow 209"/>
          <p:cNvSpPr/>
          <p:nvPr/>
        </p:nvSpPr>
        <p:spPr bwMode="auto">
          <a:xfrm rot="9020439">
            <a:off x="7528967" y="3427036"/>
            <a:ext cx="1543553" cy="714380"/>
          </a:xfrm>
          <a:prstGeom prst="stripedRightArrow">
            <a:avLst/>
          </a:prstGeom>
          <a:solidFill>
            <a:schemeClr val="accent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7" name="TextBox 206"/>
          <p:cNvSpPr txBox="1"/>
          <p:nvPr/>
        </p:nvSpPr>
        <p:spPr>
          <a:xfrm>
            <a:off x="6638119" y="3071810"/>
            <a:ext cx="2601161" cy="1569660"/>
          </a:xfrm>
          <a:prstGeom prst="rect">
            <a:avLst/>
          </a:prstGeom>
          <a:solidFill>
            <a:schemeClr val="bg1"/>
          </a:solidFill>
          <a:ln w="12700">
            <a:solidFill>
              <a:schemeClr val="tx1"/>
            </a:solidFill>
          </a:ln>
        </p:spPr>
        <p:txBody>
          <a:bodyPr wrap="none" rtlCol="0">
            <a:spAutoFit/>
          </a:bodyPr>
          <a:lstStyle/>
          <a:p>
            <a:pPr algn="ctr"/>
            <a:r>
              <a:rPr lang="en-GB" sz="4800" dirty="0" smtClean="0">
                <a:solidFill>
                  <a:schemeClr val="bg1">
                    <a:lumMod val="50000"/>
                  </a:schemeClr>
                </a:solidFill>
              </a:rPr>
              <a:t>REPEAT</a:t>
            </a:r>
          </a:p>
          <a:p>
            <a:pPr algn="ctr"/>
            <a:r>
              <a:rPr lang="en-GB" sz="4800" dirty="0" smtClean="0">
                <a:solidFill>
                  <a:schemeClr val="bg1">
                    <a:lumMod val="50000"/>
                  </a:schemeClr>
                </a:solidFill>
              </a:rPr>
              <a:t>UNTIL</a:t>
            </a:r>
            <a:endParaRPr lang="en-GB" sz="4800" dirty="0">
              <a:solidFill>
                <a:schemeClr val="bg1">
                  <a:lumMod val="50000"/>
                </a:schemeClr>
              </a:solidFill>
            </a:endParaRP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0" y="0"/>
            <a:ext cx="9906000" cy="1700213"/>
          </a:xfrm>
        </p:spPr>
        <p:txBody>
          <a:bodyPr/>
          <a:lstStyle/>
          <a:p>
            <a:pPr eaLnBrk="1" hangingPunct="1"/>
            <a:r>
              <a:rPr lang="en-GB" sz="3200" b="1" dirty="0" smtClean="0"/>
              <a:t>THE CARELESS INTERRUPTION PHASE</a:t>
            </a:r>
            <a:endParaRPr lang="en-US" sz="3200" b="1" dirty="0" smtClean="0"/>
          </a:p>
        </p:txBody>
      </p:sp>
      <p:sp>
        <p:nvSpPr>
          <p:cNvPr id="55299" name="Rectangle 224"/>
          <p:cNvSpPr>
            <a:spLocks noChangeArrowheads="1"/>
          </p:cNvSpPr>
          <p:nvPr/>
        </p:nvSpPr>
        <p:spPr bwMode="auto">
          <a:xfrm>
            <a:off x="0" y="1773238"/>
            <a:ext cx="5453066" cy="5084762"/>
          </a:xfrm>
          <a:prstGeom prst="rect">
            <a:avLst/>
          </a:prstGeom>
          <a:noFill/>
          <a:ln w="9525">
            <a:noFill/>
            <a:miter lim="800000"/>
            <a:headEnd/>
            <a:tailEnd/>
          </a:ln>
        </p:spPr>
        <p:txBody>
          <a:bodyPr/>
          <a:lstStyle/>
          <a:p>
            <a:pPr marL="342900" indent="-342900">
              <a:spcBef>
                <a:spcPct val="20000"/>
              </a:spcBef>
              <a:buFontTx/>
              <a:buChar char="•"/>
            </a:pPr>
            <a:r>
              <a:rPr lang="en-GB" sz="2400" b="1" dirty="0" smtClean="0"/>
              <a:t>..... unless, part way through the slicing, an external auditory INTERRUPTION is received, whereupon </a:t>
            </a:r>
            <a:r>
              <a:rPr lang="en-GB" sz="2400" b="1" dirty="0" err="1" smtClean="0"/>
              <a:t>REAFFERENCE</a:t>
            </a:r>
            <a:r>
              <a:rPr lang="en-GB" sz="2400" b="1" dirty="0" smtClean="0"/>
              <a:t>  suddenly fails to match up with </a:t>
            </a:r>
            <a:r>
              <a:rPr lang="en-GB" sz="2400" b="1" dirty="0" err="1" smtClean="0"/>
              <a:t>EFFERENCE</a:t>
            </a:r>
            <a:r>
              <a:rPr lang="en-GB" sz="2400" b="1" dirty="0" smtClean="0"/>
              <a:t> COPY and the smooth repetition of the target behaviour is disturbed.</a:t>
            </a:r>
          </a:p>
          <a:p>
            <a:pPr marL="342900" indent="-342900">
              <a:spcBef>
                <a:spcPct val="20000"/>
              </a:spcBef>
              <a:buFontTx/>
              <a:buChar char="•"/>
            </a:pPr>
            <a:r>
              <a:rPr lang="en-GB" sz="2400" b="1" dirty="0" smtClean="0">
                <a:solidFill>
                  <a:schemeClr val="bg1">
                    <a:lumMod val="50000"/>
                  </a:schemeClr>
                </a:solidFill>
              </a:rPr>
              <a:t>E.g.,  &lt;NICE&gt;&lt;DAY&gt;&lt;TODAY&gt;&lt;.&gt;</a:t>
            </a:r>
          </a:p>
          <a:p>
            <a:pPr marL="342900" indent="-342900">
              <a:spcBef>
                <a:spcPct val="20000"/>
              </a:spcBef>
              <a:buFontTx/>
              <a:buChar char="•"/>
            </a:pPr>
            <a:endParaRPr lang="en-GB" sz="2400" b="1" dirty="0" smtClean="0">
              <a:solidFill>
                <a:schemeClr val="bg1">
                  <a:lumMod val="50000"/>
                </a:schemeClr>
              </a:solidFill>
            </a:endParaRPr>
          </a:p>
          <a:p>
            <a:pPr marL="342900" indent="-342900">
              <a:spcBef>
                <a:spcPct val="20000"/>
              </a:spcBef>
              <a:buFontTx/>
              <a:buChar char="•"/>
            </a:pPr>
            <a:r>
              <a:rPr lang="en-GB" sz="2400" b="1" dirty="0" smtClean="0">
                <a:solidFill>
                  <a:schemeClr val="accent2"/>
                </a:solidFill>
              </a:rPr>
              <a:t>Metaphorically speaking, the system has suddenly to “slam its brakes on” .....</a:t>
            </a:r>
          </a:p>
        </p:txBody>
      </p:sp>
      <p:grpSp>
        <p:nvGrpSpPr>
          <p:cNvPr id="98" name="Group 97"/>
          <p:cNvGrpSpPr/>
          <p:nvPr/>
        </p:nvGrpSpPr>
        <p:grpSpPr>
          <a:xfrm>
            <a:off x="5834082" y="1500174"/>
            <a:ext cx="3762388" cy="5111754"/>
            <a:chOff x="727075" y="1065213"/>
            <a:chExt cx="6130925" cy="6975475"/>
          </a:xfrm>
        </p:grpSpPr>
        <p:sp>
          <p:nvSpPr>
            <p:cNvPr id="99"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00"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01"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02"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03"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04"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05"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06"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07"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08"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09"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10"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11"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2"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13"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14"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15"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6"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17"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8"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19"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20"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121" name="Group 8930"/>
            <p:cNvGrpSpPr>
              <a:grpSpLocks/>
            </p:cNvGrpSpPr>
            <p:nvPr/>
          </p:nvGrpSpPr>
          <p:grpSpPr bwMode="auto">
            <a:xfrm>
              <a:off x="1268447" y="5702275"/>
              <a:ext cx="1757351" cy="438148"/>
              <a:chOff x="799" y="3592"/>
              <a:chExt cx="1107" cy="276"/>
            </a:xfrm>
          </p:grpSpPr>
          <p:sp>
            <p:nvSpPr>
              <p:cNvPr id="187"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188"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22"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3"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4"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25"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6"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7"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128"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29"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130"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131"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132"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33"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134"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135"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136"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137"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38"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139" name="Group 226"/>
            <p:cNvGrpSpPr>
              <a:grpSpLocks/>
            </p:cNvGrpSpPr>
            <p:nvPr/>
          </p:nvGrpSpPr>
          <p:grpSpPr bwMode="auto">
            <a:xfrm>
              <a:off x="1854230" y="7472328"/>
              <a:ext cx="1757352" cy="471484"/>
              <a:chOff x="1420813" y="7910559"/>
              <a:chExt cx="1757362" cy="471485"/>
            </a:xfrm>
          </p:grpSpPr>
          <p:sp>
            <p:nvSpPr>
              <p:cNvPr id="185"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186"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140" name="Group 88"/>
            <p:cNvGrpSpPr>
              <a:grpSpLocks/>
            </p:cNvGrpSpPr>
            <p:nvPr/>
          </p:nvGrpSpPr>
          <p:grpSpPr bwMode="auto">
            <a:xfrm>
              <a:off x="727075" y="2798720"/>
              <a:ext cx="612772" cy="349249"/>
              <a:chOff x="5364189" y="6450033"/>
              <a:chExt cx="612776" cy="349251"/>
            </a:xfrm>
          </p:grpSpPr>
          <p:sp>
            <p:nvSpPr>
              <p:cNvPr id="18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1" name="Group 89"/>
            <p:cNvGrpSpPr>
              <a:grpSpLocks/>
            </p:cNvGrpSpPr>
            <p:nvPr/>
          </p:nvGrpSpPr>
          <p:grpSpPr bwMode="auto">
            <a:xfrm>
              <a:off x="6240505" y="4514821"/>
              <a:ext cx="612772" cy="349249"/>
              <a:chOff x="5364189" y="6450033"/>
              <a:chExt cx="612776" cy="349251"/>
            </a:xfrm>
          </p:grpSpPr>
          <p:sp>
            <p:nvSpPr>
              <p:cNvPr id="17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8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2" name="Group 93"/>
            <p:cNvGrpSpPr>
              <a:grpSpLocks/>
            </p:cNvGrpSpPr>
            <p:nvPr/>
          </p:nvGrpSpPr>
          <p:grpSpPr bwMode="auto">
            <a:xfrm>
              <a:off x="6245228" y="3273386"/>
              <a:ext cx="612772" cy="349249"/>
              <a:chOff x="5364189" y="6450033"/>
              <a:chExt cx="612776" cy="349251"/>
            </a:xfrm>
          </p:grpSpPr>
          <p:sp>
            <p:nvSpPr>
              <p:cNvPr id="17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3" name="Group 97"/>
            <p:cNvGrpSpPr>
              <a:grpSpLocks/>
            </p:cNvGrpSpPr>
            <p:nvPr/>
          </p:nvGrpSpPr>
          <p:grpSpPr bwMode="auto">
            <a:xfrm>
              <a:off x="5729326" y="2324053"/>
              <a:ext cx="612772" cy="349249"/>
              <a:chOff x="5364189" y="6450033"/>
              <a:chExt cx="612776" cy="349251"/>
            </a:xfrm>
          </p:grpSpPr>
          <p:sp>
            <p:nvSpPr>
              <p:cNvPr id="17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4" name="Group 101"/>
            <p:cNvGrpSpPr>
              <a:grpSpLocks/>
            </p:cNvGrpSpPr>
            <p:nvPr/>
          </p:nvGrpSpPr>
          <p:grpSpPr bwMode="auto">
            <a:xfrm>
              <a:off x="3867174" y="2324053"/>
              <a:ext cx="612772" cy="349249"/>
              <a:chOff x="5364189" y="6450033"/>
              <a:chExt cx="612776" cy="349251"/>
            </a:xfrm>
          </p:grpSpPr>
          <p:sp>
            <p:nvSpPr>
              <p:cNvPr id="17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7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5" name="Group 105"/>
            <p:cNvGrpSpPr>
              <a:grpSpLocks/>
            </p:cNvGrpSpPr>
            <p:nvPr/>
          </p:nvGrpSpPr>
          <p:grpSpPr bwMode="auto">
            <a:xfrm>
              <a:off x="3794148" y="3090822"/>
              <a:ext cx="612772" cy="349249"/>
              <a:chOff x="5364189" y="6450033"/>
              <a:chExt cx="612776" cy="349251"/>
            </a:xfrm>
          </p:grpSpPr>
          <p:sp>
            <p:nvSpPr>
              <p:cNvPr id="16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6" name="Group 109"/>
            <p:cNvGrpSpPr>
              <a:grpSpLocks/>
            </p:cNvGrpSpPr>
            <p:nvPr/>
          </p:nvGrpSpPr>
          <p:grpSpPr bwMode="auto">
            <a:xfrm>
              <a:off x="3794148" y="4989488"/>
              <a:ext cx="612772" cy="349249"/>
              <a:chOff x="5364189" y="6450033"/>
              <a:chExt cx="612776" cy="349251"/>
            </a:xfrm>
          </p:grpSpPr>
          <p:sp>
            <p:nvSpPr>
              <p:cNvPr id="16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7" name="Group 113"/>
            <p:cNvGrpSpPr>
              <a:grpSpLocks/>
            </p:cNvGrpSpPr>
            <p:nvPr/>
          </p:nvGrpSpPr>
          <p:grpSpPr bwMode="auto">
            <a:xfrm>
              <a:off x="800101" y="4040155"/>
              <a:ext cx="612772" cy="349249"/>
              <a:chOff x="5364189" y="6450033"/>
              <a:chExt cx="612776" cy="349251"/>
            </a:xfrm>
          </p:grpSpPr>
          <p:sp>
            <p:nvSpPr>
              <p:cNvPr id="16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8" name="Group 117"/>
            <p:cNvGrpSpPr>
              <a:grpSpLocks/>
            </p:cNvGrpSpPr>
            <p:nvPr/>
          </p:nvGrpSpPr>
          <p:grpSpPr bwMode="auto">
            <a:xfrm>
              <a:off x="1092203" y="5829282"/>
              <a:ext cx="612772" cy="349249"/>
              <a:chOff x="5364189" y="6450033"/>
              <a:chExt cx="612776" cy="349251"/>
            </a:xfrm>
          </p:grpSpPr>
          <p:sp>
            <p:nvSpPr>
              <p:cNvPr id="15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6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49" name="Group 121"/>
            <p:cNvGrpSpPr>
              <a:grpSpLocks/>
            </p:cNvGrpSpPr>
            <p:nvPr/>
          </p:nvGrpSpPr>
          <p:grpSpPr bwMode="auto">
            <a:xfrm>
              <a:off x="1676407" y="7691435"/>
              <a:ext cx="612772" cy="349249"/>
              <a:chOff x="5364189" y="6450033"/>
              <a:chExt cx="612776" cy="349251"/>
            </a:xfrm>
          </p:grpSpPr>
          <p:sp>
            <p:nvSpPr>
              <p:cNvPr id="15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150" name="Group 125"/>
            <p:cNvGrpSpPr>
              <a:grpSpLocks/>
            </p:cNvGrpSpPr>
            <p:nvPr/>
          </p:nvGrpSpPr>
          <p:grpSpPr bwMode="auto">
            <a:xfrm>
              <a:off x="727075" y="1338208"/>
              <a:ext cx="612772" cy="349249"/>
              <a:chOff x="5364189" y="6450033"/>
              <a:chExt cx="612776" cy="349251"/>
            </a:xfrm>
          </p:grpSpPr>
          <p:sp>
            <p:nvSpPr>
              <p:cNvPr id="15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15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151"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
        <p:nvSpPr>
          <p:cNvPr id="95" name="Striped Right Arrow 94"/>
          <p:cNvSpPr/>
          <p:nvPr/>
        </p:nvSpPr>
        <p:spPr bwMode="auto">
          <a:xfrm rot="15588064">
            <a:off x="5930983" y="4232040"/>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96" name="Striped Right Arrow 95"/>
          <p:cNvSpPr/>
          <p:nvPr/>
        </p:nvSpPr>
        <p:spPr bwMode="auto">
          <a:xfrm rot="15072768">
            <a:off x="6359611" y="5416116"/>
            <a:ext cx="1143008"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97" name="Striped Right Arrow 96"/>
          <p:cNvSpPr/>
          <p:nvPr/>
        </p:nvSpPr>
        <p:spPr bwMode="auto">
          <a:xfrm rot="16200000">
            <a:off x="5888268" y="3078384"/>
            <a:ext cx="986984"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89" name="TextBox 188"/>
          <p:cNvSpPr txBox="1"/>
          <p:nvPr/>
        </p:nvSpPr>
        <p:spPr>
          <a:xfrm>
            <a:off x="6096008" y="2714620"/>
            <a:ext cx="714380" cy="276999"/>
          </a:xfrm>
          <a:prstGeom prst="rect">
            <a:avLst/>
          </a:prstGeom>
          <a:solidFill>
            <a:schemeClr val="bg1"/>
          </a:solidFill>
        </p:spPr>
        <p:txBody>
          <a:bodyPr wrap="square" rtlCol="0">
            <a:spAutoFit/>
          </a:bodyPr>
          <a:lstStyle/>
          <a:p>
            <a:r>
              <a:rPr lang="en-GB" sz="1200" b="1" dirty="0" err="1" smtClean="0"/>
              <a:t>CONM</a:t>
            </a:r>
            <a:endParaRPr lang="en-GB" sz="1200" b="1" dirty="0"/>
          </a:p>
        </p:txBody>
      </p:sp>
      <p:sp>
        <p:nvSpPr>
          <p:cNvPr id="190" name="TextBox 189"/>
          <p:cNvSpPr txBox="1"/>
          <p:nvPr/>
        </p:nvSpPr>
        <p:spPr>
          <a:xfrm>
            <a:off x="6738950" y="6152397"/>
            <a:ext cx="642942" cy="276999"/>
          </a:xfrm>
          <a:prstGeom prst="rect">
            <a:avLst/>
          </a:prstGeom>
          <a:solidFill>
            <a:schemeClr val="bg1"/>
          </a:solidFill>
        </p:spPr>
        <p:txBody>
          <a:bodyPr wrap="square" rtlCol="0">
            <a:spAutoFit/>
          </a:bodyPr>
          <a:lstStyle/>
          <a:p>
            <a:r>
              <a:rPr lang="en-GB" sz="1200" b="1" dirty="0" err="1" smtClean="0"/>
              <a:t>TSP1</a:t>
            </a:r>
            <a:endParaRPr lang="en-GB" sz="1200" b="1" dirty="0"/>
          </a:p>
        </p:txBody>
      </p:sp>
      <p:sp>
        <p:nvSpPr>
          <p:cNvPr id="191" name="TextBox 190"/>
          <p:cNvSpPr txBox="1"/>
          <p:nvPr/>
        </p:nvSpPr>
        <p:spPr>
          <a:xfrm>
            <a:off x="6167446" y="3794943"/>
            <a:ext cx="642942" cy="276999"/>
          </a:xfrm>
          <a:prstGeom prst="rect">
            <a:avLst/>
          </a:prstGeom>
          <a:solidFill>
            <a:schemeClr val="bg1"/>
          </a:solidFill>
        </p:spPr>
        <p:txBody>
          <a:bodyPr wrap="square" rtlCol="0">
            <a:spAutoFit/>
          </a:bodyPr>
          <a:lstStyle/>
          <a:p>
            <a:r>
              <a:rPr lang="en-GB" sz="1200" b="1" dirty="0" err="1" smtClean="0"/>
              <a:t>PEMM</a:t>
            </a:r>
            <a:endParaRPr lang="en-GB" sz="1200" b="1" dirty="0"/>
          </a:p>
        </p:txBody>
      </p:sp>
      <p:sp>
        <p:nvSpPr>
          <p:cNvPr id="192" name="Striped Right Arrow 191"/>
          <p:cNvSpPr/>
          <p:nvPr/>
        </p:nvSpPr>
        <p:spPr bwMode="auto">
          <a:xfrm rot="19602502">
            <a:off x="6616491" y="4369140"/>
            <a:ext cx="77588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3" name="TextBox 192"/>
          <p:cNvSpPr txBox="1"/>
          <p:nvPr/>
        </p:nvSpPr>
        <p:spPr>
          <a:xfrm>
            <a:off x="6453198" y="5009389"/>
            <a:ext cx="642942" cy="276999"/>
          </a:xfrm>
          <a:prstGeom prst="rect">
            <a:avLst/>
          </a:prstGeom>
          <a:solidFill>
            <a:schemeClr val="bg1"/>
          </a:solidFill>
        </p:spPr>
        <p:txBody>
          <a:bodyPr wrap="square" rtlCol="0">
            <a:spAutoFit/>
          </a:bodyPr>
          <a:lstStyle/>
          <a:p>
            <a:r>
              <a:rPr lang="en-GB" sz="1200" b="1" dirty="0" err="1" smtClean="0"/>
              <a:t>TSP2</a:t>
            </a:r>
            <a:endParaRPr lang="en-GB" sz="1200" b="1" dirty="0"/>
          </a:p>
        </p:txBody>
      </p:sp>
      <p:sp>
        <p:nvSpPr>
          <p:cNvPr id="194" name="TextBox 193"/>
          <p:cNvSpPr txBox="1"/>
          <p:nvPr/>
        </p:nvSpPr>
        <p:spPr>
          <a:xfrm>
            <a:off x="7310454" y="4214818"/>
            <a:ext cx="642942" cy="276999"/>
          </a:xfrm>
          <a:prstGeom prst="rect">
            <a:avLst/>
          </a:prstGeom>
          <a:solidFill>
            <a:schemeClr val="bg1"/>
          </a:solidFill>
        </p:spPr>
        <p:txBody>
          <a:bodyPr wrap="square" rtlCol="0">
            <a:spAutoFit/>
          </a:bodyPr>
          <a:lstStyle/>
          <a:p>
            <a:r>
              <a:rPr lang="en-GB" sz="1200" b="1" dirty="0" err="1" smtClean="0"/>
              <a:t>TTRK</a:t>
            </a:r>
            <a:endParaRPr lang="en-GB" sz="1200" b="1" dirty="0"/>
          </a:p>
        </p:txBody>
      </p:sp>
      <p:sp>
        <p:nvSpPr>
          <p:cNvPr id="195" name="Striped Right Arrow 194"/>
          <p:cNvSpPr/>
          <p:nvPr/>
        </p:nvSpPr>
        <p:spPr bwMode="auto">
          <a:xfrm rot="19126714">
            <a:off x="6677640" y="2724640"/>
            <a:ext cx="124125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6" name="Striped Right Arrow 195"/>
          <p:cNvSpPr/>
          <p:nvPr/>
        </p:nvSpPr>
        <p:spPr bwMode="auto">
          <a:xfrm rot="19602502">
            <a:off x="7330871" y="3440446"/>
            <a:ext cx="775880" cy="714380"/>
          </a:xfrm>
          <a:prstGeom prst="stripedRightArrow">
            <a:avLst/>
          </a:prstGeom>
          <a:solidFill>
            <a:srgbClr val="FF000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7" name="TextBox 196"/>
          <p:cNvSpPr txBox="1"/>
          <p:nvPr/>
        </p:nvSpPr>
        <p:spPr>
          <a:xfrm>
            <a:off x="8167710" y="2357430"/>
            <a:ext cx="642942" cy="276999"/>
          </a:xfrm>
          <a:prstGeom prst="rect">
            <a:avLst/>
          </a:prstGeom>
          <a:solidFill>
            <a:schemeClr val="bg1"/>
          </a:solidFill>
        </p:spPr>
        <p:txBody>
          <a:bodyPr wrap="square" rtlCol="0">
            <a:spAutoFit/>
          </a:bodyPr>
          <a:lstStyle/>
          <a:p>
            <a:r>
              <a:rPr lang="en-GB" sz="1200" b="1" dirty="0" err="1" smtClean="0"/>
              <a:t>DRAN</a:t>
            </a:r>
            <a:endParaRPr lang="en-GB" sz="1200" b="1" dirty="0"/>
          </a:p>
        </p:txBody>
      </p:sp>
      <p:sp>
        <p:nvSpPr>
          <p:cNvPr id="198" name="TextBox 197"/>
          <p:cNvSpPr txBox="1"/>
          <p:nvPr/>
        </p:nvSpPr>
        <p:spPr>
          <a:xfrm>
            <a:off x="7881958" y="3214686"/>
            <a:ext cx="642942" cy="276999"/>
          </a:xfrm>
          <a:prstGeom prst="rect">
            <a:avLst/>
          </a:prstGeom>
          <a:solidFill>
            <a:schemeClr val="bg1"/>
          </a:solidFill>
        </p:spPr>
        <p:txBody>
          <a:bodyPr wrap="square" rtlCol="0">
            <a:spAutoFit/>
          </a:bodyPr>
          <a:lstStyle/>
          <a:p>
            <a:r>
              <a:rPr lang="en-GB" sz="1200" b="1" dirty="0" err="1" smtClean="0"/>
              <a:t>TTAC</a:t>
            </a:r>
            <a:endParaRPr lang="en-GB" sz="1200" b="1" dirty="0"/>
          </a:p>
        </p:txBody>
      </p:sp>
      <p:sp>
        <p:nvSpPr>
          <p:cNvPr id="199" name="TextBox 198"/>
          <p:cNvSpPr txBox="1"/>
          <p:nvPr/>
        </p:nvSpPr>
        <p:spPr>
          <a:xfrm>
            <a:off x="6024570" y="2008993"/>
            <a:ext cx="714380" cy="276999"/>
          </a:xfrm>
          <a:prstGeom prst="rect">
            <a:avLst/>
          </a:prstGeom>
          <a:solidFill>
            <a:schemeClr val="bg1"/>
          </a:solidFill>
        </p:spPr>
        <p:txBody>
          <a:bodyPr wrap="square" rtlCol="0">
            <a:spAutoFit/>
          </a:bodyPr>
          <a:lstStyle/>
          <a:p>
            <a:r>
              <a:rPr lang="en-GB" sz="1200" b="1" dirty="0" err="1" smtClean="0"/>
              <a:t>PPAN</a:t>
            </a:r>
            <a:endParaRPr lang="en-GB" sz="1200" b="1" dirty="0"/>
          </a:p>
        </p:txBody>
      </p:sp>
      <p:sp>
        <p:nvSpPr>
          <p:cNvPr id="200" name="Striped Right Arrow 199"/>
          <p:cNvSpPr/>
          <p:nvPr/>
        </p:nvSpPr>
        <p:spPr bwMode="auto">
          <a:xfrm>
            <a:off x="7453330"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1" name="Striped Right Arrow 200"/>
          <p:cNvSpPr/>
          <p:nvPr/>
        </p:nvSpPr>
        <p:spPr bwMode="auto">
          <a:xfrm rot="10800000">
            <a:off x="6596074" y="1857364"/>
            <a:ext cx="751312"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2" name="Striped Right Arrow 201"/>
          <p:cNvSpPr/>
          <p:nvPr/>
        </p:nvSpPr>
        <p:spPr bwMode="auto">
          <a:xfrm rot="5400000">
            <a:off x="8922778" y="3531188"/>
            <a:ext cx="775880" cy="714380"/>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3" name="Striped Right Arrow 202"/>
          <p:cNvSpPr/>
          <p:nvPr/>
        </p:nvSpPr>
        <p:spPr bwMode="auto">
          <a:xfrm rot="5400000">
            <a:off x="8386993" y="2281023"/>
            <a:ext cx="775880" cy="1500198"/>
          </a:xfrm>
          <a:prstGeom prst="stripedRightArrow">
            <a:avLst/>
          </a:prstGeom>
          <a:solidFill>
            <a:srgbClr val="00B05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4" name="TextBox 203"/>
          <p:cNvSpPr txBox="1"/>
          <p:nvPr/>
        </p:nvSpPr>
        <p:spPr>
          <a:xfrm>
            <a:off x="8882090" y="3214686"/>
            <a:ext cx="642942" cy="276999"/>
          </a:xfrm>
          <a:prstGeom prst="rect">
            <a:avLst/>
          </a:prstGeom>
          <a:solidFill>
            <a:schemeClr val="bg1"/>
          </a:solidFill>
        </p:spPr>
        <p:txBody>
          <a:bodyPr wrap="square" rtlCol="0">
            <a:spAutoFit/>
          </a:bodyPr>
          <a:lstStyle/>
          <a:p>
            <a:r>
              <a:rPr lang="en-GB" sz="1200" b="1" dirty="0" err="1" smtClean="0"/>
              <a:t>BREL</a:t>
            </a:r>
            <a:endParaRPr lang="en-GB" sz="1200" b="1" dirty="0"/>
          </a:p>
        </p:txBody>
      </p:sp>
      <p:sp>
        <p:nvSpPr>
          <p:cNvPr id="205" name="TextBox 204"/>
          <p:cNvSpPr txBox="1"/>
          <p:nvPr/>
        </p:nvSpPr>
        <p:spPr>
          <a:xfrm>
            <a:off x="8953528" y="4223571"/>
            <a:ext cx="642942" cy="276999"/>
          </a:xfrm>
          <a:prstGeom prst="rect">
            <a:avLst/>
          </a:prstGeom>
          <a:solidFill>
            <a:schemeClr val="bg1"/>
          </a:solidFill>
        </p:spPr>
        <p:txBody>
          <a:bodyPr wrap="square" rtlCol="0">
            <a:spAutoFit/>
          </a:bodyPr>
          <a:lstStyle/>
          <a:p>
            <a:r>
              <a:rPr lang="en-GB" sz="1200" b="1" dirty="0" err="1" smtClean="0"/>
              <a:t>MOT1</a:t>
            </a:r>
            <a:endParaRPr lang="en-GB" sz="1200" b="1" dirty="0"/>
          </a:p>
        </p:txBody>
      </p:sp>
      <p:sp>
        <p:nvSpPr>
          <p:cNvPr id="206" name="Striped Right Arrow 205"/>
          <p:cNvSpPr/>
          <p:nvPr/>
        </p:nvSpPr>
        <p:spPr bwMode="auto">
          <a:xfrm rot="5400000">
            <a:off x="8377134" y="5138622"/>
            <a:ext cx="2010044" cy="714380"/>
          </a:xfrm>
          <a:prstGeom prst="stripedRightArrow">
            <a:avLst/>
          </a:prstGeom>
          <a:solidFill>
            <a:schemeClr val="accent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accent2"/>
              </a:solidFill>
              <a:effectLst/>
              <a:latin typeface="Arial" charset="0"/>
            </a:endParaRPr>
          </a:p>
        </p:txBody>
      </p:sp>
      <p:sp>
        <p:nvSpPr>
          <p:cNvPr id="207" name="Striped Right Arrow 206"/>
          <p:cNvSpPr/>
          <p:nvPr/>
        </p:nvSpPr>
        <p:spPr bwMode="auto">
          <a:xfrm rot="7669105">
            <a:off x="7072329" y="4869624"/>
            <a:ext cx="2369384" cy="714380"/>
          </a:xfrm>
          <a:prstGeom prst="stripedRightArrow">
            <a:avLst/>
          </a:prstGeom>
          <a:solidFill>
            <a:schemeClr val="accent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08" name="Striped Right Arrow 207"/>
          <p:cNvSpPr/>
          <p:nvPr/>
        </p:nvSpPr>
        <p:spPr bwMode="auto">
          <a:xfrm rot="9020439">
            <a:off x="7528967" y="3427036"/>
            <a:ext cx="1543553" cy="714380"/>
          </a:xfrm>
          <a:prstGeom prst="stripedRightArrow">
            <a:avLst/>
          </a:prstGeom>
          <a:solidFill>
            <a:schemeClr val="accent2"/>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10" name="Striped Right Arrow 209"/>
          <p:cNvSpPr/>
          <p:nvPr/>
        </p:nvSpPr>
        <p:spPr bwMode="auto">
          <a:xfrm rot="18615942">
            <a:off x="6718331" y="4787375"/>
            <a:ext cx="2810579" cy="714380"/>
          </a:xfrm>
          <a:prstGeom prst="stripedRightArrow">
            <a:avLst/>
          </a:prstGeom>
          <a:solidFill>
            <a:srgbClr val="FF000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11" name="Striped Right Arrow 210"/>
          <p:cNvSpPr/>
          <p:nvPr/>
        </p:nvSpPr>
        <p:spPr bwMode="auto">
          <a:xfrm rot="19602502">
            <a:off x="6657033" y="4346248"/>
            <a:ext cx="775880" cy="714380"/>
          </a:xfrm>
          <a:prstGeom prst="stripedRightArrow">
            <a:avLst/>
          </a:prstGeom>
          <a:solidFill>
            <a:srgbClr val="FF000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12" name="Striped Right Arrow 211"/>
          <p:cNvSpPr/>
          <p:nvPr/>
        </p:nvSpPr>
        <p:spPr bwMode="auto">
          <a:xfrm rot="16200000">
            <a:off x="8973945" y="3316874"/>
            <a:ext cx="775880" cy="714380"/>
          </a:xfrm>
          <a:prstGeom prst="stripedRightArrow">
            <a:avLst/>
          </a:prstGeom>
          <a:solidFill>
            <a:srgbClr val="FF000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213" name="Striped Right Arrow 212"/>
          <p:cNvSpPr/>
          <p:nvPr/>
        </p:nvSpPr>
        <p:spPr bwMode="auto">
          <a:xfrm rot="16200000">
            <a:off x="8422712" y="2388180"/>
            <a:ext cx="775880" cy="714380"/>
          </a:xfrm>
          <a:prstGeom prst="stripedRightArrow">
            <a:avLst/>
          </a:prstGeom>
          <a:solidFill>
            <a:srgbClr val="FF000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0" y="0"/>
            <a:ext cx="9906000" cy="1700213"/>
          </a:xfrm>
        </p:spPr>
        <p:txBody>
          <a:bodyPr/>
          <a:lstStyle/>
          <a:p>
            <a:pPr eaLnBrk="1" hangingPunct="1"/>
            <a:r>
              <a:rPr lang="en-GB" sz="3200" b="1" dirty="0" smtClean="0"/>
              <a:t>THE CARELESS INTERRUPTION PHASE</a:t>
            </a:r>
            <a:endParaRPr lang="en-US" sz="3200" b="1" dirty="0" smtClean="0"/>
          </a:p>
        </p:txBody>
      </p:sp>
      <p:sp>
        <p:nvSpPr>
          <p:cNvPr id="55299" name="Rectangle 224"/>
          <p:cNvSpPr>
            <a:spLocks noChangeArrowheads="1"/>
          </p:cNvSpPr>
          <p:nvPr/>
        </p:nvSpPr>
        <p:spPr bwMode="auto">
          <a:xfrm>
            <a:off x="2643206" y="1773238"/>
            <a:ext cx="4953000" cy="869944"/>
          </a:xfrm>
          <a:prstGeom prst="rect">
            <a:avLst/>
          </a:prstGeom>
          <a:noFill/>
          <a:ln w="9525">
            <a:noFill/>
            <a:miter lim="800000"/>
            <a:headEnd/>
            <a:tailEnd/>
          </a:ln>
        </p:spPr>
        <p:txBody>
          <a:bodyPr/>
          <a:lstStyle/>
          <a:p>
            <a:pPr marL="342900" indent="-342900">
              <a:spcBef>
                <a:spcPct val="20000"/>
              </a:spcBef>
              <a:buFontTx/>
              <a:buChar char="•"/>
            </a:pPr>
            <a:r>
              <a:rPr lang="en-GB" sz="2400" b="1" dirty="0" smtClean="0"/>
              <a:t>..... Hopefully in time to prevent injury!</a:t>
            </a:r>
          </a:p>
        </p:txBody>
      </p:sp>
      <p:pic>
        <p:nvPicPr>
          <p:cNvPr id="95" name="Picture 94" descr="cucumber 2 004 crop.jpg"/>
          <p:cNvPicPr>
            <a:picLocks noChangeAspect="1"/>
          </p:cNvPicPr>
          <p:nvPr/>
        </p:nvPicPr>
        <p:blipFill>
          <a:blip r:embed="rId2" cstate="print"/>
          <a:stretch>
            <a:fillRect/>
          </a:stretch>
        </p:blipFill>
        <p:spPr>
          <a:xfrm>
            <a:off x="3186287" y="2714620"/>
            <a:ext cx="4052729" cy="3500438"/>
          </a:xfrm>
          <a:prstGeom prst="rect">
            <a:avLst/>
          </a:prstGeom>
        </p:spPr>
      </p:pic>
      <p:cxnSp>
        <p:nvCxnSpPr>
          <p:cNvPr id="97" name="Straight Connector 96"/>
          <p:cNvCxnSpPr/>
          <p:nvPr/>
        </p:nvCxnSpPr>
        <p:spPr bwMode="auto">
          <a:xfrm rot="5400000">
            <a:off x="6203165" y="4893479"/>
            <a:ext cx="785818" cy="142876"/>
          </a:xfrm>
          <a:prstGeom prst="line">
            <a:avLst/>
          </a:prstGeom>
          <a:solidFill>
            <a:schemeClr val="accent1"/>
          </a:solidFill>
          <a:ln w="28575" cap="flat" cmpd="sng" algn="ctr">
            <a:solidFill>
              <a:srgbClr val="FF0000"/>
            </a:solidFill>
            <a:prstDash val="solid"/>
            <a:round/>
            <a:headEnd type="none" w="med" len="med"/>
            <a:tailEnd type="none" w="med" len="med"/>
          </a:ln>
          <a:effectLst/>
        </p:spPr>
      </p:cxnSp>
      <p:sp>
        <p:nvSpPr>
          <p:cNvPr id="189" name="Teardrop 188"/>
          <p:cNvSpPr/>
          <p:nvPr/>
        </p:nvSpPr>
        <p:spPr bwMode="auto">
          <a:xfrm>
            <a:off x="6310322" y="5429264"/>
            <a:ext cx="214314" cy="357190"/>
          </a:xfrm>
          <a:prstGeom prst="teardrop">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0" name="Teardrop 189"/>
          <p:cNvSpPr/>
          <p:nvPr/>
        </p:nvSpPr>
        <p:spPr bwMode="auto">
          <a:xfrm>
            <a:off x="6238884" y="5857892"/>
            <a:ext cx="214314" cy="357190"/>
          </a:xfrm>
          <a:prstGeom prst="teardrop">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191" name="Teardrop 190"/>
          <p:cNvSpPr/>
          <p:nvPr/>
        </p:nvSpPr>
        <p:spPr bwMode="auto">
          <a:xfrm>
            <a:off x="6167446" y="6286520"/>
            <a:ext cx="214314" cy="357190"/>
          </a:xfrm>
          <a:prstGeom prst="teardrop">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0" y="0"/>
            <a:ext cx="9906000" cy="1700213"/>
          </a:xfrm>
        </p:spPr>
        <p:txBody>
          <a:bodyPr/>
          <a:lstStyle/>
          <a:p>
            <a:pPr eaLnBrk="1" hangingPunct="1"/>
            <a:r>
              <a:rPr lang="en-GB" sz="3200" b="1" dirty="0" smtClean="0"/>
              <a:t>THE CARELESS INTERRUPTION PHASE</a:t>
            </a:r>
            <a:endParaRPr lang="en-US" sz="3200" b="1" dirty="0" smtClean="0"/>
          </a:p>
        </p:txBody>
      </p:sp>
      <p:sp>
        <p:nvSpPr>
          <p:cNvPr id="9" name="Rectangle 3"/>
          <p:cNvSpPr txBox="1">
            <a:spLocks noChangeArrowheads="1"/>
          </p:cNvSpPr>
          <p:nvPr/>
        </p:nvSpPr>
        <p:spPr bwMode="auto">
          <a:xfrm>
            <a:off x="0" y="1857412"/>
            <a:ext cx="9667908" cy="5000588"/>
          </a:xfrm>
          <a:prstGeom prst="rect">
            <a:avLst/>
          </a:prstGeom>
          <a:noFill/>
          <a:ln w="9525">
            <a:noFill/>
            <a:miter lim="800000"/>
            <a:headEnd/>
            <a:tailEnd/>
          </a:ln>
        </p:spPr>
        <p:txBody>
          <a:bodyPr/>
          <a:lstStyle/>
          <a:p>
            <a:pPr marL="342900" indent="-342900">
              <a:spcBef>
                <a:spcPct val="20000"/>
              </a:spcBef>
              <a:buFontTx/>
              <a:buChar char="•"/>
              <a:defRPr/>
            </a:pPr>
            <a:r>
              <a:rPr lang="en-GB" sz="2400" b="1" kern="0" dirty="0" smtClean="0">
                <a:latin typeface="+mn-lt"/>
              </a:rPr>
              <a:t>Readers may care to compare the two full-length output files previously mentioned. Version A shows the simulation running to end without the careless interruption, and Version B shows the effects of the interruption. The two prints are essentially the same until External Command #000157 is received.</a:t>
            </a:r>
          </a:p>
          <a:p>
            <a:pPr marL="342900" indent="-342900">
              <a:spcBef>
                <a:spcPct val="20000"/>
              </a:spcBef>
              <a:buFontTx/>
              <a:buChar char="•"/>
              <a:defRPr/>
            </a:pPr>
            <a:endParaRPr lang="en-GB" sz="2400" b="1" kern="0" dirty="0" smtClean="0">
              <a:latin typeface="+mn-lt"/>
            </a:endParaRPr>
          </a:p>
          <a:p>
            <a:pPr marL="342900" indent="-342900">
              <a:spcBef>
                <a:spcPct val="20000"/>
              </a:spcBef>
              <a:buFontTx/>
              <a:buChar char="•"/>
              <a:defRPr/>
            </a:pPr>
            <a:r>
              <a:rPr lang="en-GB" sz="2400" b="1" kern="0" dirty="0" smtClean="0">
                <a:solidFill>
                  <a:schemeClr val="accent2"/>
                </a:solidFill>
                <a:latin typeface="+mn-lt"/>
              </a:rPr>
              <a:t>It is hoped that detailed comparison of prints like these will improve both our theoretical understanding of distraction errors and our practical ability to avoid them.</a:t>
            </a:r>
            <a:endParaRPr lang="en-GB" sz="2400" b="1" kern="0" dirty="0">
              <a:solidFill>
                <a:schemeClr val="accent2"/>
              </a:solidFill>
              <a:latin typeface="+mn-lt"/>
            </a:endParaRP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0"/>
            <a:ext cx="9906000" cy="1700213"/>
          </a:xfrm>
        </p:spPr>
        <p:txBody>
          <a:bodyPr/>
          <a:lstStyle/>
          <a:p>
            <a:pPr eaLnBrk="1" hangingPunct="1"/>
            <a:r>
              <a:rPr lang="en-GB" sz="3200" b="1" dirty="0" smtClean="0"/>
              <a:t>STATE OF PLAY, APRIL 2010</a:t>
            </a:r>
            <a:endParaRPr lang="en-US" sz="3200" b="1" dirty="0" smtClean="0"/>
          </a:p>
        </p:txBody>
      </p:sp>
      <p:sp>
        <p:nvSpPr>
          <p:cNvPr id="56323" name="Rectangle 3"/>
          <p:cNvSpPr>
            <a:spLocks noGrp="1" noChangeArrowheads="1"/>
          </p:cNvSpPr>
          <p:nvPr>
            <p:ph type="body" idx="1"/>
          </p:nvPr>
        </p:nvSpPr>
        <p:spPr>
          <a:xfrm>
            <a:off x="0" y="1989138"/>
            <a:ext cx="9906000" cy="4868862"/>
          </a:xfrm>
        </p:spPr>
        <p:txBody>
          <a:bodyPr/>
          <a:lstStyle/>
          <a:p>
            <a:pPr eaLnBrk="1" hangingPunct="1"/>
            <a:r>
              <a:rPr lang="en-GB" sz="2400" b="1" dirty="0" smtClean="0"/>
              <a:t>Programming of </a:t>
            </a:r>
            <a:r>
              <a:rPr lang="en-GB" sz="2400" b="1" i="1" dirty="0" err="1" smtClean="0"/>
              <a:t>Konrad</a:t>
            </a:r>
            <a:r>
              <a:rPr lang="en-GB" sz="2400" b="1" dirty="0" smtClean="0"/>
              <a:t> began in August 2007 and the Conference Pack shows progress to date.  Features include …..</a:t>
            </a:r>
            <a:endParaRPr lang="en-GB" sz="2400" b="1" dirty="0" smtClean="0">
              <a:solidFill>
                <a:srgbClr val="0070C0"/>
              </a:solidFill>
            </a:endParaRPr>
          </a:p>
          <a:p>
            <a:pPr eaLnBrk="1" hangingPunct="1"/>
            <a:endParaRPr lang="en-GB" sz="2400" b="1" dirty="0" smtClean="0">
              <a:solidFill>
                <a:srgbClr val="0070C0"/>
              </a:solidFill>
            </a:endParaRPr>
          </a:p>
          <a:p>
            <a:pPr eaLnBrk="1" hangingPunct="1"/>
            <a:r>
              <a:rPr lang="en-GB" sz="2400" b="1" dirty="0" err="1" smtClean="0">
                <a:solidFill>
                  <a:schemeClr val="accent2"/>
                </a:solidFill>
              </a:rPr>
              <a:t>LTM</a:t>
            </a:r>
            <a:r>
              <a:rPr lang="en-GB" sz="2400" b="1" dirty="0" smtClean="0">
                <a:solidFill>
                  <a:schemeClr val="accent2"/>
                </a:solidFill>
              </a:rPr>
              <a:t> storage capacity is effectively limitless.</a:t>
            </a:r>
          </a:p>
          <a:p>
            <a:pPr eaLnBrk="1" hangingPunct="1"/>
            <a:endParaRPr lang="en-GB" sz="2400" b="1" dirty="0" smtClean="0">
              <a:solidFill>
                <a:schemeClr val="accent2"/>
              </a:solidFill>
            </a:endParaRPr>
          </a:p>
          <a:p>
            <a:pPr eaLnBrk="1" hangingPunct="1"/>
            <a:r>
              <a:rPr lang="en-GB" sz="2400" b="1" dirty="0" smtClean="0">
                <a:solidFill>
                  <a:schemeClr val="accent2"/>
                </a:solidFill>
              </a:rPr>
              <a:t>Research "subjects" can be built to order, pre-loaded with controlled past experience. There are no practice or fatigue effects unless so required, allowing “impossible research” to be conducted. </a:t>
            </a:r>
            <a:r>
              <a:rPr lang="en-GB" sz="2400" b="1" i="1" dirty="0" err="1" smtClean="0">
                <a:solidFill>
                  <a:schemeClr val="accent2"/>
                </a:solidFill>
              </a:rPr>
              <a:t>Konrad</a:t>
            </a:r>
            <a:r>
              <a:rPr lang="en-GB" sz="2400" b="1" dirty="0" smtClean="0">
                <a:solidFill>
                  <a:schemeClr val="accent2"/>
                </a:solidFill>
              </a:rPr>
              <a:t> can also be deliberately “brain damaged” without ethical consequence, allowing it to act as its own control in intact-versus-impaired group comparison designs.</a:t>
            </a:r>
          </a:p>
          <a:p>
            <a:pPr eaLnBrk="1" hangingPunct="1"/>
            <a:endParaRPr lang="en-GB" sz="2400" b="1" dirty="0" smtClean="0">
              <a:solidFill>
                <a:schemeClr val="accent2"/>
              </a:solidFill>
            </a:endParaRP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type="body" idx="1"/>
          </p:nvPr>
        </p:nvSpPr>
        <p:spPr>
          <a:xfrm>
            <a:off x="0" y="1989138"/>
            <a:ext cx="9667908" cy="4868862"/>
          </a:xfrm>
        </p:spPr>
        <p:txBody>
          <a:bodyPr/>
          <a:lstStyle/>
          <a:p>
            <a:pPr eaLnBrk="1" hangingPunct="1"/>
            <a:r>
              <a:rPr lang="en-GB" sz="2400" b="1" dirty="0" err="1" smtClean="0"/>
              <a:t>IEHF</a:t>
            </a:r>
            <a:r>
              <a:rPr lang="en-GB" sz="2400" b="1" dirty="0" smtClean="0"/>
              <a:t> colleagues with “impossible research” issues of their own may be interested in research collaborations. </a:t>
            </a:r>
            <a:r>
              <a:rPr lang="en-GB" sz="2400" b="1" i="1" dirty="0" err="1" smtClean="0"/>
              <a:t>Konrad</a:t>
            </a:r>
            <a:r>
              <a:rPr lang="en-GB" sz="2400" b="1" dirty="0" smtClean="0"/>
              <a:t> will be pleased to cooperate if it can. </a:t>
            </a:r>
            <a:r>
              <a:rPr lang="en-GB" sz="2400" b="1" dirty="0" smtClean="0">
                <a:solidFill>
                  <a:schemeClr val="accent2"/>
                </a:solidFill>
              </a:rPr>
              <a:t>The necessary contact details are in your Conference Pack.</a:t>
            </a:r>
          </a:p>
        </p:txBody>
      </p:sp>
      <p:sp>
        <p:nvSpPr>
          <p:cNvPr id="5" name="Rectangle 2"/>
          <p:cNvSpPr>
            <a:spLocks noGrp="1" noChangeArrowheads="1"/>
          </p:cNvSpPr>
          <p:nvPr>
            <p:ph type="title"/>
          </p:nvPr>
        </p:nvSpPr>
        <p:spPr>
          <a:xfrm>
            <a:off x="0" y="0"/>
            <a:ext cx="9906000" cy="1700213"/>
          </a:xfrm>
        </p:spPr>
        <p:txBody>
          <a:bodyPr/>
          <a:lstStyle/>
          <a:p>
            <a:pPr eaLnBrk="1" hangingPunct="1"/>
            <a:r>
              <a:rPr lang="en-GB" sz="3200" b="1" dirty="0" smtClean="0"/>
              <a:t>CALL FOR COLLABORATION</a:t>
            </a:r>
            <a:endParaRPr lang="en-US" sz="3200" b="1" dirty="0" smtClean="0"/>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495300" y="0"/>
            <a:ext cx="8953500" cy="6858000"/>
          </a:xfrm>
        </p:spPr>
        <p:txBody>
          <a:bodyPr/>
          <a:lstStyle/>
          <a:p>
            <a:pPr eaLnBrk="1" hangingPunct="1"/>
            <a:r>
              <a:rPr lang="en-GB" sz="6000" b="1" smtClean="0">
                <a:solidFill>
                  <a:srgbClr val="FF0000"/>
                </a:solidFill>
              </a:rPr>
              <a:t>THE END</a:t>
            </a:r>
            <a:endParaRPr lang="en-US" sz="4800" b="1" smtClean="0"/>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GB" sz="3600" b="1" smtClean="0"/>
              <a:t>ANY QUESTIONS?</a:t>
            </a:r>
            <a:endParaRPr lang="en-US" sz="3600" b="1" smtClean="0"/>
          </a:p>
        </p:txBody>
      </p:sp>
      <p:grpSp>
        <p:nvGrpSpPr>
          <p:cNvPr id="59395" name="Group 4"/>
          <p:cNvGrpSpPr>
            <a:grpSpLocks/>
          </p:cNvGrpSpPr>
          <p:nvPr/>
        </p:nvGrpSpPr>
        <p:grpSpPr bwMode="auto">
          <a:xfrm>
            <a:off x="488950" y="4000500"/>
            <a:ext cx="3321050" cy="2682875"/>
            <a:chOff x="1690" y="658"/>
            <a:chExt cx="14696" cy="10261"/>
          </a:xfrm>
        </p:grpSpPr>
        <p:sp>
          <p:nvSpPr>
            <p:cNvPr id="59637" name="AutoShape 5"/>
            <p:cNvSpPr>
              <a:spLocks noChangeArrowheads="1"/>
            </p:cNvSpPr>
            <p:nvPr/>
          </p:nvSpPr>
          <p:spPr bwMode="auto">
            <a:xfrm>
              <a:off x="3368" y="975"/>
              <a:ext cx="5353" cy="2359"/>
            </a:xfrm>
            <a:prstGeom prst="flowChartMagneticDisk">
              <a:avLst/>
            </a:prstGeom>
            <a:solidFill>
              <a:srgbClr val="DDDDDD"/>
            </a:solidFill>
            <a:ln w="9525">
              <a:solidFill>
                <a:schemeClr val="tx1"/>
              </a:solidFill>
              <a:round/>
              <a:headEnd/>
              <a:tailEnd/>
            </a:ln>
          </p:spPr>
          <p:txBody>
            <a:bodyPr wrap="none" anchor="ctr"/>
            <a:lstStyle/>
            <a:p>
              <a:pPr algn="ctr" defTabSz="2817813"/>
              <a:r>
                <a:rPr lang="en-GB" sz="400" b="1">
                  <a:cs typeface="Arial" charset="0"/>
                </a:rPr>
                <a:t>THE KONRAD2 DATABASE</a:t>
              </a:r>
            </a:p>
            <a:p>
              <a:pPr algn="ctr" defTabSz="2817813"/>
              <a:endParaRPr lang="en-GB" sz="400" b="1">
                <a:cs typeface="Arial" charset="0"/>
              </a:endParaRPr>
            </a:p>
            <a:p>
              <a:pPr algn="ctr" defTabSz="2817813"/>
              <a:endParaRPr lang="en-US" sz="400" b="1">
                <a:cs typeface="Arial" charset="0"/>
              </a:endParaRPr>
            </a:p>
          </p:txBody>
        </p:sp>
        <p:sp>
          <p:nvSpPr>
            <p:cNvPr id="59638" name="Rectangle 6"/>
            <p:cNvSpPr>
              <a:spLocks noChangeArrowheads="1"/>
            </p:cNvSpPr>
            <p:nvPr/>
          </p:nvSpPr>
          <p:spPr bwMode="auto">
            <a:xfrm>
              <a:off x="5183" y="5647"/>
              <a:ext cx="1860" cy="998"/>
            </a:xfrm>
            <a:prstGeom prst="rect">
              <a:avLst/>
            </a:prstGeom>
            <a:solidFill>
              <a:srgbClr val="DDDDDD"/>
            </a:solidFill>
            <a:ln w="9525">
              <a:solidFill>
                <a:schemeClr val="tx1"/>
              </a:solidFill>
              <a:miter lim="800000"/>
              <a:headEnd/>
              <a:tailEnd/>
            </a:ln>
          </p:spPr>
          <p:txBody>
            <a:bodyPr wrap="none" anchor="ctr"/>
            <a:lstStyle/>
            <a:p>
              <a:pPr algn="ctr" defTabSz="2817813"/>
              <a:r>
                <a:rPr lang="en-GB" sz="400" b="1">
                  <a:cs typeface="Arial" charset="0"/>
                </a:rPr>
                <a:t>KONRAD2</a:t>
              </a:r>
            </a:p>
            <a:p>
              <a:pPr algn="ctr" defTabSz="2817813"/>
              <a:r>
                <a:rPr lang="en-GB" sz="400" b="1">
                  <a:cs typeface="Arial" charset="0"/>
                </a:rPr>
                <a:t>MAIN</a:t>
              </a:r>
              <a:endParaRPr lang="en-US" sz="400" b="1">
                <a:cs typeface="Arial" charset="0"/>
              </a:endParaRPr>
            </a:p>
          </p:txBody>
        </p:sp>
        <p:sp>
          <p:nvSpPr>
            <p:cNvPr id="59639" name="AutoShape 7"/>
            <p:cNvSpPr>
              <a:spLocks noChangeArrowheads="1"/>
            </p:cNvSpPr>
            <p:nvPr/>
          </p:nvSpPr>
          <p:spPr bwMode="auto">
            <a:xfrm>
              <a:off x="2506" y="5420"/>
              <a:ext cx="862" cy="1406"/>
            </a:xfrm>
            <a:prstGeom prst="can">
              <a:avLst>
                <a:gd name="adj" fmla="val 40777"/>
              </a:avLst>
            </a:prstGeom>
            <a:solidFill>
              <a:srgbClr val="DDDDDD"/>
            </a:solidFill>
            <a:ln w="9525">
              <a:solidFill>
                <a:schemeClr val="tx1"/>
              </a:solidFill>
              <a:round/>
              <a:headEnd/>
              <a:tailEnd/>
            </a:ln>
          </p:spPr>
          <p:txBody>
            <a:bodyPr wrap="none" anchor="ctr"/>
            <a:lstStyle/>
            <a:p>
              <a:pPr algn="ctr" defTabSz="2817813"/>
              <a:r>
                <a:rPr lang="en-GB" sz="400">
                  <a:cs typeface="Arial" charset="0"/>
                </a:rPr>
                <a:t>COMMANDS</a:t>
              </a:r>
            </a:p>
            <a:p>
              <a:pPr algn="ctr" defTabSz="2817813"/>
              <a:r>
                <a:rPr lang="en-GB" sz="400">
                  <a:cs typeface="Arial" charset="0"/>
                </a:rPr>
                <a:t>FILE</a:t>
              </a:r>
            </a:p>
            <a:p>
              <a:pPr algn="ctr" defTabSz="2817813"/>
              <a:r>
                <a:rPr lang="en-GB" sz="400">
                  <a:cs typeface="Arial" charset="0"/>
                </a:rPr>
                <a:t>(Input H01234T</a:t>
              </a:r>
            </a:p>
            <a:p>
              <a:pPr algn="ctr" defTabSz="2817813"/>
              <a:r>
                <a:rPr lang="en-GB" sz="400">
                  <a:cs typeface="Arial" charset="0"/>
                </a:rPr>
                <a:t>VSAM Dataset)</a:t>
              </a:r>
              <a:endParaRPr lang="en-US" sz="400">
                <a:cs typeface="Arial" charset="0"/>
              </a:endParaRPr>
            </a:p>
          </p:txBody>
        </p:sp>
        <p:sp>
          <p:nvSpPr>
            <p:cNvPr id="59640" name="AutoShape 8"/>
            <p:cNvSpPr>
              <a:spLocks noChangeArrowheads="1"/>
            </p:cNvSpPr>
            <p:nvPr/>
          </p:nvSpPr>
          <p:spPr bwMode="auto">
            <a:xfrm>
              <a:off x="8584" y="5421"/>
              <a:ext cx="1814" cy="1270"/>
            </a:xfrm>
            <a:prstGeom prst="flowChartMultidocument">
              <a:avLst/>
            </a:prstGeom>
            <a:solidFill>
              <a:srgbClr val="DDDDDD"/>
            </a:solidFill>
            <a:ln w="9525">
              <a:solidFill>
                <a:schemeClr val="tx1"/>
              </a:solidFill>
              <a:miter lim="800000"/>
              <a:headEnd/>
              <a:tailEnd/>
            </a:ln>
          </p:spPr>
          <p:txBody>
            <a:bodyPr wrap="none" anchor="ctr"/>
            <a:lstStyle/>
            <a:p>
              <a:pPr algn="ctr" defTabSz="2817813"/>
              <a:r>
                <a:rPr lang="en-GB" sz="400">
                  <a:cs typeface="Arial" charset="0"/>
                </a:rPr>
                <a:t>LOG A/B/C/[D/E]</a:t>
              </a:r>
              <a:endParaRPr lang="en-US" sz="400">
                <a:cs typeface="Arial" charset="0"/>
              </a:endParaRPr>
            </a:p>
          </p:txBody>
        </p:sp>
        <p:sp>
          <p:nvSpPr>
            <p:cNvPr id="59641" name="Line 9"/>
            <p:cNvSpPr>
              <a:spLocks noChangeShapeType="1"/>
            </p:cNvSpPr>
            <p:nvPr/>
          </p:nvSpPr>
          <p:spPr bwMode="auto">
            <a:xfrm>
              <a:off x="3368" y="6146"/>
              <a:ext cx="1815" cy="0"/>
            </a:xfrm>
            <a:prstGeom prst="line">
              <a:avLst/>
            </a:prstGeom>
            <a:noFill/>
            <a:ln w="9525">
              <a:solidFill>
                <a:schemeClr val="tx1"/>
              </a:solidFill>
              <a:round/>
              <a:headEnd/>
              <a:tailEnd type="triangle" w="med" len="med"/>
            </a:ln>
          </p:spPr>
          <p:txBody>
            <a:bodyPr/>
            <a:lstStyle/>
            <a:p>
              <a:endParaRPr lang="en-GB"/>
            </a:p>
          </p:txBody>
        </p:sp>
        <p:grpSp>
          <p:nvGrpSpPr>
            <p:cNvPr id="59642" name="Group 10"/>
            <p:cNvGrpSpPr>
              <a:grpSpLocks/>
            </p:cNvGrpSpPr>
            <p:nvPr/>
          </p:nvGrpSpPr>
          <p:grpSpPr bwMode="auto">
            <a:xfrm>
              <a:off x="5954" y="3334"/>
              <a:ext cx="362" cy="2313"/>
              <a:chOff x="5954" y="3334"/>
              <a:chExt cx="362" cy="3402"/>
            </a:xfrm>
          </p:grpSpPr>
          <p:sp>
            <p:nvSpPr>
              <p:cNvPr id="59674" name="Line 11"/>
              <p:cNvSpPr>
                <a:spLocks noChangeShapeType="1"/>
              </p:cNvSpPr>
              <p:nvPr/>
            </p:nvSpPr>
            <p:spPr bwMode="auto">
              <a:xfrm flipV="1">
                <a:off x="5954" y="3334"/>
                <a:ext cx="0" cy="3402"/>
              </a:xfrm>
              <a:prstGeom prst="line">
                <a:avLst/>
              </a:prstGeom>
              <a:noFill/>
              <a:ln w="9525">
                <a:solidFill>
                  <a:schemeClr val="tx1"/>
                </a:solidFill>
                <a:round/>
                <a:headEnd/>
                <a:tailEnd type="triangle" w="med" len="med"/>
              </a:ln>
            </p:spPr>
            <p:txBody>
              <a:bodyPr/>
              <a:lstStyle/>
              <a:p>
                <a:endParaRPr lang="en-GB"/>
              </a:p>
            </p:txBody>
          </p:sp>
          <p:sp>
            <p:nvSpPr>
              <p:cNvPr id="59675" name="Line 12"/>
              <p:cNvSpPr>
                <a:spLocks noChangeShapeType="1"/>
              </p:cNvSpPr>
              <p:nvPr/>
            </p:nvSpPr>
            <p:spPr bwMode="auto">
              <a:xfrm>
                <a:off x="6316" y="3334"/>
                <a:ext cx="0" cy="3402"/>
              </a:xfrm>
              <a:prstGeom prst="line">
                <a:avLst/>
              </a:prstGeom>
              <a:noFill/>
              <a:ln w="9525">
                <a:solidFill>
                  <a:schemeClr val="tx1"/>
                </a:solidFill>
                <a:round/>
                <a:headEnd/>
                <a:tailEnd type="triangle" w="med" len="med"/>
              </a:ln>
            </p:spPr>
            <p:txBody>
              <a:bodyPr/>
              <a:lstStyle/>
              <a:p>
                <a:endParaRPr lang="en-GB"/>
              </a:p>
            </p:txBody>
          </p:sp>
        </p:grpSp>
        <p:sp>
          <p:nvSpPr>
            <p:cNvPr id="59643" name="AutoShape 13"/>
            <p:cNvSpPr>
              <a:spLocks noChangeArrowheads="1"/>
            </p:cNvSpPr>
            <p:nvPr/>
          </p:nvSpPr>
          <p:spPr bwMode="auto">
            <a:xfrm>
              <a:off x="1871" y="7915"/>
              <a:ext cx="1588" cy="816"/>
            </a:xfrm>
            <a:prstGeom prst="flowChartDisplay">
              <a:avLst/>
            </a:prstGeom>
            <a:solidFill>
              <a:srgbClr val="DDDDDD"/>
            </a:solidFill>
            <a:ln w="9525">
              <a:solidFill>
                <a:schemeClr val="tx1"/>
              </a:solidFill>
              <a:miter lim="800000"/>
              <a:headEnd/>
              <a:tailEnd/>
            </a:ln>
          </p:spPr>
          <p:txBody>
            <a:bodyPr wrap="none" anchor="ctr"/>
            <a:lstStyle/>
            <a:p>
              <a:pPr algn="ctr" defTabSz="2817813"/>
              <a:r>
                <a:rPr lang="en-GB" sz="400">
                  <a:cs typeface="Arial" charset="0"/>
                </a:rPr>
                <a:t>CONSOLE</a:t>
              </a:r>
            </a:p>
            <a:p>
              <a:pPr algn="ctr" defTabSz="2817813"/>
              <a:r>
                <a:rPr lang="en-GB" sz="400">
                  <a:cs typeface="Arial" charset="0"/>
                </a:rPr>
                <a:t>COMMAND</a:t>
              </a:r>
              <a:endParaRPr lang="en-US" sz="400">
                <a:cs typeface="Arial" charset="0"/>
              </a:endParaRPr>
            </a:p>
          </p:txBody>
        </p:sp>
        <p:sp>
          <p:nvSpPr>
            <p:cNvPr id="59644" name="Line 14"/>
            <p:cNvSpPr>
              <a:spLocks noChangeShapeType="1"/>
            </p:cNvSpPr>
            <p:nvPr/>
          </p:nvSpPr>
          <p:spPr bwMode="auto">
            <a:xfrm flipV="1">
              <a:off x="3323" y="6554"/>
              <a:ext cx="1860" cy="1406"/>
            </a:xfrm>
            <a:prstGeom prst="line">
              <a:avLst/>
            </a:prstGeom>
            <a:noFill/>
            <a:ln w="9525">
              <a:solidFill>
                <a:schemeClr val="tx1"/>
              </a:solidFill>
              <a:prstDash val="dash"/>
              <a:round/>
              <a:headEnd/>
              <a:tailEnd/>
            </a:ln>
          </p:spPr>
          <p:txBody>
            <a:bodyPr/>
            <a:lstStyle/>
            <a:p>
              <a:endParaRPr lang="en-GB"/>
            </a:p>
          </p:txBody>
        </p:sp>
        <p:sp>
          <p:nvSpPr>
            <p:cNvPr id="59645" name="AutoShape 15"/>
            <p:cNvSpPr>
              <a:spLocks noChangeArrowheads="1"/>
            </p:cNvSpPr>
            <p:nvPr/>
          </p:nvSpPr>
          <p:spPr bwMode="auto">
            <a:xfrm>
              <a:off x="1690" y="9820"/>
              <a:ext cx="1724" cy="726"/>
            </a:xfrm>
            <a:prstGeom prst="flowChartPunchedCard">
              <a:avLst/>
            </a:prstGeom>
            <a:solidFill>
              <a:srgbClr val="DDDDDD"/>
            </a:solidFill>
            <a:ln w="9525">
              <a:solidFill>
                <a:schemeClr val="tx1"/>
              </a:solidFill>
              <a:miter lim="800000"/>
              <a:headEnd/>
              <a:tailEnd/>
            </a:ln>
          </p:spPr>
          <p:txBody>
            <a:bodyPr wrap="none" anchor="ctr"/>
            <a:lstStyle/>
            <a:p>
              <a:pPr algn="ctr" defTabSz="2817813"/>
              <a:r>
                <a:rPr lang="en-GB" sz="400">
                  <a:cs typeface="Arial" charset="0"/>
                </a:rPr>
                <a:t>JCL</a:t>
              </a:r>
            </a:p>
            <a:p>
              <a:pPr algn="ctr" defTabSz="2817813"/>
              <a:r>
                <a:rPr lang="en-GB" sz="400">
                  <a:cs typeface="Arial" charset="0"/>
                </a:rPr>
                <a:t>COMMAND</a:t>
              </a:r>
              <a:endParaRPr lang="en-US" sz="400">
                <a:cs typeface="Arial" charset="0"/>
              </a:endParaRPr>
            </a:p>
          </p:txBody>
        </p:sp>
        <p:sp>
          <p:nvSpPr>
            <p:cNvPr id="59646" name="Line 16"/>
            <p:cNvSpPr>
              <a:spLocks noChangeShapeType="1"/>
            </p:cNvSpPr>
            <p:nvPr/>
          </p:nvSpPr>
          <p:spPr bwMode="auto">
            <a:xfrm flipV="1">
              <a:off x="3413" y="6645"/>
              <a:ext cx="2087" cy="3266"/>
            </a:xfrm>
            <a:prstGeom prst="line">
              <a:avLst/>
            </a:prstGeom>
            <a:noFill/>
            <a:ln w="9525">
              <a:solidFill>
                <a:schemeClr val="tx1"/>
              </a:solidFill>
              <a:round/>
              <a:headEnd/>
              <a:tailEnd type="triangle" w="med" len="med"/>
            </a:ln>
          </p:spPr>
          <p:txBody>
            <a:bodyPr/>
            <a:lstStyle/>
            <a:p>
              <a:endParaRPr lang="en-GB"/>
            </a:p>
          </p:txBody>
        </p:sp>
        <p:sp>
          <p:nvSpPr>
            <p:cNvPr id="59647" name="Text Box 17"/>
            <p:cNvSpPr txBox="1">
              <a:spLocks noChangeArrowheads="1"/>
            </p:cNvSpPr>
            <p:nvPr/>
          </p:nvSpPr>
          <p:spPr bwMode="auto">
            <a:xfrm>
              <a:off x="3913" y="9484"/>
              <a:ext cx="3095" cy="656"/>
            </a:xfrm>
            <a:prstGeom prst="rect">
              <a:avLst/>
            </a:prstGeom>
            <a:noFill/>
            <a:ln w="9525">
              <a:noFill/>
              <a:miter lim="800000"/>
              <a:headEnd/>
              <a:tailEnd/>
            </a:ln>
          </p:spPr>
          <p:txBody>
            <a:bodyPr wrap="none">
              <a:spAutoFit/>
            </a:bodyPr>
            <a:lstStyle/>
            <a:p>
              <a:pPr defTabSz="2817813"/>
              <a:r>
                <a:rPr lang="en-GB" sz="400">
                  <a:cs typeface="Arial" charset="0"/>
                </a:rPr>
                <a:t>RUN NO</a:t>
              </a:r>
            </a:p>
            <a:p>
              <a:pPr defTabSz="2817813"/>
              <a:r>
                <a:rPr lang="en-GB" sz="400">
                  <a:cs typeface="Arial" charset="0"/>
                </a:rPr>
                <a:t>LANGUAGE TO RESPOND IN</a:t>
              </a:r>
              <a:endParaRPr lang="en-US" sz="400">
                <a:cs typeface="Arial" charset="0"/>
              </a:endParaRPr>
            </a:p>
          </p:txBody>
        </p:sp>
        <p:sp>
          <p:nvSpPr>
            <p:cNvPr id="59648" name="Line 18"/>
            <p:cNvSpPr>
              <a:spLocks noChangeShapeType="1"/>
            </p:cNvSpPr>
            <p:nvPr/>
          </p:nvSpPr>
          <p:spPr bwMode="auto">
            <a:xfrm>
              <a:off x="6135" y="658"/>
              <a:ext cx="0" cy="2676"/>
            </a:xfrm>
            <a:prstGeom prst="line">
              <a:avLst/>
            </a:prstGeom>
            <a:noFill/>
            <a:ln w="9525">
              <a:solidFill>
                <a:schemeClr val="tx1"/>
              </a:solidFill>
              <a:prstDash val="dash"/>
              <a:round/>
              <a:headEnd/>
              <a:tailEnd/>
            </a:ln>
          </p:spPr>
          <p:txBody>
            <a:bodyPr/>
            <a:lstStyle/>
            <a:p>
              <a:endParaRPr lang="en-GB"/>
            </a:p>
          </p:txBody>
        </p:sp>
        <p:sp>
          <p:nvSpPr>
            <p:cNvPr id="59649" name="Line 19"/>
            <p:cNvSpPr>
              <a:spLocks noChangeShapeType="1"/>
            </p:cNvSpPr>
            <p:nvPr/>
          </p:nvSpPr>
          <p:spPr bwMode="auto">
            <a:xfrm>
              <a:off x="7042" y="6146"/>
              <a:ext cx="1542" cy="0"/>
            </a:xfrm>
            <a:prstGeom prst="line">
              <a:avLst/>
            </a:prstGeom>
            <a:noFill/>
            <a:ln w="9525">
              <a:solidFill>
                <a:schemeClr val="tx1"/>
              </a:solidFill>
              <a:round/>
              <a:headEnd/>
              <a:tailEnd type="triangle" w="med" len="med"/>
            </a:ln>
          </p:spPr>
          <p:txBody>
            <a:bodyPr/>
            <a:lstStyle/>
            <a:p>
              <a:endParaRPr lang="en-GB"/>
            </a:p>
          </p:txBody>
        </p:sp>
        <p:sp>
          <p:nvSpPr>
            <p:cNvPr id="59650" name="Text Box 20"/>
            <p:cNvSpPr txBox="1">
              <a:spLocks noChangeArrowheads="1"/>
            </p:cNvSpPr>
            <p:nvPr/>
          </p:nvSpPr>
          <p:spPr bwMode="auto">
            <a:xfrm>
              <a:off x="2729" y="7667"/>
              <a:ext cx="2648" cy="656"/>
            </a:xfrm>
            <a:prstGeom prst="rect">
              <a:avLst/>
            </a:prstGeom>
            <a:noFill/>
            <a:ln w="9525">
              <a:noFill/>
              <a:miter lim="800000"/>
              <a:headEnd/>
              <a:tailEnd/>
            </a:ln>
          </p:spPr>
          <p:txBody>
            <a:bodyPr wrap="none">
              <a:spAutoFit/>
            </a:bodyPr>
            <a:lstStyle/>
            <a:p>
              <a:pPr defTabSz="2817813"/>
              <a:r>
                <a:rPr lang="en-GB" sz="400">
                  <a:cs typeface="Arial" charset="0"/>
                </a:rPr>
                <a:t>USED FOR EXCEPTION</a:t>
              </a:r>
            </a:p>
            <a:p>
              <a:pPr defTabSz="2817813"/>
              <a:r>
                <a:rPr lang="en-GB" sz="400">
                  <a:cs typeface="Arial" charset="0"/>
                </a:rPr>
                <a:t>HANDLING ONLY</a:t>
              </a:r>
              <a:endParaRPr lang="en-US" sz="400">
                <a:cs typeface="Arial" charset="0"/>
              </a:endParaRPr>
            </a:p>
          </p:txBody>
        </p:sp>
        <p:sp>
          <p:nvSpPr>
            <p:cNvPr id="59651" name="Text Box 21"/>
            <p:cNvSpPr txBox="1">
              <a:spLocks noChangeArrowheads="1"/>
            </p:cNvSpPr>
            <p:nvPr/>
          </p:nvSpPr>
          <p:spPr bwMode="auto">
            <a:xfrm>
              <a:off x="3371" y="5649"/>
              <a:ext cx="1710" cy="470"/>
            </a:xfrm>
            <a:prstGeom prst="rect">
              <a:avLst/>
            </a:prstGeom>
            <a:noFill/>
            <a:ln w="9525">
              <a:noFill/>
              <a:miter lim="800000"/>
              <a:headEnd/>
              <a:tailEnd/>
            </a:ln>
          </p:spPr>
          <p:txBody>
            <a:bodyPr wrap="none">
              <a:spAutoFit/>
            </a:bodyPr>
            <a:lstStyle/>
            <a:p>
              <a:pPr algn="ctr" defTabSz="2817813"/>
              <a:r>
                <a:rPr lang="en-GB" sz="400">
                  <a:cs typeface="Arial" charset="0"/>
                </a:rPr>
                <a:t>COMMANDS</a:t>
              </a:r>
              <a:endParaRPr lang="en-US" sz="400">
                <a:cs typeface="Arial" charset="0"/>
              </a:endParaRPr>
            </a:p>
          </p:txBody>
        </p:sp>
        <p:sp>
          <p:nvSpPr>
            <p:cNvPr id="59652" name="Text Box 22"/>
            <p:cNvSpPr txBox="1">
              <a:spLocks noChangeArrowheads="1"/>
            </p:cNvSpPr>
            <p:nvPr/>
          </p:nvSpPr>
          <p:spPr bwMode="auto">
            <a:xfrm>
              <a:off x="6807" y="5649"/>
              <a:ext cx="1564" cy="470"/>
            </a:xfrm>
            <a:prstGeom prst="rect">
              <a:avLst/>
            </a:prstGeom>
            <a:noFill/>
            <a:ln w="9525">
              <a:noFill/>
              <a:miter lim="800000"/>
              <a:headEnd/>
              <a:tailEnd/>
            </a:ln>
          </p:spPr>
          <p:txBody>
            <a:bodyPr wrap="none">
              <a:spAutoFit/>
            </a:bodyPr>
            <a:lstStyle/>
            <a:p>
              <a:pPr algn="ctr" defTabSz="2817813"/>
              <a:r>
                <a:rPr lang="en-GB" sz="400">
                  <a:cs typeface="Arial" charset="0"/>
                </a:rPr>
                <a:t>PRINTLOG</a:t>
              </a:r>
              <a:endParaRPr lang="en-US" sz="400">
                <a:cs typeface="Arial" charset="0"/>
              </a:endParaRPr>
            </a:p>
          </p:txBody>
        </p:sp>
        <p:sp>
          <p:nvSpPr>
            <p:cNvPr id="59653" name="Rectangle 23"/>
            <p:cNvSpPr>
              <a:spLocks noChangeArrowheads="1"/>
            </p:cNvSpPr>
            <p:nvPr/>
          </p:nvSpPr>
          <p:spPr bwMode="auto">
            <a:xfrm>
              <a:off x="3550" y="2200"/>
              <a:ext cx="4989" cy="771"/>
            </a:xfrm>
            <a:prstGeom prst="rect">
              <a:avLst/>
            </a:prstGeom>
            <a:solidFill>
              <a:schemeClr val="bg1"/>
            </a:solidFill>
            <a:ln w="9525">
              <a:solidFill>
                <a:srgbClr val="000000"/>
              </a:solidFill>
              <a:prstDash val="dash"/>
              <a:miter lim="800000"/>
              <a:headEnd/>
              <a:tailEnd/>
            </a:ln>
          </p:spPr>
          <p:txBody>
            <a:bodyPr wrap="none" anchor="ctr"/>
            <a:lstStyle/>
            <a:p>
              <a:pPr algn="ctr" defTabSz="2817813"/>
              <a:r>
                <a:rPr lang="en-GB" sz="400" b="1">
                  <a:cs typeface="Arial" charset="0"/>
                </a:rPr>
                <a:t>SELECTIVELY MASKED OUT BY SUBSCHEMAS</a:t>
              </a:r>
            </a:p>
            <a:p>
              <a:pPr algn="ctr" defTabSz="2817813"/>
              <a:r>
                <a:rPr lang="en-GB" sz="400" b="1">
                  <a:cs typeface="Arial" charset="0"/>
                </a:rPr>
                <a:t>OTHER THAN &lt;UNMASKED&gt;</a:t>
              </a:r>
              <a:endParaRPr lang="en-US" sz="400" b="1">
                <a:cs typeface="Arial" charset="0"/>
              </a:endParaRPr>
            </a:p>
          </p:txBody>
        </p:sp>
        <p:sp>
          <p:nvSpPr>
            <p:cNvPr id="59654" name="Line 24"/>
            <p:cNvSpPr>
              <a:spLocks noChangeShapeType="1"/>
            </p:cNvSpPr>
            <p:nvPr/>
          </p:nvSpPr>
          <p:spPr bwMode="auto">
            <a:xfrm>
              <a:off x="7042" y="6418"/>
              <a:ext cx="1497" cy="1134"/>
            </a:xfrm>
            <a:prstGeom prst="line">
              <a:avLst/>
            </a:prstGeom>
            <a:noFill/>
            <a:ln w="9525">
              <a:solidFill>
                <a:schemeClr val="tx1"/>
              </a:solidFill>
              <a:round/>
              <a:headEnd/>
              <a:tailEnd type="triangle" w="med" len="med"/>
            </a:ln>
          </p:spPr>
          <p:txBody>
            <a:bodyPr/>
            <a:lstStyle/>
            <a:p>
              <a:endParaRPr lang="en-GB"/>
            </a:p>
          </p:txBody>
        </p:sp>
        <p:sp>
          <p:nvSpPr>
            <p:cNvPr id="59655" name="AutoShape 25"/>
            <p:cNvSpPr>
              <a:spLocks noChangeArrowheads="1"/>
            </p:cNvSpPr>
            <p:nvPr/>
          </p:nvSpPr>
          <p:spPr bwMode="auto">
            <a:xfrm>
              <a:off x="14028" y="7054"/>
              <a:ext cx="1588" cy="816"/>
            </a:xfrm>
            <a:prstGeom prst="flowChartDisplay">
              <a:avLst/>
            </a:prstGeom>
            <a:solidFill>
              <a:srgbClr val="DDDDDD"/>
            </a:solidFill>
            <a:ln w="9525">
              <a:solidFill>
                <a:schemeClr val="tx1"/>
              </a:solidFill>
              <a:miter lim="800000"/>
              <a:headEnd/>
              <a:tailEnd/>
            </a:ln>
          </p:spPr>
          <p:txBody>
            <a:bodyPr wrap="none" anchor="ctr"/>
            <a:lstStyle/>
            <a:p>
              <a:pPr algn="ctr" defTabSz="2817813"/>
              <a:r>
                <a:rPr lang="en-GB" sz="400">
                  <a:cs typeface="Arial" charset="0"/>
                </a:rPr>
                <a:t>PC DISPLAY</a:t>
              </a:r>
              <a:endParaRPr lang="en-US" sz="400">
                <a:cs typeface="Arial" charset="0"/>
              </a:endParaRPr>
            </a:p>
          </p:txBody>
        </p:sp>
        <p:sp>
          <p:nvSpPr>
            <p:cNvPr id="59656" name="Line 26"/>
            <p:cNvSpPr>
              <a:spLocks noChangeShapeType="1"/>
            </p:cNvSpPr>
            <p:nvPr/>
          </p:nvSpPr>
          <p:spPr bwMode="auto">
            <a:xfrm>
              <a:off x="7042" y="6600"/>
              <a:ext cx="1452" cy="2223"/>
            </a:xfrm>
            <a:prstGeom prst="line">
              <a:avLst/>
            </a:prstGeom>
            <a:noFill/>
            <a:ln w="9525">
              <a:solidFill>
                <a:schemeClr val="tx1"/>
              </a:solidFill>
              <a:round/>
              <a:headEnd/>
              <a:tailEnd type="triangle" w="med" len="med"/>
            </a:ln>
          </p:spPr>
          <p:txBody>
            <a:bodyPr/>
            <a:lstStyle/>
            <a:p>
              <a:endParaRPr lang="en-GB"/>
            </a:p>
          </p:txBody>
        </p:sp>
        <p:sp>
          <p:nvSpPr>
            <p:cNvPr id="59657" name="Text Box 27"/>
            <p:cNvSpPr txBox="1">
              <a:spLocks noChangeArrowheads="1"/>
            </p:cNvSpPr>
            <p:nvPr/>
          </p:nvSpPr>
          <p:spPr bwMode="auto">
            <a:xfrm>
              <a:off x="7220" y="6702"/>
              <a:ext cx="1631" cy="470"/>
            </a:xfrm>
            <a:prstGeom prst="rect">
              <a:avLst/>
            </a:prstGeom>
            <a:noFill/>
            <a:ln w="9525">
              <a:noFill/>
              <a:miter lim="800000"/>
              <a:headEnd/>
              <a:tailEnd/>
            </a:ln>
          </p:spPr>
          <p:txBody>
            <a:bodyPr wrap="none">
              <a:spAutoFit/>
            </a:bodyPr>
            <a:lstStyle/>
            <a:p>
              <a:pPr algn="ctr" defTabSz="2817813"/>
              <a:r>
                <a:rPr lang="en-GB" sz="400">
                  <a:cs typeface="Arial" charset="0"/>
                </a:rPr>
                <a:t>SEMIOTICS</a:t>
              </a:r>
              <a:endParaRPr lang="en-US" sz="400">
                <a:cs typeface="Arial" charset="0"/>
              </a:endParaRPr>
            </a:p>
          </p:txBody>
        </p:sp>
        <p:sp>
          <p:nvSpPr>
            <p:cNvPr id="59658" name="Text Box 28"/>
            <p:cNvSpPr txBox="1">
              <a:spLocks noChangeArrowheads="1"/>
            </p:cNvSpPr>
            <p:nvPr/>
          </p:nvSpPr>
          <p:spPr bwMode="auto">
            <a:xfrm>
              <a:off x="6756" y="7926"/>
              <a:ext cx="1475" cy="471"/>
            </a:xfrm>
            <a:prstGeom prst="rect">
              <a:avLst/>
            </a:prstGeom>
            <a:noFill/>
            <a:ln w="9525">
              <a:noFill/>
              <a:miter lim="800000"/>
              <a:headEnd/>
              <a:tailEnd/>
            </a:ln>
          </p:spPr>
          <p:txBody>
            <a:bodyPr wrap="none">
              <a:spAutoFit/>
            </a:bodyPr>
            <a:lstStyle/>
            <a:p>
              <a:pPr algn="ctr" defTabSz="2817813"/>
              <a:r>
                <a:rPr lang="en-GB" sz="400">
                  <a:cs typeface="Arial" charset="0"/>
                </a:rPr>
                <a:t>KINESICS</a:t>
              </a:r>
              <a:endParaRPr lang="en-US" sz="400">
                <a:cs typeface="Arial" charset="0"/>
              </a:endParaRPr>
            </a:p>
          </p:txBody>
        </p:sp>
        <p:sp>
          <p:nvSpPr>
            <p:cNvPr id="59659" name="AutoShape 29"/>
            <p:cNvSpPr>
              <a:spLocks noChangeArrowheads="1"/>
            </p:cNvSpPr>
            <p:nvPr/>
          </p:nvSpPr>
          <p:spPr bwMode="auto">
            <a:xfrm>
              <a:off x="8494" y="6827"/>
              <a:ext cx="862" cy="1406"/>
            </a:xfrm>
            <a:prstGeom prst="can">
              <a:avLst>
                <a:gd name="adj" fmla="val 40777"/>
              </a:avLst>
            </a:prstGeom>
            <a:solidFill>
              <a:srgbClr val="DDDDDD"/>
            </a:solidFill>
            <a:ln w="9525">
              <a:solidFill>
                <a:schemeClr val="tx1"/>
              </a:solidFill>
              <a:round/>
              <a:headEnd/>
              <a:tailEnd/>
            </a:ln>
          </p:spPr>
          <p:txBody>
            <a:bodyPr wrap="none" anchor="ctr"/>
            <a:lstStyle/>
            <a:p>
              <a:pPr algn="ctr" defTabSz="2817813"/>
              <a:r>
                <a:rPr lang="en-GB" sz="400">
                  <a:cs typeface="Arial" charset="0"/>
                </a:rPr>
                <a:t>SEMIOTICS</a:t>
              </a:r>
            </a:p>
            <a:p>
              <a:pPr algn="ctr" defTabSz="2817813"/>
              <a:r>
                <a:rPr lang="en-GB" sz="400">
                  <a:cs typeface="Arial" charset="0"/>
                </a:rPr>
                <a:t>GUI</a:t>
              </a:r>
            </a:p>
            <a:p>
              <a:pPr algn="ctr" defTabSz="2817813"/>
              <a:r>
                <a:rPr lang="en-GB" sz="400">
                  <a:cs typeface="Arial" charset="0"/>
                </a:rPr>
                <a:t>FILE</a:t>
              </a:r>
              <a:endParaRPr lang="en-US" sz="400">
                <a:cs typeface="Arial" charset="0"/>
              </a:endParaRPr>
            </a:p>
          </p:txBody>
        </p:sp>
        <p:sp>
          <p:nvSpPr>
            <p:cNvPr id="59660" name="AutoShape 30"/>
            <p:cNvSpPr>
              <a:spLocks noChangeArrowheads="1"/>
            </p:cNvSpPr>
            <p:nvPr/>
          </p:nvSpPr>
          <p:spPr bwMode="auto">
            <a:xfrm>
              <a:off x="9356" y="7280"/>
              <a:ext cx="1815" cy="499"/>
            </a:xfrm>
            <a:custGeom>
              <a:avLst/>
              <a:gdLst>
                <a:gd name="T0" fmla="*/ 10 w 21600"/>
                <a:gd name="T1" fmla="*/ 0 h 21600"/>
                <a:gd name="T2" fmla="*/ 0 w 21600"/>
                <a:gd name="T3" fmla="*/ 0 h 21600"/>
                <a:gd name="T4" fmla="*/ 10 w 21600"/>
                <a:gd name="T5" fmla="*/ 0 h 21600"/>
                <a:gd name="T6" fmla="*/ 13 w 21600"/>
                <a:gd name="T7" fmla="*/ 0 h 21600"/>
                <a:gd name="T8" fmla="*/ 17694720 60000 65536"/>
                <a:gd name="T9" fmla="*/ 11796480 60000 65536"/>
                <a:gd name="T10" fmla="*/ 5898240 60000 65536"/>
                <a:gd name="T11" fmla="*/ 0 60000 65536"/>
                <a:gd name="T12" fmla="*/ 3380 w 21600"/>
                <a:gd name="T13" fmla="*/ 5411 h 21600"/>
                <a:gd name="T14" fmla="*/ 18899 w 21600"/>
                <a:gd name="T15" fmla="*/ 16189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DDDDDD"/>
            </a:solidFill>
            <a:ln w="9525">
              <a:solidFill>
                <a:schemeClr val="tx1"/>
              </a:solidFill>
              <a:miter lim="800000"/>
              <a:headEnd/>
              <a:tailEnd/>
            </a:ln>
          </p:spPr>
          <p:txBody>
            <a:bodyPr wrap="none" anchor="ctr"/>
            <a:lstStyle/>
            <a:p>
              <a:pPr algn="ctr" defTabSz="2817813"/>
              <a:r>
                <a:rPr lang="en-GB" sz="400">
                  <a:cs typeface="Arial" charset="0"/>
                </a:rPr>
                <a:t>FROM MAINFRAME</a:t>
              </a:r>
              <a:endParaRPr lang="en-US" sz="400">
                <a:cs typeface="Arial" charset="0"/>
              </a:endParaRPr>
            </a:p>
          </p:txBody>
        </p:sp>
        <p:sp>
          <p:nvSpPr>
            <p:cNvPr id="59661" name="Rectangle 31"/>
            <p:cNvSpPr>
              <a:spLocks noChangeArrowheads="1"/>
            </p:cNvSpPr>
            <p:nvPr/>
          </p:nvSpPr>
          <p:spPr bwMode="auto">
            <a:xfrm>
              <a:off x="11170" y="7008"/>
              <a:ext cx="1860" cy="998"/>
            </a:xfrm>
            <a:prstGeom prst="rect">
              <a:avLst/>
            </a:prstGeom>
            <a:solidFill>
              <a:srgbClr val="DDDDDD"/>
            </a:solidFill>
            <a:ln w="9525">
              <a:solidFill>
                <a:schemeClr val="tx1"/>
              </a:solidFill>
              <a:miter lim="800000"/>
              <a:headEnd/>
              <a:tailEnd/>
            </a:ln>
          </p:spPr>
          <p:txBody>
            <a:bodyPr wrap="none" anchor="ctr"/>
            <a:lstStyle/>
            <a:p>
              <a:pPr algn="ctr" defTabSz="2817813"/>
              <a:r>
                <a:rPr lang="en-GB" sz="400" b="1">
                  <a:cs typeface="Arial" charset="0"/>
                </a:rPr>
                <a:t>DOWNLINE</a:t>
              </a:r>
            </a:p>
            <a:p>
              <a:pPr algn="ctr" defTabSz="2817813"/>
              <a:r>
                <a:rPr lang="en-GB" sz="400" b="1">
                  <a:cs typeface="Arial" charset="0"/>
                </a:rPr>
                <a:t>LINGUISTIC</a:t>
              </a:r>
            </a:p>
            <a:p>
              <a:pPr algn="ctr" defTabSz="2817813"/>
              <a:r>
                <a:rPr lang="en-GB" sz="400" b="1">
                  <a:cs typeface="Arial" charset="0"/>
                </a:rPr>
                <a:t>INTERFACE</a:t>
              </a:r>
              <a:endParaRPr lang="en-US" sz="400" b="1">
                <a:cs typeface="Arial" charset="0"/>
              </a:endParaRPr>
            </a:p>
          </p:txBody>
        </p:sp>
        <p:sp>
          <p:nvSpPr>
            <p:cNvPr id="59662" name="Line 32"/>
            <p:cNvSpPr>
              <a:spLocks noChangeShapeType="1"/>
            </p:cNvSpPr>
            <p:nvPr/>
          </p:nvSpPr>
          <p:spPr bwMode="auto">
            <a:xfrm>
              <a:off x="13030" y="7371"/>
              <a:ext cx="1043" cy="0"/>
            </a:xfrm>
            <a:prstGeom prst="line">
              <a:avLst/>
            </a:prstGeom>
            <a:noFill/>
            <a:ln w="9525">
              <a:solidFill>
                <a:schemeClr val="tx1"/>
              </a:solidFill>
              <a:round/>
              <a:headEnd/>
              <a:tailEnd type="triangle" w="med" len="med"/>
            </a:ln>
          </p:spPr>
          <p:txBody>
            <a:bodyPr/>
            <a:lstStyle/>
            <a:p>
              <a:endParaRPr lang="en-GB"/>
            </a:p>
          </p:txBody>
        </p:sp>
        <p:sp>
          <p:nvSpPr>
            <p:cNvPr id="59663" name="Line 33"/>
            <p:cNvSpPr>
              <a:spLocks noChangeShapeType="1"/>
            </p:cNvSpPr>
            <p:nvPr/>
          </p:nvSpPr>
          <p:spPr bwMode="auto">
            <a:xfrm flipH="1">
              <a:off x="13030" y="7552"/>
              <a:ext cx="1043" cy="0"/>
            </a:xfrm>
            <a:prstGeom prst="line">
              <a:avLst/>
            </a:prstGeom>
            <a:noFill/>
            <a:ln w="9525">
              <a:solidFill>
                <a:schemeClr val="tx1"/>
              </a:solidFill>
              <a:round/>
              <a:headEnd/>
              <a:tailEnd type="triangle" w="med" len="med"/>
            </a:ln>
          </p:spPr>
          <p:txBody>
            <a:bodyPr/>
            <a:lstStyle/>
            <a:p>
              <a:endParaRPr lang="en-GB"/>
            </a:p>
          </p:txBody>
        </p:sp>
        <p:sp>
          <p:nvSpPr>
            <p:cNvPr id="59664" name="AutoShape 34"/>
            <p:cNvSpPr>
              <a:spLocks noChangeArrowheads="1"/>
            </p:cNvSpPr>
            <p:nvPr/>
          </p:nvSpPr>
          <p:spPr bwMode="auto">
            <a:xfrm>
              <a:off x="14028" y="8687"/>
              <a:ext cx="1588" cy="816"/>
            </a:xfrm>
            <a:prstGeom prst="flowChartDisplay">
              <a:avLst/>
            </a:prstGeom>
            <a:solidFill>
              <a:srgbClr val="DDDDDD"/>
            </a:solidFill>
            <a:ln w="9525">
              <a:solidFill>
                <a:schemeClr val="tx1"/>
              </a:solidFill>
              <a:miter lim="800000"/>
              <a:headEnd/>
              <a:tailEnd/>
            </a:ln>
          </p:spPr>
          <p:txBody>
            <a:bodyPr wrap="none" anchor="ctr"/>
            <a:lstStyle/>
            <a:p>
              <a:pPr algn="ctr" defTabSz="2817813"/>
              <a:r>
                <a:rPr lang="en-GB" sz="400">
                  <a:cs typeface="Arial" charset="0"/>
                </a:rPr>
                <a:t>PC DISPLAY</a:t>
              </a:r>
              <a:endParaRPr lang="en-US" sz="400">
                <a:cs typeface="Arial" charset="0"/>
              </a:endParaRPr>
            </a:p>
          </p:txBody>
        </p:sp>
        <p:sp>
          <p:nvSpPr>
            <p:cNvPr id="59665" name="AutoShape 35"/>
            <p:cNvSpPr>
              <a:spLocks noChangeArrowheads="1"/>
            </p:cNvSpPr>
            <p:nvPr/>
          </p:nvSpPr>
          <p:spPr bwMode="auto">
            <a:xfrm>
              <a:off x="8494" y="8460"/>
              <a:ext cx="862" cy="1406"/>
            </a:xfrm>
            <a:prstGeom prst="can">
              <a:avLst>
                <a:gd name="adj" fmla="val 40777"/>
              </a:avLst>
            </a:prstGeom>
            <a:solidFill>
              <a:srgbClr val="DDDDDD"/>
            </a:solidFill>
            <a:ln w="9525">
              <a:solidFill>
                <a:schemeClr val="tx1"/>
              </a:solidFill>
              <a:round/>
              <a:headEnd/>
              <a:tailEnd/>
            </a:ln>
          </p:spPr>
          <p:txBody>
            <a:bodyPr wrap="none" anchor="ctr"/>
            <a:lstStyle/>
            <a:p>
              <a:pPr algn="ctr" defTabSz="2817813"/>
              <a:r>
                <a:rPr lang="en-GB" sz="400">
                  <a:cs typeface="Arial" charset="0"/>
                </a:rPr>
                <a:t>KINESICS</a:t>
              </a:r>
            </a:p>
            <a:p>
              <a:pPr algn="ctr" defTabSz="2817813"/>
              <a:r>
                <a:rPr lang="en-GB" sz="400">
                  <a:cs typeface="Arial" charset="0"/>
                </a:rPr>
                <a:t>GUI</a:t>
              </a:r>
            </a:p>
            <a:p>
              <a:pPr algn="ctr" defTabSz="2817813"/>
              <a:r>
                <a:rPr lang="en-GB" sz="400">
                  <a:cs typeface="Arial" charset="0"/>
                </a:rPr>
                <a:t>FILE</a:t>
              </a:r>
              <a:endParaRPr lang="en-US" sz="400">
                <a:cs typeface="Arial" charset="0"/>
              </a:endParaRPr>
            </a:p>
          </p:txBody>
        </p:sp>
        <p:sp>
          <p:nvSpPr>
            <p:cNvPr id="59666" name="AutoShape 36"/>
            <p:cNvSpPr>
              <a:spLocks noChangeArrowheads="1"/>
            </p:cNvSpPr>
            <p:nvPr/>
          </p:nvSpPr>
          <p:spPr bwMode="auto">
            <a:xfrm>
              <a:off x="9356" y="8913"/>
              <a:ext cx="1815" cy="499"/>
            </a:xfrm>
            <a:custGeom>
              <a:avLst/>
              <a:gdLst>
                <a:gd name="T0" fmla="*/ 10 w 21600"/>
                <a:gd name="T1" fmla="*/ 0 h 21600"/>
                <a:gd name="T2" fmla="*/ 0 w 21600"/>
                <a:gd name="T3" fmla="*/ 0 h 21600"/>
                <a:gd name="T4" fmla="*/ 10 w 21600"/>
                <a:gd name="T5" fmla="*/ 0 h 21600"/>
                <a:gd name="T6" fmla="*/ 13 w 21600"/>
                <a:gd name="T7" fmla="*/ 0 h 21600"/>
                <a:gd name="T8" fmla="*/ 17694720 60000 65536"/>
                <a:gd name="T9" fmla="*/ 11796480 60000 65536"/>
                <a:gd name="T10" fmla="*/ 5898240 60000 65536"/>
                <a:gd name="T11" fmla="*/ 0 60000 65536"/>
                <a:gd name="T12" fmla="*/ 3380 w 21600"/>
                <a:gd name="T13" fmla="*/ 5411 h 21600"/>
                <a:gd name="T14" fmla="*/ 18899 w 21600"/>
                <a:gd name="T15" fmla="*/ 16189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DDDDDD"/>
            </a:solidFill>
            <a:ln w="9525">
              <a:solidFill>
                <a:schemeClr val="tx1"/>
              </a:solidFill>
              <a:miter lim="800000"/>
              <a:headEnd/>
              <a:tailEnd/>
            </a:ln>
          </p:spPr>
          <p:txBody>
            <a:bodyPr wrap="none" anchor="ctr"/>
            <a:lstStyle/>
            <a:p>
              <a:pPr algn="ctr" defTabSz="2817813"/>
              <a:r>
                <a:rPr lang="en-GB" sz="400">
                  <a:cs typeface="Arial" charset="0"/>
                </a:rPr>
                <a:t>FROM MAINFRAME</a:t>
              </a:r>
              <a:endParaRPr lang="en-US" sz="400">
                <a:cs typeface="Arial" charset="0"/>
              </a:endParaRPr>
            </a:p>
          </p:txBody>
        </p:sp>
        <p:sp>
          <p:nvSpPr>
            <p:cNvPr id="59667" name="Rectangle 37"/>
            <p:cNvSpPr>
              <a:spLocks noChangeArrowheads="1"/>
            </p:cNvSpPr>
            <p:nvPr/>
          </p:nvSpPr>
          <p:spPr bwMode="auto">
            <a:xfrm>
              <a:off x="11170" y="8641"/>
              <a:ext cx="1860" cy="998"/>
            </a:xfrm>
            <a:prstGeom prst="rect">
              <a:avLst/>
            </a:prstGeom>
            <a:solidFill>
              <a:srgbClr val="DDDDDD"/>
            </a:solidFill>
            <a:ln w="9525">
              <a:solidFill>
                <a:schemeClr val="tx1"/>
              </a:solidFill>
              <a:miter lim="800000"/>
              <a:headEnd/>
              <a:tailEnd/>
            </a:ln>
          </p:spPr>
          <p:txBody>
            <a:bodyPr wrap="none" anchor="ctr"/>
            <a:lstStyle/>
            <a:p>
              <a:pPr algn="ctr" defTabSz="2817813"/>
              <a:r>
                <a:rPr lang="en-GB" sz="400" b="1">
                  <a:cs typeface="Arial" charset="0"/>
                </a:rPr>
                <a:t>DOWNLINE</a:t>
              </a:r>
            </a:p>
            <a:p>
              <a:pPr algn="ctr" defTabSz="2817813"/>
              <a:r>
                <a:rPr lang="en-GB" sz="400" b="1">
                  <a:cs typeface="Arial" charset="0"/>
                </a:rPr>
                <a:t>ROBOTIC</a:t>
              </a:r>
            </a:p>
            <a:p>
              <a:pPr algn="ctr" defTabSz="2817813"/>
              <a:r>
                <a:rPr lang="en-GB" sz="400" b="1">
                  <a:cs typeface="Arial" charset="0"/>
                </a:rPr>
                <a:t>INTERFACE</a:t>
              </a:r>
              <a:endParaRPr lang="en-US" sz="400" b="1">
                <a:cs typeface="Arial" charset="0"/>
              </a:endParaRPr>
            </a:p>
          </p:txBody>
        </p:sp>
        <p:sp>
          <p:nvSpPr>
            <p:cNvPr id="59668" name="Line 38"/>
            <p:cNvSpPr>
              <a:spLocks noChangeShapeType="1"/>
            </p:cNvSpPr>
            <p:nvPr/>
          </p:nvSpPr>
          <p:spPr bwMode="auto">
            <a:xfrm>
              <a:off x="13030" y="9004"/>
              <a:ext cx="1043" cy="0"/>
            </a:xfrm>
            <a:prstGeom prst="line">
              <a:avLst/>
            </a:prstGeom>
            <a:noFill/>
            <a:ln w="9525">
              <a:solidFill>
                <a:schemeClr val="tx1"/>
              </a:solidFill>
              <a:round/>
              <a:headEnd/>
              <a:tailEnd type="triangle" w="med" len="med"/>
            </a:ln>
          </p:spPr>
          <p:txBody>
            <a:bodyPr/>
            <a:lstStyle/>
            <a:p>
              <a:endParaRPr lang="en-GB"/>
            </a:p>
          </p:txBody>
        </p:sp>
        <p:sp>
          <p:nvSpPr>
            <p:cNvPr id="59669" name="Line 39"/>
            <p:cNvSpPr>
              <a:spLocks noChangeShapeType="1"/>
            </p:cNvSpPr>
            <p:nvPr/>
          </p:nvSpPr>
          <p:spPr bwMode="auto">
            <a:xfrm flipH="1">
              <a:off x="13030" y="9185"/>
              <a:ext cx="1043" cy="0"/>
            </a:xfrm>
            <a:prstGeom prst="line">
              <a:avLst/>
            </a:prstGeom>
            <a:noFill/>
            <a:ln w="9525">
              <a:solidFill>
                <a:schemeClr val="tx1"/>
              </a:solidFill>
              <a:round/>
              <a:headEnd/>
              <a:tailEnd type="triangle" w="med" len="med"/>
            </a:ln>
          </p:spPr>
          <p:txBody>
            <a:bodyPr/>
            <a:lstStyle/>
            <a:p>
              <a:endParaRPr lang="en-GB"/>
            </a:p>
          </p:txBody>
        </p:sp>
        <p:sp>
          <p:nvSpPr>
            <p:cNvPr id="59670" name="AutoShape 40">
              <a:hlinkClick r:id="" action="ppaction://noaction" highlightClick="1">
                <a:snd r:embed="rId2" name="applause.wav"/>
              </a:hlinkClick>
            </p:cNvPr>
            <p:cNvSpPr>
              <a:spLocks noChangeArrowheads="1"/>
            </p:cNvSpPr>
            <p:nvPr/>
          </p:nvSpPr>
          <p:spPr bwMode="auto">
            <a:xfrm>
              <a:off x="14753" y="5920"/>
              <a:ext cx="725" cy="861"/>
            </a:xfrm>
            <a:prstGeom prst="actionButtonSound">
              <a:avLst/>
            </a:prstGeom>
            <a:solidFill>
              <a:srgbClr val="DDDDDD"/>
            </a:solidFill>
            <a:ln w="9525">
              <a:noFill/>
              <a:miter lim="800000"/>
              <a:headEnd/>
              <a:tailEnd/>
            </a:ln>
          </p:spPr>
          <p:txBody>
            <a:bodyPr wrap="none" anchor="ctr"/>
            <a:lstStyle/>
            <a:p>
              <a:pPr algn="ctr"/>
              <a:endParaRPr lang="en-GB"/>
            </a:p>
          </p:txBody>
        </p:sp>
        <p:pic>
          <p:nvPicPr>
            <p:cNvPr id="59671" name="Picture 41" descr="_Lego-Mindstorms-NXT_3"/>
            <p:cNvPicPr>
              <a:picLocks noChangeAspect="1" noChangeArrowheads="1"/>
            </p:cNvPicPr>
            <p:nvPr/>
          </p:nvPicPr>
          <p:blipFill>
            <a:blip r:embed="rId3" cstate="print"/>
            <a:srcRect/>
            <a:stretch>
              <a:fillRect/>
            </a:stretch>
          </p:blipFill>
          <p:spPr bwMode="auto">
            <a:xfrm>
              <a:off x="14708" y="9684"/>
              <a:ext cx="1678" cy="1235"/>
            </a:xfrm>
            <a:prstGeom prst="rect">
              <a:avLst/>
            </a:prstGeom>
            <a:noFill/>
            <a:ln w="9525">
              <a:noFill/>
              <a:miter lim="800000"/>
              <a:headEnd/>
              <a:tailEnd/>
            </a:ln>
          </p:spPr>
        </p:pic>
        <p:sp>
          <p:nvSpPr>
            <p:cNvPr id="59672" name="AutoShape 42"/>
            <p:cNvSpPr>
              <a:spLocks noChangeArrowheads="1"/>
            </p:cNvSpPr>
            <p:nvPr/>
          </p:nvSpPr>
          <p:spPr bwMode="auto">
            <a:xfrm rot="-1808614">
              <a:off x="12894" y="6464"/>
              <a:ext cx="1815" cy="499"/>
            </a:xfrm>
            <a:custGeom>
              <a:avLst/>
              <a:gdLst>
                <a:gd name="T0" fmla="*/ 10 w 21600"/>
                <a:gd name="T1" fmla="*/ 0 h 21600"/>
                <a:gd name="T2" fmla="*/ 0 w 21600"/>
                <a:gd name="T3" fmla="*/ 0 h 21600"/>
                <a:gd name="T4" fmla="*/ 10 w 21600"/>
                <a:gd name="T5" fmla="*/ 0 h 21600"/>
                <a:gd name="T6" fmla="*/ 13 w 21600"/>
                <a:gd name="T7" fmla="*/ 0 h 21600"/>
                <a:gd name="T8" fmla="*/ 17694720 60000 65536"/>
                <a:gd name="T9" fmla="*/ 11796480 60000 65536"/>
                <a:gd name="T10" fmla="*/ 5898240 60000 65536"/>
                <a:gd name="T11" fmla="*/ 0 60000 65536"/>
                <a:gd name="T12" fmla="*/ 3380 w 21600"/>
                <a:gd name="T13" fmla="*/ 5411 h 21600"/>
                <a:gd name="T14" fmla="*/ 18899 w 21600"/>
                <a:gd name="T15" fmla="*/ 16189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DDDDDD"/>
            </a:solidFill>
            <a:ln w="9525">
              <a:solidFill>
                <a:schemeClr val="tx1"/>
              </a:solidFill>
              <a:miter lim="800000"/>
              <a:headEnd/>
              <a:tailEnd/>
            </a:ln>
          </p:spPr>
          <p:txBody>
            <a:bodyPr wrap="none" anchor="ctr"/>
            <a:lstStyle/>
            <a:p>
              <a:pPr algn="ctr" defTabSz="2817813"/>
              <a:r>
                <a:rPr lang="en-GB" sz="400">
                  <a:cs typeface="Arial" charset="0"/>
                </a:rPr>
                <a:t>TEXT-TO-SPEECH</a:t>
              </a:r>
              <a:endParaRPr lang="en-US" sz="400">
                <a:cs typeface="Arial" charset="0"/>
              </a:endParaRPr>
            </a:p>
          </p:txBody>
        </p:sp>
        <p:sp>
          <p:nvSpPr>
            <p:cNvPr id="59673" name="AutoShape 43"/>
            <p:cNvSpPr>
              <a:spLocks noChangeArrowheads="1"/>
            </p:cNvSpPr>
            <p:nvPr/>
          </p:nvSpPr>
          <p:spPr bwMode="auto">
            <a:xfrm rot="1420995">
              <a:off x="12894" y="9639"/>
              <a:ext cx="1815" cy="499"/>
            </a:xfrm>
            <a:custGeom>
              <a:avLst/>
              <a:gdLst>
                <a:gd name="T0" fmla="*/ 10 w 21600"/>
                <a:gd name="T1" fmla="*/ 0 h 21600"/>
                <a:gd name="T2" fmla="*/ 0 w 21600"/>
                <a:gd name="T3" fmla="*/ 0 h 21600"/>
                <a:gd name="T4" fmla="*/ 10 w 21600"/>
                <a:gd name="T5" fmla="*/ 0 h 21600"/>
                <a:gd name="T6" fmla="*/ 13 w 21600"/>
                <a:gd name="T7" fmla="*/ 0 h 21600"/>
                <a:gd name="T8" fmla="*/ 17694720 60000 65536"/>
                <a:gd name="T9" fmla="*/ 11796480 60000 65536"/>
                <a:gd name="T10" fmla="*/ 5898240 60000 65536"/>
                <a:gd name="T11" fmla="*/ 0 60000 65536"/>
                <a:gd name="T12" fmla="*/ 3380 w 21600"/>
                <a:gd name="T13" fmla="*/ 5411 h 21600"/>
                <a:gd name="T14" fmla="*/ 18899 w 21600"/>
                <a:gd name="T15" fmla="*/ 16189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DDDDDD"/>
            </a:solidFill>
            <a:ln w="9525">
              <a:solidFill>
                <a:schemeClr val="tx1"/>
              </a:solidFill>
              <a:miter lim="800000"/>
              <a:headEnd/>
              <a:tailEnd/>
            </a:ln>
          </p:spPr>
          <p:txBody>
            <a:bodyPr wrap="none" anchor="ctr"/>
            <a:lstStyle/>
            <a:p>
              <a:pPr algn="ctr" defTabSz="2817813"/>
              <a:r>
                <a:rPr lang="en-GB" sz="400">
                  <a:cs typeface="Arial" charset="0"/>
                </a:rPr>
                <a:t>SERVO VECTORS</a:t>
              </a:r>
              <a:endParaRPr lang="en-US" sz="400">
                <a:cs typeface="Arial" charset="0"/>
              </a:endParaRPr>
            </a:p>
          </p:txBody>
        </p:sp>
      </p:grpSp>
      <p:grpSp>
        <p:nvGrpSpPr>
          <p:cNvPr id="59396" name="Group 75"/>
          <p:cNvGrpSpPr>
            <a:grpSpLocks/>
          </p:cNvGrpSpPr>
          <p:nvPr/>
        </p:nvGrpSpPr>
        <p:grpSpPr bwMode="auto">
          <a:xfrm>
            <a:off x="3381375" y="1785938"/>
            <a:ext cx="1989138" cy="3201987"/>
            <a:chOff x="7035800" y="2298700"/>
            <a:chExt cx="2603500" cy="4324350"/>
          </a:xfrm>
        </p:grpSpPr>
        <p:sp>
          <p:nvSpPr>
            <p:cNvPr id="59605" name="Rectangle 44"/>
            <p:cNvSpPr>
              <a:spLocks noChangeArrowheads="1"/>
            </p:cNvSpPr>
            <p:nvPr/>
          </p:nvSpPr>
          <p:spPr bwMode="auto">
            <a:xfrm>
              <a:off x="7035800" y="2298700"/>
              <a:ext cx="2574925" cy="4324350"/>
            </a:xfrm>
            <a:prstGeom prst="rect">
              <a:avLst/>
            </a:prstGeom>
            <a:solidFill>
              <a:srgbClr val="FFFF99"/>
            </a:solidFill>
            <a:ln w="6350">
              <a:solidFill>
                <a:srgbClr val="00CCFF"/>
              </a:solidFill>
              <a:miter lim="800000"/>
              <a:headEnd/>
              <a:tailEnd/>
            </a:ln>
          </p:spPr>
          <p:txBody>
            <a:bodyPr wrap="none" anchor="ctr"/>
            <a:lstStyle/>
            <a:p>
              <a:pPr algn="ctr"/>
              <a:endParaRPr lang="en-GB"/>
            </a:p>
          </p:txBody>
        </p:sp>
        <p:sp>
          <p:nvSpPr>
            <p:cNvPr id="59606" name="Rectangle 68"/>
            <p:cNvSpPr>
              <a:spLocks noChangeArrowheads="1"/>
            </p:cNvSpPr>
            <p:nvPr/>
          </p:nvSpPr>
          <p:spPr bwMode="auto">
            <a:xfrm>
              <a:off x="7466013" y="2978150"/>
              <a:ext cx="723900" cy="339725"/>
            </a:xfrm>
            <a:prstGeom prst="rect">
              <a:avLst/>
            </a:prstGeom>
            <a:solidFill>
              <a:srgbClr val="969696"/>
            </a:solidFill>
            <a:ln w="6350">
              <a:solidFill>
                <a:srgbClr val="000000"/>
              </a:solidFill>
              <a:miter lim="800000"/>
              <a:headEnd/>
              <a:tailEnd/>
            </a:ln>
          </p:spPr>
          <p:txBody>
            <a:bodyPr wrap="none" lIns="91421" tIns="45712" rIns="91421" bIns="45712" anchor="ctr"/>
            <a:lstStyle/>
            <a:p>
              <a:pPr algn="ctr" defTabSz="2817813"/>
              <a:r>
                <a:rPr lang="en-GB" sz="500" b="1">
                  <a:cs typeface="Arial" charset="0"/>
                </a:rPr>
                <a:t>AREA 2 FDPX-REC</a:t>
              </a:r>
            </a:p>
            <a:p>
              <a:pPr algn="ctr" defTabSz="2817813"/>
              <a:r>
                <a:rPr lang="en-GB" sz="500" b="1">
                  <a:cs typeface="Arial" charset="0"/>
                </a:rPr>
                <a:t>Functionally</a:t>
              </a:r>
            </a:p>
            <a:p>
              <a:pPr algn="ctr" defTabSz="2817813"/>
              <a:r>
                <a:rPr lang="en-GB" sz="500" b="1">
                  <a:cs typeface="Arial" charset="0"/>
                </a:rPr>
                <a:t>Discrete</a:t>
              </a:r>
            </a:p>
            <a:p>
              <a:pPr algn="ctr" defTabSz="2817813"/>
              <a:r>
                <a:rPr lang="en-GB" sz="500" b="1">
                  <a:cs typeface="Arial" charset="0"/>
                </a:rPr>
                <a:t>Processor</a:t>
              </a:r>
              <a:endParaRPr lang="en-US" sz="500" b="1">
                <a:cs typeface="Arial" charset="0"/>
              </a:endParaRPr>
            </a:p>
          </p:txBody>
        </p:sp>
        <p:sp>
          <p:nvSpPr>
            <p:cNvPr id="59607" name="Rectangle 71"/>
            <p:cNvSpPr>
              <a:spLocks noChangeArrowheads="1"/>
            </p:cNvSpPr>
            <p:nvPr/>
          </p:nvSpPr>
          <p:spPr bwMode="auto">
            <a:xfrm>
              <a:off x="8805863" y="2978150"/>
              <a:ext cx="723900" cy="336550"/>
            </a:xfrm>
            <a:prstGeom prst="rect">
              <a:avLst/>
            </a:prstGeom>
            <a:solidFill>
              <a:srgbClr val="FFCC00"/>
            </a:solidFill>
            <a:ln w="6350">
              <a:solidFill>
                <a:srgbClr val="000000"/>
              </a:solidFill>
              <a:prstDash val="dash"/>
              <a:miter lim="800000"/>
              <a:headEnd/>
              <a:tailEnd/>
            </a:ln>
          </p:spPr>
          <p:txBody>
            <a:bodyPr wrap="none" lIns="91421" tIns="45712" rIns="91421" bIns="45712" anchor="ctr"/>
            <a:lstStyle/>
            <a:p>
              <a:pPr algn="ctr" defTabSz="2817813"/>
              <a:r>
                <a:rPr lang="en-GB" sz="500" b="1">
                  <a:cs typeface="Arial" charset="0"/>
                </a:rPr>
                <a:t>AREA 2 MTEV-REC</a:t>
              </a:r>
            </a:p>
            <a:p>
              <a:pPr algn="ctr" defTabSz="2817813"/>
              <a:r>
                <a:rPr lang="en-GB" sz="500" b="1">
                  <a:cs typeface="Arial" charset="0"/>
                </a:rPr>
                <a:t>Medium-Term Event</a:t>
              </a:r>
              <a:endParaRPr lang="en-US" sz="500" b="1">
                <a:cs typeface="Arial" charset="0"/>
              </a:endParaRPr>
            </a:p>
          </p:txBody>
        </p:sp>
        <p:sp>
          <p:nvSpPr>
            <p:cNvPr id="59608" name="Rectangle 72"/>
            <p:cNvSpPr>
              <a:spLocks noChangeArrowheads="1"/>
            </p:cNvSpPr>
            <p:nvPr/>
          </p:nvSpPr>
          <p:spPr bwMode="auto">
            <a:xfrm>
              <a:off x="7223125" y="5129213"/>
              <a:ext cx="723900" cy="336550"/>
            </a:xfrm>
            <a:prstGeom prst="rect">
              <a:avLst/>
            </a:prstGeom>
            <a:solidFill>
              <a:srgbClr val="FF8B8B"/>
            </a:solidFill>
            <a:ln w="6350">
              <a:solidFill>
                <a:srgbClr val="000000"/>
              </a:solidFill>
              <a:prstDash val="dash"/>
              <a:miter lim="800000"/>
              <a:headEnd/>
              <a:tailEnd/>
            </a:ln>
          </p:spPr>
          <p:txBody>
            <a:bodyPr wrap="none" lIns="91421" tIns="45712" rIns="91421" bIns="45712" anchor="ctr"/>
            <a:lstStyle/>
            <a:p>
              <a:pPr algn="ctr" defTabSz="2817813"/>
              <a:r>
                <a:rPr lang="en-GB" sz="500" b="1">
                  <a:cs typeface="Arial" charset="0"/>
                </a:rPr>
                <a:t>AREA 2 STEV-REC</a:t>
              </a:r>
            </a:p>
            <a:p>
              <a:pPr algn="ctr" defTabSz="2817813"/>
              <a:r>
                <a:rPr lang="en-GB" sz="500" b="1">
                  <a:cs typeface="Arial" charset="0"/>
                </a:rPr>
                <a:t>Short-Term Event</a:t>
              </a:r>
              <a:endParaRPr lang="en-US" sz="500" b="1">
                <a:cs typeface="Arial" charset="0"/>
              </a:endParaRPr>
            </a:p>
          </p:txBody>
        </p:sp>
        <p:sp>
          <p:nvSpPr>
            <p:cNvPr id="59609" name="Line 76"/>
            <p:cNvSpPr>
              <a:spLocks noChangeShapeType="1"/>
            </p:cNvSpPr>
            <p:nvPr/>
          </p:nvSpPr>
          <p:spPr bwMode="auto">
            <a:xfrm>
              <a:off x="7277100" y="4289425"/>
              <a:ext cx="0" cy="839788"/>
            </a:xfrm>
            <a:prstGeom prst="line">
              <a:avLst/>
            </a:prstGeom>
            <a:noFill/>
            <a:ln w="6350">
              <a:solidFill>
                <a:srgbClr val="000000"/>
              </a:solidFill>
              <a:round/>
              <a:headEnd/>
              <a:tailEnd type="triangle" w="lg" len="lg"/>
            </a:ln>
          </p:spPr>
          <p:txBody>
            <a:bodyPr/>
            <a:lstStyle/>
            <a:p>
              <a:endParaRPr lang="en-GB"/>
            </a:p>
          </p:txBody>
        </p:sp>
        <p:sp>
          <p:nvSpPr>
            <p:cNvPr id="59610" name="Text Box 77"/>
            <p:cNvSpPr txBox="1">
              <a:spLocks noChangeArrowheads="1"/>
            </p:cNvSpPr>
            <p:nvPr/>
          </p:nvSpPr>
          <p:spPr bwMode="auto">
            <a:xfrm>
              <a:off x="7248525" y="4684713"/>
              <a:ext cx="617538" cy="473075"/>
            </a:xfrm>
            <a:prstGeom prst="rect">
              <a:avLst/>
            </a:prstGeom>
            <a:noFill/>
            <a:ln w="6350">
              <a:noFill/>
              <a:miter lim="800000"/>
              <a:headEnd/>
              <a:tailEnd/>
            </a:ln>
          </p:spPr>
          <p:txBody>
            <a:bodyPr>
              <a:spAutoFit/>
            </a:bodyPr>
            <a:lstStyle/>
            <a:p>
              <a:pPr defTabSz="2817813"/>
              <a:r>
                <a:rPr lang="en-GB" sz="500" b="1">
                  <a:solidFill>
                    <a:srgbClr val="006600"/>
                  </a:solidFill>
                  <a:cs typeface="Arial" charset="0"/>
                </a:rPr>
                <a:t>FDPXs</a:t>
              </a:r>
            </a:p>
            <a:p>
              <a:pPr defTabSz="2817813"/>
              <a:r>
                <a:rPr lang="en-GB" sz="500" b="1">
                  <a:solidFill>
                    <a:srgbClr val="006600"/>
                  </a:solidFill>
                  <a:cs typeface="Arial" charset="0"/>
                </a:rPr>
                <a:t>RECEIVE MANY</a:t>
              </a:r>
            </a:p>
            <a:p>
              <a:pPr defTabSz="2817813"/>
              <a:r>
                <a:rPr lang="en-GB" sz="500" b="1">
                  <a:solidFill>
                    <a:srgbClr val="006600"/>
                  </a:solidFill>
                  <a:cs typeface="Arial" charset="0"/>
                </a:rPr>
                <a:t>STEVs</a:t>
              </a:r>
            </a:p>
            <a:p>
              <a:pPr defTabSz="2817813"/>
              <a:r>
                <a:rPr lang="en-GB" sz="500" b="1">
                  <a:solidFill>
                    <a:srgbClr val="006600"/>
                  </a:solidFill>
                  <a:cs typeface="Arial" charset="0"/>
                </a:rPr>
                <a:t>&lt;NO   AM&gt;</a:t>
              </a:r>
            </a:p>
          </p:txBody>
        </p:sp>
        <p:sp>
          <p:nvSpPr>
            <p:cNvPr id="59611" name="Line 80"/>
            <p:cNvSpPr>
              <a:spLocks noChangeShapeType="1"/>
            </p:cNvSpPr>
            <p:nvPr/>
          </p:nvSpPr>
          <p:spPr bwMode="auto">
            <a:xfrm>
              <a:off x="8162925" y="3319463"/>
              <a:ext cx="0" cy="393700"/>
            </a:xfrm>
            <a:prstGeom prst="line">
              <a:avLst/>
            </a:prstGeom>
            <a:noFill/>
            <a:ln w="6350">
              <a:solidFill>
                <a:srgbClr val="000000"/>
              </a:solidFill>
              <a:round/>
              <a:headEnd/>
              <a:tailEnd type="triangle" w="lg" len="lg"/>
            </a:ln>
          </p:spPr>
          <p:txBody>
            <a:bodyPr/>
            <a:lstStyle/>
            <a:p>
              <a:endParaRPr lang="en-GB"/>
            </a:p>
          </p:txBody>
        </p:sp>
        <p:sp>
          <p:nvSpPr>
            <p:cNvPr id="59612" name="Line 81"/>
            <p:cNvSpPr>
              <a:spLocks noChangeShapeType="1"/>
            </p:cNvSpPr>
            <p:nvPr/>
          </p:nvSpPr>
          <p:spPr bwMode="auto">
            <a:xfrm rot="10800000" flipH="1">
              <a:off x="8832850" y="3294063"/>
              <a:ext cx="0" cy="419100"/>
            </a:xfrm>
            <a:prstGeom prst="line">
              <a:avLst/>
            </a:prstGeom>
            <a:noFill/>
            <a:ln w="6350">
              <a:solidFill>
                <a:srgbClr val="000000"/>
              </a:solidFill>
              <a:round/>
              <a:headEnd/>
              <a:tailEnd type="triangle" w="lg" len="lg"/>
            </a:ln>
          </p:spPr>
          <p:txBody>
            <a:bodyPr/>
            <a:lstStyle/>
            <a:p>
              <a:endParaRPr lang="en-GB"/>
            </a:p>
          </p:txBody>
        </p:sp>
        <p:sp>
          <p:nvSpPr>
            <p:cNvPr id="59613" name="Text Box 82"/>
            <p:cNvSpPr txBox="1">
              <a:spLocks noChangeArrowheads="1"/>
            </p:cNvSpPr>
            <p:nvPr/>
          </p:nvSpPr>
          <p:spPr bwMode="auto">
            <a:xfrm>
              <a:off x="7437438" y="2376488"/>
              <a:ext cx="2117725" cy="441325"/>
            </a:xfrm>
            <a:prstGeom prst="rect">
              <a:avLst/>
            </a:prstGeom>
            <a:solidFill>
              <a:schemeClr val="bg1"/>
            </a:solidFill>
            <a:ln w="6350">
              <a:solidFill>
                <a:srgbClr val="000000"/>
              </a:solidFill>
              <a:miter lim="800000"/>
              <a:headEnd/>
              <a:tailEnd/>
            </a:ln>
          </p:spPr>
          <p:txBody>
            <a:bodyPr lIns="91421" tIns="45712" rIns="91421" bIns="45712">
              <a:spAutoFit/>
            </a:bodyPr>
            <a:lstStyle/>
            <a:p>
              <a:pPr defTabSz="2817813">
                <a:spcBef>
                  <a:spcPct val="50000"/>
                </a:spcBef>
              </a:pPr>
              <a:r>
                <a:rPr lang="en-GB" sz="500" b="1">
                  <a:solidFill>
                    <a:srgbClr val="FF0000"/>
                  </a:solidFill>
                  <a:cs typeface="Arial" charset="0"/>
                </a:rPr>
                <a:t>DATABASE AREA 2</a:t>
              </a:r>
            </a:p>
            <a:p>
              <a:pPr defTabSz="2817813">
                <a:spcBef>
                  <a:spcPct val="50000"/>
                </a:spcBef>
              </a:pPr>
              <a:r>
                <a:rPr lang="en-GB" sz="500" b="1">
                  <a:solidFill>
                    <a:srgbClr val="FF0000"/>
                  </a:solidFill>
                  <a:cs typeface="Arial" charset="0"/>
                </a:rPr>
                <a:t>A REALM OF FUNCTIONALLY SPECIFIED INFORMATION PROCESSORS, AND THEIR ASSOCIATED INFORMATION TYPES. </a:t>
              </a:r>
            </a:p>
          </p:txBody>
        </p:sp>
        <p:sp>
          <p:nvSpPr>
            <p:cNvPr id="59614" name="Text Box 83"/>
            <p:cNvSpPr txBox="1">
              <a:spLocks noChangeArrowheads="1"/>
            </p:cNvSpPr>
            <p:nvPr/>
          </p:nvSpPr>
          <p:spPr bwMode="auto">
            <a:xfrm>
              <a:off x="8108950" y="3294063"/>
              <a:ext cx="430213" cy="625475"/>
            </a:xfrm>
            <a:prstGeom prst="rect">
              <a:avLst/>
            </a:prstGeom>
            <a:noFill/>
            <a:ln w="6350">
              <a:noFill/>
              <a:miter lim="800000"/>
              <a:headEnd/>
              <a:tailEnd/>
            </a:ln>
          </p:spPr>
          <p:txBody>
            <a:bodyPr>
              <a:spAutoFit/>
            </a:bodyPr>
            <a:lstStyle/>
            <a:p>
              <a:pPr defTabSz="2817813"/>
              <a:r>
                <a:rPr lang="en-GB" sz="500" b="1">
                  <a:solidFill>
                    <a:srgbClr val="006600"/>
                  </a:solidFill>
                  <a:cs typeface="Arial" charset="0"/>
                </a:rPr>
                <a:t>FDPXs</a:t>
              </a:r>
            </a:p>
            <a:p>
              <a:pPr defTabSz="2817813"/>
              <a:r>
                <a:rPr lang="en-GB" sz="500" b="1">
                  <a:solidFill>
                    <a:srgbClr val="006600"/>
                  </a:solidFill>
                  <a:cs typeface="Arial" charset="0"/>
                </a:rPr>
                <a:t>MAINTAIN</a:t>
              </a:r>
            </a:p>
            <a:p>
              <a:pPr defTabSz="2817813"/>
              <a:r>
                <a:rPr lang="en-GB" sz="500" b="1">
                  <a:solidFill>
                    <a:srgbClr val="006600"/>
                  </a:solidFill>
                  <a:cs typeface="Arial" charset="0"/>
                </a:rPr>
                <a:t>MANY</a:t>
              </a:r>
            </a:p>
            <a:p>
              <a:pPr defTabSz="2817813"/>
              <a:r>
                <a:rPr lang="en-GB" sz="500" b="1">
                  <a:solidFill>
                    <a:srgbClr val="006600"/>
                  </a:solidFill>
                  <a:cs typeface="Arial" charset="0"/>
                </a:rPr>
                <a:t>LTMs</a:t>
              </a:r>
            </a:p>
            <a:p>
              <a:pPr defTabSz="2817813"/>
              <a:r>
                <a:rPr lang="en-GB" sz="500" b="1">
                  <a:solidFill>
                    <a:srgbClr val="006600"/>
                  </a:solidFill>
                  <a:cs typeface="Arial" charset="0"/>
                </a:rPr>
                <a:t>&lt;NO   AM&gt;</a:t>
              </a:r>
            </a:p>
          </p:txBody>
        </p:sp>
        <p:sp>
          <p:nvSpPr>
            <p:cNvPr id="59615" name="Text Box 84"/>
            <p:cNvSpPr txBox="1">
              <a:spLocks noChangeArrowheads="1"/>
            </p:cNvSpPr>
            <p:nvPr/>
          </p:nvSpPr>
          <p:spPr bwMode="auto">
            <a:xfrm>
              <a:off x="8807450" y="3398838"/>
              <a:ext cx="561975" cy="549275"/>
            </a:xfrm>
            <a:prstGeom prst="rect">
              <a:avLst/>
            </a:prstGeom>
            <a:noFill/>
            <a:ln w="6350">
              <a:noFill/>
              <a:miter lim="800000"/>
              <a:headEnd/>
              <a:tailEnd/>
            </a:ln>
          </p:spPr>
          <p:txBody>
            <a:bodyPr>
              <a:spAutoFit/>
            </a:bodyPr>
            <a:lstStyle/>
            <a:p>
              <a:pPr defTabSz="2817813"/>
              <a:r>
                <a:rPr lang="en-GB" sz="500" b="1">
                  <a:solidFill>
                    <a:srgbClr val="006600"/>
                  </a:solidFill>
                  <a:cs typeface="Arial" charset="0"/>
                </a:rPr>
                <a:t>MTEVs</a:t>
              </a:r>
            </a:p>
            <a:p>
              <a:pPr defTabSz="2817813"/>
              <a:r>
                <a:rPr lang="en-GB" sz="500" b="1">
                  <a:solidFill>
                    <a:srgbClr val="006600"/>
                  </a:solidFill>
                  <a:cs typeface="Arial" charset="0"/>
                </a:rPr>
                <a:t>CONSOLIDATE</a:t>
              </a:r>
            </a:p>
            <a:p>
              <a:pPr defTabSz="2817813"/>
              <a:r>
                <a:rPr lang="en-GB" sz="500" b="1">
                  <a:solidFill>
                    <a:srgbClr val="006600"/>
                  </a:solidFill>
                  <a:cs typeface="Arial" charset="0"/>
                </a:rPr>
                <a:t>INTO MANY</a:t>
              </a:r>
            </a:p>
            <a:p>
              <a:pPr defTabSz="2817813"/>
              <a:r>
                <a:rPr lang="en-GB" sz="500" b="1">
                  <a:solidFill>
                    <a:srgbClr val="006600"/>
                  </a:solidFill>
                  <a:cs typeface="Arial" charset="0"/>
                </a:rPr>
                <a:t>LTMs</a:t>
              </a:r>
            </a:p>
            <a:p>
              <a:pPr defTabSz="2817813"/>
              <a:r>
                <a:rPr lang="en-GB" sz="500" b="1">
                  <a:solidFill>
                    <a:srgbClr val="006600"/>
                  </a:solidFill>
                  <a:cs typeface="Arial" charset="0"/>
                </a:rPr>
                <a:t>&lt;NO   AM&gt;</a:t>
              </a:r>
            </a:p>
          </p:txBody>
        </p:sp>
        <p:sp>
          <p:nvSpPr>
            <p:cNvPr id="59616" name="Line 85"/>
            <p:cNvSpPr>
              <a:spLocks noChangeShapeType="1"/>
            </p:cNvSpPr>
            <p:nvPr/>
          </p:nvSpPr>
          <p:spPr bwMode="auto">
            <a:xfrm flipV="1">
              <a:off x="8194675" y="3005138"/>
              <a:ext cx="617538" cy="0"/>
            </a:xfrm>
            <a:prstGeom prst="line">
              <a:avLst/>
            </a:prstGeom>
            <a:noFill/>
            <a:ln w="6350">
              <a:solidFill>
                <a:srgbClr val="000000"/>
              </a:solidFill>
              <a:round/>
              <a:headEnd/>
              <a:tailEnd type="triangle" w="lg" len="lg"/>
            </a:ln>
          </p:spPr>
          <p:txBody>
            <a:bodyPr/>
            <a:lstStyle/>
            <a:p>
              <a:endParaRPr lang="en-GB"/>
            </a:p>
          </p:txBody>
        </p:sp>
        <p:sp>
          <p:nvSpPr>
            <p:cNvPr id="59617" name="Line 86"/>
            <p:cNvSpPr>
              <a:spLocks noChangeShapeType="1"/>
            </p:cNvSpPr>
            <p:nvPr/>
          </p:nvSpPr>
          <p:spPr bwMode="auto">
            <a:xfrm flipV="1">
              <a:off x="8194675" y="3292475"/>
              <a:ext cx="617538" cy="0"/>
            </a:xfrm>
            <a:prstGeom prst="line">
              <a:avLst/>
            </a:prstGeom>
            <a:noFill/>
            <a:ln w="6350">
              <a:solidFill>
                <a:srgbClr val="000000"/>
              </a:solidFill>
              <a:round/>
              <a:headEnd/>
              <a:tailEnd type="triangle" w="lg" len="lg"/>
            </a:ln>
          </p:spPr>
          <p:txBody>
            <a:bodyPr/>
            <a:lstStyle/>
            <a:p>
              <a:endParaRPr lang="en-GB"/>
            </a:p>
          </p:txBody>
        </p:sp>
        <p:sp>
          <p:nvSpPr>
            <p:cNvPr id="59618" name="Rectangle 87"/>
            <p:cNvSpPr>
              <a:spLocks noChangeArrowheads="1"/>
            </p:cNvSpPr>
            <p:nvPr/>
          </p:nvSpPr>
          <p:spPr bwMode="auto">
            <a:xfrm>
              <a:off x="7094538" y="3713163"/>
              <a:ext cx="723900" cy="339725"/>
            </a:xfrm>
            <a:prstGeom prst="rect">
              <a:avLst/>
            </a:prstGeom>
            <a:solidFill>
              <a:srgbClr val="969696"/>
            </a:solidFill>
            <a:ln w="6350">
              <a:solidFill>
                <a:srgbClr val="000000"/>
              </a:solidFill>
              <a:miter lim="800000"/>
              <a:headEnd/>
              <a:tailEnd/>
            </a:ln>
          </p:spPr>
          <p:txBody>
            <a:bodyPr wrap="none" lIns="91421" tIns="45712" rIns="91421" bIns="45712" anchor="ctr"/>
            <a:lstStyle/>
            <a:p>
              <a:pPr algn="ctr" defTabSz="2817813"/>
              <a:r>
                <a:rPr lang="en-GB" sz="500" b="1">
                  <a:cs typeface="Arial" charset="0"/>
                </a:rPr>
                <a:t>AREA 2 KML-REC</a:t>
              </a:r>
            </a:p>
            <a:p>
              <a:pPr algn="ctr" defTabSz="2817813"/>
              <a:r>
                <a:rPr lang="en-GB" sz="500" b="1">
                  <a:cs typeface="Arial" charset="0"/>
                </a:rPr>
                <a:t>Innate Read-Only</a:t>
              </a:r>
            </a:p>
            <a:p>
              <a:pPr algn="ctr" defTabSz="2817813"/>
              <a:r>
                <a:rPr lang="en-GB" sz="500" b="1">
                  <a:cs typeface="Arial" charset="0"/>
                </a:rPr>
                <a:t>Memory</a:t>
              </a:r>
              <a:endParaRPr lang="en-US" sz="500" b="1">
                <a:cs typeface="Arial" charset="0"/>
              </a:endParaRPr>
            </a:p>
          </p:txBody>
        </p:sp>
        <p:sp>
          <p:nvSpPr>
            <p:cNvPr id="59619" name="Line 88"/>
            <p:cNvSpPr>
              <a:spLocks noChangeShapeType="1"/>
            </p:cNvSpPr>
            <p:nvPr/>
          </p:nvSpPr>
          <p:spPr bwMode="auto">
            <a:xfrm flipH="1">
              <a:off x="7491413" y="3319463"/>
              <a:ext cx="0" cy="395287"/>
            </a:xfrm>
            <a:prstGeom prst="line">
              <a:avLst/>
            </a:prstGeom>
            <a:noFill/>
            <a:ln w="6350">
              <a:solidFill>
                <a:srgbClr val="000000"/>
              </a:solidFill>
              <a:round/>
              <a:headEnd/>
              <a:tailEnd type="triangle" w="lg" len="lg"/>
            </a:ln>
          </p:spPr>
          <p:txBody>
            <a:bodyPr/>
            <a:lstStyle/>
            <a:p>
              <a:endParaRPr lang="en-GB"/>
            </a:p>
          </p:txBody>
        </p:sp>
        <p:sp>
          <p:nvSpPr>
            <p:cNvPr id="59620" name="Rectangle 89"/>
            <p:cNvSpPr>
              <a:spLocks noChangeArrowheads="1"/>
            </p:cNvSpPr>
            <p:nvPr/>
          </p:nvSpPr>
          <p:spPr bwMode="auto">
            <a:xfrm>
              <a:off x="8140700" y="3713163"/>
              <a:ext cx="723900" cy="336550"/>
            </a:xfrm>
            <a:prstGeom prst="rect">
              <a:avLst/>
            </a:prstGeom>
            <a:solidFill>
              <a:schemeClr val="accent1"/>
            </a:solidFill>
            <a:ln w="6350">
              <a:solidFill>
                <a:srgbClr val="000000"/>
              </a:solidFill>
              <a:miter lim="800000"/>
              <a:headEnd/>
              <a:tailEnd/>
            </a:ln>
          </p:spPr>
          <p:txBody>
            <a:bodyPr wrap="none" lIns="91421" tIns="45712" rIns="91421" bIns="45712" anchor="ctr"/>
            <a:lstStyle/>
            <a:p>
              <a:pPr algn="ctr" defTabSz="2817813"/>
              <a:r>
                <a:rPr lang="en-GB" sz="500" b="1">
                  <a:cs typeface="Arial" charset="0"/>
                </a:rPr>
                <a:t>AREA 2 LTM-REC</a:t>
              </a:r>
            </a:p>
            <a:p>
              <a:pPr algn="ctr" defTabSz="2817813"/>
              <a:r>
                <a:rPr lang="en-GB" sz="500" b="1">
                  <a:cs typeface="Arial" charset="0"/>
                </a:rPr>
                <a:t>Long-Term Memory</a:t>
              </a:r>
            </a:p>
            <a:p>
              <a:pPr algn="ctr" defTabSz="2817813"/>
              <a:r>
                <a:rPr lang="en-GB" sz="500" b="1">
                  <a:cs typeface="Arial" charset="0"/>
                </a:rPr>
                <a:t>Primary Trace</a:t>
              </a:r>
              <a:endParaRPr lang="en-US" sz="500" b="1">
                <a:cs typeface="Arial" charset="0"/>
              </a:endParaRPr>
            </a:p>
          </p:txBody>
        </p:sp>
        <p:sp>
          <p:nvSpPr>
            <p:cNvPr id="59621" name="Rectangle 90"/>
            <p:cNvSpPr>
              <a:spLocks noChangeArrowheads="1"/>
            </p:cNvSpPr>
            <p:nvPr/>
          </p:nvSpPr>
          <p:spPr bwMode="auto">
            <a:xfrm>
              <a:off x="8134350" y="4840288"/>
              <a:ext cx="725488" cy="336550"/>
            </a:xfrm>
            <a:prstGeom prst="rect">
              <a:avLst/>
            </a:prstGeom>
            <a:solidFill>
              <a:schemeClr val="accent1"/>
            </a:solidFill>
            <a:ln w="6350">
              <a:solidFill>
                <a:srgbClr val="000000"/>
              </a:solidFill>
              <a:miter lim="800000"/>
              <a:headEnd/>
              <a:tailEnd/>
            </a:ln>
          </p:spPr>
          <p:txBody>
            <a:bodyPr wrap="none" lIns="91421" tIns="45712" rIns="91421" bIns="45712" anchor="ctr"/>
            <a:lstStyle/>
            <a:p>
              <a:pPr algn="ctr" defTabSz="2817813"/>
              <a:r>
                <a:rPr lang="en-GB" sz="500" b="1">
                  <a:cs typeface="Arial" charset="0"/>
                </a:rPr>
                <a:t>AREA 2 LTMR-REC</a:t>
              </a:r>
            </a:p>
            <a:p>
              <a:pPr algn="ctr" defTabSz="2817813"/>
              <a:r>
                <a:rPr lang="en-GB" sz="500" b="1">
                  <a:cs typeface="Arial" charset="0"/>
                </a:rPr>
                <a:t>Long-Term Memory</a:t>
              </a:r>
            </a:p>
            <a:p>
              <a:pPr algn="ctr" defTabSz="2817813"/>
              <a:r>
                <a:rPr lang="en-GB" sz="500" b="1">
                  <a:cs typeface="Arial" charset="0"/>
                </a:rPr>
                <a:t>Recursive Analysis</a:t>
              </a:r>
              <a:endParaRPr lang="en-US" sz="500" b="1">
                <a:cs typeface="Arial" charset="0"/>
              </a:endParaRPr>
            </a:p>
          </p:txBody>
        </p:sp>
        <p:sp>
          <p:nvSpPr>
            <p:cNvPr id="59622" name="Line 91"/>
            <p:cNvSpPr>
              <a:spLocks noChangeShapeType="1"/>
            </p:cNvSpPr>
            <p:nvPr/>
          </p:nvSpPr>
          <p:spPr bwMode="auto">
            <a:xfrm flipH="1">
              <a:off x="8458200" y="4054475"/>
              <a:ext cx="0" cy="785813"/>
            </a:xfrm>
            <a:prstGeom prst="line">
              <a:avLst/>
            </a:prstGeom>
            <a:noFill/>
            <a:ln w="6350">
              <a:solidFill>
                <a:srgbClr val="000000"/>
              </a:solidFill>
              <a:round/>
              <a:headEnd/>
              <a:tailEnd type="triangle" w="lg" len="lg"/>
            </a:ln>
          </p:spPr>
          <p:txBody>
            <a:bodyPr/>
            <a:lstStyle/>
            <a:p>
              <a:endParaRPr lang="en-GB"/>
            </a:p>
          </p:txBody>
        </p:sp>
        <p:sp>
          <p:nvSpPr>
            <p:cNvPr id="59623" name="Line 92"/>
            <p:cNvSpPr>
              <a:spLocks noChangeShapeType="1"/>
            </p:cNvSpPr>
            <p:nvPr/>
          </p:nvSpPr>
          <p:spPr bwMode="auto">
            <a:xfrm>
              <a:off x="8564563" y="4054475"/>
              <a:ext cx="0" cy="785813"/>
            </a:xfrm>
            <a:prstGeom prst="line">
              <a:avLst/>
            </a:prstGeom>
            <a:noFill/>
            <a:ln w="6350">
              <a:solidFill>
                <a:srgbClr val="000000"/>
              </a:solidFill>
              <a:round/>
              <a:headEnd/>
              <a:tailEnd type="triangle" w="lg" len="lg"/>
            </a:ln>
          </p:spPr>
          <p:txBody>
            <a:bodyPr/>
            <a:lstStyle/>
            <a:p>
              <a:endParaRPr lang="en-GB"/>
            </a:p>
          </p:txBody>
        </p:sp>
        <p:sp>
          <p:nvSpPr>
            <p:cNvPr id="59624" name="Text Box 93"/>
            <p:cNvSpPr txBox="1">
              <a:spLocks noChangeArrowheads="1"/>
            </p:cNvSpPr>
            <p:nvPr/>
          </p:nvSpPr>
          <p:spPr bwMode="auto">
            <a:xfrm>
              <a:off x="8539163" y="4394200"/>
              <a:ext cx="522287" cy="473075"/>
            </a:xfrm>
            <a:prstGeom prst="rect">
              <a:avLst/>
            </a:prstGeom>
            <a:noFill/>
            <a:ln w="6350">
              <a:noFill/>
              <a:miter lim="800000"/>
              <a:headEnd/>
              <a:tailEnd/>
            </a:ln>
          </p:spPr>
          <p:txBody>
            <a:bodyPr>
              <a:spAutoFit/>
            </a:bodyPr>
            <a:lstStyle/>
            <a:p>
              <a:pPr defTabSz="2817813"/>
              <a:r>
                <a:rPr lang="en-GB" sz="500" b="1">
                  <a:solidFill>
                    <a:srgbClr val="006600"/>
                  </a:solidFill>
                  <a:cs typeface="Arial" charset="0"/>
                </a:rPr>
                <a:t>LTM</a:t>
              </a:r>
            </a:p>
            <a:p>
              <a:pPr defTabSz="2817813"/>
              <a:r>
                <a:rPr lang="en-GB" sz="500" b="1">
                  <a:solidFill>
                    <a:srgbClr val="006600"/>
                  </a:solidFill>
                  <a:cs typeface="Arial" charset="0"/>
                </a:rPr>
                <a:t>OCCURS IN</a:t>
              </a:r>
            </a:p>
            <a:p>
              <a:pPr defTabSz="2817813"/>
              <a:r>
                <a:rPr lang="en-GB" sz="500" b="1">
                  <a:solidFill>
                    <a:srgbClr val="006600"/>
                  </a:solidFill>
                  <a:cs typeface="Arial" charset="0"/>
                </a:rPr>
                <a:t>LTMRs</a:t>
              </a:r>
            </a:p>
            <a:p>
              <a:pPr defTabSz="2817813"/>
              <a:r>
                <a:rPr lang="en-GB" sz="500" b="1">
                  <a:solidFill>
                    <a:srgbClr val="006600"/>
                  </a:solidFill>
                  <a:cs typeface="Arial" charset="0"/>
                </a:rPr>
                <a:t>&lt;NO   AM&gt;</a:t>
              </a:r>
            </a:p>
          </p:txBody>
        </p:sp>
        <p:sp>
          <p:nvSpPr>
            <p:cNvPr id="59625" name="Text Box 94"/>
            <p:cNvSpPr txBox="1">
              <a:spLocks noChangeArrowheads="1"/>
            </p:cNvSpPr>
            <p:nvPr/>
          </p:nvSpPr>
          <p:spPr bwMode="auto">
            <a:xfrm>
              <a:off x="8027988" y="4394200"/>
              <a:ext cx="469900" cy="473075"/>
            </a:xfrm>
            <a:prstGeom prst="rect">
              <a:avLst/>
            </a:prstGeom>
            <a:noFill/>
            <a:ln w="6350">
              <a:noFill/>
              <a:miter lim="800000"/>
              <a:headEnd/>
              <a:tailEnd/>
            </a:ln>
          </p:spPr>
          <p:txBody>
            <a:bodyPr>
              <a:spAutoFit/>
            </a:bodyPr>
            <a:lstStyle/>
            <a:p>
              <a:pPr algn="r" defTabSz="2817813"/>
              <a:r>
                <a:rPr lang="en-GB" sz="500" b="1">
                  <a:solidFill>
                    <a:srgbClr val="006600"/>
                  </a:solidFill>
                  <a:cs typeface="Arial" charset="0"/>
                </a:rPr>
                <a:t>LTMR</a:t>
              </a:r>
            </a:p>
            <a:p>
              <a:pPr algn="r" defTabSz="2817813"/>
              <a:r>
                <a:rPr lang="en-GB" sz="500" b="1">
                  <a:solidFill>
                    <a:srgbClr val="006600"/>
                  </a:solidFill>
                  <a:cs typeface="Arial" charset="0"/>
                </a:rPr>
                <a:t>LINKS</a:t>
              </a:r>
            </a:p>
            <a:p>
              <a:pPr algn="r" defTabSz="2817813"/>
              <a:r>
                <a:rPr lang="en-GB" sz="500" b="1">
                  <a:solidFill>
                    <a:srgbClr val="006600"/>
                  </a:solidFill>
                  <a:cs typeface="Arial" charset="0"/>
                </a:rPr>
                <a:t>LTMs</a:t>
              </a:r>
            </a:p>
            <a:p>
              <a:pPr algn="r" defTabSz="2817813"/>
              <a:r>
                <a:rPr lang="en-GB" sz="500" b="1">
                  <a:solidFill>
                    <a:srgbClr val="006600"/>
                  </a:solidFill>
                  <a:cs typeface="Arial" charset="0"/>
                </a:rPr>
                <a:t>&lt;NO   AM&gt;</a:t>
              </a:r>
            </a:p>
          </p:txBody>
        </p:sp>
        <p:sp>
          <p:nvSpPr>
            <p:cNvPr id="59626" name="Rectangle 95"/>
            <p:cNvSpPr>
              <a:spLocks noChangeArrowheads="1"/>
            </p:cNvSpPr>
            <p:nvPr/>
          </p:nvSpPr>
          <p:spPr bwMode="auto">
            <a:xfrm>
              <a:off x="8564563" y="5732463"/>
              <a:ext cx="723900" cy="336550"/>
            </a:xfrm>
            <a:prstGeom prst="rect">
              <a:avLst/>
            </a:prstGeom>
            <a:solidFill>
              <a:srgbClr val="FFCC00"/>
            </a:solidFill>
            <a:ln w="6350">
              <a:solidFill>
                <a:srgbClr val="000000"/>
              </a:solidFill>
              <a:miter lim="800000"/>
              <a:headEnd/>
              <a:tailEnd/>
            </a:ln>
          </p:spPr>
          <p:txBody>
            <a:bodyPr wrap="none" lIns="91421" tIns="45712" rIns="91421" bIns="45712" anchor="ctr"/>
            <a:lstStyle/>
            <a:p>
              <a:pPr algn="ctr" defTabSz="2817813"/>
              <a:r>
                <a:rPr lang="en-GB" sz="500" b="1">
                  <a:cs typeface="Arial" charset="0"/>
                </a:rPr>
                <a:t>AREA 2 LTMS-REC</a:t>
              </a:r>
            </a:p>
            <a:p>
              <a:pPr algn="ctr" defTabSz="2817813"/>
              <a:r>
                <a:rPr lang="en-GB" sz="500" b="1">
                  <a:cs typeface="Arial" charset="0"/>
                </a:rPr>
                <a:t>Long-Term Memory</a:t>
              </a:r>
            </a:p>
            <a:p>
              <a:pPr algn="ctr" defTabSz="2817813"/>
              <a:r>
                <a:rPr lang="en-GB" sz="500" b="1">
                  <a:cs typeface="Arial" charset="0"/>
                </a:rPr>
                <a:t>Superchief</a:t>
              </a:r>
              <a:endParaRPr lang="en-US" sz="500" b="1">
                <a:cs typeface="Arial" charset="0"/>
              </a:endParaRPr>
            </a:p>
          </p:txBody>
        </p:sp>
        <p:sp>
          <p:nvSpPr>
            <p:cNvPr id="59627" name="Text Box 96"/>
            <p:cNvSpPr txBox="1">
              <a:spLocks noChangeArrowheads="1"/>
            </p:cNvSpPr>
            <p:nvPr/>
          </p:nvSpPr>
          <p:spPr bwMode="auto">
            <a:xfrm>
              <a:off x="9074150" y="4211638"/>
              <a:ext cx="565150" cy="549275"/>
            </a:xfrm>
            <a:prstGeom prst="rect">
              <a:avLst/>
            </a:prstGeom>
            <a:noFill/>
            <a:ln w="6350">
              <a:noFill/>
              <a:miter lim="800000"/>
              <a:headEnd/>
              <a:tailEnd/>
            </a:ln>
          </p:spPr>
          <p:txBody>
            <a:bodyPr>
              <a:spAutoFit/>
            </a:bodyPr>
            <a:lstStyle/>
            <a:p>
              <a:pPr defTabSz="2817813"/>
              <a:r>
                <a:rPr lang="en-GB" sz="500" b="1">
                  <a:solidFill>
                    <a:srgbClr val="006600"/>
                  </a:solidFill>
                  <a:cs typeface="Arial" charset="0"/>
                </a:rPr>
                <a:t>LTMs ARE</a:t>
              </a:r>
            </a:p>
            <a:p>
              <a:pPr defTabSz="2817813"/>
              <a:r>
                <a:rPr lang="en-GB" sz="500" b="1">
                  <a:solidFill>
                    <a:srgbClr val="006600"/>
                  </a:solidFill>
                  <a:cs typeface="Arial" charset="0"/>
                </a:rPr>
                <a:t>CLUSTERED</a:t>
              </a:r>
            </a:p>
            <a:p>
              <a:pPr defTabSz="2817813"/>
              <a:r>
                <a:rPr lang="en-GB" sz="500" b="1">
                  <a:solidFill>
                    <a:srgbClr val="006600"/>
                  </a:solidFill>
                  <a:cs typeface="Arial" charset="0"/>
                </a:rPr>
                <a:t>UNDER</a:t>
              </a:r>
            </a:p>
            <a:p>
              <a:pPr defTabSz="2817813"/>
              <a:r>
                <a:rPr lang="en-GB" sz="500" b="1">
                  <a:solidFill>
                    <a:srgbClr val="006600"/>
                  </a:solidFill>
                  <a:cs typeface="Arial" charset="0"/>
                </a:rPr>
                <a:t>LTMSs</a:t>
              </a:r>
            </a:p>
            <a:p>
              <a:pPr defTabSz="2817813"/>
              <a:r>
                <a:rPr lang="en-GB" sz="500" b="1">
                  <a:solidFill>
                    <a:srgbClr val="006600"/>
                  </a:solidFill>
                  <a:cs typeface="Arial" charset="0"/>
                </a:rPr>
                <a:t>&lt;NO   AM&gt;</a:t>
              </a:r>
            </a:p>
          </p:txBody>
        </p:sp>
        <p:sp>
          <p:nvSpPr>
            <p:cNvPr id="59628" name="Line 97"/>
            <p:cNvSpPr>
              <a:spLocks noChangeShapeType="1"/>
            </p:cNvSpPr>
            <p:nvPr/>
          </p:nvSpPr>
          <p:spPr bwMode="auto">
            <a:xfrm rot="-5400000" flipH="1" flipV="1">
              <a:off x="8157369" y="4788694"/>
              <a:ext cx="1887538" cy="0"/>
            </a:xfrm>
            <a:prstGeom prst="line">
              <a:avLst/>
            </a:prstGeom>
            <a:noFill/>
            <a:ln w="6350">
              <a:solidFill>
                <a:srgbClr val="000000"/>
              </a:solidFill>
              <a:round/>
              <a:headEnd/>
              <a:tailEnd type="triangle" w="lg" len="lg"/>
            </a:ln>
          </p:spPr>
          <p:txBody>
            <a:bodyPr/>
            <a:lstStyle/>
            <a:p>
              <a:endParaRPr lang="en-GB"/>
            </a:p>
          </p:txBody>
        </p:sp>
        <p:sp>
          <p:nvSpPr>
            <p:cNvPr id="59629" name="Line 98"/>
            <p:cNvSpPr>
              <a:spLocks noChangeShapeType="1"/>
            </p:cNvSpPr>
            <p:nvPr/>
          </p:nvSpPr>
          <p:spPr bwMode="auto">
            <a:xfrm rot="10800000">
              <a:off x="8866188" y="3843338"/>
              <a:ext cx="241300" cy="0"/>
            </a:xfrm>
            <a:prstGeom prst="line">
              <a:avLst/>
            </a:prstGeom>
            <a:noFill/>
            <a:ln w="6350">
              <a:solidFill>
                <a:srgbClr val="000000"/>
              </a:solidFill>
              <a:round/>
              <a:headEnd/>
              <a:tailEnd type="none" w="lg" len="lg"/>
            </a:ln>
          </p:spPr>
          <p:txBody>
            <a:bodyPr/>
            <a:lstStyle/>
            <a:p>
              <a:endParaRPr lang="en-GB"/>
            </a:p>
          </p:txBody>
        </p:sp>
        <p:sp>
          <p:nvSpPr>
            <p:cNvPr id="59630" name="Line 99"/>
            <p:cNvSpPr>
              <a:spLocks noChangeShapeType="1"/>
            </p:cNvSpPr>
            <p:nvPr/>
          </p:nvSpPr>
          <p:spPr bwMode="auto">
            <a:xfrm flipH="1">
              <a:off x="9423400" y="3319463"/>
              <a:ext cx="0" cy="760412"/>
            </a:xfrm>
            <a:prstGeom prst="line">
              <a:avLst/>
            </a:prstGeom>
            <a:noFill/>
            <a:ln w="6350">
              <a:solidFill>
                <a:srgbClr val="000000"/>
              </a:solidFill>
              <a:round/>
              <a:headEnd/>
              <a:tailEnd type="none" w="lg" len="lg"/>
            </a:ln>
          </p:spPr>
          <p:txBody>
            <a:bodyPr/>
            <a:lstStyle/>
            <a:p>
              <a:endParaRPr lang="en-GB"/>
            </a:p>
          </p:txBody>
        </p:sp>
        <p:sp>
          <p:nvSpPr>
            <p:cNvPr id="59631" name="Line 100"/>
            <p:cNvSpPr>
              <a:spLocks noChangeShapeType="1"/>
            </p:cNvSpPr>
            <p:nvPr/>
          </p:nvSpPr>
          <p:spPr bwMode="auto">
            <a:xfrm flipH="1">
              <a:off x="7893050" y="4079875"/>
              <a:ext cx="1530350" cy="446088"/>
            </a:xfrm>
            <a:prstGeom prst="line">
              <a:avLst/>
            </a:prstGeom>
            <a:noFill/>
            <a:ln w="6350">
              <a:solidFill>
                <a:srgbClr val="000000"/>
              </a:solidFill>
              <a:round/>
              <a:headEnd/>
              <a:tailEnd type="none" w="lg" len="lg"/>
            </a:ln>
          </p:spPr>
          <p:txBody>
            <a:bodyPr/>
            <a:lstStyle/>
            <a:p>
              <a:endParaRPr lang="en-GB"/>
            </a:p>
          </p:txBody>
        </p:sp>
        <p:sp>
          <p:nvSpPr>
            <p:cNvPr id="59632" name="Line 101"/>
            <p:cNvSpPr>
              <a:spLocks noChangeShapeType="1"/>
            </p:cNvSpPr>
            <p:nvPr/>
          </p:nvSpPr>
          <p:spPr bwMode="auto">
            <a:xfrm flipH="1">
              <a:off x="7921625" y="3319463"/>
              <a:ext cx="0" cy="760412"/>
            </a:xfrm>
            <a:prstGeom prst="line">
              <a:avLst/>
            </a:prstGeom>
            <a:noFill/>
            <a:ln w="6350">
              <a:solidFill>
                <a:srgbClr val="000000"/>
              </a:solidFill>
              <a:round/>
              <a:headEnd/>
              <a:tailEnd type="none" w="lg" len="lg"/>
            </a:ln>
          </p:spPr>
          <p:txBody>
            <a:bodyPr/>
            <a:lstStyle/>
            <a:p>
              <a:endParaRPr lang="en-GB"/>
            </a:p>
          </p:txBody>
        </p:sp>
        <p:sp>
          <p:nvSpPr>
            <p:cNvPr id="59633" name="Line 102"/>
            <p:cNvSpPr>
              <a:spLocks noChangeShapeType="1"/>
            </p:cNvSpPr>
            <p:nvPr/>
          </p:nvSpPr>
          <p:spPr bwMode="auto">
            <a:xfrm flipH="1">
              <a:off x="7277100" y="4079875"/>
              <a:ext cx="644525" cy="209550"/>
            </a:xfrm>
            <a:prstGeom prst="line">
              <a:avLst/>
            </a:prstGeom>
            <a:noFill/>
            <a:ln w="6350">
              <a:solidFill>
                <a:srgbClr val="000000"/>
              </a:solidFill>
              <a:round/>
              <a:headEnd/>
              <a:tailEnd type="none" w="lg" len="lg"/>
            </a:ln>
          </p:spPr>
          <p:txBody>
            <a:bodyPr/>
            <a:lstStyle/>
            <a:p>
              <a:endParaRPr lang="en-GB"/>
            </a:p>
          </p:txBody>
        </p:sp>
        <p:sp>
          <p:nvSpPr>
            <p:cNvPr id="59634" name="Line 103"/>
            <p:cNvSpPr>
              <a:spLocks noChangeShapeType="1"/>
            </p:cNvSpPr>
            <p:nvPr/>
          </p:nvSpPr>
          <p:spPr bwMode="auto">
            <a:xfrm>
              <a:off x="7893050" y="4525963"/>
              <a:ext cx="0" cy="603250"/>
            </a:xfrm>
            <a:prstGeom prst="line">
              <a:avLst/>
            </a:prstGeom>
            <a:noFill/>
            <a:ln w="6350">
              <a:solidFill>
                <a:srgbClr val="000000"/>
              </a:solidFill>
              <a:round/>
              <a:headEnd/>
              <a:tailEnd type="triangle" w="lg" len="lg"/>
            </a:ln>
          </p:spPr>
          <p:txBody>
            <a:bodyPr/>
            <a:lstStyle/>
            <a:p>
              <a:endParaRPr lang="en-GB"/>
            </a:p>
          </p:txBody>
        </p:sp>
        <p:sp>
          <p:nvSpPr>
            <p:cNvPr id="59635" name="Line 104"/>
            <p:cNvSpPr>
              <a:spLocks noChangeShapeType="1"/>
            </p:cNvSpPr>
            <p:nvPr/>
          </p:nvSpPr>
          <p:spPr bwMode="auto">
            <a:xfrm flipH="1">
              <a:off x="7786688" y="4054475"/>
              <a:ext cx="563562" cy="471488"/>
            </a:xfrm>
            <a:prstGeom prst="line">
              <a:avLst/>
            </a:prstGeom>
            <a:noFill/>
            <a:ln w="6350">
              <a:solidFill>
                <a:srgbClr val="000000"/>
              </a:solidFill>
              <a:round/>
              <a:headEnd/>
              <a:tailEnd type="none" w="lg" len="lg"/>
            </a:ln>
          </p:spPr>
          <p:txBody>
            <a:bodyPr/>
            <a:lstStyle/>
            <a:p>
              <a:endParaRPr lang="en-GB"/>
            </a:p>
          </p:txBody>
        </p:sp>
        <p:sp>
          <p:nvSpPr>
            <p:cNvPr id="59636" name="Line 105"/>
            <p:cNvSpPr>
              <a:spLocks noChangeShapeType="1"/>
            </p:cNvSpPr>
            <p:nvPr/>
          </p:nvSpPr>
          <p:spPr bwMode="auto">
            <a:xfrm>
              <a:off x="7786688" y="4525963"/>
              <a:ext cx="0" cy="603250"/>
            </a:xfrm>
            <a:prstGeom prst="line">
              <a:avLst/>
            </a:prstGeom>
            <a:noFill/>
            <a:ln w="6350">
              <a:solidFill>
                <a:srgbClr val="000000"/>
              </a:solidFill>
              <a:round/>
              <a:headEnd/>
              <a:tailEnd type="triangle" w="lg" len="lg"/>
            </a:ln>
          </p:spPr>
          <p:txBody>
            <a:bodyPr/>
            <a:lstStyle/>
            <a:p>
              <a:endParaRPr lang="en-GB"/>
            </a:p>
          </p:txBody>
        </p:sp>
      </p:grpSp>
      <p:pic>
        <p:nvPicPr>
          <p:cNvPr id="59397" name="Picture 106" descr="PICbellmagendie"/>
          <p:cNvPicPr>
            <a:picLocks noChangeAspect="1" noChangeArrowheads="1"/>
          </p:cNvPicPr>
          <p:nvPr/>
        </p:nvPicPr>
        <p:blipFill>
          <a:blip r:embed="rId4" cstate="print">
            <a:lum contrast="-46000"/>
          </a:blip>
          <a:srcRect/>
          <a:stretch>
            <a:fillRect/>
          </a:stretch>
        </p:blipFill>
        <p:spPr bwMode="auto">
          <a:xfrm>
            <a:off x="166688" y="285750"/>
            <a:ext cx="2876550" cy="2857500"/>
          </a:xfrm>
          <a:prstGeom prst="rect">
            <a:avLst/>
          </a:prstGeom>
          <a:noFill/>
          <a:ln w="9525">
            <a:noFill/>
            <a:miter lim="800000"/>
            <a:headEnd/>
            <a:tailEnd/>
          </a:ln>
        </p:spPr>
      </p:pic>
      <p:grpSp>
        <p:nvGrpSpPr>
          <p:cNvPr id="171" name="Group 170"/>
          <p:cNvGrpSpPr/>
          <p:nvPr/>
        </p:nvGrpSpPr>
        <p:grpSpPr>
          <a:xfrm>
            <a:off x="5834082" y="1500174"/>
            <a:ext cx="3762388" cy="5111754"/>
            <a:chOff x="727075" y="1065213"/>
            <a:chExt cx="6130925" cy="6975475"/>
          </a:xfrm>
        </p:grpSpPr>
        <p:sp>
          <p:nvSpPr>
            <p:cNvPr id="172" name="AutoShape 8839"/>
            <p:cNvSpPr>
              <a:spLocks noChangeArrowheads="1"/>
            </p:cNvSpPr>
            <p:nvPr/>
          </p:nvSpPr>
          <p:spPr bwMode="auto">
            <a:xfrm rot="15190429" flipV="1">
              <a:off x="2890068" y="1791490"/>
              <a:ext cx="112711" cy="1536691"/>
            </a:xfrm>
            <a:prstGeom prst="upArrow">
              <a:avLst>
                <a:gd name="adj1" fmla="val 50000"/>
                <a:gd name="adj2" fmla="val 557096"/>
              </a:avLst>
            </a:prstGeom>
            <a:solidFill>
              <a:srgbClr val="FF8B8B"/>
            </a:solidFill>
            <a:ln w="9525">
              <a:solidFill>
                <a:schemeClr val="tx1"/>
              </a:solidFill>
              <a:miter lim="800000"/>
              <a:headEnd/>
              <a:tailEnd/>
            </a:ln>
          </p:spPr>
          <p:txBody>
            <a:bodyPr vert="eaVert" wrap="none" anchor="ctr"/>
            <a:lstStyle/>
            <a:p>
              <a:endParaRPr lang="en-US"/>
            </a:p>
          </p:txBody>
        </p:sp>
        <p:sp>
          <p:nvSpPr>
            <p:cNvPr id="173" name="AutoShape 8786"/>
            <p:cNvSpPr>
              <a:spLocks noChangeArrowheads="1"/>
            </p:cNvSpPr>
            <p:nvPr/>
          </p:nvSpPr>
          <p:spPr bwMode="auto">
            <a:xfrm rot="20589849">
              <a:off x="2214591" y="6110261"/>
              <a:ext cx="128586" cy="1427154"/>
            </a:xfrm>
            <a:prstGeom prst="upArrow">
              <a:avLst>
                <a:gd name="adj1" fmla="val 50000"/>
                <a:gd name="adj2" fmla="val 307530"/>
              </a:avLst>
            </a:prstGeom>
            <a:solidFill>
              <a:srgbClr val="FF8B8B"/>
            </a:solidFill>
            <a:ln w="9525">
              <a:solidFill>
                <a:schemeClr val="tx1"/>
              </a:solidFill>
              <a:miter lim="800000"/>
              <a:headEnd/>
              <a:tailEnd/>
            </a:ln>
          </p:spPr>
          <p:txBody>
            <a:bodyPr vert="eaVert" wrap="none" anchor="ctr"/>
            <a:lstStyle/>
            <a:p>
              <a:endParaRPr lang="en-US"/>
            </a:p>
          </p:txBody>
        </p:sp>
        <p:sp>
          <p:nvSpPr>
            <p:cNvPr id="174" name="AutoShape 8966"/>
            <p:cNvSpPr>
              <a:spLocks noChangeArrowheads="1"/>
            </p:cNvSpPr>
            <p:nvPr/>
          </p:nvSpPr>
          <p:spPr bwMode="auto">
            <a:xfrm rot="16200000">
              <a:off x="3042467" y="1427954"/>
              <a:ext cx="114299" cy="1239831"/>
            </a:xfrm>
            <a:prstGeom prst="upArrow">
              <a:avLst>
                <a:gd name="adj1" fmla="val 50000"/>
                <a:gd name="adj2" fmla="val 79848"/>
              </a:avLst>
            </a:prstGeom>
            <a:solidFill>
              <a:srgbClr val="FF8B8B"/>
            </a:solidFill>
            <a:ln w="9525">
              <a:solidFill>
                <a:schemeClr val="tx1"/>
              </a:solidFill>
              <a:miter lim="800000"/>
              <a:headEnd/>
              <a:tailEnd/>
            </a:ln>
          </p:spPr>
          <p:txBody>
            <a:bodyPr vert="eaVert" wrap="none" anchor="ctr"/>
            <a:lstStyle/>
            <a:p>
              <a:endParaRPr lang="en-US"/>
            </a:p>
          </p:txBody>
        </p:sp>
        <p:sp>
          <p:nvSpPr>
            <p:cNvPr id="175" name="Rectangle 8733"/>
            <p:cNvSpPr>
              <a:spLocks noChangeArrowheads="1"/>
            </p:cNvSpPr>
            <p:nvPr/>
          </p:nvSpPr>
          <p:spPr bwMode="auto">
            <a:xfrm>
              <a:off x="5802319" y="4368782"/>
              <a:ext cx="971544" cy="790571"/>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76" name="AutoShape 8966"/>
            <p:cNvSpPr>
              <a:spLocks noChangeArrowheads="1"/>
            </p:cNvSpPr>
            <p:nvPr/>
          </p:nvSpPr>
          <p:spPr bwMode="auto">
            <a:xfrm rot="12217763">
              <a:off x="4941900" y="2536817"/>
              <a:ext cx="114299" cy="547685"/>
            </a:xfrm>
            <a:prstGeom prst="upArrow">
              <a:avLst>
                <a:gd name="adj1" fmla="val 50000"/>
                <a:gd name="adj2" fmla="val 79817"/>
              </a:avLst>
            </a:prstGeom>
            <a:solidFill>
              <a:srgbClr val="FF8B8B"/>
            </a:solidFill>
            <a:ln w="9525">
              <a:solidFill>
                <a:schemeClr val="tx1"/>
              </a:solidFill>
              <a:miter lim="800000"/>
              <a:headEnd/>
              <a:tailEnd/>
            </a:ln>
          </p:spPr>
          <p:txBody>
            <a:bodyPr vert="eaVert" wrap="none" anchor="ctr"/>
            <a:lstStyle/>
            <a:p>
              <a:endParaRPr lang="en-US"/>
            </a:p>
          </p:txBody>
        </p:sp>
        <p:sp>
          <p:nvSpPr>
            <p:cNvPr id="177" name="AutoShape 8937"/>
            <p:cNvSpPr>
              <a:spLocks noChangeArrowheads="1"/>
            </p:cNvSpPr>
            <p:nvPr/>
          </p:nvSpPr>
          <p:spPr bwMode="auto">
            <a:xfrm rot="5400000">
              <a:off x="5386397" y="3176577"/>
              <a:ext cx="114299" cy="571497"/>
            </a:xfrm>
            <a:prstGeom prst="upArrow">
              <a:avLst>
                <a:gd name="adj1" fmla="val 50000"/>
                <a:gd name="adj2" fmla="val 125000"/>
              </a:avLst>
            </a:prstGeom>
            <a:solidFill>
              <a:srgbClr val="FF8B8B"/>
            </a:solidFill>
            <a:ln w="9525">
              <a:solidFill>
                <a:schemeClr val="tx1"/>
              </a:solidFill>
              <a:miter lim="800000"/>
              <a:headEnd/>
              <a:tailEnd/>
            </a:ln>
          </p:spPr>
          <p:txBody>
            <a:bodyPr vert="eaVert" wrap="none" anchor="ctr"/>
            <a:lstStyle/>
            <a:p>
              <a:endParaRPr lang="en-US"/>
            </a:p>
          </p:txBody>
        </p:sp>
        <p:sp>
          <p:nvSpPr>
            <p:cNvPr id="178" name="AutoShape 8928"/>
            <p:cNvSpPr>
              <a:spLocks noChangeArrowheads="1"/>
            </p:cNvSpPr>
            <p:nvPr/>
          </p:nvSpPr>
          <p:spPr bwMode="auto">
            <a:xfrm rot="12338048" flipV="1">
              <a:off x="3284560" y="2427281"/>
              <a:ext cx="112711" cy="2119300"/>
            </a:xfrm>
            <a:prstGeom prst="upArrow">
              <a:avLst>
                <a:gd name="adj1" fmla="val 50000"/>
                <a:gd name="adj2" fmla="val 463371"/>
              </a:avLst>
            </a:prstGeom>
            <a:solidFill>
              <a:srgbClr val="FF8B8B"/>
            </a:solidFill>
            <a:ln w="9525">
              <a:solidFill>
                <a:schemeClr val="tx1"/>
              </a:solidFill>
              <a:miter lim="800000"/>
              <a:headEnd/>
              <a:tailEnd/>
            </a:ln>
          </p:spPr>
          <p:txBody>
            <a:bodyPr vert="eaVert" wrap="none" anchor="ctr"/>
            <a:lstStyle/>
            <a:p>
              <a:endParaRPr lang="en-US"/>
            </a:p>
          </p:txBody>
        </p:sp>
        <p:sp>
          <p:nvSpPr>
            <p:cNvPr id="179" name="AutoShape 8927"/>
            <p:cNvSpPr>
              <a:spLocks noChangeArrowheads="1"/>
            </p:cNvSpPr>
            <p:nvPr/>
          </p:nvSpPr>
          <p:spPr bwMode="auto">
            <a:xfrm>
              <a:off x="1484345" y="2252657"/>
              <a:ext cx="114299" cy="720721"/>
            </a:xfrm>
            <a:prstGeom prst="upArrow">
              <a:avLst>
                <a:gd name="adj1" fmla="val 50000"/>
                <a:gd name="adj2" fmla="val 157639"/>
              </a:avLst>
            </a:prstGeom>
            <a:solidFill>
              <a:srgbClr val="FF8B8B"/>
            </a:solidFill>
            <a:ln w="9525">
              <a:solidFill>
                <a:schemeClr val="tx1"/>
              </a:solidFill>
              <a:miter lim="800000"/>
              <a:headEnd/>
              <a:tailEnd/>
            </a:ln>
          </p:spPr>
          <p:txBody>
            <a:bodyPr vert="eaVert" wrap="none" anchor="ctr"/>
            <a:lstStyle/>
            <a:p>
              <a:endParaRPr lang="en-US"/>
            </a:p>
          </p:txBody>
        </p:sp>
        <p:sp>
          <p:nvSpPr>
            <p:cNvPr id="180" name="AutoShape 8907"/>
            <p:cNvSpPr>
              <a:spLocks noChangeArrowheads="1"/>
            </p:cNvSpPr>
            <p:nvPr/>
          </p:nvSpPr>
          <p:spPr bwMode="auto">
            <a:xfrm rot="2358030">
              <a:off x="3644919" y="3729023"/>
              <a:ext cx="112712" cy="931857"/>
            </a:xfrm>
            <a:prstGeom prst="upArrow">
              <a:avLst>
                <a:gd name="adj1" fmla="val 50000"/>
                <a:gd name="adj2" fmla="val 206690"/>
              </a:avLst>
            </a:prstGeom>
            <a:solidFill>
              <a:srgbClr val="FF8B8B"/>
            </a:solidFill>
            <a:ln w="9525" cap="rnd">
              <a:solidFill>
                <a:schemeClr val="tx1"/>
              </a:solidFill>
              <a:miter lim="800000"/>
              <a:headEnd/>
              <a:tailEnd/>
            </a:ln>
          </p:spPr>
          <p:txBody>
            <a:bodyPr vert="eaVert" wrap="none" anchor="ctr"/>
            <a:lstStyle/>
            <a:p>
              <a:endParaRPr lang="en-US"/>
            </a:p>
          </p:txBody>
        </p:sp>
        <p:sp>
          <p:nvSpPr>
            <p:cNvPr id="181" name="AutoShape 8864"/>
            <p:cNvSpPr>
              <a:spLocks noChangeArrowheads="1"/>
            </p:cNvSpPr>
            <p:nvPr/>
          </p:nvSpPr>
          <p:spPr bwMode="auto">
            <a:xfrm rot="1971344">
              <a:off x="1452596" y="3124189"/>
              <a:ext cx="114299" cy="765171"/>
            </a:xfrm>
            <a:prstGeom prst="upArrow">
              <a:avLst>
                <a:gd name="adj1" fmla="val 50000"/>
                <a:gd name="adj2" fmla="val 140243"/>
              </a:avLst>
            </a:prstGeom>
            <a:solidFill>
              <a:srgbClr val="FF8B8B"/>
            </a:solidFill>
            <a:ln w="9525">
              <a:solidFill>
                <a:schemeClr val="tx1"/>
              </a:solidFill>
              <a:miter lim="800000"/>
              <a:headEnd/>
              <a:tailEnd/>
            </a:ln>
          </p:spPr>
          <p:txBody>
            <a:bodyPr vert="eaVert" wrap="none" anchor="ctr"/>
            <a:lstStyle/>
            <a:p>
              <a:endParaRPr lang="en-US"/>
            </a:p>
          </p:txBody>
        </p:sp>
        <p:sp>
          <p:nvSpPr>
            <p:cNvPr id="182" name="AutoShape 8839"/>
            <p:cNvSpPr>
              <a:spLocks noChangeArrowheads="1"/>
            </p:cNvSpPr>
            <p:nvPr/>
          </p:nvSpPr>
          <p:spPr bwMode="auto">
            <a:xfrm rot="14328371" flipV="1">
              <a:off x="2613052" y="1904996"/>
              <a:ext cx="112711" cy="2509822"/>
            </a:xfrm>
            <a:prstGeom prst="upArrow">
              <a:avLst>
                <a:gd name="adj1" fmla="val 50000"/>
                <a:gd name="adj2" fmla="val 556694"/>
              </a:avLst>
            </a:prstGeom>
            <a:solidFill>
              <a:srgbClr val="FF8B8B"/>
            </a:solidFill>
            <a:ln w="9525">
              <a:solidFill>
                <a:schemeClr val="tx1"/>
              </a:solidFill>
              <a:miter lim="800000"/>
              <a:headEnd/>
              <a:tailEnd/>
            </a:ln>
          </p:spPr>
          <p:txBody>
            <a:bodyPr vert="eaVert" wrap="none" anchor="ctr"/>
            <a:lstStyle/>
            <a:p>
              <a:endParaRPr lang="en-US"/>
            </a:p>
          </p:txBody>
        </p:sp>
        <p:sp>
          <p:nvSpPr>
            <p:cNvPr id="183" name="AutoShape 8826"/>
            <p:cNvSpPr>
              <a:spLocks noChangeArrowheads="1"/>
            </p:cNvSpPr>
            <p:nvPr/>
          </p:nvSpPr>
          <p:spPr bwMode="auto">
            <a:xfrm rot="9488368">
              <a:off x="6348416" y="3841735"/>
              <a:ext cx="123824" cy="547685"/>
            </a:xfrm>
            <a:prstGeom prst="upArrow">
              <a:avLst>
                <a:gd name="adj1" fmla="val 50000"/>
                <a:gd name="adj2" fmla="val 123437"/>
              </a:avLst>
            </a:prstGeom>
            <a:solidFill>
              <a:srgbClr val="FF8B8B"/>
            </a:solidFill>
            <a:ln w="9525" cap="rnd">
              <a:solidFill>
                <a:schemeClr val="tx1"/>
              </a:solidFill>
              <a:miter lim="800000"/>
              <a:headEnd/>
              <a:tailEnd/>
            </a:ln>
          </p:spPr>
          <p:txBody>
            <a:bodyPr vert="eaVert" wrap="none" anchor="ctr"/>
            <a:lstStyle/>
            <a:p>
              <a:endParaRPr lang="en-US"/>
            </a:p>
          </p:txBody>
        </p:sp>
        <p:sp>
          <p:nvSpPr>
            <p:cNvPr id="184" name="Rectangle 8735"/>
            <p:cNvSpPr>
              <a:spLocks noChangeArrowheads="1"/>
            </p:cNvSpPr>
            <p:nvPr/>
          </p:nvSpPr>
          <p:spPr bwMode="auto">
            <a:xfrm>
              <a:off x="3716357" y="1892295"/>
              <a:ext cx="2665396" cy="671509"/>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85" name="Rectangle 8736"/>
            <p:cNvSpPr>
              <a:spLocks noChangeArrowheads="1"/>
            </p:cNvSpPr>
            <p:nvPr/>
          </p:nvSpPr>
          <p:spPr bwMode="auto">
            <a:xfrm>
              <a:off x="3789382"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86" name="AutoShape 8786"/>
            <p:cNvSpPr>
              <a:spLocks noChangeArrowheads="1"/>
            </p:cNvSpPr>
            <p:nvPr/>
          </p:nvSpPr>
          <p:spPr bwMode="auto">
            <a:xfrm rot="20589849">
              <a:off x="1663731" y="4579919"/>
              <a:ext cx="128587" cy="1193793"/>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187" name="Rectangle 8733"/>
            <p:cNvSpPr>
              <a:spLocks noChangeArrowheads="1"/>
            </p:cNvSpPr>
            <p:nvPr/>
          </p:nvSpPr>
          <p:spPr bwMode="auto">
            <a:xfrm>
              <a:off x="5734057" y="3008302"/>
              <a:ext cx="971544" cy="900107"/>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GB" sz="400" b="1"/>
            </a:p>
            <a:p>
              <a:pPr algn="ctr"/>
              <a:endParaRPr lang="en-US" sz="400"/>
            </a:p>
          </p:txBody>
        </p:sp>
        <p:sp>
          <p:nvSpPr>
            <p:cNvPr id="188" name="Rectangle 8751"/>
            <p:cNvSpPr>
              <a:spLocks noChangeArrowheads="1"/>
            </p:cNvSpPr>
            <p:nvPr/>
          </p:nvSpPr>
          <p:spPr bwMode="auto">
            <a:xfrm>
              <a:off x="1087473" y="3803635"/>
              <a:ext cx="1281104" cy="7842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89" name="Rectangle 8752"/>
            <p:cNvSpPr>
              <a:spLocks noChangeArrowheads="1"/>
            </p:cNvSpPr>
            <p:nvPr/>
          </p:nvSpPr>
          <p:spPr bwMode="auto">
            <a:xfrm>
              <a:off x="1316071" y="4003659"/>
              <a:ext cx="827082" cy="296861"/>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GB" sz="400" b="1"/>
            </a:p>
            <a:p>
              <a:pPr algn="ctr"/>
              <a:endParaRPr lang="en-GB" sz="400" b="1"/>
            </a:p>
            <a:p>
              <a:pPr algn="ctr"/>
              <a:endParaRPr lang="en-US" sz="400" b="1"/>
            </a:p>
          </p:txBody>
        </p:sp>
        <p:sp>
          <p:nvSpPr>
            <p:cNvPr id="190" name="Rectangle 8759"/>
            <p:cNvSpPr>
              <a:spLocks noChangeArrowheads="1"/>
            </p:cNvSpPr>
            <p:nvPr/>
          </p:nvSpPr>
          <p:spPr bwMode="auto">
            <a:xfrm>
              <a:off x="838236" y="1065213"/>
              <a:ext cx="1636703" cy="1187444"/>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91" name="Rectangle 8727"/>
            <p:cNvSpPr>
              <a:spLocks noChangeArrowheads="1"/>
            </p:cNvSpPr>
            <p:nvPr/>
          </p:nvSpPr>
          <p:spPr bwMode="auto">
            <a:xfrm>
              <a:off x="3860818" y="3044814"/>
              <a:ext cx="1425566" cy="79374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92" name="Rectangle 8755"/>
            <p:cNvSpPr>
              <a:spLocks noChangeArrowheads="1"/>
            </p:cNvSpPr>
            <p:nvPr/>
          </p:nvSpPr>
          <p:spPr bwMode="auto">
            <a:xfrm>
              <a:off x="1003335" y="2689216"/>
              <a:ext cx="1281105" cy="547685"/>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US" sz="400"/>
            </a:p>
          </p:txBody>
        </p:sp>
        <p:sp>
          <p:nvSpPr>
            <p:cNvPr id="193" name="Rectangle 8756"/>
            <p:cNvSpPr>
              <a:spLocks noChangeArrowheads="1"/>
            </p:cNvSpPr>
            <p:nvPr/>
          </p:nvSpPr>
          <p:spPr bwMode="auto">
            <a:xfrm>
              <a:off x="1231934" y="2908290"/>
              <a:ext cx="825495" cy="3254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nvGrpSpPr>
            <p:cNvPr id="194" name="Group 8930"/>
            <p:cNvGrpSpPr>
              <a:grpSpLocks/>
            </p:cNvGrpSpPr>
            <p:nvPr/>
          </p:nvGrpSpPr>
          <p:grpSpPr bwMode="auto">
            <a:xfrm>
              <a:off x="1268447" y="5702275"/>
              <a:ext cx="1757351" cy="438148"/>
              <a:chOff x="799" y="3592"/>
              <a:chExt cx="1107" cy="276"/>
            </a:xfrm>
          </p:grpSpPr>
          <p:sp>
            <p:nvSpPr>
              <p:cNvPr id="260" name="Rectangle 8700"/>
              <p:cNvSpPr>
                <a:spLocks noChangeArrowheads="1"/>
              </p:cNvSpPr>
              <p:nvPr/>
            </p:nvSpPr>
            <p:spPr bwMode="auto">
              <a:xfrm>
                <a:off x="799" y="3592"/>
                <a:ext cx="1107" cy="276"/>
              </a:xfrm>
              <a:prstGeom prst="rect">
                <a:avLst/>
              </a:prstGeom>
              <a:solidFill>
                <a:srgbClr val="DDDDDD"/>
              </a:solidFill>
              <a:ln w="9525">
                <a:solidFill>
                  <a:schemeClr val="tx1"/>
                </a:solidFill>
                <a:miter lim="800000"/>
                <a:headEnd/>
                <a:tailEnd/>
              </a:ln>
            </p:spPr>
            <p:txBody>
              <a:bodyPr wrap="none" anchor="ctr"/>
              <a:lstStyle/>
              <a:p>
                <a:pPr algn="ctr"/>
                <a:endParaRPr lang="en-GB" sz="400" b="1"/>
              </a:p>
              <a:p>
                <a:pPr algn="ctr"/>
                <a:endParaRPr lang="en-GB" sz="400" b="1"/>
              </a:p>
              <a:p>
                <a:pPr algn="ctr"/>
                <a:endParaRPr lang="en-GB" sz="400" b="1"/>
              </a:p>
              <a:p>
                <a:pPr algn="ctr"/>
                <a:endParaRPr lang="en-US" sz="400"/>
              </a:p>
            </p:txBody>
          </p:sp>
          <p:sp>
            <p:nvSpPr>
              <p:cNvPr id="261" name="Rectangle 8926"/>
              <p:cNvSpPr>
                <a:spLocks noChangeArrowheads="1"/>
              </p:cNvSpPr>
              <p:nvPr/>
            </p:nvSpPr>
            <p:spPr bwMode="auto">
              <a:xfrm>
                <a:off x="1094" y="3732"/>
                <a:ext cx="521" cy="136"/>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sp>
          <p:nvSpPr>
            <p:cNvPr id="195" name="Rectangle 8935"/>
            <p:cNvSpPr>
              <a:spLocks noChangeArrowheads="1"/>
            </p:cNvSpPr>
            <p:nvPr/>
          </p:nvSpPr>
          <p:spPr bwMode="auto">
            <a:xfrm>
              <a:off x="5481646" y="2031995"/>
              <a:ext cx="827082" cy="292098"/>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96" name="Rectangle 8955"/>
            <p:cNvSpPr>
              <a:spLocks noChangeArrowheads="1"/>
            </p:cNvSpPr>
            <p:nvPr/>
          </p:nvSpPr>
          <p:spPr bwMode="auto">
            <a:xfrm>
              <a:off x="1233522" y="1958970"/>
              <a:ext cx="825495" cy="260349"/>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97" name="Rectangle 8704"/>
            <p:cNvSpPr>
              <a:spLocks noChangeArrowheads="1"/>
            </p:cNvSpPr>
            <p:nvPr/>
          </p:nvSpPr>
          <p:spPr bwMode="auto">
            <a:xfrm>
              <a:off x="2741638" y="4448157"/>
              <a:ext cx="1490653" cy="758821"/>
            </a:xfrm>
            <a:prstGeom prst="rect">
              <a:avLst/>
            </a:prstGeom>
            <a:solidFill>
              <a:srgbClr val="DDDDDD"/>
            </a:solidFill>
            <a:ln w="9525">
              <a:solidFill>
                <a:schemeClr val="tx1"/>
              </a:solidFill>
              <a:miter lim="800000"/>
              <a:headEnd/>
              <a:tailEnd/>
            </a:ln>
          </p:spPr>
          <p:txBody>
            <a:bodyPr wrap="none" anchor="ctr"/>
            <a:lstStyle/>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GB" sz="400"/>
            </a:p>
            <a:p>
              <a:pPr algn="ctr"/>
              <a:endParaRPr lang="en-US" sz="400"/>
            </a:p>
          </p:txBody>
        </p:sp>
        <p:sp>
          <p:nvSpPr>
            <p:cNvPr id="198" name="Rectangle 8706"/>
            <p:cNvSpPr>
              <a:spLocks noChangeArrowheads="1"/>
            </p:cNvSpPr>
            <p:nvPr/>
          </p:nvSpPr>
          <p:spPr bwMode="auto">
            <a:xfrm>
              <a:off x="3076598" y="4916467"/>
              <a:ext cx="827083" cy="288923"/>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199" name="Rectangle 8976"/>
            <p:cNvSpPr>
              <a:spLocks noChangeArrowheads="1"/>
            </p:cNvSpPr>
            <p:nvPr/>
          </p:nvSpPr>
          <p:spPr bwMode="auto">
            <a:xfrm>
              <a:off x="5805494" y="3621074"/>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00" name="AutoShape 8919"/>
            <p:cNvSpPr>
              <a:spLocks noChangeArrowheads="1"/>
            </p:cNvSpPr>
            <p:nvPr/>
          </p:nvSpPr>
          <p:spPr bwMode="auto">
            <a:xfrm rot="8036345">
              <a:off x="5523715" y="2462999"/>
              <a:ext cx="107949" cy="646109"/>
            </a:xfrm>
            <a:prstGeom prst="upArrow">
              <a:avLst>
                <a:gd name="adj1" fmla="val 50000"/>
                <a:gd name="adj2" fmla="val 141985"/>
              </a:avLst>
            </a:prstGeom>
            <a:solidFill>
              <a:srgbClr val="FF8B8B"/>
            </a:solidFill>
            <a:ln w="9525">
              <a:solidFill>
                <a:schemeClr val="tx1"/>
              </a:solidFill>
              <a:miter lim="800000"/>
              <a:headEnd/>
              <a:tailEnd/>
            </a:ln>
          </p:spPr>
          <p:txBody>
            <a:bodyPr vert="eaVert" wrap="none" anchor="ctr"/>
            <a:lstStyle/>
            <a:p>
              <a:endParaRPr lang="en-US"/>
            </a:p>
          </p:txBody>
        </p:sp>
        <p:sp>
          <p:nvSpPr>
            <p:cNvPr id="201" name="Rectangle 8964"/>
            <p:cNvSpPr>
              <a:spLocks noChangeArrowheads="1"/>
            </p:cNvSpPr>
            <p:nvPr/>
          </p:nvSpPr>
          <p:spPr bwMode="auto">
            <a:xfrm>
              <a:off x="5961068" y="4843442"/>
              <a:ext cx="827082"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02" name="AutoShape 8787"/>
            <p:cNvSpPr>
              <a:spLocks noChangeArrowheads="1"/>
            </p:cNvSpPr>
            <p:nvPr/>
          </p:nvSpPr>
          <p:spPr bwMode="auto">
            <a:xfrm rot="3024578">
              <a:off x="2356671" y="4993461"/>
              <a:ext cx="141286" cy="882645"/>
            </a:xfrm>
            <a:prstGeom prst="upArrow">
              <a:avLst>
                <a:gd name="adj1" fmla="val 39806"/>
                <a:gd name="adj2" fmla="val 204944"/>
              </a:avLst>
            </a:prstGeom>
            <a:solidFill>
              <a:srgbClr val="FF8B8B"/>
            </a:solidFill>
            <a:ln w="9525">
              <a:solidFill>
                <a:schemeClr val="tx1"/>
              </a:solidFill>
              <a:miter lim="800000"/>
              <a:headEnd/>
              <a:tailEnd/>
            </a:ln>
          </p:spPr>
          <p:txBody>
            <a:bodyPr vert="eaVert" wrap="none" anchor="ctr"/>
            <a:lstStyle/>
            <a:p>
              <a:endParaRPr lang="en-US"/>
            </a:p>
          </p:txBody>
        </p:sp>
        <p:sp>
          <p:nvSpPr>
            <p:cNvPr id="203" name="AutoShape 8966"/>
            <p:cNvSpPr>
              <a:spLocks noChangeArrowheads="1"/>
            </p:cNvSpPr>
            <p:nvPr/>
          </p:nvSpPr>
          <p:spPr bwMode="auto">
            <a:xfrm rot="8278413">
              <a:off x="5278448" y="1554160"/>
              <a:ext cx="114299" cy="609597"/>
            </a:xfrm>
            <a:prstGeom prst="upArrow">
              <a:avLst>
                <a:gd name="adj1" fmla="val 50000"/>
                <a:gd name="adj2" fmla="val 79655"/>
              </a:avLst>
            </a:prstGeom>
            <a:solidFill>
              <a:srgbClr val="FF8B8B"/>
            </a:solidFill>
            <a:ln w="9525">
              <a:solidFill>
                <a:schemeClr val="tx1"/>
              </a:solidFill>
              <a:miter lim="800000"/>
              <a:headEnd/>
              <a:tailEnd/>
            </a:ln>
          </p:spPr>
          <p:txBody>
            <a:bodyPr vert="eaVert" wrap="none" anchor="ctr"/>
            <a:lstStyle/>
            <a:p>
              <a:endParaRPr lang="en-US"/>
            </a:p>
          </p:txBody>
        </p:sp>
        <p:sp>
          <p:nvSpPr>
            <p:cNvPr id="204" name="AutoShape 8966"/>
            <p:cNvSpPr>
              <a:spLocks noChangeArrowheads="1"/>
            </p:cNvSpPr>
            <p:nvPr/>
          </p:nvSpPr>
          <p:spPr bwMode="auto">
            <a:xfrm rot="5400000">
              <a:off x="3773507" y="295280"/>
              <a:ext cx="114299" cy="2701909"/>
            </a:xfrm>
            <a:prstGeom prst="upArrow">
              <a:avLst>
                <a:gd name="adj1" fmla="val 50000"/>
                <a:gd name="adj2" fmla="val 79891"/>
              </a:avLst>
            </a:prstGeom>
            <a:solidFill>
              <a:srgbClr val="FF8B8B"/>
            </a:solidFill>
            <a:ln w="9525">
              <a:solidFill>
                <a:schemeClr val="tx1"/>
              </a:solidFill>
              <a:miter lim="800000"/>
              <a:headEnd/>
              <a:tailEnd/>
            </a:ln>
          </p:spPr>
          <p:txBody>
            <a:bodyPr vert="eaVert" wrap="none" anchor="ctr"/>
            <a:lstStyle/>
            <a:p>
              <a:endParaRPr lang="en-US"/>
            </a:p>
          </p:txBody>
        </p:sp>
        <p:sp>
          <p:nvSpPr>
            <p:cNvPr id="205" name="Rectangle 8964"/>
            <p:cNvSpPr>
              <a:spLocks noChangeArrowheads="1"/>
            </p:cNvSpPr>
            <p:nvPr/>
          </p:nvSpPr>
          <p:spPr bwMode="auto">
            <a:xfrm>
              <a:off x="4159266" y="3443275"/>
              <a:ext cx="827083" cy="231774"/>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sp>
          <p:nvSpPr>
            <p:cNvPr id="206" name="AutoShape 8786"/>
            <p:cNvSpPr>
              <a:spLocks noChangeArrowheads="1"/>
            </p:cNvSpPr>
            <p:nvPr/>
          </p:nvSpPr>
          <p:spPr bwMode="auto">
            <a:xfrm rot="13454283" flipH="1">
              <a:off x="4594498" y="4772484"/>
              <a:ext cx="128586" cy="3134854"/>
            </a:xfrm>
            <a:prstGeom prst="upArrow">
              <a:avLst>
                <a:gd name="adj1" fmla="val 50000"/>
                <a:gd name="adj2" fmla="val 307755"/>
              </a:avLst>
            </a:prstGeom>
            <a:solidFill>
              <a:srgbClr val="FF8B8B"/>
            </a:solidFill>
            <a:ln w="9525">
              <a:solidFill>
                <a:schemeClr val="tx1"/>
              </a:solidFill>
              <a:miter lim="800000"/>
              <a:headEnd/>
              <a:tailEnd/>
            </a:ln>
          </p:spPr>
          <p:txBody>
            <a:bodyPr vert="eaVert" wrap="none" anchor="ctr"/>
            <a:lstStyle/>
            <a:p>
              <a:endParaRPr lang="en-US"/>
            </a:p>
          </p:txBody>
        </p:sp>
        <p:sp>
          <p:nvSpPr>
            <p:cNvPr id="207" name="AutoShape 8786"/>
            <p:cNvSpPr>
              <a:spLocks noChangeArrowheads="1"/>
            </p:cNvSpPr>
            <p:nvPr/>
          </p:nvSpPr>
          <p:spPr bwMode="auto">
            <a:xfrm rot="3219428" flipH="1">
              <a:off x="5129223" y="4446570"/>
              <a:ext cx="128586" cy="1487478"/>
            </a:xfrm>
            <a:prstGeom prst="upArrow">
              <a:avLst>
                <a:gd name="adj1" fmla="val 57398"/>
                <a:gd name="adj2" fmla="val 307676"/>
              </a:avLst>
            </a:prstGeom>
            <a:solidFill>
              <a:srgbClr val="FF8B8B"/>
            </a:solidFill>
            <a:ln w="9525">
              <a:solidFill>
                <a:schemeClr val="tx1"/>
              </a:solidFill>
              <a:miter lim="800000"/>
              <a:headEnd/>
              <a:tailEnd/>
            </a:ln>
          </p:spPr>
          <p:txBody>
            <a:bodyPr vert="eaVert" wrap="none" anchor="ctr"/>
            <a:lstStyle/>
            <a:p>
              <a:endParaRPr lang="en-US"/>
            </a:p>
          </p:txBody>
        </p:sp>
        <p:sp>
          <p:nvSpPr>
            <p:cNvPr id="208" name="Text Box 8986"/>
            <p:cNvSpPr txBox="1">
              <a:spLocks noChangeArrowheads="1"/>
            </p:cNvSpPr>
            <p:nvPr/>
          </p:nvSpPr>
          <p:spPr bwMode="auto">
            <a:xfrm>
              <a:off x="5546733" y="5062516"/>
              <a:ext cx="539747" cy="184149"/>
            </a:xfrm>
            <a:prstGeom prst="rect">
              <a:avLst/>
            </a:prstGeom>
            <a:solidFill>
              <a:srgbClr val="FF8B8B"/>
            </a:solidFill>
            <a:ln w="9525">
              <a:solidFill>
                <a:schemeClr val="tx1"/>
              </a:solidFill>
              <a:miter lim="800000"/>
              <a:headEnd/>
              <a:tailEnd/>
            </a:ln>
          </p:spPr>
          <p:txBody>
            <a:bodyPr>
              <a:spAutoFit/>
            </a:bodyPr>
            <a:lstStyle/>
            <a:p>
              <a:pPr algn="ctr"/>
              <a:endParaRPr lang="en-GB" sz="300" b="1"/>
            </a:p>
            <a:p>
              <a:pPr algn="ctr"/>
              <a:endParaRPr lang="en-GB" sz="300" b="1"/>
            </a:p>
          </p:txBody>
        </p:sp>
        <p:sp>
          <p:nvSpPr>
            <p:cNvPr id="209" name="AutoShape 8786"/>
            <p:cNvSpPr>
              <a:spLocks noChangeArrowheads="1"/>
            </p:cNvSpPr>
            <p:nvPr/>
          </p:nvSpPr>
          <p:spPr bwMode="auto">
            <a:xfrm rot="1922664" flipH="1">
              <a:off x="5083186" y="3652824"/>
              <a:ext cx="128587" cy="2178038"/>
            </a:xfrm>
            <a:prstGeom prst="upArrow">
              <a:avLst>
                <a:gd name="adj1" fmla="val 57398"/>
                <a:gd name="adj2" fmla="val 307476"/>
              </a:avLst>
            </a:prstGeom>
            <a:solidFill>
              <a:srgbClr val="FF8B8B"/>
            </a:solidFill>
            <a:ln w="9525">
              <a:solidFill>
                <a:schemeClr val="tx1"/>
              </a:solidFill>
              <a:miter lim="800000"/>
              <a:headEnd/>
              <a:tailEnd/>
            </a:ln>
          </p:spPr>
          <p:txBody>
            <a:bodyPr vert="eaVert" wrap="none" anchor="ctr"/>
            <a:lstStyle/>
            <a:p>
              <a:endParaRPr lang="en-US"/>
            </a:p>
          </p:txBody>
        </p:sp>
        <p:sp>
          <p:nvSpPr>
            <p:cNvPr id="210" name="AutoShape 8786"/>
            <p:cNvSpPr>
              <a:spLocks noChangeArrowheads="1"/>
            </p:cNvSpPr>
            <p:nvPr/>
          </p:nvSpPr>
          <p:spPr bwMode="auto">
            <a:xfrm rot="2438585" flipH="1">
              <a:off x="3797318" y="5164116"/>
              <a:ext cx="128587" cy="2673335"/>
            </a:xfrm>
            <a:prstGeom prst="upArrow">
              <a:avLst>
                <a:gd name="adj1" fmla="val 50000"/>
                <a:gd name="adj2" fmla="val 307616"/>
              </a:avLst>
            </a:prstGeom>
            <a:solidFill>
              <a:srgbClr val="FF8B8B"/>
            </a:solidFill>
            <a:ln w="9525">
              <a:solidFill>
                <a:schemeClr val="tx1"/>
              </a:solidFill>
              <a:miter lim="800000"/>
              <a:headEnd/>
              <a:tailEnd/>
            </a:ln>
          </p:spPr>
          <p:txBody>
            <a:bodyPr vert="eaVert" wrap="none" anchor="ctr"/>
            <a:lstStyle/>
            <a:p>
              <a:endParaRPr lang="en-US"/>
            </a:p>
          </p:txBody>
        </p:sp>
        <p:sp>
          <p:nvSpPr>
            <p:cNvPr id="211" name="AutoShape 8826"/>
            <p:cNvSpPr>
              <a:spLocks noChangeArrowheads="1"/>
            </p:cNvSpPr>
            <p:nvPr/>
          </p:nvSpPr>
          <p:spPr bwMode="auto">
            <a:xfrm rot="15208950">
              <a:off x="5180816" y="3131333"/>
              <a:ext cx="123824" cy="2192325"/>
            </a:xfrm>
            <a:prstGeom prst="upArrow">
              <a:avLst>
                <a:gd name="adj1" fmla="val 50000"/>
                <a:gd name="adj2" fmla="val 123444"/>
              </a:avLst>
            </a:prstGeom>
            <a:solidFill>
              <a:srgbClr val="FF8B8B"/>
            </a:solidFill>
            <a:ln w="9525" cap="rnd">
              <a:solidFill>
                <a:schemeClr val="tx1"/>
              </a:solidFill>
              <a:miter lim="800000"/>
              <a:headEnd/>
              <a:tailEnd/>
            </a:ln>
          </p:spPr>
          <p:txBody>
            <a:bodyPr vert="eaVert" wrap="none" anchor="ctr"/>
            <a:lstStyle/>
            <a:p>
              <a:endParaRPr lang="en-US"/>
            </a:p>
          </p:txBody>
        </p:sp>
        <p:grpSp>
          <p:nvGrpSpPr>
            <p:cNvPr id="212" name="Group 226"/>
            <p:cNvGrpSpPr>
              <a:grpSpLocks/>
            </p:cNvGrpSpPr>
            <p:nvPr/>
          </p:nvGrpSpPr>
          <p:grpSpPr bwMode="auto">
            <a:xfrm>
              <a:off x="1854230" y="7472328"/>
              <a:ext cx="1757352" cy="471484"/>
              <a:chOff x="1420813" y="7910559"/>
              <a:chExt cx="1757362" cy="471485"/>
            </a:xfrm>
          </p:grpSpPr>
          <p:sp>
            <p:nvSpPr>
              <p:cNvPr id="258" name="Rectangle 8700"/>
              <p:cNvSpPr>
                <a:spLocks noChangeArrowheads="1"/>
              </p:cNvSpPr>
              <p:nvPr/>
            </p:nvSpPr>
            <p:spPr bwMode="auto">
              <a:xfrm>
                <a:off x="1420813" y="7910559"/>
                <a:ext cx="1757362" cy="438150"/>
              </a:xfrm>
              <a:prstGeom prst="rect">
                <a:avLst/>
              </a:prstGeom>
              <a:solidFill>
                <a:srgbClr val="DDDDDD"/>
              </a:solidFill>
              <a:ln w="9525">
                <a:solidFill>
                  <a:schemeClr val="tx1"/>
                </a:solidFill>
                <a:miter lim="800000"/>
                <a:headEnd/>
                <a:tailEnd/>
              </a:ln>
            </p:spPr>
            <p:txBody>
              <a:bodyPr wrap="none" anchor="ctr"/>
              <a:lstStyle/>
              <a:p>
                <a:pPr algn="ctr"/>
                <a:endParaRPr lang="en-US" sz="400"/>
              </a:p>
            </p:txBody>
          </p:sp>
          <p:sp>
            <p:nvSpPr>
              <p:cNvPr id="259" name="Rectangle 8926"/>
              <p:cNvSpPr>
                <a:spLocks noChangeArrowheads="1"/>
              </p:cNvSpPr>
              <p:nvPr/>
            </p:nvSpPr>
            <p:spPr bwMode="auto">
              <a:xfrm>
                <a:off x="1889125" y="8166144"/>
                <a:ext cx="827087" cy="215900"/>
              </a:xfrm>
              <a:prstGeom prst="rect">
                <a:avLst/>
              </a:prstGeom>
              <a:solidFill>
                <a:schemeClr val="accent1"/>
              </a:solidFill>
              <a:ln w="12700">
                <a:solidFill>
                  <a:srgbClr val="000000"/>
                </a:solidFill>
                <a:miter lim="800000"/>
                <a:headEnd/>
                <a:tailEnd/>
              </a:ln>
            </p:spPr>
            <p:txBody>
              <a:bodyPr wrap="none" lIns="29657" tIns="14829" rIns="29657" bIns="14829" anchor="ctr"/>
              <a:lstStyle/>
              <a:p>
                <a:pPr algn="ctr"/>
                <a:endParaRPr lang="en-US" sz="400" b="1"/>
              </a:p>
            </p:txBody>
          </p:sp>
        </p:grpSp>
        <p:grpSp>
          <p:nvGrpSpPr>
            <p:cNvPr id="213" name="Group 88"/>
            <p:cNvGrpSpPr>
              <a:grpSpLocks/>
            </p:cNvGrpSpPr>
            <p:nvPr/>
          </p:nvGrpSpPr>
          <p:grpSpPr bwMode="auto">
            <a:xfrm>
              <a:off x="727075" y="2798720"/>
              <a:ext cx="612772" cy="349249"/>
              <a:chOff x="5364189" y="6450033"/>
              <a:chExt cx="612776" cy="349251"/>
            </a:xfrm>
          </p:grpSpPr>
          <p:sp>
            <p:nvSpPr>
              <p:cNvPr id="25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5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5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14" name="Group 89"/>
            <p:cNvGrpSpPr>
              <a:grpSpLocks/>
            </p:cNvGrpSpPr>
            <p:nvPr/>
          </p:nvGrpSpPr>
          <p:grpSpPr bwMode="auto">
            <a:xfrm>
              <a:off x="6240505" y="4514821"/>
              <a:ext cx="612772" cy="349249"/>
              <a:chOff x="5364189" y="6450033"/>
              <a:chExt cx="612776" cy="349251"/>
            </a:xfrm>
          </p:grpSpPr>
          <p:sp>
            <p:nvSpPr>
              <p:cNvPr id="252"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53"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54"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15" name="Group 93"/>
            <p:cNvGrpSpPr>
              <a:grpSpLocks/>
            </p:cNvGrpSpPr>
            <p:nvPr/>
          </p:nvGrpSpPr>
          <p:grpSpPr bwMode="auto">
            <a:xfrm>
              <a:off x="6245228" y="3273386"/>
              <a:ext cx="612772" cy="349249"/>
              <a:chOff x="5364189" y="6450033"/>
              <a:chExt cx="612776" cy="349251"/>
            </a:xfrm>
          </p:grpSpPr>
          <p:sp>
            <p:nvSpPr>
              <p:cNvPr id="249"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50"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51"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16" name="Group 97"/>
            <p:cNvGrpSpPr>
              <a:grpSpLocks/>
            </p:cNvGrpSpPr>
            <p:nvPr/>
          </p:nvGrpSpPr>
          <p:grpSpPr bwMode="auto">
            <a:xfrm>
              <a:off x="5729326" y="2324053"/>
              <a:ext cx="612772" cy="349249"/>
              <a:chOff x="5364189" y="6450033"/>
              <a:chExt cx="612776" cy="349251"/>
            </a:xfrm>
          </p:grpSpPr>
          <p:sp>
            <p:nvSpPr>
              <p:cNvPr id="246"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47"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48"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17" name="Group 101"/>
            <p:cNvGrpSpPr>
              <a:grpSpLocks/>
            </p:cNvGrpSpPr>
            <p:nvPr/>
          </p:nvGrpSpPr>
          <p:grpSpPr bwMode="auto">
            <a:xfrm>
              <a:off x="3867174" y="2324053"/>
              <a:ext cx="612772" cy="349249"/>
              <a:chOff x="5364189" y="6450033"/>
              <a:chExt cx="612776" cy="349251"/>
            </a:xfrm>
          </p:grpSpPr>
          <p:sp>
            <p:nvSpPr>
              <p:cNvPr id="243"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44"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45"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18" name="Group 105"/>
            <p:cNvGrpSpPr>
              <a:grpSpLocks/>
            </p:cNvGrpSpPr>
            <p:nvPr/>
          </p:nvGrpSpPr>
          <p:grpSpPr bwMode="auto">
            <a:xfrm>
              <a:off x="3794148" y="3090822"/>
              <a:ext cx="612772" cy="349249"/>
              <a:chOff x="5364189" y="6450033"/>
              <a:chExt cx="612776" cy="349251"/>
            </a:xfrm>
          </p:grpSpPr>
          <p:sp>
            <p:nvSpPr>
              <p:cNvPr id="240"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41"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42"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19" name="Group 109"/>
            <p:cNvGrpSpPr>
              <a:grpSpLocks/>
            </p:cNvGrpSpPr>
            <p:nvPr/>
          </p:nvGrpSpPr>
          <p:grpSpPr bwMode="auto">
            <a:xfrm>
              <a:off x="3794148" y="4989488"/>
              <a:ext cx="612772" cy="349249"/>
              <a:chOff x="5364189" y="6450033"/>
              <a:chExt cx="612776" cy="349251"/>
            </a:xfrm>
          </p:grpSpPr>
          <p:sp>
            <p:nvSpPr>
              <p:cNvPr id="237"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38"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39"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20" name="Group 113"/>
            <p:cNvGrpSpPr>
              <a:grpSpLocks/>
            </p:cNvGrpSpPr>
            <p:nvPr/>
          </p:nvGrpSpPr>
          <p:grpSpPr bwMode="auto">
            <a:xfrm>
              <a:off x="800101" y="4040155"/>
              <a:ext cx="612772" cy="349249"/>
              <a:chOff x="5364189" y="6450033"/>
              <a:chExt cx="612776" cy="349251"/>
            </a:xfrm>
          </p:grpSpPr>
          <p:sp>
            <p:nvSpPr>
              <p:cNvPr id="234"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35"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36"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21" name="Group 117"/>
            <p:cNvGrpSpPr>
              <a:grpSpLocks/>
            </p:cNvGrpSpPr>
            <p:nvPr/>
          </p:nvGrpSpPr>
          <p:grpSpPr bwMode="auto">
            <a:xfrm>
              <a:off x="1092203" y="5829282"/>
              <a:ext cx="612772" cy="349249"/>
              <a:chOff x="5364189" y="6450033"/>
              <a:chExt cx="612776" cy="349251"/>
            </a:xfrm>
          </p:grpSpPr>
          <p:sp>
            <p:nvSpPr>
              <p:cNvPr id="231"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32"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33"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22" name="Group 121"/>
            <p:cNvGrpSpPr>
              <a:grpSpLocks/>
            </p:cNvGrpSpPr>
            <p:nvPr/>
          </p:nvGrpSpPr>
          <p:grpSpPr bwMode="auto">
            <a:xfrm>
              <a:off x="1676407" y="7691435"/>
              <a:ext cx="612772" cy="349249"/>
              <a:chOff x="5364189" y="6450033"/>
              <a:chExt cx="612776" cy="349251"/>
            </a:xfrm>
          </p:grpSpPr>
          <p:sp>
            <p:nvSpPr>
              <p:cNvPr id="228"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29"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30"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grpSp>
          <p:nvGrpSpPr>
            <p:cNvPr id="223" name="Group 125"/>
            <p:cNvGrpSpPr>
              <a:grpSpLocks/>
            </p:cNvGrpSpPr>
            <p:nvPr/>
          </p:nvGrpSpPr>
          <p:grpSpPr bwMode="auto">
            <a:xfrm>
              <a:off x="727075" y="1338208"/>
              <a:ext cx="612772" cy="349249"/>
              <a:chOff x="5364189" y="6450033"/>
              <a:chExt cx="612776" cy="349251"/>
            </a:xfrm>
          </p:grpSpPr>
          <p:sp>
            <p:nvSpPr>
              <p:cNvPr id="225" name="Text Box 8998"/>
              <p:cNvSpPr txBox="1">
                <a:spLocks noChangeArrowheads="1"/>
              </p:cNvSpPr>
              <p:nvPr/>
            </p:nvSpPr>
            <p:spPr bwMode="auto">
              <a:xfrm>
                <a:off x="5364189" y="6450033"/>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26" name="Text Box 8998"/>
              <p:cNvSpPr txBox="1">
                <a:spLocks noChangeArrowheads="1"/>
              </p:cNvSpPr>
              <p:nvPr/>
            </p:nvSpPr>
            <p:spPr bwMode="auto">
              <a:xfrm>
                <a:off x="5400702" y="6486546"/>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sp>
            <p:nvSpPr>
              <p:cNvPr id="227" name="Text Box 8998"/>
              <p:cNvSpPr txBox="1">
                <a:spLocks noChangeArrowheads="1"/>
              </p:cNvSpPr>
              <p:nvPr/>
            </p:nvSpPr>
            <p:spPr bwMode="auto">
              <a:xfrm>
                <a:off x="5437215" y="6523059"/>
                <a:ext cx="539750" cy="276225"/>
              </a:xfrm>
              <a:prstGeom prst="rect">
                <a:avLst/>
              </a:prstGeom>
              <a:solidFill>
                <a:srgbClr val="FFCC00"/>
              </a:solidFill>
              <a:ln w="9525">
                <a:solidFill>
                  <a:schemeClr val="tx1"/>
                </a:solidFill>
                <a:miter lim="800000"/>
                <a:headEnd/>
                <a:tailEnd/>
              </a:ln>
            </p:spPr>
            <p:txBody>
              <a:bodyPr>
                <a:spAutoFit/>
              </a:bodyPr>
              <a:lstStyle/>
              <a:p>
                <a:pPr algn="ctr"/>
                <a:endParaRPr lang="en-US" sz="300" b="1"/>
              </a:p>
              <a:p>
                <a:pPr algn="ctr"/>
                <a:endParaRPr lang="en-US" sz="300" b="1"/>
              </a:p>
              <a:p>
                <a:pPr algn="ctr"/>
                <a:endParaRPr lang="en-US" sz="300" b="1"/>
              </a:p>
              <a:p>
                <a:pPr algn="ctr"/>
                <a:endParaRPr lang="en-US" sz="300" b="1"/>
              </a:p>
            </p:txBody>
          </p:sp>
        </p:grpSp>
        <p:sp>
          <p:nvSpPr>
            <p:cNvPr id="224" name="AutoShape 8826"/>
            <p:cNvSpPr>
              <a:spLocks noChangeArrowheads="1"/>
            </p:cNvSpPr>
            <p:nvPr/>
          </p:nvSpPr>
          <p:spPr bwMode="auto">
            <a:xfrm rot="10800000">
              <a:off x="6481807" y="5172076"/>
              <a:ext cx="123824" cy="2701963"/>
            </a:xfrm>
            <a:prstGeom prst="upArrow">
              <a:avLst>
                <a:gd name="adj1" fmla="val 50000"/>
                <a:gd name="adj2" fmla="val 123450"/>
              </a:avLst>
            </a:prstGeom>
            <a:solidFill>
              <a:srgbClr val="FF8B8B"/>
            </a:solidFill>
            <a:ln w="9525" cap="rnd">
              <a:solidFill>
                <a:schemeClr val="tx1"/>
              </a:solidFill>
              <a:miter lim="800000"/>
              <a:headEnd/>
              <a:tailEnd/>
            </a:ln>
          </p:spPr>
          <p:txBody>
            <a:bodyPr vert="eaVert" wrap="none" anchor="ctr"/>
            <a:lstStyle/>
            <a:p>
              <a:endParaRPr lang="en-US"/>
            </a:p>
          </p:txBody>
        </p:sp>
      </p:gr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GB" sz="3600" b="1" smtClean="0"/>
              <a:t>ADDITIONAL READING</a:t>
            </a:r>
            <a:endParaRPr lang="en-US" sz="3600" b="1" smtClean="0"/>
          </a:p>
        </p:txBody>
      </p:sp>
      <p:sp>
        <p:nvSpPr>
          <p:cNvPr id="60419" name="Rectangle 3"/>
          <p:cNvSpPr>
            <a:spLocks noGrp="1" noChangeArrowheads="1"/>
          </p:cNvSpPr>
          <p:nvPr>
            <p:ph type="body" idx="1"/>
          </p:nvPr>
        </p:nvSpPr>
        <p:spPr>
          <a:xfrm>
            <a:off x="0" y="1700213"/>
            <a:ext cx="9906000" cy="5157787"/>
          </a:xfrm>
        </p:spPr>
        <p:txBody>
          <a:bodyPr/>
          <a:lstStyle/>
          <a:p>
            <a:pPr eaLnBrk="1" hangingPunct="1">
              <a:spcBef>
                <a:spcPct val="0"/>
              </a:spcBef>
            </a:pPr>
            <a:r>
              <a:rPr lang="en-GB" sz="2000" b="1" dirty="0" smtClean="0"/>
              <a:t>Burke, K. (1945). </a:t>
            </a:r>
            <a:r>
              <a:rPr lang="en-GB" sz="2000" b="1" i="1" dirty="0" smtClean="0"/>
              <a:t>A Grammar of Motives</a:t>
            </a:r>
            <a:r>
              <a:rPr lang="en-GB" sz="2000" b="1" dirty="0" smtClean="0"/>
              <a:t>. New York: Prentice-Hall.</a:t>
            </a:r>
          </a:p>
          <a:p>
            <a:pPr eaLnBrk="1" hangingPunct="1">
              <a:spcBef>
                <a:spcPct val="0"/>
              </a:spcBef>
            </a:pPr>
            <a:endParaRPr lang="en-GB" sz="2000" b="1" dirty="0" smtClean="0"/>
          </a:p>
          <a:p>
            <a:pPr eaLnBrk="1" hangingPunct="1">
              <a:spcBef>
                <a:spcPct val="0"/>
              </a:spcBef>
            </a:pPr>
            <a:r>
              <a:rPr lang="en-GB" sz="2000" b="1" dirty="0" err="1" smtClean="0"/>
              <a:t>Lashley</a:t>
            </a:r>
            <a:r>
              <a:rPr lang="en-GB" sz="2000" b="1" dirty="0" smtClean="0"/>
              <a:t>, </a:t>
            </a:r>
            <a:r>
              <a:rPr lang="en-GB" sz="2000" b="1" dirty="0" err="1" smtClean="0"/>
              <a:t>K.S.</a:t>
            </a:r>
            <a:r>
              <a:rPr lang="en-GB" sz="2000" b="1" dirty="0" smtClean="0"/>
              <a:t> (1950). The problem of serial order in behaviour. In </a:t>
            </a:r>
            <a:r>
              <a:rPr lang="en-GB" sz="2000" b="1" dirty="0" err="1" smtClean="0"/>
              <a:t>Jeffress</a:t>
            </a:r>
            <a:r>
              <a:rPr lang="en-GB" sz="2000" b="1" dirty="0" smtClean="0"/>
              <a:t>, L.A. (Ed.), </a:t>
            </a:r>
            <a:r>
              <a:rPr lang="en-GB" sz="2000" b="1" i="1" dirty="0" smtClean="0"/>
              <a:t>Cerebral Mechanisms in </a:t>
            </a:r>
            <a:r>
              <a:rPr lang="en-GB" sz="2000" b="1" i="1" dirty="0" err="1" smtClean="0"/>
              <a:t>Behavior</a:t>
            </a:r>
            <a:r>
              <a:rPr lang="en-GB" sz="2000" b="1" i="1" dirty="0" smtClean="0"/>
              <a:t>: The </a:t>
            </a:r>
            <a:r>
              <a:rPr lang="en-GB" sz="2000" b="1" i="1" dirty="0" err="1" smtClean="0"/>
              <a:t>Hixon</a:t>
            </a:r>
            <a:r>
              <a:rPr lang="en-GB" sz="2000" b="1" i="1" dirty="0" smtClean="0"/>
              <a:t> Symposium</a:t>
            </a:r>
            <a:r>
              <a:rPr lang="en-GB" sz="2000" b="1" dirty="0" smtClean="0"/>
              <a:t>. London: Wiley.</a:t>
            </a:r>
          </a:p>
          <a:p>
            <a:pPr eaLnBrk="1" hangingPunct="1">
              <a:spcBef>
                <a:spcPct val="0"/>
              </a:spcBef>
            </a:pPr>
            <a:endParaRPr lang="en-GB" sz="2000" b="1" dirty="0" smtClean="0"/>
          </a:p>
          <a:p>
            <a:pPr eaLnBrk="1" hangingPunct="1">
              <a:spcBef>
                <a:spcPct val="0"/>
              </a:spcBef>
            </a:pPr>
            <a:r>
              <a:rPr lang="en-GB" sz="2000" b="1" dirty="0" smtClean="0"/>
              <a:t>Smith, </a:t>
            </a:r>
            <a:r>
              <a:rPr lang="en-GB" sz="2000" b="1" dirty="0" err="1" smtClean="0"/>
              <a:t>D.J.</a:t>
            </a:r>
            <a:r>
              <a:rPr lang="en-GB" sz="2000" b="1" dirty="0" smtClean="0"/>
              <a:t> </a:t>
            </a:r>
            <a:r>
              <a:rPr lang="en-US" sz="2000" b="1" dirty="0" smtClean="0"/>
              <a:t>(</a:t>
            </a:r>
            <a:r>
              <a:rPr lang="en-US" sz="2000" b="1" dirty="0" err="1" smtClean="0"/>
              <a:t>2005a</a:t>
            </a:r>
            <a:r>
              <a:rPr lang="en-US" sz="2000" b="1" dirty="0" smtClean="0"/>
              <a:t>). On database keys, with an application to the </a:t>
            </a:r>
            <a:r>
              <a:rPr lang="en-US" sz="2000" b="1" i="1" dirty="0" err="1" smtClean="0"/>
              <a:t>Praxisproblem</a:t>
            </a:r>
            <a:r>
              <a:rPr lang="en-US" sz="2000" b="1" dirty="0" smtClean="0"/>
              <a:t>. In </a:t>
            </a:r>
            <a:r>
              <a:rPr lang="en-US" sz="2000" b="1" dirty="0" err="1" smtClean="0"/>
              <a:t>Callaos</a:t>
            </a:r>
            <a:r>
              <a:rPr lang="en-US" sz="2000" b="1" dirty="0" smtClean="0"/>
              <a:t>, N., </a:t>
            </a:r>
            <a:r>
              <a:rPr lang="en-US" sz="2000" b="1" dirty="0" err="1" smtClean="0"/>
              <a:t>Lesso</a:t>
            </a:r>
            <a:r>
              <a:rPr lang="en-US" sz="2000" b="1" dirty="0" smtClean="0"/>
              <a:t>, W., and </a:t>
            </a:r>
            <a:r>
              <a:rPr lang="en-US" sz="2000" b="1" dirty="0" err="1" smtClean="0"/>
              <a:t>Palesi</a:t>
            </a:r>
            <a:r>
              <a:rPr lang="en-US" sz="2000" b="1" dirty="0" smtClean="0"/>
              <a:t>, M. (Eds.), </a:t>
            </a:r>
            <a:r>
              <a:rPr lang="en-US" sz="2000" b="1" i="1" dirty="0" smtClean="0"/>
              <a:t>The 9th World Multi-Conference on </a:t>
            </a:r>
            <a:r>
              <a:rPr lang="en-US" sz="2000" b="1" i="1" dirty="0" err="1" smtClean="0"/>
              <a:t>Systemics</a:t>
            </a:r>
            <a:r>
              <a:rPr lang="en-US" sz="2000" b="1" i="1" dirty="0" smtClean="0"/>
              <a:t>, Cybernetics, and Informatics, (Volume IV)</a:t>
            </a:r>
            <a:r>
              <a:rPr lang="en-US" sz="2000" b="1" dirty="0" smtClean="0"/>
              <a:t>. Orlando, FL: </a:t>
            </a:r>
            <a:r>
              <a:rPr lang="en-US" sz="2000" b="1" dirty="0" err="1" smtClean="0"/>
              <a:t>IIIS</a:t>
            </a:r>
            <a:r>
              <a:rPr lang="en-US" sz="2000" b="1" dirty="0" smtClean="0"/>
              <a:t>. [</a:t>
            </a:r>
            <a:r>
              <a:rPr lang="en-US" sz="2000" b="1" dirty="0" smtClean="0">
                <a:solidFill>
                  <a:schemeClr val="bg2"/>
                </a:solidFill>
                <a:hlinkClick r:id="rId2"/>
              </a:rPr>
              <a:t>PLAY POWERPOINT</a:t>
            </a:r>
            <a:r>
              <a:rPr lang="en-US" sz="2000" b="1" dirty="0" smtClean="0"/>
              <a:t>]</a:t>
            </a:r>
          </a:p>
          <a:p>
            <a:pPr eaLnBrk="1" hangingPunct="1">
              <a:spcBef>
                <a:spcPct val="0"/>
              </a:spcBef>
            </a:pPr>
            <a:endParaRPr lang="en-US" sz="2000" b="1" dirty="0" smtClean="0"/>
          </a:p>
          <a:p>
            <a:pPr eaLnBrk="1" hangingPunct="1">
              <a:spcBef>
                <a:spcPct val="0"/>
              </a:spcBef>
            </a:pPr>
            <a:r>
              <a:rPr lang="en-US" sz="2000" b="1" dirty="0" smtClean="0"/>
              <a:t>Smith, </a:t>
            </a:r>
            <a:r>
              <a:rPr lang="en-US" sz="2000" b="1" dirty="0" err="1" smtClean="0"/>
              <a:t>D.J.</a:t>
            </a:r>
            <a:r>
              <a:rPr lang="en-US" sz="2000" b="1" dirty="0" smtClean="0"/>
              <a:t> (</a:t>
            </a:r>
            <a:r>
              <a:rPr lang="en-US" sz="2000" b="1" dirty="0" err="1" smtClean="0"/>
              <a:t>2005b</a:t>
            </a:r>
            <a:r>
              <a:rPr lang="en-US" sz="2000" b="1" dirty="0" smtClean="0"/>
              <a:t>). The problem of context in sentence production - Surely a case to re-convene the Data Base Task Group? In Chu, H.-W., </a:t>
            </a:r>
            <a:r>
              <a:rPr lang="en-US" sz="2000" b="1" dirty="0" err="1" smtClean="0"/>
              <a:t>Savoie</a:t>
            </a:r>
            <a:r>
              <a:rPr lang="en-US" sz="2000" b="1" dirty="0" smtClean="0"/>
              <a:t>, </a:t>
            </a:r>
            <a:r>
              <a:rPr lang="en-US" sz="2000" b="1" dirty="0" err="1" smtClean="0"/>
              <a:t>M.J.</a:t>
            </a:r>
            <a:r>
              <a:rPr lang="en-US" sz="2000" b="1" dirty="0" smtClean="0"/>
              <a:t>, Sanchez, B., and Hong, S.-M. (Eds.), </a:t>
            </a:r>
            <a:r>
              <a:rPr lang="en-US" sz="2000" b="1" i="1" dirty="0" smtClean="0"/>
              <a:t>The 3rd International Conference on Computing, Communications, and Control Technologies, (Volume III)</a:t>
            </a:r>
            <a:r>
              <a:rPr lang="en-US" sz="2000" b="1" dirty="0" smtClean="0"/>
              <a:t>. Orlando, FL: </a:t>
            </a:r>
            <a:r>
              <a:rPr lang="en-US" sz="2000" b="1" dirty="0" err="1" smtClean="0"/>
              <a:t>IIIS</a:t>
            </a:r>
            <a:r>
              <a:rPr lang="en-US" sz="2000" b="1" dirty="0" smtClean="0"/>
              <a:t>. [</a:t>
            </a:r>
            <a:r>
              <a:rPr lang="en-US" sz="2000" b="1" dirty="0" smtClean="0">
                <a:solidFill>
                  <a:schemeClr val="bg2"/>
                </a:solidFill>
                <a:hlinkClick r:id="rId3"/>
              </a:rPr>
              <a:t>PLAY POWERPOINT</a:t>
            </a:r>
            <a:r>
              <a:rPr lang="en-US" sz="2000" b="1" dirty="0" smtClean="0"/>
              <a:t>]</a:t>
            </a:r>
          </a:p>
          <a:p>
            <a:pPr eaLnBrk="1" hangingPunct="1">
              <a:lnSpc>
                <a:spcPct val="90000"/>
              </a:lnSpc>
              <a:buNone/>
            </a:pPr>
            <a:endParaRPr lang="en-US" sz="2000" b="1" dirty="0" smtClean="0">
              <a:solidFill>
                <a:schemeClr val="bg2"/>
              </a:solidFill>
            </a:endParaRP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495300" y="0"/>
            <a:ext cx="8921750" cy="6858000"/>
          </a:xfrm>
        </p:spPr>
        <p:txBody>
          <a:bodyPr/>
          <a:lstStyle/>
          <a:p>
            <a:pPr algn="l" eaLnBrk="1" hangingPunct="1"/>
            <a:r>
              <a:rPr lang="en-US" sz="1800" b="1" dirty="0" smtClean="0">
                <a:solidFill>
                  <a:schemeClr val="tx1"/>
                </a:solidFill>
              </a:rPr>
              <a:t>Copyright Notice:</a:t>
            </a:r>
            <a:r>
              <a:rPr lang="en-US" sz="1800" dirty="0" smtClean="0">
                <a:solidFill>
                  <a:schemeClr val="tx1"/>
                </a:solidFill>
              </a:rPr>
              <a:t> </a:t>
            </a:r>
            <a:r>
              <a:rPr lang="en-US" sz="1800" b="1" dirty="0" smtClean="0">
                <a:solidFill>
                  <a:schemeClr val="tx1"/>
                </a:solidFill>
              </a:rPr>
              <a:t>This material was written and published in Wales by Derek J. Smith (Chartered Engineer), Chief Designer, High Tower Consultants Limited. It forms part of a </a:t>
            </a:r>
            <a:r>
              <a:rPr lang="en-US" sz="1800" b="1" dirty="0" err="1" smtClean="0">
                <a:solidFill>
                  <a:schemeClr val="tx1"/>
                </a:solidFill>
              </a:rPr>
              <a:t>multifile</a:t>
            </a:r>
            <a:r>
              <a:rPr lang="en-US" sz="1800" b="1" dirty="0" smtClean="0">
                <a:solidFill>
                  <a:schemeClr val="tx1"/>
                </a:solidFill>
              </a:rPr>
              <a:t> e-learning resource, and subject only to acknowledging Derek J. Smith's rights under international copyright law to be identified as author may be freely downloaded and printed off in single complete copies solely for the purposes of private study and/or review. Commercial exploitation rights are reserved. The remote hyperlinks have been selected for the academic </a:t>
            </a:r>
            <a:r>
              <a:rPr lang="en-US" sz="1800" b="1" dirty="0" err="1" smtClean="0">
                <a:solidFill>
                  <a:schemeClr val="tx1"/>
                </a:solidFill>
              </a:rPr>
              <a:t>appropriacy</a:t>
            </a:r>
            <a:r>
              <a:rPr lang="en-US" sz="1800" b="1" dirty="0" smtClean="0">
                <a:solidFill>
                  <a:schemeClr val="tx1"/>
                </a:solidFill>
              </a:rPr>
              <a:t> of their contents; they were free of offensive and litigious content when selected, and will be periodically checked to have remained so. Copyright © 2010, High Tower Consultants Limited.</a:t>
            </a:r>
            <a:r>
              <a:rPr lang="en-US" sz="1800" dirty="0" smtClean="0">
                <a:solidFill>
                  <a:schemeClr val="tx1"/>
                </a:solidFill>
              </a:rPr>
              <a:t/>
            </a:r>
            <a:br>
              <a:rPr lang="en-US" sz="1800" dirty="0" smtClean="0">
                <a:solidFill>
                  <a:schemeClr val="tx1"/>
                </a:solidFill>
              </a:rPr>
            </a:br>
            <a:r>
              <a:rPr lang="en-US" sz="1800" dirty="0" smtClean="0">
                <a:solidFill>
                  <a:schemeClr val="tx1"/>
                </a:solidFill>
              </a:rPr>
              <a:t/>
            </a:r>
            <a:br>
              <a:rPr lang="en-US" sz="1800" dirty="0" smtClean="0">
                <a:solidFill>
                  <a:schemeClr val="tx1"/>
                </a:solidFill>
              </a:rPr>
            </a:br>
            <a:r>
              <a:rPr lang="en-US" sz="1800" b="1" dirty="0" smtClean="0">
                <a:solidFill>
                  <a:schemeClr val="tx1"/>
                </a:solidFill>
              </a:rPr>
              <a:t>Publication was by PowerPoint presentation </a:t>
            </a:r>
            <a:r>
              <a:rPr lang="en-GB" sz="1800" b="1" dirty="0" smtClean="0">
                <a:solidFill>
                  <a:schemeClr val="tx1"/>
                </a:solidFill>
              </a:rPr>
              <a:t>on </a:t>
            </a:r>
            <a:r>
              <a:rPr lang="en-GB" sz="1800" b="1" smtClean="0">
                <a:solidFill>
                  <a:schemeClr val="tx1"/>
                </a:solidFill>
              </a:rPr>
              <a:t>14th April 2010. </a:t>
            </a:r>
            <a:r>
              <a:rPr lang="en-GB" sz="1800" b="1" dirty="0" smtClean="0">
                <a:solidFill>
                  <a:schemeClr val="tx1"/>
                </a:solidFill>
              </a:rPr>
              <a:t>This online version, complete with activated hyperlinks, comes to you for follow-up private study.</a:t>
            </a:r>
            <a:endParaRPr lang="en-US" sz="1800" b="1" dirty="0" smtClean="0">
              <a:solidFill>
                <a:schemeClr val="tx1"/>
              </a:solidFill>
            </a:endParaRP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6633</TotalTime>
  <Words>3557</Words>
  <Application>Microsoft Office PowerPoint</Application>
  <PresentationFormat>A4 Paper (210x297 mm)</PresentationFormat>
  <Paragraphs>3954</Paragraphs>
  <Slides>62</Slides>
  <Notes>3</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Default Design</vt:lpstr>
      <vt:lpstr> The Forensic Ergonomics of Distraction Errors: A Computer Simulation   Derek J. Smith, CEng, CITP   Chief Designer, High Tower Consultants Limited   http://www.smithsrisca.co.uk smithsrisca@btinternet.com </vt:lpstr>
      <vt:lpstr>   As presented to the 2010 Annual Conference of the Institute of Ergonomics and Human Factors  at  Keele University  Wednesday 14th April 2010   Downloadable from ….. http://www.smithsrisca.co.uk/PPTs/IEHF10-keele.ppt </vt:lpstr>
      <vt:lpstr>ABOUT THE AUTHOR</vt:lpstr>
      <vt:lpstr>SECTION 1  THE PROBLEMS OF HIERARCHICAL COGNITIVE CONTROL</vt:lpstr>
      <vt:lpstr>DESCARTES ON THE NERVOUS SYSTEM</vt:lpstr>
      <vt:lpstr>Slide 9</vt:lpstr>
      <vt:lpstr>Slide 10</vt:lpstr>
      <vt:lpstr>HIERARCHICAL MODELS</vt:lpstr>
      <vt:lpstr>WILLIAM JAMES’ (1890) HIERARCHICAL MODEL</vt:lpstr>
      <vt:lpstr>WUNDT'S (1902) HIERARCHICAL MODEL</vt:lpstr>
      <vt:lpstr>DENNETT'S (1978) HIERARCHICAL MODEL</vt:lpstr>
      <vt:lpstr>NORMAN’S (1990) HIERARCHICAL MODEL</vt:lpstr>
      <vt:lpstr>ARKIN’S (1990) HIERARCHICAL MODEL</vt:lpstr>
      <vt:lpstr>AND COGNITIVE ERGONOMICS’ VERY OWN .....</vt:lpstr>
      <vt:lpstr>RASMUSSEN’S (1983) HIERARCHICAL MODEL</vt:lpstr>
      <vt:lpstr>SO HERE ARE SOME OF OUR PROBLEMS .....</vt:lpstr>
      <vt:lpstr>..... AND HERE IS OUR MISSION</vt:lpstr>
      <vt:lpstr>SECTION 2  INTRODUCING PROJECT KONRAD</vt:lpstr>
      <vt:lpstr>INTRODUCING PROJECT KONRAD</vt:lpstr>
      <vt:lpstr>INTRODUCING PROJECT KONRAD</vt:lpstr>
      <vt:lpstr>INTRODUCING PROJECT KONRAD</vt:lpstr>
      <vt:lpstr>INTRODUCING PROJECT KONRAD</vt:lpstr>
      <vt:lpstr>INTRODUCING PROJECT KONRAD</vt:lpstr>
      <vt:lpstr>INTRODUCING PROJECT KONRAD</vt:lpstr>
      <vt:lpstr>INTRODUCING PROJECT KONRAD</vt:lpstr>
      <vt:lpstr>INTRODUCING PROJECT KONRAD</vt:lpstr>
      <vt:lpstr>INTRODUCING PROJECT KONRAD</vt:lpstr>
      <vt:lpstr>INTRODUCING PROJECT KONRAD</vt:lpstr>
      <vt:lpstr>INTRODUCING PROJECT KONRAD</vt:lpstr>
      <vt:lpstr>INTRODUCING PROJECT KONRAD</vt:lpstr>
      <vt:lpstr>INTRODUCING PROJECT KONRAD THE PRINT OUT</vt:lpstr>
      <vt:lpstr>INTRODUCING PROJECT KONRAD THE PRINT OUT</vt:lpstr>
      <vt:lpstr>INTRODUCING PROJECT KONRAD THE PRINT OUT</vt:lpstr>
      <vt:lpstr>SECTION 3  HAND-EYE COORDINATION IN A MACHINE WITH NEITHER HANDS NOR EYES</vt:lpstr>
      <vt:lpstr>Slide 38</vt:lpstr>
      <vt:lpstr>THE MEMORY PRE-LOAD PHASE</vt:lpstr>
      <vt:lpstr>THE MEMORY PRE-LOAD PHASE</vt:lpstr>
      <vt:lpstr>THE VISUAL INPUT PHASE</vt:lpstr>
      <vt:lpstr>THE VISUAL INPUT PHASE</vt:lpstr>
      <vt:lpstr>THE VISUAL INPUT PHASE</vt:lpstr>
      <vt:lpstr>THE TRUTH JUDGEMENT PHASE</vt:lpstr>
      <vt:lpstr>THE TRUTH JUDGEMENT PHASE</vt:lpstr>
      <vt:lpstr>VISUAL SCANNING</vt:lpstr>
      <vt:lpstr>THE AUDITORY INSTRUCTION PHASE</vt:lpstr>
      <vt:lpstr>THE CONTINUOUS BEHAVIOUR PHASE</vt:lpstr>
      <vt:lpstr>THE CONTINUOUS BEHAVIOUR PHASE</vt:lpstr>
      <vt:lpstr>THE CONTINUOUS BEHAVIOUR PHASE</vt:lpstr>
      <vt:lpstr>THE CONTINUOUS BEHAVIOUR PHASE</vt:lpstr>
      <vt:lpstr>THE CONTINUOUS BEHAVIOUR PHASE</vt:lpstr>
      <vt:lpstr>THE CONTINUOUS BEHAVIOUR PHASE</vt:lpstr>
      <vt:lpstr>THE CONTINUOUS BEHAVIOUR PHASE</vt:lpstr>
      <vt:lpstr>THE CONTINUOUS BEHAVIOUR PHASE</vt:lpstr>
      <vt:lpstr>THE CONTINUOUS BEHAVIOUR PHASE</vt:lpstr>
      <vt:lpstr>THE CARELESS INTERRUPTION PHASE</vt:lpstr>
      <vt:lpstr>THE CARELESS INTERRUPTION PHASE</vt:lpstr>
      <vt:lpstr>THE CARELESS INTERRUPTION PHASE</vt:lpstr>
      <vt:lpstr>STATE OF PLAY, APRIL 2010</vt:lpstr>
      <vt:lpstr>CALL FOR COLLABORATION</vt:lpstr>
      <vt:lpstr>THE END</vt:lpstr>
      <vt:lpstr>ANY QUESTIONS?</vt:lpstr>
      <vt:lpstr>ADDITIONAL READING</vt:lpstr>
      <vt:lpstr>Copyright Notice: This material was written and published in Wales by Derek J. Smith (Chartered Engineer), Chief Designer, High Tower Consultants Limited. It forms part of a multifile e-learning resource, and subject only to acknowledging Derek J. Smith's rights under international copyright law to be identified as author may be freely downloaded and printed off in single complete copies solely for the purposes of private study and/or review. Commercial exploitation rights are reserved. The remote hyperlinks have been selected for the academic appropriacy of their contents; they were free of offensive and litigious content when selected, and will be periodically checked to have remained so. Copyright © 2010, High Tower Consultants Limited.  Publication was by PowerPoint presentation on 14th April 2010. This online version, complete with activated hyperlinks, comes to you for follow-up private study.</vt:lpstr>
    </vt:vector>
  </TitlesOfParts>
  <Company>UWIC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hs0634</dc:creator>
  <cp:lastModifiedBy>Derek</cp:lastModifiedBy>
  <cp:revision>2307</cp:revision>
  <dcterms:created xsi:type="dcterms:W3CDTF">2005-04-28T18:28:35Z</dcterms:created>
  <dcterms:modified xsi:type="dcterms:W3CDTF">2011-02-25T08:55:07Z</dcterms:modified>
</cp:coreProperties>
</file>