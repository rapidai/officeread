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6" r:id="rId2"/>
    <p:sldId id="257" r:id="rId3"/>
    <p:sldId id="300" r:id="rId4"/>
    <p:sldId id="258" r:id="rId5"/>
    <p:sldId id="259" r:id="rId6"/>
    <p:sldId id="260" r:id="rId7"/>
    <p:sldId id="295" r:id="rId8"/>
    <p:sldId id="301" r:id="rId9"/>
    <p:sldId id="261" r:id="rId10"/>
    <p:sldId id="302" r:id="rId11"/>
    <p:sldId id="297" r:id="rId12"/>
    <p:sldId id="296" r:id="rId13"/>
    <p:sldId id="263" r:id="rId14"/>
    <p:sldId id="265" r:id="rId15"/>
    <p:sldId id="303" r:id="rId16"/>
    <p:sldId id="266" r:id="rId17"/>
    <p:sldId id="267" r:id="rId18"/>
    <p:sldId id="264" r:id="rId19"/>
    <p:sldId id="268" r:id="rId20"/>
    <p:sldId id="269" r:id="rId21"/>
    <p:sldId id="276" r:id="rId22"/>
    <p:sldId id="270" r:id="rId23"/>
    <p:sldId id="277" r:id="rId24"/>
    <p:sldId id="271" r:id="rId25"/>
    <p:sldId id="278" r:id="rId26"/>
    <p:sldId id="272" r:id="rId27"/>
    <p:sldId id="273" r:id="rId28"/>
    <p:sldId id="274" r:id="rId29"/>
    <p:sldId id="275" r:id="rId30"/>
    <p:sldId id="279" r:id="rId31"/>
    <p:sldId id="289" r:id="rId32"/>
    <p:sldId id="294" r:id="rId33"/>
    <p:sldId id="290" r:id="rId34"/>
    <p:sldId id="291" r:id="rId35"/>
    <p:sldId id="298" r:id="rId36"/>
    <p:sldId id="292" r:id="rId37"/>
    <p:sldId id="293" r:id="rId38"/>
    <p:sldId id="299" r:id="rId39"/>
    <p:sldId id="280" r:id="rId40"/>
    <p:sldId id="281" r:id="rId41"/>
    <p:sldId id="282" r:id="rId42"/>
    <p:sldId id="283" r:id="rId43"/>
    <p:sldId id="284" r:id="rId44"/>
    <p:sldId id="285" r:id="rId45"/>
    <p:sldId id="287" r:id="rId46"/>
    <p:sldId id="288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laptop\documents\dissertation\Copy%20of%20Book1-Yalda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laptop\documents\dissertation\Copy%20of%20Book1-Yalda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laptop\documents\dissertation\Copy%20of%20Book1-Yald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C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050"/>
              <a:t>Figure 1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circle"/>
            <c:size val="8"/>
          </c:marker>
          <c:xVal>
            <c:numRef>
              <c:f>'Sheet3 (2)'!$B$4:$B$33</c:f>
              <c:numCache>
                <c:formatCode>General</c:formatCode>
                <c:ptCount val="30"/>
                <c:pt idx="0">
                  <c:v>30</c:v>
                </c:pt>
                <c:pt idx="1">
                  <c:v>32</c:v>
                </c:pt>
                <c:pt idx="2">
                  <c:v>33</c:v>
                </c:pt>
                <c:pt idx="3">
                  <c:v>38</c:v>
                </c:pt>
                <c:pt idx="4">
                  <c:v>40</c:v>
                </c:pt>
                <c:pt idx="5">
                  <c:v>40</c:v>
                </c:pt>
                <c:pt idx="6">
                  <c:v>42</c:v>
                </c:pt>
                <c:pt idx="7">
                  <c:v>32</c:v>
                </c:pt>
                <c:pt idx="8">
                  <c:v>49</c:v>
                </c:pt>
                <c:pt idx="9">
                  <c:v>35</c:v>
                </c:pt>
                <c:pt idx="10">
                  <c:v>42</c:v>
                </c:pt>
                <c:pt idx="11">
                  <c:v>35</c:v>
                </c:pt>
                <c:pt idx="12">
                  <c:v>30</c:v>
                </c:pt>
                <c:pt idx="13">
                  <c:v>40</c:v>
                </c:pt>
                <c:pt idx="14">
                  <c:v>32</c:v>
                </c:pt>
                <c:pt idx="15">
                  <c:v>38</c:v>
                </c:pt>
                <c:pt idx="16">
                  <c:v>35</c:v>
                </c:pt>
                <c:pt idx="17">
                  <c:v>40</c:v>
                </c:pt>
                <c:pt idx="18">
                  <c:v>38</c:v>
                </c:pt>
                <c:pt idx="19">
                  <c:v>34</c:v>
                </c:pt>
                <c:pt idx="20">
                  <c:v>32</c:v>
                </c:pt>
                <c:pt idx="21">
                  <c:v>41</c:v>
                </c:pt>
                <c:pt idx="22">
                  <c:v>39</c:v>
                </c:pt>
                <c:pt idx="23">
                  <c:v>40</c:v>
                </c:pt>
                <c:pt idx="24">
                  <c:v>39</c:v>
                </c:pt>
                <c:pt idx="25">
                  <c:v>32</c:v>
                </c:pt>
                <c:pt idx="26">
                  <c:v>38</c:v>
                </c:pt>
                <c:pt idx="27">
                  <c:v>40</c:v>
                </c:pt>
                <c:pt idx="28">
                  <c:v>37</c:v>
                </c:pt>
                <c:pt idx="29">
                  <c:v>35</c:v>
                </c:pt>
              </c:numCache>
            </c:numRef>
          </c:xVal>
          <c:yVal>
            <c:numRef>
              <c:f>'Sheet3 (2)'!$C$4:$C$33</c:f>
              <c:numCache>
                <c:formatCode>General</c:formatCode>
                <c:ptCount val="30"/>
                <c:pt idx="0">
                  <c:v>8</c:v>
                </c:pt>
                <c:pt idx="1">
                  <c:v>6</c:v>
                </c:pt>
                <c:pt idx="2">
                  <c:v>9</c:v>
                </c:pt>
                <c:pt idx="3">
                  <c:v>5</c:v>
                </c:pt>
                <c:pt idx="4">
                  <c:v>4</c:v>
                </c:pt>
                <c:pt idx="5">
                  <c:v>8</c:v>
                </c:pt>
                <c:pt idx="6">
                  <c:v>3</c:v>
                </c:pt>
                <c:pt idx="7">
                  <c:v>8</c:v>
                </c:pt>
                <c:pt idx="8">
                  <c:v>2</c:v>
                </c:pt>
                <c:pt idx="9">
                  <c:v>3</c:v>
                </c:pt>
                <c:pt idx="10">
                  <c:v>3</c:v>
                </c:pt>
                <c:pt idx="11">
                  <c:v>5</c:v>
                </c:pt>
                <c:pt idx="12">
                  <c:v>8</c:v>
                </c:pt>
                <c:pt idx="13">
                  <c:v>5</c:v>
                </c:pt>
                <c:pt idx="14">
                  <c:v>7</c:v>
                </c:pt>
                <c:pt idx="15">
                  <c:v>8</c:v>
                </c:pt>
                <c:pt idx="16">
                  <c:v>8</c:v>
                </c:pt>
                <c:pt idx="17">
                  <c:v>5</c:v>
                </c:pt>
                <c:pt idx="18">
                  <c:v>7</c:v>
                </c:pt>
                <c:pt idx="19">
                  <c:v>8</c:v>
                </c:pt>
                <c:pt idx="20">
                  <c:v>8</c:v>
                </c:pt>
                <c:pt idx="21">
                  <c:v>7</c:v>
                </c:pt>
                <c:pt idx="22">
                  <c:v>4</c:v>
                </c:pt>
                <c:pt idx="23">
                  <c:v>3</c:v>
                </c:pt>
                <c:pt idx="24">
                  <c:v>6</c:v>
                </c:pt>
                <c:pt idx="25">
                  <c:v>3</c:v>
                </c:pt>
                <c:pt idx="26">
                  <c:v>4</c:v>
                </c:pt>
                <c:pt idx="27">
                  <c:v>7</c:v>
                </c:pt>
                <c:pt idx="28">
                  <c:v>5</c:v>
                </c:pt>
                <c:pt idx="29">
                  <c:v>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638336"/>
        <c:axId val="64638912"/>
      </c:scatterChart>
      <c:valAx>
        <c:axId val="64638336"/>
        <c:scaling>
          <c:orientation val="minMax"/>
          <c:min val="25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sz="1200" dirty="0"/>
                  <a:t>Age</a:t>
                </a:r>
                <a:r>
                  <a:rPr lang="en-US" sz="1200" baseline="0" dirty="0"/>
                  <a:t> of Arrival in Canada</a:t>
                </a:r>
                <a:endParaRPr lang="en-US" sz="1200" dirty="0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64638912"/>
        <c:crosses val="autoZero"/>
        <c:crossBetween val="midCat"/>
      </c:valAx>
      <c:valAx>
        <c:axId val="64638912"/>
        <c:scaling>
          <c:orientation val="minMax"/>
          <c:min val="1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sz="1100" dirty="0"/>
                  <a:t>Mean foreign</a:t>
                </a:r>
                <a:r>
                  <a:rPr lang="en-US" sz="1100" baseline="0" dirty="0"/>
                  <a:t> accent rating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64638336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C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050" dirty="0"/>
              <a:t>Figure 2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circle"/>
            <c:size val="8"/>
          </c:marker>
          <c:xVal>
            <c:numRef>
              <c:f>Sheet2!$B$6:$B$36</c:f>
              <c:numCache>
                <c:formatCode>General</c:formatCode>
                <c:ptCount val="31"/>
                <c:pt idx="0">
                  <c:v>8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8</c:v>
                </c:pt>
                <c:pt idx="8">
                  <c:v>10</c:v>
                </c:pt>
                <c:pt idx="9">
                  <c:v>22</c:v>
                </c:pt>
                <c:pt idx="10">
                  <c:v>10</c:v>
                </c:pt>
                <c:pt idx="11">
                  <c:v>10</c:v>
                </c:pt>
                <c:pt idx="12">
                  <c:v>8</c:v>
                </c:pt>
                <c:pt idx="13">
                  <c:v>12</c:v>
                </c:pt>
                <c:pt idx="14">
                  <c:v>22</c:v>
                </c:pt>
                <c:pt idx="15">
                  <c:v>12</c:v>
                </c:pt>
                <c:pt idx="16">
                  <c:v>23</c:v>
                </c:pt>
                <c:pt idx="17">
                  <c:v>9</c:v>
                </c:pt>
                <c:pt idx="18">
                  <c:v>7</c:v>
                </c:pt>
                <c:pt idx="19">
                  <c:v>10</c:v>
                </c:pt>
                <c:pt idx="20">
                  <c:v>8</c:v>
                </c:pt>
                <c:pt idx="21">
                  <c:v>19</c:v>
                </c:pt>
                <c:pt idx="22">
                  <c:v>18</c:v>
                </c:pt>
                <c:pt idx="23">
                  <c:v>8</c:v>
                </c:pt>
                <c:pt idx="24">
                  <c:v>9</c:v>
                </c:pt>
                <c:pt idx="25">
                  <c:v>21</c:v>
                </c:pt>
                <c:pt idx="26">
                  <c:v>12</c:v>
                </c:pt>
                <c:pt idx="27">
                  <c:v>9</c:v>
                </c:pt>
                <c:pt idx="28">
                  <c:v>19</c:v>
                </c:pt>
                <c:pt idx="29">
                  <c:v>24</c:v>
                </c:pt>
              </c:numCache>
            </c:numRef>
          </c:xVal>
          <c:yVal>
            <c:numRef>
              <c:f>Sheet2!$C$6:$C$36</c:f>
              <c:numCache>
                <c:formatCode>General</c:formatCode>
                <c:ptCount val="31"/>
                <c:pt idx="0">
                  <c:v>2</c:v>
                </c:pt>
                <c:pt idx="1">
                  <c:v>6</c:v>
                </c:pt>
                <c:pt idx="2">
                  <c:v>8</c:v>
                </c:pt>
                <c:pt idx="3">
                  <c:v>5</c:v>
                </c:pt>
                <c:pt idx="4">
                  <c:v>8</c:v>
                </c:pt>
                <c:pt idx="5">
                  <c:v>7</c:v>
                </c:pt>
                <c:pt idx="6">
                  <c:v>9</c:v>
                </c:pt>
                <c:pt idx="7">
                  <c:v>5</c:v>
                </c:pt>
                <c:pt idx="8">
                  <c:v>8</c:v>
                </c:pt>
                <c:pt idx="9">
                  <c:v>5</c:v>
                </c:pt>
                <c:pt idx="10">
                  <c:v>8</c:v>
                </c:pt>
                <c:pt idx="11">
                  <c:v>7</c:v>
                </c:pt>
                <c:pt idx="12">
                  <c:v>6</c:v>
                </c:pt>
                <c:pt idx="13">
                  <c:v>7</c:v>
                </c:pt>
                <c:pt idx="14">
                  <c:v>7</c:v>
                </c:pt>
                <c:pt idx="15">
                  <c:v>8</c:v>
                </c:pt>
                <c:pt idx="16">
                  <c:v>9</c:v>
                </c:pt>
                <c:pt idx="17">
                  <c:v>4</c:v>
                </c:pt>
                <c:pt idx="18">
                  <c:v>3</c:v>
                </c:pt>
                <c:pt idx="19">
                  <c:v>7</c:v>
                </c:pt>
                <c:pt idx="20">
                  <c:v>5</c:v>
                </c:pt>
                <c:pt idx="21">
                  <c:v>7</c:v>
                </c:pt>
                <c:pt idx="22">
                  <c:v>8</c:v>
                </c:pt>
                <c:pt idx="23">
                  <c:v>3</c:v>
                </c:pt>
                <c:pt idx="24">
                  <c:v>6</c:v>
                </c:pt>
                <c:pt idx="25">
                  <c:v>8</c:v>
                </c:pt>
                <c:pt idx="26">
                  <c:v>8</c:v>
                </c:pt>
                <c:pt idx="27">
                  <c:v>5</c:v>
                </c:pt>
                <c:pt idx="28">
                  <c:v>7</c:v>
                </c:pt>
                <c:pt idx="29">
                  <c:v>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641792"/>
        <c:axId val="64642368"/>
      </c:scatterChart>
      <c:valAx>
        <c:axId val="64641792"/>
        <c:scaling>
          <c:orientation val="minMax"/>
          <c:min val="7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100" dirty="0"/>
                  <a:t>Years</a:t>
                </a:r>
                <a:r>
                  <a:rPr lang="en-US" sz="1100" baseline="0" dirty="0"/>
                  <a:t> as a resident in Canada</a:t>
                </a:r>
                <a:endParaRPr lang="en-US" sz="1100" dirty="0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64642368"/>
        <c:crosses val="autoZero"/>
        <c:crossBetween val="midCat"/>
        <c:majorUnit val="1"/>
      </c:valAx>
      <c:valAx>
        <c:axId val="64642368"/>
        <c:scaling>
          <c:orientation val="minMax"/>
          <c:max val="10"/>
          <c:min val="1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F</a:t>
                </a:r>
                <a:r>
                  <a:rPr lang="en-US" sz="1100" dirty="0"/>
                  <a:t>oreign</a:t>
                </a:r>
                <a:r>
                  <a:rPr lang="en-US" sz="1100" baseline="0" dirty="0"/>
                  <a:t> accent rating</a:t>
                </a:r>
                <a:endParaRPr lang="en-US" sz="1100" dirty="0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6464179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C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050" dirty="0"/>
              <a:t>Figure </a:t>
            </a:r>
            <a:r>
              <a:rPr lang="en-US" sz="1050" dirty="0" smtClean="0"/>
              <a:t>3</a:t>
            </a:r>
            <a:endParaRPr lang="en-US" sz="1050" dirty="0"/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circle"/>
            <c:size val="7"/>
          </c:marker>
          <c:xVal>
            <c:numRef>
              <c:f>'Sheet2 (2)'!$B$5:$B$35</c:f>
              <c:numCache>
                <c:formatCode>General</c:formatCode>
                <c:ptCount val="31"/>
                <c:pt idx="0">
                  <c:v>4</c:v>
                </c:pt>
                <c:pt idx="1">
                  <c:v>1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2</c:v>
                </c:pt>
                <c:pt idx="16">
                  <c:v>2</c:v>
                </c:pt>
                <c:pt idx="17">
                  <c:v>4</c:v>
                </c:pt>
                <c:pt idx="18">
                  <c:v>3</c:v>
                </c:pt>
                <c:pt idx="19">
                  <c:v>4</c:v>
                </c:pt>
                <c:pt idx="20">
                  <c:v>3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3</c:v>
                </c:pt>
                <c:pt idx="27">
                  <c:v>1</c:v>
                </c:pt>
                <c:pt idx="28">
                  <c:v>2</c:v>
                </c:pt>
                <c:pt idx="29">
                  <c:v>3</c:v>
                </c:pt>
                <c:pt idx="30">
                  <c:v>2</c:v>
                </c:pt>
              </c:numCache>
            </c:numRef>
          </c:xVal>
          <c:yVal>
            <c:numRef>
              <c:f>'Sheet2 (2)'!$C$5:$C$35</c:f>
              <c:numCache>
                <c:formatCode>General</c:formatCode>
                <c:ptCount val="31"/>
                <c:pt idx="0">
                  <c:v>3</c:v>
                </c:pt>
                <c:pt idx="1">
                  <c:v>8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5</c:v>
                </c:pt>
                <c:pt idx="6">
                  <c:v>8</c:v>
                </c:pt>
                <c:pt idx="7">
                  <c:v>5</c:v>
                </c:pt>
                <c:pt idx="8">
                  <c:v>7</c:v>
                </c:pt>
                <c:pt idx="9">
                  <c:v>5</c:v>
                </c:pt>
                <c:pt idx="10">
                  <c:v>8</c:v>
                </c:pt>
                <c:pt idx="11">
                  <c:v>5</c:v>
                </c:pt>
                <c:pt idx="12">
                  <c:v>7</c:v>
                </c:pt>
                <c:pt idx="13">
                  <c:v>8</c:v>
                </c:pt>
                <c:pt idx="14">
                  <c:v>8</c:v>
                </c:pt>
                <c:pt idx="15">
                  <c:v>7</c:v>
                </c:pt>
                <c:pt idx="16">
                  <c:v>6</c:v>
                </c:pt>
                <c:pt idx="17">
                  <c:v>3</c:v>
                </c:pt>
                <c:pt idx="18">
                  <c:v>6</c:v>
                </c:pt>
                <c:pt idx="19">
                  <c:v>3</c:v>
                </c:pt>
                <c:pt idx="20">
                  <c:v>4</c:v>
                </c:pt>
                <c:pt idx="21">
                  <c:v>7</c:v>
                </c:pt>
                <c:pt idx="22">
                  <c:v>5</c:v>
                </c:pt>
                <c:pt idx="23">
                  <c:v>8</c:v>
                </c:pt>
                <c:pt idx="24">
                  <c:v>8</c:v>
                </c:pt>
                <c:pt idx="25">
                  <c:v>8</c:v>
                </c:pt>
                <c:pt idx="26">
                  <c:v>6</c:v>
                </c:pt>
                <c:pt idx="27">
                  <c:v>9</c:v>
                </c:pt>
                <c:pt idx="28">
                  <c:v>8</c:v>
                </c:pt>
                <c:pt idx="29">
                  <c:v>4</c:v>
                </c:pt>
                <c:pt idx="30">
                  <c:v>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031360"/>
        <c:axId val="106031936"/>
      </c:scatterChart>
      <c:valAx>
        <c:axId val="1060313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Difficulty communicating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6031936"/>
        <c:crosses val="autoZero"/>
        <c:crossBetween val="midCat"/>
        <c:majorUnit val="1"/>
      </c:valAx>
      <c:valAx>
        <c:axId val="106031936"/>
        <c:scaling>
          <c:orientation val="minMax"/>
          <c:max val="10"/>
          <c:min val="1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Foreign</a:t>
                </a:r>
                <a:r>
                  <a:rPr lang="en-US" baseline="0" dirty="0"/>
                  <a:t> accent rating</a:t>
                </a:r>
                <a:endParaRPr lang="en-US" dirty="0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6031360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0.10439</cdr:x>
      <cdr:y>0.06897</cdr:y>
    </cdr:to>
    <cdr:pic>
      <cdr:nvPicPr>
        <cdr:cNvPr id="2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533400" y="-33338"/>
          <a:ext cx="835224" cy="249958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0.08667</cdr:x>
      <cdr:y>0.05523</cdr:y>
    </cdr:to>
    <cdr:pic>
      <cdr:nvPicPr>
        <cdr:cNvPr id="2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228600" y="0"/>
          <a:ext cx="713294" cy="210417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0.1191</cdr:x>
      <cdr:y>0.05467</cdr:y>
    </cdr:to>
    <cdr:pic>
      <cdr:nvPicPr>
        <cdr:cNvPr id="2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98645" cy="249958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91C64-E602-446C-87AF-34122E3566E3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C4670-8DC1-4347-8E13-AF654D375B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239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Penfield and Roberts(1959)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similar method has been used by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Patkowski</a:t>
            </a:r>
            <a:r>
              <a:rPr lang="en-US" baseline="0" dirty="0" smtClean="0"/>
              <a:t> (1980)</a:t>
            </a:r>
          </a:p>
          <a:p>
            <a:r>
              <a:rPr lang="en-US" baseline="0" dirty="0" smtClean="0"/>
              <a:t>Using Cohen’s Kappa, </a:t>
            </a:r>
            <a:r>
              <a:rPr lang="en-US" baseline="0" dirty="0" err="1" smtClean="0"/>
              <a:t>interrater</a:t>
            </a:r>
            <a:r>
              <a:rPr lang="en-US" baseline="0" dirty="0" smtClean="0"/>
              <a:t> reliability was 84.2% (agreement =16/19 items)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Wharry</a:t>
            </a:r>
            <a:r>
              <a:rPr lang="en-US" dirty="0" smtClean="0"/>
              <a:t> (1993)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*r = - 0.56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*r= 0.48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*r= - 0.90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Selinger</a:t>
            </a:r>
            <a:r>
              <a:rPr lang="en-US" dirty="0" smtClean="0"/>
              <a:t>, 1978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Krashen</a:t>
            </a:r>
            <a:r>
              <a:rPr lang="en-US" dirty="0" smtClean="0"/>
              <a:t> (1988)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*As we get older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Derwing</a:t>
            </a:r>
            <a:r>
              <a:rPr lang="en-US" dirty="0" smtClean="0"/>
              <a:t> (2003)</a:t>
            </a:r>
          </a:p>
          <a:p>
            <a:r>
              <a:rPr lang="en-US" dirty="0" smtClean="0"/>
              <a:t>Michael Long (2003)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* Hahn,</a:t>
            </a:r>
            <a:r>
              <a:rPr lang="en-US" baseline="0" dirty="0" smtClean="0"/>
              <a:t> 2004;  Munro&amp; </a:t>
            </a:r>
            <a:r>
              <a:rPr lang="en-US" baseline="0" dirty="0" err="1" smtClean="0"/>
              <a:t>Derwing</a:t>
            </a:r>
            <a:r>
              <a:rPr lang="en-US" baseline="0" dirty="0" smtClean="0"/>
              <a:t>, 1995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Prosody: rhythm, stress,</a:t>
            </a:r>
            <a:r>
              <a:rPr lang="en-US" baseline="0" dirty="0" smtClean="0"/>
              <a:t> and intonation of speech</a:t>
            </a:r>
            <a:r>
              <a:rPr lang="en-US" dirty="0" smtClean="0"/>
              <a:t> </a:t>
            </a:r>
          </a:p>
          <a:p>
            <a:r>
              <a:rPr lang="en-US" dirty="0" smtClean="0"/>
              <a:t>Hahn, 2004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C4670-8DC1-4347-8E13-AF654D375BC1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3E08ABE-661C-4682-B87D-59D173176D72}" type="datetimeFigureOut">
              <a:rPr lang="en-US" smtClean="0"/>
              <a:pPr/>
              <a:t>10/23/2012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F855420-31D7-46BA-9949-B9F18CE7B67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Accent Fossilization in Older Iranian Women in Canada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endParaRPr lang="en-US" sz="2000" dirty="0" smtClean="0"/>
          </a:p>
          <a:p>
            <a:pPr algn="l"/>
            <a:endParaRPr lang="en-US" sz="2000" dirty="0" smtClean="0"/>
          </a:p>
          <a:p>
            <a:pPr algn="l"/>
            <a:endParaRPr lang="en-US" sz="2000" dirty="0" smtClean="0"/>
          </a:p>
          <a:p>
            <a:pPr algn="l"/>
            <a:r>
              <a:rPr lang="en-US" sz="2000" dirty="0" err="1" smtClean="0"/>
              <a:t>Yalda</a:t>
            </a:r>
            <a:r>
              <a:rPr lang="en-US" sz="2000" dirty="0" smtClean="0"/>
              <a:t> </a:t>
            </a:r>
            <a:r>
              <a:rPr lang="en-US" sz="2000" dirty="0" err="1" smtClean="0"/>
              <a:t>Ahmadvand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r>
              <a:rPr lang="en-US" dirty="0" smtClean="0"/>
              <a:t>Aging is an unavoidable fact of human nature</a:t>
            </a:r>
          </a:p>
          <a:p>
            <a:r>
              <a:rPr lang="en-US" dirty="0" smtClean="0"/>
              <a:t>Decline in physical abilities</a:t>
            </a:r>
          </a:p>
          <a:p>
            <a:r>
              <a:rPr lang="en-US" dirty="0" smtClean="0"/>
              <a:t> The effect of age on learning new skills</a:t>
            </a:r>
          </a:p>
          <a:p>
            <a:r>
              <a:rPr lang="en-US" dirty="0" smtClean="0"/>
              <a:t>Decline of abilities in second language learning, based on different presupposition</a:t>
            </a:r>
          </a:p>
          <a:p>
            <a:r>
              <a:rPr lang="en-US" dirty="0" smtClean="0"/>
              <a:t>Younger language learners and success</a:t>
            </a:r>
          </a:p>
          <a:p>
            <a:r>
              <a:rPr lang="en-US" dirty="0" smtClean="0"/>
              <a:t>Relationship between age of acquisition &amp; eventual achievement </a:t>
            </a:r>
            <a:r>
              <a:rPr lang="en-US" sz="1800" dirty="0" smtClean="0"/>
              <a:t>(Brown, 2007)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Lenneberg’s</a:t>
            </a:r>
            <a:r>
              <a:rPr lang="en-US" dirty="0" smtClean="0"/>
              <a:t> Hypothesis </a:t>
            </a:r>
            <a:r>
              <a:rPr lang="en-US" sz="1800" dirty="0" smtClean="0"/>
              <a:t>(1967)</a:t>
            </a:r>
          </a:p>
          <a:p>
            <a:r>
              <a:rPr lang="en-US" dirty="0" smtClean="0"/>
              <a:t>Human’s cognitive structure </a:t>
            </a:r>
          </a:p>
          <a:p>
            <a:r>
              <a:rPr lang="en-US" dirty="0" smtClean="0"/>
              <a:t>He cited the CPH </a:t>
            </a:r>
            <a:r>
              <a:rPr lang="en-US" sz="1600" dirty="0" smtClean="0"/>
              <a:t>(Penfield &amp; Roberts,1959)</a:t>
            </a:r>
          </a:p>
          <a:p>
            <a:r>
              <a:rPr lang="en-US" dirty="0" smtClean="0"/>
              <a:t>Difficulty of acquiring our first language after puberty, based on neuropsychological factors. </a:t>
            </a:r>
          </a:p>
          <a:p>
            <a:r>
              <a:rPr lang="en-US" dirty="0" smtClean="0"/>
              <a:t>Age &amp; success in second language learning</a:t>
            </a:r>
          </a:p>
          <a:p>
            <a:r>
              <a:rPr lang="en-US" dirty="0" smtClean="0"/>
              <a:t>Younger learners vs. Older learners</a:t>
            </a:r>
          </a:p>
          <a:p>
            <a:r>
              <a:rPr lang="en-US" dirty="0" smtClean="0"/>
              <a:t>Relationship between age &amp; success in second language, linked to CPH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Biologically determined period of life</a:t>
            </a:r>
          </a:p>
          <a:p>
            <a:r>
              <a:rPr lang="en-US" dirty="0" smtClean="0"/>
              <a:t>A period of time between birth &amp; the age of puberty</a:t>
            </a:r>
          </a:p>
          <a:p>
            <a:r>
              <a:rPr lang="en-US" dirty="0" smtClean="0"/>
              <a:t>Pronunciation vs. writing skills</a:t>
            </a:r>
          </a:p>
          <a:p>
            <a:r>
              <a:rPr lang="en-US" dirty="0" smtClean="0"/>
              <a:t>It’s also known as Sensitive period hypothesis</a:t>
            </a:r>
          </a:p>
          <a:p>
            <a:r>
              <a:rPr lang="en-US" dirty="0" smtClean="0"/>
              <a:t>Second language learners &amp; level of competence in TL</a:t>
            </a:r>
          </a:p>
          <a:p>
            <a:r>
              <a:rPr lang="en-US" dirty="0" smtClean="0"/>
              <a:t>Fossilized pronunciation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Critical Period Hypothesis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Introduced by Selinker </a:t>
            </a:r>
            <a:r>
              <a:rPr lang="en-US" sz="1600" dirty="0" smtClean="0"/>
              <a:t>(1972)</a:t>
            </a:r>
          </a:p>
          <a:p>
            <a:r>
              <a:rPr lang="en-US" dirty="0" smtClean="0"/>
              <a:t>Most adult second language learners never achieve native-like proficiency in the TL</a:t>
            </a:r>
          </a:p>
          <a:p>
            <a:r>
              <a:rPr lang="en-US" dirty="0" smtClean="0"/>
              <a:t>Their pronunciation continues to interfere with their ability to communicate effectively</a:t>
            </a:r>
          </a:p>
          <a:p>
            <a:r>
              <a:rPr lang="en-US" dirty="0" smtClean="0"/>
              <a:t>Despite years of language learning and experience with English</a:t>
            </a:r>
          </a:p>
          <a:p>
            <a:r>
              <a:rPr lang="en-US" dirty="0" smtClean="0"/>
              <a:t>They may seem less fluent or less professional</a:t>
            </a:r>
          </a:p>
          <a:p>
            <a:r>
              <a:rPr lang="en-US" dirty="0" smtClean="0"/>
              <a:t>Crucial issue: Fossilized accent might linger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Fossilization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Age</a:t>
            </a:r>
          </a:p>
          <a:p>
            <a:r>
              <a:rPr lang="en-US" dirty="0" smtClean="0"/>
              <a:t>Native language</a:t>
            </a:r>
          </a:p>
          <a:p>
            <a:r>
              <a:rPr lang="en-US" dirty="0" smtClean="0"/>
              <a:t>Length of time using English</a:t>
            </a:r>
          </a:p>
          <a:p>
            <a:r>
              <a:rPr lang="en-US" dirty="0" smtClean="0"/>
              <a:t>Social pressure</a:t>
            </a:r>
          </a:p>
          <a:p>
            <a:r>
              <a:rPr lang="en-US" dirty="0" smtClean="0"/>
              <a:t>Innate ability</a:t>
            </a:r>
          </a:p>
          <a:p>
            <a:r>
              <a:rPr lang="en-US" dirty="0" smtClean="0"/>
              <a:t>Feedback on pronunciation</a:t>
            </a:r>
          </a:p>
          <a:p>
            <a:r>
              <a:rPr lang="en-US" dirty="0" smtClean="0"/>
              <a:t>Attain the original identity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Factors involve in developing clear pronunciation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Used as a simple &amp; direct measure of exposure to opportunities to learn the language</a:t>
            </a:r>
          </a:p>
          <a:p>
            <a:r>
              <a:rPr lang="en-US" dirty="0" smtClean="0"/>
              <a:t>Immigrants who live in  the country for longer period of time:</a:t>
            </a:r>
          </a:p>
          <a:p>
            <a:r>
              <a:rPr lang="en-US" dirty="0" smtClean="0"/>
              <a:t>Higher level of overall proficiency in English</a:t>
            </a:r>
          </a:p>
          <a:p>
            <a:r>
              <a:rPr lang="en-US" dirty="0" smtClean="0"/>
              <a:t>Or in some aspects of English</a:t>
            </a:r>
          </a:p>
          <a:p>
            <a:r>
              <a:rPr lang="en-US" dirty="0" smtClean="0"/>
              <a:t>Higher frequency of using English than people who have been in the country for shorter period of time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Age at immigration </a:t>
            </a:r>
            <a:r>
              <a:rPr lang="en-US" dirty="0" smtClean="0"/>
              <a:t>associated with English proficiency in adulthood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Length of residence and exposure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age of arrival to Canada</a:t>
            </a:r>
          </a:p>
          <a:p>
            <a:endParaRPr lang="en-US" dirty="0" smtClean="0"/>
          </a:p>
          <a:p>
            <a:r>
              <a:rPr lang="en-US" dirty="0" smtClean="0"/>
              <a:t>Amount and type of exposure to Community</a:t>
            </a:r>
          </a:p>
          <a:p>
            <a:endParaRPr lang="en-US" dirty="0" smtClean="0"/>
          </a:p>
          <a:p>
            <a:r>
              <a:rPr lang="en-US" dirty="0" smtClean="0"/>
              <a:t>Importance of keeping their Iranian identity</a:t>
            </a:r>
          </a:p>
          <a:p>
            <a:endParaRPr lang="en-US" i="1" u="sng" dirty="0" smtClean="0"/>
          </a:p>
          <a:p>
            <a:r>
              <a:rPr lang="en-US" i="1" u="sng" dirty="0" smtClean="0"/>
              <a:t>Describe Iranian immigrants families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Analysis of Iranian immigrants’ level of proficiency and accent </a:t>
            </a:r>
            <a:br>
              <a:rPr lang="en-US" dirty="0" smtClean="0"/>
            </a:br>
            <a:endParaRPr lang="en-US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multi-ethnic land (Kurd,Fars,Gilac,Turk, and </a:t>
            </a:r>
            <a:r>
              <a:rPr lang="en-US" dirty="0" err="1" smtClean="0"/>
              <a:t>Armanian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Reasons for immigration</a:t>
            </a:r>
          </a:p>
          <a:p>
            <a:endParaRPr lang="en-US" dirty="0" smtClean="0"/>
          </a:p>
          <a:p>
            <a:r>
              <a:rPr lang="en-US" dirty="0" smtClean="0"/>
              <a:t>The USA, Canada, Australia, &amp; Western Europe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Iranian Immigrant Families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Iranian minority, fastest growing immigrants categories</a:t>
            </a:r>
          </a:p>
          <a:p>
            <a:endParaRPr lang="en-US" dirty="0" smtClean="0"/>
          </a:p>
          <a:p>
            <a:r>
              <a:rPr lang="en-US" dirty="0" smtClean="0"/>
              <a:t>Sociolinguistics consequence</a:t>
            </a:r>
          </a:p>
          <a:p>
            <a:endParaRPr lang="en-US" dirty="0" smtClean="0"/>
          </a:p>
          <a:p>
            <a:r>
              <a:rPr lang="en-US" dirty="0" smtClean="0"/>
              <a:t>Prevent them from mixing with Canadian society, &amp; communicating with Canadians</a:t>
            </a:r>
          </a:p>
          <a:p>
            <a:endParaRPr lang="en-US" dirty="0" smtClean="0"/>
          </a:p>
          <a:p>
            <a:r>
              <a:rPr lang="en-US" dirty="0" smtClean="0"/>
              <a:t>Community of Iranian Immigrant Women</a:t>
            </a:r>
          </a:p>
          <a:p>
            <a:endParaRPr lang="en-US" dirty="0" smtClean="0"/>
          </a:p>
          <a:p>
            <a:r>
              <a:rPr lang="en-US" dirty="0" smtClean="0"/>
              <a:t>Use of mother tongue, prevent from noticing their accent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Iranian Immigrant Families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aptop\Downloads\PhoneticsVocalTract.jpg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0" y="1444625"/>
            <a:ext cx="4343400" cy="4498975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51054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Existence of several hundreds mussels for articulation of human speech</a:t>
            </a:r>
          </a:p>
          <a:p>
            <a:pPr>
              <a:buNone/>
            </a:pPr>
            <a:r>
              <a:rPr lang="en-US" dirty="0" smtClean="0"/>
              <a:t>      (Throat, Larynx, Mouth, Lips, Tongue, ..)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Remarkable degree of muscular control</a:t>
            </a:r>
          </a:p>
          <a:p>
            <a:r>
              <a:rPr lang="en-US" dirty="0" smtClean="0"/>
              <a:t>Evidence: After the age of puberty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Significance of Accent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role of age and identity in learning a second language</a:t>
            </a:r>
          </a:p>
          <a:p>
            <a:r>
              <a:rPr lang="en-US" dirty="0" smtClean="0"/>
              <a:t>And improving accent or pronunciation</a:t>
            </a:r>
          </a:p>
          <a:p>
            <a:endParaRPr lang="en-US" dirty="0" smtClean="0"/>
          </a:p>
          <a:p>
            <a:r>
              <a:rPr lang="en-US" dirty="0" smtClean="0"/>
              <a:t>Investigate why some older Iranian women in Canada cannot lose their accents</a:t>
            </a:r>
          </a:p>
          <a:p>
            <a:endParaRPr lang="en-US" dirty="0" smtClean="0"/>
          </a:p>
          <a:p>
            <a:r>
              <a:rPr lang="en-US" dirty="0" smtClean="0"/>
              <a:t>What exposure they have 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study evaluates: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Thirty female native Iranian Women</a:t>
            </a:r>
          </a:p>
          <a:p>
            <a:r>
              <a:rPr lang="en-US" dirty="0" smtClean="0"/>
              <a:t>Arrived between 30-40 years old</a:t>
            </a:r>
          </a:p>
          <a:p>
            <a:r>
              <a:rPr lang="en-US" dirty="0" smtClean="0"/>
              <a:t>At the time of testing ranges from 40-60</a:t>
            </a:r>
          </a:p>
          <a:p>
            <a:r>
              <a:rPr lang="en-US" dirty="0" smtClean="0"/>
              <a:t>Length of residence is at least 8 years</a:t>
            </a:r>
          </a:p>
          <a:p>
            <a:r>
              <a:rPr lang="en-US" dirty="0" smtClean="0"/>
              <a:t>Why Farsi, and Iranian?</a:t>
            </a:r>
          </a:p>
          <a:p>
            <a:r>
              <a:rPr lang="en-US" dirty="0" smtClean="0"/>
              <a:t>Education</a:t>
            </a:r>
          </a:p>
          <a:p>
            <a:r>
              <a:rPr lang="en-US" dirty="0" smtClean="0"/>
              <a:t>First exposure to English</a:t>
            </a:r>
          </a:p>
          <a:p>
            <a:r>
              <a:rPr lang="en-US" dirty="0" smtClean="0"/>
              <a:t>Four MA, Ten college in Canada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Participants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Tested individually, single1 hour session</a:t>
            </a:r>
          </a:p>
          <a:p>
            <a:endParaRPr lang="en-US" dirty="0" smtClean="0"/>
          </a:p>
          <a:p>
            <a:r>
              <a:rPr lang="en-US" dirty="0" smtClean="0"/>
              <a:t>Diary about the strategies they used to improve their English learning  </a:t>
            </a:r>
          </a:p>
          <a:p>
            <a:endParaRPr lang="en-US" dirty="0" smtClean="0"/>
          </a:p>
          <a:p>
            <a:r>
              <a:rPr lang="en-US" dirty="0" smtClean="0"/>
              <a:t>Noted about their experiences, insights, disappointments, and frustrations </a:t>
            </a:r>
          </a:p>
          <a:p>
            <a:pPr>
              <a:buNone/>
            </a:pPr>
            <a:r>
              <a:rPr lang="en-US" dirty="0" smtClean="0"/>
              <a:t>        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 : Language background questionnaire</a:t>
            </a:r>
          </a:p>
          <a:p>
            <a:r>
              <a:rPr lang="en-US" dirty="0" smtClean="0"/>
              <a:t>Evaluate use of Farsi &amp; English </a:t>
            </a:r>
          </a:p>
          <a:p>
            <a:r>
              <a:rPr lang="en-US" dirty="0" smtClean="0"/>
              <a:t>Motivation to use English   </a:t>
            </a:r>
          </a:p>
          <a:p>
            <a:r>
              <a:rPr lang="en-US" dirty="0" smtClean="0"/>
              <a:t>How long they have lived in Canada?</a:t>
            </a:r>
          </a:p>
          <a:p>
            <a:r>
              <a:rPr lang="en-US" dirty="0" smtClean="0"/>
              <a:t>How old they were?</a:t>
            </a:r>
          </a:p>
          <a:p>
            <a:r>
              <a:rPr lang="en-US" dirty="0" smtClean="0"/>
              <a:t>Their social role (Work, study, Home)</a:t>
            </a:r>
          </a:p>
          <a:p>
            <a:r>
              <a:rPr lang="en-US" dirty="0" smtClean="0"/>
              <a:t>Accent awareness, did something to improve?</a:t>
            </a:r>
          </a:p>
          <a:p>
            <a:r>
              <a:rPr lang="en-US" dirty="0" smtClean="0"/>
              <a:t>Produced sentences to be rated for foreign accent, (recorded)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Five native English speakers</a:t>
            </a:r>
          </a:p>
          <a:p>
            <a:r>
              <a:rPr lang="en-US" dirty="0" smtClean="0"/>
              <a:t>Tested for normal hearing</a:t>
            </a:r>
          </a:p>
          <a:p>
            <a:r>
              <a:rPr lang="en-US" dirty="0" smtClean="0"/>
              <a:t>All experts in SLA</a:t>
            </a:r>
          </a:p>
          <a:p>
            <a:r>
              <a:rPr lang="en-US" dirty="0" smtClean="0"/>
              <a:t>Trained before starting the procedure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Repeated 19 English sentences (twice)</a:t>
            </a:r>
          </a:p>
          <a:p>
            <a:r>
              <a:rPr lang="en-US" dirty="0" smtClean="0"/>
              <a:t>Six sets of tongue twisters</a:t>
            </a:r>
          </a:p>
          <a:p>
            <a:r>
              <a:rPr lang="en-US" dirty="0" smtClean="0"/>
              <a:t>Examine </a:t>
            </a:r>
            <a:r>
              <a:rPr lang="en-US" dirty="0"/>
              <a:t>the /θ/, /ð/, /s/, /v/, and /w</a:t>
            </a:r>
            <a:r>
              <a:rPr lang="en-US" dirty="0" smtClean="0"/>
              <a:t>/</a:t>
            </a:r>
          </a:p>
          <a:p>
            <a:r>
              <a:rPr lang="en-US" dirty="0" smtClean="0"/>
              <a:t>Rating ranges between “very strong `accent”(1), to “no accent” (9)</a:t>
            </a:r>
          </a:p>
          <a:p>
            <a:r>
              <a:rPr lang="en-US" dirty="0" smtClean="0"/>
              <a:t>Voices were recorded</a:t>
            </a:r>
          </a:p>
          <a:p>
            <a:r>
              <a:rPr lang="en-US" dirty="0" smtClean="0"/>
              <a:t>Mean based on: 150 judgments (6 sentences, 5 listeners,5 duplicate judgments)</a:t>
            </a:r>
          </a:p>
          <a:p>
            <a:r>
              <a:rPr lang="en-US" dirty="0" smtClean="0"/>
              <a:t>*</a:t>
            </a:r>
            <a:r>
              <a:rPr lang="en-US" sz="1600" dirty="0" err="1" smtClean="0"/>
              <a:t>interrater</a:t>
            </a:r>
            <a:r>
              <a:rPr lang="en-US" sz="1600" dirty="0" smtClean="0"/>
              <a:t> reliability was 84.2% (agreement =16/19 items) </a:t>
            </a:r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questionnaire (adapted from ethno linguistic questionnaire by Wharry,1993)</a:t>
            </a:r>
          </a:p>
          <a:p>
            <a:endParaRPr lang="en-US" dirty="0" smtClean="0"/>
          </a:p>
          <a:p>
            <a:r>
              <a:rPr lang="en-US" dirty="0" smtClean="0"/>
              <a:t>Contains 24 items </a:t>
            </a:r>
          </a:p>
          <a:p>
            <a:endParaRPr lang="en-US" dirty="0" smtClean="0"/>
          </a:p>
          <a:p>
            <a:r>
              <a:rPr lang="en-US" dirty="0" smtClean="0"/>
              <a:t>Translated to Farsi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Instrumentations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Effect of age of arrival &amp; length of residency in Canada in having a foreign accent:</a:t>
            </a:r>
          </a:p>
          <a:p>
            <a:r>
              <a:rPr lang="en-US" dirty="0" smtClean="0"/>
              <a:t>Later the Iranian women had arrived in Canada, fewer years they have lived here</a:t>
            </a:r>
          </a:p>
          <a:p>
            <a:r>
              <a:rPr lang="en-US" dirty="0" smtClean="0"/>
              <a:t>They have stronger foreign accent</a:t>
            </a:r>
          </a:p>
          <a:p>
            <a:r>
              <a:rPr lang="en-US" i="1" u="sng" dirty="0" smtClean="0"/>
              <a:t>This rating didn’t increase sharply </a:t>
            </a:r>
          </a:p>
          <a:p>
            <a:r>
              <a:rPr lang="en-US" dirty="0" smtClean="0"/>
              <a:t>Those participants with an accent close to native accent came to Canada at younger age, or exposed to the language at younger age.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5800" y="1481138"/>
          <a:ext cx="8001000" cy="3624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Correlation between Age of Arrival and foreign accent rating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findings presented in figure 1 &amp; 2 suggest:</a:t>
            </a:r>
          </a:p>
          <a:p>
            <a:r>
              <a:rPr lang="en-US" dirty="0" smtClean="0"/>
              <a:t>The female Iranians’ degree of foreign accent did not increase sharply if they lived in Canada for shorter period of time</a:t>
            </a:r>
          </a:p>
          <a:p>
            <a:r>
              <a:rPr lang="en-US" dirty="0" smtClean="0"/>
              <a:t>Or they arrived in </a:t>
            </a:r>
            <a:r>
              <a:rPr lang="en-US" dirty="0"/>
              <a:t>C</a:t>
            </a:r>
            <a:r>
              <a:rPr lang="en-US" dirty="0" smtClean="0"/>
              <a:t>anada at older ages </a:t>
            </a:r>
          </a:p>
          <a:p>
            <a:r>
              <a:rPr lang="en-US" dirty="0" smtClean="0"/>
              <a:t>There is not strong correlation between the first exposure to the language and degree of foreign accent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752600"/>
          <a:ext cx="82296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Correlation </a:t>
            </a:r>
            <a:r>
              <a:rPr lang="en-US" dirty="0"/>
              <a:t>between Length of Residence and foreign accent rating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findings show:</a:t>
            </a:r>
          </a:p>
          <a:p>
            <a:r>
              <a:rPr lang="en-US" dirty="0" smtClean="0"/>
              <a:t>The more exposure they have to English speaking community (work, study), less noticeable accents they have.</a:t>
            </a:r>
          </a:p>
          <a:p>
            <a:r>
              <a:rPr lang="en-US" dirty="0" smtClean="0"/>
              <a:t>One exception</a:t>
            </a:r>
          </a:p>
          <a:p>
            <a:r>
              <a:rPr lang="en-US" dirty="0" smtClean="0"/>
              <a:t>Speakers with more native-like accent find it less difficult to communicate in English compare to those with stronger accent</a:t>
            </a:r>
          </a:p>
          <a:p>
            <a:r>
              <a:rPr lang="en-US" dirty="0" smtClean="0"/>
              <a:t>The correlation between difficulty communicating is negatively related to foreign accent rating 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143000" y="1676400"/>
          <a:ext cx="6705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Difficulty communicating and foreign accent rating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problematic sounds for Iranians who want  to learn English:</a:t>
            </a:r>
          </a:p>
          <a:p>
            <a:r>
              <a:rPr lang="en-US" dirty="0"/>
              <a:t>/θ/, /ð/, /s/, /v/, and /w/ </a:t>
            </a:r>
            <a:endParaRPr lang="en-US" dirty="0" smtClean="0"/>
          </a:p>
          <a:p>
            <a:r>
              <a:rPr lang="en-US" dirty="0" smtClean="0"/>
              <a:t>Do not exist in Farsi</a:t>
            </a:r>
          </a:p>
          <a:p>
            <a:r>
              <a:rPr lang="en-US" dirty="0" smtClean="0"/>
              <a:t>Remarkable degree of muscular control is required to achieve native like proficiency</a:t>
            </a:r>
          </a:p>
          <a:p>
            <a:r>
              <a:rPr lang="en-US" dirty="0" smtClean="0"/>
              <a:t>It’s hard to achieve native like proficiency:</a:t>
            </a:r>
          </a:p>
          <a:p>
            <a:r>
              <a:rPr lang="en-US" dirty="0" smtClean="0"/>
              <a:t>If these muscles are not adapted to articulate specific sounds until certain age, (age of puberty) 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According to the questionnaire &amp; diaries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Twenty four of the participants were aware of their accents</a:t>
            </a:r>
          </a:p>
          <a:p>
            <a:r>
              <a:rPr lang="en-US" dirty="0" smtClean="0"/>
              <a:t>Nineteen thought it’s important to improve their accents:</a:t>
            </a:r>
          </a:p>
          <a:p>
            <a:r>
              <a:rPr lang="en-US" dirty="0" smtClean="0"/>
              <a:t>Gain confidence</a:t>
            </a:r>
          </a:p>
          <a:p>
            <a:r>
              <a:rPr lang="en-US" dirty="0" smtClean="0"/>
              <a:t>Eliminate career barriers</a:t>
            </a:r>
          </a:p>
          <a:p>
            <a:r>
              <a:rPr lang="en-US" dirty="0" smtClean="0"/>
              <a:t>Improve their professional image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didn’t want to lose their accents:</a:t>
            </a:r>
          </a:p>
          <a:p>
            <a:r>
              <a:rPr lang="en-US" dirty="0" smtClean="0"/>
              <a:t>Unwillingness to assume another identity</a:t>
            </a:r>
          </a:p>
          <a:p>
            <a:r>
              <a:rPr lang="en-US" dirty="0" smtClean="0"/>
              <a:t>Lack of confidence</a:t>
            </a:r>
          </a:p>
          <a:p>
            <a:r>
              <a:rPr lang="en-US" dirty="0" smtClean="0"/>
              <a:t>Rejection of native like speech</a:t>
            </a:r>
          </a:p>
          <a:p>
            <a:r>
              <a:rPr lang="en-US" dirty="0" smtClean="0"/>
              <a:t>“Might deceive people about their background and identity”</a:t>
            </a:r>
          </a:p>
          <a:p>
            <a:r>
              <a:rPr lang="en-US" dirty="0" smtClean="0"/>
              <a:t>“Not telling the truth about herself”</a:t>
            </a:r>
          </a:p>
          <a:p>
            <a:r>
              <a:rPr lang="en-US" dirty="0" smtClean="0"/>
              <a:t>“People perceive different things in terms of cultural &amp; behavioral expectations”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thought they need to improve their accents because:</a:t>
            </a:r>
          </a:p>
          <a:p>
            <a:r>
              <a:rPr lang="en-US" dirty="0" smtClean="0"/>
              <a:t>To be accepted in the target language society</a:t>
            </a:r>
          </a:p>
          <a:p>
            <a:r>
              <a:rPr lang="en-US" dirty="0"/>
              <a:t>F</a:t>
            </a:r>
            <a:r>
              <a:rPr lang="en-US" dirty="0" smtClean="0"/>
              <a:t>ind better jobs</a:t>
            </a:r>
          </a:p>
          <a:p>
            <a:r>
              <a:rPr lang="en-US" dirty="0" smtClean="0"/>
              <a:t>Accent prevents them from taken seriously</a:t>
            </a:r>
          </a:p>
          <a:p>
            <a:r>
              <a:rPr lang="en-US" dirty="0" smtClean="0"/>
              <a:t>Face biases, and challenges</a:t>
            </a:r>
          </a:p>
          <a:p>
            <a:r>
              <a:rPr lang="en-US" dirty="0" smtClean="0"/>
              <a:t>Suffer lost opportunities in a society</a:t>
            </a:r>
          </a:p>
          <a:p>
            <a:r>
              <a:rPr lang="en-US" dirty="0" smtClean="0"/>
              <a:t>Native speakers fail to concentrate on the message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Whether CPH exist, age should be considered as an important factor </a:t>
            </a:r>
          </a:p>
          <a:p>
            <a:r>
              <a:rPr lang="en-US" dirty="0" smtClean="0"/>
              <a:t>Two outcomes of this study:</a:t>
            </a:r>
          </a:p>
          <a:p>
            <a:r>
              <a:rPr lang="en-US" dirty="0" smtClean="0"/>
              <a:t> First, the participants’ strength of foreign accent in English grew stronger as their age of arrivals in </a:t>
            </a:r>
            <a:r>
              <a:rPr lang="en-US" dirty="0"/>
              <a:t>C</a:t>
            </a:r>
            <a:r>
              <a:rPr lang="en-US" dirty="0" smtClean="0"/>
              <a:t>anada increased</a:t>
            </a:r>
          </a:p>
          <a:p>
            <a:r>
              <a:rPr lang="en-US" dirty="0" smtClean="0"/>
              <a:t> Second, if they have more exposure to the language (work, study), they have less noticeable accents compare to those who stayed at home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Discussion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several factors that influence Second language learning:</a:t>
            </a:r>
          </a:p>
          <a:p>
            <a:r>
              <a:rPr lang="en-US" dirty="0" smtClean="0"/>
              <a:t>Age as a key factor in language acquisition</a:t>
            </a:r>
          </a:p>
          <a:p>
            <a:r>
              <a:rPr lang="en-US" dirty="0" smtClean="0"/>
              <a:t>Motivation </a:t>
            </a:r>
          </a:p>
          <a:p>
            <a:r>
              <a:rPr lang="en-US" dirty="0" smtClean="0"/>
              <a:t>Attitude and personality</a:t>
            </a:r>
          </a:p>
          <a:p>
            <a:r>
              <a:rPr lang="en-US" dirty="0" smtClean="0"/>
              <a:t>Dominance of the first language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Regarding the critical age for acquisition, acquiring native like pronunciation is achievable until the age of puberty</a:t>
            </a:r>
          </a:p>
          <a:p>
            <a:r>
              <a:rPr lang="en-US" dirty="0" smtClean="0"/>
              <a:t>As </a:t>
            </a:r>
            <a:r>
              <a:rPr lang="en-US" dirty="0" err="1" smtClean="0"/>
              <a:t>Selinger</a:t>
            </a:r>
            <a:r>
              <a:rPr lang="en-US" dirty="0" smtClean="0"/>
              <a:t> suggests there might be multiple critical/sensitive period for different aspects of language</a:t>
            </a:r>
          </a:p>
          <a:p>
            <a:r>
              <a:rPr lang="en-US" dirty="0" smtClean="0"/>
              <a:t>The period in which acquiring native accent is easier, seems to end sooner than the period leading to the acquisition of grammar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Age as a key factor in language acquisition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is a correlation between age and the ability to learn a new language</a:t>
            </a:r>
          </a:p>
          <a:p>
            <a:endParaRPr lang="en-US" dirty="0" smtClean="0"/>
          </a:p>
          <a:p>
            <a:r>
              <a:rPr lang="en-US" dirty="0" smtClean="0"/>
              <a:t>Adults who want to learn a new language, but don’t have enough knowledge about their second language, seem to fall back easier to their first language</a:t>
            </a:r>
          </a:p>
          <a:p>
            <a:endParaRPr lang="en-US" dirty="0" smtClean="0"/>
          </a:p>
          <a:p>
            <a:r>
              <a:rPr lang="en-US" dirty="0" smtClean="0"/>
              <a:t>Then no progress in the second language 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Age as a key factor in language acquisition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way the participants learned English in school prior to their arrival to Canada is not the efficient way to learn a new language</a:t>
            </a:r>
          </a:p>
          <a:p>
            <a:endParaRPr lang="en-US" dirty="0" smtClean="0"/>
          </a:p>
          <a:p>
            <a:r>
              <a:rPr lang="en-US" dirty="0" err="1" smtClean="0"/>
              <a:t>Krashen</a:t>
            </a:r>
            <a:r>
              <a:rPr lang="en-US" dirty="0" smtClean="0"/>
              <a:t> mentions the importance of participation in “meaningful interactions in the target language” to be able to acquire a new language.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Age as a key factor in language acquisition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Ones who work or study in Canada have less noticeable accent  compare to those who stayed at home as a housewife</a:t>
            </a:r>
          </a:p>
          <a:p>
            <a:r>
              <a:rPr lang="en-US" dirty="0" smtClean="0"/>
              <a:t>Learning a language to able to function at work/school is most likely an instrumental motivation</a:t>
            </a:r>
          </a:p>
          <a:p>
            <a:r>
              <a:rPr lang="en-US" dirty="0" smtClean="0"/>
              <a:t>It also can be at least partly an integrative motivator</a:t>
            </a:r>
          </a:p>
          <a:p>
            <a:r>
              <a:rPr lang="en-US" dirty="0" smtClean="0"/>
              <a:t>All participants have their personal interest to become integrated in to the new culture and the new way of living.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motivation affects progress in language learning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participants reported that they try to improve their ability to communicate in the new language</a:t>
            </a:r>
          </a:p>
          <a:p>
            <a:endParaRPr lang="en-US" dirty="0" smtClean="0"/>
          </a:p>
          <a:p>
            <a:r>
              <a:rPr lang="en-US" dirty="0" smtClean="0"/>
              <a:t>Being a housewife might involve fewer opportunities to participate in a meaningful interactions in target language.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Can not conclude being a housewife leads to be less motivated in learning a new language.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motivation affects progress in language learning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Flexibility of personality </a:t>
            </a:r>
          </a:p>
          <a:p>
            <a:r>
              <a:rPr lang="en-US" dirty="0" smtClean="0"/>
              <a:t> Self esteem, and capability to handle culture change  </a:t>
            </a:r>
          </a:p>
          <a:p>
            <a:r>
              <a:rPr lang="en-US" dirty="0" smtClean="0"/>
              <a:t>*All the participants in this study put an effort to assimilate into a new culture, and learn a new language</a:t>
            </a:r>
          </a:p>
          <a:p>
            <a:r>
              <a:rPr lang="en-US" dirty="0" smtClean="0"/>
              <a:t>They didn’t find it difficult to adjust to a new culture</a:t>
            </a:r>
          </a:p>
          <a:p>
            <a:r>
              <a:rPr lang="en-US" dirty="0" smtClean="0"/>
              <a:t>Assume they all have positive attitude towards integrating in to the new culture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Attitude and Personality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sound are difficult to learn depending on the learner’s nationality</a:t>
            </a:r>
          </a:p>
          <a:p>
            <a:r>
              <a:rPr lang="en-US" dirty="0" smtClean="0"/>
              <a:t>Similarity of L1 sounds to L2 sounds make it more difficult to learn a new sound</a:t>
            </a:r>
          </a:p>
          <a:p>
            <a:r>
              <a:rPr lang="en-US" dirty="0" smtClean="0"/>
              <a:t>At older ages L1 can be more dominating language compared to L2</a:t>
            </a:r>
          </a:p>
          <a:p>
            <a:endParaRPr lang="en-US" dirty="0" smtClean="0"/>
          </a:p>
          <a:p>
            <a:r>
              <a:rPr lang="en-US" dirty="0" smtClean="0"/>
              <a:t>Phonetic ability seems to fossilized earlier than the other linguistics skills*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Dominance of the first language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According to the questionnaire:</a:t>
            </a:r>
          </a:p>
          <a:p>
            <a:r>
              <a:rPr lang="en-US" dirty="0" smtClean="0"/>
              <a:t>All participants in this study preserved their first language  by using it frequently: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When meeting friends and relatives </a:t>
            </a:r>
          </a:p>
          <a:p>
            <a:r>
              <a:rPr lang="en-US" dirty="0" smtClean="0"/>
              <a:t>Reading Persian books and magazines</a:t>
            </a:r>
          </a:p>
          <a:p>
            <a:r>
              <a:rPr lang="en-US" dirty="0" smtClean="0"/>
              <a:t>Visiting their home country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Dominance of the first language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Pronunciation doesn’t receive enough academic attention as other aspects of SLA</a:t>
            </a:r>
          </a:p>
          <a:p>
            <a:r>
              <a:rPr lang="en-US" dirty="0" smtClean="0"/>
              <a:t>It’s a great concern to many second language learners in Canada</a:t>
            </a:r>
          </a:p>
          <a:p>
            <a:r>
              <a:rPr lang="en-US" dirty="0" err="1" smtClean="0"/>
              <a:t>Derwing</a:t>
            </a:r>
            <a:r>
              <a:rPr lang="en-US" dirty="0" smtClean="0"/>
              <a:t>(2003) found out 95% of immigrants would choose to speak like native speakers(if they could)</a:t>
            </a:r>
          </a:p>
          <a:p>
            <a:r>
              <a:rPr lang="en-US" dirty="0" smtClean="0"/>
              <a:t>Foreign accent discrimination</a:t>
            </a:r>
          </a:p>
          <a:p>
            <a:r>
              <a:rPr lang="en-US" dirty="0" smtClean="0"/>
              <a:t>Fossilization, natural &amp; normal stage for many learners</a:t>
            </a:r>
          </a:p>
          <a:p>
            <a:r>
              <a:rPr lang="en-US" dirty="0" smtClean="0"/>
              <a:t>Michael Long(2003) suggests stabilization instead of fossilization </a:t>
            </a:r>
          </a:p>
          <a:p>
            <a:r>
              <a:rPr lang="en-US" dirty="0" smtClean="0"/>
              <a:t> It leaves open the possibility of change and improvements 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improve fossilized accent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Second language learners seem inflexible to necessary changes</a:t>
            </a:r>
          </a:p>
          <a:p>
            <a:r>
              <a:rPr lang="en-US" dirty="0" smtClean="0"/>
              <a:t>Being successful entails:</a:t>
            </a:r>
          </a:p>
          <a:p>
            <a:r>
              <a:rPr lang="en-US" dirty="0" smtClean="0"/>
              <a:t>Preparing learners to change </a:t>
            </a:r>
          </a:p>
          <a:p>
            <a:r>
              <a:rPr lang="en-US" dirty="0" smtClean="0"/>
              <a:t>Encouraging them to make an actual effort to do so</a:t>
            </a:r>
          </a:p>
          <a:p>
            <a:r>
              <a:rPr lang="en-US" dirty="0" smtClean="0"/>
              <a:t>Carefully analyzing their situation &amp; resources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improve fossilized accent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crucial element in employing a general strategy for dealing with fossilized accent is getting them prepared to make the considerable changes</a:t>
            </a:r>
          </a:p>
          <a:p>
            <a:endParaRPr lang="en-US" dirty="0" smtClean="0"/>
          </a:p>
          <a:p>
            <a:r>
              <a:rPr lang="en-US" dirty="0" smtClean="0"/>
              <a:t>Inform them how pronunciation, or more specifically intelligibility can be improved by techniques aimed at changing those other behaviors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improve fossilized accent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that speakers should have acceptable pronunciation</a:t>
            </a:r>
          </a:p>
          <a:p>
            <a:r>
              <a:rPr lang="en-US" dirty="0" smtClean="0"/>
              <a:t>People should understand what they say</a:t>
            </a:r>
          </a:p>
          <a:p>
            <a:r>
              <a:rPr lang="en-US" dirty="0" smtClean="0"/>
              <a:t>Speakers’ English is pleasant to listen to (comfortably intelligible)</a:t>
            </a:r>
          </a:p>
          <a:p>
            <a:r>
              <a:rPr lang="en-US" dirty="0" smtClean="0"/>
              <a:t>Teachers should be well-trained</a:t>
            </a:r>
          </a:p>
          <a:p>
            <a:r>
              <a:rPr lang="en-US" dirty="0" smtClean="0"/>
              <a:t>Provide precise feedback on </a:t>
            </a:r>
            <a:r>
              <a:rPr lang="en-US" dirty="0" err="1" smtClean="0"/>
              <a:t>segmentals</a:t>
            </a:r>
            <a:r>
              <a:rPr lang="en-US" dirty="0" smtClean="0"/>
              <a:t> and </a:t>
            </a:r>
            <a:r>
              <a:rPr lang="en-US" dirty="0" err="1" smtClean="0"/>
              <a:t>suprasegmentals</a:t>
            </a:r>
            <a:r>
              <a:rPr lang="en-US" dirty="0" smtClean="0"/>
              <a:t> problem</a:t>
            </a:r>
          </a:p>
          <a:p>
            <a:r>
              <a:rPr lang="en-US" dirty="0" err="1" smtClean="0"/>
              <a:t>Suprasegmentals</a:t>
            </a:r>
            <a:r>
              <a:rPr lang="en-US" dirty="0" smtClean="0"/>
              <a:t> aspects of pronunciation are important to intelligibility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 for teachers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Ensure to correct prosodic errors beside individual words</a:t>
            </a:r>
          </a:p>
          <a:p>
            <a:endParaRPr lang="en-US" dirty="0" smtClean="0"/>
          </a:p>
          <a:p>
            <a:r>
              <a:rPr lang="en-US" dirty="0" smtClean="0"/>
              <a:t>Focus on errors which have more effect on intelligibility (ex: sentence stress)</a:t>
            </a:r>
          </a:p>
          <a:p>
            <a:endParaRPr lang="en-US" dirty="0" smtClean="0"/>
          </a:p>
          <a:p>
            <a:r>
              <a:rPr lang="en-US" dirty="0" smtClean="0"/>
              <a:t>Hahn(2004) declares, sentence stress has significant effect on comprehensibility and intelligibility</a:t>
            </a:r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 for teachers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Highlighting elements:</a:t>
            </a:r>
          </a:p>
          <a:p>
            <a:r>
              <a:rPr lang="en-US" dirty="0" smtClean="0"/>
              <a:t>sounds, syllables, stress, and intonation</a:t>
            </a:r>
          </a:p>
          <a:p>
            <a:r>
              <a:rPr lang="en-US" dirty="0" smtClean="0"/>
              <a:t>Encourage them to use intelligible pronunciation outside the classroom</a:t>
            </a:r>
          </a:p>
          <a:p>
            <a:r>
              <a:rPr lang="en-US" dirty="0" smtClean="0"/>
              <a:t>Creating a stronger link between pronunciation and communication </a:t>
            </a:r>
          </a:p>
          <a:p>
            <a:r>
              <a:rPr lang="en-US" dirty="0" smtClean="0"/>
              <a:t>Bringing pronunciation to a level of intelligibility </a:t>
            </a:r>
          </a:p>
          <a:p>
            <a:r>
              <a:rPr lang="en-US" dirty="0" smtClean="0"/>
              <a:t>Learner’s awareness of his/her potential for making their language not only easier to understand, but more effective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 for teachers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study investigated the correlation between age &amp; accent fossilization</a:t>
            </a:r>
          </a:p>
          <a:p>
            <a:r>
              <a:rPr lang="en-US" dirty="0" smtClean="0"/>
              <a:t>The other factors that can cause accent fossilization</a:t>
            </a:r>
          </a:p>
          <a:p>
            <a:r>
              <a:rPr lang="en-US" dirty="0" smtClean="0"/>
              <a:t>How to improve fossilized accent</a:t>
            </a:r>
          </a:p>
          <a:p>
            <a:r>
              <a:rPr lang="en-US" dirty="0" smtClean="0"/>
              <a:t>By analyzing the participants background information I realized:</a:t>
            </a:r>
          </a:p>
          <a:p>
            <a:r>
              <a:rPr lang="en-US" dirty="0" smtClean="0"/>
              <a:t>Although age is a very important factor in SLA, there are other factors that can influence it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</a:t>
            </a:r>
            <a:r>
              <a:rPr lang="en-US" dirty="0" smtClean="0"/>
              <a:t>ounger learners are probably more open to learn languages</a:t>
            </a:r>
          </a:p>
          <a:p>
            <a:r>
              <a:rPr lang="en-US" dirty="0" smtClean="0"/>
              <a:t>But adults commitment to work and study in the new country is a strong motivator:</a:t>
            </a:r>
          </a:p>
          <a:p>
            <a:r>
              <a:rPr lang="en-US" dirty="0" smtClean="0"/>
              <a:t>To engage in activities that promote the progress of the language acquisition</a:t>
            </a:r>
          </a:p>
          <a:p>
            <a:r>
              <a:rPr lang="en-US" dirty="0" smtClean="0"/>
              <a:t>Finally, it is concluded that mastering a correct English accent &amp; pronunciation </a:t>
            </a:r>
            <a:r>
              <a:rPr lang="en-US" smtClean="0"/>
              <a:t>in  a second </a:t>
            </a:r>
            <a:r>
              <a:rPr lang="en-US" dirty="0" smtClean="0"/>
              <a:t>language is a skill that takes an unknown amount of time to obtain.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8006</TotalTime>
  <Words>2247</Words>
  <Application>Microsoft Office PowerPoint</Application>
  <PresentationFormat>On-screen Show (4:3)</PresentationFormat>
  <Paragraphs>327</Paragraphs>
  <Slides>46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Concourse</vt:lpstr>
      <vt:lpstr>Accent Fossilization in Older Iranian Women in Canada</vt:lpstr>
      <vt:lpstr>Introduction</vt:lpstr>
      <vt:lpstr>Introduction</vt:lpstr>
      <vt:lpstr>Critical Period Hypothesis</vt:lpstr>
      <vt:lpstr> Fossilization </vt:lpstr>
      <vt:lpstr>Factors involve in developing clear pronunciation</vt:lpstr>
      <vt:lpstr>Length of residence and exposure</vt:lpstr>
      <vt:lpstr> Analysis of Iranian immigrants’ level of proficiency and accent  </vt:lpstr>
      <vt:lpstr>Iranian Immigrant Families</vt:lpstr>
      <vt:lpstr>Iranian Immigrant Families</vt:lpstr>
      <vt:lpstr>The Significance of Accent</vt:lpstr>
      <vt:lpstr>This study evaluates:</vt:lpstr>
      <vt:lpstr>Participants</vt:lpstr>
      <vt:lpstr>Procedures</vt:lpstr>
      <vt:lpstr>Procedures</vt:lpstr>
      <vt:lpstr>Raters</vt:lpstr>
      <vt:lpstr>Testing</vt:lpstr>
      <vt:lpstr>Instrumentations</vt:lpstr>
      <vt:lpstr>Results</vt:lpstr>
      <vt:lpstr>Correlation between Age of Arrival and foreign accent rating</vt:lpstr>
      <vt:lpstr>Results</vt:lpstr>
      <vt:lpstr> Correlation between Length of Residence and foreign accent rating </vt:lpstr>
      <vt:lpstr>Results</vt:lpstr>
      <vt:lpstr>Difficulty communicating and foreign accent rating</vt:lpstr>
      <vt:lpstr>Results</vt:lpstr>
      <vt:lpstr>Results</vt:lpstr>
      <vt:lpstr>Results</vt:lpstr>
      <vt:lpstr>Results</vt:lpstr>
      <vt:lpstr> Discussion </vt:lpstr>
      <vt:lpstr>Discussion </vt:lpstr>
      <vt:lpstr>Age as a key factor in language acquisition</vt:lpstr>
      <vt:lpstr>Age as a key factor in language acquisition</vt:lpstr>
      <vt:lpstr>Age as a key factor in language acquisition</vt:lpstr>
      <vt:lpstr>How motivation affects progress in language learning</vt:lpstr>
      <vt:lpstr>How motivation affects progress in language learning</vt:lpstr>
      <vt:lpstr>Attitude and Personality </vt:lpstr>
      <vt:lpstr>Dominance of the first language</vt:lpstr>
      <vt:lpstr>Dominance of the first language</vt:lpstr>
      <vt:lpstr>How to improve fossilized accent</vt:lpstr>
      <vt:lpstr>How to improve fossilized accent</vt:lpstr>
      <vt:lpstr>How to improve fossilized accent</vt:lpstr>
      <vt:lpstr>Recommendations for teachers</vt:lpstr>
      <vt:lpstr>Recommendations for teachers</vt:lpstr>
      <vt:lpstr>Recommendations for teachers</vt:lpstr>
      <vt:lpstr>Conclusion</vt:lpstr>
      <vt:lpstr>Conclusion</vt:lpstr>
    </vt:vector>
  </TitlesOfParts>
  <Company>Office07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Accent Fossilization in Older Iranian Women in Canada</dc:title>
  <dc:creator>Laptop</dc:creator>
  <cp:lastModifiedBy>YA</cp:lastModifiedBy>
  <cp:revision>198</cp:revision>
  <dcterms:created xsi:type="dcterms:W3CDTF">2012-09-16T02:16:59Z</dcterms:created>
  <dcterms:modified xsi:type="dcterms:W3CDTF">2012-10-24T04:55:28Z</dcterms:modified>
</cp:coreProperties>
</file>