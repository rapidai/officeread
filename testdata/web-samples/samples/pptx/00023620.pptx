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84" r:id="rId2"/>
    <p:sldId id="257" r:id="rId3"/>
    <p:sldId id="258" r:id="rId4"/>
    <p:sldId id="259" r:id="rId5"/>
    <p:sldId id="260" r:id="rId6"/>
    <p:sldId id="261" r:id="rId7"/>
    <p:sldId id="262" r:id="rId8"/>
    <p:sldId id="269" r:id="rId9"/>
    <p:sldId id="264" r:id="rId10"/>
    <p:sldId id="263" r:id="rId11"/>
    <p:sldId id="265" r:id="rId12"/>
    <p:sldId id="266" r:id="rId13"/>
    <p:sldId id="267" r:id="rId14"/>
    <p:sldId id="270" r:id="rId15"/>
    <p:sldId id="283" r:id="rId16"/>
    <p:sldId id="268" r:id="rId17"/>
    <p:sldId id="271" r:id="rId18"/>
    <p:sldId id="272" r:id="rId19"/>
    <p:sldId id="273" r:id="rId20"/>
    <p:sldId id="276" r:id="rId21"/>
    <p:sldId id="277" r:id="rId22"/>
    <p:sldId id="279" r:id="rId23"/>
    <p:sldId id="281"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210"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A7DEA-B1AD-40D7-8F51-278AB6585635}" type="datetimeFigureOut">
              <a:rPr lang="en-US" smtClean="0"/>
              <a:pPr/>
              <a:t>6/23/2011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BE1F25-D317-4400-BCAD-BE5441CB671D}"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FF3C6E4-F566-4BE0-A33B-F8212CF78519}" type="slidenum">
              <a:rPr lang="en-US">
                <a:solidFill>
                  <a:srgbClr val="000000"/>
                </a:solidFill>
              </a:rPr>
              <a:pPr fontAlgn="base">
                <a:spcBef>
                  <a:spcPct val="0"/>
                </a:spcBef>
                <a:spcAft>
                  <a:spcPct val="0"/>
                </a:spcAft>
              </a:pPr>
              <a:t>17</a:t>
            </a:fld>
            <a:endParaRPr lang="en-US" dirty="0">
              <a:solidFill>
                <a:srgbClr val="000000"/>
              </a:solidFill>
            </a:endParaRPr>
          </a:p>
        </p:txBody>
      </p:sp>
      <p:sp>
        <p:nvSpPr>
          <p:cNvPr id="2037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37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46B1758-C8F7-409C-BD76-DDBBCB01942F}" type="slidenum">
              <a:rPr lang="en-US">
                <a:solidFill>
                  <a:srgbClr val="000000"/>
                </a:solidFill>
              </a:rPr>
              <a:pPr fontAlgn="base">
                <a:spcBef>
                  <a:spcPct val="0"/>
                </a:spcBef>
                <a:spcAft>
                  <a:spcPct val="0"/>
                </a:spcAft>
              </a:pPr>
              <a:t>18</a:t>
            </a:fld>
            <a:endParaRPr lang="en-US" dirty="0">
              <a:solidFill>
                <a:srgbClr val="000000"/>
              </a:solidFill>
            </a:endParaRPr>
          </a:p>
        </p:txBody>
      </p:sp>
      <p:sp>
        <p:nvSpPr>
          <p:cNvPr id="20480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48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9F45F41-B9C1-4618-B6A6-B637C3CD9C71}" type="slidenum">
              <a:rPr lang="en-US">
                <a:solidFill>
                  <a:srgbClr val="000000"/>
                </a:solidFill>
              </a:rPr>
              <a:pPr fontAlgn="base">
                <a:spcBef>
                  <a:spcPct val="0"/>
                </a:spcBef>
                <a:spcAft>
                  <a:spcPct val="0"/>
                </a:spcAft>
              </a:pPr>
              <a:t>20</a:t>
            </a:fld>
            <a:endParaRPr lang="en-US" dirty="0">
              <a:solidFill>
                <a:srgbClr val="000000"/>
              </a:solidFill>
            </a:endParaRPr>
          </a:p>
        </p:txBody>
      </p:sp>
      <p:sp>
        <p:nvSpPr>
          <p:cNvPr id="235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5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B2A59E4-93D0-4DF2-BFC1-86F8C39C602D}" type="slidenum">
              <a:rPr lang="en-US">
                <a:solidFill>
                  <a:prstClr val="black"/>
                </a:solidFill>
              </a:rPr>
              <a:pPr fontAlgn="base">
                <a:spcBef>
                  <a:spcPct val="0"/>
                </a:spcBef>
                <a:spcAft>
                  <a:spcPct val="0"/>
                </a:spcAft>
              </a:pPr>
              <a:t>23</a:t>
            </a:fld>
            <a:endParaRPr lang="en-US" dirty="0">
              <a:solidFill>
                <a:prstClr val="black"/>
              </a:solidFill>
            </a:endParaRPr>
          </a:p>
        </p:txBody>
      </p:sp>
      <p:sp>
        <p:nvSpPr>
          <p:cNvPr id="2160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60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DF9558-D4DB-4C86-A1EA-407249F9C397}" type="datetimeFigureOut">
              <a:rPr lang="en-US" smtClean="0"/>
              <a:pPr/>
              <a:t>6/23/2011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8486D8-A314-418B-AE19-43150E2EC658}"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DF9558-D4DB-4C86-A1EA-407249F9C397}" type="datetimeFigureOut">
              <a:rPr lang="en-US" smtClean="0"/>
              <a:pPr/>
              <a:t>6/23/2011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8486D8-A314-418B-AE19-43150E2EC65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www.fas.org/sgp/crs/misc/R41825.pdf" TargetMode="Externa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hyperlink" Target="http://www.fas.org/sgp/crs/misc/R40717.pdf" TargetMode="External"/><Relationship Id="rId5" Type="http://schemas.openxmlformats.org/officeDocument/2006/relationships/hyperlink" Target="http://www.fas.org/sgp/crs/misc/R41826.pdf"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2.census.gov/geo/research/"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smtClean="0"/>
              <a:t>Introduction:</a:t>
            </a:r>
            <a:br>
              <a:rPr lang="en-US" dirty="0" smtClean="0"/>
            </a:br>
            <a:r>
              <a:rPr lang="en-US" dirty="0" smtClean="0"/>
              <a:t>“Cowen’s List of Interesting Stuff”</a:t>
            </a:r>
            <a:endParaRPr lang="en-US" dirty="0"/>
          </a:p>
        </p:txBody>
      </p:sp>
      <p:sp>
        <p:nvSpPr>
          <p:cNvPr id="5" name="Subtitle 4"/>
          <p:cNvSpPr>
            <a:spLocks noGrp="1"/>
          </p:cNvSpPr>
          <p:nvPr>
            <p:ph type="subTitle" idx="1"/>
          </p:nvPr>
        </p:nvSpPr>
        <p:spPr>
          <a:xfrm>
            <a:off x="1371600" y="4495800"/>
            <a:ext cx="6400800" cy="1447800"/>
          </a:xfrm>
        </p:spPr>
        <p:txBody>
          <a:bodyPr>
            <a:normAutofit/>
          </a:bodyPr>
          <a:lstStyle/>
          <a:p>
            <a:pPr algn="r"/>
            <a:r>
              <a:rPr lang="en-US" sz="2000" b="1" dirty="0" smtClean="0"/>
              <a:t>Dr. David Cowen</a:t>
            </a:r>
          </a:p>
          <a:p>
            <a:pPr algn="r"/>
            <a:r>
              <a:rPr lang="en-US" sz="2000" b="1" dirty="0" smtClean="0"/>
              <a:t>NGAC Chair</a:t>
            </a:r>
          </a:p>
          <a:p>
            <a:pPr algn="r"/>
            <a:r>
              <a:rPr lang="en-US" sz="2000" b="1" dirty="0" smtClean="0"/>
              <a:t>NGAC Meeting, June 8, 2011</a:t>
            </a:r>
            <a:endParaRPr lang="en-US"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2200" dirty="0" smtClean="0"/>
              <a:t>1. National </a:t>
            </a:r>
            <a:r>
              <a:rPr lang="en-US" sz="2200" dirty="0"/>
              <a:t>Academy of Public Administration (NAPA) </a:t>
            </a:r>
            <a:r>
              <a:rPr lang="en-US" sz="2200" dirty="0" smtClean="0"/>
              <a:t>forum on Place Based Initiatives May 20 – Included NGAC </a:t>
            </a:r>
            <a:r>
              <a:rPr lang="en-US" sz="2200" dirty="0" smtClean="0"/>
              <a:t>members </a:t>
            </a:r>
            <a:r>
              <a:rPr lang="en-US" sz="2200" dirty="0" smtClean="0"/>
              <a:t>Mark and Jerry </a:t>
            </a:r>
            <a:r>
              <a:rPr lang="en-US" dirty="0" smtClean="0"/>
              <a:t/>
            </a:r>
            <a:br>
              <a:rPr lang="en-US" dirty="0" smtClean="0"/>
            </a:br>
            <a:r>
              <a:rPr lang="en-US" sz="2000" dirty="0" smtClean="0"/>
              <a:t>http://www.napawash.org/initiative-on-place-based-public-management</a:t>
            </a:r>
            <a:r>
              <a:rPr lang="en-US" dirty="0" smtClean="0"/>
              <a:t>/</a:t>
            </a:r>
            <a:endParaRPr lang="en-US" dirty="0"/>
          </a:p>
        </p:txBody>
      </p:sp>
      <p:pic>
        <p:nvPicPr>
          <p:cNvPr id="4" name="Picture 3" descr="http://www.directionsmag.com/images/APB/NAPA1.JPG"/>
          <p:cNvPicPr/>
          <p:nvPr/>
        </p:nvPicPr>
        <p:blipFill>
          <a:blip r:embed="rId2" cstate="screen"/>
          <a:srcRect/>
          <a:stretch>
            <a:fillRect/>
          </a:stretch>
        </p:blipFill>
        <p:spPr bwMode="auto">
          <a:xfrm>
            <a:off x="1524000" y="1828800"/>
            <a:ext cx="5638800" cy="3352800"/>
          </a:xfrm>
          <a:prstGeom prst="rect">
            <a:avLst/>
          </a:prstGeom>
          <a:noFill/>
          <a:ln w="9525">
            <a:noFill/>
            <a:miter lim="800000"/>
            <a:headEnd/>
            <a:tailEnd/>
          </a:ln>
        </p:spPr>
      </p:pic>
      <p:sp>
        <p:nvSpPr>
          <p:cNvPr id="6" name="TextBox 5"/>
          <p:cNvSpPr txBox="1"/>
          <p:nvPr/>
        </p:nvSpPr>
        <p:spPr>
          <a:xfrm>
            <a:off x="1066800" y="5486400"/>
            <a:ext cx="6355215" cy="923330"/>
          </a:xfrm>
          <a:prstGeom prst="rect">
            <a:avLst/>
          </a:prstGeom>
          <a:noFill/>
        </p:spPr>
        <p:txBody>
          <a:bodyPr wrap="square" rtlCol="0">
            <a:spAutoFit/>
          </a:bodyPr>
          <a:lstStyle/>
          <a:p>
            <a:r>
              <a:rPr lang="en-US" dirty="0"/>
              <a:t>Kris Marcy, president and CEO of NAPA said that "a perfect storm of events happening ... we have terrific budget cuts coming in 2012 and we're going to have to be doing different things."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Congressional Research Service </a:t>
            </a:r>
            <a:br>
              <a:rPr lang="en-US" dirty="0" smtClean="0"/>
            </a:br>
            <a:r>
              <a:rPr lang="en-US" dirty="0" smtClean="0"/>
              <a:t>Highlights NGAC in three new reports </a:t>
            </a:r>
            <a:endParaRPr lang="en-US" dirty="0"/>
          </a:p>
        </p:txBody>
      </p:sp>
      <p:pic>
        <p:nvPicPr>
          <p:cNvPr id="1026" name="Picture 2"/>
          <p:cNvPicPr>
            <a:picLocks noChangeAspect="1" noChangeArrowheads="1"/>
          </p:cNvPicPr>
          <p:nvPr/>
        </p:nvPicPr>
        <p:blipFill>
          <a:blip r:embed="rId2" cstate="screen"/>
          <a:srcRect/>
          <a:stretch>
            <a:fillRect/>
          </a:stretch>
        </p:blipFill>
        <p:spPr bwMode="auto">
          <a:xfrm>
            <a:off x="228600" y="1600200"/>
            <a:ext cx="3581400" cy="2201816"/>
          </a:xfrm>
          <a:prstGeom prst="rect">
            <a:avLst/>
          </a:prstGeom>
          <a:noFill/>
          <a:ln w="9525">
            <a:noFill/>
            <a:miter lim="800000"/>
            <a:headEnd/>
            <a:tailEnd/>
          </a:ln>
        </p:spPr>
      </p:pic>
      <p:pic>
        <p:nvPicPr>
          <p:cNvPr id="3" name="Picture 2"/>
          <p:cNvPicPr>
            <a:picLocks noChangeAspect="1" noChangeArrowheads="1"/>
          </p:cNvPicPr>
          <p:nvPr/>
        </p:nvPicPr>
        <p:blipFill>
          <a:blip r:embed="rId3" cstate="screen"/>
          <a:srcRect/>
          <a:stretch>
            <a:fillRect/>
          </a:stretch>
        </p:blipFill>
        <p:spPr bwMode="auto">
          <a:xfrm>
            <a:off x="4876800" y="1676400"/>
            <a:ext cx="3306536" cy="2743200"/>
          </a:xfrm>
          <a:prstGeom prst="rect">
            <a:avLst/>
          </a:prstGeom>
          <a:noFill/>
          <a:ln w="9525">
            <a:noFill/>
            <a:miter lim="800000"/>
            <a:headEnd/>
            <a:tailEnd/>
          </a:ln>
        </p:spPr>
      </p:pic>
      <p:pic>
        <p:nvPicPr>
          <p:cNvPr id="1027" name="Picture 3"/>
          <p:cNvPicPr>
            <a:picLocks noChangeAspect="1" noChangeArrowheads="1"/>
          </p:cNvPicPr>
          <p:nvPr/>
        </p:nvPicPr>
        <p:blipFill>
          <a:blip r:embed="rId4" cstate="screen"/>
          <a:srcRect/>
          <a:stretch>
            <a:fillRect/>
          </a:stretch>
        </p:blipFill>
        <p:spPr bwMode="auto">
          <a:xfrm>
            <a:off x="1828800" y="4267200"/>
            <a:ext cx="2823778" cy="2020570"/>
          </a:xfrm>
          <a:prstGeom prst="rect">
            <a:avLst/>
          </a:prstGeom>
          <a:noFill/>
          <a:ln w="9525">
            <a:noFill/>
            <a:miter lim="800000"/>
            <a:headEnd/>
            <a:tailEnd/>
          </a:ln>
        </p:spPr>
      </p:pic>
      <p:sp>
        <p:nvSpPr>
          <p:cNvPr id="6" name="Rectangle 5"/>
          <p:cNvSpPr/>
          <p:nvPr/>
        </p:nvSpPr>
        <p:spPr>
          <a:xfrm>
            <a:off x="304800" y="3810000"/>
            <a:ext cx="4191000" cy="307777"/>
          </a:xfrm>
          <a:prstGeom prst="rect">
            <a:avLst/>
          </a:prstGeom>
        </p:spPr>
        <p:txBody>
          <a:bodyPr wrap="square">
            <a:spAutoFit/>
          </a:bodyPr>
          <a:lstStyle/>
          <a:p>
            <a:r>
              <a:rPr lang="en-US" sz="1400" dirty="0" smtClean="0">
                <a:hlinkClick r:id="rId5"/>
              </a:rPr>
              <a:t>http://</a:t>
            </a:r>
            <a:r>
              <a:rPr lang="en-US" sz="1400" dirty="0" smtClean="0">
                <a:hlinkClick r:id="rId5"/>
              </a:rPr>
              <a:t>www.fas.org/sgp/crs/misc/R41826.pdf</a:t>
            </a:r>
            <a:endParaRPr lang="en-US" sz="1400" dirty="0"/>
          </a:p>
        </p:txBody>
      </p:sp>
      <p:sp>
        <p:nvSpPr>
          <p:cNvPr id="7" name="Rectangle 6"/>
          <p:cNvSpPr/>
          <p:nvPr/>
        </p:nvSpPr>
        <p:spPr>
          <a:xfrm>
            <a:off x="4953000" y="4343400"/>
            <a:ext cx="3733800" cy="307777"/>
          </a:xfrm>
          <a:prstGeom prst="rect">
            <a:avLst/>
          </a:prstGeom>
        </p:spPr>
        <p:txBody>
          <a:bodyPr wrap="square">
            <a:spAutoFit/>
          </a:bodyPr>
          <a:lstStyle/>
          <a:p>
            <a:r>
              <a:rPr lang="en-US" sz="1400" dirty="0" smtClean="0">
                <a:hlinkClick r:id="rId6"/>
              </a:rPr>
              <a:t>http://</a:t>
            </a:r>
            <a:r>
              <a:rPr lang="en-US" sz="1400" dirty="0" smtClean="0">
                <a:hlinkClick r:id="rId6"/>
              </a:rPr>
              <a:t>www.fas.org/sgp/crs/misc/R40717.pdf</a:t>
            </a:r>
            <a:endParaRPr lang="en-US" sz="1400" dirty="0"/>
          </a:p>
        </p:txBody>
      </p:sp>
      <p:sp>
        <p:nvSpPr>
          <p:cNvPr id="8" name="Rectangle 7"/>
          <p:cNvSpPr/>
          <p:nvPr/>
        </p:nvSpPr>
        <p:spPr>
          <a:xfrm>
            <a:off x="1752600" y="6324600"/>
            <a:ext cx="3490186" cy="307777"/>
          </a:xfrm>
          <a:prstGeom prst="rect">
            <a:avLst/>
          </a:prstGeom>
        </p:spPr>
        <p:txBody>
          <a:bodyPr wrap="none">
            <a:spAutoFit/>
          </a:bodyPr>
          <a:lstStyle/>
          <a:p>
            <a:r>
              <a:rPr lang="en-US" sz="1400" dirty="0" smtClean="0">
                <a:hlinkClick r:id="rId7"/>
              </a:rPr>
              <a:t>http://</a:t>
            </a:r>
            <a:r>
              <a:rPr lang="en-US" sz="1400" dirty="0" smtClean="0">
                <a:hlinkClick r:id="rId7"/>
              </a:rPr>
              <a:t>www.fas.org/sgp/crs/misc/R41825.pdf</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Changing Landscape</a:t>
            </a:r>
            <a:endParaRPr lang="en-US" dirty="0"/>
          </a:p>
        </p:txBody>
      </p:sp>
      <p:sp>
        <p:nvSpPr>
          <p:cNvPr id="4" name="Content Placeholder 3"/>
          <p:cNvSpPr>
            <a:spLocks noGrp="1"/>
          </p:cNvSpPr>
          <p:nvPr>
            <p:ph idx="1"/>
          </p:nvPr>
        </p:nvSpPr>
        <p:spPr/>
        <p:txBody>
          <a:bodyPr>
            <a:normAutofit fontScale="70000" lnSpcReduction="20000"/>
          </a:bodyPr>
          <a:lstStyle/>
          <a:p>
            <a:r>
              <a:rPr lang="en-US" dirty="0" smtClean="0"/>
              <a:t>In its January 2009 report, The Changing Geospatial Landscape, NGAC noted that as geospatial data production has shifted from the federal government to the private sector and state and local governments, new partnerships for data sharing and coordination are needed. Specifically:</a:t>
            </a:r>
          </a:p>
          <a:p>
            <a:endParaRPr lang="en-US" dirty="0" smtClean="0"/>
          </a:p>
          <a:p>
            <a:r>
              <a:rPr lang="en-US" i="1" dirty="0" smtClean="0"/>
              <a:t>“the hodgepodge of existing data sharing agreements are stifling productivity and are a serious impediment to use even in times of emergency.... When the federal government was the primary data provider, regulations required data to be placed in the public domain. This policy jumpstarted a new marketplace and led to the adoptions of GIS capabilities across public and commercial </a:t>
            </a:r>
            <a:r>
              <a:rPr lang="en-US" i="1" dirty="0"/>
              <a:t>sectors. However, these arrangements are very different when data assets </a:t>
            </a:r>
            <a:r>
              <a:rPr lang="en-US" i="1" dirty="0" smtClean="0"/>
              <a:t>are controlled </a:t>
            </a:r>
            <a:r>
              <a:rPr lang="en-US" i="1" dirty="0"/>
              <a:t>by private companies or local </a:t>
            </a:r>
            <a:r>
              <a:rPr lang="en-US" i="1" dirty="0" smtClean="0"/>
              <a:t>governments”.</a:t>
            </a:r>
            <a:endParaRPr lang="en-US"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NGAC Recommendations to the Obama Administration</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In </a:t>
            </a:r>
            <a:r>
              <a:rPr lang="en-US" dirty="0"/>
              <a:t>October 2008, NGAC sent recommendations to the 2008-2009 Presidential Transition </a:t>
            </a:r>
            <a:r>
              <a:rPr lang="en-US" dirty="0" smtClean="0"/>
              <a:t>Team:</a:t>
            </a:r>
            <a:endParaRPr lang="en-US" dirty="0"/>
          </a:p>
          <a:p>
            <a:pPr lvl="1">
              <a:buNone/>
            </a:pPr>
            <a:r>
              <a:rPr lang="en-US" dirty="0"/>
              <a:t>• </a:t>
            </a:r>
            <a:r>
              <a:rPr lang="en-US" dirty="0" smtClean="0"/>
              <a:t>  establish </a:t>
            </a:r>
            <a:r>
              <a:rPr lang="en-US" dirty="0"/>
              <a:t>a geospatial leadership and coordination function immediately </a:t>
            </a:r>
            <a:r>
              <a:rPr lang="en-US" dirty="0" smtClean="0"/>
              <a:t>within the </a:t>
            </a:r>
            <a:r>
              <a:rPr lang="en-US" dirty="0"/>
              <a:t>Executive Office of the President; the geospatial coordination function </a:t>
            </a:r>
            <a:r>
              <a:rPr lang="en-US" dirty="0" smtClean="0"/>
              <a:t>should be </a:t>
            </a:r>
            <a:r>
              <a:rPr lang="en-US" dirty="0"/>
              <a:t>included in the reauthorization of the E-Government Act;</a:t>
            </a:r>
          </a:p>
          <a:p>
            <a:pPr lvl="1">
              <a:buNone/>
            </a:pPr>
            <a:r>
              <a:rPr lang="en-US" dirty="0"/>
              <a:t>• </a:t>
            </a:r>
            <a:r>
              <a:rPr lang="en-US" dirty="0" smtClean="0"/>
              <a:t>  require </a:t>
            </a:r>
            <a:r>
              <a:rPr lang="en-US" dirty="0"/>
              <a:t>OMB and FGDC to strengthen their enforcement of OMB Circular </a:t>
            </a:r>
            <a:r>
              <a:rPr lang="en-US" dirty="0" smtClean="0"/>
              <a:t>A-16 and </a:t>
            </a:r>
            <a:r>
              <a:rPr lang="en-US" dirty="0"/>
              <a:t>EO 12906;</a:t>
            </a:r>
          </a:p>
          <a:p>
            <a:pPr lvl="1">
              <a:buNone/>
            </a:pPr>
            <a:r>
              <a:rPr lang="en-US" dirty="0"/>
              <a:t>• </a:t>
            </a:r>
            <a:r>
              <a:rPr lang="en-US" dirty="0" smtClean="0"/>
              <a:t>  establish/designate </a:t>
            </a:r>
            <a:r>
              <a:rPr lang="en-US" dirty="0"/>
              <a:t>Geographic Information Officers with each department </a:t>
            </a:r>
            <a:r>
              <a:rPr lang="en-US" dirty="0" smtClean="0"/>
              <a:t>or agency </a:t>
            </a:r>
            <a:r>
              <a:rPr lang="en-US" dirty="0"/>
              <a:t>with responsibilities stipulated within OMB Circular A-16;</a:t>
            </a:r>
          </a:p>
          <a:p>
            <a:pPr lvl="1">
              <a:buNone/>
            </a:pPr>
            <a:r>
              <a:rPr lang="en-US" dirty="0"/>
              <a:t>• </a:t>
            </a:r>
            <a:r>
              <a:rPr lang="en-US" dirty="0" smtClean="0"/>
              <a:t>  establish </a:t>
            </a:r>
            <a:r>
              <a:rPr lang="en-US" dirty="0"/>
              <a:t>and oversee an Urgent Path43 forward for implementation of </a:t>
            </a:r>
            <a:r>
              <a:rPr lang="en-US" dirty="0" smtClean="0"/>
              <a:t>geospatial programs </a:t>
            </a:r>
            <a:r>
              <a:rPr lang="en-US" dirty="0"/>
              <a:t>necessary to support current national priorities and </a:t>
            </a:r>
            <a:r>
              <a:rPr lang="en-US" dirty="0" smtClean="0"/>
              <a:t>essential government </a:t>
            </a:r>
            <a:r>
              <a:rPr lang="en-US" dirty="0"/>
              <a:t>services underpinning the NSDI; and</a:t>
            </a:r>
          </a:p>
          <a:p>
            <a:pPr lvl="1">
              <a:buNone/>
            </a:pPr>
            <a:r>
              <a:rPr lang="en-US" dirty="0"/>
              <a:t>• </a:t>
            </a:r>
            <a:r>
              <a:rPr lang="en-US" dirty="0" smtClean="0"/>
              <a:t>  continue </a:t>
            </a:r>
            <a:r>
              <a:rPr lang="en-US" dirty="0"/>
              <a:t>NGAC</a:t>
            </a:r>
            <a:r>
              <a:rPr lang="en-US" dirty="0" smtClean="0"/>
              <a: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3. New York Times Releases </a:t>
            </a:r>
            <a:br>
              <a:rPr lang="en-US" dirty="0" smtClean="0"/>
            </a:br>
            <a:r>
              <a:rPr lang="en-US" dirty="0" smtClean="0"/>
              <a:t>Cool Census Application </a:t>
            </a:r>
            <a:br>
              <a:rPr lang="en-US" dirty="0" smtClean="0"/>
            </a:br>
            <a:endParaRPr lang="en-US" dirty="0"/>
          </a:p>
        </p:txBody>
      </p:sp>
      <p:pic>
        <p:nvPicPr>
          <p:cNvPr id="1026" name="Picture 2"/>
          <p:cNvPicPr>
            <a:picLocks noChangeAspect="1" noChangeArrowheads="1"/>
          </p:cNvPicPr>
          <p:nvPr/>
        </p:nvPicPr>
        <p:blipFill>
          <a:blip r:embed="rId2" cstate="screen"/>
          <a:srcRect/>
          <a:stretch>
            <a:fillRect/>
          </a:stretch>
        </p:blipFill>
        <p:spPr bwMode="auto">
          <a:xfrm>
            <a:off x="228600" y="2362200"/>
            <a:ext cx="8370277" cy="4267200"/>
          </a:xfrm>
          <a:prstGeom prst="rect">
            <a:avLst/>
          </a:prstGeom>
          <a:noFill/>
          <a:ln w="9525">
            <a:noFill/>
            <a:miter lim="800000"/>
            <a:headEnd/>
            <a:tailEnd/>
          </a:ln>
        </p:spPr>
      </p:pic>
      <p:sp>
        <p:nvSpPr>
          <p:cNvPr id="5" name="Rectangle 4"/>
          <p:cNvSpPr/>
          <p:nvPr/>
        </p:nvSpPr>
        <p:spPr>
          <a:xfrm>
            <a:off x="2209800" y="1295400"/>
            <a:ext cx="5257800" cy="369332"/>
          </a:xfrm>
          <a:prstGeom prst="rect">
            <a:avLst/>
          </a:prstGeom>
        </p:spPr>
        <p:txBody>
          <a:bodyPr wrap="square">
            <a:spAutoFit/>
          </a:bodyPr>
          <a:lstStyle/>
          <a:p>
            <a:r>
              <a:rPr lang="en-US" dirty="0" smtClean="0"/>
              <a:t>http://projects.nytimes.com/census/2010/explorer</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cstate="screen"/>
          <a:srcRect/>
          <a:stretch>
            <a:fillRect/>
          </a:stretch>
        </p:blipFill>
        <p:spPr bwMode="auto">
          <a:xfrm>
            <a:off x="457200" y="1524000"/>
            <a:ext cx="8229600" cy="4240213"/>
          </a:xfrm>
          <a:prstGeom prst="rect">
            <a:avLst/>
          </a:prstGeom>
          <a:noFill/>
          <a:ln w="9525">
            <a:noFill/>
            <a:miter lim="800000"/>
            <a:headEnd/>
            <a:tailEnd/>
          </a:ln>
        </p:spPr>
      </p:pic>
      <p:sp>
        <p:nvSpPr>
          <p:cNvPr id="3" name="Title 2"/>
          <p:cNvSpPr>
            <a:spLocks noGrp="1"/>
          </p:cNvSpPr>
          <p:nvPr>
            <p:ph type="title"/>
          </p:nvPr>
        </p:nvSpPr>
        <p:spPr/>
        <p:txBody>
          <a:bodyPr>
            <a:normAutofit fontScale="90000"/>
          </a:bodyPr>
          <a:lstStyle/>
          <a:p>
            <a:r>
              <a:rPr lang="en-US" dirty="0" smtClean="0"/>
              <a:t>4. Esri Releases Change Matters </a:t>
            </a:r>
            <a:br>
              <a:rPr lang="en-US" dirty="0" smtClean="0"/>
            </a:br>
            <a:r>
              <a:rPr lang="en-US" sz="1800" dirty="0" smtClean="0"/>
              <a:t>http://www.esri.com/landsat-imagery/index.html</a:t>
            </a:r>
            <a:r>
              <a:rPr lang="en-US" dirty="0" smtClean="0"/>
              <a:t/>
            </a:r>
            <a:br>
              <a:rPr lang="en-US" dirty="0" smtClean="0"/>
            </a:br>
            <a:r>
              <a:rPr lang="en-US" dirty="0" smtClean="0"/>
              <a:t>Richland County SC Example </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DOI Deputy Sectary David Hayes </a:t>
            </a:r>
            <a:endParaRPr lang="en-US" dirty="0"/>
          </a:p>
        </p:txBody>
      </p:sp>
      <p:sp>
        <p:nvSpPr>
          <p:cNvPr id="3" name="Content Placeholder 2"/>
          <p:cNvSpPr>
            <a:spLocks noGrp="1"/>
          </p:cNvSpPr>
          <p:nvPr>
            <p:ph idx="1"/>
          </p:nvPr>
        </p:nvSpPr>
        <p:spPr/>
        <p:txBody>
          <a:bodyPr/>
          <a:lstStyle/>
          <a:p>
            <a:r>
              <a:rPr lang="en-US" dirty="0" smtClean="0"/>
              <a:t>"Esri's website achieves the kind of thing we had hoped to see happen by making USGS's Landsat dataset available to the public.  The website will enable people and scientists around the world to more quickly and easily see how landscapes have changed over the years.   Nearly four decades of continuously acquired data provide a remarkable window to our planet."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fontScale="90000"/>
          </a:bodyPr>
          <a:lstStyle/>
          <a:p>
            <a:r>
              <a:rPr lang="en-US" sz="2700" dirty="0" smtClean="0"/>
              <a:t>5. Google Releases Map Maker For USA – </a:t>
            </a:r>
            <a:br>
              <a:rPr lang="en-US" sz="2700" dirty="0" smtClean="0"/>
            </a:br>
            <a:r>
              <a:rPr lang="en-US" sz="2700" dirty="0" smtClean="0"/>
              <a:t>Crowd Sourcing is here</a:t>
            </a:r>
            <a:r>
              <a:rPr lang="en-US" dirty="0" smtClean="0"/>
              <a:t> </a:t>
            </a:r>
          </a:p>
        </p:txBody>
      </p:sp>
      <p:pic>
        <p:nvPicPr>
          <p:cNvPr id="19460" name="Picture 4"/>
          <p:cNvPicPr>
            <a:picLocks noGrp="1" noChangeAspect="1" noChangeArrowheads="1"/>
          </p:cNvPicPr>
          <p:nvPr>
            <p:ph idx="1"/>
          </p:nvPr>
        </p:nvPicPr>
        <p:blipFill>
          <a:blip r:embed="rId2" cstate="screen"/>
          <a:srcRect/>
          <a:stretch>
            <a:fillRect/>
          </a:stretch>
        </p:blipFill>
        <p:spPr bwMode="auto">
          <a:xfrm>
            <a:off x="1981200" y="1997691"/>
            <a:ext cx="4986071" cy="4204672"/>
          </a:xfrm>
          <a:prstGeom prst="rect">
            <a:avLst/>
          </a:prstGeom>
          <a:noFill/>
          <a:ln w="9525">
            <a:noFill/>
            <a:miter lim="800000"/>
            <a:headEnd/>
            <a:tailEnd/>
          </a:ln>
        </p:spPr>
      </p:pic>
      <p:sp>
        <p:nvSpPr>
          <p:cNvPr id="4" name="Rectangle 3"/>
          <p:cNvSpPr/>
          <p:nvPr/>
        </p:nvSpPr>
        <p:spPr>
          <a:xfrm>
            <a:off x="2438400" y="1447800"/>
            <a:ext cx="4134915" cy="369332"/>
          </a:xfrm>
          <a:prstGeom prst="rect">
            <a:avLst/>
          </a:prstGeom>
        </p:spPr>
        <p:txBody>
          <a:bodyPr wrap="none">
            <a:spAutoFit/>
          </a:bodyPr>
          <a:lstStyle/>
          <a:p>
            <a:r>
              <a:rPr lang="en-US" dirty="0" smtClean="0"/>
              <a:t>http://www.google.com/mapmaker/pulse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6. Esri Releases Redistricting App as a Cloud Based Software as a Service </a:t>
            </a:r>
            <a:br>
              <a:rPr lang="en-US" dirty="0" smtClean="0"/>
            </a:br>
            <a:r>
              <a:rPr lang="en-US" sz="2000" dirty="0" smtClean="0"/>
              <a:t>http://www.esri.com/software/redistricting/index.html</a:t>
            </a:r>
            <a:endParaRPr lang="en-US" sz="2000" dirty="0"/>
          </a:p>
        </p:txBody>
      </p:sp>
      <p:pic>
        <p:nvPicPr>
          <p:cNvPr id="3074" name="Picture 2"/>
          <p:cNvPicPr>
            <a:picLocks noChangeAspect="1" noChangeArrowheads="1"/>
          </p:cNvPicPr>
          <p:nvPr/>
        </p:nvPicPr>
        <p:blipFill>
          <a:blip r:embed="rId2" cstate="screen"/>
          <a:srcRect/>
          <a:stretch>
            <a:fillRect/>
          </a:stretch>
        </p:blipFill>
        <p:spPr bwMode="auto">
          <a:xfrm>
            <a:off x="2209800" y="1752600"/>
            <a:ext cx="4905375" cy="4782448"/>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7. NSGIC Publishes Address Point </a:t>
            </a:r>
            <a:br>
              <a:rPr lang="en-US" dirty="0" smtClean="0"/>
            </a:br>
            <a:r>
              <a:rPr lang="en-US" dirty="0" smtClean="0"/>
              <a:t>Position Paper</a:t>
            </a:r>
            <a:br>
              <a:rPr lang="en-US" dirty="0" smtClean="0"/>
            </a:br>
            <a:endParaRPr lang="en-US" dirty="0"/>
          </a:p>
        </p:txBody>
      </p:sp>
      <p:pic>
        <p:nvPicPr>
          <p:cNvPr id="2050" name="Picture 2"/>
          <p:cNvPicPr>
            <a:picLocks noGrp="1" noChangeAspect="1" noChangeArrowheads="1"/>
          </p:cNvPicPr>
          <p:nvPr>
            <p:ph idx="1"/>
          </p:nvPr>
        </p:nvPicPr>
        <p:blipFill>
          <a:blip r:embed="rId2" cstate="screen"/>
          <a:srcRect/>
          <a:stretch>
            <a:fillRect/>
          </a:stretch>
        </p:blipFill>
        <p:spPr bwMode="auto">
          <a:xfrm>
            <a:off x="643331" y="1752600"/>
            <a:ext cx="8500669" cy="3618706"/>
          </a:xfrm>
          <a:prstGeom prst="rect">
            <a:avLst/>
          </a:prstGeom>
          <a:noFill/>
          <a:ln w="9525">
            <a:noFill/>
            <a:miter lim="800000"/>
            <a:headEnd/>
            <a:tailEnd/>
          </a:ln>
        </p:spPr>
      </p:pic>
      <p:sp>
        <p:nvSpPr>
          <p:cNvPr id="4" name="Rectangle 3"/>
          <p:cNvSpPr/>
          <p:nvPr/>
        </p:nvSpPr>
        <p:spPr>
          <a:xfrm>
            <a:off x="152400" y="1066800"/>
            <a:ext cx="8839200" cy="369332"/>
          </a:xfrm>
          <a:prstGeom prst="rect">
            <a:avLst/>
          </a:prstGeom>
        </p:spPr>
        <p:txBody>
          <a:bodyPr wrap="square">
            <a:spAutoFit/>
          </a:bodyPr>
          <a:lstStyle/>
          <a:p>
            <a:r>
              <a:rPr lang="en-US" dirty="0" smtClean="0"/>
              <a:t>http://nsgicftp.gisinventory.net/download/Address_Points_FTN_Brochure_050411_Final.pdf</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8. Transportation For The Nation</a:t>
            </a:r>
            <a:br>
              <a:rPr lang="en-US" dirty="0" smtClean="0"/>
            </a:br>
            <a:r>
              <a:rPr lang="en-US" dirty="0" smtClean="0"/>
              <a:t>Strategic Plan Released </a:t>
            </a:r>
            <a:br>
              <a:rPr lang="en-US" dirty="0" smtClean="0"/>
            </a:br>
            <a:endParaRPr lang="en-US" dirty="0"/>
          </a:p>
        </p:txBody>
      </p:sp>
      <p:pic>
        <p:nvPicPr>
          <p:cNvPr id="3074" name="Picture 2"/>
          <p:cNvPicPr>
            <a:picLocks noChangeAspect="1" noChangeArrowheads="1"/>
          </p:cNvPicPr>
          <p:nvPr/>
        </p:nvPicPr>
        <p:blipFill>
          <a:blip r:embed="rId2" cstate="screen"/>
          <a:srcRect/>
          <a:stretch>
            <a:fillRect/>
          </a:stretch>
        </p:blipFill>
        <p:spPr bwMode="auto">
          <a:xfrm>
            <a:off x="0" y="1600200"/>
            <a:ext cx="2895600" cy="2115397"/>
          </a:xfrm>
          <a:prstGeom prst="rect">
            <a:avLst/>
          </a:prstGeom>
          <a:noFill/>
          <a:ln w="9525">
            <a:noFill/>
            <a:miter lim="800000"/>
            <a:headEnd/>
            <a:tailEnd/>
          </a:ln>
        </p:spPr>
      </p:pic>
      <p:pic>
        <p:nvPicPr>
          <p:cNvPr id="3075" name="Picture 3"/>
          <p:cNvPicPr>
            <a:picLocks noChangeAspect="1" noChangeArrowheads="1"/>
          </p:cNvPicPr>
          <p:nvPr/>
        </p:nvPicPr>
        <p:blipFill>
          <a:blip r:embed="rId3" cstate="screen"/>
          <a:srcRect/>
          <a:stretch>
            <a:fillRect/>
          </a:stretch>
        </p:blipFill>
        <p:spPr bwMode="auto">
          <a:xfrm>
            <a:off x="2933700" y="2828925"/>
            <a:ext cx="6210300" cy="4029075"/>
          </a:xfrm>
          <a:prstGeom prst="rect">
            <a:avLst/>
          </a:prstGeom>
          <a:noFill/>
          <a:ln w="9525">
            <a:noFill/>
            <a:miter lim="800000"/>
            <a:headEnd/>
            <a:tailEnd/>
          </a:ln>
        </p:spPr>
      </p:pic>
      <p:sp>
        <p:nvSpPr>
          <p:cNvPr id="5" name="Rectangle 4"/>
          <p:cNvSpPr/>
          <p:nvPr/>
        </p:nvSpPr>
        <p:spPr>
          <a:xfrm>
            <a:off x="457200" y="1219200"/>
            <a:ext cx="7924800" cy="369332"/>
          </a:xfrm>
          <a:prstGeom prst="rect">
            <a:avLst/>
          </a:prstGeom>
        </p:spPr>
        <p:txBody>
          <a:bodyPr wrap="square">
            <a:spAutoFit/>
          </a:bodyPr>
          <a:lstStyle/>
          <a:p>
            <a:r>
              <a:rPr lang="en-US" dirty="0" smtClean="0"/>
              <a:t>http://nsgicftp.gisinventory.net/download/TFTN_StrategicPlan_v8DraftFinal.pdf</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b="1" dirty="0" smtClean="0"/>
              <a:t>GEoEye / NGA NextView </a:t>
            </a:r>
            <a:br>
              <a:rPr lang="en-US" sz="3600" b="1" dirty="0" smtClean="0"/>
            </a:br>
            <a:r>
              <a:rPr lang="en-US" sz="3600" b="1" dirty="0" smtClean="0"/>
              <a:t>IMAGERY END USER LICENSE AGREEMENT</a:t>
            </a:r>
            <a:r>
              <a:rPr lang="en-US" dirty="0" smtClean="0"/>
              <a:t/>
            </a:r>
            <a:br>
              <a:rPr lang="en-US" dirty="0" smtClean="0"/>
            </a:br>
            <a:endParaRPr lang="en-US" dirty="0"/>
          </a:p>
        </p:txBody>
      </p:sp>
      <p:sp>
        <p:nvSpPr>
          <p:cNvPr id="4" name="Content Placeholder 3"/>
          <p:cNvSpPr>
            <a:spLocks noGrp="1"/>
          </p:cNvSpPr>
          <p:nvPr>
            <p:ph idx="1"/>
          </p:nvPr>
        </p:nvSpPr>
        <p:spPr/>
        <p:txBody>
          <a:bodyPr>
            <a:normAutofit fontScale="85000" lnSpcReduction="20000"/>
          </a:bodyPr>
          <a:lstStyle/>
          <a:p>
            <a:pPr>
              <a:buNone/>
            </a:pPr>
            <a:r>
              <a:rPr lang="en-US" dirty="0" smtClean="0"/>
              <a:t>b.  Licensed Users</a:t>
            </a:r>
          </a:p>
          <a:p>
            <a:pPr marL="514350" indent="-514350">
              <a:buAutoNum type="arabicPeriod"/>
            </a:pPr>
            <a:r>
              <a:rPr lang="en-US" dirty="0" smtClean="0"/>
              <a:t>The imagery may be used by the U.S. Government (including, all branches, departments, agencies, and offices).  </a:t>
            </a:r>
          </a:p>
          <a:p>
            <a:pPr marL="514350" indent="-514350">
              <a:buNone/>
            </a:pPr>
            <a:endParaRPr lang="en-US" dirty="0" smtClean="0"/>
          </a:p>
          <a:p>
            <a:pPr>
              <a:buNone/>
            </a:pPr>
            <a:r>
              <a:rPr lang="en-US" dirty="0" smtClean="0"/>
              <a:t>2.	The U.S. Government may provide the imagery to the following organizations: </a:t>
            </a:r>
          </a:p>
          <a:p>
            <a:pPr lvl="1"/>
            <a:r>
              <a:rPr lang="en-US" dirty="0" smtClean="0"/>
              <a:t>State Governments</a:t>
            </a:r>
          </a:p>
          <a:p>
            <a:pPr lvl="1"/>
            <a:r>
              <a:rPr lang="en-US" dirty="0" smtClean="0"/>
              <a:t>Local Governments</a:t>
            </a:r>
          </a:p>
          <a:p>
            <a:pPr lvl="1"/>
            <a:r>
              <a:rPr lang="en-US" dirty="0" smtClean="0"/>
              <a:t>Foreign Governments and inter-governmental organizations</a:t>
            </a:r>
          </a:p>
          <a:p>
            <a:r>
              <a:rPr lang="en-US" dirty="0" smtClean="0"/>
              <a:t>NGO's and other non-profit organizations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10 FGDC Steering Committee </a:t>
            </a:r>
            <a:br>
              <a:rPr lang="en-US" dirty="0" smtClean="0"/>
            </a:br>
            <a:r>
              <a:rPr lang="en-US" dirty="0" smtClean="0"/>
              <a:t>Yesterday </a:t>
            </a:r>
            <a:br>
              <a:rPr lang="en-US" dirty="0" smtClean="0"/>
            </a:br>
            <a:endParaRPr lang="en-US" dirty="0"/>
          </a:p>
        </p:txBody>
      </p:sp>
      <p:sp>
        <p:nvSpPr>
          <p:cNvPr id="3" name="Content Placeholder 2"/>
          <p:cNvSpPr>
            <a:spLocks noGrp="1"/>
          </p:cNvSpPr>
          <p:nvPr>
            <p:ph idx="1"/>
          </p:nvPr>
        </p:nvSpPr>
        <p:spPr/>
        <p:txBody>
          <a:bodyPr/>
          <a:lstStyle/>
          <a:p>
            <a:pPr>
              <a:buNone/>
            </a:pPr>
            <a:endParaRPr lang="en-US" dirty="0" smtClean="0"/>
          </a:p>
          <a:p>
            <a:pPr>
              <a:buNone/>
            </a:pPr>
            <a:r>
              <a:rPr lang="en-US" dirty="0" smtClean="0"/>
              <a:t>11 of 26 NGAC Members Attended</a:t>
            </a:r>
          </a:p>
          <a:p>
            <a:pPr>
              <a:buNone/>
            </a:pPr>
            <a:endParaRPr lang="en-US" dirty="0" smtClean="0"/>
          </a:p>
          <a:p>
            <a:pPr>
              <a:buNone/>
            </a:pPr>
            <a:r>
              <a:rPr lang="en-US" dirty="0" smtClean="0"/>
              <a:t>Dialog Began - Promise to provide feedback on our recommendations </a:t>
            </a:r>
            <a:endParaRPr lang="en-US" dirty="0"/>
          </a:p>
        </p:txBody>
      </p:sp>
      <p:sp>
        <p:nvSpPr>
          <p:cNvPr id="4" name="Rectangle 3"/>
          <p:cNvSpPr/>
          <p:nvPr/>
        </p:nvSpPr>
        <p:spPr>
          <a:xfrm>
            <a:off x="990600" y="1219200"/>
            <a:ext cx="7391400" cy="369332"/>
          </a:xfrm>
          <a:prstGeom prst="rect">
            <a:avLst/>
          </a:prstGeom>
        </p:spPr>
        <p:txBody>
          <a:bodyPr wrap="square">
            <a:spAutoFit/>
          </a:bodyPr>
          <a:lstStyle/>
          <a:p>
            <a:r>
              <a:rPr lang="en-US" dirty="0" smtClean="0"/>
              <a:t>http://www.fgdc.gov/fgdc-news/steering-committee-meeting-june-2011</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normAutofit fontScale="90000"/>
          </a:bodyPr>
          <a:lstStyle/>
          <a:p>
            <a:r>
              <a:rPr lang="en-US" dirty="0" smtClean="0"/>
              <a:t>Focus of our meeting </a:t>
            </a:r>
            <a:br>
              <a:rPr lang="en-US" dirty="0" smtClean="0"/>
            </a:br>
            <a:r>
              <a:rPr lang="en-US" dirty="0" smtClean="0"/>
              <a:t>Parcels, Address Points and Roads </a:t>
            </a:r>
            <a:endParaRPr lang="en-US" dirty="0"/>
          </a:p>
        </p:txBody>
      </p:sp>
      <p:sp>
        <p:nvSpPr>
          <p:cNvPr id="17" name="Content Placeholder 16"/>
          <p:cNvSpPr>
            <a:spLocks noGrp="1"/>
          </p:cNvSpPr>
          <p:nvPr>
            <p:ph idx="1"/>
          </p:nvPr>
        </p:nvSpPr>
        <p:spPr/>
        <p:txBody>
          <a:bodyPr>
            <a:normAutofit fontScale="77500" lnSpcReduction="20000"/>
          </a:bodyPr>
          <a:lstStyle/>
          <a:p>
            <a:r>
              <a:rPr lang="en-US" dirty="0" smtClean="0"/>
              <a:t>The following examples were generated from data in Charleston South Carolina as part of a research project for the Bureau of the Census</a:t>
            </a:r>
          </a:p>
          <a:p>
            <a:r>
              <a:rPr lang="en-US" dirty="0" smtClean="0"/>
              <a:t>Links to these projects </a:t>
            </a:r>
          </a:p>
          <a:p>
            <a:pPr lvl="1"/>
            <a:r>
              <a:rPr lang="en-US" sz="2600" dirty="0" smtClean="0"/>
              <a:t>Reporting the State and Anticipated Future Directions of Addresses and Addressing.</a:t>
            </a:r>
          </a:p>
          <a:p>
            <a:pPr lvl="1"/>
            <a:r>
              <a:rPr lang="en-US" sz="2600" dirty="0" smtClean="0"/>
              <a:t>Reporting on the Use of Handheld Computers by Statistical Agencies And Other Applicable Users</a:t>
            </a:r>
          </a:p>
          <a:p>
            <a:pPr lvl="1"/>
            <a:r>
              <a:rPr lang="en-US" sz="2600" dirty="0" smtClean="0"/>
              <a:t>Identifying The Current State And Anticipated Future Direction Of Potentially Useful of Developing Technologies</a:t>
            </a:r>
          </a:p>
          <a:p>
            <a:pPr lvl="1"/>
            <a:r>
              <a:rPr lang="en-US" sz="2600" dirty="0" smtClean="0"/>
              <a:t>Researching Address and Spatial Data Digital Exchange and Data Integration</a:t>
            </a:r>
          </a:p>
          <a:p>
            <a:pPr lvl="1"/>
            <a:r>
              <a:rPr lang="en-US" sz="2600" dirty="0" smtClean="0"/>
              <a:t>Measuring Data Quality</a:t>
            </a:r>
          </a:p>
          <a:p>
            <a:r>
              <a:rPr lang="en-US" u="sng" dirty="0" smtClean="0">
                <a:hlinkClick r:id="rId2"/>
              </a:rPr>
              <a:t>http://www2.census.gov/geo/research/</a:t>
            </a:r>
            <a:endParaRPr lang="en-US" dirty="0" smtClean="0"/>
          </a:p>
          <a:p>
            <a:pPr lvl="1"/>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p:nvPr/>
        </p:nvGrpSpPr>
        <p:grpSpPr>
          <a:xfrm>
            <a:off x="1447800" y="1828800"/>
            <a:ext cx="7010400" cy="4703763"/>
            <a:chOff x="304800" y="381000"/>
            <a:chExt cx="8229600" cy="6151563"/>
          </a:xfrm>
        </p:grpSpPr>
        <p:pic>
          <p:nvPicPr>
            <p:cNvPr id="167939" name="Picture 2"/>
            <p:cNvPicPr>
              <a:picLocks noChangeAspect="1" noChangeArrowheads="1"/>
            </p:cNvPicPr>
            <p:nvPr/>
          </p:nvPicPr>
          <p:blipFill>
            <a:blip r:embed="rId2" cstate="screen"/>
            <a:srcRect/>
            <a:stretch>
              <a:fillRect/>
            </a:stretch>
          </p:blipFill>
          <p:spPr bwMode="auto">
            <a:xfrm>
              <a:off x="304800" y="381000"/>
              <a:ext cx="8229600" cy="6151563"/>
            </a:xfrm>
            <a:prstGeom prst="rect">
              <a:avLst/>
            </a:prstGeom>
            <a:noFill/>
            <a:ln w="9525">
              <a:noFill/>
              <a:miter lim="800000"/>
              <a:headEnd/>
              <a:tailEnd/>
            </a:ln>
          </p:spPr>
        </p:pic>
        <p:cxnSp>
          <p:nvCxnSpPr>
            <p:cNvPr id="7" name="Straight Arrow Connector 6"/>
            <p:cNvCxnSpPr/>
            <p:nvPr/>
          </p:nvCxnSpPr>
          <p:spPr>
            <a:xfrm rot="10800000">
              <a:off x="2971800" y="1447800"/>
              <a:ext cx="1295400" cy="3048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3200400" y="3276600"/>
              <a:ext cx="1066800" cy="3048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5410200" y="2819400"/>
              <a:ext cx="1066800" cy="3048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6200000" flipV="1">
              <a:off x="5334000" y="3581400"/>
              <a:ext cx="914400" cy="7620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6200000" flipV="1">
              <a:off x="4114800" y="4038600"/>
              <a:ext cx="838200" cy="762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1371600" y="3962400"/>
              <a:ext cx="1371600" cy="1524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flipH="1" flipV="1">
              <a:off x="1866900" y="4076700"/>
              <a:ext cx="990600" cy="7620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590800" y="5029200"/>
              <a:ext cx="1066800" cy="6858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a:off x="6819900" y="3086100"/>
              <a:ext cx="1066800" cy="2286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10800000" flipV="1">
              <a:off x="4343400" y="5334000"/>
              <a:ext cx="914400" cy="5334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3276600" y="5943600"/>
              <a:ext cx="1066800" cy="5334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7315200" y="4114800"/>
              <a:ext cx="1219200" cy="91440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9" name="Title 18"/>
          <p:cNvSpPr>
            <a:spLocks noGrp="1"/>
          </p:cNvSpPr>
          <p:nvPr>
            <p:ph type="title"/>
          </p:nvPr>
        </p:nvSpPr>
        <p:spPr/>
        <p:txBody>
          <a:bodyPr>
            <a:normAutofit fontScale="90000"/>
          </a:bodyPr>
          <a:lstStyle/>
          <a:p>
            <a:r>
              <a:rPr lang="en-US" dirty="0" smtClean="0"/>
              <a:t/>
            </a:r>
            <a:br>
              <a:rPr lang="en-US" dirty="0" smtClean="0"/>
            </a:br>
            <a:r>
              <a:rPr lang="en-US" sz="2700" dirty="0" smtClean="0"/>
              <a:t>Parcel Centroids with situs Addresses are geometrically assigned as navigation points on centerlines </a:t>
            </a:r>
            <a:endParaRPr lang="en-US" sz="2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4"/>
          <p:cNvSpPr>
            <a:spLocks noGrp="1" noChangeArrowheads="1"/>
          </p:cNvSpPr>
          <p:nvPr>
            <p:ph type="title"/>
          </p:nvPr>
        </p:nvSpPr>
        <p:spPr/>
        <p:txBody>
          <a:bodyPr/>
          <a:lstStyle/>
          <a:p>
            <a:pPr eaLnBrk="1" hangingPunct="1"/>
            <a:r>
              <a:rPr lang="en-US" dirty="0" smtClean="0"/>
              <a:t>Parcels with Imagery </a:t>
            </a:r>
          </a:p>
        </p:txBody>
      </p:sp>
      <p:pic>
        <p:nvPicPr>
          <p:cNvPr id="118787" name="Picture 5" descr="clparcels"/>
          <p:cNvPicPr>
            <a:picLocks noChangeAspect="1" noChangeArrowheads="1"/>
          </p:cNvPicPr>
          <p:nvPr/>
        </p:nvPicPr>
        <p:blipFill>
          <a:blip r:embed="rId3" cstate="screen"/>
          <a:srcRect/>
          <a:stretch>
            <a:fillRect/>
          </a:stretch>
        </p:blipFill>
        <p:spPr bwMode="auto">
          <a:xfrm>
            <a:off x="1295400" y="1676400"/>
            <a:ext cx="6734175" cy="38766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p:cNvSpPr>
            <a:spLocks noGrp="1" noChangeArrowheads="1"/>
          </p:cNvSpPr>
          <p:nvPr>
            <p:ph type="title"/>
          </p:nvPr>
        </p:nvSpPr>
        <p:spPr/>
        <p:txBody>
          <a:bodyPr/>
          <a:lstStyle/>
          <a:p>
            <a:pPr eaLnBrk="1" hangingPunct="1"/>
            <a:r>
              <a:rPr lang="en-US" dirty="0" smtClean="0"/>
              <a:t>Dissolved Parcels = Blocks  </a:t>
            </a:r>
          </a:p>
        </p:txBody>
      </p:sp>
      <p:pic>
        <p:nvPicPr>
          <p:cNvPr id="119811" name="Picture 5" descr="dissolved parcels"/>
          <p:cNvPicPr>
            <a:picLocks noChangeAspect="1" noChangeArrowheads="1"/>
          </p:cNvPicPr>
          <p:nvPr/>
        </p:nvPicPr>
        <p:blipFill>
          <a:blip r:embed="rId3" cstate="screen"/>
          <a:srcRect/>
          <a:stretch>
            <a:fillRect/>
          </a:stretch>
        </p:blipFill>
        <p:spPr bwMode="auto">
          <a:xfrm>
            <a:off x="1447800" y="1981200"/>
            <a:ext cx="6734175" cy="387667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4"/>
          <p:cNvSpPr>
            <a:spLocks noGrp="1"/>
          </p:cNvSpPr>
          <p:nvPr>
            <p:ph type="title"/>
          </p:nvPr>
        </p:nvSpPr>
        <p:spPr/>
        <p:txBody>
          <a:bodyPr>
            <a:normAutofit/>
          </a:bodyPr>
          <a:lstStyle/>
          <a:p>
            <a:r>
              <a:rPr lang="en-US" dirty="0" smtClean="0"/>
              <a:t>Non Parcels (Public) with Image </a:t>
            </a:r>
          </a:p>
        </p:txBody>
      </p:sp>
      <p:pic>
        <p:nvPicPr>
          <p:cNvPr id="15363" name="Picture 4" descr="Non Parcel"/>
          <p:cNvPicPr>
            <a:picLocks noChangeAspect="1" noChangeArrowheads="1"/>
          </p:cNvPicPr>
          <p:nvPr/>
        </p:nvPicPr>
        <p:blipFill>
          <a:blip r:embed="rId2" cstate="screen"/>
          <a:srcRect/>
          <a:stretch>
            <a:fillRect/>
          </a:stretch>
        </p:blipFill>
        <p:spPr bwMode="auto">
          <a:xfrm>
            <a:off x="1204913" y="1490663"/>
            <a:ext cx="6734175" cy="38766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a:lstStyle/>
          <a:p>
            <a:pPr eaLnBrk="1" hangingPunct="1"/>
            <a:r>
              <a:rPr lang="en-US" sz="2400" dirty="0" smtClean="0"/>
              <a:t>Generalized (Douglas / Peucker) Vectors of thinned grids </a:t>
            </a:r>
            <a:br>
              <a:rPr lang="en-US" sz="2400" dirty="0" smtClean="0"/>
            </a:br>
            <a:r>
              <a:rPr lang="en-US" sz="2400" dirty="0" smtClean="0"/>
              <a:t>With TIGER (Yellow)</a:t>
            </a:r>
            <a:r>
              <a:rPr lang="en-US" dirty="0" smtClean="0"/>
              <a:t> </a:t>
            </a:r>
          </a:p>
        </p:txBody>
      </p:sp>
      <p:pic>
        <p:nvPicPr>
          <p:cNvPr id="19459" name="Picture 5" descr="Automated Centerlines"/>
          <p:cNvPicPr>
            <a:picLocks noChangeAspect="1" noChangeArrowheads="1"/>
          </p:cNvPicPr>
          <p:nvPr/>
        </p:nvPicPr>
        <p:blipFill>
          <a:blip r:embed="rId3" cstate="screen"/>
          <a:srcRect/>
          <a:stretch>
            <a:fillRect/>
          </a:stretch>
        </p:blipFill>
        <p:spPr bwMode="auto">
          <a:xfrm>
            <a:off x="1204913" y="1490663"/>
            <a:ext cx="6734175" cy="3876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fontScale="90000"/>
          </a:bodyPr>
          <a:lstStyle/>
          <a:p>
            <a:pPr eaLnBrk="1" hangingPunct="1"/>
            <a:r>
              <a:rPr lang="en-US" dirty="0" smtClean="0"/>
              <a:t>TIGER Segments not in agreement with public roads  </a:t>
            </a:r>
          </a:p>
        </p:txBody>
      </p:sp>
      <p:pic>
        <p:nvPicPr>
          <p:cNvPr id="16387" name="Picture 2" descr="tiger within public.png"/>
          <p:cNvPicPr>
            <a:picLocks noChangeAspect="1"/>
          </p:cNvPicPr>
          <p:nvPr/>
        </p:nvPicPr>
        <p:blipFill>
          <a:blip r:embed="rId2" cstate="screen"/>
          <a:srcRect/>
          <a:stretch>
            <a:fillRect/>
          </a:stretch>
        </p:blipFill>
        <p:spPr bwMode="auto">
          <a:xfrm>
            <a:off x="1204913" y="1360488"/>
            <a:ext cx="6734175" cy="4137025"/>
          </a:xfrm>
          <a:prstGeom prst="rect">
            <a:avLst/>
          </a:prstGeom>
          <a:noFill/>
          <a:ln w="9525">
            <a:noFill/>
            <a:miter lim="800000"/>
            <a:headEnd/>
            <a:tailEnd/>
          </a:ln>
        </p:spPr>
      </p:pic>
      <p:sp>
        <p:nvSpPr>
          <p:cNvPr id="5" name="Rounded Rectangular Callout 4"/>
          <p:cNvSpPr/>
          <p:nvPr/>
        </p:nvSpPr>
        <p:spPr>
          <a:xfrm>
            <a:off x="6705600" y="4038600"/>
            <a:ext cx="1905000" cy="838200"/>
          </a:xfrm>
          <a:prstGeom prst="wedgeRoundRectCallout">
            <a:avLst>
              <a:gd name="adj1" fmla="val -73220"/>
              <a:gd name="adj2" fmla="val -117801"/>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prstClr val="black"/>
                </a:solidFill>
              </a:rPr>
              <a:t>TIGER does not conform to cul de sac</a:t>
            </a:r>
          </a:p>
        </p:txBody>
      </p:sp>
      <p:sp>
        <p:nvSpPr>
          <p:cNvPr id="6" name="Rounded Rectangular Callout 5"/>
          <p:cNvSpPr/>
          <p:nvPr/>
        </p:nvSpPr>
        <p:spPr>
          <a:xfrm>
            <a:off x="2438400" y="4724400"/>
            <a:ext cx="1905000" cy="838200"/>
          </a:xfrm>
          <a:prstGeom prst="wedgeRoundRectCallout">
            <a:avLst>
              <a:gd name="adj1" fmla="val 65188"/>
              <a:gd name="adj2" fmla="val -98736"/>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prstClr val="black"/>
                </a:solidFill>
              </a:rPr>
              <a:t>TIGER does not follow public land.  Potential conflict </a:t>
            </a:r>
          </a:p>
        </p:txBody>
      </p:sp>
      <p:sp>
        <p:nvSpPr>
          <p:cNvPr id="7" name="Rounded Rectangular Callout 6"/>
          <p:cNvSpPr/>
          <p:nvPr/>
        </p:nvSpPr>
        <p:spPr>
          <a:xfrm>
            <a:off x="4876800" y="5334000"/>
            <a:ext cx="1828800" cy="1066800"/>
          </a:xfrm>
          <a:prstGeom prst="wedgeRoundRectCallout">
            <a:avLst>
              <a:gd name="adj1" fmla="val -39686"/>
              <a:gd name="adj2" fmla="val -130585"/>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prstClr val="black"/>
                </a:solidFill>
              </a:rPr>
              <a:t>TIGER inside a private parcel. Check to see if private road or driveway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p:cNvSpPr>
            <a:spLocks noGrp="1"/>
          </p:cNvSpPr>
          <p:nvPr>
            <p:ph type="title"/>
          </p:nvPr>
        </p:nvSpPr>
        <p:spPr/>
        <p:txBody>
          <a:bodyPr>
            <a:normAutofit/>
          </a:bodyPr>
          <a:lstStyle/>
          <a:p>
            <a:pPr eaLnBrk="1" hangingPunct="1"/>
            <a:r>
              <a:rPr lang="en-US" dirty="0" smtClean="0"/>
              <a:t> Questionable TIGER segments </a:t>
            </a:r>
          </a:p>
        </p:txBody>
      </p:sp>
      <p:pic>
        <p:nvPicPr>
          <p:cNvPr id="139267" name="Picture 2" descr="TIGER public.png"/>
          <p:cNvPicPr>
            <a:picLocks noChangeAspect="1"/>
          </p:cNvPicPr>
          <p:nvPr/>
        </p:nvPicPr>
        <p:blipFill>
          <a:blip r:embed="rId2" cstate="screen"/>
          <a:srcRect/>
          <a:stretch>
            <a:fillRect/>
          </a:stretch>
        </p:blipFill>
        <p:spPr bwMode="auto">
          <a:xfrm>
            <a:off x="1204913" y="1360488"/>
            <a:ext cx="6734175" cy="41370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304800" y="0"/>
            <a:ext cx="8229600" cy="1143000"/>
          </a:xfrm>
        </p:spPr>
        <p:txBody>
          <a:bodyPr rtlCol="0">
            <a:normAutofit/>
          </a:bodyPr>
          <a:lstStyle/>
          <a:p>
            <a:pPr fontAlgn="auto">
              <a:spcAft>
                <a:spcPts val="0"/>
              </a:spcAft>
              <a:defRPr/>
            </a:pPr>
            <a:r>
              <a:rPr lang="en-US" sz="3600" dirty="0" smtClean="0"/>
              <a:t>Boundary Comparison – Count</a:t>
            </a:r>
            <a:r>
              <a:rPr lang="en-US" dirty="0" smtClean="0"/>
              <a:t>y </a:t>
            </a:r>
          </a:p>
        </p:txBody>
      </p:sp>
      <p:grpSp>
        <p:nvGrpSpPr>
          <p:cNvPr id="2" name="Group 8"/>
          <p:cNvGrpSpPr>
            <a:grpSpLocks noChangeAspect="1"/>
          </p:cNvGrpSpPr>
          <p:nvPr/>
        </p:nvGrpSpPr>
        <p:grpSpPr bwMode="auto">
          <a:xfrm>
            <a:off x="304800" y="990600"/>
            <a:ext cx="3657600" cy="2813050"/>
            <a:chOff x="1600200" y="1676400"/>
            <a:chExt cx="1981200" cy="1524000"/>
          </a:xfrm>
        </p:grpSpPr>
        <p:pic>
          <p:nvPicPr>
            <p:cNvPr id="166929" name="Picture 5"/>
            <p:cNvPicPr>
              <a:picLocks noChangeAspect="1" noChangeArrowheads="1"/>
            </p:cNvPicPr>
            <p:nvPr/>
          </p:nvPicPr>
          <p:blipFill>
            <a:blip r:embed="rId3" cstate="screen"/>
            <a:srcRect/>
            <a:stretch>
              <a:fillRect/>
            </a:stretch>
          </p:blipFill>
          <p:spPr bwMode="auto">
            <a:xfrm>
              <a:off x="1600200" y="1676400"/>
              <a:ext cx="1981200" cy="1524000"/>
            </a:xfrm>
            <a:prstGeom prst="rect">
              <a:avLst/>
            </a:prstGeom>
            <a:noFill/>
            <a:ln w="9525">
              <a:noFill/>
              <a:miter lim="800000"/>
              <a:headEnd/>
              <a:tailEnd/>
            </a:ln>
          </p:spPr>
        </p:pic>
        <p:sp>
          <p:nvSpPr>
            <p:cNvPr id="166930" name="Rectangle 7"/>
            <p:cNvSpPr>
              <a:spLocks noChangeArrowheads="1"/>
            </p:cNvSpPr>
            <p:nvPr/>
          </p:nvSpPr>
          <p:spPr bwMode="auto">
            <a:xfrm>
              <a:off x="1726671" y="1932474"/>
              <a:ext cx="1651505" cy="1128396"/>
            </a:xfrm>
            <a:prstGeom prst="rect">
              <a:avLst/>
            </a:prstGeom>
            <a:noFill/>
            <a:ln w="25400">
              <a:solidFill>
                <a:srgbClr val="FFFF00"/>
              </a:solidFill>
              <a:miter lim="800000"/>
              <a:headEnd/>
              <a:tailEnd/>
            </a:ln>
          </p:spPr>
          <p:txBody>
            <a:bodyPr wrap="none" anchor="ctr"/>
            <a:lstStyle/>
            <a:p>
              <a:endParaRPr lang="en-US" dirty="0">
                <a:solidFill>
                  <a:prstClr val="black"/>
                </a:solidFill>
              </a:endParaRPr>
            </a:p>
          </p:txBody>
        </p:sp>
      </p:grpSp>
      <p:grpSp>
        <p:nvGrpSpPr>
          <p:cNvPr id="3" name="Group 5"/>
          <p:cNvGrpSpPr>
            <a:grpSpLocks noChangeAspect="1"/>
          </p:cNvGrpSpPr>
          <p:nvPr/>
        </p:nvGrpSpPr>
        <p:grpSpPr bwMode="auto">
          <a:xfrm>
            <a:off x="304800" y="4267200"/>
            <a:ext cx="3657600" cy="2209800"/>
            <a:chOff x="1518871" y="2895600"/>
            <a:chExt cx="5607172" cy="3505200"/>
          </a:xfrm>
        </p:grpSpPr>
        <p:pic>
          <p:nvPicPr>
            <p:cNvPr id="166927" name="Picture 5" descr="TIGER View Municpal"/>
            <p:cNvPicPr>
              <a:picLocks noChangeAspect="1" noChangeArrowheads="1"/>
            </p:cNvPicPr>
            <p:nvPr/>
          </p:nvPicPr>
          <p:blipFill>
            <a:blip r:embed="rId4" cstate="screen"/>
            <a:srcRect l="11539" t="3505" r="17308"/>
            <a:stretch>
              <a:fillRect/>
            </a:stretch>
          </p:blipFill>
          <p:spPr bwMode="auto">
            <a:xfrm>
              <a:off x="1518871" y="3016469"/>
              <a:ext cx="5607172" cy="3327117"/>
            </a:xfrm>
            <a:prstGeom prst="rect">
              <a:avLst/>
            </a:prstGeom>
            <a:noFill/>
            <a:ln w="9525">
              <a:noFill/>
              <a:miter lim="800000"/>
              <a:headEnd/>
              <a:tailEnd/>
            </a:ln>
          </p:spPr>
        </p:pic>
        <p:sp>
          <p:nvSpPr>
            <p:cNvPr id="8" name="Rectangle 7"/>
            <p:cNvSpPr/>
            <p:nvPr/>
          </p:nvSpPr>
          <p:spPr>
            <a:xfrm>
              <a:off x="2056712" y="2895600"/>
              <a:ext cx="4572862" cy="35052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prstClr val="white"/>
                </a:solidFill>
              </a:endParaRPr>
            </a:p>
          </p:txBody>
        </p:sp>
      </p:grpSp>
      <p:grpSp>
        <p:nvGrpSpPr>
          <p:cNvPr id="4" name="Group 9"/>
          <p:cNvGrpSpPr>
            <a:grpSpLocks noChangeAspect="1"/>
          </p:cNvGrpSpPr>
          <p:nvPr/>
        </p:nvGrpSpPr>
        <p:grpSpPr bwMode="auto">
          <a:xfrm>
            <a:off x="4381500" y="990600"/>
            <a:ext cx="4229100" cy="2420938"/>
            <a:chOff x="1066800" y="1371600"/>
            <a:chExt cx="7086600" cy="4191000"/>
          </a:xfrm>
        </p:grpSpPr>
        <p:pic>
          <p:nvPicPr>
            <p:cNvPr id="166925" name="Picture 5" descr="Core Logic view Muncipal"/>
            <p:cNvPicPr>
              <a:picLocks noChangeAspect="1" noChangeArrowheads="1"/>
            </p:cNvPicPr>
            <p:nvPr/>
          </p:nvPicPr>
          <p:blipFill>
            <a:blip r:embed="rId5" cstate="screen"/>
            <a:srcRect l="8102" r="16544"/>
            <a:stretch>
              <a:fillRect/>
            </a:stretch>
          </p:blipFill>
          <p:spPr bwMode="auto">
            <a:xfrm>
              <a:off x="1066800" y="1371600"/>
              <a:ext cx="7086600" cy="4114800"/>
            </a:xfrm>
            <a:prstGeom prst="rect">
              <a:avLst/>
            </a:prstGeom>
            <a:noFill/>
            <a:ln w="9525">
              <a:noFill/>
              <a:miter lim="800000"/>
              <a:headEnd/>
              <a:tailEnd/>
            </a:ln>
          </p:spPr>
        </p:pic>
        <p:sp>
          <p:nvSpPr>
            <p:cNvPr id="12" name="Rectangle 11"/>
            <p:cNvSpPr/>
            <p:nvPr/>
          </p:nvSpPr>
          <p:spPr>
            <a:xfrm>
              <a:off x="1601488" y="1371600"/>
              <a:ext cx="5791113" cy="419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prstClr val="white"/>
                </a:solidFill>
              </a:endParaRPr>
            </a:p>
          </p:txBody>
        </p:sp>
      </p:grpSp>
      <p:grpSp>
        <p:nvGrpSpPr>
          <p:cNvPr id="5" name="Group 14"/>
          <p:cNvGrpSpPr>
            <a:grpSpLocks/>
          </p:cNvGrpSpPr>
          <p:nvPr/>
        </p:nvGrpSpPr>
        <p:grpSpPr bwMode="auto">
          <a:xfrm>
            <a:off x="4343400" y="3810000"/>
            <a:ext cx="4038600" cy="2819400"/>
            <a:chOff x="5867400" y="3886200"/>
            <a:chExt cx="2976665" cy="2057400"/>
          </a:xfrm>
        </p:grpSpPr>
        <p:pic>
          <p:nvPicPr>
            <p:cNvPr id="166923" name="Picture 6" descr="municipal2"/>
            <p:cNvPicPr>
              <a:picLocks noChangeAspect="1" noChangeArrowheads="1"/>
            </p:cNvPicPr>
            <p:nvPr/>
          </p:nvPicPr>
          <p:blipFill>
            <a:blip r:embed="rId6" cstate="screen"/>
            <a:srcRect l="23402" t="-4652" r="7407" b="-4651"/>
            <a:stretch>
              <a:fillRect/>
            </a:stretch>
          </p:blipFill>
          <p:spPr bwMode="auto">
            <a:xfrm>
              <a:off x="5867400" y="3886200"/>
              <a:ext cx="2976665" cy="2057400"/>
            </a:xfrm>
            <a:prstGeom prst="rect">
              <a:avLst/>
            </a:prstGeom>
            <a:noFill/>
            <a:ln w="9525">
              <a:noFill/>
              <a:miter lim="800000"/>
              <a:headEnd/>
              <a:tailEnd/>
            </a:ln>
          </p:spPr>
        </p:pic>
        <p:sp>
          <p:nvSpPr>
            <p:cNvPr id="14" name="Rectangle 13"/>
            <p:cNvSpPr/>
            <p:nvPr/>
          </p:nvSpPr>
          <p:spPr>
            <a:xfrm>
              <a:off x="6248844" y="3962657"/>
              <a:ext cx="2438432" cy="19044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prstClr val="white"/>
                </a:solidFill>
              </a:endParaRPr>
            </a:p>
          </p:txBody>
        </p:sp>
      </p:grpSp>
      <p:sp>
        <p:nvSpPr>
          <p:cNvPr id="166919" name="TextBox 15"/>
          <p:cNvSpPr txBox="1">
            <a:spLocks noChangeArrowheads="1"/>
          </p:cNvSpPr>
          <p:nvPr/>
        </p:nvSpPr>
        <p:spPr bwMode="auto">
          <a:xfrm>
            <a:off x="1447800" y="3810000"/>
            <a:ext cx="1616075" cy="369888"/>
          </a:xfrm>
          <a:prstGeom prst="rect">
            <a:avLst/>
          </a:prstGeom>
          <a:noFill/>
          <a:ln w="9525">
            <a:noFill/>
            <a:miter lim="800000"/>
            <a:headEnd/>
            <a:tailEnd/>
          </a:ln>
        </p:spPr>
        <p:txBody>
          <a:bodyPr wrap="none">
            <a:spAutoFit/>
          </a:bodyPr>
          <a:lstStyle/>
          <a:p>
            <a:r>
              <a:rPr lang="en-US" dirty="0">
                <a:solidFill>
                  <a:prstClr val="black"/>
                </a:solidFill>
              </a:rPr>
              <a:t>County Official </a:t>
            </a:r>
          </a:p>
        </p:txBody>
      </p:sp>
      <p:sp>
        <p:nvSpPr>
          <p:cNvPr id="166920" name="TextBox 16"/>
          <p:cNvSpPr txBox="1">
            <a:spLocks noChangeArrowheads="1"/>
          </p:cNvSpPr>
          <p:nvPr/>
        </p:nvSpPr>
        <p:spPr bwMode="auto">
          <a:xfrm>
            <a:off x="1600200" y="6488113"/>
            <a:ext cx="900113" cy="369887"/>
          </a:xfrm>
          <a:prstGeom prst="rect">
            <a:avLst/>
          </a:prstGeom>
          <a:noFill/>
          <a:ln w="9525">
            <a:noFill/>
            <a:miter lim="800000"/>
            <a:headEnd/>
            <a:tailEnd/>
          </a:ln>
        </p:spPr>
        <p:txBody>
          <a:bodyPr wrap="none">
            <a:spAutoFit/>
          </a:bodyPr>
          <a:lstStyle/>
          <a:p>
            <a:r>
              <a:rPr lang="en-US" dirty="0">
                <a:solidFill>
                  <a:prstClr val="black"/>
                </a:solidFill>
              </a:rPr>
              <a:t>Census </a:t>
            </a:r>
          </a:p>
        </p:txBody>
      </p:sp>
      <p:sp>
        <p:nvSpPr>
          <p:cNvPr id="166921" name="TextBox 17"/>
          <p:cNvSpPr txBox="1">
            <a:spLocks noChangeArrowheads="1"/>
          </p:cNvSpPr>
          <p:nvPr/>
        </p:nvSpPr>
        <p:spPr bwMode="auto">
          <a:xfrm>
            <a:off x="5486400" y="3505200"/>
            <a:ext cx="1651093" cy="369332"/>
          </a:xfrm>
          <a:prstGeom prst="rect">
            <a:avLst/>
          </a:prstGeom>
          <a:noFill/>
          <a:ln w="9525">
            <a:noFill/>
            <a:miter lim="800000"/>
            <a:headEnd/>
            <a:tailEnd/>
          </a:ln>
        </p:spPr>
        <p:txBody>
          <a:bodyPr wrap="none">
            <a:spAutoFit/>
          </a:bodyPr>
          <a:lstStyle/>
          <a:p>
            <a:r>
              <a:rPr lang="en-US" dirty="0">
                <a:solidFill>
                  <a:prstClr val="black"/>
                </a:solidFill>
              </a:rPr>
              <a:t>Private Parcels </a:t>
            </a:r>
          </a:p>
        </p:txBody>
      </p:sp>
      <p:sp>
        <p:nvSpPr>
          <p:cNvPr id="166922" name="TextBox 18"/>
          <p:cNvSpPr txBox="1">
            <a:spLocks noChangeArrowheads="1"/>
          </p:cNvSpPr>
          <p:nvPr/>
        </p:nvSpPr>
        <p:spPr bwMode="auto">
          <a:xfrm>
            <a:off x="4572000" y="6488668"/>
            <a:ext cx="3969228" cy="369332"/>
          </a:xfrm>
          <a:prstGeom prst="rect">
            <a:avLst/>
          </a:prstGeom>
          <a:noFill/>
          <a:ln w="9525">
            <a:noFill/>
            <a:miter lim="800000"/>
            <a:headEnd/>
            <a:tailEnd/>
          </a:ln>
        </p:spPr>
        <p:txBody>
          <a:bodyPr wrap="none">
            <a:spAutoFit/>
          </a:bodyPr>
          <a:lstStyle/>
          <a:p>
            <a:r>
              <a:rPr lang="en-US" dirty="0">
                <a:solidFill>
                  <a:prstClr val="black"/>
                </a:solidFill>
              </a:rPr>
              <a:t>Census with </a:t>
            </a:r>
            <a:r>
              <a:rPr lang="en-US" dirty="0" smtClean="0">
                <a:solidFill>
                  <a:prstClr val="black"/>
                </a:solidFill>
              </a:rPr>
              <a:t>Parcels Note misalignment  </a:t>
            </a:r>
            <a:endParaRPr lang="en-US" dirty="0">
              <a:solidFill>
                <a:prstClr val="black"/>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TotalTime>
  <Words>658</Words>
  <Application>Microsoft Office PowerPoint</Application>
  <PresentationFormat>On-screen Show (4:3)</PresentationFormat>
  <Paragraphs>76</Paragraphs>
  <Slides>23</Slides>
  <Notes>4</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Introduction: “Cowen’s List of Interesting Stuff”</vt:lpstr>
      <vt:lpstr>1. National Academy of Public Administration (NAPA) forum on Place Based Initiatives May 20 – Included NGAC members Mark and Jerry  http://www.napawash.org/initiative-on-place-based-public-management/</vt:lpstr>
      <vt:lpstr>2. Congressional Research Service  Highlights NGAC in three new reports </vt:lpstr>
      <vt:lpstr>Changing Landscape</vt:lpstr>
      <vt:lpstr>NGAC Recommendations to the Obama Administration </vt:lpstr>
      <vt:lpstr>3. New York Times Releases  Cool Census Application  </vt:lpstr>
      <vt:lpstr>4. Esri Releases Change Matters  http://www.esri.com/landsat-imagery/index.html Richland County SC Example </vt:lpstr>
      <vt:lpstr>DOI Deputy Sectary David Hayes </vt:lpstr>
      <vt:lpstr>5. Google Releases Map Maker For USA –  Crowd Sourcing is here </vt:lpstr>
      <vt:lpstr>6. Esri Releases Redistricting App as a Cloud Based Software as a Service  http://www.esri.com/software/redistricting/index.html</vt:lpstr>
      <vt:lpstr>7. NSGIC Publishes Address Point  Position Paper </vt:lpstr>
      <vt:lpstr>8. Transportation For The Nation Strategic Plan Released  </vt:lpstr>
      <vt:lpstr>GEoEye / NGA NextView  IMAGERY END USER LICENSE AGREEMENT </vt:lpstr>
      <vt:lpstr>10 FGDC Steering Committee  Yesterday  </vt:lpstr>
      <vt:lpstr>Focus of our meeting  Parcels, Address Points and Roads </vt:lpstr>
      <vt:lpstr> Parcel Centroids with situs Addresses are geometrically assigned as navigation points on centerlines </vt:lpstr>
      <vt:lpstr>Parcels with Imagery </vt:lpstr>
      <vt:lpstr>Dissolved Parcels = Blocks  </vt:lpstr>
      <vt:lpstr>Non Parcels (Public) with Image </vt:lpstr>
      <vt:lpstr>Generalized (Douglas / Peucker) Vectors of thinned grids  With TIGER (Yellow) </vt:lpstr>
      <vt:lpstr>TIGER Segments not in agreement with public roads  </vt:lpstr>
      <vt:lpstr> Questionable TIGER segments </vt:lpstr>
      <vt:lpstr>Boundary Comparison – County </vt:lpstr>
    </vt:vector>
  </TitlesOfParts>
  <Company>The University of South Carolina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Cowen’s List of Interesting Stuff</dc:title>
  <dc:creator>Dave</dc:creator>
  <cp:lastModifiedBy>USGS</cp:lastModifiedBy>
  <cp:revision>9</cp:revision>
  <dcterms:created xsi:type="dcterms:W3CDTF">2011-06-07T13:09:47Z</dcterms:created>
  <dcterms:modified xsi:type="dcterms:W3CDTF">2011-06-23T19:08:03Z</dcterms:modified>
</cp:coreProperties>
</file>