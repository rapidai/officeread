
<file path=[Content_Types].xml><?xml version="1.0" encoding="utf-8"?>
<Types xmlns="http://schemas.openxmlformats.org/package/2006/content-types">
  <Override PartName="/ppt/notesSlides/notesSlide4.xml" ContentType="application/vnd.openxmlformats-officedocument.presentationml.notesSlide+xml"/>
  <Override PartName="/ppt/slides/slide9.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notesSlides/notesSlide9.xml" ContentType="application/vnd.openxmlformats-officedocument.presentationml.notesSlide+xml"/>
  <Override PartName="/ppt/slides/slide5.xml" ContentType="application/vnd.openxmlformats-officedocument.presentationml.slide+xml"/>
  <Override PartName="/ppt/slideLayouts/slideLayout11.xml" ContentType="application/vnd.openxmlformats-officedocument.presentationml.slideLayout+xml"/>
  <Default Extension="rels" ContentType="application/vnd.openxmlformats-package.relationships+xml"/>
  <Default Extension="jpeg" ContentType="image/jpeg"/>
  <Override PartName="/ppt/slides/slide10.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5.xml" ContentType="application/vnd.openxmlformats-officedocument.presentationml.slideLayout+xml"/>
  <Override PartName="/ppt/notesSlides/notesSlide12.xml" ContentType="application/vnd.openxmlformats-officedocument.presentationml.notesSlide+xml"/>
  <Override PartName="/docProps/app.xml" ContentType="application/vnd.openxmlformats-officedocument.extended-properties+xml"/>
  <Override PartName="/ppt/theme/theme2.xml" ContentType="application/vnd.openxmlformats-officedocument.theme+xml"/>
  <Override PartName="/ppt/slideLayouts/slideLayout1.xml" ContentType="application/vnd.openxmlformats-officedocument.presentationml.slideLayout+xml"/>
  <Default Extension="xml" ContentType="application/xml"/>
  <Override PartName="/ppt/notesSlides/notesSlide5.xml" ContentType="application/vnd.openxmlformats-officedocument.presentationml.notesSlide+xml"/>
  <Override PartName="/ppt/tableStyles.xml" ContentType="application/vnd.openxmlformats-officedocument.presentationml.tableStyles+xml"/>
  <Override PartName="/ppt/notesSlides/notesSlide1.xml" ContentType="application/vnd.openxmlformats-officedocument.presentationml.notesSlide+xml"/>
  <Override PartName="/ppt/slideLayouts/slideLayout12.xml" ContentType="application/vnd.openxmlformats-officedocument.presentationml.slideLayout+xml"/>
  <Override PartName="/ppt/slides/slide6.xml" ContentType="application/vnd.openxmlformats-officedocument.presentationml.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notesSlides/notesSlide13.xml" ContentType="application/vnd.openxmlformats-officedocument.presentationml.notesSlide+xml"/>
  <Override PartName="/ppt/slides/slide2.xml" ContentType="application/vnd.openxmlformats-officedocument.presentationml.slide+xml"/>
  <Default Extension="png" ContentType="image/png"/>
  <Override PartName="/ppt/slideLayouts/slideLayout2.xml" ContentType="application/vnd.openxmlformats-officedocument.presentationml.slideLayout+xml"/>
  <Override PartName="/ppt/notesSlides/notesSlide6.xml" ContentType="application/vnd.openxmlformats-officedocument.presentationml.notesSlide+xml"/>
  <Override PartName="/ppt/notesSlides/notesSlide2.xml" ContentType="application/vnd.openxmlformats-officedocument.presentationml.notesSlide+xml"/>
  <Override PartName="/ppt/slides/slide7.xml" ContentType="application/vnd.openxmlformats-officedocument.presentationml.slide+xml"/>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Override PartName="/ppt/notesSlides/notesSlide14.xml" ContentType="application/vnd.openxmlformats-officedocument.presentationml.notesSlide+xml"/>
  <Override PartName="/ppt/slides/slide3.xml" ContentType="application/vnd.openxmlformats-officedocument.presentationml.slide+xml"/>
  <Override PartName="/ppt/slideLayouts/slideLayout3.xml" ContentType="application/vnd.openxmlformats-officedocument.presentationml.slideLayout+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slides/slide8.xml" ContentType="application/vnd.openxmlformats-officedocument.presentationml.slide+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notesSlides/notesSlide8.xml" ContentType="application/vnd.openxmlformats-officedocument.presentationml.notesSlide+xml"/>
  <Override PartName="/ppt/slideLayouts/slideLayout10.xml" ContentType="application/vnd.openxmlformats-officedocument.presentationml.slideLayout+xml"/>
  <Override PartName="/ppt/slides/slide4.xml" ContentType="application/vnd.openxmlformats-officedocument.presentationml.slide+xml"/>
  <Override PartName="/ppt/notesSlides/notesSlide11.xml" ContentType="application/vnd.openxmlformats-officedocument.presentationml.notesSlide+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81" r:id="rId1"/>
  </p:sldMasterIdLst>
  <p:notesMasterIdLst>
    <p:notesMasterId r:id="rId16"/>
  </p:notesMasterIdLst>
  <p:sldIdLst>
    <p:sldId id="256" r:id="rId2"/>
    <p:sldId id="257" r:id="rId3"/>
    <p:sldId id="258" r:id="rId4"/>
    <p:sldId id="259" r:id="rId5"/>
    <p:sldId id="260" r:id="rId6"/>
    <p:sldId id="261" r:id="rId7"/>
    <p:sldId id="262" r:id="rId8"/>
    <p:sldId id="266" r:id="rId9"/>
    <p:sldId id="267" r:id="rId10"/>
    <p:sldId id="270" r:id="rId11"/>
    <p:sldId id="268" r:id="rId12"/>
    <p:sldId id="269" r:id="rId13"/>
    <p:sldId id="264" r:id="rId14"/>
    <p:sldId id="265"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rnWhat="notes" clrMode="gray"/>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Grid="0" snapToObjects="1">
      <p:cViewPr varScale="1">
        <p:scale>
          <a:sx n="154" d="100"/>
          <a:sy n="154" d="100"/>
        </p:scale>
        <p:origin x="-1144" y="-104"/>
      </p:cViewPr>
      <p:guideLst>
        <p:guide orient="horz" pos="2160"/>
        <p:guide pos="2880"/>
      </p:guideLst>
    </p:cSldViewPr>
  </p:slideViewPr>
  <p:notesTextViewPr>
    <p:cViewPr>
      <p:scale>
        <a:sx n="100" d="100"/>
        <a:sy n="100" d="100"/>
      </p:scale>
      <p:origin x="0" y="0"/>
    </p:cViewPr>
  </p:notesTextViewPr>
  <p:notesViewPr>
    <p:cSldViewPr snapToGrid="0" snapToObjects="1">
      <p:cViewPr>
        <p:scale>
          <a:sx n="150" d="100"/>
          <a:sy n="150" d="100"/>
        </p:scale>
        <p:origin x="-3416" y="88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heme" Target="theme/theme1.xml"/><Relationship Id="rId2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interSettings" Target="printerSettings/printerSettings1.bin"/><Relationship Id="rId18" Type="http://schemas.openxmlformats.org/officeDocument/2006/relationships/presProps" Target="presProps.xml"/><Relationship Id="rId19"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4975F1-80FF-D944-B997-E8A82F5EB5FF}" type="datetimeFigureOut">
              <a:rPr lang="en-US" smtClean="0"/>
              <a:pPr/>
              <a:t>12/18/12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1525C78-64C8-384D-A44E-B88584B0D65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1525C78-64C8-384D-A44E-B88584B0D65F}"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1525C78-64C8-384D-A44E-B88584B0D65F}"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1525C78-64C8-384D-A44E-B88584B0D65F}"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Select Payroll Encumbrance System.</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Run the Encumbrance Processing Setup program to calculate and encumber salaries and fixed costs.</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Add or change a Processing ID.</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Enter a description. </a:t>
            </a:r>
          </a:p>
          <a:p>
            <a:r>
              <a:rPr lang="en-US" dirty="0" smtClean="0"/>
              <a:t>Enter a 9 for Payroll Run Type for a </a:t>
            </a:r>
            <a:r>
              <a:rPr lang="en-US" dirty="0" err="1" smtClean="0"/>
              <a:t>proforma</a:t>
            </a:r>
            <a:r>
              <a:rPr lang="en-US" dirty="0" smtClean="0"/>
              <a:t> or report only.  Enter a 1 for Actual or to post encumbrances.  </a:t>
            </a:r>
          </a:p>
          <a:p>
            <a:r>
              <a:rPr lang="en-US" dirty="0" smtClean="0"/>
              <a:t>Leave today’s today or enter a posting date for the encumbrances.  The Period End Date will determine what assignments will get processed based on whether or not the assignment is active for that date.</a:t>
            </a:r>
          </a:p>
          <a:p>
            <a:r>
              <a:rPr lang="en-US" dirty="0" smtClean="0"/>
              <a:t>Enter the number of remaining PEIA deductions you have left.  If you leave at zero, the system will use the remaining number of checks for an employee to calculate the PEIA costs.</a:t>
            </a:r>
          </a:p>
          <a:p>
            <a:r>
              <a:rPr lang="en-US" dirty="0" smtClean="0"/>
              <a:t>If you use Additional Assignment Addenda and you want the system to calculate and post an encumbrance for those, enter “Y”.</a:t>
            </a:r>
          </a:p>
          <a:p>
            <a:endParaRPr lang="en-US" dirty="0"/>
          </a:p>
          <a:p>
            <a:r>
              <a:rPr lang="en-US" dirty="0" smtClean="0"/>
              <a:t> The encumbrances are calculated based on remaining salaries and fixed costs.  The Employee Encumbrance Balance is updated as well as the General Ledger.</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Posting in detail will list Employee names and amounts in the General Ledger.</a:t>
            </a:r>
          </a:p>
          <a:p>
            <a:r>
              <a:rPr lang="en-US" dirty="0" smtClean="0"/>
              <a:t>You can select what groups of deductions are to be calculated or leave blank for all.</a:t>
            </a:r>
          </a:p>
          <a:p>
            <a:r>
              <a:rPr lang="en-US" dirty="0" smtClean="0"/>
              <a:t>Include or Exclude job codes, if you wish.  Only contracted job codes will be included.</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Enter the printer you want the reports to go to</a:t>
            </a:r>
            <a:r>
              <a:rPr lang="en-US" dirty="0" smtClean="0"/>
              <a:t>. When you hit enter, you will be back to</a:t>
            </a:r>
            <a:r>
              <a:rPr lang="en-US" baseline="0" dirty="0" smtClean="0"/>
              <a:t> the Processing ID menu</a:t>
            </a:r>
            <a:endParaRPr lang="en-US" dirty="0" smtClean="0"/>
          </a:p>
          <a:p>
            <a:r>
              <a:rPr lang="en-US" dirty="0" smtClean="0"/>
              <a:t>A couple of notes…Be sure the keyword ENCUMBRANCE_EMS</a:t>
            </a:r>
            <a:r>
              <a:rPr lang="en-US" baseline="0" dirty="0" smtClean="0"/>
              <a:t> is defined in FMS, under Define Account Code Keywords, Chart of Accounts Maintenance, General Ledger System.  Make sure your Processing </a:t>
            </a:r>
            <a:r>
              <a:rPr lang="en-US" baseline="0" dirty="0" err="1" smtClean="0"/>
              <a:t>ID’s</a:t>
            </a:r>
            <a:r>
              <a:rPr lang="en-US" baseline="0" dirty="0" smtClean="0"/>
              <a:t> have Encumbrance Active as “Y” and if you want the disencumbering reports to print when running a payroll, make sure those are set to print.  They can always be re-created, if needed.</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  Enter a P to process.  If running a </a:t>
            </a:r>
            <a:r>
              <a:rPr lang="en-US" baseline="0" dirty="0" err="1" smtClean="0"/>
              <a:t>proforma</a:t>
            </a:r>
            <a:r>
              <a:rPr lang="en-US" baseline="0" dirty="0" smtClean="0"/>
              <a:t>, you will only get reports.  If running an actual, you will get reports and the balances will </a:t>
            </a:r>
            <a:r>
              <a:rPr lang="en-US" baseline="0" smtClean="0"/>
              <a:t>be updated.</a:t>
            </a:r>
            <a:endParaRPr lang="en-US" smtClean="0"/>
          </a:p>
          <a:p>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Sample Encumbrance</a:t>
            </a:r>
            <a:r>
              <a:rPr lang="en-US" baseline="0" dirty="0" smtClean="0"/>
              <a:t> Balance.</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General</a:t>
            </a:r>
            <a:r>
              <a:rPr lang="en-US" baseline="0" dirty="0" smtClean="0"/>
              <a:t> Ledger Payroll Encumbrances posted </a:t>
            </a:r>
            <a:r>
              <a:rPr lang="en-US" baseline="0" smtClean="0"/>
              <a:t>in detail.</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Option 5 will disencumber all remaining encumbrance balances.  Option 4 will print a summarized report of the </a:t>
            </a:r>
            <a:r>
              <a:rPr lang="en-US" dirty="0" err="1" smtClean="0"/>
              <a:t>disencumbrances</a:t>
            </a:r>
            <a:r>
              <a:rPr lang="en-US" dirty="0" smtClean="0"/>
              <a:t>.</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Enter a date you want the JE to post and a description.  This program will create an EJE to disencumber what is remaining in the General Ledger.  The Employee Encumbrance Balances are also cleared.</a:t>
            </a:r>
          </a:p>
          <a:p>
            <a:endParaRPr lang="en-US" dirty="0" smtClean="0"/>
          </a:p>
          <a:p>
            <a:r>
              <a:rPr lang="en-US" dirty="0" smtClean="0"/>
              <a:t>Leave “Y” for Report Only if only wanting to see a report with the remaining balances.  Enter a “N” to post and disencumber.</a:t>
            </a:r>
            <a:endParaRPr lang="en-US" dirty="0"/>
          </a:p>
        </p:txBody>
      </p:sp>
      <p:sp>
        <p:nvSpPr>
          <p:cNvPr id="4" name="Slide Number Placeholder 3"/>
          <p:cNvSpPr>
            <a:spLocks noGrp="1"/>
          </p:cNvSpPr>
          <p:nvPr>
            <p:ph type="sldNum" sz="quarter" idx="10"/>
          </p:nvPr>
        </p:nvSpPr>
        <p:spPr/>
        <p:txBody>
          <a:bodyPr/>
          <a:lstStyle/>
          <a:p>
            <a:fld id="{A1525C78-64C8-384D-A44E-B88584B0D65F}"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marL="0" indent="0" algn="l" defTabSz="914400" rtl="0" eaLnBrk="1" latinLnBrk="0" hangingPunct="1">
              <a:spcBef>
                <a:spcPts val="2000"/>
              </a:spcBef>
              <a:buClr>
                <a:schemeClr val="accent1">
                  <a:lumMod val="60000"/>
                  <a:lumOff val="40000"/>
                </a:schemeClr>
              </a:buClr>
              <a:buSzPct val="110000"/>
              <a:buFont typeface="Wingdings 2" pitchFamily="18" charset="2"/>
              <a:buNone/>
            </a:pPr>
            <a:endParaRPr sz="3200" kern="1200">
              <a:solidFill>
                <a:schemeClr val="tx1">
                  <a:lumMod val="65000"/>
                  <a:lumOff val="35000"/>
                </a:schemeClr>
              </a:solidFill>
              <a:latin typeface="+mn-l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p:txBody>
          <a:bodyPr/>
          <a:lstStyle/>
          <a:p>
            <a:fld id="{4E381F1F-523A-244A-AA28-EE5B3D86BC35}" type="datetimeFigureOut">
              <a:rPr lang="en-US" smtClean="0"/>
              <a:pPr/>
              <a:t>12/18/12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DF85F5-FB5E-4F79-A561-97039C58DE01}"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E381F1F-523A-244A-AA28-EE5B3D86BC35}" type="datetimeFigureOut">
              <a:rPr lang="en-US" smtClean="0"/>
              <a:pPr/>
              <a:t>12/18/12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E1DB8-500B-3147-A393-1CB45894E95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US" smtClean="0"/>
              <a:t>Click to edit Master title style</a:t>
            </a:r>
            <a:endParaRPr/>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p:txBody>
          <a:bodyPr/>
          <a:lstStyle/>
          <a:p>
            <a:fld id="{4E381F1F-523A-244A-AA28-EE5B3D86BC35}" type="datetimeFigureOut">
              <a:rPr lang="en-US" smtClean="0"/>
              <a:pPr/>
              <a:t>12/18/12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E1DB8-500B-3147-A393-1CB45894E95E}" type="slidenum">
              <a:rPr lang="en-US" smtClean="0"/>
              <a:pPr/>
              <a:t>‹#›</a:t>
            </a:fld>
            <a:endParaRPr lang="en-US"/>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E381F1F-523A-244A-AA28-EE5B3D86BC35}" type="datetimeFigureOut">
              <a:rPr lang="en-US" smtClean="0"/>
              <a:pPr/>
              <a:t>12/18/12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E1DB8-500B-3147-A393-1CB45894E95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US" smtClean="0"/>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4E381F1F-523A-244A-AA28-EE5B3D86BC35}" type="datetimeFigureOut">
              <a:rPr lang="en-US" smtClean="0"/>
              <a:pPr/>
              <a:t>12/18/12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7E1DB8-500B-3147-A393-1CB45894E95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4E381F1F-523A-244A-AA28-EE5B3D86BC35}" type="datetimeFigureOut">
              <a:rPr lang="en-US" smtClean="0"/>
              <a:pPr/>
              <a:t>12/18/12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7E1DB8-500B-3147-A393-1CB45894E95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4E381F1F-523A-244A-AA28-EE5B3D86BC35}" type="datetimeFigureOut">
              <a:rPr lang="en-US" smtClean="0"/>
              <a:pPr/>
              <a:t>12/18/12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7E1DB8-500B-3147-A393-1CB45894E95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381F1F-523A-244A-AA28-EE5B3D86BC35}" type="datetimeFigureOut">
              <a:rPr lang="en-US" smtClean="0"/>
              <a:pPr/>
              <a:t>12/18/12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7E1DB8-500B-3147-A393-1CB45894E95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US" smtClean="0"/>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381F1F-523A-244A-AA28-EE5B3D86BC35}" type="datetimeFigureOut">
              <a:rPr lang="en-US" smtClean="0"/>
              <a:pPr/>
              <a:t>12/18/12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A4845-A08A-4DF4-8D99-E2E7B6D41C67}" type="slidenum">
              <a:rPr/>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US" smtClean="0"/>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381F1F-523A-244A-AA28-EE5B3D86BC35}" type="datetimeFigureOut">
              <a:rPr lang="en-US" smtClean="0"/>
              <a:pPr/>
              <a:t>12/18/12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7E1DB8-500B-3147-A393-1CB45894E95E}" type="slidenum">
              <a:rPr lang="en-US" smtClean="0"/>
              <a:pPr/>
              <a:t>‹#›</a:t>
            </a:fld>
            <a:endParaRPr lang="en-US"/>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E381F1F-523A-244A-AA28-EE5B3D86BC35}" type="datetimeFigureOut">
              <a:rPr lang="en-US" smtClean="0"/>
              <a:pPr/>
              <a:t>12/18/12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E1DB8-500B-3147-A393-1CB45894E95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4E381F1F-523A-244A-AA28-EE5B3D86BC35}" type="datetimeFigureOut">
              <a:rPr lang="en-US" smtClean="0"/>
              <a:pPr/>
              <a:t>12/18/12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7E1DB8-500B-3147-A393-1CB45894E95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US" smtClean="0"/>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fld id="{4E381F1F-523A-244A-AA28-EE5B3D86BC35}" type="datetimeFigureOut">
              <a:rPr lang="en-US" smtClean="0"/>
              <a:pPr/>
              <a:t>12/18/12</a:t>
            </a:fld>
            <a:endParaRPr lang="en-US"/>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endParaRPr lang="en-US"/>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fld id="{047E1DB8-500B-3147-A393-1CB45894E95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Lst>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Encumbering Payroll</a:t>
            </a:r>
            <a:endParaRPr lang="en-US" dirty="0"/>
          </a:p>
        </p:txBody>
      </p:sp>
      <p:sp>
        <p:nvSpPr>
          <p:cNvPr id="3" name="Subtitle 2"/>
          <p:cNvSpPr>
            <a:spLocks noGrp="1"/>
          </p:cNvSpPr>
          <p:nvPr>
            <p:ph type="subTitle" idx="1"/>
          </p:nvPr>
        </p:nvSpPr>
        <p:spPr/>
        <p:txBody>
          <a:bodyPr/>
          <a:lstStyle/>
          <a:p>
            <a:r>
              <a:rPr lang="en-US" dirty="0" smtClean="0"/>
              <a:t>Winter Conference</a:t>
            </a:r>
          </a:p>
          <a:p>
            <a:r>
              <a:rPr lang="en-US" dirty="0" smtClean="0"/>
              <a:t>2012</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Encumber?</a:t>
            </a:r>
            <a:endParaRPr lang="en-US" dirty="0"/>
          </a:p>
        </p:txBody>
      </p:sp>
      <p:sp>
        <p:nvSpPr>
          <p:cNvPr id="3" name="Content Placeholder 2"/>
          <p:cNvSpPr>
            <a:spLocks noGrp="1"/>
          </p:cNvSpPr>
          <p:nvPr>
            <p:ph idx="1"/>
          </p:nvPr>
        </p:nvSpPr>
        <p:spPr/>
        <p:txBody>
          <a:bodyPr>
            <a:normAutofit lnSpcReduction="10000"/>
          </a:bodyPr>
          <a:lstStyle/>
          <a:p>
            <a:r>
              <a:rPr lang="en-US" dirty="0" smtClean="0"/>
              <a:t>Helps project salaries and fixed costs based on live data when you encumber.</a:t>
            </a:r>
          </a:p>
          <a:p>
            <a:r>
              <a:rPr lang="en-US" dirty="0" smtClean="0"/>
              <a:t>Reports and account balance lookups will reflect a true balance after payroll expenses and projected payroll expenses are subtracted.</a:t>
            </a:r>
          </a:p>
          <a:p>
            <a:r>
              <a:rPr lang="en-US" dirty="0" smtClean="0"/>
              <a:t>If you post in detail, you will see each person listed in the Account Balance and Transaction Detail Lookup.</a:t>
            </a:r>
          </a:p>
          <a:p>
            <a:r>
              <a:rPr lang="en-US" dirty="0" smtClean="0"/>
              <a:t>State will be requiring for some counties this year and probably all next year.</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the process work?</a:t>
            </a:r>
            <a:endParaRPr lang="en-US" dirty="0"/>
          </a:p>
        </p:txBody>
      </p:sp>
      <p:sp>
        <p:nvSpPr>
          <p:cNvPr id="3" name="Content Placeholder 2"/>
          <p:cNvSpPr>
            <a:spLocks noGrp="1"/>
          </p:cNvSpPr>
          <p:nvPr>
            <p:ph idx="1"/>
          </p:nvPr>
        </p:nvSpPr>
        <p:spPr>
          <a:xfrm>
            <a:off x="549275" y="1600201"/>
            <a:ext cx="8042276" cy="4833664"/>
          </a:xfrm>
        </p:spPr>
        <p:txBody>
          <a:bodyPr>
            <a:normAutofit fontScale="77500" lnSpcReduction="20000"/>
          </a:bodyPr>
          <a:lstStyle/>
          <a:p>
            <a:r>
              <a:rPr lang="en-US" dirty="0" smtClean="0"/>
              <a:t>Run a program that will project remaining salaries and fixed costs.</a:t>
            </a:r>
          </a:p>
          <a:p>
            <a:r>
              <a:rPr lang="en-US" dirty="0" smtClean="0"/>
              <a:t>Review the reports.  When satisfied, post the encumbrances.  </a:t>
            </a:r>
          </a:p>
          <a:p>
            <a:r>
              <a:rPr lang="en-US" dirty="0" smtClean="0"/>
              <a:t>As you run payrolls, the system will disencumber based on the expenses.</a:t>
            </a:r>
          </a:p>
          <a:p>
            <a:r>
              <a:rPr lang="en-US" dirty="0" smtClean="0"/>
              <a:t>At year end, you will run a program that will clear any remaining balances.</a:t>
            </a:r>
          </a:p>
          <a:p>
            <a:r>
              <a:rPr lang="en-US" dirty="0" smtClean="0"/>
              <a:t>Balances can be viewed in the Employee Encumbrance Balance program, in the Beginning Account Balance and Transaction Detail Lookup program and also on financial reports.</a:t>
            </a:r>
          </a:p>
          <a:p>
            <a:r>
              <a:rPr lang="en-US" dirty="0" smtClean="0"/>
              <a:t>Changes to assignments or deduction amounts will not change the encumbrance balance.  Manual changes can be done in the Employee Encumbrance Balance program or you can clear your encumbrance balances and re</a:t>
            </a:r>
            <a:r>
              <a:rPr lang="en-US" smtClean="0"/>
              <a:t>-encumber.</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1-16 at 8.33.52 AM.png"/>
          <p:cNvPicPr>
            <a:picLocks noGrp="1" noChangeAspect="1"/>
          </p:cNvPicPr>
          <p:nvPr>
            <p:ph idx="1"/>
          </p:nvPr>
        </p:nvPicPr>
        <p:blipFill>
          <a:blip r:embed="rId3"/>
          <a:srcRect t="-9056" b="-9056"/>
          <a:stretch>
            <a:fillRect/>
          </a:stretch>
        </p:blipFill>
        <p:spPr>
          <a:xfrm>
            <a:off x="0" y="-667490"/>
            <a:ext cx="9144000" cy="8065508"/>
          </a:xfr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1-16 at 8.37.52 AM.png"/>
          <p:cNvPicPr>
            <a:picLocks noGrp="1" noChangeAspect="1"/>
          </p:cNvPicPr>
          <p:nvPr>
            <p:ph idx="1"/>
          </p:nvPr>
        </p:nvPicPr>
        <p:blipFill>
          <a:blip r:embed="rId3"/>
          <a:srcRect t="-9056" b="-9056"/>
          <a:stretch>
            <a:fillRect/>
          </a:stretch>
        </p:blipFill>
        <p:spPr>
          <a:xfrm>
            <a:off x="0" y="-646421"/>
            <a:ext cx="9144000" cy="8115901"/>
          </a:xfr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1-16 at 8.45.47 AM.png"/>
          <p:cNvPicPr>
            <a:picLocks noGrp="1" noChangeAspect="1"/>
          </p:cNvPicPr>
          <p:nvPr>
            <p:ph idx="1"/>
          </p:nvPr>
        </p:nvPicPr>
        <p:blipFill>
          <a:blip r:embed="rId3"/>
          <a:srcRect t="-9056" b="-9056"/>
          <a:stretch>
            <a:fillRect/>
          </a:stretch>
        </p:blipFill>
        <p:spPr>
          <a:xfrm>
            <a:off x="0" y="-568811"/>
            <a:ext cx="9144000" cy="8078078"/>
          </a:xfr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1-16 at 8.51.54 AM.png"/>
          <p:cNvPicPr>
            <a:picLocks noGrp="1" noChangeAspect="1"/>
          </p:cNvPicPr>
          <p:nvPr>
            <p:ph idx="1"/>
          </p:nvPr>
        </p:nvPicPr>
        <p:blipFill>
          <a:blip r:embed="rId3"/>
          <a:srcRect t="-9056" b="-9056"/>
          <a:stretch>
            <a:fillRect/>
          </a:stretch>
        </p:blipFill>
        <p:spPr>
          <a:xfrm>
            <a:off x="0" y="-661891"/>
            <a:ext cx="9144000" cy="8198970"/>
          </a:xfr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1-16 at 9.03.47 AM.png"/>
          <p:cNvPicPr>
            <a:picLocks noGrp="1" noChangeAspect="1"/>
          </p:cNvPicPr>
          <p:nvPr>
            <p:ph idx="1"/>
          </p:nvPr>
        </p:nvPicPr>
        <p:blipFill>
          <a:blip r:embed="rId3"/>
          <a:srcRect t="-9056" b="-9056"/>
          <a:stretch>
            <a:fillRect/>
          </a:stretch>
        </p:blipFill>
        <p:spPr>
          <a:xfrm>
            <a:off x="0" y="-513187"/>
            <a:ext cx="9144000" cy="7994642"/>
          </a:xfr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1-16 at 9.16.20 AM.png"/>
          <p:cNvPicPr>
            <a:picLocks noGrp="1" noChangeAspect="1"/>
          </p:cNvPicPr>
          <p:nvPr>
            <p:ph idx="1"/>
          </p:nvPr>
        </p:nvPicPr>
        <p:blipFill>
          <a:blip r:embed="rId3"/>
          <a:srcRect t="-9056" b="-9056"/>
          <a:stretch>
            <a:fillRect/>
          </a:stretch>
        </p:blipFill>
        <p:spPr>
          <a:xfrm>
            <a:off x="0" y="-401938"/>
            <a:ext cx="9144000" cy="7855580"/>
          </a:xfr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2-18 at 3.43.52 PM.png"/>
          <p:cNvPicPr>
            <a:picLocks noGrp="1" noChangeAspect="1"/>
          </p:cNvPicPr>
          <p:nvPr>
            <p:ph idx="1"/>
          </p:nvPr>
        </p:nvPicPr>
        <p:blipFill>
          <a:blip r:embed="rId3"/>
          <a:srcRect l="-7863" r="-7863"/>
          <a:stretch>
            <a:fillRect/>
          </a:stretch>
        </p:blipFill>
        <p:spPr>
          <a:xfrm>
            <a:off x="-605439" y="0"/>
            <a:ext cx="10460637" cy="6858000"/>
          </a:xfr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1-28 at 2.15.50 PM.png"/>
          <p:cNvPicPr>
            <a:picLocks noGrp="1" noChangeAspect="1"/>
          </p:cNvPicPr>
          <p:nvPr>
            <p:ph idx="1"/>
          </p:nvPr>
        </p:nvPicPr>
        <p:blipFill>
          <a:blip r:embed="rId3"/>
          <a:srcRect l="-7863" r="-7863"/>
          <a:stretch>
            <a:fillRect/>
          </a:stretch>
        </p:blipFill>
        <p:spPr>
          <a:xfrm>
            <a:off x="-750487" y="0"/>
            <a:ext cx="10622296" cy="6858000"/>
          </a:xfr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Screen shot 2012-11-28 at 2.19.53 PM.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1-16 at 8.55.05 AM.png"/>
          <p:cNvPicPr>
            <a:picLocks noGrp="1" noChangeAspect="1"/>
          </p:cNvPicPr>
          <p:nvPr>
            <p:ph idx="1"/>
          </p:nvPr>
        </p:nvPicPr>
        <p:blipFill>
          <a:blip r:embed="rId3"/>
          <a:srcRect t="-10292" b="-10292"/>
          <a:stretch>
            <a:fillRect/>
          </a:stretch>
        </p:blipFill>
        <p:spPr>
          <a:xfrm>
            <a:off x="0" y="-550269"/>
            <a:ext cx="9144000" cy="8068806"/>
          </a:xfrm>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Screen shot 2012-11-16 at 8.56.29 AM.png"/>
          <p:cNvPicPr>
            <a:picLocks noGrp="1" noChangeAspect="1"/>
          </p:cNvPicPr>
          <p:nvPr>
            <p:ph idx="1"/>
          </p:nvPr>
        </p:nvPicPr>
        <p:blipFill>
          <a:blip r:embed="rId3"/>
          <a:srcRect t="-10292" b="-10292"/>
          <a:stretch>
            <a:fillRect/>
          </a:stretch>
        </p:blipFill>
        <p:spPr>
          <a:xfrm>
            <a:off x="0" y="-568812"/>
            <a:ext cx="9144000" cy="8170785"/>
          </a:xfr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majorFont>
      <a:minorFont>
        <a:latin typeface="News Gothic MT"/>
        <a:ea typeface=""/>
        <a:cs typeface=""/>
        <a:font script="Jpan" typeface="ＭＳ Ｐゴシック"/>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Breeze.thmx</Template>
  <TotalTime>299</TotalTime>
  <Words>672</Words>
  <Application>Microsoft Macintosh PowerPoint</Application>
  <PresentationFormat>On-screen Show (4:3)</PresentationFormat>
  <Paragraphs>51</Paragraphs>
  <Slides>14</Slides>
  <Notes>14</Notes>
  <HiddenSlides>0</HiddenSlides>
  <MMClips>0</MMClips>
  <ScaleCrop>false</ScaleCrop>
  <HeadingPairs>
    <vt:vector size="4" baseType="variant">
      <vt:variant>
        <vt:lpstr>Design Template</vt:lpstr>
      </vt:variant>
      <vt:variant>
        <vt:i4>1</vt:i4>
      </vt:variant>
      <vt:variant>
        <vt:lpstr>Slide Titles</vt:lpstr>
      </vt:variant>
      <vt:variant>
        <vt:i4>14</vt:i4>
      </vt:variant>
    </vt:vector>
  </HeadingPairs>
  <TitlesOfParts>
    <vt:vector size="15" baseType="lpstr">
      <vt:lpstr>Breeze</vt:lpstr>
      <vt:lpstr>Encumbering Payroll</vt:lpstr>
      <vt:lpstr>Why Encumber?</vt:lpstr>
      <vt:lpstr>How does the process work?</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Encumbering Payroll</dc:title>
  <dc:creator>Kim Harvey</dc:creator>
  <cp:lastModifiedBy>Kim Harvey</cp:lastModifiedBy>
  <cp:revision>8</cp:revision>
  <cp:lastPrinted>2012-11-28T19:22:38Z</cp:lastPrinted>
  <dcterms:created xsi:type="dcterms:W3CDTF">2012-12-18T19:19:27Z</dcterms:created>
  <dcterms:modified xsi:type="dcterms:W3CDTF">2012-12-18T20:51:30Z</dcterms:modified>
</cp:coreProperties>
</file>