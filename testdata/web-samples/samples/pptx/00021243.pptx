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69" r:id="rId3"/>
    <p:sldId id="273" r:id="rId4"/>
    <p:sldId id="276" r:id="rId5"/>
    <p:sldId id="264" r:id="rId6"/>
    <p:sldId id="274" r:id="rId7"/>
    <p:sldId id="270" r:id="rId8"/>
    <p:sldId id="275" r:id="rId9"/>
    <p:sldId id="265" r:id="rId10"/>
    <p:sldId id="266" r:id="rId11"/>
    <p:sldId id="263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4" r:id="rId2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18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DD52CAEB-8242-4012-8C0A-8A7A6BE18688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16A80122-E15C-4666-BF12-0BF110F23A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BCCB6660-D9FE-4C53-8FBE-AD620089C8A4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AAC98A7-E4D8-43F1-AE8C-9F6E1FE4A8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381C92BE-9FCA-45E3-9A8B-9964E6787096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00373E9-34E6-4620-AAF9-4DD66B1A11E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1734F77-1366-4946-A38F-1457BFCCF2F2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3522AA9-3B6F-4649-8E06-7B75A79DE03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00BD0E5-0F61-4217-AF62-1243F2E979E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53A93F6B-1F81-4226-BBCD-F701F9B71AB0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E1EEA1C-F1A5-4094-8347-B6EDB818FF43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0D347AC-79A2-40A0-9762-0313DA9F91F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DE70618-D0AE-4DA5-B4B6-BDBA92A5130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C69AFD1-90A3-4337-8C00-277FBD24E36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724B00E-2A7D-44BA-B8C4-1790FCA4677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E0FE7A8-A8DB-4C94-9561-3CB871D98FE4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556DC68-B091-42DA-A9C0-5ACAD12D705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F7971958-0ACE-4274-B4F0-360D9566E181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7D042A2-7C6D-4D56-93F9-81E01BF50AF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71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7D7019B9-262C-478F-8EC9-5DCE2FA4F565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4915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1C2865B0-0331-420B-9246-939549F0288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0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5120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87CEEA3-496A-449F-B465-ACDBC9E1FEC8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B7F99D8B-A1C6-481B-9133-9E22BCFA367A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Oval 8"/>
          <p:cNvSpPr/>
          <p:nvPr/>
        </p:nvSpPr>
        <p:spPr>
          <a:xfrm>
            <a:off x="1157288" y="1344613"/>
            <a:ext cx="63500" cy="65087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81832AE-196D-4C2A-9226-14B318695F5E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7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DA170BC-76F8-4371-B21A-24F71B88B8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3F3F2D-EA5D-4202-BFD2-E29C41B4722F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1AD04-BBD9-43A2-B6D8-62A2BE84A24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A04BE37C-C39D-4684-9AF8-084E6D6A6250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F56571D-E0D9-48A7-A0F8-4AD1CC1D63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8779F5-FB48-4E1E-9767-C2F1E0BE5222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748D9-ABD7-4129-85B6-74D524DCE1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4DE8CFD-6E8F-4BF5-A534-DF88A292AA6B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1458E7D-EBB0-40AD-9313-69D35BAF3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F16D6E-FE4E-49AF-A673-3DB58FF5957A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EA7E72-F3DF-48D4-BDFF-B13817F7A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5AB3D22-1737-473A-A969-19C1F00A6662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179D030D-E369-4F77-A8FE-DED366458A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BB053D9-B0AC-4EBF-8D4E-FB003130E387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A323F8C-A780-41FE-832D-B93B601E51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>
            <a:extLst/>
          </a:lstStyle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8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9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73C27DA-8716-4690-80E7-F50333EB3710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34D65FF4-0F72-4C19-8DE9-B58B895D9F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1E3DBD-23D8-4398-84FE-8F1E1B5BA7DB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55F446-56B1-4556-9490-C526BBBFAAC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6D8AEE-26B2-4F91-A774-0C85648137D5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83E6EC-DCB9-4928-B712-B2D0AA71CE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DE4AA4C2-502B-45A3-9D7A-B4DF57E31FF2}" type="datetimeFigureOut">
              <a:rPr lang="en-US"/>
              <a:pPr>
                <a:defRPr/>
              </a:pPr>
              <a:t>12/20/2011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 smtClean="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409E1987-A49C-4B2B-B1CC-CA05CE70EB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1" r:id="rId2"/>
    <p:sldLayoutId id="2147483793" r:id="rId3"/>
    <p:sldLayoutId id="2147483790" r:id="rId4"/>
    <p:sldLayoutId id="2147483794" r:id="rId5"/>
    <p:sldLayoutId id="2147483789" r:id="rId6"/>
    <p:sldLayoutId id="2147483795" r:id="rId7"/>
    <p:sldLayoutId id="2147483796" r:id="rId8"/>
    <p:sldLayoutId id="2147483797" r:id="rId9"/>
    <p:sldLayoutId id="2147483788" r:id="rId10"/>
    <p:sldLayoutId id="2147483787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fontAlgn="base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fontAlgn="base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fontAlgn="base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fontAlgn="base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371600"/>
            <a:ext cx="7407275" cy="1471613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b="1" dirty="0" smtClean="0">
                <a:solidFill>
                  <a:schemeClr val="tx2">
                    <a:satMod val="130000"/>
                  </a:schemeClr>
                </a:solidFill>
              </a:rPr>
              <a:t>RTT-Early Learning Challenge</a:t>
            </a:r>
            <a:endParaRPr lang="en-US" b="1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3200400"/>
            <a:ext cx="7407275" cy="1752600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 dirty="0" smtClean="0"/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Illinois’ Promises</a:t>
            </a:r>
          </a:p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October 24, 2011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Our Reform Agenda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Deepening alignment and integration:</a:t>
            </a:r>
          </a:p>
          <a:p>
            <a:pPr lvl="1"/>
            <a:r>
              <a:rPr lang="en-US" smtClean="0"/>
              <a:t>State systems</a:t>
            </a:r>
          </a:p>
          <a:p>
            <a:pPr lvl="1"/>
            <a:r>
              <a:rPr lang="en-US" smtClean="0"/>
              <a:t>Local systems, with a focus on areas of concentrated high need</a:t>
            </a:r>
          </a:p>
          <a:p>
            <a:r>
              <a:rPr lang="en-US" smtClean="0"/>
              <a:t>Identifying all high need children/families and providing high quality supports and programs</a:t>
            </a:r>
          </a:p>
          <a:p>
            <a:r>
              <a:rPr lang="en-US" smtClean="0"/>
              <a:t>Moving programs from adequate to good and from good to great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78100" y="2600325"/>
            <a:ext cx="6400800" cy="2286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What We’ve committed to do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578100" y="1066800"/>
            <a:ext cx="6400800" cy="1509713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Win or Lose: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Integration at the State Level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“Birth to 8 Interagency Implementation Center”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Integrated budget and common performance management and accountability system for Early Learning and Development Programs across: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ISBE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IDHS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dirty="0" smtClean="0"/>
              <a:t>IDCFS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Joint responsibility across these departments for outcomes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Quality Counts (TQRIS)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219200"/>
            <a:ext cx="7497763" cy="5257800"/>
          </a:xfrm>
        </p:spPr>
        <p:txBody>
          <a:bodyPr>
            <a:normAutofit fontScale="77500" lnSpcReduction="2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endParaRPr lang="en-US" dirty="0" smtClean="0"/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800" dirty="0" smtClean="0"/>
              <a:t>Will become a jointly administered system (IDHS and ISBE) covering </a:t>
            </a:r>
            <a:r>
              <a:rPr lang="en-US" sz="3800" u="sng" dirty="0" smtClean="0"/>
              <a:t>all</a:t>
            </a:r>
            <a:r>
              <a:rPr lang="en-US" sz="3800" dirty="0" smtClean="0"/>
              <a:t> early learning programs (except home visiting and EI)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sz="3400" dirty="0" smtClean="0"/>
              <a:t>Child care centers and homes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sz="3400" dirty="0" smtClean="0"/>
              <a:t>Head Start/Early Head Start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sz="3400" dirty="0" smtClean="0"/>
              <a:t>Preschool for All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r>
              <a:rPr lang="en-US" sz="3400" dirty="0" smtClean="0"/>
              <a:t>Private preschools that are licensed through DCFS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800" dirty="0" smtClean="0"/>
              <a:t>New criteria that more explicitly spell out the “roadmap to quality”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sz="3800" dirty="0" smtClean="0"/>
              <a:t>At the highest tiers, much stronger emphasis on instructional quality</a:t>
            </a:r>
          </a:p>
          <a:p>
            <a:pPr marL="640080" lvl="1" indent="-237744" fontAlgn="auto">
              <a:spcAft>
                <a:spcPts val="0"/>
              </a:spcAft>
              <a:buFont typeface="Verdana"/>
              <a:buChar char="◦"/>
              <a:defRPr/>
            </a:pPr>
            <a:endParaRPr lang="en-US" sz="3800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Quality Counts—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immediate next steps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56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endParaRPr lang="en-US" smtClean="0"/>
          </a:p>
          <a:p>
            <a:pPr>
              <a:spcBef>
                <a:spcPts val="1200"/>
              </a:spcBef>
            </a:pPr>
            <a:r>
              <a:rPr lang="en-US" smtClean="0"/>
              <a:t>Develop criteria for Star Level 5</a:t>
            </a:r>
          </a:p>
          <a:p>
            <a:pPr>
              <a:spcBef>
                <a:spcPts val="1200"/>
              </a:spcBef>
            </a:pPr>
            <a:r>
              <a:rPr lang="en-US" smtClean="0"/>
              <a:t>Refine how ERS measures will be used at Levels 2-4 (weighting of subscales, etc.)</a:t>
            </a:r>
          </a:p>
          <a:p>
            <a:pPr>
              <a:spcBef>
                <a:spcPts val="1200"/>
              </a:spcBef>
            </a:pPr>
            <a:r>
              <a:rPr lang="en-US" smtClean="0"/>
              <a:t>Plan for getting the word out to programs about the changes</a:t>
            </a:r>
          </a:p>
          <a:p>
            <a:pPr>
              <a:spcBef>
                <a:spcPts val="1200"/>
              </a:spcBef>
            </a:pPr>
            <a:r>
              <a:rPr lang="en-US" smtClean="0"/>
              <a:t>Plan for public awareness campaign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Birth to Five Early Learning &amp; Development Standards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7650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New Birth to Three standards</a:t>
            </a:r>
          </a:p>
          <a:p>
            <a:r>
              <a:rPr lang="en-US" smtClean="0"/>
              <a:t>Thoroughly revised Three to Five standards</a:t>
            </a:r>
          </a:p>
          <a:p>
            <a:r>
              <a:rPr lang="en-US" smtClean="0"/>
              <a:t>Integrated roll-out process</a:t>
            </a:r>
          </a:p>
          <a:p>
            <a:endParaRPr lang="en-US" smtClean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ELD Standards—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Immediate Next Steps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  <a:p>
            <a:r>
              <a:rPr lang="en-US" smtClean="0"/>
              <a:t>Finish creating age-specific benchmarks</a:t>
            </a:r>
          </a:p>
          <a:p>
            <a:r>
              <a:rPr lang="en-US" smtClean="0"/>
              <a:t>Develop resource guides</a:t>
            </a:r>
          </a:p>
          <a:p>
            <a:r>
              <a:rPr lang="en-US" smtClean="0"/>
              <a:t>Plan for updating all the resources that already exist supporting the Early Learning Standards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Workforce Development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17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All EC professionals brought into Gateways to Opportunity registry</a:t>
            </a:r>
          </a:p>
          <a:p>
            <a:endParaRPr lang="en-US" smtClean="0"/>
          </a:p>
          <a:p>
            <a:r>
              <a:rPr lang="en-US" smtClean="0"/>
              <a:t>Immediate Next Steps:</a:t>
            </a:r>
          </a:p>
          <a:p>
            <a:pPr lvl="1"/>
            <a:r>
              <a:rPr lang="en-US" smtClean="0"/>
              <a:t>Plan for getting the word out to programs about need to register their staff in Gateways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Kindergarten Assessment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379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RFSP for KIDS instrument has been issued</a:t>
            </a:r>
          </a:p>
          <a:p>
            <a:r>
              <a:rPr lang="en-US" smtClean="0"/>
              <a:t>Instrument selected will be piloted in 2012-13 in a variety of districts</a:t>
            </a:r>
          </a:p>
          <a:p>
            <a:r>
              <a:rPr lang="en-US" smtClean="0"/>
              <a:t>Substantial statewide implementation in 2013-14</a:t>
            </a:r>
          </a:p>
          <a:p>
            <a:r>
              <a:rPr lang="en-US" smtClean="0"/>
              <a:t>Full state implementation in 2014-15</a:t>
            </a:r>
          </a:p>
          <a:p>
            <a:r>
              <a:rPr lang="en-US" i="1" smtClean="0"/>
              <a:t>Implementation committee already in place</a:t>
            </a:r>
          </a:p>
          <a:p>
            <a:pPr lvl="1">
              <a:buFont typeface="Verdana" pitchFamily="34" charset="0"/>
              <a:buNone/>
            </a:pPr>
            <a:endParaRPr lang="en-US" smtClean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100" y="2600325"/>
            <a:ext cx="6400800" cy="2286000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cap="none" dirty="0" smtClean="0">
                <a:solidFill>
                  <a:schemeClr val="tx2">
                    <a:satMod val="130000"/>
                  </a:schemeClr>
                </a:solidFill>
              </a:rPr>
              <a:t>What else we’ll do if we get the funding</a:t>
            </a:r>
            <a:br>
              <a:rPr lang="en-US" cap="none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sz="3200" b="0" cap="none" dirty="0" smtClean="0">
                <a:solidFill>
                  <a:schemeClr val="tx2">
                    <a:satMod val="130000"/>
                  </a:schemeClr>
                </a:solidFill>
              </a:rPr>
              <a:t>(and what we’d like to figure out how to do even if we don’t!)</a:t>
            </a:r>
            <a:endParaRPr lang="en-US" b="0" cap="none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2578100" y="1066800"/>
            <a:ext cx="6400800" cy="1509713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Quality supports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5760" indent="-283464" fontAlgn="auto">
              <a:spcBef>
                <a:spcPts val="120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Expansion of supports for moving up quality levels</a:t>
            </a:r>
          </a:p>
          <a:p>
            <a:pPr marL="365760" indent="-283464" fontAlgn="auto">
              <a:spcBef>
                <a:spcPts val="120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Institute for Excellence in Early Childhood Teaching and Leading</a:t>
            </a:r>
          </a:p>
          <a:p>
            <a:pPr marL="365760" indent="-283464" fontAlgn="auto">
              <a:spcBef>
                <a:spcPts val="120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Study of costs of providing care at different Star Levels; redesign reimbursement/incentives to reflect true costs</a:t>
            </a:r>
          </a:p>
          <a:p>
            <a:pPr marL="365760" indent="-283464" fontAlgn="auto">
              <a:spcBef>
                <a:spcPts val="120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Policy changes to support participation in high quality programs</a:t>
            </a:r>
          </a:p>
          <a:p>
            <a:pPr marL="365760" indent="-283464" fontAlgn="auto">
              <a:spcBef>
                <a:spcPts val="120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Technical assistance to communities looking to create more collaboration programs and “Community Connections” programs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Workforce Development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993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New credentials</a:t>
            </a:r>
          </a:p>
          <a:p>
            <a:pPr lvl="1"/>
            <a:r>
              <a:rPr lang="en-US" smtClean="0"/>
              <a:t>Family Worker</a:t>
            </a:r>
          </a:p>
          <a:p>
            <a:pPr lvl="1"/>
            <a:r>
              <a:rPr lang="en-US" smtClean="0"/>
              <a:t>Technical Assistance/Coaching</a:t>
            </a:r>
          </a:p>
          <a:p>
            <a:pPr lvl="1"/>
            <a:r>
              <a:rPr lang="en-US" smtClean="0"/>
              <a:t>Home Visitor</a:t>
            </a:r>
          </a:p>
          <a:p>
            <a:pPr lvl="1"/>
            <a:r>
              <a:rPr lang="en-US" smtClean="0"/>
              <a:t>Family Child Care</a:t>
            </a:r>
          </a:p>
          <a:p>
            <a:r>
              <a:rPr lang="en-US" smtClean="0"/>
              <a:t>Scholarships to get ESL/Bilingual endorsement</a:t>
            </a:r>
          </a:p>
          <a:p>
            <a:r>
              <a:rPr lang="en-US" smtClean="0"/>
              <a:t>Faculty institutes to strengthen coursework at IHEs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Data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19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Consortium for Early Learning Research</a:t>
            </a:r>
          </a:p>
          <a:p>
            <a:r>
              <a:rPr lang="en-US" smtClean="0"/>
              <a:t>Link HS/EHS into state data systems</a:t>
            </a:r>
          </a:p>
          <a:p>
            <a:r>
              <a:rPr lang="en-US" smtClean="0"/>
              <a:t>Data for Community Systems Project</a:t>
            </a:r>
          </a:p>
          <a:p>
            <a:r>
              <a:rPr lang="en-US" smtClean="0"/>
              <a:t>Extension of Illinois Shared Learning Environment to early childhood</a:t>
            </a:r>
          </a:p>
          <a:p>
            <a:r>
              <a:rPr lang="en-US" smtClean="0"/>
              <a:t>Integrate DCFS Sunshine system with Quality Counts rating data and make all available on parent-friendly web site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Community Collaborations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440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Supported to</a:t>
            </a:r>
          </a:p>
          <a:p>
            <a:pPr lvl="1"/>
            <a:r>
              <a:rPr lang="en-US" smtClean="0"/>
              <a:t>Coordinate outreach to families</a:t>
            </a:r>
          </a:p>
          <a:p>
            <a:pPr lvl="1"/>
            <a:r>
              <a:rPr lang="en-US" smtClean="0"/>
              <a:t>Adopt a universal family screening/risk assessment</a:t>
            </a:r>
          </a:p>
          <a:p>
            <a:pPr lvl="1"/>
            <a:r>
              <a:rPr lang="en-US" smtClean="0"/>
              <a:t>Implement comprehensive referral, linkage, and follow-up system</a:t>
            </a:r>
          </a:p>
          <a:p>
            <a:r>
              <a:rPr lang="en-US" smtClean="0"/>
              <a:t>Community-level accountability for early learning outcomes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78100" y="2600325"/>
            <a:ext cx="6400800" cy="2286000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Where would the $70 million go?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2578100" y="1066800"/>
            <a:ext cx="6400800" cy="1509713"/>
          </a:xfrm>
        </p:spPr>
        <p:txBody>
          <a:bodyPr>
            <a:normAutofit/>
          </a:bodyPr>
          <a:lstStyle/>
          <a:p>
            <a:pPr fontAlgn="auto">
              <a:spcAft>
                <a:spcPts val="0"/>
              </a:spcAft>
              <a:buFont typeface="Wingdings 2"/>
              <a:buNone/>
              <a:defRPr/>
            </a:pP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Supporting State-Level Integration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Interagency Center Staffing &amp; related systems integration—$3.6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Data integration projects-$12.2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KIDS implementation-$3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Research-$3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Quality Counts-expanded monitoring and infrastructure (</a:t>
            </a:r>
            <a:r>
              <a:rPr lang="en-US" dirty="0" err="1" smtClean="0"/>
              <a:t>incl</a:t>
            </a:r>
            <a:r>
              <a:rPr lang="en-US" dirty="0" smtClean="0"/>
              <a:t> DCFS outreach)-$9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Public awareness campaign-$2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Community Collaborations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017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Consortium for Community Systems Development-$1.9 Million</a:t>
            </a:r>
          </a:p>
          <a:p>
            <a:pPr lvl="1"/>
            <a:r>
              <a:rPr lang="en-US" smtClean="0"/>
              <a:t>Includes support for developing more Community Connections model programs (linking FCC to preschool)</a:t>
            </a:r>
          </a:p>
          <a:p>
            <a:r>
              <a:rPr lang="en-US" smtClean="0"/>
              <a:t>Community Collaborations-$7 Million</a:t>
            </a:r>
          </a:p>
          <a:p>
            <a:r>
              <a:rPr lang="en-US" smtClean="0"/>
              <a:t>Strengthening Families expansion –</a:t>
            </a:r>
          </a:p>
          <a:p>
            <a:pPr>
              <a:buFont typeface="Wingdings 2" pitchFamily="18" charset="2"/>
              <a:buNone/>
            </a:pPr>
            <a:r>
              <a:rPr lang="en-US" smtClean="0"/>
              <a:t>	$1 Million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Adequate to Good and </a:t>
            </a:r>
            <a:br>
              <a:rPr lang="en-US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US" dirty="0" smtClean="0">
                <a:solidFill>
                  <a:schemeClr val="tx2">
                    <a:satMod val="130000"/>
                  </a:schemeClr>
                </a:solidFill>
              </a:rPr>
              <a:t>Good to Great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Consortium for Workforce Development-$1.9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Adequate to Good Quality supports-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$11.1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Good to Great Quality supports- 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None/>
              <a:defRPr/>
            </a:pPr>
            <a:r>
              <a:rPr lang="en-US" dirty="0" smtClean="0"/>
              <a:t>	$6.1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Gateways expansion (new credentials, more PDAs, Registry expansion)-	$4.9 Million</a:t>
            </a:r>
          </a:p>
          <a:p>
            <a:pPr marL="365760" indent="-283464" fontAlgn="auto">
              <a:spcAft>
                <a:spcPts val="0"/>
              </a:spcAft>
              <a:buFont typeface="Wingdings 2"/>
              <a:buChar char=""/>
              <a:defRPr/>
            </a:pPr>
            <a:r>
              <a:rPr lang="en-US" dirty="0" smtClean="0"/>
              <a:t>Scholarships &amp; PD expansion-$2.8 Million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3514</TotalTime>
  <Words>620</Words>
  <Application>Microsoft Office PowerPoint</Application>
  <PresentationFormat>On-screen Show (4:3)</PresentationFormat>
  <Paragraphs>123</Paragraphs>
  <Slides>19</Slides>
  <Notes>19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Solstice</vt:lpstr>
      <vt:lpstr>RTT-Early Learning Challenge</vt:lpstr>
      <vt:lpstr>Our Reform Agenda</vt:lpstr>
      <vt:lpstr>What We’ve committed to do</vt:lpstr>
      <vt:lpstr>Integration at the State Level</vt:lpstr>
      <vt:lpstr>Quality Counts (TQRIS)</vt:lpstr>
      <vt:lpstr>Quality Counts— immediate next steps</vt:lpstr>
      <vt:lpstr>Birth to Five Early Learning &amp; Development Standards</vt:lpstr>
      <vt:lpstr>ELD Standards— Immediate Next Steps</vt:lpstr>
      <vt:lpstr>Workforce Development</vt:lpstr>
      <vt:lpstr>Kindergarten Assessment</vt:lpstr>
      <vt:lpstr>What else we’ll do if we get the funding (and what we’d like to figure out how to do even if we don’t!)</vt:lpstr>
      <vt:lpstr>Quality supports</vt:lpstr>
      <vt:lpstr>Workforce Development</vt:lpstr>
      <vt:lpstr>Data</vt:lpstr>
      <vt:lpstr>Community Collaborations</vt:lpstr>
      <vt:lpstr>Where would the $70 million go?</vt:lpstr>
      <vt:lpstr>Supporting State-Level Integration</vt:lpstr>
      <vt:lpstr>Community Collaborations</vt:lpstr>
      <vt:lpstr>Adequate to Good and  Good to Great</vt:lpstr>
    </vt:vector>
  </TitlesOfParts>
  <Company>Holland &amp; Knight LLP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Illinois’ Early Learning and Development Reform Agenda</dc:title>
  <dc:creator>jefurr</dc:creator>
  <cp:lastModifiedBy> </cp:lastModifiedBy>
  <cp:revision>37</cp:revision>
  <dcterms:created xsi:type="dcterms:W3CDTF">2011-09-10T21:12:44Z</dcterms:created>
  <dcterms:modified xsi:type="dcterms:W3CDTF">2011-12-20T16:31:37Z</dcterms:modified>
</cp:coreProperties>
</file>