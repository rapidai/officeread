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Masters/slideMaster4.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6" r:id="rId3"/>
    <p:sldMasterId id="2147483679" r:id="rId4"/>
  </p:sldMasterIdLst>
  <p:notesMasterIdLst>
    <p:notesMasterId r:id="rId44"/>
  </p:notesMasterIdLst>
  <p:sldIdLst>
    <p:sldId id="256" r:id="rId5"/>
    <p:sldId id="258" r:id="rId6"/>
    <p:sldId id="272" r:id="rId7"/>
    <p:sldId id="267" r:id="rId8"/>
    <p:sldId id="273" r:id="rId9"/>
    <p:sldId id="274" r:id="rId10"/>
    <p:sldId id="268" r:id="rId11"/>
    <p:sldId id="269" r:id="rId12"/>
    <p:sldId id="270" r:id="rId13"/>
    <p:sldId id="271" r:id="rId14"/>
    <p:sldId id="295" r:id="rId15"/>
    <p:sldId id="259" r:id="rId16"/>
    <p:sldId id="260" r:id="rId17"/>
    <p:sldId id="261" r:id="rId18"/>
    <p:sldId id="262" r:id="rId19"/>
    <p:sldId id="263" r:id="rId20"/>
    <p:sldId id="264" r:id="rId21"/>
    <p:sldId id="265" r:id="rId22"/>
    <p:sldId id="266"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0" d="100"/>
          <a:sy n="100" d="100"/>
        </p:scale>
        <p:origin x="-21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31E751-06FE-4ED1-ADD0-E0FF294EB6AA}" type="datetimeFigureOut">
              <a:rPr lang="en-US" smtClean="0"/>
              <a:pPr/>
              <a:t>4/16/2009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3987ED-9C54-4FB0-BA1A-C7143A0214A8}" type="slidenum">
              <a:rPr lang="en-AU" smtClean="0"/>
              <a:pPr/>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4E7665-0718-4FB5-81B1-BAE3112B1FA0}" type="slidenum">
              <a:rPr lang="en-AU"/>
              <a:pPr/>
              <a:t>2</a:t>
            </a:fld>
            <a:endParaRPr lang="en-AU"/>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904ADCCA-70BE-492E-AE1D-7C7489777583}" type="slidenum">
              <a:rPr lang="en-AU" smtClean="0"/>
              <a:pPr/>
              <a:t>4</a:t>
            </a:fld>
            <a:endParaRPr lang="en-AU"/>
          </a:p>
        </p:txBody>
      </p:sp>
      <p:sp>
        <p:nvSpPr>
          <p:cNvPr id="5" name="Date Placeholder 4"/>
          <p:cNvSpPr>
            <a:spLocks noGrp="1"/>
          </p:cNvSpPr>
          <p:nvPr>
            <p:ph type="dt" idx="11"/>
          </p:nvPr>
        </p:nvSpPr>
        <p:spPr/>
        <p:txBody>
          <a:bodyPr/>
          <a:lstStyle/>
          <a:p>
            <a:fld id="{FB1F8DE8-97B1-41BD-9446-FB9F2124DEE2}" type="datetime3">
              <a:rPr lang="en-US" smtClean="0"/>
              <a:pPr/>
              <a:t>16 April 2009</a:t>
            </a:fld>
            <a:endParaRPr lang="en-AU"/>
          </a:p>
        </p:txBody>
      </p:sp>
      <p:sp>
        <p:nvSpPr>
          <p:cNvPr id="6" name="Footer Placeholder 5"/>
          <p:cNvSpPr>
            <a:spLocks noGrp="1"/>
          </p:cNvSpPr>
          <p:nvPr>
            <p:ph type="ftr" sz="quarter" idx="12"/>
          </p:nvPr>
        </p:nvSpPr>
        <p:spPr/>
        <p:txBody>
          <a:bodyPr/>
          <a:lstStyle/>
          <a:p>
            <a:r>
              <a:rPr lang="en-AU" smtClean="0"/>
              <a:t>PIA Satte Conference, Longreach Sept. 08</a:t>
            </a:r>
            <a:endParaRPr lang="en-AU"/>
          </a:p>
        </p:txBody>
      </p:sp>
      <p:sp>
        <p:nvSpPr>
          <p:cNvPr id="7" name="Header Placeholder 6"/>
          <p:cNvSpPr>
            <a:spLocks noGrp="1"/>
          </p:cNvSpPr>
          <p:nvPr>
            <p:ph type="hdr" sz="quarter" idx="13"/>
          </p:nvPr>
        </p:nvSpPr>
        <p:spPr/>
        <p:txBody>
          <a:bodyPr/>
          <a:lstStyle/>
          <a:p>
            <a:r>
              <a:rPr lang="en-AU" smtClean="0"/>
              <a:t>The Impact of Planning Delays &amp; Other Holding Costs on Housing Affordability</a:t>
            </a:r>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7CB97365-EBCA-4027-87D5-99FC1D4DF0BB}" type="datetimeFigureOut">
              <a:rPr lang="en-US" smtClean="0"/>
              <a:pPr/>
              <a:t>4/16/2009</a:t>
            </a:fld>
            <a:endParaRPr lang="en-US"/>
          </a:p>
        </p:txBody>
      </p:sp>
      <p:sp>
        <p:nvSpPr>
          <p:cNvPr id="17" name="Footer Placeholder 16"/>
          <p:cNvSpPr>
            <a:spLocks noGrp="1"/>
          </p:cNvSpPr>
          <p:nvPr>
            <p:ph type="ftr" sz="quarter" idx="11"/>
          </p:nvPr>
        </p:nvSpPr>
        <p:spPr/>
        <p:txBody>
          <a:bodyPr/>
          <a:lstStyle/>
          <a:p>
            <a:endParaRPr kumimoji="0" lang="en-US"/>
          </a:p>
        </p:txBody>
      </p:sp>
      <p:sp>
        <p:nvSpPr>
          <p:cNvPr id="29" name="Slide Number Placeholder 28"/>
          <p:cNvSpPr>
            <a:spLocks noGrp="1"/>
          </p:cNvSpPr>
          <p:nvPr>
            <p:ph type="sldNum" sz="quarter" idx="12"/>
          </p:nvPr>
        </p:nvSpPr>
        <p:spPr/>
        <p:txBody>
          <a:bodyPr/>
          <a:lstStyle/>
          <a:p>
            <a:fld id="{69E29E33-B620-47F9-BB04-8846C2A5AFCC}" type="slidenum">
              <a:rPr kumimoji="0" lang="en-US" smtClean="0"/>
              <a:pPr/>
              <a:t>‹#›</a:t>
            </a:fld>
            <a:endParaRPr kumimoji="0"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4/16/2009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CB97365-EBCA-4027-87D5-99FC1D4DF0BB}" type="datetimeFigureOut">
              <a:rPr lang="en-US" smtClean="0"/>
              <a:pPr/>
              <a:t>4/16/2009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7924800" y="6416675"/>
            <a:ext cx="762000" cy="365125"/>
          </a:xfrm>
        </p:spPr>
        <p:txBody>
          <a:bodyPr/>
          <a:lstStyle/>
          <a:p>
            <a:fld id="{69E29E33-B620-47F9-BB04-8846C2A5AFC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CB97365-EBCA-4027-87D5-99FC1D4DF0BB}" type="datetimeFigureOut">
              <a:rPr lang="en-US" smtClean="0"/>
              <a:pPr/>
              <a:t>4/16/2009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CB97365-EBCA-4027-87D5-99FC1D4DF0BB}" type="datetimeFigureOut">
              <a:rPr lang="en-US" smtClean="0"/>
              <a:pPr/>
              <a:t>4/16/2009</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CB97365-EBCA-4027-87D5-99FC1D4DF0BB}" type="datetimeFigureOut">
              <a:rPr lang="en-US" smtClean="0"/>
              <a:pPr/>
              <a:t>4/16/2009</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97365-EBCA-4027-87D5-99FC1D4DF0BB}" type="datetimeFigureOut">
              <a:rPr lang="en-US" smtClean="0"/>
              <a:pPr/>
              <a:t>4/16/2009</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CB97365-EBCA-4027-87D5-99FC1D4DF0BB}" type="datetimeFigureOut">
              <a:rPr lang="en-US" smtClean="0"/>
              <a:pPr/>
              <a:t>4/16/2009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CB97365-EBCA-4027-87D5-99FC1D4DF0BB}" type="datetimeFigureOut">
              <a:rPr lang="en-US" smtClean="0"/>
              <a:pPr/>
              <a:t>4/16/2009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4/16/2009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4/16/2009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bg>
      <p:bgPr>
        <a:gradFill rotWithShape="0">
          <a:gsLst>
            <a:gs pos="0">
              <a:schemeClr val="bg1"/>
            </a:gs>
            <a:gs pos="100000">
              <a:schemeClr val="bg1">
                <a:gamma/>
                <a:shade val="48627"/>
                <a:invGamma/>
              </a:schemeClr>
            </a:gs>
          </a:gsLst>
          <a:lin ang="2700000" scaled="1"/>
        </a:gra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498475" y="1311275"/>
            <a:ext cx="10429875" cy="5908675"/>
            <a:chOff x="-313" y="824"/>
            <a:chExt cx="6570" cy="3722"/>
          </a:xfrm>
        </p:grpSpPr>
        <p:sp>
          <p:nvSpPr>
            <p:cNvPr id="15363" name="Rectangle 3"/>
            <p:cNvSpPr>
              <a:spLocks noChangeArrowheads="1"/>
            </p:cNvSpPr>
            <p:nvPr userDrawn="1"/>
          </p:nvSpPr>
          <p:spPr bwMode="hidden">
            <a:xfrm rot="20798144" flipV="1">
              <a:off x="-14" y="1033"/>
              <a:ext cx="1744"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4" name="Rectangle 4"/>
            <p:cNvSpPr>
              <a:spLocks noChangeArrowheads="1"/>
            </p:cNvSpPr>
            <p:nvPr userDrawn="1"/>
          </p:nvSpPr>
          <p:spPr bwMode="hidden">
            <a:xfrm rot="20774366" flipV="1">
              <a:off x="-24" y="1127"/>
              <a:ext cx="203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5" name="Rectangle 5"/>
            <p:cNvSpPr>
              <a:spLocks noChangeArrowheads="1"/>
            </p:cNvSpPr>
            <p:nvPr userDrawn="1"/>
          </p:nvSpPr>
          <p:spPr bwMode="hidden">
            <a:xfrm rot="20757421" flipV="1">
              <a:off x="-27" y="1198"/>
              <a:ext cx="224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6" name="Rectangle 6"/>
            <p:cNvSpPr>
              <a:spLocks noChangeArrowheads="1"/>
            </p:cNvSpPr>
            <p:nvPr userDrawn="1"/>
          </p:nvSpPr>
          <p:spPr bwMode="hidden">
            <a:xfrm rot="20684206" flipV="1">
              <a:off x="-43" y="1283"/>
              <a:ext cx="247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7" name="Rectangle 7"/>
            <p:cNvSpPr>
              <a:spLocks noChangeArrowheads="1"/>
            </p:cNvSpPr>
            <p:nvPr userDrawn="1"/>
          </p:nvSpPr>
          <p:spPr bwMode="hidden">
            <a:xfrm rot="20631226" flipV="1">
              <a:off x="-51" y="1397"/>
              <a:ext cx="2770"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8" name="Rectangle 8"/>
            <p:cNvSpPr>
              <a:spLocks noChangeArrowheads="1"/>
            </p:cNvSpPr>
            <p:nvPr userDrawn="1"/>
          </p:nvSpPr>
          <p:spPr bwMode="hidden">
            <a:xfrm rot="20554235" flipV="1">
              <a:off x="-65" y="1523"/>
              <a:ext cx="3058"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69" name="Rectangle 9"/>
            <p:cNvSpPr>
              <a:spLocks noChangeArrowheads="1"/>
            </p:cNvSpPr>
            <p:nvPr userDrawn="1"/>
          </p:nvSpPr>
          <p:spPr bwMode="hidden">
            <a:xfrm rot="20466593" flipV="1">
              <a:off x="-93" y="1694"/>
              <a:ext cx="340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p>
          </p:txBody>
        </p:sp>
        <p:sp>
          <p:nvSpPr>
            <p:cNvPr id="15370" name="Rectangle 10"/>
            <p:cNvSpPr>
              <a:spLocks noChangeArrowheads="1"/>
            </p:cNvSpPr>
            <p:nvPr userDrawn="1"/>
          </p:nvSpPr>
          <p:spPr bwMode="hidden">
            <a:xfrm rot="20343219" flipV="1">
              <a:off x="-99" y="1863"/>
              <a:ext cx="3749" cy="6"/>
            </a:xfrm>
            <a:prstGeom prst="rect">
              <a:avLst/>
            </a:prstGeom>
            <a:gradFill rotWithShape="0">
              <a:gsLst>
                <a:gs pos="0">
                  <a:schemeClr val="bg1"/>
                </a:gs>
                <a:gs pos="100000">
                  <a:schemeClr val="bg1">
                    <a:gamma/>
                    <a:shade val="84706"/>
                    <a:invGamma/>
                  </a:schemeClr>
                </a:gs>
              </a:gsLst>
              <a:lin ang="2700000" scaled="1"/>
            </a:gradFill>
            <a:ln w="9525">
              <a:noFill/>
              <a:miter lim="800000"/>
              <a:headEnd/>
              <a:tailEnd/>
            </a:ln>
            <a:effectLst/>
          </p:spPr>
          <p:txBody>
            <a:bodyPr rot="10800000"/>
            <a:lstStyle/>
            <a:p>
              <a:pPr algn="ctr"/>
              <a:endParaRPr lang="en-US"/>
            </a:p>
          </p:txBody>
        </p:sp>
        <p:sp>
          <p:nvSpPr>
            <p:cNvPr id="15371" name="Rectangle 11"/>
            <p:cNvSpPr>
              <a:spLocks noChangeArrowheads="1"/>
            </p:cNvSpPr>
            <p:nvPr userDrawn="1"/>
          </p:nvSpPr>
          <p:spPr bwMode="hidden">
            <a:xfrm rot="20211065" flipV="1">
              <a:off x="-165" y="2053"/>
              <a:ext cx="4209" cy="6"/>
            </a:xfrm>
            <a:prstGeom prst="rect">
              <a:avLst/>
            </a:prstGeom>
            <a:gradFill rotWithShape="0">
              <a:gsLst>
                <a:gs pos="0">
                  <a:schemeClr val="bg1"/>
                </a:gs>
                <a:gs pos="100000">
                  <a:schemeClr val="bg1">
                    <a:gamma/>
                    <a:shade val="75686"/>
                    <a:invGamma/>
                  </a:schemeClr>
                </a:gs>
              </a:gsLst>
              <a:lin ang="2700000" scaled="1"/>
            </a:gradFill>
            <a:ln w="9525">
              <a:noFill/>
              <a:miter lim="800000"/>
              <a:headEnd/>
              <a:tailEnd/>
            </a:ln>
            <a:effectLst/>
          </p:spPr>
          <p:txBody>
            <a:bodyPr rot="10800000"/>
            <a:lstStyle/>
            <a:p>
              <a:pPr algn="ctr"/>
              <a:endParaRPr lang="en-US"/>
            </a:p>
          </p:txBody>
        </p:sp>
        <p:sp>
          <p:nvSpPr>
            <p:cNvPr id="15372" name="Rectangle 12"/>
            <p:cNvSpPr>
              <a:spLocks noChangeArrowheads="1"/>
            </p:cNvSpPr>
            <p:nvPr userDrawn="1"/>
          </p:nvSpPr>
          <p:spPr bwMode="hidden">
            <a:xfrm rot="20102912" flipV="1">
              <a:off x="-214" y="2289"/>
              <a:ext cx="4612"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rot="10800000"/>
            <a:lstStyle/>
            <a:p>
              <a:pPr algn="ctr"/>
              <a:endParaRPr lang="en-US"/>
            </a:p>
          </p:txBody>
        </p:sp>
        <p:sp>
          <p:nvSpPr>
            <p:cNvPr id="15373" name="Rectangle 13"/>
            <p:cNvSpPr>
              <a:spLocks noChangeArrowheads="1"/>
            </p:cNvSpPr>
            <p:nvPr userDrawn="1"/>
          </p:nvSpPr>
          <p:spPr bwMode="hidden">
            <a:xfrm rot="19923405" flipV="1">
              <a:off x="-313" y="2617"/>
              <a:ext cx="5200"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p>
          </p:txBody>
        </p:sp>
        <p:sp>
          <p:nvSpPr>
            <p:cNvPr id="15374" name="Rectangle 14"/>
            <p:cNvSpPr>
              <a:spLocks noChangeArrowheads="1"/>
            </p:cNvSpPr>
            <p:nvPr userDrawn="1"/>
          </p:nvSpPr>
          <p:spPr bwMode="hidden">
            <a:xfrm rot="19686284" flipV="1">
              <a:off x="9" y="2881"/>
              <a:ext cx="5401" cy="6"/>
            </a:xfrm>
            <a:prstGeom prst="rect">
              <a:avLst/>
            </a:prstGeom>
            <a:gradFill rotWithShape="0">
              <a:gsLst>
                <a:gs pos="0">
                  <a:schemeClr val="bg1"/>
                </a:gs>
                <a:gs pos="100000">
                  <a:schemeClr val="bg1">
                    <a:gamma/>
                    <a:shade val="46275"/>
                    <a:invGamma/>
                  </a:schemeClr>
                </a:gs>
              </a:gsLst>
              <a:lin ang="2700000" scaled="1"/>
            </a:gradFill>
            <a:ln w="9525">
              <a:noFill/>
              <a:miter lim="800000"/>
              <a:headEnd/>
              <a:tailEnd/>
            </a:ln>
            <a:effectLst/>
          </p:spPr>
          <p:txBody>
            <a:bodyPr rot="10800000"/>
            <a:lstStyle/>
            <a:p>
              <a:pPr algn="ctr"/>
              <a:endParaRPr lang="en-US"/>
            </a:p>
          </p:txBody>
        </p:sp>
        <p:sp>
          <p:nvSpPr>
            <p:cNvPr id="15375" name="Rectangle 15"/>
            <p:cNvSpPr>
              <a:spLocks noChangeArrowheads="1"/>
            </p:cNvSpPr>
            <p:nvPr userDrawn="1"/>
          </p:nvSpPr>
          <p:spPr bwMode="hidden">
            <a:xfrm rot="19383534" flipV="1">
              <a:off x="1319" y="2928"/>
              <a:ext cx="4612" cy="6"/>
            </a:xfrm>
            <a:prstGeom prst="rect">
              <a:avLst/>
            </a:prstGeom>
            <a:gradFill rotWithShape="0">
              <a:gsLst>
                <a:gs pos="0">
                  <a:schemeClr val="bg1"/>
                </a:gs>
                <a:gs pos="100000">
                  <a:schemeClr val="bg1">
                    <a:gamma/>
                    <a:shade val="30196"/>
                    <a:invGamma/>
                  </a:schemeClr>
                </a:gs>
              </a:gsLst>
              <a:lin ang="2700000" scaled="1"/>
            </a:gradFill>
            <a:ln w="9525">
              <a:noFill/>
              <a:miter lim="800000"/>
              <a:headEnd/>
              <a:tailEnd/>
            </a:ln>
            <a:effectLst/>
          </p:spPr>
          <p:txBody>
            <a:bodyPr rot="10800000"/>
            <a:lstStyle/>
            <a:p>
              <a:pPr algn="ctr"/>
              <a:endParaRPr lang="en-US"/>
            </a:p>
          </p:txBody>
        </p:sp>
        <p:sp>
          <p:nvSpPr>
            <p:cNvPr id="15376" name="Rectangle 16"/>
            <p:cNvSpPr>
              <a:spLocks noChangeArrowheads="1"/>
            </p:cNvSpPr>
            <p:nvPr userDrawn="1"/>
          </p:nvSpPr>
          <p:spPr bwMode="hidden">
            <a:xfrm rot="18994182" flipV="1">
              <a:off x="2681" y="3071"/>
              <a:ext cx="3576" cy="6"/>
            </a:xfrm>
            <a:prstGeom prst="rect">
              <a:avLst/>
            </a:prstGeom>
            <a:gradFill rotWithShape="0">
              <a:gsLst>
                <a:gs pos="0">
                  <a:schemeClr val="bg1"/>
                </a:gs>
                <a:gs pos="100000">
                  <a:schemeClr val="bg1">
                    <a:gamma/>
                    <a:shade val="3137"/>
                    <a:invGamma/>
                  </a:schemeClr>
                </a:gs>
              </a:gsLst>
              <a:lin ang="2700000" scaled="1"/>
            </a:gradFill>
            <a:ln w="9525">
              <a:noFill/>
              <a:miter lim="800000"/>
              <a:headEnd/>
              <a:tailEnd/>
            </a:ln>
            <a:effectLst/>
          </p:spPr>
          <p:txBody>
            <a:bodyPr rot="10800000"/>
            <a:lstStyle/>
            <a:p>
              <a:pPr algn="ctr"/>
              <a:endParaRPr lang="en-US"/>
            </a:p>
          </p:txBody>
        </p:sp>
        <p:sp>
          <p:nvSpPr>
            <p:cNvPr id="15377" name="Rectangle 17"/>
            <p:cNvSpPr>
              <a:spLocks noChangeArrowheads="1"/>
            </p:cNvSpPr>
            <p:nvPr userDrawn="1"/>
          </p:nvSpPr>
          <p:spPr bwMode="hidden">
            <a:xfrm rot="18603245" flipV="1">
              <a:off x="4052" y="3504"/>
              <a:ext cx="2079"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endParaRPr lang="en-US"/>
            </a:p>
          </p:txBody>
        </p:sp>
        <p:sp>
          <p:nvSpPr>
            <p:cNvPr id="15378" name="Rectangle 18"/>
            <p:cNvSpPr>
              <a:spLocks noChangeArrowheads="1"/>
            </p:cNvSpPr>
            <p:nvPr userDrawn="1"/>
          </p:nvSpPr>
          <p:spPr bwMode="hidden">
            <a:xfrm rot="39991575" flipH="1" flipV="1">
              <a:off x="5368" y="4167"/>
              <a:ext cx="501"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endParaRPr lang="en-US"/>
            </a:p>
          </p:txBody>
        </p:sp>
        <p:sp>
          <p:nvSpPr>
            <p:cNvPr id="15379" name="Rectangle 19"/>
            <p:cNvSpPr>
              <a:spLocks noChangeArrowheads="1"/>
            </p:cNvSpPr>
            <p:nvPr userDrawn="1"/>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a:lstStyle/>
            <a:p>
              <a:pPr algn="ctr"/>
              <a:endParaRPr lang="en-US"/>
            </a:p>
          </p:txBody>
        </p:sp>
        <p:sp>
          <p:nvSpPr>
            <p:cNvPr id="15380" name="Rectangle 20"/>
            <p:cNvSpPr>
              <a:spLocks noChangeArrowheads="1"/>
            </p:cNvSpPr>
            <p:nvPr userDrawn="1"/>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endParaRPr lang="en-US"/>
            </a:p>
          </p:txBody>
        </p:sp>
        <p:sp>
          <p:nvSpPr>
            <p:cNvPr id="15381" name="Rectangle 21"/>
            <p:cNvSpPr>
              <a:spLocks noChangeArrowheads="1"/>
            </p:cNvSpPr>
            <p:nvPr userDrawn="1"/>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endParaRPr lang="en-US"/>
            </a:p>
          </p:txBody>
        </p:sp>
        <p:sp>
          <p:nvSpPr>
            <p:cNvPr id="15382" name="Rectangle 22"/>
            <p:cNvSpPr>
              <a:spLocks noChangeArrowheads="1"/>
            </p:cNvSpPr>
            <p:nvPr userDrawn="1"/>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a:lstStyle/>
            <a:p>
              <a:pPr algn="ctr"/>
              <a:endParaRPr lang="en-US"/>
            </a:p>
          </p:txBody>
        </p:sp>
        <p:sp>
          <p:nvSpPr>
            <p:cNvPr id="15383" name="Rectangle 23"/>
            <p:cNvSpPr>
              <a:spLocks noChangeArrowheads="1"/>
            </p:cNvSpPr>
            <p:nvPr userDrawn="1"/>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headEnd/>
              <a:tailEnd/>
            </a:ln>
            <a:effectLst/>
          </p:spPr>
          <p:txBody>
            <a:bodyPr/>
            <a:lstStyle/>
            <a:p>
              <a:pPr algn="ctr"/>
              <a:endParaRPr lang="en-US"/>
            </a:p>
          </p:txBody>
        </p:sp>
        <p:sp>
          <p:nvSpPr>
            <p:cNvPr id="15384" name="Rectangle 24"/>
            <p:cNvSpPr>
              <a:spLocks noChangeArrowheads="1"/>
            </p:cNvSpPr>
            <p:nvPr userDrawn="1"/>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headEnd/>
              <a:tailEnd/>
            </a:ln>
            <a:effectLst/>
          </p:spPr>
          <p:txBody>
            <a:bodyPr/>
            <a:lstStyle/>
            <a:p>
              <a:pPr algn="ctr"/>
              <a:endParaRPr lang="en-US"/>
            </a:p>
          </p:txBody>
        </p:sp>
        <p:sp>
          <p:nvSpPr>
            <p:cNvPr id="15385" name="Rectangle 25"/>
            <p:cNvSpPr>
              <a:spLocks noChangeArrowheads="1"/>
            </p:cNvSpPr>
            <p:nvPr userDrawn="1"/>
          </p:nvSpPr>
          <p:spPr bwMode="hidden">
            <a:xfrm rot="930109" flipV="1">
              <a:off x="80" y="1946"/>
              <a:ext cx="575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p>
          </p:txBody>
        </p:sp>
        <p:sp>
          <p:nvSpPr>
            <p:cNvPr id="15386" name="Rectangle 26"/>
            <p:cNvSpPr>
              <a:spLocks noChangeArrowheads="1"/>
            </p:cNvSpPr>
            <p:nvPr userDrawn="1"/>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p>
          </p:txBody>
        </p:sp>
        <p:sp>
          <p:nvSpPr>
            <p:cNvPr id="15387" name="Rectangle 27"/>
            <p:cNvSpPr>
              <a:spLocks noChangeArrowheads="1"/>
            </p:cNvSpPr>
            <p:nvPr userDrawn="1"/>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p>
          </p:txBody>
        </p:sp>
        <p:sp>
          <p:nvSpPr>
            <p:cNvPr id="15388" name="Rectangle 28"/>
            <p:cNvSpPr>
              <a:spLocks noChangeArrowheads="1"/>
            </p:cNvSpPr>
            <p:nvPr userDrawn="1"/>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p>
          </p:txBody>
        </p:sp>
        <p:sp>
          <p:nvSpPr>
            <p:cNvPr id="15389" name="Rectangle 29"/>
            <p:cNvSpPr>
              <a:spLocks noChangeArrowheads="1"/>
            </p:cNvSpPr>
            <p:nvPr userDrawn="1"/>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a:lstStyle/>
            <a:p>
              <a:pPr algn="ctr"/>
              <a:endParaRPr lang="en-US"/>
            </a:p>
          </p:txBody>
        </p:sp>
        <p:sp>
          <p:nvSpPr>
            <p:cNvPr id="15390" name="Rectangle 30"/>
            <p:cNvSpPr>
              <a:spLocks noChangeArrowheads="1"/>
            </p:cNvSpPr>
            <p:nvPr userDrawn="1"/>
          </p:nvSpPr>
          <p:spPr bwMode="hidden">
            <a:xfrm rot="655690" flipV="1">
              <a:off x="1487" y="1305"/>
              <a:ext cx="431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endParaRPr lang="en-US"/>
            </a:p>
          </p:txBody>
        </p:sp>
        <p:sp>
          <p:nvSpPr>
            <p:cNvPr id="15391" name="Rectangle 31"/>
            <p:cNvSpPr>
              <a:spLocks noChangeArrowheads="1"/>
            </p:cNvSpPr>
            <p:nvPr userDrawn="1"/>
          </p:nvSpPr>
          <p:spPr bwMode="hidden">
            <a:xfrm rot="636921" flipV="1">
              <a:off x="1650" y="1218"/>
              <a:ext cx="415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endParaRPr lang="en-US"/>
            </a:p>
          </p:txBody>
        </p:sp>
        <p:sp>
          <p:nvSpPr>
            <p:cNvPr id="15392" name="Rectangle 32"/>
            <p:cNvSpPr>
              <a:spLocks noChangeArrowheads="1"/>
            </p:cNvSpPr>
            <p:nvPr userDrawn="1"/>
          </p:nvSpPr>
          <p:spPr bwMode="hidden">
            <a:xfrm rot="803987" flipV="1">
              <a:off x="611" y="1684"/>
              <a:ext cx="5204"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p>
          </p:txBody>
        </p:sp>
        <p:sp>
          <p:nvSpPr>
            <p:cNvPr id="15393" name="Rectangle 33"/>
            <p:cNvSpPr>
              <a:spLocks noChangeArrowheads="1"/>
            </p:cNvSpPr>
            <p:nvPr userDrawn="1"/>
          </p:nvSpPr>
          <p:spPr bwMode="hidden">
            <a:xfrm rot="1273217" flipV="1">
              <a:off x="-204" y="2976"/>
              <a:ext cx="6150"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rot="10800000"/>
            <a:lstStyle/>
            <a:p>
              <a:pPr algn="ctr"/>
              <a:endParaRPr lang="en-US"/>
            </a:p>
          </p:txBody>
        </p:sp>
        <p:sp>
          <p:nvSpPr>
            <p:cNvPr id="15394" name="Rectangle 34"/>
            <p:cNvSpPr>
              <a:spLocks noChangeArrowheads="1"/>
            </p:cNvSpPr>
            <p:nvPr userDrawn="1"/>
          </p:nvSpPr>
          <p:spPr bwMode="hidden">
            <a:xfrm rot="1169729" flipV="1">
              <a:off x="-174" y="2663"/>
              <a:ext cx="6104" cy="6"/>
            </a:xfrm>
            <a:prstGeom prst="rect">
              <a:avLst/>
            </a:prstGeom>
            <a:gradFill rotWithShape="0">
              <a:gsLst>
                <a:gs pos="0">
                  <a:schemeClr val="bg1"/>
                </a:gs>
                <a:gs pos="100000">
                  <a:schemeClr val="bg1">
                    <a:gamma/>
                    <a:shade val="51373"/>
                    <a:invGamma/>
                  </a:schemeClr>
                </a:gs>
              </a:gsLst>
              <a:lin ang="2700000" scaled="1"/>
            </a:gradFill>
            <a:ln w="9525">
              <a:noFill/>
              <a:miter lim="800000"/>
              <a:headEnd/>
              <a:tailEnd/>
            </a:ln>
            <a:effectLst/>
          </p:spPr>
          <p:txBody>
            <a:bodyPr rot="10800000"/>
            <a:lstStyle/>
            <a:p>
              <a:pPr algn="ctr"/>
              <a:endParaRPr lang="en-US"/>
            </a:p>
          </p:txBody>
        </p:sp>
        <p:sp>
          <p:nvSpPr>
            <p:cNvPr id="15395"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396"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397"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398"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399"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00"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01"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02"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03"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04"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05"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06"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07"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08"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09"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10"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11"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12"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endParaRPr lang="en-AU"/>
            </a:p>
          </p:txBody>
        </p:sp>
        <p:sp>
          <p:nvSpPr>
            <p:cNvPr id="15413"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endParaRPr lang="en-AU"/>
            </a:p>
          </p:txBody>
        </p:sp>
        <p:sp>
          <p:nvSpPr>
            <p:cNvPr id="15414"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15"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16"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17"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18"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19"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20"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21"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22"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23"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24"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25"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26"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27"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28"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29"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30"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31"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32"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33"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34"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35"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36"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37"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38"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39"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40"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41"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42"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443"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444"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45"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446"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47"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48"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49"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50"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51"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52"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53"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54"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55"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56"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57"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58"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59"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0"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1"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2"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3"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4"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465"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466"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5467"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5468"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69"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5470"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71"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72"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73"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74"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75"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76"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77"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78"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79"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480"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81"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82"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83"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84"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85"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5486"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487"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488"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89"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490"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1"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2"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3"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4"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5"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6"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497"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498"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499"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500"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501"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02"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503"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5504"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505"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06"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07"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508"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09"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0"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11"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5512"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3"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4"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5"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6"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7"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8"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19"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0"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1"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2"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3"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4"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5"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6"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7"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28"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5529"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5530"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531"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532"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3"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4"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5"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6"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7"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8"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39"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40"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41"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2"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3"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4"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5"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6"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7"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8"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49"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headEnd/>
              <a:tailEnd/>
            </a:ln>
            <a:effectLst/>
          </p:spPr>
          <p:txBody>
            <a:bodyPr/>
            <a:lstStyle/>
            <a:p>
              <a:endParaRPr lang="en-AU"/>
            </a:p>
          </p:txBody>
        </p:sp>
        <p:sp>
          <p:nvSpPr>
            <p:cNvPr id="15550"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51"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52"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5553"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5554"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5555"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5556" name="Oval 196"/>
            <p:cNvSpPr>
              <a:spLocks noChangeArrowheads="1"/>
            </p:cNvSpPr>
            <p:nvPr/>
          </p:nvSpPr>
          <p:spPr bwMode="hidden">
            <a:xfrm>
              <a:off x="3255" y="4071"/>
              <a:ext cx="196" cy="106"/>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57" name="Oval 197"/>
            <p:cNvSpPr>
              <a:spLocks noChangeArrowheads="1"/>
            </p:cNvSpPr>
            <p:nvPr/>
          </p:nvSpPr>
          <p:spPr bwMode="hidden">
            <a:xfrm>
              <a:off x="3651" y="3693"/>
              <a:ext cx="196" cy="111"/>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58" name="Oval 198"/>
            <p:cNvSpPr>
              <a:spLocks noChangeArrowheads="1"/>
            </p:cNvSpPr>
            <p:nvPr/>
          </p:nvSpPr>
          <p:spPr bwMode="hidden">
            <a:xfrm>
              <a:off x="4773" y="3705"/>
              <a:ext cx="201" cy="106"/>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endParaRPr lang="en-AU"/>
            </a:p>
          </p:txBody>
        </p:sp>
        <p:sp>
          <p:nvSpPr>
            <p:cNvPr id="15559" name="Oval 199"/>
            <p:cNvSpPr>
              <a:spLocks noChangeArrowheads="1"/>
            </p:cNvSpPr>
            <p:nvPr/>
          </p:nvSpPr>
          <p:spPr bwMode="hidden">
            <a:xfrm>
              <a:off x="4491" y="4049"/>
              <a:ext cx="196" cy="105"/>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endParaRPr lang="en-AU"/>
            </a:p>
          </p:txBody>
        </p:sp>
        <p:sp>
          <p:nvSpPr>
            <p:cNvPr id="15560" name="Oval 200"/>
            <p:cNvSpPr>
              <a:spLocks noChangeArrowheads="1"/>
            </p:cNvSpPr>
            <p:nvPr/>
          </p:nvSpPr>
          <p:spPr bwMode="hidden">
            <a:xfrm>
              <a:off x="3989" y="3396"/>
              <a:ext cx="168" cy="96"/>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1" name="Oval 201"/>
            <p:cNvSpPr>
              <a:spLocks noChangeArrowheads="1"/>
            </p:cNvSpPr>
            <p:nvPr/>
          </p:nvSpPr>
          <p:spPr bwMode="hidden">
            <a:xfrm>
              <a:off x="4263" y="3141"/>
              <a:ext cx="167" cy="95"/>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2" name="Oval 202"/>
            <p:cNvSpPr>
              <a:spLocks noChangeArrowheads="1"/>
            </p:cNvSpPr>
            <p:nvPr/>
          </p:nvSpPr>
          <p:spPr bwMode="hidden">
            <a:xfrm>
              <a:off x="5044" y="3418"/>
              <a:ext cx="167" cy="95"/>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endParaRPr lang="en-AU"/>
            </a:p>
          </p:txBody>
        </p:sp>
        <p:sp>
          <p:nvSpPr>
            <p:cNvPr id="15563" name="Oval 203"/>
            <p:cNvSpPr>
              <a:spLocks noChangeArrowheads="1"/>
            </p:cNvSpPr>
            <p:nvPr/>
          </p:nvSpPr>
          <p:spPr bwMode="hidden">
            <a:xfrm>
              <a:off x="4553" y="2873"/>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4" name="Oval 204"/>
            <p:cNvSpPr>
              <a:spLocks noChangeArrowheads="1"/>
            </p:cNvSpPr>
            <p:nvPr/>
          </p:nvSpPr>
          <p:spPr bwMode="hidden">
            <a:xfrm>
              <a:off x="5293" y="3116"/>
              <a:ext cx="168" cy="95"/>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5" name="Oval 205"/>
            <p:cNvSpPr>
              <a:spLocks noChangeArrowheads="1"/>
            </p:cNvSpPr>
            <p:nvPr/>
          </p:nvSpPr>
          <p:spPr bwMode="hidden">
            <a:xfrm>
              <a:off x="5497" y="2879"/>
              <a:ext cx="156" cy="89"/>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endParaRPr lang="en-AU"/>
            </a:p>
          </p:txBody>
        </p:sp>
        <p:sp>
          <p:nvSpPr>
            <p:cNvPr id="15566" name="Oval 206"/>
            <p:cNvSpPr>
              <a:spLocks noChangeArrowheads="1"/>
            </p:cNvSpPr>
            <p:nvPr/>
          </p:nvSpPr>
          <p:spPr bwMode="hidden">
            <a:xfrm>
              <a:off x="4772" y="2673"/>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7" name="Oval 207"/>
            <p:cNvSpPr>
              <a:spLocks noChangeArrowheads="1"/>
            </p:cNvSpPr>
            <p:nvPr/>
          </p:nvSpPr>
          <p:spPr bwMode="hidden">
            <a:xfrm>
              <a:off x="4966" y="2488"/>
              <a:ext cx="156" cy="84"/>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8" name="Oval 208"/>
            <p:cNvSpPr>
              <a:spLocks noChangeArrowheads="1"/>
            </p:cNvSpPr>
            <p:nvPr/>
          </p:nvSpPr>
          <p:spPr bwMode="hidden">
            <a:xfrm>
              <a:off x="5444" y="2052"/>
              <a:ext cx="134" cy="7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69" name="Oval 209"/>
            <p:cNvSpPr>
              <a:spLocks noChangeArrowheads="1"/>
            </p:cNvSpPr>
            <p:nvPr/>
          </p:nvSpPr>
          <p:spPr bwMode="hidden">
            <a:xfrm>
              <a:off x="5161" y="2314"/>
              <a:ext cx="140" cy="7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70" name="Oval 210"/>
            <p:cNvSpPr>
              <a:spLocks noChangeArrowheads="1"/>
            </p:cNvSpPr>
            <p:nvPr/>
          </p:nvSpPr>
          <p:spPr bwMode="hidden">
            <a:xfrm>
              <a:off x="5318" y="2176"/>
              <a:ext cx="134" cy="61"/>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71" name="Oval 211"/>
            <p:cNvSpPr>
              <a:spLocks noChangeArrowheads="1"/>
            </p:cNvSpPr>
            <p:nvPr/>
          </p:nvSpPr>
          <p:spPr bwMode="hidden">
            <a:xfrm>
              <a:off x="5581" y="1933"/>
              <a:ext cx="128" cy="61"/>
            </a:xfrm>
            <a:prstGeom prst="ellipse">
              <a:avLst/>
            </a:prstGeom>
            <a:gradFill rotWithShape="0">
              <a:gsLst>
                <a:gs pos="0">
                  <a:schemeClr val="bg1"/>
                </a:gs>
                <a:gs pos="100000">
                  <a:schemeClr val="bg1">
                    <a:gamma/>
                    <a:shade val="57647"/>
                    <a:invGamma/>
                  </a:schemeClr>
                </a:gs>
              </a:gsLst>
              <a:lin ang="2700000" scaled="1"/>
            </a:gradFill>
            <a:ln w="9525">
              <a:noFill/>
              <a:round/>
              <a:headEnd/>
              <a:tailEnd/>
            </a:ln>
            <a:effectLst/>
          </p:spPr>
          <p:txBody>
            <a:bodyPr/>
            <a:lstStyle/>
            <a:p>
              <a:endParaRPr lang="en-AU"/>
            </a:p>
          </p:txBody>
        </p:sp>
        <p:sp>
          <p:nvSpPr>
            <p:cNvPr id="15572" name="Oval 212"/>
            <p:cNvSpPr>
              <a:spLocks noChangeArrowheads="1"/>
            </p:cNvSpPr>
            <p:nvPr/>
          </p:nvSpPr>
          <p:spPr bwMode="hidden">
            <a:xfrm>
              <a:off x="5689" y="1811"/>
              <a:ext cx="128" cy="61"/>
            </a:xfrm>
            <a:prstGeom prst="ellipse">
              <a:avLst/>
            </a:prstGeom>
            <a:gradFill rotWithShape="0">
              <a:gsLst>
                <a:gs pos="0">
                  <a:schemeClr val="bg1"/>
                </a:gs>
                <a:gs pos="100000">
                  <a:schemeClr val="bg1">
                    <a:gamma/>
                    <a:shade val="57647"/>
                    <a:invGamma/>
                  </a:schemeClr>
                </a:gs>
              </a:gsLst>
              <a:lin ang="2700000" scaled="1"/>
            </a:gradFill>
            <a:ln w="9525">
              <a:noFill/>
              <a:round/>
              <a:headEnd/>
              <a:tailEnd/>
            </a:ln>
            <a:effectLst/>
          </p:spPr>
          <p:txBody>
            <a:bodyPr/>
            <a:lstStyle/>
            <a:p>
              <a:endParaRPr lang="en-AU"/>
            </a:p>
          </p:txBody>
        </p:sp>
        <p:sp>
          <p:nvSpPr>
            <p:cNvPr id="15573" name="Oval 213"/>
            <p:cNvSpPr>
              <a:spLocks noChangeArrowheads="1"/>
            </p:cNvSpPr>
            <p:nvPr/>
          </p:nvSpPr>
          <p:spPr bwMode="hidden">
            <a:xfrm>
              <a:off x="5663" y="2680"/>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endParaRPr lang="en-AU"/>
            </a:p>
          </p:txBody>
        </p:sp>
        <p:sp>
          <p:nvSpPr>
            <p:cNvPr id="15574"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5575"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5576"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5577" name="Oval 217"/>
            <p:cNvSpPr>
              <a:spLocks noChangeArrowheads="1"/>
            </p:cNvSpPr>
            <p:nvPr/>
          </p:nvSpPr>
          <p:spPr bwMode="hidden">
            <a:xfrm>
              <a:off x="5624" y="4010"/>
              <a:ext cx="201" cy="106"/>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endParaRPr lang="en-AU"/>
            </a:p>
          </p:txBody>
        </p:sp>
      </p:grpSp>
      <p:sp>
        <p:nvSpPr>
          <p:cNvPr id="15578" name="Rectangle 218"/>
          <p:cNvSpPr>
            <a:spLocks noGrp="1" noChangeArrowheads="1"/>
          </p:cNvSpPr>
          <p:nvPr>
            <p:ph type="ctrTitle" sz="quarter"/>
          </p:nvPr>
        </p:nvSpPr>
        <p:spPr>
          <a:xfrm>
            <a:off x="685800" y="1844675"/>
            <a:ext cx="7772400" cy="1736725"/>
          </a:xfrm>
        </p:spPr>
        <p:txBody>
          <a:bodyPr anchor="b" anchorCtr="1"/>
          <a:lstStyle>
            <a:lvl1pPr>
              <a:defRPr sz="5400"/>
            </a:lvl1pPr>
          </a:lstStyle>
          <a:p>
            <a:r>
              <a:rPr lang="en-AU"/>
              <a:t>Click to edit Master title style</a:t>
            </a:r>
          </a:p>
        </p:txBody>
      </p:sp>
      <p:sp>
        <p:nvSpPr>
          <p:cNvPr id="15579" name="Rectangle 219"/>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AU"/>
              <a:t>Click to edit Master subtitle style</a:t>
            </a:r>
          </a:p>
        </p:txBody>
      </p:sp>
      <p:sp>
        <p:nvSpPr>
          <p:cNvPr id="15580" name="Rectangle 220"/>
          <p:cNvSpPr>
            <a:spLocks noGrp="1" noChangeArrowheads="1"/>
          </p:cNvSpPr>
          <p:nvPr>
            <p:ph type="dt" sz="quarter" idx="2"/>
          </p:nvPr>
        </p:nvSpPr>
        <p:spPr/>
        <p:txBody>
          <a:bodyPr/>
          <a:lstStyle>
            <a:lvl1pPr>
              <a:defRPr/>
            </a:lvl1pPr>
          </a:lstStyle>
          <a:p>
            <a:endParaRPr lang="en-AU"/>
          </a:p>
        </p:txBody>
      </p:sp>
      <p:sp>
        <p:nvSpPr>
          <p:cNvPr id="15581" name="Rectangle 221"/>
          <p:cNvSpPr>
            <a:spLocks noGrp="1" noChangeArrowheads="1"/>
          </p:cNvSpPr>
          <p:nvPr>
            <p:ph type="ftr" sz="quarter" idx="3"/>
          </p:nvPr>
        </p:nvSpPr>
        <p:spPr>
          <a:xfrm>
            <a:off x="3124200" y="6248400"/>
            <a:ext cx="2895600" cy="457200"/>
          </a:xfrm>
        </p:spPr>
        <p:txBody>
          <a:bodyPr/>
          <a:lstStyle>
            <a:lvl1pPr>
              <a:defRPr/>
            </a:lvl1pPr>
          </a:lstStyle>
          <a:p>
            <a:endParaRPr lang="en-AU"/>
          </a:p>
        </p:txBody>
      </p:sp>
      <p:sp>
        <p:nvSpPr>
          <p:cNvPr id="15582" name="Rectangle 222"/>
          <p:cNvSpPr>
            <a:spLocks noGrp="1" noChangeArrowheads="1"/>
          </p:cNvSpPr>
          <p:nvPr>
            <p:ph type="sldNum" sz="quarter" idx="4"/>
          </p:nvPr>
        </p:nvSpPr>
        <p:spPr/>
        <p:txBody>
          <a:bodyPr/>
          <a:lstStyle>
            <a:lvl1pPr>
              <a:defRPr/>
            </a:lvl1pPr>
          </a:lstStyle>
          <a:p>
            <a:fld id="{BB2B4874-69DE-40F5-87DF-45CC678093E1}" type="slidenum">
              <a:rPr lang="en-AU"/>
              <a:pPr/>
              <a:t>‹#›</a:t>
            </a:fld>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Slide Number Placeholder 3"/>
          <p:cNvSpPr>
            <a:spLocks noGrp="1"/>
          </p:cNvSpPr>
          <p:nvPr>
            <p:ph type="sldNum" sz="quarter" idx="10"/>
          </p:nvPr>
        </p:nvSpPr>
        <p:spPr/>
        <p:txBody>
          <a:bodyPr/>
          <a:lstStyle>
            <a:lvl1pPr>
              <a:defRPr/>
            </a:lvl1pPr>
          </a:lstStyle>
          <a:p>
            <a:fld id="{1276F744-7646-4A6E-BD18-FD4D89AFF4CA}" type="slidenum">
              <a:rPr lang="en-AU"/>
              <a:pPr/>
              <a:t>‹#›</a:t>
            </a:fld>
            <a:endParaRPr lang="en-AU"/>
          </a:p>
        </p:txBody>
      </p:sp>
      <p:sp>
        <p:nvSpPr>
          <p:cNvPr id="5" name="Date Placeholder 4"/>
          <p:cNvSpPr>
            <a:spLocks noGrp="1"/>
          </p:cNvSpPr>
          <p:nvPr>
            <p:ph type="dt" sz="half" idx="11"/>
          </p:nvPr>
        </p:nvSpPr>
        <p:spPr/>
        <p:txBody>
          <a:bodyPr/>
          <a:lstStyle>
            <a:lvl1pPr>
              <a:defRPr/>
            </a:lvl1pPr>
          </a:lstStyle>
          <a:p>
            <a:endParaRPr lang="en-AU"/>
          </a:p>
        </p:txBody>
      </p:sp>
      <p:sp>
        <p:nvSpPr>
          <p:cNvPr id="6" name="Footer Placeholder 5"/>
          <p:cNvSpPr>
            <a:spLocks noGrp="1"/>
          </p:cNvSpPr>
          <p:nvPr>
            <p:ph type="ftr" sz="quarter" idx="12"/>
          </p:nvPr>
        </p:nvSpPr>
        <p:spPr/>
        <p:txBody>
          <a:bodyPr/>
          <a:lstStyle>
            <a:lvl1pPr>
              <a:defRPr/>
            </a:lvl1pPr>
          </a:lstStyle>
          <a:p>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BEE3087-FEB1-4613-9FA1-F5FB3875AD65}" type="slidenum">
              <a:rPr lang="en-AU"/>
              <a:pPr/>
              <a:t>‹#›</a:t>
            </a:fld>
            <a:endParaRPr lang="en-AU"/>
          </a:p>
        </p:txBody>
      </p:sp>
      <p:sp>
        <p:nvSpPr>
          <p:cNvPr id="3" name="Date Placeholder 2"/>
          <p:cNvSpPr>
            <a:spLocks noGrp="1"/>
          </p:cNvSpPr>
          <p:nvPr>
            <p:ph type="dt" sz="half" idx="11"/>
          </p:nvPr>
        </p:nvSpPr>
        <p:spPr/>
        <p:txBody>
          <a:bodyPr/>
          <a:lstStyle>
            <a:lvl1pPr>
              <a:defRPr/>
            </a:lvl1pPr>
          </a:lstStyle>
          <a:p>
            <a:endParaRPr lang="en-AU"/>
          </a:p>
        </p:txBody>
      </p:sp>
      <p:sp>
        <p:nvSpPr>
          <p:cNvPr id="4" name="Footer Placeholder 3"/>
          <p:cNvSpPr>
            <a:spLocks noGrp="1"/>
          </p:cNvSpPr>
          <p:nvPr>
            <p:ph type="ftr" sz="quarter" idx="12"/>
          </p:nvPr>
        </p:nvSpPr>
        <p:spPr/>
        <p:txBody>
          <a:bodyPr/>
          <a:lstStyle>
            <a:lvl1pPr>
              <a:defRPr/>
            </a:lvl1pPr>
          </a:lstStyle>
          <a:p>
            <a:endParaRPr lang="en-AU"/>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0E3EDAD6-882F-44E8-A3D7-00EE9320D174}" type="datetimeFigureOut">
              <a:rPr lang="en-US" smtClean="0"/>
              <a:pPr/>
              <a:t>4/16/2009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22AA9BCA-F427-4626-864E-877A7744829C}" type="slidenum">
              <a:rPr lang="en-AU" smtClean="0"/>
              <a:pPr/>
              <a:t>‹#›</a:t>
            </a:fld>
            <a:endParaRPr lang="en-AU"/>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66CCFF"/>
                </a:solidFill>
                <a:effectLst>
                  <a:glow rad="139700">
                    <a:schemeClr val="accent1">
                      <a:satMod val="175000"/>
                      <a:alpha val="40000"/>
                    </a:schemeClr>
                  </a:glow>
                </a:effectLst>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3EDAD6-882F-44E8-A3D7-00EE9320D174}" type="datetimeFigureOut">
              <a:rPr lang="en-US" smtClean="0"/>
              <a:pPr/>
              <a:t>4/16/2009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2AA9BCA-F427-4626-864E-877A7744829C}" type="slidenum">
              <a:rPr lang="en-AU" smtClean="0"/>
              <a:pPr/>
              <a:t>‹#›</a:t>
            </a:fld>
            <a:endParaRPr lang="en-AU"/>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7" name="Flowchart: Document 6"/>
          <p:cNvSpPr/>
          <p:nvPr/>
        </p:nvSpPr>
        <p:spPr>
          <a:xfrm rot="10800000">
            <a:off x="1" y="1520731"/>
            <a:ext cx="9144000" cy="3435579"/>
          </a:xfrm>
          <a:custGeom>
            <a:avLst/>
            <a:gdLst>
              <a:gd name="connsiteX0" fmla="*/ 0 w 21600"/>
              <a:gd name="connsiteY0" fmla="*/ 0 h 18805"/>
              <a:gd name="connsiteX1" fmla="*/ 21600 w 21600"/>
              <a:gd name="connsiteY1" fmla="*/ 0 h 18805"/>
              <a:gd name="connsiteX2" fmla="*/ 21600 w 21600"/>
              <a:gd name="connsiteY2" fmla="*/ 17322 h 18805"/>
              <a:gd name="connsiteX3" fmla="*/ 0 w 21600"/>
              <a:gd name="connsiteY3" fmla="*/ 18805 h 18805"/>
              <a:gd name="connsiteX4" fmla="*/ 0 w 21600"/>
              <a:gd name="connsiteY4" fmla="*/ 0 h 18805"/>
              <a:gd name="connsiteX0" fmla="*/ 0 w 21600"/>
              <a:gd name="connsiteY0" fmla="*/ 0 h 18805"/>
              <a:gd name="connsiteX1" fmla="*/ 21600 w 21600"/>
              <a:gd name="connsiteY1" fmla="*/ 0 h 18805"/>
              <a:gd name="connsiteX2" fmla="*/ 21600 w 21600"/>
              <a:gd name="connsiteY2" fmla="*/ 17322 h 18805"/>
              <a:gd name="connsiteX3" fmla="*/ 0 w 21600"/>
              <a:gd name="connsiteY3" fmla="*/ 18805 h 18805"/>
              <a:gd name="connsiteX4" fmla="*/ 0 w 21600"/>
              <a:gd name="connsiteY4" fmla="*/ 0 h 18805"/>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9355"/>
              <a:gd name="connsiteX1" fmla="*/ 21600 w 21600"/>
              <a:gd name="connsiteY1" fmla="*/ 0 h 19355"/>
              <a:gd name="connsiteX2" fmla="*/ 21600 w 21600"/>
              <a:gd name="connsiteY2" fmla="*/ 17322 h 19355"/>
              <a:gd name="connsiteX3" fmla="*/ 0 w 21600"/>
              <a:gd name="connsiteY3" fmla="*/ 19355 h 19355"/>
              <a:gd name="connsiteX4" fmla="*/ 0 w 21600"/>
              <a:gd name="connsiteY4" fmla="*/ 0 h 19355"/>
              <a:gd name="connsiteX0" fmla="*/ 0 w 21600"/>
              <a:gd name="connsiteY0" fmla="*/ 0 h 19355"/>
              <a:gd name="connsiteX1" fmla="*/ 21600 w 21600"/>
              <a:gd name="connsiteY1" fmla="*/ 0 h 19355"/>
              <a:gd name="connsiteX2" fmla="*/ 21600 w 21600"/>
              <a:gd name="connsiteY2" fmla="*/ 17322 h 19355"/>
              <a:gd name="connsiteX3" fmla="*/ 0 w 21600"/>
              <a:gd name="connsiteY3" fmla="*/ 19355 h 19355"/>
              <a:gd name="connsiteX4" fmla="*/ 0 w 21600"/>
              <a:gd name="connsiteY4" fmla="*/ 0 h 19355"/>
              <a:gd name="connsiteX0" fmla="*/ 0 w 21600"/>
              <a:gd name="connsiteY0" fmla="*/ 0 h 19794"/>
              <a:gd name="connsiteX1" fmla="*/ 21600 w 21600"/>
              <a:gd name="connsiteY1" fmla="*/ 0 h 19794"/>
              <a:gd name="connsiteX2" fmla="*/ 21600 w 21600"/>
              <a:gd name="connsiteY2" fmla="*/ 17322 h 19794"/>
              <a:gd name="connsiteX3" fmla="*/ 0 w 21600"/>
              <a:gd name="connsiteY3" fmla="*/ 19794 h 19794"/>
              <a:gd name="connsiteX4" fmla="*/ 0 w 21600"/>
              <a:gd name="connsiteY4" fmla="*/ 0 h 19794"/>
              <a:gd name="connsiteX0" fmla="*/ 0 w 21600"/>
              <a:gd name="connsiteY0" fmla="*/ 0 h 19794"/>
              <a:gd name="connsiteX1" fmla="*/ 21600 w 21600"/>
              <a:gd name="connsiteY1" fmla="*/ 0 h 19794"/>
              <a:gd name="connsiteX2" fmla="*/ 21600 w 21600"/>
              <a:gd name="connsiteY2" fmla="*/ 17322 h 19794"/>
              <a:gd name="connsiteX3" fmla="*/ 0 w 21600"/>
              <a:gd name="connsiteY3" fmla="*/ 19794 h 19794"/>
              <a:gd name="connsiteX4" fmla="*/ 0 w 21600"/>
              <a:gd name="connsiteY4" fmla="*/ 0 h 19794"/>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19794">
                <a:moveTo>
                  <a:pt x="0" y="0"/>
                </a:moveTo>
                <a:lnTo>
                  <a:pt x="21600" y="0"/>
                </a:lnTo>
                <a:lnTo>
                  <a:pt x="21600" y="17322"/>
                </a:lnTo>
                <a:cubicBezTo>
                  <a:pt x="10800" y="17322"/>
                  <a:pt x="7466" y="25350"/>
                  <a:pt x="0" y="19794"/>
                </a:cubicBezTo>
                <a:lnTo>
                  <a:pt x="0" y="0"/>
                </a:lnTo>
                <a:close/>
              </a:path>
            </a:pathLst>
          </a:custGeom>
          <a:gradFill>
            <a:gsLst>
              <a:gs pos="100000">
                <a:schemeClr val="bg2">
                  <a:tint val="28000"/>
                  <a:satMod val="2000000"/>
                  <a:alpha val="30000"/>
                </a:schemeClr>
              </a:gs>
              <a:gs pos="35000">
                <a:schemeClr val="bg2">
                  <a:shade val="100000"/>
                  <a:satMod val="600000"/>
                  <a:alpha val="0"/>
                </a:schemeClr>
              </a:gs>
            </a:gsLst>
            <a:lin ang="54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Title 8"/>
          <p:cNvSpPr>
            <a:spLocks noGrp="1"/>
          </p:cNvSpPr>
          <p:nvPr>
            <p:ph type="ctrTitle"/>
          </p:nvPr>
        </p:nvSpPr>
        <p:spPr>
          <a:xfrm>
            <a:off x="502920" y="2775745"/>
            <a:ext cx="8229600" cy="2167128"/>
          </a:xfrm>
        </p:spPr>
        <p:txBody>
          <a:bodyPr tIns="0" bIns="0" anchor="t"/>
          <a:lstStyle>
            <a:lvl1pPr>
              <a:defRPr sz="5000" cap="all" baseline="0">
                <a:effectLst>
                  <a:outerShdw blurRad="30000" dist="30000" dir="2700000" algn="tl" rotWithShape="0">
                    <a:schemeClr val="bg2">
                      <a:shade val="45000"/>
                      <a:satMod val="150000"/>
                      <a:alpha val="90000"/>
                    </a:schemeClr>
                  </a:outerShdw>
                  <a:reflection blurRad="12000" stA="25000" endPos="49000" dist="5000" dir="5400000" sy="-100000" algn="bl" rotWithShape="0"/>
                </a:effectLst>
              </a:defRPr>
            </a:lvl1pPr>
          </a:lstStyle>
          <a:p>
            <a:r>
              <a:rPr lang="en-US" smtClean="0"/>
              <a:t>Click to edit Master title style</a:t>
            </a:r>
            <a:endParaRPr lang="en-US" dirty="0"/>
          </a:p>
        </p:txBody>
      </p:sp>
      <p:sp>
        <p:nvSpPr>
          <p:cNvPr id="17" name="Subtitle 16"/>
          <p:cNvSpPr>
            <a:spLocks noGrp="1"/>
          </p:cNvSpPr>
          <p:nvPr>
            <p:ph type="subTitle" idx="1"/>
          </p:nvPr>
        </p:nvSpPr>
        <p:spPr>
          <a:xfrm>
            <a:off x="500064" y="1559720"/>
            <a:ext cx="5105400" cy="1219200"/>
          </a:xfrm>
        </p:spPr>
        <p:txBody>
          <a:bodyPr lIns="0" tIns="0" rIns="0" bIns="0" anchor="b"/>
          <a:lstStyle>
            <a:lvl1pPr marL="0" indent="0" algn="l">
              <a:buNone/>
              <a:defRPr sz="19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30" name="Date Placeholder 29"/>
          <p:cNvSpPr>
            <a:spLocks noGrp="1"/>
          </p:cNvSpPr>
          <p:nvPr>
            <p:ph type="dt" sz="half" idx="10"/>
          </p:nvPr>
        </p:nvSpPr>
        <p:spPr/>
        <p:txBody>
          <a:bodyPr/>
          <a:lstStyle/>
          <a:p>
            <a:fld id="{0E3EDAD6-882F-44E8-A3D7-00EE9320D174}" type="datetimeFigureOut">
              <a:rPr lang="en-US" smtClean="0"/>
              <a:pPr/>
              <a:t>4/16/2009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22AA9BCA-F427-4626-864E-877A7744829C}" type="slidenum">
              <a:rPr lang="en-AU" smtClean="0"/>
              <a:pPr/>
              <a:t>‹#›</a:t>
            </a:fld>
            <a:endParaRPr lang="en-AU"/>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3EDAD6-882F-44E8-A3D7-00EE9320D174}" type="datetimeFigureOut">
              <a:rPr lang="en-US" smtClean="0"/>
              <a:pPr/>
              <a:t>4/16/2009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2AA9BCA-F427-4626-864E-877A7744829C}" type="slidenum">
              <a:rPr lang="en-AU" smtClean="0"/>
              <a:pPr/>
              <a:t>‹#›</a:t>
            </a:fld>
            <a:endParaRPr lang="en-AU"/>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990600"/>
            <a:ext cx="7772400" cy="1362456"/>
          </a:xfrm>
        </p:spPr>
        <p:txBody>
          <a:bodyPr>
            <a:noAutofit/>
          </a:bodyPr>
          <a:lstStyle>
            <a:lvl1pPr algn="l">
              <a:buNone/>
              <a:defRPr sz="48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722313" y="2352677"/>
            <a:ext cx="7772400" cy="1509712"/>
          </a:xfrm>
        </p:spPr>
        <p:txBody>
          <a:bodyPr anchor="t"/>
          <a:lstStyle>
            <a:lvl1pPr>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p>
            <a:fld id="{0E3EDAD6-882F-44E8-A3D7-00EE9320D174}" type="datetimeFigureOut">
              <a:rPr lang="en-US" smtClean="0"/>
              <a:pPr/>
              <a:t>4/16/2009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2AA9BCA-F427-4626-864E-877A7744829C}" type="slidenum">
              <a:rPr lang="en-AU" smtClean="0"/>
              <a:pPr/>
              <a:t>‹#›</a:t>
            </a:fld>
            <a:endParaRPr lang="en-AU"/>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3EDAD6-882F-44E8-A3D7-00EE9320D174}" type="datetimeFigureOut">
              <a:rPr lang="en-US" smtClean="0"/>
              <a:pPr/>
              <a:t>4/16/2009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2AA9BCA-F427-4626-864E-877A7744829C}"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4.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7CB97365-EBCA-4027-87D5-99FC1D4DF0BB}" type="datetimeFigureOut">
              <a:rPr lang="en-US" smtClean="0"/>
              <a:pPr/>
              <a:t>4/16/2009</a:t>
            </a:fld>
            <a:endParaRPr lang="en-US">
              <a:solidFill>
                <a:schemeClr val="tx1">
                  <a:shade val="50000"/>
                </a:schemeClr>
              </a:solidFill>
            </a:endParaRPr>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kumimoji="0" lang="en-US">
              <a:solidFill>
                <a:schemeClr val="tx1">
                  <a:shade val="50000"/>
                </a:schemeClr>
              </a:solidFill>
            </a:endParaRPr>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69E29E33-B620-47F9-BB04-8846C2A5AFCC}" type="slidenum">
              <a:rPr kumimoji="0" lang="en-US" smtClean="0"/>
              <a:pPr/>
              <a:t>‹#›</a:t>
            </a:fld>
            <a:endParaRPr kumimoji="0" lang="en-US" dirty="0">
              <a:solidFill>
                <a:schemeClr val="tx1">
                  <a:shade val="50000"/>
                </a:schemeClr>
              </a:solidFill>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2700000" scaled="1"/>
        </a:gra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496888" y="1308100"/>
            <a:ext cx="10429876" cy="5908675"/>
            <a:chOff x="-313" y="824"/>
            <a:chExt cx="6570" cy="3722"/>
          </a:xfrm>
        </p:grpSpPr>
        <p:sp>
          <p:nvSpPr>
            <p:cNvPr id="14339" name="Rectangle 3"/>
            <p:cNvSpPr>
              <a:spLocks noChangeArrowheads="1"/>
            </p:cNvSpPr>
            <p:nvPr userDrawn="1"/>
          </p:nvSpPr>
          <p:spPr bwMode="hidden">
            <a:xfrm rot="20798144" flipV="1">
              <a:off x="-14" y="1033"/>
              <a:ext cx="1744"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0" name="Rectangle 4"/>
            <p:cNvSpPr>
              <a:spLocks noChangeArrowheads="1"/>
            </p:cNvSpPr>
            <p:nvPr userDrawn="1"/>
          </p:nvSpPr>
          <p:spPr bwMode="hidden">
            <a:xfrm rot="20774366" flipV="1">
              <a:off x="-24" y="1127"/>
              <a:ext cx="203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1" name="Rectangle 5"/>
            <p:cNvSpPr>
              <a:spLocks noChangeArrowheads="1"/>
            </p:cNvSpPr>
            <p:nvPr userDrawn="1"/>
          </p:nvSpPr>
          <p:spPr bwMode="hidden">
            <a:xfrm rot="20757421" flipV="1">
              <a:off x="-27" y="1198"/>
              <a:ext cx="224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2" name="Rectangle 6"/>
            <p:cNvSpPr>
              <a:spLocks noChangeArrowheads="1"/>
            </p:cNvSpPr>
            <p:nvPr userDrawn="1"/>
          </p:nvSpPr>
          <p:spPr bwMode="hidden">
            <a:xfrm rot="20684206" flipV="1">
              <a:off x="-43" y="1283"/>
              <a:ext cx="247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3" name="Rectangle 7"/>
            <p:cNvSpPr>
              <a:spLocks noChangeArrowheads="1"/>
            </p:cNvSpPr>
            <p:nvPr userDrawn="1"/>
          </p:nvSpPr>
          <p:spPr bwMode="hidden">
            <a:xfrm rot="20631226" flipV="1">
              <a:off x="-51" y="1397"/>
              <a:ext cx="2770"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4" name="Rectangle 8"/>
            <p:cNvSpPr>
              <a:spLocks noChangeArrowheads="1"/>
            </p:cNvSpPr>
            <p:nvPr userDrawn="1"/>
          </p:nvSpPr>
          <p:spPr bwMode="hidden">
            <a:xfrm rot="20554235" flipV="1">
              <a:off x="-65" y="1523"/>
              <a:ext cx="3058"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5" name="Rectangle 9"/>
            <p:cNvSpPr>
              <a:spLocks noChangeArrowheads="1"/>
            </p:cNvSpPr>
            <p:nvPr userDrawn="1"/>
          </p:nvSpPr>
          <p:spPr bwMode="hidden">
            <a:xfrm rot="20466593" flipV="1">
              <a:off x="-93" y="1694"/>
              <a:ext cx="340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6" name="Rectangle 10"/>
            <p:cNvSpPr>
              <a:spLocks noChangeArrowheads="1"/>
            </p:cNvSpPr>
            <p:nvPr userDrawn="1"/>
          </p:nvSpPr>
          <p:spPr bwMode="hidden">
            <a:xfrm rot="20343219" flipV="1">
              <a:off x="-99" y="1863"/>
              <a:ext cx="3749" cy="6"/>
            </a:xfrm>
            <a:prstGeom prst="rect">
              <a:avLst/>
            </a:prstGeom>
            <a:gradFill rotWithShape="0">
              <a:gsLst>
                <a:gs pos="0">
                  <a:schemeClr val="bg1"/>
                </a:gs>
                <a:gs pos="100000">
                  <a:schemeClr val="bg1">
                    <a:gamma/>
                    <a:shade val="84706"/>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7" name="Rectangle 11"/>
            <p:cNvSpPr>
              <a:spLocks noChangeArrowheads="1"/>
            </p:cNvSpPr>
            <p:nvPr userDrawn="1"/>
          </p:nvSpPr>
          <p:spPr bwMode="hidden">
            <a:xfrm rot="20211065" flipV="1">
              <a:off x="-165" y="2053"/>
              <a:ext cx="4209" cy="6"/>
            </a:xfrm>
            <a:prstGeom prst="rect">
              <a:avLst/>
            </a:prstGeom>
            <a:gradFill rotWithShape="0">
              <a:gsLst>
                <a:gs pos="0">
                  <a:schemeClr val="bg1"/>
                </a:gs>
                <a:gs pos="100000">
                  <a:schemeClr val="bg1">
                    <a:gamma/>
                    <a:shade val="75686"/>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8" name="Rectangle 12"/>
            <p:cNvSpPr>
              <a:spLocks noChangeArrowheads="1"/>
            </p:cNvSpPr>
            <p:nvPr userDrawn="1"/>
          </p:nvSpPr>
          <p:spPr bwMode="hidden">
            <a:xfrm rot="20102912" flipV="1">
              <a:off x="-214" y="2289"/>
              <a:ext cx="4612"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49" name="Rectangle 13"/>
            <p:cNvSpPr>
              <a:spLocks noChangeArrowheads="1"/>
            </p:cNvSpPr>
            <p:nvPr userDrawn="1"/>
          </p:nvSpPr>
          <p:spPr bwMode="hidden">
            <a:xfrm rot="19923405" flipV="1">
              <a:off x="-313" y="2617"/>
              <a:ext cx="5200"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50" name="Rectangle 14"/>
            <p:cNvSpPr>
              <a:spLocks noChangeArrowheads="1"/>
            </p:cNvSpPr>
            <p:nvPr userDrawn="1"/>
          </p:nvSpPr>
          <p:spPr bwMode="hidden">
            <a:xfrm rot="19686284" flipV="1">
              <a:off x="9" y="2881"/>
              <a:ext cx="5401" cy="6"/>
            </a:xfrm>
            <a:prstGeom prst="rect">
              <a:avLst/>
            </a:prstGeom>
            <a:gradFill rotWithShape="0">
              <a:gsLst>
                <a:gs pos="0">
                  <a:schemeClr val="bg1"/>
                </a:gs>
                <a:gs pos="100000">
                  <a:schemeClr val="bg1">
                    <a:gamma/>
                    <a:shade val="46275"/>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51" name="Rectangle 15"/>
            <p:cNvSpPr>
              <a:spLocks noChangeArrowheads="1"/>
            </p:cNvSpPr>
            <p:nvPr userDrawn="1"/>
          </p:nvSpPr>
          <p:spPr bwMode="hidden">
            <a:xfrm rot="19383534" flipV="1">
              <a:off x="1319" y="2928"/>
              <a:ext cx="4612" cy="6"/>
            </a:xfrm>
            <a:prstGeom prst="rect">
              <a:avLst/>
            </a:prstGeom>
            <a:gradFill rotWithShape="0">
              <a:gsLst>
                <a:gs pos="0">
                  <a:schemeClr val="bg1"/>
                </a:gs>
                <a:gs pos="100000">
                  <a:schemeClr val="bg1">
                    <a:gamma/>
                    <a:shade val="30196"/>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52" name="Rectangle 16"/>
            <p:cNvSpPr>
              <a:spLocks noChangeArrowheads="1"/>
            </p:cNvSpPr>
            <p:nvPr userDrawn="1"/>
          </p:nvSpPr>
          <p:spPr bwMode="hidden">
            <a:xfrm rot="18994182" flipV="1">
              <a:off x="2681" y="3071"/>
              <a:ext cx="3576" cy="6"/>
            </a:xfrm>
            <a:prstGeom prst="rect">
              <a:avLst/>
            </a:prstGeom>
            <a:gradFill rotWithShape="0">
              <a:gsLst>
                <a:gs pos="0">
                  <a:schemeClr val="bg1"/>
                </a:gs>
                <a:gs pos="100000">
                  <a:schemeClr val="bg1">
                    <a:gamma/>
                    <a:shade val="3137"/>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53" name="Rectangle 17"/>
            <p:cNvSpPr>
              <a:spLocks noChangeArrowheads="1"/>
            </p:cNvSpPr>
            <p:nvPr userDrawn="1"/>
          </p:nvSpPr>
          <p:spPr bwMode="hidden">
            <a:xfrm rot="18603245" flipV="1">
              <a:off x="4052" y="3504"/>
              <a:ext cx="2079"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endParaRPr lang="en-US">
                <a:effectLst>
                  <a:outerShdw blurRad="38100" dist="38100" dir="2700000" algn="tl">
                    <a:srgbClr val="000000"/>
                  </a:outerShdw>
                </a:effectLst>
              </a:endParaRPr>
            </a:p>
          </p:txBody>
        </p:sp>
        <p:sp>
          <p:nvSpPr>
            <p:cNvPr id="14354" name="Rectangle 18"/>
            <p:cNvSpPr>
              <a:spLocks noChangeArrowheads="1"/>
            </p:cNvSpPr>
            <p:nvPr userDrawn="1"/>
          </p:nvSpPr>
          <p:spPr bwMode="hidden">
            <a:xfrm rot="39991575" flipH="1" flipV="1">
              <a:off x="5368" y="4167"/>
              <a:ext cx="501"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endParaRPr lang="en-US">
                <a:effectLst>
                  <a:outerShdw blurRad="38100" dist="38100" dir="2700000" algn="tl">
                    <a:srgbClr val="000000"/>
                  </a:outerShdw>
                </a:effectLst>
              </a:endParaRPr>
            </a:p>
          </p:txBody>
        </p:sp>
        <p:sp>
          <p:nvSpPr>
            <p:cNvPr id="14355" name="Rectangle 19"/>
            <p:cNvSpPr>
              <a:spLocks noChangeArrowheads="1"/>
            </p:cNvSpPr>
            <p:nvPr userDrawn="1"/>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56" name="Rectangle 20"/>
            <p:cNvSpPr>
              <a:spLocks noChangeArrowheads="1"/>
            </p:cNvSpPr>
            <p:nvPr userDrawn="1"/>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57" name="Rectangle 21"/>
            <p:cNvSpPr>
              <a:spLocks noChangeArrowheads="1"/>
            </p:cNvSpPr>
            <p:nvPr userDrawn="1"/>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58" name="Rectangle 22"/>
            <p:cNvSpPr>
              <a:spLocks noChangeArrowheads="1"/>
            </p:cNvSpPr>
            <p:nvPr userDrawn="1"/>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59" name="Rectangle 23"/>
            <p:cNvSpPr>
              <a:spLocks noChangeArrowheads="1"/>
            </p:cNvSpPr>
            <p:nvPr userDrawn="1"/>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0" name="Rectangle 24"/>
            <p:cNvSpPr>
              <a:spLocks noChangeArrowheads="1"/>
            </p:cNvSpPr>
            <p:nvPr userDrawn="1"/>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1" name="Rectangle 25"/>
            <p:cNvSpPr>
              <a:spLocks noChangeArrowheads="1"/>
            </p:cNvSpPr>
            <p:nvPr userDrawn="1"/>
          </p:nvSpPr>
          <p:spPr bwMode="hidden">
            <a:xfrm rot="930109" flipV="1">
              <a:off x="80" y="1946"/>
              <a:ext cx="575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62" name="Rectangle 26"/>
            <p:cNvSpPr>
              <a:spLocks noChangeArrowheads="1"/>
            </p:cNvSpPr>
            <p:nvPr userDrawn="1"/>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3" name="Rectangle 27"/>
            <p:cNvSpPr>
              <a:spLocks noChangeArrowheads="1"/>
            </p:cNvSpPr>
            <p:nvPr userDrawn="1"/>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4" name="Rectangle 28"/>
            <p:cNvSpPr>
              <a:spLocks noChangeArrowheads="1"/>
            </p:cNvSpPr>
            <p:nvPr userDrawn="1"/>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5" name="Rectangle 29"/>
            <p:cNvSpPr>
              <a:spLocks noChangeArrowheads="1"/>
            </p:cNvSpPr>
            <p:nvPr userDrawn="1"/>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a:lstStyle/>
            <a:p>
              <a:pPr algn="ctr"/>
              <a:endParaRPr lang="en-US">
                <a:effectLst>
                  <a:outerShdw blurRad="38100" dist="38100" dir="2700000" algn="tl">
                    <a:srgbClr val="000000"/>
                  </a:outerShdw>
                </a:effectLst>
              </a:endParaRPr>
            </a:p>
          </p:txBody>
        </p:sp>
        <p:sp>
          <p:nvSpPr>
            <p:cNvPr id="14366" name="Rectangle 30"/>
            <p:cNvSpPr>
              <a:spLocks noChangeArrowheads="1"/>
            </p:cNvSpPr>
            <p:nvPr userDrawn="1"/>
          </p:nvSpPr>
          <p:spPr bwMode="hidden">
            <a:xfrm rot="655690" flipV="1">
              <a:off x="1487" y="1305"/>
              <a:ext cx="431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67" name="Rectangle 31"/>
            <p:cNvSpPr>
              <a:spLocks noChangeArrowheads="1"/>
            </p:cNvSpPr>
            <p:nvPr userDrawn="1"/>
          </p:nvSpPr>
          <p:spPr bwMode="hidden">
            <a:xfrm rot="636921" flipV="1">
              <a:off x="1650" y="1218"/>
              <a:ext cx="415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68" name="Rectangle 32"/>
            <p:cNvSpPr>
              <a:spLocks noChangeArrowheads="1"/>
            </p:cNvSpPr>
            <p:nvPr userDrawn="1"/>
          </p:nvSpPr>
          <p:spPr bwMode="hidden">
            <a:xfrm rot="803987" flipV="1">
              <a:off x="611" y="1684"/>
              <a:ext cx="5204"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69" name="Rectangle 33"/>
            <p:cNvSpPr>
              <a:spLocks noChangeArrowheads="1"/>
            </p:cNvSpPr>
            <p:nvPr userDrawn="1"/>
          </p:nvSpPr>
          <p:spPr bwMode="hidden">
            <a:xfrm rot="1273217" flipV="1">
              <a:off x="-204" y="2976"/>
              <a:ext cx="6150"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70" name="Rectangle 34"/>
            <p:cNvSpPr>
              <a:spLocks noChangeArrowheads="1"/>
            </p:cNvSpPr>
            <p:nvPr userDrawn="1"/>
          </p:nvSpPr>
          <p:spPr bwMode="hidden">
            <a:xfrm rot="1169729" flipV="1">
              <a:off x="-174" y="2663"/>
              <a:ext cx="6104" cy="6"/>
            </a:xfrm>
            <a:prstGeom prst="rect">
              <a:avLst/>
            </a:prstGeom>
            <a:gradFill rotWithShape="0">
              <a:gsLst>
                <a:gs pos="0">
                  <a:schemeClr val="bg1"/>
                </a:gs>
                <a:gs pos="100000">
                  <a:schemeClr val="bg1">
                    <a:gamma/>
                    <a:shade val="51373"/>
                    <a:invGamma/>
                  </a:schemeClr>
                </a:gs>
              </a:gsLst>
              <a:lin ang="2700000" scaled="1"/>
            </a:gradFill>
            <a:ln w="9525">
              <a:noFill/>
              <a:miter lim="800000"/>
              <a:headEnd/>
              <a:tailEnd/>
            </a:ln>
            <a:effectLst/>
          </p:spPr>
          <p:txBody>
            <a:bodyPr rot="10800000"/>
            <a:lstStyle/>
            <a:p>
              <a:pPr algn="ctr"/>
              <a:endParaRPr lang="en-US">
                <a:effectLst>
                  <a:outerShdw blurRad="38100" dist="38100" dir="2700000" algn="tl">
                    <a:srgbClr val="000000"/>
                  </a:outerShdw>
                </a:effectLst>
              </a:endParaRPr>
            </a:p>
          </p:txBody>
        </p:sp>
        <p:sp>
          <p:nvSpPr>
            <p:cNvPr id="14371"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72"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73"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74"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75"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76"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77"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78"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379"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0"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81"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2"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3"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384"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5"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6"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7"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88"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endParaRPr lang="en-AU"/>
            </a:p>
          </p:txBody>
        </p:sp>
        <p:sp>
          <p:nvSpPr>
            <p:cNvPr id="14389"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endParaRPr lang="en-AU"/>
            </a:p>
          </p:txBody>
        </p:sp>
        <p:sp>
          <p:nvSpPr>
            <p:cNvPr id="14390"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391"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392"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393"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394"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395"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396"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397"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398"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399"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00"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01"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02"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03"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04"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05"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06"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07"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408"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409"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0"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1"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2"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3"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14"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5"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6"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7"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18"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19"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20"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21"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22"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423"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424"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25"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26"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27"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28"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429"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430"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1"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2"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3"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4"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5"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6"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7"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8"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39"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40"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441"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442"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4443"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4444"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45"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endParaRPr lang="en-AU"/>
            </a:p>
          </p:txBody>
        </p:sp>
        <p:sp>
          <p:nvSpPr>
            <p:cNvPr id="14446"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447"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448"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49"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50"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51"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52"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53"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54"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55"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56"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57"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58"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59"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460"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461"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endParaRPr lang="en-AU"/>
            </a:p>
          </p:txBody>
        </p:sp>
        <p:sp>
          <p:nvSpPr>
            <p:cNvPr id="14462"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463"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64"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65"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66"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67"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68"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69"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70"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71"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72"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73"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474"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75"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76"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77"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78"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479"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endParaRPr lang="en-AU"/>
            </a:p>
          </p:txBody>
        </p:sp>
        <p:sp>
          <p:nvSpPr>
            <p:cNvPr id="14480"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81"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82"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83"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484"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85"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86"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87"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endParaRPr lang="en-AU"/>
            </a:p>
          </p:txBody>
        </p:sp>
        <p:sp>
          <p:nvSpPr>
            <p:cNvPr id="14488"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89"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0"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1"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2"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3"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4"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5"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6"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7"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8"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499"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0"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1"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2"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3"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4"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endParaRPr lang="en-AU"/>
            </a:p>
          </p:txBody>
        </p:sp>
        <p:sp>
          <p:nvSpPr>
            <p:cNvPr id="14505"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endParaRPr lang="en-AU"/>
            </a:p>
          </p:txBody>
        </p:sp>
        <p:sp>
          <p:nvSpPr>
            <p:cNvPr id="14506"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507"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508"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09"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0"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1"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2"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3"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4"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5"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6"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17"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18"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19"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0"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1"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2"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3"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4"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5"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headEnd/>
              <a:tailEnd/>
            </a:ln>
            <a:effectLst/>
          </p:spPr>
          <p:txBody>
            <a:bodyPr/>
            <a:lstStyle/>
            <a:p>
              <a:endParaRPr lang="en-AU"/>
            </a:p>
          </p:txBody>
        </p:sp>
        <p:sp>
          <p:nvSpPr>
            <p:cNvPr id="14526"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7"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8"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endParaRPr lang="en-AU"/>
            </a:p>
          </p:txBody>
        </p:sp>
        <p:sp>
          <p:nvSpPr>
            <p:cNvPr id="14529"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4530"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4531"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endParaRPr lang="en-AU"/>
            </a:p>
          </p:txBody>
        </p:sp>
        <p:sp>
          <p:nvSpPr>
            <p:cNvPr id="14532" name="Oval 196"/>
            <p:cNvSpPr>
              <a:spLocks noChangeArrowheads="1"/>
            </p:cNvSpPr>
            <p:nvPr/>
          </p:nvSpPr>
          <p:spPr bwMode="hidden">
            <a:xfrm>
              <a:off x="3255" y="4071"/>
              <a:ext cx="196" cy="106"/>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33" name="Oval 197"/>
            <p:cNvSpPr>
              <a:spLocks noChangeArrowheads="1"/>
            </p:cNvSpPr>
            <p:nvPr/>
          </p:nvSpPr>
          <p:spPr bwMode="hidden">
            <a:xfrm>
              <a:off x="3651" y="3693"/>
              <a:ext cx="196" cy="111"/>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34" name="Oval 198"/>
            <p:cNvSpPr>
              <a:spLocks noChangeArrowheads="1"/>
            </p:cNvSpPr>
            <p:nvPr/>
          </p:nvSpPr>
          <p:spPr bwMode="hidden">
            <a:xfrm>
              <a:off x="4773" y="3705"/>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endParaRPr lang="en-AU"/>
            </a:p>
          </p:txBody>
        </p:sp>
        <p:sp>
          <p:nvSpPr>
            <p:cNvPr id="14535" name="Oval 199"/>
            <p:cNvSpPr>
              <a:spLocks noChangeArrowheads="1"/>
            </p:cNvSpPr>
            <p:nvPr/>
          </p:nvSpPr>
          <p:spPr bwMode="hidden">
            <a:xfrm>
              <a:off x="4491" y="4049"/>
              <a:ext cx="196" cy="105"/>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endParaRPr lang="en-AU"/>
            </a:p>
          </p:txBody>
        </p:sp>
        <p:sp>
          <p:nvSpPr>
            <p:cNvPr id="14536" name="Oval 200"/>
            <p:cNvSpPr>
              <a:spLocks noChangeArrowheads="1"/>
            </p:cNvSpPr>
            <p:nvPr/>
          </p:nvSpPr>
          <p:spPr bwMode="hidden">
            <a:xfrm>
              <a:off x="3989" y="3396"/>
              <a:ext cx="168" cy="96"/>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37" name="Oval 201"/>
            <p:cNvSpPr>
              <a:spLocks noChangeArrowheads="1"/>
            </p:cNvSpPr>
            <p:nvPr/>
          </p:nvSpPr>
          <p:spPr bwMode="hidden">
            <a:xfrm>
              <a:off x="4263" y="3141"/>
              <a:ext cx="167" cy="95"/>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38" name="Oval 202"/>
            <p:cNvSpPr>
              <a:spLocks noChangeArrowheads="1"/>
            </p:cNvSpPr>
            <p:nvPr/>
          </p:nvSpPr>
          <p:spPr bwMode="hidden">
            <a:xfrm>
              <a:off x="5044" y="3418"/>
              <a:ext cx="167" cy="95"/>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endParaRPr lang="en-AU"/>
            </a:p>
          </p:txBody>
        </p:sp>
        <p:sp>
          <p:nvSpPr>
            <p:cNvPr id="14539" name="Oval 203"/>
            <p:cNvSpPr>
              <a:spLocks noChangeArrowheads="1"/>
            </p:cNvSpPr>
            <p:nvPr/>
          </p:nvSpPr>
          <p:spPr bwMode="hidden">
            <a:xfrm>
              <a:off x="4553" y="28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0" name="Oval 204"/>
            <p:cNvSpPr>
              <a:spLocks noChangeArrowheads="1"/>
            </p:cNvSpPr>
            <p:nvPr/>
          </p:nvSpPr>
          <p:spPr bwMode="hidden">
            <a:xfrm>
              <a:off x="5293" y="3116"/>
              <a:ext cx="168" cy="95"/>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1" name="Oval 205"/>
            <p:cNvSpPr>
              <a:spLocks noChangeArrowheads="1"/>
            </p:cNvSpPr>
            <p:nvPr/>
          </p:nvSpPr>
          <p:spPr bwMode="hidden">
            <a:xfrm>
              <a:off x="5497" y="2879"/>
              <a:ext cx="156" cy="89"/>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endParaRPr lang="en-AU"/>
            </a:p>
          </p:txBody>
        </p:sp>
        <p:sp>
          <p:nvSpPr>
            <p:cNvPr id="14542" name="Oval 206"/>
            <p:cNvSpPr>
              <a:spLocks noChangeArrowheads="1"/>
            </p:cNvSpPr>
            <p:nvPr/>
          </p:nvSpPr>
          <p:spPr bwMode="hidden">
            <a:xfrm>
              <a:off x="4772" y="26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3" name="Oval 207"/>
            <p:cNvSpPr>
              <a:spLocks noChangeArrowheads="1"/>
            </p:cNvSpPr>
            <p:nvPr/>
          </p:nvSpPr>
          <p:spPr bwMode="hidden">
            <a:xfrm>
              <a:off x="4966" y="2488"/>
              <a:ext cx="156" cy="84"/>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4" name="Oval 208"/>
            <p:cNvSpPr>
              <a:spLocks noChangeArrowheads="1"/>
            </p:cNvSpPr>
            <p:nvPr/>
          </p:nvSpPr>
          <p:spPr bwMode="hidden">
            <a:xfrm>
              <a:off x="5444" y="2052"/>
              <a:ext cx="134" cy="7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5" name="Oval 209"/>
            <p:cNvSpPr>
              <a:spLocks noChangeArrowheads="1"/>
            </p:cNvSpPr>
            <p:nvPr/>
          </p:nvSpPr>
          <p:spPr bwMode="hidden">
            <a:xfrm>
              <a:off x="5161" y="2314"/>
              <a:ext cx="140" cy="7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6" name="Oval 210"/>
            <p:cNvSpPr>
              <a:spLocks noChangeArrowheads="1"/>
            </p:cNvSpPr>
            <p:nvPr/>
          </p:nvSpPr>
          <p:spPr bwMode="hidden">
            <a:xfrm>
              <a:off x="5318" y="2176"/>
              <a:ext cx="134" cy="61"/>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47" name="Oval 211"/>
            <p:cNvSpPr>
              <a:spLocks noChangeArrowheads="1"/>
            </p:cNvSpPr>
            <p:nvPr/>
          </p:nvSpPr>
          <p:spPr bwMode="hidden">
            <a:xfrm>
              <a:off x="5581" y="1933"/>
              <a:ext cx="128" cy="61"/>
            </a:xfrm>
            <a:prstGeom prst="ellipse">
              <a:avLst/>
            </a:prstGeom>
            <a:gradFill rotWithShape="0">
              <a:gsLst>
                <a:gs pos="0">
                  <a:schemeClr val="accent2"/>
                </a:gs>
                <a:gs pos="100000">
                  <a:schemeClr val="accent2">
                    <a:gamma/>
                    <a:shade val="57647"/>
                    <a:invGamma/>
                  </a:schemeClr>
                </a:gs>
              </a:gsLst>
              <a:lin ang="2700000" scaled="1"/>
            </a:gradFill>
            <a:ln w="9525">
              <a:noFill/>
              <a:round/>
              <a:headEnd/>
              <a:tailEnd/>
            </a:ln>
            <a:effectLst/>
          </p:spPr>
          <p:txBody>
            <a:bodyPr/>
            <a:lstStyle/>
            <a:p>
              <a:endParaRPr lang="en-AU"/>
            </a:p>
          </p:txBody>
        </p:sp>
        <p:sp>
          <p:nvSpPr>
            <p:cNvPr id="14548" name="Oval 212"/>
            <p:cNvSpPr>
              <a:spLocks noChangeArrowheads="1"/>
            </p:cNvSpPr>
            <p:nvPr/>
          </p:nvSpPr>
          <p:spPr bwMode="hidden">
            <a:xfrm>
              <a:off x="5689" y="1811"/>
              <a:ext cx="128" cy="61"/>
            </a:xfrm>
            <a:prstGeom prst="ellipse">
              <a:avLst/>
            </a:prstGeom>
            <a:gradFill rotWithShape="0">
              <a:gsLst>
                <a:gs pos="0">
                  <a:schemeClr val="accent2"/>
                </a:gs>
                <a:gs pos="100000">
                  <a:schemeClr val="accent2">
                    <a:gamma/>
                    <a:shade val="57647"/>
                    <a:invGamma/>
                  </a:schemeClr>
                </a:gs>
              </a:gsLst>
              <a:lin ang="2700000" scaled="1"/>
            </a:gradFill>
            <a:ln w="9525">
              <a:noFill/>
              <a:round/>
              <a:headEnd/>
              <a:tailEnd/>
            </a:ln>
            <a:effectLst/>
          </p:spPr>
          <p:txBody>
            <a:bodyPr/>
            <a:lstStyle/>
            <a:p>
              <a:endParaRPr lang="en-AU"/>
            </a:p>
          </p:txBody>
        </p:sp>
        <p:sp>
          <p:nvSpPr>
            <p:cNvPr id="14549" name="Oval 213"/>
            <p:cNvSpPr>
              <a:spLocks noChangeArrowheads="1"/>
            </p:cNvSpPr>
            <p:nvPr/>
          </p:nvSpPr>
          <p:spPr bwMode="hidden">
            <a:xfrm>
              <a:off x="5663" y="2680"/>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endParaRPr lang="en-AU"/>
            </a:p>
          </p:txBody>
        </p:sp>
        <p:sp>
          <p:nvSpPr>
            <p:cNvPr id="14550"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endParaRPr lang="en-AU"/>
            </a:p>
          </p:txBody>
        </p:sp>
        <p:sp>
          <p:nvSpPr>
            <p:cNvPr id="14551"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endParaRPr lang="en-AU"/>
            </a:p>
          </p:txBody>
        </p:sp>
        <p:sp>
          <p:nvSpPr>
            <p:cNvPr id="14552"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endParaRPr lang="en-AU"/>
            </a:p>
          </p:txBody>
        </p:sp>
        <p:sp>
          <p:nvSpPr>
            <p:cNvPr id="14553" name="Oval 217"/>
            <p:cNvSpPr>
              <a:spLocks noChangeArrowheads="1"/>
            </p:cNvSpPr>
            <p:nvPr/>
          </p:nvSpPr>
          <p:spPr bwMode="hidden">
            <a:xfrm>
              <a:off x="5624" y="4010"/>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endParaRPr lang="en-AU"/>
            </a:p>
          </p:txBody>
        </p:sp>
      </p:grpSp>
      <p:sp>
        <p:nvSpPr>
          <p:cNvPr id="14554" name="Rectangle 218"/>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43A6F3A5-4446-44BE-BF73-425A0B6B11DD}" type="slidenum">
              <a:rPr lang="en-AU"/>
              <a:pPr/>
              <a:t>‹#›</a:t>
            </a:fld>
            <a:endParaRPr lang="en-AU"/>
          </a:p>
        </p:txBody>
      </p:sp>
      <p:sp>
        <p:nvSpPr>
          <p:cNvPr id="14555" name="Rectangle 219"/>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endParaRPr lang="en-AU"/>
          </a:p>
        </p:txBody>
      </p:sp>
      <p:sp>
        <p:nvSpPr>
          <p:cNvPr id="14556" name="Rectangle 220"/>
          <p:cNvSpPr>
            <a:spLocks noGrp="1" noChangeArrowheads="1"/>
          </p:cNvSpPr>
          <p:nvPr>
            <p:ph type="ftr" sz="quarter" idx="3"/>
          </p:nvPr>
        </p:nvSpPr>
        <p:spPr bwMode="auto">
          <a:xfrm>
            <a:off x="31242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AU"/>
          </a:p>
        </p:txBody>
      </p:sp>
      <p:sp>
        <p:nvSpPr>
          <p:cNvPr id="14557" name="Rectangle 221"/>
          <p:cNvSpPr>
            <a:spLocks noGrp="1" noChangeArrowheads="1"/>
          </p:cNvSpPr>
          <p:nvPr>
            <p:ph type="body" idx="1"/>
          </p:nvPr>
        </p:nvSpPr>
        <p:spPr bwMode="auto">
          <a:xfrm>
            <a:off x="457200" y="1600200"/>
            <a:ext cx="8229600" cy="4533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4558" name="Rectangle 22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fontAlgn="base">
        <a:spcBef>
          <a:spcPct val="20000"/>
        </a:spcBef>
        <a:spcAft>
          <a:spcPct val="0"/>
        </a:spcAft>
        <a:buClr>
          <a:schemeClr val="hlink"/>
        </a:buClr>
        <a:buFont typeface="Wingdings" pitchFamily="2" charset="2"/>
        <a:buBlip>
          <a:blip r:embed="rId5"/>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50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hlink"/>
        </a:buClr>
        <a:buFont typeface="Wingdings" pitchFamily="2" charset="2"/>
        <a:buBlip>
          <a:blip r:embed="rId5"/>
        </a:buBlip>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lr>
          <a:schemeClr val="folHlink"/>
        </a:buClr>
        <a:buSzPct val="50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hlink"/>
        </a:buClr>
        <a:buFont typeface="Wingdings" pitchFamily="2" charset="2"/>
        <a:buBlip>
          <a:blip r:embed="rId5"/>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Blip>
          <a:blip r:embed="rId5"/>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Blip>
          <a:blip r:embed="rId5"/>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Blip>
          <a:blip r:embed="rId5"/>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Blip>
          <a:blip r:embed="rId5"/>
        </a:buBlip>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0E3EDAD6-882F-44E8-A3D7-00EE9320D174}" type="datetimeFigureOut">
              <a:rPr lang="en-US" smtClean="0"/>
              <a:pPr/>
              <a:t>4/16/2009</a:t>
            </a:fld>
            <a:endParaRPr lang="en-AU"/>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AU"/>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22AA9BCA-F427-4626-864E-877A7744829C}" type="slidenum">
              <a:rPr lang="en-AU" smtClean="0"/>
              <a:pPr/>
              <a:t>‹#›</a:t>
            </a:fld>
            <a:endParaRPr lang="en-AU"/>
          </a:p>
        </p:txBody>
      </p:sp>
    </p:spTree>
  </p:cSld>
  <p:clrMap bg1="dk1" tx1="lt1" bg2="dk2" tx2="lt2" accent1="accent1" accent2="accent2" accent3="accent3" accent4="accent4" accent5="accent5" accent6="accent6" hlink="hlink" folHlink="folHlink"/>
  <p:sldLayoutIdLst>
    <p:sldLayoutId id="2147483677" r:id="rId1"/>
    <p:sldLayoutId id="2147483678" r:id="rId2"/>
  </p:sldLayoutIdLst>
  <p:timing>
    <p:tnLst>
      <p:par>
        <p:cTn id="1" dur="indefinite" restart="never" nodeType="tmRoot"/>
      </p:par>
    </p:tnLst>
  </p:timing>
  <p:txStyles>
    <p:titleStyle>
      <a:lvl1pPr algn="l" rtl="0" eaLnBrk="1" latinLnBrk="0" hangingPunct="1">
        <a:spcBef>
          <a:spcPct val="0"/>
        </a:spcBef>
        <a:buNone/>
        <a:defRPr kumimoji="0" sz="4600" kern="1200">
          <a:solidFill>
            <a:srgbClr val="66CCFF"/>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lowchart: Document 6"/>
          <p:cNvSpPr/>
          <p:nvPr/>
        </p:nvSpPr>
        <p:spPr>
          <a:xfrm rot="10800000">
            <a:off x="1" y="1142899"/>
            <a:ext cx="9144000" cy="5562705"/>
          </a:xfrm>
          <a:custGeom>
            <a:avLst/>
            <a:gdLst>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252">
                <a:moveTo>
                  <a:pt x="0" y="0"/>
                </a:moveTo>
                <a:lnTo>
                  <a:pt x="21600" y="0"/>
                </a:lnTo>
                <a:lnTo>
                  <a:pt x="21600" y="17322"/>
                </a:lnTo>
                <a:cubicBezTo>
                  <a:pt x="10800" y="17322"/>
                  <a:pt x="10056" y="24231"/>
                  <a:pt x="0" y="20252"/>
                </a:cubicBezTo>
                <a:lnTo>
                  <a:pt x="0" y="0"/>
                </a:lnTo>
                <a:close/>
              </a:path>
            </a:pathLst>
          </a:custGeom>
          <a:gradFill>
            <a:gsLst>
              <a:gs pos="100000">
                <a:schemeClr val="bg2">
                  <a:tint val="55000"/>
                  <a:satMod val="1800000"/>
                  <a:alpha val="5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Flowchart: Document 7"/>
          <p:cNvSpPr/>
          <p:nvPr/>
        </p:nvSpPr>
        <p:spPr>
          <a:xfrm rot="10800000">
            <a:off x="1" y="1341133"/>
            <a:ext cx="9144000" cy="4480425"/>
          </a:xfrm>
          <a:custGeom>
            <a:avLst/>
            <a:gdLst>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032">
                <a:moveTo>
                  <a:pt x="0" y="0"/>
                </a:moveTo>
                <a:lnTo>
                  <a:pt x="21600" y="0"/>
                </a:lnTo>
                <a:lnTo>
                  <a:pt x="21600" y="17322"/>
                </a:lnTo>
                <a:cubicBezTo>
                  <a:pt x="10800" y="17322"/>
                  <a:pt x="8684" y="24776"/>
                  <a:pt x="0" y="20032"/>
                </a:cubicBezTo>
                <a:lnTo>
                  <a:pt x="0" y="0"/>
                </a:lnTo>
                <a:close/>
              </a:path>
            </a:pathLst>
          </a:custGeom>
          <a:gradFill>
            <a:gsLst>
              <a:gs pos="100000">
                <a:schemeClr val="bg2">
                  <a:tint val="40000"/>
                  <a:satMod val="1900000"/>
                  <a:alpha val="30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Title Placeholder 8"/>
          <p:cNvSpPr>
            <a:spLocks noGrp="1"/>
          </p:cNvSpPr>
          <p:nvPr>
            <p:ph type="title"/>
          </p:nvPr>
        </p:nvSpPr>
        <p:spPr>
          <a:xfrm>
            <a:off x="457200" y="533400"/>
            <a:ext cx="8229600" cy="1524000"/>
          </a:xfrm>
          <a:prstGeom prst="rect">
            <a:avLst/>
          </a:prstGeom>
        </p:spPr>
        <p:txBody>
          <a:bodyPr vert="horz" lIns="0" tIns="9144" rIns="0" bIns="9144" anchor="b">
            <a:normAutofit/>
          </a:bodyPr>
          <a:lstStyle/>
          <a:p>
            <a:r>
              <a:rPr lang="en-US" dirty="0" smtClean="0"/>
              <a:t>Click to edit Master title style</a:t>
            </a:r>
            <a:endParaRPr lang="en-US" dirty="0"/>
          </a:p>
        </p:txBody>
      </p:sp>
      <p:sp>
        <p:nvSpPr>
          <p:cNvPr id="30" name="Text Placeholder 29"/>
          <p:cNvSpPr>
            <a:spLocks noGrp="1"/>
          </p:cNvSpPr>
          <p:nvPr>
            <p:ph type="body" idx="1"/>
          </p:nvPr>
        </p:nvSpPr>
        <p:spPr>
          <a:xfrm>
            <a:off x="457200" y="2179637"/>
            <a:ext cx="8229600" cy="4114800"/>
          </a:xfrm>
          <a:prstGeom prst="rect">
            <a:avLst/>
          </a:prstGeom>
        </p:spPr>
        <p:txBody>
          <a:bodyPr vert="horz" lIns="9144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2"/>
          </p:nvPr>
        </p:nvSpPr>
        <p:spPr>
          <a:xfrm>
            <a:off x="457200" y="6356350"/>
            <a:ext cx="1981200" cy="365125"/>
          </a:xfrm>
          <a:prstGeom prst="rect">
            <a:avLst/>
          </a:prstGeom>
        </p:spPr>
        <p:txBody>
          <a:bodyPr vert="horz" anchor="b"/>
          <a:lstStyle>
            <a:lvl1pPr algn="ctr">
              <a:defRPr sz="1200">
                <a:solidFill>
                  <a:schemeClr val="tx2">
                    <a:shade val="50000"/>
                  </a:schemeClr>
                </a:solidFill>
              </a:defRPr>
            </a:lvl1pPr>
          </a:lstStyle>
          <a:p>
            <a:fld id="{0E3EDAD6-882F-44E8-A3D7-00EE9320D174}" type="datetimeFigureOut">
              <a:rPr lang="en-US" smtClean="0"/>
              <a:pPr/>
              <a:t>4/16/2009</a:t>
            </a:fld>
            <a:endParaRPr lang="en-AU"/>
          </a:p>
        </p:txBody>
      </p:sp>
      <p:sp>
        <p:nvSpPr>
          <p:cNvPr id="22" name="Footer Placeholder 21"/>
          <p:cNvSpPr>
            <a:spLocks noGrp="1"/>
          </p:cNvSpPr>
          <p:nvPr>
            <p:ph type="ftr" sz="quarter" idx="3"/>
          </p:nvPr>
        </p:nvSpPr>
        <p:spPr>
          <a:xfrm>
            <a:off x="2438400" y="6356350"/>
            <a:ext cx="2895600" cy="365125"/>
          </a:xfrm>
          <a:prstGeom prst="rect">
            <a:avLst/>
          </a:prstGeom>
        </p:spPr>
        <p:txBody>
          <a:bodyPr vert="horz" lIns="0" anchor="b"/>
          <a:lstStyle>
            <a:lvl1pPr algn="l">
              <a:defRPr sz="1200">
                <a:solidFill>
                  <a:schemeClr val="tx2">
                    <a:shade val="50000"/>
                  </a:schemeClr>
                </a:solidFill>
              </a:defRPr>
            </a:lvl1pPr>
          </a:lstStyle>
          <a:p>
            <a:endParaRPr lang="en-AU"/>
          </a:p>
        </p:txBody>
      </p:sp>
      <p:sp>
        <p:nvSpPr>
          <p:cNvPr id="18" name="Slide Number Placeholder 17"/>
          <p:cNvSpPr>
            <a:spLocks noGrp="1"/>
          </p:cNvSpPr>
          <p:nvPr>
            <p:ph type="sldNum" sz="quarter" idx="4"/>
          </p:nvPr>
        </p:nvSpPr>
        <p:spPr>
          <a:xfrm>
            <a:off x="8153400" y="6356350"/>
            <a:ext cx="533400" cy="365125"/>
          </a:xfrm>
          <a:prstGeom prst="rect">
            <a:avLst/>
          </a:prstGeom>
        </p:spPr>
        <p:txBody>
          <a:bodyPr vert="horz" lIns="91440" rIns="0" anchor="b"/>
          <a:lstStyle>
            <a:lvl1pPr algn="r">
              <a:defRPr sz="1400">
                <a:solidFill>
                  <a:schemeClr val="tx2">
                    <a:shade val="50000"/>
                  </a:schemeClr>
                </a:solidFill>
              </a:defRPr>
            </a:lvl1pPr>
          </a:lstStyle>
          <a:p>
            <a:fld id="{22AA9BCA-F427-4626-864E-877A7744829C}" type="slidenum">
              <a:rPr lang="en-AU" smtClean="0"/>
              <a:pPr/>
              <a:t>‹#›</a:t>
            </a:fld>
            <a:endParaRPr lang="en-AU"/>
          </a:p>
        </p:txBody>
      </p:sp>
    </p:spTree>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txStyles>
    <p:titleStyle>
      <a:lvl1pPr algn="l" rtl="0" eaLnBrk="1" latinLnBrk="0" hangingPunct="1">
        <a:spcBef>
          <a:spcPct val="0"/>
        </a:spcBef>
        <a:buNone/>
        <a:defRPr sz="4800" b="1" kern="1200">
          <a:ln w="500">
            <a:solidFill>
              <a:schemeClr val="tx2">
                <a:shade val="20000"/>
                <a:satMod val="350000"/>
              </a:schemeClr>
            </a:solidFill>
          </a:ln>
          <a:solidFill>
            <a:srgbClr val="FFFF00"/>
          </a:solidFill>
          <a:effectLst>
            <a:outerShdw blurRad="30000" dist="30000" dir="2700000" algn="tl" rotWithShape="0">
              <a:schemeClr val="bg2">
                <a:shade val="45000"/>
                <a:satMod val="150000"/>
                <a:alpha val="90000"/>
              </a:schemeClr>
            </a:outerShdw>
          </a:effectLst>
          <a:latin typeface="+mj-lt"/>
          <a:ea typeface="+mj-ea"/>
          <a:cs typeface="+mj-cs"/>
        </a:defRPr>
      </a:lvl1pPr>
    </p:titleStyle>
    <p:bodyStyle>
      <a:lvl1pPr marL="320040" indent="-320040" algn="l" rtl="0" eaLnBrk="1" latinLnBrk="0" hangingPunct="1">
        <a:spcBef>
          <a:spcPct val="20000"/>
        </a:spcBef>
        <a:buClr>
          <a:schemeClr val="accent1"/>
        </a:buClr>
        <a:buSzPct val="70000"/>
        <a:buFont typeface="Wingdings 2"/>
        <a:buChar char=""/>
        <a:defRPr sz="3000" kern="1200">
          <a:solidFill>
            <a:schemeClr val="tx1"/>
          </a:solidFill>
          <a:latin typeface="+mn-lt"/>
          <a:ea typeface="+mn-ea"/>
          <a:cs typeface="+mn-cs"/>
        </a:defRPr>
      </a:lvl1pPr>
      <a:lvl2pPr marL="630936" indent="-274320" algn="l" rtl="0" eaLnBrk="1" latinLnBrk="0" hangingPunct="1">
        <a:spcBef>
          <a:spcPct val="20000"/>
        </a:spcBef>
        <a:buClr>
          <a:schemeClr val="accent2"/>
        </a:buClr>
        <a:buFont typeface="Wingdings 2"/>
        <a:buChar char=""/>
        <a:defRPr sz="2600" kern="1200">
          <a:solidFill>
            <a:schemeClr val="tx1"/>
          </a:solidFill>
          <a:latin typeface="+mn-lt"/>
          <a:ea typeface="+mn-ea"/>
          <a:cs typeface="+mn-cs"/>
        </a:defRPr>
      </a:lvl2pPr>
      <a:lvl3pPr marL="923544" indent="-274320" algn="l" rtl="0" eaLnBrk="1" latinLnBrk="0" hangingPunct="1">
        <a:spcBef>
          <a:spcPct val="20000"/>
        </a:spcBef>
        <a:buClr>
          <a:schemeClr val="accent3"/>
        </a:buClr>
        <a:buFont typeface="Wingdings 2"/>
        <a:buChar char=""/>
        <a:defRPr sz="2400" kern="1200">
          <a:solidFill>
            <a:schemeClr val="tx1"/>
          </a:solidFill>
          <a:latin typeface="+mn-lt"/>
          <a:ea typeface="+mn-ea"/>
          <a:cs typeface="+mn-cs"/>
        </a:defRPr>
      </a:lvl3pPr>
      <a:lvl4pPr marL="1188720" indent="-228600" algn="l" rtl="0" eaLnBrk="1" latinLnBrk="0" hangingPunct="1">
        <a:spcBef>
          <a:spcPct val="20000"/>
        </a:spcBef>
        <a:buClr>
          <a:schemeClr val="accent4"/>
        </a:buClr>
        <a:buFont typeface="Wingdings 2"/>
        <a:buChar char=""/>
        <a:defRPr sz="2200" kern="1200">
          <a:solidFill>
            <a:schemeClr val="tx1"/>
          </a:solidFill>
          <a:latin typeface="+mn-lt"/>
          <a:ea typeface="+mn-ea"/>
          <a:cs typeface="+mn-cs"/>
        </a:defRPr>
      </a:lvl4pPr>
      <a:lvl5pPr marL="1426464" indent="-228600" algn="l" rtl="0" eaLnBrk="1" latinLnBrk="0" hangingPunct="1">
        <a:spcBef>
          <a:spcPct val="20000"/>
        </a:spcBef>
        <a:buClr>
          <a:schemeClr val="accent5"/>
        </a:buClr>
        <a:buFont typeface="Wingdings 2"/>
        <a:buChar char=""/>
        <a:defRPr sz="2000" kern="1200">
          <a:solidFill>
            <a:schemeClr val="tx1"/>
          </a:solidFill>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16.xml"/><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hyperlink" Target="http://au.youtube.com/watch?v=5OtKt3ezHY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Housing Affordability</a:t>
            </a:r>
            <a:endParaRPr lang="en-AU" dirty="0"/>
          </a:p>
        </p:txBody>
      </p:sp>
      <p:sp>
        <p:nvSpPr>
          <p:cNvPr id="3" name="Subtitle 2"/>
          <p:cNvSpPr>
            <a:spLocks noGrp="1"/>
          </p:cNvSpPr>
          <p:nvPr>
            <p:ph type="subTitle" idx="1"/>
          </p:nvPr>
        </p:nvSpPr>
        <p:spPr>
          <a:xfrm>
            <a:off x="1371600" y="3929066"/>
            <a:ext cx="6400800" cy="1155232"/>
          </a:xfrm>
          <a:solidFill>
            <a:schemeClr val="bg1">
              <a:lumMod val="50000"/>
              <a:lumOff val="50000"/>
            </a:schemeClr>
          </a:solidFill>
          <a:effectLst>
            <a:glow rad="228600">
              <a:schemeClr val="accent6">
                <a:satMod val="175000"/>
                <a:alpha val="40000"/>
              </a:schemeClr>
            </a:glow>
            <a:outerShdw blurRad="76200" dist="12700" dir="2700000" sy="-23000" kx="-800400" algn="bl" rotWithShape="0">
              <a:prstClr val="black">
                <a:alpha val="20000"/>
              </a:prstClr>
            </a:outerShdw>
          </a:effectLst>
        </p:spPr>
        <p:txBody>
          <a:bodyPr/>
          <a:lstStyle/>
          <a:p>
            <a:r>
              <a:rPr lang="en-AU" dirty="0" smtClean="0">
                <a:effectLst>
                  <a:outerShdw blurRad="38100" dist="38100" dir="2700000" algn="tl">
                    <a:srgbClr val="000000">
                      <a:alpha val="43137"/>
                    </a:srgbClr>
                  </a:outerShdw>
                </a:effectLst>
              </a:rPr>
              <a:t>Presentation </a:t>
            </a:r>
            <a:r>
              <a:rPr lang="en-AU" dirty="0" smtClean="0">
                <a:effectLst>
                  <a:outerShdw blurRad="38100" dist="38100" dir="2700000" algn="tl">
                    <a:srgbClr val="000000">
                      <a:alpha val="43137"/>
                    </a:srgbClr>
                  </a:outerShdw>
                </a:effectLst>
              </a:rPr>
              <a:t>12 </a:t>
            </a:r>
            <a:r>
              <a:rPr lang="en-AU" dirty="0" smtClean="0">
                <a:effectLst>
                  <a:outerShdw blurRad="38100" dist="38100" dir="2700000" algn="tl">
                    <a:srgbClr val="000000">
                      <a:alpha val="43137"/>
                    </a:srgbClr>
                  </a:outerShdw>
                </a:effectLst>
              </a:rPr>
              <a:t>November 2008</a:t>
            </a:r>
            <a:endParaRPr lang="en-AU"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22"/>
          <p:cNvSpPr>
            <a:spLocks noGrp="1" noChangeArrowheads="1"/>
          </p:cNvSpPr>
          <p:nvPr>
            <p:ph type="sldNum" sz="quarter" idx="4"/>
          </p:nvPr>
        </p:nvSpPr>
        <p:spPr/>
        <p:txBody>
          <a:bodyPr/>
          <a:lstStyle/>
          <a:p>
            <a:fld id="{E165074B-72C7-4112-B0FA-BB1080C6039F}" type="slidenum">
              <a:rPr lang="en-AU"/>
              <a:pPr/>
              <a:t>2</a:t>
            </a:fld>
            <a:endParaRPr lang="en-AU"/>
          </a:p>
        </p:txBody>
      </p:sp>
      <p:sp>
        <p:nvSpPr>
          <p:cNvPr id="2050" name="Rectangle 2"/>
          <p:cNvSpPr>
            <a:spLocks noGrp="1" noChangeArrowheads="1"/>
          </p:cNvSpPr>
          <p:nvPr>
            <p:ph type="ctrTitle"/>
          </p:nvPr>
        </p:nvSpPr>
        <p:spPr>
          <a:xfrm>
            <a:off x="685800" y="404813"/>
            <a:ext cx="7772400" cy="3176587"/>
          </a:xfrm>
        </p:spPr>
        <p:txBody>
          <a:bodyPr/>
          <a:lstStyle/>
          <a:p>
            <a:r>
              <a:rPr lang="en-AU" sz="4800"/>
              <a:t>Impact of Shifting Demographics: Implications for Housing Requirements and Public Policy</a:t>
            </a:r>
          </a:p>
        </p:txBody>
      </p:sp>
      <p:sp>
        <p:nvSpPr>
          <p:cNvPr id="2051" name="Rectangle 3"/>
          <p:cNvSpPr>
            <a:spLocks noGrp="1" noChangeArrowheads="1"/>
          </p:cNvSpPr>
          <p:nvPr>
            <p:ph type="subTitle" idx="1"/>
          </p:nvPr>
        </p:nvSpPr>
        <p:spPr>
          <a:xfrm>
            <a:off x="539750" y="3886200"/>
            <a:ext cx="8208963" cy="695325"/>
          </a:xfrm>
        </p:spPr>
        <p:txBody>
          <a:bodyPr/>
          <a:lstStyle/>
          <a:p>
            <a:r>
              <a:rPr lang="en-AU" sz="2800"/>
              <a:t>Gary Garner &amp; Hoon Han</a:t>
            </a:r>
          </a:p>
        </p:txBody>
      </p:sp>
      <p:graphicFrame>
        <p:nvGraphicFramePr>
          <p:cNvPr id="2073" name="Group 25"/>
          <p:cNvGraphicFramePr>
            <a:graphicFrameLocks noGrp="1"/>
          </p:cNvGraphicFramePr>
          <p:nvPr/>
        </p:nvGraphicFramePr>
        <p:xfrm>
          <a:off x="539750" y="4581525"/>
          <a:ext cx="8208963" cy="1800225"/>
        </p:xfrm>
        <a:graphic>
          <a:graphicData uri="http://schemas.openxmlformats.org/drawingml/2006/table">
            <a:tbl>
              <a:tblPr/>
              <a:tblGrid>
                <a:gridCol w="4105275"/>
                <a:gridCol w="4103688"/>
              </a:tblGrid>
              <a:tr h="1800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Gary Garner</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Lecturer, Property &amp; Urban Development</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Queensland University of Technology</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School of Urban Development</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Faculty of Built Environment &amp; Engineering.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Phone: 07 3138 5327</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hlinkClick r:id=""/>
                        </a:rPr>
                        <a:t>g.garner@qut.edu.au</a:t>
                      </a:r>
                      <a:endPar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endParaRPr>
                    </a:p>
                  </a:txBody>
                  <a:tcPr horzOverflow="overflow">
                    <a:lnL cap="flat">
                      <a:noFill/>
                    </a:lnL>
                    <a:lnR>
                      <a:noFill/>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Dr Jung Hoon Han</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Postdoctoral Research Fellow </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Australian Housing and Urban Research Institute</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The University of Queensland</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Queensland 4072</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07 3346 9689 </a:t>
                      </a:r>
                    </a:p>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AU" sz="1200" b="0" i="0" u="none" strike="noStrike" cap="none" normalizeH="0" baseline="0" smtClean="0">
                          <a:ln>
                            <a:noFill/>
                          </a:ln>
                          <a:solidFill>
                            <a:schemeClr val="tx1"/>
                          </a:solidFill>
                          <a:effectLst>
                            <a:outerShdw blurRad="38100" dist="38100" dir="2700000" algn="tl">
                              <a:srgbClr val="000000"/>
                            </a:outerShdw>
                          </a:effectLst>
                          <a:latin typeface="Arial" charset="0"/>
                        </a:rPr>
                        <a:t>jh.han@uq.edu.au</a:t>
                      </a:r>
                    </a:p>
                  </a:txBody>
                  <a:tcPr horzOverflow="overflow">
                    <a:lnL>
                      <a:noFill/>
                    </a:lnL>
                    <a:lnR cap="flat">
                      <a:noFill/>
                    </a:lnR>
                    <a:lnT cap="flat">
                      <a:noFill/>
                    </a:lnT>
                    <a:lnB cap="flat">
                      <a:noFill/>
                    </a:lnB>
                    <a:lnTlToBr>
                      <a:noFill/>
                    </a:lnTlToBr>
                    <a:lnBlToTr>
                      <a:noFill/>
                    </a:lnBlToTr>
                    <a:noFill/>
                  </a:tcPr>
                </a:tc>
              </a:tr>
            </a:tbl>
          </a:graphicData>
        </a:graphic>
      </p:graphicFrame>
    </p:spTree>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7500522" cy="3306150"/>
          </a:xfrm>
        </p:spPr>
        <p:txBody>
          <a:bodyPr>
            <a:noAutofit/>
          </a:bodyPr>
          <a:lstStyle/>
          <a:p>
            <a:r>
              <a:rPr lang="en-AU" sz="3600" dirty="0" smtClean="0"/>
              <a:t>Preliminary Findings Related to the Conceptualisation, Sensitivity &amp; Measurement of Holding Costs &amp; Impact on Housing Affordability</a:t>
            </a:r>
            <a:endParaRPr lang="en-AU" sz="3600" dirty="0"/>
          </a:p>
        </p:txBody>
      </p:sp>
      <p:sp>
        <p:nvSpPr>
          <p:cNvPr id="3" name="Subtitle 2"/>
          <p:cNvSpPr>
            <a:spLocks noGrp="1"/>
          </p:cNvSpPr>
          <p:nvPr>
            <p:ph type="subTitle" idx="1"/>
          </p:nvPr>
        </p:nvSpPr>
        <p:spPr>
          <a:xfrm>
            <a:off x="433050" y="785794"/>
            <a:ext cx="7496536" cy="2511618"/>
          </a:xfrm>
        </p:spPr>
        <p:txBody>
          <a:bodyPr>
            <a:normAutofit fontScale="62500" lnSpcReduction="20000"/>
          </a:bodyPr>
          <a:lstStyle/>
          <a:p>
            <a:r>
              <a:rPr lang="en-AU" sz="3600" dirty="0" smtClean="0">
                <a:solidFill>
                  <a:srgbClr val="92D050"/>
                </a:solidFill>
              </a:rPr>
              <a:t>International Cities Town Centres &amp; Communities Society</a:t>
            </a:r>
          </a:p>
          <a:p>
            <a:r>
              <a:rPr lang="en-AU" sz="4000" b="1" dirty="0" smtClean="0">
                <a:solidFill>
                  <a:srgbClr val="92D050"/>
                </a:solidFill>
                <a:effectLst>
                  <a:outerShdw blurRad="38100" dist="38100" dir="2700000" algn="tl">
                    <a:srgbClr val="000000">
                      <a:alpha val="43137"/>
                    </a:srgbClr>
                  </a:outerShdw>
                </a:effectLst>
              </a:rPr>
              <a:t>ICTC 2008</a:t>
            </a:r>
          </a:p>
          <a:p>
            <a:r>
              <a:rPr lang="en-AU" sz="3600" dirty="0" smtClean="0">
                <a:solidFill>
                  <a:srgbClr val="92D050"/>
                </a:solidFill>
              </a:rPr>
              <a:t>Sydney Olympic Park, Sydney, Australia</a:t>
            </a:r>
          </a:p>
          <a:p>
            <a:r>
              <a:rPr lang="en-AU" sz="3000" b="1" dirty="0" smtClean="0">
                <a:solidFill>
                  <a:srgbClr val="92D050"/>
                </a:solidFill>
                <a:effectLst>
                  <a:outerShdw blurRad="38100" dist="38100" dir="2700000" algn="tl">
                    <a:srgbClr val="000000">
                      <a:alpha val="43137"/>
                    </a:srgbClr>
                  </a:outerShdw>
                </a:effectLst>
              </a:rPr>
              <a:t>7 – 10 October, 2008</a:t>
            </a:r>
            <a:endParaRPr lang="en-AU" sz="1500" dirty="0" smtClean="0"/>
          </a:p>
          <a:p>
            <a:endParaRPr lang="en-AU" dirty="0" smtClean="0"/>
          </a:p>
          <a:p>
            <a:r>
              <a:rPr lang="en-AU" sz="4000" dirty="0" smtClean="0"/>
              <a:t>Gary Owen Garner</a:t>
            </a:r>
          </a:p>
          <a:p>
            <a:r>
              <a:rPr lang="en-AU" sz="2200" dirty="0" smtClean="0"/>
              <a:t>Lecturer in Property &amp; Urban Development, Queensland University of Technology,</a:t>
            </a:r>
          </a:p>
          <a:p>
            <a:r>
              <a:rPr lang="en-AU" sz="2200" dirty="0" smtClean="0"/>
              <a:t>Manager Regional &amp; Urban Economic Strategies,  THG Resource Strategists </a:t>
            </a:r>
          </a:p>
        </p:txBody>
      </p:sp>
    </p:spTree>
  </p:cSld>
  <p:clrMapOvr>
    <a:masterClrMapping/>
  </p:clrMapOvr>
  <p:transition>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948960"/>
          </a:xfrm>
        </p:spPr>
        <p:txBody>
          <a:bodyPr>
            <a:normAutofit fontScale="90000"/>
          </a:bodyPr>
          <a:lstStyle/>
          <a:p>
            <a:r>
              <a:rPr lang="en-AU" dirty="0" smtClean="0"/>
              <a:t>The Impact of Planning Delays &amp; Other Holding Costs on Housing Affordability</a:t>
            </a:r>
            <a:endParaRPr lang="en-AU" dirty="0"/>
          </a:p>
        </p:txBody>
      </p:sp>
      <p:sp>
        <p:nvSpPr>
          <p:cNvPr id="3" name="Subtitle 2"/>
          <p:cNvSpPr>
            <a:spLocks noGrp="1"/>
          </p:cNvSpPr>
          <p:nvPr>
            <p:ph type="subTitle" idx="1"/>
          </p:nvPr>
        </p:nvSpPr>
        <p:spPr/>
        <p:txBody>
          <a:bodyPr>
            <a:normAutofit fontScale="55000" lnSpcReduction="20000"/>
          </a:bodyPr>
          <a:lstStyle/>
          <a:p>
            <a:r>
              <a:rPr lang="en-AU" sz="4000" b="1" dirty="0" smtClean="0">
                <a:solidFill>
                  <a:srgbClr val="92D050"/>
                </a:solidFill>
                <a:effectLst>
                  <a:outerShdw blurRad="38100" dist="38100" dir="2700000" algn="tl">
                    <a:srgbClr val="000000">
                      <a:alpha val="43137"/>
                    </a:srgbClr>
                  </a:outerShdw>
                </a:effectLst>
              </a:rPr>
              <a:t>“Looking Forward Outback” - PIA QLD State Conference, Longreach</a:t>
            </a:r>
          </a:p>
          <a:p>
            <a:r>
              <a:rPr lang="en-AU" dirty="0" smtClean="0">
                <a:solidFill>
                  <a:srgbClr val="92D050"/>
                </a:solidFill>
              </a:rPr>
              <a:t>17-19 September 2008</a:t>
            </a:r>
          </a:p>
          <a:p>
            <a:endParaRPr lang="en-AU" dirty="0" smtClean="0"/>
          </a:p>
          <a:p>
            <a:endParaRPr lang="en-AU" dirty="0" smtClean="0"/>
          </a:p>
          <a:p>
            <a:r>
              <a:rPr lang="en-AU" sz="4000" dirty="0" smtClean="0"/>
              <a:t>Gary Owen Garner</a:t>
            </a:r>
          </a:p>
          <a:p>
            <a:r>
              <a:rPr lang="en-AU" dirty="0" smtClean="0"/>
              <a:t>Lecturer in Property &amp; Urban Development, Queensland University of Technology,</a:t>
            </a:r>
          </a:p>
          <a:p>
            <a:r>
              <a:rPr lang="en-AU" dirty="0" smtClean="0"/>
              <a:t>Manager Regional &amp; Urban Economic Strategies,  THG Resource Strategists </a:t>
            </a:r>
          </a:p>
        </p:txBody>
      </p:sp>
    </p:spTree>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Significance of Housing Affordability</a:t>
            </a:r>
            <a:endParaRPr lang="en-AU" dirty="0"/>
          </a:p>
        </p:txBody>
      </p:sp>
      <p:sp>
        <p:nvSpPr>
          <p:cNvPr id="3" name="Content Placeholder 2"/>
          <p:cNvSpPr>
            <a:spLocks noGrp="1"/>
          </p:cNvSpPr>
          <p:nvPr>
            <p:ph idx="1"/>
          </p:nvPr>
        </p:nvSpPr>
        <p:spPr/>
        <p:txBody>
          <a:bodyPr>
            <a:normAutofit lnSpcReduction="10000"/>
          </a:bodyPr>
          <a:lstStyle/>
          <a:p>
            <a:r>
              <a:rPr lang="en-AU" dirty="0" smtClean="0"/>
              <a:t>Availability of affordable housing </a:t>
            </a:r>
            <a:r>
              <a:rPr lang="en-AU" i="1" dirty="0" smtClean="0">
                <a:solidFill>
                  <a:srgbClr val="FFFF00"/>
                </a:solidFill>
              </a:rPr>
              <a:t>“central to supporting a decent life - entailing the maintenance of stable households connected to the main institutions in our society – jobs, services, family and social networks” </a:t>
            </a:r>
            <a:r>
              <a:rPr lang="en-AU" sz="2200" dirty="0" smtClean="0"/>
              <a:t>(Berry, 2002). </a:t>
            </a:r>
            <a:endParaRPr lang="en-AU" dirty="0" smtClean="0"/>
          </a:p>
          <a:p>
            <a:r>
              <a:rPr lang="en-AU" dirty="0" smtClean="0"/>
              <a:t>Consistent with </a:t>
            </a:r>
            <a:r>
              <a:rPr lang="en-AU" i="1" dirty="0" smtClean="0">
                <a:solidFill>
                  <a:srgbClr val="FFFF00"/>
                </a:solidFill>
              </a:rPr>
              <a:t>“overwhelming evidence that housing has a significant influence on, and is a significant driver of, life fulfilment and quality of life” </a:t>
            </a:r>
            <a:r>
              <a:rPr lang="en-AU" sz="2200" dirty="0" smtClean="0"/>
              <a:t>(Garner, 2006). </a:t>
            </a:r>
            <a:endParaRPr lang="en-AU" dirty="0" smtClean="0"/>
          </a:p>
          <a:p>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Historical context of Housing Affordability in Australia</a:t>
            </a:r>
            <a:endParaRPr lang="en-AU" dirty="0"/>
          </a:p>
        </p:txBody>
      </p:sp>
      <p:sp>
        <p:nvSpPr>
          <p:cNvPr id="3" name="Content Placeholder 2"/>
          <p:cNvSpPr>
            <a:spLocks noGrp="1"/>
          </p:cNvSpPr>
          <p:nvPr>
            <p:ph idx="1"/>
          </p:nvPr>
        </p:nvSpPr>
        <p:spPr>
          <a:xfrm>
            <a:off x="457200" y="2179636"/>
            <a:ext cx="8229600" cy="4321197"/>
          </a:xfrm>
        </p:spPr>
        <p:txBody>
          <a:bodyPr>
            <a:normAutofit fontScale="85000" lnSpcReduction="10000"/>
          </a:bodyPr>
          <a:lstStyle/>
          <a:p>
            <a:r>
              <a:rPr lang="en-AU" dirty="0" smtClean="0"/>
              <a:t>Affordability emerged as part of the policy language in the 1980’s </a:t>
            </a:r>
            <a:r>
              <a:rPr lang="en-AU" sz="2100" dirty="0" smtClean="0"/>
              <a:t>(Gabriel et al., 2005)</a:t>
            </a:r>
            <a:endParaRPr lang="en-AU" dirty="0" smtClean="0"/>
          </a:p>
          <a:p>
            <a:pPr lvl="1"/>
            <a:r>
              <a:rPr lang="en-AU" dirty="0" smtClean="0"/>
              <a:t>a response to mortgage interest rates of the order of 17 per cent and a housing price boom. </a:t>
            </a:r>
          </a:p>
          <a:p>
            <a:pPr lvl="1"/>
            <a:r>
              <a:rPr lang="en-AU" dirty="0" smtClean="0"/>
              <a:t>used to inform policy reports such as the National Housing Policy Review and, later, the National Housing Strategy (1991). </a:t>
            </a:r>
          </a:p>
          <a:p>
            <a:r>
              <a:rPr lang="en-AU" dirty="0" smtClean="0"/>
              <a:t>Over last few years has re-emerged again as a consequence of </a:t>
            </a:r>
          </a:p>
          <a:p>
            <a:pPr lvl="1"/>
            <a:r>
              <a:rPr lang="en-AU" dirty="0" smtClean="0"/>
              <a:t>rising house prices placing pressure on lower income households and, </a:t>
            </a:r>
          </a:p>
          <a:p>
            <a:pPr lvl="1"/>
            <a:r>
              <a:rPr lang="en-AU" dirty="0" smtClean="0"/>
              <a:t>increasingly, middle income households seeking to purchase their first home. </a:t>
            </a:r>
          </a:p>
        </p:txBody>
      </p:sp>
      <p:sp>
        <p:nvSpPr>
          <p:cNvPr id="4" name="Rectangle 3"/>
          <p:cNvSpPr/>
          <p:nvPr/>
        </p:nvSpPr>
        <p:spPr>
          <a:xfrm>
            <a:off x="1857356" y="2285992"/>
            <a:ext cx="5493812" cy="2585323"/>
          </a:xfrm>
          <a:prstGeom prst="rect">
            <a:avLst/>
          </a:prstGeom>
          <a:noFill/>
        </p:spPr>
        <p:txBody>
          <a:bodyPr wrap="none" lIns="91440" tIns="45720" rIns="91440" bIns="45720">
            <a:spAutoFit/>
          </a:bodyPr>
          <a:lstStyle/>
          <a:p>
            <a:pPr algn="ctr"/>
            <a:r>
              <a:rPr lang="en-US" sz="5400" b="1" cap="none" spc="0" dirty="0" smtClean="0">
                <a:ln w="10541" cmpd="sng">
                  <a:solidFill>
                    <a:schemeClr val="accent1">
                      <a:shade val="88000"/>
                      <a:satMod val="110000"/>
                    </a:schemeClr>
                  </a:solidFill>
                  <a:prstDash val="solid"/>
                </a:ln>
                <a:solidFill>
                  <a:srgbClr val="00B0F0"/>
                </a:solidFill>
                <a:effectLst>
                  <a:glow rad="228600">
                    <a:schemeClr val="accent1">
                      <a:satMod val="175000"/>
                      <a:alpha val="40000"/>
                    </a:schemeClr>
                  </a:glow>
                </a:effectLst>
              </a:rPr>
              <a:t>Affordability:</a:t>
            </a:r>
          </a:p>
          <a:p>
            <a:pPr algn="ctr"/>
            <a:r>
              <a:rPr lang="en-US" sz="5400" b="1" dirty="0" smtClean="0">
                <a:ln w="10541" cmpd="sng">
                  <a:solidFill>
                    <a:schemeClr val="accent1">
                      <a:shade val="88000"/>
                      <a:satMod val="110000"/>
                    </a:schemeClr>
                  </a:solidFill>
                  <a:prstDash val="solid"/>
                </a:ln>
                <a:solidFill>
                  <a:srgbClr val="00B0F0"/>
                </a:solidFill>
                <a:effectLst>
                  <a:glow rad="228600">
                    <a:schemeClr val="accent1">
                      <a:satMod val="175000"/>
                      <a:alpha val="40000"/>
                    </a:schemeClr>
                  </a:glow>
                </a:effectLst>
              </a:rPr>
              <a:t>same problem, </a:t>
            </a:r>
          </a:p>
          <a:p>
            <a:pPr algn="ctr"/>
            <a:r>
              <a:rPr lang="en-US" sz="5400" b="1" dirty="0" smtClean="0">
                <a:ln w="10541" cmpd="sng">
                  <a:solidFill>
                    <a:schemeClr val="accent1">
                      <a:shade val="88000"/>
                      <a:satMod val="110000"/>
                    </a:schemeClr>
                  </a:solidFill>
                  <a:prstDash val="solid"/>
                </a:ln>
                <a:solidFill>
                  <a:srgbClr val="00B0F0"/>
                </a:solidFill>
                <a:effectLst>
                  <a:glow rad="228600">
                    <a:schemeClr val="accent1">
                      <a:satMod val="175000"/>
                      <a:alpha val="40000"/>
                    </a:schemeClr>
                  </a:glow>
                </a:effectLst>
              </a:rPr>
              <a:t>different</a:t>
            </a:r>
            <a:r>
              <a:rPr lang="en-US" sz="5400" b="1" cap="none" spc="0" dirty="0" smtClean="0">
                <a:ln w="10541" cmpd="sng">
                  <a:solidFill>
                    <a:schemeClr val="accent1">
                      <a:shade val="88000"/>
                      <a:satMod val="110000"/>
                    </a:schemeClr>
                  </a:solidFill>
                  <a:prstDash val="solid"/>
                </a:ln>
                <a:solidFill>
                  <a:srgbClr val="00B0F0"/>
                </a:solidFill>
                <a:effectLst>
                  <a:glow rad="228600">
                    <a:schemeClr val="accent1">
                      <a:satMod val="175000"/>
                      <a:alpha val="40000"/>
                    </a:schemeClr>
                  </a:glow>
                </a:effectLst>
              </a:rPr>
              <a:t> causes</a:t>
            </a:r>
            <a:endParaRPr lang="en-US" sz="5400" b="1" cap="none" spc="0" dirty="0">
              <a:ln w="10541" cmpd="sng">
                <a:solidFill>
                  <a:schemeClr val="accent1">
                    <a:shade val="88000"/>
                    <a:satMod val="110000"/>
                  </a:schemeClr>
                </a:solidFill>
                <a:prstDash val="solid"/>
              </a:ln>
              <a:solidFill>
                <a:srgbClr val="00B0F0"/>
              </a:solidFill>
              <a:effectLst>
                <a:glow rad="228600">
                  <a:schemeClr val="accent1">
                    <a:satMod val="175000"/>
                    <a:alpha val="40000"/>
                  </a:schemeClr>
                </a:glo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mph" presetSubtype="0" fill="hold" grpId="2" nodeType="afterEffect">
                                  <p:stCondLst>
                                    <p:cond delay="0"/>
                                  </p:stCondLst>
                                  <p:childTnLst>
                                    <p:animClr clrSpc="hsl">
                                      <p:cBhvr override="childStyle">
                                        <p:cTn id="11" dur="500" fill="hold"/>
                                        <p:tgtEl>
                                          <p:spTgt spid="4"/>
                                        </p:tgtEl>
                                        <p:attrNameLst>
                                          <p:attrName>style.color</p:attrName>
                                        </p:attrNameLst>
                                      </p:cBhvr>
                                      <p:by>
                                        <p:hsl h="10842353" s="0" l="0"/>
                                      </p:by>
                                    </p:animClr>
                                    <p:animClr clrSpc="hsl">
                                      <p:cBhvr>
                                        <p:cTn id="12" dur="500" fill="hold"/>
                                        <p:tgtEl>
                                          <p:spTgt spid="4"/>
                                        </p:tgtEl>
                                        <p:attrNameLst>
                                          <p:attrName>fillcolor</p:attrName>
                                        </p:attrNameLst>
                                      </p:cBhvr>
                                      <p:by>
                                        <p:hsl h="10842353" s="0" l="0"/>
                                      </p:by>
                                    </p:animClr>
                                    <p:animClr clrSpc="hsl">
                                      <p:cBhvr>
                                        <p:cTn id="13" dur="500" fill="hold"/>
                                        <p:tgtEl>
                                          <p:spTgt spid="4"/>
                                        </p:tgtEl>
                                        <p:attrNameLst>
                                          <p:attrName>stroke.color</p:attrName>
                                        </p:attrNameLst>
                                      </p:cBhvr>
                                      <p:by>
                                        <p:hsl h="10842353" s="0" l="0"/>
                                      </p:by>
                                    </p:animClr>
                                    <p:set>
                                      <p:cBhvr>
                                        <p:cTn id="14" dur="500" fill="hold"/>
                                        <p:tgtEl>
                                          <p:spTgt spid="4"/>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53" presetClass="exit" presetSubtype="0" fill="hold" grpId="1" nodeType="clickEffect">
                                  <p:stCondLst>
                                    <p:cond delay="0"/>
                                  </p:stCondLst>
                                  <p:childTnLst>
                                    <p:anim calcmode="lin" valueType="num">
                                      <p:cBhvr>
                                        <p:cTn id="18" dur="500"/>
                                        <p:tgtEl>
                                          <p:spTgt spid="4"/>
                                        </p:tgtEl>
                                        <p:attrNameLst>
                                          <p:attrName>ppt_w</p:attrName>
                                        </p:attrNameLst>
                                      </p:cBhvr>
                                      <p:tavLst>
                                        <p:tav tm="0">
                                          <p:val>
                                            <p:strVal val="ppt_w"/>
                                          </p:val>
                                        </p:tav>
                                        <p:tav tm="100000">
                                          <p:val>
                                            <p:fltVal val="0"/>
                                          </p:val>
                                        </p:tav>
                                      </p:tavLst>
                                    </p:anim>
                                    <p:anim calcmode="lin" valueType="num">
                                      <p:cBhvr>
                                        <p:cTn id="19" dur="500"/>
                                        <p:tgtEl>
                                          <p:spTgt spid="4"/>
                                        </p:tgtEl>
                                        <p:attrNameLst>
                                          <p:attrName>ppt_h</p:attrName>
                                        </p:attrNameLst>
                                      </p:cBhvr>
                                      <p:tavLst>
                                        <p:tav tm="0">
                                          <p:val>
                                            <p:strVal val="ppt_h"/>
                                          </p:val>
                                        </p:tav>
                                        <p:tav tm="100000">
                                          <p:val>
                                            <p:fltVal val="0"/>
                                          </p:val>
                                        </p:tav>
                                      </p:tavLst>
                                    </p:anim>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childTnLst>
                          </p:cTn>
                        </p:par>
                        <p:par>
                          <p:cTn id="22" fill="hold">
                            <p:stCondLst>
                              <p:cond delay="500"/>
                            </p:stCondLst>
                            <p:childTnLst>
                              <p:par>
                                <p:cTn id="23" presetID="23" presetClass="entr" presetSubtype="16" fill="hold"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p:cTn id="3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p:cTn id="43"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3" end="3"/>
                                            </p:txEl>
                                          </p:spTgt>
                                        </p:tgtEl>
                                        <p:attrNameLst>
                                          <p:attrName>ppt_h</p:attrName>
                                        </p:attrNameLst>
                                      </p:cBhvr>
                                      <p:tavLst>
                                        <p:tav tm="0">
                                          <p:val>
                                            <p:fltVal val="0"/>
                                          </p:val>
                                        </p:tav>
                                        <p:tav tm="100000">
                                          <p:val>
                                            <p:strVal val="#ppt_h"/>
                                          </p:val>
                                        </p:tav>
                                      </p:tavLst>
                                    </p:anim>
                                  </p:childTnLst>
                                </p:cTn>
                              </p:par>
                              <p:par>
                                <p:cTn id="45" presetID="23" presetClass="entr" presetSubtype="16" fill="hold"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p:cTn id="53"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4" dur="500" fill="hold"/>
                                        <p:tgtEl>
                                          <p:spTgt spid="3">
                                            <p:txEl>
                                              <p:pRg st="5" end="5"/>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Issue of Holding Costs</a:t>
            </a:r>
            <a:endParaRPr lang="en-AU" dirty="0"/>
          </a:p>
        </p:txBody>
      </p:sp>
      <p:sp>
        <p:nvSpPr>
          <p:cNvPr id="3" name="Content Placeholder 2"/>
          <p:cNvSpPr>
            <a:spLocks noGrp="1"/>
          </p:cNvSpPr>
          <p:nvPr>
            <p:ph idx="1"/>
          </p:nvPr>
        </p:nvSpPr>
        <p:spPr/>
        <p:txBody>
          <a:bodyPr>
            <a:normAutofit fontScale="85000" lnSpcReduction="20000"/>
          </a:bodyPr>
          <a:lstStyle/>
          <a:p>
            <a:r>
              <a:rPr lang="en-AU" dirty="0" smtClean="0"/>
              <a:t>Housing affordability - increasing prominence despite strong economic growth and prosperity. </a:t>
            </a:r>
          </a:p>
          <a:p>
            <a:r>
              <a:rPr lang="en-AU" dirty="0" smtClean="0"/>
              <a:t>A major consideration for any new development. </a:t>
            </a:r>
          </a:p>
          <a:p>
            <a:r>
              <a:rPr lang="en-AU" dirty="0" smtClean="0"/>
              <a:t>Multi-dimensional, complex and interwoven. </a:t>
            </a:r>
          </a:p>
          <a:p>
            <a:r>
              <a:rPr lang="en-AU" dirty="0" smtClean="0">
                <a:solidFill>
                  <a:srgbClr val="FFFF00"/>
                </a:solidFill>
              </a:rPr>
              <a:t>One</a:t>
            </a:r>
            <a:r>
              <a:rPr lang="en-AU" dirty="0" smtClean="0"/>
              <a:t> impact factor is holding costs. </a:t>
            </a:r>
          </a:p>
          <a:p>
            <a:r>
              <a:rPr lang="en-AU" dirty="0" smtClean="0"/>
              <a:t>The nature and extent of its impact requires clarification.</a:t>
            </a:r>
          </a:p>
          <a:p>
            <a:pPr lvl="1"/>
            <a:r>
              <a:rPr lang="en-AU" dirty="0" smtClean="0"/>
              <a:t>its contribution may be of greater significance than commonly held - especially where the time taken for regulatory assessment is excessive.</a:t>
            </a:r>
          </a:p>
        </p:txBody>
      </p:sp>
      <p:pic>
        <p:nvPicPr>
          <p:cNvPr id="21505" name="Picture 1" descr="C:\Documents and Settings\ggarner\Local Settings\Temporary Internet Files\Content.IE5\OQDXU68D\MCj04378560000[1].png"/>
          <p:cNvPicPr>
            <a:picLocks noChangeAspect="1" noChangeArrowheads="1"/>
          </p:cNvPicPr>
          <p:nvPr/>
        </p:nvPicPr>
        <p:blipFill>
          <a:blip r:embed="rId2"/>
          <a:srcRect/>
          <a:stretch>
            <a:fillRect/>
          </a:stretch>
        </p:blipFill>
        <p:spPr bwMode="auto">
          <a:xfrm>
            <a:off x="7386867" y="2000240"/>
            <a:ext cx="1757133" cy="1757133"/>
          </a:xfrm>
          <a:prstGeom prst="rect">
            <a:avLst/>
          </a:prstGeom>
          <a:noFill/>
        </p:spPr>
      </p:pic>
      <p:pic>
        <p:nvPicPr>
          <p:cNvPr id="21506" name="Picture 2" descr="C:\Documents and Settings\ggarner\Local Settings\Temporary Internet Files\Content.IE5\YSYORL9A\MCj04338080000[1].png"/>
          <p:cNvPicPr>
            <a:picLocks noChangeAspect="1" noChangeArrowheads="1"/>
          </p:cNvPicPr>
          <p:nvPr/>
        </p:nvPicPr>
        <p:blipFill>
          <a:blip r:embed="rId3"/>
          <a:srcRect/>
          <a:stretch>
            <a:fillRect/>
          </a:stretch>
        </p:blipFill>
        <p:spPr bwMode="auto">
          <a:xfrm>
            <a:off x="7358083" y="1071546"/>
            <a:ext cx="1785918" cy="1785918"/>
          </a:xfrm>
          <a:prstGeom prst="rect">
            <a:avLst/>
          </a:prstGeom>
          <a:noFill/>
        </p:spPr>
      </p:pic>
      <p:pic>
        <p:nvPicPr>
          <p:cNvPr id="21507" name="Picture 3" descr="C:\Documents and Settings\ggarner\Local Settings\Temporary Internet Files\Content.IE5\OO96J5T0\MCj04315140000[1].png"/>
          <p:cNvPicPr>
            <a:picLocks noChangeAspect="1" noChangeArrowheads="1"/>
          </p:cNvPicPr>
          <p:nvPr/>
        </p:nvPicPr>
        <p:blipFill>
          <a:blip r:embed="rId4"/>
          <a:srcRect/>
          <a:stretch>
            <a:fillRect/>
          </a:stretch>
        </p:blipFill>
        <p:spPr bwMode="auto">
          <a:xfrm>
            <a:off x="6286512" y="1714488"/>
            <a:ext cx="1828572" cy="1828572"/>
          </a:xfrm>
          <a:prstGeom prst="rect">
            <a:avLst/>
          </a:prstGeom>
          <a:no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21505"/>
                                        </p:tgtEl>
                                        <p:attrNameLst>
                                          <p:attrName>style.visibility</p:attrName>
                                        </p:attrNameLst>
                                      </p:cBhvr>
                                      <p:to>
                                        <p:strVal val="visible"/>
                                      </p:to>
                                    </p:set>
                                    <p:animEffect transition="in" filter="dissolve">
                                      <p:cBhvr>
                                        <p:cTn id="12" dur="500"/>
                                        <p:tgtEl>
                                          <p:spTgt spid="2150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21506"/>
                                        </p:tgtEl>
                                        <p:attrNameLst>
                                          <p:attrName>style.visibility</p:attrName>
                                        </p:attrNameLst>
                                      </p:cBhvr>
                                      <p:to>
                                        <p:strVal val="visible"/>
                                      </p:to>
                                    </p:set>
                                    <p:animEffect transition="in" filter="dissolve">
                                      <p:cBhvr>
                                        <p:cTn id="22" dur="500"/>
                                        <p:tgtEl>
                                          <p:spTgt spid="21506"/>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p:cTn id="33"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4" end="4"/>
                                            </p:txEl>
                                          </p:spTgt>
                                        </p:tgtEl>
                                        <p:attrNameLst>
                                          <p:attrName>ppt_h</p:attrName>
                                        </p:attrNameLst>
                                      </p:cBhvr>
                                      <p:tavLst>
                                        <p:tav tm="0">
                                          <p:val>
                                            <p:fltVal val="0"/>
                                          </p:val>
                                        </p:tav>
                                        <p:tav tm="100000">
                                          <p:val>
                                            <p:strVal val="#ppt_h"/>
                                          </p:val>
                                        </p:tav>
                                      </p:tavLst>
                                    </p:anim>
                                  </p:childTnLst>
                                </p:cTn>
                              </p:par>
                              <p:par>
                                <p:cTn id="41" presetID="23" presetClass="entr" presetSubtype="16" fill="hold" grpId="0"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p:cTn id="43"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5" end="5"/>
                                            </p:txEl>
                                          </p:spTgt>
                                        </p:tgtEl>
                                        <p:attrNameLst>
                                          <p:attrName>ppt_h</p:attrName>
                                        </p:attrNameLst>
                                      </p:cBhvr>
                                      <p:tavLst>
                                        <p:tav tm="0">
                                          <p:val>
                                            <p:fltVal val="0"/>
                                          </p:val>
                                        </p:tav>
                                        <p:tav tm="100000">
                                          <p:val>
                                            <p:strVal val="#ppt_h"/>
                                          </p:val>
                                        </p:tav>
                                      </p:tavLst>
                                    </p:anim>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21507"/>
                                        </p:tgtEl>
                                        <p:attrNameLst>
                                          <p:attrName>style.visibility</p:attrName>
                                        </p:attrNameLst>
                                      </p:cBhvr>
                                      <p:to>
                                        <p:strVal val="visible"/>
                                      </p:to>
                                    </p:set>
                                    <p:animEffect transition="in" filter="dissolve">
                                      <p:cBhvr>
                                        <p:cTn id="48"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Impact</a:t>
            </a:r>
            <a:endParaRPr lang="en-AU" dirty="0"/>
          </a:p>
        </p:txBody>
      </p:sp>
      <p:sp>
        <p:nvSpPr>
          <p:cNvPr id="3" name="Content Placeholder 2"/>
          <p:cNvSpPr>
            <a:spLocks noGrp="1"/>
          </p:cNvSpPr>
          <p:nvPr>
            <p:ph idx="1"/>
          </p:nvPr>
        </p:nvSpPr>
        <p:spPr/>
        <p:txBody>
          <a:bodyPr>
            <a:normAutofit fontScale="92500"/>
          </a:bodyPr>
          <a:lstStyle/>
          <a:p>
            <a:r>
              <a:rPr lang="en-AU" dirty="0" smtClean="0"/>
              <a:t>Preliminary analysis suggests even small shifts in the regulatory assessment period can significantly affect housing affordability. </a:t>
            </a:r>
          </a:p>
          <a:p>
            <a:r>
              <a:rPr lang="en-AU" dirty="0" smtClean="0"/>
              <a:t>Other costs associated with “holding” also impact housing affordability, however these costs cannot always be easily identified. </a:t>
            </a:r>
          </a:p>
          <a:p>
            <a:r>
              <a:rPr lang="en-AU" dirty="0" smtClean="0"/>
              <a:t>The real impact is felt by those whom can least afford it - new home buyers can easily pushed into un-affordability.</a:t>
            </a:r>
          </a:p>
        </p:txBody>
      </p:sp>
      <p:pic>
        <p:nvPicPr>
          <p:cNvPr id="20491" name="Picture 11" descr="C:\Documents and Settings\ggarner\Local Settings\Temporary Internet Files\Content.IE5\OO96J5T0\MCj01857360000[1].wmf"/>
          <p:cNvPicPr>
            <a:picLocks noChangeAspect="1" noChangeArrowheads="1"/>
          </p:cNvPicPr>
          <p:nvPr/>
        </p:nvPicPr>
        <p:blipFill>
          <a:blip r:embed="rId2"/>
          <a:srcRect/>
          <a:stretch>
            <a:fillRect/>
          </a:stretch>
        </p:blipFill>
        <p:spPr bwMode="auto">
          <a:xfrm>
            <a:off x="6912006" y="5694394"/>
            <a:ext cx="924458" cy="923544"/>
          </a:xfrm>
          <a:prstGeom prst="rect">
            <a:avLst/>
          </a:prstGeom>
          <a:noFill/>
        </p:spPr>
      </p:pic>
      <p:pic>
        <p:nvPicPr>
          <p:cNvPr id="20492" name="Picture 12" descr="C:\Documents and Settings\ggarner\Local Settings\Temporary Internet Files\Content.IE5\OQDXU68D\MCj01857380000[1].wmf"/>
          <p:cNvPicPr>
            <a:picLocks noChangeAspect="1" noChangeArrowheads="1"/>
          </p:cNvPicPr>
          <p:nvPr/>
        </p:nvPicPr>
        <p:blipFill>
          <a:blip r:embed="rId3"/>
          <a:srcRect/>
          <a:stretch>
            <a:fillRect/>
          </a:stretch>
        </p:blipFill>
        <p:spPr bwMode="auto">
          <a:xfrm>
            <a:off x="7500958" y="5572140"/>
            <a:ext cx="923925" cy="922338"/>
          </a:xfrm>
          <a:prstGeom prst="rect">
            <a:avLst/>
          </a:prstGeom>
          <a:noFill/>
        </p:spPr>
      </p:pic>
      <p:pic>
        <p:nvPicPr>
          <p:cNvPr id="20493" name="Picture 13" descr="C:\Documents and Settings\ggarner\Local Settings\Temporary Internet Files\Content.IE5\SUW4EZY5\MCj01857400000[1].wmf"/>
          <p:cNvPicPr>
            <a:picLocks noChangeAspect="1" noChangeArrowheads="1"/>
          </p:cNvPicPr>
          <p:nvPr/>
        </p:nvPicPr>
        <p:blipFill>
          <a:blip r:embed="rId4"/>
          <a:srcRect/>
          <a:stretch>
            <a:fillRect/>
          </a:stretch>
        </p:blipFill>
        <p:spPr bwMode="auto">
          <a:xfrm>
            <a:off x="7858148" y="5214950"/>
            <a:ext cx="923925" cy="923925"/>
          </a:xfrm>
          <a:prstGeom prst="rect">
            <a:avLst/>
          </a:prstGeom>
          <a:no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20491"/>
                                        </p:tgtEl>
                                        <p:attrNameLst>
                                          <p:attrName>style.visibility</p:attrName>
                                        </p:attrNameLst>
                                      </p:cBhvr>
                                      <p:to>
                                        <p:strVal val="visible"/>
                                      </p:to>
                                    </p:set>
                                    <p:animEffect transition="in" filter="dissolve">
                                      <p:cBhvr>
                                        <p:cTn id="24" dur="1000"/>
                                        <p:tgtEl>
                                          <p:spTgt spid="20491"/>
                                        </p:tgtEl>
                                      </p:cBhvr>
                                    </p:animEffect>
                                  </p:childTnLst>
                                </p:cTn>
                              </p:par>
                            </p:childTnLst>
                          </p:cTn>
                        </p:par>
                        <p:par>
                          <p:cTn id="25" fill="hold">
                            <p:stCondLst>
                              <p:cond delay="1500"/>
                            </p:stCondLst>
                            <p:childTnLst>
                              <p:par>
                                <p:cTn id="26" presetID="9" presetClass="entr" presetSubtype="0" fill="hold" nodeType="afterEffect">
                                  <p:stCondLst>
                                    <p:cond delay="0"/>
                                  </p:stCondLst>
                                  <p:childTnLst>
                                    <p:set>
                                      <p:cBhvr>
                                        <p:cTn id="27" dur="1" fill="hold">
                                          <p:stCondLst>
                                            <p:cond delay="0"/>
                                          </p:stCondLst>
                                        </p:cTn>
                                        <p:tgtEl>
                                          <p:spTgt spid="20492"/>
                                        </p:tgtEl>
                                        <p:attrNameLst>
                                          <p:attrName>style.visibility</p:attrName>
                                        </p:attrNameLst>
                                      </p:cBhvr>
                                      <p:to>
                                        <p:strVal val="visible"/>
                                      </p:to>
                                    </p:set>
                                    <p:animEffect transition="in" filter="dissolve">
                                      <p:cBhvr>
                                        <p:cTn id="28" dur="1000"/>
                                        <p:tgtEl>
                                          <p:spTgt spid="20492"/>
                                        </p:tgtEl>
                                      </p:cBhvr>
                                    </p:animEffect>
                                  </p:childTnLst>
                                </p:cTn>
                              </p:par>
                            </p:childTnLst>
                          </p:cTn>
                        </p:par>
                        <p:par>
                          <p:cTn id="29" fill="hold">
                            <p:stCondLst>
                              <p:cond delay="2500"/>
                            </p:stCondLst>
                            <p:childTnLst>
                              <p:par>
                                <p:cTn id="30" presetID="9" presetClass="entr" presetSubtype="0" fill="hold" nodeType="afterEffect">
                                  <p:stCondLst>
                                    <p:cond delay="0"/>
                                  </p:stCondLst>
                                  <p:childTnLst>
                                    <p:set>
                                      <p:cBhvr>
                                        <p:cTn id="31" dur="1" fill="hold">
                                          <p:stCondLst>
                                            <p:cond delay="0"/>
                                          </p:stCondLst>
                                        </p:cTn>
                                        <p:tgtEl>
                                          <p:spTgt spid="20493"/>
                                        </p:tgtEl>
                                        <p:attrNameLst>
                                          <p:attrName>style.visibility</p:attrName>
                                        </p:attrNameLst>
                                      </p:cBhvr>
                                      <p:to>
                                        <p:strVal val="visible"/>
                                      </p:to>
                                    </p:set>
                                    <p:animEffect transition="in" filter="dissolve">
                                      <p:cBhvr>
                                        <p:cTn id="32" dur="10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C:\Documents and Settings\ggarner\Local Settings\Temporary Internet Files\Content.IE5\OQDXU68D\MPj04387430000[1].jpg"/>
          <p:cNvPicPr>
            <a:picLocks noChangeAspect="1" noChangeArrowheads="1"/>
          </p:cNvPicPr>
          <p:nvPr/>
        </p:nvPicPr>
        <p:blipFill>
          <a:blip r:embed="rId2">
            <a:lum bright="-18000" contrast="-70000"/>
          </a:blip>
          <a:srcRect/>
          <a:stretch>
            <a:fillRect/>
          </a:stretch>
        </p:blipFill>
        <p:spPr bwMode="auto">
          <a:xfrm>
            <a:off x="1571604" y="2071678"/>
            <a:ext cx="6096000" cy="4572000"/>
          </a:xfrm>
          <a:prstGeom prst="rect">
            <a:avLst/>
          </a:prstGeom>
          <a:noFill/>
        </p:spPr>
      </p:pic>
      <p:sp>
        <p:nvSpPr>
          <p:cNvPr id="2" name="Title 1"/>
          <p:cNvSpPr>
            <a:spLocks noGrp="1"/>
          </p:cNvSpPr>
          <p:nvPr>
            <p:ph type="title"/>
          </p:nvPr>
        </p:nvSpPr>
        <p:spPr>
          <a:xfrm>
            <a:off x="457200" y="0"/>
            <a:ext cx="7467600" cy="928670"/>
          </a:xfrm>
        </p:spPr>
        <p:txBody>
          <a:bodyPr>
            <a:normAutofit/>
          </a:bodyPr>
          <a:lstStyle/>
          <a:p>
            <a:r>
              <a:rPr lang="en-AU" dirty="0" smtClean="0"/>
              <a:t>Mortgage Stress Defined</a:t>
            </a:r>
            <a:endParaRPr lang="en-AU" dirty="0"/>
          </a:p>
        </p:txBody>
      </p:sp>
      <p:sp>
        <p:nvSpPr>
          <p:cNvPr id="3" name="Content Placeholder 2"/>
          <p:cNvSpPr>
            <a:spLocks noGrp="1"/>
          </p:cNvSpPr>
          <p:nvPr>
            <p:ph idx="1"/>
          </p:nvPr>
        </p:nvSpPr>
        <p:spPr>
          <a:xfrm>
            <a:off x="357158" y="857232"/>
            <a:ext cx="8501122" cy="5857916"/>
          </a:xfrm>
        </p:spPr>
        <p:txBody>
          <a:bodyPr>
            <a:noAutofit/>
          </a:bodyPr>
          <a:lstStyle/>
          <a:p>
            <a:r>
              <a:rPr lang="en-AU" sz="2400" dirty="0" smtClean="0"/>
              <a:t>The 30/40 rule: Such low income households are considered to place themselves in a position of </a:t>
            </a:r>
            <a:r>
              <a:rPr lang="en-AU" sz="2400" dirty="0" smtClean="0">
                <a:solidFill>
                  <a:srgbClr val="FFFF00"/>
                </a:solidFill>
              </a:rPr>
              <a:t>“housing stress”</a:t>
            </a:r>
            <a:r>
              <a:rPr lang="en-AU" sz="2400" dirty="0" smtClean="0"/>
              <a:t>.</a:t>
            </a:r>
          </a:p>
          <a:p>
            <a:r>
              <a:rPr lang="en-AU" sz="2400" dirty="0" smtClean="0"/>
              <a:t>More generally described as </a:t>
            </a:r>
            <a:r>
              <a:rPr lang="en-AU" sz="2400" dirty="0" smtClean="0">
                <a:solidFill>
                  <a:srgbClr val="FFFF00"/>
                </a:solidFill>
              </a:rPr>
              <a:t>“Mortgage Stress” - the situation in which homebuyers are paying 35 per cent or more of their income on home loan repayments </a:t>
            </a:r>
            <a:r>
              <a:rPr lang="en-AU" sz="1600" dirty="0" smtClean="0"/>
              <a:t>(</a:t>
            </a:r>
            <a:r>
              <a:rPr lang="en-AU" sz="1600" dirty="0" err="1" smtClean="0"/>
              <a:t>Kryger</a:t>
            </a:r>
            <a:r>
              <a:rPr lang="en-AU" sz="1600" dirty="0" smtClean="0"/>
              <a:t>, 2003). </a:t>
            </a:r>
            <a:endParaRPr lang="en-AU" sz="2400" dirty="0" smtClean="0"/>
          </a:p>
          <a:p>
            <a:r>
              <a:rPr lang="en-AU" sz="2400" dirty="0" smtClean="0"/>
              <a:t>An alternative definition, adopted by the National Housing Strategy, is based on the proportion of income paid for housing by income units in the lowest 40 per cent of the income distribution range. </a:t>
            </a:r>
          </a:p>
          <a:p>
            <a:r>
              <a:rPr lang="en-AU" sz="2400" dirty="0" smtClean="0"/>
              <a:t>Definitions of mortgage stress apply the general rule that financial institutions will not allow a household to take out a housing loan if the monthly home loan repayment, calculated over a 25 year term exceeds one-third of monthly household income. </a:t>
            </a:r>
          </a:p>
          <a:p>
            <a:endParaRPr lang="en-AU" sz="2400" dirty="0"/>
          </a:p>
        </p:txBody>
      </p:sp>
      <p:pic>
        <p:nvPicPr>
          <p:cNvPr id="13318" name="Picture 6" descr="C:\Documents and Settings\ggarner\Local Settings\Temporary Internet Files\Content.IE5\OQDXU68D\MPj04387430000[1].jpg"/>
          <p:cNvPicPr>
            <a:picLocks noChangeAspect="1" noChangeArrowheads="1"/>
          </p:cNvPicPr>
          <p:nvPr/>
        </p:nvPicPr>
        <p:blipFill>
          <a:blip r:embed="rId2"/>
          <a:srcRect/>
          <a:stretch>
            <a:fillRect/>
          </a:stretch>
        </p:blipFill>
        <p:spPr bwMode="auto">
          <a:xfrm>
            <a:off x="1571604" y="2071678"/>
            <a:ext cx="6096000" cy="4572000"/>
          </a:xfrm>
          <a:prstGeom prst="rect">
            <a:avLst/>
          </a:prstGeom>
          <a:no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par>
                                <p:cTn id="9" presetID="9" presetClass="entr" presetSubtype="0" fill="hold" nodeType="withEffect">
                                  <p:stCondLst>
                                    <p:cond delay="0"/>
                                  </p:stCondLst>
                                  <p:childTnLst>
                                    <p:set>
                                      <p:cBhvr>
                                        <p:cTn id="10" dur="1" fill="hold">
                                          <p:stCondLst>
                                            <p:cond delay="0"/>
                                          </p:stCondLst>
                                        </p:cTn>
                                        <p:tgtEl>
                                          <p:spTgt spid="13318"/>
                                        </p:tgtEl>
                                        <p:attrNameLst>
                                          <p:attrName>style.visibility</p:attrName>
                                        </p:attrNameLst>
                                      </p:cBhvr>
                                      <p:to>
                                        <p:strVal val="visible"/>
                                      </p:to>
                                    </p:set>
                                    <p:animEffect transition="in" filter="dissolve">
                                      <p:cBhvr>
                                        <p:cTn id="11" dur="1000"/>
                                        <p:tgtEl>
                                          <p:spTgt spid="1331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xit" presetSubtype="0" fill="hold" nodeType="clickEffect">
                                  <p:stCondLst>
                                    <p:cond delay="0"/>
                                  </p:stCondLst>
                                  <p:childTnLst>
                                    <p:animEffect transition="out" filter="dissolve">
                                      <p:cBhvr>
                                        <p:cTn id="15" dur="500"/>
                                        <p:tgtEl>
                                          <p:spTgt spid="13318"/>
                                        </p:tgtEl>
                                      </p:cBhvr>
                                    </p:animEffect>
                                    <p:set>
                                      <p:cBhvr>
                                        <p:cTn id="16" dur="1" fill="hold">
                                          <p:stCondLst>
                                            <p:cond delay="499"/>
                                          </p:stCondLst>
                                        </p:cTn>
                                        <p:tgtEl>
                                          <p:spTgt spid="13318"/>
                                        </p:tgtEl>
                                        <p:attrNameLst>
                                          <p:attrName>style.visibility</p:attrName>
                                        </p:attrNameLst>
                                      </p:cBhvr>
                                      <p:to>
                                        <p:strVal val="hidden"/>
                                      </p:to>
                                    </p:set>
                                  </p:childTnLst>
                                </p:cTn>
                              </p:par>
                              <p:par>
                                <p:cTn id="17" presetID="9" presetClass="entr" presetSubtype="0" fill="hold" nodeType="withEffect">
                                  <p:stCondLst>
                                    <p:cond delay="0"/>
                                  </p:stCondLst>
                                  <p:childTnLst>
                                    <p:set>
                                      <p:cBhvr>
                                        <p:cTn id="18" dur="1" fill="hold">
                                          <p:stCondLst>
                                            <p:cond delay="0"/>
                                          </p:stCondLst>
                                        </p:cTn>
                                        <p:tgtEl>
                                          <p:spTgt spid="13317"/>
                                        </p:tgtEl>
                                        <p:attrNameLst>
                                          <p:attrName>style.visibility</p:attrName>
                                        </p:attrNameLst>
                                      </p:cBhvr>
                                      <p:to>
                                        <p:strVal val="visible"/>
                                      </p:to>
                                    </p:set>
                                    <p:animEffect transition="in" filter="dissolve">
                                      <p:cBhvr>
                                        <p:cTn id="19" dur="500"/>
                                        <p:tgtEl>
                                          <p:spTgt spid="13317"/>
                                        </p:tgtEl>
                                      </p:cBhvr>
                                    </p:animEffect>
                                  </p:childTnLst>
                                </p:cTn>
                              </p:par>
                            </p:childTnLst>
                          </p:cTn>
                        </p:par>
                        <p:par>
                          <p:cTn id="20" fill="hold">
                            <p:stCondLst>
                              <p:cond delay="500"/>
                            </p:stCondLst>
                            <p:childTnLst>
                              <p:par>
                                <p:cTn id="21" presetID="23" presetClass="entr" presetSubtype="16" fill="hold" grpId="0" nodeType="after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 descr="C:\Documents and Settings\ggarner\Local Settings\Temporary Internet Files\Content.IE5\OQDXU68D\MPj04387430000[1].jpg"/>
          <p:cNvPicPr>
            <a:picLocks noChangeAspect="1" noChangeArrowheads="1"/>
          </p:cNvPicPr>
          <p:nvPr/>
        </p:nvPicPr>
        <p:blipFill>
          <a:blip r:embed="rId2">
            <a:lum bright="-16000" contrast="-70000"/>
          </a:blip>
          <a:srcRect/>
          <a:stretch>
            <a:fillRect/>
          </a:stretch>
        </p:blipFill>
        <p:spPr bwMode="auto">
          <a:xfrm>
            <a:off x="0" y="1357298"/>
            <a:ext cx="9144000" cy="5500702"/>
          </a:xfrm>
          <a:prstGeom prst="rect">
            <a:avLst/>
          </a:prstGeom>
          <a:noFill/>
        </p:spPr>
      </p:pic>
      <p:sp>
        <p:nvSpPr>
          <p:cNvPr id="2" name="Title 1"/>
          <p:cNvSpPr>
            <a:spLocks noGrp="1"/>
          </p:cNvSpPr>
          <p:nvPr>
            <p:ph type="title"/>
          </p:nvPr>
        </p:nvSpPr>
        <p:spPr>
          <a:xfrm>
            <a:off x="457200" y="274638"/>
            <a:ext cx="8472518" cy="1143000"/>
          </a:xfrm>
        </p:spPr>
        <p:txBody>
          <a:bodyPr>
            <a:normAutofit fontScale="90000"/>
          </a:bodyPr>
          <a:lstStyle/>
          <a:p>
            <a:r>
              <a:rPr lang="en-AU" dirty="0" smtClean="0"/>
              <a:t>Mortgage Stress</a:t>
            </a:r>
            <a:r>
              <a:rPr lang="en-AU" sz="4000" dirty="0" smtClean="0"/>
              <a:t>.. Not all as it may seem</a:t>
            </a:r>
            <a:endParaRPr lang="en-AU" dirty="0"/>
          </a:p>
        </p:txBody>
      </p:sp>
      <p:sp>
        <p:nvSpPr>
          <p:cNvPr id="3" name="Content Placeholder 2"/>
          <p:cNvSpPr>
            <a:spLocks noGrp="1"/>
          </p:cNvSpPr>
          <p:nvPr>
            <p:ph idx="1"/>
          </p:nvPr>
        </p:nvSpPr>
        <p:spPr/>
        <p:txBody>
          <a:bodyPr>
            <a:normAutofit fontScale="77500" lnSpcReduction="20000"/>
          </a:bodyPr>
          <a:lstStyle/>
          <a:p>
            <a:r>
              <a:rPr lang="en-AU" dirty="0" smtClean="0"/>
              <a:t>Not all households paying 30-35 % or more of their income in loan repayments are necessarily experiencing stress</a:t>
            </a:r>
          </a:p>
          <a:p>
            <a:r>
              <a:rPr lang="en-AU" dirty="0" smtClean="0"/>
              <a:t>can be demonstrated that someone on a very high income who has chosen to have a very large mortgage and still has a lot of money to live on after that could technically be defined as being in stress if you just used the 30 per cent rule</a:t>
            </a:r>
          </a:p>
          <a:p>
            <a:r>
              <a:rPr lang="en-AU" dirty="0" smtClean="0"/>
              <a:t>therefore, the definition of mortgage stress should refer  to the bottom 40 per cent of income earners who were spending more than 30 per cent of their income on home loan repayments</a:t>
            </a:r>
          </a:p>
          <a:p>
            <a:r>
              <a:rPr lang="en-AU" dirty="0" smtClean="0">
                <a:solidFill>
                  <a:srgbClr val="FFFF00"/>
                </a:solidFill>
              </a:rPr>
              <a:t>mortgage stress </a:t>
            </a:r>
            <a:r>
              <a:rPr lang="en-AU" dirty="0" smtClean="0"/>
              <a:t>refers particularly to the </a:t>
            </a:r>
            <a:r>
              <a:rPr lang="en-AU" dirty="0" smtClean="0">
                <a:solidFill>
                  <a:srgbClr val="FFFF00"/>
                </a:solidFill>
              </a:rPr>
              <a:t>high risk that a stressful situation might arise</a:t>
            </a:r>
            <a:r>
              <a:rPr lang="en-AU" dirty="0" smtClean="0"/>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Some reasons for poor affordability</a:t>
            </a:r>
            <a:endParaRPr lang="en-AU" dirty="0"/>
          </a:p>
        </p:txBody>
      </p:sp>
      <p:sp>
        <p:nvSpPr>
          <p:cNvPr id="3" name="Content Placeholder 2"/>
          <p:cNvSpPr>
            <a:spLocks noGrp="1"/>
          </p:cNvSpPr>
          <p:nvPr>
            <p:ph idx="1"/>
          </p:nvPr>
        </p:nvSpPr>
        <p:spPr/>
        <p:txBody>
          <a:bodyPr/>
          <a:lstStyle/>
          <a:p>
            <a:r>
              <a:rPr lang="en-AU" dirty="0" smtClean="0"/>
              <a:t>Gen Y expectations</a:t>
            </a:r>
          </a:p>
          <a:p>
            <a:r>
              <a:rPr lang="en-AU" dirty="0" smtClean="0"/>
              <a:t>Baby Boomer expectations…</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231B3BF7-1332-4F46-90C3-6F1EA13721B0}" type="slidenum">
              <a:rPr lang="en-AU"/>
              <a:pPr/>
              <a:t>12</a:t>
            </a:fld>
            <a:endParaRPr lang="en-AU"/>
          </a:p>
        </p:txBody>
      </p:sp>
      <p:sp>
        <p:nvSpPr>
          <p:cNvPr id="29702" name="Rectangle 6"/>
          <p:cNvSpPr>
            <a:spLocks noGrp="1" noChangeArrowheads="1"/>
          </p:cNvSpPr>
          <p:nvPr>
            <p:ph type="title"/>
          </p:nvPr>
        </p:nvSpPr>
        <p:spPr>
          <a:xfrm>
            <a:off x="457200" y="0"/>
            <a:ext cx="6994525" cy="908050"/>
          </a:xfrm>
        </p:spPr>
        <p:txBody>
          <a:bodyPr/>
          <a:lstStyle/>
          <a:p>
            <a:r>
              <a:rPr lang="en-AU"/>
              <a:t>Where do old people live?</a:t>
            </a:r>
          </a:p>
        </p:txBody>
      </p:sp>
      <p:sp>
        <p:nvSpPr>
          <p:cNvPr id="29703" name="Rectangle 7"/>
          <p:cNvSpPr>
            <a:spLocks noGrp="1" noChangeArrowheads="1"/>
          </p:cNvSpPr>
          <p:nvPr>
            <p:ph type="body" idx="1"/>
          </p:nvPr>
        </p:nvSpPr>
        <p:spPr>
          <a:xfrm>
            <a:off x="179388" y="908050"/>
            <a:ext cx="3960812" cy="5949950"/>
          </a:xfrm>
        </p:spPr>
        <p:txBody>
          <a:bodyPr/>
          <a:lstStyle/>
          <a:p>
            <a:pPr>
              <a:lnSpc>
                <a:spcPct val="80000"/>
              </a:lnSpc>
            </a:pPr>
            <a:r>
              <a:rPr lang="en-AU" sz="2800"/>
              <a:t>The thematic map shows the </a:t>
            </a:r>
            <a:r>
              <a:rPr lang="en-AU" sz="2800">
                <a:solidFill>
                  <a:srgbClr val="FFFF99"/>
                </a:solidFill>
              </a:rPr>
              <a:t>proportion</a:t>
            </a:r>
            <a:r>
              <a:rPr lang="en-AU" sz="2800"/>
              <a:t> of people aged over 65 years by SLA in </a:t>
            </a:r>
            <a:r>
              <a:rPr lang="en-AU" sz="2800" b="1">
                <a:solidFill>
                  <a:srgbClr val="FFFF99"/>
                </a:solidFill>
              </a:rPr>
              <a:t>South East Queensland Region. </a:t>
            </a:r>
          </a:p>
          <a:p>
            <a:pPr>
              <a:lnSpc>
                <a:spcPct val="80000"/>
              </a:lnSpc>
            </a:pPr>
            <a:r>
              <a:rPr lang="en-AU" sz="2800"/>
              <a:t>The range of the proportion is from 1.6 per cent to 38.1 per cent </a:t>
            </a:r>
          </a:p>
          <a:p>
            <a:pPr>
              <a:lnSpc>
                <a:spcPct val="80000"/>
              </a:lnSpc>
            </a:pPr>
            <a:r>
              <a:rPr lang="en-AU" sz="2800"/>
              <a:t>The darker SLA refers to a higher proportion where older people live</a:t>
            </a:r>
          </a:p>
        </p:txBody>
      </p:sp>
      <p:pic>
        <p:nvPicPr>
          <p:cNvPr id="29704" name="Picture 8" descr="prop"/>
          <p:cNvPicPr>
            <a:picLocks noChangeAspect="1" noChangeArrowheads="1"/>
          </p:cNvPicPr>
          <p:nvPr/>
        </p:nvPicPr>
        <p:blipFill>
          <a:blip r:embed="rId2"/>
          <a:srcRect/>
          <a:stretch>
            <a:fillRect/>
          </a:stretch>
        </p:blipFill>
        <p:spPr bwMode="auto">
          <a:xfrm>
            <a:off x="1476375" y="333375"/>
            <a:ext cx="10439400" cy="7212013"/>
          </a:xfrm>
          <a:prstGeom prst="rect">
            <a:avLst/>
          </a:prstGeom>
          <a:noFill/>
          <a:ln w="9525">
            <a:noFill/>
            <a:miter lim="800000"/>
            <a:headEnd/>
            <a:tailEnd/>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9704"/>
                                        </p:tgtEl>
                                        <p:attrNameLst>
                                          <p:attrName>style.visibility</p:attrName>
                                        </p:attrNameLst>
                                      </p:cBhvr>
                                      <p:to>
                                        <p:strVal val="visible"/>
                                      </p:to>
                                    </p:set>
                                    <p:animEffect transition="in" filter="dissolve">
                                      <p:cBhvr>
                                        <p:cTn id="7" dur="500"/>
                                        <p:tgtEl>
                                          <p:spTgt spid="29704"/>
                                        </p:tgtEl>
                                      </p:cBhvr>
                                    </p:animEffect>
                                  </p:childTnLst>
                                </p:cTn>
                              </p:par>
                              <p:par>
                                <p:cTn id="8" presetID="9" presetClass="entr" presetSubtype="0" fill="hold" nodeType="withEffect">
                                  <p:stCondLst>
                                    <p:cond delay="0"/>
                                  </p:stCondLst>
                                  <p:childTnLst>
                                    <p:set>
                                      <p:cBhvr>
                                        <p:cTn id="9" dur="1" fill="hold">
                                          <p:stCondLst>
                                            <p:cond delay="0"/>
                                          </p:stCondLst>
                                        </p:cTn>
                                        <p:tgtEl>
                                          <p:spTgt spid="29703">
                                            <p:txEl>
                                              <p:pRg st="0" end="0"/>
                                            </p:txEl>
                                          </p:spTgt>
                                        </p:tgtEl>
                                        <p:attrNameLst>
                                          <p:attrName>style.visibility</p:attrName>
                                        </p:attrNameLst>
                                      </p:cBhvr>
                                      <p:to>
                                        <p:strVal val="visible"/>
                                      </p:to>
                                    </p:set>
                                    <p:animEffect transition="in" filter="dissolve">
                                      <p:cBhvr>
                                        <p:cTn id="10" dur="500"/>
                                        <p:tgtEl>
                                          <p:spTgt spid="29703">
                                            <p:txEl>
                                              <p:pRg st="0" end="0"/>
                                            </p:txEl>
                                          </p:spTgt>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29703">
                                            <p:txEl>
                                              <p:pRg st="1" end="1"/>
                                            </p:txEl>
                                          </p:spTgt>
                                        </p:tgtEl>
                                        <p:attrNameLst>
                                          <p:attrName>style.visibility</p:attrName>
                                        </p:attrNameLst>
                                      </p:cBhvr>
                                      <p:to>
                                        <p:strVal val="visible"/>
                                      </p:to>
                                    </p:set>
                                    <p:animEffect transition="in" filter="dissolve">
                                      <p:cBhvr>
                                        <p:cTn id="14" dur="3000"/>
                                        <p:tgtEl>
                                          <p:spTgt spid="29703">
                                            <p:txEl>
                                              <p:pRg st="1" end="1"/>
                                            </p:txEl>
                                          </p:spTgt>
                                        </p:tgtEl>
                                      </p:cBhvr>
                                    </p:animEffect>
                                  </p:childTnLst>
                                </p:cTn>
                              </p:par>
                            </p:childTnLst>
                          </p:cTn>
                        </p:par>
                        <p:par>
                          <p:cTn id="15" fill="hold">
                            <p:stCondLst>
                              <p:cond delay="3500"/>
                            </p:stCondLst>
                            <p:childTnLst>
                              <p:par>
                                <p:cTn id="16" presetID="9" presetClass="entr" presetSubtype="0" fill="hold" nodeType="afterEffect">
                                  <p:stCondLst>
                                    <p:cond delay="0"/>
                                  </p:stCondLst>
                                  <p:childTnLst>
                                    <p:set>
                                      <p:cBhvr>
                                        <p:cTn id="17" dur="1" fill="hold">
                                          <p:stCondLst>
                                            <p:cond delay="0"/>
                                          </p:stCondLst>
                                        </p:cTn>
                                        <p:tgtEl>
                                          <p:spTgt spid="29703">
                                            <p:txEl>
                                              <p:pRg st="2" end="2"/>
                                            </p:txEl>
                                          </p:spTgt>
                                        </p:tgtEl>
                                        <p:attrNameLst>
                                          <p:attrName>style.visibility</p:attrName>
                                        </p:attrNameLst>
                                      </p:cBhvr>
                                      <p:to>
                                        <p:strVal val="visible"/>
                                      </p:to>
                                    </p:set>
                                    <p:animEffect transition="in" filter="dissolve">
                                      <p:cBhvr>
                                        <p:cTn id="18" dur="3000"/>
                                        <p:tgtEl>
                                          <p:spTgt spid="297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47CB2657-08E3-4C2C-893E-586035307BF9}" type="slidenum">
              <a:rPr lang="en-AU"/>
              <a:pPr/>
              <a:t>13</a:t>
            </a:fld>
            <a:endParaRPr lang="en-AU"/>
          </a:p>
        </p:txBody>
      </p:sp>
      <p:pic>
        <p:nvPicPr>
          <p:cNvPr id="34820" name="Picture 4" descr="seq"/>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34821" name="Rectangle 5"/>
          <p:cNvSpPr>
            <a:spLocks noChangeArrowheads="1"/>
          </p:cNvSpPr>
          <p:nvPr/>
        </p:nvSpPr>
        <p:spPr bwMode="auto">
          <a:xfrm>
            <a:off x="5795963" y="981075"/>
            <a:ext cx="1871662" cy="1943100"/>
          </a:xfrm>
          <a:prstGeom prst="rect">
            <a:avLst/>
          </a:prstGeom>
          <a:noFill/>
          <a:ln w="9525">
            <a:noFill/>
            <a:miter lim="800000"/>
            <a:headEnd/>
            <a:tailEnd/>
          </a:ln>
          <a:effectLst/>
        </p:spPr>
        <p:txBody>
          <a:bodyPr anchor="ctr"/>
          <a:lstStyle/>
          <a:p>
            <a:pPr algn="ctr"/>
            <a:r>
              <a:rPr lang="en-AU" sz="3200">
                <a:solidFill>
                  <a:schemeClr val="tx2"/>
                </a:solidFill>
                <a:effectLst>
                  <a:outerShdw blurRad="38100" dist="38100" dir="2700000" algn="tl">
                    <a:srgbClr val="000000"/>
                  </a:outerShdw>
                </a:effectLst>
              </a:rPr>
              <a:t>Numbers of older people</a:t>
            </a:r>
          </a:p>
        </p:txBody>
      </p:sp>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1"/>
          <p:cNvSpPr>
            <a:spLocks noGrp="1"/>
          </p:cNvSpPr>
          <p:nvPr>
            <p:ph type="sldNum" sz="quarter" idx="10"/>
          </p:nvPr>
        </p:nvSpPr>
        <p:spPr/>
        <p:txBody>
          <a:bodyPr/>
          <a:lstStyle/>
          <a:p>
            <a:fld id="{5E7775EA-B689-4189-89B4-74A8611B6446}" type="slidenum">
              <a:rPr lang="en-AU"/>
              <a:pPr/>
              <a:t>14</a:t>
            </a:fld>
            <a:endParaRPr lang="en-AU"/>
          </a:p>
        </p:txBody>
      </p:sp>
      <p:pic>
        <p:nvPicPr>
          <p:cNvPr id="37890" name="Picture 2" descr="seq"/>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37891" name="Rectangle 3"/>
          <p:cNvSpPr>
            <a:spLocks noChangeArrowheads="1"/>
          </p:cNvSpPr>
          <p:nvPr/>
        </p:nvSpPr>
        <p:spPr bwMode="auto">
          <a:xfrm>
            <a:off x="5580063" y="260350"/>
            <a:ext cx="2665412" cy="1655763"/>
          </a:xfrm>
          <a:prstGeom prst="rect">
            <a:avLst/>
          </a:prstGeom>
          <a:noFill/>
          <a:ln w="9525">
            <a:noFill/>
            <a:miter lim="800000"/>
            <a:headEnd/>
            <a:tailEnd/>
          </a:ln>
          <a:effectLst/>
        </p:spPr>
        <p:txBody>
          <a:bodyPr anchor="ctr"/>
          <a:lstStyle/>
          <a:p>
            <a:pPr algn="ctr"/>
            <a:r>
              <a:rPr lang="en-AU" sz="2800">
                <a:solidFill>
                  <a:schemeClr val="bg2"/>
                </a:solidFill>
                <a:effectLst>
                  <a:outerShdw blurRad="38100" dist="38100" dir="2700000" algn="tl">
                    <a:srgbClr val="000000"/>
                  </a:outerShdw>
                </a:effectLst>
              </a:rPr>
              <a:t>Heavy concentrations</a:t>
            </a:r>
            <a:br>
              <a:rPr lang="en-AU" sz="2800">
                <a:solidFill>
                  <a:schemeClr val="bg2"/>
                </a:solidFill>
                <a:effectLst>
                  <a:outerShdw blurRad="38100" dist="38100" dir="2700000" algn="tl">
                    <a:srgbClr val="000000"/>
                  </a:outerShdw>
                </a:effectLst>
              </a:rPr>
            </a:br>
            <a:r>
              <a:rPr lang="en-AU" sz="2000">
                <a:solidFill>
                  <a:schemeClr val="bg2"/>
                </a:solidFill>
                <a:effectLst>
                  <a:outerShdw blurRad="38100" dist="38100" dir="2700000" algn="tl">
                    <a:srgbClr val="000000"/>
                  </a:outerShdw>
                </a:effectLst>
              </a:rPr>
              <a:t>(proportions and numbers)</a:t>
            </a:r>
          </a:p>
        </p:txBody>
      </p:sp>
      <p:sp>
        <p:nvSpPr>
          <p:cNvPr id="37895" name="Oval 7"/>
          <p:cNvSpPr>
            <a:spLocks noChangeArrowheads="1"/>
          </p:cNvSpPr>
          <p:nvPr/>
        </p:nvSpPr>
        <p:spPr bwMode="auto">
          <a:xfrm>
            <a:off x="5867400" y="5589588"/>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896" name="Oval 8"/>
          <p:cNvSpPr>
            <a:spLocks noChangeArrowheads="1"/>
          </p:cNvSpPr>
          <p:nvPr/>
        </p:nvSpPr>
        <p:spPr bwMode="auto">
          <a:xfrm>
            <a:off x="5867400" y="5229225"/>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897" name="Oval 9"/>
          <p:cNvSpPr>
            <a:spLocks noChangeArrowheads="1"/>
          </p:cNvSpPr>
          <p:nvPr/>
        </p:nvSpPr>
        <p:spPr bwMode="auto">
          <a:xfrm>
            <a:off x="5508625" y="4005263"/>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898" name="Oval 10"/>
          <p:cNvSpPr>
            <a:spLocks noChangeArrowheads="1"/>
          </p:cNvSpPr>
          <p:nvPr/>
        </p:nvSpPr>
        <p:spPr bwMode="auto">
          <a:xfrm>
            <a:off x="5003800" y="1989138"/>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899" name="Oval 11"/>
          <p:cNvSpPr>
            <a:spLocks noChangeArrowheads="1"/>
          </p:cNvSpPr>
          <p:nvPr/>
        </p:nvSpPr>
        <p:spPr bwMode="auto">
          <a:xfrm>
            <a:off x="5219700" y="2492375"/>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900" name="Oval 12"/>
          <p:cNvSpPr>
            <a:spLocks noChangeArrowheads="1"/>
          </p:cNvSpPr>
          <p:nvPr/>
        </p:nvSpPr>
        <p:spPr bwMode="auto">
          <a:xfrm>
            <a:off x="5003800" y="1268413"/>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901" name="Oval 13"/>
          <p:cNvSpPr>
            <a:spLocks noChangeArrowheads="1"/>
          </p:cNvSpPr>
          <p:nvPr/>
        </p:nvSpPr>
        <p:spPr bwMode="auto">
          <a:xfrm>
            <a:off x="4932363" y="908050"/>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902" name="Oval 14"/>
          <p:cNvSpPr>
            <a:spLocks noChangeArrowheads="1"/>
          </p:cNvSpPr>
          <p:nvPr/>
        </p:nvSpPr>
        <p:spPr bwMode="auto">
          <a:xfrm>
            <a:off x="5003800" y="404813"/>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903" name="Rectangle 15"/>
          <p:cNvSpPr>
            <a:spLocks noChangeArrowheads="1"/>
          </p:cNvSpPr>
          <p:nvPr/>
        </p:nvSpPr>
        <p:spPr bwMode="auto">
          <a:xfrm>
            <a:off x="6300788" y="2276475"/>
            <a:ext cx="2519362" cy="360363"/>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Sea change / coastal areas</a:t>
            </a:r>
          </a:p>
        </p:txBody>
      </p:sp>
      <p:sp>
        <p:nvSpPr>
          <p:cNvPr id="37904" name="Oval 16"/>
          <p:cNvSpPr>
            <a:spLocks noChangeArrowheads="1"/>
          </p:cNvSpPr>
          <p:nvPr/>
        </p:nvSpPr>
        <p:spPr bwMode="auto">
          <a:xfrm>
            <a:off x="4787900" y="3716338"/>
            <a:ext cx="720725" cy="720725"/>
          </a:xfrm>
          <a:prstGeom prst="ellipse">
            <a:avLst/>
          </a:prstGeom>
          <a:solidFill>
            <a:srgbClr val="339966">
              <a:alpha val="14999"/>
            </a:srgbClr>
          </a:solidFill>
          <a:ln w="57150">
            <a:solidFill>
              <a:srgbClr val="339966"/>
            </a:solidFill>
            <a:round/>
            <a:headEnd/>
            <a:tailEnd/>
          </a:ln>
          <a:effectLst/>
        </p:spPr>
        <p:txBody>
          <a:bodyPr wrap="none" anchor="ctr"/>
          <a:lstStyle/>
          <a:p>
            <a:pPr algn="ctr"/>
            <a:endParaRPr lang="en-US">
              <a:solidFill>
                <a:srgbClr val="00FF00"/>
              </a:solidFill>
            </a:endParaRPr>
          </a:p>
        </p:txBody>
      </p:sp>
      <p:sp>
        <p:nvSpPr>
          <p:cNvPr id="37905" name="Oval 17"/>
          <p:cNvSpPr>
            <a:spLocks noChangeArrowheads="1"/>
          </p:cNvSpPr>
          <p:nvPr/>
        </p:nvSpPr>
        <p:spPr bwMode="auto">
          <a:xfrm>
            <a:off x="5148263" y="3068638"/>
            <a:ext cx="431800" cy="431800"/>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7910" name="Oval 22"/>
          <p:cNvSpPr>
            <a:spLocks noChangeArrowheads="1"/>
          </p:cNvSpPr>
          <p:nvPr/>
        </p:nvSpPr>
        <p:spPr bwMode="auto">
          <a:xfrm>
            <a:off x="3492500" y="4941888"/>
            <a:ext cx="1152525" cy="1079500"/>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7911" name="Oval 23"/>
          <p:cNvSpPr>
            <a:spLocks noChangeArrowheads="1"/>
          </p:cNvSpPr>
          <p:nvPr/>
        </p:nvSpPr>
        <p:spPr bwMode="auto">
          <a:xfrm>
            <a:off x="4500563" y="5300663"/>
            <a:ext cx="1152525" cy="1079500"/>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7912" name="Oval 24"/>
          <p:cNvSpPr>
            <a:spLocks noChangeArrowheads="1"/>
          </p:cNvSpPr>
          <p:nvPr/>
        </p:nvSpPr>
        <p:spPr bwMode="auto">
          <a:xfrm>
            <a:off x="2555875" y="3789363"/>
            <a:ext cx="1152525" cy="1079500"/>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7913" name="Oval 25"/>
          <p:cNvSpPr>
            <a:spLocks noChangeArrowheads="1"/>
          </p:cNvSpPr>
          <p:nvPr/>
        </p:nvSpPr>
        <p:spPr bwMode="auto">
          <a:xfrm>
            <a:off x="2987675" y="2708275"/>
            <a:ext cx="1152525" cy="1079500"/>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7914" name="Rectangle 26"/>
          <p:cNvSpPr>
            <a:spLocks noChangeArrowheads="1"/>
          </p:cNvSpPr>
          <p:nvPr/>
        </p:nvSpPr>
        <p:spPr bwMode="auto">
          <a:xfrm>
            <a:off x="6300788" y="2708275"/>
            <a:ext cx="2663825" cy="360363"/>
          </a:xfrm>
          <a:prstGeom prst="rect">
            <a:avLst/>
          </a:prstGeom>
          <a:noFill/>
          <a:ln w="9525">
            <a:noFill/>
            <a:miter lim="800000"/>
            <a:headEnd/>
            <a:tailEnd/>
          </a:ln>
          <a:effectLst/>
        </p:spPr>
        <p:txBody>
          <a:bodyPr anchor="ctr"/>
          <a:lstStyle/>
          <a:p>
            <a:r>
              <a:rPr lang="en-AU" sz="1600">
                <a:solidFill>
                  <a:srgbClr val="FFFF00"/>
                </a:solidFill>
                <a:effectLst>
                  <a:outerShdw blurRad="38100" dist="38100" dir="2700000" algn="tl">
                    <a:srgbClr val="000000"/>
                  </a:outerShdw>
                </a:effectLst>
              </a:rPr>
              <a:t>Semi-rural / rural</a:t>
            </a:r>
          </a:p>
        </p:txBody>
      </p:sp>
      <p:sp>
        <p:nvSpPr>
          <p:cNvPr id="37915" name="Rectangle 27"/>
          <p:cNvSpPr>
            <a:spLocks noChangeArrowheads="1"/>
          </p:cNvSpPr>
          <p:nvPr/>
        </p:nvSpPr>
        <p:spPr bwMode="auto">
          <a:xfrm>
            <a:off x="6300788" y="3213100"/>
            <a:ext cx="2663825" cy="360363"/>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Metropolitan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fade">
                                      <p:cBhvr>
                                        <p:cTn id="7" dur="2000"/>
                                        <p:tgtEl>
                                          <p:spTgt spid="37891"/>
                                        </p:tgtEl>
                                      </p:cBhvr>
                                    </p:animEffect>
                                    <p:anim calcmode="lin" valueType="num">
                                      <p:cBhvr>
                                        <p:cTn id="8" dur="2000" fill="hold"/>
                                        <p:tgtEl>
                                          <p:spTgt spid="37891"/>
                                        </p:tgtEl>
                                        <p:attrNameLst>
                                          <p:attrName>style.rotation</p:attrName>
                                        </p:attrNameLst>
                                      </p:cBhvr>
                                      <p:tavLst>
                                        <p:tav tm="0">
                                          <p:val>
                                            <p:fltVal val="720"/>
                                          </p:val>
                                        </p:tav>
                                        <p:tav tm="100000">
                                          <p:val>
                                            <p:fltVal val="0"/>
                                          </p:val>
                                        </p:tav>
                                      </p:tavLst>
                                    </p:anim>
                                    <p:anim calcmode="lin" valueType="num">
                                      <p:cBhvr>
                                        <p:cTn id="9" dur="2000" fill="hold"/>
                                        <p:tgtEl>
                                          <p:spTgt spid="37891"/>
                                        </p:tgtEl>
                                        <p:attrNameLst>
                                          <p:attrName>ppt_h</p:attrName>
                                        </p:attrNameLst>
                                      </p:cBhvr>
                                      <p:tavLst>
                                        <p:tav tm="0">
                                          <p:val>
                                            <p:fltVal val="0"/>
                                          </p:val>
                                        </p:tav>
                                        <p:tav tm="100000">
                                          <p:val>
                                            <p:strVal val="#ppt_h"/>
                                          </p:val>
                                        </p:tav>
                                      </p:tavLst>
                                    </p:anim>
                                    <p:anim calcmode="lin" valueType="num">
                                      <p:cBhvr>
                                        <p:cTn id="10" dur="2000" fill="hold"/>
                                        <p:tgtEl>
                                          <p:spTgt spid="37891"/>
                                        </p:tgtEl>
                                        <p:attrNameLst>
                                          <p:attrName>ppt_w</p:attrName>
                                        </p:attrNameLst>
                                      </p:cBhvr>
                                      <p:tavLst>
                                        <p:tav tm="0">
                                          <p:val>
                                            <p:fltVal val="0"/>
                                          </p:val>
                                        </p:tav>
                                        <p:tav tm="100000">
                                          <p:val>
                                            <p:strVal val="#ppt_w"/>
                                          </p:val>
                                        </p:tav>
                                      </p:tavLst>
                                    </p:anim>
                                  </p:childTnLst>
                                </p:cTn>
                              </p:par>
                            </p:childTnLst>
                          </p:cTn>
                        </p:par>
                        <p:par>
                          <p:cTn id="11" fill="hold">
                            <p:stCondLst>
                              <p:cond delay="2000"/>
                            </p:stCondLst>
                            <p:childTnLst>
                              <p:par>
                                <p:cTn id="12" presetID="9" presetClass="entr" presetSubtype="0" fill="hold" grpId="0" nodeType="afterEffect">
                                  <p:stCondLst>
                                    <p:cond delay="0"/>
                                  </p:stCondLst>
                                  <p:childTnLst>
                                    <p:set>
                                      <p:cBhvr>
                                        <p:cTn id="13" dur="1" fill="hold">
                                          <p:stCondLst>
                                            <p:cond delay="0"/>
                                          </p:stCondLst>
                                        </p:cTn>
                                        <p:tgtEl>
                                          <p:spTgt spid="37903"/>
                                        </p:tgtEl>
                                        <p:attrNameLst>
                                          <p:attrName>style.visibility</p:attrName>
                                        </p:attrNameLst>
                                      </p:cBhvr>
                                      <p:to>
                                        <p:strVal val="visible"/>
                                      </p:to>
                                    </p:set>
                                    <p:animEffect transition="in" filter="dissolve">
                                      <p:cBhvr>
                                        <p:cTn id="14" dur="500"/>
                                        <p:tgtEl>
                                          <p:spTgt spid="37903"/>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37895"/>
                                        </p:tgtEl>
                                        <p:attrNameLst>
                                          <p:attrName>style.visibility</p:attrName>
                                        </p:attrNameLst>
                                      </p:cBhvr>
                                      <p:to>
                                        <p:strVal val="visible"/>
                                      </p:to>
                                    </p:set>
                                    <p:animEffect transition="in" filter="dissolve">
                                      <p:cBhvr>
                                        <p:cTn id="17" dur="500"/>
                                        <p:tgtEl>
                                          <p:spTgt spid="3789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7896"/>
                                        </p:tgtEl>
                                        <p:attrNameLst>
                                          <p:attrName>style.visibility</p:attrName>
                                        </p:attrNameLst>
                                      </p:cBhvr>
                                      <p:to>
                                        <p:strVal val="visible"/>
                                      </p:to>
                                    </p:set>
                                    <p:animEffect transition="in" filter="dissolve">
                                      <p:cBhvr>
                                        <p:cTn id="20" dur="500"/>
                                        <p:tgtEl>
                                          <p:spTgt spid="3789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7897"/>
                                        </p:tgtEl>
                                        <p:attrNameLst>
                                          <p:attrName>style.visibility</p:attrName>
                                        </p:attrNameLst>
                                      </p:cBhvr>
                                      <p:to>
                                        <p:strVal val="visible"/>
                                      </p:to>
                                    </p:set>
                                    <p:animEffect transition="in" filter="dissolve">
                                      <p:cBhvr>
                                        <p:cTn id="23" dur="500"/>
                                        <p:tgtEl>
                                          <p:spTgt spid="3789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7898"/>
                                        </p:tgtEl>
                                        <p:attrNameLst>
                                          <p:attrName>style.visibility</p:attrName>
                                        </p:attrNameLst>
                                      </p:cBhvr>
                                      <p:to>
                                        <p:strVal val="visible"/>
                                      </p:to>
                                    </p:set>
                                    <p:animEffect transition="in" filter="dissolve">
                                      <p:cBhvr>
                                        <p:cTn id="26" dur="500"/>
                                        <p:tgtEl>
                                          <p:spTgt spid="3789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7899"/>
                                        </p:tgtEl>
                                        <p:attrNameLst>
                                          <p:attrName>style.visibility</p:attrName>
                                        </p:attrNameLst>
                                      </p:cBhvr>
                                      <p:to>
                                        <p:strVal val="visible"/>
                                      </p:to>
                                    </p:set>
                                    <p:animEffect transition="in" filter="dissolve">
                                      <p:cBhvr>
                                        <p:cTn id="29" dur="500"/>
                                        <p:tgtEl>
                                          <p:spTgt spid="3789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7900"/>
                                        </p:tgtEl>
                                        <p:attrNameLst>
                                          <p:attrName>style.visibility</p:attrName>
                                        </p:attrNameLst>
                                      </p:cBhvr>
                                      <p:to>
                                        <p:strVal val="visible"/>
                                      </p:to>
                                    </p:set>
                                    <p:animEffect transition="in" filter="dissolve">
                                      <p:cBhvr>
                                        <p:cTn id="32" dur="500"/>
                                        <p:tgtEl>
                                          <p:spTgt spid="3790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7901"/>
                                        </p:tgtEl>
                                        <p:attrNameLst>
                                          <p:attrName>style.visibility</p:attrName>
                                        </p:attrNameLst>
                                      </p:cBhvr>
                                      <p:to>
                                        <p:strVal val="visible"/>
                                      </p:to>
                                    </p:set>
                                    <p:animEffect transition="in" filter="dissolve">
                                      <p:cBhvr>
                                        <p:cTn id="35" dur="500"/>
                                        <p:tgtEl>
                                          <p:spTgt spid="37901"/>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37902"/>
                                        </p:tgtEl>
                                        <p:attrNameLst>
                                          <p:attrName>style.visibility</p:attrName>
                                        </p:attrNameLst>
                                      </p:cBhvr>
                                      <p:to>
                                        <p:strVal val="visible"/>
                                      </p:to>
                                    </p:set>
                                    <p:animEffect transition="in" filter="dissolve">
                                      <p:cBhvr>
                                        <p:cTn id="38" dur="500"/>
                                        <p:tgtEl>
                                          <p:spTgt spid="37902"/>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7905"/>
                                        </p:tgtEl>
                                        <p:attrNameLst>
                                          <p:attrName>style.visibility</p:attrName>
                                        </p:attrNameLst>
                                      </p:cBhvr>
                                      <p:to>
                                        <p:strVal val="visible"/>
                                      </p:to>
                                    </p:set>
                                    <p:animEffect transition="in" filter="dissolve">
                                      <p:cBhvr>
                                        <p:cTn id="41" dur="500"/>
                                        <p:tgtEl>
                                          <p:spTgt spid="37905"/>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7914"/>
                                        </p:tgtEl>
                                        <p:attrNameLst>
                                          <p:attrName>style.visibility</p:attrName>
                                        </p:attrNameLst>
                                      </p:cBhvr>
                                      <p:to>
                                        <p:strVal val="visible"/>
                                      </p:to>
                                    </p:set>
                                    <p:animEffect transition="in" filter="dissolve">
                                      <p:cBhvr>
                                        <p:cTn id="46" dur="500"/>
                                        <p:tgtEl>
                                          <p:spTgt spid="37914"/>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7910"/>
                                        </p:tgtEl>
                                        <p:attrNameLst>
                                          <p:attrName>style.visibility</p:attrName>
                                        </p:attrNameLst>
                                      </p:cBhvr>
                                      <p:to>
                                        <p:strVal val="visible"/>
                                      </p:to>
                                    </p:set>
                                    <p:animEffect transition="in" filter="dissolve">
                                      <p:cBhvr>
                                        <p:cTn id="49" dur="500"/>
                                        <p:tgtEl>
                                          <p:spTgt spid="3791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7912"/>
                                        </p:tgtEl>
                                        <p:attrNameLst>
                                          <p:attrName>style.visibility</p:attrName>
                                        </p:attrNameLst>
                                      </p:cBhvr>
                                      <p:to>
                                        <p:strVal val="visible"/>
                                      </p:to>
                                    </p:set>
                                    <p:animEffect transition="in" filter="dissolve">
                                      <p:cBhvr>
                                        <p:cTn id="52" dur="500"/>
                                        <p:tgtEl>
                                          <p:spTgt spid="3791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7913"/>
                                        </p:tgtEl>
                                        <p:attrNameLst>
                                          <p:attrName>style.visibility</p:attrName>
                                        </p:attrNameLst>
                                      </p:cBhvr>
                                      <p:to>
                                        <p:strVal val="visible"/>
                                      </p:to>
                                    </p:set>
                                    <p:animEffect transition="in" filter="dissolve">
                                      <p:cBhvr>
                                        <p:cTn id="55" dur="500"/>
                                        <p:tgtEl>
                                          <p:spTgt spid="3791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7911"/>
                                        </p:tgtEl>
                                        <p:attrNameLst>
                                          <p:attrName>style.visibility</p:attrName>
                                        </p:attrNameLst>
                                      </p:cBhvr>
                                      <p:to>
                                        <p:strVal val="visible"/>
                                      </p:to>
                                    </p:set>
                                    <p:animEffect transition="in" filter="dissolve">
                                      <p:cBhvr>
                                        <p:cTn id="58" dur="500"/>
                                        <p:tgtEl>
                                          <p:spTgt spid="37911"/>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7915"/>
                                        </p:tgtEl>
                                        <p:attrNameLst>
                                          <p:attrName>style.visibility</p:attrName>
                                        </p:attrNameLst>
                                      </p:cBhvr>
                                      <p:to>
                                        <p:strVal val="visible"/>
                                      </p:to>
                                    </p:set>
                                    <p:animEffect transition="in" filter="dissolve">
                                      <p:cBhvr>
                                        <p:cTn id="63" dur="500"/>
                                        <p:tgtEl>
                                          <p:spTgt spid="37915"/>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37904"/>
                                        </p:tgtEl>
                                        <p:attrNameLst>
                                          <p:attrName>style.visibility</p:attrName>
                                        </p:attrNameLst>
                                      </p:cBhvr>
                                      <p:to>
                                        <p:strVal val="visible"/>
                                      </p:to>
                                    </p:set>
                                    <p:animEffect transition="in" filter="dissolve">
                                      <p:cBhvr>
                                        <p:cTn id="66" dur="500"/>
                                        <p:tgtEl>
                                          <p:spTgt spid="37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5" grpId="0" animBg="1"/>
      <p:bldP spid="37896" grpId="0" animBg="1"/>
      <p:bldP spid="37897" grpId="0" animBg="1"/>
      <p:bldP spid="37898" grpId="0" animBg="1"/>
      <p:bldP spid="37899" grpId="0" animBg="1"/>
      <p:bldP spid="37900" grpId="0" animBg="1"/>
      <p:bldP spid="37901" grpId="0" animBg="1"/>
      <p:bldP spid="37902" grpId="0" animBg="1"/>
      <p:bldP spid="37903" grpId="0"/>
      <p:bldP spid="37904" grpId="0" animBg="1"/>
      <p:bldP spid="37905" grpId="0" animBg="1"/>
      <p:bldP spid="37910" grpId="0" animBg="1"/>
      <p:bldP spid="37911" grpId="0" animBg="1"/>
      <p:bldP spid="37912" grpId="0" animBg="1"/>
      <p:bldP spid="37913" grpId="0" animBg="1"/>
      <p:bldP spid="37914" grpId="0"/>
      <p:bldP spid="379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349F12E3-2C60-4AC2-8E9D-1F018BE849EA}" type="slidenum">
              <a:rPr lang="en-AU"/>
              <a:pPr/>
              <a:t>15</a:t>
            </a:fld>
            <a:endParaRPr lang="en-AU"/>
          </a:p>
        </p:txBody>
      </p:sp>
      <p:pic>
        <p:nvPicPr>
          <p:cNvPr id="33797" name="Picture 5" descr="prop_city"/>
          <p:cNvPicPr>
            <a:picLocks noChangeAspect="1" noChangeArrowheads="1"/>
          </p:cNvPicPr>
          <p:nvPr/>
        </p:nvPicPr>
        <p:blipFill>
          <a:blip r:embed="rId2"/>
          <a:srcRect/>
          <a:stretch>
            <a:fillRect/>
          </a:stretch>
        </p:blipFill>
        <p:spPr bwMode="auto">
          <a:xfrm>
            <a:off x="0" y="525463"/>
            <a:ext cx="9144000" cy="6332537"/>
          </a:xfrm>
          <a:prstGeom prst="rect">
            <a:avLst/>
          </a:prstGeom>
          <a:noFill/>
          <a:ln w="9525">
            <a:noFill/>
            <a:miter lim="800000"/>
            <a:headEnd/>
            <a:tailEnd/>
          </a:ln>
        </p:spPr>
      </p:pic>
      <p:sp>
        <p:nvSpPr>
          <p:cNvPr id="33794" name="Rectangle 2"/>
          <p:cNvSpPr>
            <a:spLocks noGrp="1" noChangeArrowheads="1"/>
          </p:cNvSpPr>
          <p:nvPr>
            <p:ph type="title"/>
          </p:nvPr>
        </p:nvSpPr>
        <p:spPr>
          <a:xfrm>
            <a:off x="457200" y="0"/>
            <a:ext cx="8229600" cy="765175"/>
          </a:xfrm>
          <a:solidFill>
            <a:schemeClr val="accent2"/>
          </a:solidFill>
        </p:spPr>
        <p:txBody>
          <a:bodyPr/>
          <a:lstStyle/>
          <a:p>
            <a:r>
              <a:rPr lang="en-AU"/>
              <a:t>Where do old people live?</a:t>
            </a:r>
          </a:p>
        </p:txBody>
      </p:sp>
      <p:sp>
        <p:nvSpPr>
          <p:cNvPr id="33795" name="Rectangle 3"/>
          <p:cNvSpPr>
            <a:spLocks noGrp="1" noChangeArrowheads="1"/>
          </p:cNvSpPr>
          <p:nvPr>
            <p:ph type="body" idx="1"/>
          </p:nvPr>
        </p:nvSpPr>
        <p:spPr>
          <a:xfrm>
            <a:off x="5435600" y="908050"/>
            <a:ext cx="3708400" cy="5949950"/>
          </a:xfrm>
        </p:spPr>
        <p:txBody>
          <a:bodyPr/>
          <a:lstStyle/>
          <a:p>
            <a:pPr marL="0" indent="0">
              <a:buFont typeface="Wingdings" pitchFamily="2" charset="2"/>
              <a:buNone/>
            </a:pPr>
            <a:r>
              <a:rPr lang="en-AU" sz="2400"/>
              <a:t>The thematic map shows the </a:t>
            </a:r>
            <a:r>
              <a:rPr lang="en-AU" sz="2400" b="1">
                <a:solidFill>
                  <a:srgbClr val="FFFF00"/>
                </a:solidFill>
              </a:rPr>
              <a:t>proportion</a:t>
            </a:r>
            <a:r>
              <a:rPr lang="en-AU" sz="2400"/>
              <a:t> of people aged over 65 years by SLA in </a:t>
            </a:r>
            <a:r>
              <a:rPr lang="en-AU" sz="2400" b="1">
                <a:solidFill>
                  <a:srgbClr val="FFFF99"/>
                </a:solidFill>
              </a:rPr>
              <a:t>Brisbane metropolitan region.</a:t>
            </a:r>
            <a:r>
              <a:rPr lang="en-AU"/>
              <a:t> </a:t>
            </a:r>
          </a:p>
        </p:txBody>
      </p:sp>
      <p:sp>
        <p:nvSpPr>
          <p:cNvPr id="33798" name="Rectangle 6"/>
          <p:cNvSpPr>
            <a:spLocks noChangeArrowheads="1"/>
          </p:cNvSpPr>
          <p:nvPr/>
        </p:nvSpPr>
        <p:spPr bwMode="auto">
          <a:xfrm>
            <a:off x="3779838" y="6400800"/>
            <a:ext cx="5364162" cy="457200"/>
          </a:xfrm>
          <a:prstGeom prst="rect">
            <a:avLst/>
          </a:prstGeom>
          <a:solidFill>
            <a:schemeClr val="accent2"/>
          </a:solidFill>
          <a:ln w="9525">
            <a:noFill/>
            <a:miter lim="800000"/>
            <a:headEnd/>
            <a:tailEnd/>
          </a:ln>
          <a:effectLst/>
        </p:spPr>
        <p:txBody>
          <a:bodyPr>
            <a:spAutoFit/>
          </a:bodyPr>
          <a:lstStyle/>
          <a:p>
            <a:r>
              <a:rPr lang="en-AU" sz="1200">
                <a:effectLst>
                  <a:outerShdw blurRad="38100" dist="38100" dir="2700000" algn="tl">
                    <a:srgbClr val="000000"/>
                  </a:outerShdw>
                </a:effectLst>
              </a:rPr>
              <a:t>The range of the proportion is from 1.6 per cent to 38.1 per cent </a:t>
            </a:r>
          </a:p>
          <a:p>
            <a:r>
              <a:rPr lang="en-AU" sz="1200">
                <a:effectLst>
                  <a:outerShdw blurRad="38100" dist="38100" dir="2700000" algn="tl">
                    <a:srgbClr val="000000"/>
                  </a:outerShdw>
                </a:effectLst>
              </a:rPr>
              <a:t>The darker SLA refers to a higher proportion where older people live</a:t>
            </a:r>
          </a:p>
        </p:txBody>
      </p:sp>
    </p:spTree>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fld id="{3915D745-26DF-4112-BE48-5AC7B8766864}" type="slidenum">
              <a:rPr lang="en-AU"/>
              <a:pPr/>
              <a:t>16</a:t>
            </a:fld>
            <a:endParaRPr lang="en-AU"/>
          </a:p>
        </p:txBody>
      </p:sp>
      <p:pic>
        <p:nvPicPr>
          <p:cNvPr id="35844" name="Picture 4" descr="brisbane"/>
          <p:cNvPicPr>
            <a:picLocks noChangeAspect="1" noChangeArrowheads="1"/>
          </p:cNvPicPr>
          <p:nvPr/>
        </p:nvPicPr>
        <p:blipFill>
          <a:blip r:embed="rId2"/>
          <a:srcRect/>
          <a:stretch>
            <a:fillRect/>
          </a:stretch>
        </p:blipFill>
        <p:spPr bwMode="auto">
          <a:xfrm>
            <a:off x="-757238" y="-280988"/>
            <a:ext cx="10729913" cy="7589838"/>
          </a:xfrm>
          <a:prstGeom prst="rect">
            <a:avLst/>
          </a:prstGeom>
          <a:noFill/>
        </p:spPr>
      </p:pic>
      <p:sp>
        <p:nvSpPr>
          <p:cNvPr id="35845" name="Rectangle 5"/>
          <p:cNvSpPr>
            <a:spLocks noChangeArrowheads="1"/>
          </p:cNvSpPr>
          <p:nvPr/>
        </p:nvSpPr>
        <p:spPr bwMode="auto">
          <a:xfrm>
            <a:off x="0" y="188913"/>
            <a:ext cx="1871663" cy="1943100"/>
          </a:xfrm>
          <a:prstGeom prst="rect">
            <a:avLst/>
          </a:prstGeom>
          <a:noFill/>
          <a:ln w="9525">
            <a:noFill/>
            <a:miter lim="800000"/>
            <a:headEnd/>
            <a:tailEnd/>
          </a:ln>
          <a:effectLst/>
        </p:spPr>
        <p:txBody>
          <a:bodyPr anchor="ctr"/>
          <a:lstStyle/>
          <a:p>
            <a:pPr algn="ctr"/>
            <a:r>
              <a:rPr lang="en-AU" sz="3200">
                <a:solidFill>
                  <a:schemeClr val="tx2"/>
                </a:solidFill>
                <a:effectLst>
                  <a:outerShdw blurRad="38100" dist="38100" dir="2700000" algn="tl">
                    <a:srgbClr val="000000"/>
                  </a:outerShdw>
                </a:effectLst>
              </a:rPr>
              <a:t>Numbers of older people</a:t>
            </a:r>
          </a:p>
        </p:txBody>
      </p:sp>
      <p:sp>
        <p:nvSpPr>
          <p:cNvPr id="35847" name="Oval 7"/>
          <p:cNvSpPr>
            <a:spLocks noChangeArrowheads="1"/>
          </p:cNvSpPr>
          <p:nvPr/>
        </p:nvSpPr>
        <p:spPr bwMode="auto">
          <a:xfrm>
            <a:off x="1042988" y="4868863"/>
            <a:ext cx="1943100" cy="1773237"/>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48" name="Oval 8"/>
          <p:cNvSpPr>
            <a:spLocks noChangeArrowheads="1"/>
          </p:cNvSpPr>
          <p:nvPr/>
        </p:nvSpPr>
        <p:spPr bwMode="auto">
          <a:xfrm>
            <a:off x="5364163" y="5445125"/>
            <a:ext cx="576262"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49" name="Oval 9"/>
          <p:cNvSpPr>
            <a:spLocks noChangeArrowheads="1"/>
          </p:cNvSpPr>
          <p:nvPr/>
        </p:nvSpPr>
        <p:spPr bwMode="auto">
          <a:xfrm>
            <a:off x="5148263" y="4292600"/>
            <a:ext cx="576262"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50" name="Oval 10"/>
          <p:cNvSpPr>
            <a:spLocks noChangeArrowheads="1"/>
          </p:cNvSpPr>
          <p:nvPr/>
        </p:nvSpPr>
        <p:spPr bwMode="auto">
          <a:xfrm>
            <a:off x="7092950" y="4149725"/>
            <a:ext cx="576263"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51" name="Oval 11"/>
          <p:cNvSpPr>
            <a:spLocks noChangeArrowheads="1"/>
          </p:cNvSpPr>
          <p:nvPr/>
        </p:nvSpPr>
        <p:spPr bwMode="auto">
          <a:xfrm>
            <a:off x="4643438" y="3213100"/>
            <a:ext cx="576262"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52" name="Oval 12"/>
          <p:cNvSpPr>
            <a:spLocks noChangeArrowheads="1"/>
          </p:cNvSpPr>
          <p:nvPr/>
        </p:nvSpPr>
        <p:spPr bwMode="auto">
          <a:xfrm>
            <a:off x="5364163" y="188913"/>
            <a:ext cx="576262" cy="576262"/>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53" name="Oval 13"/>
          <p:cNvSpPr>
            <a:spLocks noChangeArrowheads="1"/>
          </p:cNvSpPr>
          <p:nvPr/>
        </p:nvSpPr>
        <p:spPr bwMode="auto">
          <a:xfrm>
            <a:off x="2843213" y="2781300"/>
            <a:ext cx="576262"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
        <p:nvSpPr>
          <p:cNvPr id="35854" name="Oval 14"/>
          <p:cNvSpPr>
            <a:spLocks noChangeArrowheads="1"/>
          </p:cNvSpPr>
          <p:nvPr/>
        </p:nvSpPr>
        <p:spPr bwMode="auto">
          <a:xfrm>
            <a:off x="5940425" y="2924175"/>
            <a:ext cx="576263" cy="576263"/>
          </a:xfrm>
          <a:prstGeom prst="ellipse">
            <a:avLst/>
          </a:prstGeom>
          <a:solidFill>
            <a:schemeClr val="accent1">
              <a:alpha val="14999"/>
            </a:schemeClr>
          </a:solidFill>
          <a:ln w="57150">
            <a:solidFill>
              <a:srgbClr val="FFFF00"/>
            </a:solidFill>
            <a:round/>
            <a:headEnd/>
            <a:tailEnd/>
          </a:ln>
          <a:effectLst/>
        </p:spPr>
        <p:txBody>
          <a:bodyPr wrap="none" anchor="ctr"/>
          <a:lstStyle/>
          <a:p>
            <a:endParaRPr lang="en-AU"/>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35847"/>
                                        </p:tgtEl>
                                        <p:attrNameLst>
                                          <p:attrName>style.visibility</p:attrName>
                                        </p:attrNameLst>
                                      </p:cBhvr>
                                      <p:to>
                                        <p:strVal val="visible"/>
                                      </p:to>
                                    </p:set>
                                    <p:anim calcmode="lin" valueType="num">
                                      <p:cBhvr additive="base">
                                        <p:cTn id="7" dur="2000" fill="hold"/>
                                        <p:tgtEl>
                                          <p:spTgt spid="35847"/>
                                        </p:tgtEl>
                                        <p:attrNameLst>
                                          <p:attrName>ppt_x</p:attrName>
                                        </p:attrNameLst>
                                      </p:cBhvr>
                                      <p:tavLst>
                                        <p:tav tm="0">
                                          <p:val>
                                            <p:strVal val="1+#ppt_w/2"/>
                                          </p:val>
                                        </p:tav>
                                        <p:tav tm="100000">
                                          <p:val>
                                            <p:strVal val="#ppt_x"/>
                                          </p:val>
                                        </p:tav>
                                      </p:tavLst>
                                    </p:anim>
                                    <p:anim calcmode="lin" valueType="num">
                                      <p:cBhvr additive="base">
                                        <p:cTn id="8" dur="2000" fill="hold"/>
                                        <p:tgtEl>
                                          <p:spTgt spid="3584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5848"/>
                                        </p:tgtEl>
                                        <p:attrNameLst>
                                          <p:attrName>style.visibility</p:attrName>
                                        </p:attrNameLst>
                                      </p:cBhvr>
                                      <p:to>
                                        <p:strVal val="visible"/>
                                      </p:to>
                                    </p:set>
                                    <p:anim calcmode="lin" valueType="num">
                                      <p:cBhvr additive="base">
                                        <p:cTn id="11" dur="2000" fill="hold"/>
                                        <p:tgtEl>
                                          <p:spTgt spid="35848"/>
                                        </p:tgtEl>
                                        <p:attrNameLst>
                                          <p:attrName>ppt_x</p:attrName>
                                        </p:attrNameLst>
                                      </p:cBhvr>
                                      <p:tavLst>
                                        <p:tav tm="0">
                                          <p:val>
                                            <p:strVal val="1+#ppt_w/2"/>
                                          </p:val>
                                        </p:tav>
                                        <p:tav tm="100000">
                                          <p:val>
                                            <p:strVal val="#ppt_x"/>
                                          </p:val>
                                        </p:tav>
                                      </p:tavLst>
                                    </p:anim>
                                    <p:anim calcmode="lin" valueType="num">
                                      <p:cBhvr additive="base">
                                        <p:cTn id="12" dur="2000" fill="hold"/>
                                        <p:tgtEl>
                                          <p:spTgt spid="35848"/>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35849"/>
                                        </p:tgtEl>
                                        <p:attrNameLst>
                                          <p:attrName>style.visibility</p:attrName>
                                        </p:attrNameLst>
                                      </p:cBhvr>
                                      <p:to>
                                        <p:strVal val="visible"/>
                                      </p:to>
                                    </p:set>
                                    <p:anim calcmode="lin" valueType="num">
                                      <p:cBhvr additive="base">
                                        <p:cTn id="15" dur="2000" fill="hold"/>
                                        <p:tgtEl>
                                          <p:spTgt spid="35849"/>
                                        </p:tgtEl>
                                        <p:attrNameLst>
                                          <p:attrName>ppt_x</p:attrName>
                                        </p:attrNameLst>
                                      </p:cBhvr>
                                      <p:tavLst>
                                        <p:tav tm="0">
                                          <p:val>
                                            <p:strVal val="1+#ppt_w/2"/>
                                          </p:val>
                                        </p:tav>
                                        <p:tav tm="100000">
                                          <p:val>
                                            <p:strVal val="#ppt_x"/>
                                          </p:val>
                                        </p:tav>
                                      </p:tavLst>
                                    </p:anim>
                                    <p:anim calcmode="lin" valueType="num">
                                      <p:cBhvr additive="base">
                                        <p:cTn id="16" dur="2000" fill="hold"/>
                                        <p:tgtEl>
                                          <p:spTgt spid="35849"/>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35850"/>
                                        </p:tgtEl>
                                        <p:attrNameLst>
                                          <p:attrName>style.visibility</p:attrName>
                                        </p:attrNameLst>
                                      </p:cBhvr>
                                      <p:to>
                                        <p:strVal val="visible"/>
                                      </p:to>
                                    </p:set>
                                    <p:anim calcmode="lin" valueType="num">
                                      <p:cBhvr additive="base">
                                        <p:cTn id="19" dur="2000" fill="hold"/>
                                        <p:tgtEl>
                                          <p:spTgt spid="35850"/>
                                        </p:tgtEl>
                                        <p:attrNameLst>
                                          <p:attrName>ppt_x</p:attrName>
                                        </p:attrNameLst>
                                      </p:cBhvr>
                                      <p:tavLst>
                                        <p:tav tm="0">
                                          <p:val>
                                            <p:strVal val="1+#ppt_w/2"/>
                                          </p:val>
                                        </p:tav>
                                        <p:tav tm="100000">
                                          <p:val>
                                            <p:strVal val="#ppt_x"/>
                                          </p:val>
                                        </p:tav>
                                      </p:tavLst>
                                    </p:anim>
                                    <p:anim calcmode="lin" valueType="num">
                                      <p:cBhvr additive="base">
                                        <p:cTn id="20" dur="2000" fill="hold"/>
                                        <p:tgtEl>
                                          <p:spTgt spid="35850"/>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35851"/>
                                        </p:tgtEl>
                                        <p:attrNameLst>
                                          <p:attrName>style.visibility</p:attrName>
                                        </p:attrNameLst>
                                      </p:cBhvr>
                                      <p:to>
                                        <p:strVal val="visible"/>
                                      </p:to>
                                    </p:set>
                                    <p:anim calcmode="lin" valueType="num">
                                      <p:cBhvr additive="base">
                                        <p:cTn id="23" dur="2000" fill="hold"/>
                                        <p:tgtEl>
                                          <p:spTgt spid="35851"/>
                                        </p:tgtEl>
                                        <p:attrNameLst>
                                          <p:attrName>ppt_x</p:attrName>
                                        </p:attrNameLst>
                                      </p:cBhvr>
                                      <p:tavLst>
                                        <p:tav tm="0">
                                          <p:val>
                                            <p:strVal val="1+#ppt_w/2"/>
                                          </p:val>
                                        </p:tav>
                                        <p:tav tm="100000">
                                          <p:val>
                                            <p:strVal val="#ppt_x"/>
                                          </p:val>
                                        </p:tav>
                                      </p:tavLst>
                                    </p:anim>
                                    <p:anim calcmode="lin" valueType="num">
                                      <p:cBhvr additive="base">
                                        <p:cTn id="24" dur="2000" fill="hold"/>
                                        <p:tgtEl>
                                          <p:spTgt spid="35851"/>
                                        </p:tgtEl>
                                        <p:attrNameLst>
                                          <p:attrName>ppt_y</p:attrName>
                                        </p:attrNameLst>
                                      </p:cBhvr>
                                      <p:tavLst>
                                        <p:tav tm="0">
                                          <p:val>
                                            <p:strVal val="0-#ppt_h/2"/>
                                          </p:val>
                                        </p:tav>
                                        <p:tav tm="100000">
                                          <p:val>
                                            <p:strVal val="#ppt_y"/>
                                          </p:val>
                                        </p:tav>
                                      </p:tavLst>
                                    </p:anim>
                                  </p:childTnLst>
                                </p:cTn>
                              </p:par>
                              <p:par>
                                <p:cTn id="25" presetID="2" presetClass="entr" presetSubtype="3" fill="hold" grpId="0" nodeType="withEffect">
                                  <p:stCondLst>
                                    <p:cond delay="0"/>
                                  </p:stCondLst>
                                  <p:childTnLst>
                                    <p:set>
                                      <p:cBhvr>
                                        <p:cTn id="26" dur="1" fill="hold">
                                          <p:stCondLst>
                                            <p:cond delay="0"/>
                                          </p:stCondLst>
                                        </p:cTn>
                                        <p:tgtEl>
                                          <p:spTgt spid="35852"/>
                                        </p:tgtEl>
                                        <p:attrNameLst>
                                          <p:attrName>style.visibility</p:attrName>
                                        </p:attrNameLst>
                                      </p:cBhvr>
                                      <p:to>
                                        <p:strVal val="visible"/>
                                      </p:to>
                                    </p:set>
                                    <p:anim calcmode="lin" valueType="num">
                                      <p:cBhvr additive="base">
                                        <p:cTn id="27" dur="2000" fill="hold"/>
                                        <p:tgtEl>
                                          <p:spTgt spid="35852"/>
                                        </p:tgtEl>
                                        <p:attrNameLst>
                                          <p:attrName>ppt_x</p:attrName>
                                        </p:attrNameLst>
                                      </p:cBhvr>
                                      <p:tavLst>
                                        <p:tav tm="0">
                                          <p:val>
                                            <p:strVal val="1+#ppt_w/2"/>
                                          </p:val>
                                        </p:tav>
                                        <p:tav tm="100000">
                                          <p:val>
                                            <p:strVal val="#ppt_x"/>
                                          </p:val>
                                        </p:tav>
                                      </p:tavLst>
                                    </p:anim>
                                    <p:anim calcmode="lin" valueType="num">
                                      <p:cBhvr additive="base">
                                        <p:cTn id="28" dur="2000" fill="hold"/>
                                        <p:tgtEl>
                                          <p:spTgt spid="35852"/>
                                        </p:tgtEl>
                                        <p:attrNameLst>
                                          <p:attrName>ppt_y</p:attrName>
                                        </p:attrNameLst>
                                      </p:cBhvr>
                                      <p:tavLst>
                                        <p:tav tm="0">
                                          <p:val>
                                            <p:strVal val="0-#ppt_h/2"/>
                                          </p:val>
                                        </p:tav>
                                        <p:tav tm="100000">
                                          <p:val>
                                            <p:strVal val="#ppt_y"/>
                                          </p:val>
                                        </p:tav>
                                      </p:tavLst>
                                    </p:anim>
                                  </p:childTnLst>
                                </p:cTn>
                              </p:par>
                              <p:par>
                                <p:cTn id="29" presetID="2" presetClass="entr" presetSubtype="3" fill="hold" grpId="0" nodeType="withEffect">
                                  <p:stCondLst>
                                    <p:cond delay="0"/>
                                  </p:stCondLst>
                                  <p:childTnLst>
                                    <p:set>
                                      <p:cBhvr>
                                        <p:cTn id="30" dur="1" fill="hold">
                                          <p:stCondLst>
                                            <p:cond delay="0"/>
                                          </p:stCondLst>
                                        </p:cTn>
                                        <p:tgtEl>
                                          <p:spTgt spid="35853"/>
                                        </p:tgtEl>
                                        <p:attrNameLst>
                                          <p:attrName>style.visibility</p:attrName>
                                        </p:attrNameLst>
                                      </p:cBhvr>
                                      <p:to>
                                        <p:strVal val="visible"/>
                                      </p:to>
                                    </p:set>
                                    <p:anim calcmode="lin" valueType="num">
                                      <p:cBhvr additive="base">
                                        <p:cTn id="31" dur="2000" fill="hold"/>
                                        <p:tgtEl>
                                          <p:spTgt spid="35853"/>
                                        </p:tgtEl>
                                        <p:attrNameLst>
                                          <p:attrName>ppt_x</p:attrName>
                                        </p:attrNameLst>
                                      </p:cBhvr>
                                      <p:tavLst>
                                        <p:tav tm="0">
                                          <p:val>
                                            <p:strVal val="1+#ppt_w/2"/>
                                          </p:val>
                                        </p:tav>
                                        <p:tav tm="100000">
                                          <p:val>
                                            <p:strVal val="#ppt_x"/>
                                          </p:val>
                                        </p:tav>
                                      </p:tavLst>
                                    </p:anim>
                                    <p:anim calcmode="lin" valueType="num">
                                      <p:cBhvr additive="base">
                                        <p:cTn id="32" dur="2000" fill="hold"/>
                                        <p:tgtEl>
                                          <p:spTgt spid="35853"/>
                                        </p:tgtEl>
                                        <p:attrNameLst>
                                          <p:attrName>ppt_y</p:attrName>
                                        </p:attrNameLst>
                                      </p:cBhvr>
                                      <p:tavLst>
                                        <p:tav tm="0">
                                          <p:val>
                                            <p:strVal val="0-#ppt_h/2"/>
                                          </p:val>
                                        </p:tav>
                                        <p:tav tm="100000">
                                          <p:val>
                                            <p:strVal val="#ppt_y"/>
                                          </p:val>
                                        </p:tav>
                                      </p:tavLst>
                                    </p:anim>
                                  </p:childTnLst>
                                </p:cTn>
                              </p:par>
                              <p:par>
                                <p:cTn id="33" presetID="2" presetClass="entr" presetSubtype="3" fill="hold" grpId="0" nodeType="withEffect">
                                  <p:stCondLst>
                                    <p:cond delay="0"/>
                                  </p:stCondLst>
                                  <p:childTnLst>
                                    <p:set>
                                      <p:cBhvr>
                                        <p:cTn id="34" dur="1" fill="hold">
                                          <p:stCondLst>
                                            <p:cond delay="0"/>
                                          </p:stCondLst>
                                        </p:cTn>
                                        <p:tgtEl>
                                          <p:spTgt spid="35854"/>
                                        </p:tgtEl>
                                        <p:attrNameLst>
                                          <p:attrName>style.visibility</p:attrName>
                                        </p:attrNameLst>
                                      </p:cBhvr>
                                      <p:to>
                                        <p:strVal val="visible"/>
                                      </p:to>
                                    </p:set>
                                    <p:anim calcmode="lin" valueType="num">
                                      <p:cBhvr additive="base">
                                        <p:cTn id="35" dur="2000" fill="hold"/>
                                        <p:tgtEl>
                                          <p:spTgt spid="35854"/>
                                        </p:tgtEl>
                                        <p:attrNameLst>
                                          <p:attrName>ppt_x</p:attrName>
                                        </p:attrNameLst>
                                      </p:cBhvr>
                                      <p:tavLst>
                                        <p:tav tm="0">
                                          <p:val>
                                            <p:strVal val="1+#ppt_w/2"/>
                                          </p:val>
                                        </p:tav>
                                        <p:tav tm="100000">
                                          <p:val>
                                            <p:strVal val="#ppt_x"/>
                                          </p:val>
                                        </p:tav>
                                      </p:tavLst>
                                    </p:anim>
                                    <p:anim calcmode="lin" valueType="num">
                                      <p:cBhvr additive="base">
                                        <p:cTn id="36" dur="2000" fill="hold"/>
                                        <p:tgtEl>
                                          <p:spTgt spid="3585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7" grpId="0" animBg="1"/>
      <p:bldP spid="35848" grpId="0" animBg="1"/>
      <p:bldP spid="35849" grpId="0" animBg="1"/>
      <p:bldP spid="35850" grpId="0" animBg="1"/>
      <p:bldP spid="35851" grpId="0" animBg="1"/>
      <p:bldP spid="35852" grpId="0" animBg="1"/>
      <p:bldP spid="35853" grpId="0" animBg="1"/>
      <p:bldP spid="3585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1"/>
          <p:cNvSpPr>
            <a:spLocks noGrp="1"/>
          </p:cNvSpPr>
          <p:nvPr>
            <p:ph type="sldNum" sz="quarter" idx="10"/>
          </p:nvPr>
        </p:nvSpPr>
        <p:spPr/>
        <p:txBody>
          <a:bodyPr/>
          <a:lstStyle/>
          <a:p>
            <a:fld id="{57EBEEB4-5354-4508-BCD4-1D57260F6151}" type="slidenum">
              <a:rPr lang="en-AU"/>
              <a:pPr/>
              <a:t>17</a:t>
            </a:fld>
            <a:endParaRPr lang="en-AU"/>
          </a:p>
        </p:txBody>
      </p:sp>
      <p:pic>
        <p:nvPicPr>
          <p:cNvPr id="36868" name="Picture 4" descr="brisbane with labels"/>
          <p:cNvPicPr>
            <a:picLocks noChangeAspect="1" noChangeArrowheads="1"/>
          </p:cNvPicPr>
          <p:nvPr/>
        </p:nvPicPr>
        <p:blipFill>
          <a:blip r:embed="rId2"/>
          <a:srcRect/>
          <a:stretch>
            <a:fillRect/>
          </a:stretch>
        </p:blipFill>
        <p:spPr bwMode="auto">
          <a:xfrm>
            <a:off x="-323850" y="-725488"/>
            <a:ext cx="11376025" cy="8043863"/>
          </a:xfrm>
          <a:prstGeom prst="rect">
            <a:avLst/>
          </a:prstGeom>
          <a:noFill/>
        </p:spPr>
      </p:pic>
      <p:pic>
        <p:nvPicPr>
          <p:cNvPr id="36869" name="Picture 5"/>
          <p:cNvPicPr>
            <a:picLocks noChangeAspect="1" noChangeArrowheads="1"/>
          </p:cNvPicPr>
          <p:nvPr/>
        </p:nvPicPr>
        <p:blipFill>
          <a:blip r:embed="rId3"/>
          <a:srcRect/>
          <a:stretch>
            <a:fillRect/>
          </a:stretch>
        </p:blipFill>
        <p:spPr bwMode="auto">
          <a:xfrm>
            <a:off x="6877050" y="260350"/>
            <a:ext cx="1160463" cy="2087563"/>
          </a:xfrm>
          <a:prstGeom prst="rect">
            <a:avLst/>
          </a:prstGeom>
          <a:noFill/>
        </p:spPr>
      </p:pic>
      <p:sp>
        <p:nvSpPr>
          <p:cNvPr id="36871" name="Rectangle 7"/>
          <p:cNvSpPr>
            <a:spLocks noChangeArrowheads="1"/>
          </p:cNvSpPr>
          <p:nvPr/>
        </p:nvSpPr>
        <p:spPr bwMode="auto">
          <a:xfrm>
            <a:off x="0" y="0"/>
            <a:ext cx="2665413" cy="1655763"/>
          </a:xfrm>
          <a:prstGeom prst="rect">
            <a:avLst/>
          </a:prstGeom>
          <a:noFill/>
          <a:ln w="9525">
            <a:noFill/>
            <a:miter lim="800000"/>
            <a:headEnd/>
            <a:tailEnd/>
          </a:ln>
          <a:effectLst/>
        </p:spPr>
        <p:txBody>
          <a:bodyPr anchor="ctr"/>
          <a:lstStyle/>
          <a:p>
            <a:pPr algn="ctr"/>
            <a:r>
              <a:rPr lang="en-AU" sz="2800">
                <a:effectLst>
                  <a:outerShdw blurRad="38100" dist="38100" dir="2700000" algn="tl">
                    <a:srgbClr val="000000"/>
                  </a:outerShdw>
                </a:effectLst>
              </a:rPr>
              <a:t>Heavy concentrations</a:t>
            </a:r>
            <a:br>
              <a:rPr lang="en-AU" sz="2800">
                <a:effectLst>
                  <a:outerShdw blurRad="38100" dist="38100" dir="2700000" algn="tl">
                    <a:srgbClr val="000000"/>
                  </a:outerShdw>
                </a:effectLst>
              </a:rPr>
            </a:br>
            <a:r>
              <a:rPr lang="en-AU" sz="2000">
                <a:effectLst>
                  <a:outerShdw blurRad="38100" dist="38100" dir="2700000" algn="tl">
                    <a:srgbClr val="000000"/>
                  </a:outerShdw>
                </a:effectLst>
              </a:rPr>
              <a:t>(proportions and numbers)</a:t>
            </a:r>
          </a:p>
        </p:txBody>
      </p:sp>
      <p:sp>
        <p:nvSpPr>
          <p:cNvPr id="36872" name="Oval 8"/>
          <p:cNvSpPr>
            <a:spLocks noChangeArrowheads="1"/>
          </p:cNvSpPr>
          <p:nvPr/>
        </p:nvSpPr>
        <p:spPr bwMode="auto">
          <a:xfrm>
            <a:off x="4859338" y="3500438"/>
            <a:ext cx="576262" cy="576262"/>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6874" name="Oval 10"/>
          <p:cNvSpPr>
            <a:spLocks noChangeArrowheads="1"/>
          </p:cNvSpPr>
          <p:nvPr/>
        </p:nvSpPr>
        <p:spPr bwMode="auto">
          <a:xfrm>
            <a:off x="7308850" y="4868863"/>
            <a:ext cx="576263"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6875" name="Oval 11"/>
          <p:cNvSpPr>
            <a:spLocks noChangeArrowheads="1"/>
          </p:cNvSpPr>
          <p:nvPr/>
        </p:nvSpPr>
        <p:spPr bwMode="auto">
          <a:xfrm>
            <a:off x="7164388" y="4292600"/>
            <a:ext cx="576262" cy="576263"/>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6876" name="Oval 12"/>
          <p:cNvSpPr>
            <a:spLocks noChangeArrowheads="1"/>
          </p:cNvSpPr>
          <p:nvPr/>
        </p:nvSpPr>
        <p:spPr bwMode="auto">
          <a:xfrm>
            <a:off x="6084888" y="3284538"/>
            <a:ext cx="576262"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6877" name="Oval 13"/>
          <p:cNvSpPr>
            <a:spLocks noChangeArrowheads="1"/>
          </p:cNvSpPr>
          <p:nvPr/>
        </p:nvSpPr>
        <p:spPr bwMode="auto">
          <a:xfrm>
            <a:off x="4500563" y="2349500"/>
            <a:ext cx="792162" cy="719138"/>
          </a:xfrm>
          <a:prstGeom prst="ellipse">
            <a:avLst/>
          </a:prstGeom>
          <a:solidFill>
            <a:srgbClr val="339966">
              <a:alpha val="14999"/>
            </a:srgbClr>
          </a:solidFill>
          <a:ln w="57150">
            <a:solidFill>
              <a:srgbClr val="339966"/>
            </a:solidFill>
            <a:round/>
            <a:headEnd/>
            <a:tailEnd/>
          </a:ln>
          <a:effectLst/>
        </p:spPr>
        <p:txBody>
          <a:bodyPr wrap="none" anchor="ctr"/>
          <a:lstStyle/>
          <a:p>
            <a:pPr algn="ctr"/>
            <a:endParaRPr lang="en-US">
              <a:solidFill>
                <a:srgbClr val="33CC33"/>
              </a:solidFill>
            </a:endParaRPr>
          </a:p>
        </p:txBody>
      </p:sp>
      <p:sp>
        <p:nvSpPr>
          <p:cNvPr id="36878" name="Oval 14"/>
          <p:cNvSpPr>
            <a:spLocks noChangeArrowheads="1"/>
          </p:cNvSpPr>
          <p:nvPr/>
        </p:nvSpPr>
        <p:spPr bwMode="auto">
          <a:xfrm>
            <a:off x="4932363" y="1557338"/>
            <a:ext cx="576262"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6879" name="Oval 15"/>
          <p:cNvSpPr>
            <a:spLocks noChangeArrowheads="1"/>
          </p:cNvSpPr>
          <p:nvPr/>
        </p:nvSpPr>
        <p:spPr bwMode="auto">
          <a:xfrm>
            <a:off x="5435600" y="620713"/>
            <a:ext cx="576263"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6880" name="Rectangle 16"/>
          <p:cNvSpPr>
            <a:spLocks noChangeArrowheads="1"/>
          </p:cNvSpPr>
          <p:nvPr/>
        </p:nvSpPr>
        <p:spPr bwMode="auto">
          <a:xfrm>
            <a:off x="5724525" y="4652963"/>
            <a:ext cx="1439863" cy="433387"/>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Upper Mt Gravatt</a:t>
            </a:r>
          </a:p>
        </p:txBody>
      </p:sp>
      <p:sp>
        <p:nvSpPr>
          <p:cNvPr id="36881" name="Rectangle 17"/>
          <p:cNvSpPr>
            <a:spLocks noChangeArrowheads="1"/>
          </p:cNvSpPr>
          <p:nvPr/>
        </p:nvSpPr>
        <p:spPr bwMode="auto">
          <a:xfrm>
            <a:off x="2555875" y="4076700"/>
            <a:ext cx="2519363" cy="360363"/>
          </a:xfrm>
          <a:prstGeom prst="rect">
            <a:avLst/>
          </a:prstGeom>
          <a:noFill/>
          <a:ln w="9525">
            <a:noFill/>
            <a:miter lim="800000"/>
            <a:headEnd/>
            <a:tailEnd/>
          </a:ln>
          <a:effectLst/>
        </p:spPr>
        <p:txBody>
          <a:bodyPr anchor="ctr"/>
          <a:lstStyle/>
          <a:p>
            <a:pPr algn="r"/>
            <a:r>
              <a:rPr lang="en-AU" sz="1600">
                <a:solidFill>
                  <a:srgbClr val="FFFF00"/>
                </a:solidFill>
                <a:effectLst>
                  <a:outerShdw blurRad="38100" dist="38100" dir="2700000" algn="tl">
                    <a:srgbClr val="000000"/>
                  </a:outerShdw>
                </a:effectLst>
              </a:rPr>
              <a:t>Coorparoo – Camp Hill</a:t>
            </a:r>
          </a:p>
        </p:txBody>
      </p:sp>
      <p:sp>
        <p:nvSpPr>
          <p:cNvPr id="36882" name="Rectangle 18"/>
          <p:cNvSpPr>
            <a:spLocks noChangeArrowheads="1"/>
          </p:cNvSpPr>
          <p:nvPr/>
        </p:nvSpPr>
        <p:spPr bwMode="auto">
          <a:xfrm>
            <a:off x="1042988" y="5661025"/>
            <a:ext cx="2519362" cy="360363"/>
          </a:xfrm>
          <a:prstGeom prst="rect">
            <a:avLst/>
          </a:prstGeom>
          <a:noFill/>
          <a:ln w="9525">
            <a:noFill/>
            <a:miter lim="800000"/>
            <a:headEnd/>
            <a:tailEnd/>
          </a:ln>
          <a:effectLst/>
        </p:spPr>
        <p:txBody>
          <a:bodyPr anchor="ctr"/>
          <a:lstStyle/>
          <a:p>
            <a:pPr algn="ctr"/>
            <a:r>
              <a:rPr lang="en-AU" sz="1600">
                <a:solidFill>
                  <a:srgbClr val="33CC33"/>
                </a:solidFill>
                <a:effectLst>
                  <a:outerShdw blurRad="38100" dist="38100" dir="2700000" algn="tl">
                    <a:srgbClr val="000000"/>
                  </a:outerShdw>
                </a:effectLst>
              </a:rPr>
              <a:t>Ipswich</a:t>
            </a:r>
          </a:p>
        </p:txBody>
      </p:sp>
      <p:sp>
        <p:nvSpPr>
          <p:cNvPr id="36884" name="Rectangle 20"/>
          <p:cNvSpPr>
            <a:spLocks noChangeArrowheads="1"/>
          </p:cNvSpPr>
          <p:nvPr/>
        </p:nvSpPr>
        <p:spPr bwMode="auto">
          <a:xfrm>
            <a:off x="6011863" y="5516563"/>
            <a:ext cx="2519362" cy="360362"/>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Woodridge</a:t>
            </a:r>
          </a:p>
        </p:txBody>
      </p:sp>
      <p:sp>
        <p:nvSpPr>
          <p:cNvPr id="36885" name="Rectangle 21"/>
          <p:cNvSpPr>
            <a:spLocks noChangeArrowheads="1"/>
          </p:cNvSpPr>
          <p:nvPr/>
        </p:nvSpPr>
        <p:spPr bwMode="auto">
          <a:xfrm>
            <a:off x="5940425" y="2997200"/>
            <a:ext cx="1223963" cy="360363"/>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Wynnum</a:t>
            </a:r>
          </a:p>
        </p:txBody>
      </p:sp>
      <p:sp>
        <p:nvSpPr>
          <p:cNvPr id="36886" name="Rectangle 22"/>
          <p:cNvSpPr>
            <a:spLocks noChangeArrowheads="1"/>
          </p:cNvSpPr>
          <p:nvPr/>
        </p:nvSpPr>
        <p:spPr bwMode="auto">
          <a:xfrm>
            <a:off x="4572000" y="188913"/>
            <a:ext cx="2519363" cy="360362"/>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Redcliffe-Scarborough</a:t>
            </a:r>
          </a:p>
        </p:txBody>
      </p:sp>
      <p:sp>
        <p:nvSpPr>
          <p:cNvPr id="36887" name="Rectangle 23"/>
          <p:cNvSpPr>
            <a:spLocks noChangeArrowheads="1"/>
          </p:cNvSpPr>
          <p:nvPr/>
        </p:nvSpPr>
        <p:spPr bwMode="auto">
          <a:xfrm>
            <a:off x="6804025" y="2276475"/>
            <a:ext cx="2339975" cy="360363"/>
          </a:xfrm>
          <a:prstGeom prst="rect">
            <a:avLst/>
          </a:prstGeom>
          <a:noFill/>
          <a:ln w="9525">
            <a:noFill/>
            <a:miter lim="800000"/>
            <a:headEnd/>
            <a:tailEnd/>
          </a:ln>
          <a:effectLst/>
        </p:spPr>
        <p:txBody>
          <a:bodyPr anchor="ctr"/>
          <a:lstStyle/>
          <a:p>
            <a:r>
              <a:rPr lang="en-AU">
                <a:solidFill>
                  <a:schemeClr val="accent1"/>
                </a:solidFill>
                <a:effectLst>
                  <a:outerShdw blurRad="38100" dist="38100" dir="2700000" algn="tl">
                    <a:srgbClr val="000000"/>
                  </a:outerShdw>
                </a:effectLst>
              </a:rPr>
              <a:t>Sea change / coastal</a:t>
            </a:r>
          </a:p>
        </p:txBody>
      </p:sp>
      <p:sp>
        <p:nvSpPr>
          <p:cNvPr id="36888" name="Rectangle 24"/>
          <p:cNvSpPr>
            <a:spLocks noChangeArrowheads="1"/>
          </p:cNvSpPr>
          <p:nvPr/>
        </p:nvSpPr>
        <p:spPr bwMode="auto">
          <a:xfrm>
            <a:off x="7812088" y="4508500"/>
            <a:ext cx="1223962" cy="649288"/>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Cleveland-Victoria Point</a:t>
            </a:r>
          </a:p>
        </p:txBody>
      </p:sp>
      <p:sp>
        <p:nvSpPr>
          <p:cNvPr id="36892" name="Oval 28"/>
          <p:cNvSpPr>
            <a:spLocks noChangeArrowheads="1"/>
          </p:cNvSpPr>
          <p:nvPr/>
        </p:nvSpPr>
        <p:spPr bwMode="auto">
          <a:xfrm>
            <a:off x="1692275" y="5157788"/>
            <a:ext cx="1511300" cy="1439862"/>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6893" name="Oval 29"/>
          <p:cNvSpPr>
            <a:spLocks noChangeArrowheads="1"/>
          </p:cNvSpPr>
          <p:nvPr/>
        </p:nvSpPr>
        <p:spPr bwMode="auto">
          <a:xfrm>
            <a:off x="4716463" y="4365625"/>
            <a:ext cx="576262" cy="576263"/>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6894" name="Oval 30"/>
          <p:cNvSpPr>
            <a:spLocks noChangeArrowheads="1"/>
          </p:cNvSpPr>
          <p:nvPr/>
        </p:nvSpPr>
        <p:spPr bwMode="auto">
          <a:xfrm>
            <a:off x="5148263" y="4581525"/>
            <a:ext cx="576262" cy="576263"/>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6895" name="Oval 31"/>
          <p:cNvSpPr>
            <a:spLocks noChangeArrowheads="1"/>
          </p:cNvSpPr>
          <p:nvPr/>
        </p:nvSpPr>
        <p:spPr bwMode="auto">
          <a:xfrm>
            <a:off x="5435600" y="5516563"/>
            <a:ext cx="576263" cy="576262"/>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6896" name="Rectangle 32"/>
          <p:cNvSpPr>
            <a:spLocks noChangeArrowheads="1"/>
          </p:cNvSpPr>
          <p:nvPr/>
        </p:nvSpPr>
        <p:spPr bwMode="auto">
          <a:xfrm>
            <a:off x="6804025" y="2708275"/>
            <a:ext cx="2339975" cy="504825"/>
          </a:xfrm>
          <a:prstGeom prst="rect">
            <a:avLst/>
          </a:prstGeom>
          <a:noFill/>
          <a:ln w="9525">
            <a:noFill/>
            <a:miter lim="800000"/>
            <a:headEnd/>
            <a:tailEnd/>
          </a:ln>
          <a:effectLst/>
        </p:spPr>
        <p:txBody>
          <a:bodyPr anchor="ctr"/>
          <a:lstStyle/>
          <a:p>
            <a:r>
              <a:rPr lang="en-AU">
                <a:solidFill>
                  <a:srgbClr val="33CC33"/>
                </a:solidFill>
                <a:effectLst>
                  <a:outerShdw blurRad="38100" dist="38100" dir="2700000" algn="tl">
                    <a:srgbClr val="000000"/>
                  </a:outerShdw>
                </a:effectLst>
              </a:rPr>
              <a:t>Suburban (middle ring / outer)</a:t>
            </a:r>
          </a:p>
        </p:txBody>
      </p:sp>
      <p:sp>
        <p:nvSpPr>
          <p:cNvPr id="36897" name="Oval 33"/>
          <p:cNvSpPr>
            <a:spLocks noChangeArrowheads="1"/>
          </p:cNvSpPr>
          <p:nvPr/>
        </p:nvSpPr>
        <p:spPr bwMode="auto">
          <a:xfrm>
            <a:off x="5076825" y="3933825"/>
            <a:ext cx="576263" cy="576263"/>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6898" name="Rectangle 34"/>
          <p:cNvSpPr>
            <a:spLocks noChangeArrowheads="1"/>
          </p:cNvSpPr>
          <p:nvPr/>
        </p:nvSpPr>
        <p:spPr bwMode="auto">
          <a:xfrm>
            <a:off x="2627313" y="3644900"/>
            <a:ext cx="2519362" cy="360363"/>
          </a:xfrm>
          <a:prstGeom prst="rect">
            <a:avLst/>
          </a:prstGeom>
          <a:noFill/>
          <a:ln w="9525">
            <a:noFill/>
            <a:miter lim="800000"/>
            <a:headEnd/>
            <a:tailEnd/>
          </a:ln>
          <a:effectLst/>
        </p:spPr>
        <p:txBody>
          <a:bodyPr anchor="ctr"/>
          <a:lstStyle/>
          <a:p>
            <a:pPr algn="r"/>
            <a:r>
              <a:rPr lang="en-AU" sz="1600">
                <a:solidFill>
                  <a:srgbClr val="FFFF00"/>
                </a:solidFill>
                <a:effectLst>
                  <a:outerShdw blurRad="38100" dist="38100" dir="2700000" algn="tl">
                    <a:srgbClr val="000000"/>
                  </a:outerShdw>
                </a:effectLst>
              </a:rPr>
              <a:t>New Farm</a:t>
            </a:r>
          </a:p>
        </p:txBody>
      </p:sp>
      <p:sp>
        <p:nvSpPr>
          <p:cNvPr id="36899" name="Rectangle 35"/>
          <p:cNvSpPr>
            <a:spLocks noChangeArrowheads="1"/>
          </p:cNvSpPr>
          <p:nvPr/>
        </p:nvSpPr>
        <p:spPr bwMode="auto">
          <a:xfrm>
            <a:off x="6804025" y="3284538"/>
            <a:ext cx="2519363" cy="574675"/>
          </a:xfrm>
          <a:prstGeom prst="rect">
            <a:avLst/>
          </a:prstGeom>
          <a:noFill/>
          <a:ln w="9525">
            <a:noFill/>
            <a:miter lim="800000"/>
            <a:headEnd/>
            <a:tailEnd/>
          </a:ln>
          <a:effectLst/>
        </p:spPr>
        <p:txBody>
          <a:bodyPr anchor="ctr"/>
          <a:lstStyle/>
          <a:p>
            <a:r>
              <a:rPr lang="en-AU">
                <a:solidFill>
                  <a:srgbClr val="FFFF00"/>
                </a:solidFill>
                <a:effectLst>
                  <a:outerShdw blurRad="38100" dist="38100" dir="2700000" algn="tl">
                    <a:srgbClr val="000000"/>
                  </a:outerShdw>
                </a:effectLst>
              </a:rPr>
              <a:t>Suburban (inner) / urban renewal</a:t>
            </a:r>
          </a:p>
        </p:txBody>
      </p:sp>
      <p:sp>
        <p:nvSpPr>
          <p:cNvPr id="36900" name="Rectangle 36"/>
          <p:cNvSpPr>
            <a:spLocks noChangeArrowheads="1"/>
          </p:cNvSpPr>
          <p:nvPr/>
        </p:nvSpPr>
        <p:spPr bwMode="auto">
          <a:xfrm>
            <a:off x="2627313" y="4508500"/>
            <a:ext cx="2160587" cy="433388"/>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Moorooka - tarragindi</a:t>
            </a:r>
          </a:p>
        </p:txBody>
      </p:sp>
      <p:sp>
        <p:nvSpPr>
          <p:cNvPr id="36901" name="Rectangle 37"/>
          <p:cNvSpPr>
            <a:spLocks noChangeArrowheads="1"/>
          </p:cNvSpPr>
          <p:nvPr/>
        </p:nvSpPr>
        <p:spPr bwMode="auto">
          <a:xfrm>
            <a:off x="3132138" y="2133600"/>
            <a:ext cx="1295400" cy="1223963"/>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Aspley-Chermside-Kedron-Everton Prak</a:t>
            </a:r>
          </a:p>
        </p:txBody>
      </p:sp>
      <p:sp>
        <p:nvSpPr>
          <p:cNvPr id="36902" name="Rectangle 38"/>
          <p:cNvSpPr>
            <a:spLocks noChangeArrowheads="1"/>
          </p:cNvSpPr>
          <p:nvPr/>
        </p:nvSpPr>
        <p:spPr bwMode="auto">
          <a:xfrm>
            <a:off x="5580063" y="1628775"/>
            <a:ext cx="1655762" cy="360363"/>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Brighton</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36887"/>
                                        </p:tgtEl>
                                        <p:attrNameLst>
                                          <p:attrName>style.visibility</p:attrName>
                                        </p:attrNameLst>
                                      </p:cBhvr>
                                      <p:to>
                                        <p:strVal val="visible"/>
                                      </p:to>
                                    </p:set>
                                    <p:anim calcmode="lin" valueType="num">
                                      <p:cBhvr additive="base">
                                        <p:cTn id="7" dur="1000" fill="hold"/>
                                        <p:tgtEl>
                                          <p:spTgt spid="36887"/>
                                        </p:tgtEl>
                                        <p:attrNameLst>
                                          <p:attrName>ppt_x</p:attrName>
                                        </p:attrNameLst>
                                      </p:cBhvr>
                                      <p:tavLst>
                                        <p:tav tm="0">
                                          <p:val>
                                            <p:strVal val="0-#ppt_w/2"/>
                                          </p:val>
                                        </p:tav>
                                        <p:tav tm="100000">
                                          <p:val>
                                            <p:strVal val="#ppt_x"/>
                                          </p:val>
                                        </p:tav>
                                      </p:tavLst>
                                    </p:anim>
                                    <p:anim calcmode="lin" valueType="num">
                                      <p:cBhvr additive="base">
                                        <p:cTn id="8" dur="1000" fill="hold"/>
                                        <p:tgtEl>
                                          <p:spTgt spid="3688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9" presetClass="entr" presetSubtype="0" fill="hold" grpId="0" nodeType="afterEffect">
                                  <p:stCondLst>
                                    <p:cond delay="0"/>
                                  </p:stCondLst>
                                  <p:childTnLst>
                                    <p:set>
                                      <p:cBhvr>
                                        <p:cTn id="11" dur="1" fill="hold">
                                          <p:stCondLst>
                                            <p:cond delay="0"/>
                                          </p:stCondLst>
                                        </p:cTn>
                                        <p:tgtEl>
                                          <p:spTgt spid="36886"/>
                                        </p:tgtEl>
                                        <p:attrNameLst>
                                          <p:attrName>style.visibility</p:attrName>
                                        </p:attrNameLst>
                                      </p:cBhvr>
                                      <p:to>
                                        <p:strVal val="visible"/>
                                      </p:to>
                                    </p:set>
                                    <p:animEffect transition="in" filter="dissolve">
                                      <p:cBhvr>
                                        <p:cTn id="12" dur="500"/>
                                        <p:tgtEl>
                                          <p:spTgt spid="3688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6879"/>
                                        </p:tgtEl>
                                        <p:attrNameLst>
                                          <p:attrName>style.visibility</p:attrName>
                                        </p:attrNameLst>
                                      </p:cBhvr>
                                      <p:to>
                                        <p:strVal val="visible"/>
                                      </p:to>
                                    </p:set>
                                    <p:animEffect transition="in" filter="dissolve">
                                      <p:cBhvr>
                                        <p:cTn id="15" dur="500"/>
                                        <p:tgtEl>
                                          <p:spTgt spid="36879"/>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36902"/>
                                        </p:tgtEl>
                                        <p:attrNameLst>
                                          <p:attrName>style.visibility</p:attrName>
                                        </p:attrNameLst>
                                      </p:cBhvr>
                                      <p:to>
                                        <p:strVal val="visible"/>
                                      </p:to>
                                    </p:set>
                                    <p:animEffect transition="in" filter="dissolve">
                                      <p:cBhvr>
                                        <p:cTn id="19" dur="500"/>
                                        <p:tgtEl>
                                          <p:spTgt spid="36902"/>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36878"/>
                                        </p:tgtEl>
                                        <p:attrNameLst>
                                          <p:attrName>style.visibility</p:attrName>
                                        </p:attrNameLst>
                                      </p:cBhvr>
                                      <p:to>
                                        <p:strVal val="visible"/>
                                      </p:to>
                                    </p:set>
                                    <p:animEffect transition="in" filter="dissolve">
                                      <p:cBhvr>
                                        <p:cTn id="23" dur="500"/>
                                        <p:tgtEl>
                                          <p:spTgt spid="3687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6876"/>
                                        </p:tgtEl>
                                        <p:attrNameLst>
                                          <p:attrName>style.visibility</p:attrName>
                                        </p:attrNameLst>
                                      </p:cBhvr>
                                      <p:to>
                                        <p:strVal val="visible"/>
                                      </p:to>
                                    </p:set>
                                    <p:animEffect transition="in" filter="dissolve">
                                      <p:cBhvr>
                                        <p:cTn id="26" dur="500"/>
                                        <p:tgtEl>
                                          <p:spTgt spid="36876"/>
                                        </p:tgtEl>
                                      </p:cBhvr>
                                    </p:animEffect>
                                  </p:childTnLst>
                                </p:cTn>
                              </p:par>
                            </p:childTnLst>
                          </p:cTn>
                        </p:par>
                        <p:par>
                          <p:cTn id="27" fill="hold">
                            <p:stCondLst>
                              <p:cond delay="2500"/>
                            </p:stCondLst>
                            <p:childTnLst>
                              <p:par>
                                <p:cTn id="28" presetID="9" presetClass="entr" presetSubtype="0" fill="hold" grpId="0" nodeType="afterEffect">
                                  <p:stCondLst>
                                    <p:cond delay="0"/>
                                  </p:stCondLst>
                                  <p:childTnLst>
                                    <p:set>
                                      <p:cBhvr>
                                        <p:cTn id="29" dur="1" fill="hold">
                                          <p:stCondLst>
                                            <p:cond delay="0"/>
                                          </p:stCondLst>
                                        </p:cTn>
                                        <p:tgtEl>
                                          <p:spTgt spid="36885"/>
                                        </p:tgtEl>
                                        <p:attrNameLst>
                                          <p:attrName>style.visibility</p:attrName>
                                        </p:attrNameLst>
                                      </p:cBhvr>
                                      <p:to>
                                        <p:strVal val="visible"/>
                                      </p:to>
                                    </p:set>
                                    <p:animEffect transition="in" filter="dissolve">
                                      <p:cBhvr>
                                        <p:cTn id="30" dur="500"/>
                                        <p:tgtEl>
                                          <p:spTgt spid="36885"/>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6874"/>
                                        </p:tgtEl>
                                        <p:attrNameLst>
                                          <p:attrName>style.visibility</p:attrName>
                                        </p:attrNameLst>
                                      </p:cBhvr>
                                      <p:to>
                                        <p:strVal val="visible"/>
                                      </p:to>
                                    </p:set>
                                    <p:animEffect transition="in" filter="dissolve">
                                      <p:cBhvr>
                                        <p:cTn id="33" dur="500"/>
                                        <p:tgtEl>
                                          <p:spTgt spid="36874"/>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6875"/>
                                        </p:tgtEl>
                                        <p:attrNameLst>
                                          <p:attrName>style.visibility</p:attrName>
                                        </p:attrNameLst>
                                      </p:cBhvr>
                                      <p:to>
                                        <p:strVal val="visible"/>
                                      </p:to>
                                    </p:set>
                                    <p:animEffect transition="in" filter="dissolve">
                                      <p:cBhvr>
                                        <p:cTn id="36" dur="500"/>
                                        <p:tgtEl>
                                          <p:spTgt spid="36875"/>
                                        </p:tgtEl>
                                      </p:cBhvr>
                                    </p:animEffect>
                                  </p:childTnLst>
                                </p:cTn>
                              </p:par>
                            </p:childTnLst>
                          </p:cTn>
                        </p:par>
                        <p:par>
                          <p:cTn id="37" fill="hold">
                            <p:stCondLst>
                              <p:cond delay="3000"/>
                            </p:stCondLst>
                            <p:childTnLst>
                              <p:par>
                                <p:cTn id="38" presetID="9" presetClass="entr" presetSubtype="0" fill="hold" grpId="0" nodeType="afterEffect">
                                  <p:stCondLst>
                                    <p:cond delay="0"/>
                                  </p:stCondLst>
                                  <p:childTnLst>
                                    <p:set>
                                      <p:cBhvr>
                                        <p:cTn id="39" dur="1" fill="hold">
                                          <p:stCondLst>
                                            <p:cond delay="0"/>
                                          </p:stCondLst>
                                        </p:cTn>
                                        <p:tgtEl>
                                          <p:spTgt spid="36888"/>
                                        </p:tgtEl>
                                        <p:attrNameLst>
                                          <p:attrName>style.visibility</p:attrName>
                                        </p:attrNameLst>
                                      </p:cBhvr>
                                      <p:to>
                                        <p:strVal val="visible"/>
                                      </p:to>
                                    </p:set>
                                    <p:animEffect transition="in" filter="dissolve">
                                      <p:cBhvr>
                                        <p:cTn id="40" dur="500"/>
                                        <p:tgtEl>
                                          <p:spTgt spid="3688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9" fill="hold" grpId="0" nodeType="clickEffect">
                                  <p:stCondLst>
                                    <p:cond delay="0"/>
                                  </p:stCondLst>
                                  <p:childTnLst>
                                    <p:set>
                                      <p:cBhvr>
                                        <p:cTn id="44" dur="1" fill="hold">
                                          <p:stCondLst>
                                            <p:cond delay="0"/>
                                          </p:stCondLst>
                                        </p:cTn>
                                        <p:tgtEl>
                                          <p:spTgt spid="36896"/>
                                        </p:tgtEl>
                                        <p:attrNameLst>
                                          <p:attrName>style.visibility</p:attrName>
                                        </p:attrNameLst>
                                      </p:cBhvr>
                                      <p:to>
                                        <p:strVal val="visible"/>
                                      </p:to>
                                    </p:set>
                                    <p:anim calcmode="lin" valueType="num">
                                      <p:cBhvr additive="base">
                                        <p:cTn id="45" dur="1000" fill="hold"/>
                                        <p:tgtEl>
                                          <p:spTgt spid="36896"/>
                                        </p:tgtEl>
                                        <p:attrNameLst>
                                          <p:attrName>ppt_x</p:attrName>
                                        </p:attrNameLst>
                                      </p:cBhvr>
                                      <p:tavLst>
                                        <p:tav tm="0">
                                          <p:val>
                                            <p:strVal val="0-#ppt_w/2"/>
                                          </p:val>
                                        </p:tav>
                                        <p:tav tm="100000">
                                          <p:val>
                                            <p:strVal val="#ppt_x"/>
                                          </p:val>
                                        </p:tav>
                                      </p:tavLst>
                                    </p:anim>
                                    <p:anim calcmode="lin" valueType="num">
                                      <p:cBhvr additive="base">
                                        <p:cTn id="46" dur="1000" fill="hold"/>
                                        <p:tgtEl>
                                          <p:spTgt spid="36896"/>
                                        </p:tgtEl>
                                        <p:attrNameLst>
                                          <p:attrName>ppt_y</p:attrName>
                                        </p:attrNameLst>
                                      </p:cBhvr>
                                      <p:tavLst>
                                        <p:tav tm="0">
                                          <p:val>
                                            <p:strVal val="0-#ppt_h/2"/>
                                          </p:val>
                                        </p:tav>
                                        <p:tav tm="100000">
                                          <p:val>
                                            <p:strVal val="#ppt_y"/>
                                          </p:val>
                                        </p:tav>
                                      </p:tavLst>
                                    </p:anim>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36901"/>
                                        </p:tgtEl>
                                        <p:attrNameLst>
                                          <p:attrName>style.visibility</p:attrName>
                                        </p:attrNameLst>
                                      </p:cBhvr>
                                      <p:to>
                                        <p:strVal val="visible"/>
                                      </p:to>
                                    </p:set>
                                    <p:animEffect transition="in" filter="dissolve">
                                      <p:cBhvr>
                                        <p:cTn id="50" dur="500"/>
                                        <p:tgtEl>
                                          <p:spTgt spid="36901"/>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6877"/>
                                        </p:tgtEl>
                                        <p:attrNameLst>
                                          <p:attrName>style.visibility</p:attrName>
                                        </p:attrNameLst>
                                      </p:cBhvr>
                                      <p:to>
                                        <p:strVal val="visible"/>
                                      </p:to>
                                    </p:set>
                                    <p:animEffect transition="in" filter="dissolve">
                                      <p:cBhvr>
                                        <p:cTn id="53" dur="500"/>
                                        <p:tgtEl>
                                          <p:spTgt spid="36877"/>
                                        </p:tgtEl>
                                      </p:cBhvr>
                                    </p:animEffect>
                                  </p:childTnLst>
                                </p:cTn>
                              </p:par>
                            </p:childTnLst>
                          </p:cTn>
                        </p:par>
                        <p:par>
                          <p:cTn id="54" fill="hold">
                            <p:stCondLst>
                              <p:cond delay="1500"/>
                            </p:stCondLst>
                            <p:childTnLst>
                              <p:par>
                                <p:cTn id="55" presetID="9" presetClass="entr" presetSubtype="0" fill="hold" grpId="0" nodeType="afterEffect">
                                  <p:stCondLst>
                                    <p:cond delay="0"/>
                                  </p:stCondLst>
                                  <p:childTnLst>
                                    <p:set>
                                      <p:cBhvr>
                                        <p:cTn id="56" dur="1" fill="hold">
                                          <p:stCondLst>
                                            <p:cond delay="0"/>
                                          </p:stCondLst>
                                        </p:cTn>
                                        <p:tgtEl>
                                          <p:spTgt spid="36884"/>
                                        </p:tgtEl>
                                        <p:attrNameLst>
                                          <p:attrName>style.visibility</p:attrName>
                                        </p:attrNameLst>
                                      </p:cBhvr>
                                      <p:to>
                                        <p:strVal val="visible"/>
                                      </p:to>
                                    </p:set>
                                    <p:animEffect transition="in" filter="dissolve">
                                      <p:cBhvr>
                                        <p:cTn id="57" dur="500"/>
                                        <p:tgtEl>
                                          <p:spTgt spid="36884"/>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36895"/>
                                        </p:tgtEl>
                                        <p:attrNameLst>
                                          <p:attrName>style.visibility</p:attrName>
                                        </p:attrNameLst>
                                      </p:cBhvr>
                                      <p:to>
                                        <p:strVal val="visible"/>
                                      </p:to>
                                    </p:set>
                                    <p:animEffect transition="in" filter="dissolve">
                                      <p:cBhvr>
                                        <p:cTn id="60" dur="500"/>
                                        <p:tgtEl>
                                          <p:spTgt spid="36895"/>
                                        </p:tgtEl>
                                      </p:cBhvr>
                                    </p:animEffect>
                                  </p:childTnLst>
                                </p:cTn>
                              </p:par>
                            </p:childTnLst>
                          </p:cTn>
                        </p:par>
                        <p:par>
                          <p:cTn id="61" fill="hold">
                            <p:stCondLst>
                              <p:cond delay="2000"/>
                            </p:stCondLst>
                            <p:childTnLst>
                              <p:par>
                                <p:cTn id="62" presetID="9" presetClass="entr" presetSubtype="0" fill="hold" grpId="0" nodeType="afterEffect">
                                  <p:stCondLst>
                                    <p:cond delay="0"/>
                                  </p:stCondLst>
                                  <p:childTnLst>
                                    <p:set>
                                      <p:cBhvr>
                                        <p:cTn id="63" dur="1" fill="hold">
                                          <p:stCondLst>
                                            <p:cond delay="0"/>
                                          </p:stCondLst>
                                        </p:cTn>
                                        <p:tgtEl>
                                          <p:spTgt spid="36880"/>
                                        </p:tgtEl>
                                        <p:attrNameLst>
                                          <p:attrName>style.visibility</p:attrName>
                                        </p:attrNameLst>
                                      </p:cBhvr>
                                      <p:to>
                                        <p:strVal val="visible"/>
                                      </p:to>
                                    </p:set>
                                    <p:animEffect transition="in" filter="dissolve">
                                      <p:cBhvr>
                                        <p:cTn id="64" dur="500"/>
                                        <p:tgtEl>
                                          <p:spTgt spid="36880"/>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6894"/>
                                        </p:tgtEl>
                                        <p:attrNameLst>
                                          <p:attrName>style.visibility</p:attrName>
                                        </p:attrNameLst>
                                      </p:cBhvr>
                                      <p:to>
                                        <p:strVal val="visible"/>
                                      </p:to>
                                    </p:set>
                                    <p:animEffect transition="in" filter="dissolve">
                                      <p:cBhvr>
                                        <p:cTn id="67" dur="500"/>
                                        <p:tgtEl>
                                          <p:spTgt spid="36894"/>
                                        </p:tgtEl>
                                      </p:cBhvr>
                                    </p:animEffect>
                                  </p:childTnLst>
                                </p:cTn>
                              </p:par>
                            </p:childTnLst>
                          </p:cTn>
                        </p:par>
                        <p:par>
                          <p:cTn id="68" fill="hold">
                            <p:stCondLst>
                              <p:cond delay="2500"/>
                            </p:stCondLst>
                            <p:childTnLst>
                              <p:par>
                                <p:cTn id="69" presetID="9" presetClass="entr" presetSubtype="0" fill="hold" grpId="0" nodeType="afterEffect">
                                  <p:stCondLst>
                                    <p:cond delay="0"/>
                                  </p:stCondLst>
                                  <p:childTnLst>
                                    <p:set>
                                      <p:cBhvr>
                                        <p:cTn id="70" dur="1" fill="hold">
                                          <p:stCondLst>
                                            <p:cond delay="0"/>
                                          </p:stCondLst>
                                        </p:cTn>
                                        <p:tgtEl>
                                          <p:spTgt spid="36900"/>
                                        </p:tgtEl>
                                        <p:attrNameLst>
                                          <p:attrName>style.visibility</p:attrName>
                                        </p:attrNameLst>
                                      </p:cBhvr>
                                      <p:to>
                                        <p:strVal val="visible"/>
                                      </p:to>
                                    </p:set>
                                    <p:animEffect transition="in" filter="dissolve">
                                      <p:cBhvr>
                                        <p:cTn id="71" dur="500"/>
                                        <p:tgtEl>
                                          <p:spTgt spid="36900"/>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36893"/>
                                        </p:tgtEl>
                                        <p:attrNameLst>
                                          <p:attrName>style.visibility</p:attrName>
                                        </p:attrNameLst>
                                      </p:cBhvr>
                                      <p:to>
                                        <p:strVal val="visible"/>
                                      </p:to>
                                    </p:set>
                                    <p:animEffect transition="in" filter="dissolve">
                                      <p:cBhvr>
                                        <p:cTn id="74" dur="500"/>
                                        <p:tgtEl>
                                          <p:spTgt spid="36893"/>
                                        </p:tgtEl>
                                      </p:cBhvr>
                                    </p:animEffect>
                                  </p:childTnLst>
                                </p:cTn>
                              </p:par>
                            </p:childTnLst>
                          </p:cTn>
                        </p:par>
                        <p:par>
                          <p:cTn id="75" fill="hold">
                            <p:stCondLst>
                              <p:cond delay="3000"/>
                            </p:stCondLst>
                            <p:childTnLst>
                              <p:par>
                                <p:cTn id="76" presetID="9" presetClass="entr" presetSubtype="0" fill="hold" grpId="0" nodeType="afterEffect">
                                  <p:stCondLst>
                                    <p:cond delay="0"/>
                                  </p:stCondLst>
                                  <p:childTnLst>
                                    <p:set>
                                      <p:cBhvr>
                                        <p:cTn id="77" dur="1" fill="hold">
                                          <p:stCondLst>
                                            <p:cond delay="0"/>
                                          </p:stCondLst>
                                        </p:cTn>
                                        <p:tgtEl>
                                          <p:spTgt spid="36882"/>
                                        </p:tgtEl>
                                        <p:attrNameLst>
                                          <p:attrName>style.visibility</p:attrName>
                                        </p:attrNameLst>
                                      </p:cBhvr>
                                      <p:to>
                                        <p:strVal val="visible"/>
                                      </p:to>
                                    </p:set>
                                    <p:animEffect transition="in" filter="dissolve">
                                      <p:cBhvr>
                                        <p:cTn id="78" dur="500"/>
                                        <p:tgtEl>
                                          <p:spTgt spid="36882"/>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36892"/>
                                        </p:tgtEl>
                                        <p:attrNameLst>
                                          <p:attrName>style.visibility</p:attrName>
                                        </p:attrNameLst>
                                      </p:cBhvr>
                                      <p:to>
                                        <p:strVal val="visible"/>
                                      </p:to>
                                    </p:set>
                                    <p:animEffect transition="in" filter="dissolve">
                                      <p:cBhvr>
                                        <p:cTn id="81" dur="500"/>
                                        <p:tgtEl>
                                          <p:spTgt spid="36892"/>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9" fill="hold" grpId="0" nodeType="clickEffect">
                                  <p:stCondLst>
                                    <p:cond delay="0"/>
                                  </p:stCondLst>
                                  <p:childTnLst>
                                    <p:set>
                                      <p:cBhvr>
                                        <p:cTn id="85" dur="1" fill="hold">
                                          <p:stCondLst>
                                            <p:cond delay="0"/>
                                          </p:stCondLst>
                                        </p:cTn>
                                        <p:tgtEl>
                                          <p:spTgt spid="36899"/>
                                        </p:tgtEl>
                                        <p:attrNameLst>
                                          <p:attrName>style.visibility</p:attrName>
                                        </p:attrNameLst>
                                      </p:cBhvr>
                                      <p:to>
                                        <p:strVal val="visible"/>
                                      </p:to>
                                    </p:set>
                                    <p:anim calcmode="lin" valueType="num">
                                      <p:cBhvr additive="base">
                                        <p:cTn id="86" dur="1000" fill="hold"/>
                                        <p:tgtEl>
                                          <p:spTgt spid="36899"/>
                                        </p:tgtEl>
                                        <p:attrNameLst>
                                          <p:attrName>ppt_x</p:attrName>
                                        </p:attrNameLst>
                                      </p:cBhvr>
                                      <p:tavLst>
                                        <p:tav tm="0">
                                          <p:val>
                                            <p:strVal val="0-#ppt_w/2"/>
                                          </p:val>
                                        </p:tav>
                                        <p:tav tm="100000">
                                          <p:val>
                                            <p:strVal val="#ppt_x"/>
                                          </p:val>
                                        </p:tav>
                                      </p:tavLst>
                                    </p:anim>
                                    <p:anim calcmode="lin" valueType="num">
                                      <p:cBhvr additive="base">
                                        <p:cTn id="87" dur="1000" fill="hold"/>
                                        <p:tgtEl>
                                          <p:spTgt spid="36899"/>
                                        </p:tgtEl>
                                        <p:attrNameLst>
                                          <p:attrName>ppt_y</p:attrName>
                                        </p:attrNameLst>
                                      </p:cBhvr>
                                      <p:tavLst>
                                        <p:tav tm="0">
                                          <p:val>
                                            <p:strVal val="0-#ppt_h/2"/>
                                          </p:val>
                                        </p:tav>
                                        <p:tav tm="100000">
                                          <p:val>
                                            <p:strVal val="#ppt_y"/>
                                          </p:val>
                                        </p:tav>
                                      </p:tavLst>
                                    </p:anim>
                                  </p:childTnLst>
                                </p:cTn>
                              </p:par>
                            </p:childTnLst>
                          </p:cTn>
                        </p:par>
                        <p:par>
                          <p:cTn id="88" fill="hold">
                            <p:stCondLst>
                              <p:cond delay="1000"/>
                            </p:stCondLst>
                            <p:childTnLst>
                              <p:par>
                                <p:cTn id="89" presetID="9" presetClass="entr" presetSubtype="0" fill="hold" grpId="0" nodeType="afterEffect">
                                  <p:stCondLst>
                                    <p:cond delay="0"/>
                                  </p:stCondLst>
                                  <p:childTnLst>
                                    <p:set>
                                      <p:cBhvr>
                                        <p:cTn id="90" dur="1" fill="hold">
                                          <p:stCondLst>
                                            <p:cond delay="0"/>
                                          </p:stCondLst>
                                        </p:cTn>
                                        <p:tgtEl>
                                          <p:spTgt spid="36898"/>
                                        </p:tgtEl>
                                        <p:attrNameLst>
                                          <p:attrName>style.visibility</p:attrName>
                                        </p:attrNameLst>
                                      </p:cBhvr>
                                      <p:to>
                                        <p:strVal val="visible"/>
                                      </p:to>
                                    </p:set>
                                    <p:animEffect transition="in" filter="dissolve">
                                      <p:cBhvr>
                                        <p:cTn id="91" dur="500"/>
                                        <p:tgtEl>
                                          <p:spTgt spid="3689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6872"/>
                                        </p:tgtEl>
                                        <p:attrNameLst>
                                          <p:attrName>style.visibility</p:attrName>
                                        </p:attrNameLst>
                                      </p:cBhvr>
                                      <p:to>
                                        <p:strVal val="visible"/>
                                      </p:to>
                                    </p:set>
                                    <p:animEffect transition="in" filter="dissolve">
                                      <p:cBhvr>
                                        <p:cTn id="94" dur="500"/>
                                        <p:tgtEl>
                                          <p:spTgt spid="36872"/>
                                        </p:tgtEl>
                                      </p:cBhvr>
                                    </p:animEffect>
                                  </p:childTnLst>
                                </p:cTn>
                              </p:par>
                            </p:childTnLst>
                          </p:cTn>
                        </p:par>
                        <p:par>
                          <p:cTn id="95" fill="hold">
                            <p:stCondLst>
                              <p:cond delay="1500"/>
                            </p:stCondLst>
                            <p:childTnLst>
                              <p:par>
                                <p:cTn id="96" presetID="9" presetClass="entr" presetSubtype="0" fill="hold" grpId="0" nodeType="afterEffect">
                                  <p:stCondLst>
                                    <p:cond delay="0"/>
                                  </p:stCondLst>
                                  <p:childTnLst>
                                    <p:set>
                                      <p:cBhvr>
                                        <p:cTn id="97" dur="1" fill="hold">
                                          <p:stCondLst>
                                            <p:cond delay="0"/>
                                          </p:stCondLst>
                                        </p:cTn>
                                        <p:tgtEl>
                                          <p:spTgt spid="36881"/>
                                        </p:tgtEl>
                                        <p:attrNameLst>
                                          <p:attrName>style.visibility</p:attrName>
                                        </p:attrNameLst>
                                      </p:cBhvr>
                                      <p:to>
                                        <p:strVal val="visible"/>
                                      </p:to>
                                    </p:set>
                                    <p:animEffect transition="in" filter="dissolve">
                                      <p:cBhvr>
                                        <p:cTn id="98" dur="500"/>
                                        <p:tgtEl>
                                          <p:spTgt spid="36881"/>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36897"/>
                                        </p:tgtEl>
                                        <p:attrNameLst>
                                          <p:attrName>style.visibility</p:attrName>
                                        </p:attrNameLst>
                                      </p:cBhvr>
                                      <p:to>
                                        <p:strVal val="visible"/>
                                      </p:to>
                                    </p:set>
                                    <p:animEffect transition="in" filter="dissolve">
                                      <p:cBhvr>
                                        <p:cTn id="101" dur="500"/>
                                        <p:tgtEl>
                                          <p:spTgt spid="36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animBg="1"/>
      <p:bldP spid="36874" grpId="0" animBg="1"/>
      <p:bldP spid="36875" grpId="0" animBg="1"/>
      <p:bldP spid="36876" grpId="0" animBg="1"/>
      <p:bldP spid="36877" grpId="0" animBg="1"/>
      <p:bldP spid="36878" grpId="0" animBg="1"/>
      <p:bldP spid="36879" grpId="0" animBg="1"/>
      <p:bldP spid="36880" grpId="0"/>
      <p:bldP spid="36881" grpId="0"/>
      <p:bldP spid="36882" grpId="0"/>
      <p:bldP spid="36884" grpId="0"/>
      <p:bldP spid="36885" grpId="0"/>
      <p:bldP spid="36886" grpId="0"/>
      <p:bldP spid="36887" grpId="0"/>
      <p:bldP spid="36888" grpId="0"/>
      <p:bldP spid="36892" grpId="0" animBg="1"/>
      <p:bldP spid="36893" grpId="0" animBg="1"/>
      <p:bldP spid="36894" grpId="0" animBg="1"/>
      <p:bldP spid="36895" grpId="0" animBg="1"/>
      <p:bldP spid="36896" grpId="0"/>
      <p:bldP spid="36897" grpId="0" animBg="1"/>
      <p:bldP spid="36898" grpId="0"/>
      <p:bldP spid="36899" grpId="0"/>
      <p:bldP spid="36900" grpId="0"/>
      <p:bldP spid="36901" grpId="0"/>
      <p:bldP spid="3690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1"/>
          <p:cNvSpPr>
            <a:spLocks noGrp="1"/>
          </p:cNvSpPr>
          <p:nvPr>
            <p:ph type="sldNum" sz="quarter" idx="10"/>
          </p:nvPr>
        </p:nvSpPr>
        <p:spPr/>
        <p:txBody>
          <a:bodyPr/>
          <a:lstStyle/>
          <a:p>
            <a:fld id="{A4EFFDCC-ED44-4DF0-98A5-E0698F874A1A}" type="slidenum">
              <a:rPr lang="en-AU"/>
              <a:pPr/>
              <a:t>18</a:t>
            </a:fld>
            <a:endParaRPr lang="en-AU"/>
          </a:p>
        </p:txBody>
      </p:sp>
      <p:pic>
        <p:nvPicPr>
          <p:cNvPr id="38914" name="Picture 2" descr="brisbane with labels"/>
          <p:cNvPicPr>
            <a:picLocks noChangeAspect="1" noChangeArrowheads="1"/>
          </p:cNvPicPr>
          <p:nvPr/>
        </p:nvPicPr>
        <p:blipFill>
          <a:blip r:embed="rId2"/>
          <a:srcRect/>
          <a:stretch>
            <a:fillRect/>
          </a:stretch>
        </p:blipFill>
        <p:spPr bwMode="auto">
          <a:xfrm>
            <a:off x="-323850" y="-725488"/>
            <a:ext cx="11376025" cy="8043863"/>
          </a:xfrm>
          <a:prstGeom prst="rect">
            <a:avLst/>
          </a:prstGeom>
          <a:noFill/>
        </p:spPr>
      </p:pic>
      <p:pic>
        <p:nvPicPr>
          <p:cNvPr id="38915" name="Picture 3"/>
          <p:cNvPicPr>
            <a:picLocks noChangeAspect="1" noChangeArrowheads="1"/>
          </p:cNvPicPr>
          <p:nvPr/>
        </p:nvPicPr>
        <p:blipFill>
          <a:blip r:embed="rId3"/>
          <a:srcRect/>
          <a:stretch>
            <a:fillRect/>
          </a:stretch>
        </p:blipFill>
        <p:spPr bwMode="auto">
          <a:xfrm>
            <a:off x="6877050" y="260350"/>
            <a:ext cx="1160463" cy="2087563"/>
          </a:xfrm>
          <a:prstGeom prst="rect">
            <a:avLst/>
          </a:prstGeom>
          <a:noFill/>
        </p:spPr>
      </p:pic>
      <p:sp>
        <p:nvSpPr>
          <p:cNvPr id="38917" name="Oval 5"/>
          <p:cNvSpPr>
            <a:spLocks noChangeArrowheads="1"/>
          </p:cNvSpPr>
          <p:nvPr/>
        </p:nvSpPr>
        <p:spPr bwMode="auto">
          <a:xfrm>
            <a:off x="4859338" y="3500438"/>
            <a:ext cx="576262" cy="576262"/>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8918" name="Oval 6"/>
          <p:cNvSpPr>
            <a:spLocks noChangeArrowheads="1"/>
          </p:cNvSpPr>
          <p:nvPr/>
        </p:nvSpPr>
        <p:spPr bwMode="auto">
          <a:xfrm>
            <a:off x="7308850" y="4868863"/>
            <a:ext cx="576263"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8919" name="Oval 7"/>
          <p:cNvSpPr>
            <a:spLocks noChangeArrowheads="1"/>
          </p:cNvSpPr>
          <p:nvPr/>
        </p:nvSpPr>
        <p:spPr bwMode="auto">
          <a:xfrm>
            <a:off x="7164388" y="4292600"/>
            <a:ext cx="576262" cy="576263"/>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8920" name="Oval 8"/>
          <p:cNvSpPr>
            <a:spLocks noChangeArrowheads="1"/>
          </p:cNvSpPr>
          <p:nvPr/>
        </p:nvSpPr>
        <p:spPr bwMode="auto">
          <a:xfrm>
            <a:off x="6084888" y="3284538"/>
            <a:ext cx="576262"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8921" name="Oval 9"/>
          <p:cNvSpPr>
            <a:spLocks noChangeArrowheads="1"/>
          </p:cNvSpPr>
          <p:nvPr/>
        </p:nvSpPr>
        <p:spPr bwMode="auto">
          <a:xfrm>
            <a:off x="4500563" y="2349500"/>
            <a:ext cx="792162" cy="719138"/>
          </a:xfrm>
          <a:prstGeom prst="ellipse">
            <a:avLst/>
          </a:prstGeom>
          <a:solidFill>
            <a:srgbClr val="339966">
              <a:alpha val="14999"/>
            </a:srgbClr>
          </a:solidFill>
          <a:ln w="57150">
            <a:solidFill>
              <a:srgbClr val="339966"/>
            </a:solidFill>
            <a:round/>
            <a:headEnd/>
            <a:tailEnd/>
          </a:ln>
          <a:effectLst/>
        </p:spPr>
        <p:txBody>
          <a:bodyPr wrap="none" anchor="ctr"/>
          <a:lstStyle/>
          <a:p>
            <a:pPr algn="ctr"/>
            <a:endParaRPr lang="en-US">
              <a:solidFill>
                <a:srgbClr val="33CC33"/>
              </a:solidFill>
            </a:endParaRPr>
          </a:p>
        </p:txBody>
      </p:sp>
      <p:sp>
        <p:nvSpPr>
          <p:cNvPr id="38922" name="Oval 10"/>
          <p:cNvSpPr>
            <a:spLocks noChangeArrowheads="1"/>
          </p:cNvSpPr>
          <p:nvPr/>
        </p:nvSpPr>
        <p:spPr bwMode="auto">
          <a:xfrm>
            <a:off x="4932363" y="1557338"/>
            <a:ext cx="576262"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8923" name="Oval 11"/>
          <p:cNvSpPr>
            <a:spLocks noChangeArrowheads="1"/>
          </p:cNvSpPr>
          <p:nvPr/>
        </p:nvSpPr>
        <p:spPr bwMode="auto">
          <a:xfrm>
            <a:off x="5435600" y="620713"/>
            <a:ext cx="576263" cy="576262"/>
          </a:xfrm>
          <a:prstGeom prst="ellipse">
            <a:avLst/>
          </a:prstGeom>
          <a:solidFill>
            <a:schemeClr val="accent1">
              <a:alpha val="14999"/>
            </a:schemeClr>
          </a:solidFill>
          <a:ln w="57150">
            <a:solidFill>
              <a:schemeClr val="accent1"/>
            </a:solidFill>
            <a:round/>
            <a:headEnd/>
            <a:tailEnd/>
          </a:ln>
          <a:effectLst/>
        </p:spPr>
        <p:txBody>
          <a:bodyPr wrap="none" anchor="ctr"/>
          <a:lstStyle/>
          <a:p>
            <a:endParaRPr lang="en-AU"/>
          </a:p>
        </p:txBody>
      </p:sp>
      <p:sp>
        <p:nvSpPr>
          <p:cNvPr id="38924" name="Rectangle 12"/>
          <p:cNvSpPr>
            <a:spLocks noChangeArrowheads="1"/>
          </p:cNvSpPr>
          <p:nvPr/>
        </p:nvSpPr>
        <p:spPr bwMode="auto">
          <a:xfrm>
            <a:off x="5724525" y="4652963"/>
            <a:ext cx="1439863" cy="433387"/>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Upper Mt Gravatt</a:t>
            </a:r>
          </a:p>
        </p:txBody>
      </p:sp>
      <p:sp>
        <p:nvSpPr>
          <p:cNvPr id="38925" name="Rectangle 13"/>
          <p:cNvSpPr>
            <a:spLocks noChangeArrowheads="1"/>
          </p:cNvSpPr>
          <p:nvPr/>
        </p:nvSpPr>
        <p:spPr bwMode="auto">
          <a:xfrm>
            <a:off x="2555875" y="4076700"/>
            <a:ext cx="2519363" cy="360363"/>
          </a:xfrm>
          <a:prstGeom prst="rect">
            <a:avLst/>
          </a:prstGeom>
          <a:noFill/>
          <a:ln w="9525">
            <a:noFill/>
            <a:miter lim="800000"/>
            <a:headEnd/>
            <a:tailEnd/>
          </a:ln>
          <a:effectLst/>
        </p:spPr>
        <p:txBody>
          <a:bodyPr anchor="ctr"/>
          <a:lstStyle/>
          <a:p>
            <a:pPr algn="r"/>
            <a:r>
              <a:rPr lang="en-AU" sz="1600">
                <a:solidFill>
                  <a:srgbClr val="FFFF00"/>
                </a:solidFill>
                <a:effectLst>
                  <a:outerShdw blurRad="38100" dist="38100" dir="2700000" algn="tl">
                    <a:srgbClr val="000000"/>
                  </a:outerShdw>
                </a:effectLst>
              </a:rPr>
              <a:t>Coorparoo – Camp Hill</a:t>
            </a:r>
          </a:p>
        </p:txBody>
      </p:sp>
      <p:sp>
        <p:nvSpPr>
          <p:cNvPr id="38926" name="Rectangle 14"/>
          <p:cNvSpPr>
            <a:spLocks noChangeArrowheads="1"/>
          </p:cNvSpPr>
          <p:nvPr/>
        </p:nvSpPr>
        <p:spPr bwMode="auto">
          <a:xfrm>
            <a:off x="1042988" y="5661025"/>
            <a:ext cx="2519362" cy="360363"/>
          </a:xfrm>
          <a:prstGeom prst="rect">
            <a:avLst/>
          </a:prstGeom>
          <a:noFill/>
          <a:ln w="9525">
            <a:noFill/>
            <a:miter lim="800000"/>
            <a:headEnd/>
            <a:tailEnd/>
          </a:ln>
          <a:effectLst/>
        </p:spPr>
        <p:txBody>
          <a:bodyPr anchor="ctr"/>
          <a:lstStyle/>
          <a:p>
            <a:pPr algn="ctr"/>
            <a:r>
              <a:rPr lang="en-AU" sz="1600">
                <a:solidFill>
                  <a:srgbClr val="33CC33"/>
                </a:solidFill>
                <a:effectLst>
                  <a:outerShdw blurRad="38100" dist="38100" dir="2700000" algn="tl">
                    <a:srgbClr val="000000"/>
                  </a:outerShdw>
                </a:effectLst>
              </a:rPr>
              <a:t>Ipswich</a:t>
            </a:r>
          </a:p>
        </p:txBody>
      </p:sp>
      <p:sp>
        <p:nvSpPr>
          <p:cNvPr id="38927" name="Rectangle 15"/>
          <p:cNvSpPr>
            <a:spLocks noChangeArrowheads="1"/>
          </p:cNvSpPr>
          <p:nvPr/>
        </p:nvSpPr>
        <p:spPr bwMode="auto">
          <a:xfrm>
            <a:off x="6011863" y="5516563"/>
            <a:ext cx="2519362" cy="360362"/>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Woodridge</a:t>
            </a:r>
          </a:p>
        </p:txBody>
      </p:sp>
      <p:sp>
        <p:nvSpPr>
          <p:cNvPr id="38928" name="Rectangle 16"/>
          <p:cNvSpPr>
            <a:spLocks noChangeArrowheads="1"/>
          </p:cNvSpPr>
          <p:nvPr/>
        </p:nvSpPr>
        <p:spPr bwMode="auto">
          <a:xfrm>
            <a:off x="5940425" y="2997200"/>
            <a:ext cx="1223963" cy="360363"/>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Wynnum</a:t>
            </a:r>
          </a:p>
        </p:txBody>
      </p:sp>
      <p:sp>
        <p:nvSpPr>
          <p:cNvPr id="38929" name="Rectangle 17"/>
          <p:cNvSpPr>
            <a:spLocks noChangeArrowheads="1"/>
          </p:cNvSpPr>
          <p:nvPr/>
        </p:nvSpPr>
        <p:spPr bwMode="auto">
          <a:xfrm>
            <a:off x="4572000" y="188913"/>
            <a:ext cx="2519363" cy="360362"/>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Redcliffe-Scarborough</a:t>
            </a:r>
          </a:p>
        </p:txBody>
      </p:sp>
      <p:sp>
        <p:nvSpPr>
          <p:cNvPr id="38930" name="Rectangle 18"/>
          <p:cNvSpPr>
            <a:spLocks noChangeArrowheads="1"/>
          </p:cNvSpPr>
          <p:nvPr/>
        </p:nvSpPr>
        <p:spPr bwMode="auto">
          <a:xfrm>
            <a:off x="6804025" y="2276475"/>
            <a:ext cx="2339975" cy="360363"/>
          </a:xfrm>
          <a:prstGeom prst="rect">
            <a:avLst/>
          </a:prstGeom>
          <a:noFill/>
          <a:ln w="9525">
            <a:noFill/>
            <a:miter lim="800000"/>
            <a:headEnd/>
            <a:tailEnd/>
          </a:ln>
          <a:effectLst/>
        </p:spPr>
        <p:txBody>
          <a:bodyPr anchor="ctr"/>
          <a:lstStyle/>
          <a:p>
            <a:r>
              <a:rPr lang="en-AU">
                <a:solidFill>
                  <a:schemeClr val="accent1"/>
                </a:solidFill>
                <a:effectLst>
                  <a:outerShdw blurRad="38100" dist="38100" dir="2700000" algn="tl">
                    <a:srgbClr val="000000"/>
                  </a:outerShdw>
                </a:effectLst>
              </a:rPr>
              <a:t>Sea change / coastal</a:t>
            </a:r>
          </a:p>
        </p:txBody>
      </p:sp>
      <p:sp>
        <p:nvSpPr>
          <p:cNvPr id="38931" name="Rectangle 19"/>
          <p:cNvSpPr>
            <a:spLocks noChangeArrowheads="1"/>
          </p:cNvSpPr>
          <p:nvPr/>
        </p:nvSpPr>
        <p:spPr bwMode="auto">
          <a:xfrm>
            <a:off x="7812088" y="4508500"/>
            <a:ext cx="1223962" cy="649288"/>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Cleveland-Victoria Point</a:t>
            </a:r>
          </a:p>
        </p:txBody>
      </p:sp>
      <p:sp>
        <p:nvSpPr>
          <p:cNvPr id="38932" name="Oval 20"/>
          <p:cNvSpPr>
            <a:spLocks noChangeArrowheads="1"/>
          </p:cNvSpPr>
          <p:nvPr/>
        </p:nvSpPr>
        <p:spPr bwMode="auto">
          <a:xfrm>
            <a:off x="1692275" y="5157788"/>
            <a:ext cx="1511300" cy="1439862"/>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8933" name="Oval 21"/>
          <p:cNvSpPr>
            <a:spLocks noChangeArrowheads="1"/>
          </p:cNvSpPr>
          <p:nvPr/>
        </p:nvSpPr>
        <p:spPr bwMode="auto">
          <a:xfrm>
            <a:off x="4716463" y="4365625"/>
            <a:ext cx="576262" cy="576263"/>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8934" name="Oval 22"/>
          <p:cNvSpPr>
            <a:spLocks noChangeArrowheads="1"/>
          </p:cNvSpPr>
          <p:nvPr/>
        </p:nvSpPr>
        <p:spPr bwMode="auto">
          <a:xfrm>
            <a:off x="5148263" y="4581525"/>
            <a:ext cx="576262" cy="576263"/>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8935" name="Oval 23"/>
          <p:cNvSpPr>
            <a:spLocks noChangeArrowheads="1"/>
          </p:cNvSpPr>
          <p:nvPr/>
        </p:nvSpPr>
        <p:spPr bwMode="auto">
          <a:xfrm>
            <a:off x="5435600" y="5516563"/>
            <a:ext cx="576263" cy="576262"/>
          </a:xfrm>
          <a:prstGeom prst="ellipse">
            <a:avLst/>
          </a:prstGeom>
          <a:solidFill>
            <a:srgbClr val="339966">
              <a:alpha val="14999"/>
            </a:srgbClr>
          </a:solidFill>
          <a:ln w="57150">
            <a:solidFill>
              <a:srgbClr val="339966"/>
            </a:solidFill>
            <a:round/>
            <a:headEnd/>
            <a:tailEnd/>
          </a:ln>
          <a:effectLst/>
        </p:spPr>
        <p:txBody>
          <a:bodyPr wrap="none" anchor="ctr"/>
          <a:lstStyle/>
          <a:p>
            <a:endParaRPr lang="en-AU"/>
          </a:p>
        </p:txBody>
      </p:sp>
      <p:sp>
        <p:nvSpPr>
          <p:cNvPr id="38936" name="Rectangle 24"/>
          <p:cNvSpPr>
            <a:spLocks noChangeArrowheads="1"/>
          </p:cNvSpPr>
          <p:nvPr/>
        </p:nvSpPr>
        <p:spPr bwMode="auto">
          <a:xfrm>
            <a:off x="6804025" y="2708275"/>
            <a:ext cx="2339975" cy="504825"/>
          </a:xfrm>
          <a:prstGeom prst="rect">
            <a:avLst/>
          </a:prstGeom>
          <a:noFill/>
          <a:ln w="9525">
            <a:noFill/>
            <a:miter lim="800000"/>
            <a:headEnd/>
            <a:tailEnd/>
          </a:ln>
          <a:effectLst/>
        </p:spPr>
        <p:txBody>
          <a:bodyPr anchor="ctr"/>
          <a:lstStyle/>
          <a:p>
            <a:r>
              <a:rPr lang="en-AU">
                <a:solidFill>
                  <a:srgbClr val="33CC33"/>
                </a:solidFill>
                <a:effectLst>
                  <a:outerShdw blurRad="38100" dist="38100" dir="2700000" algn="tl">
                    <a:srgbClr val="000000"/>
                  </a:outerShdw>
                </a:effectLst>
              </a:rPr>
              <a:t>Suburban (middle ring / outer)</a:t>
            </a:r>
          </a:p>
        </p:txBody>
      </p:sp>
      <p:sp>
        <p:nvSpPr>
          <p:cNvPr id="38937" name="Oval 25"/>
          <p:cNvSpPr>
            <a:spLocks noChangeArrowheads="1"/>
          </p:cNvSpPr>
          <p:nvPr/>
        </p:nvSpPr>
        <p:spPr bwMode="auto">
          <a:xfrm>
            <a:off x="5076825" y="3933825"/>
            <a:ext cx="576263" cy="576263"/>
          </a:xfrm>
          <a:prstGeom prst="ellipse">
            <a:avLst/>
          </a:prstGeom>
          <a:solidFill>
            <a:srgbClr val="FFFF00">
              <a:alpha val="14999"/>
            </a:srgbClr>
          </a:solidFill>
          <a:ln w="57150">
            <a:solidFill>
              <a:srgbClr val="FFFF00"/>
            </a:solidFill>
            <a:round/>
            <a:headEnd/>
            <a:tailEnd/>
          </a:ln>
          <a:effectLst/>
        </p:spPr>
        <p:txBody>
          <a:bodyPr wrap="none" anchor="ctr"/>
          <a:lstStyle/>
          <a:p>
            <a:endParaRPr lang="en-AU"/>
          </a:p>
        </p:txBody>
      </p:sp>
      <p:sp>
        <p:nvSpPr>
          <p:cNvPr id="38938" name="Rectangle 26"/>
          <p:cNvSpPr>
            <a:spLocks noChangeArrowheads="1"/>
          </p:cNvSpPr>
          <p:nvPr/>
        </p:nvSpPr>
        <p:spPr bwMode="auto">
          <a:xfrm>
            <a:off x="2627313" y="3644900"/>
            <a:ext cx="2519362" cy="360363"/>
          </a:xfrm>
          <a:prstGeom prst="rect">
            <a:avLst/>
          </a:prstGeom>
          <a:noFill/>
          <a:ln w="9525">
            <a:noFill/>
            <a:miter lim="800000"/>
            <a:headEnd/>
            <a:tailEnd/>
          </a:ln>
          <a:effectLst/>
        </p:spPr>
        <p:txBody>
          <a:bodyPr anchor="ctr"/>
          <a:lstStyle/>
          <a:p>
            <a:pPr algn="r"/>
            <a:r>
              <a:rPr lang="en-AU" sz="1600">
                <a:solidFill>
                  <a:srgbClr val="FFFF00"/>
                </a:solidFill>
                <a:effectLst>
                  <a:outerShdw blurRad="38100" dist="38100" dir="2700000" algn="tl">
                    <a:srgbClr val="000000"/>
                  </a:outerShdw>
                </a:effectLst>
              </a:rPr>
              <a:t>New Farm</a:t>
            </a:r>
          </a:p>
        </p:txBody>
      </p:sp>
      <p:sp>
        <p:nvSpPr>
          <p:cNvPr id="38939" name="Rectangle 27"/>
          <p:cNvSpPr>
            <a:spLocks noChangeArrowheads="1"/>
          </p:cNvSpPr>
          <p:nvPr/>
        </p:nvSpPr>
        <p:spPr bwMode="auto">
          <a:xfrm>
            <a:off x="6804025" y="3284538"/>
            <a:ext cx="2519363" cy="574675"/>
          </a:xfrm>
          <a:prstGeom prst="rect">
            <a:avLst/>
          </a:prstGeom>
          <a:noFill/>
          <a:ln w="9525">
            <a:noFill/>
            <a:miter lim="800000"/>
            <a:headEnd/>
            <a:tailEnd/>
          </a:ln>
          <a:effectLst/>
        </p:spPr>
        <p:txBody>
          <a:bodyPr anchor="ctr"/>
          <a:lstStyle/>
          <a:p>
            <a:r>
              <a:rPr lang="en-AU">
                <a:solidFill>
                  <a:srgbClr val="FFFF00"/>
                </a:solidFill>
                <a:effectLst>
                  <a:outerShdw blurRad="38100" dist="38100" dir="2700000" algn="tl">
                    <a:srgbClr val="000000"/>
                  </a:outerShdw>
                </a:effectLst>
              </a:rPr>
              <a:t>Suburban (inner) / urban renewal</a:t>
            </a:r>
          </a:p>
        </p:txBody>
      </p:sp>
      <p:sp>
        <p:nvSpPr>
          <p:cNvPr id="38940" name="Rectangle 28"/>
          <p:cNvSpPr>
            <a:spLocks noChangeArrowheads="1"/>
          </p:cNvSpPr>
          <p:nvPr/>
        </p:nvSpPr>
        <p:spPr bwMode="auto">
          <a:xfrm>
            <a:off x="2627313" y="4508500"/>
            <a:ext cx="2160587" cy="433388"/>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Moorooka - tarragindi</a:t>
            </a:r>
          </a:p>
        </p:txBody>
      </p:sp>
      <p:sp>
        <p:nvSpPr>
          <p:cNvPr id="38941" name="Rectangle 29"/>
          <p:cNvSpPr>
            <a:spLocks noChangeArrowheads="1"/>
          </p:cNvSpPr>
          <p:nvPr/>
        </p:nvSpPr>
        <p:spPr bwMode="auto">
          <a:xfrm>
            <a:off x="3132138" y="2133600"/>
            <a:ext cx="1295400" cy="1223963"/>
          </a:xfrm>
          <a:prstGeom prst="rect">
            <a:avLst/>
          </a:prstGeom>
          <a:noFill/>
          <a:ln w="9525">
            <a:noFill/>
            <a:miter lim="800000"/>
            <a:headEnd/>
            <a:tailEnd/>
          </a:ln>
          <a:effectLst/>
        </p:spPr>
        <p:txBody>
          <a:bodyPr anchor="ctr"/>
          <a:lstStyle/>
          <a:p>
            <a:r>
              <a:rPr lang="en-AU" sz="1600">
                <a:solidFill>
                  <a:srgbClr val="33CC33"/>
                </a:solidFill>
                <a:effectLst>
                  <a:outerShdw blurRad="38100" dist="38100" dir="2700000" algn="tl">
                    <a:srgbClr val="000000"/>
                  </a:outerShdw>
                </a:effectLst>
              </a:rPr>
              <a:t>Aspley-Chermside-Kedron-Everton Prak</a:t>
            </a:r>
          </a:p>
        </p:txBody>
      </p:sp>
      <p:sp>
        <p:nvSpPr>
          <p:cNvPr id="38942" name="Rectangle 30"/>
          <p:cNvSpPr>
            <a:spLocks noChangeArrowheads="1"/>
          </p:cNvSpPr>
          <p:nvPr/>
        </p:nvSpPr>
        <p:spPr bwMode="auto">
          <a:xfrm>
            <a:off x="5580063" y="1628775"/>
            <a:ext cx="1655762" cy="360363"/>
          </a:xfrm>
          <a:prstGeom prst="rect">
            <a:avLst/>
          </a:prstGeom>
          <a:noFill/>
          <a:ln w="9525">
            <a:noFill/>
            <a:miter lim="800000"/>
            <a:headEnd/>
            <a:tailEnd/>
          </a:ln>
          <a:effectLst/>
        </p:spPr>
        <p:txBody>
          <a:bodyPr anchor="ctr"/>
          <a:lstStyle/>
          <a:p>
            <a:r>
              <a:rPr lang="en-AU" sz="1600">
                <a:solidFill>
                  <a:schemeClr val="accent1"/>
                </a:solidFill>
                <a:effectLst>
                  <a:outerShdw blurRad="38100" dist="38100" dir="2700000" algn="tl">
                    <a:srgbClr val="000000"/>
                  </a:outerShdw>
                </a:effectLst>
              </a:rPr>
              <a:t>Brighton</a:t>
            </a:r>
          </a:p>
        </p:txBody>
      </p:sp>
      <p:sp>
        <p:nvSpPr>
          <p:cNvPr id="38943" name="WordArt 31"/>
          <p:cNvSpPr>
            <a:spLocks noChangeArrowheads="1" noChangeShapeType="1" noTextEdit="1"/>
          </p:cNvSpPr>
          <p:nvPr/>
        </p:nvSpPr>
        <p:spPr bwMode="auto">
          <a:xfrm>
            <a:off x="179388" y="1844675"/>
            <a:ext cx="2881312" cy="2016125"/>
          </a:xfrm>
          <a:prstGeom prst="rect">
            <a:avLst/>
          </a:prstGeom>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en-AU" sz="3600" kern="10">
                <a:ln w="9525">
                  <a:round/>
                  <a:headEnd/>
                  <a:tailEnd/>
                </a:ln>
                <a:gradFill rotWithShape="0">
                  <a:gsLst>
                    <a:gs pos="0">
                      <a:srgbClr val="FFE701"/>
                    </a:gs>
                    <a:gs pos="100000">
                      <a:srgbClr val="FE3E02"/>
                    </a:gs>
                  </a:gsLst>
                  <a:lin ang="5400000" scaled="1"/>
                </a:gradFill>
                <a:latin typeface="Impact"/>
              </a:rPr>
              <a:t>WHY?</a:t>
            </a:r>
          </a:p>
        </p:txBody>
      </p:sp>
      <p:sp>
        <p:nvSpPr>
          <p:cNvPr id="38945" name="Text Box 33"/>
          <p:cNvSpPr txBox="1">
            <a:spLocks noChangeArrowheads="1"/>
          </p:cNvSpPr>
          <p:nvPr/>
        </p:nvSpPr>
        <p:spPr bwMode="auto">
          <a:xfrm>
            <a:off x="0" y="-15875"/>
            <a:ext cx="9234488" cy="1311275"/>
          </a:xfrm>
          <a:prstGeom prst="rect">
            <a:avLst/>
          </a:prstGeom>
          <a:noFill/>
          <a:ln w="9525">
            <a:noFill/>
            <a:miter lim="800000"/>
            <a:headEnd/>
            <a:tailEnd/>
          </a:ln>
          <a:effectLst/>
        </p:spPr>
        <p:txBody>
          <a:bodyPr wrap="none">
            <a:spAutoFit/>
          </a:bodyPr>
          <a:lstStyle/>
          <a:p>
            <a:r>
              <a:rPr lang="en-AU" sz="2000">
                <a:solidFill>
                  <a:srgbClr val="00FF00"/>
                </a:solidFill>
                <a:effectLst>
                  <a:outerShdw blurRad="38100" dist="38100" dir="2700000" algn="tl">
                    <a:srgbClr val="000000"/>
                  </a:outerShdw>
                </a:effectLst>
                <a:latin typeface="Arial Black" pitchFamily="34" charset="0"/>
              </a:rPr>
              <a:t>Sea change</a:t>
            </a:r>
          </a:p>
          <a:p>
            <a:r>
              <a:rPr lang="en-AU" sz="2000">
                <a:solidFill>
                  <a:srgbClr val="00FF00"/>
                </a:solidFill>
                <a:effectLst>
                  <a:outerShdw blurRad="38100" dist="38100" dir="2700000" algn="tl">
                    <a:srgbClr val="000000"/>
                  </a:outerShdw>
                </a:effectLst>
                <a:latin typeface="Arial Black" pitchFamily="34" charset="0"/>
              </a:rPr>
              <a:t>Traditional – remain in “older inner suburb”</a:t>
            </a:r>
          </a:p>
          <a:p>
            <a:r>
              <a:rPr lang="en-AU" sz="2000">
                <a:solidFill>
                  <a:srgbClr val="00FF00"/>
                </a:solidFill>
                <a:effectLst>
                  <a:outerShdw blurRad="38100" dist="38100" dir="2700000" algn="tl">
                    <a:srgbClr val="000000"/>
                  </a:outerShdw>
                </a:effectLst>
                <a:latin typeface="Arial Black" pitchFamily="34" charset="0"/>
              </a:rPr>
              <a:t>Traditional – change to or remain in “middle ring” or outer suburb</a:t>
            </a:r>
          </a:p>
          <a:p>
            <a:r>
              <a:rPr lang="en-AU" sz="2000">
                <a:solidFill>
                  <a:srgbClr val="00FF00"/>
                </a:solidFill>
                <a:effectLst>
                  <a:outerShdw blurRad="38100" dist="38100" dir="2700000" algn="tl">
                    <a:srgbClr val="000000"/>
                  </a:outerShdw>
                </a:effectLst>
                <a:latin typeface="Arial Black" pitchFamily="34" charset="0"/>
              </a:rPr>
              <a:t>Traditional – remain in outer metropolitan or semi-rural</a:t>
            </a:r>
          </a:p>
        </p:txBody>
      </p:sp>
      <p:sp>
        <p:nvSpPr>
          <p:cNvPr id="38946" name="Rectangle 34"/>
          <p:cNvSpPr>
            <a:spLocks noChangeArrowheads="1"/>
          </p:cNvSpPr>
          <p:nvPr/>
        </p:nvSpPr>
        <p:spPr bwMode="auto">
          <a:xfrm>
            <a:off x="0" y="0"/>
            <a:ext cx="2665413" cy="1655763"/>
          </a:xfrm>
          <a:prstGeom prst="rect">
            <a:avLst/>
          </a:prstGeom>
          <a:noFill/>
          <a:ln w="9525">
            <a:noFill/>
            <a:miter lim="800000"/>
            <a:headEnd/>
            <a:tailEnd/>
          </a:ln>
          <a:effectLst/>
        </p:spPr>
        <p:txBody>
          <a:bodyPr anchor="ctr"/>
          <a:lstStyle/>
          <a:p>
            <a:pPr algn="ctr"/>
            <a:r>
              <a:rPr lang="en-AU" sz="2800">
                <a:effectLst>
                  <a:outerShdw blurRad="38100" dist="38100" dir="2700000" algn="tl">
                    <a:srgbClr val="000000"/>
                  </a:outerShdw>
                </a:effectLst>
              </a:rPr>
              <a:t>Heavy concentrations</a:t>
            </a:r>
            <a:br>
              <a:rPr lang="en-AU" sz="2800">
                <a:effectLst>
                  <a:outerShdw blurRad="38100" dist="38100" dir="2700000" algn="tl">
                    <a:srgbClr val="000000"/>
                  </a:outerShdw>
                </a:effectLst>
              </a:rPr>
            </a:br>
            <a:r>
              <a:rPr lang="en-AU" sz="2000">
                <a:effectLst>
                  <a:outerShdw blurRad="38100" dist="38100" dir="2700000" algn="tl">
                    <a:srgbClr val="000000"/>
                  </a:outerShdw>
                </a:effectLst>
              </a:rPr>
              <a:t>(proportions and numbers)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38943"/>
                                        </p:tgtEl>
                                        <p:attrNameLst>
                                          <p:attrName>style.visibility</p:attrName>
                                        </p:attrNameLst>
                                      </p:cBhvr>
                                      <p:to>
                                        <p:strVal val="visible"/>
                                      </p:to>
                                    </p:set>
                                    <p:animEffect transition="in" filter="fade">
                                      <p:cBhvr>
                                        <p:cTn id="7" dur="2000"/>
                                        <p:tgtEl>
                                          <p:spTgt spid="38943"/>
                                        </p:tgtEl>
                                      </p:cBhvr>
                                    </p:animEffect>
                                    <p:anim calcmode="lin" valueType="num">
                                      <p:cBhvr>
                                        <p:cTn id="8" dur="2000" fill="hold"/>
                                        <p:tgtEl>
                                          <p:spTgt spid="38943"/>
                                        </p:tgtEl>
                                        <p:attrNameLst>
                                          <p:attrName>style.rotation</p:attrName>
                                        </p:attrNameLst>
                                      </p:cBhvr>
                                      <p:tavLst>
                                        <p:tav tm="0">
                                          <p:val>
                                            <p:fltVal val="720"/>
                                          </p:val>
                                        </p:tav>
                                        <p:tav tm="100000">
                                          <p:val>
                                            <p:fltVal val="0"/>
                                          </p:val>
                                        </p:tav>
                                      </p:tavLst>
                                    </p:anim>
                                    <p:anim calcmode="lin" valueType="num">
                                      <p:cBhvr>
                                        <p:cTn id="9" dur="2000" fill="hold"/>
                                        <p:tgtEl>
                                          <p:spTgt spid="38943"/>
                                        </p:tgtEl>
                                        <p:attrNameLst>
                                          <p:attrName>ppt_h</p:attrName>
                                        </p:attrNameLst>
                                      </p:cBhvr>
                                      <p:tavLst>
                                        <p:tav tm="0">
                                          <p:val>
                                            <p:fltVal val="0"/>
                                          </p:val>
                                        </p:tav>
                                        <p:tav tm="100000">
                                          <p:val>
                                            <p:strVal val="#ppt_h"/>
                                          </p:val>
                                        </p:tav>
                                      </p:tavLst>
                                    </p:anim>
                                    <p:anim calcmode="lin" valueType="num">
                                      <p:cBhvr>
                                        <p:cTn id="10" dur="2000" fill="hold"/>
                                        <p:tgtEl>
                                          <p:spTgt spid="38943"/>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xit" presetSubtype="0" fill="hold" grpId="0" nodeType="clickEffect">
                                  <p:stCondLst>
                                    <p:cond delay="0"/>
                                  </p:stCondLst>
                                  <p:childTnLst>
                                    <p:anim calcmode="lin" valueType="num">
                                      <p:cBhvr>
                                        <p:cTn id="14" dur="500"/>
                                        <p:tgtEl>
                                          <p:spTgt spid="38946"/>
                                        </p:tgtEl>
                                        <p:attrNameLst>
                                          <p:attrName>ppt_w</p:attrName>
                                        </p:attrNameLst>
                                      </p:cBhvr>
                                      <p:tavLst>
                                        <p:tav tm="0">
                                          <p:val>
                                            <p:strVal val="ppt_w"/>
                                          </p:val>
                                        </p:tav>
                                        <p:tav tm="100000">
                                          <p:val>
                                            <p:fltVal val="0"/>
                                          </p:val>
                                        </p:tav>
                                      </p:tavLst>
                                    </p:anim>
                                    <p:anim calcmode="lin" valueType="num">
                                      <p:cBhvr>
                                        <p:cTn id="15" dur="500"/>
                                        <p:tgtEl>
                                          <p:spTgt spid="38946"/>
                                        </p:tgtEl>
                                        <p:attrNameLst>
                                          <p:attrName>ppt_h</p:attrName>
                                        </p:attrNameLst>
                                      </p:cBhvr>
                                      <p:tavLst>
                                        <p:tav tm="0">
                                          <p:val>
                                            <p:strVal val="ppt_h"/>
                                          </p:val>
                                        </p:tav>
                                        <p:tav tm="100000">
                                          <p:val>
                                            <p:fltVal val="0"/>
                                          </p:val>
                                        </p:tav>
                                      </p:tavLst>
                                    </p:anim>
                                    <p:animEffect transition="out" filter="fade">
                                      <p:cBhvr>
                                        <p:cTn id="16" dur="500"/>
                                        <p:tgtEl>
                                          <p:spTgt spid="38946"/>
                                        </p:tgtEl>
                                      </p:cBhvr>
                                    </p:animEffect>
                                    <p:set>
                                      <p:cBhvr>
                                        <p:cTn id="17" dur="1" fill="hold">
                                          <p:stCondLst>
                                            <p:cond delay="499"/>
                                          </p:stCondLst>
                                        </p:cTn>
                                        <p:tgtEl>
                                          <p:spTgt spid="38946"/>
                                        </p:tgtEl>
                                        <p:attrNameLst>
                                          <p:attrName>style.visibility</p:attrName>
                                        </p:attrNameLst>
                                      </p:cBhvr>
                                      <p:to>
                                        <p:strVal val="hidden"/>
                                      </p:to>
                                    </p:set>
                                  </p:childTnLst>
                                </p:cTn>
                              </p:par>
                              <p:par>
                                <p:cTn id="18" presetID="9" presetClass="entr" presetSubtype="0" fill="hold" nodeType="withEffect">
                                  <p:stCondLst>
                                    <p:cond delay="0"/>
                                  </p:stCondLst>
                                  <p:childTnLst>
                                    <p:set>
                                      <p:cBhvr>
                                        <p:cTn id="19" dur="1" fill="hold">
                                          <p:stCondLst>
                                            <p:cond delay="0"/>
                                          </p:stCondLst>
                                        </p:cTn>
                                        <p:tgtEl>
                                          <p:spTgt spid="38945">
                                            <p:txEl>
                                              <p:pRg st="0" end="0"/>
                                            </p:txEl>
                                          </p:spTgt>
                                        </p:tgtEl>
                                        <p:attrNameLst>
                                          <p:attrName>style.visibility</p:attrName>
                                        </p:attrNameLst>
                                      </p:cBhvr>
                                      <p:to>
                                        <p:strVal val="visible"/>
                                      </p:to>
                                    </p:set>
                                    <p:animEffect transition="in" filter="dissolve">
                                      <p:cBhvr>
                                        <p:cTn id="20" dur="500"/>
                                        <p:tgtEl>
                                          <p:spTgt spid="38945">
                                            <p:txEl>
                                              <p:pRg st="0" end="0"/>
                                            </p:txEl>
                                          </p:spTgt>
                                        </p:tgtEl>
                                      </p:cBhvr>
                                    </p:animEffect>
                                  </p:childTnLst>
                                </p:cTn>
                              </p:par>
                            </p:childTnLst>
                          </p:cTn>
                        </p:par>
                        <p:par>
                          <p:cTn id="21" fill="hold">
                            <p:stCondLst>
                              <p:cond delay="500"/>
                            </p:stCondLst>
                            <p:childTnLst>
                              <p:par>
                                <p:cTn id="22" presetID="9" presetClass="exit" presetSubtype="0" fill="hold" grpId="0" nodeType="afterEffect">
                                  <p:stCondLst>
                                    <p:cond delay="0"/>
                                  </p:stCondLst>
                                  <p:childTnLst>
                                    <p:animEffect transition="out" filter="dissolve">
                                      <p:cBhvr>
                                        <p:cTn id="23" dur="500"/>
                                        <p:tgtEl>
                                          <p:spTgt spid="38930"/>
                                        </p:tgtEl>
                                      </p:cBhvr>
                                    </p:animEffect>
                                    <p:set>
                                      <p:cBhvr>
                                        <p:cTn id="24" dur="1" fill="hold">
                                          <p:stCondLst>
                                            <p:cond delay="499"/>
                                          </p:stCondLst>
                                        </p:cTn>
                                        <p:tgtEl>
                                          <p:spTgt spid="38930"/>
                                        </p:tgtEl>
                                        <p:attrNameLst>
                                          <p:attrName>style.visibility</p:attrName>
                                        </p:attrNameLst>
                                      </p:cBhvr>
                                      <p:to>
                                        <p:strVal val="hidden"/>
                                      </p:to>
                                    </p:set>
                                  </p:childTnLst>
                                </p:cTn>
                              </p:par>
                              <p:par>
                                <p:cTn id="25" presetID="9" presetClass="exit" presetSubtype="0" fill="hold" grpId="0" nodeType="withEffect">
                                  <p:stCondLst>
                                    <p:cond delay="0"/>
                                  </p:stCondLst>
                                  <p:childTnLst>
                                    <p:animEffect transition="out" filter="dissolve">
                                      <p:cBhvr>
                                        <p:cTn id="26" dur="500"/>
                                        <p:tgtEl>
                                          <p:spTgt spid="38922"/>
                                        </p:tgtEl>
                                      </p:cBhvr>
                                    </p:animEffect>
                                    <p:set>
                                      <p:cBhvr>
                                        <p:cTn id="27" dur="1" fill="hold">
                                          <p:stCondLst>
                                            <p:cond delay="499"/>
                                          </p:stCondLst>
                                        </p:cTn>
                                        <p:tgtEl>
                                          <p:spTgt spid="38922"/>
                                        </p:tgtEl>
                                        <p:attrNameLst>
                                          <p:attrName>style.visibility</p:attrName>
                                        </p:attrNameLst>
                                      </p:cBhvr>
                                      <p:to>
                                        <p:strVal val="hidden"/>
                                      </p:to>
                                    </p:set>
                                  </p:childTnLst>
                                </p:cTn>
                              </p:par>
                              <p:par>
                                <p:cTn id="28" presetID="9" presetClass="exit" presetSubtype="0" fill="hold" grpId="0" nodeType="withEffect">
                                  <p:stCondLst>
                                    <p:cond delay="0"/>
                                  </p:stCondLst>
                                  <p:childTnLst>
                                    <p:animEffect transition="out" filter="dissolve">
                                      <p:cBhvr>
                                        <p:cTn id="29" dur="500"/>
                                        <p:tgtEl>
                                          <p:spTgt spid="38923"/>
                                        </p:tgtEl>
                                      </p:cBhvr>
                                    </p:animEffect>
                                    <p:set>
                                      <p:cBhvr>
                                        <p:cTn id="30" dur="1" fill="hold">
                                          <p:stCondLst>
                                            <p:cond delay="499"/>
                                          </p:stCondLst>
                                        </p:cTn>
                                        <p:tgtEl>
                                          <p:spTgt spid="38923"/>
                                        </p:tgtEl>
                                        <p:attrNameLst>
                                          <p:attrName>style.visibility</p:attrName>
                                        </p:attrNameLst>
                                      </p:cBhvr>
                                      <p:to>
                                        <p:strVal val="hidden"/>
                                      </p:to>
                                    </p:set>
                                  </p:childTnLst>
                                </p:cTn>
                              </p:par>
                              <p:par>
                                <p:cTn id="31" presetID="9" presetClass="exit" presetSubtype="0" fill="hold" grpId="0" nodeType="withEffect">
                                  <p:stCondLst>
                                    <p:cond delay="0"/>
                                  </p:stCondLst>
                                  <p:childTnLst>
                                    <p:animEffect transition="out" filter="dissolve">
                                      <p:cBhvr>
                                        <p:cTn id="32" dur="500"/>
                                        <p:tgtEl>
                                          <p:spTgt spid="38929"/>
                                        </p:tgtEl>
                                      </p:cBhvr>
                                    </p:animEffect>
                                    <p:set>
                                      <p:cBhvr>
                                        <p:cTn id="33" dur="1" fill="hold">
                                          <p:stCondLst>
                                            <p:cond delay="499"/>
                                          </p:stCondLst>
                                        </p:cTn>
                                        <p:tgtEl>
                                          <p:spTgt spid="38929"/>
                                        </p:tgtEl>
                                        <p:attrNameLst>
                                          <p:attrName>style.visibility</p:attrName>
                                        </p:attrNameLst>
                                      </p:cBhvr>
                                      <p:to>
                                        <p:strVal val="hidden"/>
                                      </p:to>
                                    </p:set>
                                  </p:childTnLst>
                                </p:cTn>
                              </p:par>
                              <p:par>
                                <p:cTn id="34" presetID="9" presetClass="exit" presetSubtype="0" fill="hold" grpId="0" nodeType="withEffect">
                                  <p:stCondLst>
                                    <p:cond delay="0"/>
                                  </p:stCondLst>
                                  <p:childTnLst>
                                    <p:animEffect transition="out" filter="dissolve">
                                      <p:cBhvr>
                                        <p:cTn id="35" dur="500"/>
                                        <p:tgtEl>
                                          <p:spTgt spid="38928"/>
                                        </p:tgtEl>
                                      </p:cBhvr>
                                    </p:animEffect>
                                    <p:set>
                                      <p:cBhvr>
                                        <p:cTn id="36" dur="1" fill="hold">
                                          <p:stCondLst>
                                            <p:cond delay="499"/>
                                          </p:stCondLst>
                                        </p:cTn>
                                        <p:tgtEl>
                                          <p:spTgt spid="38928"/>
                                        </p:tgtEl>
                                        <p:attrNameLst>
                                          <p:attrName>style.visibility</p:attrName>
                                        </p:attrNameLst>
                                      </p:cBhvr>
                                      <p:to>
                                        <p:strVal val="hidden"/>
                                      </p:to>
                                    </p:set>
                                  </p:childTnLst>
                                </p:cTn>
                              </p:par>
                              <p:par>
                                <p:cTn id="37" presetID="9" presetClass="exit" presetSubtype="0" fill="hold" grpId="0" nodeType="withEffect">
                                  <p:stCondLst>
                                    <p:cond delay="0"/>
                                  </p:stCondLst>
                                  <p:childTnLst>
                                    <p:animEffect transition="out" filter="dissolve">
                                      <p:cBhvr>
                                        <p:cTn id="38" dur="500"/>
                                        <p:tgtEl>
                                          <p:spTgt spid="38920"/>
                                        </p:tgtEl>
                                      </p:cBhvr>
                                    </p:animEffect>
                                    <p:set>
                                      <p:cBhvr>
                                        <p:cTn id="39" dur="1" fill="hold">
                                          <p:stCondLst>
                                            <p:cond delay="499"/>
                                          </p:stCondLst>
                                        </p:cTn>
                                        <p:tgtEl>
                                          <p:spTgt spid="38920"/>
                                        </p:tgtEl>
                                        <p:attrNameLst>
                                          <p:attrName>style.visibility</p:attrName>
                                        </p:attrNameLst>
                                      </p:cBhvr>
                                      <p:to>
                                        <p:strVal val="hidden"/>
                                      </p:to>
                                    </p:set>
                                  </p:childTnLst>
                                </p:cTn>
                              </p:par>
                              <p:par>
                                <p:cTn id="40" presetID="9" presetClass="exit" presetSubtype="0" fill="hold" grpId="0" nodeType="withEffect">
                                  <p:stCondLst>
                                    <p:cond delay="0"/>
                                  </p:stCondLst>
                                  <p:childTnLst>
                                    <p:animEffect transition="out" filter="dissolve">
                                      <p:cBhvr>
                                        <p:cTn id="41" dur="500"/>
                                        <p:tgtEl>
                                          <p:spTgt spid="38918"/>
                                        </p:tgtEl>
                                      </p:cBhvr>
                                    </p:animEffect>
                                    <p:set>
                                      <p:cBhvr>
                                        <p:cTn id="42" dur="1" fill="hold">
                                          <p:stCondLst>
                                            <p:cond delay="499"/>
                                          </p:stCondLst>
                                        </p:cTn>
                                        <p:tgtEl>
                                          <p:spTgt spid="38918"/>
                                        </p:tgtEl>
                                        <p:attrNameLst>
                                          <p:attrName>style.visibility</p:attrName>
                                        </p:attrNameLst>
                                      </p:cBhvr>
                                      <p:to>
                                        <p:strVal val="hidden"/>
                                      </p:to>
                                    </p:set>
                                  </p:childTnLst>
                                </p:cTn>
                              </p:par>
                              <p:par>
                                <p:cTn id="43" presetID="9" presetClass="exit" presetSubtype="0" fill="hold" grpId="0" nodeType="withEffect">
                                  <p:stCondLst>
                                    <p:cond delay="0"/>
                                  </p:stCondLst>
                                  <p:childTnLst>
                                    <p:animEffect transition="out" filter="dissolve">
                                      <p:cBhvr>
                                        <p:cTn id="44" dur="500"/>
                                        <p:tgtEl>
                                          <p:spTgt spid="38919"/>
                                        </p:tgtEl>
                                      </p:cBhvr>
                                    </p:animEffect>
                                    <p:set>
                                      <p:cBhvr>
                                        <p:cTn id="45" dur="1" fill="hold">
                                          <p:stCondLst>
                                            <p:cond delay="499"/>
                                          </p:stCondLst>
                                        </p:cTn>
                                        <p:tgtEl>
                                          <p:spTgt spid="38919"/>
                                        </p:tgtEl>
                                        <p:attrNameLst>
                                          <p:attrName>style.visibility</p:attrName>
                                        </p:attrNameLst>
                                      </p:cBhvr>
                                      <p:to>
                                        <p:strVal val="hidden"/>
                                      </p:to>
                                    </p:set>
                                  </p:childTnLst>
                                </p:cTn>
                              </p:par>
                              <p:par>
                                <p:cTn id="46" presetID="9" presetClass="exit" presetSubtype="0" fill="hold" grpId="0" nodeType="withEffect">
                                  <p:stCondLst>
                                    <p:cond delay="0"/>
                                  </p:stCondLst>
                                  <p:childTnLst>
                                    <p:animEffect transition="out" filter="dissolve">
                                      <p:cBhvr>
                                        <p:cTn id="47" dur="500"/>
                                        <p:tgtEl>
                                          <p:spTgt spid="38931"/>
                                        </p:tgtEl>
                                      </p:cBhvr>
                                    </p:animEffect>
                                    <p:set>
                                      <p:cBhvr>
                                        <p:cTn id="48" dur="1" fill="hold">
                                          <p:stCondLst>
                                            <p:cond delay="499"/>
                                          </p:stCondLst>
                                        </p:cTn>
                                        <p:tgtEl>
                                          <p:spTgt spid="38931"/>
                                        </p:tgtEl>
                                        <p:attrNameLst>
                                          <p:attrName>style.visibility</p:attrName>
                                        </p:attrNameLst>
                                      </p:cBhvr>
                                      <p:to>
                                        <p:strVal val="hidden"/>
                                      </p:to>
                                    </p:set>
                                  </p:childTnLst>
                                </p:cTn>
                              </p:par>
                              <p:par>
                                <p:cTn id="49" presetID="9" presetClass="exit" presetSubtype="0" fill="hold" grpId="0" nodeType="withEffect">
                                  <p:stCondLst>
                                    <p:cond delay="0"/>
                                  </p:stCondLst>
                                  <p:childTnLst>
                                    <p:animEffect transition="out" filter="dissolve">
                                      <p:cBhvr>
                                        <p:cTn id="50" dur="500"/>
                                        <p:tgtEl>
                                          <p:spTgt spid="38942"/>
                                        </p:tgtEl>
                                      </p:cBhvr>
                                    </p:animEffect>
                                    <p:set>
                                      <p:cBhvr>
                                        <p:cTn id="51" dur="1" fill="hold">
                                          <p:stCondLst>
                                            <p:cond delay="499"/>
                                          </p:stCondLst>
                                        </p:cTn>
                                        <p:tgtEl>
                                          <p:spTgt spid="3894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38945">
                                            <p:txEl>
                                              <p:pRg st="1" end="1"/>
                                            </p:txEl>
                                          </p:spTgt>
                                        </p:tgtEl>
                                        <p:attrNameLst>
                                          <p:attrName>style.visibility</p:attrName>
                                        </p:attrNameLst>
                                      </p:cBhvr>
                                      <p:to>
                                        <p:strVal val="visible"/>
                                      </p:to>
                                    </p:set>
                                    <p:animEffect transition="in" filter="dissolve">
                                      <p:cBhvr>
                                        <p:cTn id="56" dur="500"/>
                                        <p:tgtEl>
                                          <p:spTgt spid="38945">
                                            <p:txEl>
                                              <p:pRg st="1" end="1"/>
                                            </p:txEl>
                                          </p:spTgt>
                                        </p:tgtEl>
                                      </p:cBhvr>
                                    </p:animEffect>
                                  </p:childTnLst>
                                </p:cTn>
                              </p:par>
                            </p:childTnLst>
                          </p:cTn>
                        </p:par>
                        <p:par>
                          <p:cTn id="57" fill="hold">
                            <p:stCondLst>
                              <p:cond delay="500"/>
                            </p:stCondLst>
                            <p:childTnLst>
                              <p:par>
                                <p:cTn id="58" presetID="9" presetClass="exit" presetSubtype="0" fill="hold" grpId="0" nodeType="afterEffect">
                                  <p:stCondLst>
                                    <p:cond delay="0"/>
                                  </p:stCondLst>
                                  <p:childTnLst>
                                    <p:animEffect transition="out" filter="dissolve">
                                      <p:cBhvr>
                                        <p:cTn id="59" dur="500"/>
                                        <p:tgtEl>
                                          <p:spTgt spid="38925"/>
                                        </p:tgtEl>
                                      </p:cBhvr>
                                    </p:animEffect>
                                    <p:set>
                                      <p:cBhvr>
                                        <p:cTn id="60" dur="1" fill="hold">
                                          <p:stCondLst>
                                            <p:cond delay="499"/>
                                          </p:stCondLst>
                                        </p:cTn>
                                        <p:tgtEl>
                                          <p:spTgt spid="38925"/>
                                        </p:tgtEl>
                                        <p:attrNameLst>
                                          <p:attrName>style.visibility</p:attrName>
                                        </p:attrNameLst>
                                      </p:cBhvr>
                                      <p:to>
                                        <p:strVal val="hidden"/>
                                      </p:to>
                                    </p:set>
                                  </p:childTnLst>
                                </p:cTn>
                              </p:par>
                              <p:par>
                                <p:cTn id="61" presetID="9" presetClass="exit" presetSubtype="0" fill="hold" grpId="0" nodeType="withEffect">
                                  <p:stCondLst>
                                    <p:cond delay="0"/>
                                  </p:stCondLst>
                                  <p:childTnLst>
                                    <p:animEffect transition="out" filter="dissolve">
                                      <p:cBhvr>
                                        <p:cTn id="62" dur="500"/>
                                        <p:tgtEl>
                                          <p:spTgt spid="38937"/>
                                        </p:tgtEl>
                                      </p:cBhvr>
                                    </p:animEffect>
                                    <p:set>
                                      <p:cBhvr>
                                        <p:cTn id="63" dur="1" fill="hold">
                                          <p:stCondLst>
                                            <p:cond delay="499"/>
                                          </p:stCondLst>
                                        </p:cTn>
                                        <p:tgtEl>
                                          <p:spTgt spid="38937"/>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38945">
                                            <p:txEl>
                                              <p:pRg st="2" end="2"/>
                                            </p:txEl>
                                          </p:spTgt>
                                        </p:tgtEl>
                                        <p:attrNameLst>
                                          <p:attrName>style.visibility</p:attrName>
                                        </p:attrNameLst>
                                      </p:cBhvr>
                                      <p:to>
                                        <p:strVal val="visible"/>
                                      </p:to>
                                    </p:set>
                                    <p:animEffect transition="in" filter="dissolve">
                                      <p:cBhvr>
                                        <p:cTn id="68" dur="500"/>
                                        <p:tgtEl>
                                          <p:spTgt spid="38945">
                                            <p:txEl>
                                              <p:pRg st="2" end="2"/>
                                            </p:txEl>
                                          </p:spTgt>
                                        </p:tgtEl>
                                      </p:cBhvr>
                                    </p:animEffect>
                                  </p:childTnLst>
                                </p:cTn>
                              </p:par>
                            </p:childTnLst>
                          </p:cTn>
                        </p:par>
                        <p:par>
                          <p:cTn id="69" fill="hold">
                            <p:stCondLst>
                              <p:cond delay="500"/>
                            </p:stCondLst>
                            <p:childTnLst>
                              <p:par>
                                <p:cTn id="70" presetID="9" presetClass="exit" presetSubtype="0" fill="hold" grpId="0" nodeType="afterEffect">
                                  <p:stCondLst>
                                    <p:cond delay="0"/>
                                  </p:stCondLst>
                                  <p:childTnLst>
                                    <p:animEffect transition="out" filter="dissolve">
                                      <p:cBhvr>
                                        <p:cTn id="71" dur="500"/>
                                        <p:tgtEl>
                                          <p:spTgt spid="38941"/>
                                        </p:tgtEl>
                                      </p:cBhvr>
                                    </p:animEffect>
                                    <p:set>
                                      <p:cBhvr>
                                        <p:cTn id="72" dur="1" fill="hold">
                                          <p:stCondLst>
                                            <p:cond delay="499"/>
                                          </p:stCondLst>
                                        </p:cTn>
                                        <p:tgtEl>
                                          <p:spTgt spid="38941"/>
                                        </p:tgtEl>
                                        <p:attrNameLst>
                                          <p:attrName>style.visibility</p:attrName>
                                        </p:attrNameLst>
                                      </p:cBhvr>
                                      <p:to>
                                        <p:strVal val="hidden"/>
                                      </p:to>
                                    </p:set>
                                  </p:childTnLst>
                                </p:cTn>
                              </p:par>
                              <p:par>
                                <p:cTn id="73" presetID="9" presetClass="exit" presetSubtype="0" fill="hold" grpId="0" nodeType="withEffect">
                                  <p:stCondLst>
                                    <p:cond delay="0"/>
                                  </p:stCondLst>
                                  <p:childTnLst>
                                    <p:animEffect transition="out" filter="dissolve">
                                      <p:cBhvr>
                                        <p:cTn id="74" dur="500"/>
                                        <p:tgtEl>
                                          <p:spTgt spid="38921"/>
                                        </p:tgtEl>
                                      </p:cBhvr>
                                    </p:animEffect>
                                    <p:set>
                                      <p:cBhvr>
                                        <p:cTn id="75" dur="1" fill="hold">
                                          <p:stCondLst>
                                            <p:cond delay="499"/>
                                          </p:stCondLst>
                                        </p:cTn>
                                        <p:tgtEl>
                                          <p:spTgt spid="38921"/>
                                        </p:tgtEl>
                                        <p:attrNameLst>
                                          <p:attrName>style.visibility</p:attrName>
                                        </p:attrNameLst>
                                      </p:cBhvr>
                                      <p:to>
                                        <p:strVal val="hidden"/>
                                      </p:to>
                                    </p:set>
                                  </p:childTnLst>
                                </p:cTn>
                              </p:par>
                              <p:par>
                                <p:cTn id="76" presetID="9" presetClass="exit" presetSubtype="0" fill="hold" grpId="0" nodeType="withEffect">
                                  <p:stCondLst>
                                    <p:cond delay="0"/>
                                  </p:stCondLst>
                                  <p:childTnLst>
                                    <p:animEffect transition="out" filter="dissolve">
                                      <p:cBhvr>
                                        <p:cTn id="77" dur="500"/>
                                        <p:tgtEl>
                                          <p:spTgt spid="38940"/>
                                        </p:tgtEl>
                                      </p:cBhvr>
                                    </p:animEffect>
                                    <p:set>
                                      <p:cBhvr>
                                        <p:cTn id="78" dur="1" fill="hold">
                                          <p:stCondLst>
                                            <p:cond delay="499"/>
                                          </p:stCondLst>
                                        </p:cTn>
                                        <p:tgtEl>
                                          <p:spTgt spid="38940"/>
                                        </p:tgtEl>
                                        <p:attrNameLst>
                                          <p:attrName>style.visibility</p:attrName>
                                        </p:attrNameLst>
                                      </p:cBhvr>
                                      <p:to>
                                        <p:strVal val="hidden"/>
                                      </p:to>
                                    </p:set>
                                  </p:childTnLst>
                                </p:cTn>
                              </p:par>
                              <p:par>
                                <p:cTn id="79" presetID="9" presetClass="exit" presetSubtype="0" fill="hold" grpId="0" nodeType="withEffect">
                                  <p:stCondLst>
                                    <p:cond delay="0"/>
                                  </p:stCondLst>
                                  <p:childTnLst>
                                    <p:animEffect transition="out" filter="dissolve">
                                      <p:cBhvr>
                                        <p:cTn id="80" dur="500"/>
                                        <p:tgtEl>
                                          <p:spTgt spid="38933"/>
                                        </p:tgtEl>
                                      </p:cBhvr>
                                    </p:animEffect>
                                    <p:set>
                                      <p:cBhvr>
                                        <p:cTn id="81" dur="1" fill="hold">
                                          <p:stCondLst>
                                            <p:cond delay="499"/>
                                          </p:stCondLst>
                                        </p:cTn>
                                        <p:tgtEl>
                                          <p:spTgt spid="38933"/>
                                        </p:tgtEl>
                                        <p:attrNameLst>
                                          <p:attrName>style.visibility</p:attrName>
                                        </p:attrNameLst>
                                      </p:cBhvr>
                                      <p:to>
                                        <p:strVal val="hidden"/>
                                      </p:to>
                                    </p:set>
                                  </p:childTnLst>
                                </p:cTn>
                              </p:par>
                              <p:par>
                                <p:cTn id="82" presetID="9" presetClass="exit" presetSubtype="0" fill="hold" grpId="0" nodeType="withEffect">
                                  <p:stCondLst>
                                    <p:cond delay="0"/>
                                  </p:stCondLst>
                                  <p:childTnLst>
                                    <p:animEffect transition="out" filter="dissolve">
                                      <p:cBhvr>
                                        <p:cTn id="83" dur="500"/>
                                        <p:tgtEl>
                                          <p:spTgt spid="38924"/>
                                        </p:tgtEl>
                                      </p:cBhvr>
                                    </p:animEffect>
                                    <p:set>
                                      <p:cBhvr>
                                        <p:cTn id="84" dur="1" fill="hold">
                                          <p:stCondLst>
                                            <p:cond delay="499"/>
                                          </p:stCondLst>
                                        </p:cTn>
                                        <p:tgtEl>
                                          <p:spTgt spid="38924"/>
                                        </p:tgtEl>
                                        <p:attrNameLst>
                                          <p:attrName>style.visibility</p:attrName>
                                        </p:attrNameLst>
                                      </p:cBhvr>
                                      <p:to>
                                        <p:strVal val="hidden"/>
                                      </p:to>
                                    </p:set>
                                  </p:childTnLst>
                                </p:cTn>
                              </p:par>
                              <p:par>
                                <p:cTn id="85" presetID="9" presetClass="exit" presetSubtype="0" fill="hold" grpId="0" nodeType="withEffect">
                                  <p:stCondLst>
                                    <p:cond delay="0"/>
                                  </p:stCondLst>
                                  <p:childTnLst>
                                    <p:animEffect transition="out" filter="dissolve">
                                      <p:cBhvr>
                                        <p:cTn id="86" dur="500"/>
                                        <p:tgtEl>
                                          <p:spTgt spid="38934"/>
                                        </p:tgtEl>
                                      </p:cBhvr>
                                    </p:animEffect>
                                    <p:set>
                                      <p:cBhvr>
                                        <p:cTn id="87" dur="1" fill="hold">
                                          <p:stCondLst>
                                            <p:cond delay="499"/>
                                          </p:stCondLst>
                                        </p:cTn>
                                        <p:tgtEl>
                                          <p:spTgt spid="38934"/>
                                        </p:tgtEl>
                                        <p:attrNameLst>
                                          <p:attrName>style.visibility</p:attrName>
                                        </p:attrNameLst>
                                      </p:cBhvr>
                                      <p:to>
                                        <p:strVal val="hidden"/>
                                      </p:to>
                                    </p:set>
                                  </p:childTnLst>
                                </p:cTn>
                              </p:par>
                              <p:par>
                                <p:cTn id="88" presetID="9" presetClass="exit" presetSubtype="0" fill="hold" grpId="0" nodeType="withEffect">
                                  <p:stCondLst>
                                    <p:cond delay="0"/>
                                  </p:stCondLst>
                                  <p:childTnLst>
                                    <p:animEffect transition="out" filter="dissolve">
                                      <p:cBhvr>
                                        <p:cTn id="89" dur="500"/>
                                        <p:tgtEl>
                                          <p:spTgt spid="38935"/>
                                        </p:tgtEl>
                                      </p:cBhvr>
                                    </p:animEffect>
                                    <p:set>
                                      <p:cBhvr>
                                        <p:cTn id="90" dur="1" fill="hold">
                                          <p:stCondLst>
                                            <p:cond delay="499"/>
                                          </p:stCondLst>
                                        </p:cTn>
                                        <p:tgtEl>
                                          <p:spTgt spid="38935"/>
                                        </p:tgtEl>
                                        <p:attrNameLst>
                                          <p:attrName>style.visibility</p:attrName>
                                        </p:attrNameLst>
                                      </p:cBhvr>
                                      <p:to>
                                        <p:strVal val="hidden"/>
                                      </p:to>
                                    </p:set>
                                  </p:childTnLst>
                                </p:cTn>
                              </p:par>
                              <p:par>
                                <p:cTn id="91" presetID="9" presetClass="exit" presetSubtype="0" fill="hold" grpId="0" nodeType="withEffect">
                                  <p:stCondLst>
                                    <p:cond delay="0"/>
                                  </p:stCondLst>
                                  <p:childTnLst>
                                    <p:animEffect transition="out" filter="dissolve">
                                      <p:cBhvr>
                                        <p:cTn id="92" dur="500"/>
                                        <p:tgtEl>
                                          <p:spTgt spid="38927"/>
                                        </p:tgtEl>
                                      </p:cBhvr>
                                    </p:animEffect>
                                    <p:set>
                                      <p:cBhvr>
                                        <p:cTn id="93" dur="1" fill="hold">
                                          <p:stCondLst>
                                            <p:cond delay="499"/>
                                          </p:stCondLst>
                                        </p:cTn>
                                        <p:tgtEl>
                                          <p:spTgt spid="38927"/>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38945">
                                            <p:txEl>
                                              <p:pRg st="3" end="3"/>
                                            </p:txEl>
                                          </p:spTgt>
                                        </p:tgtEl>
                                        <p:attrNameLst>
                                          <p:attrName>style.visibility</p:attrName>
                                        </p:attrNameLst>
                                      </p:cBhvr>
                                      <p:to>
                                        <p:strVal val="visible"/>
                                      </p:to>
                                    </p:set>
                                    <p:animEffect transition="in" filter="dissolve">
                                      <p:cBhvr>
                                        <p:cTn id="98" dur="500"/>
                                        <p:tgtEl>
                                          <p:spTgt spid="38945">
                                            <p:txEl>
                                              <p:pRg st="3" end="3"/>
                                            </p:txEl>
                                          </p:spTgt>
                                        </p:tgtEl>
                                      </p:cBhvr>
                                    </p:animEffect>
                                  </p:childTnLst>
                                </p:cTn>
                              </p:par>
                            </p:childTnLst>
                          </p:cTn>
                        </p:par>
                        <p:par>
                          <p:cTn id="99" fill="hold">
                            <p:stCondLst>
                              <p:cond delay="500"/>
                            </p:stCondLst>
                            <p:childTnLst>
                              <p:par>
                                <p:cTn id="100" presetID="9" presetClass="exit" presetSubtype="0" fill="hold" grpId="0" nodeType="afterEffect">
                                  <p:stCondLst>
                                    <p:cond delay="0"/>
                                  </p:stCondLst>
                                  <p:childTnLst>
                                    <p:animEffect transition="out" filter="dissolve">
                                      <p:cBhvr>
                                        <p:cTn id="101" dur="500"/>
                                        <p:tgtEl>
                                          <p:spTgt spid="38926"/>
                                        </p:tgtEl>
                                      </p:cBhvr>
                                    </p:animEffect>
                                    <p:set>
                                      <p:cBhvr>
                                        <p:cTn id="102" dur="1" fill="hold">
                                          <p:stCondLst>
                                            <p:cond delay="499"/>
                                          </p:stCondLst>
                                        </p:cTn>
                                        <p:tgtEl>
                                          <p:spTgt spid="38926"/>
                                        </p:tgtEl>
                                        <p:attrNameLst>
                                          <p:attrName>style.visibility</p:attrName>
                                        </p:attrNameLst>
                                      </p:cBhvr>
                                      <p:to>
                                        <p:strVal val="hidden"/>
                                      </p:to>
                                    </p:set>
                                  </p:childTnLst>
                                </p:cTn>
                              </p:par>
                              <p:par>
                                <p:cTn id="103" presetID="9" presetClass="exit" presetSubtype="0" fill="hold" grpId="0" nodeType="withEffect">
                                  <p:stCondLst>
                                    <p:cond delay="0"/>
                                  </p:stCondLst>
                                  <p:childTnLst>
                                    <p:animEffect transition="out" filter="dissolve">
                                      <p:cBhvr>
                                        <p:cTn id="104" dur="500"/>
                                        <p:tgtEl>
                                          <p:spTgt spid="38932"/>
                                        </p:tgtEl>
                                      </p:cBhvr>
                                    </p:animEffect>
                                    <p:set>
                                      <p:cBhvr>
                                        <p:cTn id="105" dur="1" fill="hold">
                                          <p:stCondLst>
                                            <p:cond delay="499"/>
                                          </p:stCondLst>
                                        </p:cTn>
                                        <p:tgtEl>
                                          <p:spTgt spid="38932"/>
                                        </p:tgtEl>
                                        <p:attrNameLst>
                                          <p:attrName>style.visibility</p:attrName>
                                        </p:attrNameLst>
                                      </p:cBhvr>
                                      <p:to>
                                        <p:strVal val="hidden"/>
                                      </p:to>
                                    </p:set>
                                  </p:childTnLst>
                                </p:cTn>
                              </p:par>
                              <p:par>
                                <p:cTn id="106" presetID="9" presetClass="exit" presetSubtype="0" fill="hold" grpId="0" nodeType="withEffect">
                                  <p:stCondLst>
                                    <p:cond delay="0"/>
                                  </p:stCondLst>
                                  <p:childTnLst>
                                    <p:animEffect transition="out" filter="dissolve">
                                      <p:cBhvr>
                                        <p:cTn id="107" dur="500"/>
                                        <p:tgtEl>
                                          <p:spTgt spid="38936"/>
                                        </p:tgtEl>
                                      </p:cBhvr>
                                    </p:animEffect>
                                    <p:set>
                                      <p:cBhvr>
                                        <p:cTn id="108" dur="1" fill="hold">
                                          <p:stCondLst>
                                            <p:cond delay="499"/>
                                          </p:stCondLst>
                                        </p:cTn>
                                        <p:tgtEl>
                                          <p:spTgt spid="38936"/>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6" presetClass="emph" presetSubtype="0" fill="hold" grpId="0" nodeType="clickEffect">
                                  <p:stCondLst>
                                    <p:cond delay="0"/>
                                  </p:stCondLst>
                                  <p:childTnLst>
                                    <p:animScale>
                                      <p:cBhvr>
                                        <p:cTn id="112" dur="2000" fill="hold"/>
                                        <p:tgtEl>
                                          <p:spTgt spid="38917"/>
                                        </p:tgtEl>
                                      </p:cBhvr>
                                      <p:by x="150000" y="150000"/>
                                    </p:animScale>
                                  </p:childTnLst>
                                </p:cTn>
                              </p:par>
                            </p:childTnLst>
                          </p:cTn>
                        </p:par>
                        <p:par>
                          <p:cTn id="113" fill="hold">
                            <p:stCondLst>
                              <p:cond delay="2000"/>
                            </p:stCondLst>
                            <p:childTnLst>
                              <p:par>
                                <p:cTn id="114" presetID="23" presetClass="emph" presetSubtype="0" fill="hold" grpId="1" nodeType="afterEffect">
                                  <p:stCondLst>
                                    <p:cond delay="0"/>
                                  </p:stCondLst>
                                  <p:childTnLst>
                                    <p:animClr clrSpc="hsl" dir="cw">
                                      <p:cBhvr override="childStyle">
                                        <p:cTn id="115" dur="500" fill="hold"/>
                                        <p:tgtEl>
                                          <p:spTgt spid="38917"/>
                                        </p:tgtEl>
                                        <p:attrNameLst>
                                          <p:attrName>style.color</p:attrName>
                                        </p:attrNameLst>
                                      </p:cBhvr>
                                      <p:by>
                                        <p:hsl h="10842353" s="0" l="0"/>
                                      </p:by>
                                    </p:animClr>
                                    <p:animClr clrSpc="hsl" dir="cw">
                                      <p:cBhvr>
                                        <p:cTn id="116" dur="500" fill="hold"/>
                                        <p:tgtEl>
                                          <p:spTgt spid="38917"/>
                                        </p:tgtEl>
                                        <p:attrNameLst>
                                          <p:attrName>fillcolor</p:attrName>
                                        </p:attrNameLst>
                                      </p:cBhvr>
                                      <p:by>
                                        <p:hsl h="10842353" s="0" l="0"/>
                                      </p:by>
                                    </p:animClr>
                                    <p:animClr clrSpc="hsl" dir="cw">
                                      <p:cBhvr>
                                        <p:cTn id="117" dur="500" fill="hold"/>
                                        <p:tgtEl>
                                          <p:spTgt spid="38917"/>
                                        </p:tgtEl>
                                        <p:attrNameLst>
                                          <p:attrName>stroke.color</p:attrName>
                                        </p:attrNameLst>
                                      </p:cBhvr>
                                      <p:by>
                                        <p:hsl h="10842353" s="0" l="0"/>
                                      </p:by>
                                    </p:animClr>
                                    <p:set>
                                      <p:cBhvr>
                                        <p:cTn id="118" dur="500" fill="hold"/>
                                        <p:tgtEl>
                                          <p:spTgt spid="38917"/>
                                        </p:tgtEl>
                                        <p:attrNameLst>
                                          <p:attrName>fill.type</p:attrName>
                                        </p:attrNameLst>
                                      </p:cBhvr>
                                      <p:to>
                                        <p:strVal val="solid"/>
                                      </p:to>
                                    </p:set>
                                  </p:childTnLst>
                                </p:cTn>
                              </p:par>
                              <p:par>
                                <p:cTn id="119" presetID="23" presetClass="emph" presetSubtype="0" fill="hold" nodeType="withEffect">
                                  <p:stCondLst>
                                    <p:cond delay="0"/>
                                  </p:stCondLst>
                                  <p:childTnLst>
                                    <p:animClr clrSpc="hsl" dir="cw">
                                      <p:cBhvr override="childStyle">
                                        <p:cTn id="120" dur="500" fill="hold"/>
                                        <p:tgtEl>
                                          <p:spTgt spid="38938">
                                            <p:txEl>
                                              <p:pRg st="0" end="0"/>
                                            </p:txEl>
                                          </p:spTgt>
                                        </p:tgtEl>
                                        <p:attrNameLst>
                                          <p:attrName>style.color</p:attrName>
                                        </p:attrNameLst>
                                      </p:cBhvr>
                                      <p:by>
                                        <p:hsl h="10842353" s="0" l="0"/>
                                      </p:by>
                                    </p:animClr>
                                    <p:animClr clrSpc="hsl" dir="cw">
                                      <p:cBhvr>
                                        <p:cTn id="121" dur="500" fill="hold"/>
                                        <p:tgtEl>
                                          <p:spTgt spid="38938">
                                            <p:txEl>
                                              <p:pRg st="0" end="0"/>
                                            </p:txEl>
                                          </p:spTgt>
                                        </p:tgtEl>
                                        <p:attrNameLst>
                                          <p:attrName>fillcolor</p:attrName>
                                        </p:attrNameLst>
                                      </p:cBhvr>
                                      <p:by>
                                        <p:hsl h="10842353" s="0" l="0"/>
                                      </p:by>
                                    </p:animClr>
                                    <p:animClr clrSpc="hsl" dir="cw">
                                      <p:cBhvr>
                                        <p:cTn id="122" dur="500" fill="hold"/>
                                        <p:tgtEl>
                                          <p:spTgt spid="38938">
                                            <p:txEl>
                                              <p:pRg st="0" end="0"/>
                                            </p:txEl>
                                          </p:spTgt>
                                        </p:tgtEl>
                                        <p:attrNameLst>
                                          <p:attrName>stroke.color</p:attrName>
                                        </p:attrNameLst>
                                      </p:cBhvr>
                                      <p:by>
                                        <p:hsl h="10842353" s="0" l="0"/>
                                      </p:by>
                                    </p:animClr>
                                    <p:set>
                                      <p:cBhvr>
                                        <p:cTn id="123" dur="500" fill="hold"/>
                                        <p:tgtEl>
                                          <p:spTgt spid="38938">
                                            <p:txEl>
                                              <p:pRg st="0" end="0"/>
                                            </p:txEl>
                                          </p:spTgt>
                                        </p:tgtEl>
                                        <p:attrNameLst>
                                          <p:attrName>fill.type</p:attrName>
                                        </p:attrNameLst>
                                      </p:cBhvr>
                                      <p:to>
                                        <p:strVal val="solid"/>
                                      </p:to>
                                    </p:set>
                                  </p:childTnLst>
                                </p:cTn>
                              </p:par>
                            </p:childTnLst>
                          </p:cTn>
                        </p:par>
                        <p:par>
                          <p:cTn id="124" fill="hold">
                            <p:stCondLst>
                              <p:cond delay="2500"/>
                            </p:stCondLst>
                            <p:childTnLst>
                              <p:par>
                                <p:cTn id="125" presetID="6" presetClass="emph" presetSubtype="0" fill="hold" nodeType="afterEffect">
                                  <p:stCondLst>
                                    <p:cond delay="0"/>
                                  </p:stCondLst>
                                  <p:childTnLst>
                                    <p:animScale>
                                      <p:cBhvr>
                                        <p:cTn id="126" dur="2000" fill="hold"/>
                                        <p:tgtEl>
                                          <p:spTgt spid="38938">
                                            <p:txEl>
                                              <p:pRg st="0" end="0"/>
                                            </p:txEl>
                                          </p:spTgt>
                                        </p:tgtEl>
                                      </p:cBhvr>
                                      <p:by x="150000" y="150000"/>
                                    </p:animScale>
                                  </p:childTnLst>
                                </p:cTn>
                              </p:par>
                            </p:childTnLst>
                          </p:cTn>
                        </p:par>
                      </p:childTnLst>
                    </p:cTn>
                  </p:par>
                  <p:par>
                    <p:cTn id="127" fill="hold">
                      <p:stCondLst>
                        <p:cond delay="indefinite"/>
                      </p:stCondLst>
                      <p:childTnLst>
                        <p:par>
                          <p:cTn id="128" fill="hold">
                            <p:stCondLst>
                              <p:cond delay="0"/>
                            </p:stCondLst>
                            <p:childTnLst>
                              <p:par>
                                <p:cTn id="129" presetID="9" presetClass="exit" presetSubtype="0" fill="hold" grpId="0" nodeType="clickEffect">
                                  <p:stCondLst>
                                    <p:cond delay="0"/>
                                  </p:stCondLst>
                                  <p:childTnLst>
                                    <p:animEffect transition="out" filter="dissolve">
                                      <p:cBhvr>
                                        <p:cTn id="130" dur="500"/>
                                        <p:tgtEl>
                                          <p:spTgt spid="38939"/>
                                        </p:tgtEl>
                                      </p:cBhvr>
                                    </p:animEffect>
                                    <p:set>
                                      <p:cBhvr>
                                        <p:cTn id="131" dur="1" fill="hold">
                                          <p:stCondLst>
                                            <p:cond delay="499"/>
                                          </p:stCondLst>
                                        </p:cTn>
                                        <p:tgtEl>
                                          <p:spTgt spid="38939"/>
                                        </p:tgtEl>
                                        <p:attrNameLst>
                                          <p:attrName>style.visibility</p:attrName>
                                        </p:attrNameLst>
                                      </p:cBhvr>
                                      <p:to>
                                        <p:strVal val="hidden"/>
                                      </p:to>
                                    </p:set>
                                  </p:childTnLst>
                                </p:cTn>
                              </p:par>
                            </p:childTnLst>
                          </p:cTn>
                        </p:par>
                        <p:par>
                          <p:cTn id="132" fill="hold">
                            <p:stCondLst>
                              <p:cond delay="500"/>
                            </p:stCondLst>
                            <p:childTnLst>
                              <p:par>
                                <p:cTn id="133" presetID="53" presetClass="exit" presetSubtype="0" fill="hold" grpId="1" nodeType="afterEffect">
                                  <p:stCondLst>
                                    <p:cond delay="0"/>
                                  </p:stCondLst>
                                  <p:childTnLst>
                                    <p:anim calcmode="lin" valueType="num">
                                      <p:cBhvr>
                                        <p:cTn id="134" dur="500"/>
                                        <p:tgtEl>
                                          <p:spTgt spid="38943"/>
                                        </p:tgtEl>
                                        <p:attrNameLst>
                                          <p:attrName>ppt_w</p:attrName>
                                        </p:attrNameLst>
                                      </p:cBhvr>
                                      <p:tavLst>
                                        <p:tav tm="0">
                                          <p:val>
                                            <p:strVal val="ppt_w"/>
                                          </p:val>
                                        </p:tav>
                                        <p:tav tm="100000">
                                          <p:val>
                                            <p:fltVal val="0"/>
                                          </p:val>
                                        </p:tav>
                                      </p:tavLst>
                                    </p:anim>
                                    <p:anim calcmode="lin" valueType="num">
                                      <p:cBhvr>
                                        <p:cTn id="135" dur="500"/>
                                        <p:tgtEl>
                                          <p:spTgt spid="38943"/>
                                        </p:tgtEl>
                                        <p:attrNameLst>
                                          <p:attrName>ppt_h</p:attrName>
                                        </p:attrNameLst>
                                      </p:cBhvr>
                                      <p:tavLst>
                                        <p:tav tm="0">
                                          <p:val>
                                            <p:strVal val="ppt_h"/>
                                          </p:val>
                                        </p:tav>
                                        <p:tav tm="100000">
                                          <p:val>
                                            <p:fltVal val="0"/>
                                          </p:val>
                                        </p:tav>
                                      </p:tavLst>
                                    </p:anim>
                                    <p:animEffect transition="out" filter="fade">
                                      <p:cBhvr>
                                        <p:cTn id="136" dur="500"/>
                                        <p:tgtEl>
                                          <p:spTgt spid="38943"/>
                                        </p:tgtEl>
                                      </p:cBhvr>
                                    </p:animEffect>
                                    <p:set>
                                      <p:cBhvr>
                                        <p:cTn id="137" dur="1" fill="hold">
                                          <p:stCondLst>
                                            <p:cond delay="499"/>
                                          </p:stCondLst>
                                        </p:cTn>
                                        <p:tgtEl>
                                          <p:spTgt spid="38943"/>
                                        </p:tgtEl>
                                        <p:attrNameLst>
                                          <p:attrName>style.visibility</p:attrName>
                                        </p:attrNameLst>
                                      </p:cBhvr>
                                      <p:to>
                                        <p:strVal val="hidden"/>
                                      </p:to>
                                    </p:set>
                                  </p:childTnLst>
                                </p:cTn>
                              </p:par>
                              <p:par>
                                <p:cTn id="138" presetID="9" presetClass="exit" presetSubtype="0" fill="hold" grpId="0" nodeType="withEffect">
                                  <p:stCondLst>
                                    <p:cond delay="0"/>
                                  </p:stCondLst>
                                  <p:childTnLst>
                                    <p:animEffect transition="out" filter="dissolve">
                                      <p:cBhvr>
                                        <p:cTn id="139" dur="500"/>
                                        <p:tgtEl>
                                          <p:spTgt spid="38938">
                                            <p:txEl>
                                              <p:pRg st="0" end="0"/>
                                            </p:txEl>
                                          </p:spTgt>
                                        </p:tgtEl>
                                      </p:cBhvr>
                                    </p:animEffect>
                                    <p:set>
                                      <p:cBhvr>
                                        <p:cTn id="140" dur="1" fill="hold">
                                          <p:stCondLst>
                                            <p:cond delay="499"/>
                                          </p:stCondLst>
                                        </p:cTn>
                                        <p:tgtEl>
                                          <p:spTgt spid="38938">
                                            <p:txEl>
                                              <p:pRg st="0" end="0"/>
                                            </p:txEl>
                                          </p:spTgt>
                                        </p:tgtEl>
                                        <p:attrNameLst>
                                          <p:attrName>style.visibility</p:attrName>
                                        </p:attrNameLst>
                                      </p:cBhvr>
                                      <p:to>
                                        <p:strVal val="hidden"/>
                                      </p:to>
                                    </p:set>
                                  </p:childTnLst>
                                </p:cTn>
                              </p:par>
                              <p:par>
                                <p:cTn id="141" presetID="9" presetClass="exit" presetSubtype="0" fill="hold" grpId="2" nodeType="withEffect">
                                  <p:stCondLst>
                                    <p:cond delay="0"/>
                                  </p:stCondLst>
                                  <p:childTnLst>
                                    <p:animEffect transition="out" filter="dissolve">
                                      <p:cBhvr>
                                        <p:cTn id="142" dur="500"/>
                                        <p:tgtEl>
                                          <p:spTgt spid="38917"/>
                                        </p:tgtEl>
                                      </p:cBhvr>
                                    </p:animEffect>
                                    <p:set>
                                      <p:cBhvr>
                                        <p:cTn id="143" dur="1" fill="hold">
                                          <p:stCondLst>
                                            <p:cond delay="499"/>
                                          </p:stCondLst>
                                        </p:cTn>
                                        <p:tgtEl>
                                          <p:spTgt spid="38917"/>
                                        </p:tgtEl>
                                        <p:attrNameLst>
                                          <p:attrName>style.visibility</p:attrName>
                                        </p:attrNameLst>
                                      </p:cBhvr>
                                      <p:to>
                                        <p:strVal val="hidden"/>
                                      </p:to>
                                    </p:set>
                                  </p:childTnLst>
                                </p:cTn>
                              </p:par>
                            </p:childTnLst>
                          </p:cTn>
                        </p:par>
                        <p:par>
                          <p:cTn id="144" fill="hold">
                            <p:stCondLst>
                              <p:cond delay="1000"/>
                            </p:stCondLst>
                            <p:childTnLst>
                              <p:par>
                                <p:cTn id="145" presetID="9" presetClass="exit" presetSubtype="0" fill="hold" nodeType="afterEffect">
                                  <p:stCondLst>
                                    <p:cond delay="0"/>
                                  </p:stCondLst>
                                  <p:childTnLst>
                                    <p:animEffect transition="out" filter="dissolve">
                                      <p:cBhvr>
                                        <p:cTn id="146" dur="500"/>
                                        <p:tgtEl>
                                          <p:spTgt spid="38945">
                                            <p:txEl>
                                              <p:pRg st="0" end="0"/>
                                            </p:txEl>
                                          </p:spTgt>
                                        </p:tgtEl>
                                      </p:cBhvr>
                                    </p:animEffect>
                                    <p:set>
                                      <p:cBhvr>
                                        <p:cTn id="147" dur="1" fill="hold">
                                          <p:stCondLst>
                                            <p:cond delay="499"/>
                                          </p:stCondLst>
                                        </p:cTn>
                                        <p:tgtEl>
                                          <p:spTgt spid="38945">
                                            <p:txEl>
                                              <p:pRg st="0" end="0"/>
                                            </p:txEl>
                                          </p:spTgt>
                                        </p:tgtEl>
                                        <p:attrNameLst>
                                          <p:attrName>style.visibility</p:attrName>
                                        </p:attrNameLst>
                                      </p:cBhvr>
                                      <p:to>
                                        <p:strVal val="hidden"/>
                                      </p:to>
                                    </p:set>
                                  </p:childTnLst>
                                </p:cTn>
                              </p:par>
                            </p:childTnLst>
                          </p:cTn>
                        </p:par>
                        <p:par>
                          <p:cTn id="148" fill="hold">
                            <p:stCondLst>
                              <p:cond delay="1500"/>
                            </p:stCondLst>
                            <p:childTnLst>
                              <p:par>
                                <p:cTn id="149" presetID="9" presetClass="exit" presetSubtype="0" fill="hold" nodeType="afterEffect">
                                  <p:stCondLst>
                                    <p:cond delay="0"/>
                                  </p:stCondLst>
                                  <p:childTnLst>
                                    <p:animEffect transition="out" filter="dissolve">
                                      <p:cBhvr>
                                        <p:cTn id="150" dur="500"/>
                                        <p:tgtEl>
                                          <p:spTgt spid="38945">
                                            <p:txEl>
                                              <p:pRg st="1" end="1"/>
                                            </p:txEl>
                                          </p:spTgt>
                                        </p:tgtEl>
                                      </p:cBhvr>
                                    </p:animEffect>
                                    <p:set>
                                      <p:cBhvr>
                                        <p:cTn id="151" dur="1" fill="hold">
                                          <p:stCondLst>
                                            <p:cond delay="499"/>
                                          </p:stCondLst>
                                        </p:cTn>
                                        <p:tgtEl>
                                          <p:spTgt spid="38945">
                                            <p:txEl>
                                              <p:pRg st="1" end="1"/>
                                            </p:txEl>
                                          </p:spTgt>
                                        </p:tgtEl>
                                        <p:attrNameLst>
                                          <p:attrName>style.visibility</p:attrName>
                                        </p:attrNameLst>
                                      </p:cBhvr>
                                      <p:to>
                                        <p:strVal val="hidden"/>
                                      </p:to>
                                    </p:set>
                                  </p:childTnLst>
                                </p:cTn>
                              </p:par>
                            </p:childTnLst>
                          </p:cTn>
                        </p:par>
                        <p:par>
                          <p:cTn id="152" fill="hold">
                            <p:stCondLst>
                              <p:cond delay="2000"/>
                            </p:stCondLst>
                            <p:childTnLst>
                              <p:par>
                                <p:cTn id="153" presetID="9" presetClass="exit" presetSubtype="0" fill="hold" nodeType="afterEffect">
                                  <p:stCondLst>
                                    <p:cond delay="0"/>
                                  </p:stCondLst>
                                  <p:childTnLst>
                                    <p:animEffect transition="out" filter="dissolve">
                                      <p:cBhvr>
                                        <p:cTn id="154" dur="500"/>
                                        <p:tgtEl>
                                          <p:spTgt spid="38945">
                                            <p:txEl>
                                              <p:pRg st="2" end="2"/>
                                            </p:txEl>
                                          </p:spTgt>
                                        </p:tgtEl>
                                      </p:cBhvr>
                                    </p:animEffect>
                                    <p:set>
                                      <p:cBhvr>
                                        <p:cTn id="155" dur="1" fill="hold">
                                          <p:stCondLst>
                                            <p:cond delay="499"/>
                                          </p:stCondLst>
                                        </p:cTn>
                                        <p:tgtEl>
                                          <p:spTgt spid="38945">
                                            <p:txEl>
                                              <p:pRg st="2" end="2"/>
                                            </p:txEl>
                                          </p:spTgt>
                                        </p:tgtEl>
                                        <p:attrNameLst>
                                          <p:attrName>style.visibility</p:attrName>
                                        </p:attrNameLst>
                                      </p:cBhvr>
                                      <p:to>
                                        <p:strVal val="hidden"/>
                                      </p:to>
                                    </p:set>
                                  </p:childTnLst>
                                </p:cTn>
                              </p:par>
                            </p:childTnLst>
                          </p:cTn>
                        </p:par>
                        <p:par>
                          <p:cTn id="156" fill="hold">
                            <p:stCondLst>
                              <p:cond delay="2500"/>
                            </p:stCondLst>
                            <p:childTnLst>
                              <p:par>
                                <p:cTn id="157" presetID="9" presetClass="exit" presetSubtype="0" fill="hold" nodeType="afterEffect">
                                  <p:stCondLst>
                                    <p:cond delay="0"/>
                                  </p:stCondLst>
                                  <p:childTnLst>
                                    <p:animEffect transition="out" filter="dissolve">
                                      <p:cBhvr>
                                        <p:cTn id="158" dur="500"/>
                                        <p:tgtEl>
                                          <p:spTgt spid="38945">
                                            <p:txEl>
                                              <p:pRg st="3" end="3"/>
                                            </p:txEl>
                                          </p:spTgt>
                                        </p:tgtEl>
                                      </p:cBhvr>
                                    </p:animEffect>
                                    <p:set>
                                      <p:cBhvr>
                                        <p:cTn id="159" dur="1" fill="hold">
                                          <p:stCondLst>
                                            <p:cond delay="499"/>
                                          </p:stCondLst>
                                        </p:cTn>
                                        <p:tgtEl>
                                          <p:spTgt spid="38945">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P spid="38917" grpId="1" animBg="1"/>
      <p:bldP spid="38917" grpId="2" animBg="1"/>
      <p:bldP spid="38918" grpId="0" animBg="1"/>
      <p:bldP spid="38919" grpId="0" animBg="1"/>
      <p:bldP spid="38920" grpId="0" animBg="1"/>
      <p:bldP spid="38921" grpId="0" animBg="1"/>
      <p:bldP spid="38922" grpId="0" animBg="1"/>
      <p:bldP spid="38923" grpId="0" animBg="1"/>
      <p:bldP spid="38924" grpId="0"/>
      <p:bldP spid="38925" grpId="0"/>
      <p:bldP spid="38926" grpId="0"/>
      <p:bldP spid="38927" grpId="0"/>
      <p:bldP spid="38928" grpId="0"/>
      <p:bldP spid="38929" grpId="0"/>
      <p:bldP spid="38930" grpId="0"/>
      <p:bldP spid="38931" grpId="0"/>
      <p:bldP spid="38932" grpId="0" animBg="1"/>
      <p:bldP spid="38933" grpId="0" animBg="1"/>
      <p:bldP spid="38934" grpId="0" animBg="1"/>
      <p:bldP spid="38935" grpId="0" animBg="1"/>
      <p:bldP spid="38936" grpId="0"/>
      <p:bldP spid="38937" grpId="0" animBg="1"/>
      <p:bldP spid="38938" grpId="0" build="allAtOnce"/>
      <p:bldP spid="38939" grpId="0"/>
      <p:bldP spid="38940" grpId="0"/>
      <p:bldP spid="38941" grpId="0"/>
      <p:bldP spid="38942" grpId="0"/>
      <p:bldP spid="38943" grpId="0" animBg="1"/>
      <p:bldP spid="38943" grpId="1" animBg="1"/>
      <p:bldP spid="3894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p:cNvSpPr>
            <a:spLocks noGrp="1"/>
          </p:cNvSpPr>
          <p:nvPr>
            <p:ph type="sldNum" sz="quarter" idx="10"/>
          </p:nvPr>
        </p:nvSpPr>
        <p:spPr/>
        <p:txBody>
          <a:bodyPr/>
          <a:lstStyle/>
          <a:p>
            <a:fld id="{A07F46A8-262A-4846-A6A9-4229759E0DA2}" type="slidenum">
              <a:rPr lang="en-AU"/>
              <a:pPr/>
              <a:t>19</a:t>
            </a:fld>
            <a:endParaRPr lang="en-AU"/>
          </a:p>
        </p:txBody>
      </p:sp>
      <p:pic>
        <p:nvPicPr>
          <p:cNvPr id="43010" name="Picture 2" descr="brisbane with labels"/>
          <p:cNvPicPr>
            <a:picLocks noChangeAspect="1" noChangeArrowheads="1"/>
          </p:cNvPicPr>
          <p:nvPr/>
        </p:nvPicPr>
        <p:blipFill>
          <a:blip r:embed="rId2"/>
          <a:srcRect/>
          <a:stretch>
            <a:fillRect/>
          </a:stretch>
        </p:blipFill>
        <p:spPr bwMode="auto">
          <a:xfrm>
            <a:off x="-323850" y="-725488"/>
            <a:ext cx="11376025" cy="8043863"/>
          </a:xfrm>
          <a:prstGeom prst="rect">
            <a:avLst/>
          </a:prstGeom>
          <a:noFill/>
        </p:spPr>
      </p:pic>
      <p:pic>
        <p:nvPicPr>
          <p:cNvPr id="43011" name="Picture 3"/>
          <p:cNvPicPr>
            <a:picLocks noChangeAspect="1" noChangeArrowheads="1"/>
          </p:cNvPicPr>
          <p:nvPr/>
        </p:nvPicPr>
        <p:blipFill>
          <a:blip r:embed="rId3"/>
          <a:srcRect/>
          <a:stretch>
            <a:fillRect/>
          </a:stretch>
        </p:blipFill>
        <p:spPr bwMode="auto">
          <a:xfrm>
            <a:off x="6877050" y="260350"/>
            <a:ext cx="1160463" cy="2087563"/>
          </a:xfrm>
          <a:prstGeom prst="rect">
            <a:avLst/>
          </a:prstGeom>
          <a:noFill/>
        </p:spPr>
      </p:pic>
      <p:sp>
        <p:nvSpPr>
          <p:cNvPr id="43012" name="Rectangle 4"/>
          <p:cNvSpPr>
            <a:spLocks noChangeArrowheads="1"/>
          </p:cNvSpPr>
          <p:nvPr/>
        </p:nvSpPr>
        <p:spPr bwMode="auto">
          <a:xfrm>
            <a:off x="0" y="0"/>
            <a:ext cx="2665413" cy="1655763"/>
          </a:xfrm>
          <a:prstGeom prst="rect">
            <a:avLst/>
          </a:prstGeom>
          <a:noFill/>
          <a:ln w="9525">
            <a:noFill/>
            <a:miter lim="800000"/>
            <a:headEnd/>
            <a:tailEnd/>
          </a:ln>
          <a:effectLst/>
        </p:spPr>
        <p:txBody>
          <a:bodyPr anchor="ctr"/>
          <a:lstStyle/>
          <a:p>
            <a:pPr algn="ctr"/>
            <a:r>
              <a:rPr lang="en-AU" sz="2800">
                <a:effectLst>
                  <a:outerShdw blurRad="38100" dist="38100" dir="2700000" algn="tl">
                    <a:srgbClr val="000000"/>
                  </a:outerShdw>
                </a:effectLst>
              </a:rPr>
              <a:t>Heavy concentrations</a:t>
            </a:r>
            <a:br>
              <a:rPr lang="en-AU" sz="2800">
                <a:effectLst>
                  <a:outerShdw blurRad="38100" dist="38100" dir="2700000" algn="tl">
                    <a:srgbClr val="000000"/>
                  </a:outerShdw>
                </a:effectLst>
              </a:rPr>
            </a:br>
            <a:r>
              <a:rPr lang="en-AU" sz="2000">
                <a:effectLst>
                  <a:outerShdw blurRad="38100" dist="38100" dir="2700000" algn="tl">
                    <a:srgbClr val="000000"/>
                  </a:outerShdw>
                </a:effectLst>
              </a:rPr>
              <a:t>(proportions and numbers)</a:t>
            </a:r>
          </a:p>
        </p:txBody>
      </p:sp>
      <p:sp>
        <p:nvSpPr>
          <p:cNvPr id="43040" name="WordArt 32"/>
          <p:cNvSpPr>
            <a:spLocks noChangeArrowheads="1" noChangeShapeType="1" noTextEdit="1"/>
          </p:cNvSpPr>
          <p:nvPr/>
        </p:nvSpPr>
        <p:spPr bwMode="auto">
          <a:xfrm>
            <a:off x="0" y="1557338"/>
            <a:ext cx="2881313" cy="2016125"/>
          </a:xfrm>
          <a:prstGeom prst="rect">
            <a:avLst/>
          </a:prstGeom>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en-AU" sz="3600" kern="10">
                <a:ln w="9525">
                  <a:round/>
                  <a:headEnd/>
                  <a:tailEnd/>
                </a:ln>
                <a:gradFill rotWithShape="0">
                  <a:gsLst>
                    <a:gs pos="0">
                      <a:srgbClr val="FFE701"/>
                    </a:gs>
                    <a:gs pos="100000">
                      <a:srgbClr val="FE3E02"/>
                    </a:gs>
                  </a:gsLst>
                  <a:lin ang="5400000" scaled="1"/>
                </a:gradFill>
                <a:latin typeface="Impact"/>
              </a:rPr>
              <a:t>WHY?</a:t>
            </a:r>
          </a:p>
        </p:txBody>
      </p:sp>
      <p:sp>
        <p:nvSpPr>
          <p:cNvPr id="43041" name="AutoShape 33"/>
          <p:cNvSpPr>
            <a:spLocks noChangeArrowheads="1"/>
          </p:cNvSpPr>
          <p:nvPr/>
        </p:nvSpPr>
        <p:spPr bwMode="auto">
          <a:xfrm rot="-4571960">
            <a:off x="2507456" y="1964532"/>
            <a:ext cx="4200525" cy="3671888"/>
          </a:xfrm>
          <a:custGeom>
            <a:avLst/>
            <a:gdLst>
              <a:gd name="G0" fmla="+- 5313 0 0"/>
              <a:gd name="G1" fmla="+- -11206099 0 0"/>
              <a:gd name="G2" fmla="+- 0 0 -11206099"/>
              <a:gd name="T0" fmla="*/ 0 256 1"/>
              <a:gd name="T1" fmla="*/ 180 256 1"/>
              <a:gd name="G3" fmla="+- -11206099 T0 T1"/>
              <a:gd name="T2" fmla="*/ 0 256 1"/>
              <a:gd name="T3" fmla="*/ 90 256 1"/>
              <a:gd name="G4" fmla="+- -11206099 T2 T3"/>
              <a:gd name="G5" fmla="*/ G4 2 1"/>
              <a:gd name="T4" fmla="*/ 90 256 1"/>
              <a:gd name="T5" fmla="*/ 0 256 1"/>
              <a:gd name="G6" fmla="+- -11206099 T4 T5"/>
              <a:gd name="G7" fmla="*/ G6 2 1"/>
              <a:gd name="G8" fmla="abs -1120609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313"/>
              <a:gd name="G18" fmla="*/ 5313 1 2"/>
              <a:gd name="G19" fmla="+- G18 5400 0"/>
              <a:gd name="G20" fmla="cos G19 -11206099"/>
              <a:gd name="G21" fmla="sin G19 -11206099"/>
              <a:gd name="G22" fmla="+- G20 10800 0"/>
              <a:gd name="G23" fmla="+- G21 10800 0"/>
              <a:gd name="G24" fmla="+- 10800 0 G20"/>
              <a:gd name="G25" fmla="+- 5313 10800 0"/>
              <a:gd name="G26" fmla="?: G9 G17 G25"/>
              <a:gd name="G27" fmla="?: G9 0 21600"/>
              <a:gd name="G28" fmla="cos 10800 -11206099"/>
              <a:gd name="G29" fmla="sin 10800 -11206099"/>
              <a:gd name="G30" fmla="sin 5313 -11206099"/>
              <a:gd name="G31" fmla="+- G28 10800 0"/>
              <a:gd name="G32" fmla="+- G29 10800 0"/>
              <a:gd name="G33" fmla="+- G30 10800 0"/>
              <a:gd name="G34" fmla="?: G4 0 G31"/>
              <a:gd name="G35" fmla="?: -11206099 G34 0"/>
              <a:gd name="G36" fmla="?: G6 G35 G31"/>
              <a:gd name="G37" fmla="+- 21600 0 G36"/>
              <a:gd name="G38" fmla="?: G4 0 G33"/>
              <a:gd name="G39" fmla="?: -11206099 G38 G32"/>
              <a:gd name="G40" fmla="?: G6 G39 0"/>
              <a:gd name="G41" fmla="?: G4 G32 21600"/>
              <a:gd name="G42" fmla="?: G6 G41 G33"/>
              <a:gd name="T12" fmla="*/ 10800 w 21600"/>
              <a:gd name="T13" fmla="*/ 0 h 21600"/>
              <a:gd name="T14" fmla="*/ 2842 w 21600"/>
              <a:gd name="T15" fmla="*/ 9538 h 21600"/>
              <a:gd name="T16" fmla="*/ 10800 w 21600"/>
              <a:gd name="T17" fmla="*/ 5487 h 21600"/>
              <a:gd name="T18" fmla="*/ 18758 w 21600"/>
              <a:gd name="T19" fmla="*/ 95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552" y="9968"/>
                </a:moveTo>
                <a:cubicBezTo>
                  <a:pt x="5961" y="7387"/>
                  <a:pt x="8186" y="5486"/>
                  <a:pt x="10800" y="5487"/>
                </a:cubicBezTo>
                <a:cubicBezTo>
                  <a:pt x="13413" y="5487"/>
                  <a:pt x="15638" y="7387"/>
                  <a:pt x="16047" y="9968"/>
                </a:cubicBezTo>
                <a:lnTo>
                  <a:pt x="21466" y="9108"/>
                </a:lnTo>
                <a:cubicBezTo>
                  <a:pt x="20635" y="3862"/>
                  <a:pt x="16111" y="-1"/>
                  <a:pt x="10799" y="0"/>
                </a:cubicBezTo>
                <a:cubicBezTo>
                  <a:pt x="5488" y="0"/>
                  <a:pt x="964" y="3862"/>
                  <a:pt x="133" y="9108"/>
                </a:cubicBezTo>
                <a:close/>
              </a:path>
            </a:pathLst>
          </a:custGeom>
          <a:solidFill>
            <a:schemeClr val="accent1">
              <a:alpha val="20000"/>
            </a:schemeClr>
          </a:solidFill>
          <a:ln w="76200">
            <a:solidFill>
              <a:schemeClr val="accent1"/>
            </a:solidFill>
            <a:miter lim="800000"/>
            <a:headEnd/>
            <a:tailEnd/>
          </a:ln>
          <a:effectLst/>
        </p:spPr>
        <p:txBody>
          <a:bodyPr wrap="none" anchor="ctr"/>
          <a:lstStyle/>
          <a:p>
            <a:endParaRPr lang="en-AU"/>
          </a:p>
        </p:txBody>
      </p:sp>
      <p:sp>
        <p:nvSpPr>
          <p:cNvPr id="43042" name="AutoShape 34"/>
          <p:cNvSpPr>
            <a:spLocks noChangeArrowheads="1"/>
          </p:cNvSpPr>
          <p:nvPr/>
        </p:nvSpPr>
        <p:spPr bwMode="auto">
          <a:xfrm rot="-14339523">
            <a:off x="2903537" y="2792413"/>
            <a:ext cx="4056063" cy="3455988"/>
          </a:xfrm>
          <a:custGeom>
            <a:avLst/>
            <a:gdLst>
              <a:gd name="G0" fmla="+- 6032 0 0"/>
              <a:gd name="G1" fmla="+- 11059788 0 0"/>
              <a:gd name="G2" fmla="+- 0 0 11059788"/>
              <a:gd name="T0" fmla="*/ 0 256 1"/>
              <a:gd name="T1" fmla="*/ 180 256 1"/>
              <a:gd name="G3" fmla="+- 11059788 T0 T1"/>
              <a:gd name="T2" fmla="*/ 0 256 1"/>
              <a:gd name="T3" fmla="*/ 90 256 1"/>
              <a:gd name="G4" fmla="+- 11059788 T2 T3"/>
              <a:gd name="G5" fmla="*/ G4 2 1"/>
              <a:gd name="T4" fmla="*/ 90 256 1"/>
              <a:gd name="T5" fmla="*/ 0 256 1"/>
              <a:gd name="G6" fmla="+- 11059788 T4 T5"/>
              <a:gd name="G7" fmla="*/ G6 2 1"/>
              <a:gd name="G8" fmla="abs 11059788"/>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6032"/>
              <a:gd name="G18" fmla="*/ 6032 1 2"/>
              <a:gd name="G19" fmla="+- G18 5400 0"/>
              <a:gd name="G20" fmla="cos G19 11059788"/>
              <a:gd name="G21" fmla="sin G19 11059788"/>
              <a:gd name="G22" fmla="+- G20 10800 0"/>
              <a:gd name="G23" fmla="+- G21 10800 0"/>
              <a:gd name="G24" fmla="+- 10800 0 G20"/>
              <a:gd name="G25" fmla="+- 6032 10800 0"/>
              <a:gd name="G26" fmla="?: G9 G17 G25"/>
              <a:gd name="G27" fmla="?: G9 0 21600"/>
              <a:gd name="G28" fmla="cos 10800 11059788"/>
              <a:gd name="G29" fmla="sin 10800 11059788"/>
              <a:gd name="G30" fmla="sin 6032 11059788"/>
              <a:gd name="G31" fmla="+- G28 10800 0"/>
              <a:gd name="G32" fmla="+- G29 10800 0"/>
              <a:gd name="G33" fmla="+- G30 10800 0"/>
              <a:gd name="G34" fmla="?: G4 0 G31"/>
              <a:gd name="G35" fmla="?: 11059788 G34 0"/>
              <a:gd name="G36" fmla="?: G6 G35 G31"/>
              <a:gd name="G37" fmla="+- 21600 0 G36"/>
              <a:gd name="G38" fmla="?: G4 0 G33"/>
              <a:gd name="G39" fmla="?: 11059788 G38 G32"/>
              <a:gd name="G40" fmla="?: G6 G39 0"/>
              <a:gd name="G41" fmla="?: G4 G32 21600"/>
              <a:gd name="G42" fmla="?: G6 G41 G33"/>
              <a:gd name="T12" fmla="*/ 10800 w 21600"/>
              <a:gd name="T13" fmla="*/ 0 h 21600"/>
              <a:gd name="T14" fmla="*/ 2545 w 21600"/>
              <a:gd name="T15" fmla="*/ 12440 h 21600"/>
              <a:gd name="T16" fmla="*/ 10800 w 21600"/>
              <a:gd name="T17" fmla="*/ 4768 h 21600"/>
              <a:gd name="T18" fmla="*/ 19055 w 21600"/>
              <a:gd name="T19" fmla="*/ 1244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4883" y="11975"/>
                </a:moveTo>
                <a:cubicBezTo>
                  <a:pt x="4806" y="11588"/>
                  <a:pt x="4768" y="11194"/>
                  <a:pt x="4768" y="10800"/>
                </a:cubicBezTo>
                <a:cubicBezTo>
                  <a:pt x="4768" y="7468"/>
                  <a:pt x="7468" y="4768"/>
                  <a:pt x="10800" y="4768"/>
                </a:cubicBezTo>
                <a:cubicBezTo>
                  <a:pt x="14131" y="4768"/>
                  <a:pt x="16832" y="7468"/>
                  <a:pt x="16832" y="10800"/>
                </a:cubicBezTo>
                <a:cubicBezTo>
                  <a:pt x="16832" y="11194"/>
                  <a:pt x="16793" y="11588"/>
                  <a:pt x="16716" y="11975"/>
                </a:cubicBezTo>
                <a:lnTo>
                  <a:pt x="21392" y="12905"/>
                </a:lnTo>
                <a:cubicBezTo>
                  <a:pt x="21530" y="12212"/>
                  <a:pt x="21600" y="11506"/>
                  <a:pt x="21600" y="10800"/>
                </a:cubicBezTo>
                <a:cubicBezTo>
                  <a:pt x="21600" y="4835"/>
                  <a:pt x="16764" y="0"/>
                  <a:pt x="10800" y="0"/>
                </a:cubicBezTo>
                <a:cubicBezTo>
                  <a:pt x="4835" y="0"/>
                  <a:pt x="0" y="4835"/>
                  <a:pt x="0" y="10800"/>
                </a:cubicBezTo>
                <a:cubicBezTo>
                  <a:pt x="-1" y="11506"/>
                  <a:pt x="69" y="12212"/>
                  <a:pt x="207" y="12905"/>
                </a:cubicBezTo>
                <a:close/>
              </a:path>
            </a:pathLst>
          </a:custGeom>
          <a:solidFill>
            <a:schemeClr val="accent1">
              <a:alpha val="20000"/>
            </a:schemeClr>
          </a:solidFill>
          <a:ln w="76200">
            <a:solidFill>
              <a:schemeClr val="accent1"/>
            </a:solidFill>
            <a:miter lim="800000"/>
            <a:headEnd/>
            <a:tailEnd/>
          </a:ln>
          <a:effectLst/>
        </p:spPr>
        <p:txBody>
          <a:bodyPr wrap="none" anchor="ctr"/>
          <a:lstStyle/>
          <a:p>
            <a:endParaRPr lang="en-AU"/>
          </a:p>
        </p:txBody>
      </p:sp>
      <p:sp>
        <p:nvSpPr>
          <p:cNvPr id="43043" name="Rectangle 35"/>
          <p:cNvSpPr>
            <a:spLocks noChangeArrowheads="1"/>
          </p:cNvSpPr>
          <p:nvPr/>
        </p:nvSpPr>
        <p:spPr bwMode="auto">
          <a:xfrm>
            <a:off x="6588125" y="2349500"/>
            <a:ext cx="2339975" cy="1008063"/>
          </a:xfrm>
          <a:prstGeom prst="rect">
            <a:avLst/>
          </a:prstGeom>
          <a:noFill/>
          <a:ln w="9525">
            <a:noFill/>
            <a:miter lim="800000"/>
            <a:headEnd/>
            <a:tailEnd/>
          </a:ln>
          <a:effectLst/>
        </p:spPr>
        <p:txBody>
          <a:bodyPr anchor="ctr"/>
          <a:lstStyle/>
          <a:p>
            <a:pPr algn="ctr"/>
            <a:r>
              <a:rPr lang="en-AU" b="1">
                <a:solidFill>
                  <a:schemeClr val="accent1"/>
                </a:solidFill>
                <a:effectLst>
                  <a:outerShdw blurRad="38100" dist="38100" dir="2700000" algn="tl">
                    <a:srgbClr val="000000"/>
                  </a:outerShdw>
                </a:effectLst>
              </a:rPr>
              <a:t>The “middle ring”:</a:t>
            </a:r>
            <a:br>
              <a:rPr lang="en-AU" b="1">
                <a:solidFill>
                  <a:schemeClr val="accent1"/>
                </a:solidFill>
                <a:effectLst>
                  <a:outerShdw blurRad="38100" dist="38100" dir="2700000" algn="tl">
                    <a:srgbClr val="000000"/>
                  </a:outerShdw>
                </a:effectLst>
              </a:rPr>
            </a:br>
            <a:r>
              <a:rPr lang="en-AU" sz="2400" b="1">
                <a:solidFill>
                  <a:schemeClr val="accent1"/>
                </a:solidFill>
                <a:effectLst>
                  <a:outerShdw blurRad="38100" dist="38100" dir="2700000" algn="tl">
                    <a:srgbClr val="000000"/>
                  </a:outerShdw>
                </a:effectLst>
              </a:rPr>
              <a:t>Very few older people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43040"/>
                                        </p:tgtEl>
                                        <p:attrNameLst>
                                          <p:attrName>style.visibility</p:attrName>
                                        </p:attrNameLst>
                                      </p:cBhvr>
                                      <p:to>
                                        <p:strVal val="visible"/>
                                      </p:to>
                                    </p:set>
                                    <p:animEffect transition="in" filter="fade">
                                      <p:cBhvr>
                                        <p:cTn id="7" dur="3000"/>
                                        <p:tgtEl>
                                          <p:spTgt spid="43040"/>
                                        </p:tgtEl>
                                      </p:cBhvr>
                                    </p:animEffect>
                                    <p:anim calcmode="lin" valueType="num">
                                      <p:cBhvr>
                                        <p:cTn id="8" dur="3000" fill="hold"/>
                                        <p:tgtEl>
                                          <p:spTgt spid="43040"/>
                                        </p:tgtEl>
                                        <p:attrNameLst>
                                          <p:attrName>style.rotation</p:attrName>
                                        </p:attrNameLst>
                                      </p:cBhvr>
                                      <p:tavLst>
                                        <p:tav tm="0">
                                          <p:val>
                                            <p:fltVal val="720"/>
                                          </p:val>
                                        </p:tav>
                                        <p:tav tm="100000">
                                          <p:val>
                                            <p:fltVal val="0"/>
                                          </p:val>
                                        </p:tav>
                                      </p:tavLst>
                                    </p:anim>
                                    <p:anim calcmode="lin" valueType="num">
                                      <p:cBhvr>
                                        <p:cTn id="9" dur="3000" fill="hold"/>
                                        <p:tgtEl>
                                          <p:spTgt spid="43040"/>
                                        </p:tgtEl>
                                        <p:attrNameLst>
                                          <p:attrName>ppt_h</p:attrName>
                                        </p:attrNameLst>
                                      </p:cBhvr>
                                      <p:tavLst>
                                        <p:tav tm="0">
                                          <p:val>
                                            <p:fltVal val="0"/>
                                          </p:val>
                                        </p:tav>
                                        <p:tav tm="100000">
                                          <p:val>
                                            <p:strVal val="#ppt_h"/>
                                          </p:val>
                                        </p:tav>
                                      </p:tavLst>
                                    </p:anim>
                                    <p:anim calcmode="lin" valueType="num">
                                      <p:cBhvr>
                                        <p:cTn id="10" dur="3000" fill="hold"/>
                                        <p:tgtEl>
                                          <p:spTgt spid="43040"/>
                                        </p:tgtEl>
                                        <p:attrNameLst>
                                          <p:attrName>ppt_w</p:attrName>
                                        </p:attrNameLst>
                                      </p:cBhvr>
                                      <p:tavLst>
                                        <p:tav tm="0">
                                          <p:val>
                                            <p:fltVal val="0"/>
                                          </p:val>
                                        </p:tav>
                                        <p:tav tm="100000">
                                          <p:val>
                                            <p:strVal val="#ppt_w"/>
                                          </p:val>
                                        </p:tav>
                                      </p:tavLst>
                                    </p:anim>
                                  </p:childTnLst>
                                </p:cTn>
                              </p:par>
                              <p:par>
                                <p:cTn id="11" presetID="9" presetClass="entr" presetSubtype="0" fill="hold" grpId="0" nodeType="withEffect">
                                  <p:stCondLst>
                                    <p:cond delay="0"/>
                                  </p:stCondLst>
                                  <p:childTnLst>
                                    <p:set>
                                      <p:cBhvr>
                                        <p:cTn id="12" dur="1" fill="hold">
                                          <p:stCondLst>
                                            <p:cond delay="0"/>
                                          </p:stCondLst>
                                        </p:cTn>
                                        <p:tgtEl>
                                          <p:spTgt spid="43041"/>
                                        </p:tgtEl>
                                        <p:attrNameLst>
                                          <p:attrName>style.visibility</p:attrName>
                                        </p:attrNameLst>
                                      </p:cBhvr>
                                      <p:to>
                                        <p:strVal val="visible"/>
                                      </p:to>
                                    </p:set>
                                    <p:animEffect transition="in" filter="dissolve">
                                      <p:cBhvr>
                                        <p:cTn id="13" dur="500"/>
                                        <p:tgtEl>
                                          <p:spTgt spid="4304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3042"/>
                                        </p:tgtEl>
                                        <p:attrNameLst>
                                          <p:attrName>style.visibility</p:attrName>
                                        </p:attrNameLst>
                                      </p:cBhvr>
                                      <p:to>
                                        <p:strVal val="visible"/>
                                      </p:to>
                                    </p:set>
                                    <p:animEffect transition="in" filter="dissolve">
                                      <p:cBhvr>
                                        <p:cTn id="16" dur="500"/>
                                        <p:tgtEl>
                                          <p:spTgt spid="4304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3043"/>
                                        </p:tgtEl>
                                        <p:attrNameLst>
                                          <p:attrName>style.visibility</p:attrName>
                                        </p:attrNameLst>
                                      </p:cBhvr>
                                      <p:to>
                                        <p:strVal val="visible"/>
                                      </p:to>
                                    </p:set>
                                    <p:animEffect transition="in" filter="dissolve">
                                      <p:cBhvr>
                                        <p:cTn id="19" dur="500"/>
                                        <p:tgtEl>
                                          <p:spTgt spid="43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0" grpId="0" animBg="1"/>
      <p:bldP spid="43041" grpId="0" animBg="1"/>
      <p:bldP spid="43042" grpId="0" animBg="1"/>
      <p:bldP spid="4304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5786" y="2714621"/>
            <a:ext cx="6529414" cy="3429024"/>
          </a:xfrm>
        </p:spPr>
        <p:txBody>
          <a:bodyPr>
            <a:normAutofit fontScale="90000"/>
          </a:bodyPr>
          <a:lstStyle/>
          <a:p>
            <a:r>
              <a:rPr lang="en-AU" dirty="0" smtClean="0"/>
              <a:t>Preliminary Economic Model Examining the Effects of Time for a Property Development project</a:t>
            </a:r>
            <a:endParaRPr lang="en-AU" dirty="0"/>
          </a:p>
        </p:txBody>
      </p:sp>
      <p:sp>
        <p:nvSpPr>
          <p:cNvPr id="5" name="Text Placeholder 4"/>
          <p:cNvSpPr>
            <a:spLocks noGrp="1"/>
          </p:cNvSpPr>
          <p:nvPr>
            <p:ph type="body" idx="1"/>
          </p:nvPr>
        </p:nvSpPr>
        <p:spPr>
          <a:xfrm>
            <a:off x="722313" y="1714489"/>
            <a:ext cx="7772400" cy="1214446"/>
          </a:xfrm>
        </p:spPr>
        <p:txBody>
          <a:bodyPr/>
          <a:lstStyle/>
          <a:p>
            <a:pPr marL="0" indent="0"/>
            <a:r>
              <a:rPr lang="en-AU" dirty="0" smtClean="0"/>
              <a:t>Preliminary Findings Related to the Conceptualisation, Sensitivity &amp; Measurement of Holding Costs &amp; Impact on Housing Affordability</a:t>
            </a:r>
            <a:endParaRPr lang="en-AU" dirty="0"/>
          </a:p>
        </p:txBody>
      </p:sp>
      <p:pic>
        <p:nvPicPr>
          <p:cNvPr id="51201" name="Picture 1" descr="C:\Documents and Settings\ggarner\Local Settings\Temporary Internet Files\Content.IE5\SUW4EZY5\MPj04392560000[1].jpg"/>
          <p:cNvPicPr>
            <a:picLocks noChangeAspect="1" noChangeArrowheads="1"/>
          </p:cNvPicPr>
          <p:nvPr/>
        </p:nvPicPr>
        <p:blipFill>
          <a:blip r:embed="rId2" cstate="print">
            <a:lum bright="-52000" contrast="-31000"/>
          </a:blip>
          <a:srcRect/>
          <a:stretch>
            <a:fillRect/>
          </a:stretch>
        </p:blipFill>
        <p:spPr bwMode="auto">
          <a:xfrm>
            <a:off x="6500826" y="2786058"/>
            <a:ext cx="2128830" cy="1703064"/>
          </a:xfrm>
          <a:prstGeom prst="rect">
            <a:avLst/>
          </a:prstGeom>
          <a:noFill/>
        </p:spPr>
      </p:pic>
    </p:spTree>
  </p:cSld>
  <p:clrMapOvr>
    <a:masterClrMapping/>
  </p:clrMapOvr>
  <p:transition>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7467600" cy="796908"/>
          </a:xfrm>
        </p:spPr>
        <p:txBody>
          <a:bodyPr/>
          <a:lstStyle/>
          <a:p>
            <a:r>
              <a:rPr lang="en-AU" dirty="0" smtClean="0"/>
              <a:t>Assumptions</a:t>
            </a:r>
            <a:endParaRPr lang="en-AU" dirty="0"/>
          </a:p>
        </p:txBody>
      </p:sp>
      <p:sp>
        <p:nvSpPr>
          <p:cNvPr id="5" name="Content Placeholder 4"/>
          <p:cNvSpPr>
            <a:spLocks noGrp="1"/>
          </p:cNvSpPr>
          <p:nvPr>
            <p:ph idx="1"/>
          </p:nvPr>
        </p:nvSpPr>
        <p:spPr>
          <a:xfrm>
            <a:off x="457200" y="1214422"/>
            <a:ext cx="8186766" cy="5429288"/>
          </a:xfrm>
        </p:spPr>
        <p:txBody>
          <a:bodyPr>
            <a:normAutofit fontScale="70000" lnSpcReduction="20000"/>
          </a:bodyPr>
          <a:lstStyle/>
          <a:p>
            <a:r>
              <a:rPr lang="en-AU" dirty="0" smtClean="0"/>
              <a:t>Interest rate (cost) - 9.00%</a:t>
            </a:r>
          </a:p>
          <a:p>
            <a:r>
              <a:rPr lang="en-AU" dirty="0" smtClean="0"/>
              <a:t>Development Timing: (all post Identification of suitable site and site purchase)</a:t>
            </a:r>
          </a:p>
          <a:p>
            <a:r>
              <a:rPr lang="en-AU" dirty="0" smtClean="0"/>
              <a:t>Assessment period: Planning &amp; Building Consents including DA – typically 18 months</a:t>
            </a:r>
          </a:p>
          <a:p>
            <a:r>
              <a:rPr lang="en-AU" dirty="0" smtClean="0"/>
              <a:t>Funds raising (debt and / or equity) 3 months</a:t>
            </a:r>
          </a:p>
          <a:p>
            <a:r>
              <a:rPr lang="en-AU" dirty="0" smtClean="0"/>
              <a:t>Construction and development 9 months</a:t>
            </a:r>
          </a:p>
          <a:p>
            <a:r>
              <a:rPr lang="en-AU" dirty="0" smtClean="0"/>
              <a:t>Total development time from acquisition - 30 months</a:t>
            </a:r>
          </a:p>
          <a:p>
            <a:r>
              <a:rPr lang="en-AU" dirty="0" smtClean="0"/>
              <a:t>Undeveloped Land Cost - $37,500 per lot equivalent based on gross yield area</a:t>
            </a:r>
          </a:p>
          <a:p>
            <a:r>
              <a:rPr lang="en-AU" dirty="0" smtClean="0"/>
              <a:t>Acquisition costs - 3% of acquisition and land costs per lot </a:t>
            </a:r>
            <a:r>
              <a:rPr lang="en-AU" dirty="0" err="1" smtClean="0"/>
              <a:t>p.a</a:t>
            </a:r>
            <a:endParaRPr lang="en-AU" dirty="0" smtClean="0"/>
          </a:p>
          <a:p>
            <a:r>
              <a:rPr lang="en-AU" dirty="0" smtClean="0"/>
              <a:t>Development Costs, $75,000 per lot</a:t>
            </a:r>
          </a:p>
          <a:p>
            <a:r>
              <a:rPr lang="en-AU" dirty="0" smtClean="0"/>
              <a:t>Interest Costs on development - based on 30% of total development period = 9 months @ 9%</a:t>
            </a:r>
          </a:p>
          <a:p>
            <a:r>
              <a:rPr lang="en-AU" dirty="0" smtClean="0"/>
              <a:t>Selling Costs @ 4.7% gross realisation</a:t>
            </a:r>
          </a:p>
          <a:p>
            <a:r>
              <a:rPr lang="en-AU" dirty="0" smtClean="0"/>
              <a:t>Developers Margin - 20% of Total costs</a:t>
            </a:r>
          </a:p>
          <a:p>
            <a:r>
              <a:rPr lang="en-AU" dirty="0" smtClean="0"/>
              <a:t>Gross realisation = $165,000 per lot.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 calcmode="lin" valueType="num">
                                      <p:cBhvr>
                                        <p:cTn id="14"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p:cTn id="21"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 calcmode="lin" valueType="num">
                                      <p:cBhvr>
                                        <p:cTn id="28"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 calcmode="lin" valueType="num">
                                      <p:cBhvr>
                                        <p:cTn id="35"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 calcmode="lin" valueType="num">
                                      <p:cBhvr>
                                        <p:cTn id="42"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5">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anim calcmode="lin" valueType="num">
                                      <p:cBhvr>
                                        <p:cTn id="49" dur="500" fill="hold"/>
                                        <p:tgtEl>
                                          <p:spTgt spid="5">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5">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5">
                                            <p:txEl>
                                              <p:pRg st="7" end="7"/>
                                            </p:txEl>
                                          </p:spTgt>
                                        </p:tgtEl>
                                        <p:attrNameLst>
                                          <p:attrName>style.visibility</p:attrName>
                                        </p:attrNameLst>
                                      </p:cBhvr>
                                      <p:to>
                                        <p:strVal val="visible"/>
                                      </p:to>
                                    </p:set>
                                    <p:anim calcmode="lin" valueType="num">
                                      <p:cBhvr>
                                        <p:cTn id="56" dur="500" fill="hold"/>
                                        <p:tgtEl>
                                          <p:spTgt spid="5">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5">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5">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grpId="0" nodeType="clickEffect">
                                  <p:stCondLst>
                                    <p:cond delay="0"/>
                                  </p:stCondLst>
                                  <p:childTnLst>
                                    <p:set>
                                      <p:cBhvr>
                                        <p:cTn id="62" dur="1" fill="hold">
                                          <p:stCondLst>
                                            <p:cond delay="0"/>
                                          </p:stCondLst>
                                        </p:cTn>
                                        <p:tgtEl>
                                          <p:spTgt spid="5">
                                            <p:txEl>
                                              <p:pRg st="8" end="8"/>
                                            </p:txEl>
                                          </p:spTgt>
                                        </p:tgtEl>
                                        <p:attrNameLst>
                                          <p:attrName>style.visibility</p:attrName>
                                        </p:attrNameLst>
                                      </p:cBhvr>
                                      <p:to>
                                        <p:strVal val="visible"/>
                                      </p:to>
                                    </p:set>
                                    <p:anim calcmode="lin" valueType="num">
                                      <p:cBhvr>
                                        <p:cTn id="63"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5">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5">
                                            <p:txEl>
                                              <p:pRg st="9" end="9"/>
                                            </p:txEl>
                                          </p:spTgt>
                                        </p:tgtEl>
                                        <p:attrNameLst>
                                          <p:attrName>style.visibility</p:attrName>
                                        </p:attrNameLst>
                                      </p:cBhvr>
                                      <p:to>
                                        <p:strVal val="visible"/>
                                      </p:to>
                                    </p:set>
                                    <p:anim calcmode="lin" valueType="num">
                                      <p:cBhvr>
                                        <p:cTn id="70" dur="500" fill="hold"/>
                                        <p:tgtEl>
                                          <p:spTgt spid="5">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5">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5">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0" fill="hold" grpId="0" nodeType="clickEffect">
                                  <p:stCondLst>
                                    <p:cond delay="0"/>
                                  </p:stCondLst>
                                  <p:childTnLst>
                                    <p:set>
                                      <p:cBhvr>
                                        <p:cTn id="76" dur="1" fill="hold">
                                          <p:stCondLst>
                                            <p:cond delay="0"/>
                                          </p:stCondLst>
                                        </p:cTn>
                                        <p:tgtEl>
                                          <p:spTgt spid="5">
                                            <p:txEl>
                                              <p:pRg st="10" end="10"/>
                                            </p:txEl>
                                          </p:spTgt>
                                        </p:tgtEl>
                                        <p:attrNameLst>
                                          <p:attrName>style.visibility</p:attrName>
                                        </p:attrNameLst>
                                      </p:cBhvr>
                                      <p:to>
                                        <p:strVal val="visible"/>
                                      </p:to>
                                    </p:set>
                                    <p:anim calcmode="lin" valueType="num">
                                      <p:cBhvr>
                                        <p:cTn id="77" dur="500" fill="hold"/>
                                        <p:tgtEl>
                                          <p:spTgt spid="5">
                                            <p:txEl>
                                              <p:pRg st="10" end="10"/>
                                            </p:txEl>
                                          </p:spTgt>
                                        </p:tgtEl>
                                        <p:attrNameLst>
                                          <p:attrName>ppt_w</p:attrName>
                                        </p:attrNameLst>
                                      </p:cBhvr>
                                      <p:tavLst>
                                        <p:tav tm="0">
                                          <p:val>
                                            <p:fltVal val="0"/>
                                          </p:val>
                                        </p:tav>
                                        <p:tav tm="100000">
                                          <p:val>
                                            <p:strVal val="#ppt_w"/>
                                          </p:val>
                                        </p:tav>
                                      </p:tavLst>
                                    </p:anim>
                                    <p:anim calcmode="lin" valueType="num">
                                      <p:cBhvr>
                                        <p:cTn id="78" dur="500" fill="hold"/>
                                        <p:tgtEl>
                                          <p:spTgt spid="5">
                                            <p:txEl>
                                              <p:pRg st="10" end="10"/>
                                            </p:txEl>
                                          </p:spTgt>
                                        </p:tgtEl>
                                        <p:attrNameLst>
                                          <p:attrName>ppt_h</p:attrName>
                                        </p:attrNameLst>
                                      </p:cBhvr>
                                      <p:tavLst>
                                        <p:tav tm="0">
                                          <p:val>
                                            <p:fltVal val="0"/>
                                          </p:val>
                                        </p:tav>
                                        <p:tav tm="100000">
                                          <p:val>
                                            <p:strVal val="#ppt_h"/>
                                          </p:val>
                                        </p:tav>
                                      </p:tavLst>
                                    </p:anim>
                                    <p:animEffect transition="in" filter="fade">
                                      <p:cBhvr>
                                        <p:cTn id="79" dur="500"/>
                                        <p:tgtEl>
                                          <p:spTgt spid="5">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grpId="0" nodeType="clickEffect">
                                  <p:stCondLst>
                                    <p:cond delay="0"/>
                                  </p:stCondLst>
                                  <p:childTnLst>
                                    <p:set>
                                      <p:cBhvr>
                                        <p:cTn id="83" dur="1" fill="hold">
                                          <p:stCondLst>
                                            <p:cond delay="0"/>
                                          </p:stCondLst>
                                        </p:cTn>
                                        <p:tgtEl>
                                          <p:spTgt spid="5">
                                            <p:txEl>
                                              <p:pRg st="11" end="11"/>
                                            </p:txEl>
                                          </p:spTgt>
                                        </p:tgtEl>
                                        <p:attrNameLst>
                                          <p:attrName>style.visibility</p:attrName>
                                        </p:attrNameLst>
                                      </p:cBhvr>
                                      <p:to>
                                        <p:strVal val="visible"/>
                                      </p:to>
                                    </p:set>
                                    <p:anim calcmode="lin" valueType="num">
                                      <p:cBhvr>
                                        <p:cTn id="84" dur="500" fill="hold"/>
                                        <p:tgtEl>
                                          <p:spTgt spid="5">
                                            <p:txEl>
                                              <p:pRg st="11" end="11"/>
                                            </p:txEl>
                                          </p:spTgt>
                                        </p:tgtEl>
                                        <p:attrNameLst>
                                          <p:attrName>ppt_w</p:attrName>
                                        </p:attrNameLst>
                                      </p:cBhvr>
                                      <p:tavLst>
                                        <p:tav tm="0">
                                          <p:val>
                                            <p:fltVal val="0"/>
                                          </p:val>
                                        </p:tav>
                                        <p:tav tm="100000">
                                          <p:val>
                                            <p:strVal val="#ppt_w"/>
                                          </p:val>
                                        </p:tav>
                                      </p:tavLst>
                                    </p:anim>
                                    <p:anim calcmode="lin" valueType="num">
                                      <p:cBhvr>
                                        <p:cTn id="85" dur="500" fill="hold"/>
                                        <p:tgtEl>
                                          <p:spTgt spid="5">
                                            <p:txEl>
                                              <p:pRg st="11" end="11"/>
                                            </p:txEl>
                                          </p:spTgt>
                                        </p:tgtEl>
                                        <p:attrNameLst>
                                          <p:attrName>ppt_h</p:attrName>
                                        </p:attrNameLst>
                                      </p:cBhvr>
                                      <p:tavLst>
                                        <p:tav tm="0">
                                          <p:val>
                                            <p:fltVal val="0"/>
                                          </p:val>
                                        </p:tav>
                                        <p:tav tm="100000">
                                          <p:val>
                                            <p:strVal val="#ppt_h"/>
                                          </p:val>
                                        </p:tav>
                                      </p:tavLst>
                                    </p:anim>
                                    <p:animEffect transition="in" filter="fade">
                                      <p:cBhvr>
                                        <p:cTn id="86" dur="500"/>
                                        <p:tgtEl>
                                          <p:spTgt spid="5">
                                            <p:txEl>
                                              <p:pRg st="11" end="1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0" fill="hold" grpId="0" nodeType="clickEffect">
                                  <p:stCondLst>
                                    <p:cond delay="0"/>
                                  </p:stCondLst>
                                  <p:childTnLst>
                                    <p:set>
                                      <p:cBhvr>
                                        <p:cTn id="90" dur="1" fill="hold">
                                          <p:stCondLst>
                                            <p:cond delay="0"/>
                                          </p:stCondLst>
                                        </p:cTn>
                                        <p:tgtEl>
                                          <p:spTgt spid="5">
                                            <p:txEl>
                                              <p:pRg st="12" end="12"/>
                                            </p:txEl>
                                          </p:spTgt>
                                        </p:tgtEl>
                                        <p:attrNameLst>
                                          <p:attrName>style.visibility</p:attrName>
                                        </p:attrNameLst>
                                      </p:cBhvr>
                                      <p:to>
                                        <p:strVal val="visible"/>
                                      </p:to>
                                    </p:set>
                                    <p:anim calcmode="lin" valueType="num">
                                      <p:cBhvr>
                                        <p:cTn id="91" dur="500" fill="hold"/>
                                        <p:tgtEl>
                                          <p:spTgt spid="5">
                                            <p:txEl>
                                              <p:pRg st="12" end="12"/>
                                            </p:txEl>
                                          </p:spTgt>
                                        </p:tgtEl>
                                        <p:attrNameLst>
                                          <p:attrName>ppt_w</p:attrName>
                                        </p:attrNameLst>
                                      </p:cBhvr>
                                      <p:tavLst>
                                        <p:tav tm="0">
                                          <p:val>
                                            <p:fltVal val="0"/>
                                          </p:val>
                                        </p:tav>
                                        <p:tav tm="100000">
                                          <p:val>
                                            <p:strVal val="#ppt_w"/>
                                          </p:val>
                                        </p:tav>
                                      </p:tavLst>
                                    </p:anim>
                                    <p:anim calcmode="lin" valueType="num">
                                      <p:cBhvr>
                                        <p:cTn id="92" dur="500" fill="hold"/>
                                        <p:tgtEl>
                                          <p:spTgt spid="5">
                                            <p:txEl>
                                              <p:pRg st="12" end="12"/>
                                            </p:txEl>
                                          </p:spTgt>
                                        </p:tgtEl>
                                        <p:attrNameLst>
                                          <p:attrName>ppt_h</p:attrName>
                                        </p:attrNameLst>
                                      </p:cBhvr>
                                      <p:tavLst>
                                        <p:tav tm="0">
                                          <p:val>
                                            <p:fltVal val="0"/>
                                          </p:val>
                                        </p:tav>
                                        <p:tav tm="100000">
                                          <p:val>
                                            <p:strVal val="#ppt_h"/>
                                          </p:val>
                                        </p:tav>
                                      </p:tavLst>
                                    </p:anim>
                                    <p:animEffect transition="in" filter="fade">
                                      <p:cBhvr>
                                        <p:cTn id="93"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 y="0"/>
          <a:ext cx="9144002" cy="6857996"/>
        </p:xfrm>
        <a:graphic>
          <a:graphicData uri="http://schemas.openxmlformats.org/drawingml/2006/table">
            <a:tbl>
              <a:tblPr/>
              <a:tblGrid>
                <a:gridCol w="4786353"/>
                <a:gridCol w="1123431"/>
                <a:gridCol w="1135710"/>
                <a:gridCol w="1129572"/>
                <a:gridCol w="968936"/>
              </a:tblGrid>
              <a:tr h="298782">
                <a:tc>
                  <a:txBody>
                    <a:bodyPr/>
                    <a:lstStyle/>
                    <a:p>
                      <a:pPr algn="l">
                        <a:spcAft>
                          <a:spcPts val="0"/>
                        </a:spcAft>
                      </a:pPr>
                      <a:r>
                        <a:rPr lang="en-AU" sz="1400" b="1" dirty="0">
                          <a:solidFill>
                            <a:srgbClr val="000000"/>
                          </a:solidFill>
                          <a:latin typeface="Arial" pitchFamily="34" charset="0"/>
                          <a:ea typeface="Times New Roman"/>
                          <a:cs typeface="Arial" pitchFamily="34" charset="0"/>
                        </a:rPr>
                        <a:t>BASE CASE SCENARIO</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28575" cap="flat" cmpd="sng" algn="ctr">
                      <a:solidFill>
                        <a:srgbClr val="4F81BD"/>
                      </a:solidFill>
                      <a:prstDash val="solid"/>
                      <a:round/>
                      <a:headEnd type="none" w="med" len="med"/>
                      <a:tailEnd type="none" w="med" len="med"/>
                    </a:lnT>
                    <a:lnB>
                      <a:noFill/>
                    </a:lnB>
                    <a:solidFill>
                      <a:srgbClr val="FFFFFF"/>
                    </a:solidFill>
                  </a:tcPr>
                </a:tc>
                <a:tc gridSpan="2">
                  <a:txBody>
                    <a:bodyPr/>
                    <a:lstStyle/>
                    <a:p>
                      <a:pPr algn="just">
                        <a:spcAft>
                          <a:spcPts val="0"/>
                        </a:spcAft>
                      </a:pPr>
                      <a:r>
                        <a:rPr lang="en-AU" sz="1600" b="1">
                          <a:solidFill>
                            <a:srgbClr val="FFFFFF"/>
                          </a:solidFill>
                          <a:latin typeface="Arial" pitchFamily="34" charset="0"/>
                          <a:ea typeface="Times New Roman"/>
                          <a:cs typeface="Arial" pitchFamily="34" charset="0"/>
                        </a:rPr>
                        <a:t>Assumptions used</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w="28575" cap="flat" cmpd="sng" algn="ctr">
                      <a:solidFill>
                        <a:srgbClr val="4F81BD"/>
                      </a:solidFill>
                      <a:prstDash val="solid"/>
                      <a:round/>
                      <a:headEnd type="none" w="med" len="med"/>
                      <a:tailEnd type="none" w="med" len="med"/>
                    </a:lnT>
                    <a:lnB>
                      <a:noFill/>
                    </a:lnB>
                    <a:solidFill>
                      <a:srgbClr val="0000C2"/>
                    </a:solidFill>
                  </a:tcPr>
                </a:tc>
                <a:tc hMerge="1">
                  <a:txBody>
                    <a:bodyPr/>
                    <a:lstStyle/>
                    <a:p>
                      <a:endParaRPr lang="en-AU"/>
                    </a:p>
                  </a:txBody>
                  <a:tcPr/>
                </a:tc>
                <a:tc>
                  <a:txBody>
                    <a:bodyPr/>
                    <a:lstStyle/>
                    <a:p>
                      <a:pPr algn="ctr">
                        <a:spcAft>
                          <a:spcPts val="0"/>
                        </a:spcAft>
                      </a:pPr>
                      <a:r>
                        <a:rPr lang="en-AU" sz="1600" dirty="0">
                          <a:solidFill>
                            <a:srgbClr val="FFFFFF"/>
                          </a:solidFill>
                          <a:latin typeface="Arial" pitchFamily="34" charset="0"/>
                          <a:ea typeface="Times New Roman"/>
                          <a:cs typeface="Arial" pitchFamily="34" charset="0"/>
                        </a:rPr>
                        <a:t> </a:t>
                      </a:r>
                      <a:r>
                        <a:rPr lang="en-AU" sz="1600" dirty="0" smtClean="0">
                          <a:solidFill>
                            <a:srgbClr val="FFFFFF"/>
                          </a:solidFill>
                          <a:latin typeface="Arial" pitchFamily="34" charset="0"/>
                          <a:ea typeface="Times New Roman"/>
                          <a:cs typeface="Arial" pitchFamily="34" charset="0"/>
                        </a:rPr>
                        <a:t>Gross</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28575" cap="flat" cmpd="sng" algn="ctr">
                      <a:solidFill>
                        <a:srgbClr val="4F81BD"/>
                      </a:solidFill>
                      <a:prstDash val="solid"/>
                      <a:round/>
                      <a:headEnd type="none" w="med" len="med"/>
                      <a:tailEnd type="none" w="med" len="med"/>
                    </a:lnT>
                    <a:lnB>
                      <a:noFill/>
                    </a:lnB>
                    <a:solidFill>
                      <a:srgbClr val="0000C2"/>
                    </a:solidFill>
                  </a:tcPr>
                </a:tc>
                <a:tc>
                  <a:txBody>
                    <a:bodyPr/>
                    <a:lstStyle/>
                    <a:p>
                      <a:pPr algn="ctr">
                        <a:spcAft>
                          <a:spcPts val="0"/>
                        </a:spcAft>
                      </a:pPr>
                      <a:r>
                        <a:rPr lang="en-AU" sz="1600" b="1" u="sng">
                          <a:solidFill>
                            <a:srgbClr val="000000"/>
                          </a:solidFill>
                          <a:latin typeface="Arial" pitchFamily="34" charset="0"/>
                          <a:ea typeface="Times New Roman"/>
                          <a:cs typeface="Arial" pitchFamily="34" charset="0"/>
                        </a:rPr>
                        <a:t>Per Lot</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w="28575" cap="flat" cmpd="sng" algn="ctr">
                      <a:solidFill>
                        <a:srgbClr val="4F81BD"/>
                      </a:solidFill>
                      <a:prstDash val="solid"/>
                      <a:round/>
                      <a:headEnd type="none" w="med" len="med"/>
                      <a:tailEnd type="none" w="med" len="med"/>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Interest rate (cost)</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9.00%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per annum</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just">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Development Timing:</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b="1" u="sng">
                          <a:solidFill>
                            <a:srgbClr val="000000"/>
                          </a:solidFill>
                          <a:latin typeface="Arial" pitchFamily="34" charset="0"/>
                          <a:ea typeface="Times New Roman"/>
                          <a:cs typeface="Arial" pitchFamily="34" charset="0"/>
                        </a:rPr>
                        <a:t>Base Case</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just">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just">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Identification of suitable site and site purchase</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0.00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Planning &amp; Building Consents including DA</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18.00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18</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Funds raising (debt and / or equity)</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3.00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Construction and development</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dirty="0">
                          <a:solidFill>
                            <a:srgbClr val="000000"/>
                          </a:solidFill>
                          <a:latin typeface="Arial" pitchFamily="34" charset="0"/>
                          <a:ea typeface="Times New Roman"/>
                          <a:cs typeface="Arial" pitchFamily="34" charset="0"/>
                        </a:rPr>
                        <a:t>9.00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Other</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dirty="0">
                          <a:solidFill>
                            <a:srgbClr val="000000"/>
                          </a:solidFill>
                          <a:latin typeface="Arial" pitchFamily="34" charset="0"/>
                          <a:ea typeface="Times New Roman"/>
                          <a:cs typeface="Arial" pitchFamily="34" charset="0"/>
                        </a:rPr>
                        <a:t>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b="1">
                          <a:solidFill>
                            <a:srgbClr val="000000"/>
                          </a:solidFill>
                          <a:latin typeface="Arial" pitchFamily="34" charset="0"/>
                          <a:ea typeface="Times New Roman"/>
                          <a:cs typeface="Arial" pitchFamily="34" charset="0"/>
                        </a:rPr>
                        <a:t>TOTAL development time from acquisition</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b="1" dirty="0">
                          <a:solidFill>
                            <a:srgbClr val="000000"/>
                          </a:solidFill>
                          <a:latin typeface="Arial" pitchFamily="34" charset="0"/>
                          <a:ea typeface="Times New Roman"/>
                          <a:cs typeface="Arial" pitchFamily="34" charset="0"/>
                        </a:rPr>
                        <a:t>30.00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b="1">
                          <a:solidFill>
                            <a:srgbClr val="000000"/>
                          </a:solidFill>
                          <a:latin typeface="Arial" pitchFamily="34" charset="0"/>
                          <a:ea typeface="Times New Roman"/>
                          <a:cs typeface="Arial" pitchFamily="34" charset="0"/>
                        </a:rPr>
                        <a:t>months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Undeveloped Land Cost</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$7,500,000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$37,500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Acquisition costs</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dirty="0">
                          <a:solidFill>
                            <a:srgbClr val="000000"/>
                          </a:solidFill>
                          <a:latin typeface="Arial" pitchFamily="34" charset="0"/>
                          <a:ea typeface="Times New Roman"/>
                          <a:cs typeface="Arial" pitchFamily="34" charset="0"/>
                        </a:rPr>
                        <a:t>3.00%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$225,000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$1,125</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$7,725,000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a:noFill/>
                    </a:lnB>
                    <a:solidFill>
                      <a:srgbClr val="DBE5F1"/>
                    </a:solidFill>
                  </a:tcPr>
                </a:tc>
                <a:tc>
                  <a:txBody>
                    <a:bodyPr/>
                    <a:lstStyle/>
                    <a:p>
                      <a:pPr algn="r">
                        <a:spcAft>
                          <a:spcPts val="0"/>
                        </a:spcAft>
                      </a:pPr>
                      <a:r>
                        <a:rPr lang="en-AU" sz="1400" b="1">
                          <a:solidFill>
                            <a:srgbClr val="000000"/>
                          </a:solidFill>
                          <a:latin typeface="Arial" pitchFamily="34" charset="0"/>
                          <a:ea typeface="Times New Roman"/>
                          <a:cs typeface="Arial" pitchFamily="34" charset="0"/>
                        </a:rPr>
                        <a:t>$38,625</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Loss of Interest over a development period of</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30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months</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$1,857,189</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$9,286</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dirty="0">
                          <a:solidFill>
                            <a:srgbClr val="000000"/>
                          </a:solidFill>
                          <a:latin typeface="Arial" pitchFamily="34" charset="0"/>
                          <a:ea typeface="Times New Roman"/>
                          <a:cs typeface="Arial" pitchFamily="34" charset="0"/>
                        </a:rPr>
                        <a:t>Number of lots</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200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507292">
                <a:tc>
                  <a:txBody>
                    <a:bodyPr/>
                    <a:lstStyle/>
                    <a:p>
                      <a:pPr algn="just">
                        <a:spcAft>
                          <a:spcPts val="0"/>
                        </a:spcAft>
                      </a:pPr>
                      <a:r>
                        <a:rPr lang="en-AU" sz="1400" dirty="0">
                          <a:solidFill>
                            <a:srgbClr val="000000"/>
                          </a:solidFill>
                          <a:latin typeface="Arial" pitchFamily="34" charset="0"/>
                          <a:ea typeface="Times New Roman"/>
                          <a:cs typeface="Arial" pitchFamily="34" charset="0"/>
                        </a:rPr>
                        <a:t>Rates, special council charges and land tax say (% of acquisition and land costs per lot p.a.)</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dirty="0">
                          <a:solidFill>
                            <a:srgbClr val="000000"/>
                          </a:solidFill>
                          <a:latin typeface="Arial" pitchFamily="34" charset="0"/>
                          <a:ea typeface="Times New Roman"/>
                          <a:cs typeface="Arial" pitchFamily="34" charset="0"/>
                        </a:rPr>
                        <a:t>3.53%</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endParaRPr lang="en-AU" sz="1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$681,828</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$3,409</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a:solidFill>
                            <a:srgbClr val="000000"/>
                          </a:solidFill>
                          <a:latin typeface="Arial" pitchFamily="34" charset="0"/>
                          <a:ea typeface="Times New Roman"/>
                          <a:cs typeface="Arial" pitchFamily="34" charset="0"/>
                        </a:rPr>
                        <a:t>Development Costs, say</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dirty="0">
                          <a:solidFill>
                            <a:srgbClr val="000000"/>
                          </a:solidFill>
                          <a:latin typeface="Arial" pitchFamily="34" charset="0"/>
                          <a:ea typeface="Times New Roman"/>
                          <a:cs typeface="Arial" pitchFamily="34" charset="0"/>
                        </a:rPr>
                        <a:t>$75,000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per lot</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$15,000,000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$75,000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50729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AU" sz="1400" dirty="0" smtClean="0">
                          <a:solidFill>
                            <a:srgbClr val="000000"/>
                          </a:solidFill>
                          <a:latin typeface="Arial" pitchFamily="34" charset="0"/>
                          <a:ea typeface="Times New Roman"/>
                          <a:cs typeface="Arial" pitchFamily="34" charset="0"/>
                        </a:rPr>
                        <a:t>Interest Costs on development - based on (30% of total development period)</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9</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months @ 9%</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$1,001,516</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a:solidFill>
                            <a:srgbClr val="000000"/>
                          </a:solidFill>
                          <a:latin typeface="Arial" pitchFamily="34" charset="0"/>
                          <a:ea typeface="Times New Roman"/>
                          <a:cs typeface="Arial" pitchFamily="34" charset="0"/>
                        </a:rPr>
                        <a:t>$5,008</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b="1">
                          <a:solidFill>
                            <a:srgbClr val="000000"/>
                          </a:solidFill>
                          <a:latin typeface="Arial" pitchFamily="34" charset="0"/>
                          <a:ea typeface="Times New Roman"/>
                          <a:cs typeface="Arial" pitchFamily="34" charset="0"/>
                        </a:rPr>
                        <a:t>Total Development costs including interest</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dirty="0">
                          <a:solidFill>
                            <a:srgbClr val="000000"/>
                          </a:solidFill>
                          <a:latin typeface="Arial" pitchFamily="34" charset="0"/>
                          <a:ea typeface="Times New Roman"/>
                          <a:cs typeface="Arial" pitchFamily="34" charset="0"/>
                        </a:rPr>
                        <a:t> </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$18,540,533</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a:noFill/>
                    </a:lnB>
                    <a:solidFill>
                      <a:srgbClr val="DBE5F1"/>
                    </a:solidFill>
                  </a:tcPr>
                </a:tc>
                <a:tc>
                  <a:txBody>
                    <a:bodyPr/>
                    <a:lstStyle/>
                    <a:p>
                      <a:pPr algn="r">
                        <a:spcAft>
                          <a:spcPts val="0"/>
                        </a:spcAft>
                      </a:pPr>
                      <a:r>
                        <a:rPr lang="en-AU" sz="1400" b="1">
                          <a:solidFill>
                            <a:srgbClr val="000000"/>
                          </a:solidFill>
                          <a:latin typeface="Arial" pitchFamily="34" charset="0"/>
                          <a:ea typeface="Times New Roman"/>
                          <a:cs typeface="Arial" pitchFamily="34" charset="0"/>
                        </a:rPr>
                        <a:t>$92,703</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b="1">
                          <a:solidFill>
                            <a:srgbClr val="000000"/>
                          </a:solidFill>
                          <a:latin typeface="Arial" pitchFamily="34" charset="0"/>
                          <a:ea typeface="Times New Roman"/>
                          <a:cs typeface="Arial" pitchFamily="34" charset="0"/>
                        </a:rPr>
                        <a:t>Total Costs of Development incl. acquisition</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endParaRPr lang="en-AU" sz="1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$26,265,533</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b="1">
                          <a:solidFill>
                            <a:srgbClr val="000000"/>
                          </a:solidFill>
                          <a:latin typeface="Arial" pitchFamily="34" charset="0"/>
                          <a:ea typeface="Times New Roman"/>
                          <a:cs typeface="Arial" pitchFamily="34" charset="0"/>
                        </a:rPr>
                        <a:t>$131,328</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a:solidFill>
                            <a:srgbClr val="000000"/>
                          </a:solidFill>
                          <a:latin typeface="Arial" pitchFamily="34" charset="0"/>
                          <a:ea typeface="Times New Roman"/>
                          <a:cs typeface="Arial" pitchFamily="34" charset="0"/>
                        </a:rPr>
                        <a:t>Developers Margin</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20%</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of Total costs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$5,253,107</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$26,266</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a:solidFill>
                            <a:srgbClr val="000000"/>
                          </a:solidFill>
                          <a:latin typeface="Arial" pitchFamily="34" charset="0"/>
                          <a:ea typeface="Times New Roman"/>
                          <a:cs typeface="Arial" pitchFamily="34" charset="0"/>
                        </a:rPr>
                        <a:t>Sale price before selling costs</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$31,518,639</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$157,593</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a:solidFill>
                            <a:srgbClr val="000000"/>
                          </a:solidFill>
                          <a:latin typeface="Arial" pitchFamily="34" charset="0"/>
                          <a:ea typeface="Times New Roman"/>
                          <a:cs typeface="Arial" pitchFamily="34" charset="0"/>
                        </a:rPr>
                        <a:t>Selling Costs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FFFFFF"/>
                    </a:solidFill>
                  </a:tcPr>
                </a:tc>
                <a:tc>
                  <a:txBody>
                    <a:bodyPr/>
                    <a:lstStyle/>
                    <a:p>
                      <a:pPr algn="ctr">
                        <a:spcAft>
                          <a:spcPts val="0"/>
                        </a:spcAft>
                      </a:pPr>
                      <a:r>
                        <a:rPr lang="en-AU" sz="1400">
                          <a:solidFill>
                            <a:srgbClr val="000000"/>
                          </a:solidFill>
                          <a:latin typeface="Arial" pitchFamily="34" charset="0"/>
                          <a:ea typeface="Times New Roman"/>
                          <a:cs typeface="Arial" pitchFamily="34" charset="0"/>
                        </a:rPr>
                        <a:t>4.7%</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$1,481,376</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$7,407</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a:noFill/>
                    </a:lnB>
                    <a:solidFill>
                      <a:srgbClr val="CCECFF"/>
                    </a:solidFill>
                  </a:tcPr>
                </a:tc>
              </a:tr>
              <a:tr h="264030">
                <a:tc>
                  <a:txBody>
                    <a:bodyPr/>
                    <a:lstStyle/>
                    <a:p>
                      <a:pPr algn="just">
                        <a:spcAft>
                          <a:spcPts val="0"/>
                        </a:spcAft>
                      </a:pPr>
                      <a:r>
                        <a:rPr lang="en-AU" sz="1400">
                          <a:solidFill>
                            <a:srgbClr val="000000"/>
                          </a:solidFill>
                          <a:latin typeface="Arial" pitchFamily="34" charset="0"/>
                          <a:ea typeface="Times New Roman"/>
                          <a:cs typeface="Arial" pitchFamily="34" charset="0"/>
                        </a:rPr>
                        <a:t>Gross realisation</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DBE5F1"/>
                    </a:solidFill>
                  </a:tcPr>
                </a:tc>
                <a:tc>
                  <a:txBody>
                    <a:bodyPr/>
                    <a:lstStyle/>
                    <a:p>
                      <a:pPr algn="l">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dirty="0">
                          <a:solidFill>
                            <a:srgbClr val="000000"/>
                          </a:solidFill>
                          <a:latin typeface="Arial" pitchFamily="34" charset="0"/>
                          <a:ea typeface="Times New Roman"/>
                          <a:cs typeface="Arial" pitchFamily="34" charset="0"/>
                        </a:rPr>
                        <a:t>$33,000,016</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$165,000</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a:noFill/>
                    </a:lnT>
                    <a:lnB w="12700" cap="flat" cmpd="sng" algn="ctr">
                      <a:solidFill>
                        <a:srgbClr val="000000"/>
                      </a:solidFill>
                      <a:prstDash val="solid"/>
                      <a:round/>
                      <a:headEnd type="none" w="med" len="med"/>
                      <a:tailEnd type="none" w="med" len="med"/>
                    </a:lnB>
                    <a:solidFill>
                      <a:srgbClr val="CCECFF"/>
                    </a:solidFill>
                  </a:tcPr>
                </a:tc>
              </a:tr>
              <a:tr h="264030">
                <a:tc>
                  <a:txBody>
                    <a:bodyPr/>
                    <a:lstStyle/>
                    <a:p>
                      <a:pPr algn="just">
                        <a:spcAft>
                          <a:spcPts val="0"/>
                        </a:spcAft>
                      </a:pPr>
                      <a:r>
                        <a:rPr lang="en-AU" sz="1400" b="1">
                          <a:solidFill>
                            <a:srgbClr val="000000"/>
                          </a:solidFill>
                          <a:latin typeface="Arial" pitchFamily="34" charset="0"/>
                          <a:ea typeface="Times New Roman"/>
                          <a:cs typeface="Arial" pitchFamily="34" charset="0"/>
                        </a:rPr>
                        <a:t>TOTAL HOLDING COSTS FOR PROJECT</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endParaRPr lang="en-AU" sz="140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just">
                        <a:spcAft>
                          <a:spcPts val="0"/>
                        </a:spcAft>
                      </a:pPr>
                      <a:r>
                        <a:rPr lang="en-AU" sz="1400">
                          <a:solidFill>
                            <a:srgbClr val="000000"/>
                          </a:solidFill>
                          <a:latin typeface="Arial" pitchFamily="34" charset="0"/>
                          <a:ea typeface="Times New Roman"/>
                          <a:cs typeface="Arial" pitchFamily="34" charset="0"/>
                        </a:rPr>
                        <a:t> </a:t>
                      </a:r>
                      <a:endParaRPr lang="en-AU" sz="240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$2,858,705</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r">
                        <a:spcAft>
                          <a:spcPts val="0"/>
                        </a:spcAft>
                      </a:pPr>
                      <a:r>
                        <a:rPr lang="en-AU" sz="1400" b="1" dirty="0">
                          <a:solidFill>
                            <a:srgbClr val="000000"/>
                          </a:solidFill>
                          <a:latin typeface="Arial" pitchFamily="34" charset="0"/>
                          <a:ea typeface="Times New Roman"/>
                          <a:cs typeface="Arial" pitchFamily="34" charset="0"/>
                        </a:rPr>
                        <a:t>$14,294</a:t>
                      </a:r>
                      <a:endParaRPr lang="en-AU" sz="2400" dirty="0">
                        <a:solidFill>
                          <a:srgbClr val="000000"/>
                        </a:solidFill>
                        <a:latin typeface="Arial" pitchFamily="34" charset="0"/>
                        <a:ea typeface="Times New Roman"/>
                        <a:cs typeface="Arial" pitchFamily="34" charset="0"/>
                      </a:endParaRPr>
                    </a:p>
                  </a:txBody>
                  <a:tcPr marL="9108" marR="9108" marT="9108" marB="9108">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0" y="0"/>
            <a:ext cx="9196939" cy="6858000"/>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srcRect/>
          <a:stretch>
            <a:fillRect/>
          </a:stretch>
        </p:blipFill>
        <p:spPr bwMode="auto">
          <a:xfrm>
            <a:off x="0" y="0"/>
            <a:ext cx="9200833" cy="6858000"/>
          </a:xfrm>
          <a:prstGeom prst="rect">
            <a:avLst/>
          </a:prstGeom>
          <a:noFill/>
          <a:ln w="9525">
            <a:noFill/>
            <a:miter lim="800000"/>
            <a:headEnd/>
            <a:tailEnd/>
          </a:ln>
          <a:effectLst/>
        </p:spPr>
      </p:pic>
      <p:sp>
        <p:nvSpPr>
          <p:cNvPr id="5" name="Rectangle 4"/>
          <p:cNvSpPr/>
          <p:nvPr/>
        </p:nvSpPr>
        <p:spPr>
          <a:xfrm>
            <a:off x="1857356" y="6143644"/>
            <a:ext cx="6143668" cy="5000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srcRect/>
          <a:stretch>
            <a:fillRect/>
          </a:stretch>
        </p:blipFill>
        <p:spPr bwMode="auto">
          <a:xfrm>
            <a:off x="0" y="0"/>
            <a:ext cx="9200833" cy="6858000"/>
          </a:xfrm>
          <a:prstGeom prst="rect">
            <a:avLst/>
          </a:prstGeom>
          <a:noFill/>
          <a:ln w="9525">
            <a:noFill/>
            <a:miter lim="800000"/>
            <a:headEnd/>
            <a:tailEnd/>
          </a:ln>
          <a:effectLst/>
        </p:spPr>
      </p:pic>
      <p:sp>
        <p:nvSpPr>
          <p:cNvPr id="3" name="Rectangle 2"/>
          <p:cNvSpPr/>
          <p:nvPr/>
        </p:nvSpPr>
        <p:spPr>
          <a:xfrm>
            <a:off x="1857356" y="6143644"/>
            <a:ext cx="6143668" cy="2143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srcRect/>
          <a:stretch>
            <a:fillRect/>
          </a:stretch>
        </p:blipFill>
        <p:spPr bwMode="auto">
          <a:xfrm>
            <a:off x="0" y="0"/>
            <a:ext cx="9200833" cy="6858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normAutofit/>
          </a:bodyPr>
          <a:lstStyle/>
          <a:p>
            <a:r>
              <a:rPr lang="en-AU" dirty="0" smtClean="0"/>
              <a:t>Preliminary Results </a:t>
            </a:r>
            <a:endParaRPr lang="en-AU" dirty="0"/>
          </a:p>
        </p:txBody>
      </p:sp>
      <p:sp>
        <p:nvSpPr>
          <p:cNvPr id="3" name="Content Placeholder 2"/>
          <p:cNvSpPr>
            <a:spLocks noGrp="1"/>
          </p:cNvSpPr>
          <p:nvPr>
            <p:ph idx="1"/>
          </p:nvPr>
        </p:nvSpPr>
        <p:spPr>
          <a:xfrm>
            <a:off x="457200" y="1357298"/>
            <a:ext cx="8329642" cy="5286412"/>
          </a:xfrm>
        </p:spPr>
        <p:txBody>
          <a:bodyPr>
            <a:normAutofit fontScale="77500" lnSpcReduction="20000"/>
          </a:bodyPr>
          <a:lstStyle/>
          <a:p>
            <a:r>
              <a:rPr lang="en-AU" dirty="0" smtClean="0"/>
              <a:t>Assumptions having greatest impact include interest rates &amp; development timing (incorporating holding period). </a:t>
            </a:r>
          </a:p>
          <a:p>
            <a:r>
              <a:rPr lang="en-AU" dirty="0" smtClean="0"/>
              <a:t>Typical (“</a:t>
            </a:r>
            <a:r>
              <a:rPr lang="en-AU" dirty="0" smtClean="0">
                <a:solidFill>
                  <a:srgbClr val="66CCFF"/>
                </a:solidFill>
              </a:rPr>
              <a:t>base case</a:t>
            </a:r>
            <a:r>
              <a:rPr lang="en-AU" dirty="0" smtClean="0"/>
              <a:t>”) scenario: total holding costs equate to approximately </a:t>
            </a:r>
            <a:r>
              <a:rPr lang="en-AU" dirty="0" smtClean="0">
                <a:solidFill>
                  <a:srgbClr val="66CCFF"/>
                </a:solidFill>
              </a:rPr>
              <a:t>$15,000 per lot </a:t>
            </a:r>
            <a:r>
              <a:rPr lang="en-AU" dirty="0" smtClean="0"/>
              <a:t>(assuming 18 months regulatory assessment)</a:t>
            </a:r>
          </a:p>
          <a:p>
            <a:r>
              <a:rPr lang="en-AU" dirty="0" smtClean="0"/>
              <a:t>For every month the assessment time is delayed, the end-user will pay approximately an extra $500 more. </a:t>
            </a:r>
          </a:p>
          <a:p>
            <a:pPr lvl="1"/>
            <a:r>
              <a:rPr lang="en-AU" dirty="0" smtClean="0"/>
              <a:t>If time reduced by 6 months, holding costs reduce to just over $11,000 per lot.</a:t>
            </a:r>
          </a:p>
          <a:p>
            <a:pPr lvl="1"/>
            <a:r>
              <a:rPr lang="en-AU" dirty="0" smtClean="0"/>
              <a:t>If time is increased by 6 months, holding costs increase to $17,000 per lot. </a:t>
            </a:r>
          </a:p>
          <a:p>
            <a:r>
              <a:rPr lang="en-AU" dirty="0" smtClean="0"/>
              <a:t>If timeframes are further extended (exceeds 5 years), </a:t>
            </a:r>
            <a:r>
              <a:rPr lang="en-AU" dirty="0" smtClean="0">
                <a:solidFill>
                  <a:srgbClr val="FFFF00"/>
                </a:solidFill>
              </a:rPr>
              <a:t>holding costs could climb to $40,000 per lot and beyond</a:t>
            </a:r>
          </a:p>
          <a:p>
            <a:pPr lvl="1"/>
            <a:r>
              <a:rPr lang="en-AU" dirty="0" smtClean="0"/>
              <a:t>Effectively raises average cost of each allotment from $165,00 (Base model assumption) to over $200,000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p:cTn id="26"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3">
                                            <p:txEl>
                                              <p:pRg st="3" end="3"/>
                                            </p:txEl>
                                          </p:spTgt>
                                        </p:tgtEl>
                                      </p:cBhvr>
                                    </p:animEffect>
                                  </p:childTnLst>
                                </p:cTn>
                              </p:par>
                              <p:par>
                                <p:cTn id="29" presetID="53"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p:cTn id="3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3">
                                            <p:txEl>
                                              <p:pRg st="5" end="5"/>
                                            </p:txEl>
                                          </p:spTgt>
                                        </p:tgtEl>
                                      </p:cBhvr>
                                    </p:animEffect>
                                  </p:childTnLst>
                                </p:cTn>
                              </p:par>
                              <p:par>
                                <p:cTn id="41" presetID="53"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86766" cy="1143000"/>
          </a:xfrm>
        </p:spPr>
        <p:txBody>
          <a:bodyPr>
            <a:noAutofit/>
          </a:bodyPr>
          <a:lstStyle/>
          <a:p>
            <a:r>
              <a:rPr lang="en-AU" sz="3600" dirty="0" smtClean="0"/>
              <a:t>Affordability: quantum of additional costs and impact upon the end-purchaser </a:t>
            </a:r>
          </a:p>
        </p:txBody>
      </p:sp>
      <p:sp>
        <p:nvSpPr>
          <p:cNvPr id="3" name="Content Placeholder 2"/>
          <p:cNvSpPr>
            <a:spLocks noGrp="1"/>
          </p:cNvSpPr>
          <p:nvPr>
            <p:ph idx="1"/>
          </p:nvPr>
        </p:nvSpPr>
        <p:spPr>
          <a:xfrm>
            <a:off x="457200" y="1643050"/>
            <a:ext cx="8229600" cy="4651387"/>
          </a:xfrm>
        </p:spPr>
        <p:txBody>
          <a:bodyPr>
            <a:normAutofit fontScale="92500" lnSpcReduction="20000"/>
          </a:bodyPr>
          <a:lstStyle/>
          <a:p>
            <a:r>
              <a:rPr lang="en-AU" dirty="0" smtClean="0"/>
              <a:t>Since new home buyers typically obtain finance to complete their purchase, if the cost of acquisition rises, then so does their mortgage. </a:t>
            </a:r>
          </a:p>
          <a:p>
            <a:r>
              <a:rPr lang="en-AU" dirty="0" smtClean="0"/>
              <a:t>Therefore, impact can be based on calculating the additional monthly mortgage repayment required to cover the costs of extended assessment</a:t>
            </a:r>
          </a:p>
          <a:p>
            <a:r>
              <a:rPr lang="en-AU" dirty="0" smtClean="0"/>
              <a:t>The impact of these costs can then be examined in terms of average household income. </a:t>
            </a:r>
          </a:p>
          <a:p>
            <a:r>
              <a:rPr lang="en-AU" dirty="0" smtClean="0"/>
              <a:t>In this way, the impact of assessment time can be directly related to housing affordability since it is looked at in the context of the “30/40 affordability rule”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Interest rate impact</a:t>
            </a:r>
            <a:endParaRPr lang="en-AU" dirty="0"/>
          </a:p>
        </p:txBody>
      </p:sp>
      <p:sp>
        <p:nvSpPr>
          <p:cNvPr id="3" name="Text Placeholder 2"/>
          <p:cNvSpPr>
            <a:spLocks noGrp="1"/>
          </p:cNvSpPr>
          <p:nvPr>
            <p:ph type="body" idx="1"/>
          </p:nvPr>
        </p:nvSpPr>
        <p:spPr/>
        <p:txBody>
          <a:bodyPr/>
          <a:lstStyle/>
          <a:p>
            <a:pPr marL="0" indent="0"/>
            <a:r>
              <a:rPr lang="en-AU" dirty="0" smtClean="0"/>
              <a:t>Preliminary Findings Related to the Conceptualisation, Sensitivity &amp; Measurement of Holding Costs &amp; Impact on Housing Affordability</a:t>
            </a:r>
            <a:endParaRPr lang="en-AU" dirty="0"/>
          </a:p>
        </p:txBody>
      </p:sp>
      <p:pic>
        <p:nvPicPr>
          <p:cNvPr id="101377" name="Picture 1" descr="C:\Documents and Settings\ggarner\Local Settings\Temporary Internet Files\Content.IE5\SUW4EZY5\MCj03892860000[1].wmf"/>
          <p:cNvPicPr>
            <a:picLocks noChangeAspect="1" noChangeArrowheads="1"/>
          </p:cNvPicPr>
          <p:nvPr/>
        </p:nvPicPr>
        <p:blipFill>
          <a:blip r:embed="rId2">
            <a:lum bright="-59000"/>
          </a:blip>
          <a:srcRect/>
          <a:stretch>
            <a:fillRect/>
          </a:stretch>
        </p:blipFill>
        <p:spPr bwMode="auto">
          <a:xfrm>
            <a:off x="4000496" y="4143380"/>
            <a:ext cx="1620317" cy="1848917"/>
          </a:xfrm>
          <a:prstGeom prst="rect">
            <a:avLst/>
          </a:prstGeom>
          <a:noFill/>
          <a:effectLst>
            <a:softEdge rad="317500"/>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5" name="Picture 7"/>
          <p:cNvPicPr>
            <a:picLocks noChangeAspect="1" noChangeArrowheads="1"/>
          </p:cNvPicPr>
          <p:nvPr/>
        </p:nvPicPr>
        <p:blipFill>
          <a:blip r:embed="rId2"/>
          <a:srcRect/>
          <a:stretch>
            <a:fillRect/>
          </a:stretch>
        </p:blipFill>
        <p:spPr bwMode="auto">
          <a:xfrm>
            <a:off x="-33338" y="-28575"/>
            <a:ext cx="9210676"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ChangeAspect="1" noChangeArrowheads="1"/>
          </p:cNvPicPr>
          <p:nvPr/>
        </p:nvPicPr>
        <p:blipFill>
          <a:blip r:embed="rId2"/>
          <a:srcRect/>
          <a:stretch>
            <a:fillRect/>
          </a:stretch>
        </p:blipFill>
        <p:spPr bwMode="auto">
          <a:xfrm>
            <a:off x="0" y="0"/>
            <a:ext cx="9210675"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2"/>
          <a:srcRect/>
          <a:stretch>
            <a:fillRect/>
          </a:stretch>
        </p:blipFill>
        <p:spPr bwMode="auto">
          <a:xfrm>
            <a:off x="0" y="0"/>
            <a:ext cx="9210675"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p:cNvPicPr>
            <a:picLocks noChangeAspect="1" noChangeArrowheads="1"/>
          </p:cNvPicPr>
          <p:nvPr/>
        </p:nvPicPr>
        <p:blipFill>
          <a:blip r:embed="rId2"/>
          <a:srcRect/>
          <a:stretch>
            <a:fillRect/>
          </a:stretch>
        </p:blipFill>
        <p:spPr bwMode="auto">
          <a:xfrm>
            <a:off x="0" y="0"/>
            <a:ext cx="9210675"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a:srcRect/>
          <a:stretch>
            <a:fillRect/>
          </a:stretch>
        </p:blipFill>
        <p:spPr bwMode="auto">
          <a:xfrm>
            <a:off x="0" y="0"/>
            <a:ext cx="9210675"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p:cNvPicPr>
            <a:picLocks noChangeAspect="1" noChangeArrowheads="1"/>
          </p:cNvPicPr>
          <p:nvPr/>
        </p:nvPicPr>
        <p:blipFill>
          <a:blip r:embed="rId2"/>
          <a:srcRect/>
          <a:stretch>
            <a:fillRect/>
          </a:stretch>
        </p:blipFill>
        <p:spPr bwMode="auto">
          <a:xfrm>
            <a:off x="0" y="0"/>
            <a:ext cx="9210675" cy="6915150"/>
          </a:xfrm>
          <a:prstGeom prst="rect">
            <a:avLst/>
          </a:prstGeom>
          <a:noFill/>
          <a:ln w="9525">
            <a:noFill/>
            <a:miter lim="800000"/>
            <a:headEnd/>
            <a:tailEnd/>
          </a:ln>
          <a:effectLst/>
        </p:spPr>
      </p:pic>
    </p:spTree>
  </p:cSld>
  <p:clrMapOvr>
    <a:masterClrMapping/>
  </p:clrMapOvr>
  <p:transition spd="med">
    <p:fade thruBlk="1"/>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43890" cy="1143000"/>
          </a:xfrm>
        </p:spPr>
        <p:txBody>
          <a:bodyPr>
            <a:noAutofit/>
          </a:bodyPr>
          <a:lstStyle/>
          <a:p>
            <a:r>
              <a:rPr lang="en-AU" sz="3200" dirty="0" smtClean="0"/>
              <a:t>Increased Costs and Housing Affordability – Measurement of the Impact Upon Mortgages</a:t>
            </a:r>
            <a:endParaRPr lang="en-AU" sz="3200" dirty="0"/>
          </a:p>
        </p:txBody>
      </p:sp>
      <p:sp>
        <p:nvSpPr>
          <p:cNvPr id="3" name="Content Placeholder 2"/>
          <p:cNvSpPr>
            <a:spLocks noGrp="1"/>
          </p:cNvSpPr>
          <p:nvPr>
            <p:ph idx="1"/>
          </p:nvPr>
        </p:nvSpPr>
        <p:spPr>
          <a:xfrm>
            <a:off x="457200" y="1571612"/>
            <a:ext cx="8229600" cy="5000660"/>
          </a:xfrm>
        </p:spPr>
        <p:txBody>
          <a:bodyPr>
            <a:normAutofit fontScale="85000" lnSpcReduction="10000"/>
          </a:bodyPr>
          <a:lstStyle/>
          <a:p>
            <a:r>
              <a:rPr lang="en-AU" dirty="0" smtClean="0"/>
              <a:t>Percentages would be even higher for those in the bottom 40% of household income distribution - in concert with the “30/40 affordability rule”. </a:t>
            </a:r>
          </a:p>
          <a:p>
            <a:r>
              <a:rPr lang="en-AU" dirty="0" smtClean="0"/>
              <a:t>Such consumers (especially first home buyers) are therefore potentially pushed into the realms of un-affordability and mortgage stress.</a:t>
            </a:r>
          </a:p>
          <a:p>
            <a:r>
              <a:rPr lang="en-AU" dirty="0" smtClean="0"/>
              <a:t>Even a 6 month reduction in assessment period equates to a approximately 2% reduction in the percentage of household income devoted to mortgage repayments. </a:t>
            </a:r>
          </a:p>
          <a:p>
            <a:r>
              <a:rPr lang="en-AU" b="1" dirty="0" smtClean="0">
                <a:solidFill>
                  <a:srgbClr val="FFFF00"/>
                </a:solidFill>
                <a:effectLst>
                  <a:outerShdw blurRad="38100" dist="38100" dir="2700000" algn="tl">
                    <a:srgbClr val="000000">
                      <a:alpha val="43137"/>
                    </a:srgbClr>
                  </a:outerShdw>
                </a:effectLst>
              </a:rPr>
              <a:t>This highlights that even small shifts in assessment period can significantly affect housing affordability, and emphasises the need for timely processing by regulatory authorities.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857256"/>
          </a:xfrm>
        </p:spPr>
        <p:txBody>
          <a:bodyPr>
            <a:normAutofit/>
          </a:bodyPr>
          <a:lstStyle/>
          <a:p>
            <a:r>
              <a:rPr lang="en-AU" dirty="0" smtClean="0"/>
              <a:t>Conclusions</a:t>
            </a:r>
            <a:endParaRPr lang="en-AU" dirty="0"/>
          </a:p>
        </p:txBody>
      </p:sp>
      <p:sp>
        <p:nvSpPr>
          <p:cNvPr id="3" name="Content Placeholder 2"/>
          <p:cNvSpPr>
            <a:spLocks noGrp="1"/>
          </p:cNvSpPr>
          <p:nvPr>
            <p:ph idx="1"/>
          </p:nvPr>
        </p:nvSpPr>
        <p:spPr>
          <a:xfrm>
            <a:off x="457200" y="1285860"/>
            <a:ext cx="8472518" cy="5429288"/>
          </a:xfrm>
        </p:spPr>
        <p:txBody>
          <a:bodyPr>
            <a:normAutofit fontScale="92500" lnSpcReduction="10000"/>
          </a:bodyPr>
          <a:lstStyle/>
          <a:p>
            <a:pPr marL="550926" indent="-514350">
              <a:buFont typeface="+mj-lt"/>
              <a:buAutoNum type="arabicPeriod"/>
            </a:pPr>
            <a:r>
              <a:rPr lang="en-AU" dirty="0" smtClean="0"/>
              <a:t>housing affordability  - a complex issue  even narrowed to holding cost impact</a:t>
            </a:r>
          </a:p>
          <a:p>
            <a:pPr marL="550926" indent="-514350">
              <a:buFont typeface="+mj-lt"/>
              <a:buAutoNum type="arabicPeriod"/>
            </a:pPr>
            <a:r>
              <a:rPr lang="en-AU" dirty="0" smtClean="0"/>
              <a:t>has many facets and requires a multi-dimensional approach</a:t>
            </a:r>
          </a:p>
          <a:p>
            <a:pPr marL="550926" indent="-514350">
              <a:buFont typeface="+mj-lt"/>
              <a:buAutoNum type="arabicPeriod"/>
            </a:pPr>
            <a:r>
              <a:rPr lang="en-AU" dirty="0" smtClean="0"/>
              <a:t>whilst recognising that holding costs are only one contributor, it is nevertheless clearly significant. </a:t>
            </a:r>
          </a:p>
          <a:p>
            <a:pPr marL="550926" indent="-514350">
              <a:buFont typeface="+mj-lt"/>
              <a:buAutoNum type="arabicPeriod"/>
            </a:pPr>
            <a:r>
              <a:rPr lang="en-AU" dirty="0" smtClean="0"/>
              <a:t>Research is indicative only with regards the potential impact of holding costs  - but the implications  have </a:t>
            </a:r>
            <a:r>
              <a:rPr lang="en-AU" dirty="0" smtClean="0">
                <a:solidFill>
                  <a:srgbClr val="66FF33"/>
                </a:solidFill>
              </a:rPr>
              <a:t>clear potential for mortgage stress</a:t>
            </a:r>
          </a:p>
          <a:p>
            <a:pPr marL="550926" indent="-514350">
              <a:buFont typeface="+mj-lt"/>
              <a:buAutoNum type="arabicPeriod"/>
            </a:pPr>
            <a:r>
              <a:rPr lang="en-AU" dirty="0" smtClean="0"/>
              <a:t>Various models utilised for both defining and measuring holding costs</a:t>
            </a:r>
          </a:p>
          <a:p>
            <a:pPr marL="861822" lvl="1" indent="-514350">
              <a:buFont typeface="Arial" pitchFamily="34" charset="0"/>
              <a:buChar char="•"/>
            </a:pPr>
            <a:r>
              <a:rPr lang="en-AU" dirty="0" smtClean="0"/>
              <a:t>ultimate conceptualisation relying upon derivations of the Present Value / discounting approach.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par>
                                <p:cTn id="38" presetID="53" presetClass="entr" presetSubtype="0" fill="hold" grpId="0"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 calcmode="lin" valueType="num">
                                      <p:cBhvr>
                                        <p:cTn id="40"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1"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857256"/>
          </a:xfrm>
        </p:spPr>
        <p:txBody>
          <a:bodyPr>
            <a:normAutofit/>
          </a:bodyPr>
          <a:lstStyle/>
          <a:p>
            <a:r>
              <a:rPr lang="en-AU" dirty="0" smtClean="0"/>
              <a:t>Conclusions</a:t>
            </a:r>
            <a:endParaRPr lang="en-AU" dirty="0"/>
          </a:p>
        </p:txBody>
      </p:sp>
      <p:sp>
        <p:nvSpPr>
          <p:cNvPr id="3" name="Content Placeholder 2"/>
          <p:cNvSpPr>
            <a:spLocks noGrp="1"/>
          </p:cNvSpPr>
          <p:nvPr>
            <p:ph idx="1"/>
          </p:nvPr>
        </p:nvSpPr>
        <p:spPr>
          <a:xfrm>
            <a:off x="457200" y="1285860"/>
            <a:ext cx="8229600" cy="5429288"/>
          </a:xfrm>
        </p:spPr>
        <p:txBody>
          <a:bodyPr>
            <a:normAutofit fontScale="92500" lnSpcReduction="10000"/>
          </a:bodyPr>
          <a:lstStyle/>
          <a:p>
            <a:pPr marL="550926" indent="-514350">
              <a:buFont typeface="+mj-lt"/>
              <a:buAutoNum type="arabicPeriod" startAt="6"/>
            </a:pPr>
            <a:r>
              <a:rPr lang="en-AU" dirty="0" smtClean="0"/>
              <a:t>Elements of holding cost have linkages with regulatory assessment periods </a:t>
            </a:r>
          </a:p>
          <a:p>
            <a:pPr marL="550926" indent="-514350">
              <a:buFont typeface="+mj-lt"/>
              <a:buAutoNum type="arabicPeriod" startAt="6"/>
            </a:pPr>
            <a:r>
              <a:rPr lang="en-AU" dirty="0" smtClean="0"/>
              <a:t>A few ambiguities emerge as a result of this research indicating evidence that there can be opposing effects.</a:t>
            </a:r>
          </a:p>
          <a:p>
            <a:pPr marL="550926" indent="-514350">
              <a:buFont typeface="+mj-lt"/>
              <a:buAutoNum type="arabicPeriod" startAt="6"/>
            </a:pPr>
            <a:r>
              <a:rPr lang="en-AU" dirty="0" smtClean="0"/>
              <a:t>More research required into it’s underlying nature and effects including analysis over time. </a:t>
            </a:r>
          </a:p>
          <a:p>
            <a:pPr marL="550926" indent="-514350">
              <a:buFont typeface="+mj-lt"/>
              <a:buAutoNum type="arabicPeriod" startAt="6"/>
            </a:pPr>
            <a:r>
              <a:rPr lang="en-AU" dirty="0" smtClean="0"/>
              <a:t>Analysis is also required across multiple regional areas, case study analysis and cross-referencing with a international comparison study. This needs to be conducted over time  (the issue of housing affordability itself has a space and time variance).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You Tube documentary</a:t>
            </a:r>
            <a:endParaRPr lang="en-AU" dirty="0"/>
          </a:p>
        </p:txBody>
      </p:sp>
      <p:sp>
        <p:nvSpPr>
          <p:cNvPr id="3" name="Content Placeholder 2"/>
          <p:cNvSpPr>
            <a:spLocks noGrp="1"/>
          </p:cNvSpPr>
          <p:nvPr>
            <p:ph idx="1"/>
          </p:nvPr>
        </p:nvSpPr>
        <p:spPr/>
        <p:txBody>
          <a:bodyPr>
            <a:normAutofit/>
          </a:bodyPr>
          <a:lstStyle/>
          <a:p>
            <a:r>
              <a:rPr lang="en-AU" sz="2000" dirty="0" smtClean="0"/>
              <a:t>And what about the impact from the sub-prime mortgage debacle?</a:t>
            </a:r>
          </a:p>
          <a:p>
            <a:r>
              <a:rPr lang="en-AU" sz="2000" u="sng" dirty="0" smtClean="0">
                <a:hlinkClick r:id="rId2"/>
              </a:rPr>
              <a:t>http://au.youtube.com/watch?v=5OtKt3ezHY0</a:t>
            </a:r>
            <a:endParaRPr lang="en-AU" sz="2000" u="sng" dirty="0" smtClean="0"/>
          </a:p>
          <a:p>
            <a:endParaRPr lang="en-AU"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Digital Do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4.xml><?xml version="1.0" encoding="utf-8"?>
<a:theme xmlns:a="http://schemas.openxmlformats.org/drawingml/2006/main" name="Deluxe">
  <a:themeElements>
    <a:clrScheme name="Deluxe">
      <a:dk1>
        <a:sysClr val="windowText" lastClr="000000"/>
      </a:dk1>
      <a:lt1>
        <a:sysClr val="window" lastClr="FFFFFF"/>
      </a:lt1>
      <a:dk2>
        <a:srgbClr val="30356E"/>
      </a:dk2>
      <a:lt2>
        <a:srgbClr val="FFF9E5"/>
      </a:lt2>
      <a:accent1>
        <a:srgbClr val="CC4757"/>
      </a:accent1>
      <a:accent2>
        <a:srgbClr val="FF6F61"/>
      </a:accent2>
      <a:accent3>
        <a:srgbClr val="FF953E"/>
      </a:accent3>
      <a:accent4>
        <a:srgbClr val="F8BD52"/>
      </a:accent4>
      <a:accent5>
        <a:srgbClr val="46A6BD"/>
      </a:accent5>
      <a:accent6>
        <a:srgbClr val="5488BC"/>
      </a:accent6>
      <a:hlink>
        <a:srgbClr val="FA7D7A"/>
      </a:hlink>
      <a:folHlink>
        <a:srgbClr val="FFCF3E"/>
      </a:folHlink>
    </a:clrScheme>
    <a:fontScheme name="Deluxe">
      <a:maj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Deluxe">
      <a:fillStyleLst>
        <a:solidFill>
          <a:schemeClr val="phClr"/>
        </a:solidFill>
        <a:gradFill rotWithShape="1">
          <a:gsLst>
            <a:gs pos="0">
              <a:schemeClr val="phClr">
                <a:tint val="20000"/>
                <a:satMod val="280000"/>
              </a:schemeClr>
            </a:gs>
            <a:gs pos="14000">
              <a:schemeClr val="phClr">
                <a:tint val="37000"/>
                <a:satMod val="250000"/>
              </a:schemeClr>
            </a:gs>
            <a:gs pos="45000">
              <a:schemeClr val="phClr">
                <a:tint val="53000"/>
                <a:satMod val="220000"/>
              </a:schemeClr>
            </a:gs>
            <a:gs pos="65000">
              <a:schemeClr val="phClr">
                <a:tint val="53000"/>
                <a:satMod val="220000"/>
              </a:schemeClr>
            </a:gs>
            <a:gs pos="86000">
              <a:schemeClr val="phClr">
                <a:tint val="42000"/>
                <a:satMod val="240000"/>
              </a:schemeClr>
            </a:gs>
            <a:gs pos="100000">
              <a:schemeClr val="phClr">
                <a:tint val="20000"/>
                <a:satMod val="230000"/>
              </a:schemeClr>
            </a:gs>
          </a:gsLst>
          <a:lin ang="16200000" scaled="1"/>
        </a:gradFill>
        <a:gradFill rotWithShape="1">
          <a:gsLst>
            <a:gs pos="0">
              <a:schemeClr val="phClr">
                <a:shade val="75000"/>
                <a:satMod val="160000"/>
              </a:schemeClr>
            </a:gs>
            <a:gs pos="60000">
              <a:schemeClr val="phClr">
                <a:satMod val="150000"/>
              </a:schemeClr>
            </a:gs>
            <a:gs pos="100000">
              <a:schemeClr val="phClr">
                <a:tint val="75000"/>
                <a:satMod val="200000"/>
              </a:schemeClr>
            </a:gs>
          </a:gsLst>
          <a:lin ang="16200000" scaled="1"/>
        </a:gradFill>
      </a:fillStyleLst>
      <a:lnStyleLst>
        <a:ln w="9525" cap="flat" cmpd="sng" algn="ctr">
          <a:solidFill>
            <a:schemeClr val="phClr">
              <a:satMod val="140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outerShdw blurRad="50800" dist="25400" dir="5400000" rotWithShape="0">
              <a:srgbClr val="000000">
                <a:alpha val="43137"/>
              </a:srgbClr>
            </a:outerShdw>
          </a:effectLst>
        </a:effectStyle>
        <a:effectStyle>
          <a:effectLst>
            <a:outerShdw blurRad="50800" dist="25400" dir="5400000" rotWithShape="0">
              <a:srgbClr val="000000">
                <a:alpha val="43137"/>
              </a:srgbClr>
            </a:outerShdw>
          </a:effectLst>
          <a:scene3d>
            <a:camera prst="orthographicFront" fov="0">
              <a:rot lat="0" lon="0" rev="0"/>
            </a:camera>
            <a:lightRig rig="contrasting" dir="t">
              <a:rot lat="0" lon="0" rev="16500000"/>
            </a:lightRig>
          </a:scene3d>
          <a:sp3d prstMaterial="powder">
            <a:bevelT w="152400"/>
            <a:contourClr>
              <a:schemeClr val="phClr"/>
            </a:contourClr>
          </a:sp3d>
        </a:effectStyle>
        <a:effectStyle>
          <a:effectLst>
            <a:reflection blurRad="12700" stA="26000" endPos="28000" dist="38100" dir="5400000" sy="-100000"/>
          </a:effectLst>
          <a:scene3d>
            <a:camera prst="orthographicFront" fov="0">
              <a:rot lat="0" lon="0" rev="0"/>
            </a:camera>
            <a:lightRig rig="contrasting" dir="t">
              <a:rot lat="0" lon="0" rev="16500000"/>
            </a:lightRig>
          </a:scene3d>
          <a:sp3d prstMaterial="powder">
            <a:bevelT w="190500" h="101600"/>
            <a:contourClr>
              <a:schemeClr val="phClr"/>
            </a:contourClr>
          </a:sp3d>
        </a:effectStyle>
      </a:effectStyleLst>
      <a:bgFillStyleLst>
        <a:solidFill>
          <a:schemeClr val="phClr"/>
        </a:solidFill>
        <a:gradFill rotWithShape="1">
          <a:gsLst>
            <a:gs pos="0">
              <a:schemeClr val="phClr">
                <a:tint val="43000"/>
                <a:satMod val="1550000"/>
              </a:schemeClr>
            </a:gs>
            <a:gs pos="1000">
              <a:schemeClr val="phClr">
                <a:tint val="48000"/>
                <a:satMod val="1550000"/>
              </a:schemeClr>
            </a:gs>
            <a:gs pos="90000">
              <a:schemeClr val="phClr">
                <a:shade val="18000"/>
                <a:satMod val="275000"/>
              </a:schemeClr>
            </a:gs>
          </a:gsLst>
          <a:path path="circle">
            <a:fillToRect r="210000" b="300000"/>
          </a:path>
        </a:gradFill>
        <a:gradFill rotWithShape="1">
          <a:gsLst>
            <a:gs pos="5000">
              <a:schemeClr val="phClr">
                <a:tint val="38000"/>
                <a:satMod val="1800000"/>
              </a:schemeClr>
            </a:gs>
            <a:gs pos="5000">
              <a:schemeClr val="phClr">
                <a:tint val="40000"/>
                <a:satMod val="1800000"/>
              </a:schemeClr>
            </a:gs>
            <a:gs pos="90000">
              <a:schemeClr val="phClr">
                <a:shade val="18000"/>
                <a:satMod val="275000"/>
              </a:schemeClr>
            </a:gs>
          </a:gsLst>
          <a:path path="circle">
            <a:fillToRect l="20000" t="30000" r="135000" b="10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22</TotalTime>
  <Words>2009</Words>
  <Application>Microsoft Office PowerPoint</Application>
  <PresentationFormat>On-screen Show (4:3)</PresentationFormat>
  <Paragraphs>298</Paragraphs>
  <Slides>39</Slides>
  <Notes>2</Notes>
  <HiddenSlides>0</HiddenSlides>
  <MMClips>0</MMClips>
  <ScaleCrop>false</ScaleCrop>
  <HeadingPairs>
    <vt:vector size="4" baseType="variant">
      <vt:variant>
        <vt:lpstr>Theme</vt:lpstr>
      </vt:variant>
      <vt:variant>
        <vt:i4>4</vt:i4>
      </vt:variant>
      <vt:variant>
        <vt:lpstr>Slide Titles</vt:lpstr>
      </vt:variant>
      <vt:variant>
        <vt:i4>39</vt:i4>
      </vt:variant>
    </vt:vector>
  </HeadingPairs>
  <TitlesOfParts>
    <vt:vector size="43" baseType="lpstr">
      <vt:lpstr>Apex</vt:lpstr>
      <vt:lpstr>Digital Dots</vt:lpstr>
      <vt:lpstr>Technic</vt:lpstr>
      <vt:lpstr>Deluxe</vt:lpstr>
      <vt:lpstr>Housing Affordability</vt:lpstr>
      <vt:lpstr>Impact of Shifting Demographics: Implications for Housing Requirements and Public Policy</vt:lpstr>
      <vt:lpstr>Preliminary Findings Related to the Conceptualisation, Sensitivity &amp; Measurement of Holding Costs &amp; Impact on Housing Affordability</vt:lpstr>
      <vt:lpstr>The Impact of Planning Delays &amp; Other Holding Costs on Housing Affordability</vt:lpstr>
      <vt:lpstr>Significance of Housing Affordability</vt:lpstr>
      <vt:lpstr>Historical context of Housing Affordability in Australia</vt:lpstr>
      <vt:lpstr>The Issue of Holding Costs</vt:lpstr>
      <vt:lpstr>The Impact</vt:lpstr>
      <vt:lpstr>Mortgage Stress Defined</vt:lpstr>
      <vt:lpstr>Mortgage Stress.. Not all as it may seem</vt:lpstr>
      <vt:lpstr>Some reasons for poor affordability</vt:lpstr>
      <vt:lpstr>Where do old people live?</vt:lpstr>
      <vt:lpstr>Slide 13</vt:lpstr>
      <vt:lpstr>Slide 14</vt:lpstr>
      <vt:lpstr>Where do old people live?</vt:lpstr>
      <vt:lpstr>Slide 16</vt:lpstr>
      <vt:lpstr>Slide 17</vt:lpstr>
      <vt:lpstr>Slide 18</vt:lpstr>
      <vt:lpstr>Slide 19</vt:lpstr>
      <vt:lpstr>Preliminary Economic Model Examining the Effects of Time for a Property Development project</vt:lpstr>
      <vt:lpstr>Assumptions</vt:lpstr>
      <vt:lpstr>Slide 22</vt:lpstr>
      <vt:lpstr>Slide 23</vt:lpstr>
      <vt:lpstr>Slide 24</vt:lpstr>
      <vt:lpstr>Slide 25</vt:lpstr>
      <vt:lpstr>Slide 26</vt:lpstr>
      <vt:lpstr>Preliminary Results </vt:lpstr>
      <vt:lpstr>Affordability: quantum of additional costs and impact upon the end-purchaser </vt:lpstr>
      <vt:lpstr>Interest rate impact</vt:lpstr>
      <vt:lpstr>Slide 30</vt:lpstr>
      <vt:lpstr>Slide 31</vt:lpstr>
      <vt:lpstr>Slide 32</vt:lpstr>
      <vt:lpstr>Slide 33</vt:lpstr>
      <vt:lpstr>Slide 34</vt:lpstr>
      <vt:lpstr>Slide 35</vt:lpstr>
      <vt:lpstr>Increased Costs and Housing Affordability – Measurement of the Impact Upon Mortgages</vt:lpstr>
      <vt:lpstr>Conclusions</vt:lpstr>
      <vt:lpstr>Conclusions</vt:lpstr>
      <vt:lpstr>You Tube documentary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 Affordability</dc:title>
  <dc:creator>Gary Garner</dc:creator>
  <cp:lastModifiedBy>Gary Owen Garner</cp:lastModifiedBy>
  <cp:revision>4</cp:revision>
  <dcterms:created xsi:type="dcterms:W3CDTF">2008-11-12T00:53:46Z</dcterms:created>
  <dcterms:modified xsi:type="dcterms:W3CDTF">2009-04-16T03:25:45Z</dcterms:modified>
</cp:coreProperties>
</file>