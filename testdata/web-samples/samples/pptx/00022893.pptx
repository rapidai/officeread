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3" r:id="rId14"/>
    <p:sldId id="268" r:id="rId15"/>
    <p:sldId id="269" r:id="rId16"/>
    <p:sldId id="270" r:id="rId17"/>
    <p:sldId id="271" r:id="rId18"/>
    <p:sldId id="272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0" d="100"/>
          <a:sy n="70" d="100"/>
        </p:scale>
        <p:origin x="-1164" y="-8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smtClean="0"/>
              <a:t>Data Access North of the (US) Border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B36CA-ADE1-4F6C-8AFC-F13139B00EF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914400"/>
            <a:ext cx="8105775" cy="1752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24200" y="274638"/>
            <a:ext cx="5562600" cy="1143000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buFont typeface="Arial" pitchFamily="34" charset="0"/>
              <a:buChar char="•"/>
              <a:defRPr/>
            </a:lvl2pPr>
            <a:lvl4pPr>
              <a:buFont typeface="Arial" pitchFamily="34" charset="0"/>
              <a:buChar char="•"/>
              <a:defRPr/>
            </a:lvl4pPr>
            <a:lvl5pPr>
              <a:buFont typeface="Arial" pitchFamily="34" charset="0"/>
              <a:buChar char="•"/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322F5-86EC-4CAC-A4FB-4C0963F3FC9E}" type="datetimeFigureOut">
              <a:rPr lang="en-US" smtClean="0"/>
              <a:pPr/>
              <a:t>11/9/2010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B36CA-ADE1-4F6C-8AFC-F13139B00EF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304800"/>
            <a:ext cx="3200401" cy="685800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322F5-86EC-4CAC-A4FB-4C0963F3FC9E}" type="datetimeFigureOut">
              <a:rPr lang="en-US" smtClean="0"/>
              <a:pPr/>
              <a:t>11/9/2010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B36CA-ADE1-4F6C-8AFC-F13139B00EF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322F5-86EC-4CAC-A4FB-4C0963F3FC9E}" type="datetimeFigureOut">
              <a:rPr lang="en-US" smtClean="0"/>
              <a:pPr/>
              <a:t>11/9/2010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B36CA-ADE1-4F6C-8AFC-F13139B00EF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322F5-86EC-4CAC-A4FB-4C0963F3FC9E}" type="datetimeFigureOut">
              <a:rPr lang="en-US" smtClean="0"/>
              <a:pPr/>
              <a:t>11/9/2010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B36CA-ADE1-4F6C-8AFC-F13139B00EF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322F5-86EC-4CAC-A4FB-4C0963F3FC9E}" type="datetimeFigureOut">
              <a:rPr lang="en-US" smtClean="0"/>
              <a:pPr/>
              <a:t>11/9/2010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B36CA-ADE1-4F6C-8AFC-F13139B00EF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322F5-86EC-4CAC-A4FB-4C0963F3FC9E}" type="datetimeFigureOut">
              <a:rPr lang="en-US" smtClean="0"/>
              <a:pPr/>
              <a:t>11/9/2010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B36CA-ADE1-4F6C-8AFC-F13139B00EF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322F5-86EC-4CAC-A4FB-4C0963F3FC9E}" type="datetimeFigureOut">
              <a:rPr lang="en-US" smtClean="0"/>
              <a:pPr/>
              <a:t>11/9/2010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B36CA-ADE1-4F6C-8AFC-F13139B00EF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322F5-86EC-4CAC-A4FB-4C0963F3FC9E}" type="datetimeFigureOut">
              <a:rPr lang="en-US" smtClean="0"/>
              <a:pPr/>
              <a:t>11/9/2010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B36CA-ADE1-4F6C-8AFC-F13139B00EF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322F5-86EC-4CAC-A4FB-4C0963F3FC9E}" type="datetimeFigureOut">
              <a:rPr lang="en-US" smtClean="0"/>
              <a:pPr/>
              <a:t>11/9/2010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B36CA-ADE1-4F6C-8AFC-F13139B00EF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322F5-86EC-4CAC-A4FB-4C0963F3FC9E}" type="datetimeFigureOut">
              <a:rPr lang="en-US" smtClean="0"/>
              <a:pPr/>
              <a:t>11/9/2010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B36CA-ADE1-4F6C-8AFC-F13139B00EF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C322F5-86EC-4CAC-A4FB-4C0963F3FC9E}" type="datetimeFigureOut">
              <a:rPr lang="en-US" smtClean="0"/>
              <a:pPr/>
              <a:t>11/9/2010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6B36CA-ADE1-4F6C-8AFC-F13139B00EF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odesi.ca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://www.library.carleton.ca/ssdata/surveys/pop_gallup.html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elections.ca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ihi.ca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://www40.statcan.ca/z01/cs0002-eng.htm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mailto:odesi-help@scholarsportal.info" TargetMode="External"/><Relationship Id="rId2" Type="http://schemas.openxmlformats.org/officeDocument/2006/relationships/hyperlink" Target="mailto:edwardsm@uoguelph.ca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685800" y="3025775"/>
            <a:ext cx="7772400" cy="1470025"/>
          </a:xfrm>
        </p:spPr>
        <p:txBody>
          <a:bodyPr>
            <a:normAutofit/>
          </a:bodyPr>
          <a:lstStyle/>
          <a:p>
            <a:r>
              <a:rPr lang="en-US" b="1" dirty="0"/>
              <a:t>Data Access North of the (US) </a:t>
            </a:r>
            <a:r>
              <a:rPr lang="en-US" b="1" dirty="0" smtClean="0"/>
              <a:t>Border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5029200"/>
            <a:ext cx="6400800" cy="990600"/>
          </a:xfrm>
        </p:spPr>
        <p:txBody>
          <a:bodyPr>
            <a:normAutofit fontScale="62500" lnSpcReduction="20000"/>
          </a:bodyPr>
          <a:lstStyle/>
          <a:p>
            <a:r>
              <a:rPr lang="en-US" dirty="0" smtClean="0"/>
              <a:t>Michelle Edwards, Ph.D., MLIS</a:t>
            </a:r>
          </a:p>
          <a:p>
            <a:r>
              <a:rPr lang="en-US" dirty="0" smtClean="0"/>
              <a:t>Data Resource Centre, McLaughlin Library,</a:t>
            </a:r>
          </a:p>
          <a:p>
            <a:r>
              <a:rPr lang="en-US" dirty="0" smtClean="0"/>
              <a:t> University of Guelph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 </a:t>
            </a:r>
            <a:r>
              <a:rPr lang="en-US" b="1" dirty="0" smtClean="0"/>
              <a:t>&lt;odesi&gt;</a:t>
            </a:r>
          </a:p>
          <a:p>
            <a:pPr marL="514350" indent="-514350">
              <a:buFont typeface="+mj-lt"/>
              <a:buAutoNum type="arabicPeriod"/>
            </a:pP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How can </a:t>
            </a:r>
            <a:r>
              <a:rPr lang="en-US" b="1" dirty="0" smtClean="0"/>
              <a:t>YOU</a:t>
            </a:r>
            <a:r>
              <a:rPr lang="en-US" dirty="0" smtClean="0"/>
              <a:t> use </a:t>
            </a:r>
            <a:r>
              <a:rPr lang="en-US" b="1" dirty="0" smtClean="0"/>
              <a:t>&lt;odesi&gt;</a:t>
            </a:r>
            <a:r>
              <a:rPr lang="en-US" dirty="0" smtClean="0"/>
              <a:t>?   </a:t>
            </a:r>
          </a:p>
          <a:p>
            <a:pPr marL="514350" indent="-514350">
              <a:buFont typeface="+mj-lt"/>
              <a:buAutoNum type="arabicPeriod"/>
            </a:pP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Access points for data</a:t>
            </a:r>
          </a:p>
          <a:p>
            <a:pPr marL="514350" indent="-514350">
              <a:buFont typeface="+mj-lt"/>
              <a:buAutoNum type="arabicPeriod"/>
            </a:pP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Summary</a:t>
            </a:r>
          </a:p>
          <a:p>
            <a:pPr marL="514350" indent="-514350">
              <a:buFont typeface="+mj-lt"/>
              <a:buAutoNum type="arabicPeriod"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&lt;odesi&gt;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ctr">
              <a:buNone/>
            </a:pPr>
            <a:r>
              <a:rPr lang="en-US" b="1" dirty="0" smtClean="0"/>
              <a:t>O</a:t>
            </a:r>
            <a:r>
              <a:rPr lang="en-US" dirty="0" smtClean="0"/>
              <a:t>ntario </a:t>
            </a:r>
            <a:r>
              <a:rPr lang="en-US" b="1" dirty="0" smtClean="0"/>
              <a:t>D</a:t>
            </a:r>
            <a:r>
              <a:rPr lang="en-US" dirty="0" smtClean="0"/>
              <a:t>ata Documentation, </a:t>
            </a:r>
            <a:r>
              <a:rPr lang="en-US" b="1" dirty="0" smtClean="0"/>
              <a:t>E</a:t>
            </a:r>
            <a:r>
              <a:rPr lang="en-US" dirty="0" smtClean="0"/>
              <a:t>xtraction </a:t>
            </a:r>
            <a:r>
              <a:rPr lang="en-US" b="1" dirty="0" smtClean="0"/>
              <a:t>S</a:t>
            </a:r>
            <a:r>
              <a:rPr lang="en-US" dirty="0" smtClean="0"/>
              <a:t>ervice and </a:t>
            </a:r>
            <a:r>
              <a:rPr lang="en-US" b="1" dirty="0" smtClean="0"/>
              <a:t>I</a:t>
            </a:r>
            <a:r>
              <a:rPr lang="en-US" dirty="0" smtClean="0"/>
              <a:t>nfrastructure</a:t>
            </a:r>
          </a:p>
          <a:p>
            <a:pPr>
              <a:buNone/>
            </a:pPr>
            <a:endParaRPr lang="en-US" sz="1400" dirty="0" smtClean="0"/>
          </a:p>
          <a:p>
            <a:r>
              <a:rPr lang="en-US" dirty="0" smtClean="0"/>
              <a:t>Established in 2007</a:t>
            </a:r>
          </a:p>
          <a:p>
            <a:r>
              <a:rPr lang="en-US" dirty="0" smtClean="0"/>
              <a:t>Data service offered through Scholars Portal</a:t>
            </a:r>
          </a:p>
          <a:p>
            <a:r>
              <a:rPr lang="en-US" dirty="0" smtClean="0"/>
              <a:t>Uses a web-based data exploration, extraction and analysis tool </a:t>
            </a:r>
          </a:p>
          <a:p>
            <a:r>
              <a:rPr lang="en-US" dirty="0" smtClean="0"/>
              <a:t>Social science data including polling data</a:t>
            </a:r>
          </a:p>
          <a:p>
            <a:r>
              <a:rPr lang="en-US" dirty="0" smtClean="0"/>
              <a:t>Data only accessible to 21 Ontario Universities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&lt;odesi&gt;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Accesses metadata records from over 11238 surveys</a:t>
            </a:r>
          </a:p>
          <a:p>
            <a:r>
              <a:rPr lang="en-US" dirty="0" smtClean="0"/>
              <a:t>Search framework uses </a:t>
            </a:r>
            <a:r>
              <a:rPr lang="en-US" dirty="0" err="1" smtClean="0"/>
              <a:t>MarkLogic</a:t>
            </a:r>
            <a:endParaRPr lang="en-US" dirty="0" smtClean="0"/>
          </a:p>
          <a:p>
            <a:r>
              <a:rPr lang="en-US" dirty="0" smtClean="0"/>
              <a:t>Data sources </a:t>
            </a:r>
            <a:r>
              <a:rPr lang="en-US" dirty="0" smtClean="0"/>
              <a:t>include:</a:t>
            </a:r>
          </a:p>
          <a:p>
            <a:pPr lvl="1"/>
            <a:r>
              <a:rPr lang="en-US" dirty="0" smtClean="0"/>
              <a:t>Statistics Canada – DLI – </a:t>
            </a:r>
            <a:r>
              <a:rPr lang="en-US" i="1" dirty="0" smtClean="0"/>
              <a:t>Restricted</a:t>
            </a:r>
          </a:p>
          <a:p>
            <a:pPr lvl="1"/>
            <a:r>
              <a:rPr lang="en-US" dirty="0" smtClean="0"/>
              <a:t>Canadian Gallup Polls</a:t>
            </a:r>
          </a:p>
          <a:p>
            <a:pPr lvl="1"/>
            <a:r>
              <a:rPr lang="en-US" dirty="0" smtClean="0"/>
              <a:t>Canadian Opinion Research Archive – </a:t>
            </a:r>
            <a:r>
              <a:rPr lang="en-US" i="1" dirty="0" smtClean="0"/>
              <a:t>Restricted</a:t>
            </a:r>
          </a:p>
          <a:p>
            <a:pPr lvl="1"/>
            <a:r>
              <a:rPr lang="en-US" dirty="0" smtClean="0"/>
              <a:t>ICPSR – </a:t>
            </a:r>
            <a:r>
              <a:rPr lang="en-US" i="1" dirty="0" smtClean="0"/>
              <a:t>Restricted</a:t>
            </a:r>
          </a:p>
          <a:p>
            <a:pPr lvl="1"/>
            <a:r>
              <a:rPr lang="en-US" dirty="0" smtClean="0"/>
              <a:t>More…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o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810000" y="2720041"/>
            <a:ext cx="1447800" cy="15471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How can </a:t>
            </a:r>
            <a:r>
              <a:rPr lang="en-US" b="1" dirty="0" smtClean="0"/>
              <a:t>YOU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>access </a:t>
            </a:r>
            <a:r>
              <a:rPr lang="en-US" b="1" dirty="0" smtClean="0"/>
              <a:t>&lt;odesi&gt;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None/>
            </a:pPr>
            <a:endParaRPr lang="en-US" sz="3600" dirty="0" smtClean="0"/>
          </a:p>
          <a:p>
            <a:pPr algn="ctr">
              <a:buNone/>
            </a:pPr>
            <a:r>
              <a:rPr lang="en-US" sz="3600" dirty="0" smtClean="0"/>
              <a:t>Access to the </a:t>
            </a:r>
            <a:r>
              <a:rPr lang="en-US" sz="3600" dirty="0" smtClean="0"/>
              <a:t>metadata is OPEN!</a:t>
            </a:r>
            <a:endParaRPr lang="en-US" sz="3600" dirty="0" smtClean="0"/>
          </a:p>
          <a:p>
            <a:pPr algn="ctr">
              <a:buNone/>
            </a:pPr>
            <a:endParaRPr lang="en-US" sz="2000" dirty="0" smtClean="0"/>
          </a:p>
          <a:p>
            <a:pPr algn="ctr">
              <a:buNone/>
            </a:pPr>
            <a:endParaRPr lang="en-US" sz="1600" dirty="0" smtClean="0"/>
          </a:p>
          <a:p>
            <a:pPr algn="ctr">
              <a:buNone/>
            </a:pPr>
            <a:endParaRPr lang="en-US" sz="1600" dirty="0" smtClean="0"/>
          </a:p>
          <a:p>
            <a:pPr algn="ctr">
              <a:buNone/>
            </a:pPr>
            <a:endParaRPr lang="en-US" sz="1600" dirty="0" smtClean="0"/>
          </a:p>
          <a:p>
            <a:pPr algn="ctr">
              <a:buNone/>
            </a:pPr>
            <a:r>
              <a:rPr lang="en-US" sz="3600" dirty="0" smtClean="0"/>
              <a:t>Access to the </a:t>
            </a:r>
            <a:r>
              <a:rPr lang="en-US" sz="3600" dirty="0" smtClean="0"/>
              <a:t>data </a:t>
            </a:r>
            <a:r>
              <a:rPr lang="en-US" sz="3600" dirty="0" smtClean="0"/>
              <a:t>is </a:t>
            </a:r>
            <a:r>
              <a:rPr lang="en-US" sz="3600" dirty="0" smtClean="0"/>
              <a:t>RESTRICTED!</a:t>
            </a:r>
            <a:endParaRPr lang="en-US" sz="3600" dirty="0" smtClean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4" name="Picture 3" descr="sign_forbidden_symbol_238802_l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886200" y="4953000"/>
            <a:ext cx="1247775" cy="12477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Accessing &lt;odesi&gt;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algn="ctr">
              <a:buNone/>
            </a:pPr>
            <a:r>
              <a:rPr lang="en-US" sz="4400" dirty="0" smtClean="0">
                <a:hlinkClick r:id="rId2"/>
              </a:rPr>
              <a:t>http://odesi.ca</a:t>
            </a:r>
            <a:endParaRPr lang="en-US" sz="4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Accessing &lt;odesi&gt;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Browse options</a:t>
            </a:r>
          </a:p>
          <a:p>
            <a:pPr lvl="1"/>
            <a:r>
              <a:rPr lang="en-US" dirty="0" smtClean="0"/>
              <a:t>Category</a:t>
            </a:r>
          </a:p>
          <a:p>
            <a:pPr lvl="1"/>
            <a:r>
              <a:rPr lang="en-US" dirty="0" smtClean="0"/>
              <a:t>Keywords</a:t>
            </a:r>
          </a:p>
          <a:p>
            <a:pPr lvl="1"/>
            <a:r>
              <a:rPr lang="en-US" dirty="0" smtClean="0"/>
              <a:t>Series</a:t>
            </a:r>
          </a:p>
          <a:p>
            <a:pPr lvl="1"/>
            <a:r>
              <a:rPr lang="en-US" dirty="0" smtClean="0"/>
              <a:t>Survey Title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Accessing &lt;odesi&gt;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Search options</a:t>
            </a:r>
          </a:p>
          <a:p>
            <a:pPr lvl="1"/>
            <a:r>
              <a:rPr lang="en-US" dirty="0" smtClean="0"/>
              <a:t>All metadata fields (anywhere)</a:t>
            </a:r>
          </a:p>
          <a:p>
            <a:pPr lvl="1"/>
            <a:r>
              <a:rPr lang="en-US" dirty="0" smtClean="0"/>
              <a:t>Variable/category label (questions)</a:t>
            </a:r>
          </a:p>
          <a:p>
            <a:pPr lvl="1"/>
            <a:r>
              <a:rPr lang="en-US" dirty="0" smtClean="0"/>
              <a:t>Survey title</a:t>
            </a:r>
          </a:p>
          <a:p>
            <a:pPr lvl="1"/>
            <a:r>
              <a:rPr lang="en-US" dirty="0" smtClean="0"/>
              <a:t>Keywords</a:t>
            </a:r>
          </a:p>
          <a:p>
            <a:pPr lvl="1"/>
            <a:r>
              <a:rPr lang="en-US" dirty="0" smtClean="0"/>
              <a:t>Abstract</a:t>
            </a:r>
          </a:p>
          <a:p>
            <a:pPr lvl="1"/>
            <a:r>
              <a:rPr lang="en-US" dirty="0" smtClean="0"/>
              <a:t>Series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Accessing &lt;odesi&gt;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Collections:</a:t>
            </a:r>
          </a:p>
          <a:p>
            <a:pPr lvl="1"/>
            <a:r>
              <a:rPr lang="en-US" dirty="0" smtClean="0"/>
              <a:t>Canadian Gallup Polls</a:t>
            </a:r>
          </a:p>
          <a:p>
            <a:pPr lvl="1"/>
            <a:r>
              <a:rPr lang="en-US" dirty="0" smtClean="0"/>
              <a:t>DLI</a:t>
            </a:r>
          </a:p>
          <a:p>
            <a:pPr lvl="1"/>
            <a:r>
              <a:rPr lang="en-US" dirty="0" smtClean="0"/>
              <a:t>CORA</a:t>
            </a:r>
          </a:p>
          <a:p>
            <a:pPr lvl="1"/>
            <a:r>
              <a:rPr lang="en-US" dirty="0" smtClean="0"/>
              <a:t>ICPSR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Date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Accessing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sz="4300" b="1" dirty="0" smtClean="0"/>
              <a:t>Canadian Polling Data</a:t>
            </a:r>
          </a:p>
          <a:p>
            <a:pPr>
              <a:buNone/>
            </a:pPr>
            <a:r>
              <a:rPr lang="en-US" dirty="0" smtClean="0"/>
              <a:t>Carleton University Library Data Centre:</a:t>
            </a:r>
          </a:p>
          <a:p>
            <a:pPr>
              <a:buNone/>
            </a:pPr>
            <a:endParaRPr lang="en-US" sz="1300" dirty="0" smtClean="0"/>
          </a:p>
          <a:p>
            <a:pPr>
              <a:buNone/>
            </a:pPr>
            <a:r>
              <a:rPr lang="en-US" sz="2600" dirty="0" smtClean="0">
                <a:hlinkClick r:id="rId2"/>
              </a:rPr>
              <a:t>http://www.library.carleton.ca/ssdata/surveys/pop_gallup.html</a:t>
            </a:r>
            <a:endParaRPr lang="en-US" sz="2600" dirty="0" smtClean="0"/>
          </a:p>
          <a:p>
            <a:endParaRPr lang="en-US" sz="1300" dirty="0" smtClean="0"/>
          </a:p>
          <a:p>
            <a:r>
              <a:rPr lang="en-US" sz="3900" dirty="0" smtClean="0"/>
              <a:t>Canadian Gallup Poll</a:t>
            </a:r>
          </a:p>
          <a:p>
            <a:r>
              <a:rPr lang="en-US" sz="3900" dirty="0" smtClean="0"/>
              <a:t>Centre for Research &amp; Information on Canada (CRIC)</a:t>
            </a:r>
          </a:p>
          <a:p>
            <a:r>
              <a:rPr lang="en-US" sz="3900" dirty="0" smtClean="0"/>
              <a:t>Listening to Canadians (CIO)</a:t>
            </a:r>
          </a:p>
          <a:p>
            <a:r>
              <a:rPr lang="en-US" sz="3900" dirty="0" smtClean="0"/>
              <a:t>Voice of the People (VOP)</a:t>
            </a:r>
          </a:p>
          <a:p>
            <a:pPr>
              <a:buNone/>
            </a:pPr>
            <a:r>
              <a:rPr lang="en-US" dirty="0" smtClean="0"/>
              <a:t>	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Accessing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4000" b="1" dirty="0" smtClean="0"/>
              <a:t>Canadian Election Studies</a:t>
            </a:r>
          </a:p>
          <a:p>
            <a:pPr>
              <a:buNone/>
            </a:pPr>
            <a:r>
              <a:rPr lang="en-US" sz="2900" dirty="0" smtClean="0"/>
              <a:t>Elections Canada Online</a:t>
            </a:r>
          </a:p>
          <a:p>
            <a:pPr>
              <a:buNone/>
            </a:pPr>
            <a:r>
              <a:rPr lang="en-US" sz="2400" dirty="0" smtClean="0">
                <a:hlinkClick r:id="rId2"/>
              </a:rPr>
              <a:t>http://www.elections.ca/</a:t>
            </a:r>
            <a:endParaRPr lang="en-US" sz="2400" dirty="0" smtClean="0"/>
          </a:p>
          <a:p>
            <a:r>
              <a:rPr lang="en-US" sz="3600" dirty="0" smtClean="0"/>
              <a:t>40th General Election, October 14, 2008</a:t>
            </a:r>
          </a:p>
          <a:p>
            <a:r>
              <a:rPr lang="en-US" sz="3600" dirty="0" smtClean="0"/>
              <a:t>39th General Election, January 23, 2006</a:t>
            </a:r>
          </a:p>
          <a:p>
            <a:r>
              <a:rPr lang="en-US" sz="3600" dirty="0" smtClean="0"/>
              <a:t>38th General Election, June 28, 2004</a:t>
            </a:r>
          </a:p>
          <a:p>
            <a:r>
              <a:rPr lang="en-US" sz="3600" dirty="0" smtClean="0"/>
              <a:t>37th General Election, November 27, 2000</a:t>
            </a:r>
          </a:p>
          <a:p>
            <a:r>
              <a:rPr lang="en-US" sz="3600" dirty="0" smtClean="0"/>
              <a:t>36th General Election, June 2, 1997</a:t>
            </a:r>
          </a:p>
          <a:p>
            <a:endParaRPr lang="en-US" sz="3300" dirty="0" smtClean="0"/>
          </a:p>
          <a:p>
            <a:pPr>
              <a:buNone/>
            </a:pP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Accessing </a:t>
            </a:r>
            <a:r>
              <a:rPr lang="en-US" dirty="0" smtClean="0"/>
              <a:t>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3300" b="1" dirty="0" smtClean="0"/>
              <a:t>Canadian Institute for Health Information</a:t>
            </a:r>
          </a:p>
          <a:p>
            <a:pPr>
              <a:buNone/>
            </a:pPr>
            <a:r>
              <a:rPr lang="en-US" sz="2200" dirty="0" smtClean="0">
                <a:hlinkClick r:id="rId2"/>
              </a:rPr>
              <a:t>http://www.cihi.ca/</a:t>
            </a:r>
            <a:endParaRPr lang="en-US" sz="2200" dirty="0" smtClean="0"/>
          </a:p>
          <a:p>
            <a:pPr>
              <a:buNone/>
            </a:pPr>
            <a:r>
              <a:rPr lang="en-US" sz="2700" dirty="0" smtClean="0"/>
              <a:t>Quick Stats…  Interactive Data available for topics:</a:t>
            </a:r>
          </a:p>
          <a:p>
            <a:r>
              <a:rPr lang="en-US" sz="2700" dirty="0" smtClean="0"/>
              <a:t>Standards</a:t>
            </a:r>
          </a:p>
          <a:p>
            <a:r>
              <a:rPr lang="en-US" sz="2700" dirty="0" smtClean="0"/>
              <a:t>Specialized Care</a:t>
            </a:r>
          </a:p>
          <a:p>
            <a:r>
              <a:rPr lang="en-US" sz="2700" dirty="0" smtClean="0"/>
              <a:t>Hospital Care</a:t>
            </a:r>
          </a:p>
          <a:p>
            <a:r>
              <a:rPr lang="en-US" sz="2700" dirty="0" smtClean="0"/>
              <a:t>Spending</a:t>
            </a:r>
          </a:p>
          <a:p>
            <a:pPr>
              <a:buNone/>
            </a:pPr>
            <a:r>
              <a:rPr lang="en-US" sz="2700" dirty="0" smtClean="0"/>
              <a:t>National, Provincial and Regional levels available</a:t>
            </a:r>
            <a:endParaRPr lang="en-US" sz="27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Accessing </a:t>
            </a:r>
            <a:r>
              <a:rPr lang="en-US" dirty="0" smtClean="0"/>
              <a:t>statistics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/>
              <a:t>Statistics Canada</a:t>
            </a:r>
            <a:endParaRPr lang="en-US" b="1" dirty="0" smtClean="0"/>
          </a:p>
          <a:p>
            <a:pPr marL="342900" lvl="1" indent="-342900"/>
            <a:r>
              <a:rPr lang="en-US" sz="2200" dirty="0" smtClean="0">
                <a:hlinkClick r:id="rId2"/>
              </a:rPr>
              <a:t>http://</a:t>
            </a:r>
            <a:r>
              <a:rPr lang="en-US" sz="2200" dirty="0" smtClean="0">
                <a:hlinkClick r:id="rId2"/>
              </a:rPr>
              <a:t>www40.statcan.ca/z01/cs0002-eng.htm</a:t>
            </a:r>
            <a:endParaRPr lang="en-US" sz="2200" dirty="0" smtClean="0"/>
          </a:p>
          <a:p>
            <a:pPr marL="342900" lvl="1" indent="-342900">
              <a:buNone/>
            </a:pPr>
            <a:r>
              <a:rPr lang="en-US" sz="2700" dirty="0" smtClean="0"/>
              <a:t>Tables by Subject</a:t>
            </a:r>
          </a:p>
          <a:p>
            <a:pPr marL="342900" lvl="1" indent="-342900"/>
            <a:r>
              <a:rPr lang="en-US" sz="2700" dirty="0" smtClean="0"/>
              <a:t>Health</a:t>
            </a:r>
          </a:p>
          <a:p>
            <a:pPr marL="342900" lvl="1" indent="-342900"/>
            <a:r>
              <a:rPr lang="en-US" sz="2700" dirty="0" smtClean="0"/>
              <a:t>Energy </a:t>
            </a:r>
          </a:p>
          <a:p>
            <a:pPr marL="342900" lvl="1" indent="-342900"/>
            <a:r>
              <a:rPr lang="en-US" sz="2700" dirty="0" smtClean="0"/>
              <a:t>Labour</a:t>
            </a:r>
          </a:p>
          <a:p>
            <a:pPr marL="342900" lvl="1" indent="-342900"/>
            <a:r>
              <a:rPr lang="en-US" sz="2700" dirty="0" smtClean="0"/>
              <a:t>Transportation</a:t>
            </a:r>
          </a:p>
          <a:p>
            <a:pPr marL="342900" lvl="1" indent="-342900"/>
            <a:r>
              <a:rPr lang="en-US" sz="2700" dirty="0" smtClean="0"/>
              <a:t>…</a:t>
            </a:r>
            <a:endParaRPr lang="en-US" sz="2700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Accessing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Canadian Polling Data</a:t>
            </a:r>
          </a:p>
          <a:p>
            <a:pPr lvl="1"/>
            <a:r>
              <a:rPr lang="en-US" dirty="0" smtClean="0"/>
              <a:t>ICPSR</a:t>
            </a:r>
          </a:p>
          <a:p>
            <a:pPr lvl="1"/>
            <a:r>
              <a:rPr lang="en-US" dirty="0" smtClean="0"/>
              <a:t>Roper Center for Public Opinion Research</a:t>
            </a:r>
          </a:p>
          <a:p>
            <a:pPr lvl="1"/>
            <a:r>
              <a:rPr lang="en-US" dirty="0" smtClean="0"/>
              <a:t>Polling Companies</a:t>
            </a:r>
          </a:p>
          <a:p>
            <a:endParaRPr lang="en-US" dirty="0" smtClean="0"/>
          </a:p>
          <a:p>
            <a:r>
              <a:rPr lang="en-US" dirty="0" smtClean="0"/>
              <a:t>Canadian Elections Studies</a:t>
            </a:r>
          </a:p>
          <a:p>
            <a:pPr lvl="1"/>
            <a:r>
              <a:rPr lang="en-US" dirty="0" smtClean="0"/>
              <a:t>ICPSR</a:t>
            </a:r>
          </a:p>
          <a:p>
            <a:pPr lvl="1"/>
            <a:r>
              <a:rPr lang="en-US" dirty="0" smtClean="0"/>
              <a:t>Host Universities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Accessing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Canadian Health Data</a:t>
            </a:r>
          </a:p>
          <a:p>
            <a:pPr lvl="1"/>
            <a:r>
              <a:rPr lang="en-US" dirty="0" smtClean="0"/>
              <a:t>Statistics </a:t>
            </a:r>
            <a:r>
              <a:rPr lang="en-US" dirty="0" smtClean="0"/>
              <a:t>Canada – DLI</a:t>
            </a:r>
            <a:endParaRPr lang="en-US" dirty="0" smtClean="0"/>
          </a:p>
          <a:p>
            <a:pPr lvl="1"/>
            <a:r>
              <a:rPr lang="en-US" dirty="0" smtClean="0"/>
              <a:t>Statistics </a:t>
            </a:r>
            <a:r>
              <a:rPr lang="en-US" dirty="0" smtClean="0"/>
              <a:t>Canada – RDC</a:t>
            </a:r>
          </a:p>
          <a:p>
            <a:pPr lvl="1"/>
            <a:r>
              <a:rPr lang="en-US" dirty="0" smtClean="0"/>
              <a:t>&lt;odesi&gt; - investigating provincial data route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&lt;odesi&gt; search provides access to survey metadata to everyone</a:t>
            </a:r>
          </a:p>
          <a:p>
            <a:endParaRPr lang="en-US" dirty="0" smtClean="0"/>
          </a:p>
          <a:p>
            <a:r>
              <a:rPr lang="en-US" dirty="0" smtClean="0"/>
              <a:t>Search over 11238 surveys</a:t>
            </a:r>
          </a:p>
          <a:p>
            <a:endParaRPr lang="en-US" dirty="0" smtClean="0"/>
          </a:p>
          <a:p>
            <a:r>
              <a:rPr lang="en-US" dirty="0" smtClean="0"/>
              <a:t>View question level metadata including frequencies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Although data access is restricted – there may be other venues to contact</a:t>
            </a:r>
          </a:p>
          <a:p>
            <a:pPr lvl="1"/>
            <a:r>
              <a:rPr lang="en-US" dirty="0" smtClean="0"/>
              <a:t>Public Opinion Polls</a:t>
            </a:r>
          </a:p>
          <a:p>
            <a:pPr lvl="1"/>
            <a:r>
              <a:rPr lang="en-US" dirty="0" smtClean="0"/>
              <a:t>Canadian Election Surveys</a:t>
            </a:r>
          </a:p>
          <a:p>
            <a:pPr lvl="1"/>
            <a:r>
              <a:rPr lang="en-US" dirty="0" smtClean="0"/>
              <a:t>Health data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&lt;odesi&gt; opening doors to data discovery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None/>
            </a:pPr>
            <a:endParaRPr lang="en-US" dirty="0" smtClean="0"/>
          </a:p>
          <a:p>
            <a:pPr algn="ctr">
              <a:buNone/>
            </a:pPr>
            <a:r>
              <a:rPr lang="en-US" dirty="0" smtClean="0"/>
              <a:t>Michelle Edwards</a:t>
            </a:r>
          </a:p>
          <a:p>
            <a:pPr algn="ctr">
              <a:buNone/>
            </a:pPr>
            <a:r>
              <a:rPr lang="en-US" dirty="0" smtClean="0">
                <a:hlinkClick r:id="rId2"/>
              </a:rPr>
              <a:t>edwardsm@uoguelph.ca</a:t>
            </a:r>
            <a:endParaRPr lang="en-US" dirty="0" smtClean="0"/>
          </a:p>
          <a:p>
            <a:pPr algn="ctr">
              <a:buNone/>
            </a:pPr>
            <a:endParaRPr lang="en-US" dirty="0" smtClean="0"/>
          </a:p>
          <a:p>
            <a:pPr algn="ctr">
              <a:buNone/>
            </a:pPr>
            <a:r>
              <a:rPr lang="en-US" dirty="0" smtClean="0">
                <a:hlinkClick r:id="rId3"/>
              </a:rPr>
              <a:t>odesi-help@scholarsportal.info</a:t>
            </a:r>
            <a:endParaRPr lang="en-US" dirty="0" smtClean="0"/>
          </a:p>
          <a:p>
            <a:pPr algn="ctr"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539</TotalTime>
  <Words>419</Words>
  <Application>Microsoft Office PowerPoint</Application>
  <PresentationFormat>On-screen Show (4:3)</PresentationFormat>
  <Paragraphs>133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Data Access North of the (US) Border</vt:lpstr>
      <vt:lpstr>Outline</vt:lpstr>
      <vt:lpstr>&lt;odesi&gt;</vt:lpstr>
      <vt:lpstr>&lt;odesi&gt;</vt:lpstr>
      <vt:lpstr>How can YOU  access &lt;odesi&gt;?</vt:lpstr>
      <vt:lpstr>Accessing &lt;odesi&gt;</vt:lpstr>
      <vt:lpstr>Accessing &lt;odesi&gt;</vt:lpstr>
      <vt:lpstr>Accessing &lt;odesi&gt;</vt:lpstr>
      <vt:lpstr>Accessing &lt;odesi&gt;</vt:lpstr>
      <vt:lpstr>Accessing data</vt:lpstr>
      <vt:lpstr>Accessing data</vt:lpstr>
      <vt:lpstr>Accessing data</vt:lpstr>
      <vt:lpstr>Accessing statistics</vt:lpstr>
      <vt:lpstr>Accessing data</vt:lpstr>
      <vt:lpstr>Accessing data</vt:lpstr>
      <vt:lpstr>Summary</vt:lpstr>
      <vt:lpstr>Summary</vt:lpstr>
      <vt:lpstr>Questions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edwardsm</dc:creator>
  <cp:lastModifiedBy>edwardsm</cp:lastModifiedBy>
  <cp:revision>74</cp:revision>
  <dcterms:created xsi:type="dcterms:W3CDTF">2010-11-08T22:53:49Z</dcterms:created>
  <dcterms:modified xsi:type="dcterms:W3CDTF">2010-11-09T16:23:11Z</dcterms:modified>
</cp:coreProperties>
</file>