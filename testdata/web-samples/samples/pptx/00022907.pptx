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sldIdLst>
    <p:sldId id="336" r:id="rId2"/>
    <p:sldId id="381" r:id="rId3"/>
    <p:sldId id="507" r:id="rId4"/>
    <p:sldId id="508" r:id="rId5"/>
    <p:sldId id="496" r:id="rId6"/>
    <p:sldId id="509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510" r:id="rId18"/>
    <p:sldId id="511" r:id="rId19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3333A0"/>
    <a:srgbClr val="CBE07E"/>
    <a:srgbClr val="282B66"/>
    <a:srgbClr val="EAEAEA"/>
    <a:srgbClr val="A4BDE4"/>
    <a:srgbClr val="3336A3"/>
    <a:srgbClr val="A5C52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463" autoAdjust="0"/>
    <p:restoredTop sz="94660"/>
  </p:normalViewPr>
  <p:slideViewPr>
    <p:cSldViewPr>
      <p:cViewPr varScale="1">
        <p:scale>
          <a:sx n="69" d="100"/>
          <a:sy n="69" d="100"/>
        </p:scale>
        <p:origin x="-90" y="-8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158FEB3-41C5-463E-9164-8E707D8394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03AA362-29B0-4880-99BB-5FE72A24B0BF}" type="slidenum">
              <a:rPr lang="en-US" sz="1200">
                <a:latin typeface="Times New Roman" pitchFamily="18" charset="0"/>
              </a:rPr>
              <a:pPr algn="r"/>
              <a:t>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616F7DB-A4C9-4990-B7E1-0324C97B1FFC}" type="slidenum">
              <a:rPr lang="en-US" sz="1200">
                <a:latin typeface="Times New Roman" pitchFamily="18" charset="0"/>
              </a:rPr>
              <a:pPr algn="r"/>
              <a:t>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39963" y="728663"/>
            <a:ext cx="2557462" cy="1917700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2813050"/>
            <a:ext cx="5130800" cy="5789613"/>
          </a:xfrm>
          <a:noFill/>
          <a:ln/>
        </p:spPr>
        <p:txBody>
          <a:bodyPr/>
          <a:lstStyle/>
          <a:p>
            <a:endParaRPr lang="en-US" sz="14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278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278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ABDE4"/>
            </a:gs>
            <a:gs pos="50000">
              <a:srgbClr val="FFFFFF"/>
            </a:gs>
            <a:gs pos="100000">
              <a:srgbClr val="9ABDE4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2" r:id="rId3"/>
    <p:sldLayoutId id="2147483661" r:id="rId4"/>
    <p:sldLayoutId id="2147483660" r:id="rId5"/>
    <p:sldLayoutId id="2147483659" r:id="rId6"/>
    <p:sldLayoutId id="2147483658" r:id="rId7"/>
    <p:sldLayoutId id="2147483657" r:id="rId8"/>
    <p:sldLayoutId id="2147483656" r:id="rId9"/>
    <p:sldLayoutId id="2147483655" r:id="rId10"/>
    <p:sldLayoutId id="2147483654" r:id="rId11"/>
    <p:sldLayoutId id="2147483653" r:id="rId12"/>
    <p:sldLayoutId id="214748365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rgbClr val="282B66"/>
          </a:solidFill>
          <a:latin typeface="BakerSignet B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rgbClr val="282B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282B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282B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282B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282B66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282B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282B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282B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282B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Chart1.xls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609600"/>
            <a:ext cx="8229600" cy="2362200"/>
          </a:xfrm>
        </p:spPr>
        <p:txBody>
          <a:bodyPr/>
          <a:lstStyle/>
          <a:p>
            <a:pPr eaLnBrk="1" hangingPunct="1"/>
            <a:r>
              <a:rPr lang="en-US" smtClean="0"/>
              <a:t>Restricted Data in the PSID: </a:t>
            </a:r>
            <a:br>
              <a:rPr lang="en-US" smtClean="0"/>
            </a:br>
            <a:r>
              <a:rPr lang="en-US" smtClean="0"/>
              <a:t>Availability, Requirements, &amp; Challenges</a:t>
            </a:r>
          </a:p>
        </p:txBody>
      </p:sp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1828800" y="3200400"/>
            <a:ext cx="6400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dirty="0">
                <a:solidFill>
                  <a:srgbClr val="282B66"/>
                </a:solidFill>
                <a:latin typeface="BakerSignet BT" pitchFamily="34" charset="0"/>
              </a:rPr>
              <a:t>Survey Research Center</a:t>
            </a:r>
          </a:p>
          <a:p>
            <a:pPr algn="ctr"/>
            <a:r>
              <a:rPr lang="en-US" sz="3600" dirty="0">
                <a:solidFill>
                  <a:srgbClr val="282B66"/>
                </a:solidFill>
                <a:latin typeface="BakerSignet BT" pitchFamily="34" charset="0"/>
              </a:rPr>
              <a:t>Institute for Social Research</a:t>
            </a:r>
          </a:p>
          <a:p>
            <a:pPr algn="ctr"/>
            <a:r>
              <a:rPr lang="en-US" sz="3600" dirty="0">
                <a:solidFill>
                  <a:srgbClr val="282B66"/>
                </a:solidFill>
                <a:latin typeface="BakerSignet BT" pitchFamily="34" charset="0"/>
              </a:rPr>
              <a:t>University of Michigan</a:t>
            </a:r>
          </a:p>
        </p:txBody>
      </p:sp>
      <p:pic>
        <p:nvPicPr>
          <p:cNvPr id="16387" name="Picture 4" descr="PSIDlogo1 cop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124200"/>
            <a:ext cx="1060450" cy="209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Overview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Overview of the PSID</a:t>
            </a:r>
          </a:p>
          <a:p>
            <a:pPr eaLnBrk="1" hangingPunct="1"/>
            <a:r>
              <a:rPr lang="en-US" sz="3200" dirty="0" smtClean="0"/>
              <a:t>Availability of </a:t>
            </a:r>
            <a:r>
              <a:rPr lang="en-US" sz="3200" dirty="0" smtClean="0"/>
              <a:t>restricted data</a:t>
            </a:r>
            <a:endParaRPr lang="en-US" sz="3200" dirty="0" smtClean="0"/>
          </a:p>
          <a:p>
            <a:pPr eaLnBrk="1" hangingPunct="1"/>
            <a:r>
              <a:rPr lang="en-US" sz="3200" dirty="0" smtClean="0"/>
              <a:t>Current </a:t>
            </a:r>
            <a:r>
              <a:rPr lang="en-US" sz="3200" dirty="0" smtClean="0"/>
              <a:t>requirements to obtain restricted data</a:t>
            </a:r>
            <a:endParaRPr lang="en-US" sz="3200" dirty="0" smtClean="0"/>
          </a:p>
          <a:p>
            <a:pPr eaLnBrk="1" hangingPunct="1"/>
            <a:r>
              <a:rPr lang="en-US" sz="3200" dirty="0" smtClean="0"/>
              <a:t>Issues and </a:t>
            </a:r>
            <a:r>
              <a:rPr lang="en-US" sz="3200" dirty="0" smtClean="0"/>
              <a:t>challenges</a:t>
            </a:r>
            <a:endParaRPr lang="en-US" sz="3200" dirty="0" smtClean="0"/>
          </a:p>
          <a:p>
            <a:pPr eaLnBrk="1" hangingPunct="1"/>
            <a:r>
              <a:rPr lang="en-US" sz="3200" dirty="0" smtClean="0"/>
              <a:t>Plan for the </a:t>
            </a:r>
            <a:r>
              <a:rPr lang="en-US" sz="3200" dirty="0" smtClean="0"/>
              <a:t>future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52400"/>
            <a:ext cx="7162800" cy="1143000"/>
          </a:xfrm>
        </p:spPr>
        <p:txBody>
          <a:bodyPr/>
          <a:lstStyle/>
          <a:p>
            <a:r>
              <a:rPr lang="en-US" smtClean="0"/>
              <a:t>PSID Study Design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7239000" cy="495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 smtClean="0"/>
              <a:t>National sample of 5,000 families in 1968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sz="2000" dirty="0" smtClean="0"/>
              <a:t>Now consists of more than 9,000 families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“Split-offs” are followed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sz="2000" dirty="0" smtClean="0"/>
              <a:t>1968 family members are followed as they grow-up and establish own economic family units</a:t>
            </a:r>
          </a:p>
          <a:p>
            <a:pPr marL="1147763" lvl="2">
              <a:lnSpc>
                <a:spcPct val="80000"/>
              </a:lnSpc>
            </a:pPr>
            <a:r>
              <a:rPr lang="en-US" sz="1600" dirty="0" smtClean="0"/>
              <a:t>Therefore, multiple generations of family members are surveyed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Post-1968 immigrants added in 1997 </a:t>
            </a:r>
          </a:p>
          <a:p>
            <a:pPr marL="682625" lvl="1" indent="-225425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Arial" charset="0"/>
              </a:rPr>
              <a:t></a:t>
            </a:r>
            <a:r>
              <a:rPr lang="en-US" sz="2400" dirty="0" smtClean="0">
                <a:cs typeface="Arial" charset="0"/>
              </a:rPr>
              <a:t> </a:t>
            </a:r>
            <a:r>
              <a:rPr lang="en-US" sz="2400" dirty="0" smtClean="0"/>
              <a:t>21% Asian, 52% Latino</a:t>
            </a:r>
          </a:p>
          <a:p>
            <a:pPr>
              <a:lnSpc>
                <a:spcPct val="80000"/>
              </a:lnSpc>
            </a:pPr>
            <a:r>
              <a:rPr lang="en-US" sz="2800" dirty="0" smtClean="0"/>
              <a:t>Key design elements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sz="2000" dirty="0" smtClean="0"/>
              <a:t>Mode: Telephone – CATI since 1993</a:t>
            </a:r>
          </a:p>
          <a:p>
            <a:pPr marL="1147763" lvl="2">
              <a:lnSpc>
                <a:spcPct val="80000"/>
              </a:lnSpc>
            </a:pPr>
            <a:r>
              <a:rPr lang="en-US" sz="1800" dirty="0" smtClean="0"/>
              <a:t>Frequency: Every year, 1968-97; biennial since 1997</a:t>
            </a:r>
          </a:p>
          <a:p>
            <a:pPr marL="1147763" lvl="2">
              <a:lnSpc>
                <a:spcPct val="80000"/>
              </a:lnSpc>
            </a:pPr>
            <a:r>
              <a:rPr lang="en-US" sz="1800" dirty="0" smtClean="0"/>
              <a:t>One interview per family unit </a:t>
            </a:r>
          </a:p>
          <a:p>
            <a:pPr marL="682625" lvl="1" indent="-225425">
              <a:lnSpc>
                <a:spcPct val="80000"/>
              </a:lnSpc>
            </a:pPr>
            <a:r>
              <a:rPr lang="en-US" sz="2000" dirty="0" smtClean="0"/>
              <a:t>96-98</a:t>
            </a:r>
            <a:r>
              <a:rPr lang="en-US" sz="2000" dirty="0" smtClean="0"/>
              <a:t>% wave-to-wave core response rate</a:t>
            </a:r>
          </a:p>
          <a:p>
            <a:pPr marL="1147763" lvl="2">
              <a:lnSpc>
                <a:spcPct val="80000"/>
              </a:lnSpc>
            </a:pPr>
            <a:r>
              <a:rPr lang="en-US" sz="1600" dirty="0" smtClean="0"/>
              <a:t>Attritors </a:t>
            </a:r>
            <a:r>
              <a:rPr lang="en-US" sz="1600" dirty="0" err="1" smtClean="0"/>
              <a:t>recontacted</a:t>
            </a:r>
            <a:r>
              <a:rPr lang="en-US" sz="1600" dirty="0" smtClean="0"/>
              <a:t> for 1 wave following wave of non-response</a:t>
            </a:r>
          </a:p>
          <a:p>
            <a:pPr marL="682625" lvl="1" indent="-225425">
              <a:lnSpc>
                <a:spcPct val="80000"/>
              </a:lnSpc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3388" y="533400"/>
            <a:ext cx="7796212" cy="762000"/>
          </a:xfrm>
        </p:spPr>
        <p:txBody>
          <a:bodyPr/>
          <a:lstStyle/>
          <a:p>
            <a:r>
              <a:rPr lang="en-US" dirty="0" smtClean="0"/>
              <a:t>Unique Design Features </a:t>
            </a:r>
            <a:r>
              <a:rPr lang="en-US" dirty="0" smtClean="0"/>
              <a:t>of PSID</a:t>
            </a:r>
            <a:endParaRPr lang="en-US" dirty="0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600200"/>
            <a:ext cx="7467600" cy="4953000"/>
          </a:xfrm>
        </p:spPr>
        <p:txBody>
          <a:bodyPr/>
          <a:lstStyle/>
          <a:p>
            <a:r>
              <a:rPr lang="en-US" sz="2400" dirty="0" smtClean="0"/>
              <a:t>National sample</a:t>
            </a:r>
          </a:p>
          <a:p>
            <a:pPr marL="682625" lvl="1" indent="-225425"/>
            <a:r>
              <a:rPr lang="en-US" sz="1800" dirty="0" smtClean="0"/>
              <a:t>People of all ages, entire life course</a:t>
            </a:r>
          </a:p>
          <a:p>
            <a:r>
              <a:rPr lang="en-US" sz="2400" dirty="0" smtClean="0"/>
              <a:t>Long panel</a:t>
            </a:r>
          </a:p>
          <a:p>
            <a:r>
              <a:rPr lang="en-US" sz="2400" dirty="0" smtClean="0"/>
              <a:t>Genealogical design</a:t>
            </a:r>
          </a:p>
          <a:p>
            <a:pPr marL="682625" lvl="1" indent="-225425"/>
            <a:r>
              <a:rPr lang="en-US" sz="1800" dirty="0" smtClean="0"/>
              <a:t>Point-in-time: Parent-Child / Grandparent-Child / Sibs (e.g., BMI)</a:t>
            </a:r>
          </a:p>
          <a:p>
            <a:pPr marL="682625" lvl="1" indent="-225425"/>
            <a:r>
              <a:rPr lang="en-US" sz="1800" dirty="0" smtClean="0"/>
              <a:t>Specific life course point: Parent-Child / Sibs (e.g., earnings at age 40; birthweight)</a:t>
            </a:r>
          </a:p>
          <a:p>
            <a:r>
              <a:rPr lang="en-US" sz="2400" dirty="0" smtClean="0"/>
              <a:t>Broad and deep content</a:t>
            </a:r>
          </a:p>
          <a:p>
            <a:pPr marL="682625" lvl="1" indent="-225425"/>
            <a:r>
              <a:rPr lang="en-US" sz="1800" dirty="0" smtClean="0"/>
              <a:t>Economic: </a:t>
            </a:r>
            <a:r>
              <a:rPr lang="en-US" sz="1800" dirty="0" smtClean="0"/>
              <a:t>income</a:t>
            </a:r>
            <a:r>
              <a:rPr lang="en-US" sz="1800" dirty="0" smtClean="0"/>
              <a:t>, wealth, pensions, consumption</a:t>
            </a:r>
          </a:p>
          <a:p>
            <a:pPr marL="682625" lvl="1" indent="-225425"/>
            <a:r>
              <a:rPr lang="en-US" sz="1800" dirty="0" smtClean="0"/>
              <a:t>Demographic: </a:t>
            </a:r>
            <a:r>
              <a:rPr lang="en-US" sz="1800" dirty="0" smtClean="0"/>
              <a:t>fertility</a:t>
            </a:r>
            <a:r>
              <a:rPr lang="en-US" sz="1800" dirty="0" smtClean="0"/>
              <a:t>, mortality, migration, marriage</a:t>
            </a:r>
          </a:p>
          <a:p>
            <a:pPr marL="682625" lvl="1" indent="-225425"/>
            <a:r>
              <a:rPr lang="en-US" sz="1800" dirty="0" smtClean="0"/>
              <a:t>Health: </a:t>
            </a:r>
            <a:r>
              <a:rPr lang="en-US" sz="1800" dirty="0" smtClean="0"/>
              <a:t>health </a:t>
            </a:r>
            <a:r>
              <a:rPr lang="en-US" sz="1800" dirty="0" smtClean="0"/>
              <a:t>status, health behaviors, health insurance</a:t>
            </a:r>
          </a:p>
          <a:p>
            <a:pPr marL="682625" lvl="1" indent="-225425"/>
            <a:r>
              <a:rPr lang="en-US" sz="1800" dirty="0" smtClean="0"/>
              <a:t>Child development: </a:t>
            </a:r>
            <a:r>
              <a:rPr lang="en-US" sz="1800" dirty="0" smtClean="0"/>
              <a:t>health</a:t>
            </a:r>
            <a:r>
              <a:rPr lang="en-US" sz="1800" dirty="0" smtClean="0"/>
              <a:t>, cognition, psychosocial wellbeing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Availability of PSID Restricted Data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Geospatial </a:t>
            </a:r>
            <a:r>
              <a:rPr lang="en-US" sz="2800" dirty="0" smtClean="0"/>
              <a:t>data</a:t>
            </a:r>
            <a:endParaRPr lang="en-US" sz="2800" dirty="0" smtClean="0"/>
          </a:p>
          <a:p>
            <a:r>
              <a:rPr lang="en-US" sz="2800" dirty="0" smtClean="0"/>
              <a:t>Links to National Death Index</a:t>
            </a:r>
          </a:p>
          <a:p>
            <a:r>
              <a:rPr lang="en-US" sz="2800" dirty="0" smtClean="0"/>
              <a:t>School </a:t>
            </a:r>
            <a:r>
              <a:rPr lang="en-US" sz="2800" dirty="0" smtClean="0"/>
              <a:t>identifiers</a:t>
            </a:r>
            <a:endParaRPr lang="en-US" sz="2800" dirty="0" smtClean="0"/>
          </a:p>
          <a:p>
            <a:r>
              <a:rPr lang="en-US" sz="2800" dirty="0" smtClean="0"/>
              <a:t>Hurricane Katrina </a:t>
            </a:r>
            <a:r>
              <a:rPr lang="en-US" sz="2800" dirty="0" smtClean="0"/>
              <a:t>module</a:t>
            </a:r>
            <a:endParaRPr lang="en-US" sz="2800" dirty="0" smtClean="0"/>
          </a:p>
          <a:p>
            <a:r>
              <a:rPr lang="en-US" sz="2800" dirty="0" smtClean="0"/>
              <a:t>Medicare </a:t>
            </a:r>
            <a:r>
              <a:rPr lang="en-US" sz="2800" dirty="0" smtClean="0"/>
              <a:t>claims</a:t>
            </a:r>
            <a:endParaRPr lang="en-US" sz="2800" dirty="0" smtClean="0"/>
          </a:p>
          <a:p>
            <a:r>
              <a:rPr lang="en-US" sz="2800" dirty="0" smtClean="0"/>
              <a:t>Miscellaneous datasets: </a:t>
            </a:r>
            <a:r>
              <a:rPr lang="en-US" sz="2800" dirty="0" err="1" smtClean="0"/>
              <a:t>birthdate</a:t>
            </a:r>
            <a:r>
              <a:rPr lang="en-US" sz="2800" dirty="0" smtClean="0"/>
              <a:t>; vehicle models; assisted housing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/>
              <a:t>Restricted Data Contracts by Year</a:t>
            </a:r>
          </a:p>
        </p:txBody>
      </p:sp>
      <p:graphicFrame>
        <p:nvGraphicFramePr>
          <p:cNvPr id="82947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457200" y="1600200"/>
          <a:ext cx="8229600" cy="4953000"/>
        </p:xfrm>
        <a:graphic>
          <a:graphicData uri="http://schemas.openxmlformats.org/presentationml/2006/ole">
            <p:oleObj spid="_x0000_s82947" r:id="rId3" imgW="8230313" imgH="4950381" progId="Excel.Char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Geospatial Data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Link </a:t>
            </a:r>
            <a:r>
              <a:rPr lang="en-US" sz="2800" dirty="0" smtClean="0"/>
              <a:t>PSID 1968-2009 to </a:t>
            </a:r>
            <a:r>
              <a:rPr lang="en-US" sz="2800" dirty="0" smtClean="0"/>
              <a:t>data </a:t>
            </a:r>
            <a:r>
              <a:rPr lang="en-US" sz="2800" dirty="0" smtClean="0"/>
              <a:t>from </a:t>
            </a:r>
            <a:r>
              <a:rPr lang="en-US" sz="2800" dirty="0" smtClean="0"/>
              <a:t>decennial census </a:t>
            </a:r>
            <a:r>
              <a:rPr lang="en-US" sz="2800" dirty="0" smtClean="0"/>
              <a:t>1970, 1980, 1990, 2000</a:t>
            </a:r>
          </a:p>
          <a:p>
            <a:r>
              <a:rPr lang="en-US" sz="2800" dirty="0" smtClean="0"/>
              <a:t>Tract, block-group, block data may be linked to PSID public data</a:t>
            </a:r>
          </a:p>
          <a:p>
            <a:r>
              <a:rPr lang="en-US" sz="2800" dirty="0" smtClean="0"/>
              <a:t>Research Uses</a:t>
            </a:r>
          </a:p>
          <a:p>
            <a:pPr lvl="1"/>
            <a:r>
              <a:rPr lang="en-US" sz="2400" dirty="0" smtClean="0"/>
              <a:t>Study distances between family members at a point in time and over time, as well as for individuals over time</a:t>
            </a:r>
          </a:p>
          <a:p>
            <a:pPr lvl="1"/>
            <a:r>
              <a:rPr lang="en-US" sz="2400" dirty="0" smtClean="0"/>
              <a:t>Examine distances from various facilities, such as health services</a:t>
            </a:r>
          </a:p>
          <a:p>
            <a:pPr lvl="1"/>
            <a:r>
              <a:rPr lang="en-US" sz="2400" dirty="0" smtClean="0"/>
              <a:t>Effects of neighborhood characteristics on a variety of life course outcomes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Links to National Death Index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 smtClean="0"/>
              <a:t>Study effects of health and SES over the life course on mortality, including cause of death </a:t>
            </a:r>
          </a:p>
          <a:p>
            <a:pPr>
              <a:lnSpc>
                <a:spcPct val="90000"/>
              </a:lnSpc>
            </a:pPr>
            <a:r>
              <a:rPr lang="en-US" sz="3000" dirty="0" smtClean="0"/>
              <a:t>ICD </a:t>
            </a:r>
            <a:r>
              <a:rPr lang="en-US" sz="3000" dirty="0" smtClean="0"/>
              <a:t>cause </a:t>
            </a:r>
            <a:r>
              <a:rPr lang="en-US" sz="3000" dirty="0" smtClean="0"/>
              <a:t>of death since 1979, date and location of death, match quality indicators</a:t>
            </a:r>
          </a:p>
          <a:p>
            <a:pPr>
              <a:lnSpc>
                <a:spcPct val="90000"/>
              </a:lnSpc>
            </a:pPr>
            <a:r>
              <a:rPr lang="en-US" sz="3000" dirty="0" smtClean="0"/>
              <a:t>PSID uses SSN from the SSDI to obtain </a:t>
            </a:r>
            <a:r>
              <a:rPr lang="en-US" sz="3000" dirty="0" smtClean="0"/>
              <a:t>high-quality </a:t>
            </a:r>
            <a:r>
              <a:rPr lang="en-US" sz="3000" dirty="0" smtClean="0"/>
              <a:t>match for known decedents and attritors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Match rate in most recent file of 95%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More than 6,000 </a:t>
            </a:r>
            <a:r>
              <a:rPr lang="en-US" dirty="0" smtClean="0"/>
              <a:t>decedents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School Identifiers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3000" dirty="0" smtClean="0"/>
              <a:t>For children &amp; adolescents in PSID-CDS: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L</a:t>
            </a:r>
            <a:r>
              <a:rPr lang="en-US" dirty="0" smtClean="0"/>
              <a:t>inks </a:t>
            </a:r>
            <a:r>
              <a:rPr lang="en-US" dirty="0" smtClean="0"/>
              <a:t>to the NCES Common Core of Data and Private School Survey data on elementary &amp; secondary schools, including: size, location, pupil-teacher ratio, % free lunch, special education information, racial/ethnic distribution, and more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For young adults in PSID-TA: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L</a:t>
            </a:r>
            <a:r>
              <a:rPr lang="en-US" dirty="0" smtClean="0"/>
              <a:t>inks </a:t>
            </a:r>
            <a:r>
              <a:rPr lang="en-US" dirty="0" smtClean="0"/>
              <a:t>to the NCES Integrated Postsecondary Education Data System on universities, colleges, vocational training, including: size, location, enrollment, tuition, graduate rates, financial aid, and more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686800" cy="1143000"/>
          </a:xfrm>
        </p:spPr>
        <p:txBody>
          <a:bodyPr/>
          <a:lstStyle/>
          <a:p>
            <a:r>
              <a:rPr lang="en-US" dirty="0" smtClean="0"/>
              <a:t>PSID Hurricane Katrina </a:t>
            </a:r>
            <a:r>
              <a:rPr lang="en-US" dirty="0" smtClean="0"/>
              <a:t>Module 2007</a:t>
            </a:r>
            <a:endParaRPr lang="en-US" dirty="0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555 families interviewed after PSID 2007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Content on </a:t>
            </a:r>
          </a:p>
          <a:p>
            <a:pPr lvl="2">
              <a:lnSpc>
                <a:spcPct val="90000"/>
              </a:lnSpc>
            </a:pPr>
            <a:r>
              <a:rPr lang="en-US" dirty="0" smtClean="0"/>
              <a:t>Extent of exposure &amp; effect of Katrina, including personal property &amp; business damage, whether anyone they knew was injured/killed, evacuation, rescue/recovery efforts</a:t>
            </a:r>
          </a:p>
          <a:p>
            <a:pPr lvl="2">
              <a:lnSpc>
                <a:spcPct val="90000"/>
              </a:lnSpc>
            </a:pPr>
            <a:r>
              <a:rPr lang="en-US" dirty="0" smtClean="0"/>
              <a:t>Detailed information on mental health, including anxiety, depression, PTSD, substance use/dependence/abuse, health service utilization, social support &amp; social networks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Why restricted?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Combination of geographic information &amp; sensitive content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Medicare Claims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Nearly 20 yrs of links to claims and benefits data for eligible PSID respondents</a:t>
            </a:r>
          </a:p>
          <a:p>
            <a:pPr lvl="1"/>
            <a:r>
              <a:rPr lang="en-US" sz="2400" dirty="0" smtClean="0"/>
              <a:t>Links made 1990-1995, and again starting in 2005 through 2009 </a:t>
            </a:r>
          </a:p>
          <a:p>
            <a:pPr lvl="1"/>
            <a:r>
              <a:rPr lang="en-US" sz="2400" dirty="0" smtClean="0"/>
              <a:t>About 950 respondents are linked so far, or about 65% of those who have been asked for permission</a:t>
            </a:r>
          </a:p>
          <a:p>
            <a:pPr lvl="1"/>
            <a:r>
              <a:rPr lang="en-US" sz="2400" dirty="0" err="1" smtClean="0"/>
              <a:t>Refusers</a:t>
            </a:r>
            <a:r>
              <a:rPr lang="en-US" sz="2400" dirty="0" smtClean="0"/>
              <a:t> are </a:t>
            </a:r>
            <a:r>
              <a:rPr lang="en-US" sz="2400" dirty="0" err="1" smtClean="0"/>
              <a:t>reasked</a:t>
            </a:r>
            <a:r>
              <a:rPr lang="en-US" sz="2400" dirty="0" smtClean="0"/>
              <a:t> each wave</a:t>
            </a:r>
          </a:p>
          <a:p>
            <a:r>
              <a:rPr lang="en-US" sz="3200" dirty="0" smtClean="0"/>
              <a:t>Data include diagnoses, procedures, service dates</a:t>
            </a:r>
          </a:p>
          <a:p>
            <a:r>
              <a:rPr lang="en-US" sz="3200" dirty="0" smtClean="0"/>
              <a:t>Examine predictors of health insurance status, service utilization and cost</a:t>
            </a:r>
          </a:p>
          <a:p>
            <a:pPr lvl="1"/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for </a:t>
            </a:r>
            <a:r>
              <a:rPr lang="en-US" dirty="0" smtClean="0"/>
              <a:t>Obtaining Data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Research plan describing appropriate use of the data</a:t>
            </a:r>
          </a:p>
          <a:p>
            <a:r>
              <a:rPr lang="en-US" sz="2800" dirty="0" smtClean="0"/>
              <a:t>Approved data protection plan</a:t>
            </a:r>
          </a:p>
          <a:p>
            <a:r>
              <a:rPr lang="en-US" sz="2800" dirty="0" smtClean="0"/>
              <a:t>Evidence of IRB review using same standard as for live human subjects</a:t>
            </a:r>
          </a:p>
          <a:p>
            <a:r>
              <a:rPr lang="en-US" sz="2800" dirty="0" smtClean="0"/>
              <a:t>Non-refundable processing fee</a:t>
            </a:r>
          </a:p>
          <a:p>
            <a:r>
              <a:rPr lang="en-US" sz="2800" dirty="0" smtClean="0"/>
              <a:t>Special requirements for Medicare claims</a:t>
            </a:r>
          </a:p>
          <a:p>
            <a:pPr>
              <a:buFontTx/>
              <a:buNone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Protection Plan Requirements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Standalone, non-networked PC, no automated backups of data, no laptops</a:t>
            </a:r>
          </a:p>
          <a:p>
            <a:r>
              <a:rPr lang="en-US" sz="2800" dirty="0" smtClean="0"/>
              <a:t>Locked office, password-protected PC</a:t>
            </a:r>
          </a:p>
          <a:p>
            <a:r>
              <a:rPr lang="en-US" sz="2800" dirty="0" smtClean="0"/>
              <a:t>Secured storage of removable data devices</a:t>
            </a:r>
          </a:p>
          <a:p>
            <a:r>
              <a:rPr lang="en-US" sz="2800" dirty="0" smtClean="0"/>
              <a:t>No publication or presentation of small cell sizes (i.e., at tract-level or below), including maps</a:t>
            </a:r>
          </a:p>
          <a:p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</a:t>
            </a:r>
            <a:r>
              <a:rPr lang="en-US" dirty="0" smtClean="0"/>
              <a:t>for Medicare Claims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 smtClean="0"/>
              <a:t>Same requirements as described above, plus:</a:t>
            </a:r>
          </a:p>
          <a:p>
            <a:pPr lvl="1"/>
            <a:r>
              <a:rPr lang="en-US" dirty="0" smtClean="0"/>
              <a:t>Must be a permanent, full-time, doctoral-level faculty member, </a:t>
            </a:r>
            <a:r>
              <a:rPr lang="en-US" b="1" dirty="0" smtClean="0"/>
              <a:t>and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PI of federal grant OR affiliated with a federally funded Center whose Director and PI agrees to be Co-PI</a:t>
            </a:r>
          </a:p>
          <a:p>
            <a:pPr lvl="1"/>
            <a:r>
              <a:rPr lang="en-US" dirty="0" smtClean="0"/>
              <a:t>Must enter into a Data Use Agreement with the Centers for Medicaid &amp; Medicare (CMS)</a:t>
            </a:r>
          </a:p>
          <a:p>
            <a:pPr lvl="1"/>
            <a:r>
              <a:rPr lang="en-US" dirty="0" smtClean="0"/>
              <a:t>Must agree to be subject to random, in-person </a:t>
            </a:r>
            <a:r>
              <a:rPr lang="en-US" dirty="0" smtClean="0"/>
              <a:t>audits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Challenges &amp; Issues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Ensuring data protection with new technologies</a:t>
            </a:r>
          </a:p>
          <a:p>
            <a:r>
              <a:rPr lang="en-US" sz="2800" dirty="0" smtClean="0"/>
              <a:t>Increasing access to restricted data while maintaining security</a:t>
            </a:r>
          </a:p>
          <a:p>
            <a:r>
              <a:rPr lang="en-US" sz="2800" dirty="0" smtClean="0"/>
              <a:t>Obtaining IRB (or other) guidance for disseminating restricted data</a:t>
            </a:r>
          </a:p>
          <a:p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Plans for the Future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smtClean="0"/>
              <a:t>Technological developments in restricted data distribution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Centralized system through DSDR/ICPSR with electronic application materials and automated processing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Collection </a:t>
            </a:r>
            <a:r>
              <a:rPr lang="en-US" sz="2800" dirty="0" smtClean="0"/>
              <a:t>of new administrative data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Social Security earnings and benefit data?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Medicaid data?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Development of tools to facilitate analysis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Software to provide information about distances between related family members in all </a:t>
            </a:r>
            <a:r>
              <a:rPr lang="en-US" sz="2400" dirty="0" smtClean="0"/>
              <a:t>waves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Sponsors	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National Science Foundation</a:t>
            </a:r>
          </a:p>
          <a:p>
            <a:r>
              <a:rPr lang="en-US" sz="2800" dirty="0" smtClean="0"/>
              <a:t>National Institute on Aging</a:t>
            </a:r>
          </a:p>
          <a:p>
            <a:r>
              <a:rPr lang="en-US" sz="2800" i="1" dirty="0" smtClean="0"/>
              <a:t>Eunice Kennedy Shriver </a:t>
            </a:r>
            <a:r>
              <a:rPr lang="en-US" sz="2800" dirty="0" smtClean="0"/>
              <a:t>National Institute of Child Health &amp; Human Development</a:t>
            </a:r>
          </a:p>
          <a:p>
            <a:r>
              <a:rPr lang="en-US" sz="2800" dirty="0" smtClean="0"/>
              <a:t>U.S. Department of Agriculture – Economic Research Service</a:t>
            </a:r>
          </a:p>
          <a:p>
            <a:r>
              <a:rPr lang="en-US" sz="2800" dirty="0" smtClean="0"/>
              <a:t>Indiana University – Purdue University Center on Philanthropic Studies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Picture 18" descr="PSIDlogo1 cop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1066800"/>
            <a:ext cx="2346325" cy="470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akerSignet BT"/>
        <a:ea typeface=""/>
        <a:cs typeface=""/>
      </a:majorFont>
      <a:minorFont>
        <a:latin typeface="BakerSignet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5915</TotalTime>
  <Words>912</Words>
  <Application>Microsoft Office PowerPoint</Application>
  <PresentationFormat>On-screen Show (4:3)</PresentationFormat>
  <Paragraphs>113</Paragraphs>
  <Slides>18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Default Design</vt:lpstr>
      <vt:lpstr>Microsoft Office Excel Chart</vt:lpstr>
      <vt:lpstr>Restricted Data in the PSID:  Availability, Requirements, &amp; Challenges</vt:lpstr>
      <vt:lpstr>Overview</vt:lpstr>
      <vt:lpstr>PSID Study Design</vt:lpstr>
      <vt:lpstr>Unique Design Features of PSID</vt:lpstr>
      <vt:lpstr>Availability of PSID Restricted Data</vt:lpstr>
      <vt:lpstr>Restricted Data Contracts by Year</vt:lpstr>
      <vt:lpstr>Geospatial Data</vt:lpstr>
      <vt:lpstr>Links to National Death Index</vt:lpstr>
      <vt:lpstr>School Identifiers</vt:lpstr>
      <vt:lpstr>PSID Hurricane Katrina Module 2007</vt:lpstr>
      <vt:lpstr>Medicare Claims</vt:lpstr>
      <vt:lpstr>Requirements for Obtaining Data</vt:lpstr>
      <vt:lpstr>Data Protection Plan Requirements</vt:lpstr>
      <vt:lpstr>Requirements for Medicare Claims</vt:lpstr>
      <vt:lpstr>Challenges &amp; Issues</vt:lpstr>
      <vt:lpstr>Plans for the Future</vt:lpstr>
      <vt:lpstr>Sponsors </vt:lpstr>
      <vt:lpstr>Slide 18</vt:lpstr>
    </vt:vector>
  </TitlesOfParts>
  <Company>University of Michigan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BSchoeni</dc:creator>
  <cp:lastModifiedBy>Narayan Sastry</cp:lastModifiedBy>
  <cp:revision>291</cp:revision>
  <dcterms:created xsi:type="dcterms:W3CDTF">2002-02-18T14:24:31Z</dcterms:created>
  <dcterms:modified xsi:type="dcterms:W3CDTF">2010-11-05T15:27:43Z</dcterms:modified>
</cp:coreProperties>
</file>