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72" r:id="rId2"/>
    <p:sldId id="273" r:id="rId3"/>
    <p:sldId id="274" r:id="rId4"/>
    <p:sldId id="276" r:id="rId5"/>
    <p:sldId id="275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08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79" d="100"/>
          <a:sy n="79" d="100"/>
        </p:scale>
        <p:origin x="-2288" y="-96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82FA26-AFD0-3B4A-A233-F5F22DE0B0A7}" type="datetimeFigureOut">
              <a:rPr lang="en-US" smtClean="0"/>
              <a:pPr/>
              <a:t>10/3/2011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79C7A3-8FA6-7A46-8983-EF02AF6FF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382FF5-D205-7D4C-BC0E-F85AF6965D5C}" type="datetimeFigureOut">
              <a:rPr lang="en-US" smtClean="0"/>
              <a:pPr/>
              <a:t>10/3/2011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45A9E5-EBBA-1245-8B57-34E3E691D6E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392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392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7D25B00-5E1A-4E10-BADA-6A1F016745FE}" type="datetimeFigureOut">
              <a:rPr lang="en-US" smtClean="0"/>
              <a:pPr/>
              <a:t>10/3/2011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3638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Garamond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Garamond" pitchFamily="18" charset="0"/>
              </a:defRPr>
            </a:lvl1pPr>
          </a:lstStyle>
          <a:p>
            <a:fld id="{50FCE2FF-35C6-476C-B7F5-BD4E2C116B9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D25B00-5E1A-4E10-BADA-6A1F016745FE}" type="datetimeFigureOut">
              <a:rPr lang="en-US" smtClean="0"/>
              <a:pPr/>
              <a:t>10/3/2011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D25B00-5E1A-4E10-BADA-6A1F016745FE}" type="datetimeFigureOut">
              <a:rPr lang="en-US" smtClean="0"/>
              <a:pPr/>
              <a:t>10/3/2011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3733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3733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D25B00-5E1A-4E10-BADA-6A1F016745FE}" type="datetimeFigureOut">
              <a:rPr lang="en-US" smtClean="0"/>
              <a:pPr/>
              <a:t>10/3/2011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D25B00-5E1A-4E10-BADA-6A1F016745FE}" type="datetimeFigureOut">
              <a:rPr lang="en-US" smtClean="0"/>
              <a:pPr/>
              <a:t>10/3/2011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D25B00-5E1A-4E10-BADA-6A1F016745FE}" type="datetimeFigureOut">
              <a:rPr lang="en-US" smtClean="0"/>
              <a:pPr/>
              <a:t>10/3/2011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D25B00-5E1A-4E10-BADA-6A1F016745FE}" type="datetimeFigureOut">
              <a:rPr lang="en-US" smtClean="0"/>
              <a:pPr/>
              <a:t>10/3/2011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D25B00-5E1A-4E10-BADA-6A1F016745FE}" type="datetimeFigureOut">
              <a:rPr lang="en-US" smtClean="0"/>
              <a:pPr/>
              <a:t>10/3/2011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D25B00-5E1A-4E10-BADA-6A1F016745FE}" type="datetimeFigureOut">
              <a:rPr lang="en-US" smtClean="0"/>
              <a:pPr/>
              <a:t>10/3/2011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D25B00-5E1A-4E10-BADA-6A1F016745FE}" type="datetimeFigureOut">
              <a:rPr lang="en-US" smtClean="0"/>
              <a:pPr/>
              <a:t>10/3/2011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304800"/>
            <a:ext cx="2057400" cy="5029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029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D25B00-5E1A-4E10-BADA-6A1F016745FE}" type="datetimeFigureOut">
              <a:rPr lang="en-US" smtClean="0"/>
              <a:pPr/>
              <a:t>10/3/2011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457200" y="1600200"/>
            <a:ext cx="8229600" cy="3733800"/>
          </a:xfrm>
        </p:spPr>
        <p:txBody>
          <a:bodyPr/>
          <a:lstStyle/>
          <a:p>
            <a:pPr lvl="0"/>
            <a:r>
              <a:rPr lang="en-US" noProof="0" dirty="0" smtClean="0"/>
              <a:t>Click icon to add </a:t>
            </a:r>
            <a:r>
              <a:rPr lang="en-US" noProof="0" dirty="0" err="1" smtClean="0"/>
              <a:t>SmartArt</a:t>
            </a:r>
            <a:r>
              <a:rPr lang="en-US" noProof="0" dirty="0" smtClean="0"/>
              <a:t> graphic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D25B00-5E1A-4E10-BADA-6A1F016745FE}" type="datetimeFigureOut">
              <a:rPr lang="en-US" smtClean="0"/>
              <a:pPr/>
              <a:t>10/3/2011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04800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3824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Garamond" pitchFamily="18" charset="0"/>
              </a:defRPr>
            </a:lvl1pPr>
          </a:lstStyle>
          <a:p>
            <a:fld id="{E7D25B00-5E1A-4E10-BADA-6A1F016745FE}" type="datetimeFigureOut">
              <a:rPr lang="en-US" smtClean="0"/>
              <a:pPr/>
              <a:t>10/3/2011</a:t>
            </a:fld>
            <a:endParaRPr lang="en-US" dirty="0"/>
          </a:p>
        </p:txBody>
      </p:sp>
      <p:sp>
        <p:nvSpPr>
          <p:cNvPr id="138247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38248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38250" name="Rectangle 10"/>
          <p:cNvSpPr>
            <a:spLocks noChangeArrowheads="1"/>
          </p:cNvSpPr>
          <p:nvPr/>
        </p:nvSpPr>
        <p:spPr bwMode="auto">
          <a:xfrm>
            <a:off x="4572000" y="6248400"/>
            <a:ext cx="421481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400" b="1" i="1" dirty="0">
                <a:solidFill>
                  <a:schemeClr val="hlink"/>
                </a:solidFill>
                <a:latin typeface="Verdana" pitchFamily="34" charset="0"/>
              </a:rPr>
              <a:t>National Geospatial Advisory Committee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 of Key NGAC Activities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 smtClean="0"/>
              <a:t>Geospatial Platform</a:t>
            </a:r>
          </a:p>
          <a:p>
            <a:r>
              <a:rPr lang="en-US" sz="3200" dirty="0" smtClean="0"/>
              <a:t>Innovative Strategies White Paper</a:t>
            </a:r>
          </a:p>
          <a:p>
            <a:r>
              <a:rPr lang="en-US" sz="3200" dirty="0" smtClean="0"/>
              <a:t>Geospatial Workforce Development White Paper</a:t>
            </a:r>
          </a:p>
          <a:p>
            <a:r>
              <a:rPr lang="en-US" sz="3200" dirty="0" smtClean="0"/>
              <a:t>Understanding Tribal Issues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Geospatial Platform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72000"/>
          </a:xfrm>
        </p:spPr>
        <p:txBody>
          <a:bodyPr/>
          <a:lstStyle/>
          <a:p>
            <a:r>
              <a:rPr lang="en-US" dirty="0" smtClean="0"/>
              <a:t>Inform members on progress</a:t>
            </a:r>
          </a:p>
          <a:p>
            <a:r>
              <a:rPr lang="en-US" dirty="0" smtClean="0"/>
              <a:t>Share a demonstration of Platform Version 1 site</a:t>
            </a:r>
          </a:p>
          <a:p>
            <a:r>
              <a:rPr lang="en-US" dirty="0" smtClean="0"/>
              <a:t>Provide feedback on the Value Proposition</a:t>
            </a:r>
          </a:p>
          <a:p>
            <a:pPr lvl="1"/>
            <a:r>
              <a:rPr lang="en-US" dirty="0" smtClean="0"/>
              <a:t>Share subcommittee perspectives</a:t>
            </a:r>
          </a:p>
          <a:p>
            <a:pPr lvl="1"/>
            <a:r>
              <a:rPr lang="en-US" dirty="0" smtClean="0"/>
              <a:t>Discuss improvements to strengthen the Value Proposition document</a:t>
            </a:r>
          </a:p>
          <a:p>
            <a:r>
              <a:rPr lang="en-US" dirty="0" smtClean="0"/>
              <a:t>Offer suggestions to be included in the business case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endParaRPr lang="en-US" dirty="0"/>
          </a:p>
        </p:txBody>
      </p:sp>
      <p:pic>
        <p:nvPicPr>
          <p:cNvPr id="4" name="Picture 3" descr="6SealOMB02"/>
          <p:cNvPicPr/>
          <p:nvPr/>
        </p:nvPicPr>
        <p:blipFill>
          <a:blip r:embed="rId2" cstate="print"/>
          <a:stretch>
            <a:fillRect/>
          </a:stretch>
        </p:blipFill>
        <p:spPr bwMode="auto">
          <a:xfrm>
            <a:off x="5486400" y="304800"/>
            <a:ext cx="2948887" cy="87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382000" cy="1139825"/>
          </a:xfrm>
        </p:spPr>
        <p:txBody>
          <a:bodyPr/>
          <a:lstStyle/>
          <a:p>
            <a:r>
              <a:rPr lang="en-US" dirty="0" smtClean="0"/>
              <a:t>Innovative Strategies White Paper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05400"/>
          </a:xfrm>
        </p:spPr>
        <p:txBody>
          <a:bodyPr/>
          <a:lstStyle/>
          <a:p>
            <a:r>
              <a:rPr lang="en-US" sz="2800" dirty="0" smtClean="0"/>
              <a:t>Inform and engage membership in the discussion with focus on…</a:t>
            </a:r>
          </a:p>
          <a:p>
            <a:pPr lvl="1"/>
            <a:r>
              <a:rPr lang="en-US" sz="2400" dirty="0" smtClean="0"/>
              <a:t>Leveraging technologies, policies, &amp; trends</a:t>
            </a:r>
          </a:p>
          <a:p>
            <a:pPr lvl="1"/>
            <a:r>
              <a:rPr lang="en-US" sz="2400" dirty="0" smtClean="0"/>
              <a:t>Fostering a data integration environment</a:t>
            </a:r>
          </a:p>
          <a:p>
            <a:pPr lvl="1"/>
            <a:r>
              <a:rPr lang="en-US" sz="2400" dirty="0" smtClean="0"/>
              <a:t>Utilizing innovative solutions to secure data</a:t>
            </a:r>
          </a:p>
          <a:p>
            <a:r>
              <a:rPr lang="en-US" sz="2800" dirty="0" smtClean="0"/>
              <a:t>Validate and refine key concepts</a:t>
            </a:r>
          </a:p>
          <a:p>
            <a:r>
              <a:rPr lang="en-US" sz="2800" dirty="0" smtClean="0"/>
              <a:t>Review and assess draft recommendations</a:t>
            </a:r>
          </a:p>
          <a:p>
            <a:r>
              <a:rPr lang="en-US" sz="2800" dirty="0" smtClean="0"/>
              <a:t>Prioritize and consolidate recommendations</a:t>
            </a:r>
          </a:p>
          <a:p>
            <a:r>
              <a:rPr lang="en-US" sz="2800" dirty="0" smtClean="0"/>
              <a:t>Outline next steps moving toward NGAC endorsement of the White Paper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8839200" cy="1139825"/>
          </a:xfrm>
        </p:spPr>
        <p:txBody>
          <a:bodyPr/>
          <a:lstStyle/>
          <a:p>
            <a:r>
              <a:rPr lang="en-US" dirty="0" smtClean="0"/>
              <a:t>Geospatial Workforce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229600" cy="4572000"/>
          </a:xfrm>
        </p:spPr>
        <p:txBody>
          <a:bodyPr/>
          <a:lstStyle/>
          <a:p>
            <a:r>
              <a:rPr lang="en-US" sz="2800" dirty="0" smtClean="0"/>
              <a:t>Report key findings from research</a:t>
            </a:r>
          </a:p>
          <a:p>
            <a:pPr lvl="1"/>
            <a:r>
              <a:rPr lang="en-US" sz="2400" dirty="0" smtClean="0"/>
              <a:t>STEM Education &amp; Programs</a:t>
            </a:r>
          </a:p>
          <a:p>
            <a:pPr lvl="1"/>
            <a:r>
              <a:rPr lang="en-US" sz="2400" dirty="0" smtClean="0"/>
              <a:t>DOL Competency Model</a:t>
            </a:r>
          </a:p>
          <a:p>
            <a:pPr lvl="1"/>
            <a:r>
              <a:rPr lang="en-US" sz="2400" dirty="0" smtClean="0"/>
              <a:t>Geospatial Associations Best Practices</a:t>
            </a:r>
          </a:p>
          <a:p>
            <a:pPr lvl="1"/>
            <a:r>
              <a:rPr lang="en-US" sz="2400" dirty="0" smtClean="0"/>
              <a:t>Standard Occupational Classification Codes</a:t>
            </a:r>
          </a:p>
          <a:p>
            <a:r>
              <a:rPr lang="en-US" sz="2800" dirty="0" smtClean="0"/>
              <a:t>Review and assess draft recommendations</a:t>
            </a:r>
          </a:p>
          <a:p>
            <a:r>
              <a:rPr lang="en-US" sz="2800" dirty="0" smtClean="0"/>
              <a:t>Prioritize and consolidate recommendations</a:t>
            </a:r>
          </a:p>
          <a:p>
            <a:r>
              <a:rPr lang="en-US" sz="2800" dirty="0" smtClean="0"/>
              <a:t>Outline next steps moving toward NGAC endorsement of the White Paper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Understanding Tribal Issues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610600" cy="4953000"/>
          </a:xfrm>
        </p:spPr>
        <p:txBody>
          <a:bodyPr/>
          <a:lstStyle/>
          <a:p>
            <a:r>
              <a:rPr lang="en-US" dirty="0" smtClean="0"/>
              <a:t>Provide an overview of concerns among Tribes</a:t>
            </a:r>
          </a:p>
          <a:p>
            <a:pPr lvl="1"/>
            <a:r>
              <a:rPr lang="en-US" dirty="0" smtClean="0"/>
              <a:t>Land Records Management System</a:t>
            </a:r>
          </a:p>
          <a:p>
            <a:pPr lvl="1"/>
            <a:r>
              <a:rPr lang="en-US" dirty="0" smtClean="0"/>
              <a:t>ELA licensing process</a:t>
            </a:r>
          </a:p>
          <a:p>
            <a:pPr lvl="1"/>
            <a:r>
              <a:rPr lang="en-US" dirty="0" smtClean="0"/>
              <a:t>Communications between Federal government &amp; Tribes</a:t>
            </a:r>
          </a:p>
          <a:p>
            <a:pPr lvl="1"/>
            <a:r>
              <a:rPr lang="en-US" dirty="0" smtClean="0"/>
              <a:t>Tribal GIS Committee </a:t>
            </a:r>
          </a:p>
          <a:p>
            <a:r>
              <a:rPr lang="en-US" dirty="0" smtClean="0"/>
              <a:t>Focus activity on developing a Land Records Management System</a:t>
            </a:r>
          </a:p>
          <a:p>
            <a:pPr lvl="1"/>
            <a:r>
              <a:rPr lang="en-US" dirty="0" smtClean="0"/>
              <a:t>Discuss reasons and requirements</a:t>
            </a:r>
          </a:p>
          <a:p>
            <a:pPr lvl="1"/>
            <a:r>
              <a:rPr lang="en-US" dirty="0" smtClean="0"/>
              <a:t>Propose a recommendation from NGAC to DOI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">
      <a:dk1>
        <a:srgbClr val="000000"/>
      </a:dk1>
      <a:lt1>
        <a:srgbClr val="FFFFFF"/>
      </a:lt1>
      <a:dk2>
        <a:srgbClr val="003399"/>
      </a:dk2>
      <a:lt2>
        <a:srgbClr val="666699"/>
      </a:lt2>
      <a:accent1>
        <a:srgbClr val="009999"/>
      </a:accent1>
      <a:accent2>
        <a:srgbClr val="4083A2"/>
      </a:accent2>
      <a:accent3>
        <a:srgbClr val="FFFFFF"/>
      </a:accent3>
      <a:accent4>
        <a:srgbClr val="000000"/>
      </a:accent4>
      <a:accent5>
        <a:srgbClr val="AACACA"/>
      </a:accent5>
      <a:accent6>
        <a:srgbClr val="397692"/>
      </a:accent6>
      <a:hlink>
        <a:srgbClr val="4C6D80"/>
      </a:hlink>
      <a:folHlink>
        <a:srgbClr val="B2B2B2"/>
      </a:folHlink>
    </a:clrScheme>
    <a:fontScheme name="Edg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NGAC - ASPRS Nov 2009</Template>
  <TotalTime>249</TotalTime>
  <Words>206</Words>
  <Application>Microsoft Office PowerPoint</Application>
  <PresentationFormat>On-screen Show (4:3)</PresentationFormat>
  <Paragraphs>40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Edge</vt:lpstr>
      <vt:lpstr>Summary of Key NGAC Activities</vt:lpstr>
      <vt:lpstr>Geospatial Platform </vt:lpstr>
      <vt:lpstr>Innovative Strategies White Paper</vt:lpstr>
      <vt:lpstr>Geospatial Workforce Development</vt:lpstr>
      <vt:lpstr>Understanding Tribal Issues</vt:lpstr>
    </vt:vector>
  </TitlesOfParts>
  <Company>Booz Allen Hamilton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Geospatial Platform – Value Proposition NGAC Subcommittee – Synthesis of Comments </dc:title>
  <dc:creator>539128</dc:creator>
  <cp:lastModifiedBy>USGS</cp:lastModifiedBy>
  <cp:revision>27</cp:revision>
  <cp:lastPrinted>2011-10-01T22:29:48Z</cp:lastPrinted>
  <dcterms:created xsi:type="dcterms:W3CDTF">2011-10-01T21:45:09Z</dcterms:created>
  <dcterms:modified xsi:type="dcterms:W3CDTF">2011-10-03T16:51:07Z</dcterms:modified>
</cp:coreProperties>
</file>