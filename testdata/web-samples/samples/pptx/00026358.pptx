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sldIdLst>
    <p:sldId id="256" r:id="rId2"/>
    <p:sldId id="257" r:id="rId3"/>
    <p:sldId id="258" r:id="rId4"/>
    <p:sldId id="259" r:id="rId5"/>
    <p:sldId id="260" r:id="rId6"/>
    <p:sldId id="272" r:id="rId7"/>
    <p:sldId id="273" r:id="rId8"/>
    <p:sldId id="261" r:id="rId9"/>
    <p:sldId id="262" r:id="rId10"/>
    <p:sldId id="263" r:id="rId11"/>
    <p:sldId id="266" r:id="rId12"/>
    <p:sldId id="267" r:id="rId13"/>
    <p:sldId id="268" r:id="rId14"/>
    <p:sldId id="269" r:id="rId15"/>
    <p:sldId id="264" r:id="rId16"/>
    <p:sldId id="265" r:id="rId17"/>
    <p:sldId id="270" r:id="rId18"/>
    <p:sldId id="271" r:id="rId1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8"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8"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8"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8"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8" charset="-128"/>
        <a:cs typeface="+mn-cs"/>
      </a:defRPr>
    </a:lvl5pPr>
    <a:lvl6pPr marL="2286000" algn="l" defTabSz="914400" rtl="0" eaLnBrk="1" latinLnBrk="0" hangingPunct="1">
      <a:defRPr sz="2400" kern="1200">
        <a:solidFill>
          <a:schemeClr val="tx1"/>
        </a:solidFill>
        <a:latin typeface="Arial" charset="0"/>
        <a:ea typeface="ＭＳ Ｐゴシック" pitchFamily="8" charset="-128"/>
        <a:cs typeface="+mn-cs"/>
      </a:defRPr>
    </a:lvl6pPr>
    <a:lvl7pPr marL="2743200" algn="l" defTabSz="914400" rtl="0" eaLnBrk="1" latinLnBrk="0" hangingPunct="1">
      <a:defRPr sz="2400" kern="1200">
        <a:solidFill>
          <a:schemeClr val="tx1"/>
        </a:solidFill>
        <a:latin typeface="Arial" charset="0"/>
        <a:ea typeface="ＭＳ Ｐゴシック" pitchFamily="8" charset="-128"/>
        <a:cs typeface="+mn-cs"/>
      </a:defRPr>
    </a:lvl7pPr>
    <a:lvl8pPr marL="3200400" algn="l" defTabSz="914400" rtl="0" eaLnBrk="1" latinLnBrk="0" hangingPunct="1">
      <a:defRPr sz="2400" kern="1200">
        <a:solidFill>
          <a:schemeClr val="tx1"/>
        </a:solidFill>
        <a:latin typeface="Arial" charset="0"/>
        <a:ea typeface="ＭＳ Ｐゴシック" pitchFamily="8" charset="-128"/>
        <a:cs typeface="+mn-cs"/>
      </a:defRPr>
    </a:lvl8pPr>
    <a:lvl9pPr marL="3657600" algn="l" defTabSz="914400" rtl="0" eaLnBrk="1" latinLnBrk="0" hangingPunct="1">
      <a:defRPr sz="2400" kern="1200">
        <a:solidFill>
          <a:schemeClr val="tx1"/>
        </a:solidFill>
        <a:latin typeface="Arial" charset="0"/>
        <a:ea typeface="ＭＳ Ｐゴシック" pitchFamily="8"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E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32787"/>
    <p:restoredTop sz="90929"/>
  </p:normalViewPr>
  <p:slideViewPr>
    <p:cSldViewPr>
      <p:cViewPr>
        <p:scale>
          <a:sx n="62" d="100"/>
          <a:sy n="62" d="100"/>
        </p:scale>
        <p:origin x="-648" y="2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80" name="Rectangle 1032"/>
          <p:cNvSpPr>
            <a:spLocks noGrp="1" noChangeArrowheads="1"/>
          </p:cNvSpPr>
          <p:nvPr>
            <p:ph type="ctrTitle" sz="quarter"/>
          </p:nvPr>
        </p:nvSpPr>
        <p:spPr>
          <a:xfrm>
            <a:off x="685800" y="2286000"/>
            <a:ext cx="7772400" cy="114300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lvl="0"/>
            <a:r>
              <a:rPr lang="en-US" noProof="0" smtClean="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566974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2194820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85800" y="2362200"/>
            <a:ext cx="38100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2362200"/>
            <a:ext cx="38100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2667872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154346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1974575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303716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3145323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257530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172738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447800"/>
            <a:ext cx="1943100" cy="4648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1447800"/>
            <a:ext cx="5676900" cy="4648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US"/>
          </a:p>
        </p:txBody>
      </p:sp>
    </p:spTree>
    <p:extLst>
      <p:ext uri="{BB962C8B-B14F-4D97-AF65-F5344CB8AC3E}">
        <p14:creationId xmlns:p14="http://schemas.microsoft.com/office/powerpoint/2010/main" val="2489058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447800"/>
            <a:ext cx="77724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2362200"/>
            <a:ext cx="7772400"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300">
          <a:solidFill>
            <a:srgbClr val="003E7A"/>
          </a:solidFill>
          <a:latin typeface="+mj-lt"/>
          <a:ea typeface="+mj-ea"/>
          <a:cs typeface="+mj-cs"/>
        </a:defRPr>
      </a:lvl1pPr>
      <a:lvl2pPr algn="l" rtl="0" fontAlgn="base">
        <a:spcBef>
          <a:spcPct val="0"/>
        </a:spcBef>
        <a:spcAft>
          <a:spcPct val="0"/>
        </a:spcAft>
        <a:defRPr sz="3300">
          <a:solidFill>
            <a:srgbClr val="003E7A"/>
          </a:solidFill>
          <a:latin typeface="Arial" charset="0"/>
          <a:ea typeface="ＭＳ Ｐゴシック" pitchFamily="8" charset="-128"/>
        </a:defRPr>
      </a:lvl2pPr>
      <a:lvl3pPr algn="l" rtl="0" fontAlgn="base">
        <a:spcBef>
          <a:spcPct val="0"/>
        </a:spcBef>
        <a:spcAft>
          <a:spcPct val="0"/>
        </a:spcAft>
        <a:defRPr sz="3300">
          <a:solidFill>
            <a:srgbClr val="003E7A"/>
          </a:solidFill>
          <a:latin typeface="Arial" charset="0"/>
          <a:ea typeface="ＭＳ Ｐゴシック" pitchFamily="8" charset="-128"/>
        </a:defRPr>
      </a:lvl3pPr>
      <a:lvl4pPr algn="l" rtl="0" fontAlgn="base">
        <a:spcBef>
          <a:spcPct val="0"/>
        </a:spcBef>
        <a:spcAft>
          <a:spcPct val="0"/>
        </a:spcAft>
        <a:defRPr sz="3300">
          <a:solidFill>
            <a:srgbClr val="003E7A"/>
          </a:solidFill>
          <a:latin typeface="Arial" charset="0"/>
          <a:ea typeface="ＭＳ Ｐゴシック" pitchFamily="8" charset="-128"/>
        </a:defRPr>
      </a:lvl4pPr>
      <a:lvl5pPr algn="l" rtl="0" fontAlgn="base">
        <a:spcBef>
          <a:spcPct val="0"/>
        </a:spcBef>
        <a:spcAft>
          <a:spcPct val="0"/>
        </a:spcAft>
        <a:defRPr sz="3300">
          <a:solidFill>
            <a:srgbClr val="003E7A"/>
          </a:solidFill>
          <a:latin typeface="Arial" charset="0"/>
          <a:ea typeface="ＭＳ Ｐゴシック" pitchFamily="8" charset="-128"/>
        </a:defRPr>
      </a:lvl5pPr>
      <a:lvl6pPr marL="457200" algn="l" rtl="0" fontAlgn="base">
        <a:spcBef>
          <a:spcPct val="0"/>
        </a:spcBef>
        <a:spcAft>
          <a:spcPct val="0"/>
        </a:spcAft>
        <a:defRPr sz="3300">
          <a:solidFill>
            <a:srgbClr val="003E7A"/>
          </a:solidFill>
          <a:latin typeface="Arial" charset="0"/>
          <a:ea typeface="ＭＳ Ｐゴシック" pitchFamily="8" charset="-128"/>
        </a:defRPr>
      </a:lvl6pPr>
      <a:lvl7pPr marL="914400" algn="l" rtl="0" fontAlgn="base">
        <a:spcBef>
          <a:spcPct val="0"/>
        </a:spcBef>
        <a:spcAft>
          <a:spcPct val="0"/>
        </a:spcAft>
        <a:defRPr sz="3300">
          <a:solidFill>
            <a:srgbClr val="003E7A"/>
          </a:solidFill>
          <a:latin typeface="Arial" charset="0"/>
          <a:ea typeface="ＭＳ Ｐゴシック" pitchFamily="8" charset="-128"/>
        </a:defRPr>
      </a:lvl7pPr>
      <a:lvl8pPr marL="1371600" algn="l" rtl="0" fontAlgn="base">
        <a:spcBef>
          <a:spcPct val="0"/>
        </a:spcBef>
        <a:spcAft>
          <a:spcPct val="0"/>
        </a:spcAft>
        <a:defRPr sz="3300">
          <a:solidFill>
            <a:srgbClr val="003E7A"/>
          </a:solidFill>
          <a:latin typeface="Arial" charset="0"/>
          <a:ea typeface="ＭＳ Ｐゴシック" pitchFamily="8" charset="-128"/>
        </a:defRPr>
      </a:lvl8pPr>
      <a:lvl9pPr marL="1828800" algn="l" rtl="0" fontAlgn="base">
        <a:spcBef>
          <a:spcPct val="0"/>
        </a:spcBef>
        <a:spcAft>
          <a:spcPct val="0"/>
        </a:spcAft>
        <a:defRPr sz="3300">
          <a:solidFill>
            <a:srgbClr val="003E7A"/>
          </a:solidFill>
          <a:latin typeface="Arial" charset="0"/>
          <a:ea typeface="ＭＳ Ｐゴシック" pitchFamily="8" charset="-128"/>
        </a:defRPr>
      </a:lvl9pPr>
    </p:titleStyle>
    <p:bodyStyle>
      <a:lvl1pPr marL="342900" indent="-342900" algn="l" rtl="0" fontAlgn="base">
        <a:spcBef>
          <a:spcPct val="20000"/>
        </a:spcBef>
        <a:spcAft>
          <a:spcPct val="0"/>
        </a:spcAft>
        <a:buChar char="•"/>
        <a:defRPr sz="2300">
          <a:solidFill>
            <a:srgbClr val="003E7A"/>
          </a:solidFill>
          <a:latin typeface="+mn-lt"/>
          <a:ea typeface="+mn-ea"/>
          <a:cs typeface="+mn-cs"/>
        </a:defRPr>
      </a:lvl1pPr>
      <a:lvl2pPr marL="742950" indent="-285750" algn="l" rtl="0" fontAlgn="base">
        <a:spcBef>
          <a:spcPct val="20000"/>
        </a:spcBef>
        <a:spcAft>
          <a:spcPct val="0"/>
        </a:spcAft>
        <a:buChar char="–"/>
        <a:defRPr sz="2300">
          <a:solidFill>
            <a:srgbClr val="003E7A"/>
          </a:solidFill>
          <a:latin typeface="+mn-lt"/>
          <a:ea typeface="+mn-ea"/>
        </a:defRPr>
      </a:lvl2pPr>
      <a:lvl3pPr marL="1143000" indent="-228600" algn="l" rtl="0" fontAlgn="base">
        <a:spcBef>
          <a:spcPct val="20000"/>
        </a:spcBef>
        <a:spcAft>
          <a:spcPct val="0"/>
        </a:spcAft>
        <a:buChar char="•"/>
        <a:defRPr sz="2300">
          <a:solidFill>
            <a:srgbClr val="003E7A"/>
          </a:solidFill>
          <a:latin typeface="+mn-lt"/>
          <a:ea typeface="+mn-ea"/>
        </a:defRPr>
      </a:lvl3pPr>
      <a:lvl4pPr marL="1600200" indent="-228600" algn="l" rtl="0" fontAlgn="base">
        <a:spcBef>
          <a:spcPct val="20000"/>
        </a:spcBef>
        <a:spcAft>
          <a:spcPct val="0"/>
        </a:spcAft>
        <a:buChar char="–"/>
        <a:defRPr sz="2300">
          <a:solidFill>
            <a:srgbClr val="003E7A"/>
          </a:solidFill>
          <a:latin typeface="+mn-lt"/>
          <a:ea typeface="+mn-ea"/>
        </a:defRPr>
      </a:lvl4pPr>
      <a:lvl5pPr marL="2057400" indent="-228600" algn="l" rtl="0" fontAlgn="base">
        <a:spcBef>
          <a:spcPct val="20000"/>
        </a:spcBef>
        <a:spcAft>
          <a:spcPct val="0"/>
        </a:spcAft>
        <a:buChar char="»"/>
        <a:defRPr sz="2300">
          <a:solidFill>
            <a:srgbClr val="003E7A"/>
          </a:solidFill>
          <a:latin typeface="+mn-lt"/>
          <a:ea typeface="+mn-ea"/>
        </a:defRPr>
      </a:lvl5pPr>
      <a:lvl6pPr marL="2514600" indent="-228600" algn="l" rtl="0" fontAlgn="base">
        <a:spcBef>
          <a:spcPct val="20000"/>
        </a:spcBef>
        <a:spcAft>
          <a:spcPct val="0"/>
        </a:spcAft>
        <a:buChar char="»"/>
        <a:defRPr sz="2300">
          <a:solidFill>
            <a:srgbClr val="003E7A"/>
          </a:solidFill>
          <a:latin typeface="+mn-lt"/>
          <a:ea typeface="+mn-ea"/>
        </a:defRPr>
      </a:lvl6pPr>
      <a:lvl7pPr marL="2971800" indent="-228600" algn="l" rtl="0" fontAlgn="base">
        <a:spcBef>
          <a:spcPct val="20000"/>
        </a:spcBef>
        <a:spcAft>
          <a:spcPct val="0"/>
        </a:spcAft>
        <a:buChar char="»"/>
        <a:defRPr sz="2300">
          <a:solidFill>
            <a:srgbClr val="003E7A"/>
          </a:solidFill>
          <a:latin typeface="+mn-lt"/>
          <a:ea typeface="+mn-ea"/>
        </a:defRPr>
      </a:lvl7pPr>
      <a:lvl8pPr marL="3429000" indent="-228600" algn="l" rtl="0" fontAlgn="base">
        <a:spcBef>
          <a:spcPct val="20000"/>
        </a:spcBef>
        <a:spcAft>
          <a:spcPct val="0"/>
        </a:spcAft>
        <a:buChar char="»"/>
        <a:defRPr sz="2300">
          <a:solidFill>
            <a:srgbClr val="003E7A"/>
          </a:solidFill>
          <a:latin typeface="+mn-lt"/>
          <a:ea typeface="+mn-ea"/>
        </a:defRPr>
      </a:lvl8pPr>
      <a:lvl9pPr marL="3886200" indent="-228600" algn="l" rtl="0" fontAlgn="base">
        <a:spcBef>
          <a:spcPct val="20000"/>
        </a:spcBef>
        <a:spcAft>
          <a:spcPct val="0"/>
        </a:spcAft>
        <a:buChar char="»"/>
        <a:defRPr sz="2300">
          <a:solidFill>
            <a:srgbClr val="003E7A"/>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jpg"/><Relationship Id="rId7" Type="http://schemas.openxmlformats.org/officeDocument/2006/relationships/image" Target="../media/image15.jpg"/><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jpg"/><Relationship Id="rId5" Type="http://schemas.openxmlformats.org/officeDocument/2006/relationships/image" Target="../media/image13.jpg"/><Relationship Id="rId10" Type="http://schemas.openxmlformats.org/officeDocument/2006/relationships/image" Target="../media/image18.jpg"/><Relationship Id="rId4" Type="http://schemas.openxmlformats.org/officeDocument/2006/relationships/image" Target="../media/image12.jpg"/><Relationship Id="rId9"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jpg"/></Relationships>
</file>

<file path=ppt/slides/_rels/slide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bwMode="auto">
          <a:xfrm>
            <a:off x="685800" y="2286000"/>
            <a:ext cx="7772400" cy="998984"/>
          </a:xfrm>
          <a:prstGeom prst="rect">
            <a:avLst/>
          </a:prstGeom>
          <a:solidFill>
            <a:srgbClr val="FFFFFF"/>
          </a:solidFill>
          <a:ln>
            <a:solidFill>
              <a:srgbClr val="000000"/>
            </a:solidFill>
            <a:miter lim="800000"/>
            <a:headEnd/>
            <a:tailEnd/>
          </a:ln>
        </p:spPr>
        <p:txBody>
          <a:bodyPr/>
          <a:lstStyle/>
          <a:p>
            <a:r>
              <a:rPr lang="en-US" sz="3200" dirty="0" smtClean="0"/>
              <a:t>A very brief History of Lifts and escalators</a:t>
            </a:r>
            <a:br>
              <a:rPr lang="en-US" sz="3200" dirty="0" smtClean="0"/>
            </a:br>
            <a:r>
              <a:rPr lang="en-US" sz="3200" dirty="0" smtClean="0"/>
              <a:t>Followed by a selection guide to VT</a:t>
            </a:r>
            <a:endParaRPr lang="en-US" sz="32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776" y="3672976"/>
            <a:ext cx="1501140" cy="19431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1344" y="3784187"/>
            <a:ext cx="1706880" cy="170688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Lifts</a:t>
            </a:r>
            <a:endParaRPr lang="en-GB" dirty="0"/>
          </a:p>
        </p:txBody>
      </p:sp>
      <p:sp>
        <p:nvSpPr>
          <p:cNvPr id="3" name="Content Placeholder 2"/>
          <p:cNvSpPr>
            <a:spLocks noGrp="1"/>
          </p:cNvSpPr>
          <p:nvPr>
            <p:ph idx="1"/>
          </p:nvPr>
        </p:nvSpPr>
        <p:spPr/>
        <p:txBody>
          <a:bodyPr/>
          <a:lstStyle/>
          <a:p>
            <a:r>
              <a:rPr lang="en-GB" dirty="0" smtClean="0"/>
              <a:t>The first reference in literature to a lift is in the works of the Roman architect Vitruvius, who reported that Archimedes (c. 287 BC – c. 212 BC) built his first lift probably in 236 BC.</a:t>
            </a:r>
          </a:p>
          <a:p>
            <a:r>
              <a:rPr lang="en-GB" dirty="0" smtClean="0"/>
              <a:t>Elisha Otis’s invention of the Safety Gear in 1852 marks the birth of lifts as we know them</a:t>
            </a:r>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0754" y="4293096"/>
            <a:ext cx="1244389" cy="1887096"/>
          </a:xfrm>
          <a:prstGeom prst="rect">
            <a:avLst/>
          </a:prstGeom>
        </p:spPr>
      </p:pic>
    </p:spTree>
    <p:extLst>
      <p:ext uri="{BB962C8B-B14F-4D97-AF65-F5344CB8AC3E}">
        <p14:creationId xmlns:p14="http://schemas.microsoft.com/office/powerpoint/2010/main" val="236211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Other important inventions</a:t>
            </a:r>
            <a:endParaRPr lang="en-GB" dirty="0"/>
          </a:p>
        </p:txBody>
      </p:sp>
      <p:sp>
        <p:nvSpPr>
          <p:cNvPr id="3" name="Content Placeholder 2"/>
          <p:cNvSpPr>
            <a:spLocks noGrp="1"/>
          </p:cNvSpPr>
          <p:nvPr>
            <p:ph idx="1"/>
          </p:nvPr>
        </p:nvSpPr>
        <p:spPr/>
        <p:txBody>
          <a:bodyPr/>
          <a:lstStyle/>
          <a:p>
            <a:pPr marL="0" indent="0">
              <a:buNone/>
            </a:pPr>
            <a:r>
              <a:rPr lang="en-GB" dirty="0" smtClean="0"/>
              <a:t>In 1874, J.W. </a:t>
            </a:r>
            <a:r>
              <a:rPr lang="en-GB" dirty="0" err="1" smtClean="0"/>
              <a:t>Meaker</a:t>
            </a:r>
            <a:r>
              <a:rPr lang="en-GB" dirty="0" smtClean="0"/>
              <a:t> patented a method which permitted lift doors to open and close safely. </a:t>
            </a:r>
          </a:p>
          <a:p>
            <a:pPr marL="0" indent="0">
              <a:buNone/>
            </a:pPr>
            <a:r>
              <a:rPr lang="en-GB" dirty="0" smtClean="0"/>
              <a:t>In 1887, American Inventor Alexander Miles of Duluth, Minnesota patented a lift with automatic doors that would close off the lift shaft.</a:t>
            </a:r>
          </a:p>
          <a:p>
            <a:pPr marL="0" indent="0">
              <a:buNone/>
            </a:pPr>
            <a:r>
              <a:rPr lang="en-GB" dirty="0" smtClean="0"/>
              <a:t>In 1888 Nikola Tesla invented the first practicable AC motor and with it the </a:t>
            </a:r>
            <a:r>
              <a:rPr lang="en-GB" dirty="0" err="1" smtClean="0"/>
              <a:t>polyphase</a:t>
            </a:r>
            <a:r>
              <a:rPr lang="en-GB" dirty="0" smtClean="0"/>
              <a:t> power transmission system. Tesla continued his work on the AC motor in the years to follow at the Westinghouse company.</a:t>
            </a:r>
            <a:endParaRPr lang="en-GB" dirty="0"/>
          </a:p>
        </p:txBody>
      </p:sp>
    </p:spTree>
    <p:extLst>
      <p:ext uri="{BB962C8B-B14F-4D97-AF65-F5344CB8AC3E}">
        <p14:creationId xmlns:p14="http://schemas.microsoft.com/office/powerpoint/2010/main" val="316841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1484784"/>
            <a:ext cx="7772400" cy="762000"/>
          </a:xfrm>
        </p:spPr>
        <p:txBody>
          <a:bodyPr/>
          <a:lstStyle/>
          <a:p>
            <a:r>
              <a:rPr lang="en-GB" dirty="0" smtClean="0"/>
              <a:t>Lifts mean taller buildings!</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24327" y="2416684"/>
            <a:ext cx="1246667" cy="1556783"/>
          </a:xfrm>
        </p:spPr>
      </p:pic>
      <p:sp>
        <p:nvSpPr>
          <p:cNvPr id="5" name="TextBox 4"/>
          <p:cNvSpPr txBox="1"/>
          <p:nvPr/>
        </p:nvSpPr>
        <p:spPr>
          <a:xfrm>
            <a:off x="755576" y="2420888"/>
            <a:ext cx="6120680" cy="3416320"/>
          </a:xfrm>
          <a:prstGeom prst="rect">
            <a:avLst/>
          </a:prstGeom>
          <a:noFill/>
        </p:spPr>
        <p:txBody>
          <a:bodyPr wrap="square" rtlCol="0">
            <a:spAutoFit/>
          </a:bodyPr>
          <a:lstStyle/>
          <a:p>
            <a:r>
              <a:rPr lang="en-GB" dirty="0" smtClean="0"/>
              <a:t>The Equitable Life Building completed in 1870 in New York City was the first office building to have passenger lifts. They served 8 floors.</a:t>
            </a:r>
          </a:p>
          <a:p>
            <a:endParaRPr lang="en-GB" dirty="0" smtClean="0"/>
          </a:p>
          <a:p>
            <a:r>
              <a:rPr lang="en-GB" dirty="0" smtClean="0"/>
              <a:t>The Tallest building in the world is currently</a:t>
            </a:r>
          </a:p>
          <a:p>
            <a:r>
              <a:rPr lang="en-GB" dirty="0" smtClean="0"/>
              <a:t>The </a:t>
            </a:r>
            <a:r>
              <a:rPr lang="en-GB" dirty="0" err="1" smtClean="0"/>
              <a:t>Burj</a:t>
            </a:r>
            <a:r>
              <a:rPr lang="en-GB" dirty="0" smtClean="0"/>
              <a:t> </a:t>
            </a:r>
            <a:r>
              <a:rPr lang="en-GB" dirty="0" err="1" smtClean="0"/>
              <a:t>Khalifa</a:t>
            </a:r>
            <a:r>
              <a:rPr lang="en-GB" dirty="0" smtClean="0"/>
              <a:t> in Dubai with 160 floors.</a:t>
            </a:r>
          </a:p>
          <a:p>
            <a:endParaRPr lang="en-GB" dirty="0" smtClean="0"/>
          </a:p>
          <a:p>
            <a:r>
              <a:rPr lang="en-GB" dirty="0" smtClean="0"/>
              <a:t>Another successful  Lerch Bates lift design!</a:t>
            </a:r>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0312" y="4149080"/>
            <a:ext cx="1394460" cy="2095500"/>
          </a:xfrm>
          <a:prstGeom prst="rect">
            <a:avLst/>
          </a:prstGeom>
        </p:spPr>
      </p:pic>
    </p:spTree>
    <p:extLst>
      <p:ext uri="{BB962C8B-B14F-4D97-AF65-F5344CB8AC3E}">
        <p14:creationId xmlns:p14="http://schemas.microsoft.com/office/powerpoint/2010/main" val="416987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Escalators</a:t>
            </a:r>
            <a:endParaRPr lang="en-GB" dirty="0"/>
          </a:p>
        </p:txBody>
      </p:sp>
      <p:sp>
        <p:nvSpPr>
          <p:cNvPr id="3" name="Content Placeholder 2"/>
          <p:cNvSpPr>
            <a:spLocks noGrp="1"/>
          </p:cNvSpPr>
          <p:nvPr>
            <p:ph idx="1"/>
          </p:nvPr>
        </p:nvSpPr>
        <p:spPr/>
        <p:txBody>
          <a:bodyPr/>
          <a:lstStyle/>
          <a:p>
            <a:r>
              <a:rPr lang="en-GB" dirty="0" smtClean="0"/>
              <a:t>Jesse Reno, a graduate of Lehigh University, produced the first working escalator (he actually called it the "inclined elevator") and installed it alongside the Old Iron Pier at Coney Island, New York in 1896. </a:t>
            </a:r>
          </a:p>
          <a:p>
            <a:r>
              <a:rPr lang="en-GB" dirty="0" err="1" smtClean="0"/>
              <a:t>Piat</a:t>
            </a:r>
            <a:r>
              <a:rPr lang="en-GB" dirty="0" smtClean="0"/>
              <a:t> installed its "</a:t>
            </a:r>
            <a:r>
              <a:rPr lang="en-GB" dirty="0" err="1" smtClean="0"/>
              <a:t>stepless</a:t>
            </a:r>
            <a:r>
              <a:rPr lang="en-GB" dirty="0" smtClean="0"/>
              <a:t>" escalator in Harrods Knightsbridge store on Wednesday, November 16, 1898 Customers were given Brandy to recover from the experience!</a:t>
            </a:r>
            <a:endParaRPr lang="en-GB" dirty="0"/>
          </a:p>
        </p:txBody>
      </p:sp>
    </p:spTree>
    <p:extLst>
      <p:ext uri="{BB962C8B-B14F-4D97-AF65-F5344CB8AC3E}">
        <p14:creationId xmlns:p14="http://schemas.microsoft.com/office/powerpoint/2010/main" val="402990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Escalators move people!</a:t>
            </a:r>
            <a:endParaRPr lang="en-GB" dirty="0"/>
          </a:p>
        </p:txBody>
      </p:sp>
      <p:sp>
        <p:nvSpPr>
          <p:cNvPr id="3" name="Content Placeholder 2"/>
          <p:cNvSpPr>
            <a:spLocks noGrp="1"/>
          </p:cNvSpPr>
          <p:nvPr>
            <p:ph idx="1"/>
          </p:nvPr>
        </p:nvSpPr>
        <p:spPr/>
        <p:txBody>
          <a:bodyPr/>
          <a:lstStyle/>
          <a:p>
            <a:r>
              <a:rPr lang="en-GB" dirty="0" smtClean="0"/>
              <a:t>A single 1mtr wide escalator can move up to 4500 passengers in an hour</a:t>
            </a:r>
          </a:p>
          <a:p>
            <a:r>
              <a:rPr lang="en-GB" dirty="0" smtClean="0"/>
              <a:t>Can be used in stacks to cover up to 4 floors</a:t>
            </a:r>
          </a:p>
          <a:p>
            <a:r>
              <a:rPr lang="en-GB" dirty="0" smtClean="0"/>
              <a:t>Suitable for able bodied adults</a:t>
            </a:r>
          </a:p>
          <a:p>
            <a:r>
              <a:rPr lang="en-GB" dirty="0" smtClean="0"/>
              <a:t>Not unsupervised children, persons with disabilities or elderly persons.</a:t>
            </a:r>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1008" y="4379506"/>
            <a:ext cx="4647456" cy="1858982"/>
          </a:xfrm>
          <a:prstGeom prst="rect">
            <a:avLst/>
          </a:prstGeom>
        </p:spPr>
      </p:pic>
    </p:spTree>
    <p:extLst>
      <p:ext uri="{BB962C8B-B14F-4D97-AF65-F5344CB8AC3E}">
        <p14:creationId xmlns:p14="http://schemas.microsoft.com/office/powerpoint/2010/main" val="409398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Moving Walks Move people and trolleys!</a:t>
            </a:r>
            <a:endParaRPr lang="en-GB"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52120" y="3933056"/>
            <a:ext cx="3075947" cy="2306960"/>
          </a:xfrm>
        </p:spPr>
      </p:pic>
      <p:sp>
        <p:nvSpPr>
          <p:cNvPr id="7" name="TextBox 6"/>
          <p:cNvSpPr txBox="1"/>
          <p:nvPr/>
        </p:nvSpPr>
        <p:spPr>
          <a:xfrm>
            <a:off x="683568" y="2276872"/>
            <a:ext cx="7848872" cy="1569660"/>
          </a:xfrm>
          <a:prstGeom prst="rect">
            <a:avLst/>
          </a:prstGeom>
          <a:noFill/>
        </p:spPr>
        <p:txBody>
          <a:bodyPr wrap="square" rtlCol="0">
            <a:spAutoFit/>
          </a:bodyPr>
          <a:lstStyle/>
          <a:p>
            <a:r>
              <a:rPr lang="en-GB" dirty="0" smtClean="0"/>
              <a:t>Available as flat walkways to reduce walking times</a:t>
            </a:r>
          </a:p>
          <a:p>
            <a:r>
              <a:rPr lang="en-GB" dirty="0" smtClean="0"/>
              <a:t>Or inclined at up to 12 degrees (10 degrees is best)</a:t>
            </a:r>
          </a:p>
          <a:p>
            <a:r>
              <a:rPr lang="en-GB" dirty="0"/>
              <a:t>Can transport up to 3600 passengers per hour</a:t>
            </a:r>
          </a:p>
          <a:p>
            <a:r>
              <a:rPr lang="en-GB" dirty="0" smtClean="0"/>
              <a:t>Or 900 shopping trolleys with passengers</a:t>
            </a:r>
            <a:endParaRPr lang="en-GB" dirty="0"/>
          </a:p>
        </p:txBody>
      </p:sp>
      <p:sp>
        <p:nvSpPr>
          <p:cNvPr id="9" name="TextBox 8"/>
          <p:cNvSpPr txBox="1"/>
          <p:nvPr/>
        </p:nvSpPr>
        <p:spPr>
          <a:xfrm>
            <a:off x="683568" y="4221088"/>
            <a:ext cx="4824536" cy="830997"/>
          </a:xfrm>
          <a:prstGeom prst="rect">
            <a:avLst/>
          </a:prstGeom>
          <a:noFill/>
        </p:spPr>
        <p:txBody>
          <a:bodyPr wrap="square" rtlCol="0">
            <a:spAutoFit/>
          </a:bodyPr>
          <a:lstStyle/>
          <a:p>
            <a:r>
              <a:rPr lang="en-GB" dirty="0" smtClean="0"/>
              <a:t>Not suitable for unsupervised children, the elderly and disabled</a:t>
            </a:r>
            <a:endParaRPr lang="en-GB" dirty="0"/>
          </a:p>
        </p:txBody>
      </p:sp>
    </p:spTree>
    <p:extLst>
      <p:ext uri="{BB962C8B-B14F-4D97-AF65-F5344CB8AC3E}">
        <p14:creationId xmlns:p14="http://schemas.microsoft.com/office/powerpoint/2010/main" val="279877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Paternosters</a:t>
            </a:r>
            <a:endParaRPr lang="en-GB" dirty="0"/>
          </a:p>
        </p:txBody>
      </p:sp>
      <p:sp>
        <p:nvSpPr>
          <p:cNvPr id="3" name="Content Placeholder 2"/>
          <p:cNvSpPr>
            <a:spLocks noGrp="1"/>
          </p:cNvSpPr>
          <p:nvPr>
            <p:ph idx="1"/>
          </p:nvPr>
        </p:nvSpPr>
        <p:spPr/>
        <p:txBody>
          <a:bodyPr/>
          <a:lstStyle/>
          <a:p>
            <a:r>
              <a:rPr lang="en-GB" dirty="0" smtClean="0"/>
              <a:t>First built in 1884 by the engineering firm of J &amp; E Hall Ltd of Dartford as the Cyclic Elevator, the name paternoster ("Our Father", the first two words of the Lord's Prayer in Latin) was originally applied to the device because the elevator is in the form of a loop and is thus similar to rosary beads used as an aid in reciting prayers.</a:t>
            </a:r>
            <a:endParaRPr lang="en-GB" dirty="0"/>
          </a:p>
        </p:txBody>
      </p:sp>
    </p:spTree>
    <p:extLst>
      <p:ext uri="{BB962C8B-B14F-4D97-AF65-F5344CB8AC3E}">
        <p14:creationId xmlns:p14="http://schemas.microsoft.com/office/powerpoint/2010/main" val="222089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2734072" cy="762000"/>
          </a:xfrm>
        </p:spPr>
        <p:txBody>
          <a:bodyPr/>
          <a:lstStyle/>
          <a:p>
            <a:r>
              <a:rPr lang="en-GB" dirty="0" smtClean="0"/>
              <a:t>Paternosters</a:t>
            </a:r>
            <a:endParaRPr lang="en-GB"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26600" y="1484784"/>
            <a:ext cx="5580620" cy="4464496"/>
          </a:xfrm>
        </p:spPr>
      </p:pic>
      <p:sp>
        <p:nvSpPr>
          <p:cNvPr id="3" name="TextBox 2"/>
          <p:cNvSpPr txBox="1"/>
          <p:nvPr/>
        </p:nvSpPr>
        <p:spPr>
          <a:xfrm>
            <a:off x="755576" y="2204864"/>
            <a:ext cx="3528392" cy="3785652"/>
          </a:xfrm>
          <a:prstGeom prst="rect">
            <a:avLst/>
          </a:prstGeom>
          <a:noFill/>
        </p:spPr>
        <p:txBody>
          <a:bodyPr wrap="square" rtlCol="0">
            <a:spAutoFit/>
          </a:bodyPr>
          <a:lstStyle/>
          <a:p>
            <a:r>
              <a:rPr lang="en-GB" dirty="0" smtClean="0"/>
              <a:t>Can move up to 1400 passengers per hour</a:t>
            </a:r>
          </a:p>
          <a:p>
            <a:r>
              <a:rPr lang="en-GB" dirty="0" smtClean="0"/>
              <a:t>Best up to 6 floors</a:t>
            </a:r>
          </a:p>
          <a:p>
            <a:r>
              <a:rPr lang="en-GB" dirty="0" smtClean="0"/>
              <a:t>The Arts Tower serves 21 floors!</a:t>
            </a:r>
          </a:p>
          <a:p>
            <a:r>
              <a:rPr lang="en-GB" dirty="0" smtClean="0"/>
              <a:t>Not suitable for the elderly, disabled passengers or children</a:t>
            </a:r>
          </a:p>
          <a:p>
            <a:r>
              <a:rPr lang="en-GB" dirty="0" smtClean="0"/>
              <a:t>Must not be used to transport goods</a:t>
            </a:r>
            <a:endParaRPr lang="en-GB" dirty="0"/>
          </a:p>
        </p:txBody>
      </p:sp>
    </p:spTree>
    <p:extLst>
      <p:ext uri="{BB962C8B-B14F-4D97-AF65-F5344CB8AC3E}">
        <p14:creationId xmlns:p14="http://schemas.microsoft.com/office/powerpoint/2010/main" val="204025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Moving Goods</a:t>
            </a:r>
            <a:endParaRPr lang="en-GB"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74429" y="3429000"/>
            <a:ext cx="1828800" cy="944880"/>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4384164"/>
            <a:ext cx="1706880" cy="17145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8304" y="1124744"/>
            <a:ext cx="1402080" cy="2080260"/>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8224" y="4620384"/>
            <a:ext cx="1973580" cy="1478280"/>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520" y="2571750"/>
            <a:ext cx="1714500" cy="1714500"/>
          </a:xfrm>
          <a:prstGeom prst="rect">
            <a:avLst/>
          </a:prstGeom>
        </p:spPr>
      </p:pic>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69316" y="4620384"/>
            <a:ext cx="1973580" cy="1478280"/>
          </a:xfrm>
          <a:prstGeom prst="rect">
            <a:avLst/>
          </a:prstGeom>
        </p:spPr>
      </p:pic>
      <p:pic>
        <p:nvPicPr>
          <p:cNvPr id="13" name="Picture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39155" y="1191071"/>
            <a:ext cx="1512168" cy="2013933"/>
          </a:xfrm>
          <a:prstGeom prst="rect">
            <a:avLst/>
          </a:prstGeom>
        </p:spPr>
      </p:pic>
      <p:pic>
        <p:nvPicPr>
          <p:cNvPr id="14" name="Picture 1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55912" y="4281294"/>
            <a:ext cx="1524000" cy="1920240"/>
          </a:xfrm>
          <a:prstGeom prst="rect">
            <a:avLst/>
          </a:prstGeom>
        </p:spPr>
      </p:pic>
      <p:pic>
        <p:nvPicPr>
          <p:cNvPr id="15" name="Picture 1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47820" y="2751528"/>
            <a:ext cx="1463040" cy="1379220"/>
          </a:xfrm>
          <a:prstGeom prst="rect">
            <a:avLst/>
          </a:prstGeom>
        </p:spPr>
      </p:pic>
      <p:pic>
        <p:nvPicPr>
          <p:cNvPr id="16" name="Picture 1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573195" y="1167993"/>
            <a:ext cx="1965960" cy="1485900"/>
          </a:xfrm>
          <a:prstGeom prst="rect">
            <a:avLst/>
          </a:prstGeom>
        </p:spPr>
      </p:pic>
    </p:spTree>
    <p:extLst>
      <p:ext uri="{BB962C8B-B14F-4D97-AF65-F5344CB8AC3E}">
        <p14:creationId xmlns:p14="http://schemas.microsoft.com/office/powerpoint/2010/main" val="424155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Moving People - planning a VT system</a:t>
            </a:r>
            <a:endParaRPr lang="en-GB" dirty="0"/>
          </a:p>
        </p:txBody>
      </p:sp>
      <p:sp>
        <p:nvSpPr>
          <p:cNvPr id="3" name="Content Placeholder 2"/>
          <p:cNvSpPr>
            <a:spLocks noGrp="1"/>
          </p:cNvSpPr>
          <p:nvPr>
            <p:ph idx="1"/>
          </p:nvPr>
        </p:nvSpPr>
        <p:spPr/>
        <p:txBody>
          <a:bodyPr/>
          <a:lstStyle/>
          <a:p>
            <a:r>
              <a:rPr lang="en-GB" dirty="0" smtClean="0"/>
              <a:t>How many people need to be transported in a 5 min period? Arrival rates as % of population</a:t>
            </a:r>
          </a:p>
          <a:p>
            <a:r>
              <a:rPr lang="en-GB" dirty="0" smtClean="0"/>
              <a:t>How long do passengers have to wait for a lift? AWT</a:t>
            </a:r>
          </a:p>
          <a:p>
            <a:r>
              <a:rPr lang="en-GB" dirty="0" smtClean="0"/>
              <a:t>How long do passengers take to get to their destination? ATTD</a:t>
            </a:r>
          </a:p>
          <a:p>
            <a:r>
              <a:rPr lang="en-GB" dirty="0" smtClean="0"/>
              <a:t>How many lifts are needed?</a:t>
            </a:r>
          </a:p>
          <a:p>
            <a:r>
              <a:rPr lang="en-GB" dirty="0" smtClean="0"/>
              <a:t>How big do the lifts need to be?</a:t>
            </a:r>
          </a:p>
          <a:p>
            <a:r>
              <a:rPr lang="en-GB" dirty="0" smtClean="0"/>
              <a:t>How fast  do the lifts need to be?</a:t>
            </a:r>
          </a:p>
          <a:p>
            <a:r>
              <a:rPr lang="en-GB" dirty="0" smtClean="0"/>
              <a:t>How many journeys per year will the lifts make?</a:t>
            </a:r>
            <a:endParaRPr lang="en-GB" dirty="0"/>
          </a:p>
        </p:txBody>
      </p:sp>
    </p:spTree>
    <p:extLst>
      <p:ext uri="{BB962C8B-B14F-4D97-AF65-F5344CB8AC3E}">
        <p14:creationId xmlns:p14="http://schemas.microsoft.com/office/powerpoint/2010/main" val="154449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Choosing the Right Equipment</a:t>
            </a:r>
            <a:endParaRPr lang="en-GB" dirty="0"/>
          </a:p>
        </p:txBody>
      </p:sp>
      <p:sp>
        <p:nvSpPr>
          <p:cNvPr id="3" name="Content Placeholder 2"/>
          <p:cNvSpPr>
            <a:spLocks noGrp="1"/>
          </p:cNvSpPr>
          <p:nvPr>
            <p:ph idx="1"/>
          </p:nvPr>
        </p:nvSpPr>
        <p:spPr/>
        <p:txBody>
          <a:bodyPr/>
          <a:lstStyle/>
          <a:p>
            <a:pPr marL="0" indent="0">
              <a:buNone/>
            </a:pPr>
            <a:r>
              <a:rPr lang="en-GB" dirty="0" smtClean="0"/>
              <a:t>Hydraulic Lifts are best for:-</a:t>
            </a:r>
          </a:p>
          <a:p>
            <a:r>
              <a:rPr lang="en-GB" dirty="0" smtClean="0"/>
              <a:t>Heavy Loads &gt; 2000kg</a:t>
            </a:r>
          </a:p>
          <a:p>
            <a:r>
              <a:rPr lang="en-GB" dirty="0" smtClean="0"/>
              <a:t>Low travel &lt; 18metres</a:t>
            </a:r>
          </a:p>
          <a:p>
            <a:r>
              <a:rPr lang="en-GB" dirty="0" smtClean="0"/>
              <a:t>Low number of starts per hour max 120</a:t>
            </a:r>
          </a:p>
          <a:p>
            <a:r>
              <a:rPr lang="en-GB" dirty="0" smtClean="0"/>
              <a:t>Temperature stable environments</a:t>
            </a:r>
          </a:p>
          <a:p>
            <a:r>
              <a:rPr lang="en-GB" dirty="0" smtClean="0"/>
              <a:t>Slow travel speeds max 1 m/sec</a:t>
            </a:r>
          </a:p>
          <a:p>
            <a:r>
              <a:rPr lang="en-GB" dirty="0" smtClean="0"/>
              <a:t>Life expectancy &lt; 20 years</a:t>
            </a:r>
          </a:p>
          <a:p>
            <a:r>
              <a:rPr lang="en-GB" dirty="0" smtClean="0"/>
              <a:t>Some Machine room less versions </a:t>
            </a:r>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1516054"/>
            <a:ext cx="2156460" cy="4572000"/>
          </a:xfrm>
          <a:prstGeom prst="rect">
            <a:avLst/>
          </a:prstGeom>
        </p:spPr>
      </p:pic>
    </p:spTree>
    <p:extLst>
      <p:ext uri="{BB962C8B-B14F-4D97-AF65-F5344CB8AC3E}">
        <p14:creationId xmlns:p14="http://schemas.microsoft.com/office/powerpoint/2010/main" val="227716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Choosing the right equipment</a:t>
            </a:r>
            <a:endParaRPr lang="en-GB" dirty="0"/>
          </a:p>
        </p:txBody>
      </p:sp>
      <p:sp>
        <p:nvSpPr>
          <p:cNvPr id="3" name="Content Placeholder 2"/>
          <p:cNvSpPr>
            <a:spLocks noGrp="1"/>
          </p:cNvSpPr>
          <p:nvPr>
            <p:ph idx="1"/>
          </p:nvPr>
        </p:nvSpPr>
        <p:spPr/>
        <p:txBody>
          <a:bodyPr/>
          <a:lstStyle/>
          <a:p>
            <a:pPr marL="0" indent="0">
              <a:buNone/>
            </a:pPr>
            <a:r>
              <a:rPr lang="en-GB" dirty="0" smtClean="0"/>
              <a:t>Traditional Electric lifts are best for:-</a:t>
            </a:r>
          </a:p>
          <a:p>
            <a:r>
              <a:rPr lang="en-GB" dirty="0" smtClean="0"/>
              <a:t>Busy lifts with &gt;180 starts per hour</a:t>
            </a:r>
          </a:p>
          <a:p>
            <a:r>
              <a:rPr lang="en-GB" dirty="0" smtClean="0"/>
              <a:t>Fast performance up to 18m/sec, 1.2m/s</a:t>
            </a:r>
            <a:r>
              <a:rPr lang="en-GB" baseline="30000" dirty="0" smtClean="0"/>
              <a:t>2 </a:t>
            </a:r>
            <a:r>
              <a:rPr lang="en-GB" dirty="0" smtClean="0"/>
              <a:t> 2m/s</a:t>
            </a:r>
            <a:r>
              <a:rPr lang="en-GB" baseline="30000" dirty="0" smtClean="0"/>
              <a:t>3</a:t>
            </a:r>
          </a:p>
          <a:p>
            <a:r>
              <a:rPr lang="en-GB" dirty="0" smtClean="0"/>
              <a:t>Excellent ride quality &lt; 10mg</a:t>
            </a:r>
          </a:p>
          <a:p>
            <a:r>
              <a:rPr lang="en-GB" dirty="0" smtClean="0"/>
              <a:t>Longer travel up to 150 m</a:t>
            </a:r>
          </a:p>
          <a:p>
            <a:r>
              <a:rPr lang="en-GB" dirty="0" smtClean="0"/>
              <a:t>Loads up to 5000kg</a:t>
            </a:r>
          </a:p>
          <a:p>
            <a:r>
              <a:rPr lang="en-GB" dirty="0" smtClean="0"/>
              <a:t>Life expectancy 25 to 40 years!</a:t>
            </a:r>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4288" y="3717032"/>
            <a:ext cx="1303020" cy="2240280"/>
          </a:xfrm>
          <a:prstGeom prst="rect">
            <a:avLst/>
          </a:prstGeom>
        </p:spPr>
      </p:pic>
    </p:spTree>
    <p:extLst>
      <p:ext uri="{BB962C8B-B14F-4D97-AF65-F5344CB8AC3E}">
        <p14:creationId xmlns:p14="http://schemas.microsoft.com/office/powerpoint/2010/main" val="194022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Choosing the right equipment</a:t>
            </a:r>
            <a:endParaRPr lang="en-GB" dirty="0"/>
          </a:p>
        </p:txBody>
      </p:sp>
      <p:sp>
        <p:nvSpPr>
          <p:cNvPr id="3" name="Content Placeholder 2"/>
          <p:cNvSpPr>
            <a:spLocks noGrp="1"/>
          </p:cNvSpPr>
          <p:nvPr>
            <p:ph idx="1"/>
          </p:nvPr>
        </p:nvSpPr>
        <p:spPr/>
        <p:txBody>
          <a:bodyPr/>
          <a:lstStyle/>
          <a:p>
            <a:pPr marL="0" indent="0">
              <a:buNone/>
            </a:pPr>
            <a:r>
              <a:rPr lang="en-GB" dirty="0" smtClean="0"/>
              <a:t>Machine Room Less (MRL) lifts </a:t>
            </a:r>
          </a:p>
          <a:p>
            <a:r>
              <a:rPr lang="en-GB" dirty="0" smtClean="0"/>
              <a:t>Do not need a machine room  and so save space</a:t>
            </a:r>
          </a:p>
          <a:p>
            <a:r>
              <a:rPr lang="en-GB" dirty="0" smtClean="0"/>
              <a:t>Limited to about 40m travel</a:t>
            </a:r>
          </a:p>
          <a:p>
            <a:r>
              <a:rPr lang="en-GB" dirty="0" smtClean="0"/>
              <a:t>Limited to 180 starts per hour</a:t>
            </a:r>
          </a:p>
          <a:p>
            <a:r>
              <a:rPr lang="en-GB" dirty="0" smtClean="0"/>
              <a:t>Limited to 3.5m/s</a:t>
            </a:r>
          </a:p>
          <a:p>
            <a:r>
              <a:rPr lang="en-GB" dirty="0" smtClean="0"/>
              <a:t>Limited to 3000kg</a:t>
            </a:r>
          </a:p>
          <a:p>
            <a:r>
              <a:rPr lang="en-GB" dirty="0" smtClean="0"/>
              <a:t>Efficient gearless drives are best</a:t>
            </a:r>
          </a:p>
          <a:p>
            <a:r>
              <a:rPr lang="en-GB" dirty="0" smtClean="0"/>
              <a:t>Life expectancy &lt;20 years</a:t>
            </a:r>
          </a:p>
          <a:p>
            <a:r>
              <a:rPr lang="en-GB" dirty="0" smtClean="0"/>
              <a:t>Beware of tied in maintenance!</a:t>
            </a:r>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383" y="3429000"/>
            <a:ext cx="3295657" cy="2768352"/>
          </a:xfrm>
          <a:prstGeom prst="rect">
            <a:avLst/>
          </a:prstGeom>
        </p:spPr>
      </p:pic>
    </p:spTree>
    <p:extLst>
      <p:ext uri="{BB962C8B-B14F-4D97-AF65-F5344CB8AC3E}">
        <p14:creationId xmlns:p14="http://schemas.microsoft.com/office/powerpoint/2010/main" val="243476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3022104" cy="762000"/>
          </a:xfrm>
        </p:spPr>
        <p:txBody>
          <a:bodyPr/>
          <a:lstStyle/>
          <a:p>
            <a:r>
              <a:rPr lang="en-GB" dirty="0" smtClean="0"/>
              <a:t>Moving People</a:t>
            </a:r>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6145" y="4600254"/>
            <a:ext cx="4038600" cy="14859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68" y="4680968"/>
            <a:ext cx="3061942" cy="1458068"/>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232" y="2924944"/>
            <a:ext cx="2027112" cy="1432494"/>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60" y="2428554"/>
            <a:ext cx="3055620" cy="2171700"/>
          </a:xfrm>
          <a:prstGeom prst="rect">
            <a:avLst/>
          </a:prstGeom>
        </p:spPr>
      </p:pic>
      <p:pic>
        <p:nvPicPr>
          <p:cNvPr id="11" name="Content Placeholder 10"/>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3275856" y="2444881"/>
            <a:ext cx="3144396" cy="2139045"/>
          </a:xfr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08304" y="4429151"/>
            <a:ext cx="1136349" cy="1707628"/>
          </a:xfrm>
          <a:prstGeom prst="rect">
            <a:avLst/>
          </a:prstGeom>
        </p:spPr>
      </p:pic>
      <p:sp>
        <p:nvSpPr>
          <p:cNvPr id="13" name="TextBox 12"/>
          <p:cNvSpPr txBox="1"/>
          <p:nvPr/>
        </p:nvSpPr>
        <p:spPr>
          <a:xfrm>
            <a:off x="3995936" y="1556792"/>
            <a:ext cx="4448717" cy="523220"/>
          </a:xfrm>
          <a:prstGeom prst="rect">
            <a:avLst/>
          </a:prstGeom>
          <a:noFill/>
        </p:spPr>
        <p:txBody>
          <a:bodyPr wrap="square" rtlCol="0">
            <a:spAutoFit/>
          </a:bodyPr>
          <a:lstStyle/>
          <a:p>
            <a:pPr algn="r"/>
            <a:r>
              <a:rPr lang="en-GB" sz="2800" dirty="0" smtClean="0">
                <a:solidFill>
                  <a:srgbClr val="FF0000"/>
                </a:solidFill>
              </a:rPr>
              <a:t>But not with lifts!</a:t>
            </a:r>
            <a:endParaRPr lang="en-GB" sz="2800" dirty="0">
              <a:solidFill>
                <a:srgbClr val="FF0000"/>
              </a:solidFill>
            </a:endParaRPr>
          </a:p>
        </p:txBody>
      </p:sp>
      <p:sp>
        <p:nvSpPr>
          <p:cNvPr id="14" name="TextBox 13"/>
          <p:cNvSpPr txBox="1"/>
          <p:nvPr/>
        </p:nvSpPr>
        <p:spPr>
          <a:xfrm>
            <a:off x="6660232" y="2276872"/>
            <a:ext cx="2027112" cy="646331"/>
          </a:xfrm>
          <a:prstGeom prst="rect">
            <a:avLst/>
          </a:prstGeom>
          <a:noFill/>
        </p:spPr>
        <p:txBody>
          <a:bodyPr wrap="square" rtlCol="0">
            <a:spAutoFit/>
          </a:bodyPr>
          <a:lstStyle/>
          <a:p>
            <a:r>
              <a:rPr lang="en-GB" sz="1800" dirty="0" smtClean="0"/>
              <a:t>Machinery Directive devices</a:t>
            </a:r>
            <a:endParaRPr lang="en-GB" sz="1800" dirty="0"/>
          </a:p>
        </p:txBody>
      </p:sp>
    </p:spTree>
    <p:extLst>
      <p:ext uri="{BB962C8B-B14F-4D97-AF65-F5344CB8AC3E}">
        <p14:creationId xmlns:p14="http://schemas.microsoft.com/office/powerpoint/2010/main" val="280035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Machinery Directive Devices</a:t>
            </a:r>
            <a:endParaRPr lang="en-GB" dirty="0"/>
          </a:p>
        </p:txBody>
      </p:sp>
      <p:sp>
        <p:nvSpPr>
          <p:cNvPr id="3" name="Content Placeholder 2"/>
          <p:cNvSpPr>
            <a:spLocks noGrp="1"/>
          </p:cNvSpPr>
          <p:nvPr>
            <p:ph idx="1"/>
          </p:nvPr>
        </p:nvSpPr>
        <p:spPr/>
        <p:txBody>
          <a:bodyPr/>
          <a:lstStyle/>
          <a:p>
            <a:r>
              <a:rPr lang="en-GB" dirty="0" smtClean="0"/>
              <a:t>Slow- less than 0.15m/sec</a:t>
            </a:r>
          </a:p>
          <a:p>
            <a:r>
              <a:rPr lang="en-GB" dirty="0" smtClean="0"/>
              <a:t>Unsuitable for more than 10 to 30 operations per hour</a:t>
            </a:r>
          </a:p>
          <a:p>
            <a:r>
              <a:rPr lang="en-GB" dirty="0" smtClean="0"/>
              <a:t>Unsuitable for travel over 3 metres (NB approval required).</a:t>
            </a:r>
          </a:p>
          <a:p>
            <a:r>
              <a:rPr lang="en-GB" dirty="0" smtClean="0"/>
              <a:t>Require limited pit and headroom</a:t>
            </a:r>
          </a:p>
          <a:p>
            <a:r>
              <a:rPr lang="en-GB" dirty="0" smtClean="0"/>
              <a:t>Mostly designed for transporting disabled passengers and not goods.</a:t>
            </a:r>
          </a:p>
          <a:p>
            <a:r>
              <a:rPr lang="en-GB" dirty="0" smtClean="0"/>
              <a:t>Some designed for transporting goods but only trained operators as passengers.</a:t>
            </a:r>
            <a:endParaRPr lang="en-GB" dirty="0"/>
          </a:p>
        </p:txBody>
      </p:sp>
    </p:spTree>
    <p:extLst>
      <p:ext uri="{BB962C8B-B14F-4D97-AF65-F5344CB8AC3E}">
        <p14:creationId xmlns:p14="http://schemas.microsoft.com/office/powerpoint/2010/main" val="5640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It’s all a question of</a:t>
            </a:r>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4208" y="4509120"/>
            <a:ext cx="2095500" cy="1394460"/>
          </a:xfrm>
          <a:prstGeom prst="rect">
            <a:avLst/>
          </a:prstGeom>
        </p:spPr>
      </p:pic>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04692" y="4509120"/>
            <a:ext cx="2095500" cy="1394460"/>
          </a:xfrm>
        </p:spPr>
      </p:pic>
      <p:sp>
        <p:nvSpPr>
          <p:cNvPr id="8" name="TextBox 7"/>
          <p:cNvSpPr txBox="1"/>
          <p:nvPr/>
        </p:nvSpPr>
        <p:spPr>
          <a:xfrm>
            <a:off x="1958065" y="2132856"/>
            <a:ext cx="5544616" cy="1754326"/>
          </a:xfrm>
          <a:prstGeom prst="rect">
            <a:avLst/>
          </a:prstGeom>
          <a:noFill/>
        </p:spPr>
        <p:txBody>
          <a:bodyPr wrap="square" rtlCol="0">
            <a:spAutoFit/>
          </a:bodyPr>
          <a:lstStyle/>
          <a:p>
            <a:r>
              <a:rPr lang="en-GB" sz="3600" dirty="0" smtClean="0">
                <a:solidFill>
                  <a:srgbClr val="002060"/>
                </a:solidFill>
              </a:rPr>
              <a:t>Horses</a:t>
            </a:r>
          </a:p>
          <a:p>
            <a:r>
              <a:rPr lang="en-GB" sz="3600" dirty="0" smtClean="0">
                <a:solidFill>
                  <a:srgbClr val="002060"/>
                </a:solidFill>
              </a:rPr>
              <a:t>For </a:t>
            </a:r>
          </a:p>
          <a:p>
            <a:r>
              <a:rPr lang="en-GB" sz="3600" dirty="0" smtClean="0">
                <a:solidFill>
                  <a:srgbClr val="002060"/>
                </a:solidFill>
              </a:rPr>
              <a:t>Courses!</a:t>
            </a:r>
            <a:endParaRPr lang="en-GB" sz="3600" dirty="0">
              <a:solidFill>
                <a:srgbClr val="002060"/>
              </a:solidFill>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8029" y="2409676"/>
            <a:ext cx="3072357" cy="2099444"/>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536" y="3626642"/>
            <a:ext cx="1333500" cy="2270760"/>
          </a:xfrm>
          <a:prstGeom prst="rect">
            <a:avLst/>
          </a:prstGeom>
        </p:spPr>
      </p:pic>
    </p:spTree>
    <p:extLst>
      <p:ext uri="{BB962C8B-B14F-4D97-AF65-F5344CB8AC3E}">
        <p14:creationId xmlns:p14="http://schemas.microsoft.com/office/powerpoint/2010/main" val="249919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Questions so far?</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3568" y="2519961"/>
            <a:ext cx="3167180" cy="243724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6946" y="2276872"/>
            <a:ext cx="3447902" cy="2653268"/>
          </a:xfrm>
          <a:prstGeom prst="rect">
            <a:avLst/>
          </a:prstGeom>
        </p:spPr>
      </p:pic>
    </p:spTree>
    <p:extLst>
      <p:ext uri="{BB962C8B-B14F-4D97-AF65-F5344CB8AC3E}">
        <p14:creationId xmlns:p14="http://schemas.microsoft.com/office/powerpoint/2010/main" val="656653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8"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318</TotalTime>
  <Words>796</Words>
  <Application>Microsoft Office PowerPoint</Application>
  <PresentationFormat>On-screen Show (4:3)</PresentationFormat>
  <Paragraphs>88</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Blank Presentation</vt:lpstr>
      <vt:lpstr>A very brief History of Lifts and escalators Followed by a selection guide to VT</vt:lpstr>
      <vt:lpstr>Lifts</vt:lpstr>
      <vt:lpstr>Other important inventions</vt:lpstr>
      <vt:lpstr>Lifts mean taller buildings!</vt:lpstr>
      <vt:lpstr>Escalators</vt:lpstr>
      <vt:lpstr>Escalators move people!</vt:lpstr>
      <vt:lpstr>Moving Walks Move people and trolleys!</vt:lpstr>
      <vt:lpstr>Paternosters</vt:lpstr>
      <vt:lpstr>Paternosters</vt:lpstr>
      <vt:lpstr>Moving Goods</vt:lpstr>
      <vt:lpstr>Moving People - planning a VT system</vt:lpstr>
      <vt:lpstr>Choosing the Right Equipment</vt:lpstr>
      <vt:lpstr>Choosing the right equipment</vt:lpstr>
      <vt:lpstr>Choosing the right equipment</vt:lpstr>
      <vt:lpstr>Moving People</vt:lpstr>
      <vt:lpstr>Machinery Directive Devices</vt:lpstr>
      <vt:lpstr>It’s all a question of</vt:lpstr>
      <vt:lpstr>Questions so far?</vt:lpstr>
    </vt:vector>
  </TitlesOfParts>
  <Company>The Design Mine,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Bottomley</dc:creator>
  <cp:lastModifiedBy>Michael Bottomley</cp:lastModifiedBy>
  <cp:revision>38</cp:revision>
  <dcterms:modified xsi:type="dcterms:W3CDTF">2012-04-10T10:07:22Z</dcterms:modified>
</cp:coreProperties>
</file>