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2" r:id="rId5"/>
    <p:sldId id="259" r:id="rId6"/>
    <p:sldId id="273"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51" d="100"/>
          <a:sy n="51" d="100"/>
        </p:scale>
        <p:origin x="-90" y="-3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121957-1CBC-DF4C-9707-476286B65ABA}" type="datetimeFigureOut">
              <a:rPr lang="en-US" smtClean="0"/>
              <a:pPr/>
              <a:t>1/22/2012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121957-1CBC-DF4C-9707-476286B65ABA}" type="datetimeFigureOut">
              <a:rPr lang="en-US" smtClean="0"/>
              <a:pPr/>
              <a:t>1/22/2012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121957-1CBC-DF4C-9707-476286B65ABA}" type="datetimeFigureOut">
              <a:rPr lang="en-US" smtClean="0"/>
              <a:pPr/>
              <a:t>1/22/2012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121957-1CBC-DF4C-9707-476286B65ABA}" type="datetimeFigureOut">
              <a:rPr lang="en-US" smtClean="0"/>
              <a:pPr/>
              <a:t>1/22/2012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121957-1CBC-DF4C-9707-476286B65ABA}" type="datetimeFigureOut">
              <a:rPr lang="en-US" smtClean="0"/>
              <a:pPr/>
              <a:t>1/22/2012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121957-1CBC-DF4C-9707-476286B65ABA}" type="datetimeFigureOut">
              <a:rPr lang="en-US" smtClean="0"/>
              <a:pPr/>
              <a:t>1/22/2012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121957-1CBC-DF4C-9707-476286B65ABA}" type="datetimeFigureOut">
              <a:rPr lang="en-US" smtClean="0"/>
              <a:pPr/>
              <a:t>1/22/2012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121957-1CBC-DF4C-9707-476286B65ABA}" type="datetimeFigureOut">
              <a:rPr lang="en-US" smtClean="0"/>
              <a:pPr/>
              <a:t>1/22/2012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121957-1CBC-DF4C-9707-476286B65ABA}" type="datetimeFigureOut">
              <a:rPr lang="en-US" smtClean="0"/>
              <a:pPr/>
              <a:t>1/22/2012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121957-1CBC-DF4C-9707-476286B65ABA}" type="datetimeFigureOut">
              <a:rPr lang="en-US" smtClean="0"/>
              <a:pPr/>
              <a:t>1/22/2012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121957-1CBC-DF4C-9707-476286B65ABA}" type="datetimeFigureOut">
              <a:rPr lang="en-US" smtClean="0"/>
              <a:pPr/>
              <a:t>1/22/2012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1960DA-D4A6-B544-8AA2-5460A5C506C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121957-1CBC-DF4C-9707-476286B65ABA}" type="datetimeFigureOut">
              <a:rPr lang="en-US" smtClean="0"/>
              <a:pPr/>
              <a:t>1/22/2012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1960DA-D4A6-B544-8AA2-5460A5C506C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3001"/>
            <a:ext cx="7772400" cy="2457450"/>
          </a:xfrm>
          <a:solidFill>
            <a:schemeClr val="bg2">
              <a:lumMod val="90000"/>
            </a:schemeClr>
          </a:solidFill>
          <a:ln w="76200">
            <a:solidFill>
              <a:schemeClr val="tx1"/>
            </a:solidFill>
          </a:ln>
        </p:spPr>
        <p:style>
          <a:lnRef idx="2">
            <a:schemeClr val="dk1"/>
          </a:lnRef>
          <a:fillRef idx="1">
            <a:schemeClr val="lt1"/>
          </a:fillRef>
          <a:effectRef idx="0">
            <a:schemeClr val="dk1"/>
          </a:effectRef>
          <a:fontRef idx="minor">
            <a:schemeClr val="dk1"/>
          </a:fontRef>
        </p:style>
        <p:txBody>
          <a:bodyPr>
            <a:normAutofit fontScale="90000"/>
          </a:bodyPr>
          <a:lstStyle/>
          <a:p>
            <a:r>
              <a:rPr lang="en-US" sz="6600" b="1" dirty="0" smtClean="0">
                <a:solidFill>
                  <a:srgbClr val="FF0000"/>
                </a:solidFill>
                <a:latin typeface="Academy Engraved LET"/>
                <a:cs typeface="Academy Engraved LET"/>
              </a:rPr>
              <a:t>Practicing Civility, Promoting Respect</a:t>
            </a:r>
            <a:endParaRPr lang="en-US" sz="6600" b="1" dirty="0">
              <a:solidFill>
                <a:srgbClr val="FF0000"/>
              </a:solidFill>
              <a:latin typeface="Academy Engraved LET"/>
              <a:cs typeface="Academy Engraved LET"/>
            </a:endParaRPr>
          </a:p>
        </p:txBody>
      </p:sp>
      <p:sp>
        <p:nvSpPr>
          <p:cNvPr id="3" name="Subtitle 2"/>
          <p:cNvSpPr>
            <a:spLocks noGrp="1"/>
          </p:cNvSpPr>
          <p:nvPr>
            <p:ph type="subTitle" idx="1"/>
          </p:nvPr>
        </p:nvSpPr>
        <p:spPr/>
        <p:style>
          <a:lnRef idx="2">
            <a:schemeClr val="accent2"/>
          </a:lnRef>
          <a:fillRef idx="1">
            <a:schemeClr val="lt1"/>
          </a:fillRef>
          <a:effectRef idx="0">
            <a:schemeClr val="accent2"/>
          </a:effectRef>
          <a:fontRef idx="minor">
            <a:schemeClr val="dk1"/>
          </a:fontRef>
        </p:style>
        <p:txBody>
          <a:bodyPr/>
          <a:lstStyle/>
          <a:p>
            <a:r>
              <a:rPr lang="en-US" b="1" dirty="0" smtClean="0">
                <a:solidFill>
                  <a:schemeClr val="tx1"/>
                </a:solidFill>
              </a:rPr>
              <a:t>Compiled by Justine Moral</a:t>
            </a:r>
          </a:p>
          <a:p>
            <a:r>
              <a:rPr lang="en-US" b="1" dirty="0" smtClean="0">
                <a:solidFill>
                  <a:schemeClr val="tx1"/>
                </a:solidFill>
              </a:rPr>
              <a:t>Resident Assistant</a:t>
            </a:r>
            <a:endParaRPr lang="en-US"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a:solidFill>
            <a:schemeClr val="bg2">
              <a:lumMod val="90000"/>
            </a:schemeClr>
          </a:solidFill>
          <a:ln w="9525"/>
        </p:spPr>
        <p:style>
          <a:lnRef idx="2">
            <a:schemeClr val="dk1"/>
          </a:lnRef>
          <a:fillRef idx="1">
            <a:schemeClr val="lt1"/>
          </a:fillRef>
          <a:effectRef idx="0">
            <a:schemeClr val="dk1"/>
          </a:effectRef>
          <a:fontRef idx="minor">
            <a:schemeClr val="dk1"/>
          </a:fontRef>
        </p:style>
        <p:txBody>
          <a:bodyPr/>
          <a:lstStyle/>
          <a:p>
            <a:r>
              <a:rPr lang="en-US" b="1" dirty="0" smtClean="0">
                <a:solidFill>
                  <a:schemeClr val="tx1"/>
                </a:solidFill>
                <a:latin typeface="Academy Engraved LET"/>
                <a:cs typeface="Academy Engraved LET"/>
              </a:rPr>
              <a:t>Needing Each Other </a:t>
            </a:r>
            <a:endParaRPr lang="en-US" b="1" dirty="0">
              <a:solidFill>
                <a:schemeClr val="tx1"/>
              </a:solidFill>
              <a:latin typeface="Academy Engraved LET"/>
              <a:cs typeface="Academy Engraved LET"/>
            </a:endParaRPr>
          </a:p>
        </p:txBody>
      </p:sp>
      <p:sp>
        <p:nvSpPr>
          <p:cNvPr id="3" name="Content Placeholder 2"/>
          <p:cNvSpPr>
            <a:spLocks noGrp="1"/>
          </p:cNvSpPr>
          <p:nvPr>
            <p:ph idx="1"/>
          </p:nvPr>
        </p:nvSpPr>
        <p:spPr>
          <a:xfrm>
            <a:off x="457200" y="1447800"/>
            <a:ext cx="8229600" cy="5181600"/>
          </a:xfrm>
          <a:ln>
            <a:solidFill>
              <a:schemeClr val="bg1"/>
            </a:solidFill>
          </a:ln>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buNone/>
            </a:pPr>
            <a:r>
              <a:rPr lang="en-US" sz="4400" dirty="0" smtClean="0">
                <a:latin typeface="Gloucester MT Extra Condensed"/>
                <a:cs typeface="Gloucester MT Extra Condensed"/>
              </a:rPr>
              <a:t>		</a:t>
            </a:r>
            <a:endParaRPr lang="en-US" sz="4400" dirty="0" smtClean="0">
              <a:latin typeface="Gloucester MT Extra Condensed"/>
              <a:cs typeface="Gloucester MT Extra Condensed"/>
            </a:endParaRPr>
          </a:p>
          <a:p>
            <a:pPr>
              <a:buNone/>
            </a:pPr>
            <a:r>
              <a:rPr lang="en-US" sz="4400" dirty="0" smtClean="0">
                <a:latin typeface="Gloucester MT Extra Condensed"/>
                <a:cs typeface="Gloucester MT Extra Condensed"/>
              </a:rPr>
              <a:t>`	</a:t>
            </a:r>
            <a:r>
              <a:rPr lang="en-US" sz="12000" dirty="0" smtClean="0">
                <a:latin typeface="Gloucester MT Extra Condensed"/>
                <a:cs typeface="Gloucester MT Extra Condensed"/>
              </a:rPr>
              <a:t>We </a:t>
            </a:r>
            <a:r>
              <a:rPr lang="en-US" sz="12000" dirty="0" smtClean="0">
                <a:latin typeface="Gloucester MT Extra Condensed"/>
                <a:cs typeface="Gloucester MT Extra Condensed"/>
              </a:rPr>
              <a:t>need each other, whether we realize it or not, whether we are willing to acknowledge it or not.  Arrogance and pride pretend we don’t.  The “lie” of rugged individualism that is so prevalent in this country creates an illusion that we are not and should not be dependent upon other people.  What a joke!  Another set of hands pulled you from your mother’s womb at birth; another set of hands changed your diapers, fed you, nourished you; another set of hands taught you how to read and write.  Now another set of hands grows your food, delivers your mail, collects your garbage, provides your electricity, protects your city, defends your nation; another set of hands will comfort and care for you when you become sick and old; in the end, another set of hands will lower you into the ground when you die</a:t>
            </a:r>
            <a:r>
              <a:rPr lang="en-US" sz="12000" i="1" dirty="0" smtClean="0">
                <a:latin typeface="Gloucester MT Extra Condensed"/>
                <a:cs typeface="Gloucester MT Extra Condensed"/>
              </a:rPr>
              <a:t>. </a:t>
            </a:r>
          </a:p>
          <a:p>
            <a:pPr>
              <a:buNone/>
            </a:pPr>
            <a:r>
              <a:rPr lang="en-US" sz="4800" i="1" dirty="0" smtClean="0">
                <a:latin typeface="Gloucester MT Extra Condensed"/>
                <a:cs typeface="Gloucester MT Extra Condensed"/>
              </a:rPr>
              <a:t>	</a:t>
            </a:r>
          </a:p>
          <a:p>
            <a:pPr>
              <a:buNone/>
            </a:pPr>
            <a:r>
              <a:rPr lang="en-US" sz="4800" i="1" dirty="0" smtClean="0">
                <a:latin typeface="Gloucester MT Extra Condensed"/>
                <a:cs typeface="Gloucester MT Extra Condensed"/>
              </a:rPr>
              <a:t>	 </a:t>
            </a:r>
            <a:r>
              <a:rPr lang="en-US" sz="4800" i="1" dirty="0"/>
              <a:t>Adapted from The Servant: A Simple Story About the True Essence of Leadership by James C. Hunter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a:solidFill>
            <a:schemeClr val="bg2">
              <a:lumMod val="90000"/>
            </a:schemeClr>
          </a:solidFill>
          <a:ln>
            <a:solidFill>
              <a:schemeClr val="tx1"/>
            </a:solidFill>
          </a:ln>
        </p:spPr>
        <p:txBody>
          <a:bodyPr>
            <a:normAutofit/>
          </a:bodyPr>
          <a:lstStyle/>
          <a:p>
            <a:r>
              <a:rPr lang="en-US" dirty="0" smtClean="0">
                <a:latin typeface="Academy Engraved LET"/>
                <a:cs typeface="Academy Engraved LET"/>
              </a:rPr>
              <a:t>Social Capital</a:t>
            </a:r>
            <a:endParaRPr lang="en-US" dirty="0">
              <a:latin typeface="Academy Engraved LET"/>
              <a:cs typeface="Academy Engraved LET"/>
            </a:endParaRPr>
          </a:p>
        </p:txBody>
      </p:sp>
      <p:sp>
        <p:nvSpPr>
          <p:cNvPr id="3" name="Content Placeholder 2"/>
          <p:cNvSpPr>
            <a:spLocks noGrp="1"/>
          </p:cNvSpPr>
          <p:nvPr>
            <p:ph idx="1"/>
          </p:nvPr>
        </p:nvSpPr>
        <p:spPr>
          <a:xfrm>
            <a:off x="457200" y="1143000"/>
            <a:ext cx="8229600" cy="5410200"/>
          </a:xfrm>
        </p:spPr>
        <p:txBody>
          <a:bodyPr>
            <a:normAutofit fontScale="25000" lnSpcReduction="20000"/>
          </a:bodyPr>
          <a:lstStyle/>
          <a:p>
            <a:pPr>
              <a:buNone/>
            </a:pPr>
            <a:r>
              <a:rPr lang="en-US" sz="8421" dirty="0" smtClean="0">
                <a:latin typeface="Gloucester MT Extra Condensed"/>
                <a:cs typeface="Gloucester MT Extra Condensed"/>
              </a:rPr>
              <a:t>	</a:t>
            </a:r>
            <a:r>
              <a:rPr lang="en-US" sz="10400" dirty="0" smtClean="0">
                <a:latin typeface="Gloucester MT Extra Condensed"/>
                <a:cs typeface="Gloucester MT Extra Condensed"/>
              </a:rPr>
              <a:t>	</a:t>
            </a:r>
            <a:endParaRPr lang="en-US" sz="10400" dirty="0" smtClean="0">
              <a:latin typeface="Gloucester MT Extra Condensed"/>
              <a:cs typeface="Gloucester MT Extra Condensed"/>
            </a:endParaRPr>
          </a:p>
          <a:p>
            <a:pPr>
              <a:buNone/>
            </a:pPr>
            <a:r>
              <a:rPr lang="en-US" sz="11200" dirty="0" smtClean="0">
                <a:latin typeface="Gloucester MT Extra Condensed"/>
                <a:cs typeface="Gloucester MT Extra Condensed"/>
              </a:rPr>
              <a:t>	</a:t>
            </a:r>
            <a:r>
              <a:rPr lang="en-US" sz="12800" dirty="0" smtClean="0">
                <a:latin typeface="Gloucester MT Extra Condensed"/>
                <a:cs typeface="Gloucester MT Extra Condensed"/>
              </a:rPr>
              <a:t>Social </a:t>
            </a:r>
            <a:r>
              <a:rPr lang="en-US" sz="12800" dirty="0">
                <a:latin typeface="Gloucester MT Extra Condensed"/>
                <a:cs typeface="Gloucester MT Extra Condensed"/>
              </a:rPr>
              <a:t>capital consists of the stock of active connections among people: the trust, mutual understanding, and shared values and behaviors that bind the members of human networks and communities and make cooperative action possible. </a:t>
            </a:r>
            <a:r>
              <a:rPr lang="en-US" sz="12800" i="1" dirty="0">
                <a:latin typeface="Gloucester MT Extra Condensed"/>
                <a:cs typeface="Gloucester MT Extra Condensed"/>
              </a:rPr>
              <a:t> Social capital makes an organization, or any cooperative group, more than a collection of individuals intent on achieving their own private purposes.  Social capital bridges the space between people.  Its characteristic elements and indicators include high levels of trust, robust personal networks and vibrant communities, shared understandings, and a sense of equitable participation in a joint enterprise – all things that draw individuals together into a group.  </a:t>
            </a:r>
            <a:endParaRPr lang="en-US" sz="12800" i="1" dirty="0" smtClean="0">
              <a:latin typeface="Gloucester MT Extra Condensed"/>
              <a:cs typeface="Gloucester MT Extra Condensed"/>
            </a:endParaRPr>
          </a:p>
          <a:p>
            <a:endParaRPr lang="en-US" i="1" dirty="0" smtClean="0"/>
          </a:p>
          <a:p>
            <a:pPr>
              <a:buNone/>
            </a:pPr>
            <a:r>
              <a:rPr lang="en-US" i="1" dirty="0" smtClean="0"/>
              <a:t>	</a:t>
            </a:r>
            <a:endParaRPr lang="en-US" i="1" dirty="0" smtClean="0"/>
          </a:p>
          <a:p>
            <a:pPr>
              <a:buNone/>
            </a:pPr>
            <a:endParaRPr lang="en-US" i="1" dirty="0" smtClean="0"/>
          </a:p>
          <a:p>
            <a:pPr>
              <a:buNone/>
            </a:pPr>
            <a:endParaRPr lang="en-US" i="1" dirty="0" smtClean="0"/>
          </a:p>
          <a:p>
            <a:pPr>
              <a:buNone/>
            </a:pPr>
            <a:r>
              <a:rPr lang="en-US" i="1" dirty="0" smtClean="0"/>
              <a:t>	</a:t>
            </a:r>
            <a:r>
              <a:rPr lang="en-US" i="1" dirty="0" smtClean="0"/>
              <a:t> </a:t>
            </a:r>
            <a:r>
              <a:rPr lang="en-US" sz="5200" i="1" dirty="0"/>
              <a:t>Taken from In Good Company: How Social Capital Makes Organizations Work by Don Cohen  and Laurence </a:t>
            </a:r>
            <a:r>
              <a:rPr lang="en-US" sz="5200" i="1" dirty="0" err="1"/>
              <a:t>Prusak</a:t>
            </a:r>
            <a:r>
              <a:rPr lang="en-US" sz="5200" i="1" dirty="0"/>
              <a:t> </a:t>
            </a:r>
            <a:endParaRPr lang="en-US" sz="5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90000"/>
            </a:schemeClr>
          </a:solidFill>
          <a:ln>
            <a:solidFill>
              <a:schemeClr val="tx1"/>
            </a:solidFill>
          </a:ln>
        </p:spPr>
        <p:txBody>
          <a:bodyPr/>
          <a:lstStyle/>
          <a:p>
            <a:r>
              <a:rPr lang="en-US" dirty="0" smtClean="0">
                <a:latin typeface="Academy Engraved LET"/>
                <a:cs typeface="Academy Engraved LET"/>
              </a:rPr>
              <a:t>Social Capital</a:t>
            </a:r>
            <a:endParaRPr lang="en-US" dirty="0"/>
          </a:p>
        </p:txBody>
      </p:sp>
      <p:sp>
        <p:nvSpPr>
          <p:cNvPr id="3" name="Content Placeholder 2"/>
          <p:cNvSpPr>
            <a:spLocks noGrp="1"/>
          </p:cNvSpPr>
          <p:nvPr>
            <p:ph idx="1"/>
          </p:nvPr>
        </p:nvSpPr>
        <p:spPr/>
        <p:txBody>
          <a:bodyPr>
            <a:normAutofit fontScale="25000" lnSpcReduction="20000"/>
          </a:bodyPr>
          <a:lstStyle/>
          <a:p>
            <a:pPr>
              <a:buNone/>
            </a:pPr>
            <a:r>
              <a:rPr lang="en-US" sz="9600" i="1" dirty="0" smtClean="0">
                <a:latin typeface="Gloucester MT Extra Condensed"/>
                <a:cs typeface="Gloucester MT Extra Condensed"/>
              </a:rPr>
              <a:t>	</a:t>
            </a:r>
          </a:p>
          <a:p>
            <a:pPr>
              <a:buNone/>
            </a:pPr>
            <a:r>
              <a:rPr lang="en-US" sz="9600" i="1" dirty="0" smtClean="0">
                <a:latin typeface="Gloucester MT Extra Condensed"/>
                <a:cs typeface="Gloucester MT Extra Condensed"/>
              </a:rPr>
              <a:t>	</a:t>
            </a:r>
            <a:r>
              <a:rPr lang="en-US" sz="14400" i="1" dirty="0" smtClean="0">
                <a:latin typeface="Gloucester MT Extra Condensed"/>
                <a:cs typeface="Gloucester MT Extra Condensed"/>
              </a:rPr>
              <a:t>This </a:t>
            </a:r>
            <a:r>
              <a:rPr lang="en-US" sz="14400" i="1" dirty="0" smtClean="0">
                <a:latin typeface="Gloucester MT Extra Condensed"/>
                <a:cs typeface="Gloucester MT Extra Condensed"/>
              </a:rPr>
              <a:t>kind of connection supports collaboration, commitment, ready access to knowledge and talent, and coherent organizational behavior.  This description of social capital suggests appropriate organizational investments – namely, giving people space and time to connect, demonstrating trust, effectively communicating aims and beliefs, and offering equitable opportunities and rewards that invite genuine participation, not mere presence</a:t>
            </a:r>
            <a:r>
              <a:rPr lang="en-US" sz="14400" i="1" dirty="0" smtClean="0">
                <a:latin typeface="Gloucester MT Extra Condensed"/>
                <a:cs typeface="Gloucester MT Extra Condensed"/>
              </a:rPr>
              <a:t>. </a:t>
            </a:r>
          </a:p>
          <a:p>
            <a:pPr>
              <a:buNone/>
            </a:pPr>
            <a:r>
              <a:rPr lang="en-US" sz="9600" i="1" dirty="0" smtClean="0">
                <a:latin typeface="Gloucester MT Extra Condensed"/>
              </a:rPr>
              <a:t>	</a:t>
            </a:r>
            <a:r>
              <a:rPr lang="en-US" sz="3700" i="1" dirty="0" smtClean="0"/>
              <a:t>Taken </a:t>
            </a:r>
            <a:r>
              <a:rPr lang="en-US" sz="3700" i="1" dirty="0" smtClean="0"/>
              <a:t>from In Good Company: How Social Capital Makes Organizations Work by Don Cohen  and Laurence </a:t>
            </a:r>
            <a:r>
              <a:rPr lang="en-US" sz="3700" i="1" dirty="0" err="1" smtClean="0"/>
              <a:t>Prusak</a:t>
            </a:r>
            <a:r>
              <a:rPr lang="en-US" sz="3700" i="1" dirty="0" smtClean="0"/>
              <a:t> </a:t>
            </a:r>
            <a:endParaRPr lang="en-US" sz="3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a:solidFill>
            <a:schemeClr val="bg2">
              <a:lumMod val="90000"/>
            </a:schemeClr>
          </a:solidFill>
          <a:ln>
            <a:solidFill>
              <a:schemeClr val="tx1"/>
            </a:solidFill>
          </a:ln>
        </p:spPr>
        <p:txBody>
          <a:bodyPr/>
          <a:lstStyle/>
          <a:p>
            <a:r>
              <a:rPr lang="en-US" dirty="0" smtClean="0">
                <a:latin typeface="Academy Engraved LET"/>
                <a:cs typeface="Academy Engraved LET"/>
              </a:rPr>
              <a:t>Maintaining Relational Accounts</a:t>
            </a:r>
            <a:endParaRPr lang="en-US" dirty="0">
              <a:latin typeface="Academy Engraved LET"/>
              <a:cs typeface="Academy Engraved LET"/>
            </a:endParaRPr>
          </a:p>
        </p:txBody>
      </p:sp>
      <p:sp>
        <p:nvSpPr>
          <p:cNvPr id="3" name="Content Placeholder 2"/>
          <p:cNvSpPr>
            <a:spLocks noGrp="1"/>
          </p:cNvSpPr>
          <p:nvPr>
            <p:ph idx="1"/>
          </p:nvPr>
        </p:nvSpPr>
        <p:spPr>
          <a:xfrm>
            <a:off x="457200" y="1600200"/>
            <a:ext cx="8229600" cy="5029200"/>
          </a:xfrm>
        </p:spPr>
        <p:txBody>
          <a:bodyPr>
            <a:normAutofit fontScale="25000" lnSpcReduction="20000"/>
          </a:bodyPr>
          <a:lstStyle/>
          <a:p>
            <a:pPr>
              <a:buNone/>
            </a:pPr>
            <a:r>
              <a:rPr lang="en-US" dirty="0" smtClean="0"/>
              <a:t>	</a:t>
            </a:r>
            <a:r>
              <a:rPr lang="en-US" sz="3613" dirty="0" smtClean="0"/>
              <a:t>	</a:t>
            </a:r>
            <a:endParaRPr lang="en-US" sz="3613" dirty="0" smtClean="0"/>
          </a:p>
          <a:p>
            <a:pPr>
              <a:buNone/>
            </a:pPr>
            <a:endParaRPr lang="en-US" sz="3613" dirty="0" smtClean="0">
              <a:latin typeface="Gloucester MT Extra Condensed"/>
              <a:cs typeface="Gloucester MT Extra Condensed"/>
            </a:endParaRPr>
          </a:p>
          <a:p>
            <a:pPr>
              <a:buNone/>
            </a:pPr>
            <a:endParaRPr lang="en-US" sz="3613" dirty="0" smtClean="0">
              <a:latin typeface="Gloucester MT Extra Condensed"/>
              <a:cs typeface="Gloucester MT Extra Condensed"/>
            </a:endParaRPr>
          </a:p>
          <a:p>
            <a:pPr>
              <a:buNone/>
            </a:pPr>
            <a:r>
              <a:rPr lang="en-US" sz="3613" dirty="0" smtClean="0">
                <a:latin typeface="Gloucester MT Extra Condensed"/>
                <a:cs typeface="Gloucester MT Extra Condensed"/>
              </a:rPr>
              <a:t>	</a:t>
            </a:r>
            <a:r>
              <a:rPr lang="en-US" sz="14400" dirty="0" smtClean="0">
                <a:latin typeface="Gloucester MT Extra Condensed"/>
                <a:cs typeface="Gloucester MT Extra Condensed"/>
              </a:rPr>
              <a:t>Maintaining </a:t>
            </a:r>
            <a:r>
              <a:rPr lang="en-US" sz="14400" dirty="0">
                <a:latin typeface="Gloucester MT Extra Condensed"/>
                <a:cs typeface="Gloucester MT Extra Condensed"/>
              </a:rPr>
              <a:t>Relational Accounts </a:t>
            </a:r>
            <a:r>
              <a:rPr lang="en-US" sz="14400" dirty="0" smtClean="0">
                <a:latin typeface="Gloucester MT Extra Condensed"/>
                <a:cs typeface="Gloucester MT Extra Condensed"/>
              </a:rPr>
              <a:t>is the </a:t>
            </a:r>
            <a:r>
              <a:rPr lang="en-US" sz="14400" dirty="0">
                <a:latin typeface="Gloucester MT Extra Condensed"/>
                <a:cs typeface="Gloucester MT Extra Condensed"/>
              </a:rPr>
              <a:t>relational account metaphor </a:t>
            </a:r>
            <a:r>
              <a:rPr lang="en-US" sz="14400" dirty="0" smtClean="0">
                <a:latin typeface="Gloucester MT Extra Condensed"/>
                <a:cs typeface="Gloucester MT Extra Condensed"/>
              </a:rPr>
              <a:t>that teaches </a:t>
            </a:r>
            <a:r>
              <a:rPr lang="en-US" sz="14400" dirty="0">
                <a:latin typeface="Gloucester MT Extra Condensed"/>
                <a:cs typeface="Gloucester MT Extra Condensed"/>
              </a:rPr>
              <a:t>us the importance of keeping healthy relationship balances with the significant people in our lives, including those with whom we work.  Simply put, when we meet a person for the first time, we basically (should) have a neutral relationship account balance because we don’t know one another, we’re still testing the waters.  As the relationship matures, however, we make deposits and withdrawals in these imaginary accounts based on how we </a:t>
            </a:r>
            <a:r>
              <a:rPr lang="en-US" sz="14400" dirty="0" smtClean="0">
                <a:latin typeface="Gloucester MT Extra Condensed"/>
                <a:cs typeface="Gloucester MT Extra Condensed"/>
              </a:rPr>
              <a:t>behave.  </a:t>
            </a:r>
            <a:r>
              <a:rPr lang="en-US" sz="5200" dirty="0" smtClean="0"/>
              <a:t>Adapted </a:t>
            </a:r>
            <a:r>
              <a:rPr lang="en-US" sz="5200" dirty="0"/>
              <a:t>from </a:t>
            </a:r>
            <a:r>
              <a:rPr lang="en-US" sz="5200" i="1" dirty="0"/>
              <a:t>The Servant: A Simple Story About the True Essence of  Leadership by James C. Hunt </a:t>
            </a:r>
            <a:endParaRPr lang="en-US" sz="5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90000"/>
            </a:schemeClr>
          </a:solidFill>
          <a:ln>
            <a:solidFill>
              <a:schemeClr val="tx1"/>
            </a:solidFill>
          </a:ln>
        </p:spPr>
        <p:txBody>
          <a:bodyPr/>
          <a:lstStyle/>
          <a:p>
            <a:r>
              <a:rPr lang="en-US" dirty="0" smtClean="0">
                <a:latin typeface="Academy Engraved LET"/>
                <a:cs typeface="Academy Engraved LET"/>
              </a:rPr>
              <a:t>Maintaining Relational Accounts</a:t>
            </a:r>
            <a:endParaRPr lang="en-US" dirty="0"/>
          </a:p>
        </p:txBody>
      </p:sp>
      <p:sp>
        <p:nvSpPr>
          <p:cNvPr id="3" name="Content Placeholder 2"/>
          <p:cNvSpPr>
            <a:spLocks noGrp="1"/>
          </p:cNvSpPr>
          <p:nvPr>
            <p:ph idx="1"/>
          </p:nvPr>
        </p:nvSpPr>
        <p:spPr>
          <a:xfrm>
            <a:off x="457200" y="1600200"/>
            <a:ext cx="8229600" cy="4800600"/>
          </a:xfrm>
        </p:spPr>
        <p:txBody>
          <a:bodyPr>
            <a:normAutofit fontScale="40000" lnSpcReduction="20000"/>
          </a:bodyPr>
          <a:lstStyle/>
          <a:p>
            <a:pPr>
              <a:buNone/>
            </a:pPr>
            <a:r>
              <a:rPr lang="en-US" sz="9600" dirty="0" smtClean="0">
                <a:latin typeface="Gloucester MT Extra Condensed"/>
                <a:cs typeface="Gloucester MT Extra Condensed"/>
              </a:rPr>
              <a:t>	</a:t>
            </a:r>
            <a:r>
              <a:rPr lang="en-US" sz="9600" dirty="0" smtClean="0">
                <a:latin typeface="Gloucester MT Extra Condensed"/>
                <a:cs typeface="Gloucester MT Extra Condensed"/>
              </a:rPr>
              <a:t>For </a:t>
            </a:r>
            <a:r>
              <a:rPr lang="en-US" sz="9600" dirty="0" smtClean="0">
                <a:latin typeface="Gloucester MT Extra Condensed"/>
                <a:cs typeface="Gloucester MT Extra Condensed"/>
              </a:rPr>
              <a:t>example, we make deposits into these accounts by being trustworthy and honest, giving people appreciation and recognition, keeping our word, being good listeners, not talking behind other people’s backs, using the simple courtesies of hello, please, thank you, I’m sorry, and so on.  We make withdrawals by being unkind, discourteous, breaking our promises and commitments, backstabbing others, being poor listeners, being puffed up and arrogant, and so on</a:t>
            </a:r>
            <a:r>
              <a:rPr lang="en-US" sz="9600" dirty="0" smtClean="0">
                <a:latin typeface="Gloucester MT Extra Condensed"/>
                <a:cs typeface="Gloucester MT Extra Condensed"/>
              </a:rPr>
              <a:t>.</a:t>
            </a:r>
            <a:r>
              <a:rPr lang="en-US" dirty="0" smtClean="0"/>
              <a:t> </a:t>
            </a:r>
            <a:endParaRPr lang="en-US" dirty="0" smtClean="0"/>
          </a:p>
          <a:p>
            <a:pPr>
              <a:buNone/>
            </a:pPr>
            <a:endParaRPr lang="en-US" dirty="0" smtClean="0"/>
          </a:p>
          <a:p>
            <a:pPr>
              <a:buNone/>
            </a:pPr>
            <a:r>
              <a:rPr lang="en-US" dirty="0" smtClean="0"/>
              <a:t>	</a:t>
            </a:r>
            <a:r>
              <a:rPr lang="en-US" dirty="0" smtClean="0"/>
              <a:t>Adapted </a:t>
            </a:r>
            <a:r>
              <a:rPr lang="en-US" dirty="0" smtClean="0"/>
              <a:t>from </a:t>
            </a:r>
            <a:r>
              <a:rPr lang="en-US" i="1" dirty="0" smtClean="0"/>
              <a:t>The Servant: A Simple Story About the True Essence of  Leadership by James C. Hunt </a:t>
            </a:r>
            <a:endParaRPr lang="en-US" dirty="0" smtClean="0"/>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a:solidFill>
            <a:schemeClr val="bg2">
              <a:lumMod val="90000"/>
            </a:schemeClr>
          </a:solidFill>
          <a:ln>
            <a:solidFill>
              <a:schemeClr val="tx1"/>
            </a:solidFill>
          </a:ln>
        </p:spPr>
        <p:txBody>
          <a:bodyPr>
            <a:normAutofit fontScale="90000"/>
          </a:bodyPr>
          <a:lstStyle/>
          <a:p>
            <a:r>
              <a:rPr lang="en-US" dirty="0">
                <a:latin typeface="Academy Engraved LET"/>
                <a:cs typeface="Academy Engraved LET"/>
              </a:rPr>
              <a:t>C</a:t>
            </a:r>
            <a:r>
              <a:rPr lang="en-US" dirty="0" smtClean="0">
                <a:latin typeface="Academy Engraved LET"/>
                <a:cs typeface="Academy Engraved LET"/>
              </a:rPr>
              <a:t>ivility</a:t>
            </a:r>
            <a:endParaRPr lang="en-US" dirty="0">
              <a:latin typeface="Academy Engraved LET"/>
              <a:cs typeface="Academy Engraved LET"/>
            </a:endParaRPr>
          </a:p>
        </p:txBody>
      </p:sp>
      <p:sp>
        <p:nvSpPr>
          <p:cNvPr id="3" name="Content Placeholder 2"/>
          <p:cNvSpPr>
            <a:spLocks noGrp="1"/>
          </p:cNvSpPr>
          <p:nvPr>
            <p:ph idx="1"/>
          </p:nvPr>
        </p:nvSpPr>
        <p:spPr>
          <a:xfrm>
            <a:off x="457200" y="914400"/>
            <a:ext cx="8229600" cy="5943600"/>
          </a:xfrm>
        </p:spPr>
        <p:txBody>
          <a:bodyPr>
            <a:normAutofit fontScale="92500" lnSpcReduction="10000"/>
          </a:bodyPr>
          <a:lstStyle/>
          <a:p>
            <a:pPr>
              <a:buNone/>
            </a:pPr>
            <a:r>
              <a:rPr lang="en-US" dirty="0" smtClean="0"/>
              <a:t>	</a:t>
            </a:r>
            <a:r>
              <a:rPr lang="en-US" dirty="0" smtClean="0">
                <a:latin typeface="Gloucester MT Extra Condensed"/>
                <a:cs typeface="Gloucester MT Extra Condensed"/>
              </a:rPr>
              <a:t>Civility</a:t>
            </a:r>
            <a:r>
              <a:rPr lang="en-US" dirty="0">
                <a:latin typeface="Gloucester MT Extra Condensed"/>
                <a:cs typeface="Gloucester MT Extra Condensed"/>
              </a:rPr>
              <a:t>...is the sum of the many sacrifices we are called to make for the sake of living together.  When we pretend that we travel alone, we can also pretend that these sacrifices are unnecessary. Yielding to this very human instinct for self-seeking... is often immoral, and certainly should not be done without forethought. We should make sacrifices for others not simply because doing so makes social life easier (although it does), but as a signal of respect for our fellow citizens, marking them as full equals, both before law and before God.  Rules of civility are thus also rules of morality; it is morally proper to treat our fellow citizens with respect, and morally improper not to.  Our crisis of civility, then is part of a larger crisis of morality.  And because morality is what distinguishes humans from other animals, the crisis is ultimately one of humanity. </a:t>
            </a:r>
            <a:r>
              <a:rPr lang="en-US" dirty="0" smtClean="0"/>
              <a:t> </a:t>
            </a:r>
            <a:r>
              <a:rPr lang="en-US" sz="2353" i="1" dirty="0" smtClean="0"/>
              <a:t>Taken </a:t>
            </a:r>
            <a:r>
              <a:rPr lang="en-US" sz="2353" i="1" dirty="0"/>
              <a:t>from Civility: Manners, Morals, and the Etiquette of Democracy by Stephen L. Carter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a:solidFill>
            <a:schemeClr val="bg2">
              <a:lumMod val="90000"/>
            </a:schemeClr>
          </a:solidFill>
          <a:ln>
            <a:solidFill>
              <a:schemeClr val="tx1"/>
            </a:solidFill>
          </a:ln>
        </p:spPr>
        <p:txBody>
          <a:bodyPr/>
          <a:lstStyle/>
          <a:p>
            <a:r>
              <a:rPr lang="en-US" dirty="0" smtClean="0">
                <a:latin typeface="Academy Engraved LET"/>
                <a:cs typeface="Academy Engraved LET"/>
              </a:rPr>
              <a:t>Duties Civility Imposes</a:t>
            </a:r>
            <a:endParaRPr lang="en-US" dirty="0">
              <a:latin typeface="Academy Engraved LET"/>
              <a:cs typeface="Academy Engraved LET"/>
            </a:endParaRPr>
          </a:p>
        </p:txBody>
      </p:sp>
      <p:sp>
        <p:nvSpPr>
          <p:cNvPr id="3" name="Content Placeholder 2"/>
          <p:cNvSpPr>
            <a:spLocks noGrp="1"/>
          </p:cNvSpPr>
          <p:nvPr>
            <p:ph idx="1"/>
          </p:nvPr>
        </p:nvSpPr>
        <p:spPr>
          <a:xfrm>
            <a:off x="457200" y="990600"/>
            <a:ext cx="8229600" cy="5867400"/>
          </a:xfrm>
        </p:spPr>
        <p:txBody>
          <a:bodyPr>
            <a:normAutofit fontScale="25000" lnSpcReduction="20000"/>
          </a:bodyPr>
          <a:lstStyle/>
          <a:p>
            <a:pPr>
              <a:buNone/>
            </a:pPr>
            <a:r>
              <a:rPr lang="en-US" sz="1600" dirty="0" smtClean="0">
                <a:latin typeface="Gloucester MT Extra Condensed"/>
                <a:cs typeface="Gloucester MT Extra Condensed"/>
              </a:rPr>
              <a:t>	</a:t>
            </a:r>
            <a:endParaRPr lang="en-US" sz="1600" dirty="0" smtClean="0">
              <a:latin typeface="Gloucester MT Extra Condensed"/>
              <a:cs typeface="Gloucester MT Extra Condensed"/>
            </a:endParaRPr>
          </a:p>
          <a:p>
            <a:pPr>
              <a:buNone/>
            </a:pPr>
            <a:r>
              <a:rPr lang="en-US" sz="1600" dirty="0" smtClean="0">
                <a:latin typeface="Gloucester MT Extra Condensed"/>
                <a:cs typeface="Gloucester MT Extra Condensed"/>
              </a:rPr>
              <a:t>	</a:t>
            </a:r>
            <a:r>
              <a:rPr lang="en-US" sz="10000" dirty="0" smtClean="0">
                <a:latin typeface="Gloucester MT Extra Condensed"/>
                <a:cs typeface="Gloucester MT Extra Condensed"/>
              </a:rPr>
              <a:t>1</a:t>
            </a:r>
            <a:r>
              <a:rPr lang="en-US" sz="10000" dirty="0">
                <a:latin typeface="Gloucester MT Extra Condensed"/>
                <a:cs typeface="Gloucester MT Extra Condensed"/>
              </a:rPr>
              <a:t>. Our duty to be civil toward others does not depend on whether we like them or not. </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2</a:t>
            </a:r>
            <a:r>
              <a:rPr lang="en-US" sz="10000" dirty="0">
                <a:latin typeface="Gloucester MT Extra Condensed"/>
                <a:cs typeface="Gloucester MT Extra Condensed"/>
              </a:rPr>
              <a:t>. Civility creates not merely a negative duty not to do harm, but an affirmative duty to do good. </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3</a:t>
            </a:r>
            <a:r>
              <a:rPr lang="en-US" sz="10000" dirty="0">
                <a:latin typeface="Gloucester MT Extra Condensed"/>
                <a:cs typeface="Gloucester MT Extra Condensed"/>
              </a:rPr>
              <a:t>. We must come to the presence of our fellow human beings with a sense of awe and gratitude. </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4</a:t>
            </a:r>
            <a:r>
              <a:rPr lang="en-US" sz="10000" dirty="0">
                <a:latin typeface="Gloucester MT Extra Condensed"/>
                <a:cs typeface="Gloucester MT Extra Condensed"/>
              </a:rPr>
              <a:t>. Civility assumes that we will disagree; it requires us not to mask our differences but to resolve them respectfully. </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5</a:t>
            </a:r>
            <a:r>
              <a:rPr lang="en-US" sz="10000" dirty="0">
                <a:latin typeface="Gloucester MT Extra Condensed"/>
                <a:cs typeface="Gloucester MT Extra Condensed"/>
              </a:rPr>
              <a:t>. Civility requires that we listen to others with the knowledge of the possibility that they are right and we are wrong</a:t>
            </a:r>
            <a:r>
              <a:rPr lang="en-US" sz="10000" dirty="0" smtClean="0">
                <a:latin typeface="Gloucester MT Extra Condensed"/>
                <a:cs typeface="Gloucester MT Extra Condensed"/>
              </a:rPr>
              <a:t>.</a:t>
            </a:r>
          </a:p>
          <a:p>
            <a:pPr>
              <a:buNone/>
            </a:pPr>
            <a:r>
              <a:rPr lang="en-US" sz="10000" dirty="0" smtClean="0">
                <a:latin typeface="Gloucester MT Extra Condensed"/>
                <a:cs typeface="Gloucester MT Extra Condensed"/>
              </a:rPr>
              <a:t>	</a:t>
            </a:r>
            <a:r>
              <a:rPr lang="en-US" sz="10000" dirty="0">
                <a:latin typeface="Gloucester MT Extra Condensed"/>
                <a:cs typeface="Gloucester MT Extra Condensed"/>
              </a:rPr>
              <a:t>6. Civility requires that we express ourselves in ways that demonstrate our respect for others. </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7</a:t>
            </a:r>
            <a:r>
              <a:rPr lang="en-US" sz="10000" dirty="0">
                <a:latin typeface="Gloucester MT Extra Condensed"/>
                <a:cs typeface="Gloucester MT Extra Condensed"/>
              </a:rPr>
              <a:t>. Civility allows criticism of others, and sometimes even requires it, but the criticism should always be civil.</a:t>
            </a:r>
            <a:r>
              <a:rPr lang="en-US" sz="10000" dirty="0" smtClean="0">
                <a:latin typeface="Gloucester MT Extra Condensed"/>
                <a:cs typeface="Gloucester MT Extra Condensed"/>
              </a:rPr>
              <a:t> </a:t>
            </a:r>
          </a:p>
          <a:p>
            <a:pPr>
              <a:buNone/>
            </a:pPr>
            <a:r>
              <a:rPr lang="en-US" sz="10000" dirty="0">
                <a:latin typeface="Gloucester MT Extra Condensed"/>
                <a:cs typeface="Gloucester MT Extra Condensed"/>
              </a:rPr>
              <a:t>	</a:t>
            </a:r>
            <a:r>
              <a:rPr lang="en-US" sz="10000" dirty="0" smtClean="0">
                <a:latin typeface="Gloucester MT Extra Condensed"/>
                <a:cs typeface="Gloucester MT Extra Condensed"/>
              </a:rPr>
              <a:t> </a:t>
            </a:r>
            <a:r>
              <a:rPr lang="en-US" sz="10000" dirty="0">
                <a:latin typeface="Gloucester MT Extra Condensed"/>
                <a:cs typeface="Gloucester MT Extra Condensed"/>
              </a:rPr>
              <a:t>8. Civility discourages the use of legislation rather than conversation to settle disputes, except as a last, carefully considered resort</a:t>
            </a:r>
            <a:r>
              <a:rPr lang="en-US" sz="10000" dirty="0" smtClean="0">
                <a:latin typeface="Gloucester MT Extra Condensed"/>
                <a:cs typeface="Gloucester MT Extra Condensed"/>
              </a:rPr>
              <a:t>.  </a:t>
            </a:r>
          </a:p>
          <a:p>
            <a:pPr>
              <a:buNone/>
            </a:pPr>
            <a:r>
              <a:rPr lang="en-US" sz="5600" dirty="0" smtClean="0"/>
              <a:t>	Taken </a:t>
            </a:r>
            <a:r>
              <a:rPr lang="en-US" sz="5600" dirty="0"/>
              <a:t>from </a:t>
            </a:r>
            <a:r>
              <a:rPr lang="en-US" sz="5600" i="1" dirty="0"/>
              <a:t>Civility: Manners, Morals, and the Etiquette of Democracy by Stephen L. Carter </a:t>
            </a:r>
            <a:r>
              <a:rPr lang="en-US" sz="5600" dirty="0" smtClean="0"/>
              <a:t> </a:t>
            </a:r>
            <a:endParaRPr lang="en-US" sz="5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a:solidFill>
            <a:schemeClr val="bg2">
              <a:lumMod val="90000"/>
            </a:schemeClr>
          </a:solidFill>
          <a:ln>
            <a:solidFill>
              <a:schemeClr val="tx1"/>
            </a:solidFill>
          </a:ln>
        </p:spPr>
        <p:txBody>
          <a:bodyPr>
            <a:noAutofit/>
          </a:bodyPr>
          <a:lstStyle/>
          <a:p>
            <a:r>
              <a:rPr lang="en-US" sz="3300" dirty="0" smtClean="0">
                <a:latin typeface="Academy Engraved LET"/>
                <a:cs typeface="Academy Engraved LET"/>
              </a:rPr>
              <a:t>Rules of Civility and Decent Behavior</a:t>
            </a:r>
            <a:endParaRPr lang="en-US" sz="3300" dirty="0">
              <a:latin typeface="Academy Engraved LET"/>
              <a:cs typeface="Academy Engraved LET"/>
            </a:endParaRPr>
          </a:p>
        </p:txBody>
      </p:sp>
      <p:sp>
        <p:nvSpPr>
          <p:cNvPr id="3" name="Content Placeholder 2"/>
          <p:cNvSpPr>
            <a:spLocks noGrp="1"/>
          </p:cNvSpPr>
          <p:nvPr>
            <p:ph idx="1"/>
          </p:nvPr>
        </p:nvSpPr>
        <p:spPr>
          <a:xfrm>
            <a:off x="457200" y="1066800"/>
            <a:ext cx="8229600" cy="5486400"/>
          </a:xfrm>
        </p:spPr>
        <p:txBody>
          <a:bodyPr>
            <a:normAutofit fontScale="92500"/>
          </a:bodyPr>
          <a:lstStyle/>
          <a:p>
            <a:pPr>
              <a:buNone/>
            </a:pPr>
            <a:r>
              <a:rPr lang="en-US" sz="1600" dirty="0"/>
              <a:t>	</a:t>
            </a:r>
            <a:r>
              <a:rPr lang="en-US" sz="2200" dirty="0" smtClean="0">
                <a:latin typeface="Gloucester MT Extra Condensed"/>
                <a:cs typeface="Gloucester MT Extra Condensed"/>
              </a:rPr>
              <a:t>1</a:t>
            </a:r>
            <a:r>
              <a:rPr lang="en-US" sz="2200" dirty="0">
                <a:latin typeface="Gloucester MT Extra Condensed"/>
                <a:cs typeface="Gloucester MT Extra Condensed"/>
              </a:rPr>
              <a:t>. Every action done in company ought to be with some sign of respect to those that are present. </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2</a:t>
            </a:r>
            <a:r>
              <a:rPr lang="en-US" sz="2200" dirty="0">
                <a:latin typeface="Gloucester MT Extra Condensed"/>
                <a:cs typeface="Gloucester MT Extra Condensed"/>
              </a:rPr>
              <a:t>. Shake not the head, feet, or legs; role not the eyes nor lift one eyebrow higher than the other; wry not the mouth; and bedew no man’s face with your spittle by approaching too near him when you speak. </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3</a:t>
            </a:r>
            <a:r>
              <a:rPr lang="en-US" sz="2200" dirty="0">
                <a:latin typeface="Gloucester MT Extra Condensed"/>
                <a:cs typeface="Gloucester MT Extra Condensed"/>
              </a:rPr>
              <a:t>. Turn not your back to others, especially in speaking; jog not the table or desk on which another reads or writes; lean not upon anyone.</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 </a:t>
            </a:r>
            <a:r>
              <a:rPr lang="en-US" sz="2200" dirty="0">
                <a:latin typeface="Gloucester MT Extra Condensed"/>
                <a:cs typeface="Gloucester MT Extra Condensed"/>
              </a:rPr>
              <a:t>4. Wherein you reprove another, be </a:t>
            </a:r>
            <a:r>
              <a:rPr lang="en-US" sz="2200" dirty="0" err="1">
                <a:latin typeface="Gloucester MT Extra Condensed"/>
                <a:cs typeface="Gloucester MT Extra Condensed"/>
              </a:rPr>
              <a:t>unblamable</a:t>
            </a:r>
            <a:r>
              <a:rPr lang="en-US" sz="2200" dirty="0">
                <a:latin typeface="Gloucester MT Extra Condensed"/>
                <a:cs typeface="Gloucester MT Extra Condensed"/>
              </a:rPr>
              <a:t> yourself, for example is more prevalent than precepts.</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 </a:t>
            </a:r>
            <a:r>
              <a:rPr lang="en-US" sz="2200" dirty="0">
                <a:latin typeface="Gloucester MT Extra Condensed"/>
                <a:cs typeface="Gloucester MT Extra Condensed"/>
              </a:rPr>
              <a:t>5. Use no reproachful language against anyone, neither curse nor revile</a:t>
            </a:r>
            <a:r>
              <a:rPr lang="en-US" sz="2200" dirty="0" smtClean="0">
                <a:latin typeface="Gloucester MT Extra Condensed"/>
                <a:cs typeface="Gloucester MT Extra Condensed"/>
              </a:rPr>
              <a:t>.</a:t>
            </a:r>
          </a:p>
          <a:p>
            <a:pPr>
              <a:buNone/>
            </a:pPr>
            <a:r>
              <a:rPr lang="en-US" sz="2200" dirty="0" smtClean="0">
                <a:latin typeface="Gloucester MT Extra Condensed"/>
                <a:cs typeface="Gloucester MT Extra Condensed"/>
              </a:rPr>
              <a:t>	</a:t>
            </a:r>
            <a:r>
              <a:rPr lang="en-US" sz="2200" dirty="0">
                <a:latin typeface="Gloucester MT Extra Condensed"/>
                <a:cs typeface="Gloucester MT Extra Condensed"/>
              </a:rPr>
              <a:t>6. Let your conversation be without malice or envy, for ‘tis a sign of a tractable and commendable nature; in all causes of passion admit reason to govern.</a:t>
            </a:r>
            <a:r>
              <a:rPr lang="en-US" sz="2200" dirty="0" smtClean="0">
                <a:latin typeface="Gloucester MT Extra Condensed"/>
                <a:cs typeface="Gloucester MT Extra Condensed"/>
              </a:rPr>
              <a:t> </a:t>
            </a:r>
          </a:p>
          <a:p>
            <a:pPr>
              <a:buNone/>
            </a:pPr>
            <a:r>
              <a:rPr lang="en-US" sz="2200" dirty="0" smtClean="0">
                <a:latin typeface="Gloucester MT Extra Condensed"/>
                <a:cs typeface="Gloucester MT Extra Condensed"/>
              </a:rPr>
              <a:t>	 </a:t>
            </a:r>
            <a:r>
              <a:rPr lang="en-US" sz="2200" dirty="0">
                <a:latin typeface="Gloucester MT Extra Condensed"/>
                <a:cs typeface="Gloucester MT Extra Condensed"/>
              </a:rPr>
              <a:t>7. Speak not injurious words, neither in jest nor earnest; scoff not at none although they give occasion. </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8</a:t>
            </a:r>
            <a:r>
              <a:rPr lang="en-US" sz="2200" dirty="0">
                <a:latin typeface="Gloucester MT Extra Condensed"/>
                <a:cs typeface="Gloucester MT Extra Condensed"/>
              </a:rPr>
              <a:t>. Think before you speak; pronounce not imperfectly, nor bring out your words too hastily, but orderly and distinctly. </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9</a:t>
            </a:r>
            <a:r>
              <a:rPr lang="en-US" sz="2200" dirty="0">
                <a:latin typeface="Gloucester MT Extra Condensed"/>
                <a:cs typeface="Gloucester MT Extra Condensed"/>
              </a:rPr>
              <a:t>. While you are speaking, point not your finger at whom you discourse, nor approach too near to whom you talk, especially to his face. </a:t>
            </a:r>
            <a:r>
              <a:rPr lang="en-US" sz="2200" dirty="0" smtClean="0">
                <a:latin typeface="Gloucester MT Extra Condensed"/>
                <a:cs typeface="Gloucester MT Extra Condensed"/>
              </a:rPr>
              <a:t> </a:t>
            </a:r>
          </a:p>
          <a:p>
            <a:pPr>
              <a:buNone/>
            </a:pPr>
            <a:r>
              <a:rPr lang="en-US" sz="2200" dirty="0">
                <a:latin typeface="Gloucester MT Extra Condensed"/>
                <a:cs typeface="Gloucester MT Extra Condensed"/>
              </a:rPr>
              <a:t>	</a:t>
            </a:r>
            <a:r>
              <a:rPr lang="en-US" sz="2200" dirty="0" smtClean="0">
                <a:latin typeface="Gloucester MT Extra Condensed"/>
                <a:cs typeface="Gloucester MT Extra Condensed"/>
              </a:rPr>
              <a:t>10</a:t>
            </a:r>
            <a:r>
              <a:rPr lang="en-US" sz="2200" dirty="0">
                <a:latin typeface="Gloucester MT Extra Condensed"/>
                <a:cs typeface="Gloucester MT Extra Condensed"/>
              </a:rPr>
              <a:t>. Speak not evil of the absent for it is unjust</a:t>
            </a:r>
            <a:r>
              <a:rPr lang="en-US" sz="2200" dirty="0" smtClean="0">
                <a:latin typeface="Gloucester MT Extra Condensed"/>
                <a:cs typeface="Gloucester MT Extra Condensed"/>
              </a:rPr>
              <a:t>.  </a:t>
            </a:r>
          </a:p>
          <a:p>
            <a:pPr>
              <a:buNone/>
            </a:pPr>
            <a:r>
              <a:rPr lang="en-US" sz="1600" dirty="0"/>
              <a:t>	</a:t>
            </a:r>
            <a:r>
              <a:rPr lang="en-US" sz="1600" dirty="0" smtClean="0"/>
              <a:t>George </a:t>
            </a:r>
            <a:r>
              <a:rPr lang="en-US" sz="1600" dirty="0"/>
              <a:t>Washington, first President of the United States of America </a:t>
            </a:r>
            <a:r>
              <a:rPr lang="en-US" sz="1600" dirty="0" smtClean="0"/>
              <a:t> </a:t>
            </a:r>
            <a:endParaRPr lang="en-US"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a:solidFill>
            <a:schemeClr val="bg2">
              <a:lumMod val="90000"/>
            </a:schemeClr>
          </a:solidFill>
          <a:ln>
            <a:solidFill>
              <a:schemeClr val="tx1"/>
            </a:solidFill>
          </a:ln>
        </p:spPr>
        <p:txBody>
          <a:bodyPr>
            <a:normAutofit/>
          </a:bodyPr>
          <a:lstStyle/>
          <a:p>
            <a:r>
              <a:rPr lang="en-US" dirty="0" smtClean="0">
                <a:latin typeface="Academy Engraved LET"/>
                <a:cs typeface="Academy Engraved LET"/>
              </a:rPr>
              <a:t>Thoughts on Respect</a:t>
            </a:r>
            <a:endParaRPr lang="en-US" dirty="0">
              <a:latin typeface="Academy Engraved LET"/>
              <a:cs typeface="Academy Engraved LET"/>
            </a:endParaRPr>
          </a:p>
        </p:txBody>
      </p:sp>
      <p:sp>
        <p:nvSpPr>
          <p:cNvPr id="3" name="Content Placeholder 2"/>
          <p:cNvSpPr>
            <a:spLocks noGrp="1"/>
          </p:cNvSpPr>
          <p:nvPr>
            <p:ph idx="1"/>
          </p:nvPr>
        </p:nvSpPr>
        <p:spPr>
          <a:xfrm>
            <a:off x="457200" y="762000"/>
            <a:ext cx="8229600" cy="6096000"/>
          </a:xfrm>
        </p:spPr>
        <p:txBody>
          <a:bodyPr>
            <a:normAutofit fontScale="40000" lnSpcReduction="20000"/>
          </a:bodyPr>
          <a:lstStyle/>
          <a:p>
            <a:r>
              <a:rPr lang="en-US" sz="6750" dirty="0">
                <a:latin typeface="Gloucester MT Extra Condensed"/>
                <a:cs typeface="Gloucester MT Extra Condensed"/>
              </a:rPr>
              <a:t>Some Things to Remember </a:t>
            </a:r>
            <a:r>
              <a:rPr lang="en-US" sz="6750" dirty="0" smtClean="0">
                <a:latin typeface="Gloucester MT Extra Condensed"/>
                <a:cs typeface="Gloucester MT Extra Condensed"/>
              </a:rPr>
              <a:t> </a:t>
            </a:r>
          </a:p>
          <a:p>
            <a:pPr>
              <a:buNone/>
            </a:pPr>
            <a:r>
              <a:rPr lang="en-US" sz="6750" dirty="0" smtClean="0">
                <a:latin typeface="Gloucester MT Extra Condensed"/>
                <a:cs typeface="Gloucester MT Extra Condensed"/>
              </a:rPr>
              <a:t>•	Each </a:t>
            </a:r>
            <a:r>
              <a:rPr lang="en-US" sz="6750" dirty="0">
                <a:latin typeface="Gloucester MT Extra Condensed"/>
                <a:cs typeface="Gloucester MT Extra Condensed"/>
              </a:rPr>
              <a:t>one of you has a story.  You don’t have to know what each other’s story entails.  All you have to do is acknowledge that each one has one: that there are probably lots of things each of you doesn’t understand about the other’s perspective, and that one of the reasons for you to talk with each other is that you learn more about each others’ views. </a:t>
            </a:r>
            <a:r>
              <a:rPr lang="en-US" sz="6750" dirty="0" smtClean="0">
                <a:latin typeface="Gloucester MT Extra Condensed"/>
                <a:cs typeface="Gloucester MT Extra Condensed"/>
              </a:rPr>
              <a:t> </a:t>
            </a:r>
          </a:p>
          <a:p>
            <a:pPr>
              <a:buNone/>
            </a:pPr>
            <a:r>
              <a:rPr lang="en-US" sz="6750" dirty="0" smtClean="0">
                <a:latin typeface="Gloucester MT Extra Condensed"/>
                <a:cs typeface="Gloucester MT Extra Condensed"/>
              </a:rPr>
              <a:t>• 	The </a:t>
            </a:r>
            <a:r>
              <a:rPr lang="en-US" sz="6750" dirty="0">
                <a:latin typeface="Gloucester MT Extra Condensed"/>
                <a:cs typeface="Gloucester MT Extra Condensed"/>
              </a:rPr>
              <a:t>single most important rule about managing an interaction is this: You cannot move the conversation in a more positive direction until the other person feels heard and understood.  And they won’t feel heard and understood until you’ve listened. </a:t>
            </a:r>
            <a:r>
              <a:rPr lang="en-US" sz="6750" dirty="0" smtClean="0">
                <a:latin typeface="Gloucester MT Extra Condensed"/>
                <a:cs typeface="Gloucester MT Extra Condensed"/>
              </a:rPr>
              <a:t> </a:t>
            </a:r>
          </a:p>
          <a:p>
            <a:pPr>
              <a:buNone/>
            </a:pPr>
            <a:r>
              <a:rPr lang="en-US" sz="6750" dirty="0" smtClean="0">
                <a:latin typeface="Gloucester MT Extra Condensed"/>
                <a:cs typeface="Gloucester MT Extra Condensed"/>
              </a:rPr>
              <a:t>• 	As </a:t>
            </a:r>
            <a:r>
              <a:rPr lang="en-US" sz="6750" dirty="0">
                <a:latin typeface="Gloucester MT Extra Condensed"/>
                <a:cs typeface="Gloucester MT Extra Condensed"/>
              </a:rPr>
              <a:t>you do so, however, it is imperative that you remember this fact: Each of you is the ultimate authority on you</a:t>
            </a:r>
            <a:r>
              <a:rPr lang="en-US" sz="6750" b="1" dirty="0">
                <a:latin typeface="Gloucester MT Extra Condensed"/>
                <a:cs typeface="Gloucester MT Extra Condensed"/>
              </a:rPr>
              <a:t> </a:t>
            </a:r>
            <a:r>
              <a:rPr lang="en-US" sz="6750" dirty="0">
                <a:latin typeface="Gloucester MT Extra Condensed"/>
                <a:cs typeface="Gloucester MT Extra Condensed"/>
              </a:rPr>
              <a:t>and only on you.  You are the expert on what you think, how you feel, and why you have come to this place.  If you think it or feel it, you are entitled to say it, and no one can legitimately contradict you.  You only get in trouble if you try to assert what you are not the final authority on – who is right, who intended what, what happened.   </a:t>
            </a:r>
            <a:r>
              <a:rPr lang="en-US" sz="6750" dirty="0" smtClean="0">
                <a:latin typeface="Gloucester MT Extra Condensed"/>
                <a:cs typeface="Gloucester MT Extra Condensed"/>
              </a:rPr>
              <a:t> </a:t>
            </a:r>
          </a:p>
          <a:p>
            <a:pPr>
              <a:buNone/>
            </a:pPr>
            <a:r>
              <a:rPr lang="en-US" b="1" dirty="0" smtClean="0">
                <a:latin typeface="Gloucester MT Extra Condensed"/>
                <a:cs typeface="Gloucester MT Extra Condensed"/>
              </a:rPr>
              <a:t>	</a:t>
            </a:r>
            <a:r>
              <a:rPr lang="en-US" sz="3500" dirty="0" smtClean="0">
                <a:latin typeface="+mj-lt"/>
                <a:cs typeface="Gloucester MT Extra Condensed"/>
              </a:rPr>
              <a:t>Adapted </a:t>
            </a:r>
            <a:r>
              <a:rPr lang="en-US" sz="3500" dirty="0">
                <a:latin typeface="+mj-lt"/>
                <a:cs typeface="Gloucester MT Extra Condensed"/>
              </a:rPr>
              <a:t>from </a:t>
            </a:r>
            <a:r>
              <a:rPr lang="en-US" sz="3500" i="1" dirty="0">
                <a:latin typeface="+mj-lt"/>
                <a:cs typeface="Gloucester MT Extra Condensed"/>
              </a:rPr>
              <a:t>Difficult Conversations: How to Discuss What Matters Most by Douglas Stone, Bruce Patton, and Sheila </a:t>
            </a:r>
            <a:r>
              <a:rPr lang="en-US" sz="3500" i="1" dirty="0" err="1">
                <a:latin typeface="+mj-lt"/>
                <a:cs typeface="Gloucester MT Extra Condensed"/>
              </a:rPr>
              <a:t>Heen</a:t>
            </a:r>
            <a:r>
              <a:rPr lang="en-US" sz="3500" i="1" dirty="0">
                <a:latin typeface="+mj-lt"/>
                <a:cs typeface="Gloucester MT Extra Condensed"/>
              </a:rPr>
              <a:t> </a:t>
            </a:r>
            <a:endParaRPr lang="en-US" sz="3500" dirty="0">
              <a:latin typeface="+mj-lt"/>
              <a:cs typeface="Gloucester MT Extra Condensed"/>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a:solidFill>
            <a:schemeClr val="bg2">
              <a:lumMod val="90000"/>
            </a:schemeClr>
          </a:solidFill>
          <a:ln>
            <a:solidFill>
              <a:schemeClr val="tx1"/>
            </a:solidFill>
          </a:ln>
        </p:spPr>
        <p:txBody>
          <a:bodyPr>
            <a:normAutofit/>
          </a:bodyPr>
          <a:lstStyle/>
          <a:p>
            <a:r>
              <a:rPr lang="en-US" dirty="0" smtClean="0">
                <a:latin typeface="Academy Engraved LET"/>
                <a:cs typeface="Academy Engraved LET"/>
              </a:rPr>
              <a:t>The Respectful Workplace</a:t>
            </a:r>
            <a:endParaRPr lang="en-US" dirty="0">
              <a:latin typeface="Academy Engraved LET"/>
              <a:cs typeface="Academy Engraved LET"/>
            </a:endParaRPr>
          </a:p>
        </p:txBody>
      </p:sp>
      <p:sp>
        <p:nvSpPr>
          <p:cNvPr id="3" name="Content Placeholder 2"/>
          <p:cNvSpPr>
            <a:spLocks noGrp="1"/>
          </p:cNvSpPr>
          <p:nvPr>
            <p:ph idx="1"/>
          </p:nvPr>
        </p:nvSpPr>
        <p:spPr>
          <a:xfrm>
            <a:off x="457200" y="914400"/>
            <a:ext cx="8229600" cy="5715000"/>
          </a:xfrm>
        </p:spPr>
        <p:txBody>
          <a:bodyPr>
            <a:noAutofit/>
          </a:bodyPr>
          <a:lstStyle/>
          <a:p>
            <a:r>
              <a:rPr lang="en-US" sz="2800" dirty="0" smtClean="0">
                <a:latin typeface="Gloucester MT Extra Condensed"/>
                <a:cs typeface="Gloucester MT Extra Condensed"/>
              </a:rPr>
              <a:t> </a:t>
            </a:r>
            <a:r>
              <a:rPr lang="en-US" sz="2400" dirty="0" smtClean="0">
                <a:latin typeface="Gloucester MT Extra Condensed"/>
                <a:cs typeface="Gloucester MT Extra Condensed"/>
              </a:rPr>
              <a:t>Acknowledge </a:t>
            </a:r>
            <a:r>
              <a:rPr lang="en-US" sz="2400" dirty="0">
                <a:latin typeface="Gloucester MT Extra Condensed"/>
                <a:cs typeface="Gloucester MT Extra Condensed"/>
              </a:rPr>
              <a:t>all individuals in a respectful manner.</a:t>
            </a:r>
            <a:r>
              <a:rPr lang="en-US" sz="2400" dirty="0" smtClean="0">
                <a:latin typeface="Gloucester MT Extra Condensed"/>
                <a:cs typeface="Gloucester MT Extra Condensed"/>
              </a:rPr>
              <a:t> </a:t>
            </a:r>
          </a:p>
          <a:p>
            <a:r>
              <a:rPr lang="en-US" sz="2400" dirty="0" smtClean="0">
                <a:latin typeface="Gloucester MT Extra Condensed"/>
                <a:cs typeface="Gloucester MT Extra Condensed"/>
              </a:rPr>
              <a:t> Listen </a:t>
            </a:r>
            <a:r>
              <a:rPr lang="en-US" sz="2400" dirty="0">
                <a:latin typeface="Gloucester MT Extra Condensed"/>
                <a:cs typeface="Gloucester MT Extra Condensed"/>
              </a:rPr>
              <a:t>to a person’s concerns as you think that </a:t>
            </a:r>
            <a:r>
              <a:rPr lang="en-US" sz="2400" dirty="0" err="1">
                <a:latin typeface="Gloucester MT Extra Condensed"/>
                <a:cs typeface="Gloucester MT Extra Condensed"/>
              </a:rPr>
              <a:t>s</a:t>
            </a:r>
            <a:r>
              <a:rPr lang="en-US" sz="2400" dirty="0">
                <a:latin typeface="Gloucester MT Extra Condensed"/>
                <a:cs typeface="Gloucester MT Extra Condensed"/>
              </a:rPr>
              <a:t>/he would like them to be listened to. </a:t>
            </a:r>
            <a:r>
              <a:rPr lang="en-US" sz="2400" dirty="0" smtClean="0">
                <a:latin typeface="Gloucester MT Extra Condensed"/>
                <a:cs typeface="Gloucester MT Extra Condensed"/>
              </a:rPr>
              <a:t> </a:t>
            </a:r>
          </a:p>
          <a:p>
            <a:r>
              <a:rPr lang="en-US" sz="2400" dirty="0" smtClean="0">
                <a:latin typeface="Gloucester MT Extra Condensed"/>
                <a:cs typeface="Gloucester MT Extra Condensed"/>
              </a:rPr>
              <a:t> </a:t>
            </a:r>
            <a:r>
              <a:rPr lang="en-US" sz="2400" dirty="0">
                <a:latin typeface="Gloucester MT Extra Condensed"/>
                <a:cs typeface="Gloucester MT Extra Condensed"/>
              </a:rPr>
              <a:t>Don’t try to impose your way of doing things, or your values, on others.</a:t>
            </a:r>
            <a:r>
              <a:rPr lang="en-US" sz="2400" dirty="0" smtClean="0">
                <a:latin typeface="Gloucester MT Extra Condensed"/>
                <a:cs typeface="Gloucester MT Extra Condensed"/>
              </a:rPr>
              <a:t> </a:t>
            </a:r>
            <a:endParaRPr lang="en-US" sz="2400" dirty="0">
              <a:latin typeface="Gloucester MT Extra Condensed"/>
              <a:cs typeface="Gloucester MT Extra Condensed"/>
            </a:endParaRPr>
          </a:p>
          <a:p>
            <a:r>
              <a:rPr lang="en-US" sz="2400" dirty="0" smtClean="0">
                <a:latin typeface="Gloucester MT Extra Condensed"/>
                <a:cs typeface="Gloucester MT Extra Condensed"/>
              </a:rPr>
              <a:t> </a:t>
            </a:r>
            <a:r>
              <a:rPr lang="en-US" sz="2400" dirty="0">
                <a:latin typeface="Gloucester MT Extra Condensed"/>
                <a:cs typeface="Gloucester MT Extra Condensed"/>
              </a:rPr>
              <a:t>Paraphrase and reflect on statements that are confusing to you or which you don’t understand. </a:t>
            </a:r>
            <a:r>
              <a:rPr lang="en-US" sz="2400" dirty="0" smtClean="0">
                <a:latin typeface="Gloucester MT Extra Condensed"/>
                <a:cs typeface="Gloucester MT Extra Condensed"/>
              </a:rPr>
              <a:t> </a:t>
            </a:r>
            <a:endParaRPr lang="en-US" sz="2400" dirty="0">
              <a:latin typeface="Gloucester MT Extra Condensed"/>
              <a:cs typeface="Gloucester MT Extra Condensed"/>
            </a:endParaRPr>
          </a:p>
          <a:p>
            <a:r>
              <a:rPr lang="en-US" sz="2400" dirty="0" smtClean="0">
                <a:latin typeface="Gloucester MT Extra Condensed"/>
                <a:cs typeface="Gloucester MT Extra Condensed"/>
              </a:rPr>
              <a:t>Acknowledge </a:t>
            </a:r>
            <a:r>
              <a:rPr lang="en-US" sz="2400" dirty="0">
                <a:latin typeface="Gloucester MT Extra Condensed"/>
                <a:cs typeface="Gloucester MT Extra Condensed"/>
              </a:rPr>
              <a:t>your own feelings honestly. </a:t>
            </a:r>
            <a:r>
              <a:rPr lang="en-US" sz="2400" dirty="0" smtClean="0">
                <a:latin typeface="Gloucester MT Extra Condensed"/>
                <a:cs typeface="Gloucester MT Extra Condensed"/>
              </a:rPr>
              <a:t> </a:t>
            </a:r>
          </a:p>
          <a:p>
            <a:r>
              <a:rPr lang="en-US" sz="2400" dirty="0" smtClean="0">
                <a:latin typeface="Gloucester MT Extra Condensed"/>
                <a:cs typeface="Gloucester MT Extra Condensed"/>
              </a:rPr>
              <a:t> </a:t>
            </a:r>
            <a:r>
              <a:rPr lang="en-US" sz="2400" dirty="0">
                <a:latin typeface="Gloucester MT Extra Condensed"/>
                <a:cs typeface="Gloucester MT Extra Condensed"/>
              </a:rPr>
              <a:t>Verbalize your concerns and let the other person know your boundaries. </a:t>
            </a:r>
            <a:r>
              <a:rPr lang="en-US" sz="2400" dirty="0" smtClean="0">
                <a:latin typeface="Gloucester MT Extra Condensed"/>
                <a:cs typeface="Gloucester MT Extra Condensed"/>
              </a:rPr>
              <a:t> </a:t>
            </a:r>
          </a:p>
          <a:p>
            <a:r>
              <a:rPr lang="en-US" sz="2400" dirty="0" smtClean="0">
                <a:latin typeface="Gloucester MT Extra Condensed"/>
                <a:cs typeface="Gloucester MT Extra Condensed"/>
              </a:rPr>
              <a:t> </a:t>
            </a:r>
            <a:r>
              <a:rPr lang="en-US" sz="2400" dirty="0">
                <a:latin typeface="Gloucester MT Extra Condensed"/>
                <a:cs typeface="Gloucester MT Extra Condensed"/>
              </a:rPr>
              <a:t>Don’t get involved in abusive situations.  Step </a:t>
            </a:r>
            <a:r>
              <a:rPr lang="en-US" sz="2400" dirty="0" smtClean="0">
                <a:latin typeface="Gloucester MT Extra Condensed"/>
                <a:cs typeface="Gloucester MT Extra Condensed"/>
              </a:rPr>
              <a:t>away</a:t>
            </a:r>
          </a:p>
          <a:p>
            <a:r>
              <a:rPr lang="en-US" sz="2400" dirty="0" smtClean="0">
                <a:latin typeface="Gloucester MT Extra Condensed"/>
                <a:cs typeface="Gloucester MT Extra Condensed"/>
              </a:rPr>
              <a:t>Don’t </a:t>
            </a:r>
            <a:r>
              <a:rPr lang="en-US" sz="2400" dirty="0">
                <a:latin typeface="Gloucester MT Extra Condensed"/>
                <a:cs typeface="Gloucester MT Extra Condensed"/>
              </a:rPr>
              <a:t>tolerate “put downs” of others for whatever reason.  State how inappropriate and unprofessional they are. </a:t>
            </a:r>
            <a:r>
              <a:rPr lang="en-US" sz="2400" dirty="0" smtClean="0">
                <a:latin typeface="Gloucester MT Extra Condensed"/>
                <a:cs typeface="Gloucester MT Extra Condensed"/>
              </a:rPr>
              <a:t> </a:t>
            </a:r>
            <a:endParaRPr lang="en-US" sz="2400" dirty="0">
              <a:latin typeface="Gloucester MT Extra Condensed"/>
              <a:cs typeface="Gloucester MT Extra Condensed"/>
            </a:endParaRPr>
          </a:p>
          <a:p>
            <a:r>
              <a:rPr lang="en-US" sz="2400" dirty="0" smtClean="0">
                <a:latin typeface="Gloucester MT Extra Condensed"/>
                <a:cs typeface="Gloucester MT Extra Condensed"/>
              </a:rPr>
              <a:t> </a:t>
            </a:r>
            <a:r>
              <a:rPr lang="en-US" sz="2400" dirty="0">
                <a:latin typeface="Gloucester MT Extra Condensed"/>
                <a:cs typeface="Gloucester MT Extra Condensed"/>
              </a:rPr>
              <a:t>Get help when you don’t know what to do.  </a:t>
            </a:r>
            <a:r>
              <a:rPr lang="en-US" sz="2400" dirty="0" smtClean="0">
                <a:latin typeface="Gloucester MT Extra Condensed"/>
                <a:cs typeface="Gloucester MT Extra Condensed"/>
              </a:rPr>
              <a:t> </a:t>
            </a:r>
            <a:endParaRPr lang="en-US" sz="2400" dirty="0" smtClean="0">
              <a:latin typeface="Gloucester MT Extra Condensed"/>
              <a:cs typeface="Gloucester MT Extra Condensed"/>
            </a:endParaRPr>
          </a:p>
          <a:p>
            <a:endParaRPr lang="en-US" sz="2400" dirty="0" smtClean="0"/>
          </a:p>
          <a:p>
            <a:pPr>
              <a:buNone/>
            </a:pPr>
            <a:r>
              <a:rPr lang="en-US" sz="1600" dirty="0" smtClean="0"/>
              <a:t>	Adapted  </a:t>
            </a:r>
            <a:r>
              <a:rPr lang="en-US" sz="1600" dirty="0"/>
              <a:t>from Program I – Opening the Right Doors –  of the video, </a:t>
            </a:r>
            <a:r>
              <a:rPr lang="en-US" sz="1600" i="1" dirty="0"/>
              <a:t>The Respectful Workplace </a:t>
            </a:r>
            <a:endParaRPr lang="en-US" sz="1600" dirty="0" smtClean="0"/>
          </a:p>
          <a:p>
            <a:pPr>
              <a:buNone/>
            </a:pP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a:solidFill>
            <a:schemeClr val="bg2">
              <a:lumMod val="90000"/>
            </a:schemeClr>
          </a:solidFill>
          <a:ln>
            <a:solidFill>
              <a:schemeClr val="tx1"/>
            </a:solidFill>
          </a:ln>
        </p:spPr>
        <p:txBody>
          <a:bodyPr>
            <a:normAutofit fontScale="90000"/>
          </a:bodyPr>
          <a:lstStyle/>
          <a:p>
            <a:r>
              <a:rPr lang="en-US" dirty="0" smtClean="0">
                <a:latin typeface="Academy Engraved LET"/>
                <a:cs typeface="Academy Engraved LET"/>
              </a:rPr>
              <a:t>Signs of a Civil and Respectful Environment</a:t>
            </a:r>
            <a:endParaRPr lang="en-US" dirty="0">
              <a:latin typeface="Academy Engraved LET"/>
              <a:cs typeface="Academy Engraved LET"/>
            </a:endParaRPr>
          </a:p>
        </p:txBody>
      </p:sp>
      <p:sp>
        <p:nvSpPr>
          <p:cNvPr id="3" name="Content Placeholder 2"/>
          <p:cNvSpPr>
            <a:spLocks noGrp="1"/>
          </p:cNvSpPr>
          <p:nvPr>
            <p:ph idx="1"/>
          </p:nvPr>
        </p:nvSpPr>
        <p:spPr>
          <a:xfrm>
            <a:off x="457200" y="1295400"/>
            <a:ext cx="8229600" cy="5181600"/>
          </a:xfrm>
        </p:spPr>
        <p:txBody>
          <a:bodyPr>
            <a:normAutofit fontScale="25000" lnSpcReduction="20000"/>
          </a:bodyPr>
          <a:lstStyle/>
          <a:p>
            <a:pPr>
              <a:buNone/>
            </a:pPr>
            <a:r>
              <a:rPr lang="en-US" dirty="0" smtClean="0"/>
              <a:t>	</a:t>
            </a:r>
            <a:r>
              <a:rPr lang="en-US" sz="8000" dirty="0" smtClean="0">
                <a:latin typeface="Gloucester MT Extra Condensed"/>
                <a:cs typeface="Gloucester MT Extra Condensed"/>
              </a:rPr>
              <a:t>1</a:t>
            </a:r>
            <a:r>
              <a:rPr lang="en-US" sz="8000" dirty="0">
                <a:latin typeface="Gloucester MT Extra Condensed"/>
                <a:cs typeface="Gloucester MT Extra Condensed"/>
              </a:rPr>
              <a:t>. People  receive credit for the good work that is done</a:t>
            </a:r>
            <a:r>
              <a:rPr lang="en-US" sz="8000" dirty="0" smtClean="0">
                <a:latin typeface="Gloucester MT Extra Condensed"/>
                <a:cs typeface="Gloucester MT Extra Condensed"/>
              </a:rPr>
              <a:t>.</a:t>
            </a:r>
          </a:p>
          <a:p>
            <a:pPr>
              <a:buNone/>
            </a:pPr>
            <a:r>
              <a:rPr lang="en-US" sz="8000" dirty="0" smtClean="0">
                <a:latin typeface="Gloucester MT Extra Condensed"/>
                <a:cs typeface="Gloucester MT Extra Condensed"/>
              </a:rPr>
              <a:t>	 </a:t>
            </a:r>
            <a:r>
              <a:rPr lang="en-US" sz="8000" dirty="0">
                <a:latin typeface="Gloucester MT Extra Condensed"/>
                <a:cs typeface="Gloucester MT Extra Condensed"/>
              </a:rPr>
              <a:t>2. Individuals take responsibility for their actions/behavior rather than making excuses or blaming others. </a:t>
            </a:r>
            <a:r>
              <a:rPr lang="en-US" sz="8000" dirty="0" smtClean="0">
                <a:latin typeface="Gloucester MT Extra Condensed"/>
                <a:cs typeface="Gloucester MT Extra Condensed"/>
              </a:rPr>
              <a:t> </a:t>
            </a:r>
          </a:p>
          <a:p>
            <a:pPr>
              <a:buNone/>
            </a:pPr>
            <a:r>
              <a:rPr lang="en-US" sz="8000" dirty="0" smtClean="0">
                <a:latin typeface="Gloucester MT Extra Condensed"/>
                <a:cs typeface="Gloucester MT Extra Condensed"/>
              </a:rPr>
              <a:t>	3</a:t>
            </a:r>
            <a:r>
              <a:rPr lang="en-US" sz="8000" dirty="0">
                <a:latin typeface="Gloucester MT Extra Condensed"/>
                <a:cs typeface="Gloucester MT Extra Condensed"/>
              </a:rPr>
              <a:t>. Individuals are committed to keeping each other informed and trust each other to pass along information appropriately. </a:t>
            </a:r>
            <a:r>
              <a:rPr lang="en-US" sz="8000" dirty="0" smtClean="0">
                <a:latin typeface="Gloucester MT Extra Condensed"/>
                <a:cs typeface="Gloucester MT Extra Condensed"/>
              </a:rPr>
              <a:t> </a:t>
            </a:r>
          </a:p>
          <a:p>
            <a:pPr>
              <a:buNone/>
            </a:pPr>
            <a:r>
              <a:rPr lang="en-US" sz="8000" dirty="0">
                <a:latin typeface="Gloucester MT Extra Condensed"/>
                <a:cs typeface="Gloucester MT Extra Condensed"/>
              </a:rPr>
              <a:t>	</a:t>
            </a:r>
            <a:r>
              <a:rPr lang="en-US" sz="8000" dirty="0" smtClean="0">
                <a:latin typeface="Gloucester MT Extra Condensed"/>
                <a:cs typeface="Gloucester MT Extra Condensed"/>
              </a:rPr>
              <a:t>4</a:t>
            </a:r>
            <a:r>
              <a:rPr lang="en-US" sz="8000" dirty="0">
                <a:latin typeface="Gloucester MT Extra Condensed"/>
                <a:cs typeface="Gloucester MT Extra Condensed"/>
              </a:rPr>
              <a:t>. People collaborate on important issues by seeking out each others opinions and expertise.</a:t>
            </a:r>
            <a:r>
              <a:rPr lang="en-US" sz="8000" dirty="0" smtClean="0">
                <a:latin typeface="Gloucester MT Extra Condensed"/>
                <a:cs typeface="Gloucester MT Extra Condensed"/>
              </a:rPr>
              <a:t> </a:t>
            </a:r>
          </a:p>
          <a:p>
            <a:pPr>
              <a:buNone/>
            </a:pPr>
            <a:r>
              <a:rPr lang="en-US" sz="8000" dirty="0">
                <a:latin typeface="Gloucester MT Extra Condensed"/>
                <a:cs typeface="Gloucester MT Extra Condensed"/>
              </a:rPr>
              <a:t>	</a:t>
            </a:r>
            <a:r>
              <a:rPr lang="en-US" sz="8000" dirty="0" smtClean="0">
                <a:latin typeface="Gloucester MT Extra Condensed"/>
                <a:cs typeface="Gloucester MT Extra Condensed"/>
              </a:rPr>
              <a:t> </a:t>
            </a:r>
            <a:r>
              <a:rPr lang="en-US" sz="8000" dirty="0">
                <a:latin typeface="Gloucester MT Extra Condensed"/>
                <a:cs typeface="Gloucester MT Extra Condensed"/>
              </a:rPr>
              <a:t>5. People talk in terms of “we” instead of creating “us and them” distinctions. </a:t>
            </a:r>
            <a:r>
              <a:rPr lang="en-US" sz="8000" dirty="0" smtClean="0">
                <a:latin typeface="Gloucester MT Extra Condensed"/>
                <a:cs typeface="Gloucester MT Extra Condensed"/>
              </a:rPr>
              <a:t> </a:t>
            </a:r>
          </a:p>
          <a:p>
            <a:pPr>
              <a:buNone/>
            </a:pPr>
            <a:r>
              <a:rPr lang="en-US" sz="8000" dirty="0">
                <a:latin typeface="Gloucester MT Extra Condensed"/>
                <a:cs typeface="Gloucester MT Extra Condensed"/>
              </a:rPr>
              <a:t>	</a:t>
            </a:r>
            <a:r>
              <a:rPr lang="en-US" sz="8000" dirty="0" smtClean="0">
                <a:latin typeface="Gloucester MT Extra Condensed"/>
                <a:cs typeface="Gloucester MT Extra Condensed"/>
              </a:rPr>
              <a:t>6</a:t>
            </a:r>
            <a:r>
              <a:rPr lang="en-US" sz="8000" dirty="0">
                <a:latin typeface="Gloucester MT Extra Condensed"/>
                <a:cs typeface="Gloucester MT Extra Condensed"/>
              </a:rPr>
              <a:t>. Individuals focus on the main issue or mission and don’t get sidetracked by differences in detail. </a:t>
            </a:r>
            <a:r>
              <a:rPr lang="en-US" sz="8000" dirty="0" smtClean="0">
                <a:latin typeface="Gloucester MT Extra Condensed"/>
                <a:cs typeface="Gloucester MT Extra Condensed"/>
              </a:rPr>
              <a:t> </a:t>
            </a:r>
          </a:p>
          <a:p>
            <a:pPr>
              <a:buNone/>
            </a:pPr>
            <a:r>
              <a:rPr lang="en-US" sz="8000" dirty="0">
                <a:latin typeface="Gloucester MT Extra Condensed"/>
                <a:cs typeface="Gloucester MT Extra Condensed"/>
              </a:rPr>
              <a:t>	</a:t>
            </a:r>
            <a:r>
              <a:rPr lang="en-US" sz="8000" dirty="0" smtClean="0">
                <a:latin typeface="Gloucester MT Extra Condensed"/>
                <a:cs typeface="Gloucester MT Extra Condensed"/>
              </a:rPr>
              <a:t>7</a:t>
            </a:r>
            <a:r>
              <a:rPr lang="en-US" sz="8000" dirty="0">
                <a:latin typeface="Gloucester MT Extra Condensed"/>
                <a:cs typeface="Gloucester MT Extra Condensed"/>
              </a:rPr>
              <a:t>. Individuals respect organizational structures and roles and don’t use them as weapons</a:t>
            </a:r>
            <a:r>
              <a:rPr lang="en-US" sz="8000" dirty="0" smtClean="0">
                <a:latin typeface="Gloucester MT Extra Condensed"/>
                <a:cs typeface="Gloucester MT Extra Condensed"/>
              </a:rPr>
              <a:t>.</a:t>
            </a:r>
          </a:p>
          <a:p>
            <a:pPr>
              <a:buNone/>
            </a:pPr>
            <a:r>
              <a:rPr lang="en-US" sz="8000" dirty="0" smtClean="0">
                <a:latin typeface="Gloucester MT Extra Condensed"/>
                <a:cs typeface="Gloucester MT Extra Condensed"/>
              </a:rPr>
              <a:t>	8</a:t>
            </a:r>
            <a:r>
              <a:rPr lang="en-US" sz="8000" dirty="0">
                <a:latin typeface="Gloucester MT Extra Condensed"/>
                <a:cs typeface="Gloucester MT Extra Condensed"/>
              </a:rPr>
              <a:t>. Individuals value each other’s background and experience rather than discrediting each other’s competence.</a:t>
            </a:r>
            <a:r>
              <a:rPr lang="en-US" sz="8000" dirty="0" smtClean="0">
                <a:latin typeface="Gloucester MT Extra Condensed"/>
                <a:cs typeface="Gloucester MT Extra Condensed"/>
              </a:rPr>
              <a:t> </a:t>
            </a:r>
          </a:p>
          <a:p>
            <a:pPr>
              <a:buNone/>
            </a:pPr>
            <a:r>
              <a:rPr lang="en-US" sz="8000" dirty="0" smtClean="0">
                <a:latin typeface="Gloucester MT Extra Condensed"/>
                <a:cs typeface="Gloucester MT Extra Condensed"/>
              </a:rPr>
              <a:t>	9</a:t>
            </a:r>
            <a:r>
              <a:rPr lang="en-US" sz="8000" dirty="0">
                <a:latin typeface="Gloucester MT Extra Condensed"/>
                <a:cs typeface="Gloucester MT Extra Condensed"/>
              </a:rPr>
              <a:t>. Concerns, criticisms, and conflicts are openly raised, are focused on methods for accomplishing the work, and are discussed in a respectful manner. </a:t>
            </a:r>
            <a:r>
              <a:rPr lang="en-US" sz="8000" dirty="0" smtClean="0">
                <a:latin typeface="Gloucester MT Extra Condensed"/>
                <a:cs typeface="Gloucester MT Extra Condensed"/>
              </a:rPr>
              <a:t> </a:t>
            </a:r>
          </a:p>
          <a:p>
            <a:pPr>
              <a:buNone/>
            </a:pPr>
            <a:r>
              <a:rPr lang="en-US" sz="8000" dirty="0">
                <a:latin typeface="Gloucester MT Extra Condensed"/>
                <a:cs typeface="Gloucester MT Extra Condensed"/>
              </a:rPr>
              <a:t>	</a:t>
            </a:r>
            <a:r>
              <a:rPr lang="en-US" sz="8000" dirty="0" smtClean="0">
                <a:latin typeface="Gloucester MT Extra Condensed"/>
                <a:cs typeface="Gloucester MT Extra Condensed"/>
              </a:rPr>
              <a:t>10</a:t>
            </a:r>
            <a:r>
              <a:rPr lang="en-US" sz="8000" dirty="0">
                <a:latin typeface="Gloucester MT Extra Condensed"/>
                <a:cs typeface="Gloucester MT Extra Condensed"/>
              </a:rPr>
              <a:t>. People speak positively about their work, the organization, and the future rather than negatively or expressing cynicism. </a:t>
            </a:r>
            <a:endParaRPr lang="en-US" sz="8000" dirty="0" smtClean="0">
              <a:latin typeface="Gloucester MT Extra Condensed"/>
              <a:cs typeface="Gloucester MT Extra Condensed"/>
            </a:endParaRPr>
          </a:p>
          <a:p>
            <a:pPr>
              <a:buNone/>
            </a:pPr>
            <a:endParaRPr lang="en-US" sz="5000" dirty="0" smtClean="0">
              <a:latin typeface="Gloucester MT Extra Condensed"/>
            </a:endParaRPr>
          </a:p>
          <a:p>
            <a:pPr>
              <a:buNone/>
            </a:pPr>
            <a:r>
              <a:rPr lang="en-US" sz="5000" dirty="0" smtClean="0">
                <a:latin typeface="Gloucester MT Extra Condensed"/>
              </a:rPr>
              <a:t>	</a:t>
            </a:r>
            <a:r>
              <a:rPr lang="en-US" sz="4400" dirty="0" smtClean="0"/>
              <a:t>Taken </a:t>
            </a:r>
            <a:r>
              <a:rPr lang="en-US" sz="4400" dirty="0" smtClean="0"/>
              <a:t>from </a:t>
            </a:r>
            <a:r>
              <a:rPr lang="en-US" sz="4400" i="1" dirty="0" smtClean="0"/>
              <a:t>Driving Fear From the Workplace by K. Ryan and D. </a:t>
            </a:r>
            <a:r>
              <a:rPr lang="en-US" sz="4400" i="1" dirty="0" err="1" smtClean="0"/>
              <a:t>Oestreich</a:t>
            </a:r>
            <a:r>
              <a:rPr lang="en-US" sz="4400" i="1" dirty="0" smtClean="0"/>
              <a:t> </a:t>
            </a:r>
            <a:endParaRPr lang="en-US" sz="4400" dirty="0" smtClean="0">
              <a:latin typeface="Gloucester MT Extra Condensed"/>
              <a:cs typeface="Gloucester MT Extra Condensed"/>
            </a:endParaRPr>
          </a:p>
          <a:p>
            <a:pPr>
              <a:buNone/>
            </a:pPr>
            <a:endParaRPr lang="en-US" sz="4364" dirty="0" smtClean="0"/>
          </a:p>
          <a:p>
            <a:pPr>
              <a:buNone/>
            </a:pPr>
            <a:r>
              <a:rPr lang="en-US" sz="1600" dirty="0"/>
              <a:t>	</a:t>
            </a:r>
            <a:endParaRPr lang="en-US" sz="2900" dirty="0">
              <a:latin typeface="Gloucester MT Extra Condensed"/>
              <a:cs typeface="Gloucester MT Extra Condensed"/>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66800"/>
          </a:xfrm>
          <a:solidFill>
            <a:schemeClr val="bg2">
              <a:lumMod val="90000"/>
            </a:schemeClr>
          </a:solidFill>
          <a:ln>
            <a:solidFill>
              <a:schemeClr val="tx1"/>
            </a:solidFill>
          </a:ln>
        </p:spPr>
        <p:txBody>
          <a:bodyPr>
            <a:normAutofit/>
          </a:bodyPr>
          <a:lstStyle/>
          <a:p>
            <a:r>
              <a:rPr lang="en-US" dirty="0" smtClean="0">
                <a:latin typeface="Academy Engraved LET"/>
                <a:cs typeface="Academy Engraved LET"/>
              </a:rPr>
              <a:t>Promoting</a:t>
            </a:r>
            <a:r>
              <a:rPr lang="en-US" i="1" dirty="0" smtClean="0">
                <a:latin typeface="Academy Engraved LET"/>
                <a:cs typeface="Academy Engraved LET"/>
              </a:rPr>
              <a:t> RESPECT</a:t>
            </a:r>
            <a:endParaRPr lang="en-US" dirty="0">
              <a:latin typeface="Academy Engraved LET"/>
              <a:cs typeface="Academy Engraved LET"/>
            </a:endParaRPr>
          </a:p>
        </p:txBody>
      </p:sp>
      <p:sp>
        <p:nvSpPr>
          <p:cNvPr id="3" name="Content Placeholder 2"/>
          <p:cNvSpPr>
            <a:spLocks noGrp="1"/>
          </p:cNvSpPr>
          <p:nvPr>
            <p:ph idx="1"/>
          </p:nvPr>
        </p:nvSpPr>
        <p:spPr>
          <a:xfrm>
            <a:off x="457200" y="1371600"/>
            <a:ext cx="8229600" cy="5257800"/>
          </a:xfrm>
        </p:spPr>
        <p:txBody>
          <a:bodyPr>
            <a:normAutofit lnSpcReduction="10000"/>
          </a:bodyPr>
          <a:lstStyle/>
          <a:p>
            <a:pPr>
              <a:buNone/>
            </a:pPr>
            <a:r>
              <a:rPr lang="en-US" dirty="0" smtClean="0"/>
              <a:t>	</a:t>
            </a:r>
            <a:endParaRPr lang="en-US" dirty="0" smtClean="0"/>
          </a:p>
          <a:p>
            <a:pPr>
              <a:buNone/>
            </a:pPr>
            <a:r>
              <a:rPr lang="en-US" sz="3300" b="1" dirty="0" smtClean="0">
                <a:latin typeface="Gloucester MT Extra Condensed"/>
                <a:cs typeface="Gloucester MT Extra Condensed"/>
              </a:rPr>
              <a:t>	</a:t>
            </a:r>
            <a:r>
              <a:rPr lang="en-US" sz="3300" b="1" dirty="0" smtClean="0">
                <a:latin typeface="Gloucester MT Extra Condensed"/>
                <a:cs typeface="Gloucester MT Extra Condensed"/>
              </a:rPr>
              <a:t>R</a:t>
            </a:r>
            <a:r>
              <a:rPr lang="en-US" sz="3300" dirty="0" smtClean="0">
                <a:latin typeface="Gloucester MT Extra Condensed"/>
                <a:cs typeface="Gloucester MT Extra Condensed"/>
              </a:rPr>
              <a:t>ecognize </a:t>
            </a:r>
            <a:r>
              <a:rPr lang="en-US" sz="3300" dirty="0">
                <a:latin typeface="Gloucester MT Extra Condensed"/>
                <a:cs typeface="Gloucester MT Extra Condensed"/>
              </a:rPr>
              <a:t>the inherent worth of all with whom you work. </a:t>
            </a:r>
            <a:r>
              <a:rPr lang="en-US" sz="3300" dirty="0" smtClean="0">
                <a:latin typeface="Gloucester MT Extra Condensed"/>
                <a:cs typeface="Gloucester MT Extra Condensed"/>
              </a:rPr>
              <a:t> </a:t>
            </a:r>
          </a:p>
          <a:p>
            <a:pPr>
              <a:buNone/>
            </a:pPr>
            <a:r>
              <a:rPr lang="en-US" sz="3300" dirty="0">
                <a:latin typeface="Gloucester MT Extra Condensed"/>
                <a:cs typeface="Gloucester MT Extra Condensed"/>
              </a:rPr>
              <a:t>	</a:t>
            </a:r>
            <a:r>
              <a:rPr lang="en-US" sz="3300" b="1" dirty="0" smtClean="0">
                <a:latin typeface="Gloucester MT Extra Condensed"/>
                <a:cs typeface="Gloucester MT Extra Condensed"/>
              </a:rPr>
              <a:t>E</a:t>
            </a:r>
            <a:r>
              <a:rPr lang="en-US" sz="3300" dirty="0" smtClean="0">
                <a:latin typeface="Gloucester MT Extra Condensed"/>
                <a:cs typeface="Gloucester MT Extra Condensed"/>
              </a:rPr>
              <a:t>liminate </a:t>
            </a:r>
            <a:r>
              <a:rPr lang="en-US" sz="3300" dirty="0">
                <a:latin typeface="Gloucester MT Extra Condensed"/>
                <a:cs typeface="Gloucester MT Extra Condensed"/>
              </a:rPr>
              <a:t>derogatory words and phrases from  your vocabulary. </a:t>
            </a:r>
            <a:r>
              <a:rPr lang="en-US" sz="3300" dirty="0" smtClean="0">
                <a:latin typeface="Gloucester MT Extra Condensed"/>
                <a:cs typeface="Gloucester MT Extra Condensed"/>
              </a:rPr>
              <a:t> </a:t>
            </a:r>
          </a:p>
          <a:p>
            <a:pPr>
              <a:buNone/>
            </a:pPr>
            <a:r>
              <a:rPr lang="en-US" sz="3300" dirty="0">
                <a:latin typeface="Gloucester MT Extra Condensed"/>
                <a:cs typeface="Gloucester MT Extra Condensed"/>
              </a:rPr>
              <a:t>	</a:t>
            </a:r>
            <a:r>
              <a:rPr lang="en-US" sz="3300" b="1" dirty="0" smtClean="0">
                <a:latin typeface="Gloucester MT Extra Condensed"/>
                <a:cs typeface="Gloucester MT Extra Condensed"/>
              </a:rPr>
              <a:t>S</a:t>
            </a:r>
            <a:r>
              <a:rPr lang="en-US" sz="3300" dirty="0" smtClean="0">
                <a:latin typeface="Gloucester MT Extra Condensed"/>
                <a:cs typeface="Gloucester MT Extra Condensed"/>
              </a:rPr>
              <a:t>peak </a:t>
            </a:r>
            <a:r>
              <a:rPr lang="en-US" sz="3300" dirty="0">
                <a:latin typeface="Gloucester MT Extra Condensed"/>
                <a:cs typeface="Gloucester MT Extra Condensed"/>
              </a:rPr>
              <a:t>with people – not at them – or about them.  </a:t>
            </a:r>
            <a:r>
              <a:rPr lang="en-US" sz="3300" dirty="0" smtClean="0">
                <a:latin typeface="Gloucester MT Extra Condensed"/>
                <a:cs typeface="Gloucester MT Extra Condensed"/>
              </a:rPr>
              <a:t> </a:t>
            </a:r>
          </a:p>
          <a:p>
            <a:pPr>
              <a:buNone/>
            </a:pPr>
            <a:r>
              <a:rPr lang="en-US" sz="3300" dirty="0">
                <a:latin typeface="Gloucester MT Extra Condensed"/>
                <a:cs typeface="Gloucester MT Extra Condensed"/>
              </a:rPr>
              <a:t>	</a:t>
            </a:r>
            <a:r>
              <a:rPr lang="en-US" sz="3300" b="1" dirty="0" smtClean="0">
                <a:latin typeface="Gloucester MT Extra Condensed"/>
                <a:cs typeface="Gloucester MT Extra Condensed"/>
              </a:rPr>
              <a:t>P</a:t>
            </a:r>
            <a:r>
              <a:rPr lang="en-US" sz="3300" dirty="0" smtClean="0">
                <a:latin typeface="Gloucester MT Extra Condensed"/>
                <a:cs typeface="Gloucester MT Extra Condensed"/>
              </a:rPr>
              <a:t>ractice </a:t>
            </a:r>
            <a:r>
              <a:rPr lang="en-US" sz="3300" dirty="0">
                <a:latin typeface="Gloucester MT Extra Condensed"/>
                <a:cs typeface="Gloucester MT Extra Condensed"/>
              </a:rPr>
              <a:t>empathy.  Walk </a:t>
            </a:r>
            <a:r>
              <a:rPr lang="en-US" sz="3300" dirty="0" smtClean="0">
                <a:latin typeface="Gloucester MT Extra Condensed"/>
                <a:cs typeface="Gloucester MT Extra Condensed"/>
              </a:rPr>
              <a:t>a while </a:t>
            </a:r>
            <a:r>
              <a:rPr lang="en-US" sz="3300" dirty="0">
                <a:latin typeface="Gloucester MT Extra Condensed"/>
                <a:cs typeface="Gloucester MT Extra Condensed"/>
              </a:rPr>
              <a:t>in others’ shoes. </a:t>
            </a:r>
            <a:r>
              <a:rPr lang="en-US" sz="3300" dirty="0" smtClean="0">
                <a:latin typeface="Gloucester MT Extra Condensed"/>
                <a:cs typeface="Gloucester MT Extra Condensed"/>
              </a:rPr>
              <a:t> </a:t>
            </a:r>
          </a:p>
          <a:p>
            <a:pPr>
              <a:buNone/>
            </a:pPr>
            <a:r>
              <a:rPr lang="en-US" sz="3300" dirty="0">
                <a:latin typeface="Gloucester MT Extra Condensed"/>
                <a:cs typeface="Gloucester MT Extra Condensed"/>
              </a:rPr>
              <a:t>	</a:t>
            </a:r>
            <a:r>
              <a:rPr lang="en-US" sz="3300" b="1" dirty="0" smtClean="0">
                <a:latin typeface="Gloucester MT Extra Condensed"/>
                <a:cs typeface="Gloucester MT Extra Condensed"/>
              </a:rPr>
              <a:t>E</a:t>
            </a:r>
            <a:r>
              <a:rPr lang="en-US" sz="3300" dirty="0" smtClean="0">
                <a:latin typeface="Gloucester MT Extra Condensed"/>
                <a:cs typeface="Gloucester MT Extra Condensed"/>
              </a:rPr>
              <a:t>arn </a:t>
            </a:r>
            <a:r>
              <a:rPr lang="en-US" sz="3300" dirty="0">
                <a:latin typeface="Gloucester MT Extra Condensed"/>
                <a:cs typeface="Gloucester MT Extra Condensed"/>
              </a:rPr>
              <a:t>the respect of colleagues and co-workers through your behaviors. </a:t>
            </a:r>
            <a:r>
              <a:rPr lang="en-US" sz="3300" dirty="0" smtClean="0">
                <a:latin typeface="Gloucester MT Extra Condensed"/>
                <a:cs typeface="Gloucester MT Extra Condensed"/>
              </a:rPr>
              <a:t> </a:t>
            </a:r>
          </a:p>
          <a:p>
            <a:pPr>
              <a:buNone/>
            </a:pPr>
            <a:r>
              <a:rPr lang="en-US" sz="3300" dirty="0">
                <a:latin typeface="Gloucester MT Extra Condensed"/>
                <a:cs typeface="Gloucester MT Extra Condensed"/>
              </a:rPr>
              <a:t>	</a:t>
            </a:r>
            <a:r>
              <a:rPr lang="en-US" sz="3300" b="1" dirty="0" smtClean="0">
                <a:latin typeface="Gloucester MT Extra Condensed"/>
                <a:cs typeface="Gloucester MT Extra Condensed"/>
              </a:rPr>
              <a:t>C</a:t>
            </a:r>
            <a:r>
              <a:rPr lang="en-US" sz="3300" dirty="0" smtClean="0">
                <a:latin typeface="Gloucester MT Extra Condensed"/>
                <a:cs typeface="Gloucester MT Extra Condensed"/>
              </a:rPr>
              <a:t>onsider </a:t>
            </a:r>
            <a:r>
              <a:rPr lang="en-US" sz="3300" dirty="0">
                <a:latin typeface="Gloucester MT Extra Condensed"/>
                <a:cs typeface="Gloucester MT Extra Condensed"/>
              </a:rPr>
              <a:t>your impact on others before speaking and acting. </a:t>
            </a:r>
            <a:r>
              <a:rPr lang="en-US" sz="3300" dirty="0" smtClean="0">
                <a:latin typeface="Gloucester MT Extra Condensed"/>
                <a:cs typeface="Gloucester MT Extra Condensed"/>
              </a:rPr>
              <a:t> </a:t>
            </a:r>
          </a:p>
          <a:p>
            <a:pPr>
              <a:buNone/>
            </a:pPr>
            <a:r>
              <a:rPr lang="en-US" sz="3300" dirty="0" smtClean="0">
                <a:latin typeface="Gloucester MT Extra Condensed"/>
                <a:cs typeface="Gloucester MT Extra Condensed"/>
              </a:rPr>
              <a:t>	</a:t>
            </a:r>
            <a:r>
              <a:rPr lang="en-US" sz="3300" b="1" dirty="0" smtClean="0">
                <a:latin typeface="Gloucester MT Extra Condensed"/>
                <a:cs typeface="Gloucester MT Extra Condensed"/>
              </a:rPr>
              <a:t>T</a:t>
            </a:r>
            <a:r>
              <a:rPr lang="en-US" sz="3300" dirty="0" smtClean="0">
                <a:latin typeface="Gloucester MT Extra Condensed"/>
                <a:cs typeface="Gloucester MT Extra Condensed"/>
              </a:rPr>
              <a:t>reat </a:t>
            </a:r>
            <a:r>
              <a:rPr lang="en-US" sz="3300" dirty="0">
                <a:latin typeface="Gloucester MT Extra Condensed"/>
                <a:cs typeface="Gloucester MT Extra Condensed"/>
              </a:rPr>
              <a:t>everyone with dignity and courtesy.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te animals.jpg"/>
          <p:cNvPicPr>
            <a:picLocks noGrp="1" noChangeAspect="1"/>
          </p:cNvPicPr>
          <p:nvPr>
            <p:ph idx="1"/>
          </p:nvPr>
        </p:nvPicPr>
        <p:blipFill>
          <a:blip r:embed="rId2"/>
          <a:stretch>
            <a:fillRect/>
          </a:stretch>
        </p:blipFill>
        <p:spPr>
          <a:xfrm>
            <a:off x="762000" y="228600"/>
            <a:ext cx="8001000" cy="5571296"/>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teanimals2.jpg"/>
          <p:cNvPicPr>
            <a:picLocks noGrp="1" noChangeAspect="1"/>
          </p:cNvPicPr>
          <p:nvPr>
            <p:ph idx="1"/>
          </p:nvPr>
        </p:nvPicPr>
        <p:blipFill>
          <a:blip r:embed="rId2"/>
          <a:stretch>
            <a:fillRect/>
          </a:stretch>
        </p:blipFill>
        <p:spPr>
          <a:xfrm>
            <a:off x="1546286" y="1600200"/>
            <a:ext cx="6051427" cy="4525963"/>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teanimals3.jpg"/>
          <p:cNvPicPr>
            <a:picLocks noGrp="1" noChangeAspect="1"/>
          </p:cNvPicPr>
          <p:nvPr>
            <p:ph idx="1"/>
          </p:nvPr>
        </p:nvPicPr>
        <p:blipFill>
          <a:blip r:embed="rId2"/>
          <a:stretch>
            <a:fillRect/>
          </a:stretch>
        </p:blipFill>
        <p:spPr>
          <a:xfrm>
            <a:off x="1554479" y="838200"/>
            <a:ext cx="7058993" cy="5283549"/>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teanimals.jpg"/>
          <p:cNvPicPr>
            <a:picLocks noGrp="1" noChangeAspect="1"/>
          </p:cNvPicPr>
          <p:nvPr>
            <p:ph idx="1"/>
          </p:nvPr>
        </p:nvPicPr>
        <p:blipFill>
          <a:blip r:embed="rId2"/>
          <a:stretch>
            <a:fillRect/>
          </a:stretch>
        </p:blipFill>
        <p:spPr>
          <a:xfrm>
            <a:off x="914400" y="685800"/>
            <a:ext cx="7282865" cy="5440363"/>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teanimals4"/>
          <p:cNvPicPr>
            <a:picLocks noGrp="1" noChangeAspect="1"/>
          </p:cNvPicPr>
          <p:nvPr>
            <p:ph idx="1"/>
          </p:nvPr>
        </p:nvPicPr>
        <p:blipFill>
          <a:blip r:embed="rId2"/>
          <a:stretch>
            <a:fillRect/>
          </a:stretch>
        </p:blipFill>
        <p:spPr>
          <a:xfrm>
            <a:off x="2640612" y="381164"/>
            <a:ext cx="4903188" cy="5745000"/>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TotalTime>
  <Words>177</Words>
  <Application>Microsoft Office PowerPoint</Application>
  <PresentationFormat>On-screen Show (4:3)</PresentationFormat>
  <Paragraphs>97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Practicing Civility, Promoting Respect</vt:lpstr>
      <vt:lpstr>Needing Each Other </vt:lpstr>
      <vt:lpstr>Social Capital</vt:lpstr>
      <vt:lpstr>Social Capital</vt:lpstr>
      <vt:lpstr>Maintaining Relational Accounts</vt:lpstr>
      <vt:lpstr>Maintaining Relational Accounts</vt:lpstr>
      <vt:lpstr>Civility</vt:lpstr>
      <vt:lpstr>Duties Civility Imposes</vt:lpstr>
      <vt:lpstr>Rules of Civility and Decent Behavior</vt:lpstr>
      <vt:lpstr>Thoughts on Respect</vt:lpstr>
      <vt:lpstr>The Respectful Workplace</vt:lpstr>
      <vt:lpstr>Signs of a Civil and Respectful Environment</vt:lpstr>
      <vt:lpstr>Promoting RESPECT</vt:lpstr>
      <vt:lpstr>Slide 14</vt:lpstr>
      <vt:lpstr>Slide 15</vt:lpstr>
      <vt:lpstr>Slide 16</vt:lpstr>
      <vt:lpstr>Slide 17</vt:lpstr>
      <vt:lpstr>Slide 18</vt:lpstr>
    </vt:vector>
  </TitlesOfParts>
  <Company>Peabody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Practicing Civility, Promoting Respect</dc:title>
  <dc:creator>J M</dc:creator>
  <cp:lastModifiedBy>owner</cp:lastModifiedBy>
  <cp:revision>23</cp:revision>
  <dcterms:created xsi:type="dcterms:W3CDTF">2012-01-12T15:37:01Z</dcterms:created>
  <dcterms:modified xsi:type="dcterms:W3CDTF">2012-01-23T02:54:54Z</dcterms:modified>
</cp:coreProperties>
</file>