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720" r:id="rId2"/>
    <p:sldId id="718" r:id="rId3"/>
    <p:sldId id="714" r:id="rId4"/>
    <p:sldId id="669" r:id="rId5"/>
    <p:sldId id="719" r:id="rId6"/>
    <p:sldId id="716" r:id="rId7"/>
    <p:sldId id="715" r:id="rId8"/>
    <p:sldId id="692" r:id="rId9"/>
    <p:sldId id="713" r:id="rId10"/>
    <p:sldId id="717" r:id="rId11"/>
    <p:sldId id="705" r:id="rId12"/>
    <p:sldId id="706" r:id="rId13"/>
    <p:sldId id="711" r:id="rId14"/>
    <p:sldId id="703" r:id="rId15"/>
    <p:sldId id="704" r:id="rId16"/>
    <p:sldId id="707" r:id="rId17"/>
    <p:sldId id="709" r:id="rId18"/>
    <p:sldId id="710" r:id="rId19"/>
    <p:sldId id="712" r:id="rId20"/>
    <p:sldId id="721" r:id="rId21"/>
    <p:sldId id="722" r:id="rId22"/>
    <p:sldId id="723" r:id="rId23"/>
    <p:sldId id="724" r:id="rId24"/>
    <p:sldId id="725" r:id="rId25"/>
    <p:sldId id="726" r:id="rId2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BB6"/>
    <a:srgbClr val="FFD5D5"/>
    <a:srgbClr val="FFCCFF"/>
    <a:srgbClr val="FF9999"/>
    <a:srgbClr val="FF5050"/>
    <a:srgbClr val="CC0000"/>
    <a:srgbClr val="99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4" autoAdjust="0"/>
    <p:restoredTop sz="92744" autoAdjust="0"/>
  </p:normalViewPr>
  <p:slideViewPr>
    <p:cSldViewPr showGuides="1">
      <p:cViewPr varScale="1">
        <p:scale>
          <a:sx n="112" d="100"/>
          <a:sy n="112" d="100"/>
        </p:scale>
        <p:origin x="-824" y="-120"/>
      </p:cViewPr>
      <p:guideLst>
        <p:guide orient="horz" pos="104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2021" y="-91"/>
      </p:cViewPr>
      <p:guideLst>
        <p:guide orient="horz" pos="2928"/>
        <p:guide pos="2208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Relationship Id="rId2" Type="http://schemas.openxmlformats.org/officeDocument/2006/relationships/image" Target="../media/image14.emf"/><Relationship Id="rId3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057376-9FD5-4144-937F-5B9EC438EE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30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02E63BD-A48D-2E44-8C48-7533A868A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851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9ED31-BF20-B442-B751-2D49824929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8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E67F5-53DA-D448-9ED5-558329811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C0D34-4B21-CC4D-82EE-2FE7B6983D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8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42E6D-88A8-5540-BD37-565EF72B70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1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F8254-4312-454E-8DB4-73DD0D8F63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A9E1F-C2B5-4146-931B-158340C7B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9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A850-926A-9044-832C-A1CA8F238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3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4E2B0-6C2C-2A45-9795-6181C51BC1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FE828-7869-3F44-AEC5-935A2E9ED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6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7B0E3-C26C-644F-8DBD-2CA2AFEF90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8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7A1A3-0ECE-3148-86BE-5F018ABBBF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9EFC11A-9EF8-9F4A-B48B-5FF64F2766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" charset="-128"/>
          <a:cs typeface="ＭＳ Ｐゴシック" pitchFamily="-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" charset="-128"/>
          <a:cs typeface="ＭＳ Ｐゴシック" pitchFamily="-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" charset="-128"/>
          <a:cs typeface="ＭＳ Ｐゴシック" pitchFamily="-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" charset="-128"/>
          <a:cs typeface="ＭＳ Ｐゴシック" pitchFamily="-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" charset="-128"/>
          <a:cs typeface="ＭＳ Ｐゴシック" pitchFamily="-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" charset="-128"/>
          <a:cs typeface="ＭＳ Ｐゴシック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9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0.wmf"/><Relationship Id="rId5" Type="http://schemas.openxmlformats.org/officeDocument/2006/relationships/image" Target="../media/image11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2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6" Type="http://schemas.openxmlformats.org/officeDocument/2006/relationships/image" Target="../media/image14.emf"/><Relationship Id="rId7" Type="http://schemas.openxmlformats.org/officeDocument/2006/relationships/oleObject" Target="../embeddings/oleObject8.bin"/><Relationship Id="rId8" Type="http://schemas.openxmlformats.org/officeDocument/2006/relationships/image" Target="../media/image15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C1BBF58-8416-B24A-9BC8-F0F15BD07F3C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6063" y="773113"/>
            <a:ext cx="8610600" cy="2917825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  <a:t>Introduction to </a:t>
            </a:r>
            <a:br>
              <a:rPr 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</a:br>
            <a:r>
              <a:rPr 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  <a:t>Quantum Information Processing</a:t>
            </a:r>
            <a:r>
              <a:rPr lang="en-US" sz="4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  <a:t/>
            </a:r>
            <a:br>
              <a:rPr lang="en-US" sz="4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</a:br>
            <a:r>
              <a:rPr lang="en-US" sz="2800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  <a:t>QIC 710 / CS </a:t>
            </a:r>
            <a:r>
              <a:rPr 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cs typeface="+mj-cs"/>
              </a:rPr>
              <a:t>667 / PH 767 / CO 681 / AM 871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08100" y="4491038"/>
            <a:ext cx="6400800" cy="18986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sz="2800" b="1">
                <a:latin typeface="Arial" charset="0"/>
              </a:rPr>
              <a:t>Richard Cleve </a:t>
            </a:r>
          </a:p>
          <a:p>
            <a:pPr algn="l" eaLnBrk="1" hangingPunct="1">
              <a:lnSpc>
                <a:spcPct val="90000"/>
              </a:lnSpc>
            </a:pPr>
            <a:r>
              <a:rPr lang="en-US" sz="2800">
                <a:latin typeface="Arial" charset="0"/>
              </a:rPr>
              <a:t>DC 2117 / RAC 2211</a:t>
            </a:r>
          </a:p>
          <a:p>
            <a:pPr algn="l" eaLnBrk="1" hangingPunct="1">
              <a:lnSpc>
                <a:spcPct val="90000"/>
              </a:lnSpc>
            </a:pPr>
            <a:r>
              <a:rPr lang="en-US" sz="2800">
                <a:latin typeface="Arial" charset="0"/>
              </a:rPr>
              <a:t>cleve@cs.uwaterloo.ca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384300" y="3656013"/>
            <a:ext cx="64008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smtClean="0"/>
              <a:t>Lecture </a:t>
            </a:r>
            <a:r>
              <a:rPr lang="en-US" sz="3200" b="1" dirty="0" smtClean="0"/>
              <a:t>22 </a:t>
            </a:r>
            <a:r>
              <a:rPr lang="en-US" sz="3200" b="1" dirty="0"/>
              <a:t>(2012)</a:t>
            </a:r>
          </a:p>
        </p:txBody>
      </p:sp>
    </p:spTree>
    <p:extLst>
      <p:ext uri="{BB962C8B-B14F-4D97-AF65-F5344CB8AC3E}">
        <p14:creationId xmlns:p14="http://schemas.microsoft.com/office/powerpoint/2010/main" val="27489489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D926BF8-0B52-704B-A5B3-9A047312DEC0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1">
              <a:effectLst>
                <a:outerShdw blurRad="38100" dist="38100" dir="2700000" algn="tl">
                  <a:srgbClr val="DDDDDD"/>
                </a:outerShdw>
              </a:effectLst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1088" y="2667000"/>
            <a:ext cx="6831012" cy="2128838"/>
          </a:xfrm>
          <a:solidFill>
            <a:srgbClr val="B2B2B2"/>
          </a:solidFill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66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 Classical error correcting codes</a:t>
            </a:r>
            <a:endParaRPr lang="en-US" sz="300">
              <a:solidFill>
                <a:srgbClr val="C0C0C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4"/>
          <p:cNvSpPr>
            <a:spLocks noGrp="1"/>
          </p:cNvSpPr>
          <p:nvPr>
            <p:ph type="title"/>
          </p:nvPr>
        </p:nvSpPr>
        <p:spPr>
          <a:xfrm>
            <a:off x="457200" y="1651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Binary symmetric channel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A813FDB-9277-FD41-861A-E6506D283428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17411" name="TextBox 188"/>
          <p:cNvSpPr txBox="1">
            <a:spLocks noChangeArrowheads="1"/>
          </p:cNvSpPr>
          <p:nvPr/>
        </p:nvSpPr>
        <p:spPr bwMode="auto">
          <a:xfrm>
            <a:off x="304800" y="1138238"/>
            <a:ext cx="8745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Each bit that goes through it has probability </a:t>
            </a:r>
            <a:r>
              <a:rPr lang="en-US" sz="2400">
                <a:solidFill>
                  <a:srgbClr val="000000"/>
                </a:solidFill>
                <a:cs typeface="Times New Roman" charset="0"/>
                <a:sym typeface="Symbol" charset="0"/>
              </a:rPr>
              <a:t></a:t>
            </a:r>
            <a:r>
              <a:rPr lang="en-US" sz="2400"/>
              <a:t> of being flipped</a:t>
            </a:r>
          </a:p>
        </p:txBody>
      </p:sp>
      <p:sp>
        <p:nvSpPr>
          <p:cNvPr id="17412" name="TextBox 188"/>
          <p:cNvSpPr txBox="1">
            <a:spLocks noChangeArrowheads="1"/>
          </p:cNvSpPr>
          <p:nvPr/>
        </p:nvSpPr>
        <p:spPr bwMode="auto">
          <a:xfrm>
            <a:off x="304800" y="1600200"/>
            <a:ext cx="8745538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u="sng"/>
              <a:t>3-bit repetition code:</a:t>
            </a:r>
          </a:p>
          <a:p>
            <a:pPr eaLnBrk="1" hangingPunct="1"/>
            <a:endParaRPr lang="en-US" sz="800" b="1" u="sng"/>
          </a:p>
          <a:p>
            <a:pPr eaLnBrk="1" hangingPunct="1">
              <a:buFontTx/>
              <a:buChar char="•"/>
            </a:pPr>
            <a:r>
              <a:rPr lang="en-US" sz="2400"/>
              <a:t>Encode each bit 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/>
              <a:t> as </a:t>
            </a:r>
            <a:r>
              <a:rPr lang="en-US" sz="2400" i="1">
                <a:latin typeface="Times New Roman" charset="0"/>
                <a:cs typeface="Times New Roman" charset="0"/>
              </a:rPr>
              <a:t>bbb</a:t>
            </a:r>
          </a:p>
          <a:p>
            <a:pPr eaLnBrk="1" hangingPunct="1">
              <a:buFontTx/>
              <a:buChar char="•"/>
            </a:pPr>
            <a:r>
              <a:rPr lang="en-US" sz="2400"/>
              <a:t>Decode each received message 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3</a:t>
            </a:r>
            <a:r>
              <a:rPr lang="en-US" sz="2400"/>
              <a:t> as </a:t>
            </a:r>
            <a:r>
              <a:rPr lang="en-US" sz="2400">
                <a:latin typeface="Times New Roman" charset="0"/>
                <a:cs typeface="Times New Roman" charset="0"/>
              </a:rPr>
              <a:t>majority</a:t>
            </a:r>
            <a:r>
              <a:rPr lang="en-US" sz="2400"/>
              <a:t>(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/>
              <a:t>,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/>
              <a:t>,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3</a:t>
            </a:r>
            <a:r>
              <a:rPr lang="en-US" sz="2400"/>
              <a:t>)</a:t>
            </a:r>
          </a:p>
          <a:p>
            <a:pPr eaLnBrk="1" hangingPunct="1">
              <a:buFontTx/>
              <a:buChar char="•"/>
            </a:pPr>
            <a:endParaRPr lang="en-US" sz="1100"/>
          </a:p>
          <a:p>
            <a:pPr eaLnBrk="1" hangingPunct="1"/>
            <a:r>
              <a:rPr lang="en-US" sz="2400"/>
              <a:t>This reduces the effective error probability per data bit to  </a:t>
            </a:r>
            <a:r>
              <a:rPr lang="en-US" sz="2400">
                <a:latin typeface="Times New Roman" charset="0"/>
                <a:cs typeface="Times New Roman" charset="0"/>
              </a:rPr>
              <a:t>3</a:t>
            </a:r>
            <a:r>
              <a:rPr lang="en-US" sz="2400">
                <a:solidFill>
                  <a:srgbClr val="000000"/>
                </a:solidFill>
                <a:cs typeface="Times New Roman" charset="0"/>
                <a:sym typeface="Symbol" charset="0"/>
              </a:rPr>
              <a:t></a:t>
            </a:r>
            <a:r>
              <a:rPr lang="en-US" sz="2400" baseline="30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  </a:t>
            </a:r>
            <a:r>
              <a:rPr lang="en-US" sz="2400"/>
              <a:t>at a cost of tripling the message length (</a:t>
            </a:r>
            <a:r>
              <a:rPr lang="ja-JP" altLang="en-US" sz="2400"/>
              <a:t>“</a:t>
            </a:r>
            <a:r>
              <a:rPr lang="en-US" altLang="ja-JP" sz="2400"/>
              <a:t>rate</a:t>
            </a:r>
            <a:r>
              <a:rPr lang="ja-JP" altLang="en-US" sz="2400"/>
              <a:t>”</a:t>
            </a:r>
            <a:r>
              <a:rPr lang="en-US" altLang="ja-JP" sz="2400"/>
              <a:t> is </a:t>
            </a:r>
            <a:r>
              <a:rPr lang="en-US" altLang="ja-JP" sz="2400">
                <a:latin typeface="Times New Roman" charset="0"/>
                <a:cs typeface="Times New Roman" charset="0"/>
              </a:rPr>
              <a:t>1/3</a:t>
            </a:r>
            <a:r>
              <a:rPr lang="en-US" altLang="ja-JP" sz="2400"/>
              <a:t>).</a:t>
            </a:r>
            <a:endParaRPr lang="en-US" sz="2400"/>
          </a:p>
        </p:txBody>
      </p:sp>
      <p:sp>
        <p:nvSpPr>
          <p:cNvPr id="17413" name="TextBox 188"/>
          <p:cNvSpPr txBox="1">
            <a:spLocks noChangeArrowheads="1"/>
          </p:cNvSpPr>
          <p:nvPr/>
        </p:nvSpPr>
        <p:spPr bwMode="auto">
          <a:xfrm>
            <a:off x="304800" y="3886200"/>
            <a:ext cx="8348663" cy="1754188"/>
          </a:xfrm>
          <a:prstGeom prst="rect">
            <a:avLst/>
          </a:prstGeom>
          <a:solidFill>
            <a:srgbClr val="FFFBB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u="sng"/>
              <a:t>A theorem about </a:t>
            </a:r>
            <a:r>
              <a:rPr lang="ja-JP" altLang="en-US" sz="2400" b="1" u="sng"/>
              <a:t>“</a:t>
            </a:r>
            <a:r>
              <a:rPr lang="en-US" altLang="ja-JP" sz="2400" b="1" u="sng"/>
              <a:t>good</a:t>
            </a:r>
            <a:r>
              <a:rPr lang="ja-JP" altLang="en-US" sz="2400" b="1" u="sng"/>
              <a:t>”</a:t>
            </a:r>
            <a:r>
              <a:rPr lang="en-US" altLang="ja-JP" sz="2400" b="1" u="sng"/>
              <a:t> classical codes: </a:t>
            </a:r>
          </a:p>
          <a:p>
            <a:pPr eaLnBrk="1" hangingPunct="1"/>
            <a:endParaRPr lang="en-US" sz="400" b="1" u="sng"/>
          </a:p>
          <a:p>
            <a:pPr eaLnBrk="1" hangingPunct="1"/>
            <a:r>
              <a:rPr lang="en-US" sz="2400"/>
              <a:t>For all  </a:t>
            </a:r>
            <a:r>
              <a:rPr lang="en-US" sz="2400">
                <a:solidFill>
                  <a:srgbClr val="000000"/>
                </a:solidFill>
                <a:cs typeface="Times New Roman" charset="0"/>
                <a:sym typeface="Symbol" charset="0"/>
              </a:rPr>
              <a:t></a:t>
            </a:r>
            <a:r>
              <a:rPr lang="en-US" sz="2400">
                <a:latin typeface="Times New Roman" charset="0"/>
                <a:cs typeface="Times New Roman" charset="0"/>
              </a:rPr>
              <a:t> &lt; 1/2</a:t>
            </a:r>
            <a:r>
              <a:rPr lang="en-US" sz="2400"/>
              <a:t>,  there exist encoding and decoding functions</a:t>
            </a:r>
          </a:p>
          <a:p>
            <a:pPr eaLnBrk="1" hangingPunct="1"/>
            <a:r>
              <a:rPr lang="en-US" sz="2400" i="1">
                <a:latin typeface="Times New Roman" charset="0"/>
                <a:cs typeface="Times New Roman" charset="0"/>
              </a:rPr>
              <a:t>E</a:t>
            </a:r>
            <a:r>
              <a:rPr lang="en-US" sz="2400">
                <a:latin typeface="Times New Roman" charset="0"/>
                <a:cs typeface="Times New Roman" charset="0"/>
              </a:rPr>
              <a:t>:{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n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sym typeface="Wingdings" charset="0"/>
              </a:rPr>
              <a:t>   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>
                <a:cs typeface="Times New Roman" charset="0"/>
              </a:rPr>
              <a:t>  </a:t>
            </a:r>
            <a:r>
              <a:rPr lang="en-US" sz="2400"/>
              <a:t>and  </a:t>
            </a:r>
            <a:r>
              <a:rPr lang="en-US" sz="2400" i="1"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latin typeface="Times New Roman" charset="0"/>
                <a:cs typeface="Times New Roman" charset="0"/>
              </a:rPr>
              <a:t>:{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>
                <a:cs typeface="Times New Roman" charset="0"/>
              </a:rPr>
              <a:t>     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n</a:t>
            </a:r>
            <a:r>
              <a:rPr lang="en-US" sz="2400">
                <a:cs typeface="Times New Roman" charset="0"/>
              </a:rPr>
              <a:t>  </a:t>
            </a:r>
            <a:r>
              <a:rPr lang="en-US" sz="2400"/>
              <a:t>such that </a:t>
            </a:r>
            <a:r>
              <a:rPr lang="en-US" sz="2800" i="1">
                <a:latin typeface="Times New Roman" charset="0"/>
                <a:cs typeface="Times New Roman" charset="0"/>
              </a:rPr>
              <a:t>m/n</a:t>
            </a:r>
            <a:r>
              <a:rPr lang="en-US" sz="2400"/>
              <a:t> is constant and the probability of </a:t>
            </a:r>
            <a:r>
              <a:rPr lang="en-US" sz="2400" b="1" i="1"/>
              <a:t>any</a:t>
            </a:r>
            <a:r>
              <a:rPr lang="en-US" sz="2400"/>
              <a:t> errors      0 as </a:t>
            </a:r>
            <a:r>
              <a:rPr lang="en-US" sz="2800" i="1">
                <a:latin typeface="Times New Roman" charset="0"/>
                <a:cs typeface="Times New Roman" charset="0"/>
              </a:rPr>
              <a:t>n</a:t>
            </a:r>
            <a:r>
              <a:rPr lang="en-US" sz="2400">
                <a:sym typeface="Wingdings" charset="0"/>
              </a:rPr>
              <a:t> </a:t>
            </a:r>
            <a:endParaRPr lang="en-US" sz="2400"/>
          </a:p>
        </p:txBody>
      </p:sp>
      <p:sp>
        <p:nvSpPr>
          <p:cNvPr id="17414" name="TextBox 188"/>
          <p:cNvSpPr txBox="1">
            <a:spLocks noChangeArrowheads="1"/>
          </p:cNvSpPr>
          <p:nvPr/>
        </p:nvSpPr>
        <p:spPr bwMode="auto">
          <a:xfrm>
            <a:off x="304800" y="5791200"/>
            <a:ext cx="8745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>
                <a:latin typeface="Times New Roman" charset="0"/>
                <a:cs typeface="Times New Roman" charset="0"/>
              </a:rPr>
              <a:t>n/m</a:t>
            </a:r>
            <a:r>
              <a:rPr lang="en-US" sz="2400"/>
              <a:t> is the </a:t>
            </a:r>
            <a:r>
              <a:rPr lang="ja-JP" altLang="en-US" sz="2400"/>
              <a:t>“</a:t>
            </a:r>
            <a:r>
              <a:rPr lang="en-US" altLang="ja-JP" sz="2400"/>
              <a:t>rate</a:t>
            </a:r>
            <a:r>
              <a:rPr lang="ja-JP" altLang="en-US" sz="2400"/>
              <a:t>”</a:t>
            </a:r>
            <a:r>
              <a:rPr lang="en-US" altLang="ja-JP" sz="2400"/>
              <a:t> of the code (reciprocal of message expansion)</a:t>
            </a:r>
            <a:endParaRPr lang="en-US" sz="2400"/>
          </a:p>
        </p:txBody>
      </p:sp>
      <p:pic>
        <p:nvPicPr>
          <p:cNvPr id="17415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5334000"/>
            <a:ext cx="73342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302250"/>
            <a:ext cx="3048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902200"/>
            <a:ext cx="3349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Picture 1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913" y="4881563"/>
            <a:ext cx="369887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38CEE66-2D58-C746-970B-8C8C1ED9D2A3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1">
              <a:effectLst>
                <a:outerShdw blurRad="38100" dist="38100" dir="2700000" algn="tl">
                  <a:srgbClr val="DDDDDD"/>
                </a:outerShdw>
              </a:effectLst>
              <a:ea typeface="+mj-ea"/>
              <a:cs typeface="+mj-cs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667000"/>
            <a:ext cx="7010400" cy="990600"/>
          </a:xfrm>
          <a:solidFill>
            <a:srgbClr val="B2B2B2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6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 Shor</a:t>
            </a:r>
            <a:r>
              <a:rPr lang="en-CA" sz="6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sz="6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s 9-qubit code</a:t>
            </a:r>
            <a:endParaRPr lang="en-US" sz="100">
              <a:solidFill>
                <a:srgbClr val="C0C0C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4"/>
          <p:cNvSpPr>
            <a:spLocks noGrp="1"/>
          </p:cNvSpPr>
          <p:nvPr>
            <p:ph type="title"/>
          </p:nvPr>
        </p:nvSpPr>
        <p:spPr>
          <a:xfrm>
            <a:off x="457200" y="1651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3-qubit code for one </a:t>
            </a:r>
            <a:r>
              <a:rPr lang="en-US" b="1" i="1"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-error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5BA0971-32EA-1F40-9781-A4FAE4F7D549}" type="slidenum">
              <a:rPr lang="en-US" sz="1400"/>
              <a:pPr eaLnBrk="1" hangingPunct="1"/>
              <a:t>5</a:t>
            </a:fld>
            <a:endParaRPr lang="en-US" sz="140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2743200" y="2662238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95600" y="27384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932113" y="239712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2857500" y="28527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00400" y="31194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3236913" y="239553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rot="5400000">
            <a:off x="4648200" y="2662238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800600" y="27384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837113" y="239712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152900" y="28527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495800" y="31194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4532313" y="239553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5140325" y="277971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5140325" y="316071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03" name="Straight Connector 102"/>
          <p:cNvCxnSpPr/>
          <p:nvPr/>
        </p:nvCxnSpPr>
        <p:spPr>
          <a:xfrm rot="5400000">
            <a:off x="4762500" y="27765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5105400" y="23574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9475" name="TextBox 130"/>
          <p:cNvSpPr txBox="1">
            <a:spLocks noChangeArrowheads="1"/>
          </p:cNvSpPr>
          <p:nvPr/>
        </p:nvSpPr>
        <p:spPr bwMode="auto">
          <a:xfrm>
            <a:off x="2632075" y="3295650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encode</a:t>
            </a:r>
            <a:endParaRPr lang="en-CA"/>
          </a:p>
        </p:txBody>
      </p:sp>
      <p:sp>
        <p:nvSpPr>
          <p:cNvPr id="19476" name="TextBox 131"/>
          <p:cNvSpPr txBox="1">
            <a:spLocks noChangeArrowheads="1"/>
          </p:cNvSpPr>
          <p:nvPr/>
        </p:nvSpPr>
        <p:spPr bwMode="auto">
          <a:xfrm>
            <a:off x="4419600" y="3295650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decode</a:t>
            </a:r>
            <a:endParaRPr lang="en-CA"/>
          </a:p>
        </p:txBody>
      </p:sp>
      <p:sp>
        <p:nvSpPr>
          <p:cNvPr id="19477" name="TextBox 132"/>
          <p:cNvSpPr txBox="1">
            <a:spLocks noChangeArrowheads="1"/>
          </p:cNvSpPr>
          <p:nvPr/>
        </p:nvSpPr>
        <p:spPr bwMode="auto">
          <a:xfrm>
            <a:off x="169863" y="3962400"/>
            <a:ext cx="8212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Error can be any one of:    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X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X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X</a:t>
            </a:r>
            <a:endParaRPr lang="en-US" sz="2400">
              <a:cs typeface="Times New Roman" charset="0"/>
            </a:endParaRPr>
          </a:p>
        </p:txBody>
      </p:sp>
      <p:sp>
        <p:nvSpPr>
          <p:cNvPr id="19478" name="TextBox 133"/>
          <p:cNvSpPr txBox="1">
            <a:spLocks noChangeArrowheads="1"/>
          </p:cNvSpPr>
          <p:nvPr/>
        </p:nvSpPr>
        <p:spPr bwMode="auto">
          <a:xfrm>
            <a:off x="169863" y="5029200"/>
            <a:ext cx="88217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essential property is that, in each case, the data </a:t>
            </a:r>
            <a:r>
              <a:rPr lang="en-US" sz="2400">
                <a:sym typeface="Symbol" charset="0"/>
              </a:rPr>
              <a:t>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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r>
              <a:rPr lang="en-US" sz="2400">
                <a:cs typeface="Times New Roman" charset="0"/>
              </a:rPr>
              <a:t>is shielded from (i.e., unaffected by) the error </a:t>
            </a:r>
            <a:endParaRPr lang="en-CA" sz="2400">
              <a:cs typeface="Times New Roman" charset="0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3657600" y="24384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3657600" y="28194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3657600" y="32004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82" name="TextBox 147"/>
          <p:cNvSpPr txBox="1">
            <a:spLocks noChangeArrowheads="1"/>
          </p:cNvSpPr>
          <p:nvPr/>
        </p:nvSpPr>
        <p:spPr bwMode="auto">
          <a:xfrm>
            <a:off x="3581400" y="3295650"/>
            <a:ext cx="725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error</a:t>
            </a:r>
            <a:endParaRPr lang="en-CA">
              <a:solidFill>
                <a:srgbClr val="FF0000"/>
              </a:solidFill>
            </a:endParaRPr>
          </a:p>
        </p:txBody>
      </p:sp>
      <p:sp>
        <p:nvSpPr>
          <p:cNvPr id="19483" name="Rectangle 148"/>
          <p:cNvSpPr>
            <a:spLocks noChangeArrowheads="1"/>
          </p:cNvSpPr>
          <p:nvPr/>
        </p:nvSpPr>
        <p:spPr bwMode="auto">
          <a:xfrm>
            <a:off x="1371600" y="2209800"/>
            <a:ext cx="1325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9484" name="Rectangle 149"/>
          <p:cNvSpPr>
            <a:spLocks noChangeArrowheads="1"/>
          </p:cNvSpPr>
          <p:nvPr/>
        </p:nvSpPr>
        <p:spPr bwMode="auto">
          <a:xfrm>
            <a:off x="2233613" y="2590800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9485" name="Rectangle 150"/>
          <p:cNvSpPr>
            <a:spLocks noChangeArrowheads="1"/>
          </p:cNvSpPr>
          <p:nvPr/>
        </p:nvSpPr>
        <p:spPr bwMode="auto">
          <a:xfrm>
            <a:off x="2233613" y="2971800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9486" name="Rectangle 157"/>
          <p:cNvSpPr>
            <a:spLocks noChangeArrowheads="1"/>
          </p:cNvSpPr>
          <p:nvPr/>
        </p:nvSpPr>
        <p:spPr bwMode="auto">
          <a:xfrm>
            <a:off x="5486400" y="2209800"/>
            <a:ext cx="1325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59" name="Right Brace 158"/>
          <p:cNvSpPr/>
          <p:nvPr/>
        </p:nvSpPr>
        <p:spPr>
          <a:xfrm>
            <a:off x="5638800" y="2743200"/>
            <a:ext cx="152400" cy="533400"/>
          </a:xfrm>
          <a:prstGeom prst="rightBrace">
            <a:avLst>
              <a:gd name="adj1" fmla="val 36635"/>
              <a:gd name="adj2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9488" name="TextBox 160"/>
          <p:cNvSpPr txBox="1">
            <a:spLocks noChangeArrowheads="1"/>
          </p:cNvSpPr>
          <p:nvPr/>
        </p:nvSpPr>
        <p:spPr bwMode="auto">
          <a:xfrm>
            <a:off x="152400" y="4424363"/>
            <a:ext cx="8135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Corresponding syndrome:   </a:t>
            </a:r>
            <a:r>
              <a:rPr lang="en-US" sz="2400"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00</a:t>
            </a:r>
            <a:r>
              <a:rPr lang="en-US" sz="2400">
                <a:cs typeface="Times New Roman" charset="0"/>
                <a:sym typeface="Symbol" charset="0"/>
              </a:rPr>
              <a:t>       </a:t>
            </a:r>
            <a:r>
              <a:rPr lang="en-US" sz="2400">
                <a:cs typeface="Times New Roman" charset="0"/>
              </a:rPr>
              <a:t>11</a:t>
            </a:r>
            <a:r>
              <a:rPr lang="en-US" sz="2400">
                <a:cs typeface="Times New Roman" charset="0"/>
                <a:sym typeface="Symbol" charset="0"/>
              </a:rPr>
              <a:t>        </a:t>
            </a:r>
            <a:r>
              <a:rPr lang="en-US" sz="2400">
                <a:cs typeface="Times New Roman" charset="0"/>
              </a:rPr>
              <a:t>10</a:t>
            </a:r>
            <a:r>
              <a:rPr lang="en-US" sz="2400">
                <a:cs typeface="Times New Roman" charset="0"/>
                <a:sym typeface="Symbol" charset="0"/>
              </a:rPr>
              <a:t>        </a:t>
            </a:r>
            <a:r>
              <a:rPr lang="en-US" sz="2400">
                <a:cs typeface="Times New Roman" charset="0"/>
              </a:rPr>
              <a:t>01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endParaRPr lang="en-CA" sz="2400">
              <a:cs typeface="Times New Roman" charset="0"/>
            </a:endParaRPr>
          </a:p>
        </p:txBody>
      </p:sp>
      <p:cxnSp>
        <p:nvCxnSpPr>
          <p:cNvPr id="166" name="Straight Connector 165"/>
          <p:cNvCxnSpPr/>
          <p:nvPr/>
        </p:nvCxnSpPr>
        <p:spPr>
          <a:xfrm>
            <a:off x="2667000" y="2438400"/>
            <a:ext cx="91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>
            <a:off x="2667000" y="2819400"/>
            <a:ext cx="91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>
            <a:off x="2667000" y="3200400"/>
            <a:ext cx="91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4267200" y="2438400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4267200" y="2819400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>
            <a:off x="4267200" y="3200400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95" name="Rectangle 185"/>
          <p:cNvSpPr>
            <a:spLocks noChangeArrowheads="1"/>
          </p:cNvSpPr>
          <p:nvPr/>
        </p:nvSpPr>
        <p:spPr bwMode="auto">
          <a:xfrm>
            <a:off x="5791200" y="2743200"/>
            <a:ext cx="53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 sz="2400" i="1">
                <a:latin typeface="Times New Roman" charset="0"/>
                <a:cs typeface="Times New Roman" charset="0"/>
              </a:rPr>
              <a:t>s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e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3778250" y="2328863"/>
            <a:ext cx="304800" cy="979487"/>
          </a:xfrm>
          <a:prstGeom prst="rect">
            <a:avLst/>
          </a:prstGeom>
          <a:solidFill>
            <a:srgbClr val="FFD5D5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i="1">
                <a:solidFill>
                  <a:srgbClr val="FF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e</a:t>
            </a:r>
            <a:endParaRPr lang="en-CA" i="1">
              <a:solidFill>
                <a:srgbClr val="FF0000"/>
              </a:solidFill>
              <a:latin typeface="Times New Roman" charset="0"/>
              <a:ea typeface="ＭＳ Ｐゴシック" charset="0"/>
              <a:cs typeface="Times New Roman" charset="0"/>
            </a:endParaRPr>
          </a:p>
        </p:txBody>
      </p:sp>
      <p:sp>
        <p:nvSpPr>
          <p:cNvPr id="19497" name="TextBox 188"/>
          <p:cNvSpPr txBox="1">
            <a:spLocks noChangeArrowheads="1"/>
          </p:cNvSpPr>
          <p:nvPr/>
        </p:nvSpPr>
        <p:spPr bwMode="auto">
          <a:xfrm>
            <a:off x="169863" y="1295400"/>
            <a:ext cx="87455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following 3-qubit quantum code protects against up to one error, if the error can only be a quantum bit-flip (an</a:t>
            </a:r>
            <a:r>
              <a:rPr lang="en-US" sz="2400" i="1">
                <a:latin typeface="Times New Roman" charset="0"/>
                <a:cs typeface="Times New Roman" charset="0"/>
              </a:rPr>
              <a:t> X</a:t>
            </a:r>
            <a:r>
              <a:rPr lang="en-US" sz="2400">
                <a:cs typeface="Times New Roman" charset="0"/>
              </a:rPr>
              <a:t> operation)</a:t>
            </a:r>
          </a:p>
        </p:txBody>
      </p:sp>
      <p:sp>
        <p:nvSpPr>
          <p:cNvPr id="19498" name="TextBox 189"/>
          <p:cNvSpPr txBox="1">
            <a:spLocks noChangeArrowheads="1"/>
          </p:cNvSpPr>
          <p:nvPr/>
        </p:nvSpPr>
        <p:spPr bwMode="auto">
          <a:xfrm>
            <a:off x="169863" y="6019800"/>
            <a:ext cx="8821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What about </a:t>
            </a:r>
            <a:r>
              <a:rPr lang="en-US" sz="2400" i="1">
                <a:latin typeface="Times New Roman" charset="0"/>
                <a:cs typeface="Times New Roman" charset="0"/>
              </a:rPr>
              <a:t>Z</a:t>
            </a:r>
            <a:r>
              <a:rPr lang="en-US" sz="2400">
                <a:cs typeface="Times New Roman" charset="0"/>
              </a:rPr>
              <a:t> errors? This code leaves them intact …</a:t>
            </a:r>
          </a:p>
        </p:txBody>
      </p:sp>
      <p:sp>
        <p:nvSpPr>
          <p:cNvPr id="19499" name="TextBox 160"/>
          <p:cNvSpPr txBox="1">
            <a:spLocks noChangeArrowheads="1"/>
          </p:cNvSpPr>
          <p:nvPr/>
        </p:nvSpPr>
        <p:spPr bwMode="auto">
          <a:xfrm>
            <a:off x="6324600" y="2819400"/>
            <a:ext cx="266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syndrome of the error</a:t>
            </a:r>
            <a:endParaRPr lang="en-CA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4"/>
          <p:cNvSpPr>
            <a:spLocks noGrp="1"/>
          </p:cNvSpPr>
          <p:nvPr>
            <p:ph type="title"/>
          </p:nvPr>
        </p:nvSpPr>
        <p:spPr>
          <a:xfrm>
            <a:off x="457200" y="1651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3-qubit code for one </a:t>
            </a:r>
            <a:r>
              <a:rPr lang="en-US" b="1" i="1">
                <a:latin typeface="Times New Roman" charset="0"/>
                <a:ea typeface="ＭＳ Ｐゴシック" charset="0"/>
                <a:cs typeface="Times New Roman" charset="0"/>
              </a:rPr>
              <a:t>Z</a:t>
            </a:r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-error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F239BA2-1BF5-0948-BFE9-38BA6DF2102F}" type="slidenum">
              <a:rPr lang="en-US" sz="1400"/>
              <a:pPr eaLnBrk="1" hangingPunct="1"/>
              <a:t>6</a:t>
            </a:fld>
            <a:endParaRPr lang="en-US" sz="140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2286000" y="2776538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438400" y="28527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474913" y="251142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2400300" y="29670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743200" y="32337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2779713" y="250983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rot="5400000">
            <a:off x="5075238" y="2776538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227638" y="28527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264150" y="251142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579938" y="29670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922838" y="32337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4959350" y="250983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5567363" y="289401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5567363" y="327501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03" name="Straight Connector 102"/>
          <p:cNvCxnSpPr/>
          <p:nvPr/>
        </p:nvCxnSpPr>
        <p:spPr>
          <a:xfrm rot="5400000">
            <a:off x="5189538" y="289083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5532438" y="247173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0499" name="TextBox 130"/>
          <p:cNvSpPr txBox="1">
            <a:spLocks noChangeArrowheads="1"/>
          </p:cNvSpPr>
          <p:nvPr/>
        </p:nvSpPr>
        <p:spPr bwMode="auto">
          <a:xfrm>
            <a:off x="2174875" y="3409950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encode</a:t>
            </a:r>
            <a:endParaRPr lang="en-CA"/>
          </a:p>
        </p:txBody>
      </p:sp>
      <p:sp>
        <p:nvSpPr>
          <p:cNvPr id="20500" name="TextBox 131"/>
          <p:cNvSpPr txBox="1">
            <a:spLocks noChangeArrowheads="1"/>
          </p:cNvSpPr>
          <p:nvPr/>
        </p:nvSpPr>
        <p:spPr bwMode="auto">
          <a:xfrm>
            <a:off x="4846638" y="3409950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decode</a:t>
            </a:r>
            <a:endParaRPr lang="en-CA"/>
          </a:p>
        </p:txBody>
      </p:sp>
      <p:sp>
        <p:nvSpPr>
          <p:cNvPr id="20501" name="TextBox 132"/>
          <p:cNvSpPr txBox="1">
            <a:spLocks noChangeArrowheads="1"/>
          </p:cNvSpPr>
          <p:nvPr/>
        </p:nvSpPr>
        <p:spPr bwMode="auto">
          <a:xfrm>
            <a:off x="169863" y="4033838"/>
            <a:ext cx="8212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Error can be any one of:    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Z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Z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    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</a:t>
            </a:r>
            <a:r>
              <a:rPr lang="en-US" sz="2400" i="1">
                <a:latin typeface="Times New Roman" charset="0"/>
                <a:cs typeface="Times New Roman" charset="0"/>
              </a:rPr>
              <a:t>Z</a:t>
            </a:r>
            <a:endParaRPr lang="en-US" sz="2400">
              <a:cs typeface="Times New Roman" charset="0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3657600" y="25527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3657600" y="29337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3657600" y="3314700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05" name="TextBox 147"/>
          <p:cNvSpPr txBox="1">
            <a:spLocks noChangeArrowheads="1"/>
          </p:cNvSpPr>
          <p:nvPr/>
        </p:nvSpPr>
        <p:spPr bwMode="auto">
          <a:xfrm>
            <a:off x="3581400" y="3409950"/>
            <a:ext cx="725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error</a:t>
            </a:r>
            <a:endParaRPr lang="en-CA">
              <a:solidFill>
                <a:srgbClr val="FF0000"/>
              </a:solidFill>
            </a:endParaRPr>
          </a:p>
        </p:txBody>
      </p:sp>
      <p:sp>
        <p:nvSpPr>
          <p:cNvPr id="20506" name="Rectangle 148"/>
          <p:cNvSpPr>
            <a:spLocks noChangeArrowheads="1"/>
          </p:cNvSpPr>
          <p:nvPr/>
        </p:nvSpPr>
        <p:spPr bwMode="auto">
          <a:xfrm>
            <a:off x="914400" y="2324100"/>
            <a:ext cx="1325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0507" name="Rectangle 149"/>
          <p:cNvSpPr>
            <a:spLocks noChangeArrowheads="1"/>
          </p:cNvSpPr>
          <p:nvPr/>
        </p:nvSpPr>
        <p:spPr bwMode="auto">
          <a:xfrm>
            <a:off x="1776413" y="2705100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0508" name="Rectangle 150"/>
          <p:cNvSpPr>
            <a:spLocks noChangeArrowheads="1"/>
          </p:cNvSpPr>
          <p:nvPr/>
        </p:nvSpPr>
        <p:spPr bwMode="auto">
          <a:xfrm>
            <a:off x="1776413" y="3086100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0509" name="Rectangle 157"/>
          <p:cNvSpPr>
            <a:spLocks noChangeArrowheads="1"/>
          </p:cNvSpPr>
          <p:nvPr/>
        </p:nvSpPr>
        <p:spPr bwMode="auto">
          <a:xfrm>
            <a:off x="5913438" y="2324100"/>
            <a:ext cx="1325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59" name="Right Brace 158"/>
          <p:cNvSpPr/>
          <p:nvPr/>
        </p:nvSpPr>
        <p:spPr>
          <a:xfrm>
            <a:off x="6065838" y="2857500"/>
            <a:ext cx="152400" cy="533400"/>
          </a:xfrm>
          <a:prstGeom prst="rightBrace">
            <a:avLst>
              <a:gd name="adj1" fmla="val 36635"/>
              <a:gd name="adj2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cxnSp>
        <p:nvCxnSpPr>
          <p:cNvPr id="166" name="Straight Connector 165"/>
          <p:cNvCxnSpPr/>
          <p:nvPr/>
        </p:nvCxnSpPr>
        <p:spPr>
          <a:xfrm>
            <a:off x="2209800" y="2552700"/>
            <a:ext cx="1371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>
            <a:off x="2209800" y="2933700"/>
            <a:ext cx="1371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>
            <a:off x="2209800" y="3314700"/>
            <a:ext cx="1371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4267200" y="2552700"/>
            <a:ext cx="1646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4267200" y="2933700"/>
            <a:ext cx="1646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>
            <a:off x="4267200" y="3314700"/>
            <a:ext cx="1646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7" name="Rectangle 185"/>
          <p:cNvSpPr>
            <a:spLocks noChangeArrowheads="1"/>
          </p:cNvSpPr>
          <p:nvPr/>
        </p:nvSpPr>
        <p:spPr bwMode="auto">
          <a:xfrm>
            <a:off x="6218238" y="2857500"/>
            <a:ext cx="531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 sz="2400" i="1">
                <a:latin typeface="Times New Roman" charset="0"/>
                <a:cs typeface="Times New Roman" charset="0"/>
              </a:rPr>
              <a:t>s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e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3778250" y="2443163"/>
            <a:ext cx="304800" cy="977900"/>
          </a:xfrm>
          <a:prstGeom prst="rect">
            <a:avLst/>
          </a:prstGeom>
          <a:solidFill>
            <a:srgbClr val="FFD5D5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i="1">
                <a:solidFill>
                  <a:srgbClr val="FF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e</a:t>
            </a:r>
            <a:endParaRPr lang="en-CA" i="1">
              <a:solidFill>
                <a:srgbClr val="FF0000"/>
              </a:solidFill>
              <a:latin typeface="Times New Roman" charset="0"/>
              <a:ea typeface="ＭＳ Ｐゴシック" charset="0"/>
              <a:cs typeface="Times New Roman" charset="0"/>
            </a:endParaRPr>
          </a:p>
        </p:txBody>
      </p:sp>
      <p:sp>
        <p:nvSpPr>
          <p:cNvPr id="20519" name="TextBox 56"/>
          <p:cNvSpPr txBox="1">
            <a:spLocks noChangeArrowheads="1"/>
          </p:cNvSpPr>
          <p:nvPr/>
        </p:nvSpPr>
        <p:spPr bwMode="auto">
          <a:xfrm>
            <a:off x="169863" y="1295400"/>
            <a:ext cx="82121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Using the fact that  </a:t>
            </a:r>
            <a:r>
              <a:rPr lang="en-US" sz="2400" i="1">
                <a:latin typeface="Times New Roman" charset="0"/>
                <a:cs typeface="Times New Roman" charset="0"/>
              </a:rPr>
              <a:t>HZH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latin typeface="Times New Roman" charset="0"/>
                <a:cs typeface="Times New Roman" charset="0"/>
              </a:rPr>
              <a:t> X</a:t>
            </a:r>
            <a:r>
              <a:rPr lang="en-US" sz="2400">
                <a:cs typeface="Times New Roman" charset="0"/>
              </a:rPr>
              <a:t>, one can adapt the previous code to protect against</a:t>
            </a:r>
            <a:r>
              <a:rPr lang="en-US" sz="2400" i="1">
                <a:latin typeface="Times New Roman" charset="0"/>
                <a:cs typeface="Times New Roman" charset="0"/>
              </a:rPr>
              <a:t> Z</a:t>
            </a:r>
            <a:r>
              <a:rPr lang="en-US" sz="2400">
                <a:cs typeface="Times New Roman" charset="0"/>
              </a:rPr>
              <a:t>-errors instead of </a:t>
            </a:r>
            <a:r>
              <a:rPr lang="en-US" sz="2400" i="1">
                <a:latin typeface="Times New Roman" charset="0"/>
                <a:cs typeface="Times New Roman" charset="0"/>
              </a:rPr>
              <a:t>X</a:t>
            </a:r>
            <a:r>
              <a:rPr lang="en-US" sz="2400">
                <a:cs typeface="Times New Roman" charset="0"/>
              </a:rPr>
              <a:t>-errors</a:t>
            </a:r>
          </a:p>
        </p:txBody>
      </p:sp>
      <p:sp>
        <p:nvSpPr>
          <p:cNvPr id="20520" name="TextBox 57"/>
          <p:cNvSpPr txBox="1">
            <a:spLocks noChangeArrowheads="1"/>
          </p:cNvSpPr>
          <p:nvPr/>
        </p:nvSpPr>
        <p:spPr bwMode="auto">
          <a:xfrm>
            <a:off x="169863" y="4724400"/>
            <a:ext cx="88217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This code leaves </a:t>
            </a:r>
            <a:r>
              <a:rPr lang="en-US" sz="2400" i="1">
                <a:latin typeface="Times New Roman" charset="0"/>
                <a:cs typeface="Times New Roman" charset="0"/>
              </a:rPr>
              <a:t>X</a:t>
            </a:r>
            <a:r>
              <a:rPr lang="en-US" sz="2400">
                <a:cs typeface="Times New Roman" charset="0"/>
              </a:rPr>
              <a:t>-errors intact</a:t>
            </a:r>
          </a:p>
          <a:p>
            <a:pPr eaLnBrk="1" hangingPunct="1"/>
            <a:endParaRPr lang="en-US" sz="10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Is there a code that protects against errors that are arbitrary one-qubit unitaries?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0" y="2441575"/>
            <a:ext cx="3048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19600" y="2822575"/>
            <a:ext cx="304800" cy="22701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19600" y="3201988"/>
            <a:ext cx="304800" cy="22701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0550" y="2441575"/>
            <a:ext cx="303213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0550" y="2822575"/>
            <a:ext cx="303213" cy="22701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30550" y="3201988"/>
            <a:ext cx="303213" cy="22701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4"/>
          <p:cNvSpPr>
            <a:spLocks noGrp="1"/>
          </p:cNvSpPr>
          <p:nvPr>
            <p:ph type="title"/>
          </p:nvPr>
        </p:nvSpPr>
        <p:spPr>
          <a:xfrm>
            <a:off x="457200" y="1651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Shor</a:t>
            </a:r>
            <a:r>
              <a:rPr lang="ja-JP" altLang="en-US" b="1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b="1">
                <a:latin typeface="Arial" charset="0"/>
                <a:ea typeface="ＭＳ Ｐゴシック" charset="0"/>
                <a:cs typeface="ＭＳ Ｐゴシック" charset="0"/>
              </a:rPr>
              <a:t> 9-qubit quantum code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57EF05D-8848-0146-97BC-D7707CBA5B70}" type="slidenum">
              <a:rPr lang="en-US" sz="1400"/>
              <a:pPr eaLnBrk="1" hangingPunct="1"/>
              <a:t>7</a:t>
            </a:fld>
            <a:endParaRPr lang="en-US" sz="1400"/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1438275"/>
            <a:ext cx="2057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1819275"/>
            <a:ext cx="2057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4000" y="2200275"/>
            <a:ext cx="2057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2743200" y="1666875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95600" y="1743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932113" y="1401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2857500" y="18573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00400" y="2124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3236913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grpSp>
        <p:nvGrpSpPr>
          <p:cNvPr id="21516" name="Group 27"/>
          <p:cNvGrpSpPr>
            <a:grpSpLocks/>
          </p:cNvGrpSpPr>
          <p:nvPr/>
        </p:nvGrpSpPr>
        <p:grpSpPr bwMode="auto">
          <a:xfrm>
            <a:off x="1524000" y="2543175"/>
            <a:ext cx="2057400" cy="876300"/>
            <a:chOff x="1143000" y="2019300"/>
            <a:chExt cx="2057400" cy="876300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1143000" y="2057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143000" y="2438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43000" y="2819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2362200" y="2286000"/>
              <a:ext cx="457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514600" y="2362200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2551113" y="202088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 rot="5400000">
              <a:off x="2476500" y="2476500"/>
              <a:ext cx="838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2819400" y="2743200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2855913" y="20193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</p:grpSp>
      <p:grpSp>
        <p:nvGrpSpPr>
          <p:cNvPr id="21517" name="Group 38"/>
          <p:cNvGrpSpPr>
            <a:grpSpLocks/>
          </p:cNvGrpSpPr>
          <p:nvPr/>
        </p:nvGrpSpPr>
        <p:grpSpPr bwMode="auto">
          <a:xfrm>
            <a:off x="1524000" y="3686175"/>
            <a:ext cx="2057400" cy="876300"/>
            <a:chOff x="1143000" y="2019300"/>
            <a:chExt cx="2057400" cy="8763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1143000" y="2057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1143000" y="2438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43000" y="2819400"/>
              <a:ext cx="2057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362200" y="2286000"/>
              <a:ext cx="457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514600" y="2362200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2551113" y="202088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cxnSp>
          <p:nvCxnSpPr>
            <p:cNvPr id="47" name="Straight Connector 46"/>
            <p:cNvCxnSpPr/>
            <p:nvPr/>
          </p:nvCxnSpPr>
          <p:spPr>
            <a:xfrm rot="5400000">
              <a:off x="2476500" y="2476500"/>
              <a:ext cx="838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2819400" y="2743200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2855913" y="20193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</p:grpSp>
      <p:cxnSp>
        <p:nvCxnSpPr>
          <p:cNvPr id="50" name="Straight Connector 49"/>
          <p:cNvCxnSpPr>
            <a:endCxn id="51" idx="4"/>
          </p:cNvCxnSpPr>
          <p:nvPr/>
        </p:nvCxnSpPr>
        <p:spPr>
          <a:xfrm rot="5400000">
            <a:off x="952500" y="2619375"/>
            <a:ext cx="2362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057400" y="3648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2093913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 rot="5400000">
            <a:off x="1173163" y="2047875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709738" y="2505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1743075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267200" y="1438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267200" y="1819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267200" y="2200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648200" y="1666875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800600" y="1743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837113" y="1401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152900" y="18573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495800" y="2124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4532313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>
            <a:off x="4267200" y="2581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267200" y="2962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267200" y="3343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rot="5400000">
            <a:off x="4648200" y="2809875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4800600" y="2886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4837113" y="2544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 rot="5400000">
            <a:off x="4152900" y="30003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495800" y="3267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78" name="Oval 77"/>
          <p:cNvSpPr/>
          <p:nvPr/>
        </p:nvSpPr>
        <p:spPr>
          <a:xfrm>
            <a:off x="4532313" y="2543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80" name="Straight Connector 79"/>
          <p:cNvCxnSpPr/>
          <p:nvPr/>
        </p:nvCxnSpPr>
        <p:spPr>
          <a:xfrm>
            <a:off x="4267200" y="3724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4267200" y="4105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267200" y="4486275"/>
            <a:ext cx="266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5400000">
            <a:off x="4648200" y="3952875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00600" y="4029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4837113" y="3687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 rot="5400000">
            <a:off x="4152900" y="41433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4495800" y="4410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4532313" y="3686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90" name="Straight Connector 89"/>
          <p:cNvCxnSpPr>
            <a:endCxn id="91" idx="4"/>
          </p:cNvCxnSpPr>
          <p:nvPr/>
        </p:nvCxnSpPr>
        <p:spPr>
          <a:xfrm rot="5400000">
            <a:off x="4838700" y="2619375"/>
            <a:ext cx="2362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5943600" y="3648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92" name="Oval 91"/>
          <p:cNvSpPr/>
          <p:nvPr/>
        </p:nvSpPr>
        <p:spPr>
          <a:xfrm>
            <a:off x="5980113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93" name="Straight Connector 92"/>
          <p:cNvCxnSpPr/>
          <p:nvPr/>
        </p:nvCxnSpPr>
        <p:spPr>
          <a:xfrm rot="5400000">
            <a:off x="5715000" y="2047875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6248400" y="2505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>
            <a:off x="6284913" y="1400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96" name="Right Brace 95"/>
          <p:cNvSpPr/>
          <p:nvPr/>
        </p:nvSpPr>
        <p:spPr>
          <a:xfrm rot="5400000">
            <a:off x="2476500" y="3614738"/>
            <a:ext cx="152400" cy="2057400"/>
          </a:xfrm>
          <a:prstGeom prst="rightBrace">
            <a:avLst>
              <a:gd name="adj1" fmla="val 35534"/>
              <a:gd name="adj2" fmla="val 50000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97" name="Right Brace 96"/>
          <p:cNvSpPr/>
          <p:nvPr/>
        </p:nvSpPr>
        <p:spPr>
          <a:xfrm rot="5400000">
            <a:off x="5524500" y="3309938"/>
            <a:ext cx="152400" cy="2667000"/>
          </a:xfrm>
          <a:prstGeom prst="rightBrace">
            <a:avLst>
              <a:gd name="adj1" fmla="val 35534"/>
              <a:gd name="adj2" fmla="val 50000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01" name="Oval 100"/>
          <p:cNvSpPr/>
          <p:nvPr/>
        </p:nvSpPr>
        <p:spPr>
          <a:xfrm>
            <a:off x="5140325" y="17859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5140325" y="21669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03" name="Straight Connector 102"/>
          <p:cNvCxnSpPr/>
          <p:nvPr/>
        </p:nvCxnSpPr>
        <p:spPr>
          <a:xfrm rot="5400000">
            <a:off x="4762500" y="17811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5105400" y="1362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5140325" y="2925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140325" y="330676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07" name="Straight Connector 106"/>
          <p:cNvCxnSpPr/>
          <p:nvPr/>
        </p:nvCxnSpPr>
        <p:spPr>
          <a:xfrm rot="5400000">
            <a:off x="4760913" y="2922588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5103813" y="2503488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140325" y="40719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5140325" y="44529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 rot="5400000">
            <a:off x="4762500" y="4067175"/>
            <a:ext cx="838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5105400" y="3648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597650" y="254317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 rot="16200000" flipH="1">
            <a:off x="5459413" y="2536825"/>
            <a:ext cx="2351087" cy="111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6553200" y="13620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602413" y="368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1575" name="TextBox 130"/>
          <p:cNvSpPr txBox="1">
            <a:spLocks noChangeArrowheads="1"/>
          </p:cNvSpPr>
          <p:nvPr/>
        </p:nvSpPr>
        <p:spPr bwMode="auto">
          <a:xfrm>
            <a:off x="2098675" y="4643438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encode</a:t>
            </a:r>
            <a:endParaRPr lang="en-CA"/>
          </a:p>
        </p:txBody>
      </p:sp>
      <p:sp>
        <p:nvSpPr>
          <p:cNvPr id="21576" name="TextBox 131"/>
          <p:cNvSpPr txBox="1">
            <a:spLocks noChangeArrowheads="1"/>
          </p:cNvSpPr>
          <p:nvPr/>
        </p:nvSpPr>
        <p:spPr bwMode="auto">
          <a:xfrm>
            <a:off x="5146675" y="4638675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decode</a:t>
            </a:r>
            <a:endParaRPr lang="en-CA"/>
          </a:p>
        </p:txBody>
      </p:sp>
      <p:sp>
        <p:nvSpPr>
          <p:cNvPr id="21577" name="TextBox 132"/>
          <p:cNvSpPr txBox="1">
            <a:spLocks noChangeArrowheads="1"/>
          </p:cNvSpPr>
          <p:nvPr/>
        </p:nvSpPr>
        <p:spPr bwMode="auto">
          <a:xfrm>
            <a:off x="169863" y="5176838"/>
            <a:ext cx="675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</a:t>
            </a:r>
            <a:r>
              <a:rPr lang="ja-JP" altLang="en-US" sz="2400"/>
              <a:t>“</a:t>
            </a:r>
            <a:r>
              <a:rPr lang="en-US" altLang="ja-JP" sz="2400"/>
              <a:t>inner</a:t>
            </a:r>
            <a:r>
              <a:rPr lang="ja-JP" altLang="en-US" sz="2400"/>
              <a:t>”</a:t>
            </a:r>
            <a:r>
              <a:rPr lang="en-US" altLang="ja-JP" sz="2400"/>
              <a:t> part corrects any single-qubit </a:t>
            </a:r>
            <a:r>
              <a:rPr lang="en-US" altLang="ja-JP" sz="2400" i="1">
                <a:latin typeface="Times New Roman" charset="0"/>
                <a:cs typeface="Times New Roman" charset="0"/>
              </a:rPr>
              <a:t>X</a:t>
            </a:r>
            <a:r>
              <a:rPr lang="en-US" altLang="ja-JP" sz="2400">
                <a:cs typeface="Times New Roman" charset="0"/>
              </a:rPr>
              <a:t>-error</a:t>
            </a:r>
            <a:endParaRPr lang="en-CA" sz="2400">
              <a:cs typeface="Times New Roman" charset="0"/>
            </a:endParaRPr>
          </a:p>
        </p:txBody>
      </p:sp>
      <p:sp>
        <p:nvSpPr>
          <p:cNvPr id="21578" name="TextBox 133"/>
          <p:cNvSpPr txBox="1">
            <a:spLocks noChangeArrowheads="1"/>
          </p:cNvSpPr>
          <p:nvPr/>
        </p:nvSpPr>
        <p:spPr bwMode="auto">
          <a:xfrm>
            <a:off x="169863" y="5634038"/>
            <a:ext cx="675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</a:t>
            </a:r>
            <a:r>
              <a:rPr lang="ja-JP" altLang="en-US" sz="2400"/>
              <a:t>“</a:t>
            </a:r>
            <a:r>
              <a:rPr lang="en-US" altLang="ja-JP" sz="2400"/>
              <a:t>outer</a:t>
            </a:r>
            <a:r>
              <a:rPr lang="ja-JP" altLang="en-US" sz="2400"/>
              <a:t>”</a:t>
            </a:r>
            <a:r>
              <a:rPr lang="en-US" altLang="ja-JP" sz="2400"/>
              <a:t> part corrects any single-qubit </a:t>
            </a:r>
            <a:r>
              <a:rPr lang="en-US" altLang="ja-JP" sz="2400" i="1">
                <a:latin typeface="Times New Roman" charset="0"/>
                <a:cs typeface="Times New Roman" charset="0"/>
              </a:rPr>
              <a:t>Z</a:t>
            </a:r>
            <a:r>
              <a:rPr lang="en-US" altLang="ja-JP" sz="2400">
                <a:cs typeface="Times New Roman" charset="0"/>
              </a:rPr>
              <a:t>-error</a:t>
            </a:r>
            <a:endParaRPr lang="en-CA" sz="2400">
              <a:cs typeface="Times New Roman" charset="0"/>
            </a:endParaRPr>
          </a:p>
        </p:txBody>
      </p:sp>
      <p:sp>
        <p:nvSpPr>
          <p:cNvPr id="21579" name="TextBox 134"/>
          <p:cNvSpPr txBox="1">
            <a:spLocks noChangeArrowheads="1"/>
          </p:cNvSpPr>
          <p:nvPr/>
        </p:nvSpPr>
        <p:spPr bwMode="auto">
          <a:xfrm>
            <a:off x="169863" y="6091238"/>
            <a:ext cx="7423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Since </a:t>
            </a:r>
            <a:r>
              <a:rPr lang="en-US" sz="2400" i="1">
                <a:latin typeface="Times New Roman" charset="0"/>
                <a:cs typeface="Times New Roman" charset="0"/>
              </a:rPr>
              <a:t>Y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i="1">
                <a:latin typeface="Times New Roman" charset="0"/>
                <a:cs typeface="Times New Roman" charset="0"/>
              </a:rPr>
              <a:t>iXZ</a:t>
            </a:r>
            <a:r>
              <a:rPr lang="en-US" sz="2400">
                <a:cs typeface="Times New Roman" charset="0"/>
              </a:rPr>
              <a:t>, single-qubit </a:t>
            </a:r>
            <a:r>
              <a:rPr lang="en-US" sz="2400" i="1">
                <a:latin typeface="Times New Roman" charset="0"/>
                <a:cs typeface="Times New Roman" charset="0"/>
              </a:rPr>
              <a:t>Y-</a:t>
            </a:r>
            <a:r>
              <a:rPr lang="en-US" sz="2400">
                <a:cs typeface="Times New Roman" charset="0"/>
              </a:rPr>
              <a:t>errors are also corrected</a:t>
            </a:r>
            <a:endParaRPr lang="en-CA" sz="2400">
              <a:cs typeface="Times New Roman" charset="0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3657600" y="1443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3657600" y="1824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3657600" y="2205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3657600" y="2586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3657600" y="2967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3657600" y="3348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>
            <a:off x="3657600" y="3729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3657600" y="4110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3657600" y="4491038"/>
            <a:ext cx="533400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784600" y="1366838"/>
            <a:ext cx="304800" cy="3200400"/>
          </a:xfrm>
          <a:prstGeom prst="rect">
            <a:avLst/>
          </a:prstGeom>
          <a:solidFill>
            <a:srgbClr val="FFD5D5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i="1">
                <a:solidFill>
                  <a:srgbClr val="FF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e</a:t>
            </a:r>
            <a:endParaRPr lang="en-CA" i="1">
              <a:solidFill>
                <a:srgbClr val="FF0000"/>
              </a:solidFill>
              <a:latin typeface="Times New Roman" charset="0"/>
              <a:ea typeface="ＭＳ Ｐゴシック" charset="0"/>
              <a:cs typeface="Times New Roman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2855913" y="2427288"/>
            <a:ext cx="2478087" cy="1130300"/>
          </a:xfrm>
          <a:prstGeom prst="rect">
            <a:avLst/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</a:endParaRPr>
          </a:p>
        </p:txBody>
      </p:sp>
      <p:sp>
        <p:nvSpPr>
          <p:cNvPr id="21591" name="TextBox 147"/>
          <p:cNvSpPr txBox="1">
            <a:spLocks noChangeArrowheads="1"/>
          </p:cNvSpPr>
          <p:nvPr/>
        </p:nvSpPr>
        <p:spPr bwMode="auto">
          <a:xfrm>
            <a:off x="3617913" y="4643438"/>
            <a:ext cx="725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error</a:t>
            </a:r>
            <a:endParaRPr lang="en-CA">
              <a:solidFill>
                <a:srgbClr val="FF0000"/>
              </a:solidFill>
            </a:endParaRPr>
          </a:p>
        </p:txBody>
      </p:sp>
      <p:sp>
        <p:nvSpPr>
          <p:cNvPr id="21592" name="Rectangle 148"/>
          <p:cNvSpPr>
            <a:spLocks noChangeArrowheads="1"/>
          </p:cNvSpPr>
          <p:nvPr/>
        </p:nvSpPr>
        <p:spPr bwMode="auto">
          <a:xfrm>
            <a:off x="228600" y="1214438"/>
            <a:ext cx="1325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3" name="Rectangle 149"/>
          <p:cNvSpPr>
            <a:spLocks noChangeArrowheads="1"/>
          </p:cNvSpPr>
          <p:nvPr/>
        </p:nvSpPr>
        <p:spPr bwMode="auto">
          <a:xfrm>
            <a:off x="1090613" y="1595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4" name="Rectangle 150"/>
          <p:cNvSpPr>
            <a:spLocks noChangeArrowheads="1"/>
          </p:cNvSpPr>
          <p:nvPr/>
        </p:nvSpPr>
        <p:spPr bwMode="auto">
          <a:xfrm>
            <a:off x="1090613" y="1976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5" name="Rectangle 151"/>
          <p:cNvSpPr>
            <a:spLocks noChangeArrowheads="1"/>
          </p:cNvSpPr>
          <p:nvPr/>
        </p:nvSpPr>
        <p:spPr bwMode="auto">
          <a:xfrm>
            <a:off x="1090613" y="2357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6" name="Rectangle 152"/>
          <p:cNvSpPr>
            <a:spLocks noChangeArrowheads="1"/>
          </p:cNvSpPr>
          <p:nvPr/>
        </p:nvSpPr>
        <p:spPr bwMode="auto">
          <a:xfrm>
            <a:off x="1090613" y="2738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7" name="Rectangle 153"/>
          <p:cNvSpPr>
            <a:spLocks noChangeArrowheads="1"/>
          </p:cNvSpPr>
          <p:nvPr/>
        </p:nvSpPr>
        <p:spPr bwMode="auto">
          <a:xfrm>
            <a:off x="1090613" y="3119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8" name="Rectangle 154"/>
          <p:cNvSpPr>
            <a:spLocks noChangeArrowheads="1"/>
          </p:cNvSpPr>
          <p:nvPr/>
        </p:nvSpPr>
        <p:spPr bwMode="auto">
          <a:xfrm>
            <a:off x="1090613" y="3500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599" name="Rectangle 155"/>
          <p:cNvSpPr>
            <a:spLocks noChangeArrowheads="1"/>
          </p:cNvSpPr>
          <p:nvPr/>
        </p:nvSpPr>
        <p:spPr bwMode="auto">
          <a:xfrm>
            <a:off x="1090613" y="3881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600" name="Rectangle 156"/>
          <p:cNvSpPr>
            <a:spLocks noChangeArrowheads="1"/>
          </p:cNvSpPr>
          <p:nvPr/>
        </p:nvSpPr>
        <p:spPr bwMode="auto">
          <a:xfrm>
            <a:off x="1090613" y="4262438"/>
            <a:ext cx="46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601" name="Rectangle 157"/>
          <p:cNvSpPr>
            <a:spLocks noChangeArrowheads="1"/>
          </p:cNvSpPr>
          <p:nvPr/>
        </p:nvSpPr>
        <p:spPr bwMode="auto">
          <a:xfrm>
            <a:off x="7010400" y="1214438"/>
            <a:ext cx="1325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</a:t>
            </a:r>
            <a:r>
              <a:rPr lang="en-US">
                <a:cs typeface="Times New Roman" charset="0"/>
              </a:rPr>
              <a:t>0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r>
              <a:rPr lang="en-US">
                <a:cs typeface="Times New Roman" charset="0"/>
              </a:rPr>
              <a:t> </a:t>
            </a:r>
            <a:r>
              <a:rPr lang="en-US" b="1">
                <a:latin typeface="Times New Roman" charset="0"/>
                <a:cs typeface="Times New Roman" charset="0"/>
              </a:rPr>
              <a:t>+ </a:t>
            </a:r>
            <a:r>
              <a:rPr lang="en-US">
                <a:cs typeface="Times New Roman" charset="0"/>
                <a:sym typeface="Symbol" charset="0"/>
              </a:rPr>
              <a:t></a:t>
            </a:r>
            <a:r>
              <a:rPr lang="en-US">
                <a:cs typeface="Times New Roman" charset="0"/>
              </a:rPr>
              <a:t>1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159" name="Right Brace 158"/>
          <p:cNvSpPr/>
          <p:nvPr/>
        </p:nvSpPr>
        <p:spPr>
          <a:xfrm>
            <a:off x="7086600" y="1824038"/>
            <a:ext cx="152400" cy="2667000"/>
          </a:xfrm>
          <a:prstGeom prst="rightBrace">
            <a:avLst>
              <a:gd name="adj1" fmla="val 36635"/>
              <a:gd name="adj2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21603" name="Rectangle 159"/>
          <p:cNvSpPr>
            <a:spLocks noChangeArrowheads="1"/>
          </p:cNvSpPr>
          <p:nvPr/>
        </p:nvSpPr>
        <p:spPr bwMode="auto">
          <a:xfrm>
            <a:off x="7239000" y="2738438"/>
            <a:ext cx="531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ym typeface="Symbol" charset="0"/>
              </a:rPr>
              <a:t></a:t>
            </a:r>
            <a:r>
              <a:rPr lang="en-US" sz="2400" i="1">
                <a:latin typeface="Times New Roman" charset="0"/>
                <a:cs typeface="Times New Roman" charset="0"/>
              </a:rPr>
              <a:t>s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e</a:t>
            </a:r>
            <a:r>
              <a:rPr lang="en-US">
                <a:cs typeface="Times New Roman" charset="0"/>
                <a:sym typeface="Symbol" charset="0"/>
              </a:rPr>
              <a:t></a:t>
            </a:r>
            <a:endParaRPr lang="en-CA">
              <a:cs typeface="Times New Roman" charset="0"/>
            </a:endParaRPr>
          </a:p>
        </p:txBody>
      </p:sp>
      <p:sp>
        <p:nvSpPr>
          <p:cNvPr id="21604" name="TextBox 160"/>
          <p:cNvSpPr txBox="1">
            <a:spLocks noChangeArrowheads="1"/>
          </p:cNvSpPr>
          <p:nvPr/>
        </p:nvSpPr>
        <p:spPr bwMode="auto">
          <a:xfrm>
            <a:off x="7239000" y="3119438"/>
            <a:ext cx="152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syndrome of the error</a:t>
            </a:r>
            <a:endParaRPr lang="en-CA"/>
          </a:p>
        </p:txBody>
      </p:sp>
      <p:sp>
        <p:nvSpPr>
          <p:cNvPr id="126" name="Rectangle 125"/>
          <p:cNvSpPr/>
          <p:nvPr/>
        </p:nvSpPr>
        <p:spPr>
          <a:xfrm>
            <a:off x="2371725" y="1303338"/>
            <a:ext cx="303213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371725" y="2441575"/>
            <a:ext cx="303213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371725" y="3581400"/>
            <a:ext cx="303213" cy="30321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3225" y="1303338"/>
            <a:ext cx="303213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83225" y="2441575"/>
            <a:ext cx="303213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3225" y="3581400"/>
            <a:ext cx="303213" cy="30321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Arbitrary one-qubit errors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C78D829-1970-A44E-916D-3DD5A9363B04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22531" name="TextBox 5"/>
          <p:cNvSpPr txBox="1">
            <a:spLocks noChangeArrowheads="1"/>
          </p:cNvSpPr>
          <p:nvPr/>
        </p:nvSpPr>
        <p:spPr bwMode="auto">
          <a:xfrm>
            <a:off x="169863" y="1066800"/>
            <a:ext cx="83645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Suppose that the error is some arbitrary one-qubit unitary operation </a:t>
            </a:r>
            <a:r>
              <a:rPr lang="en-US" sz="2400" i="1">
                <a:latin typeface="Times New Roman" charset="0"/>
                <a:cs typeface="Times New Roman" charset="0"/>
              </a:rPr>
              <a:t>U</a:t>
            </a:r>
            <a:r>
              <a:rPr lang="en-US" sz="2400">
                <a:cs typeface="Times New Roman" charset="0"/>
              </a:rPr>
              <a:t> </a:t>
            </a:r>
            <a:endParaRPr lang="en-CA" sz="2400">
              <a:cs typeface="Times New Roman" charset="0"/>
            </a:endParaRP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69863" y="1905000"/>
            <a:ext cx="866933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Since there exist scalars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1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2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3 </a:t>
            </a:r>
            <a:r>
              <a:rPr lang="en-US" sz="2400">
                <a:cs typeface="Times New Roman" charset="0"/>
              </a:rPr>
              <a:t>and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4</a:t>
            </a:r>
            <a:r>
              <a:rPr lang="en-US" sz="2400">
                <a:cs typeface="Times New Roman" charset="0"/>
              </a:rPr>
              <a:t>, such that </a:t>
            </a:r>
          </a:p>
          <a:p>
            <a:pPr eaLnBrk="1" hangingPunct="1"/>
            <a:endParaRPr lang="en-US" sz="1000" i="1"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sz="2400" i="1">
                <a:latin typeface="Times New Roman" charset="0"/>
                <a:cs typeface="Times New Roman" charset="0"/>
              </a:rPr>
              <a:t>             U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1 </a:t>
            </a:r>
            <a:r>
              <a:rPr lang="en-US" sz="2400" i="1">
                <a:latin typeface="Times New Roman" charset="0"/>
                <a:cs typeface="Times New Roman" charset="0"/>
              </a:rPr>
              <a:t>I </a:t>
            </a:r>
            <a:r>
              <a:rPr lang="en-US" sz="2400" b="1" i="1">
                <a:latin typeface="Times New Roman" charset="0"/>
                <a:cs typeface="Times New Roman" charset="0"/>
              </a:rPr>
              <a:t>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2  </a:t>
            </a:r>
            <a:r>
              <a:rPr lang="en-US" sz="2400" i="1">
                <a:latin typeface="Times New Roman" charset="0"/>
                <a:cs typeface="Times New Roman" charset="0"/>
              </a:rPr>
              <a:t>X </a:t>
            </a:r>
            <a:r>
              <a:rPr lang="en-US" sz="2400" b="1" i="1">
                <a:latin typeface="Times New Roman" charset="0"/>
                <a:cs typeface="Times New Roman" charset="0"/>
              </a:rPr>
              <a:t>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3 </a:t>
            </a:r>
            <a:r>
              <a:rPr lang="en-US" sz="2400" i="1">
                <a:latin typeface="Times New Roman" charset="0"/>
                <a:cs typeface="Times New Roman" charset="0"/>
              </a:rPr>
              <a:t>Y </a:t>
            </a:r>
            <a:r>
              <a:rPr lang="en-US" sz="2400" b="1" i="1">
                <a:latin typeface="Times New Roman" charset="0"/>
                <a:cs typeface="Times New Roman" charset="0"/>
              </a:rPr>
              <a:t>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4</a:t>
            </a:r>
            <a:r>
              <a:rPr lang="en-US" sz="2400" i="1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 i="1">
                <a:latin typeface="Times New Roman" charset="0"/>
                <a:cs typeface="Times New Roman" charset="0"/>
              </a:rPr>
              <a:t>Z</a:t>
            </a:r>
            <a:endParaRPr lang="en-US" sz="2400">
              <a:cs typeface="Times New Roman" charset="0"/>
            </a:endParaRPr>
          </a:p>
          <a:p>
            <a:pPr eaLnBrk="1" hangingPunct="1"/>
            <a:endParaRPr lang="en-US" sz="10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a straightforward calculation shows that, when a </a:t>
            </a:r>
            <a:r>
              <a:rPr lang="en-US" sz="2400" i="1">
                <a:latin typeface="Times New Roman" charset="0"/>
                <a:cs typeface="Times New Roman" charset="0"/>
              </a:rPr>
              <a:t>U</a:t>
            </a:r>
            <a:r>
              <a:rPr lang="en-US" sz="2400">
                <a:cs typeface="Times New Roman" charset="0"/>
              </a:rPr>
              <a:t>-error occurs on the </a:t>
            </a:r>
            <a:r>
              <a:rPr lang="en-US" sz="2400" i="1">
                <a:latin typeface="Times New Roman" charset="0"/>
                <a:cs typeface="Times New Roman" charset="0"/>
              </a:rPr>
              <a:t>k</a:t>
            </a:r>
            <a:r>
              <a:rPr lang="en-US" sz="1000" i="1">
                <a:latin typeface="Times New Roman" charset="0"/>
                <a:cs typeface="Times New Roman" charset="0"/>
              </a:rPr>
              <a:t> </a:t>
            </a:r>
            <a:r>
              <a:rPr lang="en-US" sz="2400" baseline="30000">
                <a:cs typeface="Times New Roman" charset="0"/>
              </a:rPr>
              <a:t>th</a:t>
            </a:r>
            <a:r>
              <a:rPr lang="en-US" sz="2400">
                <a:cs typeface="Times New Roman" charset="0"/>
              </a:rPr>
              <a:t> qubit, the output of the decoding circuit is</a:t>
            </a:r>
          </a:p>
          <a:p>
            <a:pPr eaLnBrk="1" hangingPunct="1"/>
            <a:endParaRPr lang="en-US" sz="1000">
              <a:latin typeface="Times New Roman" charset="0"/>
              <a:cs typeface="Times New Roman" charset="0"/>
              <a:sym typeface="Symbol" charset="0"/>
            </a:endParaRPr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             </a:t>
            </a:r>
            <a:r>
              <a:rPr lang="en-US" sz="2800">
                <a:latin typeface="Times New Roman" charset="0"/>
                <a:cs typeface="Times New Roman" charset="0"/>
                <a:sym typeface="Symbol" charset="0"/>
              </a:rPr>
              <a:t>(</a:t>
            </a:r>
            <a:r>
              <a:rPr lang="en-US" sz="2400">
                <a:cs typeface="Times New Roman" charset="0"/>
                <a:sym typeface="Symbol" charset="0"/>
              </a:rPr>
              <a:t>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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800">
                <a:latin typeface="Times New Roman" charset="0"/>
                <a:cs typeface="Times New Roman" charset="0"/>
                <a:sym typeface="Symbol" charset="0"/>
              </a:rPr>
              <a:t>)(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1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r>
              <a:rPr lang="en-US" sz="2400" b="1" i="1">
                <a:latin typeface="Times New Roman" charset="0"/>
                <a:cs typeface="Times New Roman" charset="0"/>
              </a:rPr>
              <a:t>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2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 b="1" i="1">
                <a:latin typeface="Times New Roman" charset="0"/>
                <a:cs typeface="Times New Roman" charset="0"/>
              </a:rPr>
              <a:t> 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3</a:t>
            </a:r>
            <a:r>
              <a:rPr lang="en-US" sz="2400">
                <a:cs typeface="Times New Roman" charset="0"/>
                <a:sym typeface="Symbol" charset="0"/>
              </a:rPr>
              <a:t> 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3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 b="1" i="1">
                <a:latin typeface="Times New Roman" charset="0"/>
                <a:cs typeface="Times New Roman" charset="0"/>
              </a:rPr>
              <a:t> +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</a:t>
            </a:r>
            <a:r>
              <a:rPr lang="en-US" sz="2400" baseline="-25000">
                <a:latin typeface="Times New Roman" charset="0"/>
                <a:cs typeface="Times New Roman" charset="0"/>
                <a:sym typeface="Symbol" charset="0"/>
              </a:rPr>
              <a:t>4</a:t>
            </a:r>
            <a:r>
              <a:rPr lang="en-US" sz="2400">
                <a:cs typeface="Times New Roman" charset="0"/>
                <a:sym typeface="Symbol" charset="0"/>
              </a:rPr>
              <a:t> 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4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800">
                <a:latin typeface="Times New Roman" charset="0"/>
                <a:cs typeface="Times New Roman" charset="0"/>
                <a:sym typeface="Symbol" charset="0"/>
              </a:rPr>
              <a:t>)</a:t>
            </a:r>
            <a:endParaRPr lang="en-CA" sz="2400">
              <a:cs typeface="Times New Roman" charset="0"/>
            </a:endParaRPr>
          </a:p>
          <a:p>
            <a:pPr eaLnBrk="1" hangingPunct="1"/>
            <a:endParaRPr lang="en-CA" sz="10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where 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>
                <a:cs typeface="Times New Roman" charset="0"/>
                <a:sym typeface="Symbol" charset="0"/>
              </a:rPr>
              <a:t> 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cs typeface="Times New Roman" charset="0"/>
              </a:rPr>
              <a:t>, 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3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and 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latin typeface="Times New Roman" charset="0"/>
                <a:cs typeface="Times New Roman" charset="0"/>
              </a:rPr>
              <a:t>e</a:t>
            </a:r>
            <a:r>
              <a:rPr lang="en-US" sz="1800" baseline="-50000">
                <a:latin typeface="Times New Roman" charset="0"/>
                <a:cs typeface="Times New Roman" charset="0"/>
              </a:rPr>
              <a:t>4</a:t>
            </a:r>
            <a:r>
              <a:rPr lang="en-US" sz="2400">
                <a:cs typeface="Times New Roman" charset="0"/>
              </a:rPr>
              <a:t>  are the syndromes associated with the four errors (</a:t>
            </a:r>
            <a:r>
              <a:rPr lang="en-US" sz="2400" i="1">
                <a:latin typeface="Times New Roman" charset="0"/>
                <a:cs typeface="Times New Roman" charset="0"/>
              </a:rPr>
              <a:t>I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 i="1">
                <a:latin typeface="Times New Roman" charset="0"/>
                <a:cs typeface="Times New Roman" charset="0"/>
              </a:rPr>
              <a:t> X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 i="1">
                <a:latin typeface="Times New Roman" charset="0"/>
                <a:cs typeface="Times New Roman" charset="0"/>
              </a:rPr>
              <a:t> Y</a:t>
            </a:r>
            <a:r>
              <a:rPr lang="en-US" sz="2400">
                <a:cs typeface="Times New Roman" charset="0"/>
              </a:rPr>
              <a:t> and</a:t>
            </a:r>
            <a:r>
              <a:rPr lang="en-US" sz="2400" i="1">
                <a:latin typeface="Times New Roman" charset="0"/>
                <a:cs typeface="Times New Roman" charset="0"/>
              </a:rPr>
              <a:t> Z</a:t>
            </a:r>
            <a:r>
              <a:rPr lang="en-US" sz="2400">
                <a:cs typeface="Times New Roman" charset="0"/>
              </a:rPr>
              <a:t>)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on the </a:t>
            </a:r>
            <a:r>
              <a:rPr lang="en-US" sz="2400" i="1">
                <a:latin typeface="Times New Roman" charset="0"/>
                <a:cs typeface="Times New Roman" charset="0"/>
              </a:rPr>
              <a:t>k</a:t>
            </a:r>
            <a:r>
              <a:rPr lang="en-US" sz="1000" i="1">
                <a:latin typeface="Times New Roman" charset="0"/>
                <a:cs typeface="Times New Roman" charset="0"/>
              </a:rPr>
              <a:t> </a:t>
            </a:r>
            <a:r>
              <a:rPr lang="en-US" sz="2400" baseline="30000">
                <a:cs typeface="Times New Roman" charset="0"/>
              </a:rPr>
              <a:t>th</a:t>
            </a:r>
            <a:r>
              <a:rPr lang="en-US" sz="2400">
                <a:cs typeface="Times New Roman" charset="0"/>
              </a:rPr>
              <a:t> qubit</a:t>
            </a:r>
            <a:endParaRPr lang="en-CA" sz="2400">
              <a:cs typeface="Times New Roman" charset="0"/>
            </a:endParaRPr>
          </a:p>
        </p:txBody>
      </p:sp>
      <p:sp>
        <p:nvSpPr>
          <p:cNvPr id="22533" name="TextBox 5"/>
          <p:cNvSpPr txBox="1">
            <a:spLocks noChangeArrowheads="1"/>
          </p:cNvSpPr>
          <p:nvPr/>
        </p:nvSpPr>
        <p:spPr bwMode="auto">
          <a:xfrm>
            <a:off x="169863" y="5410200"/>
            <a:ext cx="87455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Hence the code actually protects against </a:t>
            </a:r>
            <a:r>
              <a:rPr lang="en-US" sz="2400" b="1" i="1"/>
              <a:t>any</a:t>
            </a:r>
            <a:r>
              <a:rPr lang="en-US" sz="2400"/>
              <a:t> unitary one-qubit error (in fact the error can be any one-qubit quantum operation)</a:t>
            </a:r>
            <a:endParaRPr lang="en-CA" sz="2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827545-B60C-A645-8406-5056497FD16B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1">
              <a:effectLst>
                <a:outerShdw blurRad="38100" dist="38100" dir="2700000" algn="tl">
                  <a:srgbClr val="DDDDDD"/>
                </a:outerShdw>
              </a:effectLst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667000"/>
            <a:ext cx="4572000" cy="990600"/>
          </a:xfrm>
          <a:solidFill>
            <a:srgbClr val="B2B2B2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6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 CSS Codes</a:t>
            </a:r>
            <a:endParaRPr lang="en-US" sz="100">
              <a:solidFill>
                <a:srgbClr val="C0C0C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Introduction to CSS codes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45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2BA095-7C6E-FE41-8A2C-70390F244BBA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4579" name="TextBox 5"/>
          <p:cNvSpPr txBox="1">
            <a:spLocks noChangeArrowheads="1"/>
          </p:cNvSpPr>
          <p:nvPr/>
        </p:nvSpPr>
        <p:spPr bwMode="auto">
          <a:xfrm>
            <a:off x="169863" y="1219200"/>
            <a:ext cx="83645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CSS codes (named after Calderbank, Shor, and Steane) are quantum error correcting codes that are constructed from classical error-correcting codes with certain properties</a:t>
            </a:r>
            <a:endParaRPr lang="en-CA" sz="2400"/>
          </a:p>
        </p:txBody>
      </p:sp>
      <p:sp>
        <p:nvSpPr>
          <p:cNvPr id="24580" name="TextBox 8"/>
          <p:cNvSpPr txBox="1">
            <a:spLocks noChangeArrowheads="1"/>
          </p:cNvSpPr>
          <p:nvPr/>
        </p:nvSpPr>
        <p:spPr bwMode="auto">
          <a:xfrm>
            <a:off x="152400" y="2667000"/>
            <a:ext cx="828833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A classical </a:t>
            </a:r>
            <a:r>
              <a:rPr lang="en-US" sz="2400" b="1" i="1"/>
              <a:t>linear</a:t>
            </a:r>
            <a:r>
              <a:rPr lang="en-US" sz="2400"/>
              <a:t> code is one whose codewords (a subset of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>
                <a:cs typeface="Times New Roman" charset="0"/>
              </a:rPr>
              <a:t>) constitute a vector space</a:t>
            </a:r>
          </a:p>
          <a:p>
            <a:pPr eaLnBrk="1" hangingPunct="1"/>
            <a:endParaRPr lang="en-US" sz="24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In other words, they are closed under linear combinations (here the underlying field is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400">
                <a:cs typeface="Times New Roman" charset="0"/>
              </a:rPr>
              <a:t> so the arithmetic is </a:t>
            </a:r>
            <a:r>
              <a:rPr lang="en-US" sz="2400">
                <a:latin typeface="Times New Roman" charset="0"/>
                <a:cs typeface="Times New Roman" charset="0"/>
              </a:rPr>
              <a:t>mod</a:t>
            </a:r>
            <a:r>
              <a:rPr lang="en-US" sz="2400">
                <a:cs typeface="Times New Roman" charset="0"/>
              </a:rPr>
              <a:t> 2)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Examples of linear codes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AAC4DCD-F3FF-E347-9315-B9D725F521BB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5603" name="TextBox 5"/>
          <p:cNvSpPr txBox="1">
            <a:spLocks noChangeArrowheads="1"/>
          </p:cNvSpPr>
          <p:nvPr/>
        </p:nvSpPr>
        <p:spPr bwMode="auto">
          <a:xfrm>
            <a:off x="304800" y="1231900"/>
            <a:ext cx="836453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For </a:t>
            </a:r>
            <a:r>
              <a:rPr lang="en-US" sz="2800" i="1">
                <a:latin typeface="Times New Roman" charset="0"/>
                <a:cs typeface="Times New Roman" charset="0"/>
              </a:rPr>
              <a:t>m </a:t>
            </a:r>
            <a:r>
              <a:rPr lang="en-US" sz="2400" b="1">
                <a:latin typeface="Times New Roman" charset="0"/>
                <a:cs typeface="Times New Roman" charset="0"/>
              </a:rPr>
              <a:t>= </a:t>
            </a:r>
            <a:r>
              <a:rPr lang="en-US" sz="2400">
                <a:latin typeface="Times New Roman" charset="0"/>
                <a:cs typeface="Times New Roman" charset="0"/>
              </a:rPr>
              <a:t>7</a:t>
            </a:r>
            <a:r>
              <a:rPr lang="en-US" sz="2400">
                <a:cs typeface="Times New Roman" charset="0"/>
              </a:rPr>
              <a:t>, consider these codes (which are linear):</a:t>
            </a:r>
          </a:p>
          <a:p>
            <a:pPr eaLnBrk="1" hangingPunct="1"/>
            <a:endParaRPr lang="en-US" sz="1600">
              <a:cs typeface="Times New Roman" charset="0"/>
            </a:endParaRPr>
          </a:p>
          <a:p>
            <a:pPr eaLnBrk="1" hangingPunct="1"/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 </a:t>
            </a:r>
            <a:r>
              <a:rPr lang="en-US" sz="2400" b="1">
                <a:latin typeface="Times New Roman" charset="0"/>
                <a:cs typeface="Times New Roman" charset="0"/>
              </a:rPr>
              <a:t>=</a:t>
            </a:r>
            <a:r>
              <a:rPr lang="en-US" sz="2400">
                <a:latin typeface="Times New Roman" charset="0"/>
                <a:cs typeface="Times New Roman" charset="0"/>
              </a:rPr>
              <a:t> {</a:t>
            </a:r>
            <a:r>
              <a:rPr lang="en-US" sz="2400">
                <a:cs typeface="Times New Roman" charset="0"/>
              </a:rPr>
              <a:t>0000000,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1010101</a:t>
            </a:r>
            <a:r>
              <a:rPr lang="en-US" sz="2400">
                <a:cs typeface="Times New Roman" charset="0"/>
              </a:rPr>
              <a:t>,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0110011</a:t>
            </a:r>
            <a:r>
              <a:rPr lang="en-US" sz="2400">
                <a:cs typeface="Times New Roman" charset="0"/>
              </a:rPr>
              <a:t>,  1100110,</a:t>
            </a:r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</a:rPr>
              <a:t>        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0001111</a:t>
            </a:r>
            <a:r>
              <a:rPr lang="en-US" sz="2400">
                <a:cs typeface="Times New Roman" charset="0"/>
              </a:rPr>
              <a:t>, </a:t>
            </a:r>
            <a:r>
              <a:rPr lang="en-US" sz="16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 101</a:t>
            </a:r>
            <a:r>
              <a:rPr lang="en-US" sz="8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1010,  </a:t>
            </a:r>
            <a:r>
              <a:rPr lang="en-US" sz="9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0111100 , 1101001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</a:p>
          <a:p>
            <a:pPr eaLnBrk="1" hangingPunct="1"/>
            <a:endParaRPr lang="en-US" sz="2400"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 </a:t>
            </a:r>
            <a:r>
              <a:rPr lang="en-US" sz="2400" b="1">
                <a:latin typeface="Times New Roman" charset="0"/>
                <a:cs typeface="Times New Roman" charset="0"/>
              </a:rPr>
              <a:t>=</a:t>
            </a:r>
            <a:r>
              <a:rPr lang="en-US" sz="2400">
                <a:latin typeface="Times New Roman" charset="0"/>
                <a:cs typeface="Times New Roman" charset="0"/>
              </a:rPr>
              <a:t> {</a:t>
            </a:r>
            <a:r>
              <a:rPr lang="en-US" sz="2400">
                <a:cs typeface="Times New Roman" charset="0"/>
              </a:rPr>
              <a:t>0000000,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1010101</a:t>
            </a:r>
            <a:r>
              <a:rPr lang="en-US" sz="2400">
                <a:cs typeface="Times New Roman" charset="0"/>
              </a:rPr>
              <a:t>,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0110011</a:t>
            </a:r>
            <a:r>
              <a:rPr lang="en-US" sz="2400">
                <a:cs typeface="Times New Roman" charset="0"/>
              </a:rPr>
              <a:t>,  1100110,</a:t>
            </a:r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</a:rPr>
              <a:t>        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0001</a:t>
            </a:r>
            <a:r>
              <a:rPr lang="en-US" sz="4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3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3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 </a:t>
            </a:r>
            <a:r>
              <a:rPr lang="en-US" sz="16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101</a:t>
            </a:r>
            <a:r>
              <a:rPr lang="en-US" sz="2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1010,  </a:t>
            </a:r>
            <a:r>
              <a:rPr lang="en-US" sz="9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0111100,  1101001,</a:t>
            </a:r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</a:rPr>
              <a:t>         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3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3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3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2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2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100">
                <a:solidFill>
                  <a:srgbClr val="7575D1"/>
                </a:solidFill>
                <a:cs typeface="Times New Roman" charset="0"/>
              </a:rPr>
              <a:t> </a:t>
            </a:r>
            <a:r>
              <a:rPr lang="en-US" sz="2400">
                <a:solidFill>
                  <a:srgbClr val="7575D1"/>
                </a:solidFill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 </a:t>
            </a:r>
            <a:r>
              <a:rPr lang="en-US" sz="18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0101010, 1001100, </a:t>
            </a:r>
            <a:r>
              <a:rPr lang="en-US" sz="12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 0011001,</a:t>
            </a:r>
          </a:p>
          <a:p>
            <a:pPr eaLnBrk="1" hangingPunct="1"/>
            <a:r>
              <a:rPr lang="en-US" sz="2400">
                <a:cs typeface="Times New Roman" charset="0"/>
              </a:rPr>
              <a:t>         1</a:t>
            </a:r>
            <a:r>
              <a:rPr lang="en-US" sz="8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4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10000,  0100101, 1000011 , </a:t>
            </a:r>
            <a:r>
              <a:rPr lang="en-US" sz="14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0010110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endParaRPr lang="en-US" sz="2400">
              <a:cs typeface="Times New Roman" charset="0"/>
            </a:endParaRPr>
          </a:p>
        </p:txBody>
      </p:sp>
      <p:sp>
        <p:nvSpPr>
          <p:cNvPr id="25604" name="TextBox 6"/>
          <p:cNvSpPr txBox="1">
            <a:spLocks noChangeArrowheads="1"/>
          </p:cNvSpPr>
          <p:nvPr/>
        </p:nvSpPr>
        <p:spPr bwMode="auto">
          <a:xfrm>
            <a:off x="169863" y="4724400"/>
            <a:ext cx="8516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Note that the minimum Hamming distance between any pair of codewords is: 4 for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and 3 for 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endParaRPr lang="en-CA" sz="2400">
              <a:cs typeface="Times New Roman" charset="0"/>
            </a:endParaRPr>
          </a:p>
        </p:txBody>
      </p:sp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169863" y="5715000"/>
            <a:ext cx="8821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minimum distances imply each code can correct one error </a:t>
            </a:r>
            <a:endParaRPr lang="en-CA" sz="2400"/>
          </a:p>
        </p:txBody>
      </p:sp>
      <p:sp>
        <p:nvSpPr>
          <p:cNvPr id="25606" name="TextBox 9"/>
          <p:cNvSpPr txBox="1">
            <a:spLocks noChangeArrowheads="1"/>
          </p:cNvSpPr>
          <p:nvPr/>
        </p:nvSpPr>
        <p:spPr bwMode="auto">
          <a:xfrm>
            <a:off x="2520950" y="1752600"/>
            <a:ext cx="1409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7575D1"/>
                </a:solidFill>
              </a:rPr>
              <a:t>basis for space</a:t>
            </a:r>
            <a:endParaRPr lang="en-CA" sz="1400">
              <a:solidFill>
                <a:srgbClr val="7575D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Parity check matrix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6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D6B4508-137F-F945-81B7-FFC62E7E4A7B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26627" name="TextBox 11"/>
          <p:cNvSpPr txBox="1">
            <a:spLocks noChangeArrowheads="1"/>
          </p:cNvSpPr>
          <p:nvPr/>
        </p:nvSpPr>
        <p:spPr bwMode="auto">
          <a:xfrm>
            <a:off x="169863" y="1066800"/>
            <a:ext cx="83645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Linear codes with maximum distance </a:t>
            </a:r>
            <a:r>
              <a:rPr lang="en-US" sz="2800" i="1"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cs typeface="Times New Roman" charset="0"/>
              </a:rPr>
              <a:t> can correct up to </a:t>
            </a:r>
            <a:r>
              <a:rPr lang="en-US" sz="2400">
                <a:cs typeface="Times New Roman" charset="0"/>
                <a:sym typeface="Symbol" charset="0"/>
              </a:rPr>
              <a:t>  </a:t>
            </a:r>
          </a:p>
          <a:p>
            <a:pPr eaLnBrk="1" hangingPunct="1"/>
            <a:r>
              <a:rPr lang="en-US" sz="2400">
                <a:cs typeface="Times New Roman" charset="0"/>
                <a:sym typeface="Symbol" charset="0"/>
              </a:rPr>
              <a:t>          </a:t>
            </a:r>
            <a:r>
              <a:rPr lang="en-US" sz="2400">
                <a:cs typeface="Times New Roman" charset="0"/>
              </a:rPr>
              <a:t>bit-flip errors</a:t>
            </a:r>
            <a:endParaRPr lang="en-CA" sz="2400" b="1">
              <a:latin typeface="Times New Roman" charset="0"/>
              <a:cs typeface="Times New Roman" charset="0"/>
            </a:endParaRPr>
          </a:p>
        </p:txBody>
      </p:sp>
      <p:sp>
        <p:nvSpPr>
          <p:cNvPr id="26628" name="TextBox 12"/>
          <p:cNvSpPr txBox="1">
            <a:spLocks noChangeArrowheads="1"/>
          </p:cNvSpPr>
          <p:nvPr/>
        </p:nvSpPr>
        <p:spPr bwMode="auto">
          <a:xfrm>
            <a:off x="169863" y="2362200"/>
            <a:ext cx="8821737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Every linear code has an </a:t>
            </a:r>
            <a:r>
              <a:rPr lang="en-US" sz="2400" i="1">
                <a:latin typeface="Times New Roman" charset="0"/>
                <a:cs typeface="Times New Roman" charset="0"/>
              </a:rPr>
              <a:t>n</a:t>
            </a:r>
            <a:r>
              <a:rPr lang="en-US"/>
              <a:t>x</a:t>
            </a:r>
            <a:r>
              <a:rPr lang="en-US" sz="2400" i="1">
                <a:latin typeface="Times New Roman" charset="0"/>
                <a:cs typeface="Times New Roman" charset="0"/>
              </a:rPr>
              <a:t>m</a:t>
            </a:r>
            <a:r>
              <a:rPr lang="en-US" sz="2400"/>
              <a:t> </a:t>
            </a:r>
            <a:r>
              <a:rPr lang="en-US" sz="2400" b="1" i="1">
                <a:cs typeface="Times New Roman" charset="0"/>
              </a:rPr>
              <a:t>parity-check matrix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i="1">
                <a:latin typeface="Times New Roman" charset="0"/>
                <a:cs typeface="Times New Roman" charset="0"/>
              </a:rPr>
              <a:t>M</a:t>
            </a:r>
            <a:r>
              <a:rPr lang="en-US" sz="2400"/>
              <a:t> such that: </a:t>
            </a:r>
          </a:p>
          <a:p>
            <a:pPr eaLnBrk="1" hangingPunct="1">
              <a:buFontTx/>
              <a:buChar char="•"/>
            </a:pPr>
            <a:r>
              <a:rPr lang="en-US" sz="2400"/>
              <a:t> For every codeword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v</a:t>
            </a:r>
            <a:r>
              <a:rPr lang="en-US" sz="2400"/>
              <a:t>,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v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M</a:t>
            </a:r>
            <a:r>
              <a:rPr lang="en-US" sz="2400" b="1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=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0</a:t>
            </a:r>
            <a:endParaRPr lang="en-US" sz="2400"/>
          </a:p>
          <a:p>
            <a:pPr eaLnBrk="1" hangingPunct="1">
              <a:buFontTx/>
              <a:buChar char="•"/>
            </a:pPr>
            <a:r>
              <a:rPr lang="en-US" sz="2400"/>
              <a:t> For any </a:t>
            </a:r>
            <a:r>
              <a:rPr lang="en-US" sz="2400" b="1" i="1"/>
              <a:t>error-vector</a:t>
            </a:r>
            <a:r>
              <a:rPr lang="en-US" sz="2400"/>
              <a:t> </a:t>
            </a:r>
            <a:r>
              <a:rPr lang="en-US" sz="2800" i="1">
                <a:latin typeface="Times New Roman" charset="0"/>
                <a:cs typeface="Times New Roman" charset="0"/>
              </a:rPr>
              <a:t>e </a:t>
            </a:r>
            <a:r>
              <a:rPr lang="en-US" sz="2400">
                <a:cs typeface="Times New Roman" charset="0"/>
                <a:sym typeface="Symbol" charset="0"/>
              </a:rPr>
              <a:t>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>
                <a:cs typeface="Times New Roman" charset="0"/>
              </a:rPr>
              <a:t> with weight </a:t>
            </a:r>
            <a:r>
              <a:rPr lang="en-US" sz="24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             </a:t>
            </a:r>
            <a:r>
              <a:rPr lang="en-US" sz="2400">
                <a:cs typeface="Times New Roman" charset="0"/>
              </a:rPr>
              <a:t>, 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 </a:t>
            </a:r>
            <a:r>
              <a:rPr lang="en-US" sz="2400">
                <a:cs typeface="Times New Roman" charset="0"/>
              </a:rPr>
              <a:t>can </a:t>
            </a:r>
          </a:p>
          <a:p>
            <a:pPr eaLnBrk="1" hangingPunct="1"/>
            <a:r>
              <a:rPr lang="en-US" sz="2400">
                <a:cs typeface="Times New Roman" charset="0"/>
              </a:rPr>
              <a:t>  be uniquely determined by multiplying the disturbed codeword</a:t>
            </a:r>
          </a:p>
          <a:p>
            <a:pPr eaLnBrk="1" hangingPunct="1"/>
            <a:r>
              <a:rPr lang="en-US" sz="2400">
                <a:cs typeface="Times New Roman" charset="0"/>
              </a:rPr>
              <a:t>  (which is </a:t>
            </a:r>
            <a:r>
              <a:rPr lang="en-US" sz="2800" i="1">
                <a:latin typeface="Times New Roman" charset="0"/>
                <a:cs typeface="Times New Roman" charset="0"/>
              </a:rPr>
              <a:t>v</a:t>
            </a:r>
            <a:r>
              <a:rPr lang="en-US" sz="2400" b="1" i="1">
                <a:latin typeface="Times New Roman" charset="0"/>
                <a:cs typeface="Times New Roman" charset="0"/>
              </a:rPr>
              <a:t>+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) by </a:t>
            </a:r>
            <a:r>
              <a:rPr lang="en-US" sz="2400" i="1">
                <a:latin typeface="Times New Roman" charset="0"/>
                <a:cs typeface="Times New Roman" charset="0"/>
              </a:rPr>
              <a:t>M</a:t>
            </a:r>
          </a:p>
          <a:p>
            <a:pPr eaLnBrk="1" hangingPunct="1"/>
            <a:endParaRPr lang="en-US" sz="900">
              <a:cs typeface="Times New Roman" charset="0"/>
            </a:endParaRPr>
          </a:p>
          <a:p>
            <a:pPr eaLnBrk="1" hangingPunct="1"/>
            <a:r>
              <a:rPr lang="en-US" sz="2400" b="1">
                <a:cs typeface="Times New Roman" charset="0"/>
              </a:rPr>
              <a:t>Error syndrome: </a:t>
            </a:r>
            <a:r>
              <a:rPr lang="en-US" sz="24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(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v</a:t>
            </a:r>
            <a:r>
              <a:rPr lang="en-US" sz="2400" b="1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+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)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M</a:t>
            </a:r>
            <a:r>
              <a:rPr lang="en-US" sz="2400" b="1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=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s</a:t>
            </a:r>
            <a:r>
              <a:rPr lang="en-US" sz="2800" i="1" baseline="-250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 and 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 </a:t>
            </a:r>
            <a:r>
              <a:rPr lang="en-US" sz="2400">
                <a:cs typeface="Times New Roman" charset="0"/>
              </a:rPr>
              <a:t>is a function of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</a:t>
            </a:r>
            <a:r>
              <a:rPr lang="en-US" sz="2400">
                <a:cs typeface="Times New Roman" charset="0"/>
              </a:rPr>
              <a:t> only</a:t>
            </a:r>
          </a:p>
        </p:txBody>
      </p:sp>
      <p:sp>
        <p:nvSpPr>
          <p:cNvPr id="26629" name="TextBox 8"/>
          <p:cNvSpPr txBox="1">
            <a:spLocks noChangeArrowheads="1"/>
          </p:cNvSpPr>
          <p:nvPr/>
        </p:nvSpPr>
        <p:spPr bwMode="auto">
          <a:xfrm>
            <a:off x="169863" y="5557838"/>
            <a:ext cx="8524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/>
              <a:t>Exercise:</a:t>
            </a:r>
            <a:r>
              <a:rPr lang="en-US" sz="2400"/>
              <a:t> determine the parity check matrix for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and for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endParaRPr lang="en-CA" sz="2400">
              <a:cs typeface="Times New Roman" charset="0"/>
            </a:endParaRPr>
          </a:p>
        </p:txBody>
      </p:sp>
      <p:pic>
        <p:nvPicPr>
          <p:cNvPr id="26630" name="Picture 6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757238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3276600"/>
            <a:ext cx="7762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Encoding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0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F98BF2C-FE49-F24B-88E3-10EB3FA18DF4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27651" name="TextBox 7"/>
          <p:cNvSpPr txBox="1">
            <a:spLocks noChangeArrowheads="1"/>
          </p:cNvSpPr>
          <p:nvPr/>
        </p:nvSpPr>
        <p:spPr bwMode="auto">
          <a:xfrm>
            <a:off x="169863" y="1636713"/>
            <a:ext cx="81359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To encode a 3-bit string </a:t>
            </a:r>
            <a:r>
              <a:rPr lang="en-US" sz="2800" i="1">
                <a:latin typeface="Times New Roman" charset="0"/>
                <a:cs typeface="Times New Roman" charset="0"/>
              </a:rPr>
              <a:t>b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800" i="1">
                <a:latin typeface="Times New Roman" charset="0"/>
                <a:cs typeface="Times New Roman" charset="0"/>
              </a:rPr>
              <a:t> b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8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8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3 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in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cs typeface="Times New Roman" charset="0"/>
              </a:rPr>
              <a:t>, one multiplies </a:t>
            </a:r>
            <a:r>
              <a:rPr lang="en-US" sz="2800" i="1">
                <a:latin typeface="Times New Roman" charset="0"/>
                <a:cs typeface="Times New Roman" charset="0"/>
              </a:rPr>
              <a:t>b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(on the right) by an appropriate 3</a:t>
            </a:r>
            <a:r>
              <a:rPr lang="en-US" sz="2400" b="1">
                <a:cs typeface="Times New Roman" charset="0"/>
                <a:sym typeface="Symbol" charset="0"/>
              </a:rPr>
              <a:t></a:t>
            </a:r>
            <a:r>
              <a:rPr lang="en-US" sz="2400">
                <a:cs typeface="Times New Roman" charset="0"/>
              </a:rPr>
              <a:t>7 </a:t>
            </a:r>
            <a:r>
              <a:rPr lang="en-US" sz="2400" b="1" i="1">
                <a:cs typeface="Times New Roman" charset="0"/>
              </a:rPr>
              <a:t>generator matrix</a:t>
            </a:r>
            <a:endParaRPr lang="en-US" sz="2400" i="1">
              <a:latin typeface="Times New Roman" charset="0"/>
              <a:cs typeface="Times New Roman" charset="0"/>
            </a:endParaRPr>
          </a:p>
        </p:txBody>
      </p:sp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2057400" y="2590800"/>
          <a:ext cx="3325813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Equation" r:id="rId3" imgW="1778000" imgH="711200" progId="Equation.3">
                  <p:embed/>
                </p:oleObj>
              </mc:Choice>
              <mc:Fallback>
                <p:oleObj name="Equation" r:id="rId3" imgW="17780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90800"/>
                        <a:ext cx="3325813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Box 7"/>
          <p:cNvSpPr txBox="1">
            <a:spLocks noChangeArrowheads="1"/>
          </p:cNvSpPr>
          <p:nvPr/>
        </p:nvSpPr>
        <p:spPr bwMode="auto">
          <a:xfrm>
            <a:off x="169863" y="4198938"/>
            <a:ext cx="87455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Similarly,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 </a:t>
            </a:r>
            <a:r>
              <a:rPr lang="en-US" sz="2400">
                <a:cs typeface="Times New Roman" charset="0"/>
              </a:rPr>
              <a:t>can encode 4 bits and an appropriate generator matrix for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 is</a:t>
            </a:r>
            <a:endParaRPr lang="en-CA" sz="2400">
              <a:cs typeface="Times New Roman" charset="0"/>
            </a:endParaRPr>
          </a:p>
        </p:txBody>
      </p:sp>
      <p:sp>
        <p:nvSpPr>
          <p:cNvPr id="27654" name="TextBox 7"/>
          <p:cNvSpPr txBox="1">
            <a:spLocks noChangeArrowheads="1"/>
          </p:cNvSpPr>
          <p:nvPr/>
        </p:nvSpPr>
        <p:spPr bwMode="auto">
          <a:xfrm>
            <a:off x="169863" y="1179513"/>
            <a:ext cx="541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Since , </a:t>
            </a:r>
            <a:r>
              <a:rPr lang="en-US" sz="2400">
                <a:latin typeface="Times New Roman" charset="0"/>
                <a:cs typeface="Times New Roman" charset="0"/>
              </a:rPr>
              <a:t>|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|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8, it can encode 3 bits</a:t>
            </a:r>
            <a:endParaRPr lang="en-CA" sz="2400">
              <a:cs typeface="Times New Roman" charset="0"/>
            </a:endParaRPr>
          </a:p>
        </p:txBody>
      </p:sp>
      <p:graphicFrame>
        <p:nvGraphicFramePr>
          <p:cNvPr id="27655" name="Object 3"/>
          <p:cNvGraphicFramePr>
            <a:graphicFrameLocks noChangeAspect="1"/>
          </p:cNvGraphicFramePr>
          <p:nvPr/>
        </p:nvGraphicFramePr>
        <p:xfrm>
          <a:off x="2511425" y="4837113"/>
          <a:ext cx="2898775" cy="171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Equation" r:id="rId5" imgW="1549400" imgH="914400" progId="Equation.3">
                  <p:embed/>
                </p:oleObj>
              </mc:Choice>
              <mc:Fallback>
                <p:oleObj name="Equation" r:id="rId5" imgW="15494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837113"/>
                        <a:ext cx="2898775" cy="171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Orthogonal complement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50B4BD-C774-9142-8FE9-DAE9F578ADF4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28675" name="TextBox 5"/>
          <p:cNvSpPr txBox="1">
            <a:spLocks noChangeArrowheads="1"/>
          </p:cNvSpPr>
          <p:nvPr/>
        </p:nvSpPr>
        <p:spPr bwMode="auto">
          <a:xfrm>
            <a:off x="169863" y="1295400"/>
            <a:ext cx="8364537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For a linear code 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C</a:t>
            </a:r>
            <a:r>
              <a:rPr lang="en-US" sz="2400">
                <a:cs typeface="Times New Roman" charset="0"/>
              </a:rPr>
              <a:t>, define its </a:t>
            </a:r>
            <a:r>
              <a:rPr lang="en-US" sz="2400" b="1" i="1">
                <a:cs typeface="Times New Roman" charset="0"/>
              </a:rPr>
              <a:t>orthogonal complement </a:t>
            </a:r>
            <a:r>
              <a:rPr lang="en-US" sz="2400">
                <a:cs typeface="Times New Roman" charset="0"/>
              </a:rPr>
              <a:t>as </a:t>
            </a:r>
          </a:p>
          <a:p>
            <a:pPr eaLnBrk="1" hangingPunct="1"/>
            <a:endParaRPr lang="en-US" sz="1800" i="1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        C</a:t>
            </a:r>
            <a:r>
              <a:rPr lang="en-US" sz="2400" b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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 i="1">
                <a:latin typeface="Times New Roman" charset="0"/>
                <a:cs typeface="Times New Roman" charset="0"/>
              </a:rPr>
              <a:t>w</a:t>
            </a:r>
            <a:r>
              <a:rPr lang="en-US" sz="2400">
                <a:cs typeface="Times New Roman" charset="0"/>
                <a:sym typeface="Symbol" charset="0"/>
              </a:rPr>
              <a:t>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: for all </a:t>
            </a:r>
            <a:r>
              <a:rPr lang="en-US" sz="2400" i="1">
                <a:latin typeface="Times New Roman" charset="0"/>
                <a:cs typeface="Times New Roman" charset="0"/>
              </a:rPr>
              <a:t>v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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C</a:t>
            </a:r>
            <a:r>
              <a:rPr lang="en-US" sz="2400">
                <a:cs typeface="Times New Roman" charset="0"/>
              </a:rPr>
              <a:t>, </a:t>
            </a:r>
            <a:r>
              <a:rPr lang="en-US" sz="2400" i="1">
                <a:latin typeface="Times New Roman" charset="0"/>
                <a:cs typeface="Times New Roman" charset="0"/>
              </a:rPr>
              <a:t>w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</a:t>
            </a:r>
            <a:r>
              <a:rPr lang="en-US" sz="2400" i="1">
                <a:latin typeface="Times New Roman" charset="0"/>
                <a:cs typeface="Times New Roman" charset="0"/>
              </a:rPr>
              <a:t>v</a:t>
            </a:r>
            <a:r>
              <a:rPr lang="en-US" sz="2400">
                <a:latin typeface="Times New Roman" charset="0"/>
                <a:cs typeface="Times New Roman" charset="0"/>
              </a:rPr>
              <a:t> = 0}</a:t>
            </a:r>
            <a:r>
              <a:rPr lang="en-US" sz="2400">
                <a:cs typeface="Times New Roman" charset="0"/>
              </a:rPr>
              <a:t> </a:t>
            </a:r>
          </a:p>
          <a:p>
            <a:pPr eaLnBrk="1" hangingPunct="1"/>
            <a:endParaRPr lang="en-US" sz="18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(where  </a:t>
            </a:r>
            <a:r>
              <a:rPr lang="en-US" sz="2400" i="1">
                <a:latin typeface="Times New Roman" charset="0"/>
                <a:cs typeface="Times New Roman" charset="0"/>
              </a:rPr>
              <a:t>w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</a:t>
            </a:r>
            <a:r>
              <a:rPr lang="en-US" sz="2400" i="1">
                <a:latin typeface="Times New Roman" charset="0"/>
                <a:cs typeface="Times New Roman" charset="0"/>
              </a:rPr>
              <a:t>v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=                        </a:t>
            </a:r>
            <a:r>
              <a:rPr lang="en-US" sz="2400">
                <a:cs typeface="Times New Roman" charset="0"/>
              </a:rPr>
              <a:t>, the </a:t>
            </a:r>
            <a:r>
              <a:rPr lang="ja-JP" altLang="en-US" sz="2400">
                <a:cs typeface="Times New Roman" charset="0"/>
              </a:rPr>
              <a:t>“</a:t>
            </a:r>
            <a:r>
              <a:rPr lang="en-US" altLang="ja-JP" sz="2400">
                <a:cs typeface="Times New Roman" charset="0"/>
              </a:rPr>
              <a:t>dot product</a:t>
            </a:r>
            <a:r>
              <a:rPr lang="ja-JP" altLang="en-US" sz="2400">
                <a:cs typeface="Times New Roman" charset="0"/>
              </a:rPr>
              <a:t>”</a:t>
            </a:r>
            <a:r>
              <a:rPr lang="en-US" altLang="ja-JP" sz="2400">
                <a:cs typeface="Times New Roman" charset="0"/>
              </a:rPr>
              <a:t>)</a:t>
            </a:r>
            <a:endParaRPr lang="en-US" sz="2400">
              <a:latin typeface="Times New Roman" charset="0"/>
              <a:cs typeface="Times New Roman" charset="0"/>
            </a:endParaRPr>
          </a:p>
        </p:txBody>
      </p:sp>
      <p:sp>
        <p:nvSpPr>
          <p:cNvPr id="28676" name="TextBox 10"/>
          <p:cNvSpPr txBox="1">
            <a:spLocks noChangeArrowheads="1"/>
          </p:cNvSpPr>
          <p:nvPr/>
        </p:nvSpPr>
        <p:spPr bwMode="auto">
          <a:xfrm>
            <a:off x="169863" y="3952875"/>
            <a:ext cx="8040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Note that, in the previous example,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 b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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latin typeface="Times New Roman" charset="0"/>
                <a:cs typeface="Times New Roman" charset="0"/>
              </a:rPr>
              <a:t> 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 </a:t>
            </a:r>
            <a:r>
              <a:rPr lang="en-US" sz="2400">
                <a:cs typeface="Times New Roman" charset="0"/>
              </a:rPr>
              <a:t>and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 b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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latin typeface="Times New Roman" charset="0"/>
                <a:cs typeface="Times New Roman" charset="0"/>
              </a:rPr>
              <a:t> 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 </a:t>
            </a:r>
            <a:endParaRPr lang="en-CA" sz="2400">
              <a:cs typeface="Times New Roman" charset="0"/>
            </a:endParaRPr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/>
        </p:nvGraphicFramePr>
        <p:xfrm>
          <a:off x="2152650" y="2430463"/>
          <a:ext cx="16383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Equation" r:id="rId3" imgW="876300" imgH="457200" progId="Equation.3">
                  <p:embed/>
                </p:oleObj>
              </mc:Choice>
              <mc:Fallback>
                <p:oleObj name="Equation" r:id="rId3" imgW="8763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2430463"/>
                        <a:ext cx="16383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Box 13"/>
          <p:cNvSpPr txBox="1">
            <a:spLocks noChangeArrowheads="1"/>
          </p:cNvSpPr>
          <p:nvPr/>
        </p:nvSpPr>
        <p:spPr bwMode="auto">
          <a:xfrm>
            <a:off x="169863" y="4491038"/>
            <a:ext cx="8718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We will use some of these properties in the CSS construction</a:t>
            </a:r>
            <a:endParaRPr lang="en-CA" sz="2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CSS construction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698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7103FF-E1E7-6E48-96CE-16DFB1E8E970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169863" y="1143000"/>
            <a:ext cx="8516937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Let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</a:t>
            </a:r>
            <a:r>
              <a:rPr lang="en-US" sz="2400" i="1">
                <a:latin typeface="Times New Roman" charset="0"/>
                <a:cs typeface="Times New Roman" charset="0"/>
              </a:rPr>
              <a:t> 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 </a:t>
            </a:r>
            <a:r>
              <a:rPr lang="en-CA" sz="2400">
                <a:cs typeface="Times New Roman" charset="0"/>
                <a:sym typeface="Symbol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</a:rPr>
              <a:t>{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latin typeface="Times New Roman" charset="0"/>
                <a:cs typeface="Times New Roman" charset="0"/>
              </a:rPr>
              <a:t>,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}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400">
                <a:cs typeface="Times New Roman" charset="0"/>
              </a:rPr>
              <a:t> be two classical linear codes such that: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>
                <a:cs typeface="Times New Roman" charset="0"/>
              </a:rPr>
              <a:t> The minimum distance of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 is</a:t>
            </a:r>
            <a:r>
              <a:rPr lang="en-US" sz="2800">
                <a:cs typeface="Times New Roman" charset="0"/>
              </a:rPr>
              <a:t> </a:t>
            </a:r>
            <a:r>
              <a:rPr lang="en-US" sz="2800" i="1">
                <a:latin typeface="Times New Roman" charset="0"/>
                <a:cs typeface="Times New Roman" charset="0"/>
              </a:rPr>
              <a:t>d</a:t>
            </a:r>
            <a:endParaRPr lang="en-US" sz="2400" i="1">
              <a:latin typeface="Times New Roman" charset="0"/>
              <a:cs typeface="Times New Roman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en-US" sz="2400">
                <a:cs typeface="Times New Roman" charset="0"/>
              </a:rPr>
              <a:t>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 b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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</a:t>
            </a:r>
            <a:r>
              <a:rPr lang="en-US" sz="2400" i="1">
                <a:latin typeface="Times New Roman" charset="0"/>
                <a:cs typeface="Times New Roman" charset="0"/>
              </a:rPr>
              <a:t> 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 </a:t>
            </a:r>
            <a:endParaRPr lang="en-CA" sz="2400">
              <a:cs typeface="Times New Roman" charset="0"/>
            </a:endParaRPr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69863" y="2514600"/>
            <a:ext cx="8516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Let  </a:t>
            </a:r>
            <a:r>
              <a:rPr lang="en-US" sz="2800" i="1">
                <a:latin typeface="Times New Roman" charset="0"/>
                <a:cs typeface="Times New Roman" charset="0"/>
              </a:rPr>
              <a:t>r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>
                <a:latin typeface="Times New Roman" charset="0"/>
                <a:cs typeface="Times New Roman" charset="0"/>
              </a:rPr>
              <a:t> dim(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) </a:t>
            </a:r>
            <a:r>
              <a:rPr lang="en-US" sz="2400" b="1">
                <a:latin typeface="Times New Roman" charset="0"/>
                <a:cs typeface="Times New Roman" charset="0"/>
                <a:sym typeface="Symbol" charset="0"/>
              </a:rPr>
              <a:t></a:t>
            </a:r>
            <a:r>
              <a:rPr lang="en-US" sz="2400" baseline="-250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</a:rPr>
              <a:t> dim(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) </a:t>
            </a:r>
            <a:r>
              <a:rPr lang="en-US" sz="2400" b="1" i="1">
                <a:latin typeface="Times New Roman" charset="0"/>
                <a:cs typeface="Times New Roman" charset="0"/>
              </a:rPr>
              <a:t>= </a:t>
            </a:r>
            <a:r>
              <a:rPr lang="en-US" sz="2400" i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latin typeface="Times New Roman" charset="0"/>
                <a:cs typeface="Times New Roman" charset="0"/>
              </a:rPr>
              <a:t>log(|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|/|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|)</a:t>
            </a:r>
          </a:p>
        </p:txBody>
      </p:sp>
      <p:sp>
        <p:nvSpPr>
          <p:cNvPr id="29701" name="TextBox 6"/>
          <p:cNvSpPr txBox="1">
            <a:spLocks noChangeArrowheads="1"/>
          </p:cNvSpPr>
          <p:nvPr/>
        </p:nvSpPr>
        <p:spPr bwMode="auto">
          <a:xfrm>
            <a:off x="169863" y="3200400"/>
            <a:ext cx="85931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Then the resulting CSS code maps each </a:t>
            </a:r>
            <a:r>
              <a:rPr lang="en-US" sz="2800" i="1">
                <a:latin typeface="Times New Roman" charset="0"/>
                <a:cs typeface="Times New Roman" charset="0"/>
              </a:rPr>
              <a:t>r</a:t>
            </a:r>
            <a:r>
              <a:rPr lang="en-US" sz="2400">
                <a:cs typeface="Times New Roman" charset="0"/>
              </a:rPr>
              <a:t>-qubit basis state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 i="1">
                <a:latin typeface="Times New Roman" charset="0"/>
                <a:cs typeface="Times New Roman" charset="0"/>
              </a:rPr>
              <a:t>…b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r</a:t>
            </a:r>
            <a:r>
              <a:rPr lang="en-US" sz="2400" baseline="-250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to some </a:t>
            </a:r>
            <a:r>
              <a:rPr lang="ja-JP" altLang="en-US" sz="2400">
                <a:cs typeface="Times New Roman" charset="0"/>
              </a:rPr>
              <a:t>“</a:t>
            </a:r>
            <a:r>
              <a:rPr lang="en-US" altLang="ja-JP" sz="2400">
                <a:cs typeface="Times New Roman" charset="0"/>
              </a:rPr>
              <a:t>coset state</a:t>
            </a:r>
            <a:r>
              <a:rPr lang="ja-JP" altLang="en-US" sz="2400">
                <a:cs typeface="Times New Roman" charset="0"/>
              </a:rPr>
              <a:t>”</a:t>
            </a:r>
            <a:r>
              <a:rPr lang="en-US" altLang="ja-JP" sz="2400">
                <a:cs typeface="Times New Roman" charset="0"/>
              </a:rPr>
              <a:t> of the form </a:t>
            </a:r>
            <a:endParaRPr lang="en-CA" sz="2400">
              <a:cs typeface="Times New Roman" charset="0"/>
            </a:endParaRPr>
          </a:p>
        </p:txBody>
      </p:sp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3017838" y="4038600"/>
          <a:ext cx="18764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Equation" r:id="rId3" imgW="1002865" imgH="482391" progId="Equation.3">
                  <p:embed/>
                </p:oleObj>
              </mc:Choice>
              <mc:Fallback>
                <p:oleObj name="Equation" r:id="rId3" imgW="1002865" imgH="48239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4038600"/>
                        <a:ext cx="18764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Box 8"/>
          <p:cNvSpPr txBox="1">
            <a:spLocks noChangeArrowheads="1"/>
          </p:cNvSpPr>
          <p:nvPr/>
        </p:nvSpPr>
        <p:spPr bwMode="auto">
          <a:xfrm>
            <a:off x="169863" y="4984750"/>
            <a:ext cx="897413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where </a:t>
            </a:r>
            <a:r>
              <a:rPr lang="en-US" sz="2400" i="1">
                <a:latin typeface="Times New Roman" charset="0"/>
                <a:cs typeface="Times New Roman" charset="0"/>
              </a:rPr>
              <a:t>w</a:t>
            </a:r>
            <a:r>
              <a:rPr lang="en-US" i="1">
                <a:latin typeface="Times New Roman" charset="0"/>
                <a:cs typeface="Times New Roman" charset="0"/>
              </a:rPr>
              <a:t> </a:t>
            </a:r>
            <a:r>
              <a:rPr lang="en-US" sz="1600" b="1" i="1">
                <a:latin typeface="Times New Roman" charset="0"/>
                <a:cs typeface="Times New Roman" charset="0"/>
              </a:rPr>
              <a:t>= </a:t>
            </a:r>
            <a:r>
              <a:rPr lang="en-US" i="1">
                <a:latin typeface="Times New Roman" charset="0"/>
                <a:cs typeface="Times New Roman" charset="0"/>
              </a:rPr>
              <a:t>w</a:t>
            </a:r>
            <a:r>
              <a:rPr lang="en-US" baseline="-25000">
                <a:latin typeface="Times New Roman" charset="0"/>
                <a:cs typeface="Times New Roman" charset="0"/>
              </a:rPr>
              <a:t>1</a:t>
            </a:r>
            <a:r>
              <a:rPr lang="en-US" i="1">
                <a:latin typeface="Times New Roman" charset="0"/>
                <a:cs typeface="Times New Roman" charset="0"/>
              </a:rPr>
              <a:t>…w</a:t>
            </a:r>
            <a:r>
              <a:rPr lang="en-US" i="1" baseline="-25000">
                <a:latin typeface="Times New Roman" charset="0"/>
                <a:cs typeface="Times New Roman" charset="0"/>
              </a:rPr>
              <a:t>m </a:t>
            </a:r>
            <a:r>
              <a:rPr lang="en-US" sz="2400">
                <a:cs typeface="Times New Roman" charset="0"/>
              </a:rPr>
              <a:t>is a linear function of </a:t>
            </a:r>
            <a:r>
              <a:rPr lang="en-US" i="1">
                <a:latin typeface="Times New Roman" charset="0"/>
                <a:cs typeface="Times New Roman" charset="0"/>
              </a:rPr>
              <a:t>b</a:t>
            </a:r>
            <a:r>
              <a:rPr lang="en-US" baseline="-25000">
                <a:latin typeface="Times New Roman" charset="0"/>
                <a:cs typeface="Times New Roman" charset="0"/>
              </a:rPr>
              <a:t>1</a:t>
            </a:r>
            <a:r>
              <a:rPr lang="en-US" i="1">
                <a:latin typeface="Times New Roman" charset="0"/>
                <a:cs typeface="Times New Roman" charset="0"/>
              </a:rPr>
              <a:t>…b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r</a:t>
            </a:r>
            <a:r>
              <a:rPr lang="en-US" sz="2400">
                <a:cs typeface="Times New Roman" charset="0"/>
              </a:rPr>
              <a:t> chosen so that each value of </a:t>
            </a:r>
            <a:r>
              <a:rPr lang="en-US" sz="24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w</a:t>
            </a:r>
            <a:r>
              <a:rPr lang="en-US" sz="2400">
                <a:cs typeface="Times New Roman" charset="0"/>
              </a:rPr>
              <a:t> occurs in a unique coset in the quotient space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/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cs typeface="Times New Roman" charset="0"/>
                <a:sym typeface="Symbol" charset="0"/>
              </a:rPr>
              <a:t> </a:t>
            </a:r>
          </a:p>
          <a:p>
            <a:pPr eaLnBrk="1" hangingPunct="1"/>
            <a:endParaRPr lang="en-US" sz="10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The quantum code can correct up to            errors</a:t>
            </a:r>
            <a:endParaRPr lang="en-CA" sz="2400">
              <a:cs typeface="Times New Roman" charset="0"/>
            </a:endParaRPr>
          </a:p>
        </p:txBody>
      </p:sp>
      <p:pic>
        <p:nvPicPr>
          <p:cNvPr id="29704" name="Picture 8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867400"/>
            <a:ext cx="8382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Example of CSS construction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0C80E21-F8D5-294F-B921-90DEC7A0A273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30723" name="TextBox 5"/>
          <p:cNvSpPr txBox="1">
            <a:spLocks noChangeArrowheads="1"/>
          </p:cNvSpPr>
          <p:nvPr/>
        </p:nvSpPr>
        <p:spPr bwMode="auto">
          <a:xfrm>
            <a:off x="169863" y="1066800"/>
            <a:ext cx="8686800" cy="30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For </a:t>
            </a:r>
            <a:r>
              <a:rPr lang="en-US" sz="2800" i="1">
                <a:latin typeface="Times New Roman" charset="0"/>
                <a:cs typeface="Times New Roman" charset="0"/>
              </a:rPr>
              <a:t>m </a:t>
            </a:r>
            <a:r>
              <a:rPr lang="en-US" sz="2400" b="1">
                <a:latin typeface="Times New Roman" charset="0"/>
                <a:cs typeface="Times New Roman" charset="0"/>
              </a:rPr>
              <a:t>= </a:t>
            </a:r>
            <a:r>
              <a:rPr lang="en-US" sz="2400">
                <a:latin typeface="Times New Roman" charset="0"/>
                <a:cs typeface="Times New Roman" charset="0"/>
              </a:rPr>
              <a:t>7</a:t>
            </a:r>
            <a:r>
              <a:rPr lang="en-US" sz="2400">
                <a:cs typeface="Times New Roman" charset="0"/>
              </a:rPr>
              <a:t>, for the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and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CA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in the previous example we obtain these basis codewords:</a:t>
            </a:r>
          </a:p>
          <a:p>
            <a:pPr eaLnBrk="1" hangingPunct="1"/>
            <a:endParaRPr lang="en-US" sz="16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L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r>
              <a:rPr lang="en-US" sz="2400" baseline="-25000">
                <a:latin typeface="Times New Roman" charset="0"/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=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0000000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1010101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0110011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1100110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</a:p>
          <a:p>
            <a:pPr eaLnBrk="1" hangingPunct="1"/>
            <a:endParaRPr lang="en-US" sz="400">
              <a:cs typeface="Times New Roman" charset="0"/>
            </a:endParaRPr>
          </a:p>
          <a:p>
            <a:pPr eaLnBrk="1" hangingPunct="1"/>
            <a:r>
              <a:rPr lang="en-US" sz="2400" b="1">
                <a:latin typeface="Times New Roman" charset="0"/>
                <a:cs typeface="Times New Roman" charset="0"/>
              </a:rPr>
              <a:t>    </a:t>
            </a:r>
            <a:r>
              <a:rPr lang="en-US" sz="1400" b="1">
                <a:latin typeface="Times New Roman" charset="0"/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   +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0001111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 b="1">
                <a:latin typeface="Times New Roman" charset="0"/>
                <a:cs typeface="Times New Roman" charset="0"/>
              </a:rPr>
              <a:t> +</a:t>
            </a:r>
            <a:r>
              <a:rPr lang="en-US" sz="1600">
                <a:cs typeface="Times New Roman" charset="0"/>
                <a:sym typeface="Symbol" charset="0"/>
              </a:rPr>
              <a:t> 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101</a:t>
            </a:r>
            <a:r>
              <a:rPr lang="en-US" sz="5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1010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 b="1">
                <a:latin typeface="Times New Roman" charset="0"/>
                <a:cs typeface="Times New Roman" charset="0"/>
              </a:rPr>
              <a:t> 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9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0111100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1101001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endParaRPr lang="en-US" sz="2400">
              <a:latin typeface="Times New Roman" charset="0"/>
              <a:cs typeface="Times New Roman" charset="0"/>
            </a:endParaRPr>
          </a:p>
          <a:p>
            <a:pPr eaLnBrk="1" hangingPunct="1"/>
            <a:endParaRPr lang="en-US" sz="1600"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L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r>
              <a:rPr lang="en-US" sz="2400" baseline="-25000">
                <a:latin typeface="Times New Roman" charset="0"/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=</a:t>
            </a:r>
            <a:r>
              <a:rPr lang="en-US" sz="28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3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3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3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2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2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1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0101010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1001100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0011001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</a:p>
          <a:p>
            <a:pPr eaLnBrk="1" hangingPunct="1"/>
            <a:endParaRPr lang="en-US" sz="100">
              <a:cs typeface="Times New Roman" charset="0"/>
            </a:endParaRPr>
          </a:p>
          <a:p>
            <a:pPr eaLnBrk="1" hangingPunct="1"/>
            <a:r>
              <a:rPr lang="en-US">
                <a:cs typeface="Times New Roman" charset="0"/>
              </a:rPr>
              <a:t> </a:t>
            </a:r>
            <a:r>
              <a:rPr lang="en-US" sz="1800">
                <a:cs typeface="Times New Roman" charset="0"/>
              </a:rPr>
              <a:t> </a:t>
            </a:r>
            <a:r>
              <a:rPr lang="en-US">
                <a:cs typeface="Times New Roman" charset="0"/>
              </a:rPr>
              <a:t>    </a:t>
            </a:r>
            <a:r>
              <a:rPr lang="en-US" sz="2400">
                <a:cs typeface="Times New Roman" charset="0"/>
              </a:rPr>
              <a:t> 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8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</a:t>
            </a:r>
            <a:r>
              <a:rPr lang="en-US" sz="400"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10000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8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0100101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1000011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0010110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endParaRPr lang="en-US" sz="2400">
              <a:cs typeface="Times New Roman" charset="0"/>
            </a:endParaRPr>
          </a:p>
        </p:txBody>
      </p:sp>
      <p:sp>
        <p:nvSpPr>
          <p:cNvPr id="30724" name="TextBox 7"/>
          <p:cNvSpPr txBox="1">
            <a:spLocks noChangeArrowheads="1"/>
          </p:cNvSpPr>
          <p:nvPr/>
        </p:nvSpPr>
        <p:spPr bwMode="auto">
          <a:xfrm>
            <a:off x="169863" y="5562600"/>
            <a:ext cx="88217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There is a quantum circuit that transforms between</a:t>
            </a:r>
            <a:r>
              <a:rPr lang="en-US" sz="2400">
                <a:sym typeface="Symbol" charset="0"/>
              </a:rPr>
              <a:t> </a:t>
            </a:r>
            <a:br>
              <a:rPr lang="en-US" sz="2400">
                <a:sym typeface="Symbol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(</a:t>
            </a:r>
            <a:r>
              <a:rPr lang="en-US" sz="2400">
                <a:cs typeface="Times New Roman" charset="0"/>
                <a:sym typeface="Symbol" charset="0"/>
              </a:rPr>
              <a:t>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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latin typeface="Times New Roman" charset="0"/>
                <a:cs typeface="Times New Roman" charset="0"/>
              </a:rPr>
              <a:t>)</a:t>
            </a:r>
            <a:r>
              <a:rPr lang="en-US" sz="2400">
                <a:cs typeface="Times New Roman" charset="0"/>
                <a:sym typeface="Symbol" charset="0"/>
              </a:rPr>
              <a:t>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800" i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m</a:t>
            </a:r>
            <a:r>
              <a:rPr lang="en-US" sz="2800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1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r>
              <a:rPr lang="en-US" sz="2800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>
                <a:cs typeface="Times New Roman" charset="0"/>
              </a:rPr>
              <a:t>and  </a:t>
            </a:r>
            <a:r>
              <a:rPr lang="en-US" sz="2400">
                <a:cs typeface="Times New Roman" charset="0"/>
                <a:sym typeface="Symbol" charset="0"/>
              </a:rPr>
              <a:t></a:t>
            </a:r>
            <a:r>
              <a:rPr lang="en-US" sz="2400">
                <a:cs typeface="Times New Roman" charset="0"/>
              </a:rPr>
              <a:t>0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L</a:t>
            </a:r>
            <a:r>
              <a:rPr lang="en-US" sz="2400">
                <a:cs typeface="Times New Roman" charset="0"/>
                <a:sym typeface="Symbol" charset="0"/>
              </a:rPr>
              <a:t>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 b="1">
                <a:latin typeface="Times New Roman" charset="0"/>
                <a:cs typeface="Times New Roman" charset="0"/>
              </a:rPr>
              <a:t>+ </a:t>
            </a:r>
            <a:r>
              <a:rPr lang="en-US" sz="2400">
                <a:cs typeface="Times New Roman" charset="0"/>
                <a:sym typeface="Symbol" charset="0"/>
              </a:rPr>
              <a:t></a:t>
            </a:r>
            <a:r>
              <a:rPr lang="en-US" sz="2400">
                <a:cs typeface="Times New Roman" charset="0"/>
              </a:rPr>
              <a:t>1</a:t>
            </a:r>
            <a:r>
              <a:rPr lang="en-US" sz="2400" i="1" baseline="-25000">
                <a:latin typeface="Times New Roman" charset="0"/>
                <a:cs typeface="Times New Roman" charset="0"/>
              </a:rPr>
              <a:t>L</a:t>
            </a:r>
            <a:r>
              <a:rPr lang="en-US" sz="2400">
                <a:cs typeface="Times New Roman" charset="0"/>
                <a:sym typeface="Symbol" charset="0"/>
              </a:rPr>
              <a:t> </a:t>
            </a:r>
            <a:endParaRPr lang="en-CA" sz="2400">
              <a:cs typeface="Times New Roman" charset="0"/>
            </a:endParaRPr>
          </a:p>
        </p:txBody>
      </p:sp>
      <p:sp>
        <p:nvSpPr>
          <p:cNvPr id="30725" name="TextBox 6"/>
          <p:cNvSpPr txBox="1">
            <a:spLocks noChangeArrowheads="1"/>
          </p:cNvSpPr>
          <p:nvPr/>
        </p:nvSpPr>
        <p:spPr bwMode="auto">
          <a:xfrm>
            <a:off x="169863" y="4262438"/>
            <a:ext cx="8821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and the linear function mapping </a:t>
            </a:r>
            <a:r>
              <a:rPr lang="en-US" sz="2400" i="1">
                <a:latin typeface="Times New Roman" charset="0"/>
                <a:cs typeface="Times New Roman" charset="0"/>
              </a:rPr>
              <a:t>b</a:t>
            </a:r>
            <a:r>
              <a:rPr lang="en-US" sz="2400">
                <a:cs typeface="Times New Roman" charset="0"/>
              </a:rPr>
              <a:t> to </a:t>
            </a:r>
            <a:r>
              <a:rPr lang="en-US" sz="2400" i="1">
                <a:latin typeface="Times New Roman" charset="0"/>
                <a:cs typeface="Times New Roman" charset="0"/>
              </a:rPr>
              <a:t>w</a:t>
            </a:r>
            <a:r>
              <a:rPr lang="en-US" sz="2400">
                <a:cs typeface="Times New Roman" charset="0"/>
              </a:rPr>
              <a:t> can be given as </a:t>
            </a:r>
            <a:r>
              <a:rPr lang="en-US" sz="2400" i="1">
                <a:latin typeface="Times New Roman" charset="0"/>
                <a:cs typeface="Times New Roman" charset="0"/>
              </a:rPr>
              <a:t>w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i="1">
                <a:latin typeface="Times New Roman" charset="0"/>
                <a:cs typeface="Times New Roman" charset="0"/>
              </a:rPr>
              <a:t> b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</a:t>
            </a:r>
            <a:r>
              <a:rPr lang="en-US" sz="2400" i="1">
                <a:latin typeface="Times New Roman" charset="0"/>
                <a:cs typeface="Times New Roman" charset="0"/>
              </a:rPr>
              <a:t>G</a:t>
            </a:r>
            <a:endParaRPr lang="en-CA" sz="2400" i="1">
              <a:latin typeface="Times New Roman" charset="0"/>
              <a:cs typeface="Times New Roman" charset="0"/>
            </a:endParaRPr>
          </a:p>
        </p:txBody>
      </p:sp>
      <p:grpSp>
        <p:nvGrpSpPr>
          <p:cNvPr id="30726" name="Group 9"/>
          <p:cNvGrpSpPr>
            <a:grpSpLocks/>
          </p:cNvGrpSpPr>
          <p:nvPr/>
        </p:nvGrpSpPr>
        <p:grpSpPr bwMode="auto">
          <a:xfrm>
            <a:off x="1131888" y="4724400"/>
            <a:ext cx="5605462" cy="914400"/>
            <a:chOff x="1284288" y="4724400"/>
            <a:chExt cx="5605462" cy="914400"/>
          </a:xfrm>
        </p:grpSpPr>
        <p:graphicFrame>
          <p:nvGraphicFramePr>
            <p:cNvPr id="30727" name="Object 6"/>
            <p:cNvGraphicFramePr>
              <a:graphicFrameLocks noChangeAspect="1"/>
            </p:cNvGraphicFramePr>
            <p:nvPr/>
          </p:nvGraphicFramePr>
          <p:xfrm>
            <a:off x="1284288" y="4724400"/>
            <a:ext cx="5605462" cy="430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0" name="Equation" r:id="rId3" imgW="2997200" imgH="228600" progId="Equation.3">
                    <p:embed/>
                  </p:oleObj>
                </mc:Choice>
                <mc:Fallback>
                  <p:oleObj name="Equation" r:id="rId3" imgW="29972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288" y="4724400"/>
                          <a:ext cx="5605462" cy="430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ight Brace 7"/>
            <p:cNvSpPr/>
            <p:nvPr/>
          </p:nvSpPr>
          <p:spPr>
            <a:xfrm rot="5400000">
              <a:off x="5600700" y="4029075"/>
              <a:ext cx="152400" cy="2362200"/>
            </a:xfrm>
            <a:prstGeom prst="rightBrace">
              <a:avLst>
                <a:gd name="adj1" fmla="val 23917"/>
                <a:gd name="adj2" fmla="val 46467"/>
              </a:avLst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CA"/>
            </a:p>
          </p:txBody>
        </p:sp>
        <p:sp>
          <p:nvSpPr>
            <p:cNvPr id="30729" name="Rectangle 8"/>
            <p:cNvSpPr>
              <a:spLocks noChangeArrowheads="1"/>
            </p:cNvSpPr>
            <p:nvPr/>
          </p:nvSpPr>
          <p:spPr bwMode="auto">
            <a:xfrm>
              <a:off x="5562600" y="5238690"/>
              <a:ext cx="3706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charset="0"/>
                  <a:cs typeface="Times New Roman" charset="0"/>
                </a:rPr>
                <a:t>G</a:t>
              </a:r>
              <a:endParaRPr lang="en-CA">
                <a:cs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CSS error correction I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C124887-94EF-5442-A0C1-15CB41F078A1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1747" name="TextBox 8"/>
          <p:cNvSpPr txBox="1">
            <a:spLocks noChangeArrowheads="1"/>
          </p:cNvSpPr>
          <p:nvPr/>
        </p:nvSpPr>
        <p:spPr bwMode="auto">
          <a:xfrm>
            <a:off x="169863" y="1295400"/>
            <a:ext cx="8593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Using the error-correcting properties of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 one can construct a quantum circuit that computes the syndrome </a:t>
            </a:r>
            <a:r>
              <a:rPr lang="en-US" sz="2800" i="1">
                <a:latin typeface="Times New Roman" charset="0"/>
                <a:cs typeface="Times New Roman" charset="0"/>
              </a:rPr>
              <a:t>s</a:t>
            </a:r>
            <a:r>
              <a:rPr lang="en-US" sz="2400">
                <a:cs typeface="Times New Roman" charset="0"/>
              </a:rPr>
              <a:t> for any combination of up to </a:t>
            </a:r>
            <a:r>
              <a:rPr lang="en-US" sz="2800" i="1"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cs typeface="Times New Roman" charset="0"/>
              </a:rPr>
              <a:t>  </a:t>
            </a:r>
            <a:r>
              <a:rPr lang="en-US" sz="2400" i="1">
                <a:latin typeface="Times New Roman" charset="0"/>
                <a:cs typeface="Times New Roman" charset="0"/>
              </a:rPr>
              <a:t>X-</a:t>
            </a:r>
            <a:r>
              <a:rPr lang="en-US" sz="2400">
                <a:cs typeface="Times New Roman" charset="0"/>
              </a:rPr>
              <a:t>errors in the following sense</a:t>
            </a:r>
            <a:endParaRPr lang="en-US" sz="2400" i="1">
              <a:latin typeface="Times New Roman" charset="0"/>
              <a:cs typeface="Times New Roman" charset="0"/>
            </a:endParaRPr>
          </a:p>
        </p:txBody>
      </p:sp>
      <p:sp>
        <p:nvSpPr>
          <p:cNvPr id="31748" name="TextBox 8"/>
          <p:cNvSpPr txBox="1">
            <a:spLocks noChangeArrowheads="1"/>
          </p:cNvSpPr>
          <p:nvPr/>
        </p:nvSpPr>
        <p:spPr bwMode="auto">
          <a:xfrm>
            <a:off x="169863" y="3908425"/>
            <a:ext cx="85931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Once the syndrome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s</a:t>
            </a:r>
            <a:r>
              <a:rPr lang="en-US" sz="2800" i="1" baseline="-250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e</a:t>
            </a:r>
            <a:r>
              <a:rPr lang="en-US" sz="2400">
                <a:cs typeface="Times New Roman" charset="0"/>
              </a:rPr>
              <a:t>, has been computed, the </a:t>
            </a:r>
            <a:r>
              <a:rPr lang="en-US" sz="2400" i="1">
                <a:latin typeface="Times New Roman" charset="0"/>
                <a:cs typeface="Times New Roman" charset="0"/>
              </a:rPr>
              <a:t>X-</a:t>
            </a:r>
            <a:r>
              <a:rPr lang="en-US" sz="2400">
                <a:cs typeface="Times New Roman" charset="0"/>
              </a:rPr>
              <a:t>errors can be determined and undone</a:t>
            </a:r>
          </a:p>
        </p:txBody>
      </p:sp>
      <p:grpSp>
        <p:nvGrpSpPr>
          <p:cNvPr id="31749" name="Group 32"/>
          <p:cNvGrpSpPr>
            <a:grpSpLocks/>
          </p:cNvGrpSpPr>
          <p:nvPr/>
        </p:nvGrpSpPr>
        <p:grpSpPr bwMode="auto">
          <a:xfrm>
            <a:off x="1905000" y="2743200"/>
            <a:ext cx="4108450" cy="1066800"/>
            <a:chOff x="1295400" y="1981200"/>
            <a:chExt cx="4108705" cy="10668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438471" y="20574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438471" y="21336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438471" y="22098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438471" y="22860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438471" y="23622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38471" y="24384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438471" y="25146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438471" y="26670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438471" y="27432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438471" y="28194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438471" y="28956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438471" y="2971800"/>
              <a:ext cx="1524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2667085" y="1981200"/>
              <a:ext cx="1066866" cy="10668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</a:endParaRPr>
            </a:p>
          </p:txBody>
        </p:sp>
        <p:sp>
          <p:nvSpPr>
            <p:cNvPr id="31764" name="TextBox 25"/>
            <p:cNvSpPr txBox="1">
              <a:spLocks noChangeArrowheads="1"/>
            </p:cNvSpPr>
            <p:nvPr/>
          </p:nvSpPr>
          <p:spPr bwMode="auto">
            <a:xfrm>
              <a:off x="1295400" y="2006025"/>
              <a:ext cx="10668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/>
                <a:t>noisy codeword</a:t>
              </a:r>
              <a:endParaRPr lang="en-CA" sz="1600"/>
            </a:p>
          </p:txBody>
        </p:sp>
        <p:sp>
          <p:nvSpPr>
            <p:cNvPr id="31765" name="Rectangle 26"/>
            <p:cNvSpPr>
              <a:spLocks noChangeArrowheads="1"/>
            </p:cNvSpPr>
            <p:nvPr/>
          </p:nvSpPr>
          <p:spPr bwMode="auto">
            <a:xfrm>
              <a:off x="1523999" y="2590800"/>
              <a:ext cx="6254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ym typeface="Symbol" charset="0"/>
                </a:rPr>
                <a:t></a:t>
              </a:r>
              <a:r>
                <a:rPr lang="en-US">
                  <a:cs typeface="Times New Roman" charset="0"/>
                </a:rPr>
                <a:t>0</a:t>
              </a:r>
              <a:r>
                <a:rPr lang="en-US" sz="2400" i="1" baseline="30000">
                  <a:solidFill>
                    <a:srgbClr val="000000"/>
                  </a:solidFill>
                  <a:latin typeface="Times New Roman" charset="0"/>
                  <a:cs typeface="Times New Roman" charset="0"/>
                  <a:sym typeface="Symbol" charset="0"/>
                </a:rPr>
                <a:t>k</a:t>
              </a:r>
              <a:r>
                <a:rPr lang="en-US">
                  <a:cs typeface="Times New Roman" charset="0"/>
                  <a:sym typeface="Symbol" charset="0"/>
                </a:rPr>
                <a:t> </a:t>
              </a:r>
              <a:endParaRPr lang="en-CA">
                <a:cs typeface="Times New Roman" charset="0"/>
              </a:endParaRPr>
            </a:p>
          </p:txBody>
        </p:sp>
        <p:sp>
          <p:nvSpPr>
            <p:cNvPr id="31766" name="TextBox 27"/>
            <p:cNvSpPr txBox="1">
              <a:spLocks noChangeArrowheads="1"/>
            </p:cNvSpPr>
            <p:nvPr/>
          </p:nvSpPr>
          <p:spPr bwMode="auto">
            <a:xfrm>
              <a:off x="4191000" y="2038290"/>
              <a:ext cx="121310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/>
                <a:t>noisy codeword</a:t>
              </a:r>
              <a:endParaRPr lang="en-CA" sz="1600"/>
            </a:p>
          </p:txBody>
        </p:sp>
        <p:sp>
          <p:nvSpPr>
            <p:cNvPr id="31767" name="Rectangle 28"/>
            <p:cNvSpPr>
              <a:spLocks noChangeArrowheads="1"/>
            </p:cNvSpPr>
            <p:nvPr/>
          </p:nvSpPr>
          <p:spPr bwMode="auto">
            <a:xfrm>
              <a:off x="4114800" y="2514600"/>
              <a:ext cx="67683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ym typeface="Symbol" charset="0"/>
                </a:rPr>
                <a:t></a:t>
              </a:r>
              <a:r>
                <a:rPr lang="en-US" sz="2800" i="1">
                  <a:solidFill>
                    <a:srgbClr val="000000"/>
                  </a:solidFill>
                  <a:latin typeface="Times New Roman" charset="0"/>
                  <a:cs typeface="Times New Roman" charset="0"/>
                </a:rPr>
                <a:t>s</a:t>
              </a:r>
              <a:r>
                <a:rPr lang="en-US" sz="2800" i="1" baseline="-25000">
                  <a:solidFill>
                    <a:srgbClr val="000000"/>
                  </a:solidFill>
                  <a:latin typeface="Times New Roman" charset="0"/>
                  <a:cs typeface="Times New Roman" charset="0"/>
                </a:rPr>
                <a:t>e</a:t>
              </a:r>
              <a:r>
                <a:rPr lang="en-US" sz="2400">
                  <a:cs typeface="Times New Roman" charset="0"/>
                  <a:sym typeface="Symbol" charset="0"/>
                </a:rPr>
                <a:t> </a:t>
              </a:r>
              <a:endParaRPr lang="en-CA" sz="2400">
                <a:cs typeface="Times New Roman" charset="0"/>
              </a:endParaRPr>
            </a:p>
          </p:txBody>
        </p:sp>
        <p:sp>
          <p:nvSpPr>
            <p:cNvPr id="31" name="Double Brace 30"/>
            <p:cNvSpPr/>
            <p:nvPr/>
          </p:nvSpPr>
          <p:spPr>
            <a:xfrm>
              <a:off x="2286061" y="2057400"/>
              <a:ext cx="1828914" cy="457200"/>
            </a:xfrm>
            <a:prstGeom prst="brace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CA"/>
            </a:p>
          </p:txBody>
        </p:sp>
        <p:sp>
          <p:nvSpPr>
            <p:cNvPr id="32" name="Double Brace 31"/>
            <p:cNvSpPr/>
            <p:nvPr/>
          </p:nvSpPr>
          <p:spPr>
            <a:xfrm>
              <a:off x="2286061" y="2667000"/>
              <a:ext cx="1828914" cy="304800"/>
            </a:xfrm>
            <a:prstGeom prst="brace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CA"/>
            </a:p>
          </p:txBody>
        </p:sp>
      </p:grpSp>
      <p:sp>
        <p:nvSpPr>
          <p:cNvPr id="31750" name="TextBox 6"/>
          <p:cNvSpPr txBox="1">
            <a:spLocks noChangeArrowheads="1"/>
          </p:cNvSpPr>
          <p:nvPr/>
        </p:nvSpPr>
        <p:spPr bwMode="auto">
          <a:xfrm>
            <a:off x="169863" y="4948238"/>
            <a:ext cx="82121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What about </a:t>
            </a:r>
            <a:r>
              <a:rPr lang="en-US" sz="2400" i="1">
                <a:latin typeface="Times New Roman" charset="0"/>
                <a:cs typeface="Times New Roman" charset="0"/>
              </a:rPr>
              <a:t>Z-</a:t>
            </a:r>
            <a:r>
              <a:rPr lang="en-US" sz="2400">
                <a:cs typeface="Times New Roman" charset="0"/>
              </a:rPr>
              <a:t>errors?</a:t>
            </a:r>
          </a:p>
          <a:p>
            <a:pPr eaLnBrk="1" hangingPunct="1"/>
            <a:endParaRPr lang="en-US" sz="1200">
              <a:cs typeface="Times New Roman" charset="0"/>
            </a:endParaRPr>
          </a:p>
          <a:p>
            <a:pPr eaLnBrk="1" hangingPunct="1"/>
            <a:r>
              <a:rPr lang="en-US" sz="2400">
                <a:cs typeface="Times New Roman" charset="0"/>
              </a:rPr>
              <a:t>The above procedure for correcting </a:t>
            </a:r>
            <a:r>
              <a:rPr lang="en-US" sz="2400" i="1">
                <a:latin typeface="Times New Roman" charset="0"/>
                <a:cs typeface="Times New Roman" charset="0"/>
              </a:rPr>
              <a:t>X-</a:t>
            </a:r>
            <a:r>
              <a:rPr lang="en-US" sz="2400">
                <a:cs typeface="Times New Roman" charset="0"/>
              </a:rPr>
              <a:t>errors has no effect on any </a:t>
            </a:r>
            <a:r>
              <a:rPr lang="en-US" sz="2400" i="1">
                <a:latin typeface="Times New Roman" charset="0"/>
                <a:cs typeface="Times New Roman" charset="0"/>
              </a:rPr>
              <a:t>Z-</a:t>
            </a:r>
            <a:r>
              <a:rPr lang="en-US" sz="2400">
                <a:cs typeface="Times New Roman" charset="0"/>
              </a:rPr>
              <a:t>errors that occur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CSS error correction II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27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E6D07B1-D54B-E34C-89DC-79C02D4F2497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32771" name="TextBox 9"/>
          <p:cNvSpPr txBox="1">
            <a:spLocks noChangeArrowheads="1"/>
          </p:cNvSpPr>
          <p:nvPr/>
        </p:nvSpPr>
        <p:spPr bwMode="auto">
          <a:xfrm>
            <a:off x="169863" y="1143000"/>
            <a:ext cx="8126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Note that any </a:t>
            </a:r>
            <a:r>
              <a:rPr lang="en-US" sz="2400" i="1">
                <a:latin typeface="Times New Roman" charset="0"/>
                <a:cs typeface="Times New Roman" charset="0"/>
              </a:rPr>
              <a:t>Z-</a:t>
            </a:r>
            <a:r>
              <a:rPr lang="en-US" sz="2400">
                <a:cs typeface="Times New Roman" charset="0"/>
              </a:rPr>
              <a:t>error is an </a:t>
            </a:r>
            <a:r>
              <a:rPr lang="en-US" sz="2400" i="1">
                <a:latin typeface="Times New Roman" charset="0"/>
                <a:cs typeface="Times New Roman" charset="0"/>
              </a:rPr>
              <a:t>X-</a:t>
            </a:r>
            <a:r>
              <a:rPr lang="en-US" sz="2400">
                <a:cs typeface="Times New Roman" charset="0"/>
              </a:rPr>
              <a:t>error in the Hadamard basis</a:t>
            </a:r>
            <a:endParaRPr lang="en-CA" sz="2400">
              <a:cs typeface="Times New Roman" charset="0"/>
            </a:endParaRPr>
          </a:p>
        </p:txBody>
      </p:sp>
      <p:graphicFrame>
        <p:nvGraphicFramePr>
          <p:cNvPr id="32772" name="Object 6"/>
          <p:cNvGraphicFramePr>
            <a:graphicFrameLocks noChangeAspect="1"/>
          </p:cNvGraphicFramePr>
          <p:nvPr/>
        </p:nvGraphicFramePr>
        <p:xfrm>
          <a:off x="415925" y="1992313"/>
          <a:ext cx="24923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2" name="Equation" r:id="rId3" imgW="1333500" imgH="495300" progId="Equation.3">
                  <p:embed/>
                </p:oleObj>
              </mc:Choice>
              <mc:Fallback>
                <p:oleObj name="Equation" r:id="rId3" imgW="1333500" imgH="495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" y="1992313"/>
                        <a:ext cx="24923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3"/>
          <p:cNvGraphicFramePr>
            <a:graphicFrameLocks noChangeAspect="1"/>
          </p:cNvGraphicFramePr>
          <p:nvPr/>
        </p:nvGraphicFramePr>
        <p:xfrm>
          <a:off x="4302125" y="1992313"/>
          <a:ext cx="37020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3" name="Equation" r:id="rId5" imgW="1981200" imgH="495300" progId="Equation.3">
                  <p:embed/>
                </p:oleObj>
              </mc:Choice>
              <mc:Fallback>
                <p:oleObj name="Equation" r:id="rId5" imgW="1981200" imgH="495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1992313"/>
                        <a:ext cx="370205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Box 10"/>
          <p:cNvSpPr txBox="1">
            <a:spLocks noChangeArrowheads="1"/>
          </p:cNvSpPr>
          <p:nvPr/>
        </p:nvSpPr>
        <p:spPr bwMode="auto">
          <a:xfrm>
            <a:off x="169863" y="1600200"/>
            <a:ext cx="8974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Changing to Hadamard basis is like changing from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/>
              <a:t> to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/>
              <a:t> since </a:t>
            </a:r>
          </a:p>
        </p:txBody>
      </p:sp>
      <p:sp>
        <p:nvSpPr>
          <p:cNvPr id="32775" name="TextBox 11"/>
          <p:cNvSpPr txBox="1">
            <a:spLocks noChangeArrowheads="1"/>
          </p:cNvSpPr>
          <p:nvPr/>
        </p:nvSpPr>
        <p:spPr bwMode="auto">
          <a:xfrm>
            <a:off x="169863" y="4572000"/>
            <a:ext cx="88217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Note that, since 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 b="1" baseline="30000">
                <a:solidFill>
                  <a:srgbClr val="000000"/>
                </a:solidFill>
                <a:latin typeface="Times New Roman" charset="0"/>
                <a:cs typeface="Times New Roman" charset="0"/>
                <a:sym typeface="Symbol" charset="0"/>
              </a:rPr>
              <a:t>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</a:t>
            </a:r>
            <a:r>
              <a:rPr lang="en-US" sz="2400" i="1">
                <a:latin typeface="Times New Roman" charset="0"/>
                <a:cs typeface="Times New Roman" charset="0"/>
              </a:rPr>
              <a:t> 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</a:t>
            </a:r>
            <a:r>
              <a:rPr lang="en-US" sz="2400" baseline="-25000">
                <a:latin typeface="Times New Roman" charset="0"/>
                <a:cs typeface="Times New Roman" charset="0"/>
              </a:rPr>
              <a:t> </a:t>
            </a:r>
            <a:r>
              <a:rPr lang="en-US" sz="2400">
                <a:cs typeface="Times New Roman" charset="0"/>
              </a:rPr>
              <a:t> this is a superposition of elements of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</a:t>
            </a:r>
            <a:r>
              <a:rPr lang="en-US" sz="2400">
                <a:cs typeface="Times New Roman" charset="0"/>
              </a:rPr>
              <a:t>, so we can use the error-correcting properties of </a:t>
            </a:r>
            <a:r>
              <a:rPr lang="en-US" sz="2400" i="1">
                <a:latin typeface="Times New Roman" charset="0"/>
                <a:cs typeface="Times New Roman" charset="0"/>
              </a:rPr>
              <a:t>C</a:t>
            </a:r>
            <a:r>
              <a:rPr lang="en-US" sz="2400" baseline="-25000">
                <a:latin typeface="Times New Roman" charset="0"/>
                <a:cs typeface="Times New Roman" charset="0"/>
              </a:rPr>
              <a:t>1 </a:t>
            </a:r>
            <a:r>
              <a:rPr lang="en-US" sz="2400">
                <a:cs typeface="Times New Roman" charset="0"/>
              </a:rPr>
              <a:t>to correct</a:t>
            </a:r>
            <a:endParaRPr lang="en-CA" sz="2400">
              <a:cs typeface="Times New Roman" charset="0"/>
            </a:endParaRPr>
          </a:p>
        </p:txBody>
      </p:sp>
      <p:sp>
        <p:nvSpPr>
          <p:cNvPr id="32776" name="TextBox 10"/>
          <p:cNvSpPr txBox="1">
            <a:spLocks noChangeArrowheads="1"/>
          </p:cNvSpPr>
          <p:nvPr/>
        </p:nvSpPr>
        <p:spPr bwMode="auto">
          <a:xfrm>
            <a:off x="169863" y="3048000"/>
            <a:ext cx="8364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Applying </a:t>
            </a:r>
            <a:r>
              <a:rPr lang="en-US" sz="2400" i="1">
                <a:latin typeface="Times New Roman" charset="0"/>
                <a:cs typeface="Times New Roman" charset="0"/>
              </a:rPr>
              <a:t>H</a:t>
            </a:r>
            <a:r>
              <a:rPr lang="en-US" sz="2400" baseline="30000">
                <a:cs typeface="Times New Roman" charset="0"/>
                <a:sym typeface="Symbol" charset="0"/>
              </a:rPr>
              <a:t></a:t>
            </a:r>
            <a:r>
              <a:rPr lang="en-US" sz="2800" i="1" baseline="30000">
                <a:latin typeface="Times New Roman" charset="0"/>
                <a:cs typeface="Times New Roman" charset="0"/>
              </a:rPr>
              <a:t>n</a:t>
            </a:r>
            <a:r>
              <a:rPr lang="en-US" sz="2400">
                <a:cs typeface="Times New Roman" charset="0"/>
                <a:sym typeface="Symbol" charset="0"/>
              </a:rPr>
              <a:t> </a:t>
            </a:r>
            <a:r>
              <a:rPr lang="en-US" sz="2400">
                <a:cs typeface="Times New Roman" charset="0"/>
              </a:rPr>
              <a:t>to a superposition of basis codewords yields</a:t>
            </a:r>
            <a:endParaRPr lang="en-CA" sz="2400">
              <a:cs typeface="Times New Roman" charset="0"/>
            </a:endParaRPr>
          </a:p>
        </p:txBody>
      </p:sp>
      <p:sp>
        <p:nvSpPr>
          <p:cNvPr id="32777" name="TextBox 9"/>
          <p:cNvSpPr txBox="1">
            <a:spLocks noChangeArrowheads="1"/>
          </p:cNvSpPr>
          <p:nvPr/>
        </p:nvSpPr>
        <p:spPr bwMode="auto">
          <a:xfrm>
            <a:off x="3276600" y="2205038"/>
            <a:ext cx="698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and</a:t>
            </a:r>
            <a:endParaRPr lang="en-CA" sz="2400"/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/>
        </p:nvGraphicFramePr>
        <p:xfrm>
          <a:off x="285750" y="3417888"/>
          <a:ext cx="859313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4" name="Equation" r:id="rId7" imgW="4597400" imgH="520700" progId="Equation.3">
                  <p:embed/>
                </p:oleObj>
              </mc:Choice>
              <mc:Fallback>
                <p:oleObj name="Equation" r:id="rId7" imgW="4597400" imgH="520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417888"/>
                        <a:ext cx="859313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TextBox 11"/>
          <p:cNvSpPr txBox="1">
            <a:spLocks noChangeArrowheads="1"/>
          </p:cNvSpPr>
          <p:nvPr/>
        </p:nvSpPr>
        <p:spPr bwMode="auto">
          <a:xfrm>
            <a:off x="169863" y="5486400"/>
            <a:ext cx="85931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Then, applying Hadamards again, restores the codeword with up to </a:t>
            </a:r>
            <a:r>
              <a:rPr lang="en-US" sz="2800" i="1"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cs typeface="Times New Roman" charset="0"/>
              </a:rPr>
              <a:t>  </a:t>
            </a:r>
            <a:r>
              <a:rPr lang="en-US" sz="2400" i="1">
                <a:latin typeface="Times New Roman" charset="0"/>
                <a:cs typeface="Times New Roman" charset="0"/>
              </a:rPr>
              <a:t>Z-</a:t>
            </a:r>
            <a:r>
              <a:rPr lang="en-US" sz="2400">
                <a:cs typeface="Times New Roman" charset="0"/>
              </a:rPr>
              <a:t>errors corrected</a:t>
            </a:r>
            <a:endParaRPr lang="en-CA" sz="2400"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  <a:ea typeface="ＭＳ Ｐゴシック" charset="0"/>
                <a:cs typeface="ＭＳ Ｐゴシック" charset="0"/>
              </a:rPr>
              <a:t>CSS error correction III</a:t>
            </a:r>
            <a:endParaRPr lang="en-CA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37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00CC13-0C46-D449-A437-893031953D3B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33795" name="TextBox 9"/>
          <p:cNvSpPr txBox="1">
            <a:spLocks noChangeArrowheads="1"/>
          </p:cNvSpPr>
          <p:nvPr/>
        </p:nvSpPr>
        <p:spPr bwMode="auto">
          <a:xfrm>
            <a:off x="169863" y="1143000"/>
            <a:ext cx="8745537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The two procedures together correct up to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d </a:t>
            </a:r>
            <a:r>
              <a:rPr lang="en-US" sz="2400">
                <a:cs typeface="Times New Roman" charset="0"/>
              </a:rPr>
              <a:t>errors that can each be either an </a:t>
            </a:r>
            <a:r>
              <a:rPr lang="en-US" sz="2400" i="1">
                <a:latin typeface="Times New Roman" charset="0"/>
                <a:cs typeface="Times New Roman" charset="0"/>
              </a:rPr>
              <a:t>X-</a:t>
            </a:r>
            <a:r>
              <a:rPr lang="en-US" sz="2400">
                <a:cs typeface="Times New Roman" charset="0"/>
              </a:rPr>
              <a:t>error or a </a:t>
            </a:r>
            <a:r>
              <a:rPr lang="en-US" sz="2400" i="1">
                <a:latin typeface="Times New Roman" charset="0"/>
                <a:cs typeface="Times New Roman" charset="0"/>
              </a:rPr>
              <a:t>Z-</a:t>
            </a:r>
            <a:r>
              <a:rPr lang="en-US" sz="2400">
                <a:cs typeface="Times New Roman" charset="0"/>
              </a:rPr>
              <a:t>error — and, since </a:t>
            </a:r>
            <a:r>
              <a:rPr lang="en-US" sz="2400" i="1">
                <a:latin typeface="Times New Roman" charset="0"/>
                <a:cs typeface="Times New Roman" charset="0"/>
              </a:rPr>
              <a:t>Y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b="1" i="1">
                <a:latin typeface="Times New Roman" charset="0"/>
                <a:cs typeface="Times New Roman" charset="0"/>
              </a:rPr>
              <a:t>=</a:t>
            </a:r>
            <a:r>
              <a:rPr lang="en-US" sz="2400" b="1">
                <a:latin typeface="Times New Roman" charset="0"/>
                <a:cs typeface="Times New Roman" charset="0"/>
              </a:rPr>
              <a:t> </a:t>
            </a:r>
            <a:r>
              <a:rPr lang="en-US" sz="2400" i="1">
                <a:latin typeface="Times New Roman" charset="0"/>
                <a:cs typeface="Times New Roman" charset="0"/>
              </a:rPr>
              <a:t>iXZ</a:t>
            </a:r>
            <a:r>
              <a:rPr lang="en-US" sz="2400">
                <a:cs typeface="Times New Roman" charset="0"/>
              </a:rPr>
              <a:t>, they can also be </a:t>
            </a:r>
            <a:r>
              <a:rPr lang="en-US" sz="2400" i="1">
                <a:latin typeface="Times New Roman" charset="0"/>
                <a:cs typeface="Times New Roman" charset="0"/>
              </a:rPr>
              <a:t>Y-</a:t>
            </a:r>
            <a:r>
              <a:rPr lang="en-US" sz="2400">
                <a:cs typeface="Times New Roman" charset="0"/>
              </a:rPr>
              <a:t>errors</a:t>
            </a:r>
            <a:endParaRPr lang="en-CA" sz="2400">
              <a:cs typeface="Times New Roman" charset="0"/>
            </a:endParaRPr>
          </a:p>
        </p:txBody>
      </p:sp>
      <p:sp>
        <p:nvSpPr>
          <p:cNvPr id="33796" name="TextBox 10"/>
          <p:cNvSpPr txBox="1">
            <a:spLocks noChangeArrowheads="1"/>
          </p:cNvSpPr>
          <p:nvPr/>
        </p:nvSpPr>
        <p:spPr bwMode="auto">
          <a:xfrm>
            <a:off x="169863" y="2438400"/>
            <a:ext cx="88217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From this, a standard linearity argument can be applied to show that the code corrects up to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cs typeface="Times New Roman" charset="0"/>
              </a:rPr>
              <a:t> arbitrary errors (that is, the error can be any quantum operation performed on up to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d</a:t>
            </a:r>
            <a:r>
              <a:rPr lang="en-US" sz="2400">
                <a:cs typeface="Times New Roman" charset="0"/>
              </a:rPr>
              <a:t> qubits)</a:t>
            </a:r>
          </a:p>
        </p:txBody>
      </p:sp>
      <p:sp>
        <p:nvSpPr>
          <p:cNvPr id="33797" name="TextBox 12"/>
          <p:cNvSpPr txBox="1">
            <a:spLocks noChangeArrowheads="1"/>
          </p:cNvSpPr>
          <p:nvPr/>
        </p:nvSpPr>
        <p:spPr bwMode="auto">
          <a:xfrm>
            <a:off x="169863" y="3962400"/>
            <a:ext cx="8745537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/>
              <a:t>Since there exist pretty good classical codes that satisfy the properties needed for the CSS construction, this approach can be used to construct pretty good quantum codes</a:t>
            </a:r>
          </a:p>
          <a:p>
            <a:pPr eaLnBrk="1" hangingPunct="1"/>
            <a:endParaRPr lang="en-US" sz="1000"/>
          </a:p>
          <a:p>
            <a:pPr eaLnBrk="1" hangingPunct="1"/>
            <a:r>
              <a:rPr lang="en-US" sz="2400"/>
              <a:t>For any noise rate below some constant, the codes have: </a:t>
            </a:r>
          </a:p>
          <a:p>
            <a:pPr eaLnBrk="1" hangingPunct="1"/>
            <a:r>
              <a:rPr lang="en-US" sz="2400">
                <a:sym typeface="Symbol" charset="0"/>
              </a:rPr>
              <a:t></a:t>
            </a:r>
            <a:r>
              <a:rPr lang="en-US" sz="2400"/>
              <a:t> finite rate (message expansion by a constant factor:</a:t>
            </a:r>
            <a:r>
              <a:rPr lang="en-US" sz="2800" i="1">
                <a:latin typeface="Times New Roman" charset="0"/>
                <a:cs typeface="Times New Roman" charset="0"/>
              </a:rPr>
              <a:t> r </a:t>
            </a:r>
            <a:r>
              <a:rPr lang="en-US" sz="2400" b="1">
                <a:latin typeface="Times New Roman" charset="0"/>
                <a:cs typeface="Times New Roman" charset="0"/>
              </a:rPr>
              <a:t>=</a:t>
            </a:r>
            <a:r>
              <a:rPr lang="en-US" sz="2800" i="1">
                <a:latin typeface="Times New Roman" charset="0"/>
                <a:cs typeface="Times New Roman" charset="0"/>
              </a:rPr>
              <a:t>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n/m</a:t>
            </a:r>
            <a:r>
              <a:rPr lang="en-US" sz="2400">
                <a:cs typeface="Times New Roman" charset="0"/>
              </a:rPr>
              <a:t>)</a:t>
            </a:r>
          </a:p>
          <a:p>
            <a:pPr eaLnBrk="1" hangingPunct="1"/>
            <a:r>
              <a:rPr lang="en-US" sz="2400">
                <a:cs typeface="Times New Roman" charset="0"/>
                <a:sym typeface="Symbol" charset="0"/>
              </a:rPr>
              <a:t></a:t>
            </a:r>
            <a:r>
              <a:rPr lang="en-US" sz="2400">
                <a:cs typeface="Times New Roman" charset="0"/>
              </a:rPr>
              <a:t> error probability approaching zero as </a:t>
            </a:r>
            <a:r>
              <a:rPr lang="en-US" sz="2800" i="1">
                <a:solidFill>
                  <a:srgbClr val="000000"/>
                </a:solidFill>
                <a:latin typeface="Times New Roman" charset="0"/>
                <a:cs typeface="Times New Roman" charset="0"/>
              </a:rPr>
              <a:t>n</a:t>
            </a:r>
            <a:r>
              <a:rPr lang="en-US" sz="2400">
                <a:cs typeface="Times New Roman" charset="0"/>
              </a:rPr>
              <a:t> </a:t>
            </a:r>
            <a:r>
              <a:rPr lang="en-US" sz="2400">
                <a:cs typeface="Times New Roman" charset="0"/>
                <a:sym typeface="Symbol" charset="0"/>
              </a:rPr>
              <a:t> </a:t>
            </a:r>
            <a:endParaRPr lang="en-CA" sz="2400"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2BEBE63-38EC-7344-9203-EB5011684846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85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1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+mj-cs"/>
            </a:endParaRPr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685800" y="2286000"/>
            <a:ext cx="7696200" cy="1754188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5400">
                <a:solidFill>
                  <a:schemeClr val="bg1"/>
                </a:solidFill>
              </a:rPr>
              <a:t>Brief remarks about fault-tolerant computing</a:t>
            </a:r>
            <a:endParaRPr lang="en-CA" sz="5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2230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0642F94-309B-BE42-960E-EAC9D2C7637D}" type="slidenum">
              <a:rPr lang="en-US" sz="1400"/>
              <a:pPr eaLnBrk="1" hangingPunct="1"/>
              <a:t>21</a:t>
            </a:fld>
            <a:endParaRPr lang="en-US" sz="140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</a:rPr>
              <a:t>A simple error model</a:t>
            </a:r>
          </a:p>
        </p:txBody>
      </p:sp>
      <p:sp>
        <p:nvSpPr>
          <p:cNvPr id="19459" name="Text Box 62"/>
          <p:cNvSpPr txBox="1">
            <a:spLocks noChangeArrowheads="1"/>
          </p:cNvSpPr>
          <p:nvPr/>
        </p:nvSpPr>
        <p:spPr bwMode="auto">
          <a:xfrm>
            <a:off x="246063" y="4267200"/>
            <a:ext cx="85931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At each qubit there is an </a:t>
            </a:r>
            <a:r>
              <a:rPr lang="en-CA" sz="3600" b="1">
                <a:solidFill>
                  <a:srgbClr val="FF0000"/>
                </a:solidFill>
                <a:sym typeface="Symbol" charset="0"/>
              </a:rPr>
              <a:t> </a:t>
            </a:r>
            <a:r>
              <a:rPr lang="en-US"/>
              <a:t>error per unit of time, that denotes the following noise:</a:t>
            </a:r>
          </a:p>
        </p:txBody>
      </p:sp>
      <p:grpSp>
        <p:nvGrpSpPr>
          <p:cNvPr id="19460" name="Group 157"/>
          <p:cNvGrpSpPr>
            <a:grpSpLocks/>
          </p:cNvGrpSpPr>
          <p:nvPr/>
        </p:nvGrpSpPr>
        <p:grpSpPr bwMode="auto">
          <a:xfrm>
            <a:off x="1447800" y="1219200"/>
            <a:ext cx="5491163" cy="2636838"/>
            <a:chOff x="1447800" y="1219200"/>
            <a:chExt cx="5490607" cy="2637379"/>
          </a:xfrm>
        </p:grpSpPr>
        <p:grpSp>
          <p:nvGrpSpPr>
            <p:cNvPr id="19463" name="Group 3"/>
            <p:cNvGrpSpPr>
              <a:grpSpLocks/>
            </p:cNvGrpSpPr>
            <p:nvPr/>
          </p:nvGrpSpPr>
          <p:grpSpPr bwMode="auto">
            <a:xfrm>
              <a:off x="1911013" y="1602133"/>
              <a:ext cx="4460886" cy="2097643"/>
              <a:chOff x="872" y="1299"/>
              <a:chExt cx="4016" cy="1913"/>
            </a:xfrm>
          </p:grpSpPr>
          <p:sp>
            <p:nvSpPr>
              <p:cNvPr id="19560" name="Line 4"/>
              <p:cNvSpPr>
                <a:spLocks noChangeShapeType="1"/>
              </p:cNvSpPr>
              <p:nvPr/>
            </p:nvSpPr>
            <p:spPr bwMode="auto">
              <a:xfrm flipV="1">
                <a:off x="872" y="1299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1" name="Line 5"/>
              <p:cNvSpPr>
                <a:spLocks noChangeShapeType="1"/>
              </p:cNvSpPr>
              <p:nvPr/>
            </p:nvSpPr>
            <p:spPr bwMode="auto">
              <a:xfrm flipV="1">
                <a:off x="872" y="1682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2" name="Line 6"/>
              <p:cNvSpPr>
                <a:spLocks noChangeShapeType="1"/>
              </p:cNvSpPr>
              <p:nvPr/>
            </p:nvSpPr>
            <p:spPr bwMode="auto">
              <a:xfrm flipV="1">
                <a:off x="872" y="3212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3" name="Line 7"/>
              <p:cNvSpPr>
                <a:spLocks noChangeShapeType="1"/>
              </p:cNvSpPr>
              <p:nvPr/>
            </p:nvSpPr>
            <p:spPr bwMode="auto">
              <a:xfrm flipV="1">
                <a:off x="872" y="2829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4" name="Line 8"/>
              <p:cNvSpPr>
                <a:spLocks noChangeShapeType="1"/>
              </p:cNvSpPr>
              <p:nvPr/>
            </p:nvSpPr>
            <p:spPr bwMode="auto">
              <a:xfrm flipV="1">
                <a:off x="872" y="2447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5" name="Line 9"/>
              <p:cNvSpPr>
                <a:spLocks noChangeShapeType="1"/>
              </p:cNvSpPr>
              <p:nvPr/>
            </p:nvSpPr>
            <p:spPr bwMode="auto">
              <a:xfrm flipV="1">
                <a:off x="872" y="2064"/>
                <a:ext cx="4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464" name="Rectangle 10"/>
            <p:cNvSpPr>
              <a:spLocks noChangeArrowheads="1"/>
            </p:cNvSpPr>
            <p:nvPr/>
          </p:nvSpPr>
          <p:spPr bwMode="auto">
            <a:xfrm>
              <a:off x="2114600" y="1445331"/>
              <a:ext cx="304320" cy="313605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65" name="Rectangle 11"/>
            <p:cNvSpPr>
              <a:spLocks noChangeArrowheads="1"/>
            </p:cNvSpPr>
            <p:nvPr/>
          </p:nvSpPr>
          <p:spPr bwMode="auto">
            <a:xfrm>
              <a:off x="2722180" y="1445331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66" name="Rectangle 12"/>
            <p:cNvSpPr>
              <a:spLocks noChangeArrowheads="1"/>
            </p:cNvSpPr>
            <p:nvPr/>
          </p:nvSpPr>
          <p:spPr bwMode="auto">
            <a:xfrm>
              <a:off x="3939460" y="3123007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67" name="Rectangle 13"/>
            <p:cNvSpPr>
              <a:spLocks noChangeArrowheads="1"/>
            </p:cNvSpPr>
            <p:nvPr/>
          </p:nvSpPr>
          <p:spPr bwMode="auto">
            <a:xfrm>
              <a:off x="5764320" y="1865298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68" name="Rectangle 14"/>
            <p:cNvSpPr>
              <a:spLocks noChangeArrowheads="1"/>
            </p:cNvSpPr>
            <p:nvPr/>
          </p:nvSpPr>
          <p:spPr bwMode="auto">
            <a:xfrm>
              <a:off x="5155680" y="2703039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69" name="Rectangle 15"/>
            <p:cNvSpPr>
              <a:spLocks noChangeArrowheads="1"/>
            </p:cNvSpPr>
            <p:nvPr/>
          </p:nvSpPr>
          <p:spPr bwMode="auto">
            <a:xfrm>
              <a:off x="2722180" y="2703039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0" name="Rectangle 16"/>
            <p:cNvSpPr>
              <a:spLocks noChangeArrowheads="1"/>
            </p:cNvSpPr>
            <p:nvPr/>
          </p:nvSpPr>
          <p:spPr bwMode="auto">
            <a:xfrm>
              <a:off x="3939460" y="1865298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1" name="Rectangle 17"/>
            <p:cNvSpPr>
              <a:spLocks noChangeArrowheads="1"/>
            </p:cNvSpPr>
            <p:nvPr/>
          </p:nvSpPr>
          <p:spPr bwMode="auto">
            <a:xfrm>
              <a:off x="3330820" y="3541877"/>
              <a:ext cx="304320" cy="31360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2" name="Rectangle 18"/>
            <p:cNvSpPr>
              <a:spLocks noChangeArrowheads="1"/>
            </p:cNvSpPr>
            <p:nvPr/>
          </p:nvSpPr>
          <p:spPr bwMode="auto">
            <a:xfrm>
              <a:off x="3330820" y="1445331"/>
              <a:ext cx="304320" cy="31360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3" name="Rectangle 19"/>
            <p:cNvSpPr>
              <a:spLocks noChangeArrowheads="1"/>
            </p:cNvSpPr>
            <p:nvPr/>
          </p:nvSpPr>
          <p:spPr bwMode="auto">
            <a:xfrm>
              <a:off x="3330820" y="2284169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4" name="Rectangle 20"/>
            <p:cNvSpPr>
              <a:spLocks noChangeArrowheads="1"/>
            </p:cNvSpPr>
            <p:nvPr/>
          </p:nvSpPr>
          <p:spPr bwMode="auto">
            <a:xfrm>
              <a:off x="5155680" y="1445331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5" name="Rectangle 21"/>
            <p:cNvSpPr>
              <a:spLocks noChangeArrowheads="1"/>
            </p:cNvSpPr>
            <p:nvPr/>
          </p:nvSpPr>
          <p:spPr bwMode="auto">
            <a:xfrm>
              <a:off x="5764320" y="1445331"/>
              <a:ext cx="304320" cy="31360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6" name="Rectangle 22"/>
            <p:cNvSpPr>
              <a:spLocks noChangeArrowheads="1"/>
            </p:cNvSpPr>
            <p:nvPr/>
          </p:nvSpPr>
          <p:spPr bwMode="auto">
            <a:xfrm>
              <a:off x="2114600" y="3541877"/>
              <a:ext cx="304320" cy="31360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7" name="Rectangle 23"/>
            <p:cNvSpPr>
              <a:spLocks noChangeArrowheads="1"/>
            </p:cNvSpPr>
            <p:nvPr/>
          </p:nvSpPr>
          <p:spPr bwMode="auto">
            <a:xfrm>
              <a:off x="4547040" y="3541877"/>
              <a:ext cx="304320" cy="31360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78" name="AutoShape 24"/>
            <p:cNvSpPr>
              <a:spLocks noChangeArrowheads="1"/>
            </p:cNvSpPr>
            <p:nvPr/>
          </p:nvSpPr>
          <p:spPr bwMode="auto">
            <a:xfrm rot="5400000">
              <a:off x="6215079" y="3547068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9" name="AutoShape 25"/>
            <p:cNvSpPr>
              <a:spLocks noChangeArrowheads="1"/>
            </p:cNvSpPr>
            <p:nvPr/>
          </p:nvSpPr>
          <p:spPr bwMode="auto">
            <a:xfrm rot="5400000">
              <a:off x="6215079" y="1450522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0" name="AutoShape 26"/>
            <p:cNvSpPr>
              <a:spLocks noChangeArrowheads="1"/>
            </p:cNvSpPr>
            <p:nvPr/>
          </p:nvSpPr>
          <p:spPr bwMode="auto">
            <a:xfrm rot="5400000">
              <a:off x="6215079" y="1870489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1" name="AutoShape 27"/>
            <p:cNvSpPr>
              <a:spLocks noChangeArrowheads="1"/>
            </p:cNvSpPr>
            <p:nvPr/>
          </p:nvSpPr>
          <p:spPr bwMode="auto">
            <a:xfrm rot="5400000">
              <a:off x="6215079" y="2289359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AutoShape 28"/>
            <p:cNvSpPr>
              <a:spLocks noChangeArrowheads="1"/>
            </p:cNvSpPr>
            <p:nvPr/>
          </p:nvSpPr>
          <p:spPr bwMode="auto">
            <a:xfrm rot="5400000">
              <a:off x="6215079" y="2708230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3" name="AutoShape 29"/>
            <p:cNvSpPr>
              <a:spLocks noChangeArrowheads="1"/>
            </p:cNvSpPr>
            <p:nvPr/>
          </p:nvSpPr>
          <p:spPr bwMode="auto">
            <a:xfrm rot="5400000">
              <a:off x="6215079" y="3128197"/>
              <a:ext cx="314701" cy="304320"/>
            </a:xfrm>
            <a:custGeom>
              <a:avLst/>
              <a:gdLst>
                <a:gd name="T0" fmla="*/ 486634205 w 21600"/>
                <a:gd name="T1" fmla="*/ 0 h 21600"/>
                <a:gd name="T2" fmla="*/ 242684750 w 21600"/>
                <a:gd name="T3" fmla="*/ 425530473 h 21600"/>
                <a:gd name="T4" fmla="*/ 486634205 w 21600"/>
                <a:gd name="T5" fmla="*/ 424428609 h 21600"/>
                <a:gd name="T6" fmla="*/ 730580484 w 21600"/>
                <a:gd name="T7" fmla="*/ 42553047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772" y="10800"/>
                  </a:moveTo>
                  <a:cubicBezTo>
                    <a:pt x="10772" y="10784"/>
                    <a:pt x="10784" y="10772"/>
                    <a:pt x="10800" y="10772"/>
                  </a:cubicBezTo>
                  <a:cubicBezTo>
                    <a:pt x="10815" y="10771"/>
                    <a:pt x="10827" y="10784"/>
                    <a:pt x="10828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772" y="1080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84" name="Group 30"/>
            <p:cNvGrpSpPr>
              <a:grpSpLocks/>
            </p:cNvGrpSpPr>
            <p:nvPr/>
          </p:nvGrpSpPr>
          <p:grpSpPr bwMode="auto">
            <a:xfrm>
              <a:off x="6524590" y="1602133"/>
              <a:ext cx="152690" cy="2099836"/>
              <a:chOff x="5031" y="1299"/>
              <a:chExt cx="144" cy="1915"/>
            </a:xfrm>
          </p:grpSpPr>
          <p:sp>
            <p:nvSpPr>
              <p:cNvPr id="19554" name="Line 31"/>
              <p:cNvSpPr>
                <a:spLocks noChangeShapeType="1"/>
              </p:cNvSpPr>
              <p:nvPr/>
            </p:nvSpPr>
            <p:spPr bwMode="auto">
              <a:xfrm>
                <a:off x="5031" y="1299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5" name="Line 32"/>
              <p:cNvSpPr>
                <a:spLocks noChangeShapeType="1"/>
              </p:cNvSpPr>
              <p:nvPr/>
            </p:nvSpPr>
            <p:spPr bwMode="auto">
              <a:xfrm>
                <a:off x="5031" y="1682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6" name="Line 33"/>
              <p:cNvSpPr>
                <a:spLocks noChangeShapeType="1"/>
              </p:cNvSpPr>
              <p:nvPr/>
            </p:nvSpPr>
            <p:spPr bwMode="auto">
              <a:xfrm>
                <a:off x="5031" y="2065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7" name="Line 34"/>
              <p:cNvSpPr>
                <a:spLocks noChangeShapeType="1"/>
              </p:cNvSpPr>
              <p:nvPr/>
            </p:nvSpPr>
            <p:spPr bwMode="auto">
              <a:xfrm>
                <a:off x="5031" y="2448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8" name="Line 35"/>
              <p:cNvSpPr>
                <a:spLocks noChangeShapeType="1"/>
              </p:cNvSpPr>
              <p:nvPr/>
            </p:nvSpPr>
            <p:spPr bwMode="auto">
              <a:xfrm>
                <a:off x="5031" y="2831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9" name="Line 36"/>
              <p:cNvSpPr>
                <a:spLocks noChangeShapeType="1"/>
              </p:cNvSpPr>
              <p:nvPr/>
            </p:nvSpPr>
            <p:spPr bwMode="auto">
              <a:xfrm>
                <a:off x="5031" y="3214"/>
                <a:ext cx="144" cy="0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485" name="Text Box 37"/>
            <p:cNvSpPr txBox="1">
              <a:spLocks noChangeArrowheads="1"/>
            </p:cNvSpPr>
            <p:nvPr/>
          </p:nvSpPr>
          <p:spPr bwMode="auto">
            <a:xfrm>
              <a:off x="1447800" y="1344663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0</a:t>
              </a:r>
            </a:p>
          </p:txBody>
        </p:sp>
        <p:sp>
          <p:nvSpPr>
            <p:cNvPr id="19486" name="Text Box 38"/>
            <p:cNvSpPr txBox="1">
              <a:spLocks noChangeArrowheads="1"/>
            </p:cNvSpPr>
            <p:nvPr/>
          </p:nvSpPr>
          <p:spPr bwMode="auto">
            <a:xfrm>
              <a:off x="1447800" y="1764630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1</a:t>
              </a:r>
            </a:p>
          </p:txBody>
        </p:sp>
        <p:sp>
          <p:nvSpPr>
            <p:cNvPr id="19487" name="Text Box 39"/>
            <p:cNvSpPr txBox="1">
              <a:spLocks noChangeArrowheads="1"/>
            </p:cNvSpPr>
            <p:nvPr/>
          </p:nvSpPr>
          <p:spPr bwMode="auto">
            <a:xfrm>
              <a:off x="1447800" y="2183501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1</a:t>
              </a:r>
            </a:p>
          </p:txBody>
        </p:sp>
        <p:sp>
          <p:nvSpPr>
            <p:cNvPr id="19488" name="Text Box 40"/>
            <p:cNvSpPr txBox="1">
              <a:spLocks noChangeArrowheads="1"/>
            </p:cNvSpPr>
            <p:nvPr/>
          </p:nvSpPr>
          <p:spPr bwMode="auto">
            <a:xfrm>
              <a:off x="1447800" y="2602371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0</a:t>
              </a:r>
            </a:p>
          </p:txBody>
        </p:sp>
        <p:sp>
          <p:nvSpPr>
            <p:cNvPr id="19489" name="Text Box 41"/>
            <p:cNvSpPr txBox="1">
              <a:spLocks noChangeArrowheads="1"/>
            </p:cNvSpPr>
            <p:nvPr/>
          </p:nvSpPr>
          <p:spPr bwMode="auto">
            <a:xfrm>
              <a:off x="1447800" y="3022339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1</a:t>
              </a:r>
            </a:p>
          </p:txBody>
        </p:sp>
        <p:sp>
          <p:nvSpPr>
            <p:cNvPr id="19490" name="Text Box 42"/>
            <p:cNvSpPr txBox="1">
              <a:spLocks noChangeArrowheads="1"/>
            </p:cNvSpPr>
            <p:nvPr/>
          </p:nvSpPr>
          <p:spPr bwMode="auto">
            <a:xfrm>
              <a:off x="1447800" y="3441209"/>
              <a:ext cx="343553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9900CC"/>
                  </a:solidFill>
                  <a:cs typeface="Arial" charset="0"/>
                  <a:sym typeface="Symbol" charset="0"/>
                </a:rPr>
                <a:t>0</a:t>
              </a:r>
            </a:p>
          </p:txBody>
        </p:sp>
        <p:sp>
          <p:nvSpPr>
            <p:cNvPr id="19491" name="Text Box 43"/>
            <p:cNvSpPr txBox="1">
              <a:spLocks noChangeArrowheads="1"/>
            </p:cNvSpPr>
            <p:nvPr/>
          </p:nvSpPr>
          <p:spPr bwMode="auto">
            <a:xfrm>
              <a:off x="6701949" y="1369830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1</a:t>
              </a:r>
            </a:p>
          </p:txBody>
        </p:sp>
        <p:sp>
          <p:nvSpPr>
            <p:cNvPr id="19492" name="Text Box 44"/>
            <p:cNvSpPr txBox="1">
              <a:spLocks noChangeArrowheads="1"/>
            </p:cNvSpPr>
            <p:nvPr/>
          </p:nvSpPr>
          <p:spPr bwMode="auto">
            <a:xfrm>
              <a:off x="6701949" y="1789797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0</a:t>
              </a:r>
            </a:p>
          </p:txBody>
        </p:sp>
        <p:sp>
          <p:nvSpPr>
            <p:cNvPr id="19493" name="Text Box 45"/>
            <p:cNvSpPr txBox="1">
              <a:spLocks noChangeArrowheads="1"/>
            </p:cNvSpPr>
            <p:nvPr/>
          </p:nvSpPr>
          <p:spPr bwMode="auto">
            <a:xfrm>
              <a:off x="6701949" y="2208668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1</a:t>
              </a:r>
            </a:p>
          </p:txBody>
        </p:sp>
        <p:sp>
          <p:nvSpPr>
            <p:cNvPr id="19494" name="Text Box 46"/>
            <p:cNvSpPr txBox="1">
              <a:spLocks noChangeArrowheads="1"/>
            </p:cNvSpPr>
            <p:nvPr/>
          </p:nvSpPr>
          <p:spPr bwMode="auto">
            <a:xfrm>
              <a:off x="6701949" y="2627538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0</a:t>
              </a:r>
            </a:p>
          </p:txBody>
        </p:sp>
        <p:sp>
          <p:nvSpPr>
            <p:cNvPr id="19495" name="Text Box 47"/>
            <p:cNvSpPr txBox="1">
              <a:spLocks noChangeArrowheads="1"/>
            </p:cNvSpPr>
            <p:nvPr/>
          </p:nvSpPr>
          <p:spPr bwMode="auto">
            <a:xfrm>
              <a:off x="6701949" y="3047506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1</a:t>
              </a:r>
            </a:p>
          </p:txBody>
        </p:sp>
        <p:sp>
          <p:nvSpPr>
            <p:cNvPr id="19496" name="Text Box 48"/>
            <p:cNvSpPr txBox="1">
              <a:spLocks noChangeArrowheads="1"/>
            </p:cNvSpPr>
            <p:nvPr/>
          </p:nvSpPr>
          <p:spPr bwMode="auto">
            <a:xfrm>
              <a:off x="6701949" y="3466376"/>
              <a:ext cx="236458" cy="3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accent2"/>
                  </a:solidFill>
                  <a:cs typeface="Arial" charset="0"/>
                  <a:sym typeface="Symbol" charset="0"/>
                </a:rPr>
                <a:t>1</a:t>
              </a:r>
            </a:p>
          </p:txBody>
        </p:sp>
        <p:sp>
          <p:nvSpPr>
            <p:cNvPr id="19497" name="Rectangle 55"/>
            <p:cNvSpPr>
              <a:spLocks noChangeArrowheads="1"/>
            </p:cNvSpPr>
            <p:nvPr/>
          </p:nvSpPr>
          <p:spPr bwMode="auto">
            <a:xfrm>
              <a:off x="4547040" y="2284169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98" name="Rectangle 56"/>
            <p:cNvSpPr>
              <a:spLocks noChangeArrowheads="1"/>
            </p:cNvSpPr>
            <p:nvPr/>
          </p:nvSpPr>
          <p:spPr bwMode="auto">
            <a:xfrm>
              <a:off x="5764320" y="3123007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499" name="Rectangle 57"/>
            <p:cNvSpPr>
              <a:spLocks noChangeArrowheads="1"/>
            </p:cNvSpPr>
            <p:nvPr/>
          </p:nvSpPr>
          <p:spPr bwMode="auto">
            <a:xfrm>
              <a:off x="2114600" y="2284169"/>
              <a:ext cx="304320" cy="73357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9500" name="Group 63"/>
            <p:cNvGrpSpPr>
              <a:grpSpLocks/>
            </p:cNvGrpSpPr>
            <p:nvPr/>
          </p:nvGrpSpPr>
          <p:grpSpPr bwMode="auto">
            <a:xfrm>
              <a:off x="1752600" y="1219200"/>
              <a:ext cx="4658166" cy="652125"/>
              <a:chOff x="838200" y="1863753"/>
              <a:chExt cx="6973970" cy="944120"/>
            </a:xfrm>
          </p:grpSpPr>
          <p:sp>
            <p:nvSpPr>
              <p:cNvPr id="19546" name="TextBox 55"/>
              <p:cNvSpPr txBox="1">
                <a:spLocks noChangeArrowheads="1"/>
              </p:cNvSpPr>
              <p:nvPr/>
            </p:nvSpPr>
            <p:spPr bwMode="auto">
              <a:xfrm>
                <a:off x="838200" y="1870744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7" name="TextBox 56"/>
              <p:cNvSpPr txBox="1">
                <a:spLocks noChangeArrowheads="1"/>
              </p:cNvSpPr>
              <p:nvPr/>
            </p:nvSpPr>
            <p:spPr bwMode="auto">
              <a:xfrm>
                <a:off x="1686886" y="1872141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8" name="TextBox 57"/>
              <p:cNvSpPr txBox="1">
                <a:spLocks noChangeArrowheads="1"/>
              </p:cNvSpPr>
              <p:nvPr/>
            </p:nvSpPr>
            <p:spPr bwMode="auto">
              <a:xfrm>
                <a:off x="2634842" y="1872141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9" name="TextBox 58"/>
              <p:cNvSpPr txBox="1">
                <a:spLocks noChangeArrowheads="1"/>
              </p:cNvSpPr>
              <p:nvPr/>
            </p:nvSpPr>
            <p:spPr bwMode="auto">
              <a:xfrm>
                <a:off x="3532464" y="1863753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50" name="TextBox 59"/>
              <p:cNvSpPr txBox="1">
                <a:spLocks noChangeArrowheads="1"/>
              </p:cNvSpPr>
              <p:nvPr/>
            </p:nvSpPr>
            <p:spPr bwMode="auto">
              <a:xfrm>
                <a:off x="4438475" y="1872140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51" name="TextBox 60"/>
              <p:cNvSpPr txBox="1">
                <a:spLocks noChangeArrowheads="1"/>
              </p:cNvSpPr>
              <p:nvPr/>
            </p:nvSpPr>
            <p:spPr bwMode="auto">
              <a:xfrm>
                <a:off x="5327709" y="1872140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52" name="TextBox 61"/>
              <p:cNvSpPr txBox="1">
                <a:spLocks noChangeArrowheads="1"/>
              </p:cNvSpPr>
              <p:nvPr/>
            </p:nvSpPr>
            <p:spPr bwMode="auto">
              <a:xfrm>
                <a:off x="6250498" y="1872140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53" name="TextBox 62"/>
              <p:cNvSpPr txBox="1">
                <a:spLocks noChangeArrowheads="1"/>
              </p:cNvSpPr>
              <p:nvPr/>
            </p:nvSpPr>
            <p:spPr bwMode="auto">
              <a:xfrm>
                <a:off x="7156508" y="1872140"/>
                <a:ext cx="655662" cy="935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501" name="Group 111"/>
            <p:cNvGrpSpPr>
              <a:grpSpLocks/>
            </p:cNvGrpSpPr>
            <p:nvPr/>
          </p:nvGrpSpPr>
          <p:grpSpPr bwMode="auto">
            <a:xfrm>
              <a:off x="1753998" y="1640047"/>
              <a:ext cx="4512742" cy="452229"/>
              <a:chOff x="838200" y="1863754"/>
              <a:chExt cx="6756248" cy="654720"/>
            </a:xfrm>
          </p:grpSpPr>
          <p:sp>
            <p:nvSpPr>
              <p:cNvPr id="19538" name="TextBox 112"/>
              <p:cNvSpPr txBox="1">
                <a:spLocks noChangeArrowheads="1"/>
              </p:cNvSpPr>
              <p:nvPr/>
            </p:nvSpPr>
            <p:spPr bwMode="auto">
              <a:xfrm>
                <a:off x="838200" y="1870745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9" name="TextBox 113"/>
              <p:cNvSpPr txBox="1">
                <a:spLocks noChangeArrowheads="1"/>
              </p:cNvSpPr>
              <p:nvPr/>
            </p:nvSpPr>
            <p:spPr bwMode="auto">
              <a:xfrm>
                <a:off x="1686886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0" name="TextBox 114"/>
              <p:cNvSpPr txBox="1">
                <a:spLocks noChangeArrowheads="1"/>
              </p:cNvSpPr>
              <p:nvPr/>
            </p:nvSpPr>
            <p:spPr bwMode="auto">
              <a:xfrm>
                <a:off x="2634842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1" name="TextBox 115"/>
              <p:cNvSpPr txBox="1">
                <a:spLocks noChangeArrowheads="1"/>
              </p:cNvSpPr>
              <p:nvPr/>
            </p:nvSpPr>
            <p:spPr bwMode="auto">
              <a:xfrm>
                <a:off x="3532464" y="1863754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2" name="TextBox 116"/>
              <p:cNvSpPr txBox="1">
                <a:spLocks noChangeArrowheads="1"/>
              </p:cNvSpPr>
              <p:nvPr/>
            </p:nvSpPr>
            <p:spPr bwMode="auto">
              <a:xfrm>
                <a:off x="4438475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3" name="TextBox 117"/>
              <p:cNvSpPr txBox="1">
                <a:spLocks noChangeArrowheads="1"/>
              </p:cNvSpPr>
              <p:nvPr/>
            </p:nvSpPr>
            <p:spPr bwMode="auto">
              <a:xfrm>
                <a:off x="53277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4" name="TextBox 118"/>
              <p:cNvSpPr txBox="1">
                <a:spLocks noChangeArrowheads="1"/>
              </p:cNvSpPr>
              <p:nvPr/>
            </p:nvSpPr>
            <p:spPr bwMode="auto">
              <a:xfrm>
                <a:off x="6250497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45" name="TextBox 119"/>
              <p:cNvSpPr txBox="1">
                <a:spLocks noChangeArrowheads="1"/>
              </p:cNvSpPr>
              <p:nvPr/>
            </p:nvSpPr>
            <p:spPr bwMode="auto">
              <a:xfrm>
                <a:off x="71565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502" name="Group 120"/>
            <p:cNvGrpSpPr>
              <a:grpSpLocks/>
            </p:cNvGrpSpPr>
            <p:nvPr/>
          </p:nvGrpSpPr>
          <p:grpSpPr bwMode="auto">
            <a:xfrm>
              <a:off x="1755396" y="2060895"/>
              <a:ext cx="4512742" cy="452229"/>
              <a:chOff x="838200" y="1863754"/>
              <a:chExt cx="6756248" cy="654720"/>
            </a:xfrm>
          </p:grpSpPr>
          <p:sp>
            <p:nvSpPr>
              <p:cNvPr id="19530" name="TextBox 121"/>
              <p:cNvSpPr txBox="1">
                <a:spLocks noChangeArrowheads="1"/>
              </p:cNvSpPr>
              <p:nvPr/>
            </p:nvSpPr>
            <p:spPr bwMode="auto">
              <a:xfrm>
                <a:off x="838200" y="1870745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1" name="TextBox 122"/>
              <p:cNvSpPr txBox="1">
                <a:spLocks noChangeArrowheads="1"/>
              </p:cNvSpPr>
              <p:nvPr/>
            </p:nvSpPr>
            <p:spPr bwMode="auto">
              <a:xfrm>
                <a:off x="1686886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2" name="TextBox 123"/>
              <p:cNvSpPr txBox="1">
                <a:spLocks noChangeArrowheads="1"/>
              </p:cNvSpPr>
              <p:nvPr/>
            </p:nvSpPr>
            <p:spPr bwMode="auto">
              <a:xfrm>
                <a:off x="2634842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3" name="TextBox 124"/>
              <p:cNvSpPr txBox="1">
                <a:spLocks noChangeArrowheads="1"/>
              </p:cNvSpPr>
              <p:nvPr/>
            </p:nvSpPr>
            <p:spPr bwMode="auto">
              <a:xfrm>
                <a:off x="3532464" y="1863754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4" name="TextBox 125"/>
              <p:cNvSpPr txBox="1">
                <a:spLocks noChangeArrowheads="1"/>
              </p:cNvSpPr>
              <p:nvPr/>
            </p:nvSpPr>
            <p:spPr bwMode="auto">
              <a:xfrm>
                <a:off x="4438475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5" name="TextBox 126"/>
              <p:cNvSpPr txBox="1">
                <a:spLocks noChangeArrowheads="1"/>
              </p:cNvSpPr>
              <p:nvPr/>
            </p:nvSpPr>
            <p:spPr bwMode="auto">
              <a:xfrm>
                <a:off x="53277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6" name="TextBox 127"/>
              <p:cNvSpPr txBox="1">
                <a:spLocks noChangeArrowheads="1"/>
              </p:cNvSpPr>
              <p:nvPr/>
            </p:nvSpPr>
            <p:spPr bwMode="auto">
              <a:xfrm>
                <a:off x="6250497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37" name="TextBox 128"/>
              <p:cNvSpPr txBox="1">
                <a:spLocks noChangeArrowheads="1"/>
              </p:cNvSpPr>
              <p:nvPr/>
            </p:nvSpPr>
            <p:spPr bwMode="auto">
              <a:xfrm>
                <a:off x="71565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503" name="Group 129"/>
            <p:cNvGrpSpPr>
              <a:grpSpLocks/>
            </p:cNvGrpSpPr>
            <p:nvPr/>
          </p:nvGrpSpPr>
          <p:grpSpPr bwMode="auto">
            <a:xfrm>
              <a:off x="1756794" y="2481743"/>
              <a:ext cx="4512742" cy="452229"/>
              <a:chOff x="838200" y="1863754"/>
              <a:chExt cx="6756248" cy="654720"/>
            </a:xfrm>
          </p:grpSpPr>
          <p:sp>
            <p:nvSpPr>
              <p:cNvPr id="19522" name="TextBox 130"/>
              <p:cNvSpPr txBox="1">
                <a:spLocks noChangeArrowheads="1"/>
              </p:cNvSpPr>
              <p:nvPr/>
            </p:nvSpPr>
            <p:spPr bwMode="auto">
              <a:xfrm>
                <a:off x="838200" y="1870745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3" name="TextBox 131"/>
              <p:cNvSpPr txBox="1">
                <a:spLocks noChangeArrowheads="1"/>
              </p:cNvSpPr>
              <p:nvPr/>
            </p:nvSpPr>
            <p:spPr bwMode="auto">
              <a:xfrm>
                <a:off x="1686886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4" name="TextBox 132"/>
              <p:cNvSpPr txBox="1">
                <a:spLocks noChangeArrowheads="1"/>
              </p:cNvSpPr>
              <p:nvPr/>
            </p:nvSpPr>
            <p:spPr bwMode="auto">
              <a:xfrm>
                <a:off x="2634842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5" name="TextBox 133"/>
              <p:cNvSpPr txBox="1">
                <a:spLocks noChangeArrowheads="1"/>
              </p:cNvSpPr>
              <p:nvPr/>
            </p:nvSpPr>
            <p:spPr bwMode="auto">
              <a:xfrm>
                <a:off x="3532464" y="1863754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6" name="TextBox 134"/>
              <p:cNvSpPr txBox="1">
                <a:spLocks noChangeArrowheads="1"/>
              </p:cNvSpPr>
              <p:nvPr/>
            </p:nvSpPr>
            <p:spPr bwMode="auto">
              <a:xfrm>
                <a:off x="4438475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7" name="TextBox 135"/>
              <p:cNvSpPr txBox="1">
                <a:spLocks noChangeArrowheads="1"/>
              </p:cNvSpPr>
              <p:nvPr/>
            </p:nvSpPr>
            <p:spPr bwMode="auto">
              <a:xfrm>
                <a:off x="53277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8" name="TextBox 136"/>
              <p:cNvSpPr txBox="1">
                <a:spLocks noChangeArrowheads="1"/>
              </p:cNvSpPr>
              <p:nvPr/>
            </p:nvSpPr>
            <p:spPr bwMode="auto">
              <a:xfrm>
                <a:off x="6250497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9" name="TextBox 137"/>
              <p:cNvSpPr txBox="1">
                <a:spLocks noChangeArrowheads="1"/>
              </p:cNvSpPr>
              <p:nvPr/>
            </p:nvSpPr>
            <p:spPr bwMode="auto">
              <a:xfrm>
                <a:off x="71565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504" name="Group 138"/>
            <p:cNvGrpSpPr>
              <a:grpSpLocks/>
            </p:cNvGrpSpPr>
            <p:nvPr/>
          </p:nvGrpSpPr>
          <p:grpSpPr bwMode="auto">
            <a:xfrm>
              <a:off x="1758192" y="2902591"/>
              <a:ext cx="4512742" cy="452229"/>
              <a:chOff x="838200" y="1863754"/>
              <a:chExt cx="6756248" cy="654720"/>
            </a:xfrm>
          </p:grpSpPr>
          <p:sp>
            <p:nvSpPr>
              <p:cNvPr id="19514" name="TextBox 139"/>
              <p:cNvSpPr txBox="1">
                <a:spLocks noChangeArrowheads="1"/>
              </p:cNvSpPr>
              <p:nvPr/>
            </p:nvSpPr>
            <p:spPr bwMode="auto">
              <a:xfrm>
                <a:off x="838200" y="1870745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5" name="TextBox 140"/>
              <p:cNvSpPr txBox="1">
                <a:spLocks noChangeArrowheads="1"/>
              </p:cNvSpPr>
              <p:nvPr/>
            </p:nvSpPr>
            <p:spPr bwMode="auto">
              <a:xfrm>
                <a:off x="1686886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6" name="TextBox 141"/>
              <p:cNvSpPr txBox="1">
                <a:spLocks noChangeArrowheads="1"/>
              </p:cNvSpPr>
              <p:nvPr/>
            </p:nvSpPr>
            <p:spPr bwMode="auto">
              <a:xfrm>
                <a:off x="2634842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7" name="TextBox 142"/>
              <p:cNvSpPr txBox="1">
                <a:spLocks noChangeArrowheads="1"/>
              </p:cNvSpPr>
              <p:nvPr/>
            </p:nvSpPr>
            <p:spPr bwMode="auto">
              <a:xfrm>
                <a:off x="3532464" y="1863754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8" name="TextBox 143"/>
              <p:cNvSpPr txBox="1">
                <a:spLocks noChangeArrowheads="1"/>
              </p:cNvSpPr>
              <p:nvPr/>
            </p:nvSpPr>
            <p:spPr bwMode="auto">
              <a:xfrm>
                <a:off x="4438475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9" name="TextBox 144"/>
              <p:cNvSpPr txBox="1">
                <a:spLocks noChangeArrowheads="1"/>
              </p:cNvSpPr>
              <p:nvPr/>
            </p:nvSpPr>
            <p:spPr bwMode="auto">
              <a:xfrm>
                <a:off x="53277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0" name="TextBox 145"/>
              <p:cNvSpPr txBox="1">
                <a:spLocks noChangeArrowheads="1"/>
              </p:cNvSpPr>
              <p:nvPr/>
            </p:nvSpPr>
            <p:spPr bwMode="auto">
              <a:xfrm>
                <a:off x="6250497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21" name="TextBox 146"/>
              <p:cNvSpPr txBox="1">
                <a:spLocks noChangeArrowheads="1"/>
              </p:cNvSpPr>
              <p:nvPr/>
            </p:nvSpPr>
            <p:spPr bwMode="auto">
              <a:xfrm>
                <a:off x="71565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505" name="Group 147"/>
            <p:cNvGrpSpPr>
              <a:grpSpLocks/>
            </p:cNvGrpSpPr>
            <p:nvPr/>
          </p:nvGrpSpPr>
          <p:grpSpPr bwMode="auto">
            <a:xfrm>
              <a:off x="1759590" y="3323439"/>
              <a:ext cx="4512742" cy="452229"/>
              <a:chOff x="838200" y="1863754"/>
              <a:chExt cx="6756248" cy="654720"/>
            </a:xfrm>
          </p:grpSpPr>
          <p:sp>
            <p:nvSpPr>
              <p:cNvPr id="19506" name="TextBox 148"/>
              <p:cNvSpPr txBox="1">
                <a:spLocks noChangeArrowheads="1"/>
              </p:cNvSpPr>
              <p:nvPr/>
            </p:nvSpPr>
            <p:spPr bwMode="auto">
              <a:xfrm>
                <a:off x="838200" y="1870745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07" name="TextBox 149"/>
              <p:cNvSpPr txBox="1">
                <a:spLocks noChangeArrowheads="1"/>
              </p:cNvSpPr>
              <p:nvPr/>
            </p:nvSpPr>
            <p:spPr bwMode="auto">
              <a:xfrm>
                <a:off x="1686886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08" name="TextBox 150"/>
              <p:cNvSpPr txBox="1">
                <a:spLocks noChangeArrowheads="1"/>
              </p:cNvSpPr>
              <p:nvPr/>
            </p:nvSpPr>
            <p:spPr bwMode="auto">
              <a:xfrm>
                <a:off x="2634842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09" name="TextBox 151"/>
              <p:cNvSpPr txBox="1">
                <a:spLocks noChangeArrowheads="1"/>
              </p:cNvSpPr>
              <p:nvPr/>
            </p:nvSpPr>
            <p:spPr bwMode="auto">
              <a:xfrm>
                <a:off x="3532464" y="1863754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0" name="TextBox 152"/>
              <p:cNvSpPr txBox="1">
                <a:spLocks noChangeArrowheads="1"/>
              </p:cNvSpPr>
              <p:nvPr/>
            </p:nvSpPr>
            <p:spPr bwMode="auto">
              <a:xfrm>
                <a:off x="4438475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1" name="TextBox 153"/>
              <p:cNvSpPr txBox="1">
                <a:spLocks noChangeArrowheads="1"/>
              </p:cNvSpPr>
              <p:nvPr/>
            </p:nvSpPr>
            <p:spPr bwMode="auto">
              <a:xfrm>
                <a:off x="53277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2" name="TextBox 154"/>
              <p:cNvSpPr txBox="1">
                <a:spLocks noChangeArrowheads="1"/>
              </p:cNvSpPr>
              <p:nvPr/>
            </p:nvSpPr>
            <p:spPr bwMode="auto">
              <a:xfrm>
                <a:off x="6250497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9513" name="TextBox 155"/>
              <p:cNvSpPr txBox="1">
                <a:spLocks noChangeArrowheads="1"/>
              </p:cNvSpPr>
              <p:nvPr/>
            </p:nvSpPr>
            <p:spPr bwMode="auto">
              <a:xfrm>
                <a:off x="7156508" y="1872143"/>
                <a:ext cx="4379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CA" sz="3600" b="1">
                    <a:solidFill>
                      <a:srgbClr val="FF0000"/>
                    </a:solidFill>
                    <a:sym typeface="Symbol" charset="0"/>
                  </a:rPr>
                  <a:t></a:t>
                </a:r>
                <a:endParaRPr lang="en-CA" sz="3600" b="1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9461" name="Text Box 62"/>
          <p:cNvSpPr txBox="1">
            <a:spLocks noChangeArrowheads="1"/>
          </p:cNvSpPr>
          <p:nvPr/>
        </p:nvSpPr>
        <p:spPr bwMode="auto">
          <a:xfrm>
            <a:off x="3370263" y="4906963"/>
            <a:ext cx="38687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  <a:cs typeface="Times New Roman" charset="0"/>
              </a:rPr>
              <a:t> I</a:t>
            </a:r>
            <a:r>
              <a:rPr lang="en-US"/>
              <a:t>	with probability </a:t>
            </a:r>
            <a:r>
              <a:rPr lang="en-US">
                <a:latin typeface="Times New Roman" charset="0"/>
                <a:cs typeface="Times New Roman" charset="0"/>
              </a:rPr>
              <a:t>1</a:t>
            </a:r>
            <a:r>
              <a:rPr lang="en-US">
                <a:sym typeface="Symbol" charset="0"/>
              </a:rPr>
              <a:t></a:t>
            </a:r>
            <a:endParaRPr lang="en-US"/>
          </a:p>
          <a:p>
            <a:pPr eaLnBrk="1" hangingPunct="1"/>
            <a:r>
              <a:rPr lang="en-US" i="1">
                <a:latin typeface="Times New Roman" charset="0"/>
                <a:cs typeface="Times New Roman" charset="0"/>
              </a:rPr>
              <a:t>X </a:t>
            </a:r>
            <a:r>
              <a:rPr lang="en-US"/>
              <a:t>	with probability </a:t>
            </a:r>
            <a:r>
              <a:rPr lang="en-US">
                <a:sym typeface="Symbol" charset="0"/>
              </a:rPr>
              <a:t></a:t>
            </a:r>
            <a:r>
              <a:rPr lang="en-US" b="1">
                <a:latin typeface="Times New Roman" charset="0"/>
                <a:cs typeface="Times New Roman" charset="0"/>
              </a:rPr>
              <a:t>/</a:t>
            </a:r>
            <a:r>
              <a:rPr lang="en-US">
                <a:latin typeface="Times New Roman" charset="0"/>
                <a:cs typeface="Times New Roman" charset="0"/>
              </a:rPr>
              <a:t>3</a:t>
            </a:r>
          </a:p>
          <a:p>
            <a:pPr eaLnBrk="1" hangingPunct="1"/>
            <a:r>
              <a:rPr lang="en-US" i="1">
                <a:latin typeface="Times New Roman" charset="0"/>
                <a:cs typeface="Times New Roman" charset="0"/>
              </a:rPr>
              <a:t>Y </a:t>
            </a:r>
            <a:r>
              <a:rPr lang="en-US"/>
              <a:t>	with probability </a:t>
            </a:r>
            <a:r>
              <a:rPr lang="en-US">
                <a:sym typeface="Symbol" charset="0"/>
              </a:rPr>
              <a:t></a:t>
            </a:r>
            <a:r>
              <a:rPr lang="en-US" b="1">
                <a:latin typeface="Times New Roman" charset="0"/>
                <a:cs typeface="Times New Roman" charset="0"/>
              </a:rPr>
              <a:t>/</a:t>
            </a:r>
            <a:r>
              <a:rPr lang="en-US">
                <a:latin typeface="Times New Roman" charset="0"/>
                <a:cs typeface="Times New Roman" charset="0"/>
              </a:rPr>
              <a:t>3</a:t>
            </a:r>
            <a:endParaRPr lang="en-US"/>
          </a:p>
          <a:p>
            <a:pPr eaLnBrk="1" hangingPunct="1"/>
            <a:r>
              <a:rPr lang="en-US" i="1">
                <a:latin typeface="Times New Roman" charset="0"/>
                <a:cs typeface="Times New Roman" charset="0"/>
              </a:rPr>
              <a:t>Z </a:t>
            </a:r>
            <a:r>
              <a:rPr lang="en-US"/>
              <a:t>	with probability </a:t>
            </a:r>
            <a:r>
              <a:rPr lang="en-US">
                <a:sym typeface="Symbol" charset="0"/>
              </a:rPr>
              <a:t></a:t>
            </a:r>
            <a:r>
              <a:rPr lang="en-US" b="1">
                <a:latin typeface="Times New Roman" charset="0"/>
                <a:cs typeface="Times New Roman" charset="0"/>
              </a:rPr>
              <a:t>/</a:t>
            </a:r>
            <a:r>
              <a:rPr lang="en-US">
                <a:latin typeface="Times New Roman" charset="0"/>
                <a:cs typeface="Times New Roman" charset="0"/>
              </a:rPr>
              <a:t>3</a:t>
            </a:r>
            <a:endParaRPr lang="en-US"/>
          </a:p>
        </p:txBody>
      </p:sp>
      <p:sp>
        <p:nvSpPr>
          <p:cNvPr id="160" name="Left Brace 159"/>
          <p:cNvSpPr/>
          <p:nvPr/>
        </p:nvSpPr>
        <p:spPr>
          <a:xfrm>
            <a:off x="3217863" y="4941888"/>
            <a:ext cx="152400" cy="1447800"/>
          </a:xfrm>
          <a:prstGeom prst="leftBrace">
            <a:avLst>
              <a:gd name="adj1" fmla="val 52505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4307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846A5A8-EC96-844F-8262-2D7FA900E354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>
                <a:latin typeface="Arial" charset="0"/>
              </a:rPr>
              <a:t>Threshold theorem</a:t>
            </a:r>
          </a:p>
        </p:txBody>
      </p:sp>
      <p:sp>
        <p:nvSpPr>
          <p:cNvPr id="20483" name="Text Box 62"/>
          <p:cNvSpPr txBox="1">
            <a:spLocks noChangeArrowheads="1"/>
          </p:cNvSpPr>
          <p:nvPr/>
        </p:nvSpPr>
        <p:spPr bwMode="auto">
          <a:xfrm>
            <a:off x="246063" y="1150938"/>
            <a:ext cx="85931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If </a:t>
            </a:r>
            <a:r>
              <a:rPr lang="en-US">
                <a:sym typeface="Symbol" charset="0"/>
              </a:rPr>
              <a:t> is very small then this is okay</a:t>
            </a:r>
            <a:r>
              <a:rPr lang="en-US" sz="1200">
                <a:sym typeface="Symbol" charset="0"/>
              </a:rPr>
              <a:t> </a:t>
            </a:r>
            <a:r>
              <a:rPr lang="en-US">
                <a:sym typeface="Symbol" charset="0"/>
              </a:rPr>
              <a:t>—</a:t>
            </a:r>
            <a:r>
              <a:rPr lang="en-US" sz="1200">
                <a:sym typeface="Symbol" charset="0"/>
              </a:rPr>
              <a:t> </a:t>
            </a:r>
            <a:r>
              <a:rPr lang="en-US">
                <a:sym typeface="Symbol" charset="0"/>
              </a:rPr>
              <a:t>a computation of size* less than </a:t>
            </a:r>
            <a:r>
              <a:rPr lang="en-US">
                <a:latin typeface="Times New Roman" charset="0"/>
                <a:cs typeface="Times New Roman" charset="0"/>
              </a:rPr>
              <a:t>1</a:t>
            </a:r>
            <a:r>
              <a:rPr lang="en-US" b="1">
                <a:latin typeface="Times New Roman" charset="0"/>
                <a:cs typeface="Times New Roman" charset="0"/>
              </a:rPr>
              <a:t>/</a:t>
            </a:r>
            <a:r>
              <a:rPr lang="en-US">
                <a:latin typeface="Times New Roman" charset="0"/>
                <a:cs typeface="Times New Roman" charset="0"/>
              </a:rPr>
              <a:t>(10</a:t>
            </a:r>
            <a:r>
              <a:rPr lang="en-US">
                <a:sym typeface="Symbol" charset="0"/>
              </a:rPr>
              <a:t></a:t>
            </a:r>
            <a:r>
              <a:rPr lang="en-US">
                <a:latin typeface="Times New Roman" charset="0"/>
                <a:cs typeface="Times New Roman" charset="0"/>
              </a:rPr>
              <a:t>)</a:t>
            </a:r>
            <a:r>
              <a:rPr lang="en-US"/>
              <a:t> will still succeed most of the time</a:t>
            </a:r>
          </a:p>
        </p:txBody>
      </p:sp>
      <p:sp>
        <p:nvSpPr>
          <p:cNvPr id="20484" name="TextBox 110"/>
          <p:cNvSpPr txBox="1">
            <a:spLocks noChangeArrowheads="1"/>
          </p:cNvSpPr>
          <p:nvPr/>
        </p:nvSpPr>
        <p:spPr bwMode="auto">
          <a:xfrm>
            <a:off x="246063" y="5791200"/>
            <a:ext cx="4687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/>
              <a:t>*</a:t>
            </a:r>
            <a:r>
              <a:rPr lang="en-US" sz="2000">
                <a:sym typeface="Symbol" charset="0"/>
              </a:rPr>
              <a:t> where size = (# qubits)x(# time steps)</a:t>
            </a:r>
            <a:r>
              <a:rPr lang="en-US" sz="2000"/>
              <a:t> </a:t>
            </a:r>
            <a:endParaRPr lang="en-CA" sz="2000"/>
          </a:p>
        </p:txBody>
      </p:sp>
      <p:sp>
        <p:nvSpPr>
          <p:cNvPr id="20485" name="TextBox 111"/>
          <p:cNvSpPr txBox="1">
            <a:spLocks noChangeArrowheads="1"/>
          </p:cNvSpPr>
          <p:nvPr/>
        </p:nvSpPr>
        <p:spPr bwMode="auto">
          <a:xfrm>
            <a:off x="246063" y="2057400"/>
            <a:ext cx="84407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But, for every constant value of </a:t>
            </a:r>
            <a:r>
              <a:rPr lang="en-US">
                <a:sym typeface="Symbol" charset="0"/>
              </a:rPr>
              <a:t></a:t>
            </a:r>
            <a:r>
              <a:rPr lang="en-US"/>
              <a:t>, the size of the maximum computation possible is constant</a:t>
            </a:r>
            <a:endParaRPr lang="en-CA"/>
          </a:p>
        </p:txBody>
      </p:sp>
      <p:sp>
        <p:nvSpPr>
          <p:cNvPr id="20486" name="TextBox 120"/>
          <p:cNvSpPr txBox="1">
            <a:spLocks noChangeArrowheads="1"/>
          </p:cNvSpPr>
          <p:nvPr/>
        </p:nvSpPr>
        <p:spPr bwMode="auto">
          <a:xfrm>
            <a:off x="246063" y="3078163"/>
            <a:ext cx="8516937" cy="1570037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/>
              <a:t>Threshold theorem: </a:t>
            </a:r>
            <a:r>
              <a:rPr lang="en-US"/>
              <a:t>There is a fixed constant</a:t>
            </a:r>
            <a:r>
              <a:rPr lang="en-US">
                <a:sym typeface="Symbol" charset="0"/>
              </a:rPr>
              <a:t> </a:t>
            </a:r>
            <a:r>
              <a:rPr lang="en-US" baseline="-25000">
                <a:latin typeface="Times New Roman" charset="0"/>
                <a:cs typeface="Times New Roman" charset="0"/>
                <a:sym typeface="Symbol" charset="0"/>
              </a:rPr>
              <a:t>0</a:t>
            </a:r>
            <a:r>
              <a:rPr lang="en-US"/>
              <a:t> </a:t>
            </a:r>
            <a:r>
              <a:rPr lang="en-US" b="1">
                <a:latin typeface="Times New Roman" charset="0"/>
                <a:cs typeface="Times New Roman" charset="0"/>
              </a:rPr>
              <a:t>&gt;</a:t>
            </a:r>
            <a:r>
              <a:rPr lang="en-US">
                <a:latin typeface="Times New Roman" charset="0"/>
                <a:cs typeface="Times New Roman" charset="0"/>
              </a:rPr>
              <a:t> 0</a:t>
            </a:r>
            <a:r>
              <a:rPr lang="en-US"/>
              <a:t> such that any computation of size </a:t>
            </a:r>
            <a:r>
              <a:rPr lang="en-US" i="1">
                <a:latin typeface="Times New Roman" charset="0"/>
                <a:cs typeface="Times New Roman" charset="0"/>
              </a:rPr>
              <a:t>T</a:t>
            </a:r>
            <a:r>
              <a:rPr lang="en-US"/>
              <a:t> can be translated into one of size  </a:t>
            </a:r>
            <a:r>
              <a:rPr lang="en-US" i="1">
                <a:latin typeface="Times New Roman" charset="0"/>
                <a:cs typeface="Times New Roman" charset="0"/>
              </a:rPr>
              <a:t>O</a:t>
            </a:r>
            <a:r>
              <a:rPr lang="en-US">
                <a:latin typeface="Times New Roman" charset="0"/>
                <a:cs typeface="Times New Roman" charset="0"/>
              </a:rPr>
              <a:t>(</a:t>
            </a:r>
            <a:r>
              <a:rPr lang="en-US" i="1">
                <a:latin typeface="Times New Roman" charset="0"/>
                <a:cs typeface="Times New Roman" charset="0"/>
              </a:rPr>
              <a:t>T</a:t>
            </a:r>
            <a:r>
              <a:rPr lang="en-US">
                <a:latin typeface="Times New Roman" charset="0"/>
                <a:cs typeface="Times New Roman" charset="0"/>
              </a:rPr>
              <a:t> log</a:t>
            </a:r>
            <a:r>
              <a:rPr lang="en-US" i="1" baseline="30000">
                <a:latin typeface="Times New Roman" charset="0"/>
              </a:rPr>
              <a:t>c</a:t>
            </a:r>
            <a:r>
              <a:rPr lang="en-US">
                <a:latin typeface="Times New Roman" charset="0"/>
                <a:cs typeface="Times New Roman" charset="0"/>
              </a:rPr>
              <a:t>(</a:t>
            </a:r>
            <a:r>
              <a:rPr lang="en-US" i="1">
                <a:latin typeface="Times New Roman" charset="0"/>
                <a:cs typeface="Times New Roman" charset="0"/>
              </a:rPr>
              <a:t>T</a:t>
            </a:r>
            <a:r>
              <a:rPr lang="en-US" sz="1000" i="1">
                <a:latin typeface="Times New Roman" charset="0"/>
                <a:cs typeface="Times New Roman" charset="0"/>
              </a:rPr>
              <a:t> </a:t>
            </a:r>
            <a:r>
              <a:rPr lang="en-US">
                <a:latin typeface="Times New Roman" charset="0"/>
                <a:cs typeface="Times New Roman" charset="0"/>
              </a:rPr>
              <a:t>))  </a:t>
            </a:r>
            <a:r>
              <a:rPr lang="en-US"/>
              <a:t>that is robust against the error model with parameter </a:t>
            </a:r>
            <a:r>
              <a:rPr lang="en-US">
                <a:sym typeface="Symbol" charset="0"/>
              </a:rPr>
              <a:t></a:t>
            </a:r>
            <a:r>
              <a:rPr lang="en-US" baseline="-25000">
                <a:latin typeface="Times New Roman" charset="0"/>
                <a:cs typeface="Times New Roman" charset="0"/>
                <a:sym typeface="Symbol" charset="0"/>
              </a:rPr>
              <a:t>0</a:t>
            </a:r>
            <a:endParaRPr lang="en-CA"/>
          </a:p>
        </p:txBody>
      </p:sp>
      <p:sp>
        <p:nvSpPr>
          <p:cNvPr id="20487" name="TextBox 129"/>
          <p:cNvSpPr txBox="1">
            <a:spLocks noChangeArrowheads="1"/>
          </p:cNvSpPr>
          <p:nvPr/>
        </p:nvSpPr>
        <p:spPr bwMode="auto">
          <a:xfrm>
            <a:off x="246063" y="4876800"/>
            <a:ext cx="8440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(The proof is omitted here)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7599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F08953A-5420-BE45-8260-D5DBA7C6A847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600" b="1">
                <a:latin typeface="Arial" charset="0"/>
              </a:rPr>
              <a:t>Comments about the threshold theorem</a:t>
            </a:r>
          </a:p>
        </p:txBody>
      </p:sp>
      <p:sp>
        <p:nvSpPr>
          <p:cNvPr id="21507" name="Text Box 62"/>
          <p:cNvSpPr txBox="1">
            <a:spLocks noChangeArrowheads="1"/>
          </p:cNvSpPr>
          <p:nvPr/>
        </p:nvSpPr>
        <p:spPr bwMode="auto">
          <a:xfrm>
            <a:off x="246063" y="838200"/>
            <a:ext cx="85931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Idea is to use a quantum error-correcting code at the start  and then perform all the gates </a:t>
            </a:r>
            <a:r>
              <a:rPr lang="en-US" b="1" i="1"/>
              <a:t>on the encoded data</a:t>
            </a:r>
          </a:p>
        </p:txBody>
      </p:sp>
      <p:sp>
        <p:nvSpPr>
          <p:cNvPr id="21508" name="TextBox 111"/>
          <p:cNvSpPr txBox="1">
            <a:spLocks noChangeArrowheads="1"/>
          </p:cNvSpPr>
          <p:nvPr/>
        </p:nvSpPr>
        <p:spPr bwMode="auto">
          <a:xfrm>
            <a:off x="246063" y="1695450"/>
            <a:ext cx="88217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At regular intervals, an error-correction procedure is performed, very carefully, since these operations are also subject to errors!</a:t>
            </a:r>
          </a:p>
        </p:txBody>
      </p:sp>
      <p:sp>
        <p:nvSpPr>
          <p:cNvPr id="21509" name="TextBox 7"/>
          <p:cNvSpPr txBox="1">
            <a:spLocks noChangeArrowheads="1"/>
          </p:cNvSpPr>
          <p:nvPr/>
        </p:nvSpPr>
        <p:spPr bwMode="auto">
          <a:xfrm>
            <a:off x="246063" y="2609850"/>
            <a:ext cx="844073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The 7-qubit CSS code has some nice properties that enable some (not all) gates to be directly peformed on the encoded data: </a:t>
            </a:r>
            <a:r>
              <a:rPr lang="en-US" i="1">
                <a:latin typeface="Times New Roman" charset="0"/>
                <a:cs typeface="Times New Roman" charset="0"/>
              </a:rPr>
              <a:t>H</a:t>
            </a:r>
            <a:r>
              <a:rPr lang="en-US"/>
              <a:t> and </a:t>
            </a:r>
            <a:r>
              <a:rPr lang="en-US" i="1">
                <a:latin typeface="Times New Roman" charset="0"/>
                <a:cs typeface="Times New Roman" charset="0"/>
              </a:rPr>
              <a:t>CNOT</a:t>
            </a:r>
            <a:r>
              <a:rPr lang="en-US"/>
              <a:t> gates act </a:t>
            </a:r>
            <a:r>
              <a:rPr lang="ja-JP" altLang="en-US"/>
              <a:t>“</a:t>
            </a:r>
            <a:r>
              <a:rPr lang="en-US" altLang="ja-JP"/>
              <a:t>transversally</a:t>
            </a:r>
            <a:r>
              <a:rPr lang="ja-JP" altLang="en-US"/>
              <a:t>”</a:t>
            </a:r>
            <a:r>
              <a:rPr lang="en-US" altLang="ja-JP"/>
              <a:t> in the sense that:</a:t>
            </a:r>
            <a:endParaRPr lang="en-US"/>
          </a:p>
        </p:txBody>
      </p:sp>
      <p:grpSp>
        <p:nvGrpSpPr>
          <p:cNvPr id="21510" name="Group 75"/>
          <p:cNvGrpSpPr>
            <a:grpSpLocks/>
          </p:cNvGrpSpPr>
          <p:nvPr/>
        </p:nvGrpSpPr>
        <p:grpSpPr bwMode="auto">
          <a:xfrm>
            <a:off x="4572000" y="4157663"/>
            <a:ext cx="1143000" cy="1524000"/>
            <a:chOff x="2971800" y="4953000"/>
            <a:chExt cx="1143000" cy="15240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2971800" y="50292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971800" y="52578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971800" y="54864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971800" y="57150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971800" y="59436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971800" y="61722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971800" y="64008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505200" y="49530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505200" y="51816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05200" y="54102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05200" y="56388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505200" y="58674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05200" y="60960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05200" y="63246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</p:grpSp>
      <p:grpSp>
        <p:nvGrpSpPr>
          <p:cNvPr id="21511" name="Group 76"/>
          <p:cNvGrpSpPr>
            <a:grpSpLocks/>
          </p:cNvGrpSpPr>
          <p:nvPr/>
        </p:nvGrpSpPr>
        <p:grpSpPr bwMode="auto">
          <a:xfrm>
            <a:off x="533400" y="4310063"/>
            <a:ext cx="1143000" cy="152400"/>
            <a:chOff x="1143000" y="4953000"/>
            <a:chExt cx="1143000" cy="1524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143000" y="502920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600200" y="4953000"/>
              <a:ext cx="152400" cy="15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i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Times New Roman" charset="0"/>
                </a:rPr>
                <a:t>H</a:t>
              </a:r>
              <a:endParaRPr lang="en-CA" sz="1100" i="1">
                <a:solidFill>
                  <a:schemeClr val="tx1"/>
                </a:solidFill>
                <a:latin typeface="Times New Roman" charset="0"/>
                <a:ea typeface="ＭＳ Ｐゴシック" charset="0"/>
                <a:cs typeface="Times New Roman" charset="0"/>
              </a:endParaRPr>
            </a:p>
          </p:txBody>
        </p:sp>
      </p:grpSp>
      <p:grpSp>
        <p:nvGrpSpPr>
          <p:cNvPr id="21512" name="Group 74"/>
          <p:cNvGrpSpPr>
            <a:grpSpLocks/>
          </p:cNvGrpSpPr>
          <p:nvPr/>
        </p:nvGrpSpPr>
        <p:grpSpPr bwMode="auto">
          <a:xfrm>
            <a:off x="6553200" y="3852863"/>
            <a:ext cx="1143000" cy="2154237"/>
            <a:chOff x="5257800" y="4170310"/>
            <a:chExt cx="1143000" cy="215429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5257800" y="4190948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257800" y="4343351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57800" y="4495755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257800" y="4648159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257800" y="4800563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257800" y="4952966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257800" y="5105370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257800" y="5333976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800585" y="4800563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5334000" y="5257774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5257800" y="5486379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257800" y="5638783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5257800" y="5791187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5257800" y="5943591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5257800" y="6095994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800" y="6248398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4952985" y="4952966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5105385" y="5105370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5257785" y="5257774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5410185" y="5410178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5562585" y="5562581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5714985" y="5714985"/>
              <a:ext cx="1219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5486400" y="5410178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5638800" y="5562581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5791200" y="5714985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943600" y="5867389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6096000" y="6019793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6248400" y="6172196"/>
              <a:ext cx="152400" cy="1524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5389563" y="4170310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5541963" y="4322714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5694363" y="4475117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5846763" y="4627521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5999163" y="4779925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6151563" y="4932329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6303963" y="5084732"/>
              <a:ext cx="46037" cy="46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513" name="Group 77"/>
          <p:cNvGrpSpPr>
            <a:grpSpLocks/>
          </p:cNvGrpSpPr>
          <p:nvPr/>
        </p:nvGrpSpPr>
        <p:grpSpPr bwMode="auto">
          <a:xfrm>
            <a:off x="533400" y="5148263"/>
            <a:ext cx="1143000" cy="282575"/>
            <a:chOff x="457200" y="5715000"/>
            <a:chExt cx="1143000" cy="283080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457200" y="5740445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966788" y="5715000"/>
              <a:ext cx="46037" cy="46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70" name="Straight Connector 69"/>
            <p:cNvCxnSpPr/>
            <p:nvPr/>
          </p:nvCxnSpPr>
          <p:spPr>
            <a:xfrm>
              <a:off x="457200" y="5921744"/>
              <a:ext cx="114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876096" y="5883576"/>
              <a:ext cx="22900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914400" y="5845408"/>
              <a:ext cx="152400" cy="1526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514" name="TextBox 78"/>
          <p:cNvSpPr txBox="1">
            <a:spLocks noChangeArrowheads="1"/>
          </p:cNvSpPr>
          <p:nvPr/>
        </p:nvSpPr>
        <p:spPr bwMode="auto">
          <a:xfrm>
            <a:off x="1828800" y="4614863"/>
            <a:ext cx="2079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/>
              <a:t>are equivalent to</a:t>
            </a:r>
            <a:endParaRPr lang="en-CA" sz="2000"/>
          </a:p>
        </p:txBody>
      </p:sp>
      <p:sp>
        <p:nvSpPr>
          <p:cNvPr id="80" name="Left Brace 79"/>
          <p:cNvSpPr/>
          <p:nvPr/>
        </p:nvSpPr>
        <p:spPr>
          <a:xfrm>
            <a:off x="4343400" y="4233863"/>
            <a:ext cx="152400" cy="1371600"/>
          </a:xfrm>
          <a:prstGeom prst="leftBrace">
            <a:avLst>
              <a:gd name="adj1" fmla="val 50051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>
              <a:latin typeface="Arial" charset="0"/>
              <a:ea typeface="ＭＳ Ｐゴシック" charset="0"/>
            </a:endParaRPr>
          </a:p>
        </p:txBody>
      </p:sp>
      <p:sp>
        <p:nvSpPr>
          <p:cNvPr id="81" name="Left Brace 80"/>
          <p:cNvSpPr/>
          <p:nvPr/>
        </p:nvSpPr>
        <p:spPr>
          <a:xfrm>
            <a:off x="6324600" y="3852863"/>
            <a:ext cx="152400" cy="914400"/>
          </a:xfrm>
          <a:prstGeom prst="leftBrace">
            <a:avLst>
              <a:gd name="adj1" fmla="val 50051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>
              <a:latin typeface="Arial" charset="0"/>
              <a:ea typeface="ＭＳ Ｐゴシック" charset="0"/>
            </a:endParaRPr>
          </a:p>
        </p:txBody>
      </p:sp>
      <p:sp>
        <p:nvSpPr>
          <p:cNvPr id="82" name="Left Brace 81"/>
          <p:cNvSpPr/>
          <p:nvPr/>
        </p:nvSpPr>
        <p:spPr>
          <a:xfrm>
            <a:off x="6324600" y="4995863"/>
            <a:ext cx="152400" cy="914400"/>
          </a:xfrm>
          <a:prstGeom prst="leftBrace">
            <a:avLst>
              <a:gd name="adj1" fmla="val 50051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>
              <a:latin typeface="Arial" charset="0"/>
              <a:ea typeface="ＭＳ Ｐゴシック" charset="0"/>
            </a:endParaRPr>
          </a:p>
        </p:txBody>
      </p:sp>
      <p:sp>
        <p:nvSpPr>
          <p:cNvPr id="21518" name="TextBox 82"/>
          <p:cNvSpPr txBox="1">
            <a:spLocks noChangeArrowheads="1"/>
          </p:cNvSpPr>
          <p:nvPr/>
        </p:nvSpPr>
        <p:spPr bwMode="auto">
          <a:xfrm>
            <a:off x="4343400" y="5681663"/>
            <a:ext cx="1471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7030A0"/>
                </a:solidFill>
              </a:rPr>
              <a:t>encoded qubit</a:t>
            </a:r>
            <a:endParaRPr lang="en-CA" sz="1600">
              <a:solidFill>
                <a:srgbClr val="7030A0"/>
              </a:solidFill>
            </a:endParaRPr>
          </a:p>
        </p:txBody>
      </p:sp>
      <p:sp>
        <p:nvSpPr>
          <p:cNvPr id="21519" name="TextBox 71"/>
          <p:cNvSpPr txBox="1">
            <a:spLocks noChangeArrowheads="1"/>
          </p:cNvSpPr>
          <p:nvPr/>
        </p:nvSpPr>
        <p:spPr bwMode="auto">
          <a:xfrm>
            <a:off x="246063" y="6172200"/>
            <a:ext cx="6983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Also, codes applied recursively become stronger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43490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97ED-FA8A-C446-9C7F-D739690F83A0}" type="slidenum">
              <a:rPr lang="en-US"/>
              <a:pPr/>
              <a:t>24</a:t>
            </a:fld>
            <a:endParaRPr lang="en-US"/>
          </a:p>
        </p:txBody>
      </p:sp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b="1"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3" y="2366963"/>
            <a:ext cx="8880475" cy="1517407"/>
          </a:xfrm>
          <a:solidFill>
            <a:srgbClr val="B2B2B2"/>
          </a:solidFill>
        </p:spPr>
        <p:txBody>
          <a:bodyPr/>
          <a:lstStyle/>
          <a:p>
            <a:pPr>
              <a:buFontTx/>
              <a:buNone/>
            </a:pPr>
            <a:r>
              <a:rPr lang="en-US" sz="5400" b="1" dirty="0">
                <a:solidFill>
                  <a:schemeClr val="bg1"/>
                </a:solidFill>
              </a:rPr>
              <a:t>Continuous-time </a:t>
            </a:r>
            <a:r>
              <a:rPr lang="en-US" sz="5400" b="1" dirty="0" smtClean="0">
                <a:solidFill>
                  <a:schemeClr val="bg1"/>
                </a:solidFill>
              </a:rPr>
              <a:t>evolution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chemeClr val="bg1"/>
                </a:solidFill>
              </a:rPr>
              <a:t>(very briefly)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708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4464-E016-DA43-9AC2-B388D95A29A8}" type="slidenum">
              <a:rPr lang="en-US"/>
              <a:pPr/>
              <a:t>25</a:t>
            </a:fld>
            <a:endParaRPr lang="en-US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725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Continuous-time evolution</a:t>
            </a:r>
          </a:p>
        </p:txBody>
      </p:sp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94194" y="924465"/>
            <a:ext cx="89556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/>
              <a:t>Although </a:t>
            </a:r>
            <a:r>
              <a:rPr lang="en-US" sz="2400" dirty="0" smtClean="0"/>
              <a:t>we</a:t>
            </a:r>
            <a:r>
              <a:rPr lang="en-CA" sz="2400" dirty="0" smtClean="0">
                <a:latin typeface="Arial"/>
              </a:rPr>
              <a:t>’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/>
              <a:t>expressed quantum operations in </a:t>
            </a:r>
            <a:r>
              <a:rPr lang="en-US" sz="2400" dirty="0" smtClean="0"/>
              <a:t>discrete terms</a:t>
            </a:r>
            <a:r>
              <a:rPr lang="en-US" sz="2400" dirty="0"/>
              <a:t>, in real physical systems, the evolution is continuous</a:t>
            </a:r>
          </a:p>
        </p:txBody>
      </p:sp>
      <p:grpSp>
        <p:nvGrpSpPr>
          <p:cNvPr id="680966" name="Group 6"/>
          <p:cNvGrpSpPr>
            <a:grpSpLocks/>
          </p:cNvGrpSpPr>
          <p:nvPr/>
        </p:nvGrpSpPr>
        <p:grpSpPr bwMode="auto">
          <a:xfrm>
            <a:off x="6009625" y="2995417"/>
            <a:ext cx="2732087" cy="0"/>
            <a:chOff x="2450" y="3021"/>
            <a:chExt cx="1721" cy="0"/>
          </a:xfrm>
        </p:grpSpPr>
        <p:sp>
          <p:nvSpPr>
            <p:cNvPr id="680964" name="Line 4"/>
            <p:cNvSpPr>
              <a:spLocks noChangeShapeType="1"/>
            </p:cNvSpPr>
            <p:nvPr/>
          </p:nvSpPr>
          <p:spPr bwMode="auto">
            <a:xfrm>
              <a:off x="2450" y="3021"/>
              <a:ext cx="1721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965" name="Line 5"/>
            <p:cNvSpPr>
              <a:spLocks noChangeShapeType="1"/>
            </p:cNvSpPr>
            <p:nvPr/>
          </p:nvSpPr>
          <p:spPr bwMode="auto">
            <a:xfrm>
              <a:off x="2450" y="3021"/>
              <a:ext cx="860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92680" y="1303940"/>
            <a:ext cx="2508915" cy="2678112"/>
            <a:chOff x="6616785" y="1986995"/>
            <a:chExt cx="2508915" cy="2678112"/>
          </a:xfrm>
        </p:grpSpPr>
        <p:sp>
          <p:nvSpPr>
            <p:cNvPr id="680967" name="Line 7"/>
            <p:cNvSpPr>
              <a:spLocks noChangeShapeType="1"/>
            </p:cNvSpPr>
            <p:nvPr/>
          </p:nvSpPr>
          <p:spPr bwMode="auto">
            <a:xfrm>
              <a:off x="6616785" y="3733245"/>
              <a:ext cx="2200275" cy="0"/>
            </a:xfrm>
            <a:prstGeom prst="line">
              <a:avLst/>
            </a:prstGeom>
            <a:noFill/>
            <a:ln w="19050" cap="rnd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968" name="Line 8"/>
            <p:cNvSpPr>
              <a:spLocks noChangeShapeType="1"/>
            </p:cNvSpPr>
            <p:nvPr/>
          </p:nvSpPr>
          <p:spPr bwMode="auto">
            <a:xfrm flipH="1" flipV="1">
              <a:off x="7354050" y="2212420"/>
              <a:ext cx="1588" cy="2201862"/>
            </a:xfrm>
            <a:prstGeom prst="line">
              <a:avLst/>
            </a:prstGeom>
            <a:noFill/>
            <a:ln w="19050" cap="rnd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969" name="Arc 9"/>
            <p:cNvSpPr>
              <a:spLocks/>
            </p:cNvSpPr>
            <p:nvPr/>
          </p:nvSpPr>
          <p:spPr bwMode="auto">
            <a:xfrm flipV="1">
              <a:off x="6768263" y="2366407"/>
              <a:ext cx="1951037" cy="2298700"/>
            </a:xfrm>
            <a:custGeom>
              <a:avLst/>
              <a:gdLst>
                <a:gd name="G0" fmla="+- 10665 0 0"/>
                <a:gd name="G1" fmla="+- 14741 0 0"/>
                <a:gd name="G2" fmla="+- 21600 0 0"/>
                <a:gd name="T0" fmla="*/ 26453 w 32265"/>
                <a:gd name="T1" fmla="*/ 0 h 36341"/>
                <a:gd name="T2" fmla="*/ 0 w 32265"/>
                <a:gd name="T3" fmla="*/ 33525 h 36341"/>
                <a:gd name="T4" fmla="*/ 10665 w 32265"/>
                <a:gd name="T5" fmla="*/ 14741 h 36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265" h="36341" fill="none" extrusionOk="0">
                  <a:moveTo>
                    <a:pt x="26453" y="-1"/>
                  </a:moveTo>
                  <a:cubicBezTo>
                    <a:pt x="30187" y="3999"/>
                    <a:pt x="32265" y="9268"/>
                    <a:pt x="32265" y="14741"/>
                  </a:cubicBezTo>
                  <a:cubicBezTo>
                    <a:pt x="32265" y="26670"/>
                    <a:pt x="22594" y="36341"/>
                    <a:pt x="10665" y="36341"/>
                  </a:cubicBezTo>
                  <a:cubicBezTo>
                    <a:pt x="6926" y="36340"/>
                    <a:pt x="3251" y="35370"/>
                    <a:pt x="0" y="33524"/>
                  </a:cubicBezTo>
                </a:path>
                <a:path w="32265" h="36341" stroke="0" extrusionOk="0">
                  <a:moveTo>
                    <a:pt x="26453" y="-1"/>
                  </a:moveTo>
                  <a:cubicBezTo>
                    <a:pt x="30187" y="3999"/>
                    <a:pt x="32265" y="9268"/>
                    <a:pt x="32265" y="14741"/>
                  </a:cubicBezTo>
                  <a:cubicBezTo>
                    <a:pt x="32265" y="26670"/>
                    <a:pt x="22594" y="36341"/>
                    <a:pt x="10665" y="36341"/>
                  </a:cubicBezTo>
                  <a:cubicBezTo>
                    <a:pt x="6926" y="36340"/>
                    <a:pt x="3251" y="35370"/>
                    <a:pt x="0" y="33524"/>
                  </a:cubicBezTo>
                  <a:lnTo>
                    <a:pt x="10665" y="14741"/>
                  </a:lnTo>
                  <a:close/>
                </a:path>
              </a:pathLst>
            </a:custGeom>
            <a:noFill/>
            <a:ln w="19050" cap="rnd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0" name="Text Box 10"/>
            <p:cNvSpPr txBox="1">
              <a:spLocks noChangeArrowheads="1"/>
            </p:cNvSpPr>
            <p:nvPr/>
          </p:nvSpPr>
          <p:spPr bwMode="auto">
            <a:xfrm>
              <a:off x="8665325" y="3353832"/>
              <a:ext cx="4603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990099"/>
                  </a:solidFill>
                  <a:sym typeface="Symbol" charset="0"/>
                </a:rPr>
                <a:t></a:t>
              </a:r>
              <a:r>
                <a:rPr lang="en-US" sz="2000">
                  <a:solidFill>
                    <a:srgbClr val="990099"/>
                  </a:solidFill>
                </a:rPr>
                <a:t>0</a:t>
              </a:r>
              <a:r>
                <a:rPr lang="en-US" sz="2000">
                  <a:solidFill>
                    <a:srgbClr val="990099"/>
                  </a:solidFill>
                  <a:sym typeface="Symbol" charset="0"/>
                </a:rPr>
                <a:t></a:t>
              </a:r>
              <a:endParaRPr lang="en-US"/>
            </a:p>
          </p:txBody>
        </p:sp>
        <p:sp>
          <p:nvSpPr>
            <p:cNvPr id="680971" name="Text Box 11"/>
            <p:cNvSpPr txBox="1">
              <a:spLocks noChangeArrowheads="1"/>
            </p:cNvSpPr>
            <p:nvPr/>
          </p:nvSpPr>
          <p:spPr bwMode="auto">
            <a:xfrm>
              <a:off x="7300075" y="1986995"/>
              <a:ext cx="4603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990099"/>
                  </a:solidFill>
                  <a:sym typeface="Symbol" charset="0"/>
                </a:rPr>
                <a:t></a:t>
              </a:r>
              <a:r>
                <a:rPr lang="en-US" sz="2000">
                  <a:solidFill>
                    <a:srgbClr val="990099"/>
                  </a:solidFill>
                </a:rPr>
                <a:t>1</a:t>
              </a:r>
              <a:r>
                <a:rPr lang="en-US" sz="2000">
                  <a:solidFill>
                    <a:srgbClr val="990099"/>
                  </a:solidFill>
                  <a:sym typeface="Symbol" charset="0"/>
                </a:rPr>
                <a:t></a:t>
              </a:r>
              <a:endParaRPr lang="en-US"/>
            </a:p>
          </p:txBody>
        </p:sp>
      </p:grpSp>
      <p:sp>
        <p:nvSpPr>
          <p:cNvPr id="680972" name="Text Box 12"/>
          <p:cNvSpPr txBox="1">
            <a:spLocks noChangeArrowheads="1"/>
          </p:cNvSpPr>
          <p:nvPr/>
        </p:nvSpPr>
        <p:spPr bwMode="auto">
          <a:xfrm>
            <a:off x="94195" y="1683415"/>
            <a:ext cx="5647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Let</a:t>
            </a:r>
            <a:r>
              <a:rPr lang="en-US" dirty="0"/>
              <a:t> </a:t>
            </a:r>
            <a:r>
              <a:rPr lang="en-US" sz="2800" i="1" dirty="0">
                <a:latin typeface="Times New Roman" charset="0"/>
              </a:rPr>
              <a:t>H</a:t>
            </a:r>
            <a:r>
              <a:rPr lang="en-US" dirty="0"/>
              <a:t> </a:t>
            </a:r>
            <a:r>
              <a:rPr lang="en-US" sz="2400" dirty="0"/>
              <a:t>be any </a:t>
            </a:r>
            <a:r>
              <a:rPr lang="en-US" sz="2400" b="1" i="1" dirty="0" err="1"/>
              <a:t>Hermitian</a:t>
            </a:r>
            <a:r>
              <a:rPr lang="en-US" sz="2400" dirty="0"/>
              <a:t> matrix and </a:t>
            </a:r>
            <a:r>
              <a:rPr lang="en-US" sz="2800" i="1" dirty="0">
                <a:latin typeface="Times New Roman" charset="0"/>
              </a:rPr>
              <a:t>t</a:t>
            </a:r>
            <a:r>
              <a:rPr lang="en-US" dirty="0">
                <a:latin typeface="Times New Roman" charset="0"/>
              </a:rPr>
              <a:t> </a:t>
            </a:r>
            <a:r>
              <a:rPr lang="en-US" dirty="0">
                <a:latin typeface="Times New Roman" charset="0"/>
                <a:sym typeface="Symbol" charset="0"/>
              </a:rPr>
              <a:t> </a:t>
            </a:r>
            <a:r>
              <a:rPr lang="en-US" b="1" dirty="0">
                <a:latin typeface="Times New Roman" charset="0"/>
              </a:rPr>
              <a:t>R</a:t>
            </a:r>
          </a:p>
        </p:txBody>
      </p:sp>
      <p:sp>
        <p:nvSpPr>
          <p:cNvPr id="680978" name="Text Box 18"/>
          <p:cNvSpPr txBox="1">
            <a:spLocks noChangeArrowheads="1"/>
          </p:cNvSpPr>
          <p:nvPr/>
        </p:nvSpPr>
        <p:spPr bwMode="auto">
          <a:xfrm>
            <a:off x="7356900" y="5554060"/>
            <a:ext cx="1313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 smtClean="0"/>
              <a:t>(unitary</a:t>
            </a:r>
            <a:r>
              <a:rPr lang="en-US" sz="2400" dirty="0"/>
              <a:t>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4195" y="2284280"/>
            <a:ext cx="4705490" cy="461665"/>
            <a:chOff x="94195" y="2284280"/>
            <a:chExt cx="4705490" cy="461665"/>
          </a:xfrm>
        </p:grpSpPr>
        <p:sp>
          <p:nvSpPr>
            <p:cNvPr id="680973" name="Text Box 13"/>
            <p:cNvSpPr txBox="1">
              <a:spLocks noChangeArrowheads="1"/>
            </p:cNvSpPr>
            <p:nvPr/>
          </p:nvSpPr>
          <p:spPr bwMode="auto">
            <a:xfrm>
              <a:off x="94195" y="2284280"/>
              <a:ext cx="470549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 smtClean="0"/>
                <a:t>Then           is </a:t>
              </a:r>
              <a:r>
                <a:rPr lang="en-US" sz="2400" b="1" i="1" dirty="0"/>
                <a:t>unitary</a:t>
              </a:r>
              <a:r>
                <a:rPr lang="en-US" sz="2400" dirty="0"/>
                <a:t> </a:t>
              </a:r>
              <a:r>
                <a:rPr lang="en-US" sz="2400" dirty="0" smtClean="0"/>
                <a:t>— </a:t>
              </a:r>
              <a:r>
                <a:rPr lang="en-US" sz="2400" dirty="0"/>
                <a:t>why?</a:t>
              </a:r>
            </a:p>
          </p:txBody>
        </p:sp>
        <p:pic>
          <p:nvPicPr>
            <p:cNvPr id="2" name="Picture 1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830" y="2290575"/>
              <a:ext cx="607160" cy="328464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170090" y="3049525"/>
            <a:ext cx="6518425" cy="1517900"/>
            <a:chOff x="170090" y="2214680"/>
            <a:chExt cx="6518425" cy="1517900"/>
          </a:xfrm>
        </p:grpSpPr>
        <p:sp>
          <p:nvSpPr>
            <p:cNvPr id="680974" name="Text Box 14"/>
            <p:cNvSpPr txBox="1">
              <a:spLocks noChangeArrowheads="1"/>
            </p:cNvSpPr>
            <p:nvPr/>
          </p:nvSpPr>
          <p:spPr bwMode="auto">
            <a:xfrm>
              <a:off x="1936038" y="2616539"/>
              <a:ext cx="1193957" cy="584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, </a:t>
              </a:r>
              <a:r>
                <a:rPr lang="en-US" sz="2400" dirty="0"/>
                <a:t>where </a:t>
              </a:r>
              <a:r>
                <a:rPr lang="en-US" sz="3200" dirty="0"/>
                <a:t> </a:t>
              </a:r>
              <a:endParaRPr lang="en-US" sz="2800" dirty="0"/>
            </a:p>
          </p:txBody>
        </p:sp>
        <p:pic>
          <p:nvPicPr>
            <p:cNvPr id="3" name="Picture 2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90" y="2745945"/>
              <a:ext cx="1897375" cy="356413"/>
            </a:xfrm>
            <a:prstGeom prst="rect">
              <a:avLst/>
            </a:prstGeom>
          </p:spPr>
        </p:pic>
        <p:pic>
          <p:nvPicPr>
            <p:cNvPr id="4" name="Picture 3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9995" y="2214680"/>
              <a:ext cx="3558520" cy="1517900"/>
            </a:xfrm>
            <a:prstGeom prst="rect">
              <a:avLst/>
            </a:prstGeom>
          </p:spPr>
        </p:pic>
      </p:grp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0" y="5098691"/>
            <a:ext cx="6899001" cy="1442004"/>
          </a:xfrm>
          <a:prstGeom prst="rect">
            <a:avLst/>
          </a:prstGeom>
        </p:spPr>
      </p:pic>
      <p:sp>
        <p:nvSpPr>
          <p:cNvPr id="14" name="Circular Arrow 13"/>
          <p:cNvSpPr/>
          <p:nvPr/>
        </p:nvSpPr>
        <p:spPr>
          <a:xfrm rot="5400000" flipH="1">
            <a:off x="7200389" y="2350610"/>
            <a:ext cx="986635" cy="97840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329350"/>
              <a:gd name="adj5" fmla="val 1250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95" y="4491530"/>
            <a:ext cx="3839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latin typeface="Times New Roman"/>
                <a:cs typeface="Times New Roman"/>
              </a:rPr>
              <a:t>H</a:t>
            </a:r>
            <a:r>
              <a:rPr lang="en-US" sz="2400" dirty="0" smtClean="0"/>
              <a:t> is called a </a:t>
            </a:r>
            <a:r>
              <a:rPr lang="en-US" sz="2400" b="1" i="1" dirty="0" smtClean="0"/>
              <a:t>Hamiltonian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142373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6" dur="3000" fill="hold"/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72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6191</TotalTime>
  <Words>2186</Words>
  <Application>Microsoft Macintosh PowerPoint</Application>
  <PresentationFormat>On-screen Show (4:3)</PresentationFormat>
  <Paragraphs>308</Paragraphs>
  <Slides>25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Default Design</vt:lpstr>
      <vt:lpstr>Equation</vt:lpstr>
      <vt:lpstr>Introduction to  Quantum Information Processing QIC 710 / CS 667 / PH 767 / CO 681 / AM 871</vt:lpstr>
      <vt:lpstr>PowerPoint Presentation</vt:lpstr>
      <vt:lpstr>Binary symmetric channel</vt:lpstr>
      <vt:lpstr>PowerPoint Presentation</vt:lpstr>
      <vt:lpstr>3-qubit code for one X-error</vt:lpstr>
      <vt:lpstr>3-qubit code for one Z-error</vt:lpstr>
      <vt:lpstr>Shor’ 9-qubit quantum code</vt:lpstr>
      <vt:lpstr>Arbitrary one-qubit errors</vt:lpstr>
      <vt:lpstr>PowerPoint Presentation</vt:lpstr>
      <vt:lpstr>Introduction to CSS codes</vt:lpstr>
      <vt:lpstr>Examples of linear codes</vt:lpstr>
      <vt:lpstr>Parity check matrix</vt:lpstr>
      <vt:lpstr>Encoding</vt:lpstr>
      <vt:lpstr>Orthogonal complement</vt:lpstr>
      <vt:lpstr>CSS construction</vt:lpstr>
      <vt:lpstr>Example of CSS construction</vt:lpstr>
      <vt:lpstr>CSS error correction I</vt:lpstr>
      <vt:lpstr>CSS error correction II</vt:lpstr>
      <vt:lpstr>CSS error correction III</vt:lpstr>
      <vt:lpstr>PowerPoint Presentation</vt:lpstr>
      <vt:lpstr>A simple error model</vt:lpstr>
      <vt:lpstr>Threshold theorem</vt:lpstr>
      <vt:lpstr>Comments about the threshold theorem</vt:lpstr>
      <vt:lpstr>PowerPoint Presentation</vt:lpstr>
      <vt:lpstr>Continuous-time evolution</vt:lpstr>
    </vt:vector>
  </TitlesOfParts>
  <Company>University of Calgary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Consequences and Limits of Nonlocal Strategies</dc:title>
  <dc:creator>Richard Cleve</dc:creator>
  <cp:lastModifiedBy>Richard Cleve</cp:lastModifiedBy>
  <cp:revision>797</cp:revision>
  <cp:lastPrinted>2011-11-24T18:56:09Z</cp:lastPrinted>
  <dcterms:created xsi:type="dcterms:W3CDTF">2011-11-24T17:32:15Z</dcterms:created>
  <dcterms:modified xsi:type="dcterms:W3CDTF">2012-11-24T18:58:25Z</dcterms:modified>
</cp:coreProperties>
</file>