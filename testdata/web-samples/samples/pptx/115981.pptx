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86" r:id="rId2"/>
  </p:sldMasterIdLst>
  <p:notesMasterIdLst>
    <p:notesMasterId r:id="rId25"/>
  </p:notesMasterIdLst>
  <p:handoutMasterIdLst>
    <p:handoutMasterId r:id="rId26"/>
  </p:handoutMasterIdLst>
  <p:sldIdLst>
    <p:sldId id="256" r:id="rId3"/>
    <p:sldId id="306" r:id="rId4"/>
    <p:sldId id="355" r:id="rId5"/>
    <p:sldId id="356" r:id="rId6"/>
    <p:sldId id="357" r:id="rId7"/>
    <p:sldId id="319" r:id="rId8"/>
    <p:sldId id="321" r:id="rId9"/>
    <p:sldId id="322" r:id="rId10"/>
    <p:sldId id="323" r:id="rId11"/>
    <p:sldId id="324" r:id="rId12"/>
    <p:sldId id="325" r:id="rId13"/>
    <p:sldId id="347" r:id="rId14"/>
    <p:sldId id="330" r:id="rId15"/>
    <p:sldId id="344" r:id="rId16"/>
    <p:sldId id="309" r:id="rId17"/>
    <p:sldId id="342" r:id="rId18"/>
    <p:sldId id="343" r:id="rId19"/>
    <p:sldId id="339" r:id="rId20"/>
    <p:sldId id="336" r:id="rId21"/>
    <p:sldId id="340" r:id="rId22"/>
    <p:sldId id="314" r:id="rId23"/>
    <p:sldId id="334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006600"/>
    <a:srgbClr val="FFFF00"/>
    <a:srgbClr val="CC0099"/>
    <a:srgbClr val="666666"/>
    <a:srgbClr val="0099CC"/>
    <a:srgbClr val="FFFFCC"/>
    <a:srgbClr val="5F5F5F"/>
    <a:srgbClr val="D6009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>
      <p:cViewPr>
        <p:scale>
          <a:sx n="70" d="100"/>
          <a:sy n="70" d="100"/>
        </p:scale>
        <p:origin x="-1164" y="-114"/>
      </p:cViewPr>
      <p:guideLst>
        <p:guide orient="horz" pos="2160"/>
        <p:guide orient="horz" pos="1008"/>
        <p:guide orient="horz" pos="1152"/>
        <p:guide orient="horz"/>
        <p:guide orient="horz" pos="144"/>
        <p:guide orient="horz" pos="4032"/>
        <p:guide orient="horz" pos="57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782" y="-90"/>
      </p:cViewPr>
      <p:guideLst>
        <p:guide orient="horz" pos="2880"/>
        <p:guide pos="2160"/>
      </p:guideLst>
    </p:cSldViewPr>
  </p:notes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E3DEF55-C5F6-43D1-B280-F642ABFDE125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33F76EF-1C3E-40EE-BA13-3C08328FA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7194684-6862-4F75-84F3-A0B3247E8405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3AEDE28-1958-45E3-8DAD-4927611BD5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noFill/>
        </p:spPr>
        <p:txBody>
          <a:bodyPr lIns="91230" tIns="45615" rIns="91230" bIns="45615"/>
          <a:lstStyle/>
          <a:p>
            <a:pPr eaLnBrk="0" hangingPunct="0"/>
            <a:fld id="{C8506D8B-FC4A-4DEC-A142-BFB6461ED620}" type="slidenum">
              <a:rPr lang="en-US" smtClean="0"/>
              <a:pPr eaLnBrk="0" hangingPunct="0"/>
              <a:t>10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5613" y="1370013"/>
            <a:ext cx="8231187" cy="2058987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0413" y="3656013"/>
            <a:ext cx="4116387" cy="274478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6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28575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827213"/>
            <a:ext cx="4038600" cy="4573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827213"/>
            <a:ext cx="4040187" cy="4573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2813"/>
            <a:ext cx="2057400" cy="54879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912813"/>
            <a:ext cx="6021387" cy="54879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839200" cy="1041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600200"/>
            <a:ext cx="8839200" cy="2095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848100"/>
            <a:ext cx="8839200" cy="2095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8EFDA-68F2-4CAD-86A7-56FC9A386ED6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BCAEF-92E1-432D-8938-81CDCB50ED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A37CFC-3D9D-4AC2-8BEA-54F6B370248B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B3745-0DED-4D67-A253-4D01F568F7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A96B8-DDA1-4C0A-8EB7-267BF04849CE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DFAFB-E820-46B2-958A-F13FD0FBAD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2A390-C807-4D23-A070-33B09DC15F42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33A35E-7D9B-446B-A938-CA72F0C247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EF51E-9921-49C0-A931-1F0C3F60A5AE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673B7-0B9D-4CA1-A6F9-52CB342DD7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8CE22-D117-4F7D-959E-DF78E60A8245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F61E2-F36D-4451-9377-029D84D780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EEEC5-4069-40A8-B3DB-151AAC343DC5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532E4F-74F5-47DD-AEB1-DDB338F5AF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67C28D-C80B-4CD7-88BA-4DCA4205A5BC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2D5F55-955E-4808-86AB-BFF7B9339E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4A69C-0425-41ED-AA76-F5CB3777477D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63E8D-7284-40E0-A85F-74E21513F1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F5772-B5A5-4E8A-89A0-77B01A1988E4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66862-8CDC-42C6-BF45-6EF72F2CAD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ACB3C-0328-4178-95C2-713F678E94B7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D7644-5A54-4919-AA07-A8F56446AE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6088" y="471488"/>
            <a:ext cx="8231187" cy="91598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6088" y="1603375"/>
            <a:ext cx="8231187" cy="457358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73063" y="6313488"/>
            <a:ext cx="8288337" cy="338137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1600" b="1" dirty="0">
                <a:solidFill>
                  <a:srgbClr val="376092"/>
                </a:solidFill>
                <a:latin typeface="Book Antiqua" pitchFamily="18" charset="0"/>
              </a:rPr>
              <a:t>Blue Ribbon Task Force on Sustainable Digital Preservation and Access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1" r:id="rId2"/>
    <p:sldLayoutId id="2147484202" r:id="rId3"/>
    <p:sldLayoutId id="2147484203" r:id="rId4"/>
    <p:sldLayoutId id="2147484204" r:id="rId5"/>
    <p:sldLayoutId id="2147484205" r:id="rId6"/>
    <p:sldLayoutId id="2147484206" r:id="rId7"/>
    <p:sldLayoutId id="2147484207" r:id="rId8"/>
    <p:sldLayoutId id="2147484208" r:id="rId9"/>
    <p:sldLayoutId id="2147484209" r:id="rId10"/>
    <p:sldLayoutId id="2147484210" r:id="rId11"/>
    <p:sldLayoutId id="2147484211" r:id="rId12"/>
    <p:sldLayoutId id="2147484212" r:id="rId13"/>
    <p:sldLayoutId id="2147484213" r:id="rId14"/>
    <p:sldLayoutId id="2147484214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  <a:ea typeface="ＭＳ Ｐゴシック" pitchFamily="-112" charset="-128"/>
          <a:cs typeface="ＭＳ Ｐゴシック" pitchFamily="-112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•"/>
        <a:defRPr sz="2000"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•"/>
        <a:defRPr sz="20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•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•"/>
        <a:defRPr sz="20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E7E5203-4D34-4312-A9F0-25F0AE68F292}" type="datetime1">
              <a:rPr lang="en-US"/>
              <a:pPr>
                <a:defRPr/>
              </a:pPr>
              <a:t>7/9/2008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4488" y="6356350"/>
            <a:ext cx="6097587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376092"/>
                </a:solidFill>
                <a:latin typeface="Book Antiqua" pitchFamily="18" charset="0"/>
              </a:defRPr>
            </a:lvl1pPr>
          </a:lstStyle>
          <a:p>
            <a:pPr>
              <a:defRPr/>
            </a:pPr>
            <a:r>
              <a:rPr lang="en-US"/>
              <a:t>Blue Ribbon Task Force on Sustainable Digital Preservation and Access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A0F5853-9930-4486-AADA-8D9C47190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446088" y="288925"/>
            <a:ext cx="8288337" cy="5915025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pitchFamily="-112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6" r:id="rId1"/>
    <p:sldLayoutId id="2147484217" r:id="rId2"/>
    <p:sldLayoutId id="2147484218" r:id="rId3"/>
    <p:sldLayoutId id="2147484219" r:id="rId4"/>
    <p:sldLayoutId id="2147484220" r:id="rId5"/>
    <p:sldLayoutId id="2147484221" r:id="rId6"/>
    <p:sldLayoutId id="2147484222" r:id="rId7"/>
    <p:sldLayoutId id="2147484223" r:id="rId8"/>
    <p:sldLayoutId id="2147484224" r:id="rId9"/>
    <p:sldLayoutId id="2147484225" r:id="rId10"/>
    <p:sldLayoutId id="214748422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-112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Documents%20and%20Settings\fran\My%20Documents\Transfer\SDSC\talks\movies\sbc256_gas_blue.mpg.mpeg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jpeg"/><Relationship Id="rId18" Type="http://schemas.openxmlformats.org/officeDocument/2006/relationships/image" Target="../media/image28.png"/><Relationship Id="rId3" Type="http://schemas.openxmlformats.org/officeDocument/2006/relationships/image" Target="../media/image13.jpeg"/><Relationship Id="rId21" Type="http://schemas.openxmlformats.org/officeDocument/2006/relationships/image" Target="../media/image31.png"/><Relationship Id="rId7" Type="http://schemas.openxmlformats.org/officeDocument/2006/relationships/image" Target="../media/image17.jpeg"/><Relationship Id="rId12" Type="http://schemas.openxmlformats.org/officeDocument/2006/relationships/image" Target="../media/image22.jpeg"/><Relationship Id="rId17" Type="http://schemas.openxmlformats.org/officeDocument/2006/relationships/image" Target="../media/image27.jpeg"/><Relationship Id="rId2" Type="http://schemas.openxmlformats.org/officeDocument/2006/relationships/image" Target="../media/image12.jpeg"/><Relationship Id="rId16" Type="http://schemas.openxmlformats.org/officeDocument/2006/relationships/image" Target="../media/image26.jpeg"/><Relationship Id="rId20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jpeg"/><Relationship Id="rId10" Type="http://schemas.openxmlformats.org/officeDocument/2006/relationships/image" Target="../media/image20.jpeg"/><Relationship Id="rId19" Type="http://schemas.openxmlformats.org/officeDocument/2006/relationships/image" Target="../media/image29.jpeg"/><Relationship Id="rId4" Type="http://schemas.openxmlformats.org/officeDocument/2006/relationships/image" Target="../media/image14.png"/><Relationship Id="rId9" Type="http://schemas.openxmlformats.org/officeDocument/2006/relationships/image" Target="../media/image19.jpe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47725" y="1493838"/>
            <a:ext cx="7683500" cy="1971675"/>
          </a:xfrm>
        </p:spPr>
        <p:txBody>
          <a:bodyPr/>
          <a:lstStyle/>
          <a:p>
            <a:pPr eaLnBrk="1" hangingPunct="1"/>
            <a:r>
              <a:rPr lang="en-US" sz="2800" i="1" dirty="0" smtClean="0">
                <a:solidFill>
                  <a:srgbClr val="FF0000"/>
                </a:solidFill>
                <a:latin typeface="Bookman Old Style" pitchFamily="18" charset="0"/>
              </a:rPr>
              <a:t>Update:</a:t>
            </a:r>
            <a:r>
              <a:rPr lang="en-US" sz="2800" dirty="0" smtClean="0">
                <a:solidFill>
                  <a:srgbClr val="FF0000"/>
                </a:solidFill>
                <a:latin typeface="Bookman Old Style" pitchFamily="18" charset="0"/>
              </a:rPr>
              <a:t>  </a:t>
            </a:r>
            <a:r>
              <a:rPr lang="en-US" sz="2800" dirty="0" smtClean="0">
                <a:latin typeface="Bookman Old Style" pitchFamily="18" charset="0"/>
              </a:rPr>
              <a:t>Blue Ribbon </a:t>
            </a:r>
            <a:r>
              <a:rPr lang="en-US" sz="2800" dirty="0" smtClean="0">
                <a:latin typeface="Bookman Old Style" pitchFamily="18" charset="0"/>
              </a:rPr>
              <a:t>Task Force </a:t>
            </a:r>
            <a:r>
              <a:rPr lang="en-US" sz="2800" dirty="0" smtClean="0">
                <a:latin typeface="Bookman Old Style" pitchFamily="18" charset="0"/>
              </a:rPr>
              <a:t>on Sustainable Digital Preservation and Access</a:t>
            </a:r>
            <a:endParaRPr lang="en-US" sz="2800" b="0" dirty="0" smtClean="0">
              <a:solidFill>
                <a:schemeClr val="tx1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7725" y="3648075"/>
            <a:ext cx="7631113" cy="2124075"/>
          </a:xfrm>
        </p:spPr>
        <p:txBody>
          <a:bodyPr/>
          <a:lstStyle/>
          <a:p>
            <a:pPr algn="ctr" eaLnBrk="1" hangingPunct="1">
              <a:defRPr/>
            </a:pPr>
            <a:endParaRPr lang="en-US" sz="2400" b="0" i="1" dirty="0" smtClean="0"/>
          </a:p>
          <a:p>
            <a:pPr algn="ctr" eaLnBrk="1" hangingPunct="1">
              <a:defRPr/>
            </a:pPr>
            <a:r>
              <a:rPr lang="en-US" sz="2400" i="1" dirty="0" smtClean="0">
                <a:solidFill>
                  <a:srgbClr val="FF0000"/>
                </a:solidFill>
              </a:rPr>
              <a:t>Dr. Fran Berman</a:t>
            </a:r>
          </a:p>
          <a:p>
            <a:pPr algn="ctr" eaLnBrk="1" hangingPunct="1">
              <a:defRPr/>
            </a:pPr>
            <a:r>
              <a:rPr lang="en-US" sz="2400" b="0" i="1" dirty="0" smtClean="0"/>
              <a:t>BRTF-SDPA Co-Chair</a:t>
            </a:r>
            <a:br>
              <a:rPr lang="en-US" sz="2400" b="0" i="1" dirty="0" smtClean="0"/>
            </a:br>
            <a:r>
              <a:rPr lang="en-US" sz="2400" b="0" i="1" dirty="0" smtClean="0"/>
              <a:t/>
            </a:r>
            <a:br>
              <a:rPr lang="en-US" sz="2400" b="0" i="1" dirty="0" smtClean="0"/>
            </a:br>
            <a:r>
              <a:rPr lang="en-US" sz="2000" b="0" i="1" dirty="0" smtClean="0">
                <a:solidFill>
                  <a:schemeClr val="accent1">
                    <a:lumMod val="75000"/>
                  </a:schemeClr>
                </a:solidFill>
              </a:rPr>
              <a:t>with thanks to Sayeed Choudhury, Brian Lavoie, Amy Friedlander, Abby Smith, David Minor, Ardys Kozbial, and Robert McDonald</a:t>
            </a:r>
            <a:endParaRPr lang="en-US" sz="2400" b="0" i="1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smtClean="0"/>
              <a:t>Presentation Outline</a:t>
            </a:r>
          </a:p>
        </p:txBody>
      </p:sp>
      <p:sp>
        <p:nvSpPr>
          <p:cNvPr id="16387" name="Rectangle 3"/>
          <p:cNvSpPr txBox="1">
            <a:spLocks noChangeArrowheads="1"/>
          </p:cNvSpPr>
          <p:nvPr/>
        </p:nvSpPr>
        <p:spPr bwMode="auto">
          <a:xfrm>
            <a:off x="685800" y="1981200"/>
            <a:ext cx="77724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800"/>
              </a:spcBef>
              <a:buFontTx/>
              <a:buChar char="•"/>
            </a:pPr>
            <a:r>
              <a:rPr lang="en-US" sz="2800" dirty="0" smtClean="0">
                <a:latin typeface="Calibri" pitchFamily="34" charset="0"/>
              </a:rPr>
              <a:t>Data Preservation</a:t>
            </a:r>
            <a:endParaRPr lang="en-US" sz="2800" dirty="0">
              <a:latin typeface="Calibri" pitchFamily="34" charset="0"/>
            </a:endParaRPr>
          </a:p>
          <a:p>
            <a:pPr marL="342900" indent="-342900">
              <a:spcBef>
                <a:spcPts val="3000"/>
              </a:spcBef>
              <a:buFontTx/>
              <a:buChar char="•"/>
            </a:pPr>
            <a:r>
              <a:rPr lang="en-US" sz="2800" dirty="0" smtClean="0">
                <a:latin typeface="Calibri" pitchFamily="34" charset="0"/>
              </a:rPr>
              <a:t>The Blue </a:t>
            </a:r>
            <a:r>
              <a:rPr lang="en-US" sz="2800" dirty="0">
                <a:latin typeface="Calibri" pitchFamily="34" charset="0"/>
              </a:rPr>
              <a:t>Ribbon Task Force</a:t>
            </a:r>
          </a:p>
          <a:p>
            <a:pPr marL="800100" lvl="1" indent="-342900">
              <a:spcBef>
                <a:spcPts val="600"/>
              </a:spcBef>
              <a:buFontTx/>
              <a:buChar char="•"/>
            </a:pPr>
            <a:r>
              <a:rPr lang="en-US" sz="2800" dirty="0">
                <a:latin typeface="Calibri" pitchFamily="34" charset="0"/>
              </a:rPr>
              <a:t>History, membership, charge and focus</a:t>
            </a:r>
          </a:p>
          <a:p>
            <a:pPr marL="800100" lvl="1" indent="-342900">
              <a:spcBef>
                <a:spcPts val="600"/>
              </a:spcBef>
              <a:buFontTx/>
              <a:buChar char="•"/>
            </a:pPr>
            <a:r>
              <a:rPr lang="en-US" sz="2800" dirty="0">
                <a:latin typeface="Calibri" pitchFamily="34" charset="0"/>
              </a:rPr>
              <a:t>Deliverables</a:t>
            </a:r>
          </a:p>
          <a:p>
            <a:pPr marL="800100" lvl="1" indent="-342900">
              <a:spcBef>
                <a:spcPts val="600"/>
              </a:spcBef>
              <a:buFontTx/>
              <a:buChar char="•"/>
            </a:pPr>
            <a:r>
              <a:rPr lang="en-US" sz="2800" dirty="0">
                <a:latin typeface="Calibri" pitchFamily="34" charset="0"/>
              </a:rPr>
              <a:t>Activities</a:t>
            </a:r>
          </a:p>
          <a:p>
            <a:pPr marL="342900" indent="-342900">
              <a:spcBef>
                <a:spcPts val="3000"/>
              </a:spcBef>
              <a:buFontTx/>
              <a:buChar char="•"/>
            </a:pPr>
            <a:r>
              <a:rPr lang="en-US" sz="2800" dirty="0">
                <a:latin typeface="Calibri" pitchFamily="34" charset="0"/>
              </a:rPr>
              <a:t>A Call to Action</a:t>
            </a:r>
          </a:p>
          <a:p>
            <a:pPr marL="800100" lvl="1" indent="-342900">
              <a:spcBef>
                <a:spcPts val="1800"/>
              </a:spcBef>
            </a:pPr>
            <a:endParaRPr lang="en-US" sz="28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648" y="304800"/>
            <a:ext cx="4600638" cy="1041400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US" sz="2800" dirty="0" smtClean="0"/>
              <a:t>Our Digital World 1</a:t>
            </a: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46030" y="1600200"/>
            <a:ext cx="4235509" cy="4343400"/>
          </a:xfrm>
          <a:noFill/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b="1" dirty="0" smtClean="0">
                <a:solidFill>
                  <a:srgbClr val="FF0000"/>
                </a:solidFill>
              </a:rPr>
              <a:t>The 2008 Cyber-election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 smtClean="0"/>
              <a:t>Fundraising via website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 smtClean="0"/>
              <a:t>YouTube videos of the candidates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 smtClean="0"/>
              <a:t>Blogs as vehicles for discussing issues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 smtClean="0"/>
              <a:t>On-line organizing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sz="2400" b="0" dirty="0" smtClean="0"/>
              <a:t>Digital data from historic 2008 cyber-election will be valuable for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decades to come</a:t>
            </a:r>
          </a:p>
        </p:txBody>
      </p:sp>
      <p:pic>
        <p:nvPicPr>
          <p:cNvPr id="3331074" name="Picture 2" descr="http://blogs.zdnet.com/images/DM3108YT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19800" y="533400"/>
            <a:ext cx="2743200" cy="2240761"/>
          </a:xfrm>
          <a:prstGeom prst="rect">
            <a:avLst/>
          </a:prstGeom>
          <a:noFill/>
        </p:spPr>
      </p:pic>
      <p:pic>
        <p:nvPicPr>
          <p:cNvPr id="3331076" name="Picture 4" descr="http://www.bivingsreport.com/wp-content/uploads/2007/07/OBAMA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0" y="2209800"/>
            <a:ext cx="2743200" cy="2136469"/>
          </a:xfrm>
          <a:prstGeom prst="rect">
            <a:avLst/>
          </a:prstGeom>
          <a:noFill/>
        </p:spPr>
      </p:pic>
      <p:pic>
        <p:nvPicPr>
          <p:cNvPr id="3331078" name="Picture 6" descr="http://farm3.static.flickr.com/2179/2184773425_9f6163cd07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4038600"/>
            <a:ext cx="2971800" cy="201488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648" y="304800"/>
            <a:ext cx="4600638" cy="1041400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US" sz="2800" dirty="0" smtClean="0"/>
              <a:t>Our Digital World 2</a:t>
            </a: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46031" y="1566837"/>
            <a:ext cx="3724327" cy="4343400"/>
          </a:xfrm>
          <a:noFill/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b="1" dirty="0" smtClean="0">
                <a:solidFill>
                  <a:srgbClr val="FF0000"/>
                </a:solidFill>
              </a:rPr>
              <a:t>The First Billion Years After the Big Bang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 smtClean="0"/>
              <a:t>400 TB of data produced from ENZO astrophysics simulations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 smtClean="0"/>
              <a:t>Data will be mined and analyzed, of great value for 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several years </a:t>
            </a:r>
            <a:r>
              <a:rPr lang="en-US" sz="1800" dirty="0" smtClean="0"/>
              <a:t>after computation</a:t>
            </a:r>
          </a:p>
          <a:p>
            <a:pPr>
              <a:lnSpc>
                <a:spcPct val="100000"/>
              </a:lnSpc>
              <a:spcBef>
                <a:spcPts val="1800"/>
              </a:spcBef>
              <a:defRPr/>
            </a:pPr>
            <a:r>
              <a:rPr lang="en-US" dirty="0" smtClean="0"/>
              <a:t>Simulation results illustrate growth of stars, galaxies, and galaxy clusters, dark matter, etc. after the Big Bang</a:t>
            </a:r>
          </a:p>
        </p:txBody>
      </p:sp>
      <p:pic>
        <p:nvPicPr>
          <p:cNvPr id="7" name="sbc256_gas_blue.mpg.mpeg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996007" y="617499"/>
            <a:ext cx="2438400" cy="2438400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79897" y="3282948"/>
            <a:ext cx="3846160" cy="2703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648" y="304800"/>
            <a:ext cx="4600638" cy="1041400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US" sz="2800" dirty="0" smtClean="0"/>
              <a:t>Our Digital World 3</a:t>
            </a:r>
            <a:endParaRPr lang="en-US" sz="28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09518" y="1566837"/>
            <a:ext cx="3724327" cy="4343400"/>
          </a:xfrm>
          <a:noFill/>
          <a:ln w="12700"/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b="1" dirty="0" smtClean="0">
                <a:solidFill>
                  <a:srgbClr val="FF0000"/>
                </a:solidFill>
              </a:rPr>
              <a:t>Family Photographs</a:t>
            </a:r>
          </a:p>
        </p:txBody>
      </p:sp>
      <p:pic>
        <p:nvPicPr>
          <p:cNvPr id="1026" name="Picture 2" descr="C:\Documents and Settings\fran\My Documents\My Pictures\Family and Friends\Mom's 80th\EmilyJessic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96007" y="434934"/>
            <a:ext cx="2066466" cy="216375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</p:pic>
      <p:pic>
        <p:nvPicPr>
          <p:cNvPr id="1030" name="Picture 6" descr="C:\Documents and Settings\fran\My Documents\My Pictures\Family and Friends\Mom's 80th\105_0539.JPG"/>
          <p:cNvPicPr>
            <a:picLocks noChangeAspect="1" noChangeArrowheads="1"/>
          </p:cNvPicPr>
          <p:nvPr/>
        </p:nvPicPr>
        <p:blipFill>
          <a:blip r:embed="rId3"/>
          <a:srcRect l="7895" t="28453" r="46052" b="18915"/>
          <a:stretch>
            <a:fillRect/>
          </a:stretch>
        </p:blipFill>
        <p:spPr bwMode="auto">
          <a:xfrm>
            <a:off x="6397650" y="2881305"/>
            <a:ext cx="2081241" cy="1783921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</p:pic>
      <p:pic>
        <p:nvPicPr>
          <p:cNvPr id="18" name="Picture 4" descr="20153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5109" y="2297097"/>
            <a:ext cx="2409858" cy="2726187"/>
          </a:xfrm>
          <a:prstGeom prst="rect">
            <a:avLst/>
          </a:prstGeom>
          <a:noFill/>
          <a:ln w="12700">
            <a:solidFill>
              <a:srgbClr val="002060"/>
            </a:solidFill>
            <a:miter lim="800000"/>
            <a:headEnd/>
            <a:tailEnd/>
          </a:ln>
        </p:spPr>
      </p:pic>
      <p:pic>
        <p:nvPicPr>
          <p:cNvPr id="19" name="Picture 5" descr="girl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54246" y="3721104"/>
            <a:ext cx="2824144" cy="2442885"/>
          </a:xfrm>
          <a:prstGeom prst="rect">
            <a:avLst/>
          </a:prstGeom>
          <a:noFill/>
          <a:ln w="12700">
            <a:solidFill>
              <a:srgbClr val="002060"/>
            </a:solidFill>
            <a:miter lim="800000"/>
            <a:headEnd/>
            <a:tailEnd/>
          </a:ln>
        </p:spPr>
      </p:pic>
      <p:pic>
        <p:nvPicPr>
          <p:cNvPr id="20" name="Picture 5" descr="children_with_teacher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97036" y="1712889"/>
            <a:ext cx="1994130" cy="1789137"/>
          </a:xfrm>
          <a:prstGeom prst="rect">
            <a:avLst/>
          </a:prstGeom>
          <a:noFill/>
          <a:ln w="12700">
            <a:solidFill>
              <a:srgbClr val="002060"/>
            </a:solidFill>
            <a:miter lim="800000"/>
            <a:headEnd/>
            <a:tailEnd/>
          </a:ln>
        </p:spPr>
      </p:pic>
      <p:pic>
        <p:nvPicPr>
          <p:cNvPr id="1038" name="Picture 14" descr="C:\Documents and Settings\fran\My Documents\My Pictures\Family and Friends\Nick Graduation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67390" y="4853007"/>
            <a:ext cx="1693850" cy="13023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665163" y="3465513"/>
            <a:ext cx="3724275" cy="47466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483" name="Title 1"/>
          <p:cNvSpPr>
            <a:spLocks noGrp="1"/>
          </p:cNvSpPr>
          <p:nvPr>
            <p:ph type="title"/>
          </p:nvPr>
        </p:nvSpPr>
        <p:spPr>
          <a:xfrm>
            <a:off x="409575" y="398463"/>
            <a:ext cx="8434388" cy="1041400"/>
          </a:xfrm>
          <a:ln/>
        </p:spPr>
        <p:txBody>
          <a:bodyPr/>
          <a:lstStyle/>
          <a:p>
            <a:r>
              <a:rPr lang="en-US" sz="2800" dirty="0" smtClean="0"/>
              <a:t>Data Preservation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263525" y="1749425"/>
            <a:ext cx="4308475" cy="2514600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Key Questions:  </a:t>
            </a:r>
          </a:p>
          <a:p>
            <a:pPr marL="914400" lvl="1" indent="-457200">
              <a:buFont typeface="+mj-lt"/>
              <a:buAutoNum type="arabicParenR"/>
              <a:defRPr/>
            </a:pPr>
            <a:r>
              <a:rPr lang="en-US" sz="2400" dirty="0" smtClean="0"/>
              <a:t>What should we save?</a:t>
            </a:r>
          </a:p>
          <a:p>
            <a:pPr marL="914400" lvl="1" indent="-457200">
              <a:buFont typeface="+mj-lt"/>
              <a:buAutoNum type="arabicParenR"/>
              <a:defRPr/>
            </a:pPr>
            <a:r>
              <a:rPr lang="en-US" sz="2400" dirty="0" smtClean="0"/>
              <a:t>How and who should save it?</a:t>
            </a:r>
          </a:p>
          <a:p>
            <a:pPr marL="914400" lvl="1" indent="-457200">
              <a:buFont typeface="+mj-lt"/>
              <a:buAutoNum type="arabicParenR"/>
              <a:defRPr/>
            </a:pPr>
            <a:r>
              <a:rPr lang="en-US" sz="2400" dirty="0" smtClean="0"/>
              <a:t>Who should pay for it?</a:t>
            </a:r>
          </a:p>
          <a:p>
            <a:pPr lvl="1">
              <a:defRPr/>
            </a:pPr>
            <a:endParaRPr lang="en-US" sz="2400" dirty="0" smtClean="0"/>
          </a:p>
          <a:p>
            <a:pPr>
              <a:defRPr/>
            </a:pPr>
            <a:r>
              <a:rPr lang="en-US" sz="2400" dirty="0" smtClean="0"/>
              <a:t>The answer to 3) depends in part on the answers to 1) and 2).</a:t>
            </a:r>
          </a:p>
          <a:p>
            <a:pPr lvl="2">
              <a:buFontTx/>
              <a:buNone/>
              <a:defRPr/>
            </a:pPr>
            <a:endParaRPr lang="en-US" sz="2400" dirty="0" smtClean="0"/>
          </a:p>
        </p:txBody>
      </p:sp>
      <p:grpSp>
        <p:nvGrpSpPr>
          <p:cNvPr id="20485" name="Group 17"/>
          <p:cNvGrpSpPr>
            <a:grpSpLocks/>
          </p:cNvGrpSpPr>
          <p:nvPr/>
        </p:nvGrpSpPr>
        <p:grpSpPr bwMode="auto">
          <a:xfrm>
            <a:off x="4724400" y="1524000"/>
            <a:ext cx="4114800" cy="3429000"/>
            <a:chOff x="4038600" y="1905794"/>
            <a:chExt cx="4191000" cy="3580606"/>
          </a:xfrm>
        </p:grpSpPr>
        <p:grpSp>
          <p:nvGrpSpPr>
            <p:cNvPr id="20491" name="Group 13"/>
            <p:cNvGrpSpPr>
              <a:grpSpLocks/>
            </p:cNvGrpSpPr>
            <p:nvPr/>
          </p:nvGrpSpPr>
          <p:grpSpPr bwMode="auto">
            <a:xfrm>
              <a:off x="4038600" y="1905794"/>
              <a:ext cx="4191000" cy="3580606"/>
              <a:chOff x="4038600" y="1905794"/>
              <a:chExt cx="4191000" cy="3580606"/>
            </a:xfrm>
          </p:grpSpPr>
          <p:cxnSp>
            <p:nvCxnSpPr>
              <p:cNvPr id="20495" name="Straight Arrow Connector 15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4648200" y="3048000"/>
                <a:ext cx="2286000" cy="1588"/>
              </a:xfrm>
              <a:prstGeom prst="straightConnector1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0496" name="Straight Arrow Connector 16"/>
              <p:cNvCxnSpPr>
                <a:cxnSpLocks noChangeShapeType="1"/>
              </p:cNvCxnSpPr>
              <p:nvPr/>
            </p:nvCxnSpPr>
            <p:spPr bwMode="auto">
              <a:xfrm rot="10800000" flipV="1">
                <a:off x="4038600" y="4191000"/>
                <a:ext cx="1751806" cy="1295400"/>
              </a:xfrm>
              <a:prstGeom prst="straightConnector1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20497" name="Straight Arrow Connector 17"/>
              <p:cNvCxnSpPr>
                <a:cxnSpLocks noChangeShapeType="1"/>
              </p:cNvCxnSpPr>
              <p:nvPr/>
            </p:nvCxnSpPr>
            <p:spPr bwMode="auto">
              <a:xfrm>
                <a:off x="5791200" y="4191000"/>
                <a:ext cx="2438400" cy="1588"/>
              </a:xfrm>
              <a:prstGeom prst="straightConnector1">
                <a:avLst/>
              </a:prstGeom>
              <a:noFill/>
              <a:ln w="3810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</p:grpSp>
        <p:sp>
          <p:nvSpPr>
            <p:cNvPr id="20492" name="TextBox 12"/>
            <p:cNvSpPr txBox="1">
              <a:spLocks noChangeArrowheads="1"/>
            </p:cNvSpPr>
            <p:nvPr/>
          </p:nvSpPr>
          <p:spPr bwMode="auto">
            <a:xfrm>
              <a:off x="6629400" y="3810000"/>
              <a:ext cx="75533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FF0000"/>
                  </a:solidFill>
                </a:rPr>
                <a:t>Cost</a:t>
              </a:r>
            </a:p>
          </p:txBody>
        </p:sp>
        <p:sp>
          <p:nvSpPr>
            <p:cNvPr id="20493" name="TextBox 13"/>
            <p:cNvSpPr txBox="1">
              <a:spLocks noChangeArrowheads="1"/>
            </p:cNvSpPr>
            <p:nvPr/>
          </p:nvSpPr>
          <p:spPr bwMode="auto">
            <a:xfrm>
              <a:off x="4267200" y="4343400"/>
              <a:ext cx="77797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FF0000"/>
                  </a:solidFill>
                </a:rPr>
                <a:t>Time</a:t>
              </a:r>
            </a:p>
          </p:txBody>
        </p:sp>
        <p:sp>
          <p:nvSpPr>
            <p:cNvPr id="20494" name="TextBox 14"/>
            <p:cNvSpPr txBox="1">
              <a:spLocks noChangeArrowheads="1"/>
            </p:cNvSpPr>
            <p:nvPr/>
          </p:nvSpPr>
          <p:spPr bwMode="auto">
            <a:xfrm>
              <a:off x="5867400" y="2590800"/>
              <a:ext cx="85497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FF0000"/>
                  </a:solidFill>
                </a:rPr>
                <a:t>Value</a:t>
              </a:r>
            </a:p>
          </p:txBody>
        </p:sp>
      </p:grpSp>
      <p:grpSp>
        <p:nvGrpSpPr>
          <p:cNvPr id="20486" name="Group 18"/>
          <p:cNvGrpSpPr>
            <a:grpSpLocks/>
          </p:cNvGrpSpPr>
          <p:nvPr/>
        </p:nvGrpSpPr>
        <p:grpSpPr bwMode="auto">
          <a:xfrm>
            <a:off x="4343400" y="2743200"/>
            <a:ext cx="3879850" cy="2681288"/>
            <a:chOff x="3716668" y="3240158"/>
            <a:chExt cx="3880104" cy="2681976"/>
          </a:xfrm>
        </p:grpSpPr>
        <p:sp>
          <p:nvSpPr>
            <p:cNvPr id="20" name="Isosceles Triangle 19"/>
            <p:cNvSpPr/>
            <p:nvPr/>
          </p:nvSpPr>
          <p:spPr bwMode="auto">
            <a:xfrm rot="2623571">
              <a:off x="3716668" y="4180199"/>
              <a:ext cx="3880104" cy="465257"/>
            </a:xfrm>
            <a:prstGeom prst="triangle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eaLnBrk="0" hangingPunct="0">
                <a:defRPr/>
              </a:pPr>
              <a:endParaRPr lang="en-US">
                <a:latin typeface="Helvetica" pitchFamily="34" charset="0"/>
              </a:endParaRPr>
            </a:p>
          </p:txBody>
        </p:sp>
        <p:grpSp>
          <p:nvGrpSpPr>
            <p:cNvPr id="20488" name="Group 21"/>
            <p:cNvGrpSpPr>
              <a:grpSpLocks/>
            </p:cNvGrpSpPr>
            <p:nvPr/>
          </p:nvGrpSpPr>
          <p:grpSpPr bwMode="auto">
            <a:xfrm>
              <a:off x="4093982" y="3240158"/>
              <a:ext cx="2803961" cy="2681976"/>
              <a:chOff x="4093982" y="3240158"/>
              <a:chExt cx="2803961" cy="2681976"/>
            </a:xfrm>
          </p:grpSpPr>
          <p:cxnSp>
            <p:nvCxnSpPr>
              <p:cNvPr id="20489" name="Straight Connector 21"/>
              <p:cNvCxnSpPr>
                <a:cxnSpLocks noChangeShapeType="1"/>
                <a:endCxn id="20" idx="2"/>
              </p:cNvCxnSpPr>
              <p:nvPr/>
            </p:nvCxnSpPr>
            <p:spPr bwMode="auto">
              <a:xfrm rot="10800000">
                <a:off x="4093982" y="3240158"/>
                <a:ext cx="1621019" cy="950843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20490" name="Straight Connector 22"/>
              <p:cNvCxnSpPr>
                <a:cxnSpLocks noChangeShapeType="1"/>
                <a:endCxn id="20" idx="4"/>
              </p:cNvCxnSpPr>
              <p:nvPr/>
            </p:nvCxnSpPr>
            <p:spPr bwMode="auto">
              <a:xfrm rot="16200000" flipH="1">
                <a:off x="5479004" y="4503195"/>
                <a:ext cx="1731135" cy="1106743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</p:cxn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4343400"/>
          </a:xfrm>
        </p:spPr>
        <p:txBody>
          <a:bodyPr/>
          <a:lstStyle/>
          <a:p>
            <a:r>
              <a:rPr lang="en-US" sz="2400" dirty="0" smtClean="0"/>
              <a:t>The “Free Rider” </a:t>
            </a:r>
            <a:r>
              <a:rPr lang="en-US" sz="2400" i="1" dirty="0" smtClean="0"/>
              <a:t>non</a:t>
            </a:r>
            <a:r>
              <a:rPr lang="en-US" sz="2400" dirty="0" smtClean="0"/>
              <a:t>-solution:  </a:t>
            </a:r>
            <a:r>
              <a:rPr lang="en-US" sz="2400" dirty="0" smtClean="0">
                <a:solidFill>
                  <a:srgbClr val="FF0000"/>
                </a:solidFill>
              </a:rPr>
              <a:t>“Let X do it” </a:t>
            </a:r>
          </a:p>
          <a:p>
            <a:pPr>
              <a:spcBef>
                <a:spcPct val="0"/>
              </a:spcBef>
              <a:buClr>
                <a:schemeClr val="bg1"/>
              </a:buClr>
            </a:pPr>
            <a:r>
              <a:rPr lang="en-US" sz="2400" dirty="0" smtClean="0"/>
              <a:t>where </a:t>
            </a:r>
            <a:r>
              <a:rPr lang="en-US" sz="2400" dirty="0" smtClean="0">
                <a:solidFill>
                  <a:srgbClr val="FF0000"/>
                </a:solidFill>
              </a:rPr>
              <a:t>X</a:t>
            </a:r>
            <a:r>
              <a:rPr lang="en-US" sz="2400" dirty="0" smtClean="0"/>
              <a:t> is: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The Government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The Libraries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The Archivists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Google, Yahoo, </a:t>
            </a:r>
            <a:br>
              <a:rPr lang="en-US" dirty="0" smtClean="0"/>
            </a:br>
            <a:r>
              <a:rPr lang="en-US" dirty="0" smtClean="0"/>
              <a:t>Microsoft, etc.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Data users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Data owners 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Data creators, etc.</a:t>
            </a:r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>
          <a:xfrm>
            <a:off x="409575" y="325438"/>
            <a:ext cx="8397875" cy="900112"/>
          </a:xfrm>
          <a:ln/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800" smtClean="0"/>
              <a:t>Who should pay?</a:t>
            </a:r>
          </a:p>
        </p:txBody>
      </p:sp>
      <p:sp>
        <p:nvSpPr>
          <p:cNvPr id="49" name="Content Placeholder 2"/>
          <p:cNvSpPr txBox="1">
            <a:spLocks/>
          </p:cNvSpPr>
          <p:nvPr/>
        </p:nvSpPr>
        <p:spPr bwMode="auto">
          <a:xfrm>
            <a:off x="4170363" y="2370138"/>
            <a:ext cx="4454525" cy="3030537"/>
          </a:xfrm>
          <a:prstGeom prst="rect">
            <a:avLst/>
          </a:prstGeom>
          <a:solidFill>
            <a:srgbClr val="FFFFCC"/>
          </a:solidFill>
          <a:ln w="12700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342900" indent="-342900" eaLnBrk="0" hangingPunct="0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SzPct val="100000"/>
              <a:buFontTx/>
              <a:buChar char="•"/>
              <a:defRPr/>
            </a:pPr>
            <a:r>
              <a:rPr lang="en-US" sz="1600" kern="0" dirty="0">
                <a:solidFill>
                  <a:srgbClr val="FF0000"/>
                </a:solidFill>
                <a:latin typeface="+mn-lt"/>
              </a:rPr>
              <a:t>For valued digital data that is a “public good”, creative partnerships </a:t>
            </a:r>
            <a:r>
              <a:rPr lang="en-US" sz="1600" kern="0" dirty="0" smtClean="0">
                <a:solidFill>
                  <a:srgbClr val="FF0000"/>
                </a:solidFill>
                <a:latin typeface="+mn-lt"/>
              </a:rPr>
              <a:t>are needed</a:t>
            </a:r>
            <a:r>
              <a:rPr lang="en-US" sz="1600" kern="0" dirty="0" smtClean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1600" kern="0" dirty="0">
                <a:latin typeface="+mn-lt"/>
              </a:rPr>
              <a:t>to provide preservation solutions with</a:t>
            </a:r>
          </a:p>
          <a:p>
            <a:pPr marL="800100" lvl="1" indent="-342900" eaLnBrk="0" hangingPunct="0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SzPct val="100000"/>
              <a:buFontTx/>
              <a:buChar char="•"/>
              <a:defRPr/>
            </a:pPr>
            <a:r>
              <a:rPr lang="en-US" sz="1600" kern="0" dirty="0">
                <a:latin typeface="+mn-lt"/>
              </a:rPr>
              <a:t>Trusted stewards</a:t>
            </a:r>
          </a:p>
          <a:p>
            <a:pPr marL="800100" lvl="1" indent="-342900" eaLnBrk="0" hangingPunct="0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SzPct val="100000"/>
              <a:buFontTx/>
              <a:buChar char="•"/>
              <a:defRPr/>
            </a:pPr>
            <a:r>
              <a:rPr lang="en-US" sz="1600" kern="0" dirty="0">
                <a:latin typeface="+mn-lt"/>
              </a:rPr>
              <a:t>Feasible costs for users</a:t>
            </a:r>
          </a:p>
          <a:p>
            <a:pPr marL="800100" lvl="1" indent="-342900" eaLnBrk="0" hangingPunct="0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SzPct val="100000"/>
              <a:buFontTx/>
              <a:buChar char="•"/>
              <a:defRPr/>
            </a:pPr>
            <a:r>
              <a:rPr lang="en-US" sz="1600" kern="0" dirty="0">
                <a:latin typeface="+mn-lt"/>
              </a:rPr>
              <a:t>Sustainable costs for infrastructure</a:t>
            </a:r>
          </a:p>
          <a:p>
            <a:pPr marL="800100" lvl="1" indent="-342900" eaLnBrk="0" hangingPunct="0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SzPct val="100000"/>
              <a:buFontTx/>
              <a:buChar char="•"/>
              <a:defRPr/>
            </a:pPr>
            <a:r>
              <a:rPr lang="en-US" sz="1600" kern="0" dirty="0">
                <a:latin typeface="+mn-lt"/>
              </a:rPr>
              <a:t>Very low risk for data loss, etc.</a:t>
            </a:r>
            <a:endParaRPr lang="en-US" sz="2000" kern="0" dirty="0">
              <a:latin typeface="+mn-lt"/>
            </a:endParaRPr>
          </a:p>
          <a:p>
            <a:pPr marL="342900" indent="-342900" eaLnBrk="0" hangingPunct="0">
              <a:spcBef>
                <a:spcPts val="1200"/>
              </a:spcBef>
              <a:buClr>
                <a:schemeClr val="tx1"/>
              </a:buClr>
              <a:buSzPct val="100000"/>
              <a:buFontTx/>
              <a:buChar char="•"/>
              <a:defRPr/>
            </a:pPr>
            <a:endParaRPr lang="en-US" sz="2000" kern="0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3"/>
          <p:cNvGrpSpPr>
            <a:grpSpLocks/>
          </p:cNvGrpSpPr>
          <p:nvPr/>
        </p:nvGrpSpPr>
        <p:grpSpPr bwMode="auto">
          <a:xfrm>
            <a:off x="2895600" y="1600200"/>
            <a:ext cx="3810000" cy="4422775"/>
            <a:chOff x="2880" y="864"/>
            <a:chExt cx="2592" cy="3080"/>
          </a:xfrm>
        </p:grpSpPr>
        <p:grpSp>
          <p:nvGrpSpPr>
            <p:cNvPr id="23562" name="Group 4"/>
            <p:cNvGrpSpPr>
              <a:grpSpLocks/>
            </p:cNvGrpSpPr>
            <p:nvPr/>
          </p:nvGrpSpPr>
          <p:grpSpPr bwMode="auto">
            <a:xfrm>
              <a:off x="2880" y="864"/>
              <a:ext cx="2592" cy="2680"/>
              <a:chOff x="2880" y="864"/>
              <a:chExt cx="2592" cy="2680"/>
            </a:xfrm>
          </p:grpSpPr>
          <p:sp>
            <p:nvSpPr>
              <p:cNvPr id="13" name="AutoShape 5"/>
              <p:cNvSpPr>
                <a:spLocks noChangeArrowheads="1"/>
              </p:cNvSpPr>
              <p:nvPr/>
            </p:nvSpPr>
            <p:spPr bwMode="auto">
              <a:xfrm>
                <a:off x="2880" y="912"/>
                <a:ext cx="2592" cy="2632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66"/>
                  </a:gs>
                  <a:gs pos="50000">
                    <a:schemeClr val="accent1"/>
                  </a:gs>
                  <a:gs pos="100000">
                    <a:srgbClr val="FFFF66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2000" dirty="0">
                  <a:latin typeface="Calibri" pitchFamily="34" charset="0"/>
                </a:endParaRPr>
              </a:p>
            </p:txBody>
          </p:sp>
          <p:sp>
            <p:nvSpPr>
              <p:cNvPr id="23565" name="AutoShape 6"/>
              <p:cNvSpPr>
                <a:spLocks noChangeArrowheads="1"/>
              </p:cNvSpPr>
              <p:nvPr/>
            </p:nvSpPr>
            <p:spPr bwMode="auto">
              <a:xfrm>
                <a:off x="3456" y="864"/>
                <a:ext cx="1440" cy="1536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rgbClr val="FF66FF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 sz="2000">
                  <a:latin typeface="Calibri" pitchFamily="34" charset="0"/>
                </a:endParaRPr>
              </a:p>
            </p:txBody>
          </p:sp>
          <p:sp>
            <p:nvSpPr>
              <p:cNvPr id="23566" name="Text Box 7"/>
              <p:cNvSpPr txBox="1">
                <a:spLocks noChangeArrowheads="1"/>
              </p:cNvSpPr>
              <p:nvPr/>
            </p:nvSpPr>
            <p:spPr bwMode="auto">
              <a:xfrm>
                <a:off x="3673" y="2188"/>
                <a:ext cx="950" cy="4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000">
                    <a:latin typeface="Calibri" pitchFamily="34" charset="0"/>
                  </a:rPr>
                  <a:t>Community</a:t>
                </a:r>
                <a:br>
                  <a:rPr lang="en-US" sz="2000">
                    <a:latin typeface="Calibri" pitchFamily="34" charset="0"/>
                  </a:rPr>
                </a:br>
                <a:r>
                  <a:rPr lang="en-US" sz="2000">
                    <a:latin typeface="Calibri" pitchFamily="34" charset="0"/>
                  </a:rPr>
                  <a:t>value</a:t>
                </a:r>
              </a:p>
            </p:txBody>
          </p:sp>
          <p:sp>
            <p:nvSpPr>
              <p:cNvPr id="23567" name="Text Box 8"/>
              <p:cNvSpPr txBox="1">
                <a:spLocks noChangeArrowheads="1"/>
              </p:cNvSpPr>
              <p:nvPr/>
            </p:nvSpPr>
            <p:spPr bwMode="auto">
              <a:xfrm>
                <a:off x="3747" y="2951"/>
                <a:ext cx="819" cy="4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000">
                    <a:latin typeface="Calibri" pitchFamily="34" charset="0"/>
                  </a:rPr>
                  <a:t>Individual</a:t>
                </a:r>
                <a:br>
                  <a:rPr lang="en-US" sz="2000">
                    <a:latin typeface="Calibri" pitchFamily="34" charset="0"/>
                  </a:rPr>
                </a:br>
                <a:r>
                  <a:rPr lang="en-US" sz="2000">
                    <a:latin typeface="Calibri" pitchFamily="34" charset="0"/>
                  </a:rPr>
                  <a:t>value</a:t>
                </a:r>
              </a:p>
            </p:txBody>
          </p:sp>
          <p:sp>
            <p:nvSpPr>
              <p:cNvPr id="23568" name="Text Box 9"/>
              <p:cNvSpPr txBox="1">
                <a:spLocks noChangeArrowheads="1"/>
              </p:cNvSpPr>
              <p:nvPr/>
            </p:nvSpPr>
            <p:spPr bwMode="auto">
              <a:xfrm>
                <a:off x="3822" y="1476"/>
                <a:ext cx="680" cy="4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000">
                    <a:latin typeface="Calibri" pitchFamily="34" charset="0"/>
                  </a:rPr>
                  <a:t>Societal</a:t>
                </a:r>
                <a:br>
                  <a:rPr lang="en-US" sz="2000">
                    <a:latin typeface="Calibri" pitchFamily="34" charset="0"/>
                  </a:rPr>
                </a:br>
                <a:r>
                  <a:rPr lang="en-US" sz="2000">
                    <a:latin typeface="Calibri" pitchFamily="34" charset="0"/>
                  </a:rPr>
                  <a:t>value</a:t>
                </a:r>
              </a:p>
            </p:txBody>
          </p:sp>
          <p:sp>
            <p:nvSpPr>
              <p:cNvPr id="23569" name="AutoShape 10"/>
              <p:cNvSpPr>
                <a:spLocks noChangeArrowheads="1"/>
              </p:cNvSpPr>
              <p:nvPr/>
            </p:nvSpPr>
            <p:spPr bwMode="auto">
              <a:xfrm>
                <a:off x="2880" y="912"/>
                <a:ext cx="2592" cy="263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 sz="2000">
                  <a:latin typeface="Calibri" pitchFamily="34" charset="0"/>
                </a:endParaRPr>
              </a:p>
            </p:txBody>
          </p:sp>
        </p:grpSp>
        <p:sp>
          <p:nvSpPr>
            <p:cNvPr id="23563" name="Text Box 11"/>
            <p:cNvSpPr txBox="1">
              <a:spLocks noChangeArrowheads="1"/>
            </p:cNvSpPr>
            <p:nvPr/>
          </p:nvSpPr>
          <p:spPr bwMode="auto">
            <a:xfrm>
              <a:off x="3590" y="3687"/>
              <a:ext cx="1255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800">
                  <a:solidFill>
                    <a:srgbClr val="000099"/>
                  </a:solidFill>
                  <a:latin typeface="Calibri" pitchFamily="34" charset="0"/>
                </a:rPr>
                <a:t>The Data Pyramid</a:t>
              </a:r>
            </a:p>
          </p:txBody>
        </p:sp>
      </p:grpSp>
      <p:sp>
        <p:nvSpPr>
          <p:cNvPr id="23555" name="Title 1"/>
          <p:cNvSpPr>
            <a:spLocks noGrp="1"/>
          </p:cNvSpPr>
          <p:nvPr>
            <p:ph type="title"/>
          </p:nvPr>
        </p:nvSpPr>
        <p:spPr>
          <a:xfrm>
            <a:off x="482600" y="288925"/>
            <a:ext cx="8229600" cy="1143000"/>
          </a:xfrm>
          <a:ln/>
        </p:spPr>
        <p:txBody>
          <a:bodyPr/>
          <a:lstStyle/>
          <a:p>
            <a:r>
              <a:rPr lang="en-US" smtClean="0"/>
              <a:t>A Framework for Thinking about Digital Stewardship and Preservation</a:t>
            </a:r>
          </a:p>
        </p:txBody>
      </p:sp>
      <p:sp>
        <p:nvSpPr>
          <p:cNvPr id="23556" name="Text Placeholder 40"/>
          <p:cNvSpPr>
            <a:spLocks noGrp="1"/>
          </p:cNvSpPr>
          <p:nvPr>
            <p:ph type="body" idx="1"/>
          </p:nvPr>
        </p:nvSpPr>
        <p:spPr>
          <a:xfrm>
            <a:off x="665163" y="1639888"/>
            <a:ext cx="1981200" cy="639762"/>
          </a:xfrm>
        </p:spPr>
        <p:txBody>
          <a:bodyPr/>
          <a:lstStyle/>
          <a:p>
            <a:pPr algn="ctr"/>
            <a:r>
              <a:rPr lang="en-US" sz="1800" smtClean="0">
                <a:solidFill>
                  <a:srgbClr val="CC0099"/>
                </a:solidFill>
              </a:rPr>
              <a:t>Digital Data Collections</a:t>
            </a:r>
          </a:p>
        </p:txBody>
      </p:sp>
      <p:sp>
        <p:nvSpPr>
          <p:cNvPr id="23557" name="Content Placeholder 41"/>
          <p:cNvSpPr>
            <a:spLocks noGrp="1"/>
          </p:cNvSpPr>
          <p:nvPr>
            <p:ph sz="half" idx="2"/>
          </p:nvPr>
        </p:nvSpPr>
        <p:spPr>
          <a:xfrm>
            <a:off x="227013" y="2370138"/>
            <a:ext cx="2527300" cy="3395662"/>
          </a:xfrm>
        </p:spPr>
        <p:txBody>
          <a:bodyPr/>
          <a:lstStyle/>
          <a:p>
            <a:pPr algn="ctr">
              <a:spcBef>
                <a:spcPts val="2400"/>
              </a:spcBef>
              <a:buClr>
                <a:schemeClr val="bg1"/>
              </a:buClr>
            </a:pPr>
            <a:r>
              <a:rPr lang="en-US" sz="1400" smtClean="0"/>
              <a:t>Reference, </a:t>
            </a:r>
            <a:br>
              <a:rPr lang="en-US" sz="1400" smtClean="0"/>
            </a:br>
            <a:r>
              <a:rPr lang="en-US" sz="1400" smtClean="0"/>
              <a:t>nationally/ internationally important, irreplaceable data collections</a:t>
            </a:r>
          </a:p>
          <a:p>
            <a:pPr algn="ctr">
              <a:spcBef>
                <a:spcPts val="2400"/>
              </a:spcBef>
              <a:buClr>
                <a:schemeClr val="bg1"/>
              </a:buClr>
            </a:pPr>
            <a:r>
              <a:rPr lang="en-US" sz="1400" smtClean="0"/>
              <a:t>Key research and community data collections</a:t>
            </a:r>
          </a:p>
          <a:p>
            <a:pPr algn="ctr">
              <a:spcBef>
                <a:spcPts val="2400"/>
              </a:spcBef>
              <a:buClr>
                <a:schemeClr val="bg1"/>
              </a:buClr>
            </a:pPr>
            <a:r>
              <a:rPr lang="en-US" sz="1400" smtClean="0"/>
              <a:t>Personal data collections</a:t>
            </a:r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3"/>
          </p:nvPr>
        </p:nvSpPr>
        <p:spPr>
          <a:xfrm>
            <a:off x="6397625" y="1566863"/>
            <a:ext cx="2441575" cy="639762"/>
          </a:xfrm>
        </p:spPr>
        <p:txBody>
          <a:bodyPr/>
          <a:lstStyle/>
          <a:p>
            <a:pPr algn="ctr"/>
            <a:r>
              <a:rPr lang="en-US" sz="1800" smtClean="0">
                <a:solidFill>
                  <a:srgbClr val="339966"/>
                </a:solidFill>
              </a:rPr>
              <a:t>Repositories / Facilities</a:t>
            </a:r>
          </a:p>
        </p:txBody>
      </p:sp>
      <p:sp>
        <p:nvSpPr>
          <p:cNvPr id="44" name="Content Placeholder 43"/>
          <p:cNvSpPr>
            <a:spLocks noGrp="1"/>
          </p:cNvSpPr>
          <p:nvPr>
            <p:ph sz="quarter" idx="4"/>
          </p:nvPr>
        </p:nvSpPr>
        <p:spPr>
          <a:xfrm>
            <a:off x="6434138" y="2333625"/>
            <a:ext cx="2344737" cy="3389313"/>
          </a:xfrm>
        </p:spPr>
        <p:txBody>
          <a:bodyPr/>
          <a:lstStyle/>
          <a:p>
            <a:pPr algn="ctr">
              <a:spcBef>
                <a:spcPts val="2400"/>
              </a:spcBef>
              <a:buClr>
                <a:schemeClr val="bg1"/>
              </a:buClr>
            </a:pPr>
            <a:r>
              <a:rPr lang="en-US" sz="1400" smtClean="0"/>
              <a:t>National / international </a:t>
            </a:r>
            <a:br>
              <a:rPr lang="en-US" sz="1400" smtClean="0"/>
            </a:br>
            <a:r>
              <a:rPr lang="en-US" sz="1400" smtClean="0"/>
              <a:t>scale repositories, libraries, </a:t>
            </a:r>
            <a:br>
              <a:rPr lang="en-US" sz="1400" smtClean="0"/>
            </a:br>
            <a:r>
              <a:rPr lang="en-US" sz="1400" smtClean="0"/>
              <a:t>archives</a:t>
            </a:r>
          </a:p>
          <a:p>
            <a:pPr algn="ctr">
              <a:spcBef>
                <a:spcPts val="2400"/>
              </a:spcBef>
              <a:buClr>
                <a:schemeClr val="bg1"/>
              </a:buClr>
            </a:pPr>
            <a:r>
              <a:rPr lang="en-US" sz="1400" smtClean="0"/>
              <a:t>“Regional” scale libraries and targeted data archives / centers</a:t>
            </a:r>
          </a:p>
          <a:p>
            <a:pPr algn="ctr">
              <a:spcBef>
                <a:spcPts val="2400"/>
              </a:spcBef>
              <a:buClr>
                <a:schemeClr val="bg1"/>
              </a:buClr>
            </a:pPr>
            <a:r>
              <a:rPr lang="en-US" sz="1400" smtClean="0"/>
              <a:t>  Private repositories</a:t>
            </a:r>
            <a:endParaRPr lang="en-US" sz="1800" smtClean="0"/>
          </a:p>
        </p:txBody>
      </p:sp>
      <p:sp>
        <p:nvSpPr>
          <p:cNvPr id="10" name="Up Arrow 9"/>
          <p:cNvSpPr>
            <a:spLocks noChangeArrowheads="1"/>
          </p:cNvSpPr>
          <p:nvPr/>
        </p:nvSpPr>
        <p:spPr bwMode="auto">
          <a:xfrm>
            <a:off x="2636838" y="1752600"/>
            <a:ext cx="1706562" cy="3733800"/>
          </a:xfrm>
          <a:prstGeom prst="upArrow">
            <a:avLst>
              <a:gd name="adj1" fmla="val 50000"/>
              <a:gd name="adj2" fmla="val 50008"/>
            </a:avLst>
          </a:prstGeom>
          <a:solidFill>
            <a:srgbClr val="CC0099"/>
          </a:solidFill>
          <a:ln w="9525" algn="ctr">
            <a:noFill/>
            <a:round/>
            <a:headEnd/>
            <a:tailEnd/>
          </a:ln>
        </p:spPr>
        <p:txBody>
          <a:bodyPr wrap="none"/>
          <a:lstStyle/>
          <a:p>
            <a:pPr algn="ctr" eaLnBrk="0" hangingPunct="0"/>
            <a:r>
              <a:rPr lang="en-US" sz="1100" b="1" dirty="0">
                <a:solidFill>
                  <a:schemeClr val="bg1"/>
                </a:solidFill>
                <a:latin typeface="Calibri" pitchFamily="34" charset="0"/>
              </a:rPr>
              <a:t>Increasing</a:t>
            </a:r>
            <a:br>
              <a:rPr lang="en-US" sz="1100" b="1" dirty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100" b="1" dirty="0" smtClean="0">
                <a:solidFill>
                  <a:schemeClr val="bg1"/>
                </a:solidFill>
                <a:latin typeface="Calibri" pitchFamily="34" charset="0"/>
              </a:rPr>
              <a:t>value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</a:rPr>
              <a:t/>
            </a:r>
            <a:br>
              <a:rPr lang="en-US" sz="1100" b="1" dirty="0">
                <a:solidFill>
                  <a:schemeClr val="bg1"/>
                </a:solidFill>
                <a:latin typeface="Calibri" pitchFamily="34" charset="0"/>
              </a:rPr>
            </a:br>
            <a:endParaRPr lang="en-US" sz="1100" b="1" dirty="0" smtClean="0">
              <a:solidFill>
                <a:schemeClr val="bg1"/>
              </a:solidFill>
              <a:latin typeface="Calibri" pitchFamily="34" charset="0"/>
            </a:endParaRPr>
          </a:p>
          <a:p>
            <a:pPr algn="ctr" eaLnBrk="0" hangingPunct="0"/>
            <a:r>
              <a:rPr lang="en-US" sz="1100" b="1" dirty="0" smtClean="0">
                <a:solidFill>
                  <a:schemeClr val="bg1"/>
                </a:solidFill>
                <a:latin typeface="Calibri" pitchFamily="34" charset="0"/>
              </a:rPr>
              <a:t>Increasing</a:t>
            </a:r>
            <a:br>
              <a:rPr lang="en-US" sz="1100" b="1" dirty="0" smtClean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100" b="1" dirty="0" smtClean="0">
                <a:solidFill>
                  <a:schemeClr val="bg1"/>
                </a:solidFill>
                <a:latin typeface="Calibri" pitchFamily="34" charset="0"/>
              </a:rPr>
              <a:t>community</a:t>
            </a:r>
            <a:br>
              <a:rPr lang="en-US" sz="1100" b="1" dirty="0" smtClean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100" b="1" dirty="0" smtClean="0">
                <a:solidFill>
                  <a:schemeClr val="bg1"/>
                </a:solidFill>
                <a:latin typeface="Calibri" pitchFamily="34" charset="0"/>
              </a:rPr>
              <a:t>base</a:t>
            </a:r>
            <a:br>
              <a:rPr lang="en-US" sz="1100" b="1" dirty="0" smtClean="0">
                <a:solidFill>
                  <a:schemeClr val="bg1"/>
                </a:solidFill>
                <a:latin typeface="Calibri" pitchFamily="34" charset="0"/>
              </a:rPr>
            </a:br>
            <a:endParaRPr lang="en-US" sz="1100" b="1" dirty="0">
              <a:solidFill>
                <a:schemeClr val="bg1"/>
              </a:solidFill>
              <a:latin typeface="Calibri" pitchFamily="34" charset="0"/>
            </a:endParaRPr>
          </a:p>
          <a:p>
            <a:pPr algn="ctr" eaLnBrk="0" hangingPunct="0"/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  <a:p>
            <a:pPr algn="ctr" eaLnBrk="0" hangingPunct="0"/>
            <a:r>
              <a:rPr lang="en-US" sz="1200" b="1" dirty="0">
                <a:solidFill>
                  <a:schemeClr val="bg1"/>
                </a:solidFill>
                <a:latin typeface="Calibri" pitchFamily="34" charset="0"/>
              </a:rPr>
              <a:t/>
            </a:r>
            <a:br>
              <a:rPr lang="en-US" sz="1200" b="1" dirty="0">
                <a:solidFill>
                  <a:schemeClr val="bg1"/>
                </a:solidFill>
                <a:latin typeface="Calibri" pitchFamily="34" charset="0"/>
              </a:rPr>
            </a:br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6" name="Up Arrow 25"/>
          <p:cNvSpPr>
            <a:spLocks noChangeArrowheads="1"/>
          </p:cNvSpPr>
          <p:nvPr/>
        </p:nvSpPr>
        <p:spPr bwMode="auto">
          <a:xfrm>
            <a:off x="5181600" y="1752600"/>
            <a:ext cx="1690688" cy="3716338"/>
          </a:xfrm>
          <a:prstGeom prst="upArrow">
            <a:avLst>
              <a:gd name="adj1" fmla="val 50000"/>
              <a:gd name="adj2" fmla="val 49997"/>
            </a:avLst>
          </a:prstGeom>
          <a:solidFill>
            <a:srgbClr val="339966"/>
          </a:solidFill>
          <a:ln w="9525" algn="ctr">
            <a:noFill/>
            <a:round/>
            <a:headEnd/>
            <a:tailEnd/>
          </a:ln>
        </p:spPr>
        <p:txBody>
          <a:bodyPr wrap="none"/>
          <a:lstStyle/>
          <a:p>
            <a:pPr algn="ctr" eaLnBrk="0" hangingPunct="0">
              <a:spcBef>
                <a:spcPts val="600"/>
              </a:spcBef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</a:rPr>
              <a:t>Decreasing </a:t>
            </a:r>
            <a:br>
              <a:rPr lang="en-US" sz="1050" b="1" dirty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050" b="1" dirty="0">
                <a:solidFill>
                  <a:schemeClr val="bg1"/>
                </a:solidFill>
                <a:latin typeface="Calibri" pitchFamily="34" charset="0"/>
              </a:rPr>
              <a:t>risk of </a:t>
            </a:r>
            <a:br>
              <a:rPr lang="en-US" sz="1050" b="1" dirty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050" b="1" dirty="0">
                <a:solidFill>
                  <a:schemeClr val="bg1"/>
                </a:solidFill>
                <a:latin typeface="Calibri" pitchFamily="34" charset="0"/>
              </a:rPr>
              <a:t>loss or </a:t>
            </a:r>
            <a:br>
              <a:rPr lang="en-US" sz="1050" b="1" dirty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050" b="1" dirty="0">
                <a:solidFill>
                  <a:schemeClr val="bg1"/>
                </a:solidFill>
                <a:latin typeface="Calibri" pitchFamily="34" charset="0"/>
              </a:rPr>
              <a:t>damage</a:t>
            </a:r>
          </a:p>
          <a:p>
            <a:pPr algn="ctr" eaLnBrk="0" hangingPunct="0">
              <a:spcBef>
                <a:spcPts val="600"/>
              </a:spcBef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</a:rPr>
              <a:t/>
            </a:r>
            <a:br>
              <a:rPr lang="en-US" sz="1050" b="1" dirty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050" b="1" dirty="0">
                <a:solidFill>
                  <a:schemeClr val="bg1"/>
                </a:solidFill>
                <a:latin typeface="Calibri" pitchFamily="34" charset="0"/>
              </a:rPr>
              <a:t>Increasing</a:t>
            </a:r>
            <a:br>
              <a:rPr lang="en-US" sz="1050" b="1" dirty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050" b="1" dirty="0" err="1" smtClean="0">
                <a:solidFill>
                  <a:schemeClr val="bg1"/>
                </a:solidFill>
                <a:latin typeface="Calibri" pitchFamily="34" charset="0"/>
              </a:rPr>
              <a:t>respon</a:t>
            </a:r>
            <a:r>
              <a:rPr lang="en-US" sz="1050" b="1" dirty="0" smtClean="0">
                <a:solidFill>
                  <a:schemeClr val="bg1"/>
                </a:solidFill>
                <a:latin typeface="Calibri" pitchFamily="34" charset="0"/>
              </a:rPr>
              <a:t>-</a:t>
            </a:r>
            <a:br>
              <a:rPr lang="en-US" sz="1050" b="1" dirty="0" smtClean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050" b="1" dirty="0" err="1" smtClean="0">
                <a:solidFill>
                  <a:schemeClr val="bg1"/>
                </a:solidFill>
                <a:latin typeface="Calibri" pitchFamily="34" charset="0"/>
              </a:rPr>
              <a:t>sibiity</a:t>
            </a:r>
            <a:r>
              <a:rPr lang="en-US" sz="1050" b="1" dirty="0" smtClean="0">
                <a:solidFill>
                  <a:schemeClr val="bg1"/>
                </a:solidFill>
                <a:latin typeface="Calibri" pitchFamily="34" charset="0"/>
              </a:rPr>
              <a:t>,</a:t>
            </a:r>
            <a:endParaRPr lang="en-US" sz="1050" b="1" dirty="0">
              <a:solidFill>
                <a:schemeClr val="bg1"/>
              </a:solidFill>
              <a:latin typeface="Calibri" pitchFamily="34" charset="0"/>
            </a:endParaRPr>
          </a:p>
          <a:p>
            <a:pPr algn="ctr" eaLnBrk="0" hangingPunct="0">
              <a:spcBef>
                <a:spcPts val="1200"/>
              </a:spcBef>
            </a:pPr>
            <a:r>
              <a:rPr lang="en-US" sz="1050" b="1" dirty="0" smtClean="0">
                <a:solidFill>
                  <a:schemeClr val="bg1"/>
                </a:solidFill>
                <a:latin typeface="Calibri" pitchFamily="34" charset="0"/>
              </a:rPr>
              <a:t>Increasing</a:t>
            </a:r>
            <a:r>
              <a:rPr lang="en-US" sz="1050" b="1" dirty="0">
                <a:solidFill>
                  <a:schemeClr val="bg1"/>
                </a:solidFill>
                <a:latin typeface="Calibri" pitchFamily="34" charset="0"/>
              </a:rPr>
              <a:t/>
            </a:r>
            <a:br>
              <a:rPr lang="en-US" sz="1050" b="1" dirty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050" b="1" dirty="0" smtClean="0">
                <a:solidFill>
                  <a:schemeClr val="bg1"/>
                </a:solidFill>
                <a:latin typeface="Calibri" pitchFamily="34" charset="0"/>
              </a:rPr>
              <a:t>stability</a:t>
            </a:r>
          </a:p>
          <a:p>
            <a:pPr algn="ctr" eaLnBrk="0" hangingPunct="0">
              <a:spcBef>
                <a:spcPts val="1200"/>
              </a:spcBef>
            </a:pPr>
            <a:r>
              <a:rPr lang="en-US" sz="1050" b="1" dirty="0" smtClean="0">
                <a:solidFill>
                  <a:schemeClr val="bg1"/>
                </a:solidFill>
                <a:latin typeface="Calibri" pitchFamily="34" charset="0"/>
              </a:rPr>
              <a:t>Increasing</a:t>
            </a:r>
            <a:br>
              <a:rPr lang="en-US" sz="1050" b="1" dirty="0" smtClean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050" b="1" dirty="0" smtClean="0">
                <a:solidFill>
                  <a:schemeClr val="bg1"/>
                </a:solidFill>
                <a:latin typeface="Calibri" pitchFamily="34" charset="0"/>
              </a:rPr>
              <a:t>trust</a:t>
            </a:r>
            <a:endParaRPr lang="en-US" sz="1050" b="1" dirty="0">
              <a:solidFill>
                <a:schemeClr val="bg1"/>
              </a:solidFill>
              <a:latin typeface="Calibri" pitchFamily="34" charset="0"/>
            </a:endParaRPr>
          </a:p>
          <a:p>
            <a:pPr algn="ctr" eaLnBrk="0" hangingPunct="0">
              <a:spcBef>
                <a:spcPts val="600"/>
              </a:spcBef>
            </a:pPr>
            <a:endParaRPr lang="en-US" sz="1050" b="1" dirty="0">
              <a:solidFill>
                <a:schemeClr val="bg1"/>
              </a:solidFill>
              <a:latin typeface="Calibri" pitchFamily="34" charset="0"/>
            </a:endParaRPr>
          </a:p>
          <a:p>
            <a:pPr algn="ctr" eaLnBrk="0" hangingPunct="0">
              <a:spcBef>
                <a:spcPts val="600"/>
              </a:spcBef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</a:rPr>
              <a:t>Increasing</a:t>
            </a:r>
            <a:br>
              <a:rPr lang="en-US" sz="1050" b="1" dirty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050" b="1" dirty="0">
                <a:solidFill>
                  <a:schemeClr val="bg1"/>
                </a:solidFill>
                <a:latin typeface="Calibri" pitchFamily="34" charset="0"/>
              </a:rPr>
              <a:t>infra-</a:t>
            </a:r>
            <a:br>
              <a:rPr lang="en-US" sz="1050" b="1" dirty="0">
                <a:solidFill>
                  <a:schemeClr val="bg1"/>
                </a:solidFill>
                <a:latin typeface="Calibri" pitchFamily="34" charset="0"/>
              </a:rPr>
            </a:br>
            <a:r>
              <a:rPr lang="en-US" sz="1050" b="1" dirty="0">
                <a:solidFill>
                  <a:schemeClr val="bg1"/>
                </a:solidFill>
                <a:latin typeface="Calibri" pitchFamily="34" charset="0"/>
              </a:rPr>
              <a:t>structure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</a:rPr>
              <a:t/>
            </a:r>
            <a:br>
              <a:rPr lang="en-US" sz="1200" dirty="0">
                <a:solidFill>
                  <a:schemeClr val="bg1"/>
                </a:solidFill>
                <a:latin typeface="Calibri" pitchFamily="34" charset="0"/>
              </a:rPr>
            </a:br>
            <a:endParaRPr lang="en-US" sz="1200" dirty="0">
              <a:solidFill>
                <a:schemeClr val="bg1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uild="p"/>
      <p:bldP spid="44" grpId="0"/>
      <p:bldP spid="10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7"/>
          <p:cNvSpPr>
            <a:spLocks noGrp="1"/>
          </p:cNvSpPr>
          <p:nvPr>
            <p:ph type="title"/>
          </p:nvPr>
        </p:nvSpPr>
        <p:spPr>
          <a:xfrm>
            <a:off x="446088" y="179388"/>
            <a:ext cx="8288337" cy="1131887"/>
          </a:xfrm>
          <a:ln/>
        </p:spPr>
        <p:txBody>
          <a:bodyPr/>
          <a:lstStyle/>
          <a:p>
            <a:r>
              <a:rPr lang="en-US" sz="2000" dirty="0" smtClean="0">
                <a:solidFill>
                  <a:srgbClr val="FF0000"/>
                </a:solidFill>
              </a:rPr>
              <a:t>Why not just let </a:t>
            </a:r>
            <a:r>
              <a:rPr lang="en-US" sz="2000" dirty="0" smtClean="0">
                <a:solidFill>
                  <a:schemeClr val="bg1"/>
                </a:solidFill>
              </a:rPr>
              <a:t>XXXXXXX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do it? 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Multi-sector solutions required for data in the public interest</a:t>
            </a:r>
          </a:p>
        </p:txBody>
      </p:sp>
      <p:grpSp>
        <p:nvGrpSpPr>
          <p:cNvPr id="24579" name="Group 26"/>
          <p:cNvGrpSpPr>
            <a:grpSpLocks/>
          </p:cNvGrpSpPr>
          <p:nvPr/>
        </p:nvGrpSpPr>
        <p:grpSpPr bwMode="auto">
          <a:xfrm>
            <a:off x="4681538" y="215900"/>
            <a:ext cx="1277937" cy="474663"/>
            <a:chOff x="4191000" y="533400"/>
            <a:chExt cx="2895600" cy="914400"/>
          </a:xfrm>
        </p:grpSpPr>
        <p:grpSp>
          <p:nvGrpSpPr>
            <p:cNvPr id="24610" name="Group 22"/>
            <p:cNvGrpSpPr>
              <a:grpSpLocks/>
            </p:cNvGrpSpPr>
            <p:nvPr/>
          </p:nvGrpSpPr>
          <p:grpSpPr bwMode="auto">
            <a:xfrm>
              <a:off x="5257800" y="533400"/>
              <a:ext cx="1103937" cy="840064"/>
              <a:chOff x="4114800" y="850644"/>
              <a:chExt cx="1103937" cy="840063"/>
            </a:xfrm>
          </p:grpSpPr>
          <p:pic>
            <p:nvPicPr>
              <p:cNvPr id="24615" name="Picture 35" descr="yahoo.jpg"/>
              <p:cNvPicPr>
                <a:picLocks noChangeAspect="1"/>
              </p:cNvPicPr>
              <p:nvPr/>
            </p:nvPicPr>
            <p:blipFill>
              <a:blip r:embed="rId2"/>
              <a:srcRect l="37334" t="31999" r="9332" b="36000"/>
              <a:stretch>
                <a:fillRect/>
              </a:stretch>
            </p:blipFill>
            <p:spPr bwMode="auto">
              <a:xfrm>
                <a:off x="4114800" y="990600"/>
                <a:ext cx="1016000" cy="609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7" name="Moon 36"/>
              <p:cNvSpPr/>
              <p:nvPr/>
            </p:nvSpPr>
            <p:spPr>
              <a:xfrm rot="10474254">
                <a:off x="4914852" y="850644"/>
                <a:ext cx="302150" cy="841003"/>
              </a:xfrm>
              <a:prstGeom prst="mo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pic>
          <p:nvPicPr>
            <p:cNvPr id="24611" name="Picture 31" descr="microsoft.jpg"/>
            <p:cNvPicPr>
              <a:picLocks noChangeAspect="1"/>
            </p:cNvPicPr>
            <p:nvPr/>
          </p:nvPicPr>
          <p:blipFill>
            <a:blip r:embed="rId3"/>
            <a:srcRect l="56667" t="33333" r="6667" b="30000"/>
            <a:stretch>
              <a:fillRect/>
            </a:stretch>
          </p:blipFill>
          <p:spPr bwMode="auto">
            <a:xfrm>
              <a:off x="6324600" y="609600"/>
              <a:ext cx="762000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4612" name="Group 24"/>
            <p:cNvGrpSpPr>
              <a:grpSpLocks/>
            </p:cNvGrpSpPr>
            <p:nvPr/>
          </p:nvGrpSpPr>
          <p:grpSpPr bwMode="auto">
            <a:xfrm>
              <a:off x="4191000" y="685800"/>
              <a:ext cx="1066800" cy="762000"/>
              <a:chOff x="3200400" y="685800"/>
              <a:chExt cx="1066800" cy="762000"/>
            </a:xfrm>
          </p:grpSpPr>
          <p:pic>
            <p:nvPicPr>
              <p:cNvPr id="24613" name="Picture 33" descr="Google.gif"/>
              <p:cNvPicPr>
                <a:picLocks noChangeAspect="1"/>
              </p:cNvPicPr>
              <p:nvPr/>
            </p:nvPicPr>
            <p:blipFill>
              <a:blip r:embed="rId4"/>
              <a:srcRect r="39130"/>
              <a:stretch>
                <a:fillRect/>
              </a:stretch>
            </p:blipFill>
            <p:spPr bwMode="auto">
              <a:xfrm>
                <a:off x="3200400" y="685800"/>
                <a:ext cx="1018307" cy="6667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5" name="Rounded Rectangle 34"/>
              <p:cNvSpPr/>
              <p:nvPr/>
            </p:nvSpPr>
            <p:spPr>
              <a:xfrm>
                <a:off x="4117639" y="1145037"/>
                <a:ext cx="151075" cy="302761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grpSp>
        <p:nvGrpSpPr>
          <p:cNvPr id="24583" name="Group 3"/>
          <p:cNvGrpSpPr>
            <a:grpSpLocks/>
          </p:cNvGrpSpPr>
          <p:nvPr/>
        </p:nvGrpSpPr>
        <p:grpSpPr bwMode="auto">
          <a:xfrm>
            <a:off x="2855913" y="1681228"/>
            <a:ext cx="3810000" cy="4314788"/>
            <a:chOff x="2880" y="864"/>
            <a:chExt cx="2592" cy="3059"/>
          </a:xfrm>
        </p:grpSpPr>
        <p:grpSp>
          <p:nvGrpSpPr>
            <p:cNvPr id="24602" name="Group 4"/>
            <p:cNvGrpSpPr>
              <a:grpSpLocks/>
            </p:cNvGrpSpPr>
            <p:nvPr/>
          </p:nvGrpSpPr>
          <p:grpSpPr bwMode="auto">
            <a:xfrm>
              <a:off x="2880" y="864"/>
              <a:ext cx="2592" cy="2680"/>
              <a:chOff x="2880" y="864"/>
              <a:chExt cx="2592" cy="2680"/>
            </a:xfrm>
          </p:grpSpPr>
          <p:sp>
            <p:nvSpPr>
              <p:cNvPr id="13" name="AutoShape 5"/>
              <p:cNvSpPr>
                <a:spLocks noChangeArrowheads="1"/>
              </p:cNvSpPr>
              <p:nvPr/>
            </p:nvSpPr>
            <p:spPr bwMode="auto">
              <a:xfrm>
                <a:off x="2880" y="912"/>
                <a:ext cx="2592" cy="2630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rgbClr val="FFFF66"/>
                  </a:gs>
                  <a:gs pos="50000">
                    <a:schemeClr val="accent1"/>
                  </a:gs>
                  <a:gs pos="100000">
                    <a:srgbClr val="FFFF66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24605" name="AutoShape 6"/>
              <p:cNvSpPr>
                <a:spLocks noChangeArrowheads="1"/>
              </p:cNvSpPr>
              <p:nvPr/>
            </p:nvSpPr>
            <p:spPr bwMode="auto">
              <a:xfrm>
                <a:off x="3456" y="864"/>
                <a:ext cx="1440" cy="1536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rgbClr val="FF66FF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4606" name="Text Box 7"/>
              <p:cNvSpPr txBox="1">
                <a:spLocks noChangeArrowheads="1"/>
              </p:cNvSpPr>
              <p:nvPr/>
            </p:nvSpPr>
            <p:spPr bwMode="auto">
              <a:xfrm>
                <a:off x="3718" y="2316"/>
                <a:ext cx="950" cy="4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000">
                    <a:latin typeface="Calibri" pitchFamily="34" charset="0"/>
                  </a:rPr>
                  <a:t>Community</a:t>
                </a:r>
                <a:br>
                  <a:rPr lang="en-US" sz="2000">
                    <a:latin typeface="Calibri" pitchFamily="34" charset="0"/>
                  </a:rPr>
                </a:br>
                <a:r>
                  <a:rPr lang="en-US" sz="2000">
                    <a:latin typeface="Calibri" pitchFamily="34" charset="0"/>
                  </a:rPr>
                  <a:t>value</a:t>
                </a:r>
              </a:p>
            </p:txBody>
          </p:sp>
          <p:sp>
            <p:nvSpPr>
              <p:cNvPr id="24607" name="Text Box 8"/>
              <p:cNvSpPr txBox="1">
                <a:spLocks noChangeArrowheads="1"/>
              </p:cNvSpPr>
              <p:nvPr/>
            </p:nvSpPr>
            <p:spPr bwMode="auto">
              <a:xfrm>
                <a:off x="3569" y="3129"/>
                <a:ext cx="1245" cy="3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000">
                    <a:latin typeface="Calibri" pitchFamily="34" charset="0"/>
                  </a:rPr>
                  <a:t>Individual</a:t>
                </a:r>
                <a:r>
                  <a:rPr lang="en-US">
                    <a:latin typeface="Calibri" pitchFamily="34" charset="0"/>
                  </a:rPr>
                  <a:t> </a:t>
                </a:r>
                <a:r>
                  <a:rPr lang="en-US" sz="2000">
                    <a:latin typeface="Calibri" pitchFamily="34" charset="0"/>
                  </a:rPr>
                  <a:t>value</a:t>
                </a:r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24608" name="Text Box 9"/>
              <p:cNvSpPr txBox="1">
                <a:spLocks noChangeArrowheads="1"/>
              </p:cNvSpPr>
              <p:nvPr/>
            </p:nvSpPr>
            <p:spPr bwMode="auto">
              <a:xfrm>
                <a:off x="3842" y="1553"/>
                <a:ext cx="680" cy="4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000">
                    <a:latin typeface="Calibri" pitchFamily="34" charset="0"/>
                  </a:rPr>
                  <a:t>Societal</a:t>
                </a:r>
                <a:br>
                  <a:rPr lang="en-US" sz="2000">
                    <a:latin typeface="Calibri" pitchFamily="34" charset="0"/>
                  </a:rPr>
                </a:br>
                <a:r>
                  <a:rPr lang="en-US" sz="2000">
                    <a:latin typeface="Calibri" pitchFamily="34" charset="0"/>
                  </a:rPr>
                  <a:t>value</a:t>
                </a:r>
              </a:p>
            </p:txBody>
          </p:sp>
          <p:sp>
            <p:nvSpPr>
              <p:cNvPr id="24609" name="AutoShape 10"/>
              <p:cNvSpPr>
                <a:spLocks noChangeArrowheads="1"/>
              </p:cNvSpPr>
              <p:nvPr/>
            </p:nvSpPr>
            <p:spPr bwMode="auto">
              <a:xfrm>
                <a:off x="2880" y="912"/>
                <a:ext cx="2592" cy="263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/>
                <a:endParaRPr lang="en-US">
                  <a:latin typeface="Calibri" pitchFamily="34" charset="0"/>
                </a:endParaRPr>
              </a:p>
            </p:txBody>
          </p:sp>
        </p:grpSp>
        <p:sp>
          <p:nvSpPr>
            <p:cNvPr id="24603" name="Text Box 11"/>
            <p:cNvSpPr txBox="1">
              <a:spLocks noChangeArrowheads="1"/>
            </p:cNvSpPr>
            <p:nvPr/>
          </p:nvSpPr>
          <p:spPr bwMode="auto">
            <a:xfrm>
              <a:off x="3590" y="3687"/>
              <a:ext cx="126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>
                <a:solidFill>
                  <a:srgbClr val="000099"/>
                </a:solidFill>
                <a:latin typeface="Calibri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263525" y="4120089"/>
            <a:ext cx="8394700" cy="1877486"/>
            <a:chOff x="263525" y="4120089"/>
            <a:chExt cx="8394700" cy="1877486"/>
          </a:xfrm>
        </p:grpSpPr>
        <p:pic>
          <p:nvPicPr>
            <p:cNvPr id="24581" name="Picture 46" descr="optiputerEarth.gif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762750" y="4120089"/>
              <a:ext cx="952500" cy="926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91" name="Picture 38" descr="quicken.gif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724025" y="4909132"/>
              <a:ext cx="914400" cy="898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92" name="Picture 39" descr="amazon web services.jp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63525" y="4514611"/>
              <a:ext cx="1371600" cy="10104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93" name="Picture 34" descr="Google.gif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36550" y="5482982"/>
              <a:ext cx="1314450" cy="5145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5" name="Picture 44" descr="mcell graph.jpg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 bwMode="auto">
            <a:xfrm>
              <a:off x="7543800" y="5121275"/>
              <a:ext cx="1114425" cy="820738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pic>
          <p:nvPicPr>
            <p:cNvPr id="24595" name="Picture 45" descr="BIRN-Brain.jp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7858125" y="4191820"/>
              <a:ext cx="762000" cy="7484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3" name="Group 42"/>
          <p:cNvGrpSpPr/>
          <p:nvPr/>
        </p:nvGrpSpPr>
        <p:grpSpPr>
          <a:xfrm>
            <a:off x="519113" y="1420813"/>
            <a:ext cx="8167687" cy="1507914"/>
            <a:chOff x="519113" y="1420813"/>
            <a:chExt cx="8167687" cy="1507914"/>
          </a:xfrm>
        </p:grpSpPr>
        <p:pic>
          <p:nvPicPr>
            <p:cNvPr id="24584" name="Picture 11" descr="uniprot.jpg"/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315200" y="1752959"/>
              <a:ext cx="1143000" cy="44910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24585" name="Picture 12" descr="pdb-logo.gif"/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7467600" y="2351759"/>
              <a:ext cx="1219200" cy="261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87" name="Picture 5" descr="moonwalk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5715000" y="1420813"/>
              <a:ext cx="1295400" cy="993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88" name="Picture 35" descr="congressLogo.jpg"/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519113" y="1788825"/>
              <a:ext cx="990600" cy="10634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89" name="Picture 36" descr="nara_logo.gif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2636838" y="1573632"/>
              <a:ext cx="981075" cy="466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90" name="Picture 37" descr="nsf.gif"/>
            <p:cNvPicPr>
              <a:picLocks noChangeAspect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1504950" y="1430169"/>
              <a:ext cx="803275" cy="789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97" name="Picture 38" descr="DOE.jpg"/>
            <p:cNvPicPr>
              <a:picLocks noChangeAspect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2709863" y="2147481"/>
              <a:ext cx="777875" cy="756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98" name="Picture 39" descr="NIH.jpg"/>
            <p:cNvPicPr>
              <a:picLocks noChangeAspect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1833563" y="2183346"/>
              <a:ext cx="758825" cy="745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2" name="Group 41"/>
          <p:cNvGrpSpPr/>
          <p:nvPr/>
        </p:nvGrpSpPr>
        <p:grpSpPr>
          <a:xfrm>
            <a:off x="300038" y="2576309"/>
            <a:ext cx="8462962" cy="1794840"/>
            <a:chOff x="300038" y="2576309"/>
            <a:chExt cx="8462962" cy="1794840"/>
          </a:xfrm>
        </p:grpSpPr>
        <p:pic>
          <p:nvPicPr>
            <p:cNvPr id="24582" name="Picture 42" descr="Georgia Tech Library.gif"/>
            <p:cNvPicPr>
              <a:picLocks noChangeAspect="1"/>
            </p:cNvPicPr>
            <p:nvPr/>
          </p:nvPicPr>
          <p:blipFill>
            <a:blip r:embed="rId18"/>
            <a:srcRect t="24193" r="3226" b="11290"/>
            <a:stretch>
              <a:fillRect/>
            </a:stretch>
          </p:blipFill>
          <p:spPr bwMode="auto">
            <a:xfrm>
              <a:off x="409575" y="3689702"/>
              <a:ext cx="2865438" cy="681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86" name="Picture 13" descr="CMS_CERN.jpg"/>
            <p:cNvPicPr>
              <a:picLocks noChangeAspect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7391400" y="2950558"/>
              <a:ext cx="1371600" cy="9075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96" name="Picture 14" descr="preservation images.jpg"/>
            <p:cNvPicPr>
              <a:picLocks noChangeAspect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6096000" y="2576309"/>
              <a:ext cx="1133475" cy="10478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99" name="Picture 40" descr="ucsd library 3.gif"/>
            <p:cNvPicPr>
              <a:picLocks noChangeAspect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2381250" y="3151718"/>
              <a:ext cx="854075" cy="6954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600" name="Picture 41" descr="ICPSR.bmp"/>
            <p:cNvPicPr>
              <a:picLocks noChangeAspect="1"/>
            </p:cNvPicPr>
            <p:nvPr/>
          </p:nvPicPr>
          <p:blipFill>
            <a:blip r:embed="rId22"/>
            <a:srcRect l="10709" t="2739" r="69167" b="23744"/>
            <a:stretch>
              <a:fillRect/>
            </a:stretch>
          </p:blipFill>
          <p:spPr bwMode="auto">
            <a:xfrm>
              <a:off x="300038" y="3366912"/>
              <a:ext cx="1204912" cy="3945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601" name="Picture 42" descr="CDL.jpg"/>
            <p:cNvPicPr>
              <a:picLocks noChangeAspect="1"/>
            </p:cNvPicPr>
            <p:nvPr/>
          </p:nvPicPr>
          <p:blipFill>
            <a:blip r:embed="rId23"/>
            <a:srcRect l="3680" t="17569" r="88734" b="10361"/>
            <a:stretch>
              <a:fillRect/>
            </a:stretch>
          </p:blipFill>
          <p:spPr bwMode="auto">
            <a:xfrm>
              <a:off x="1687513" y="3151718"/>
              <a:ext cx="584200" cy="6034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839200" cy="923925"/>
          </a:xfrm>
          <a:ln/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Blue Ribbon Task Force on Sustainable Digital Preservation and Access</a:t>
            </a:r>
          </a:p>
        </p:txBody>
      </p:sp>
      <p:grpSp>
        <p:nvGrpSpPr>
          <p:cNvPr id="25603" name="Group 47"/>
          <p:cNvGrpSpPr>
            <a:grpSpLocks/>
          </p:cNvGrpSpPr>
          <p:nvPr/>
        </p:nvGrpSpPr>
        <p:grpSpPr bwMode="auto">
          <a:xfrm>
            <a:off x="5083175" y="2224088"/>
            <a:ext cx="3724332" cy="2808287"/>
            <a:chOff x="152400" y="1905000"/>
            <a:chExt cx="4925160" cy="3276600"/>
          </a:xfrm>
        </p:grpSpPr>
        <p:sp>
          <p:nvSpPr>
            <p:cNvPr id="25606" name="Rectangle 41"/>
            <p:cNvSpPr>
              <a:spLocks noChangeArrowheads="1"/>
            </p:cNvSpPr>
            <p:nvPr/>
          </p:nvSpPr>
          <p:spPr bwMode="auto">
            <a:xfrm>
              <a:off x="152400" y="1905000"/>
              <a:ext cx="4876800" cy="3276600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15365" name="Line 5"/>
            <p:cNvSpPr>
              <a:spLocks noChangeShapeType="1"/>
            </p:cNvSpPr>
            <p:nvPr/>
          </p:nvSpPr>
          <p:spPr bwMode="auto">
            <a:xfrm flipH="1">
              <a:off x="1588358" y="3672031"/>
              <a:ext cx="627708" cy="577897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77777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1400">
                <a:latin typeface="Helvetica" pitchFamily="34" charset="0"/>
              </a:endParaRPr>
            </a:p>
          </p:txBody>
        </p:sp>
        <p:sp>
          <p:nvSpPr>
            <p:cNvPr id="15367" name="Line 7"/>
            <p:cNvSpPr>
              <a:spLocks noChangeShapeType="1"/>
            </p:cNvSpPr>
            <p:nvPr/>
          </p:nvSpPr>
          <p:spPr bwMode="auto">
            <a:xfrm>
              <a:off x="2533067" y="3672031"/>
              <a:ext cx="598317" cy="548261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77777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1400">
                <a:latin typeface="Helvetica" pitchFamily="34" charset="0"/>
              </a:endParaRPr>
            </a:p>
          </p:txBody>
        </p:sp>
        <p:sp>
          <p:nvSpPr>
            <p:cNvPr id="25609" name="AutoShape 13"/>
            <p:cNvSpPr>
              <a:spLocks noChangeArrowheads="1"/>
            </p:cNvSpPr>
            <p:nvPr/>
          </p:nvSpPr>
          <p:spPr bwMode="auto">
            <a:xfrm>
              <a:off x="1657350" y="2936875"/>
              <a:ext cx="1401763" cy="128270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00" y="10800"/>
                  </a:moveTo>
                  <a:cubicBezTo>
                    <a:pt x="200" y="16654"/>
                    <a:pt x="4946" y="21400"/>
                    <a:pt x="10800" y="21400"/>
                  </a:cubicBezTo>
                  <a:cubicBezTo>
                    <a:pt x="16654" y="21400"/>
                    <a:pt x="21400" y="16654"/>
                    <a:pt x="21400" y="10800"/>
                  </a:cubicBezTo>
                  <a:cubicBezTo>
                    <a:pt x="21400" y="4946"/>
                    <a:pt x="16654" y="200"/>
                    <a:pt x="10800" y="200"/>
                  </a:cubicBezTo>
                  <a:cubicBezTo>
                    <a:pt x="4946" y="200"/>
                    <a:pt x="200" y="4946"/>
                    <a:pt x="200" y="10800"/>
                  </a:cubicBezTo>
                  <a:close/>
                </a:path>
              </a:pathLst>
            </a:cu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10" name="AutoShape 22"/>
            <p:cNvSpPr>
              <a:spLocks noChangeArrowheads="1"/>
            </p:cNvSpPr>
            <p:nvPr/>
          </p:nvSpPr>
          <p:spPr bwMode="auto">
            <a:xfrm>
              <a:off x="1797050" y="3962400"/>
              <a:ext cx="139700" cy="96838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11" name="AutoShape 23"/>
            <p:cNvSpPr>
              <a:spLocks noChangeArrowheads="1"/>
            </p:cNvSpPr>
            <p:nvPr/>
          </p:nvSpPr>
          <p:spPr bwMode="auto">
            <a:xfrm>
              <a:off x="2322513" y="4154488"/>
              <a:ext cx="141287" cy="96837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12" name="Text Box 25"/>
            <p:cNvSpPr txBox="1">
              <a:spLocks noChangeArrowheads="1"/>
            </p:cNvSpPr>
            <p:nvPr/>
          </p:nvSpPr>
          <p:spPr bwMode="auto">
            <a:xfrm>
              <a:off x="838200" y="2514601"/>
              <a:ext cx="859995" cy="322791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339966"/>
                  </a:solidFill>
                  <a:latin typeface="Arial Black" pitchFamily="34" charset="0"/>
                </a:rPr>
                <a:t>State</a:t>
              </a:r>
            </a:p>
          </p:txBody>
        </p:sp>
        <p:sp>
          <p:nvSpPr>
            <p:cNvPr id="25613" name="Text Box 26"/>
            <p:cNvSpPr txBox="1">
              <a:spLocks noChangeArrowheads="1"/>
            </p:cNvSpPr>
            <p:nvPr/>
          </p:nvSpPr>
          <p:spPr bwMode="auto">
            <a:xfrm>
              <a:off x="914400" y="4267200"/>
              <a:ext cx="875324" cy="322791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008080"/>
                  </a:solidFill>
                  <a:latin typeface="Arial Black" pitchFamily="34" charset="0"/>
                </a:rPr>
                <a:t>Local</a:t>
              </a:r>
            </a:p>
          </p:txBody>
        </p:sp>
        <p:sp>
          <p:nvSpPr>
            <p:cNvPr id="25614" name="Text Box 27"/>
            <p:cNvSpPr txBox="1">
              <a:spLocks noChangeArrowheads="1"/>
            </p:cNvSpPr>
            <p:nvPr/>
          </p:nvSpPr>
          <p:spPr bwMode="auto">
            <a:xfrm>
              <a:off x="1981200" y="4571999"/>
              <a:ext cx="1765050" cy="322791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006699"/>
                  </a:solidFill>
                  <a:latin typeface="Arial Black" pitchFamily="34" charset="0"/>
                </a:rPr>
                <a:t>International</a:t>
              </a:r>
            </a:p>
          </p:txBody>
        </p:sp>
        <p:sp>
          <p:nvSpPr>
            <p:cNvPr id="25615" name="Text Box 28"/>
            <p:cNvSpPr txBox="1">
              <a:spLocks noChangeArrowheads="1"/>
            </p:cNvSpPr>
            <p:nvPr/>
          </p:nvSpPr>
          <p:spPr bwMode="auto">
            <a:xfrm>
              <a:off x="3581400" y="3429000"/>
              <a:ext cx="1409191" cy="322791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993366"/>
                  </a:solidFill>
                  <a:latin typeface="Arial Black" pitchFamily="34" charset="0"/>
                </a:rPr>
                <a:t>Non-profit</a:t>
              </a:r>
            </a:p>
          </p:txBody>
        </p:sp>
        <p:sp>
          <p:nvSpPr>
            <p:cNvPr id="25616" name="Text Box 29"/>
            <p:cNvSpPr txBox="1">
              <a:spLocks noChangeArrowheads="1"/>
            </p:cNvSpPr>
            <p:nvPr/>
          </p:nvSpPr>
          <p:spPr bwMode="auto">
            <a:xfrm>
              <a:off x="3352800" y="2590800"/>
              <a:ext cx="1120772" cy="322791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990000"/>
                  </a:solidFill>
                  <a:latin typeface="Arial Black" pitchFamily="34" charset="0"/>
                </a:rPr>
                <a:t>College</a:t>
              </a:r>
            </a:p>
          </p:txBody>
        </p:sp>
        <p:sp>
          <p:nvSpPr>
            <p:cNvPr id="25617" name="Text Box 30"/>
            <p:cNvSpPr txBox="1">
              <a:spLocks noChangeArrowheads="1"/>
            </p:cNvSpPr>
            <p:nvPr/>
          </p:nvSpPr>
          <p:spPr bwMode="auto">
            <a:xfrm>
              <a:off x="2057400" y="2133600"/>
              <a:ext cx="1424909" cy="322791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663300"/>
                  </a:solidFill>
                  <a:latin typeface="Arial Black" pitchFamily="34" charset="0"/>
                </a:rPr>
                <a:t>University</a:t>
              </a:r>
            </a:p>
          </p:txBody>
        </p:sp>
        <p:sp>
          <p:nvSpPr>
            <p:cNvPr id="25618" name="AutoShape 31"/>
            <p:cNvSpPr>
              <a:spLocks noChangeArrowheads="1"/>
            </p:cNvSpPr>
            <p:nvPr/>
          </p:nvSpPr>
          <p:spPr bwMode="auto">
            <a:xfrm>
              <a:off x="1516063" y="4219575"/>
              <a:ext cx="141287" cy="95250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19" name="AutoShape 33"/>
            <p:cNvSpPr>
              <a:spLocks noChangeArrowheads="1"/>
            </p:cNvSpPr>
            <p:nvPr/>
          </p:nvSpPr>
          <p:spPr bwMode="auto">
            <a:xfrm>
              <a:off x="2287588" y="2551113"/>
              <a:ext cx="141287" cy="96837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20" name="AutoShape 35"/>
            <p:cNvSpPr>
              <a:spLocks noChangeArrowheads="1"/>
            </p:cNvSpPr>
            <p:nvPr/>
          </p:nvSpPr>
          <p:spPr bwMode="auto">
            <a:xfrm>
              <a:off x="3094038" y="4187825"/>
              <a:ext cx="141287" cy="95250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21" name="AutoShape 36"/>
            <p:cNvSpPr>
              <a:spLocks noChangeArrowheads="1"/>
            </p:cNvSpPr>
            <p:nvPr/>
          </p:nvSpPr>
          <p:spPr bwMode="auto">
            <a:xfrm>
              <a:off x="2322513" y="4475163"/>
              <a:ext cx="141287" cy="96837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22" name="AutoShape 38"/>
            <p:cNvSpPr>
              <a:spLocks noChangeArrowheads="1"/>
            </p:cNvSpPr>
            <p:nvPr/>
          </p:nvSpPr>
          <p:spPr bwMode="auto">
            <a:xfrm>
              <a:off x="2814638" y="3962400"/>
              <a:ext cx="139700" cy="96838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23" name="Text Box 40"/>
            <p:cNvSpPr txBox="1">
              <a:spLocks noChangeArrowheads="1"/>
            </p:cNvSpPr>
            <p:nvPr/>
          </p:nvSpPr>
          <p:spPr bwMode="auto">
            <a:xfrm>
              <a:off x="3200399" y="3962400"/>
              <a:ext cx="1877161" cy="359102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sz="1400" dirty="0">
                  <a:solidFill>
                    <a:srgbClr val="333399"/>
                  </a:solidFill>
                  <a:latin typeface="Arial Black" pitchFamily="34" charset="0"/>
                </a:rPr>
                <a:t>Commercial</a:t>
              </a:r>
            </a:p>
          </p:txBody>
        </p:sp>
        <p:sp>
          <p:nvSpPr>
            <p:cNvPr id="25624" name="AutoShape 16"/>
            <p:cNvSpPr>
              <a:spLocks noChangeArrowheads="1"/>
            </p:cNvSpPr>
            <p:nvPr/>
          </p:nvSpPr>
          <p:spPr bwMode="auto">
            <a:xfrm>
              <a:off x="1622425" y="3513138"/>
              <a:ext cx="139700" cy="96837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25" name="AutoShape 17"/>
            <p:cNvSpPr>
              <a:spLocks noChangeArrowheads="1"/>
            </p:cNvSpPr>
            <p:nvPr/>
          </p:nvSpPr>
          <p:spPr bwMode="auto">
            <a:xfrm>
              <a:off x="1201738" y="3513138"/>
              <a:ext cx="139700" cy="96837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26" name="AutoShape 18"/>
            <p:cNvSpPr>
              <a:spLocks noChangeArrowheads="1"/>
            </p:cNvSpPr>
            <p:nvPr/>
          </p:nvSpPr>
          <p:spPr bwMode="auto">
            <a:xfrm>
              <a:off x="1797050" y="3097213"/>
              <a:ext cx="139700" cy="95250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27" name="AutoShape 19"/>
            <p:cNvSpPr>
              <a:spLocks noChangeArrowheads="1"/>
            </p:cNvSpPr>
            <p:nvPr/>
          </p:nvSpPr>
          <p:spPr bwMode="auto">
            <a:xfrm>
              <a:off x="2287588" y="2905125"/>
              <a:ext cx="141287" cy="95250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28" name="AutoShape 20"/>
            <p:cNvSpPr>
              <a:spLocks noChangeArrowheads="1"/>
            </p:cNvSpPr>
            <p:nvPr/>
          </p:nvSpPr>
          <p:spPr bwMode="auto">
            <a:xfrm>
              <a:off x="2814638" y="3097213"/>
              <a:ext cx="139700" cy="95250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29" name="AutoShape 21"/>
            <p:cNvSpPr>
              <a:spLocks noChangeArrowheads="1"/>
            </p:cNvSpPr>
            <p:nvPr/>
          </p:nvSpPr>
          <p:spPr bwMode="auto">
            <a:xfrm>
              <a:off x="2989263" y="3513138"/>
              <a:ext cx="141287" cy="96837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30" name="Text Box 24"/>
            <p:cNvSpPr txBox="1">
              <a:spLocks noChangeArrowheads="1"/>
            </p:cNvSpPr>
            <p:nvPr/>
          </p:nvSpPr>
          <p:spPr bwMode="auto">
            <a:xfrm>
              <a:off x="152400" y="3200400"/>
              <a:ext cx="1411288" cy="322791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008080"/>
                  </a:solidFill>
                  <a:latin typeface="Arial Black" pitchFamily="34" charset="0"/>
                </a:rPr>
                <a:t>Federal</a:t>
              </a:r>
            </a:p>
          </p:txBody>
        </p:sp>
        <p:sp>
          <p:nvSpPr>
            <p:cNvPr id="25631" name="AutoShape 32"/>
            <p:cNvSpPr>
              <a:spLocks noChangeArrowheads="1"/>
            </p:cNvSpPr>
            <p:nvPr/>
          </p:nvSpPr>
          <p:spPr bwMode="auto">
            <a:xfrm>
              <a:off x="1481138" y="2840038"/>
              <a:ext cx="141287" cy="96837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32" name="Text Box 37"/>
            <p:cNvSpPr txBox="1">
              <a:spLocks noChangeArrowheads="1"/>
            </p:cNvSpPr>
            <p:nvPr/>
          </p:nvSpPr>
          <p:spPr bwMode="auto">
            <a:xfrm>
              <a:off x="1981200" y="3124200"/>
              <a:ext cx="885003" cy="322791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333333"/>
                  </a:solidFill>
                  <a:latin typeface="Arial Black" pitchFamily="34" charset="0"/>
                </a:rPr>
                <a:t>USER</a:t>
              </a:r>
            </a:p>
          </p:txBody>
        </p:sp>
        <p:sp>
          <p:nvSpPr>
            <p:cNvPr id="25633" name="AutoShape 39"/>
            <p:cNvSpPr>
              <a:spLocks noChangeArrowheads="1"/>
            </p:cNvSpPr>
            <p:nvPr/>
          </p:nvSpPr>
          <p:spPr bwMode="auto">
            <a:xfrm>
              <a:off x="3375025" y="3513138"/>
              <a:ext cx="141288" cy="96837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15369" name="Line 9"/>
            <p:cNvSpPr>
              <a:spLocks noChangeShapeType="1"/>
            </p:cNvSpPr>
            <p:nvPr/>
          </p:nvSpPr>
          <p:spPr bwMode="auto">
            <a:xfrm>
              <a:off x="2568757" y="3546079"/>
              <a:ext cx="877530" cy="0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77777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1400">
                <a:latin typeface="Helvetica" pitchFamily="34" charset="0"/>
              </a:endParaRPr>
            </a:p>
          </p:txBody>
        </p:sp>
        <p:sp>
          <p:nvSpPr>
            <p:cNvPr id="15370" name="Line 10"/>
            <p:cNvSpPr>
              <a:spLocks noChangeShapeType="1"/>
            </p:cNvSpPr>
            <p:nvPr/>
          </p:nvSpPr>
          <p:spPr bwMode="auto">
            <a:xfrm flipH="1">
              <a:off x="1340634" y="3546079"/>
              <a:ext cx="841842" cy="0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77777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1400">
                <a:latin typeface="Helvetica" pitchFamily="34" charset="0"/>
              </a:endParaRPr>
            </a:p>
          </p:txBody>
        </p:sp>
        <p:sp>
          <p:nvSpPr>
            <p:cNvPr id="25636" name="AutoShape 34"/>
            <p:cNvSpPr>
              <a:spLocks noChangeArrowheads="1"/>
            </p:cNvSpPr>
            <p:nvPr/>
          </p:nvSpPr>
          <p:spPr bwMode="auto">
            <a:xfrm>
              <a:off x="3094038" y="2840038"/>
              <a:ext cx="141287" cy="96837"/>
            </a:xfrm>
            <a:prstGeom prst="roundRect">
              <a:avLst>
                <a:gd name="adj" fmla="val 3750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25637" name="AutoShape 14"/>
            <p:cNvSpPr>
              <a:spLocks noChangeArrowheads="1"/>
            </p:cNvSpPr>
            <p:nvPr/>
          </p:nvSpPr>
          <p:spPr bwMode="auto">
            <a:xfrm>
              <a:off x="1271588" y="2584450"/>
              <a:ext cx="2173287" cy="195580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23" y="10800"/>
                  </a:moveTo>
                  <a:cubicBezTo>
                    <a:pt x="123" y="16697"/>
                    <a:pt x="4903" y="21477"/>
                    <a:pt x="10800" y="21477"/>
                  </a:cubicBezTo>
                  <a:cubicBezTo>
                    <a:pt x="16697" y="21477"/>
                    <a:pt x="21477" y="16697"/>
                    <a:pt x="21477" y="10800"/>
                  </a:cubicBezTo>
                  <a:cubicBezTo>
                    <a:pt x="21477" y="4903"/>
                    <a:pt x="16697" y="123"/>
                    <a:pt x="10800" y="123"/>
                  </a:cubicBezTo>
                  <a:cubicBezTo>
                    <a:pt x="4903" y="123"/>
                    <a:pt x="123" y="4903"/>
                    <a:pt x="123" y="10800"/>
                  </a:cubicBezTo>
                  <a:close/>
                </a:path>
              </a:pathLst>
            </a:custGeom>
            <a:solidFill>
              <a:srgbClr val="CCCC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15368" name="Line 8"/>
            <p:cNvSpPr>
              <a:spLocks noChangeShapeType="1"/>
            </p:cNvSpPr>
            <p:nvPr/>
          </p:nvSpPr>
          <p:spPr bwMode="auto">
            <a:xfrm flipV="1">
              <a:off x="2533067" y="2905206"/>
              <a:ext cx="598317" cy="544557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77777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1400">
                <a:latin typeface="Helvetica" pitchFamily="34" charset="0"/>
              </a:endParaRPr>
            </a:p>
          </p:txBody>
        </p:sp>
        <p:sp>
          <p:nvSpPr>
            <p:cNvPr id="15371" name="Line 11"/>
            <p:cNvSpPr>
              <a:spLocks noChangeShapeType="1"/>
            </p:cNvSpPr>
            <p:nvPr/>
          </p:nvSpPr>
          <p:spPr bwMode="auto">
            <a:xfrm>
              <a:off x="1588358" y="2905206"/>
              <a:ext cx="627708" cy="576044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77777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1400">
                <a:latin typeface="Helvetica" pitchFamily="34" charset="0"/>
              </a:endParaRPr>
            </a:p>
          </p:txBody>
        </p:sp>
        <p:sp>
          <p:nvSpPr>
            <p:cNvPr id="25640" name="AutoShape 15"/>
            <p:cNvSpPr>
              <a:spLocks noChangeArrowheads="1"/>
            </p:cNvSpPr>
            <p:nvPr/>
          </p:nvSpPr>
          <p:spPr bwMode="auto">
            <a:xfrm>
              <a:off x="2147888" y="3386138"/>
              <a:ext cx="455612" cy="352425"/>
            </a:xfrm>
            <a:prstGeom prst="hexagon">
              <a:avLst>
                <a:gd name="adj" fmla="val 32320"/>
                <a:gd name="vf" fmla="val 115470"/>
              </a:avLst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400"/>
            </a:p>
          </p:txBody>
        </p:sp>
        <p:sp>
          <p:nvSpPr>
            <p:cNvPr id="15372" name="Line 12"/>
            <p:cNvSpPr>
              <a:spLocks noChangeShapeType="1"/>
            </p:cNvSpPr>
            <p:nvPr/>
          </p:nvSpPr>
          <p:spPr bwMode="auto">
            <a:xfrm flipV="1">
              <a:off x="2358822" y="2647745"/>
              <a:ext cx="0" cy="739042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77777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1400">
                <a:latin typeface="Helvetica" pitchFamily="34" charset="0"/>
              </a:endParaRPr>
            </a:p>
          </p:txBody>
        </p:sp>
        <p:sp>
          <p:nvSpPr>
            <p:cNvPr id="15366" name="Line 6"/>
            <p:cNvSpPr>
              <a:spLocks noChangeShapeType="1"/>
            </p:cNvSpPr>
            <p:nvPr/>
          </p:nvSpPr>
          <p:spPr bwMode="auto">
            <a:xfrm>
              <a:off x="2392411" y="3736858"/>
              <a:ext cx="0" cy="770529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77777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1400">
                <a:latin typeface="Helvetica" pitchFamily="34" charset="0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5010150" y="5108575"/>
            <a:ext cx="3878263" cy="5238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400" i="1" dirty="0">
                <a:solidFill>
                  <a:schemeClr val="accent5">
                    <a:lumMod val="50000"/>
                  </a:schemeClr>
                </a:solidFill>
                <a:latin typeface="Helvetica" pitchFamily="34" charset="0"/>
              </a:rPr>
              <a:t>Image courtesy of Chris Greer,</a:t>
            </a:r>
            <a:br>
              <a:rPr lang="en-US" sz="1400" i="1" dirty="0">
                <a:solidFill>
                  <a:schemeClr val="accent5">
                    <a:lumMod val="50000"/>
                  </a:schemeClr>
                </a:solidFill>
                <a:latin typeface="Helvetica" pitchFamily="34" charset="0"/>
              </a:rPr>
            </a:br>
            <a:r>
              <a:rPr lang="en-US" sz="1400" i="1" dirty="0">
                <a:solidFill>
                  <a:schemeClr val="accent5">
                    <a:lumMod val="50000"/>
                  </a:schemeClr>
                </a:solidFill>
                <a:latin typeface="Helvetica" pitchFamily="34" charset="0"/>
              </a:rPr>
              <a:t>October 2006</a:t>
            </a:r>
            <a:endParaRPr lang="en-US" sz="900" i="1" dirty="0">
              <a:solidFill>
                <a:schemeClr val="accent5">
                  <a:lumMod val="50000"/>
                </a:schemeClr>
              </a:solidFill>
              <a:latin typeface="Helvetica" pitchFamily="34" charset="0"/>
            </a:endParaRPr>
          </a:p>
        </p:txBody>
      </p:sp>
      <p:sp>
        <p:nvSpPr>
          <p:cNvPr id="25605" name="Content Placeholder 48"/>
          <p:cNvSpPr>
            <a:spLocks noGrp="1"/>
          </p:cNvSpPr>
          <p:nvPr>
            <p:ph idx="1"/>
          </p:nvPr>
        </p:nvSpPr>
        <p:spPr>
          <a:xfrm>
            <a:off x="263525" y="1530350"/>
            <a:ext cx="4344988" cy="2590800"/>
          </a:xfrm>
        </p:spPr>
        <p:txBody>
          <a:bodyPr/>
          <a:lstStyle/>
          <a:p>
            <a:pPr>
              <a:defRPr/>
            </a:pP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History:  </a:t>
            </a:r>
          </a:p>
          <a:p>
            <a:pPr lvl="1">
              <a:spcBef>
                <a:spcPts val="600"/>
              </a:spcBef>
              <a:defRPr/>
            </a:pPr>
            <a:r>
              <a:rPr lang="en-US" sz="1600" dirty="0" smtClean="0"/>
              <a:t>International </a:t>
            </a:r>
            <a:r>
              <a:rPr lang="en-US" sz="1600" b="1" dirty="0" smtClean="0">
                <a:solidFill>
                  <a:srgbClr val="FF0000"/>
                </a:solidFill>
              </a:rPr>
              <a:t>Blue Ribbon Task Force (BRTF-SDPA) </a:t>
            </a:r>
            <a:r>
              <a:rPr lang="en-US" sz="1600" dirty="0" smtClean="0"/>
              <a:t>initiated to study issues of economic sustainability of digital  preservation and access</a:t>
            </a:r>
          </a:p>
          <a:p>
            <a:pPr lvl="1">
              <a:spcBef>
                <a:spcPts val="600"/>
              </a:spcBef>
              <a:defRPr/>
            </a:pPr>
            <a:r>
              <a:rPr lang="en-US" sz="1600" dirty="0" smtClean="0"/>
              <a:t>Proposals developed during Spring-Summer 2007</a:t>
            </a:r>
          </a:p>
          <a:p>
            <a:pPr lvl="1">
              <a:spcBef>
                <a:spcPts val="600"/>
              </a:spcBef>
              <a:defRPr/>
            </a:pPr>
            <a:r>
              <a:rPr lang="en-US" sz="1600" dirty="0" smtClean="0"/>
              <a:t>BRTF-SDPA pre-planning took place Fall 2008</a:t>
            </a:r>
          </a:p>
          <a:p>
            <a:pPr lvl="1">
              <a:spcBef>
                <a:spcPts val="600"/>
              </a:spcBef>
              <a:defRPr/>
            </a:pPr>
            <a:r>
              <a:rPr lang="en-US" sz="1600" dirty="0" smtClean="0"/>
              <a:t>Kick-off meeting in DC held in January 2008</a:t>
            </a:r>
          </a:p>
          <a:p>
            <a:pPr>
              <a:spcBef>
                <a:spcPts val="1200"/>
              </a:spcBef>
              <a:defRPr/>
            </a:pP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Task Force meeting 2008-2009</a:t>
            </a:r>
          </a:p>
          <a:p>
            <a:pPr>
              <a:spcBef>
                <a:spcPts val="1200"/>
              </a:spcBef>
              <a:defRPr/>
            </a:pPr>
            <a:r>
              <a:rPr lang="en-US" sz="1800" b="1" dirty="0" smtClean="0">
                <a:solidFill>
                  <a:srgbClr val="FF0000"/>
                </a:solidFill>
              </a:rPr>
              <a:t>BRTF is an independent group who will report to the community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847725" y="288925"/>
            <a:ext cx="7594600" cy="1041400"/>
          </a:xfrm>
          <a:solidFill>
            <a:schemeClr val="bg1"/>
          </a:solidFill>
          <a:ln/>
        </p:spPr>
        <p:txBody>
          <a:bodyPr/>
          <a:lstStyle/>
          <a:p>
            <a:r>
              <a:rPr lang="en-US" smtClean="0"/>
              <a:t>BRTF-SDPA 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5109" y="1457298"/>
            <a:ext cx="8142288" cy="4562475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1800"/>
              </a:spcBef>
              <a:buFont typeface="+mj-lt"/>
              <a:buAutoNum type="arabicPeriod"/>
              <a:defRPr/>
            </a:pPr>
            <a:r>
              <a:rPr lang="en-US" dirty="0" smtClean="0">
                <a:latin typeface="Calibri" pitchFamily="34" charset="0"/>
              </a:rPr>
              <a:t>To conduct a 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</a:rPr>
              <a:t>comprehensive analysis of previous and current efforts </a:t>
            </a:r>
            <a:r>
              <a:rPr lang="en-US" dirty="0" smtClean="0">
                <a:latin typeface="Calibri" pitchFamily="34" charset="0"/>
              </a:rPr>
              <a:t>to develop and/or implement models for sustainable digital information preservation</a:t>
            </a:r>
            <a:endParaRPr lang="en-US" b="1" dirty="0" smtClean="0">
              <a:solidFill>
                <a:schemeClr val="tx2">
                  <a:lumMod val="75000"/>
                  <a:lumOff val="25000"/>
                </a:schemeClr>
              </a:solidFill>
              <a:latin typeface="Calibri" pitchFamily="34" charset="0"/>
            </a:endParaRPr>
          </a:p>
          <a:p>
            <a:pPr>
              <a:lnSpc>
                <a:spcPct val="114000"/>
              </a:lnSpc>
              <a:spcBef>
                <a:spcPts val="1800"/>
              </a:spcBef>
              <a:buFont typeface="+mj-lt"/>
              <a:buAutoNum type="arabicPeriod"/>
              <a:defRPr/>
            </a:pPr>
            <a:r>
              <a:rPr lang="en-US" dirty="0" smtClean="0">
                <a:latin typeface="Calibri" pitchFamily="34" charset="0"/>
              </a:rPr>
              <a:t>To identify and 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</a:rPr>
              <a:t>evaluate best practice </a:t>
            </a:r>
            <a:r>
              <a:rPr lang="en-US" dirty="0" smtClean="0">
                <a:latin typeface="Calibri" pitchFamily="34" charset="0"/>
              </a:rPr>
              <a:t>regarding sustainable digital preservation among existing collections, repositories, and analogous enterprises</a:t>
            </a:r>
          </a:p>
          <a:p>
            <a:pPr>
              <a:lnSpc>
                <a:spcPct val="114000"/>
              </a:lnSpc>
              <a:spcBef>
                <a:spcPts val="1800"/>
              </a:spcBef>
              <a:buFont typeface="+mj-lt"/>
              <a:buAutoNum type="arabicPeriod"/>
              <a:defRPr/>
            </a:pPr>
            <a:r>
              <a:rPr lang="en-US" dirty="0" smtClean="0">
                <a:latin typeface="Calibri" pitchFamily="34" charset="0"/>
              </a:rPr>
              <a:t>To 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</a:rPr>
              <a:t>make specific recommendations for actions </a:t>
            </a:r>
            <a:r>
              <a:rPr lang="en-US" dirty="0" smtClean="0">
                <a:latin typeface="Calibri" pitchFamily="34" charset="0"/>
              </a:rPr>
              <a:t>that will catalyze the development of sustainable resource strategies for the reliable preservation of digital information</a:t>
            </a:r>
            <a:endParaRPr lang="en-US" b="1" dirty="0" smtClean="0">
              <a:solidFill>
                <a:schemeClr val="tx2">
                  <a:lumMod val="75000"/>
                  <a:lumOff val="25000"/>
                </a:schemeClr>
              </a:solidFill>
              <a:latin typeface="Calibri" pitchFamily="34" charset="0"/>
            </a:endParaRPr>
          </a:p>
          <a:p>
            <a:pPr>
              <a:lnSpc>
                <a:spcPct val="114000"/>
              </a:lnSpc>
              <a:spcBef>
                <a:spcPts val="1800"/>
              </a:spcBef>
              <a:buFont typeface="+mj-lt"/>
              <a:buAutoNum type="arabicPeriod"/>
              <a:defRPr/>
            </a:pPr>
            <a:r>
              <a:rPr lang="en-US" dirty="0" smtClean="0">
                <a:latin typeface="Calibri" pitchFamily="34" charset="0"/>
              </a:rPr>
              <a:t>Provide a </a:t>
            </a:r>
            <a:r>
              <a:rPr lang="en-US" b="1" dirty="0" smtClean="0">
                <a:solidFill>
                  <a:srgbClr val="FF0000"/>
                </a:solidFill>
                <a:latin typeface="Calibri" pitchFamily="34" charset="0"/>
              </a:rPr>
              <a:t>research agenda </a:t>
            </a:r>
            <a:r>
              <a:rPr lang="en-US" dirty="0" smtClean="0">
                <a:latin typeface="Calibri" pitchFamily="34" charset="0"/>
              </a:rPr>
              <a:t>to organize and motivate future work.</a:t>
            </a:r>
            <a:r>
              <a:rPr lang="en-US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</a:rPr>
              <a:t> </a:t>
            </a:r>
            <a:endParaRPr lang="en-US" dirty="0" smtClean="0">
              <a:latin typeface="Calibri" pitchFamily="34" charset="0"/>
            </a:endParaRPr>
          </a:p>
          <a:p>
            <a:pPr>
              <a:spcBef>
                <a:spcPts val="1800"/>
              </a:spcBef>
              <a:defRPr/>
            </a:pPr>
            <a:endParaRPr lang="en-US" sz="1600" dirty="0" smtClean="0">
              <a:latin typeface="Calibri" pitchFamily="34" charset="0"/>
            </a:endParaRPr>
          </a:p>
          <a:p>
            <a:pPr>
              <a:defRPr/>
            </a:pPr>
            <a:endParaRPr lang="en-US" sz="1600" dirty="0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smtClean="0"/>
              <a:t>Scope of BRTF-SDPA</a:t>
            </a:r>
          </a:p>
        </p:txBody>
      </p:sp>
      <p:sp>
        <p:nvSpPr>
          <p:cNvPr id="29699" name="Rectangle 3"/>
          <p:cNvSpPr txBox="1">
            <a:spLocks noChangeArrowheads="1"/>
          </p:cNvSpPr>
          <p:nvPr/>
        </p:nvSpPr>
        <p:spPr bwMode="auto">
          <a:xfrm>
            <a:off x="592138" y="1676400"/>
            <a:ext cx="7772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FontTx/>
              <a:buChar char="•"/>
              <a:defRPr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BRTF focusing on economic sustainability of </a:t>
            </a:r>
            <a:r>
              <a:rPr lang="en-US" sz="1800" b="1" dirty="0">
                <a:solidFill>
                  <a:srgbClr val="FF0000"/>
                </a:solidFill>
                <a:latin typeface="Calibri" pitchFamily="34" charset="0"/>
              </a:rPr>
              <a:t>digital data for which there is a clear public interest</a:t>
            </a:r>
          </a:p>
          <a:p>
            <a:pPr marL="800100" lvl="1" indent="-342900">
              <a:spcBef>
                <a:spcPts val="1200"/>
              </a:spcBef>
              <a:buFontTx/>
              <a:buChar char="•"/>
              <a:defRPr/>
            </a:pPr>
            <a:r>
              <a:rPr lang="en-US" sz="1600" dirty="0">
                <a:latin typeface="Calibri" pitchFamily="34" charset="0"/>
              </a:rPr>
              <a:t>Materials may come from a variety of sectors and in a variety of forms (text, audio, video, website, scientific data set, e-journals, etc.)</a:t>
            </a:r>
          </a:p>
          <a:p>
            <a:pPr marL="342900" indent="-342900">
              <a:spcBef>
                <a:spcPts val="2400"/>
              </a:spcBef>
              <a:buFontTx/>
              <a:buChar char="•"/>
              <a:defRPr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Some of this data can/will be identified at its inception as data of long-term 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value; some will not: 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retention value 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will only become apparent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over time.</a:t>
            </a:r>
          </a:p>
          <a:p>
            <a:pPr marL="800100" lvl="1" indent="-342900">
              <a:spcBef>
                <a:spcPts val="1200"/>
              </a:spcBef>
              <a:buFontTx/>
              <a:buChar char="•"/>
              <a:defRPr/>
            </a:pPr>
            <a:r>
              <a:rPr lang="en-US" sz="1600" dirty="0">
                <a:latin typeface="Calibri" pitchFamily="34" charset="0"/>
              </a:rPr>
              <a:t>Economic sustainability models must be developed / </a:t>
            </a:r>
            <a:r>
              <a:rPr lang="en-US" sz="1600" dirty="0" smtClean="0">
                <a:latin typeface="Calibri" pitchFamily="34" charset="0"/>
              </a:rPr>
              <a:t>identified </a:t>
            </a:r>
            <a:r>
              <a:rPr lang="en-US" sz="1600" dirty="0">
                <a:latin typeface="Calibri" pitchFamily="34" charset="0"/>
              </a:rPr>
              <a:t>in the context of changing arrangements between multiple missions and models for various sectors</a:t>
            </a:r>
          </a:p>
          <a:p>
            <a:pPr marL="800100" lvl="1" indent="-342900">
              <a:spcBef>
                <a:spcPts val="1200"/>
              </a:spcBef>
              <a:buFontTx/>
              <a:buChar char="•"/>
              <a:defRPr/>
            </a:pPr>
            <a:r>
              <a:rPr lang="en-US" sz="1600" dirty="0">
                <a:latin typeface="Calibri" pitchFamily="34" charset="0"/>
              </a:rPr>
              <a:t>Target audiences and relevant domains may also vary over time</a:t>
            </a:r>
          </a:p>
          <a:p>
            <a:pPr marL="800100" lvl="1" indent="-342900">
              <a:spcBef>
                <a:spcPts val="1200"/>
              </a:spcBef>
              <a:buFontTx/>
              <a:buChar char="•"/>
              <a:defRPr/>
            </a:pPr>
            <a:r>
              <a:rPr lang="en-US" sz="1600" i="1" dirty="0">
                <a:latin typeface="Calibri" pitchFamily="34" charset="0"/>
              </a:rPr>
              <a:t>Key topic for consideration: </a:t>
            </a:r>
            <a:r>
              <a:rPr lang="en-US" sz="1600" dirty="0">
                <a:latin typeface="Calibri" pitchFamily="34" charset="0"/>
              </a:rPr>
              <a:t>transfer of preservation responsibilities and associated digital content from one party to another party (or sets of parties) based on trigger or milestone events and changes in perceptions of value.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smtClean="0"/>
              <a:t>BRTF-SDPA Participants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46088" y="1493838"/>
            <a:ext cx="4235450" cy="5364162"/>
          </a:xfrm>
          <a:solidFill>
            <a:schemeClr val="bg1"/>
          </a:solidFill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Blue Ribbon Task Force:</a:t>
            </a:r>
          </a:p>
          <a:p>
            <a:r>
              <a:rPr lang="en-US" sz="1300" dirty="0" smtClean="0"/>
              <a:t>Paul Ayris, University College London</a:t>
            </a:r>
          </a:p>
          <a:p>
            <a:r>
              <a:rPr lang="en-US" sz="1300" dirty="0" smtClean="0"/>
              <a:t>Fran Berman, SDSC/UCSD </a:t>
            </a:r>
          </a:p>
          <a:p>
            <a:r>
              <a:rPr lang="en-US" sz="1300" dirty="0" smtClean="0"/>
              <a:t>Bob Chadduck, NARA Liaison</a:t>
            </a:r>
          </a:p>
          <a:p>
            <a:r>
              <a:rPr lang="en-US" sz="1300" dirty="0" smtClean="0"/>
              <a:t>Sayeed Choudhury, Johns Hopkins University</a:t>
            </a:r>
          </a:p>
          <a:p>
            <a:r>
              <a:rPr lang="en-US" sz="1300" dirty="0" smtClean="0"/>
              <a:t>Elizabeth Cohen, AMPAS/Stanford</a:t>
            </a:r>
          </a:p>
          <a:p>
            <a:r>
              <a:rPr lang="en-US" sz="1300" dirty="0" smtClean="0"/>
              <a:t>Paul Courant, University of Michigan</a:t>
            </a:r>
          </a:p>
          <a:p>
            <a:r>
              <a:rPr lang="en-US" sz="1300" dirty="0" smtClean="0"/>
              <a:t>Lee Dirks, Microsoft</a:t>
            </a:r>
          </a:p>
          <a:p>
            <a:r>
              <a:rPr lang="en-US" sz="1300" dirty="0" smtClean="0"/>
              <a:t>Amy Friedlander, CLIR</a:t>
            </a:r>
          </a:p>
          <a:p>
            <a:r>
              <a:rPr lang="en-US" sz="1300" dirty="0" smtClean="0"/>
              <a:t>Chris Greer, NITRD Liaison</a:t>
            </a:r>
          </a:p>
          <a:p>
            <a:r>
              <a:rPr lang="en-US" sz="1300" dirty="0" smtClean="0"/>
              <a:t>Vijay Gurbaxani, UC Irvine</a:t>
            </a:r>
          </a:p>
          <a:p>
            <a:r>
              <a:rPr lang="en-US" sz="1300" dirty="0" smtClean="0"/>
              <a:t>Anita Jones, University of Virginia</a:t>
            </a:r>
          </a:p>
          <a:p>
            <a:r>
              <a:rPr lang="en-US" sz="1300" dirty="0" smtClean="0"/>
              <a:t>Ann Kerr, Consultant</a:t>
            </a:r>
          </a:p>
          <a:p>
            <a:r>
              <a:rPr lang="en-US" sz="1300" dirty="0" smtClean="0"/>
              <a:t>Brian Lavoie, OCLC </a:t>
            </a:r>
          </a:p>
          <a:p>
            <a:r>
              <a:rPr lang="en-US" sz="1300" dirty="0" smtClean="0"/>
              <a:t>Cliff Lynch, CNI</a:t>
            </a:r>
          </a:p>
          <a:p>
            <a:r>
              <a:rPr lang="en-US" sz="1300" dirty="0" smtClean="0"/>
              <a:t>Dan Rubinfeld, UC Berkeley</a:t>
            </a:r>
          </a:p>
          <a:p>
            <a:r>
              <a:rPr lang="en-US" sz="1300" dirty="0" smtClean="0"/>
              <a:t>Chris Rusbridge, DCC</a:t>
            </a:r>
          </a:p>
          <a:p>
            <a:r>
              <a:rPr lang="en-US" sz="1300" dirty="0" smtClean="0"/>
              <a:t>Roger </a:t>
            </a:r>
            <a:r>
              <a:rPr lang="en-US" sz="1300" dirty="0" err="1" smtClean="0"/>
              <a:t>Schonfeld</a:t>
            </a:r>
            <a:r>
              <a:rPr lang="en-US" sz="1300" dirty="0" smtClean="0"/>
              <a:t>, </a:t>
            </a:r>
            <a:r>
              <a:rPr lang="en-US" sz="1300" dirty="0" err="1" smtClean="0"/>
              <a:t>Ithaka</a:t>
            </a:r>
            <a:endParaRPr lang="en-US" sz="1300" dirty="0" smtClean="0"/>
          </a:p>
          <a:p>
            <a:r>
              <a:rPr lang="en-US" sz="1300" dirty="0" smtClean="0"/>
              <a:t>Abby Smith, Consultant</a:t>
            </a:r>
          </a:p>
          <a:p>
            <a:r>
              <a:rPr lang="en-US" sz="1300" dirty="0" smtClean="0"/>
              <a:t>Anne Van Camp, Smithsonian</a:t>
            </a:r>
          </a:p>
          <a:p>
            <a:endParaRPr lang="en-US" sz="1400" dirty="0" smtClean="0"/>
          </a:p>
        </p:txBody>
      </p:sp>
      <p:sp>
        <p:nvSpPr>
          <p:cNvPr id="27652" name="Content Placeholder 2"/>
          <p:cNvSpPr txBox="1">
            <a:spLocks/>
          </p:cNvSpPr>
          <p:nvPr/>
        </p:nvSpPr>
        <p:spPr bwMode="auto">
          <a:xfrm>
            <a:off x="4462463" y="1493838"/>
            <a:ext cx="4418012" cy="5364162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</a:rPr>
              <a:t>Sponsoring Agencies/Institutions: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National Science Foundation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Mellon Foundation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Library of Congress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National Archives and Records Administration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CLIR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NITRD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JISC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Member institutions</a:t>
            </a:r>
            <a:endParaRPr lang="en-US" sz="1400" dirty="0">
              <a:latin typeface="Calibri" pitchFamily="34" charset="0"/>
            </a:endParaRPr>
          </a:p>
          <a:p>
            <a:pPr marL="342900" indent="-342900" eaLnBrk="0" hangingPunct="0">
              <a:spcBef>
                <a:spcPts val="1200"/>
              </a:spcBef>
              <a:buClr>
                <a:schemeClr val="accent1"/>
              </a:buClr>
            </a:pPr>
            <a:r>
              <a:rPr lang="en-US" sz="1400" b="1" dirty="0">
                <a:solidFill>
                  <a:srgbClr val="FF0000"/>
                </a:solidFill>
                <a:latin typeface="Calibri" pitchFamily="34" charset="0"/>
              </a:rPr>
              <a:t>Specific Responsibilities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Fran Berman / co-Chair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Amy Friedlander / First Report Editor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Ann Kerr / January Panel </a:t>
            </a:r>
            <a:r>
              <a:rPr lang="en-US" sz="1300" dirty="0" err="1">
                <a:latin typeface="Calibri" pitchFamily="34" charset="0"/>
              </a:rPr>
              <a:t>Rapporteur</a:t>
            </a:r>
            <a:endParaRPr lang="en-US" sz="1300" dirty="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Brian Lavoie / co-Chair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Susan Rathbun / Task Force Support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Abby Smith / Second Report Editor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Jan Zverina / Communications Lead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Lucy Nowell / NSF Program Officer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Don Waters / Mellon Program Officer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300" dirty="0">
                <a:latin typeface="Calibri" pitchFamily="34" charset="0"/>
              </a:rPr>
              <a:t>Laura Campbell, Martha Anderson / LC representative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</a:pPr>
            <a:endParaRPr lang="en-US" sz="12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46089" y="471488"/>
            <a:ext cx="5367354" cy="915987"/>
          </a:xfrm>
          <a:ln/>
        </p:spPr>
        <p:txBody>
          <a:bodyPr/>
          <a:lstStyle/>
          <a:p>
            <a:pPr eaLnBrk="1" hangingPunct="1"/>
            <a:r>
              <a:rPr lang="en-US" dirty="0" smtClean="0"/>
              <a:t>BRTF Deliverables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519113" y="1603375"/>
            <a:ext cx="8069317" cy="4843463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sz="2400" b="1" dirty="0" smtClean="0">
                <a:solidFill>
                  <a:srgbClr val="FF0000"/>
                </a:solidFill>
              </a:rPr>
              <a:t>First Year (2008) Report </a:t>
            </a:r>
            <a:r>
              <a:rPr lang="en-US" sz="2400" b="1" dirty="0" smtClean="0">
                <a:solidFill>
                  <a:srgbClr val="376092"/>
                </a:solidFill>
              </a:rPr>
              <a:t>(positive, “what is”):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1600" dirty="0" smtClean="0"/>
              <a:t>Describe past and current models of economic sustainability for digital preservation (interviews, testimony, case studies, etc.);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1600" dirty="0" smtClean="0"/>
              <a:t>Identify points of convergence/divergence; “lessons learned”;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1600" dirty="0" smtClean="0"/>
              <a:t>What we know so far, and what our key knowledge gaps are.</a:t>
            </a:r>
          </a:p>
          <a:p>
            <a:pPr eaLnBrk="1" hangingPunct="1">
              <a:spcBef>
                <a:spcPts val="3000"/>
              </a:spcBef>
            </a:pPr>
            <a:r>
              <a:rPr lang="en-US" sz="2400" b="1" dirty="0" smtClean="0">
                <a:solidFill>
                  <a:srgbClr val="FF0000"/>
                </a:solidFill>
              </a:rPr>
              <a:t>Second Year (2009) Report </a:t>
            </a:r>
            <a:r>
              <a:rPr lang="en-US" sz="2400" b="1" dirty="0" smtClean="0">
                <a:solidFill>
                  <a:srgbClr val="376092"/>
                </a:solidFill>
              </a:rPr>
              <a:t>(normative, “what should be”):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1600" dirty="0" smtClean="0"/>
              <a:t>General cost framework: key cost categories of digital preservation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1600" dirty="0" smtClean="0"/>
              <a:t>Set of economic models/“scenarios”: alternate ways of organizing digital preservation activities, within the context of the cost framework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1600" dirty="0" smtClean="0"/>
              <a:t>Describe each model: features, pros, cons, trade-offs, etc.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1600" dirty="0" smtClean="0"/>
              <a:t>List real world conditions for which each model is best suited. </a:t>
            </a:r>
          </a:p>
          <a:p>
            <a:pPr lvl="2" eaLnBrk="1" hangingPunct="1">
              <a:spcBef>
                <a:spcPts val="600"/>
              </a:spcBef>
            </a:pPr>
            <a:r>
              <a:rPr lang="en-US" sz="1600" dirty="0" smtClean="0"/>
              <a:t>“If your digital preservation context is X, we recommend you consider using model Y to organize your activities in a sustainable way.”</a:t>
            </a:r>
          </a:p>
          <a:p>
            <a:pPr lvl="2" eaLnBrk="1" hangingPunct="1">
              <a:buFontTx/>
              <a:buNone/>
            </a:pPr>
            <a:endParaRPr lang="en-US" sz="1800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5959494" y="398421"/>
            <a:ext cx="2921040" cy="2921041"/>
            <a:chOff x="5703903" y="2370123"/>
            <a:chExt cx="2921040" cy="2921041"/>
          </a:xfrm>
        </p:grpSpPr>
        <p:sp>
          <p:nvSpPr>
            <p:cNvPr id="5" name="Oval 4"/>
            <p:cNvSpPr/>
            <p:nvPr/>
          </p:nvSpPr>
          <p:spPr>
            <a:xfrm>
              <a:off x="6142059" y="2808279"/>
              <a:ext cx="2081241" cy="1935189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&quot;No&quot; Symbol 3"/>
            <p:cNvSpPr/>
            <p:nvPr/>
          </p:nvSpPr>
          <p:spPr>
            <a:xfrm>
              <a:off x="5703903" y="2370123"/>
              <a:ext cx="2921040" cy="2921041"/>
            </a:xfrm>
            <a:prstGeom prst="noSmoking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</a:rPr>
                <a:t>Goal is to go beyond the “</a:t>
              </a:r>
              <a:r>
                <a:rPr lang="en-US" sz="1400" b="1" dirty="0" smtClean="0">
                  <a:solidFill>
                    <a:srgbClr val="FFFF00"/>
                  </a:solidFill>
                  <a:latin typeface="Calibri" pitchFamily="34" charset="0"/>
                </a:rPr>
                <a:t>3 R’s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</a:rPr>
                <a:t>”:</a:t>
              </a:r>
            </a:p>
            <a:p>
              <a:pPr marL="457200" indent="-457200">
                <a:spcBef>
                  <a:spcPts val="600"/>
                </a:spcBef>
                <a:buFont typeface="+mj-lt"/>
                <a:buAutoNum type="arabicPeriod"/>
              </a:pP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</a:rPr>
                <a:t>Data preservation is </a:t>
              </a:r>
              <a:r>
                <a:rPr lang="en-US" sz="1400" b="1" dirty="0" smtClean="0">
                  <a:solidFill>
                    <a:srgbClr val="FFFF00"/>
                  </a:solidFill>
                  <a:latin typeface="Calibri" pitchFamily="34" charset="0"/>
                </a:rPr>
                <a:t>Really</a:t>
              </a:r>
              <a:r>
                <a:rPr lang="en-US" sz="1400" b="1" dirty="0" smtClean="0">
                  <a:solidFill>
                    <a:schemeClr val="bg1"/>
                  </a:solidFill>
                  <a:latin typeface="Calibri" pitchFamily="34" charset="0"/>
                </a:rPr>
                <a:t> 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</a:rPr>
                <a:t>important</a:t>
              </a:r>
            </a:p>
            <a:p>
              <a:pPr marL="457200" indent="-457200">
                <a:spcBef>
                  <a:spcPts val="600"/>
                </a:spcBef>
                <a:buFont typeface="+mj-lt"/>
                <a:buAutoNum type="arabicPeriod"/>
              </a:pP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</a:rPr>
                <a:t>More </a:t>
              </a:r>
              <a:r>
                <a:rPr lang="en-US" sz="1400" b="1" dirty="0" smtClean="0">
                  <a:solidFill>
                    <a:srgbClr val="FFFF00"/>
                  </a:solidFill>
                  <a:latin typeface="Calibri" pitchFamily="34" charset="0"/>
                </a:rPr>
                <a:t>Research 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</a:rPr>
                <a:t>is needed.</a:t>
              </a:r>
            </a:p>
            <a:p>
              <a:pPr marL="457200" indent="-457200">
                <a:spcBef>
                  <a:spcPts val="600"/>
                </a:spcBef>
                <a:buFont typeface="+mj-lt"/>
                <a:buAutoNum type="arabicPeriod"/>
              </a:pP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</a:rPr>
                <a:t>More </a:t>
              </a:r>
              <a:r>
                <a:rPr lang="en-US" sz="1400" b="1" dirty="0" smtClean="0">
                  <a:solidFill>
                    <a:srgbClr val="FFFF00"/>
                  </a:solidFill>
                  <a:latin typeface="Calibri" pitchFamily="34" charset="0"/>
                </a:rPr>
                <a:t>Resources 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</a:rPr>
                <a:t>are needed.</a:t>
              </a:r>
              <a:endParaRPr lang="en-US" sz="1400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031" y="1530324"/>
            <a:ext cx="8215425" cy="1825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 smtClean="0"/>
              <a:t>BRTF-SDPA Working Definition of </a:t>
            </a:r>
            <a:br>
              <a:rPr lang="en-US" dirty="0" smtClean="0"/>
            </a:br>
            <a:r>
              <a:rPr lang="en-US" dirty="0" smtClean="0"/>
              <a:t>Economic Sustainability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46088" y="1566863"/>
            <a:ext cx="8288337" cy="4573587"/>
          </a:xfrm>
        </p:spPr>
        <p:txBody>
          <a:bodyPr/>
          <a:lstStyle/>
          <a:p>
            <a:pPr>
              <a:defRPr/>
            </a:pPr>
            <a:r>
              <a:rPr lang="en-US" sz="1600" b="1" dirty="0" smtClean="0">
                <a:solidFill>
                  <a:srgbClr val="FF0000"/>
                </a:solidFill>
              </a:rPr>
              <a:t>Economic sustainability in a digital preservation context:  </a:t>
            </a:r>
            <a:r>
              <a:rPr lang="en-US" sz="1600" i="1" dirty="0" smtClean="0"/>
              <a:t>The set of business, social, technological, and policy mechanisms that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i="1" dirty="0" smtClean="0"/>
              <a:t>Encourage the gathering of important information assets into digital preservation systems, and 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1600" i="1" dirty="0" smtClean="0"/>
              <a:t>Support the indefinite persistence of the digital preservation systems, thus securing access to and use of the information assets into the long-term future</a:t>
            </a:r>
          </a:p>
          <a:p>
            <a:pPr marL="457200" indent="-457200">
              <a:spcBef>
                <a:spcPts val="2400"/>
              </a:spcBef>
              <a:defRPr/>
            </a:pP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</a:rPr>
              <a:t>Economically sustainable digital preservation requires</a:t>
            </a:r>
          </a:p>
          <a:p>
            <a:pPr marL="857250" lvl="1" indent="-457200">
              <a:spcBef>
                <a:spcPts val="600"/>
              </a:spcBef>
              <a:defRPr/>
            </a:pPr>
            <a:r>
              <a:rPr lang="en-US" sz="1600" b="1" dirty="0" smtClean="0">
                <a:solidFill>
                  <a:srgbClr val="FF0000"/>
                </a:solidFill>
              </a:rPr>
              <a:t>Recognition</a:t>
            </a:r>
            <a:r>
              <a:rPr lang="en-US" sz="1600" dirty="0" smtClean="0"/>
              <a:t> of the benefits of preservation on the part of key decision-makers, as part of a process of selecting digital materials for long-term retention;</a:t>
            </a:r>
          </a:p>
          <a:p>
            <a:pPr marL="857250" lvl="1" indent="-457200">
              <a:spcBef>
                <a:spcPts val="600"/>
              </a:spcBef>
              <a:defRPr/>
            </a:pPr>
            <a:r>
              <a:rPr lang="en-US" sz="1600" dirty="0" smtClean="0"/>
              <a:t>Appropriate</a:t>
            </a:r>
            <a:r>
              <a:rPr lang="en-US" sz="1600" b="1" dirty="0" smtClean="0">
                <a:solidFill>
                  <a:srgbClr val="FF0000"/>
                </a:solidFill>
              </a:rPr>
              <a:t> incentives </a:t>
            </a:r>
            <a:r>
              <a:rPr lang="en-US" sz="1600" dirty="0" smtClean="0"/>
              <a:t>to induce decision-makers to act in the public interest;</a:t>
            </a:r>
          </a:p>
          <a:p>
            <a:pPr marL="857250" lvl="1" indent="-457200">
              <a:spcBef>
                <a:spcPts val="600"/>
              </a:spcBef>
              <a:defRPr/>
            </a:pPr>
            <a:r>
              <a:rPr lang="en-US" sz="1600" b="1" dirty="0" smtClean="0">
                <a:solidFill>
                  <a:srgbClr val="FF0000"/>
                </a:solidFill>
              </a:rPr>
              <a:t>Mechanisms</a:t>
            </a:r>
            <a:r>
              <a:rPr lang="en-US" sz="1600" dirty="0" smtClean="0"/>
              <a:t> to secure an ongoing allocation of resources, both within and across organizations, to digital preservation activities;</a:t>
            </a:r>
          </a:p>
          <a:p>
            <a:pPr marL="857250" lvl="1" indent="-457200">
              <a:spcBef>
                <a:spcPts val="600"/>
              </a:spcBef>
              <a:defRPr/>
            </a:pPr>
            <a:r>
              <a:rPr lang="en-US" sz="1600" b="1" dirty="0" smtClean="0">
                <a:solidFill>
                  <a:srgbClr val="FF0000"/>
                </a:solidFill>
              </a:rPr>
              <a:t>Efficient use</a:t>
            </a:r>
            <a:r>
              <a:rPr lang="en-US" sz="1600" dirty="0" smtClean="0"/>
              <a:t> of limited preservation resources;</a:t>
            </a:r>
          </a:p>
          <a:p>
            <a:pPr marL="857250" lvl="1" indent="-457200">
              <a:spcBef>
                <a:spcPts val="600"/>
              </a:spcBef>
              <a:defRPr/>
            </a:pPr>
            <a:r>
              <a:rPr lang="en-US" sz="1600" dirty="0" smtClean="0"/>
              <a:t>Appropriate </a:t>
            </a:r>
            <a:r>
              <a:rPr lang="en-US" sz="1600" b="1" dirty="0" smtClean="0">
                <a:solidFill>
                  <a:srgbClr val="FF0000"/>
                </a:solidFill>
              </a:rPr>
              <a:t>organization and governance </a:t>
            </a:r>
            <a:r>
              <a:rPr lang="en-US" sz="1600" dirty="0" smtClean="0"/>
              <a:t>of digital preservation activities.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smtClean="0"/>
              <a:t>Challenges in Developing an Economic Model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665163" y="1603375"/>
            <a:ext cx="8012112" cy="4573588"/>
          </a:xfrm>
        </p:spPr>
        <p:txBody>
          <a:bodyPr/>
          <a:lstStyle/>
          <a:p>
            <a:pPr>
              <a:spcBef>
                <a:spcPts val="1800"/>
              </a:spcBef>
              <a:defRPr/>
            </a:pPr>
            <a:r>
              <a:rPr lang="en-US" dirty="0" smtClean="0">
                <a:solidFill>
                  <a:srgbClr val="FF0000"/>
                </a:solidFill>
              </a:rPr>
              <a:t>Difficult to compare and contrast different studies given diverse definitions of costs, units of measurement, scope or accounting methods</a:t>
            </a:r>
          </a:p>
          <a:p>
            <a:pPr>
              <a:spcBef>
                <a:spcPts val="1800"/>
              </a:spcBef>
              <a:defRPr/>
            </a:pPr>
            <a:r>
              <a:rPr lang="en-US" dirty="0" smtClean="0"/>
              <a:t>Need to include costs associated with 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 smtClean="0"/>
              <a:t>human dimensions (e.g., management) 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 smtClean="0"/>
              <a:t>infrastructure elements of storage (e.g., power and cooling) </a:t>
            </a:r>
          </a:p>
          <a:p>
            <a:pPr lvl="1">
              <a:spcBef>
                <a:spcPts val="600"/>
              </a:spcBef>
              <a:defRPr/>
            </a:pPr>
            <a:r>
              <a:rPr lang="en-US" dirty="0" smtClean="0"/>
              <a:t>data characteristics (e.g. size, format, type)</a:t>
            </a:r>
          </a:p>
          <a:p>
            <a:pPr>
              <a:spcBef>
                <a:spcPts val="1800"/>
              </a:spcBef>
              <a:defRPr/>
            </a:pPr>
            <a:r>
              <a:rPr lang="en-US" b="1" i="1" dirty="0" smtClean="0">
                <a:solidFill>
                  <a:schemeClr val="accent1">
                    <a:lumMod val="75000"/>
                  </a:schemeClr>
                </a:solidFill>
              </a:rPr>
              <a:t>Key related work: </a:t>
            </a:r>
            <a:r>
              <a:rPr lang="en-US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smtClean="0"/>
              <a:t>relevant and related recent studies focusing on various “parts of the elephant” (e.g. LIFE, BL cost models which focus on entire life-cycle of costs as well as inter-temporal considerations (e.g., inflation/deflation, interest rates))</a:t>
            </a:r>
          </a:p>
          <a:p>
            <a:pPr>
              <a:spcBef>
                <a:spcPts val="1800"/>
              </a:spcBef>
              <a:defRPr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sz="2000" dirty="0" smtClean="0">
                <a:solidFill>
                  <a:srgbClr val="FF0000"/>
                </a:solidFill>
              </a:rPr>
              <a:t>Year 1 Deliverable:  </a:t>
            </a:r>
            <a:r>
              <a:rPr lang="en-US" sz="2000" dirty="0" smtClean="0"/>
              <a:t>Report which describes Current and Best Practices for Economic Sustainability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>
                <a:solidFill>
                  <a:srgbClr val="FF0000"/>
                </a:solidFill>
              </a:rPr>
              <a:t>2008 Report will focus on</a:t>
            </a:r>
          </a:p>
          <a:p>
            <a:pPr lvl="1">
              <a:defRPr/>
            </a:pPr>
            <a:r>
              <a:rPr lang="en-US" dirty="0" smtClean="0"/>
              <a:t>Key issues for economic sustainability of digital preservation and access</a:t>
            </a:r>
          </a:p>
          <a:p>
            <a:pPr lvl="1">
              <a:defRPr/>
            </a:pPr>
            <a:r>
              <a:rPr lang="en-US" dirty="0" smtClean="0"/>
              <a:t>Key concepts and terminology</a:t>
            </a:r>
          </a:p>
          <a:p>
            <a:pPr lvl="1">
              <a:defRPr/>
            </a:pPr>
            <a:r>
              <a:rPr lang="en-US" dirty="0" smtClean="0"/>
              <a:t>Relevant literature</a:t>
            </a:r>
          </a:p>
          <a:p>
            <a:pPr lvl="1">
              <a:defRPr/>
            </a:pPr>
            <a:r>
              <a:rPr lang="en-US" dirty="0" smtClean="0"/>
              <a:t>Compilation and analysis of evidence on existing efforts to implement economically sustainable digital preservation activities</a:t>
            </a:r>
          </a:p>
          <a:p>
            <a:pPr>
              <a:spcBef>
                <a:spcPts val="1200"/>
              </a:spcBef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The purpose is to provide a thorough survey of the problem space as it exists today,</a:t>
            </a:r>
            <a:r>
              <a:rPr lang="en-US" dirty="0" smtClean="0"/>
              <a:t> which in turn will provide context for and inform the work of BRTF in the second year.   </a:t>
            </a:r>
          </a:p>
          <a:p>
            <a:pPr>
              <a:spcBef>
                <a:spcPts val="1200"/>
              </a:spcBef>
              <a:defRPr/>
            </a:pPr>
            <a:r>
              <a:rPr lang="en-US" b="1" dirty="0" smtClean="0">
                <a:solidFill>
                  <a:srgbClr val="0070C0"/>
                </a:solidFill>
              </a:rPr>
              <a:t>BRTF Year 1 Report is currently being drafted by Task Force members and Editor Amy Friedlander.  Due out by January 2009.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2"/>
          <p:cNvSpPr>
            <a:spLocks noGrp="1"/>
          </p:cNvSpPr>
          <p:nvPr>
            <p:ph type="title"/>
          </p:nvPr>
        </p:nvSpPr>
        <p:spPr>
          <a:xfrm>
            <a:off x="446088" y="252413"/>
            <a:ext cx="8231187" cy="1204912"/>
          </a:xfrm>
          <a:ln/>
        </p:spPr>
        <p:txBody>
          <a:bodyPr/>
          <a:lstStyle/>
          <a:p>
            <a:r>
              <a:rPr lang="en-US" sz="1800" dirty="0" smtClean="0">
                <a:solidFill>
                  <a:srgbClr val="FF0000"/>
                </a:solidFill>
              </a:rPr>
              <a:t>What We’d Like to Know from the Community:  </a:t>
            </a:r>
            <a:r>
              <a:rPr lang="en-US" sz="1800" dirty="0" smtClean="0"/>
              <a:t>Questions on Economic Sustainability for Digital Preservation</a:t>
            </a:r>
          </a:p>
        </p:txBody>
      </p:sp>
      <p:sp>
        <p:nvSpPr>
          <p:cNvPr id="33795" name="Content Placeholder 3"/>
          <p:cNvSpPr>
            <a:spLocks noGrp="1"/>
          </p:cNvSpPr>
          <p:nvPr>
            <p:ph idx="1"/>
          </p:nvPr>
        </p:nvSpPr>
        <p:spPr>
          <a:xfrm>
            <a:off x="190440" y="1603375"/>
            <a:ext cx="3841740" cy="5254625"/>
          </a:xfrm>
          <a:solidFill>
            <a:schemeClr val="bg1"/>
          </a:solidFill>
        </p:spPr>
        <p:txBody>
          <a:bodyPr/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What is the nature of the digital materials being preserved</a:t>
            </a:r>
            <a:r>
              <a:rPr lang="en-US" sz="1400" b="1" dirty="0" smtClean="0"/>
              <a:t> </a:t>
            </a:r>
          </a:p>
          <a:p>
            <a:pPr lvl="1"/>
            <a:r>
              <a:rPr lang="en-US" sz="1400" dirty="0" smtClean="0"/>
              <a:t>source(s), content, volume, format, copyright restrictions, frequency of </a:t>
            </a:r>
            <a:br>
              <a:rPr lang="en-US" sz="1400" dirty="0" smtClean="0"/>
            </a:br>
            <a:r>
              <a:rPr lang="en-US" sz="1400" dirty="0" smtClean="0"/>
              <a:t>use … ?</a:t>
            </a:r>
          </a:p>
          <a:p>
            <a:pPr>
              <a:spcBef>
                <a:spcPts val="1800"/>
              </a:spcBef>
            </a:pPr>
            <a:r>
              <a:rPr lang="en-US" sz="1400" b="1" dirty="0" smtClean="0">
                <a:solidFill>
                  <a:srgbClr val="FF0000"/>
                </a:solidFill>
              </a:rPr>
              <a:t>Who are the stakeholders for these materials?</a:t>
            </a:r>
            <a:r>
              <a:rPr lang="en-US" sz="1400" b="1" dirty="0" smtClean="0"/>
              <a:t> </a:t>
            </a:r>
            <a:endParaRPr lang="en-US" sz="1400" dirty="0" smtClean="0"/>
          </a:p>
          <a:p>
            <a:pPr lvl="1">
              <a:spcBef>
                <a:spcPts val="600"/>
              </a:spcBef>
            </a:pPr>
            <a:r>
              <a:rPr lang="en-US" sz="1400" dirty="0" smtClean="0"/>
              <a:t>Who benefits from the preservation of the target materials?</a:t>
            </a:r>
          </a:p>
          <a:p>
            <a:pPr>
              <a:spcBef>
                <a:spcPts val="1800"/>
              </a:spcBef>
            </a:pPr>
            <a:r>
              <a:rPr lang="en-US" sz="1400" b="1" dirty="0" smtClean="0">
                <a:solidFill>
                  <a:srgbClr val="FF0000"/>
                </a:solidFill>
              </a:rPr>
              <a:t>What is the “value proposition” for this preservation effort?</a:t>
            </a:r>
            <a:endParaRPr lang="en-US" sz="1400" dirty="0" smtClean="0">
              <a:solidFill>
                <a:srgbClr val="FF0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sz="1400" dirty="0" smtClean="0"/>
              <a:t>Why are stakeholders interested in the long-term preservation of the materials? </a:t>
            </a:r>
          </a:p>
          <a:p>
            <a:pPr lvl="1">
              <a:spcBef>
                <a:spcPts val="600"/>
              </a:spcBef>
            </a:pPr>
            <a:r>
              <a:rPr lang="en-US" sz="1400" dirty="0" smtClean="0"/>
              <a:t>What are the anticipated future uses of the materials?</a:t>
            </a:r>
          </a:p>
          <a:p>
            <a:pPr lvl="1">
              <a:spcBef>
                <a:spcPts val="600"/>
              </a:spcBef>
            </a:pPr>
            <a:r>
              <a:rPr lang="en-US" sz="1400" dirty="0" smtClean="0"/>
              <a:t> Is the “value proposition” perpetual, or does it expire within a finite time frame</a:t>
            </a:r>
            <a:r>
              <a:rPr lang="en-US" sz="1400" i="1" dirty="0" smtClean="0"/>
              <a:t>?</a:t>
            </a:r>
          </a:p>
        </p:txBody>
      </p:sp>
      <p:sp>
        <p:nvSpPr>
          <p:cNvPr id="6" name="Content Placeholder 3"/>
          <p:cNvSpPr txBox="1">
            <a:spLocks/>
          </p:cNvSpPr>
          <p:nvPr/>
        </p:nvSpPr>
        <p:spPr bwMode="auto">
          <a:xfrm>
            <a:off x="3987792" y="1603374"/>
            <a:ext cx="4929255" cy="5254625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en-US" sz="1400" b="1" kern="0" dirty="0">
                <a:solidFill>
                  <a:srgbClr val="FF0000"/>
                </a:solidFill>
                <a:latin typeface="Calibri" pitchFamily="34" charset="0"/>
                <a:cs typeface="ＭＳ Ｐゴシック" pitchFamily="-112" charset="-128"/>
              </a:rPr>
              <a:t>What are the key features of long-term preservation for these materials?</a:t>
            </a:r>
            <a:endParaRPr lang="en-US" sz="1400" kern="0" dirty="0">
              <a:solidFill>
                <a:srgbClr val="FF0000"/>
              </a:solidFill>
              <a:latin typeface="Calibri" pitchFamily="34" charset="0"/>
              <a:cs typeface="ＭＳ Ｐゴシック" pitchFamily="-112" charset="-128"/>
            </a:endParaRPr>
          </a:p>
          <a:p>
            <a:pPr marL="742950" lvl="1" indent="-285750" eaLnBrk="0" hangingPunct="0">
              <a:spcBef>
                <a:spcPts val="600"/>
              </a:spcBef>
              <a:buClr>
                <a:schemeClr val="tx1"/>
              </a:buClr>
              <a:buSzPct val="80000"/>
              <a:buFontTx/>
              <a:buChar char="•"/>
              <a:defRPr/>
            </a:pPr>
            <a:r>
              <a:rPr lang="en-US" sz="1400" kern="0" dirty="0">
                <a:latin typeface="Calibri" pitchFamily="34" charset="0"/>
              </a:rPr>
              <a:t>What are the elements of “successful preservation” </a:t>
            </a:r>
            <a:r>
              <a:rPr lang="en-US" sz="1400" kern="0" dirty="0" smtClean="0">
                <a:latin typeface="Calibri" pitchFamily="34" charset="0"/>
              </a:rPr>
              <a:t>:  Bit </a:t>
            </a:r>
            <a:r>
              <a:rPr lang="en-US" sz="1400" kern="0" dirty="0">
                <a:latin typeface="Calibri" pitchFamily="34" charset="0"/>
              </a:rPr>
              <a:t>preservation only? Format migration? Rich description/documentation with metadata? </a:t>
            </a:r>
          </a:p>
          <a:p>
            <a:pPr marL="742950" lvl="1" indent="-285750" eaLnBrk="0" hangingPunct="0">
              <a:spcBef>
                <a:spcPts val="600"/>
              </a:spcBef>
              <a:buClr>
                <a:schemeClr val="tx1"/>
              </a:buClr>
              <a:buSzPct val="80000"/>
              <a:buFontTx/>
              <a:buChar char="•"/>
              <a:defRPr/>
            </a:pPr>
            <a:r>
              <a:rPr lang="en-US" sz="1400" kern="0" dirty="0">
                <a:latin typeface="Calibri" pitchFamily="34" charset="0"/>
              </a:rPr>
              <a:t>What are the key features of a preservation service that would meet the preservation requirements of the stakeholder community.</a:t>
            </a:r>
          </a:p>
          <a:p>
            <a:pPr marL="342900" indent="-342900" eaLnBrk="0" hangingPunct="0">
              <a:spcBef>
                <a:spcPts val="18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en-US" sz="1400" b="1" kern="0" dirty="0">
                <a:solidFill>
                  <a:srgbClr val="FF0000"/>
                </a:solidFill>
                <a:latin typeface="Calibri" pitchFamily="34" charset="0"/>
                <a:cs typeface="ＭＳ Ｐゴシック" pitchFamily="-112" charset="-128"/>
              </a:rPr>
              <a:t>What are the “economic aspects” of digital preservation?</a:t>
            </a:r>
            <a:endParaRPr lang="en-US" sz="1400" kern="0" dirty="0">
              <a:solidFill>
                <a:srgbClr val="FF0000"/>
              </a:solidFill>
              <a:latin typeface="Calibri" pitchFamily="34" charset="0"/>
              <a:cs typeface="ＭＳ Ｐゴシック" pitchFamily="-112" charset="-128"/>
            </a:endParaRPr>
          </a:p>
          <a:p>
            <a:pPr marL="742950" lvl="1" indent="-285750" eaLnBrk="0" hangingPunct="0">
              <a:spcBef>
                <a:spcPts val="600"/>
              </a:spcBef>
              <a:buClr>
                <a:schemeClr val="tx1"/>
              </a:buClr>
              <a:buSzPct val="80000"/>
              <a:buFontTx/>
              <a:buChar char="•"/>
              <a:defRPr/>
            </a:pPr>
            <a:r>
              <a:rPr lang="en-US" sz="1400" kern="0" dirty="0">
                <a:latin typeface="Calibri" pitchFamily="34" charset="0"/>
              </a:rPr>
              <a:t>Given </a:t>
            </a:r>
            <a:r>
              <a:rPr lang="en-US" sz="1400" kern="0" dirty="0" smtClean="0">
                <a:latin typeface="Calibri" pitchFamily="34" charset="0"/>
              </a:rPr>
              <a:t>preservation </a:t>
            </a:r>
            <a:r>
              <a:rPr lang="en-US" sz="1400" kern="0" dirty="0">
                <a:latin typeface="Calibri" pitchFamily="34" charset="0"/>
              </a:rPr>
              <a:t>requirements for the materials, what are the key cost categories associated with a preservation strategy aimed at meeting these requirements? </a:t>
            </a:r>
          </a:p>
          <a:p>
            <a:pPr marL="742950" lvl="1" indent="-285750" eaLnBrk="0" hangingPunct="0">
              <a:spcBef>
                <a:spcPts val="600"/>
              </a:spcBef>
              <a:buClr>
                <a:schemeClr val="tx1"/>
              </a:buClr>
              <a:buSzPct val="80000"/>
              <a:buFontTx/>
              <a:buChar char="•"/>
              <a:defRPr/>
            </a:pPr>
            <a:r>
              <a:rPr lang="en-US" sz="1400" kern="0" dirty="0">
                <a:latin typeface="Calibri" pitchFamily="34" charset="0"/>
              </a:rPr>
              <a:t>Does the organization responsible for preservation also have a stake in the ongoing availability of the materials, or is it performing a “service for hire”?</a:t>
            </a:r>
          </a:p>
          <a:p>
            <a:pPr marL="742950" lvl="1" indent="-285750" eaLnBrk="0" hangingPunct="0">
              <a:spcBef>
                <a:spcPts val="600"/>
              </a:spcBef>
              <a:buClr>
                <a:schemeClr val="tx1"/>
              </a:buClr>
              <a:buSzPct val="80000"/>
              <a:buFontTx/>
              <a:buChar char="•"/>
              <a:defRPr/>
            </a:pPr>
            <a:r>
              <a:rPr lang="en-US" sz="1400" kern="0" dirty="0">
                <a:latin typeface="Calibri" pitchFamily="34" charset="0"/>
              </a:rPr>
              <a:t>What are the mechanisms by which funding is generated for digital preservation activities? How are “paying stakeholders” identified?   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1400" kern="0" dirty="0">
              <a:latin typeface="Calibri" pitchFamily="34" charset="0"/>
              <a:cs typeface="ＭＳ Ｐゴシック" pitchFamily="-112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 smtClean="0"/>
              <a:t>2008  BRTF Panels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827213"/>
            <a:ext cx="2874962" cy="4573587"/>
          </a:xfrm>
        </p:spPr>
        <p:txBody>
          <a:bodyPr/>
          <a:lstStyle/>
          <a:p>
            <a:pPr>
              <a:defRPr/>
            </a:pPr>
            <a:r>
              <a:rPr lang="en-US" sz="2400" b="1" i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January Panel Speakers:</a:t>
            </a:r>
          </a:p>
          <a:p>
            <a:pPr lvl="1">
              <a:spcBef>
                <a:spcPts val="600"/>
              </a:spcBef>
              <a:defRPr/>
            </a:pPr>
            <a:r>
              <a:rPr lang="en-US" sz="2000" dirty="0" smtClean="0">
                <a:latin typeface="Calibri" pitchFamily="34" charset="0"/>
              </a:rPr>
              <a:t>John </a:t>
            </a:r>
            <a:r>
              <a:rPr lang="en-US" sz="2000" dirty="0" err="1" smtClean="0">
                <a:latin typeface="Calibri" pitchFamily="34" charset="0"/>
              </a:rPr>
              <a:t>Gantz</a:t>
            </a:r>
            <a:r>
              <a:rPr lang="en-US" sz="2000" dirty="0" smtClean="0">
                <a:latin typeface="Calibri" pitchFamily="34" charset="0"/>
              </a:rPr>
              <a:t>, IDC</a:t>
            </a:r>
          </a:p>
          <a:p>
            <a:pPr lvl="1">
              <a:spcBef>
                <a:spcPts val="600"/>
              </a:spcBef>
              <a:defRPr/>
            </a:pPr>
            <a:r>
              <a:rPr lang="en-US" sz="2000" dirty="0" smtClean="0">
                <a:latin typeface="Calibri" pitchFamily="34" charset="0"/>
              </a:rPr>
              <a:t>Stijn Hoorens, RAND</a:t>
            </a:r>
          </a:p>
          <a:p>
            <a:pPr lvl="1">
              <a:spcBef>
                <a:spcPts val="600"/>
              </a:spcBef>
              <a:defRPr/>
            </a:pPr>
            <a:r>
              <a:rPr lang="en-US" sz="2000" dirty="0" smtClean="0">
                <a:latin typeface="Calibri" pitchFamily="34" charset="0"/>
              </a:rPr>
              <a:t>Andy </a:t>
            </a:r>
            <a:r>
              <a:rPr lang="en-US" sz="2000" dirty="0" err="1" smtClean="0">
                <a:latin typeface="Calibri" pitchFamily="34" charset="0"/>
              </a:rPr>
              <a:t>Maltz</a:t>
            </a:r>
            <a:r>
              <a:rPr lang="en-US" sz="2000" dirty="0" smtClean="0">
                <a:latin typeface="Calibri" pitchFamily="34" charset="0"/>
              </a:rPr>
              <a:t>, AMPAS</a:t>
            </a:r>
          </a:p>
          <a:p>
            <a:pPr lvl="1">
              <a:spcBef>
                <a:spcPts val="600"/>
              </a:spcBef>
              <a:defRPr/>
            </a:pPr>
            <a:r>
              <a:rPr lang="en-US" sz="2000" dirty="0" smtClean="0">
                <a:latin typeface="Calibri" pitchFamily="34" charset="0"/>
              </a:rPr>
              <a:t>Edmund </a:t>
            </a:r>
            <a:r>
              <a:rPr lang="en-US" sz="2000" dirty="0" err="1" smtClean="0">
                <a:latin typeface="Calibri" pitchFamily="34" charset="0"/>
              </a:rPr>
              <a:t>Mesrobian</a:t>
            </a:r>
            <a:r>
              <a:rPr lang="en-US" sz="2000" dirty="0" smtClean="0">
                <a:latin typeface="Calibri" pitchFamily="34" charset="0"/>
              </a:rPr>
              <a:t>, </a:t>
            </a:r>
            <a:r>
              <a:rPr lang="en-US" sz="2000" dirty="0" err="1" smtClean="0">
                <a:latin typeface="Calibri" pitchFamily="34" charset="0"/>
              </a:rPr>
              <a:t>RealNetworks</a:t>
            </a:r>
            <a:endParaRPr lang="en-US" sz="2000" dirty="0" smtClean="0">
              <a:latin typeface="Calibri" pitchFamily="34" charset="0"/>
            </a:endParaRPr>
          </a:p>
        </p:txBody>
      </p:sp>
      <p:sp>
        <p:nvSpPr>
          <p:cNvPr id="34820" name="Content Placeholder 3"/>
          <p:cNvSpPr>
            <a:spLocks noGrp="1"/>
          </p:cNvSpPr>
          <p:nvPr>
            <p:ph sz="half" idx="2"/>
          </p:nvPr>
        </p:nvSpPr>
        <p:spPr>
          <a:xfrm>
            <a:off x="3367088" y="1827213"/>
            <a:ext cx="5776912" cy="4573587"/>
          </a:xfrm>
        </p:spPr>
        <p:txBody>
          <a:bodyPr/>
          <a:lstStyle/>
          <a:p>
            <a:r>
              <a:rPr lang="en-US" sz="2400" b="1" i="1" dirty="0" smtClean="0">
                <a:solidFill>
                  <a:srgbClr val="FF0000"/>
                </a:solidFill>
                <a:latin typeface="Calibri" pitchFamily="34" charset="0"/>
              </a:rPr>
              <a:t>July Panel Speakers: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>
                <a:latin typeface="Calibri" pitchFamily="34" charset="0"/>
              </a:rPr>
              <a:t>Helen Berman, Protein Data Bank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>
                <a:latin typeface="Calibri" pitchFamily="34" charset="0"/>
              </a:rPr>
              <a:t>Kris Carpenter, Internet Archive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>
                <a:latin typeface="Calibri" pitchFamily="34" charset="0"/>
              </a:rPr>
              <a:t>Myron Gutmann, Interuniversity Consortium for Political and Social Research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>
                <a:latin typeface="Calibri" pitchFamily="34" charset="0"/>
              </a:rPr>
              <a:t>Rick Luce, Emory Library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>
                <a:latin typeface="Calibri" pitchFamily="34" charset="0"/>
              </a:rPr>
              <a:t>Paul </a:t>
            </a:r>
            <a:r>
              <a:rPr lang="en-US" sz="2000" dirty="0" err="1" smtClean="0">
                <a:latin typeface="Calibri" pitchFamily="34" charset="0"/>
              </a:rPr>
              <a:t>Ratnaraj</a:t>
            </a:r>
            <a:r>
              <a:rPr lang="en-US" sz="2000" dirty="0" smtClean="0">
                <a:latin typeface="Calibri" pitchFamily="34" charset="0"/>
              </a:rPr>
              <a:t>, Wharton Research Data Services 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>
                <a:latin typeface="Calibri" pitchFamily="34" charset="0"/>
              </a:rPr>
              <a:t>Nan Rubin, Public Television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>
                <a:latin typeface="Calibri" pitchFamily="34" charset="0"/>
              </a:rPr>
              <a:t>Rick </a:t>
            </a:r>
            <a:r>
              <a:rPr lang="en-US" sz="2000" dirty="0" err="1" smtClean="0">
                <a:latin typeface="Calibri" pitchFamily="34" charset="0"/>
              </a:rPr>
              <a:t>Zuray</a:t>
            </a:r>
            <a:r>
              <a:rPr lang="en-US" sz="2000" dirty="0" smtClean="0">
                <a:latin typeface="Calibri" pitchFamily="34" charset="0"/>
              </a:rPr>
              <a:t>, Boeing</a:t>
            </a:r>
          </a:p>
          <a:p>
            <a:pPr lvl="1">
              <a:spcBef>
                <a:spcPts val="600"/>
              </a:spcBef>
            </a:pPr>
            <a:r>
              <a:rPr lang="en-US" sz="2000" dirty="0" smtClean="0">
                <a:latin typeface="Calibri" pitchFamily="34" charset="0"/>
              </a:rPr>
              <a:t>Stuart McKee, Microsoft</a:t>
            </a:r>
          </a:p>
          <a:p>
            <a:pPr lvl="1">
              <a:spcBef>
                <a:spcPts val="600"/>
              </a:spcBef>
            </a:pPr>
            <a:endParaRPr lang="en-US" sz="2000" dirty="0" smtClean="0">
              <a:latin typeface="Calibri" pitchFamily="34" charset="0"/>
            </a:endParaRPr>
          </a:p>
          <a:p>
            <a:pPr>
              <a:spcBef>
                <a:spcPts val="600"/>
              </a:spcBef>
            </a:pPr>
            <a:endParaRPr lang="en-US" sz="2400" dirty="0" smtClean="0">
              <a:latin typeface="Calibri" pitchFamily="34" charset="0"/>
            </a:endParaRPr>
          </a:p>
          <a:p>
            <a:pPr>
              <a:spcBef>
                <a:spcPts val="600"/>
              </a:spcBef>
            </a:pPr>
            <a:endParaRPr lang="en-US" sz="2400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 smtClean="0"/>
              <a:t>Other Venues for BRTF Information Gathering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sz="half" idx="1"/>
          </p:nvPr>
        </p:nvSpPr>
        <p:spPr>
          <a:xfrm>
            <a:off x="884187" y="1968480"/>
            <a:ext cx="7448550" cy="4573588"/>
          </a:xfrm>
        </p:spPr>
        <p:txBody>
          <a:bodyPr/>
          <a:lstStyle/>
          <a:p>
            <a:pPr>
              <a:spcBef>
                <a:spcPts val="3000"/>
              </a:spcBef>
              <a:defRPr/>
            </a:pPr>
            <a:r>
              <a:rPr lang="en-US" sz="2200" b="1" dirty="0" smtClean="0">
                <a:solidFill>
                  <a:srgbClr val="FF0000"/>
                </a:solidFill>
                <a:latin typeface="Calibri" pitchFamily="34" charset="0"/>
              </a:rPr>
              <a:t>Testimony</a:t>
            </a:r>
            <a:r>
              <a:rPr lang="en-US" sz="2200" dirty="0" smtClean="0">
                <a:latin typeface="Calibri" pitchFamily="34" charset="0"/>
              </a:rPr>
              <a:t> – template will be available on the website for community input on economic sustainability</a:t>
            </a:r>
          </a:p>
          <a:p>
            <a:pPr>
              <a:spcBef>
                <a:spcPts val="3000"/>
              </a:spcBef>
              <a:defRPr/>
            </a:pPr>
            <a:r>
              <a:rPr lang="en-US" sz="22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In-depth interviews </a:t>
            </a:r>
            <a:r>
              <a:rPr lang="en-US" sz="2200" dirty="0" smtClean="0">
                <a:latin typeface="Calibri" pitchFamily="34" charset="0"/>
              </a:rPr>
              <a:t>– with community leaders</a:t>
            </a:r>
          </a:p>
          <a:p>
            <a:pPr>
              <a:spcBef>
                <a:spcPts val="3000"/>
              </a:spcBef>
              <a:defRPr/>
            </a:pPr>
            <a:r>
              <a:rPr lang="en-US" sz="2200" b="1" dirty="0" smtClean="0">
                <a:solidFill>
                  <a:srgbClr val="FF0000"/>
                </a:solidFill>
                <a:latin typeface="Calibri" pitchFamily="34" charset="0"/>
              </a:rPr>
              <a:t>Literature search </a:t>
            </a:r>
            <a:r>
              <a:rPr lang="en-US" sz="2200" dirty="0" smtClean="0">
                <a:latin typeface="Calibri" pitchFamily="34" charset="0"/>
              </a:rPr>
              <a:t>–  Related work on on economic sustainability for digital preservation and/or related efforts</a:t>
            </a:r>
          </a:p>
          <a:p>
            <a:pPr>
              <a:spcBef>
                <a:spcPts val="3000"/>
              </a:spcBef>
              <a:defRPr/>
            </a:pPr>
            <a:r>
              <a:rPr lang="en-US" sz="2200" b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Task Force members </a:t>
            </a:r>
            <a:r>
              <a:rPr lang="en-US" sz="2200" dirty="0" smtClean="0">
                <a:latin typeface="Calibri" pitchFamily="34" charset="0"/>
              </a:rPr>
              <a:t>– diverse, international group representing broad spectrum of sectors, perspectives, institutions</a:t>
            </a: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smtClean="0"/>
              <a:t>Other Deliverables:  BRTF-SDPA Website (</a:t>
            </a:r>
            <a:r>
              <a:rPr lang="en-US" smtClean="0">
                <a:solidFill>
                  <a:srgbClr val="FF0000"/>
                </a:solidFill>
              </a:rPr>
              <a:t>brtf.sdsc.edu</a:t>
            </a:r>
            <a:r>
              <a:rPr lang="en-US" smtClean="0"/>
              <a:t>)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4133850" y="1639888"/>
            <a:ext cx="4527550" cy="4573587"/>
          </a:xfrm>
        </p:spPr>
        <p:txBody>
          <a:bodyPr/>
          <a:lstStyle/>
          <a:p>
            <a:r>
              <a:rPr lang="en-US" dirty="0" smtClean="0"/>
              <a:t>BRTF-SDPA website being developed as a community resource for</a:t>
            </a:r>
          </a:p>
          <a:p>
            <a:pPr lvl="1"/>
            <a:r>
              <a:rPr lang="en-US" dirty="0" smtClean="0"/>
              <a:t>information about the Task Force</a:t>
            </a:r>
          </a:p>
          <a:p>
            <a:pPr lvl="1"/>
            <a:r>
              <a:rPr lang="en-US" dirty="0" smtClean="0"/>
              <a:t>input from the community</a:t>
            </a:r>
          </a:p>
          <a:p>
            <a:pPr lvl="1"/>
            <a:r>
              <a:rPr lang="en-US" dirty="0" smtClean="0"/>
              <a:t>literature related to Digital Preservation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/>
          <a:srcRect l="12959" t="4187" r="14927"/>
          <a:stretch>
            <a:fillRect/>
          </a:stretch>
        </p:blipFill>
        <p:spPr bwMode="auto">
          <a:xfrm>
            <a:off x="446088" y="1603375"/>
            <a:ext cx="3341687" cy="4344988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3"/>
          <a:srcRect l="11979" t="18134" r="13898"/>
          <a:stretch>
            <a:fillRect/>
          </a:stretch>
        </p:blipFill>
        <p:spPr bwMode="auto">
          <a:xfrm>
            <a:off x="6580188" y="3611563"/>
            <a:ext cx="2227262" cy="2449512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41750" y="4049713"/>
            <a:ext cx="2592388" cy="20447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en-US" sz="1600" i="1" kern="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ＭＳ Ｐゴシック" pitchFamily="-112" charset="-128"/>
              </a:rPr>
              <a:t>Templates for “testimony” to be available on the website</a:t>
            </a:r>
          </a:p>
          <a:p>
            <a:pPr marL="342900" indent="-342900" eaLnBrk="0" hangingPunct="0">
              <a:spcBef>
                <a:spcPts val="12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en-US" sz="1600" i="1" kern="0" dirty="0">
                <a:solidFill>
                  <a:srgbClr val="FF0000"/>
                </a:solidFill>
                <a:latin typeface="Calibri" pitchFamily="34" charset="0"/>
                <a:cs typeface="ＭＳ Ｐゴシック" pitchFamily="-112" charset="-128"/>
              </a:rPr>
              <a:t>Suggestions for inclusions for the bibliography encouraged</a:t>
            </a:r>
            <a:endParaRPr lang="en-US" sz="2000" i="1" kern="0" dirty="0">
              <a:solidFill>
                <a:srgbClr val="FF0000"/>
              </a:solidFill>
              <a:latin typeface="Calibri" pitchFamily="34" charset="0"/>
              <a:cs typeface="ＭＳ Ｐゴシック" pitchFamily="-112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263525" y="252413"/>
            <a:ext cx="8580438" cy="1277937"/>
          </a:xfrm>
          <a:ln/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sz="2000" dirty="0" smtClean="0">
                <a:solidFill>
                  <a:srgbClr val="FF0000"/>
                </a:solidFill>
              </a:rPr>
              <a:t>Community Outreach -- 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Call to Action </a:t>
            </a:r>
            <a:r>
              <a:rPr lang="en-US" sz="2000" dirty="0" smtClean="0">
                <a:solidFill>
                  <a:srgbClr val="FF0000"/>
                </a:solidFill>
              </a:rPr>
              <a:t/>
            </a:r>
            <a:br>
              <a:rPr lang="en-US" sz="2000" dirty="0" smtClean="0">
                <a:solidFill>
                  <a:srgbClr val="FF0000"/>
                </a:solidFill>
              </a:rPr>
            </a:br>
            <a:r>
              <a:rPr lang="en-US" sz="2000" dirty="0" smtClean="0"/>
              <a:t>for </a:t>
            </a:r>
            <a:r>
              <a:rPr lang="en-US" sz="2000" i="1" dirty="0" smtClean="0"/>
              <a:t>both</a:t>
            </a:r>
            <a:r>
              <a:rPr lang="en-US" sz="2000" dirty="0" smtClean="0"/>
              <a:t> BRTF and the NDIIPP Community:  Get </a:t>
            </a:r>
            <a:r>
              <a:rPr lang="en-US" sz="2000" dirty="0" smtClean="0">
                <a:solidFill>
                  <a:srgbClr val="1F497D"/>
                </a:solidFill>
              </a:rPr>
              <a:t>the message </a:t>
            </a:r>
            <a:r>
              <a:rPr lang="en-US" sz="2000" dirty="0" smtClean="0"/>
              <a:t>out beyond the “usual suspects”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628650" y="1968500"/>
            <a:ext cx="3651250" cy="4573588"/>
          </a:xfrm>
        </p:spPr>
        <p:txBody>
          <a:bodyPr/>
          <a:lstStyle/>
          <a:p>
            <a:r>
              <a:rPr lang="en-US" sz="2400" dirty="0" smtClean="0">
                <a:solidFill>
                  <a:srgbClr val="FF0000"/>
                </a:solidFill>
              </a:rPr>
              <a:t>Does your dry cleaner know what digital preservation is?</a:t>
            </a:r>
          </a:p>
          <a:p>
            <a:pPr>
              <a:spcBef>
                <a:spcPts val="1200"/>
              </a:spcBef>
            </a:pPr>
            <a:r>
              <a:rPr lang="en-US" sz="2400" dirty="0" smtClean="0"/>
              <a:t>We can help focus attention and encourage new resources from decision makers and the general public </a:t>
            </a:r>
            <a:r>
              <a:rPr lang="en-US" sz="2400" i="1" dirty="0" smtClean="0"/>
              <a:t>if</a:t>
            </a:r>
            <a:r>
              <a:rPr lang="en-US" sz="2400" dirty="0" smtClean="0"/>
              <a:t> we get the message out </a:t>
            </a:r>
          </a:p>
        </p:txBody>
      </p:sp>
      <p:sp>
        <p:nvSpPr>
          <p:cNvPr id="378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2"/>
          <a:srcRect l="4868" t="18700" r="7909" b="10658"/>
          <a:stretch>
            <a:fillRect/>
          </a:stretch>
        </p:blipFill>
        <p:spPr bwMode="auto">
          <a:xfrm>
            <a:off x="4498975" y="4049713"/>
            <a:ext cx="3614738" cy="2109787"/>
          </a:xfrm>
          <a:prstGeom prst="rect">
            <a:avLst/>
          </a:prstGeom>
          <a:noFill/>
          <a:ln w="9525">
            <a:solidFill>
              <a:srgbClr val="CC0099"/>
            </a:solidFill>
            <a:miter lim="800000"/>
            <a:headEnd/>
            <a:tailEnd/>
          </a:ln>
        </p:spPr>
      </p:pic>
      <p:pic>
        <p:nvPicPr>
          <p:cNvPr id="37894" name="Picture 4"/>
          <p:cNvPicPr>
            <a:picLocks noChangeAspect="1" noChangeArrowheads="1"/>
          </p:cNvPicPr>
          <p:nvPr/>
        </p:nvPicPr>
        <p:blipFill>
          <a:blip r:embed="rId3"/>
          <a:srcRect r="1819" b="43031"/>
          <a:stretch>
            <a:fillRect/>
          </a:stretch>
        </p:blipFill>
        <p:spPr bwMode="auto">
          <a:xfrm>
            <a:off x="4718050" y="1749425"/>
            <a:ext cx="2776538" cy="167957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</p:spPr>
      </p:pic>
      <p:pic>
        <p:nvPicPr>
          <p:cNvPr id="37895" name="Picture 5" descr="inconvenient_truth_ver2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45313" y="2771775"/>
            <a:ext cx="1606550" cy="237807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7600"/>
        </a:accent1>
        <a:accent2>
          <a:srgbClr val="FF7600"/>
        </a:accent2>
        <a:accent3>
          <a:srgbClr val="FFFFFF"/>
        </a:accent3>
        <a:accent4>
          <a:srgbClr val="000000"/>
        </a:accent4>
        <a:accent5>
          <a:srgbClr val="FFBDAA"/>
        </a:accent5>
        <a:accent6>
          <a:srgbClr val="E76A00"/>
        </a:accent6>
        <a:hlink>
          <a:srgbClr val="FF7600"/>
        </a:hlink>
        <a:folHlink>
          <a:srgbClr val="FF7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992</TotalTime>
  <Words>1709</Words>
  <Application>Microsoft PowerPoint</Application>
  <PresentationFormat>On-screen Show (4:3)</PresentationFormat>
  <Paragraphs>236</Paragraphs>
  <Slides>22</Slides>
  <Notes>4</Notes>
  <HiddenSlides>0</HiddenSlides>
  <MMClips>1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Default Design</vt:lpstr>
      <vt:lpstr>Custom Design</vt:lpstr>
      <vt:lpstr>Update:  Blue Ribbon Task Force on Sustainable Digital Preservation and Access</vt:lpstr>
      <vt:lpstr>Presentation Outline</vt:lpstr>
      <vt:lpstr>Our Digital World 1</vt:lpstr>
      <vt:lpstr>Our Digital World 2</vt:lpstr>
      <vt:lpstr>Our Digital World 3</vt:lpstr>
      <vt:lpstr>Data Preservation</vt:lpstr>
      <vt:lpstr>Who should pay?</vt:lpstr>
      <vt:lpstr>A Framework for Thinking about Digital Stewardship and Preservation</vt:lpstr>
      <vt:lpstr>Why not just let XXXXXXX do it?   Multi-sector solutions required for data in the public interest</vt:lpstr>
      <vt:lpstr>Blue Ribbon Task Force on Sustainable Digital Preservation and Access</vt:lpstr>
      <vt:lpstr>BRTF-SDPA Charge</vt:lpstr>
      <vt:lpstr>Scope of BRTF-SDPA</vt:lpstr>
      <vt:lpstr>BRTF-SDPA Participants</vt:lpstr>
      <vt:lpstr>BRTF Deliverables</vt:lpstr>
      <vt:lpstr>BRTF-SDPA Working Definition of  Economic Sustainability</vt:lpstr>
      <vt:lpstr>Challenges in Developing an Economic Model</vt:lpstr>
      <vt:lpstr>Year 1 Deliverable:  Report which describes Current and Best Practices for Economic Sustainability</vt:lpstr>
      <vt:lpstr>What We’d Like to Know from the Community:  Questions on Economic Sustainability for Digital Preservation</vt:lpstr>
      <vt:lpstr>2008  BRTF Panels</vt:lpstr>
      <vt:lpstr>Other Venues for BRTF Information Gathering</vt:lpstr>
      <vt:lpstr>Other Deliverables:  BRTF-SDPA Website (brtf.sdsc.edu)</vt:lpstr>
      <vt:lpstr>Community Outreach --  Call to Action  for both BRTF and the NDIIPP Community:  Get the message out beyond the “usual suspects”</vt:lpstr>
    </vt:vector>
  </TitlesOfParts>
  <Company>OCLC Online Computer Library Center,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OCLC Research</dc:creator>
  <cp:lastModifiedBy>fran</cp:lastModifiedBy>
  <cp:revision>146</cp:revision>
  <dcterms:created xsi:type="dcterms:W3CDTF">2008-06-19T17:21:05Z</dcterms:created>
  <dcterms:modified xsi:type="dcterms:W3CDTF">2008-07-09T14:48:57Z</dcterms:modified>
</cp:coreProperties>
</file>