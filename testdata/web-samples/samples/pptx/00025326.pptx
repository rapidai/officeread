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0"/>
  </p:notesMasterIdLst>
  <p:sldIdLst>
    <p:sldId id="256" r:id="rId2"/>
    <p:sldId id="257" r:id="rId3"/>
    <p:sldId id="260" r:id="rId4"/>
    <p:sldId id="261" r:id="rId5"/>
    <p:sldId id="262" r:id="rId6"/>
    <p:sldId id="263" r:id="rId7"/>
    <p:sldId id="259" r:id="rId8"/>
    <p:sldId id="264"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63787" autoAdjust="0"/>
  </p:normalViewPr>
  <p:slideViewPr>
    <p:cSldViewPr>
      <p:cViewPr varScale="1">
        <p:scale>
          <a:sx n="50" d="100"/>
          <a:sy n="50" d="100"/>
        </p:scale>
        <p:origin x="-1092"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77ACFBC5-4EDF-483F-846E-A2F185BD761D}" type="datetimeFigureOut">
              <a:rPr lang="en-CA"/>
              <a:pPr>
                <a:defRPr/>
              </a:pPr>
              <a:t>24/03/2012</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14C1F9F1-5042-4572-BAE9-629B0F872E24}" type="slidenum">
              <a:rPr lang="en-CA"/>
              <a:pPr>
                <a:defRPr/>
              </a:pPr>
              <a:t>‹#›</a:t>
            </a:fld>
            <a:endParaRPr lang="en-C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CA" smtClean="0"/>
              <a:t>Both these acts prohibit the purchase of private insurance for publicly delivered services</a:t>
            </a:r>
          </a:p>
          <a:p>
            <a:pPr eaLnBrk="1" hangingPunct="1">
              <a:spcBef>
                <a:spcPct val="0"/>
              </a:spcBef>
            </a:pPr>
            <a:r>
              <a:rPr lang="en-CA" smtClean="0"/>
              <a:t>The Canada Health Act does not prohibit private insurance/delivery of services, however, there is a common belief that having the private sector involved ( as a two-tier system) would endanger the principles of the CHA.</a:t>
            </a:r>
          </a:p>
        </p:txBody>
      </p:sp>
      <p:sp>
        <p:nvSpPr>
          <p:cNvPr id="1638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6AD9DD9-1F9D-4B96-8E3C-42E57919E8F1}" type="slidenum">
              <a:rPr lang="en-CA"/>
              <a:pPr fontAlgn="base">
                <a:spcBef>
                  <a:spcPct val="0"/>
                </a:spcBef>
                <a:spcAft>
                  <a:spcPct val="0"/>
                </a:spcAft>
                <a:defRPr/>
              </a:pPr>
              <a:t>2</a:t>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CA" smtClean="0"/>
              <a:t>There were three opinions written. The majority opinion was delivered by J Deschamps in which the justices (4) believed that this prohibition violated the right to life and security of the person under s1 of the Quebec Charter. </a:t>
            </a:r>
          </a:p>
          <a:p>
            <a:pPr eaLnBrk="1" hangingPunct="1">
              <a:spcBef>
                <a:spcPct val="0"/>
              </a:spcBef>
            </a:pPr>
            <a:r>
              <a:rPr lang="en-CA" smtClean="0"/>
              <a:t>Here, Deschamps decided not to make a decision based on the Canadian Charter for 2 reasons. 1. it was enough that it violated the Quebec Charter. 2. used a strategy used by J Beetz in which “it is best, when possible, to decide cases on the basis of right-protecting laws that do not have the full constitutional weight of the Canadian Charter.”</a:t>
            </a:r>
          </a:p>
          <a:p>
            <a:pPr eaLnBrk="1" hangingPunct="1">
              <a:spcBef>
                <a:spcPct val="0"/>
              </a:spcBef>
            </a:pPr>
            <a:endParaRPr lang="en-CA" smtClean="0"/>
          </a:p>
        </p:txBody>
      </p:sp>
      <p:sp>
        <p:nvSpPr>
          <p:cNvPr id="1843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D1A3388-A8CA-4C44-8073-696ED5723040}" type="slidenum">
              <a:rPr lang="en-CA"/>
              <a:pPr fontAlgn="base">
                <a:spcBef>
                  <a:spcPct val="0"/>
                </a:spcBef>
                <a:spcAft>
                  <a:spcPct val="0"/>
                </a:spcAft>
                <a:defRPr/>
              </a:pPr>
              <a:t>3</a:t>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CA" smtClean="0"/>
              <a:t>Experts were called, both by government and appellants, but the justices saw this as no more than common sense and in the realm of theory, not a “real connection”</a:t>
            </a:r>
          </a:p>
          <a:p>
            <a:pPr eaLnBrk="1" hangingPunct="1">
              <a:spcBef>
                <a:spcPct val="0"/>
              </a:spcBef>
            </a:pPr>
            <a:r>
              <a:rPr lang="en-CA" smtClean="0"/>
              <a:t>Based much of their decision on whether the prohibition was arbitrary on reports on health systems in other countries.</a:t>
            </a:r>
          </a:p>
          <a:p>
            <a:pPr eaLnBrk="1" hangingPunct="1">
              <a:spcBef>
                <a:spcPct val="0"/>
              </a:spcBef>
            </a:pPr>
            <a:endParaRPr lang="en-CA" smtClean="0"/>
          </a:p>
          <a:p>
            <a:pPr eaLnBrk="1" hangingPunct="1">
              <a:spcBef>
                <a:spcPct val="0"/>
              </a:spcBef>
            </a:pPr>
            <a:endParaRPr lang="en-CA" smtClean="0"/>
          </a:p>
        </p:txBody>
      </p:sp>
      <p:sp>
        <p:nvSpPr>
          <p:cNvPr id="2048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C3DD5E4-B2A4-44E4-92E7-AEAF5B7EB3D0}" type="slidenum">
              <a:rPr lang="en-CA"/>
              <a:pPr fontAlgn="base">
                <a:spcBef>
                  <a:spcPct val="0"/>
                </a:spcBef>
                <a:spcAft>
                  <a:spcPct val="0"/>
                </a:spcAft>
                <a:defRPr/>
              </a:pPr>
              <a:t>4</a:t>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CA" smtClean="0"/>
              <a:t> as a result, they argue that legislators are better suited to answer this question and set the standards for wait times rather than the courts</a:t>
            </a:r>
          </a:p>
          <a:p>
            <a:pPr eaLnBrk="1" hangingPunct="1">
              <a:spcBef>
                <a:spcPct val="0"/>
              </a:spcBef>
            </a:pPr>
            <a:r>
              <a:rPr lang="en-CA" smtClean="0"/>
              <a:t>Principle of fundamental justice, based on the decisions of motor v BC and Malmo-Levine, </a:t>
            </a:r>
          </a:p>
          <a:p>
            <a:pPr eaLnBrk="1" hangingPunct="1">
              <a:spcBef>
                <a:spcPct val="0"/>
              </a:spcBef>
            </a:pPr>
            <a:r>
              <a:rPr lang="en-CA" smtClean="0"/>
              <a:t>They do agree that any law which arbitrarily violates life or security is unconstitutional… but the facts do not apply on this case.</a:t>
            </a:r>
          </a:p>
          <a:p>
            <a:pPr eaLnBrk="1" hangingPunct="1">
              <a:spcBef>
                <a:spcPct val="0"/>
              </a:spcBef>
            </a:pPr>
            <a:endParaRPr lang="en-CA" smtClean="0"/>
          </a:p>
          <a:p>
            <a:pPr eaLnBrk="1" hangingPunct="1">
              <a:spcBef>
                <a:spcPct val="0"/>
              </a:spcBef>
            </a:pPr>
            <a:endParaRPr lang="en-CA" smtClean="0"/>
          </a:p>
        </p:txBody>
      </p:sp>
      <p:sp>
        <p:nvSpPr>
          <p:cNvPr id="225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AB46841-BAFB-4022-A3D5-5989634866F1}" type="slidenum">
              <a:rPr lang="en-CA"/>
              <a:pPr fontAlgn="base">
                <a:spcBef>
                  <a:spcPct val="0"/>
                </a:spcBef>
                <a:spcAft>
                  <a:spcPct val="0"/>
                </a:spcAft>
                <a:defRPr/>
              </a:pPr>
              <a:t>5</a:t>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CA" dirty="0" smtClean="0"/>
              <a:t>- As we know from the book, most cases utilizing the </a:t>
            </a:r>
            <a:r>
              <a:rPr lang="en-CA" dirty="0" err="1" smtClean="0"/>
              <a:t>oakes</a:t>
            </a:r>
            <a:r>
              <a:rPr lang="en-CA" dirty="0" smtClean="0"/>
              <a:t> test place a significant amount of value to the minimal impairment clause of this test. However, this is testing the means through which the legislation is executed, rather than the objective of the piece of legislation itself.  This proves to be of importance in this case, because the courts “validate” the intent of the legislation (in this case, the protection of a single-tier healthcare system, while acknowledging that there may be other ways to do so which do not infringe upon the rights of life and security of individuals. This ensures that legislators maintain their primary role in policy making, rather than the courts</a:t>
            </a:r>
          </a:p>
          <a:p>
            <a:pPr marL="171450" indent="-171450" eaLnBrk="1" fontAlgn="auto" hangingPunct="1">
              <a:spcBef>
                <a:spcPts val="0"/>
              </a:spcBef>
              <a:spcAft>
                <a:spcPts val="0"/>
              </a:spcAft>
              <a:buFontTx/>
              <a:buChar char="-"/>
              <a:defRPr/>
            </a:pPr>
            <a:r>
              <a:rPr lang="en-CA" dirty="0" smtClean="0"/>
              <a:t>“A particular right or freedom may have a different value depending on the context” this can be demonstrated by the reasoning behind the concurrent and dissent opinions.</a:t>
            </a:r>
          </a:p>
          <a:p>
            <a:pPr marL="171450" indent="-171450" eaLnBrk="1" fontAlgn="auto" hangingPunct="1">
              <a:spcBef>
                <a:spcPts val="0"/>
              </a:spcBef>
              <a:spcAft>
                <a:spcPts val="0"/>
              </a:spcAft>
              <a:buFontTx/>
              <a:buChar char="-"/>
              <a:defRPr/>
            </a:pPr>
            <a:r>
              <a:rPr lang="en-CA" dirty="0" smtClean="0"/>
              <a:t>Considering the liberal ideology under which the Charter was created and entrenched in the constitution, it is imperative that it is not used to better the position of some (a minority such as the wealthy) and restrain legislators based on the infringement of rights.</a:t>
            </a:r>
          </a:p>
          <a:p>
            <a:pPr eaLnBrk="1" fontAlgn="auto" hangingPunct="1">
              <a:spcBef>
                <a:spcPts val="0"/>
              </a:spcBef>
              <a:spcAft>
                <a:spcPts val="0"/>
              </a:spcAft>
              <a:defRPr/>
            </a:pPr>
            <a:endParaRPr lang="en-CA" dirty="0" smtClean="0"/>
          </a:p>
          <a:p>
            <a:pPr eaLnBrk="1" fontAlgn="auto" hangingPunct="1">
              <a:spcBef>
                <a:spcPts val="0"/>
              </a:spcBef>
              <a:spcAft>
                <a:spcPts val="0"/>
              </a:spcAft>
              <a:defRPr/>
            </a:pPr>
            <a:endParaRPr lang="en-CA" dirty="0"/>
          </a:p>
        </p:txBody>
      </p:sp>
      <p:sp>
        <p:nvSpPr>
          <p:cNvPr id="2457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F580A80-2F89-48AD-8A39-CE546F161F92}" type="slidenum">
              <a:rPr lang="en-CA"/>
              <a:pPr fontAlgn="base">
                <a:spcBef>
                  <a:spcPct val="0"/>
                </a:spcBef>
                <a:spcAft>
                  <a:spcPct val="0"/>
                </a:spcAft>
                <a:defRPr/>
              </a:pPr>
              <a:t>6</a:t>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626C3FB3-A470-4D7A-992F-9860EB645374}" type="datetimeFigureOut">
              <a:rPr lang="en-CA"/>
              <a:pPr>
                <a:defRPr/>
              </a:pPr>
              <a:t>24/03/2012</a:t>
            </a:fld>
            <a:endParaRPr lang="en-CA" dirty="0"/>
          </a:p>
        </p:txBody>
      </p:sp>
      <p:sp>
        <p:nvSpPr>
          <p:cNvPr id="5" name="Slide Number Placeholder 5"/>
          <p:cNvSpPr>
            <a:spLocks noGrp="1"/>
          </p:cNvSpPr>
          <p:nvPr>
            <p:ph type="sldNum" sz="quarter" idx="11"/>
          </p:nvPr>
        </p:nvSpPr>
        <p:spPr/>
        <p:txBody>
          <a:bodyPr/>
          <a:lstStyle>
            <a:lvl1pPr>
              <a:defRPr/>
            </a:lvl1pPr>
          </a:lstStyle>
          <a:p>
            <a:pPr>
              <a:defRPr/>
            </a:pPr>
            <a:fld id="{D11CF891-9D96-4C88-8756-612C3CC8DC91}" type="slidenum">
              <a:rPr lang="en-CA"/>
              <a:pPr>
                <a:defRPr/>
              </a:pPr>
              <a:t>‹#›</a:t>
            </a:fld>
            <a:endParaRPr lang="en-CA" dirty="0"/>
          </a:p>
        </p:txBody>
      </p:sp>
      <p:sp>
        <p:nvSpPr>
          <p:cNvPr id="6"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22E21FE-28B4-405E-A342-E7013AC86FCE}" type="datetimeFigureOut">
              <a:rPr lang="en-CA"/>
              <a:pPr>
                <a:defRPr/>
              </a:pPr>
              <a:t>24/03/2012</a:t>
            </a:fld>
            <a:endParaRPr lang="en-CA" dirty="0"/>
          </a:p>
        </p:txBody>
      </p:sp>
      <p:sp>
        <p:nvSpPr>
          <p:cNvPr id="5" name="Slide Number Placeholder 5"/>
          <p:cNvSpPr>
            <a:spLocks noGrp="1"/>
          </p:cNvSpPr>
          <p:nvPr>
            <p:ph type="sldNum" sz="quarter" idx="11"/>
          </p:nvPr>
        </p:nvSpPr>
        <p:spPr/>
        <p:txBody>
          <a:bodyPr/>
          <a:lstStyle>
            <a:lvl1pPr>
              <a:defRPr/>
            </a:lvl1pPr>
          </a:lstStyle>
          <a:p>
            <a:pPr>
              <a:defRPr/>
            </a:pPr>
            <a:fld id="{B69ED0E2-308A-4618-B075-25855B6313FF}" type="slidenum">
              <a:rPr lang="en-CA"/>
              <a:pPr>
                <a:defRPr/>
              </a:pPr>
              <a:t>‹#›</a:t>
            </a:fld>
            <a:endParaRPr lang="en-CA" dirty="0"/>
          </a:p>
        </p:txBody>
      </p:sp>
      <p:sp>
        <p:nvSpPr>
          <p:cNvPr id="6"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91B0F7E2-D89F-49D7-AB96-30CFDFD86CF3}" type="datetimeFigureOut">
              <a:rPr lang="en-CA"/>
              <a:pPr>
                <a:defRPr/>
              </a:pPr>
              <a:t>24/03/2012</a:t>
            </a:fld>
            <a:endParaRPr lang="en-CA" dirty="0"/>
          </a:p>
        </p:txBody>
      </p:sp>
      <p:sp>
        <p:nvSpPr>
          <p:cNvPr id="5" name="Slide Number Placeholder 5"/>
          <p:cNvSpPr>
            <a:spLocks noGrp="1"/>
          </p:cNvSpPr>
          <p:nvPr>
            <p:ph type="sldNum" sz="quarter" idx="11"/>
          </p:nvPr>
        </p:nvSpPr>
        <p:spPr/>
        <p:txBody>
          <a:bodyPr/>
          <a:lstStyle>
            <a:lvl1pPr>
              <a:defRPr/>
            </a:lvl1pPr>
          </a:lstStyle>
          <a:p>
            <a:pPr>
              <a:defRPr/>
            </a:pPr>
            <a:fld id="{518AD188-40ED-4B9A-84F7-9F0E3302A369}" type="slidenum">
              <a:rPr lang="en-CA"/>
              <a:pPr>
                <a:defRPr/>
              </a:pPr>
              <a:t>‹#›</a:t>
            </a:fld>
            <a:endParaRPr lang="en-CA" dirty="0"/>
          </a:p>
        </p:txBody>
      </p:sp>
      <p:sp>
        <p:nvSpPr>
          <p:cNvPr id="6"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5"/>
          </p:nvPr>
        </p:nvSpPr>
        <p:spPr/>
        <p:txBody>
          <a:bodyPr/>
          <a:lstStyle>
            <a:lvl1pPr>
              <a:defRPr/>
            </a:lvl1pPr>
          </a:lstStyle>
          <a:p>
            <a:pPr>
              <a:defRPr/>
            </a:pPr>
            <a:fld id="{0CEC51DD-9089-4D32-97CA-6BE5DF80B02C}" type="datetimeFigureOut">
              <a:rPr lang="en-CA"/>
              <a:pPr>
                <a:defRPr/>
              </a:pPr>
              <a:t>24/03/2012</a:t>
            </a:fld>
            <a:endParaRPr lang="en-CA" dirty="0"/>
          </a:p>
        </p:txBody>
      </p:sp>
      <p:sp>
        <p:nvSpPr>
          <p:cNvPr id="6" name="Slide Number Placeholder 5"/>
          <p:cNvSpPr>
            <a:spLocks noGrp="1"/>
          </p:cNvSpPr>
          <p:nvPr>
            <p:ph type="sldNum" sz="quarter" idx="16"/>
          </p:nvPr>
        </p:nvSpPr>
        <p:spPr/>
        <p:txBody>
          <a:bodyPr/>
          <a:lstStyle>
            <a:lvl1pPr>
              <a:defRPr/>
            </a:lvl1pPr>
          </a:lstStyle>
          <a:p>
            <a:pPr>
              <a:defRPr/>
            </a:pPr>
            <a:fld id="{54A9504B-BACB-40DB-96E0-2CB6607F4BED}" type="slidenum">
              <a:rPr lang="en-CA"/>
              <a:pPr>
                <a:defRPr/>
              </a:pPr>
              <a:t>‹#›</a:t>
            </a:fld>
            <a:endParaRPr lang="en-CA" dirty="0"/>
          </a:p>
        </p:txBody>
      </p:sp>
      <p:sp>
        <p:nvSpPr>
          <p:cNvPr id="7" name="Footer Placeholder 4"/>
          <p:cNvSpPr>
            <a:spLocks noGrp="1"/>
          </p:cNvSpPr>
          <p:nvPr>
            <p:ph type="ftr" sz="quarter" idx="17"/>
          </p:nvPr>
        </p:nvSpPr>
        <p:spPr/>
        <p:txBody>
          <a:bodyPr/>
          <a:lstStyle>
            <a:lvl1pPr>
              <a:defRPr/>
            </a:lvl1pPr>
          </a:lstStyle>
          <a:p>
            <a:pPr>
              <a:defRPr/>
            </a:pPr>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5"/>
          </p:nvPr>
        </p:nvSpPr>
        <p:spPr/>
        <p:txBody>
          <a:bodyPr/>
          <a:lstStyle>
            <a:lvl1pPr>
              <a:defRPr/>
            </a:lvl1pPr>
          </a:lstStyle>
          <a:p>
            <a:pPr>
              <a:defRPr/>
            </a:pPr>
            <a:fld id="{68EAC2E7-F00C-4CF1-A6D3-3184D7DA7D90}" type="datetimeFigureOut">
              <a:rPr lang="en-CA"/>
              <a:pPr>
                <a:defRPr/>
              </a:pPr>
              <a:t>24/03/2012</a:t>
            </a:fld>
            <a:endParaRPr lang="en-CA" dirty="0"/>
          </a:p>
        </p:txBody>
      </p:sp>
      <p:sp>
        <p:nvSpPr>
          <p:cNvPr id="8" name="Slide Number Placeholder 5"/>
          <p:cNvSpPr>
            <a:spLocks noGrp="1"/>
          </p:cNvSpPr>
          <p:nvPr>
            <p:ph type="sldNum" sz="quarter" idx="16"/>
          </p:nvPr>
        </p:nvSpPr>
        <p:spPr/>
        <p:txBody>
          <a:bodyPr/>
          <a:lstStyle>
            <a:lvl1pPr>
              <a:defRPr/>
            </a:lvl1pPr>
          </a:lstStyle>
          <a:p>
            <a:pPr>
              <a:defRPr/>
            </a:pPr>
            <a:fld id="{F20DFA81-B236-45A2-AE5C-72ECFB28DFC3}" type="slidenum">
              <a:rPr lang="en-CA"/>
              <a:pPr>
                <a:defRPr/>
              </a:pPr>
              <a:t>‹#›</a:t>
            </a:fld>
            <a:endParaRPr lang="en-CA" dirty="0"/>
          </a:p>
        </p:txBody>
      </p:sp>
      <p:sp>
        <p:nvSpPr>
          <p:cNvPr id="9" name="Footer Placeholder 4"/>
          <p:cNvSpPr>
            <a:spLocks noGrp="1"/>
          </p:cNvSpPr>
          <p:nvPr>
            <p:ph type="ftr" sz="quarter" idx="17"/>
          </p:nvPr>
        </p:nvSpPr>
        <p:spPr/>
        <p:txBody>
          <a:bodyPr/>
          <a:lstStyle>
            <a:lvl1pPr>
              <a:defRPr/>
            </a:lvl1pPr>
          </a:lstStyle>
          <a:p>
            <a:pPr>
              <a:defRPr/>
            </a:pPr>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E858163-AA12-4335-B643-9EA8FB4B082F}" type="datetimeFigureOut">
              <a:rPr lang="en-CA"/>
              <a:pPr>
                <a:defRPr/>
              </a:pPr>
              <a:t>24/03/2012</a:t>
            </a:fld>
            <a:endParaRPr lang="en-CA" dirty="0"/>
          </a:p>
        </p:txBody>
      </p:sp>
      <p:sp>
        <p:nvSpPr>
          <p:cNvPr id="4" name="Slide Number Placeholder 5"/>
          <p:cNvSpPr>
            <a:spLocks noGrp="1"/>
          </p:cNvSpPr>
          <p:nvPr>
            <p:ph type="sldNum" sz="quarter" idx="11"/>
          </p:nvPr>
        </p:nvSpPr>
        <p:spPr/>
        <p:txBody>
          <a:bodyPr/>
          <a:lstStyle>
            <a:lvl1pPr>
              <a:defRPr/>
            </a:lvl1pPr>
          </a:lstStyle>
          <a:p>
            <a:pPr>
              <a:defRPr/>
            </a:pPr>
            <a:fld id="{DF51CCA2-072D-40E5-B3E4-8E5EBDCA39B6}" type="slidenum">
              <a:rPr lang="en-CA"/>
              <a:pPr>
                <a:defRPr/>
              </a:pPr>
              <a:t>‹#›</a:t>
            </a:fld>
            <a:endParaRPr lang="en-CA" dirty="0"/>
          </a:p>
        </p:txBody>
      </p:sp>
      <p:sp>
        <p:nvSpPr>
          <p:cNvPr id="5"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7028EE5-5D3A-4BE9-A524-BF8E7B7B666A}" type="datetimeFigureOut">
              <a:rPr lang="en-CA"/>
              <a:pPr>
                <a:defRPr/>
              </a:pPr>
              <a:t>24/03/2012</a:t>
            </a:fld>
            <a:endParaRPr lang="en-CA" dirty="0"/>
          </a:p>
        </p:txBody>
      </p:sp>
      <p:sp>
        <p:nvSpPr>
          <p:cNvPr id="3" name="Slide Number Placeholder 5"/>
          <p:cNvSpPr>
            <a:spLocks noGrp="1"/>
          </p:cNvSpPr>
          <p:nvPr>
            <p:ph type="sldNum" sz="quarter" idx="11"/>
          </p:nvPr>
        </p:nvSpPr>
        <p:spPr/>
        <p:txBody>
          <a:bodyPr/>
          <a:lstStyle>
            <a:lvl1pPr>
              <a:defRPr/>
            </a:lvl1pPr>
          </a:lstStyle>
          <a:p>
            <a:pPr>
              <a:defRPr/>
            </a:pPr>
            <a:fld id="{6403ADA7-893F-4D4A-9391-613762E50A97}" type="slidenum">
              <a:rPr lang="en-CA"/>
              <a:pPr>
                <a:defRPr/>
              </a:pPr>
              <a:t>‹#›</a:t>
            </a:fld>
            <a:endParaRPr lang="en-CA" dirty="0"/>
          </a:p>
        </p:txBody>
      </p:sp>
      <p:sp>
        <p:nvSpPr>
          <p:cNvPr id="4"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BE468E2-61F3-457D-B831-4697E70F3D55}" type="datetimeFigureOut">
              <a:rPr lang="en-CA"/>
              <a:pPr>
                <a:defRPr/>
              </a:pPr>
              <a:t>24/03/2012</a:t>
            </a:fld>
            <a:endParaRPr lang="en-CA" dirty="0"/>
          </a:p>
        </p:txBody>
      </p:sp>
      <p:sp>
        <p:nvSpPr>
          <p:cNvPr id="6" name="Slide Number Placeholder 5"/>
          <p:cNvSpPr>
            <a:spLocks noGrp="1"/>
          </p:cNvSpPr>
          <p:nvPr>
            <p:ph type="sldNum" sz="quarter" idx="11"/>
          </p:nvPr>
        </p:nvSpPr>
        <p:spPr/>
        <p:txBody>
          <a:bodyPr/>
          <a:lstStyle>
            <a:lvl1pPr>
              <a:defRPr/>
            </a:lvl1pPr>
          </a:lstStyle>
          <a:p>
            <a:pPr>
              <a:defRPr/>
            </a:pPr>
            <a:fld id="{1C55A4E6-4B1F-4582-BB2F-0672D0AC76BD}" type="slidenum">
              <a:rPr lang="en-CA"/>
              <a:pPr>
                <a:defRPr/>
              </a:pPr>
              <a:t>‹#›</a:t>
            </a:fld>
            <a:endParaRPr lang="en-CA" dirty="0"/>
          </a:p>
        </p:txBody>
      </p:sp>
      <p:sp>
        <p:nvSpPr>
          <p:cNvPr id="7"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7180BE4-AB9E-4FE3-A115-D460B703F283}" type="datetimeFigureOut">
              <a:rPr lang="en-CA"/>
              <a:pPr>
                <a:defRPr/>
              </a:pPr>
              <a:t>24/03/2012</a:t>
            </a:fld>
            <a:endParaRPr lang="en-CA" dirty="0"/>
          </a:p>
        </p:txBody>
      </p:sp>
      <p:sp>
        <p:nvSpPr>
          <p:cNvPr id="6" name="Slide Number Placeholder 5"/>
          <p:cNvSpPr>
            <a:spLocks noGrp="1"/>
          </p:cNvSpPr>
          <p:nvPr>
            <p:ph type="sldNum" sz="quarter" idx="11"/>
          </p:nvPr>
        </p:nvSpPr>
        <p:spPr/>
        <p:txBody>
          <a:bodyPr/>
          <a:lstStyle>
            <a:lvl1pPr>
              <a:defRPr/>
            </a:lvl1pPr>
          </a:lstStyle>
          <a:p>
            <a:pPr>
              <a:defRPr/>
            </a:pPr>
            <a:fld id="{EB357C86-678D-45E4-881F-F959004AA8C6}" type="slidenum">
              <a:rPr lang="en-CA"/>
              <a:pPr>
                <a:defRPr/>
              </a:pPr>
              <a:t>‹#›</a:t>
            </a:fld>
            <a:endParaRPr lang="en-CA" dirty="0"/>
          </a:p>
        </p:txBody>
      </p:sp>
      <p:sp>
        <p:nvSpPr>
          <p:cNvPr id="7"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F91FA15-E923-4371-8FD5-B9106B12D360}" type="datetimeFigureOut">
              <a:rPr lang="en-CA"/>
              <a:pPr>
                <a:defRPr/>
              </a:pPr>
              <a:t>24/03/2012</a:t>
            </a:fld>
            <a:endParaRPr lang="en-CA" dirty="0"/>
          </a:p>
        </p:txBody>
      </p:sp>
      <p:sp>
        <p:nvSpPr>
          <p:cNvPr id="5" name="Slide Number Placeholder 5"/>
          <p:cNvSpPr>
            <a:spLocks noGrp="1"/>
          </p:cNvSpPr>
          <p:nvPr>
            <p:ph type="sldNum" sz="quarter" idx="11"/>
          </p:nvPr>
        </p:nvSpPr>
        <p:spPr/>
        <p:txBody>
          <a:bodyPr/>
          <a:lstStyle>
            <a:lvl1pPr>
              <a:defRPr/>
            </a:lvl1pPr>
          </a:lstStyle>
          <a:p>
            <a:pPr>
              <a:defRPr/>
            </a:pPr>
            <a:fld id="{8E28AA66-9198-4A80-A1F8-1B7DCACA09E3}" type="slidenum">
              <a:rPr lang="en-CA"/>
              <a:pPr>
                <a:defRPr/>
              </a:pPr>
              <a:t>‹#›</a:t>
            </a:fld>
            <a:endParaRPr lang="en-CA" dirty="0"/>
          </a:p>
        </p:txBody>
      </p:sp>
      <p:sp>
        <p:nvSpPr>
          <p:cNvPr id="6"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0BE9DC0-D1A8-4352-82D9-F39E01D9C1E3}" type="datetimeFigureOut">
              <a:rPr lang="en-CA"/>
              <a:pPr>
                <a:defRPr/>
              </a:pPr>
              <a:t>24/03/2012</a:t>
            </a:fld>
            <a:endParaRPr lang="en-CA" dirty="0"/>
          </a:p>
        </p:txBody>
      </p:sp>
      <p:sp>
        <p:nvSpPr>
          <p:cNvPr id="5" name="Slide Number Placeholder 5"/>
          <p:cNvSpPr>
            <a:spLocks noGrp="1"/>
          </p:cNvSpPr>
          <p:nvPr>
            <p:ph type="sldNum" sz="quarter" idx="11"/>
          </p:nvPr>
        </p:nvSpPr>
        <p:spPr/>
        <p:txBody>
          <a:bodyPr/>
          <a:lstStyle>
            <a:lvl1pPr>
              <a:defRPr/>
            </a:lvl1pPr>
          </a:lstStyle>
          <a:p>
            <a:pPr>
              <a:defRPr/>
            </a:pPr>
            <a:fld id="{328246E6-B982-4FC2-AC3E-E2CDDCFAFAAE}" type="slidenum">
              <a:rPr lang="en-CA"/>
              <a:pPr>
                <a:defRPr/>
              </a:pPr>
              <a:t>‹#›</a:t>
            </a:fld>
            <a:endParaRPr lang="en-CA" dirty="0"/>
          </a:p>
        </p:txBody>
      </p:sp>
      <p:sp>
        <p:nvSpPr>
          <p:cNvPr id="6" name="Footer Placeholder 4"/>
          <p:cNvSpPr>
            <a:spLocks noGrp="1"/>
          </p:cNvSpPr>
          <p:nvPr>
            <p:ph type="ftr" sz="quarter" idx="12"/>
          </p:nvPr>
        </p:nvSpPr>
        <p:spPr/>
        <p:txBody>
          <a:bodyPr/>
          <a:lstStyle>
            <a:lvl1pPr>
              <a:defRPr/>
            </a:lvl1pPr>
          </a:lstStyle>
          <a:p>
            <a:pPr>
              <a:defRPr/>
            </a:pPr>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975" y="573088"/>
            <a:ext cx="85725" cy="5730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8569325" y="573088"/>
            <a:ext cx="576263" cy="5730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28" name="Title Placeholder 1"/>
          <p:cNvSpPr>
            <a:spLocks noGrp="1"/>
          </p:cNvSpPr>
          <p:nvPr>
            <p:ph type="title"/>
          </p:nvPr>
        </p:nvSpPr>
        <p:spPr bwMode="auto">
          <a:xfrm>
            <a:off x="914400" y="1544638"/>
            <a:ext cx="7315200" cy="115411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9" name="Text Placeholder 2"/>
          <p:cNvSpPr>
            <a:spLocks noGrp="1"/>
          </p:cNvSpPr>
          <p:nvPr>
            <p:ph type="body" idx="1"/>
          </p:nvPr>
        </p:nvSpPr>
        <p:spPr bwMode="auto">
          <a:xfrm>
            <a:off x="914400" y="2770188"/>
            <a:ext cx="7315200" cy="35385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07100" y="549275"/>
            <a:ext cx="1189038" cy="296863"/>
          </a:xfrm>
          <a:prstGeom prst="rect">
            <a:avLst/>
          </a:prstGeom>
        </p:spPr>
        <p:txBody>
          <a:bodyPr vert="horz" lIns="91440" tIns="45720" rIns="91440" bIns="45720" rtlCol="0" anchor="ctr"/>
          <a:lstStyle>
            <a:lvl1pPr algn="l" fontAlgn="auto">
              <a:spcBef>
                <a:spcPts val="0"/>
              </a:spcBef>
              <a:spcAft>
                <a:spcPts val="0"/>
              </a:spcAft>
              <a:defRPr sz="1200">
                <a:solidFill>
                  <a:schemeClr val="tx1">
                    <a:alpha val="50000"/>
                  </a:schemeClr>
                </a:solidFill>
                <a:latin typeface="+mn-lt"/>
              </a:defRPr>
            </a:lvl1pPr>
          </a:lstStyle>
          <a:p>
            <a:pPr>
              <a:defRPr/>
            </a:pPr>
            <a:fld id="{747E6242-9B72-4187-A5FE-6C479BC09E79}" type="datetimeFigureOut">
              <a:rPr lang="en-CA"/>
              <a:pPr>
                <a:defRPr/>
              </a:pPr>
              <a:t>24/03/2012</a:t>
            </a:fld>
            <a:endParaRPr lang="en-CA" dirty="0"/>
          </a:p>
        </p:txBody>
      </p:sp>
      <p:sp>
        <p:nvSpPr>
          <p:cNvPr id="6" name="Slide Number Placeholder 5"/>
          <p:cNvSpPr>
            <a:spLocks noGrp="1"/>
          </p:cNvSpPr>
          <p:nvPr>
            <p:ph type="sldNum" sz="quarter" idx="4"/>
          </p:nvPr>
        </p:nvSpPr>
        <p:spPr>
          <a:xfrm>
            <a:off x="7315200" y="549275"/>
            <a:ext cx="939800" cy="3016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02E77F5D-94C6-4CA1-99D8-036285292CAA}" type="slidenum">
              <a:rPr lang="en-CA"/>
              <a:pPr>
                <a:defRPr/>
              </a:pPr>
              <a:t>‹#›</a:t>
            </a:fld>
            <a:endParaRPr lang="en-CA" dirty="0"/>
          </a:p>
        </p:txBody>
      </p:sp>
      <p:sp>
        <p:nvSpPr>
          <p:cNvPr id="5" name="Footer Placeholder 4"/>
          <p:cNvSpPr>
            <a:spLocks noGrp="1"/>
          </p:cNvSpPr>
          <p:nvPr>
            <p:ph type="ftr" sz="quarter" idx="3"/>
          </p:nvPr>
        </p:nvSpPr>
        <p:spPr>
          <a:xfrm>
            <a:off x="6008688" y="855663"/>
            <a:ext cx="2246312" cy="301625"/>
          </a:xfrm>
          <a:prstGeom prst="rect">
            <a:avLst/>
          </a:prstGeom>
        </p:spPr>
        <p:txBody>
          <a:bodyPr vert="horz" lIns="91440" tIns="0" rIns="91440" bIns="45720" rtlCol="0" anchor="t"/>
          <a:lstStyle>
            <a:lvl1pPr algn="l" fontAlgn="auto">
              <a:spcBef>
                <a:spcPts val="0"/>
              </a:spcBef>
              <a:spcAft>
                <a:spcPts val="0"/>
              </a:spcAft>
              <a:defRPr sz="1000">
                <a:solidFill>
                  <a:schemeClr val="tx1"/>
                </a:solidFill>
                <a:latin typeface="+mn-lt"/>
              </a:defRPr>
            </a:lvl1pPr>
          </a:lstStyle>
          <a:p>
            <a:pPr>
              <a:defRPr/>
            </a:pPr>
            <a:endParaRPr lang="en-CA"/>
          </a:p>
        </p:txBody>
      </p:sp>
    </p:spTree>
  </p:cSld>
  <p:clrMap bg1="dk1" tx1="lt1" bg2="dk2" tx2="lt2" accent1="accent1" accent2="accent2" accent3="accent3" accent4="accent4" accent5="accent5" accent6="accent6" hlink="hlink" folHlink="folHlink"/>
  <p:sldLayoutIdLst>
    <p:sldLayoutId id="2147483767" r:id="rId1"/>
    <p:sldLayoutId id="2147483766" r:id="rId2"/>
    <p:sldLayoutId id="2147483765" r:id="rId3"/>
    <p:sldLayoutId id="2147483764" r:id="rId4"/>
    <p:sldLayoutId id="2147483763" r:id="rId5"/>
    <p:sldLayoutId id="2147483762" r:id="rId6"/>
    <p:sldLayoutId id="2147483761" r:id="rId7"/>
    <p:sldLayoutId id="2147483760" r:id="rId8"/>
    <p:sldLayoutId id="2147483759" r:id="rId9"/>
    <p:sldLayoutId id="2147483758" r:id="rId10"/>
    <p:sldLayoutId id="2147483757"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563" algn="l" rtl="0" eaLnBrk="0" fontAlgn="base" hangingPunct="0">
        <a:spcBef>
          <a:spcPct val="20000"/>
        </a:spcBef>
        <a:spcAft>
          <a:spcPct val="0"/>
        </a:spcAft>
        <a:buClr>
          <a:schemeClr val="tx2"/>
        </a:buClr>
        <a:buFont typeface="Wingdings" pitchFamily="2" charset="2"/>
        <a:buChar char="§"/>
        <a:defRPr sz="2000" kern="1200">
          <a:solidFill>
            <a:schemeClr val="tx1"/>
          </a:solidFill>
          <a:latin typeface="+mn-lt"/>
          <a:ea typeface="+mn-ea"/>
          <a:cs typeface="+mn-cs"/>
        </a:defRPr>
      </a:lvl1pPr>
      <a:lvl2pPr marL="501650" indent="-182563" algn="l" rtl="0" eaLnBrk="0" fontAlgn="base" hangingPunct="0">
        <a:spcBef>
          <a:spcPct val="20000"/>
        </a:spcBef>
        <a:spcAft>
          <a:spcPct val="0"/>
        </a:spcAft>
        <a:buClr>
          <a:schemeClr val="tx2"/>
        </a:buClr>
        <a:buFont typeface="Wingdings" pitchFamily="2" charset="2"/>
        <a:buChar char="§"/>
        <a:defRPr kern="1200">
          <a:solidFill>
            <a:schemeClr val="tx1"/>
          </a:solidFill>
          <a:latin typeface="+mn-lt"/>
          <a:ea typeface="+mn-ea"/>
          <a:cs typeface="+mn-cs"/>
        </a:defRPr>
      </a:lvl2pPr>
      <a:lvl3pPr marL="685800" indent="-182563" algn="l" rtl="0" eaLnBrk="0" fontAlgn="base" hangingPunct="0">
        <a:spcBef>
          <a:spcPct val="20000"/>
        </a:spcBef>
        <a:spcAft>
          <a:spcPct val="0"/>
        </a:spcAft>
        <a:buClr>
          <a:schemeClr val="tx2"/>
        </a:buClr>
        <a:buFont typeface="Wingdings" pitchFamily="2" charset="2"/>
        <a:buChar char="§"/>
        <a:defRPr sz="1600" kern="1200">
          <a:solidFill>
            <a:schemeClr val="tx1"/>
          </a:solidFill>
          <a:latin typeface="+mn-lt"/>
          <a:ea typeface="+mn-ea"/>
          <a:cs typeface="+mn-cs"/>
        </a:defRPr>
      </a:lvl3pPr>
      <a:lvl4pPr marL="914400" indent="-182563" algn="l" rtl="0" eaLnBrk="0" fontAlgn="base" hangingPunct="0">
        <a:spcBef>
          <a:spcPct val="20000"/>
        </a:spcBef>
        <a:spcAft>
          <a:spcPct val="0"/>
        </a:spcAft>
        <a:buClr>
          <a:schemeClr val="tx2"/>
        </a:buClr>
        <a:buFont typeface="Wingdings" pitchFamily="2" charset="2"/>
        <a:buChar char="§"/>
        <a:defRPr sz="1400" kern="1200">
          <a:solidFill>
            <a:schemeClr val="tx1"/>
          </a:solidFill>
          <a:latin typeface="+mn-lt"/>
          <a:ea typeface="+mn-ea"/>
          <a:cs typeface="+mn-cs"/>
        </a:defRPr>
      </a:lvl4pPr>
      <a:lvl5pPr marL="1143000" indent="-182563" algn="l" rtl="0" eaLnBrk="0" fontAlgn="base" hangingPunct="0">
        <a:spcBef>
          <a:spcPct val="20000"/>
        </a:spcBef>
        <a:spcAft>
          <a:spcPct val="0"/>
        </a:spcAft>
        <a:buClr>
          <a:schemeClr val="tx2"/>
        </a:buClr>
        <a:buFont typeface="Wingdings" pitchFamily="2"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395288" y="476250"/>
            <a:ext cx="8424862" cy="2595563"/>
          </a:xfrm>
        </p:spPr>
        <p:txBody>
          <a:bodyPr/>
          <a:lstStyle/>
          <a:p>
            <a:pPr algn="ctr" eaLnBrk="1" hangingPunct="1"/>
            <a:r>
              <a:rPr lang="en-CA" smtClean="0"/>
              <a:t>CHAOULLI V. QUEBEC (AG), 2005</a:t>
            </a:r>
          </a:p>
        </p:txBody>
      </p:sp>
      <p:pic>
        <p:nvPicPr>
          <p:cNvPr id="14338" name="Picture 2"/>
          <p:cNvPicPr>
            <a:picLocks noChangeAspect="1" noChangeArrowheads="1"/>
          </p:cNvPicPr>
          <p:nvPr/>
        </p:nvPicPr>
        <p:blipFill>
          <a:blip r:embed="rId2"/>
          <a:srcRect/>
          <a:stretch>
            <a:fillRect/>
          </a:stretch>
        </p:blipFill>
        <p:spPr bwMode="auto">
          <a:xfrm>
            <a:off x="1258888" y="3987800"/>
            <a:ext cx="1962150" cy="1143000"/>
          </a:xfrm>
          <a:prstGeom prst="rect">
            <a:avLst/>
          </a:prstGeom>
          <a:noFill/>
          <a:ln w="9525">
            <a:noFill/>
            <a:miter lim="800000"/>
            <a:headEnd/>
            <a:tailEnd/>
          </a:ln>
        </p:spPr>
      </p:pic>
      <p:pic>
        <p:nvPicPr>
          <p:cNvPr id="14339" name="Picture 3"/>
          <p:cNvPicPr>
            <a:picLocks noChangeAspect="1" noChangeArrowheads="1"/>
          </p:cNvPicPr>
          <p:nvPr/>
        </p:nvPicPr>
        <p:blipFill>
          <a:blip r:embed="rId3"/>
          <a:srcRect/>
          <a:stretch>
            <a:fillRect/>
          </a:stretch>
        </p:blipFill>
        <p:spPr bwMode="auto">
          <a:xfrm>
            <a:off x="6084888" y="3987800"/>
            <a:ext cx="1970087" cy="1182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Box 1"/>
          <p:cNvSpPr txBox="1">
            <a:spLocks noChangeArrowheads="1"/>
          </p:cNvSpPr>
          <p:nvPr/>
        </p:nvSpPr>
        <p:spPr bwMode="auto">
          <a:xfrm>
            <a:off x="1476375" y="549275"/>
            <a:ext cx="6408738" cy="768350"/>
          </a:xfrm>
          <a:prstGeom prst="rect">
            <a:avLst/>
          </a:prstGeom>
          <a:noFill/>
          <a:ln w="9525">
            <a:noFill/>
            <a:miter lim="800000"/>
            <a:headEnd/>
            <a:tailEnd/>
          </a:ln>
        </p:spPr>
        <p:txBody>
          <a:bodyPr>
            <a:spAutoFit/>
          </a:bodyPr>
          <a:lstStyle/>
          <a:p>
            <a:pPr algn="ctr"/>
            <a:r>
              <a:rPr lang="en-CA" sz="4400"/>
              <a:t>CASE SUMMARY</a:t>
            </a:r>
          </a:p>
        </p:txBody>
      </p:sp>
      <p:sp>
        <p:nvSpPr>
          <p:cNvPr id="15362" name="TextBox 2"/>
          <p:cNvSpPr txBox="1">
            <a:spLocks noChangeArrowheads="1"/>
          </p:cNvSpPr>
          <p:nvPr/>
        </p:nvSpPr>
        <p:spPr bwMode="auto">
          <a:xfrm>
            <a:off x="468313" y="1844675"/>
            <a:ext cx="8424862" cy="2308225"/>
          </a:xfrm>
          <a:prstGeom prst="rect">
            <a:avLst/>
          </a:prstGeom>
          <a:noFill/>
          <a:ln w="9525">
            <a:noFill/>
            <a:miter lim="800000"/>
            <a:headEnd/>
            <a:tailEnd/>
          </a:ln>
        </p:spPr>
        <p:txBody>
          <a:bodyPr>
            <a:spAutoFit/>
          </a:bodyPr>
          <a:lstStyle/>
          <a:p>
            <a:r>
              <a:rPr lang="en-CA"/>
              <a:t>      </a:t>
            </a:r>
            <a:r>
              <a:rPr lang="en-CA" sz="2400" b="1"/>
              <a:t>WAIT TIMES </a:t>
            </a:r>
          </a:p>
          <a:p>
            <a:r>
              <a:rPr lang="en-CA" sz="2400" b="1"/>
              <a:t>     QUEBEC’S HEALTH INSURANCE ACT (s.15) </a:t>
            </a:r>
          </a:p>
          <a:p>
            <a:r>
              <a:rPr lang="en-CA" sz="2400" b="1"/>
              <a:t>     QUEBEC’S HOSPITAL INSURANCE ACT (s.11)</a:t>
            </a:r>
          </a:p>
          <a:p>
            <a:endParaRPr lang="en-CA" sz="2400" b="1"/>
          </a:p>
          <a:p>
            <a:r>
              <a:rPr lang="en-CA" sz="2400" b="1"/>
              <a:t>      VIOLATION OF QUEBEC’S CHARTER OF HUMAN 			RIGHTS AND FREEDOMS</a:t>
            </a:r>
          </a:p>
        </p:txBody>
      </p:sp>
      <p:cxnSp>
        <p:nvCxnSpPr>
          <p:cNvPr id="5" name="Straight Connector 4"/>
          <p:cNvCxnSpPr/>
          <p:nvPr/>
        </p:nvCxnSpPr>
        <p:spPr>
          <a:xfrm>
            <a:off x="684213" y="3136900"/>
            <a:ext cx="7488237"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5364" name="TextBox 5"/>
          <p:cNvSpPr txBox="1">
            <a:spLocks noChangeArrowheads="1"/>
          </p:cNvSpPr>
          <p:nvPr/>
        </p:nvSpPr>
        <p:spPr bwMode="auto">
          <a:xfrm>
            <a:off x="366713" y="1928813"/>
            <a:ext cx="431800" cy="923925"/>
          </a:xfrm>
          <a:prstGeom prst="rect">
            <a:avLst/>
          </a:prstGeom>
          <a:noFill/>
          <a:ln w="9525">
            <a:noFill/>
            <a:miter lim="800000"/>
            <a:headEnd/>
            <a:tailEnd/>
          </a:ln>
        </p:spPr>
        <p:txBody>
          <a:bodyPr>
            <a:spAutoFit/>
          </a:bodyPr>
          <a:lstStyle/>
          <a:p>
            <a:r>
              <a:rPr lang="en-CA" sz="5400"/>
              <a:t>+</a:t>
            </a:r>
          </a:p>
        </p:txBody>
      </p:sp>
      <p:sp>
        <p:nvSpPr>
          <p:cNvPr id="15365" name="TextBox 9"/>
          <p:cNvSpPr txBox="1">
            <a:spLocks noChangeArrowheads="1"/>
          </p:cNvSpPr>
          <p:nvPr/>
        </p:nvSpPr>
        <p:spPr bwMode="auto">
          <a:xfrm>
            <a:off x="3348038" y="4508500"/>
            <a:ext cx="5400675" cy="1385888"/>
          </a:xfrm>
          <a:prstGeom prst="rect">
            <a:avLst/>
          </a:prstGeom>
          <a:noFill/>
          <a:ln w="9525">
            <a:noFill/>
            <a:miter lim="800000"/>
            <a:headEnd/>
            <a:tailEnd/>
          </a:ln>
        </p:spPr>
        <p:txBody>
          <a:bodyPr>
            <a:spAutoFit/>
          </a:bodyPr>
          <a:lstStyle/>
          <a:p>
            <a:r>
              <a:rPr lang="en-CA" sz="2800" b="1">
                <a:solidFill>
                  <a:srgbClr val="FFC000"/>
                </a:solidFill>
              </a:rPr>
              <a:t>LIFE</a:t>
            </a:r>
          </a:p>
          <a:p>
            <a:r>
              <a:rPr lang="en-CA" sz="2800" b="1">
                <a:solidFill>
                  <a:srgbClr val="FFC000"/>
                </a:solidFill>
              </a:rPr>
              <a:t>SECURITY</a:t>
            </a:r>
          </a:p>
          <a:p>
            <a:r>
              <a:rPr lang="en-CA" sz="2800" b="1">
                <a:solidFill>
                  <a:srgbClr val="FFC000"/>
                </a:solidFill>
              </a:rPr>
              <a:t>INVIOLABILITY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900113" y="333375"/>
            <a:ext cx="7315200" cy="865188"/>
          </a:xfrm>
        </p:spPr>
        <p:txBody>
          <a:bodyPr/>
          <a:lstStyle/>
          <a:p>
            <a:pPr algn="ctr" eaLnBrk="1" hangingPunct="1"/>
            <a:r>
              <a:rPr lang="en-CA" smtClean="0"/>
              <a:t>3 OPINIONS</a:t>
            </a:r>
          </a:p>
        </p:txBody>
      </p:sp>
      <p:sp>
        <p:nvSpPr>
          <p:cNvPr id="3" name="Content Placeholder 2"/>
          <p:cNvSpPr>
            <a:spLocks noGrp="1"/>
          </p:cNvSpPr>
          <p:nvPr>
            <p:ph idx="1"/>
          </p:nvPr>
        </p:nvSpPr>
        <p:spPr>
          <a:xfrm>
            <a:off x="9525" y="2089150"/>
            <a:ext cx="8929688" cy="3716338"/>
          </a:xfrm>
        </p:spPr>
        <p:txBody>
          <a:bodyPr rtlCol="0">
            <a:normAutofit fontScale="92500"/>
          </a:bodyPr>
          <a:lstStyle/>
          <a:p>
            <a:pPr indent="-182880" eaLnBrk="1" fontAlgn="auto" hangingPunct="1">
              <a:spcAft>
                <a:spcPts val="0"/>
              </a:spcAft>
              <a:buFont typeface="Wingdings" charset="2"/>
              <a:buChar char="§"/>
              <a:defRPr/>
            </a:pPr>
            <a:r>
              <a:rPr lang="en-CA" sz="2400" b="1" dirty="0" smtClean="0">
                <a:solidFill>
                  <a:srgbClr val="00FF00"/>
                </a:solidFill>
              </a:rPr>
              <a:t>DESCHAMPS</a:t>
            </a:r>
          </a:p>
          <a:p>
            <a:pPr marL="502920" lvl="1" indent="-182880" eaLnBrk="1" fontAlgn="auto" hangingPunct="1">
              <a:spcAft>
                <a:spcPts val="0"/>
              </a:spcAft>
              <a:buFont typeface="Wingdings" charset="2"/>
              <a:buChar char="§"/>
              <a:defRPr/>
            </a:pPr>
            <a:r>
              <a:rPr lang="en-CA" sz="2400" dirty="0" smtClean="0"/>
              <a:t>REFERRED ONLY TO THE QUEBEC CHARTER AND NOT THE CANADIAN CHARTER.</a:t>
            </a:r>
          </a:p>
          <a:p>
            <a:pPr marL="502920" lvl="1" indent="-182880" eaLnBrk="1" fontAlgn="auto" hangingPunct="1">
              <a:spcAft>
                <a:spcPts val="0"/>
              </a:spcAft>
              <a:buFont typeface="Wingdings" charset="2"/>
              <a:buChar char="§"/>
              <a:defRPr/>
            </a:pPr>
            <a:r>
              <a:rPr lang="en-CA" sz="2400" dirty="0" smtClean="0"/>
              <a:t>VIOLATES </a:t>
            </a:r>
            <a:r>
              <a:rPr lang="en-CA" sz="2400" b="1" dirty="0" smtClean="0"/>
              <a:t>s1</a:t>
            </a:r>
            <a:r>
              <a:rPr lang="en-CA" sz="2400" dirty="0" smtClean="0"/>
              <a:t> OF THE QUEBEC CHARTER (LIFE &amp; SECURITY)</a:t>
            </a:r>
          </a:p>
          <a:p>
            <a:pPr marL="502920" lvl="1" indent="-182880" eaLnBrk="1" fontAlgn="auto" hangingPunct="1">
              <a:spcAft>
                <a:spcPts val="0"/>
              </a:spcAft>
              <a:buFont typeface="Wingdings" charset="2"/>
              <a:buChar char="§"/>
              <a:defRPr/>
            </a:pPr>
            <a:r>
              <a:rPr lang="en-CA" sz="2400" b="1" dirty="0" smtClean="0"/>
              <a:t>s9.1</a:t>
            </a:r>
            <a:r>
              <a:rPr lang="en-CA" sz="2400" dirty="0" smtClean="0"/>
              <a:t> (JUSITICIFACTION FOR PROHIBITION)</a:t>
            </a:r>
          </a:p>
          <a:p>
            <a:pPr lvl="4" indent="-182880" eaLnBrk="1" fontAlgn="auto" hangingPunct="1">
              <a:spcAft>
                <a:spcPts val="0"/>
              </a:spcAft>
              <a:buFont typeface="Wingdings" charset="2"/>
              <a:buChar char="§"/>
              <a:defRPr/>
            </a:pPr>
            <a:r>
              <a:rPr lang="en-CA" sz="2000" i="1" dirty="0" smtClean="0"/>
              <a:t>DEMOCRATIC VALUES, PUBLIC ORDER, &amp; GENERAL WELL-BEING OF THE CITIZENS OF QUEBEC</a:t>
            </a:r>
          </a:p>
          <a:p>
            <a:pPr lvl="2" indent="-182880" eaLnBrk="1" fontAlgn="auto" hangingPunct="1">
              <a:spcAft>
                <a:spcPts val="0"/>
              </a:spcAft>
              <a:buFont typeface="Wingdings" charset="2"/>
              <a:buChar char="§"/>
              <a:defRPr/>
            </a:pPr>
            <a:r>
              <a:rPr lang="en-CA" sz="1800" dirty="0" smtClean="0"/>
              <a:t>OAKES TEST</a:t>
            </a:r>
          </a:p>
          <a:p>
            <a:pPr lvl="3" indent="-182880" eaLnBrk="1" fontAlgn="auto" hangingPunct="1">
              <a:spcAft>
                <a:spcPts val="0"/>
              </a:spcAft>
              <a:buFont typeface="Wingdings" charset="2"/>
              <a:buChar char="§"/>
              <a:defRPr/>
            </a:pPr>
            <a:r>
              <a:rPr lang="en-CA" sz="1800" dirty="0" smtClean="0"/>
              <a:t>QUEBEC AG FAILED TO PROVE THAT SUCH RESTRICTION WAS </a:t>
            </a:r>
            <a:r>
              <a:rPr lang="en-CA" sz="1800" b="1" dirty="0" smtClean="0"/>
              <a:t>MINIMALLY IMPAIRING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900113" y="476250"/>
            <a:ext cx="7315200" cy="782638"/>
          </a:xfrm>
        </p:spPr>
        <p:txBody>
          <a:bodyPr/>
          <a:lstStyle/>
          <a:p>
            <a:pPr algn="ctr" eaLnBrk="1" hangingPunct="1"/>
            <a:r>
              <a:rPr lang="en-CA" smtClean="0"/>
              <a:t>3 OPINIONS</a:t>
            </a:r>
          </a:p>
        </p:txBody>
      </p:sp>
      <p:sp>
        <p:nvSpPr>
          <p:cNvPr id="3" name="Content Placeholder 2"/>
          <p:cNvSpPr>
            <a:spLocks noGrp="1"/>
          </p:cNvSpPr>
          <p:nvPr>
            <p:ph idx="1"/>
          </p:nvPr>
        </p:nvSpPr>
        <p:spPr>
          <a:xfrm>
            <a:off x="468313" y="1557338"/>
            <a:ext cx="8229600" cy="5184775"/>
          </a:xfrm>
        </p:spPr>
        <p:txBody>
          <a:bodyPr rtlCol="0">
            <a:normAutofit lnSpcReduction="10000"/>
          </a:bodyPr>
          <a:lstStyle/>
          <a:p>
            <a:pPr marL="285750" indent="-285750" eaLnBrk="1" fontAlgn="auto" hangingPunct="1">
              <a:spcAft>
                <a:spcPts val="0"/>
              </a:spcAft>
              <a:defRPr/>
            </a:pPr>
            <a:r>
              <a:rPr lang="en-CA" sz="2400" b="1" dirty="0">
                <a:solidFill>
                  <a:srgbClr val="00FF00"/>
                </a:solidFill>
              </a:rPr>
              <a:t>CHIEF JUSTICE &amp; MAJOR</a:t>
            </a:r>
          </a:p>
          <a:p>
            <a:pPr marL="742950" lvl="1" indent="-285750" eaLnBrk="1" fontAlgn="auto" hangingPunct="1">
              <a:spcAft>
                <a:spcPts val="0"/>
              </a:spcAft>
              <a:defRPr/>
            </a:pPr>
            <a:r>
              <a:rPr lang="en-CA" sz="2400" dirty="0">
                <a:solidFill>
                  <a:schemeClr val="tx1">
                    <a:lumMod val="95000"/>
                  </a:schemeClr>
                </a:solidFill>
              </a:rPr>
              <a:t>VIOLATES </a:t>
            </a:r>
            <a:r>
              <a:rPr lang="en-CA" sz="2400" b="1" dirty="0">
                <a:solidFill>
                  <a:schemeClr val="tx1">
                    <a:lumMod val="95000"/>
                  </a:schemeClr>
                </a:solidFill>
              </a:rPr>
              <a:t>s7</a:t>
            </a:r>
            <a:r>
              <a:rPr lang="en-CA" sz="2400" dirty="0">
                <a:solidFill>
                  <a:schemeClr val="tx1">
                    <a:lumMod val="95000"/>
                  </a:schemeClr>
                </a:solidFill>
              </a:rPr>
              <a:t> OF THE CANADIAN </a:t>
            </a:r>
            <a:r>
              <a:rPr lang="en-CA" sz="2400" dirty="0" smtClean="0">
                <a:solidFill>
                  <a:schemeClr val="tx1">
                    <a:lumMod val="95000"/>
                  </a:schemeClr>
                </a:solidFill>
              </a:rPr>
              <a:t>CHARTER</a:t>
            </a:r>
          </a:p>
          <a:p>
            <a:pPr marL="742950" lvl="1" indent="-285750" eaLnBrk="1" fontAlgn="auto" hangingPunct="1">
              <a:spcAft>
                <a:spcPts val="0"/>
              </a:spcAft>
              <a:defRPr/>
            </a:pPr>
            <a:r>
              <a:rPr lang="en-CA" sz="2400" dirty="0" smtClean="0">
                <a:solidFill>
                  <a:schemeClr val="tx1">
                    <a:lumMod val="95000"/>
                  </a:schemeClr>
                </a:solidFill>
              </a:rPr>
              <a:t>PRINCIPLES </a:t>
            </a:r>
            <a:r>
              <a:rPr lang="en-CA" sz="2400" dirty="0">
                <a:solidFill>
                  <a:schemeClr val="tx1">
                    <a:lumMod val="95000"/>
                  </a:schemeClr>
                </a:solidFill>
              </a:rPr>
              <a:t>OF FUNDAMENTAL JUSTICE</a:t>
            </a:r>
            <a:r>
              <a:rPr lang="en-CA" sz="2400" dirty="0" smtClean="0">
                <a:solidFill>
                  <a:schemeClr val="tx1">
                    <a:lumMod val="95000"/>
                  </a:schemeClr>
                </a:solidFill>
              </a:rPr>
              <a:t>:</a:t>
            </a:r>
          </a:p>
          <a:p>
            <a:pPr marL="1200150" lvl="2" indent="-285750" eaLnBrk="1" fontAlgn="auto" hangingPunct="1">
              <a:spcAft>
                <a:spcPts val="0"/>
              </a:spcAft>
              <a:defRPr/>
            </a:pPr>
            <a:r>
              <a:rPr lang="en-CA" sz="1800" i="1" dirty="0">
                <a:solidFill>
                  <a:schemeClr val="tx1">
                    <a:lumMod val="95000"/>
                  </a:schemeClr>
                </a:solidFill>
              </a:rPr>
              <a:t>LAWS SHALL NOT BE ARBITRARY</a:t>
            </a:r>
          </a:p>
          <a:p>
            <a:pPr marL="1428750" lvl="3" indent="-285750" eaLnBrk="1" fontAlgn="auto" hangingPunct="1">
              <a:spcAft>
                <a:spcPts val="0"/>
              </a:spcAft>
              <a:defRPr/>
            </a:pPr>
            <a:r>
              <a:rPr lang="en-CA" sz="1600" i="1" dirty="0">
                <a:solidFill>
                  <a:schemeClr val="tx1">
                    <a:lumMod val="95000"/>
                  </a:schemeClr>
                </a:solidFill>
              </a:rPr>
              <a:t>ARBITRARY = NO RELATION TO OR INCONSISTENT WITH </a:t>
            </a:r>
            <a:r>
              <a:rPr lang="en-CA" sz="1600" i="1" dirty="0" smtClean="0">
                <a:solidFill>
                  <a:schemeClr val="tx1">
                    <a:lumMod val="95000"/>
                  </a:schemeClr>
                </a:solidFill>
              </a:rPr>
              <a:t>ITS OBJECTIVE</a:t>
            </a:r>
            <a:endParaRPr lang="en-CA" sz="1600" i="1" dirty="0">
              <a:solidFill>
                <a:schemeClr val="tx1">
                  <a:lumMod val="95000"/>
                </a:schemeClr>
              </a:solidFill>
            </a:endParaRPr>
          </a:p>
          <a:p>
            <a:pPr marL="1657350" lvl="4" indent="-285750" eaLnBrk="1" fontAlgn="auto" hangingPunct="1">
              <a:spcAft>
                <a:spcPts val="0"/>
              </a:spcAft>
              <a:defRPr/>
            </a:pPr>
            <a:r>
              <a:rPr lang="en-CA" sz="1600" dirty="0">
                <a:solidFill>
                  <a:schemeClr val="tx1">
                    <a:lumMod val="95000"/>
                  </a:schemeClr>
                </a:solidFill>
              </a:rPr>
              <a:t>INTL. EVIDENCE SHOWS PROHIBITION OF PRIVATE INSURANCE IS ARBITRARY AND THEREFORE BREACHES </a:t>
            </a:r>
            <a:r>
              <a:rPr lang="en-CA" sz="1600" b="1" dirty="0" smtClean="0">
                <a:solidFill>
                  <a:schemeClr val="tx1">
                    <a:lumMod val="95000"/>
                  </a:schemeClr>
                </a:solidFill>
              </a:rPr>
              <a:t>s7</a:t>
            </a:r>
          </a:p>
          <a:p>
            <a:pPr marL="1657350" lvl="4" indent="-285750" eaLnBrk="1" fontAlgn="auto" hangingPunct="1">
              <a:spcAft>
                <a:spcPts val="0"/>
              </a:spcAft>
              <a:defRPr/>
            </a:pPr>
            <a:endParaRPr lang="en-CA" sz="1600" b="1" i="1" dirty="0">
              <a:solidFill>
                <a:schemeClr val="tx1">
                  <a:lumMod val="95000"/>
                </a:schemeClr>
              </a:solidFill>
            </a:endParaRPr>
          </a:p>
          <a:p>
            <a:pPr marL="1371600" lvl="4" indent="0" eaLnBrk="1" fontAlgn="auto" hangingPunct="1">
              <a:spcAft>
                <a:spcPts val="0"/>
              </a:spcAft>
              <a:buFont typeface="Wingdings" charset="2"/>
              <a:buNone/>
              <a:defRPr/>
            </a:pPr>
            <a:r>
              <a:rPr lang="en-CA" sz="1600" b="1" i="1" dirty="0" smtClean="0">
                <a:solidFill>
                  <a:schemeClr val="tx1">
                    <a:lumMod val="95000"/>
                  </a:schemeClr>
                </a:solidFill>
              </a:rPr>
              <a:t>			      BUT</a:t>
            </a:r>
            <a:endParaRPr lang="en-CA" sz="1600" b="1" i="1" dirty="0">
              <a:solidFill>
                <a:schemeClr val="tx1">
                  <a:lumMod val="95000"/>
                </a:schemeClr>
              </a:solidFill>
            </a:endParaRPr>
          </a:p>
          <a:p>
            <a:pPr marL="1371600" lvl="4" indent="0" algn="ctr" eaLnBrk="1" fontAlgn="auto" hangingPunct="1">
              <a:spcAft>
                <a:spcPts val="0"/>
              </a:spcAft>
              <a:buFont typeface="Wingdings" charset="2"/>
              <a:buNone/>
              <a:defRPr/>
            </a:pPr>
            <a:r>
              <a:rPr lang="en-CA" sz="1600" b="1" i="1" dirty="0">
                <a:solidFill>
                  <a:schemeClr val="tx1">
                    <a:lumMod val="95000"/>
                  </a:schemeClr>
                </a:solidFill>
              </a:rPr>
              <a:t>CAN IT BE JUSTIFIED UNDER s1 -  AS A REASONBLE LIMIT DEMONSTRABLY JUSTIFIED IN A FREE AND DEMOCRATIC SOCIETY?</a:t>
            </a:r>
          </a:p>
          <a:p>
            <a:pPr marL="1371600" lvl="4" indent="0" eaLnBrk="1" fontAlgn="auto" hangingPunct="1">
              <a:spcAft>
                <a:spcPts val="0"/>
              </a:spcAft>
              <a:buFont typeface="Wingdings" charset="2"/>
              <a:buNone/>
              <a:defRPr/>
            </a:pPr>
            <a:endParaRPr lang="en-CA" b="1" dirty="0">
              <a:solidFill>
                <a:schemeClr val="tx1">
                  <a:lumMod val="95000"/>
                </a:schemeClr>
              </a:solidFill>
            </a:endParaRPr>
          </a:p>
          <a:p>
            <a:pPr marL="742950" lvl="1" indent="-285750" eaLnBrk="1" fontAlgn="auto" hangingPunct="1">
              <a:spcAft>
                <a:spcPts val="0"/>
              </a:spcAft>
              <a:defRPr/>
            </a:pPr>
            <a:r>
              <a:rPr lang="en-CA" sz="2000" dirty="0" smtClean="0">
                <a:solidFill>
                  <a:schemeClr val="tx1">
                    <a:lumMod val="95000"/>
                  </a:schemeClr>
                </a:solidFill>
              </a:rPr>
              <a:t>OAKES TEST</a:t>
            </a:r>
          </a:p>
          <a:p>
            <a:pPr marL="925830" lvl="2" indent="-285750" eaLnBrk="1" fontAlgn="auto" hangingPunct="1">
              <a:spcAft>
                <a:spcPts val="0"/>
              </a:spcAft>
              <a:defRPr/>
            </a:pPr>
            <a:r>
              <a:rPr lang="en-CA" sz="1800" dirty="0" smtClean="0">
                <a:solidFill>
                  <a:schemeClr val="tx1">
                    <a:lumMod val="95000"/>
                  </a:schemeClr>
                </a:solidFill>
              </a:rPr>
              <a:t>FAILED TO PROVE A RATIONAL CONNECTION FOR THE SAME REASON THAT IT BREACHED </a:t>
            </a:r>
            <a:r>
              <a:rPr lang="en-CA" sz="1800" b="1" dirty="0" smtClean="0">
                <a:solidFill>
                  <a:schemeClr val="tx1">
                    <a:lumMod val="95000"/>
                  </a:schemeClr>
                </a:solidFill>
              </a:rPr>
              <a:t>s7</a:t>
            </a:r>
            <a:endParaRPr lang="en-CA" sz="1800" b="1" dirty="0">
              <a:solidFill>
                <a:schemeClr val="tx1">
                  <a:lumMod val="95000"/>
                </a:schemeClr>
              </a:solidFill>
            </a:endParaRPr>
          </a:p>
          <a:p>
            <a:pPr marL="1200150" lvl="2" indent="-285750" eaLnBrk="1" fontAlgn="auto" hangingPunct="1">
              <a:spcAft>
                <a:spcPts val="0"/>
              </a:spcAft>
              <a:defRPr/>
            </a:pPr>
            <a:endParaRPr lang="en-CA" sz="1800" i="1" dirty="0" smtClean="0">
              <a:solidFill>
                <a:schemeClr val="tx1">
                  <a:lumMod val="95000"/>
                </a:schemeClr>
              </a:solidFill>
            </a:endParaRPr>
          </a:p>
          <a:p>
            <a:pPr marL="1428750" lvl="3" indent="-285750" eaLnBrk="1" fontAlgn="auto" hangingPunct="1">
              <a:spcAft>
                <a:spcPts val="0"/>
              </a:spcAft>
              <a:defRPr/>
            </a:pPr>
            <a:endParaRPr lang="en-CA" i="1" dirty="0">
              <a:solidFill>
                <a:schemeClr val="tx1">
                  <a:lumMod val="95000"/>
                </a:schemeClr>
              </a:solidFill>
            </a:endParaRPr>
          </a:p>
          <a:p>
            <a:pPr indent="-182880" eaLnBrk="1" fontAlgn="auto" hangingPunct="1">
              <a:spcAft>
                <a:spcPts val="0"/>
              </a:spcAft>
              <a:buFont typeface="Wingdings" charset="2"/>
              <a:buChar char="§"/>
              <a:defRPr/>
            </a:pPr>
            <a:endParaRPr lang="en-CA"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827088" y="549275"/>
            <a:ext cx="7315200" cy="709613"/>
          </a:xfrm>
        </p:spPr>
        <p:txBody>
          <a:bodyPr/>
          <a:lstStyle/>
          <a:p>
            <a:pPr algn="ctr" eaLnBrk="1" hangingPunct="1"/>
            <a:r>
              <a:rPr lang="en-CA" smtClean="0"/>
              <a:t>3 OPINIONS</a:t>
            </a:r>
          </a:p>
        </p:txBody>
      </p:sp>
      <p:sp>
        <p:nvSpPr>
          <p:cNvPr id="3" name="Content Placeholder 2"/>
          <p:cNvSpPr>
            <a:spLocks noGrp="1"/>
          </p:cNvSpPr>
          <p:nvPr>
            <p:ph idx="1"/>
          </p:nvPr>
        </p:nvSpPr>
        <p:spPr>
          <a:xfrm>
            <a:off x="250825" y="1700213"/>
            <a:ext cx="8410575" cy="4681537"/>
          </a:xfrm>
        </p:spPr>
        <p:txBody>
          <a:bodyPr rtlCol="0">
            <a:normAutofit/>
          </a:bodyPr>
          <a:lstStyle/>
          <a:p>
            <a:pPr indent="-182880" eaLnBrk="1" fontAlgn="auto" hangingPunct="1">
              <a:spcAft>
                <a:spcPts val="0"/>
              </a:spcAft>
              <a:buFont typeface="Wingdings" charset="2"/>
              <a:buChar char="§"/>
              <a:defRPr/>
            </a:pPr>
            <a:r>
              <a:rPr lang="en-CA" sz="2400" b="1" dirty="0" smtClean="0">
                <a:solidFill>
                  <a:srgbClr val="00FF00"/>
                </a:solidFill>
              </a:rPr>
              <a:t>BINNIE &amp; LEBEL</a:t>
            </a:r>
          </a:p>
          <a:p>
            <a:pPr marL="502920" lvl="1" indent="-182880" eaLnBrk="1" fontAlgn="auto" hangingPunct="1">
              <a:spcAft>
                <a:spcPts val="0"/>
              </a:spcAft>
              <a:buFont typeface="Wingdings" charset="2"/>
              <a:buChar char="§"/>
              <a:defRPr/>
            </a:pPr>
            <a:r>
              <a:rPr lang="en-CA" sz="2400" dirty="0" smtClean="0"/>
              <a:t>“WHAT , THEN, ARE CONSTITUTIONALLY REQUIRED SERVICES?”</a:t>
            </a:r>
          </a:p>
          <a:p>
            <a:pPr marL="502920" lvl="1" indent="-182880" eaLnBrk="1" fontAlgn="auto" hangingPunct="1">
              <a:spcAft>
                <a:spcPts val="0"/>
              </a:spcAft>
              <a:buFont typeface="Wingdings" charset="2"/>
              <a:buChar char="§"/>
              <a:defRPr/>
            </a:pPr>
            <a:r>
              <a:rPr lang="en-CA" sz="2400" dirty="0" smtClean="0"/>
              <a:t>NOT AN ISSUE OF CONSTITUTIONAL LAW BUT ONE OF SOCIAL POLICY</a:t>
            </a:r>
          </a:p>
          <a:p>
            <a:pPr lvl="2" indent="-182880" eaLnBrk="1" fontAlgn="auto" hangingPunct="1">
              <a:spcAft>
                <a:spcPts val="0"/>
              </a:spcAft>
              <a:buFont typeface="Wingdings" charset="2"/>
              <a:buChar char="§"/>
              <a:defRPr/>
            </a:pPr>
            <a:r>
              <a:rPr lang="en-CA" sz="1800" i="1" dirty="0" smtClean="0"/>
              <a:t>“proper </a:t>
            </a:r>
            <a:r>
              <a:rPr lang="en-CA" sz="1800" i="1" dirty="0"/>
              <a:t>regard for democratic values, public order and the general well-being of the citizens of Québec</a:t>
            </a:r>
            <a:r>
              <a:rPr lang="en-CA" sz="1800" i="1" dirty="0" smtClean="0"/>
              <a:t>.”</a:t>
            </a:r>
            <a:endParaRPr lang="en-CA" sz="1800" i="1" dirty="0"/>
          </a:p>
          <a:p>
            <a:pPr marL="45720" indent="0" eaLnBrk="1" fontAlgn="auto" hangingPunct="1">
              <a:spcAft>
                <a:spcPts val="0"/>
              </a:spcAft>
              <a:buFont typeface="Wingdings" charset="2"/>
              <a:buNone/>
              <a:defRPr/>
            </a:pPr>
            <a:r>
              <a:rPr lang="en-CA" sz="1800" dirty="0" smtClean="0"/>
              <a:t>				</a:t>
            </a:r>
            <a:r>
              <a:rPr lang="en-CA" sz="1800" dirty="0" err="1" smtClean="0"/>
              <a:t>Vs</a:t>
            </a:r>
            <a:endParaRPr lang="en-CA" sz="1800" dirty="0" smtClean="0"/>
          </a:p>
          <a:p>
            <a:pPr lvl="2" indent="-182880" eaLnBrk="1" fontAlgn="auto" hangingPunct="1">
              <a:spcAft>
                <a:spcPts val="0"/>
              </a:spcAft>
              <a:buFont typeface="Wingdings" charset="2"/>
              <a:buChar char="§"/>
              <a:defRPr/>
            </a:pPr>
            <a:r>
              <a:rPr lang="en-CA" sz="1800" i="1" dirty="0" smtClean="0"/>
              <a:t>Principles of fundamental justice</a:t>
            </a:r>
          </a:p>
          <a:p>
            <a:pPr lvl="3" indent="-182880" eaLnBrk="1" fontAlgn="auto" hangingPunct="1">
              <a:spcAft>
                <a:spcPts val="0"/>
              </a:spcAft>
              <a:buFont typeface="Wingdings" charset="2"/>
              <a:buChar char="§"/>
              <a:defRPr/>
            </a:pPr>
            <a:r>
              <a:rPr lang="en-CA" sz="1800" i="1" dirty="0" smtClean="0"/>
              <a:t>LEGAL PRINCIPLE</a:t>
            </a:r>
          </a:p>
          <a:p>
            <a:pPr lvl="3" indent="-182880" eaLnBrk="1" fontAlgn="auto" hangingPunct="1">
              <a:spcAft>
                <a:spcPts val="0"/>
              </a:spcAft>
              <a:buFont typeface="Wingdings" charset="2"/>
              <a:buChar char="§"/>
              <a:defRPr/>
            </a:pPr>
            <a:r>
              <a:rPr lang="en-CA" sz="1800" i="1" dirty="0" smtClean="0"/>
              <a:t>SOCIETAL CONSENSUS</a:t>
            </a:r>
          </a:p>
          <a:p>
            <a:pPr lvl="3" indent="-182880" eaLnBrk="1" fontAlgn="auto" hangingPunct="1">
              <a:spcAft>
                <a:spcPts val="0"/>
              </a:spcAft>
              <a:buFont typeface="Wingdings" charset="2"/>
              <a:buChar char="§"/>
              <a:defRPr/>
            </a:pPr>
            <a:r>
              <a:rPr lang="en-CA" sz="1800" i="1" dirty="0" smtClean="0"/>
              <a:t>IDENTIFIED WITH PRECISION/PREDICTABLE RESULTS</a:t>
            </a:r>
            <a:endParaRPr lang="en-CA" sz="1800" i="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549275"/>
            <a:ext cx="7315200" cy="636588"/>
          </a:xfrm>
        </p:spPr>
        <p:txBody>
          <a:bodyPr rtlCol="0">
            <a:normAutofit fontScale="90000"/>
          </a:bodyPr>
          <a:lstStyle/>
          <a:p>
            <a:pPr eaLnBrk="1" fontAlgn="auto" hangingPunct="1">
              <a:spcAft>
                <a:spcPts val="0"/>
              </a:spcAft>
              <a:defRPr/>
            </a:pPr>
            <a:r>
              <a:rPr lang="en-CA" dirty="0" smtClean="0"/>
              <a:t>Charter-Based Judicial Review</a:t>
            </a:r>
            <a:endParaRPr lang="en-CA" dirty="0"/>
          </a:p>
        </p:txBody>
      </p:sp>
      <p:sp>
        <p:nvSpPr>
          <p:cNvPr id="23554" name="Content Placeholder 2"/>
          <p:cNvSpPr>
            <a:spLocks noGrp="1"/>
          </p:cNvSpPr>
          <p:nvPr>
            <p:ph idx="1"/>
          </p:nvPr>
        </p:nvSpPr>
        <p:spPr>
          <a:xfrm>
            <a:off x="914400" y="1844675"/>
            <a:ext cx="7315200" cy="4464050"/>
          </a:xfrm>
        </p:spPr>
        <p:txBody>
          <a:bodyPr/>
          <a:lstStyle/>
          <a:p>
            <a:pPr eaLnBrk="1" hangingPunct="1"/>
            <a:r>
              <a:rPr lang="en-CA" sz="2400" b="1" smtClean="0"/>
              <a:t>INTERPRETATION</a:t>
            </a:r>
          </a:p>
          <a:p>
            <a:pPr eaLnBrk="1" hangingPunct="1"/>
            <a:endParaRPr lang="en-CA" sz="2400" b="1" smtClean="0"/>
          </a:p>
          <a:p>
            <a:pPr eaLnBrk="1" hangingPunct="1"/>
            <a:r>
              <a:rPr lang="en-CA" sz="2400" b="1" smtClean="0"/>
              <a:t>OAKES TEST</a:t>
            </a:r>
          </a:p>
          <a:p>
            <a:pPr lvl="1" eaLnBrk="1" hangingPunct="1"/>
            <a:r>
              <a:rPr lang="en-CA" sz="2400" b="1" smtClean="0"/>
              <a:t>MINIMAL IMPAIRMENT</a:t>
            </a:r>
          </a:p>
          <a:p>
            <a:pPr eaLnBrk="1" hangingPunct="1"/>
            <a:endParaRPr lang="en-CA" sz="2400" b="1" smtClean="0"/>
          </a:p>
          <a:p>
            <a:pPr eaLnBrk="1" hangingPunct="1"/>
            <a:r>
              <a:rPr lang="en-CA" sz="2400" b="1" smtClean="0"/>
              <a:t>ROLL BACK LEGISLATURE</a:t>
            </a:r>
          </a:p>
          <a:p>
            <a:pPr eaLnBrk="1" hangingPunct="1"/>
            <a:endParaRPr lang="en-CA" smtClean="0"/>
          </a:p>
          <a:p>
            <a:pPr eaLnBrk="1" hangingPunct="1"/>
            <a:endParaRPr lang="en-CA"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827088" y="620713"/>
            <a:ext cx="7315200" cy="722312"/>
          </a:xfrm>
        </p:spPr>
        <p:txBody>
          <a:bodyPr/>
          <a:lstStyle/>
          <a:p>
            <a:pPr algn="ctr" eaLnBrk="1" hangingPunct="1"/>
            <a:r>
              <a:rPr lang="en-CA" smtClean="0"/>
              <a:t>QUESTIONS</a:t>
            </a:r>
          </a:p>
        </p:txBody>
      </p:sp>
      <p:sp>
        <p:nvSpPr>
          <p:cNvPr id="25602" name="Content Placeholder 2"/>
          <p:cNvSpPr>
            <a:spLocks noGrp="1"/>
          </p:cNvSpPr>
          <p:nvPr>
            <p:ph idx="1"/>
          </p:nvPr>
        </p:nvSpPr>
        <p:spPr>
          <a:xfrm>
            <a:off x="250825" y="1557338"/>
            <a:ext cx="8699500" cy="4751387"/>
          </a:xfrm>
        </p:spPr>
        <p:txBody>
          <a:bodyPr/>
          <a:lstStyle/>
          <a:p>
            <a:pPr eaLnBrk="1" hangingPunct="1">
              <a:buFontTx/>
              <a:buChar char="-"/>
            </a:pPr>
            <a:r>
              <a:rPr lang="en-CA" smtClean="0"/>
              <a:t>WHY DO YOU THINK THIS CHARTER CHALLENGE HAS BEEN ALL “</a:t>
            </a:r>
            <a:r>
              <a:rPr lang="en-CA" b="1" smtClean="0"/>
              <a:t>BARK AND NO BITE</a:t>
            </a:r>
            <a:r>
              <a:rPr lang="en-CA" smtClean="0"/>
              <a:t>”?</a:t>
            </a:r>
          </a:p>
          <a:p>
            <a:pPr eaLnBrk="1" hangingPunct="1">
              <a:buFontTx/>
              <a:buChar char="-"/>
            </a:pPr>
            <a:endParaRPr lang="en-CA" smtClean="0"/>
          </a:p>
          <a:p>
            <a:pPr eaLnBrk="1" hangingPunct="1">
              <a:buFontTx/>
              <a:buChar char="-"/>
            </a:pPr>
            <a:endParaRPr lang="en-CA" smtClean="0"/>
          </a:p>
          <a:p>
            <a:pPr eaLnBrk="1" hangingPunct="1">
              <a:buFontTx/>
              <a:buChar char="-"/>
            </a:pPr>
            <a:r>
              <a:rPr lang="en-CA" smtClean="0"/>
              <a:t>THE EXISTENCE OF METHODOLOGIES, SUCH AS THE “</a:t>
            </a:r>
            <a:r>
              <a:rPr lang="en-CA" i="1" smtClean="0"/>
              <a:t>MINIMAL IMPAIRMENT CLAUSE</a:t>
            </a:r>
            <a:r>
              <a:rPr lang="en-CA" smtClean="0"/>
              <a:t>” ALLOW LEGISLATURES TO RETAIN POWER OVER POLICY MAKING. TO WHAT EXTENT, GIVEN THE BROAD SCOPE FOR INTERPRETATION OF KEY PRINCIPLES, SUCH AS THOSE OF FUNDAMENTAL JUSTICE, SHOULD COURTS INTERVENE IN SOCIAL POLICY? OR SHOULD THEY BE INVOLVED AT ALL?</a:t>
            </a:r>
          </a:p>
          <a:p>
            <a:pPr eaLnBrk="1" hangingPunct="1">
              <a:buFontTx/>
              <a:buChar char="-"/>
            </a:pPr>
            <a:endParaRPr lang="en-CA" smtClean="0"/>
          </a:p>
          <a:p>
            <a:pPr eaLnBrk="1" hangingPunct="1">
              <a:buFontTx/>
              <a:buChar char="-"/>
            </a:pPr>
            <a:endParaRPr lang="en-CA"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900113" y="549275"/>
            <a:ext cx="7315200" cy="709613"/>
          </a:xfrm>
        </p:spPr>
        <p:txBody>
          <a:bodyPr/>
          <a:lstStyle/>
          <a:p>
            <a:pPr algn="ctr" eaLnBrk="1" hangingPunct="1"/>
            <a:r>
              <a:rPr lang="en-CA" smtClean="0"/>
              <a:t>REFERENCES</a:t>
            </a:r>
          </a:p>
        </p:txBody>
      </p:sp>
      <p:sp>
        <p:nvSpPr>
          <p:cNvPr id="26626" name="Content Placeholder 2"/>
          <p:cNvSpPr>
            <a:spLocks noGrp="1"/>
          </p:cNvSpPr>
          <p:nvPr>
            <p:ph idx="1"/>
          </p:nvPr>
        </p:nvSpPr>
        <p:spPr>
          <a:xfrm>
            <a:off x="914400" y="1700213"/>
            <a:ext cx="7315200" cy="4608512"/>
          </a:xfrm>
        </p:spPr>
        <p:txBody>
          <a:bodyPr/>
          <a:lstStyle/>
          <a:p>
            <a:pPr eaLnBrk="1" hangingPunct="1"/>
            <a:r>
              <a:rPr lang="en-CA" smtClean="0"/>
              <a:t>Monahan, P. (2006). Constitutional Law: 3</a:t>
            </a:r>
            <a:r>
              <a:rPr lang="en-CA" baseline="30000" smtClean="0"/>
              <a:t>rd</a:t>
            </a:r>
            <a:r>
              <a:rPr lang="en-CA" smtClean="0"/>
              <a:t> Ed. Toronto:  Irwin Law, 2006</a:t>
            </a:r>
          </a:p>
          <a:p>
            <a:pPr eaLnBrk="1" hangingPunct="1"/>
            <a:r>
              <a:rPr lang="en-CA" smtClean="0"/>
              <a:t>Peter H. Russell, Rainer Knopff, Thomas M.J. Bateman, Janet L. Hiebert,.(2008) </a:t>
            </a:r>
            <a:r>
              <a:rPr lang="en-CA" i="1" smtClean="0"/>
              <a:t>The Court and the Constitution:  Leading Cases </a:t>
            </a:r>
            <a:r>
              <a:rPr lang="en-CA" smtClean="0"/>
              <a:t>Toronto:  Emond Montgomery.</a:t>
            </a:r>
          </a:p>
          <a:p>
            <a:pPr eaLnBrk="1" hangingPunct="1"/>
            <a:endParaRPr lang="en-CA" smtClean="0"/>
          </a:p>
          <a:p>
            <a:pPr eaLnBrk="1" hangingPunct="1"/>
            <a:r>
              <a:rPr lang="en-CA" smtClean="0"/>
              <a:t> Cohn, D. (2010). </a:t>
            </a:r>
            <a:r>
              <a:rPr lang="en-CA" i="1" smtClean="0"/>
              <a:t>Chaoulli Five Years On: All Bark and No Bite? </a:t>
            </a:r>
            <a:r>
              <a:rPr lang="en-CA" smtClean="0"/>
              <a:t>A Paper Presented at the 2010 Annual Meeting of the Canadian Political Science Association. Concordia University.</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2164</TotalTime>
  <Words>793</Words>
  <Application>Microsoft Office PowerPoint</Application>
  <PresentationFormat>On-screen Show (4:3)</PresentationFormat>
  <Paragraphs>77</Paragraphs>
  <Slides>8</Slides>
  <Notes>5</Notes>
  <HiddenSlides>0</HiddenSlides>
  <MMClips>0</MMClips>
  <ScaleCrop>false</ScaleCrop>
  <HeadingPairs>
    <vt:vector size="6" baseType="variant">
      <vt:variant>
        <vt:lpstr>Fonts Used</vt:lpstr>
      </vt:variant>
      <vt:variant>
        <vt:i4>3</vt:i4>
      </vt:variant>
      <vt:variant>
        <vt:lpstr>Design Template</vt:lpstr>
      </vt:variant>
      <vt:variant>
        <vt:i4>1</vt:i4>
      </vt:variant>
      <vt:variant>
        <vt:lpstr>Slide Titles</vt:lpstr>
      </vt:variant>
      <vt:variant>
        <vt:i4>8</vt:i4>
      </vt:variant>
    </vt:vector>
  </HeadingPairs>
  <TitlesOfParts>
    <vt:vector size="12" baseType="lpstr">
      <vt:lpstr>Arial</vt:lpstr>
      <vt:lpstr>Wingdings</vt:lpstr>
      <vt:lpstr>Calibri</vt:lpstr>
      <vt:lpstr>Perspective</vt:lpstr>
      <vt:lpstr>CHAOULLI V. QUEBEC (AG), 2005</vt:lpstr>
      <vt:lpstr>Slide 2</vt:lpstr>
      <vt:lpstr>3 OPINIONS</vt:lpstr>
      <vt:lpstr>3 OPINIONS</vt:lpstr>
      <vt:lpstr>3 OPINIONS</vt:lpstr>
      <vt:lpstr>Charter-Based Judicial Review</vt:lpstr>
      <vt:lpstr>QUESTIONS</vt:lpstr>
      <vt:lpstr>REFERENCES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CHAOULLI V. QUEBEC (AG), 2005</dc:title>
  <dc:creator>Charlie</dc:creator>
  <cp:lastModifiedBy>itc</cp:lastModifiedBy>
  <cp:revision>30</cp:revision>
  <dcterms:created xsi:type="dcterms:W3CDTF">2012-03-22T18:51:01Z</dcterms:created>
  <dcterms:modified xsi:type="dcterms:W3CDTF">2012-03-24T23:18:47Z</dcterms:modified>
</cp:coreProperties>
</file>