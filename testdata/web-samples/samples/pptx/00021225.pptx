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256" r:id="rId2"/>
    <p:sldId id="292" r:id="rId3"/>
    <p:sldId id="299" r:id="rId4"/>
    <p:sldId id="294" r:id="rId5"/>
    <p:sldId id="295" r:id="rId6"/>
    <p:sldId id="296" r:id="rId7"/>
    <p:sldId id="262" r:id="rId8"/>
    <p:sldId id="258" r:id="rId9"/>
    <p:sldId id="327" r:id="rId10"/>
    <p:sldId id="328" r:id="rId11"/>
    <p:sldId id="329" r:id="rId12"/>
    <p:sldId id="331" r:id="rId13"/>
    <p:sldId id="332" r:id="rId14"/>
    <p:sldId id="344" r:id="rId15"/>
    <p:sldId id="345" r:id="rId16"/>
    <p:sldId id="353" r:id="rId17"/>
    <p:sldId id="333" r:id="rId18"/>
    <p:sldId id="363" r:id="rId19"/>
    <p:sldId id="364" r:id="rId20"/>
    <p:sldId id="347" r:id="rId21"/>
    <p:sldId id="334" r:id="rId22"/>
    <p:sldId id="348" r:id="rId23"/>
    <p:sldId id="354" r:id="rId24"/>
    <p:sldId id="349" r:id="rId25"/>
    <p:sldId id="335" r:id="rId26"/>
    <p:sldId id="336" r:id="rId27"/>
    <p:sldId id="337" r:id="rId28"/>
    <p:sldId id="355" r:id="rId29"/>
    <p:sldId id="350" r:id="rId30"/>
    <p:sldId id="351" r:id="rId31"/>
    <p:sldId id="356" r:id="rId32"/>
    <p:sldId id="338" r:id="rId33"/>
    <p:sldId id="340" r:id="rId34"/>
    <p:sldId id="341" r:id="rId35"/>
    <p:sldId id="343" r:id="rId36"/>
    <p:sldId id="342" r:id="rId37"/>
    <p:sldId id="352" r:id="rId38"/>
    <p:sldId id="264" r:id="rId39"/>
    <p:sldId id="326" r:id="rId40"/>
    <p:sldId id="260" r:id="rId41"/>
    <p:sldId id="319" r:id="rId42"/>
    <p:sldId id="266" r:id="rId43"/>
    <p:sldId id="268" r:id="rId44"/>
    <p:sldId id="269" r:id="rId45"/>
    <p:sldId id="316" r:id="rId46"/>
    <p:sldId id="320" r:id="rId47"/>
    <p:sldId id="270" r:id="rId48"/>
    <p:sldId id="301" r:id="rId49"/>
    <p:sldId id="315" r:id="rId50"/>
    <p:sldId id="271" r:id="rId51"/>
    <p:sldId id="272" r:id="rId52"/>
    <p:sldId id="273" r:id="rId53"/>
    <p:sldId id="274" r:id="rId54"/>
    <p:sldId id="275" r:id="rId55"/>
    <p:sldId id="276" r:id="rId56"/>
    <p:sldId id="277" r:id="rId57"/>
    <p:sldId id="365" r:id="rId58"/>
    <p:sldId id="278" r:id="rId59"/>
    <p:sldId id="280" r:id="rId60"/>
    <p:sldId id="282" r:id="rId61"/>
    <p:sldId id="321" r:id="rId62"/>
    <p:sldId id="281" r:id="rId63"/>
    <p:sldId id="323" r:id="rId64"/>
    <p:sldId id="284" r:id="rId65"/>
    <p:sldId id="283" r:id="rId66"/>
    <p:sldId id="285" r:id="rId67"/>
    <p:sldId id="279" r:id="rId68"/>
    <p:sldId id="288" r:id="rId69"/>
    <p:sldId id="302" r:id="rId70"/>
    <p:sldId id="358" r:id="rId71"/>
    <p:sldId id="359" r:id="rId72"/>
    <p:sldId id="360" r:id="rId73"/>
    <p:sldId id="361" r:id="rId74"/>
    <p:sldId id="303" r:id="rId75"/>
    <p:sldId id="304" r:id="rId76"/>
    <p:sldId id="307" r:id="rId77"/>
    <p:sldId id="324" r:id="rId78"/>
    <p:sldId id="362" r:id="rId79"/>
    <p:sldId id="309" r:id="rId80"/>
    <p:sldId id="311" r:id="rId81"/>
    <p:sldId id="312" r:id="rId82"/>
    <p:sldId id="314" r:id="rId83"/>
    <p:sldId id="318" r:id="rId84"/>
    <p:sldId id="289" r:id="rId85"/>
    <p:sldId id="290" r:id="rId86"/>
    <p:sldId id="291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128" y="-1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55272-50A8-4A4B-9936-E627A495353C}" type="datetimeFigureOut">
              <a:rPr lang="en-US" smtClean="0"/>
              <a:t>9/30/12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42B6B-52AC-2240-A7B0-20E5E15B5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7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www.elitetranslingo.com</a:t>
            </a:r>
            <a:r>
              <a:rPr lang="en-US" dirty="0" smtClean="0"/>
              <a:t>/</a:t>
            </a:r>
            <a:r>
              <a:rPr lang="en-US" dirty="0" err="1" smtClean="0"/>
              <a:t>css</a:t>
            </a:r>
            <a:r>
              <a:rPr lang="en-US" dirty="0" smtClean="0"/>
              <a:t>/</a:t>
            </a:r>
            <a:r>
              <a:rPr lang="en-US" dirty="0" err="1" smtClean="0"/>
              <a:t>css</a:t>
            </a:r>
            <a:r>
              <a:rPr lang="en-US" dirty="0" smtClean="0"/>
              <a:t>/images/</a:t>
            </a:r>
            <a:r>
              <a:rPr lang="en-US" dirty="0" err="1" smtClean="0"/>
              <a:t>doc.png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2B6B-52AC-2240-A7B0-20E5E15B5D5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1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etc.usf.edu</a:t>
            </a:r>
            <a:r>
              <a:rPr lang="en-US" dirty="0" smtClean="0"/>
              <a:t>/clipart/41200/41273/bag_41273_lg.gif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2B6B-52AC-2240-A7B0-20E5E15B5D5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40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etc.usf.edu</a:t>
            </a:r>
            <a:r>
              <a:rPr lang="en-US" dirty="0" smtClean="0"/>
              <a:t>/clipart/41200/41273/bag_41273_lg.gif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2B6B-52AC-2240-A7B0-20E5E15B5D5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4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"/>
            <a:ext cx="9049888" cy="177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0352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029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133600" y="2019300"/>
            <a:ext cx="4864100" cy="280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"/>
              </a:spcBef>
              <a:defRPr/>
            </a:lvl1pPr>
            <a:lvl2pPr>
              <a:spcBef>
                <a:spcPts val="100"/>
              </a:spcBef>
              <a:defRPr/>
            </a:lvl2pPr>
            <a:lvl3pPr>
              <a:spcBef>
                <a:spcPts val="100"/>
              </a:spcBef>
              <a:defRPr/>
            </a:lvl3pPr>
            <a:lvl4pPr>
              <a:spcBef>
                <a:spcPts val="100"/>
              </a:spcBef>
              <a:defRPr/>
            </a:lvl4pPr>
            <a:lvl5pPr>
              <a:spcBef>
                <a:spcPts val="1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1"/>
            <a:ext cx="9046516" cy="177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51468"/>
            <a:ext cx="4038600" cy="4974696"/>
          </a:xfrm>
        </p:spPr>
        <p:txBody>
          <a:bodyPr/>
          <a:lstStyle>
            <a:lvl1pPr>
              <a:spcBef>
                <a:spcPts val="100"/>
              </a:spcBef>
              <a:defRPr sz="2800"/>
            </a:lvl1pPr>
            <a:lvl2pPr>
              <a:spcBef>
                <a:spcPts val="100"/>
              </a:spcBef>
              <a:defRPr sz="2400"/>
            </a:lvl2pPr>
            <a:lvl3pPr>
              <a:spcBef>
                <a:spcPts val="100"/>
              </a:spcBef>
              <a:defRPr sz="2000"/>
            </a:lvl3pPr>
            <a:lvl4pPr>
              <a:spcBef>
                <a:spcPts val="100"/>
              </a:spcBef>
              <a:defRPr sz="1800"/>
            </a:lvl4pPr>
            <a:lvl5pPr>
              <a:spcBef>
                <a:spcPts val="100"/>
              </a:spcBef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51468"/>
            <a:ext cx="4038600" cy="4974696"/>
          </a:xfrm>
        </p:spPr>
        <p:txBody>
          <a:bodyPr/>
          <a:lstStyle>
            <a:lvl1pPr>
              <a:spcBef>
                <a:spcPts val="100"/>
              </a:spcBef>
              <a:defRPr sz="2800"/>
            </a:lvl1pPr>
            <a:lvl2pPr>
              <a:spcBef>
                <a:spcPts val="100"/>
              </a:spcBef>
              <a:defRPr sz="2400"/>
            </a:lvl2pPr>
            <a:lvl3pPr>
              <a:spcBef>
                <a:spcPts val="100"/>
              </a:spcBef>
              <a:defRPr sz="2000"/>
            </a:lvl3pPr>
            <a:lvl4pPr>
              <a:spcBef>
                <a:spcPts val="100"/>
              </a:spcBef>
              <a:defRPr sz="1800"/>
            </a:lvl4pPr>
            <a:lvl5pPr>
              <a:spcBef>
                <a:spcPts val="100"/>
              </a:spcBef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749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87258"/>
            <a:ext cx="4040188" cy="4338905"/>
          </a:xfrm>
        </p:spPr>
        <p:txBody>
          <a:bodyPr/>
          <a:lstStyle>
            <a:lvl1pPr>
              <a:spcBef>
                <a:spcPts val="100"/>
              </a:spcBef>
              <a:defRPr sz="2400"/>
            </a:lvl1pPr>
            <a:lvl2pPr>
              <a:spcBef>
                <a:spcPts val="100"/>
              </a:spcBef>
              <a:defRPr sz="2000"/>
            </a:lvl2pPr>
            <a:lvl3pPr>
              <a:spcBef>
                <a:spcPts val="100"/>
              </a:spcBef>
              <a:defRPr sz="1800"/>
            </a:lvl3pPr>
            <a:lvl4pPr>
              <a:spcBef>
                <a:spcPts val="100"/>
              </a:spcBef>
              <a:defRPr sz="1600"/>
            </a:lvl4pPr>
            <a:lvl5pPr>
              <a:spcBef>
                <a:spcPts val="1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4749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87258"/>
            <a:ext cx="4041775" cy="4338905"/>
          </a:xfrm>
        </p:spPr>
        <p:txBody>
          <a:bodyPr/>
          <a:lstStyle>
            <a:lvl1pPr>
              <a:spcBef>
                <a:spcPts val="100"/>
              </a:spcBef>
              <a:defRPr sz="2400"/>
            </a:lvl1pPr>
            <a:lvl2pPr>
              <a:spcBef>
                <a:spcPts val="100"/>
              </a:spcBef>
              <a:defRPr sz="2000"/>
            </a:lvl2pPr>
            <a:lvl3pPr>
              <a:spcBef>
                <a:spcPts val="100"/>
              </a:spcBef>
              <a:defRPr sz="1800"/>
            </a:lvl3pPr>
            <a:lvl4pPr>
              <a:spcBef>
                <a:spcPts val="100"/>
              </a:spcBef>
              <a:defRPr sz="1600"/>
            </a:lvl4pPr>
            <a:lvl5pPr>
              <a:spcBef>
                <a:spcPts val="1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22923"/>
            <a:ext cx="8935815" cy="18776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97367"/>
            <a:ext cx="9144000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65939"/>
            <a:ext cx="8920605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78391"/>
            <a:ext cx="9736667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42438" cy="690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35C23-CF2C-C449-8BFC-0E1E870BD27A}" type="datetimeFigureOut">
              <a:rPr lang="en-US" smtClean="0"/>
              <a:pPr/>
              <a:t>9/30/12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9119B-410E-994F-AE82-801A0A444C1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57200" y="9906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alphaModFix amt="72000"/>
          </a:blip>
          <a:stretch>
            <a:fillRect/>
          </a:stretch>
        </p:blipFill>
        <p:spPr>
          <a:xfrm>
            <a:off x="186770" y="264320"/>
            <a:ext cx="1357591" cy="7833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1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s://www.coursera.org/course/progfun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3.gi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microsoft.com/office/2007/relationships/hdphoto" Target="../media/hdphoto1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microsoft.com/office/2007/relationships/hdphoto" Target="../media/hdphoto1.wdp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microsoft.com/office/2007/relationships/hdphoto" Target="../media/hdphoto2.wdp"/><Relationship Id="rId9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4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NLP and ML in </a:t>
            </a:r>
            <a:r>
              <a:rPr lang="en-US" sz="3800" dirty="0" err="1" smtClean="0"/>
              <a:t>Scala</a:t>
            </a:r>
            <a:r>
              <a:rPr lang="en-US" sz="3800" dirty="0" smtClean="0"/>
              <a:t> with Breeze</a:t>
            </a:r>
            <a:endParaRPr lang="en-US" sz="3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David Hall</a:t>
            </a:r>
          </a:p>
          <a:p>
            <a:r>
              <a:rPr lang="en-US" dirty="0" smtClean="0"/>
              <a:t>UC Berkeley</a:t>
            </a:r>
          </a:p>
          <a:p>
            <a:r>
              <a:rPr lang="en-US" dirty="0" smtClean="0"/>
              <a:t>9/18/2012</a:t>
            </a:r>
          </a:p>
          <a:p>
            <a:r>
              <a:rPr lang="en-US" dirty="0" err="1" smtClean="0"/>
              <a:t>dlwh@cs.berkeley.edu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34267" cy="690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Breeze?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807353" y="2467575"/>
            <a:ext cx="3656303" cy="21097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78340" y="2467575"/>
            <a:ext cx="3656303" cy="21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8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1683E-6 3.72427E-7 L -0.27803 -0.0016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0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34267" cy="690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Breeze?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78340" y="2467575"/>
            <a:ext cx="3656303" cy="21097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129" y="1955304"/>
            <a:ext cx="4127500" cy="299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8769" y="2851533"/>
            <a:ext cx="567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221" y="5329504"/>
            <a:ext cx="80804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Dense Vectors, Matrices, Sparse Vectors,</a:t>
            </a:r>
          </a:p>
          <a:p>
            <a:pPr algn="ctr"/>
            <a:r>
              <a:rPr lang="en-US" sz="3200" dirty="0" smtClean="0"/>
              <a:t>Counters, Decompositions, Graphing, </a:t>
            </a:r>
            <a:r>
              <a:rPr lang="en-US" sz="3200" dirty="0" err="1" smtClean="0"/>
              <a:t>Numerics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29779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34267" cy="690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Breeze?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78340" y="2467575"/>
            <a:ext cx="3656303" cy="2109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8769" y="2851533"/>
            <a:ext cx="567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453" y="5028726"/>
            <a:ext cx="65700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Stemming, Segmentation,</a:t>
            </a:r>
          </a:p>
          <a:p>
            <a:pPr algn="ctr"/>
            <a:r>
              <a:rPr lang="en-US" sz="3200" dirty="0" smtClean="0"/>
              <a:t>Part of Speech Tagging, Parsing (Soon)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36" y="2727012"/>
            <a:ext cx="3825493" cy="14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71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34267" cy="690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Breeze?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78340" y="2467575"/>
            <a:ext cx="3656303" cy="2109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8769" y="2851533"/>
            <a:ext cx="567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2839" y="5028726"/>
            <a:ext cx="45612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Nonlinear Optimization</a:t>
            </a:r>
            <a:r>
              <a:rPr lang="en-US" sz="3200" dirty="0"/>
              <a:t>,</a:t>
            </a:r>
            <a:endParaRPr lang="en-US" sz="3200" dirty="0" smtClean="0"/>
          </a:p>
          <a:p>
            <a:pPr algn="ctr"/>
            <a:r>
              <a:rPr lang="en-US" sz="3200" dirty="0" smtClean="0"/>
              <a:t>Logistic Regression, SVMs,</a:t>
            </a:r>
          </a:p>
          <a:p>
            <a:pPr algn="ctr"/>
            <a:r>
              <a:rPr lang="en-US" sz="3200" dirty="0" smtClean="0"/>
              <a:t>Probability Distributions</a:t>
            </a:r>
            <a:endParaRPr lang="en-US" sz="3200" dirty="0"/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-514" b="-1354"/>
          <a:stretch/>
        </p:blipFill>
        <p:spPr>
          <a:xfrm>
            <a:off x="4993535" y="2239119"/>
            <a:ext cx="3521713" cy="2795263"/>
          </a:xfrm>
        </p:spPr>
      </p:pic>
    </p:spTree>
    <p:extLst>
      <p:ext uri="{BB962C8B-B14F-4D97-AF65-F5344CB8AC3E}">
        <p14:creationId xmlns:p14="http://schemas.microsoft.com/office/powerpoint/2010/main" val="100753652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34267" cy="690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Breeze?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78340" y="2467575"/>
            <a:ext cx="3656303" cy="2109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8769" y="2851533"/>
            <a:ext cx="567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9566" y="2463864"/>
            <a:ext cx="16810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 err="1" smtClean="0"/>
              <a:t>Scalala</a:t>
            </a:r>
            <a:endParaRPr lang="en-US" sz="4200" dirty="0"/>
          </a:p>
        </p:txBody>
      </p:sp>
      <p:sp>
        <p:nvSpPr>
          <p:cNvPr id="8" name="TextBox 7"/>
          <p:cNvSpPr txBox="1"/>
          <p:nvPr/>
        </p:nvSpPr>
        <p:spPr>
          <a:xfrm>
            <a:off x="5043174" y="3878336"/>
            <a:ext cx="3234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/>
              <a:t>ScalaNLP</a:t>
            </a:r>
            <a:r>
              <a:rPr lang="en-US" sz="4000" dirty="0" smtClean="0"/>
              <a:t>/Core</a:t>
            </a:r>
            <a:endParaRPr lang="en-US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399189" y="3016562"/>
            <a:ext cx="5040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 smtClean="0"/>
              <a:t>+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15253808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are Breeze’s goals?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powerful library that is as flexible as </a:t>
            </a:r>
            <a:r>
              <a:rPr lang="en-US" dirty="0" err="1" smtClean="0"/>
              <a:t>Matlab</a:t>
            </a:r>
            <a:r>
              <a:rPr lang="en-US" dirty="0" smtClean="0"/>
              <a:t>, but is still well-suited to building large scale software projects.</a:t>
            </a:r>
          </a:p>
          <a:p>
            <a:endParaRPr lang="en-US" dirty="0" smtClean="0"/>
          </a:p>
          <a:p>
            <a:r>
              <a:rPr lang="en-US" dirty="0" smtClean="0"/>
              <a:t>Build a community of Machine Learning and NLP practitioners to provide building blocks for both research and industrial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71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Quick overview of </a:t>
            </a:r>
            <a:r>
              <a:rPr lang="en-US" dirty="0" err="1" smtClean="0"/>
              <a:t>Scala</a:t>
            </a:r>
            <a:endParaRPr lang="en-US" dirty="0" smtClean="0"/>
          </a:p>
          <a:p>
            <a:r>
              <a:rPr lang="en-US" dirty="0" smtClean="0"/>
              <a:t>Tour of some of the highlights:</a:t>
            </a:r>
          </a:p>
          <a:p>
            <a:pPr lvl="1"/>
            <a:r>
              <a:rPr lang="en-US" dirty="0" smtClean="0"/>
              <a:t>Linear Algebra</a:t>
            </a:r>
          </a:p>
          <a:p>
            <a:pPr lvl="1"/>
            <a:r>
              <a:rPr lang="en-US" dirty="0" smtClean="0"/>
              <a:t>Optimization</a:t>
            </a:r>
          </a:p>
          <a:p>
            <a:pPr lvl="1"/>
            <a:r>
              <a:rPr lang="en-US" dirty="0" smtClean="0"/>
              <a:t>Machine Learning</a:t>
            </a:r>
          </a:p>
          <a:p>
            <a:pPr lvl="1"/>
            <a:r>
              <a:rPr lang="en-US" dirty="0" smtClean="0"/>
              <a:t>Some basic NLP</a:t>
            </a:r>
          </a:p>
          <a:p>
            <a:r>
              <a:rPr lang="en-US" dirty="0" smtClean="0"/>
              <a:t>A simple sentiment classifier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3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950" y="2847474"/>
            <a:ext cx="3860507" cy="11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871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Static vs. Dynamic languages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Type Checking</a:t>
            </a:r>
          </a:p>
          <a:p>
            <a:r>
              <a:rPr lang="en-US" dirty="0" smtClean="0"/>
              <a:t>High(</a:t>
            </a:r>
            <a:r>
              <a:rPr lang="en-US" dirty="0" err="1" smtClean="0"/>
              <a:t>ish</a:t>
            </a:r>
            <a:r>
              <a:rPr lang="en-US" dirty="0" smtClean="0"/>
              <a:t>) performance</a:t>
            </a:r>
          </a:p>
          <a:p>
            <a:r>
              <a:rPr lang="en-US" dirty="0" smtClean="0"/>
              <a:t>IDE Support</a:t>
            </a:r>
          </a:p>
          <a:p>
            <a:r>
              <a:rPr lang="en-US" dirty="0"/>
              <a:t>Fewer </a:t>
            </a:r>
            <a:r>
              <a:rPr lang="en-US" dirty="0" smtClean="0"/>
              <a:t>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Concise</a:t>
            </a:r>
          </a:p>
          <a:p>
            <a:r>
              <a:rPr lang="en-US" dirty="0" smtClean="0"/>
              <a:t>Flexible</a:t>
            </a:r>
          </a:p>
          <a:p>
            <a:r>
              <a:rPr lang="en-US" dirty="0" smtClean="0"/>
              <a:t>Interpreter/REPL</a:t>
            </a:r>
          </a:p>
          <a:p>
            <a:r>
              <a:rPr lang="en-US" dirty="0" smtClean="0"/>
              <a:t>“Duck </a:t>
            </a:r>
            <a:r>
              <a:rPr lang="en-US" dirty="0"/>
              <a:t>T</a:t>
            </a:r>
            <a:r>
              <a:rPr lang="en-US" dirty="0" smtClean="0"/>
              <a:t>yping”</a:t>
            </a:r>
          </a:p>
        </p:txBody>
      </p:sp>
    </p:spTree>
    <p:extLst>
      <p:ext uri="{BB962C8B-B14F-4D97-AF65-F5344CB8AC3E}">
        <p14:creationId xmlns:p14="http://schemas.microsoft.com/office/powerpoint/2010/main" val="2103315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Type </a:t>
            </a:r>
            <a:r>
              <a:rPr lang="en-US" dirty="0"/>
              <a:t>Checking</a:t>
            </a:r>
          </a:p>
          <a:p>
            <a:r>
              <a:rPr lang="en-US" dirty="0" smtClean="0"/>
              <a:t>High</a:t>
            </a:r>
            <a:r>
              <a:rPr lang="en-US" dirty="0"/>
              <a:t>(</a:t>
            </a:r>
            <a:r>
              <a:rPr lang="en-US" dirty="0" err="1"/>
              <a:t>ish</a:t>
            </a:r>
            <a:r>
              <a:rPr lang="en-US" dirty="0"/>
              <a:t>) performance</a:t>
            </a:r>
          </a:p>
          <a:p>
            <a:r>
              <a:rPr lang="en-US" dirty="0" smtClean="0"/>
              <a:t>IDE </a:t>
            </a:r>
            <a:r>
              <a:rPr lang="en-US" dirty="0"/>
              <a:t>Support</a:t>
            </a:r>
          </a:p>
          <a:p>
            <a:r>
              <a:rPr lang="en-US" dirty="0" smtClean="0"/>
              <a:t>Fewer </a:t>
            </a:r>
            <a:r>
              <a:rPr lang="en-US" dirty="0"/>
              <a:t>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Concise</a:t>
            </a:r>
          </a:p>
          <a:p>
            <a:r>
              <a:rPr lang="en-US" dirty="0" smtClean="0"/>
              <a:t>Flexible</a:t>
            </a:r>
            <a:endParaRPr lang="en-US" dirty="0"/>
          </a:p>
          <a:p>
            <a:r>
              <a:rPr lang="en-US" dirty="0"/>
              <a:t>Interpreter/REPL</a:t>
            </a:r>
          </a:p>
          <a:p>
            <a:r>
              <a:rPr lang="en-US" dirty="0" smtClean="0"/>
              <a:t>“Duck Typing”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133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72" y="2847475"/>
            <a:ext cx="2964155" cy="8832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57687" y="2781913"/>
            <a:ext cx="567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=</a:t>
            </a:r>
            <a:endParaRPr lang="en-US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5307264" y="2781913"/>
            <a:ext cx="25906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Concise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137236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Concise: Type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List(3,4,5)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pi = 3.14159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4099511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Concise: Type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List(3,4,5)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pi = 3.14159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ar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myList2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023347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Concise: Type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List(3,4,5)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pi = 3.14159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ar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myList2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myList2 = List(4,5,6) // ok</a:t>
            </a:r>
          </a:p>
        </p:txBody>
      </p:sp>
    </p:spTree>
    <p:extLst>
      <p:ext uri="{BB962C8B-B14F-4D97-AF65-F5344CB8AC3E}">
        <p14:creationId xmlns:p14="http://schemas.microsoft.com/office/powerpoint/2010/main" val="13762544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Concise: Type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List(3,4,5)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pi = 3.14159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ar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myList2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myList2 = List(4,5,6) // ok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myList2 = List(“Test!”) // error!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333924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Verbose: Manual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// Java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  <a:sym typeface="Wingdings"/>
              </a:rPr>
              <a:t></a:t>
            </a: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ArrayList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&lt;Integer&gt; plus1List = new     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         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ArrayList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&lt;Integer&gt;();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or(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: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) {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plus1List.add(i+1);</a:t>
            </a: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944296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Concise, More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List(1,2,3)</a:t>
            </a:r>
          </a:p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d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ef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plus1(x: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) = x + 1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plus1List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myList.map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(plus1)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09151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Concise, More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List(1,2,3)</a:t>
            </a:r>
          </a:p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plus1List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myList.map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(_ + 1)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</p:txBody>
      </p:sp>
      <p:sp>
        <p:nvSpPr>
          <p:cNvPr id="4" name="Oval Callout 3"/>
          <p:cNvSpPr/>
          <p:nvPr/>
        </p:nvSpPr>
        <p:spPr>
          <a:xfrm>
            <a:off x="6257635" y="2990273"/>
            <a:ext cx="2032001" cy="612648"/>
          </a:xfrm>
          <a:prstGeom prst="wedgeEllipseCallout">
            <a:avLst>
              <a:gd name="adj1" fmla="val -3156"/>
              <a:gd name="adj2" fmla="val -8072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Gapped Phrases!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951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Verbose, Less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// Java 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  <a:sym typeface="Wingdings"/>
              </a:rPr>
              <a:t>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nt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sum = 0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for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: 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myList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)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	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sum +=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;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}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082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Concise, More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sum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myList.reduce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(_ + _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)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739436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Concise, More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sum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myList.reduce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(_ + _)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alsoSum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myList.sum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250596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Concise, More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1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sz="31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100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3100" dirty="0" smtClean="0">
                <a:solidFill>
                  <a:srgbClr val="525252"/>
                </a:solidFill>
                <a:latin typeface="Monaco"/>
                <a:cs typeface="Monaco"/>
              </a:rPr>
              <a:t> sum = </a:t>
            </a:r>
            <a:r>
              <a:rPr lang="en-US" sz="3100" dirty="0" err="1" smtClean="0">
                <a:solidFill>
                  <a:srgbClr val="525252"/>
                </a:solidFill>
                <a:latin typeface="Monaco"/>
                <a:cs typeface="Monaco"/>
              </a:rPr>
              <a:t>myList.</a:t>
            </a:r>
            <a:r>
              <a:rPr lang="en-US" sz="3100" dirty="0" err="1" smtClean="0">
                <a:solidFill>
                  <a:srgbClr val="FF0000"/>
                </a:solidFill>
                <a:latin typeface="Monaco"/>
                <a:cs typeface="Monaco"/>
              </a:rPr>
              <a:t>par</a:t>
            </a:r>
            <a:r>
              <a:rPr lang="en-US" sz="3100" dirty="0" err="1" smtClean="0">
                <a:solidFill>
                  <a:srgbClr val="525252"/>
                </a:solidFill>
                <a:latin typeface="Monaco"/>
                <a:cs typeface="Monaco"/>
              </a:rPr>
              <a:t>.reduce</a:t>
            </a:r>
            <a:r>
              <a:rPr lang="en-US" sz="3100" dirty="0" smtClean="0">
                <a:solidFill>
                  <a:srgbClr val="525252"/>
                </a:solidFill>
                <a:latin typeface="Monaco"/>
                <a:cs typeface="Monaco"/>
              </a:rPr>
              <a:t>(_ + _)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4283364" y="1546935"/>
            <a:ext cx="1962728" cy="577273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Parallelized!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152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24" y="1951181"/>
            <a:ext cx="2899545" cy="2899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19006" y="2403766"/>
            <a:ext cx="23006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4200" dirty="0" smtClean="0"/>
              <a:t>Title</a:t>
            </a:r>
          </a:p>
          <a:p>
            <a:pPr marL="285750" indent="-285750">
              <a:buFont typeface="Arial"/>
              <a:buChar char="•"/>
            </a:pPr>
            <a:r>
              <a:rPr lang="en-US" sz="4200" dirty="0" smtClean="0"/>
              <a:t>Body</a:t>
            </a:r>
          </a:p>
          <a:p>
            <a:pPr marL="285750" indent="-285750">
              <a:buFont typeface="Arial"/>
              <a:buChar char="•"/>
            </a:pPr>
            <a:r>
              <a:rPr lang="en-US" sz="4200" dirty="0" smtClean="0"/>
              <a:t>Location</a:t>
            </a:r>
            <a:endParaRPr lang="en-US" sz="4200" dirty="0"/>
          </a:p>
        </p:txBody>
      </p:sp>
      <p:sp>
        <p:nvSpPr>
          <p:cNvPr id="11" name="TextBox 10"/>
          <p:cNvSpPr txBox="1"/>
          <p:nvPr/>
        </p:nvSpPr>
        <p:spPr>
          <a:xfrm>
            <a:off x="6156471" y="2403766"/>
            <a:ext cx="17263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 smtClean="0"/>
              <a:t>: String</a:t>
            </a:r>
            <a:endParaRPr lang="en-US" sz="4200" dirty="0"/>
          </a:p>
        </p:txBody>
      </p:sp>
      <p:sp>
        <p:nvSpPr>
          <p:cNvPr id="12" name="TextBox 11"/>
          <p:cNvSpPr txBox="1"/>
          <p:nvPr/>
        </p:nvSpPr>
        <p:spPr>
          <a:xfrm>
            <a:off x="6168016" y="3071338"/>
            <a:ext cx="17263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 smtClean="0"/>
              <a:t>: String</a:t>
            </a:r>
            <a:endParaRPr lang="en-US" sz="4200" dirty="0"/>
          </a:p>
        </p:txBody>
      </p:sp>
      <p:sp>
        <p:nvSpPr>
          <p:cNvPr id="13" name="TextBox 12"/>
          <p:cNvSpPr txBox="1"/>
          <p:nvPr/>
        </p:nvSpPr>
        <p:spPr>
          <a:xfrm>
            <a:off x="6881091" y="3696427"/>
            <a:ext cx="13150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 smtClean="0"/>
              <a:t>: URL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4697227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Verbose, Less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// Java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public final class Document {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private String title;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private String body;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private URL location;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public Document(String title, String body, URL location) {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this.title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title;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this.body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body;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this.locaiton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= location;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}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public String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getTitle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{ return title; }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public String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getBody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{return body; }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public String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getURL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{ return location; }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</a:p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@Override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public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boolean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equals(Object other) {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if(!(other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instanceof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Document)) return false;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Document that = (Document) other;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return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getTitle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==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that.getTitle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   &amp;&amp;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getBody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==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that.getBody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   &amp;&amp;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getURL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==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that.getURL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}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public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hashCode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 { 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code = 0;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code = code * 37 +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getTitle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().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hashCode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();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code = code * 37 +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getBody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).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hashCode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()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code 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= code * 37 +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getURL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).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hashCode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();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return code;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}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6264703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Concise, More Expressive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c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ase class Document(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 title: String,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 body: String,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 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url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: URL)</a:t>
            </a:r>
          </a:p>
        </p:txBody>
      </p:sp>
    </p:spTree>
    <p:extLst>
      <p:ext uri="{BB962C8B-B14F-4D97-AF65-F5344CB8AC3E}">
        <p14:creationId xmlns:p14="http://schemas.microsoft.com/office/powerpoint/2010/main" val="2052663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Ugly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# </a:t>
            </a: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Python</a:t>
            </a:r>
          </a:p>
          <a:p>
            <a:pPr marL="0" indent="0">
              <a:buNone/>
            </a:pPr>
            <a:r>
              <a:rPr lang="en-US" sz="3000" dirty="0" err="1">
                <a:solidFill>
                  <a:srgbClr val="525252"/>
                </a:solidFill>
                <a:latin typeface="Monaco"/>
                <a:cs typeface="Monaco"/>
              </a:rPr>
              <a:t>d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foo(size, value)</a:t>
            </a: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:</a:t>
            </a: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[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+ value for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in range(size)]</a:t>
            </a:r>
          </a:p>
          <a:p>
            <a:pPr marL="0" indent="0">
              <a:buNone/>
            </a:pP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246232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Ugly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# 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Python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d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ef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foo(size, value)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[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+ value for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in range(size)]</a:t>
            </a:r>
          </a:p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foo(size: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, value: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) = {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for(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&lt;- 0 until size) 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yield </a:t>
            </a:r>
            <a:r>
              <a:rPr lang="en-US" dirty="0" err="1" smtClean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+ value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endParaRPr lang="en-US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444965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Ugly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c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lass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MyClass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(arg1: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, arg2: T) {</a:t>
            </a: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foo(bar: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baz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: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) = {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…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}</a:t>
            </a:r>
          </a:p>
          <a:p>
            <a:pPr marL="0" indent="0">
              <a:buNone/>
            </a:pP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equals(other: Any) = {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// …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}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2310613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Ugly Python?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# Python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c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lass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MyClass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: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__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init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__(self, arg1, arg2):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self.arg1 = arg1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self.arg2 = arg2</a:t>
            </a:r>
          </a:p>
          <a:p>
            <a:pPr marL="0" indent="0">
              <a:buNone/>
            </a:pP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foo(self, bar,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baz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):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# …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	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__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eq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__(self, other):</a:t>
            </a: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 # …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1816586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</a:t>
            </a:r>
            <a:r>
              <a:rPr lang="en-US" strike="sngStrike" dirty="0" smtClean="0"/>
              <a:t>Ugly</a:t>
            </a:r>
            <a:r>
              <a:rPr lang="en-US" dirty="0" smtClean="0"/>
              <a:t>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# Python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c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lass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MyClass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: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__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init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__(self, arg1, arg2):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self.arg1 = arg1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self.arg2 = arg2</a:t>
            </a:r>
          </a:p>
          <a:p>
            <a:pPr marL="0" indent="0">
              <a:buNone/>
            </a:pP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foo(self, bar, 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baz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):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# …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	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__</a:t>
            </a:r>
            <a:r>
              <a:rPr lang="en-US" sz="3000" dirty="0" err="1" smtClean="0">
                <a:solidFill>
                  <a:srgbClr val="525252"/>
                </a:solidFill>
                <a:latin typeface="Monaco"/>
                <a:cs typeface="Monaco"/>
              </a:rPr>
              <a:t>eq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__(self, other):</a:t>
            </a: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   # …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30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</a:p>
          <a:p>
            <a:pPr marL="0" indent="0">
              <a:buNone/>
            </a:pPr>
            <a:endParaRPr lang="en-US" sz="30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sz="30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55454" y="66571"/>
            <a:ext cx="1366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halkduster"/>
                <a:cs typeface="Chalkduster"/>
              </a:rPr>
              <a:t>Pretty</a:t>
            </a:r>
            <a:endParaRPr lang="en-US" sz="2800" dirty="0">
              <a:solidFill>
                <a:srgbClr val="FF0000"/>
              </a:solidFill>
              <a:latin typeface="Chalkduster"/>
              <a:cs typeface="Chalkduster"/>
            </a:endParaRPr>
          </a:p>
        </p:txBody>
      </p:sp>
    </p:spTree>
    <p:extLst>
      <p:ext uri="{BB962C8B-B14F-4D97-AF65-F5344CB8AC3E}">
        <p14:creationId xmlns:p14="http://schemas.microsoft.com/office/powerpoint/2010/main" val="3179558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</a:t>
            </a:r>
            <a:r>
              <a:rPr lang="en-US" b="1" dirty="0" smtClean="0"/>
              <a:t>Fast</a:t>
            </a:r>
            <a:r>
              <a:rPr lang="en-US" dirty="0" smtClean="0"/>
              <a:t> Pretty Python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4809" b="1559"/>
          <a:stretch/>
        </p:blipFill>
        <p:spPr>
          <a:xfrm>
            <a:off x="457200" y="815474"/>
            <a:ext cx="8229600" cy="5310689"/>
          </a:xfrm>
        </p:spPr>
      </p:pic>
    </p:spTree>
    <p:extLst>
      <p:ext uri="{BB962C8B-B14F-4D97-AF65-F5344CB8AC3E}">
        <p14:creationId xmlns:p14="http://schemas.microsoft.com/office/powerpoint/2010/main" val="1361699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</a:t>
            </a:r>
            <a:r>
              <a:rPr lang="en-US" b="1" dirty="0" smtClean="0"/>
              <a:t>Fast</a:t>
            </a:r>
            <a:r>
              <a:rPr lang="en-US" dirty="0" smtClean="0"/>
              <a:t> Pretty Python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867" b="1558"/>
          <a:stretch/>
        </p:blipFill>
        <p:spPr>
          <a:xfrm>
            <a:off x="457200" y="1018214"/>
            <a:ext cx="8229600" cy="5107950"/>
          </a:xfrm>
        </p:spPr>
      </p:pic>
    </p:spTree>
    <p:extLst>
      <p:ext uri="{BB962C8B-B14F-4D97-AF65-F5344CB8AC3E}">
        <p14:creationId xmlns:p14="http://schemas.microsoft.com/office/powerpoint/2010/main" val="3110684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</a:t>
            </a:r>
            <a:r>
              <a:rPr lang="en-US" dirty="0" err="1" smtClean="0"/>
              <a:t>Performant</a:t>
            </a:r>
            <a:r>
              <a:rPr lang="en-US" dirty="0" smtClean="0"/>
              <a:t>, Concise, Fun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Usually within 10% of Java for ~1/2 the code.</a:t>
            </a:r>
          </a:p>
          <a:p>
            <a:r>
              <a:rPr lang="en-US" dirty="0" smtClean="0"/>
              <a:t>Usually 20-30x faster than Python, for ± the same code.</a:t>
            </a:r>
          </a:p>
          <a:p>
            <a:r>
              <a:rPr lang="en-US" dirty="0" smtClean="0"/>
              <a:t>Tight inner loops can be written as fast as Java</a:t>
            </a:r>
          </a:p>
          <a:p>
            <a:pPr lvl="1"/>
            <a:r>
              <a:rPr lang="en-US" dirty="0" smtClean="0"/>
              <a:t>Great for NLP’s dynamic programs</a:t>
            </a:r>
          </a:p>
          <a:p>
            <a:pPr lvl="1"/>
            <a:r>
              <a:rPr lang="en-US" dirty="0" smtClean="0"/>
              <a:t>Typically pretty ugly, though</a:t>
            </a:r>
          </a:p>
          <a:p>
            <a:r>
              <a:rPr lang="en-US" dirty="0" smtClean="0"/>
              <a:t>Outer loops can be written idiomatically </a:t>
            </a:r>
          </a:p>
          <a:p>
            <a:pPr lvl="1"/>
            <a:r>
              <a:rPr lang="en-US" dirty="0" smtClean="0"/>
              <a:t>aka more slowly, but prettier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250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Scala</a:t>
            </a:r>
            <a:r>
              <a:rPr lang="en-US" dirty="0" smtClean="0"/>
              <a:t>: Some Downsides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 support isn’t as strong as for Java.</a:t>
            </a:r>
          </a:p>
          <a:p>
            <a:pPr lvl="1"/>
            <a:r>
              <a:rPr lang="en-US" dirty="0" smtClean="0"/>
              <a:t>Getting better all the time</a:t>
            </a:r>
          </a:p>
          <a:p>
            <a:r>
              <a:rPr lang="en-US" dirty="0" smtClean="0"/>
              <a:t>Compiler is</a:t>
            </a:r>
            <a:r>
              <a:rPr lang="en-US" b="1" dirty="0" smtClean="0"/>
              <a:t> much </a:t>
            </a:r>
            <a:r>
              <a:rPr lang="en-US" dirty="0" smtClean="0"/>
              <a:t>slower.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737" y="3036455"/>
            <a:ext cx="3960314" cy="345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959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 more about </a:t>
            </a:r>
            <a:r>
              <a:rPr lang="en-US" dirty="0" err="1" smtClean="0"/>
              <a:t>Scala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t="-16016" b="-16016"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997507" y="1235425"/>
            <a:ext cx="7311216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hlinkClick r:id="rId3"/>
              </a:rPr>
              <a:t>https://</a:t>
            </a:r>
            <a:r>
              <a:rPr lang="en-US" sz="3200" dirty="0" err="1">
                <a:hlinkClick r:id="rId3"/>
              </a:rPr>
              <a:t>www.coursera.org</a:t>
            </a:r>
            <a:r>
              <a:rPr lang="en-US" sz="3200" dirty="0">
                <a:hlinkClick r:id="rId3"/>
              </a:rPr>
              <a:t>/course/</a:t>
            </a:r>
            <a:r>
              <a:rPr lang="en-US" sz="3200" dirty="0" err="1">
                <a:hlinkClick r:id="rId3"/>
              </a:rPr>
              <a:t>progfun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3488716" y="5541387"/>
            <a:ext cx="232647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Starts today!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80764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alphaModFix amt="87000"/>
          </a:blip>
          <a:stretch>
            <a:fillRect/>
          </a:stretch>
        </p:blipFill>
        <p:spPr>
          <a:xfrm>
            <a:off x="2807353" y="2467575"/>
            <a:ext cx="3656303" cy="21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6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Getting started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libraryDependencies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+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+= 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Seq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 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/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/ other dependencies here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/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/ pick and choose: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"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org.scalanlp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" %% "breeze-math" % "0.1",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"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org.scalanlp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" %% "breeze-learn" % "0.1",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"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org.scalanlp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" %% "breeze-process" % "0.1",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   "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org.scalanlp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" %% "breeze-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viz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" % "0.1"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resolvers ++= 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Seq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           // other resolvers here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           // 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Snapshots: use 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this</a:t>
            </a:r>
            <a:r>
              <a:rPr lang="en-US" dirty="0" smtClean="0">
                <a:solidFill>
                  <a:srgbClr val="525252"/>
                </a:solidFill>
                <a:latin typeface="Monaco"/>
                <a:cs typeface="Monaco"/>
              </a:rPr>
              <a:t>. (0.2-SNAPSHOT)</a:t>
            </a: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           "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Sonatype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Snapshots" at "https://</a:t>
            </a: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oss.sonatype.org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/content/repositories/snapshots/"</a:t>
            </a:r>
          </a:p>
          <a:p>
            <a:pPr marL="0" indent="0">
              <a:buNone/>
            </a:pP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525252"/>
                </a:solidFill>
                <a:latin typeface="Monaco"/>
                <a:cs typeface="Monaco"/>
              </a:rPr>
              <a:t>scalaVersion</a:t>
            </a:r>
            <a:r>
              <a:rPr lang="en-US" dirty="0">
                <a:solidFill>
                  <a:srgbClr val="525252"/>
                </a:solidFill>
                <a:latin typeface="Monaco"/>
                <a:cs typeface="Monaco"/>
              </a:rPr>
              <a:t> := "2.9.2"</a:t>
            </a:r>
          </a:p>
          <a:p>
            <a:pPr marL="0" indent="0">
              <a:buNone/>
            </a:pPr>
            <a:endParaRPr lang="en-US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163309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1889207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Breeze-Math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730" y="2478875"/>
            <a:ext cx="41275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42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Algebra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import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breeze.linalg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.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_</a:t>
            </a:r>
          </a:p>
          <a:p>
            <a:pPr marL="0" indent="0">
              <a:buNone/>
            </a:pP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x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DenseVector.zeros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[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]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(5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)</a:t>
            </a: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0, 0, 0, 0, 0)</a:t>
            </a:r>
          </a:p>
          <a:p>
            <a:pPr marL="0" indent="0">
              <a:buNone/>
            </a:pPr>
            <a:endParaRPr lang="en-US" sz="26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m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DenseMatrix.zeros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[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Int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]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(5,5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en-US" sz="26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al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r = 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DenseMatrix.rand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(5,5)</a:t>
            </a:r>
          </a:p>
          <a:p>
            <a:pPr marL="0" indent="0">
              <a:buNone/>
            </a:pP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m.t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// transpose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x + x // addition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* x // multiplication by vector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* 3 // by scalar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* m // by matrix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:* m // element wise 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mult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2600" dirty="0" err="1" smtClean="0">
                <a:solidFill>
                  <a:srgbClr val="525252"/>
                </a:solidFill>
                <a:latin typeface="Monaco"/>
                <a:cs typeface="Monaco"/>
              </a:rPr>
              <a:t>Matlab</a:t>
            </a:r>
            <a:r>
              <a:rPr lang="en-US" sz="2600" dirty="0" smtClean="0">
                <a:solidFill>
                  <a:srgbClr val="525252"/>
                </a:solidFill>
                <a:latin typeface="Monaco"/>
                <a:cs typeface="Monaco"/>
              </a:rPr>
              <a:t> .*</a:t>
            </a:r>
          </a:p>
        </p:txBody>
      </p:sp>
    </p:spTree>
    <p:extLst>
      <p:ext uri="{BB962C8B-B14F-4D97-AF65-F5344CB8AC3E}">
        <p14:creationId xmlns:p14="http://schemas.microsoft.com/office/powerpoint/2010/main" val="1296176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Algebra: Return type selection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&gt;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 dv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DenseVector.rand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(2)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dv: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breeze.linalg.DenseVector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[Double]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(0.42808779630213867, 0.6902430375224726)</a:t>
            </a:r>
          </a:p>
          <a:p>
            <a:pPr marL="0" indent="0">
              <a:buNone/>
            </a:pP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&gt;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sv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SparseVector.zeros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[Double](2)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sv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: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breeze.linalg.SparseVector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[Double]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SparseVector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()</a:t>
            </a:r>
          </a:p>
          <a:p>
            <a:pPr marL="0" indent="0">
              <a:buNone/>
            </a:pP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&gt; dv +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sv</a:t>
            </a: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res3: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breeze.linalg.DenseVector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[Double]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(0.42808779630213867, 0.6902430375224726)</a:t>
            </a:r>
          </a:p>
          <a:p>
            <a:pPr marL="0" indent="0">
              <a:buNone/>
            </a:pP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&gt; (dv: Vector[Double]) + (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sv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: Vector[Double])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res4: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breeze.linalg.Vector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[Double]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(0.42808779630213867, 0.6902430375224726)</a:t>
            </a:r>
          </a:p>
          <a:p>
            <a:pPr marL="0" indent="0">
              <a:buNone/>
            </a:pPr>
            <a:endParaRPr lang="en-US" sz="26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scala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&gt; (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sv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: Vector[Double]) + (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sv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: Vector[Double])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res5: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breeze.linalg.Vector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[Double] = </a:t>
            </a:r>
            <a:r>
              <a:rPr lang="en-US" sz="2600" dirty="0" err="1">
                <a:solidFill>
                  <a:srgbClr val="525252"/>
                </a:solidFill>
                <a:latin typeface="Monaco"/>
                <a:cs typeface="Monaco"/>
              </a:rPr>
              <a:t>SparseVector</a:t>
            </a:r>
            <a:r>
              <a:rPr lang="en-US" sz="2600" dirty="0">
                <a:solidFill>
                  <a:srgbClr val="525252"/>
                </a:solidFill>
                <a:latin typeface="Monaco"/>
                <a:cs typeface="Monaco"/>
              </a:rPr>
              <a:t>()</a:t>
            </a:r>
            <a:endParaRPr lang="en-US" sz="26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  <p:sp>
        <p:nvSpPr>
          <p:cNvPr id="2" name="Oval Callout 1"/>
          <p:cNvSpPr/>
          <p:nvPr/>
        </p:nvSpPr>
        <p:spPr>
          <a:xfrm>
            <a:off x="6807170" y="3041193"/>
            <a:ext cx="1392628" cy="401036"/>
          </a:xfrm>
          <a:prstGeom prst="wedgeEllipseCallout">
            <a:avLst>
              <a:gd name="adj1" fmla="val -44833"/>
              <a:gd name="adj2" fmla="val 8472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Dense</a:t>
            </a:r>
            <a:endParaRPr lang="en-US" dirty="0"/>
          </a:p>
        </p:txBody>
      </p:sp>
      <p:sp>
        <p:nvSpPr>
          <p:cNvPr id="6" name="Oval Callout 5"/>
          <p:cNvSpPr/>
          <p:nvPr/>
        </p:nvSpPr>
        <p:spPr>
          <a:xfrm>
            <a:off x="6090569" y="4533939"/>
            <a:ext cx="2785628" cy="597996"/>
          </a:xfrm>
          <a:prstGeom prst="wedgeEllipseCallout">
            <a:avLst>
              <a:gd name="adj1" fmla="val -65630"/>
              <a:gd name="adj2" fmla="val -2518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Static: Vector</a:t>
            </a:r>
          </a:p>
          <a:p>
            <a:pPr algn="ctr"/>
            <a:r>
              <a:rPr lang="en-US" dirty="0" smtClean="0"/>
              <a:t>Dynamic:  Dense</a:t>
            </a:r>
            <a:endParaRPr lang="en-US" dirty="0"/>
          </a:p>
        </p:txBody>
      </p:sp>
      <p:sp>
        <p:nvSpPr>
          <p:cNvPr id="7" name="Oval Callout 6"/>
          <p:cNvSpPr/>
          <p:nvPr/>
        </p:nvSpPr>
        <p:spPr>
          <a:xfrm>
            <a:off x="5730481" y="5827165"/>
            <a:ext cx="2785628" cy="597996"/>
          </a:xfrm>
          <a:prstGeom prst="wedgeEllipseCallout">
            <a:avLst>
              <a:gd name="adj1" fmla="val -65630"/>
              <a:gd name="adj2" fmla="val -2518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Static: Vector</a:t>
            </a:r>
          </a:p>
          <a:p>
            <a:pPr algn="ctr"/>
            <a:r>
              <a:rPr lang="en-US" dirty="0" smtClean="0"/>
              <a:t>Dynamic:  Sparse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62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Algebra: Slices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(::,1) // slice a column</a:t>
            </a: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  <a:sym typeface="Wingdings"/>
              </a:rPr>
              <a:t>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  <a:sym typeface="Wingdings"/>
              </a:rPr>
              <a:t>DenseVector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  <a:sym typeface="Wingdings"/>
              </a:rPr>
              <a:t>(0, 0, 0, 0, 0)</a:t>
            </a: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(4,::) 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 slice a row</a:t>
            </a:r>
          </a:p>
          <a:p>
            <a:pPr marL="0" indent="0">
              <a:buNone/>
            </a:pP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(4,::) :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=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1,2,3,4,5)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.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t</a:t>
            </a:r>
          </a:p>
          <a:p>
            <a:pPr marL="0" indent="0">
              <a:buNone/>
            </a:pP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m.toString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: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0  0  0  0  0  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0  0  0  0  0  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0  0  0  0  0  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0  0  0  0  0  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1  2  3  4  5 </a:t>
            </a: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777067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Algebra: Slices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m(0 to 1, 3 to 4).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toString</a:t>
            </a: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//0 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</a:t>
            </a: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//2  3 </a:t>
            </a:r>
          </a:p>
          <a:p>
            <a:pPr marL="0" indent="0">
              <a:buNone/>
            </a:pP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m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IndexedSeq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(3,1,4,2)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,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IndexedSeq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(4,4,3,1))</a:t>
            </a:r>
          </a:p>
          <a:p>
            <a:pPr marL="0" indent="0">
              <a:buNone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//0 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 </a:t>
            </a: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//0 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 </a:t>
            </a: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//5 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5  4  2  </a:t>
            </a: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//0 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0  0  0 </a:t>
            </a: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457200" indent="-457200">
              <a:buAutoNum type="arabicPlain" startAt="2"/>
            </a:pP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457200" indent="-457200">
              <a:buAutoNum type="arabicPlain" startAt="2"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4315634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UFuncs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i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mport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breeze.numerics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._</a:t>
            </a:r>
          </a:p>
          <a:p>
            <a:pPr marL="0" indent="0">
              <a:buNone/>
            </a:pP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log(</a:t>
            </a:r>
            <a:r>
              <a:rPr lang="nl-NL" sz="25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(1.0, 2.0, 3.0, 4.0))</a:t>
            </a:r>
          </a:p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(0.0, 0.6931471805599453, </a:t>
            </a:r>
          </a:p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// 1.0986122886681098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, 1.3862943611198906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exp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DenseMatrix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( (1.0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2.0), (3.0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4.0)))</a:t>
            </a:r>
          </a:p>
          <a:p>
            <a:pPr marL="0" indent="0">
              <a:buNone/>
            </a:pP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s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in(Array(2.0, 3.0, 4.0, 42.))</a:t>
            </a:r>
          </a:p>
          <a:p>
            <a:pPr marL="0" indent="0">
              <a:buNone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// also sin,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cos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sqrt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asin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, floor, round, digamma,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trigamma</a:t>
            </a: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837462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UFuncs</a:t>
            </a:r>
            <a:r>
              <a:rPr lang="en-US" dirty="0" smtClean="0"/>
              <a:t>: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trait </a:t>
            </a:r>
            <a:r>
              <a:rPr lang="en-US" sz="2400" dirty="0" err="1" smtClean="0">
                <a:latin typeface="Monaco"/>
                <a:cs typeface="Monaco"/>
              </a:rPr>
              <a:t>Ufunc</a:t>
            </a:r>
            <a:r>
              <a:rPr lang="en-US" sz="2400" dirty="0" smtClean="0">
                <a:latin typeface="Monaco"/>
                <a:cs typeface="Monaco"/>
              </a:rPr>
              <a:t>[-</a:t>
            </a:r>
            <a:r>
              <a:rPr lang="en-US" sz="2400" dirty="0">
                <a:latin typeface="Monaco"/>
                <a:cs typeface="Monaco"/>
              </a:rPr>
              <a:t>V, </a:t>
            </a:r>
            <a:r>
              <a:rPr lang="en-US" sz="2400" dirty="0" smtClean="0">
                <a:latin typeface="Monaco"/>
                <a:cs typeface="Monaco"/>
              </a:rPr>
              <a:t>+</a:t>
            </a:r>
            <a:r>
              <a:rPr lang="en-US" sz="2400" dirty="0">
                <a:latin typeface="Monaco"/>
                <a:cs typeface="Monaco"/>
              </a:rPr>
              <a:t>V2] {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err="1">
                <a:latin typeface="Monaco"/>
                <a:cs typeface="Monaco"/>
              </a:rPr>
              <a:t>def</a:t>
            </a:r>
            <a:r>
              <a:rPr lang="en-US" sz="2400" dirty="0">
                <a:latin typeface="Monaco"/>
                <a:cs typeface="Monaco"/>
              </a:rPr>
              <a:t> apply(v: V):V2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err="1">
                <a:latin typeface="Monaco"/>
                <a:cs typeface="Monaco"/>
              </a:rPr>
              <a:t>def</a:t>
            </a:r>
            <a:r>
              <a:rPr lang="en-US" sz="2400" dirty="0">
                <a:latin typeface="Monaco"/>
                <a:cs typeface="Monaco"/>
              </a:rPr>
              <a:t> apply[T,U](t: T)(implicit cmv: </a:t>
            </a:r>
            <a:r>
              <a:rPr lang="en-US" sz="2400" dirty="0" smtClean="0">
                <a:latin typeface="Monaco"/>
                <a:cs typeface="Monaco"/>
              </a:rPr>
              <a:t>      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smtClean="0">
                <a:latin typeface="Monaco"/>
                <a:cs typeface="Monaco"/>
              </a:rPr>
              <a:t>           </a:t>
            </a:r>
            <a:r>
              <a:rPr lang="en-US" sz="2400" dirty="0" err="1" smtClean="0">
                <a:latin typeface="Monaco"/>
                <a:cs typeface="Monaco"/>
              </a:rPr>
              <a:t>CanMapValues</a:t>
            </a:r>
            <a:r>
              <a:rPr lang="en-US" sz="2400" dirty="0">
                <a:latin typeface="Monaco"/>
                <a:cs typeface="Monaco"/>
              </a:rPr>
              <a:t>[T, V, V2, U]):U = </a:t>
            </a:r>
            <a:r>
              <a:rPr lang="en-US" sz="2400" dirty="0" smtClean="0"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smtClean="0">
                <a:latin typeface="Monaco"/>
                <a:cs typeface="Monaco"/>
              </a:rPr>
              <a:t>  </a:t>
            </a:r>
            <a:r>
              <a:rPr lang="en-US" sz="2400" dirty="0" err="1" smtClean="0">
                <a:latin typeface="Monaco"/>
                <a:cs typeface="Monaco"/>
              </a:rPr>
              <a:t>cmv.map</a:t>
            </a:r>
            <a:r>
              <a:rPr lang="en-US" sz="2400" dirty="0">
                <a:latin typeface="Monaco"/>
                <a:cs typeface="Monaco"/>
              </a:rPr>
              <a:t>(t, apply _</a:t>
            </a:r>
            <a:r>
              <a:rPr lang="en-US" sz="2400" dirty="0" smtClean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smtClean="0">
                <a:latin typeface="Monaco"/>
                <a:cs typeface="Monaco"/>
              </a:rPr>
              <a:t> }</a:t>
            </a:r>
          </a:p>
          <a:p>
            <a:pPr marL="0" indent="0">
              <a:buNone/>
            </a:pPr>
            <a:endParaRPr lang="en-US" sz="24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 smtClean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r>
              <a:rPr lang="en-US" sz="2400" dirty="0" smtClean="0">
                <a:latin typeface="Monaco"/>
                <a:cs typeface="Monaco"/>
              </a:rPr>
              <a:t>// elsewhere: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err="1">
                <a:latin typeface="Monaco"/>
                <a:cs typeface="Monaco"/>
              </a:rPr>
              <a:t>val</a:t>
            </a: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err="1">
                <a:latin typeface="Monaco"/>
                <a:cs typeface="Monaco"/>
              </a:rPr>
              <a:t>exp</a:t>
            </a:r>
            <a:r>
              <a:rPr lang="en-US" sz="2400" dirty="0">
                <a:latin typeface="Monaco"/>
                <a:cs typeface="Monaco"/>
              </a:rPr>
              <a:t> = </a:t>
            </a:r>
            <a:r>
              <a:rPr lang="en-US" sz="2400" dirty="0" err="1">
                <a:latin typeface="Monaco"/>
                <a:cs typeface="Monaco"/>
              </a:rPr>
              <a:t>UFunc</a:t>
            </a:r>
            <a:r>
              <a:rPr lang="en-US" sz="2400" dirty="0" smtClean="0">
                <a:latin typeface="Monaco"/>
                <a:cs typeface="Monaco"/>
              </a:rPr>
              <a:t>(</a:t>
            </a:r>
            <a:r>
              <a:rPr lang="en-US" sz="2400" dirty="0" err="1" smtClean="0">
                <a:latin typeface="Monaco"/>
                <a:cs typeface="Monaco"/>
              </a:rPr>
              <a:t>scala.math.exp</a:t>
            </a:r>
            <a:r>
              <a:rPr lang="en-US" sz="2400" dirty="0" smtClean="0">
                <a:latin typeface="Monaco"/>
                <a:cs typeface="Monaco"/>
              </a:rPr>
              <a:t> </a:t>
            </a:r>
            <a:r>
              <a:rPr lang="en-US" sz="2400" dirty="0">
                <a:latin typeface="Monaco"/>
                <a:cs typeface="Monaco"/>
              </a:rPr>
              <a:t>_)</a:t>
            </a:r>
          </a:p>
          <a:p>
            <a:pPr marL="0" indent="0">
              <a:buNone/>
            </a:pPr>
            <a:endParaRPr lang="en-US" sz="2400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sz="2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787794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17041"/>
            <a:ext cx="8229600" cy="69003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UFuncs</a:t>
            </a:r>
            <a:r>
              <a:rPr lang="en-US" dirty="0" smtClean="0"/>
              <a:t>: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Monaco"/>
                <a:cs typeface="Monaco"/>
              </a:rPr>
              <a:t>new </a:t>
            </a:r>
            <a:r>
              <a:rPr lang="en-US" sz="1800" dirty="0" err="1">
                <a:latin typeface="Monaco"/>
                <a:cs typeface="Monaco"/>
              </a:rPr>
              <a:t>CanMapValues</a:t>
            </a:r>
            <a:r>
              <a:rPr lang="en-US" sz="1800" dirty="0">
                <a:latin typeface="Monaco"/>
                <a:cs typeface="Monaco"/>
              </a:rPr>
              <a:t>[</a:t>
            </a:r>
            <a:r>
              <a:rPr lang="en-US" sz="1800" dirty="0" err="1">
                <a:latin typeface="Monaco"/>
                <a:cs typeface="Monaco"/>
              </a:rPr>
              <a:t>DenseVector</a:t>
            </a:r>
            <a:r>
              <a:rPr lang="en-US" sz="1800" dirty="0">
                <a:latin typeface="Monaco"/>
                <a:cs typeface="Monaco"/>
              </a:rPr>
              <a:t>[V], V, V2, </a:t>
            </a:r>
            <a:r>
              <a:rPr lang="en-US" sz="1800" dirty="0" err="1">
                <a:latin typeface="Monaco"/>
                <a:cs typeface="Monaco"/>
              </a:rPr>
              <a:t>DenseVector</a:t>
            </a:r>
            <a:r>
              <a:rPr lang="en-US" sz="1800" dirty="0">
                <a:latin typeface="Monaco"/>
                <a:cs typeface="Monaco"/>
              </a:rPr>
              <a:t>[V2]] {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</a:t>
            </a:r>
            <a:r>
              <a:rPr lang="en-US" sz="1800" dirty="0" err="1">
                <a:latin typeface="Monaco"/>
                <a:cs typeface="Monaco"/>
              </a:rPr>
              <a:t>def</a:t>
            </a:r>
            <a:r>
              <a:rPr lang="en-US" sz="1800" dirty="0">
                <a:latin typeface="Monaco"/>
                <a:cs typeface="Monaco"/>
              </a:rPr>
              <a:t> map(from: </a:t>
            </a:r>
            <a:r>
              <a:rPr lang="en-US" sz="1800" dirty="0" err="1">
                <a:latin typeface="Monaco"/>
                <a:cs typeface="Monaco"/>
              </a:rPr>
              <a:t>DenseVector</a:t>
            </a:r>
            <a:r>
              <a:rPr lang="en-US" sz="1800" dirty="0">
                <a:latin typeface="Monaco"/>
                <a:cs typeface="Monaco"/>
              </a:rPr>
              <a:t>[V], </a:t>
            </a:r>
            <a:r>
              <a:rPr lang="en-US" sz="1800" dirty="0" err="1">
                <a:latin typeface="Monaco"/>
                <a:cs typeface="Monaco"/>
              </a:rPr>
              <a:t>fn</a:t>
            </a:r>
            <a:r>
              <a:rPr lang="en-US" sz="1800" dirty="0">
                <a:latin typeface="Monaco"/>
                <a:cs typeface="Monaco"/>
              </a:rPr>
              <a:t>: (V) =&gt; V2) = {</a:t>
            </a:r>
          </a:p>
          <a:p>
            <a:pPr marL="0" indent="0">
              <a:buNone/>
            </a:pPr>
            <a:r>
              <a:rPr lang="en-US" sz="1800" dirty="0" smtClean="0">
                <a:latin typeface="Monaco"/>
                <a:cs typeface="Monaco"/>
              </a:rPr>
              <a:t>        </a:t>
            </a:r>
            <a:r>
              <a:rPr lang="en-US" sz="1800" dirty="0" err="1" smtClean="0">
                <a:latin typeface="Monaco"/>
                <a:cs typeface="Monaco"/>
              </a:rPr>
              <a:t>val</a:t>
            </a:r>
            <a:r>
              <a:rPr lang="en-US" sz="1800" dirty="0" smtClean="0">
                <a:latin typeface="Monaco"/>
                <a:cs typeface="Monaco"/>
              </a:rPr>
              <a:t> </a:t>
            </a:r>
            <a:r>
              <a:rPr lang="en-US" sz="1800" dirty="0" err="1">
                <a:latin typeface="Monaco"/>
                <a:cs typeface="Monaco"/>
              </a:rPr>
              <a:t>arr</a:t>
            </a:r>
            <a:r>
              <a:rPr lang="en-US" sz="1800" dirty="0">
                <a:latin typeface="Monaco"/>
                <a:cs typeface="Monaco"/>
              </a:rPr>
              <a:t> = new Array[V2](</a:t>
            </a:r>
            <a:r>
              <a:rPr lang="en-US" sz="1800" dirty="0" err="1">
                <a:latin typeface="Monaco"/>
                <a:cs typeface="Monaco"/>
              </a:rPr>
              <a:t>from.length</a:t>
            </a:r>
            <a:r>
              <a:rPr lang="en-US" sz="1800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en-US" sz="18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</a:t>
            </a:r>
            <a:r>
              <a:rPr lang="en-US" sz="1800" dirty="0" err="1">
                <a:latin typeface="Monaco"/>
                <a:cs typeface="Monaco"/>
              </a:rPr>
              <a:t>val</a:t>
            </a:r>
            <a:r>
              <a:rPr lang="en-US" sz="1800" dirty="0">
                <a:latin typeface="Monaco"/>
                <a:cs typeface="Monaco"/>
              </a:rPr>
              <a:t> d = </a:t>
            </a:r>
            <a:r>
              <a:rPr lang="en-US" sz="1800" dirty="0" err="1">
                <a:latin typeface="Monaco"/>
                <a:cs typeface="Monaco"/>
              </a:rPr>
              <a:t>from.data</a:t>
            </a:r>
            <a:endParaRPr lang="en-US" sz="18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</a:t>
            </a:r>
            <a:r>
              <a:rPr lang="en-US" sz="1800" dirty="0" err="1">
                <a:latin typeface="Monaco"/>
                <a:cs typeface="Monaco"/>
              </a:rPr>
              <a:t>val</a:t>
            </a:r>
            <a:r>
              <a:rPr lang="en-US" sz="1800" dirty="0">
                <a:latin typeface="Monaco"/>
                <a:cs typeface="Monaco"/>
              </a:rPr>
              <a:t> stride = </a:t>
            </a:r>
            <a:r>
              <a:rPr lang="en-US" sz="1800" dirty="0" err="1">
                <a:latin typeface="Monaco"/>
                <a:cs typeface="Monaco"/>
              </a:rPr>
              <a:t>from.stride</a:t>
            </a:r>
            <a:endParaRPr lang="en-US" sz="1800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sz="18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</a:t>
            </a:r>
            <a:r>
              <a:rPr lang="en-US" sz="1800" dirty="0" err="1">
                <a:latin typeface="Monaco"/>
                <a:cs typeface="Monaco"/>
              </a:rPr>
              <a:t>var</a:t>
            </a:r>
            <a:r>
              <a:rPr lang="en-US" sz="1800" dirty="0">
                <a:latin typeface="Monaco"/>
                <a:cs typeface="Monaco"/>
              </a:rPr>
              <a:t> </a:t>
            </a:r>
            <a:r>
              <a:rPr lang="en-US" sz="1800" dirty="0" err="1">
                <a:latin typeface="Monaco"/>
                <a:cs typeface="Monaco"/>
              </a:rPr>
              <a:t>i</a:t>
            </a:r>
            <a:r>
              <a:rPr lang="en-US" sz="1800" dirty="0">
                <a:latin typeface="Monaco"/>
                <a:cs typeface="Monaco"/>
              </a:rPr>
              <a:t> = 0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</a:t>
            </a:r>
            <a:r>
              <a:rPr lang="en-US" sz="1800" dirty="0" err="1">
                <a:latin typeface="Monaco"/>
                <a:cs typeface="Monaco"/>
              </a:rPr>
              <a:t>var</a:t>
            </a:r>
            <a:r>
              <a:rPr lang="en-US" sz="1800" dirty="0">
                <a:latin typeface="Monaco"/>
                <a:cs typeface="Monaco"/>
              </a:rPr>
              <a:t> j = </a:t>
            </a:r>
            <a:r>
              <a:rPr lang="en-US" sz="1800" dirty="0" err="1">
                <a:latin typeface="Monaco"/>
                <a:cs typeface="Monaco"/>
              </a:rPr>
              <a:t>from.offset</a:t>
            </a:r>
            <a:endParaRPr lang="en-US" sz="18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while(</a:t>
            </a:r>
            <a:r>
              <a:rPr lang="en-US" sz="1800" dirty="0" err="1">
                <a:latin typeface="Monaco"/>
                <a:cs typeface="Monaco"/>
              </a:rPr>
              <a:t>i</a:t>
            </a:r>
            <a:r>
              <a:rPr lang="en-US" sz="1800" dirty="0">
                <a:latin typeface="Monaco"/>
                <a:cs typeface="Monaco"/>
              </a:rPr>
              <a:t> &lt; </a:t>
            </a:r>
            <a:r>
              <a:rPr lang="en-US" sz="1800" dirty="0" err="1">
                <a:latin typeface="Monaco"/>
                <a:cs typeface="Monaco"/>
              </a:rPr>
              <a:t>arr.length</a:t>
            </a:r>
            <a:r>
              <a:rPr lang="en-US" sz="1800" dirty="0">
                <a:latin typeface="Monaco"/>
                <a:cs typeface="Monaco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  </a:t>
            </a:r>
            <a:r>
              <a:rPr lang="en-US" sz="1800" dirty="0" err="1">
                <a:latin typeface="Monaco"/>
                <a:cs typeface="Monaco"/>
              </a:rPr>
              <a:t>arr</a:t>
            </a:r>
            <a:r>
              <a:rPr lang="en-US" sz="1800" dirty="0">
                <a:latin typeface="Monaco"/>
                <a:cs typeface="Monaco"/>
              </a:rPr>
              <a:t>(</a:t>
            </a:r>
            <a:r>
              <a:rPr lang="en-US" sz="1800" dirty="0" err="1">
                <a:latin typeface="Monaco"/>
                <a:cs typeface="Monaco"/>
              </a:rPr>
              <a:t>i</a:t>
            </a:r>
            <a:r>
              <a:rPr lang="en-US" sz="1800" dirty="0">
                <a:latin typeface="Monaco"/>
                <a:cs typeface="Monaco"/>
              </a:rPr>
              <a:t>) = </a:t>
            </a:r>
            <a:r>
              <a:rPr lang="en-US" sz="1800" dirty="0" err="1">
                <a:latin typeface="Monaco"/>
                <a:cs typeface="Monaco"/>
              </a:rPr>
              <a:t>fn</a:t>
            </a:r>
            <a:r>
              <a:rPr lang="en-US" sz="1800" dirty="0">
                <a:latin typeface="Monaco"/>
                <a:cs typeface="Monaco"/>
              </a:rPr>
              <a:t>(d(j))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  </a:t>
            </a:r>
            <a:r>
              <a:rPr lang="en-US" sz="1800" dirty="0" err="1">
                <a:latin typeface="Monaco"/>
                <a:cs typeface="Monaco"/>
              </a:rPr>
              <a:t>i</a:t>
            </a:r>
            <a:r>
              <a:rPr lang="en-US" sz="1800" dirty="0">
                <a:latin typeface="Monaco"/>
                <a:cs typeface="Monaco"/>
              </a:rPr>
              <a:t> += 1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  j += stride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  new </a:t>
            </a:r>
            <a:r>
              <a:rPr lang="en-US" sz="1800" dirty="0" err="1">
                <a:latin typeface="Monaco"/>
                <a:cs typeface="Monaco"/>
              </a:rPr>
              <a:t>DenseVector</a:t>
            </a:r>
            <a:r>
              <a:rPr lang="en-US" sz="1800" dirty="0">
                <a:latin typeface="Monaco"/>
                <a:cs typeface="Monaco"/>
              </a:rPr>
              <a:t>[V2](</a:t>
            </a:r>
            <a:r>
              <a:rPr lang="en-US" sz="1800" dirty="0" err="1">
                <a:latin typeface="Monaco"/>
                <a:cs typeface="Monaco"/>
              </a:rPr>
              <a:t>arr</a:t>
            </a:r>
            <a:r>
              <a:rPr lang="en-US" sz="1800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      </a:t>
            </a:r>
            <a:r>
              <a:rPr lang="en-US" sz="1800" dirty="0" smtClean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latin typeface="Monaco"/>
                <a:cs typeface="Monac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7209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URFuncs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val 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r = </a:t>
            </a:r>
            <a:r>
              <a:rPr lang="nl-NL" sz="2500" dirty="0" err="1">
                <a:solidFill>
                  <a:srgbClr val="525252"/>
                </a:solidFill>
                <a:latin typeface="Monaco"/>
                <a:cs typeface="Monaco"/>
              </a:rPr>
              <a:t>DenseMatrix.rand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(5,5)</a:t>
            </a:r>
          </a:p>
          <a:p>
            <a:pPr marL="0" indent="0">
              <a:buNone/>
            </a:pPr>
            <a:endParaRPr lang="nl-NL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sum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all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elements</a:t>
            </a: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sum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(r):Double </a:t>
            </a:r>
          </a:p>
          <a:p>
            <a:pPr marL="0" indent="0">
              <a:buNone/>
            </a:pPr>
            <a:endParaRPr lang="nl-NL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mean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of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each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row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into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a single column</a:t>
            </a:r>
          </a:p>
          <a:p>
            <a:pPr marL="0" indent="0">
              <a:buNone/>
            </a:pP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mean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r, Axis._1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):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[Double]</a:t>
            </a: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nl-NL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sum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of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each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column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into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a single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row</a:t>
            </a: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sum</a:t>
            </a:r>
            <a:r>
              <a:rPr lang="nl-NL" sz="2500" dirty="0">
                <a:solidFill>
                  <a:srgbClr val="525252"/>
                </a:solidFill>
                <a:latin typeface="Monaco"/>
                <a:cs typeface="Monaco"/>
              </a:rPr>
              <a:t>(r, Axis._0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):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DenseMatrix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[Double]</a:t>
            </a:r>
          </a:p>
          <a:p>
            <a:pPr marL="0" indent="0">
              <a:buNone/>
            </a:pPr>
            <a:endParaRPr lang="nl-NL" sz="25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also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 have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variance</a:t>
            </a:r>
            <a:r>
              <a:rPr lang="nl-NL" sz="2500" dirty="0" smtClean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nl-NL" sz="2500" dirty="0" err="1" smtClean="0">
                <a:solidFill>
                  <a:srgbClr val="525252"/>
                </a:solidFill>
                <a:latin typeface="Monaco"/>
                <a:cs typeface="Monaco"/>
              </a:rPr>
              <a:t>normalize</a:t>
            </a:r>
            <a:endParaRPr lang="tr-TR" sz="2500" dirty="0" smtClean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42658659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URFuncs</a:t>
            </a:r>
            <a:r>
              <a:rPr lang="en-US" dirty="0" smtClean="0"/>
              <a:t>: the magic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trait </a:t>
            </a:r>
            <a:r>
              <a:rPr lang="en-US" dirty="0" err="1">
                <a:latin typeface="Monaco"/>
                <a:cs typeface="Monaco"/>
              </a:rPr>
              <a:t>URFunc</a:t>
            </a:r>
            <a:r>
              <a:rPr lang="en-US" dirty="0" smtClean="0">
                <a:latin typeface="Monaco"/>
                <a:cs typeface="Monaco"/>
              </a:rPr>
              <a:t>[A</a:t>
            </a:r>
            <a:r>
              <a:rPr lang="en-US" dirty="0">
                <a:latin typeface="Monaco"/>
                <a:cs typeface="Monaco"/>
              </a:rPr>
              <a:t>, +B] 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apply(cc: </a:t>
            </a:r>
            <a:r>
              <a:rPr lang="en-US" dirty="0" err="1">
                <a:latin typeface="Monaco"/>
                <a:cs typeface="Monaco"/>
              </a:rPr>
              <a:t>TraversableOnce</a:t>
            </a:r>
            <a:r>
              <a:rPr lang="en-US" dirty="0">
                <a:latin typeface="Monaco"/>
                <a:cs typeface="Monaco"/>
              </a:rPr>
              <a:t>[A]):B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apply[T](c: T)(implicit </a:t>
            </a:r>
            <a:r>
              <a:rPr lang="en-US" dirty="0" err="1">
                <a:latin typeface="Monaco"/>
                <a:cs typeface="Monaco"/>
              </a:rPr>
              <a:t>urable</a:t>
            </a:r>
            <a:r>
              <a:rPr lang="en-US" dirty="0">
                <a:latin typeface="Monaco"/>
                <a:cs typeface="Monaco"/>
              </a:rPr>
              <a:t>: </a:t>
            </a:r>
            <a:r>
              <a:rPr lang="en-US" dirty="0" err="1">
                <a:latin typeface="Monaco"/>
                <a:cs typeface="Monaco"/>
              </a:rPr>
              <a:t>UReduceable</a:t>
            </a:r>
            <a:r>
              <a:rPr lang="en-US" dirty="0">
                <a:latin typeface="Monaco"/>
                <a:cs typeface="Monaco"/>
              </a:rPr>
              <a:t>[T, A]):B = 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</a:t>
            </a:r>
            <a:r>
              <a:rPr lang="en-US" dirty="0" err="1">
                <a:latin typeface="Monaco"/>
                <a:cs typeface="Monaco"/>
              </a:rPr>
              <a:t>urable</a:t>
            </a:r>
            <a:r>
              <a:rPr lang="en-US" dirty="0">
                <a:latin typeface="Monaco"/>
                <a:cs typeface="Monaco"/>
              </a:rPr>
              <a:t>(c, this)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}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apply(</a:t>
            </a:r>
            <a:r>
              <a:rPr lang="en-US" dirty="0" err="1">
                <a:latin typeface="Monaco"/>
                <a:cs typeface="Monaco"/>
              </a:rPr>
              <a:t>arr</a:t>
            </a:r>
            <a:r>
              <a:rPr lang="en-US" dirty="0">
                <a:latin typeface="Monaco"/>
                <a:cs typeface="Monaco"/>
              </a:rPr>
              <a:t>: Array[A]):B = apply(</a:t>
            </a:r>
            <a:r>
              <a:rPr lang="en-US" dirty="0" err="1">
                <a:latin typeface="Monaco"/>
                <a:cs typeface="Monaco"/>
              </a:rPr>
              <a:t>arr</a:t>
            </a:r>
            <a:r>
              <a:rPr lang="en-US" dirty="0">
                <a:latin typeface="Monaco"/>
                <a:cs typeface="Monaco"/>
              </a:rPr>
              <a:t>, </a:t>
            </a:r>
            <a:r>
              <a:rPr lang="en-US" dirty="0" err="1">
                <a:latin typeface="Monaco"/>
                <a:cs typeface="Monaco"/>
              </a:rPr>
              <a:t>arr.length</a:t>
            </a:r>
            <a:r>
              <a:rPr lang="en-US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apply(</a:t>
            </a:r>
            <a:r>
              <a:rPr lang="en-US" dirty="0" err="1">
                <a:latin typeface="Monaco"/>
                <a:cs typeface="Monaco"/>
              </a:rPr>
              <a:t>arr</a:t>
            </a:r>
            <a:r>
              <a:rPr lang="en-US" dirty="0">
                <a:latin typeface="Monaco"/>
                <a:cs typeface="Monaco"/>
              </a:rPr>
              <a:t>: Array[A], length: </a:t>
            </a:r>
            <a:r>
              <a:rPr lang="en-US" dirty="0" err="1">
                <a:latin typeface="Monaco"/>
                <a:cs typeface="Monaco"/>
              </a:rPr>
              <a:t>Int</a:t>
            </a:r>
            <a:r>
              <a:rPr lang="en-US" dirty="0">
                <a:latin typeface="Monaco"/>
                <a:cs typeface="Monaco"/>
              </a:rPr>
              <a:t>):B = apply(</a:t>
            </a:r>
            <a:r>
              <a:rPr lang="en-US" dirty="0" err="1">
                <a:latin typeface="Monaco"/>
                <a:cs typeface="Monaco"/>
              </a:rPr>
              <a:t>arr</a:t>
            </a:r>
            <a:r>
              <a:rPr lang="en-US" dirty="0">
                <a:latin typeface="Monaco"/>
                <a:cs typeface="Monaco"/>
              </a:rPr>
              <a:t>, 0, 1, length, {_ =&gt; true})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apply(</a:t>
            </a:r>
            <a:r>
              <a:rPr lang="en-US" dirty="0" err="1">
                <a:latin typeface="Monaco"/>
                <a:cs typeface="Monaco"/>
              </a:rPr>
              <a:t>arr</a:t>
            </a:r>
            <a:r>
              <a:rPr lang="en-US" dirty="0">
                <a:latin typeface="Monaco"/>
                <a:cs typeface="Monaco"/>
              </a:rPr>
              <a:t>: Array[A], offset: </a:t>
            </a:r>
            <a:r>
              <a:rPr lang="en-US" dirty="0" err="1">
                <a:latin typeface="Monaco"/>
                <a:cs typeface="Monaco"/>
              </a:rPr>
              <a:t>Int</a:t>
            </a:r>
            <a:r>
              <a:rPr lang="en-US" dirty="0">
                <a:latin typeface="Monaco"/>
                <a:cs typeface="Monaco"/>
              </a:rPr>
              <a:t>, stride: </a:t>
            </a:r>
            <a:r>
              <a:rPr lang="en-US" dirty="0" err="1">
                <a:latin typeface="Monaco"/>
                <a:cs typeface="Monaco"/>
              </a:rPr>
              <a:t>Int</a:t>
            </a:r>
            <a:r>
              <a:rPr lang="en-US" dirty="0">
                <a:latin typeface="Monaco"/>
                <a:cs typeface="Monaco"/>
              </a:rPr>
              <a:t>, length: </a:t>
            </a:r>
            <a:r>
              <a:rPr lang="en-US" dirty="0" err="1">
                <a:latin typeface="Monaco"/>
                <a:cs typeface="Monaco"/>
              </a:rPr>
              <a:t>Int</a:t>
            </a:r>
            <a:r>
              <a:rPr lang="en-US" dirty="0">
                <a:latin typeface="Monaco"/>
                <a:cs typeface="Monaco"/>
              </a:rPr>
              <a:t>, </a:t>
            </a:r>
            <a:r>
              <a:rPr lang="en-US" dirty="0" err="1" smtClean="0">
                <a:latin typeface="Monaco"/>
                <a:cs typeface="Monaco"/>
              </a:rPr>
              <a:t>isUsed</a:t>
            </a:r>
            <a:r>
              <a:rPr lang="en-US" dirty="0" smtClean="0">
                <a:latin typeface="Monaco"/>
                <a:cs typeface="Monaco"/>
              </a:rPr>
              <a:t>: </a:t>
            </a:r>
            <a:r>
              <a:rPr lang="en-US" dirty="0" err="1" smtClean="0">
                <a:latin typeface="Monaco"/>
                <a:cs typeface="Monaco"/>
              </a:rPr>
              <a:t>Int</a:t>
            </a:r>
            <a:r>
              <a:rPr lang="en-US" dirty="0">
                <a:latin typeface="Monaco"/>
                <a:cs typeface="Monaco"/>
              </a:rPr>
              <a:t>=&gt;Boolean):B = 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apply((0 until length).filter(</a:t>
            </a:r>
            <a:r>
              <a:rPr lang="en-US" dirty="0" err="1" smtClean="0">
                <a:latin typeface="Monaco"/>
                <a:cs typeface="Monaco"/>
              </a:rPr>
              <a:t>isUsed</a:t>
            </a:r>
            <a:r>
              <a:rPr lang="en-US" dirty="0" smtClean="0">
                <a:latin typeface="Monaco"/>
                <a:cs typeface="Monaco"/>
              </a:rPr>
              <a:t>).map</a:t>
            </a:r>
            <a:r>
              <a:rPr lang="en-US" dirty="0">
                <a:latin typeface="Monaco"/>
                <a:cs typeface="Monaco"/>
              </a:rPr>
              <a:t>(</a:t>
            </a:r>
            <a:r>
              <a:rPr lang="en-US" dirty="0" err="1">
                <a:latin typeface="Monaco"/>
                <a:cs typeface="Monaco"/>
              </a:rPr>
              <a:t>i</a:t>
            </a:r>
            <a:r>
              <a:rPr lang="en-US" dirty="0">
                <a:latin typeface="Monaco"/>
                <a:cs typeface="Monaco"/>
              </a:rPr>
              <a:t> =&gt; </a:t>
            </a:r>
            <a:r>
              <a:rPr lang="en-US" dirty="0" err="1">
                <a:latin typeface="Monaco"/>
                <a:cs typeface="Monaco"/>
              </a:rPr>
              <a:t>arr</a:t>
            </a:r>
            <a:r>
              <a:rPr lang="en-US" dirty="0">
                <a:latin typeface="Monaco"/>
                <a:cs typeface="Monaco"/>
              </a:rPr>
              <a:t>(offset + </a:t>
            </a:r>
            <a:r>
              <a:rPr lang="en-US" dirty="0" err="1">
                <a:latin typeface="Monaco"/>
                <a:cs typeface="Monaco"/>
              </a:rPr>
              <a:t>i</a:t>
            </a:r>
            <a:r>
              <a:rPr lang="en-US" dirty="0">
                <a:latin typeface="Monaco"/>
                <a:cs typeface="Monaco"/>
              </a:rPr>
              <a:t> * stride)))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}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apply(as: A*):B = apply(as</a:t>
            </a:r>
            <a:r>
              <a:rPr lang="en-US" dirty="0" smtClean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latin typeface="Monaco"/>
                <a:cs typeface="Monaco"/>
              </a:rPr>
              <a:t>  </a:t>
            </a:r>
            <a:r>
              <a:rPr lang="en-US" dirty="0" err="1" smtClean="0">
                <a:latin typeface="Monaco"/>
                <a:cs typeface="Monaco"/>
              </a:rPr>
              <a:t>def</a:t>
            </a:r>
            <a:r>
              <a:rPr lang="en-US" dirty="0" smtClean="0">
                <a:latin typeface="Monaco"/>
                <a:cs typeface="Monaco"/>
              </a:rPr>
              <a:t> </a:t>
            </a:r>
            <a:r>
              <a:rPr lang="en-US" dirty="0">
                <a:latin typeface="Monaco"/>
                <a:cs typeface="Monaco"/>
              </a:rPr>
              <a:t>apply[T2, Axis, TA, R]</a:t>
            </a:r>
            <a:r>
              <a:rPr lang="en-US" dirty="0" smtClean="0">
                <a:latin typeface="Monaco"/>
                <a:cs typeface="Monaco"/>
              </a:rPr>
              <a:t>(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smtClean="0">
                <a:latin typeface="Monaco"/>
                <a:cs typeface="Monaco"/>
              </a:rPr>
              <a:t>    c</a:t>
            </a:r>
            <a:r>
              <a:rPr lang="en-US" dirty="0">
                <a:latin typeface="Monaco"/>
                <a:cs typeface="Monaco"/>
              </a:rPr>
              <a:t>: T2,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 axis: Axis)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(implicit collapse: </a:t>
            </a:r>
            <a:r>
              <a:rPr lang="en-US" dirty="0" err="1">
                <a:latin typeface="Monaco"/>
                <a:cs typeface="Monaco"/>
              </a:rPr>
              <a:t>CanCollapseAxis</a:t>
            </a:r>
            <a:r>
              <a:rPr lang="en-US" dirty="0">
                <a:latin typeface="Monaco"/>
                <a:cs typeface="Monaco"/>
              </a:rPr>
              <a:t>[T2, Axis, TA, B, R],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 </a:t>
            </a:r>
            <a:r>
              <a:rPr lang="en-US" dirty="0" err="1">
                <a:latin typeface="Monaco"/>
                <a:cs typeface="Monaco"/>
              </a:rPr>
              <a:t>ured</a:t>
            </a:r>
            <a:r>
              <a:rPr lang="en-US" dirty="0">
                <a:latin typeface="Monaco"/>
                <a:cs typeface="Monaco"/>
              </a:rPr>
              <a:t>: </a:t>
            </a:r>
            <a:r>
              <a:rPr lang="en-US" dirty="0" err="1">
                <a:latin typeface="Monaco"/>
                <a:cs typeface="Monaco"/>
              </a:rPr>
              <a:t>UReduceable</a:t>
            </a:r>
            <a:r>
              <a:rPr lang="en-US" dirty="0">
                <a:latin typeface="Monaco"/>
                <a:cs typeface="Monaco"/>
              </a:rPr>
              <a:t>[TA, A]): R = 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collapse(</a:t>
            </a:r>
            <a:r>
              <a:rPr lang="en-US" dirty="0" err="1">
                <a:latin typeface="Monaco"/>
                <a:cs typeface="Monaco"/>
              </a:rPr>
              <a:t>c,axis</a:t>
            </a:r>
            <a:r>
              <a:rPr lang="en-US" dirty="0">
                <a:latin typeface="Monaco"/>
                <a:cs typeface="Monaco"/>
              </a:rPr>
              <a:t>)(ta =&gt; </a:t>
            </a:r>
            <a:r>
              <a:rPr lang="en-US" dirty="0" err="1">
                <a:latin typeface="Monaco"/>
                <a:cs typeface="Monaco"/>
              </a:rPr>
              <a:t>this.apply</a:t>
            </a:r>
            <a:r>
              <a:rPr lang="en-US" dirty="0">
                <a:latin typeface="Monaco"/>
                <a:cs typeface="Monaco"/>
              </a:rPr>
              <a:t>[TA](ta))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}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</p:txBody>
      </p:sp>
      <p:sp>
        <p:nvSpPr>
          <p:cNvPr id="4" name="Oval Callout 3"/>
          <p:cNvSpPr/>
          <p:nvPr/>
        </p:nvSpPr>
        <p:spPr>
          <a:xfrm>
            <a:off x="5221940" y="1999612"/>
            <a:ext cx="3464860" cy="634974"/>
          </a:xfrm>
          <a:prstGeom prst="wedgeEllipseCallout">
            <a:avLst>
              <a:gd name="adj1" fmla="val -28551"/>
              <a:gd name="adj2" fmla="val 712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Optional Specialized </a:t>
            </a:r>
            <a:r>
              <a:rPr lang="en-US" dirty="0" err="1" smtClean="0"/>
              <a:t>Impls</a:t>
            </a:r>
            <a:endParaRPr lang="en-US" dirty="0"/>
          </a:p>
        </p:txBody>
      </p:sp>
      <p:sp>
        <p:nvSpPr>
          <p:cNvPr id="5" name="Oval Callout 4"/>
          <p:cNvSpPr/>
          <p:nvPr/>
        </p:nvSpPr>
        <p:spPr>
          <a:xfrm>
            <a:off x="4048557" y="3756157"/>
            <a:ext cx="3464860" cy="634974"/>
          </a:xfrm>
          <a:prstGeom prst="wedgeEllipseCallout">
            <a:avLst>
              <a:gd name="adj1" fmla="val -28551"/>
              <a:gd name="adj2" fmla="val 712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How Axis stuff 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39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URFuncs</a:t>
            </a:r>
            <a:r>
              <a:rPr lang="en-US" dirty="0" smtClean="0"/>
              <a:t>: the magic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t</a:t>
            </a:r>
            <a:r>
              <a:rPr lang="en-US" dirty="0" smtClean="0">
                <a:latin typeface="Monaco"/>
                <a:cs typeface="Monaco"/>
              </a:rPr>
              <a:t>rait Tensor[K, V] {</a:t>
            </a:r>
          </a:p>
          <a:p>
            <a:pPr marL="0" indent="0">
              <a:buNone/>
            </a:pPr>
            <a:r>
              <a:rPr lang="en-US" dirty="0" smtClean="0">
                <a:latin typeface="Monaco"/>
                <a:cs typeface="Monaco"/>
              </a:rPr>
              <a:t>  // …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err="1" smtClean="0">
                <a:latin typeface="Monaco"/>
                <a:cs typeface="Monaco"/>
              </a:rPr>
              <a:t>def</a:t>
            </a:r>
            <a:r>
              <a:rPr lang="en-US" dirty="0" smtClean="0">
                <a:latin typeface="Monaco"/>
                <a:cs typeface="Monaco"/>
              </a:rPr>
              <a:t> </a:t>
            </a:r>
            <a:r>
              <a:rPr lang="en-US" dirty="0" err="1">
                <a:latin typeface="Monaco"/>
                <a:cs typeface="Monaco"/>
              </a:rPr>
              <a:t>ureduce</a:t>
            </a:r>
            <a:r>
              <a:rPr lang="en-US" dirty="0">
                <a:latin typeface="Monaco"/>
                <a:cs typeface="Monaco"/>
              </a:rPr>
              <a:t>[A](f: </a:t>
            </a:r>
            <a:r>
              <a:rPr lang="en-US" dirty="0" err="1">
                <a:latin typeface="Monaco"/>
                <a:cs typeface="Monaco"/>
              </a:rPr>
              <a:t>URFunc</a:t>
            </a:r>
            <a:r>
              <a:rPr lang="en-US" dirty="0">
                <a:latin typeface="Monaco"/>
                <a:cs typeface="Monaco"/>
              </a:rPr>
              <a:t>[V, A]) = </a:t>
            </a:r>
            <a:r>
              <a:rPr lang="en-US" dirty="0" smtClean="0"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smtClean="0">
                <a:latin typeface="Monaco"/>
                <a:cs typeface="Monaco"/>
              </a:rPr>
              <a:t>   f</a:t>
            </a:r>
            <a:r>
              <a:rPr lang="en-US" dirty="0">
                <a:latin typeface="Monaco"/>
                <a:cs typeface="Monaco"/>
              </a:rPr>
              <a:t>(</a:t>
            </a:r>
            <a:r>
              <a:rPr lang="en-US" dirty="0" err="1">
                <a:latin typeface="Monaco"/>
                <a:cs typeface="Monaco"/>
              </a:rPr>
              <a:t>this.valuesIterator</a:t>
            </a:r>
            <a:r>
              <a:rPr lang="en-US" dirty="0" smtClean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smtClean="0">
                <a:latin typeface="Monaco"/>
                <a:cs typeface="Monaco"/>
              </a:rPr>
              <a:t> }</a:t>
            </a: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smtClean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t</a:t>
            </a:r>
            <a:r>
              <a:rPr lang="en-US" dirty="0" smtClean="0">
                <a:latin typeface="Monaco"/>
                <a:cs typeface="Monaco"/>
              </a:rPr>
              <a:t>rait </a:t>
            </a:r>
            <a:r>
              <a:rPr lang="en-US" dirty="0" err="1" smtClean="0">
                <a:latin typeface="Monaco"/>
                <a:cs typeface="Monaco"/>
              </a:rPr>
              <a:t>DenseVector</a:t>
            </a:r>
            <a:r>
              <a:rPr lang="en-US" dirty="0" smtClean="0">
                <a:latin typeface="Monaco"/>
                <a:cs typeface="Monaco"/>
              </a:rPr>
              <a:t>[E] … 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override </a:t>
            </a:r>
            <a:r>
              <a:rPr lang="en-US" dirty="0" err="1">
                <a:latin typeface="Monaco"/>
                <a:cs typeface="Monaco"/>
              </a:rPr>
              <a:t>def</a:t>
            </a: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err="1">
                <a:latin typeface="Monaco"/>
                <a:cs typeface="Monaco"/>
              </a:rPr>
              <a:t>ureduce</a:t>
            </a:r>
            <a:r>
              <a:rPr lang="en-US" dirty="0" smtClean="0">
                <a:latin typeface="Monaco"/>
                <a:cs typeface="Monaco"/>
              </a:rPr>
              <a:t>[A]</a:t>
            </a:r>
            <a:r>
              <a:rPr lang="en-US" dirty="0">
                <a:latin typeface="Monaco"/>
                <a:cs typeface="Monaco"/>
              </a:rPr>
              <a:t>(f: </a:t>
            </a:r>
            <a:r>
              <a:rPr lang="en-US" dirty="0" err="1">
                <a:latin typeface="Monaco"/>
                <a:cs typeface="Monaco"/>
              </a:rPr>
              <a:t>URFunc</a:t>
            </a:r>
            <a:r>
              <a:rPr lang="en-US" dirty="0">
                <a:latin typeface="Monaco"/>
                <a:cs typeface="Monaco"/>
              </a:rPr>
              <a:t>[E, </a:t>
            </a:r>
            <a:r>
              <a:rPr lang="en-US" dirty="0" smtClean="0">
                <a:latin typeface="Monaco"/>
                <a:cs typeface="Monaco"/>
              </a:rPr>
              <a:t>A]</a:t>
            </a:r>
            <a:r>
              <a:rPr lang="en-US" dirty="0">
                <a:latin typeface="Monaco"/>
                <a:cs typeface="Monaco"/>
              </a:rPr>
              <a:t>) = {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if(offset == 0 &amp;&amp; stride == 1) </a:t>
            </a:r>
            <a:endParaRPr lang="en-US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smtClean="0">
                <a:latin typeface="Monaco"/>
                <a:cs typeface="Monaco"/>
              </a:rPr>
              <a:t>     f</a:t>
            </a:r>
            <a:r>
              <a:rPr lang="en-US" dirty="0">
                <a:latin typeface="Monaco"/>
                <a:cs typeface="Monaco"/>
              </a:rPr>
              <a:t>(data, length)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  else </a:t>
            </a:r>
            <a:endParaRPr lang="en-US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smtClean="0">
                <a:latin typeface="Monaco"/>
                <a:cs typeface="Monaco"/>
              </a:rPr>
              <a:t>     f</a:t>
            </a:r>
            <a:r>
              <a:rPr lang="en-US" dirty="0">
                <a:latin typeface="Monaco"/>
                <a:cs typeface="Monaco"/>
              </a:rPr>
              <a:t>(data, offset, stride, length, {(_:</a:t>
            </a:r>
            <a:r>
              <a:rPr lang="en-US" dirty="0" err="1">
                <a:latin typeface="Monaco"/>
                <a:cs typeface="Monaco"/>
              </a:rPr>
              <a:t>Int</a:t>
            </a:r>
            <a:r>
              <a:rPr lang="en-US" dirty="0">
                <a:latin typeface="Monaco"/>
                <a:cs typeface="Monaco"/>
              </a:rPr>
              <a:t>) =&gt; true})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 </a:t>
            </a:r>
            <a:r>
              <a:rPr lang="en-US" dirty="0" smtClean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}</a:t>
            </a:r>
            <a:endParaRPr lang="en-US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 </a:t>
            </a:r>
            <a:r>
              <a:rPr lang="en-US" dirty="0" smtClean="0">
                <a:latin typeface="Monaco"/>
                <a:cs typeface="Monaco"/>
              </a:rPr>
              <a:t> </a:t>
            </a:r>
            <a:endParaRPr lang="en-US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252027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2880662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Breeze-</a:t>
            </a:r>
            <a:r>
              <a:rPr lang="en-US" dirty="0" err="1" smtClean="0"/>
              <a:t>Viz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43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</a:t>
            </a:r>
            <a:r>
              <a:rPr lang="en-US" dirty="0" err="1" smtClean="0"/>
              <a:t>Viz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VERY ALPHA API</a:t>
            </a:r>
          </a:p>
          <a:p>
            <a:r>
              <a:rPr lang="en-US" dirty="0" smtClean="0"/>
              <a:t>2-d plotting, via </a:t>
            </a:r>
            <a:r>
              <a:rPr lang="en-US" dirty="0" err="1" smtClean="0"/>
              <a:t>JFreeChart</a:t>
            </a:r>
            <a:endParaRPr lang="en-US" dirty="0" smtClean="0"/>
          </a:p>
          <a:p>
            <a:endParaRPr lang="en-US" dirty="0"/>
          </a:p>
          <a:p>
            <a:r>
              <a:rPr lang="en-US" dirty="0">
                <a:latin typeface="Monaco"/>
                <a:cs typeface="Monaco"/>
              </a:rPr>
              <a:t>i</a:t>
            </a:r>
            <a:r>
              <a:rPr lang="en-US" dirty="0" smtClean="0">
                <a:latin typeface="Monaco"/>
                <a:cs typeface="Monaco"/>
              </a:rPr>
              <a:t>mport </a:t>
            </a:r>
            <a:r>
              <a:rPr lang="en-US" dirty="0" err="1" smtClean="0">
                <a:latin typeface="Monaco"/>
                <a:cs typeface="Monaco"/>
              </a:rPr>
              <a:t>breeze.plot</a:t>
            </a:r>
            <a:r>
              <a:rPr lang="en-US" dirty="0" smtClean="0">
                <a:latin typeface="Monaco"/>
                <a:cs typeface="Monaco"/>
              </a:rPr>
              <a:t>._</a:t>
            </a:r>
            <a:endParaRPr lang="en-US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239118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Plotting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 f = Figure()</a:t>
            </a:r>
          </a:p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 p = 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f.subplot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(0)</a:t>
            </a:r>
          </a:p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 x = 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linspace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(0.0,1.0)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p += plot(x, x :^ 2.0)</a:t>
            </a:r>
          </a:p>
          <a:p>
            <a:pPr marL="0" indent="0">
              <a:buNone/>
            </a:pP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p += plot(x, x :^ 3.0, '.')</a:t>
            </a:r>
          </a:p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p.xlabel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 = "x axis"</a:t>
            </a:r>
          </a:p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p.ylabel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 = "y axis"</a:t>
            </a:r>
          </a:p>
          <a:p>
            <a:pPr marL="0" indent="0">
              <a:buNone/>
            </a:pP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f.saveas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("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lines.png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") /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/ also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pdf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eps</a:t>
            </a: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855262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Plotting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90578"/>
            <a:ext cx="7620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51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Plotting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p2 = 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f.subplot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(2,1,1)</a:t>
            </a:r>
          </a:p>
          <a:p>
            <a:pPr marL="0" indent="0">
              <a:buNone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err="1" smtClean="0">
                <a:solidFill>
                  <a:srgbClr val="525252"/>
                </a:solidFill>
                <a:latin typeface="Monaco"/>
                <a:cs typeface="Monaco"/>
              </a:rPr>
              <a:t>val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g 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= Gaussian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(0,1)</a:t>
            </a:r>
          </a:p>
          <a:p>
            <a:pPr marL="0" indent="0">
              <a:buNone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p2 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+= 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hist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n-US" sz="2500" dirty="0" err="1">
                <a:solidFill>
                  <a:srgbClr val="525252"/>
                </a:solidFill>
                <a:latin typeface="Monaco"/>
                <a:cs typeface="Monaco"/>
              </a:rPr>
              <a:t>g.sample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(100000),100)</a:t>
            </a:r>
          </a:p>
          <a:p>
            <a:pPr marL="0" indent="0">
              <a:buNone/>
            </a:pPr>
            <a:endParaRPr lang="en-US" sz="25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p2</a:t>
            </a:r>
            <a:r>
              <a:rPr lang="en-US" sz="2500" dirty="0">
                <a:solidFill>
                  <a:srgbClr val="525252"/>
                </a:solidFill>
                <a:latin typeface="Monaco"/>
                <a:cs typeface="Monaco"/>
              </a:rPr>
              <a:t>.title = "A normal </a:t>
            </a:r>
            <a:r>
              <a:rPr lang="en-US" sz="2500" dirty="0" smtClean="0">
                <a:solidFill>
                  <a:srgbClr val="525252"/>
                </a:solidFill>
                <a:latin typeface="Monaco"/>
                <a:cs typeface="Monaco"/>
              </a:rPr>
              <a:t>distribution”</a:t>
            </a:r>
            <a:endParaRPr lang="en-US" sz="25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129832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Plotting</a:t>
            </a:r>
            <a:endParaRPr lang="en-US" dirty="0"/>
          </a:p>
        </p:txBody>
      </p:sp>
      <p:pic>
        <p:nvPicPr>
          <p:cNvPr id="6" name="Picture 5" descr="687474703a2f2f7363616c616e6c702e6f72672f6578616d706c65732f737562706c6f74732e706e6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53" y="1297821"/>
            <a:ext cx="7620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2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2880662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Breeze-Learn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5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Optimization</a:t>
            </a:r>
            <a:endParaRPr lang="en-US" dirty="0"/>
          </a:p>
          <a:p>
            <a:r>
              <a:rPr lang="en-US" dirty="0" smtClean="0"/>
              <a:t>Machine Learning</a:t>
            </a:r>
          </a:p>
          <a:p>
            <a:r>
              <a:rPr lang="en-US" dirty="0" smtClean="0"/>
              <a:t>Probability Distributions</a:t>
            </a:r>
          </a:p>
        </p:txBody>
      </p:sp>
    </p:spTree>
    <p:extLst>
      <p:ext uri="{BB962C8B-B14F-4D97-AF65-F5344CB8AC3E}">
        <p14:creationId xmlns:p14="http://schemas.microsoft.com/office/powerpoint/2010/main" val="4225314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Optimization</a:t>
            </a:r>
          </a:p>
          <a:p>
            <a:pPr lvl="1"/>
            <a:r>
              <a:rPr lang="en-US" dirty="0" smtClean="0"/>
              <a:t>Convex Optimization: LBFGS, OWLQN</a:t>
            </a:r>
          </a:p>
          <a:p>
            <a:pPr lvl="1"/>
            <a:r>
              <a:rPr lang="en-US" dirty="0" smtClean="0"/>
              <a:t>Stochastic Gradient Descent: Adaptive Gradient Descent</a:t>
            </a:r>
          </a:p>
          <a:p>
            <a:pPr lvl="1"/>
            <a:r>
              <a:rPr lang="en-US" dirty="0" smtClean="0"/>
              <a:t>Linear Program DSL, solver</a:t>
            </a:r>
          </a:p>
          <a:p>
            <a:pPr lvl="1"/>
            <a:r>
              <a:rPr lang="en-US" dirty="0" smtClean="0"/>
              <a:t>Bipartite Matching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971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Optimize</a:t>
            </a:r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14" b="-1354"/>
          <a:stretch/>
        </p:blipFill>
        <p:spPr>
          <a:xfrm>
            <a:off x="1640084" y="2302888"/>
            <a:ext cx="5444766" cy="4321634"/>
          </a:xfrm>
        </p:spPr>
      </p:pic>
      <p:pic>
        <p:nvPicPr>
          <p:cNvPr id="7" name="Picture 6" descr="MSP13971a3491797f948ad60000665i51632013g3h8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833" y="1653403"/>
            <a:ext cx="3876169" cy="46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74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Optimize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t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rait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DiffFunction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[T]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extends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(T=&gt;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)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{</a:t>
            </a: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/**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Calculates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both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the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value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and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the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gradient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at a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point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*/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calculate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x:T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):(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Double,T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);</a:t>
            </a: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}</a:t>
            </a: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62740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Optimize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val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df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= new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DiffFunction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[DV[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]] {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def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calculate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values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: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DV[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]) = {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  val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gradient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= 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DV.zeros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](2)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  val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x,y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) 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=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values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(0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),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values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(1))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  val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value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= 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pow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(x* x + y - 11, 2)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+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              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pow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(x + y * y - 7, 2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)</a:t>
            </a: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 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gradient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(0) = 4 * x * (x * x + y - 11)  +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 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                2 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* (x + y * y - 7)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 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gradient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(1) = 2 * (x * x + y - 11)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+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                4 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*  y * (x + y * y - 7)</a:t>
            </a: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  (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value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gradient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  }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2034605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Optimize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s-ES_tradnl" sz="23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al 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lbfgs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= new 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LBFGS[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]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]</a:t>
            </a: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lbfgs.minimize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df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DenseVector.rand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(2))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2.999983, 2.000046)</a:t>
            </a: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535595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Optimize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s-ES_tradnl" sz="2300" dirty="0" smtClean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v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al </a:t>
            </a: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lbfgs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 = new 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LBFGS[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[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Double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]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]</a:t>
            </a:r>
          </a:p>
          <a:p>
            <a:pPr marL="0" indent="0">
              <a:buNone/>
            </a:pP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  <a:p>
            <a:pPr marL="0" indent="0">
              <a:buNone/>
            </a:pPr>
            <a:r>
              <a:rPr lang="es-ES_tradnl" sz="2300" dirty="0" err="1" smtClean="0">
                <a:solidFill>
                  <a:srgbClr val="525252"/>
                </a:solidFill>
                <a:latin typeface="Monaco"/>
                <a:cs typeface="Monaco"/>
              </a:rPr>
              <a:t>lbfgs.minimize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df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,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DenseVector.rand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(2))</a:t>
            </a:r>
          </a:p>
          <a:p>
            <a:pPr marL="0" indent="0">
              <a:buNone/>
            </a:pP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// </a:t>
            </a:r>
            <a:r>
              <a:rPr lang="es-ES_tradnl" sz="2300" dirty="0" err="1">
                <a:solidFill>
                  <a:srgbClr val="525252"/>
                </a:solidFill>
                <a:latin typeface="Monaco"/>
                <a:cs typeface="Monaco"/>
              </a:rPr>
              <a:t>DenseVector</a:t>
            </a:r>
            <a:r>
              <a:rPr lang="es-ES_tradnl" sz="2300" dirty="0">
                <a:solidFill>
                  <a:srgbClr val="525252"/>
                </a:solidFill>
                <a:latin typeface="Monaco"/>
                <a:cs typeface="Monaco"/>
              </a:rPr>
              <a:t>(</a:t>
            </a:r>
            <a:r>
              <a:rPr lang="es-ES_tradnl" sz="2300" dirty="0" smtClean="0">
                <a:solidFill>
                  <a:srgbClr val="525252"/>
                </a:solidFill>
                <a:latin typeface="Monaco"/>
                <a:cs typeface="Monaco"/>
              </a:rPr>
              <a:t>2.999983, 2.000046)</a:t>
            </a:r>
            <a:endParaRPr lang="es-ES_tradnl" sz="2300" dirty="0">
              <a:solidFill>
                <a:srgbClr val="525252"/>
              </a:solidFill>
              <a:latin typeface="Monaco"/>
              <a:cs typeface="Monaco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07" y="3259185"/>
            <a:ext cx="52959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26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Classify</a:t>
            </a:r>
          </a:p>
          <a:p>
            <a:pPr lvl="1"/>
            <a:r>
              <a:rPr lang="en-US" dirty="0" smtClean="0"/>
              <a:t>Logistic Classifier</a:t>
            </a:r>
          </a:p>
          <a:p>
            <a:pPr lvl="1"/>
            <a:r>
              <a:rPr lang="en-US" dirty="0" smtClean="0"/>
              <a:t>SVM</a:t>
            </a:r>
          </a:p>
          <a:p>
            <a:pPr lvl="1"/>
            <a:r>
              <a:rPr lang="en-US" dirty="0" smtClean="0"/>
              <a:t>Naïve Bayes</a:t>
            </a:r>
            <a:endParaRPr lang="en-US" dirty="0"/>
          </a:p>
          <a:p>
            <a:pPr lvl="1"/>
            <a:r>
              <a:rPr lang="en-US" dirty="0" smtClean="0"/>
              <a:t>Perceptron</a:t>
            </a:r>
          </a:p>
        </p:txBody>
      </p:sp>
    </p:spTree>
    <p:extLst>
      <p:ext uri="{BB962C8B-B14F-4D97-AF65-F5344CB8AC3E}">
        <p14:creationId xmlns:p14="http://schemas.microsoft.com/office/powerpoint/2010/main" val="784588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1" indent="0">
              <a:buNone/>
            </a:pPr>
            <a:r>
              <a:rPr lang="en-US" dirty="0" err="1" smtClean="0">
                <a:latin typeface="Monaco"/>
                <a:cs typeface="Monaco"/>
              </a:rPr>
              <a:t>val</a:t>
            </a:r>
            <a:r>
              <a:rPr lang="en-US" dirty="0" smtClean="0">
                <a:latin typeface="Monaco"/>
                <a:cs typeface="Monaco"/>
              </a:rPr>
              <a:t> </a:t>
            </a:r>
            <a:r>
              <a:rPr lang="en-US" dirty="0" err="1">
                <a:latin typeface="Monaco"/>
                <a:cs typeface="Monaco"/>
              </a:rPr>
              <a:t>trainingData</a:t>
            </a:r>
            <a:r>
              <a:rPr lang="en-US" dirty="0">
                <a:latin typeface="Monaco"/>
                <a:cs typeface="Monaco"/>
              </a:rPr>
              <a:t> = Array (</a:t>
            </a:r>
          </a:p>
          <a:p>
            <a:pPr marL="0" lvl="1" indent="0">
              <a:buNone/>
            </a:pPr>
            <a:r>
              <a:rPr lang="en-US" dirty="0">
                <a:latin typeface="Monaco"/>
                <a:cs typeface="Monaco"/>
              </a:rPr>
              <a:t>      Example("</a:t>
            </a:r>
            <a:r>
              <a:rPr lang="en-US" dirty="0" smtClean="0">
                <a:latin typeface="Monaco"/>
                <a:cs typeface="Monaco"/>
              </a:rPr>
              <a:t>cat</a:t>
            </a:r>
            <a:r>
              <a:rPr lang="en-US" dirty="0">
                <a:latin typeface="Monaco"/>
                <a:cs typeface="Monaco"/>
              </a:rPr>
              <a:t>"</a:t>
            </a:r>
            <a:r>
              <a:rPr lang="en-US" dirty="0" smtClean="0">
                <a:latin typeface="Monaco"/>
                <a:cs typeface="Monaco"/>
              </a:rPr>
              <a:t>,              </a:t>
            </a:r>
            <a:r>
              <a:rPr lang="en-US" dirty="0" err="1" smtClean="0">
                <a:latin typeface="Monaco"/>
                <a:cs typeface="Monaco"/>
              </a:rPr>
              <a:t>Counter.count</a:t>
            </a:r>
            <a:r>
              <a:rPr lang="en-US" dirty="0">
                <a:latin typeface="Monaco"/>
                <a:cs typeface="Monaco"/>
              </a:rPr>
              <a:t>("</a:t>
            </a:r>
            <a:r>
              <a:rPr lang="en-US" dirty="0" err="1">
                <a:latin typeface="Monaco"/>
                <a:cs typeface="Monaco"/>
              </a:rPr>
              <a:t>fuzzy","claws","</a:t>
            </a:r>
            <a:r>
              <a:rPr lang="en-US" dirty="0" err="1" smtClean="0">
                <a:latin typeface="Monaco"/>
                <a:cs typeface="Monaco"/>
              </a:rPr>
              <a:t>small</a:t>
            </a:r>
            <a:r>
              <a:rPr lang="en-US" dirty="0">
                <a:latin typeface="Monaco"/>
                <a:cs typeface="Monaco"/>
              </a:rPr>
              <a:t>"</a:t>
            </a:r>
            <a:r>
              <a:rPr lang="en-US" dirty="0" smtClean="0">
                <a:latin typeface="Monaco"/>
                <a:cs typeface="Monaco"/>
              </a:rPr>
              <a:t>))</a:t>
            </a:r>
            <a:r>
              <a:rPr lang="en-US" dirty="0">
                <a:latin typeface="Monaco"/>
                <a:cs typeface="Monaco"/>
              </a:rPr>
              <a:t>,</a:t>
            </a:r>
          </a:p>
          <a:p>
            <a:pPr marL="0" lvl="1" indent="0">
              <a:buNone/>
            </a:pPr>
            <a:r>
              <a:rPr lang="en-US" dirty="0">
                <a:latin typeface="Monaco"/>
                <a:cs typeface="Monaco"/>
              </a:rPr>
              <a:t>      Example("bear"</a:t>
            </a:r>
            <a:r>
              <a:rPr lang="en-US" dirty="0" smtClean="0">
                <a:latin typeface="Monaco"/>
                <a:cs typeface="Monaco"/>
              </a:rPr>
              <a:t>,</a:t>
            </a:r>
          </a:p>
          <a:p>
            <a:pPr marL="0" lvl="1" indent="0">
              <a:buNone/>
            </a:pPr>
            <a:r>
              <a:rPr lang="en-US" dirty="0" err="1" smtClean="0">
                <a:latin typeface="Monaco"/>
                <a:cs typeface="Monaco"/>
              </a:rPr>
              <a:t>Counter.count</a:t>
            </a:r>
            <a:r>
              <a:rPr lang="en-US" dirty="0">
                <a:latin typeface="Monaco"/>
                <a:cs typeface="Monaco"/>
              </a:rPr>
              <a:t>("</a:t>
            </a:r>
            <a:r>
              <a:rPr lang="en-US" dirty="0" err="1">
                <a:latin typeface="Monaco"/>
                <a:cs typeface="Monaco"/>
              </a:rPr>
              <a:t>fuzzy","claws","</a:t>
            </a:r>
            <a:r>
              <a:rPr lang="en-US" dirty="0" err="1" smtClean="0">
                <a:latin typeface="Monaco"/>
                <a:cs typeface="Monaco"/>
              </a:rPr>
              <a:t>big</a:t>
            </a:r>
            <a:r>
              <a:rPr lang="en-US" dirty="0" smtClean="0">
                <a:latin typeface="Monaco"/>
                <a:cs typeface="Monaco"/>
              </a:rPr>
              <a:t>”)),</a:t>
            </a:r>
          </a:p>
          <a:p>
            <a:pPr marL="0" lvl="1" indent="0">
              <a:buNone/>
            </a:pPr>
            <a:r>
              <a:rPr lang="en-US" dirty="0" smtClean="0">
                <a:latin typeface="Monaco"/>
                <a:cs typeface="Monaco"/>
              </a:rPr>
              <a:t>      Example</a:t>
            </a:r>
            <a:r>
              <a:rPr lang="en-US" dirty="0">
                <a:latin typeface="Monaco"/>
                <a:cs typeface="Monaco"/>
              </a:rPr>
              <a:t>("cat"</a:t>
            </a:r>
            <a:r>
              <a:rPr lang="en-US" dirty="0" smtClean="0">
                <a:latin typeface="Monaco"/>
                <a:cs typeface="Monaco"/>
              </a:rPr>
              <a:t>,</a:t>
            </a:r>
          </a:p>
          <a:p>
            <a:pPr marL="0" lvl="1" indent="0">
              <a:buNone/>
            </a:pPr>
            <a:r>
              <a:rPr lang="en-US" dirty="0" err="1" smtClean="0">
                <a:latin typeface="Monaco"/>
                <a:cs typeface="Monaco"/>
              </a:rPr>
              <a:t>Counter.count</a:t>
            </a:r>
            <a:r>
              <a:rPr lang="en-US" dirty="0">
                <a:latin typeface="Monaco"/>
                <a:cs typeface="Monaco"/>
              </a:rPr>
              <a:t>("</a:t>
            </a:r>
            <a:r>
              <a:rPr lang="en-US" dirty="0" err="1">
                <a:latin typeface="Monaco"/>
                <a:cs typeface="Monaco"/>
              </a:rPr>
              <a:t>claws","</a:t>
            </a:r>
            <a:r>
              <a:rPr lang="en-US" dirty="0" err="1" smtClean="0">
                <a:latin typeface="Monaco"/>
                <a:cs typeface="Monaco"/>
              </a:rPr>
              <a:t>medium</a:t>
            </a:r>
            <a:r>
              <a:rPr lang="en-US" dirty="0" smtClean="0">
                <a:latin typeface="Monaco"/>
                <a:cs typeface="Monaco"/>
              </a:rPr>
              <a:t>”))</a:t>
            </a:r>
            <a:endParaRPr lang="en-US" dirty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dirty="0">
                <a:latin typeface="Monaco"/>
                <a:cs typeface="Monaco"/>
              </a:rPr>
              <a:t>    )</a:t>
            </a:r>
          </a:p>
          <a:p>
            <a:pPr marL="0" lvl="1" indent="0">
              <a:buNone/>
            </a:pPr>
            <a:endParaRPr lang="en-US" dirty="0" smtClean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dirty="0" err="1" smtClean="0">
                <a:latin typeface="Monaco"/>
                <a:cs typeface="Monaco"/>
              </a:rPr>
              <a:t>val</a:t>
            </a:r>
            <a:r>
              <a:rPr lang="en-US" dirty="0" smtClean="0">
                <a:latin typeface="Monaco"/>
                <a:cs typeface="Monaco"/>
              </a:rPr>
              <a:t> </a:t>
            </a:r>
            <a:r>
              <a:rPr lang="en-US" dirty="0" err="1">
                <a:latin typeface="Monaco"/>
                <a:cs typeface="Monaco"/>
              </a:rPr>
              <a:t>testData</a:t>
            </a:r>
            <a:r>
              <a:rPr lang="en-US" dirty="0">
                <a:latin typeface="Monaco"/>
                <a:cs typeface="Monaco"/>
              </a:rPr>
              <a:t> = Array(</a:t>
            </a:r>
          </a:p>
          <a:p>
            <a:pPr marL="0" lvl="1" indent="0">
              <a:buNone/>
            </a:pPr>
            <a:r>
              <a:rPr lang="en-US" dirty="0">
                <a:latin typeface="Monaco"/>
                <a:cs typeface="Monaco"/>
              </a:rPr>
              <a:t>      Example</a:t>
            </a:r>
            <a:r>
              <a:rPr lang="en-US" dirty="0" smtClean="0">
                <a:latin typeface="Monaco"/>
                <a:cs typeface="Monaco"/>
              </a:rPr>
              <a:t>("????"</a:t>
            </a:r>
            <a:r>
              <a:rPr lang="en-US" dirty="0">
                <a:latin typeface="Monaco"/>
                <a:cs typeface="Monaco"/>
              </a:rPr>
              <a:t>, </a:t>
            </a:r>
            <a:r>
              <a:rPr lang="en-US" dirty="0" err="1">
                <a:latin typeface="Monaco"/>
                <a:cs typeface="Monaco"/>
              </a:rPr>
              <a:t>Counter.count</a:t>
            </a:r>
            <a:r>
              <a:rPr lang="en-US" dirty="0">
                <a:latin typeface="Monaco"/>
                <a:cs typeface="Monaco"/>
              </a:rPr>
              <a:t>("</a:t>
            </a:r>
            <a:r>
              <a:rPr lang="en-US" dirty="0" err="1">
                <a:latin typeface="Monaco"/>
                <a:cs typeface="Monaco"/>
              </a:rPr>
              <a:t>claws","</a:t>
            </a:r>
            <a:r>
              <a:rPr lang="en-US" dirty="0" err="1" smtClean="0">
                <a:latin typeface="Monaco"/>
                <a:cs typeface="Monaco"/>
              </a:rPr>
              <a:t>small</a:t>
            </a:r>
            <a:r>
              <a:rPr lang="en-US" dirty="0" smtClean="0">
                <a:latin typeface="Monaco"/>
                <a:cs typeface="Monaco"/>
              </a:rPr>
              <a:t>”))</a:t>
            </a:r>
            <a:endParaRPr lang="en-US" dirty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dirty="0">
                <a:latin typeface="Monaco"/>
                <a:cs typeface="Monaco"/>
              </a:rPr>
              <a:t>    )</a:t>
            </a:r>
            <a:endParaRPr lang="en-US" dirty="0" smtClean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587462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400" dirty="0" smtClean="0">
                <a:latin typeface="Monaco"/>
                <a:cs typeface="Monaco"/>
              </a:rPr>
              <a:t>new </a:t>
            </a:r>
            <a:r>
              <a:rPr lang="en-US" sz="2400" dirty="0" err="1" smtClean="0">
                <a:latin typeface="Monaco"/>
                <a:cs typeface="Monaco"/>
              </a:rPr>
              <a:t>LogisticClassifier</a:t>
            </a:r>
            <a:endParaRPr lang="en-US" sz="2400" dirty="0" smtClean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sz="2400" dirty="0" smtClean="0">
                <a:latin typeface="Monaco"/>
                <a:cs typeface="Monaco"/>
              </a:rPr>
              <a:t>   .Trainer</a:t>
            </a:r>
            <a:r>
              <a:rPr lang="en-US" sz="2400" dirty="0">
                <a:latin typeface="Monaco"/>
                <a:cs typeface="Monaco"/>
              </a:rPr>
              <a:t>[</a:t>
            </a:r>
            <a:r>
              <a:rPr lang="en-US" sz="2400" dirty="0" err="1">
                <a:latin typeface="Monaco"/>
                <a:cs typeface="Monaco"/>
              </a:rPr>
              <a:t>L,Counter</a:t>
            </a:r>
            <a:r>
              <a:rPr lang="en-US" sz="2400" dirty="0">
                <a:latin typeface="Monaco"/>
                <a:cs typeface="Monaco"/>
              </a:rPr>
              <a:t>[</a:t>
            </a:r>
            <a:r>
              <a:rPr lang="en-US" sz="2400" dirty="0" err="1">
                <a:latin typeface="Monaco"/>
                <a:cs typeface="Monaco"/>
              </a:rPr>
              <a:t>T,Double</a:t>
            </a:r>
            <a:r>
              <a:rPr lang="en-US" sz="2400" dirty="0" smtClean="0">
                <a:latin typeface="Monaco"/>
                <a:cs typeface="Monaco"/>
              </a:rPr>
              <a:t>]]()</a:t>
            </a:r>
          </a:p>
          <a:p>
            <a:pPr marL="0" lvl="1" indent="0">
              <a:buNone/>
            </a:pPr>
            <a:endParaRPr lang="en-US" sz="2400" dirty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sz="2400" dirty="0" err="1">
                <a:latin typeface="Monaco"/>
                <a:cs typeface="Monaco"/>
              </a:rPr>
              <a:t>v</a:t>
            </a:r>
            <a:r>
              <a:rPr lang="en-US" sz="2400" dirty="0" err="1" smtClean="0">
                <a:latin typeface="Monaco"/>
                <a:cs typeface="Monaco"/>
              </a:rPr>
              <a:t>al</a:t>
            </a:r>
            <a:r>
              <a:rPr lang="en-US" sz="2400" dirty="0" smtClean="0">
                <a:latin typeface="Monaco"/>
                <a:cs typeface="Monaco"/>
              </a:rPr>
              <a:t> classifier = </a:t>
            </a:r>
            <a:r>
              <a:rPr lang="en-US" sz="2400" dirty="0" err="1" smtClean="0">
                <a:latin typeface="Monaco"/>
                <a:cs typeface="Monaco"/>
              </a:rPr>
              <a:t>trainer.train</a:t>
            </a:r>
            <a:r>
              <a:rPr lang="en-US" sz="2400" dirty="0" smtClean="0">
                <a:latin typeface="Monaco"/>
                <a:cs typeface="Monaco"/>
              </a:rPr>
              <a:t>(</a:t>
            </a:r>
            <a:r>
              <a:rPr lang="en-US" sz="2400" dirty="0" err="1" smtClean="0">
                <a:latin typeface="Monaco"/>
                <a:cs typeface="Monaco"/>
              </a:rPr>
              <a:t>trainingData</a:t>
            </a:r>
            <a:r>
              <a:rPr lang="en-US" sz="2400" dirty="0" smtClean="0">
                <a:latin typeface="Monaco"/>
                <a:cs typeface="Monaco"/>
              </a:rPr>
              <a:t>)</a:t>
            </a:r>
          </a:p>
          <a:p>
            <a:pPr marL="0" lvl="1" indent="0">
              <a:buNone/>
            </a:pPr>
            <a:endParaRPr lang="en-US" sz="2400" dirty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sz="2400" dirty="0" smtClean="0">
                <a:latin typeface="Monaco"/>
                <a:cs typeface="Monaco"/>
              </a:rPr>
              <a:t>classifier(</a:t>
            </a:r>
            <a:r>
              <a:rPr lang="en-US" sz="2400" dirty="0" err="1" smtClean="0">
                <a:latin typeface="Monaco"/>
                <a:cs typeface="Monaco"/>
              </a:rPr>
              <a:t>Counter.count</a:t>
            </a:r>
            <a:r>
              <a:rPr lang="en-US" sz="2400" dirty="0" smtClean="0">
                <a:latin typeface="Monaco"/>
                <a:cs typeface="Monaco"/>
              </a:rPr>
              <a:t>(“fuzzy”, “small”)) == “cat”</a:t>
            </a:r>
          </a:p>
        </p:txBody>
      </p:sp>
    </p:spTree>
    <p:extLst>
      <p:ext uri="{BB962C8B-B14F-4D97-AF65-F5344CB8AC3E}">
        <p14:creationId xmlns:p14="http://schemas.microsoft.com/office/powerpoint/2010/main" val="3569080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Distributions</a:t>
            </a:r>
          </a:p>
          <a:p>
            <a:pPr lvl="1"/>
            <a:r>
              <a:rPr lang="en-US" dirty="0" smtClean="0"/>
              <a:t>Poisson, Gamma, Gaussian, Multinomial, Von </a:t>
            </a:r>
            <a:r>
              <a:rPr lang="en-US" dirty="0" err="1" smtClean="0"/>
              <a:t>Mises</a:t>
            </a:r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Sampling, PDF, Mean, Variance, Maximum Likelihood Estimation</a:t>
            </a:r>
          </a:p>
        </p:txBody>
      </p:sp>
    </p:spTree>
    <p:extLst>
      <p:ext uri="{BB962C8B-B14F-4D97-AF65-F5344CB8AC3E}">
        <p14:creationId xmlns:p14="http://schemas.microsoft.com/office/powerpoint/2010/main" val="3219350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Breeze-Learn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500" dirty="0" err="1">
                <a:latin typeface="Monaco"/>
                <a:cs typeface="Monaco"/>
              </a:rPr>
              <a:t>val</a:t>
            </a:r>
            <a:r>
              <a:rPr lang="en-US" sz="2500" dirty="0">
                <a:latin typeface="Monaco"/>
                <a:cs typeface="Monaco"/>
              </a:rPr>
              <a:t> poi = new Poisson(3.0)</a:t>
            </a:r>
          </a:p>
          <a:p>
            <a:pPr marL="0" lvl="1" indent="0">
              <a:buNone/>
            </a:pPr>
            <a:r>
              <a:rPr lang="en-US" sz="2500" dirty="0" err="1">
                <a:latin typeface="Monaco"/>
                <a:cs typeface="Monaco"/>
              </a:rPr>
              <a:t>val</a:t>
            </a:r>
            <a:r>
              <a:rPr lang="en-US" sz="2500" dirty="0">
                <a:latin typeface="Monaco"/>
                <a:cs typeface="Monaco"/>
              </a:rPr>
              <a:t> samples = </a:t>
            </a:r>
            <a:r>
              <a:rPr lang="en-US" sz="2500" dirty="0" err="1">
                <a:latin typeface="Monaco"/>
                <a:cs typeface="Monaco"/>
              </a:rPr>
              <a:t>poi.sample</a:t>
            </a:r>
            <a:r>
              <a:rPr lang="en-US" sz="2500" dirty="0">
                <a:latin typeface="Monaco"/>
                <a:cs typeface="Monaco"/>
              </a:rPr>
              <a:t>(1000)</a:t>
            </a:r>
          </a:p>
          <a:p>
            <a:pPr marL="0" lvl="1" indent="0">
              <a:buNone/>
            </a:pPr>
            <a:r>
              <a:rPr lang="en-US" sz="2500" dirty="0" smtClean="0">
                <a:latin typeface="Monaco"/>
                <a:cs typeface="Monaco"/>
              </a:rPr>
              <a:t/>
            </a:r>
            <a:br>
              <a:rPr lang="en-US" sz="2500" dirty="0" smtClean="0">
                <a:latin typeface="Monaco"/>
                <a:cs typeface="Monaco"/>
              </a:rPr>
            </a:br>
            <a:r>
              <a:rPr lang="en-US" sz="2500" dirty="0" err="1" smtClean="0">
                <a:latin typeface="Monaco"/>
                <a:cs typeface="Monaco"/>
              </a:rPr>
              <a:t>meanAndVariance</a:t>
            </a:r>
            <a:r>
              <a:rPr lang="en-US" sz="2500" dirty="0">
                <a:latin typeface="Monaco"/>
                <a:cs typeface="Monaco"/>
              </a:rPr>
              <a:t>(</a:t>
            </a:r>
            <a:r>
              <a:rPr lang="en-US" sz="2500" dirty="0" err="1">
                <a:latin typeface="Monaco"/>
                <a:cs typeface="Monaco"/>
              </a:rPr>
              <a:t>samples.map</a:t>
            </a:r>
            <a:r>
              <a:rPr lang="en-US" sz="2500" dirty="0">
                <a:latin typeface="Monaco"/>
                <a:cs typeface="Monaco"/>
              </a:rPr>
              <a:t>(_.</a:t>
            </a:r>
            <a:r>
              <a:rPr lang="en-US" sz="2500" dirty="0" err="1">
                <a:latin typeface="Monaco"/>
                <a:cs typeface="Monaco"/>
              </a:rPr>
              <a:t>toDouble</a:t>
            </a:r>
            <a:r>
              <a:rPr lang="en-US" sz="2500" dirty="0">
                <a:latin typeface="Monaco"/>
                <a:cs typeface="Monaco"/>
              </a:rPr>
              <a:t>))</a:t>
            </a:r>
          </a:p>
          <a:p>
            <a:pPr marL="0" lvl="1" indent="0">
              <a:buNone/>
            </a:pPr>
            <a:r>
              <a:rPr lang="en-US" sz="2500" dirty="0">
                <a:latin typeface="Monaco"/>
                <a:cs typeface="Monaco"/>
              </a:rPr>
              <a:t>// (2.989999999999995,3.0009009009009)</a:t>
            </a:r>
          </a:p>
          <a:p>
            <a:pPr marL="0" lvl="1" indent="0">
              <a:buNone/>
            </a:pPr>
            <a:endParaRPr lang="en-US" sz="2500" dirty="0">
              <a:latin typeface="Monaco"/>
              <a:cs typeface="Monaco"/>
            </a:endParaRPr>
          </a:p>
          <a:p>
            <a:pPr marL="0" lvl="1" indent="0">
              <a:buNone/>
            </a:pPr>
            <a:r>
              <a:rPr lang="en-US" sz="2500" dirty="0">
                <a:latin typeface="Monaco"/>
                <a:cs typeface="Monaco"/>
              </a:rPr>
              <a:t>(</a:t>
            </a:r>
            <a:r>
              <a:rPr lang="en-US" sz="2500" dirty="0" err="1">
                <a:latin typeface="Monaco"/>
                <a:cs typeface="Monaco"/>
              </a:rPr>
              <a:t>poi.mean</a:t>
            </a:r>
            <a:r>
              <a:rPr lang="en-US" sz="2500" dirty="0">
                <a:latin typeface="Monaco"/>
                <a:cs typeface="Monaco"/>
              </a:rPr>
              <a:t>, </a:t>
            </a:r>
            <a:r>
              <a:rPr lang="en-US" sz="2500" dirty="0" err="1">
                <a:latin typeface="Monaco"/>
                <a:cs typeface="Monaco"/>
              </a:rPr>
              <a:t>poi.variance</a:t>
            </a:r>
            <a:r>
              <a:rPr lang="en-US" sz="2500" dirty="0">
                <a:latin typeface="Monaco"/>
                <a:cs typeface="Monaco"/>
              </a:rPr>
              <a:t>)</a:t>
            </a:r>
          </a:p>
          <a:p>
            <a:pPr marL="0" lvl="1" indent="0">
              <a:buNone/>
            </a:pPr>
            <a:r>
              <a:rPr lang="en-US" sz="2500" dirty="0">
                <a:latin typeface="Monaco"/>
                <a:cs typeface="Monaco"/>
              </a:rPr>
              <a:t>// (Double, Double) = (3.0,3.0)</a:t>
            </a:r>
          </a:p>
          <a:p>
            <a:pPr marL="0" lvl="1" indent="0">
              <a:buNone/>
            </a:pPr>
            <a:endParaRPr lang="en-US" dirty="0" err="1" smtClean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150002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362" y="328181"/>
            <a:ext cx="7142438" cy="690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Let’s build something…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Sentiment Classification</a:t>
            </a:r>
          </a:p>
          <a:p>
            <a:pPr lvl="1"/>
            <a:r>
              <a:rPr lang="en-US" dirty="0" smtClean="0"/>
              <a:t>Given a movie review, predict whether it is positive or negative.</a:t>
            </a:r>
          </a:p>
          <a:p>
            <a:r>
              <a:rPr lang="en-US" dirty="0" smtClean="0"/>
              <a:t>Dataset:  </a:t>
            </a:r>
          </a:p>
          <a:p>
            <a:pPr lvl="1"/>
            <a:r>
              <a:rPr lang="en-US" dirty="0"/>
              <a:t>Bo Pang, Lillian Lee, and </a:t>
            </a:r>
            <a:r>
              <a:rPr lang="en-US" dirty="0" err="1"/>
              <a:t>Shivakumar</a:t>
            </a:r>
            <a:r>
              <a:rPr lang="en-US" dirty="0"/>
              <a:t> </a:t>
            </a:r>
            <a:r>
              <a:rPr lang="en-US" dirty="0" err="1"/>
              <a:t>Vaithyanathan</a:t>
            </a:r>
            <a:r>
              <a:rPr lang="en-US" dirty="0"/>
              <a:t>, Thumbs up? Sentiment Classification using Machine Learning Techniques</a:t>
            </a:r>
            <a:r>
              <a:rPr lang="en-US" dirty="0" smtClean="0"/>
              <a:t>, EMNLP 2002</a:t>
            </a:r>
          </a:p>
          <a:p>
            <a:pPr lvl="1"/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www.cs.cornell.edu</a:t>
            </a:r>
            <a:r>
              <a:rPr lang="en-US" dirty="0"/>
              <a:t>/people/</a:t>
            </a:r>
            <a:r>
              <a:rPr lang="en-US" dirty="0" err="1"/>
              <a:t>pabo</a:t>
            </a:r>
            <a:r>
              <a:rPr lang="en-US" dirty="0"/>
              <a:t>/movie-review-data/</a:t>
            </a:r>
          </a:p>
        </p:txBody>
      </p:sp>
    </p:spTree>
    <p:extLst>
      <p:ext uri="{BB962C8B-B14F-4D97-AF65-F5344CB8AC3E}">
        <p14:creationId xmlns:p14="http://schemas.microsoft.com/office/powerpoint/2010/main" val="2079374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Classifier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24" y="19511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sp>
        <p:nvSpPr>
          <p:cNvPr id="10" name="TextBox 9"/>
          <p:cNvSpPr txBox="1"/>
          <p:nvPr/>
        </p:nvSpPr>
        <p:spPr>
          <a:xfrm>
            <a:off x="2493816" y="3865868"/>
            <a:ext cx="5934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 smtClean="0">
                <a:solidFill>
                  <a:srgbClr val="008000"/>
                </a:solidFill>
              </a:rPr>
              <a:t>+</a:t>
            </a:r>
            <a:endParaRPr lang="en-US" sz="6400" dirty="0">
              <a:solidFill>
                <a:srgbClr val="008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24" y="21035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sp>
        <p:nvSpPr>
          <p:cNvPr id="12" name="TextBox 11"/>
          <p:cNvSpPr txBox="1"/>
          <p:nvPr/>
        </p:nvSpPr>
        <p:spPr>
          <a:xfrm>
            <a:off x="2643909" y="3983636"/>
            <a:ext cx="5401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0" dirty="0" smtClean="0">
                <a:solidFill>
                  <a:srgbClr val="FF0000"/>
                </a:solidFill>
              </a:rPr>
              <a:t>x</a:t>
            </a:r>
            <a:endParaRPr lang="en-US" sz="6400" dirty="0">
              <a:solidFill>
                <a:srgbClr val="FF0000"/>
              </a:solidFill>
            </a:endParaRPr>
          </a:p>
        </p:txBody>
      </p:sp>
      <p:pic>
        <p:nvPicPr>
          <p:cNvPr id="15" name="Picture 14" descr="tt1259521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63" y="1758373"/>
            <a:ext cx="2717800" cy="4025900"/>
          </a:xfrm>
          <a:prstGeom prst="rect">
            <a:avLst/>
          </a:prstGeom>
        </p:spPr>
      </p:pic>
      <p:pic>
        <p:nvPicPr>
          <p:cNvPr id="18" name="Picture 17" descr="tt1099212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63" y="1758373"/>
            <a:ext cx="2717800" cy="40259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24" y="22559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24" y="24083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24" y="25607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24" y="27131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124" y="28655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24" y="30179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24" y="3170381"/>
            <a:ext cx="2899545" cy="2899545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818282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Classifier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80871" y="2910462"/>
            <a:ext cx="1318912" cy="1909020"/>
            <a:chOff x="874724" y="1951181"/>
            <a:chExt cx="4118745" cy="4664568"/>
          </a:xfrm>
        </p:grpSpPr>
        <p:grpSp>
          <p:nvGrpSpPr>
            <p:cNvPr id="3" name="Group 2"/>
            <p:cNvGrpSpPr/>
            <p:nvPr/>
          </p:nvGrpSpPr>
          <p:grpSpPr>
            <a:xfrm>
              <a:off x="874724" y="1951181"/>
              <a:ext cx="3509145" cy="4664568"/>
              <a:chOff x="874724" y="1951181"/>
              <a:chExt cx="3509145" cy="4664568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4724" y="1951181"/>
                <a:ext cx="2899545" cy="2899545"/>
              </a:xfrm>
              <a:prstGeom prst="rect">
                <a:avLst/>
              </a:prstGeom>
              <a:scene3d>
                <a:camera prst="perspectiveContrastingLeftFacing"/>
                <a:lightRig rig="threePt" dir="t"/>
              </a:scene3d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2493816" y="3865868"/>
                <a:ext cx="59343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400" dirty="0" smtClean="0">
                    <a:solidFill>
                      <a:srgbClr val="008000"/>
                    </a:solidFill>
                  </a:rPr>
                  <a:t>+</a:t>
                </a:r>
                <a:endParaRPr lang="en-US" sz="6400" dirty="0">
                  <a:solidFill>
                    <a:srgbClr val="008000"/>
                  </a:solidFill>
                </a:endParaRPr>
              </a:p>
            </p:txBody>
          </p:sp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124" y="2103581"/>
                <a:ext cx="2899545" cy="2899545"/>
              </a:xfrm>
              <a:prstGeom prst="rect">
                <a:avLst/>
              </a:prstGeom>
              <a:scene3d>
                <a:camera prst="perspectiveContrastingLeftFacing"/>
                <a:lightRig rig="threePt" dir="t"/>
              </a:scene3d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2643910" y="3983636"/>
                <a:ext cx="576681" cy="26321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64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9524" y="2255981"/>
                <a:ext cx="2899545" cy="2899545"/>
              </a:xfrm>
              <a:prstGeom prst="rect">
                <a:avLst/>
              </a:prstGeom>
              <a:scene3d>
                <a:camera prst="perspectiveContrastingLeftFacing"/>
                <a:lightRig rig="threePt" dir="t"/>
              </a:scene3d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1924" y="2408381"/>
                <a:ext cx="2899545" cy="2899545"/>
              </a:xfrm>
              <a:prstGeom prst="rect">
                <a:avLst/>
              </a:prstGeom>
              <a:scene3d>
                <a:camera prst="perspectiveContrastingLeftFacing"/>
                <a:lightRig rig="threePt" dir="t"/>
              </a:scene3d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4324" y="2560781"/>
                <a:ext cx="2899545" cy="2899545"/>
              </a:xfrm>
              <a:prstGeom prst="rect">
                <a:avLst/>
              </a:prstGeom>
              <a:scene3d>
                <a:camera prst="perspectiveContrastingLeftFacing"/>
                <a:lightRig rig="threePt" dir="t"/>
              </a:scene3d>
            </p:spPr>
          </p:pic>
        </p:grp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6724" y="2713181"/>
              <a:ext cx="2899545" cy="2899545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9124" y="2865581"/>
              <a:ext cx="2899545" cy="2899545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1524" y="3017981"/>
              <a:ext cx="2899545" cy="2899545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3924" y="3170381"/>
              <a:ext cx="2899545" cy="2899545"/>
            </a:xfrm>
            <a:prstGeom prst="rect">
              <a:avLst/>
            </a:prstGeom>
            <a:scene3d>
              <a:camera prst="perspectiveContrastingLeftFacing"/>
              <a:lightRig rig="threePt" dir="t"/>
            </a:scene3d>
          </p:spPr>
        </p:pic>
      </p:grpSp>
      <p:grpSp>
        <p:nvGrpSpPr>
          <p:cNvPr id="58" name="Group 57"/>
          <p:cNvGrpSpPr/>
          <p:nvPr/>
        </p:nvGrpSpPr>
        <p:grpSpPr>
          <a:xfrm>
            <a:off x="2645559" y="2172836"/>
            <a:ext cx="2305791" cy="1239135"/>
            <a:chOff x="2645559" y="2172836"/>
            <a:chExt cx="2305791" cy="1239135"/>
          </a:xfrm>
        </p:grpSpPr>
        <p:pic>
          <p:nvPicPr>
            <p:cNvPr id="47" name="Picture 46" descr="1197107738850895583ossidiana_tag.svg.hi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5559" y="2408952"/>
              <a:ext cx="2305791" cy="1003019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3005284" y="2172836"/>
              <a:ext cx="593432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400" dirty="0" smtClean="0">
                  <a:solidFill>
                    <a:srgbClr val="008000"/>
                  </a:solidFill>
                </a:rPr>
                <a:t>+</a:t>
              </a:r>
              <a:endParaRPr lang="en-US" sz="6400" dirty="0">
                <a:solidFill>
                  <a:srgbClr val="008000"/>
                </a:solidFill>
              </a:endParaRPr>
            </a:p>
          </p:txBody>
        </p:sp>
      </p:grpSp>
      <p:pic>
        <p:nvPicPr>
          <p:cNvPr id="37" name="Picture 36" descr="Money_Bag_Clipart.jpe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576" b="92061" l="9961" r="8996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769849"/>
            <a:ext cx="2905782" cy="376042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052454" y="3409432"/>
            <a:ext cx="115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wonderful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379972" y="4634816"/>
            <a:ext cx="57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epic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4128327" y="3914911"/>
            <a:ext cx="2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580506" y="3965737"/>
            <a:ext cx="625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seen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4572028" y="3965737"/>
            <a:ext cx="575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see-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052454" y="3411971"/>
            <a:ext cx="97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wonder-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8836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1" grpId="0"/>
      <p:bldP spid="52" grpId="0"/>
      <p:bldP spid="52" grpId="1"/>
      <p:bldP spid="54" grpId="0"/>
      <p:bldP spid="54" grpId="1"/>
      <p:bldP spid="59" grpId="0"/>
      <p:bldP spid="6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Classifier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645559" y="1769849"/>
            <a:ext cx="3562223" cy="3760424"/>
            <a:chOff x="2645559" y="1769849"/>
            <a:chExt cx="3562223" cy="3760424"/>
          </a:xfrm>
        </p:grpSpPr>
        <p:grpSp>
          <p:nvGrpSpPr>
            <p:cNvPr id="58" name="Group 57"/>
            <p:cNvGrpSpPr/>
            <p:nvPr/>
          </p:nvGrpSpPr>
          <p:grpSpPr>
            <a:xfrm>
              <a:off x="2645559" y="2172836"/>
              <a:ext cx="2305791" cy="1239135"/>
              <a:chOff x="2645559" y="2172836"/>
              <a:chExt cx="2305791" cy="1239135"/>
            </a:xfrm>
          </p:grpSpPr>
          <p:pic>
            <p:nvPicPr>
              <p:cNvPr id="47" name="Picture 46" descr="1197107738850895583ossidiana_tag.svg.hi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5559" y="2408952"/>
                <a:ext cx="2305791" cy="1003019"/>
              </a:xfrm>
              <a:prstGeom prst="rect">
                <a:avLst/>
              </a:prstGeom>
            </p:spPr>
          </p:pic>
          <p:sp>
            <p:nvSpPr>
              <p:cNvPr id="49" name="TextBox 48"/>
              <p:cNvSpPr txBox="1"/>
              <p:nvPr/>
            </p:nvSpPr>
            <p:spPr>
              <a:xfrm>
                <a:off x="3005284" y="2172836"/>
                <a:ext cx="59343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400" dirty="0" smtClean="0">
                    <a:solidFill>
                      <a:srgbClr val="008000"/>
                    </a:solidFill>
                  </a:rPr>
                  <a:t>+</a:t>
                </a:r>
                <a:endParaRPr lang="en-US" sz="6400" dirty="0">
                  <a:solidFill>
                    <a:srgbClr val="008000"/>
                  </a:solidFill>
                </a:endParaRPr>
              </a:p>
            </p:txBody>
          </p:sp>
        </p:grpSp>
        <p:pic>
          <p:nvPicPr>
            <p:cNvPr id="37" name="Picture 36" descr="Money_Bag_Clipart.jpeg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576" b="92061" l="9961" r="8996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2000" y="1769849"/>
              <a:ext cx="2905782" cy="3760424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4052454" y="3409432"/>
              <a:ext cx="1153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wonderful</a:t>
              </a:r>
              <a:endParaRPr 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379972" y="4634816"/>
              <a:ext cx="57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epic</a:t>
              </a:r>
              <a:endParaRPr lang="en-US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128327" y="3914911"/>
              <a:ext cx="295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580506" y="3965737"/>
              <a:ext cx="625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seen</a:t>
              </a:r>
              <a:endParaRPr lang="en-US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572028" y="3965737"/>
              <a:ext cx="575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see-</a:t>
              </a:r>
              <a:endParaRPr lang="en-US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052454" y="3411971"/>
              <a:ext cx="97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wonder-</a:t>
              </a:r>
              <a:endParaRPr lang="en-US" dirty="0"/>
            </a:p>
          </p:txBody>
        </p:sp>
      </p:grpSp>
      <p:pic>
        <p:nvPicPr>
          <p:cNvPr id="27" name="Picture 26" descr="Money_Bag_Clipart.jpe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576" b="92061" l="9961" r="8996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63" y="3001818"/>
            <a:ext cx="1441109" cy="1921516"/>
          </a:xfrm>
          <a:prstGeom prst="rect">
            <a:avLst/>
          </a:prstGeom>
        </p:spPr>
      </p:pic>
      <p:pic>
        <p:nvPicPr>
          <p:cNvPr id="34" name="Picture 33" descr="Money_Bag_Clipart.jpe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412" y1="39333" x2="18980" y2="56242"/>
                        <a14:foregroundMark x1="23922" y1="62424" x2="84157" y2="62121"/>
                        <a14:foregroundMark x1="24314" y1="81758" x2="86588" y2="67636"/>
                        <a14:foregroundMark x1="50118" y1="41212" x2="84157" y2="62424"/>
                        <a14:foregroundMark x1="41961" y1="26727" x2="47294" y2="28909"/>
                        <a14:foregroundMark x1="35373" y1="24606" x2="54275" y2="24000"/>
                        <a14:foregroundMark x1="44000" y1="33515" x2="52627" y2="32303"/>
                        <a14:foregroundMark x1="35765" y1="17212" x2="34196" y2="12606"/>
                        <a14:foregroundMark x1="44784" y1="16909" x2="48471" y2="11697"/>
                        <a14:foregroundMark x1="28863" y1="16909" x2="26353" y2="19091"/>
                        <a14:foregroundMark x1="24706" y1="15394" x2="28000" y2="15394"/>
                        <a14:foregroundMark x1="53804" y1="12606" x2="60784" y2="12303"/>
                        <a14:foregroundMark x1="51765" y1="18121" x2="54275" y2="181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59" y="3092994"/>
            <a:ext cx="1441109" cy="192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 descr="Money_Bag_Clipart.jpe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412" y1="39333" x2="18980" y2="56242"/>
                        <a14:foregroundMark x1="23922" y1="62424" x2="84157" y2="62121"/>
                        <a14:foregroundMark x1="24314" y1="81758" x2="86588" y2="67636"/>
                        <a14:foregroundMark x1="50118" y1="41212" x2="84157" y2="62424"/>
                        <a14:foregroundMark x1="41961" y1="26727" x2="47294" y2="28909"/>
                        <a14:foregroundMark x1="35373" y1="24606" x2="54275" y2="24000"/>
                        <a14:foregroundMark x1="44000" y1="33515" x2="52627" y2="32303"/>
                        <a14:foregroundMark x1="35765" y1="17212" x2="34196" y2="12606"/>
                        <a14:foregroundMark x1="44784" y1="16909" x2="48471" y2="11697"/>
                        <a14:foregroundMark x1="28863" y1="16909" x2="26353" y2="19091"/>
                        <a14:foregroundMark x1="24706" y1="15394" x2="28000" y2="15394"/>
                        <a14:foregroundMark x1="53804" y1="12606" x2="60784" y2="12303"/>
                        <a14:foregroundMark x1="51765" y1="18121" x2="54275" y2="181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059" y="3245394"/>
            <a:ext cx="1441109" cy="192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Picture 37" descr="Money_Bag_Clipart.jpe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412" y1="39333" x2="18980" y2="56242"/>
                        <a14:foregroundMark x1="23922" y1="62424" x2="84157" y2="62121"/>
                        <a14:foregroundMark x1="24314" y1="81758" x2="86588" y2="67636"/>
                        <a14:foregroundMark x1="50118" y1="41212" x2="84157" y2="62424"/>
                        <a14:foregroundMark x1="41961" y1="26727" x2="47294" y2="28909"/>
                        <a14:foregroundMark x1="35373" y1="24606" x2="54275" y2="24000"/>
                        <a14:foregroundMark x1="44000" y1="33515" x2="52627" y2="32303"/>
                        <a14:foregroundMark x1="35765" y1="17212" x2="34196" y2="12606"/>
                        <a14:foregroundMark x1="44784" y1="16909" x2="48471" y2="11697"/>
                        <a14:foregroundMark x1="28863" y1="16909" x2="26353" y2="19091"/>
                        <a14:foregroundMark x1="24706" y1="15394" x2="28000" y2="15394"/>
                        <a14:foregroundMark x1="53804" y1="12606" x2="60784" y2="12303"/>
                        <a14:foregroundMark x1="51765" y1="18121" x2="54275" y2="181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59" y="3397794"/>
            <a:ext cx="1441109" cy="192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Picture 38" descr="Money_Bag_Clipart.jpe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412" y1="39333" x2="18980" y2="56242"/>
                        <a14:foregroundMark x1="23922" y1="62424" x2="84157" y2="62121"/>
                        <a14:foregroundMark x1="24314" y1="81758" x2="86588" y2="67636"/>
                        <a14:foregroundMark x1="50118" y1="41212" x2="84157" y2="62424"/>
                        <a14:foregroundMark x1="41961" y1="26727" x2="47294" y2="28909"/>
                        <a14:foregroundMark x1="35373" y1="24606" x2="54275" y2="24000"/>
                        <a14:foregroundMark x1="44000" y1="33515" x2="52627" y2="32303"/>
                        <a14:foregroundMark x1="35765" y1="17212" x2="34196" y2="12606"/>
                        <a14:foregroundMark x1="44784" y1="16909" x2="48471" y2="11697"/>
                        <a14:foregroundMark x1="28863" y1="16909" x2="26353" y2="19091"/>
                        <a14:foregroundMark x1="24706" y1="15394" x2="28000" y2="15394"/>
                        <a14:foregroundMark x1="53804" y1="12606" x2="60784" y2="12303"/>
                        <a14:foregroundMark x1="51765" y1="18121" x2="54275" y2="181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859" y="3550194"/>
            <a:ext cx="1441109" cy="192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Flattening_Machine_steak_processing_machine.jpe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536" b="95752" l="3704" r="93651">
                        <a14:foregroundMark x1="22487" y1="32026" x2="32275" y2="28758"/>
                        <a14:foregroundMark x1="12698" y1="32680" x2="16402" y2="30392"/>
                        <a14:foregroundMark x1="54762" y1="92484" x2="58466" y2="90196"/>
                        <a14:foregroundMark x1="8995" y1="32353" x2="12169" y2="35948"/>
                        <a14:backgroundMark x1="8201" y1="32680" x2="9259" y2="30392"/>
                        <a14:backgroundMark x1="52381" y1="92484" x2="50794" y2="90523"/>
                        <a14:backgroundMark x1="85450" y1="76144" x2="83069" y2="748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629" y="2678764"/>
            <a:ext cx="3595148" cy="2910358"/>
          </a:xfrm>
          <a:prstGeom prst="rect">
            <a:avLst/>
          </a:prstGeom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51" y="2947403"/>
            <a:ext cx="530478" cy="23719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65758" y="5471710"/>
            <a:ext cx="44942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Monaco"/>
                <a:cs typeface="Monaco"/>
              </a:rPr>
              <a:t>Index[Feature]</a:t>
            </a:r>
            <a:endParaRPr lang="en-US" sz="40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41232108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4.07407E-6 L -0.3184 0.0488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51" y="24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1.73472E-18 L 0.36232 -0.06621 " pathEditMode="relative" ptsTypes="AA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48148E-6 L 0.20764 -0.07037 " pathEditMode="relative" ptsTypes="AA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Classifier</a:t>
            </a:r>
            <a:endParaRPr lang="en-US" dirty="0"/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42" y="2404767"/>
            <a:ext cx="530478" cy="2371907"/>
          </a:xfrm>
          <a:prstGeom prst="rect">
            <a:avLst/>
          </a:prstGeom>
        </p:spPr>
      </p:pic>
      <p:pic>
        <p:nvPicPr>
          <p:cNvPr id="15" name="Picture 14" descr="imgres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278" y="1910772"/>
            <a:ext cx="2374900" cy="3429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6142182" y="2167577"/>
            <a:ext cx="2301937" cy="2609097"/>
            <a:chOff x="6142182" y="2167577"/>
            <a:chExt cx="2301937" cy="2609097"/>
          </a:xfrm>
        </p:grpSpPr>
        <p:pic>
          <p:nvPicPr>
            <p:cNvPr id="18" name="Picture 17" descr="imgres.jpe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02" t="11893" r="6005" b="17273"/>
            <a:stretch/>
          </p:blipFill>
          <p:spPr>
            <a:xfrm>
              <a:off x="6142182" y="2717717"/>
              <a:ext cx="2301937" cy="2058957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719455" y="2167577"/>
              <a:ext cx="92672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/>
                  <a:cs typeface="Times New Roman"/>
                </a:rPr>
                <a:t>f</a:t>
              </a:r>
              <a:r>
                <a:rPr lang="en-US" sz="3200" i="1" dirty="0" smtClean="0">
                  <a:latin typeface="Times New Roman"/>
                  <a:cs typeface="Times New Roman"/>
                </a:rPr>
                <a:t>(x)</a:t>
              </a:r>
              <a:endParaRPr lang="en-US" sz="3200" i="1" dirty="0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69024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Let’s build something…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object </a:t>
            </a:r>
            <a:r>
              <a:rPr lang="en-US" sz="2400" dirty="0" err="1">
                <a:latin typeface="Monaco"/>
                <a:cs typeface="Monaco"/>
              </a:rPr>
              <a:t>SentimentClassifier</a:t>
            </a:r>
            <a:r>
              <a:rPr lang="en-US" sz="2400" dirty="0">
                <a:latin typeface="Monaco"/>
                <a:cs typeface="Monaco"/>
              </a:rPr>
              <a:t> {</a:t>
            </a:r>
          </a:p>
          <a:p>
            <a:pPr marL="0" indent="0">
              <a:buNone/>
            </a:pPr>
            <a:endParaRPr lang="en-US" sz="24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case class </a:t>
            </a:r>
            <a:r>
              <a:rPr lang="en-US" sz="2400" dirty="0" err="1">
                <a:latin typeface="Monaco"/>
                <a:cs typeface="Monaco"/>
              </a:rPr>
              <a:t>Params</a:t>
            </a:r>
            <a:r>
              <a:rPr lang="en-US" sz="2400" dirty="0" smtClean="0">
                <a:latin typeface="Monaco"/>
                <a:cs typeface="Monaco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smtClean="0">
                <a:latin typeface="Monaco"/>
                <a:cs typeface="Monaco"/>
              </a:rPr>
              <a:t>    @</a:t>
            </a:r>
            <a:r>
              <a:rPr lang="en-US" sz="2400" dirty="0">
                <a:latin typeface="Monaco"/>
                <a:cs typeface="Monaco"/>
              </a:rPr>
              <a:t>Help(text="Path to </a:t>
            </a:r>
            <a:r>
              <a:rPr lang="en-US" sz="2400" dirty="0" err="1">
                <a:latin typeface="Monaco"/>
                <a:cs typeface="Monaco"/>
              </a:rPr>
              <a:t>txt_sentoken</a:t>
            </a:r>
            <a:r>
              <a:rPr lang="en-US" sz="2400" dirty="0">
                <a:latin typeface="Monaco"/>
                <a:cs typeface="Monaco"/>
              </a:rPr>
              <a:t> in the dataset.") </a:t>
            </a:r>
            <a:endParaRPr lang="en-US" sz="24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smtClean="0">
                <a:latin typeface="Monaco"/>
                <a:cs typeface="Monaco"/>
              </a:rPr>
              <a:t>    </a:t>
            </a:r>
            <a:r>
              <a:rPr lang="en-US" sz="2400" dirty="0" err="1" smtClean="0">
                <a:latin typeface="Monaco"/>
                <a:cs typeface="Monaco"/>
              </a:rPr>
              <a:t>train:File</a:t>
            </a:r>
            <a:r>
              <a:rPr lang="en-US" sz="2400" dirty="0" smtClean="0">
                <a:latin typeface="Monaco"/>
                <a:cs typeface="Monaco"/>
              </a:rPr>
              <a:t>,</a:t>
            </a:r>
            <a:endParaRPr lang="en-US" sz="24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   </a:t>
            </a:r>
            <a:r>
              <a:rPr lang="en-US" sz="2400" dirty="0" smtClean="0">
                <a:latin typeface="Monaco"/>
                <a:cs typeface="Monaco"/>
              </a:rPr>
              <a:t>help</a:t>
            </a:r>
            <a:r>
              <a:rPr lang="en-US" sz="2400" dirty="0">
                <a:latin typeface="Monaco"/>
                <a:cs typeface="Monaco"/>
              </a:rPr>
              <a:t>: Boolean = false</a:t>
            </a:r>
            <a:r>
              <a:rPr lang="en-US" sz="2400" dirty="0" smtClean="0">
                <a:latin typeface="Monaco"/>
                <a:cs typeface="Monaco"/>
              </a:rPr>
              <a:t>) </a:t>
            </a:r>
          </a:p>
          <a:p>
            <a:pPr marL="0" indent="0">
              <a:buNone/>
            </a:pPr>
            <a:endParaRPr lang="en-US" sz="24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 smtClean="0">
                <a:latin typeface="Monaco"/>
                <a:cs typeface="Monaco"/>
              </a:rPr>
              <a:t>// …</a:t>
            </a:r>
          </a:p>
          <a:p>
            <a:pPr marL="0" indent="0">
              <a:buNone/>
            </a:pPr>
            <a:endParaRPr lang="en-US" sz="2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413601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Parsing command line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>
                <a:latin typeface="Monaco"/>
                <a:cs typeface="Monaco"/>
              </a:rPr>
              <a:t>def</a:t>
            </a:r>
            <a:r>
              <a:rPr lang="en-US" sz="2400" dirty="0" smtClean="0">
                <a:latin typeface="Monaco"/>
                <a:cs typeface="Monaco"/>
              </a:rPr>
              <a:t> </a:t>
            </a:r>
            <a:r>
              <a:rPr lang="en-US" sz="2400" dirty="0">
                <a:latin typeface="Monaco"/>
                <a:cs typeface="Monaco"/>
              </a:rPr>
              <a:t>main(</a:t>
            </a:r>
            <a:r>
              <a:rPr lang="en-US" sz="2400" dirty="0" err="1">
                <a:latin typeface="Monaco"/>
                <a:cs typeface="Monaco"/>
              </a:rPr>
              <a:t>args</a:t>
            </a:r>
            <a:r>
              <a:rPr lang="en-US" sz="2400" dirty="0">
                <a:latin typeface="Monaco"/>
                <a:cs typeface="Monaco"/>
              </a:rPr>
              <a:t>: Array[String]) {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smtClean="0">
                <a:latin typeface="Monaco"/>
                <a:cs typeface="Monaco"/>
              </a:rPr>
              <a:t> /</a:t>
            </a:r>
            <a:r>
              <a:rPr lang="en-US" sz="2400" dirty="0">
                <a:latin typeface="Monaco"/>
                <a:cs typeface="Monaco"/>
              </a:rPr>
              <a:t>/ Read in parameters, ensure they're right and dump </a:t>
            </a:r>
            <a:r>
              <a:rPr lang="en-US" sz="2400" dirty="0" smtClean="0">
                <a:latin typeface="Monaco"/>
                <a:cs typeface="Monaco"/>
              </a:rPr>
              <a:t>help if </a:t>
            </a:r>
            <a:r>
              <a:rPr lang="en-US" sz="2400" dirty="0">
                <a:latin typeface="Monaco"/>
                <a:cs typeface="Monaco"/>
              </a:rPr>
              <a:t>necessary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err="1" smtClean="0">
                <a:latin typeface="Monaco"/>
                <a:cs typeface="Monaco"/>
              </a:rPr>
              <a:t>val</a:t>
            </a:r>
            <a:r>
              <a:rPr lang="en-US" sz="2400" dirty="0" smtClean="0">
                <a:latin typeface="Monaco"/>
                <a:cs typeface="Monaco"/>
              </a:rPr>
              <a:t> </a:t>
            </a:r>
            <a:r>
              <a:rPr lang="en-US" sz="2400" dirty="0">
                <a:latin typeface="Monaco"/>
                <a:cs typeface="Monaco"/>
              </a:rPr>
              <a:t>(</a:t>
            </a:r>
            <a:r>
              <a:rPr lang="en-US" sz="2400" dirty="0" err="1">
                <a:latin typeface="Monaco"/>
                <a:cs typeface="Monaco"/>
              </a:rPr>
              <a:t>config,seqArgs</a:t>
            </a:r>
            <a:r>
              <a:rPr lang="en-US" sz="2400" dirty="0">
                <a:latin typeface="Monaco"/>
                <a:cs typeface="Monaco"/>
              </a:rPr>
              <a:t>) = </a:t>
            </a:r>
            <a:r>
              <a:rPr lang="en-US" sz="2400" dirty="0" err="1">
                <a:latin typeface="Monaco"/>
                <a:cs typeface="Monaco"/>
              </a:rPr>
              <a:t>CommandLineParser.parseArguments</a:t>
            </a:r>
            <a:r>
              <a:rPr lang="en-US" sz="2400" dirty="0">
                <a:latin typeface="Monaco"/>
                <a:cs typeface="Monaco"/>
              </a:rPr>
              <a:t>(</a:t>
            </a:r>
            <a:r>
              <a:rPr lang="en-US" sz="2400" dirty="0" err="1">
                <a:latin typeface="Monaco"/>
                <a:cs typeface="Monaco"/>
              </a:rPr>
              <a:t>args</a:t>
            </a:r>
            <a:r>
              <a:rPr lang="en-US" sz="2400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endParaRPr lang="en-US" sz="24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 smtClean="0">
                <a:latin typeface="Monaco"/>
                <a:cs typeface="Monaco"/>
              </a:rPr>
              <a:t>  </a:t>
            </a:r>
            <a:r>
              <a:rPr lang="en-US" sz="2400" dirty="0" err="1" smtClean="0">
                <a:latin typeface="Monaco"/>
                <a:cs typeface="Monaco"/>
              </a:rPr>
              <a:t>val</a:t>
            </a:r>
            <a:r>
              <a:rPr lang="en-US" sz="2400" dirty="0" smtClean="0">
                <a:latin typeface="Monaco"/>
                <a:cs typeface="Monaco"/>
              </a:rPr>
              <a:t> </a:t>
            </a:r>
            <a:r>
              <a:rPr lang="en-US" sz="2400" dirty="0" err="1">
                <a:latin typeface="Monaco"/>
                <a:cs typeface="Monaco"/>
              </a:rPr>
              <a:t>params</a:t>
            </a:r>
            <a:r>
              <a:rPr lang="en-US" sz="2400" dirty="0">
                <a:latin typeface="Monaco"/>
                <a:cs typeface="Monaco"/>
              </a:rPr>
              <a:t> = </a:t>
            </a:r>
            <a:r>
              <a:rPr lang="en-US" sz="2400" dirty="0" err="1" smtClean="0">
                <a:latin typeface="Monaco"/>
                <a:cs typeface="Monaco"/>
              </a:rPr>
              <a:t>config.readIn</a:t>
            </a:r>
            <a:r>
              <a:rPr lang="en-US" sz="2400" dirty="0">
                <a:latin typeface="Monaco"/>
                <a:cs typeface="Monaco"/>
              </a:rPr>
              <a:t>[</a:t>
            </a:r>
            <a:r>
              <a:rPr lang="en-US" sz="2400" dirty="0" err="1">
                <a:latin typeface="Monaco"/>
                <a:cs typeface="Monaco"/>
              </a:rPr>
              <a:t>Params</a:t>
            </a:r>
            <a:r>
              <a:rPr lang="en-US" sz="2400" dirty="0">
                <a:latin typeface="Monaco"/>
                <a:cs typeface="Monaco"/>
              </a:rPr>
              <a:t>]</a:t>
            </a:r>
            <a:r>
              <a:rPr lang="en-US" sz="2400" dirty="0" smtClean="0">
                <a:latin typeface="Monaco"/>
                <a:cs typeface="Monaco"/>
              </a:rPr>
              <a:t>(“”)</a:t>
            </a:r>
          </a:p>
          <a:p>
            <a:pPr marL="0" indent="0">
              <a:buNone/>
            </a:pPr>
            <a:r>
              <a:rPr lang="en-US" sz="2400" dirty="0" smtClean="0">
                <a:latin typeface="Monaco"/>
                <a:cs typeface="Monaco"/>
              </a:rPr>
              <a:t>  if</a:t>
            </a:r>
            <a:r>
              <a:rPr lang="en-US" sz="2400" dirty="0">
                <a:latin typeface="Monaco"/>
                <a:cs typeface="Monaco"/>
              </a:rPr>
              <a:t>(</a:t>
            </a:r>
            <a:r>
              <a:rPr lang="en-US" sz="2400" dirty="0" err="1" smtClean="0">
                <a:latin typeface="Monaco"/>
                <a:cs typeface="Monaco"/>
              </a:rPr>
              <a:t>params.help</a:t>
            </a:r>
            <a:r>
              <a:rPr lang="en-US" sz="2400" dirty="0" smtClean="0">
                <a:latin typeface="Monaco"/>
                <a:cs typeface="Monaco"/>
              </a:rPr>
              <a:t>) </a:t>
            </a:r>
            <a:r>
              <a:rPr lang="en-US" sz="2400" dirty="0"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smtClean="0">
                <a:latin typeface="Monaco"/>
                <a:cs typeface="Monaco"/>
              </a:rPr>
              <a:t>  </a:t>
            </a:r>
            <a:r>
              <a:rPr lang="en-US" sz="2400" dirty="0" err="1">
                <a:latin typeface="Monaco"/>
                <a:cs typeface="Monaco"/>
              </a:rPr>
              <a:t>println</a:t>
            </a:r>
            <a:r>
              <a:rPr lang="en-US" sz="2400" dirty="0">
                <a:latin typeface="Monaco"/>
                <a:cs typeface="Monaco"/>
              </a:rPr>
              <a:t>(</a:t>
            </a:r>
            <a:r>
              <a:rPr lang="en-US" sz="2400" dirty="0" err="1">
                <a:latin typeface="Monaco"/>
                <a:cs typeface="Monaco"/>
              </a:rPr>
              <a:t>GenerateHelp</a:t>
            </a:r>
            <a:r>
              <a:rPr lang="en-US" sz="2400" dirty="0">
                <a:latin typeface="Monaco"/>
                <a:cs typeface="Monaco"/>
              </a:rPr>
              <a:t>[</a:t>
            </a:r>
            <a:r>
              <a:rPr lang="en-US" sz="2400" dirty="0" err="1">
                <a:latin typeface="Monaco"/>
                <a:cs typeface="Monaco"/>
              </a:rPr>
              <a:t>Params</a:t>
            </a:r>
            <a:r>
              <a:rPr lang="en-US" sz="2400" dirty="0">
                <a:latin typeface="Monaco"/>
                <a:cs typeface="Monaco"/>
              </a:rPr>
              <a:t>](</a:t>
            </a:r>
            <a:r>
              <a:rPr lang="en-US" sz="2400" dirty="0" err="1">
                <a:latin typeface="Monaco"/>
                <a:cs typeface="Monaco"/>
              </a:rPr>
              <a:t>config</a:t>
            </a:r>
            <a:r>
              <a:rPr lang="en-US" sz="2400" dirty="0">
                <a:latin typeface="Monaco"/>
                <a:cs typeface="Monaco"/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smtClean="0">
                <a:latin typeface="Monaco"/>
                <a:cs typeface="Monaco"/>
              </a:rPr>
              <a:t>  </a:t>
            </a:r>
            <a:r>
              <a:rPr lang="en-US" sz="2400" dirty="0" err="1">
                <a:latin typeface="Monaco"/>
                <a:cs typeface="Monaco"/>
              </a:rPr>
              <a:t>sys.exit</a:t>
            </a:r>
            <a:r>
              <a:rPr lang="en-US" sz="2400" dirty="0">
                <a:latin typeface="Monaco"/>
                <a:cs typeface="Monaco"/>
              </a:rPr>
              <a:t>(1)</a:t>
            </a: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 </a:t>
            </a:r>
            <a:r>
              <a:rPr lang="en-US" sz="2400" dirty="0" smtClean="0">
                <a:latin typeface="Monaco"/>
                <a:cs typeface="Monaco"/>
              </a:rPr>
              <a:t>}</a:t>
            </a:r>
            <a:endParaRPr lang="en-US" sz="2400" dirty="0">
              <a:latin typeface="Monaco"/>
              <a:cs typeface="Monaco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892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Reading in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err="1" smtClean="0">
                <a:latin typeface="Monaco"/>
                <a:cs typeface="Monaco"/>
              </a:rPr>
              <a:t>val</a:t>
            </a:r>
            <a:r>
              <a:rPr lang="en-US" sz="2000" dirty="0" smtClean="0">
                <a:latin typeface="Monaco"/>
                <a:cs typeface="Monaco"/>
              </a:rPr>
              <a:t> </a:t>
            </a:r>
            <a:r>
              <a:rPr lang="en-US" sz="2000" dirty="0" err="1">
                <a:latin typeface="Monaco"/>
                <a:cs typeface="Monaco"/>
              </a:rPr>
              <a:t>tokenizer</a:t>
            </a:r>
            <a:r>
              <a:rPr lang="en-US" sz="2000" dirty="0">
                <a:latin typeface="Monaco"/>
                <a:cs typeface="Monaco"/>
              </a:rPr>
              <a:t> = </a:t>
            </a:r>
            <a:r>
              <a:rPr lang="en-US" sz="2000" dirty="0" err="1">
                <a:latin typeface="Monaco"/>
                <a:cs typeface="Monaco"/>
              </a:rPr>
              <a:t>breeze.text.LanguagePack.English</a:t>
            </a:r>
            <a:endParaRPr lang="en-US" sz="2000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sz="21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>
                <a:latin typeface="Monaco"/>
                <a:cs typeface="Monaco"/>
              </a:rPr>
              <a:t>data: Array[Example[</a:t>
            </a:r>
            <a:r>
              <a:rPr lang="en-US" sz="2100" dirty="0" err="1">
                <a:latin typeface="Monaco"/>
                <a:cs typeface="Monaco"/>
              </a:rPr>
              <a:t>Int</a:t>
            </a:r>
            <a:r>
              <a:rPr lang="en-US" sz="2100" dirty="0">
                <a:latin typeface="Monaco"/>
                <a:cs typeface="Monaco"/>
              </a:rPr>
              <a:t>, </a:t>
            </a:r>
            <a:r>
              <a:rPr lang="en-US" sz="2100" dirty="0" err="1">
                <a:latin typeface="Monaco"/>
                <a:cs typeface="Monaco"/>
              </a:rPr>
              <a:t>IndexedSeq</a:t>
            </a:r>
            <a:r>
              <a:rPr lang="en-US" sz="2100" dirty="0">
                <a:latin typeface="Monaco"/>
                <a:cs typeface="Monaco"/>
              </a:rPr>
              <a:t>[String]</a:t>
            </a:r>
            <a:r>
              <a:rPr lang="en-US" sz="2100" dirty="0" smtClean="0">
                <a:latin typeface="Monaco"/>
                <a:cs typeface="Monaco"/>
              </a:rPr>
              <a:t>]] </a:t>
            </a:r>
            <a:r>
              <a:rPr lang="en-US" sz="2100" dirty="0">
                <a:latin typeface="Monaco"/>
                <a:cs typeface="Monaco"/>
              </a:rPr>
              <a:t>= {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for { 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</a:t>
            </a:r>
            <a:r>
              <a:rPr lang="en-US" sz="2100" dirty="0" err="1" smtClean="0">
                <a:latin typeface="Monaco"/>
                <a:cs typeface="Monaco"/>
              </a:rPr>
              <a:t>dir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>
                <a:latin typeface="Monaco"/>
                <a:cs typeface="Monaco"/>
              </a:rPr>
              <a:t>&lt;- </a:t>
            </a:r>
            <a:r>
              <a:rPr lang="en-US" sz="2100" dirty="0" err="1">
                <a:latin typeface="Monaco"/>
                <a:cs typeface="Monaco"/>
              </a:rPr>
              <a:t>params.train.listFiles</a:t>
            </a:r>
            <a:r>
              <a:rPr lang="en-US" sz="2100" dirty="0">
                <a:latin typeface="Monaco"/>
                <a:cs typeface="Monaco"/>
              </a:rPr>
              <a:t>()</a:t>
            </a:r>
            <a:r>
              <a:rPr lang="en-US" sz="2100" dirty="0" smtClean="0">
                <a:latin typeface="Monaco"/>
                <a:cs typeface="Monaco"/>
              </a:rPr>
              <a:t>;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f </a:t>
            </a:r>
            <a:r>
              <a:rPr lang="en-US" sz="2100" dirty="0">
                <a:latin typeface="Monaco"/>
                <a:cs typeface="Monaco"/>
              </a:rPr>
              <a:t>&lt;- </a:t>
            </a:r>
            <a:r>
              <a:rPr lang="en-US" sz="2100" dirty="0" err="1">
                <a:latin typeface="Monaco"/>
                <a:cs typeface="Monaco"/>
              </a:rPr>
              <a:t>dir.listFiles</a:t>
            </a:r>
            <a:r>
              <a:rPr lang="en-US" sz="2100" dirty="0">
                <a:latin typeface="Monaco"/>
                <a:cs typeface="Monaco"/>
              </a:rPr>
              <a:t>(</a:t>
            </a:r>
            <a:r>
              <a:rPr lang="en-US" sz="2100" dirty="0" smtClean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} </a:t>
            </a:r>
            <a:r>
              <a:rPr lang="en-US" sz="2100" dirty="0">
                <a:latin typeface="Monaco"/>
                <a:cs typeface="Monaco"/>
              </a:rPr>
              <a:t>yield </a:t>
            </a:r>
            <a:r>
              <a:rPr lang="en-US" sz="2100" dirty="0" smtClean="0"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</a:t>
            </a: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slurped = </a:t>
            </a:r>
            <a:r>
              <a:rPr lang="en-US" sz="2100" dirty="0" err="1">
                <a:latin typeface="Monaco"/>
                <a:cs typeface="Monaco"/>
              </a:rPr>
              <a:t>Source.fromFile</a:t>
            </a:r>
            <a:r>
              <a:rPr lang="en-US" sz="2100" dirty="0">
                <a:latin typeface="Monaco"/>
                <a:cs typeface="Monaco"/>
              </a:rPr>
              <a:t>(f).</a:t>
            </a:r>
            <a:r>
              <a:rPr lang="en-US" sz="2100" dirty="0" err="1">
                <a:latin typeface="Monaco"/>
                <a:cs typeface="Monaco"/>
              </a:rPr>
              <a:t>mkString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   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>
                <a:latin typeface="Monaco"/>
                <a:cs typeface="Monaco"/>
              </a:rPr>
              <a:t>text = </a:t>
            </a:r>
            <a:r>
              <a:rPr lang="en-US" sz="2100" dirty="0" err="1">
                <a:latin typeface="Monaco"/>
                <a:cs typeface="Monaco"/>
              </a:rPr>
              <a:t>tokenizer</a:t>
            </a:r>
            <a:r>
              <a:rPr lang="en-US" sz="2100" dirty="0" smtClean="0">
                <a:latin typeface="Monaco"/>
                <a:cs typeface="Monaco"/>
              </a:rPr>
              <a:t>(slurped)</a:t>
            </a:r>
            <a:r>
              <a:rPr lang="en-US" sz="2100" dirty="0">
                <a:latin typeface="Monaco"/>
                <a:cs typeface="Monaco"/>
              </a:rPr>
              <a:t>.</a:t>
            </a:r>
            <a:r>
              <a:rPr lang="en-US" sz="2100" dirty="0" err="1">
                <a:latin typeface="Monaco"/>
                <a:cs typeface="Monaco"/>
              </a:rPr>
              <a:t>toIndexedSeq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smtClean="0">
                <a:latin typeface="Monaco"/>
                <a:cs typeface="Monaco"/>
              </a:rPr>
              <a:t>/</a:t>
            </a:r>
            <a:r>
              <a:rPr lang="en-US" sz="2100" dirty="0">
                <a:latin typeface="Monaco"/>
                <a:cs typeface="Monaco"/>
              </a:rPr>
              <a:t>/ data is in </a:t>
            </a:r>
            <a:r>
              <a:rPr lang="en-US" sz="2100" dirty="0" err="1">
                <a:latin typeface="Monaco"/>
                <a:cs typeface="Monaco"/>
              </a:rPr>
              <a:t>pos</a:t>
            </a:r>
            <a:r>
              <a:rPr lang="en-US" sz="2100" dirty="0">
                <a:latin typeface="Monaco"/>
                <a:cs typeface="Monaco"/>
              </a:rPr>
              <a:t>/ and </a:t>
            </a:r>
            <a:r>
              <a:rPr lang="en-US" sz="2100" dirty="0" err="1">
                <a:latin typeface="Monaco"/>
                <a:cs typeface="Monaco"/>
              </a:rPr>
              <a:t>neg</a:t>
            </a:r>
            <a:r>
              <a:rPr lang="en-US" sz="2100" dirty="0">
                <a:latin typeface="Monaco"/>
                <a:cs typeface="Monaco"/>
              </a:rPr>
              <a:t>/ </a:t>
            </a:r>
            <a:r>
              <a:rPr lang="en-US" sz="2100" dirty="0" smtClean="0">
                <a:latin typeface="Monaco"/>
                <a:cs typeface="Monaco"/>
              </a:rPr>
              <a:t>directories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label = if</a:t>
            </a:r>
            <a:r>
              <a:rPr lang="en-US" sz="2100" dirty="0">
                <a:latin typeface="Monaco"/>
                <a:cs typeface="Monaco"/>
              </a:rPr>
              <a:t>(</a:t>
            </a:r>
            <a:r>
              <a:rPr lang="en-US" sz="2100" dirty="0" err="1">
                <a:latin typeface="Monaco"/>
                <a:cs typeface="Monaco"/>
              </a:rPr>
              <a:t>dir.getName</a:t>
            </a:r>
            <a:r>
              <a:rPr lang="en-US" sz="2100" dirty="0">
                <a:latin typeface="Monaco"/>
                <a:cs typeface="Monaco"/>
              </a:rPr>
              <a:t> =="</a:t>
            </a:r>
            <a:r>
              <a:rPr lang="en-US" sz="2100" dirty="0" err="1">
                <a:latin typeface="Monaco"/>
                <a:cs typeface="Monaco"/>
              </a:rPr>
              <a:t>pos</a:t>
            </a:r>
            <a:r>
              <a:rPr lang="en-US" sz="2100" dirty="0">
                <a:latin typeface="Monaco"/>
                <a:cs typeface="Monaco"/>
              </a:rPr>
              <a:t>") 1 else 0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smtClean="0">
                <a:latin typeface="Monaco"/>
                <a:cs typeface="Monaco"/>
              </a:rPr>
              <a:t>Example(label, text</a:t>
            </a:r>
            <a:r>
              <a:rPr lang="en-US" sz="2100" dirty="0">
                <a:latin typeface="Monaco"/>
                <a:cs typeface="Monaco"/>
              </a:rPr>
              <a:t>, id = </a:t>
            </a:r>
            <a:r>
              <a:rPr lang="en-US" sz="2100" dirty="0" err="1">
                <a:latin typeface="Monaco"/>
                <a:cs typeface="Monaco"/>
              </a:rPr>
              <a:t>f.getName</a:t>
            </a:r>
            <a:r>
              <a:rPr lang="en-US" sz="2100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</a:t>
            </a:r>
            <a:r>
              <a:rPr lang="en-US" sz="2100" dirty="0" smtClean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}</a:t>
            </a:r>
            <a:endParaRPr lang="en-US" sz="21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8097892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useful processing stuff: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err="1">
                <a:latin typeface="Monaco"/>
                <a:cs typeface="Monaco"/>
              </a:rPr>
              <a:t>val</a:t>
            </a: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err="1">
                <a:latin typeface="Monaco"/>
                <a:cs typeface="Monaco"/>
              </a:rPr>
              <a:t>langData</a:t>
            </a:r>
            <a:r>
              <a:rPr lang="en-US" sz="2400" dirty="0">
                <a:latin typeface="Monaco"/>
                <a:cs typeface="Monaco"/>
              </a:rPr>
              <a:t> = </a:t>
            </a:r>
            <a:r>
              <a:rPr lang="en-US" sz="2400" dirty="0" err="1" smtClean="0">
                <a:latin typeface="Monaco"/>
                <a:cs typeface="Monaco"/>
              </a:rPr>
              <a:t>breeze.text.LanguagePack.English</a:t>
            </a:r>
            <a:endParaRPr lang="en-US" sz="2400" dirty="0" smtClean="0">
              <a:latin typeface="Monaco"/>
              <a:cs typeface="Monaco"/>
            </a:endParaRPr>
          </a:p>
          <a:p>
            <a:pPr marL="0" indent="0">
              <a:buNone/>
            </a:pPr>
            <a:endParaRPr lang="en-US" sz="2400" dirty="0" smtClean="0">
              <a:latin typeface="Monaco"/>
              <a:cs typeface="Monaco"/>
            </a:endParaRPr>
          </a:p>
          <a:p>
            <a:pPr marL="0" indent="0">
              <a:buNone/>
            </a:pPr>
            <a:endParaRPr lang="en-US" sz="24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 smtClean="0">
                <a:latin typeface="Monaco"/>
                <a:cs typeface="Monaco"/>
              </a:rPr>
              <a:t>// Porter Stemmer</a:t>
            </a:r>
            <a:endParaRPr lang="en-US" sz="24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400" dirty="0">
                <a:latin typeface="Monaco"/>
                <a:cs typeface="Monaco"/>
              </a:rPr>
              <a:t> </a:t>
            </a:r>
            <a:r>
              <a:rPr lang="en-US" sz="2400" dirty="0" err="1" smtClean="0">
                <a:latin typeface="Monaco"/>
                <a:cs typeface="Monaco"/>
              </a:rPr>
              <a:t>val</a:t>
            </a:r>
            <a:r>
              <a:rPr lang="en-US" sz="2400" dirty="0" smtClean="0">
                <a:latin typeface="Monaco"/>
                <a:cs typeface="Monaco"/>
              </a:rPr>
              <a:t> </a:t>
            </a:r>
            <a:r>
              <a:rPr lang="en-US" sz="2400" dirty="0">
                <a:latin typeface="Monaco"/>
                <a:cs typeface="Monaco"/>
              </a:rPr>
              <a:t>stemmer = </a:t>
            </a:r>
            <a:r>
              <a:rPr lang="en-US" sz="2400" dirty="0" err="1" smtClean="0">
                <a:latin typeface="Monaco"/>
                <a:cs typeface="Monaco"/>
              </a:rPr>
              <a:t>langData.stemmer.get</a:t>
            </a:r>
            <a:endParaRPr lang="en-US" sz="2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3267993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Porter stemmer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Monaco"/>
                <a:cs typeface="Monaco"/>
              </a:rPr>
              <a:t>scala</a:t>
            </a:r>
            <a:r>
              <a:rPr lang="en-US" dirty="0">
                <a:latin typeface="Monaco"/>
                <a:cs typeface="Monaco"/>
              </a:rPr>
              <a:t>&gt; </a:t>
            </a:r>
            <a:r>
              <a:rPr lang="en-US" dirty="0" err="1">
                <a:latin typeface="Monaco"/>
                <a:cs typeface="Monaco"/>
              </a:rPr>
              <a:t>PorterStemmer</a:t>
            </a:r>
            <a:r>
              <a:rPr lang="en-US" dirty="0" smtClean="0">
                <a:latin typeface="Monaco"/>
                <a:cs typeface="Monaco"/>
              </a:rPr>
              <a:t>(”waste"</a:t>
            </a:r>
            <a:r>
              <a:rPr lang="en-US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res15: String = </a:t>
            </a:r>
            <a:r>
              <a:rPr lang="en-US" dirty="0" err="1" smtClean="0">
                <a:latin typeface="Monaco"/>
                <a:cs typeface="Monaco"/>
              </a:rPr>
              <a:t>wast</a:t>
            </a: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latin typeface="Monaco"/>
                <a:cs typeface="Monaco"/>
              </a:rPr>
              <a:t>scala</a:t>
            </a:r>
            <a:r>
              <a:rPr lang="en-US" dirty="0">
                <a:latin typeface="Monaco"/>
                <a:cs typeface="Monaco"/>
              </a:rPr>
              <a:t>&gt; </a:t>
            </a:r>
            <a:r>
              <a:rPr lang="en-US" dirty="0" err="1">
                <a:latin typeface="Monaco"/>
                <a:cs typeface="Monaco"/>
              </a:rPr>
              <a:t>PorterStemmer</a:t>
            </a:r>
            <a:r>
              <a:rPr lang="en-US" dirty="0" smtClean="0">
                <a:latin typeface="Monaco"/>
                <a:cs typeface="Monaco"/>
              </a:rPr>
              <a:t>(”wastes"</a:t>
            </a:r>
            <a:r>
              <a:rPr lang="en-US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res16: String = </a:t>
            </a:r>
            <a:r>
              <a:rPr lang="en-US" dirty="0" err="1" smtClean="0">
                <a:latin typeface="Monaco"/>
                <a:cs typeface="Monaco"/>
              </a:rPr>
              <a:t>wast</a:t>
            </a: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latin typeface="Monaco"/>
                <a:cs typeface="Monaco"/>
              </a:rPr>
              <a:t>scala</a:t>
            </a:r>
            <a:r>
              <a:rPr lang="en-US" dirty="0">
                <a:latin typeface="Monaco"/>
                <a:cs typeface="Monaco"/>
              </a:rPr>
              <a:t>&gt; </a:t>
            </a:r>
            <a:r>
              <a:rPr lang="en-US" dirty="0" err="1">
                <a:latin typeface="Monaco"/>
                <a:cs typeface="Monaco"/>
              </a:rPr>
              <a:t>PorterStemmer</a:t>
            </a:r>
            <a:r>
              <a:rPr lang="en-US" dirty="0" smtClean="0">
                <a:latin typeface="Monaco"/>
                <a:cs typeface="Monaco"/>
              </a:rPr>
              <a:t>(”wasting"</a:t>
            </a:r>
            <a:r>
              <a:rPr lang="en-US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res17: String = </a:t>
            </a:r>
            <a:r>
              <a:rPr lang="en-US" dirty="0" err="1" smtClean="0">
                <a:latin typeface="Monaco"/>
                <a:cs typeface="Monaco"/>
              </a:rPr>
              <a:t>wast</a:t>
            </a: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dirty="0" err="1">
                <a:latin typeface="Monaco"/>
                <a:cs typeface="Monaco"/>
              </a:rPr>
              <a:t>scala</a:t>
            </a:r>
            <a:r>
              <a:rPr lang="en-US" dirty="0">
                <a:latin typeface="Monaco"/>
                <a:cs typeface="Monaco"/>
              </a:rPr>
              <a:t>&gt; </a:t>
            </a:r>
            <a:r>
              <a:rPr lang="en-US" dirty="0" err="1">
                <a:latin typeface="Monaco"/>
                <a:cs typeface="Monaco"/>
              </a:rPr>
              <a:t>PorterStemmer</a:t>
            </a:r>
            <a:r>
              <a:rPr lang="en-US" dirty="0" smtClean="0">
                <a:latin typeface="Monaco"/>
                <a:cs typeface="Monaco"/>
              </a:rPr>
              <a:t>(”</a:t>
            </a:r>
            <a:r>
              <a:rPr lang="en-US" dirty="0" err="1" smtClean="0">
                <a:latin typeface="Monaco"/>
                <a:cs typeface="Monaco"/>
              </a:rPr>
              <a:t>wastetastic</a:t>
            </a:r>
            <a:r>
              <a:rPr lang="en-US" dirty="0" smtClean="0">
                <a:latin typeface="Monaco"/>
                <a:cs typeface="Monaco"/>
              </a:rPr>
              <a:t>"</a:t>
            </a:r>
            <a:r>
              <a:rPr lang="en-US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Monaco"/>
                <a:cs typeface="Monaco"/>
              </a:rPr>
              <a:t>res18: String = </a:t>
            </a:r>
            <a:r>
              <a:rPr lang="en-US" dirty="0" err="1" smtClean="0">
                <a:latin typeface="Monaco"/>
                <a:cs typeface="Monaco"/>
              </a:rPr>
              <a:t>wastetast</a:t>
            </a:r>
            <a:endParaRPr lang="en-US" dirty="0">
              <a:latin typeface="Monaco"/>
              <a:cs typeface="Monac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4583545"/>
            <a:ext cx="8328891" cy="2274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43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endParaRPr lang="en-US" sz="21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sealed </a:t>
            </a:r>
            <a:r>
              <a:rPr lang="en-US" sz="2100" dirty="0">
                <a:latin typeface="Monaco"/>
                <a:cs typeface="Monaco"/>
              </a:rPr>
              <a:t>trait Feature</a:t>
            </a: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case </a:t>
            </a:r>
            <a:r>
              <a:rPr lang="en-US" sz="2100" dirty="0">
                <a:latin typeface="Monaco"/>
                <a:cs typeface="Monaco"/>
              </a:rPr>
              <a:t>class </a:t>
            </a:r>
            <a:r>
              <a:rPr lang="en-US" sz="2100" dirty="0" err="1">
                <a:latin typeface="Monaco"/>
                <a:cs typeface="Monaco"/>
              </a:rPr>
              <a:t>WordFeature</a:t>
            </a:r>
            <a:r>
              <a:rPr lang="en-US" sz="2100" dirty="0">
                <a:latin typeface="Monaco"/>
                <a:cs typeface="Monaco"/>
              </a:rPr>
              <a:t>(w: String) extends Feature</a:t>
            </a: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case </a:t>
            </a:r>
            <a:r>
              <a:rPr lang="en-US" sz="2100" dirty="0">
                <a:latin typeface="Monaco"/>
                <a:cs typeface="Monaco"/>
              </a:rPr>
              <a:t>class </a:t>
            </a:r>
            <a:r>
              <a:rPr lang="en-US" sz="2100" dirty="0" err="1">
                <a:latin typeface="Monaco"/>
                <a:cs typeface="Monaco"/>
              </a:rPr>
              <a:t>StemFeature</a:t>
            </a:r>
            <a:r>
              <a:rPr lang="en-US" sz="2100" dirty="0">
                <a:latin typeface="Monaco"/>
                <a:cs typeface="Monaco"/>
              </a:rPr>
              <a:t>(w: String) extends </a:t>
            </a:r>
            <a:r>
              <a:rPr lang="en-US" sz="2100" dirty="0" smtClean="0">
                <a:latin typeface="Monaco"/>
                <a:cs typeface="Monaco"/>
              </a:rPr>
              <a:t>Feature</a:t>
            </a:r>
          </a:p>
          <a:p>
            <a:pPr marL="0" indent="0">
              <a:buNone/>
            </a:pP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/</a:t>
            </a:r>
            <a:r>
              <a:rPr lang="en-US" sz="2100" dirty="0">
                <a:latin typeface="Monaco"/>
                <a:cs typeface="Monaco"/>
              </a:rPr>
              <a:t>/ We're going to use </a:t>
            </a:r>
            <a:r>
              <a:rPr lang="en-US" sz="2100" dirty="0" err="1">
                <a:latin typeface="Monaco"/>
                <a:cs typeface="Monaco"/>
              </a:rPr>
              <a:t>SparseVector</a:t>
            </a:r>
            <a:r>
              <a:rPr lang="en-US" sz="2100" dirty="0">
                <a:latin typeface="Monaco"/>
                <a:cs typeface="Monaco"/>
              </a:rPr>
              <a:t> representations </a:t>
            </a:r>
            <a:endParaRPr lang="en-US" sz="21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// of </a:t>
            </a:r>
            <a:r>
              <a:rPr lang="en-US" sz="2100" dirty="0">
                <a:latin typeface="Monaco"/>
                <a:cs typeface="Monaco"/>
              </a:rPr>
              <a:t>documents.</a:t>
            </a: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/</a:t>
            </a:r>
            <a:r>
              <a:rPr lang="en-US" sz="2100" dirty="0">
                <a:latin typeface="Monaco"/>
                <a:cs typeface="Monaco"/>
              </a:rPr>
              <a:t>/ An Index </a:t>
            </a:r>
            <a:r>
              <a:rPr lang="en-US" sz="2100" dirty="0" smtClean="0">
                <a:latin typeface="Monaco"/>
                <a:cs typeface="Monaco"/>
              </a:rPr>
              <a:t>maps Features </a:t>
            </a:r>
            <a:r>
              <a:rPr lang="en-US" sz="2100" dirty="0">
                <a:latin typeface="Monaco"/>
                <a:cs typeface="Monaco"/>
              </a:rPr>
              <a:t>to </a:t>
            </a:r>
            <a:r>
              <a:rPr lang="en-US" sz="2100" dirty="0" err="1">
                <a:latin typeface="Monaco"/>
                <a:cs typeface="Monaco"/>
              </a:rPr>
              <a:t>Ints</a:t>
            </a:r>
            <a:r>
              <a:rPr lang="en-US" sz="2100" dirty="0">
                <a:latin typeface="Monaco"/>
                <a:cs typeface="Monaco"/>
              </a:rPr>
              <a:t> and back again.</a:t>
            </a:r>
          </a:p>
          <a:p>
            <a:pPr marL="0" indent="0">
              <a:buNone/>
            </a:pP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 err="1">
                <a:latin typeface="Monaco"/>
                <a:cs typeface="Monaco"/>
              </a:rPr>
              <a:t>featureIndex</a:t>
            </a:r>
            <a:r>
              <a:rPr lang="en-US" sz="2100" dirty="0">
                <a:latin typeface="Monaco"/>
                <a:cs typeface="Monaco"/>
              </a:rPr>
              <a:t> = Index[Feature]()</a:t>
            </a:r>
          </a:p>
        </p:txBody>
      </p:sp>
    </p:spTree>
    <p:extLst>
      <p:ext uri="{BB962C8B-B14F-4D97-AF65-F5344CB8AC3E}">
        <p14:creationId xmlns:p14="http://schemas.microsoft.com/office/powerpoint/2010/main" val="507479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Extract features for each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43000"/>
            <a:ext cx="8686801" cy="4983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100" dirty="0" err="1" smtClean="0">
                <a:latin typeface="Monaco"/>
                <a:cs typeface="Monaco"/>
              </a:rPr>
              <a:t>def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 err="1">
                <a:latin typeface="Monaco"/>
                <a:cs typeface="Monaco"/>
              </a:rPr>
              <a:t>extractFeatures</a:t>
            </a:r>
            <a:r>
              <a:rPr lang="en-US" sz="2100" dirty="0">
                <a:latin typeface="Monaco"/>
                <a:cs typeface="Monaco"/>
              </a:rPr>
              <a:t>(ex: Example[</a:t>
            </a:r>
            <a:r>
              <a:rPr lang="en-US" sz="2100" dirty="0" err="1">
                <a:latin typeface="Monaco"/>
                <a:cs typeface="Monaco"/>
              </a:rPr>
              <a:t>Int</a:t>
            </a:r>
            <a:r>
              <a:rPr lang="en-US" sz="2100" dirty="0" smtClean="0">
                <a:latin typeface="Monaco"/>
                <a:cs typeface="Monaco"/>
              </a:rPr>
              <a:t>, </a:t>
            </a:r>
            <a:r>
              <a:rPr lang="en-US" sz="2100" dirty="0" err="1" smtClean="0">
                <a:latin typeface="Monaco"/>
                <a:cs typeface="Monaco"/>
              </a:rPr>
              <a:t>ISeq</a:t>
            </a:r>
            <a:r>
              <a:rPr lang="en-US" sz="2100" dirty="0" smtClean="0">
                <a:latin typeface="Monaco"/>
                <a:cs typeface="Monaco"/>
              </a:rPr>
              <a:t>[</a:t>
            </a:r>
            <a:r>
              <a:rPr lang="en-US" sz="2100" dirty="0">
                <a:latin typeface="Monaco"/>
                <a:cs typeface="Monaco"/>
              </a:rPr>
              <a:t>String]]) =  {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</a:t>
            </a:r>
            <a:r>
              <a:rPr lang="en-US" sz="2100" dirty="0" err="1" smtClean="0">
                <a:latin typeface="Monaco"/>
                <a:cs typeface="Monaco"/>
              </a:rPr>
              <a:t>ex.map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>
                <a:latin typeface="Monaco"/>
                <a:cs typeface="Monaco"/>
              </a:rPr>
              <a:t>{ words =&gt;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>
                <a:latin typeface="Monaco"/>
                <a:cs typeface="Monaco"/>
              </a:rPr>
              <a:t>builder = new </a:t>
            </a:r>
            <a:r>
              <a:rPr lang="en-US" sz="2100" dirty="0" err="1">
                <a:latin typeface="Monaco"/>
                <a:cs typeface="Monaco"/>
              </a:rPr>
              <a:t>SparseVector.Builder</a:t>
            </a:r>
            <a:r>
              <a:rPr lang="en-US" sz="2100" dirty="0">
                <a:latin typeface="Monaco"/>
                <a:cs typeface="Monaco"/>
              </a:rPr>
              <a:t>[Double](</a:t>
            </a:r>
            <a:r>
              <a:rPr lang="en-US" sz="2100" dirty="0" err="1">
                <a:latin typeface="Monaco"/>
                <a:cs typeface="Monaco"/>
              </a:rPr>
              <a:t>Int.MaxValue</a:t>
            </a:r>
            <a:r>
              <a:rPr lang="en-US" sz="2100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smtClean="0">
                <a:latin typeface="Monaco"/>
                <a:cs typeface="Monaco"/>
              </a:rPr>
              <a:t>for</a:t>
            </a:r>
            <a:r>
              <a:rPr lang="en-US" sz="2100" dirty="0">
                <a:latin typeface="Monaco"/>
                <a:cs typeface="Monaco"/>
              </a:rPr>
              <a:t>(w &lt;- words) {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>
                <a:latin typeface="Monaco"/>
                <a:cs typeface="Monaco"/>
              </a:rPr>
              <a:t>fi = </a:t>
            </a:r>
            <a:r>
              <a:rPr lang="en-US" sz="2100" dirty="0" err="1">
                <a:latin typeface="Monaco"/>
                <a:cs typeface="Monaco"/>
              </a:rPr>
              <a:t>featureIndex.index</a:t>
            </a:r>
            <a:r>
              <a:rPr lang="en-US" sz="2100" dirty="0">
                <a:latin typeface="Monaco"/>
                <a:cs typeface="Monaco"/>
              </a:rPr>
              <a:t>(</a:t>
            </a:r>
            <a:r>
              <a:rPr lang="en-US" sz="2100" dirty="0" err="1">
                <a:latin typeface="Monaco"/>
                <a:cs typeface="Monaco"/>
              </a:rPr>
              <a:t>WordFeature</a:t>
            </a:r>
            <a:r>
              <a:rPr lang="en-US" sz="2100" dirty="0">
                <a:latin typeface="Monaco"/>
                <a:cs typeface="Monaco"/>
              </a:rPr>
              <a:t>(w)</a:t>
            </a:r>
            <a:r>
              <a:rPr lang="en-US" sz="2100" dirty="0" smtClean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 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s = </a:t>
            </a:r>
            <a:r>
              <a:rPr lang="en-US" sz="2100" dirty="0">
                <a:latin typeface="Monaco"/>
                <a:cs typeface="Monaco"/>
              </a:rPr>
              <a:t>stemmer(w)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</a:t>
            </a:r>
            <a:r>
              <a:rPr lang="en-US" sz="2100" dirty="0" err="1" smtClean="0">
                <a:latin typeface="Monaco"/>
                <a:cs typeface="Monaco"/>
              </a:rPr>
              <a:t>val</a:t>
            </a:r>
            <a:r>
              <a:rPr lang="en-US" sz="2100" dirty="0" smtClean="0">
                <a:latin typeface="Monaco"/>
                <a:cs typeface="Monaco"/>
              </a:rPr>
              <a:t> </a:t>
            </a:r>
            <a:r>
              <a:rPr lang="en-US" sz="2100" dirty="0" err="1">
                <a:latin typeface="Monaco"/>
                <a:cs typeface="Monaco"/>
              </a:rPr>
              <a:t>si</a:t>
            </a:r>
            <a:r>
              <a:rPr lang="en-US" sz="2100" dirty="0">
                <a:latin typeface="Monaco"/>
                <a:cs typeface="Monaco"/>
              </a:rPr>
              <a:t> = </a:t>
            </a:r>
            <a:r>
              <a:rPr lang="en-US" sz="2100" dirty="0" err="1">
                <a:latin typeface="Monaco"/>
                <a:cs typeface="Monaco"/>
              </a:rPr>
              <a:t>featureIndex.index</a:t>
            </a:r>
            <a:r>
              <a:rPr lang="en-US" sz="2100" dirty="0">
                <a:latin typeface="Monaco"/>
                <a:cs typeface="Monaco"/>
              </a:rPr>
              <a:t>(</a:t>
            </a:r>
            <a:r>
              <a:rPr lang="en-US" sz="2100" dirty="0" err="1">
                <a:latin typeface="Monaco"/>
                <a:cs typeface="Monaco"/>
              </a:rPr>
              <a:t>StemFeature</a:t>
            </a:r>
            <a:r>
              <a:rPr lang="en-US" sz="2100" dirty="0" smtClean="0">
                <a:latin typeface="Monaco"/>
                <a:cs typeface="Monaco"/>
              </a:rPr>
              <a:t>(s)</a:t>
            </a:r>
            <a:r>
              <a:rPr lang="en-US" sz="2100" dirty="0">
                <a:latin typeface="Monaco"/>
                <a:cs typeface="Monaco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</a:t>
            </a:r>
            <a:r>
              <a:rPr lang="en-US" sz="2100" dirty="0" err="1" smtClean="0">
                <a:latin typeface="Monaco"/>
                <a:cs typeface="Monaco"/>
              </a:rPr>
              <a:t>builder.add</a:t>
            </a:r>
            <a:r>
              <a:rPr lang="en-US" sz="2100" dirty="0">
                <a:latin typeface="Monaco"/>
                <a:cs typeface="Monaco"/>
              </a:rPr>
              <a:t>(fi, 1.0)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</a:t>
            </a:r>
            <a:r>
              <a:rPr lang="en-US" sz="2100" dirty="0" err="1" smtClean="0">
                <a:latin typeface="Monaco"/>
                <a:cs typeface="Monaco"/>
              </a:rPr>
              <a:t>builder.add</a:t>
            </a:r>
            <a:r>
              <a:rPr lang="en-US" sz="2100" dirty="0">
                <a:latin typeface="Monaco"/>
                <a:cs typeface="Monaco"/>
              </a:rPr>
              <a:t>(</a:t>
            </a:r>
            <a:r>
              <a:rPr lang="en-US" sz="2100" dirty="0" err="1">
                <a:latin typeface="Monaco"/>
                <a:cs typeface="Monaco"/>
              </a:rPr>
              <a:t>si</a:t>
            </a:r>
            <a:r>
              <a:rPr lang="en-US" sz="2100" dirty="0">
                <a:latin typeface="Monaco"/>
                <a:cs typeface="Monaco"/>
              </a:rPr>
              <a:t>, 1.0)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smtClean="0">
                <a:latin typeface="Monaco"/>
                <a:cs typeface="Monaco"/>
              </a:rPr>
              <a:t>}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smtClean="0">
                <a:latin typeface="Monaco"/>
                <a:cs typeface="Monaco"/>
              </a:rPr>
              <a:t>builder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</a:t>
            </a:r>
            <a:r>
              <a:rPr lang="en-US" sz="2100" dirty="0" smtClean="0">
                <a:latin typeface="Monaco"/>
                <a:cs typeface="Monaco"/>
              </a:rPr>
              <a:t>}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 smtClean="0">
                <a:latin typeface="Monaco"/>
                <a:cs typeface="Monaco"/>
              </a:rPr>
              <a:t>}</a:t>
            </a:r>
            <a:endParaRPr lang="en-US" sz="21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5479095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Extract features for each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33342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err="1">
                <a:latin typeface="Monaco"/>
                <a:cs typeface="Monaco"/>
              </a:rPr>
              <a:t>val</a:t>
            </a: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err="1" smtClean="0">
                <a:latin typeface="Monaco"/>
                <a:cs typeface="Monaco"/>
              </a:rPr>
              <a:t>extractedData</a:t>
            </a:r>
            <a:r>
              <a:rPr lang="en-US" sz="2100" dirty="0" smtClean="0">
                <a:latin typeface="Monaco"/>
                <a:cs typeface="Monaco"/>
              </a:rPr>
              <a:t> = (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data 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map</a:t>
            </a:r>
            <a:r>
              <a:rPr lang="en-US" sz="2100" dirty="0">
                <a:latin typeface="Monaco"/>
                <a:cs typeface="Monaco"/>
              </a:rPr>
              <a:t>(</a:t>
            </a:r>
            <a:r>
              <a:rPr lang="en-US" sz="2100" dirty="0" err="1">
                <a:latin typeface="Monaco"/>
                <a:cs typeface="Monaco"/>
              </a:rPr>
              <a:t>extractFeatures</a:t>
            </a:r>
            <a:r>
              <a:rPr lang="en-US" sz="2100" dirty="0" smtClean="0">
                <a:latin typeface="Monaco"/>
                <a:cs typeface="Monaco"/>
              </a:rPr>
              <a:t>) 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</a:t>
            </a:r>
            <a:r>
              <a:rPr lang="en-US" sz="2100" dirty="0" smtClean="0">
                <a:latin typeface="Monaco"/>
                <a:cs typeface="Monaco"/>
              </a:rPr>
              <a:t>   map { ex =&gt;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</a:t>
            </a:r>
            <a:r>
              <a:rPr lang="en-US" sz="2100" dirty="0" err="1">
                <a:latin typeface="Monaco"/>
                <a:cs typeface="Monaco"/>
              </a:rPr>
              <a:t>ex.map</a:t>
            </a:r>
            <a:r>
              <a:rPr lang="en-US" sz="2100" dirty="0">
                <a:latin typeface="Monaco"/>
                <a:cs typeface="Monaco"/>
              </a:rPr>
              <a:t>{ builder =&gt;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  </a:t>
            </a:r>
            <a:r>
              <a:rPr lang="en-US" sz="2100" dirty="0" err="1">
                <a:latin typeface="Monaco"/>
                <a:cs typeface="Monaco"/>
              </a:rPr>
              <a:t>builder.dim</a:t>
            </a:r>
            <a:r>
              <a:rPr lang="en-US" sz="2100" dirty="0">
                <a:latin typeface="Monaco"/>
                <a:cs typeface="Monaco"/>
              </a:rPr>
              <a:t> = </a:t>
            </a:r>
            <a:r>
              <a:rPr lang="en-US" sz="2100" dirty="0" err="1">
                <a:latin typeface="Monaco"/>
                <a:cs typeface="Monaco"/>
              </a:rPr>
              <a:t>featureIndex.size</a:t>
            </a:r>
            <a:endParaRPr lang="en-US" sz="2100" dirty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  </a:t>
            </a:r>
            <a:r>
              <a:rPr lang="en-US" sz="2100" dirty="0" err="1">
                <a:latin typeface="Monaco"/>
                <a:cs typeface="Monaco"/>
              </a:rPr>
              <a:t>builder.result</a:t>
            </a:r>
            <a:r>
              <a:rPr lang="en-US" sz="2100" dirty="0">
                <a:latin typeface="Monaco"/>
                <a:cs typeface="Monaco"/>
              </a:rPr>
              <a:t>()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  }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    </a:t>
            </a:r>
            <a:r>
              <a:rPr lang="en-US" sz="2100" dirty="0" smtClean="0">
                <a:latin typeface="Monaco"/>
                <a:cs typeface="Monaco"/>
              </a:rPr>
              <a:t>}</a:t>
            </a:r>
          </a:p>
          <a:p>
            <a:pPr marL="0" indent="0">
              <a:buNone/>
            </a:pPr>
            <a:r>
              <a:rPr lang="en-US" sz="2100" dirty="0">
                <a:latin typeface="Monaco"/>
                <a:cs typeface="Monaco"/>
              </a:rPr>
              <a:t>)</a:t>
            </a:r>
            <a:endParaRPr lang="en-US" sz="2100" dirty="0" smtClean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3988306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Build the classifier!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val</a:t>
            </a:r>
            <a:r>
              <a:rPr lang="en-US" sz="2400" dirty="0" smtClean="0"/>
              <a:t> (train, test) = </a:t>
            </a:r>
            <a:r>
              <a:rPr lang="en-US" sz="2400" dirty="0" err="1" smtClean="0"/>
              <a:t>splitData</a:t>
            </a:r>
            <a:r>
              <a:rPr lang="en-US" sz="2400" dirty="0" smtClean="0"/>
              <a:t>(</a:t>
            </a:r>
            <a:r>
              <a:rPr lang="en-US" sz="2400" dirty="0" err="1" smtClean="0"/>
              <a:t>extractedData</a:t>
            </a:r>
            <a:r>
              <a:rPr lang="en-US" sz="2400" dirty="0" smtClean="0"/>
              <a:t>)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 smtClean="0"/>
              <a:t>val</a:t>
            </a:r>
            <a:r>
              <a:rPr lang="en-US" sz="2400" dirty="0" smtClean="0"/>
              <a:t> </a:t>
            </a:r>
            <a:r>
              <a:rPr lang="en-US" sz="2400" dirty="0"/>
              <a:t>opt = </a:t>
            </a:r>
            <a:r>
              <a:rPr lang="en-US" sz="2400" dirty="0" err="1"/>
              <a:t>OptParams</a:t>
            </a:r>
            <a:r>
              <a:rPr lang="en-US" sz="2400" dirty="0"/>
              <a:t>(</a:t>
            </a:r>
            <a:r>
              <a:rPr lang="en-US" sz="2400" dirty="0" err="1"/>
              <a:t>maxIterations</a:t>
            </a:r>
            <a:r>
              <a:rPr lang="en-US" sz="2400" dirty="0"/>
              <a:t>=60</a:t>
            </a:r>
            <a:r>
              <a:rPr lang="en-US" sz="2400" dirty="0" smtClean="0"/>
              <a:t>,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</a:t>
            </a:r>
            <a:r>
              <a:rPr lang="en-US" sz="2400" dirty="0" err="1" smtClean="0"/>
              <a:t>useStochastic</a:t>
            </a:r>
            <a:r>
              <a:rPr lang="en-US" sz="2400" dirty="0"/>
              <a:t>=false</a:t>
            </a:r>
            <a:r>
              <a:rPr lang="en-US" sz="2400" dirty="0" smtClean="0"/>
              <a:t>,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useL1</a:t>
            </a:r>
            <a:r>
              <a:rPr lang="en-US" sz="2400" dirty="0"/>
              <a:t>=true</a:t>
            </a:r>
            <a:r>
              <a:rPr lang="en-US" sz="2400" dirty="0" smtClean="0"/>
              <a:t>) // L1 regularization gives a sparse model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 smtClean="0"/>
              <a:t>val</a:t>
            </a:r>
            <a:r>
              <a:rPr lang="en-US" sz="2400" dirty="0" smtClean="0"/>
              <a:t> </a:t>
            </a:r>
            <a:r>
              <a:rPr lang="en-US" sz="2400" dirty="0"/>
              <a:t>classifier = new </a:t>
            </a:r>
            <a:r>
              <a:rPr lang="en-US" sz="2400" dirty="0" err="1"/>
              <a:t>LogisticClassifier.Trainer</a:t>
            </a:r>
            <a:r>
              <a:rPr lang="en-US" sz="2400" dirty="0"/>
              <a:t>[</a:t>
            </a:r>
            <a:r>
              <a:rPr lang="en-US" sz="2400" dirty="0" err="1"/>
              <a:t>Int</a:t>
            </a:r>
            <a:r>
              <a:rPr lang="en-US" sz="2400" dirty="0"/>
              <a:t>, </a:t>
            </a:r>
            <a:r>
              <a:rPr lang="en-US" sz="2400" dirty="0" err="1"/>
              <a:t>SparseVector</a:t>
            </a:r>
            <a:r>
              <a:rPr lang="en-US" sz="2400" dirty="0"/>
              <a:t>[Double]](opt</a:t>
            </a:r>
            <a:r>
              <a:rPr lang="en-US" sz="2400" dirty="0" smtClean="0"/>
              <a:t>).</a:t>
            </a:r>
            <a:r>
              <a:rPr lang="en-US" sz="2400" dirty="0"/>
              <a:t>train(train)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 smtClean="0"/>
              <a:t>val</a:t>
            </a:r>
            <a:r>
              <a:rPr lang="en-US" sz="2400" dirty="0" smtClean="0"/>
              <a:t> </a:t>
            </a:r>
            <a:r>
              <a:rPr lang="en-US" sz="2400" dirty="0"/>
              <a:t>stats = </a:t>
            </a:r>
            <a:r>
              <a:rPr lang="en-US" sz="2400" dirty="0" err="1"/>
              <a:t>ContingencyStats</a:t>
            </a:r>
            <a:r>
              <a:rPr lang="en-US" sz="2400" dirty="0"/>
              <a:t>(classifier</a:t>
            </a:r>
            <a:r>
              <a:rPr lang="en-US" sz="2400" dirty="0" smtClean="0"/>
              <a:t>, test)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 smtClean="0"/>
              <a:t>println</a:t>
            </a:r>
            <a:r>
              <a:rPr lang="en-US" sz="2400" dirty="0"/>
              <a:t>(stats)</a:t>
            </a:r>
          </a:p>
        </p:txBody>
      </p:sp>
    </p:spTree>
    <p:extLst>
      <p:ext uri="{BB962C8B-B14F-4D97-AF65-F5344CB8AC3E}">
        <p14:creationId xmlns:p14="http://schemas.microsoft.com/office/powerpoint/2010/main" val="1826759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Top weights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(bad) </a:t>
            </a:r>
            <a:r>
              <a:rPr lang="en-US" sz="2400" dirty="0" smtClean="0"/>
              <a:t>0.22554878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(bad) </a:t>
            </a:r>
            <a:r>
              <a:rPr lang="en-US" sz="2400" dirty="0" smtClean="0"/>
              <a:t>0.22435212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</a:t>
            </a:r>
            <a:r>
              <a:rPr lang="en-US" sz="2400" dirty="0" err="1"/>
              <a:t>wast</a:t>
            </a:r>
            <a:r>
              <a:rPr lang="en-US" sz="2400" dirty="0"/>
              <a:t>) </a:t>
            </a:r>
            <a:r>
              <a:rPr lang="en-US" sz="2400" dirty="0" smtClean="0"/>
              <a:t>0.1472285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(look) </a:t>
            </a:r>
            <a:r>
              <a:rPr lang="en-US" sz="2400" dirty="0" smtClean="0"/>
              <a:t>0.14148404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(worst) </a:t>
            </a:r>
            <a:r>
              <a:rPr lang="en-US" sz="2400" dirty="0" smtClean="0"/>
              <a:t>0.138328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(worst) </a:t>
            </a:r>
            <a:r>
              <a:rPr lang="en-US" sz="2400" dirty="0" smtClean="0"/>
              <a:t>0.138328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(attempt) </a:t>
            </a:r>
            <a:r>
              <a:rPr lang="en-US" sz="2400" dirty="0" smtClean="0"/>
              <a:t>0.13563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(bore) </a:t>
            </a:r>
            <a:r>
              <a:rPr lang="en-US" sz="2400" dirty="0" smtClean="0"/>
              <a:t>0.1226431</a:t>
            </a:r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(only) </a:t>
            </a:r>
            <a:r>
              <a:rPr lang="en-US" sz="2400" dirty="0" smtClean="0"/>
              <a:t>0.116272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</a:t>
            </a:r>
            <a:r>
              <a:rPr lang="en-US" sz="2400" dirty="0" err="1"/>
              <a:t>onli</a:t>
            </a:r>
            <a:r>
              <a:rPr lang="en-US" sz="2400" dirty="0"/>
              <a:t>) </a:t>
            </a:r>
            <a:r>
              <a:rPr lang="en-US" sz="2400" dirty="0" smtClean="0"/>
              <a:t>0.116272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 smtClean="0"/>
              <a:t>StemFeature</a:t>
            </a:r>
            <a:r>
              <a:rPr lang="en-US" sz="2400" dirty="0"/>
              <a:t>(plot) </a:t>
            </a:r>
            <a:r>
              <a:rPr lang="en-US" sz="2400" dirty="0" smtClean="0"/>
              <a:t>0.1162459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(unfortunately) </a:t>
            </a:r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(see) -</a:t>
            </a:r>
            <a:r>
              <a:rPr lang="en-US" sz="2400" dirty="0" smtClean="0"/>
              <a:t>0.11374918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</a:t>
            </a:r>
            <a:r>
              <a:rPr lang="en-US" sz="2400" dirty="0" smtClean="0"/>
              <a:t>nothing) 0.1134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</a:t>
            </a:r>
            <a:r>
              <a:rPr lang="en-US" sz="2400" dirty="0" err="1"/>
              <a:t>noth</a:t>
            </a:r>
            <a:r>
              <a:rPr lang="en-US" sz="2400" dirty="0"/>
              <a:t>) </a:t>
            </a:r>
            <a:r>
              <a:rPr lang="en-US" sz="2400" dirty="0" smtClean="0"/>
              <a:t>0.113431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(seen) -</a:t>
            </a:r>
            <a:r>
              <a:rPr lang="en-US" sz="2400" dirty="0" smtClean="0"/>
              <a:t>0.11184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(seen) -</a:t>
            </a:r>
            <a:r>
              <a:rPr lang="en-US" sz="2400" dirty="0" smtClean="0"/>
              <a:t>0.1118435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WordFeature</a:t>
            </a:r>
            <a:r>
              <a:rPr lang="en-US" sz="2400" dirty="0"/>
              <a:t>(great) -</a:t>
            </a:r>
            <a:r>
              <a:rPr lang="en-US" sz="2400" dirty="0" smtClean="0"/>
              <a:t>0.10769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</a:t>
            </a:r>
            <a:r>
              <a:rPr lang="en-US" sz="2400" dirty="0" err="1"/>
              <a:t>suppos</a:t>
            </a:r>
            <a:r>
              <a:rPr lang="en-US" sz="2400" dirty="0"/>
              <a:t>) </a:t>
            </a:r>
            <a:r>
              <a:rPr lang="en-US" sz="2400" dirty="0" smtClean="0"/>
              <a:t>0.10752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StemFeature</a:t>
            </a:r>
            <a:r>
              <a:rPr lang="en-US" sz="2400" dirty="0"/>
              <a:t>(great) -</a:t>
            </a:r>
            <a:r>
              <a:rPr lang="en-US" sz="2400" dirty="0" smtClean="0"/>
              <a:t>0.107476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79554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Breeze: What’s Next?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Improved tokenization, segmentation</a:t>
            </a:r>
          </a:p>
          <a:p>
            <a:r>
              <a:rPr lang="en-US" dirty="0" smtClean="0"/>
              <a:t>Cross-lingual stuff</a:t>
            </a:r>
          </a:p>
          <a:p>
            <a:r>
              <a:rPr lang="en-US" dirty="0" smtClean="0"/>
              <a:t>GPU matrices (via </a:t>
            </a:r>
            <a:r>
              <a:rPr lang="en-US" dirty="0" err="1" smtClean="0"/>
              <a:t>JavaCL</a:t>
            </a:r>
            <a:r>
              <a:rPr lang="en-US" dirty="0" smtClean="0"/>
              <a:t> or JCUDA)</a:t>
            </a:r>
          </a:p>
          <a:p>
            <a:r>
              <a:rPr lang="en-US" dirty="0" smtClean="0"/>
              <a:t>More powerful/customizable classification routines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Epic: platform for “real NLP”</a:t>
            </a:r>
          </a:p>
          <a:p>
            <a:pPr lvl="1"/>
            <a:r>
              <a:rPr lang="en-US" dirty="0" smtClean="0"/>
              <a:t>Parsing, Named Entity Recognition,</a:t>
            </a:r>
            <a:br>
              <a:rPr lang="en-US" dirty="0" smtClean="0"/>
            </a:br>
            <a:r>
              <a:rPr lang="en-US" dirty="0" smtClean="0"/>
              <a:t>POS Tagging, etc.</a:t>
            </a:r>
          </a:p>
          <a:p>
            <a:pPr lvl="1"/>
            <a:r>
              <a:rPr lang="en-US" dirty="0" smtClean="0"/>
              <a:t>Hall and Klein (2012)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399" y="4217047"/>
            <a:ext cx="1909116" cy="190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31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2333408"/>
            <a:ext cx="9144000" cy="688975"/>
          </a:xfrm>
        </p:spPr>
        <p:txBody>
          <a:bodyPr>
            <a:noAutofit/>
          </a:bodyPr>
          <a:lstStyle/>
          <a:p>
            <a:pPr algn="ctr"/>
            <a:r>
              <a:rPr lang="en-US" sz="5000" dirty="0" smtClean="0"/>
              <a:t>Thanks!</a:t>
            </a:r>
            <a:endParaRPr lang="en-US" sz="5000" dirty="0"/>
          </a:p>
        </p:txBody>
      </p:sp>
      <p:sp>
        <p:nvSpPr>
          <p:cNvPr id="6" name="Rectangle 5"/>
          <p:cNvSpPr/>
          <p:nvPr/>
        </p:nvSpPr>
        <p:spPr>
          <a:xfrm>
            <a:off x="1754114" y="3941184"/>
            <a:ext cx="5625458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https://</a:t>
            </a:r>
            <a:r>
              <a:rPr lang="en-US" sz="3200" dirty="0" err="1"/>
              <a:t>github.com</a:t>
            </a:r>
            <a:r>
              <a:rPr lang="en-US" sz="3200" dirty="0"/>
              <a:t>/</a:t>
            </a:r>
            <a:r>
              <a:rPr lang="en-US" sz="3200" dirty="0" err="1"/>
              <a:t>dlwh</a:t>
            </a:r>
            <a:r>
              <a:rPr lang="en-US" sz="3200" dirty="0"/>
              <a:t>/breeze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289" y="4838209"/>
            <a:ext cx="3305913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/>
              <a:t>http://</a:t>
            </a:r>
            <a:r>
              <a:rPr lang="en-US" sz="3200" dirty="0" err="1" smtClean="0"/>
              <a:t>scalanlp.org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845840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 really, who is Breeze?</a:t>
            </a:r>
            <a:endParaRPr lang="en-US" dirty="0"/>
          </a:p>
        </p:txBody>
      </p:sp>
      <p:pic>
        <p:nvPicPr>
          <p:cNvPr id="5" name="Picture 4" descr="breeze-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105377"/>
            <a:ext cx="7802880" cy="54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47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nlp-berkel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nlp-berkeley.potx</Template>
  <TotalTime>3489</TotalTime>
  <Words>3874</Words>
  <Application>Microsoft Macintosh PowerPoint</Application>
  <PresentationFormat>On-screen Show (4:3)</PresentationFormat>
  <Paragraphs>691</Paragraphs>
  <Slides>86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7" baseType="lpstr">
      <vt:lpstr>nlp-berkeley</vt:lpstr>
      <vt:lpstr>NLP and ML in Scala with Breeze</vt:lpstr>
      <vt:lpstr>What Is Breeze?</vt:lpstr>
      <vt:lpstr>What Is Breeze?</vt:lpstr>
      <vt:lpstr>What Is Breeze?</vt:lpstr>
      <vt:lpstr>What Is Breeze?</vt:lpstr>
      <vt:lpstr>What Is Breeze?</vt:lpstr>
      <vt:lpstr>What are Breeze’s goals?</vt:lpstr>
      <vt:lpstr>This talk</vt:lpstr>
      <vt:lpstr>PowerPoint Presentation</vt:lpstr>
      <vt:lpstr>Static vs. Dynamic languages</vt:lpstr>
      <vt:lpstr>Scala</vt:lpstr>
      <vt:lpstr>PowerPoint Presentation</vt:lpstr>
      <vt:lpstr>Concise: Type inference</vt:lpstr>
      <vt:lpstr>Concise: Type inference</vt:lpstr>
      <vt:lpstr>Concise: Type inference</vt:lpstr>
      <vt:lpstr>Concise: Type inference</vt:lpstr>
      <vt:lpstr>Verbose: Manual Loops</vt:lpstr>
      <vt:lpstr>Concise, More Expressive</vt:lpstr>
      <vt:lpstr>Concise, More Expressive</vt:lpstr>
      <vt:lpstr>Verbose, Less Expressive</vt:lpstr>
      <vt:lpstr>Concise, More Expressive</vt:lpstr>
      <vt:lpstr>Concise, More Expressive</vt:lpstr>
      <vt:lpstr>Concise, More Expressive</vt:lpstr>
      <vt:lpstr>PowerPoint Presentation</vt:lpstr>
      <vt:lpstr>Verbose, Less Expressive</vt:lpstr>
      <vt:lpstr>Concise, More Expressive</vt:lpstr>
      <vt:lpstr>Scala: Ugly Python</vt:lpstr>
      <vt:lpstr>Scala: Ugly Python</vt:lpstr>
      <vt:lpstr>Scala: Ugly Python</vt:lpstr>
      <vt:lpstr>Scala: Ugly Python?</vt:lpstr>
      <vt:lpstr>Scala: Ugly Python</vt:lpstr>
      <vt:lpstr>Scala: Fast Pretty Python</vt:lpstr>
      <vt:lpstr>Scala: Fast Pretty Python</vt:lpstr>
      <vt:lpstr>Scala: Performant, Concise, Fun</vt:lpstr>
      <vt:lpstr>Scala: Some Downsides</vt:lpstr>
      <vt:lpstr>Learn more about Scala</vt:lpstr>
      <vt:lpstr>PowerPoint Presentation</vt:lpstr>
      <vt:lpstr>Getting started</vt:lpstr>
      <vt:lpstr>Breeze-Math</vt:lpstr>
      <vt:lpstr>Linear Algebra</vt:lpstr>
      <vt:lpstr>Linear Algebra: Return type selection</vt:lpstr>
      <vt:lpstr>Linear Algebra: Slices</vt:lpstr>
      <vt:lpstr>Linear Algebra: Slices</vt:lpstr>
      <vt:lpstr>UFuncs</vt:lpstr>
      <vt:lpstr>UFuncs: Implementation</vt:lpstr>
      <vt:lpstr>UFuncs: Implementation</vt:lpstr>
      <vt:lpstr>URFuncs</vt:lpstr>
      <vt:lpstr>URFuncs: the magic</vt:lpstr>
      <vt:lpstr>URFuncs: the magic</vt:lpstr>
      <vt:lpstr>Breeze-Viz</vt:lpstr>
      <vt:lpstr>Breeze-Viz</vt:lpstr>
      <vt:lpstr>Plotting</vt:lpstr>
      <vt:lpstr>Plotting</vt:lpstr>
      <vt:lpstr>Plotting</vt:lpstr>
      <vt:lpstr>Plotting</vt:lpstr>
      <vt:lpstr>Breeze-Learn</vt:lpstr>
      <vt:lpstr>Breeze-Learn</vt:lpstr>
      <vt:lpstr>Breeze-Learn</vt:lpstr>
      <vt:lpstr>Optimize</vt:lpstr>
      <vt:lpstr>Optimize</vt:lpstr>
      <vt:lpstr>Optimize</vt:lpstr>
      <vt:lpstr>Optimize</vt:lpstr>
      <vt:lpstr>Optimize</vt:lpstr>
      <vt:lpstr>Breeze-Learn</vt:lpstr>
      <vt:lpstr>Breeze-Learn</vt:lpstr>
      <vt:lpstr>Breeze-Learn</vt:lpstr>
      <vt:lpstr>Breeze-Learn</vt:lpstr>
      <vt:lpstr>Breeze-Learn</vt:lpstr>
      <vt:lpstr>Let’s build something…</vt:lpstr>
      <vt:lpstr>Anatomy of a Classifier</vt:lpstr>
      <vt:lpstr>Anatomy of a Classifier</vt:lpstr>
      <vt:lpstr>Anatomy of a Classifier</vt:lpstr>
      <vt:lpstr>Anatomy of a Classifier</vt:lpstr>
      <vt:lpstr>Let’s build something…</vt:lpstr>
      <vt:lpstr>Parsing command line options</vt:lpstr>
      <vt:lpstr>Reading in data</vt:lpstr>
      <vt:lpstr>Some useful processing stuff:</vt:lpstr>
      <vt:lpstr>Porter stemmer examples</vt:lpstr>
      <vt:lpstr>Some features</vt:lpstr>
      <vt:lpstr>Extract features for each example</vt:lpstr>
      <vt:lpstr>Extract features for each example</vt:lpstr>
      <vt:lpstr>Build the classifier!</vt:lpstr>
      <vt:lpstr>Top weights</vt:lpstr>
      <vt:lpstr>Breeze: What’s Next?</vt:lpstr>
      <vt:lpstr>Thanks!</vt:lpstr>
      <vt:lpstr>No really, who is Breeze?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Hall</dc:creator>
  <cp:lastModifiedBy>David Hall</cp:lastModifiedBy>
  <cp:revision>418</cp:revision>
  <dcterms:created xsi:type="dcterms:W3CDTF">2010-07-02T23:13:47Z</dcterms:created>
  <dcterms:modified xsi:type="dcterms:W3CDTF">2012-10-01T06:52:07Z</dcterms:modified>
</cp:coreProperties>
</file>