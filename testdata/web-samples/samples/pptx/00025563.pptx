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doc" ContentType="application/msword"/>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836" r:id="rId1"/>
  </p:sldMasterIdLst>
  <p:notesMasterIdLst>
    <p:notesMasterId r:id="rId53"/>
  </p:notesMasterIdLst>
  <p:handoutMasterIdLst>
    <p:handoutMasterId r:id="rId54"/>
  </p:handoutMasterIdLst>
  <p:sldIdLst>
    <p:sldId id="256" r:id="rId2"/>
    <p:sldId id="398" r:id="rId3"/>
    <p:sldId id="329" r:id="rId4"/>
    <p:sldId id="337" r:id="rId5"/>
    <p:sldId id="402" r:id="rId6"/>
    <p:sldId id="356" r:id="rId7"/>
    <p:sldId id="351" r:id="rId8"/>
    <p:sldId id="297" r:id="rId9"/>
    <p:sldId id="364" r:id="rId10"/>
    <p:sldId id="352" r:id="rId11"/>
    <p:sldId id="361" r:id="rId12"/>
    <p:sldId id="371" r:id="rId13"/>
    <p:sldId id="406" r:id="rId14"/>
    <p:sldId id="362" r:id="rId15"/>
    <p:sldId id="363" r:id="rId16"/>
    <p:sldId id="373" r:id="rId17"/>
    <p:sldId id="372" r:id="rId18"/>
    <p:sldId id="366" r:id="rId19"/>
    <p:sldId id="367" r:id="rId20"/>
    <p:sldId id="368" r:id="rId21"/>
    <p:sldId id="365" r:id="rId22"/>
    <p:sldId id="349" r:id="rId23"/>
    <p:sldId id="403" r:id="rId24"/>
    <p:sldId id="376" r:id="rId25"/>
    <p:sldId id="378" r:id="rId26"/>
    <p:sldId id="407" r:id="rId27"/>
    <p:sldId id="379" r:id="rId28"/>
    <p:sldId id="380" r:id="rId29"/>
    <p:sldId id="381" r:id="rId30"/>
    <p:sldId id="383" r:id="rId31"/>
    <p:sldId id="384" r:id="rId32"/>
    <p:sldId id="409" r:id="rId33"/>
    <p:sldId id="410" r:id="rId34"/>
    <p:sldId id="411" r:id="rId35"/>
    <p:sldId id="412" r:id="rId36"/>
    <p:sldId id="413" r:id="rId37"/>
    <p:sldId id="414" r:id="rId38"/>
    <p:sldId id="385" r:id="rId39"/>
    <p:sldId id="396" r:id="rId40"/>
    <p:sldId id="388" r:id="rId41"/>
    <p:sldId id="389" r:id="rId42"/>
    <p:sldId id="405" r:id="rId43"/>
    <p:sldId id="390" r:id="rId44"/>
    <p:sldId id="391" r:id="rId45"/>
    <p:sldId id="392" r:id="rId46"/>
    <p:sldId id="408" r:id="rId47"/>
    <p:sldId id="393" r:id="rId48"/>
    <p:sldId id="394" r:id="rId49"/>
    <p:sldId id="395" r:id="rId50"/>
    <p:sldId id="404" r:id="rId51"/>
    <p:sldId id="400" r:id="rId52"/>
  </p:sldIdLst>
  <p:sldSz cx="9144000" cy="6858000" type="screen4x3"/>
  <p:notesSz cx="7023100" cy="9309100"/>
  <p:defaultTextStyle>
    <a:defPPr>
      <a:defRPr lang="en-US"/>
    </a:defPPr>
    <a:lvl1pPr algn="l" rtl="0" fontAlgn="base">
      <a:spcBef>
        <a:spcPct val="0"/>
      </a:spcBef>
      <a:spcAft>
        <a:spcPct val="0"/>
      </a:spcAft>
      <a:defRPr sz="2000" i="1" kern="1200">
        <a:solidFill>
          <a:schemeClr val="tx1"/>
        </a:solidFill>
        <a:latin typeface="Arial" charset="0"/>
        <a:ea typeface="+mn-ea"/>
        <a:cs typeface="+mn-cs"/>
      </a:defRPr>
    </a:lvl1pPr>
    <a:lvl2pPr marL="457200" algn="l" rtl="0" fontAlgn="base">
      <a:spcBef>
        <a:spcPct val="0"/>
      </a:spcBef>
      <a:spcAft>
        <a:spcPct val="0"/>
      </a:spcAft>
      <a:defRPr sz="2000" i="1" kern="1200">
        <a:solidFill>
          <a:schemeClr val="tx1"/>
        </a:solidFill>
        <a:latin typeface="Arial" charset="0"/>
        <a:ea typeface="+mn-ea"/>
        <a:cs typeface="+mn-cs"/>
      </a:defRPr>
    </a:lvl2pPr>
    <a:lvl3pPr marL="914400" algn="l" rtl="0" fontAlgn="base">
      <a:spcBef>
        <a:spcPct val="0"/>
      </a:spcBef>
      <a:spcAft>
        <a:spcPct val="0"/>
      </a:spcAft>
      <a:defRPr sz="2000" i="1" kern="1200">
        <a:solidFill>
          <a:schemeClr val="tx1"/>
        </a:solidFill>
        <a:latin typeface="Arial" charset="0"/>
        <a:ea typeface="+mn-ea"/>
        <a:cs typeface="+mn-cs"/>
      </a:defRPr>
    </a:lvl3pPr>
    <a:lvl4pPr marL="1371600" algn="l" rtl="0" fontAlgn="base">
      <a:spcBef>
        <a:spcPct val="0"/>
      </a:spcBef>
      <a:spcAft>
        <a:spcPct val="0"/>
      </a:spcAft>
      <a:defRPr sz="2000" i="1" kern="1200">
        <a:solidFill>
          <a:schemeClr val="tx1"/>
        </a:solidFill>
        <a:latin typeface="Arial" charset="0"/>
        <a:ea typeface="+mn-ea"/>
        <a:cs typeface="+mn-cs"/>
      </a:defRPr>
    </a:lvl4pPr>
    <a:lvl5pPr marL="1828800" algn="l" rtl="0" fontAlgn="base">
      <a:spcBef>
        <a:spcPct val="0"/>
      </a:spcBef>
      <a:spcAft>
        <a:spcPct val="0"/>
      </a:spcAft>
      <a:defRPr sz="2000" i="1" kern="1200">
        <a:solidFill>
          <a:schemeClr val="tx1"/>
        </a:solidFill>
        <a:latin typeface="Arial" charset="0"/>
        <a:ea typeface="+mn-ea"/>
        <a:cs typeface="+mn-cs"/>
      </a:defRPr>
    </a:lvl5pPr>
    <a:lvl6pPr marL="2286000" algn="l" defTabSz="914400" rtl="0" eaLnBrk="1" latinLnBrk="0" hangingPunct="1">
      <a:defRPr sz="2000" i="1" kern="1200">
        <a:solidFill>
          <a:schemeClr val="tx1"/>
        </a:solidFill>
        <a:latin typeface="Arial" charset="0"/>
        <a:ea typeface="+mn-ea"/>
        <a:cs typeface="+mn-cs"/>
      </a:defRPr>
    </a:lvl6pPr>
    <a:lvl7pPr marL="2743200" algn="l" defTabSz="914400" rtl="0" eaLnBrk="1" latinLnBrk="0" hangingPunct="1">
      <a:defRPr sz="2000" i="1" kern="1200">
        <a:solidFill>
          <a:schemeClr val="tx1"/>
        </a:solidFill>
        <a:latin typeface="Arial" charset="0"/>
        <a:ea typeface="+mn-ea"/>
        <a:cs typeface="+mn-cs"/>
      </a:defRPr>
    </a:lvl7pPr>
    <a:lvl8pPr marL="3200400" algn="l" defTabSz="914400" rtl="0" eaLnBrk="1" latinLnBrk="0" hangingPunct="1">
      <a:defRPr sz="2000" i="1" kern="1200">
        <a:solidFill>
          <a:schemeClr val="tx1"/>
        </a:solidFill>
        <a:latin typeface="Arial" charset="0"/>
        <a:ea typeface="+mn-ea"/>
        <a:cs typeface="+mn-cs"/>
      </a:defRPr>
    </a:lvl8pPr>
    <a:lvl9pPr marL="3657600" algn="l" defTabSz="914400" rtl="0" eaLnBrk="1" latinLnBrk="0" hangingPunct="1">
      <a:defRPr sz="2000" i="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34" autoAdjust="0"/>
    <p:restoredTop sz="76857" autoAdjust="0"/>
  </p:normalViewPr>
  <p:slideViewPr>
    <p:cSldViewPr>
      <p:cViewPr>
        <p:scale>
          <a:sx n="71" d="100"/>
          <a:sy n="71" d="100"/>
        </p:scale>
        <p:origin x="-2808" y="-7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bwMode="auto">
          <a:xfrm>
            <a:off x="0" y="0"/>
            <a:ext cx="3043343" cy="466092"/>
          </a:xfrm>
          <a:prstGeom prst="rect">
            <a:avLst/>
          </a:prstGeom>
          <a:noFill/>
          <a:ln w="9525">
            <a:noFill/>
            <a:miter lim="800000"/>
            <a:headEnd/>
            <a:tailEnd/>
          </a:ln>
          <a:effectLst/>
        </p:spPr>
        <p:txBody>
          <a:bodyPr vert="horz" wrap="square" lIns="92482" tIns="46241" rIns="92482" bIns="46241" numCol="1" anchor="t" anchorCtr="0" compatLnSpc="1">
            <a:prstTxWarp prst="textNoShape">
              <a:avLst/>
            </a:prstTxWarp>
          </a:bodyPr>
          <a:lstStyle>
            <a:lvl1pPr algn="l" eaLnBrk="0" hangingPunct="0">
              <a:spcBef>
                <a:spcPct val="0"/>
              </a:spcBef>
              <a:defRPr sz="1200" i="0">
                <a:latin typeface="Times New Roman" pitchFamily="18" charset="0"/>
              </a:defRPr>
            </a:lvl1pPr>
          </a:lstStyle>
          <a:p>
            <a:pPr>
              <a:defRPr/>
            </a:pPr>
            <a:endParaRPr lang="en-US"/>
          </a:p>
        </p:txBody>
      </p:sp>
      <p:sp>
        <p:nvSpPr>
          <p:cNvPr id="99331" name="Rectangle 3"/>
          <p:cNvSpPr>
            <a:spLocks noGrp="1" noChangeArrowheads="1"/>
          </p:cNvSpPr>
          <p:nvPr>
            <p:ph type="dt" sz="quarter" idx="1"/>
          </p:nvPr>
        </p:nvSpPr>
        <p:spPr bwMode="auto">
          <a:xfrm>
            <a:off x="3979757" y="0"/>
            <a:ext cx="3043343" cy="466092"/>
          </a:xfrm>
          <a:prstGeom prst="rect">
            <a:avLst/>
          </a:prstGeom>
          <a:noFill/>
          <a:ln w="9525">
            <a:noFill/>
            <a:miter lim="800000"/>
            <a:headEnd/>
            <a:tailEnd/>
          </a:ln>
          <a:effectLst/>
        </p:spPr>
        <p:txBody>
          <a:bodyPr vert="horz" wrap="square" lIns="92482" tIns="46241" rIns="92482" bIns="46241" numCol="1" anchor="t" anchorCtr="0" compatLnSpc="1">
            <a:prstTxWarp prst="textNoShape">
              <a:avLst/>
            </a:prstTxWarp>
          </a:bodyPr>
          <a:lstStyle>
            <a:lvl1pPr algn="r" eaLnBrk="0" hangingPunct="0">
              <a:spcBef>
                <a:spcPct val="0"/>
              </a:spcBef>
              <a:defRPr sz="1200" i="0">
                <a:latin typeface="Times New Roman" pitchFamily="18" charset="0"/>
              </a:defRPr>
            </a:lvl1pPr>
          </a:lstStyle>
          <a:p>
            <a:pPr>
              <a:defRPr/>
            </a:pPr>
            <a:endParaRPr lang="en-US"/>
          </a:p>
        </p:txBody>
      </p:sp>
      <p:sp>
        <p:nvSpPr>
          <p:cNvPr id="99332" name="Rectangle 4"/>
          <p:cNvSpPr>
            <a:spLocks noGrp="1" noChangeArrowheads="1"/>
          </p:cNvSpPr>
          <p:nvPr>
            <p:ph type="ftr" sz="quarter" idx="2"/>
          </p:nvPr>
        </p:nvSpPr>
        <p:spPr bwMode="auto">
          <a:xfrm>
            <a:off x="0" y="8843010"/>
            <a:ext cx="3043343" cy="466091"/>
          </a:xfrm>
          <a:prstGeom prst="rect">
            <a:avLst/>
          </a:prstGeom>
          <a:noFill/>
          <a:ln w="9525">
            <a:noFill/>
            <a:miter lim="800000"/>
            <a:headEnd/>
            <a:tailEnd/>
          </a:ln>
          <a:effectLst/>
        </p:spPr>
        <p:txBody>
          <a:bodyPr vert="horz" wrap="square" lIns="92482" tIns="46241" rIns="92482" bIns="46241" numCol="1" anchor="b" anchorCtr="0" compatLnSpc="1">
            <a:prstTxWarp prst="textNoShape">
              <a:avLst/>
            </a:prstTxWarp>
          </a:bodyPr>
          <a:lstStyle>
            <a:lvl1pPr algn="l" eaLnBrk="0" hangingPunct="0">
              <a:spcBef>
                <a:spcPct val="0"/>
              </a:spcBef>
              <a:defRPr sz="1200" i="0">
                <a:latin typeface="Times New Roman" pitchFamily="18" charset="0"/>
              </a:defRPr>
            </a:lvl1pPr>
          </a:lstStyle>
          <a:p>
            <a:pPr>
              <a:defRPr/>
            </a:pPr>
            <a:endParaRPr lang="en-US"/>
          </a:p>
        </p:txBody>
      </p:sp>
      <p:sp>
        <p:nvSpPr>
          <p:cNvPr id="99333" name="Rectangle 5"/>
          <p:cNvSpPr>
            <a:spLocks noGrp="1" noChangeArrowheads="1"/>
          </p:cNvSpPr>
          <p:nvPr>
            <p:ph type="sldNum" sz="quarter" idx="3"/>
          </p:nvPr>
        </p:nvSpPr>
        <p:spPr bwMode="auto">
          <a:xfrm>
            <a:off x="3979757" y="8843010"/>
            <a:ext cx="3043343" cy="466091"/>
          </a:xfrm>
          <a:prstGeom prst="rect">
            <a:avLst/>
          </a:prstGeom>
          <a:noFill/>
          <a:ln w="9525">
            <a:noFill/>
            <a:miter lim="800000"/>
            <a:headEnd/>
            <a:tailEnd/>
          </a:ln>
          <a:effectLst/>
        </p:spPr>
        <p:txBody>
          <a:bodyPr vert="horz" wrap="square" lIns="92482" tIns="46241" rIns="92482" bIns="46241" numCol="1" anchor="b" anchorCtr="0" compatLnSpc="1">
            <a:prstTxWarp prst="textNoShape">
              <a:avLst/>
            </a:prstTxWarp>
          </a:bodyPr>
          <a:lstStyle>
            <a:lvl1pPr algn="r" eaLnBrk="0" hangingPunct="0">
              <a:spcBef>
                <a:spcPct val="0"/>
              </a:spcBef>
              <a:defRPr sz="1200" i="0">
                <a:latin typeface="Times New Roman" pitchFamily="18" charset="0"/>
              </a:defRPr>
            </a:lvl1pPr>
          </a:lstStyle>
          <a:p>
            <a:pPr>
              <a:defRPr/>
            </a:pPr>
            <a:fld id="{00569758-E246-4E06-ABEA-9D738CC66510}" type="slidenum">
              <a:rPr lang="en-US"/>
              <a:pPr>
                <a:defRPr/>
              </a:pPr>
              <a:t>‹#›</a:t>
            </a:fld>
            <a:endParaRPr lang="en-US"/>
          </a:p>
        </p:txBody>
      </p:sp>
    </p:spTree>
    <p:extLst>
      <p:ext uri="{BB962C8B-B14F-4D97-AF65-F5344CB8AC3E}">
        <p14:creationId xmlns:p14="http://schemas.microsoft.com/office/powerpoint/2010/main" val="604244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7746" name="Rectangle 2"/>
          <p:cNvSpPr>
            <a:spLocks noGrp="1" noChangeArrowheads="1"/>
          </p:cNvSpPr>
          <p:nvPr>
            <p:ph type="hdr" sz="quarter"/>
          </p:nvPr>
        </p:nvSpPr>
        <p:spPr bwMode="auto">
          <a:xfrm>
            <a:off x="0" y="0"/>
            <a:ext cx="3043343" cy="466092"/>
          </a:xfrm>
          <a:prstGeom prst="rect">
            <a:avLst/>
          </a:prstGeom>
          <a:noFill/>
          <a:ln w="9525">
            <a:noFill/>
            <a:miter lim="800000"/>
            <a:headEnd/>
            <a:tailEnd/>
          </a:ln>
          <a:effectLst/>
        </p:spPr>
        <p:txBody>
          <a:bodyPr vert="horz" wrap="square" lIns="92482" tIns="46241" rIns="92482" bIns="46241" numCol="1" anchor="t" anchorCtr="0" compatLnSpc="1">
            <a:prstTxWarp prst="textNoShape">
              <a:avLst/>
            </a:prstTxWarp>
          </a:bodyPr>
          <a:lstStyle>
            <a:lvl1pPr algn="l" eaLnBrk="0" hangingPunct="0">
              <a:spcBef>
                <a:spcPct val="0"/>
              </a:spcBef>
              <a:defRPr sz="1200" i="0">
                <a:latin typeface="Times New Roman" pitchFamily="18" charset="0"/>
              </a:defRPr>
            </a:lvl1pPr>
          </a:lstStyle>
          <a:p>
            <a:pPr>
              <a:defRPr/>
            </a:pPr>
            <a:endParaRPr lang="en-US"/>
          </a:p>
        </p:txBody>
      </p:sp>
      <p:sp>
        <p:nvSpPr>
          <p:cNvPr id="287747" name="Rectangle 3"/>
          <p:cNvSpPr>
            <a:spLocks noGrp="1" noChangeArrowheads="1"/>
          </p:cNvSpPr>
          <p:nvPr>
            <p:ph type="dt" idx="1"/>
          </p:nvPr>
        </p:nvSpPr>
        <p:spPr bwMode="auto">
          <a:xfrm>
            <a:off x="3978132" y="0"/>
            <a:ext cx="3043343" cy="466092"/>
          </a:xfrm>
          <a:prstGeom prst="rect">
            <a:avLst/>
          </a:prstGeom>
          <a:noFill/>
          <a:ln w="9525">
            <a:noFill/>
            <a:miter lim="800000"/>
            <a:headEnd/>
            <a:tailEnd/>
          </a:ln>
          <a:effectLst/>
        </p:spPr>
        <p:txBody>
          <a:bodyPr vert="horz" wrap="square" lIns="92482" tIns="46241" rIns="92482" bIns="46241" numCol="1" anchor="t" anchorCtr="0" compatLnSpc="1">
            <a:prstTxWarp prst="textNoShape">
              <a:avLst/>
            </a:prstTxWarp>
          </a:bodyPr>
          <a:lstStyle>
            <a:lvl1pPr algn="r" eaLnBrk="0" hangingPunct="0">
              <a:spcBef>
                <a:spcPct val="0"/>
              </a:spcBef>
              <a:defRPr sz="1200" i="0">
                <a:latin typeface="Times New Roman" pitchFamily="18" charset="0"/>
              </a:defRPr>
            </a:lvl1pPr>
          </a:lstStyle>
          <a:p>
            <a:pPr>
              <a:defRPr/>
            </a:pPr>
            <a:endParaRPr lang="en-US"/>
          </a:p>
        </p:txBody>
      </p:sp>
      <p:sp>
        <p:nvSpPr>
          <p:cNvPr id="49156" name="Rectangle 4"/>
          <p:cNvSpPr>
            <a:spLocks noGrp="1" noRot="1" noChangeAspect="1" noChangeArrowheads="1" noTextEdit="1"/>
          </p:cNvSpPr>
          <p:nvPr>
            <p:ph type="sldImg" idx="2"/>
          </p:nvPr>
        </p:nvSpPr>
        <p:spPr bwMode="auto">
          <a:xfrm>
            <a:off x="1184275" y="698500"/>
            <a:ext cx="4654550" cy="3490913"/>
          </a:xfrm>
          <a:prstGeom prst="rect">
            <a:avLst/>
          </a:prstGeom>
          <a:noFill/>
          <a:ln w="9525">
            <a:solidFill>
              <a:srgbClr val="000000"/>
            </a:solidFill>
            <a:miter lim="800000"/>
            <a:headEnd/>
            <a:tailEnd/>
          </a:ln>
        </p:spPr>
      </p:sp>
      <p:sp>
        <p:nvSpPr>
          <p:cNvPr id="287749" name="Rectangle 5"/>
          <p:cNvSpPr>
            <a:spLocks noGrp="1" noChangeArrowheads="1"/>
          </p:cNvSpPr>
          <p:nvPr>
            <p:ph type="body" sz="quarter" idx="3"/>
          </p:nvPr>
        </p:nvSpPr>
        <p:spPr bwMode="auto">
          <a:xfrm>
            <a:off x="702310" y="4422300"/>
            <a:ext cx="5618480" cy="4188459"/>
          </a:xfrm>
          <a:prstGeom prst="rect">
            <a:avLst/>
          </a:prstGeom>
          <a:noFill/>
          <a:ln w="9525">
            <a:noFill/>
            <a:miter lim="800000"/>
            <a:headEnd/>
            <a:tailEnd/>
          </a:ln>
          <a:effectLst/>
        </p:spPr>
        <p:txBody>
          <a:bodyPr vert="horz" wrap="square" lIns="92482" tIns="46241" rIns="92482" bIns="4624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87750" name="Rectangle 6"/>
          <p:cNvSpPr>
            <a:spLocks noGrp="1" noChangeArrowheads="1"/>
          </p:cNvSpPr>
          <p:nvPr>
            <p:ph type="ftr" sz="quarter" idx="4"/>
          </p:nvPr>
        </p:nvSpPr>
        <p:spPr bwMode="auto">
          <a:xfrm>
            <a:off x="0" y="8841418"/>
            <a:ext cx="3043343" cy="466092"/>
          </a:xfrm>
          <a:prstGeom prst="rect">
            <a:avLst/>
          </a:prstGeom>
          <a:noFill/>
          <a:ln w="9525">
            <a:noFill/>
            <a:miter lim="800000"/>
            <a:headEnd/>
            <a:tailEnd/>
          </a:ln>
          <a:effectLst/>
        </p:spPr>
        <p:txBody>
          <a:bodyPr vert="horz" wrap="square" lIns="92482" tIns="46241" rIns="92482" bIns="46241" numCol="1" anchor="b" anchorCtr="0" compatLnSpc="1">
            <a:prstTxWarp prst="textNoShape">
              <a:avLst/>
            </a:prstTxWarp>
          </a:bodyPr>
          <a:lstStyle>
            <a:lvl1pPr algn="l" eaLnBrk="0" hangingPunct="0">
              <a:spcBef>
                <a:spcPct val="0"/>
              </a:spcBef>
              <a:defRPr sz="1200" i="0">
                <a:latin typeface="Times New Roman" pitchFamily="18" charset="0"/>
              </a:defRPr>
            </a:lvl1pPr>
          </a:lstStyle>
          <a:p>
            <a:pPr>
              <a:defRPr/>
            </a:pPr>
            <a:endParaRPr lang="en-US"/>
          </a:p>
        </p:txBody>
      </p:sp>
      <p:sp>
        <p:nvSpPr>
          <p:cNvPr id="287751" name="Rectangle 7"/>
          <p:cNvSpPr>
            <a:spLocks noGrp="1" noChangeArrowheads="1"/>
          </p:cNvSpPr>
          <p:nvPr>
            <p:ph type="sldNum" sz="quarter" idx="5"/>
          </p:nvPr>
        </p:nvSpPr>
        <p:spPr bwMode="auto">
          <a:xfrm>
            <a:off x="3978132" y="8841418"/>
            <a:ext cx="3043343" cy="466092"/>
          </a:xfrm>
          <a:prstGeom prst="rect">
            <a:avLst/>
          </a:prstGeom>
          <a:noFill/>
          <a:ln w="9525">
            <a:noFill/>
            <a:miter lim="800000"/>
            <a:headEnd/>
            <a:tailEnd/>
          </a:ln>
          <a:effectLst/>
        </p:spPr>
        <p:txBody>
          <a:bodyPr vert="horz" wrap="square" lIns="92482" tIns="46241" rIns="92482" bIns="46241" numCol="1" anchor="b" anchorCtr="0" compatLnSpc="1">
            <a:prstTxWarp prst="textNoShape">
              <a:avLst/>
            </a:prstTxWarp>
          </a:bodyPr>
          <a:lstStyle>
            <a:lvl1pPr algn="r" eaLnBrk="0" hangingPunct="0">
              <a:spcBef>
                <a:spcPct val="0"/>
              </a:spcBef>
              <a:defRPr sz="1200" i="0">
                <a:latin typeface="Times New Roman" pitchFamily="18" charset="0"/>
              </a:defRPr>
            </a:lvl1pPr>
          </a:lstStyle>
          <a:p>
            <a:pPr>
              <a:defRPr/>
            </a:pPr>
            <a:fld id="{FADDB327-4735-4E6B-AD74-3C915732707A}" type="slidenum">
              <a:rPr lang="en-US"/>
              <a:pPr>
                <a:defRPr/>
              </a:pPr>
              <a:t>‹#›</a:t>
            </a:fld>
            <a:endParaRPr lang="en-US"/>
          </a:p>
        </p:txBody>
      </p:sp>
    </p:spTree>
    <p:extLst>
      <p:ext uri="{BB962C8B-B14F-4D97-AF65-F5344CB8AC3E}">
        <p14:creationId xmlns:p14="http://schemas.microsoft.com/office/powerpoint/2010/main" val="23578443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a:noFill/>
          <a:ln/>
        </p:spPr>
        <p:txBody>
          <a:bodyPr/>
          <a:lstStyle/>
          <a:p>
            <a:endParaRPr lang="en-US" smtClean="0"/>
          </a:p>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smtClean="0"/>
          </a:p>
          <a:p>
            <a:endParaRPr lang="en-US" smtClean="0"/>
          </a:p>
        </p:txBody>
      </p:sp>
      <p:sp>
        <p:nvSpPr>
          <p:cNvPr id="51204" name="Slide Number Placeholder 3"/>
          <p:cNvSpPr>
            <a:spLocks noGrp="1"/>
          </p:cNvSpPr>
          <p:nvPr>
            <p:ph type="sldNum" sz="quarter" idx="5"/>
          </p:nvPr>
        </p:nvSpPr>
        <p:spPr>
          <a:noFill/>
        </p:spPr>
        <p:txBody>
          <a:bodyPr/>
          <a:lstStyle/>
          <a:p>
            <a:fld id="{939C2599-6D54-49A9-A8EA-BD663D44C8F3}" type="slidenum">
              <a:rPr lang="en-US" smtClean="0"/>
              <a:pPr/>
              <a:t>2</a:t>
            </a:fld>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ADDB327-4735-4E6B-AD74-3C915732707A}" type="slidenum">
              <a:rPr lang="en-US" smtClean="0"/>
              <a:pPr>
                <a:defRPr/>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smtClean="0"/>
          </a:p>
        </p:txBody>
      </p:sp>
      <p:sp>
        <p:nvSpPr>
          <p:cNvPr id="62468" name="Slide Number Placeholder 3"/>
          <p:cNvSpPr>
            <a:spLocks noGrp="1"/>
          </p:cNvSpPr>
          <p:nvPr>
            <p:ph type="sldNum" sz="quarter" idx="5"/>
          </p:nvPr>
        </p:nvSpPr>
        <p:spPr>
          <a:noFill/>
        </p:spPr>
        <p:txBody>
          <a:bodyPr/>
          <a:lstStyle/>
          <a:p>
            <a:fld id="{2E005B0C-ABA1-4FAD-8E30-A5286CBB63B2}" type="slidenum">
              <a:rPr lang="en-US" smtClean="0"/>
              <a:pPr/>
              <a:t>15</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0F415B50-95E1-4A9A-9ABD-9EEF2A9E8187}" type="slidenum">
              <a:rPr lang="en-CA" smtClean="0"/>
              <a:pPr/>
              <a:t>24</a:t>
            </a:fld>
            <a:endParaRPr lang="en-CA" smtClean="0"/>
          </a:p>
        </p:txBody>
      </p:sp>
      <p:sp>
        <p:nvSpPr>
          <p:cNvPr id="66563" name="Rectangle 2"/>
          <p:cNvSpPr>
            <a:spLocks noGrp="1" noRot="1" noChangeAspect="1" noChangeArrowheads="1" noTextEdit="1"/>
          </p:cNvSpPr>
          <p:nvPr>
            <p:ph type="sldImg"/>
          </p:nvPr>
        </p:nvSpPr>
        <p:spPr>
          <a:solidFill>
            <a:srgbClr val="FFFFFF"/>
          </a:solidFill>
          <a:ln/>
        </p:spPr>
      </p:sp>
      <p:sp>
        <p:nvSpPr>
          <p:cNvPr id="66564"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2B134CE-324E-4219-B77F-371419996458}" type="slidenum">
              <a:rPr lang="en-CA" smtClean="0"/>
              <a:pPr/>
              <a:t>25</a:t>
            </a:fld>
            <a:endParaRPr lang="en-CA"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2B134CE-324E-4219-B77F-371419996458}" type="slidenum">
              <a:rPr lang="en-CA" smtClean="0"/>
              <a:pPr/>
              <a:t>26</a:t>
            </a:fld>
            <a:endParaRPr lang="en-CA" smtClean="0"/>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89A814B4-C7D2-4FA1-AC4A-93EECBF8169A}" type="slidenum">
              <a:rPr lang="en-CA" smtClean="0"/>
              <a:pPr/>
              <a:t>27</a:t>
            </a:fld>
            <a:endParaRPr lang="en-CA" smtClean="0"/>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B89A9CF9-33CB-4B2B-AFDD-D7A933413D50}" type="slidenum">
              <a:rPr lang="en-CA" smtClean="0"/>
              <a:pPr/>
              <a:t>28</a:t>
            </a:fld>
            <a:endParaRPr lang="en-CA" smtClean="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62C59FB1-E551-4B7B-A1F7-6DB32E2441CA}" type="slidenum">
              <a:rPr lang="en-CA" smtClean="0"/>
              <a:pPr/>
              <a:t>29</a:t>
            </a:fld>
            <a:endParaRPr lang="en-CA"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24917FD1-904C-4337-967D-CB7D81858914}" type="slidenum">
              <a:rPr lang="en-CA" smtClean="0"/>
              <a:pPr/>
              <a:t>30</a:t>
            </a:fld>
            <a:endParaRPr lang="en-CA"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32ECD1BF-6B2D-4713-BD19-129355120A9A}" type="slidenum">
              <a:rPr lang="en-CA" smtClean="0"/>
              <a:pPr/>
              <a:t>31</a:t>
            </a:fld>
            <a:endParaRPr lang="en-CA" smtClean="0"/>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087C38DB-6353-4CDC-951E-B6A4BABBFC96}" type="slidenum">
              <a:rPr lang="en-CA" smtClean="0"/>
              <a:pPr/>
              <a:t>38</a:t>
            </a:fld>
            <a:endParaRPr lang="en-CA"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588D1880-2100-4FB7-B040-1A1BF00AEC8A}" type="slidenum">
              <a:rPr lang="en-CA" smtClean="0"/>
              <a:pPr/>
              <a:t>39</a:t>
            </a:fld>
            <a:endParaRPr lang="en-CA"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7A81A056-2B1F-4EFB-AC3F-91474AB6855B}" type="slidenum">
              <a:rPr lang="en-CA" smtClean="0"/>
              <a:pPr/>
              <a:t>43</a:t>
            </a:fld>
            <a:endParaRPr lang="en-CA"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7D4EC129-E2C7-492E-91CB-F2A89F74E316}" type="slidenum">
              <a:rPr lang="en-CA" smtClean="0"/>
              <a:pPr/>
              <a:t>44</a:t>
            </a:fld>
            <a:endParaRPr lang="en-CA"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B98D15B4-4D4C-474F-8BD5-CE1BDB87DF64}" type="slidenum">
              <a:rPr lang="en-CA" smtClean="0"/>
              <a:pPr/>
              <a:t>45</a:t>
            </a:fld>
            <a:endParaRPr lang="en-CA"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B98D15B4-4D4C-474F-8BD5-CE1BDB87DF64}" type="slidenum">
              <a:rPr lang="en-CA" smtClean="0"/>
              <a:pPr/>
              <a:t>46</a:t>
            </a:fld>
            <a:endParaRPr lang="en-CA" smtClean="0"/>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F782A689-94E0-411B-97E2-1D46185682CC}" type="slidenum">
              <a:rPr lang="en-CA" smtClean="0"/>
              <a:pPr/>
              <a:t>47</a:t>
            </a:fld>
            <a:endParaRPr lang="en-CA"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5ECD6FA0-AB05-497D-B3F7-63B6D0DEC177}" type="slidenum">
              <a:rPr lang="en-CA" smtClean="0"/>
              <a:pPr/>
              <a:t>48</a:t>
            </a:fld>
            <a:endParaRPr lang="en-CA"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18DAEEE8-A178-4ECE-A35E-814F5E08AAE0}" type="slidenum">
              <a:rPr lang="en-CA" smtClean="0"/>
              <a:pPr/>
              <a:t>49</a:t>
            </a:fld>
            <a:endParaRPr lang="en-CA"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836127360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p:spPr>
        <p:txBody>
          <a:bodyPr/>
          <a:lstStyle/>
          <a:p>
            <a:pPr>
              <a:defRPr/>
            </a:pPr>
            <a:endParaRPr lang="en-US"/>
          </a:p>
        </p:txBody>
      </p:sp>
      <p:sp>
        <p:nvSpPr>
          <p:cNvPr id="373762"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37376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p:txBody>
          <a:bodyPr/>
          <a:lstStyle>
            <a:lvl1pPr>
              <a:defRPr/>
            </a:lvl1pPr>
          </a:lstStyle>
          <a:p>
            <a:pPr>
              <a:defRPr/>
            </a:pPr>
            <a:fld id="{954C6878-4D66-49F0-B28D-F629E47277C3}" type="slidenum">
              <a:rPr lang="en-US" altLang="en-US"/>
              <a:pPr>
                <a:defRPr/>
              </a:pPr>
              <a:t>‹#›</a:t>
            </a:fld>
            <a:endParaRPr lang="en-US"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9654FC1-40C8-44C2-A76C-86E01097A9EC}" type="slidenum">
              <a:rPr lang="en-US" altLang="en-US"/>
              <a:pPr>
                <a:defRPr/>
              </a:pPr>
              <a:t>‹#›</a:t>
            </a:fld>
            <a:endParaRPr lang="en-US"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357B0B8-C7FF-4FF7-989F-CDE9E84D6CB2}" type="slidenum">
              <a:rPr lang="en-US" altLang="en-US"/>
              <a:pPr>
                <a:defRPr/>
              </a:pPr>
              <a:t>‹#›</a:t>
            </a:fld>
            <a:endParaRPr lang="en-US"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01DF9DF6-4B04-4EA2-AA61-2146F9EB447D}" type="slidenum">
              <a:rPr lang="en-US" altLang="en-US"/>
              <a:pPr>
                <a:defRPr/>
              </a:pPr>
              <a:t>‹#›</a:t>
            </a:fld>
            <a:endParaRPr lang="en-US"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AB670D2B-C756-4FE0-8DEC-EDA16C9A8218}" type="slidenum">
              <a:rPr lang="en-US" altLang="en-US"/>
              <a:pPr>
                <a:defRPr/>
              </a:pPr>
              <a:t>‹#›</a:t>
            </a:fld>
            <a:endParaRPr lang="en-US"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A0D2B559-2533-4BC7-A84D-2F2A77F825CB}" type="slidenum">
              <a:rPr lang="en-US" altLang="en-US"/>
              <a:pPr>
                <a:defRPr/>
              </a:pPr>
              <a:t>‹#›</a:t>
            </a:fld>
            <a:endParaRPr lang="en-US"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80BEDF6C-946A-41B0-9BBB-5669842D549C}" type="slidenum">
              <a:rPr lang="en-US" altLang="en-US"/>
              <a:pPr>
                <a:defRPr/>
              </a:pPr>
              <a:t>‹#›</a:t>
            </a:fld>
            <a:endParaRPr lang="en-US"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841CFE4B-AF55-44AC-A419-E244C967BB4C}" type="slidenum">
              <a:rPr lang="en-US" altLang="en-US"/>
              <a:pPr>
                <a:defRPr/>
              </a:pPr>
              <a:t>‹#›</a:t>
            </a:fld>
            <a:endParaRPr lang="en-US"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6AD698C6-FB6C-4127-B6F9-06ED6264351E}" type="slidenum">
              <a:rPr lang="en-US" altLang="en-US"/>
              <a:pPr>
                <a:defRPr/>
              </a:pPr>
              <a:t>‹#›</a:t>
            </a:fld>
            <a:endParaRPr lang="en-US"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5B4E726C-311E-435A-BB91-F8616F1EA2A8}" type="slidenum">
              <a:rPr lang="en-US" altLang="en-US"/>
              <a:pPr>
                <a:defRPr/>
              </a:pPr>
              <a:t>‹#›</a:t>
            </a:fld>
            <a:endParaRPr lang="en-US"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7C555A42-FA42-4C80-8B3A-2F3E0B16091F}" type="slidenum">
              <a:rPr lang="en-US" altLang="en-US"/>
              <a:pPr>
                <a:defRPr/>
              </a:pPr>
              <a:t>‹#›</a:t>
            </a:fld>
            <a:endParaRPr lang="en-US"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A2A61F4-C49E-4655-89F2-64B9779AD683}" type="slidenum">
              <a:rPr lang="en-US" altLang="en-US"/>
              <a:pPr>
                <a:defRPr/>
              </a:pPr>
              <a:t>‹#›</a:t>
            </a:fld>
            <a:endParaRPr lang="en-US"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6"/>
          <p:cNvSpPr>
            <a:spLocks noGrp="1" noChangeArrowheads="1"/>
          </p:cNvSpPr>
          <p:nvPr>
            <p:ph type="sldNum" sz="quarter" idx="12"/>
          </p:nvPr>
        </p:nvSpPr>
        <p:spPr>
          <a:ln/>
        </p:spPr>
        <p:txBody>
          <a:bodyPr/>
          <a:lstStyle>
            <a:lvl1pPr>
              <a:defRPr/>
            </a:lvl1pPr>
          </a:lstStyle>
          <a:p>
            <a:pPr>
              <a:defRPr/>
            </a:pPr>
            <a:fld id="{1093B624-3104-4D31-A3AB-8B6838A265D5}" type="slidenum">
              <a:rPr lang="en-US" altLang="en-US"/>
              <a:pPr>
                <a:defRPr/>
              </a:pPr>
              <a:t>‹#›</a:t>
            </a:fld>
            <a:endParaRPr lang="en-US" alt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7813"/>
            <a:ext cx="8229600" cy="1139825"/>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A107790D-9CE3-4E0E-8F1B-EF17C33E5A37}" type="slidenum">
              <a:rPr lang="en-US" altLang="en-US"/>
              <a:pPr>
                <a:defRPr/>
              </a:pPr>
              <a:t>‹#›</a:t>
            </a:fld>
            <a:endParaRPr lang="en-US"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3075"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72740"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i="0">
                <a:latin typeface="+mj-lt"/>
              </a:defRPr>
            </a:lvl1pPr>
          </a:lstStyle>
          <a:p>
            <a:pPr>
              <a:defRPr/>
            </a:pPr>
            <a:endParaRPr lang="en-US" altLang="en-US"/>
          </a:p>
        </p:txBody>
      </p:sp>
      <p:sp>
        <p:nvSpPr>
          <p:cNvPr id="37274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200" i="0">
                <a:latin typeface="+mj-lt"/>
              </a:defRPr>
            </a:lvl1pPr>
          </a:lstStyle>
          <a:p>
            <a:pPr>
              <a:defRPr/>
            </a:pPr>
            <a:endParaRPr lang="en-US" altLang="en-US"/>
          </a:p>
        </p:txBody>
      </p:sp>
      <p:sp>
        <p:nvSpPr>
          <p:cNvPr id="372742"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defRPr sz="1200" i="0">
                <a:latin typeface="+mj-lt"/>
              </a:defRPr>
            </a:lvl1pPr>
          </a:lstStyle>
          <a:p>
            <a:pPr>
              <a:defRPr/>
            </a:pPr>
            <a:fld id="{96E288AC-B3AC-42D8-B6FA-4E9110186C8E}" type="slidenum">
              <a:rPr lang="en-US" altLang="en-US"/>
              <a:pPr>
                <a:defRPr/>
              </a:pPr>
              <a:t>‹#›</a:t>
            </a:fld>
            <a:endParaRPr lang="en-US" altLang="en-US"/>
          </a:p>
        </p:txBody>
      </p:sp>
      <p:sp>
        <p:nvSpPr>
          <p:cNvPr id="1031" name="Freeform 7"/>
          <p:cNvSpPr>
            <a:spLocks noChangeArrowheads="1"/>
          </p:cNvSpPr>
          <p:nvPr/>
        </p:nvSpPr>
        <p:spPr bwMode="auto">
          <a:xfrm>
            <a:off x="381000" y="228600"/>
            <a:ext cx="8229600" cy="609600"/>
          </a:xfrm>
          <a:custGeom>
            <a:avLst/>
            <a:gdLst>
              <a:gd name="T0" fmla="*/ 0 w 1000"/>
              <a:gd name="T1" fmla="*/ 371612160 h 1000"/>
              <a:gd name="T2" fmla="*/ 0 w 1000"/>
              <a:gd name="T3" fmla="*/ 0 h 1000"/>
              <a:gd name="T4" fmla="*/ 2147483647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p:spPr>
        <p:txBody>
          <a:bodyPr/>
          <a:lstStyle/>
          <a:p>
            <a:pPr>
              <a:defRPr/>
            </a:pPr>
            <a:endParaRPr lang="en-US"/>
          </a:p>
        </p:txBody>
      </p:sp>
    </p:spTree>
  </p:cSld>
  <p:clrMap bg1="lt1" tx1="dk1" bg2="lt2" tx2="dk2" accent1="accent1" accent2="accent2" accent3="accent3" accent4="accent4" accent5="accent5" accent6="accent6" hlink="hlink" folHlink="folHlink"/>
  <p:sldLayoutIdLst>
    <p:sldLayoutId id="2147484180" r:id="rId1"/>
    <p:sldLayoutId id="2147484167" r:id="rId2"/>
    <p:sldLayoutId id="2147484168" r:id="rId3"/>
    <p:sldLayoutId id="2147484169" r:id="rId4"/>
    <p:sldLayoutId id="2147484170" r:id="rId5"/>
    <p:sldLayoutId id="2147484171" r:id="rId6"/>
    <p:sldLayoutId id="2147484172" r:id="rId7"/>
    <p:sldLayoutId id="2147484173" r:id="rId8"/>
    <p:sldLayoutId id="2147484174" r:id="rId9"/>
    <p:sldLayoutId id="2147484175" r:id="rId10"/>
    <p:sldLayoutId id="2147484176" r:id="rId11"/>
    <p:sldLayoutId id="2147484177" r:id="rId12"/>
    <p:sldLayoutId id="2147484178" r:id="rId13"/>
    <p:sldLayoutId id="2147484179" r:id="rId14"/>
  </p:sldLayoutIdLst>
  <p:transition/>
  <p:timing>
    <p:tnLst>
      <p:par>
        <p:cTn id="1" dur="indefinite" restart="never" nodeType="tmRoot"/>
      </p:par>
    </p:tnLst>
  </p:timing>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Calibri" pitchFamily="34" charset="0"/>
        </a:defRPr>
      </a:lvl2pPr>
      <a:lvl3pPr algn="l" rtl="0" eaLnBrk="0" fontAlgn="base" hangingPunct="0">
        <a:spcBef>
          <a:spcPct val="0"/>
        </a:spcBef>
        <a:spcAft>
          <a:spcPct val="0"/>
        </a:spcAft>
        <a:defRPr sz="4200">
          <a:solidFill>
            <a:schemeClr val="tx2"/>
          </a:solidFill>
          <a:latin typeface="Calibri" pitchFamily="34" charset="0"/>
        </a:defRPr>
      </a:lvl3pPr>
      <a:lvl4pPr algn="l" rtl="0" eaLnBrk="0" fontAlgn="base" hangingPunct="0">
        <a:spcBef>
          <a:spcPct val="0"/>
        </a:spcBef>
        <a:spcAft>
          <a:spcPct val="0"/>
        </a:spcAft>
        <a:defRPr sz="4200">
          <a:solidFill>
            <a:schemeClr val="tx2"/>
          </a:solidFill>
          <a:latin typeface="Calibri" pitchFamily="34" charset="0"/>
        </a:defRPr>
      </a:lvl4pPr>
      <a:lvl5pPr algn="l" rtl="0" eaLnBrk="0" fontAlgn="base" hangingPunct="0">
        <a:spcBef>
          <a:spcPct val="0"/>
        </a:spcBef>
        <a:spcAft>
          <a:spcPct val="0"/>
        </a:spcAft>
        <a:defRPr sz="4200">
          <a:solidFill>
            <a:schemeClr val="tx2"/>
          </a:solidFill>
          <a:latin typeface="Calibri" pitchFamily="34"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oleObject" Target="../embeddings/Microsoft_Word_97_-_2003_Document1.doc"/><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emf"/><Relationship Id="rId5" Type="http://schemas.openxmlformats.org/officeDocument/2006/relationships/oleObject" Target="../embeddings/Microsoft_Word_97_-_2003_Document2.doc"/><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hyperlink" Target="http://www.hr.ubc.ca/faculty_relations/tenure/"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1066800" y="1752600"/>
            <a:ext cx="6934200" cy="1524000"/>
          </a:xfrm>
        </p:spPr>
        <p:txBody>
          <a:bodyPr/>
          <a:lstStyle/>
          <a:p>
            <a:pPr eaLnBrk="1" hangingPunct="1"/>
            <a:r>
              <a:rPr lang="en-US" dirty="0" smtClean="0"/>
              <a:t>Tenure and Promotion Workshop</a:t>
            </a:r>
            <a:r>
              <a:rPr lang="en-US" sz="5600" dirty="0" smtClean="0"/>
              <a:t>	</a:t>
            </a:r>
          </a:p>
        </p:txBody>
      </p:sp>
      <p:sp>
        <p:nvSpPr>
          <p:cNvPr id="5123" name="Rectangle 3"/>
          <p:cNvSpPr>
            <a:spLocks noGrp="1" noChangeArrowheads="1"/>
          </p:cNvSpPr>
          <p:nvPr>
            <p:ph type="subTitle" idx="1"/>
          </p:nvPr>
        </p:nvSpPr>
        <p:spPr>
          <a:xfrm>
            <a:off x="609600" y="4648200"/>
            <a:ext cx="2971800" cy="990600"/>
          </a:xfrm>
        </p:spPr>
        <p:txBody>
          <a:bodyPr/>
          <a:lstStyle/>
          <a:p>
            <a:pPr eaLnBrk="1" hangingPunct="1">
              <a:lnSpc>
                <a:spcPct val="90000"/>
              </a:lnSpc>
            </a:pPr>
            <a:r>
              <a:rPr lang="en-US" sz="2000" dirty="0" smtClean="0"/>
              <a:t>        May 17, 2012</a:t>
            </a:r>
          </a:p>
        </p:txBody>
      </p:sp>
      <p:pic>
        <p:nvPicPr>
          <p:cNvPr id="5124" name="Picture 1" descr="C:\Documents and Settings\mtrowell\Desktop\ubcblack_basic\ubcblack_basic.png"/>
          <p:cNvPicPr>
            <a:picLocks noChangeAspect="1" noChangeArrowheads="1"/>
          </p:cNvPicPr>
          <p:nvPr/>
        </p:nvPicPr>
        <p:blipFill>
          <a:blip r:embed="rId3" cstate="print"/>
          <a:srcRect/>
          <a:stretch>
            <a:fillRect/>
          </a:stretch>
        </p:blipFill>
        <p:spPr bwMode="auto">
          <a:xfrm>
            <a:off x="5443538" y="4703763"/>
            <a:ext cx="2938462" cy="85883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277813"/>
            <a:ext cx="8229600" cy="865187"/>
          </a:xfrm>
        </p:spPr>
        <p:txBody>
          <a:bodyPr/>
          <a:lstStyle/>
          <a:p>
            <a:r>
              <a:rPr lang="en-US" sz="3600" smtClean="0"/>
              <a:t>Agenda</a:t>
            </a:r>
          </a:p>
        </p:txBody>
      </p:sp>
      <p:sp>
        <p:nvSpPr>
          <p:cNvPr id="6147" name="Content Placeholder 2"/>
          <p:cNvSpPr>
            <a:spLocks noGrp="1"/>
          </p:cNvSpPr>
          <p:nvPr>
            <p:ph idx="1"/>
          </p:nvPr>
        </p:nvSpPr>
        <p:spPr>
          <a:xfrm>
            <a:off x="457200" y="1219200"/>
            <a:ext cx="8229600" cy="4911725"/>
          </a:xfrm>
        </p:spPr>
        <p:txBody>
          <a:bodyPr/>
          <a:lstStyle/>
          <a:p>
            <a:endParaRPr lang="en-US" dirty="0" smtClean="0"/>
          </a:p>
          <a:p>
            <a:r>
              <a:rPr lang="en-US" dirty="0" smtClean="0"/>
              <a:t>Welcome and Introductions – Ken Reeder</a:t>
            </a:r>
          </a:p>
          <a:p>
            <a:r>
              <a:rPr lang="en-US" dirty="0" smtClean="0"/>
              <a:t>Opening Remarks – David Farrar and              Nancy Langton</a:t>
            </a:r>
          </a:p>
          <a:p>
            <a:r>
              <a:rPr lang="en-US" dirty="0" smtClean="0"/>
              <a:t>Guide to Tenure &amp; Promotion – Deena </a:t>
            </a:r>
            <a:r>
              <a:rPr lang="en-US" dirty="0" err="1" smtClean="0"/>
              <a:t>Rubuliak</a:t>
            </a:r>
            <a:r>
              <a:rPr lang="en-US" dirty="0" smtClean="0"/>
              <a:t> &amp; Mark </a:t>
            </a:r>
            <a:r>
              <a:rPr lang="en-US" dirty="0" err="1" smtClean="0"/>
              <a:t>Trowell</a:t>
            </a:r>
            <a:endParaRPr lang="en-US" dirty="0" smtClean="0"/>
          </a:p>
          <a:p>
            <a:r>
              <a:rPr lang="en-US" dirty="0" smtClean="0"/>
              <a:t>Senior Appointments Committee – Susan Boyd</a:t>
            </a:r>
          </a:p>
          <a:p>
            <a:r>
              <a:rPr lang="en-US" dirty="0" smtClean="0"/>
              <a:t>Key Insights – Fran </a:t>
            </a:r>
            <a:r>
              <a:rPr lang="en-US" dirty="0" smtClean="0"/>
              <a:t>Watters</a:t>
            </a:r>
            <a:endParaRPr lang="en-US" dirty="0" smtClean="0"/>
          </a:p>
          <a:p>
            <a:r>
              <a:rPr lang="en-US" dirty="0" smtClean="0"/>
              <a:t>Questions and Discussion</a:t>
            </a:r>
          </a:p>
          <a:p>
            <a:pPr>
              <a:buFont typeface="Wingdings" pitchFamily="2" charset="2"/>
              <a:buNone/>
            </a:pPr>
            <a:endParaRPr lang="en-US" dirty="0" smtClean="0"/>
          </a:p>
        </p:txBody>
      </p:sp>
      <p:sp>
        <p:nvSpPr>
          <p:cNvPr id="4" name="Slide Number Placeholder 3"/>
          <p:cNvSpPr>
            <a:spLocks noGrp="1"/>
          </p:cNvSpPr>
          <p:nvPr>
            <p:ph type="sldNum" sz="quarter" idx="12"/>
          </p:nvPr>
        </p:nvSpPr>
        <p:spPr/>
        <p:txBody>
          <a:bodyPr/>
          <a:lstStyle/>
          <a:p>
            <a:pPr>
              <a:defRPr/>
            </a:pPr>
            <a:fld id="{1D296D4F-11C1-4C9C-8774-CD15523D193C}" type="slidenum">
              <a:rPr lang="en-US" altLang="en-US" smtClean="0"/>
              <a:pPr>
                <a:defRPr/>
              </a:pPr>
              <a:t>2</a:t>
            </a:fld>
            <a:endParaRPr lang="en-US" altLang="en-US" dirty="0"/>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z="3600" smtClean="0"/>
              <a:t>Our Objective</a:t>
            </a:r>
          </a:p>
        </p:txBody>
      </p:sp>
      <p:sp>
        <p:nvSpPr>
          <p:cNvPr id="7171" name="Rectangle 3"/>
          <p:cNvSpPr>
            <a:spLocks noGrp="1" noChangeArrowheads="1"/>
          </p:cNvSpPr>
          <p:nvPr>
            <p:ph idx="1"/>
          </p:nvPr>
        </p:nvSpPr>
        <p:spPr/>
        <p:txBody>
          <a:bodyPr/>
          <a:lstStyle/>
          <a:p>
            <a:pPr algn="ctr" eaLnBrk="1" hangingPunct="1">
              <a:buFont typeface="Wingdings" pitchFamily="2" charset="2"/>
              <a:buNone/>
            </a:pPr>
            <a:endParaRPr lang="en-US" dirty="0" smtClean="0"/>
          </a:p>
          <a:p>
            <a:pPr eaLnBrk="1" hangingPunct="1"/>
            <a:r>
              <a:rPr lang="en-US" sz="3200" dirty="0" smtClean="0"/>
              <a:t>To provide faculty members with an understanding of the tenure and promotion processes</a:t>
            </a:r>
            <a:r>
              <a:rPr lang="en-US" sz="3600" dirty="0" smtClean="0"/>
              <a:t>.</a:t>
            </a:r>
          </a:p>
          <a:p>
            <a:pPr eaLnBrk="1" hangingPunct="1"/>
            <a:r>
              <a:rPr lang="en-CA" sz="3200" dirty="0" smtClean="0"/>
              <a:t>To support the success of faculty members going forward for tenure and promotion</a:t>
            </a:r>
            <a:r>
              <a:rPr lang="en-CA" sz="3600" dirty="0" smtClean="0"/>
              <a:t>.</a:t>
            </a:r>
            <a:endParaRPr lang="en-US" sz="3600" dirty="0" smtClean="0"/>
          </a:p>
        </p:txBody>
      </p:sp>
      <p:sp>
        <p:nvSpPr>
          <p:cNvPr id="4" name="Slide Number Placeholder 5"/>
          <p:cNvSpPr>
            <a:spLocks noGrp="1"/>
          </p:cNvSpPr>
          <p:nvPr>
            <p:ph type="sldNum" sz="quarter" idx="12"/>
          </p:nvPr>
        </p:nvSpPr>
        <p:spPr/>
        <p:txBody>
          <a:bodyPr/>
          <a:lstStyle/>
          <a:p>
            <a:pPr>
              <a:defRPr/>
            </a:pPr>
            <a:fld id="{4C874F28-D140-405E-9452-5E1430B9212A}" type="slidenum">
              <a:rPr lang="en-US" altLang="en-US"/>
              <a:pPr>
                <a:defRPr/>
              </a:pPr>
              <a:t>3</a:t>
            </a:fld>
            <a:endParaRPr lang="en-US" altLang="en-US"/>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z="3600" smtClean="0"/>
              <a:t>Tenure &amp; Promotion</a:t>
            </a:r>
            <a:r>
              <a:rPr lang="en-US" sz="3800" smtClean="0"/>
              <a:t>	</a:t>
            </a:r>
          </a:p>
        </p:txBody>
      </p:sp>
      <p:sp>
        <p:nvSpPr>
          <p:cNvPr id="8195" name="Rectangle 3"/>
          <p:cNvSpPr>
            <a:spLocks noGrp="1" noChangeArrowheads="1"/>
          </p:cNvSpPr>
          <p:nvPr>
            <p:ph idx="1"/>
          </p:nvPr>
        </p:nvSpPr>
        <p:spPr>
          <a:xfrm>
            <a:off x="914400" y="1524000"/>
            <a:ext cx="7848600" cy="4584700"/>
          </a:xfrm>
        </p:spPr>
        <p:txBody>
          <a:bodyPr/>
          <a:lstStyle/>
          <a:p>
            <a:pPr eaLnBrk="1" hangingPunct="1"/>
            <a:r>
              <a:rPr lang="en-US" smtClean="0"/>
              <a:t>Tenure Streams</a:t>
            </a:r>
          </a:p>
          <a:p>
            <a:pPr eaLnBrk="1" hangingPunct="1"/>
            <a:r>
              <a:rPr lang="en-US" smtClean="0"/>
              <a:t>Criteria</a:t>
            </a:r>
          </a:p>
          <a:p>
            <a:pPr eaLnBrk="1" hangingPunct="1"/>
            <a:r>
              <a:rPr lang="en-US" smtClean="0"/>
              <a:t>Tenure &amp; Tenure Clocks</a:t>
            </a:r>
          </a:p>
          <a:p>
            <a:pPr eaLnBrk="1" hangingPunct="1"/>
            <a:r>
              <a:rPr lang="en-US" smtClean="0"/>
              <a:t>Promotion Reviews</a:t>
            </a:r>
          </a:p>
          <a:p>
            <a:pPr eaLnBrk="1" hangingPunct="1"/>
            <a:r>
              <a:rPr lang="en-US" smtClean="0"/>
              <a:t>Schedules</a:t>
            </a:r>
          </a:p>
          <a:p>
            <a:pPr eaLnBrk="1" hangingPunct="1"/>
            <a:r>
              <a:rPr lang="en-US" smtClean="0"/>
              <a:t>Procedures</a:t>
            </a:r>
          </a:p>
          <a:p>
            <a:pPr eaLnBrk="1" hangingPunct="1"/>
            <a:r>
              <a:rPr lang="en-US" smtClean="0"/>
              <a:t>For Assistance…</a:t>
            </a:r>
          </a:p>
          <a:p>
            <a:pPr eaLnBrk="1" hangingPunct="1">
              <a:buFont typeface="Wingdings" pitchFamily="2" charset="2"/>
              <a:buNone/>
            </a:pPr>
            <a:endParaRPr lang="en-US" smtClean="0"/>
          </a:p>
        </p:txBody>
      </p:sp>
      <p:sp>
        <p:nvSpPr>
          <p:cNvPr id="4" name="Slide Number Placeholder 5"/>
          <p:cNvSpPr>
            <a:spLocks noGrp="1"/>
          </p:cNvSpPr>
          <p:nvPr>
            <p:ph type="sldNum" sz="quarter" idx="12"/>
          </p:nvPr>
        </p:nvSpPr>
        <p:spPr/>
        <p:txBody>
          <a:bodyPr/>
          <a:lstStyle/>
          <a:p>
            <a:pPr>
              <a:defRPr/>
            </a:pPr>
            <a:fld id="{CB40B2CA-AE52-407D-A953-A8A8ADFC895E}" type="slidenum">
              <a:rPr lang="en-US" altLang="en-US"/>
              <a:pPr>
                <a:defRPr/>
              </a:pPr>
              <a:t>4</a:t>
            </a:fld>
            <a:endParaRPr lang="en-US" alt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z="3800" smtClean="0"/>
              <a:t>The Tenure Streams</a:t>
            </a:r>
          </a:p>
        </p:txBody>
      </p:sp>
      <p:sp>
        <p:nvSpPr>
          <p:cNvPr id="11" name="Slide Number Placeholder 5"/>
          <p:cNvSpPr>
            <a:spLocks noGrp="1"/>
          </p:cNvSpPr>
          <p:nvPr>
            <p:ph type="sldNum" sz="quarter" idx="12"/>
          </p:nvPr>
        </p:nvSpPr>
        <p:spPr/>
        <p:txBody>
          <a:bodyPr/>
          <a:lstStyle/>
          <a:p>
            <a:pPr>
              <a:defRPr/>
            </a:pPr>
            <a:fld id="{D3EFDCFF-D8E4-4CCD-87E9-C2D877D66878}" type="slidenum">
              <a:rPr lang="en-US" altLang="en-US"/>
              <a:pPr>
                <a:defRPr/>
              </a:pPr>
              <a:t>5</a:t>
            </a:fld>
            <a:endParaRPr lang="en-US" altLang="en-US" dirty="0"/>
          </a:p>
        </p:txBody>
      </p:sp>
      <p:sp>
        <p:nvSpPr>
          <p:cNvPr id="9220" name="Rectangle 3"/>
          <p:cNvSpPr>
            <a:spLocks noChangeArrowheads="1"/>
          </p:cNvSpPr>
          <p:nvPr/>
        </p:nvSpPr>
        <p:spPr bwMode="auto">
          <a:xfrm>
            <a:off x="533400" y="1752600"/>
            <a:ext cx="8382000" cy="1752600"/>
          </a:xfrm>
          <a:prstGeom prst="rect">
            <a:avLst/>
          </a:prstGeom>
          <a:noFill/>
          <a:ln w="9525">
            <a:solidFill>
              <a:schemeClr val="tx1"/>
            </a:solidFill>
            <a:miter lim="800000"/>
            <a:headEnd/>
            <a:tailEnd/>
          </a:ln>
        </p:spPr>
        <p:txBody>
          <a:bodyPr wrap="none" anchor="ctr"/>
          <a:lstStyle/>
          <a:p>
            <a:pPr eaLnBrk="0" hangingPunct="0"/>
            <a:r>
              <a:rPr lang="en-US" sz="2400" i="0">
                <a:latin typeface="Times New Roman" pitchFamily="18" charset="0"/>
              </a:rPr>
              <a:t>			</a:t>
            </a:r>
            <a:r>
              <a:rPr lang="en-US" sz="2400" b="1" i="0"/>
              <a:t>The Professor Stream</a:t>
            </a:r>
          </a:p>
          <a:p>
            <a:pPr eaLnBrk="0" hangingPunct="0"/>
            <a:endParaRPr lang="en-US" sz="2400" b="1" i="0"/>
          </a:p>
          <a:p>
            <a:pPr eaLnBrk="0" hangingPunct="0"/>
            <a:r>
              <a:rPr lang="en-US" i="0"/>
              <a:t>Assistant Professor	     Associate Professor	         	     Professor </a:t>
            </a:r>
          </a:p>
          <a:p>
            <a:pPr eaLnBrk="0" hangingPunct="0"/>
            <a:endParaRPr lang="en-US" i="0"/>
          </a:p>
          <a:p>
            <a:pPr eaLnBrk="0" hangingPunct="0"/>
            <a:r>
              <a:rPr lang="en-US" i="0"/>
              <a:t>Instructor II</a:t>
            </a:r>
          </a:p>
        </p:txBody>
      </p:sp>
      <p:sp>
        <p:nvSpPr>
          <p:cNvPr id="9221" name="Rectangle 4"/>
          <p:cNvSpPr>
            <a:spLocks noChangeArrowheads="1"/>
          </p:cNvSpPr>
          <p:nvPr/>
        </p:nvSpPr>
        <p:spPr bwMode="auto">
          <a:xfrm>
            <a:off x="533400" y="3962400"/>
            <a:ext cx="8382000" cy="1371600"/>
          </a:xfrm>
          <a:prstGeom prst="rect">
            <a:avLst/>
          </a:prstGeom>
          <a:noFill/>
          <a:ln w="9525">
            <a:solidFill>
              <a:schemeClr val="tx1"/>
            </a:solidFill>
            <a:miter lim="800000"/>
            <a:headEnd/>
            <a:tailEnd/>
          </a:ln>
        </p:spPr>
        <p:txBody>
          <a:bodyPr wrap="none" anchor="ctr"/>
          <a:lstStyle/>
          <a:p>
            <a:pPr eaLnBrk="0" hangingPunct="0"/>
            <a:r>
              <a:rPr lang="en-US" sz="2400" b="1" i="0"/>
              <a:t>The Instructor Stream</a:t>
            </a:r>
          </a:p>
          <a:p>
            <a:pPr eaLnBrk="0" hangingPunct="0"/>
            <a:endParaRPr lang="en-US" sz="2400" i="0"/>
          </a:p>
          <a:p>
            <a:pPr eaLnBrk="0" hangingPunct="0"/>
            <a:r>
              <a:rPr lang="en-US" i="0"/>
              <a:t>Instructor I	        Senior Instructor	         	    Professor of Teaching</a:t>
            </a:r>
          </a:p>
        </p:txBody>
      </p:sp>
      <p:sp>
        <p:nvSpPr>
          <p:cNvPr id="9222" name="Line 5"/>
          <p:cNvSpPr>
            <a:spLocks noChangeShapeType="1"/>
          </p:cNvSpPr>
          <p:nvPr/>
        </p:nvSpPr>
        <p:spPr bwMode="auto">
          <a:xfrm>
            <a:off x="2971800" y="2667000"/>
            <a:ext cx="685800" cy="0"/>
          </a:xfrm>
          <a:prstGeom prst="line">
            <a:avLst/>
          </a:prstGeom>
          <a:noFill/>
          <a:ln w="9525">
            <a:solidFill>
              <a:schemeClr val="tx1"/>
            </a:solidFill>
            <a:round/>
            <a:headEnd/>
            <a:tailEnd type="triangle" w="med" len="med"/>
          </a:ln>
        </p:spPr>
        <p:txBody>
          <a:bodyPr/>
          <a:lstStyle/>
          <a:p>
            <a:endParaRPr lang="en-US"/>
          </a:p>
        </p:txBody>
      </p:sp>
      <p:sp>
        <p:nvSpPr>
          <p:cNvPr id="9223" name="Line 6"/>
          <p:cNvSpPr>
            <a:spLocks noChangeShapeType="1"/>
          </p:cNvSpPr>
          <p:nvPr/>
        </p:nvSpPr>
        <p:spPr bwMode="auto">
          <a:xfrm>
            <a:off x="6096000" y="2667000"/>
            <a:ext cx="1219200" cy="0"/>
          </a:xfrm>
          <a:prstGeom prst="line">
            <a:avLst/>
          </a:prstGeom>
          <a:noFill/>
          <a:ln w="9525">
            <a:solidFill>
              <a:schemeClr val="tx1"/>
            </a:solidFill>
            <a:round/>
            <a:headEnd/>
            <a:tailEnd type="triangle" w="med" len="med"/>
          </a:ln>
        </p:spPr>
        <p:txBody>
          <a:bodyPr/>
          <a:lstStyle/>
          <a:p>
            <a:endParaRPr lang="en-US"/>
          </a:p>
        </p:txBody>
      </p:sp>
      <p:sp>
        <p:nvSpPr>
          <p:cNvPr id="9224" name="Line 7"/>
          <p:cNvSpPr>
            <a:spLocks noChangeShapeType="1"/>
          </p:cNvSpPr>
          <p:nvPr/>
        </p:nvSpPr>
        <p:spPr bwMode="auto">
          <a:xfrm flipV="1">
            <a:off x="1143000" y="2819400"/>
            <a:ext cx="0" cy="381000"/>
          </a:xfrm>
          <a:prstGeom prst="line">
            <a:avLst/>
          </a:prstGeom>
          <a:noFill/>
          <a:ln w="9525">
            <a:solidFill>
              <a:schemeClr val="tx1"/>
            </a:solidFill>
            <a:round/>
            <a:headEnd/>
            <a:tailEnd type="triangle" w="med" len="med"/>
          </a:ln>
        </p:spPr>
        <p:txBody>
          <a:bodyPr/>
          <a:lstStyle/>
          <a:p>
            <a:endParaRPr lang="en-US"/>
          </a:p>
        </p:txBody>
      </p:sp>
      <p:sp>
        <p:nvSpPr>
          <p:cNvPr id="9225" name="Line 8"/>
          <p:cNvSpPr>
            <a:spLocks noChangeShapeType="1"/>
          </p:cNvSpPr>
          <p:nvPr/>
        </p:nvSpPr>
        <p:spPr bwMode="auto">
          <a:xfrm>
            <a:off x="1905000" y="5029200"/>
            <a:ext cx="990600" cy="0"/>
          </a:xfrm>
          <a:prstGeom prst="line">
            <a:avLst/>
          </a:prstGeom>
          <a:noFill/>
          <a:ln w="9525">
            <a:solidFill>
              <a:schemeClr val="tx1"/>
            </a:solidFill>
            <a:round/>
            <a:headEnd/>
            <a:tailEnd type="triangle" w="med" len="med"/>
          </a:ln>
        </p:spPr>
        <p:txBody>
          <a:bodyPr/>
          <a:lstStyle/>
          <a:p>
            <a:endParaRPr lang="en-US"/>
          </a:p>
        </p:txBody>
      </p:sp>
      <p:sp>
        <p:nvSpPr>
          <p:cNvPr id="9226" name="Text Box 9"/>
          <p:cNvSpPr txBox="1">
            <a:spLocks noChangeArrowheads="1"/>
          </p:cNvSpPr>
          <p:nvPr/>
        </p:nvSpPr>
        <p:spPr bwMode="auto">
          <a:xfrm>
            <a:off x="838200" y="5638800"/>
            <a:ext cx="7696200" cy="396875"/>
          </a:xfrm>
          <a:prstGeom prst="rect">
            <a:avLst/>
          </a:prstGeom>
          <a:noFill/>
          <a:ln w="9525" algn="ctr">
            <a:noFill/>
            <a:miter lim="800000"/>
            <a:headEnd/>
            <a:tailEnd/>
          </a:ln>
        </p:spPr>
        <p:txBody>
          <a:bodyPr>
            <a:spAutoFit/>
          </a:bodyPr>
          <a:lstStyle/>
          <a:p>
            <a:pPr algn="ctr" eaLnBrk="0" hangingPunct="0">
              <a:spcBef>
                <a:spcPct val="50000"/>
              </a:spcBef>
            </a:pPr>
            <a:endParaRPr lang="en-US"/>
          </a:p>
        </p:txBody>
      </p:sp>
      <p:sp>
        <p:nvSpPr>
          <p:cNvPr id="9227" name="Line 8"/>
          <p:cNvSpPr>
            <a:spLocks noChangeShapeType="1"/>
          </p:cNvSpPr>
          <p:nvPr/>
        </p:nvSpPr>
        <p:spPr bwMode="auto">
          <a:xfrm>
            <a:off x="5029200" y="5029200"/>
            <a:ext cx="12954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z="3600" smtClean="0"/>
              <a:t>The Criteria</a:t>
            </a:r>
          </a:p>
        </p:txBody>
      </p:sp>
      <p:sp>
        <p:nvSpPr>
          <p:cNvPr id="13" name="Slide Number Placeholder 5"/>
          <p:cNvSpPr>
            <a:spLocks noGrp="1"/>
          </p:cNvSpPr>
          <p:nvPr>
            <p:ph type="sldNum" sz="quarter" idx="12"/>
          </p:nvPr>
        </p:nvSpPr>
        <p:spPr/>
        <p:txBody>
          <a:bodyPr/>
          <a:lstStyle/>
          <a:p>
            <a:pPr>
              <a:defRPr/>
            </a:pPr>
            <a:fld id="{3E522D4E-8100-46D0-BE4B-BA9027ABAEDB}" type="slidenum">
              <a:rPr lang="en-US" altLang="en-US"/>
              <a:pPr>
                <a:defRPr/>
              </a:pPr>
              <a:t>6</a:t>
            </a:fld>
            <a:endParaRPr lang="en-US" altLang="en-US"/>
          </a:p>
        </p:txBody>
      </p:sp>
      <p:sp>
        <p:nvSpPr>
          <p:cNvPr id="10244" name="Text Box 9"/>
          <p:cNvSpPr txBox="1">
            <a:spLocks noChangeArrowheads="1"/>
          </p:cNvSpPr>
          <p:nvPr/>
        </p:nvSpPr>
        <p:spPr bwMode="auto">
          <a:xfrm>
            <a:off x="1295400" y="2057400"/>
            <a:ext cx="2495550" cy="442913"/>
          </a:xfrm>
          <a:prstGeom prst="rect">
            <a:avLst/>
          </a:prstGeom>
          <a:noFill/>
          <a:ln w="76200" cmpd="tri">
            <a:solidFill>
              <a:schemeClr val="tx1"/>
            </a:solidFill>
            <a:miter lim="800000"/>
            <a:headEnd/>
            <a:tailEnd/>
          </a:ln>
        </p:spPr>
        <p:txBody>
          <a:bodyPr wrap="none">
            <a:spAutoFit/>
          </a:bodyPr>
          <a:lstStyle/>
          <a:p>
            <a:pPr eaLnBrk="0" hangingPunct="0"/>
            <a:r>
              <a:rPr lang="en-US" sz="1800" i="0"/>
              <a:t>The Professor Stream</a:t>
            </a:r>
          </a:p>
        </p:txBody>
      </p:sp>
      <p:sp>
        <p:nvSpPr>
          <p:cNvPr id="10245" name="Text Box 10"/>
          <p:cNvSpPr txBox="1">
            <a:spLocks noChangeArrowheads="1"/>
          </p:cNvSpPr>
          <p:nvPr/>
        </p:nvSpPr>
        <p:spPr bwMode="auto">
          <a:xfrm>
            <a:off x="5638800" y="2057400"/>
            <a:ext cx="2470150" cy="442913"/>
          </a:xfrm>
          <a:prstGeom prst="rect">
            <a:avLst/>
          </a:prstGeom>
          <a:noFill/>
          <a:ln w="76200" cmpd="tri">
            <a:solidFill>
              <a:schemeClr val="tx1"/>
            </a:solidFill>
            <a:miter lim="800000"/>
            <a:headEnd/>
            <a:tailEnd/>
          </a:ln>
        </p:spPr>
        <p:txBody>
          <a:bodyPr wrap="none">
            <a:spAutoFit/>
          </a:bodyPr>
          <a:lstStyle/>
          <a:p>
            <a:pPr eaLnBrk="0" hangingPunct="0"/>
            <a:r>
              <a:rPr lang="en-US" sz="1800" i="0"/>
              <a:t>The Instructor Stream</a:t>
            </a:r>
          </a:p>
        </p:txBody>
      </p:sp>
      <p:sp>
        <p:nvSpPr>
          <p:cNvPr id="10246" name="Oval 11"/>
          <p:cNvSpPr>
            <a:spLocks noChangeArrowheads="1"/>
          </p:cNvSpPr>
          <p:nvPr/>
        </p:nvSpPr>
        <p:spPr bwMode="auto">
          <a:xfrm>
            <a:off x="1219200" y="2895600"/>
            <a:ext cx="2514600" cy="1600200"/>
          </a:xfrm>
          <a:prstGeom prst="ellipse">
            <a:avLst/>
          </a:prstGeom>
          <a:solidFill>
            <a:srgbClr val="CCFFCC"/>
          </a:solidFill>
          <a:ln w="9525">
            <a:solidFill>
              <a:schemeClr val="tx1"/>
            </a:solidFill>
            <a:round/>
            <a:headEnd/>
            <a:tailEnd/>
          </a:ln>
        </p:spPr>
        <p:txBody>
          <a:bodyPr wrap="none" anchor="ctr"/>
          <a:lstStyle/>
          <a:p>
            <a:pPr algn="ctr"/>
            <a:r>
              <a:rPr lang="en-US" sz="2400" i="0"/>
              <a:t>Service</a:t>
            </a:r>
          </a:p>
        </p:txBody>
      </p:sp>
      <p:sp>
        <p:nvSpPr>
          <p:cNvPr id="10247" name="Oval 12"/>
          <p:cNvSpPr>
            <a:spLocks noChangeArrowheads="1"/>
          </p:cNvSpPr>
          <p:nvPr/>
        </p:nvSpPr>
        <p:spPr bwMode="auto">
          <a:xfrm>
            <a:off x="5562600" y="2819400"/>
            <a:ext cx="2667000" cy="1524000"/>
          </a:xfrm>
          <a:prstGeom prst="ellipse">
            <a:avLst/>
          </a:prstGeom>
          <a:solidFill>
            <a:srgbClr val="CCFFCC"/>
          </a:solidFill>
          <a:ln w="9525">
            <a:solidFill>
              <a:schemeClr val="tx1"/>
            </a:solidFill>
            <a:round/>
            <a:headEnd/>
            <a:tailEnd/>
          </a:ln>
        </p:spPr>
        <p:txBody>
          <a:bodyPr wrap="none" anchor="ctr"/>
          <a:lstStyle/>
          <a:p>
            <a:pPr algn="ctr"/>
            <a:r>
              <a:rPr lang="en-US" sz="2400" i="0"/>
              <a:t>Service</a:t>
            </a:r>
          </a:p>
        </p:txBody>
      </p:sp>
      <p:sp>
        <p:nvSpPr>
          <p:cNvPr id="10248" name="Oval 13"/>
          <p:cNvSpPr>
            <a:spLocks noChangeArrowheads="1"/>
          </p:cNvSpPr>
          <p:nvPr/>
        </p:nvSpPr>
        <p:spPr bwMode="auto">
          <a:xfrm>
            <a:off x="5410200" y="3886200"/>
            <a:ext cx="2971800" cy="1905000"/>
          </a:xfrm>
          <a:prstGeom prst="ellipse">
            <a:avLst/>
          </a:prstGeom>
          <a:solidFill>
            <a:srgbClr val="CCFFFF"/>
          </a:solidFill>
          <a:ln w="9525">
            <a:solidFill>
              <a:schemeClr val="tx1"/>
            </a:solidFill>
            <a:round/>
            <a:headEnd/>
            <a:tailEnd/>
          </a:ln>
        </p:spPr>
        <p:txBody>
          <a:bodyPr wrap="none" anchor="ctr"/>
          <a:lstStyle/>
          <a:p>
            <a:pPr algn="ctr"/>
            <a:r>
              <a:rPr lang="en-US" sz="2400" i="0"/>
              <a:t>Teaching</a:t>
            </a:r>
          </a:p>
        </p:txBody>
      </p:sp>
      <p:sp>
        <p:nvSpPr>
          <p:cNvPr id="10249" name="Oval 14"/>
          <p:cNvSpPr>
            <a:spLocks noChangeArrowheads="1"/>
          </p:cNvSpPr>
          <p:nvPr/>
        </p:nvSpPr>
        <p:spPr bwMode="auto">
          <a:xfrm>
            <a:off x="2209800" y="3962400"/>
            <a:ext cx="2514600" cy="1752600"/>
          </a:xfrm>
          <a:prstGeom prst="ellipse">
            <a:avLst/>
          </a:prstGeom>
          <a:solidFill>
            <a:srgbClr val="CCFFFF"/>
          </a:solidFill>
          <a:ln w="9525">
            <a:solidFill>
              <a:schemeClr val="tx1"/>
            </a:solidFill>
            <a:round/>
            <a:headEnd/>
            <a:tailEnd/>
          </a:ln>
        </p:spPr>
        <p:txBody>
          <a:bodyPr wrap="none" anchor="ctr"/>
          <a:lstStyle/>
          <a:p>
            <a:pPr algn="ctr"/>
            <a:r>
              <a:rPr lang="en-US" sz="2400" i="0"/>
              <a:t>Teaching</a:t>
            </a:r>
          </a:p>
        </p:txBody>
      </p:sp>
      <p:sp>
        <p:nvSpPr>
          <p:cNvPr id="10250" name="Oval 15"/>
          <p:cNvSpPr>
            <a:spLocks noChangeArrowheads="1"/>
          </p:cNvSpPr>
          <p:nvPr/>
        </p:nvSpPr>
        <p:spPr bwMode="auto">
          <a:xfrm>
            <a:off x="457200" y="3962400"/>
            <a:ext cx="2362200" cy="1828800"/>
          </a:xfrm>
          <a:prstGeom prst="ellipse">
            <a:avLst/>
          </a:prstGeom>
          <a:solidFill>
            <a:srgbClr val="FFFF99"/>
          </a:solidFill>
          <a:ln w="9525">
            <a:solidFill>
              <a:schemeClr val="tx1"/>
            </a:solidFill>
            <a:round/>
            <a:headEnd/>
            <a:tailEnd/>
          </a:ln>
        </p:spPr>
        <p:txBody>
          <a:bodyPr wrap="none" anchor="ctr"/>
          <a:lstStyle/>
          <a:p>
            <a:pPr algn="ctr"/>
            <a:r>
              <a:rPr lang="en-US" sz="2400" i="0"/>
              <a:t>Research</a:t>
            </a:r>
          </a:p>
        </p:txBody>
      </p:sp>
      <p:sp>
        <p:nvSpPr>
          <p:cNvPr id="10251" name="Line 16"/>
          <p:cNvSpPr>
            <a:spLocks noChangeShapeType="1"/>
          </p:cNvSpPr>
          <p:nvPr/>
        </p:nvSpPr>
        <p:spPr bwMode="auto">
          <a:xfrm>
            <a:off x="5029200" y="1600200"/>
            <a:ext cx="0" cy="4343400"/>
          </a:xfrm>
          <a:prstGeom prst="line">
            <a:avLst/>
          </a:prstGeom>
          <a:noFill/>
          <a:ln w="38100" cmpd="dbl">
            <a:solidFill>
              <a:schemeClr val="tx1"/>
            </a:solidFill>
            <a:round/>
            <a:headEnd/>
            <a:tailEnd/>
          </a:ln>
        </p:spPr>
        <p:txBody>
          <a:bodyPr/>
          <a:lstStyle/>
          <a:p>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sz="3600" smtClean="0"/>
              <a:t>The Tenure Clock</a:t>
            </a:r>
          </a:p>
        </p:txBody>
      </p:sp>
      <p:sp>
        <p:nvSpPr>
          <p:cNvPr id="11267" name="Rectangle 3"/>
          <p:cNvSpPr>
            <a:spLocks noGrp="1" noChangeArrowheads="1"/>
          </p:cNvSpPr>
          <p:nvPr>
            <p:ph idx="1"/>
          </p:nvPr>
        </p:nvSpPr>
        <p:spPr>
          <a:xfrm>
            <a:off x="457200" y="1143000"/>
            <a:ext cx="8229600" cy="4530725"/>
          </a:xfrm>
        </p:spPr>
        <p:txBody>
          <a:bodyPr/>
          <a:lstStyle/>
          <a:p>
            <a:r>
              <a:rPr lang="en-US" sz="2600" smtClean="0"/>
              <a:t>The tenure clock begins on July 1 of the calendar year of hire</a:t>
            </a:r>
          </a:p>
          <a:p>
            <a:r>
              <a:rPr lang="en-US" sz="2600" smtClean="0"/>
              <a:t>Extensions are granted for maternity &amp; parental leaves (automatic) and sick leaves (on a case by case basis)</a:t>
            </a:r>
          </a:p>
          <a:p>
            <a:r>
              <a:rPr lang="en-US" sz="2600" smtClean="0"/>
              <a:t>An individual may only be reviewed one time for tenure </a:t>
            </a:r>
          </a:p>
          <a:p>
            <a:r>
              <a:rPr lang="en-US" sz="2600" smtClean="0"/>
              <a:t>All ranks, except Assistant Professor, may be reviewed early for tenure</a:t>
            </a:r>
          </a:p>
          <a:p>
            <a:r>
              <a:rPr lang="en-US" sz="2600" smtClean="0"/>
              <a:t>A tenure track Assistant Professor may be reviewed early for promotion to Associate Professor and if granted, tenure will be automatic</a:t>
            </a:r>
          </a:p>
        </p:txBody>
      </p:sp>
      <p:sp>
        <p:nvSpPr>
          <p:cNvPr id="4" name="Slide Number Placeholder 5"/>
          <p:cNvSpPr>
            <a:spLocks noGrp="1"/>
          </p:cNvSpPr>
          <p:nvPr>
            <p:ph type="sldNum" sz="quarter" idx="12"/>
          </p:nvPr>
        </p:nvSpPr>
        <p:spPr/>
        <p:txBody>
          <a:bodyPr/>
          <a:lstStyle/>
          <a:p>
            <a:pPr>
              <a:defRPr/>
            </a:pPr>
            <a:fld id="{EE86911F-1140-4301-9A5F-3B84D289CFB2}" type="slidenum">
              <a:rPr lang="en-US" altLang="en-US" smtClean="0"/>
              <a:pPr>
                <a:defRPr/>
              </a:pPr>
              <a:t>7</a:t>
            </a:fld>
            <a:endParaRPr lang="en-US" alt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sz="3600" smtClean="0"/>
              <a:t>The Tenure Clock</a:t>
            </a:r>
            <a:r>
              <a:rPr lang="en-US" sz="2900" smtClean="0"/>
              <a:t>	</a:t>
            </a:r>
          </a:p>
        </p:txBody>
      </p:sp>
      <p:sp>
        <p:nvSpPr>
          <p:cNvPr id="4" name="Slide Number Placeholder 5"/>
          <p:cNvSpPr>
            <a:spLocks noGrp="1"/>
          </p:cNvSpPr>
          <p:nvPr>
            <p:ph type="sldNum" sz="quarter" idx="12"/>
          </p:nvPr>
        </p:nvSpPr>
        <p:spPr/>
        <p:txBody>
          <a:bodyPr/>
          <a:lstStyle/>
          <a:p>
            <a:pPr>
              <a:defRPr/>
            </a:pPr>
            <a:fld id="{B2357308-D61A-4666-A78E-A1B02CEE31B7}" type="slidenum">
              <a:rPr lang="en-US" altLang="en-US"/>
              <a:pPr>
                <a:defRPr/>
              </a:pPr>
              <a:t>8</a:t>
            </a:fld>
            <a:endParaRPr lang="en-US" altLang="en-US"/>
          </a:p>
        </p:txBody>
      </p:sp>
      <p:graphicFrame>
        <p:nvGraphicFramePr>
          <p:cNvPr id="1026" name="Object 3"/>
          <p:cNvGraphicFramePr>
            <a:graphicFrameLocks noChangeAspect="1"/>
          </p:cNvGraphicFramePr>
          <p:nvPr/>
        </p:nvGraphicFramePr>
        <p:xfrm>
          <a:off x="1138673" y="1385888"/>
          <a:ext cx="7057590" cy="4252912"/>
        </p:xfrm>
        <a:graphic>
          <a:graphicData uri="http://schemas.openxmlformats.org/presentationml/2006/ole">
            <mc:AlternateContent xmlns:mc="http://schemas.openxmlformats.org/markup-compatibility/2006">
              <mc:Choice xmlns:v="urn:schemas-microsoft-com:vml" Requires="v">
                <p:oleObj spid="_x0000_s1148" name="Document" r:id="rId5" imgW="7315200" imgH="4394200" progId="Word.Document.8">
                  <p:embed/>
                </p:oleObj>
              </mc:Choice>
              <mc:Fallback>
                <p:oleObj name="Document" r:id="rId5" imgW="7315200" imgH="4394200" progId="Word.Document.8">
                  <p:embed/>
                  <p:pic>
                    <p:nvPicPr>
                      <p:cNvPr id="0" name="Picture 1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8673" y="1385888"/>
                        <a:ext cx="7057590" cy="4252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z="3600" smtClean="0"/>
              <a:t>The Procedures</a:t>
            </a:r>
          </a:p>
        </p:txBody>
      </p:sp>
      <p:sp>
        <p:nvSpPr>
          <p:cNvPr id="13315" name="Rectangle 3"/>
          <p:cNvSpPr>
            <a:spLocks noGrp="1" noChangeArrowheads="1"/>
          </p:cNvSpPr>
          <p:nvPr>
            <p:ph idx="1"/>
          </p:nvPr>
        </p:nvSpPr>
        <p:spPr>
          <a:xfrm>
            <a:off x="609600" y="1600200"/>
            <a:ext cx="7926388" cy="3429000"/>
          </a:xfrm>
        </p:spPr>
        <p:txBody>
          <a:bodyPr/>
          <a:lstStyle/>
          <a:p>
            <a:pPr marL="609600" indent="-609600" algn="ctr" eaLnBrk="1" hangingPunct="1">
              <a:lnSpc>
                <a:spcPct val="90000"/>
              </a:lnSpc>
              <a:buFont typeface="Wingdings" pitchFamily="2" charset="2"/>
              <a:buNone/>
            </a:pPr>
            <a:r>
              <a:rPr lang="en-US" sz="3200" smtClean="0"/>
              <a:t>The reappointment, tenure &amp; promotion</a:t>
            </a:r>
          </a:p>
          <a:p>
            <a:pPr marL="609600" indent="-609600" algn="ctr" eaLnBrk="1" hangingPunct="1">
              <a:lnSpc>
                <a:spcPct val="90000"/>
              </a:lnSpc>
              <a:buFont typeface="Wingdings" pitchFamily="2" charset="2"/>
              <a:buNone/>
            </a:pPr>
            <a:r>
              <a:rPr lang="en-US" sz="3200" smtClean="0"/>
              <a:t>procedures are set out in Articles 5 &amp; 9 of </a:t>
            </a:r>
          </a:p>
          <a:p>
            <a:pPr marL="609600" indent="-609600" algn="ctr" eaLnBrk="1" hangingPunct="1">
              <a:lnSpc>
                <a:spcPct val="90000"/>
              </a:lnSpc>
              <a:buFont typeface="Wingdings" pitchFamily="2" charset="2"/>
              <a:buNone/>
            </a:pPr>
            <a:r>
              <a:rPr lang="en-US" sz="3200" smtClean="0"/>
              <a:t> the </a:t>
            </a:r>
            <a:r>
              <a:rPr lang="en-US" sz="3200" i="1" smtClean="0"/>
              <a:t>Agreement on Conditions of</a:t>
            </a:r>
          </a:p>
          <a:p>
            <a:pPr marL="609600" indent="-609600" algn="ctr" eaLnBrk="1" hangingPunct="1">
              <a:lnSpc>
                <a:spcPct val="90000"/>
              </a:lnSpc>
              <a:buFont typeface="Wingdings" pitchFamily="2" charset="2"/>
              <a:buNone/>
            </a:pPr>
            <a:r>
              <a:rPr lang="en-US" sz="3200" i="1" smtClean="0"/>
              <a:t> Appointment for Faculty</a:t>
            </a:r>
            <a:r>
              <a:rPr lang="en-US" sz="3200" smtClean="0"/>
              <a:t>, and are</a:t>
            </a:r>
          </a:p>
          <a:p>
            <a:pPr marL="609600" indent="-609600" algn="ctr" eaLnBrk="1" hangingPunct="1">
              <a:lnSpc>
                <a:spcPct val="90000"/>
              </a:lnSpc>
              <a:buFont typeface="Wingdings" pitchFamily="2" charset="2"/>
              <a:buNone/>
            </a:pPr>
            <a:r>
              <a:rPr lang="en-US" sz="3200" smtClean="0"/>
              <a:t>supplemented by the </a:t>
            </a:r>
            <a:r>
              <a:rPr lang="en-US" sz="3200" i="1" smtClean="0"/>
              <a:t>Guide to Reappointment, Tenure and Promotion Procedures at UBC</a:t>
            </a:r>
          </a:p>
        </p:txBody>
      </p:sp>
      <p:sp>
        <p:nvSpPr>
          <p:cNvPr id="6" name="Slide Number Placeholder 5"/>
          <p:cNvSpPr>
            <a:spLocks noGrp="1"/>
          </p:cNvSpPr>
          <p:nvPr>
            <p:ph type="sldNum" sz="quarter" idx="12"/>
          </p:nvPr>
        </p:nvSpPr>
        <p:spPr/>
        <p:txBody>
          <a:bodyPr/>
          <a:lstStyle/>
          <a:p>
            <a:pPr>
              <a:defRPr/>
            </a:pPr>
            <a:fld id="{A8B77393-03FD-4D31-BA49-42B01DA85697}" type="slidenum">
              <a:rPr lang="en-US" altLang="en-US"/>
              <a:pPr>
                <a:defRPr/>
              </a:pPr>
              <a:t>9</a:t>
            </a:fld>
            <a:endParaRPr lang="en-US" alt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457200" y="304800"/>
            <a:ext cx="8229600" cy="1139825"/>
          </a:xfrm>
        </p:spPr>
        <p:txBody>
          <a:bodyPr/>
          <a:lstStyle/>
          <a:p>
            <a:pPr eaLnBrk="1" hangingPunct="1"/>
            <a:r>
              <a:rPr lang="en-US" sz="3600" dirty="0" smtClean="0"/>
              <a:t>Tenure and Promotion Clock</a:t>
            </a:r>
          </a:p>
        </p:txBody>
      </p:sp>
      <p:sp>
        <p:nvSpPr>
          <p:cNvPr id="4" name="Slide Number Placeholder 5"/>
          <p:cNvSpPr>
            <a:spLocks noGrp="1"/>
          </p:cNvSpPr>
          <p:nvPr>
            <p:ph type="sldNum" sz="quarter" idx="12"/>
          </p:nvPr>
        </p:nvSpPr>
        <p:spPr/>
        <p:txBody>
          <a:bodyPr/>
          <a:lstStyle/>
          <a:p>
            <a:pPr>
              <a:defRPr/>
            </a:pPr>
            <a:fld id="{D97BAFA6-9EA7-4840-9906-357B359F7FE3}" type="slidenum">
              <a:rPr lang="en-US" altLang="en-US"/>
              <a:pPr>
                <a:defRPr/>
              </a:pPr>
              <a:t>10</a:t>
            </a:fld>
            <a:endParaRPr lang="en-US" altLang="en-US"/>
          </a:p>
        </p:txBody>
      </p:sp>
      <p:graphicFrame>
        <p:nvGraphicFramePr>
          <p:cNvPr id="2050" name="Object 3"/>
          <p:cNvGraphicFramePr>
            <a:graphicFrameLocks noChangeAspect="1"/>
          </p:cNvGraphicFramePr>
          <p:nvPr/>
        </p:nvGraphicFramePr>
        <p:xfrm>
          <a:off x="1290638" y="989013"/>
          <a:ext cx="6477000" cy="5089525"/>
        </p:xfrm>
        <a:graphic>
          <a:graphicData uri="http://schemas.openxmlformats.org/presentationml/2006/ole">
            <mc:AlternateContent xmlns:mc="http://schemas.openxmlformats.org/markup-compatibility/2006">
              <mc:Choice xmlns:v="urn:schemas-microsoft-com:vml" Requires="v">
                <p:oleObj spid="_x0000_s2172" name="Document" r:id="rId5" imgW="6565900" imgH="5626100" progId="Word.Document.8">
                  <p:embed/>
                </p:oleObj>
              </mc:Choice>
              <mc:Fallback>
                <p:oleObj name="Document" r:id="rId5" imgW="6565900" imgH="5626100" progId="Word.Document.8">
                  <p:embed/>
                  <p:pic>
                    <p:nvPicPr>
                      <p:cNvPr id="0" name="Picture 12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0638" y="989013"/>
                        <a:ext cx="6477000" cy="5089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304800"/>
            <a:ext cx="8229600" cy="785813"/>
          </a:xfrm>
        </p:spPr>
        <p:txBody>
          <a:bodyPr/>
          <a:lstStyle/>
          <a:p>
            <a:pPr eaLnBrk="1" hangingPunct="1"/>
            <a:r>
              <a:rPr lang="en-US" sz="3600" smtClean="0"/>
              <a:t>Head’s Meeting</a:t>
            </a:r>
          </a:p>
        </p:txBody>
      </p:sp>
      <p:sp>
        <p:nvSpPr>
          <p:cNvPr id="4" name="Slide Number Placeholder 5"/>
          <p:cNvSpPr>
            <a:spLocks noGrp="1"/>
          </p:cNvSpPr>
          <p:nvPr>
            <p:ph type="sldNum" sz="quarter" idx="12"/>
          </p:nvPr>
        </p:nvSpPr>
        <p:spPr/>
        <p:txBody>
          <a:bodyPr/>
          <a:lstStyle/>
          <a:p>
            <a:pPr>
              <a:defRPr/>
            </a:pPr>
            <a:fld id="{74FD01A1-DF95-4522-87B0-ED45C7475980}" type="slidenum">
              <a:rPr lang="en-US" altLang="en-US"/>
              <a:pPr>
                <a:defRPr/>
              </a:pPr>
              <a:t>11</a:t>
            </a:fld>
            <a:endParaRPr lang="en-US" altLang="en-US"/>
          </a:p>
        </p:txBody>
      </p:sp>
      <p:sp>
        <p:nvSpPr>
          <p:cNvPr id="323587" name="Text Box 3"/>
          <p:cNvSpPr txBox="1">
            <a:spLocks noChangeArrowheads="1"/>
          </p:cNvSpPr>
          <p:nvPr/>
        </p:nvSpPr>
        <p:spPr bwMode="auto">
          <a:xfrm>
            <a:off x="914400" y="1524000"/>
            <a:ext cx="7239000" cy="2800350"/>
          </a:xfrm>
          <a:prstGeom prst="rect">
            <a:avLst/>
          </a:prstGeom>
          <a:noFill/>
          <a:ln w="9525">
            <a:noFill/>
            <a:miter lim="800000"/>
            <a:headEnd/>
            <a:tailEnd/>
          </a:ln>
        </p:spPr>
        <p:txBody>
          <a:bodyPr>
            <a:spAutoFit/>
          </a:bodyPr>
          <a:lstStyle/>
          <a:p>
            <a:pPr eaLnBrk="0" hangingPunct="0">
              <a:spcBef>
                <a:spcPct val="50000"/>
              </a:spcBef>
              <a:buClr>
                <a:schemeClr val="accent1"/>
              </a:buClr>
              <a:buFont typeface="Wingdings" pitchFamily="2" charset="2"/>
              <a:buChar char="§"/>
              <a:defRPr/>
            </a:pPr>
            <a:r>
              <a:rPr lang="en-US" sz="3200" i="0" dirty="0" smtClean="0">
                <a:latin typeface="+mn-lt"/>
              </a:rPr>
              <a:t> By June 30, the </a:t>
            </a:r>
            <a:r>
              <a:rPr lang="en-US" sz="3200" i="0" dirty="0">
                <a:latin typeface="+mn-lt"/>
              </a:rPr>
              <a:t>Head must meet with all tenure track faculty annually. </a:t>
            </a:r>
          </a:p>
          <a:p>
            <a:pPr eaLnBrk="0" hangingPunct="0">
              <a:spcBef>
                <a:spcPct val="50000"/>
              </a:spcBef>
              <a:buClr>
                <a:schemeClr val="accent1"/>
              </a:buClr>
              <a:buFont typeface="Wingdings" pitchFamily="2" charset="2"/>
              <a:buChar char="§"/>
              <a:defRPr/>
            </a:pPr>
            <a:r>
              <a:rPr lang="en-US" sz="3200" i="0" dirty="0" smtClean="0">
                <a:latin typeface="+mn-lt"/>
              </a:rPr>
              <a:t> For </a:t>
            </a:r>
            <a:r>
              <a:rPr lang="en-US" sz="3200" i="0" dirty="0">
                <a:latin typeface="+mn-lt"/>
              </a:rPr>
              <a:t>tenured faculty, we encourage annual meetings or, at minimum, at least in the 2 years prior to a promotion review.</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228600"/>
            <a:ext cx="8229600" cy="785813"/>
          </a:xfrm>
        </p:spPr>
        <p:txBody>
          <a:bodyPr/>
          <a:lstStyle/>
          <a:p>
            <a:pPr eaLnBrk="1" hangingPunct="1"/>
            <a:r>
              <a:rPr lang="en-US" sz="3600" smtClean="0"/>
              <a:t>Head’s Meeting</a:t>
            </a:r>
          </a:p>
        </p:txBody>
      </p:sp>
      <p:sp>
        <p:nvSpPr>
          <p:cNvPr id="4" name="Slide Number Placeholder 5"/>
          <p:cNvSpPr>
            <a:spLocks noGrp="1"/>
          </p:cNvSpPr>
          <p:nvPr>
            <p:ph type="sldNum" sz="quarter" idx="12"/>
          </p:nvPr>
        </p:nvSpPr>
        <p:spPr/>
        <p:txBody>
          <a:bodyPr/>
          <a:lstStyle/>
          <a:p>
            <a:pPr>
              <a:defRPr/>
            </a:pPr>
            <a:fld id="{23CCAEDE-544E-4C41-958C-5A53D688C326}" type="slidenum">
              <a:rPr lang="en-US" altLang="en-US"/>
              <a:pPr>
                <a:defRPr/>
              </a:pPr>
              <a:t>12</a:t>
            </a:fld>
            <a:endParaRPr lang="en-US" altLang="en-US"/>
          </a:p>
        </p:txBody>
      </p:sp>
      <p:sp>
        <p:nvSpPr>
          <p:cNvPr id="408579" name="Text Box 3"/>
          <p:cNvSpPr txBox="1">
            <a:spLocks noChangeArrowheads="1"/>
          </p:cNvSpPr>
          <p:nvPr/>
        </p:nvSpPr>
        <p:spPr bwMode="auto">
          <a:xfrm>
            <a:off x="990600" y="1447800"/>
            <a:ext cx="7239000" cy="4524315"/>
          </a:xfrm>
          <a:prstGeom prst="rect">
            <a:avLst/>
          </a:prstGeom>
          <a:noFill/>
          <a:ln w="9525">
            <a:noFill/>
            <a:miter lim="800000"/>
            <a:headEnd/>
            <a:tailEnd/>
          </a:ln>
        </p:spPr>
        <p:txBody>
          <a:bodyPr>
            <a:spAutoFit/>
          </a:bodyPr>
          <a:lstStyle/>
          <a:p>
            <a:pPr eaLnBrk="0" hangingPunct="0">
              <a:spcBef>
                <a:spcPct val="50000"/>
              </a:spcBef>
              <a:buClr>
                <a:schemeClr val="accent1"/>
              </a:buClr>
              <a:buFont typeface="Wingdings" pitchFamily="2" charset="2"/>
              <a:buChar char="§"/>
              <a:defRPr/>
            </a:pPr>
            <a:r>
              <a:rPr lang="en-US" sz="3200" i="0" dirty="0" smtClean="0">
                <a:latin typeface="+mn-lt"/>
              </a:rPr>
              <a:t>It’s </a:t>
            </a:r>
            <a:r>
              <a:rPr lang="en-US" sz="3200" i="0" dirty="0">
                <a:latin typeface="+mn-lt"/>
              </a:rPr>
              <a:t>an opportunity to clearly note the strengths, deficiencies and opportunities for improvement</a:t>
            </a:r>
            <a:endParaRPr lang="en-US" sz="3200" i="0" dirty="0" smtClean="0">
              <a:latin typeface="+mn-lt"/>
            </a:endParaRPr>
          </a:p>
          <a:p>
            <a:pPr eaLnBrk="0" hangingPunct="0">
              <a:spcBef>
                <a:spcPct val="50000"/>
              </a:spcBef>
              <a:buClr>
                <a:schemeClr val="accent1"/>
              </a:buClr>
              <a:buFont typeface="Wingdings" pitchFamily="2" charset="2"/>
              <a:buChar char="§"/>
              <a:defRPr/>
            </a:pPr>
            <a:r>
              <a:rPr lang="en-US" sz="3200" i="0" dirty="0" smtClean="0">
                <a:latin typeface="+mn-lt"/>
              </a:rPr>
              <a:t>It </a:t>
            </a:r>
            <a:r>
              <a:rPr lang="en-US" sz="3200" i="0" dirty="0">
                <a:latin typeface="+mn-lt"/>
              </a:rPr>
              <a:t>is also important to receive advice re the CV &amp; other relevant material required for the next review.</a:t>
            </a:r>
          </a:p>
          <a:p>
            <a:pPr eaLnBrk="0" hangingPunct="0">
              <a:spcBef>
                <a:spcPct val="50000"/>
              </a:spcBef>
              <a:buClr>
                <a:schemeClr val="accent1"/>
              </a:buClr>
              <a:buFont typeface="Wingdings" pitchFamily="2" charset="2"/>
              <a:buChar char="§"/>
              <a:defRPr/>
            </a:pPr>
            <a:r>
              <a:rPr lang="en-US" sz="3200" i="0" dirty="0">
                <a:latin typeface="+mn-lt"/>
              </a:rPr>
              <a:t>The Head &amp; candidate must agree in writing on matters discussed.</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 Initial File</a:t>
            </a:r>
            <a:endParaRPr lang="en-US" dirty="0"/>
          </a:p>
        </p:txBody>
      </p:sp>
      <p:sp>
        <p:nvSpPr>
          <p:cNvPr id="4" name="Slide Number Placeholder 3"/>
          <p:cNvSpPr>
            <a:spLocks noGrp="1"/>
          </p:cNvSpPr>
          <p:nvPr>
            <p:ph type="sldNum" sz="quarter" idx="12"/>
          </p:nvPr>
        </p:nvSpPr>
        <p:spPr/>
        <p:txBody>
          <a:bodyPr/>
          <a:lstStyle/>
          <a:p>
            <a:pPr>
              <a:defRPr/>
            </a:pPr>
            <a:fld id="{4A2A61F4-C49E-4655-89F2-64B9779AD683}" type="slidenum">
              <a:rPr lang="en-US" altLang="en-US" smtClean="0"/>
              <a:pPr>
                <a:defRPr/>
              </a:pPr>
              <a:t>13</a:t>
            </a:fld>
            <a:endParaRPr lang="en-US" altLang="en-US"/>
          </a:p>
        </p:txBody>
      </p:sp>
      <p:sp>
        <p:nvSpPr>
          <p:cNvPr id="5" name="Text Box 3"/>
          <p:cNvSpPr txBox="1">
            <a:spLocks noChangeArrowheads="1"/>
          </p:cNvSpPr>
          <p:nvPr/>
        </p:nvSpPr>
        <p:spPr bwMode="auto">
          <a:xfrm>
            <a:off x="990600" y="2057400"/>
            <a:ext cx="7239000" cy="2062103"/>
          </a:xfrm>
          <a:prstGeom prst="rect">
            <a:avLst/>
          </a:prstGeom>
          <a:noFill/>
          <a:ln w="9525">
            <a:noFill/>
            <a:miter lim="800000"/>
            <a:headEnd/>
            <a:tailEnd/>
          </a:ln>
        </p:spPr>
        <p:txBody>
          <a:bodyPr>
            <a:spAutoFit/>
          </a:bodyPr>
          <a:lstStyle/>
          <a:p>
            <a:pPr eaLnBrk="0" hangingPunct="0">
              <a:spcBef>
                <a:spcPct val="50000"/>
              </a:spcBef>
              <a:buClr>
                <a:schemeClr val="accent1"/>
              </a:buClr>
              <a:buFont typeface="Wingdings" pitchFamily="2" charset="2"/>
              <a:buChar char="§"/>
              <a:defRPr/>
            </a:pPr>
            <a:r>
              <a:rPr lang="en-US" sz="3200" i="0" dirty="0" smtClean="0">
                <a:latin typeface="+mn-lt"/>
              </a:rPr>
              <a:t> Unless otherwise agreed, the faculty member’s dossier and all relevant documentation necessary for review must be submitted by September 15.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28600"/>
            <a:ext cx="8229600" cy="785813"/>
          </a:xfrm>
        </p:spPr>
        <p:txBody>
          <a:bodyPr/>
          <a:lstStyle/>
          <a:p>
            <a:pPr eaLnBrk="1" hangingPunct="1"/>
            <a:r>
              <a:rPr lang="en-US" sz="3600" smtClean="0"/>
              <a:t>Eligibility to be Consulted</a:t>
            </a:r>
          </a:p>
        </p:txBody>
      </p:sp>
      <p:sp>
        <p:nvSpPr>
          <p:cNvPr id="5" name="Slide Number Placeholder 5"/>
          <p:cNvSpPr>
            <a:spLocks noGrp="1"/>
          </p:cNvSpPr>
          <p:nvPr>
            <p:ph type="sldNum" sz="quarter" idx="12"/>
          </p:nvPr>
        </p:nvSpPr>
        <p:spPr/>
        <p:txBody>
          <a:bodyPr/>
          <a:lstStyle/>
          <a:p>
            <a:pPr>
              <a:defRPr/>
            </a:pPr>
            <a:fld id="{AA046F23-299D-4B88-9518-77AECB2082D9}" type="slidenum">
              <a:rPr lang="en-US" altLang="en-US"/>
              <a:pPr>
                <a:defRPr/>
              </a:pPr>
              <a:t>14</a:t>
            </a:fld>
            <a:endParaRPr lang="en-US" altLang="en-US"/>
          </a:p>
        </p:txBody>
      </p:sp>
      <p:sp>
        <p:nvSpPr>
          <p:cNvPr id="20484" name="Text Box 3"/>
          <p:cNvSpPr txBox="1">
            <a:spLocks noChangeArrowheads="1"/>
          </p:cNvSpPr>
          <p:nvPr/>
        </p:nvSpPr>
        <p:spPr bwMode="auto">
          <a:xfrm>
            <a:off x="1066800" y="990600"/>
            <a:ext cx="7086600" cy="6555640"/>
          </a:xfrm>
          <a:prstGeom prst="rect">
            <a:avLst/>
          </a:prstGeom>
          <a:noFill/>
          <a:ln w="9525">
            <a:noFill/>
            <a:miter lim="800000"/>
            <a:headEnd/>
            <a:tailEnd/>
          </a:ln>
        </p:spPr>
        <p:txBody>
          <a:bodyPr wrap="square">
            <a:spAutoFit/>
          </a:bodyPr>
          <a:lstStyle/>
          <a:p>
            <a:pPr eaLnBrk="0" hangingPunct="0">
              <a:spcBef>
                <a:spcPct val="50000"/>
              </a:spcBef>
              <a:buFont typeface="Arial" pitchFamily="34" charset="0"/>
              <a:buChar char="•"/>
              <a:defRPr/>
            </a:pPr>
            <a:r>
              <a:rPr lang="en-US" sz="3200" i="0" dirty="0">
                <a:latin typeface="+mn-lt"/>
              </a:rPr>
              <a:t>The Head must consult with eligible members of the departmental standing committee on all reappointment, tenure and promotion cases</a:t>
            </a:r>
            <a:r>
              <a:rPr lang="en-US" sz="3200" i="0" dirty="0" smtClean="0">
                <a:latin typeface="+mn-lt"/>
              </a:rPr>
              <a:t>.</a:t>
            </a:r>
          </a:p>
          <a:p>
            <a:pPr eaLnBrk="0" hangingPunct="0">
              <a:spcBef>
                <a:spcPct val="50000"/>
              </a:spcBef>
              <a:buFont typeface="Arial" pitchFamily="34" charset="0"/>
              <a:buChar char="•"/>
              <a:defRPr/>
            </a:pPr>
            <a:r>
              <a:rPr lang="en-US" sz="3200" i="0" dirty="0" smtClean="0">
                <a:latin typeface="+mn-lt"/>
              </a:rPr>
              <a:t>Each Academic Unit is required to have documented procedures regarding consultation with the departmental standing committee for all reappointment, tenure and promotion cases.</a:t>
            </a:r>
          </a:p>
          <a:p>
            <a:pPr eaLnBrk="0" hangingPunct="0">
              <a:spcBef>
                <a:spcPct val="50000"/>
              </a:spcBef>
              <a:defRPr/>
            </a:pPr>
            <a:endParaRPr lang="en-US" sz="3200" i="0" dirty="0" smtClean="0">
              <a:latin typeface="+mn-lt"/>
            </a:endParaRPr>
          </a:p>
          <a:p>
            <a:pPr algn="ctr" eaLnBrk="0" hangingPunct="0">
              <a:spcBef>
                <a:spcPct val="50000"/>
              </a:spcBef>
              <a:defRPr/>
            </a:pPr>
            <a:endParaRPr lang="en-US" sz="2400" i="0" dirty="0"/>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28600"/>
            <a:ext cx="8229600" cy="785813"/>
          </a:xfrm>
        </p:spPr>
        <p:txBody>
          <a:bodyPr/>
          <a:lstStyle/>
          <a:p>
            <a:pPr eaLnBrk="1" hangingPunct="1"/>
            <a:r>
              <a:rPr lang="en-US" sz="3600" smtClean="0"/>
              <a:t>Letters of Reference</a:t>
            </a:r>
          </a:p>
        </p:txBody>
      </p:sp>
      <p:sp>
        <p:nvSpPr>
          <p:cNvPr id="5" name="Slide Number Placeholder 5"/>
          <p:cNvSpPr>
            <a:spLocks noGrp="1"/>
          </p:cNvSpPr>
          <p:nvPr>
            <p:ph type="sldNum" sz="quarter" idx="12"/>
          </p:nvPr>
        </p:nvSpPr>
        <p:spPr/>
        <p:txBody>
          <a:bodyPr/>
          <a:lstStyle/>
          <a:p>
            <a:pPr>
              <a:defRPr/>
            </a:pPr>
            <a:fld id="{5E8B2E43-6CFE-47CC-966D-3CE5D0EA63E2}" type="slidenum">
              <a:rPr lang="en-US" altLang="en-US"/>
              <a:pPr>
                <a:defRPr/>
              </a:pPr>
              <a:t>15</a:t>
            </a:fld>
            <a:endParaRPr lang="en-US" altLang="en-US"/>
          </a:p>
        </p:txBody>
      </p:sp>
      <p:sp>
        <p:nvSpPr>
          <p:cNvPr id="325635" name="Text Box 3"/>
          <p:cNvSpPr txBox="1">
            <a:spLocks noChangeArrowheads="1"/>
          </p:cNvSpPr>
          <p:nvPr/>
        </p:nvSpPr>
        <p:spPr bwMode="auto">
          <a:xfrm>
            <a:off x="685800" y="1600200"/>
            <a:ext cx="7848600" cy="4770537"/>
          </a:xfrm>
          <a:prstGeom prst="rect">
            <a:avLst/>
          </a:prstGeom>
          <a:noFill/>
          <a:ln w="9525">
            <a:noFill/>
            <a:miter lim="800000"/>
            <a:headEnd/>
            <a:tailEnd/>
          </a:ln>
        </p:spPr>
        <p:txBody>
          <a:bodyPr>
            <a:spAutoFit/>
          </a:bodyPr>
          <a:lstStyle/>
          <a:p>
            <a:pPr eaLnBrk="0" hangingPunct="0">
              <a:spcBef>
                <a:spcPct val="50000"/>
              </a:spcBef>
              <a:buFont typeface="Arial" pitchFamily="34" charset="0"/>
              <a:buChar char="•"/>
              <a:defRPr/>
            </a:pPr>
            <a:r>
              <a:rPr lang="en-US" sz="3200" i="0" dirty="0">
                <a:latin typeface="+mn-lt"/>
              </a:rPr>
              <a:t>All tenure and promotion cases require 4</a:t>
            </a:r>
            <a:r>
              <a:rPr lang="en-US" sz="3200" i="0" dirty="0" smtClean="0">
                <a:latin typeface="+mn-lt"/>
              </a:rPr>
              <a:t>       letters </a:t>
            </a:r>
            <a:r>
              <a:rPr lang="en-US" sz="3200" i="0" dirty="0">
                <a:latin typeface="+mn-lt"/>
              </a:rPr>
              <a:t>of reference.</a:t>
            </a:r>
          </a:p>
          <a:p>
            <a:pPr eaLnBrk="0" hangingPunct="0">
              <a:spcBef>
                <a:spcPct val="50000"/>
              </a:spcBef>
              <a:buFont typeface="Arial" pitchFamily="34" charset="0"/>
              <a:buChar char="•"/>
              <a:defRPr/>
            </a:pPr>
            <a:r>
              <a:rPr lang="en-US" sz="3200" i="0" dirty="0">
                <a:latin typeface="+mn-lt"/>
              </a:rPr>
              <a:t>The candidate provides 4 names, of which 2 must be solicited</a:t>
            </a:r>
            <a:r>
              <a:rPr lang="en-US" sz="3200" i="0" dirty="0" smtClean="0">
                <a:latin typeface="+mn-lt"/>
              </a:rPr>
              <a:t>.</a:t>
            </a:r>
          </a:p>
          <a:p>
            <a:pPr eaLnBrk="0" hangingPunct="0">
              <a:spcBef>
                <a:spcPct val="50000"/>
              </a:spcBef>
              <a:buFont typeface="Arial" pitchFamily="34" charset="0"/>
              <a:buChar char="•"/>
              <a:defRPr/>
            </a:pPr>
            <a:r>
              <a:rPr lang="en-US" sz="3200" i="0" dirty="0" smtClean="0">
                <a:latin typeface="+mn-lt"/>
              </a:rPr>
              <a:t>The Head then consults with the departmental standing committee on choosing the final list of referees.</a:t>
            </a:r>
          </a:p>
          <a:p>
            <a:pPr algn="ctr" eaLnBrk="0" hangingPunct="0">
              <a:spcBef>
                <a:spcPct val="50000"/>
              </a:spcBef>
              <a:defRPr/>
            </a:pPr>
            <a:endParaRPr lang="en-US" sz="3200" i="0" dirty="0">
              <a:latin typeface="+mn-lt"/>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28600"/>
            <a:ext cx="8229600" cy="785813"/>
          </a:xfrm>
        </p:spPr>
        <p:txBody>
          <a:bodyPr/>
          <a:lstStyle/>
          <a:p>
            <a:pPr eaLnBrk="1" hangingPunct="1"/>
            <a:r>
              <a:rPr lang="en-US" sz="3600" dirty="0" smtClean="0"/>
              <a:t>Letters of Reference: must be arm’s length</a:t>
            </a:r>
          </a:p>
        </p:txBody>
      </p:sp>
      <p:sp>
        <p:nvSpPr>
          <p:cNvPr id="5" name="Slide Number Placeholder 5"/>
          <p:cNvSpPr>
            <a:spLocks noGrp="1"/>
          </p:cNvSpPr>
          <p:nvPr>
            <p:ph type="sldNum" sz="quarter" idx="12"/>
          </p:nvPr>
        </p:nvSpPr>
        <p:spPr/>
        <p:txBody>
          <a:bodyPr/>
          <a:lstStyle/>
          <a:p>
            <a:pPr>
              <a:defRPr/>
            </a:pPr>
            <a:fld id="{411C7E4F-21F0-48F7-BE59-4F590FD051A8}" type="slidenum">
              <a:rPr lang="en-US" altLang="en-US"/>
              <a:pPr>
                <a:defRPr/>
              </a:pPr>
              <a:t>16</a:t>
            </a:fld>
            <a:endParaRPr lang="en-US" altLang="en-US"/>
          </a:p>
        </p:txBody>
      </p:sp>
      <p:sp>
        <p:nvSpPr>
          <p:cNvPr id="24580" name="Text Box 3"/>
          <p:cNvSpPr txBox="1">
            <a:spLocks noChangeArrowheads="1"/>
          </p:cNvSpPr>
          <p:nvPr/>
        </p:nvSpPr>
        <p:spPr bwMode="auto">
          <a:xfrm>
            <a:off x="533400" y="1447800"/>
            <a:ext cx="7848600" cy="5539978"/>
          </a:xfrm>
          <a:prstGeom prst="rect">
            <a:avLst/>
          </a:prstGeom>
          <a:noFill/>
          <a:ln w="9525">
            <a:noFill/>
            <a:miter lim="800000"/>
            <a:headEnd/>
            <a:tailEnd/>
          </a:ln>
        </p:spPr>
        <p:txBody>
          <a:bodyPr wrap="square">
            <a:spAutoFit/>
          </a:bodyPr>
          <a:lstStyle/>
          <a:p>
            <a:pPr algn="ctr" eaLnBrk="0" hangingPunct="0">
              <a:spcBef>
                <a:spcPct val="50000"/>
              </a:spcBef>
              <a:defRPr/>
            </a:pPr>
            <a:r>
              <a:rPr lang="en-US" sz="3200" i="0" dirty="0">
                <a:latin typeface="+mn-lt"/>
              </a:rPr>
              <a:t>What does arm’s length mean?</a:t>
            </a:r>
          </a:p>
          <a:p>
            <a:pPr eaLnBrk="0" hangingPunct="0">
              <a:spcBef>
                <a:spcPct val="50000"/>
              </a:spcBef>
              <a:defRPr/>
            </a:pPr>
            <a:r>
              <a:rPr lang="en-US" sz="3200" i="0" dirty="0">
                <a:latin typeface="+mn-lt"/>
              </a:rPr>
              <a:t>Persons whose impartiality cannot be doubted. They are not normally expected to include such categories as relatives, close personal friends, clients, current or former colleagues, former thesis advisers, research supervisors, grant co-holders or co-authors. </a:t>
            </a:r>
          </a:p>
          <a:p>
            <a:pPr eaLnBrk="0" hangingPunct="0">
              <a:spcBef>
                <a:spcPct val="50000"/>
              </a:spcBef>
              <a:defRPr/>
            </a:pPr>
            <a:endParaRPr lang="en-US" sz="3800" i="0" dirty="0"/>
          </a:p>
          <a:p>
            <a:pPr eaLnBrk="0" hangingPunct="0">
              <a:spcBef>
                <a:spcPct val="50000"/>
              </a:spcBef>
              <a:buFont typeface="Arial" charset="0"/>
              <a:buChar char="•"/>
              <a:defRPr/>
            </a:pPr>
            <a:endParaRPr lang="en-US" sz="3800" dirty="0"/>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228600"/>
            <a:ext cx="8229600" cy="911225"/>
          </a:xfrm>
        </p:spPr>
        <p:txBody>
          <a:bodyPr/>
          <a:lstStyle/>
          <a:p>
            <a:pPr eaLnBrk="1" hangingPunct="1"/>
            <a:r>
              <a:rPr lang="en-US" sz="3600" dirty="0" smtClean="0"/>
              <a:t>What referees receive</a:t>
            </a:r>
            <a:br>
              <a:rPr lang="en-US" sz="3600" dirty="0" smtClean="0"/>
            </a:br>
            <a:endParaRPr lang="en-US" sz="3600" dirty="0" smtClean="0"/>
          </a:p>
        </p:txBody>
      </p:sp>
      <p:sp>
        <p:nvSpPr>
          <p:cNvPr id="4" name="Slide Number Placeholder 3"/>
          <p:cNvSpPr>
            <a:spLocks noGrp="1"/>
          </p:cNvSpPr>
          <p:nvPr>
            <p:ph type="sldNum" sz="quarter" idx="12"/>
          </p:nvPr>
        </p:nvSpPr>
        <p:spPr/>
        <p:txBody>
          <a:bodyPr/>
          <a:lstStyle/>
          <a:p>
            <a:pPr>
              <a:defRPr/>
            </a:pPr>
            <a:fld id="{586146D7-1312-4B09-98C8-7AE0187EE1EA}" type="slidenum">
              <a:rPr lang="en-US" altLang="en-US" smtClean="0"/>
              <a:pPr>
                <a:defRPr/>
              </a:pPr>
              <a:t>17</a:t>
            </a:fld>
            <a:endParaRPr lang="en-US" altLang="en-US"/>
          </a:p>
        </p:txBody>
      </p:sp>
      <p:sp>
        <p:nvSpPr>
          <p:cNvPr id="25604" name="TextBox 6"/>
          <p:cNvSpPr txBox="1">
            <a:spLocks noChangeArrowheads="1"/>
          </p:cNvSpPr>
          <p:nvPr/>
        </p:nvSpPr>
        <p:spPr bwMode="auto">
          <a:xfrm>
            <a:off x="609600" y="1219200"/>
            <a:ext cx="7772400" cy="4031873"/>
          </a:xfrm>
          <a:prstGeom prst="rect">
            <a:avLst/>
          </a:prstGeom>
          <a:noFill/>
          <a:ln w="9525">
            <a:noFill/>
            <a:miter lim="800000"/>
            <a:headEnd/>
            <a:tailEnd/>
          </a:ln>
        </p:spPr>
        <p:txBody>
          <a:bodyPr wrap="square">
            <a:spAutoFit/>
          </a:bodyPr>
          <a:lstStyle/>
          <a:p>
            <a:pPr eaLnBrk="0" hangingPunct="0">
              <a:spcBef>
                <a:spcPct val="50000"/>
              </a:spcBef>
              <a:buFont typeface="Arial" pitchFamily="34" charset="0"/>
              <a:buChar char="•"/>
              <a:defRPr/>
            </a:pPr>
            <a:endParaRPr lang="en-US" sz="3200" i="0" dirty="0" smtClean="0">
              <a:latin typeface="+mn-lt"/>
            </a:endParaRPr>
          </a:p>
          <a:p>
            <a:pPr eaLnBrk="0" hangingPunct="0">
              <a:spcBef>
                <a:spcPct val="50000"/>
              </a:spcBef>
              <a:buFont typeface="Arial" pitchFamily="34" charset="0"/>
              <a:buChar char="•"/>
              <a:defRPr/>
            </a:pPr>
            <a:r>
              <a:rPr lang="en-US" sz="3200" i="0" dirty="0" smtClean="0">
                <a:latin typeface="+mn-lt"/>
              </a:rPr>
              <a:t>The </a:t>
            </a:r>
            <a:r>
              <a:rPr lang="en-US" sz="3200" i="0" dirty="0">
                <a:latin typeface="+mn-lt"/>
              </a:rPr>
              <a:t>letter of request is only accompanied by the candidate’s CV and selected materials relevant for the assessment of scholarly achievements.</a:t>
            </a:r>
          </a:p>
          <a:p>
            <a:pPr eaLnBrk="0" hangingPunct="0">
              <a:spcBef>
                <a:spcPct val="50000"/>
              </a:spcBef>
              <a:buFont typeface="Arial" pitchFamily="34" charset="0"/>
              <a:buChar char="•"/>
              <a:defRPr/>
            </a:pPr>
            <a:r>
              <a:rPr lang="en-US" sz="3200" i="0" dirty="0">
                <a:latin typeface="+mn-lt"/>
              </a:rPr>
              <a:t>Teaching dossiers are usually only included for Senior Instructor cases.</a:t>
            </a: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28600"/>
            <a:ext cx="8229600" cy="1216025"/>
          </a:xfrm>
        </p:spPr>
        <p:txBody>
          <a:bodyPr/>
          <a:lstStyle/>
          <a:p>
            <a:pPr eaLnBrk="1" hangingPunct="1"/>
            <a:r>
              <a:rPr lang="en-US" sz="3600" smtClean="0"/>
              <a:t>Tenure &amp; Promotion Reviews</a:t>
            </a:r>
          </a:p>
        </p:txBody>
      </p:sp>
      <p:graphicFrame>
        <p:nvGraphicFramePr>
          <p:cNvPr id="381403" name="Group 475"/>
          <p:cNvGraphicFramePr>
            <a:graphicFrameLocks noGrp="1"/>
          </p:cNvGraphicFramePr>
          <p:nvPr>
            <p:ph sz="half" idx="1"/>
          </p:nvPr>
        </p:nvGraphicFramePr>
        <p:xfrm>
          <a:off x="457200" y="1600200"/>
          <a:ext cx="4038600" cy="914400"/>
        </p:xfrm>
        <a:graphic>
          <a:graphicData uri="http://schemas.openxmlformats.org/drawingml/2006/table">
            <a:tbl>
              <a:tblPr/>
              <a:tblGrid>
                <a:gridCol w="4038600"/>
              </a:tblGrid>
              <a:tr h="9144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Department Standing Committee meets after obtaining letters of reference</a:t>
                      </a:r>
                      <a:endParaRPr kumimoji="0" lang="en-US" sz="14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81416" name="Group 488"/>
          <p:cNvGraphicFramePr>
            <a:graphicFrameLocks noGrp="1"/>
          </p:cNvGraphicFramePr>
          <p:nvPr>
            <p:ph sz="quarter" idx="2"/>
          </p:nvPr>
        </p:nvGraphicFramePr>
        <p:xfrm>
          <a:off x="4648200" y="1600200"/>
          <a:ext cx="4038600" cy="914400"/>
        </p:xfrm>
        <a:graphic>
          <a:graphicData uri="http://schemas.openxmlformats.org/drawingml/2006/table">
            <a:tbl>
              <a:tblPr/>
              <a:tblGrid>
                <a:gridCol w="4038600"/>
              </a:tblGrid>
              <a:tr h="9144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Department Standing Committee votes &amp; recommends to Head</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81431" name="Group 503"/>
          <p:cNvGraphicFramePr>
            <a:graphicFrameLocks noGrp="1"/>
          </p:cNvGraphicFramePr>
          <p:nvPr>
            <p:ph sz="quarter" idx="3"/>
          </p:nvPr>
        </p:nvGraphicFramePr>
        <p:xfrm>
          <a:off x="609600" y="4495800"/>
          <a:ext cx="3886200" cy="1316038"/>
        </p:xfrm>
        <a:graphic>
          <a:graphicData uri="http://schemas.openxmlformats.org/drawingml/2006/table">
            <a:tbl>
              <a:tblPr/>
              <a:tblGrid>
                <a:gridCol w="3886200"/>
              </a:tblGrid>
              <a:tr h="1316038">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Invited to respond in writing to serious concerns</a:t>
                      </a:r>
                      <a:endParaRPr kumimoji="0" lang="en-US" sz="14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8" name="Slide Number Placeholder 7"/>
          <p:cNvSpPr>
            <a:spLocks noGrp="1"/>
          </p:cNvSpPr>
          <p:nvPr>
            <p:ph type="sldNum" sz="quarter" idx="12"/>
          </p:nvPr>
        </p:nvSpPr>
        <p:spPr/>
        <p:txBody>
          <a:bodyPr/>
          <a:lstStyle/>
          <a:p>
            <a:pPr>
              <a:defRPr/>
            </a:pPr>
            <a:fld id="{AAC70A9D-B65F-49DA-A20B-17103FE751E3}" type="slidenum">
              <a:rPr lang="en-US" altLang="en-US"/>
              <a:pPr>
                <a:defRPr/>
              </a:pPr>
              <a:t>18</a:t>
            </a:fld>
            <a:endParaRPr lang="en-US" altLang="en-US"/>
          </a:p>
        </p:txBody>
      </p:sp>
      <p:sp>
        <p:nvSpPr>
          <p:cNvPr id="22550" name="Rectangle 22"/>
          <p:cNvSpPr>
            <a:spLocks noChangeArrowheads="1"/>
          </p:cNvSpPr>
          <p:nvPr/>
        </p:nvSpPr>
        <p:spPr bwMode="auto">
          <a:xfrm>
            <a:off x="6350" y="-1687513"/>
            <a:ext cx="9144000" cy="0"/>
          </a:xfrm>
          <a:prstGeom prst="rect">
            <a:avLst/>
          </a:prstGeom>
          <a:noFill/>
          <a:ln w="9525">
            <a:noFill/>
            <a:miter lim="800000"/>
            <a:headEnd/>
            <a:tailEnd/>
          </a:ln>
        </p:spPr>
        <p:txBody>
          <a:bodyPr wrap="none">
            <a:spAutoFit/>
          </a:bodyPr>
          <a:lstStyle/>
          <a:p>
            <a:pPr algn="ctr" eaLnBrk="0" hangingPunct="0">
              <a:spcBef>
                <a:spcPct val="50000"/>
              </a:spcBef>
            </a:pPr>
            <a:endParaRPr lang="en-US"/>
          </a:p>
        </p:txBody>
      </p:sp>
      <p:graphicFrame>
        <p:nvGraphicFramePr>
          <p:cNvPr id="381095" name="Group 167"/>
          <p:cNvGraphicFramePr>
            <a:graphicFrameLocks noGrp="1"/>
          </p:cNvGraphicFramePr>
          <p:nvPr/>
        </p:nvGraphicFramePr>
        <p:xfrm>
          <a:off x="15875" y="1249363"/>
          <a:ext cx="1031875" cy="487532"/>
        </p:xfrm>
        <a:graphic>
          <a:graphicData uri="http://schemas.openxmlformats.org/drawingml/2006/table">
            <a:tbl>
              <a:tblPr/>
              <a:tblGrid>
                <a:gridCol w="1031875"/>
              </a:tblGrid>
              <a:tr h="487362">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600" b="0" i="0" u="none" strike="noStrike" cap="none" normalizeH="0" baseline="0" smtClean="0">
                        <a:ln>
                          <a:noFill/>
                        </a:ln>
                        <a:solidFill>
                          <a:schemeClr val="tx1"/>
                        </a:solidFill>
                        <a:effectLst/>
                        <a:latin typeface="Arial" charset="0"/>
                      </a:endParaRPr>
                    </a:p>
                  </a:txBody>
                  <a:tcPr marT="45646" marB="45646" anchor="b" horzOverflow="overflow">
                    <a:lnL cap="flat">
                      <a:noFill/>
                    </a:lnL>
                    <a:lnR cap="flat">
                      <a:noFill/>
                    </a:lnR>
                    <a:lnT cap="flat">
                      <a:noFill/>
                    </a:lnT>
                    <a:lnB cap="flat">
                      <a:noFill/>
                    </a:lnB>
                    <a:lnTlToBr>
                      <a:noFill/>
                    </a:lnTlToBr>
                    <a:lnBlToTr>
                      <a:noFill/>
                    </a:lnBlToTr>
                    <a:noFill/>
                  </a:tcPr>
                </a:tc>
              </a:tr>
            </a:tbl>
          </a:graphicData>
        </a:graphic>
      </p:graphicFrame>
      <p:sp>
        <p:nvSpPr>
          <p:cNvPr id="22553" name="AutoShape 490"/>
          <p:cNvSpPr>
            <a:spLocks noChangeArrowheads="1"/>
          </p:cNvSpPr>
          <p:nvPr/>
        </p:nvSpPr>
        <p:spPr bwMode="auto">
          <a:xfrm>
            <a:off x="1219200" y="2590800"/>
            <a:ext cx="2209800" cy="990600"/>
          </a:xfrm>
          <a:prstGeom prst="diamond">
            <a:avLst/>
          </a:prstGeom>
          <a:solidFill>
            <a:srgbClr val="FFFFFF"/>
          </a:solidFill>
          <a:ln w="9525">
            <a:solidFill>
              <a:srgbClr val="000000"/>
            </a:solidFill>
            <a:miter lim="800000"/>
            <a:headEnd/>
            <a:tailEnd/>
          </a:ln>
        </p:spPr>
        <p:txBody>
          <a:bodyPr/>
          <a:lstStyle/>
          <a:p>
            <a:pPr algn="ctr"/>
            <a:r>
              <a:rPr lang="en-US" sz="1400" i="0"/>
              <a:t>Serious concerns?</a:t>
            </a:r>
          </a:p>
        </p:txBody>
      </p:sp>
      <p:sp>
        <p:nvSpPr>
          <p:cNvPr id="22554" name="Rectangle 491"/>
          <p:cNvSpPr>
            <a:spLocks noChangeArrowheads="1"/>
          </p:cNvSpPr>
          <p:nvPr/>
        </p:nvSpPr>
        <p:spPr bwMode="auto">
          <a:xfrm>
            <a:off x="1981200" y="3733800"/>
            <a:ext cx="685800" cy="304800"/>
          </a:xfrm>
          <a:prstGeom prst="rect">
            <a:avLst/>
          </a:prstGeom>
          <a:solidFill>
            <a:srgbClr val="FFFFFF"/>
          </a:solidFill>
          <a:ln w="9525">
            <a:solidFill>
              <a:srgbClr val="000000"/>
            </a:solidFill>
            <a:miter lim="800000"/>
            <a:headEnd/>
            <a:tailEnd/>
          </a:ln>
        </p:spPr>
        <p:txBody>
          <a:bodyPr/>
          <a:lstStyle/>
          <a:p>
            <a:pPr algn="ctr"/>
            <a:r>
              <a:rPr lang="en-US" sz="1400" i="0"/>
              <a:t>Yes</a:t>
            </a:r>
          </a:p>
        </p:txBody>
      </p:sp>
      <p:sp>
        <p:nvSpPr>
          <p:cNvPr id="22555" name="Rectangle 492"/>
          <p:cNvSpPr>
            <a:spLocks noChangeArrowheads="1"/>
          </p:cNvSpPr>
          <p:nvPr/>
        </p:nvSpPr>
        <p:spPr bwMode="auto">
          <a:xfrm>
            <a:off x="3505200" y="2895600"/>
            <a:ext cx="609600" cy="304800"/>
          </a:xfrm>
          <a:prstGeom prst="rect">
            <a:avLst/>
          </a:prstGeom>
          <a:solidFill>
            <a:srgbClr val="FFFFFF"/>
          </a:solidFill>
          <a:ln w="9525">
            <a:solidFill>
              <a:srgbClr val="000000"/>
            </a:solidFill>
            <a:miter lim="800000"/>
            <a:headEnd/>
            <a:tailEnd/>
          </a:ln>
        </p:spPr>
        <p:txBody>
          <a:bodyPr/>
          <a:lstStyle/>
          <a:p>
            <a:pPr algn="ctr"/>
            <a:r>
              <a:rPr lang="en-US" sz="1400" i="0"/>
              <a:t>No</a:t>
            </a:r>
          </a:p>
        </p:txBody>
      </p:sp>
      <p:sp>
        <p:nvSpPr>
          <p:cNvPr id="22556" name="Line 493"/>
          <p:cNvSpPr>
            <a:spLocks noChangeShapeType="1"/>
          </p:cNvSpPr>
          <p:nvPr/>
        </p:nvSpPr>
        <p:spPr bwMode="auto">
          <a:xfrm>
            <a:off x="2286000" y="4114800"/>
            <a:ext cx="0" cy="304800"/>
          </a:xfrm>
          <a:prstGeom prst="line">
            <a:avLst/>
          </a:prstGeom>
          <a:noFill/>
          <a:ln w="9525">
            <a:solidFill>
              <a:srgbClr val="000000"/>
            </a:solidFill>
            <a:round/>
            <a:headEnd/>
            <a:tailEnd type="triangle" w="med" len="med"/>
          </a:ln>
        </p:spPr>
        <p:txBody>
          <a:bodyPr/>
          <a:lstStyle/>
          <a:p>
            <a:endParaRPr lang="en-US"/>
          </a:p>
        </p:txBody>
      </p:sp>
      <p:sp>
        <p:nvSpPr>
          <p:cNvPr id="22557" name="Line 505"/>
          <p:cNvSpPr>
            <a:spLocks noChangeShapeType="1"/>
          </p:cNvSpPr>
          <p:nvPr/>
        </p:nvSpPr>
        <p:spPr bwMode="auto">
          <a:xfrm>
            <a:off x="4495800" y="5181600"/>
            <a:ext cx="2209800" cy="0"/>
          </a:xfrm>
          <a:prstGeom prst="line">
            <a:avLst/>
          </a:prstGeom>
          <a:noFill/>
          <a:ln w="9525">
            <a:solidFill>
              <a:srgbClr val="000000"/>
            </a:solidFill>
            <a:round/>
            <a:headEnd/>
            <a:tailEnd/>
          </a:ln>
        </p:spPr>
        <p:txBody>
          <a:bodyPr/>
          <a:lstStyle/>
          <a:p>
            <a:endParaRPr lang="en-US"/>
          </a:p>
        </p:txBody>
      </p:sp>
      <p:sp>
        <p:nvSpPr>
          <p:cNvPr id="22558" name="Line 506"/>
          <p:cNvSpPr>
            <a:spLocks noChangeShapeType="1"/>
          </p:cNvSpPr>
          <p:nvPr/>
        </p:nvSpPr>
        <p:spPr bwMode="auto">
          <a:xfrm flipV="1">
            <a:off x="6705600" y="2514600"/>
            <a:ext cx="0" cy="2667000"/>
          </a:xfrm>
          <a:prstGeom prst="line">
            <a:avLst/>
          </a:prstGeom>
          <a:noFill/>
          <a:ln w="9525">
            <a:solidFill>
              <a:schemeClr val="tx1"/>
            </a:solidFill>
            <a:round/>
            <a:headEnd/>
            <a:tailEnd type="triangle" w="med" len="med"/>
          </a:ln>
        </p:spPr>
        <p:txBody>
          <a:bodyPr/>
          <a:lstStyle/>
          <a:p>
            <a:endParaRPr lang="en-US"/>
          </a:p>
        </p:txBody>
      </p:sp>
      <p:sp>
        <p:nvSpPr>
          <p:cNvPr id="22559" name="Line 507"/>
          <p:cNvSpPr>
            <a:spLocks noChangeShapeType="1"/>
          </p:cNvSpPr>
          <p:nvPr/>
        </p:nvSpPr>
        <p:spPr bwMode="auto">
          <a:xfrm>
            <a:off x="4114800" y="3048000"/>
            <a:ext cx="1143000" cy="0"/>
          </a:xfrm>
          <a:prstGeom prst="line">
            <a:avLst/>
          </a:prstGeom>
          <a:noFill/>
          <a:ln w="9525">
            <a:solidFill>
              <a:schemeClr val="tx1"/>
            </a:solidFill>
            <a:round/>
            <a:headEnd/>
            <a:tailEnd/>
          </a:ln>
        </p:spPr>
        <p:txBody>
          <a:bodyPr/>
          <a:lstStyle/>
          <a:p>
            <a:endParaRPr lang="en-US"/>
          </a:p>
        </p:txBody>
      </p:sp>
      <p:sp>
        <p:nvSpPr>
          <p:cNvPr id="22560" name="Line 508"/>
          <p:cNvSpPr>
            <a:spLocks noChangeShapeType="1"/>
          </p:cNvSpPr>
          <p:nvPr/>
        </p:nvSpPr>
        <p:spPr bwMode="auto">
          <a:xfrm flipV="1">
            <a:off x="5257800" y="2514600"/>
            <a:ext cx="0" cy="5334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sz="quarter"/>
          </p:nvPr>
        </p:nvSpPr>
        <p:spPr/>
        <p:txBody>
          <a:bodyPr/>
          <a:lstStyle/>
          <a:p>
            <a:pPr eaLnBrk="1" hangingPunct="1"/>
            <a:r>
              <a:rPr lang="en-US" sz="3600" smtClean="0"/>
              <a:t>Tenure &amp; Promotion Reviews</a:t>
            </a:r>
          </a:p>
        </p:txBody>
      </p:sp>
      <p:graphicFrame>
        <p:nvGraphicFramePr>
          <p:cNvPr id="387075" name="Group 3"/>
          <p:cNvGraphicFramePr>
            <a:graphicFrameLocks noGrp="1"/>
          </p:cNvGraphicFramePr>
          <p:nvPr>
            <p:ph sz="quarter" idx="1"/>
          </p:nvPr>
        </p:nvGraphicFramePr>
        <p:xfrm>
          <a:off x="2514600" y="1600200"/>
          <a:ext cx="4038600" cy="838200"/>
        </p:xfrm>
        <a:graphic>
          <a:graphicData uri="http://schemas.openxmlformats.org/drawingml/2006/table">
            <a:tbl>
              <a:tblPr/>
              <a:tblGrid>
                <a:gridCol w="4038600"/>
              </a:tblGrid>
              <a:tr h="8382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cs typeface="Arial" charset="0"/>
                        </a:rPr>
                        <a:t>Head recommends to Dean</a:t>
                      </a:r>
                      <a:endParaRPr kumimoji="0" lang="en-US" sz="14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87128" name="Group 56"/>
          <p:cNvGraphicFramePr>
            <a:graphicFrameLocks noGrp="1"/>
          </p:cNvGraphicFramePr>
          <p:nvPr>
            <p:ph sz="quarter" idx="2"/>
          </p:nvPr>
        </p:nvGraphicFramePr>
        <p:xfrm>
          <a:off x="2514600" y="2743200"/>
          <a:ext cx="4038600" cy="838200"/>
        </p:xfrm>
        <a:graphic>
          <a:graphicData uri="http://schemas.openxmlformats.org/drawingml/2006/table">
            <a:tbl>
              <a:tblPr/>
              <a:tblGrid>
                <a:gridCol w="4038600"/>
              </a:tblGrid>
              <a:tr h="8382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Arial" charset="0"/>
                        </a:rPr>
                        <a:t>Head notifies candidate in writing of decision</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87122" name="Group 50"/>
          <p:cNvGraphicFramePr>
            <a:graphicFrameLocks noGrp="1"/>
          </p:cNvGraphicFramePr>
          <p:nvPr>
            <p:ph sz="quarter" idx="3"/>
          </p:nvPr>
        </p:nvGraphicFramePr>
        <p:xfrm>
          <a:off x="2514600" y="5029200"/>
          <a:ext cx="3962400" cy="796925"/>
        </p:xfrm>
        <a:graphic>
          <a:graphicData uri="http://schemas.openxmlformats.org/drawingml/2006/table">
            <a:tbl>
              <a:tblPr/>
              <a:tblGrid>
                <a:gridCol w="3962400"/>
              </a:tblGrid>
              <a:tr h="79692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rPr>
                        <a:t>Invited to respond in writing to Dean</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8" name="Slide Number Placeholder 8"/>
          <p:cNvSpPr>
            <a:spLocks noGrp="1"/>
          </p:cNvSpPr>
          <p:nvPr>
            <p:ph type="sldNum" sz="quarter" idx="12"/>
          </p:nvPr>
        </p:nvSpPr>
        <p:spPr/>
        <p:txBody>
          <a:bodyPr/>
          <a:lstStyle/>
          <a:p>
            <a:pPr>
              <a:defRPr/>
            </a:pPr>
            <a:fld id="{6CC0E8A2-BBAC-4091-96A5-3E409F3C2CB6}" type="slidenum">
              <a:rPr lang="en-US" altLang="en-US"/>
              <a:pPr>
                <a:defRPr/>
              </a:pPr>
              <a:t>19</a:t>
            </a:fld>
            <a:endParaRPr lang="en-US" altLang="en-US"/>
          </a:p>
        </p:txBody>
      </p:sp>
      <p:sp>
        <p:nvSpPr>
          <p:cNvPr id="23574" name="Rectangle 15"/>
          <p:cNvSpPr>
            <a:spLocks noChangeArrowheads="1"/>
          </p:cNvSpPr>
          <p:nvPr/>
        </p:nvSpPr>
        <p:spPr bwMode="auto">
          <a:xfrm>
            <a:off x="6350" y="-1687513"/>
            <a:ext cx="9144000" cy="0"/>
          </a:xfrm>
          <a:prstGeom prst="rect">
            <a:avLst/>
          </a:prstGeom>
          <a:noFill/>
          <a:ln w="9525">
            <a:noFill/>
            <a:miter lim="800000"/>
            <a:headEnd/>
            <a:tailEnd/>
          </a:ln>
        </p:spPr>
        <p:txBody>
          <a:bodyPr wrap="none">
            <a:spAutoFit/>
          </a:bodyPr>
          <a:lstStyle/>
          <a:p>
            <a:pPr algn="ctr" eaLnBrk="0" hangingPunct="0">
              <a:spcBef>
                <a:spcPct val="50000"/>
              </a:spcBef>
            </a:pPr>
            <a:endParaRPr lang="en-US"/>
          </a:p>
        </p:txBody>
      </p:sp>
      <p:sp>
        <p:nvSpPr>
          <p:cNvPr id="23575" name="AutoShape 22"/>
          <p:cNvSpPr>
            <a:spLocks noChangeArrowheads="1"/>
          </p:cNvSpPr>
          <p:nvPr/>
        </p:nvSpPr>
        <p:spPr bwMode="auto">
          <a:xfrm>
            <a:off x="3429000" y="3657600"/>
            <a:ext cx="2209800" cy="685800"/>
          </a:xfrm>
          <a:prstGeom prst="diamond">
            <a:avLst/>
          </a:prstGeom>
          <a:solidFill>
            <a:srgbClr val="FFFFFF"/>
          </a:solidFill>
          <a:ln w="9525">
            <a:solidFill>
              <a:srgbClr val="000000"/>
            </a:solidFill>
            <a:miter lim="800000"/>
            <a:headEnd/>
            <a:tailEnd/>
          </a:ln>
        </p:spPr>
        <p:txBody>
          <a:bodyPr/>
          <a:lstStyle/>
          <a:p>
            <a:pPr algn="ctr"/>
            <a:r>
              <a:rPr lang="en-US" sz="1400" i="0"/>
              <a:t>Negative?</a:t>
            </a:r>
          </a:p>
        </p:txBody>
      </p:sp>
      <p:sp>
        <p:nvSpPr>
          <p:cNvPr id="23576" name="Rectangle 23"/>
          <p:cNvSpPr>
            <a:spLocks noChangeArrowheads="1"/>
          </p:cNvSpPr>
          <p:nvPr/>
        </p:nvSpPr>
        <p:spPr bwMode="auto">
          <a:xfrm>
            <a:off x="4191000" y="4419600"/>
            <a:ext cx="685800" cy="304800"/>
          </a:xfrm>
          <a:prstGeom prst="rect">
            <a:avLst/>
          </a:prstGeom>
          <a:solidFill>
            <a:srgbClr val="FFFFFF"/>
          </a:solidFill>
          <a:ln w="9525">
            <a:solidFill>
              <a:srgbClr val="000000"/>
            </a:solidFill>
            <a:miter lim="800000"/>
            <a:headEnd/>
            <a:tailEnd/>
          </a:ln>
        </p:spPr>
        <p:txBody>
          <a:bodyPr/>
          <a:lstStyle/>
          <a:p>
            <a:pPr algn="ctr"/>
            <a:r>
              <a:rPr lang="en-US" sz="1400" i="0"/>
              <a:t>Yes</a:t>
            </a:r>
          </a:p>
        </p:txBody>
      </p:sp>
      <p:sp>
        <p:nvSpPr>
          <p:cNvPr id="23577" name="Line 25"/>
          <p:cNvSpPr>
            <a:spLocks noChangeShapeType="1"/>
          </p:cNvSpPr>
          <p:nvPr/>
        </p:nvSpPr>
        <p:spPr bwMode="auto">
          <a:xfrm>
            <a:off x="4495800" y="4724400"/>
            <a:ext cx="0" cy="304800"/>
          </a:xfrm>
          <a:prstGeom prst="line">
            <a:avLst/>
          </a:prstGeom>
          <a:noFill/>
          <a:ln w="9525">
            <a:solidFill>
              <a:srgbClr val="000000"/>
            </a:solidFill>
            <a:round/>
            <a:headEnd/>
            <a:tailEnd type="triangle" w="med" len="med"/>
          </a:ln>
        </p:spPr>
        <p:txBody>
          <a:bodyPr/>
          <a:lstStyle/>
          <a:p>
            <a:endParaRPr lang="en-US"/>
          </a:p>
        </p:txBody>
      </p:sp>
      <p:sp>
        <p:nvSpPr>
          <p:cNvPr id="23578" name="Line 58"/>
          <p:cNvSpPr>
            <a:spLocks noChangeShapeType="1"/>
          </p:cNvSpPr>
          <p:nvPr/>
        </p:nvSpPr>
        <p:spPr bwMode="auto">
          <a:xfrm>
            <a:off x="4495800" y="2438400"/>
            <a:ext cx="0" cy="3048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sz="quarter"/>
          </p:nvPr>
        </p:nvSpPr>
        <p:spPr/>
        <p:txBody>
          <a:bodyPr/>
          <a:lstStyle/>
          <a:p>
            <a:pPr eaLnBrk="1" hangingPunct="1"/>
            <a:r>
              <a:rPr lang="en-US" sz="3600" smtClean="0"/>
              <a:t>Tenure &amp; Promotion Reviews</a:t>
            </a:r>
          </a:p>
        </p:txBody>
      </p:sp>
      <p:graphicFrame>
        <p:nvGraphicFramePr>
          <p:cNvPr id="390147" name="Group 3"/>
          <p:cNvGraphicFramePr>
            <a:graphicFrameLocks noGrp="1"/>
          </p:cNvGraphicFramePr>
          <p:nvPr>
            <p:ph sz="quarter" idx="1"/>
          </p:nvPr>
        </p:nvGraphicFramePr>
        <p:xfrm>
          <a:off x="4495800" y="1600200"/>
          <a:ext cx="4038600" cy="838200"/>
        </p:xfrm>
        <a:graphic>
          <a:graphicData uri="http://schemas.openxmlformats.org/drawingml/2006/table">
            <a:tbl>
              <a:tblPr/>
              <a:tblGrid>
                <a:gridCol w="4038600"/>
              </a:tblGrid>
              <a:tr h="8382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cs typeface="Arial" charset="0"/>
                        </a:rPr>
                        <a:t>Dean recommends to President*</a:t>
                      </a:r>
                      <a:endParaRPr kumimoji="0" lang="en-US" sz="14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90170" name="Group 26"/>
          <p:cNvGraphicFramePr>
            <a:graphicFrameLocks noGrp="1"/>
          </p:cNvGraphicFramePr>
          <p:nvPr>
            <p:ph sz="quarter" idx="2"/>
          </p:nvPr>
        </p:nvGraphicFramePr>
        <p:xfrm>
          <a:off x="381000" y="1600200"/>
          <a:ext cx="3733800" cy="838200"/>
        </p:xfrm>
        <a:graphic>
          <a:graphicData uri="http://schemas.openxmlformats.org/drawingml/2006/table">
            <a:tbl>
              <a:tblPr/>
              <a:tblGrid>
                <a:gridCol w="3733800"/>
              </a:tblGrid>
              <a:tr h="8382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rPr>
                        <a:t>Dean seeks Faculty Committee vote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90153" name="Group 9"/>
          <p:cNvGraphicFramePr>
            <a:graphicFrameLocks noGrp="1"/>
          </p:cNvGraphicFramePr>
          <p:nvPr>
            <p:ph sz="quarter" idx="3"/>
          </p:nvPr>
        </p:nvGraphicFramePr>
        <p:xfrm>
          <a:off x="4495800" y="2743200"/>
          <a:ext cx="4038600" cy="838200"/>
        </p:xfrm>
        <a:graphic>
          <a:graphicData uri="http://schemas.openxmlformats.org/drawingml/2006/table">
            <a:tbl>
              <a:tblPr/>
              <a:tblGrid>
                <a:gridCol w="4038600"/>
              </a:tblGrid>
              <a:tr h="838200">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rPr>
                        <a:t>Dean notifies candidate of decision</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390163" name="Group 19"/>
          <p:cNvGraphicFramePr>
            <a:graphicFrameLocks noGrp="1"/>
          </p:cNvGraphicFramePr>
          <p:nvPr>
            <p:ph sz="quarter" idx="4"/>
          </p:nvPr>
        </p:nvGraphicFramePr>
        <p:xfrm>
          <a:off x="4495800" y="5029200"/>
          <a:ext cx="3962400" cy="796925"/>
        </p:xfrm>
        <a:graphic>
          <a:graphicData uri="http://schemas.openxmlformats.org/drawingml/2006/table">
            <a:tbl>
              <a:tblPr/>
              <a:tblGrid>
                <a:gridCol w="3962400"/>
              </a:tblGrid>
              <a:tr h="796925">
                <a:tc>
                  <a:txBody>
                    <a:bodyPr/>
                    <a:lstStyle/>
                    <a:p>
                      <a:pPr marL="342900" marR="0" lvl="0" indent="-342900" algn="ctr" defTabSz="914400" rtl="0" eaLnBrk="0" fontAlgn="ctr" latinLnBrk="0" hangingPunct="0">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Arial" charset="0"/>
                        </a:rPr>
                        <a:t>Invited to respond in writing to President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5" name="Slide Number Placeholder 8"/>
          <p:cNvSpPr>
            <a:spLocks noGrp="1"/>
          </p:cNvSpPr>
          <p:nvPr>
            <p:ph type="sldNum" sz="quarter" idx="12"/>
          </p:nvPr>
        </p:nvSpPr>
        <p:spPr/>
        <p:txBody>
          <a:bodyPr/>
          <a:lstStyle/>
          <a:p>
            <a:pPr>
              <a:defRPr/>
            </a:pPr>
            <a:fld id="{0EFE305F-F72A-4DC0-879D-2D033E1D2318}" type="slidenum">
              <a:rPr lang="en-US" altLang="en-US"/>
              <a:pPr>
                <a:defRPr/>
              </a:pPr>
              <a:t>20</a:t>
            </a:fld>
            <a:endParaRPr lang="en-US" altLang="en-US"/>
          </a:p>
        </p:txBody>
      </p:sp>
      <p:sp>
        <p:nvSpPr>
          <p:cNvPr id="24604" name="Rectangle 15"/>
          <p:cNvSpPr>
            <a:spLocks noChangeArrowheads="1"/>
          </p:cNvSpPr>
          <p:nvPr/>
        </p:nvSpPr>
        <p:spPr bwMode="auto">
          <a:xfrm>
            <a:off x="6350" y="-1687513"/>
            <a:ext cx="9144000" cy="0"/>
          </a:xfrm>
          <a:prstGeom prst="rect">
            <a:avLst/>
          </a:prstGeom>
          <a:noFill/>
          <a:ln w="9525">
            <a:noFill/>
            <a:miter lim="800000"/>
            <a:headEnd/>
            <a:tailEnd/>
          </a:ln>
        </p:spPr>
        <p:txBody>
          <a:bodyPr wrap="none">
            <a:spAutoFit/>
          </a:bodyPr>
          <a:lstStyle/>
          <a:p>
            <a:pPr algn="ctr" eaLnBrk="0" hangingPunct="0">
              <a:spcBef>
                <a:spcPct val="50000"/>
              </a:spcBef>
            </a:pPr>
            <a:endParaRPr lang="en-US"/>
          </a:p>
        </p:txBody>
      </p:sp>
      <p:sp>
        <p:nvSpPr>
          <p:cNvPr id="24605" name="AutoShape 16"/>
          <p:cNvSpPr>
            <a:spLocks noChangeArrowheads="1"/>
          </p:cNvSpPr>
          <p:nvPr/>
        </p:nvSpPr>
        <p:spPr bwMode="auto">
          <a:xfrm>
            <a:off x="5334000" y="3657600"/>
            <a:ext cx="2209800" cy="685800"/>
          </a:xfrm>
          <a:prstGeom prst="diamond">
            <a:avLst/>
          </a:prstGeom>
          <a:solidFill>
            <a:srgbClr val="FFFFFF"/>
          </a:solidFill>
          <a:ln w="9525">
            <a:solidFill>
              <a:srgbClr val="000000"/>
            </a:solidFill>
            <a:miter lim="800000"/>
            <a:headEnd/>
            <a:tailEnd/>
          </a:ln>
        </p:spPr>
        <p:txBody>
          <a:bodyPr/>
          <a:lstStyle/>
          <a:p>
            <a:pPr algn="ctr"/>
            <a:r>
              <a:rPr lang="en-US" sz="1400" i="0"/>
              <a:t>Negative?</a:t>
            </a:r>
          </a:p>
        </p:txBody>
      </p:sp>
      <p:sp>
        <p:nvSpPr>
          <p:cNvPr id="24606" name="Rectangle 17"/>
          <p:cNvSpPr>
            <a:spLocks noChangeArrowheads="1"/>
          </p:cNvSpPr>
          <p:nvPr/>
        </p:nvSpPr>
        <p:spPr bwMode="auto">
          <a:xfrm>
            <a:off x="6096000" y="4419600"/>
            <a:ext cx="685800" cy="304800"/>
          </a:xfrm>
          <a:prstGeom prst="rect">
            <a:avLst/>
          </a:prstGeom>
          <a:solidFill>
            <a:srgbClr val="FFFFFF"/>
          </a:solidFill>
          <a:ln w="9525">
            <a:solidFill>
              <a:srgbClr val="000000"/>
            </a:solidFill>
            <a:miter lim="800000"/>
            <a:headEnd/>
            <a:tailEnd/>
          </a:ln>
        </p:spPr>
        <p:txBody>
          <a:bodyPr/>
          <a:lstStyle/>
          <a:p>
            <a:pPr algn="ctr"/>
            <a:r>
              <a:rPr lang="en-US" sz="1400" i="0"/>
              <a:t>Yes</a:t>
            </a:r>
          </a:p>
        </p:txBody>
      </p:sp>
      <p:sp>
        <p:nvSpPr>
          <p:cNvPr id="24607" name="Line 18"/>
          <p:cNvSpPr>
            <a:spLocks noChangeShapeType="1"/>
          </p:cNvSpPr>
          <p:nvPr/>
        </p:nvSpPr>
        <p:spPr bwMode="auto">
          <a:xfrm>
            <a:off x="6477000" y="4724400"/>
            <a:ext cx="0" cy="304800"/>
          </a:xfrm>
          <a:prstGeom prst="line">
            <a:avLst/>
          </a:prstGeom>
          <a:noFill/>
          <a:ln w="9525">
            <a:solidFill>
              <a:srgbClr val="000000"/>
            </a:solidFill>
            <a:round/>
            <a:headEnd/>
            <a:tailEnd type="triangle" w="med" len="med"/>
          </a:ln>
        </p:spPr>
        <p:txBody>
          <a:bodyPr/>
          <a:lstStyle/>
          <a:p>
            <a:endParaRPr lang="en-US"/>
          </a:p>
        </p:txBody>
      </p:sp>
      <p:sp>
        <p:nvSpPr>
          <p:cNvPr id="24608" name="Line 25"/>
          <p:cNvSpPr>
            <a:spLocks noChangeShapeType="1"/>
          </p:cNvSpPr>
          <p:nvPr/>
        </p:nvSpPr>
        <p:spPr bwMode="auto">
          <a:xfrm>
            <a:off x="6477000" y="2438400"/>
            <a:ext cx="0" cy="304800"/>
          </a:xfrm>
          <a:prstGeom prst="line">
            <a:avLst/>
          </a:prstGeom>
          <a:noFill/>
          <a:ln w="9525">
            <a:solidFill>
              <a:schemeClr val="tx1"/>
            </a:solidFill>
            <a:round/>
            <a:headEnd/>
            <a:tailEnd type="triangle" w="med" len="med"/>
          </a:ln>
        </p:spPr>
        <p:txBody>
          <a:bodyPr/>
          <a:lstStyle/>
          <a:p>
            <a:endParaRPr lang="en-US"/>
          </a:p>
        </p:txBody>
      </p:sp>
      <p:sp>
        <p:nvSpPr>
          <p:cNvPr id="24609" name="Line 33"/>
          <p:cNvSpPr>
            <a:spLocks noChangeShapeType="1"/>
          </p:cNvSpPr>
          <p:nvPr/>
        </p:nvSpPr>
        <p:spPr bwMode="auto">
          <a:xfrm>
            <a:off x="4114800" y="1981200"/>
            <a:ext cx="3810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304800"/>
            <a:ext cx="8229600" cy="785813"/>
          </a:xfrm>
        </p:spPr>
        <p:txBody>
          <a:bodyPr/>
          <a:lstStyle/>
          <a:p>
            <a:pPr eaLnBrk="1" hangingPunct="1"/>
            <a:r>
              <a:rPr lang="en-US" sz="3600" smtClean="0"/>
              <a:t>Supplementing the File</a:t>
            </a:r>
          </a:p>
        </p:txBody>
      </p:sp>
      <p:sp>
        <p:nvSpPr>
          <p:cNvPr id="4" name="Slide Number Placeholder 5"/>
          <p:cNvSpPr>
            <a:spLocks noGrp="1"/>
          </p:cNvSpPr>
          <p:nvPr>
            <p:ph type="sldNum" sz="quarter" idx="12"/>
          </p:nvPr>
        </p:nvSpPr>
        <p:spPr/>
        <p:txBody>
          <a:bodyPr/>
          <a:lstStyle/>
          <a:p>
            <a:pPr>
              <a:defRPr/>
            </a:pPr>
            <a:fld id="{FE7CE128-9AC5-4F6E-8875-2FB0EBA2DBAB}" type="slidenum">
              <a:rPr lang="en-US" altLang="en-US"/>
              <a:pPr>
                <a:defRPr/>
              </a:pPr>
              <a:t>21</a:t>
            </a:fld>
            <a:endParaRPr lang="en-US" altLang="en-US"/>
          </a:p>
        </p:txBody>
      </p:sp>
      <p:sp>
        <p:nvSpPr>
          <p:cNvPr id="29700" name="Text Box 3"/>
          <p:cNvSpPr txBox="1">
            <a:spLocks noChangeArrowheads="1"/>
          </p:cNvSpPr>
          <p:nvPr/>
        </p:nvSpPr>
        <p:spPr bwMode="auto">
          <a:xfrm>
            <a:off x="1066800" y="1981200"/>
            <a:ext cx="7086600" cy="2062163"/>
          </a:xfrm>
          <a:prstGeom prst="rect">
            <a:avLst/>
          </a:prstGeom>
          <a:noFill/>
          <a:ln w="9525">
            <a:noFill/>
            <a:miter lim="800000"/>
            <a:headEnd/>
            <a:tailEnd/>
          </a:ln>
        </p:spPr>
        <p:txBody>
          <a:bodyPr>
            <a:spAutoFit/>
          </a:bodyPr>
          <a:lstStyle/>
          <a:p>
            <a:pPr eaLnBrk="0" hangingPunct="0">
              <a:spcBef>
                <a:spcPct val="50000"/>
              </a:spcBef>
              <a:defRPr/>
            </a:pPr>
            <a:r>
              <a:rPr lang="en-US" sz="3200" i="0" dirty="0">
                <a:latin typeface="+mn-lt"/>
              </a:rPr>
              <a:t>The University and the candidate have the right to supplement the file with new info up to the stage of the President’s decision</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sz="3600" smtClean="0"/>
              <a:t>For Assistance…</a:t>
            </a:r>
          </a:p>
        </p:txBody>
      </p:sp>
      <p:sp>
        <p:nvSpPr>
          <p:cNvPr id="26627" name="Rectangle 3"/>
          <p:cNvSpPr>
            <a:spLocks noGrp="1" noChangeArrowheads="1"/>
          </p:cNvSpPr>
          <p:nvPr>
            <p:ph idx="1"/>
          </p:nvPr>
        </p:nvSpPr>
        <p:spPr>
          <a:xfrm>
            <a:off x="739775" y="990600"/>
            <a:ext cx="7878763" cy="5105400"/>
          </a:xfrm>
        </p:spPr>
        <p:txBody>
          <a:bodyPr/>
          <a:lstStyle/>
          <a:p>
            <a:pPr eaLnBrk="1" hangingPunct="1">
              <a:lnSpc>
                <a:spcPct val="90000"/>
              </a:lnSpc>
            </a:pPr>
            <a:r>
              <a:rPr lang="en-US" dirty="0" smtClean="0"/>
              <a:t>The </a:t>
            </a:r>
            <a:r>
              <a:rPr lang="en-US" i="1" dirty="0" smtClean="0"/>
              <a:t>Collective Agreement</a:t>
            </a:r>
            <a:r>
              <a:rPr lang="en-US" dirty="0" smtClean="0"/>
              <a:t>, in particular Articles 2-5 &amp; 9 of the </a:t>
            </a:r>
            <a:r>
              <a:rPr lang="en-US" i="1" dirty="0" smtClean="0"/>
              <a:t>Agreement on Conditions of Appointment for Faculty </a:t>
            </a:r>
            <a:r>
              <a:rPr lang="en-US" dirty="0" smtClean="0"/>
              <a:t>	</a:t>
            </a:r>
            <a:endParaRPr lang="en-US" i="1" dirty="0" smtClean="0"/>
          </a:p>
          <a:p>
            <a:pPr eaLnBrk="1" hangingPunct="1">
              <a:lnSpc>
                <a:spcPct val="90000"/>
              </a:lnSpc>
            </a:pPr>
            <a:r>
              <a:rPr lang="en-US" i="1" dirty="0" smtClean="0"/>
              <a:t>Guide to Reappointment, Tenure and Promotion Procedures at UBC </a:t>
            </a:r>
            <a:r>
              <a:rPr lang="en-US" i="1" smtClean="0"/>
              <a:t>for 2011/12</a:t>
            </a:r>
            <a:endParaRPr lang="en-US" b="1" i="1" smtClean="0">
              <a:solidFill>
                <a:srgbClr val="990000"/>
              </a:solidFill>
            </a:endParaRPr>
          </a:p>
          <a:p>
            <a:pPr eaLnBrk="1" hangingPunct="1">
              <a:lnSpc>
                <a:spcPct val="90000"/>
              </a:lnSpc>
            </a:pPr>
            <a:r>
              <a:rPr lang="en-US" dirty="0" smtClean="0"/>
              <a:t>Faculty Relations website: </a:t>
            </a:r>
            <a:r>
              <a:rPr lang="en-US" u="sng" dirty="0" smtClean="0">
                <a:hlinkClick r:id="rId2"/>
              </a:rPr>
              <a:t>www.hr.ubc.ca/faculty_relations/tenure/</a:t>
            </a:r>
            <a:endParaRPr lang="en-US" u="sng" dirty="0" smtClean="0"/>
          </a:p>
          <a:p>
            <a:pPr eaLnBrk="1" hangingPunct="1">
              <a:lnSpc>
                <a:spcPct val="90000"/>
              </a:lnSpc>
            </a:pPr>
            <a:r>
              <a:rPr lang="en-US" dirty="0" smtClean="0"/>
              <a:t>Faculty Association website:</a:t>
            </a:r>
          </a:p>
          <a:p>
            <a:pPr eaLnBrk="1" hangingPunct="1">
              <a:lnSpc>
                <a:spcPct val="90000"/>
              </a:lnSpc>
              <a:buNone/>
            </a:pPr>
            <a:r>
              <a:rPr lang="en-US" dirty="0" smtClean="0"/>
              <a:t>	</a:t>
            </a:r>
            <a:r>
              <a:rPr lang="en-US" u="sng" dirty="0" err="1" smtClean="0">
                <a:solidFill>
                  <a:srgbClr val="3366FF"/>
                </a:solidFill>
              </a:rPr>
              <a:t>www.facultyassociation.ubc.ca/promotiontenure.php</a:t>
            </a:r>
            <a:endParaRPr lang="en-US" u="sng" dirty="0" smtClean="0">
              <a:solidFill>
                <a:srgbClr val="3366FF"/>
              </a:solidFill>
            </a:endParaRPr>
          </a:p>
          <a:p>
            <a:pPr eaLnBrk="1" hangingPunct="1">
              <a:lnSpc>
                <a:spcPct val="90000"/>
              </a:lnSpc>
            </a:pPr>
            <a:r>
              <a:rPr lang="en-US" dirty="0" smtClean="0"/>
              <a:t>Call us!</a:t>
            </a:r>
          </a:p>
        </p:txBody>
      </p:sp>
      <p:sp>
        <p:nvSpPr>
          <p:cNvPr id="5" name="Slide Number Placeholder 5"/>
          <p:cNvSpPr>
            <a:spLocks noGrp="1"/>
          </p:cNvSpPr>
          <p:nvPr>
            <p:ph type="sldNum" sz="quarter" idx="12"/>
          </p:nvPr>
        </p:nvSpPr>
        <p:spPr/>
        <p:txBody>
          <a:bodyPr/>
          <a:lstStyle/>
          <a:p>
            <a:pPr>
              <a:defRPr/>
            </a:pPr>
            <a:fld id="{6E72935B-EF65-4B61-BE79-FE45C2DF68CD}" type="slidenum">
              <a:rPr lang="en-US" altLang="en-US"/>
              <a:pPr>
                <a:defRPr/>
              </a:pPr>
              <a:t>22</a:t>
            </a:fld>
            <a:endParaRPr lang="en-US" alt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z="3600" smtClean="0"/>
              <a:t>Senior Appointments Committee</a:t>
            </a:r>
          </a:p>
        </p:txBody>
      </p:sp>
      <p:sp>
        <p:nvSpPr>
          <p:cNvPr id="27651" name="Content Placeholder 2"/>
          <p:cNvSpPr>
            <a:spLocks noGrp="1"/>
          </p:cNvSpPr>
          <p:nvPr>
            <p:ph idx="1"/>
          </p:nvPr>
        </p:nvSpPr>
        <p:spPr/>
        <p:txBody>
          <a:bodyPr/>
          <a:lstStyle/>
          <a:p>
            <a:pPr>
              <a:buFont typeface="Wingdings" pitchFamily="2" charset="2"/>
              <a:buNone/>
              <a:defRPr/>
            </a:pPr>
            <a:endParaRPr lang="en-US" dirty="0" smtClean="0"/>
          </a:p>
          <a:p>
            <a:pPr>
              <a:buFont typeface="Wingdings" pitchFamily="2" charset="2"/>
              <a:buNone/>
              <a:defRPr/>
            </a:pPr>
            <a:endParaRPr lang="en-US" dirty="0" smtClean="0"/>
          </a:p>
          <a:p>
            <a:pPr algn="ctr">
              <a:buFont typeface="Wingdings" pitchFamily="2" charset="2"/>
              <a:buNone/>
              <a:defRPr/>
            </a:pPr>
            <a:r>
              <a:rPr lang="en-US" dirty="0" smtClean="0"/>
              <a:t>Professor Susan Boyd, SAC Chair</a:t>
            </a:r>
          </a:p>
          <a:p>
            <a:pPr algn="ctr">
              <a:buFont typeface="Wingdings" pitchFamily="2" charset="2"/>
              <a:buNone/>
              <a:defRPr/>
            </a:pPr>
            <a:endParaRPr lang="en-US" dirty="0" smtClean="0"/>
          </a:p>
          <a:p>
            <a:pPr marL="514350" indent="-514350" algn="ctr">
              <a:buFont typeface="Wingdings" pitchFamily="2" charset="2"/>
              <a:buAutoNum type="alphaLcPeriod"/>
              <a:defRPr/>
            </a:pPr>
            <a:endParaRPr lang="en-US" dirty="0" smtClean="0"/>
          </a:p>
        </p:txBody>
      </p:sp>
      <p:sp>
        <p:nvSpPr>
          <p:cNvPr id="4" name="Slide Number Placeholder 3"/>
          <p:cNvSpPr>
            <a:spLocks noGrp="1"/>
          </p:cNvSpPr>
          <p:nvPr>
            <p:ph type="sldNum" sz="quarter" idx="12"/>
          </p:nvPr>
        </p:nvSpPr>
        <p:spPr/>
        <p:txBody>
          <a:bodyPr/>
          <a:lstStyle/>
          <a:p>
            <a:pPr>
              <a:defRPr/>
            </a:pPr>
            <a:fld id="{3467A098-AB23-49AE-807B-B948FBAC05C2}" type="slidenum">
              <a:rPr lang="en-US" altLang="en-US" smtClean="0"/>
              <a:pPr>
                <a:defRPr/>
              </a:pPr>
              <a:t>23</a:t>
            </a:fld>
            <a:endParaRPr lang="en-US" altLang="en-US"/>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27075" y="146050"/>
            <a:ext cx="7500938" cy="917575"/>
          </a:xfrm>
        </p:spPr>
        <p:txBody>
          <a:bodyPr/>
          <a:lstStyle/>
          <a:p>
            <a:r>
              <a:rPr lang="en-US" sz="3600" dirty="0" smtClean="0"/>
              <a:t>SAC Terms of Reference</a:t>
            </a:r>
            <a:endParaRPr lang="en-CA" sz="3600" dirty="0" smtClean="0"/>
          </a:p>
        </p:txBody>
      </p:sp>
      <p:sp>
        <p:nvSpPr>
          <p:cNvPr id="32771" name="Rectangle 3"/>
          <p:cNvSpPr>
            <a:spLocks noChangeArrowheads="1"/>
          </p:cNvSpPr>
          <p:nvPr/>
        </p:nvSpPr>
        <p:spPr bwMode="auto">
          <a:xfrm>
            <a:off x="233363" y="762000"/>
            <a:ext cx="8724900" cy="5334000"/>
          </a:xfrm>
          <a:prstGeom prst="rect">
            <a:avLst/>
          </a:prstGeom>
          <a:noFill/>
          <a:ln w="9525">
            <a:noFill/>
            <a:miter lim="800000"/>
            <a:headEnd/>
            <a:tailEnd/>
          </a:ln>
        </p:spPr>
        <p:txBody>
          <a:bodyPr/>
          <a:lstStyle/>
          <a:p>
            <a:pPr marL="538163" indent="-538163" eaLnBrk="0" hangingPunct="0">
              <a:lnSpc>
                <a:spcPct val="90000"/>
              </a:lnSpc>
              <a:spcBef>
                <a:spcPct val="10000"/>
              </a:spcBef>
              <a:buClr>
                <a:schemeClr val="accent2"/>
              </a:buClr>
              <a:buFont typeface="Trebuchet MS" pitchFamily="34" charset="0"/>
              <a:buChar char="◊"/>
              <a:tabLst>
                <a:tab pos="714375" algn="l"/>
              </a:tabLst>
              <a:defRPr/>
            </a:pPr>
            <a:endParaRPr lang="en-US" sz="3200" i="0" dirty="0">
              <a:latin typeface="+mn-lt"/>
            </a:endParaRPr>
          </a:p>
          <a:p>
            <a:pPr marL="538163" indent="-538163" eaLnBrk="0" hangingPunct="0">
              <a:lnSpc>
                <a:spcPct val="90000"/>
              </a:lnSpc>
              <a:spcBef>
                <a:spcPct val="10000"/>
              </a:spcBef>
              <a:buClr>
                <a:schemeClr val="accent2"/>
              </a:buClr>
              <a:tabLst>
                <a:tab pos="714375" algn="l"/>
              </a:tabLst>
              <a:defRPr/>
            </a:pPr>
            <a:r>
              <a:rPr lang="en-US" sz="3200" i="0" dirty="0">
                <a:latin typeface="+mn-lt"/>
              </a:rPr>
              <a:t>	Advise the President on the merits of individual cases with respect to promotion and tenure according to</a:t>
            </a:r>
          </a:p>
          <a:p>
            <a:pPr marL="1039813" lvl="1" indent="-322263" eaLnBrk="0" hangingPunct="0">
              <a:lnSpc>
                <a:spcPct val="90000"/>
              </a:lnSpc>
              <a:spcBef>
                <a:spcPct val="10000"/>
              </a:spcBef>
              <a:buFontTx/>
              <a:buChar char="•"/>
              <a:tabLst>
                <a:tab pos="714375" algn="l"/>
              </a:tabLst>
              <a:defRPr/>
            </a:pPr>
            <a:r>
              <a:rPr lang="en-CA" sz="3200" i="0" dirty="0">
                <a:latin typeface="+mn-lt"/>
              </a:rPr>
              <a:t>Concepts of procedural fairness</a:t>
            </a:r>
          </a:p>
          <a:p>
            <a:pPr marL="1039813" lvl="1" indent="-322263" eaLnBrk="0" hangingPunct="0">
              <a:lnSpc>
                <a:spcPct val="90000"/>
              </a:lnSpc>
              <a:spcBef>
                <a:spcPct val="10000"/>
              </a:spcBef>
              <a:buFontTx/>
              <a:buChar char="•"/>
              <a:tabLst>
                <a:tab pos="714375" algn="l"/>
              </a:tabLst>
              <a:defRPr/>
            </a:pPr>
            <a:r>
              <a:rPr lang="en-US" sz="3200" i="0" dirty="0">
                <a:latin typeface="+mn-lt"/>
              </a:rPr>
              <a:t>The Collective Agreement, </a:t>
            </a:r>
            <a:r>
              <a:rPr lang="en-US" sz="3200" i="0" dirty="0" smtClean="0">
                <a:latin typeface="+mn-lt"/>
              </a:rPr>
              <a:t>informed by UBC policy and </a:t>
            </a:r>
            <a:r>
              <a:rPr lang="en-US" sz="3200" i="0" dirty="0">
                <a:latin typeface="+mn-lt"/>
              </a:rPr>
              <a:t>SAC guidelines</a:t>
            </a:r>
          </a:p>
          <a:p>
            <a:pPr marL="1039813" lvl="1" indent="-322263" eaLnBrk="0" hangingPunct="0">
              <a:lnSpc>
                <a:spcPct val="90000"/>
              </a:lnSpc>
              <a:spcBef>
                <a:spcPct val="10000"/>
              </a:spcBef>
              <a:buFontTx/>
              <a:buChar char="•"/>
              <a:tabLst>
                <a:tab pos="714375" algn="l"/>
              </a:tabLst>
              <a:defRPr/>
            </a:pPr>
            <a:r>
              <a:rPr lang="en-CA" sz="3200" i="0" dirty="0">
                <a:latin typeface="+mn-lt"/>
              </a:rPr>
              <a:t>Appropriate standards </a:t>
            </a:r>
            <a:r>
              <a:rPr lang="en-CA" sz="3200" i="0" dirty="0" smtClean="0">
                <a:latin typeface="+mn-lt"/>
              </a:rPr>
              <a:t>of excellence across </a:t>
            </a:r>
            <a:r>
              <a:rPr lang="en-CA" sz="3200" i="0" dirty="0">
                <a:latin typeface="+mn-lt"/>
              </a:rPr>
              <a:t>and within </a:t>
            </a:r>
            <a:r>
              <a:rPr lang="en-CA" sz="3200" i="0" dirty="0" smtClean="0">
                <a:latin typeface="+mn-lt"/>
              </a:rPr>
              <a:t>faculties and disciplines </a:t>
            </a:r>
          </a:p>
          <a:p>
            <a:pPr marL="1039813" lvl="1" indent="-322263" eaLnBrk="0" hangingPunct="0">
              <a:lnSpc>
                <a:spcPct val="90000"/>
              </a:lnSpc>
              <a:spcBef>
                <a:spcPct val="10000"/>
              </a:spcBef>
              <a:buFontTx/>
              <a:buChar char="•"/>
              <a:tabLst>
                <a:tab pos="714375" algn="l"/>
              </a:tabLst>
              <a:defRPr/>
            </a:pPr>
            <a:r>
              <a:rPr lang="en-CA" sz="3200" i="0" dirty="0" smtClean="0">
                <a:latin typeface="+mn-lt"/>
              </a:rPr>
              <a:t>All relevant contextual matters</a:t>
            </a:r>
            <a:endParaRPr lang="en-CA" sz="3200" i="0" dirty="0">
              <a:latin typeface="+mn-lt"/>
            </a:endParaRPr>
          </a:p>
          <a:p>
            <a:pPr marL="717550" lvl="1" eaLnBrk="0" hangingPunct="0">
              <a:lnSpc>
                <a:spcPct val="90000"/>
              </a:lnSpc>
              <a:spcBef>
                <a:spcPct val="10000"/>
              </a:spcBef>
              <a:tabLst>
                <a:tab pos="714375" algn="l"/>
              </a:tabLst>
              <a:defRPr/>
            </a:pPr>
            <a:endParaRPr lang="en-CA" sz="2400" i="0" dirty="0" smtClean="0">
              <a:latin typeface="+mn-lt"/>
            </a:endParaRPr>
          </a:p>
          <a:p>
            <a:pPr marL="717550" lvl="1" eaLnBrk="0" hangingPunct="0">
              <a:lnSpc>
                <a:spcPct val="90000"/>
              </a:lnSpc>
              <a:spcBef>
                <a:spcPct val="10000"/>
              </a:spcBef>
              <a:tabLst>
                <a:tab pos="714375" algn="l"/>
              </a:tabLst>
              <a:defRPr/>
            </a:pPr>
            <a:r>
              <a:rPr lang="en-CA" sz="2400" i="0" dirty="0" smtClean="0">
                <a:latin typeface="+mn-lt"/>
              </a:rPr>
              <a:t>(Article 5.14 Agreement)</a:t>
            </a:r>
            <a:endParaRPr lang="en-US" sz="2400" i="0" dirty="0">
              <a:latin typeface="+mn-lt"/>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title"/>
          </p:nvPr>
        </p:nvSpPr>
        <p:spPr>
          <a:xfrm>
            <a:off x="687388" y="228600"/>
            <a:ext cx="7848600" cy="762000"/>
          </a:xfrm>
        </p:spPr>
        <p:txBody>
          <a:bodyPr anchor="ctr"/>
          <a:lstStyle/>
          <a:p>
            <a:pPr>
              <a:lnSpc>
                <a:spcPct val="90000"/>
              </a:lnSpc>
            </a:pPr>
            <a:r>
              <a:rPr lang="en-US" sz="3600" dirty="0" smtClean="0"/>
              <a:t>SAC: Committee Structure</a:t>
            </a:r>
            <a:endParaRPr lang="en-GB" sz="3600" dirty="0" smtClean="0"/>
          </a:p>
        </p:txBody>
      </p:sp>
      <p:sp>
        <p:nvSpPr>
          <p:cNvPr id="29699" name="Rectangle 2"/>
          <p:cNvSpPr>
            <a:spLocks noGrp="1" noChangeArrowheads="1"/>
          </p:cNvSpPr>
          <p:nvPr>
            <p:ph idx="1"/>
          </p:nvPr>
        </p:nvSpPr>
        <p:spPr>
          <a:xfrm>
            <a:off x="228600" y="1066800"/>
            <a:ext cx="8678863" cy="5410200"/>
          </a:xfrm>
        </p:spPr>
        <p:txBody>
          <a:bodyPr/>
          <a:lstStyle/>
          <a:p>
            <a:pPr marL="442913" indent="-442913">
              <a:lnSpc>
                <a:spcPct val="90000"/>
              </a:lnSpc>
              <a:spcBef>
                <a:spcPct val="10000"/>
              </a:spcBef>
            </a:pPr>
            <a:r>
              <a:rPr lang="en-US" sz="3200" dirty="0" smtClean="0"/>
              <a:t>Full SAC is a 20 person committee with representation from all Faculties</a:t>
            </a:r>
          </a:p>
          <a:p>
            <a:pPr marL="442913" indent="-442913">
              <a:lnSpc>
                <a:spcPct val="90000"/>
              </a:lnSpc>
              <a:spcBef>
                <a:spcPct val="10000"/>
              </a:spcBef>
            </a:pPr>
            <a:endParaRPr lang="en-US" sz="3200" dirty="0" smtClean="0"/>
          </a:p>
          <a:p>
            <a:pPr marL="442913" indent="-442913">
              <a:lnSpc>
                <a:spcPct val="90000"/>
              </a:lnSpc>
              <a:spcBef>
                <a:spcPct val="10000"/>
              </a:spcBef>
            </a:pPr>
            <a:r>
              <a:rPr lang="en-US" sz="3200" dirty="0" smtClean="0"/>
              <a:t>All are Professors</a:t>
            </a:r>
          </a:p>
          <a:p>
            <a:pPr marL="442913" indent="-442913">
              <a:lnSpc>
                <a:spcPct val="90000"/>
              </a:lnSpc>
              <a:spcBef>
                <a:spcPct val="10000"/>
              </a:spcBef>
            </a:pPr>
            <a:endParaRPr lang="en-US" sz="3200" dirty="0" smtClean="0"/>
          </a:p>
          <a:p>
            <a:pPr marL="442913" indent="-442913">
              <a:lnSpc>
                <a:spcPct val="90000"/>
              </a:lnSpc>
              <a:spcBef>
                <a:spcPct val="10000"/>
              </a:spcBef>
            </a:pPr>
            <a:r>
              <a:rPr lang="en-US" sz="3200" dirty="0" smtClean="0"/>
              <a:t>At least 2 members from UBCO</a:t>
            </a:r>
          </a:p>
          <a:p>
            <a:pPr marL="442913" indent="-442913">
              <a:lnSpc>
                <a:spcPct val="90000"/>
              </a:lnSpc>
              <a:spcBef>
                <a:spcPct val="10000"/>
              </a:spcBef>
            </a:pPr>
            <a:endParaRPr lang="en-US" sz="3200" dirty="0"/>
          </a:p>
          <a:p>
            <a:pPr marL="442913" indent="-442913">
              <a:lnSpc>
                <a:spcPct val="90000"/>
              </a:lnSpc>
              <a:spcBef>
                <a:spcPct val="10000"/>
              </a:spcBef>
            </a:pPr>
            <a:r>
              <a:rPr lang="en-US" sz="3200" dirty="0" smtClean="0"/>
              <a:t>One member from the Faculty Association</a:t>
            </a:r>
          </a:p>
          <a:p>
            <a:pPr marL="360000" indent="-360000">
              <a:lnSpc>
                <a:spcPct val="90000"/>
              </a:lnSpc>
              <a:spcBef>
                <a:spcPct val="10000"/>
              </a:spcBef>
              <a:buNone/>
            </a:pPr>
            <a:endParaRPr lang="en-US" sz="3200" dirty="0" smtClean="0"/>
          </a:p>
          <a:p>
            <a:pPr marL="442913" indent="-442913">
              <a:lnSpc>
                <a:spcPct val="90000"/>
              </a:lnSpc>
              <a:spcBef>
                <a:spcPct val="10000"/>
              </a:spcBef>
            </a:pPr>
            <a:r>
              <a:rPr lang="en-US" sz="3200" dirty="0" smtClean="0"/>
              <a:t>See SAC Guide  Article 10</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title"/>
          </p:nvPr>
        </p:nvSpPr>
        <p:spPr>
          <a:xfrm>
            <a:off x="687388" y="228600"/>
            <a:ext cx="7848600" cy="762000"/>
          </a:xfrm>
        </p:spPr>
        <p:txBody>
          <a:bodyPr anchor="ctr"/>
          <a:lstStyle/>
          <a:p>
            <a:pPr>
              <a:lnSpc>
                <a:spcPct val="90000"/>
              </a:lnSpc>
            </a:pPr>
            <a:r>
              <a:rPr lang="en-US" sz="3600" dirty="0" smtClean="0"/>
              <a:t>SAC Subcommittees</a:t>
            </a:r>
            <a:endParaRPr lang="en-GB" sz="3600" dirty="0" smtClean="0"/>
          </a:p>
        </p:txBody>
      </p:sp>
      <p:sp>
        <p:nvSpPr>
          <p:cNvPr id="29699" name="Rectangle 2"/>
          <p:cNvSpPr>
            <a:spLocks noGrp="1" noChangeArrowheads="1"/>
          </p:cNvSpPr>
          <p:nvPr>
            <p:ph idx="1"/>
          </p:nvPr>
        </p:nvSpPr>
        <p:spPr>
          <a:xfrm>
            <a:off x="228600" y="838200"/>
            <a:ext cx="8678863" cy="5334000"/>
          </a:xfrm>
        </p:spPr>
        <p:txBody>
          <a:bodyPr/>
          <a:lstStyle/>
          <a:p>
            <a:pPr marL="0" indent="0">
              <a:lnSpc>
                <a:spcPct val="90000"/>
              </a:lnSpc>
              <a:spcBef>
                <a:spcPct val="10000"/>
              </a:spcBef>
              <a:buNone/>
            </a:pPr>
            <a:endParaRPr lang="en-US" sz="3200" dirty="0" smtClean="0"/>
          </a:p>
          <a:p>
            <a:pPr marL="442913" indent="-442913">
              <a:lnSpc>
                <a:spcPct val="90000"/>
              </a:lnSpc>
              <a:spcBef>
                <a:spcPct val="10000"/>
              </a:spcBef>
            </a:pPr>
            <a:r>
              <a:rPr lang="en-US" sz="3200" dirty="0" smtClean="0"/>
              <a:t>Each candidate’s file reviewed in detail for merits &amp; fairness by one of two SAC subcommittees </a:t>
            </a:r>
          </a:p>
          <a:p>
            <a:pPr marL="0" indent="0">
              <a:lnSpc>
                <a:spcPct val="90000"/>
              </a:lnSpc>
              <a:spcBef>
                <a:spcPct val="10000"/>
              </a:spcBef>
              <a:buNone/>
            </a:pPr>
            <a:endParaRPr lang="en-US" sz="3200" dirty="0" smtClean="0"/>
          </a:p>
          <a:p>
            <a:pPr marL="769938" lvl="1" indent="-442913">
              <a:lnSpc>
                <a:spcPct val="90000"/>
              </a:lnSpc>
              <a:spcBef>
                <a:spcPct val="10000"/>
              </a:spcBef>
            </a:pPr>
            <a:r>
              <a:rPr lang="en-US" sz="3200" dirty="0" smtClean="0"/>
              <a:t>meetings twice a month</a:t>
            </a:r>
          </a:p>
          <a:p>
            <a:pPr marL="442913" indent="-442913">
              <a:lnSpc>
                <a:spcPct val="90000"/>
              </a:lnSpc>
              <a:spcBef>
                <a:spcPct val="10000"/>
              </a:spcBef>
            </a:pPr>
            <a:endParaRPr lang="en-US" sz="3200" dirty="0" smtClean="0"/>
          </a:p>
          <a:p>
            <a:pPr marL="442913" indent="-442913">
              <a:lnSpc>
                <a:spcPct val="90000"/>
              </a:lnSpc>
              <a:spcBef>
                <a:spcPct val="10000"/>
              </a:spcBef>
            </a:pPr>
            <a:r>
              <a:rPr lang="en-US" sz="3200" dirty="0" smtClean="0"/>
              <a:t>If satisfactory, case ranked “A” and forwarded to full SAC for approval (meets twice a month)</a:t>
            </a:r>
          </a:p>
          <a:p>
            <a:pPr marL="327025" lvl="1" indent="0">
              <a:lnSpc>
                <a:spcPct val="90000"/>
              </a:lnSpc>
              <a:spcBef>
                <a:spcPct val="10000"/>
              </a:spcBef>
              <a:buNone/>
            </a:pPr>
            <a:endParaRPr lang="en-US" sz="2800" dirty="0" smtClean="0"/>
          </a:p>
          <a:p>
            <a:pPr marL="327025" lvl="1" indent="0">
              <a:lnSpc>
                <a:spcPct val="90000"/>
              </a:lnSpc>
              <a:spcBef>
                <a:spcPct val="10000"/>
              </a:spcBef>
              <a:buNone/>
            </a:pPr>
            <a:r>
              <a:rPr lang="en-US" sz="2800" dirty="0" smtClean="0"/>
              <a:t>(Appendix </a:t>
            </a:r>
            <a:r>
              <a:rPr lang="en-US" sz="2800" dirty="0"/>
              <a:t>10 </a:t>
            </a:r>
            <a:r>
              <a:rPr lang="en-US" sz="2800" dirty="0" smtClean="0"/>
              <a:t>Guide)</a:t>
            </a:r>
          </a:p>
        </p:txBody>
      </p:sp>
    </p:spTree>
    <p:extLst>
      <p:ext uri="{BB962C8B-B14F-4D97-AF65-F5344CB8AC3E}">
        <p14:creationId xmlns:p14="http://schemas.microsoft.com/office/powerpoint/2010/main" val="285888434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87388" y="152400"/>
            <a:ext cx="7848600" cy="838200"/>
          </a:xfrm>
        </p:spPr>
        <p:txBody>
          <a:bodyPr anchor="ctr"/>
          <a:lstStyle/>
          <a:p>
            <a:pPr>
              <a:lnSpc>
                <a:spcPct val="90000"/>
              </a:lnSpc>
            </a:pPr>
            <a:r>
              <a:rPr lang="en-US" sz="3600" dirty="0" smtClean="0"/>
              <a:t>SAC Subcommittee Review: Ranking</a:t>
            </a:r>
            <a:endParaRPr lang="en-GB" sz="3600" dirty="0" smtClean="0"/>
          </a:p>
        </p:txBody>
      </p:sp>
      <p:sp>
        <p:nvSpPr>
          <p:cNvPr id="30723" name="Rectangle 4"/>
          <p:cNvSpPr>
            <a:spLocks noGrp="1" noChangeArrowheads="1"/>
          </p:cNvSpPr>
          <p:nvPr>
            <p:ph idx="1"/>
          </p:nvPr>
        </p:nvSpPr>
        <p:spPr>
          <a:xfrm>
            <a:off x="241300" y="1219200"/>
            <a:ext cx="8326438" cy="4495800"/>
          </a:xfrm>
          <a:solidFill>
            <a:srgbClr val="FFFFFF"/>
          </a:solidFill>
        </p:spPr>
        <p:txBody>
          <a:bodyPr/>
          <a:lstStyle/>
          <a:p>
            <a:pPr marL="447675" indent="-447675">
              <a:lnSpc>
                <a:spcPct val="90000"/>
              </a:lnSpc>
              <a:spcBef>
                <a:spcPct val="10000"/>
              </a:spcBef>
            </a:pPr>
            <a:endParaRPr lang="en-CA" sz="3200" dirty="0" smtClean="0"/>
          </a:p>
          <a:p>
            <a:pPr marL="447675" indent="-447675">
              <a:lnSpc>
                <a:spcPct val="90000"/>
              </a:lnSpc>
              <a:spcBef>
                <a:spcPct val="10000"/>
              </a:spcBef>
            </a:pPr>
            <a:r>
              <a:rPr lang="en-CA" sz="3200" dirty="0" smtClean="0"/>
              <a:t>Ranking may be </a:t>
            </a:r>
            <a:r>
              <a:rPr lang="en-CA" sz="3200" b="1" dirty="0" smtClean="0"/>
              <a:t>deferred</a:t>
            </a:r>
            <a:r>
              <a:rPr lang="en-CA" sz="3200" dirty="0" smtClean="0"/>
              <a:t> pending </a:t>
            </a:r>
            <a:endParaRPr lang="en-US" sz="3200" dirty="0" smtClean="0"/>
          </a:p>
        </p:txBody>
      </p:sp>
      <p:sp>
        <p:nvSpPr>
          <p:cNvPr id="34821" name="Rectangle 5"/>
          <p:cNvSpPr>
            <a:spLocks noChangeArrowheads="1"/>
          </p:cNvSpPr>
          <p:nvPr/>
        </p:nvSpPr>
        <p:spPr bwMode="auto">
          <a:xfrm>
            <a:off x="274638" y="2514600"/>
            <a:ext cx="8716962" cy="2692400"/>
          </a:xfrm>
          <a:prstGeom prst="rect">
            <a:avLst/>
          </a:prstGeom>
          <a:solidFill>
            <a:srgbClr val="FFFFFF"/>
          </a:solidFill>
          <a:ln w="9525">
            <a:noFill/>
            <a:miter lim="800000"/>
            <a:headEnd/>
            <a:tailEnd/>
          </a:ln>
        </p:spPr>
        <p:txBody>
          <a:bodyPr/>
          <a:lstStyle/>
          <a:p>
            <a:pPr marL="895350" lvl="1" indent="-268288" eaLnBrk="0" hangingPunct="0">
              <a:spcBef>
                <a:spcPct val="10000"/>
              </a:spcBef>
              <a:buClr>
                <a:schemeClr val="tx1"/>
              </a:buClr>
              <a:buSzPct val="100000"/>
              <a:buFontTx/>
              <a:buChar char="–"/>
              <a:defRPr/>
            </a:pPr>
            <a:r>
              <a:rPr lang="en-US" sz="3200" i="0" dirty="0">
                <a:latin typeface="+mn-lt"/>
              </a:rPr>
              <a:t>Receipt of additional information or clarification from Dean</a:t>
            </a:r>
          </a:p>
          <a:p>
            <a:pPr marL="895350" lvl="1" indent="-268288" eaLnBrk="0" hangingPunct="0">
              <a:spcBef>
                <a:spcPct val="10000"/>
              </a:spcBef>
              <a:buClr>
                <a:schemeClr val="tx1"/>
              </a:buClr>
              <a:buSzPct val="100000"/>
              <a:buFontTx/>
              <a:buChar char="–"/>
              <a:defRPr/>
            </a:pPr>
            <a:r>
              <a:rPr lang="en-CA" sz="3200" i="0" dirty="0">
                <a:latin typeface="+mn-lt"/>
              </a:rPr>
              <a:t>Resolution of procedural concern by Faculty Relations</a:t>
            </a:r>
          </a:p>
          <a:p>
            <a:pPr marL="895350" lvl="1" indent="-268288" eaLnBrk="0" hangingPunct="0">
              <a:spcBef>
                <a:spcPct val="10000"/>
              </a:spcBef>
              <a:buClr>
                <a:schemeClr val="tx1"/>
              </a:buClr>
              <a:buSzPct val="100000"/>
              <a:defRPr/>
            </a:pPr>
            <a:endParaRPr lang="en-US" sz="4000"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type="title"/>
          </p:nvPr>
        </p:nvSpPr>
        <p:spPr>
          <a:xfrm>
            <a:off x="687388" y="152400"/>
            <a:ext cx="7848600" cy="838200"/>
          </a:xfrm>
        </p:spPr>
        <p:txBody>
          <a:bodyPr anchor="ctr"/>
          <a:lstStyle/>
          <a:p>
            <a:pPr>
              <a:lnSpc>
                <a:spcPct val="90000"/>
              </a:lnSpc>
            </a:pPr>
            <a:r>
              <a:rPr lang="en-US" sz="3600" dirty="0" smtClean="0"/>
              <a:t>SAC Subcommittee Review</a:t>
            </a:r>
            <a:endParaRPr lang="en-GB" sz="3600" dirty="0" smtClean="0"/>
          </a:p>
        </p:txBody>
      </p:sp>
      <p:sp>
        <p:nvSpPr>
          <p:cNvPr id="31747" name="Rectangle 6"/>
          <p:cNvSpPr>
            <a:spLocks noGrp="1" noChangeArrowheads="1"/>
          </p:cNvSpPr>
          <p:nvPr>
            <p:ph idx="1"/>
          </p:nvPr>
        </p:nvSpPr>
        <p:spPr>
          <a:xfrm>
            <a:off x="241300" y="1143000"/>
            <a:ext cx="8326438" cy="1306513"/>
          </a:xfrm>
          <a:solidFill>
            <a:srgbClr val="FFFFFF"/>
          </a:solidFill>
        </p:spPr>
        <p:txBody>
          <a:bodyPr/>
          <a:lstStyle/>
          <a:p>
            <a:pPr marL="447675" indent="-447675">
              <a:lnSpc>
                <a:spcPct val="90000"/>
              </a:lnSpc>
              <a:spcBef>
                <a:spcPct val="10000"/>
              </a:spcBef>
            </a:pPr>
            <a:r>
              <a:rPr lang="en-US" sz="3200" dirty="0" smtClean="0"/>
              <a:t>Cases ranked “B” are referred to full SAC for discussion with Dean</a:t>
            </a:r>
          </a:p>
        </p:txBody>
      </p:sp>
      <p:sp>
        <p:nvSpPr>
          <p:cNvPr id="35845" name="Rectangle 7"/>
          <p:cNvSpPr>
            <a:spLocks noChangeArrowheads="1"/>
          </p:cNvSpPr>
          <p:nvPr/>
        </p:nvSpPr>
        <p:spPr bwMode="auto">
          <a:xfrm>
            <a:off x="115888" y="2362200"/>
            <a:ext cx="8659812" cy="3657600"/>
          </a:xfrm>
          <a:prstGeom prst="rect">
            <a:avLst/>
          </a:prstGeom>
          <a:solidFill>
            <a:srgbClr val="FFFFFF"/>
          </a:solidFill>
          <a:ln w="9525">
            <a:noFill/>
            <a:miter lim="800000"/>
            <a:headEnd/>
            <a:tailEnd/>
          </a:ln>
        </p:spPr>
        <p:txBody>
          <a:bodyPr/>
          <a:lstStyle/>
          <a:p>
            <a:pPr marL="895350" lvl="1" indent="-268288" eaLnBrk="0" hangingPunct="0">
              <a:lnSpc>
                <a:spcPct val="90000"/>
              </a:lnSpc>
              <a:spcBef>
                <a:spcPct val="10000"/>
              </a:spcBef>
              <a:buClr>
                <a:schemeClr val="tx1"/>
              </a:buClr>
              <a:buSzPct val="100000"/>
              <a:buFontTx/>
              <a:buChar char="–"/>
              <a:defRPr/>
            </a:pPr>
            <a:r>
              <a:rPr lang="en-US" sz="3200" i="0" dirty="0">
                <a:latin typeface="+mn-lt"/>
              </a:rPr>
              <a:t>About 1/4 of all </a:t>
            </a:r>
            <a:r>
              <a:rPr lang="en-US" sz="3200" i="0" dirty="0" smtClean="0">
                <a:latin typeface="+mn-lt"/>
              </a:rPr>
              <a:t>cases, including:</a:t>
            </a:r>
          </a:p>
          <a:p>
            <a:pPr marL="627062" lvl="1" eaLnBrk="0" hangingPunct="0">
              <a:lnSpc>
                <a:spcPct val="90000"/>
              </a:lnSpc>
              <a:spcBef>
                <a:spcPct val="10000"/>
              </a:spcBef>
              <a:buClr>
                <a:schemeClr val="tx1"/>
              </a:buClr>
              <a:buSzPct val="100000"/>
              <a:defRPr/>
            </a:pPr>
            <a:endParaRPr lang="en-US" sz="3200" i="0" dirty="0">
              <a:latin typeface="+mn-lt"/>
            </a:endParaRPr>
          </a:p>
          <a:p>
            <a:pPr marL="1352550" lvl="2" indent="-268288" eaLnBrk="0" hangingPunct="0">
              <a:lnSpc>
                <a:spcPct val="90000"/>
              </a:lnSpc>
              <a:spcBef>
                <a:spcPct val="10000"/>
              </a:spcBef>
              <a:buClr>
                <a:schemeClr val="tx1"/>
              </a:buClr>
              <a:buSzPct val="100000"/>
              <a:buFontTx/>
              <a:buChar char="–"/>
              <a:defRPr/>
            </a:pPr>
            <a:r>
              <a:rPr lang="en-US" sz="3200" i="0" dirty="0">
                <a:latin typeface="+mn-lt"/>
              </a:rPr>
              <a:t>Cases with a negative </a:t>
            </a:r>
            <a:r>
              <a:rPr lang="en-US" sz="3200" i="0" dirty="0" smtClean="0">
                <a:latin typeface="+mn-lt"/>
              </a:rPr>
              <a:t>recommendation from the Head or the Dean</a:t>
            </a:r>
          </a:p>
          <a:p>
            <a:pPr marL="1084262" lvl="2" eaLnBrk="0" hangingPunct="0">
              <a:lnSpc>
                <a:spcPct val="90000"/>
              </a:lnSpc>
              <a:spcBef>
                <a:spcPct val="10000"/>
              </a:spcBef>
              <a:buClr>
                <a:schemeClr val="tx1"/>
              </a:buClr>
              <a:buSzPct val="100000"/>
              <a:defRPr/>
            </a:pPr>
            <a:endParaRPr lang="en-US" sz="3200" i="0" dirty="0">
              <a:latin typeface="+mn-lt"/>
            </a:endParaRPr>
          </a:p>
          <a:p>
            <a:pPr marL="1352550" lvl="2" indent="-268288" eaLnBrk="0" hangingPunct="0">
              <a:lnSpc>
                <a:spcPct val="90000"/>
              </a:lnSpc>
              <a:spcBef>
                <a:spcPct val="10000"/>
              </a:spcBef>
              <a:buClr>
                <a:schemeClr val="tx1"/>
              </a:buClr>
              <a:buSzPct val="100000"/>
              <a:buFontTx/>
              <a:buChar char="–"/>
              <a:defRPr/>
            </a:pPr>
            <a:r>
              <a:rPr lang="en-US" sz="3200" i="0" dirty="0" smtClean="0">
                <a:latin typeface="+mn-lt"/>
              </a:rPr>
              <a:t>Where SAC </a:t>
            </a:r>
            <a:r>
              <a:rPr lang="en-US" sz="3200" i="0" dirty="0">
                <a:latin typeface="+mn-lt"/>
              </a:rPr>
              <a:t>members </a:t>
            </a:r>
            <a:r>
              <a:rPr lang="en-US" sz="3200" i="0" dirty="0" smtClean="0">
                <a:latin typeface="+mn-lt"/>
              </a:rPr>
              <a:t>feel case warrants a full discussion</a:t>
            </a:r>
            <a:endParaRPr lang="en-US" sz="3200" i="0" dirty="0">
              <a:latin typeface="+mn-lt"/>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687388" y="304800"/>
            <a:ext cx="8296275" cy="838200"/>
          </a:xfrm>
        </p:spPr>
        <p:txBody>
          <a:bodyPr anchor="ctr"/>
          <a:lstStyle/>
          <a:p>
            <a:pPr>
              <a:lnSpc>
                <a:spcPct val="90000"/>
              </a:lnSpc>
              <a:defRPr/>
            </a:pPr>
            <a:r>
              <a:rPr lang="en-US" sz="3600" dirty="0" smtClean="0">
                <a:latin typeface="+mn-lt"/>
              </a:rPr>
              <a:t>SAC Process: </a:t>
            </a:r>
            <a:br>
              <a:rPr lang="en-US" sz="3600" dirty="0" smtClean="0">
                <a:latin typeface="+mn-lt"/>
              </a:rPr>
            </a:br>
            <a:r>
              <a:rPr lang="en-US" sz="3600" dirty="0" smtClean="0">
                <a:latin typeface="+mn-lt"/>
              </a:rPr>
              <a:t>Full Committee Review</a:t>
            </a:r>
            <a:endParaRPr lang="en-GB" sz="3600" dirty="0" smtClean="0">
              <a:latin typeface="+mn-lt"/>
            </a:endParaRPr>
          </a:p>
        </p:txBody>
      </p:sp>
      <p:sp>
        <p:nvSpPr>
          <p:cNvPr id="32771" name="Rectangle 4"/>
          <p:cNvSpPr>
            <a:spLocks noGrp="1" noChangeArrowheads="1"/>
          </p:cNvSpPr>
          <p:nvPr>
            <p:ph idx="1"/>
          </p:nvPr>
        </p:nvSpPr>
        <p:spPr>
          <a:xfrm>
            <a:off x="241300" y="1885950"/>
            <a:ext cx="8659813" cy="4133850"/>
          </a:xfrm>
          <a:solidFill>
            <a:srgbClr val="FFFFFF"/>
          </a:solidFill>
        </p:spPr>
        <p:txBody>
          <a:bodyPr/>
          <a:lstStyle/>
          <a:p>
            <a:pPr marL="447675" indent="-447675">
              <a:lnSpc>
                <a:spcPct val="90000"/>
              </a:lnSpc>
              <a:spcBef>
                <a:spcPct val="10000"/>
              </a:spcBef>
            </a:pPr>
            <a:r>
              <a:rPr lang="en-US" sz="3200" dirty="0" smtClean="0"/>
              <a:t>“A” cases generally approved without discussion by full SAC</a:t>
            </a:r>
          </a:p>
          <a:p>
            <a:pPr marL="447675" indent="-447675">
              <a:lnSpc>
                <a:spcPct val="90000"/>
              </a:lnSpc>
              <a:spcBef>
                <a:spcPct val="10000"/>
              </a:spcBef>
              <a:buFont typeface="Wingdings" pitchFamily="2" charset="2"/>
              <a:buNone/>
            </a:pPr>
            <a:endParaRPr lang="en-US" sz="3200" dirty="0" smtClean="0"/>
          </a:p>
          <a:p>
            <a:pPr marL="447675" indent="-447675">
              <a:lnSpc>
                <a:spcPct val="90000"/>
              </a:lnSpc>
              <a:spcBef>
                <a:spcPct val="10000"/>
              </a:spcBef>
            </a:pPr>
            <a:r>
              <a:rPr lang="en-US" sz="3200" dirty="0" smtClean="0"/>
              <a:t>“B” case questions are sent to Dean </a:t>
            </a:r>
          </a:p>
          <a:p>
            <a:pPr marL="0" indent="0">
              <a:lnSpc>
                <a:spcPct val="90000"/>
              </a:lnSpc>
              <a:spcBef>
                <a:spcPct val="10000"/>
              </a:spcBef>
              <a:buNone/>
            </a:pPr>
            <a:endParaRPr lang="en-US" sz="3200" dirty="0" smtClean="0"/>
          </a:p>
          <a:p>
            <a:pPr marL="1127125" lvl="2" indent="-447675">
              <a:lnSpc>
                <a:spcPct val="90000"/>
              </a:lnSpc>
              <a:spcBef>
                <a:spcPct val="10000"/>
              </a:spcBef>
            </a:pPr>
            <a:r>
              <a:rPr lang="en-US" sz="3200" dirty="0" smtClean="0"/>
              <a:t>Dean joins full SAC for discussion of the case</a:t>
            </a:r>
          </a:p>
          <a:p>
            <a:pPr marL="1127125" lvl="2" indent="-447675">
              <a:lnSpc>
                <a:spcPct val="90000"/>
              </a:lnSpc>
              <a:spcBef>
                <a:spcPct val="10000"/>
              </a:spcBef>
            </a:pPr>
            <a:r>
              <a:rPr lang="en-US" sz="3200" dirty="0" smtClean="0"/>
              <a:t>Vote taken in Dean’s absence</a:t>
            </a:r>
          </a:p>
          <a:p>
            <a:pPr marL="1127125" lvl="2" indent="-447675">
              <a:lnSpc>
                <a:spcPct val="90000"/>
              </a:lnSpc>
              <a:spcBef>
                <a:spcPct val="10000"/>
              </a:spcBef>
            </a:pPr>
            <a:r>
              <a:rPr lang="en-US" sz="3200" dirty="0" smtClean="0"/>
              <a:t>Dean informed of result</a:t>
            </a:r>
          </a:p>
          <a:p>
            <a:pPr marL="774700" lvl="1" indent="-447675">
              <a:lnSpc>
                <a:spcPct val="90000"/>
              </a:lnSpc>
              <a:spcBef>
                <a:spcPct val="10000"/>
              </a:spcBef>
            </a:pPr>
            <a:endParaRPr lang="en-US" sz="4000" dirty="0" smtClean="0"/>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Grp="1" noChangeArrowheads="1"/>
          </p:cNvSpPr>
          <p:nvPr>
            <p:ph type="title"/>
          </p:nvPr>
        </p:nvSpPr>
        <p:spPr>
          <a:xfrm>
            <a:off x="690563" y="188913"/>
            <a:ext cx="7848600" cy="838200"/>
          </a:xfrm>
        </p:spPr>
        <p:txBody>
          <a:bodyPr anchor="ctr"/>
          <a:lstStyle/>
          <a:p>
            <a:pPr>
              <a:lnSpc>
                <a:spcPct val="90000"/>
              </a:lnSpc>
            </a:pPr>
            <a:r>
              <a:rPr lang="en-US" sz="3600" smtClean="0"/>
              <a:t>SAC Process</a:t>
            </a:r>
            <a:endParaRPr lang="en-GB" sz="3600" smtClean="0"/>
          </a:p>
        </p:txBody>
      </p:sp>
      <p:sp>
        <p:nvSpPr>
          <p:cNvPr id="33795" name="Rectangle 2"/>
          <p:cNvSpPr>
            <a:spLocks noGrp="1" noChangeArrowheads="1"/>
          </p:cNvSpPr>
          <p:nvPr>
            <p:ph idx="1"/>
          </p:nvPr>
        </p:nvSpPr>
        <p:spPr>
          <a:xfrm>
            <a:off x="260350" y="1600200"/>
            <a:ext cx="8669338" cy="3917950"/>
          </a:xfrm>
          <a:solidFill>
            <a:srgbClr val="FFFFFF"/>
          </a:solidFill>
        </p:spPr>
        <p:txBody>
          <a:bodyPr/>
          <a:lstStyle/>
          <a:p>
            <a:pPr marL="447675" indent="-447675">
              <a:lnSpc>
                <a:spcPct val="90000"/>
              </a:lnSpc>
              <a:spcBef>
                <a:spcPct val="10000"/>
              </a:spcBef>
            </a:pPr>
            <a:r>
              <a:rPr lang="en-US" sz="3200" dirty="0" smtClean="0"/>
              <a:t>Chair informs President of SAC recommendation and vote on each case</a:t>
            </a:r>
          </a:p>
          <a:p>
            <a:pPr marL="447675" indent="-447675">
              <a:lnSpc>
                <a:spcPct val="90000"/>
              </a:lnSpc>
              <a:spcBef>
                <a:spcPct val="10000"/>
              </a:spcBef>
              <a:buFont typeface="Wingdings" pitchFamily="2" charset="2"/>
              <a:buNone/>
            </a:pPr>
            <a:endParaRPr lang="en-US" sz="3200" dirty="0" smtClean="0"/>
          </a:p>
          <a:p>
            <a:pPr marL="447675" indent="-447675">
              <a:lnSpc>
                <a:spcPct val="90000"/>
              </a:lnSpc>
              <a:spcBef>
                <a:spcPct val="10000"/>
              </a:spcBef>
            </a:pPr>
            <a:r>
              <a:rPr lang="en-CA" sz="3200" dirty="0" smtClean="0"/>
              <a:t>Chair also provides President notes on SAC discussion with the Dean regarding “B” cases</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Grp="1" noChangeArrowheads="1"/>
          </p:cNvSpPr>
          <p:nvPr>
            <p:ph type="title"/>
          </p:nvPr>
        </p:nvSpPr>
        <p:spPr>
          <a:xfrm>
            <a:off x="690563" y="188913"/>
            <a:ext cx="7848600" cy="838200"/>
          </a:xfrm>
        </p:spPr>
        <p:txBody>
          <a:bodyPr anchor="ctr"/>
          <a:lstStyle/>
          <a:p>
            <a:pPr>
              <a:lnSpc>
                <a:spcPct val="90000"/>
              </a:lnSpc>
            </a:pPr>
            <a:r>
              <a:rPr lang="en-US" sz="3600" smtClean="0"/>
              <a:t>SAC Process</a:t>
            </a:r>
            <a:endParaRPr lang="en-GB" sz="3600" smtClean="0"/>
          </a:p>
        </p:txBody>
      </p:sp>
      <p:sp>
        <p:nvSpPr>
          <p:cNvPr id="34819" name="Rectangle 2"/>
          <p:cNvSpPr>
            <a:spLocks noGrp="1" noChangeArrowheads="1"/>
          </p:cNvSpPr>
          <p:nvPr>
            <p:ph idx="1"/>
          </p:nvPr>
        </p:nvSpPr>
        <p:spPr>
          <a:xfrm>
            <a:off x="222250" y="1196975"/>
            <a:ext cx="8669338" cy="4702175"/>
          </a:xfrm>
          <a:solidFill>
            <a:srgbClr val="FFFFFF"/>
          </a:solidFill>
        </p:spPr>
        <p:txBody>
          <a:bodyPr/>
          <a:lstStyle/>
          <a:p>
            <a:pPr marL="538163" indent="-538163">
              <a:lnSpc>
                <a:spcPct val="90000"/>
              </a:lnSpc>
              <a:spcBef>
                <a:spcPct val="10000"/>
              </a:spcBef>
            </a:pPr>
            <a:r>
              <a:rPr lang="en-US" sz="3200" dirty="0" smtClean="0"/>
              <a:t>SAC recommendation and vote confidential </a:t>
            </a:r>
          </a:p>
          <a:p>
            <a:pPr marL="538163" indent="-538163">
              <a:lnSpc>
                <a:spcPct val="90000"/>
              </a:lnSpc>
              <a:spcBef>
                <a:spcPct val="10000"/>
              </a:spcBef>
              <a:buFont typeface="Wingdings" pitchFamily="2" charset="2"/>
              <a:buNone/>
            </a:pPr>
            <a:endParaRPr lang="en-US" sz="3200" dirty="0" smtClean="0"/>
          </a:p>
          <a:p>
            <a:pPr marL="538163" indent="-538163">
              <a:lnSpc>
                <a:spcPct val="90000"/>
              </a:lnSpc>
              <a:spcBef>
                <a:spcPct val="10000"/>
              </a:spcBef>
            </a:pPr>
            <a:r>
              <a:rPr lang="en-CA" sz="3200" dirty="0" smtClean="0"/>
              <a:t>President reviews case and makes independent recommendation to Board</a:t>
            </a:r>
          </a:p>
          <a:p>
            <a:pPr marL="538163" indent="-538163">
              <a:lnSpc>
                <a:spcPct val="90000"/>
              </a:lnSpc>
              <a:spcBef>
                <a:spcPct val="10000"/>
              </a:spcBef>
            </a:pPr>
            <a:endParaRPr lang="en-CA" sz="3200" dirty="0"/>
          </a:p>
          <a:p>
            <a:pPr marL="538163" indent="-538163">
              <a:lnSpc>
                <a:spcPct val="90000"/>
              </a:lnSpc>
              <a:spcBef>
                <a:spcPct val="10000"/>
              </a:spcBef>
            </a:pPr>
            <a:r>
              <a:rPr lang="en-CA" sz="3200" dirty="0" smtClean="0"/>
              <a:t>Note: this is a very paper-driven process!</a:t>
            </a:r>
            <a:endParaRPr lang="en-US" sz="3200" dirty="0" smtClean="0"/>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Criteria: Senior Instructor    A. 3.04</a:t>
            </a:r>
            <a:endParaRPr lang="en-CA" dirty="0"/>
          </a:p>
        </p:txBody>
      </p:sp>
      <p:sp>
        <p:nvSpPr>
          <p:cNvPr id="3" name="Content Placeholder 2"/>
          <p:cNvSpPr>
            <a:spLocks noGrp="1"/>
          </p:cNvSpPr>
          <p:nvPr>
            <p:ph idx="1"/>
          </p:nvPr>
        </p:nvSpPr>
        <p:spPr/>
        <p:txBody>
          <a:bodyPr/>
          <a:lstStyle/>
          <a:p>
            <a:r>
              <a:rPr lang="en-CA" sz="3200" dirty="0" smtClean="0"/>
              <a:t>Old Agreement:  “excellent teachers”</a:t>
            </a:r>
          </a:p>
          <a:p>
            <a:pPr>
              <a:buNone/>
            </a:pPr>
            <a:endParaRPr lang="en-CA" sz="3200" dirty="0" smtClean="0"/>
          </a:p>
          <a:p>
            <a:r>
              <a:rPr lang="en-CA" sz="3200" dirty="0" smtClean="0"/>
              <a:t>New Agreement:</a:t>
            </a:r>
          </a:p>
          <a:p>
            <a:pPr lvl="1"/>
            <a:r>
              <a:rPr lang="en-CA" sz="3200" dirty="0" smtClean="0"/>
              <a:t> excellence in teaching</a:t>
            </a:r>
          </a:p>
          <a:p>
            <a:pPr lvl="1"/>
            <a:r>
              <a:rPr lang="en-CA" sz="3200" dirty="0" smtClean="0"/>
              <a:t>demonstrated educational leadership</a:t>
            </a:r>
          </a:p>
          <a:p>
            <a:pPr lvl="1"/>
            <a:r>
              <a:rPr lang="en-CA" sz="3200" dirty="0" smtClean="0"/>
              <a:t>involvement in curriculum development and innovation</a:t>
            </a:r>
          </a:p>
          <a:p>
            <a:pPr lvl="1"/>
            <a:r>
              <a:rPr lang="en-CA" sz="3200" dirty="0" smtClean="0"/>
              <a:t>and other teaching and learning initiatives. </a:t>
            </a:r>
            <a:endParaRPr lang="en-CA" sz="3200" dirty="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32</a:t>
            </a:fld>
            <a:endParaRPr lang="en-US" alt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Professor of Teaching     A. 3.05</a:t>
            </a:r>
            <a:endParaRPr lang="en-CA" dirty="0"/>
          </a:p>
        </p:txBody>
      </p:sp>
      <p:sp>
        <p:nvSpPr>
          <p:cNvPr id="3" name="Content Placeholder 2"/>
          <p:cNvSpPr>
            <a:spLocks noGrp="1"/>
          </p:cNvSpPr>
          <p:nvPr>
            <p:ph idx="1"/>
          </p:nvPr>
        </p:nvSpPr>
        <p:spPr/>
        <p:txBody>
          <a:bodyPr/>
          <a:lstStyle/>
          <a:p>
            <a:r>
              <a:rPr lang="en-CA" sz="3600" dirty="0" smtClean="0"/>
              <a:t>outstanding achievement in teaching and educational leadership</a:t>
            </a:r>
          </a:p>
          <a:p>
            <a:r>
              <a:rPr lang="en-CA" sz="3600" dirty="0" smtClean="0"/>
              <a:t>distinction in the field of teaching and learning</a:t>
            </a:r>
          </a:p>
          <a:p>
            <a:r>
              <a:rPr lang="en-CA" sz="3600" dirty="0" smtClean="0"/>
              <a:t>sustained and innovative contributions to curriculum development, course design and other initiatives </a:t>
            </a:r>
            <a:endParaRPr lang="en-CA" sz="3600" dirty="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33</a:t>
            </a:fld>
            <a:endParaRPr lang="en-US" alt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Assistant Professor    A. 3.06</a:t>
            </a:r>
            <a:endParaRPr lang="en-CA" dirty="0"/>
          </a:p>
        </p:txBody>
      </p:sp>
      <p:sp>
        <p:nvSpPr>
          <p:cNvPr id="3" name="Content Placeholder 2"/>
          <p:cNvSpPr>
            <a:spLocks noGrp="1"/>
          </p:cNvSpPr>
          <p:nvPr>
            <p:ph idx="1"/>
          </p:nvPr>
        </p:nvSpPr>
        <p:spPr/>
        <p:txBody>
          <a:bodyPr/>
          <a:lstStyle/>
          <a:p>
            <a:endParaRPr lang="en-CA" dirty="0" smtClean="0"/>
          </a:p>
          <a:p>
            <a:r>
              <a:rPr lang="en-CA" sz="3600" dirty="0" smtClean="0"/>
              <a:t>evidence of ability in teaching and scholarly activity </a:t>
            </a:r>
          </a:p>
          <a:p>
            <a:r>
              <a:rPr lang="en-CA" sz="3600" dirty="0" smtClean="0"/>
              <a:t>involved in scholarly activity</a:t>
            </a:r>
          </a:p>
          <a:p>
            <a:r>
              <a:rPr lang="en-CA" sz="3600" dirty="0" smtClean="0"/>
              <a:t>is a successful teacher</a:t>
            </a:r>
          </a:p>
          <a:p>
            <a:r>
              <a:rPr lang="en-CA" sz="3600" dirty="0" smtClean="0"/>
              <a:t>is capable of providing instruction at the various levels </a:t>
            </a:r>
          </a:p>
          <a:p>
            <a:endParaRPr lang="en-CA" dirty="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34</a:t>
            </a:fld>
            <a:endParaRPr lang="en-US" alt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Associate Professor     A. 3.07</a:t>
            </a:r>
            <a:endParaRPr lang="en-CA" dirty="0"/>
          </a:p>
        </p:txBody>
      </p:sp>
      <p:sp>
        <p:nvSpPr>
          <p:cNvPr id="3" name="Content Placeholder 2"/>
          <p:cNvSpPr>
            <a:spLocks noGrp="1"/>
          </p:cNvSpPr>
          <p:nvPr>
            <p:ph idx="1"/>
          </p:nvPr>
        </p:nvSpPr>
        <p:spPr>
          <a:xfrm>
            <a:off x="457200" y="1371600"/>
            <a:ext cx="8229600" cy="4759325"/>
          </a:xfrm>
        </p:spPr>
        <p:txBody>
          <a:bodyPr/>
          <a:lstStyle/>
          <a:p>
            <a:pPr>
              <a:buNone/>
            </a:pPr>
            <a:endParaRPr lang="en-CA" dirty="0" smtClean="0"/>
          </a:p>
          <a:p>
            <a:r>
              <a:rPr lang="en-CA" dirty="0" smtClean="0"/>
              <a:t>evidence of successful teaching and scholarly activity beyond that expected of an Assistant Professor </a:t>
            </a:r>
          </a:p>
          <a:p>
            <a:r>
              <a:rPr lang="en-CA" dirty="0" smtClean="0"/>
              <a:t>Teaching effectiveness       A. 4.02</a:t>
            </a:r>
          </a:p>
          <a:p>
            <a:r>
              <a:rPr lang="en-CA" dirty="0" smtClean="0"/>
              <a:t>sustained and productive scholarly activity</a:t>
            </a:r>
          </a:p>
          <a:p>
            <a:r>
              <a:rPr lang="en-CA" dirty="0" smtClean="0"/>
              <a:t> ability to direct graduate students</a:t>
            </a:r>
          </a:p>
          <a:p>
            <a:r>
              <a:rPr lang="en-CA" dirty="0" smtClean="0"/>
              <a:t>willingness to participate and participation in the affairs of the Department and the University </a:t>
            </a:r>
          </a:p>
          <a:p>
            <a:endParaRPr lang="en-CA" dirty="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35</a:t>
            </a:fld>
            <a:endParaRPr lang="en-US" alt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Tenure   			A. 4.01</a:t>
            </a:r>
            <a:endParaRPr lang="en-CA" dirty="0"/>
          </a:p>
        </p:txBody>
      </p:sp>
      <p:sp>
        <p:nvSpPr>
          <p:cNvPr id="3" name="Content Placeholder 2"/>
          <p:cNvSpPr>
            <a:spLocks noGrp="1"/>
          </p:cNvSpPr>
          <p:nvPr>
            <p:ph idx="1"/>
          </p:nvPr>
        </p:nvSpPr>
        <p:spPr>
          <a:xfrm>
            <a:off x="457200" y="1295400"/>
            <a:ext cx="8229600" cy="4835525"/>
          </a:xfrm>
        </p:spPr>
        <p:txBody>
          <a:bodyPr/>
          <a:lstStyle/>
          <a:p>
            <a:pPr>
              <a:buNone/>
            </a:pPr>
            <a:endParaRPr lang="en-CA" dirty="0" smtClean="0"/>
          </a:p>
          <a:p>
            <a:r>
              <a:rPr lang="en-CA" dirty="0" smtClean="0"/>
              <a:t>granted to individuals who have maintained a high standard of performance and show promise of continuing to do so. </a:t>
            </a:r>
          </a:p>
          <a:p>
            <a:r>
              <a:rPr lang="en-CA" dirty="0" smtClean="0"/>
              <a:t>judged principally on performance in both teaching and in scholarly activity </a:t>
            </a:r>
          </a:p>
          <a:p>
            <a:r>
              <a:rPr lang="en-CA" dirty="0" smtClean="0"/>
              <a:t>Service is important, but cannot compensate for deficiencies in teaching and in scholarly activity </a:t>
            </a:r>
          </a:p>
          <a:p>
            <a:r>
              <a:rPr lang="en-CA" dirty="0" smtClean="0"/>
              <a:t>Competence is required both in teaching and in scholarly activity </a:t>
            </a:r>
          </a:p>
          <a:p>
            <a:endParaRPr lang="en-CA" dirty="0" smtClean="0"/>
          </a:p>
          <a:p>
            <a:endParaRPr lang="en-CA" dirty="0" smtClean="0"/>
          </a:p>
          <a:p>
            <a:endParaRPr lang="en-CA" dirty="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36</a:t>
            </a:fld>
            <a:endParaRPr lang="en-US" alt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Professor		A. 3.08</a:t>
            </a:r>
            <a:endParaRPr lang="en-CA" dirty="0"/>
          </a:p>
        </p:txBody>
      </p:sp>
      <p:sp>
        <p:nvSpPr>
          <p:cNvPr id="3" name="Content Placeholder 2"/>
          <p:cNvSpPr>
            <a:spLocks noGrp="1"/>
          </p:cNvSpPr>
          <p:nvPr>
            <p:ph idx="1"/>
          </p:nvPr>
        </p:nvSpPr>
        <p:spPr/>
        <p:txBody>
          <a:bodyPr/>
          <a:lstStyle/>
          <a:p>
            <a:pPr>
              <a:buFont typeface="Wingdings" pitchFamily="2" charset="2"/>
              <a:buChar char="q"/>
            </a:pPr>
            <a:r>
              <a:rPr lang="en-CA" dirty="0" smtClean="0"/>
              <a:t>reserved for those whose contributions are considered outstanding </a:t>
            </a:r>
          </a:p>
          <a:p>
            <a:r>
              <a:rPr lang="en-CA" dirty="0" smtClean="0"/>
              <a:t>met appropriate standards of excellence and have wide recognition in the field of their interest</a:t>
            </a:r>
          </a:p>
          <a:p>
            <a:r>
              <a:rPr lang="en-CA" dirty="0" smtClean="0"/>
              <a:t>high quality in teaching </a:t>
            </a:r>
          </a:p>
          <a:p>
            <a:r>
              <a:rPr lang="en-CA" dirty="0" smtClean="0"/>
              <a:t>sustained and productive scholarly activity </a:t>
            </a:r>
          </a:p>
          <a:p>
            <a:r>
              <a:rPr lang="en-CA" dirty="0" smtClean="0"/>
              <a:t>attained distinction in their discipline </a:t>
            </a:r>
          </a:p>
          <a:p>
            <a:r>
              <a:rPr lang="en-CA" dirty="0" smtClean="0"/>
              <a:t>participated significantly in academic and professional affairs </a:t>
            </a:r>
          </a:p>
          <a:p>
            <a:endParaRPr lang="en-CA" dirty="0" smtClean="0"/>
          </a:p>
          <a:p>
            <a:endParaRPr lang="en-CA" dirty="0" smtClean="0"/>
          </a:p>
          <a:p>
            <a:endParaRPr lang="en-CA" dirty="0" smtClean="0"/>
          </a:p>
          <a:p>
            <a:endParaRPr lang="en-CA" dirty="0" smtClean="0"/>
          </a:p>
        </p:txBody>
      </p:sp>
      <p:sp>
        <p:nvSpPr>
          <p:cNvPr id="4" name="Slide Number Placeholder 3"/>
          <p:cNvSpPr>
            <a:spLocks noGrp="1"/>
          </p:cNvSpPr>
          <p:nvPr>
            <p:ph type="sldNum" sz="quarter" idx="12"/>
          </p:nvPr>
        </p:nvSpPr>
        <p:spPr/>
        <p:txBody>
          <a:bodyPr/>
          <a:lstStyle/>
          <a:p>
            <a:pPr>
              <a:defRPr/>
            </a:pPr>
            <a:fld id="{89654FC1-40C8-44C2-A76C-86E01097A9EC}" type="slidenum">
              <a:rPr lang="en-US" altLang="en-US" smtClean="0"/>
              <a:pPr>
                <a:defRPr/>
              </a:pPr>
              <a:t>37</a:t>
            </a:fld>
            <a:endParaRPr lang="en-US" alt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type="title"/>
          </p:nvPr>
        </p:nvSpPr>
        <p:spPr>
          <a:xfrm>
            <a:off x="639763" y="188913"/>
            <a:ext cx="7848600" cy="838200"/>
          </a:xfrm>
        </p:spPr>
        <p:txBody>
          <a:bodyPr anchor="ctr"/>
          <a:lstStyle/>
          <a:p>
            <a:pPr>
              <a:lnSpc>
                <a:spcPct val="90000"/>
              </a:lnSpc>
            </a:pPr>
            <a:r>
              <a:rPr lang="en-US" sz="3600" smtClean="0"/>
              <a:t>Frequent SAC Issues</a:t>
            </a:r>
            <a:endParaRPr lang="en-GB" sz="3600" smtClean="0"/>
          </a:p>
        </p:txBody>
      </p:sp>
      <p:sp>
        <p:nvSpPr>
          <p:cNvPr id="35843" name="Rectangle 2"/>
          <p:cNvSpPr>
            <a:spLocks noGrp="1" noChangeArrowheads="1"/>
          </p:cNvSpPr>
          <p:nvPr>
            <p:ph idx="1"/>
          </p:nvPr>
        </p:nvSpPr>
        <p:spPr>
          <a:xfrm>
            <a:off x="244475" y="1196975"/>
            <a:ext cx="8650288" cy="4702175"/>
          </a:xfrm>
          <a:solidFill>
            <a:srgbClr val="FFFFFF"/>
          </a:solidFill>
        </p:spPr>
        <p:txBody>
          <a:bodyPr/>
          <a:lstStyle/>
          <a:p>
            <a:pPr marL="538163" indent="-538163">
              <a:lnSpc>
                <a:spcPct val="90000"/>
              </a:lnSpc>
              <a:spcBef>
                <a:spcPct val="10000"/>
              </a:spcBef>
            </a:pPr>
            <a:endParaRPr lang="en-CA" sz="3200" dirty="0" smtClean="0"/>
          </a:p>
          <a:p>
            <a:pPr marL="538163" indent="-538163">
              <a:lnSpc>
                <a:spcPct val="90000"/>
              </a:lnSpc>
              <a:spcBef>
                <a:spcPct val="10000"/>
              </a:spcBef>
            </a:pPr>
            <a:r>
              <a:rPr lang="en-CA" sz="3600" dirty="0" smtClean="0"/>
              <a:t>Curricula </a:t>
            </a:r>
            <a:r>
              <a:rPr lang="en-CA" sz="3600" dirty="0"/>
              <a:t>vitae</a:t>
            </a:r>
            <a:endParaRPr lang="en-US" sz="3600" dirty="0"/>
          </a:p>
          <a:p>
            <a:pPr marL="538163" indent="-538163">
              <a:lnSpc>
                <a:spcPct val="90000"/>
              </a:lnSpc>
              <a:spcBef>
                <a:spcPct val="10000"/>
              </a:spcBef>
            </a:pPr>
            <a:r>
              <a:rPr lang="en-CA" sz="3600" dirty="0" smtClean="0"/>
              <a:t>External referee letters</a:t>
            </a:r>
          </a:p>
          <a:p>
            <a:pPr marL="538163" indent="-538163">
              <a:lnSpc>
                <a:spcPct val="90000"/>
              </a:lnSpc>
              <a:spcBef>
                <a:spcPct val="10000"/>
              </a:spcBef>
            </a:pPr>
            <a:r>
              <a:rPr lang="en-CA" sz="3600" dirty="0" smtClean="0"/>
              <a:t>Professional contributions</a:t>
            </a:r>
          </a:p>
          <a:p>
            <a:pPr marL="538163" indent="-538163">
              <a:lnSpc>
                <a:spcPct val="90000"/>
              </a:lnSpc>
              <a:spcBef>
                <a:spcPct val="10000"/>
              </a:spcBef>
            </a:pPr>
            <a:r>
              <a:rPr lang="en-CA" sz="3600" dirty="0" smtClean="0"/>
              <a:t>Scholarship of teaching </a:t>
            </a:r>
          </a:p>
          <a:p>
            <a:pPr marL="538163" indent="-538163">
              <a:lnSpc>
                <a:spcPct val="90000"/>
              </a:lnSpc>
              <a:spcBef>
                <a:spcPct val="10000"/>
              </a:spcBef>
            </a:pPr>
            <a:r>
              <a:rPr lang="en-CA" sz="3600" dirty="0" smtClean="0"/>
              <a:t>Teaching documentation</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type="title"/>
          </p:nvPr>
        </p:nvSpPr>
        <p:spPr>
          <a:xfrm>
            <a:off x="677863" y="93663"/>
            <a:ext cx="7848600" cy="838200"/>
          </a:xfrm>
        </p:spPr>
        <p:txBody>
          <a:bodyPr anchor="ctr"/>
          <a:lstStyle/>
          <a:p>
            <a:pPr>
              <a:lnSpc>
                <a:spcPct val="90000"/>
              </a:lnSpc>
            </a:pPr>
            <a:r>
              <a:rPr lang="en-US" sz="3600" smtClean="0"/>
              <a:t>Curricula Vitae</a:t>
            </a:r>
            <a:endParaRPr lang="en-GB" sz="3600" smtClean="0"/>
          </a:p>
        </p:txBody>
      </p:sp>
      <p:sp>
        <p:nvSpPr>
          <p:cNvPr id="46083" name="Rectangle 2"/>
          <p:cNvSpPr>
            <a:spLocks noGrp="1" noChangeArrowheads="1"/>
          </p:cNvSpPr>
          <p:nvPr>
            <p:ph idx="1"/>
          </p:nvPr>
        </p:nvSpPr>
        <p:spPr>
          <a:xfrm>
            <a:off x="215900" y="1101725"/>
            <a:ext cx="8683625" cy="4702175"/>
          </a:xfrm>
          <a:solidFill>
            <a:srgbClr val="FFFFFF"/>
          </a:solidFill>
        </p:spPr>
        <p:txBody>
          <a:bodyPr/>
          <a:lstStyle/>
          <a:p>
            <a:pPr marL="447675" indent="-447675">
              <a:lnSpc>
                <a:spcPct val="90000"/>
              </a:lnSpc>
              <a:spcBef>
                <a:spcPct val="10000"/>
              </a:spcBef>
            </a:pPr>
            <a:r>
              <a:rPr lang="en-CA" sz="3200" dirty="0" smtClean="0"/>
              <a:t>Use UBC format; adapt as needed (see annotated version in Guide)</a:t>
            </a:r>
          </a:p>
          <a:p>
            <a:pPr marL="447675" indent="-447675">
              <a:lnSpc>
                <a:spcPct val="90000"/>
              </a:lnSpc>
              <a:spcBef>
                <a:spcPct val="10000"/>
              </a:spcBef>
            </a:pPr>
            <a:r>
              <a:rPr lang="en-CA" sz="3200" dirty="0" smtClean="0"/>
              <a:t>Avoid duplication</a:t>
            </a:r>
          </a:p>
          <a:p>
            <a:pPr marL="447675" indent="-447675">
              <a:lnSpc>
                <a:spcPct val="90000"/>
              </a:lnSpc>
              <a:spcBef>
                <a:spcPct val="10000"/>
              </a:spcBef>
            </a:pPr>
            <a:r>
              <a:rPr lang="en-CA" sz="3200" dirty="0" smtClean="0"/>
              <a:t>Explain contributions to collaborative grants &amp; co-authored publications</a:t>
            </a:r>
          </a:p>
          <a:p>
            <a:pPr marL="447675" indent="-447675">
              <a:lnSpc>
                <a:spcPct val="90000"/>
              </a:lnSpc>
              <a:spcBef>
                <a:spcPct val="10000"/>
              </a:spcBef>
            </a:pPr>
            <a:r>
              <a:rPr lang="en-CA" sz="3200" dirty="0" smtClean="0"/>
              <a:t>Use narrative opportunities to provide context for teaching &amp; scholarship</a:t>
            </a:r>
          </a:p>
          <a:p>
            <a:pPr marL="774700" lvl="1" indent="-447675">
              <a:lnSpc>
                <a:spcPct val="90000"/>
              </a:lnSpc>
              <a:spcBef>
                <a:spcPct val="10000"/>
              </a:spcBef>
            </a:pPr>
            <a:r>
              <a:rPr lang="en-CA" sz="2800" dirty="0" smtClean="0"/>
              <a:t>150 words max!</a:t>
            </a:r>
          </a:p>
          <a:p>
            <a:pPr marL="327025" lvl="1" indent="0">
              <a:lnSpc>
                <a:spcPct val="90000"/>
              </a:lnSpc>
              <a:spcBef>
                <a:spcPct val="10000"/>
              </a:spcBef>
              <a:buNone/>
            </a:pPr>
            <a:endParaRPr lang="en-CA" sz="2800" dirty="0" smtClean="0"/>
          </a:p>
          <a:p>
            <a:pPr marL="447675" indent="-447675">
              <a:lnSpc>
                <a:spcPct val="90000"/>
              </a:lnSpc>
              <a:spcBef>
                <a:spcPct val="10000"/>
              </a:spcBef>
            </a:pPr>
            <a:r>
              <a:rPr lang="en-CA" sz="3200" i="1" dirty="0" smtClean="0"/>
              <a:t>Updates</a:t>
            </a:r>
            <a:r>
              <a:rPr lang="en-CA" sz="3200" dirty="0" smtClean="0"/>
              <a:t>: use clear, concise, dated supplements</a:t>
            </a:r>
            <a:endParaRPr lang="en-US" sz="3200" dirty="0" smtClean="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sz="3600" smtClean="0"/>
              <a:t>External Referee Letters</a:t>
            </a:r>
          </a:p>
        </p:txBody>
      </p:sp>
      <p:sp>
        <p:nvSpPr>
          <p:cNvPr id="36867" name="Rectangle 3"/>
          <p:cNvSpPr>
            <a:spLocks noGrp="1" noChangeArrowheads="1"/>
          </p:cNvSpPr>
          <p:nvPr>
            <p:ph idx="1"/>
          </p:nvPr>
        </p:nvSpPr>
        <p:spPr/>
        <p:txBody>
          <a:bodyPr/>
          <a:lstStyle/>
          <a:p>
            <a:r>
              <a:rPr lang="en-US" sz="3200" dirty="0" smtClean="0"/>
              <a:t>Choose well-qualified, arm’s length referees, preferably from universities/programs with stature comparable to UBC</a:t>
            </a:r>
          </a:p>
          <a:p>
            <a:pPr>
              <a:buFont typeface="Wingdings" pitchFamily="2" charset="2"/>
              <a:buNone/>
            </a:pPr>
            <a:endParaRPr lang="en-US" sz="3200" dirty="0" smtClean="0"/>
          </a:p>
          <a:p>
            <a:r>
              <a:rPr lang="en-US" sz="3200" dirty="0" smtClean="0"/>
              <a:t>Provide information on referees to Head</a:t>
            </a:r>
          </a:p>
          <a:p>
            <a:endParaRPr lang="en-US" sz="3200" dirty="0" smtClean="0"/>
          </a:p>
          <a:p>
            <a:r>
              <a:rPr lang="en-US" sz="3200" dirty="0" smtClean="0"/>
              <a:t>Note: If Head is a co-author with candidate, someone else must write to referees</a:t>
            </a:r>
          </a:p>
          <a:p>
            <a:endParaRPr lang="en-US" dirty="0" smtClean="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US" sz="3600" b="1" dirty="0" smtClean="0"/>
              <a:t>Scholarly Contributions</a:t>
            </a:r>
          </a:p>
        </p:txBody>
      </p:sp>
      <p:sp>
        <p:nvSpPr>
          <p:cNvPr id="37891" name="Rectangle 3"/>
          <p:cNvSpPr>
            <a:spLocks noGrp="1" noChangeArrowheads="1"/>
          </p:cNvSpPr>
          <p:nvPr>
            <p:ph idx="1"/>
          </p:nvPr>
        </p:nvSpPr>
        <p:spPr>
          <a:xfrm>
            <a:off x="457200" y="1219200"/>
            <a:ext cx="8229600" cy="4530725"/>
          </a:xfrm>
        </p:spPr>
        <p:txBody>
          <a:bodyPr/>
          <a:lstStyle/>
          <a:p>
            <a:pPr>
              <a:lnSpc>
                <a:spcPct val="90000"/>
              </a:lnSpc>
              <a:defRPr/>
            </a:pPr>
            <a:r>
              <a:rPr lang="en-CA" sz="3200" dirty="0" smtClean="0"/>
              <a:t>"Scholarly activity" means (A. 1.01):</a:t>
            </a:r>
          </a:p>
          <a:p>
            <a:pPr>
              <a:lnSpc>
                <a:spcPct val="90000"/>
              </a:lnSpc>
              <a:defRPr/>
            </a:pPr>
            <a:endParaRPr lang="en-CA" sz="3200" dirty="0" smtClean="0"/>
          </a:p>
          <a:p>
            <a:pPr lvl="1">
              <a:lnSpc>
                <a:spcPct val="90000"/>
              </a:lnSpc>
              <a:defRPr/>
            </a:pPr>
            <a:r>
              <a:rPr lang="en-CA" sz="3200" dirty="0" smtClean="0">
                <a:ea typeface="+mn-ea"/>
                <a:cs typeface="+mn-cs"/>
              </a:rPr>
              <a:t>research of quality and significance</a:t>
            </a:r>
            <a:r>
              <a:rPr lang="en-CA" sz="3200" dirty="0">
                <a:ea typeface="+mn-ea"/>
                <a:cs typeface="+mn-cs"/>
              </a:rPr>
              <a:t>;</a:t>
            </a:r>
            <a:endParaRPr lang="en-CA" sz="3200" dirty="0" smtClean="0"/>
          </a:p>
          <a:p>
            <a:pPr lvl="1">
              <a:lnSpc>
                <a:spcPct val="90000"/>
              </a:lnSpc>
              <a:defRPr/>
            </a:pPr>
            <a:r>
              <a:rPr lang="en-CA" sz="3200" dirty="0" smtClean="0">
                <a:ea typeface="+mn-ea"/>
                <a:cs typeface="+mn-cs"/>
              </a:rPr>
              <a:t>in appropriate fields, distinguished, creative or professional work of a scholarly nature; </a:t>
            </a:r>
          </a:p>
          <a:p>
            <a:pPr lvl="1">
              <a:lnSpc>
                <a:spcPct val="90000"/>
              </a:lnSpc>
              <a:defRPr/>
            </a:pPr>
            <a:r>
              <a:rPr lang="en-CA" sz="3200" dirty="0"/>
              <a:t>and the dissemination of the results of that scholarly </a:t>
            </a:r>
            <a:r>
              <a:rPr lang="en-CA" sz="3200" dirty="0" smtClean="0"/>
              <a:t>activity</a:t>
            </a:r>
          </a:p>
          <a:p>
            <a:pPr lvl="1">
              <a:lnSpc>
                <a:spcPct val="90000"/>
              </a:lnSpc>
              <a:defRPr/>
            </a:pPr>
            <a:endParaRPr lang="en-CA" sz="3200" dirty="0" smtClean="0">
              <a:ea typeface="+mn-ea"/>
              <a:cs typeface="+mn-cs"/>
            </a:endParaRPr>
          </a:p>
          <a:p>
            <a:pPr lvl="1">
              <a:lnSpc>
                <a:spcPct val="90000"/>
              </a:lnSpc>
              <a:buNone/>
              <a:defRPr/>
            </a:pPr>
            <a:r>
              <a:rPr lang="en-CA" sz="3200" dirty="0" smtClean="0">
                <a:ea typeface="+mn-ea"/>
                <a:cs typeface="+mn-cs"/>
              </a:rPr>
              <a:t>(Article 4.03 Agreement)</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r>
              <a:rPr lang="en-US" sz="3600" dirty="0" smtClean="0"/>
              <a:t>“Traditional” Scholarship   </a:t>
            </a:r>
            <a:r>
              <a:rPr lang="en-US" sz="3200" dirty="0" smtClean="0"/>
              <a:t>SAC Guide 3.1.5</a:t>
            </a:r>
          </a:p>
        </p:txBody>
      </p:sp>
      <p:sp>
        <p:nvSpPr>
          <p:cNvPr id="38915" name="Rectangle 3"/>
          <p:cNvSpPr>
            <a:spLocks noGrp="1" noChangeArrowheads="1"/>
          </p:cNvSpPr>
          <p:nvPr>
            <p:ph idx="1"/>
          </p:nvPr>
        </p:nvSpPr>
        <p:spPr>
          <a:xfrm>
            <a:off x="457200" y="1219200"/>
            <a:ext cx="8229600" cy="4953000"/>
          </a:xfrm>
        </p:spPr>
        <p:txBody>
          <a:bodyPr/>
          <a:lstStyle/>
          <a:p>
            <a:pPr>
              <a:lnSpc>
                <a:spcPct val="90000"/>
              </a:lnSpc>
            </a:pPr>
            <a:r>
              <a:rPr lang="en-US" sz="2800" dirty="0" smtClean="0"/>
              <a:t>Ensure that your Head understands publishing norms in your field and your contributions to your field</a:t>
            </a:r>
          </a:p>
          <a:p>
            <a:pPr lvl="1">
              <a:lnSpc>
                <a:spcPct val="90000"/>
              </a:lnSpc>
            </a:pPr>
            <a:r>
              <a:rPr lang="en-US" sz="2800" dirty="0"/>
              <a:t>Refereed journals? Conference proceedings?</a:t>
            </a:r>
          </a:p>
          <a:p>
            <a:pPr lvl="1">
              <a:lnSpc>
                <a:spcPct val="90000"/>
              </a:lnSpc>
            </a:pPr>
            <a:r>
              <a:rPr lang="en-US" sz="2800" dirty="0" smtClean="0"/>
              <a:t>Quality of venues? </a:t>
            </a:r>
          </a:p>
          <a:p>
            <a:pPr lvl="1">
              <a:lnSpc>
                <a:spcPct val="90000"/>
              </a:lnSpc>
            </a:pPr>
            <a:r>
              <a:rPr lang="en-US" sz="2800" dirty="0" smtClean="0"/>
              <a:t>Quantity?</a:t>
            </a:r>
          </a:p>
          <a:p>
            <a:pPr lvl="1">
              <a:lnSpc>
                <a:spcPct val="90000"/>
              </a:lnSpc>
            </a:pPr>
            <a:r>
              <a:rPr lang="en-US" sz="2800" dirty="0" smtClean="0"/>
              <a:t>Impact</a:t>
            </a:r>
          </a:p>
          <a:p>
            <a:pPr lvl="1">
              <a:lnSpc>
                <a:spcPct val="90000"/>
              </a:lnSpc>
            </a:pPr>
            <a:r>
              <a:rPr lang="en-US" sz="2800" dirty="0" smtClean="0"/>
              <a:t>Are there accepted top tier venues?</a:t>
            </a:r>
          </a:p>
          <a:p>
            <a:pPr lvl="1">
              <a:lnSpc>
                <a:spcPct val="90000"/>
              </a:lnSpc>
            </a:pPr>
            <a:r>
              <a:rPr lang="en-US" sz="2800" dirty="0" smtClean="0"/>
              <a:t>Is a monograph required?</a:t>
            </a:r>
          </a:p>
          <a:p>
            <a:pPr lvl="1">
              <a:lnSpc>
                <a:spcPct val="90000"/>
              </a:lnSpc>
            </a:pPr>
            <a:r>
              <a:rPr lang="en-US" sz="2800" dirty="0" smtClean="0"/>
              <a:t>Is co-authorship expected; with grad students?</a:t>
            </a:r>
          </a:p>
          <a:p>
            <a:pPr lvl="1">
              <a:lnSpc>
                <a:spcPct val="90000"/>
              </a:lnSpc>
            </a:pPr>
            <a:r>
              <a:rPr lang="en-US" sz="2800" dirty="0" smtClean="0"/>
              <a:t>Are grants expected or needed to support your research?</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title"/>
          </p:nvPr>
        </p:nvSpPr>
        <p:spPr>
          <a:xfrm>
            <a:off x="668338" y="93663"/>
            <a:ext cx="8323262" cy="838200"/>
          </a:xfrm>
        </p:spPr>
        <p:txBody>
          <a:bodyPr anchor="ctr"/>
          <a:lstStyle/>
          <a:p>
            <a:pPr>
              <a:lnSpc>
                <a:spcPct val="90000"/>
              </a:lnSpc>
            </a:pPr>
            <a:r>
              <a:rPr lang="en-US" sz="3600" dirty="0" smtClean="0"/>
              <a:t>Professional Contributions      A. </a:t>
            </a:r>
            <a:r>
              <a:rPr lang="en-US" sz="3600" smtClean="0"/>
              <a:t>4.03(b)</a:t>
            </a:r>
            <a:endParaRPr lang="en-GB" sz="3600" dirty="0" smtClean="0"/>
          </a:p>
        </p:txBody>
      </p:sp>
      <p:sp>
        <p:nvSpPr>
          <p:cNvPr id="39939" name="Rectangle 2"/>
          <p:cNvSpPr>
            <a:spLocks noGrp="1" noChangeArrowheads="1"/>
          </p:cNvSpPr>
          <p:nvPr>
            <p:ph idx="1"/>
          </p:nvPr>
        </p:nvSpPr>
        <p:spPr>
          <a:xfrm>
            <a:off x="236538" y="1196975"/>
            <a:ext cx="8355012" cy="4899025"/>
          </a:xfrm>
          <a:solidFill>
            <a:srgbClr val="FFFFFF"/>
          </a:solidFill>
        </p:spPr>
        <p:txBody>
          <a:bodyPr/>
          <a:lstStyle/>
          <a:p>
            <a:pPr marL="447675" indent="-447675">
              <a:lnSpc>
                <a:spcPct val="90000"/>
              </a:lnSpc>
              <a:spcBef>
                <a:spcPct val="10000"/>
              </a:spcBef>
            </a:pPr>
            <a:r>
              <a:rPr lang="en-CA" sz="3200" dirty="0" smtClean="0"/>
              <a:t>May constitute a portion or all of scholarly activity</a:t>
            </a:r>
          </a:p>
          <a:p>
            <a:pPr marL="447675" indent="-447675">
              <a:lnSpc>
                <a:spcPct val="90000"/>
              </a:lnSpc>
              <a:spcBef>
                <a:spcPct val="10000"/>
              </a:spcBef>
            </a:pPr>
            <a:r>
              <a:rPr lang="en-CA" sz="3200" dirty="0" smtClean="0"/>
              <a:t>“distinguished” architectural, artistic or engineering design/performance in arts or professional fields</a:t>
            </a:r>
          </a:p>
          <a:p>
            <a:pPr marL="447675" indent="-447675">
              <a:lnSpc>
                <a:spcPct val="90000"/>
              </a:lnSpc>
              <a:spcBef>
                <a:spcPct val="10000"/>
              </a:spcBef>
            </a:pPr>
            <a:r>
              <a:rPr lang="en-CA" sz="3200" dirty="0" smtClean="0"/>
              <a:t>Professional/clinical:</a:t>
            </a:r>
          </a:p>
          <a:p>
            <a:pPr marL="774700" lvl="1" indent="-447675">
              <a:lnSpc>
                <a:spcPct val="90000"/>
              </a:lnSpc>
              <a:spcBef>
                <a:spcPct val="10000"/>
              </a:spcBef>
            </a:pPr>
            <a:r>
              <a:rPr lang="en-CA" sz="2800" dirty="0" smtClean="0"/>
              <a:t>Significant applications of fundamental theory; or</a:t>
            </a:r>
          </a:p>
          <a:p>
            <a:pPr marL="774700" lvl="1" indent="-447675">
              <a:lnSpc>
                <a:spcPct val="90000"/>
              </a:lnSpc>
              <a:spcBef>
                <a:spcPct val="10000"/>
              </a:spcBef>
            </a:pPr>
            <a:r>
              <a:rPr lang="en-CA" sz="2800" dirty="0" smtClean="0"/>
              <a:t>Significant forms &amp; applications of professional or clinical practice</a:t>
            </a:r>
            <a:endParaRPr lang="en-CA" sz="2800" b="1" i="1" dirty="0"/>
          </a:p>
          <a:p>
            <a:pPr marL="784225" lvl="1" indent="-457200">
              <a:lnSpc>
                <a:spcPct val="90000"/>
              </a:lnSpc>
              <a:spcBef>
                <a:spcPct val="10000"/>
              </a:spcBef>
            </a:pPr>
            <a:r>
              <a:rPr lang="en-CA" sz="3200" b="1" i="1" dirty="0" smtClean="0"/>
              <a:t>Not </a:t>
            </a:r>
            <a:r>
              <a:rPr lang="en-CA" sz="3200" dirty="0" smtClean="0"/>
              <a:t>routinely available from professionals </a:t>
            </a:r>
            <a:r>
              <a:rPr lang="en-CA" sz="3200" dirty="0"/>
              <a:t>in </a:t>
            </a:r>
            <a:r>
              <a:rPr lang="en-CA" sz="3200" dirty="0" smtClean="0"/>
              <a:t>field</a:t>
            </a:r>
            <a:endParaRPr lang="en-CA" sz="3200"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title"/>
          </p:nvPr>
        </p:nvSpPr>
        <p:spPr>
          <a:xfrm>
            <a:off x="668338" y="93663"/>
            <a:ext cx="8475662" cy="838200"/>
          </a:xfrm>
        </p:spPr>
        <p:txBody>
          <a:bodyPr anchor="ctr"/>
          <a:lstStyle/>
          <a:p>
            <a:pPr>
              <a:lnSpc>
                <a:spcPct val="90000"/>
              </a:lnSpc>
            </a:pPr>
            <a:r>
              <a:rPr lang="en-US" sz="3600" dirty="0" smtClean="0"/>
              <a:t>Professional Contributions   Guide 3.1.12</a:t>
            </a:r>
            <a:r>
              <a:rPr lang="en-US" sz="3600" dirty="0" smtClean="0">
                <a:sym typeface="Wingdings" pitchFamily="2" charset="2"/>
              </a:rPr>
              <a:t></a:t>
            </a:r>
            <a:endParaRPr lang="en-GB" sz="3600" dirty="0" smtClean="0"/>
          </a:p>
        </p:txBody>
      </p:sp>
      <p:sp>
        <p:nvSpPr>
          <p:cNvPr id="40963" name="Rectangle 2"/>
          <p:cNvSpPr>
            <a:spLocks noGrp="1" noChangeArrowheads="1"/>
          </p:cNvSpPr>
          <p:nvPr>
            <p:ph idx="1"/>
          </p:nvPr>
        </p:nvSpPr>
        <p:spPr>
          <a:xfrm>
            <a:off x="236538" y="1196975"/>
            <a:ext cx="8564562" cy="4975225"/>
          </a:xfrm>
          <a:solidFill>
            <a:srgbClr val="FFFFFF"/>
          </a:solidFill>
        </p:spPr>
        <p:txBody>
          <a:bodyPr/>
          <a:lstStyle/>
          <a:p>
            <a:pPr marL="447675" indent="-447675">
              <a:lnSpc>
                <a:spcPct val="90000"/>
              </a:lnSpc>
              <a:spcBef>
                <a:spcPct val="10000"/>
              </a:spcBef>
            </a:pPr>
            <a:r>
              <a:rPr lang="en-CA" sz="3200" dirty="0" smtClean="0"/>
              <a:t>Explicitly recognize and consider from outset and at all levels of review</a:t>
            </a:r>
          </a:p>
          <a:p>
            <a:pPr marL="447675" indent="-447675">
              <a:lnSpc>
                <a:spcPct val="90000"/>
              </a:lnSpc>
              <a:spcBef>
                <a:spcPct val="10000"/>
              </a:spcBef>
            </a:pPr>
            <a:endParaRPr lang="en-CA" sz="3200" dirty="0"/>
          </a:p>
          <a:p>
            <a:pPr marL="447675" indent="-447675">
              <a:lnSpc>
                <a:spcPct val="90000"/>
              </a:lnSpc>
              <a:spcBef>
                <a:spcPct val="10000"/>
              </a:spcBef>
            </a:pPr>
            <a:r>
              <a:rPr lang="en-CA" sz="3200" dirty="0"/>
              <a:t>Must be capable of assessment by </a:t>
            </a:r>
            <a:r>
              <a:rPr lang="en-CA" sz="3200" dirty="0" smtClean="0"/>
              <a:t>referees</a:t>
            </a:r>
          </a:p>
          <a:p>
            <a:pPr marL="447675" indent="-447675">
              <a:lnSpc>
                <a:spcPct val="90000"/>
              </a:lnSpc>
              <a:spcBef>
                <a:spcPct val="10000"/>
              </a:spcBef>
              <a:buFont typeface="Wingdings" pitchFamily="2" charset="2"/>
              <a:buNone/>
            </a:pPr>
            <a:endParaRPr lang="en-CA" sz="3200" dirty="0" smtClean="0"/>
          </a:p>
          <a:p>
            <a:pPr marL="447675" indent="-447675">
              <a:lnSpc>
                <a:spcPct val="90000"/>
              </a:lnSpc>
              <a:spcBef>
                <a:spcPct val="10000"/>
              </a:spcBef>
            </a:pPr>
            <a:r>
              <a:rPr lang="en-US" sz="3200" dirty="0" smtClean="0"/>
              <a:t>Referee’s assessment of professional contributions and significance is </a:t>
            </a:r>
            <a:r>
              <a:rPr lang="en-US" sz="3200" b="1" i="1" dirty="0" smtClean="0"/>
              <a:t>critical</a:t>
            </a:r>
          </a:p>
          <a:p>
            <a:pPr marL="447675" indent="-447675">
              <a:lnSpc>
                <a:spcPct val="90000"/>
              </a:lnSpc>
              <a:spcBef>
                <a:spcPct val="10000"/>
              </a:spcBef>
            </a:pPr>
            <a:endParaRPr lang="en-US" sz="3200" b="1" i="1" dirty="0" smtClean="0"/>
          </a:p>
          <a:p>
            <a:pPr marL="447675" indent="-447675">
              <a:lnSpc>
                <a:spcPct val="90000"/>
              </a:lnSpc>
              <a:spcBef>
                <a:spcPct val="10000"/>
              </a:spcBef>
            </a:pPr>
            <a:r>
              <a:rPr lang="en-CA" sz="3200" dirty="0"/>
              <a:t>Leader or outstanding stature/rare expertise</a:t>
            </a:r>
          </a:p>
          <a:p>
            <a:pPr marL="447675" indent="-447675">
              <a:lnSpc>
                <a:spcPct val="90000"/>
              </a:lnSpc>
              <a:spcBef>
                <a:spcPct val="10000"/>
              </a:spcBef>
            </a:pPr>
            <a:r>
              <a:rPr lang="en-CA" sz="3200" dirty="0"/>
              <a:t>Impact/reputation beyond </a:t>
            </a:r>
            <a:r>
              <a:rPr lang="en-CA" sz="3200" dirty="0" smtClean="0"/>
              <a:t>UBC</a:t>
            </a:r>
            <a:endParaRPr lang="en-CA" sz="3200"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title"/>
          </p:nvPr>
        </p:nvSpPr>
        <p:spPr>
          <a:xfrm>
            <a:off x="668338" y="93663"/>
            <a:ext cx="7942262" cy="838200"/>
          </a:xfrm>
        </p:spPr>
        <p:txBody>
          <a:bodyPr anchor="ctr"/>
          <a:lstStyle/>
          <a:p>
            <a:pPr>
              <a:lnSpc>
                <a:spcPct val="90000"/>
              </a:lnSpc>
            </a:pPr>
            <a:r>
              <a:rPr lang="en-US" sz="3600" dirty="0" smtClean="0"/>
              <a:t>Scholarship of Teaching 		A. 4.03(a)</a:t>
            </a:r>
            <a:endParaRPr lang="en-GB" sz="3600" dirty="0" smtClean="0"/>
          </a:p>
        </p:txBody>
      </p:sp>
      <p:sp>
        <p:nvSpPr>
          <p:cNvPr id="41987" name="Rectangle 2"/>
          <p:cNvSpPr>
            <a:spLocks noGrp="1" noChangeArrowheads="1"/>
          </p:cNvSpPr>
          <p:nvPr>
            <p:ph idx="1"/>
          </p:nvPr>
        </p:nvSpPr>
        <p:spPr>
          <a:xfrm>
            <a:off x="236538" y="1470025"/>
            <a:ext cx="8669337" cy="4702175"/>
          </a:xfrm>
          <a:solidFill>
            <a:srgbClr val="FFFFFF"/>
          </a:solidFill>
        </p:spPr>
        <p:txBody>
          <a:bodyPr/>
          <a:lstStyle/>
          <a:p>
            <a:pPr marL="447675" indent="-447675">
              <a:lnSpc>
                <a:spcPct val="90000"/>
              </a:lnSpc>
              <a:spcBef>
                <a:spcPct val="10000"/>
              </a:spcBef>
            </a:pPr>
            <a:r>
              <a:rPr lang="en-CA" sz="3200" dirty="0"/>
              <a:t>evidenced by originality or innovation, demonstrable impact in a particular field or discipline, peer reviews, dissemination in the public domain, or substantial and sustained use by </a:t>
            </a:r>
            <a:r>
              <a:rPr lang="en-CA" sz="3200" dirty="0" smtClean="0"/>
              <a:t>others;</a:t>
            </a:r>
          </a:p>
          <a:p>
            <a:pPr marL="447675" indent="-447675">
              <a:lnSpc>
                <a:spcPct val="90000"/>
              </a:lnSpc>
              <a:spcBef>
                <a:spcPct val="10000"/>
              </a:spcBef>
            </a:pPr>
            <a:r>
              <a:rPr lang="en-CA" sz="3200" dirty="0" smtClean="0"/>
              <a:t>Examples: textbooks/curriculum reform that change academic understanding or way a field is taught;</a:t>
            </a:r>
          </a:p>
          <a:p>
            <a:pPr marL="774700" lvl="1" indent="-447675">
              <a:lnSpc>
                <a:spcPct val="90000"/>
              </a:lnSpc>
              <a:spcBef>
                <a:spcPct val="10000"/>
              </a:spcBef>
            </a:pPr>
            <a:r>
              <a:rPr lang="en-CA" sz="2800" dirty="0" smtClean="0"/>
              <a:t>Not textbooks or curriculum revision of a routine nature</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title"/>
          </p:nvPr>
        </p:nvSpPr>
        <p:spPr>
          <a:xfrm>
            <a:off x="668338" y="93663"/>
            <a:ext cx="8323262" cy="838200"/>
          </a:xfrm>
        </p:spPr>
        <p:txBody>
          <a:bodyPr anchor="ctr"/>
          <a:lstStyle/>
          <a:p>
            <a:pPr>
              <a:lnSpc>
                <a:spcPct val="90000"/>
              </a:lnSpc>
            </a:pPr>
            <a:r>
              <a:rPr lang="en-US" sz="3600" dirty="0" smtClean="0"/>
              <a:t>Scholarship of </a:t>
            </a:r>
            <a:r>
              <a:rPr lang="en-US" sz="3600" smtClean="0"/>
              <a:t>Teaching       Guide </a:t>
            </a:r>
            <a:r>
              <a:rPr lang="en-US" sz="3600" dirty="0" smtClean="0"/>
              <a:t>3.1(ii)</a:t>
            </a:r>
            <a:endParaRPr lang="en-GB" sz="3600" dirty="0" smtClean="0"/>
          </a:p>
        </p:txBody>
      </p:sp>
      <p:sp>
        <p:nvSpPr>
          <p:cNvPr id="41987" name="Rectangle 2"/>
          <p:cNvSpPr>
            <a:spLocks noGrp="1" noChangeArrowheads="1"/>
          </p:cNvSpPr>
          <p:nvPr>
            <p:ph idx="1"/>
          </p:nvPr>
        </p:nvSpPr>
        <p:spPr>
          <a:xfrm>
            <a:off x="236538" y="1470025"/>
            <a:ext cx="8669337" cy="4702175"/>
          </a:xfrm>
          <a:solidFill>
            <a:srgbClr val="FFFFFF"/>
          </a:solidFill>
        </p:spPr>
        <p:txBody>
          <a:bodyPr/>
          <a:lstStyle/>
          <a:p>
            <a:pPr marL="447675" indent="-447675">
              <a:lnSpc>
                <a:spcPct val="90000"/>
              </a:lnSpc>
              <a:spcBef>
                <a:spcPct val="10000"/>
              </a:spcBef>
            </a:pPr>
            <a:r>
              <a:rPr lang="en-CA" sz="3200" dirty="0" smtClean="0"/>
              <a:t>May constitute a portion or all of scholarly activity </a:t>
            </a:r>
          </a:p>
          <a:p>
            <a:pPr marL="447675" indent="-447675">
              <a:lnSpc>
                <a:spcPct val="90000"/>
              </a:lnSpc>
              <a:spcBef>
                <a:spcPct val="10000"/>
              </a:spcBef>
            </a:pPr>
            <a:r>
              <a:rPr lang="en-CA" sz="3200" dirty="0" smtClean="0"/>
              <a:t>Often disseminated in published form</a:t>
            </a:r>
          </a:p>
          <a:p>
            <a:pPr marL="447675" indent="-447675">
              <a:lnSpc>
                <a:spcPct val="90000"/>
              </a:lnSpc>
              <a:spcBef>
                <a:spcPct val="10000"/>
              </a:spcBef>
            </a:pPr>
            <a:r>
              <a:rPr lang="en-CA" sz="3200" dirty="0" smtClean="0"/>
              <a:t>Broad contributions to the improvement of teaching and learning</a:t>
            </a:r>
          </a:p>
          <a:p>
            <a:pPr marL="895350" lvl="1" indent="-268288">
              <a:lnSpc>
                <a:spcPct val="90000"/>
              </a:lnSpc>
              <a:spcBef>
                <a:spcPct val="10000"/>
              </a:spcBef>
            </a:pPr>
            <a:r>
              <a:rPr lang="en-CA" sz="3200" b="1" i="1" dirty="0" smtClean="0"/>
              <a:t>Beyond </a:t>
            </a:r>
            <a:r>
              <a:rPr lang="en-CA" sz="3200" dirty="0" smtClean="0"/>
              <a:t>excellence in teaching</a:t>
            </a:r>
          </a:p>
          <a:p>
            <a:pPr marL="895350" lvl="1" indent="-268288">
              <a:lnSpc>
                <a:spcPct val="90000"/>
              </a:lnSpc>
              <a:spcBef>
                <a:spcPct val="10000"/>
              </a:spcBef>
            </a:pPr>
            <a:r>
              <a:rPr lang="en-CA" sz="3200" dirty="0" smtClean="0"/>
              <a:t>Original, innovative, impact and change field, substantial and sustained use by others</a:t>
            </a:r>
          </a:p>
          <a:p>
            <a:pPr marL="627062" lvl="1" indent="0">
              <a:lnSpc>
                <a:spcPct val="90000"/>
              </a:lnSpc>
              <a:spcBef>
                <a:spcPct val="10000"/>
              </a:spcBef>
              <a:buNone/>
            </a:pPr>
            <a:endParaRPr lang="en-CA" sz="3200" dirty="0" smtClean="0"/>
          </a:p>
        </p:txBody>
      </p:sp>
    </p:spTree>
    <p:extLst>
      <p:ext uri="{BB962C8B-B14F-4D97-AF65-F5344CB8AC3E}">
        <p14:creationId xmlns:p14="http://schemas.microsoft.com/office/powerpoint/2010/main" val="2666954189"/>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8"/>
          <p:cNvSpPr>
            <a:spLocks noGrp="1" noChangeArrowheads="1"/>
          </p:cNvSpPr>
          <p:nvPr>
            <p:ph type="title"/>
          </p:nvPr>
        </p:nvSpPr>
        <p:spPr>
          <a:xfrm>
            <a:off x="668338" y="93663"/>
            <a:ext cx="8951912" cy="838200"/>
          </a:xfrm>
        </p:spPr>
        <p:txBody>
          <a:bodyPr anchor="ctr"/>
          <a:lstStyle/>
          <a:p>
            <a:pPr>
              <a:lnSpc>
                <a:spcPct val="90000"/>
              </a:lnSpc>
            </a:pPr>
            <a:r>
              <a:rPr lang="en-US" sz="3600" smtClean="0"/>
              <a:t>Scholarship of Teaching</a:t>
            </a:r>
            <a:endParaRPr lang="en-GB" sz="3600" smtClean="0"/>
          </a:p>
        </p:txBody>
      </p:sp>
      <p:sp>
        <p:nvSpPr>
          <p:cNvPr id="43011" name="Rectangle 2"/>
          <p:cNvSpPr>
            <a:spLocks noGrp="1" noChangeArrowheads="1"/>
          </p:cNvSpPr>
          <p:nvPr>
            <p:ph idx="1"/>
          </p:nvPr>
        </p:nvSpPr>
        <p:spPr>
          <a:xfrm>
            <a:off x="236538" y="1063625"/>
            <a:ext cx="8564562" cy="4702175"/>
          </a:xfrm>
          <a:solidFill>
            <a:srgbClr val="FFFFFF"/>
          </a:solidFill>
        </p:spPr>
        <p:txBody>
          <a:bodyPr/>
          <a:lstStyle/>
          <a:p>
            <a:pPr marL="447675" indent="-447675">
              <a:lnSpc>
                <a:spcPct val="90000"/>
              </a:lnSpc>
              <a:spcBef>
                <a:spcPct val="10000"/>
              </a:spcBef>
            </a:pPr>
            <a:r>
              <a:rPr lang="en-CA" sz="3200" dirty="0" smtClean="0"/>
              <a:t>Explicitly recognize and consider from outset and at all levels of review</a:t>
            </a:r>
          </a:p>
          <a:p>
            <a:pPr marL="447675" indent="-447675">
              <a:lnSpc>
                <a:spcPct val="90000"/>
              </a:lnSpc>
              <a:spcBef>
                <a:spcPct val="10000"/>
              </a:spcBef>
              <a:buFont typeface="Wingdings" pitchFamily="2" charset="2"/>
              <a:buNone/>
            </a:pPr>
            <a:endParaRPr lang="en-CA" sz="3200" dirty="0" smtClean="0"/>
          </a:p>
          <a:p>
            <a:pPr marL="447675" indent="-447675">
              <a:lnSpc>
                <a:spcPct val="90000"/>
              </a:lnSpc>
              <a:spcBef>
                <a:spcPct val="10000"/>
              </a:spcBef>
            </a:pPr>
            <a:r>
              <a:rPr lang="en-US" sz="3200" dirty="0" smtClean="0"/>
              <a:t>Referee’s assessment of contributions, impact and stature is </a:t>
            </a:r>
            <a:r>
              <a:rPr lang="en-US" sz="3200" b="1" i="1" dirty="0" smtClean="0"/>
              <a:t>critical</a:t>
            </a:r>
            <a:r>
              <a:rPr lang="en-US" sz="3200" dirty="0" smtClean="0"/>
              <a:t>, especially if work is not refereed</a:t>
            </a:r>
            <a:endParaRPr lang="en-US" sz="3200" i="1" dirty="0" smtClean="0"/>
          </a:p>
          <a:p>
            <a:pPr marL="447675" indent="-447675">
              <a:lnSpc>
                <a:spcPct val="90000"/>
              </a:lnSpc>
              <a:spcBef>
                <a:spcPct val="10000"/>
              </a:spcBef>
            </a:pPr>
            <a:endParaRPr lang="en-US" sz="3200" b="1" i="1" dirty="0"/>
          </a:p>
          <a:p>
            <a:pPr marL="447675" indent="-447675">
              <a:lnSpc>
                <a:spcPct val="90000"/>
              </a:lnSpc>
              <a:spcBef>
                <a:spcPct val="10000"/>
              </a:spcBef>
            </a:pPr>
            <a:r>
              <a:rPr lang="en-US" sz="3200" dirty="0" smtClean="0"/>
              <a:t>Demonstrate leader or outstanding stature or expertise</a:t>
            </a: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p:cNvSpPr>
            <a:spLocks noGrp="1" noChangeArrowheads="1"/>
          </p:cNvSpPr>
          <p:nvPr>
            <p:ph type="title"/>
          </p:nvPr>
        </p:nvSpPr>
        <p:spPr>
          <a:xfrm>
            <a:off x="744538" y="93663"/>
            <a:ext cx="7848600" cy="838200"/>
          </a:xfrm>
        </p:spPr>
        <p:txBody>
          <a:bodyPr anchor="ctr"/>
          <a:lstStyle/>
          <a:p>
            <a:pPr>
              <a:lnSpc>
                <a:spcPct val="90000"/>
              </a:lnSpc>
            </a:pPr>
            <a:r>
              <a:rPr lang="en-US" sz="3600" b="1" dirty="0" smtClean="0"/>
              <a:t>Teaching			</a:t>
            </a:r>
            <a:r>
              <a:rPr lang="en-US" sz="3600" dirty="0" smtClean="0"/>
              <a:t>A. 4.02</a:t>
            </a:r>
            <a:endParaRPr lang="en-GB" sz="3600" dirty="0" smtClean="0"/>
          </a:p>
        </p:txBody>
      </p:sp>
      <p:sp>
        <p:nvSpPr>
          <p:cNvPr id="44035" name="Rectangle 2"/>
          <p:cNvSpPr>
            <a:spLocks noGrp="1" noChangeArrowheads="1"/>
          </p:cNvSpPr>
          <p:nvPr>
            <p:ph idx="1"/>
          </p:nvPr>
        </p:nvSpPr>
        <p:spPr>
          <a:xfrm>
            <a:off x="231775" y="1317625"/>
            <a:ext cx="8750300" cy="4702175"/>
          </a:xfrm>
          <a:solidFill>
            <a:srgbClr val="FFFFFF"/>
          </a:solidFill>
        </p:spPr>
        <p:txBody>
          <a:bodyPr/>
          <a:lstStyle/>
          <a:p>
            <a:pPr marL="447675" indent="-447675" defTabSz="990600">
              <a:lnSpc>
                <a:spcPct val="90000"/>
              </a:lnSpc>
              <a:spcBef>
                <a:spcPct val="10000"/>
              </a:spcBef>
            </a:pPr>
            <a:r>
              <a:rPr lang="en-CA" sz="3200" b="1" i="1" dirty="0"/>
              <a:t>Effectiveness</a:t>
            </a:r>
            <a:r>
              <a:rPr lang="en-CA" sz="3200" b="1" dirty="0"/>
              <a:t> </a:t>
            </a:r>
            <a:r>
              <a:rPr lang="en-CA" sz="3200" dirty="0"/>
              <a:t>primary </a:t>
            </a:r>
            <a:r>
              <a:rPr lang="en-CA" sz="3200" dirty="0" smtClean="0"/>
              <a:t>criterion, not popularity</a:t>
            </a:r>
          </a:p>
          <a:p>
            <a:pPr marL="447675" indent="-447675" defTabSz="990600">
              <a:lnSpc>
                <a:spcPct val="90000"/>
              </a:lnSpc>
              <a:spcBef>
                <a:spcPct val="10000"/>
              </a:spcBef>
            </a:pPr>
            <a:r>
              <a:rPr lang="en-CA" sz="3200" dirty="0" smtClean="0"/>
              <a:t>Command over subject matter</a:t>
            </a:r>
          </a:p>
          <a:p>
            <a:pPr marL="447675" indent="-447675" defTabSz="990600">
              <a:lnSpc>
                <a:spcPct val="90000"/>
              </a:lnSpc>
              <a:spcBef>
                <a:spcPct val="10000"/>
              </a:spcBef>
            </a:pPr>
            <a:r>
              <a:rPr lang="en-CA" sz="3200" dirty="0" smtClean="0"/>
              <a:t>Familiarity with recent developments</a:t>
            </a:r>
          </a:p>
          <a:p>
            <a:pPr marL="447675" indent="-447675" defTabSz="990600">
              <a:lnSpc>
                <a:spcPct val="90000"/>
              </a:lnSpc>
              <a:spcBef>
                <a:spcPct val="10000"/>
              </a:spcBef>
            </a:pPr>
            <a:r>
              <a:rPr lang="en-CA" sz="3200" dirty="0" smtClean="0"/>
              <a:t>Preparedness &amp; presentation</a:t>
            </a:r>
          </a:p>
          <a:p>
            <a:pPr marL="447675" indent="-447675" defTabSz="990600">
              <a:lnSpc>
                <a:spcPct val="90000"/>
              </a:lnSpc>
              <a:spcBef>
                <a:spcPct val="10000"/>
              </a:spcBef>
            </a:pPr>
            <a:r>
              <a:rPr lang="en-CA" sz="3200" dirty="0" smtClean="0"/>
              <a:t>Accessibility to students</a:t>
            </a:r>
          </a:p>
          <a:p>
            <a:pPr marL="447675" indent="-447675" defTabSz="990600">
              <a:lnSpc>
                <a:spcPct val="90000"/>
              </a:lnSpc>
              <a:spcBef>
                <a:spcPct val="10000"/>
              </a:spcBef>
            </a:pPr>
            <a:r>
              <a:rPr lang="en-CA" sz="3200" dirty="0" smtClean="0"/>
              <a:t>Influence on intellectual &amp; scholarly development of students</a:t>
            </a:r>
          </a:p>
          <a:p>
            <a:pPr marL="447675" indent="-447675" defTabSz="990600">
              <a:lnSpc>
                <a:spcPct val="90000"/>
              </a:lnSpc>
              <a:spcBef>
                <a:spcPct val="10000"/>
              </a:spcBef>
            </a:pPr>
            <a:r>
              <a:rPr lang="en-CA" sz="3200" dirty="0" smtClean="0"/>
              <a:t>Willingness to teach range of subject matter and levels</a:t>
            </a: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p:cNvSpPr>
            <a:spLocks noGrp="1" noChangeArrowheads="1"/>
          </p:cNvSpPr>
          <p:nvPr>
            <p:ph type="title"/>
          </p:nvPr>
        </p:nvSpPr>
        <p:spPr>
          <a:xfrm>
            <a:off x="744538" y="93663"/>
            <a:ext cx="7848600" cy="838200"/>
          </a:xfrm>
        </p:spPr>
        <p:txBody>
          <a:bodyPr anchor="ctr"/>
          <a:lstStyle/>
          <a:p>
            <a:pPr>
              <a:lnSpc>
                <a:spcPct val="90000"/>
              </a:lnSpc>
            </a:pPr>
            <a:r>
              <a:rPr lang="en-US" sz="3600" dirty="0" smtClean="0"/>
              <a:t>Teaching Documentation  </a:t>
            </a:r>
            <a:r>
              <a:rPr lang="en-US" sz="3200" dirty="0" smtClean="0"/>
              <a:t>Guide A. 3.2.1</a:t>
            </a:r>
            <a:r>
              <a:rPr lang="en-US" sz="3200" dirty="0" smtClean="0">
                <a:sym typeface="Wingdings" pitchFamily="2" charset="2"/>
              </a:rPr>
              <a:t></a:t>
            </a:r>
            <a:endParaRPr lang="en-GB" sz="3200" dirty="0" smtClean="0"/>
          </a:p>
        </p:txBody>
      </p:sp>
      <p:sp>
        <p:nvSpPr>
          <p:cNvPr id="45059" name="Rectangle 2"/>
          <p:cNvSpPr>
            <a:spLocks noGrp="1" noChangeArrowheads="1"/>
          </p:cNvSpPr>
          <p:nvPr>
            <p:ph idx="1"/>
          </p:nvPr>
        </p:nvSpPr>
        <p:spPr>
          <a:xfrm>
            <a:off x="196850" y="1025525"/>
            <a:ext cx="8750300" cy="4994275"/>
          </a:xfrm>
          <a:solidFill>
            <a:srgbClr val="FFFFFF"/>
          </a:solidFill>
        </p:spPr>
        <p:txBody>
          <a:bodyPr/>
          <a:lstStyle/>
          <a:p>
            <a:pPr marL="538163" indent="-538163" defTabSz="990600">
              <a:lnSpc>
                <a:spcPct val="90000"/>
              </a:lnSpc>
              <a:spcBef>
                <a:spcPct val="10000"/>
              </a:spcBef>
            </a:pPr>
            <a:r>
              <a:rPr lang="en-CA" sz="3200" dirty="0" smtClean="0"/>
              <a:t>Identify norms in unit</a:t>
            </a:r>
          </a:p>
          <a:p>
            <a:pPr marL="447675" indent="-447675" defTabSz="990600">
              <a:lnSpc>
                <a:spcPct val="90000"/>
              </a:lnSpc>
              <a:spcBef>
                <a:spcPct val="10000"/>
              </a:spcBef>
            </a:pPr>
            <a:r>
              <a:rPr lang="en-CA" sz="3200" dirty="0"/>
              <a:t>A</a:t>
            </a:r>
            <a:r>
              <a:rPr lang="en-CA" sz="3200" dirty="0" smtClean="0"/>
              <a:t>ll </a:t>
            </a:r>
            <a:r>
              <a:rPr lang="en-CA" sz="3200" dirty="0"/>
              <a:t>substantial contributions must be </a:t>
            </a:r>
            <a:r>
              <a:rPr lang="en-CA" sz="3200" b="1" i="1" dirty="0"/>
              <a:t>documented </a:t>
            </a:r>
            <a:r>
              <a:rPr lang="en-CA" sz="3200" dirty="0"/>
              <a:t>and </a:t>
            </a:r>
            <a:r>
              <a:rPr lang="en-CA" sz="3200" b="1" i="1" dirty="0" smtClean="0"/>
              <a:t>evaluated</a:t>
            </a:r>
            <a:endParaRPr lang="en-CA" sz="3200" dirty="0"/>
          </a:p>
          <a:p>
            <a:pPr marL="538163" indent="-538163" defTabSz="990600">
              <a:lnSpc>
                <a:spcPct val="90000"/>
              </a:lnSpc>
              <a:spcBef>
                <a:spcPct val="10000"/>
              </a:spcBef>
            </a:pPr>
            <a:r>
              <a:rPr lang="en-CA" sz="3200" dirty="0" smtClean="0"/>
              <a:t>Quantitative and qualitative summary and assessment of</a:t>
            </a:r>
          </a:p>
          <a:p>
            <a:pPr marL="1081088" lvl="1" indent="-363538" defTabSz="990600">
              <a:lnSpc>
                <a:spcPct val="90000"/>
              </a:lnSpc>
              <a:spcBef>
                <a:spcPct val="10000"/>
              </a:spcBef>
            </a:pPr>
            <a:r>
              <a:rPr lang="en-CA" sz="3200" dirty="0" smtClean="0"/>
              <a:t>All teaching responsibilities</a:t>
            </a:r>
          </a:p>
          <a:p>
            <a:pPr marL="1081088" lvl="1" indent="-363538" defTabSz="990600">
              <a:lnSpc>
                <a:spcPct val="90000"/>
              </a:lnSpc>
              <a:spcBef>
                <a:spcPct val="10000"/>
              </a:spcBef>
            </a:pPr>
            <a:r>
              <a:rPr lang="en-CA" sz="3200" dirty="0" smtClean="0"/>
              <a:t>Student and peer evaluations</a:t>
            </a:r>
          </a:p>
          <a:p>
            <a:pPr marL="1081088" lvl="1" indent="-363538" defTabSz="990600">
              <a:lnSpc>
                <a:spcPct val="90000"/>
              </a:lnSpc>
              <a:spcBef>
                <a:spcPct val="10000"/>
              </a:spcBef>
            </a:pPr>
            <a:r>
              <a:rPr lang="en-CA" sz="3200" dirty="0" smtClean="0"/>
              <a:t>Graduate student supervision</a:t>
            </a:r>
          </a:p>
          <a:p>
            <a:pPr marL="1081088" lvl="1" indent="-363538" defTabSz="990600">
              <a:lnSpc>
                <a:spcPct val="90000"/>
              </a:lnSpc>
              <a:spcBef>
                <a:spcPct val="10000"/>
              </a:spcBef>
            </a:pPr>
            <a:r>
              <a:rPr lang="en-CA" sz="3200" dirty="0" smtClean="0"/>
              <a:t>Other teaching contributions, accomplishments, awards, etc.</a:t>
            </a:r>
            <a:endParaRPr lang="en-US" sz="3200" dirty="0" smtClean="0"/>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sz="3600" smtClean="0"/>
              <a:t>Key Insights</a:t>
            </a:r>
          </a:p>
        </p:txBody>
      </p:sp>
      <p:sp>
        <p:nvSpPr>
          <p:cNvPr id="47107" name="Content Placeholder 2"/>
          <p:cNvSpPr>
            <a:spLocks noGrp="1"/>
          </p:cNvSpPr>
          <p:nvPr>
            <p:ph idx="1"/>
          </p:nvPr>
        </p:nvSpPr>
        <p:spPr/>
        <p:txBody>
          <a:bodyPr/>
          <a:lstStyle/>
          <a:p>
            <a:r>
              <a:rPr lang="en-US" sz="3200" smtClean="0"/>
              <a:t>Importance of Teaching</a:t>
            </a:r>
          </a:p>
          <a:p>
            <a:endParaRPr lang="en-US" sz="3200" smtClean="0"/>
          </a:p>
          <a:p>
            <a:r>
              <a:rPr lang="en-US" sz="3200" smtClean="0"/>
              <a:t>Scholarly Activity</a:t>
            </a:r>
          </a:p>
          <a:p>
            <a:endParaRPr lang="en-US" sz="3200" smtClean="0"/>
          </a:p>
          <a:p>
            <a:r>
              <a:rPr lang="en-US" sz="3200" smtClean="0"/>
              <a:t>Fairness of Review Process</a:t>
            </a:r>
          </a:p>
        </p:txBody>
      </p:sp>
      <p:sp>
        <p:nvSpPr>
          <p:cNvPr id="4" name="Slide Number Placeholder 3"/>
          <p:cNvSpPr>
            <a:spLocks noGrp="1"/>
          </p:cNvSpPr>
          <p:nvPr>
            <p:ph type="sldNum" sz="quarter" idx="12"/>
          </p:nvPr>
        </p:nvSpPr>
        <p:spPr/>
        <p:txBody>
          <a:bodyPr/>
          <a:lstStyle/>
          <a:p>
            <a:pPr>
              <a:defRPr/>
            </a:pPr>
            <a:fld id="{544532B0-57D8-4C4D-9947-8EE120105874}" type="slidenum">
              <a:rPr lang="en-US" altLang="en-US" smtClean="0"/>
              <a:pPr>
                <a:defRPr/>
              </a:pPr>
              <a:t>50</a:t>
            </a:fld>
            <a:endParaRPr lang="en-US" alt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sz="3600" smtClean="0"/>
              <a:t>Closing Questions??</a:t>
            </a:r>
          </a:p>
        </p:txBody>
      </p:sp>
      <p:sp>
        <p:nvSpPr>
          <p:cNvPr id="48131" name="Content Placeholder 2"/>
          <p:cNvSpPr>
            <a:spLocks noGrp="1"/>
          </p:cNvSpPr>
          <p:nvPr>
            <p:ph idx="1"/>
          </p:nvPr>
        </p:nvSpPr>
        <p:spPr/>
        <p:txBody>
          <a:bodyPr/>
          <a:lstStyle/>
          <a:p>
            <a:r>
              <a:rPr lang="en-US" sz="3200" smtClean="0"/>
              <a:t>As always…..</a:t>
            </a:r>
          </a:p>
          <a:p>
            <a:pPr lvl="1"/>
            <a:r>
              <a:rPr lang="en-US" sz="3200" smtClean="0"/>
              <a:t>Please check the Faculty Relations website, email, or call</a:t>
            </a:r>
          </a:p>
          <a:p>
            <a:pPr lvl="1"/>
            <a:r>
              <a:rPr lang="en-US" sz="3200" smtClean="0"/>
              <a:t>Contact the Faculty Association for assistance</a:t>
            </a:r>
          </a:p>
          <a:p>
            <a:pPr lvl="1">
              <a:buFont typeface="Wingdings" pitchFamily="2" charset="2"/>
              <a:buNone/>
            </a:pPr>
            <a:endParaRPr lang="en-US" sz="3200" smtClean="0"/>
          </a:p>
          <a:p>
            <a:pPr lvl="1">
              <a:buFont typeface="Wingdings" pitchFamily="2" charset="2"/>
              <a:buNone/>
            </a:pPr>
            <a:endParaRPr lang="en-US" sz="3200" smtClean="0"/>
          </a:p>
          <a:p>
            <a:pPr algn="ctr">
              <a:buFont typeface="Wingdings" pitchFamily="2" charset="2"/>
              <a:buNone/>
            </a:pPr>
            <a:r>
              <a:rPr lang="en-US" sz="3200" smtClean="0"/>
              <a:t>Thank you!!</a:t>
            </a:r>
          </a:p>
          <a:p>
            <a:endParaRPr lang="en-US" smtClean="0"/>
          </a:p>
        </p:txBody>
      </p:sp>
      <p:sp>
        <p:nvSpPr>
          <p:cNvPr id="4" name="Slide Number Placeholder 3"/>
          <p:cNvSpPr>
            <a:spLocks noGrp="1"/>
          </p:cNvSpPr>
          <p:nvPr>
            <p:ph type="sldNum" sz="quarter" idx="12"/>
          </p:nvPr>
        </p:nvSpPr>
        <p:spPr/>
        <p:txBody>
          <a:bodyPr/>
          <a:lstStyle/>
          <a:p>
            <a:pPr>
              <a:defRPr/>
            </a:pPr>
            <a:fld id="{471D2857-5EBF-4303-A0ED-AA1AC72C26FC}" type="slidenum">
              <a:rPr lang="en-US" altLang="en-US" smtClean="0"/>
              <a:pPr>
                <a:defRPr/>
              </a:pPr>
              <a:t>51</a:t>
            </a:fld>
            <a:endParaRPr lang="en-US" altLang="en-US"/>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Edge">
  <a:themeElements>
    <a:clrScheme name="Custom 1">
      <a:dk1>
        <a:sysClr val="windowText" lastClr="000000"/>
      </a:dk1>
      <a:lt1>
        <a:srgbClr val="FFFFFF"/>
      </a:lt1>
      <a:dk2>
        <a:srgbClr val="1F497D"/>
      </a:dk2>
      <a:lt2>
        <a:srgbClr val="EEECE1"/>
      </a:lt2>
      <a:accent1>
        <a:srgbClr val="4F81BD"/>
      </a:accent1>
      <a:accent2>
        <a:srgbClr val="7F7F7F"/>
      </a:accent2>
      <a:accent3>
        <a:srgbClr val="7F7F7F"/>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99"/>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99"/>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2000" b="0" i="1"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16562</TotalTime>
  <Words>1835</Words>
  <Application>Microsoft Office PowerPoint</Application>
  <PresentationFormat>On-screen Show (4:3)</PresentationFormat>
  <Paragraphs>358</Paragraphs>
  <Slides>51</Slides>
  <Notes>32</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51</vt:i4>
      </vt:variant>
    </vt:vector>
  </HeadingPairs>
  <TitlesOfParts>
    <vt:vector size="53" baseType="lpstr">
      <vt:lpstr>Edge</vt:lpstr>
      <vt:lpstr>Document</vt:lpstr>
      <vt:lpstr>Tenure and Promotion Workshop </vt:lpstr>
      <vt:lpstr>Agenda</vt:lpstr>
      <vt:lpstr>Our Objective</vt:lpstr>
      <vt:lpstr>Tenure &amp; Promotion </vt:lpstr>
      <vt:lpstr>The Tenure Streams</vt:lpstr>
      <vt:lpstr>The Criteria</vt:lpstr>
      <vt:lpstr>The Tenure Clock</vt:lpstr>
      <vt:lpstr>The Tenure Clock </vt:lpstr>
      <vt:lpstr>The Procedures</vt:lpstr>
      <vt:lpstr>Tenure and Promotion Clock</vt:lpstr>
      <vt:lpstr>Head’s Meeting</vt:lpstr>
      <vt:lpstr>Head’s Meeting</vt:lpstr>
      <vt:lpstr>The Initial File</vt:lpstr>
      <vt:lpstr>Eligibility to be Consulted</vt:lpstr>
      <vt:lpstr>Letters of Reference</vt:lpstr>
      <vt:lpstr>Letters of Reference: must be arm’s length</vt:lpstr>
      <vt:lpstr>What referees receive </vt:lpstr>
      <vt:lpstr>Tenure &amp; Promotion Reviews</vt:lpstr>
      <vt:lpstr>Tenure &amp; Promotion Reviews</vt:lpstr>
      <vt:lpstr>Tenure &amp; Promotion Reviews</vt:lpstr>
      <vt:lpstr>Supplementing the File</vt:lpstr>
      <vt:lpstr>For Assistance…</vt:lpstr>
      <vt:lpstr>Senior Appointments Committee</vt:lpstr>
      <vt:lpstr>SAC Terms of Reference</vt:lpstr>
      <vt:lpstr>SAC: Committee Structure</vt:lpstr>
      <vt:lpstr>SAC Subcommittees</vt:lpstr>
      <vt:lpstr>SAC Subcommittee Review: Ranking</vt:lpstr>
      <vt:lpstr>SAC Subcommittee Review</vt:lpstr>
      <vt:lpstr>SAC Process:  Full Committee Review</vt:lpstr>
      <vt:lpstr>SAC Process</vt:lpstr>
      <vt:lpstr>SAC Process</vt:lpstr>
      <vt:lpstr>Criteria: Senior Instructor    A. 3.04</vt:lpstr>
      <vt:lpstr>Professor of Teaching     A. 3.05</vt:lpstr>
      <vt:lpstr>Assistant Professor    A. 3.06</vt:lpstr>
      <vt:lpstr>Associate Professor     A. 3.07</vt:lpstr>
      <vt:lpstr>Tenure      A. 4.01</vt:lpstr>
      <vt:lpstr>Professor  A. 3.08</vt:lpstr>
      <vt:lpstr>Frequent SAC Issues</vt:lpstr>
      <vt:lpstr>Curricula Vitae</vt:lpstr>
      <vt:lpstr>External Referee Letters</vt:lpstr>
      <vt:lpstr>Scholarly Contributions</vt:lpstr>
      <vt:lpstr>“Traditional” Scholarship   SAC Guide 3.1.5</vt:lpstr>
      <vt:lpstr>Professional Contributions      A. 4.03(b)</vt:lpstr>
      <vt:lpstr>Professional Contributions   Guide 3.1.12</vt:lpstr>
      <vt:lpstr>Scholarship of Teaching   A. 4.03(a)</vt:lpstr>
      <vt:lpstr>Scholarship of Teaching       Guide 3.1(ii)</vt:lpstr>
      <vt:lpstr>Scholarship of Teaching</vt:lpstr>
      <vt:lpstr>Teaching   A. 4.02</vt:lpstr>
      <vt:lpstr>Teaching Documentation  Guide A. 3.2.1</vt:lpstr>
      <vt:lpstr>Key Insights</vt:lpstr>
      <vt:lpstr>Closing Questions??</vt:lpstr>
    </vt:vector>
  </TitlesOfParts>
  <Company>Chubb &amp; Son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Navigating Faculty Relations</dc:title>
  <dc:creator>cicc</dc:creator>
  <cp:lastModifiedBy>pc</cp:lastModifiedBy>
  <cp:revision>1669</cp:revision>
  <cp:lastPrinted>2012-04-23T15:08:24Z</cp:lastPrinted>
  <dcterms:created xsi:type="dcterms:W3CDTF">2012-05-01T17:33:41Z</dcterms:created>
  <dcterms:modified xsi:type="dcterms:W3CDTF">2012-07-09T19:07:46Z</dcterms:modified>
</cp:coreProperties>
</file>