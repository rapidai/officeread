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59" r:id="rId4"/>
    <p:sldId id="258" r:id="rId5"/>
    <p:sldId id="260" r:id="rId6"/>
    <p:sldId id="266" r:id="rId7"/>
    <p:sldId id="264" r:id="rId8"/>
    <p:sldId id="263" r:id="rId9"/>
    <p:sldId id="265" r:id="rId10"/>
    <p:sldId id="269" r:id="rId11"/>
    <p:sldId id="273" r:id="rId12"/>
    <p:sldId id="274" r:id="rId13"/>
    <p:sldId id="275" r:id="rId14"/>
    <p:sldId id="277" r:id="rId15"/>
    <p:sldId id="276" r:id="rId16"/>
    <p:sldId id="261" r:id="rId17"/>
    <p:sldId id="272" r:id="rId18"/>
    <p:sldId id="271" r:id="rId19"/>
    <p:sldId id="278" r:id="rId20"/>
    <p:sldId id="267" r:id="rId21"/>
    <p:sldId id="279" r:id="rId22"/>
    <p:sldId id="281" r:id="rId23"/>
    <p:sldId id="280" r:id="rId24"/>
    <p:sldId id="282" r:id="rId25"/>
    <p:sldId id="270" r:id="rId26"/>
    <p:sldId id="283" r:id="rId27"/>
    <p:sldId id="285" r:id="rId28"/>
    <p:sldId id="268" r:id="rId29"/>
    <p:sldId id="284" r:id="rId30"/>
    <p:sldId id="286" r:id="rId31"/>
    <p:sldId id="287" r:id="rId32"/>
  </p:sldIdLst>
  <p:sldSz cx="9144000" cy="6858000" type="screen4x3"/>
  <p:notesSz cx="7053263" cy="93932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168" autoAdjust="0"/>
  </p:normalViewPr>
  <p:slideViewPr>
    <p:cSldViewPr>
      <p:cViewPr varScale="1">
        <p:scale>
          <a:sx n="61" d="100"/>
          <a:sy n="61" d="100"/>
        </p:scale>
        <p:origin x="-78" y="-6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9662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9662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r">
              <a:defRPr sz="1200"/>
            </a:lvl1pPr>
          </a:lstStyle>
          <a:p>
            <a:fld id="{16808360-5D2D-47F1-8DF1-471FA478F60B}" type="datetimeFigureOut">
              <a:rPr lang="en-US" smtClean="0"/>
              <a:t>11/5/2010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21946"/>
            <a:ext cx="3056414" cy="469662"/>
          </a:xfrm>
          <a:prstGeom prst="rect">
            <a:avLst/>
          </a:prstGeom>
        </p:spPr>
        <p:txBody>
          <a:bodyPr vert="horz" lIns="93973" tIns="46986" rIns="93973" bIns="469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5217" y="8921946"/>
            <a:ext cx="3056414" cy="469662"/>
          </a:xfrm>
          <a:prstGeom prst="rect">
            <a:avLst/>
          </a:prstGeom>
        </p:spPr>
        <p:txBody>
          <a:bodyPr vert="horz" lIns="93973" tIns="46986" rIns="93973" bIns="46986" rtlCol="0" anchor="b"/>
          <a:lstStyle>
            <a:lvl1pPr algn="r">
              <a:defRPr sz="1200"/>
            </a:lvl1pPr>
          </a:lstStyle>
          <a:p>
            <a:fld id="{20C61581-DED9-449A-B3F4-4CCC9F5140E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9662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9662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r">
              <a:defRPr sz="1200"/>
            </a:lvl1pPr>
          </a:lstStyle>
          <a:p>
            <a:fld id="{894840F9-77F8-40AF-A671-8734702149DB}" type="datetimeFigureOut">
              <a:rPr lang="en-US" smtClean="0"/>
              <a:pPr/>
              <a:t>11/5/2010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704850"/>
            <a:ext cx="4695825" cy="35226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73" tIns="46986" rIns="93973" bIns="469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5327" y="4461788"/>
            <a:ext cx="5642610" cy="4226957"/>
          </a:xfrm>
          <a:prstGeom prst="rect">
            <a:avLst/>
          </a:prstGeom>
        </p:spPr>
        <p:txBody>
          <a:bodyPr vert="horz" lIns="93973" tIns="46986" rIns="93973" bIns="4698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21946"/>
            <a:ext cx="3056414" cy="469662"/>
          </a:xfrm>
          <a:prstGeom prst="rect">
            <a:avLst/>
          </a:prstGeom>
        </p:spPr>
        <p:txBody>
          <a:bodyPr vert="horz" lIns="93973" tIns="46986" rIns="93973" bIns="469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217" y="8921946"/>
            <a:ext cx="3056414" cy="469662"/>
          </a:xfrm>
          <a:prstGeom prst="rect">
            <a:avLst/>
          </a:prstGeom>
        </p:spPr>
        <p:txBody>
          <a:bodyPr vert="horz" lIns="93973" tIns="46986" rIns="93973" bIns="46986" rtlCol="0" anchor="b"/>
          <a:lstStyle>
            <a:lvl1pPr algn="r">
              <a:defRPr sz="1200"/>
            </a:lvl1pPr>
          </a:lstStyle>
          <a:p>
            <a:fld id="{40EA3475-5BD6-4597-9C4E-90DEB0AAB20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Three catalogs for searching</a:t>
            </a:r>
            <a:endParaRPr lang="en-US" baseline="0" dirty="0" smtClean="0"/>
          </a:p>
          <a:p>
            <a:r>
              <a:rPr lang="en-US" baseline="0" dirty="0" smtClean="0"/>
              <a:t>Raw data catalog for searching “raw” data (xml, </a:t>
            </a:r>
            <a:r>
              <a:rPr lang="en-US" baseline="0" dirty="0" err="1" smtClean="0"/>
              <a:t>csv</a:t>
            </a:r>
            <a:r>
              <a:rPr lang="en-US" baseline="0" dirty="0" smtClean="0"/>
              <a:t>, etc) = download data</a:t>
            </a:r>
          </a:p>
          <a:p>
            <a:r>
              <a:rPr lang="en-US" baseline="0" dirty="0" smtClean="0"/>
              <a:t>Tool catalog = links to a mixed bag (</a:t>
            </a:r>
            <a:r>
              <a:rPr lang="en-US" baseline="0" dirty="0" err="1" smtClean="0"/>
              <a:t>rss</a:t>
            </a:r>
            <a:r>
              <a:rPr lang="en-US" baseline="0" dirty="0" smtClean="0"/>
              <a:t> feeds, reports, widgets, databases for extracting data)</a:t>
            </a:r>
          </a:p>
          <a:p>
            <a:r>
              <a:rPr lang="en-US" baseline="0" dirty="0" err="1" smtClean="0"/>
              <a:t>Geodata</a:t>
            </a:r>
            <a:r>
              <a:rPr lang="en-US" baseline="0" dirty="0" smtClean="0"/>
              <a:t> catalog = </a:t>
            </a:r>
            <a:r>
              <a:rPr lang="en-US" baseline="0" dirty="0" err="1" smtClean="0"/>
              <a:t>geocoded</a:t>
            </a:r>
            <a:r>
              <a:rPr lang="en-US" baseline="0" dirty="0" smtClean="0"/>
              <a:t> data and </a:t>
            </a:r>
            <a:r>
              <a:rPr lang="en-US" baseline="0" dirty="0" err="1" smtClean="0"/>
              <a:t>shapefiles</a:t>
            </a:r>
            <a:r>
              <a:rPr lang="en-US" baseline="0" dirty="0" smtClean="0"/>
              <a:t> for GIS; Preview is new feature that allows you to preview data before downloading a </a:t>
            </a:r>
            <a:r>
              <a:rPr lang="en-US" baseline="0" dirty="0" err="1" smtClean="0"/>
              <a:t>shapefile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EA3475-5BD6-4597-9C4E-90DEB0AAB20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EA3475-5BD6-4597-9C4E-90DEB0AAB20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EA3475-5BD6-4597-9C4E-90DEB0AAB204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EA3475-5BD6-4597-9C4E-90DEB0AAB204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A141-5A1D-4950-9E53-7BB3785B8BA9}" type="datetimeFigureOut">
              <a:rPr lang="en-US" smtClean="0"/>
              <a:pPr/>
              <a:t>11/5/2010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A69E-3EDA-48DE-B98A-13F597127D3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A141-5A1D-4950-9E53-7BB3785B8BA9}" type="datetimeFigureOut">
              <a:rPr lang="en-US" smtClean="0"/>
              <a:pPr/>
              <a:t>11/5/2010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A69E-3EDA-48DE-B98A-13F597127D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A141-5A1D-4950-9E53-7BB3785B8BA9}" type="datetimeFigureOut">
              <a:rPr lang="en-US" smtClean="0"/>
              <a:pPr/>
              <a:t>11/5/2010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A69E-3EDA-48DE-B98A-13F597127D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A141-5A1D-4950-9E53-7BB3785B8BA9}" type="datetimeFigureOut">
              <a:rPr lang="en-US" smtClean="0"/>
              <a:pPr/>
              <a:t>11/5/2010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A69E-3EDA-48DE-B98A-13F597127D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A141-5A1D-4950-9E53-7BB3785B8BA9}" type="datetimeFigureOut">
              <a:rPr lang="en-US" smtClean="0"/>
              <a:pPr/>
              <a:t>11/5/2010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A69E-3EDA-48DE-B98A-13F597127D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A141-5A1D-4950-9E53-7BB3785B8BA9}" type="datetimeFigureOut">
              <a:rPr lang="en-US" smtClean="0"/>
              <a:pPr/>
              <a:t>11/5/2010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A69E-3EDA-48DE-B98A-13F597127D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A141-5A1D-4950-9E53-7BB3785B8BA9}" type="datetimeFigureOut">
              <a:rPr lang="en-US" smtClean="0"/>
              <a:pPr/>
              <a:t>11/5/2010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A69E-3EDA-48DE-B98A-13F597127D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A141-5A1D-4950-9E53-7BB3785B8BA9}" type="datetimeFigureOut">
              <a:rPr lang="en-US" smtClean="0"/>
              <a:pPr/>
              <a:t>11/5/2010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A69E-3EDA-48DE-B98A-13F597127D3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ABA5A141-5A1D-4950-9E53-7BB3785B8BA9}" type="datetimeFigureOut">
              <a:rPr lang="en-US" smtClean="0"/>
              <a:pPr/>
              <a:t>11/5/2010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A968A69E-3EDA-48DE-B98A-13F597127D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A141-5A1D-4950-9E53-7BB3785B8BA9}" type="datetimeFigureOut">
              <a:rPr lang="en-US" smtClean="0"/>
              <a:pPr/>
              <a:t>11/5/2010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A69E-3EDA-48DE-B98A-13F597127D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A141-5A1D-4950-9E53-7BB3785B8BA9}" type="datetimeFigureOut">
              <a:rPr lang="en-US" smtClean="0"/>
              <a:pPr/>
              <a:t>11/5/2010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A69E-3EDA-48DE-B98A-13F597127D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ABA5A141-5A1D-4950-9E53-7BB3785B8BA9}" type="datetimeFigureOut">
              <a:rPr lang="en-US" smtClean="0"/>
              <a:pPr/>
              <a:t>11/5/2010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A968A69E-3EDA-48DE-B98A-13F597127D3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ata-gov.tw.rpi.edu/wiki/Demo:_Clean_Air_Status_and_Trends_-_Ozon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factfinder2.census.gov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blogs.census.gov/2010census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America’s Most Wanted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Top US Government Data Resources</a:t>
            </a:r>
          </a:p>
        </p:txBody>
      </p:sp>
      <p:sp>
        <p:nvSpPr>
          <p:cNvPr id="4" name="Text Placeholder 3"/>
          <p:cNvSpPr txBox="1">
            <a:spLocks/>
          </p:cNvSpPr>
          <p:nvPr/>
        </p:nvSpPr>
        <p:spPr>
          <a:xfrm>
            <a:off x="3124200" y="5181600"/>
            <a:ext cx="5715000" cy="1295400"/>
          </a:xfrm>
          <a:prstGeom prst="rect">
            <a:avLst/>
          </a:prstGeom>
        </p:spPr>
        <p:txBody>
          <a:bodyPr vert="horz" lIns="118872" tIns="0" rIns="45720" bIns="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Lynda </a:t>
            </a: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Kellam</a:t>
            </a:r>
            <a:endParaRPr kumimoji="0" lang="en-US" sz="2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sz="2000" dirty="0" smtClean="0"/>
              <a:t>Data Services &amp; Government Information Librarian</a:t>
            </a:r>
            <a:endParaRPr lang="en-US" sz="20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sz="2000" dirty="0" smtClean="0"/>
              <a:t>The University of North Carolina at Greensboro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session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Questions to consider:</a:t>
            </a:r>
          </a:p>
          <a:p>
            <a:pPr lvl="1"/>
            <a:r>
              <a:rPr lang="en-US" dirty="0" smtClean="0"/>
              <a:t>What is </a:t>
            </a:r>
            <a:r>
              <a:rPr lang="en-US" dirty="0" smtClean="0"/>
              <a:t>it and why is it </a:t>
            </a:r>
            <a:r>
              <a:rPr lang="en-US" dirty="0" smtClean="0"/>
              <a:t>a top source</a:t>
            </a:r>
            <a:r>
              <a:rPr lang="en-US" dirty="0" smtClean="0"/>
              <a:t>?</a:t>
            </a:r>
            <a:endParaRPr lang="en-US" dirty="0" smtClean="0"/>
          </a:p>
          <a:p>
            <a:pPr lvl="1"/>
            <a:r>
              <a:rPr lang="en-US" dirty="0" smtClean="0"/>
              <a:t>What </a:t>
            </a:r>
            <a:r>
              <a:rPr lang="en-US" dirty="0" smtClean="0"/>
              <a:t>are the newest features (if any)?</a:t>
            </a:r>
          </a:p>
          <a:p>
            <a:pPr lvl="1"/>
            <a:r>
              <a:rPr lang="en-US" dirty="0" smtClean="0"/>
              <a:t>What are </a:t>
            </a:r>
            <a:r>
              <a:rPr lang="en-US" dirty="0" smtClean="0"/>
              <a:t>areas </a:t>
            </a:r>
            <a:r>
              <a:rPr lang="en-US" dirty="0" smtClean="0"/>
              <a:t>for improvement?</a:t>
            </a:r>
          </a:p>
          <a:p>
            <a:r>
              <a:rPr lang="en-US" dirty="0" smtClean="0"/>
              <a:t>Sources: data.gov, </a:t>
            </a:r>
            <a:r>
              <a:rPr lang="en-US" dirty="0" smtClean="0"/>
              <a:t>geodata.gov, American </a:t>
            </a:r>
            <a:r>
              <a:rPr lang="en-US" dirty="0" err="1" smtClean="0"/>
              <a:t>FactFinder</a:t>
            </a:r>
            <a:r>
              <a:rPr lang="en-US" dirty="0" smtClean="0"/>
              <a:t>, </a:t>
            </a:r>
            <a:r>
              <a:rPr lang="en-US" dirty="0" smtClean="0"/>
              <a:t>Bureau of Labor Statistics, </a:t>
            </a:r>
            <a:r>
              <a:rPr lang="en-US" dirty="0" smtClean="0"/>
              <a:t>National Center for Education </a:t>
            </a:r>
            <a:r>
              <a:rPr lang="en-US" dirty="0" smtClean="0"/>
              <a:t>Statistics, Data </a:t>
            </a:r>
            <a:r>
              <a:rPr lang="en-US" dirty="0" err="1" smtClean="0"/>
              <a:t>Ferrett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Newest kid on the block</a:t>
            </a:r>
            <a:endParaRPr lang="en-US" dirty="0"/>
          </a:p>
        </p:txBody>
      </p:sp>
      <p:pic>
        <p:nvPicPr>
          <p:cNvPr id="5" name="Content Placeholder 3" descr="dat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86200" y="2819400"/>
            <a:ext cx="4648200" cy="3735979"/>
          </a:xfrm>
          <a:prstGeom prst="rect">
            <a:avLst/>
          </a:prstGeom>
        </p:spPr>
      </p:pic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76400"/>
            <a:ext cx="7717536" cy="685800"/>
          </a:xfrm>
        </p:spPr>
        <p:txBody>
          <a:bodyPr/>
          <a:lstStyle/>
          <a:p>
            <a:r>
              <a:rPr lang="en-US" dirty="0" smtClean="0"/>
              <a:t>data.gov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ata.jpg"/>
          <p:cNvPicPr>
            <a:picLocks noGrp="1" noChangeAspect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>
          <a:xfrm>
            <a:off x="533400" y="228600"/>
            <a:ext cx="7908925" cy="63563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</a:t>
            </a:r>
            <a:r>
              <a:rPr lang="en-US" dirty="0" smtClean="0"/>
              <a:t>some major </a:t>
            </a:r>
            <a:r>
              <a:rPr lang="en-US" dirty="0" smtClean="0"/>
              <a:t>features?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Three catalogs (raw data, tools, </a:t>
            </a:r>
            <a:r>
              <a:rPr lang="en-US" dirty="0" err="1" smtClean="0"/>
              <a:t>geodata</a:t>
            </a:r>
            <a:r>
              <a:rPr lang="en-US" dirty="0" smtClean="0"/>
              <a:t>)</a:t>
            </a:r>
          </a:p>
          <a:p>
            <a:r>
              <a:rPr lang="en-US" dirty="0" smtClean="0"/>
              <a:t>Variety of data formats (</a:t>
            </a:r>
            <a:r>
              <a:rPr lang="en-US" dirty="0" err="1" smtClean="0"/>
              <a:t>xls</a:t>
            </a:r>
            <a:r>
              <a:rPr lang="en-US" dirty="0" smtClean="0"/>
              <a:t>, xml, </a:t>
            </a:r>
            <a:r>
              <a:rPr lang="en-US" dirty="0" err="1" smtClean="0"/>
              <a:t>csv</a:t>
            </a:r>
            <a:r>
              <a:rPr lang="en-US" dirty="0" smtClean="0"/>
              <a:t>, </a:t>
            </a:r>
            <a:r>
              <a:rPr lang="en-US" dirty="0" err="1" smtClean="0"/>
              <a:t>kml</a:t>
            </a:r>
            <a:r>
              <a:rPr lang="en-US" dirty="0" smtClean="0"/>
              <a:t>, etc.)</a:t>
            </a:r>
            <a:endParaRPr lang="en-US" dirty="0"/>
          </a:p>
        </p:txBody>
      </p:sp>
      <p:pic>
        <p:nvPicPr>
          <p:cNvPr id="4" name="Picture 3" descr="datacatalog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" y="3505200"/>
            <a:ext cx="7848600" cy="28318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tacatalog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6836" y="0"/>
            <a:ext cx="8350328" cy="68580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6400800" y="1752600"/>
            <a:ext cx="6096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324600" y="2438400"/>
            <a:ext cx="76200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43400" y="2057400"/>
            <a:ext cx="236220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Types of files available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33800" y="5181600"/>
            <a:ext cx="48006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Raw Data Catalog Entry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382000" cy="4800600"/>
          </a:xfrm>
        </p:spPr>
        <p:txBody>
          <a:bodyPr/>
          <a:lstStyle/>
          <a:p>
            <a:r>
              <a:rPr lang="en-US" dirty="0" smtClean="0"/>
              <a:t>Integrated search with search.usa.gov</a:t>
            </a:r>
          </a:p>
          <a:p>
            <a:r>
              <a:rPr lang="en-US" dirty="0" smtClean="0"/>
              <a:t>Site for mash ups</a:t>
            </a:r>
          </a:p>
          <a:p>
            <a:endParaRPr lang="en-US" dirty="0" smtClean="0"/>
          </a:p>
        </p:txBody>
      </p:sp>
      <p:pic>
        <p:nvPicPr>
          <p:cNvPr id="4" name="Picture 3" descr="data_mashup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0600" y="2743200"/>
            <a:ext cx="4209366" cy="3896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10200" y="3200400"/>
            <a:ext cx="3429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Mash up using ozone and visibility readings with geographic information about sites of those readings. </a:t>
            </a:r>
            <a:endParaRPr lang="en-US" dirty="0"/>
          </a:p>
          <a:p>
            <a:r>
              <a:rPr lang="en-US" dirty="0" smtClean="0"/>
              <a:t>More info: </a:t>
            </a:r>
            <a:r>
              <a:rPr lang="en-US" dirty="0" smtClean="0">
                <a:hlinkClick r:id="rId4"/>
              </a:rPr>
              <a:t>http://data-gov.tw.rpi.edu/wiki/Demo:_Clean_Air_Status_and_Trends_-_Ozone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eodatacatalo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2790" y="533400"/>
            <a:ext cx="5582210" cy="3124200"/>
          </a:xfrm>
          <a:prstGeom prst="rect">
            <a:avLst/>
          </a:prstGeom>
        </p:spPr>
      </p:pic>
      <p:pic>
        <p:nvPicPr>
          <p:cNvPr id="3" name="Picture 2" descr="geodataviewe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95600" y="2209800"/>
            <a:ext cx="6045200" cy="40919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4419600"/>
            <a:ext cx="25146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GEO Viewer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and Areas for Improvement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Uses:</a:t>
            </a:r>
          </a:p>
          <a:p>
            <a:pPr lvl="1"/>
            <a:r>
              <a:rPr lang="en-US" dirty="0" smtClean="0"/>
              <a:t>Great focus on environmental </a:t>
            </a:r>
            <a:r>
              <a:rPr lang="en-US" dirty="0" smtClean="0"/>
              <a:t>data</a:t>
            </a:r>
            <a:endParaRPr lang="en-US" dirty="0" smtClean="0"/>
          </a:p>
          <a:p>
            <a:pPr lvl="1"/>
            <a:r>
              <a:rPr lang="en-US" dirty="0" smtClean="0"/>
              <a:t>Good </a:t>
            </a:r>
            <a:r>
              <a:rPr lang="en-US" b="1" dirty="0" smtClean="0"/>
              <a:t>free </a:t>
            </a:r>
            <a:r>
              <a:rPr lang="en-US" dirty="0" smtClean="0"/>
              <a:t>portal for finding data </a:t>
            </a:r>
            <a:r>
              <a:rPr lang="en-US" dirty="0" smtClean="0"/>
              <a:t>sources</a:t>
            </a:r>
            <a:endParaRPr lang="en-US" dirty="0" smtClean="0"/>
          </a:p>
          <a:p>
            <a:r>
              <a:rPr lang="en-US" dirty="0" smtClean="0"/>
              <a:t>Improvement:</a:t>
            </a:r>
          </a:p>
          <a:p>
            <a:pPr lvl="1"/>
            <a:r>
              <a:rPr lang="en-US" dirty="0" smtClean="0"/>
              <a:t>Needs more data downloads and fewer links </a:t>
            </a:r>
            <a:r>
              <a:rPr lang="en-US" dirty="0" smtClean="0"/>
              <a:t>out</a:t>
            </a:r>
            <a:endParaRPr lang="en-US" dirty="0" smtClean="0"/>
          </a:p>
          <a:p>
            <a:pPr lvl="1"/>
            <a:r>
              <a:rPr lang="en-US" dirty="0" smtClean="0"/>
              <a:t>Go beyond executive branch </a:t>
            </a:r>
            <a:r>
              <a:rPr lang="en-US" dirty="0" smtClean="0"/>
              <a:t>data</a:t>
            </a:r>
            <a:endParaRPr lang="en-US" dirty="0" smtClean="0"/>
          </a:p>
          <a:p>
            <a:pPr lvl="1"/>
            <a:r>
              <a:rPr lang="en-US" dirty="0" smtClean="0"/>
              <a:t>More variety of </a:t>
            </a:r>
            <a:r>
              <a:rPr lang="en-US" dirty="0" smtClean="0"/>
              <a:t>subjects</a:t>
            </a:r>
            <a:endParaRPr lang="en-US" dirty="0" smtClean="0"/>
          </a:p>
          <a:p>
            <a:pPr lvl="1"/>
            <a:r>
              <a:rPr lang="en-US" dirty="0" smtClean="0"/>
              <a:t>Glitches </a:t>
            </a:r>
            <a:r>
              <a:rPr lang="en-US" dirty="0" smtClean="0"/>
              <a:t>need to be </a:t>
            </a:r>
            <a:r>
              <a:rPr lang="en-US" dirty="0" smtClean="0"/>
              <a:t>fixed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Trendsetter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Geodata.gov</a:t>
            </a:r>
            <a:endParaRPr lang="en-US" dirty="0"/>
          </a:p>
        </p:txBody>
      </p:sp>
      <p:pic>
        <p:nvPicPr>
          <p:cNvPr id="4" name="Picture 3" descr="geodat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07678" y="2743200"/>
            <a:ext cx="5063626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eodat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147156"/>
            <a:ext cx="8414104" cy="67108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the major features?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 account allows saving search criteria and maps</a:t>
            </a:r>
          </a:p>
          <a:p>
            <a:pPr lvl="1"/>
            <a:r>
              <a:rPr lang="en-US" dirty="0" smtClean="0"/>
              <a:t>Email alerts for saved search criteria</a:t>
            </a:r>
          </a:p>
          <a:p>
            <a:r>
              <a:rPr lang="en-US" dirty="0" smtClean="0"/>
              <a:t>Content is from variety of </a:t>
            </a:r>
            <a:r>
              <a:rPr lang="en-US" dirty="0" smtClean="0"/>
              <a:t>producers</a:t>
            </a:r>
            <a:endParaRPr lang="en-US" dirty="0" smtClean="0"/>
          </a:p>
          <a:p>
            <a:r>
              <a:rPr lang="en-US" dirty="0" smtClean="0"/>
              <a:t>Focus is on metadata records</a:t>
            </a:r>
          </a:p>
          <a:p>
            <a:r>
              <a:rPr lang="en-US" dirty="0" smtClean="0"/>
              <a:t>Possible to search for data by geography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geodata.gov search screen</a:t>
            </a:r>
            <a:endParaRPr lang="en-US" dirty="0"/>
          </a:p>
        </p:txBody>
      </p:sp>
      <p:pic>
        <p:nvPicPr>
          <p:cNvPr id="4" name="Content Placeholder 3" descr="geodata_search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1526908"/>
            <a:ext cx="8001000" cy="533109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 results</a:t>
            </a:r>
            <a:endParaRPr lang="en-US" dirty="0"/>
          </a:p>
        </p:txBody>
      </p:sp>
      <p:pic>
        <p:nvPicPr>
          <p:cNvPr id="4" name="Content Placeholder 3" descr="geodata_searchresult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199" y="1565946"/>
            <a:ext cx="7496797" cy="506345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and Areas for Improvement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Uses:</a:t>
            </a:r>
          </a:p>
          <a:p>
            <a:pPr lvl="1"/>
            <a:r>
              <a:rPr lang="en-US" dirty="0" smtClean="0"/>
              <a:t>Another </a:t>
            </a:r>
            <a:r>
              <a:rPr lang="en-US" b="1" dirty="0" smtClean="0"/>
              <a:t>free </a:t>
            </a:r>
            <a:r>
              <a:rPr lang="en-US" dirty="0" smtClean="0"/>
              <a:t>portal for tracking down sources</a:t>
            </a:r>
          </a:p>
          <a:p>
            <a:pPr lvl="1"/>
            <a:r>
              <a:rPr lang="en-US" dirty="0" smtClean="0"/>
              <a:t>Great focus on geographic searching</a:t>
            </a:r>
          </a:p>
          <a:p>
            <a:r>
              <a:rPr lang="en-US" dirty="0" smtClean="0"/>
              <a:t>Improvement:</a:t>
            </a:r>
          </a:p>
          <a:p>
            <a:pPr lvl="1"/>
            <a:r>
              <a:rPr lang="en-US" dirty="0" smtClean="0"/>
              <a:t>Needs clarification on how will work with data.gov</a:t>
            </a:r>
          </a:p>
          <a:p>
            <a:pPr lvl="1"/>
            <a:r>
              <a:rPr lang="en-US" dirty="0" smtClean="0"/>
              <a:t>Integrate map searching into data.gov?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013192" cy="1066800"/>
          </a:xfrm>
        </p:spPr>
        <p:txBody>
          <a:bodyPr>
            <a:normAutofit/>
          </a:bodyPr>
          <a:lstStyle/>
          <a:p>
            <a:r>
              <a:rPr lang="en-US" sz="3500" dirty="0" smtClean="0"/>
              <a:t>Most in need of an extreme makeover</a:t>
            </a:r>
            <a:endParaRPr lang="en-US" sz="3500" dirty="0"/>
          </a:p>
        </p:txBody>
      </p:sp>
      <p:pic>
        <p:nvPicPr>
          <p:cNvPr id="4" name="Picture 3" descr="affol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43400" y="2743200"/>
            <a:ext cx="3985352" cy="3846328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3400" y="1676400"/>
            <a:ext cx="8022336" cy="685800"/>
          </a:xfrm>
        </p:spPr>
        <p:txBody>
          <a:bodyPr/>
          <a:lstStyle/>
          <a:p>
            <a:r>
              <a:rPr lang="en-US" dirty="0" smtClean="0"/>
              <a:t>American </a:t>
            </a:r>
            <a:r>
              <a:rPr lang="en-US" dirty="0" err="1" smtClean="0"/>
              <a:t>FactFinder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ffnew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7850" y="342900"/>
            <a:ext cx="7988300" cy="617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to come!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Search by topic, geography, population group, or industry code</a:t>
            </a:r>
          </a:p>
          <a:p>
            <a:r>
              <a:rPr lang="en-US" dirty="0" smtClean="0"/>
              <a:t>Enhanced table features</a:t>
            </a:r>
          </a:p>
          <a:p>
            <a:pPr lvl="1"/>
            <a:r>
              <a:rPr lang="en-US" dirty="0" smtClean="0"/>
              <a:t>Rearrange rows and columns</a:t>
            </a:r>
          </a:p>
          <a:p>
            <a:pPr lvl="1"/>
            <a:r>
              <a:rPr lang="en-US" dirty="0" smtClean="0"/>
              <a:t>Sort data in a column</a:t>
            </a:r>
          </a:p>
          <a:p>
            <a:pPr lvl="1"/>
            <a:r>
              <a:rPr lang="en-US" dirty="0" smtClean="0"/>
              <a:t>Bookmarking tables</a:t>
            </a:r>
          </a:p>
          <a:p>
            <a:r>
              <a:rPr lang="en-US" dirty="0" smtClean="0"/>
              <a:t>New mapping feature available</a:t>
            </a:r>
          </a:p>
          <a:p>
            <a:r>
              <a:rPr lang="en-US" dirty="0" smtClean="0"/>
              <a:t>Check </a:t>
            </a:r>
            <a:r>
              <a:rPr lang="en-US" dirty="0" smtClean="0">
                <a:hlinkClick r:id="rId2"/>
              </a:rPr>
              <a:t>http://factfinder2.census.gov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to come!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American Community Survey data releases </a:t>
            </a:r>
          </a:p>
          <a:p>
            <a:pPr lvl="1"/>
            <a:r>
              <a:rPr lang="en-US" dirty="0" smtClean="0"/>
              <a:t>2005-2009 ACS 5 year estimates released in early December</a:t>
            </a:r>
          </a:p>
          <a:p>
            <a:r>
              <a:rPr lang="en-US" dirty="0" smtClean="0"/>
              <a:t>State population counts released on December 31, 2010</a:t>
            </a:r>
          </a:p>
          <a:p>
            <a:r>
              <a:rPr lang="en-US" dirty="0" smtClean="0"/>
              <a:t>The Director’s </a:t>
            </a:r>
            <a:r>
              <a:rPr lang="en-US" dirty="0" smtClean="0"/>
              <a:t>Blog: </a:t>
            </a:r>
            <a:r>
              <a:rPr lang="en-US" dirty="0" smtClean="0">
                <a:hlinkClick r:id="rId2"/>
              </a:rPr>
              <a:t>http://blogs.census.gov/2010census/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Most improved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Bureau of Labor Statistics</a:t>
            </a:r>
            <a:endParaRPr lang="en-US" dirty="0"/>
          </a:p>
        </p:txBody>
      </p:sp>
      <p:pic>
        <p:nvPicPr>
          <p:cNvPr id="4" name="Picture 3" descr="blsmai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74541" y="2743200"/>
            <a:ext cx="4883659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snew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7800" y="152400"/>
            <a:ext cx="7459508" cy="64770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762000" y="4572000"/>
            <a:ext cx="91440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609600" y="1143000"/>
            <a:ext cx="91440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2400" y="1828800"/>
            <a:ext cx="121920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Economic</a:t>
            </a:r>
          </a:p>
          <a:p>
            <a:pPr algn="ctr"/>
            <a:r>
              <a:rPr lang="en-US" dirty="0" smtClean="0"/>
              <a:t>Releases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52400" y="5257800"/>
            <a:ext cx="121920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Regional Products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lsnew-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52400"/>
            <a:ext cx="7774031" cy="647700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rot="10800000">
            <a:off x="7772400" y="914400"/>
            <a:ext cx="68580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16200000" flipV="1">
            <a:off x="7734300" y="2628900"/>
            <a:ext cx="76200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24800" y="1515070"/>
            <a:ext cx="1066800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Did you know section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924800" y="3352800"/>
            <a:ext cx="106680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OOH featured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</a:t>
            </a:r>
            <a:r>
              <a:rPr lang="en-US" dirty="0" smtClean="0"/>
              <a:t>r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RSS feed for major numbers </a:t>
            </a:r>
          </a:p>
          <a:p>
            <a:r>
              <a:rPr lang="en-US" dirty="0" smtClean="0"/>
              <a:t>Flash and html tutorials</a:t>
            </a:r>
          </a:p>
          <a:p>
            <a:pPr lvl="1"/>
            <a:r>
              <a:rPr lang="en-US" sz="2400" dirty="0" smtClean="0"/>
              <a:t>http://www.bls.gov/tutorial/home.htm</a:t>
            </a:r>
            <a:endParaRPr lang="en-US" sz="2400" dirty="0" smtClean="0"/>
          </a:p>
          <a:p>
            <a:pPr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pic>
        <p:nvPicPr>
          <p:cNvPr id="4" name="Picture 3" descr="bls_rs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24600" y="1752600"/>
            <a:ext cx="2384868" cy="3581400"/>
          </a:xfrm>
          <a:prstGeom prst="rect">
            <a:avLst/>
          </a:prstGeom>
        </p:spPr>
      </p:pic>
      <p:pic>
        <p:nvPicPr>
          <p:cNvPr id="6" name="Picture 5" descr="bls_tutorial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00200" y="3352800"/>
            <a:ext cx="3342180" cy="34380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BLS Labs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1"/>
            <a:ext cx="8229600" cy="4876800"/>
          </a:xfrm>
        </p:spPr>
        <p:txBody>
          <a:bodyPr/>
          <a:lstStyle/>
          <a:p>
            <a:r>
              <a:rPr lang="en-US" dirty="0" smtClean="0"/>
              <a:t>Revamped search engine</a:t>
            </a:r>
          </a:p>
          <a:p>
            <a:r>
              <a:rPr lang="en-US" dirty="0" smtClean="0"/>
              <a:t>State &amp; county mapping tool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pic>
        <p:nvPicPr>
          <p:cNvPr id="5" name="Picture 4" descr="bls_map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19400" y="2590800"/>
            <a:ext cx="5098896" cy="426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Old Standby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National Center for Education Statistics </a:t>
            </a:r>
            <a:endParaRPr lang="en-US" dirty="0"/>
          </a:p>
        </p:txBody>
      </p:sp>
      <p:pic>
        <p:nvPicPr>
          <p:cNvPr id="4" name="Picture 3" descr="nces_mai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86200" y="2667000"/>
            <a:ext cx="4267200" cy="4105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es_mai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00" y="27448"/>
            <a:ext cx="7010400" cy="67455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1"/>
            <a:ext cx="8229600" cy="4876800"/>
          </a:xfrm>
        </p:spPr>
        <p:txBody>
          <a:bodyPr/>
          <a:lstStyle/>
          <a:p>
            <a:r>
              <a:rPr lang="en-US" dirty="0" smtClean="0"/>
              <a:t>RSS for announcements</a:t>
            </a:r>
          </a:p>
          <a:p>
            <a:r>
              <a:rPr lang="en-US" dirty="0" smtClean="0"/>
              <a:t>Data Tools page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 descr="nces_datatool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2590800"/>
            <a:ext cx="4075692" cy="4032076"/>
          </a:xfrm>
          <a:prstGeom prst="rect">
            <a:avLst/>
          </a:prstGeom>
        </p:spPr>
      </p:pic>
      <p:pic>
        <p:nvPicPr>
          <p:cNvPr id="5" name="Picture 4" descr="nces_powerstat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600" y="2667000"/>
            <a:ext cx="4343400" cy="25759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Least appreciated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err="1" smtClean="0"/>
              <a:t>Ferrett</a:t>
            </a:r>
            <a:endParaRPr lang="en-US" dirty="0"/>
          </a:p>
        </p:txBody>
      </p:sp>
      <p:pic>
        <p:nvPicPr>
          <p:cNvPr id="4" name="Picture 3" descr="dataferret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1" y="2699062"/>
            <a:ext cx="4341614" cy="41589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taferret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9199" y="76200"/>
            <a:ext cx="6932415" cy="66407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6400"/>
            <a:ext cx="4040188" cy="4724400"/>
          </a:xfrm>
        </p:spPr>
        <p:txBody>
          <a:bodyPr/>
          <a:lstStyle/>
          <a:p>
            <a:r>
              <a:rPr lang="en-US" dirty="0" smtClean="0"/>
              <a:t>Relatively easy to use </a:t>
            </a:r>
            <a:r>
              <a:rPr lang="en-US" dirty="0" smtClean="0"/>
              <a:t>interface for complex data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Options for mapping, graphing and downloading</a:t>
            </a:r>
          </a:p>
          <a:p>
            <a:endParaRPr lang="en-US" dirty="0" smtClean="0"/>
          </a:p>
          <a:p>
            <a:r>
              <a:rPr lang="en-US" dirty="0" smtClean="0"/>
              <a:t>Good variety of data files  </a:t>
            </a:r>
          </a:p>
          <a:p>
            <a:endParaRPr lang="en-US" dirty="0" smtClean="0"/>
          </a:p>
          <a:p>
            <a:r>
              <a:rPr lang="en-US" dirty="0" smtClean="0"/>
              <a:t>Support for beta is unclear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470181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Picture 8" descr="dataferrett_dat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48200" y="1676400"/>
            <a:ext cx="4169858" cy="472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8013192" cy="1636776"/>
          </a:xfrm>
        </p:spPr>
        <p:txBody>
          <a:bodyPr/>
          <a:lstStyle/>
          <a:p>
            <a:r>
              <a:rPr lang="en-US" dirty="0" smtClean="0"/>
              <a:t>Comments or Questions?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429000" y="2819400"/>
            <a:ext cx="4800600" cy="1524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Lynda </a:t>
            </a:r>
            <a:r>
              <a:rPr lang="en-US" b="1" dirty="0" err="1" smtClean="0">
                <a:solidFill>
                  <a:schemeClr val="tx1"/>
                </a:solidFill>
              </a:rPr>
              <a:t>Kellam</a:t>
            </a:r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Email: lmkellam@uncg.edu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Twitter: @</a:t>
            </a:r>
            <a:r>
              <a:rPr lang="en-US" dirty="0" err="1" smtClean="0">
                <a:solidFill>
                  <a:schemeClr val="tx1"/>
                </a:solidFill>
              </a:rPr>
              <a:t>lyndamk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Gtalk</a:t>
            </a:r>
            <a:r>
              <a:rPr lang="en-US" dirty="0" smtClean="0">
                <a:solidFill>
                  <a:schemeClr val="tx1"/>
                </a:solidFill>
              </a:rPr>
              <a:t>: lyndamk@gmail.com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1136</TotalTime>
  <Words>538</Words>
  <Application>Microsoft Office PowerPoint</Application>
  <PresentationFormat>On-screen Show (4:3)</PresentationFormat>
  <Paragraphs>110</Paragraphs>
  <Slides>31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Module</vt:lpstr>
      <vt:lpstr>America’s Most Wanted</vt:lpstr>
      <vt:lpstr>Overview of session</vt:lpstr>
      <vt:lpstr>Newest kid on the block</vt:lpstr>
      <vt:lpstr>Slide 4</vt:lpstr>
      <vt:lpstr>What are some major features?</vt:lpstr>
      <vt:lpstr>Slide 6</vt:lpstr>
      <vt:lpstr>New features</vt:lpstr>
      <vt:lpstr>Slide 8</vt:lpstr>
      <vt:lpstr>Uses and Areas for Improvement</vt:lpstr>
      <vt:lpstr>Trendsetter</vt:lpstr>
      <vt:lpstr>Slide 11</vt:lpstr>
      <vt:lpstr>What are the major features?</vt:lpstr>
      <vt:lpstr>geodata.gov search screen</vt:lpstr>
      <vt:lpstr>Search results</vt:lpstr>
      <vt:lpstr>Uses and Areas for Improvement</vt:lpstr>
      <vt:lpstr>Most in need of an extreme makeover</vt:lpstr>
      <vt:lpstr>Slide 17</vt:lpstr>
      <vt:lpstr>Features to come!</vt:lpstr>
      <vt:lpstr>Data to come!</vt:lpstr>
      <vt:lpstr>Most improved</vt:lpstr>
      <vt:lpstr>Slide 21</vt:lpstr>
      <vt:lpstr>Slide 22</vt:lpstr>
      <vt:lpstr>Other features</vt:lpstr>
      <vt:lpstr>BLS Labs</vt:lpstr>
      <vt:lpstr>Old Standby</vt:lpstr>
      <vt:lpstr>Slide 26</vt:lpstr>
      <vt:lpstr>Features </vt:lpstr>
      <vt:lpstr>Least appreciated</vt:lpstr>
      <vt:lpstr>Slide 29</vt:lpstr>
      <vt:lpstr>Features</vt:lpstr>
      <vt:lpstr>Comments or Questions?</vt:lpstr>
    </vt:vector>
  </TitlesOfParts>
  <Company>UNCG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America’s Most Wanted</dc:title>
  <dc:creator>lmkellam</dc:creator>
  <cp:lastModifiedBy>lmkellam</cp:lastModifiedBy>
  <cp:revision>15</cp:revision>
  <dcterms:created xsi:type="dcterms:W3CDTF">2010-11-03T13:50:08Z</dcterms:created>
  <dcterms:modified xsi:type="dcterms:W3CDTF">2010-11-05T16:23:53Z</dcterms:modified>
</cp:coreProperties>
</file>