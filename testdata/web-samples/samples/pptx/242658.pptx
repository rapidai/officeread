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emf" ContentType="image/x-emf"/>
  <Default Extension="xls" ContentType="application/vnd.ms-exce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62" r:id="rId1"/>
  </p:sldMasterIdLst>
  <p:notesMasterIdLst>
    <p:notesMasterId r:id="rId24"/>
  </p:notesMasterIdLst>
  <p:sldIdLst>
    <p:sldId id="256" r:id="rId2"/>
    <p:sldId id="305" r:id="rId3"/>
    <p:sldId id="336" r:id="rId4"/>
    <p:sldId id="318" r:id="rId5"/>
    <p:sldId id="259" r:id="rId6"/>
    <p:sldId id="321" r:id="rId7"/>
    <p:sldId id="316" r:id="rId8"/>
    <p:sldId id="319" r:id="rId9"/>
    <p:sldId id="326" r:id="rId10"/>
    <p:sldId id="292" r:id="rId11"/>
    <p:sldId id="323" r:id="rId12"/>
    <p:sldId id="325" r:id="rId13"/>
    <p:sldId id="327" r:id="rId14"/>
    <p:sldId id="334" r:id="rId15"/>
    <p:sldId id="328" r:id="rId16"/>
    <p:sldId id="294" r:id="rId17"/>
    <p:sldId id="295" r:id="rId18"/>
    <p:sldId id="296" r:id="rId19"/>
    <p:sldId id="297" r:id="rId20"/>
    <p:sldId id="298" r:id="rId21"/>
    <p:sldId id="300" r:id="rId22"/>
    <p:sldId id="335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490" autoAdjust="0"/>
    <p:restoredTop sz="94704" autoAdjust="0"/>
  </p:normalViewPr>
  <p:slideViewPr>
    <p:cSldViewPr>
      <p:cViewPr varScale="1">
        <p:scale>
          <a:sx n="102" d="100"/>
          <a:sy n="102" d="100"/>
        </p:scale>
        <p:origin x="-23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36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974C4-B9C0-4708-A1BB-BABAB205F3F5}" type="datetimeFigureOut">
              <a:rPr lang="en-US" smtClean="0"/>
              <a:pPr/>
              <a:t>10/21/2007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0A23EA-0189-43F6-A438-2805153142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EE90F0-CC6D-4D73-8E9B-143E8E0E592E}" type="slidenum">
              <a:rPr lang="en-US"/>
              <a:pPr/>
              <a:t>6</a:t>
            </a:fld>
            <a:endParaRPr lang="en-US"/>
          </a:p>
        </p:txBody>
      </p:sp>
      <p:sp>
        <p:nvSpPr>
          <p:cNvPr id="4" name="Shape 3"/>
          <p:cNvSpPr txBox="1">
            <a:spLocks noGrp="1" noChangeArrowheads="1"/>
          </p:cNvSpPr>
          <p:nvPr/>
        </p:nvSpPr>
        <p:spPr bwMode="auto">
          <a:xfrm>
            <a:off x="3884027" y="0"/>
            <a:ext cx="2972421" cy="45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5" tIns="45718" rIns="91435" bIns="45718"/>
          <a:lstStyle/>
          <a:p>
            <a:pPr algn="r" defTabSz="914437"/>
            <a:fld id="{0C2628F4-0E47-4BA3-B977-308EE39D3617}" type="datetime8">
              <a:rPr lang="en-US" sz="1200">
                <a:latin typeface="Times New Roman" pitchFamily="18" charset="0"/>
              </a:rPr>
              <a:pPr algn="r" defTabSz="914437"/>
              <a:t>10/21/2007 12:06 PM</a:t>
            </a:fld>
            <a:endParaRPr lang="en-US" sz="1200" dirty="0">
              <a:latin typeface="Times New Roman" pitchFamily="18" charset="0"/>
            </a:endParaRPr>
          </a:p>
        </p:txBody>
      </p:sp>
      <p:sp>
        <p:nvSpPr>
          <p:cNvPr id="5" name="Shape 4"/>
          <p:cNvSpPr txBox="1">
            <a:spLocks noGrp="1" noChangeArrowheads="1"/>
          </p:cNvSpPr>
          <p:nvPr/>
        </p:nvSpPr>
        <p:spPr bwMode="auto">
          <a:xfrm>
            <a:off x="5582996" y="8684926"/>
            <a:ext cx="1273451" cy="45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5" tIns="45718" rIns="91435" bIns="45718" anchor="b"/>
          <a:lstStyle/>
          <a:p>
            <a:pPr algn="r" defTabSz="914437"/>
            <a:fld id="{65265E9C-6746-4EDA-BA99-A084C31AA315}" type="slidenum">
              <a:rPr lang="en-US" sz="1200">
                <a:latin typeface="Times New Roman" pitchFamily="18" charset="0"/>
              </a:rPr>
              <a:pPr algn="r" defTabSz="914437"/>
              <a:t>6</a:t>
            </a:fld>
            <a:endParaRPr lang="en-US" sz="1200" dirty="0">
              <a:latin typeface="Times New Roman" pitchFamily="18" charset="0"/>
            </a:endParaRPr>
          </a:p>
        </p:txBody>
      </p:sp>
      <p:sp>
        <p:nvSpPr>
          <p:cNvPr id="6" name="Shape 5"/>
          <p:cNvSpPr txBox="1">
            <a:spLocks noGrp="1" noChangeArrowheads="1"/>
          </p:cNvSpPr>
          <p:nvPr/>
        </p:nvSpPr>
        <p:spPr bwMode="auto">
          <a:xfrm>
            <a:off x="0" y="8791107"/>
            <a:ext cx="5666858" cy="351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5" tIns="45718" rIns="91435" bIns="45718" anchor="b"/>
          <a:lstStyle/>
          <a:p>
            <a:pPr defTabSz="914437"/>
            <a:r>
              <a:rPr lang="en-US" sz="800" dirty="0">
                <a:latin typeface="Segoe"/>
                <a:cs typeface="Arial" pitchFamily="34" charset="0"/>
              </a:rPr>
              <a:t>Microsoft Confidential© 2004 Microsoft Corporation. All rights reserved.</a:t>
            </a:r>
          </a:p>
          <a:p>
            <a:pPr defTabSz="914437"/>
            <a:r>
              <a:rPr lang="en-US" sz="800" dirty="0">
                <a:latin typeface="Segoe"/>
                <a:cs typeface="Arial" pitchFamily="34" charset="0"/>
              </a:rPr>
              <a:t>This presentation is for informational purposes only. Microsoft makes no warranties, express or implied, in this summary.</a:t>
            </a:r>
          </a:p>
        </p:txBody>
      </p:sp>
      <p:sp>
        <p:nvSpPr>
          <p:cNvPr id="21509" name="Rectangle 464897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464899" name="Rectangle 464898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435" tIns="45718" rIns="91435" bIns="45718"/>
          <a:lstStyle/>
          <a:p>
            <a:r>
              <a:rPr lang="en-US" dirty="0" smtClean="0"/>
              <a:t>Example science questions</a:t>
            </a:r>
          </a:p>
          <a:p>
            <a:endParaRPr lang="en-US" dirty="0" smtClean="0"/>
          </a:p>
          <a:p>
            <a:r>
              <a:rPr lang="en-US" dirty="0" smtClean="0"/>
              <a:t>Net carbon exchange for the ecosystem</a:t>
            </a:r>
          </a:p>
          <a:p>
            <a:r>
              <a:rPr lang="en-US" dirty="0" smtClean="0"/>
              <a:t>Impact of climate change on the greening of ecosystems</a:t>
            </a:r>
          </a:p>
          <a:p>
            <a:pPr lvl="1"/>
            <a:r>
              <a:rPr lang="en-US" dirty="0" smtClean="0"/>
              <a:t>Start of leaf growth</a:t>
            </a:r>
          </a:p>
          <a:p>
            <a:pPr lvl="1"/>
            <a:r>
              <a:rPr lang="en-US" dirty="0" smtClean="0"/>
              <a:t>Duration of photosynthesis</a:t>
            </a:r>
          </a:p>
          <a:p>
            <a:r>
              <a:rPr lang="en-US" dirty="0" smtClean="0"/>
              <a:t>Effects of early spring on carbon uptake</a:t>
            </a:r>
          </a:p>
          <a:p>
            <a:r>
              <a:rPr lang="en-US" dirty="0" smtClean="0"/>
              <a:t>Role of ecosystem and latitude on carbon flux</a:t>
            </a:r>
          </a:p>
          <a:p>
            <a:r>
              <a:rPr lang="en-US" dirty="0" smtClean="0"/>
              <a:t>Effect of various pollution sources on carbon in atmosphere and carbon balance</a:t>
            </a:r>
          </a:p>
          <a:p>
            <a:endParaRPr lang="en-US" dirty="0" smtClean="0"/>
          </a:p>
          <a:p>
            <a:r>
              <a:rPr lang="en-US" dirty="0" smtClean="0"/>
              <a:t>Measurements are not easy to make</a:t>
            </a:r>
          </a:p>
          <a:p>
            <a:r>
              <a:rPr lang="en-US" dirty="0" smtClean="0"/>
              <a:t>Birds poop on automated sensors/instruments</a:t>
            </a:r>
          </a:p>
          <a:p>
            <a:r>
              <a:rPr lang="en-US" dirty="0" smtClean="0"/>
              <a:t>Many</a:t>
            </a:r>
            <a:r>
              <a:rPr lang="en-US" baseline="0" dirty="0" smtClean="0"/>
              <a:t> manual steps in the field (no sensor will help soon)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A23EA-0189-43F6-A438-28051531424A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Above is </a:t>
            </a:r>
            <a:r>
              <a:rPr lang="en-US" dirty="0" err="1" smtClean="0"/>
              <a:t>mashup</a:t>
            </a:r>
            <a:r>
              <a:rPr lang="en-US" dirty="0" smtClean="0"/>
              <a:t> of http://www.fluxdata.org</a:t>
            </a:r>
            <a:r>
              <a:rPr lang="en-US" baseline="0" dirty="0" smtClean="0"/>
              <a:t>/    Follow the dataset </a:t>
            </a:r>
            <a:r>
              <a:rPr lang="en-US" baseline="0" smtClean="0"/>
              <a:t>information link.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B827D-2C2C-4AA7-BD44-C30AC59E1368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2"/>
            <a:r>
              <a:rPr lang="en-US" dirty="0" smtClean="0"/>
              <a:t>Upper graph shows error processing sites with daily rather than half-hourly precipitation</a:t>
            </a:r>
          </a:p>
          <a:p>
            <a:pPr lvl="2"/>
            <a:r>
              <a:rPr lang="en-US" dirty="0" smtClean="0"/>
              <a:t>Lower graph shows error in time axis reporting (navy series)</a:t>
            </a:r>
          </a:p>
          <a:p>
            <a:pPr lvl="2"/>
            <a:r>
              <a:rPr lang="en-US" dirty="0" smtClean="0"/>
              <a:t>Left</a:t>
            </a:r>
            <a:r>
              <a:rPr lang="en-US" baseline="0" dirty="0" smtClean="0"/>
              <a:t> lower graph shows bad instrumentation – data is too “discrete” or quantized. Shouldn’t have so many common data values. 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B827D-2C2C-4AA7-BD44-C30AC59E1368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C5843B7-87F3-463E-B13C-09CA84B39FC1}" type="datetimeFigureOut">
              <a:rPr lang="en-US" smtClean="0"/>
              <a:pPr/>
              <a:t>10/21/2007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E2EE9C7-D9DA-444E-876E-439A9C427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5843B7-87F3-463E-B13C-09CA84B39FC1}" type="datetimeFigureOut">
              <a:rPr lang="en-US" smtClean="0"/>
              <a:pPr/>
              <a:t>10/21/2007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E2EE9C7-D9DA-444E-876E-439A9C4275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5843B7-87F3-463E-B13C-09CA84B39FC1}" type="datetimeFigureOut">
              <a:rPr lang="en-US" smtClean="0"/>
              <a:pPr/>
              <a:t>10/21/2007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E2EE9C7-D9DA-444E-876E-439A9C4275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5843B7-87F3-463E-B13C-09CA84B39FC1}" type="datetimeFigureOut">
              <a:rPr lang="en-US" smtClean="0"/>
              <a:pPr/>
              <a:t>10/21/2007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E2EE9C7-D9DA-444E-876E-439A9C4275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5843B7-87F3-463E-B13C-09CA84B39FC1}" type="datetimeFigureOut">
              <a:rPr lang="en-US" smtClean="0"/>
              <a:pPr/>
              <a:t>10/21/2007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E2EE9C7-D9DA-444E-876E-439A9C427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5843B7-87F3-463E-B13C-09CA84B39FC1}" type="datetimeFigureOut">
              <a:rPr lang="en-US" smtClean="0"/>
              <a:pPr/>
              <a:t>10/21/2007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E2EE9C7-D9DA-444E-876E-439A9C4275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5843B7-87F3-463E-B13C-09CA84B39FC1}" type="datetimeFigureOut">
              <a:rPr lang="en-US" smtClean="0"/>
              <a:pPr/>
              <a:t>10/21/2007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E2EE9C7-D9DA-444E-876E-439A9C427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9C5843B7-87F3-463E-B13C-09CA84B39FC1}" type="datetimeFigureOut">
              <a:rPr lang="en-US" smtClean="0"/>
              <a:pPr/>
              <a:t>10/21/2007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E2EE9C7-D9DA-444E-876E-439A9C427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C5843B7-87F3-463E-B13C-09CA84B39FC1}" type="datetimeFigureOut">
              <a:rPr lang="en-US" smtClean="0"/>
              <a:pPr/>
              <a:t>10/21/2007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E2EE9C7-D9DA-444E-876E-439A9C4275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5843B7-87F3-463E-B13C-09CA84B39FC1}" type="datetimeFigureOut">
              <a:rPr lang="en-US" smtClean="0"/>
              <a:pPr/>
              <a:t>10/21/2007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E2EE9C7-D9DA-444E-876E-439A9C427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5843B7-87F3-463E-B13C-09CA84B39FC1}" type="datetimeFigureOut">
              <a:rPr lang="en-US" smtClean="0"/>
              <a:pPr/>
              <a:t>10/21/2007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E2EE9C7-D9DA-444E-876E-439A9C427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7467600" cy="63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193800"/>
            <a:ext cx="3803650" cy="5130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89450" y="1193800"/>
            <a:ext cx="3803650" cy="5130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9C5843B7-87F3-463E-B13C-09CA84B39FC1}" type="datetimeFigureOut">
              <a:rPr lang="en-US" smtClean="0"/>
              <a:pPr/>
              <a:t>10/21/2007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5E2EE9C7-D9DA-444E-876E-439A9C427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63" r:id="rId1"/>
    <p:sldLayoutId id="2147484364" r:id="rId2"/>
    <p:sldLayoutId id="2147484365" r:id="rId3"/>
    <p:sldLayoutId id="2147484366" r:id="rId4"/>
    <p:sldLayoutId id="2147484367" r:id="rId5"/>
    <p:sldLayoutId id="2147484368" r:id="rId6"/>
    <p:sldLayoutId id="2147484369" r:id="rId7"/>
    <p:sldLayoutId id="2147484370" r:id="rId8"/>
    <p:sldLayoutId id="2147484371" r:id="rId9"/>
    <p:sldLayoutId id="2147484372" r:id="rId10"/>
    <p:sldLayoutId id="2147484373" r:id="rId11"/>
    <p:sldLayoutId id="2147484374" r:id="rId12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gif"/><Relationship Id="rId4" Type="http://schemas.openxmlformats.org/officeDocument/2006/relationships/hyperlink" Target="http://gaia.agraria.unitus.it/cpz/index3.asp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Microsoft_Office_Excel_97-2003_Worksheet1.xls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Data Cubes </a:t>
            </a:r>
            <a:r>
              <a:rPr lang="en-US" dirty="0" smtClean="0"/>
              <a:t>for Eco-Science </a:t>
            </a:r>
            <a:br>
              <a:rPr lang="en-US" dirty="0" smtClean="0"/>
            </a:br>
            <a:r>
              <a:rPr lang="en-US" dirty="0" smtClean="0"/>
              <a:t>Can One Size Fit All? 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Deborah </a:t>
            </a:r>
            <a:r>
              <a:rPr lang="en-US" dirty="0" err="1" smtClean="0"/>
              <a:t>Agarwal</a:t>
            </a:r>
            <a:r>
              <a:rPr lang="en-US" dirty="0" smtClean="0"/>
              <a:t> (UCB/LBL) </a:t>
            </a:r>
          </a:p>
          <a:p>
            <a:r>
              <a:rPr lang="en-US" dirty="0" smtClean="0"/>
              <a:t>Catharine van Ingen (MSR)</a:t>
            </a:r>
          </a:p>
          <a:p>
            <a:r>
              <a:rPr lang="en-US" dirty="0" smtClean="0"/>
              <a:t>Berkeley Water Center</a:t>
            </a:r>
          </a:p>
          <a:p>
            <a:r>
              <a:rPr lang="en-US" dirty="0" smtClean="0"/>
              <a:t>22 October 2007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57912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Over the past year, we’ve been experimenting using data cubes  to support carbon-climate, hydrology, and other eco-scientists</a:t>
            </a:r>
          </a:p>
          <a:p>
            <a:pPr lvl="1"/>
            <a:r>
              <a:rPr lang="en-US" dirty="0" smtClean="0"/>
              <a:t>While the science differs, the data sets have much in common</a:t>
            </a:r>
          </a:p>
          <a:p>
            <a:pPr lvl="1"/>
            <a:r>
              <a:rPr lang="en-US" dirty="0" smtClean="0"/>
              <a:t>The cube is a useful tool in the data analysis pipeline</a:t>
            </a:r>
          </a:p>
          <a:p>
            <a:r>
              <a:rPr lang="en-US" dirty="0" smtClean="0"/>
              <a:t>Along the way, we’ve wondered how to build toward a “My Cube” service</a:t>
            </a:r>
          </a:p>
          <a:p>
            <a:pPr lvl="1"/>
            <a:r>
              <a:rPr lang="en-US" dirty="0" smtClean="0"/>
              <a:t>Empower the scientist to build a custom cube for a specific analysis</a:t>
            </a:r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00800" y="1143000"/>
            <a:ext cx="2474547" cy="4640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5562600" y="6019800"/>
            <a:ext cx="3300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http</a:t>
            </a:r>
            <a:r>
              <a:rPr lang="en-US" dirty="0" smtClean="0"/>
              <a:t>://bwc.berkeley.edu</a:t>
            </a:r>
            <a:r>
              <a:rPr lang="en-US" dirty="0" smtClean="0"/>
              <a:t>/</a:t>
            </a:r>
          </a:p>
          <a:p>
            <a:r>
              <a:rPr lang="en-US" dirty="0" smtClean="0"/>
              <a:t>http://www.fluxdata.org/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Data Cube Basics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half" idx="1"/>
          </p:nvPr>
        </p:nvSpPr>
        <p:spPr>
          <a:xfrm>
            <a:off x="533400" y="1193800"/>
            <a:ext cx="4800600" cy="51308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sz="1700" dirty="0" smtClean="0"/>
              <a:t>A data cube is a database specifically for data mining (OLAP)</a:t>
            </a:r>
          </a:p>
          <a:p>
            <a:pPr lvl="1">
              <a:lnSpc>
                <a:spcPct val="80000"/>
              </a:lnSpc>
            </a:pPr>
            <a:r>
              <a:rPr lang="en-US" sz="1700" dirty="0" smtClean="0"/>
              <a:t>Initially developed for commercial needs like tracking sales of Oreos and milk</a:t>
            </a:r>
          </a:p>
          <a:p>
            <a:pPr lvl="1">
              <a:lnSpc>
                <a:spcPct val="80000"/>
              </a:lnSpc>
            </a:pPr>
            <a:r>
              <a:rPr lang="en-US" sz="1700" dirty="0" smtClean="0"/>
              <a:t>Simple </a:t>
            </a:r>
            <a:r>
              <a:rPr lang="en-US" sz="1700" i="1" dirty="0" smtClean="0"/>
              <a:t>aggregations</a:t>
            </a:r>
            <a:r>
              <a:rPr lang="en-US" sz="1700" dirty="0" smtClean="0"/>
              <a:t> (sum, min, or max) can be pre-computed for speed</a:t>
            </a:r>
          </a:p>
          <a:p>
            <a:pPr lvl="1">
              <a:lnSpc>
                <a:spcPct val="80000"/>
              </a:lnSpc>
            </a:pPr>
            <a:r>
              <a:rPr lang="en-US" sz="1700" i="1" dirty="0" smtClean="0"/>
              <a:t>Hierarchies</a:t>
            </a:r>
            <a:r>
              <a:rPr lang="en-US" sz="1700" dirty="0" smtClean="0"/>
              <a:t> for simple filtering with drilldown capability</a:t>
            </a:r>
          </a:p>
          <a:p>
            <a:pPr lvl="1">
              <a:lnSpc>
                <a:spcPct val="80000"/>
              </a:lnSpc>
            </a:pPr>
            <a:r>
              <a:rPr lang="en-US" sz="1700" dirty="0" smtClean="0"/>
              <a:t>Additional </a:t>
            </a:r>
            <a:r>
              <a:rPr lang="en-US" sz="1700" i="1" dirty="0" smtClean="0"/>
              <a:t>calculations</a:t>
            </a:r>
            <a:r>
              <a:rPr lang="en-US" sz="1700" dirty="0" smtClean="0"/>
              <a:t> (median) can be computed dynamically or pre-computed</a:t>
            </a:r>
          </a:p>
          <a:p>
            <a:pPr lvl="1">
              <a:lnSpc>
                <a:spcPct val="80000"/>
              </a:lnSpc>
            </a:pPr>
            <a:r>
              <a:rPr lang="en-US" sz="1700" dirty="0" smtClean="0"/>
              <a:t>All operate along </a:t>
            </a:r>
            <a:r>
              <a:rPr lang="en-US" sz="1700" i="1" dirty="0" smtClean="0"/>
              <a:t>dimensions</a:t>
            </a:r>
            <a:r>
              <a:rPr lang="en-US" sz="1700" dirty="0" smtClean="0"/>
              <a:t> such as time, site, or </a:t>
            </a:r>
            <a:r>
              <a:rPr lang="en-US" sz="1700" dirty="0" err="1" smtClean="0"/>
              <a:t>datumtype</a:t>
            </a:r>
            <a:r>
              <a:rPr lang="en-US" sz="1700" dirty="0" smtClean="0"/>
              <a:t> </a:t>
            </a:r>
          </a:p>
          <a:p>
            <a:pPr lvl="1">
              <a:lnSpc>
                <a:spcPct val="80000"/>
              </a:lnSpc>
            </a:pPr>
            <a:r>
              <a:rPr lang="en-US" sz="1700" dirty="0" smtClean="0"/>
              <a:t>Constructed from a relational database</a:t>
            </a:r>
          </a:p>
          <a:p>
            <a:pPr lvl="1">
              <a:lnSpc>
                <a:spcPct val="80000"/>
              </a:lnSpc>
            </a:pPr>
            <a:r>
              <a:rPr lang="en-US" sz="1700" dirty="0" smtClean="0"/>
              <a:t>A specialized query language (MDX) is used</a:t>
            </a:r>
          </a:p>
          <a:p>
            <a:pPr>
              <a:lnSpc>
                <a:spcPct val="80000"/>
              </a:lnSpc>
            </a:pPr>
            <a:r>
              <a:rPr lang="en-US" sz="1700" dirty="0" smtClean="0"/>
              <a:t>Client tool integration is evolving</a:t>
            </a:r>
          </a:p>
          <a:p>
            <a:pPr lvl="1">
              <a:lnSpc>
                <a:spcPct val="80000"/>
              </a:lnSpc>
            </a:pPr>
            <a:r>
              <a:rPr lang="en-US" sz="1700" dirty="0" smtClean="0"/>
              <a:t>Excel PivotTables allow simple data viewing</a:t>
            </a:r>
          </a:p>
          <a:p>
            <a:pPr lvl="1">
              <a:lnSpc>
                <a:spcPct val="80000"/>
              </a:lnSpc>
            </a:pPr>
            <a:r>
              <a:rPr lang="en-US" sz="1700" dirty="0" smtClean="0"/>
              <a:t>More powerful analysis and plotting using </a:t>
            </a:r>
            <a:r>
              <a:rPr lang="en-US" sz="1700" dirty="0" err="1" smtClean="0"/>
              <a:t>Matlab</a:t>
            </a:r>
            <a:r>
              <a:rPr lang="en-US" sz="1700" dirty="0" smtClean="0"/>
              <a:t> and statistics software</a:t>
            </a:r>
            <a:r>
              <a:rPr lang="en-US" sz="1500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34680" y="228600"/>
            <a:ext cx="2262858" cy="1782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0200" y="2057400"/>
            <a:ext cx="3111818" cy="2054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86400" y="4267200"/>
            <a:ext cx="323134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5410200" y="6477000"/>
            <a:ext cx="3581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tx2"/>
                </a:solidFill>
              </a:rPr>
              <a:t>Daily </a:t>
            </a:r>
            <a:r>
              <a:rPr lang="en-US" sz="1200" b="1" dirty="0" err="1" smtClean="0">
                <a:solidFill>
                  <a:schemeClr val="tx2"/>
                </a:solidFill>
              </a:rPr>
              <a:t>Rg</a:t>
            </a:r>
            <a:r>
              <a:rPr lang="en-US" sz="1200" b="1" dirty="0" smtClean="0">
                <a:solidFill>
                  <a:schemeClr val="tx2"/>
                </a:solidFill>
              </a:rPr>
              <a:t>  2000-2005 72 sites, 276 site-years</a:t>
            </a:r>
            <a:endParaRPr lang="en-US" sz="12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Eco-Science Data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 we start with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91000" y="1481329"/>
            <a:ext cx="4495800" cy="2176271"/>
          </a:xfrm>
        </p:spPr>
        <p:txBody>
          <a:bodyPr>
            <a:normAutofit/>
          </a:bodyPr>
          <a:lstStyle/>
          <a:p>
            <a:r>
              <a:rPr lang="en-US" sz="2500" dirty="0" smtClean="0"/>
              <a:t>The era of remote sensing, cheap ground-based sensors and web service access to agency repositories is here</a:t>
            </a:r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Ecological Data </a:t>
            </a:r>
            <a:r>
              <a:rPr lang="en-US" dirty="0" smtClean="0"/>
              <a:t>Avalanche/Landslide/Tsunami</a:t>
            </a:r>
            <a:endParaRPr lang="en-US" dirty="0"/>
          </a:p>
        </p:txBody>
      </p:sp>
      <p:pic>
        <p:nvPicPr>
          <p:cNvPr id="4" name="Picture 5" descr="Japanese print of the six blind men and the elephant parab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57800" y="3886200"/>
            <a:ext cx="3413760" cy="2499360"/>
          </a:xfrm>
          <a:prstGeom prst="rect">
            <a:avLst/>
          </a:prstGeom>
          <a:noFill/>
        </p:spPr>
      </p:pic>
      <p:sp>
        <p:nvSpPr>
          <p:cNvPr id="5" name="Content Placeholder 1"/>
          <p:cNvSpPr txBox="1">
            <a:spLocks/>
          </p:cNvSpPr>
          <p:nvPr/>
        </p:nvSpPr>
        <p:spPr>
          <a:xfrm>
            <a:off x="228600" y="3733800"/>
            <a:ext cx="5029200" cy="2819399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lang="en-US" sz="2500" dirty="0" smtClean="0"/>
              <a:t>Extracting and deriving </a:t>
            </a:r>
            <a:r>
              <a:rPr kumimoji="0" lang="en-US" sz="2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</a:t>
            </a:r>
            <a:r>
              <a:rPr lang="en-US" sz="2500" dirty="0" smtClean="0"/>
              <a:t>data needed for the science remains problematic </a:t>
            </a:r>
          </a:p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500" dirty="0" smtClean="0"/>
              <a:t>Specialized knowledge</a:t>
            </a:r>
          </a:p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500" dirty="0" smtClean="0"/>
              <a:t>Finding the right needle in the haystack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endParaRPr kumimoji="0" lang="en-US" sz="27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endParaRPr kumimoji="0" lang="en-US" sz="27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6" name="Group 11"/>
          <p:cNvGrpSpPr>
            <a:grpSpLocks noChangeAspect="1"/>
          </p:cNvGrpSpPr>
          <p:nvPr/>
        </p:nvGrpSpPr>
        <p:grpSpPr bwMode="auto">
          <a:xfrm>
            <a:off x="685800" y="1371600"/>
            <a:ext cx="3922776" cy="2414715"/>
            <a:chOff x="144" y="745"/>
            <a:chExt cx="5616" cy="3457"/>
          </a:xfrm>
        </p:grpSpPr>
        <p:pic>
          <p:nvPicPr>
            <p:cNvPr id="7" name="Picture 8" descr="lter-web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832" y="816"/>
              <a:ext cx="2928" cy="1821"/>
            </a:xfrm>
            <a:prstGeom prst="rect">
              <a:avLst/>
            </a:prstGeom>
            <a:noFill/>
          </p:spPr>
        </p:pic>
        <p:pic>
          <p:nvPicPr>
            <p:cNvPr id="8" name="Picture 4" descr="climate-web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784" y="2448"/>
              <a:ext cx="2976" cy="1754"/>
            </a:xfrm>
            <a:prstGeom prst="rect">
              <a:avLst/>
            </a:prstGeom>
            <a:noFill/>
          </p:spPr>
        </p:pic>
        <p:grpSp>
          <p:nvGrpSpPr>
            <p:cNvPr id="9" name="Group 10"/>
            <p:cNvGrpSpPr>
              <a:grpSpLocks/>
            </p:cNvGrpSpPr>
            <p:nvPr/>
          </p:nvGrpSpPr>
          <p:grpSpPr bwMode="auto">
            <a:xfrm>
              <a:off x="144" y="745"/>
              <a:ext cx="4080" cy="3335"/>
              <a:chOff x="144" y="864"/>
              <a:chExt cx="4080" cy="3335"/>
            </a:xfrm>
          </p:grpSpPr>
          <p:pic>
            <p:nvPicPr>
              <p:cNvPr id="10" name="Picture 5" descr="Ameriflux-web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192" y="864"/>
                <a:ext cx="2700" cy="1700"/>
              </a:xfrm>
              <a:prstGeom prst="rect">
                <a:avLst/>
              </a:prstGeom>
              <a:noFill/>
            </p:spPr>
          </p:pic>
          <p:pic>
            <p:nvPicPr>
              <p:cNvPr id="11" name="Picture 6" descr="cuahsi-his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056" y="1392"/>
                <a:ext cx="3168" cy="1907"/>
              </a:xfrm>
              <a:prstGeom prst="rect">
                <a:avLst/>
              </a:prstGeom>
              <a:noFill/>
            </p:spPr>
          </p:pic>
          <p:pic>
            <p:nvPicPr>
              <p:cNvPr id="12" name="Picture 7" descr="NOAA-hydro-info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144" y="2688"/>
                <a:ext cx="2256" cy="1330"/>
              </a:xfrm>
              <a:prstGeom prst="rect">
                <a:avLst/>
              </a:prstGeom>
              <a:noFill/>
            </p:spPr>
          </p:pic>
          <p:pic>
            <p:nvPicPr>
              <p:cNvPr id="13" name="Picture 9" descr="modis-web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1632" y="2640"/>
                <a:ext cx="2169" cy="1559"/>
              </a:xfrm>
              <a:prstGeom prst="rect">
                <a:avLst/>
              </a:prstGeom>
              <a:noFill/>
            </p:spPr>
          </p:pic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5"/>
          <p:cNvSpPr txBox="1">
            <a:spLocks noGrp="1"/>
          </p:cNvSpPr>
          <p:nvPr/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algn="r" eaLnBrk="1" hangingPunct="1"/>
            <a:fld id="{65D12A2A-AE28-4940-A656-C82FA67DF1F9}" type="slidenum">
              <a:rPr lang="en-US" sz="1200">
                <a:solidFill>
                  <a:srgbClr val="045C75"/>
                </a:solidFill>
                <a:latin typeface="Constantia" pitchFamily="18" charset="0"/>
              </a:rPr>
              <a:pPr algn="r" eaLnBrk="1" hangingPunct="1"/>
              <a:t>6</a:t>
            </a:fld>
            <a:endParaRPr lang="en-US" sz="1200">
              <a:solidFill>
                <a:srgbClr val="045C75"/>
              </a:solidFill>
              <a:latin typeface="Constantia" pitchFamily="18" charset="0"/>
            </a:endParaRPr>
          </a:p>
        </p:txBody>
      </p:sp>
      <p:sp>
        <p:nvSpPr>
          <p:cNvPr id="463876" name="Title 463875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28600"/>
            <a:ext cx="8229600" cy="1143000"/>
          </a:xfrm>
        </p:spPr>
        <p:txBody>
          <a:bodyPr lIns="0" rIns="0" bIns="0" anchor="t">
            <a:normAutofit fontScale="90000"/>
          </a:bodyPr>
          <a:lstStyle/>
          <a:p>
            <a:r>
              <a:rPr lang="en-US" sz="4000" dirty="0" smtClean="0"/>
              <a:t>Carbon-Climate Research Overview</a:t>
            </a:r>
            <a:endParaRPr lang="en-US" sz="4000" dirty="0"/>
          </a:p>
        </p:txBody>
      </p:sp>
      <p:sp>
        <p:nvSpPr>
          <p:cNvPr id="463877" name="Text Placeholder 463876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143000"/>
            <a:ext cx="5181600" cy="4953000"/>
          </a:xfrm>
        </p:spPr>
        <p:txBody>
          <a:bodyPr>
            <a:normAutofit fontScale="92500" lnSpcReduction="10000"/>
          </a:bodyPr>
          <a:lstStyle/>
          <a:p>
            <a:pPr marL="273050" indent="-273050">
              <a:lnSpc>
                <a:spcPct val="80000"/>
              </a:lnSpc>
            </a:pPr>
            <a:r>
              <a:rPr lang="en-US" sz="1900" dirty="0" smtClean="0"/>
              <a:t>What is the role of photosynthesis in global warming? </a:t>
            </a:r>
          </a:p>
          <a:p>
            <a:pPr marL="673100" lvl="1" indent="-273050">
              <a:lnSpc>
                <a:spcPct val="80000"/>
              </a:lnSpc>
            </a:pPr>
            <a:r>
              <a:rPr lang="en-US" sz="1700" dirty="0" smtClean="0"/>
              <a:t>Measurements of Co2 in the atmosphere show 16-20% less than emissions estimates predict</a:t>
            </a:r>
          </a:p>
          <a:p>
            <a:pPr marL="673100" lvl="1" indent="-273050">
              <a:lnSpc>
                <a:spcPct val="80000"/>
              </a:lnSpc>
            </a:pPr>
            <a:r>
              <a:rPr lang="en-US" sz="1700" dirty="0" smtClean="0"/>
              <a:t>Do plants absorb more than we expect? </a:t>
            </a:r>
            <a:endParaRPr lang="en-US" sz="1700" dirty="0"/>
          </a:p>
          <a:p>
            <a:pPr marL="273050" indent="-273050">
              <a:lnSpc>
                <a:spcPct val="80000"/>
              </a:lnSpc>
            </a:pPr>
            <a:r>
              <a:rPr lang="en-US" sz="1900" dirty="0" smtClean="0"/>
              <a:t>Communal field science – each principle investigator acts independently to prepare and publish data. </a:t>
            </a:r>
          </a:p>
          <a:p>
            <a:pPr marL="273050" indent="-273050">
              <a:lnSpc>
                <a:spcPct val="80000"/>
              </a:lnSpc>
            </a:pPr>
            <a:r>
              <a:rPr lang="en-US" sz="1900" dirty="0" smtClean="0"/>
              <a:t>496 sites world wide organized into 13 networks plus some unaffiliated sites</a:t>
            </a:r>
          </a:p>
          <a:p>
            <a:pPr marL="673100" lvl="1" indent="-273050">
              <a:lnSpc>
                <a:spcPct val="80000"/>
              </a:lnSpc>
            </a:pPr>
            <a:r>
              <a:rPr lang="en-US" sz="1700" dirty="0" err="1" smtClean="0"/>
              <a:t>AmeriFlux</a:t>
            </a:r>
            <a:r>
              <a:rPr lang="en-US" sz="1700" dirty="0" smtClean="0"/>
              <a:t>: 149 </a:t>
            </a:r>
            <a:r>
              <a:rPr lang="en-US" sz="1700" dirty="0"/>
              <a:t>s</a:t>
            </a:r>
            <a:r>
              <a:rPr lang="en-US" sz="1700" dirty="0" smtClean="0"/>
              <a:t>ites </a:t>
            </a:r>
            <a:r>
              <a:rPr lang="en-US" sz="1700" dirty="0"/>
              <a:t>across the </a:t>
            </a:r>
            <a:r>
              <a:rPr lang="en-US" sz="1700" dirty="0" smtClean="0"/>
              <a:t>Americas</a:t>
            </a:r>
          </a:p>
          <a:p>
            <a:pPr marL="673100" lvl="1" indent="-273050">
              <a:lnSpc>
                <a:spcPct val="80000"/>
              </a:lnSpc>
            </a:pPr>
            <a:r>
              <a:rPr lang="en-US" sz="1700" dirty="0" err="1" smtClean="0"/>
              <a:t>CarboEuropeIP</a:t>
            </a:r>
            <a:r>
              <a:rPr lang="en-US" sz="1700" dirty="0" smtClean="0"/>
              <a:t>: 129 sites across Europe</a:t>
            </a:r>
          </a:p>
          <a:p>
            <a:pPr marL="273050" indent="-273050">
              <a:lnSpc>
                <a:spcPct val="80000"/>
              </a:lnSpc>
            </a:pPr>
            <a:r>
              <a:rPr lang="en-US" sz="1900" dirty="0" smtClean="0"/>
              <a:t>Data sharing across investigators just beginning</a:t>
            </a:r>
          </a:p>
          <a:p>
            <a:pPr marL="673100" lvl="1" indent="-273050">
              <a:lnSpc>
                <a:spcPct val="80000"/>
              </a:lnSpc>
            </a:pPr>
            <a:r>
              <a:rPr lang="en-US" sz="1700" dirty="0" smtClean="0"/>
              <a:t>Level 2 data </a:t>
            </a:r>
            <a:r>
              <a:rPr lang="en-US" sz="1700" dirty="0"/>
              <a:t>published to and archived </a:t>
            </a:r>
            <a:r>
              <a:rPr lang="en-US" sz="1700" dirty="0" smtClean="0"/>
              <a:t>at network repository</a:t>
            </a:r>
          </a:p>
          <a:p>
            <a:pPr marL="673100" lvl="1" indent="-273050">
              <a:lnSpc>
                <a:spcPct val="80000"/>
              </a:lnSpc>
            </a:pPr>
            <a:r>
              <a:rPr lang="en-US" sz="1700" dirty="0" smtClean="0"/>
              <a:t>Level 3 &amp; 4 data </a:t>
            </a:r>
            <a:r>
              <a:rPr lang="en-US" sz="1700" dirty="0"/>
              <a:t>now being produced in cooperation with </a:t>
            </a:r>
            <a:r>
              <a:rPr lang="en-US" sz="1700" dirty="0" err="1" smtClean="0"/>
              <a:t>CarboEuropeIP</a:t>
            </a:r>
            <a:r>
              <a:rPr lang="en-US" sz="1700" dirty="0" smtClean="0"/>
              <a:t> and served by BWC TCI</a:t>
            </a:r>
            <a:endParaRPr lang="en-US" sz="1700" dirty="0"/>
          </a:p>
          <a:p>
            <a:pPr marL="273050" indent="-273050">
              <a:lnSpc>
                <a:spcPct val="80000"/>
              </a:lnSpc>
            </a:pPr>
            <a:r>
              <a:rPr lang="en-US" sz="1900" dirty="0" smtClean="0"/>
              <a:t>Total </a:t>
            </a:r>
            <a:r>
              <a:rPr lang="en-US" sz="1900" dirty="0" err="1" smtClean="0"/>
              <a:t>fluxnet</a:t>
            </a:r>
            <a:r>
              <a:rPr lang="en-US" sz="1900" dirty="0" smtClean="0"/>
              <a:t> data accumulated to date ~800M individual measurements</a:t>
            </a:r>
          </a:p>
          <a:p>
            <a:pPr marL="273050" indent="-273050">
              <a:lnSpc>
                <a:spcPct val="80000"/>
              </a:lnSpc>
              <a:buNone/>
            </a:pPr>
            <a:endParaRPr lang="en-US" sz="1800" dirty="0"/>
          </a:p>
          <a:p>
            <a:pPr marL="273050" indent="-273050">
              <a:lnSpc>
                <a:spcPct val="80000"/>
              </a:lnSpc>
            </a:pPr>
            <a:endParaRPr lang="en-US" sz="1800" dirty="0"/>
          </a:p>
        </p:txBody>
      </p:sp>
      <p:pic>
        <p:nvPicPr>
          <p:cNvPr id="13" name="Picture 2" descr="canopy_balanc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91200" y="990600"/>
            <a:ext cx="3129845" cy="2061117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3124200" y="5700760"/>
            <a:ext cx="4800600" cy="115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>
              <a:lnSpc>
                <a:spcPct val="80000"/>
              </a:lnSpc>
              <a:buNone/>
            </a:pPr>
            <a:endParaRPr lang="en-US" sz="1600" dirty="0"/>
          </a:p>
          <a:p>
            <a:pPr marL="273050" indent="-273050">
              <a:lnSpc>
                <a:spcPct val="80000"/>
              </a:lnSpc>
            </a:pP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</a:rPr>
              <a:t>http://</a:t>
            </a: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</a:rPr>
              <a:t>www.fluxdata.org</a:t>
            </a:r>
            <a:r>
              <a:rPr lang="en-US" sz="1600" dirty="0" smtClean="0"/>
              <a:t> </a:t>
            </a:r>
            <a:endParaRPr lang="en-US" sz="1600" dirty="0" smtClean="0"/>
          </a:p>
          <a:p>
            <a:pPr marL="273050" indent="-273050">
              <a:lnSpc>
                <a:spcPct val="80000"/>
              </a:lnSpc>
              <a:buNone/>
            </a:pPr>
            <a:endParaRPr lang="en-US" sz="1600" dirty="0" smtClean="0">
              <a:solidFill>
                <a:schemeClr val="accent1">
                  <a:lumMod val="50000"/>
                </a:schemeClr>
              </a:solidFill>
              <a:hlinkClick r:id="rId4"/>
            </a:endParaRPr>
          </a:p>
          <a:p>
            <a:pPr marL="273050" indent="-273050">
              <a:lnSpc>
                <a:spcPct val="80000"/>
              </a:lnSpc>
              <a:buNone/>
            </a:pP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</a:rPr>
              <a:t>http://gaia.agraria.unitus.it/cpz/index3.asp </a:t>
            </a:r>
          </a:p>
          <a:p>
            <a:endParaRPr lang="en-US" dirty="0"/>
          </a:p>
        </p:txBody>
      </p:sp>
      <p:pic>
        <p:nvPicPr>
          <p:cNvPr id="5123" name="Picture 3" descr="C:\Documents and Settings\vaningen\My Documents\My Pictures\test_af_main_ani2.gif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400800" y="3429000"/>
            <a:ext cx="2295525" cy="2857883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5105400" cy="4462272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When we say data we mean predominantly time series data</a:t>
            </a:r>
          </a:p>
          <a:p>
            <a:pPr lvl="1"/>
            <a:r>
              <a:rPr lang="en-US" dirty="0" smtClean="0"/>
              <a:t>Over some period of time at some time frequency at some spatial location.</a:t>
            </a:r>
          </a:p>
          <a:p>
            <a:pPr lvl="1"/>
            <a:r>
              <a:rPr lang="en-US" dirty="0" smtClean="0"/>
              <a:t>May be actual measurement (L0) or derived quantities (L1+)</a:t>
            </a:r>
          </a:p>
          <a:p>
            <a:r>
              <a:rPr lang="en-US" dirty="0" smtClean="0"/>
              <a:t>(Re)calibrations are a way of life. </a:t>
            </a:r>
          </a:p>
          <a:p>
            <a:pPr lvl="1"/>
            <a:r>
              <a:rPr lang="en-US" dirty="0" smtClean="0"/>
              <a:t>Various quality assessment algorithms used to mark and/or correct spikes, drifts, etc. </a:t>
            </a:r>
          </a:p>
          <a:p>
            <a:r>
              <a:rPr lang="en-US" dirty="0" smtClean="0"/>
              <a:t>Gaps and errors are a way of life. </a:t>
            </a:r>
          </a:p>
          <a:p>
            <a:pPr lvl="1"/>
            <a:r>
              <a:rPr lang="en-US" dirty="0" smtClean="0"/>
              <a:t>Birds poop, batteries die, and sensors fail. </a:t>
            </a:r>
          </a:p>
          <a:p>
            <a:pPr lvl="1"/>
            <a:r>
              <a:rPr lang="en-US" dirty="0" smtClean="0"/>
              <a:t>Gap filling algorithms becoming more and more common because a regularly spaced time series is much simpler to analyze</a:t>
            </a:r>
          </a:p>
          <a:p>
            <a:r>
              <a:rPr lang="en-US" dirty="0" smtClean="0"/>
              <a:t>Space and time are fundamental drivers</a:t>
            </a:r>
          </a:p>
          <a:p>
            <a:r>
              <a:rPr lang="en-US" dirty="0" smtClean="0"/>
              <a:t>Versioning is essential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Eco-Science Data</a:t>
            </a:r>
            <a:endParaRPr lang="en-US" dirty="0"/>
          </a:p>
        </p:txBody>
      </p: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5562600" y="1066800"/>
            <a:ext cx="3363913" cy="2286000"/>
            <a:chOff x="3168" y="1149"/>
            <a:chExt cx="2263" cy="1598"/>
          </a:xfrm>
        </p:grpSpPr>
        <p:pic>
          <p:nvPicPr>
            <p:cNvPr id="5" name="Picture 8"/>
            <p:cNvPicPr>
              <a:picLocks noChangeAspect="1" noChangeArrowheads="1"/>
            </p:cNvPicPr>
            <p:nvPr/>
          </p:nvPicPr>
          <p:blipFill>
            <a:blip r:embed="rId2"/>
            <a:srcRect l="26804"/>
            <a:stretch>
              <a:fillRect/>
            </a:stretch>
          </p:blipFill>
          <p:spPr bwMode="auto">
            <a:xfrm>
              <a:off x="3168" y="1149"/>
              <a:ext cx="2263" cy="15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Text Box 9"/>
            <p:cNvSpPr txBox="1">
              <a:spLocks noChangeAspect="1" noChangeArrowheads="1"/>
            </p:cNvSpPr>
            <p:nvPr/>
          </p:nvSpPr>
          <p:spPr bwMode="auto">
            <a:xfrm>
              <a:off x="4219" y="1813"/>
              <a:ext cx="51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CC3300"/>
                  </a:solidFill>
                  <a:latin typeface="Times" pitchFamily="18" charset="0"/>
                </a:rPr>
                <a:t>T AIR</a:t>
              </a:r>
            </a:p>
          </p:txBody>
        </p:sp>
        <p:sp>
          <p:nvSpPr>
            <p:cNvPr id="7" name="Text Box 10"/>
            <p:cNvSpPr txBox="1">
              <a:spLocks noChangeAspect="1" noChangeArrowheads="1"/>
            </p:cNvSpPr>
            <p:nvPr/>
          </p:nvSpPr>
          <p:spPr bwMode="auto">
            <a:xfrm>
              <a:off x="4704" y="1359"/>
              <a:ext cx="5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CC3300"/>
                  </a:solidFill>
                  <a:latin typeface="Times" pitchFamily="18" charset="0"/>
                </a:rPr>
                <a:t>T SOIL</a:t>
              </a:r>
            </a:p>
          </p:txBody>
        </p:sp>
        <p:sp>
          <p:nvSpPr>
            <p:cNvPr id="8" name="Line 11"/>
            <p:cNvSpPr>
              <a:spLocks noChangeAspect="1" noChangeShapeType="1"/>
            </p:cNvSpPr>
            <p:nvPr/>
          </p:nvSpPr>
          <p:spPr bwMode="auto">
            <a:xfrm>
              <a:off x="3895" y="1813"/>
              <a:ext cx="0" cy="27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Box 12"/>
            <p:cNvSpPr txBox="1">
              <a:spLocks noChangeAspect="1" noChangeArrowheads="1"/>
            </p:cNvSpPr>
            <p:nvPr/>
          </p:nvSpPr>
          <p:spPr bwMode="auto">
            <a:xfrm>
              <a:off x="3312" y="2208"/>
              <a:ext cx="1240" cy="4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CC3300"/>
                  </a:solidFill>
                  <a:latin typeface="Times" pitchFamily="18" charset="0"/>
                </a:rPr>
                <a:t>Onset of </a:t>
              </a:r>
              <a:r>
                <a:rPr lang="en-US" b="1" dirty="0" smtClean="0">
                  <a:solidFill>
                    <a:srgbClr val="CC3300"/>
                  </a:solidFill>
                  <a:latin typeface="Times" pitchFamily="18" charset="0"/>
                </a:rPr>
                <a:t>photosynthesis</a:t>
              </a:r>
              <a:endParaRPr lang="en-US" b="1" dirty="0">
                <a:solidFill>
                  <a:srgbClr val="CC3300"/>
                </a:solidFill>
                <a:latin typeface="Times" pitchFamily="18" charset="0"/>
              </a:endParaRPr>
            </a:p>
          </p:txBody>
        </p:sp>
        <p:sp>
          <p:nvSpPr>
            <p:cNvPr id="10" name="Line 13"/>
            <p:cNvSpPr>
              <a:spLocks noChangeAspect="1" noChangeShapeType="1"/>
            </p:cNvSpPr>
            <p:nvPr/>
          </p:nvSpPr>
          <p:spPr bwMode="auto">
            <a:xfrm flipV="1">
              <a:off x="3734" y="2127"/>
              <a:ext cx="121" cy="13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71109" y="3657600"/>
            <a:ext cx="3472891" cy="2375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5715000" cy="5148072"/>
          </a:xfrm>
        </p:spPr>
        <p:txBody>
          <a:bodyPr>
            <a:normAutofit fontScale="62500" lnSpcReduction="20000"/>
          </a:bodyPr>
          <a:lstStyle/>
          <a:p>
            <a:r>
              <a:rPr lang="en-US" sz="2900" dirty="0" smtClean="0"/>
              <a:t>When we say ancillary data, we mean non-time series data</a:t>
            </a:r>
          </a:p>
          <a:p>
            <a:pPr lvl="1"/>
            <a:r>
              <a:rPr lang="en-US" sz="2600" dirty="0" smtClean="0"/>
              <a:t>May be ‘constant’ such as latitude or longitude</a:t>
            </a:r>
          </a:p>
          <a:p>
            <a:pPr lvl="1"/>
            <a:r>
              <a:rPr lang="en-US" sz="2600" dirty="0" smtClean="0"/>
              <a:t>May be measured intermittently such as LAI (leaf cross-sectional area) or sediment grain size distribution</a:t>
            </a:r>
          </a:p>
          <a:p>
            <a:pPr lvl="1"/>
            <a:r>
              <a:rPr lang="en-US" sz="2600" dirty="0" smtClean="0"/>
              <a:t>May be a </a:t>
            </a:r>
            <a:r>
              <a:rPr lang="en-US" sz="2600" dirty="0" smtClean="0"/>
              <a:t>range and estimated time</a:t>
            </a:r>
            <a:endParaRPr lang="en-US" sz="2600" dirty="0" smtClean="0"/>
          </a:p>
          <a:p>
            <a:pPr lvl="1"/>
            <a:r>
              <a:rPr lang="en-US" sz="2600" dirty="0" smtClean="0"/>
              <a:t>May be a disturbance such as a fire, harvest, or flood</a:t>
            </a:r>
          </a:p>
          <a:p>
            <a:pPr lvl="1"/>
            <a:r>
              <a:rPr lang="en-US" sz="2600" dirty="0" smtClean="0"/>
              <a:t>May be derived from the data such as flood</a:t>
            </a:r>
          </a:p>
          <a:p>
            <a:pPr lvl="1"/>
            <a:r>
              <a:rPr lang="en-US" sz="2600" dirty="0" smtClean="0"/>
              <a:t>Not metadata such as instrument type, derivation algorithm, etc. </a:t>
            </a:r>
          </a:p>
          <a:p>
            <a:r>
              <a:rPr lang="en-US" sz="2900" dirty="0" smtClean="0"/>
              <a:t>Usage pattern is key</a:t>
            </a:r>
          </a:p>
          <a:p>
            <a:pPr lvl="1"/>
            <a:r>
              <a:rPr lang="en-US" sz="2600" dirty="0" smtClean="0"/>
              <a:t>Constant location attributes or aliases</a:t>
            </a:r>
          </a:p>
          <a:p>
            <a:pPr lvl="1"/>
            <a:r>
              <a:rPr lang="en-US" sz="2600" dirty="0" smtClean="0"/>
              <a:t>Time series data (by interpolating or “gap filling” irregular samples</a:t>
            </a:r>
          </a:p>
          <a:p>
            <a:pPr lvl="1"/>
            <a:r>
              <a:rPr lang="en-US" sz="2600" dirty="0" smtClean="0"/>
              <a:t>Time filters (short periods before or after an event or sampled variable)</a:t>
            </a:r>
          </a:p>
          <a:p>
            <a:pPr lvl="1"/>
            <a:r>
              <a:rPr lang="en-US" sz="2600" dirty="0" smtClean="0"/>
              <a:t>Time benders (“since &lt;event&gt;” including the </a:t>
            </a:r>
            <a:r>
              <a:rPr lang="en-US" sz="2600" dirty="0" err="1" smtClean="0"/>
              <a:t>deconvolution</a:t>
            </a:r>
            <a:r>
              <a:rPr lang="en-US" sz="2600" dirty="0" smtClean="0"/>
              <a:t> of closely spaced events a fire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Eco-Science Ancillary Data</a:t>
            </a:r>
            <a:endParaRPr lang="en-US" dirty="0"/>
          </a:p>
        </p:txBody>
      </p:sp>
      <p:pic>
        <p:nvPicPr>
          <p:cNvPr id="4" name="Picture 4" descr="559 Fire Guern 196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0400" y="1066800"/>
            <a:ext cx="1981200" cy="1981200"/>
          </a:xfrm>
          <a:prstGeom prst="rect">
            <a:avLst/>
          </a:prstGeom>
          <a:noFill/>
        </p:spPr>
      </p:pic>
      <p:pic>
        <p:nvPicPr>
          <p:cNvPr id="7" name="Picture 5" descr="560 Flood Guern1879 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5029200"/>
            <a:ext cx="1828800" cy="1828800"/>
          </a:xfrm>
          <a:prstGeom prst="rect">
            <a:avLst/>
          </a:prstGeom>
          <a:noFill/>
        </p:spPr>
      </p:pic>
      <p:pic>
        <p:nvPicPr>
          <p:cNvPr id="6" name="Picture 4" descr="rr_jul_13_15_2003__03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48400" y="2438400"/>
            <a:ext cx="1170432" cy="1560576"/>
          </a:xfrm>
          <a:prstGeom prst="rect">
            <a:avLst/>
          </a:prstGeom>
          <a:noFill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15200" y="3048000"/>
            <a:ext cx="1600200" cy="15893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 descr="C:\Documents and Settings\vaningen\My Documents\My Pictures\garbage_pail3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248400" y="4267200"/>
            <a:ext cx="1219200" cy="16637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Eco-Science Analyses 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Why use a </a:t>
            </a:r>
            <a:r>
              <a:rPr lang="en-US" dirty="0" err="1" smtClean="0"/>
              <a:t>datacube</a:t>
            </a:r>
            <a:r>
              <a:rPr lang="en-US" dirty="0" smtClean="0"/>
              <a:t>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Data Pipeline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33400" y="1219200"/>
            <a:ext cx="7848600" cy="1219200"/>
          </a:xfrm>
          <a:prstGeom prst="rect">
            <a:avLst/>
          </a:prstGeom>
          <a:gradFill flip="none" rotWithShape="1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19200"/>
          <a:ext cx="7924800" cy="5186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4960"/>
                <a:gridCol w="1584960"/>
                <a:gridCol w="1630680"/>
                <a:gridCol w="1539240"/>
                <a:gridCol w="15849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Data Gathering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dirty="0" smtClean="0">
                          <a:solidFill>
                            <a:srgbClr val="4E3B30"/>
                          </a:solidFill>
                          <a:latin typeface="+mn-lt"/>
                        </a:rPr>
                        <a:t>Discovery and Browsing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dirty="0" smtClean="0">
                          <a:solidFill>
                            <a:srgbClr val="4E3B30"/>
                          </a:solidFill>
                          <a:latin typeface="+mn-lt"/>
                        </a:rPr>
                        <a:t>Science Exploration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dirty="0" smtClean="0">
                          <a:solidFill>
                            <a:srgbClr val="4E3B30"/>
                          </a:solidFill>
                          <a:latin typeface="+mn-lt"/>
                        </a:rPr>
                        <a:t>Domain specific analyses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dirty="0" smtClean="0">
                          <a:solidFill>
                            <a:srgbClr val="4E3B30"/>
                          </a:solidFill>
                          <a:latin typeface="+mn-lt"/>
                        </a:rPr>
                        <a:t>Scientific Output </a:t>
                      </a:r>
                      <a:endParaRPr lang="en-US" sz="2000" b="1" i="0" u="none" strike="noStrike" dirty="0" smtClean="0">
                        <a:solidFill>
                          <a:srgbClr val="4E3B30"/>
                        </a:solidFill>
                        <a:latin typeface="+mn-lt"/>
                      </a:endParaRPr>
                    </a:p>
                    <a:p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“Raw” data includes sensor output, data downloaded from agency or collaboration web sites, papers (especially for ancillary data</a:t>
                      </a:r>
                      <a:endParaRPr 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4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“Raw” data browsing for discovery (do I have enough data in the right places?), cleaning (does the data look obviously wrong?), and light weight science via browsing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“Science variables” and data summaries for early science exploration and hypothesis testing. Similar to discovery and browsing, but with science variables computed via gap filling, units conversions, or simple equation. </a:t>
                      </a:r>
                    </a:p>
                    <a:p>
                      <a:endParaRPr 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“Science variables” combined with </a:t>
                      </a:r>
                      <a:r>
                        <a:rPr lang="en-US" sz="14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models, </a:t>
                      </a:r>
                      <a:r>
                        <a:rPr lang="en-US" sz="14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other  specialized </a:t>
                      </a:r>
                      <a:r>
                        <a:rPr lang="en-US" sz="14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code, </a:t>
                      </a:r>
                      <a:r>
                        <a:rPr lang="en-US" sz="14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or statistics for deep science understanding. </a:t>
                      </a:r>
                    </a:p>
                    <a:p>
                      <a:endParaRPr 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Scientific </a:t>
                      </a:r>
                      <a:r>
                        <a:rPr lang="en-US" sz="14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results via  packages such as </a:t>
                      </a:r>
                      <a:r>
                        <a:rPr lang="en-US" sz="1400" b="0" i="0" u="none" strike="noStrike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MatLab</a:t>
                      </a:r>
                      <a:r>
                        <a:rPr lang="en-US" sz="14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 or R2. Special rendering package such as </a:t>
                      </a:r>
                      <a:r>
                        <a:rPr lang="en-US" sz="1400" b="0" i="0" u="none" strike="noStrike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ArcGIS</a:t>
                      </a:r>
                      <a:r>
                        <a:rPr lang="en-US" sz="14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. </a:t>
                      </a:r>
                    </a:p>
                    <a:p>
                      <a:endParaRPr lang="en-US" sz="140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Paper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preparation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  <a:endParaRPr 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41148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Summary data products (yearly min/max/</a:t>
            </a:r>
            <a:r>
              <a:rPr lang="en-US" dirty="0" err="1" smtClean="0"/>
              <a:t>avg</a:t>
            </a:r>
            <a:r>
              <a:rPr lang="en-US" dirty="0" smtClean="0"/>
              <a:t>) almost trivially</a:t>
            </a:r>
          </a:p>
          <a:p>
            <a:r>
              <a:rPr lang="en-US" dirty="0" smtClean="0"/>
              <a:t>Simple </a:t>
            </a:r>
            <a:r>
              <a:rPr lang="en-US" dirty="0" err="1" smtClean="0"/>
              <a:t>mashups</a:t>
            </a:r>
            <a:r>
              <a:rPr lang="en-US" dirty="0" smtClean="0"/>
              <a:t> and data </a:t>
            </a:r>
            <a:r>
              <a:rPr lang="en-US" dirty="0" smtClean="0"/>
              <a:t>cubes </a:t>
            </a:r>
            <a:r>
              <a:rPr lang="en-US" dirty="0" smtClean="0"/>
              <a:t>aid discovery of available data</a:t>
            </a:r>
          </a:p>
          <a:p>
            <a:r>
              <a:rPr lang="en-US" dirty="0" smtClean="0"/>
              <a:t>Simple Excel graphics show cross-site comparisons and availability filtered by </a:t>
            </a:r>
            <a:r>
              <a:rPr lang="en-US" dirty="0" smtClean="0"/>
              <a:t>one variable </a:t>
            </a:r>
            <a:r>
              <a:rPr lang="en-US" dirty="0" smtClean="0"/>
              <a:t>or </a:t>
            </a:r>
            <a:r>
              <a:rPr lang="en-US" dirty="0" smtClean="0"/>
              <a:t>another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Browsing for Data Availability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1219200"/>
            <a:ext cx="3576637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4572000" y="3886200"/>
          <a:ext cx="4289566" cy="2644791"/>
        </p:xfrm>
        <a:graphic>
          <a:graphicData uri="http://schemas.openxmlformats.org/presentationml/2006/ole">
            <p:oleObj spid="_x0000_s1026" name="Chart" r:id="rId5" imgW="11382375" imgH="7019925" progId="Excel.Sheet.8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57200" y="1481328"/>
            <a:ext cx="4495800" cy="4843272"/>
          </a:xfrm>
        </p:spPr>
        <p:txBody>
          <a:bodyPr>
            <a:normAutofit/>
          </a:bodyPr>
          <a:lstStyle/>
          <a:p>
            <a:r>
              <a:rPr lang="en-US" dirty="0" smtClean="0"/>
              <a:t>Data cleaning never ends</a:t>
            </a:r>
          </a:p>
          <a:p>
            <a:pPr lvl="1"/>
            <a:r>
              <a:rPr lang="en-US" dirty="0" smtClean="0"/>
              <a:t>Existing practice of running scripts on specific site years often misses the big picture</a:t>
            </a:r>
          </a:p>
          <a:p>
            <a:pPr lvl="1"/>
            <a:r>
              <a:rPr lang="en-US" dirty="0" smtClean="0"/>
              <a:t>Corrections to calibration</a:t>
            </a:r>
            <a:endParaRPr lang="en-US" dirty="0" smtClean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Browsing for Data Quality</a:t>
            </a:r>
            <a:endParaRPr lang="en-US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1371600"/>
            <a:ext cx="3200400" cy="2323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57800" y="4038600"/>
            <a:ext cx="3606596" cy="2466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66800" y="4343400"/>
            <a:ext cx="3359187" cy="1731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Eco-Science </a:t>
            </a:r>
            <a:r>
              <a:rPr lang="en-US" dirty="0" err="1" smtClean="0"/>
              <a:t>Datacubes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922712" y="2931712"/>
            <a:ext cx="4764087" cy="1454888"/>
          </a:xfrm>
        </p:spPr>
        <p:txBody>
          <a:bodyPr/>
          <a:lstStyle/>
          <a:p>
            <a:r>
              <a:rPr lang="en-US" dirty="0" smtClean="0"/>
              <a:t>Building our </a:t>
            </a:r>
            <a:r>
              <a:rPr lang="en-US" dirty="0" err="1" smtClean="0"/>
              <a:t>datacube</a:t>
            </a:r>
            <a:r>
              <a:rPr lang="en-US" dirty="0" smtClean="0"/>
              <a:t> family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9"/>
            <a:ext cx="4800600" cy="4157472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We’ve been building cubes with 5 dimensions</a:t>
            </a:r>
          </a:p>
          <a:p>
            <a:pPr lvl="1"/>
            <a:r>
              <a:rPr lang="en-US" dirty="0" smtClean="0"/>
              <a:t>What: variables</a:t>
            </a:r>
          </a:p>
          <a:p>
            <a:pPr lvl="1"/>
            <a:r>
              <a:rPr lang="en-US" dirty="0" smtClean="0"/>
              <a:t>When: time, time, time</a:t>
            </a:r>
          </a:p>
          <a:p>
            <a:pPr lvl="1"/>
            <a:r>
              <a:rPr lang="en-US" dirty="0" smtClean="0"/>
              <a:t>Where: (x, y, z) location or attribute where (</a:t>
            </a:r>
            <a:r>
              <a:rPr lang="en-US" dirty="0" err="1" smtClean="0"/>
              <a:t>x,y</a:t>
            </a:r>
            <a:r>
              <a:rPr lang="en-US" dirty="0" smtClean="0"/>
              <a:t>) is the site location and (z) is the vertical elevation at the site. </a:t>
            </a:r>
          </a:p>
          <a:p>
            <a:pPr lvl="1"/>
            <a:r>
              <a:rPr lang="en-US" dirty="0" smtClean="0"/>
              <a:t>Which: versioning and other collections</a:t>
            </a:r>
          </a:p>
          <a:p>
            <a:pPr lvl="1"/>
            <a:r>
              <a:rPr lang="en-US" dirty="0" smtClean="0"/>
              <a:t>How: gap filling and other data quality assessments</a:t>
            </a:r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Cube Dimensions</a:t>
            </a:r>
            <a:endParaRPr lang="en-US" dirty="0"/>
          </a:p>
        </p:txBody>
      </p:sp>
      <p:grpSp>
        <p:nvGrpSpPr>
          <p:cNvPr id="4" name="Group 16"/>
          <p:cNvGrpSpPr/>
          <p:nvPr/>
        </p:nvGrpSpPr>
        <p:grpSpPr>
          <a:xfrm>
            <a:off x="5486400" y="914400"/>
            <a:ext cx="3505200" cy="4191000"/>
            <a:chOff x="4343400" y="1752600"/>
            <a:chExt cx="3505200" cy="4191000"/>
          </a:xfrm>
        </p:grpSpPr>
        <p:cxnSp>
          <p:nvCxnSpPr>
            <p:cNvPr id="18" name="Straight Arrow Connector 17"/>
            <p:cNvCxnSpPr/>
            <p:nvPr/>
          </p:nvCxnSpPr>
          <p:spPr>
            <a:xfrm>
              <a:off x="4800600" y="4648200"/>
              <a:ext cx="3048000" cy="1588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rot="16200000" flipV="1">
              <a:off x="3314700" y="3162300"/>
              <a:ext cx="2895600" cy="7620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rot="5400000" flipH="1" flipV="1">
              <a:off x="4419600" y="2438400"/>
              <a:ext cx="2590800" cy="182880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4800600" y="4648200"/>
              <a:ext cx="2667000" cy="129540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4800600" y="2362200"/>
              <a:ext cx="2743200" cy="228600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5715000" y="4343400"/>
              <a:ext cx="1883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What: variables</a:t>
              </a:r>
              <a:endParaRPr lang="en-US" dirty="0"/>
            </a:p>
          </p:txBody>
        </p:sp>
        <p:sp>
          <p:nvSpPr>
            <p:cNvPr id="24" name="TextBox 23"/>
            <p:cNvSpPr txBox="1"/>
            <p:nvPr/>
          </p:nvSpPr>
          <p:spPr>
            <a:xfrm rot="1529094">
              <a:off x="5391220" y="5058378"/>
              <a:ext cx="19159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Where: location</a:t>
              </a:r>
              <a:endParaRPr lang="en-US" dirty="0"/>
            </a:p>
          </p:txBody>
        </p:sp>
        <p:sp>
          <p:nvSpPr>
            <p:cNvPr id="25" name="TextBox 24"/>
            <p:cNvSpPr txBox="1"/>
            <p:nvPr/>
          </p:nvSpPr>
          <p:spPr>
            <a:xfrm rot="19159305">
              <a:off x="5630918" y="2812732"/>
              <a:ext cx="18117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Which: version</a:t>
              </a:r>
              <a:endParaRPr lang="en-US" dirty="0"/>
            </a:p>
          </p:txBody>
        </p:sp>
        <p:sp>
          <p:nvSpPr>
            <p:cNvPr id="26" name="TextBox 25"/>
            <p:cNvSpPr txBox="1"/>
            <p:nvPr/>
          </p:nvSpPr>
          <p:spPr>
            <a:xfrm rot="16200000">
              <a:off x="3808157" y="2745043"/>
              <a:ext cx="1439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When: time</a:t>
              </a:r>
              <a:endParaRPr 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 rot="18206620">
              <a:off x="4901529" y="2863751"/>
              <a:ext cx="1579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How: quality</a:t>
              </a:r>
              <a:endParaRPr lang="en-US" dirty="0"/>
            </a:p>
          </p:txBody>
        </p:sp>
        <p:pic>
          <p:nvPicPr>
            <p:cNvPr id="28" name="Picture 2" descr="C:\Documents and Settings\vaningen\My Documents\My Pictures\UTS_Cube_1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572000" y="3962400"/>
              <a:ext cx="914400" cy="956253"/>
            </a:xfrm>
            <a:prstGeom prst="rect">
              <a:avLst/>
            </a:prstGeom>
            <a:noFill/>
          </p:spPr>
        </p:pic>
      </p:grpSp>
      <p:sp>
        <p:nvSpPr>
          <p:cNvPr id="29" name="Content Placeholder 2"/>
          <p:cNvSpPr txBox="1">
            <a:spLocks/>
          </p:cNvSpPr>
          <p:nvPr/>
        </p:nvSpPr>
        <p:spPr>
          <a:xfrm>
            <a:off x="762000" y="5334000"/>
            <a:ext cx="8229600" cy="1219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621792" lvl="1" indent="-228600">
              <a:spcBef>
                <a:spcPts val="324"/>
              </a:spcBef>
              <a:buClr>
                <a:schemeClr val="accent1"/>
              </a:buClr>
            </a:pPr>
            <a:r>
              <a:rPr lang="en-US" sz="2500" i="1" dirty="0" smtClean="0"/>
              <a:t>Driven by the nature of the data </a:t>
            </a:r>
            <a:r>
              <a:rPr lang="en-US" sz="2500" dirty="0" smtClean="0"/>
              <a:t>– space and time are fundamental drivers for all earth sciences. </a:t>
            </a:r>
          </a:p>
          <a:p>
            <a:pPr marL="621792" marR="0" lvl="1" indent="-228600" algn="l" defTabSz="914400" rtl="0" eaLnBrk="1" fontAlgn="auto" latinLnBrk="0" hangingPunct="1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Tx/>
              <a:buFont typeface="Verdana"/>
              <a:buChar char="◦"/>
              <a:tabLst/>
              <a:defRPr/>
            </a:pP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Documents and Settings\vaningen\My Documents\My Pictures\UTS_Cube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96200" y="152400"/>
            <a:ext cx="1295400" cy="1354692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We’ve been including a few computed members in addition to the usual count, sum, minimum and maximum </a:t>
            </a:r>
          </a:p>
          <a:p>
            <a:pPr lvl="1"/>
            <a:r>
              <a:rPr lang="en-US" dirty="0" err="1" smtClean="0"/>
              <a:t>hasDataRatio</a:t>
            </a:r>
            <a:r>
              <a:rPr lang="en-US" dirty="0" smtClean="0"/>
              <a:t>: fraction of data actually present across time and/or variables</a:t>
            </a:r>
          </a:p>
          <a:p>
            <a:pPr lvl="1"/>
            <a:r>
              <a:rPr lang="en-US" dirty="0" err="1" smtClean="0"/>
              <a:t>DailyCalc</a:t>
            </a:r>
            <a:r>
              <a:rPr lang="en-US" dirty="0" smtClean="0"/>
              <a:t>:  average, sum or maximum depending on variable and includes units conversion</a:t>
            </a:r>
          </a:p>
          <a:p>
            <a:pPr lvl="1"/>
            <a:r>
              <a:rPr lang="en-US" dirty="0" err="1" smtClean="0"/>
              <a:t>YearlyCalc</a:t>
            </a:r>
            <a:r>
              <a:rPr lang="en-US" dirty="0" smtClean="0"/>
              <a:t>: similar to </a:t>
            </a:r>
            <a:r>
              <a:rPr lang="en-US" dirty="0" err="1" smtClean="0"/>
              <a:t>DailyCalc</a:t>
            </a:r>
            <a:endParaRPr lang="en-US" dirty="0" smtClean="0"/>
          </a:p>
          <a:p>
            <a:pPr lvl="1"/>
            <a:r>
              <a:rPr lang="en-US" dirty="0" smtClean="0"/>
              <a:t>RMS or sigma: standard deviation or variance for fast error or spread viewing</a:t>
            </a: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r>
              <a:rPr lang="en-US" i="1" dirty="0" smtClean="0"/>
              <a:t>Driven by the nature of the analyses </a:t>
            </a:r>
            <a:r>
              <a:rPr lang="en-US" dirty="0" smtClean="0"/>
              <a:t>– gaps, errors, conversions, and scientific variable derivations are facts of life for earth science data. </a:t>
            </a:r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Cube Measures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04800" y="2286000"/>
          <a:ext cx="8229600" cy="3749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Core variables</a:t>
                      </a:r>
                      <a:r>
                        <a:rPr lang="en-US" baseline="0" dirty="0" smtClean="0"/>
                        <a:t> or </a:t>
                      </a:r>
                      <a:r>
                        <a:rPr lang="en-US" baseline="0" dirty="0" err="1" smtClean="0"/>
                        <a:t>datumtypes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Non</a:t>
                      </a:r>
                      <a:r>
                        <a:rPr lang="en-US" baseline="0" dirty="0" smtClean="0"/>
                        <a:t>-core or extended </a:t>
                      </a:r>
                      <a:r>
                        <a:rPr lang="en-US" baseline="0" dirty="0" err="1" smtClean="0"/>
                        <a:t>datumtypes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 smtClean="0"/>
                        <a:t>Ancillary data treated as time-series </a:t>
                      </a:r>
                      <a:r>
                        <a:rPr lang="en-US" sz="1800" baseline="0" dirty="0" smtClean="0"/>
                        <a:t>data or filters. </a:t>
                      </a:r>
                      <a:endParaRPr lang="en-US" sz="1800" baseline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 smtClean="0"/>
                        <a:t>Note that the gap filling or interpolation algorithm </a:t>
                      </a:r>
                      <a:r>
                        <a:rPr lang="en-US" sz="1800" baseline="0" dirty="0" smtClean="0"/>
                        <a:t>is likely </a:t>
                      </a:r>
                      <a:r>
                        <a:rPr lang="en-US" sz="1800" baseline="0" dirty="0" smtClean="0"/>
                        <a:t>domain-specific.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 smtClean="0"/>
                        <a:t>Daily </a:t>
                      </a:r>
                      <a:r>
                        <a:rPr lang="en-US" sz="1800" baseline="0" dirty="0" smtClean="0"/>
                        <a:t>and yearly value </a:t>
                      </a:r>
                      <a:r>
                        <a:rPr lang="en-US" sz="1800" baseline="0" dirty="0" smtClean="0"/>
                        <a:t>calculation, data counts, min/max values</a:t>
                      </a:r>
                      <a:endParaRPr lang="en-US" sz="1800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Hierarchies</a:t>
                      </a:r>
                      <a:r>
                        <a:rPr lang="en-US" sz="1800" baseline="0" dirty="0" smtClean="0"/>
                        <a:t> to solve very large namespace navigation.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 smtClean="0"/>
                        <a:t>Note that most science cannot leverage cube aggregations here.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Special calculation such as potential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evapotranspiration</a:t>
                      </a:r>
                      <a:r>
                        <a:rPr lang="en-US" sz="1800" baseline="0" dirty="0" smtClean="0"/>
                        <a:t> or </a:t>
                      </a:r>
                      <a:r>
                        <a:rPr lang="en-US" sz="1800" baseline="0" dirty="0" err="1" smtClean="0"/>
                        <a:t>bedload</a:t>
                      </a:r>
                      <a:r>
                        <a:rPr lang="en-US" sz="1800" baseline="0" dirty="0" smtClean="0"/>
                        <a:t> sediment transport.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What: variables and measures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1371600"/>
            <a:ext cx="8305800" cy="685800"/>
          </a:xfrm>
          <a:prstGeom prst="rect">
            <a:avLst/>
          </a:prstGeom>
          <a:gradFill flip="none" rotWithShape="1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04800" y="2286000"/>
          <a:ext cx="8229600" cy="3474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/>
                <a:gridCol w="2590800"/>
                <a:gridCol w="289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Core time hierarchies</a:t>
                      </a:r>
                      <a:r>
                        <a:rPr lang="en-US" sz="1800" baseline="0" dirty="0" smtClean="0"/>
                        <a:t>. Includes simple calendar, water year, MODIS week. </a:t>
                      </a:r>
                      <a:endParaRPr lang="en-US" sz="1800" dirty="0"/>
                    </a:p>
                  </a:txBody>
                  <a:tcPr marL="96819" marR="9681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“tunable” time filters such as morning, afternoon, night,</a:t>
                      </a:r>
                      <a:r>
                        <a:rPr lang="en-US" sz="1800" baseline="0" dirty="0" smtClean="0"/>
                        <a:t> winter; each defined by a start/stop at a hierarchical level. </a:t>
                      </a:r>
                      <a:endParaRPr lang="en-US" sz="1800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Time period definition determined by time-series variable (</a:t>
                      </a:r>
                      <a:r>
                        <a:rPr lang="en-US" sz="1800" baseline="0" dirty="0" err="1" smtClean="0"/>
                        <a:t>eg</a:t>
                      </a:r>
                      <a:r>
                        <a:rPr lang="en-US" sz="1800" baseline="0" dirty="0" smtClean="0"/>
                        <a:t>. </a:t>
                      </a:r>
                      <a:r>
                        <a:rPr lang="en-US" sz="1800" baseline="0" dirty="0" smtClean="0"/>
                        <a:t>PAR-day determined by photosynthetic activity)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Selectable</a:t>
                      </a:r>
                      <a:r>
                        <a:rPr lang="en-US" sz="1800" baseline="0" dirty="0" smtClean="0"/>
                        <a:t> hierarchy top and bottom: decade, year, month, day</a:t>
                      </a:r>
                      <a:endParaRPr lang="en-US" sz="1800" dirty="0" smtClean="0"/>
                    </a:p>
                  </a:txBody>
                  <a:tcPr marL="96819" marR="9681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Time folding</a:t>
                      </a:r>
                      <a:r>
                        <a:rPr lang="en-US" sz="1800" baseline="0" dirty="0" smtClean="0"/>
                        <a:t> based on data value (</a:t>
                      </a:r>
                      <a:r>
                        <a:rPr lang="en-US" sz="1800" baseline="0" dirty="0" err="1" smtClean="0"/>
                        <a:t>eg</a:t>
                      </a:r>
                      <a:r>
                        <a:rPr lang="en-US" sz="1800" baseline="0" dirty="0" smtClean="0"/>
                        <a:t>. </a:t>
                      </a:r>
                      <a:r>
                        <a:rPr lang="en-US" sz="1800" baseline="0" dirty="0" smtClean="0"/>
                        <a:t>after a rain) or ancillary data value (</a:t>
                      </a:r>
                      <a:r>
                        <a:rPr lang="en-US" sz="1800" baseline="0" dirty="0" err="1" smtClean="0"/>
                        <a:t>eg</a:t>
                      </a:r>
                      <a:r>
                        <a:rPr lang="en-US" sz="1800" baseline="0" dirty="0" smtClean="0"/>
                        <a:t>. </a:t>
                      </a:r>
                      <a:r>
                        <a:rPr lang="en-US" sz="1800" baseline="0" dirty="0" smtClean="0"/>
                        <a:t>after a fire).</a:t>
                      </a:r>
                      <a:endParaRPr lang="en-US" sz="180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When: handling time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1371600"/>
            <a:ext cx="8305800" cy="685800"/>
          </a:xfrm>
          <a:prstGeom prst="rect">
            <a:avLst/>
          </a:prstGeom>
          <a:gradFill flip="none" rotWithShape="1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038600" y="6324600"/>
            <a:ext cx="351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“time is not just another axis”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04800" y="2286000"/>
          <a:ext cx="8229600" cy="3474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/>
                <a:gridCol w="2590800"/>
                <a:gridCol w="289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Site (location) presented</a:t>
                      </a:r>
                      <a:r>
                        <a:rPr lang="en-US" sz="1800" baseline="0" dirty="0" smtClean="0"/>
                        <a:t> by friendly name </a:t>
                      </a:r>
                      <a:r>
                        <a:rPr lang="en-US" sz="1800" dirty="0" smtClean="0"/>
                        <a:t>and </a:t>
                      </a:r>
                      <a:r>
                        <a:rPr lang="en-US" sz="1800" baseline="0" dirty="0" smtClean="0"/>
                        <a:t>selectable constant site ancillary data such as latitude band or </a:t>
                      </a:r>
                      <a:r>
                        <a:rPr lang="en-US" sz="1800" baseline="0" dirty="0" err="1" smtClean="0"/>
                        <a:t>vegetationtype</a:t>
                      </a:r>
                      <a:r>
                        <a:rPr lang="en-US" sz="1800" baseline="0" dirty="0" smtClean="0"/>
                        <a:t>. </a:t>
                      </a:r>
                      <a:endParaRPr lang="en-US" sz="1800" dirty="0"/>
                    </a:p>
                  </a:txBody>
                  <a:tcPr marL="96819" marR="96819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Selectable site hierarchies for simple navigation (ala variable) or aggregation (</a:t>
                      </a:r>
                      <a:r>
                        <a:rPr lang="en-US" sz="1800" dirty="0" err="1" smtClean="0"/>
                        <a:t>eg</a:t>
                      </a:r>
                      <a:r>
                        <a:rPr lang="en-US" sz="1800" dirty="0" smtClean="0"/>
                        <a:t>. </a:t>
                      </a:r>
                      <a:r>
                        <a:rPr lang="en-US" sz="1800" dirty="0" smtClean="0"/>
                        <a:t>state or HUC).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Site selection determined by time-series variable (</a:t>
                      </a:r>
                      <a:r>
                        <a:rPr lang="en-US" sz="1800" baseline="0" dirty="0" err="1" smtClean="0"/>
                        <a:t>eg</a:t>
                      </a:r>
                      <a:r>
                        <a:rPr lang="en-US" sz="1800" baseline="0" dirty="0" smtClean="0"/>
                        <a:t>. </a:t>
                      </a:r>
                      <a:r>
                        <a:rPr lang="en-US" sz="1800" baseline="0" dirty="0" smtClean="0"/>
                        <a:t>minimum temperature)  or non-constant ancillary variable (</a:t>
                      </a:r>
                      <a:r>
                        <a:rPr lang="en-US" sz="1800" baseline="0" dirty="0" err="1" smtClean="0"/>
                        <a:t>eg</a:t>
                      </a:r>
                      <a:r>
                        <a:rPr lang="en-US" sz="1800" baseline="0" dirty="0" smtClean="0"/>
                        <a:t>. </a:t>
                      </a:r>
                      <a:r>
                        <a:rPr lang="en-US" sz="1800" baseline="0" dirty="0" smtClean="0"/>
                        <a:t>above a soil nitrogen threshold). </a:t>
                      </a:r>
                    </a:p>
                  </a:txBody>
                  <a:tcPr marL="96819" marR="96819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No</a:t>
                      </a:r>
                      <a:r>
                        <a:rPr lang="en-US" sz="1800" baseline="0" dirty="0" smtClean="0"/>
                        <a:t> offset. Either one vertical location or aggregated over the vertical. </a:t>
                      </a:r>
                      <a:endParaRPr lang="en-US" sz="1800" dirty="0"/>
                    </a:p>
                  </a:txBody>
                  <a:tcPr marL="96819" marR="9681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Geo-spatial</a:t>
                      </a:r>
                      <a:r>
                        <a:rPr lang="en-US" sz="1800" baseline="0" dirty="0" smtClean="0"/>
                        <a:t> calculations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Vertical profiles</a:t>
                      </a:r>
                    </a:p>
                  </a:txBody>
                  <a:tcPr marL="96819" marR="96819"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Where: handling location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304800" y="1371600"/>
            <a:ext cx="8305800" cy="685800"/>
          </a:xfrm>
          <a:prstGeom prst="rect">
            <a:avLst/>
          </a:prstGeom>
          <a:gradFill flip="none" rotWithShape="1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04800" y="2286000"/>
          <a:ext cx="8229600" cy="2834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/>
                <a:gridCol w="2590800"/>
                <a:gridCol w="289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No version (dataset chosen when cube is built). </a:t>
                      </a:r>
                      <a:endParaRPr lang="en-US" sz="1800" dirty="0"/>
                    </a:p>
                  </a:txBody>
                  <a:tcPr marL="96819" marR="96819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Selectable site hierarchies for simple navigation (ala variable) or aggregation (</a:t>
                      </a:r>
                      <a:r>
                        <a:rPr lang="en-US" sz="1800" dirty="0" err="1" smtClean="0"/>
                        <a:t>eg</a:t>
                      </a:r>
                      <a:r>
                        <a:rPr lang="en-US" sz="1800" dirty="0" smtClean="0"/>
                        <a:t> state or HUC).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Datasets used to include/exclude location subsets, </a:t>
                      </a:r>
                      <a:r>
                        <a:rPr lang="en-US" sz="1800" baseline="0" dirty="0" err="1" smtClean="0"/>
                        <a:t>datumtype</a:t>
                      </a:r>
                      <a:r>
                        <a:rPr lang="en-US" sz="1800" baseline="0" dirty="0" smtClean="0"/>
                        <a:t> subsets, or the same data at different processing levels or measurement granularity (</a:t>
                      </a:r>
                      <a:r>
                        <a:rPr lang="en-US" sz="1800" baseline="0" dirty="0" err="1" smtClean="0"/>
                        <a:t>eg</a:t>
                      </a:r>
                      <a:r>
                        <a:rPr lang="en-US" sz="1800" baseline="0" dirty="0" smtClean="0"/>
                        <a:t> USGS daily </a:t>
                      </a:r>
                      <a:r>
                        <a:rPr lang="en-US" sz="1800" baseline="0" dirty="0" err="1" smtClean="0"/>
                        <a:t>vs</a:t>
                      </a:r>
                      <a:r>
                        <a:rPr lang="en-US" sz="1800" baseline="0" dirty="0" smtClean="0"/>
                        <a:t> 15 minute stream flow). </a:t>
                      </a:r>
                    </a:p>
                  </a:txBody>
                  <a:tcPr marL="96819" marR="96819"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Which: versions and subsets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304800" y="1371600"/>
            <a:ext cx="8305800" cy="685800"/>
          </a:xfrm>
          <a:prstGeom prst="rect">
            <a:avLst/>
          </a:prstGeom>
          <a:gradFill flip="none" rotWithShape="1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04800" y="2286000"/>
          <a:ext cx="8229600" cy="2103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/>
                <a:gridCol w="2590800"/>
                <a:gridCol w="289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Ignore any quality metric</a:t>
                      </a:r>
                      <a:endParaRPr lang="en-US" sz="1800" dirty="0"/>
                    </a:p>
                  </a:txBody>
                  <a:tcPr marL="96819" marR="96819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Simple</a:t>
                      </a:r>
                      <a:r>
                        <a:rPr lang="en-US" sz="1800" baseline="0" dirty="0" smtClean="0"/>
                        <a:t> statistics, gap-filling, spike detection, level delta and drift checks.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??????</a:t>
                      </a:r>
                    </a:p>
                  </a:txBody>
                  <a:tcPr marL="96819" marR="96819"/>
                </a:tc>
              </a:tr>
              <a:tr h="37084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6819" marR="9681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Quality</a:t>
                      </a:r>
                      <a:r>
                        <a:rPr lang="en-US" sz="1800" baseline="0" dirty="0" smtClean="0"/>
                        <a:t> dimension to allow visualization and filtering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aseline="0" dirty="0" smtClean="0"/>
                    </a:p>
                  </a:txBody>
                  <a:tcPr marL="96819" marR="96819"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How: quality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304800" y="1371600"/>
            <a:ext cx="8305800" cy="685800"/>
          </a:xfrm>
          <a:prstGeom prst="rect">
            <a:avLst/>
          </a:prstGeom>
          <a:gradFill flip="none" rotWithShape="1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276600" y="5486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81200" y="5257800"/>
            <a:ext cx="487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is clearly where we’ll be spending  more time!</a:t>
            </a:r>
            <a:endParaRPr lang="en-US" dirty="0"/>
          </a:p>
        </p:txBody>
      </p:sp>
      <p:pic>
        <p:nvPicPr>
          <p:cNvPr id="6147" name="Picture 3" descr="C:\Documents and Settings\vaningen\My Documents\My Pictures\thinkingcap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81800" y="4267200"/>
            <a:ext cx="2014818" cy="2133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Does This Fit in the Scientific Process?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33400" y="1524000"/>
            <a:ext cx="7848600" cy="1219200"/>
          </a:xfrm>
          <a:prstGeom prst="rect">
            <a:avLst/>
          </a:prstGeom>
          <a:gradFill flip="none" rotWithShape="1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3400" y="1524000"/>
          <a:ext cx="8229600" cy="472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125634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Data Gathering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Discover y and Browsing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Science Exploration</a:t>
                      </a:r>
                    </a:p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Domain specific analyses</a:t>
                      </a:r>
                    </a:p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Outputs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4680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Automation of data ingest.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As 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standards emerge, sensor data 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acquisition and ingest 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will become 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easier. </a:t>
                      </a:r>
                      <a:endParaRPr lang="en-US" sz="1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Data cube.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Should 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be 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reasonably 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straight forward to generalize. 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(Data mining could be interesting here)</a:t>
                      </a:r>
                      <a:endParaRPr lang="en-US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Data cube calculated dimensions/ aggregations.</a:t>
                      </a:r>
                    </a:p>
                    <a:p>
                      <a:endParaRPr lang="en-US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Some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conversions are simple. Some exploration is just browsing with different variables. 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My calculation/ My cube/My database.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Special purpose 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may be 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hard 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to do given the base database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400" baseline="0" dirty="0" err="1" smtClean="0">
                          <a:solidFill>
                            <a:schemeClr val="tx1"/>
                          </a:solidFill>
                        </a:rPr>
                        <a:t>datacube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 technologies. (Workflow technologies might help here)</a:t>
                      </a:r>
                      <a:endParaRPr lang="en-US" sz="140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Interfaces to commercial 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products 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and shareware.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Should be reasonably straight forward to generalize. (Web services and Collaborative tools help here)</a:t>
                      </a:r>
                      <a:endParaRPr lang="en-US" sz="14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371600"/>
            <a:ext cx="4038600" cy="50292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Berkeley Water Center, University of California, Berkeley, Lawrence Berkeley Laboratory</a:t>
            </a:r>
          </a:p>
          <a:p>
            <a:pPr lvl="1">
              <a:lnSpc>
                <a:spcPct val="80000"/>
              </a:lnSpc>
              <a:buNone/>
            </a:pPr>
            <a:r>
              <a:rPr lang="en-US" sz="17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Jim Hunt</a:t>
            </a:r>
          </a:p>
          <a:p>
            <a:pPr lvl="1">
              <a:lnSpc>
                <a:spcPct val="80000"/>
              </a:lnSpc>
              <a:buNone/>
            </a:pPr>
            <a:r>
              <a:rPr lang="en-US" sz="17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Deb </a:t>
            </a:r>
            <a:r>
              <a:rPr lang="en-US" sz="1700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Agarwal</a:t>
            </a:r>
            <a:endParaRPr lang="en-US" sz="1700" dirty="0" smtClean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sz="17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Robin Weber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Monte Good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Rebecca </a:t>
            </a:r>
            <a:r>
              <a:rPr lang="en-US" sz="1700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Leonardson</a:t>
            </a:r>
            <a:r>
              <a:rPr lang="en-US" sz="17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(student)</a:t>
            </a:r>
          </a:p>
          <a:p>
            <a:pPr lvl="1">
              <a:lnSpc>
                <a:spcPct val="80000"/>
              </a:lnSpc>
              <a:buNone/>
            </a:pPr>
            <a:r>
              <a:rPr lang="en-US" sz="1700" dirty="0" smtClean="0">
                <a:latin typeface="Arial" pitchFamily="34" charset="0"/>
                <a:cs typeface="Arial" pitchFamily="34" charset="0"/>
              </a:rPr>
              <a:t>Matt Rodriguez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smtClean="0">
                <a:latin typeface="Arial" pitchFamily="34" charset="0"/>
                <a:cs typeface="Arial" pitchFamily="34" charset="0"/>
              </a:rPr>
              <a:t>Carolyn </a:t>
            </a:r>
            <a:r>
              <a:rPr lang="en-US" sz="1700" dirty="0" err="1" smtClean="0">
                <a:latin typeface="Arial" pitchFamily="34" charset="0"/>
                <a:cs typeface="Arial" pitchFamily="34" charset="0"/>
              </a:rPr>
              <a:t>Remick</a:t>
            </a:r>
            <a:endParaRPr lang="en-US" sz="1700" dirty="0"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Susan Hubbard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sz="17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University of Virginia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Marty Humphrey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Norm </a:t>
            </a:r>
            <a:r>
              <a:rPr lang="en-US" sz="1700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Beekwilder</a:t>
            </a:r>
            <a:endParaRPr lang="en-US" sz="1700" dirty="0" smtClean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endParaRPr lang="en-US" sz="1500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Microsoft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Catharine van </a:t>
            </a:r>
            <a:r>
              <a:rPr lang="en-US" sz="1700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Ingen</a:t>
            </a:r>
            <a:endParaRPr lang="en-US" sz="1700" dirty="0" smtClean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Jayant</a:t>
            </a:r>
            <a:r>
              <a:rPr lang="en-US" sz="17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700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Gupchup</a:t>
            </a:r>
            <a:r>
              <a:rPr lang="en-US" sz="17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(student)</a:t>
            </a:r>
          </a:p>
          <a:p>
            <a:pPr lvl="1">
              <a:lnSpc>
                <a:spcPct val="80000"/>
              </a:lnSpc>
              <a:buNone/>
            </a:pPr>
            <a:r>
              <a:rPr lang="en-US" sz="1700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Savas</a:t>
            </a:r>
            <a:r>
              <a:rPr lang="en-US" sz="17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700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Parastidis</a:t>
            </a:r>
            <a:endParaRPr lang="en-US" sz="1700" dirty="0" smtClean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sz="17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Andy </a:t>
            </a:r>
            <a:r>
              <a:rPr lang="en-US" sz="1700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Sterland</a:t>
            </a:r>
            <a:endParaRPr lang="en-US" sz="1700" dirty="0" smtClean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smtClean="0">
                <a:latin typeface="Arial" pitchFamily="34" charset="0"/>
                <a:cs typeface="Arial" pitchFamily="34" charset="0"/>
              </a:rPr>
              <a:t>Nolan Li (student)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smtClean="0">
                <a:latin typeface="Arial" pitchFamily="34" charset="0"/>
                <a:cs typeface="Arial" pitchFamily="34" charset="0"/>
              </a:rPr>
              <a:t>Tony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Hey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Dan </a:t>
            </a:r>
            <a:r>
              <a:rPr lang="en-US" sz="1700" dirty="0" smtClean="0">
                <a:latin typeface="Arial" pitchFamily="34" charset="0"/>
                <a:cs typeface="Arial" pitchFamily="34" charset="0"/>
              </a:rPr>
              <a:t>Fay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smtClean="0">
                <a:latin typeface="Arial" pitchFamily="34" charset="0"/>
                <a:cs typeface="Arial" pitchFamily="34" charset="0"/>
              </a:rPr>
              <a:t>Jing De </a:t>
            </a:r>
            <a:r>
              <a:rPr lang="en-US" sz="1700" dirty="0" err="1" smtClean="0">
                <a:latin typeface="Arial" pitchFamily="34" charset="0"/>
                <a:cs typeface="Arial" pitchFamily="34" charset="0"/>
              </a:rPr>
              <a:t>Jong</a:t>
            </a:r>
            <a:r>
              <a:rPr lang="en-US" sz="1700" dirty="0" smtClean="0">
                <a:latin typeface="Arial" pitchFamily="34" charset="0"/>
                <a:cs typeface="Arial" pitchFamily="34" charset="0"/>
              </a:rPr>
              <a:t>-Chen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smtClean="0">
                <a:latin typeface="Arial" pitchFamily="34" charset="0"/>
                <a:cs typeface="Arial" pitchFamily="34" charset="0"/>
              </a:rPr>
              <a:t>Stuart </a:t>
            </a:r>
            <a:r>
              <a:rPr lang="en-US" sz="1700" dirty="0" err="1">
                <a:latin typeface="Arial" pitchFamily="34" charset="0"/>
                <a:cs typeface="Arial" pitchFamily="34" charset="0"/>
              </a:rPr>
              <a:t>Ozer</a:t>
            </a:r>
            <a:endParaRPr lang="en-US" sz="1700" dirty="0"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SQL product </a:t>
            </a:r>
            <a:r>
              <a:rPr lang="en-US" sz="1700" dirty="0" smtClean="0">
                <a:latin typeface="Arial" pitchFamily="34" charset="0"/>
                <a:cs typeface="Arial" pitchFamily="34" charset="0"/>
              </a:rPr>
              <a:t>team</a:t>
            </a:r>
          </a:p>
          <a:p>
            <a:pPr lvl="1">
              <a:lnSpc>
                <a:spcPct val="80000"/>
              </a:lnSpc>
              <a:buNone/>
            </a:pPr>
            <a:r>
              <a:rPr lang="en-US" sz="1700" dirty="0" smtClean="0">
                <a:latin typeface="Arial" pitchFamily="34" charset="0"/>
                <a:cs typeface="Arial" pitchFamily="34" charset="0"/>
              </a:rPr>
              <a:t>Jim Gray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4648200" y="1384109"/>
            <a:ext cx="4038600" cy="4788091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20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Ameriflux</a:t>
            </a:r>
            <a:r>
              <a:rPr lang="en-US" sz="20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 Collaboration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6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Beverly Law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600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Youngryel</a:t>
            </a:r>
            <a:r>
              <a:rPr lang="en-US" sz="16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Ryu</a:t>
            </a:r>
            <a:r>
              <a:rPr lang="en-US" sz="16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en-US" sz="1600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postdoc</a:t>
            </a:r>
            <a:r>
              <a:rPr lang="en-US" sz="16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Tara 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Stiefl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 (student)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Gretchen Miller (student)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Mattias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 Falk 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Tom 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Boden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Bruce Wilson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20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Fluxnet</a:t>
            </a:r>
            <a:r>
              <a:rPr lang="en-US" sz="20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 Collaboration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6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Dennis </a:t>
            </a:r>
            <a:r>
              <a:rPr lang="en-US" sz="1600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Baldocchi</a:t>
            </a:r>
            <a:endParaRPr lang="en-US" sz="1600" dirty="0" smtClean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6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Rodrigo Vargas (</a:t>
            </a:r>
            <a:r>
              <a:rPr lang="en-US" sz="1600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postdoc</a:t>
            </a:r>
            <a:r>
              <a:rPr lang="en-US" sz="16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6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Dario </a:t>
            </a:r>
            <a:r>
              <a:rPr lang="en-US" sz="1600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Papale</a:t>
            </a:r>
            <a:endParaRPr lang="en-US" sz="1600" dirty="0" smtClean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6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Markus Reichstein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Bob Cook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Susan Holladay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Dorothea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Frank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Acknowledgements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5273695"/>
            <a:ext cx="42672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Arial" charset="0"/>
              </a:rPr>
              <a:t>The saga continues at </a:t>
            </a:r>
            <a:r>
              <a:rPr lang="en-US" dirty="0" smtClean="0">
                <a:solidFill>
                  <a:srgbClr val="FFFF00"/>
                </a:solidFill>
                <a:latin typeface="Arial" charset="0"/>
              </a:rPr>
              <a:t>http://bwc.berkeley.edu </a:t>
            </a:r>
            <a:r>
              <a:rPr lang="en-US" dirty="0" smtClean="0">
                <a:latin typeface="Arial" charset="0"/>
              </a:rPr>
              <a:t>and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Arial" charset="0"/>
              </a:rPr>
              <a:t> </a:t>
            </a:r>
            <a:r>
              <a:rPr lang="en-US" dirty="0" smtClean="0">
                <a:solidFill>
                  <a:srgbClr val="FFFF00"/>
                </a:solidFill>
                <a:latin typeface="Arial" charset="0"/>
              </a:rPr>
              <a:t>http://www.fluxdata.org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Arial" charset="0"/>
              </a:rPr>
              <a:t> 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defRPr/>
            </a:pPr>
            <a:endParaRPr lang="en-US" dirty="0" smtClean="0">
              <a:latin typeface="Arial" charset="0"/>
            </a:endParaRPr>
          </a:p>
          <a:p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933</TotalTime>
  <Words>1858</Words>
  <Application>Microsoft Office PowerPoint</Application>
  <PresentationFormat>On-screen Show (4:3)</PresentationFormat>
  <Paragraphs>254</Paragraphs>
  <Slides>22</Slides>
  <Notes>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Concourse</vt:lpstr>
      <vt:lpstr>Chart</vt:lpstr>
      <vt:lpstr>Data Cubes for Eco-Science  Can One Size Fit All?  </vt:lpstr>
      <vt:lpstr>Introduction</vt:lpstr>
      <vt:lpstr>Data Cube Basics</vt:lpstr>
      <vt:lpstr>Eco-Science Data</vt:lpstr>
      <vt:lpstr>Ecological Data Avalanche/Landslide/Tsunami</vt:lpstr>
      <vt:lpstr>Carbon-Climate Research Overview</vt:lpstr>
      <vt:lpstr>Eco-Science Data</vt:lpstr>
      <vt:lpstr>Eco-Science Ancillary Data</vt:lpstr>
      <vt:lpstr>Eco-Science Analyses </vt:lpstr>
      <vt:lpstr>The Data Pipeline</vt:lpstr>
      <vt:lpstr>Browsing for Data Availability</vt:lpstr>
      <vt:lpstr>Browsing for Data Quality</vt:lpstr>
      <vt:lpstr> Eco-Science Datacubes </vt:lpstr>
      <vt:lpstr>Cube Dimensions</vt:lpstr>
      <vt:lpstr>Cube Measures</vt:lpstr>
      <vt:lpstr>What: variables and measures</vt:lpstr>
      <vt:lpstr>When: handling time</vt:lpstr>
      <vt:lpstr>Where: handling location</vt:lpstr>
      <vt:lpstr>Which: versions and subsets</vt:lpstr>
      <vt:lpstr>How: quality</vt:lpstr>
      <vt:lpstr>How Does This Fit in the Scientific Process?</vt:lpstr>
      <vt:lpstr>Acknowledgements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Observations from a Journey Toward a Generalizable Data Server Architecture for Ecological Science</dc:title>
  <dc:creator>Catharine van Ingen</dc:creator>
  <cp:lastModifiedBy>Deb</cp:lastModifiedBy>
  <cp:revision>131</cp:revision>
  <dcterms:created xsi:type="dcterms:W3CDTF">2007-09-07T16:46:10Z</dcterms:created>
  <dcterms:modified xsi:type="dcterms:W3CDTF">2007-10-21T20:51:05Z</dcterms:modified>
</cp:coreProperties>
</file>