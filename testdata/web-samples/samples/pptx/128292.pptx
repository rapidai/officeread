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5" r:id="rId11"/>
    <p:sldId id="266" r:id="rId1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rebuchet MS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rebuchet MS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rebuchet MS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rebuchet MS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rebuchet MS" pitchFamily="34" charset="0"/>
        <a:ea typeface="+mn-ea"/>
        <a:cs typeface="+mn-cs"/>
      </a:defRPr>
    </a:lvl5pPr>
    <a:lvl6pPr marL="2286000" algn="l" defTabSz="914400" rtl="0" eaLnBrk="1" latinLnBrk="0" hangingPunct="1">
      <a:defRPr sz="2400" i="1" kern="1200">
        <a:solidFill>
          <a:schemeClr val="tx1"/>
        </a:solidFill>
        <a:latin typeface="Trebuchet MS" pitchFamily="34" charset="0"/>
        <a:ea typeface="+mn-ea"/>
        <a:cs typeface="+mn-cs"/>
      </a:defRPr>
    </a:lvl6pPr>
    <a:lvl7pPr marL="2743200" algn="l" defTabSz="914400" rtl="0" eaLnBrk="1" latinLnBrk="0" hangingPunct="1">
      <a:defRPr sz="2400" i="1" kern="1200">
        <a:solidFill>
          <a:schemeClr val="tx1"/>
        </a:solidFill>
        <a:latin typeface="Trebuchet MS" pitchFamily="34" charset="0"/>
        <a:ea typeface="+mn-ea"/>
        <a:cs typeface="+mn-cs"/>
      </a:defRPr>
    </a:lvl7pPr>
    <a:lvl8pPr marL="3200400" algn="l" defTabSz="914400" rtl="0" eaLnBrk="1" latinLnBrk="0" hangingPunct="1">
      <a:defRPr sz="2400" i="1" kern="1200">
        <a:solidFill>
          <a:schemeClr val="tx1"/>
        </a:solidFill>
        <a:latin typeface="Trebuchet MS" pitchFamily="34" charset="0"/>
        <a:ea typeface="+mn-ea"/>
        <a:cs typeface="+mn-cs"/>
      </a:defRPr>
    </a:lvl8pPr>
    <a:lvl9pPr marL="3657600" algn="l" defTabSz="914400" rtl="0" eaLnBrk="1" latinLnBrk="0" hangingPunct="1">
      <a:defRPr sz="2400" i="1" kern="1200">
        <a:solidFill>
          <a:schemeClr val="tx1"/>
        </a:solidFill>
        <a:latin typeface="Trebuchet MS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EAEAEA"/>
    <a:srgbClr val="000000"/>
    <a:srgbClr val="C0C0C0"/>
    <a:srgbClr val="1C1C1C"/>
    <a:srgbClr val="FF0000"/>
    <a:srgbClr val="9A0000"/>
    <a:srgbClr val="00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348" autoAdjust="0"/>
    <p:restoredTop sz="94660" autoAdjust="0"/>
  </p:normalViewPr>
  <p:slideViewPr>
    <p:cSldViewPr>
      <p:cViewPr varScale="1">
        <p:scale>
          <a:sx n="86" d="100"/>
          <a:sy n="86" d="100"/>
        </p:scale>
        <p:origin x="-830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1" tIns="48296" rIns="96591" bIns="48296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1" tIns="48296" rIns="96591" bIns="48296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en-US"/>
          </a:p>
        </p:txBody>
      </p:sp>
      <p:sp>
        <p:nvSpPr>
          <p:cNvPr id="161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1" tIns="48296" rIns="96591" bIns="48296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161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1" tIns="48296" rIns="96591" bIns="48296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BF04ED73-94A8-4B16-8F31-4E408EBC18C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1" tIns="48296" rIns="96591" bIns="48296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 i="0"/>
            </a:lvl1pPr>
          </a:lstStyle>
          <a:p>
            <a:endParaRPr lang="en-US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1" tIns="48296" rIns="96591" bIns="48296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 i="0"/>
            </a:lvl1pPr>
          </a:lstStyle>
          <a:p>
            <a:endParaRPr lang="en-US" altLang="en-US"/>
          </a:p>
        </p:txBody>
      </p:sp>
      <p:sp>
        <p:nvSpPr>
          <p:cNvPr id="7680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vert="horz" wrap="square" lIns="96591" tIns="48296" rIns="96591" bIns="482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1" tIns="48296" rIns="96591" bIns="48296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 i="0"/>
            </a:lvl1pPr>
          </a:lstStyle>
          <a:p>
            <a:endParaRPr lang="en-US" altLang="en-US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1" tIns="48296" rIns="96591" bIns="48296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 i="0"/>
            </a:lvl1pPr>
          </a:lstStyle>
          <a:p>
            <a:fld id="{8D4DF982-0B4D-4534-B339-982418D5E9E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8D02DA-BB91-47E4-B02E-205462C0B2BB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2037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AC4EA9-9D2F-47A9-AC97-85FB32E946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6CCD16-7DFD-41E3-88E1-AD0BDA172D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303372-7C0C-4E6B-B0A9-FBC58440A6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855C891-3829-4FF6-B2AB-36930C7BDF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A112FA-1454-4587-891C-F01FB6DDCA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B33CBF-8183-4877-BC05-6361BF02CB5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520AA4C-49BF-4D8C-8D14-EAC99D6269B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FE49D0-352F-4CB7-B824-913658CD41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2AB322-7C5A-49FE-ACFB-BD3964AEA2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909427-250F-4FB9-8410-CB732FCED4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76200"/>
            <a:ext cx="2000250" cy="6400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6200"/>
            <a:ext cx="5848350" cy="6400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3F2A0B-796A-4BFB-9216-3ABFF7C1AE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6553200"/>
            <a:ext cx="91440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2057400" y="6508750"/>
            <a:ext cx="5276850" cy="149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89100" y="6577013"/>
            <a:ext cx="57912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en-US" sz="1200" b="1" i="0">
                <a:solidFill>
                  <a:srgbClr val="085131"/>
                </a:solidFill>
                <a:latin typeface="BankGothic Lt BT" pitchFamily="34" charset="0"/>
              </a:rPr>
              <a:t>Engineering Division</a:t>
            </a:r>
          </a:p>
        </p:txBody>
      </p:sp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5"/>
          <a:srcRect r="17188" b="-8679"/>
          <a:stretch>
            <a:fillRect/>
          </a:stretch>
        </p:blipFill>
        <p:spPr bwMode="auto">
          <a:xfrm>
            <a:off x="152400" y="76200"/>
            <a:ext cx="815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6"/>
          <a:srcRect l="84375" b="-8679"/>
          <a:stretch>
            <a:fillRect/>
          </a:stretch>
        </p:blipFill>
        <p:spPr bwMode="auto">
          <a:xfrm>
            <a:off x="8229600" y="762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smtClean="0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/>
            </a:lvl1pPr>
          </a:lstStyle>
          <a:p>
            <a:endParaRPr 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/>
            </a:lvl1pPr>
          </a:lstStyle>
          <a:p>
            <a:fld id="{35480986-B266-4430-A211-9A57CAEFB4C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Trebuchet MS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Trebuchet MS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Trebuchet MS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Trebuchet MS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Trebuchet MS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Trebuchet MS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Trebuchet MS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0099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rgbClr val="000099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000099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rgbClr val="000099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000099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000099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000099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000099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0000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32A9DE-E173-4A2A-AD64-A2D6E1BFDAFC}" type="slidenum">
              <a:rPr lang="en-US"/>
              <a:pPr/>
              <a:t>1</a:t>
            </a:fld>
            <a:endParaRPr lang="en-US"/>
          </a:p>
        </p:txBody>
      </p:sp>
      <p:sp>
        <p:nvSpPr>
          <p:cNvPr id="1843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Phased Cone Proposal</a:t>
            </a:r>
            <a:endParaRPr lang="en-US" dirty="0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Eric Anderssen, LBNL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7772400" cy="5638800"/>
          </a:xfrm>
        </p:spPr>
        <p:txBody>
          <a:bodyPr/>
          <a:lstStyle/>
          <a:p>
            <a:r>
              <a:rPr lang="en-US" dirty="0" smtClean="0"/>
              <a:t>These are just ‘Cartoon CAD’ models</a:t>
            </a:r>
          </a:p>
          <a:p>
            <a:r>
              <a:rPr lang="en-US" dirty="0" smtClean="0"/>
              <a:t>Detail dimensions need to be worked out with West Cone/FGT</a:t>
            </a:r>
          </a:p>
          <a:p>
            <a:r>
              <a:rPr lang="en-US" dirty="0" smtClean="0"/>
              <a:t>While they are ‘cartoons’ I tried to get the right number of basic parts</a:t>
            </a:r>
          </a:p>
          <a:p>
            <a:r>
              <a:rPr lang="en-US" dirty="0" smtClean="0"/>
              <a:t>Fasteners other than glue are not included, but will indicate bolted/pinned joints</a:t>
            </a:r>
          </a:p>
          <a:p>
            <a:r>
              <a:rPr lang="en-US" dirty="0" smtClean="0"/>
              <a:t>Most parts similar to ATLAS Pixel Support Tube</a:t>
            </a:r>
          </a:p>
          <a:p>
            <a:pPr lvl="1"/>
            <a:r>
              <a:rPr lang="en-US" dirty="0" smtClean="0"/>
              <a:t>Could build in short order after dimensions are finalized…</a:t>
            </a:r>
          </a:p>
          <a:p>
            <a:pPr lvl="1"/>
            <a:r>
              <a:rPr lang="en-US" dirty="0" smtClean="0"/>
              <a:t>Should wait to assure IST/ISC/Pixels/FGT do not impose auxiliary constraints</a:t>
            </a:r>
          </a:p>
          <a:p>
            <a:r>
              <a:rPr lang="en-US" dirty="0" smtClean="0"/>
              <a:t>Neighboring parts cannot lag by more than one CD…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6CCD16-7DFD-41E3-88E1-AD0BDA172D6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Cut Apart Current Cones next Summer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648200"/>
            <a:ext cx="7772400" cy="1828800"/>
          </a:xfrm>
        </p:spPr>
        <p:txBody>
          <a:bodyPr/>
          <a:lstStyle/>
          <a:p>
            <a:r>
              <a:rPr lang="en-US" sz="2000" dirty="0" smtClean="0"/>
              <a:t>Old East Cone and most of Beams to be reused to support New West Cone</a:t>
            </a:r>
          </a:p>
          <a:p>
            <a:r>
              <a:rPr lang="en-US" sz="2000" dirty="0" smtClean="0"/>
              <a:t>Old West cone refurbished into New East Cone in Berkeley</a:t>
            </a:r>
          </a:p>
          <a:p>
            <a:r>
              <a:rPr lang="en-US" sz="2000" dirty="0" smtClean="0"/>
              <a:t>Cut location in Carbon Beam away from Al Insert—details later</a:t>
            </a:r>
          </a:p>
          <a:p>
            <a:r>
              <a:rPr lang="en-US" sz="2000" dirty="0" smtClean="0"/>
              <a:t>Should probably cut more accurately than indicated…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6CCD16-7DFD-41E3-88E1-AD0BDA172D63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762000" y="685800"/>
            <a:ext cx="7543800" cy="1447800"/>
            <a:chOff x="762000" y="1447800"/>
            <a:chExt cx="7543800" cy="1447800"/>
          </a:xfrm>
        </p:grpSpPr>
        <p:grpSp>
          <p:nvGrpSpPr>
            <p:cNvPr id="8" name="Group 7"/>
            <p:cNvGrpSpPr/>
            <p:nvPr/>
          </p:nvGrpSpPr>
          <p:grpSpPr>
            <a:xfrm>
              <a:off x="2133600" y="1447800"/>
              <a:ext cx="1676400" cy="1447800"/>
              <a:chOff x="2514600" y="1371600"/>
              <a:chExt cx="1676400" cy="1447800"/>
            </a:xfrm>
          </p:grpSpPr>
          <p:sp>
            <p:nvSpPr>
              <p:cNvPr id="5" name="Trapezoid 4"/>
              <p:cNvSpPr/>
              <p:nvPr/>
            </p:nvSpPr>
            <p:spPr bwMode="auto">
              <a:xfrm rot="5400000">
                <a:off x="2552700" y="1333500"/>
                <a:ext cx="1447800" cy="1524000"/>
              </a:xfrm>
              <a:prstGeom prst="trapezoid">
                <a:avLst>
                  <a:gd name="adj" fmla="val 21321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ebuchet MS" pitchFamily="34" charset="0"/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 bwMode="auto">
              <a:xfrm>
                <a:off x="4038600" y="1676400"/>
                <a:ext cx="152400" cy="838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ebuchet MS" pitchFamily="34" charset="0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 rot="10800000">
              <a:off x="5257800" y="1447800"/>
              <a:ext cx="1676400" cy="1447800"/>
              <a:chOff x="2514600" y="1371600"/>
              <a:chExt cx="1676400" cy="1447800"/>
            </a:xfrm>
          </p:grpSpPr>
          <p:sp>
            <p:nvSpPr>
              <p:cNvPr id="10" name="Trapezoid 9"/>
              <p:cNvSpPr/>
              <p:nvPr/>
            </p:nvSpPr>
            <p:spPr bwMode="auto">
              <a:xfrm rot="5400000">
                <a:off x="2552700" y="1333500"/>
                <a:ext cx="1447800" cy="1524000"/>
              </a:xfrm>
              <a:prstGeom prst="trapezoid">
                <a:avLst>
                  <a:gd name="adj" fmla="val 21321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ebuchet MS" pitchFamily="34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 bwMode="auto">
              <a:xfrm>
                <a:off x="4038600" y="1676400"/>
                <a:ext cx="152400" cy="838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rebuchet MS" pitchFamily="34" charset="0"/>
                </a:endParaRPr>
              </a:p>
            </p:txBody>
          </p:sp>
        </p:grpSp>
        <p:sp>
          <p:nvSpPr>
            <p:cNvPr id="12" name="Rectangle 11"/>
            <p:cNvSpPr/>
            <p:nvPr/>
          </p:nvSpPr>
          <p:spPr bwMode="auto">
            <a:xfrm>
              <a:off x="3810000" y="1752600"/>
              <a:ext cx="1447800" cy="76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810000" y="2514600"/>
              <a:ext cx="1447800" cy="76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762000" y="1447800"/>
              <a:ext cx="1371600" cy="1447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6934200" y="1447800"/>
              <a:ext cx="1371600" cy="1447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</p:grpSp>
      <p:pic>
        <p:nvPicPr>
          <p:cNvPr id="229378" name="Picture 2" descr="C:\Documents and Settings\ericcan\Local Settings\Temporary Internet Files\Content.IE5\KQJGIZDJ\MCj02924200000[1]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685800"/>
            <a:ext cx="1404854" cy="817474"/>
          </a:xfrm>
          <a:prstGeom prst="rect">
            <a:avLst/>
          </a:prstGeom>
          <a:noFill/>
        </p:spPr>
      </p:pic>
      <p:pic>
        <p:nvPicPr>
          <p:cNvPr id="2293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514600"/>
            <a:ext cx="4676775" cy="160972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</p:pic>
      <p:pic>
        <p:nvPicPr>
          <p:cNvPr id="22938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0" y="2514600"/>
            <a:ext cx="3552825" cy="163830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</p:pic>
      <p:sp>
        <p:nvSpPr>
          <p:cNvPr id="20" name="Striped Right Arrow 19"/>
          <p:cNvSpPr/>
          <p:nvPr/>
        </p:nvSpPr>
        <p:spPr bwMode="auto">
          <a:xfrm>
            <a:off x="6629400" y="2971800"/>
            <a:ext cx="1600200" cy="762000"/>
          </a:xfrm>
          <a:prstGeom prst="stripedRight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24600" y="4038600"/>
            <a:ext cx="2523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Send to Berkeley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04800" y="4038600"/>
            <a:ext cx="2948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Keep at Brookhaven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Modified East Cone</a:t>
            </a:r>
            <a:endParaRPr lang="en-US" dirty="0"/>
          </a:p>
        </p:txBody>
      </p:sp>
      <p:pic>
        <p:nvPicPr>
          <p:cNvPr id="4" name="Content Placeholder 3" descr="side cone.pn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8036840" cy="2286000"/>
          </a:xfr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152400" y="3124200"/>
            <a:ext cx="5715000" cy="2743200"/>
          </a:xfrm>
        </p:spPr>
        <p:txBody>
          <a:bodyPr/>
          <a:lstStyle/>
          <a:p>
            <a:r>
              <a:rPr lang="en-US" sz="2400" dirty="0" smtClean="0"/>
              <a:t>View as Temporary Fix—Should be ACAP (as cheap as possible)</a:t>
            </a:r>
          </a:p>
          <a:p>
            <a:pPr lvl="1"/>
            <a:r>
              <a:rPr lang="en-US" sz="2000" dirty="0" smtClean="0"/>
              <a:t>Supports end of New West Cone/FGT</a:t>
            </a:r>
          </a:p>
          <a:p>
            <a:pPr lvl="1"/>
            <a:r>
              <a:rPr lang="en-US" sz="2000" dirty="0" smtClean="0"/>
              <a:t>Replicates Old Beam Pipe Interfaces</a:t>
            </a:r>
          </a:p>
          <a:p>
            <a:pPr lvl="1"/>
            <a:r>
              <a:rPr lang="en-US" sz="2000" dirty="0" smtClean="0"/>
              <a:t>Includes SSD if required </a:t>
            </a:r>
          </a:p>
          <a:p>
            <a:pPr lvl="1"/>
            <a:r>
              <a:rPr lang="en-US" sz="2000" dirty="0" smtClean="0"/>
              <a:t>Only for summer ’08 to ‘09</a:t>
            </a:r>
          </a:p>
          <a:p>
            <a:r>
              <a:rPr lang="en-US" sz="2400" dirty="0" smtClean="0"/>
              <a:t>Wholly Machined/Bonded Solution</a:t>
            </a:r>
          </a:p>
          <a:p>
            <a:pPr lvl="1"/>
            <a:r>
              <a:rPr lang="en-US" sz="2000" dirty="0" smtClean="0"/>
              <a:t>Tooling to locate Buck Plate while bonding is required…</a:t>
            </a:r>
            <a:endParaRPr lang="en-US" sz="2000" dirty="0"/>
          </a:p>
        </p:txBody>
      </p:sp>
      <p:pic>
        <p:nvPicPr>
          <p:cNvPr id="6" name="Picture 5" descr="plate and be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895600"/>
            <a:ext cx="2915071" cy="2895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91200" y="579120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Buck Plate aimed for</a:t>
            </a:r>
          </a:p>
          <a:p>
            <a:r>
              <a:rPr lang="en-US" sz="1800" dirty="0" smtClean="0"/>
              <a:t>Easy Swap of replacement</a:t>
            </a:r>
            <a:endParaRPr lang="en-US" sz="1800" dirty="0"/>
          </a:p>
        </p:txBody>
      </p:sp>
      <p:sp>
        <p:nvSpPr>
          <p:cNvPr id="9" name="Rectangle 8"/>
          <p:cNvSpPr/>
          <p:nvPr/>
        </p:nvSpPr>
        <p:spPr bwMode="auto">
          <a:xfrm>
            <a:off x="5257800" y="1676400"/>
            <a:ext cx="29718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0" y="1828800"/>
            <a:ext cx="2716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Some Tooling Required…</a:t>
            </a:r>
            <a:endParaRPr lang="en-US" sz="1800" dirty="0"/>
          </a:p>
        </p:txBody>
      </p:sp>
      <p:cxnSp>
        <p:nvCxnSpPr>
          <p:cNvPr id="12" name="Straight Connector 11"/>
          <p:cNvCxnSpPr/>
          <p:nvPr/>
        </p:nvCxnSpPr>
        <p:spPr bwMode="auto">
          <a:xfrm rot="5400000" flipH="1" flipV="1">
            <a:off x="4800600" y="1066800"/>
            <a:ext cx="609600" cy="15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 rot="5400000" flipH="1" flipV="1">
            <a:off x="8077994" y="1066006"/>
            <a:ext cx="609600" cy="15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>
            <a:off x="5105400" y="914400"/>
            <a:ext cx="327660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172200" y="533400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~1.5m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inser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34200" y="3048000"/>
            <a:ext cx="1295400" cy="7605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/>
          <a:lstStyle/>
          <a:p>
            <a:r>
              <a:rPr lang="en-US" dirty="0" smtClean="0"/>
              <a:t>Make a </a:t>
            </a:r>
            <a:r>
              <a:rPr lang="en-US" dirty="0" smtClean="0"/>
              <a:t>Low Mass </a:t>
            </a:r>
            <a:r>
              <a:rPr lang="en-US" dirty="0" smtClean="0"/>
              <a:t>‘Buck Plate’</a:t>
            </a:r>
            <a:endParaRPr lang="en-US" dirty="0"/>
          </a:p>
        </p:txBody>
      </p:sp>
      <p:pic>
        <p:nvPicPr>
          <p:cNvPr id="5" name="Content Placeholder 4" descr="insert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7010400" y="838200"/>
            <a:ext cx="1296848" cy="760651"/>
          </a:xfrm>
        </p:spPr>
      </p:pic>
      <p:sp>
        <p:nvSpPr>
          <p:cNvPr id="17" name="Content Placeholder 16"/>
          <p:cNvSpPr>
            <a:spLocks noGrp="1"/>
          </p:cNvSpPr>
          <p:nvPr>
            <p:ph sz="quarter" idx="4"/>
          </p:nvPr>
        </p:nvSpPr>
        <p:spPr>
          <a:xfrm>
            <a:off x="381001" y="2941637"/>
            <a:ext cx="5486399" cy="3535363"/>
          </a:xfrm>
        </p:spPr>
        <p:txBody>
          <a:bodyPr/>
          <a:lstStyle/>
          <a:p>
            <a:r>
              <a:rPr lang="en-US" sz="2000" dirty="0" smtClean="0"/>
              <a:t>Coupling Insert reduces risk of large complex machined plate</a:t>
            </a:r>
          </a:p>
          <a:p>
            <a:pPr lvl="1"/>
            <a:r>
              <a:rPr lang="en-US" sz="1600" dirty="0" smtClean="0"/>
              <a:t>Quicker to modify smaller part if needed…</a:t>
            </a:r>
          </a:p>
          <a:p>
            <a:r>
              <a:rPr lang="en-US" sz="2000" dirty="0" smtClean="0"/>
              <a:t>Insert can take up </a:t>
            </a:r>
            <a:r>
              <a:rPr lang="en-US" sz="2000" dirty="0" err="1" smtClean="0"/>
              <a:t>mis</a:t>
            </a:r>
            <a:r>
              <a:rPr lang="en-US" sz="2000" dirty="0" smtClean="0"/>
              <a:t>-match in geometry of current Beam and match to ‘perfect geometry’ of machined plate (bonded)</a:t>
            </a:r>
          </a:p>
          <a:p>
            <a:r>
              <a:rPr lang="en-US" sz="2000" dirty="0" smtClean="0"/>
              <a:t>Plate includes SVT mounts and all other interfaces of current plate, Machined directly into features</a:t>
            </a:r>
          </a:p>
          <a:p>
            <a:r>
              <a:rPr lang="en-US" sz="2000" dirty="0" smtClean="0"/>
              <a:t>Mass Approx Equal to current Plate</a:t>
            </a:r>
            <a:endParaRPr lang="en-US" sz="2000" dirty="0"/>
          </a:p>
        </p:txBody>
      </p:sp>
      <p:pic>
        <p:nvPicPr>
          <p:cNvPr id="4" name="Picture 3" descr="Sn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1856862" cy="335280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457200" y="1066800"/>
            <a:ext cx="4114800" cy="1295400"/>
            <a:chOff x="228600" y="2209800"/>
            <a:chExt cx="4114800" cy="1295400"/>
          </a:xfrm>
        </p:grpSpPr>
        <p:sp>
          <p:nvSpPr>
            <p:cNvPr id="7" name="Rectangle 6"/>
            <p:cNvSpPr/>
            <p:nvPr/>
          </p:nvSpPr>
          <p:spPr>
            <a:xfrm>
              <a:off x="228600" y="2209800"/>
              <a:ext cx="26670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28600" y="3352800"/>
              <a:ext cx="26670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L-Shape 8"/>
            <p:cNvSpPr/>
            <p:nvPr/>
          </p:nvSpPr>
          <p:spPr>
            <a:xfrm rot="5400000">
              <a:off x="3543300" y="1562100"/>
              <a:ext cx="152400" cy="1447800"/>
            </a:xfrm>
            <a:prstGeom prst="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-Shape 10"/>
            <p:cNvSpPr/>
            <p:nvPr/>
          </p:nvSpPr>
          <p:spPr>
            <a:xfrm>
              <a:off x="2895600" y="3352800"/>
              <a:ext cx="1447800" cy="152400"/>
            </a:xfrm>
            <a:prstGeom prst="corne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47800" y="2438400"/>
              <a:ext cx="1600200" cy="8382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48000" y="2362200"/>
              <a:ext cx="1219200" cy="9906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62000" y="685800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Beam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76600" y="609600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Plate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419600" y="1302603"/>
            <a:ext cx="152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Coupling</a:t>
            </a:r>
          </a:p>
          <a:p>
            <a:r>
              <a:rPr lang="en-US" dirty="0" smtClean="0"/>
              <a:t>Insert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562600" y="4724400"/>
            <a:ext cx="30604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Needs to include</a:t>
            </a:r>
          </a:p>
          <a:p>
            <a:r>
              <a:rPr lang="en-US" dirty="0" smtClean="0"/>
              <a:t>Beam Pipe Mount</a:t>
            </a:r>
          </a:p>
          <a:p>
            <a:r>
              <a:rPr lang="en-US" dirty="0" smtClean="0"/>
              <a:t>And other interfaces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 bwMode="auto">
          <a:xfrm flipV="1">
            <a:off x="6096000" y="3810000"/>
            <a:ext cx="1066800" cy="9906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Plate Needs to Make up Cut Lengths</a:t>
            </a:r>
            <a:endParaRPr lang="en-US" dirty="0"/>
          </a:p>
        </p:txBody>
      </p:sp>
      <p:pic>
        <p:nvPicPr>
          <p:cNvPr id="4" name="Content Placeholder 3" descr="beam trim.pn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85800" y="3352800"/>
            <a:ext cx="7804596" cy="3110410"/>
          </a:xfr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81000" y="990600"/>
            <a:ext cx="5334000" cy="3048000"/>
          </a:xfrm>
        </p:spPr>
        <p:txBody>
          <a:bodyPr/>
          <a:lstStyle/>
          <a:p>
            <a:r>
              <a:rPr lang="en-US" sz="2400" dirty="0" smtClean="0"/>
              <a:t>Lengths just guessed—need FGT/West Cone to do better</a:t>
            </a:r>
          </a:p>
          <a:p>
            <a:r>
              <a:rPr lang="en-US" sz="2400" dirty="0" smtClean="0"/>
              <a:t>Cut placed just past insert—easier to cut, cleaner bond</a:t>
            </a:r>
          </a:p>
          <a:p>
            <a:r>
              <a:rPr lang="en-US" sz="2400" dirty="0" smtClean="0"/>
              <a:t>May need to find way to couple to outer skin of Beam</a:t>
            </a:r>
          </a:p>
          <a:p>
            <a:pPr lvl="1"/>
            <a:r>
              <a:rPr lang="en-US" sz="2000" dirty="0" smtClean="0"/>
              <a:t>Not done with current Beam</a:t>
            </a:r>
            <a:endParaRPr lang="en-US" sz="2000" dirty="0"/>
          </a:p>
        </p:txBody>
      </p:sp>
      <p:pic>
        <p:nvPicPr>
          <p:cNvPr id="5" name="Content Placeholder 3" descr="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209800"/>
            <a:ext cx="1600200" cy="23088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Goal—Swap-in Replacement</a:t>
            </a:r>
            <a:endParaRPr lang="en-US" dirty="0"/>
          </a:p>
        </p:txBody>
      </p:sp>
      <p:pic>
        <p:nvPicPr>
          <p:cNvPr id="4" name="Content Placeholder 3" descr="side cone cylinder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95400"/>
            <a:ext cx="9015677" cy="2621857"/>
          </a:xfrm>
        </p:spPr>
      </p:pic>
      <p:pic>
        <p:nvPicPr>
          <p:cNvPr id="5" name="Picture 4" descr="side 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7754"/>
            <a:ext cx="9067800" cy="25792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 bwMode="auto">
          <a:xfrm rot="5400000">
            <a:off x="4496594" y="3885406"/>
            <a:ext cx="914400" cy="15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 rot="5400000">
            <a:off x="4687094" y="3847306"/>
            <a:ext cx="1143000" cy="15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rot="5400000" flipH="1" flipV="1">
            <a:off x="8420100" y="3848100"/>
            <a:ext cx="1143000" cy="15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7543800" y="3505200"/>
            <a:ext cx="1508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/>
              <a:t>Should Be</a:t>
            </a:r>
          </a:p>
          <a:p>
            <a:pPr algn="r"/>
            <a:r>
              <a:rPr lang="en-US" sz="1800" dirty="0" smtClean="0"/>
              <a:t>Same Length</a:t>
            </a:r>
            <a:endParaRPr lang="en-US" sz="1800" dirty="0"/>
          </a:p>
        </p:txBody>
      </p:sp>
      <p:sp>
        <p:nvSpPr>
          <p:cNvPr id="17" name="TextBox 16"/>
          <p:cNvSpPr txBox="1"/>
          <p:nvPr/>
        </p:nvSpPr>
        <p:spPr>
          <a:xfrm>
            <a:off x="914400" y="533400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New East Cone with Cylindrical Shell made from Old West Cone</a:t>
            </a:r>
          </a:p>
          <a:p>
            <a:pPr algn="ctr"/>
            <a:r>
              <a:rPr lang="en-US" sz="2000" dirty="0" smtClean="0"/>
              <a:t>Swap in by matching Bolted Interface to New West Cone…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5257800" y="3429000"/>
            <a:ext cx="1491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Modification</a:t>
            </a:r>
          </a:p>
          <a:p>
            <a:r>
              <a:rPr lang="en-US" sz="1800" dirty="0" smtClean="0"/>
              <a:t>Will Take Up</a:t>
            </a:r>
          </a:p>
          <a:p>
            <a:r>
              <a:rPr lang="en-US" sz="1800" dirty="0" smtClean="0"/>
              <a:t>Length…</a:t>
            </a:r>
            <a:endParaRPr lang="en-US" sz="1800" dirty="0"/>
          </a:p>
        </p:txBody>
      </p:sp>
      <p:sp>
        <p:nvSpPr>
          <p:cNvPr id="19" name="TextBox 18"/>
          <p:cNvSpPr txBox="1"/>
          <p:nvPr/>
        </p:nvSpPr>
        <p:spPr>
          <a:xfrm>
            <a:off x="5334000" y="16002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Include SSD interface On Shell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ut off west c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47800"/>
            <a:ext cx="5934320" cy="448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Old West Cone Modification--Flanges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5800" y="5562600"/>
            <a:ext cx="7772400" cy="914400"/>
          </a:xfrm>
        </p:spPr>
        <p:txBody>
          <a:bodyPr/>
          <a:lstStyle/>
          <a:p>
            <a:r>
              <a:rPr lang="en-US" dirty="0" smtClean="0"/>
              <a:t>Cut Back Length Determined by MFG Radii of new Flanges—also allowance for  Bolt Flange Radii</a:t>
            </a:r>
            <a:endParaRPr lang="en-US" dirty="0"/>
          </a:p>
        </p:txBody>
      </p:sp>
      <p:pic>
        <p:nvPicPr>
          <p:cNvPr id="8" name="Content Placeholder 3" descr="modified co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1" y="533400"/>
            <a:ext cx="2743200" cy="2244185"/>
          </a:xfrm>
          <a:prstGeom prst="rect">
            <a:avLst/>
          </a:prstGeom>
        </p:spPr>
      </p:pic>
      <p:pic>
        <p:nvPicPr>
          <p:cNvPr id="7" name="Content Placeholder 3" descr="flange 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52400" y="2821911"/>
            <a:ext cx="3048000" cy="2588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Flange on New East Cone</a:t>
            </a:r>
            <a:endParaRPr lang="en-US" dirty="0"/>
          </a:p>
        </p:txBody>
      </p:sp>
      <p:pic>
        <p:nvPicPr>
          <p:cNvPr id="4" name="Content Placeholder 3" descr="flange detail.png"/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2355"/>
          <a:stretch>
            <a:fillRect/>
          </a:stretch>
        </p:blipFill>
        <p:spPr>
          <a:xfrm>
            <a:off x="2286000" y="533400"/>
            <a:ext cx="3810000" cy="3159161"/>
          </a:xfrm>
        </p:spPr>
      </p:pic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>
          <a:xfrm>
            <a:off x="457200" y="3886200"/>
            <a:ext cx="8001000" cy="2438400"/>
          </a:xfrm>
        </p:spPr>
        <p:txBody>
          <a:bodyPr/>
          <a:lstStyle/>
          <a:p>
            <a:r>
              <a:rPr lang="en-US" sz="2400" dirty="0" smtClean="0"/>
              <a:t>Auxiliary Goal of Flange Two-Fold</a:t>
            </a:r>
          </a:p>
          <a:p>
            <a:pPr lvl="1"/>
            <a:r>
              <a:rPr lang="en-US" sz="2000" dirty="0" smtClean="0"/>
              <a:t>New Interface to Cone (remove old BP Interface Plate)</a:t>
            </a:r>
          </a:p>
          <a:p>
            <a:pPr lvl="1"/>
            <a:r>
              <a:rPr lang="en-US" sz="2000" dirty="0" smtClean="0"/>
              <a:t>Use Same Tool for large cylinder of IST and Intra-Cone Cylinder (SSD Support Shell)</a:t>
            </a:r>
          </a:p>
          <a:p>
            <a:r>
              <a:rPr lang="en-US" sz="2400" dirty="0" smtClean="0"/>
              <a:t>Small Taper Angle necessitated larger cut back</a:t>
            </a:r>
          </a:p>
          <a:p>
            <a:pPr lvl="1"/>
            <a:r>
              <a:rPr lang="en-US" sz="2000" dirty="0" smtClean="0"/>
              <a:t>Still only 120mm—easy to make shells shorter/longer with same tool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 bwMode="auto">
          <a:xfrm>
            <a:off x="5943600" y="2549561"/>
            <a:ext cx="2971800" cy="1524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943600" y="1711361"/>
            <a:ext cx="685800" cy="838200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38200" y="2549561"/>
            <a:ext cx="4495800" cy="1524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4648200" y="2701961"/>
            <a:ext cx="685800" cy="838200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2630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Gap or Standoffs for </a:t>
            </a:r>
          </a:p>
          <a:p>
            <a:r>
              <a:rPr lang="en-US" sz="2000" dirty="0" smtClean="0"/>
              <a:t>IST Services Needed</a:t>
            </a:r>
            <a:endParaRPr lang="en-US" sz="2000" dirty="0"/>
          </a:p>
        </p:txBody>
      </p:sp>
      <p:cxnSp>
        <p:nvCxnSpPr>
          <p:cNvPr id="17" name="Straight Arrow Connector 16"/>
          <p:cNvCxnSpPr>
            <a:stCxn id="15" idx="1"/>
            <a:endCxn id="11" idx="3"/>
          </p:cNvCxnSpPr>
          <p:nvPr/>
        </p:nvCxnSpPr>
        <p:spPr bwMode="auto">
          <a:xfrm rot="10800000">
            <a:off x="5334000" y="3121061"/>
            <a:ext cx="1066800" cy="43328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010400" y="2133600"/>
            <a:ext cx="1449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R220-225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Cost Benefit Analysis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762000"/>
            <a:ext cx="7924800" cy="5715000"/>
          </a:xfrm>
        </p:spPr>
        <p:txBody>
          <a:bodyPr/>
          <a:lstStyle/>
          <a:p>
            <a:r>
              <a:rPr lang="en-US" sz="1800" dirty="0" smtClean="0"/>
              <a:t>Cost of Re-use of (ye) </a:t>
            </a:r>
            <a:r>
              <a:rPr lang="en-US" sz="1800" dirty="0" err="1" smtClean="0"/>
              <a:t>Olde</a:t>
            </a:r>
            <a:r>
              <a:rPr lang="en-US" sz="1800" dirty="0" smtClean="0"/>
              <a:t> East Cone is a good bet</a:t>
            </a:r>
          </a:p>
          <a:p>
            <a:pPr lvl="1"/>
            <a:r>
              <a:rPr lang="en-US" sz="1800" dirty="0" smtClean="0"/>
              <a:t>Need something to support FGT and BP for Run 9 (10?)</a:t>
            </a:r>
          </a:p>
          <a:p>
            <a:pPr lvl="1"/>
            <a:r>
              <a:rPr lang="en-US" sz="1800" dirty="0" smtClean="0"/>
              <a:t>Minimal Mod, Tooling and Part count to use old Cone and beams</a:t>
            </a:r>
          </a:p>
          <a:p>
            <a:pPr lvl="1"/>
            <a:r>
              <a:rPr lang="en-US" sz="1800" dirty="0" smtClean="0"/>
              <a:t>Likely under $25k parts/tool—just labor to bond at BNL</a:t>
            </a:r>
          </a:p>
          <a:p>
            <a:r>
              <a:rPr lang="en-US" sz="1800" dirty="0" smtClean="0"/>
              <a:t>IST needs a large Cylinder</a:t>
            </a:r>
          </a:p>
          <a:p>
            <a:pPr lvl="1"/>
            <a:r>
              <a:rPr lang="en-US" sz="1800" dirty="0" smtClean="0"/>
              <a:t>Intra-Cone Cylinder only marginal cost of fabrication if same diameter</a:t>
            </a:r>
          </a:p>
          <a:p>
            <a:pPr lvl="1"/>
            <a:r>
              <a:rPr lang="en-US" sz="1800" dirty="0" smtClean="0"/>
              <a:t>Flange Tooling similar, additional design work minimal</a:t>
            </a:r>
          </a:p>
          <a:p>
            <a:r>
              <a:rPr lang="en-US" sz="1800" dirty="0" smtClean="0"/>
              <a:t>Cost of Re-Using old West Cone uncertain—it is a Renovation</a:t>
            </a:r>
          </a:p>
          <a:p>
            <a:pPr lvl="1"/>
            <a:r>
              <a:rPr lang="en-US" sz="1800" dirty="0" smtClean="0"/>
              <a:t>Geometry may be uncertain enough to cause </a:t>
            </a:r>
            <a:r>
              <a:rPr lang="en-US" sz="1800" dirty="0" err="1" smtClean="0"/>
              <a:t>refab</a:t>
            </a:r>
            <a:r>
              <a:rPr lang="en-US" sz="1800" dirty="0" smtClean="0"/>
              <a:t> of tooling</a:t>
            </a:r>
          </a:p>
          <a:p>
            <a:pPr lvl="1"/>
            <a:r>
              <a:rPr lang="en-US" sz="1800" dirty="0" smtClean="0"/>
              <a:t>Risk of Damage during trim to new length—errors/damage may need again more tooling</a:t>
            </a:r>
          </a:p>
          <a:p>
            <a:r>
              <a:rPr lang="en-US" sz="2000" dirty="0" smtClean="0"/>
              <a:t>Should investigate marginal cost of making New East Cone using West Cone Tooling</a:t>
            </a:r>
          </a:p>
          <a:p>
            <a:pPr lvl="1"/>
            <a:r>
              <a:rPr lang="en-US" sz="1800" dirty="0" smtClean="0"/>
              <a:t>Tooling </a:t>
            </a:r>
            <a:r>
              <a:rPr lang="en-US" sz="1800" dirty="0" err="1" smtClean="0"/>
              <a:t>costed</a:t>
            </a:r>
            <a:r>
              <a:rPr lang="en-US" sz="1800" dirty="0" smtClean="0"/>
              <a:t> in FGT—only cost of part fab</a:t>
            </a:r>
          </a:p>
          <a:p>
            <a:pPr lvl="1"/>
            <a:r>
              <a:rPr lang="en-US" sz="1800" dirty="0" smtClean="0"/>
              <a:t>Balance against cost/risk of old west cone renovation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55C891-3829-4FF6-B2AB-36930C7BDF2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Proposal/Conclusion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610600" cy="5791200"/>
          </a:xfrm>
        </p:spPr>
        <p:txBody>
          <a:bodyPr/>
          <a:lstStyle/>
          <a:p>
            <a:r>
              <a:rPr lang="en-US" sz="2000" dirty="0" smtClean="0"/>
              <a:t>Baseline should be what is outlined here</a:t>
            </a:r>
          </a:p>
          <a:p>
            <a:pPr lvl="1"/>
            <a:r>
              <a:rPr lang="en-US" sz="2000" dirty="0" smtClean="0"/>
              <a:t>Modified East Cone with requirement for bolt-in swap</a:t>
            </a:r>
          </a:p>
          <a:p>
            <a:pPr lvl="1"/>
            <a:r>
              <a:rPr lang="en-US" sz="2000" dirty="0" smtClean="0"/>
              <a:t>Modified West-Cone as new East Structure</a:t>
            </a:r>
          </a:p>
          <a:p>
            <a:r>
              <a:rPr lang="en-US" sz="2000" dirty="0" smtClean="0"/>
              <a:t>Would like agreement (decision) on this as the approach</a:t>
            </a:r>
          </a:p>
          <a:p>
            <a:pPr lvl="1"/>
            <a:r>
              <a:rPr lang="en-US" sz="2000" dirty="0" smtClean="0"/>
              <a:t>Main requirement here is common bolted interface and quickly reaching length-and diameter interfaces</a:t>
            </a:r>
          </a:p>
          <a:p>
            <a:pPr lvl="1"/>
            <a:r>
              <a:rPr lang="en-US" sz="2000" dirty="0" smtClean="0"/>
              <a:t>Allows Detailed cost studies to proceed</a:t>
            </a:r>
          </a:p>
          <a:p>
            <a:r>
              <a:rPr lang="en-US" sz="2000" dirty="0" smtClean="0"/>
              <a:t>This Gives FGT and the NWC a clear interface to meet as early as possible</a:t>
            </a:r>
          </a:p>
          <a:p>
            <a:pPr lvl="1"/>
            <a:r>
              <a:rPr lang="en-US" sz="2000" dirty="0" smtClean="0"/>
              <a:t>Simple mechanical interface—lengths and Bolt Circles are easy to track even when they change…</a:t>
            </a:r>
          </a:p>
          <a:p>
            <a:r>
              <a:rPr lang="en-US" sz="2000" dirty="0" smtClean="0"/>
              <a:t>Keep open the issue of how the New East Cone is implemented</a:t>
            </a:r>
          </a:p>
          <a:p>
            <a:pPr lvl="1"/>
            <a:r>
              <a:rPr lang="en-US" sz="2000" dirty="0" smtClean="0"/>
              <a:t>Proposed baseline has its risks</a:t>
            </a:r>
          </a:p>
          <a:p>
            <a:pPr lvl="1"/>
            <a:r>
              <a:rPr lang="en-US" sz="2000" dirty="0" smtClean="0"/>
              <a:t>New West Cone may be an attractive option over refurbishing Old West Cone</a:t>
            </a:r>
          </a:p>
          <a:p>
            <a:pPr lvl="1"/>
            <a:r>
              <a:rPr lang="en-US" sz="2000" dirty="0" smtClean="0"/>
              <a:t>This should be the ‘backup’ solution—still need to understand what it looks like/costs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6CCD16-7DFD-41E3-88E1-AD0BDA172D6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BNL_Engineering">
  <a:themeElements>
    <a:clrScheme name="LBNL-ENG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BNL-ENG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lnDef>
  </a:objectDefaults>
  <a:extraClrSchemeLst>
    <a:extraClrScheme>
      <a:clrScheme name="LBNL-E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BNL-EN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BNL-EN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BNL-EN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BNL-E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BNL-E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BNL-E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LBNL_Engineering</Template>
  <TotalTime>98</TotalTime>
  <Words>731</Words>
  <Application>Microsoft PowerPoint</Application>
  <PresentationFormat>On-screen Show (4:3)</PresentationFormat>
  <Paragraphs>101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Trebuchet MS</vt:lpstr>
      <vt:lpstr>Times</vt:lpstr>
      <vt:lpstr>BankGothic Lt BT</vt:lpstr>
      <vt:lpstr>LBNL_Engineering</vt:lpstr>
      <vt:lpstr>Phased Cone Proposal</vt:lpstr>
      <vt:lpstr>Overview</vt:lpstr>
      <vt:lpstr>Cut Apart Current Cones next Summer</vt:lpstr>
      <vt:lpstr>Modified East Cone</vt:lpstr>
      <vt:lpstr>Make a Low Mass ‘Buck Plate’</vt:lpstr>
      <vt:lpstr>Plate Needs to Make up Cut Lengths</vt:lpstr>
      <vt:lpstr>Goal—Swap-in Replacement</vt:lpstr>
      <vt:lpstr>Old West Cone Modification--Flanges</vt:lpstr>
      <vt:lpstr>Flange on New East Cone</vt:lpstr>
      <vt:lpstr>Some Cost Benefit Analysis</vt:lpstr>
      <vt:lpstr>Proposal/Conclusion</vt:lpstr>
    </vt:vector>
  </TitlesOfParts>
  <Company>LBNL Engineering Division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Phased Cone Proposal</dc:title>
  <dc:creator> Eric Anderssen</dc:creator>
  <cp:lastModifiedBy> Eric Anderssen</cp:lastModifiedBy>
  <cp:revision>2</cp:revision>
  <dcterms:created xsi:type="dcterms:W3CDTF">2007-10-15T18:05:38Z</dcterms:created>
  <dcterms:modified xsi:type="dcterms:W3CDTF">2007-10-15T19:43:51Z</dcterms:modified>
</cp:coreProperties>
</file>