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67" r:id="rId3"/>
    <p:sldId id="257" r:id="rId4"/>
    <p:sldId id="268" r:id="rId5"/>
    <p:sldId id="269" r:id="rId6"/>
    <p:sldId id="259" r:id="rId7"/>
    <p:sldId id="260" r:id="rId8"/>
    <p:sldId id="271" r:id="rId9"/>
    <p:sldId id="262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9" d="100"/>
          <a:sy n="79" d="100"/>
        </p:scale>
        <p:origin x="-2288" y="-96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82FF5-D205-7D4C-BC0E-F85AF6965D5C}" type="datetimeFigureOut">
              <a:rPr lang="en-US" smtClean="0"/>
              <a:pPr/>
              <a:t>10/12/2011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45A9E5-EBBA-1245-8B57-34E3E691D6E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Built for end-users </a:t>
            </a:r>
            <a:r>
              <a:rPr lang="en-US" dirty="0" smtClean="0"/>
              <a:t>(executives, etc).  Typical scenario is an end-user has to go to a technology specialist/analyst with a “question” and the analyst uses GIS to produce data/analyses/maps; with Platform – end users can do so directly, at least that’s the promise</a:t>
            </a:r>
          </a:p>
          <a:p>
            <a:endParaRPr lang="en-US" dirty="0" smtClean="0"/>
          </a:p>
          <a:p>
            <a:endParaRPr lang="en-US" dirty="0" smtClean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1" dirty="0" smtClean="0"/>
              <a:t>Complement</a:t>
            </a:r>
            <a:r>
              <a:rPr lang="en-US" sz="1200" b="1" i="1" baseline="0" dirty="0" smtClean="0"/>
              <a:t> the</a:t>
            </a:r>
            <a:r>
              <a:rPr lang="en-US" sz="1200" b="1" i="1" dirty="0" smtClean="0"/>
              <a:t> Federal cloud computing initiative and OMB Circular A-16 </a:t>
            </a:r>
            <a:r>
              <a:rPr lang="en-US" sz="1200" dirty="0" smtClean="0"/>
              <a:t>and how that will be accomplished</a:t>
            </a:r>
          </a:p>
          <a:p>
            <a:endParaRPr lang="en-US" dirty="0" smtClean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1" dirty="0" smtClean="0"/>
              <a:t>Portfolio management of geospatial assets</a:t>
            </a:r>
            <a:r>
              <a:rPr lang="en-US" sz="1200" dirty="0" smtClean="0"/>
              <a:t> and how that is tied directly to the Geospatial Platform (not just initially but as an ongoing “Program”).  This is a huge benefit and one that cannot be claimed by current or past platforms. </a:t>
            </a:r>
          </a:p>
          <a:p>
            <a:endParaRPr lang="en-US" dirty="0" smtClean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A </a:t>
            </a:r>
            <a:r>
              <a:rPr lang="en-US" sz="1200" b="1" dirty="0" smtClean="0"/>
              <a:t>one-stop shop for Federal agencies</a:t>
            </a:r>
            <a:r>
              <a:rPr lang="en-US" sz="1200" dirty="0" smtClean="0"/>
              <a:t> to Federal data and other </a:t>
            </a:r>
            <a:r>
              <a:rPr lang="en-US" sz="1200" u="sng" dirty="0" smtClean="0"/>
              <a:t>volunteered </a:t>
            </a:r>
            <a:r>
              <a:rPr lang="en-US" sz="1200" dirty="0" smtClean="0"/>
              <a:t>“trusted” data; a “common operational picture” for Federal government decision making.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45A9E5-EBBA-1245-8B57-34E3E691D6EC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9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7D25B00-5E1A-4E10-BADA-6A1F016745FE}" type="datetimeFigureOut">
              <a:rPr lang="en-US" smtClean="0"/>
              <a:pPr/>
              <a:t>10/12/2011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3638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itchFamily="18" charset="0"/>
              </a:defRPr>
            </a:lvl1pPr>
          </a:lstStyle>
          <a:p>
            <a:fld id="{50FCE2FF-35C6-476C-B7F5-BD4E2C116B9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D25B00-5E1A-4E10-BADA-6A1F016745FE}" type="datetimeFigureOut">
              <a:rPr lang="en-US" smtClean="0"/>
              <a:pPr/>
              <a:t>10/12/2011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D25B00-5E1A-4E10-BADA-6A1F016745FE}" type="datetimeFigureOut">
              <a:rPr lang="en-US" smtClean="0"/>
              <a:pPr/>
              <a:t>10/12/2011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3733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3733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D25B00-5E1A-4E10-BADA-6A1F016745FE}" type="datetimeFigureOut">
              <a:rPr lang="en-US" smtClean="0"/>
              <a:pPr/>
              <a:t>10/12/2011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D25B00-5E1A-4E10-BADA-6A1F016745FE}" type="datetimeFigureOut">
              <a:rPr lang="en-US" smtClean="0"/>
              <a:pPr/>
              <a:t>10/12/2011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D25B00-5E1A-4E10-BADA-6A1F016745FE}" type="datetimeFigureOut">
              <a:rPr lang="en-US" smtClean="0"/>
              <a:pPr/>
              <a:t>10/12/2011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D25B00-5E1A-4E10-BADA-6A1F016745FE}" type="datetimeFigureOut">
              <a:rPr lang="en-US" smtClean="0"/>
              <a:pPr/>
              <a:t>10/12/2011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D25B00-5E1A-4E10-BADA-6A1F016745FE}" type="datetimeFigureOut">
              <a:rPr lang="en-US" smtClean="0"/>
              <a:pPr/>
              <a:t>10/12/2011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D25B00-5E1A-4E10-BADA-6A1F016745FE}" type="datetimeFigureOut">
              <a:rPr lang="en-US" smtClean="0"/>
              <a:pPr/>
              <a:t>10/12/2011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D25B00-5E1A-4E10-BADA-6A1F016745FE}" type="datetimeFigureOut">
              <a:rPr lang="en-US" smtClean="0"/>
              <a:pPr/>
              <a:t>10/12/2011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04800"/>
            <a:ext cx="2057400" cy="5029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029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D25B00-5E1A-4E10-BADA-6A1F016745FE}" type="datetimeFigureOut">
              <a:rPr lang="en-US" smtClean="0"/>
              <a:pPr/>
              <a:t>10/12/2011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3733800"/>
          </a:xfrm>
        </p:spPr>
        <p:txBody>
          <a:bodyPr/>
          <a:lstStyle/>
          <a:p>
            <a:pPr lvl="0"/>
            <a:r>
              <a:rPr lang="en-US" noProof="0" dirty="0" smtClean="0"/>
              <a:t>Click icon to add SmartArt graphic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D25B00-5E1A-4E10-BADA-6A1F016745FE}" type="datetimeFigureOut">
              <a:rPr lang="en-US" smtClean="0"/>
              <a:pPr/>
              <a:t>10/12/2011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04800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Garamond" pitchFamily="18" charset="0"/>
              </a:defRPr>
            </a:lvl1pPr>
          </a:lstStyle>
          <a:p>
            <a:fld id="{E7D25B00-5E1A-4E10-BADA-6A1F016745FE}" type="datetimeFigureOut">
              <a:rPr lang="en-US" smtClean="0"/>
              <a:pPr/>
              <a:t>10/12/2011</a:t>
            </a:fld>
            <a:endParaRPr lang="en-US" dirty="0"/>
          </a:p>
        </p:txBody>
      </p:sp>
      <p:sp>
        <p:nvSpPr>
          <p:cNvPr id="138247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8248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8250" name="Rectangle 10"/>
          <p:cNvSpPr>
            <a:spLocks noChangeArrowheads="1"/>
          </p:cNvSpPr>
          <p:nvPr/>
        </p:nvSpPr>
        <p:spPr bwMode="auto">
          <a:xfrm>
            <a:off x="4572000" y="6248400"/>
            <a:ext cx="42148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b="1" i="1" dirty="0">
                <a:solidFill>
                  <a:schemeClr val="hlink"/>
                </a:solidFill>
                <a:latin typeface="Verdana" pitchFamily="34" charset="0"/>
              </a:rPr>
              <a:t>National Geospatial Advisory Committee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95400"/>
            <a:ext cx="7851775" cy="1981200"/>
          </a:xfrm>
        </p:spPr>
        <p:txBody>
          <a:bodyPr/>
          <a:lstStyle/>
          <a:p>
            <a:r>
              <a:rPr lang="en-US" sz="2800" b="1" dirty="0" smtClean="0"/>
              <a:t>Geospatial Platform: The Value Proposition</a:t>
            </a:r>
            <a:br>
              <a:rPr lang="en-US" sz="2800" b="1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Summary of </a:t>
            </a:r>
            <a:r>
              <a:rPr lang="en-US" sz="2800" dirty="0" smtClean="0"/>
              <a:t>Comments</a:t>
            </a:r>
            <a:br>
              <a:rPr lang="en-US" sz="2800" dirty="0" smtClean="0"/>
            </a:b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62400"/>
            <a:ext cx="7010400" cy="1981200"/>
          </a:xfrm>
        </p:spPr>
        <p:txBody>
          <a:bodyPr/>
          <a:lstStyle/>
          <a:p>
            <a:r>
              <a:rPr lang="en-US" dirty="0" smtClean="0"/>
              <a:t>NGAC Geospatial Platform Subcommittee</a:t>
            </a:r>
          </a:p>
          <a:p>
            <a:endParaRPr lang="en-US" dirty="0" smtClean="0"/>
          </a:p>
          <a:p>
            <a:r>
              <a:rPr lang="en-US" dirty="0" smtClean="0"/>
              <a:t>October 2011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Observations on Context of the Review and Subsequent Results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534400" cy="4800600"/>
          </a:xfrm>
        </p:spPr>
        <p:txBody>
          <a:bodyPr/>
          <a:lstStyle/>
          <a:p>
            <a:r>
              <a:rPr lang="en-US" sz="2400" dirty="0" smtClean="0"/>
              <a:t>This committee is hungry for the details of how the platform would be implemented.</a:t>
            </a:r>
          </a:p>
          <a:p>
            <a:r>
              <a:rPr lang="en-US" sz="2400" dirty="0" smtClean="0"/>
              <a:t>This document does not present these details and perhaps was not intended as such.</a:t>
            </a:r>
          </a:p>
          <a:p>
            <a:r>
              <a:rPr lang="en-US" sz="2400" dirty="0" smtClean="0"/>
              <a:t>The committee’s suggestion is to complete this document as a high level overview that is used as a marketing tool to garner interest at the executive level of government. </a:t>
            </a:r>
          </a:p>
          <a:p>
            <a:r>
              <a:rPr lang="en-US" sz="2400" dirty="0" smtClean="0"/>
              <a:t>The committee suggests that a more detailed business plan be developed to answer the implementation requirement  and to gain implementation support at the executive level of government.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1"/>
            <a:ext cx="8229600" cy="685800"/>
          </a:xfrm>
        </p:spPr>
        <p:txBody>
          <a:bodyPr/>
          <a:lstStyle/>
          <a:p>
            <a:r>
              <a:rPr lang="en-US" sz="3200" dirty="0" smtClean="0"/>
              <a:t>General Comments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839200" cy="5181600"/>
          </a:xfrm>
        </p:spPr>
        <p:txBody>
          <a:bodyPr/>
          <a:lstStyle/>
          <a:p>
            <a:pPr>
              <a:buNone/>
            </a:pPr>
            <a:endParaRPr lang="en-US" sz="1200" dirty="0" smtClean="0"/>
          </a:p>
          <a:p>
            <a:r>
              <a:rPr lang="en-US" sz="2000" dirty="0" smtClean="0"/>
              <a:t>In general, the document is a good high-level introduction to the concept.</a:t>
            </a:r>
          </a:p>
          <a:p>
            <a:pPr lvl="0"/>
            <a:r>
              <a:rPr lang="en-US" sz="2000" dirty="0" smtClean="0"/>
              <a:t>Not really sure who the intended audience is.</a:t>
            </a:r>
          </a:p>
          <a:p>
            <a:r>
              <a:rPr lang="en-US" sz="2000" dirty="0" smtClean="0"/>
              <a:t>Paper is too long for the intended audience if it is a general introduction or marketing document.</a:t>
            </a:r>
          </a:p>
          <a:p>
            <a:pPr lvl="0"/>
            <a:r>
              <a:rPr lang="en-US" sz="2000" dirty="0" smtClean="0"/>
              <a:t>What’s the purpose of this document, marketing?</a:t>
            </a:r>
          </a:p>
          <a:p>
            <a:r>
              <a:rPr lang="en-US" sz="2000" dirty="0" smtClean="0"/>
              <a:t>Doesn’t seem focused enough or inclusive enough to build consensus and support for the initiative.</a:t>
            </a:r>
          </a:p>
          <a:p>
            <a:r>
              <a:rPr lang="en-US" sz="2000" dirty="0" smtClean="0"/>
              <a:t>Too much repetition in the document oversells the value. Needs to be streamlined. </a:t>
            </a:r>
          </a:p>
          <a:p>
            <a:pPr lvl="1"/>
            <a:r>
              <a:rPr lang="en-US" sz="1600" dirty="0" smtClean="0"/>
              <a:t>Trying too hard to make the case.</a:t>
            </a:r>
          </a:p>
          <a:p>
            <a:r>
              <a:rPr lang="en-US" sz="2000" dirty="0" smtClean="0"/>
              <a:t>Opening is weak.  Need a compelling introduction to hook the audience.</a:t>
            </a:r>
          </a:p>
          <a:p>
            <a:pPr lvl="1"/>
            <a:r>
              <a:rPr lang="en-US" sz="1600" dirty="0" smtClean="0"/>
              <a:t>Consider synthesizing a use case into something real for the introduction.</a:t>
            </a:r>
          </a:p>
          <a:p>
            <a:r>
              <a:rPr lang="en-US" sz="2000" dirty="0" smtClean="0"/>
              <a:t>Section on Effective Management of Federal Geospatial Assets is very good and important.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1"/>
            <a:ext cx="8229600" cy="838200"/>
          </a:xfrm>
        </p:spPr>
        <p:txBody>
          <a:bodyPr/>
          <a:lstStyle/>
          <a:p>
            <a:r>
              <a:rPr lang="en-US" sz="3600" dirty="0" smtClean="0"/>
              <a:t>Highlights: Concerns &amp; Suggestions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800600"/>
          </a:xfrm>
        </p:spPr>
        <p:txBody>
          <a:bodyPr/>
          <a:lstStyle/>
          <a:p>
            <a:pPr>
              <a:buNone/>
            </a:pPr>
            <a:r>
              <a:rPr lang="en-US" sz="2000" b="1" dirty="0" smtClean="0"/>
              <a:t>WHY?</a:t>
            </a:r>
            <a:r>
              <a:rPr lang="en-US" sz="2000" dirty="0" smtClean="0"/>
              <a:t> What is it offering? What are the compelling reasons?  What are the alternatives that exist? Why should the government provide these services?  Consider getting right to the point by answering…</a:t>
            </a:r>
          </a:p>
          <a:p>
            <a:pPr>
              <a:buNone/>
            </a:pPr>
            <a:r>
              <a:rPr lang="en-US" sz="2000" dirty="0" smtClean="0"/>
              <a:t> </a:t>
            </a:r>
          </a:p>
          <a:p>
            <a:pPr>
              <a:buNone/>
            </a:pPr>
            <a:r>
              <a:rPr lang="en-US" sz="3200" b="1" dirty="0" smtClean="0"/>
              <a:t>What’s different about the Platform? </a:t>
            </a:r>
            <a:endParaRPr lang="en-US" sz="2000" dirty="0" smtClean="0"/>
          </a:p>
          <a:p>
            <a:r>
              <a:rPr lang="en-US" sz="2400" i="1" dirty="0" smtClean="0"/>
              <a:t>Built for end-users </a:t>
            </a:r>
          </a:p>
          <a:p>
            <a:pPr lvl="0"/>
            <a:r>
              <a:rPr lang="en-US" sz="2400" i="1" dirty="0" smtClean="0"/>
              <a:t>Complement the Federal cloud computing initiative and OMB Circular A-16</a:t>
            </a:r>
          </a:p>
          <a:p>
            <a:r>
              <a:rPr lang="en-US" sz="2400" i="1" dirty="0" smtClean="0"/>
              <a:t>Portfolio management of geospatial assets</a:t>
            </a:r>
          </a:p>
          <a:p>
            <a:pPr lvl="0"/>
            <a:r>
              <a:rPr lang="en-US" sz="2400" i="1" dirty="0" smtClean="0"/>
              <a:t>A one-stop shop for Federal agencies</a:t>
            </a:r>
          </a:p>
          <a:p>
            <a:endParaRPr lang="en-US" sz="2000" dirty="0" smtClean="0"/>
          </a:p>
          <a:p>
            <a:pPr lvl="0"/>
            <a:endParaRPr lang="en-US" sz="2000" i="1" dirty="0" smtClean="0"/>
          </a:p>
          <a:p>
            <a:pPr lvl="0"/>
            <a:endParaRPr lang="en-US" sz="2000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1"/>
            <a:ext cx="8458200" cy="914400"/>
          </a:xfrm>
        </p:spPr>
        <p:txBody>
          <a:bodyPr/>
          <a:lstStyle/>
          <a:p>
            <a:r>
              <a:rPr lang="en-US" sz="3600" dirty="0" smtClean="0"/>
              <a:t>Highlights: Concerns &amp; Suggestions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724400"/>
          </a:xfrm>
        </p:spPr>
        <p:txBody>
          <a:bodyPr/>
          <a:lstStyle/>
          <a:p>
            <a:r>
              <a:rPr lang="en-US" sz="2400" b="1" i="1" dirty="0" smtClean="0"/>
              <a:t>No cost information.</a:t>
            </a:r>
            <a:r>
              <a:rPr lang="en-US" sz="2400" dirty="0" smtClean="0"/>
              <a:t> In today’s Fiscal/Budget environment the value proposition must include how the platform will reduce costs.</a:t>
            </a:r>
          </a:p>
          <a:p>
            <a:pPr lvl="1"/>
            <a:r>
              <a:rPr lang="en-US" sz="2000" dirty="0" smtClean="0"/>
              <a:t>Use cases are a good place to address projected savings</a:t>
            </a:r>
          </a:p>
          <a:p>
            <a:pPr lvl="1"/>
            <a:r>
              <a:rPr lang="en-US" sz="2000" dirty="0" smtClean="0"/>
              <a:t>Appendix B: Should we include proposed metrics?  </a:t>
            </a:r>
          </a:p>
          <a:p>
            <a:pPr lvl="1"/>
            <a:r>
              <a:rPr lang="en-US" sz="2000" dirty="0" smtClean="0"/>
              <a:t>Need to demonstrate the cost benefits that will accrue from implementation.</a:t>
            </a:r>
            <a:r>
              <a:rPr lang="en-US" sz="2000" b="1" dirty="0" smtClean="0"/>
              <a:t> </a:t>
            </a:r>
          </a:p>
          <a:p>
            <a:pPr lvl="1"/>
            <a:endParaRPr lang="en-US" sz="2000" b="1" dirty="0" smtClean="0"/>
          </a:p>
          <a:p>
            <a:r>
              <a:rPr lang="en-US" sz="2400" b="1" dirty="0" smtClean="0"/>
              <a:t>What is the platform</a:t>
            </a:r>
            <a:r>
              <a:rPr lang="en-US" sz="2400" dirty="0" smtClean="0"/>
              <a:t> – a system, initiative, portal?</a:t>
            </a:r>
          </a:p>
          <a:p>
            <a:pPr lvl="1"/>
            <a:r>
              <a:rPr lang="en-US" sz="2000" dirty="0" smtClean="0"/>
              <a:t>The Platform is a robust portal of tools, capabilities, and data.  The system itself will not promote use or data sharing at any level.  Policies and people promote.</a:t>
            </a:r>
          </a:p>
          <a:p>
            <a:pPr lvl="1"/>
            <a:endParaRPr lang="en-US" sz="2000" dirty="0" smtClean="0"/>
          </a:p>
          <a:p>
            <a:pPr lvl="0"/>
            <a:endParaRPr lang="en-US" sz="2000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685799"/>
          </a:xfrm>
        </p:spPr>
        <p:txBody>
          <a:bodyPr/>
          <a:lstStyle/>
          <a:p>
            <a:r>
              <a:rPr lang="en-US" sz="3600" dirty="0" smtClean="0"/>
              <a:t>Highlights: Concerns &amp; Suggestions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724400"/>
          </a:xfrm>
        </p:spPr>
        <p:txBody>
          <a:bodyPr/>
          <a:lstStyle/>
          <a:p>
            <a:r>
              <a:rPr lang="en-US" sz="2400" b="1" dirty="0" smtClean="0"/>
              <a:t>Benefits </a:t>
            </a:r>
            <a:r>
              <a:rPr lang="en-US" sz="2400" dirty="0" smtClean="0"/>
              <a:t>are asserted and not necessarily documented and in some cases the benefits are really benefits of GIS in general.</a:t>
            </a:r>
            <a:endParaRPr lang="en-US" sz="2000" dirty="0" smtClean="0"/>
          </a:p>
          <a:p>
            <a:pPr lvl="1"/>
            <a:r>
              <a:rPr lang="en-US" sz="2000" dirty="0" smtClean="0"/>
              <a:t>Document in quantitative terms, does not need to be monetary but need some indicator of value.</a:t>
            </a:r>
          </a:p>
          <a:p>
            <a:pPr lvl="1"/>
            <a:r>
              <a:rPr lang="en-US" sz="2000" dirty="0" smtClean="0"/>
              <a:t>Separate benefits.  List benefits of GIS first then add the specific value and unique benefits of the Platform.</a:t>
            </a:r>
          </a:p>
          <a:p>
            <a:pPr lvl="1"/>
            <a:r>
              <a:rPr lang="en-US" sz="2000" dirty="0" smtClean="0"/>
              <a:t>Blue Callout Box of benefits – good succinct list – question the claims of the last bullet </a:t>
            </a:r>
          </a:p>
          <a:p>
            <a:pPr lvl="1"/>
            <a:r>
              <a:rPr lang="en-US" sz="2000" dirty="0" smtClean="0"/>
              <a:t>Use a Benefits Story to illustrate impacts.</a:t>
            </a:r>
          </a:p>
          <a:p>
            <a:pPr lvl="1"/>
            <a:r>
              <a:rPr lang="en-US" sz="2000" dirty="0" smtClean="0"/>
              <a:t>Consider estimating benefits in jobs</a:t>
            </a:r>
          </a:p>
          <a:p>
            <a:pPr lvl="1"/>
            <a:r>
              <a:rPr lang="en-US" sz="2000" dirty="0" smtClean="0"/>
              <a:t>What about adding better decision making and better evaluation of policy choices?</a:t>
            </a:r>
          </a:p>
          <a:p>
            <a:pPr lvl="0"/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 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1"/>
            <a:ext cx="8229600" cy="914400"/>
          </a:xfrm>
        </p:spPr>
        <p:txBody>
          <a:bodyPr/>
          <a:lstStyle/>
          <a:p>
            <a:r>
              <a:rPr lang="en-US" sz="3200" dirty="0" smtClean="0"/>
              <a:t>Highlights: Concerns &amp; Suggestions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800600"/>
          </a:xfrm>
        </p:spPr>
        <p:txBody>
          <a:bodyPr/>
          <a:lstStyle/>
          <a:p>
            <a:r>
              <a:rPr lang="en-US" sz="2400" b="1" i="1" dirty="0" smtClean="0"/>
              <a:t>Open standards</a:t>
            </a:r>
            <a:r>
              <a:rPr lang="en-US" sz="2400" dirty="0" smtClean="0"/>
              <a:t>, although mentioned numerous times in the Roadmap, seems to be missing in the Value Proposition. Document does use the word “cloud” often, but without open standards.</a:t>
            </a:r>
          </a:p>
          <a:p>
            <a:pPr lvl="1"/>
            <a:r>
              <a:rPr lang="en-US" sz="2000" dirty="0" smtClean="0"/>
              <a:t>Introduce Open Standards as one ingredient in making the Platform a reality in terms of tools, services and infrastructure.</a:t>
            </a:r>
          </a:p>
          <a:p>
            <a:pPr lvl="1"/>
            <a:endParaRPr lang="en-US" sz="2000" dirty="0" smtClean="0"/>
          </a:p>
          <a:p>
            <a:r>
              <a:rPr lang="en-US" sz="2400" b="1" dirty="0" smtClean="0"/>
              <a:t>Challenge to guarantee </a:t>
            </a:r>
            <a:r>
              <a:rPr lang="en-US" sz="2400" dirty="0" smtClean="0"/>
              <a:t>the platform delivers “trusted, authoritative, reliable data”</a:t>
            </a:r>
          </a:p>
          <a:p>
            <a:pPr lvl="1"/>
            <a:r>
              <a:rPr lang="en-US" sz="2000" dirty="0" smtClean="0"/>
              <a:t>Where is the concept of how to provide  "authoritative" data reliable, validated, managed, maintained, audited for accuracy, and is it defendable? </a:t>
            </a:r>
          </a:p>
          <a:p>
            <a:pPr lvl="1"/>
            <a:r>
              <a:rPr lang="en-US" sz="2000" dirty="0" smtClean="0"/>
              <a:t>Look at data.gov Privacy Policy and Disclaimer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1"/>
            <a:ext cx="8229600" cy="838200"/>
          </a:xfrm>
        </p:spPr>
        <p:txBody>
          <a:bodyPr/>
          <a:lstStyle/>
          <a:p>
            <a:r>
              <a:rPr lang="en-US" sz="3200" dirty="0" smtClean="0"/>
              <a:t>Highlights: Concerns &amp; Suggestions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305800" cy="4648200"/>
          </a:xfrm>
        </p:spPr>
        <p:txBody>
          <a:bodyPr/>
          <a:lstStyle/>
          <a:p>
            <a:r>
              <a:rPr lang="en-US" sz="2400" b="1" dirty="0" smtClean="0"/>
              <a:t>Use Cases </a:t>
            </a:r>
            <a:r>
              <a:rPr lang="en-US" sz="2400" dirty="0" smtClean="0"/>
              <a:t>don’t really make the case for the Platform.</a:t>
            </a:r>
          </a:p>
          <a:p>
            <a:pPr lvl="1"/>
            <a:r>
              <a:rPr lang="en-US" sz="2000" dirty="0" smtClean="0"/>
              <a:t>There are alternatives in place that would accomplish the same outcome.</a:t>
            </a:r>
          </a:p>
          <a:p>
            <a:pPr lvl="1"/>
            <a:r>
              <a:rPr lang="en-US" sz="2000" dirty="0" smtClean="0"/>
              <a:t>They need to be more specific and succinct.</a:t>
            </a:r>
          </a:p>
          <a:p>
            <a:pPr lvl="1"/>
            <a:r>
              <a:rPr lang="en-US" sz="2000" dirty="0" smtClean="0"/>
              <a:t>Good examples of collaboration, GIS support for decision making, and value of crowdsourcing, but don’t see the added value of the Platform.</a:t>
            </a:r>
          </a:p>
          <a:p>
            <a:pPr lvl="1"/>
            <a:r>
              <a:rPr lang="en-US" sz="2000" dirty="0" smtClean="0"/>
              <a:t>What about the projected savings? </a:t>
            </a:r>
          </a:p>
          <a:p>
            <a:pPr lvl="1"/>
            <a:r>
              <a:rPr lang="en-US" sz="2000" dirty="0" smtClean="0"/>
              <a:t>What are the alternatives that exist?</a:t>
            </a:r>
          </a:p>
          <a:p>
            <a:pPr lvl="1"/>
            <a:r>
              <a:rPr lang="en-US" sz="2000" dirty="0" smtClean="0"/>
              <a:t>Use cases are a little long.  Cut down to 2-pages so they could be used as stand alone documents.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Recommended Next Steps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Define the intended audience and purpose of this document. Streamline next version to meet these requirements with committee’s comments in mind.</a:t>
            </a:r>
          </a:p>
          <a:p>
            <a:endParaRPr lang="en-US" sz="2400" dirty="0" smtClean="0"/>
          </a:p>
          <a:p>
            <a:r>
              <a:rPr lang="en-US" sz="2400" dirty="0" smtClean="0"/>
              <a:t>Develop an annotated outline for a business case, or follow on document that is responsive to the subcommittee commentary on the what, why, who, how much and from whom &amp; by when.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1"/>
            <a:ext cx="8229600" cy="914400"/>
          </a:xfrm>
        </p:spPr>
        <p:txBody>
          <a:bodyPr/>
          <a:lstStyle/>
          <a:p>
            <a:r>
              <a:rPr lang="en-US" sz="3200" dirty="0" smtClean="0"/>
              <a:t>Lingering Questions to be Addressed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53000"/>
          </a:xfrm>
        </p:spPr>
        <p:txBody>
          <a:bodyPr/>
          <a:lstStyle/>
          <a:p>
            <a:r>
              <a:rPr lang="en-US" sz="2400" dirty="0" smtClean="0"/>
              <a:t>Will federal agencies be required to use the Geospatial Platform?</a:t>
            </a:r>
          </a:p>
          <a:p>
            <a:pPr lvl="0"/>
            <a:r>
              <a:rPr lang="en-US" sz="2400" dirty="0" smtClean="0"/>
              <a:t>Will federal funding be required to provide funding to support the platform?</a:t>
            </a:r>
          </a:p>
          <a:p>
            <a:pPr lvl="0"/>
            <a:r>
              <a:rPr lang="en-US" sz="2400" dirty="0" smtClean="0"/>
              <a:t>What does it mean to “get on board?”</a:t>
            </a:r>
          </a:p>
          <a:p>
            <a:pPr lvl="0"/>
            <a:r>
              <a:rPr lang="en-US" sz="2400" dirty="0" smtClean="0"/>
              <a:t>What am I responsible for?  What do I get as a participant?</a:t>
            </a:r>
          </a:p>
          <a:p>
            <a:pPr lvl="0"/>
            <a:r>
              <a:rPr lang="en-US" sz="2400" dirty="0" smtClean="0"/>
              <a:t>What are the rules of the road to opt in or opt out?</a:t>
            </a:r>
          </a:p>
          <a:p>
            <a:pPr lvl="0"/>
            <a:r>
              <a:rPr lang="en-US" sz="2400" dirty="0" smtClean="0"/>
              <a:t>Who is managing it?</a:t>
            </a:r>
          </a:p>
          <a:p>
            <a:pPr lvl="0"/>
            <a:r>
              <a:rPr lang="en-US" sz="2400" dirty="0" smtClean="0"/>
              <a:t>What agency is going to ensure and be the overall executive sponsor to manage and affirm quality of data from all sources, as the draft seems to promise?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">
      <a:dk1>
        <a:srgbClr val="000000"/>
      </a:dk1>
      <a:lt1>
        <a:srgbClr val="FFFFFF"/>
      </a:lt1>
      <a:dk2>
        <a:srgbClr val="003399"/>
      </a:dk2>
      <a:lt2>
        <a:srgbClr val="666699"/>
      </a:lt2>
      <a:accent1>
        <a:srgbClr val="009999"/>
      </a:accent1>
      <a:accent2>
        <a:srgbClr val="4083A2"/>
      </a:accent2>
      <a:accent3>
        <a:srgbClr val="FFFFFF"/>
      </a:accent3>
      <a:accent4>
        <a:srgbClr val="000000"/>
      </a:accent4>
      <a:accent5>
        <a:srgbClr val="AACACA"/>
      </a:accent5>
      <a:accent6>
        <a:srgbClr val="397692"/>
      </a:accent6>
      <a:hlink>
        <a:srgbClr val="4C6D80"/>
      </a:hlink>
      <a:folHlink>
        <a:srgbClr val="B2B2B2"/>
      </a:folHlink>
    </a:clrScheme>
    <a:fontScheme name="Edg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NGAC - ASPRS Nov 2009</Template>
  <TotalTime>199</TotalTime>
  <Words>947</Words>
  <Application>Microsoft Office PowerPoint</Application>
  <PresentationFormat>On-screen Show (4:3)</PresentationFormat>
  <Paragraphs>85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Edge</vt:lpstr>
      <vt:lpstr>Geospatial Platform: The Value Proposition  Summary of Comments </vt:lpstr>
      <vt:lpstr>Observations on Context of the Review and Subsequent Results </vt:lpstr>
      <vt:lpstr>General Comments</vt:lpstr>
      <vt:lpstr>Highlights: Concerns &amp; Suggestions</vt:lpstr>
      <vt:lpstr>Highlights: Concerns &amp; Suggestions</vt:lpstr>
      <vt:lpstr>Highlights: Concerns &amp; Suggestions </vt:lpstr>
      <vt:lpstr>Highlights: Concerns &amp; Suggestions</vt:lpstr>
      <vt:lpstr>Highlights: Concerns &amp; Suggestions</vt:lpstr>
      <vt:lpstr>Recommended Next Steps</vt:lpstr>
      <vt:lpstr>Lingering Questions to be Addressed</vt:lpstr>
    </vt:vector>
  </TitlesOfParts>
  <Company>Booz Allen Hamilton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Geospatial Platform – Value Proposition NGAC Subcommittee – Synthesis of Comments </dc:title>
  <dc:creator>539128</dc:creator>
  <cp:lastModifiedBy>USGS</cp:lastModifiedBy>
  <cp:revision>23</cp:revision>
  <dcterms:created xsi:type="dcterms:W3CDTF">2011-09-27T16:38:01Z</dcterms:created>
  <dcterms:modified xsi:type="dcterms:W3CDTF">2011-10-12T22:31:39Z</dcterms:modified>
</cp:coreProperties>
</file>