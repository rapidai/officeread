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2" d="100"/>
          <a:sy n="42" d="100"/>
        </p:scale>
        <p:origin x="-900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fld id="{0468ACEC-7254-4ABE-9C32-19E4894B482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fld id="{ECD2AB3C-BE11-49BB-96A3-ED9DB3D535D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F72F4E-964B-424B-8287-BF42677EFA05}" type="slidenum">
              <a:rPr lang="en-US"/>
              <a:pPr/>
              <a:t>1</a:t>
            </a:fld>
            <a:endParaRPr lang="en-US"/>
          </a:p>
        </p:txBody>
      </p:sp>
      <p:sp>
        <p:nvSpPr>
          <p:cNvPr id="409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E6F4AB-4F2D-4C5B-B05B-181B6347DEB1}" type="slidenum">
              <a:rPr lang="en-US"/>
              <a:pPr/>
              <a:t>2</a:t>
            </a:fld>
            <a:endParaRPr lang="en-US"/>
          </a:p>
        </p:txBody>
      </p:sp>
      <p:sp>
        <p:nvSpPr>
          <p:cNvPr id="4096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CF948E-394B-4378-A633-6A1CE5A41C4B}" type="slidenum">
              <a:rPr lang="en-US"/>
              <a:pPr/>
              <a:t>3</a:t>
            </a:fld>
            <a:endParaRPr lang="en-US"/>
          </a:p>
        </p:txBody>
      </p:sp>
      <p:sp>
        <p:nvSpPr>
          <p:cNvPr id="3789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D60E77-1AC7-4B41-8B87-CB184CB8B5DD}" type="slidenum">
              <a:rPr lang="en-US"/>
              <a:pPr/>
              <a:t>4</a:t>
            </a:fld>
            <a:endParaRPr lang="en-US"/>
          </a:p>
        </p:txBody>
      </p:sp>
      <p:sp>
        <p:nvSpPr>
          <p:cNvPr id="4813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0E26E9-01AF-4773-ACAF-B97072F63065}" type="slidenum">
              <a:rPr lang="en-US"/>
              <a:pPr/>
              <a:t>5</a:t>
            </a:fld>
            <a:endParaRPr lang="en-US"/>
          </a:p>
        </p:txBody>
      </p:sp>
      <p:sp>
        <p:nvSpPr>
          <p:cNvPr id="6144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8EBE7C-8D9E-4EA8-B550-30E6A777C532}" type="slidenum">
              <a:rPr lang="en-US"/>
              <a:pPr/>
              <a:t>6</a:t>
            </a:fld>
            <a:endParaRPr lang="en-US"/>
          </a:p>
        </p:txBody>
      </p:sp>
      <p:sp>
        <p:nvSpPr>
          <p:cNvPr id="6451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C21629-231A-4303-ACFD-97CC719C5803}" type="slidenum">
              <a:rPr lang="en-US"/>
              <a:pPr/>
              <a:t>7</a:t>
            </a:fld>
            <a:endParaRPr lang="en-US"/>
          </a:p>
        </p:txBody>
      </p:sp>
      <p:sp>
        <p:nvSpPr>
          <p:cNvPr id="6758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1D26E3-0446-4E52-B221-EC011C084F27}" type="slidenum">
              <a:rPr lang="en-US"/>
              <a:pPr/>
              <a:t>8</a:t>
            </a:fld>
            <a:endParaRPr lang="en-US"/>
          </a:p>
        </p:txBody>
      </p:sp>
      <p:sp>
        <p:nvSpPr>
          <p:cNvPr id="6963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545803-6FB9-4440-80A5-893A8FDC5B91}" type="slidenum">
              <a:rPr lang="en-US"/>
              <a:pPr/>
              <a:t>9</a:t>
            </a:fld>
            <a:endParaRPr lang="en-US"/>
          </a:p>
        </p:txBody>
      </p:sp>
      <p:sp>
        <p:nvSpPr>
          <p:cNvPr id="7270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798325-427B-4A34-B947-4E6C6F7F311E}" type="slidenum">
              <a:rPr lang="en-US"/>
              <a:pPr/>
              <a:t>10</a:t>
            </a:fld>
            <a:endParaRPr lang="en-US"/>
          </a:p>
        </p:txBody>
      </p:sp>
      <p:sp>
        <p:nvSpPr>
          <p:cNvPr id="7577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5843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3584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4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584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35847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848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584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58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58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5854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5855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585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BBDD849-C72D-46F7-9674-0818ED8F68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6A7315-4D21-4B08-87B9-7C6A06E195A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4B8A79-7F4A-401D-9FCE-B4238060DB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A7C64A-B4D3-4E27-8025-09E9CA0E75D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0FCD4E-5704-4015-9B0A-AA1B7385D96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33905C-02D9-45D7-9F67-69601B02F98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DCAD9F-ADE2-4EB5-8F21-3BD2B71CC3D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2042C0-9175-463E-A69A-73507388199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2B0E4A-8259-4160-BE27-11F039A113C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BA0021-F1AC-4D31-94B7-186F318E409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4AC195-E07A-4E8B-AFCB-265DAC507F6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208B3AD9-839D-4348-BE99-DE42725D2ED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71DB798D-259C-460F-848A-41588EC1C5C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82688" y="4151313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716832D3-318F-401F-A282-AFF07A35A9A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83E90D9-48FF-445C-A461-0206056659D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/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/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/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/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/>
          </a:p>
        </p:txBody>
      </p:sp>
      <p:sp>
        <p:nvSpPr>
          <p:cNvPr id="34823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/>
          </a:p>
        </p:txBody>
      </p:sp>
      <p:sp>
        <p:nvSpPr>
          <p:cNvPr id="34824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endParaRPr kumimoji="1" lang="en-US" sz="2400"/>
          </a:p>
        </p:txBody>
      </p:sp>
      <p:sp>
        <p:nvSpPr>
          <p:cNvPr id="3482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482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482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endParaRPr lang="en-US"/>
          </a:p>
        </p:txBody>
      </p:sp>
      <p:sp>
        <p:nvSpPr>
          <p:cNvPr id="3482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en-US"/>
          </a:p>
        </p:txBody>
      </p:sp>
      <p:sp>
        <p:nvSpPr>
          <p:cNvPr id="3482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F3B1ECB4-A075-471D-9224-8E0ACFE53F08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ederalreserve.gov/consumerinfo/foreclosure.ht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ha.gov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hopenow.com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/>
              <a:t>MORTGAGE FORECLOSURE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600" b="1" i="1">
                <a:solidFill>
                  <a:schemeClr val="hlink"/>
                </a:solidFill>
              </a:rPr>
              <a:t>Resources for Training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838200" y="1676400"/>
            <a:ext cx="7772400" cy="1462088"/>
          </a:xfrm>
        </p:spPr>
        <p:txBody>
          <a:bodyPr/>
          <a:lstStyle/>
          <a:p>
            <a:r>
              <a:rPr lang="en-US" sz="4800" i="1"/>
              <a:t>by</a:t>
            </a:r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Joanne Bankston, Ph.D.</a:t>
            </a:r>
          </a:p>
          <a:p>
            <a:r>
              <a:rPr lang="en-US"/>
              <a:t>Kentucky State University</a:t>
            </a:r>
          </a:p>
          <a:p>
            <a:r>
              <a:rPr lang="en-US"/>
              <a:t>Cooperative Extension Program </a:t>
            </a:r>
          </a:p>
          <a:p>
            <a:endParaRPr lang="en-US"/>
          </a:p>
        </p:txBody>
      </p:sp>
      <p:sp>
        <p:nvSpPr>
          <p:cNvPr id="39943" name="Rectangle 7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Joanne Bankston, Ph.D.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GETTING STARTED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2400"/>
              <a:t>Developing programs on mortgage foreclosure for Extension assistants and agents</a:t>
            </a:r>
          </a:p>
          <a:p>
            <a:r>
              <a:rPr lang="en-US" sz="2400"/>
              <a:t>Explore federal and state resources for up-to-date information</a:t>
            </a:r>
          </a:p>
          <a:p>
            <a:r>
              <a:rPr lang="en-US" sz="2400"/>
              <a:t>Spreading the word ASAP</a:t>
            </a:r>
          </a:p>
        </p:txBody>
      </p:sp>
      <p:pic>
        <p:nvPicPr>
          <p:cNvPr id="36880" name="Picture 16" descr="MPj04332520000[1]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182688" y="2805113"/>
            <a:ext cx="3810000" cy="2538412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FEDERAL FORECLOSURE INFORMATION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2133600"/>
            <a:ext cx="5181600" cy="4343400"/>
          </a:xfrm>
        </p:spPr>
        <p:txBody>
          <a:bodyPr/>
          <a:lstStyle/>
          <a:p>
            <a:r>
              <a:rPr lang="en-US" sz="2800"/>
              <a:t>Website for seeking solutions to foreclosure issues:</a:t>
            </a:r>
          </a:p>
          <a:p>
            <a:r>
              <a:rPr lang="en-US" sz="2800" b="1">
                <a:hlinkClick r:id="rId3"/>
              </a:rPr>
              <a:t>www.federalreserve.gov/consumerinfo/foreclosure.htm</a:t>
            </a:r>
            <a:endParaRPr lang="en-US" sz="2800" b="1"/>
          </a:p>
          <a:p>
            <a:r>
              <a:rPr lang="en-US" sz="2800"/>
              <a:t>Link to foreclosure centers and housing counselors</a:t>
            </a:r>
          </a:p>
          <a:p>
            <a:endParaRPr lang="en-US" sz="2800"/>
          </a:p>
        </p:txBody>
      </p:sp>
      <p:pic>
        <p:nvPicPr>
          <p:cNvPr id="47109" name="Picture 5" descr="MPj04117860000[1]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6037263" y="2590800"/>
            <a:ext cx="2554287" cy="33528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Website links to agency publications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228600" y="4114800"/>
            <a:ext cx="8726488" cy="20177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Department of Housing and Urban Development</a:t>
            </a:r>
          </a:p>
          <a:p>
            <a:pPr>
              <a:lnSpc>
                <a:spcPct val="90000"/>
              </a:lnSpc>
            </a:pPr>
            <a:r>
              <a:rPr lang="en-US" sz="2800"/>
              <a:t>Department of Justice</a:t>
            </a:r>
          </a:p>
          <a:p>
            <a:pPr>
              <a:lnSpc>
                <a:spcPct val="90000"/>
              </a:lnSpc>
            </a:pPr>
            <a:r>
              <a:rPr lang="en-US" sz="2800"/>
              <a:t>Federal Housing Administration</a:t>
            </a:r>
          </a:p>
          <a:p>
            <a:pPr>
              <a:lnSpc>
                <a:spcPct val="90000"/>
              </a:lnSpc>
            </a:pPr>
            <a:r>
              <a:rPr lang="en-US" sz="2800"/>
              <a:t>Federal Trade Commission</a:t>
            </a:r>
          </a:p>
        </p:txBody>
      </p:sp>
      <p:pic>
        <p:nvPicPr>
          <p:cNvPr id="60423" name="Picture 7" descr="MCBS00971_0000[1]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124200" y="2286000"/>
            <a:ext cx="3200400" cy="16002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NeighborWorks America</a:t>
            </a:r>
          </a:p>
        </p:txBody>
      </p:sp>
      <p:sp>
        <p:nvSpPr>
          <p:cNvPr id="63494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4267200" y="1905000"/>
            <a:ext cx="4687888" cy="42275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/>
              <a:t>Created to preserve homeownership</a:t>
            </a:r>
          </a:p>
          <a:p>
            <a:pPr>
              <a:lnSpc>
                <a:spcPct val="90000"/>
              </a:lnSpc>
            </a:pPr>
            <a:r>
              <a:rPr lang="en-US" sz="2800"/>
              <a:t>Foreclosure counselors around the nation</a:t>
            </a:r>
          </a:p>
          <a:p>
            <a:pPr>
              <a:lnSpc>
                <a:spcPct val="90000"/>
              </a:lnSpc>
            </a:pPr>
            <a:r>
              <a:rPr lang="en-US" sz="2800"/>
              <a:t>Outreach Campaigns to reach struggling homeowners</a:t>
            </a:r>
          </a:p>
          <a:p>
            <a:pPr>
              <a:lnSpc>
                <a:spcPct val="90000"/>
              </a:lnSpc>
            </a:pPr>
            <a:r>
              <a:rPr lang="en-US" sz="2800"/>
              <a:t>Collaborates w/ local leaders to create intervention programs</a:t>
            </a:r>
          </a:p>
        </p:txBody>
      </p:sp>
      <p:pic>
        <p:nvPicPr>
          <p:cNvPr id="63495" name="Picture 7" descr="MPj04358870000[1]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066800" y="2647950"/>
            <a:ext cx="2895600" cy="280035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solidFill>
                  <a:schemeClr val="hlink"/>
                </a:solidFill>
              </a:rPr>
              <a:t>Other Foreclosure Resources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Federal Housing Administration website:  </a:t>
            </a:r>
          </a:p>
          <a:p>
            <a:pPr>
              <a:lnSpc>
                <a:spcPct val="90000"/>
              </a:lnSpc>
            </a:pPr>
            <a:r>
              <a:rPr lang="en-US">
                <a:hlinkClick r:id="rId3"/>
              </a:rPr>
              <a:t>www.fha.gov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Hope for Homeowners – created by Congress to help those at risk of default and foreclosure refinance into more affordable loans</a:t>
            </a:r>
          </a:p>
          <a:p>
            <a:pPr>
              <a:lnSpc>
                <a:spcPct val="90000"/>
              </a:lnSpc>
            </a:pPr>
            <a:r>
              <a:rPr lang="en-US">
                <a:hlinkClick r:id="rId4"/>
              </a:rPr>
              <a:t>www.hopenow.com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Hope Hotline 1-888-995.HOPE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/>
              <a:t>State Resources</a:t>
            </a:r>
            <a:br>
              <a:rPr lang="en-US" sz="4000" b="1"/>
            </a:br>
            <a:r>
              <a:rPr lang="en-US" sz="4000" b="1"/>
              <a:t>The KY Housing Corporation</a:t>
            </a:r>
          </a:p>
        </p:txBody>
      </p:sp>
      <p:sp>
        <p:nvSpPr>
          <p:cNvPr id="68612" name="Rectangle 4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sz="2400"/>
              <a:t>Provides:</a:t>
            </a:r>
          </a:p>
          <a:p>
            <a:r>
              <a:rPr lang="en-US" sz="2400"/>
              <a:t>Affordable housing opportunities</a:t>
            </a:r>
          </a:p>
          <a:p>
            <a:r>
              <a:rPr lang="en-US" sz="2400"/>
              <a:t>Lower-than market mortgages</a:t>
            </a:r>
          </a:p>
          <a:p>
            <a:r>
              <a:rPr lang="en-US" sz="2400"/>
              <a:t>Down payment assistance</a:t>
            </a:r>
          </a:p>
          <a:p>
            <a:r>
              <a:rPr lang="en-US" sz="2400"/>
              <a:t>Homeownership education</a:t>
            </a:r>
          </a:p>
        </p:txBody>
      </p:sp>
      <p:sp>
        <p:nvSpPr>
          <p:cNvPr id="68613" name="Rectangle 5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2400"/>
              <a:t>Counseling</a:t>
            </a:r>
          </a:p>
          <a:p>
            <a:r>
              <a:rPr lang="en-US" sz="2400"/>
              <a:t>Housing production financing</a:t>
            </a:r>
          </a:p>
          <a:p>
            <a:r>
              <a:rPr lang="en-US" sz="2400"/>
              <a:t>Rental assistance </a:t>
            </a:r>
          </a:p>
          <a:p>
            <a:r>
              <a:rPr lang="en-US" sz="2400"/>
              <a:t>Housing production financing</a:t>
            </a:r>
          </a:p>
          <a:p>
            <a:r>
              <a:rPr lang="en-US" sz="2400"/>
              <a:t>Rental assistance</a:t>
            </a:r>
          </a:p>
          <a:p>
            <a:r>
              <a:rPr lang="en-US" sz="2400"/>
              <a:t>Programs for homeless</a:t>
            </a:r>
          </a:p>
          <a:p>
            <a:r>
              <a:rPr lang="en-US" sz="2400"/>
              <a:t>www.kyhousing.org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/>
              <a:t>KY Homeownership Protection Center</a:t>
            </a:r>
          </a:p>
        </p:txBody>
      </p:sp>
      <p:sp>
        <p:nvSpPr>
          <p:cNvPr id="71686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2017713"/>
            <a:ext cx="4459288" cy="4535487"/>
          </a:xfrm>
        </p:spPr>
        <p:txBody>
          <a:bodyPr/>
          <a:lstStyle/>
          <a:p>
            <a:r>
              <a:rPr lang="en-US" sz="2400"/>
              <a:t>Designed to help KY households avoid foreclosure who are on the brink of losing their homes</a:t>
            </a:r>
          </a:p>
          <a:p>
            <a:r>
              <a:rPr lang="en-US" sz="2400"/>
              <a:t>Administered by KHC</a:t>
            </a:r>
          </a:p>
          <a:p>
            <a:r>
              <a:rPr lang="en-US" sz="2400"/>
              <a:t>Network of counselors and counseling agencies</a:t>
            </a:r>
          </a:p>
          <a:p>
            <a:r>
              <a:rPr lang="en-US" sz="2400"/>
              <a:t>Provides information on mortgage foreclosure solutions &amp; workout plans</a:t>
            </a:r>
          </a:p>
          <a:p>
            <a:r>
              <a:rPr lang="en-US" sz="2400"/>
              <a:t>www.protectmykyhome.org</a:t>
            </a:r>
          </a:p>
        </p:txBody>
      </p:sp>
      <p:pic>
        <p:nvPicPr>
          <p:cNvPr id="71691" name="Picture 11" descr="MCj03657480000[1]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685800" y="2514600"/>
            <a:ext cx="2840038" cy="33528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KY Hownership Protection Center Works w/ KY Families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0" y="1905000"/>
            <a:ext cx="4343400" cy="4495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/>
              <a:t>Helps families to:</a:t>
            </a:r>
          </a:p>
          <a:p>
            <a:pPr>
              <a:lnSpc>
                <a:spcPct val="80000"/>
              </a:lnSpc>
            </a:pPr>
            <a:r>
              <a:rPr lang="en-US" sz="2400"/>
              <a:t>Understand foreclosure process and causes</a:t>
            </a:r>
          </a:p>
          <a:p>
            <a:pPr>
              <a:lnSpc>
                <a:spcPct val="80000"/>
              </a:lnSpc>
            </a:pPr>
            <a:r>
              <a:rPr lang="en-US" sz="2400"/>
              <a:t>Develop plan to address</a:t>
            </a:r>
          </a:p>
          <a:p>
            <a:pPr>
              <a:lnSpc>
                <a:spcPct val="80000"/>
              </a:lnSpc>
            </a:pPr>
            <a:r>
              <a:rPr lang="en-US" sz="2400"/>
              <a:t>Find resources to address needs</a:t>
            </a:r>
          </a:p>
          <a:p>
            <a:pPr>
              <a:lnSpc>
                <a:spcPct val="80000"/>
              </a:lnSpc>
            </a:pPr>
            <a:r>
              <a:rPr lang="en-US" sz="2400"/>
              <a:t>Learn to manage finances</a:t>
            </a:r>
          </a:p>
          <a:p>
            <a:pPr>
              <a:lnSpc>
                <a:spcPct val="80000"/>
              </a:lnSpc>
            </a:pPr>
            <a:r>
              <a:rPr lang="en-US" sz="2400"/>
              <a:t>Determine options for preventing foreclosure</a:t>
            </a:r>
          </a:p>
          <a:p>
            <a:pPr>
              <a:lnSpc>
                <a:spcPct val="80000"/>
              </a:lnSpc>
            </a:pPr>
            <a:r>
              <a:rPr lang="en-US" sz="2400"/>
              <a:t>Avoid predatory lending</a:t>
            </a:r>
          </a:p>
          <a:p>
            <a:pPr>
              <a:lnSpc>
                <a:spcPct val="80000"/>
              </a:lnSpc>
            </a:pPr>
            <a:r>
              <a:rPr lang="en-US" sz="2400"/>
              <a:t>Find alternative housing solutions if foreclosure occurs</a:t>
            </a:r>
          </a:p>
        </p:txBody>
      </p:sp>
      <p:pic>
        <p:nvPicPr>
          <p:cNvPr id="74759" name="Picture 7" descr="MPj04386880000[1]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295400" y="2743200"/>
            <a:ext cx="2732088" cy="35052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94"/>
      </a:dk1>
      <a:lt1>
        <a:srgbClr val="FFFFFF"/>
      </a:lt1>
      <a:dk2>
        <a:srgbClr val="0000CC"/>
      </a:dk2>
      <a:lt2>
        <a:srgbClr val="FFFFCC"/>
      </a:lt2>
      <a:accent1>
        <a:srgbClr val="3193FF"/>
      </a:accent1>
      <a:accent2>
        <a:srgbClr val="9900FF"/>
      </a:accent2>
      <a:accent3>
        <a:srgbClr val="AAAAE2"/>
      </a:accent3>
      <a:accent4>
        <a:srgbClr val="DADADA"/>
      </a:accent4>
      <a:accent5>
        <a:srgbClr val="ADC8FF"/>
      </a:accent5>
      <a:accent6>
        <a:srgbClr val="8A00E7"/>
      </a:accent6>
      <a:hlink>
        <a:srgbClr val="FF3399"/>
      </a:hlink>
      <a:folHlink>
        <a:srgbClr val="FFCC00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282</TotalTime>
  <Words>270</Words>
  <Application>Microsoft Office PowerPoint</Application>
  <PresentationFormat>On-screen Show (4:3)</PresentationFormat>
  <Paragraphs>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Tahoma</vt:lpstr>
      <vt:lpstr>Wingdings</vt:lpstr>
      <vt:lpstr>Blends</vt:lpstr>
      <vt:lpstr>MORTGAGE FORECLOSURE</vt:lpstr>
      <vt:lpstr>by</vt:lpstr>
      <vt:lpstr>GETTING STARTED</vt:lpstr>
      <vt:lpstr>FEDERAL FORECLOSURE INFORMATION</vt:lpstr>
      <vt:lpstr>Website links to agency publications</vt:lpstr>
      <vt:lpstr>NeighborWorks America</vt:lpstr>
      <vt:lpstr>Other Foreclosure Resources</vt:lpstr>
      <vt:lpstr>State Resources The KY Housing Corporation</vt:lpstr>
      <vt:lpstr>KY Homeownership Protection Center</vt:lpstr>
      <vt:lpstr>KY Hownership Protection Center Works w/ KY Families</vt:lpstr>
    </vt:vector>
  </TitlesOfParts>
  <Company>KYSU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joanne.bankston</dc:creator>
  <cp:lastModifiedBy>Patti</cp:lastModifiedBy>
  <cp:revision>5</cp:revision>
  <dcterms:created xsi:type="dcterms:W3CDTF">2008-11-15T04:00:27Z</dcterms:created>
  <dcterms:modified xsi:type="dcterms:W3CDTF">2008-11-15T18:16:05Z</dcterms:modified>
</cp:coreProperties>
</file>