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20"/>
  </p:notesMasterIdLst>
  <p:sldIdLst>
    <p:sldId id="256" r:id="rId2"/>
    <p:sldId id="268" r:id="rId3"/>
    <p:sldId id="257" r:id="rId4"/>
    <p:sldId id="270" r:id="rId5"/>
    <p:sldId id="269" r:id="rId6"/>
    <p:sldId id="271" r:id="rId7"/>
    <p:sldId id="258" r:id="rId8"/>
    <p:sldId id="273" r:id="rId9"/>
    <p:sldId id="259" r:id="rId10"/>
    <p:sldId id="260" r:id="rId11"/>
    <p:sldId id="261" r:id="rId12"/>
    <p:sldId id="262" r:id="rId13"/>
    <p:sldId id="263" r:id="rId14"/>
    <p:sldId id="264" r:id="rId15"/>
    <p:sldId id="272" r:id="rId16"/>
    <p:sldId id="265" r:id="rId17"/>
    <p:sldId id="266" r:id="rId18"/>
    <p:sldId id="267"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50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C9F1BD-16C5-4A4B-B63A-589FB26BBD22}" type="datetimeFigureOut">
              <a:rPr lang="en-CA" smtClean="0"/>
              <a:t>08/07/2011</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060B8B-C77C-4D1B-AF6A-55341A73879A}" type="slidenum">
              <a:rPr lang="en-CA" smtClean="0"/>
              <a:t>‹#›</a:t>
            </a:fld>
            <a:endParaRPr lang="en-CA"/>
          </a:p>
        </p:txBody>
      </p:sp>
    </p:spTree>
    <p:extLst>
      <p:ext uri="{BB962C8B-B14F-4D97-AF65-F5344CB8AC3E}">
        <p14:creationId xmlns:p14="http://schemas.microsoft.com/office/powerpoint/2010/main" val="549171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1060B8B-C77C-4D1B-AF6A-55341A73879A}" type="slidenum">
              <a:rPr lang="en-CA" smtClean="0"/>
              <a:t>9</a:t>
            </a:fld>
            <a:endParaRPr lang="en-CA"/>
          </a:p>
        </p:txBody>
      </p:sp>
    </p:spTree>
    <p:extLst>
      <p:ext uri="{BB962C8B-B14F-4D97-AF65-F5344CB8AC3E}">
        <p14:creationId xmlns:p14="http://schemas.microsoft.com/office/powerpoint/2010/main" val="495680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532F5C-7317-4E76-88CE-6EFB5133CA0A}" type="datetimeFigureOut">
              <a:rPr lang="en-CA" smtClean="0"/>
              <a:t>08/07/2011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7592803-ED16-4D7C-B50E-0EEF298C2833}" type="slidenum">
              <a:rPr lang="en-CA" smtClean="0"/>
              <a:t>‹#›</a:t>
            </a:fld>
            <a:endParaRPr lang="en-CA"/>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532F5C-7317-4E76-88CE-6EFB5133CA0A}" type="datetimeFigureOut">
              <a:rPr lang="en-CA" smtClean="0"/>
              <a:t>08/07/2011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7592803-ED16-4D7C-B50E-0EEF298C2833}" type="slidenum">
              <a:rPr lang="en-CA" smtClean="0"/>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532F5C-7317-4E76-88CE-6EFB5133CA0A}" type="datetimeFigureOut">
              <a:rPr lang="en-CA" smtClean="0"/>
              <a:t>08/07/2011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7592803-ED16-4D7C-B50E-0EEF298C2833}" type="slidenum">
              <a:rPr lang="en-CA" smtClean="0"/>
              <a:t>‹#›</a:t>
            </a:fld>
            <a:endParaRPr lang="en-CA"/>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532F5C-7317-4E76-88CE-6EFB5133CA0A}" type="datetimeFigureOut">
              <a:rPr lang="en-CA" smtClean="0"/>
              <a:t>08/07/2011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B7592803-ED16-4D7C-B50E-0EEF298C2833}" type="slidenum">
              <a:rPr lang="en-CA" smtClean="0"/>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532F5C-7317-4E76-88CE-6EFB5133CA0A}" type="datetimeFigureOut">
              <a:rPr lang="en-CA" smtClean="0"/>
              <a:t>08/07/2011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B7592803-ED16-4D7C-B50E-0EEF298C2833}" type="slidenum">
              <a:rPr lang="en-CA" smtClean="0"/>
              <a:t>‹#›</a:t>
            </a:fld>
            <a:endParaRPr lang="en-CA"/>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532F5C-7317-4E76-88CE-6EFB5133CA0A}" type="datetimeFigureOut">
              <a:rPr lang="en-CA" smtClean="0"/>
              <a:t>08/07/2011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B7592803-ED16-4D7C-B50E-0EEF298C2833}" type="slidenum">
              <a:rPr lang="en-CA" smtClean="0"/>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532F5C-7317-4E76-88CE-6EFB5133CA0A}" type="datetimeFigureOut">
              <a:rPr lang="en-CA" smtClean="0"/>
              <a:t>08/07/2011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B7592803-ED16-4D7C-B50E-0EEF298C2833}" type="slidenum">
              <a:rPr lang="en-CA" smtClean="0"/>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532F5C-7317-4E76-88CE-6EFB5133CA0A}" type="datetimeFigureOut">
              <a:rPr lang="en-CA" smtClean="0"/>
              <a:t>08/07/2011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B7592803-ED16-4D7C-B50E-0EEF298C2833}" type="slidenum">
              <a:rPr lang="en-CA" smtClean="0"/>
              <a:t>‹#›</a:t>
            </a:fld>
            <a:endParaRPr lang="en-CA"/>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532F5C-7317-4E76-88CE-6EFB5133CA0A}" type="datetimeFigureOut">
              <a:rPr lang="en-CA" smtClean="0"/>
              <a:t>08/07/2011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B7592803-ED16-4D7C-B50E-0EEF298C2833}" type="slidenum">
              <a:rPr lang="en-CA" smtClean="0"/>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532F5C-7317-4E76-88CE-6EFB5133CA0A}" type="datetimeFigureOut">
              <a:rPr lang="en-CA" smtClean="0"/>
              <a:t>08/07/2011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7592803-ED16-4D7C-B50E-0EEF298C2833}" type="slidenum">
              <a:rPr lang="en-CA" smtClean="0"/>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532F5C-7317-4E76-88CE-6EFB5133CA0A}" type="datetimeFigureOut">
              <a:rPr lang="en-CA" smtClean="0"/>
              <a:t>08/07/2011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7592803-ED16-4D7C-B50E-0EEF298C2833}" type="slidenum">
              <a:rPr lang="en-CA" smtClean="0"/>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7B532F5C-7317-4E76-88CE-6EFB5133CA0A}" type="datetimeFigureOut">
              <a:rPr lang="en-CA" smtClean="0"/>
              <a:t>08/07/2011</a:t>
            </a:fld>
            <a:endParaRPr lang="en-CA"/>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CA"/>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7592803-ED16-4D7C-B50E-0EEF298C2833}"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BcvSNg0HZwk" TargetMode="External"/><Relationship Id="rId2" Type="http://schemas.openxmlformats.org/officeDocument/2006/relationships/hyperlink" Target="http://www.youtube.com/watch?v=iRh5qy09nNw" TargetMode="External"/><Relationship Id="rId1" Type="http://schemas.openxmlformats.org/officeDocument/2006/relationships/slideLayout" Target="../slideLayouts/slideLayout2.xml"/><Relationship Id="rId5" Type="http://schemas.openxmlformats.org/officeDocument/2006/relationships/hyperlink" Target="http://www.sciencemag.org/content/332/6036/1380.full?sid=0a0bcb53-0157-4b1d-9ab0-6108b6a74535" TargetMode="External"/><Relationship Id="rId4" Type="http://schemas.openxmlformats.org/officeDocument/2006/relationships/hyperlink" Target="http://video.google.com/videoplay?docid=677084988379129606" TargetMode="Externa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smtClean="0"/>
              <a:t>Lesson 2</a:t>
            </a:r>
            <a:endParaRPr lang="en-CA" dirty="0"/>
          </a:p>
        </p:txBody>
      </p:sp>
      <p:sp>
        <p:nvSpPr>
          <p:cNvPr id="3" name="Subtitle 2"/>
          <p:cNvSpPr>
            <a:spLocks noGrp="1"/>
          </p:cNvSpPr>
          <p:nvPr>
            <p:ph type="subTitle" idx="1"/>
          </p:nvPr>
        </p:nvSpPr>
        <p:spPr/>
        <p:txBody>
          <a:bodyPr>
            <a:normAutofit/>
          </a:bodyPr>
          <a:lstStyle/>
          <a:p>
            <a:r>
              <a:rPr lang="en-CA" dirty="0" smtClean="0"/>
              <a:t>Human Agency and Free Will: Blessing or Curse?</a:t>
            </a:r>
            <a:endParaRPr lang="en-CA" dirty="0"/>
          </a:p>
        </p:txBody>
      </p:sp>
    </p:spTree>
    <p:extLst>
      <p:ext uri="{BB962C8B-B14F-4D97-AF65-F5344CB8AC3E}">
        <p14:creationId xmlns:p14="http://schemas.microsoft.com/office/powerpoint/2010/main" val="31528877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Why the Big Fuss about Freedom?</a:t>
            </a:r>
            <a:endParaRPr lang="en-CA" dirty="0"/>
          </a:p>
        </p:txBody>
      </p:sp>
      <p:sp>
        <p:nvSpPr>
          <p:cNvPr id="3" name="Content Placeholder 2"/>
          <p:cNvSpPr>
            <a:spLocks noGrp="1"/>
          </p:cNvSpPr>
          <p:nvPr>
            <p:ph idx="1"/>
          </p:nvPr>
        </p:nvSpPr>
        <p:spPr/>
        <p:txBody>
          <a:bodyPr/>
          <a:lstStyle/>
          <a:p>
            <a:endParaRPr lang="en-CA" dirty="0" smtClean="0"/>
          </a:p>
          <a:p>
            <a:r>
              <a:rPr lang="en-CA" dirty="0" smtClean="0"/>
              <a:t>The aim of liberal education is to cultivate the intelligent use of freedom.</a:t>
            </a:r>
          </a:p>
          <a:p>
            <a:r>
              <a:rPr lang="en-CA" dirty="0" smtClean="0"/>
              <a:t>The aim of psychotherapy is to develop inner freedom.</a:t>
            </a:r>
          </a:p>
          <a:p>
            <a:r>
              <a:rPr lang="en-CA" dirty="0" smtClean="0"/>
              <a:t>Abuse of freedom brings destruction to self and others.</a:t>
            </a:r>
          </a:p>
          <a:p>
            <a:r>
              <a:rPr lang="en-CA" dirty="0" smtClean="0"/>
              <a:t>Escape from freedom robs us of human dignity and authenticity.</a:t>
            </a:r>
          </a:p>
          <a:p>
            <a:r>
              <a:rPr lang="en-CA" dirty="0" smtClean="0"/>
              <a:t>Learn to exercise human agency and free will wisely and responsibly.</a:t>
            </a:r>
            <a:endParaRPr lang="en-CA" dirty="0"/>
          </a:p>
        </p:txBody>
      </p:sp>
    </p:spTree>
    <p:extLst>
      <p:ext uri="{BB962C8B-B14F-4D97-AF65-F5344CB8AC3E}">
        <p14:creationId xmlns:p14="http://schemas.microsoft.com/office/powerpoint/2010/main" val="205634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4400" dirty="0" smtClean="0"/>
              <a:t>How Free Are You?</a:t>
            </a:r>
            <a:endParaRPr lang="en-CA" sz="4400" dirty="0"/>
          </a:p>
        </p:txBody>
      </p:sp>
      <p:sp>
        <p:nvSpPr>
          <p:cNvPr id="3" name="Content Placeholder 2"/>
          <p:cNvSpPr>
            <a:spLocks noGrp="1"/>
          </p:cNvSpPr>
          <p:nvPr>
            <p:ph idx="1"/>
          </p:nvPr>
        </p:nvSpPr>
        <p:spPr/>
        <p:txBody>
          <a:bodyPr>
            <a:normAutofit/>
          </a:bodyPr>
          <a:lstStyle/>
          <a:p>
            <a:pPr marL="45720" indent="0">
              <a:buNone/>
            </a:pPr>
            <a:endParaRPr lang="en-CA" dirty="0" smtClean="0"/>
          </a:p>
          <a:p>
            <a:pPr marL="45720" indent="0">
              <a:buNone/>
            </a:pPr>
            <a:r>
              <a:rPr lang="en-CA" dirty="0" smtClean="0"/>
              <a:t>Do you have the freedom to create your own future?</a:t>
            </a:r>
          </a:p>
          <a:p>
            <a:pPr marL="45720" indent="0">
              <a:buNone/>
            </a:pPr>
            <a:endParaRPr lang="en-CA" dirty="0"/>
          </a:p>
          <a:p>
            <a:pPr marL="45720" indent="0">
              <a:buNone/>
            </a:pPr>
            <a:r>
              <a:rPr lang="en-CA" dirty="0" smtClean="0"/>
              <a:t>“You say: I am not free. But I have raised and lowered my arm. Everyone understands that this illogical answer is an irrefutable proof of freedom.”</a:t>
            </a:r>
          </a:p>
          <a:p>
            <a:pPr marL="45720" indent="0" algn="r">
              <a:buNone/>
            </a:pPr>
            <a:r>
              <a:rPr lang="en-CA" dirty="0" smtClean="0"/>
              <a:t>– Leo Tolstoy (War and Peace)</a:t>
            </a:r>
          </a:p>
          <a:p>
            <a:pPr marL="45720" indent="0">
              <a:buNone/>
            </a:pPr>
            <a:endParaRPr lang="en-CA" dirty="0"/>
          </a:p>
          <a:p>
            <a:pPr marL="45720" indent="0">
              <a:buNone/>
            </a:pPr>
            <a:r>
              <a:rPr lang="en-CA" dirty="0" smtClean="0"/>
              <a:t>“So if the Son sets you free, you will be free indeed.”</a:t>
            </a:r>
          </a:p>
          <a:p>
            <a:pPr marL="45720" indent="0" algn="r">
              <a:buNone/>
            </a:pPr>
            <a:r>
              <a:rPr lang="en-CA" dirty="0" smtClean="0"/>
              <a:t>– John 8:36 (NIV)</a:t>
            </a:r>
            <a:endParaRPr lang="en-CA" dirty="0"/>
          </a:p>
        </p:txBody>
      </p:sp>
    </p:spTree>
    <p:extLst>
      <p:ext uri="{BB962C8B-B14F-4D97-AF65-F5344CB8AC3E}">
        <p14:creationId xmlns:p14="http://schemas.microsoft.com/office/powerpoint/2010/main" val="17045647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Four Basic Types of Freedom</a:t>
            </a:r>
            <a:endParaRPr lang="en-CA" dirty="0"/>
          </a:p>
        </p:txBody>
      </p:sp>
      <p:sp>
        <p:nvSpPr>
          <p:cNvPr id="3" name="Content Placeholder 2"/>
          <p:cNvSpPr>
            <a:spLocks noGrp="1"/>
          </p:cNvSpPr>
          <p:nvPr>
            <p:ph idx="1"/>
          </p:nvPr>
        </p:nvSpPr>
        <p:spPr/>
        <p:txBody>
          <a:bodyPr/>
          <a:lstStyle/>
          <a:p>
            <a:pPr marL="0" indent="0">
              <a:buNone/>
            </a:pPr>
            <a:endParaRPr lang="en-CA" dirty="0" smtClean="0"/>
          </a:p>
          <a:p>
            <a:pPr marL="457200" indent="-457200">
              <a:buFont typeface="+mj-lt"/>
              <a:buAutoNum type="arabicPeriod"/>
            </a:pPr>
            <a:r>
              <a:rPr lang="en-CA" dirty="0" smtClean="0"/>
              <a:t>Physical freedom – the ability to move around and control our own body.</a:t>
            </a:r>
          </a:p>
          <a:p>
            <a:pPr marL="457200" indent="-457200">
              <a:buFont typeface="+mj-lt"/>
              <a:buAutoNum type="arabicPeriod"/>
            </a:pPr>
            <a:r>
              <a:rPr lang="en-CA" dirty="0" smtClean="0"/>
              <a:t>Psychological freedom – the freedom to love, work and make choices.</a:t>
            </a:r>
          </a:p>
          <a:p>
            <a:pPr marL="457200" indent="-457200">
              <a:buFont typeface="+mj-lt"/>
              <a:buAutoNum type="arabicPeriod"/>
            </a:pPr>
            <a:r>
              <a:rPr lang="en-CA" dirty="0" smtClean="0"/>
              <a:t>Spiritual freedom – liberation from sins, inner demons and destructive desires.</a:t>
            </a:r>
          </a:p>
          <a:p>
            <a:pPr marL="457200" indent="-457200">
              <a:buFont typeface="+mj-lt"/>
              <a:buAutoNum type="arabicPeriod"/>
            </a:pPr>
            <a:r>
              <a:rPr lang="en-CA" dirty="0" smtClean="0"/>
              <a:t>Political freedom – the freedom to exercise human rights.</a:t>
            </a:r>
            <a:endParaRPr lang="en-CA" dirty="0"/>
          </a:p>
        </p:txBody>
      </p:sp>
    </p:spTree>
    <p:extLst>
      <p:ext uri="{BB962C8B-B14F-4D97-AF65-F5344CB8AC3E}">
        <p14:creationId xmlns:p14="http://schemas.microsoft.com/office/powerpoint/2010/main" val="1675050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The Constant Moral Combat</a:t>
            </a:r>
            <a:endParaRPr lang="en-CA" dirty="0"/>
          </a:p>
        </p:txBody>
      </p:sp>
      <p:sp>
        <p:nvSpPr>
          <p:cNvPr id="3" name="Content Placeholder 2"/>
          <p:cNvSpPr>
            <a:spLocks noGrp="1"/>
          </p:cNvSpPr>
          <p:nvPr>
            <p:ph idx="1"/>
          </p:nvPr>
        </p:nvSpPr>
        <p:spPr/>
        <p:txBody>
          <a:bodyPr/>
          <a:lstStyle/>
          <a:p>
            <a:endParaRPr lang="en-CA" dirty="0" smtClean="0"/>
          </a:p>
          <a:p>
            <a:pPr marL="0" indent="0">
              <a:buNone/>
            </a:pPr>
            <a:r>
              <a:rPr lang="en-CA" dirty="0" smtClean="0"/>
              <a:t>The battle between good and evil is waged within us.</a:t>
            </a:r>
          </a:p>
          <a:p>
            <a:pPr marL="0" indent="0">
              <a:buNone/>
            </a:pPr>
            <a:r>
              <a:rPr lang="en-CA" dirty="0" smtClean="0"/>
              <a:t>No one is immune from inner moral conflict.</a:t>
            </a:r>
          </a:p>
          <a:p>
            <a:pPr marL="0" indent="0">
              <a:buNone/>
            </a:pPr>
            <a:endParaRPr lang="en-CA" dirty="0"/>
          </a:p>
          <a:p>
            <a:pPr marL="0" indent="0">
              <a:buNone/>
            </a:pPr>
            <a:r>
              <a:rPr lang="en-CA" dirty="0" smtClean="0"/>
              <a:t>Apostle Paul: “I have the desire to do what is good, but I cannot carry it out…The evil I do not want to do—this I keep on doing.”</a:t>
            </a:r>
          </a:p>
          <a:p>
            <a:pPr marL="0" indent="0" algn="r">
              <a:buNone/>
            </a:pPr>
            <a:r>
              <a:rPr lang="en-CA" dirty="0" smtClean="0"/>
              <a:t>– Romans 7: 18-19 (NIV)</a:t>
            </a:r>
            <a:endParaRPr lang="en-CA" dirty="0"/>
          </a:p>
        </p:txBody>
      </p:sp>
    </p:spTree>
    <p:extLst>
      <p:ext uri="{BB962C8B-B14F-4D97-AF65-F5344CB8AC3E}">
        <p14:creationId xmlns:p14="http://schemas.microsoft.com/office/powerpoint/2010/main" val="1696214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How Free Are We?</a:t>
            </a:r>
            <a:endParaRPr lang="en-CA" dirty="0"/>
          </a:p>
        </p:txBody>
      </p:sp>
      <p:sp>
        <p:nvSpPr>
          <p:cNvPr id="3" name="Content Placeholder 2"/>
          <p:cNvSpPr>
            <a:spLocks noGrp="1"/>
          </p:cNvSpPr>
          <p:nvPr>
            <p:ph idx="1"/>
          </p:nvPr>
        </p:nvSpPr>
        <p:spPr/>
        <p:txBody>
          <a:bodyPr>
            <a:normAutofit/>
          </a:bodyPr>
          <a:lstStyle/>
          <a:p>
            <a:r>
              <a:rPr lang="en-CA" dirty="0" smtClean="0"/>
              <a:t>Asch conformity studies</a:t>
            </a:r>
            <a:r>
              <a:rPr lang="en-CA" dirty="0"/>
              <a:t>: </a:t>
            </a:r>
            <a:r>
              <a:rPr lang="en-CA" dirty="0">
                <a:hlinkClick r:id="rId2"/>
              </a:rPr>
              <a:t>http://</a:t>
            </a:r>
            <a:r>
              <a:rPr lang="en-CA" dirty="0" smtClean="0">
                <a:hlinkClick r:id="rId2"/>
              </a:rPr>
              <a:t>www.youtube.com/watch?v=iRh5qy09nNw</a:t>
            </a:r>
            <a:endParaRPr lang="en-CA" dirty="0" smtClean="0"/>
          </a:p>
          <a:p>
            <a:r>
              <a:rPr lang="en-CA" dirty="0" err="1" smtClean="0"/>
              <a:t>Milgram</a:t>
            </a:r>
            <a:r>
              <a:rPr lang="en-CA" dirty="0" smtClean="0"/>
              <a:t> </a:t>
            </a:r>
            <a:r>
              <a:rPr lang="en-CA" dirty="0"/>
              <a:t>obedience experiments: </a:t>
            </a:r>
            <a:r>
              <a:rPr lang="en-CA" dirty="0">
                <a:hlinkClick r:id="rId3"/>
              </a:rPr>
              <a:t>http://</a:t>
            </a:r>
            <a:r>
              <a:rPr lang="en-CA" dirty="0" smtClean="0">
                <a:hlinkClick r:id="rId3"/>
              </a:rPr>
              <a:t>www.youtube.com/watch?v=BcvSNg0HZwk</a:t>
            </a:r>
            <a:endParaRPr lang="en-CA" dirty="0" smtClean="0"/>
          </a:p>
          <a:p>
            <a:r>
              <a:rPr lang="en-CA" dirty="0" err="1" smtClean="0"/>
              <a:t>Zimbardo</a:t>
            </a:r>
            <a:r>
              <a:rPr lang="en-CA" dirty="0" smtClean="0"/>
              <a:t> Stanford Prison Experiments:</a:t>
            </a:r>
            <a:r>
              <a:rPr lang="en-CA" dirty="0"/>
              <a:t> </a:t>
            </a:r>
            <a:r>
              <a:rPr lang="en-CA" dirty="0">
                <a:hlinkClick r:id="rId4"/>
              </a:rPr>
              <a:t>http://</a:t>
            </a:r>
            <a:r>
              <a:rPr lang="en-CA" dirty="0" smtClean="0">
                <a:hlinkClick r:id="rId4"/>
              </a:rPr>
              <a:t>video.google.com/videoplay?docid=677084988379129606</a:t>
            </a:r>
            <a:endParaRPr lang="en-CA" dirty="0" smtClean="0"/>
          </a:p>
          <a:p>
            <a:r>
              <a:rPr lang="en-CA" dirty="0" smtClean="0"/>
              <a:t>“Personality’s Role in Moral Action” in </a:t>
            </a:r>
            <a:r>
              <a:rPr lang="en-CA" i="1" dirty="0"/>
              <a:t>Science: </a:t>
            </a:r>
            <a:r>
              <a:rPr lang="en-CA" dirty="0">
                <a:hlinkClick r:id="rId5"/>
              </a:rPr>
              <a:t>http://</a:t>
            </a:r>
            <a:r>
              <a:rPr lang="en-CA" dirty="0" smtClean="0">
                <a:hlinkClick r:id="rId5"/>
              </a:rPr>
              <a:t>www.sciencemag.org/content/332/6036/1380.full?sid=0a0bcb53-0157-4b1d-9ab0-6108b6a74535</a:t>
            </a:r>
            <a:endParaRPr lang="en-CA" dirty="0" smtClean="0"/>
          </a:p>
          <a:p>
            <a:r>
              <a:rPr lang="en-CA" dirty="0" smtClean="0"/>
              <a:t>We need the defiant human spirit to restore freedom and dignity</a:t>
            </a:r>
            <a:endParaRPr lang="en-CA" dirty="0"/>
          </a:p>
        </p:txBody>
      </p:sp>
    </p:spTree>
    <p:extLst>
      <p:ext uri="{BB962C8B-B14F-4D97-AF65-F5344CB8AC3E}">
        <p14:creationId xmlns:p14="http://schemas.microsoft.com/office/powerpoint/2010/main" val="1426751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CA" dirty="0" smtClean="0"/>
              <a:t>Viktor Frankl’s 3 Basic Tenets of Logotherapy</a:t>
            </a:r>
            <a:endParaRPr lang="en-CA" dirty="0"/>
          </a:p>
        </p:txBody>
      </p:sp>
      <p:sp>
        <p:nvSpPr>
          <p:cNvPr id="3" name="Content Placeholder 2"/>
          <p:cNvSpPr>
            <a:spLocks noGrp="1"/>
          </p:cNvSpPr>
          <p:nvPr>
            <p:ph idx="1"/>
          </p:nvPr>
        </p:nvSpPr>
        <p:spPr>
          <a:xfrm>
            <a:off x="457200" y="1767498"/>
            <a:ext cx="8229600" cy="4709502"/>
          </a:xfrm>
        </p:spPr>
        <p:txBody>
          <a:bodyPr>
            <a:normAutofit fontScale="92500" lnSpcReduction="10000"/>
          </a:bodyPr>
          <a:lstStyle/>
          <a:p>
            <a:endParaRPr lang="en-CA" dirty="0" smtClean="0"/>
          </a:p>
          <a:p>
            <a:r>
              <a:rPr lang="en-CA" dirty="0" smtClean="0"/>
              <a:t>Freedom of choice</a:t>
            </a:r>
          </a:p>
          <a:p>
            <a:endParaRPr lang="en-CA" dirty="0" smtClean="0"/>
          </a:p>
          <a:p>
            <a:r>
              <a:rPr lang="en-CA" dirty="0" smtClean="0"/>
              <a:t>Will to meaning</a:t>
            </a:r>
          </a:p>
          <a:p>
            <a:endParaRPr lang="en-CA" dirty="0" smtClean="0"/>
          </a:p>
          <a:p>
            <a:r>
              <a:rPr lang="en-CA" dirty="0" smtClean="0"/>
              <a:t>Meaning of life</a:t>
            </a:r>
            <a:endParaRPr lang="en-CA" dirty="0"/>
          </a:p>
          <a:p>
            <a:pPr marL="0" indent="0">
              <a:buNone/>
            </a:pPr>
            <a:endParaRPr lang="en-CA" dirty="0" smtClean="0"/>
          </a:p>
          <a:p>
            <a:pPr marL="0" indent="0">
              <a:buNone/>
            </a:pPr>
            <a:endParaRPr lang="en-CA" dirty="0"/>
          </a:p>
          <a:p>
            <a:pPr marL="0" indent="0">
              <a:buNone/>
            </a:pPr>
            <a:r>
              <a:rPr lang="en-CA" dirty="0" smtClean="0"/>
              <a:t>“Everything can be taken from a man or a woman but one thing: the last of human freedoms to choose one’s attitude in any given set of circumstances, to choose one’s own way.”</a:t>
            </a:r>
          </a:p>
          <a:p>
            <a:pPr marL="0" indent="0" algn="r">
              <a:buNone/>
            </a:pPr>
            <a:r>
              <a:rPr lang="en-CA" dirty="0" smtClean="0"/>
              <a:t>– Viktor Frankl (Man’s Search for Meaning)</a:t>
            </a:r>
            <a:endParaRPr lang="en-CA" dirty="0"/>
          </a:p>
        </p:txBody>
      </p:sp>
      <p:pic>
        <p:nvPicPr>
          <p:cNvPr id="6147" name="Picture 3"/>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2544" t="3279" r="2565" b="3051"/>
          <a:stretch/>
        </p:blipFill>
        <p:spPr bwMode="auto">
          <a:xfrm>
            <a:off x="3622134" y="1956802"/>
            <a:ext cx="3326130" cy="2480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BEBA8EAE-BF5A-486C-A8C5-ECC9F3942E4B}">
                <a14:imgProps xmlns:a14="http://schemas.microsoft.com/office/drawing/2010/main">
                  <a14:imgLayer r:embed="rId5">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6948264" y="1956802"/>
            <a:ext cx="1593599" cy="2480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18981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Self-Determination</a:t>
            </a:r>
            <a:endParaRPr lang="en-CA" dirty="0"/>
          </a:p>
        </p:txBody>
      </p:sp>
      <p:sp>
        <p:nvSpPr>
          <p:cNvPr id="3" name="Content Placeholder 2"/>
          <p:cNvSpPr>
            <a:spLocks noGrp="1"/>
          </p:cNvSpPr>
          <p:nvPr>
            <p:ph idx="1"/>
          </p:nvPr>
        </p:nvSpPr>
        <p:spPr/>
        <p:txBody>
          <a:bodyPr/>
          <a:lstStyle/>
          <a:p>
            <a:pPr marL="0" indent="0">
              <a:buNone/>
            </a:pPr>
            <a:r>
              <a:rPr lang="en-CA" dirty="0" smtClean="0"/>
              <a:t>A </a:t>
            </a:r>
            <a:r>
              <a:rPr lang="en-CA" dirty="0"/>
              <a:t>human being is not one thing among others; things determine each other, but man is ultimately self-determining. What he becomes - within the limits of endowment and </a:t>
            </a:r>
            <a:r>
              <a:rPr lang="en-CA" dirty="0" smtClean="0"/>
              <a:t>environment - </a:t>
            </a:r>
            <a:r>
              <a:rPr lang="en-CA" dirty="0"/>
              <a:t>he has made out of </a:t>
            </a:r>
            <a:r>
              <a:rPr lang="en-CA" dirty="0" smtClean="0"/>
              <a:t>himself.</a:t>
            </a:r>
          </a:p>
          <a:p>
            <a:pPr marL="0" indent="0" algn="r">
              <a:buNone/>
            </a:pPr>
            <a:r>
              <a:rPr lang="en-CA" dirty="0" smtClean="0"/>
              <a:t>– Viktor Frankl </a:t>
            </a:r>
          </a:p>
          <a:p>
            <a:pPr marL="0" indent="0" algn="r">
              <a:buNone/>
            </a:pPr>
            <a:endParaRPr lang="en-CA" dirty="0"/>
          </a:p>
          <a:p>
            <a:pPr marL="0" indent="0">
              <a:buNone/>
            </a:pPr>
            <a:r>
              <a:rPr lang="en-CA" dirty="0"/>
              <a:t>Man is not fully conditioned and determined but rather determines himself whether he gives in to conditions or stands up to them</a:t>
            </a:r>
            <a:r>
              <a:rPr lang="en-CA" dirty="0" smtClean="0"/>
              <a:t>.“</a:t>
            </a:r>
          </a:p>
          <a:p>
            <a:pPr marL="0" indent="0" algn="r">
              <a:buNone/>
            </a:pPr>
            <a:r>
              <a:rPr lang="en-CA" dirty="0" smtClean="0"/>
              <a:t>– Viktor Frankl</a:t>
            </a:r>
            <a:endParaRPr lang="en-CA" dirty="0"/>
          </a:p>
        </p:txBody>
      </p:sp>
    </p:spTree>
    <p:extLst>
      <p:ext uri="{BB962C8B-B14F-4D97-AF65-F5344CB8AC3E}">
        <p14:creationId xmlns:p14="http://schemas.microsoft.com/office/powerpoint/2010/main" val="2905541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B. F. Skinner’s Determinism</a:t>
            </a:r>
            <a:endParaRPr lang="en-CA" dirty="0"/>
          </a:p>
        </p:txBody>
      </p:sp>
      <p:sp>
        <p:nvSpPr>
          <p:cNvPr id="3" name="Content Placeholder 2"/>
          <p:cNvSpPr>
            <a:spLocks noGrp="1"/>
          </p:cNvSpPr>
          <p:nvPr>
            <p:ph idx="1"/>
          </p:nvPr>
        </p:nvSpPr>
        <p:spPr>
          <a:xfrm>
            <a:off x="457200" y="2708920"/>
            <a:ext cx="4906888" cy="3696072"/>
          </a:xfrm>
        </p:spPr>
        <p:txBody>
          <a:bodyPr>
            <a:normAutofit/>
          </a:bodyPr>
          <a:lstStyle/>
          <a:p>
            <a:r>
              <a:rPr lang="en-CA" dirty="0" smtClean="0"/>
              <a:t>Freedom is an illusion.</a:t>
            </a:r>
          </a:p>
          <a:p>
            <a:r>
              <a:rPr lang="en-CA" dirty="0" smtClean="0"/>
              <a:t>Behaviour is determined by genetics and the environment.</a:t>
            </a:r>
          </a:p>
          <a:p>
            <a:r>
              <a:rPr lang="en-CA" dirty="0" smtClean="0"/>
              <a:t>There is no such thing as the “autonomous person.”</a:t>
            </a:r>
          </a:p>
          <a:p>
            <a:r>
              <a:rPr lang="en-CA" dirty="0" smtClean="0"/>
              <a:t>Scientific analysis can reveal the controlling relationships between behaviour and the environment.</a:t>
            </a:r>
          </a:p>
        </p:txBody>
      </p:sp>
      <p:pic>
        <p:nvPicPr>
          <p:cNvPr id="1026" name="Picture 2" descr="C:\Users\Paul\Documents\My Dropbox\My Documents\M4L\ppt and images\Skinner Bo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7192" y="2564904"/>
            <a:ext cx="3616110" cy="324036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p:cNvSpPr txBox="1">
            <a:spLocks/>
          </p:cNvSpPr>
          <p:nvPr/>
        </p:nvSpPr>
        <p:spPr>
          <a:xfrm>
            <a:off x="467544" y="1628800"/>
            <a:ext cx="8157592" cy="1375994"/>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en-CA" dirty="0" smtClean="0"/>
              <a:t>Skinner wrote the controversial book </a:t>
            </a:r>
            <a:r>
              <a:rPr lang="en-CA" i="1" dirty="0" smtClean="0"/>
              <a:t>Beyond Freedom and Dignity </a:t>
            </a:r>
            <a:r>
              <a:rPr lang="en-CA" dirty="0" smtClean="0"/>
              <a:t>in 1971. He makes the following points:</a:t>
            </a:r>
          </a:p>
        </p:txBody>
      </p:sp>
    </p:spTree>
    <p:extLst>
      <p:ext uri="{BB962C8B-B14F-4D97-AF65-F5344CB8AC3E}">
        <p14:creationId xmlns:p14="http://schemas.microsoft.com/office/powerpoint/2010/main" val="2669872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Types of Determinism</a:t>
            </a:r>
            <a:endParaRPr lang="en-CA" dirty="0"/>
          </a:p>
        </p:txBody>
      </p:sp>
      <p:sp>
        <p:nvSpPr>
          <p:cNvPr id="3" name="Content Placeholder 2"/>
          <p:cNvSpPr>
            <a:spLocks noGrp="1"/>
          </p:cNvSpPr>
          <p:nvPr>
            <p:ph idx="1"/>
          </p:nvPr>
        </p:nvSpPr>
        <p:spPr/>
        <p:txBody>
          <a:bodyPr/>
          <a:lstStyle/>
          <a:p>
            <a:pPr marL="0" indent="0">
              <a:buNone/>
            </a:pPr>
            <a:r>
              <a:rPr lang="en-CA" dirty="0" smtClean="0"/>
              <a:t>Our behaviour is often determined by various factors without our awareness.</a:t>
            </a:r>
          </a:p>
        </p:txBody>
      </p:sp>
      <p:sp>
        <p:nvSpPr>
          <p:cNvPr id="5" name="Content Placeholder 2"/>
          <p:cNvSpPr txBox="1">
            <a:spLocks/>
          </p:cNvSpPr>
          <p:nvPr/>
        </p:nvSpPr>
        <p:spPr>
          <a:xfrm>
            <a:off x="446856" y="2996952"/>
            <a:ext cx="8229600" cy="2232248"/>
          </a:xfrm>
          <a:prstGeom prst="rect">
            <a:avLst/>
          </a:prstGeom>
        </p:spPr>
        <p:txBody>
          <a:bodyPr vert="horz" lIns="91440" tIns="45720" rIns="91440" bIns="45720" numCol="2"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CA" dirty="0" smtClean="0"/>
              <a:t>Environment &amp; Genetics</a:t>
            </a:r>
          </a:p>
          <a:p>
            <a:r>
              <a:rPr lang="en-CA" dirty="0" smtClean="0"/>
              <a:t>Unconscious &amp; Freud</a:t>
            </a:r>
          </a:p>
          <a:p>
            <a:r>
              <a:rPr lang="en-CA" dirty="0" smtClean="0"/>
              <a:t>Cause &amp; Effect</a:t>
            </a:r>
          </a:p>
          <a:p>
            <a:r>
              <a:rPr lang="en-CA" dirty="0" smtClean="0"/>
              <a:t>Physical Laws (e.g. Gravity)</a:t>
            </a:r>
          </a:p>
          <a:p>
            <a:r>
              <a:rPr lang="en-CA" dirty="0" smtClean="0"/>
              <a:t>Spiritual Laws</a:t>
            </a:r>
          </a:p>
          <a:p>
            <a:r>
              <a:rPr lang="en-CA" dirty="0" smtClean="0"/>
              <a:t>Fate or Predestination</a:t>
            </a:r>
          </a:p>
          <a:p>
            <a:r>
              <a:rPr lang="en-CA" dirty="0" smtClean="0"/>
              <a:t>Desires, Obsessions, and Addictions</a:t>
            </a:r>
            <a:endParaRPr lang="en-CA" dirty="0"/>
          </a:p>
        </p:txBody>
      </p:sp>
    </p:spTree>
    <p:extLst>
      <p:ext uri="{BB962C8B-B14F-4D97-AF65-F5344CB8AC3E}">
        <p14:creationId xmlns:p14="http://schemas.microsoft.com/office/powerpoint/2010/main" val="26324187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CA" dirty="0" smtClean="0"/>
              <a:t>The Human Yearning for</a:t>
            </a:r>
            <a:br>
              <a:rPr lang="en-CA" dirty="0" smtClean="0"/>
            </a:br>
            <a:r>
              <a:rPr lang="en-CA" dirty="0" smtClean="0"/>
              <a:t>Freedom and Liberty</a:t>
            </a:r>
            <a:endParaRPr lang="en-CA" dirty="0"/>
          </a:p>
        </p:txBody>
      </p:sp>
      <p:sp>
        <p:nvSpPr>
          <p:cNvPr id="3" name="Content Placeholder 2"/>
          <p:cNvSpPr>
            <a:spLocks noGrp="1"/>
          </p:cNvSpPr>
          <p:nvPr>
            <p:ph idx="1"/>
          </p:nvPr>
        </p:nvSpPr>
        <p:spPr>
          <a:xfrm>
            <a:off x="457200" y="1600200"/>
            <a:ext cx="3610744" cy="4876800"/>
          </a:xfrm>
        </p:spPr>
        <p:txBody>
          <a:bodyPr/>
          <a:lstStyle/>
          <a:p>
            <a:endParaRPr lang="en-CA" dirty="0" smtClean="0"/>
          </a:p>
          <a:p>
            <a:r>
              <a:rPr lang="en-CA" dirty="0" smtClean="0"/>
              <a:t>The French Revolution</a:t>
            </a:r>
          </a:p>
          <a:p>
            <a:r>
              <a:rPr lang="en-CA" dirty="0" smtClean="0"/>
              <a:t>The American Experiment</a:t>
            </a:r>
          </a:p>
          <a:p>
            <a:r>
              <a:rPr lang="en-CA" dirty="0" smtClean="0"/>
              <a:t>The Inspiration of the Statue of Liberty</a:t>
            </a:r>
          </a:p>
          <a:p>
            <a:r>
              <a:rPr lang="en-CA" dirty="0" smtClean="0"/>
              <a:t>The Worldwide Democratic Movement</a:t>
            </a:r>
          </a:p>
          <a:p>
            <a:r>
              <a:rPr lang="en-CA" dirty="0" smtClean="0"/>
              <a:t>Psychological Reactance</a:t>
            </a:r>
            <a:endParaRPr lang="en-CA" dirty="0"/>
          </a:p>
        </p:txBody>
      </p:sp>
      <p:pic>
        <p:nvPicPr>
          <p:cNvPr id="2050" name="Picture 2" descr="C:\Users\Paul\Documents\My Dropbox\My Documents\M4L\ppt and images\Lesson 2 ppt images\French revoluti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34224" y="2234820"/>
            <a:ext cx="4321621" cy="3426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8114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Escape from Freedom</a:t>
            </a:r>
            <a:endParaRPr lang="en-CA" dirty="0"/>
          </a:p>
        </p:txBody>
      </p:sp>
      <p:sp>
        <p:nvSpPr>
          <p:cNvPr id="3" name="Content Placeholder 2"/>
          <p:cNvSpPr>
            <a:spLocks noGrp="1"/>
          </p:cNvSpPr>
          <p:nvPr>
            <p:ph idx="1"/>
          </p:nvPr>
        </p:nvSpPr>
        <p:spPr/>
        <p:txBody>
          <a:bodyPr/>
          <a:lstStyle/>
          <a:p>
            <a:pPr marL="0" indent="0">
              <a:buNone/>
            </a:pPr>
            <a:r>
              <a:rPr lang="en-CA" dirty="0"/>
              <a:t>“…Freedom has a twofold meaning for modern man: that he has been freed from traditional authorities and has become an ‘individual,’ but that at the same time he has become isolated, powerless and an instrument of purposes outside of himself, alienated from himself and others; furthermore, that this state undermines his self, weakens and frightens him, and makes him ready for submission to new kinds of bondage. Positive freedom on the other hand is identical with the full realization of the individual’s potentialities, together with his ability to live actively and spontaneously</a:t>
            </a:r>
            <a:r>
              <a:rPr lang="en-CA" dirty="0" smtClean="0"/>
              <a:t>.”</a:t>
            </a:r>
          </a:p>
          <a:p>
            <a:pPr marL="0" indent="0" algn="r">
              <a:buNone/>
            </a:pPr>
            <a:r>
              <a:rPr lang="en-CA" dirty="0" smtClean="0"/>
              <a:t>– Eric Fromm</a:t>
            </a:r>
            <a:endParaRPr lang="en-CA" dirty="0"/>
          </a:p>
        </p:txBody>
      </p:sp>
    </p:spTree>
    <p:extLst>
      <p:ext uri="{BB962C8B-B14F-4D97-AF65-F5344CB8AC3E}">
        <p14:creationId xmlns:p14="http://schemas.microsoft.com/office/powerpoint/2010/main" val="10390539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9" name="Picture 7"/>
          <p:cNvPicPr>
            <a:picLocks noChangeAspect="1" noChangeArrowheads="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l="16636"/>
          <a:stretch/>
        </p:blipFill>
        <p:spPr bwMode="auto">
          <a:xfrm>
            <a:off x="0" y="395680"/>
            <a:ext cx="9144000" cy="6551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a:bodyPr>
          <a:lstStyle/>
          <a:p>
            <a:pPr algn="ctr"/>
            <a:r>
              <a:rPr lang="en-CA" dirty="0" smtClean="0"/>
              <a:t>Limits of Freedom and Democracy</a:t>
            </a:r>
            <a:endParaRPr lang="en-CA" dirty="0"/>
          </a:p>
        </p:txBody>
      </p:sp>
      <p:sp>
        <p:nvSpPr>
          <p:cNvPr id="3" name="Content Placeholder 2"/>
          <p:cNvSpPr>
            <a:spLocks noGrp="1"/>
          </p:cNvSpPr>
          <p:nvPr>
            <p:ph idx="1"/>
          </p:nvPr>
        </p:nvSpPr>
        <p:spPr/>
        <p:txBody>
          <a:bodyPr/>
          <a:lstStyle/>
          <a:p>
            <a:endParaRPr lang="en-CA" dirty="0" smtClean="0"/>
          </a:p>
          <a:p>
            <a:endParaRPr lang="en-CA" dirty="0" smtClean="0"/>
          </a:p>
          <a:p>
            <a:r>
              <a:rPr lang="en-CA" dirty="0" smtClean="0"/>
              <a:t>What would you choose: being free and alone, or belonging to an authoritarian group?</a:t>
            </a:r>
          </a:p>
          <a:p>
            <a:endParaRPr lang="en-CA" dirty="0" smtClean="0"/>
          </a:p>
          <a:p>
            <a:r>
              <a:rPr lang="en-CA" dirty="0" smtClean="0"/>
              <a:t>Is freedom and democracy an illusion?</a:t>
            </a:r>
          </a:p>
          <a:p>
            <a:endParaRPr lang="en-CA" dirty="0" smtClean="0"/>
          </a:p>
          <a:p>
            <a:r>
              <a:rPr lang="en-CA" dirty="0" smtClean="0"/>
              <a:t>Is democracy the ideal social political system?</a:t>
            </a:r>
            <a:endParaRPr lang="en-CA" dirty="0"/>
          </a:p>
        </p:txBody>
      </p:sp>
    </p:spTree>
    <p:extLst>
      <p:ext uri="{BB962C8B-B14F-4D97-AF65-F5344CB8AC3E}">
        <p14:creationId xmlns:p14="http://schemas.microsoft.com/office/powerpoint/2010/main" val="2327429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The Story of Adam and Eve</a:t>
            </a:r>
            <a:endParaRPr lang="en-CA" dirty="0"/>
          </a:p>
        </p:txBody>
      </p:sp>
      <p:sp>
        <p:nvSpPr>
          <p:cNvPr id="3" name="Content Placeholder 2"/>
          <p:cNvSpPr>
            <a:spLocks noGrp="1"/>
          </p:cNvSpPr>
          <p:nvPr>
            <p:ph idx="1"/>
          </p:nvPr>
        </p:nvSpPr>
        <p:spPr/>
        <p:txBody>
          <a:bodyPr/>
          <a:lstStyle/>
          <a:p>
            <a:endParaRPr lang="en-CA" dirty="0" smtClean="0"/>
          </a:p>
          <a:p>
            <a:endParaRPr lang="en-CA" dirty="0"/>
          </a:p>
          <a:p>
            <a:endParaRPr lang="en-CA" dirty="0" smtClean="0"/>
          </a:p>
          <a:p>
            <a:endParaRPr lang="en-CA" dirty="0"/>
          </a:p>
          <a:p>
            <a:endParaRPr lang="en-CA" dirty="0" smtClean="0"/>
          </a:p>
          <a:p>
            <a:endParaRPr lang="en-CA" dirty="0"/>
          </a:p>
          <a:p>
            <a:endParaRPr lang="en-CA" dirty="0" smtClean="0"/>
          </a:p>
          <a:p>
            <a:r>
              <a:rPr lang="en-CA" dirty="0" smtClean="0"/>
              <a:t>A story of rebellion against authoritarian control.</a:t>
            </a:r>
          </a:p>
          <a:p>
            <a:r>
              <a:rPr lang="en-CA" dirty="0" smtClean="0"/>
              <a:t>A story of human finiteness and limitation.</a:t>
            </a:r>
            <a:endParaRPr lang="en-CA" dirty="0"/>
          </a:p>
          <a:p>
            <a:r>
              <a:rPr lang="en-CA" dirty="0" smtClean="0"/>
              <a:t>Is free will a gift or a curse?</a:t>
            </a:r>
          </a:p>
          <a:p>
            <a:r>
              <a:rPr lang="en-CA" dirty="0" smtClean="0"/>
              <a:t>How do you balance free will with determinism?</a:t>
            </a:r>
            <a:endParaRPr lang="en-CA" dirty="0"/>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478" y="1484784"/>
            <a:ext cx="4392488" cy="3048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66776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Free Will: Blessing or Curse</a:t>
            </a:r>
            <a:endParaRPr lang="en-CA" dirty="0"/>
          </a:p>
        </p:txBody>
      </p:sp>
      <p:sp>
        <p:nvSpPr>
          <p:cNvPr id="3" name="Content Placeholder 2"/>
          <p:cNvSpPr>
            <a:spLocks noGrp="1"/>
          </p:cNvSpPr>
          <p:nvPr>
            <p:ph idx="1"/>
          </p:nvPr>
        </p:nvSpPr>
        <p:spPr/>
        <p:txBody>
          <a:bodyPr/>
          <a:lstStyle/>
          <a:p>
            <a:r>
              <a:rPr lang="en-CA" dirty="0" smtClean="0"/>
              <a:t>The best gift from God and the crowning glory of creation.</a:t>
            </a:r>
          </a:p>
          <a:p>
            <a:r>
              <a:rPr lang="en-CA" dirty="0" smtClean="0"/>
              <a:t>Human agency and the creation of culture and civilization.</a:t>
            </a:r>
          </a:p>
          <a:p>
            <a:r>
              <a:rPr lang="en-CA" dirty="0" smtClean="0"/>
              <a:t>Enables us to love, work, worship, create, and become unique individuals.</a:t>
            </a:r>
          </a:p>
          <a:p>
            <a:r>
              <a:rPr lang="en-CA" dirty="0" smtClean="0"/>
              <a:t>Free will becomes a curse when we play god and defy moral and spiritual laws.</a:t>
            </a:r>
          </a:p>
          <a:p>
            <a:r>
              <a:rPr lang="en-CA" dirty="0" smtClean="0"/>
              <a:t>Most of the sufferings in the world are caused by human evils.</a:t>
            </a:r>
          </a:p>
          <a:p>
            <a:r>
              <a:rPr lang="en-CA" dirty="0" smtClean="0"/>
              <a:t>We create our own hells and live in prisons of our own making.</a:t>
            </a:r>
            <a:endParaRPr lang="en-CA" dirty="0"/>
          </a:p>
        </p:txBody>
      </p:sp>
    </p:spTree>
    <p:extLst>
      <p:ext uri="{BB962C8B-B14F-4D97-AF65-F5344CB8AC3E}">
        <p14:creationId xmlns:p14="http://schemas.microsoft.com/office/powerpoint/2010/main" val="4150398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smtClean="0"/>
              <a:t>The Implications of Free Will</a:t>
            </a:r>
            <a:endParaRPr lang="en-CA" dirty="0"/>
          </a:p>
        </p:txBody>
      </p:sp>
      <p:sp>
        <p:nvSpPr>
          <p:cNvPr id="3" name="Content Placeholder 2"/>
          <p:cNvSpPr>
            <a:spLocks noGrp="1"/>
          </p:cNvSpPr>
          <p:nvPr>
            <p:ph idx="1"/>
          </p:nvPr>
        </p:nvSpPr>
        <p:spPr/>
        <p:txBody>
          <a:bodyPr/>
          <a:lstStyle/>
          <a:p>
            <a:endParaRPr lang="en-CA" dirty="0" smtClean="0"/>
          </a:p>
          <a:p>
            <a:r>
              <a:rPr lang="en-CA" dirty="0" smtClean="0"/>
              <a:t>The autonomous person and responsibility.</a:t>
            </a:r>
          </a:p>
          <a:p>
            <a:endParaRPr lang="en-CA" dirty="0" smtClean="0"/>
          </a:p>
          <a:p>
            <a:r>
              <a:rPr lang="en-CA" dirty="0" smtClean="0"/>
              <a:t>Moral agency and personal accountability.</a:t>
            </a:r>
          </a:p>
          <a:p>
            <a:endParaRPr lang="en-CA" dirty="0" smtClean="0"/>
          </a:p>
          <a:p>
            <a:r>
              <a:rPr lang="en-CA" dirty="0" smtClean="0"/>
              <a:t>Executive agency and self-determination.</a:t>
            </a:r>
          </a:p>
          <a:p>
            <a:endParaRPr lang="en-CA" dirty="0" smtClean="0"/>
          </a:p>
          <a:p>
            <a:r>
              <a:rPr lang="en-CA" dirty="0" smtClean="0"/>
              <a:t>Am I “the master of my fate and the captain of my soul”?</a:t>
            </a:r>
          </a:p>
          <a:p>
            <a:endParaRPr lang="en-CA" dirty="0"/>
          </a:p>
        </p:txBody>
      </p:sp>
    </p:spTree>
    <p:extLst>
      <p:ext uri="{BB962C8B-B14F-4D97-AF65-F5344CB8AC3E}">
        <p14:creationId xmlns:p14="http://schemas.microsoft.com/office/powerpoint/2010/main" val="27725409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CA" dirty="0" smtClean="0"/>
              <a:t>Personal Responsibility for a Better Life</a:t>
            </a:r>
            <a:endParaRPr lang="en-CA" dirty="0"/>
          </a:p>
        </p:txBody>
      </p:sp>
      <p:sp>
        <p:nvSpPr>
          <p:cNvPr id="3" name="Content Placeholder 2"/>
          <p:cNvSpPr>
            <a:spLocks noGrp="1"/>
          </p:cNvSpPr>
          <p:nvPr>
            <p:ph idx="1"/>
          </p:nvPr>
        </p:nvSpPr>
        <p:spPr>
          <a:xfrm>
            <a:off x="457200" y="1600200"/>
            <a:ext cx="5338936" cy="4876800"/>
          </a:xfrm>
        </p:spPr>
        <p:txBody>
          <a:bodyPr/>
          <a:lstStyle/>
          <a:p>
            <a:endParaRPr lang="en-CA" dirty="0" smtClean="0"/>
          </a:p>
          <a:p>
            <a:r>
              <a:rPr lang="en-CA" dirty="0" smtClean="0"/>
              <a:t>The appeal of Oprah Winfrey.</a:t>
            </a:r>
          </a:p>
          <a:p>
            <a:r>
              <a:rPr lang="en-CA" dirty="0" smtClean="0"/>
              <a:t>You have the control and power to make your life better.</a:t>
            </a:r>
          </a:p>
          <a:p>
            <a:r>
              <a:rPr lang="en-CA" dirty="0" smtClean="0"/>
              <a:t>Bandura’s concept of self-efficacy.</a:t>
            </a:r>
          </a:p>
          <a:p>
            <a:r>
              <a:rPr lang="en-CA" dirty="0" smtClean="0"/>
              <a:t>Your choices determine your destiny – life is what you make of it.</a:t>
            </a:r>
          </a:p>
          <a:p>
            <a:r>
              <a:rPr lang="en-CA" dirty="0" smtClean="0"/>
              <a:t>We are responsible to our neighbours and the environment.</a:t>
            </a:r>
            <a:endParaRPr lang="en-CA"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1198" y="1412776"/>
            <a:ext cx="2743200"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77101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4839816"/>
          </a:xfrm>
        </p:spPr>
        <p:txBody>
          <a:bodyPr/>
          <a:lstStyle/>
          <a:p>
            <a:pPr marL="0" indent="0"/>
            <a:r>
              <a:rPr lang="en-CA" dirty="0"/>
              <a:t>“For you will certainly carry out God’s purpose, however you act, but it makes a difference to you whether you serve like Judas or like John</a:t>
            </a:r>
            <a:r>
              <a:rPr lang="en-CA" dirty="0" smtClean="0"/>
              <a:t>.”</a:t>
            </a:r>
            <a:endParaRPr lang="en-CA" dirty="0"/>
          </a:p>
        </p:txBody>
      </p:sp>
      <p:sp>
        <p:nvSpPr>
          <p:cNvPr id="3" name="Content Placeholder 2"/>
          <p:cNvSpPr>
            <a:spLocks noGrp="1"/>
          </p:cNvSpPr>
          <p:nvPr>
            <p:ph idx="1"/>
          </p:nvPr>
        </p:nvSpPr>
        <p:spPr>
          <a:xfrm>
            <a:off x="467544" y="4437112"/>
            <a:ext cx="8229600" cy="887760"/>
          </a:xfrm>
        </p:spPr>
        <p:txBody>
          <a:bodyPr/>
          <a:lstStyle/>
          <a:p>
            <a:pPr marL="0" indent="0" algn="r">
              <a:buNone/>
            </a:pPr>
            <a:r>
              <a:rPr lang="en-CA" dirty="0"/>
              <a:t>– C. S. Lewis (The Problem of Pain)</a:t>
            </a:r>
          </a:p>
        </p:txBody>
      </p:sp>
    </p:spTree>
    <p:extLst>
      <p:ext uri="{BB962C8B-B14F-4D97-AF65-F5344CB8AC3E}">
        <p14:creationId xmlns:p14="http://schemas.microsoft.com/office/powerpoint/2010/main" val="197732540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207</TotalTime>
  <Words>989</Words>
  <Application>Microsoft Office PowerPoint</Application>
  <PresentationFormat>On-screen Show (4:3)</PresentationFormat>
  <Paragraphs>125</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Clarity</vt:lpstr>
      <vt:lpstr>Lesson 2</vt:lpstr>
      <vt:lpstr>Why the Big Fuss about Freedom?</vt:lpstr>
      <vt:lpstr>How Free Are You?</vt:lpstr>
      <vt:lpstr>Four Basic Types of Freedom</vt:lpstr>
      <vt:lpstr>The Constant Moral Combat</vt:lpstr>
      <vt:lpstr>How Free Are We?</vt:lpstr>
      <vt:lpstr>Viktor Frankl’s 3 Basic Tenets of Logotherapy</vt:lpstr>
      <vt:lpstr>Self-Determination</vt:lpstr>
      <vt:lpstr>B. F. Skinner’s Determinism</vt:lpstr>
      <vt:lpstr>Types of Determinism</vt:lpstr>
      <vt:lpstr>The Human Yearning for Freedom and Liberty</vt:lpstr>
      <vt:lpstr>Escape from Freedom</vt:lpstr>
      <vt:lpstr>Limits of Freedom and Democracy</vt:lpstr>
      <vt:lpstr>The Story of Adam and Eve</vt:lpstr>
      <vt:lpstr>Free Will: Blessing or Curse</vt:lpstr>
      <vt:lpstr>The Implications of Free Will</vt:lpstr>
      <vt:lpstr>Personal Responsibility for a Better Life</vt:lpstr>
      <vt:lpstr>“For you will certainly carry out God’s purpose, however you act, but it makes a difference to you whether you serve like Judas or like John.”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dc:title>
  <dc:creator>Paul T. P. Wong</dc:creator>
  <cp:lastModifiedBy>Paul Wong</cp:lastModifiedBy>
  <cp:revision>24</cp:revision>
  <dcterms:created xsi:type="dcterms:W3CDTF">2011-06-17T16:59:16Z</dcterms:created>
  <dcterms:modified xsi:type="dcterms:W3CDTF">2011-07-08T17:36:22Z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