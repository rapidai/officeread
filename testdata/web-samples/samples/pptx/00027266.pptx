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notesSlides/notesSlide63.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diagrams/layout1.xml" ContentType="application/vnd.openxmlformats-officedocument.drawingml.diagramLayout+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39.xml" ContentType="application/vnd.openxmlformats-officedocument.presentationml.notesSlid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notesSlides/notesSlide64.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53.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notesSlides/notesSlide51.xml" ContentType="application/vnd.openxmlformats-officedocument.presentationml.notesSlide+xml"/>
  <Override PartName="/ppt/notesSlides/notesSlide60.xml" ContentType="application/vnd.openxmlformats-officedocument.presentationml.notesSlide+xml"/>
  <Override PartName="/ppt/slideLayouts/slideLayout10.xml" ContentType="application/vnd.openxmlformats-officedocument.presentationml.slideLayout+xml"/>
  <Default Extension="gif" ContentType="image/gif"/>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notesSlides/notesSlide4.xml" ContentType="application/vnd.openxmlformats-officedocument.presentationml.notesSlide+xml"/>
  <Override PartName="/ppt/diagrams/data1.xml" ContentType="application/vnd.openxmlformats-officedocument.drawingml.diagramData+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diagrams/drawing1.xml" ContentType="application/vnd.ms-office.drawingml.diagramDrawing+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Default Extension="jpeg" ContentType="image/jpeg"/>
  <Override PartName="/ppt/notesSlides/notesSlide37.xml" ContentType="application/vnd.openxmlformats-officedocument.presentationml.notesSlide+xml"/>
  <Override PartName="/ppt/notesSlides/notesSlide55.xml" ContentType="application/vnd.openxmlformats-officedocument.presentationml.notesSlide+xml"/>
  <Override PartName="/ppt/diagrams/quickStyle1.xml" ContentType="application/vnd.openxmlformats-officedocument.drawingml.diagramStyl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notesSlides/notesSlide6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73"/>
  </p:notesMasterIdLst>
  <p:sldIdLst>
    <p:sldId id="256" r:id="rId2"/>
    <p:sldId id="407" r:id="rId3"/>
    <p:sldId id="408" r:id="rId4"/>
    <p:sldId id="427" r:id="rId5"/>
    <p:sldId id="409" r:id="rId6"/>
    <p:sldId id="410" r:id="rId7"/>
    <p:sldId id="411" r:id="rId8"/>
    <p:sldId id="323" r:id="rId9"/>
    <p:sldId id="445" r:id="rId10"/>
    <p:sldId id="378" r:id="rId11"/>
    <p:sldId id="430" r:id="rId12"/>
    <p:sldId id="431" r:id="rId13"/>
    <p:sldId id="366" r:id="rId14"/>
    <p:sldId id="379" r:id="rId15"/>
    <p:sldId id="316" r:id="rId16"/>
    <p:sldId id="371" r:id="rId17"/>
    <p:sldId id="372" r:id="rId18"/>
    <p:sldId id="373" r:id="rId19"/>
    <p:sldId id="374" r:id="rId20"/>
    <p:sldId id="418" r:id="rId21"/>
    <p:sldId id="421" r:id="rId22"/>
    <p:sldId id="375" r:id="rId23"/>
    <p:sldId id="376" r:id="rId24"/>
    <p:sldId id="419" r:id="rId25"/>
    <p:sldId id="420" r:id="rId26"/>
    <p:sldId id="349" r:id="rId27"/>
    <p:sldId id="432" r:id="rId28"/>
    <p:sldId id="377" r:id="rId29"/>
    <p:sldId id="382" r:id="rId30"/>
    <p:sldId id="383" r:id="rId31"/>
    <p:sldId id="384" r:id="rId32"/>
    <p:sldId id="413" r:id="rId33"/>
    <p:sldId id="422" r:id="rId34"/>
    <p:sldId id="385" r:id="rId35"/>
    <p:sldId id="350" r:id="rId36"/>
    <p:sldId id="428" r:id="rId37"/>
    <p:sldId id="433" r:id="rId38"/>
    <p:sldId id="386" r:id="rId39"/>
    <p:sldId id="387" r:id="rId40"/>
    <p:sldId id="388" r:id="rId41"/>
    <p:sldId id="394" r:id="rId42"/>
    <p:sldId id="331" r:id="rId43"/>
    <p:sldId id="434" r:id="rId44"/>
    <p:sldId id="389" r:id="rId45"/>
    <p:sldId id="390" r:id="rId46"/>
    <p:sldId id="336" r:id="rId47"/>
    <p:sldId id="391" r:id="rId48"/>
    <p:sldId id="415" r:id="rId49"/>
    <p:sldId id="414" r:id="rId50"/>
    <p:sldId id="423" r:id="rId51"/>
    <p:sldId id="416" r:id="rId52"/>
    <p:sldId id="353" r:id="rId53"/>
    <p:sldId id="392" r:id="rId54"/>
    <p:sldId id="393" r:id="rId55"/>
    <p:sldId id="429" r:id="rId56"/>
    <p:sldId id="396" r:id="rId57"/>
    <p:sldId id="397" r:id="rId58"/>
    <p:sldId id="398" r:id="rId59"/>
    <p:sldId id="354" r:id="rId60"/>
    <p:sldId id="438" r:id="rId61"/>
    <p:sldId id="399" r:id="rId62"/>
    <p:sldId id="337" r:id="rId63"/>
    <p:sldId id="400" r:id="rId64"/>
    <p:sldId id="412" r:id="rId65"/>
    <p:sldId id="417" r:id="rId66"/>
    <p:sldId id="401" r:id="rId67"/>
    <p:sldId id="402" r:id="rId68"/>
    <p:sldId id="404" r:id="rId69"/>
    <p:sldId id="436" r:id="rId70"/>
    <p:sldId id="355" r:id="rId71"/>
    <p:sldId id="405" r:id="rId7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81204" autoAdjust="0"/>
  </p:normalViewPr>
  <p:slideViewPr>
    <p:cSldViewPr>
      <p:cViewPr varScale="1">
        <p:scale>
          <a:sx n="88" d="100"/>
          <a:sy n="88" d="100"/>
        </p:scale>
        <p:origin x="-654" y="-114"/>
      </p:cViewPr>
      <p:guideLst>
        <p:guide orient="horz" pos="2160"/>
        <p:guide pos="2880"/>
      </p:guideLst>
    </p:cSldViewPr>
  </p:slideViewPr>
  <p:outlineViewPr>
    <p:cViewPr>
      <p:scale>
        <a:sx n="33" d="100"/>
        <a:sy n="33" d="100"/>
      </p:scale>
      <p:origin x="0" y="30294"/>
    </p:cViewPr>
  </p:outlineViewPr>
  <p:notesTextViewPr>
    <p:cViewPr>
      <p:scale>
        <a:sx n="100" d="100"/>
        <a:sy n="100" d="100"/>
      </p:scale>
      <p:origin x="0" y="0"/>
    </p:cViewPr>
  </p:notesTextViewPr>
  <p:sorterViewPr>
    <p:cViewPr>
      <p:scale>
        <a:sx n="66" d="100"/>
        <a:sy n="66" d="100"/>
      </p:scale>
      <p:origin x="0" y="738"/>
    </p:cViewPr>
  </p:sorterViewPr>
  <p:notesViewPr>
    <p:cSldViewPr>
      <p:cViewPr>
        <p:scale>
          <a:sx n="100" d="100"/>
          <a:sy n="100" d="100"/>
        </p:scale>
        <p:origin x="-864" y="210"/>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0715A6B-E245-4D27-BAA4-4909479CCCB9}" type="doc">
      <dgm:prSet loTypeId="urn:microsoft.com/office/officeart/2005/8/layout/process4" loCatId="list" qsTypeId="urn:microsoft.com/office/officeart/2005/8/quickstyle/simple1" qsCatId="simple" csTypeId="urn:microsoft.com/office/officeart/2005/8/colors/colorful2" csCatId="colorful" phldr="1"/>
      <dgm:spPr/>
      <dgm:t>
        <a:bodyPr/>
        <a:lstStyle/>
        <a:p>
          <a:endParaRPr lang="en-AU"/>
        </a:p>
      </dgm:t>
    </dgm:pt>
    <dgm:pt modelId="{18EDD6F2-FFDB-4188-AEB6-09A735B6D9F0}">
      <dgm:prSet phldrT="[Text]" custT="1"/>
      <dgm:spPr/>
      <dgm:t>
        <a:bodyPr/>
        <a:lstStyle/>
        <a:p>
          <a:r>
            <a:rPr lang="en-AU" sz="1600" b="1" dirty="0" smtClean="0"/>
            <a:t>You submit your VTAC course application and pay your processing fee now or defer payment. </a:t>
          </a:r>
          <a:endParaRPr lang="en-AU" sz="1600" b="1" dirty="0"/>
        </a:p>
      </dgm:t>
    </dgm:pt>
    <dgm:pt modelId="{F9B8631E-C27C-41FA-895B-B73D6770D504}" type="parTrans" cxnId="{E4F3CD97-B0B9-4B87-9CF0-B8282C24EE93}">
      <dgm:prSet/>
      <dgm:spPr/>
      <dgm:t>
        <a:bodyPr/>
        <a:lstStyle/>
        <a:p>
          <a:endParaRPr lang="en-AU"/>
        </a:p>
      </dgm:t>
    </dgm:pt>
    <dgm:pt modelId="{D2354763-D8B5-458D-B94C-66DE2686FBFD}" type="sibTrans" cxnId="{E4F3CD97-B0B9-4B87-9CF0-B8282C24EE93}">
      <dgm:prSet/>
      <dgm:spPr/>
      <dgm:t>
        <a:bodyPr/>
        <a:lstStyle/>
        <a:p>
          <a:endParaRPr lang="en-AU"/>
        </a:p>
      </dgm:t>
    </dgm:pt>
    <dgm:pt modelId="{642E3F53-44D0-4EE2-89AF-4CD80C9216EE}">
      <dgm:prSet phldrT="[Text]" custT="1"/>
      <dgm:spPr/>
      <dgm:t>
        <a:bodyPr/>
        <a:lstStyle/>
        <a:p>
          <a:r>
            <a:rPr lang="en-AU" sz="1600" b="1" dirty="0" smtClean="0"/>
            <a:t>VTAC is advised as to who has and hasn’t received an offer. </a:t>
          </a:r>
          <a:br>
            <a:rPr lang="en-AU" sz="1600" b="1" dirty="0" smtClean="0"/>
          </a:br>
          <a:r>
            <a:rPr lang="en-AU" sz="1600" b="1" dirty="0" smtClean="0"/>
            <a:t>VTAC advises the applicants via MyInfo </a:t>
          </a:r>
          <a:endParaRPr lang="en-AU" sz="1600" b="1" dirty="0"/>
        </a:p>
      </dgm:t>
    </dgm:pt>
    <dgm:pt modelId="{6B931644-354E-42BE-9866-D5029C15446B}" type="parTrans" cxnId="{AC904B61-DEBF-404E-9B2D-1B1B2540F0A9}">
      <dgm:prSet/>
      <dgm:spPr/>
      <dgm:t>
        <a:bodyPr/>
        <a:lstStyle/>
        <a:p>
          <a:endParaRPr lang="en-AU"/>
        </a:p>
      </dgm:t>
    </dgm:pt>
    <dgm:pt modelId="{48FBDFB4-1B22-44BD-81AA-68D48ACF8FA9}" type="sibTrans" cxnId="{AC904B61-DEBF-404E-9B2D-1B1B2540F0A9}">
      <dgm:prSet/>
      <dgm:spPr/>
      <dgm:t>
        <a:bodyPr/>
        <a:lstStyle/>
        <a:p>
          <a:endParaRPr lang="en-AU"/>
        </a:p>
      </dgm:t>
    </dgm:pt>
    <dgm:pt modelId="{574B8316-6E7C-48FE-99EF-4493D9618A9C}">
      <dgm:prSet custT="1"/>
      <dgm:spPr/>
      <dgm:t>
        <a:bodyPr/>
        <a:lstStyle/>
        <a:p>
          <a:r>
            <a:rPr lang="en-AU" sz="1600" b="1" dirty="0" smtClean="0"/>
            <a:t>VTAC processes the application and sends it and other documentation to the listed institutions </a:t>
          </a:r>
          <a:endParaRPr lang="en-AU" sz="1600" b="1" dirty="0"/>
        </a:p>
      </dgm:t>
    </dgm:pt>
    <dgm:pt modelId="{FF1F1B20-E906-4EBA-AA41-0ECCC4C4F3B4}" type="parTrans" cxnId="{81EFADEE-62C4-42C6-B46D-63D94F7DFF6F}">
      <dgm:prSet/>
      <dgm:spPr/>
      <dgm:t>
        <a:bodyPr/>
        <a:lstStyle/>
        <a:p>
          <a:endParaRPr lang="en-AU"/>
        </a:p>
      </dgm:t>
    </dgm:pt>
    <dgm:pt modelId="{B09E8B19-D53D-48F5-8BB7-AD1E343B2E26}" type="sibTrans" cxnId="{81EFADEE-62C4-42C6-B46D-63D94F7DFF6F}">
      <dgm:prSet/>
      <dgm:spPr/>
      <dgm:t>
        <a:bodyPr/>
        <a:lstStyle/>
        <a:p>
          <a:endParaRPr lang="en-AU"/>
        </a:p>
      </dgm:t>
    </dgm:pt>
    <dgm:pt modelId="{4857F47A-9988-4C83-A8D8-9E324F0A6343}">
      <dgm:prSet custT="1"/>
      <dgm:spPr/>
      <dgm:t>
        <a:bodyPr/>
        <a:lstStyle/>
        <a:p>
          <a:r>
            <a:rPr lang="en-AU" sz="1600" b="1" dirty="0" smtClean="0"/>
            <a:t>The course application is considered along with SEAS and middle-band</a:t>
          </a:r>
          <a:endParaRPr lang="en-AU" sz="1600" b="1" dirty="0"/>
        </a:p>
      </dgm:t>
    </dgm:pt>
    <dgm:pt modelId="{7237130B-F30D-4285-9E61-909756C4A60A}" type="parTrans" cxnId="{6D1C2051-710C-4775-AC86-9450E253BE7F}">
      <dgm:prSet/>
      <dgm:spPr/>
      <dgm:t>
        <a:bodyPr/>
        <a:lstStyle/>
        <a:p>
          <a:endParaRPr lang="en-AU"/>
        </a:p>
      </dgm:t>
    </dgm:pt>
    <dgm:pt modelId="{883E7B99-E2B1-4AD9-BFC8-0D4CA4F15666}" type="sibTrans" cxnId="{6D1C2051-710C-4775-AC86-9450E253BE7F}">
      <dgm:prSet/>
      <dgm:spPr/>
      <dgm:t>
        <a:bodyPr/>
        <a:lstStyle/>
        <a:p>
          <a:endParaRPr lang="en-AU"/>
        </a:p>
      </dgm:t>
    </dgm:pt>
    <dgm:pt modelId="{117C2D4A-CAF1-47D0-AAA8-E4FF121317FB}">
      <dgm:prSet custT="1"/>
      <dgm:spPr/>
      <dgm:t>
        <a:bodyPr/>
        <a:lstStyle/>
        <a:p>
          <a:r>
            <a:rPr lang="en-AU" sz="1600" b="1" dirty="0" smtClean="0"/>
            <a:t>VTAC notifies students of the highest offer</a:t>
          </a:r>
          <a:br>
            <a:rPr lang="en-AU" sz="1600" b="1" dirty="0" smtClean="0"/>
          </a:br>
          <a:r>
            <a:rPr lang="en-AU" sz="1600" b="1" dirty="0" smtClean="0"/>
            <a:t>The student accept by enrolling, rejects or defers the course </a:t>
          </a:r>
          <a:endParaRPr lang="en-AU" sz="1600" b="1" dirty="0"/>
        </a:p>
      </dgm:t>
    </dgm:pt>
    <dgm:pt modelId="{B69CCCA8-E6E5-4FF0-957D-B8B7463DDE9F}" type="parTrans" cxnId="{1268AEE2-6311-4A35-8C1F-6554628F2385}">
      <dgm:prSet/>
      <dgm:spPr/>
      <dgm:t>
        <a:bodyPr/>
        <a:lstStyle/>
        <a:p>
          <a:endParaRPr lang="en-AU"/>
        </a:p>
      </dgm:t>
    </dgm:pt>
    <dgm:pt modelId="{B1859E6E-0E26-4A4D-B4F9-057E23B5DAD5}" type="sibTrans" cxnId="{1268AEE2-6311-4A35-8C1F-6554628F2385}">
      <dgm:prSet/>
      <dgm:spPr/>
      <dgm:t>
        <a:bodyPr/>
        <a:lstStyle/>
        <a:p>
          <a:endParaRPr lang="en-AU"/>
        </a:p>
      </dgm:t>
    </dgm:pt>
    <dgm:pt modelId="{D0F0FCD9-6C64-46ED-9E32-39D403AA7A41}">
      <dgm:prSet custT="1"/>
      <dgm:spPr/>
      <dgm:t>
        <a:bodyPr/>
        <a:lstStyle/>
        <a:p>
          <a:r>
            <a:rPr lang="en-AU" sz="1600" b="1" dirty="0" smtClean="0"/>
            <a:t>Applicants are eligible for offers of higher preferences in future rounds </a:t>
          </a:r>
          <a:br>
            <a:rPr lang="en-AU" sz="1600" b="1" dirty="0" smtClean="0"/>
          </a:br>
          <a:r>
            <a:rPr lang="en-AU" sz="1600" b="1" dirty="0" smtClean="0"/>
            <a:t>Subject to places being available and meeting eligibility </a:t>
          </a:r>
        </a:p>
      </dgm:t>
    </dgm:pt>
    <dgm:pt modelId="{A6FAC4A4-EBDD-4443-9B5D-2B4B662BC766}" type="sibTrans" cxnId="{443EF901-F609-4BD5-B373-1CED9D7FB0AC}">
      <dgm:prSet/>
      <dgm:spPr/>
      <dgm:t>
        <a:bodyPr/>
        <a:lstStyle/>
        <a:p>
          <a:endParaRPr lang="en-AU"/>
        </a:p>
      </dgm:t>
    </dgm:pt>
    <dgm:pt modelId="{C86835DA-A61A-4F6D-A800-D7F5B9C2856E}" type="parTrans" cxnId="{443EF901-F609-4BD5-B373-1CED9D7FB0AC}">
      <dgm:prSet/>
      <dgm:spPr/>
      <dgm:t>
        <a:bodyPr/>
        <a:lstStyle/>
        <a:p>
          <a:endParaRPr lang="en-AU"/>
        </a:p>
      </dgm:t>
    </dgm:pt>
    <dgm:pt modelId="{98B2E140-8213-4708-9462-CD7C6FE40759}" type="pres">
      <dgm:prSet presAssocID="{40715A6B-E245-4D27-BAA4-4909479CCCB9}" presName="Name0" presStyleCnt="0">
        <dgm:presLayoutVars>
          <dgm:dir/>
          <dgm:animLvl val="lvl"/>
          <dgm:resizeHandles val="exact"/>
        </dgm:presLayoutVars>
      </dgm:prSet>
      <dgm:spPr/>
      <dgm:t>
        <a:bodyPr/>
        <a:lstStyle/>
        <a:p>
          <a:endParaRPr lang="en-AU"/>
        </a:p>
      </dgm:t>
    </dgm:pt>
    <dgm:pt modelId="{8CF02146-FDC2-4A39-91A7-A1AC8003F8CA}" type="pres">
      <dgm:prSet presAssocID="{D0F0FCD9-6C64-46ED-9E32-39D403AA7A41}" presName="boxAndChildren" presStyleCnt="0"/>
      <dgm:spPr/>
    </dgm:pt>
    <dgm:pt modelId="{343AE0A8-42CE-453A-8B7D-06446854C87D}" type="pres">
      <dgm:prSet presAssocID="{D0F0FCD9-6C64-46ED-9E32-39D403AA7A41}" presName="parentTextBox" presStyleLbl="node1" presStyleIdx="0" presStyleCnt="6"/>
      <dgm:spPr/>
      <dgm:t>
        <a:bodyPr/>
        <a:lstStyle/>
        <a:p>
          <a:endParaRPr lang="en-AU"/>
        </a:p>
      </dgm:t>
    </dgm:pt>
    <dgm:pt modelId="{E6CF688A-B44C-4B25-9DF7-CB9C35BBF1BE}" type="pres">
      <dgm:prSet presAssocID="{B1859E6E-0E26-4A4D-B4F9-057E23B5DAD5}" presName="sp" presStyleCnt="0"/>
      <dgm:spPr/>
    </dgm:pt>
    <dgm:pt modelId="{2FD630F2-8659-42DF-8E3A-5882A0416D6C}" type="pres">
      <dgm:prSet presAssocID="{117C2D4A-CAF1-47D0-AAA8-E4FF121317FB}" presName="arrowAndChildren" presStyleCnt="0"/>
      <dgm:spPr/>
    </dgm:pt>
    <dgm:pt modelId="{E6E729A5-FD3F-4B59-8A22-9B5DFD9A3444}" type="pres">
      <dgm:prSet presAssocID="{117C2D4A-CAF1-47D0-AAA8-E4FF121317FB}" presName="parentTextArrow" presStyleLbl="node1" presStyleIdx="1" presStyleCnt="6" custLinFactNeighborY="-1237"/>
      <dgm:spPr/>
      <dgm:t>
        <a:bodyPr/>
        <a:lstStyle/>
        <a:p>
          <a:endParaRPr lang="en-AU"/>
        </a:p>
      </dgm:t>
    </dgm:pt>
    <dgm:pt modelId="{FFAE34CF-3457-40E2-BA09-596955A91CA1}" type="pres">
      <dgm:prSet presAssocID="{48FBDFB4-1B22-44BD-81AA-68D48ACF8FA9}" presName="sp" presStyleCnt="0"/>
      <dgm:spPr/>
    </dgm:pt>
    <dgm:pt modelId="{815D6748-979A-4232-9484-550235D613B4}" type="pres">
      <dgm:prSet presAssocID="{642E3F53-44D0-4EE2-89AF-4CD80C9216EE}" presName="arrowAndChildren" presStyleCnt="0"/>
      <dgm:spPr/>
    </dgm:pt>
    <dgm:pt modelId="{E04729A2-9A74-47D9-B933-7E4B87A9B2F0}" type="pres">
      <dgm:prSet presAssocID="{642E3F53-44D0-4EE2-89AF-4CD80C9216EE}" presName="parentTextArrow" presStyleLbl="node1" presStyleIdx="2" presStyleCnt="6"/>
      <dgm:spPr/>
      <dgm:t>
        <a:bodyPr/>
        <a:lstStyle/>
        <a:p>
          <a:endParaRPr lang="en-AU"/>
        </a:p>
      </dgm:t>
    </dgm:pt>
    <dgm:pt modelId="{708C8D17-049C-4988-B6CE-FE4441E439C6}" type="pres">
      <dgm:prSet presAssocID="{883E7B99-E2B1-4AD9-BFC8-0D4CA4F15666}" presName="sp" presStyleCnt="0"/>
      <dgm:spPr/>
    </dgm:pt>
    <dgm:pt modelId="{2400F00D-9C58-48F7-9D00-5C9119C4FD19}" type="pres">
      <dgm:prSet presAssocID="{4857F47A-9988-4C83-A8D8-9E324F0A6343}" presName="arrowAndChildren" presStyleCnt="0"/>
      <dgm:spPr/>
    </dgm:pt>
    <dgm:pt modelId="{FA54F10D-2550-48D6-BCB1-0C4856CA4138}" type="pres">
      <dgm:prSet presAssocID="{4857F47A-9988-4C83-A8D8-9E324F0A6343}" presName="parentTextArrow" presStyleLbl="node1" presStyleIdx="3" presStyleCnt="6"/>
      <dgm:spPr/>
      <dgm:t>
        <a:bodyPr/>
        <a:lstStyle/>
        <a:p>
          <a:endParaRPr lang="en-AU"/>
        </a:p>
      </dgm:t>
    </dgm:pt>
    <dgm:pt modelId="{4F350152-C112-4767-B47B-9E2DB1FD30AF}" type="pres">
      <dgm:prSet presAssocID="{B09E8B19-D53D-48F5-8BB7-AD1E343B2E26}" presName="sp" presStyleCnt="0"/>
      <dgm:spPr/>
    </dgm:pt>
    <dgm:pt modelId="{B1E79C82-A89C-417B-99C2-A610C5CFA75B}" type="pres">
      <dgm:prSet presAssocID="{574B8316-6E7C-48FE-99EF-4493D9618A9C}" presName="arrowAndChildren" presStyleCnt="0"/>
      <dgm:spPr/>
    </dgm:pt>
    <dgm:pt modelId="{6C278BDF-8788-4FAB-966C-D551D3E084DD}" type="pres">
      <dgm:prSet presAssocID="{574B8316-6E7C-48FE-99EF-4493D9618A9C}" presName="parentTextArrow" presStyleLbl="node1" presStyleIdx="4" presStyleCnt="6"/>
      <dgm:spPr/>
      <dgm:t>
        <a:bodyPr/>
        <a:lstStyle/>
        <a:p>
          <a:endParaRPr lang="en-AU"/>
        </a:p>
      </dgm:t>
    </dgm:pt>
    <dgm:pt modelId="{6F48666A-4C1D-4B44-8E2E-11EB0BBAD46C}" type="pres">
      <dgm:prSet presAssocID="{D2354763-D8B5-458D-B94C-66DE2686FBFD}" presName="sp" presStyleCnt="0"/>
      <dgm:spPr/>
    </dgm:pt>
    <dgm:pt modelId="{C505D0A3-7FFE-4824-B9EB-1042BF7DADBB}" type="pres">
      <dgm:prSet presAssocID="{18EDD6F2-FFDB-4188-AEB6-09A735B6D9F0}" presName="arrowAndChildren" presStyleCnt="0"/>
      <dgm:spPr/>
    </dgm:pt>
    <dgm:pt modelId="{CFE47995-85F5-48FB-98CC-8FE2677CECC3}" type="pres">
      <dgm:prSet presAssocID="{18EDD6F2-FFDB-4188-AEB6-09A735B6D9F0}" presName="parentTextArrow" presStyleLbl="node1" presStyleIdx="5" presStyleCnt="6"/>
      <dgm:spPr/>
      <dgm:t>
        <a:bodyPr/>
        <a:lstStyle/>
        <a:p>
          <a:endParaRPr lang="en-AU"/>
        </a:p>
      </dgm:t>
    </dgm:pt>
  </dgm:ptLst>
  <dgm:cxnLst>
    <dgm:cxn modelId="{AC904B61-DEBF-404E-9B2D-1B1B2540F0A9}" srcId="{40715A6B-E245-4D27-BAA4-4909479CCCB9}" destId="{642E3F53-44D0-4EE2-89AF-4CD80C9216EE}" srcOrd="3" destOrd="0" parTransId="{6B931644-354E-42BE-9866-D5029C15446B}" sibTransId="{48FBDFB4-1B22-44BD-81AA-68D48ACF8FA9}"/>
    <dgm:cxn modelId="{EC298D40-F3F1-4904-898C-0D3826C5E226}" type="presOf" srcId="{642E3F53-44D0-4EE2-89AF-4CD80C9216EE}" destId="{E04729A2-9A74-47D9-B933-7E4B87A9B2F0}" srcOrd="0" destOrd="0" presId="urn:microsoft.com/office/officeart/2005/8/layout/process4"/>
    <dgm:cxn modelId="{81EFADEE-62C4-42C6-B46D-63D94F7DFF6F}" srcId="{40715A6B-E245-4D27-BAA4-4909479CCCB9}" destId="{574B8316-6E7C-48FE-99EF-4493D9618A9C}" srcOrd="1" destOrd="0" parTransId="{FF1F1B20-E906-4EBA-AA41-0ECCC4C4F3B4}" sibTransId="{B09E8B19-D53D-48F5-8BB7-AD1E343B2E26}"/>
    <dgm:cxn modelId="{E4F3CD97-B0B9-4B87-9CF0-B8282C24EE93}" srcId="{40715A6B-E245-4D27-BAA4-4909479CCCB9}" destId="{18EDD6F2-FFDB-4188-AEB6-09A735B6D9F0}" srcOrd="0" destOrd="0" parTransId="{F9B8631E-C27C-41FA-895B-B73D6770D504}" sibTransId="{D2354763-D8B5-458D-B94C-66DE2686FBFD}"/>
    <dgm:cxn modelId="{B5A081A6-8B74-43DA-9050-6C4744C9C224}" type="presOf" srcId="{117C2D4A-CAF1-47D0-AAA8-E4FF121317FB}" destId="{E6E729A5-FD3F-4B59-8A22-9B5DFD9A3444}" srcOrd="0" destOrd="0" presId="urn:microsoft.com/office/officeart/2005/8/layout/process4"/>
    <dgm:cxn modelId="{7F983EF5-9579-4292-9F69-6FAA3BBFDCA0}" type="presOf" srcId="{D0F0FCD9-6C64-46ED-9E32-39D403AA7A41}" destId="{343AE0A8-42CE-453A-8B7D-06446854C87D}" srcOrd="0" destOrd="0" presId="urn:microsoft.com/office/officeart/2005/8/layout/process4"/>
    <dgm:cxn modelId="{443EF901-F609-4BD5-B373-1CED9D7FB0AC}" srcId="{40715A6B-E245-4D27-BAA4-4909479CCCB9}" destId="{D0F0FCD9-6C64-46ED-9E32-39D403AA7A41}" srcOrd="5" destOrd="0" parTransId="{C86835DA-A61A-4F6D-A800-D7F5B9C2856E}" sibTransId="{A6FAC4A4-EBDD-4443-9B5D-2B4B662BC766}"/>
    <dgm:cxn modelId="{6D1C2051-710C-4775-AC86-9450E253BE7F}" srcId="{40715A6B-E245-4D27-BAA4-4909479CCCB9}" destId="{4857F47A-9988-4C83-A8D8-9E324F0A6343}" srcOrd="2" destOrd="0" parTransId="{7237130B-F30D-4285-9E61-909756C4A60A}" sibTransId="{883E7B99-E2B1-4AD9-BFC8-0D4CA4F15666}"/>
    <dgm:cxn modelId="{1268AEE2-6311-4A35-8C1F-6554628F2385}" srcId="{40715A6B-E245-4D27-BAA4-4909479CCCB9}" destId="{117C2D4A-CAF1-47D0-AAA8-E4FF121317FB}" srcOrd="4" destOrd="0" parTransId="{B69CCCA8-E6E5-4FF0-957D-B8B7463DDE9F}" sibTransId="{B1859E6E-0E26-4A4D-B4F9-057E23B5DAD5}"/>
    <dgm:cxn modelId="{28069154-4A25-4D31-B1F4-FDD12A843550}" type="presOf" srcId="{4857F47A-9988-4C83-A8D8-9E324F0A6343}" destId="{FA54F10D-2550-48D6-BCB1-0C4856CA4138}" srcOrd="0" destOrd="0" presId="urn:microsoft.com/office/officeart/2005/8/layout/process4"/>
    <dgm:cxn modelId="{0BE56F4E-7103-4486-8604-F8E3A485D9D8}" type="presOf" srcId="{40715A6B-E245-4D27-BAA4-4909479CCCB9}" destId="{98B2E140-8213-4708-9462-CD7C6FE40759}" srcOrd="0" destOrd="0" presId="urn:microsoft.com/office/officeart/2005/8/layout/process4"/>
    <dgm:cxn modelId="{D174A108-0ADE-4121-B182-F27726563743}" type="presOf" srcId="{574B8316-6E7C-48FE-99EF-4493D9618A9C}" destId="{6C278BDF-8788-4FAB-966C-D551D3E084DD}" srcOrd="0" destOrd="0" presId="urn:microsoft.com/office/officeart/2005/8/layout/process4"/>
    <dgm:cxn modelId="{D60464D9-9D67-4A70-9628-8498D64E7831}" type="presOf" srcId="{18EDD6F2-FFDB-4188-AEB6-09A735B6D9F0}" destId="{CFE47995-85F5-48FB-98CC-8FE2677CECC3}" srcOrd="0" destOrd="0" presId="urn:microsoft.com/office/officeart/2005/8/layout/process4"/>
    <dgm:cxn modelId="{3B2DBE01-7BFC-4192-A841-AD19532F8A2A}" type="presParOf" srcId="{98B2E140-8213-4708-9462-CD7C6FE40759}" destId="{8CF02146-FDC2-4A39-91A7-A1AC8003F8CA}" srcOrd="0" destOrd="0" presId="urn:microsoft.com/office/officeart/2005/8/layout/process4"/>
    <dgm:cxn modelId="{54D9D932-33CC-4B1B-93C3-F318A1742F17}" type="presParOf" srcId="{8CF02146-FDC2-4A39-91A7-A1AC8003F8CA}" destId="{343AE0A8-42CE-453A-8B7D-06446854C87D}" srcOrd="0" destOrd="0" presId="urn:microsoft.com/office/officeart/2005/8/layout/process4"/>
    <dgm:cxn modelId="{272128C8-6DEF-4115-97F5-36DB4CE603FA}" type="presParOf" srcId="{98B2E140-8213-4708-9462-CD7C6FE40759}" destId="{E6CF688A-B44C-4B25-9DF7-CB9C35BBF1BE}" srcOrd="1" destOrd="0" presId="urn:microsoft.com/office/officeart/2005/8/layout/process4"/>
    <dgm:cxn modelId="{BE886C15-535E-4BAE-A6E1-DD3D857D4D6B}" type="presParOf" srcId="{98B2E140-8213-4708-9462-CD7C6FE40759}" destId="{2FD630F2-8659-42DF-8E3A-5882A0416D6C}" srcOrd="2" destOrd="0" presId="urn:microsoft.com/office/officeart/2005/8/layout/process4"/>
    <dgm:cxn modelId="{15AD4CEF-50BC-4D0F-AD9F-2C92A65110A5}" type="presParOf" srcId="{2FD630F2-8659-42DF-8E3A-5882A0416D6C}" destId="{E6E729A5-FD3F-4B59-8A22-9B5DFD9A3444}" srcOrd="0" destOrd="0" presId="urn:microsoft.com/office/officeart/2005/8/layout/process4"/>
    <dgm:cxn modelId="{B20D017A-6409-4208-AB58-8A18B2FC3CD5}" type="presParOf" srcId="{98B2E140-8213-4708-9462-CD7C6FE40759}" destId="{FFAE34CF-3457-40E2-BA09-596955A91CA1}" srcOrd="3" destOrd="0" presId="urn:microsoft.com/office/officeart/2005/8/layout/process4"/>
    <dgm:cxn modelId="{E43DAAFE-4F3F-4B35-8A75-CACD13CCD713}" type="presParOf" srcId="{98B2E140-8213-4708-9462-CD7C6FE40759}" destId="{815D6748-979A-4232-9484-550235D613B4}" srcOrd="4" destOrd="0" presId="urn:microsoft.com/office/officeart/2005/8/layout/process4"/>
    <dgm:cxn modelId="{CE0EAA3B-082A-4BF3-B350-E1661ED025B8}" type="presParOf" srcId="{815D6748-979A-4232-9484-550235D613B4}" destId="{E04729A2-9A74-47D9-B933-7E4B87A9B2F0}" srcOrd="0" destOrd="0" presId="urn:microsoft.com/office/officeart/2005/8/layout/process4"/>
    <dgm:cxn modelId="{3A0A259F-97C2-41F8-812C-6EEE705D7942}" type="presParOf" srcId="{98B2E140-8213-4708-9462-CD7C6FE40759}" destId="{708C8D17-049C-4988-B6CE-FE4441E439C6}" srcOrd="5" destOrd="0" presId="urn:microsoft.com/office/officeart/2005/8/layout/process4"/>
    <dgm:cxn modelId="{A3235253-F641-474C-9908-BCAE3C0813FF}" type="presParOf" srcId="{98B2E140-8213-4708-9462-CD7C6FE40759}" destId="{2400F00D-9C58-48F7-9D00-5C9119C4FD19}" srcOrd="6" destOrd="0" presId="urn:microsoft.com/office/officeart/2005/8/layout/process4"/>
    <dgm:cxn modelId="{A9940DA3-FBE2-414E-A589-BC0FCD5B8A0E}" type="presParOf" srcId="{2400F00D-9C58-48F7-9D00-5C9119C4FD19}" destId="{FA54F10D-2550-48D6-BCB1-0C4856CA4138}" srcOrd="0" destOrd="0" presId="urn:microsoft.com/office/officeart/2005/8/layout/process4"/>
    <dgm:cxn modelId="{99809B6F-15FA-4082-A548-8D439228D7B9}" type="presParOf" srcId="{98B2E140-8213-4708-9462-CD7C6FE40759}" destId="{4F350152-C112-4767-B47B-9E2DB1FD30AF}" srcOrd="7" destOrd="0" presId="urn:microsoft.com/office/officeart/2005/8/layout/process4"/>
    <dgm:cxn modelId="{4B3B31D3-EA3A-4E32-B807-45BD6C67BAAF}" type="presParOf" srcId="{98B2E140-8213-4708-9462-CD7C6FE40759}" destId="{B1E79C82-A89C-417B-99C2-A610C5CFA75B}" srcOrd="8" destOrd="0" presId="urn:microsoft.com/office/officeart/2005/8/layout/process4"/>
    <dgm:cxn modelId="{AAD1B014-56E0-4D46-AF91-74A73458A186}" type="presParOf" srcId="{B1E79C82-A89C-417B-99C2-A610C5CFA75B}" destId="{6C278BDF-8788-4FAB-966C-D551D3E084DD}" srcOrd="0" destOrd="0" presId="urn:microsoft.com/office/officeart/2005/8/layout/process4"/>
    <dgm:cxn modelId="{5AAA9722-CC7D-486F-A0FF-1940D15A48F3}" type="presParOf" srcId="{98B2E140-8213-4708-9462-CD7C6FE40759}" destId="{6F48666A-4C1D-4B44-8E2E-11EB0BBAD46C}" srcOrd="9" destOrd="0" presId="urn:microsoft.com/office/officeart/2005/8/layout/process4"/>
    <dgm:cxn modelId="{C700DF56-1D06-4EA0-A3AB-13B169EFC198}" type="presParOf" srcId="{98B2E140-8213-4708-9462-CD7C6FE40759}" destId="{C505D0A3-7FFE-4824-B9EB-1042BF7DADBB}" srcOrd="10" destOrd="0" presId="urn:microsoft.com/office/officeart/2005/8/layout/process4"/>
    <dgm:cxn modelId="{3D4F375E-C940-4DE5-882C-5F24754C97A5}" type="presParOf" srcId="{C505D0A3-7FFE-4824-B9EB-1042BF7DADBB}" destId="{CFE47995-85F5-48FB-98CC-8FE2677CECC3}" srcOrd="0" destOrd="0" presId="urn:microsoft.com/office/officeart/2005/8/layout/process4"/>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43AE0A8-42CE-453A-8B7D-06446854C87D}">
      <dsp:nvSpPr>
        <dsp:cNvPr id="0" name=""/>
        <dsp:cNvSpPr/>
      </dsp:nvSpPr>
      <dsp:spPr>
        <a:xfrm>
          <a:off x="0" y="3972309"/>
          <a:ext cx="8640960" cy="52136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pPr>
          <a:r>
            <a:rPr lang="en-AU" sz="1600" b="1" kern="1200" dirty="0" smtClean="0"/>
            <a:t>Applicants are eligible for offers of higher preferences in future rounds </a:t>
          </a:r>
          <a:br>
            <a:rPr lang="en-AU" sz="1600" b="1" kern="1200" dirty="0" smtClean="0"/>
          </a:br>
          <a:r>
            <a:rPr lang="en-AU" sz="1600" b="1" kern="1200" dirty="0" smtClean="0"/>
            <a:t>Subject to places being available and meeting eligibility </a:t>
          </a:r>
        </a:p>
      </dsp:txBody>
      <dsp:txXfrm>
        <a:off x="0" y="3972309"/>
        <a:ext cx="8640960" cy="521363"/>
      </dsp:txXfrm>
    </dsp:sp>
    <dsp:sp modelId="{E6E729A5-FD3F-4B59-8A22-9B5DFD9A3444}">
      <dsp:nvSpPr>
        <dsp:cNvPr id="0" name=""/>
        <dsp:cNvSpPr/>
      </dsp:nvSpPr>
      <dsp:spPr>
        <a:xfrm rot="10800000">
          <a:off x="0" y="3168354"/>
          <a:ext cx="8640960" cy="801857"/>
        </a:xfrm>
        <a:prstGeom prst="upArrowCallout">
          <a:avLst/>
        </a:prstGeom>
        <a:solidFill>
          <a:schemeClr val="accent2">
            <a:hueOff val="549268"/>
            <a:satOff val="-9762"/>
            <a:lumOff val="314"/>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pPr>
          <a:r>
            <a:rPr lang="en-AU" sz="1600" b="1" kern="1200" dirty="0" smtClean="0"/>
            <a:t>VTAC notifies students of the highest offer</a:t>
          </a:r>
          <a:br>
            <a:rPr lang="en-AU" sz="1600" b="1" kern="1200" dirty="0" smtClean="0"/>
          </a:br>
          <a:r>
            <a:rPr lang="en-AU" sz="1600" b="1" kern="1200" dirty="0" smtClean="0"/>
            <a:t>The student accept by enrolling, rejects or defers the course </a:t>
          </a:r>
          <a:endParaRPr lang="en-AU" sz="1600" b="1" kern="1200" dirty="0"/>
        </a:p>
      </dsp:txBody>
      <dsp:txXfrm rot="10800000">
        <a:off x="0" y="3168354"/>
        <a:ext cx="8640960" cy="801857"/>
      </dsp:txXfrm>
    </dsp:sp>
    <dsp:sp modelId="{E04729A2-9A74-47D9-B933-7E4B87A9B2F0}">
      <dsp:nvSpPr>
        <dsp:cNvPr id="0" name=""/>
        <dsp:cNvSpPr/>
      </dsp:nvSpPr>
      <dsp:spPr>
        <a:xfrm rot="10800000">
          <a:off x="0" y="2384236"/>
          <a:ext cx="8640960" cy="801857"/>
        </a:xfrm>
        <a:prstGeom prst="upArrowCallout">
          <a:avLst/>
        </a:prstGeom>
        <a:solidFill>
          <a:schemeClr val="accent2">
            <a:hueOff val="1098536"/>
            <a:satOff val="-19523"/>
            <a:lumOff val="628"/>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pPr>
          <a:r>
            <a:rPr lang="en-AU" sz="1600" b="1" kern="1200" dirty="0" smtClean="0"/>
            <a:t>VTAC is advised as to who has and hasn’t received an offer. </a:t>
          </a:r>
          <a:br>
            <a:rPr lang="en-AU" sz="1600" b="1" kern="1200" dirty="0" smtClean="0"/>
          </a:br>
          <a:r>
            <a:rPr lang="en-AU" sz="1600" b="1" kern="1200" dirty="0" smtClean="0"/>
            <a:t>VTAC advises the applicants via MyInfo </a:t>
          </a:r>
          <a:endParaRPr lang="en-AU" sz="1600" b="1" kern="1200" dirty="0"/>
        </a:p>
      </dsp:txBody>
      <dsp:txXfrm rot="10800000">
        <a:off x="0" y="2384236"/>
        <a:ext cx="8640960" cy="801857"/>
      </dsp:txXfrm>
    </dsp:sp>
    <dsp:sp modelId="{FA54F10D-2550-48D6-BCB1-0C4856CA4138}">
      <dsp:nvSpPr>
        <dsp:cNvPr id="0" name=""/>
        <dsp:cNvSpPr/>
      </dsp:nvSpPr>
      <dsp:spPr>
        <a:xfrm rot="10800000">
          <a:off x="0" y="1590199"/>
          <a:ext cx="8640960" cy="801857"/>
        </a:xfrm>
        <a:prstGeom prst="upArrowCallout">
          <a:avLst/>
        </a:prstGeom>
        <a:solidFill>
          <a:schemeClr val="accent2">
            <a:hueOff val="1647804"/>
            <a:satOff val="-29285"/>
            <a:lumOff val="941"/>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pPr>
          <a:r>
            <a:rPr lang="en-AU" sz="1600" b="1" kern="1200" dirty="0" smtClean="0"/>
            <a:t>The course application is considered along with SEAS and middle-band</a:t>
          </a:r>
          <a:endParaRPr lang="en-AU" sz="1600" b="1" kern="1200" dirty="0"/>
        </a:p>
      </dsp:txBody>
      <dsp:txXfrm rot="10800000">
        <a:off x="0" y="1590199"/>
        <a:ext cx="8640960" cy="801857"/>
      </dsp:txXfrm>
    </dsp:sp>
    <dsp:sp modelId="{6C278BDF-8788-4FAB-966C-D551D3E084DD}">
      <dsp:nvSpPr>
        <dsp:cNvPr id="0" name=""/>
        <dsp:cNvSpPr/>
      </dsp:nvSpPr>
      <dsp:spPr>
        <a:xfrm rot="10800000">
          <a:off x="0" y="796163"/>
          <a:ext cx="8640960" cy="801857"/>
        </a:xfrm>
        <a:prstGeom prst="upArrowCallout">
          <a:avLst/>
        </a:prstGeom>
        <a:solidFill>
          <a:schemeClr val="accent2">
            <a:hueOff val="2197072"/>
            <a:satOff val="-39046"/>
            <a:lumOff val="1255"/>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pPr>
          <a:r>
            <a:rPr lang="en-AU" sz="1600" b="1" kern="1200" dirty="0" smtClean="0"/>
            <a:t>VTAC processes the application and sends it and other documentation to the listed institutions </a:t>
          </a:r>
          <a:endParaRPr lang="en-AU" sz="1600" b="1" kern="1200" dirty="0"/>
        </a:p>
      </dsp:txBody>
      <dsp:txXfrm rot="10800000">
        <a:off x="0" y="796163"/>
        <a:ext cx="8640960" cy="801857"/>
      </dsp:txXfrm>
    </dsp:sp>
    <dsp:sp modelId="{CFE47995-85F5-48FB-98CC-8FE2677CECC3}">
      <dsp:nvSpPr>
        <dsp:cNvPr id="0" name=""/>
        <dsp:cNvSpPr/>
      </dsp:nvSpPr>
      <dsp:spPr>
        <a:xfrm rot="10800000">
          <a:off x="0" y="2126"/>
          <a:ext cx="8640960" cy="801857"/>
        </a:xfrm>
        <a:prstGeom prst="upArrowCallout">
          <a:avLst/>
        </a:prstGeom>
        <a:solidFill>
          <a:schemeClr val="accent2">
            <a:hueOff val="2746340"/>
            <a:satOff val="-48808"/>
            <a:lumOff val="1569"/>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pPr>
          <a:r>
            <a:rPr lang="en-AU" sz="1600" b="1" kern="1200" dirty="0" smtClean="0"/>
            <a:t>You submit your VTAC course application and pay your processing fee now or defer payment. </a:t>
          </a:r>
          <a:endParaRPr lang="en-AU" sz="1600" b="1" kern="1200" dirty="0"/>
        </a:p>
      </dsp:txBody>
      <dsp:txXfrm rot="10800000">
        <a:off x="0" y="2126"/>
        <a:ext cx="8640960" cy="801857"/>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E1F1B6A-5456-43D9-A23B-3AE37277D69A}" type="datetimeFigureOut">
              <a:rPr lang="en-AU" smtClean="0"/>
              <a:pPr/>
              <a:t>23/07/2012</a:t>
            </a:fld>
            <a:endParaRPr lang="en-AU"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AE8AB14-6946-4D8C-A22F-C59B5B0586EC}" type="slidenum">
              <a:rPr lang="en-AU" smtClean="0"/>
              <a:pPr/>
              <a:t>‹#›</a:t>
            </a:fld>
            <a:endParaRPr lang="en-AU"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1</a:t>
            </a:fld>
            <a:endParaRPr lang="en-AU"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If you have not received your publications: </a:t>
            </a:r>
          </a:p>
          <a:p>
            <a:pPr marL="228600" indent="-228600">
              <a:buAutoNum type="arabicPeriod"/>
            </a:pPr>
            <a:r>
              <a:rPr lang="en-AU" sz="1200" kern="1200" dirty="0" smtClean="0">
                <a:solidFill>
                  <a:schemeClr val="tx1"/>
                </a:solidFill>
                <a:latin typeface="+mn-lt"/>
                <a:ea typeface="+mn-ea"/>
                <a:cs typeface="+mn-cs"/>
              </a:rPr>
              <a:t>Check with the office </a:t>
            </a:r>
          </a:p>
          <a:p>
            <a:pPr marL="228600" indent="-228600">
              <a:buAutoNum type="arabicPeriod"/>
            </a:pPr>
            <a:r>
              <a:rPr lang="en-AU" sz="1200" kern="1200" dirty="0" smtClean="0">
                <a:solidFill>
                  <a:schemeClr val="tx1"/>
                </a:solidFill>
                <a:latin typeface="+mn-lt"/>
                <a:ea typeface="+mn-ea"/>
                <a:cs typeface="+mn-cs"/>
              </a:rPr>
              <a:t>Check</a:t>
            </a:r>
            <a:r>
              <a:rPr lang="en-AU" sz="1200" kern="1200" baseline="0" dirty="0" smtClean="0">
                <a:solidFill>
                  <a:schemeClr val="tx1"/>
                </a:solidFill>
                <a:latin typeface="+mn-lt"/>
                <a:ea typeface="+mn-ea"/>
                <a:cs typeface="+mn-cs"/>
              </a:rPr>
              <a:t> with the library </a:t>
            </a:r>
          </a:p>
          <a:p>
            <a:pPr marL="228600" indent="-228600">
              <a:buAutoNum type="arabicPeriod"/>
            </a:pPr>
            <a:r>
              <a:rPr lang="en-AU" sz="1200" kern="1200" baseline="0" dirty="0" smtClean="0">
                <a:solidFill>
                  <a:schemeClr val="tx1"/>
                </a:solidFill>
                <a:latin typeface="+mn-lt"/>
                <a:ea typeface="+mn-ea"/>
                <a:cs typeface="+mn-cs"/>
              </a:rPr>
              <a:t>Check under tables, chairs and in the principal’s office </a:t>
            </a:r>
          </a:p>
          <a:p>
            <a:pPr marL="228600" indent="-228600">
              <a:buAutoNum type="arabicPeriod"/>
            </a:pPr>
            <a:r>
              <a:rPr lang="en-AU" sz="1200" kern="1200" baseline="0" dirty="0" smtClean="0">
                <a:solidFill>
                  <a:schemeClr val="tx1"/>
                </a:solidFill>
                <a:latin typeface="+mn-lt"/>
                <a:ea typeface="+mn-ea"/>
                <a:cs typeface="+mn-cs"/>
              </a:rPr>
              <a:t>Email schoolsliaison@vtac.edu.au and we will provide you with the name of who signed for the boxes. </a:t>
            </a:r>
            <a:endParaRPr lang="en-AU" sz="1200" kern="1200" dirty="0" smtClean="0">
              <a:solidFill>
                <a:schemeClr val="tx1"/>
              </a:solidFill>
              <a:latin typeface="+mn-lt"/>
              <a:ea typeface="+mn-ea"/>
              <a:cs typeface="+mn-cs"/>
            </a:endParaRPr>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2</a:t>
            </a:fld>
            <a:endParaRPr lang="en-AU"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lvl="0"/>
            <a:endParaRPr lang="en-AU" sz="1200" kern="1200" dirty="0" smtClean="0">
              <a:solidFill>
                <a:schemeClr val="tx1"/>
              </a:solidFill>
              <a:latin typeface="+mn-lt"/>
              <a:ea typeface="+mn-ea"/>
              <a:cs typeface="+mn-cs"/>
            </a:endParaRPr>
          </a:p>
          <a:p>
            <a:r>
              <a:rPr lang="en-AU" sz="1400" b="1" kern="1200" dirty="0" smtClean="0">
                <a:solidFill>
                  <a:schemeClr val="tx1"/>
                </a:solidFill>
                <a:latin typeface="+mn-lt"/>
                <a:ea typeface="+mn-ea"/>
                <a:cs typeface="+mn-cs"/>
              </a:rPr>
              <a:t>Direct applications </a:t>
            </a:r>
          </a:p>
          <a:p>
            <a:r>
              <a:rPr lang="en-AU" sz="1200" kern="1200" dirty="0" smtClean="0">
                <a:solidFill>
                  <a:schemeClr val="tx1"/>
                </a:solidFill>
                <a:latin typeface="+mn-lt"/>
                <a:ea typeface="+mn-ea"/>
                <a:cs typeface="+mn-cs"/>
              </a:rPr>
              <a:t>A number of courses listed in this VTAC Guide will accept applications directly to the institution. </a:t>
            </a:r>
          </a:p>
          <a:p>
            <a:r>
              <a:rPr lang="en-AU" sz="1200" kern="1200" dirty="0" smtClean="0">
                <a:solidFill>
                  <a:schemeClr val="tx1"/>
                </a:solidFill>
                <a:latin typeface="+mn-lt"/>
                <a:ea typeface="+mn-ea"/>
                <a:cs typeface="+mn-cs"/>
              </a:rPr>
              <a:t>These courses are clearly identified with an application indicator within the course entry. These courses are included in the course listings and on CourseSearch</a:t>
            </a:r>
            <a:r>
              <a:rPr lang="en-AU" sz="1200" kern="1200" baseline="0" dirty="0" smtClean="0">
                <a:solidFill>
                  <a:schemeClr val="tx1"/>
                </a:solidFill>
                <a:latin typeface="+mn-lt"/>
                <a:ea typeface="+mn-ea"/>
                <a:cs typeface="+mn-cs"/>
              </a:rPr>
              <a:t>. Courses via</a:t>
            </a:r>
            <a:r>
              <a:rPr lang="en-AU" sz="1200" kern="1200" dirty="0" smtClean="0">
                <a:solidFill>
                  <a:schemeClr val="tx1"/>
                </a:solidFill>
                <a:latin typeface="+mn-lt"/>
                <a:ea typeface="+mn-ea"/>
                <a:cs typeface="+mn-cs"/>
              </a:rPr>
              <a:t> direct application </a:t>
            </a:r>
            <a:r>
              <a:rPr lang="en-AU" sz="1200" kern="1200" baseline="0" dirty="0" smtClean="0">
                <a:solidFill>
                  <a:schemeClr val="tx1"/>
                </a:solidFill>
                <a:latin typeface="+mn-lt"/>
                <a:ea typeface="+mn-ea"/>
                <a:cs typeface="+mn-cs"/>
              </a:rPr>
              <a:t>not included in CourseLink</a:t>
            </a:r>
          </a:p>
          <a:p>
            <a:r>
              <a:rPr lang="en-AU" sz="1200" b="1" kern="1200" dirty="0" smtClean="0">
                <a:solidFill>
                  <a:schemeClr val="tx1"/>
                </a:solidFill>
                <a:latin typeface="+mn-lt"/>
                <a:ea typeface="+mn-ea"/>
                <a:cs typeface="+mn-cs"/>
              </a:rPr>
              <a:t> </a:t>
            </a:r>
            <a:endParaRPr lang="en-AU" sz="1200" kern="1200" dirty="0" smtClean="0">
              <a:solidFill>
                <a:schemeClr val="tx1"/>
              </a:solidFill>
              <a:latin typeface="+mn-lt"/>
              <a:ea typeface="+mn-ea"/>
              <a:cs typeface="+mn-cs"/>
            </a:endParaRPr>
          </a:p>
          <a:p>
            <a:r>
              <a:rPr lang="en-AU" sz="1400" b="1" kern="1200" dirty="0" smtClean="0">
                <a:solidFill>
                  <a:schemeClr val="tx1"/>
                </a:solidFill>
                <a:latin typeface="+mn-lt"/>
                <a:ea typeface="+mn-ea"/>
                <a:cs typeface="+mn-cs"/>
              </a:rPr>
              <a:t>Applications</a:t>
            </a:r>
            <a:r>
              <a:rPr lang="en-AU" sz="1400" b="1" kern="1200" baseline="0" dirty="0" smtClean="0">
                <a:solidFill>
                  <a:schemeClr val="tx1"/>
                </a:solidFill>
                <a:latin typeface="+mn-lt"/>
                <a:ea typeface="+mn-ea"/>
                <a:cs typeface="+mn-cs"/>
              </a:rPr>
              <a:t> through VTAC </a:t>
            </a:r>
          </a:p>
          <a:p>
            <a:r>
              <a:rPr lang="en-AU" sz="1200" kern="1200" dirty="0" smtClean="0">
                <a:solidFill>
                  <a:schemeClr val="tx1"/>
                </a:solidFill>
                <a:latin typeface="+mn-lt"/>
                <a:ea typeface="+mn-ea"/>
                <a:cs typeface="+mn-cs"/>
              </a:rPr>
              <a:t>Where students must register and then apply through VTAC system. </a:t>
            </a:r>
          </a:p>
          <a:p>
            <a:r>
              <a:rPr lang="en-AU" sz="1200" kern="1200" dirty="0" smtClean="0">
                <a:solidFill>
                  <a:schemeClr val="tx1"/>
                </a:solidFill>
                <a:latin typeface="+mn-lt"/>
                <a:ea typeface="+mn-ea"/>
                <a:cs typeface="+mn-cs"/>
              </a:rPr>
              <a:t>More information further down track</a:t>
            </a:r>
            <a:r>
              <a:rPr lang="en-AU" sz="1200" kern="1200" baseline="0" dirty="0" smtClean="0">
                <a:solidFill>
                  <a:schemeClr val="tx1"/>
                </a:solidFill>
                <a:latin typeface="+mn-lt"/>
                <a:ea typeface="+mn-ea"/>
                <a:cs typeface="+mn-cs"/>
              </a:rPr>
              <a:t> – courses listed as through VTAC must be applied for via the VTAC system. Courses listed as direct are with the institution too. </a:t>
            </a:r>
          </a:p>
          <a:p>
            <a:r>
              <a:rPr lang="en-AU" sz="1200" kern="1200" baseline="0" dirty="0" smtClean="0">
                <a:solidFill>
                  <a:schemeClr val="tx1"/>
                </a:solidFill>
                <a:latin typeface="+mn-lt"/>
                <a:ea typeface="+mn-ea"/>
                <a:cs typeface="+mn-cs"/>
              </a:rPr>
              <a:t>A number of VTAC institutions also have put their post graduate courses in the Guide, but via direct applications. </a:t>
            </a:r>
          </a:p>
          <a:p>
            <a:r>
              <a:rPr lang="en-AU" sz="1200" b="1" kern="1200" dirty="0" smtClean="0">
                <a:solidFill>
                  <a:schemeClr val="tx1"/>
                </a:solidFill>
                <a:latin typeface="+mn-lt"/>
                <a:ea typeface="+mn-ea"/>
                <a:cs typeface="+mn-cs"/>
              </a:rPr>
              <a:t> </a:t>
            </a:r>
            <a:endParaRPr lang="en-AU" sz="1200" kern="1200" dirty="0" smtClean="0">
              <a:solidFill>
                <a:schemeClr val="tx1"/>
              </a:solidFill>
              <a:latin typeface="+mn-lt"/>
              <a:ea typeface="+mn-ea"/>
              <a:cs typeface="+mn-cs"/>
            </a:endParaRPr>
          </a:p>
          <a:p>
            <a:r>
              <a:rPr lang="en-US" sz="1400" b="1" kern="1200" dirty="0" smtClean="0">
                <a:solidFill>
                  <a:schemeClr val="tx1"/>
                </a:solidFill>
                <a:latin typeface="+mn-lt"/>
                <a:ea typeface="+mn-ea"/>
                <a:cs typeface="+mn-cs"/>
              </a:rPr>
              <a:t>New terminology</a:t>
            </a:r>
            <a:endParaRPr lang="en-AU" sz="14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VTAC user account (replaces MyInfo) – is the account an applicant must have to apply for courses, scholarships</a:t>
            </a:r>
            <a:r>
              <a:rPr lang="en-AU" sz="1200" kern="1200" baseline="0" dirty="0" smtClean="0">
                <a:solidFill>
                  <a:schemeClr val="tx1"/>
                </a:solidFill>
                <a:latin typeface="+mn-lt"/>
                <a:ea typeface="+mn-ea"/>
                <a:cs typeface="+mn-cs"/>
              </a:rPr>
              <a:t> or SEAS </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Negotiated course (replaces Irregular Offer) – same system, different name. </a:t>
            </a:r>
          </a:p>
          <a:p>
            <a:pPr>
              <a:buFont typeface="Arial" pitchFamily="34" charset="0"/>
              <a:buChar char="•"/>
            </a:pPr>
            <a:r>
              <a:rPr lang="en-AU" sz="1200" kern="1200" dirty="0" smtClean="0">
                <a:solidFill>
                  <a:schemeClr val="tx1"/>
                </a:solidFill>
                <a:latin typeface="+mn-lt"/>
                <a:ea typeface="+mn-ea"/>
                <a:cs typeface="+mn-cs"/>
              </a:rPr>
              <a:t>ALSET (replaces DULSAT) – doesn’t really affect year 12 students applying</a:t>
            </a:r>
            <a:r>
              <a:rPr lang="en-AU" sz="1200" kern="1200" baseline="0" dirty="0" smtClean="0">
                <a:solidFill>
                  <a:schemeClr val="tx1"/>
                </a:solidFill>
                <a:latin typeface="+mn-lt"/>
                <a:ea typeface="+mn-ea"/>
                <a:cs typeface="+mn-cs"/>
              </a:rPr>
              <a:t> to courses in Victoria </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Personal History online (replaces Pi Form) – new name, same process. </a:t>
            </a:r>
          </a:p>
          <a:p>
            <a:endParaRPr lang="en-AU" dirty="0" smtClean="0"/>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3</a:t>
            </a:fld>
            <a:endParaRPr lang="en-AU"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The VCAA provides for very able students to have an opportunity to undertake some approved Higher Education study as part of the VCE. Such studies are recognised as Higher Education studies contributing to completion of the VCE. These Higher Education studies include first-year university studies and advanced standing TAFE courses recognised by the VCAA. </a:t>
            </a:r>
          </a:p>
          <a:p>
            <a:endParaRPr lang="en-AU" dirty="0" smtClean="0"/>
          </a:p>
          <a:p>
            <a:r>
              <a:rPr lang="en-AU" dirty="0" smtClean="0"/>
              <a:t>For students undertaking such a study, it may count as an increment (fifth or sixth study) in the ATAR provided that it is passed, that VCAA conditions were met, and subject to the restricted study combinations  outlined by VTAC.</a:t>
            </a:r>
          </a:p>
          <a:p>
            <a:endParaRPr lang="en-AU" dirty="0" smtClean="0"/>
          </a:p>
          <a:p>
            <a:r>
              <a:rPr lang="en-AU" dirty="0" smtClean="0"/>
              <a:t>An increment will be awarded for the Higher Education study. </a:t>
            </a:r>
          </a:p>
          <a:p>
            <a:r>
              <a:rPr lang="en-AU" dirty="0" smtClean="0"/>
              <a:t>Where a student completes a higher education VCE study and the average mark overall the HE units awarded is at least: </a:t>
            </a:r>
          </a:p>
          <a:p>
            <a:pPr lvl="1">
              <a:buFont typeface="Arial" pitchFamily="34" charset="0"/>
              <a:buChar char="•"/>
            </a:pPr>
            <a:r>
              <a:rPr lang="en-AU" dirty="0" smtClean="0"/>
              <a:t>90, the Higher Education increment will be 5.0.</a:t>
            </a:r>
          </a:p>
          <a:p>
            <a:pPr lvl="1">
              <a:buFont typeface="Arial" pitchFamily="34" charset="0"/>
              <a:buChar char="•"/>
            </a:pPr>
            <a:r>
              <a:rPr lang="en-AU" dirty="0" smtClean="0"/>
              <a:t>80 but less than 90, the Higher Education increment will be 4.5</a:t>
            </a:r>
          </a:p>
          <a:p>
            <a:pPr lvl="1">
              <a:buFont typeface="Arial" pitchFamily="34" charset="0"/>
              <a:buChar char="•"/>
            </a:pPr>
            <a:r>
              <a:rPr lang="en-AU" dirty="0" smtClean="0"/>
              <a:t>70 but less than 80, the Higher Education increment will be 4.0</a:t>
            </a:r>
          </a:p>
          <a:p>
            <a:pPr lvl="1">
              <a:buFont typeface="Arial" pitchFamily="34" charset="0"/>
              <a:buChar char="•"/>
            </a:pPr>
            <a:r>
              <a:rPr lang="en-AU" dirty="0" smtClean="0"/>
              <a:t>60 but less than 70, the Higher Education increment will be 3.5</a:t>
            </a:r>
          </a:p>
          <a:p>
            <a:pPr lvl="1">
              <a:buFont typeface="Arial" pitchFamily="34" charset="0"/>
              <a:buChar char="•"/>
            </a:pPr>
            <a:r>
              <a:rPr lang="en-AU" dirty="0" smtClean="0"/>
              <a:t>50 but less than 60, the Higher Education increment will be 3.0. </a:t>
            </a:r>
          </a:p>
        </p:txBody>
      </p:sp>
      <p:sp>
        <p:nvSpPr>
          <p:cNvPr id="4" name="Slide Number Placeholder 3"/>
          <p:cNvSpPr>
            <a:spLocks noGrp="1"/>
          </p:cNvSpPr>
          <p:nvPr>
            <p:ph type="sldNum" sz="quarter" idx="10"/>
          </p:nvPr>
        </p:nvSpPr>
        <p:spPr/>
        <p:txBody>
          <a:bodyPr/>
          <a:lstStyle/>
          <a:p>
            <a:fld id="{AAE8AB14-6946-4D8C-A22F-C59B5B0586EC}" type="slidenum">
              <a:rPr lang="en-AU" smtClean="0"/>
              <a:pPr/>
              <a:t>4</a:t>
            </a:fld>
            <a:endParaRPr lang="en-AU"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400" b="1" kern="1200" dirty="0" smtClean="0">
                <a:solidFill>
                  <a:schemeClr val="tx1"/>
                </a:solidFill>
                <a:latin typeface="+mn-lt"/>
                <a:ea typeface="+mn-ea"/>
                <a:cs typeface="+mn-cs"/>
              </a:rPr>
              <a:t>Blog for everyone: </a:t>
            </a:r>
          </a:p>
          <a:p>
            <a:pPr lvl="0">
              <a:buFont typeface="Arial" pitchFamily="34" charset="0"/>
              <a:buChar char="•"/>
            </a:pPr>
            <a:r>
              <a:rPr lang="en-AU" kern="1200" dirty="0" smtClean="0">
                <a:solidFill>
                  <a:schemeClr val="tx1"/>
                </a:solidFill>
                <a:latin typeface="+mn-lt"/>
                <a:ea typeface="+mn-ea"/>
                <a:cs typeface="+mn-cs"/>
              </a:rPr>
              <a:t>Course updates (new/cancelled) are updated weekly on blog, Facebook and Twitter.</a:t>
            </a:r>
          </a:p>
          <a:p>
            <a:pPr lvl="0">
              <a:buFont typeface="Arial" pitchFamily="34" charset="0"/>
              <a:buChar char="•"/>
            </a:pPr>
            <a:r>
              <a:rPr lang="en-AU" kern="1200" dirty="0" smtClean="0">
                <a:solidFill>
                  <a:schemeClr val="tx1"/>
                </a:solidFill>
                <a:latin typeface="+mn-lt"/>
                <a:ea typeface="+mn-ea"/>
                <a:cs typeface="+mn-cs"/>
              </a:rPr>
              <a:t>Monitor</a:t>
            </a:r>
            <a:r>
              <a:rPr lang="en-AU" kern="1200" baseline="0" dirty="0" smtClean="0">
                <a:solidFill>
                  <a:schemeClr val="tx1"/>
                </a:solidFill>
                <a:latin typeface="+mn-lt"/>
                <a:ea typeface="+mn-ea"/>
                <a:cs typeface="+mn-cs"/>
              </a:rPr>
              <a:t> and respond efficiently </a:t>
            </a:r>
          </a:p>
          <a:p>
            <a:pPr lvl="0">
              <a:buFont typeface="Arial" pitchFamily="34" charset="0"/>
              <a:buChar char="•"/>
            </a:pPr>
            <a:r>
              <a:rPr lang="en-AU" kern="1200" baseline="0" dirty="0" smtClean="0">
                <a:solidFill>
                  <a:schemeClr val="tx1"/>
                </a:solidFill>
                <a:latin typeface="+mn-lt"/>
                <a:ea typeface="+mn-ea"/>
                <a:cs typeface="+mn-cs"/>
              </a:rPr>
              <a:t>Create events i.e. change of preference event in 2011 </a:t>
            </a:r>
          </a:p>
          <a:p>
            <a:pPr lvl="0">
              <a:buFont typeface="Arial" pitchFamily="34" charset="0"/>
              <a:buChar char="•"/>
            </a:pPr>
            <a:r>
              <a:rPr lang="en-AU" kern="1200" baseline="0" dirty="0" smtClean="0">
                <a:solidFill>
                  <a:schemeClr val="tx1"/>
                </a:solidFill>
                <a:latin typeface="+mn-lt"/>
                <a:ea typeface="+mn-ea"/>
                <a:cs typeface="+mn-cs"/>
              </a:rPr>
              <a:t>Students and parents can interact and answer and help each other – this happened quite a bit last year </a:t>
            </a:r>
          </a:p>
          <a:p>
            <a:pPr lvl="0">
              <a:buFont typeface="Arial" pitchFamily="34" charset="0"/>
              <a:buChar char="•"/>
            </a:pPr>
            <a:r>
              <a:rPr lang="en-AU" kern="1200" baseline="0" dirty="0" smtClean="0">
                <a:solidFill>
                  <a:schemeClr val="tx1"/>
                </a:solidFill>
                <a:latin typeface="+mn-lt"/>
                <a:ea typeface="+mn-ea"/>
                <a:cs typeface="+mn-cs"/>
              </a:rPr>
              <a:t>Some articles had over 18,000 reads i.e. the one about SEAS </a:t>
            </a:r>
          </a:p>
          <a:p>
            <a:pPr lvl="0">
              <a:buFont typeface="Arial" pitchFamily="34" charset="0"/>
              <a:buNone/>
            </a:pPr>
            <a:endParaRPr lang="en-AU" sz="1200" kern="1200" baseline="0" dirty="0" smtClean="0">
              <a:solidFill>
                <a:schemeClr val="tx1"/>
              </a:solidFill>
              <a:latin typeface="+mn-lt"/>
              <a:ea typeface="+mn-ea"/>
              <a:cs typeface="+mn-cs"/>
            </a:endParaRPr>
          </a:p>
          <a:p>
            <a:pPr lvl="0"/>
            <a:r>
              <a:rPr lang="en-AU" sz="1400" b="1" kern="1200" dirty="0" smtClean="0">
                <a:solidFill>
                  <a:schemeClr val="tx1"/>
                </a:solidFill>
                <a:latin typeface="+mn-lt"/>
                <a:ea typeface="+mn-ea"/>
                <a:cs typeface="+mn-cs"/>
              </a:rPr>
              <a:t>Blog</a:t>
            </a:r>
            <a:r>
              <a:rPr lang="en-AU" sz="1400" b="1" kern="1200" baseline="0" dirty="0" smtClean="0">
                <a:solidFill>
                  <a:schemeClr val="tx1"/>
                </a:solidFill>
                <a:latin typeface="+mn-lt"/>
                <a:ea typeface="+mn-ea"/>
                <a:cs typeface="+mn-cs"/>
              </a:rPr>
              <a:t> for careers practitioners </a:t>
            </a:r>
            <a:endParaRPr lang="en-AU" sz="1400" b="1" kern="1200" dirty="0" smtClean="0">
              <a:solidFill>
                <a:schemeClr val="tx1"/>
              </a:solidFill>
              <a:latin typeface="+mn-lt"/>
              <a:ea typeface="+mn-ea"/>
              <a:cs typeface="+mn-cs"/>
            </a:endParaRPr>
          </a:p>
          <a:p>
            <a:pPr lvl="0">
              <a:buFont typeface="Arial" pitchFamily="34" charset="0"/>
              <a:buChar char="•"/>
            </a:pPr>
            <a:r>
              <a:rPr lang="en-AU" kern="1200" dirty="0" smtClean="0">
                <a:solidFill>
                  <a:schemeClr val="tx1"/>
                </a:solidFill>
                <a:latin typeface="+mn-lt"/>
                <a:ea typeface="+mn-ea"/>
                <a:cs typeface="+mn-cs"/>
              </a:rPr>
              <a:t>More than 200 careers professionals have subscribed to careers professionals blog</a:t>
            </a:r>
            <a:r>
              <a:rPr lang="en-AU" kern="1200" baseline="0" dirty="0" smtClean="0">
                <a:solidFill>
                  <a:schemeClr val="tx1"/>
                </a:solidFill>
                <a:latin typeface="+mn-lt"/>
                <a:ea typeface="+mn-ea"/>
                <a:cs typeface="+mn-cs"/>
              </a:rPr>
              <a:t> to date</a:t>
            </a:r>
            <a:endParaRPr lang="en-AU" kern="1200" dirty="0" smtClean="0">
              <a:solidFill>
                <a:schemeClr val="tx1"/>
              </a:solidFill>
              <a:latin typeface="+mn-lt"/>
              <a:ea typeface="+mn-ea"/>
              <a:cs typeface="+mn-cs"/>
            </a:endParaRPr>
          </a:p>
          <a:p>
            <a:pPr lvl="0">
              <a:buFont typeface="Arial" pitchFamily="34" charset="0"/>
              <a:buChar char="•"/>
            </a:pPr>
            <a:r>
              <a:rPr lang="en-AU" kern="1200" dirty="0" smtClean="0">
                <a:solidFill>
                  <a:schemeClr val="tx1"/>
                </a:solidFill>
                <a:latin typeface="+mn-lt"/>
                <a:ea typeface="+mn-ea"/>
                <a:cs typeface="+mn-cs"/>
              </a:rPr>
              <a:t>Some articles had more than 10,000 reads recorded</a:t>
            </a:r>
          </a:p>
          <a:p>
            <a:pPr lvl="0">
              <a:buFont typeface="Arial" pitchFamily="34" charset="0"/>
              <a:buChar char="•"/>
            </a:pPr>
            <a:r>
              <a:rPr lang="en-AU" kern="1200" dirty="0" smtClean="0">
                <a:solidFill>
                  <a:schemeClr val="tx1"/>
                </a:solidFill>
                <a:latin typeface="+mn-lt"/>
                <a:ea typeface="+mn-ea"/>
                <a:cs typeface="+mn-cs"/>
              </a:rPr>
              <a:t>Targetted information but info from general also linked across </a:t>
            </a:r>
          </a:p>
          <a:p>
            <a:pPr lvl="0">
              <a:buFont typeface="Arial" pitchFamily="34" charset="0"/>
              <a:buChar char="•"/>
            </a:pPr>
            <a:r>
              <a:rPr lang="en-AU" kern="1200" dirty="0" smtClean="0">
                <a:solidFill>
                  <a:schemeClr val="tx1"/>
                </a:solidFill>
                <a:latin typeface="+mn-lt"/>
                <a:ea typeface="+mn-ea"/>
                <a:cs typeface="+mn-cs"/>
              </a:rPr>
              <a:t>Highly</a:t>
            </a:r>
            <a:r>
              <a:rPr lang="en-AU" kern="1200" baseline="0" dirty="0" smtClean="0">
                <a:solidFill>
                  <a:schemeClr val="tx1"/>
                </a:solidFill>
                <a:latin typeface="+mn-lt"/>
                <a:ea typeface="+mn-ea"/>
                <a:cs typeface="+mn-cs"/>
              </a:rPr>
              <a:t> recommended because this is where we post popular FAQs as they arise. </a:t>
            </a:r>
            <a:endParaRPr lang="en-AU" kern="1200" dirty="0" smtClean="0">
              <a:solidFill>
                <a:schemeClr val="tx1"/>
              </a:solidFill>
              <a:latin typeface="+mn-lt"/>
              <a:ea typeface="+mn-ea"/>
              <a:cs typeface="+mn-cs"/>
            </a:endParaRPr>
          </a:p>
          <a:p>
            <a:r>
              <a:rPr lang="en-AU" sz="1100" kern="1200" dirty="0" smtClean="0">
                <a:solidFill>
                  <a:schemeClr val="tx1"/>
                </a:solidFill>
                <a:latin typeface="+mn-lt"/>
                <a:ea typeface="+mn-ea"/>
                <a:cs typeface="+mn-cs"/>
              </a:rPr>
              <a:t> </a:t>
            </a:r>
          </a:p>
          <a:p>
            <a:r>
              <a:rPr lang="en-AU" dirty="0" smtClean="0"/>
              <a:t>This year we will be running more events on Facebook and we are thinking of running some careers practitioner webinars via the blog. Will get back to you about this. </a:t>
            </a:r>
          </a:p>
          <a:p>
            <a:endParaRPr lang="en-AU" dirty="0" smtClean="0"/>
          </a:p>
          <a:p>
            <a:r>
              <a:rPr lang="en-AU" sz="1200" kern="1200" dirty="0" smtClean="0">
                <a:solidFill>
                  <a:schemeClr val="tx1"/>
                </a:solidFill>
                <a:latin typeface="+mn-lt"/>
                <a:ea typeface="+mn-ea"/>
                <a:cs typeface="+mn-cs"/>
              </a:rPr>
              <a:t> </a:t>
            </a:r>
          </a:p>
          <a:p>
            <a:r>
              <a:rPr lang="en-AU" sz="1200" b="1" kern="1200" dirty="0" smtClean="0">
                <a:solidFill>
                  <a:schemeClr val="tx1"/>
                </a:solidFill>
                <a:latin typeface="+mn-lt"/>
                <a:ea typeface="+mn-ea"/>
                <a:cs typeface="+mn-cs"/>
              </a:rPr>
              <a:t> </a:t>
            </a:r>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Query Topic</a:t>
            </a:r>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Frequency</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Percentage of Email Enquiries</a:t>
            </a:r>
          </a:p>
          <a:p>
            <a:r>
              <a:rPr lang="en-AU" sz="1200" kern="1200" dirty="0" smtClean="0">
                <a:solidFill>
                  <a:schemeClr val="tx1"/>
                </a:solidFill>
                <a:latin typeface="+mn-lt"/>
                <a:ea typeface="+mn-ea"/>
                <a:cs typeface="+mn-cs"/>
              </a:rPr>
              <a:t>Enquiries about offers/courses</a:t>
            </a:r>
          </a:p>
          <a:p>
            <a:r>
              <a:rPr lang="en-AU" sz="1200" kern="1200" dirty="0" smtClean="0">
                <a:solidFill>
                  <a:schemeClr val="tx1"/>
                </a:solidFill>
                <a:latin typeface="+mn-lt"/>
                <a:ea typeface="+mn-ea"/>
                <a:cs typeface="+mn-cs"/>
              </a:rPr>
              <a:t>7</a:t>
            </a:r>
          </a:p>
          <a:p>
            <a:r>
              <a:rPr lang="en-AU" sz="1200" kern="1200" dirty="0" smtClean="0">
                <a:solidFill>
                  <a:schemeClr val="tx1"/>
                </a:solidFill>
                <a:latin typeface="+mn-lt"/>
                <a:ea typeface="+mn-ea"/>
                <a:cs typeface="+mn-cs"/>
              </a:rPr>
              <a:t>4%</a:t>
            </a:r>
          </a:p>
          <a:p>
            <a:r>
              <a:rPr lang="en-AU" sz="1200" kern="1200" dirty="0" smtClean="0">
                <a:solidFill>
                  <a:schemeClr val="tx1"/>
                </a:solidFill>
                <a:latin typeface="+mn-lt"/>
                <a:ea typeface="+mn-ea"/>
                <a:cs typeface="+mn-cs"/>
              </a:rPr>
              <a:t>Special Entry Access Scheme</a:t>
            </a:r>
          </a:p>
          <a:p>
            <a:r>
              <a:rPr lang="en-AU" sz="1200" kern="1200" dirty="0" smtClean="0">
                <a:solidFill>
                  <a:schemeClr val="tx1"/>
                </a:solidFill>
                <a:latin typeface="+mn-lt"/>
                <a:ea typeface="+mn-ea"/>
                <a:cs typeface="+mn-cs"/>
              </a:rPr>
              <a:t>38</a:t>
            </a:r>
          </a:p>
          <a:p>
            <a:r>
              <a:rPr lang="en-AU" sz="1200" kern="1200" dirty="0" smtClean="0">
                <a:solidFill>
                  <a:schemeClr val="tx1"/>
                </a:solidFill>
                <a:latin typeface="+mn-lt"/>
                <a:ea typeface="+mn-ea"/>
                <a:cs typeface="+mn-cs"/>
              </a:rPr>
              <a:t>21%</a:t>
            </a:r>
          </a:p>
          <a:p>
            <a:r>
              <a:rPr lang="en-AU" sz="1200" kern="1200" dirty="0" smtClean="0">
                <a:solidFill>
                  <a:schemeClr val="tx1"/>
                </a:solidFill>
                <a:latin typeface="+mn-lt"/>
                <a:ea typeface="+mn-ea"/>
                <a:cs typeface="+mn-cs"/>
              </a:rPr>
              <a:t>CourseLink</a:t>
            </a:r>
          </a:p>
          <a:p>
            <a:r>
              <a:rPr lang="en-AU" sz="1200" kern="1200" dirty="0" smtClean="0">
                <a:solidFill>
                  <a:schemeClr val="tx1"/>
                </a:solidFill>
                <a:latin typeface="+mn-lt"/>
                <a:ea typeface="+mn-ea"/>
                <a:cs typeface="+mn-cs"/>
              </a:rPr>
              <a:t>29</a:t>
            </a:r>
          </a:p>
          <a:p>
            <a:r>
              <a:rPr lang="en-AU" sz="1200" kern="1200" dirty="0" smtClean="0">
                <a:solidFill>
                  <a:schemeClr val="tx1"/>
                </a:solidFill>
                <a:latin typeface="+mn-lt"/>
                <a:ea typeface="+mn-ea"/>
                <a:cs typeface="+mn-cs"/>
              </a:rPr>
              <a:t>16%</a:t>
            </a:r>
          </a:p>
          <a:p>
            <a:r>
              <a:rPr lang="en-AU" sz="1200" kern="1200" dirty="0" smtClean="0">
                <a:solidFill>
                  <a:schemeClr val="tx1"/>
                </a:solidFill>
                <a:latin typeface="+mn-lt"/>
                <a:ea typeface="+mn-ea"/>
                <a:cs typeface="+mn-cs"/>
              </a:rPr>
              <a:t>Preferences (Reports)</a:t>
            </a:r>
          </a:p>
          <a:p>
            <a:r>
              <a:rPr lang="en-AU" sz="1200" kern="1200" dirty="0" smtClean="0">
                <a:solidFill>
                  <a:schemeClr val="tx1"/>
                </a:solidFill>
                <a:latin typeface="+mn-lt"/>
                <a:ea typeface="+mn-ea"/>
                <a:cs typeface="+mn-cs"/>
              </a:rPr>
              <a:t>30</a:t>
            </a:r>
          </a:p>
          <a:p>
            <a:r>
              <a:rPr lang="en-AU" sz="1200" kern="1200" dirty="0" smtClean="0">
                <a:solidFill>
                  <a:schemeClr val="tx1"/>
                </a:solidFill>
                <a:latin typeface="+mn-lt"/>
                <a:ea typeface="+mn-ea"/>
                <a:cs typeface="+mn-cs"/>
              </a:rPr>
              <a:t>16%</a:t>
            </a:r>
          </a:p>
          <a:p>
            <a:r>
              <a:rPr lang="en-AU" sz="1200" kern="1200" dirty="0" smtClean="0">
                <a:solidFill>
                  <a:schemeClr val="tx1"/>
                </a:solidFill>
                <a:latin typeface="+mn-lt"/>
                <a:ea typeface="+mn-ea"/>
                <a:cs typeface="+mn-cs"/>
              </a:rPr>
              <a:t>ATAR Calculation and Information</a:t>
            </a:r>
          </a:p>
          <a:p>
            <a:r>
              <a:rPr lang="en-AU" sz="1200" kern="1200" dirty="0" smtClean="0">
                <a:solidFill>
                  <a:schemeClr val="tx1"/>
                </a:solidFill>
                <a:latin typeface="+mn-lt"/>
                <a:ea typeface="+mn-ea"/>
                <a:cs typeface="+mn-cs"/>
              </a:rPr>
              <a:t>22</a:t>
            </a:r>
          </a:p>
          <a:p>
            <a:r>
              <a:rPr lang="en-AU" sz="1200" kern="1200" dirty="0" smtClean="0">
                <a:solidFill>
                  <a:schemeClr val="tx1"/>
                </a:solidFill>
                <a:latin typeface="+mn-lt"/>
                <a:ea typeface="+mn-ea"/>
                <a:cs typeface="+mn-cs"/>
              </a:rPr>
              <a:t>12%</a:t>
            </a:r>
          </a:p>
          <a:p>
            <a:r>
              <a:rPr lang="en-AU" sz="1200" kern="1200" dirty="0" smtClean="0">
                <a:solidFill>
                  <a:schemeClr val="tx1"/>
                </a:solidFill>
                <a:latin typeface="+mn-lt"/>
                <a:ea typeface="+mn-ea"/>
                <a:cs typeface="+mn-cs"/>
              </a:rPr>
              <a:t>International Baccalaureate</a:t>
            </a:r>
          </a:p>
          <a:p>
            <a:r>
              <a:rPr lang="en-AU" sz="1200" kern="1200" dirty="0" smtClean="0">
                <a:solidFill>
                  <a:schemeClr val="tx1"/>
                </a:solidFill>
                <a:latin typeface="+mn-lt"/>
                <a:ea typeface="+mn-ea"/>
                <a:cs typeface="+mn-cs"/>
              </a:rPr>
              <a:t>10</a:t>
            </a:r>
          </a:p>
          <a:p>
            <a:r>
              <a:rPr lang="en-AU" sz="1200" kern="1200" dirty="0" smtClean="0">
                <a:solidFill>
                  <a:schemeClr val="tx1"/>
                </a:solidFill>
                <a:latin typeface="+mn-lt"/>
                <a:ea typeface="+mn-ea"/>
                <a:cs typeface="+mn-cs"/>
              </a:rPr>
              <a:t>5%</a:t>
            </a:r>
          </a:p>
          <a:p>
            <a:r>
              <a:rPr lang="en-AU" sz="1200" kern="1200" dirty="0" smtClean="0">
                <a:solidFill>
                  <a:schemeClr val="tx1"/>
                </a:solidFill>
                <a:latin typeface="+mn-lt"/>
                <a:ea typeface="+mn-ea"/>
                <a:cs typeface="+mn-cs"/>
              </a:rPr>
              <a:t>VTAC Guide Distribution</a:t>
            </a:r>
          </a:p>
          <a:p>
            <a:r>
              <a:rPr lang="en-AU" sz="1200" kern="1200" dirty="0" smtClean="0">
                <a:solidFill>
                  <a:schemeClr val="tx1"/>
                </a:solidFill>
                <a:latin typeface="+mn-lt"/>
                <a:ea typeface="+mn-ea"/>
                <a:cs typeface="+mn-cs"/>
              </a:rPr>
              <a:t>12</a:t>
            </a:r>
          </a:p>
          <a:p>
            <a:r>
              <a:rPr lang="en-AU" sz="1200" kern="1200" dirty="0" smtClean="0">
                <a:solidFill>
                  <a:schemeClr val="tx1"/>
                </a:solidFill>
                <a:latin typeface="+mn-lt"/>
                <a:ea typeface="+mn-ea"/>
                <a:cs typeface="+mn-cs"/>
              </a:rPr>
              <a:t>7%</a:t>
            </a:r>
          </a:p>
          <a:p>
            <a:r>
              <a:rPr lang="en-AU" sz="1200" kern="1200" dirty="0" smtClean="0">
                <a:solidFill>
                  <a:schemeClr val="tx1"/>
                </a:solidFill>
                <a:latin typeface="+mn-lt"/>
                <a:ea typeface="+mn-ea"/>
                <a:cs typeface="+mn-cs"/>
              </a:rPr>
              <a:t>Social Media</a:t>
            </a:r>
          </a:p>
          <a:p>
            <a:r>
              <a:rPr lang="en-AU" sz="1200" kern="1200" dirty="0" smtClean="0">
                <a:solidFill>
                  <a:schemeClr val="tx1"/>
                </a:solidFill>
                <a:latin typeface="+mn-lt"/>
                <a:ea typeface="+mn-ea"/>
                <a:cs typeface="+mn-cs"/>
              </a:rPr>
              <a:t>2</a:t>
            </a:r>
          </a:p>
          <a:p>
            <a:r>
              <a:rPr lang="en-AU" sz="1200" kern="1200" dirty="0" smtClean="0">
                <a:solidFill>
                  <a:schemeClr val="tx1"/>
                </a:solidFill>
                <a:latin typeface="+mn-lt"/>
                <a:ea typeface="+mn-ea"/>
                <a:cs typeface="+mn-cs"/>
              </a:rPr>
              <a:t>1%</a:t>
            </a:r>
          </a:p>
          <a:p>
            <a:r>
              <a:rPr lang="en-AU" sz="1200" kern="1200" dirty="0" smtClean="0">
                <a:solidFill>
                  <a:schemeClr val="tx1"/>
                </a:solidFill>
                <a:latin typeface="+mn-lt"/>
                <a:ea typeface="+mn-ea"/>
                <a:cs typeface="+mn-cs"/>
              </a:rPr>
              <a:t>Front Office Queries</a:t>
            </a:r>
          </a:p>
          <a:p>
            <a:r>
              <a:rPr lang="en-AU" sz="1200" kern="1200" dirty="0" smtClean="0">
                <a:solidFill>
                  <a:schemeClr val="tx1"/>
                </a:solidFill>
                <a:latin typeface="+mn-lt"/>
                <a:ea typeface="+mn-ea"/>
                <a:cs typeface="+mn-cs"/>
              </a:rPr>
              <a:t>34</a:t>
            </a:r>
          </a:p>
          <a:p>
            <a:r>
              <a:rPr lang="en-AU" sz="1200" kern="1200" dirty="0" smtClean="0">
                <a:solidFill>
                  <a:schemeClr val="tx1"/>
                </a:solidFill>
                <a:latin typeface="+mn-lt"/>
                <a:ea typeface="+mn-ea"/>
                <a:cs typeface="+mn-cs"/>
              </a:rPr>
              <a:t>18%</a:t>
            </a:r>
          </a:p>
          <a:p>
            <a:r>
              <a:rPr lang="en-AU" sz="1200" kern="1200" dirty="0" smtClean="0">
                <a:solidFill>
                  <a:schemeClr val="tx1"/>
                </a:solidFill>
                <a:latin typeface="+mn-lt"/>
                <a:ea typeface="+mn-ea"/>
                <a:cs typeface="+mn-cs"/>
              </a:rPr>
              <a:t> </a:t>
            </a:r>
          </a:p>
          <a:p>
            <a:r>
              <a:rPr lang="en-AU" sz="1200" b="1" kern="1200" dirty="0" smtClean="0">
                <a:solidFill>
                  <a:schemeClr val="tx1"/>
                </a:solidFill>
                <a:latin typeface="+mn-lt"/>
                <a:ea typeface="+mn-ea"/>
                <a:cs typeface="+mn-cs"/>
              </a:rPr>
              <a:t>Key Points</a:t>
            </a:r>
            <a:endParaRPr lang="en-AU" sz="1200" kern="1200" dirty="0" smtClean="0">
              <a:solidFill>
                <a:schemeClr val="tx1"/>
              </a:solidFill>
              <a:latin typeface="+mn-lt"/>
              <a:ea typeface="+mn-ea"/>
              <a:cs typeface="+mn-cs"/>
            </a:endParaRPr>
          </a:p>
          <a:p>
            <a:pPr lvl="0"/>
            <a:r>
              <a:rPr lang="en-AU" sz="1200" kern="1200" dirty="0" smtClean="0">
                <a:solidFill>
                  <a:schemeClr val="tx1"/>
                </a:solidFill>
                <a:latin typeface="+mn-lt"/>
                <a:ea typeface="+mn-ea"/>
                <a:cs typeface="+mn-cs"/>
              </a:rPr>
              <a:t>1 in 5 email enquiries (20%) are specifically about policy and procedural issues. </a:t>
            </a:r>
          </a:p>
          <a:p>
            <a:pPr lvl="0"/>
            <a:r>
              <a:rPr lang="en-AU" sz="1200" kern="1200" dirty="0" smtClean="0">
                <a:solidFill>
                  <a:schemeClr val="tx1"/>
                </a:solidFill>
                <a:latin typeface="+mn-lt"/>
                <a:ea typeface="+mn-ea"/>
                <a:cs typeface="+mn-cs"/>
              </a:rPr>
              <a:t>Between September and December 2011, IPS staff answered nearly 1200 phone calls. </a:t>
            </a:r>
          </a:p>
          <a:p>
            <a:pPr lvl="0"/>
            <a:r>
              <a:rPr lang="en-AU" sz="1200" kern="1200" dirty="0" smtClean="0">
                <a:solidFill>
                  <a:schemeClr val="tx1"/>
                </a:solidFill>
                <a:latin typeface="+mn-lt"/>
                <a:ea typeface="+mn-ea"/>
                <a:cs typeface="+mn-cs"/>
              </a:rPr>
              <a:t>Almost 20% of enquiries directed to the IPS schools liaison address were questions that should have been directed to customer service</a:t>
            </a:r>
          </a:p>
          <a:p>
            <a:pPr lvl="0"/>
            <a:r>
              <a:rPr lang="en-AU" sz="1200" kern="1200" dirty="0" smtClean="0">
                <a:solidFill>
                  <a:schemeClr val="tx1"/>
                </a:solidFill>
                <a:latin typeface="+mn-lt"/>
                <a:ea typeface="+mn-ea"/>
                <a:cs typeface="+mn-cs"/>
              </a:rPr>
              <a:t>65% of email enquiries from teachers are regarding four specific topics: SEAS, CourseLink, accessing preferences, and the ATAR Calculation.</a:t>
            </a:r>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5</a:t>
            </a:fld>
            <a:endParaRPr lang="en-AU"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spcAft>
                <a:spcPts val="1200"/>
              </a:spcAft>
            </a:pPr>
            <a:r>
              <a:rPr lang="en-AU" sz="1400" dirty="0" smtClean="0"/>
              <a:t>Majors index is still in the printed Guide, even though the majors aren’t listed in courses. </a:t>
            </a:r>
          </a:p>
          <a:p>
            <a:pPr lvl="0">
              <a:spcAft>
                <a:spcPts val="1200"/>
              </a:spcAft>
            </a:pPr>
            <a:r>
              <a:rPr lang="en-AU" sz="1400" dirty="0" smtClean="0"/>
              <a:t>Selection data index is available in print, but included in course entry online. </a:t>
            </a:r>
          </a:p>
          <a:p>
            <a:pPr lvl="0">
              <a:spcAft>
                <a:spcPts val="1200"/>
              </a:spcAft>
            </a:pPr>
            <a:r>
              <a:rPr lang="en-AU" sz="1400" kern="1200" dirty="0" smtClean="0">
                <a:solidFill>
                  <a:schemeClr val="tx1"/>
                </a:solidFill>
                <a:latin typeface="+mn-lt"/>
                <a:ea typeface="+mn-ea"/>
                <a:cs typeface="+mn-cs"/>
              </a:rPr>
              <a:t>Course listings are included, but the detail is online. Already we have had a large number of new and cancelled</a:t>
            </a:r>
            <a:r>
              <a:rPr lang="en-AU" sz="1400" kern="1200" baseline="0" dirty="0" smtClean="0">
                <a:solidFill>
                  <a:schemeClr val="tx1"/>
                </a:solidFill>
                <a:latin typeface="+mn-lt"/>
                <a:ea typeface="+mn-ea"/>
                <a:cs typeface="+mn-cs"/>
              </a:rPr>
              <a:t> courses. The PDF will be updated. </a:t>
            </a:r>
            <a:endParaRPr lang="en-AU" sz="1400" kern="1200" dirty="0" smtClean="0">
              <a:solidFill>
                <a:schemeClr val="tx1"/>
              </a:solidFill>
              <a:latin typeface="+mn-lt"/>
              <a:ea typeface="+mn-ea"/>
              <a:cs typeface="+mn-cs"/>
            </a:endParaRPr>
          </a:p>
          <a:p>
            <a:pPr lvl="0"/>
            <a:r>
              <a:rPr lang="en-AU" sz="1400" dirty="0" smtClean="0"/>
              <a:t>Institutions are listed in strict alpha</a:t>
            </a:r>
            <a:r>
              <a:rPr lang="en-AU" sz="1400" baseline="0" dirty="0" smtClean="0"/>
              <a:t> order – even those institutions that include direct applications only</a:t>
            </a:r>
          </a:p>
          <a:p>
            <a:pPr lvl="0"/>
            <a:endParaRPr lang="en-AU" sz="1400" dirty="0" smtClean="0"/>
          </a:p>
          <a:p>
            <a:pPr lvl="0"/>
            <a:r>
              <a:rPr lang="en-AU" sz="1400" dirty="0" smtClean="0"/>
              <a:t>Chapters in the VTAC</a:t>
            </a:r>
            <a:r>
              <a:rPr lang="en-AU" sz="1400" baseline="0" dirty="0" smtClean="0"/>
              <a:t> Guide include: </a:t>
            </a:r>
          </a:p>
          <a:p>
            <a:pPr lvl="0">
              <a:buFont typeface="Arial" pitchFamily="34" charset="0"/>
              <a:buChar char="•"/>
            </a:pPr>
            <a:r>
              <a:rPr lang="en-AU" sz="1400" dirty="0" smtClean="0"/>
              <a:t>SEAS </a:t>
            </a:r>
          </a:p>
          <a:p>
            <a:pPr lvl="0">
              <a:buFont typeface="Arial" pitchFamily="34" charset="0"/>
              <a:buChar char="•"/>
            </a:pPr>
            <a:r>
              <a:rPr lang="en-AU" sz="1400" dirty="0" smtClean="0"/>
              <a:t>Scholarship</a:t>
            </a:r>
          </a:p>
          <a:p>
            <a:pPr lvl="0">
              <a:buFont typeface="Arial" pitchFamily="34" charset="0"/>
              <a:buChar char="•"/>
            </a:pPr>
            <a:r>
              <a:rPr lang="en-AU" sz="1400" dirty="0" smtClean="0"/>
              <a:t>Accommodation</a:t>
            </a:r>
          </a:p>
          <a:p>
            <a:pPr lvl="0">
              <a:buFont typeface="Arial" pitchFamily="34" charset="0"/>
              <a:buChar char="•"/>
            </a:pPr>
            <a:r>
              <a:rPr lang="en-AU" sz="1400" dirty="0" smtClean="0"/>
              <a:t>Enrolment</a:t>
            </a:r>
            <a:r>
              <a:rPr lang="en-AU" sz="1400" baseline="0" dirty="0" smtClean="0"/>
              <a:t> and deferment</a:t>
            </a:r>
          </a:p>
          <a:p>
            <a:pPr lvl="0">
              <a:buFont typeface="Arial" pitchFamily="34" charset="0"/>
              <a:buChar char="•"/>
            </a:pPr>
            <a:r>
              <a:rPr lang="en-AU" sz="1400" baseline="0" dirty="0" smtClean="0"/>
              <a:t>Credit transfer, pathways and recognition of prior learning </a:t>
            </a:r>
            <a:endParaRPr lang="en-AU" sz="1400" dirty="0" smtClean="0"/>
          </a:p>
          <a:p>
            <a:pPr lvl="0"/>
            <a:endParaRPr lang="en-AU" dirty="0" smtClean="0"/>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6</a:t>
            </a:fld>
            <a:endParaRPr lang="en-AU"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How entries and listed and what to expect in the printed Guide? </a:t>
            </a:r>
          </a:p>
          <a:p>
            <a:r>
              <a:rPr lang="en-AU" sz="1200" dirty="0" smtClean="0"/>
              <a:t>Course listings in printed Guide, detail online. </a:t>
            </a:r>
          </a:p>
          <a:p>
            <a:r>
              <a:rPr lang="en-AU" sz="1200" dirty="0" smtClean="0"/>
              <a:t>Institutions and their courses are listed in strict alphabetical order</a:t>
            </a:r>
          </a:p>
          <a:p>
            <a:r>
              <a:rPr lang="en-AU" sz="1200" dirty="0" smtClean="0"/>
              <a:t>The listings in the printed Guide include an indicator for prerequisites</a:t>
            </a:r>
            <a:r>
              <a:rPr lang="en-AU" sz="1200" baseline="0" dirty="0" smtClean="0"/>
              <a:t> and extra requirements. In some cases, the extra requirements will only apply to non-year 12 applicants. </a:t>
            </a:r>
          </a:p>
          <a:p>
            <a:endParaRPr lang="en-AU" sz="1200" dirty="0" smtClean="0"/>
          </a:p>
          <a:p>
            <a:r>
              <a:rPr lang="en-AU" sz="1200" b="1" dirty="0" smtClean="0"/>
              <a:t>The application status: </a:t>
            </a:r>
          </a:p>
          <a:p>
            <a:r>
              <a:rPr lang="en-AU" sz="1200" dirty="0" smtClean="0"/>
              <a:t>Courses through VTAC have a VTAC course code to indicate fee type and selection data (will be in a separate index)</a:t>
            </a:r>
          </a:p>
          <a:p>
            <a:r>
              <a:rPr lang="en-AU" sz="1200" dirty="0" smtClean="0"/>
              <a:t>Courses via direct applications have an indicator type - no course code. </a:t>
            </a:r>
            <a:endParaRPr lang="en-AU" sz="1200" kern="1200" dirty="0" smtClean="0">
              <a:solidFill>
                <a:schemeClr val="tx1"/>
              </a:solidFill>
              <a:latin typeface="+mn-lt"/>
              <a:ea typeface="+mn-ea"/>
              <a:cs typeface="+mn-cs"/>
            </a:endParaRPr>
          </a:p>
          <a:p>
            <a:endParaRPr lang="en-AU" dirty="0" smtClean="0"/>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7</a:t>
            </a:fld>
            <a:endParaRPr lang="en-AU"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600" dirty="0" smtClean="0"/>
              <a:t>In this section we are going to go through how to read a course entry and more importantly how to understand a course entry. </a:t>
            </a:r>
            <a:endParaRPr lang="en-AU" sz="1600"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8</a:t>
            </a:fld>
            <a:endParaRPr lang="en-AU"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r>
              <a:rPr lang="en-AU" b="1" dirty="0" smtClean="0">
                <a:solidFill>
                  <a:srgbClr val="C00000"/>
                </a:solidFill>
              </a:rPr>
              <a:t>VET stands for Vocational Education and Training. </a:t>
            </a:r>
          </a:p>
          <a:p>
            <a:r>
              <a:rPr lang="en-AU" b="1" dirty="0" smtClean="0">
                <a:solidFill>
                  <a:srgbClr val="C00000"/>
                </a:solidFill>
              </a:rPr>
              <a:t>VET courses provide </a:t>
            </a:r>
            <a:r>
              <a:rPr lang="en-AU" dirty="0" smtClean="0"/>
              <a:t>professional and semi-professional qualifications with an emphasis on practical skills and vocational pathways to further training, higher education or employment. </a:t>
            </a:r>
          </a:p>
          <a:p>
            <a:r>
              <a:rPr lang="en-AU" dirty="0" smtClean="0"/>
              <a:t>VET courses are generally offered by private providers and TAFEs. </a:t>
            </a:r>
          </a:p>
          <a:p>
            <a:r>
              <a:rPr lang="en-AU" dirty="0" smtClean="0"/>
              <a:t>The qualifications included in the VTAC Guide start at Certificate II and go up to the Advanced Diploma. </a:t>
            </a:r>
          </a:p>
          <a:p>
            <a:r>
              <a:rPr lang="en-AU" dirty="0" smtClean="0"/>
              <a:t>A number of TAFE institutes also offer higher education courses - </a:t>
            </a:r>
          </a:p>
          <a:p>
            <a:endParaRPr lang="en-AU" dirty="0" smtClean="0"/>
          </a:p>
          <a:p>
            <a:r>
              <a:rPr lang="en-AU" b="1" dirty="0" smtClean="0">
                <a:solidFill>
                  <a:srgbClr val="C00000"/>
                </a:solidFill>
              </a:rPr>
              <a:t>There are three types of higher education courses listed with VTAC: </a:t>
            </a:r>
            <a:r>
              <a:rPr lang="en-AU" dirty="0" smtClean="0"/>
              <a:t/>
            </a:r>
            <a:br>
              <a:rPr lang="en-AU" dirty="0" smtClean="0"/>
            </a:br>
            <a:r>
              <a:rPr lang="en-AU" b="1" dirty="0" smtClean="0"/>
              <a:t>Undergraduate:</a:t>
            </a:r>
            <a:r>
              <a:rPr lang="en-AU" dirty="0" smtClean="0"/>
              <a:t> The majority of higher education courses with applications through VTAC are bachelor degrees and a few associate degrees. </a:t>
            </a:r>
          </a:p>
          <a:p>
            <a:r>
              <a:rPr lang="en-AU" dirty="0" smtClean="0"/>
              <a:t>The remaining two levels are not relevant to year 12 students but may be of interest for planning: </a:t>
            </a:r>
          </a:p>
          <a:p>
            <a:r>
              <a:rPr lang="en-AU" b="1" dirty="0" smtClean="0"/>
              <a:t>Graduate entry teaching </a:t>
            </a:r>
            <a:r>
              <a:rPr lang="en-AU" dirty="0" smtClean="0"/>
              <a:t>which is not relevant to year 12 students require an undergraduate qualification, such as a degree, as a prerequisite. </a:t>
            </a:r>
          </a:p>
          <a:p>
            <a:r>
              <a:rPr lang="en-AU" b="1" dirty="0" smtClean="0"/>
              <a:t>Other graduate courses – </a:t>
            </a:r>
            <a:r>
              <a:rPr lang="en-AU" dirty="0" smtClean="0"/>
              <a:t>which are not relevant to year 12 students </a:t>
            </a:r>
          </a:p>
          <a:p>
            <a:r>
              <a:rPr lang="en-AU" dirty="0" smtClean="0"/>
              <a:t>require an undergraduate or VET qualification and/or relevant work experience as a prerequisite. These courses are included in this guide with the above coloured banner. </a:t>
            </a:r>
            <a:endParaRPr lang="en-AU" b="1" dirty="0" smtClean="0"/>
          </a:p>
          <a:p>
            <a:endParaRPr lang="en-AU" sz="1100" dirty="0" smtClean="0"/>
          </a:p>
          <a:p>
            <a:endParaRPr lang="en-AU" dirty="0" smtClean="0"/>
          </a:p>
          <a:p>
            <a:endParaRPr lang="en-AU" dirty="0"/>
          </a:p>
        </p:txBody>
      </p:sp>
      <p:sp>
        <p:nvSpPr>
          <p:cNvPr id="4" name="Slide Number Placeholder 3"/>
          <p:cNvSpPr>
            <a:spLocks noGrp="1"/>
          </p:cNvSpPr>
          <p:nvPr>
            <p:ph type="sldNum" sz="quarter" idx="10"/>
          </p:nvPr>
        </p:nvSpPr>
        <p:spPr/>
        <p:txBody>
          <a:bodyPr/>
          <a:lstStyle/>
          <a:p>
            <a:fld id="{65EE676F-7762-4BB4-A496-A24276F414EE}" type="slidenum">
              <a:rPr lang="en-AU" smtClean="0"/>
              <a:pPr/>
              <a:t>9</a:t>
            </a:fld>
            <a:endParaRPr lang="en-AU"/>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400" dirty="0" smtClean="0"/>
              <a:t>All courses are</a:t>
            </a:r>
            <a:r>
              <a:rPr lang="en-AU" sz="1400" baseline="0" dirty="0" smtClean="0"/>
              <a:t> now integrated there are no separate sections for GET courses so you need to be aware of this. Colour coding, prerequisites and courses codes are key to getting it right. With that said no year 12 student will be permitted to apply for a graduate course. </a:t>
            </a:r>
            <a:endParaRPr lang="en-AU" sz="1400" dirty="0" smtClean="0"/>
          </a:p>
        </p:txBody>
      </p:sp>
      <p:sp>
        <p:nvSpPr>
          <p:cNvPr id="4" name="Slide Number Placeholder 3"/>
          <p:cNvSpPr>
            <a:spLocks noGrp="1"/>
          </p:cNvSpPr>
          <p:nvPr>
            <p:ph type="sldNum" sz="quarter" idx="10"/>
          </p:nvPr>
        </p:nvSpPr>
        <p:spPr/>
        <p:txBody>
          <a:bodyPr/>
          <a:lstStyle/>
          <a:p>
            <a:fld id="{AAE8AB14-6946-4D8C-A22F-C59B5B0586EC}" type="slidenum">
              <a:rPr lang="en-AU" smtClean="0"/>
              <a:pPr/>
              <a:t>10</a:t>
            </a:fld>
            <a:endParaRPr lang="en-AU"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332656" y="4343400"/>
            <a:ext cx="6192688" cy="4477072"/>
          </a:xfrm>
        </p:spPr>
        <p:txBody>
          <a:bodyPr>
            <a:noAutofit/>
          </a:bodyPr>
          <a:lstStyle/>
          <a:p>
            <a:r>
              <a:rPr lang="en-AU" b="1" kern="1200" baseline="0" dirty="0" smtClean="0">
                <a:solidFill>
                  <a:schemeClr val="tx1"/>
                </a:solidFill>
                <a:latin typeface="+mn-lt"/>
                <a:ea typeface="+mn-ea"/>
                <a:cs typeface="+mn-cs"/>
              </a:rPr>
              <a:t>About the course</a:t>
            </a:r>
            <a:r>
              <a:rPr lang="en-AU" kern="1200" baseline="0" dirty="0" smtClean="0">
                <a:solidFill>
                  <a:schemeClr val="tx1"/>
                </a:solidFill>
                <a:latin typeface="+mn-lt"/>
                <a:ea typeface="+mn-ea"/>
                <a:cs typeface="+mn-cs"/>
              </a:rPr>
              <a:t>: A brief description of the course, including how the course is structured and the components that make up the course (e.g. academic units, field work and industry placements). </a:t>
            </a:r>
          </a:p>
          <a:p>
            <a:endParaRPr lang="en-AU" b="1" kern="1200" baseline="0" dirty="0" smtClean="0">
              <a:solidFill>
                <a:schemeClr val="tx1"/>
              </a:solidFill>
              <a:latin typeface="+mn-lt"/>
              <a:ea typeface="+mn-ea"/>
              <a:cs typeface="+mn-cs"/>
            </a:endParaRPr>
          </a:p>
          <a:p>
            <a:r>
              <a:rPr lang="en-AU" b="1" kern="1200" baseline="0" dirty="0" smtClean="0">
                <a:solidFill>
                  <a:schemeClr val="tx1"/>
                </a:solidFill>
                <a:latin typeface="+mn-lt"/>
                <a:ea typeface="+mn-ea"/>
                <a:cs typeface="+mn-cs"/>
              </a:rPr>
              <a:t>Major studies</a:t>
            </a:r>
            <a:r>
              <a:rPr lang="en-AU" dirty="0" smtClean="0"/>
              <a:t>: Studies or areas of study that can be taken across all years and form a major component of the course.  Majors </a:t>
            </a:r>
            <a:r>
              <a:rPr lang="en-AU" kern="1200" baseline="0" dirty="0" smtClean="0">
                <a:solidFill>
                  <a:schemeClr val="tx1"/>
                </a:solidFill>
                <a:latin typeface="+mn-lt"/>
                <a:ea typeface="+mn-ea"/>
                <a:cs typeface="+mn-cs"/>
              </a:rPr>
              <a:t>are</a:t>
            </a:r>
            <a:r>
              <a:rPr lang="en-AU" kern="1200" dirty="0" smtClean="0">
                <a:solidFill>
                  <a:schemeClr val="tx1"/>
                </a:solidFill>
                <a:latin typeface="+mn-lt"/>
                <a:ea typeface="+mn-ea"/>
                <a:cs typeface="+mn-cs"/>
              </a:rPr>
              <a:t> not </a:t>
            </a:r>
            <a:r>
              <a:rPr lang="en-AU" kern="1200" baseline="0" dirty="0" smtClean="0">
                <a:solidFill>
                  <a:schemeClr val="tx1"/>
                </a:solidFill>
                <a:latin typeface="+mn-lt"/>
                <a:ea typeface="+mn-ea"/>
                <a:cs typeface="+mn-cs"/>
              </a:rPr>
              <a:t> included in the print course </a:t>
            </a:r>
            <a:r>
              <a:rPr lang="en-AU" dirty="0" smtClean="0"/>
              <a:t>entry, but are included in the printed Majors Index. You can sort on a major in VTAC CourseLink and are included in the online course entry. </a:t>
            </a:r>
          </a:p>
          <a:p>
            <a:endParaRPr lang="en-AU" b="1" kern="1200" baseline="0" dirty="0" smtClean="0">
              <a:solidFill>
                <a:schemeClr val="tx1"/>
              </a:solidFill>
              <a:latin typeface="+mn-lt"/>
              <a:ea typeface="+mn-ea"/>
              <a:cs typeface="+mn-cs"/>
            </a:endParaRPr>
          </a:p>
          <a:p>
            <a:r>
              <a:rPr lang="en-AU" b="1" kern="1200" baseline="0" dirty="0" smtClean="0">
                <a:solidFill>
                  <a:schemeClr val="tx1"/>
                </a:solidFill>
                <a:latin typeface="+mn-lt"/>
                <a:ea typeface="+mn-ea"/>
                <a:cs typeface="+mn-cs"/>
              </a:rPr>
              <a:t>Prerequisites</a:t>
            </a:r>
            <a:r>
              <a:rPr lang="en-AU" kern="1200" baseline="0" dirty="0" smtClean="0">
                <a:solidFill>
                  <a:schemeClr val="tx1"/>
                </a:solidFill>
                <a:latin typeface="+mn-lt"/>
                <a:ea typeface="+mn-ea"/>
                <a:cs typeface="+mn-cs"/>
              </a:rPr>
              <a:t>: VCE studies or specific skills you must have to be eligible for the course. </a:t>
            </a:r>
          </a:p>
          <a:p>
            <a:endParaRPr lang="en-AU" b="1" kern="1200" baseline="0" dirty="0" smtClean="0">
              <a:solidFill>
                <a:schemeClr val="tx1"/>
              </a:solidFill>
              <a:latin typeface="+mn-lt"/>
              <a:ea typeface="+mn-ea"/>
              <a:cs typeface="+mn-cs"/>
            </a:endParaRPr>
          </a:p>
          <a:p>
            <a:r>
              <a:rPr lang="en-AU" b="1" kern="1200" baseline="0" dirty="0" smtClean="0">
                <a:solidFill>
                  <a:schemeClr val="tx1"/>
                </a:solidFill>
                <a:latin typeface="+mn-lt"/>
                <a:ea typeface="+mn-ea"/>
                <a:cs typeface="+mn-cs"/>
              </a:rPr>
              <a:t>Selection mode</a:t>
            </a:r>
            <a:r>
              <a:rPr lang="en-AU" kern="1200" baseline="0" dirty="0" smtClean="0">
                <a:solidFill>
                  <a:schemeClr val="tx1"/>
                </a:solidFill>
                <a:latin typeface="+mn-lt"/>
                <a:ea typeface="+mn-ea"/>
                <a:cs typeface="+mn-cs"/>
              </a:rPr>
              <a:t>: All the ways used by selection officers to select students for the course. </a:t>
            </a:r>
            <a:r>
              <a:rPr lang="en-AU" kern="1200" dirty="0" smtClean="0">
                <a:solidFill>
                  <a:schemeClr val="tx1"/>
                </a:solidFill>
                <a:latin typeface="+mn-lt"/>
                <a:ea typeface="+mn-ea"/>
                <a:cs typeface="+mn-cs"/>
              </a:rPr>
              <a:t> </a:t>
            </a:r>
            <a:r>
              <a:rPr lang="en-AU" dirty="0" smtClean="0"/>
              <a:t>The mode is broken down into </a:t>
            </a:r>
            <a:r>
              <a:rPr lang="en-AU" b="1" i="1" dirty="0" smtClean="0"/>
              <a:t>current year 12 and non-year 12</a:t>
            </a:r>
            <a:r>
              <a:rPr lang="en-AU" dirty="0" smtClean="0"/>
              <a:t>. Always read the extra requirements.  </a:t>
            </a:r>
            <a:endParaRPr lang="en-AU" kern="1200" baseline="0" dirty="0" smtClean="0">
              <a:solidFill>
                <a:schemeClr val="tx1"/>
              </a:solidFill>
              <a:latin typeface="+mn-lt"/>
              <a:ea typeface="+mn-ea"/>
              <a:cs typeface="+mn-cs"/>
            </a:endParaRPr>
          </a:p>
          <a:p>
            <a:endParaRPr lang="en-AU" b="1" kern="1200" baseline="0" dirty="0" smtClean="0">
              <a:solidFill>
                <a:schemeClr val="tx1"/>
              </a:solidFill>
              <a:latin typeface="+mn-lt"/>
              <a:ea typeface="+mn-ea"/>
              <a:cs typeface="+mn-cs"/>
            </a:endParaRPr>
          </a:p>
          <a:p>
            <a:r>
              <a:rPr lang="en-AU" b="1" kern="1200" baseline="0" dirty="0" smtClean="0">
                <a:solidFill>
                  <a:schemeClr val="tx1"/>
                </a:solidFill>
                <a:latin typeface="+mn-lt"/>
                <a:ea typeface="+mn-ea"/>
                <a:cs typeface="+mn-cs"/>
              </a:rPr>
              <a:t>Middle-band:</a:t>
            </a:r>
            <a:r>
              <a:rPr lang="en-AU" kern="1200" baseline="0" dirty="0" smtClean="0">
                <a:solidFill>
                  <a:schemeClr val="tx1"/>
                </a:solidFill>
                <a:latin typeface="+mn-lt"/>
                <a:ea typeface="+mn-ea"/>
                <a:cs typeface="+mn-cs"/>
              </a:rPr>
              <a:t> Additional factors considered for selection. Middle-band factors are considered for approximately 20% of places, after the ‘clearly-in’ applicants have been established based on their ATAR alone. </a:t>
            </a:r>
          </a:p>
          <a:p>
            <a:endParaRPr lang="en-AU" kern="1200" baseline="0" dirty="0" smtClean="0">
              <a:solidFill>
                <a:schemeClr val="tx1"/>
              </a:solidFill>
              <a:latin typeface="+mn-lt"/>
              <a:ea typeface="+mn-ea"/>
              <a:cs typeface="+mn-cs"/>
            </a:endParaRPr>
          </a:p>
          <a:p>
            <a:r>
              <a:rPr lang="en-AU" b="1" kern="1200" baseline="0" dirty="0" smtClean="0">
                <a:solidFill>
                  <a:schemeClr val="tx1"/>
                </a:solidFill>
                <a:latin typeface="+mn-lt"/>
                <a:ea typeface="+mn-ea"/>
                <a:cs typeface="+mn-cs"/>
              </a:rPr>
              <a:t>Extra requirements</a:t>
            </a:r>
            <a:r>
              <a:rPr lang="en-AU" kern="1200" baseline="0" dirty="0" smtClean="0">
                <a:solidFill>
                  <a:schemeClr val="tx1"/>
                </a:solidFill>
                <a:latin typeface="+mn-lt"/>
                <a:ea typeface="+mn-ea"/>
                <a:cs typeface="+mn-cs"/>
              </a:rPr>
              <a:t>: The things you must do</a:t>
            </a:r>
            <a:r>
              <a:rPr lang="en-AU" kern="1200" dirty="0" smtClean="0">
                <a:solidFill>
                  <a:schemeClr val="tx1"/>
                </a:solidFill>
                <a:latin typeface="+mn-lt"/>
                <a:ea typeface="+mn-ea"/>
                <a:cs typeface="+mn-cs"/>
              </a:rPr>
              <a:t> if CY12 and All applicants is listed– if you don’t do these you won’t be considered. </a:t>
            </a:r>
            <a:r>
              <a:rPr lang="en-AU" dirty="0" smtClean="0"/>
              <a:t>‘S</a:t>
            </a:r>
            <a:r>
              <a:rPr lang="en-AU" kern="1200" baseline="0" dirty="0" smtClean="0">
                <a:solidFill>
                  <a:schemeClr val="tx1"/>
                </a:solidFill>
                <a:latin typeface="+mn-lt"/>
                <a:ea typeface="+mn-ea"/>
                <a:cs typeface="+mn-cs"/>
              </a:rPr>
              <a:t>ome applicants only’ means you must read the instructions carefully to find out if the requirement applies to you. </a:t>
            </a:r>
          </a:p>
          <a:p>
            <a:endParaRPr lang="en-AU" kern="1200" baseline="0" dirty="0" smtClean="0">
              <a:solidFill>
                <a:schemeClr val="tx1"/>
              </a:solidFill>
              <a:latin typeface="+mn-lt"/>
              <a:ea typeface="+mn-ea"/>
              <a:cs typeface="+mn-cs"/>
            </a:endParaRPr>
          </a:p>
          <a:p>
            <a:r>
              <a:rPr lang="en-AU" b="1" kern="1200" baseline="0" dirty="0" smtClean="0">
                <a:solidFill>
                  <a:schemeClr val="tx1"/>
                </a:solidFill>
                <a:latin typeface="+mn-lt"/>
                <a:ea typeface="+mn-ea"/>
                <a:cs typeface="+mn-cs"/>
              </a:rPr>
              <a:t>Additional information</a:t>
            </a:r>
            <a:r>
              <a:rPr lang="en-AU" kern="1200" baseline="0" dirty="0" smtClean="0">
                <a:solidFill>
                  <a:schemeClr val="tx1"/>
                </a:solidFill>
                <a:latin typeface="+mn-lt"/>
                <a:ea typeface="+mn-ea"/>
                <a:cs typeface="+mn-cs"/>
              </a:rPr>
              <a:t>: Important information to assist potential applicants (e.g. non-compulsory information sessions and any special conditions). </a:t>
            </a:r>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12</a:t>
            </a:fld>
            <a:endParaRPr lang="en-AU"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13</a:t>
            </a:fld>
            <a:endParaRPr lang="en-AU"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14</a:t>
            </a:fld>
            <a:endParaRPr lang="en-AU"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15</a:t>
            </a:fld>
            <a:endParaRPr lang="en-AU"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This screen is a visual overview of the application process. We will discuss the process in greater depth in upcoming slides, it is more for your information. </a:t>
            </a:r>
          </a:p>
          <a:p>
            <a:endParaRPr lang="en-AU" dirty="0" smtClean="0"/>
          </a:p>
        </p:txBody>
      </p:sp>
      <p:sp>
        <p:nvSpPr>
          <p:cNvPr id="4" name="Slide Number Placeholder 3"/>
          <p:cNvSpPr>
            <a:spLocks noGrp="1"/>
          </p:cNvSpPr>
          <p:nvPr>
            <p:ph type="sldNum" sz="quarter" idx="10"/>
          </p:nvPr>
        </p:nvSpPr>
        <p:spPr/>
        <p:txBody>
          <a:bodyPr/>
          <a:lstStyle/>
          <a:p>
            <a:fld id="{AAE8AB14-6946-4D8C-A22F-C59B5B0586EC}" type="slidenum">
              <a:rPr lang="en-AU" smtClean="0"/>
              <a:pPr/>
              <a:t>16</a:t>
            </a:fld>
            <a:endParaRPr lang="en-AU"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When a course indicates that it is a direct application. Then the applicant deals directly with the institution and not VTAC. </a:t>
            </a:r>
          </a:p>
          <a:p>
            <a:r>
              <a:rPr lang="en-AU" dirty="0" smtClean="0"/>
              <a:t>VTAC is simply a tool to advise applicants of what else is available and does not have any input into the direct process. </a:t>
            </a:r>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17</a:t>
            </a:fld>
            <a:endParaRPr lang="en-AU"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latin typeface="+mn-lt"/>
                <a:ea typeface="+mn-ea"/>
                <a:cs typeface="+mn-cs"/>
              </a:rPr>
              <a:t>The registration</a:t>
            </a:r>
            <a:r>
              <a:rPr lang="en-AU" sz="1200" b="1" kern="1200" baseline="0" dirty="0" smtClean="0">
                <a:solidFill>
                  <a:schemeClr val="tx1"/>
                </a:solidFill>
                <a:latin typeface="+mn-lt"/>
                <a:ea typeface="+mn-ea"/>
                <a:cs typeface="+mn-cs"/>
              </a:rPr>
              <a:t> process</a:t>
            </a:r>
          </a:p>
          <a:p>
            <a:endParaRPr lang="en-AU" sz="1200" kern="1200" baseline="0" dirty="0" smtClean="0">
              <a:solidFill>
                <a:schemeClr val="tx1"/>
              </a:solidFill>
              <a:latin typeface="+mn-lt"/>
              <a:ea typeface="+mn-ea"/>
              <a:cs typeface="+mn-cs"/>
            </a:endParaRPr>
          </a:p>
          <a:p>
            <a:r>
              <a:rPr lang="en-AU" dirty="0" smtClean="0"/>
              <a:t>Before they can apply, they need a VTAC ID (identification) and PIN (personal identification number). </a:t>
            </a:r>
          </a:p>
          <a:p>
            <a:r>
              <a:rPr lang="en-AU" dirty="0" smtClean="0"/>
              <a:t> </a:t>
            </a:r>
          </a:p>
          <a:p>
            <a:r>
              <a:rPr lang="en-AU" dirty="0" smtClean="0"/>
              <a:t>To receive their VTAC ID and PIN, they must register with VTAC. </a:t>
            </a:r>
          </a:p>
          <a:p>
            <a:r>
              <a:rPr lang="en-AU" dirty="0" smtClean="0"/>
              <a:t>Once they register, their user account will remain active until the last business day of July 2013. </a:t>
            </a:r>
          </a:p>
          <a:p>
            <a:endParaRPr lang="en-AU" sz="1200" kern="1200" dirty="0" smtClean="0">
              <a:solidFill>
                <a:schemeClr val="tx1"/>
              </a:solidFill>
              <a:latin typeface="+mn-lt"/>
              <a:ea typeface="+mn-ea"/>
              <a:cs typeface="+mn-cs"/>
            </a:endParaRPr>
          </a:p>
          <a:p>
            <a:r>
              <a:rPr lang="en-AU" dirty="0" smtClean="0"/>
              <a:t>When you register for a VTAC user account, VTAC categorises you as either a: </a:t>
            </a:r>
          </a:p>
          <a:p>
            <a:r>
              <a:rPr lang="en-AU" dirty="0" smtClean="0"/>
              <a:t>• current Year 12 student, or </a:t>
            </a:r>
          </a:p>
          <a:p>
            <a:r>
              <a:rPr lang="en-AU" dirty="0" smtClean="0"/>
              <a:t>• non-Year 12 applicant. </a:t>
            </a:r>
          </a:p>
          <a:p>
            <a:endParaRPr lang="en-AU" dirty="0" smtClean="0"/>
          </a:p>
          <a:p>
            <a:r>
              <a:rPr lang="en-AU" dirty="0" smtClean="0"/>
              <a:t>The program does this based on the information that the application provides. It is important to answer all the questions accurately. </a:t>
            </a:r>
          </a:p>
          <a:p>
            <a:endParaRPr lang="en-AU" dirty="0" smtClean="0"/>
          </a:p>
          <a:p>
            <a:r>
              <a:rPr lang="en-AU" dirty="0" smtClean="0"/>
              <a:t>The reason for the difference is that institutions sometimes use different selection criteria for current Year 12 students and non-Year 12 applicants. </a:t>
            </a:r>
          </a:p>
          <a:p>
            <a:r>
              <a:rPr lang="en-AU" dirty="0" smtClean="0"/>
              <a:t>A demonstration of the registration process is available from the VTAC website. </a:t>
            </a:r>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18</a:t>
            </a:fld>
            <a:endParaRPr lang="en-AU"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VTAC considers applicants to</a:t>
            </a:r>
            <a:r>
              <a:rPr lang="en-AU" sz="1200" kern="1200" baseline="0" dirty="0" smtClean="0">
                <a:solidFill>
                  <a:schemeClr val="tx1"/>
                </a:solidFill>
                <a:latin typeface="+mn-lt"/>
                <a:ea typeface="+mn-ea"/>
                <a:cs typeface="+mn-cs"/>
              </a:rPr>
              <a:t> be a</a:t>
            </a:r>
            <a:r>
              <a:rPr lang="en-AU" sz="1200" kern="1200" dirty="0" smtClean="0">
                <a:solidFill>
                  <a:schemeClr val="tx1"/>
                </a:solidFill>
                <a:latin typeface="+mn-lt"/>
                <a:ea typeface="+mn-ea"/>
                <a:cs typeface="+mn-cs"/>
              </a:rPr>
              <a:t> current Year 12 student if: </a:t>
            </a:r>
          </a:p>
          <a:p>
            <a:pPr>
              <a:buFont typeface="Arial" pitchFamily="34" charset="0"/>
              <a:buChar char="•"/>
            </a:pPr>
            <a:r>
              <a:rPr lang="en-AU" sz="1200" kern="1200" dirty="0" smtClean="0">
                <a:solidFill>
                  <a:schemeClr val="tx1"/>
                </a:solidFill>
                <a:latin typeface="+mn-lt"/>
                <a:ea typeface="+mn-ea"/>
                <a:cs typeface="+mn-cs"/>
              </a:rPr>
              <a:t>they are currently studying VCE (or Adult VCE) </a:t>
            </a:r>
          </a:p>
          <a:p>
            <a:pPr>
              <a:buFont typeface="Arial" pitchFamily="34" charset="0"/>
              <a:buChar char="•"/>
            </a:pPr>
            <a:r>
              <a:rPr lang="en-AU" sz="1200" kern="1200" dirty="0" smtClean="0">
                <a:solidFill>
                  <a:schemeClr val="tx1"/>
                </a:solidFill>
                <a:latin typeface="+mn-lt"/>
                <a:ea typeface="+mn-ea"/>
                <a:cs typeface="+mn-cs"/>
              </a:rPr>
              <a:t>they are enrolled in at least one Unit 1 and 2 VCE study sequence </a:t>
            </a:r>
          </a:p>
          <a:p>
            <a:pPr>
              <a:buFont typeface="Arial" pitchFamily="34" charset="0"/>
              <a:buChar char="•"/>
            </a:pPr>
            <a:r>
              <a:rPr lang="en-AU" sz="1200" kern="1200" dirty="0" smtClean="0">
                <a:solidFill>
                  <a:schemeClr val="tx1"/>
                </a:solidFill>
                <a:latin typeface="+mn-lt"/>
                <a:ea typeface="+mn-ea"/>
                <a:cs typeface="+mn-cs"/>
              </a:rPr>
              <a:t> they were enrolled in at least one Unit 3 and 4 VCE study sequence and did not officially withdraw by Monday 30 April 2012</a:t>
            </a:r>
          </a:p>
          <a:p>
            <a:r>
              <a:rPr lang="en-AU" sz="1200" kern="1200" dirty="0" smtClean="0">
                <a:solidFill>
                  <a:schemeClr val="tx1"/>
                </a:solidFill>
                <a:latin typeface="+mn-lt"/>
                <a:ea typeface="+mn-ea"/>
                <a:cs typeface="+mn-cs"/>
              </a:rPr>
              <a:t> </a:t>
            </a:r>
          </a:p>
          <a:p>
            <a:r>
              <a:rPr lang="en-AU" sz="1200" kern="1200" dirty="0" smtClean="0">
                <a:solidFill>
                  <a:schemeClr val="tx1"/>
                </a:solidFill>
                <a:latin typeface="+mn-lt"/>
                <a:ea typeface="+mn-ea"/>
                <a:cs typeface="+mn-cs"/>
              </a:rPr>
              <a:t>The following groups are also considered current year 12 students: </a:t>
            </a:r>
          </a:p>
          <a:p>
            <a:pPr>
              <a:buFont typeface="Arial" pitchFamily="34" charset="0"/>
              <a:buChar char="•"/>
            </a:pPr>
            <a:r>
              <a:rPr lang="en-AU" sz="1200" kern="1200" dirty="0" smtClean="0">
                <a:solidFill>
                  <a:schemeClr val="tx1"/>
                </a:solidFill>
                <a:latin typeface="+mn-lt"/>
                <a:ea typeface="+mn-ea"/>
                <a:cs typeface="+mn-cs"/>
              </a:rPr>
              <a:t>studying Senior Level VCAL</a:t>
            </a:r>
          </a:p>
          <a:p>
            <a:pPr>
              <a:buFont typeface="Arial" pitchFamily="34" charset="0"/>
              <a:buChar char="•"/>
            </a:pPr>
            <a:r>
              <a:rPr lang="en-AU" sz="1200" kern="1200" dirty="0" smtClean="0">
                <a:solidFill>
                  <a:schemeClr val="tx1"/>
                </a:solidFill>
                <a:latin typeface="+mn-lt"/>
                <a:ea typeface="+mn-ea"/>
                <a:cs typeface="+mn-cs"/>
              </a:rPr>
              <a:t>interstate Australian Year 12 (e.g. HSC, NTCE,   QLD Senior Certificate, SACE, TCE, WACE) </a:t>
            </a:r>
          </a:p>
          <a:p>
            <a:pPr>
              <a:buFont typeface="Arial" pitchFamily="34" charset="0"/>
              <a:buChar char="•"/>
            </a:pPr>
            <a:r>
              <a:rPr lang="en-AU" sz="1200" kern="1200" dirty="0" smtClean="0">
                <a:solidFill>
                  <a:schemeClr val="tx1"/>
                </a:solidFill>
                <a:latin typeface="+mn-lt"/>
                <a:ea typeface="+mn-ea"/>
                <a:cs typeface="+mn-cs"/>
              </a:rPr>
              <a:t>studying International Baccalaureate (IB) in Australia or New Zealand.</a:t>
            </a:r>
          </a:p>
          <a:p>
            <a:r>
              <a:rPr lang="en-AU" sz="1200" kern="1200" dirty="0" smtClean="0">
                <a:solidFill>
                  <a:schemeClr val="tx1"/>
                </a:solidFill>
                <a:latin typeface="+mn-lt"/>
                <a:ea typeface="+mn-ea"/>
                <a:cs typeface="+mn-cs"/>
              </a:rPr>
              <a:t> </a:t>
            </a:r>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19</a:t>
            </a:fld>
            <a:endParaRPr lang="en-AU"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To</a:t>
            </a:r>
            <a:r>
              <a:rPr lang="en-AU" baseline="0" dirty="0" smtClean="0"/>
              <a:t> check whether students have registered through VTAC you go into Student data and select a Year 12 student. There will be a </a:t>
            </a:r>
            <a:r>
              <a:rPr lang="en-AU" baseline="0" dirty="0" smtClean="0">
                <a:solidFill>
                  <a:srgbClr val="FF0000"/>
                </a:solidFill>
              </a:rPr>
              <a:t>Y</a:t>
            </a:r>
            <a:r>
              <a:rPr lang="en-AU" baseline="0" dirty="0" smtClean="0"/>
              <a:t> in the VTAC registered box if they have registered. Note here the student has registered and not applied as yet. Remember these are samples only</a:t>
            </a:r>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20</a:t>
            </a:fld>
            <a:endParaRPr lang="en-AU"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21</a:t>
            </a:fld>
            <a:endParaRPr lang="en-AU"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Once they have registered, they can log into the VTAC User Account and: </a:t>
            </a:r>
          </a:p>
          <a:p>
            <a:pPr>
              <a:buFont typeface="Arial" pitchFamily="34" charset="0"/>
              <a:buChar char="•"/>
            </a:pPr>
            <a:r>
              <a:rPr lang="en-AU" dirty="0" smtClean="0"/>
              <a:t>Apply for courses’</a:t>
            </a:r>
          </a:p>
          <a:p>
            <a:pPr>
              <a:buFont typeface="Arial" pitchFamily="34" charset="0"/>
              <a:buChar char="•"/>
            </a:pPr>
            <a:r>
              <a:rPr lang="en-AU" dirty="0" smtClean="0"/>
              <a:t>Apply for STAT/DULSAT (doesn’t apply to Year 12 students applying in Victoria)</a:t>
            </a:r>
          </a:p>
          <a:p>
            <a:pPr>
              <a:buFont typeface="Arial" pitchFamily="34" charset="0"/>
              <a:buChar char="•"/>
            </a:pPr>
            <a:r>
              <a:rPr lang="en-AU" dirty="0" smtClean="0"/>
              <a:t>Apply for Scholarships</a:t>
            </a:r>
          </a:p>
          <a:p>
            <a:endParaRPr lang="en-AU" dirty="0" smtClean="0"/>
          </a:p>
          <a:p>
            <a:r>
              <a:rPr lang="en-AU" dirty="0" smtClean="0"/>
              <a:t>Once the student has submitted their course application they can apply for SEAS, this does not appear in their user account until the course application has been submitted. </a:t>
            </a:r>
          </a:p>
          <a:p>
            <a:endParaRPr lang="en-AU" dirty="0" smtClean="0"/>
          </a:p>
          <a:p>
            <a:r>
              <a:rPr lang="en-AU" dirty="0" smtClean="0"/>
              <a:t>Always list the course preferences in the order you want to get into them. </a:t>
            </a:r>
          </a:p>
          <a:p>
            <a:r>
              <a:rPr lang="en-AU" dirty="0" smtClean="0"/>
              <a:t>The VTAC system is based on the assumption that if you list a course at number 1, then it is the course you most want to get into. </a:t>
            </a:r>
          </a:p>
          <a:p>
            <a:r>
              <a:rPr lang="en-AU" dirty="0" smtClean="0"/>
              <a:t>Never advise a student to list a course based on how easy it is perceived to get into that course. </a:t>
            </a:r>
          </a:p>
          <a:p>
            <a:endParaRPr lang="en-AU" dirty="0" smtClean="0"/>
          </a:p>
          <a:p>
            <a:r>
              <a:rPr lang="en-AU" dirty="0" smtClean="0"/>
              <a:t>If there are any details missing from their application, VTAC will also contact the student and send out reminders. These are sent to email accounts and  available in their User Account. All decisions about offers are made by course authorities at the institutions, not by VTAC.</a:t>
            </a:r>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22</a:t>
            </a:fld>
            <a:endParaRPr lang="en-AU"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The rules are quite strict here and all students should be aware of the issues</a:t>
            </a:r>
            <a:r>
              <a:rPr lang="en-AU" baseline="0" dirty="0" smtClean="0"/>
              <a:t> that will come with the second last dot point if payment not made by due date</a:t>
            </a:r>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23</a:t>
            </a:fld>
            <a:endParaRPr lang="en-AU"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By going into Student data selecting a year 12 student you can see the</a:t>
            </a:r>
            <a:r>
              <a:rPr lang="en-AU" baseline="0" dirty="0" smtClean="0"/>
              <a:t> range of preferences entered by individual students. Expand the heading to see the preferences and also a record of how many times and when the student has changed or updated their course listings. These listings are updated by 10.00 am daily (except weekends). </a:t>
            </a:r>
          </a:p>
          <a:p>
            <a:r>
              <a:rPr lang="en-AU" baseline="0" dirty="0" smtClean="0"/>
              <a:t>By going into School date you can see at a glance where the preferences are for all student who have entered them</a:t>
            </a:r>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24</a:t>
            </a:fld>
            <a:endParaRPr lang="en-AU"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By entering into School data you will see where all your students have entered preferences at this time of year of course</a:t>
            </a:r>
            <a:r>
              <a:rPr lang="en-AU" baseline="0" dirty="0" smtClean="0"/>
              <a:t> the list is empty</a:t>
            </a:r>
          </a:p>
          <a:p>
            <a:r>
              <a:rPr lang="en-AU" baseline="0" dirty="0" smtClean="0"/>
              <a:t>You can select by institution or by field of study to get a balance Once ewe have preferences it will be a more interesting screen</a:t>
            </a:r>
          </a:p>
          <a:p>
            <a:r>
              <a:rPr lang="en-AU" baseline="0" dirty="0" smtClean="0"/>
              <a:t>Later in the year at offer time you will see highlighted all the preferences offered to your students</a:t>
            </a:r>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25</a:t>
            </a:fld>
            <a:endParaRPr lang="en-AU"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26</a:t>
            </a:fld>
            <a:endParaRPr lang="en-AU"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27</a:t>
            </a:fld>
            <a:endParaRPr lang="en-AU"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28</a:t>
            </a:fld>
            <a:endParaRPr lang="en-AU"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200" kern="1200" dirty="0" smtClean="0">
                <a:solidFill>
                  <a:schemeClr val="tx1"/>
                </a:solidFill>
                <a:ea typeface="+mn-ea"/>
                <a:cs typeface="+mn-cs"/>
              </a:rPr>
              <a:t>The Special Entry Access Scheme (SEAS) is the umbrella program run by most institutions to which applicants will be applying for courses through VTAC. The Special Entry Access Scheme (SEAS) is for applicants who have experienced educational disadvantage.</a:t>
            </a:r>
            <a:endParaRPr lang="en-AU" sz="1200" kern="1200" dirty="0" smtClean="0">
              <a:solidFill>
                <a:schemeClr val="tx1"/>
              </a:solidFill>
              <a:ea typeface="+mn-ea"/>
              <a:cs typeface="+mn-cs"/>
            </a:endParaRPr>
          </a:p>
          <a:p>
            <a:r>
              <a:rPr lang="en-GB" sz="1200" kern="1200" dirty="0" smtClean="0">
                <a:solidFill>
                  <a:schemeClr val="tx1"/>
                </a:solidFill>
                <a:ea typeface="+mn-ea"/>
                <a:cs typeface="+mn-cs"/>
              </a:rPr>
              <a:t>  </a:t>
            </a:r>
            <a:endParaRPr lang="en-AU" sz="1200" kern="1200" dirty="0" smtClean="0">
              <a:solidFill>
                <a:schemeClr val="tx1"/>
              </a:solidFill>
              <a:ea typeface="+mn-ea"/>
              <a:cs typeface="+mn-cs"/>
            </a:endParaRPr>
          </a:p>
          <a:p>
            <a:r>
              <a:rPr lang="en-GB" sz="1200" kern="1200" dirty="0" smtClean="0">
                <a:solidFill>
                  <a:schemeClr val="tx1"/>
                </a:solidFill>
                <a:ea typeface="+mn-ea"/>
                <a:cs typeface="+mn-cs"/>
              </a:rPr>
              <a:t>The SEAS program allows selection officers to grant special consideration for course entry to applicants.</a:t>
            </a:r>
            <a:endParaRPr lang="en-AU" sz="1200" kern="1200" dirty="0" smtClean="0">
              <a:solidFill>
                <a:schemeClr val="tx1"/>
              </a:solidFill>
              <a:ea typeface="+mn-ea"/>
              <a:cs typeface="+mn-cs"/>
            </a:endParaRPr>
          </a:p>
          <a:p>
            <a:r>
              <a:rPr lang="en-GB" sz="1200" kern="1200" dirty="0" smtClean="0">
                <a:solidFill>
                  <a:schemeClr val="tx1"/>
                </a:solidFill>
                <a:ea typeface="+mn-ea"/>
                <a:cs typeface="+mn-cs"/>
              </a:rPr>
              <a:t>SEAS consideration will not exempt applicants from completing the extra requirements for a course. </a:t>
            </a:r>
            <a:endParaRPr lang="en-AU" sz="1200" kern="1200" dirty="0" smtClean="0">
              <a:solidFill>
                <a:schemeClr val="tx1"/>
              </a:solidFill>
              <a:ea typeface="+mn-ea"/>
              <a:cs typeface="+mn-cs"/>
            </a:endParaRPr>
          </a:p>
          <a:p>
            <a:r>
              <a:rPr lang="en-GB" sz="1200" kern="1200" dirty="0" smtClean="0">
                <a:solidFill>
                  <a:schemeClr val="tx1"/>
                </a:solidFill>
                <a:ea typeface="+mn-ea"/>
                <a:cs typeface="+mn-cs"/>
              </a:rPr>
              <a:t>Applicants must attend all interviews, sit any required tests, submit all required folios, and fill in all required forms, etc. </a:t>
            </a:r>
            <a:endParaRPr lang="en-AU" sz="1200" kern="1200" dirty="0" smtClean="0">
              <a:solidFill>
                <a:schemeClr val="tx1"/>
              </a:solidFill>
              <a:ea typeface="+mn-ea"/>
              <a:cs typeface="+mn-cs"/>
            </a:endParaRPr>
          </a:p>
          <a:p>
            <a:r>
              <a:rPr lang="en-GB" sz="1200" kern="1200" dirty="0" smtClean="0">
                <a:solidFill>
                  <a:schemeClr val="tx1"/>
                </a:solidFill>
                <a:ea typeface="+mn-ea"/>
                <a:cs typeface="+mn-cs"/>
              </a:rPr>
              <a:t>Courses with prerequisites Consideration of SEAS circumstances may be given to performance slightly below the stated minimum study score for a prerequisite. </a:t>
            </a:r>
            <a:endParaRPr lang="en-AU" sz="1200" kern="1200" dirty="0" smtClean="0">
              <a:solidFill>
                <a:schemeClr val="tx1"/>
              </a:solidFill>
              <a:ea typeface="+mn-ea"/>
              <a:cs typeface="+mn-cs"/>
            </a:endParaRPr>
          </a:p>
          <a:p>
            <a:r>
              <a:rPr lang="en-GB" sz="1200" kern="1200" dirty="0" smtClean="0">
                <a:solidFill>
                  <a:schemeClr val="tx1"/>
                </a:solidFill>
                <a:ea typeface="+mn-ea"/>
                <a:cs typeface="+mn-cs"/>
              </a:rPr>
              <a:t>Such consideration is determined by each institution in accordance with their selection policy. Applicants cannot be exempted from having to complete the prerequisite study.</a:t>
            </a:r>
            <a:endParaRPr lang="en-AU" sz="1200" kern="1200" dirty="0" smtClean="0">
              <a:solidFill>
                <a:schemeClr val="tx1"/>
              </a:solidFill>
              <a:ea typeface="+mn-ea"/>
              <a:cs typeface="+mn-cs"/>
            </a:endParaRPr>
          </a:p>
          <a:p>
            <a:endParaRPr lang="en-GB" sz="1200" b="1" kern="1200" dirty="0" smtClean="0">
              <a:solidFill>
                <a:schemeClr val="tx1"/>
              </a:solidFill>
              <a:latin typeface="+mn-lt"/>
              <a:ea typeface="+mn-ea"/>
              <a:cs typeface="+mn-cs"/>
            </a:endParaRPr>
          </a:p>
          <a:p>
            <a:endParaRPr lang="en-GB" b="1" dirty="0" smtClean="0"/>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29</a:t>
            </a:fld>
            <a:endParaRPr lang="en-AU"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800" dirty="0" smtClean="0"/>
              <a:t>You can find SEAS on our website under: </a:t>
            </a:r>
            <a:r>
              <a:rPr lang="en-GB" sz="1800" baseline="0" dirty="0" smtClean="0"/>
              <a:t> </a:t>
            </a:r>
            <a:r>
              <a:rPr lang="en-GB" sz="1800" b="1" dirty="0" smtClean="0"/>
              <a:t>Am I eligible </a:t>
            </a:r>
            <a:r>
              <a:rPr lang="en-GB" sz="1800" dirty="0" smtClean="0"/>
              <a:t>– </a:t>
            </a:r>
            <a:r>
              <a:rPr lang="en-GB" sz="1800" i="1" dirty="0" smtClean="0"/>
              <a:t>it is part of the eligibility process</a:t>
            </a:r>
            <a:r>
              <a:rPr lang="en-GB" sz="1800" dirty="0" smtClean="0"/>
              <a:t>. </a:t>
            </a:r>
          </a:p>
          <a:p>
            <a:endParaRPr lang="en-GB" sz="1800" dirty="0" smtClean="0"/>
          </a:p>
          <a:p>
            <a:r>
              <a:rPr lang="en-GB" sz="1800" dirty="0" smtClean="0"/>
              <a:t>It has also been cross referenced on our website under: </a:t>
            </a:r>
          </a:p>
          <a:p>
            <a:pPr lvl="1"/>
            <a:r>
              <a:rPr lang="en-GB" sz="1800" dirty="0" smtClean="0"/>
              <a:t>Special consideration </a:t>
            </a:r>
          </a:p>
          <a:p>
            <a:pPr lvl="1"/>
            <a:r>
              <a:rPr lang="en-GB" sz="1800" dirty="0" smtClean="0"/>
              <a:t>Mature age consideration </a:t>
            </a:r>
          </a:p>
          <a:p>
            <a:pPr lvl="1"/>
            <a:r>
              <a:rPr lang="en-GB" sz="1800" dirty="0" smtClean="0"/>
              <a:t>SEAS </a:t>
            </a:r>
          </a:p>
          <a:p>
            <a:endParaRPr lang="en-GB" sz="1200" dirty="0" smtClean="0"/>
          </a:p>
        </p:txBody>
      </p:sp>
      <p:sp>
        <p:nvSpPr>
          <p:cNvPr id="4" name="Slide Number Placeholder 3"/>
          <p:cNvSpPr>
            <a:spLocks noGrp="1"/>
          </p:cNvSpPr>
          <p:nvPr>
            <p:ph type="sldNum" sz="quarter" idx="10"/>
          </p:nvPr>
        </p:nvSpPr>
        <p:spPr/>
        <p:txBody>
          <a:bodyPr/>
          <a:lstStyle/>
          <a:p>
            <a:fld id="{AAE8AB14-6946-4D8C-A22F-C59B5B0586EC}" type="slidenum">
              <a:rPr lang="en-AU" smtClean="0"/>
              <a:pPr/>
              <a:t>30</a:t>
            </a:fld>
            <a:endParaRPr lang="en-AU"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GB" sz="2200" b="1" dirty="0" smtClean="0"/>
              <a:t>Category one </a:t>
            </a:r>
            <a:r>
              <a:rPr lang="en-GB" sz="2200" dirty="0" smtClean="0"/>
              <a:t>is designed for applicants who wish to be considered for information already provided in their registration and/or course application associated with mature age consideration, Recognition as an Indigenous Australian</a:t>
            </a:r>
            <a:r>
              <a:rPr lang="en-AU" sz="2200" dirty="0" smtClean="0"/>
              <a:t>, </a:t>
            </a:r>
            <a:r>
              <a:rPr lang="en-GB" sz="2200" dirty="0" smtClean="0"/>
              <a:t>Living or school postcode</a:t>
            </a:r>
            <a:r>
              <a:rPr lang="en-AU" sz="2200" dirty="0" smtClean="0"/>
              <a:t>, </a:t>
            </a:r>
            <a:r>
              <a:rPr lang="en-GB" sz="2200" dirty="0" smtClean="0"/>
              <a:t>Under-represented schools – institutions have a list and details of this list are in the SEAS chapter</a:t>
            </a:r>
            <a:r>
              <a:rPr lang="en-AU" sz="2200" dirty="0" smtClean="0"/>
              <a:t>, </a:t>
            </a:r>
            <a:r>
              <a:rPr lang="en-GB" sz="2200" dirty="0" smtClean="0"/>
              <a:t>Gender such as males or females in under-represented disciplines i.e. women in engineering; men as primary school teachers. </a:t>
            </a:r>
            <a:endParaRPr lang="en-AU" sz="2200" dirty="0" smtClean="0"/>
          </a:p>
          <a:p>
            <a:endParaRPr lang="en-GB" sz="2200" b="1" dirty="0" smtClean="0"/>
          </a:p>
          <a:p>
            <a:r>
              <a:rPr lang="en-GB" sz="2200" b="1" dirty="0" smtClean="0"/>
              <a:t>Category 2: </a:t>
            </a:r>
            <a:r>
              <a:rPr lang="en-GB" sz="2200" dirty="0" smtClean="0"/>
              <a:t>applicants must have been born in a non-English speaking country outside of Australia and arrived in Australia on or after 1 January 2003 (Monash 2007 and Melbourne 2006). This does differ for some universities so check the criteria in the Guide. </a:t>
            </a:r>
            <a:endParaRPr lang="en-AU" sz="2200" b="1" dirty="0" smtClean="0"/>
          </a:p>
          <a:p>
            <a:r>
              <a:rPr lang="en-GB" sz="2200" b="1" dirty="0" smtClean="0"/>
              <a:t> </a:t>
            </a:r>
            <a:endParaRPr lang="en-AU" sz="2200" b="1" dirty="0" smtClean="0"/>
          </a:p>
          <a:p>
            <a:r>
              <a:rPr lang="en-GB" sz="2200" b="1" dirty="0" smtClean="0"/>
              <a:t>Category 3: </a:t>
            </a:r>
            <a:r>
              <a:rPr lang="en-GB" sz="2200" dirty="0" smtClean="0"/>
              <a:t>is for applicants who have been prevented from reaching their full educational potential because of family or other life circumstances – the students need to indicate whether or not the circumstances are long or short term. Examples of types of difficulties may include Refugee</a:t>
            </a:r>
            <a:r>
              <a:rPr lang="en-AU" sz="2200" b="1" dirty="0" smtClean="0"/>
              <a:t>; </a:t>
            </a:r>
            <a:r>
              <a:rPr lang="en-AU" sz="2200" dirty="0" smtClean="0"/>
              <a:t>family problems, abuse, sick family member, homelessness. </a:t>
            </a:r>
          </a:p>
          <a:p>
            <a:endParaRPr lang="en-AU" sz="2200" dirty="0" smtClean="0"/>
          </a:p>
          <a:p>
            <a:r>
              <a:rPr lang="en-GB" sz="2200" b="1" dirty="0" smtClean="0"/>
              <a:t>Category</a:t>
            </a:r>
            <a:r>
              <a:rPr lang="en-GB" sz="2200" b="1" baseline="0" dirty="0" smtClean="0"/>
              <a:t> </a:t>
            </a:r>
            <a:r>
              <a:rPr lang="en-GB" sz="2200" b="1" dirty="0" smtClean="0"/>
              <a:t>4</a:t>
            </a:r>
            <a:r>
              <a:rPr lang="en-GB" sz="2200" dirty="0" smtClean="0"/>
              <a:t>: is for applicants prevented from reaching their full educational potential because of a disadvantaged financial background. Applicants will need to indicate whether the circumstances are long or short term. Examples include:</a:t>
            </a:r>
            <a:endParaRPr lang="en-AU" sz="2200" b="1" dirty="0" smtClean="0"/>
          </a:p>
          <a:p>
            <a:r>
              <a:rPr lang="en-GB" sz="2200" dirty="0" smtClean="0"/>
              <a:t> Individual or family poverty; Excessive financial obligations; Economic hardship. For this category VTAC can get the information from Centrelink if the student provides us with permission via their CRN. </a:t>
            </a:r>
            <a:endParaRPr lang="en-AU" sz="2200" b="1" dirty="0" smtClean="0"/>
          </a:p>
          <a:p>
            <a:endParaRPr lang="en-AU" sz="2300" dirty="0" smtClean="0"/>
          </a:p>
          <a:p>
            <a:endParaRPr lang="en-AU" sz="2300" b="1" dirty="0" smtClean="0"/>
          </a:p>
        </p:txBody>
      </p:sp>
      <p:sp>
        <p:nvSpPr>
          <p:cNvPr id="4" name="Slide Number Placeholder 3"/>
          <p:cNvSpPr>
            <a:spLocks noGrp="1"/>
          </p:cNvSpPr>
          <p:nvPr>
            <p:ph type="sldNum" sz="quarter" idx="10"/>
          </p:nvPr>
        </p:nvSpPr>
        <p:spPr/>
        <p:txBody>
          <a:bodyPr/>
          <a:lstStyle/>
          <a:p>
            <a:fld id="{AAE8AB14-6946-4D8C-A22F-C59B5B0586EC}" type="slidenum">
              <a:rPr lang="en-AU" smtClean="0"/>
              <a:pPr/>
              <a:t>31</a:t>
            </a:fld>
            <a:endParaRPr lang="en-AU"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b="1" dirty="0" smtClean="0"/>
              <a:t>Category 5:  </a:t>
            </a:r>
            <a:r>
              <a:rPr lang="en-GB" dirty="0" smtClean="0"/>
              <a:t>Is for applicants who are disadvantage as a result of a disability or medical condition. Applicants will need to indicate whether the circumstances are long or short term. Please remind applicants that if they require support or assistance with course extra requirements such as interviews, folio presentations or information sessions, should refer to individual institutional pages in the VTAC Guide for further information regarding who to contact for advice. </a:t>
            </a:r>
            <a:endParaRPr lang="en-AU" b="1" dirty="0" smtClean="0"/>
          </a:p>
          <a:p>
            <a:endParaRPr lang="en-GB" dirty="0" smtClean="0"/>
          </a:p>
          <a:p>
            <a:r>
              <a:rPr lang="en-GB" b="1" dirty="0" smtClean="0"/>
              <a:t>Category 6:</a:t>
            </a:r>
            <a:r>
              <a:rPr lang="en-GB" dirty="0" smtClean="0"/>
              <a:t>  Is for current Year 12 students who attend schools that are explicitly nominated under the: </a:t>
            </a:r>
          </a:p>
          <a:p>
            <a:pPr>
              <a:buFont typeface="Arial" pitchFamily="34" charset="0"/>
              <a:buChar char="•"/>
            </a:pPr>
            <a:r>
              <a:rPr lang="en-GB" dirty="0" smtClean="0"/>
              <a:t>Schools Access La Trobe (SALT)</a:t>
            </a:r>
          </a:p>
          <a:p>
            <a:pPr>
              <a:buFont typeface="Arial" pitchFamily="34" charset="0"/>
              <a:buChar char="•"/>
            </a:pPr>
            <a:r>
              <a:rPr lang="en-GB" dirty="0" smtClean="0"/>
              <a:t>University of Ballarat (REEP)</a:t>
            </a:r>
          </a:p>
          <a:p>
            <a:pPr>
              <a:buFont typeface="Arial" pitchFamily="34" charset="0"/>
              <a:buChar char="•"/>
            </a:pPr>
            <a:r>
              <a:rPr lang="en-GB" dirty="0" smtClean="0"/>
              <a:t>Victoria University (PPP) schemes.</a:t>
            </a:r>
            <a:endParaRPr lang="en-AU" b="1" dirty="0" smtClean="0"/>
          </a:p>
          <a:p>
            <a:endParaRPr lang="en-GB" dirty="0" smtClean="0"/>
          </a:p>
          <a:p>
            <a:r>
              <a:rPr lang="en-GB" dirty="0" smtClean="0"/>
              <a:t>Other schools recognise these factors, but take their applications via Category 1. </a:t>
            </a:r>
          </a:p>
          <a:p>
            <a:r>
              <a:rPr lang="en-GB" dirty="0" smtClean="0"/>
              <a:t>Applicants should apply for Category 1 to be considered for other university under-represented schools schemes.</a:t>
            </a:r>
            <a:endParaRPr lang="en-AU" b="1" dirty="0" smtClean="0"/>
          </a:p>
          <a:p>
            <a:endParaRPr lang="en-AU" sz="800" dirty="0" smtClean="0"/>
          </a:p>
          <a:p>
            <a:endParaRPr lang="en-AU" sz="800" dirty="0" smtClean="0"/>
          </a:p>
          <a:p>
            <a:endParaRPr lang="en-AU" dirty="0" smtClean="0"/>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32</a:t>
            </a:fld>
            <a:endParaRPr lang="en-AU"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For SNAP</a:t>
            </a:r>
          </a:p>
          <a:p>
            <a:r>
              <a:rPr lang="en-AU" dirty="0" smtClean="0"/>
              <a:t>This has changed from</a:t>
            </a:r>
            <a:r>
              <a:rPr lang="en-AU" baseline="0" dirty="0" smtClean="0"/>
              <a:t> previous years as SNAP used to be a form </a:t>
            </a:r>
          </a:p>
          <a:p>
            <a:r>
              <a:rPr lang="en-AU" baseline="0" dirty="0" smtClean="0"/>
              <a:t>This year you only need to indicate Yes we endorse this applicant or </a:t>
            </a:r>
            <a:r>
              <a:rPr lang="en-AU" b="1" baseline="0" dirty="0" smtClean="0"/>
              <a:t>no </a:t>
            </a:r>
            <a:r>
              <a:rPr lang="en-AU" b="0" baseline="0" dirty="0" smtClean="0"/>
              <a:t>we do not endorse this applicant. </a:t>
            </a:r>
          </a:p>
          <a:p>
            <a:r>
              <a:rPr lang="en-AU" b="0" baseline="0" dirty="0" smtClean="0"/>
              <a:t>This can be changed up until closing date 9 October.</a:t>
            </a:r>
            <a:r>
              <a:rPr lang="en-AU" b="0" dirty="0" smtClean="0"/>
              <a:t> </a:t>
            </a:r>
            <a:r>
              <a:rPr lang="en-AU" b="0" baseline="0" dirty="0" smtClean="0"/>
              <a:t>The SNAP endorsement is only active for SNAP schools</a:t>
            </a:r>
          </a:p>
          <a:p>
            <a:endParaRPr lang="en-AU" dirty="0" smtClean="0"/>
          </a:p>
          <a:p>
            <a:r>
              <a:rPr lang="en-AU" b="1" baseline="0" dirty="0" smtClean="0"/>
              <a:t>For</a:t>
            </a:r>
            <a:r>
              <a:rPr lang="en-AU" b="1" dirty="0" smtClean="0"/>
              <a:t> PPP</a:t>
            </a:r>
          </a:p>
          <a:p>
            <a:r>
              <a:rPr lang="en-AU" b="0" baseline="0" dirty="0" smtClean="0"/>
              <a:t>For schools recognised by VU PPP there will be an indicator on this page. </a:t>
            </a:r>
          </a:p>
          <a:p>
            <a:r>
              <a:rPr lang="en-AU" dirty="0" smtClean="0"/>
              <a:t>In these cases the school has to download the form and follow the instructions. </a:t>
            </a:r>
            <a:endParaRPr lang="en-AU" b="1"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33</a:t>
            </a:fld>
            <a:endParaRPr lang="en-AU"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The impact statements and Statements of support are integral to both SEAS and scholarships. </a:t>
            </a:r>
          </a:p>
          <a:p>
            <a:endParaRPr lang="en-AU" dirty="0" smtClean="0"/>
          </a:p>
          <a:p>
            <a:r>
              <a:rPr lang="en-AU" dirty="0" smtClean="0"/>
              <a:t>The impact statement is not about what happened, but rather how it impacted and led to educational disadvantage. </a:t>
            </a:r>
          </a:p>
          <a:p>
            <a:endParaRPr lang="en-AU" dirty="0" smtClean="0"/>
          </a:p>
          <a:p>
            <a:r>
              <a:rPr lang="en-AU" dirty="0" smtClean="0"/>
              <a:t>Last year we still had a lot of students who just wrote down what happened to them and worse, a lot of statements of support that simply said things along the lines of: </a:t>
            </a:r>
          </a:p>
          <a:p>
            <a:endParaRPr lang="en-AU" dirty="0" smtClean="0"/>
          </a:p>
          <a:p>
            <a:r>
              <a:rPr lang="en-AU" dirty="0" smtClean="0"/>
              <a:t>Yes I agree with what …. Said. </a:t>
            </a:r>
          </a:p>
          <a:p>
            <a:r>
              <a:rPr lang="en-AU" dirty="0" smtClean="0"/>
              <a:t>Yes it was bad. </a:t>
            </a:r>
          </a:p>
          <a:p>
            <a:r>
              <a:rPr lang="en-AU" dirty="0" smtClean="0"/>
              <a:t>Yes …. had glandular fever </a:t>
            </a:r>
          </a:p>
          <a:p>
            <a:endParaRPr lang="en-AU" dirty="0" smtClean="0"/>
          </a:p>
          <a:p>
            <a:r>
              <a:rPr lang="en-AU" dirty="0" smtClean="0"/>
              <a:t>The impact means how it affected the student i.e. difficult circumstances where a parent is a drug addict the affect is – the student has to look after themselves/siblings/parent; lots of responsibility; little time to study; no privacy etc. </a:t>
            </a:r>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34</a:t>
            </a:fld>
            <a:endParaRPr lang="en-AU"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The institutions make decisions based on data they collect over the years indication where there has been a shortage of School leavers applying for their courses. Cannot be applied for by school</a:t>
            </a:r>
          </a:p>
          <a:p>
            <a:r>
              <a:rPr lang="en-AU" dirty="0" smtClean="0"/>
              <a:t>If a student was born in Australia any family movements from</a:t>
            </a:r>
            <a:r>
              <a:rPr lang="en-AU" baseline="0" dirty="0" smtClean="0"/>
              <a:t> then is not grounds for category 2 </a:t>
            </a:r>
          </a:p>
          <a:p>
            <a:r>
              <a:rPr lang="en-AU" baseline="0" dirty="0" smtClean="0"/>
              <a:t>If born in Australia you are ineligible</a:t>
            </a:r>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35</a:t>
            </a:fld>
            <a:endParaRPr lang="en-AU"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37</a:t>
            </a:fld>
            <a:endParaRPr lang="en-AU"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400" dirty="0" smtClean="0"/>
              <a:t>All students should be encouraged to complete a scholarships application </a:t>
            </a:r>
          </a:p>
          <a:p>
            <a:r>
              <a:rPr lang="en-AU" sz="1400" dirty="0" smtClean="0"/>
              <a:t>Let the system decide whether or not they are eligible for what scholarship. </a:t>
            </a:r>
          </a:p>
          <a:p>
            <a:endParaRPr lang="en-AU" sz="1400" dirty="0" smtClean="0"/>
          </a:p>
          <a:p>
            <a:endParaRPr lang="en-AU" dirty="0" smtClean="0"/>
          </a:p>
          <a:p>
            <a:endParaRPr lang="en-AU" dirty="0" smtClean="0"/>
          </a:p>
          <a:p>
            <a:endParaRPr lang="en-AU" dirty="0" smtClean="0"/>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38</a:t>
            </a:fld>
            <a:endParaRPr lang="en-AU"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b="1" dirty="0" smtClean="0"/>
              <a:t>Scholarships not through VTAC - </a:t>
            </a:r>
            <a:r>
              <a:rPr lang="en-GB" dirty="0" smtClean="0"/>
              <a:t>see page 50 of the VTAC Guide or check out the complete list online. </a:t>
            </a:r>
          </a:p>
          <a:p>
            <a:endParaRPr lang="en-GB" b="1" dirty="0" smtClean="0"/>
          </a:p>
          <a:p>
            <a:r>
              <a:rPr lang="en-GB" b="1" dirty="0" smtClean="0"/>
              <a:t>Commonwealth scholarships</a:t>
            </a:r>
            <a:r>
              <a:rPr lang="en-AU" b="1" dirty="0" smtClean="0"/>
              <a:t>: </a:t>
            </a:r>
            <a:r>
              <a:rPr lang="en-GB" dirty="0" smtClean="0"/>
              <a:t>The Student Start-Up and Relocation Scholarships are available to students receiving income support and administered by Centrelink. </a:t>
            </a:r>
            <a:endParaRPr lang="en-AU" b="1" dirty="0" smtClean="0"/>
          </a:p>
          <a:p>
            <a:endParaRPr lang="en-GB" dirty="0" smtClean="0"/>
          </a:p>
          <a:p>
            <a:r>
              <a:rPr lang="en-GB" b="1" dirty="0" smtClean="0"/>
              <a:t>The Indigenous Commonwealth Scholarships </a:t>
            </a:r>
            <a:r>
              <a:rPr lang="en-GB" dirty="0" smtClean="0"/>
              <a:t>are administered by institutions and allocated to students who have had their Indigenous status confirmed  and meet the criteria on the Centrelink website. </a:t>
            </a:r>
            <a:br>
              <a:rPr lang="en-GB" dirty="0" smtClean="0"/>
            </a:br>
            <a:endParaRPr lang="en-GB" dirty="0" smtClean="0"/>
          </a:p>
          <a:p>
            <a:r>
              <a:rPr lang="en-GB" b="1" dirty="0" smtClean="0"/>
              <a:t>Merit scholarships</a:t>
            </a:r>
            <a:r>
              <a:rPr lang="en-GB" dirty="0" smtClean="0"/>
              <a:t>: To be considered, applicants must apply for courses through VTAC and do not need to lodge a VTAC Scholarship Application. </a:t>
            </a:r>
            <a:endParaRPr lang="en-AU" dirty="0" smtClean="0"/>
          </a:p>
          <a:p>
            <a:r>
              <a:rPr lang="en-GB" dirty="0" smtClean="0"/>
              <a:t>Where an institution offers merit scholarships, students who have listed that institution on their course preference list and met any additional course or institutional eligibility will automatically be assessed by that institution.	</a:t>
            </a:r>
            <a:endParaRPr lang="en-AU" dirty="0" smtClean="0"/>
          </a:p>
          <a:p>
            <a:r>
              <a:rPr lang="en-GB" dirty="0" smtClean="0"/>
              <a:t>Institutions will award scholarships to students academic achievement if they have studied an Australian Year 12 or the International Baccalaureate (IB) in 2012.</a:t>
            </a:r>
          </a:p>
          <a:p>
            <a:r>
              <a:rPr lang="en-GB" dirty="0" smtClean="0"/>
              <a:t>Where an institution offers merit scholarships, students who have listed that institution on their course preference list and met any additional course or institutional eligibility will automatically be assessed by that institution.	</a:t>
            </a:r>
          </a:p>
          <a:p>
            <a:pPr marL="0" marR="0" indent="0" algn="l" defTabSz="914400" rtl="0" eaLnBrk="1" fontAlgn="auto" latinLnBrk="0" hangingPunct="1">
              <a:lnSpc>
                <a:spcPct val="100000"/>
              </a:lnSpc>
              <a:spcBef>
                <a:spcPts val="0"/>
              </a:spcBef>
              <a:spcAft>
                <a:spcPts val="0"/>
              </a:spcAft>
              <a:buClrTx/>
              <a:buSzTx/>
              <a:buFontTx/>
              <a:buNone/>
              <a:tabLst/>
              <a:defRPr/>
            </a:pPr>
            <a:endParaRPr lang="en-AU" b="1" dirty="0" smtClean="0"/>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39</a:t>
            </a:fld>
            <a:endParaRPr lang="en-AU"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endParaRPr lang="en-GB" sz="2400" dirty="0" smtClean="0"/>
          </a:p>
          <a:p>
            <a:r>
              <a:rPr lang="en-AU" sz="2400" dirty="0" smtClean="0"/>
              <a:t>When submitting a scholarships application the student will have their registration details automatically populated to the scholarships application. </a:t>
            </a:r>
          </a:p>
          <a:p>
            <a:endParaRPr lang="en-AU" sz="2400" dirty="0" smtClean="0"/>
          </a:p>
          <a:p>
            <a:r>
              <a:rPr lang="en-AU" sz="2400" dirty="0" smtClean="0"/>
              <a:t>When submitting a scholarships application, the institutions want to know: </a:t>
            </a:r>
          </a:p>
          <a:p>
            <a:pPr>
              <a:buFont typeface="Arial" pitchFamily="34" charset="0"/>
              <a:buChar char="•"/>
            </a:pPr>
            <a:r>
              <a:rPr lang="en-AU" sz="2400" dirty="0" smtClean="0"/>
              <a:t>About your background, languages at home, postcode, Indigenous status </a:t>
            </a:r>
          </a:p>
          <a:p>
            <a:pPr>
              <a:buFont typeface="Arial" pitchFamily="34" charset="0"/>
              <a:buChar char="•"/>
            </a:pPr>
            <a:r>
              <a:rPr lang="en-AU" sz="2400" dirty="0" smtClean="0"/>
              <a:t>Whether or not you have been disadvantaged financially, household structure </a:t>
            </a:r>
          </a:p>
          <a:p>
            <a:r>
              <a:rPr lang="en-AU" sz="2400" dirty="0" smtClean="0"/>
              <a:t>Whether or not you or your parents are eligible for CentreLink benefits  - if not then  you can still complete this section, but we will want some proof. </a:t>
            </a:r>
          </a:p>
          <a:p>
            <a:endParaRPr lang="en-AU" sz="2400" dirty="0" smtClean="0"/>
          </a:p>
          <a:p>
            <a:r>
              <a:rPr lang="en-AU" sz="2400" dirty="0" smtClean="0"/>
              <a:t>The scholarships people are also interested in: </a:t>
            </a:r>
          </a:p>
          <a:p>
            <a:pPr>
              <a:buFont typeface="Arial" pitchFamily="34" charset="0"/>
              <a:buChar char="•"/>
            </a:pPr>
            <a:r>
              <a:rPr lang="en-AU" sz="2400" dirty="0" smtClean="0"/>
              <a:t>any community and leadership experiences you have</a:t>
            </a:r>
          </a:p>
          <a:p>
            <a:pPr>
              <a:buFont typeface="Arial" pitchFamily="34" charset="0"/>
              <a:buChar char="•"/>
            </a:pPr>
            <a:r>
              <a:rPr lang="en-AU" sz="2400" dirty="0" smtClean="0"/>
              <a:t>any difficult circumstances that have impacted upon your education</a:t>
            </a:r>
          </a:p>
          <a:p>
            <a:pPr>
              <a:buFont typeface="Arial" pitchFamily="34" charset="0"/>
              <a:buChar char="•"/>
            </a:pPr>
            <a:r>
              <a:rPr lang="en-AU" sz="2400" dirty="0" smtClean="0"/>
              <a:t>any medical condition or disability that have impacted upon your education</a:t>
            </a:r>
          </a:p>
          <a:p>
            <a:pPr>
              <a:buFont typeface="Arial" pitchFamily="34" charset="0"/>
              <a:buChar char="•"/>
            </a:pPr>
            <a:r>
              <a:rPr lang="en-AU" sz="2400" dirty="0" smtClean="0"/>
              <a:t>how a scholarship will benefit your studies in 2013</a:t>
            </a:r>
          </a:p>
          <a:p>
            <a:endParaRPr lang="en-AU" sz="2400" dirty="0" smtClean="0"/>
          </a:p>
          <a:p>
            <a:endParaRPr lang="en-AU" sz="1200" b="0" kern="1200" dirty="0" smtClean="0">
              <a:solidFill>
                <a:schemeClr val="tx1"/>
              </a:solidFill>
              <a:latin typeface="+mn-lt"/>
              <a:ea typeface="+mn-ea"/>
              <a:cs typeface="+mn-cs"/>
            </a:endParaRPr>
          </a:p>
          <a:p>
            <a:endParaRPr lang="en-GB" sz="1200" b="0" kern="1200" dirty="0" smtClean="0">
              <a:solidFill>
                <a:schemeClr val="tx1"/>
              </a:solidFill>
              <a:latin typeface="+mn-lt"/>
              <a:ea typeface="+mn-ea"/>
              <a:cs typeface="+mn-cs"/>
            </a:endParaRPr>
          </a:p>
          <a:p>
            <a:endParaRPr lang="en-AU" sz="1200" b="1" kern="1200" dirty="0" smtClean="0">
              <a:solidFill>
                <a:schemeClr val="tx1"/>
              </a:solidFill>
              <a:latin typeface="+mn-lt"/>
              <a:ea typeface="+mn-ea"/>
              <a:cs typeface="+mn-cs"/>
            </a:endParaRPr>
          </a:p>
          <a:p>
            <a:r>
              <a:rPr lang="en-GB" sz="1200" b="1" kern="1200" dirty="0" smtClean="0">
                <a:solidFill>
                  <a:schemeClr val="tx1"/>
                </a:solidFill>
                <a:latin typeface="+mn-lt"/>
                <a:ea typeface="+mn-ea"/>
                <a:cs typeface="+mn-cs"/>
              </a:rPr>
              <a:t> </a:t>
            </a:r>
            <a:endParaRPr lang="en-AU" sz="1200" b="1" kern="1200" dirty="0" smtClean="0">
              <a:solidFill>
                <a:schemeClr val="tx1"/>
              </a:solidFill>
              <a:latin typeface="+mn-lt"/>
              <a:ea typeface="+mn-ea"/>
              <a:cs typeface="+mn-cs"/>
            </a:endParaRPr>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40</a:t>
            </a:fld>
            <a:endParaRPr lang="en-AU"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41</a:t>
            </a:fld>
            <a:endParaRPr lang="en-AU"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42</a:t>
            </a:fld>
            <a:endParaRPr lang="en-AU"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These</a:t>
            </a:r>
            <a:r>
              <a:rPr lang="en-AU" baseline="0" dirty="0" smtClean="0"/>
              <a:t> notes are more for your information than discussion today. However we do wish to draw your attention to the fact that next year, we will be running a seminar and providing you with a Year 10 presentation to assist you with parents nights and your counselling. </a:t>
            </a:r>
          </a:p>
          <a:p>
            <a:endParaRPr lang="en-AU" baseline="0" dirty="0" smtClean="0"/>
          </a:p>
        </p:txBody>
      </p:sp>
      <p:sp>
        <p:nvSpPr>
          <p:cNvPr id="4" name="Slide Number Placeholder 3"/>
          <p:cNvSpPr>
            <a:spLocks noGrp="1"/>
          </p:cNvSpPr>
          <p:nvPr>
            <p:ph type="sldNum" sz="quarter" idx="10"/>
          </p:nvPr>
        </p:nvSpPr>
        <p:spPr/>
        <p:txBody>
          <a:bodyPr/>
          <a:lstStyle/>
          <a:p>
            <a:fld id="{AAE8AB14-6946-4D8C-A22F-C59B5B0586EC}" type="slidenum">
              <a:rPr lang="en-AU" smtClean="0"/>
              <a:pPr/>
              <a:t>43</a:t>
            </a:fld>
            <a:endParaRPr lang="en-AU"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200" b="0" kern="1200" dirty="0" smtClean="0">
                <a:solidFill>
                  <a:schemeClr val="tx1"/>
                </a:solidFill>
                <a:latin typeface="+mn-lt"/>
                <a:ea typeface="+mn-ea"/>
                <a:cs typeface="+mn-cs"/>
              </a:rPr>
              <a:t>The ATAR The Australian Tertiary Admission Rank (ATAR) is calculated by VTAC solely for the use of tertiary institutions to compare the overall achievement of students who have completed different combinations of VCE studies. </a:t>
            </a:r>
          </a:p>
          <a:p>
            <a:endParaRPr lang="en-AU" sz="1200" b="0" kern="1200" dirty="0" smtClean="0">
              <a:solidFill>
                <a:schemeClr val="tx1"/>
              </a:solidFill>
              <a:latin typeface="+mn-lt"/>
              <a:ea typeface="+mn-ea"/>
              <a:cs typeface="+mn-cs"/>
            </a:endParaRPr>
          </a:p>
          <a:p>
            <a:r>
              <a:rPr lang="en-GB" sz="1200" b="0" kern="1200" dirty="0" smtClean="0">
                <a:solidFill>
                  <a:schemeClr val="tx1"/>
                </a:solidFill>
                <a:latin typeface="+mn-lt"/>
                <a:ea typeface="+mn-ea"/>
                <a:cs typeface="+mn-cs"/>
              </a:rPr>
              <a:t>VTAC forwards the ATAR along with application information to selection authorities at institutions. The change to ATAR, the nationally agreed name used by all Australian states and territories (except Queensland), is a change in name only. There is no change to the calculation. </a:t>
            </a:r>
            <a:endParaRPr lang="en-AU" sz="1200" b="0" kern="1200" dirty="0" smtClean="0">
              <a:solidFill>
                <a:schemeClr val="tx1"/>
              </a:solidFill>
              <a:latin typeface="+mn-lt"/>
              <a:ea typeface="+mn-ea"/>
              <a:cs typeface="+mn-cs"/>
            </a:endParaRPr>
          </a:p>
          <a:p>
            <a:endParaRPr lang="en-AU" dirty="0" smtClean="0"/>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44</a:t>
            </a:fld>
            <a:endParaRPr lang="en-AU"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dirty="0" smtClean="0"/>
              <a:t>The ATAR is developed from an aggregate produced by adding the results for up to six studies as follows:</a:t>
            </a:r>
          </a:p>
          <a:p>
            <a:endParaRPr lang="en-AU" sz="1200" dirty="0" smtClean="0"/>
          </a:p>
          <a:p>
            <a:r>
              <a:rPr lang="en-AU" sz="1200" dirty="0" smtClean="0"/>
              <a:t>• the ATAR subject score in one of English, English (ESL), Literature or English Language</a:t>
            </a:r>
          </a:p>
          <a:p>
            <a:r>
              <a:rPr lang="en-AU" sz="1200" dirty="0" smtClean="0"/>
              <a:t>• the next best three scaled study scores permissible (which together with the English study make the “primary four”)</a:t>
            </a:r>
          </a:p>
          <a:p>
            <a:r>
              <a:rPr lang="en-AU" sz="1200" dirty="0" smtClean="0"/>
              <a:t>• 10% of any fifth and sixth permissible scores that are available (these are called increments).</a:t>
            </a:r>
          </a:p>
          <a:p>
            <a:endParaRPr lang="en-AU" sz="1200" dirty="0" smtClean="0"/>
          </a:p>
          <a:p>
            <a:r>
              <a:rPr lang="en-AU" sz="1200" dirty="0" smtClean="0"/>
              <a:t>If you have more than six results, the six permissible results that give the highest ATAR are used.</a:t>
            </a:r>
          </a:p>
          <a:p>
            <a:endParaRPr lang="en-AU" sz="1200" dirty="0" smtClean="0"/>
          </a:p>
          <a:p>
            <a:r>
              <a:rPr lang="en-AU" sz="1200" dirty="0" smtClean="0"/>
              <a:t>Studies used in the calculation of the ATAR may be taken over any number of years; however the time taken to complete VCE studies may be taken into account by institutions when considering applicants.</a:t>
            </a:r>
          </a:p>
          <a:p>
            <a:endParaRPr lang="en-AU" sz="1200" dirty="0" smtClean="0"/>
          </a:p>
          <a:p>
            <a:r>
              <a:rPr lang="en-AU" sz="1200" dirty="0" smtClean="0"/>
              <a:t>You are then ranked in order of these aggregates—the highest rank being 99.95 and then decreasing in steps of 0.05. The group of students with the highest aggregates will be assigned the highest rank of 99.95. The lowest automatically reported ATAR is 30.00, with ATARs below 30.00 being reported as ‘less than 30’.</a:t>
            </a:r>
            <a:endParaRPr lang="en-US" sz="1200" kern="1200" dirty="0" smtClean="0">
              <a:solidFill>
                <a:schemeClr val="tx1"/>
              </a:solidFill>
              <a:latin typeface="+mn-lt"/>
              <a:ea typeface="+mn-ea"/>
              <a:cs typeface="+mn-cs"/>
            </a:endParaRPr>
          </a:p>
          <a:p>
            <a:endParaRPr lang="en-AU" dirty="0" smtClean="0"/>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45</a:t>
            </a:fld>
            <a:endParaRPr lang="en-AU"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Note with</a:t>
            </a:r>
            <a:r>
              <a:rPr lang="en-AU" baseline="0" dirty="0" smtClean="0"/>
              <a:t> this student all but one study was scaled up and yet the ATAR is in the 50’s. </a:t>
            </a:r>
          </a:p>
          <a:p>
            <a:r>
              <a:rPr lang="en-AU" baseline="0" dirty="0" smtClean="0"/>
              <a:t>While it’s a bit late in year 12, when choosing studies, students are better off choosing </a:t>
            </a:r>
            <a:r>
              <a:rPr lang="en-AU" sz="1200" kern="1200" baseline="0" dirty="0" smtClean="0">
                <a:solidFill>
                  <a:schemeClr val="tx1"/>
                </a:solidFill>
                <a:latin typeface="+mn-lt"/>
                <a:ea typeface="+mn-ea"/>
                <a:cs typeface="+mn-cs"/>
              </a:rPr>
              <a:t>studies that:</a:t>
            </a:r>
          </a:p>
          <a:p>
            <a:pPr>
              <a:buFont typeface="Arial" pitchFamily="34" charset="0"/>
              <a:buChar char="•"/>
            </a:pPr>
            <a:r>
              <a:rPr lang="en-AU" sz="1200" kern="1200" baseline="0" dirty="0" smtClean="0">
                <a:solidFill>
                  <a:schemeClr val="tx1"/>
                </a:solidFill>
                <a:latin typeface="+mn-lt"/>
                <a:ea typeface="+mn-ea"/>
                <a:cs typeface="+mn-cs"/>
              </a:rPr>
              <a:t>they enjoy</a:t>
            </a:r>
          </a:p>
          <a:p>
            <a:pPr>
              <a:buFont typeface="Arial" pitchFamily="34" charset="0"/>
              <a:buChar char="•"/>
            </a:pPr>
            <a:r>
              <a:rPr lang="en-AU" sz="1200" kern="1200" baseline="0" dirty="0" smtClean="0">
                <a:solidFill>
                  <a:schemeClr val="tx1"/>
                </a:solidFill>
                <a:latin typeface="+mn-lt"/>
                <a:ea typeface="+mn-ea"/>
                <a:cs typeface="+mn-cs"/>
              </a:rPr>
              <a:t>are good at </a:t>
            </a:r>
          </a:p>
          <a:p>
            <a:pPr>
              <a:buFont typeface="Arial" pitchFamily="34" charset="0"/>
              <a:buChar char="•"/>
            </a:pPr>
            <a:r>
              <a:rPr lang="en-AU" sz="1200" kern="1200" baseline="0" dirty="0" smtClean="0">
                <a:solidFill>
                  <a:schemeClr val="tx1"/>
                </a:solidFill>
                <a:latin typeface="+mn-lt"/>
                <a:ea typeface="+mn-ea"/>
                <a:cs typeface="+mn-cs"/>
              </a:rPr>
              <a:t>reflect what they are interested in studying at tertiary level </a:t>
            </a:r>
          </a:p>
          <a:p>
            <a:pPr>
              <a:buFont typeface="Arial" pitchFamily="34" charset="0"/>
              <a:buChar char="•"/>
            </a:pPr>
            <a:r>
              <a:rPr lang="en-AU" sz="1200" kern="1200" baseline="0" dirty="0" smtClean="0">
                <a:solidFill>
                  <a:schemeClr val="tx1"/>
                </a:solidFill>
                <a:latin typeface="+mn-lt"/>
                <a:ea typeface="+mn-ea"/>
                <a:cs typeface="+mn-cs"/>
              </a:rPr>
              <a:t>help provide them with more career options .</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Scaling ensures that all studies are treated equally in the ATAR calculation, so that students are not advantaged or disadvantaged by the studies they undertake.</a:t>
            </a:r>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46</a:t>
            </a:fld>
            <a:endParaRPr lang="en-AU"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GB" sz="1200" b="0" kern="1200" dirty="0" smtClean="0">
                <a:solidFill>
                  <a:schemeClr val="tx1"/>
                </a:solidFill>
                <a:latin typeface="+mn-lt"/>
                <a:ea typeface="+mn-ea"/>
                <a:cs typeface="+mn-cs"/>
              </a:rPr>
              <a:t>VTAC calculates an ATAR for all VCE students who have successfully completed the VCE and satisfied minimum tertiary entrance requirements. </a:t>
            </a:r>
          </a:p>
          <a:p>
            <a:endParaRPr lang="en-AU" sz="1200" b="1" kern="1200" dirty="0" smtClean="0">
              <a:solidFill>
                <a:schemeClr val="tx1"/>
              </a:solidFill>
              <a:latin typeface="+mn-lt"/>
              <a:ea typeface="+mn-ea"/>
              <a:cs typeface="+mn-cs"/>
            </a:endParaRPr>
          </a:p>
          <a:p>
            <a:r>
              <a:rPr lang="en-GB" sz="1200" b="0" kern="1200" dirty="0" smtClean="0">
                <a:solidFill>
                  <a:schemeClr val="tx1"/>
                </a:solidFill>
                <a:latin typeface="+mn-lt"/>
                <a:ea typeface="+mn-ea"/>
                <a:cs typeface="+mn-cs"/>
              </a:rPr>
              <a:t>Only applicants who have at least four VCE study scores in an acceptable combination will have an ATAR calculated. </a:t>
            </a:r>
            <a:endParaRPr lang="en-AU" sz="1200" b="1" kern="1200" dirty="0" smtClean="0">
              <a:solidFill>
                <a:schemeClr val="tx1"/>
              </a:solidFill>
              <a:latin typeface="+mn-lt"/>
              <a:ea typeface="+mn-ea"/>
              <a:cs typeface="+mn-cs"/>
            </a:endParaRPr>
          </a:p>
          <a:p>
            <a:endParaRPr lang="en-GB" sz="1200" b="0" kern="1200" dirty="0" smtClean="0">
              <a:solidFill>
                <a:schemeClr val="tx1"/>
              </a:solidFill>
              <a:latin typeface="+mn-lt"/>
              <a:ea typeface="+mn-ea"/>
              <a:cs typeface="+mn-cs"/>
            </a:endParaRPr>
          </a:p>
          <a:p>
            <a:r>
              <a:rPr lang="en-GB" sz="1200" b="1" dirty="0" smtClean="0"/>
              <a:t>If you are a current VCE student: </a:t>
            </a:r>
            <a:endParaRPr lang="en-AU" sz="1200" b="1" dirty="0" smtClean="0"/>
          </a:p>
          <a:p>
            <a:r>
              <a:rPr lang="en-GB" sz="1200" dirty="0" smtClean="0"/>
              <a:t>Students VCE study scores, ATAR and ATAR subject scores will be available to students via internet and SMS services. </a:t>
            </a:r>
            <a:r>
              <a:rPr lang="en-GB" sz="1200" i="1" dirty="0" smtClean="0"/>
              <a:t>7.00am Monday 17 December</a:t>
            </a:r>
            <a:r>
              <a:rPr lang="en-GB" sz="1200" dirty="0" smtClean="0"/>
              <a:t>. </a:t>
            </a:r>
            <a:endParaRPr lang="en-AU" sz="1200" b="1" dirty="0" smtClean="0"/>
          </a:p>
          <a:p>
            <a:r>
              <a:rPr lang="en-GB" sz="1200" dirty="0" smtClean="0"/>
              <a:t>Students who have applied for courses through VTAC this year and have paid their VTAC fees will be sent an ATAR statement.</a:t>
            </a:r>
            <a:endParaRPr lang="en-AU" sz="1200" b="1" dirty="0" smtClean="0"/>
          </a:p>
          <a:p>
            <a:endParaRPr lang="en-GB" sz="1200" b="1" kern="1200" dirty="0" smtClean="0">
              <a:solidFill>
                <a:schemeClr val="tx1"/>
              </a:solidFill>
              <a:latin typeface="+mn-lt"/>
              <a:ea typeface="+mn-ea"/>
              <a:cs typeface="+mn-cs"/>
            </a:endParaRPr>
          </a:p>
          <a:p>
            <a:r>
              <a:rPr lang="en-GB" sz="1200" b="1" kern="1200" dirty="0" smtClean="0">
                <a:solidFill>
                  <a:schemeClr val="tx1"/>
                </a:solidFill>
                <a:latin typeface="+mn-lt"/>
                <a:ea typeface="+mn-ea"/>
                <a:cs typeface="+mn-cs"/>
              </a:rPr>
              <a:t>For interstate only:</a:t>
            </a:r>
            <a:r>
              <a:rPr lang="en-GB" sz="1200" b="0" kern="1200" dirty="0" smtClean="0">
                <a:solidFill>
                  <a:schemeClr val="tx1"/>
                </a:solidFill>
                <a:latin typeface="+mn-lt"/>
                <a:ea typeface="+mn-ea"/>
                <a:cs typeface="+mn-cs"/>
              </a:rPr>
              <a:t> If you are studying an interstate Year 12, VTAC receives your results and ranks from your state admissions centre/authority. Interstate Year 12 results (except Queensland) provide you with an ATAR. Queensland uses a ranking system (OP) which is not equivalent to the ATAR. </a:t>
            </a:r>
          </a:p>
          <a:p>
            <a:r>
              <a:rPr lang="en-GB" sz="1200" b="0" kern="1200" dirty="0" smtClean="0">
                <a:solidFill>
                  <a:schemeClr val="tx1"/>
                </a:solidFill>
                <a:latin typeface="+mn-lt"/>
                <a:ea typeface="+mn-ea"/>
                <a:cs typeface="+mn-cs"/>
              </a:rPr>
              <a:t>A conversion table for the Queensland OP to the ATAR is available on the QTAC website (</a:t>
            </a:r>
            <a:r>
              <a:rPr lang="en-GB" sz="1200" b="0" i="1" kern="1200" dirty="0" smtClean="0">
                <a:solidFill>
                  <a:schemeClr val="tx1"/>
                </a:solidFill>
                <a:latin typeface="+mn-lt"/>
                <a:ea typeface="+mn-ea"/>
                <a:cs typeface="+mn-cs"/>
              </a:rPr>
              <a:t>www.qtac.edu.au</a:t>
            </a:r>
            <a:r>
              <a:rPr lang="en-GB" sz="1200" b="0" kern="1200" dirty="0" smtClean="0">
                <a:solidFill>
                  <a:schemeClr val="tx1"/>
                </a:solidFill>
                <a:latin typeface="+mn-lt"/>
                <a:ea typeface="+mn-ea"/>
                <a:cs typeface="+mn-cs"/>
              </a:rPr>
              <a:t>). </a:t>
            </a:r>
          </a:p>
          <a:p>
            <a:endParaRPr lang="en-GB" sz="1200" b="1" kern="1200" dirty="0" smtClean="0">
              <a:solidFill>
                <a:schemeClr val="tx1"/>
              </a:solidFill>
              <a:latin typeface="+mn-lt"/>
              <a:ea typeface="+mn-ea"/>
              <a:cs typeface="+mn-cs"/>
            </a:endParaRPr>
          </a:p>
          <a:p>
            <a:endParaRPr lang="en-GB" sz="1100" b="0" kern="1200" dirty="0" smtClean="0">
              <a:solidFill>
                <a:schemeClr val="tx1"/>
              </a:solidFill>
              <a:latin typeface="+mn-lt"/>
              <a:ea typeface="+mn-ea"/>
              <a:cs typeface="+mn-cs"/>
            </a:endParaRPr>
          </a:p>
          <a:p>
            <a:endParaRPr lang="en-GB" sz="1100" b="0" kern="1200" dirty="0" smtClean="0">
              <a:solidFill>
                <a:schemeClr val="tx1"/>
              </a:solidFill>
              <a:latin typeface="+mn-lt"/>
              <a:ea typeface="+mn-ea"/>
              <a:cs typeface="+mn-cs"/>
            </a:endParaRPr>
          </a:p>
          <a:p>
            <a:endParaRPr lang="en-AU" sz="1100" b="1" kern="1200" dirty="0" smtClean="0">
              <a:solidFill>
                <a:schemeClr val="tx1"/>
              </a:solidFill>
              <a:latin typeface="+mn-lt"/>
              <a:ea typeface="+mn-ea"/>
              <a:cs typeface="+mn-cs"/>
            </a:endParaRPr>
          </a:p>
          <a:p>
            <a:r>
              <a:rPr lang="en-GB" sz="1100" b="0" kern="1200" dirty="0" smtClean="0">
                <a:solidFill>
                  <a:schemeClr val="tx1"/>
                </a:solidFill>
                <a:latin typeface="+mn-lt"/>
                <a:ea typeface="+mn-ea"/>
                <a:cs typeface="+mn-cs"/>
              </a:rPr>
              <a:t> </a:t>
            </a:r>
            <a:endParaRPr lang="en-AU" sz="1100" b="1" kern="1200" dirty="0" smtClean="0">
              <a:solidFill>
                <a:schemeClr val="tx1"/>
              </a:solidFill>
              <a:latin typeface="+mn-lt"/>
              <a:ea typeface="+mn-ea"/>
              <a:cs typeface="+mn-cs"/>
            </a:endParaRPr>
          </a:p>
          <a:p>
            <a:endParaRPr lang="en-AU" dirty="0" smtClean="0"/>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47</a:t>
            </a:fld>
            <a:endParaRPr lang="en-AU"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VTAC supplies a file of ATAR data to schools</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for the purpose of information and counselling. </a:t>
            </a:r>
          </a:p>
          <a:p>
            <a:r>
              <a:rPr lang="en-AU" sz="1200" kern="1200" dirty="0" smtClean="0">
                <a:solidFill>
                  <a:schemeClr val="tx1"/>
                </a:solidFill>
                <a:latin typeface="+mn-lt"/>
                <a:ea typeface="+mn-ea"/>
                <a:cs typeface="+mn-cs"/>
              </a:rPr>
              <a:t>Through the VCAA enrolment process, students authorise the release of ATARs to their school,</a:t>
            </a:r>
            <a:r>
              <a:rPr lang="en-AU" sz="1200" kern="1200" baseline="0" dirty="0" smtClean="0">
                <a:solidFill>
                  <a:schemeClr val="tx1"/>
                </a:solidFill>
                <a:latin typeface="+mn-lt"/>
                <a:ea typeface="+mn-ea"/>
                <a:cs typeface="+mn-cs"/>
              </a:rPr>
              <a:t> some years, students withhold their ATARs. </a:t>
            </a:r>
            <a:r>
              <a:rPr lang="en-AU" sz="1200" kern="1200" dirty="0" smtClean="0">
                <a:solidFill>
                  <a:schemeClr val="tx1"/>
                </a:solidFill>
                <a:latin typeface="+mn-lt"/>
                <a:ea typeface="+mn-ea"/>
                <a:cs typeface="+mn-cs"/>
              </a:rPr>
              <a:t> </a:t>
            </a:r>
          </a:p>
          <a:p>
            <a:r>
              <a:rPr lang="en-AU" sz="1200" kern="1200" dirty="0" smtClean="0">
                <a:solidFill>
                  <a:schemeClr val="tx1"/>
                </a:solidFill>
                <a:latin typeface="+mn-lt"/>
                <a:ea typeface="+mn-ea"/>
                <a:cs typeface="+mn-cs"/>
              </a:rPr>
              <a:t>The</a:t>
            </a:r>
            <a:r>
              <a:rPr lang="en-AU" sz="1200" kern="1200" baseline="0" dirty="0" smtClean="0">
                <a:solidFill>
                  <a:schemeClr val="tx1"/>
                </a:solidFill>
                <a:latin typeface="+mn-lt"/>
                <a:ea typeface="+mn-ea"/>
                <a:cs typeface="+mn-cs"/>
              </a:rPr>
              <a:t> permission and authority is </a:t>
            </a:r>
            <a:r>
              <a:rPr lang="en-AU" sz="1200" kern="1200" dirty="0" smtClean="0">
                <a:solidFill>
                  <a:schemeClr val="tx1"/>
                </a:solidFill>
                <a:latin typeface="+mn-lt"/>
                <a:ea typeface="+mn-ea"/>
                <a:cs typeface="+mn-cs"/>
              </a:rPr>
              <a:t>limited to the use of ATARs for individual counselling. </a:t>
            </a:r>
          </a:p>
          <a:p>
            <a:endParaRPr lang="en-AU" dirty="0" smtClean="0"/>
          </a:p>
          <a:p>
            <a:r>
              <a:rPr lang="en-AU" sz="1200" kern="1200" dirty="0" smtClean="0">
                <a:solidFill>
                  <a:schemeClr val="tx1"/>
                </a:solidFill>
                <a:latin typeface="+mn-lt"/>
                <a:ea typeface="+mn-ea"/>
                <a:cs typeface="+mn-cs"/>
              </a:rPr>
              <a:t>The ATAR data is made available on the condition that: </a:t>
            </a:r>
          </a:p>
          <a:p>
            <a:pPr lvl="0">
              <a:buFont typeface="Arial" pitchFamily="34" charset="0"/>
              <a:buChar char="•"/>
            </a:pPr>
            <a:r>
              <a:rPr lang="en-AU" dirty="0" smtClean="0"/>
              <a:t>Its not released to anyone </a:t>
            </a:r>
            <a:r>
              <a:rPr lang="en-AU" sz="1200" kern="1200" baseline="0" dirty="0" smtClean="0">
                <a:solidFill>
                  <a:schemeClr val="tx1"/>
                </a:solidFill>
                <a:latin typeface="+mn-lt"/>
                <a:ea typeface="+mn-ea"/>
                <a:cs typeface="+mn-cs"/>
              </a:rPr>
              <a:t>(include other teachers and parents) w</a:t>
            </a:r>
            <a:r>
              <a:rPr lang="en-AU" sz="1200" kern="1200" dirty="0" smtClean="0">
                <a:solidFill>
                  <a:schemeClr val="tx1"/>
                </a:solidFill>
                <a:latin typeface="+mn-lt"/>
                <a:ea typeface="+mn-ea"/>
                <a:cs typeface="+mn-cs"/>
              </a:rPr>
              <a:t>ithout the express written permission of VTAC and the student(s) </a:t>
            </a:r>
          </a:p>
          <a:p>
            <a:pPr lvl="0">
              <a:buFont typeface="Arial" pitchFamily="34" charset="0"/>
              <a:buChar char="•"/>
            </a:pPr>
            <a:r>
              <a:rPr lang="en-AU" sz="1200" kern="1200" dirty="0" smtClean="0">
                <a:solidFill>
                  <a:schemeClr val="tx1"/>
                </a:solidFill>
                <a:latin typeface="+mn-lt"/>
                <a:ea typeface="+mn-ea"/>
                <a:cs typeface="+mn-cs"/>
              </a:rPr>
              <a:t>files are held under the control of the Principal or careers teacher</a:t>
            </a:r>
            <a:r>
              <a:rPr lang="en-AU" sz="1200" kern="1200" baseline="0" dirty="0" smtClean="0">
                <a:solidFill>
                  <a:schemeClr val="tx1"/>
                </a:solidFill>
                <a:latin typeface="+mn-lt"/>
                <a:ea typeface="+mn-ea"/>
                <a:cs typeface="+mn-cs"/>
              </a:rPr>
              <a:t> to ensure that lists are posted in staff rooms or notice</a:t>
            </a:r>
            <a:r>
              <a:rPr lang="en-AU" sz="1200" kern="1200" dirty="0" smtClean="0">
                <a:solidFill>
                  <a:schemeClr val="tx1"/>
                </a:solidFill>
                <a:latin typeface="+mn-lt"/>
                <a:ea typeface="+mn-ea"/>
                <a:cs typeface="+mn-cs"/>
              </a:rPr>
              <a:t> boards</a:t>
            </a:r>
          </a:p>
          <a:p>
            <a:pPr lvl="0">
              <a:buFont typeface="Arial" pitchFamily="34" charset="0"/>
              <a:buChar char="•"/>
            </a:pPr>
            <a:r>
              <a:rPr lang="en-AU" dirty="0" smtClean="0"/>
              <a:t>files are only available to those </a:t>
            </a:r>
            <a:r>
              <a:rPr lang="en-AU" kern="1200" dirty="0" smtClean="0">
                <a:solidFill>
                  <a:schemeClr val="tx1"/>
                </a:solidFill>
                <a:latin typeface="+mn-lt"/>
                <a:ea typeface="+mn-ea"/>
                <a:cs typeface="+mn-cs"/>
              </a:rPr>
              <a:t>responsible counselling</a:t>
            </a:r>
          </a:p>
          <a:p>
            <a:pPr lvl="0">
              <a:buFont typeface="Arial" pitchFamily="34" charset="0"/>
              <a:buChar char="•"/>
            </a:pPr>
            <a:r>
              <a:rPr lang="en-AU" dirty="0" smtClean="0"/>
              <a:t>Appropriate security is in place </a:t>
            </a:r>
          </a:p>
          <a:p>
            <a:pPr lvl="0">
              <a:buFont typeface="Arial" pitchFamily="34" charset="0"/>
              <a:buChar char="•"/>
            </a:pPr>
            <a:r>
              <a:rPr lang="en-AU" sz="1200" kern="1200" dirty="0" smtClean="0">
                <a:solidFill>
                  <a:schemeClr val="tx1"/>
                </a:solidFill>
                <a:latin typeface="+mn-lt"/>
                <a:ea typeface="+mn-ea"/>
                <a:cs typeface="+mn-cs"/>
              </a:rPr>
              <a:t>Identifying information is not used for any other purpose without the express permission of the student.  </a:t>
            </a:r>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49</a:t>
            </a:fld>
            <a:endParaRPr lang="en-AU"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Login to student data the following screen comes up. This will if you select year 12 students only show you the range of ATARs in your school</a:t>
            </a:r>
          </a:p>
          <a:p>
            <a:r>
              <a:rPr lang="en-AU" dirty="0" smtClean="0"/>
              <a:t>You can go to click on to download</a:t>
            </a:r>
            <a:r>
              <a:rPr lang="en-AU" baseline="0" dirty="0" smtClean="0"/>
              <a:t> this file and by filtering you will get the result ATARs</a:t>
            </a:r>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50</a:t>
            </a:fld>
            <a:endParaRPr lang="en-AU"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dirty="0" smtClean="0"/>
              <a:t>No use may be made of the ATAR file, before 10.00am on Monday 17 December 2012</a:t>
            </a:r>
          </a:p>
          <a:p>
            <a:pPr lvl="0"/>
            <a:endParaRPr lang="en-AU" dirty="0" smtClean="0"/>
          </a:p>
          <a:p>
            <a:pPr lvl="0"/>
            <a:r>
              <a:rPr lang="en-AU" dirty="0" smtClean="0"/>
              <a:t>The reason this file is released is for the strict purpose of identifying students who may be at risk or require course counselling and record keeping. </a:t>
            </a:r>
          </a:p>
          <a:p>
            <a:r>
              <a:rPr lang="en-AU" dirty="0" smtClean="0"/>
              <a:t>It may not be used to contact students before 10.00am advise them of their ATAR or to get permission to send out a media release or any other reason that will advise a student of the contents of the file or interfere with their right to privacy. </a:t>
            </a:r>
          </a:p>
          <a:p>
            <a:endParaRPr lang="en-AU" dirty="0" smtClean="0"/>
          </a:p>
          <a:p>
            <a:r>
              <a:rPr lang="en-AU" dirty="0" smtClean="0"/>
              <a:t>After 10.00am and with the prior written consent of students  this information may be used for information and promotional purposes as part of the determination of school based awards. </a:t>
            </a:r>
          </a:p>
          <a:p>
            <a:endParaRPr lang="en-AU" dirty="0" smtClean="0"/>
          </a:p>
          <a:p>
            <a:r>
              <a:rPr lang="en-AU" dirty="0" smtClean="0"/>
              <a:t>Last year we were advised of two significant breaches of privacy. </a:t>
            </a:r>
          </a:p>
          <a:p>
            <a:endParaRPr lang="en-AU" dirty="0" smtClean="0"/>
          </a:p>
          <a:p>
            <a:r>
              <a:rPr lang="en-AU" dirty="0" smtClean="0"/>
              <a:t>In both instances it was an honest mistake. However in both instances the breach was serious and VTAC has to be able to demonstrate that privacy is tantamount however In both instances the data was withheld and a formal investigation was undertaken. </a:t>
            </a:r>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51</a:t>
            </a:fld>
            <a:endParaRPr lang="en-AU"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52</a:t>
            </a:fld>
            <a:endParaRPr lang="en-AU"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VTAC calculates a notional ATAR for Victorian IB students who have sat the GAT. </a:t>
            </a:r>
          </a:p>
          <a:p>
            <a:pPr marL="0" marR="0" indent="0" algn="l" defTabSz="914400" rtl="0" eaLnBrk="1" fontAlgn="auto" latinLnBrk="0" hangingPunct="1">
              <a:lnSpc>
                <a:spcPct val="100000"/>
              </a:lnSpc>
              <a:spcBef>
                <a:spcPts val="0"/>
              </a:spcBef>
              <a:spcAft>
                <a:spcPts val="0"/>
              </a:spcAft>
              <a:buClrTx/>
              <a:buSzTx/>
              <a:buFontTx/>
              <a:buNone/>
              <a:tabLst/>
              <a:defRPr/>
            </a:pPr>
            <a:r>
              <a:rPr lang="en-GB" sz="1200" b="0" kern="1200" dirty="0" smtClean="0">
                <a:solidFill>
                  <a:schemeClr val="tx1"/>
                </a:solidFill>
                <a:latin typeface="+mn-lt"/>
                <a:ea typeface="+mn-ea"/>
                <a:cs typeface="+mn-cs"/>
              </a:rPr>
              <a:t>Their IB results will be released to your school (if your school has submitted the results release service) from the IB Curriculum and Assessment Office (Cardiff, UK) in early January. </a:t>
            </a:r>
            <a:endParaRPr lang="en-AU" dirty="0" smtClean="0"/>
          </a:p>
          <a:p>
            <a:endParaRPr lang="en-AU" dirty="0" smtClean="0"/>
          </a:p>
          <a:p>
            <a:r>
              <a:rPr lang="en-AU" dirty="0" smtClean="0"/>
              <a:t>Victorian IB students who have applied through VTAC will receive a Notional ATAR statement. </a:t>
            </a:r>
          </a:p>
          <a:p>
            <a:r>
              <a:rPr lang="en-AU" dirty="0" smtClean="0"/>
              <a:t>If a school hasn’t submitted a results release form to Cardiff, VTAC does not get the results. This sometimes affects interstate applicants. </a:t>
            </a:r>
          </a:p>
          <a:p>
            <a:endParaRPr lang="en-GB" sz="1200" b="1" kern="1200" dirty="0" smtClean="0">
              <a:solidFill>
                <a:schemeClr val="tx1"/>
              </a:solidFill>
              <a:latin typeface="+mn-lt"/>
              <a:ea typeface="+mn-ea"/>
              <a:cs typeface="+mn-cs"/>
            </a:endParaRPr>
          </a:p>
          <a:p>
            <a:r>
              <a:rPr lang="en-GB" sz="1200" b="1" kern="1200" dirty="0" smtClean="0">
                <a:solidFill>
                  <a:schemeClr val="tx1"/>
                </a:solidFill>
                <a:latin typeface="+mn-lt"/>
                <a:ea typeface="+mn-ea"/>
                <a:cs typeface="+mn-cs"/>
              </a:rPr>
              <a:t>A notional ATAR is created for:</a:t>
            </a:r>
            <a:r>
              <a:rPr lang="en-AU" sz="1200" b="1" kern="1200" baseline="0" dirty="0" smtClean="0">
                <a:solidFill>
                  <a:schemeClr val="tx1"/>
                </a:solidFill>
                <a:latin typeface="+mn-lt"/>
                <a:ea typeface="+mn-ea"/>
                <a:cs typeface="+mn-cs"/>
              </a:rPr>
              <a:t> </a:t>
            </a:r>
            <a:r>
              <a:rPr lang="en-GB" sz="1200" b="0" kern="1200" dirty="0" smtClean="0">
                <a:solidFill>
                  <a:schemeClr val="tx1"/>
                </a:solidFill>
                <a:latin typeface="+mn-lt"/>
                <a:ea typeface="+mn-ea"/>
                <a:cs typeface="+mn-cs"/>
              </a:rPr>
              <a:t>all applicants who have studied International Baccalaureate in Victoria, qualified for the IB Diploma and sat the GAT (or received formal exemption). Getting your results Victorian Year 12 students.</a:t>
            </a:r>
            <a:endParaRPr lang="en-AU" sz="1200" b="1" kern="1200" dirty="0" smtClean="0">
              <a:solidFill>
                <a:schemeClr val="tx1"/>
              </a:solidFill>
              <a:latin typeface="+mn-lt"/>
              <a:ea typeface="+mn-ea"/>
              <a:cs typeface="+mn-cs"/>
            </a:endParaRPr>
          </a:p>
          <a:p>
            <a:endParaRPr lang="en-AU" dirty="0" smtClean="0"/>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53</a:t>
            </a:fld>
            <a:endParaRPr lang="en-AU"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54</a:t>
            </a:fld>
            <a:endParaRPr lang="en-AU"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56</a:t>
            </a:fld>
            <a:endParaRPr lang="en-AU"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Year 12 students will get their results at 7am on Monday 17 December 2012. </a:t>
            </a:r>
          </a:p>
          <a:p>
            <a:r>
              <a:rPr lang="en-AU" dirty="0" smtClean="0"/>
              <a:t>Change of preference for this group will reopen at 11am on the same day and close at 12noon on Monday 24 December 2012. </a:t>
            </a:r>
          </a:p>
          <a:p>
            <a:endParaRPr lang="en-AU" dirty="0" smtClean="0"/>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57</a:t>
            </a:fld>
            <a:endParaRPr lang="en-AU"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58</a:t>
            </a:fld>
            <a:endParaRPr lang="en-AU"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59</a:t>
            </a:fld>
            <a:endParaRPr lang="en-AU"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The Clearly in: </a:t>
            </a:r>
            <a:r>
              <a:rPr lang="en-AU" dirty="0" smtClean="0"/>
              <a:t>is the ATAR at or above which everyone who applied and was eligible for this course received an offer. </a:t>
            </a:r>
          </a:p>
          <a:p>
            <a:endParaRPr lang="en-AU" dirty="0" smtClean="0"/>
          </a:p>
          <a:p>
            <a:r>
              <a:rPr lang="en-AU" b="1" dirty="0" smtClean="0"/>
              <a:t>The % below </a:t>
            </a:r>
            <a:r>
              <a:rPr lang="en-AU" dirty="0" smtClean="0"/>
              <a:t>is the percentage of offers made to applicants with an ATAR lower than the clearly in. </a:t>
            </a:r>
          </a:p>
          <a:p>
            <a:r>
              <a:rPr lang="en-AU" dirty="0" smtClean="0"/>
              <a:t>This also gives you some idea on the percentage of people who had an ATAR lower than the clearly in but received bonuses to boost them up into the offered group. </a:t>
            </a:r>
          </a:p>
          <a:p>
            <a:endParaRPr lang="en-AU" dirty="0" smtClean="0"/>
          </a:p>
          <a:p>
            <a:r>
              <a:rPr lang="en-AU" dirty="0" smtClean="0"/>
              <a:t>In example 1: the percentage below the clearly in ATAR in January,</a:t>
            </a:r>
            <a:r>
              <a:rPr lang="en-AU" baseline="0" dirty="0" smtClean="0"/>
              <a:t> when most of the offers are made, was 47.62 percent. This means that 47.62% of applicants got in with an ATAR lower than the clearly in either by bonuses or special consideration. </a:t>
            </a:r>
          </a:p>
          <a:p>
            <a:endParaRPr lang="en-AU" baseline="0" dirty="0" smtClean="0"/>
          </a:p>
          <a:p>
            <a:r>
              <a:rPr lang="en-AU" baseline="0" dirty="0" smtClean="0"/>
              <a:t>In example 2: the percentage below the clearly in was 5.56%. This means that 5.56% got in with an ATAR lower than the clearly in of 91.80. However it doesn’t mean that the course didn’t bonus people it just means that even if they did the competition and level of ATAR for this course was very high. </a:t>
            </a:r>
            <a:endParaRPr lang="en-AU" dirty="0"/>
          </a:p>
        </p:txBody>
      </p:sp>
      <p:sp>
        <p:nvSpPr>
          <p:cNvPr id="4" name="Slide Number Placeholder 3"/>
          <p:cNvSpPr>
            <a:spLocks noGrp="1"/>
          </p:cNvSpPr>
          <p:nvPr>
            <p:ph type="sldNum" sz="quarter" idx="10"/>
          </p:nvPr>
        </p:nvSpPr>
        <p:spPr/>
        <p:txBody>
          <a:bodyPr/>
          <a:lstStyle/>
          <a:p>
            <a:fld id="{65EE676F-7762-4BB4-A496-A24276F414EE}" type="slidenum">
              <a:rPr lang="en-AU" smtClean="0"/>
              <a:pPr/>
              <a:t>60</a:t>
            </a:fld>
            <a:endParaRPr lang="en-AU"/>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61</a:t>
            </a:fld>
            <a:endParaRPr lang="en-AU"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62</a:t>
            </a:fld>
            <a:endParaRPr lang="en-AU"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200" b="0" kern="1200" dirty="0" smtClean="0">
                <a:solidFill>
                  <a:schemeClr val="tx1"/>
                </a:solidFill>
                <a:latin typeface="+mn-lt"/>
                <a:ea typeface="+mn-ea"/>
                <a:cs typeface="+mn-cs"/>
              </a:rPr>
              <a:t>If students do not pay their  course application processing fee by the due date, their  application will not be sent to the course selection authorities. </a:t>
            </a:r>
            <a:endParaRPr lang="en-AU" sz="1200" b="1" kern="1200" dirty="0" smtClean="0">
              <a:solidFill>
                <a:schemeClr val="tx1"/>
              </a:solidFill>
              <a:latin typeface="+mn-lt"/>
              <a:ea typeface="+mn-ea"/>
              <a:cs typeface="+mn-cs"/>
            </a:endParaRPr>
          </a:p>
          <a:p>
            <a:endParaRPr lang="en-GB" sz="1200" b="0" kern="1200" dirty="0" smtClean="0">
              <a:solidFill>
                <a:schemeClr val="tx1"/>
              </a:solidFill>
              <a:latin typeface="+mn-lt"/>
              <a:ea typeface="+mn-ea"/>
              <a:cs typeface="+mn-cs"/>
            </a:endParaRPr>
          </a:p>
          <a:p>
            <a:r>
              <a:rPr lang="en-GB" sz="1200" b="0" kern="1200" dirty="0" smtClean="0">
                <a:solidFill>
                  <a:schemeClr val="tx1"/>
                </a:solidFill>
                <a:latin typeface="+mn-lt"/>
                <a:ea typeface="+mn-ea"/>
                <a:cs typeface="+mn-cs"/>
              </a:rPr>
              <a:t>After the course selection authorities have considered applications, they will advise VTAC who they wish to offer a place in the course. VTAC then advises applicants of the highest offer on their preference list. </a:t>
            </a:r>
            <a:endParaRPr lang="en-AU" sz="1200" b="1" kern="1200" dirty="0" smtClean="0">
              <a:solidFill>
                <a:schemeClr val="tx1"/>
              </a:solidFill>
              <a:latin typeface="+mn-lt"/>
              <a:ea typeface="+mn-ea"/>
              <a:cs typeface="+mn-cs"/>
            </a:endParaRPr>
          </a:p>
          <a:p>
            <a:endParaRPr lang="en-GB" sz="1200" b="0" kern="1200" dirty="0" smtClean="0">
              <a:solidFill>
                <a:schemeClr val="tx1"/>
              </a:solidFill>
              <a:latin typeface="+mn-lt"/>
              <a:ea typeface="+mn-ea"/>
              <a:cs typeface="+mn-cs"/>
            </a:endParaRPr>
          </a:p>
          <a:p>
            <a:r>
              <a:rPr lang="en-GB" sz="1200" b="0" kern="1200" dirty="0" smtClean="0">
                <a:solidFill>
                  <a:schemeClr val="tx1"/>
                </a:solidFill>
                <a:latin typeface="+mn-lt"/>
                <a:ea typeface="+mn-ea"/>
                <a:cs typeface="+mn-cs"/>
              </a:rPr>
              <a:t>In round two, students will be considered for course preferences higher than the offers they have received. </a:t>
            </a:r>
            <a:endParaRPr lang="en-AU" sz="1200" b="1" kern="1200" dirty="0" smtClean="0">
              <a:solidFill>
                <a:schemeClr val="tx1"/>
              </a:solidFill>
              <a:latin typeface="+mn-lt"/>
              <a:ea typeface="+mn-ea"/>
              <a:cs typeface="+mn-cs"/>
            </a:endParaRPr>
          </a:p>
          <a:p>
            <a:r>
              <a:rPr lang="en-GB" sz="1200" b="0" kern="1200" dirty="0" smtClean="0">
                <a:solidFill>
                  <a:schemeClr val="tx1"/>
                </a:solidFill>
                <a:latin typeface="+mn-lt"/>
                <a:ea typeface="+mn-ea"/>
                <a:cs typeface="+mn-cs"/>
              </a:rPr>
              <a:t>VTAC will again advise students of the highest offer made (if any). </a:t>
            </a:r>
            <a:endParaRPr lang="en-AU" sz="1200" b="1" kern="1200" dirty="0" smtClean="0">
              <a:solidFill>
                <a:schemeClr val="tx1"/>
              </a:solidFill>
              <a:latin typeface="+mn-lt"/>
              <a:ea typeface="+mn-ea"/>
              <a:cs typeface="+mn-cs"/>
            </a:endParaRPr>
          </a:p>
          <a:p>
            <a:r>
              <a:rPr lang="en-GB" sz="1200" b="0" kern="1200" dirty="0" smtClean="0">
                <a:solidFill>
                  <a:schemeClr val="tx1"/>
                </a:solidFill>
                <a:latin typeface="+mn-lt"/>
                <a:ea typeface="+mn-ea"/>
                <a:cs typeface="+mn-cs"/>
              </a:rPr>
              <a:t/>
            </a:r>
            <a:br>
              <a:rPr lang="en-GB" sz="1200" b="0" kern="1200" dirty="0" smtClean="0">
                <a:solidFill>
                  <a:schemeClr val="tx1"/>
                </a:solidFill>
                <a:latin typeface="+mn-lt"/>
                <a:ea typeface="+mn-ea"/>
                <a:cs typeface="+mn-cs"/>
              </a:rPr>
            </a:br>
            <a:r>
              <a:rPr lang="en-GB" sz="1200" b="0" kern="1200" dirty="0" smtClean="0">
                <a:solidFill>
                  <a:schemeClr val="tx1"/>
                </a:solidFill>
                <a:latin typeface="+mn-lt"/>
                <a:ea typeface="+mn-ea"/>
                <a:cs typeface="+mn-cs"/>
              </a:rPr>
              <a:t>All offers are provisional.</a:t>
            </a:r>
            <a:r>
              <a:rPr lang="en-GB" sz="1200" b="0" kern="1200" baseline="0" dirty="0" smtClean="0">
                <a:solidFill>
                  <a:schemeClr val="tx1"/>
                </a:solidFill>
                <a:latin typeface="+mn-lt"/>
                <a:ea typeface="+mn-ea"/>
                <a:cs typeface="+mn-cs"/>
              </a:rPr>
              <a:t> </a:t>
            </a:r>
            <a:r>
              <a:rPr lang="en-GB" sz="1200" b="0" kern="1200" dirty="0" smtClean="0">
                <a:solidFill>
                  <a:schemeClr val="tx1"/>
                </a:solidFill>
                <a:latin typeface="+mn-lt"/>
                <a:ea typeface="+mn-ea"/>
                <a:cs typeface="+mn-cs"/>
              </a:rPr>
              <a:t>Any offer received by a student is subject</a:t>
            </a:r>
            <a:r>
              <a:rPr lang="en-GB" sz="1200" b="0" kern="1200" baseline="0" dirty="0" smtClean="0">
                <a:solidFill>
                  <a:schemeClr val="tx1"/>
                </a:solidFill>
                <a:latin typeface="+mn-lt"/>
                <a:ea typeface="+mn-ea"/>
                <a:cs typeface="+mn-cs"/>
              </a:rPr>
              <a:t> to them meeting eligibility and submitting a true and correct application. </a:t>
            </a:r>
            <a:endParaRPr lang="en-AU" sz="1200" b="1" kern="1200" dirty="0" smtClean="0">
              <a:solidFill>
                <a:schemeClr val="tx1"/>
              </a:solidFill>
              <a:latin typeface="+mn-lt"/>
              <a:ea typeface="+mn-ea"/>
              <a:cs typeface="+mn-cs"/>
            </a:endParaRPr>
          </a:p>
          <a:p>
            <a:r>
              <a:rPr lang="en-GB" sz="1200" b="0" kern="1200" dirty="0" smtClean="0">
                <a:solidFill>
                  <a:schemeClr val="tx1"/>
                </a:solidFill>
                <a:latin typeface="+mn-lt"/>
                <a:ea typeface="+mn-ea"/>
                <a:cs typeface="+mn-cs"/>
              </a:rPr>
              <a:t>Note: Submitting an application does not guarantee an offer</a:t>
            </a:r>
            <a:endParaRPr lang="en-AU" sz="1200" b="1" kern="1200" dirty="0" smtClean="0">
              <a:solidFill>
                <a:schemeClr val="tx1"/>
              </a:solidFill>
              <a:latin typeface="+mn-lt"/>
              <a:ea typeface="+mn-ea"/>
              <a:cs typeface="+mn-cs"/>
            </a:endParaRPr>
          </a:p>
          <a:p>
            <a:endParaRPr lang="en-AU" dirty="0" smtClean="0"/>
          </a:p>
          <a:p>
            <a:endParaRPr lang="en-AU" dirty="0" smtClean="0"/>
          </a:p>
          <a:p>
            <a:endParaRPr lang="en-AU" dirty="0" smtClean="0"/>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63</a:t>
            </a:fld>
            <a:endParaRPr lang="en-AU"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400" dirty="0" smtClean="0"/>
              <a:t>A student submits their VTAC course application and pays their processing fees: </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400" dirty="0" smtClean="0"/>
              <a:t>Submitting an application does not guarantee an offer</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400" dirty="0" smtClean="0"/>
              <a:t>Remember processing fees are payable</a:t>
            </a:r>
            <a:r>
              <a:rPr lang="en-AU" sz="1400" baseline="0" dirty="0" smtClean="0"/>
              <a:t> by credit card or PayPal. There are no invoices.</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400" baseline="0" dirty="0" smtClean="0"/>
              <a:t>Students can also select to defer their payment – so it doesn’t have to be paid on the spot.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400"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AU" sz="1400" baseline="0" dirty="0" smtClean="0"/>
              <a:t>To find out if a student has or hasn’t paid, the student can check their user account at VTAC or you can check their status on CourseLink. </a:t>
            </a:r>
          </a:p>
          <a:p>
            <a:endParaRPr lang="en-AU" sz="1400" kern="1200" baseline="0" dirty="0" smtClean="0">
              <a:solidFill>
                <a:schemeClr val="tx1"/>
              </a:solidFill>
              <a:latin typeface="+mn-lt"/>
              <a:ea typeface="+mn-ea"/>
              <a:cs typeface="+mn-cs"/>
            </a:endParaRPr>
          </a:p>
          <a:p>
            <a:r>
              <a:rPr lang="en-AU" sz="1400" kern="1200" baseline="0" dirty="0" smtClean="0">
                <a:solidFill>
                  <a:schemeClr val="tx1"/>
                </a:solidFill>
                <a:latin typeface="+mn-lt"/>
                <a:ea typeface="+mn-ea"/>
                <a:cs typeface="+mn-cs"/>
              </a:rPr>
              <a:t>After the application is submitted VTAC processes </a:t>
            </a:r>
            <a:r>
              <a:rPr lang="en-AU" sz="1400" dirty="0" smtClean="0"/>
              <a:t>the </a:t>
            </a:r>
            <a:r>
              <a:rPr lang="en-AU" sz="1400" kern="1200" baseline="0" dirty="0" smtClean="0">
                <a:solidFill>
                  <a:schemeClr val="tx1"/>
                </a:solidFill>
                <a:latin typeface="+mn-lt"/>
                <a:ea typeface="+mn-ea"/>
                <a:cs typeface="+mn-cs"/>
              </a:rPr>
              <a:t>application and supplies it to the course authorities for each course listed.</a:t>
            </a:r>
            <a:r>
              <a:rPr lang="en-AU" sz="1400" kern="1200" dirty="0" smtClean="0">
                <a:solidFill>
                  <a:schemeClr val="tx1"/>
                </a:solidFill>
                <a:latin typeface="+mn-lt"/>
                <a:ea typeface="+mn-ea"/>
                <a:cs typeface="+mn-cs"/>
              </a:rPr>
              <a:t> </a:t>
            </a:r>
            <a:r>
              <a:rPr lang="en-AU" sz="1400" dirty="0" smtClean="0"/>
              <a:t>Course authorities consider the course  application and take into account the SEAS application (if one has been submitted). </a:t>
            </a:r>
          </a:p>
          <a:p>
            <a:endParaRPr lang="en-AU" sz="1400" dirty="0" smtClean="0"/>
          </a:p>
          <a:p>
            <a:r>
              <a:rPr lang="en-AU" sz="1400" dirty="0" smtClean="0"/>
              <a:t>Course authorities advise VTAC if they want to make you an offer	</a:t>
            </a:r>
          </a:p>
          <a:p>
            <a:endParaRPr lang="en-AU" sz="1400" kern="1200" dirty="0" smtClean="0">
              <a:solidFill>
                <a:schemeClr val="tx1"/>
              </a:solidFill>
              <a:latin typeface="+mn-lt"/>
              <a:ea typeface="+mn-ea"/>
              <a:cs typeface="+mn-cs"/>
            </a:endParaRPr>
          </a:p>
          <a:p>
            <a:r>
              <a:rPr lang="en-AU" sz="1400" dirty="0" smtClean="0"/>
              <a:t>VTAC notifies applicants of the highest offer for the current round and the student decides whether or not to accept, reject or defer the offer. </a:t>
            </a:r>
          </a:p>
          <a:p>
            <a:r>
              <a:rPr lang="en-AU" dirty="0" smtClean="0"/>
              <a:t>	</a:t>
            </a:r>
          </a:p>
          <a:p>
            <a:endParaRPr lang="en-AU" sz="1200"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smtClean="0"/>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64</a:t>
            </a:fld>
            <a:endParaRPr lang="en-AU"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GB" sz="2400" b="1" dirty="0" smtClean="0"/>
              <a:t>Negotiated offers.  </a:t>
            </a:r>
            <a:r>
              <a:rPr lang="en-GB" sz="2400" b="0" dirty="0" smtClean="0"/>
              <a:t>What are they?</a:t>
            </a:r>
            <a:r>
              <a:rPr lang="en-GB" sz="2400" b="0" baseline="0" dirty="0" smtClean="0"/>
              <a:t> </a:t>
            </a:r>
            <a:r>
              <a:rPr lang="en-GB" sz="2400" b="0" dirty="0" smtClean="0"/>
              <a:t>Who can</a:t>
            </a:r>
            <a:r>
              <a:rPr lang="en-GB" sz="2400" b="0" baseline="0" dirty="0" smtClean="0"/>
              <a:t> apply for one? How many do they submit?</a:t>
            </a:r>
          </a:p>
          <a:p>
            <a:r>
              <a:rPr lang="en-GB" sz="2400" b="1" baseline="0" dirty="0" smtClean="0"/>
              <a:t>Supplementary offers.  are all applicants eligible </a:t>
            </a:r>
            <a:endParaRPr lang="en-GB" sz="2400" b="1" dirty="0" smtClean="0"/>
          </a:p>
          <a:p>
            <a:endParaRPr lang="en-GB" sz="2400" b="1" dirty="0" smtClean="0"/>
          </a:p>
          <a:p>
            <a:r>
              <a:rPr lang="en-GB" sz="2400" dirty="0" smtClean="0"/>
              <a:t>Applicants (including international VCE) can apply after the main round of offers </a:t>
            </a:r>
          </a:p>
          <a:p>
            <a:r>
              <a:rPr lang="en-GB" sz="2400" dirty="0" smtClean="0"/>
              <a:t>Applicants apply for a negotiated offer if they want to be considered for a: </a:t>
            </a:r>
            <a:endParaRPr lang="en-AU" sz="2400" dirty="0" smtClean="0"/>
          </a:p>
          <a:p>
            <a:pPr lvl="1"/>
            <a:r>
              <a:rPr lang="en-GB" sz="2000" dirty="0" smtClean="0"/>
              <a:t>course preference listed lower than an offer they have received </a:t>
            </a:r>
            <a:endParaRPr lang="en-AU" sz="2000" dirty="0" smtClean="0"/>
          </a:p>
          <a:p>
            <a:pPr lvl="1"/>
            <a:r>
              <a:rPr lang="en-GB" sz="2000" dirty="0" smtClean="0"/>
              <a:t>course not listed on their application Applicants should not rely on the negotiated offer option to get into the course they want. Not all courses accept negotiated-offer requests. </a:t>
            </a:r>
          </a:p>
          <a:p>
            <a:pPr lvl="1"/>
            <a:endParaRPr lang="en-GB" sz="2000" dirty="0" smtClean="0"/>
          </a:p>
          <a:p>
            <a:pPr lvl="1"/>
            <a:endParaRPr lang="en-GB" sz="2000" dirty="0" smtClean="0"/>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65</a:t>
            </a:fld>
            <a:endParaRPr lang="en-AU"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200" b="0" kern="1200" dirty="0" smtClean="0">
                <a:solidFill>
                  <a:schemeClr val="tx1"/>
                </a:solidFill>
                <a:latin typeface="+mn-lt"/>
                <a:ea typeface="+mn-ea"/>
                <a:cs typeface="+mn-cs"/>
              </a:rPr>
              <a:t>Applicants must complete the negotiated-offer request in their VTAC user account</a:t>
            </a:r>
            <a:endParaRPr lang="en-AU" sz="1200" b="0" kern="1200" dirty="0" smtClean="0">
              <a:solidFill>
                <a:schemeClr val="tx1"/>
              </a:solidFill>
              <a:latin typeface="+mn-lt"/>
              <a:ea typeface="+mn-ea"/>
              <a:cs typeface="+mn-cs"/>
            </a:endParaRPr>
          </a:p>
          <a:p>
            <a:r>
              <a:rPr lang="en-GB" sz="1200" b="0" kern="1200" dirty="0" smtClean="0">
                <a:solidFill>
                  <a:schemeClr val="tx1"/>
                </a:solidFill>
                <a:latin typeface="+mn-lt"/>
                <a:ea typeface="+mn-ea"/>
                <a:cs typeface="+mn-cs"/>
              </a:rPr>
              <a:t>The request is forwarded to the course selection officer to consider. </a:t>
            </a:r>
            <a:endParaRPr lang="en-AU" sz="1200" b="0" kern="1200" dirty="0" smtClean="0">
              <a:solidFill>
                <a:schemeClr val="tx1"/>
              </a:solidFill>
              <a:latin typeface="+mn-lt"/>
              <a:ea typeface="+mn-ea"/>
              <a:cs typeface="+mn-cs"/>
            </a:endParaRPr>
          </a:p>
          <a:p>
            <a:r>
              <a:rPr lang="en-GB" sz="1200" b="0" kern="1200" dirty="0" smtClean="0">
                <a:solidFill>
                  <a:schemeClr val="tx1"/>
                </a:solidFill>
                <a:latin typeface="+mn-lt"/>
                <a:ea typeface="+mn-ea"/>
                <a:cs typeface="+mn-cs"/>
              </a:rPr>
              <a:t>They can  track the progress of their negotiated- offer request via their VTAC user account. </a:t>
            </a:r>
          </a:p>
          <a:p>
            <a:endParaRPr lang="en-GB" sz="1200" b="0" kern="1200" dirty="0" smtClean="0">
              <a:solidFill>
                <a:schemeClr val="tx1"/>
              </a:solidFill>
              <a:latin typeface="+mn-lt"/>
              <a:ea typeface="+mn-ea"/>
              <a:cs typeface="+mn-cs"/>
            </a:endParaRPr>
          </a:p>
          <a:p>
            <a:r>
              <a:rPr lang="en-GB" sz="1200" b="0" kern="1200" dirty="0" smtClean="0">
                <a:solidFill>
                  <a:schemeClr val="tx1"/>
                </a:solidFill>
                <a:latin typeface="+mn-lt"/>
                <a:ea typeface="+mn-ea"/>
                <a:cs typeface="+mn-cs"/>
              </a:rPr>
              <a:t>If the status of the negotiated-offer request is ‘Pending’, it is still awaiting a response from the selection officer. </a:t>
            </a:r>
            <a:endParaRPr lang="en-AU" sz="1200" b="0" kern="1200" dirty="0" smtClean="0">
              <a:solidFill>
                <a:schemeClr val="tx1"/>
              </a:solidFill>
              <a:latin typeface="+mn-lt"/>
              <a:ea typeface="+mn-ea"/>
              <a:cs typeface="+mn-cs"/>
            </a:endParaRPr>
          </a:p>
          <a:p>
            <a:r>
              <a:rPr lang="en-GB" sz="1200" b="0" kern="1200" dirty="0" smtClean="0">
                <a:solidFill>
                  <a:schemeClr val="tx1"/>
                </a:solidFill>
                <a:latin typeface="+mn-lt"/>
                <a:ea typeface="+mn-ea"/>
                <a:cs typeface="+mn-cs"/>
              </a:rPr>
              <a:t>While the request is ‘Pending’ they can choose to remove it and submit another request for a different course. Through their VTAC user account</a:t>
            </a:r>
          </a:p>
          <a:p>
            <a:endParaRPr lang="en-GB" sz="1200" b="0" kern="1200" dirty="0" smtClean="0">
              <a:solidFill>
                <a:schemeClr val="tx1"/>
              </a:solidFill>
              <a:latin typeface="+mn-lt"/>
              <a:ea typeface="+mn-ea"/>
              <a:cs typeface="+mn-cs"/>
            </a:endParaRPr>
          </a:p>
          <a:p>
            <a:r>
              <a:rPr lang="en-GB" sz="1100" dirty="0" smtClean="0"/>
              <a:t> </a:t>
            </a:r>
            <a:r>
              <a:rPr lang="en-GB" sz="1200" b="1" dirty="0" smtClean="0"/>
              <a:t>If the status of the applicants negotiated-offer request is ‘Rejected’, they will not be offered a place in that course. </a:t>
            </a:r>
            <a:endParaRPr lang="en-AU" sz="1200" b="1" dirty="0" smtClean="0"/>
          </a:p>
          <a:p>
            <a:endParaRPr lang="en-GB" sz="1200" b="1" dirty="0" smtClean="0"/>
          </a:p>
          <a:p>
            <a:r>
              <a:rPr lang="en-GB" sz="1200" b="0" dirty="0" smtClean="0"/>
              <a:t>Applicants can submit another request for a different course. </a:t>
            </a:r>
            <a:endParaRPr lang="en-AU" sz="1200" b="0" dirty="0" smtClean="0"/>
          </a:p>
          <a:p>
            <a:r>
              <a:rPr lang="en-GB" sz="1200" b="0" dirty="0" smtClean="0"/>
              <a:t>Or they can wait to be considered for higher preferences on your course application. Approved status:</a:t>
            </a:r>
            <a:endParaRPr lang="en-AU" sz="1200" b="0" dirty="0" smtClean="0"/>
          </a:p>
          <a:p>
            <a:r>
              <a:rPr lang="en-GB" sz="1200" b="0" dirty="0" smtClean="0"/>
              <a:t> If the status of the negotiated-offer request is ‘Approved’, they will be offered a place in that course. they will receive an offer letter by mail in the next offer round. </a:t>
            </a:r>
            <a:endParaRPr lang="en-AU" sz="1200" b="0" dirty="0" smtClean="0"/>
          </a:p>
          <a:p>
            <a:endParaRPr lang="en-AU" sz="1200" b="0" kern="1200" dirty="0" smtClean="0">
              <a:solidFill>
                <a:schemeClr val="tx1"/>
              </a:solidFill>
              <a:latin typeface="+mn-lt"/>
              <a:ea typeface="+mn-ea"/>
              <a:cs typeface="+mn-cs"/>
            </a:endParaRPr>
          </a:p>
          <a:p>
            <a:endParaRPr lang="en-AU" sz="1200" b="0" dirty="0" smtClean="0"/>
          </a:p>
          <a:p>
            <a:endParaRPr lang="en-AU" b="0" dirty="0" smtClean="0"/>
          </a:p>
          <a:p>
            <a:endParaRPr lang="en-AU" dirty="0" smtClean="0"/>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67</a:t>
            </a:fld>
            <a:endParaRPr lang="en-AU"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200" b="0" kern="1200" dirty="0" smtClean="0">
                <a:solidFill>
                  <a:schemeClr val="tx1"/>
                </a:solidFill>
                <a:latin typeface="+mn-lt"/>
                <a:ea typeface="+mn-ea"/>
                <a:cs typeface="+mn-cs"/>
              </a:rPr>
              <a:t>Some institutions may make supplementary offers after Round 2 if they have places available. </a:t>
            </a:r>
            <a:endParaRPr lang="en-AU" sz="1200" b="1" kern="1200" dirty="0" smtClean="0">
              <a:solidFill>
                <a:schemeClr val="tx1"/>
              </a:solidFill>
              <a:latin typeface="+mn-lt"/>
              <a:ea typeface="+mn-ea"/>
              <a:cs typeface="+mn-cs"/>
            </a:endParaRPr>
          </a:p>
          <a:p>
            <a:r>
              <a:rPr lang="en-GB" sz="1200" b="0" kern="1200" dirty="0" smtClean="0">
                <a:solidFill>
                  <a:schemeClr val="tx1"/>
                </a:solidFill>
                <a:latin typeface="+mn-lt"/>
                <a:ea typeface="+mn-ea"/>
                <a:cs typeface="+mn-cs"/>
              </a:rPr>
              <a:t>applicants may receive supplementary offers if they</a:t>
            </a:r>
            <a:endParaRPr lang="en-AU" sz="1200" b="1" kern="1200" dirty="0" smtClean="0">
              <a:solidFill>
                <a:schemeClr val="tx1"/>
              </a:solidFill>
              <a:latin typeface="+mn-lt"/>
              <a:ea typeface="+mn-ea"/>
              <a:cs typeface="+mn-cs"/>
            </a:endParaRPr>
          </a:p>
          <a:p>
            <a:r>
              <a:rPr lang="en-GB" sz="1200" b="0" kern="1200" dirty="0" smtClean="0">
                <a:solidFill>
                  <a:schemeClr val="tx1"/>
                </a:solidFill>
                <a:latin typeface="+mn-lt"/>
                <a:ea typeface="+mn-ea"/>
                <a:cs typeface="+mn-cs"/>
              </a:rPr>
              <a:t>have not received an offer in any of the previous offer rounds (Early, Round 1, Round 2) </a:t>
            </a:r>
            <a:endParaRPr lang="en-AU" sz="1200" b="1" kern="1200" dirty="0" smtClean="0">
              <a:solidFill>
                <a:schemeClr val="tx1"/>
              </a:solidFill>
              <a:latin typeface="+mn-lt"/>
              <a:ea typeface="+mn-ea"/>
              <a:cs typeface="+mn-cs"/>
            </a:endParaRPr>
          </a:p>
          <a:p>
            <a:r>
              <a:rPr lang="en-GB" sz="1200" b="0" kern="1200" dirty="0" smtClean="0">
                <a:solidFill>
                  <a:schemeClr val="tx1"/>
                </a:solidFill>
                <a:latin typeface="+mn-lt"/>
                <a:ea typeface="+mn-ea"/>
                <a:cs typeface="+mn-cs"/>
              </a:rPr>
              <a:t>have not been granted an offer for a negotiated offer; </a:t>
            </a:r>
            <a:endParaRPr lang="en-AU" sz="1200" b="1" kern="1200" dirty="0" smtClean="0">
              <a:solidFill>
                <a:schemeClr val="tx1"/>
              </a:solidFill>
              <a:latin typeface="+mn-lt"/>
              <a:ea typeface="+mn-ea"/>
              <a:cs typeface="+mn-cs"/>
            </a:endParaRPr>
          </a:p>
          <a:p>
            <a:r>
              <a:rPr lang="en-GB" sz="1200" b="0" kern="1200" dirty="0" smtClean="0">
                <a:solidFill>
                  <a:schemeClr val="tx1"/>
                </a:solidFill>
                <a:latin typeface="+mn-lt"/>
                <a:ea typeface="+mn-ea"/>
                <a:cs typeface="+mn-cs"/>
              </a:rPr>
              <a:t> have given VTAC permission to release their application to all courses with vacancies. Applicants gave this permission either at the time of applying, or later in their VTAC user account. </a:t>
            </a:r>
          </a:p>
          <a:p>
            <a:endParaRPr lang="en-GB" sz="1200" b="0" kern="1200" dirty="0" smtClean="0">
              <a:solidFill>
                <a:schemeClr val="tx1"/>
              </a:solidFill>
              <a:latin typeface="+mn-lt"/>
              <a:ea typeface="+mn-ea"/>
              <a:cs typeface="+mn-cs"/>
            </a:endParaRPr>
          </a:p>
          <a:p>
            <a:r>
              <a:rPr lang="en-GB" sz="1200" b="0" kern="1200" dirty="0" smtClean="0">
                <a:solidFill>
                  <a:schemeClr val="tx1"/>
                </a:solidFill>
                <a:latin typeface="+mn-lt"/>
                <a:ea typeface="+mn-ea"/>
                <a:cs typeface="+mn-cs"/>
              </a:rPr>
              <a:t>Supplementary offers will be processed weekly. </a:t>
            </a:r>
            <a:endParaRPr lang="en-AU" sz="1200" b="1" kern="1200" dirty="0" smtClean="0">
              <a:solidFill>
                <a:schemeClr val="tx1"/>
              </a:solidFill>
              <a:latin typeface="+mn-lt"/>
              <a:ea typeface="+mn-ea"/>
              <a:cs typeface="+mn-cs"/>
            </a:endParaRPr>
          </a:p>
          <a:p>
            <a:r>
              <a:rPr lang="en-GB" sz="1200" b="0" kern="1200" dirty="0" smtClean="0">
                <a:solidFill>
                  <a:schemeClr val="tx1"/>
                </a:solidFill>
                <a:latin typeface="+mn-lt"/>
                <a:ea typeface="+mn-ea"/>
                <a:cs typeface="+mn-cs"/>
              </a:rPr>
              <a:t>Applicants may receive two or more offers at the same time, </a:t>
            </a:r>
            <a:endParaRPr lang="en-AU" sz="1200" b="1" kern="1200" dirty="0" smtClean="0">
              <a:solidFill>
                <a:schemeClr val="tx1"/>
              </a:solidFill>
              <a:latin typeface="+mn-lt"/>
              <a:ea typeface="+mn-ea"/>
              <a:cs typeface="+mn-cs"/>
            </a:endParaRPr>
          </a:p>
          <a:p>
            <a:r>
              <a:rPr lang="en-GB" sz="1200" b="0" kern="1200" dirty="0" smtClean="0">
                <a:solidFill>
                  <a:schemeClr val="tx1"/>
                </a:solidFill>
                <a:latin typeface="+mn-lt"/>
                <a:ea typeface="+mn-ea"/>
                <a:cs typeface="+mn-cs"/>
              </a:rPr>
              <a:t>They will need to choose which offer to accept—you should not  </a:t>
            </a:r>
            <a:endParaRPr lang="en-AU" sz="1200" b="1" kern="1200" dirty="0" smtClean="0">
              <a:solidFill>
                <a:schemeClr val="tx1"/>
              </a:solidFill>
              <a:latin typeface="+mn-lt"/>
              <a:ea typeface="+mn-ea"/>
              <a:cs typeface="+mn-cs"/>
            </a:endParaRPr>
          </a:p>
          <a:p>
            <a:endParaRPr lang="en-AU" sz="1200" b="1" kern="1200" dirty="0" smtClean="0">
              <a:solidFill>
                <a:schemeClr val="tx1"/>
              </a:solidFill>
              <a:latin typeface="+mn-lt"/>
              <a:ea typeface="+mn-ea"/>
              <a:cs typeface="+mn-cs"/>
            </a:endParaRPr>
          </a:p>
          <a:p>
            <a:endParaRPr lang="en-AU" dirty="0" smtClean="0"/>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68</a:t>
            </a:fld>
            <a:endParaRPr lang="en-AU"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70</a:t>
            </a:fld>
            <a:endParaRPr lang="en-AU"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E45CC6DF-E8E4-492E-8583-D7B1F740E1C8}" type="datetimeFigureOut">
              <a:rPr lang="en-AU" smtClean="0"/>
              <a:pPr/>
              <a:t>23/07/2012</a:t>
            </a:fld>
            <a:endParaRPr lang="en-AU" dirty="0"/>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AU" dirty="0"/>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728046C7-1613-412A-B6A8-2FE6DA40C158}" type="slidenum">
              <a:rPr lang="en-AU" smtClean="0"/>
              <a:pPr/>
              <a:t>‹#›</a:t>
            </a:fld>
            <a:endParaRPr lang="en-AU"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E45CC6DF-E8E4-492E-8583-D7B1F740E1C8}" type="datetimeFigureOut">
              <a:rPr lang="en-AU" smtClean="0"/>
              <a:pPr/>
              <a:t>23/07/2012</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728046C7-1613-412A-B6A8-2FE6DA40C158}" type="slidenum">
              <a:rPr lang="en-AU" smtClean="0"/>
              <a:pPr/>
              <a:t>‹#›</a:t>
            </a:fld>
            <a:endParaRPr lang="en-AU" dirty="0"/>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pic>
        <p:nvPicPr>
          <p:cNvPr id="7" name="Picture 6" descr="VTAC Logo transparent background.jpg"/>
          <p:cNvPicPr>
            <a:picLocks noChangeAspect="1"/>
          </p:cNvPicPr>
          <p:nvPr userDrawn="1"/>
        </p:nvPicPr>
        <p:blipFill>
          <a:blip r:embed="rId2" cstate="print"/>
          <a:stretch>
            <a:fillRect/>
          </a:stretch>
        </p:blipFill>
        <p:spPr>
          <a:xfrm>
            <a:off x="8172400" y="6381328"/>
            <a:ext cx="840112" cy="34004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E45CC6DF-E8E4-492E-8583-D7B1F740E1C8}" type="datetimeFigureOut">
              <a:rPr lang="en-AU" smtClean="0"/>
              <a:pPr/>
              <a:t>23/07/2012</a:t>
            </a:fld>
            <a:endParaRPr lang="en-AU" dirty="0"/>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728046C7-1613-412A-B6A8-2FE6DA40C158}" type="slidenum">
              <a:rPr lang="en-AU" smtClean="0"/>
              <a:pPr/>
              <a:t>‹#›</a:t>
            </a:fld>
            <a:endParaRPr lang="en-AU" dirty="0"/>
          </a:p>
        </p:txBody>
      </p:sp>
      <p:sp>
        <p:nvSpPr>
          <p:cNvPr id="14" name="Footer Placeholder 13"/>
          <p:cNvSpPr>
            <a:spLocks noGrp="1"/>
          </p:cNvSpPr>
          <p:nvPr>
            <p:ph type="ftr" sz="quarter" idx="12"/>
          </p:nvPr>
        </p:nvSpPr>
        <p:spPr/>
        <p:txBody>
          <a:bodyPr/>
          <a:lstStyle/>
          <a:p>
            <a:endParaRPr lang="en-AU"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E45CC6DF-E8E4-492E-8583-D7B1F740E1C8}" type="datetimeFigureOut">
              <a:rPr lang="en-AU" smtClean="0"/>
              <a:pPr/>
              <a:t>23/07/2012</a:t>
            </a:fld>
            <a:endParaRPr lang="en-AU" dirty="0"/>
          </a:p>
        </p:txBody>
      </p:sp>
      <p:sp>
        <p:nvSpPr>
          <p:cNvPr id="10" name="Slide Number Placeholder 9"/>
          <p:cNvSpPr>
            <a:spLocks noGrp="1"/>
          </p:cNvSpPr>
          <p:nvPr>
            <p:ph type="sldNum" sz="quarter" idx="16"/>
          </p:nvPr>
        </p:nvSpPr>
        <p:spPr/>
        <p:txBody>
          <a:bodyPr rtlCol="0"/>
          <a:lstStyle/>
          <a:p>
            <a:fld id="{728046C7-1613-412A-B6A8-2FE6DA40C158}" type="slidenum">
              <a:rPr lang="en-AU" smtClean="0"/>
              <a:pPr/>
              <a:t>‹#›</a:t>
            </a:fld>
            <a:endParaRPr lang="en-AU" dirty="0"/>
          </a:p>
        </p:txBody>
      </p:sp>
      <p:sp>
        <p:nvSpPr>
          <p:cNvPr id="12" name="Footer Placeholder 11"/>
          <p:cNvSpPr>
            <a:spLocks noGrp="1"/>
          </p:cNvSpPr>
          <p:nvPr>
            <p:ph type="ftr" sz="quarter" idx="17"/>
          </p:nvPr>
        </p:nvSpPr>
        <p:spPr/>
        <p:txBody>
          <a:bodyPr rtlCol="0"/>
          <a:lstStyle/>
          <a:p>
            <a:endParaRPr lang="en-AU"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E45CC6DF-E8E4-492E-8583-D7B1F740E1C8}" type="datetimeFigureOut">
              <a:rPr lang="en-AU" smtClean="0"/>
              <a:pPr/>
              <a:t>23/07/2012</a:t>
            </a:fld>
            <a:endParaRPr lang="en-AU" dirty="0"/>
          </a:p>
        </p:txBody>
      </p:sp>
      <p:sp>
        <p:nvSpPr>
          <p:cNvPr id="12" name="Slide Number Placeholder 11"/>
          <p:cNvSpPr>
            <a:spLocks noGrp="1"/>
          </p:cNvSpPr>
          <p:nvPr>
            <p:ph type="sldNum" sz="quarter" idx="16"/>
          </p:nvPr>
        </p:nvSpPr>
        <p:spPr/>
        <p:txBody>
          <a:bodyPr rtlCol="0"/>
          <a:lstStyle/>
          <a:p>
            <a:fld id="{728046C7-1613-412A-B6A8-2FE6DA40C158}" type="slidenum">
              <a:rPr lang="en-AU" smtClean="0"/>
              <a:pPr/>
              <a:t>‹#›</a:t>
            </a:fld>
            <a:endParaRPr lang="en-AU" dirty="0"/>
          </a:p>
        </p:txBody>
      </p:sp>
      <p:sp>
        <p:nvSpPr>
          <p:cNvPr id="14" name="Footer Placeholder 13"/>
          <p:cNvSpPr>
            <a:spLocks noGrp="1"/>
          </p:cNvSpPr>
          <p:nvPr>
            <p:ph type="ftr" sz="quarter" idx="17"/>
          </p:nvPr>
        </p:nvSpPr>
        <p:spPr/>
        <p:txBody>
          <a:bodyPr rtlCol="0"/>
          <a:lstStyle/>
          <a:p>
            <a:endParaRPr lang="en-AU" dirty="0"/>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pic>
        <p:nvPicPr>
          <p:cNvPr id="17" name="Picture 16" descr="VTAC Logo transparent background.jpg"/>
          <p:cNvPicPr>
            <a:picLocks noChangeAspect="1"/>
          </p:cNvPicPr>
          <p:nvPr userDrawn="1"/>
        </p:nvPicPr>
        <p:blipFill>
          <a:blip r:embed="rId2" cstate="print"/>
          <a:stretch>
            <a:fillRect/>
          </a:stretch>
        </p:blipFill>
        <p:spPr>
          <a:xfrm>
            <a:off x="8172400" y="6381328"/>
            <a:ext cx="840112" cy="34004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E45CC6DF-E8E4-492E-8583-D7B1F740E1C8}" type="datetimeFigureOut">
              <a:rPr lang="en-AU" smtClean="0"/>
              <a:pPr/>
              <a:t>23/07/2012</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728046C7-1613-412A-B6A8-2FE6DA40C158}" type="slidenum">
              <a:rPr lang="en-AU" smtClean="0"/>
              <a:pPr/>
              <a:t>‹#›</a:t>
            </a:fld>
            <a:endParaRPr lang="en-AU"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5CC6DF-E8E4-492E-8583-D7B1F740E1C8}" type="datetimeFigureOut">
              <a:rPr lang="en-AU" smtClean="0"/>
              <a:pPr/>
              <a:t>23/07/2012</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728046C7-1613-412A-B6A8-2FE6DA40C158}" type="slidenum">
              <a:rPr lang="en-AU" smtClean="0"/>
              <a:pPr/>
              <a:t>‹#›</a:t>
            </a:fld>
            <a:endParaRPr lang="en-AU"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E45CC6DF-E8E4-492E-8583-D7B1F740E1C8}" type="datetimeFigureOut">
              <a:rPr lang="en-AU" smtClean="0"/>
              <a:pPr/>
              <a:t>23/07/2012</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728046C7-1613-412A-B6A8-2FE6DA40C158}" type="slidenum">
              <a:rPr lang="en-AU" smtClean="0"/>
              <a:pPr/>
              <a:t>‹#›</a:t>
            </a:fld>
            <a:endParaRPr lang="en-AU" dirty="0"/>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Date Placeholder 11"/>
          <p:cNvSpPr>
            <a:spLocks noGrp="1"/>
          </p:cNvSpPr>
          <p:nvPr>
            <p:ph type="dt" sz="half" idx="10"/>
          </p:nvPr>
        </p:nvSpPr>
        <p:spPr>
          <a:xfrm>
            <a:off x="6248400" y="6248400"/>
            <a:ext cx="2667000" cy="365125"/>
          </a:xfrm>
        </p:spPr>
        <p:txBody>
          <a:bodyPr rtlCol="0"/>
          <a:lstStyle/>
          <a:p>
            <a:fld id="{E45CC6DF-E8E4-492E-8583-D7B1F740E1C8}" type="datetimeFigureOut">
              <a:rPr lang="en-AU" smtClean="0"/>
              <a:pPr/>
              <a:t>23/07/2012</a:t>
            </a:fld>
            <a:endParaRPr lang="en-AU" dirty="0"/>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728046C7-1613-412A-B6A8-2FE6DA40C158}" type="slidenum">
              <a:rPr lang="en-AU" smtClean="0"/>
              <a:pPr/>
              <a:t>‹#›</a:t>
            </a:fld>
            <a:endParaRPr lang="en-AU" dirty="0"/>
          </a:p>
        </p:txBody>
      </p:sp>
      <p:sp>
        <p:nvSpPr>
          <p:cNvPr id="14" name="Footer Placeholder 13"/>
          <p:cNvSpPr>
            <a:spLocks noGrp="1"/>
          </p:cNvSpPr>
          <p:nvPr>
            <p:ph type="ftr" sz="quarter" idx="12"/>
          </p:nvPr>
        </p:nvSpPr>
        <p:spPr>
          <a:xfrm>
            <a:off x="1600200" y="6248206"/>
            <a:ext cx="4572000" cy="365125"/>
          </a:xfrm>
        </p:spPr>
        <p:txBody>
          <a:bodyPr rtlCol="0"/>
          <a:lstStyle/>
          <a:p>
            <a:endParaRPr lang="en-AU"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dirty="0"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45CC6DF-E8E4-492E-8583-D7B1F740E1C8}" type="datetimeFigureOut">
              <a:rPr lang="en-AU" smtClean="0"/>
              <a:pPr/>
              <a:t>23/07/2012</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728046C7-1613-412A-B6A8-2FE6DA40C158}" type="slidenum">
              <a:rPr lang="en-AU" smtClean="0"/>
              <a:pPr/>
              <a:t>‹#›</a:t>
            </a:fld>
            <a:endParaRPr lang="en-AU"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E45CC6DF-E8E4-492E-8583-D7B1F740E1C8}" type="datetimeFigureOut">
              <a:rPr lang="en-AU" smtClean="0"/>
              <a:pPr/>
              <a:t>23/07/2012</a:t>
            </a:fld>
            <a:endParaRPr lang="en-AU" dirty="0"/>
          </a:p>
        </p:txBody>
      </p:sp>
      <p:sp>
        <p:nvSpPr>
          <p:cNvPr id="5" name="Footer Placeholder 4"/>
          <p:cNvSpPr>
            <a:spLocks noGrp="1"/>
          </p:cNvSpPr>
          <p:nvPr>
            <p:ph type="ftr" sz="quarter" idx="11"/>
          </p:nvPr>
        </p:nvSpPr>
        <p:spPr>
          <a:xfrm>
            <a:off x="457201" y="6248207"/>
            <a:ext cx="5573483" cy="365125"/>
          </a:xfrm>
        </p:spPr>
        <p:txBody>
          <a:bodyPr/>
          <a:lstStyle/>
          <a:p>
            <a:endParaRPr lang="en-AU" dirty="0"/>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6" name="Slide Number Placeholder 5"/>
          <p:cNvSpPr>
            <a:spLocks noGrp="1"/>
          </p:cNvSpPr>
          <p:nvPr>
            <p:ph type="sldNum" sz="quarter" idx="12"/>
          </p:nvPr>
        </p:nvSpPr>
        <p:spPr>
          <a:xfrm rot="5400000">
            <a:off x="5989638" y="144462"/>
            <a:ext cx="533400" cy="244476"/>
          </a:xfrm>
        </p:spPr>
        <p:txBody>
          <a:bodyPr/>
          <a:lstStyle/>
          <a:p>
            <a:fld id="{728046C7-1613-412A-B6A8-2FE6DA40C158}" type="slidenum">
              <a:rPr lang="en-AU" smtClean="0"/>
              <a:pPr/>
              <a:t>‹#›</a:t>
            </a:fld>
            <a:endParaRPr lang="en-AU"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E45CC6DF-E8E4-492E-8583-D7B1F740E1C8}" type="datetimeFigureOut">
              <a:rPr lang="en-AU" smtClean="0"/>
              <a:pPr/>
              <a:t>23/07/2012</a:t>
            </a:fld>
            <a:endParaRPr lang="en-AU" dirty="0"/>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AU"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728046C7-1613-412A-B6A8-2FE6DA40C158}" type="slidenum">
              <a:rPr lang="en-AU" smtClean="0"/>
              <a:pPr/>
              <a:t>‹#›</a:t>
            </a:fld>
            <a:endParaRPr lang="en-AU"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t="-1000" b="-1000"/>
          </a:stretch>
        </a:blipFill>
        <a:effectLst/>
      </p:bgPr>
    </p:bg>
    <p:spTree>
      <p:nvGrpSpPr>
        <p:cNvPr id="1" name=""/>
        <p:cNvGrpSpPr/>
        <p:nvPr/>
      </p:nvGrpSpPr>
      <p:grpSpPr>
        <a:xfrm>
          <a:off x="0" y="0"/>
          <a:ext cx="0" cy="0"/>
          <a:chOff x="0" y="0"/>
          <a:chExt cx="0" cy="0"/>
        </a:xfrm>
      </p:grpSpPr>
      <p:sp>
        <p:nvSpPr>
          <p:cNvPr id="57347" name="Rectangle 3"/>
          <p:cNvSpPr>
            <a:spLocks noChangeArrowheads="1"/>
          </p:cNvSpPr>
          <p:nvPr/>
        </p:nvSpPr>
        <p:spPr bwMode="auto">
          <a:xfrm>
            <a:off x="0"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en-AU"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3600" dirty="0" smtClean="0"/>
              <a:t>What will be delivered by Friday 27 July 2012 to VCE providers </a:t>
            </a:r>
            <a:endParaRPr lang="en-AU" sz="3600" dirty="0"/>
          </a:p>
        </p:txBody>
      </p:sp>
      <p:sp>
        <p:nvSpPr>
          <p:cNvPr id="3" name="Content Placeholder 2"/>
          <p:cNvSpPr>
            <a:spLocks noGrp="1"/>
          </p:cNvSpPr>
          <p:nvPr>
            <p:ph sz="quarter" idx="1"/>
          </p:nvPr>
        </p:nvSpPr>
        <p:spPr/>
        <p:txBody>
          <a:bodyPr>
            <a:normAutofit fontScale="92500" lnSpcReduction="20000"/>
          </a:bodyPr>
          <a:lstStyle/>
          <a:p>
            <a:pPr>
              <a:spcAft>
                <a:spcPts val="1200"/>
              </a:spcAft>
            </a:pPr>
            <a:r>
              <a:rPr lang="en-AU" sz="3200" dirty="0" smtClean="0"/>
              <a:t>Reference copies (not purchased) </a:t>
            </a:r>
          </a:p>
          <a:p>
            <a:pPr lvl="1">
              <a:spcAft>
                <a:spcPts val="1200"/>
              </a:spcAft>
            </a:pPr>
            <a:r>
              <a:rPr lang="en-AU" dirty="0" smtClean="0"/>
              <a:t>VTAC Guide 2013 includes SEAS and Scholarships</a:t>
            </a:r>
          </a:p>
          <a:p>
            <a:pPr lvl="1">
              <a:spcAft>
                <a:spcPts val="1200"/>
              </a:spcAft>
            </a:pPr>
            <a:r>
              <a:rPr lang="en-AU" dirty="0" smtClean="0"/>
              <a:t>Choice</a:t>
            </a:r>
          </a:p>
          <a:p>
            <a:pPr lvl="1">
              <a:spcAft>
                <a:spcPts val="1200"/>
              </a:spcAft>
            </a:pPr>
            <a:r>
              <a:rPr lang="en-AU" dirty="0" smtClean="0"/>
              <a:t>ABC of Applying</a:t>
            </a:r>
          </a:p>
          <a:p>
            <a:pPr lvl="1">
              <a:spcAft>
                <a:spcPts val="1200"/>
              </a:spcAft>
            </a:pPr>
            <a:r>
              <a:rPr lang="en-AU" dirty="0" smtClean="0"/>
              <a:t>VTAC Calendar</a:t>
            </a:r>
          </a:p>
          <a:p>
            <a:pPr>
              <a:spcAft>
                <a:spcPts val="1200"/>
              </a:spcAft>
            </a:pPr>
            <a:r>
              <a:rPr lang="en-AU" sz="3200" dirty="0" smtClean="0"/>
              <a:t>VICTER no longer printed </a:t>
            </a:r>
            <a:br>
              <a:rPr lang="en-AU" sz="3200" dirty="0" smtClean="0"/>
            </a:br>
            <a:r>
              <a:rPr lang="en-AU" sz="3200" dirty="0" smtClean="0"/>
              <a:t>available with regular updates at </a:t>
            </a:r>
            <a:r>
              <a:rPr lang="en-AU" sz="3200" dirty="0" smtClean="0">
                <a:solidFill>
                  <a:schemeClr val="accent2">
                    <a:lumMod val="75000"/>
                  </a:schemeClr>
                </a:solidFill>
              </a:rPr>
              <a:t>www.vtac.edu.au</a:t>
            </a:r>
            <a:r>
              <a:rPr lang="en-AU" sz="3200" dirty="0" smtClean="0"/>
              <a:t> and in media supplement </a:t>
            </a:r>
            <a:br>
              <a:rPr lang="en-AU" sz="3200" dirty="0" smtClean="0"/>
            </a:br>
            <a:endParaRPr lang="en-AU" sz="3200" dirty="0" smtClean="0"/>
          </a:p>
          <a:p>
            <a:endParaRPr lang="en-AU"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What’s new in 2013</a:t>
            </a:r>
            <a:endParaRPr lang="en-AU" dirty="0"/>
          </a:p>
        </p:txBody>
      </p:sp>
      <p:sp>
        <p:nvSpPr>
          <p:cNvPr id="3" name="Content Placeholder 2"/>
          <p:cNvSpPr>
            <a:spLocks noGrp="1"/>
          </p:cNvSpPr>
          <p:nvPr>
            <p:ph sz="quarter" idx="1"/>
          </p:nvPr>
        </p:nvSpPr>
        <p:spPr/>
        <p:txBody>
          <a:bodyPr/>
          <a:lstStyle/>
          <a:p>
            <a:pPr>
              <a:spcAft>
                <a:spcPts val="1200"/>
              </a:spcAft>
            </a:pPr>
            <a:r>
              <a:rPr lang="en-AU" sz="2800" b="1" dirty="0" smtClean="0"/>
              <a:t>Application methods</a:t>
            </a:r>
          </a:p>
          <a:p>
            <a:pPr lvl="1">
              <a:spcAft>
                <a:spcPts val="1200"/>
              </a:spcAft>
            </a:pPr>
            <a:r>
              <a:rPr lang="en-AU" sz="2400" dirty="0" smtClean="0"/>
              <a:t>Courses listed with direct applications </a:t>
            </a:r>
          </a:p>
          <a:p>
            <a:pPr lvl="1">
              <a:spcAft>
                <a:spcPts val="1200"/>
              </a:spcAft>
            </a:pPr>
            <a:r>
              <a:rPr lang="en-AU" sz="2400" dirty="0" smtClean="0"/>
              <a:t>Courses apply through VTAC </a:t>
            </a:r>
          </a:p>
          <a:p>
            <a:pPr>
              <a:spcAft>
                <a:spcPts val="1200"/>
              </a:spcAft>
            </a:pPr>
            <a:r>
              <a:rPr lang="en-AU" sz="2800" b="1" dirty="0" smtClean="0"/>
              <a:t>New terminology</a:t>
            </a:r>
          </a:p>
          <a:p>
            <a:pPr lvl="1">
              <a:spcAft>
                <a:spcPts val="1200"/>
              </a:spcAft>
            </a:pPr>
            <a:r>
              <a:rPr lang="en-AU" sz="2400" dirty="0" smtClean="0"/>
              <a:t>VTAC user account (replaces MyInfo)</a:t>
            </a:r>
          </a:p>
          <a:p>
            <a:pPr lvl="1">
              <a:spcAft>
                <a:spcPts val="1200"/>
              </a:spcAft>
            </a:pPr>
            <a:r>
              <a:rPr lang="en-AU" sz="2400" dirty="0" smtClean="0"/>
              <a:t>Negotiated offer (replaces irregular offer)</a:t>
            </a:r>
          </a:p>
          <a:p>
            <a:pPr lvl="1">
              <a:spcAft>
                <a:spcPts val="1200"/>
              </a:spcAft>
            </a:pPr>
            <a:r>
              <a:rPr lang="en-AU" sz="2400" dirty="0" smtClean="0"/>
              <a:t>Personal History online (replaces Pi Form)</a:t>
            </a:r>
          </a:p>
          <a:p>
            <a:endParaRPr lang="en-AU"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Higher education studies and the ATAR </a:t>
            </a:r>
            <a:endParaRPr lang="en-AU" dirty="0"/>
          </a:p>
        </p:txBody>
      </p:sp>
      <p:sp>
        <p:nvSpPr>
          <p:cNvPr id="3" name="Content Placeholder 2"/>
          <p:cNvSpPr>
            <a:spLocks noGrp="1"/>
          </p:cNvSpPr>
          <p:nvPr>
            <p:ph sz="quarter" idx="1"/>
          </p:nvPr>
        </p:nvSpPr>
        <p:spPr>
          <a:xfrm>
            <a:off x="612648" y="1600200"/>
            <a:ext cx="8153400" cy="4997152"/>
          </a:xfrm>
        </p:spPr>
        <p:txBody>
          <a:bodyPr>
            <a:normAutofit fontScale="85000" lnSpcReduction="10000"/>
          </a:bodyPr>
          <a:lstStyle/>
          <a:p>
            <a:r>
              <a:rPr lang="en-AU" dirty="0" smtClean="0"/>
              <a:t>From 2012 Higher Education studies will include first-year university studies  and advanced standing TAFE courses recognised by the VCAA. </a:t>
            </a:r>
          </a:p>
          <a:p>
            <a:r>
              <a:rPr lang="en-AU" dirty="0" smtClean="0"/>
              <a:t>Where a student completes a higher education VCE study and the average mark overall the HE units awarded is at least: </a:t>
            </a:r>
          </a:p>
          <a:p>
            <a:pPr lvl="1"/>
            <a:r>
              <a:rPr lang="en-AU" dirty="0" smtClean="0"/>
              <a:t>90, the Higher Education increment will be 5.0.</a:t>
            </a:r>
          </a:p>
          <a:p>
            <a:pPr lvl="1"/>
            <a:r>
              <a:rPr lang="en-AU" dirty="0" smtClean="0"/>
              <a:t>80 but less than 90, the Higher Education increment will be 4.5</a:t>
            </a:r>
          </a:p>
          <a:p>
            <a:pPr lvl="1"/>
            <a:r>
              <a:rPr lang="en-AU" dirty="0" smtClean="0"/>
              <a:t>70 but less than 80, the Higher Education increment will be 4.0</a:t>
            </a:r>
          </a:p>
          <a:p>
            <a:pPr lvl="1"/>
            <a:r>
              <a:rPr lang="en-AU" dirty="0" smtClean="0"/>
              <a:t>60 but less than 70, the Higher Education increment will be 3.5</a:t>
            </a:r>
          </a:p>
          <a:p>
            <a:pPr lvl="1"/>
            <a:r>
              <a:rPr lang="en-AU" dirty="0" smtClean="0"/>
              <a:t>50 but less than 60, the Higher Education increment will be 3.0. </a:t>
            </a:r>
          </a:p>
          <a:p>
            <a:r>
              <a:rPr lang="en-AU" dirty="0" smtClean="0"/>
              <a:t>The study can count as a fifth or sixth study increment. </a:t>
            </a:r>
            <a:endParaRPr lang="en-US" dirty="0" smtClean="0"/>
          </a:p>
          <a:p>
            <a:endParaRPr lang="en-AU"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Your best resources</a:t>
            </a:r>
            <a:br>
              <a:rPr lang="en-AU" dirty="0" smtClean="0"/>
            </a:br>
            <a:r>
              <a:rPr lang="en-AU" sz="3100" dirty="0" smtClean="0"/>
              <a:t>(subscribe, subscribe, subscribe)</a:t>
            </a:r>
            <a:endParaRPr lang="en-AU" dirty="0"/>
          </a:p>
        </p:txBody>
      </p:sp>
      <p:sp>
        <p:nvSpPr>
          <p:cNvPr id="3" name="Content Placeholder 2"/>
          <p:cNvSpPr>
            <a:spLocks noGrp="1"/>
          </p:cNvSpPr>
          <p:nvPr>
            <p:ph sz="quarter" idx="1"/>
          </p:nvPr>
        </p:nvSpPr>
        <p:spPr>
          <a:xfrm>
            <a:off x="251520" y="1600200"/>
            <a:ext cx="8712968" cy="4925144"/>
          </a:xfrm>
        </p:spPr>
        <p:txBody>
          <a:bodyPr>
            <a:normAutofit fontScale="47500" lnSpcReduction="20000"/>
          </a:bodyPr>
          <a:lstStyle/>
          <a:p>
            <a:r>
              <a:rPr lang="en-AU" sz="4200" dirty="0" smtClean="0"/>
              <a:t>Social media </a:t>
            </a:r>
          </a:p>
          <a:p>
            <a:pPr lvl="1"/>
            <a:r>
              <a:rPr lang="en-AU" sz="4200" dirty="0" smtClean="0"/>
              <a:t>Blog for everyone</a:t>
            </a:r>
            <a:r>
              <a:rPr lang="en-AU" sz="4200" b="1" dirty="0" smtClean="0"/>
              <a:t> http://vtacmedia.wordpress.com</a:t>
            </a:r>
          </a:p>
          <a:p>
            <a:pPr lvl="1"/>
            <a:r>
              <a:rPr lang="en-AU" sz="4200" dirty="0" smtClean="0"/>
              <a:t>Blog for careers practitioners</a:t>
            </a:r>
            <a:r>
              <a:rPr lang="en-AU" sz="4200" b="1" dirty="0" smtClean="0"/>
              <a:t> http://vtacschools.wordpress.com</a:t>
            </a:r>
          </a:p>
          <a:p>
            <a:pPr lvl="1"/>
            <a:r>
              <a:rPr lang="en-AU" sz="4200" dirty="0" smtClean="0"/>
              <a:t>Facebook – preferred method for parents and students </a:t>
            </a:r>
            <a:r>
              <a:rPr lang="en-AU" sz="4200" b="1" dirty="0" smtClean="0"/>
              <a:t>facebook.com/vtacguide</a:t>
            </a:r>
          </a:p>
          <a:p>
            <a:pPr lvl="1"/>
            <a:r>
              <a:rPr lang="en-AU" sz="4200" dirty="0" smtClean="0"/>
              <a:t>Twitter</a:t>
            </a:r>
            <a:r>
              <a:rPr lang="en-AU" sz="4200" b="1" dirty="0" smtClean="0"/>
              <a:t> @vtacguide</a:t>
            </a:r>
          </a:p>
          <a:p>
            <a:pPr lvl="1">
              <a:buNone/>
            </a:pPr>
            <a:endParaRPr lang="en-AU" sz="3800" b="1" dirty="0" smtClean="0"/>
          </a:p>
          <a:p>
            <a:pPr>
              <a:buFont typeface="Wingdings" pitchFamily="2" charset="2"/>
              <a:buChar char="q"/>
            </a:pPr>
            <a:r>
              <a:rPr lang="en-AU" sz="4200" dirty="0" smtClean="0"/>
              <a:t>VTAC CourseLink – online resource for careers teachers </a:t>
            </a:r>
          </a:p>
          <a:p>
            <a:pPr>
              <a:buNone/>
            </a:pPr>
            <a:endParaRPr lang="en-AU" sz="3800" dirty="0" smtClean="0"/>
          </a:p>
          <a:p>
            <a:r>
              <a:rPr lang="en-AU" sz="4200" dirty="0" smtClean="0"/>
              <a:t>Schools liaison </a:t>
            </a:r>
          </a:p>
          <a:p>
            <a:pPr lvl="1"/>
            <a:r>
              <a:rPr lang="en-AU" sz="4200" dirty="0" smtClean="0"/>
              <a:t>Is here to provide you with advice and assistance associated with policies and procedures </a:t>
            </a:r>
          </a:p>
          <a:p>
            <a:pPr lvl="1"/>
            <a:r>
              <a:rPr lang="en-AU" sz="4200" dirty="0" smtClean="0"/>
              <a:t>Not here as your first port of call to obtain dates and times that you’ve forgotten </a:t>
            </a:r>
          </a:p>
          <a:p>
            <a:pPr lvl="1"/>
            <a:r>
              <a:rPr lang="en-AU" sz="4200" dirty="0" smtClean="0"/>
              <a:t>To contact VTAC Schools liaison directly: </a:t>
            </a:r>
            <a:r>
              <a:rPr lang="en-AU" sz="4200" b="1" dirty="0" smtClean="0"/>
              <a:t>schoolsliaison@vtac.edu.au </a:t>
            </a:r>
            <a:br>
              <a:rPr lang="en-AU" sz="4200" b="1" dirty="0" smtClean="0"/>
            </a:br>
            <a:endParaRPr lang="en-AU" sz="4200" dirty="0" smtClean="0"/>
          </a:p>
          <a:p>
            <a:pPr>
              <a:buFont typeface="Wingdings" pitchFamily="2" charset="2"/>
              <a:buChar char="q"/>
            </a:pPr>
            <a:endParaRPr lang="en-AU" dirty="0" smtClean="0"/>
          </a:p>
          <a:p>
            <a:endParaRPr lang="en-AU"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What’s in the printed Guide </a:t>
            </a:r>
            <a:endParaRPr lang="en-AU" dirty="0"/>
          </a:p>
        </p:txBody>
      </p:sp>
      <p:sp>
        <p:nvSpPr>
          <p:cNvPr id="3" name="Content Placeholder 2"/>
          <p:cNvSpPr>
            <a:spLocks noGrp="1"/>
          </p:cNvSpPr>
          <p:nvPr>
            <p:ph sz="quarter" idx="1"/>
          </p:nvPr>
        </p:nvSpPr>
        <p:spPr/>
        <p:txBody>
          <a:bodyPr>
            <a:normAutofit fontScale="85000" lnSpcReduction="20000"/>
          </a:bodyPr>
          <a:lstStyle/>
          <a:p>
            <a:pPr>
              <a:lnSpc>
                <a:spcPct val="150000"/>
              </a:lnSpc>
              <a:spcAft>
                <a:spcPts val="1200"/>
              </a:spcAft>
            </a:pPr>
            <a:r>
              <a:rPr lang="en-AU" sz="3200" dirty="0" smtClean="0"/>
              <a:t>Majors index and selection data index</a:t>
            </a:r>
          </a:p>
          <a:p>
            <a:pPr>
              <a:lnSpc>
                <a:spcPct val="150000"/>
              </a:lnSpc>
              <a:spcAft>
                <a:spcPts val="1200"/>
              </a:spcAft>
            </a:pPr>
            <a:r>
              <a:rPr lang="en-AU" sz="3200" dirty="0" smtClean="0"/>
              <a:t>Course listings in Guide - detail online. </a:t>
            </a:r>
          </a:p>
          <a:p>
            <a:pPr>
              <a:lnSpc>
                <a:spcPct val="150000"/>
              </a:lnSpc>
            </a:pPr>
            <a:r>
              <a:rPr lang="en-AU" sz="3200" dirty="0" smtClean="0"/>
              <a:t>Institutions listed in strict alphabetical order</a:t>
            </a:r>
          </a:p>
          <a:p>
            <a:pPr>
              <a:lnSpc>
                <a:spcPct val="150000"/>
              </a:lnSpc>
            </a:pPr>
            <a:r>
              <a:rPr lang="en-AU" sz="3200" dirty="0" smtClean="0"/>
              <a:t>Chapters include: </a:t>
            </a:r>
            <a:br>
              <a:rPr lang="en-AU" sz="3200" dirty="0" smtClean="0"/>
            </a:br>
            <a:r>
              <a:rPr lang="en-AU" sz="3200" dirty="0" smtClean="0"/>
              <a:t>SEAS, Scholarships, Accommodation, Enrolment and deferment policies, Admissions tests, Credit transfer, pathways and recognition of prior learning.</a:t>
            </a:r>
          </a:p>
          <a:p>
            <a:endParaRPr lang="en-AU"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Sample course entry in printed Guide </a:t>
            </a:r>
            <a:endParaRPr lang="en-AU" dirty="0"/>
          </a:p>
        </p:txBody>
      </p:sp>
      <p:pic>
        <p:nvPicPr>
          <p:cNvPr id="4" name="Content Placeholder 3"/>
          <p:cNvPicPr>
            <a:picLocks/>
          </p:cNvPicPr>
          <p:nvPr/>
        </p:nvPicPr>
        <p:blipFill>
          <a:blip r:embed="rId3" cstate="print"/>
          <a:srcRect l="9231" t="17266" r="48011" b="43683"/>
          <a:stretch>
            <a:fillRect/>
          </a:stretch>
        </p:blipFill>
        <p:spPr>
          <a:xfrm>
            <a:off x="323528" y="1700808"/>
            <a:ext cx="3887552" cy="2520280"/>
          </a:xfrm>
          <a:prstGeom prst="rect">
            <a:avLst/>
          </a:prstGeom>
          <a:ln>
            <a:solidFill>
              <a:srgbClr val="C00000"/>
            </a:solidFill>
          </a:ln>
        </p:spPr>
      </p:pic>
      <p:sp>
        <p:nvSpPr>
          <p:cNvPr id="5" name="TextBox 4"/>
          <p:cNvSpPr txBox="1"/>
          <p:nvPr/>
        </p:nvSpPr>
        <p:spPr>
          <a:xfrm>
            <a:off x="4427984" y="2204864"/>
            <a:ext cx="3744416" cy="120032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AU" dirty="0" smtClean="0"/>
              <a:t>Notice the course codes</a:t>
            </a:r>
          </a:p>
          <a:p>
            <a:r>
              <a:rPr lang="en-AU" dirty="0" smtClean="0"/>
              <a:t>The prerequisite indicator </a:t>
            </a:r>
          </a:p>
          <a:p>
            <a:r>
              <a:rPr lang="en-AU" dirty="0" smtClean="0"/>
              <a:t>Extra requirement indicator</a:t>
            </a:r>
          </a:p>
          <a:p>
            <a:r>
              <a:rPr lang="en-AU" dirty="0" smtClean="0"/>
              <a:t>Application indicator</a:t>
            </a:r>
            <a:endParaRPr lang="en-AU" dirty="0"/>
          </a:p>
        </p:txBody>
      </p:sp>
      <p:sp>
        <p:nvSpPr>
          <p:cNvPr id="6" name="Left Arrow 5"/>
          <p:cNvSpPr/>
          <p:nvPr/>
        </p:nvSpPr>
        <p:spPr>
          <a:xfrm>
            <a:off x="3563888" y="2564904"/>
            <a:ext cx="864096" cy="432048"/>
          </a:xfrm>
          <a:prstGeom prst="lef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AU" dirty="0"/>
          </a:p>
        </p:txBody>
      </p:sp>
      <p:pic>
        <p:nvPicPr>
          <p:cNvPr id="7" name="Picture 2"/>
          <p:cNvPicPr>
            <a:picLocks noChangeAspect="1" noChangeArrowheads="1"/>
          </p:cNvPicPr>
          <p:nvPr/>
        </p:nvPicPr>
        <p:blipFill>
          <a:blip r:embed="rId4" cstate="print"/>
          <a:srcRect l="13584" t="54351" r="48026" b="19071"/>
          <a:stretch>
            <a:fillRect/>
          </a:stretch>
        </p:blipFill>
        <p:spPr bwMode="auto">
          <a:xfrm>
            <a:off x="4716016" y="4077072"/>
            <a:ext cx="3900433" cy="2160240"/>
          </a:xfrm>
          <a:prstGeom prst="rect">
            <a:avLst/>
          </a:prstGeom>
          <a:noFill/>
          <a:ln w="9525">
            <a:solidFill>
              <a:srgbClr val="C00000"/>
            </a:solidFill>
            <a:miter lim="800000"/>
            <a:headEnd/>
            <a:tailEnd/>
          </a:ln>
        </p:spPr>
      </p:pic>
      <p:sp>
        <p:nvSpPr>
          <p:cNvPr id="8" name="TextBox 7"/>
          <p:cNvSpPr txBox="1"/>
          <p:nvPr/>
        </p:nvSpPr>
        <p:spPr>
          <a:xfrm>
            <a:off x="395536" y="4797153"/>
            <a:ext cx="3744416" cy="92333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AU" dirty="0" smtClean="0"/>
              <a:t>No course codes and the indicator for applying is directly to the institution. </a:t>
            </a:r>
          </a:p>
          <a:p>
            <a:endParaRPr lang="en-AU" dirty="0"/>
          </a:p>
        </p:txBody>
      </p:sp>
      <p:sp>
        <p:nvSpPr>
          <p:cNvPr id="9" name="Right Arrow 8"/>
          <p:cNvSpPr/>
          <p:nvPr/>
        </p:nvSpPr>
        <p:spPr>
          <a:xfrm>
            <a:off x="4139952" y="5157192"/>
            <a:ext cx="792088" cy="432048"/>
          </a:xfrm>
          <a:prstGeom prst="righ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AU"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r>
              <a:rPr lang="en-AU" b="1" dirty="0" smtClean="0"/>
              <a:t>Your guide to the VTAC Guide and online course entries </a:t>
            </a:r>
            <a:endParaRPr lang="en-AU" b="1" dirty="0"/>
          </a:p>
        </p:txBody>
      </p:sp>
      <p:sp>
        <p:nvSpPr>
          <p:cNvPr id="2" name="Title 1"/>
          <p:cNvSpPr>
            <a:spLocks noGrp="1"/>
          </p:cNvSpPr>
          <p:nvPr>
            <p:ph type="title"/>
          </p:nvPr>
        </p:nvSpPr>
        <p:spPr/>
        <p:txBody>
          <a:bodyPr>
            <a:normAutofit/>
          </a:bodyPr>
          <a:lstStyle/>
          <a:p>
            <a:r>
              <a:rPr lang="en-AU" dirty="0" smtClean="0"/>
              <a:t>The course entries</a:t>
            </a:r>
            <a:endParaRPr lang="en-AU"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88640"/>
            <a:ext cx="8568952" cy="1069848"/>
          </a:xfrm>
        </p:spPr>
        <p:txBody>
          <a:bodyPr>
            <a:normAutofit/>
          </a:bodyPr>
          <a:lstStyle/>
          <a:p>
            <a:r>
              <a:rPr lang="en-AU" sz="4000" b="1" dirty="0" smtClean="0"/>
              <a:t>Qualifications</a:t>
            </a:r>
            <a:r>
              <a:rPr lang="en-AU" sz="3600" b="1" dirty="0" smtClean="0"/>
              <a:t> through VTAC </a:t>
            </a:r>
            <a:endParaRPr lang="en-AU" sz="3600" b="1" dirty="0"/>
          </a:p>
        </p:txBody>
      </p:sp>
      <p:sp>
        <p:nvSpPr>
          <p:cNvPr id="3" name="Text Placeholder 2"/>
          <p:cNvSpPr>
            <a:spLocks noGrp="1"/>
          </p:cNvSpPr>
          <p:nvPr>
            <p:ph type="body" idx="1"/>
          </p:nvPr>
        </p:nvSpPr>
        <p:spPr>
          <a:xfrm>
            <a:off x="381000" y="1628800"/>
            <a:ext cx="4041648" cy="457200"/>
          </a:xfrm>
        </p:spPr>
        <p:txBody>
          <a:bodyPr/>
          <a:lstStyle/>
          <a:p>
            <a:r>
              <a:rPr lang="en-AU" dirty="0" smtClean="0"/>
              <a:t>VET qualifications </a:t>
            </a:r>
            <a:endParaRPr lang="en-AU" dirty="0"/>
          </a:p>
        </p:txBody>
      </p:sp>
      <p:sp>
        <p:nvSpPr>
          <p:cNvPr id="4" name="Text Placeholder 3"/>
          <p:cNvSpPr>
            <a:spLocks noGrp="1"/>
          </p:cNvSpPr>
          <p:nvPr>
            <p:ph type="body" sz="half" idx="3"/>
          </p:nvPr>
        </p:nvSpPr>
        <p:spPr>
          <a:xfrm>
            <a:off x="4721227" y="1628800"/>
            <a:ext cx="4041775" cy="457200"/>
          </a:xfrm>
        </p:spPr>
        <p:txBody>
          <a:bodyPr/>
          <a:lstStyle/>
          <a:p>
            <a:r>
              <a:rPr lang="en-AU" dirty="0" smtClean="0"/>
              <a:t>Higher education  </a:t>
            </a:r>
            <a:endParaRPr lang="en-AU" dirty="0"/>
          </a:p>
        </p:txBody>
      </p:sp>
      <p:sp>
        <p:nvSpPr>
          <p:cNvPr id="5" name="Content Placeholder 4"/>
          <p:cNvSpPr>
            <a:spLocks noGrp="1"/>
          </p:cNvSpPr>
          <p:nvPr>
            <p:ph sz="quarter" idx="2"/>
          </p:nvPr>
        </p:nvSpPr>
        <p:spPr>
          <a:xfrm>
            <a:off x="381000" y="2092349"/>
            <a:ext cx="4041648" cy="3886200"/>
          </a:xfrm>
        </p:spPr>
        <p:txBody>
          <a:bodyPr>
            <a:normAutofit fontScale="85000" lnSpcReduction="20000"/>
          </a:bodyPr>
          <a:lstStyle/>
          <a:p>
            <a:pPr>
              <a:buFont typeface="Arial" pitchFamily="34" charset="0"/>
              <a:buChar char="•"/>
            </a:pPr>
            <a:r>
              <a:rPr lang="en-AU" dirty="0" smtClean="0"/>
              <a:t>Certificate I</a:t>
            </a:r>
          </a:p>
          <a:p>
            <a:r>
              <a:rPr lang="en-AU" dirty="0" smtClean="0"/>
              <a:t>Certificate II</a:t>
            </a:r>
          </a:p>
          <a:p>
            <a:r>
              <a:rPr lang="en-AU" dirty="0" smtClean="0"/>
              <a:t>Certificate III</a:t>
            </a:r>
          </a:p>
          <a:p>
            <a:r>
              <a:rPr lang="en-AU" dirty="0" smtClean="0"/>
              <a:t>Certificate IV</a:t>
            </a:r>
          </a:p>
          <a:p>
            <a:r>
              <a:rPr lang="en-AU" dirty="0" smtClean="0"/>
              <a:t>Diploma</a:t>
            </a:r>
          </a:p>
          <a:p>
            <a:r>
              <a:rPr lang="en-AU" dirty="0" smtClean="0"/>
              <a:t>Advanced Diploma </a:t>
            </a:r>
          </a:p>
          <a:p>
            <a:r>
              <a:rPr lang="en-AU" dirty="0" smtClean="0"/>
              <a:t>Note: </a:t>
            </a:r>
            <a:br>
              <a:rPr lang="en-AU" dirty="0" smtClean="0"/>
            </a:br>
            <a:r>
              <a:rPr lang="en-AU" dirty="0" smtClean="0"/>
              <a:t>VTAC accepts and publicises courses from Certificate II and above</a:t>
            </a:r>
          </a:p>
          <a:p>
            <a:endParaRPr lang="en-AU" dirty="0"/>
          </a:p>
        </p:txBody>
      </p:sp>
      <p:sp>
        <p:nvSpPr>
          <p:cNvPr id="6" name="Content Placeholder 5"/>
          <p:cNvSpPr>
            <a:spLocks noGrp="1"/>
          </p:cNvSpPr>
          <p:nvPr>
            <p:ph sz="quarter" idx="4"/>
          </p:nvPr>
        </p:nvSpPr>
        <p:spPr>
          <a:xfrm>
            <a:off x="4718307" y="2092349"/>
            <a:ext cx="4041775" cy="3886200"/>
          </a:xfrm>
        </p:spPr>
        <p:txBody>
          <a:bodyPr>
            <a:normAutofit fontScale="92500" lnSpcReduction="20000"/>
          </a:bodyPr>
          <a:lstStyle/>
          <a:p>
            <a:r>
              <a:rPr lang="en-AU" sz="2400" dirty="0" smtClean="0"/>
              <a:t>Undergraduate </a:t>
            </a:r>
          </a:p>
          <a:p>
            <a:pPr lvl="1"/>
            <a:r>
              <a:rPr lang="en-AU" sz="2400" dirty="0" smtClean="0"/>
              <a:t>Advanced Diploma </a:t>
            </a:r>
          </a:p>
          <a:p>
            <a:pPr lvl="1"/>
            <a:r>
              <a:rPr lang="en-AU" sz="2400" dirty="0" smtClean="0"/>
              <a:t>Associate Degrees</a:t>
            </a:r>
          </a:p>
          <a:p>
            <a:pPr lvl="1"/>
            <a:r>
              <a:rPr lang="en-AU" sz="2400" dirty="0" smtClean="0"/>
              <a:t>Bachelor </a:t>
            </a:r>
          </a:p>
          <a:p>
            <a:r>
              <a:rPr lang="en-AU" sz="2400" dirty="0" smtClean="0"/>
              <a:t>Post graduate </a:t>
            </a:r>
          </a:p>
          <a:p>
            <a:pPr lvl="1"/>
            <a:r>
              <a:rPr lang="en-AU" sz="2400" dirty="0" smtClean="0"/>
              <a:t>Masters </a:t>
            </a:r>
          </a:p>
          <a:p>
            <a:pPr lvl="1"/>
            <a:r>
              <a:rPr lang="en-AU" sz="2400" dirty="0" smtClean="0"/>
              <a:t>Graduate entry teaching </a:t>
            </a:r>
          </a:p>
          <a:p>
            <a:r>
              <a:rPr lang="en-AU" sz="2400" dirty="0" smtClean="0"/>
              <a:t>Note: </a:t>
            </a:r>
            <a:br>
              <a:rPr lang="en-AU" sz="2400" dirty="0" smtClean="0"/>
            </a:br>
            <a:r>
              <a:rPr lang="en-AU" sz="2400" dirty="0" smtClean="0"/>
              <a:t>A number of postgraduate and master courses are via direct application. </a:t>
            </a:r>
          </a:p>
          <a:p>
            <a:endParaRPr lang="en-AU"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sz="3600" dirty="0" smtClean="0">
                <a:solidFill>
                  <a:schemeClr val="tx1"/>
                </a:solidFill>
              </a:rPr>
              <a:t>VET and Higher education - </a:t>
            </a:r>
            <a:r>
              <a:rPr lang="en-AU" sz="3200" dirty="0" smtClean="0">
                <a:solidFill>
                  <a:schemeClr val="tx1"/>
                </a:solidFill>
              </a:rPr>
              <a:t>colour coding </a:t>
            </a:r>
            <a:endParaRPr lang="en-AU" sz="3600" dirty="0">
              <a:solidFill>
                <a:schemeClr val="tx1"/>
              </a:solidFill>
            </a:endParaRPr>
          </a:p>
        </p:txBody>
      </p:sp>
      <p:pic>
        <p:nvPicPr>
          <p:cNvPr id="4" name="Picture 2"/>
          <p:cNvPicPr>
            <a:picLocks noGrp="1" noChangeAspect="1" noChangeArrowheads="1"/>
          </p:cNvPicPr>
          <p:nvPr>
            <p:ph sz="quarter" idx="1"/>
          </p:nvPr>
        </p:nvPicPr>
        <p:blipFill>
          <a:blip r:embed="rId3" cstate="print"/>
          <a:srcRect l="5232" t="9756" r="5801" b="6520"/>
          <a:stretch>
            <a:fillRect/>
          </a:stretch>
        </p:blipFill>
        <p:spPr bwMode="auto">
          <a:xfrm>
            <a:off x="899592" y="1556792"/>
            <a:ext cx="6837979" cy="5148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l="10040" t="16665" r="10226"/>
          <a:stretch>
            <a:fillRect/>
          </a:stretch>
        </p:blipFill>
        <p:spPr bwMode="auto">
          <a:xfrm>
            <a:off x="683568" y="260648"/>
            <a:ext cx="7704856" cy="6278739"/>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3" cstate="print"/>
          <a:srcRect l="14466" t="31527" r="11116" b="25295"/>
          <a:stretch>
            <a:fillRect/>
          </a:stretch>
        </p:blipFill>
        <p:spPr bwMode="auto">
          <a:xfrm>
            <a:off x="107503" y="404664"/>
            <a:ext cx="8913833" cy="4032448"/>
          </a:xfrm>
          <a:prstGeom prst="rect">
            <a:avLst/>
          </a:prstGeom>
          <a:ln>
            <a:noFill/>
          </a:ln>
          <a:effectLst>
            <a:outerShdw blurRad="292100" dist="139700" dir="2700000" algn="tl" rotWithShape="0">
              <a:srgbClr val="333333">
                <a:alpha val="65000"/>
              </a:srgbClr>
            </a:outerShdw>
          </a:effectLst>
        </p:spPr>
      </p:pic>
      <p:pic>
        <p:nvPicPr>
          <p:cNvPr id="2052" name="Picture 4"/>
          <p:cNvPicPr>
            <a:picLocks noChangeAspect="1" noChangeArrowheads="1"/>
          </p:cNvPicPr>
          <p:nvPr/>
        </p:nvPicPr>
        <p:blipFill>
          <a:blip r:embed="rId4" cstate="print"/>
          <a:srcRect l="23325" t="24710" r="21747" b="7872"/>
          <a:stretch>
            <a:fillRect/>
          </a:stretch>
        </p:blipFill>
        <p:spPr bwMode="auto">
          <a:xfrm>
            <a:off x="2555776" y="980728"/>
            <a:ext cx="5832648" cy="5581782"/>
          </a:xfrm>
          <a:prstGeom prst="rect">
            <a:avLst/>
          </a:prstGeom>
          <a:noFill/>
          <a:ln w="9525">
            <a:noFill/>
            <a:miter lim="800000"/>
            <a:headEnd/>
            <a:tailEnd/>
          </a:ln>
          <a:effectLst>
            <a:outerShdw blurRad="50800" dist="38100" dir="2700000" algn="tl" rotWithShape="0">
              <a:prstClr val="black">
                <a:alpha val="40000"/>
              </a:prst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16632"/>
            <a:ext cx="8153400" cy="1026368"/>
          </a:xfrm>
        </p:spPr>
        <p:txBody>
          <a:bodyPr>
            <a:normAutofit fontScale="90000"/>
          </a:bodyPr>
          <a:lstStyle/>
          <a:p>
            <a:r>
              <a:rPr lang="en-AU" dirty="0" smtClean="0"/>
              <a:t>Case study: </a:t>
            </a:r>
            <a:br>
              <a:rPr lang="en-AU" dirty="0" smtClean="0"/>
            </a:br>
            <a:r>
              <a:rPr lang="en-AU" sz="3600" dirty="0" smtClean="0"/>
              <a:t>Courses, qualifications and course types </a:t>
            </a:r>
            <a:endParaRPr lang="en-AU" dirty="0"/>
          </a:p>
        </p:txBody>
      </p:sp>
      <p:sp>
        <p:nvSpPr>
          <p:cNvPr id="3" name="Text Placeholder 2"/>
          <p:cNvSpPr>
            <a:spLocks noGrp="1"/>
          </p:cNvSpPr>
          <p:nvPr>
            <p:ph type="body" sz="quarter" idx="1"/>
          </p:nvPr>
        </p:nvSpPr>
        <p:spPr>
          <a:xfrm>
            <a:off x="611560" y="1556792"/>
            <a:ext cx="3886200" cy="640080"/>
          </a:xfrm>
        </p:spPr>
        <p:txBody>
          <a:bodyPr>
            <a:normAutofit/>
          </a:bodyPr>
          <a:lstStyle/>
          <a:p>
            <a:r>
              <a:rPr lang="en-AU" dirty="0" smtClean="0"/>
              <a:t>Case study 1:  </a:t>
            </a:r>
            <a:endParaRPr lang="en-AU" dirty="0"/>
          </a:p>
        </p:txBody>
      </p:sp>
      <p:sp>
        <p:nvSpPr>
          <p:cNvPr id="4" name="Content Placeholder 3"/>
          <p:cNvSpPr>
            <a:spLocks noGrp="1"/>
          </p:cNvSpPr>
          <p:nvPr>
            <p:ph sz="quarter" idx="2"/>
          </p:nvPr>
        </p:nvSpPr>
        <p:spPr>
          <a:xfrm>
            <a:off x="609600" y="2276872"/>
            <a:ext cx="3886200" cy="4392488"/>
          </a:xfrm>
        </p:spPr>
        <p:txBody>
          <a:bodyPr>
            <a:normAutofit fontScale="85000" lnSpcReduction="10000"/>
          </a:bodyPr>
          <a:lstStyle/>
          <a:p>
            <a:pPr lvl="0"/>
            <a:r>
              <a:rPr lang="en-AU" dirty="0" smtClean="0"/>
              <a:t>You have a VCE student in your school who is 20 and wanting to apply for VET courses this year. </a:t>
            </a:r>
          </a:p>
          <a:p>
            <a:pPr lvl="1"/>
            <a:r>
              <a:rPr lang="en-AU" sz="2400" dirty="0" smtClean="0"/>
              <a:t>What types of courses does the student need to apply for? </a:t>
            </a:r>
          </a:p>
          <a:p>
            <a:pPr lvl="1"/>
            <a:r>
              <a:rPr lang="en-AU" sz="2400" dirty="0" smtClean="0"/>
              <a:t>What other factors should you counsel the student on? </a:t>
            </a:r>
          </a:p>
          <a:p>
            <a:pPr lvl="1"/>
            <a:r>
              <a:rPr lang="en-AU" sz="2400" dirty="0" smtClean="0"/>
              <a:t>Does the student apply as a current year 12 or mature age student? </a:t>
            </a:r>
          </a:p>
          <a:p>
            <a:pPr lvl="1"/>
            <a:r>
              <a:rPr lang="en-AU" sz="2400" dirty="0" smtClean="0"/>
              <a:t>What other factors should be considered? </a:t>
            </a:r>
          </a:p>
          <a:p>
            <a:pPr lvl="1"/>
            <a:endParaRPr lang="en-AU" dirty="0" smtClean="0"/>
          </a:p>
        </p:txBody>
      </p:sp>
      <p:sp>
        <p:nvSpPr>
          <p:cNvPr id="5" name="Text Placeholder 4"/>
          <p:cNvSpPr>
            <a:spLocks noGrp="1"/>
          </p:cNvSpPr>
          <p:nvPr>
            <p:ph type="body" sz="quarter" idx="3"/>
          </p:nvPr>
        </p:nvSpPr>
        <p:spPr>
          <a:xfrm>
            <a:off x="4788024" y="1556792"/>
            <a:ext cx="4104456" cy="640080"/>
          </a:xfrm>
        </p:spPr>
        <p:txBody>
          <a:bodyPr/>
          <a:lstStyle/>
          <a:p>
            <a:r>
              <a:rPr lang="en-AU" dirty="0" smtClean="0"/>
              <a:t>Quick quiz</a:t>
            </a:r>
            <a:endParaRPr lang="en-AU" dirty="0"/>
          </a:p>
        </p:txBody>
      </p:sp>
      <p:sp>
        <p:nvSpPr>
          <p:cNvPr id="6" name="Content Placeholder 5"/>
          <p:cNvSpPr>
            <a:spLocks noGrp="1"/>
          </p:cNvSpPr>
          <p:nvPr>
            <p:ph sz="quarter" idx="4"/>
          </p:nvPr>
        </p:nvSpPr>
        <p:spPr>
          <a:xfrm>
            <a:off x="4800600" y="2276872"/>
            <a:ext cx="4091880" cy="4392488"/>
          </a:xfrm>
        </p:spPr>
        <p:txBody>
          <a:bodyPr>
            <a:normAutofit lnSpcReduction="10000"/>
          </a:bodyPr>
          <a:lstStyle/>
          <a:p>
            <a:pPr marL="514350" indent="-514350">
              <a:buFont typeface="+mj-lt"/>
              <a:buAutoNum type="arabicPeriod"/>
            </a:pPr>
            <a:r>
              <a:rPr lang="en-AU" sz="1800" dirty="0" smtClean="0"/>
              <a:t>Are VET courses through VTAC the same as they are in VCE?</a:t>
            </a:r>
          </a:p>
          <a:p>
            <a:pPr marL="514350" indent="-514350">
              <a:buFont typeface="+mj-lt"/>
              <a:buAutoNum type="arabicPeriod"/>
            </a:pPr>
            <a:r>
              <a:rPr lang="en-AU" sz="1800" dirty="0" smtClean="0"/>
              <a:t>One of our international students has just become a permanent resident. What should they do?</a:t>
            </a:r>
          </a:p>
          <a:p>
            <a:pPr marL="514350" indent="-514350">
              <a:buFont typeface="+mj-lt"/>
              <a:buAutoNum type="arabicPeriod"/>
            </a:pPr>
            <a:r>
              <a:rPr lang="en-AU" sz="1800" dirty="0" smtClean="0"/>
              <a:t>Can international students apply for a Negotiated course?</a:t>
            </a:r>
          </a:p>
          <a:p>
            <a:pPr marL="514350" indent="-514350">
              <a:buFont typeface="+mj-lt"/>
              <a:buAutoNum type="arabicPeriod"/>
            </a:pPr>
            <a:r>
              <a:rPr lang="en-AU" sz="1800" dirty="0" smtClean="0"/>
              <a:t>Can a Year 12 student accidentally apply for postgraduate or graduate entry teaching courses through VTAC?</a:t>
            </a:r>
          </a:p>
          <a:p>
            <a:pPr marL="514350" indent="-514350">
              <a:buFont typeface="+mj-lt"/>
              <a:buAutoNum type="arabicPeriod"/>
            </a:pPr>
            <a:r>
              <a:rPr lang="en-AU" sz="1800" dirty="0" smtClean="0"/>
              <a:t>Can New Zealand citizens and permanent residents apply for a Commonwealth supported place through VTAC?</a:t>
            </a:r>
          </a:p>
          <a:p>
            <a:pPr marL="514350" indent="-514350">
              <a:buFont typeface="+mj-lt"/>
              <a:buAutoNum type="arabicPeriod"/>
            </a:pPr>
            <a:endParaRPr lang="en-AU" sz="1800" dirty="0" smtClean="0"/>
          </a:p>
          <a:p>
            <a:pPr marL="514350" indent="-514350">
              <a:buFont typeface="+mj-lt"/>
              <a:buAutoNum type="arabicPeriod"/>
            </a:pPr>
            <a:endParaRPr lang="en-AU" sz="1800" dirty="0" smtClean="0"/>
          </a:p>
          <a:p>
            <a:pPr marL="514350" indent="-514350">
              <a:buFont typeface="+mj-lt"/>
              <a:buAutoNum type="arabicPeriod"/>
            </a:pPr>
            <a:endParaRPr lang="en-AU" sz="1800" dirty="0" smtClean="0"/>
          </a:p>
          <a:p>
            <a:pPr marL="514350" indent="-514350">
              <a:buFont typeface="+mj-lt"/>
              <a:buAutoNum type="arabicPeriod"/>
            </a:pPr>
            <a:endParaRPr lang="en-AU" sz="1800" dirty="0" smtClean="0"/>
          </a:p>
          <a:p>
            <a:pPr marL="514350" indent="-514350">
              <a:buFont typeface="+mj-lt"/>
              <a:buAutoNum type="arabicPeriod"/>
            </a:pPr>
            <a:endParaRPr lang="en-AU" sz="1800" dirty="0" smtClean="0"/>
          </a:p>
          <a:p>
            <a:pPr marL="514350" indent="-514350">
              <a:buAutoNum type="arabicPeriod"/>
            </a:pPr>
            <a:endParaRPr lang="en-AU" dirty="0" smtClean="0"/>
          </a:p>
          <a:p>
            <a:endParaRPr lang="en-AU"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Autofit/>
          </a:bodyPr>
          <a:lstStyle/>
          <a:p>
            <a:r>
              <a:rPr lang="en-AU" sz="3600" b="1" dirty="0" smtClean="0"/>
              <a:t>Three things you now know about: </a:t>
            </a:r>
            <a:br>
              <a:rPr lang="en-AU" sz="3600" b="1" dirty="0" smtClean="0"/>
            </a:br>
            <a:r>
              <a:rPr lang="en-AU" sz="3600" dirty="0" smtClean="0"/>
              <a:t>courses, qualifications and types  </a:t>
            </a:r>
            <a:endParaRPr lang="en-AU" sz="3600" dirty="0"/>
          </a:p>
        </p:txBody>
      </p:sp>
      <p:graphicFrame>
        <p:nvGraphicFramePr>
          <p:cNvPr id="12" name="Content Placeholder 3"/>
          <p:cNvGraphicFramePr>
            <a:graphicFrameLocks/>
          </p:cNvGraphicFramePr>
          <p:nvPr/>
        </p:nvGraphicFramePr>
        <p:xfrm>
          <a:off x="457200" y="1600200"/>
          <a:ext cx="8229600" cy="4389120"/>
        </p:xfrm>
        <a:graphic>
          <a:graphicData uri="http://schemas.openxmlformats.org/drawingml/2006/table">
            <a:tbl>
              <a:tblPr firstRow="1" bandRow="1">
                <a:tableStyleId>{D7AC3CCA-C797-4891-BE02-D94E43425B78}</a:tableStyleId>
              </a:tblPr>
              <a:tblGrid>
                <a:gridCol w="370384"/>
                <a:gridCol w="7859216"/>
              </a:tblGrid>
              <a:tr h="370840">
                <a:tc>
                  <a:txBody>
                    <a:bodyPr/>
                    <a:lstStyle/>
                    <a:p>
                      <a:pPr algn="l"/>
                      <a:endParaRPr lang="en-AU" b="1" dirty="0" smtClean="0"/>
                    </a:p>
                    <a:p>
                      <a:pPr algn="l"/>
                      <a:endParaRPr lang="en-AU" b="1" dirty="0" smtClean="0"/>
                    </a:p>
                    <a:p>
                      <a:pPr algn="l"/>
                      <a:endParaRPr lang="en-AU" b="1" dirty="0" smtClean="0"/>
                    </a:p>
                    <a:p>
                      <a:pPr algn="l"/>
                      <a:r>
                        <a:rPr lang="en-AU" b="1" dirty="0" smtClean="0"/>
                        <a:t>1</a:t>
                      </a:r>
                    </a:p>
                    <a:p>
                      <a:pPr algn="l"/>
                      <a:endParaRPr lang="en-AU" b="1" dirty="0" smtClean="0"/>
                    </a:p>
                  </a:txBody>
                  <a:tcPr/>
                </a:tc>
                <a:tc>
                  <a:txBody>
                    <a:bodyPr/>
                    <a:lstStyle/>
                    <a:p>
                      <a:endParaRPr lang="en-AU" dirty="0"/>
                    </a:p>
                  </a:txBody>
                  <a:tcPr/>
                </a:tc>
              </a:tr>
              <a:tr h="370840">
                <a:tc>
                  <a:txBody>
                    <a:bodyPr/>
                    <a:lstStyle/>
                    <a:p>
                      <a:pPr algn="l"/>
                      <a:endParaRPr lang="en-AU" b="1" dirty="0" smtClean="0"/>
                    </a:p>
                    <a:p>
                      <a:pPr algn="l"/>
                      <a:endParaRPr lang="en-AU" b="1" dirty="0" smtClean="0"/>
                    </a:p>
                    <a:p>
                      <a:pPr algn="l"/>
                      <a:r>
                        <a:rPr lang="en-AU" b="1" dirty="0" smtClean="0"/>
                        <a:t>2</a:t>
                      </a:r>
                    </a:p>
                    <a:p>
                      <a:pPr algn="l"/>
                      <a:endParaRPr lang="en-AU" b="1" dirty="0" smtClean="0"/>
                    </a:p>
                    <a:p>
                      <a:pPr algn="l"/>
                      <a:endParaRPr lang="en-AU" b="1" dirty="0" smtClean="0"/>
                    </a:p>
                  </a:txBody>
                  <a:tcPr/>
                </a:tc>
                <a:tc>
                  <a:txBody>
                    <a:bodyPr/>
                    <a:lstStyle/>
                    <a:p>
                      <a:endParaRPr lang="en-AU" dirty="0"/>
                    </a:p>
                  </a:txBody>
                  <a:tcPr/>
                </a:tc>
              </a:tr>
              <a:tr h="370840">
                <a:tc>
                  <a:txBody>
                    <a:bodyPr/>
                    <a:lstStyle/>
                    <a:p>
                      <a:pPr algn="l"/>
                      <a:endParaRPr lang="en-AU" b="1" dirty="0" smtClean="0"/>
                    </a:p>
                    <a:p>
                      <a:pPr algn="l"/>
                      <a:endParaRPr lang="en-AU" b="1" dirty="0" smtClean="0"/>
                    </a:p>
                    <a:p>
                      <a:pPr algn="l"/>
                      <a:r>
                        <a:rPr lang="en-AU" b="1" dirty="0" smtClean="0"/>
                        <a:t>3</a:t>
                      </a:r>
                    </a:p>
                    <a:p>
                      <a:pPr algn="l"/>
                      <a:endParaRPr lang="en-AU" b="1" dirty="0" smtClean="0"/>
                    </a:p>
                    <a:p>
                      <a:pPr algn="l"/>
                      <a:endParaRPr lang="en-AU" b="1" dirty="0"/>
                    </a:p>
                  </a:txBody>
                  <a:tcPr/>
                </a:tc>
                <a:tc>
                  <a:txBody>
                    <a:bodyPr/>
                    <a:lstStyle/>
                    <a:p>
                      <a:endParaRPr lang="en-AU" dirty="0"/>
                    </a:p>
                  </a:txBody>
                  <a:tcPr/>
                </a:tc>
              </a:tr>
            </a:tbl>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r>
              <a:rPr lang="en-AU" dirty="0" smtClean="0"/>
              <a:t>Courses, SEAS, Scholarships </a:t>
            </a:r>
            <a:endParaRPr lang="en-AU" dirty="0"/>
          </a:p>
        </p:txBody>
      </p:sp>
      <p:sp>
        <p:nvSpPr>
          <p:cNvPr id="2" name="Title 1"/>
          <p:cNvSpPr>
            <a:spLocks noGrp="1"/>
          </p:cNvSpPr>
          <p:nvPr>
            <p:ph type="title"/>
          </p:nvPr>
        </p:nvSpPr>
        <p:spPr/>
        <p:txBody>
          <a:bodyPr/>
          <a:lstStyle/>
          <a:p>
            <a:r>
              <a:rPr lang="en-AU" dirty="0" smtClean="0"/>
              <a:t>The application process </a:t>
            </a:r>
            <a:endParaRPr lang="en-AU"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AU" sz="3600" dirty="0" smtClean="0"/>
              <a:t>Application process for courses through VTAC </a:t>
            </a:r>
            <a:endParaRPr lang="en-AU" sz="3600" dirty="0"/>
          </a:p>
        </p:txBody>
      </p:sp>
      <p:sp>
        <p:nvSpPr>
          <p:cNvPr id="5" name="TextBox 4"/>
          <p:cNvSpPr txBox="1"/>
          <p:nvPr/>
        </p:nvSpPr>
        <p:spPr>
          <a:xfrm>
            <a:off x="3095836" y="1700808"/>
            <a:ext cx="2232248" cy="369332"/>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US" dirty="0" smtClean="0"/>
              <a:t>Register</a:t>
            </a:r>
            <a:endParaRPr lang="en-US" dirty="0"/>
          </a:p>
        </p:txBody>
      </p:sp>
      <p:sp>
        <p:nvSpPr>
          <p:cNvPr id="7" name="TextBox 6"/>
          <p:cNvSpPr txBox="1"/>
          <p:nvPr/>
        </p:nvSpPr>
        <p:spPr>
          <a:xfrm>
            <a:off x="2627784" y="2420888"/>
            <a:ext cx="3168352" cy="369332"/>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US" dirty="0" smtClean="0"/>
              <a:t>Receive VTAC ID and PIN</a:t>
            </a:r>
            <a:endParaRPr lang="en-US" dirty="0"/>
          </a:p>
        </p:txBody>
      </p:sp>
      <p:sp>
        <p:nvSpPr>
          <p:cNvPr id="8" name="TextBox 7"/>
          <p:cNvSpPr txBox="1"/>
          <p:nvPr/>
        </p:nvSpPr>
        <p:spPr>
          <a:xfrm>
            <a:off x="2627784" y="3212976"/>
            <a:ext cx="3168352" cy="369332"/>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US" dirty="0" smtClean="0"/>
              <a:t>Login to VTAC User Account</a:t>
            </a:r>
            <a:endParaRPr lang="en-US" dirty="0"/>
          </a:p>
        </p:txBody>
      </p:sp>
      <p:sp>
        <p:nvSpPr>
          <p:cNvPr id="9" name="TextBox 8"/>
          <p:cNvSpPr txBox="1"/>
          <p:nvPr/>
        </p:nvSpPr>
        <p:spPr>
          <a:xfrm>
            <a:off x="611560" y="4509120"/>
            <a:ext cx="2232248" cy="369332"/>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US" dirty="0" smtClean="0"/>
              <a:t>Apply for courses</a:t>
            </a:r>
            <a:endParaRPr lang="en-US" dirty="0"/>
          </a:p>
        </p:txBody>
      </p:sp>
      <p:sp>
        <p:nvSpPr>
          <p:cNvPr id="10" name="TextBox 9"/>
          <p:cNvSpPr txBox="1"/>
          <p:nvPr/>
        </p:nvSpPr>
        <p:spPr>
          <a:xfrm>
            <a:off x="611560" y="5661248"/>
            <a:ext cx="2232248" cy="369332"/>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US" dirty="0" smtClean="0"/>
              <a:t>Apply for SEAS</a:t>
            </a:r>
            <a:endParaRPr lang="en-US" dirty="0"/>
          </a:p>
        </p:txBody>
      </p:sp>
      <p:sp>
        <p:nvSpPr>
          <p:cNvPr id="11" name="TextBox 10"/>
          <p:cNvSpPr txBox="1"/>
          <p:nvPr/>
        </p:nvSpPr>
        <p:spPr>
          <a:xfrm>
            <a:off x="3275856" y="4509120"/>
            <a:ext cx="1944216" cy="646331"/>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US" dirty="0" smtClean="0"/>
              <a:t>Apply for STAT/DULSAT</a:t>
            </a:r>
            <a:endParaRPr lang="en-US" dirty="0"/>
          </a:p>
        </p:txBody>
      </p:sp>
      <p:sp>
        <p:nvSpPr>
          <p:cNvPr id="12" name="TextBox 11"/>
          <p:cNvSpPr txBox="1"/>
          <p:nvPr/>
        </p:nvSpPr>
        <p:spPr>
          <a:xfrm>
            <a:off x="5580112" y="4509120"/>
            <a:ext cx="1944216" cy="646331"/>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US" dirty="0" smtClean="0"/>
              <a:t>Apply for Scholarships</a:t>
            </a:r>
            <a:endParaRPr lang="en-US" dirty="0"/>
          </a:p>
        </p:txBody>
      </p:sp>
      <p:cxnSp>
        <p:nvCxnSpPr>
          <p:cNvPr id="13" name="Straight Arrow Connector 12"/>
          <p:cNvCxnSpPr>
            <a:stCxn id="7" idx="2"/>
            <a:endCxn id="8" idx="0"/>
          </p:cNvCxnSpPr>
          <p:nvPr/>
        </p:nvCxnSpPr>
        <p:spPr>
          <a:xfrm rot="5400000">
            <a:off x="4000582" y="3001598"/>
            <a:ext cx="422756" cy="1588"/>
          </a:xfrm>
          <a:prstGeom prst="straightConnector1">
            <a:avLst/>
          </a:prstGeom>
          <a:ln>
            <a:tailEnd type="arrow"/>
          </a:ln>
        </p:spPr>
        <p:style>
          <a:lnRef idx="1">
            <a:schemeClr val="accent6"/>
          </a:lnRef>
          <a:fillRef idx="3">
            <a:schemeClr val="accent6"/>
          </a:fillRef>
          <a:effectRef idx="2">
            <a:schemeClr val="accent6"/>
          </a:effectRef>
          <a:fontRef idx="minor">
            <a:schemeClr val="lt1"/>
          </a:fontRef>
        </p:style>
      </p:cxnSp>
      <p:cxnSp>
        <p:nvCxnSpPr>
          <p:cNvPr id="14" name="Straight Arrow Connector 13"/>
          <p:cNvCxnSpPr>
            <a:stCxn id="5" idx="2"/>
            <a:endCxn id="7" idx="0"/>
          </p:cNvCxnSpPr>
          <p:nvPr/>
        </p:nvCxnSpPr>
        <p:spPr>
          <a:xfrm rot="5400000">
            <a:off x="4036586" y="2245514"/>
            <a:ext cx="350748" cy="1588"/>
          </a:xfrm>
          <a:prstGeom prst="straightConnector1">
            <a:avLst/>
          </a:prstGeom>
          <a:ln>
            <a:tailEnd type="arrow"/>
          </a:ln>
        </p:spPr>
        <p:style>
          <a:lnRef idx="1">
            <a:schemeClr val="accent6"/>
          </a:lnRef>
          <a:fillRef idx="3">
            <a:schemeClr val="accent6"/>
          </a:fillRef>
          <a:effectRef idx="2">
            <a:schemeClr val="accent6"/>
          </a:effectRef>
          <a:fontRef idx="minor">
            <a:schemeClr val="lt1"/>
          </a:fontRef>
        </p:style>
      </p:cxnSp>
      <p:cxnSp>
        <p:nvCxnSpPr>
          <p:cNvPr id="15" name="Elbow Connector 14"/>
          <p:cNvCxnSpPr>
            <a:stCxn id="8" idx="2"/>
            <a:endCxn id="9" idx="0"/>
          </p:cNvCxnSpPr>
          <p:nvPr/>
        </p:nvCxnSpPr>
        <p:spPr>
          <a:xfrm rot="5400000">
            <a:off x="2506416" y="2803576"/>
            <a:ext cx="926812" cy="2484276"/>
          </a:xfrm>
          <a:prstGeom prst="bentConnector3">
            <a:avLst>
              <a:gd name="adj1" fmla="val 50000"/>
            </a:avLst>
          </a:prstGeom>
          <a:ln>
            <a:tailEnd type="arrow"/>
          </a:ln>
        </p:spPr>
        <p:style>
          <a:lnRef idx="1">
            <a:schemeClr val="accent6"/>
          </a:lnRef>
          <a:fillRef idx="3">
            <a:schemeClr val="accent6"/>
          </a:fillRef>
          <a:effectRef idx="2">
            <a:schemeClr val="accent6"/>
          </a:effectRef>
          <a:fontRef idx="minor">
            <a:schemeClr val="lt1"/>
          </a:fontRef>
        </p:style>
      </p:cxnSp>
      <p:cxnSp>
        <p:nvCxnSpPr>
          <p:cNvPr id="16" name="Elbow Connector 15"/>
          <p:cNvCxnSpPr>
            <a:stCxn id="8" idx="2"/>
            <a:endCxn id="12" idx="0"/>
          </p:cNvCxnSpPr>
          <p:nvPr/>
        </p:nvCxnSpPr>
        <p:spPr>
          <a:xfrm rot="16200000" flipH="1">
            <a:off x="4918684" y="2875584"/>
            <a:ext cx="926812" cy="2340260"/>
          </a:xfrm>
          <a:prstGeom prst="bentConnector3">
            <a:avLst>
              <a:gd name="adj1" fmla="val 50000"/>
            </a:avLst>
          </a:prstGeom>
          <a:ln>
            <a:tailEnd type="arrow"/>
          </a:ln>
        </p:spPr>
        <p:style>
          <a:lnRef idx="1">
            <a:schemeClr val="accent6"/>
          </a:lnRef>
          <a:fillRef idx="3">
            <a:schemeClr val="accent6"/>
          </a:fillRef>
          <a:effectRef idx="2">
            <a:schemeClr val="accent6"/>
          </a:effectRef>
          <a:fontRef idx="minor">
            <a:schemeClr val="lt1"/>
          </a:fontRef>
        </p:style>
      </p:cxnSp>
      <p:cxnSp>
        <p:nvCxnSpPr>
          <p:cNvPr id="17" name="Elbow Connector 16"/>
          <p:cNvCxnSpPr>
            <a:stCxn id="8" idx="2"/>
            <a:endCxn id="11" idx="0"/>
          </p:cNvCxnSpPr>
          <p:nvPr/>
        </p:nvCxnSpPr>
        <p:spPr>
          <a:xfrm rot="16200000" flipH="1">
            <a:off x="3766556" y="4027712"/>
            <a:ext cx="926812" cy="36004"/>
          </a:xfrm>
          <a:prstGeom prst="bentConnector3">
            <a:avLst>
              <a:gd name="adj1" fmla="val 50000"/>
            </a:avLst>
          </a:prstGeom>
          <a:ln>
            <a:tailEnd type="arrow"/>
          </a:ln>
        </p:spPr>
        <p:style>
          <a:lnRef idx="1">
            <a:schemeClr val="accent6"/>
          </a:lnRef>
          <a:fillRef idx="3">
            <a:schemeClr val="accent6"/>
          </a:fillRef>
          <a:effectRef idx="2">
            <a:schemeClr val="accent6"/>
          </a:effectRef>
          <a:fontRef idx="minor">
            <a:schemeClr val="lt1"/>
          </a:fontRef>
        </p:style>
      </p:cxnSp>
      <p:cxnSp>
        <p:nvCxnSpPr>
          <p:cNvPr id="18" name="Straight Arrow Connector 17"/>
          <p:cNvCxnSpPr>
            <a:stCxn id="9" idx="2"/>
            <a:endCxn id="10" idx="0"/>
          </p:cNvCxnSpPr>
          <p:nvPr/>
        </p:nvCxnSpPr>
        <p:spPr>
          <a:xfrm rot="5400000">
            <a:off x="1336286" y="5269850"/>
            <a:ext cx="782796" cy="1588"/>
          </a:xfrm>
          <a:prstGeom prst="straightConnector1">
            <a:avLst/>
          </a:prstGeom>
          <a:ln>
            <a:tailEnd type="arrow"/>
          </a:ln>
        </p:spPr>
        <p:style>
          <a:lnRef idx="1">
            <a:schemeClr val="accent6"/>
          </a:lnRef>
          <a:fillRef idx="3">
            <a:schemeClr val="accent6"/>
          </a:fillRef>
          <a:effectRef idx="2">
            <a:schemeClr val="accent6"/>
          </a:effectRef>
          <a:fontRef idx="minor">
            <a:schemeClr val="lt1"/>
          </a:fontRef>
        </p:style>
      </p:cxnSp>
      <p:sp>
        <p:nvSpPr>
          <p:cNvPr id="19" name="TextBox 18"/>
          <p:cNvSpPr txBox="1"/>
          <p:nvPr/>
        </p:nvSpPr>
        <p:spPr>
          <a:xfrm>
            <a:off x="3635896" y="5517232"/>
            <a:ext cx="4032448" cy="1077218"/>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r>
              <a:rPr lang="en-US" sz="1600" dirty="0" smtClean="0"/>
              <a:t>Institution can make early offers via VTAC to Non-Year 12 applicants in early December.</a:t>
            </a:r>
          </a:p>
          <a:p>
            <a:r>
              <a:rPr lang="en-US" sz="1600" dirty="0" smtClean="0"/>
              <a:t>Main round offers in January 2013.</a:t>
            </a:r>
          </a:p>
          <a:p>
            <a:r>
              <a:rPr lang="en-US" sz="1600" dirty="0" smtClean="0"/>
              <a:t>Round 2 offers in February 2013.</a:t>
            </a:r>
            <a:endParaRPr lang="en-AU"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Courses via direct application </a:t>
            </a:r>
            <a:endParaRPr lang="en-AU" dirty="0"/>
          </a:p>
        </p:txBody>
      </p:sp>
      <p:sp>
        <p:nvSpPr>
          <p:cNvPr id="5" name="TextBox 4"/>
          <p:cNvSpPr txBox="1"/>
          <p:nvPr/>
        </p:nvSpPr>
        <p:spPr>
          <a:xfrm>
            <a:off x="3383868" y="2492896"/>
            <a:ext cx="2232248" cy="646331"/>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US" dirty="0" smtClean="0"/>
              <a:t>Applicants apply to institution</a:t>
            </a:r>
            <a:endParaRPr lang="en-US" dirty="0"/>
          </a:p>
        </p:txBody>
      </p:sp>
      <p:sp>
        <p:nvSpPr>
          <p:cNvPr id="6" name="TextBox 5"/>
          <p:cNvSpPr txBox="1"/>
          <p:nvPr/>
        </p:nvSpPr>
        <p:spPr>
          <a:xfrm>
            <a:off x="2915816" y="3717032"/>
            <a:ext cx="3168352" cy="646331"/>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US" dirty="0" smtClean="0"/>
              <a:t>Institution decides to make an offer or not</a:t>
            </a:r>
            <a:endParaRPr lang="en-US" dirty="0"/>
          </a:p>
        </p:txBody>
      </p:sp>
      <p:sp>
        <p:nvSpPr>
          <p:cNvPr id="7" name="TextBox 6"/>
          <p:cNvSpPr txBox="1"/>
          <p:nvPr/>
        </p:nvSpPr>
        <p:spPr>
          <a:xfrm>
            <a:off x="2915816" y="5013176"/>
            <a:ext cx="3168352" cy="646331"/>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US" dirty="0" smtClean="0"/>
              <a:t>Institution can make early offers whenever they choose</a:t>
            </a:r>
            <a:endParaRPr lang="en-US" dirty="0"/>
          </a:p>
        </p:txBody>
      </p:sp>
      <p:cxnSp>
        <p:nvCxnSpPr>
          <p:cNvPr id="8" name="Straight Arrow Connector 7"/>
          <p:cNvCxnSpPr/>
          <p:nvPr/>
        </p:nvCxnSpPr>
        <p:spPr>
          <a:xfrm>
            <a:off x="4499992" y="4363363"/>
            <a:ext cx="0" cy="649813"/>
          </a:xfrm>
          <a:prstGeom prst="straightConnector1">
            <a:avLst/>
          </a:prstGeom>
          <a:ln>
            <a:tailEnd type="arrow"/>
          </a:ln>
        </p:spPr>
        <p:style>
          <a:lnRef idx="1">
            <a:schemeClr val="accent6"/>
          </a:lnRef>
          <a:fillRef idx="3">
            <a:schemeClr val="accent6"/>
          </a:fillRef>
          <a:effectRef idx="2">
            <a:schemeClr val="accent6"/>
          </a:effectRef>
          <a:fontRef idx="minor">
            <a:schemeClr val="lt1"/>
          </a:fontRef>
        </p:style>
      </p:cxnSp>
      <p:cxnSp>
        <p:nvCxnSpPr>
          <p:cNvPr id="9" name="Straight Arrow Connector 8"/>
          <p:cNvCxnSpPr/>
          <p:nvPr/>
        </p:nvCxnSpPr>
        <p:spPr>
          <a:xfrm>
            <a:off x="4499992" y="3139227"/>
            <a:ext cx="0" cy="577805"/>
          </a:xfrm>
          <a:prstGeom prst="straightConnector1">
            <a:avLst/>
          </a:prstGeom>
          <a:ln>
            <a:tailEnd type="arrow"/>
          </a:ln>
        </p:spPr>
        <p:style>
          <a:lnRef idx="1">
            <a:schemeClr val="accent6"/>
          </a:lnRef>
          <a:fillRef idx="3">
            <a:schemeClr val="accent6"/>
          </a:fillRef>
          <a:effectRef idx="2">
            <a:schemeClr val="accent6"/>
          </a:effectRef>
          <a:fontRef idx="minor">
            <a:schemeClr val="lt1"/>
          </a:fontRef>
        </p:style>
      </p:cxn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8153400" cy="476672"/>
          </a:xfrm>
        </p:spPr>
        <p:txBody>
          <a:bodyPr>
            <a:normAutofit fontScale="90000"/>
          </a:bodyPr>
          <a:lstStyle/>
          <a:p>
            <a:r>
              <a:rPr lang="en-AU" sz="3600" b="1" dirty="0" smtClean="0"/>
              <a:t>STEP 1: </a:t>
            </a:r>
            <a:r>
              <a:rPr lang="en-AU" sz="3600" dirty="0" smtClean="0"/>
              <a:t>VTAC Registration Process</a:t>
            </a:r>
            <a:endParaRPr lang="en-AU" sz="3600" dirty="0"/>
          </a:p>
        </p:txBody>
      </p:sp>
      <p:sp>
        <p:nvSpPr>
          <p:cNvPr id="4" name="Content Placeholder 2"/>
          <p:cNvSpPr>
            <a:spLocks noGrp="1"/>
          </p:cNvSpPr>
          <p:nvPr>
            <p:ph sz="quarter" idx="4294967295"/>
          </p:nvPr>
        </p:nvSpPr>
        <p:spPr>
          <a:xfrm>
            <a:off x="4499992" y="764704"/>
            <a:ext cx="4322242" cy="5832648"/>
          </a:xfrm>
        </p:spPr>
        <p:txBody>
          <a:bodyPr>
            <a:normAutofit lnSpcReduction="10000"/>
          </a:bodyPr>
          <a:lstStyle/>
          <a:p>
            <a:r>
              <a:rPr lang="en-AU" sz="2400" dirty="0" smtClean="0"/>
              <a:t>Register with VTAC – have VTAC ID and PIN allocated.</a:t>
            </a:r>
          </a:p>
          <a:p>
            <a:r>
              <a:rPr lang="en-AU" sz="2400" dirty="0" smtClean="0"/>
              <a:t>Once registered the user account is activated and live until the last business day of July 2013.</a:t>
            </a:r>
          </a:p>
          <a:p>
            <a:pPr>
              <a:spcAft>
                <a:spcPts val="1200"/>
              </a:spcAft>
            </a:pPr>
            <a:r>
              <a:rPr lang="en-AU" sz="2400" dirty="0" smtClean="0"/>
              <a:t>Who can register to apply:</a:t>
            </a:r>
          </a:p>
          <a:p>
            <a:pPr lvl="1">
              <a:spcAft>
                <a:spcPts val="1200"/>
              </a:spcAft>
            </a:pPr>
            <a:r>
              <a:rPr lang="en-AU" sz="2000" dirty="0" smtClean="0"/>
              <a:t>Australian citizen</a:t>
            </a:r>
          </a:p>
          <a:p>
            <a:pPr lvl="1">
              <a:spcAft>
                <a:spcPts val="1200"/>
              </a:spcAft>
            </a:pPr>
            <a:r>
              <a:rPr lang="en-AU" sz="2000" dirty="0" smtClean="0"/>
              <a:t>Australian permanent resident</a:t>
            </a:r>
          </a:p>
          <a:p>
            <a:pPr lvl="1">
              <a:spcAft>
                <a:spcPts val="1200"/>
              </a:spcAft>
            </a:pPr>
            <a:r>
              <a:rPr lang="en-AU" sz="2000" dirty="0" smtClean="0"/>
              <a:t>New Zealand citizen</a:t>
            </a:r>
          </a:p>
          <a:p>
            <a:pPr lvl="1">
              <a:spcAft>
                <a:spcPts val="1200"/>
              </a:spcAft>
            </a:pPr>
            <a:r>
              <a:rPr lang="en-AU" sz="2000" dirty="0" smtClean="0"/>
              <a:t>Temporary resident currently studying an Australian year 12 or International Baccalaureate in Australia or New Zealand</a:t>
            </a:r>
          </a:p>
          <a:p>
            <a:endParaRPr lang="en-AU" sz="2400" b="1" dirty="0" smtClean="0"/>
          </a:p>
          <a:p>
            <a:pPr lvl="1">
              <a:spcAft>
                <a:spcPts val="1200"/>
              </a:spcAft>
            </a:pPr>
            <a:endParaRPr lang="en-AU" sz="2000" b="1" dirty="0"/>
          </a:p>
        </p:txBody>
      </p:sp>
      <p:pic>
        <p:nvPicPr>
          <p:cNvPr id="11" name="Picture 2"/>
          <p:cNvPicPr>
            <a:picLocks noGrp="1" noChangeAspect="1" noChangeArrowheads="1"/>
          </p:cNvPicPr>
          <p:nvPr>
            <p:ph sz="quarter" idx="4294967295"/>
          </p:nvPr>
        </p:nvPicPr>
        <p:blipFill>
          <a:blip r:embed="rId3" cstate="print"/>
          <a:srcRect t="8578" r="57273" b="50817"/>
          <a:stretch>
            <a:fillRect/>
          </a:stretch>
        </p:blipFill>
        <p:spPr bwMode="auto">
          <a:xfrm>
            <a:off x="251520" y="908720"/>
            <a:ext cx="4119258" cy="3132000"/>
          </a:xfrm>
          <a:prstGeom prst="rect">
            <a:avLst/>
          </a:prstGeom>
          <a:ln>
            <a:solidFill>
              <a:schemeClr val="accent6"/>
            </a:solidFill>
          </a:ln>
          <a:effectLst>
            <a:outerShdw blurRad="292100" dist="139700" dir="2700000" algn="tl" rotWithShape="0">
              <a:srgbClr val="333333">
                <a:alpha val="65000"/>
              </a:srgbClr>
            </a:outerShdw>
          </a:effectLst>
        </p:spPr>
      </p:pic>
      <p:pic>
        <p:nvPicPr>
          <p:cNvPr id="12" name="Picture 2"/>
          <p:cNvPicPr>
            <a:picLocks noChangeAspect="1" noChangeArrowheads="1"/>
          </p:cNvPicPr>
          <p:nvPr/>
        </p:nvPicPr>
        <p:blipFill>
          <a:blip r:embed="rId4" cstate="print"/>
          <a:srcRect t="8578" r="66044" b="69274"/>
          <a:stretch>
            <a:fillRect/>
          </a:stretch>
        </p:blipFill>
        <p:spPr bwMode="auto">
          <a:xfrm>
            <a:off x="179512" y="4221088"/>
            <a:ext cx="4139952" cy="2160240"/>
          </a:xfrm>
          <a:prstGeom prst="rect">
            <a:avLst/>
          </a:prstGeom>
          <a:ln>
            <a:solidFill>
              <a:schemeClr val="accent6"/>
            </a:solid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0" y="764704"/>
            <a:ext cx="8153400" cy="4495800"/>
          </a:xfrm>
          <a:prstGeom prst="rect">
            <a:avLst/>
          </a:prstGeom>
        </p:spPr>
        <p:txBody>
          <a:bodyPr>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buFont typeface="Wingdings"/>
              <a:buChar char=""/>
              <a:tabLst/>
              <a:defRPr/>
            </a:pPr>
            <a:r>
              <a:rPr kumimoji="0" lang="en-AU" sz="2400" i="0" u="none" strike="noStrike" kern="1200" cap="none" spc="0" normalizeH="0" baseline="0" noProof="0" dirty="0" smtClean="0">
                <a:ln>
                  <a:noFill/>
                </a:ln>
                <a:solidFill>
                  <a:schemeClr val="tx1"/>
                </a:solidFill>
                <a:effectLst/>
                <a:uLnTx/>
                <a:uFillTx/>
                <a:latin typeface="+mn-lt"/>
                <a:ea typeface="+mn-ea"/>
                <a:cs typeface="+mn-cs"/>
              </a:rPr>
              <a:t>VTAC considers applicants a current Year 12 student if: </a:t>
            </a:r>
          </a:p>
          <a:p>
            <a:pPr marL="640080" marR="0" lvl="1" indent="-274320" algn="l" defTabSz="914400" rtl="0" eaLnBrk="1" fontAlgn="auto" latinLnBrk="0" hangingPunct="1">
              <a:lnSpc>
                <a:spcPct val="100000"/>
              </a:lnSpc>
              <a:spcBef>
                <a:spcPts val="550"/>
              </a:spcBef>
              <a:spcAft>
                <a:spcPts val="0"/>
              </a:spcAft>
              <a:buClr>
                <a:schemeClr val="accent1"/>
              </a:buClr>
              <a:buSzPct val="70000"/>
              <a:buFont typeface="Wingdings 2"/>
              <a:buChar char=""/>
              <a:tabLst/>
              <a:defRPr/>
            </a:pPr>
            <a:r>
              <a:rPr kumimoji="0" lang="en-AU" sz="2000" b="0" i="0" u="none" strike="noStrike" kern="1200" cap="none" spc="0" normalizeH="0" baseline="0" noProof="0" dirty="0" smtClean="0">
                <a:ln>
                  <a:noFill/>
                </a:ln>
                <a:solidFill>
                  <a:schemeClr val="tx1"/>
                </a:solidFill>
                <a:effectLst/>
                <a:uLnTx/>
                <a:uFillTx/>
                <a:latin typeface="+mn-lt"/>
                <a:ea typeface="+mn-ea"/>
                <a:cs typeface="+mn-cs"/>
              </a:rPr>
              <a:t>currently studying VCE (or Adult VCE) </a:t>
            </a:r>
            <a:r>
              <a:rPr lang="en-AU" sz="2000" dirty="0" smtClean="0"/>
              <a:t>or </a:t>
            </a:r>
            <a:r>
              <a:rPr kumimoji="0" lang="en-AU" sz="2000" b="0" i="0" u="none" strike="noStrike" kern="1200" cap="none" spc="0" normalizeH="0" baseline="0" noProof="0" dirty="0" smtClean="0">
                <a:ln>
                  <a:noFill/>
                </a:ln>
                <a:solidFill>
                  <a:schemeClr val="tx1"/>
                </a:solidFill>
                <a:effectLst/>
                <a:uLnTx/>
                <a:uFillTx/>
                <a:latin typeface="+mn-lt"/>
                <a:ea typeface="+mn-ea"/>
                <a:cs typeface="+mn-cs"/>
              </a:rPr>
              <a:t>enrolled in at least one Unit 1 and 2 VCE study sequence </a:t>
            </a:r>
          </a:p>
          <a:p>
            <a:pPr marL="640080" marR="0" lvl="1" indent="-274320" algn="l" defTabSz="914400" rtl="0" eaLnBrk="1" fontAlgn="auto" latinLnBrk="0" hangingPunct="1">
              <a:lnSpc>
                <a:spcPct val="100000"/>
              </a:lnSpc>
              <a:spcBef>
                <a:spcPts val="550"/>
              </a:spcBef>
              <a:spcAft>
                <a:spcPts val="0"/>
              </a:spcAft>
              <a:buClr>
                <a:schemeClr val="accent1"/>
              </a:buClr>
              <a:buSzPct val="70000"/>
              <a:buFont typeface="Wingdings 2"/>
              <a:buChar char=""/>
              <a:tabLst/>
              <a:defRPr/>
            </a:pPr>
            <a:r>
              <a:rPr kumimoji="0" lang="en-AU" sz="2000" b="0" i="0" u="none" strike="noStrike" kern="1200" cap="none" spc="0" normalizeH="0" baseline="0" noProof="0" dirty="0" smtClean="0">
                <a:ln>
                  <a:noFill/>
                </a:ln>
                <a:solidFill>
                  <a:schemeClr val="tx1"/>
                </a:solidFill>
                <a:effectLst/>
                <a:uLnTx/>
                <a:uFillTx/>
                <a:latin typeface="+mn-lt"/>
                <a:ea typeface="+mn-ea"/>
                <a:cs typeface="+mn-cs"/>
              </a:rPr>
              <a:t>were enrolled in at least one Unit 3/4 VCE study did not officially withdraw by Monday 30 April 2012</a:t>
            </a:r>
          </a:p>
          <a:p>
            <a:pPr marL="640080" marR="0" lvl="1" indent="-274320" algn="l" defTabSz="914400" rtl="0" eaLnBrk="1" fontAlgn="auto" latinLnBrk="0" hangingPunct="1">
              <a:lnSpc>
                <a:spcPct val="100000"/>
              </a:lnSpc>
              <a:spcBef>
                <a:spcPts val="550"/>
              </a:spcBef>
              <a:spcAft>
                <a:spcPts val="0"/>
              </a:spcAft>
              <a:buClr>
                <a:schemeClr val="accent1"/>
              </a:buClr>
              <a:buSzPct val="70000"/>
              <a:buFont typeface="Wingdings 2"/>
              <a:buChar char=""/>
              <a:tabLst/>
              <a:defRPr/>
            </a:pPr>
            <a:r>
              <a:rPr kumimoji="0" lang="en-AU" sz="2000" b="0" i="0" u="none" strike="noStrike" kern="1200" cap="none" spc="0" normalizeH="0" baseline="0" noProof="0" dirty="0" smtClean="0">
                <a:ln>
                  <a:noFill/>
                </a:ln>
                <a:solidFill>
                  <a:schemeClr val="tx1"/>
                </a:solidFill>
                <a:effectLst/>
                <a:uLnTx/>
                <a:uFillTx/>
                <a:latin typeface="+mn-lt"/>
                <a:ea typeface="+mn-ea"/>
                <a:cs typeface="+mn-cs"/>
              </a:rPr>
              <a:t>currently studying Senior Level VCAL, interstate year 12, IB in Australia and New Zealand. </a:t>
            </a:r>
          </a:p>
          <a:p>
            <a:pPr marL="320040" marR="0" lvl="0" indent="-320040" algn="l" defTabSz="914400" rtl="0" eaLnBrk="1" fontAlgn="auto" latinLnBrk="0" hangingPunct="1">
              <a:lnSpc>
                <a:spcPct val="100000"/>
              </a:lnSpc>
              <a:spcBef>
                <a:spcPts val="700"/>
              </a:spcBef>
              <a:spcAft>
                <a:spcPts val="0"/>
              </a:spcAft>
              <a:buClr>
                <a:schemeClr val="accent2"/>
              </a:buClr>
              <a:buSzPct val="60000"/>
              <a:buFont typeface="Wingdings"/>
              <a:buChar char=""/>
              <a:tabLst/>
              <a:defRPr/>
            </a:pPr>
            <a:endParaRPr kumimoji="0" lang="en-AU" sz="2400" b="1" i="0" u="none" strike="noStrike" kern="1200" cap="none" spc="0" normalizeH="0" baseline="0" noProof="0" dirty="0" smtClean="0">
              <a:ln>
                <a:noFill/>
              </a:ln>
              <a:solidFill>
                <a:schemeClr val="tx1"/>
              </a:solidFill>
              <a:effectLst/>
              <a:uLnTx/>
              <a:uFillTx/>
              <a:latin typeface="+mn-lt"/>
              <a:ea typeface="+mn-ea"/>
              <a:cs typeface="+mn-cs"/>
            </a:endParaRPr>
          </a:p>
          <a:p>
            <a:pPr marL="320040" marR="0" lvl="0" indent="-320040" algn="l" defTabSz="914400" rtl="0" eaLnBrk="1" fontAlgn="auto" latinLnBrk="0" hangingPunct="1">
              <a:lnSpc>
                <a:spcPct val="100000"/>
              </a:lnSpc>
              <a:spcBef>
                <a:spcPts val="700"/>
              </a:spcBef>
              <a:spcAft>
                <a:spcPts val="0"/>
              </a:spcAft>
              <a:buClr>
                <a:schemeClr val="accent2"/>
              </a:buClr>
              <a:buSzPct val="60000"/>
              <a:buFont typeface="Wingdings"/>
              <a:buChar char=""/>
              <a:tabLst/>
              <a:defRPr/>
            </a:pPr>
            <a:endParaRPr kumimoji="0" lang="en-AU" sz="2000" b="0" i="0" u="none" strike="noStrike" kern="1200" cap="none" spc="0" normalizeH="0" baseline="0" noProof="0" dirty="0">
              <a:ln>
                <a:noFill/>
              </a:ln>
              <a:solidFill>
                <a:schemeClr val="tx1"/>
              </a:solidFill>
              <a:effectLst/>
              <a:uLnTx/>
              <a:uFillTx/>
              <a:latin typeface="+mj-lt"/>
              <a:ea typeface="+mn-ea"/>
              <a:cs typeface="+mn-cs"/>
            </a:endParaRPr>
          </a:p>
        </p:txBody>
      </p:sp>
      <p:sp>
        <p:nvSpPr>
          <p:cNvPr id="3" name="Title 2"/>
          <p:cNvSpPr>
            <a:spLocks noGrp="1"/>
          </p:cNvSpPr>
          <p:nvPr>
            <p:ph type="title" idx="4294967295"/>
          </p:nvPr>
        </p:nvSpPr>
        <p:spPr>
          <a:xfrm>
            <a:off x="0" y="0"/>
            <a:ext cx="9144000" cy="836712"/>
          </a:xfrm>
        </p:spPr>
        <p:style>
          <a:lnRef idx="2">
            <a:schemeClr val="accent6"/>
          </a:lnRef>
          <a:fillRef idx="1">
            <a:schemeClr val="lt1"/>
          </a:fillRef>
          <a:effectRef idx="0">
            <a:schemeClr val="accent6"/>
          </a:effectRef>
          <a:fontRef idx="minor">
            <a:schemeClr val="dk1"/>
          </a:fontRef>
        </p:style>
        <p:txBody>
          <a:bodyPr>
            <a:noAutofit/>
          </a:bodyPr>
          <a:lstStyle/>
          <a:p>
            <a:r>
              <a:rPr lang="en-AU" sz="3200" b="1" dirty="0" smtClean="0"/>
              <a:t>STEP 1: </a:t>
            </a:r>
            <a:r>
              <a:rPr lang="en-AU" sz="3200" dirty="0" smtClean="0"/>
              <a:t>VTAC Registration Process continued…</a:t>
            </a:r>
            <a:endParaRPr lang="en-AU" sz="3200" dirty="0"/>
          </a:p>
        </p:txBody>
      </p:sp>
      <p:pic>
        <p:nvPicPr>
          <p:cNvPr id="5" name="Picture 2"/>
          <p:cNvPicPr>
            <a:picLocks noGrp="1" noChangeAspect="1" noChangeArrowheads="1"/>
          </p:cNvPicPr>
          <p:nvPr>
            <p:ph sz="quarter" idx="4294967295"/>
          </p:nvPr>
        </p:nvPicPr>
        <p:blipFill>
          <a:blip r:embed="rId3" cstate="print"/>
          <a:srcRect t="8111" r="48246" b="63242"/>
          <a:stretch>
            <a:fillRect/>
          </a:stretch>
        </p:blipFill>
        <p:spPr bwMode="auto">
          <a:xfrm>
            <a:off x="899592" y="3356992"/>
            <a:ext cx="7272337" cy="3220740"/>
          </a:xfrm>
          <a:prstGeom prst="rect">
            <a:avLst/>
          </a:prstGeom>
          <a:ln>
            <a:solidFill>
              <a:schemeClr val="accent6"/>
            </a:solid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3200" dirty="0" smtClean="0"/>
              <a:t>	VTAC CourseLink Registration Page</a:t>
            </a:r>
            <a:endParaRPr lang="en-AU" sz="3200" dirty="0"/>
          </a:p>
        </p:txBody>
      </p:sp>
      <p:sp>
        <p:nvSpPr>
          <p:cNvPr id="5" name="Content Placeholder 4"/>
          <p:cNvSpPr>
            <a:spLocks noGrp="1"/>
          </p:cNvSpPr>
          <p:nvPr>
            <p:ph sz="quarter" idx="1"/>
          </p:nvPr>
        </p:nvSpPr>
        <p:spPr/>
        <p:txBody>
          <a:bodyPr/>
          <a:lstStyle/>
          <a:p>
            <a:r>
              <a:rPr lang="en-AU" sz="2000" b="1" dirty="0" smtClean="0"/>
              <a:t>To check if a student has registered: </a:t>
            </a:r>
          </a:p>
          <a:p>
            <a:pPr lvl="1"/>
            <a:r>
              <a:rPr lang="en-AU" sz="1800" dirty="0" smtClean="0"/>
              <a:t>Go to CourseLink Student data </a:t>
            </a:r>
          </a:p>
          <a:p>
            <a:pPr lvl="1"/>
            <a:r>
              <a:rPr lang="en-AU" sz="1800" dirty="0" smtClean="0"/>
              <a:t>Select the student who claims they have registered</a:t>
            </a:r>
          </a:p>
          <a:p>
            <a:pPr lvl="1"/>
            <a:r>
              <a:rPr lang="en-AU" sz="1800" dirty="0" smtClean="0"/>
              <a:t>If blank, the student hasn’t registered, if ‘Y’ then they have.</a:t>
            </a:r>
          </a:p>
        </p:txBody>
      </p:sp>
      <p:pic>
        <p:nvPicPr>
          <p:cNvPr id="8" name="Picture 2"/>
          <p:cNvPicPr>
            <a:picLocks noChangeAspect="1" noChangeArrowheads="1"/>
          </p:cNvPicPr>
          <p:nvPr/>
        </p:nvPicPr>
        <p:blipFill>
          <a:blip r:embed="rId3" cstate="print"/>
          <a:srcRect t="24661" r="41906" b="51314"/>
          <a:stretch>
            <a:fillRect/>
          </a:stretch>
        </p:blipFill>
        <p:spPr bwMode="auto">
          <a:xfrm>
            <a:off x="467544" y="3212976"/>
            <a:ext cx="8269716" cy="2736000"/>
          </a:xfrm>
          <a:prstGeom prst="rect">
            <a:avLst/>
          </a:prstGeom>
          <a:ln>
            <a:solidFill>
              <a:schemeClr val="accent6"/>
            </a:solidFill>
          </a:ln>
          <a:effectLst>
            <a:outerShdw blurRad="292100" dist="139700" dir="2700000" algn="tl" rotWithShape="0">
              <a:srgbClr val="333333">
                <a:alpha val="65000"/>
              </a:srgbClr>
            </a:outerShdw>
          </a:effectLst>
        </p:spPr>
      </p:pic>
      <p:sp>
        <p:nvSpPr>
          <p:cNvPr id="9" name="Rectangle 8"/>
          <p:cNvSpPr/>
          <p:nvPr/>
        </p:nvSpPr>
        <p:spPr>
          <a:xfrm>
            <a:off x="7236296" y="5301208"/>
            <a:ext cx="1440160" cy="288032"/>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AU" b="1" dirty="0" smtClean="0"/>
              <a:t>Y</a:t>
            </a:r>
            <a:endParaRPr lang="en-AU" b="1"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z="3600" b="1" dirty="0" smtClean="0"/>
              <a:t>Four tips to assist in the registration process</a:t>
            </a:r>
            <a:endParaRPr lang="en-AU" sz="3600" b="1" dirty="0"/>
          </a:p>
        </p:txBody>
      </p:sp>
      <p:sp>
        <p:nvSpPr>
          <p:cNvPr id="3" name="Content Placeholder 2"/>
          <p:cNvSpPr>
            <a:spLocks noGrp="1"/>
          </p:cNvSpPr>
          <p:nvPr>
            <p:ph sz="quarter" idx="1"/>
          </p:nvPr>
        </p:nvSpPr>
        <p:spPr/>
        <p:txBody>
          <a:bodyPr>
            <a:normAutofit/>
          </a:bodyPr>
          <a:lstStyle/>
          <a:p>
            <a:r>
              <a:rPr lang="en-AU" sz="2400" dirty="0" smtClean="0"/>
              <a:t>They must be enrolled in VCE studies to be eligible to register.</a:t>
            </a:r>
          </a:p>
          <a:p>
            <a:r>
              <a:rPr lang="en-AU" sz="2400" dirty="0" smtClean="0"/>
              <a:t>Students must enter exactly the same information they used for enrolling earlier this year. If they come to you and say VTAC won’t let them in, check VASS or CourseLink to confirm what details they initially provided.</a:t>
            </a:r>
          </a:p>
          <a:p>
            <a:pPr marL="320040" lvl="1" indent="-320040">
              <a:spcBef>
                <a:spcPts val="700"/>
              </a:spcBef>
              <a:buClr>
                <a:schemeClr val="accent2"/>
              </a:buClr>
              <a:buSzPct val="60000"/>
              <a:buFont typeface="Wingdings"/>
              <a:buChar char=""/>
            </a:pPr>
            <a:r>
              <a:rPr lang="en-AU" sz="2400" dirty="0" smtClean="0"/>
              <a:t> If the student swears that they have registered, get them to check their </a:t>
            </a:r>
            <a:r>
              <a:rPr lang="en-AU" sz="2400" b="1" i="1" dirty="0" smtClean="0"/>
              <a:t>User Account </a:t>
            </a:r>
            <a:r>
              <a:rPr lang="en-AU" sz="2400" dirty="0" smtClean="0"/>
              <a:t>to see if they are registered as a CY12 or NONY12.</a:t>
            </a:r>
          </a:p>
          <a:p>
            <a:r>
              <a:rPr lang="en-US" sz="2400" dirty="0" smtClean="0"/>
              <a:t>If the student is an international student get them to supply a local address.</a:t>
            </a:r>
            <a:endParaRPr lang="en-AU" dirty="0" smtClean="0"/>
          </a:p>
          <a:p>
            <a:endParaRPr lang="en-AU"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Step 2:</a:t>
            </a:r>
            <a:r>
              <a:rPr lang="en-AU" dirty="0" smtClean="0"/>
              <a:t> The course application </a:t>
            </a:r>
            <a:endParaRPr lang="en-AU" dirty="0"/>
          </a:p>
        </p:txBody>
      </p:sp>
      <p:sp>
        <p:nvSpPr>
          <p:cNvPr id="3" name="Content Placeholder 2"/>
          <p:cNvSpPr>
            <a:spLocks noGrp="1"/>
          </p:cNvSpPr>
          <p:nvPr>
            <p:ph sz="quarter" idx="1"/>
          </p:nvPr>
        </p:nvSpPr>
        <p:spPr/>
        <p:txBody>
          <a:bodyPr/>
          <a:lstStyle/>
          <a:p>
            <a:r>
              <a:rPr lang="en-AU" sz="2800" dirty="0" smtClean="0"/>
              <a:t>Can list up to 12 courses/preferences on their course application </a:t>
            </a:r>
          </a:p>
          <a:p>
            <a:r>
              <a:rPr lang="en-AU" sz="2800" dirty="0" smtClean="0"/>
              <a:t>Always list the courses in the order you want to get into them </a:t>
            </a:r>
          </a:p>
          <a:p>
            <a:r>
              <a:rPr lang="en-AU" sz="2800" dirty="0" smtClean="0"/>
              <a:t>If incorrectly registered </a:t>
            </a:r>
          </a:p>
          <a:p>
            <a:pPr lvl="1"/>
            <a:r>
              <a:rPr lang="en-AU" sz="2400" dirty="0" smtClean="0"/>
              <a:t>Will be charged a non-year 12 processing fee </a:t>
            </a:r>
          </a:p>
          <a:p>
            <a:pPr lvl="1"/>
            <a:r>
              <a:rPr lang="en-AU" sz="2400" dirty="0" smtClean="0"/>
              <a:t>VTAC cannot guarantee results will be matched</a:t>
            </a:r>
          </a:p>
          <a:p>
            <a:pPr lvl="1"/>
            <a:r>
              <a:rPr lang="en-AU" sz="2400" dirty="0" smtClean="0"/>
              <a:t>Student must contact VTAC (not schools liaison) to update their details. May be an administrative fee, depends on where the process is at. Contact 1300 364 133 </a:t>
            </a:r>
          </a:p>
          <a:p>
            <a:pPr lvl="1"/>
            <a:endParaRPr lang="en-AU" sz="2400" dirty="0" smtClean="0"/>
          </a:p>
          <a:p>
            <a:pPr lvl="1"/>
            <a:endParaRPr lang="en-AU" sz="2400" dirty="0" smtClean="0"/>
          </a:p>
          <a:p>
            <a:pPr>
              <a:buNone/>
            </a:pPr>
            <a:endParaRPr lang="en-AU"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3600" b="1" dirty="0" smtClean="0"/>
              <a:t>Step 2:</a:t>
            </a:r>
            <a:r>
              <a:rPr lang="en-AU" sz="3600" dirty="0" smtClean="0"/>
              <a:t> The course application continued…</a:t>
            </a:r>
            <a:endParaRPr lang="en-AU" sz="3600" dirty="0"/>
          </a:p>
        </p:txBody>
      </p:sp>
      <p:sp>
        <p:nvSpPr>
          <p:cNvPr id="3" name="Content Placeholder 2"/>
          <p:cNvSpPr>
            <a:spLocks noGrp="1"/>
          </p:cNvSpPr>
          <p:nvPr>
            <p:ph sz="quarter" idx="1"/>
          </p:nvPr>
        </p:nvSpPr>
        <p:spPr>
          <a:xfrm>
            <a:off x="611560" y="1628800"/>
            <a:ext cx="8153400" cy="4495800"/>
          </a:xfrm>
        </p:spPr>
        <p:txBody>
          <a:bodyPr>
            <a:normAutofit fontScale="92500" lnSpcReduction="10000"/>
          </a:bodyPr>
          <a:lstStyle/>
          <a:p>
            <a:r>
              <a:rPr lang="en-AU" dirty="0" smtClean="0"/>
              <a:t>Last day for timely applications and no late fees is Friday 28 September 2012 at 5.00pm</a:t>
            </a:r>
          </a:p>
          <a:p>
            <a:r>
              <a:rPr lang="en-AU" dirty="0" smtClean="0"/>
              <a:t>No invoices. Can still defer payment</a:t>
            </a:r>
          </a:p>
          <a:p>
            <a:r>
              <a:rPr lang="en-AU" dirty="0" smtClean="0"/>
              <a:t>Payment is via: </a:t>
            </a:r>
          </a:p>
          <a:p>
            <a:pPr lvl="1"/>
            <a:r>
              <a:rPr lang="en-AU" dirty="0" smtClean="0"/>
              <a:t>Credit card/Visa or MasterCard Debit </a:t>
            </a:r>
          </a:p>
          <a:p>
            <a:pPr lvl="1"/>
            <a:r>
              <a:rPr lang="en-AU" dirty="0" smtClean="0"/>
              <a:t>PayPal </a:t>
            </a:r>
          </a:p>
          <a:p>
            <a:r>
              <a:rPr lang="en-AU" dirty="0" smtClean="0"/>
              <a:t>Don’t pay by the due date, the application won’t be processed and passed on. </a:t>
            </a:r>
          </a:p>
          <a:p>
            <a:r>
              <a:rPr lang="en-AU" dirty="0" smtClean="0"/>
              <a:t>Remember some courses don’t accept late applications and some courses have earlier deadlines. </a:t>
            </a:r>
          </a:p>
          <a:p>
            <a:endParaRPr lang="en-AU"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3600" dirty="0" smtClean="0"/>
              <a:t>Where to access student course preferences on CourseLink </a:t>
            </a:r>
            <a:endParaRPr lang="en-AU" sz="3600" dirty="0"/>
          </a:p>
        </p:txBody>
      </p:sp>
      <p:pic>
        <p:nvPicPr>
          <p:cNvPr id="3" name="Picture 2"/>
          <p:cNvPicPr>
            <a:picLocks noChangeAspect="1" noChangeArrowheads="1"/>
          </p:cNvPicPr>
          <p:nvPr/>
        </p:nvPicPr>
        <p:blipFill>
          <a:blip r:embed="rId3" cstate="print"/>
          <a:srcRect l="1472" t="22606" r="2257" b="29050"/>
          <a:stretch>
            <a:fillRect/>
          </a:stretch>
        </p:blipFill>
        <p:spPr bwMode="auto">
          <a:xfrm>
            <a:off x="179512" y="2924944"/>
            <a:ext cx="8352928" cy="3355644"/>
          </a:xfrm>
          <a:prstGeom prst="rect">
            <a:avLst/>
          </a:prstGeom>
          <a:ln>
            <a:solidFill>
              <a:schemeClr val="accent6"/>
            </a:solidFill>
          </a:ln>
          <a:effectLst>
            <a:outerShdw blurRad="292100" dist="139700" dir="2700000" algn="tl" rotWithShape="0">
              <a:srgbClr val="333333">
                <a:alpha val="65000"/>
              </a:srgbClr>
            </a:outerShdw>
          </a:effectLst>
        </p:spPr>
      </p:pic>
      <p:pic>
        <p:nvPicPr>
          <p:cNvPr id="8" name="Picture 7"/>
          <p:cNvPicPr>
            <a:picLocks noChangeAspect="1" noChangeArrowheads="1"/>
          </p:cNvPicPr>
          <p:nvPr/>
        </p:nvPicPr>
        <p:blipFill>
          <a:blip r:embed="rId3" cstate="print"/>
          <a:srcRect l="1472" t="69843" r="66663" b="23252"/>
          <a:stretch>
            <a:fillRect/>
          </a:stretch>
        </p:blipFill>
        <p:spPr bwMode="auto">
          <a:xfrm>
            <a:off x="179512" y="5445224"/>
            <a:ext cx="6021944" cy="1044000"/>
          </a:xfrm>
          <a:prstGeom prst="rect">
            <a:avLst/>
          </a:prstGeom>
          <a:ln>
            <a:noFill/>
          </a:ln>
          <a:effectLst>
            <a:outerShdw blurRad="292100" dist="139700" dir="2700000" algn="tl" rotWithShape="0">
              <a:srgbClr val="333333">
                <a:alpha val="65000"/>
              </a:srgbClr>
            </a:outerShdw>
          </a:effectLst>
        </p:spPr>
      </p:pic>
      <p:sp>
        <p:nvSpPr>
          <p:cNvPr id="5" name="Rectangle 4"/>
          <p:cNvSpPr/>
          <p:nvPr/>
        </p:nvSpPr>
        <p:spPr>
          <a:xfrm>
            <a:off x="251520" y="1628800"/>
            <a:ext cx="8712968" cy="1200329"/>
          </a:xfrm>
          <a:prstGeom prst="rect">
            <a:avLst/>
          </a:prstGeom>
        </p:spPr>
        <p:txBody>
          <a:bodyPr wrap="square">
            <a:spAutoFit/>
          </a:bodyPr>
          <a:lstStyle/>
          <a:p>
            <a:r>
              <a:rPr lang="en-AU" sz="2400" dirty="0" smtClean="0"/>
              <a:t>Go to CourseLink Student data</a:t>
            </a:r>
          </a:p>
          <a:p>
            <a:r>
              <a:rPr lang="en-AU" sz="2400" dirty="0" smtClean="0"/>
              <a:t>Select a student who has applied</a:t>
            </a:r>
          </a:p>
          <a:p>
            <a:r>
              <a:rPr lang="en-AU" sz="2400" dirty="0" smtClean="0"/>
              <a:t>You will then be directed to this page automatically</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Where to access all of your student course preferences on CourseLink </a:t>
            </a:r>
            <a:endParaRPr lang="en-AU" dirty="0"/>
          </a:p>
        </p:txBody>
      </p:sp>
      <p:pic>
        <p:nvPicPr>
          <p:cNvPr id="3" name="Content Placeholder 2"/>
          <p:cNvPicPr>
            <a:picLocks noGrp="1" noChangeAspect="1" noChangeArrowheads="1"/>
          </p:cNvPicPr>
          <p:nvPr>
            <p:ph sz="quarter" idx="1"/>
          </p:nvPr>
        </p:nvPicPr>
        <p:blipFill>
          <a:blip r:embed="rId3" cstate="print"/>
          <a:srcRect t="12819" b="25018"/>
          <a:stretch>
            <a:fillRect/>
          </a:stretch>
        </p:blipFill>
        <p:spPr bwMode="auto">
          <a:xfrm>
            <a:off x="529609" y="2276872"/>
            <a:ext cx="8146847" cy="4051487"/>
          </a:xfrm>
          <a:prstGeom prst="rect">
            <a:avLst/>
          </a:prstGeom>
          <a:noFill/>
          <a:ln w="9525">
            <a:solidFill>
              <a:schemeClr val="accent6"/>
            </a:solidFill>
            <a:miter lim="800000"/>
            <a:headEnd/>
            <a:tailEnd/>
          </a:ln>
        </p:spPr>
      </p:pic>
      <p:pic>
        <p:nvPicPr>
          <p:cNvPr id="6" name="Content Placeholder 2"/>
          <p:cNvPicPr>
            <a:picLocks noChangeAspect="1" noChangeArrowheads="1"/>
          </p:cNvPicPr>
          <p:nvPr/>
        </p:nvPicPr>
        <p:blipFill>
          <a:blip r:embed="rId3" cstate="print"/>
          <a:srcRect l="20581" t="39551" r="40654" b="49436"/>
          <a:stretch>
            <a:fillRect/>
          </a:stretch>
        </p:blipFill>
        <p:spPr bwMode="auto">
          <a:xfrm>
            <a:off x="1576467" y="3501008"/>
            <a:ext cx="7128141" cy="1620032"/>
          </a:xfrm>
          <a:prstGeom prst="rect">
            <a:avLst/>
          </a:prstGeom>
          <a:ln>
            <a:noFill/>
          </a:ln>
          <a:effectLst>
            <a:outerShdw blurRad="292100" dist="139700" dir="2700000" algn="tl" rotWithShape="0">
              <a:srgbClr val="333333">
                <a:alpha val="65000"/>
              </a:srgbClr>
            </a:outerShdw>
          </a:effectLst>
        </p:spPr>
      </p:pic>
      <p:sp>
        <p:nvSpPr>
          <p:cNvPr id="7" name="TextBox 6"/>
          <p:cNvSpPr txBox="1"/>
          <p:nvPr/>
        </p:nvSpPr>
        <p:spPr>
          <a:xfrm>
            <a:off x="755576" y="1556792"/>
            <a:ext cx="7920880" cy="646331"/>
          </a:xfrm>
          <a:prstGeom prst="rect">
            <a:avLst/>
          </a:prstGeom>
          <a:noFill/>
        </p:spPr>
        <p:txBody>
          <a:bodyPr wrap="square" rtlCol="0">
            <a:spAutoFit/>
          </a:bodyPr>
          <a:lstStyle/>
          <a:p>
            <a:r>
              <a:rPr lang="en-AU" dirty="0" smtClean="0"/>
              <a:t>Go to School data and select All student course preferences. A screen will appear that provides you with the latest update to all of your student course preferences.  </a:t>
            </a:r>
            <a:endParaRPr lang="en-AU"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AU" dirty="0" smtClean="0"/>
              <a:t>Case studies: </a:t>
            </a:r>
            <a:br>
              <a:rPr lang="en-AU" dirty="0" smtClean="0"/>
            </a:br>
            <a:r>
              <a:rPr lang="en-AU" sz="3100" dirty="0" smtClean="0"/>
              <a:t>The registration and course application process </a:t>
            </a:r>
            <a:endParaRPr lang="en-AU" dirty="0"/>
          </a:p>
        </p:txBody>
      </p:sp>
      <p:sp>
        <p:nvSpPr>
          <p:cNvPr id="5" name="Content Placeholder 4"/>
          <p:cNvSpPr>
            <a:spLocks noGrp="1"/>
          </p:cNvSpPr>
          <p:nvPr>
            <p:ph sz="quarter" idx="2"/>
          </p:nvPr>
        </p:nvSpPr>
        <p:spPr>
          <a:xfrm>
            <a:off x="609600" y="2204864"/>
            <a:ext cx="3886200" cy="4392488"/>
          </a:xfrm>
        </p:spPr>
        <p:txBody>
          <a:bodyPr/>
          <a:lstStyle/>
          <a:p>
            <a:r>
              <a:rPr lang="en-AU" sz="2400" dirty="0" smtClean="0"/>
              <a:t>A number of our students have approached us indicating they cannot register on the VTAC site. </a:t>
            </a:r>
          </a:p>
          <a:p>
            <a:pPr lvl="1"/>
            <a:r>
              <a:rPr lang="en-AU" sz="2400" dirty="0" smtClean="0"/>
              <a:t>What should they do? </a:t>
            </a:r>
          </a:p>
          <a:p>
            <a:pPr lvl="1"/>
            <a:r>
              <a:rPr lang="en-AU" sz="2400" dirty="0" smtClean="0"/>
              <a:t>What can you do? </a:t>
            </a:r>
          </a:p>
          <a:p>
            <a:pPr lvl="0">
              <a:buNone/>
            </a:pPr>
            <a:endParaRPr lang="en-AU" dirty="0" smtClean="0"/>
          </a:p>
          <a:p>
            <a:pPr>
              <a:buNone/>
            </a:pPr>
            <a:endParaRPr lang="en-AU" dirty="0"/>
          </a:p>
        </p:txBody>
      </p:sp>
      <p:sp>
        <p:nvSpPr>
          <p:cNvPr id="6" name="Content Placeholder 5"/>
          <p:cNvSpPr>
            <a:spLocks noGrp="1"/>
          </p:cNvSpPr>
          <p:nvPr>
            <p:ph sz="quarter" idx="4"/>
          </p:nvPr>
        </p:nvSpPr>
        <p:spPr>
          <a:xfrm>
            <a:off x="4800600" y="2204864"/>
            <a:ext cx="3886200" cy="4392488"/>
          </a:xfrm>
        </p:spPr>
        <p:txBody>
          <a:bodyPr>
            <a:normAutofit fontScale="92500" lnSpcReduction="10000"/>
          </a:bodyPr>
          <a:lstStyle/>
          <a:p>
            <a:r>
              <a:rPr lang="en-AU" sz="2600" dirty="0" smtClean="0"/>
              <a:t>We have a number of New Zealand and permanent residents in our school. Are they eligible to apply for a Commonwealth supported place? </a:t>
            </a:r>
          </a:p>
          <a:p>
            <a:pPr lvl="1"/>
            <a:r>
              <a:rPr lang="en-AU" dirty="0" smtClean="0"/>
              <a:t>What advice should you give these students? </a:t>
            </a:r>
          </a:p>
          <a:p>
            <a:pPr lvl="1"/>
            <a:r>
              <a:rPr lang="en-AU" dirty="0" smtClean="0"/>
              <a:t>Will they be eligible for nominating for a deferred HECS payment? </a:t>
            </a:r>
          </a:p>
          <a:p>
            <a:endParaRPr lang="en-AU" dirty="0" smtClean="0"/>
          </a:p>
          <a:p>
            <a:endParaRPr lang="en-AU" dirty="0"/>
          </a:p>
        </p:txBody>
      </p:sp>
      <p:sp>
        <p:nvSpPr>
          <p:cNvPr id="7" name="Text Placeholder 6"/>
          <p:cNvSpPr>
            <a:spLocks noGrp="1"/>
          </p:cNvSpPr>
          <p:nvPr>
            <p:ph type="body" sz="quarter" idx="1"/>
          </p:nvPr>
        </p:nvSpPr>
        <p:spPr>
          <a:xfrm>
            <a:off x="611560" y="1556792"/>
            <a:ext cx="3886200" cy="640080"/>
          </a:xfrm>
        </p:spPr>
        <p:txBody>
          <a:bodyPr/>
          <a:lstStyle/>
          <a:p>
            <a:r>
              <a:rPr lang="en-AU" dirty="0" smtClean="0"/>
              <a:t>Case study 2: registration </a:t>
            </a:r>
            <a:endParaRPr lang="en-AU" dirty="0"/>
          </a:p>
        </p:txBody>
      </p:sp>
      <p:sp>
        <p:nvSpPr>
          <p:cNvPr id="8" name="Text Placeholder 7"/>
          <p:cNvSpPr>
            <a:spLocks noGrp="1"/>
          </p:cNvSpPr>
          <p:nvPr>
            <p:ph type="body" sz="quarter" idx="3"/>
          </p:nvPr>
        </p:nvSpPr>
        <p:spPr>
          <a:xfrm>
            <a:off x="4788024" y="1556792"/>
            <a:ext cx="3886200" cy="640080"/>
          </a:xfrm>
        </p:spPr>
        <p:txBody>
          <a:bodyPr/>
          <a:lstStyle/>
          <a:p>
            <a:r>
              <a:rPr lang="en-AU" dirty="0" smtClean="0"/>
              <a:t>Case study 3: course application </a:t>
            </a:r>
            <a:endParaRPr lang="en-AU"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Golden rules of the course application</a:t>
            </a:r>
            <a:endParaRPr lang="en-AU" dirty="0"/>
          </a:p>
        </p:txBody>
      </p:sp>
      <p:sp>
        <p:nvSpPr>
          <p:cNvPr id="3" name="Content Placeholder 2"/>
          <p:cNvSpPr>
            <a:spLocks noGrp="1"/>
          </p:cNvSpPr>
          <p:nvPr>
            <p:ph sz="quarter" idx="1"/>
          </p:nvPr>
        </p:nvSpPr>
        <p:spPr/>
        <p:txBody>
          <a:bodyPr>
            <a:normAutofit fontScale="92500"/>
          </a:bodyPr>
          <a:lstStyle/>
          <a:p>
            <a:r>
              <a:rPr lang="en-AU" dirty="0" smtClean="0"/>
              <a:t>Always register with exactly the same information that students provided when enrolling</a:t>
            </a:r>
          </a:p>
          <a:p>
            <a:r>
              <a:rPr lang="en-AU" dirty="0" smtClean="0"/>
              <a:t>Always list the courses in the order you want to get into them</a:t>
            </a:r>
          </a:p>
          <a:p>
            <a:r>
              <a:rPr lang="en-AU" dirty="0" smtClean="0"/>
              <a:t>Consider the selection data from last year, but use it as a guide only. It’s last year’s data and may change</a:t>
            </a:r>
          </a:p>
          <a:p>
            <a:r>
              <a:rPr lang="en-AU" dirty="0" smtClean="0"/>
              <a:t>Check to see if the courses your students are interested in, but haven’t listed has yet, have extra requirements and accept students at change of preference</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Autofit/>
          </a:bodyPr>
          <a:lstStyle/>
          <a:p>
            <a:r>
              <a:rPr lang="en-AU" sz="3600" b="1" dirty="0" smtClean="0"/>
              <a:t>Three things you now know about:</a:t>
            </a:r>
            <a:br>
              <a:rPr lang="en-AU" sz="3600" b="1" dirty="0" smtClean="0"/>
            </a:br>
            <a:r>
              <a:rPr lang="en-AU" sz="3600" dirty="0" smtClean="0"/>
              <a:t>Registration and the course application  </a:t>
            </a:r>
            <a:endParaRPr lang="en-AU" sz="3600" dirty="0"/>
          </a:p>
        </p:txBody>
      </p:sp>
      <p:graphicFrame>
        <p:nvGraphicFramePr>
          <p:cNvPr id="12" name="Content Placeholder 3"/>
          <p:cNvGraphicFramePr>
            <a:graphicFrameLocks/>
          </p:cNvGraphicFramePr>
          <p:nvPr/>
        </p:nvGraphicFramePr>
        <p:xfrm>
          <a:off x="457200" y="1600200"/>
          <a:ext cx="8229600" cy="4389120"/>
        </p:xfrm>
        <a:graphic>
          <a:graphicData uri="http://schemas.openxmlformats.org/drawingml/2006/table">
            <a:tbl>
              <a:tblPr firstRow="1" bandRow="1">
                <a:tableStyleId>{D7AC3CCA-C797-4891-BE02-D94E43425B78}</a:tableStyleId>
              </a:tblPr>
              <a:tblGrid>
                <a:gridCol w="370384"/>
                <a:gridCol w="7859216"/>
              </a:tblGrid>
              <a:tr h="370840">
                <a:tc>
                  <a:txBody>
                    <a:bodyPr/>
                    <a:lstStyle/>
                    <a:p>
                      <a:pPr algn="l"/>
                      <a:endParaRPr lang="en-AU" b="1" dirty="0" smtClean="0"/>
                    </a:p>
                    <a:p>
                      <a:pPr algn="l"/>
                      <a:endParaRPr lang="en-AU" b="1" dirty="0" smtClean="0"/>
                    </a:p>
                    <a:p>
                      <a:pPr algn="l"/>
                      <a:endParaRPr lang="en-AU" b="1" dirty="0" smtClean="0"/>
                    </a:p>
                    <a:p>
                      <a:pPr algn="l"/>
                      <a:r>
                        <a:rPr lang="en-AU" b="1" dirty="0" smtClean="0"/>
                        <a:t>4</a:t>
                      </a:r>
                    </a:p>
                    <a:p>
                      <a:pPr algn="l"/>
                      <a:endParaRPr lang="en-AU" b="1" dirty="0" smtClean="0"/>
                    </a:p>
                  </a:txBody>
                  <a:tcPr/>
                </a:tc>
                <a:tc>
                  <a:txBody>
                    <a:bodyPr/>
                    <a:lstStyle/>
                    <a:p>
                      <a:endParaRPr lang="en-AU" dirty="0"/>
                    </a:p>
                  </a:txBody>
                  <a:tcPr/>
                </a:tc>
              </a:tr>
              <a:tr h="370840">
                <a:tc>
                  <a:txBody>
                    <a:bodyPr/>
                    <a:lstStyle/>
                    <a:p>
                      <a:pPr algn="l"/>
                      <a:endParaRPr lang="en-AU" b="1" dirty="0" smtClean="0"/>
                    </a:p>
                    <a:p>
                      <a:pPr algn="l"/>
                      <a:endParaRPr lang="en-AU" b="1" dirty="0" smtClean="0"/>
                    </a:p>
                    <a:p>
                      <a:pPr algn="l"/>
                      <a:r>
                        <a:rPr lang="en-AU" b="1" dirty="0" smtClean="0"/>
                        <a:t>5</a:t>
                      </a:r>
                    </a:p>
                    <a:p>
                      <a:pPr algn="l"/>
                      <a:endParaRPr lang="en-AU" b="1" dirty="0" smtClean="0"/>
                    </a:p>
                    <a:p>
                      <a:pPr algn="l"/>
                      <a:endParaRPr lang="en-AU" b="1" dirty="0" smtClean="0"/>
                    </a:p>
                  </a:txBody>
                  <a:tcPr/>
                </a:tc>
                <a:tc>
                  <a:txBody>
                    <a:bodyPr/>
                    <a:lstStyle/>
                    <a:p>
                      <a:endParaRPr lang="en-AU" dirty="0"/>
                    </a:p>
                  </a:txBody>
                  <a:tcPr/>
                </a:tc>
              </a:tr>
              <a:tr h="370840">
                <a:tc>
                  <a:txBody>
                    <a:bodyPr/>
                    <a:lstStyle/>
                    <a:p>
                      <a:pPr algn="l"/>
                      <a:endParaRPr lang="en-AU" b="1" dirty="0" smtClean="0"/>
                    </a:p>
                    <a:p>
                      <a:pPr algn="l"/>
                      <a:endParaRPr lang="en-AU" b="1" dirty="0" smtClean="0"/>
                    </a:p>
                    <a:p>
                      <a:pPr algn="l"/>
                      <a:r>
                        <a:rPr lang="en-AU" b="1" dirty="0" smtClean="0"/>
                        <a:t>6</a:t>
                      </a:r>
                    </a:p>
                    <a:p>
                      <a:pPr algn="l"/>
                      <a:endParaRPr lang="en-AU" b="1" dirty="0" smtClean="0"/>
                    </a:p>
                    <a:p>
                      <a:pPr algn="l"/>
                      <a:endParaRPr lang="en-AU" b="1" dirty="0"/>
                    </a:p>
                  </a:txBody>
                  <a:tcPr/>
                </a:tc>
                <a:tc>
                  <a:txBody>
                    <a:bodyPr/>
                    <a:lstStyle/>
                    <a:p>
                      <a:endParaRPr lang="en-AU" dirty="0"/>
                    </a:p>
                  </a:txBody>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4000" b="1" dirty="0" smtClean="0"/>
              <a:t>Special consideration: </a:t>
            </a:r>
            <a:r>
              <a:rPr lang="en-AU" sz="3600" dirty="0" smtClean="0"/>
              <a:t/>
            </a:r>
            <a:br>
              <a:rPr lang="en-AU" sz="3600" dirty="0" smtClean="0"/>
            </a:br>
            <a:r>
              <a:rPr lang="en-AU" sz="3600" dirty="0" smtClean="0"/>
              <a:t>Special entry access schemes </a:t>
            </a:r>
            <a:endParaRPr lang="en-AU" sz="3600" dirty="0"/>
          </a:p>
        </p:txBody>
      </p:sp>
      <p:sp>
        <p:nvSpPr>
          <p:cNvPr id="3" name="Content Placeholder 2"/>
          <p:cNvSpPr>
            <a:spLocks noGrp="1"/>
          </p:cNvSpPr>
          <p:nvPr>
            <p:ph sz="quarter" idx="1"/>
          </p:nvPr>
        </p:nvSpPr>
        <p:spPr/>
        <p:txBody>
          <a:bodyPr>
            <a:normAutofit/>
          </a:bodyPr>
          <a:lstStyle/>
          <a:p>
            <a:r>
              <a:rPr lang="en-GB" sz="2400" dirty="0" smtClean="0"/>
              <a:t>Different types of special consideration: </a:t>
            </a:r>
          </a:p>
          <a:p>
            <a:pPr lvl="1"/>
            <a:r>
              <a:rPr lang="en-GB" sz="2000" dirty="0" smtClean="0"/>
              <a:t>SEAS through VTAC </a:t>
            </a:r>
          </a:p>
          <a:p>
            <a:pPr lvl="1"/>
            <a:r>
              <a:rPr lang="en-GB" sz="2000" dirty="0" smtClean="0"/>
              <a:t>Others directly to the institution </a:t>
            </a:r>
          </a:p>
          <a:p>
            <a:r>
              <a:rPr lang="en-GB" sz="2400" dirty="0" smtClean="0"/>
              <a:t>The Special Entry Access Scheme (SEAS) is the umbrella program run by a number of institutions through VTAC. </a:t>
            </a:r>
          </a:p>
          <a:p>
            <a:r>
              <a:rPr lang="en-GB" sz="2400" dirty="0" smtClean="0"/>
              <a:t>The Special Entry Access Scheme (SEAS) is for applicants who have experienced educational disadvantage.</a:t>
            </a:r>
          </a:p>
          <a:p>
            <a:pPr>
              <a:buNone/>
            </a:pPr>
            <a:endParaRPr lang="en-AU"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3200" b="1" dirty="0" smtClean="0"/>
              <a:t>Special entry access schemes </a:t>
            </a:r>
            <a:r>
              <a:rPr lang="en-AU" sz="3200" dirty="0" smtClean="0"/>
              <a:t/>
            </a:r>
            <a:br>
              <a:rPr lang="en-AU" sz="3200" dirty="0" smtClean="0"/>
            </a:br>
            <a:r>
              <a:rPr lang="en-AU" sz="3200" dirty="0" smtClean="0"/>
              <a:t>(SEAS) continued…</a:t>
            </a:r>
            <a:endParaRPr lang="en-AU" sz="3200" dirty="0"/>
          </a:p>
        </p:txBody>
      </p:sp>
      <p:sp>
        <p:nvSpPr>
          <p:cNvPr id="3" name="Content Placeholder 2"/>
          <p:cNvSpPr>
            <a:spLocks noGrp="1"/>
          </p:cNvSpPr>
          <p:nvPr>
            <p:ph sz="quarter" idx="1"/>
          </p:nvPr>
        </p:nvSpPr>
        <p:spPr/>
        <p:txBody>
          <a:bodyPr>
            <a:normAutofit/>
          </a:bodyPr>
          <a:lstStyle/>
          <a:p>
            <a:r>
              <a:rPr lang="en-GB" sz="2800" dirty="0" smtClean="0"/>
              <a:t>To access the SEAS application, applicants must:</a:t>
            </a:r>
            <a:endParaRPr lang="en-AU" sz="2800" dirty="0" smtClean="0"/>
          </a:p>
          <a:p>
            <a:pPr lvl="1"/>
            <a:r>
              <a:rPr lang="en-GB" sz="2400" dirty="0" smtClean="0"/>
              <a:t>Register with VTAC and create their VTAC user account and  </a:t>
            </a:r>
            <a:endParaRPr lang="en-AU" sz="2400" dirty="0" smtClean="0"/>
          </a:p>
          <a:p>
            <a:pPr lvl="1"/>
            <a:r>
              <a:rPr lang="en-GB" sz="2400" dirty="0" smtClean="0"/>
              <a:t>Submit a course application – SEAS only becomes available after the course application has been submitted. </a:t>
            </a:r>
          </a:p>
          <a:p>
            <a:pPr lvl="1"/>
            <a:r>
              <a:rPr lang="en-GB" sz="2400" dirty="0" smtClean="0"/>
              <a:t>No course application, no SEAS.</a:t>
            </a:r>
          </a:p>
          <a:p>
            <a:pPr lvl="1">
              <a:buNone/>
            </a:pPr>
            <a:endParaRPr lang="en-AU" sz="2400" dirty="0" smtClean="0"/>
          </a:p>
          <a:p>
            <a:r>
              <a:rPr lang="en-GB" sz="2800" b="1" dirty="0" smtClean="0"/>
              <a:t>Opens</a:t>
            </a:r>
            <a:r>
              <a:rPr lang="en-GB" sz="2800" dirty="0" smtClean="0"/>
              <a:t> 9.00am Monday 6 August </a:t>
            </a:r>
            <a:br>
              <a:rPr lang="en-GB" sz="2800" dirty="0" smtClean="0"/>
            </a:br>
            <a:r>
              <a:rPr lang="en-GB" sz="2800" b="1" dirty="0" smtClean="0"/>
              <a:t>Closes</a:t>
            </a:r>
            <a:r>
              <a:rPr lang="en-GB" sz="2800" dirty="0" smtClean="0"/>
              <a:t>: 5.00pm Tuesday 9 October</a:t>
            </a:r>
          </a:p>
          <a:p>
            <a:pPr>
              <a:buNone/>
            </a:pPr>
            <a:endParaRPr lang="en-AU"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SEAS categories include: </a:t>
            </a:r>
            <a:endParaRPr lang="en-AU" dirty="0"/>
          </a:p>
        </p:txBody>
      </p:sp>
      <p:sp>
        <p:nvSpPr>
          <p:cNvPr id="3" name="Content Placeholder 2"/>
          <p:cNvSpPr>
            <a:spLocks noGrp="1"/>
          </p:cNvSpPr>
          <p:nvPr>
            <p:ph sz="quarter" idx="1"/>
          </p:nvPr>
        </p:nvSpPr>
        <p:spPr/>
        <p:txBody>
          <a:bodyPr>
            <a:normAutofit/>
          </a:bodyPr>
          <a:lstStyle/>
          <a:p>
            <a:r>
              <a:rPr lang="en-GB" sz="2800" b="1" dirty="0" smtClean="0"/>
              <a:t>Category 1: </a:t>
            </a:r>
            <a:r>
              <a:rPr lang="en-GB" sz="2800" dirty="0" smtClean="0"/>
              <a:t>Personal information and location </a:t>
            </a:r>
            <a:endParaRPr lang="en-GB" sz="2800" b="1" dirty="0" smtClean="0"/>
          </a:p>
          <a:p>
            <a:r>
              <a:rPr lang="en-GB" sz="2800" b="1" dirty="0" smtClean="0"/>
              <a:t>Category 2: </a:t>
            </a:r>
            <a:r>
              <a:rPr lang="en-GB" sz="2800" dirty="0" smtClean="0"/>
              <a:t>Non-English speaking background </a:t>
            </a:r>
            <a:endParaRPr lang="en-AU" sz="2800" b="1" dirty="0" smtClean="0"/>
          </a:p>
          <a:p>
            <a:r>
              <a:rPr lang="en-GB" sz="2800" b="1" dirty="0" smtClean="0"/>
              <a:t>Category 3: </a:t>
            </a:r>
            <a:r>
              <a:rPr lang="en-GB" sz="2800" dirty="0" smtClean="0"/>
              <a:t>Difficult circumstances </a:t>
            </a:r>
            <a:endParaRPr lang="en-AU" sz="2800" b="1" dirty="0" smtClean="0"/>
          </a:p>
          <a:p>
            <a:r>
              <a:rPr lang="en-GB" sz="2800" b="1" dirty="0" smtClean="0"/>
              <a:t>Category 4</a:t>
            </a:r>
            <a:r>
              <a:rPr lang="en-GB" sz="2800" dirty="0" smtClean="0"/>
              <a:t>: Disadvantaged financial background </a:t>
            </a:r>
          </a:p>
          <a:p>
            <a:endParaRPr lang="en-AU" sz="3200" dirty="0" smtClean="0"/>
          </a:p>
          <a:p>
            <a:endParaRPr lang="en-AU" sz="3200" dirty="0" smtClean="0"/>
          </a:p>
          <a:p>
            <a:endParaRPr lang="en-AU" dirty="0" smtClean="0"/>
          </a:p>
          <a:p>
            <a:endParaRPr lang="en-AU"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SEAS categories include: </a:t>
            </a:r>
            <a:endParaRPr lang="en-AU" dirty="0"/>
          </a:p>
        </p:txBody>
      </p:sp>
      <p:sp>
        <p:nvSpPr>
          <p:cNvPr id="3" name="Content Placeholder 2"/>
          <p:cNvSpPr>
            <a:spLocks noGrp="1"/>
          </p:cNvSpPr>
          <p:nvPr>
            <p:ph sz="quarter" idx="1"/>
          </p:nvPr>
        </p:nvSpPr>
        <p:spPr/>
        <p:txBody>
          <a:bodyPr>
            <a:normAutofit fontScale="92500" lnSpcReduction="10000"/>
          </a:bodyPr>
          <a:lstStyle/>
          <a:p>
            <a:r>
              <a:rPr lang="en-GB" sz="3200" b="1" dirty="0" smtClean="0"/>
              <a:t>Category 5: </a:t>
            </a:r>
            <a:r>
              <a:rPr lang="en-GB" sz="3200" dirty="0" smtClean="0"/>
              <a:t>Disability or medical condition</a:t>
            </a:r>
          </a:p>
          <a:p>
            <a:r>
              <a:rPr lang="en-GB" sz="3200" b="1" dirty="0" smtClean="0"/>
              <a:t>Category 6: </a:t>
            </a:r>
            <a:endParaRPr lang="en-GB" sz="3200" dirty="0" smtClean="0"/>
          </a:p>
          <a:p>
            <a:pPr lvl="1"/>
            <a:r>
              <a:rPr lang="en-GB" dirty="0" smtClean="0"/>
              <a:t>Schools Access La Trobe (SALT)</a:t>
            </a:r>
          </a:p>
          <a:p>
            <a:pPr lvl="1"/>
            <a:r>
              <a:rPr lang="en-GB" dirty="0" smtClean="0"/>
              <a:t>University of Ballarat (REEP)</a:t>
            </a:r>
          </a:p>
          <a:p>
            <a:pPr lvl="1"/>
            <a:r>
              <a:rPr lang="en-GB" dirty="0" smtClean="0"/>
              <a:t>Victoria University (PPP) schemes</a:t>
            </a:r>
          </a:p>
          <a:p>
            <a:r>
              <a:rPr lang="en-GB" sz="3200" dirty="0" smtClean="0"/>
              <a:t>Other schools recognise these factors, but take their applications via Category 1. Applicants should apply for Category 1 to be considered for other university under-represented schools schemes.</a:t>
            </a:r>
            <a:endParaRPr lang="en-AU" sz="3200" b="1" dirty="0" smtClean="0"/>
          </a:p>
          <a:p>
            <a:endParaRPr lang="en-AU"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CourseLink: </a:t>
            </a:r>
            <a:br>
              <a:rPr lang="en-AU" dirty="0" smtClean="0"/>
            </a:br>
            <a:r>
              <a:rPr lang="en-AU" sz="3100" dirty="0" smtClean="0"/>
              <a:t>SNAP endorsement and PPP teacher recommendation</a:t>
            </a:r>
            <a:endParaRPr lang="en-AU" dirty="0"/>
          </a:p>
        </p:txBody>
      </p:sp>
      <p:pic>
        <p:nvPicPr>
          <p:cNvPr id="3" name="Picture 2"/>
          <p:cNvPicPr>
            <a:picLocks noChangeAspect="1" noChangeArrowheads="1"/>
          </p:cNvPicPr>
          <p:nvPr/>
        </p:nvPicPr>
        <p:blipFill>
          <a:blip r:embed="rId3" cstate="print"/>
          <a:srcRect l="1472" t="24082" r="1666" b="42696"/>
          <a:stretch>
            <a:fillRect/>
          </a:stretch>
        </p:blipFill>
        <p:spPr bwMode="auto">
          <a:xfrm>
            <a:off x="827584" y="1988840"/>
            <a:ext cx="7216000" cy="1980000"/>
          </a:xfrm>
          <a:prstGeom prst="rect">
            <a:avLst/>
          </a:prstGeom>
          <a:noFill/>
          <a:ln w="9525">
            <a:noFill/>
            <a:miter lim="800000"/>
            <a:headEnd/>
            <a:tailEnd/>
          </a:ln>
        </p:spPr>
      </p:pic>
      <p:pic>
        <p:nvPicPr>
          <p:cNvPr id="6" name="Content Placeholder 5"/>
          <p:cNvPicPr>
            <a:picLocks noGrp="1" noChangeAspect="1" noChangeArrowheads="1"/>
          </p:cNvPicPr>
          <p:nvPr>
            <p:ph sz="quarter" idx="1"/>
          </p:nvPr>
        </p:nvPicPr>
        <p:blipFill>
          <a:blip r:embed="rId3" cstate="print"/>
          <a:srcRect l="1472" t="24082" r="76301" b="70877"/>
          <a:stretch>
            <a:fillRect/>
          </a:stretch>
        </p:blipFill>
        <p:spPr bwMode="auto">
          <a:xfrm>
            <a:off x="539552" y="1628800"/>
            <a:ext cx="3571663" cy="648000"/>
          </a:xfrm>
          <a:prstGeom prst="rect">
            <a:avLst/>
          </a:prstGeom>
          <a:ln>
            <a:noFill/>
          </a:ln>
          <a:effectLst>
            <a:outerShdw blurRad="292100" dist="139700" dir="2700000" algn="tl" rotWithShape="0">
              <a:srgbClr val="333333">
                <a:alpha val="65000"/>
              </a:srgbClr>
            </a:outerShdw>
          </a:effectLst>
        </p:spPr>
      </p:pic>
      <p:pic>
        <p:nvPicPr>
          <p:cNvPr id="7" name="Picture 6"/>
          <p:cNvPicPr>
            <a:picLocks noChangeAspect="1" noChangeArrowheads="1"/>
          </p:cNvPicPr>
          <p:nvPr/>
        </p:nvPicPr>
        <p:blipFill>
          <a:blip r:embed="rId3" cstate="print"/>
          <a:srcRect l="1472" t="48246" r="44962" b="42696"/>
          <a:stretch>
            <a:fillRect/>
          </a:stretch>
        </p:blipFill>
        <p:spPr bwMode="auto">
          <a:xfrm>
            <a:off x="179512" y="4653136"/>
            <a:ext cx="7717382" cy="1044000"/>
          </a:xfrm>
          <a:prstGeom prst="rect">
            <a:avLst/>
          </a:prstGeom>
          <a:ln>
            <a:noFill/>
          </a:ln>
          <a:effectLst>
            <a:outerShdw blurRad="292100" dist="139700" dir="2700000" algn="tl" rotWithShape="0">
              <a:srgbClr val="333333">
                <a:alpha val="65000"/>
              </a:srgbClr>
            </a:outerShdw>
          </a:effectLst>
        </p:spPr>
      </p:pic>
      <p:pic>
        <p:nvPicPr>
          <p:cNvPr id="8" name="Picture 7"/>
          <p:cNvPicPr>
            <a:picLocks noChangeAspect="1" noChangeArrowheads="1"/>
          </p:cNvPicPr>
          <p:nvPr/>
        </p:nvPicPr>
        <p:blipFill>
          <a:blip r:embed="rId3" cstate="print"/>
          <a:srcRect l="88352" t="50522" r="1666" b="42696"/>
          <a:stretch>
            <a:fillRect/>
          </a:stretch>
        </p:blipFill>
        <p:spPr bwMode="auto">
          <a:xfrm>
            <a:off x="7308304" y="3212976"/>
            <a:ext cx="1390893" cy="756000"/>
          </a:xfrm>
          <a:prstGeom prst="rect">
            <a:avLst/>
          </a:prstGeom>
          <a:ln>
            <a:noFill/>
          </a:ln>
          <a:effectLst>
            <a:outerShdw blurRad="292100" dist="139700" dir="2700000" algn="tl" rotWithShape="0">
              <a:srgbClr val="333333">
                <a:alpha val="65000"/>
              </a:srgbClr>
            </a:outerShdw>
          </a:effectLst>
        </p:spPr>
      </p:pic>
      <p:cxnSp>
        <p:nvCxnSpPr>
          <p:cNvPr id="12" name="Elbow Connector 11"/>
          <p:cNvCxnSpPr/>
          <p:nvPr/>
        </p:nvCxnSpPr>
        <p:spPr>
          <a:xfrm rot="16200000" flipH="1">
            <a:off x="1511660" y="3969060"/>
            <a:ext cx="1296144" cy="360040"/>
          </a:xfrm>
          <a:prstGeom prst="bentConnector3">
            <a:avLst>
              <a:gd name="adj1" fmla="val 50000"/>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Elbow Connector 13"/>
          <p:cNvCxnSpPr/>
          <p:nvPr/>
        </p:nvCxnSpPr>
        <p:spPr>
          <a:xfrm rot="16200000" flipH="1">
            <a:off x="395536" y="4365104"/>
            <a:ext cx="1368152" cy="360040"/>
          </a:xfrm>
          <a:prstGeom prst="bentConnector3">
            <a:avLst>
              <a:gd name="adj1" fmla="val 50000"/>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Impact statements and </a:t>
            </a:r>
            <a:br>
              <a:rPr lang="en-AU" dirty="0" smtClean="0"/>
            </a:br>
            <a:r>
              <a:rPr lang="en-AU" dirty="0" smtClean="0"/>
              <a:t>Statements of support </a:t>
            </a:r>
            <a:endParaRPr lang="en-AU" dirty="0"/>
          </a:p>
        </p:txBody>
      </p:sp>
      <p:sp>
        <p:nvSpPr>
          <p:cNvPr id="3" name="Content Placeholder 2"/>
          <p:cNvSpPr>
            <a:spLocks noGrp="1"/>
          </p:cNvSpPr>
          <p:nvPr>
            <p:ph sz="quarter" idx="1"/>
          </p:nvPr>
        </p:nvSpPr>
        <p:spPr/>
        <p:txBody>
          <a:bodyPr>
            <a:normAutofit lnSpcReduction="10000"/>
          </a:bodyPr>
          <a:lstStyle/>
          <a:p>
            <a:r>
              <a:rPr lang="en-AU" b="1" dirty="0" smtClean="0"/>
              <a:t>Statement of support </a:t>
            </a:r>
          </a:p>
          <a:p>
            <a:pPr lvl="1"/>
            <a:r>
              <a:rPr lang="en-AU" dirty="0" smtClean="0"/>
              <a:t>Are required for categories 3, 4, 5 and 6</a:t>
            </a:r>
          </a:p>
          <a:p>
            <a:pPr lvl="1"/>
            <a:r>
              <a:rPr lang="en-AU" dirty="0" smtClean="0"/>
              <a:t>Statements of support about the responsible persons observation and/or medical opinion of the student. Statements such as </a:t>
            </a:r>
            <a:r>
              <a:rPr lang="en-AU" i="1" dirty="0" smtClean="0"/>
              <a:t>I agree </a:t>
            </a:r>
            <a:r>
              <a:rPr lang="en-AU" dirty="0" smtClean="0"/>
              <a:t>or </a:t>
            </a:r>
            <a:r>
              <a:rPr lang="en-AU" i="1" dirty="0" smtClean="0"/>
              <a:t>just as the student says don’t cut it. </a:t>
            </a:r>
          </a:p>
          <a:p>
            <a:r>
              <a:rPr lang="en-AU" b="1" dirty="0" smtClean="0"/>
              <a:t>Impact statements </a:t>
            </a:r>
          </a:p>
          <a:p>
            <a:pPr lvl="1"/>
            <a:r>
              <a:rPr lang="en-AU" dirty="0" smtClean="0"/>
              <a:t>Impact statements are required for categories 3, 4 and 5. </a:t>
            </a:r>
          </a:p>
          <a:p>
            <a:pPr lvl="1"/>
            <a:r>
              <a:rPr lang="en-AU" dirty="0" smtClean="0"/>
              <a:t>Impact statements are about the impact and not the incident. </a:t>
            </a:r>
          </a:p>
          <a:p>
            <a:endParaRPr lang="en-AU" dirty="0" smtClean="0"/>
          </a:p>
          <a:p>
            <a:endParaRPr lang="en-AU"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Case studies: SEAS </a:t>
            </a:r>
            <a:endParaRPr lang="en-AU" dirty="0"/>
          </a:p>
        </p:txBody>
      </p:sp>
      <p:sp>
        <p:nvSpPr>
          <p:cNvPr id="4" name="Content Placeholder 3"/>
          <p:cNvSpPr>
            <a:spLocks noGrp="1"/>
          </p:cNvSpPr>
          <p:nvPr>
            <p:ph sz="quarter" idx="2"/>
          </p:nvPr>
        </p:nvSpPr>
        <p:spPr>
          <a:xfrm>
            <a:off x="609600" y="2276872"/>
            <a:ext cx="3886200" cy="4248472"/>
          </a:xfrm>
        </p:spPr>
        <p:txBody>
          <a:bodyPr>
            <a:normAutofit/>
          </a:bodyPr>
          <a:lstStyle/>
          <a:p>
            <a:pPr lvl="0"/>
            <a:r>
              <a:rPr lang="en-AU" sz="2200" dirty="0" smtClean="0"/>
              <a:t>My principal wants to know whether our school is classified as an under-represented school.</a:t>
            </a:r>
          </a:p>
          <a:p>
            <a:pPr lvl="1"/>
            <a:r>
              <a:rPr lang="en-AU" sz="2000" dirty="0" smtClean="0"/>
              <a:t>How do we find out?</a:t>
            </a:r>
          </a:p>
          <a:p>
            <a:pPr lvl="1"/>
            <a:r>
              <a:rPr lang="en-AU" sz="2000" dirty="0" smtClean="0"/>
              <a:t>Can we apply to be an underrepresented school? </a:t>
            </a:r>
          </a:p>
          <a:p>
            <a:pPr lvl="1"/>
            <a:r>
              <a:rPr lang="en-AU" sz="2000" dirty="0" smtClean="0"/>
              <a:t>Who decides who is and isn’t an underrepresented school? </a:t>
            </a:r>
          </a:p>
          <a:p>
            <a:pPr>
              <a:buNone/>
            </a:pPr>
            <a:r>
              <a:rPr lang="en-AU" sz="2400" dirty="0" smtClean="0"/>
              <a:t> </a:t>
            </a:r>
            <a:endParaRPr lang="en-AU" sz="2400" dirty="0"/>
          </a:p>
        </p:txBody>
      </p:sp>
      <p:sp>
        <p:nvSpPr>
          <p:cNvPr id="5" name="Content Placeholder 4"/>
          <p:cNvSpPr>
            <a:spLocks noGrp="1"/>
          </p:cNvSpPr>
          <p:nvPr>
            <p:ph sz="quarter" idx="4"/>
          </p:nvPr>
        </p:nvSpPr>
        <p:spPr>
          <a:xfrm>
            <a:off x="4800600" y="2276872"/>
            <a:ext cx="3886200" cy="4248472"/>
          </a:xfrm>
        </p:spPr>
        <p:txBody>
          <a:bodyPr>
            <a:normAutofit fontScale="77500" lnSpcReduction="20000"/>
          </a:bodyPr>
          <a:lstStyle/>
          <a:p>
            <a:pPr lvl="0"/>
            <a:r>
              <a:rPr lang="en-AU" dirty="0" smtClean="0"/>
              <a:t>We have a student who was born in Australia and the family moved back to a Non English speaking country where English was never spoken when they were 3 months old. The student arrived back in Australia in 2008 and is completing their VCE this Year.</a:t>
            </a:r>
          </a:p>
          <a:p>
            <a:pPr lvl="1"/>
            <a:r>
              <a:rPr lang="en-AU" dirty="0" smtClean="0"/>
              <a:t>Is the student eligible for Category 2: non English Speaking background? </a:t>
            </a:r>
          </a:p>
          <a:p>
            <a:pPr lvl="1"/>
            <a:r>
              <a:rPr lang="en-AU" dirty="0" smtClean="0"/>
              <a:t>Please explain. </a:t>
            </a:r>
          </a:p>
          <a:p>
            <a:endParaRPr lang="en-AU" dirty="0"/>
          </a:p>
        </p:txBody>
      </p:sp>
      <p:sp>
        <p:nvSpPr>
          <p:cNvPr id="6" name="Text Placeholder 5"/>
          <p:cNvSpPr>
            <a:spLocks noGrp="1"/>
          </p:cNvSpPr>
          <p:nvPr>
            <p:ph type="body" sz="quarter" idx="1"/>
          </p:nvPr>
        </p:nvSpPr>
        <p:spPr>
          <a:xfrm>
            <a:off x="611560" y="1556792"/>
            <a:ext cx="3886200" cy="640080"/>
          </a:xfrm>
        </p:spPr>
        <p:txBody>
          <a:bodyPr/>
          <a:lstStyle/>
          <a:p>
            <a:r>
              <a:rPr lang="en-AU" dirty="0" smtClean="0"/>
              <a:t>Case study 4: </a:t>
            </a:r>
            <a:endParaRPr lang="en-AU" dirty="0"/>
          </a:p>
        </p:txBody>
      </p:sp>
      <p:sp>
        <p:nvSpPr>
          <p:cNvPr id="7" name="Text Placeholder 6"/>
          <p:cNvSpPr>
            <a:spLocks noGrp="1"/>
          </p:cNvSpPr>
          <p:nvPr>
            <p:ph type="body" sz="quarter" idx="3"/>
          </p:nvPr>
        </p:nvSpPr>
        <p:spPr>
          <a:xfrm>
            <a:off x="4788024" y="1556792"/>
            <a:ext cx="3886200" cy="640080"/>
          </a:xfrm>
        </p:spPr>
        <p:txBody>
          <a:bodyPr/>
          <a:lstStyle/>
          <a:p>
            <a:r>
              <a:rPr lang="en-AU" dirty="0" smtClean="0"/>
              <a:t>Case study 5: </a:t>
            </a:r>
            <a:endParaRPr lang="en-AU"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SEAS case studies and quick quiz</a:t>
            </a:r>
            <a:endParaRPr lang="en-AU" dirty="0"/>
          </a:p>
        </p:txBody>
      </p:sp>
      <p:sp>
        <p:nvSpPr>
          <p:cNvPr id="3" name="Content Placeholder 2"/>
          <p:cNvSpPr>
            <a:spLocks noGrp="1"/>
          </p:cNvSpPr>
          <p:nvPr>
            <p:ph sz="quarter" idx="2"/>
          </p:nvPr>
        </p:nvSpPr>
        <p:spPr/>
        <p:txBody>
          <a:bodyPr>
            <a:normAutofit/>
          </a:bodyPr>
          <a:lstStyle/>
          <a:p>
            <a:r>
              <a:rPr lang="en-AU" sz="2200" dirty="0" smtClean="0"/>
              <a:t>A parent comes to you wanting you to provide a statement of support indicating that their son/daughter has a learning disability. </a:t>
            </a:r>
          </a:p>
          <a:p>
            <a:r>
              <a:rPr lang="en-AU" sz="2000" dirty="0" smtClean="0"/>
              <a:t>What do you do? </a:t>
            </a:r>
          </a:p>
          <a:p>
            <a:r>
              <a:rPr lang="en-AU" sz="2000" dirty="0" smtClean="0"/>
              <a:t>What do you ask? </a:t>
            </a:r>
          </a:p>
          <a:p>
            <a:r>
              <a:rPr lang="en-AU" sz="2000" dirty="0" smtClean="0"/>
              <a:t>What should you do? </a:t>
            </a:r>
            <a:endParaRPr lang="en-AU" sz="2000" dirty="0"/>
          </a:p>
        </p:txBody>
      </p:sp>
      <p:sp>
        <p:nvSpPr>
          <p:cNvPr id="4" name="Content Placeholder 3"/>
          <p:cNvSpPr>
            <a:spLocks noGrp="1"/>
          </p:cNvSpPr>
          <p:nvPr>
            <p:ph sz="quarter" idx="4"/>
          </p:nvPr>
        </p:nvSpPr>
        <p:spPr/>
        <p:txBody>
          <a:bodyPr>
            <a:noAutofit/>
          </a:bodyPr>
          <a:lstStyle/>
          <a:p>
            <a:r>
              <a:rPr lang="en-AU" sz="2400" dirty="0" smtClean="0"/>
              <a:t>Once a student submits their SEAS can they edit it? </a:t>
            </a:r>
          </a:p>
          <a:p>
            <a:r>
              <a:rPr lang="en-AU" sz="2400" dirty="0" smtClean="0"/>
              <a:t>Can students apply for more than one category? </a:t>
            </a:r>
          </a:p>
          <a:p>
            <a:r>
              <a:rPr lang="en-AU" sz="2400" dirty="0" smtClean="0"/>
              <a:t>Can you supply a statement of support electronically? </a:t>
            </a:r>
          </a:p>
          <a:p>
            <a:r>
              <a:rPr lang="en-AU" sz="2400" dirty="0" smtClean="0"/>
              <a:t>Can a statement of support for SEAS be used for scholarships? </a:t>
            </a:r>
            <a:endParaRPr lang="en-AU" sz="2400" dirty="0"/>
          </a:p>
        </p:txBody>
      </p:sp>
      <p:sp>
        <p:nvSpPr>
          <p:cNvPr id="5" name="Text Placeholder 4"/>
          <p:cNvSpPr>
            <a:spLocks noGrp="1"/>
          </p:cNvSpPr>
          <p:nvPr>
            <p:ph type="body" sz="quarter" idx="1"/>
          </p:nvPr>
        </p:nvSpPr>
        <p:spPr/>
        <p:txBody>
          <a:bodyPr/>
          <a:lstStyle/>
          <a:p>
            <a:r>
              <a:rPr lang="en-AU" dirty="0" smtClean="0"/>
              <a:t>Case study 6: </a:t>
            </a:r>
            <a:endParaRPr lang="en-AU" dirty="0"/>
          </a:p>
        </p:txBody>
      </p:sp>
      <p:sp>
        <p:nvSpPr>
          <p:cNvPr id="6" name="Text Placeholder 5"/>
          <p:cNvSpPr>
            <a:spLocks noGrp="1"/>
          </p:cNvSpPr>
          <p:nvPr>
            <p:ph type="body" sz="quarter" idx="3"/>
          </p:nvPr>
        </p:nvSpPr>
        <p:spPr/>
        <p:txBody>
          <a:bodyPr/>
          <a:lstStyle/>
          <a:p>
            <a:r>
              <a:rPr lang="en-AU" dirty="0" smtClean="0"/>
              <a:t>Quick Quiz 2</a:t>
            </a:r>
            <a:endParaRPr lang="en-AU"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b="1" dirty="0" smtClean="0"/>
              <a:t>Three things you now know about:</a:t>
            </a:r>
            <a:r>
              <a:rPr lang="en-AU" dirty="0" smtClean="0"/>
              <a:t/>
            </a:r>
            <a:br>
              <a:rPr lang="en-AU" dirty="0" smtClean="0"/>
            </a:br>
            <a:r>
              <a:rPr lang="en-AU" sz="4000" dirty="0" smtClean="0"/>
              <a:t>SEAS  </a:t>
            </a:r>
            <a:endParaRPr lang="en-AU" dirty="0"/>
          </a:p>
        </p:txBody>
      </p:sp>
      <p:graphicFrame>
        <p:nvGraphicFramePr>
          <p:cNvPr id="4" name="Content Placeholder 3"/>
          <p:cNvGraphicFramePr>
            <a:graphicFrameLocks/>
          </p:cNvGraphicFramePr>
          <p:nvPr/>
        </p:nvGraphicFramePr>
        <p:xfrm>
          <a:off x="457200" y="1600200"/>
          <a:ext cx="8229600" cy="4389120"/>
        </p:xfrm>
        <a:graphic>
          <a:graphicData uri="http://schemas.openxmlformats.org/drawingml/2006/table">
            <a:tbl>
              <a:tblPr firstRow="1" bandRow="1">
                <a:tableStyleId>{D7AC3CCA-C797-4891-BE02-D94E43425B78}</a:tableStyleId>
              </a:tblPr>
              <a:tblGrid>
                <a:gridCol w="370384"/>
                <a:gridCol w="7859216"/>
              </a:tblGrid>
              <a:tr h="370840">
                <a:tc>
                  <a:txBody>
                    <a:bodyPr/>
                    <a:lstStyle/>
                    <a:p>
                      <a:pPr algn="l"/>
                      <a:endParaRPr lang="en-AU" b="1" dirty="0" smtClean="0"/>
                    </a:p>
                    <a:p>
                      <a:pPr algn="l"/>
                      <a:endParaRPr lang="en-AU" b="1" dirty="0" smtClean="0"/>
                    </a:p>
                    <a:p>
                      <a:pPr algn="l"/>
                      <a:endParaRPr lang="en-AU" b="1" dirty="0" smtClean="0"/>
                    </a:p>
                    <a:p>
                      <a:pPr algn="l"/>
                      <a:r>
                        <a:rPr lang="en-AU" b="1" dirty="0" smtClean="0"/>
                        <a:t>7</a:t>
                      </a:r>
                    </a:p>
                    <a:p>
                      <a:pPr algn="l"/>
                      <a:endParaRPr lang="en-AU" b="1" dirty="0" smtClean="0"/>
                    </a:p>
                  </a:txBody>
                  <a:tcPr/>
                </a:tc>
                <a:tc>
                  <a:txBody>
                    <a:bodyPr/>
                    <a:lstStyle/>
                    <a:p>
                      <a:endParaRPr lang="en-AU" dirty="0"/>
                    </a:p>
                  </a:txBody>
                  <a:tcPr/>
                </a:tc>
              </a:tr>
              <a:tr h="370840">
                <a:tc>
                  <a:txBody>
                    <a:bodyPr/>
                    <a:lstStyle/>
                    <a:p>
                      <a:pPr algn="l"/>
                      <a:endParaRPr lang="en-AU" b="1" dirty="0" smtClean="0"/>
                    </a:p>
                    <a:p>
                      <a:pPr algn="l"/>
                      <a:endParaRPr lang="en-AU" b="1" dirty="0" smtClean="0"/>
                    </a:p>
                    <a:p>
                      <a:pPr algn="l"/>
                      <a:r>
                        <a:rPr lang="en-AU" b="1" dirty="0" smtClean="0"/>
                        <a:t>8</a:t>
                      </a:r>
                    </a:p>
                    <a:p>
                      <a:pPr algn="l"/>
                      <a:endParaRPr lang="en-AU" b="1" dirty="0" smtClean="0"/>
                    </a:p>
                    <a:p>
                      <a:pPr algn="l"/>
                      <a:endParaRPr lang="en-AU" b="1" dirty="0" smtClean="0"/>
                    </a:p>
                  </a:txBody>
                  <a:tcPr/>
                </a:tc>
                <a:tc>
                  <a:txBody>
                    <a:bodyPr/>
                    <a:lstStyle/>
                    <a:p>
                      <a:endParaRPr lang="en-AU" dirty="0"/>
                    </a:p>
                  </a:txBody>
                  <a:tcPr/>
                </a:tc>
              </a:tr>
              <a:tr h="370840">
                <a:tc>
                  <a:txBody>
                    <a:bodyPr/>
                    <a:lstStyle/>
                    <a:p>
                      <a:pPr algn="l"/>
                      <a:endParaRPr lang="en-AU" b="1" dirty="0" smtClean="0"/>
                    </a:p>
                    <a:p>
                      <a:pPr algn="l"/>
                      <a:endParaRPr lang="en-AU" b="1" dirty="0" smtClean="0"/>
                    </a:p>
                    <a:p>
                      <a:pPr algn="l"/>
                      <a:r>
                        <a:rPr lang="en-AU" b="1" dirty="0" smtClean="0"/>
                        <a:t>9</a:t>
                      </a:r>
                    </a:p>
                    <a:p>
                      <a:pPr algn="l"/>
                      <a:endParaRPr lang="en-AU" b="1" dirty="0" smtClean="0"/>
                    </a:p>
                    <a:p>
                      <a:pPr algn="l"/>
                      <a:endParaRPr lang="en-AU" b="1" dirty="0"/>
                    </a:p>
                  </a:txBody>
                  <a:tcPr/>
                </a:tc>
                <a:tc>
                  <a:txBody>
                    <a:bodyPr/>
                    <a:lstStyle/>
                    <a:p>
                      <a:endParaRPr lang="en-AU" dirty="0"/>
                    </a:p>
                  </a:txBody>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Scholarships </a:t>
            </a:r>
            <a:endParaRPr lang="en-AU" dirty="0"/>
          </a:p>
        </p:txBody>
      </p:sp>
      <p:sp>
        <p:nvSpPr>
          <p:cNvPr id="7" name="Content Placeholder 6"/>
          <p:cNvSpPr>
            <a:spLocks noGrp="1"/>
          </p:cNvSpPr>
          <p:nvPr>
            <p:ph sz="quarter" idx="1"/>
          </p:nvPr>
        </p:nvSpPr>
        <p:spPr/>
        <p:txBody>
          <a:bodyPr/>
          <a:lstStyle/>
          <a:p>
            <a:r>
              <a:rPr lang="en-GB" sz="2400" dirty="0" smtClean="0"/>
              <a:t>The scholarships application: </a:t>
            </a:r>
          </a:p>
          <a:p>
            <a:pPr lvl="1"/>
            <a:r>
              <a:rPr lang="en-GB" sz="2000" dirty="0" smtClean="0"/>
              <a:t>Opens 9.00am Monday 6 August</a:t>
            </a:r>
            <a:br>
              <a:rPr lang="en-GB" sz="2000" dirty="0" smtClean="0"/>
            </a:br>
            <a:r>
              <a:rPr lang="en-GB" sz="2000" dirty="0" smtClean="0"/>
              <a:t>Closes 5.00pm Friday 19 October 2012</a:t>
            </a:r>
          </a:p>
          <a:p>
            <a:r>
              <a:rPr lang="en-GB" sz="2400" dirty="0" smtClean="0"/>
              <a:t>Victorian universities provide their own scholarships to assist students both through VTAC and directly. </a:t>
            </a:r>
            <a:endParaRPr lang="en-GB" sz="2400" b="1" dirty="0" smtClean="0"/>
          </a:p>
          <a:p>
            <a:r>
              <a:rPr lang="en-GB" sz="2400" dirty="0" smtClean="0"/>
              <a:t>Scholarships determined via the VTAC scholarships application may be awarded to: </a:t>
            </a:r>
          </a:p>
          <a:p>
            <a:pPr lvl="1"/>
            <a:r>
              <a:rPr lang="en-GB" sz="2000" dirty="0" smtClean="0"/>
              <a:t>students suffering with financial difficulties</a:t>
            </a:r>
          </a:p>
          <a:p>
            <a:pPr lvl="1"/>
            <a:r>
              <a:rPr lang="en-GB" sz="2000" dirty="0" smtClean="0"/>
              <a:t>Indigenous Australians and </a:t>
            </a:r>
          </a:p>
          <a:p>
            <a:pPr lvl="1"/>
            <a:r>
              <a:rPr lang="en-GB" sz="2000" dirty="0" smtClean="0"/>
              <a:t>other equity and access groups as defined by each institution. </a:t>
            </a:r>
            <a:endParaRPr lang="en-AU" sz="2000" dirty="0" smtClean="0"/>
          </a:p>
          <a:p>
            <a:endParaRPr lang="en-AU"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Types of scholarships </a:t>
            </a:r>
            <a:endParaRPr lang="en-AU" dirty="0"/>
          </a:p>
        </p:txBody>
      </p:sp>
      <p:sp>
        <p:nvSpPr>
          <p:cNvPr id="3" name="Content Placeholder 2"/>
          <p:cNvSpPr>
            <a:spLocks noGrp="1"/>
          </p:cNvSpPr>
          <p:nvPr>
            <p:ph sz="quarter" idx="1"/>
          </p:nvPr>
        </p:nvSpPr>
        <p:spPr/>
        <p:txBody>
          <a:bodyPr/>
          <a:lstStyle/>
          <a:p>
            <a:r>
              <a:rPr lang="en-GB" sz="2800" dirty="0" smtClean="0"/>
              <a:t>Commonwealth scholarships </a:t>
            </a:r>
          </a:p>
          <a:p>
            <a:r>
              <a:rPr lang="en-GB" sz="2800" dirty="0" smtClean="0"/>
              <a:t>Merit scholarships </a:t>
            </a:r>
          </a:p>
          <a:p>
            <a:r>
              <a:rPr lang="en-GB" sz="2800" dirty="0" smtClean="0"/>
              <a:t>Institutional access and equity scholarships </a:t>
            </a:r>
          </a:p>
          <a:p>
            <a:r>
              <a:rPr lang="en-GB" sz="2800" dirty="0" smtClean="0"/>
              <a:t>Scholarships not through VTAC – check out the complete list online. </a:t>
            </a:r>
          </a:p>
          <a:p>
            <a:endParaRPr lang="en-AU"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Types of scholarships through VTAC </a:t>
            </a:r>
            <a:endParaRPr lang="en-AU" dirty="0"/>
          </a:p>
        </p:txBody>
      </p:sp>
      <p:sp>
        <p:nvSpPr>
          <p:cNvPr id="3" name="Content Placeholder 2"/>
          <p:cNvSpPr>
            <a:spLocks noGrp="1"/>
          </p:cNvSpPr>
          <p:nvPr>
            <p:ph sz="quarter" idx="1"/>
          </p:nvPr>
        </p:nvSpPr>
        <p:spPr/>
        <p:txBody>
          <a:bodyPr/>
          <a:lstStyle/>
          <a:p>
            <a:r>
              <a:rPr lang="en-GB" dirty="0" smtClean="0"/>
              <a:t>Commonwealth scholarships include </a:t>
            </a:r>
            <a:r>
              <a:rPr lang="en-GB" sz="2800" dirty="0" smtClean="0"/>
              <a:t>Student Start-Up and </a:t>
            </a:r>
            <a:r>
              <a:rPr lang="en-GB" dirty="0" smtClean="0"/>
              <a:t>Relocation Scholarships</a:t>
            </a:r>
          </a:p>
          <a:p>
            <a:pPr lvl="1"/>
            <a:r>
              <a:rPr lang="en-GB" sz="2400" dirty="0" smtClean="0"/>
              <a:t>are available to students receiving income support</a:t>
            </a:r>
          </a:p>
          <a:p>
            <a:pPr lvl="1"/>
            <a:r>
              <a:rPr lang="en-GB" sz="2400" dirty="0" smtClean="0"/>
              <a:t>administered by Centrelink</a:t>
            </a:r>
          </a:p>
          <a:p>
            <a:pPr lvl="1"/>
            <a:r>
              <a:rPr lang="en-GB" sz="2400" dirty="0" smtClean="0"/>
              <a:t>Indigenous Commonwealth Scholarships</a:t>
            </a:r>
          </a:p>
          <a:p>
            <a:r>
              <a:rPr lang="en-GB" dirty="0" smtClean="0"/>
              <a:t>Institutional access and equity scholarships </a:t>
            </a:r>
          </a:p>
          <a:p>
            <a:r>
              <a:rPr lang="en-GB" dirty="0" smtClean="0"/>
              <a:t>Merit scholarships </a:t>
            </a:r>
          </a:p>
          <a:p>
            <a:endParaRPr lang="en-AU"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b="1" dirty="0" smtClean="0"/>
              <a:t>Three things you now know about:</a:t>
            </a:r>
            <a:r>
              <a:rPr lang="en-AU" dirty="0" smtClean="0"/>
              <a:t/>
            </a:r>
            <a:br>
              <a:rPr lang="en-AU" dirty="0" smtClean="0"/>
            </a:br>
            <a:r>
              <a:rPr lang="en-AU" sz="4000" dirty="0" smtClean="0"/>
              <a:t>Scholarships </a:t>
            </a:r>
            <a:endParaRPr lang="en-AU" dirty="0"/>
          </a:p>
        </p:txBody>
      </p:sp>
      <p:graphicFrame>
        <p:nvGraphicFramePr>
          <p:cNvPr id="4" name="Content Placeholder 3"/>
          <p:cNvGraphicFramePr>
            <a:graphicFrameLocks/>
          </p:cNvGraphicFramePr>
          <p:nvPr/>
        </p:nvGraphicFramePr>
        <p:xfrm>
          <a:off x="457200" y="1600200"/>
          <a:ext cx="8229600" cy="4389120"/>
        </p:xfrm>
        <a:graphic>
          <a:graphicData uri="http://schemas.openxmlformats.org/drawingml/2006/table">
            <a:tbl>
              <a:tblPr firstRow="1" bandRow="1">
                <a:tableStyleId>{D7AC3CCA-C797-4891-BE02-D94E43425B78}</a:tableStyleId>
              </a:tblPr>
              <a:tblGrid>
                <a:gridCol w="370384"/>
                <a:gridCol w="7859216"/>
              </a:tblGrid>
              <a:tr h="370840">
                <a:tc>
                  <a:txBody>
                    <a:bodyPr/>
                    <a:lstStyle/>
                    <a:p>
                      <a:pPr algn="l"/>
                      <a:endParaRPr lang="en-AU" b="1" dirty="0" smtClean="0"/>
                    </a:p>
                    <a:p>
                      <a:pPr algn="l"/>
                      <a:endParaRPr lang="en-AU" b="1" dirty="0" smtClean="0"/>
                    </a:p>
                    <a:p>
                      <a:pPr algn="l"/>
                      <a:endParaRPr lang="en-AU" b="1" dirty="0" smtClean="0"/>
                    </a:p>
                    <a:p>
                      <a:pPr algn="l"/>
                      <a:r>
                        <a:rPr lang="en-AU" b="1" dirty="0" smtClean="0"/>
                        <a:t>7</a:t>
                      </a:r>
                    </a:p>
                    <a:p>
                      <a:pPr algn="l"/>
                      <a:endParaRPr lang="en-AU" b="1" dirty="0" smtClean="0"/>
                    </a:p>
                  </a:txBody>
                  <a:tcPr/>
                </a:tc>
                <a:tc>
                  <a:txBody>
                    <a:bodyPr/>
                    <a:lstStyle/>
                    <a:p>
                      <a:endParaRPr lang="en-AU" dirty="0"/>
                    </a:p>
                  </a:txBody>
                  <a:tcPr/>
                </a:tc>
              </a:tr>
              <a:tr h="370840">
                <a:tc>
                  <a:txBody>
                    <a:bodyPr/>
                    <a:lstStyle/>
                    <a:p>
                      <a:pPr algn="l"/>
                      <a:endParaRPr lang="en-AU" b="1" dirty="0" smtClean="0"/>
                    </a:p>
                    <a:p>
                      <a:pPr algn="l"/>
                      <a:endParaRPr lang="en-AU" b="1" dirty="0" smtClean="0"/>
                    </a:p>
                    <a:p>
                      <a:pPr algn="l"/>
                      <a:r>
                        <a:rPr lang="en-AU" b="1" dirty="0" smtClean="0"/>
                        <a:t>8</a:t>
                      </a:r>
                    </a:p>
                    <a:p>
                      <a:pPr algn="l"/>
                      <a:endParaRPr lang="en-AU" b="1" dirty="0" smtClean="0"/>
                    </a:p>
                    <a:p>
                      <a:pPr algn="l"/>
                      <a:endParaRPr lang="en-AU" b="1" dirty="0" smtClean="0"/>
                    </a:p>
                  </a:txBody>
                  <a:tcPr/>
                </a:tc>
                <a:tc>
                  <a:txBody>
                    <a:bodyPr/>
                    <a:lstStyle/>
                    <a:p>
                      <a:endParaRPr lang="en-AU" dirty="0"/>
                    </a:p>
                  </a:txBody>
                  <a:tcPr/>
                </a:tc>
              </a:tr>
              <a:tr h="370840">
                <a:tc>
                  <a:txBody>
                    <a:bodyPr/>
                    <a:lstStyle/>
                    <a:p>
                      <a:pPr algn="l"/>
                      <a:endParaRPr lang="en-AU" b="1" dirty="0" smtClean="0"/>
                    </a:p>
                    <a:p>
                      <a:pPr algn="l"/>
                      <a:endParaRPr lang="en-AU" b="1" dirty="0" smtClean="0"/>
                    </a:p>
                    <a:p>
                      <a:pPr algn="l"/>
                      <a:r>
                        <a:rPr lang="en-AU" b="1" dirty="0" smtClean="0"/>
                        <a:t>9</a:t>
                      </a:r>
                    </a:p>
                    <a:p>
                      <a:pPr algn="l"/>
                      <a:endParaRPr lang="en-AU" b="1" dirty="0" smtClean="0"/>
                    </a:p>
                    <a:p>
                      <a:pPr algn="l"/>
                      <a:endParaRPr lang="en-AU" b="1" dirty="0"/>
                    </a:p>
                  </a:txBody>
                  <a:tcPr/>
                </a:tc>
                <a:tc>
                  <a:txBody>
                    <a:bodyPr/>
                    <a:lstStyle/>
                    <a:p>
                      <a:endParaRPr lang="en-AU" dirty="0"/>
                    </a:p>
                  </a:txBody>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r>
              <a:rPr lang="en-AU" dirty="0" smtClean="0"/>
              <a:t>Your guide to understanding scaling and the ATAR calculation </a:t>
            </a:r>
            <a:endParaRPr lang="en-AU" dirty="0"/>
          </a:p>
        </p:txBody>
      </p:sp>
      <p:sp>
        <p:nvSpPr>
          <p:cNvPr id="2" name="Title 1"/>
          <p:cNvSpPr>
            <a:spLocks noGrp="1"/>
          </p:cNvSpPr>
          <p:nvPr>
            <p:ph type="title"/>
          </p:nvPr>
        </p:nvSpPr>
        <p:spPr/>
        <p:txBody>
          <a:bodyPr>
            <a:normAutofit/>
          </a:bodyPr>
          <a:lstStyle/>
          <a:p>
            <a:r>
              <a:rPr lang="en-AU" sz="3600" dirty="0" smtClean="0"/>
              <a:t>The Australian Tertiary Admission Rank</a:t>
            </a:r>
            <a:endParaRPr lang="en-AU" sz="3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Golden rules of providing advice to Year 10 students in relation to scaling</a:t>
            </a:r>
            <a:endParaRPr lang="en-AU" dirty="0"/>
          </a:p>
        </p:txBody>
      </p:sp>
      <p:sp>
        <p:nvSpPr>
          <p:cNvPr id="3" name="Content Placeholder 2"/>
          <p:cNvSpPr>
            <a:spLocks noGrp="1"/>
          </p:cNvSpPr>
          <p:nvPr>
            <p:ph sz="quarter" idx="1"/>
          </p:nvPr>
        </p:nvSpPr>
        <p:spPr/>
        <p:txBody>
          <a:bodyPr>
            <a:normAutofit fontScale="85000" lnSpcReduction="20000"/>
          </a:bodyPr>
          <a:lstStyle/>
          <a:p>
            <a:r>
              <a:rPr lang="en-AU" dirty="0" smtClean="0"/>
              <a:t>Just because a study is scaled up doesn’t mean you’ll get a high ATAR</a:t>
            </a:r>
          </a:p>
          <a:p>
            <a:r>
              <a:rPr lang="en-AU" dirty="0" smtClean="0"/>
              <a:t>All studies to be treated equally in the ATAR</a:t>
            </a:r>
          </a:p>
          <a:p>
            <a:r>
              <a:rPr lang="en-AU" dirty="0" smtClean="0"/>
              <a:t>Just because you do a LOTE doesn’t mean you’ll get an extra 5 added to your ATAR. </a:t>
            </a:r>
          </a:p>
          <a:p>
            <a:r>
              <a:rPr lang="en-AU" dirty="0" smtClean="0"/>
              <a:t>You are better off choosing studies that:</a:t>
            </a:r>
          </a:p>
          <a:p>
            <a:pPr lvl="1"/>
            <a:r>
              <a:rPr lang="en-AU" dirty="0" smtClean="0"/>
              <a:t>you enjoy</a:t>
            </a:r>
          </a:p>
          <a:p>
            <a:pPr lvl="1"/>
            <a:r>
              <a:rPr lang="en-AU" dirty="0" smtClean="0"/>
              <a:t>you are good at </a:t>
            </a:r>
          </a:p>
          <a:p>
            <a:pPr lvl="1"/>
            <a:r>
              <a:rPr lang="en-AU" dirty="0" smtClean="0"/>
              <a:t>reflect what you are interested in studying at tertiary level </a:t>
            </a:r>
          </a:p>
          <a:p>
            <a:pPr lvl="1"/>
            <a:r>
              <a:rPr lang="en-AU" dirty="0" smtClean="0"/>
              <a:t>help provide you with more career options if you are undecided.</a:t>
            </a:r>
          </a:p>
          <a:p>
            <a:r>
              <a:rPr lang="en-AU" dirty="0" smtClean="0"/>
              <a:t>VTAC will be running an online Webinar in 2013 to assist careers teachers counsel Year 10 students. </a:t>
            </a:r>
          </a:p>
          <a:p>
            <a:pPr>
              <a:buNone/>
            </a:pPr>
            <a:endParaRPr lang="en-AU" dirty="0" smtClean="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pPr algn="ctr"/>
            <a:r>
              <a:rPr lang="en-AU" dirty="0" smtClean="0">
                <a:solidFill>
                  <a:schemeClr val="accent3">
                    <a:lumMod val="50000"/>
                  </a:schemeClr>
                </a:solidFill>
              </a:rPr>
              <a:t>The Australian Tertiary </a:t>
            </a:r>
            <a:br>
              <a:rPr lang="en-AU" dirty="0" smtClean="0">
                <a:solidFill>
                  <a:schemeClr val="accent3">
                    <a:lumMod val="50000"/>
                  </a:schemeClr>
                </a:solidFill>
              </a:rPr>
            </a:br>
            <a:r>
              <a:rPr lang="en-AU" dirty="0" smtClean="0">
                <a:solidFill>
                  <a:schemeClr val="accent3">
                    <a:lumMod val="50000"/>
                  </a:schemeClr>
                </a:solidFill>
              </a:rPr>
              <a:t>Admission Rank (ATAR)</a:t>
            </a:r>
            <a:endParaRPr lang="en-AU" dirty="0">
              <a:solidFill>
                <a:schemeClr val="accent3">
                  <a:lumMod val="50000"/>
                </a:schemeClr>
              </a:solidFill>
            </a:endParaRPr>
          </a:p>
        </p:txBody>
      </p:sp>
      <p:sp>
        <p:nvSpPr>
          <p:cNvPr id="5" name="Content Placeholder 4"/>
          <p:cNvSpPr>
            <a:spLocks noGrp="1"/>
          </p:cNvSpPr>
          <p:nvPr>
            <p:ph sz="quarter" idx="1"/>
          </p:nvPr>
        </p:nvSpPr>
        <p:spPr/>
        <p:txBody>
          <a:bodyPr>
            <a:normAutofit fontScale="92500" lnSpcReduction="10000"/>
          </a:bodyPr>
          <a:lstStyle/>
          <a:p>
            <a:r>
              <a:rPr lang="en-GB" sz="2800" dirty="0" smtClean="0"/>
              <a:t>The ATAR: </a:t>
            </a:r>
          </a:p>
          <a:p>
            <a:pPr lvl="1"/>
            <a:r>
              <a:rPr lang="en-GB" sz="2800" dirty="0" smtClean="0"/>
              <a:t>Is not a score out of 100 it is reported as a rank between 0.00 and 99.95</a:t>
            </a:r>
          </a:p>
          <a:p>
            <a:pPr lvl="1"/>
            <a:r>
              <a:rPr lang="en-GB" sz="2800" dirty="0" smtClean="0"/>
              <a:t>Allows</a:t>
            </a:r>
            <a:r>
              <a:rPr lang="en-AU" sz="2800" dirty="0" smtClean="0"/>
              <a:t> tertiary institutions to compare students who have completed different combinations of VCE studies. </a:t>
            </a:r>
          </a:p>
          <a:p>
            <a:pPr lvl="1"/>
            <a:r>
              <a:rPr lang="en-AU" sz="2800" dirty="0" smtClean="0"/>
              <a:t>Is calculated by VTAC solely for use by institutions.</a:t>
            </a:r>
          </a:p>
          <a:p>
            <a:pPr lvl="1">
              <a:buNone/>
            </a:pPr>
            <a:endParaRPr lang="en-AU" sz="2800" dirty="0" smtClean="0"/>
          </a:p>
          <a:p>
            <a:r>
              <a:rPr lang="en-AU" sz="2800" dirty="0" smtClean="0"/>
              <a:t>An ATAR of 75.00 means that a student with that ATAR has achieved VCE results that places them in the top 25% of the Year 12 age group.</a:t>
            </a:r>
            <a:br>
              <a:rPr lang="en-AU" sz="2800" dirty="0" smtClean="0"/>
            </a:br>
            <a:endParaRPr lang="en-GB" sz="2800" dirty="0" smtClean="0"/>
          </a:p>
          <a:p>
            <a:endParaRPr lang="en-AU"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How the ATAR is calculated</a:t>
            </a:r>
            <a:endParaRPr lang="en-AU" dirty="0"/>
          </a:p>
        </p:txBody>
      </p:sp>
      <p:pic>
        <p:nvPicPr>
          <p:cNvPr id="4" name="Picture 2"/>
          <p:cNvPicPr>
            <a:picLocks noChangeAspect="1" noChangeArrowheads="1"/>
          </p:cNvPicPr>
          <p:nvPr/>
        </p:nvPicPr>
        <p:blipFill>
          <a:blip r:embed="rId3" cstate="print"/>
          <a:srcRect l="9816" t="30633" r="9860" b="11044"/>
          <a:stretch>
            <a:fillRect/>
          </a:stretch>
        </p:blipFill>
        <p:spPr bwMode="auto">
          <a:xfrm>
            <a:off x="179512" y="1617696"/>
            <a:ext cx="8820472" cy="5123672"/>
          </a:xfrm>
          <a:prstGeom prst="rect">
            <a:avLst/>
          </a:prstGeom>
          <a:noFill/>
          <a:ln w="9525">
            <a:noFill/>
            <a:miter lim="800000"/>
            <a:headEnd/>
            <a:tailEnd/>
          </a:ln>
        </p:spPr>
      </p:pic>
      <p:cxnSp>
        <p:nvCxnSpPr>
          <p:cNvPr id="6" name="Straight Connector 5"/>
          <p:cNvCxnSpPr/>
          <p:nvPr/>
        </p:nvCxnSpPr>
        <p:spPr>
          <a:xfrm>
            <a:off x="179512" y="4725144"/>
            <a:ext cx="8964488"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79512" y="5661248"/>
            <a:ext cx="8964488"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p:cNvPicPr>
            <a:picLocks noChangeAspect="1" noChangeArrowheads="1"/>
          </p:cNvPicPr>
          <p:nvPr/>
        </p:nvPicPr>
        <p:blipFill>
          <a:blip r:embed="rId3" cstate="print"/>
          <a:srcRect l="11019" t="18993" r="8066" b="21946"/>
          <a:stretch>
            <a:fillRect/>
          </a:stretch>
        </p:blipFill>
        <p:spPr bwMode="auto">
          <a:xfrm>
            <a:off x="0" y="1529984"/>
            <a:ext cx="9124227" cy="5328016"/>
          </a:xfrm>
          <a:prstGeom prst="rect">
            <a:avLst/>
          </a:prstGeom>
          <a:noFill/>
          <a:ln w="9525">
            <a:noFill/>
            <a:miter lim="800000"/>
            <a:headEnd/>
            <a:tailEnd/>
          </a:ln>
        </p:spPr>
      </p:pic>
      <p:cxnSp>
        <p:nvCxnSpPr>
          <p:cNvPr id="3" name="Straight Connector 2"/>
          <p:cNvCxnSpPr/>
          <p:nvPr/>
        </p:nvCxnSpPr>
        <p:spPr>
          <a:xfrm>
            <a:off x="0" y="5013176"/>
            <a:ext cx="9144000"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nvCxnSpPr>
        <p:spPr>
          <a:xfrm>
            <a:off x="0" y="5949280"/>
            <a:ext cx="9144000"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sp>
        <p:nvSpPr>
          <p:cNvPr id="7" name="Title 6"/>
          <p:cNvSpPr>
            <a:spLocks noGrp="1"/>
          </p:cNvSpPr>
          <p:nvPr>
            <p:ph type="title"/>
          </p:nvPr>
        </p:nvSpPr>
        <p:spPr/>
        <p:txBody>
          <a:bodyPr/>
          <a:lstStyle/>
          <a:p>
            <a:r>
              <a:rPr lang="en-AU" dirty="0" smtClean="0"/>
              <a:t>The ATAR continued…</a:t>
            </a:r>
            <a:endParaRPr lang="en-AU"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ATAR continued…</a:t>
            </a:r>
            <a:endParaRPr lang="en-AU" dirty="0"/>
          </a:p>
        </p:txBody>
      </p:sp>
      <p:sp>
        <p:nvSpPr>
          <p:cNvPr id="3" name="Content Placeholder 2"/>
          <p:cNvSpPr>
            <a:spLocks noGrp="1"/>
          </p:cNvSpPr>
          <p:nvPr>
            <p:ph sz="quarter" idx="1"/>
          </p:nvPr>
        </p:nvSpPr>
        <p:spPr/>
        <p:txBody>
          <a:bodyPr/>
          <a:lstStyle/>
          <a:p>
            <a:r>
              <a:rPr lang="en-AU" sz="2400" b="1" dirty="0" smtClean="0"/>
              <a:t>To qualify for an ATAR a student must: </a:t>
            </a:r>
          </a:p>
          <a:p>
            <a:pPr lvl="1"/>
            <a:r>
              <a:rPr lang="en-AU" sz="2000" dirty="0" smtClean="0"/>
              <a:t>qualify for the VCE</a:t>
            </a:r>
          </a:p>
          <a:p>
            <a:pPr lvl="1"/>
            <a:r>
              <a:rPr lang="en-AU" sz="2000" dirty="0" smtClean="0"/>
              <a:t>achieve study scores in at least four permissible Unit 3 and 4 VCE studies, including one from the English group</a:t>
            </a:r>
            <a:endParaRPr lang="en-GB" sz="2000" b="1" dirty="0" smtClean="0"/>
          </a:p>
          <a:p>
            <a:r>
              <a:rPr lang="en-GB" sz="2400" b="1" dirty="0" smtClean="0"/>
              <a:t>When is the ATAR available to schools? </a:t>
            </a:r>
          </a:p>
          <a:p>
            <a:pPr lvl="1"/>
            <a:r>
              <a:rPr lang="en-GB" sz="2000" dirty="0" smtClean="0"/>
              <a:t>Careers teachers will have access to the ATARs from 4pm Sunday 16 December 2012</a:t>
            </a:r>
            <a:endParaRPr lang="en-AU" sz="2000" dirty="0" smtClean="0"/>
          </a:p>
          <a:p>
            <a:r>
              <a:rPr lang="en-AU" sz="2400" dirty="0" smtClean="0"/>
              <a:t>ATAR statements will be delivered to VTAC applicants (who have paid) from Tuesday 18 December. </a:t>
            </a:r>
          </a:p>
          <a:p>
            <a:endParaRPr lang="en-AU"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ATAR released to secondary students </a:t>
            </a:r>
            <a:endParaRPr lang="en-AU" dirty="0"/>
          </a:p>
        </p:txBody>
      </p:sp>
      <p:sp>
        <p:nvSpPr>
          <p:cNvPr id="3" name="Content Placeholder 2"/>
          <p:cNvSpPr>
            <a:spLocks noGrp="1"/>
          </p:cNvSpPr>
          <p:nvPr>
            <p:ph sz="quarter" idx="1"/>
          </p:nvPr>
        </p:nvSpPr>
        <p:spPr/>
        <p:txBody>
          <a:bodyPr/>
          <a:lstStyle/>
          <a:p>
            <a:r>
              <a:rPr lang="en-AU" dirty="0" smtClean="0"/>
              <a:t>The ATAR will be released to all eligible VCE students on Monday 17 December 2012 from 7am. </a:t>
            </a:r>
          </a:p>
          <a:p>
            <a:r>
              <a:rPr lang="en-AU" dirty="0" smtClean="0"/>
              <a:t>All students who are eligible to receive an ATAR, irrespective of whether or not they have applied, can access their ATAR online or via SMS. </a:t>
            </a:r>
          </a:p>
          <a:p>
            <a:r>
              <a:rPr lang="en-AU" dirty="0" smtClean="0"/>
              <a:t>Two ways to access the ATAR on that day: </a:t>
            </a:r>
          </a:p>
          <a:p>
            <a:pPr lvl="1"/>
            <a:r>
              <a:rPr lang="en-AU" dirty="0" smtClean="0"/>
              <a:t>Internet at resultsandatar.vic.edu.au</a:t>
            </a:r>
          </a:p>
          <a:p>
            <a:pPr lvl="1"/>
            <a:r>
              <a:rPr lang="en-AU" dirty="0" smtClean="0"/>
              <a:t>SMS – must preregister for instructions go to www.vtac.edu.au/sms</a:t>
            </a:r>
            <a:endParaRPr lang="en-AU"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ATAR release to schools and privacy </a:t>
            </a:r>
            <a:endParaRPr lang="en-AU" dirty="0"/>
          </a:p>
        </p:txBody>
      </p:sp>
      <p:sp>
        <p:nvSpPr>
          <p:cNvPr id="3" name="Content Placeholder 2"/>
          <p:cNvSpPr>
            <a:spLocks noGrp="1"/>
          </p:cNvSpPr>
          <p:nvPr>
            <p:ph sz="quarter" idx="1"/>
          </p:nvPr>
        </p:nvSpPr>
        <p:spPr/>
        <p:txBody>
          <a:bodyPr>
            <a:normAutofit/>
          </a:bodyPr>
          <a:lstStyle/>
          <a:p>
            <a:r>
              <a:rPr lang="en-AU" dirty="0" smtClean="0"/>
              <a:t>Careers teachers access the ATARs (privacy applies) from 4pm Sunday 16 December 2012. </a:t>
            </a:r>
          </a:p>
          <a:p>
            <a:pPr lvl="1"/>
            <a:r>
              <a:rPr lang="en-AU" dirty="0" smtClean="0"/>
              <a:t>This is provided to schools for the purpose of counselling students – strict rules apply. </a:t>
            </a:r>
          </a:p>
          <a:p>
            <a:pPr lvl="1"/>
            <a:r>
              <a:rPr lang="en-AU" dirty="0" smtClean="0"/>
              <a:t>All data is owned by the student not the school so unless a school has the permission of each individual student lists in staff rooms; discussions with class teachers etc are not permitted. </a:t>
            </a:r>
          </a:p>
          <a:p>
            <a:endParaRPr lang="en-AU" dirty="0" smtClean="0"/>
          </a:p>
          <a:p>
            <a:endParaRPr lang="en-AU"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2800" dirty="0" smtClean="0"/>
              <a:t>	</a:t>
            </a:r>
            <a:r>
              <a:rPr lang="en-AU" sz="3600" dirty="0" smtClean="0"/>
              <a:t>     CourseLink ATAR release screen</a:t>
            </a:r>
            <a:endParaRPr lang="en-AU" sz="3600" dirty="0"/>
          </a:p>
        </p:txBody>
      </p:sp>
      <p:pic>
        <p:nvPicPr>
          <p:cNvPr id="5122" name="Picture 2"/>
          <p:cNvPicPr>
            <a:picLocks noChangeAspect="1" noChangeArrowheads="1"/>
          </p:cNvPicPr>
          <p:nvPr/>
        </p:nvPicPr>
        <p:blipFill>
          <a:blip r:embed="rId3" cstate="print"/>
          <a:srcRect t="19601" r="11407" b="44584"/>
          <a:stretch>
            <a:fillRect/>
          </a:stretch>
        </p:blipFill>
        <p:spPr bwMode="auto">
          <a:xfrm>
            <a:off x="611560" y="3645024"/>
            <a:ext cx="8172400" cy="2643089"/>
          </a:xfrm>
          <a:prstGeom prst="rect">
            <a:avLst/>
          </a:prstGeom>
          <a:ln>
            <a:noFill/>
          </a:ln>
          <a:effectLst>
            <a:outerShdw blurRad="292100" dist="139700" dir="2700000" algn="tl" rotWithShape="0">
              <a:srgbClr val="333333">
                <a:alpha val="65000"/>
              </a:srgbClr>
            </a:outerShdw>
          </a:effectLst>
        </p:spPr>
      </p:pic>
      <p:sp>
        <p:nvSpPr>
          <p:cNvPr id="8" name="TextBox 7"/>
          <p:cNvSpPr txBox="1"/>
          <p:nvPr/>
        </p:nvSpPr>
        <p:spPr>
          <a:xfrm>
            <a:off x="251520" y="1556792"/>
            <a:ext cx="8712968" cy="2031325"/>
          </a:xfrm>
          <a:prstGeom prst="rect">
            <a:avLst/>
          </a:prstGeom>
          <a:noFill/>
        </p:spPr>
        <p:txBody>
          <a:bodyPr wrap="square" rtlCol="0">
            <a:spAutoFit/>
          </a:bodyPr>
          <a:lstStyle/>
          <a:p>
            <a:r>
              <a:rPr lang="en-AU" dirty="0" smtClean="0"/>
              <a:t>From this screen you can sort by Surname, Enrolment type, Optional field (i.e. house), ATAR (highest to lowest); application status, paid status. </a:t>
            </a:r>
          </a:p>
          <a:p>
            <a:endParaRPr lang="en-AU" dirty="0" smtClean="0"/>
          </a:p>
          <a:p>
            <a:r>
              <a:rPr lang="en-AU" dirty="0" smtClean="0"/>
              <a:t>You can also click on the name and go directly to the individual’s file. </a:t>
            </a:r>
          </a:p>
          <a:p>
            <a:endParaRPr lang="en-AU" dirty="0" smtClean="0">
              <a:solidFill>
                <a:srgbClr val="0070C0"/>
              </a:solidFill>
            </a:endParaRPr>
          </a:p>
          <a:p>
            <a:r>
              <a:rPr lang="en-AU" dirty="0" smtClean="0">
                <a:solidFill>
                  <a:srgbClr val="0070C0"/>
                </a:solidFill>
              </a:rPr>
              <a:t>Click here to download </a:t>
            </a:r>
            <a:r>
              <a:rPr lang="en-AU" dirty="0" smtClean="0"/>
              <a:t>allows you to produce a CSV (excel) file which allows you to filter the information. </a:t>
            </a:r>
            <a:endParaRPr lang="en-AU" dirty="0"/>
          </a:p>
        </p:txBody>
      </p:sp>
      <p:sp>
        <p:nvSpPr>
          <p:cNvPr id="9" name="TextBox 8"/>
          <p:cNvSpPr txBox="1"/>
          <p:nvPr/>
        </p:nvSpPr>
        <p:spPr>
          <a:xfrm>
            <a:off x="6228184" y="4653136"/>
            <a:ext cx="288032" cy="1754326"/>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endParaRPr lang="en-AU" dirty="0" smtClean="0"/>
          </a:p>
          <a:p>
            <a:endParaRPr lang="en-AU" dirty="0" smtClean="0"/>
          </a:p>
          <a:p>
            <a:endParaRPr lang="en-AU" dirty="0" smtClean="0"/>
          </a:p>
          <a:p>
            <a:endParaRPr lang="en-AU" dirty="0" smtClean="0"/>
          </a:p>
          <a:p>
            <a:endParaRPr lang="en-AU" dirty="0" smtClean="0"/>
          </a:p>
          <a:p>
            <a:endParaRPr lang="en-AU"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ATAR release to schools </a:t>
            </a:r>
            <a:endParaRPr lang="en-AU" dirty="0"/>
          </a:p>
        </p:txBody>
      </p:sp>
      <p:sp>
        <p:nvSpPr>
          <p:cNvPr id="3" name="Content Placeholder 2"/>
          <p:cNvSpPr>
            <a:spLocks noGrp="1"/>
          </p:cNvSpPr>
          <p:nvPr>
            <p:ph sz="quarter" idx="1"/>
          </p:nvPr>
        </p:nvSpPr>
        <p:spPr/>
        <p:txBody>
          <a:bodyPr/>
          <a:lstStyle/>
          <a:p>
            <a:pPr lvl="0"/>
            <a:r>
              <a:rPr lang="en-AU" sz="3200" dirty="0" smtClean="0"/>
              <a:t>No use may be made of the ATAR file, before 10.00am on </a:t>
            </a:r>
            <a:r>
              <a:rPr lang="en-AU" sz="3200" b="1" dirty="0" smtClean="0"/>
              <a:t>Monday 17 December 2012</a:t>
            </a:r>
            <a:r>
              <a:rPr lang="en-AU" sz="3200" dirty="0" smtClean="0"/>
              <a:t>, by which time students will have had sufficient opportunity to ascertain their ATAR.  </a:t>
            </a:r>
          </a:p>
          <a:p>
            <a:endParaRPr lang="en-AU"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AU" dirty="0" smtClean="0"/>
              <a:t>Case studies: </a:t>
            </a:r>
            <a:br>
              <a:rPr lang="en-AU" dirty="0" smtClean="0"/>
            </a:br>
            <a:r>
              <a:rPr lang="en-AU" dirty="0" smtClean="0"/>
              <a:t>Scaling and The ATAR </a:t>
            </a:r>
            <a:endParaRPr lang="en-AU" dirty="0"/>
          </a:p>
        </p:txBody>
      </p:sp>
      <p:sp>
        <p:nvSpPr>
          <p:cNvPr id="6" name="Content Placeholder 5"/>
          <p:cNvSpPr>
            <a:spLocks noGrp="1"/>
          </p:cNvSpPr>
          <p:nvPr>
            <p:ph sz="quarter" idx="2"/>
          </p:nvPr>
        </p:nvSpPr>
        <p:spPr>
          <a:xfrm>
            <a:off x="179512" y="2420888"/>
            <a:ext cx="4316288" cy="4320480"/>
          </a:xfrm>
        </p:spPr>
        <p:txBody>
          <a:bodyPr>
            <a:normAutofit fontScale="92500" lnSpcReduction="20000"/>
          </a:bodyPr>
          <a:lstStyle/>
          <a:p>
            <a:r>
              <a:rPr lang="en-AU" sz="2400" dirty="0" smtClean="0"/>
              <a:t>A student comes to you and tells you they have not received an ATAR. You know the student has passed the VCE and all has study scores for: </a:t>
            </a:r>
          </a:p>
          <a:p>
            <a:r>
              <a:rPr lang="en-AU" sz="2400" dirty="0" smtClean="0"/>
              <a:t>English, mathematical methods, specialist mathematics, further mathematics. They have not successfully completed economics. </a:t>
            </a:r>
          </a:p>
          <a:p>
            <a:pPr lvl="1"/>
            <a:r>
              <a:rPr lang="en-AU" sz="2100" dirty="0" smtClean="0"/>
              <a:t>Why didn’t they get an ATAR? Is it a mistake? </a:t>
            </a:r>
          </a:p>
          <a:p>
            <a:pPr lvl="1"/>
            <a:r>
              <a:rPr lang="en-AU" sz="2100" dirty="0" smtClean="0"/>
              <a:t>What advice should you give the student in terms of applying for courses? </a:t>
            </a:r>
          </a:p>
        </p:txBody>
      </p:sp>
      <p:sp>
        <p:nvSpPr>
          <p:cNvPr id="8" name="Content Placeholder 7"/>
          <p:cNvSpPr>
            <a:spLocks noGrp="1"/>
          </p:cNvSpPr>
          <p:nvPr>
            <p:ph sz="quarter" idx="4"/>
          </p:nvPr>
        </p:nvSpPr>
        <p:spPr>
          <a:xfrm>
            <a:off x="4800600" y="2276872"/>
            <a:ext cx="4163888" cy="4320480"/>
          </a:xfrm>
        </p:spPr>
        <p:txBody>
          <a:bodyPr>
            <a:normAutofit/>
          </a:bodyPr>
          <a:lstStyle/>
          <a:p>
            <a:r>
              <a:rPr lang="en-AU" sz="2000" dirty="0" smtClean="0"/>
              <a:t>A student has successfully completed three VCE VET studies, two of which are scored and one is unscored. </a:t>
            </a:r>
            <a:br>
              <a:rPr lang="en-AU" sz="2000" dirty="0" smtClean="0"/>
            </a:br>
            <a:r>
              <a:rPr lang="en-AU" sz="2000" dirty="0" smtClean="0"/>
              <a:t>The student has also successfully completed English and further mathematics. </a:t>
            </a:r>
          </a:p>
          <a:p>
            <a:pPr lvl="1"/>
            <a:r>
              <a:rPr lang="en-AU" sz="2000" dirty="0" smtClean="0"/>
              <a:t>Will they be eligible for an ATAR? </a:t>
            </a:r>
          </a:p>
          <a:p>
            <a:pPr lvl="1"/>
            <a:r>
              <a:rPr lang="en-AU" sz="2000" dirty="0" smtClean="0"/>
              <a:t>What studies will be included in the ATAR? </a:t>
            </a:r>
          </a:p>
          <a:p>
            <a:pPr lvl="1"/>
            <a:r>
              <a:rPr lang="en-AU" sz="2000" dirty="0" smtClean="0"/>
              <a:t>How will the unscored VET be treated?  </a:t>
            </a:r>
          </a:p>
        </p:txBody>
      </p:sp>
      <p:sp>
        <p:nvSpPr>
          <p:cNvPr id="5" name="Text Placeholder 4"/>
          <p:cNvSpPr>
            <a:spLocks noGrp="1"/>
          </p:cNvSpPr>
          <p:nvPr>
            <p:ph type="body" sz="quarter" idx="1"/>
          </p:nvPr>
        </p:nvSpPr>
        <p:spPr>
          <a:xfrm>
            <a:off x="179512" y="1628800"/>
            <a:ext cx="4318248" cy="772171"/>
          </a:xfrm>
        </p:spPr>
        <p:txBody>
          <a:bodyPr>
            <a:noAutofit/>
          </a:bodyPr>
          <a:lstStyle/>
          <a:p>
            <a:r>
              <a:rPr lang="en-AU" sz="2000" dirty="0" smtClean="0"/>
              <a:t>Case study 7:</a:t>
            </a:r>
          </a:p>
          <a:p>
            <a:r>
              <a:rPr lang="en-AU" sz="2000" dirty="0" smtClean="0"/>
              <a:t> </a:t>
            </a:r>
            <a:endParaRPr lang="en-AU" sz="2000" dirty="0"/>
          </a:p>
        </p:txBody>
      </p:sp>
      <p:sp>
        <p:nvSpPr>
          <p:cNvPr id="7" name="Text Placeholder 6"/>
          <p:cNvSpPr>
            <a:spLocks noGrp="1"/>
          </p:cNvSpPr>
          <p:nvPr>
            <p:ph type="body" sz="quarter" idx="3"/>
          </p:nvPr>
        </p:nvSpPr>
        <p:spPr>
          <a:xfrm>
            <a:off x="4800600" y="1527923"/>
            <a:ext cx="4163888" cy="772171"/>
          </a:xfrm>
        </p:spPr>
        <p:txBody>
          <a:bodyPr>
            <a:noAutofit/>
          </a:bodyPr>
          <a:lstStyle/>
          <a:p>
            <a:r>
              <a:rPr lang="en-AU" sz="2000" dirty="0" smtClean="0"/>
              <a:t>Case study 8: </a:t>
            </a:r>
            <a:br>
              <a:rPr lang="en-AU" sz="2000" dirty="0" smtClean="0"/>
            </a:br>
            <a:r>
              <a:rPr lang="en-AU" sz="2000" dirty="0" smtClean="0"/>
              <a:t>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solidFill>
                  <a:schemeClr val="accent4">
                    <a:lumMod val="50000"/>
                  </a:schemeClr>
                </a:solidFill>
              </a:rPr>
              <a:t>Victorian International Baccalaureate</a:t>
            </a:r>
            <a:endParaRPr lang="en-AU" dirty="0">
              <a:solidFill>
                <a:schemeClr val="accent4">
                  <a:lumMod val="50000"/>
                </a:schemeClr>
              </a:solidFill>
            </a:endParaRPr>
          </a:p>
        </p:txBody>
      </p:sp>
      <p:sp>
        <p:nvSpPr>
          <p:cNvPr id="7" name="Content Placeholder 6"/>
          <p:cNvSpPr>
            <a:spLocks noGrp="1"/>
          </p:cNvSpPr>
          <p:nvPr>
            <p:ph sz="quarter" idx="1"/>
          </p:nvPr>
        </p:nvSpPr>
        <p:spPr/>
        <p:txBody>
          <a:bodyPr>
            <a:normAutofit/>
          </a:bodyPr>
          <a:lstStyle/>
          <a:p>
            <a:r>
              <a:rPr lang="en-GB" sz="3200" dirty="0" smtClean="0"/>
              <a:t>If your school has submitted the results release form to Cardiff then the IB results will be released to your school in early January. </a:t>
            </a:r>
          </a:p>
          <a:p>
            <a:r>
              <a:rPr lang="en-GB" sz="3200" dirty="0" smtClean="0"/>
              <a:t>Students can obtain their results from their IB co-ordinator in early January. </a:t>
            </a:r>
          </a:p>
          <a:p>
            <a:r>
              <a:rPr lang="en-GB" sz="3200" dirty="0" smtClean="0"/>
              <a:t>If an Victorian IB student sits the GAT and have applied for courses they will be eligible to receive a notional ATAR and statement. </a:t>
            </a:r>
          </a:p>
          <a:p>
            <a:endParaRPr lang="en-AU"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3600" dirty="0" smtClean="0"/>
              <a:t>Other ways to access an ATAR statement</a:t>
            </a:r>
            <a:endParaRPr lang="en-AU" sz="3600" dirty="0"/>
          </a:p>
        </p:txBody>
      </p:sp>
      <p:sp>
        <p:nvSpPr>
          <p:cNvPr id="3" name="Content Placeholder 2"/>
          <p:cNvSpPr>
            <a:spLocks noGrp="1"/>
          </p:cNvSpPr>
          <p:nvPr>
            <p:ph sz="quarter" idx="1"/>
          </p:nvPr>
        </p:nvSpPr>
        <p:spPr/>
        <p:txBody>
          <a:bodyPr>
            <a:normAutofit fontScale="85000" lnSpcReduction="20000"/>
          </a:bodyPr>
          <a:lstStyle/>
          <a:p>
            <a:pPr>
              <a:buNone/>
            </a:pPr>
            <a:r>
              <a:rPr lang="en-GB" sz="3000" b="1" dirty="0" smtClean="0"/>
              <a:t>VCE students at an International campus</a:t>
            </a:r>
          </a:p>
          <a:p>
            <a:r>
              <a:rPr lang="en-AU" dirty="0" smtClean="0"/>
              <a:t>To produce ATAR statements for Overseas students studying the VCE in countries other than Australia</a:t>
            </a:r>
          </a:p>
          <a:p>
            <a:pPr lvl="1"/>
            <a:r>
              <a:rPr lang="en-AU" dirty="0" smtClean="0"/>
              <a:t>A charge of $15.00 per statement plus a $12.00 P&amp;H fee for delivery to the Aust school. </a:t>
            </a:r>
          </a:p>
          <a:p>
            <a:pPr lvl="1"/>
            <a:r>
              <a:rPr lang="en-AU" dirty="0" smtClean="0"/>
              <a:t>VTAC contacts all schools in September and schools subscribe by sending the following details to VTAC</a:t>
            </a:r>
          </a:p>
          <a:p>
            <a:pPr lvl="2"/>
            <a:r>
              <a:rPr lang="en-AU" dirty="0" smtClean="0"/>
              <a:t>VCAA ID</a:t>
            </a:r>
          </a:p>
          <a:p>
            <a:pPr lvl="2"/>
            <a:r>
              <a:rPr lang="en-AU" dirty="0" smtClean="0"/>
              <a:t>Student names</a:t>
            </a:r>
          </a:p>
          <a:p>
            <a:pPr lvl="2"/>
            <a:r>
              <a:rPr lang="en-AU" dirty="0" smtClean="0"/>
              <a:t>School address both Aust and international</a:t>
            </a:r>
          </a:p>
          <a:p>
            <a:pPr lvl="1"/>
            <a:r>
              <a:rPr lang="en-AU" dirty="0" smtClean="0"/>
              <a:t>Deadline for 2012 is Friday 26 October 2012. </a:t>
            </a:r>
          </a:p>
          <a:p>
            <a:pPr lvl="1"/>
            <a:r>
              <a:rPr lang="en-AU" dirty="0" smtClean="0"/>
              <a:t>Submissions after this time will incur an administrative fee of $1,000. </a:t>
            </a:r>
          </a:p>
          <a:p>
            <a:endParaRPr lang="en-GB" sz="2000" b="1" dirty="0" smtClean="0"/>
          </a:p>
          <a:p>
            <a:pPr>
              <a:buNone/>
            </a:pPr>
            <a:endParaRPr lang="en-GB" sz="2000" b="1" dirty="0" smtClean="0"/>
          </a:p>
          <a:p>
            <a:pPr>
              <a:buNone/>
            </a:pPr>
            <a:endParaRPr lang="en-GB" sz="2000" b="1" dirty="0" smtClean="0"/>
          </a:p>
          <a:p>
            <a:pPr>
              <a:buNone/>
            </a:pPr>
            <a:endParaRPr lang="en-GB" sz="2000" b="1" dirty="0" smtClean="0"/>
          </a:p>
          <a:p>
            <a:endParaRPr lang="en-AU"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700" b="1" dirty="0" smtClean="0"/>
              <a:t>Domestic VCE students who don’t apply through VTAC </a:t>
            </a:r>
            <a:br>
              <a:rPr lang="en-GB" sz="2700" b="1" dirty="0" smtClean="0"/>
            </a:br>
            <a:r>
              <a:rPr lang="en-GB" sz="2700" b="1" dirty="0" smtClean="0"/>
              <a:t>Previous VCE students who have lost their statement </a:t>
            </a:r>
            <a:endParaRPr lang="en-AU" dirty="0"/>
          </a:p>
        </p:txBody>
      </p:sp>
      <p:sp>
        <p:nvSpPr>
          <p:cNvPr id="3" name="Content Placeholder 2"/>
          <p:cNvSpPr>
            <a:spLocks noGrp="1"/>
          </p:cNvSpPr>
          <p:nvPr>
            <p:ph sz="quarter" idx="1"/>
          </p:nvPr>
        </p:nvSpPr>
        <p:spPr/>
        <p:txBody>
          <a:bodyPr/>
          <a:lstStyle/>
          <a:p>
            <a:r>
              <a:rPr lang="en-GB" sz="2300" dirty="0" smtClean="0"/>
              <a:t>Download and complete the Request for VTAC documentation form from the VTAC website (</a:t>
            </a:r>
            <a:r>
              <a:rPr lang="en-GB" sz="2300" i="1" dirty="0" smtClean="0"/>
              <a:t>www.vtac.edu.au</a:t>
            </a:r>
            <a:r>
              <a:rPr lang="en-GB" sz="2300" dirty="0" smtClean="0"/>
              <a:t>)</a:t>
            </a:r>
          </a:p>
          <a:p>
            <a:pPr lvl="1"/>
            <a:r>
              <a:rPr lang="en-GB" sz="2000" dirty="0" smtClean="0"/>
              <a:t>an administration fee applies </a:t>
            </a:r>
            <a:endParaRPr lang="en-AU" sz="2000" dirty="0" smtClean="0"/>
          </a:p>
          <a:p>
            <a:pPr lvl="1"/>
            <a:r>
              <a:rPr lang="en-AU" sz="2000" dirty="0" smtClean="0"/>
              <a:t>Include </a:t>
            </a:r>
            <a:r>
              <a:rPr lang="en-GB" sz="2000" dirty="0" smtClean="0"/>
              <a:t>a copy of photo identification which includes their signature. Fax and address details are included on the form. </a:t>
            </a:r>
            <a:endParaRPr lang="en-AU" sz="2000" dirty="0" smtClean="0"/>
          </a:p>
          <a:p>
            <a:endParaRPr lang="en-AU"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b="1" dirty="0" smtClean="0"/>
              <a:t>Three things you now know about:</a:t>
            </a:r>
            <a:r>
              <a:rPr lang="en-AU" dirty="0" smtClean="0"/>
              <a:t/>
            </a:r>
            <a:br>
              <a:rPr lang="en-AU" dirty="0" smtClean="0"/>
            </a:br>
            <a:r>
              <a:rPr lang="en-AU" sz="4000" dirty="0" smtClean="0"/>
              <a:t>the ATAR, scaling and ATAR statements</a:t>
            </a:r>
            <a:endParaRPr lang="en-AU" dirty="0"/>
          </a:p>
        </p:txBody>
      </p:sp>
      <p:graphicFrame>
        <p:nvGraphicFramePr>
          <p:cNvPr id="4" name="Content Placeholder 3"/>
          <p:cNvGraphicFramePr>
            <a:graphicFrameLocks/>
          </p:cNvGraphicFramePr>
          <p:nvPr/>
        </p:nvGraphicFramePr>
        <p:xfrm>
          <a:off x="457200" y="1600200"/>
          <a:ext cx="8229600" cy="4389120"/>
        </p:xfrm>
        <a:graphic>
          <a:graphicData uri="http://schemas.openxmlformats.org/drawingml/2006/table">
            <a:tbl>
              <a:tblPr firstRow="1" bandRow="1">
                <a:tableStyleId>{D7AC3CCA-C797-4891-BE02-D94E43425B78}</a:tableStyleId>
              </a:tblPr>
              <a:tblGrid>
                <a:gridCol w="442392"/>
                <a:gridCol w="7787208"/>
              </a:tblGrid>
              <a:tr h="370840">
                <a:tc>
                  <a:txBody>
                    <a:bodyPr/>
                    <a:lstStyle/>
                    <a:p>
                      <a:pPr algn="l"/>
                      <a:endParaRPr lang="en-AU" b="1" dirty="0" smtClean="0"/>
                    </a:p>
                    <a:p>
                      <a:pPr algn="l"/>
                      <a:endParaRPr lang="en-AU" b="1" dirty="0" smtClean="0"/>
                    </a:p>
                    <a:p>
                      <a:pPr algn="l"/>
                      <a:endParaRPr lang="en-AU" b="1" dirty="0" smtClean="0"/>
                    </a:p>
                    <a:p>
                      <a:pPr algn="l"/>
                      <a:r>
                        <a:rPr lang="en-AU" b="1" dirty="0" smtClean="0"/>
                        <a:t>10</a:t>
                      </a:r>
                    </a:p>
                    <a:p>
                      <a:pPr algn="l"/>
                      <a:endParaRPr lang="en-AU" b="1" dirty="0" smtClean="0"/>
                    </a:p>
                  </a:txBody>
                  <a:tcPr/>
                </a:tc>
                <a:tc>
                  <a:txBody>
                    <a:bodyPr/>
                    <a:lstStyle/>
                    <a:p>
                      <a:endParaRPr lang="en-AU" dirty="0"/>
                    </a:p>
                  </a:txBody>
                  <a:tcPr/>
                </a:tc>
              </a:tr>
              <a:tr h="370840">
                <a:tc>
                  <a:txBody>
                    <a:bodyPr/>
                    <a:lstStyle/>
                    <a:p>
                      <a:pPr algn="l"/>
                      <a:endParaRPr lang="en-AU" b="1" dirty="0" smtClean="0"/>
                    </a:p>
                    <a:p>
                      <a:pPr algn="l"/>
                      <a:endParaRPr lang="en-AU" b="1" dirty="0" smtClean="0"/>
                    </a:p>
                    <a:p>
                      <a:pPr algn="l"/>
                      <a:r>
                        <a:rPr lang="en-AU" b="1" dirty="0" smtClean="0"/>
                        <a:t>11</a:t>
                      </a:r>
                    </a:p>
                    <a:p>
                      <a:pPr algn="l"/>
                      <a:endParaRPr lang="en-AU" b="1" dirty="0" smtClean="0"/>
                    </a:p>
                    <a:p>
                      <a:pPr algn="l"/>
                      <a:endParaRPr lang="en-AU" b="1" dirty="0" smtClean="0"/>
                    </a:p>
                  </a:txBody>
                  <a:tcPr/>
                </a:tc>
                <a:tc>
                  <a:txBody>
                    <a:bodyPr/>
                    <a:lstStyle/>
                    <a:p>
                      <a:endParaRPr lang="en-AU" dirty="0"/>
                    </a:p>
                  </a:txBody>
                  <a:tcPr/>
                </a:tc>
              </a:tr>
              <a:tr h="370840">
                <a:tc>
                  <a:txBody>
                    <a:bodyPr/>
                    <a:lstStyle/>
                    <a:p>
                      <a:pPr algn="l"/>
                      <a:endParaRPr lang="en-AU" b="1" dirty="0" smtClean="0"/>
                    </a:p>
                    <a:p>
                      <a:pPr algn="l"/>
                      <a:endParaRPr lang="en-AU" b="1" dirty="0" smtClean="0"/>
                    </a:p>
                    <a:p>
                      <a:pPr algn="l"/>
                      <a:r>
                        <a:rPr lang="en-AU" b="1" dirty="0" smtClean="0"/>
                        <a:t>12</a:t>
                      </a:r>
                    </a:p>
                    <a:p>
                      <a:pPr algn="l"/>
                      <a:endParaRPr lang="en-AU" b="1" dirty="0" smtClean="0"/>
                    </a:p>
                    <a:p>
                      <a:pPr algn="l"/>
                      <a:endParaRPr lang="en-AU" b="1" dirty="0"/>
                    </a:p>
                  </a:txBody>
                  <a:tcPr/>
                </a:tc>
                <a:tc>
                  <a:txBody>
                    <a:bodyPr/>
                    <a:lstStyle/>
                    <a:p>
                      <a:endParaRPr lang="en-AU" dirty="0"/>
                    </a:p>
                  </a:txBody>
                  <a:tcP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Change of preference </a:t>
            </a:r>
            <a:endParaRPr lang="en-AU" dirty="0"/>
          </a:p>
        </p:txBody>
      </p:sp>
      <p:sp>
        <p:nvSpPr>
          <p:cNvPr id="3" name="Content Placeholder 2"/>
          <p:cNvSpPr>
            <a:spLocks noGrp="1"/>
          </p:cNvSpPr>
          <p:nvPr>
            <p:ph sz="quarter" idx="1"/>
          </p:nvPr>
        </p:nvSpPr>
        <p:spPr/>
        <p:txBody>
          <a:bodyPr/>
          <a:lstStyle/>
          <a:p>
            <a:r>
              <a:rPr lang="en-AU" dirty="0" smtClean="0"/>
              <a:t>Change of preference opens on Monday 17 December 2012 at 11am. </a:t>
            </a:r>
          </a:p>
          <a:p>
            <a:r>
              <a:rPr lang="en-AU" dirty="0" smtClean="0"/>
              <a:t>All students are able to change their course preferences up until 12noon Monday 24 December 2012. </a:t>
            </a:r>
          </a:p>
          <a:p>
            <a:r>
              <a:rPr lang="en-AU" dirty="0" smtClean="0"/>
              <a:t>Institutional change of preference days, these are worth checking out (see December 2012 Bulletin). </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Golden rules of change of preference </a:t>
            </a:r>
            <a:endParaRPr lang="en-AU" dirty="0"/>
          </a:p>
        </p:txBody>
      </p:sp>
      <p:sp>
        <p:nvSpPr>
          <p:cNvPr id="3" name="Content Placeholder 2"/>
          <p:cNvSpPr>
            <a:spLocks noGrp="1"/>
          </p:cNvSpPr>
          <p:nvPr>
            <p:ph sz="quarter" idx="1"/>
          </p:nvPr>
        </p:nvSpPr>
        <p:spPr/>
        <p:txBody>
          <a:bodyPr/>
          <a:lstStyle/>
          <a:p>
            <a:r>
              <a:rPr lang="en-AU" dirty="0" smtClean="0"/>
              <a:t>Before changing preferences students should check: </a:t>
            </a:r>
          </a:p>
          <a:p>
            <a:pPr lvl="1"/>
            <a:r>
              <a:rPr lang="en-AU" dirty="0" smtClean="0"/>
              <a:t>Last year’s selection data – don’t panic if the ATAR is slightly lower, still put it down. Selection data fluctuates annually. </a:t>
            </a:r>
          </a:p>
          <a:p>
            <a:pPr lvl="1"/>
            <a:r>
              <a:rPr lang="en-AU" dirty="0" smtClean="0"/>
              <a:t>Extra requirements to make sure they are complete </a:t>
            </a:r>
          </a:p>
          <a:p>
            <a:pPr lvl="1"/>
            <a:r>
              <a:rPr lang="en-AU" dirty="0" smtClean="0"/>
              <a:t>Prerequisites </a:t>
            </a:r>
          </a:p>
          <a:p>
            <a:pPr lvl="1"/>
            <a:r>
              <a:rPr lang="en-AU" dirty="0" smtClean="0"/>
              <a:t>Check that a course you are moving or adding allows this at change of preference. </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AU" dirty="0" smtClean="0"/>
              <a:t>Case studies: Change of preference</a:t>
            </a:r>
            <a:endParaRPr lang="en-AU" dirty="0"/>
          </a:p>
        </p:txBody>
      </p:sp>
      <p:sp>
        <p:nvSpPr>
          <p:cNvPr id="6" name="Content Placeholder 5"/>
          <p:cNvSpPr>
            <a:spLocks noGrp="1"/>
          </p:cNvSpPr>
          <p:nvPr>
            <p:ph sz="quarter" idx="2"/>
          </p:nvPr>
        </p:nvSpPr>
        <p:spPr>
          <a:xfrm>
            <a:off x="179512" y="2276872"/>
            <a:ext cx="4316288" cy="4320480"/>
          </a:xfrm>
        </p:spPr>
        <p:txBody>
          <a:bodyPr>
            <a:normAutofit/>
          </a:bodyPr>
          <a:lstStyle/>
          <a:p>
            <a:r>
              <a:rPr lang="en-AU" sz="1800" dirty="0" smtClean="0"/>
              <a:t>A parent comes into your office with a handwritten list of preferences that they say that their son/daughter has requested they change. </a:t>
            </a:r>
          </a:p>
          <a:p>
            <a:pPr>
              <a:buNone/>
            </a:pPr>
            <a:r>
              <a:rPr lang="en-AU" sz="1800" dirty="0" smtClean="0"/>
              <a:t>	You know the student is overseas and the parent swears the student has given permission for the parent to change their preferences around. </a:t>
            </a:r>
          </a:p>
          <a:p>
            <a:pPr lvl="1"/>
            <a:r>
              <a:rPr lang="en-AU" sz="1800" dirty="0" smtClean="0"/>
              <a:t>What do you do? </a:t>
            </a:r>
          </a:p>
          <a:p>
            <a:pPr lvl="1"/>
            <a:r>
              <a:rPr lang="en-AU" sz="1800" dirty="0" smtClean="0"/>
              <a:t>What factors should you consider? </a:t>
            </a:r>
          </a:p>
          <a:p>
            <a:pPr lvl="1"/>
            <a:r>
              <a:rPr lang="en-AU" sz="1800" dirty="0" smtClean="0"/>
              <a:t>What risks, if any, are you putting yourself and school at? </a:t>
            </a:r>
            <a:endParaRPr lang="en-AU" sz="1800" dirty="0"/>
          </a:p>
        </p:txBody>
      </p:sp>
      <p:sp>
        <p:nvSpPr>
          <p:cNvPr id="8" name="Content Placeholder 7"/>
          <p:cNvSpPr>
            <a:spLocks noGrp="1"/>
          </p:cNvSpPr>
          <p:nvPr>
            <p:ph sz="quarter" idx="4"/>
          </p:nvPr>
        </p:nvSpPr>
        <p:spPr>
          <a:xfrm>
            <a:off x="4800600" y="2276872"/>
            <a:ext cx="4091880" cy="4320480"/>
          </a:xfrm>
        </p:spPr>
        <p:txBody>
          <a:bodyPr>
            <a:normAutofit/>
          </a:bodyPr>
          <a:lstStyle/>
          <a:p>
            <a:r>
              <a:rPr lang="en-AU" sz="2400" dirty="0" smtClean="0"/>
              <a:t>A student has approached you and has received an ATAR a deal higher than expected.</a:t>
            </a:r>
          </a:p>
          <a:p>
            <a:pPr lvl="1"/>
            <a:r>
              <a:rPr lang="en-AU" sz="2100" dirty="0" smtClean="0"/>
              <a:t>What advice do I give to the student?</a:t>
            </a:r>
          </a:p>
          <a:p>
            <a:pPr lvl="1"/>
            <a:r>
              <a:rPr lang="en-AU" sz="2100" dirty="0" smtClean="0"/>
              <a:t>Change all their preferences?</a:t>
            </a:r>
          </a:p>
          <a:p>
            <a:pPr lvl="1"/>
            <a:r>
              <a:rPr lang="en-AU" sz="2100" dirty="0" smtClean="0"/>
              <a:t>Leave it as is?</a:t>
            </a:r>
            <a:endParaRPr lang="en-AU" sz="2100" dirty="0"/>
          </a:p>
        </p:txBody>
      </p:sp>
      <p:sp>
        <p:nvSpPr>
          <p:cNvPr id="5" name="Text Placeholder 4"/>
          <p:cNvSpPr>
            <a:spLocks noGrp="1"/>
          </p:cNvSpPr>
          <p:nvPr>
            <p:ph type="body" sz="quarter" idx="1"/>
          </p:nvPr>
        </p:nvSpPr>
        <p:spPr>
          <a:xfrm>
            <a:off x="179512" y="1556792"/>
            <a:ext cx="4316288" cy="640080"/>
          </a:xfrm>
        </p:spPr>
        <p:txBody>
          <a:bodyPr/>
          <a:lstStyle/>
          <a:p>
            <a:r>
              <a:rPr lang="en-AU" dirty="0" smtClean="0"/>
              <a:t>Case study 9: </a:t>
            </a:r>
            <a:endParaRPr lang="en-AU" dirty="0"/>
          </a:p>
        </p:txBody>
      </p:sp>
      <p:sp>
        <p:nvSpPr>
          <p:cNvPr id="7" name="Text Placeholder 6"/>
          <p:cNvSpPr>
            <a:spLocks noGrp="1"/>
          </p:cNvSpPr>
          <p:nvPr>
            <p:ph type="body" sz="quarter" idx="3"/>
          </p:nvPr>
        </p:nvSpPr>
        <p:spPr>
          <a:xfrm>
            <a:off x="4800600" y="1556792"/>
            <a:ext cx="4091880" cy="640080"/>
          </a:xfrm>
        </p:spPr>
        <p:txBody>
          <a:bodyPr/>
          <a:lstStyle/>
          <a:p>
            <a:r>
              <a:rPr lang="en-AU" dirty="0" smtClean="0"/>
              <a:t>Case study 10:  </a:t>
            </a:r>
            <a:endParaRPr lang="en-AU"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16632"/>
            <a:ext cx="8280920" cy="1066800"/>
          </a:xfrm>
        </p:spPr>
        <p:txBody>
          <a:bodyPr>
            <a:normAutofit/>
          </a:bodyPr>
          <a:lstStyle/>
          <a:p>
            <a:r>
              <a:rPr lang="en-AU" dirty="0" smtClean="0"/>
              <a:t>How to read selection data </a:t>
            </a:r>
            <a:endParaRPr lang="en-AU" dirty="0"/>
          </a:p>
        </p:txBody>
      </p:sp>
      <p:pic>
        <p:nvPicPr>
          <p:cNvPr id="1026" name="Picture 2"/>
          <p:cNvPicPr>
            <a:picLocks noChangeAspect="1" noChangeArrowheads="1"/>
          </p:cNvPicPr>
          <p:nvPr/>
        </p:nvPicPr>
        <p:blipFill>
          <a:blip r:embed="rId3" cstate="print"/>
          <a:srcRect l="1862" t="26297" r="65561" b="64105"/>
          <a:stretch>
            <a:fillRect/>
          </a:stretch>
        </p:blipFill>
        <p:spPr bwMode="auto">
          <a:xfrm>
            <a:off x="3851920" y="2132856"/>
            <a:ext cx="5040560" cy="1188000"/>
          </a:xfrm>
          <a:prstGeom prst="rect">
            <a:avLst/>
          </a:prstGeom>
          <a:noFill/>
          <a:ln w="9525">
            <a:noFill/>
            <a:miter lim="800000"/>
            <a:headEnd/>
            <a:tailEnd/>
          </a:ln>
        </p:spPr>
      </p:pic>
      <p:sp>
        <p:nvSpPr>
          <p:cNvPr id="5" name="TextBox 4"/>
          <p:cNvSpPr txBox="1"/>
          <p:nvPr/>
        </p:nvSpPr>
        <p:spPr>
          <a:xfrm>
            <a:off x="251520" y="1700808"/>
            <a:ext cx="3600400" cy="3970318"/>
          </a:xfrm>
          <a:prstGeom prst="rect">
            <a:avLst/>
          </a:prstGeom>
          <a:noFill/>
        </p:spPr>
        <p:txBody>
          <a:bodyPr wrap="square" rtlCol="0">
            <a:spAutoFit/>
          </a:bodyPr>
          <a:lstStyle/>
          <a:p>
            <a:r>
              <a:rPr lang="en-AU" b="1" dirty="0" smtClean="0"/>
              <a:t>The Clearly in: </a:t>
            </a:r>
            <a:r>
              <a:rPr lang="en-AU" dirty="0" smtClean="0"/>
              <a:t>is the ATAR at or above which everyone who applied and was eligible for this course received an offer. </a:t>
            </a:r>
          </a:p>
          <a:p>
            <a:endParaRPr lang="en-AU" dirty="0" smtClean="0"/>
          </a:p>
          <a:p>
            <a:r>
              <a:rPr lang="en-AU" b="1" dirty="0" smtClean="0"/>
              <a:t>The % below </a:t>
            </a:r>
            <a:r>
              <a:rPr lang="en-AU" dirty="0" smtClean="0"/>
              <a:t>is the percentage of offers made to applicants with an ATAR lower than the clearly in. </a:t>
            </a:r>
          </a:p>
          <a:p>
            <a:r>
              <a:rPr lang="en-AU" dirty="0" smtClean="0"/>
              <a:t>This also gives you some idea on the percentage of people who had an ATAR lower than the clearly in but received bonuses to boost them up into the offered group. </a:t>
            </a:r>
            <a:endParaRPr lang="en-AU" dirty="0"/>
          </a:p>
        </p:txBody>
      </p:sp>
      <p:pic>
        <p:nvPicPr>
          <p:cNvPr id="1027" name="Picture 3"/>
          <p:cNvPicPr>
            <a:picLocks noChangeAspect="1" noChangeArrowheads="1"/>
          </p:cNvPicPr>
          <p:nvPr/>
        </p:nvPicPr>
        <p:blipFill>
          <a:blip r:embed="rId4" cstate="print"/>
          <a:srcRect l="2160" t="40402" r="65356" b="50000"/>
          <a:stretch>
            <a:fillRect/>
          </a:stretch>
        </p:blipFill>
        <p:spPr bwMode="auto">
          <a:xfrm>
            <a:off x="3923928" y="4437112"/>
            <a:ext cx="5107029" cy="1224136"/>
          </a:xfrm>
          <a:prstGeom prst="rect">
            <a:avLst/>
          </a:prstGeom>
          <a:noFill/>
          <a:ln w="9525">
            <a:noFill/>
            <a:miter lim="800000"/>
            <a:headEnd/>
            <a:tailEnd/>
          </a:ln>
        </p:spPr>
      </p:pic>
      <p:sp>
        <p:nvSpPr>
          <p:cNvPr id="6" name="Rectangle 5"/>
          <p:cNvSpPr/>
          <p:nvPr/>
        </p:nvSpPr>
        <p:spPr>
          <a:xfrm>
            <a:off x="3923928" y="2204864"/>
            <a:ext cx="936104"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6"/>
          <p:cNvSpPr/>
          <p:nvPr/>
        </p:nvSpPr>
        <p:spPr>
          <a:xfrm>
            <a:off x="3923928" y="4509120"/>
            <a:ext cx="936104"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b="1" dirty="0" smtClean="0"/>
              <a:t>Three things you now know about:</a:t>
            </a:r>
            <a:r>
              <a:rPr lang="en-AU" dirty="0" smtClean="0"/>
              <a:t/>
            </a:r>
            <a:br>
              <a:rPr lang="en-AU" dirty="0" smtClean="0"/>
            </a:br>
            <a:r>
              <a:rPr lang="en-AU" sz="4000" dirty="0" smtClean="0"/>
              <a:t>Change of preference</a:t>
            </a:r>
            <a:endParaRPr lang="en-AU" dirty="0"/>
          </a:p>
        </p:txBody>
      </p:sp>
      <p:graphicFrame>
        <p:nvGraphicFramePr>
          <p:cNvPr id="4" name="Content Placeholder 3"/>
          <p:cNvGraphicFramePr>
            <a:graphicFrameLocks/>
          </p:cNvGraphicFramePr>
          <p:nvPr/>
        </p:nvGraphicFramePr>
        <p:xfrm>
          <a:off x="457200" y="1600200"/>
          <a:ext cx="8229600" cy="4389120"/>
        </p:xfrm>
        <a:graphic>
          <a:graphicData uri="http://schemas.openxmlformats.org/drawingml/2006/table">
            <a:tbl>
              <a:tblPr firstRow="1" bandRow="1">
                <a:tableStyleId>{D7AC3CCA-C797-4891-BE02-D94E43425B78}</a:tableStyleId>
              </a:tblPr>
              <a:tblGrid>
                <a:gridCol w="442392"/>
                <a:gridCol w="7787208"/>
              </a:tblGrid>
              <a:tr h="370840">
                <a:tc>
                  <a:txBody>
                    <a:bodyPr/>
                    <a:lstStyle/>
                    <a:p>
                      <a:pPr algn="l"/>
                      <a:endParaRPr lang="en-AU" b="1" dirty="0" smtClean="0"/>
                    </a:p>
                    <a:p>
                      <a:pPr algn="l"/>
                      <a:endParaRPr lang="en-AU" b="1" dirty="0" smtClean="0"/>
                    </a:p>
                    <a:p>
                      <a:pPr algn="l"/>
                      <a:endParaRPr lang="en-AU" b="1" dirty="0" smtClean="0"/>
                    </a:p>
                    <a:p>
                      <a:pPr algn="l"/>
                      <a:r>
                        <a:rPr lang="en-AU" b="1" dirty="0" smtClean="0"/>
                        <a:t>13</a:t>
                      </a:r>
                    </a:p>
                    <a:p>
                      <a:pPr algn="l"/>
                      <a:endParaRPr lang="en-AU" b="1" dirty="0" smtClean="0"/>
                    </a:p>
                  </a:txBody>
                  <a:tcPr/>
                </a:tc>
                <a:tc>
                  <a:txBody>
                    <a:bodyPr/>
                    <a:lstStyle/>
                    <a:p>
                      <a:endParaRPr lang="en-AU" dirty="0"/>
                    </a:p>
                  </a:txBody>
                  <a:tcPr/>
                </a:tc>
              </a:tr>
              <a:tr h="370840">
                <a:tc>
                  <a:txBody>
                    <a:bodyPr/>
                    <a:lstStyle/>
                    <a:p>
                      <a:pPr algn="l"/>
                      <a:endParaRPr lang="en-AU" b="1" dirty="0" smtClean="0"/>
                    </a:p>
                    <a:p>
                      <a:pPr algn="l"/>
                      <a:endParaRPr lang="en-AU" b="1" dirty="0" smtClean="0"/>
                    </a:p>
                    <a:p>
                      <a:pPr algn="l"/>
                      <a:r>
                        <a:rPr lang="en-AU" b="1" dirty="0" smtClean="0"/>
                        <a:t>14</a:t>
                      </a:r>
                    </a:p>
                    <a:p>
                      <a:pPr algn="l"/>
                      <a:endParaRPr lang="en-AU" b="1" dirty="0" smtClean="0"/>
                    </a:p>
                    <a:p>
                      <a:pPr algn="l"/>
                      <a:endParaRPr lang="en-AU" b="1" dirty="0" smtClean="0"/>
                    </a:p>
                  </a:txBody>
                  <a:tcPr/>
                </a:tc>
                <a:tc>
                  <a:txBody>
                    <a:bodyPr/>
                    <a:lstStyle/>
                    <a:p>
                      <a:endParaRPr lang="en-AU" dirty="0"/>
                    </a:p>
                  </a:txBody>
                  <a:tcPr/>
                </a:tc>
              </a:tr>
              <a:tr h="370840">
                <a:tc>
                  <a:txBody>
                    <a:bodyPr/>
                    <a:lstStyle/>
                    <a:p>
                      <a:pPr algn="l"/>
                      <a:endParaRPr lang="en-AU" b="1" dirty="0" smtClean="0"/>
                    </a:p>
                    <a:p>
                      <a:pPr algn="l"/>
                      <a:endParaRPr lang="en-AU" b="1" dirty="0" smtClean="0"/>
                    </a:p>
                    <a:p>
                      <a:pPr algn="l"/>
                      <a:r>
                        <a:rPr lang="en-AU" b="1" dirty="0" smtClean="0"/>
                        <a:t>15</a:t>
                      </a:r>
                    </a:p>
                    <a:p>
                      <a:pPr algn="l"/>
                      <a:endParaRPr lang="en-AU" b="1" dirty="0" smtClean="0"/>
                    </a:p>
                    <a:p>
                      <a:pPr algn="l"/>
                      <a:endParaRPr lang="en-AU" b="1" dirty="0"/>
                    </a:p>
                  </a:txBody>
                  <a:tcPr/>
                </a:tc>
                <a:tc>
                  <a:txBody>
                    <a:bodyPr/>
                    <a:lstStyle/>
                    <a:p>
                      <a:endParaRPr lang="en-AU" dirty="0"/>
                    </a:p>
                  </a:txBody>
                  <a:tcPr/>
                </a:tc>
              </a:tr>
            </a:tbl>
          </a:graphicData>
        </a:graphic>
      </p:graphicFrame>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offer system </a:t>
            </a:r>
            <a:endParaRPr lang="en-AU"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AU" dirty="0" smtClean="0"/>
              <a:t>The offer rounds </a:t>
            </a:r>
            <a:endParaRPr lang="en-AU" dirty="0"/>
          </a:p>
        </p:txBody>
      </p:sp>
      <p:sp>
        <p:nvSpPr>
          <p:cNvPr id="5" name="Content Placeholder 4"/>
          <p:cNvSpPr>
            <a:spLocks noGrp="1"/>
          </p:cNvSpPr>
          <p:nvPr>
            <p:ph sz="quarter" idx="1"/>
          </p:nvPr>
        </p:nvSpPr>
        <p:spPr/>
        <p:txBody>
          <a:bodyPr>
            <a:normAutofit lnSpcReduction="10000"/>
          </a:bodyPr>
          <a:lstStyle/>
          <a:p>
            <a:r>
              <a:rPr lang="en-GB" sz="2400" dirty="0" smtClean="0"/>
              <a:t>If students do not pay their processing fee they won’t be considered for offers. </a:t>
            </a:r>
          </a:p>
          <a:p>
            <a:r>
              <a:rPr lang="en-GB" sz="2400" dirty="0" smtClean="0"/>
              <a:t>All offers are provisional </a:t>
            </a:r>
            <a:r>
              <a:rPr lang="en-AU" sz="2400" dirty="0" smtClean="0"/>
              <a:t>and subject to accurate information being supplied by the applicant. </a:t>
            </a:r>
            <a:endParaRPr lang="en-GB" sz="2400" dirty="0" smtClean="0"/>
          </a:p>
          <a:p>
            <a:r>
              <a:rPr lang="en-GB" sz="2400" dirty="0" smtClean="0"/>
              <a:t>Rounds of offers: </a:t>
            </a:r>
          </a:p>
          <a:p>
            <a:pPr lvl="1"/>
            <a:r>
              <a:rPr lang="en-GB" sz="2000" dirty="0" smtClean="0"/>
              <a:t>Early round offers – for non-year 12 applicants </a:t>
            </a:r>
          </a:p>
          <a:p>
            <a:pPr lvl="1"/>
            <a:r>
              <a:rPr lang="en-GB" sz="2000" dirty="0" smtClean="0"/>
              <a:t>International VCE and Victorian IB round </a:t>
            </a:r>
          </a:p>
          <a:p>
            <a:pPr lvl="1"/>
            <a:r>
              <a:rPr lang="en-GB" sz="2000" dirty="0" smtClean="0"/>
              <a:t>Main round offers – majority of offers to all applicants at any preference for graduate entry teaching and undergraduate places. </a:t>
            </a:r>
          </a:p>
          <a:p>
            <a:pPr lvl="1"/>
            <a:r>
              <a:rPr lang="en-GB" sz="2000" dirty="0" smtClean="0"/>
              <a:t>Round two offers – smaller number of offers – filling places </a:t>
            </a:r>
          </a:p>
          <a:p>
            <a:pPr lvl="1"/>
            <a:r>
              <a:rPr lang="en-GB" sz="2000" dirty="0" smtClean="0"/>
              <a:t>Negotiated offer </a:t>
            </a:r>
          </a:p>
          <a:p>
            <a:pPr lvl="1"/>
            <a:r>
              <a:rPr lang="en-GB" sz="2000" dirty="0" smtClean="0"/>
              <a:t>Supplementary offers </a:t>
            </a:r>
            <a:endParaRPr lang="en-AU" sz="2000" dirty="0" smtClean="0"/>
          </a:p>
          <a:p>
            <a:endParaRPr lang="en-AU"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608112"/>
          </a:xfrm>
        </p:spPr>
        <p:txBody>
          <a:bodyPr>
            <a:normAutofit fontScale="90000"/>
          </a:bodyPr>
          <a:lstStyle/>
          <a:p>
            <a:r>
              <a:rPr lang="en-AU" dirty="0" smtClean="0"/>
              <a:t>How the offer system works</a:t>
            </a:r>
            <a:endParaRPr lang="en-AU" dirty="0"/>
          </a:p>
        </p:txBody>
      </p:sp>
      <p:graphicFrame>
        <p:nvGraphicFramePr>
          <p:cNvPr id="4" name="Content Placeholder 3"/>
          <p:cNvGraphicFramePr>
            <a:graphicFrameLocks noGrp="1"/>
          </p:cNvGraphicFramePr>
          <p:nvPr>
            <p:ph sz="quarter" idx="1"/>
          </p:nvPr>
        </p:nvGraphicFramePr>
        <p:xfrm>
          <a:off x="179512" y="1628800"/>
          <a:ext cx="8640960" cy="4495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3600" dirty="0" smtClean="0"/>
              <a:t>How the offer system works continued…</a:t>
            </a:r>
            <a:endParaRPr lang="en-AU" sz="3600" dirty="0"/>
          </a:p>
        </p:txBody>
      </p:sp>
      <p:sp>
        <p:nvSpPr>
          <p:cNvPr id="5" name="TextBox 4"/>
          <p:cNvSpPr txBox="1"/>
          <p:nvPr/>
        </p:nvSpPr>
        <p:spPr>
          <a:xfrm>
            <a:off x="611560" y="1700808"/>
            <a:ext cx="8280920" cy="646331"/>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pPr lvl="0"/>
            <a:r>
              <a:rPr lang="en-AU" b="1" dirty="0" smtClean="0"/>
              <a:t>Applicants are eligible for offers of higher preferences in future rounds </a:t>
            </a:r>
            <a:br>
              <a:rPr lang="en-AU" b="1" dirty="0" smtClean="0"/>
            </a:br>
            <a:r>
              <a:rPr lang="en-AU" b="1" dirty="0" smtClean="0"/>
              <a:t>Subject to places being available and meeting eligibility </a:t>
            </a:r>
          </a:p>
        </p:txBody>
      </p:sp>
      <p:sp>
        <p:nvSpPr>
          <p:cNvPr id="6" name="TextBox 5"/>
          <p:cNvSpPr txBox="1"/>
          <p:nvPr/>
        </p:nvSpPr>
        <p:spPr>
          <a:xfrm>
            <a:off x="827584" y="3501008"/>
            <a:ext cx="2736304" cy="129266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AU" dirty="0" smtClean="0"/>
              <a:t>Apply for a negotiated offer: </a:t>
            </a:r>
          </a:p>
          <a:p>
            <a:pPr>
              <a:buFont typeface="Arial" pitchFamily="34" charset="0"/>
              <a:buChar char="•"/>
            </a:pPr>
            <a:r>
              <a:rPr lang="en-AU" sz="1400" dirty="0" smtClean="0"/>
              <a:t>Courses listed lower than offered </a:t>
            </a:r>
          </a:p>
          <a:p>
            <a:pPr>
              <a:buFont typeface="Arial" pitchFamily="34" charset="0"/>
              <a:buChar char="•"/>
            </a:pPr>
            <a:r>
              <a:rPr lang="en-AU" sz="1400" dirty="0" smtClean="0"/>
              <a:t>Courses not listed on VTAC application </a:t>
            </a:r>
            <a:endParaRPr lang="en-AU" sz="1400" dirty="0"/>
          </a:p>
        </p:txBody>
      </p:sp>
      <p:sp>
        <p:nvSpPr>
          <p:cNvPr id="7" name="TextBox 6"/>
          <p:cNvSpPr txBox="1"/>
          <p:nvPr/>
        </p:nvSpPr>
        <p:spPr>
          <a:xfrm>
            <a:off x="5148064" y="3501008"/>
            <a:ext cx="2736304" cy="1231106"/>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AU" dirty="0" smtClean="0"/>
              <a:t>Supplementary offers </a:t>
            </a:r>
          </a:p>
          <a:p>
            <a:r>
              <a:rPr lang="en-AU" sz="1400" dirty="0" smtClean="0"/>
              <a:t>If a student does not receive any offer and has given permission – may be eligible for a Supplementary offer </a:t>
            </a:r>
            <a:endParaRPr lang="en-AU" sz="1400" dirty="0"/>
          </a:p>
        </p:txBody>
      </p:sp>
      <p:sp>
        <p:nvSpPr>
          <p:cNvPr id="8" name="Down Arrow 7"/>
          <p:cNvSpPr/>
          <p:nvPr/>
        </p:nvSpPr>
        <p:spPr>
          <a:xfrm>
            <a:off x="1907704" y="2420888"/>
            <a:ext cx="576064" cy="648072"/>
          </a:xfrm>
          <a:prstGeom prst="down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AU" dirty="0"/>
          </a:p>
        </p:txBody>
      </p:sp>
      <p:sp>
        <p:nvSpPr>
          <p:cNvPr id="9" name="Down Arrow 8"/>
          <p:cNvSpPr/>
          <p:nvPr/>
        </p:nvSpPr>
        <p:spPr>
          <a:xfrm>
            <a:off x="6156176" y="2420888"/>
            <a:ext cx="576064" cy="648072"/>
          </a:xfrm>
          <a:prstGeom prst="down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AU" dirty="0"/>
          </a:p>
        </p:txBody>
      </p:sp>
      <p:sp>
        <p:nvSpPr>
          <p:cNvPr id="10" name="TextBox 9"/>
          <p:cNvSpPr txBox="1"/>
          <p:nvPr/>
        </p:nvSpPr>
        <p:spPr>
          <a:xfrm>
            <a:off x="827584" y="3068960"/>
            <a:ext cx="2736304" cy="369332"/>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pPr lvl="0"/>
            <a:r>
              <a:rPr lang="en-AU" b="1" dirty="0" smtClean="0"/>
              <a:t>After round 1: </a:t>
            </a:r>
          </a:p>
        </p:txBody>
      </p:sp>
      <p:sp>
        <p:nvSpPr>
          <p:cNvPr id="11" name="TextBox 10"/>
          <p:cNvSpPr txBox="1"/>
          <p:nvPr/>
        </p:nvSpPr>
        <p:spPr>
          <a:xfrm>
            <a:off x="5148064" y="3068960"/>
            <a:ext cx="2736304" cy="369332"/>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pPr lvl="0"/>
            <a:r>
              <a:rPr lang="en-AU" b="1" dirty="0" smtClean="0"/>
              <a:t>After round 2: </a:t>
            </a: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Golden rules of receiving an offer </a:t>
            </a:r>
            <a:endParaRPr lang="en-AU" dirty="0"/>
          </a:p>
        </p:txBody>
      </p:sp>
      <p:sp>
        <p:nvSpPr>
          <p:cNvPr id="3" name="Content Placeholder 2"/>
          <p:cNvSpPr>
            <a:spLocks noGrp="1"/>
          </p:cNvSpPr>
          <p:nvPr>
            <p:ph sz="quarter" idx="1"/>
          </p:nvPr>
        </p:nvSpPr>
        <p:spPr/>
        <p:txBody>
          <a:bodyPr/>
          <a:lstStyle/>
          <a:p>
            <a:pPr marL="342900" lvl="0" indent="-342900">
              <a:spcBef>
                <a:spcPct val="20000"/>
              </a:spcBef>
              <a:buClrTx/>
              <a:buSzTx/>
              <a:buFont typeface="Arial" pitchFamily="34" charset="0"/>
              <a:buChar char="•"/>
              <a:defRPr/>
            </a:pPr>
            <a:r>
              <a:rPr lang="en-AU" sz="3200" dirty="0" smtClean="0"/>
              <a:t>Always accept an offer you receive </a:t>
            </a:r>
          </a:p>
          <a:p>
            <a:pPr marL="342900" lvl="0" indent="-342900">
              <a:spcBef>
                <a:spcPct val="20000"/>
              </a:spcBef>
              <a:buClrTx/>
              <a:buSzTx/>
              <a:buFont typeface="Arial" pitchFamily="34" charset="0"/>
              <a:buChar char="•"/>
              <a:defRPr/>
            </a:pPr>
            <a:r>
              <a:rPr lang="en-AU" sz="3200" dirty="0" smtClean="0"/>
              <a:t>Never wait to see if you get a better offer in round two </a:t>
            </a:r>
          </a:p>
          <a:p>
            <a:pPr marL="342900" lvl="0" indent="-342900">
              <a:spcBef>
                <a:spcPct val="20000"/>
              </a:spcBef>
              <a:buClrTx/>
              <a:buSzTx/>
              <a:buFont typeface="Arial" pitchFamily="34" charset="0"/>
              <a:buChar char="•"/>
              <a:defRPr/>
            </a:pPr>
            <a:r>
              <a:rPr lang="en-AU" sz="3200" dirty="0" smtClean="0"/>
              <a:t>If you don’t accept any of the offers you have been made, you are not eligible for a supplementary offer </a:t>
            </a:r>
          </a:p>
          <a:p>
            <a:pPr marL="342900" lvl="0" indent="-342900">
              <a:spcBef>
                <a:spcPct val="20000"/>
              </a:spcBef>
              <a:buClrTx/>
              <a:buSzTx/>
              <a:buFont typeface="Arial" pitchFamily="34" charset="0"/>
              <a:buChar char="•"/>
              <a:defRPr/>
            </a:pPr>
            <a:r>
              <a:rPr lang="en-AU" sz="3200" dirty="0" smtClean="0"/>
              <a:t>Negotiated offers are no guarantee for an offer, unless the institution accepts you </a:t>
            </a:r>
          </a:p>
          <a:p>
            <a:endParaRPr lang="en-AU"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Negotiated offers </a:t>
            </a:r>
            <a:endParaRPr lang="en-AU" dirty="0"/>
          </a:p>
        </p:txBody>
      </p:sp>
      <p:sp>
        <p:nvSpPr>
          <p:cNvPr id="3" name="Content Placeholder 2"/>
          <p:cNvSpPr>
            <a:spLocks noGrp="1"/>
          </p:cNvSpPr>
          <p:nvPr>
            <p:ph sz="quarter" idx="1"/>
          </p:nvPr>
        </p:nvSpPr>
        <p:spPr/>
        <p:txBody>
          <a:bodyPr/>
          <a:lstStyle/>
          <a:p>
            <a:r>
              <a:rPr lang="en-GB" sz="2400" dirty="0" smtClean="0"/>
              <a:t>Ensure course requirements have been met, including extra requirements such as interviews, folios etc. </a:t>
            </a:r>
          </a:p>
          <a:p>
            <a:r>
              <a:rPr lang="en-GB" sz="2400" dirty="0" smtClean="0"/>
              <a:t>Check place availability with the course selection officer and what additional documentation you may have to provide. </a:t>
            </a:r>
          </a:p>
          <a:p>
            <a:r>
              <a:rPr lang="en-GB" sz="2400" dirty="0" smtClean="0"/>
              <a:t>Then: </a:t>
            </a:r>
          </a:p>
          <a:p>
            <a:pPr lvl="1"/>
            <a:r>
              <a:rPr lang="en-GB" sz="1900" dirty="0" smtClean="0"/>
              <a:t>Complete the negotiated offer request in the VTAC user account </a:t>
            </a:r>
          </a:p>
          <a:p>
            <a:pPr lvl="1"/>
            <a:r>
              <a:rPr lang="en-GB" sz="1900" dirty="0" smtClean="0"/>
              <a:t>If the status is pending, the student can choose to change their course request. </a:t>
            </a:r>
          </a:p>
          <a:p>
            <a:pPr lvl="1"/>
            <a:r>
              <a:rPr lang="en-GB" sz="1900" dirty="0" smtClean="0"/>
              <a:t>If the status is approved, the student will receive an offer in the next round and is not eligible for any further offers. </a:t>
            </a:r>
          </a:p>
          <a:p>
            <a:pPr lvl="1"/>
            <a:r>
              <a:rPr lang="en-GB" sz="1900" dirty="0" smtClean="0"/>
              <a:t>If the status is rejected the student can submit another request for another course. </a:t>
            </a:r>
          </a:p>
          <a:p>
            <a:endParaRPr lang="en-AU"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Supplementary offers</a:t>
            </a:r>
            <a:endParaRPr lang="en-AU" dirty="0"/>
          </a:p>
        </p:txBody>
      </p:sp>
      <p:sp>
        <p:nvSpPr>
          <p:cNvPr id="3" name="Content Placeholder 2"/>
          <p:cNvSpPr>
            <a:spLocks noGrp="1"/>
          </p:cNvSpPr>
          <p:nvPr>
            <p:ph sz="quarter" idx="1"/>
          </p:nvPr>
        </p:nvSpPr>
        <p:spPr/>
        <p:txBody>
          <a:bodyPr/>
          <a:lstStyle/>
          <a:p>
            <a:r>
              <a:rPr lang="en-GB" sz="2400" dirty="0" smtClean="0"/>
              <a:t>Some institutions may make supplementary offers after Round 2 if they have places available. </a:t>
            </a:r>
          </a:p>
          <a:p>
            <a:r>
              <a:rPr lang="en-GB" sz="2400" dirty="0" smtClean="0"/>
              <a:t>Applicants may receive supplementary offers if they</a:t>
            </a:r>
            <a:r>
              <a:rPr lang="en-AU" sz="2400" dirty="0" smtClean="0"/>
              <a:t> </a:t>
            </a:r>
            <a:r>
              <a:rPr lang="en-GB" sz="2400" dirty="0" smtClean="0"/>
              <a:t>have given VTAC permission—they give this permission when applying or via their VTAC user account and have: </a:t>
            </a:r>
            <a:endParaRPr lang="en-AU" sz="2400" dirty="0" smtClean="0"/>
          </a:p>
          <a:p>
            <a:pPr lvl="1"/>
            <a:r>
              <a:rPr lang="en-GB" sz="2000" dirty="0" smtClean="0"/>
              <a:t>not received an offer in any of the previous offer rounds (Early, Round 1, Round 2) </a:t>
            </a:r>
            <a:endParaRPr lang="en-AU" sz="2000" dirty="0" smtClean="0"/>
          </a:p>
          <a:p>
            <a:pPr lvl="1"/>
            <a:r>
              <a:rPr lang="en-GB" sz="2000" dirty="0" smtClean="0"/>
              <a:t>not been granted an offer for a negotiated offer </a:t>
            </a:r>
          </a:p>
          <a:p>
            <a:r>
              <a:rPr lang="en-GB" sz="2400" dirty="0" smtClean="0"/>
              <a:t>Supplementary offers are processed weekly </a:t>
            </a:r>
            <a:endParaRPr lang="en-AU" sz="2400" dirty="0" smtClean="0"/>
          </a:p>
          <a:p>
            <a:pPr lvl="1"/>
            <a:r>
              <a:rPr lang="en-GB" sz="2000" dirty="0" smtClean="0"/>
              <a:t>Applicants may receive two or more offers at the same time</a:t>
            </a:r>
          </a:p>
          <a:p>
            <a:pPr lvl="1"/>
            <a:r>
              <a:rPr lang="en-GB" sz="2000" dirty="0" smtClean="0"/>
              <a:t>Applicants will need to decide which offer to accept </a:t>
            </a:r>
            <a:endParaRPr lang="en-AU" sz="2000" dirty="0" smtClean="0"/>
          </a:p>
          <a:p>
            <a:endParaRPr lang="en-AU"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Offers for direct applications </a:t>
            </a:r>
            <a:endParaRPr lang="en-US" dirty="0"/>
          </a:p>
        </p:txBody>
      </p:sp>
      <p:sp>
        <p:nvSpPr>
          <p:cNvPr id="3" name="Content Placeholder 2"/>
          <p:cNvSpPr>
            <a:spLocks noGrp="1"/>
          </p:cNvSpPr>
          <p:nvPr>
            <p:ph sz="quarter" idx="1"/>
          </p:nvPr>
        </p:nvSpPr>
        <p:spPr/>
        <p:txBody>
          <a:bodyPr/>
          <a:lstStyle/>
          <a:p>
            <a:r>
              <a:rPr lang="en-US" dirty="0" smtClean="0"/>
              <a:t>Student may get more than one offer, depending on how many direct applications they have put in</a:t>
            </a:r>
          </a:p>
          <a:p>
            <a:r>
              <a:rPr lang="en-US" dirty="0" smtClean="0"/>
              <a:t>No preference system </a:t>
            </a:r>
          </a:p>
          <a:p>
            <a:r>
              <a:rPr lang="en-US" dirty="0" smtClean="0"/>
              <a:t>Could get offers earlier than January (main round). </a:t>
            </a:r>
          </a:p>
          <a:p>
            <a:r>
              <a:rPr lang="en-US" dirty="0" smtClean="0"/>
              <a:t>They are still eligible for a VTAC offer even if they get a direct offer. </a:t>
            </a:r>
          </a:p>
          <a:p>
            <a:r>
              <a:rPr lang="en-US" dirty="0" smtClean="0"/>
              <a:t>Check that when they accept the direct what, if any the penalties for withdrawing are.</a:t>
            </a:r>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AU" dirty="0" smtClean="0"/>
              <a:t>Case studies</a:t>
            </a:r>
            <a:endParaRPr lang="en-AU" dirty="0"/>
          </a:p>
        </p:txBody>
      </p:sp>
      <p:sp>
        <p:nvSpPr>
          <p:cNvPr id="8" name="Content Placeholder 7"/>
          <p:cNvSpPr>
            <a:spLocks noGrp="1"/>
          </p:cNvSpPr>
          <p:nvPr>
            <p:ph sz="quarter" idx="2"/>
          </p:nvPr>
        </p:nvSpPr>
        <p:spPr>
          <a:xfrm>
            <a:off x="609600" y="2204864"/>
            <a:ext cx="3886200" cy="4392488"/>
          </a:xfrm>
        </p:spPr>
        <p:txBody>
          <a:bodyPr>
            <a:normAutofit/>
          </a:bodyPr>
          <a:lstStyle/>
          <a:p>
            <a:r>
              <a:rPr lang="en-AU" sz="2400" dirty="0" smtClean="0"/>
              <a:t>A student has approached you and is not sure if they ticked the box for supplementary offers</a:t>
            </a:r>
          </a:p>
          <a:p>
            <a:pPr lvl="1"/>
            <a:r>
              <a:rPr lang="en-AU" sz="2100" dirty="0" smtClean="0"/>
              <a:t>What should they do? </a:t>
            </a:r>
          </a:p>
          <a:p>
            <a:pPr lvl="1"/>
            <a:r>
              <a:rPr lang="en-AU" sz="2100" dirty="0" smtClean="0"/>
              <a:t>Can they fix this even though round 1, main offers had been released?</a:t>
            </a:r>
          </a:p>
          <a:p>
            <a:endParaRPr lang="en-AU" sz="2400" dirty="0"/>
          </a:p>
        </p:txBody>
      </p:sp>
      <p:sp>
        <p:nvSpPr>
          <p:cNvPr id="10" name="Content Placeholder 9"/>
          <p:cNvSpPr>
            <a:spLocks noGrp="1"/>
          </p:cNvSpPr>
          <p:nvPr>
            <p:ph sz="quarter" idx="4"/>
          </p:nvPr>
        </p:nvSpPr>
        <p:spPr>
          <a:xfrm>
            <a:off x="4800600" y="2204864"/>
            <a:ext cx="3886200" cy="4392488"/>
          </a:xfrm>
        </p:spPr>
        <p:txBody>
          <a:bodyPr>
            <a:normAutofit/>
          </a:bodyPr>
          <a:lstStyle/>
          <a:p>
            <a:r>
              <a:rPr lang="en-AU" sz="2400" dirty="0" smtClean="0"/>
              <a:t>A student approaches you and didn’t get an offer after round 2 and has ticked permission for a supplementary offer. Should they: </a:t>
            </a:r>
          </a:p>
          <a:p>
            <a:pPr lvl="1"/>
            <a:r>
              <a:rPr lang="en-AU" sz="2100" dirty="0" smtClean="0"/>
              <a:t>Wait to see if they get a supplementary offer or </a:t>
            </a:r>
          </a:p>
          <a:p>
            <a:pPr lvl="1"/>
            <a:r>
              <a:rPr lang="en-AU" sz="2100" dirty="0" smtClean="0"/>
              <a:t>Apply for a Negotiated offer? </a:t>
            </a:r>
            <a:endParaRPr lang="en-AU" sz="2100" dirty="0"/>
          </a:p>
        </p:txBody>
      </p:sp>
      <p:sp>
        <p:nvSpPr>
          <p:cNvPr id="7" name="Text Placeholder 6"/>
          <p:cNvSpPr>
            <a:spLocks noGrp="1"/>
          </p:cNvSpPr>
          <p:nvPr>
            <p:ph type="body" sz="quarter" idx="1"/>
          </p:nvPr>
        </p:nvSpPr>
        <p:spPr>
          <a:xfrm>
            <a:off x="609600" y="1556792"/>
            <a:ext cx="3886200" cy="640080"/>
          </a:xfrm>
        </p:spPr>
        <p:txBody>
          <a:bodyPr/>
          <a:lstStyle/>
          <a:p>
            <a:r>
              <a:rPr lang="en-AU" dirty="0" smtClean="0"/>
              <a:t>Case study 11: offers </a:t>
            </a:r>
            <a:endParaRPr lang="en-AU" dirty="0"/>
          </a:p>
        </p:txBody>
      </p:sp>
      <p:sp>
        <p:nvSpPr>
          <p:cNvPr id="9" name="Text Placeholder 8"/>
          <p:cNvSpPr>
            <a:spLocks noGrp="1"/>
          </p:cNvSpPr>
          <p:nvPr>
            <p:ph type="body" sz="quarter" idx="3"/>
          </p:nvPr>
        </p:nvSpPr>
        <p:spPr>
          <a:xfrm>
            <a:off x="4800600" y="1556792"/>
            <a:ext cx="3886200" cy="640080"/>
          </a:xfrm>
        </p:spPr>
        <p:txBody>
          <a:bodyPr/>
          <a:lstStyle/>
          <a:p>
            <a:r>
              <a:rPr lang="en-AU" dirty="0" smtClean="0"/>
              <a:t>Case study 12: offers </a:t>
            </a:r>
            <a:endParaRPr lang="en-AU"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b="1" dirty="0" smtClean="0"/>
              <a:t>Three things you now know about:</a:t>
            </a:r>
            <a:r>
              <a:rPr lang="en-AU" dirty="0" smtClean="0"/>
              <a:t/>
            </a:r>
            <a:br>
              <a:rPr lang="en-AU" dirty="0" smtClean="0"/>
            </a:br>
            <a:r>
              <a:rPr lang="en-AU" sz="4000" dirty="0" smtClean="0"/>
              <a:t>Offers</a:t>
            </a:r>
            <a:endParaRPr lang="en-AU" dirty="0"/>
          </a:p>
        </p:txBody>
      </p:sp>
      <p:graphicFrame>
        <p:nvGraphicFramePr>
          <p:cNvPr id="4" name="Content Placeholder 3"/>
          <p:cNvGraphicFramePr>
            <a:graphicFrameLocks/>
          </p:cNvGraphicFramePr>
          <p:nvPr/>
        </p:nvGraphicFramePr>
        <p:xfrm>
          <a:off x="457200" y="1600200"/>
          <a:ext cx="8229600" cy="4389120"/>
        </p:xfrm>
        <a:graphic>
          <a:graphicData uri="http://schemas.openxmlformats.org/drawingml/2006/table">
            <a:tbl>
              <a:tblPr firstRow="1" bandRow="1">
                <a:tableStyleId>{D7AC3CCA-C797-4891-BE02-D94E43425B78}</a:tableStyleId>
              </a:tblPr>
              <a:tblGrid>
                <a:gridCol w="442392"/>
                <a:gridCol w="7787208"/>
              </a:tblGrid>
              <a:tr h="370840">
                <a:tc>
                  <a:txBody>
                    <a:bodyPr/>
                    <a:lstStyle/>
                    <a:p>
                      <a:pPr algn="l"/>
                      <a:endParaRPr lang="en-AU" b="1" dirty="0" smtClean="0"/>
                    </a:p>
                    <a:p>
                      <a:pPr algn="l"/>
                      <a:endParaRPr lang="en-AU" b="1" dirty="0" smtClean="0"/>
                    </a:p>
                    <a:p>
                      <a:pPr algn="l"/>
                      <a:endParaRPr lang="en-AU" b="1" dirty="0" smtClean="0"/>
                    </a:p>
                    <a:p>
                      <a:pPr algn="l"/>
                      <a:r>
                        <a:rPr lang="en-AU" b="1" dirty="0" smtClean="0"/>
                        <a:t>16</a:t>
                      </a:r>
                    </a:p>
                    <a:p>
                      <a:pPr algn="l"/>
                      <a:endParaRPr lang="en-AU" b="1" dirty="0" smtClean="0"/>
                    </a:p>
                  </a:txBody>
                  <a:tcPr/>
                </a:tc>
                <a:tc>
                  <a:txBody>
                    <a:bodyPr/>
                    <a:lstStyle/>
                    <a:p>
                      <a:endParaRPr lang="en-AU" dirty="0"/>
                    </a:p>
                  </a:txBody>
                  <a:tcPr/>
                </a:tc>
              </a:tr>
              <a:tr h="370840">
                <a:tc>
                  <a:txBody>
                    <a:bodyPr/>
                    <a:lstStyle/>
                    <a:p>
                      <a:pPr algn="l"/>
                      <a:endParaRPr lang="en-AU" b="1" dirty="0" smtClean="0"/>
                    </a:p>
                    <a:p>
                      <a:pPr algn="l"/>
                      <a:endParaRPr lang="en-AU" b="1" dirty="0" smtClean="0"/>
                    </a:p>
                    <a:p>
                      <a:pPr algn="l"/>
                      <a:r>
                        <a:rPr lang="en-AU" b="1" dirty="0" smtClean="0"/>
                        <a:t>17</a:t>
                      </a:r>
                    </a:p>
                    <a:p>
                      <a:pPr algn="l"/>
                      <a:endParaRPr lang="en-AU" b="1" dirty="0" smtClean="0"/>
                    </a:p>
                    <a:p>
                      <a:pPr algn="l"/>
                      <a:endParaRPr lang="en-AU" b="1" dirty="0" smtClean="0"/>
                    </a:p>
                  </a:txBody>
                  <a:tcPr/>
                </a:tc>
                <a:tc>
                  <a:txBody>
                    <a:bodyPr/>
                    <a:lstStyle/>
                    <a:p>
                      <a:endParaRPr lang="en-AU" dirty="0"/>
                    </a:p>
                  </a:txBody>
                  <a:tcPr/>
                </a:tc>
              </a:tr>
              <a:tr h="370840">
                <a:tc>
                  <a:txBody>
                    <a:bodyPr/>
                    <a:lstStyle/>
                    <a:p>
                      <a:pPr algn="l"/>
                      <a:endParaRPr lang="en-AU" b="1" dirty="0" smtClean="0"/>
                    </a:p>
                    <a:p>
                      <a:pPr algn="l"/>
                      <a:endParaRPr lang="en-AU" b="1" dirty="0" smtClean="0"/>
                    </a:p>
                    <a:p>
                      <a:pPr algn="l"/>
                      <a:r>
                        <a:rPr lang="en-AU" b="1" dirty="0" smtClean="0"/>
                        <a:t>18</a:t>
                      </a:r>
                    </a:p>
                    <a:p>
                      <a:pPr algn="l"/>
                      <a:endParaRPr lang="en-AU" b="1" dirty="0" smtClean="0"/>
                    </a:p>
                    <a:p>
                      <a:pPr algn="l"/>
                      <a:endParaRPr lang="en-AU" b="1" dirty="0"/>
                    </a:p>
                  </a:txBody>
                  <a:tcPr/>
                </a:tc>
                <a:tc>
                  <a:txBody>
                    <a:bodyPr/>
                    <a:lstStyle/>
                    <a:p>
                      <a:endParaRPr lang="en-AU" dirty="0"/>
                    </a:p>
                  </a:txBody>
                  <a:tcPr/>
                </a:tc>
              </a:tr>
            </a:tbl>
          </a:graphicData>
        </a:graphic>
      </p:graphicFrame>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2312</TotalTime>
  <Words>8141</Words>
  <Application>Microsoft Office PowerPoint</Application>
  <PresentationFormat>On-screen Show (4:3)</PresentationFormat>
  <Paragraphs>958</Paragraphs>
  <Slides>71</Slides>
  <Notes>64</Notes>
  <HiddenSlides>0</HiddenSlides>
  <MMClips>0</MMClips>
  <ScaleCrop>false</ScaleCrop>
  <HeadingPairs>
    <vt:vector size="4" baseType="variant">
      <vt:variant>
        <vt:lpstr>Theme</vt:lpstr>
      </vt:variant>
      <vt:variant>
        <vt:i4>1</vt:i4>
      </vt:variant>
      <vt:variant>
        <vt:lpstr>Slide Titles</vt:lpstr>
      </vt:variant>
      <vt:variant>
        <vt:i4>71</vt:i4>
      </vt:variant>
    </vt:vector>
  </HeadingPairs>
  <TitlesOfParts>
    <vt:vector size="72" baseType="lpstr">
      <vt:lpstr>Median</vt:lpstr>
      <vt:lpstr>Slide 1</vt:lpstr>
      <vt:lpstr>What will be delivered by Friday 27 July 2012 to VCE providers </vt:lpstr>
      <vt:lpstr>What’s new in 2013</vt:lpstr>
      <vt:lpstr>Higher education studies and the ATAR </vt:lpstr>
      <vt:lpstr>Your best resources (subscribe, subscribe, subscribe)</vt:lpstr>
      <vt:lpstr>What’s in the printed Guide </vt:lpstr>
      <vt:lpstr>Sample course entry in printed Guide </vt:lpstr>
      <vt:lpstr>The course entries</vt:lpstr>
      <vt:lpstr>Qualifications through VTAC </vt:lpstr>
      <vt:lpstr>VET and Higher education - colour coding </vt:lpstr>
      <vt:lpstr>Slide 11</vt:lpstr>
      <vt:lpstr>Slide 12</vt:lpstr>
      <vt:lpstr>Case study:  Courses, qualifications and course types </vt:lpstr>
      <vt:lpstr>Three things you now know about:  courses, qualifications and types  </vt:lpstr>
      <vt:lpstr>The application process </vt:lpstr>
      <vt:lpstr>Application process for courses through VTAC </vt:lpstr>
      <vt:lpstr>Courses via direct application </vt:lpstr>
      <vt:lpstr>STEP 1: VTAC Registration Process</vt:lpstr>
      <vt:lpstr>STEP 1: VTAC Registration Process continued…</vt:lpstr>
      <vt:lpstr> VTAC CourseLink Registration Page</vt:lpstr>
      <vt:lpstr>Four tips to assist in the registration process</vt:lpstr>
      <vt:lpstr>Step 2: The course application </vt:lpstr>
      <vt:lpstr>Step 2: The course application continued…</vt:lpstr>
      <vt:lpstr>Where to access student course preferences on CourseLink </vt:lpstr>
      <vt:lpstr>Where to access all of your student course preferences on CourseLink </vt:lpstr>
      <vt:lpstr>Case studies:  The registration and course application process </vt:lpstr>
      <vt:lpstr>Golden rules of the course application</vt:lpstr>
      <vt:lpstr>Three things you now know about: Registration and the course application  </vt:lpstr>
      <vt:lpstr>Special consideration:  Special entry access schemes </vt:lpstr>
      <vt:lpstr>Special entry access schemes  (SEAS) continued…</vt:lpstr>
      <vt:lpstr>SEAS categories include: </vt:lpstr>
      <vt:lpstr>SEAS categories include: </vt:lpstr>
      <vt:lpstr>CourseLink:  SNAP endorsement and PPP teacher recommendation</vt:lpstr>
      <vt:lpstr>Impact statements and  Statements of support </vt:lpstr>
      <vt:lpstr>Case studies: SEAS </vt:lpstr>
      <vt:lpstr>SEAS case studies and quick quiz</vt:lpstr>
      <vt:lpstr>Three things you now know about: SEAS  </vt:lpstr>
      <vt:lpstr>Scholarships </vt:lpstr>
      <vt:lpstr>Types of scholarships </vt:lpstr>
      <vt:lpstr>Types of scholarships through VTAC </vt:lpstr>
      <vt:lpstr>Three things you now know about: Scholarships </vt:lpstr>
      <vt:lpstr>The Australian Tertiary Admission Rank</vt:lpstr>
      <vt:lpstr>Golden rules of providing advice to Year 10 students in relation to scaling</vt:lpstr>
      <vt:lpstr>The Australian Tertiary  Admission Rank (ATAR)</vt:lpstr>
      <vt:lpstr>How the ATAR is calculated</vt:lpstr>
      <vt:lpstr>The ATAR continued…</vt:lpstr>
      <vt:lpstr>The ATAR continued…</vt:lpstr>
      <vt:lpstr>ATAR released to secondary students </vt:lpstr>
      <vt:lpstr>ATAR release to schools and privacy </vt:lpstr>
      <vt:lpstr>      CourseLink ATAR release screen</vt:lpstr>
      <vt:lpstr>ATAR release to schools </vt:lpstr>
      <vt:lpstr>Case studies:  Scaling and The ATAR </vt:lpstr>
      <vt:lpstr>Victorian International Baccalaureate</vt:lpstr>
      <vt:lpstr>Other ways to access an ATAR statement</vt:lpstr>
      <vt:lpstr>Domestic VCE students who don’t apply through VTAC  Previous VCE students who have lost their statement </vt:lpstr>
      <vt:lpstr>Three things you now know about: the ATAR, scaling and ATAR statements</vt:lpstr>
      <vt:lpstr>Change of preference </vt:lpstr>
      <vt:lpstr>Golden rules of change of preference </vt:lpstr>
      <vt:lpstr>Case studies: Change of preference</vt:lpstr>
      <vt:lpstr>How to read selection data </vt:lpstr>
      <vt:lpstr>Three things you now know about: Change of preference</vt:lpstr>
      <vt:lpstr>The offer system </vt:lpstr>
      <vt:lpstr>The offer rounds </vt:lpstr>
      <vt:lpstr>How the offer system works</vt:lpstr>
      <vt:lpstr>How the offer system works continued…</vt:lpstr>
      <vt:lpstr>Golden rules of receiving an offer </vt:lpstr>
      <vt:lpstr>Negotiated offers </vt:lpstr>
      <vt:lpstr>Supplementary offers</vt:lpstr>
      <vt:lpstr>Offers for direct applications </vt:lpstr>
      <vt:lpstr>Case studies</vt:lpstr>
      <vt:lpstr>Three things you now know about: Offers</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VTAC Briefing</dc:title>
  <dc:creator>david.osbourne</dc:creator>
  <cp:lastModifiedBy> Alex Lum</cp:lastModifiedBy>
  <cp:revision>291</cp:revision>
  <dcterms:created xsi:type="dcterms:W3CDTF">2012-05-21T06:03:38Z</dcterms:created>
  <dcterms:modified xsi:type="dcterms:W3CDTF">2012-07-23T01:27:46Z</dcterms:modified>
</cp:coreProperties>
</file>