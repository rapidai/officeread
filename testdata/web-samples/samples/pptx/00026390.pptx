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7" r:id="rId2"/>
    <p:sldId id="259" r:id="rId3"/>
    <p:sldId id="262" r:id="rId4"/>
    <p:sldId id="263" r:id="rId5"/>
    <p:sldId id="311" r:id="rId6"/>
    <p:sldId id="264" r:id="rId7"/>
    <p:sldId id="266" r:id="rId8"/>
    <p:sldId id="268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279" r:id="rId21"/>
    <p:sldId id="280" r:id="rId22"/>
    <p:sldId id="281" r:id="rId23"/>
    <p:sldId id="283" r:id="rId24"/>
    <p:sldId id="285" r:id="rId25"/>
  </p:sldIdLst>
  <p:sldSz cx="9144000" cy="6858000" type="screen4x3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777F"/>
    <a:srgbClr val="00757E"/>
    <a:srgbClr val="427294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308" y="-22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216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054AD4-EA2B-4BC1-94C7-652633F695BA}" type="datetimeFigureOut">
              <a:rPr lang="en-GB" smtClean="0"/>
              <a:pPr/>
              <a:t>30/11/2012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23A7B-0D74-4F6C-924F-1B33BD74804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19617221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9C391E-B2C9-4A55-B1C3-82D4F7183543}" type="datetimeFigureOut">
              <a:rPr lang="en-GB" smtClean="0"/>
              <a:pPr/>
              <a:t>30/11/2012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0F890-7C90-4826-B514-D6574D758E5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406735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A66C50-BE90-4C69-B878-2958C26654FB}" type="slidenum">
              <a:rPr lang="en-GB"/>
              <a:pPr/>
              <a:t>1</a:t>
            </a:fld>
            <a:endParaRPr lang="en-GB" dirty="0"/>
          </a:p>
        </p:txBody>
      </p:sp>
      <p:sp>
        <p:nvSpPr>
          <p:cNvPr id="448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8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0500E6-DA37-4881-AE15-E32DA95FE328}" type="slidenum">
              <a:rPr lang="en-GB"/>
              <a:pPr/>
              <a:t>2</a:t>
            </a:fld>
            <a:endParaRPr lang="en-GB" dirty="0"/>
          </a:p>
        </p:txBody>
      </p:sp>
      <p:sp>
        <p:nvSpPr>
          <p:cNvPr id="90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0E0E97-5ED1-4C61-81AF-428736E2CDF4}" type="slidenum">
              <a:rPr lang="en-GB"/>
              <a:pPr/>
              <a:t>4</a:t>
            </a:fld>
            <a:endParaRPr lang="en-GB" dirty="0"/>
          </a:p>
        </p:txBody>
      </p:sp>
      <p:sp>
        <p:nvSpPr>
          <p:cNvPr id="1013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0E0E97-5ED1-4C61-81AF-428736E2CDF4}" type="slidenum">
              <a:rPr lang="en-GB"/>
              <a:pPr/>
              <a:t>5</a:t>
            </a:fld>
            <a:endParaRPr lang="en-GB" dirty="0"/>
          </a:p>
        </p:txBody>
      </p:sp>
      <p:sp>
        <p:nvSpPr>
          <p:cNvPr id="1013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0E0E97-5ED1-4C61-81AF-428736E2CDF4}" type="slidenum">
              <a:rPr lang="en-GB"/>
              <a:pPr/>
              <a:t>6</a:t>
            </a:fld>
            <a:endParaRPr lang="en-GB" dirty="0"/>
          </a:p>
        </p:txBody>
      </p:sp>
      <p:sp>
        <p:nvSpPr>
          <p:cNvPr id="1013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6A0BCA-2AEB-4F86-BCD5-D98AEDBBD26B}" type="slidenum">
              <a:rPr lang="en-GB"/>
              <a:pPr/>
              <a:t>8</a:t>
            </a:fld>
            <a:endParaRPr lang="en-GB"/>
          </a:p>
        </p:txBody>
      </p:sp>
      <p:sp>
        <p:nvSpPr>
          <p:cNvPr id="1019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9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6A0BCA-2AEB-4F86-BCD5-D98AEDBBD26B}" type="slidenum">
              <a:rPr lang="en-GB"/>
              <a:pPr/>
              <a:t>9</a:t>
            </a:fld>
            <a:endParaRPr lang="en-GB"/>
          </a:p>
        </p:txBody>
      </p:sp>
      <p:sp>
        <p:nvSpPr>
          <p:cNvPr id="1019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9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6A0BCA-2AEB-4F86-BCD5-D98AEDBBD26B}" type="slidenum">
              <a:rPr lang="en-GB"/>
              <a:pPr/>
              <a:t>10</a:t>
            </a:fld>
            <a:endParaRPr lang="en-GB"/>
          </a:p>
        </p:txBody>
      </p:sp>
      <p:sp>
        <p:nvSpPr>
          <p:cNvPr id="1019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9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6A0BCA-2AEB-4F86-BCD5-D98AEDBBD26B}" type="slidenum">
              <a:rPr lang="en-GB"/>
              <a:pPr/>
              <a:t>11</a:t>
            </a:fld>
            <a:endParaRPr lang="en-GB"/>
          </a:p>
        </p:txBody>
      </p:sp>
      <p:sp>
        <p:nvSpPr>
          <p:cNvPr id="1019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9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6A0BCA-2AEB-4F86-BCD5-D98AEDBBD26B}" type="slidenum">
              <a:rPr lang="en-GB"/>
              <a:pPr/>
              <a:t>12</a:t>
            </a:fld>
            <a:endParaRPr lang="en-GB"/>
          </a:p>
        </p:txBody>
      </p:sp>
      <p:sp>
        <p:nvSpPr>
          <p:cNvPr id="1019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9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6A0BCA-2AEB-4F86-BCD5-D98AEDBBD26B}" type="slidenum">
              <a:rPr lang="en-GB"/>
              <a:pPr/>
              <a:t>13</a:t>
            </a:fld>
            <a:endParaRPr lang="en-GB"/>
          </a:p>
        </p:txBody>
      </p:sp>
      <p:sp>
        <p:nvSpPr>
          <p:cNvPr id="1019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9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6A0BCA-2AEB-4F86-BCD5-D98AEDBBD26B}" type="slidenum">
              <a:rPr lang="en-GB"/>
              <a:pPr/>
              <a:t>14</a:t>
            </a:fld>
            <a:endParaRPr lang="en-GB"/>
          </a:p>
        </p:txBody>
      </p:sp>
      <p:sp>
        <p:nvSpPr>
          <p:cNvPr id="1019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9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6A0BCA-2AEB-4F86-BCD5-D98AEDBBD26B}" type="slidenum">
              <a:rPr lang="en-GB"/>
              <a:pPr/>
              <a:t>15</a:t>
            </a:fld>
            <a:endParaRPr lang="en-GB"/>
          </a:p>
        </p:txBody>
      </p:sp>
      <p:sp>
        <p:nvSpPr>
          <p:cNvPr id="1019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9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6A0BCA-2AEB-4F86-BCD5-D98AEDBBD26B}" type="slidenum">
              <a:rPr lang="en-GB"/>
              <a:pPr/>
              <a:t>16</a:t>
            </a:fld>
            <a:endParaRPr lang="en-GB"/>
          </a:p>
        </p:txBody>
      </p:sp>
      <p:sp>
        <p:nvSpPr>
          <p:cNvPr id="1019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9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6A0BCA-2AEB-4F86-BCD5-D98AEDBBD26B}" type="slidenum">
              <a:rPr lang="en-GB"/>
              <a:pPr/>
              <a:t>17</a:t>
            </a:fld>
            <a:endParaRPr lang="en-GB"/>
          </a:p>
        </p:txBody>
      </p:sp>
      <p:sp>
        <p:nvSpPr>
          <p:cNvPr id="1019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9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6A0BCA-2AEB-4F86-BCD5-D98AEDBBD26B}" type="slidenum">
              <a:rPr lang="en-GB"/>
              <a:pPr/>
              <a:t>18</a:t>
            </a:fld>
            <a:endParaRPr lang="en-GB"/>
          </a:p>
        </p:txBody>
      </p:sp>
      <p:sp>
        <p:nvSpPr>
          <p:cNvPr id="1019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9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6A0BCA-2AEB-4F86-BCD5-D98AEDBBD26B}" type="slidenum">
              <a:rPr lang="en-GB"/>
              <a:pPr/>
              <a:t>19</a:t>
            </a:fld>
            <a:endParaRPr lang="en-GB"/>
          </a:p>
        </p:txBody>
      </p:sp>
      <p:sp>
        <p:nvSpPr>
          <p:cNvPr id="1019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9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C9DA2C7-0B9C-49E8-AAB1-F684FEADBA37}" type="slidenum">
              <a:rPr lang="en-GB"/>
              <a:pPr/>
              <a:t>21</a:t>
            </a:fld>
            <a:endParaRPr lang="en-GB" dirty="0"/>
          </a:p>
        </p:txBody>
      </p:sp>
      <p:sp>
        <p:nvSpPr>
          <p:cNvPr id="850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0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3808C5-8508-4092-8BFE-27DAD7C7D1D4}" type="slidenum">
              <a:rPr lang="en-GB"/>
              <a:pPr/>
              <a:t>22</a:t>
            </a:fld>
            <a:endParaRPr lang="en-GB" dirty="0"/>
          </a:p>
        </p:txBody>
      </p:sp>
      <p:sp>
        <p:nvSpPr>
          <p:cNvPr id="1025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5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88D04D-9CC8-4BF7-BD19-7652845DFB68}" type="slidenum">
              <a:rPr lang="en-GB"/>
              <a:pPr/>
              <a:t>23</a:t>
            </a:fld>
            <a:endParaRPr lang="en-GB" dirty="0"/>
          </a:p>
        </p:txBody>
      </p:sp>
      <p:sp>
        <p:nvSpPr>
          <p:cNvPr id="960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0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88D04D-9CC8-4BF7-BD19-7652845DFB68}" type="slidenum">
              <a:rPr lang="en-GB"/>
              <a:pPr/>
              <a:t>24</a:t>
            </a:fld>
            <a:endParaRPr lang="en-GB"/>
          </a:p>
        </p:txBody>
      </p:sp>
      <p:sp>
        <p:nvSpPr>
          <p:cNvPr id="960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0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92896"/>
            <a:ext cx="7772400" cy="172819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581128"/>
            <a:ext cx="6400800" cy="105767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Date tbi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GU 2012 staff survey -  MVLS College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60164-1179-4950-9184-96B7D9048AD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9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692696"/>
            <a:ext cx="4495800" cy="139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3304776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Date tbi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GU 2012 staff survey -  MVLS College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60164-1179-4950-9184-96B7D9048AD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1820534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Date tbi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GU 2012 staff survey -  MVLS College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60164-1179-4950-9184-96B7D9048AD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0845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80728"/>
            <a:ext cx="4068000" cy="540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80728"/>
            <a:ext cx="4068000" cy="540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Date tbi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GU 2012 staff survey -  MVLS College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60164-1179-4950-9184-96B7D9048AD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199890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Date tbi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GU 2012 staff survey -  MVLS College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60164-1179-4950-9184-96B7D9048AD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365089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80000" cy="576064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Date tbi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GU 2012 staff survey -  MVLS College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60164-1179-4950-9184-96B7D9048AD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1443320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Date tbi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GU 2012 staff survey -  MVLS College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60164-1179-4950-9184-96B7D9048AD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1552848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Date tbi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GU 2012 staff survey -  MVLS College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60164-1179-4950-9184-96B7D9048AD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096539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Date tbi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GU 2012 staff survey -  MVLS College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60164-1179-4950-9184-96B7D9048AD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83751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Date tbi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GU 2012 staff survey -  MVLS College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60164-1179-4950-9184-96B7D9048AD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927351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Date tbi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GU 2012 staff survey -  MVLS College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60164-1179-4950-9184-96B7D9048AD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4163917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80000" cy="792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80728"/>
            <a:ext cx="8280000" cy="54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53336"/>
            <a:ext cx="2133600" cy="268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Date tbi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53336"/>
            <a:ext cx="2895600" cy="268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GU 2012 staff survey -  MVLS College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53336"/>
            <a:ext cx="2133600" cy="268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460164-1179-4950-9184-96B7D9048AD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75886" y="0"/>
            <a:ext cx="54000" cy="6858000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 userDrawn="1"/>
        </p:nvSpPr>
        <p:spPr>
          <a:xfrm>
            <a:off x="-8626" y="0"/>
            <a:ext cx="54000" cy="6858000"/>
          </a:xfrm>
          <a:prstGeom prst="rect">
            <a:avLst/>
          </a:prstGeom>
          <a:solidFill>
            <a:srgbClr val="0077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741734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9" name="Rectangle 7"/>
          <p:cNvSpPr>
            <a:spLocks noGrp="1" noChangeArrowheads="1"/>
          </p:cNvSpPr>
          <p:nvPr>
            <p:ph type="ctrTitle"/>
          </p:nvPr>
        </p:nvSpPr>
        <p:spPr>
          <a:noFill/>
        </p:spPr>
        <p:txBody>
          <a:bodyPr anchor="ctr">
            <a:normAutofit fontScale="90000"/>
          </a:bodyPr>
          <a:lstStyle/>
          <a:p>
            <a:r>
              <a:rPr lang="en-GB" noProof="0" dirty="0" smtClean="0"/>
              <a:t>Glasgow </a:t>
            </a:r>
            <a:r>
              <a:rPr lang="en-GB" noProof="0" dirty="0"/>
              <a:t>University Staff Survey </a:t>
            </a:r>
            <a:r>
              <a:rPr lang="en-GB" noProof="0" dirty="0" smtClean="0"/>
              <a:t>2012</a:t>
            </a:r>
            <a:r>
              <a:rPr lang="en-GB" noProof="0" dirty="0"/>
              <a:t/>
            </a:r>
            <a:br>
              <a:rPr lang="en-GB" noProof="0" dirty="0"/>
            </a:br>
            <a:r>
              <a:rPr lang="en-GB" noProof="0" dirty="0" smtClean="0"/>
              <a:t>MVLS College Presentation</a:t>
            </a:r>
            <a:br>
              <a:rPr lang="en-GB" noProof="0" dirty="0" smtClean="0"/>
            </a:br>
            <a:endParaRPr lang="en-GB" sz="2400" noProof="0" dirty="0">
              <a:solidFill>
                <a:srgbClr val="FF0000"/>
              </a:solidFill>
            </a:endParaRPr>
          </a:p>
        </p:txBody>
      </p:sp>
      <p:sp>
        <p:nvSpPr>
          <p:cNvPr id="294920" name="Rectangle 8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/>
              <a:t>Ian Black, HR Director</a:t>
            </a:r>
          </a:p>
          <a:p>
            <a:r>
              <a:rPr lang="en-GB" noProof="0" dirty="0"/>
              <a:t>University of Glasgow</a:t>
            </a:r>
          </a:p>
        </p:txBody>
      </p:sp>
    </p:spTree>
    <p:extLst>
      <p:ext uri="{BB962C8B-B14F-4D97-AF65-F5344CB8AC3E}">
        <p14:creationId xmlns="" xmlns:p14="http://schemas.microsoft.com/office/powerpoint/2010/main" val="62269001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smtClean="0"/>
              <a:t>Purpose of GU 2012 Staff Survey</a:t>
            </a:r>
            <a:endParaRPr lang="en-GB" noProof="0" dirty="0"/>
          </a:p>
        </p:txBody>
      </p:sp>
      <p:sp>
        <p:nvSpPr>
          <p:cNvPr id="87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 smtClean="0"/>
              <a:t>1. To measure:</a:t>
            </a:r>
          </a:p>
          <a:p>
            <a:pPr lvl="1"/>
            <a:r>
              <a:rPr lang="en-GB" noProof="0" dirty="0" smtClean="0"/>
              <a:t>Staff Involvement</a:t>
            </a:r>
          </a:p>
          <a:p>
            <a:pPr lvl="1"/>
            <a:r>
              <a:rPr lang="en-GB" noProof="0" dirty="0" smtClean="0"/>
              <a:t>Staff Commitment</a:t>
            </a:r>
          </a:p>
          <a:p>
            <a:pPr lvl="1"/>
            <a:r>
              <a:rPr lang="en-GB" noProof="0" dirty="0" smtClean="0"/>
              <a:t>Staff Wellbeing</a:t>
            </a:r>
          </a:p>
          <a:p>
            <a:r>
              <a:rPr lang="en-GB" noProof="0" dirty="0" smtClean="0"/>
              <a:t>2. To determine: </a:t>
            </a:r>
          </a:p>
          <a:p>
            <a:pPr lvl="1"/>
            <a:r>
              <a:rPr lang="en-GB" noProof="0" dirty="0" smtClean="0"/>
              <a:t>Actions for building on favourable findings </a:t>
            </a:r>
          </a:p>
          <a:p>
            <a:pPr lvl="1"/>
            <a:r>
              <a:rPr lang="en-GB" noProof="0" dirty="0" smtClean="0"/>
              <a:t>Actions for addressing weaknesses </a:t>
            </a:r>
          </a:p>
          <a:p>
            <a:r>
              <a:rPr lang="en-GB" noProof="0" dirty="0" smtClean="0"/>
              <a:t>3. Where possible, to compare with 2009 survey findings</a:t>
            </a:r>
          </a:p>
          <a:p>
            <a:pPr lvl="1"/>
            <a:r>
              <a:rPr lang="en-GB" noProof="0" dirty="0" smtClean="0"/>
              <a:t>To look for continuous improvement</a:t>
            </a:r>
          </a:p>
          <a:p>
            <a:r>
              <a:rPr lang="en-GB" noProof="0" dirty="0" smtClean="0"/>
              <a:t>Restructure has limited 2009 </a:t>
            </a:r>
            <a:r>
              <a:rPr lang="en-GB" noProof="0" dirty="0" smtClean="0">
                <a:sym typeface="Wingdings" pitchFamily="2" charset="2"/>
              </a:rPr>
              <a:t> 2012 </a:t>
            </a:r>
            <a:r>
              <a:rPr lang="en-GB" noProof="0" dirty="0" smtClean="0"/>
              <a:t>comparison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Date </a:t>
            </a:r>
            <a:r>
              <a:rPr lang="en-US" dirty="0" err="1" smtClean="0"/>
              <a:t>tbi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GU 2012 staff survey -  MVLS College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BE0B7-2EF5-442E-B860-64EEC157EB6D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="" xmlns:p14="http://schemas.microsoft.com/office/powerpoint/2010/main" val="356405793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smtClean="0"/>
              <a:t>GU Response </a:t>
            </a:r>
            <a:r>
              <a:rPr lang="en-GB" noProof="0" dirty="0"/>
              <a:t>Rates by College/US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 smtClean="0"/>
              <a:t>Population as at March 2012</a:t>
            </a:r>
          </a:p>
          <a:p>
            <a:pPr lvl="1"/>
            <a:r>
              <a:rPr lang="en-GB" noProof="0" dirty="0" smtClean="0"/>
              <a:t>Base: 5,144; reduced from 6,056 to exclude: invigilators; adult education lecturers; tutors etc</a:t>
            </a:r>
          </a:p>
          <a:p>
            <a:pPr lvl="1"/>
            <a:r>
              <a:rPr lang="en-GB" noProof="0" dirty="0" smtClean="0"/>
              <a:t>Response: 1,780 (33%)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Date tbi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GU 2012 staff survey -  MVLS College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B74CA-C378-4BE0-A2F5-1C532EA1697D}" type="slidenum">
              <a:rPr lang="en-GB" smtClean="0"/>
              <a:pPr/>
              <a:t>3</a:t>
            </a:fld>
            <a:endParaRPr lang="en-GB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136721652"/>
              </p:ext>
            </p:extLst>
          </p:nvPr>
        </p:nvGraphicFramePr>
        <p:xfrm>
          <a:off x="1259632" y="2996952"/>
          <a:ext cx="6515100" cy="3048000"/>
        </p:xfrm>
        <a:graphic>
          <a:graphicData uri="http://schemas.openxmlformats.org/drawingml/2006/table">
            <a:tbl>
              <a:tblPr firstRow="1" bandRow="1"/>
              <a:tblGrid>
                <a:gridCol w="2373743"/>
                <a:gridCol w="1285249"/>
                <a:gridCol w="1434401"/>
                <a:gridCol w="1421707"/>
              </a:tblGrid>
              <a:tr h="381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/>
                        </a:rPr>
                        <a:t>College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/>
                        </a:rPr>
                        <a:t>Response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800" b="1" i="0" u="none" strike="noStrike">
                          <a:solidFill>
                            <a:srgbClr val="FFFFFF"/>
                          </a:solidFill>
                          <a:effectLst/>
                          <a:latin typeface="Tahoma"/>
                        </a:rPr>
                        <a:t>Population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800" b="1" i="0" u="none" strike="noStrike">
                          <a:solidFill>
                            <a:srgbClr val="FFFFFF"/>
                          </a:solidFill>
                          <a:effectLst/>
                          <a:latin typeface="Tahoma"/>
                        </a:rPr>
                        <a:t>Resp. Rate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01.Arts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147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369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40%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800" b="0" i="0" u="none" strike="noStrike">
                          <a:solidFill>
                            <a:srgbClr val="FFFFFF"/>
                          </a:solidFill>
                          <a:effectLst/>
                          <a:latin typeface="Tahoma"/>
                        </a:rPr>
                        <a:t>02.MVLS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C7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800" b="0" i="0" u="none" strike="noStrike">
                          <a:solidFill>
                            <a:srgbClr val="FFFFFF"/>
                          </a:solidFill>
                          <a:effectLst/>
                          <a:latin typeface="Tahoma"/>
                        </a:rPr>
                        <a:t>508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C7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800" b="0" i="0" u="none" strike="noStrike">
                          <a:solidFill>
                            <a:srgbClr val="FFFFFF"/>
                          </a:solidFill>
                          <a:effectLst/>
                          <a:latin typeface="Tahoma"/>
                        </a:rPr>
                        <a:t>1739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C7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800" b="0" i="0" u="none" strike="noStrike">
                          <a:solidFill>
                            <a:srgbClr val="FFFFFF"/>
                          </a:solidFill>
                          <a:effectLst/>
                          <a:latin typeface="Tahoma"/>
                        </a:rPr>
                        <a:t>29%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C7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03.Science &amp; Eng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231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835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28%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04.Soc Sc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196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532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37%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05.University Services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643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1966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33%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99.Not Disclosed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800" b="1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University Total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1780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800" b="1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5441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33%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BCBC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39853325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7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 smtClean="0"/>
              <a:t>GU Response Rates by Gender &amp; Job Family</a:t>
            </a:r>
            <a:endParaRPr lang="en-GB" noProof="0" dirty="0"/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4009335652"/>
              </p:ext>
            </p:extLst>
          </p:nvPr>
        </p:nvGraphicFramePr>
        <p:xfrm>
          <a:off x="1403648" y="980728"/>
          <a:ext cx="5719290" cy="53535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09878"/>
                <a:gridCol w="1200233"/>
                <a:gridCol w="1310369"/>
                <a:gridCol w="1398810"/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GB" sz="2000" b="1" u="none" strike="noStrike" kern="1200" dirty="0" smtClean="0">
                          <a:solidFill>
                            <a:schemeClr val="lt1"/>
                          </a:solidFill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Category</a:t>
                      </a:r>
                      <a:endParaRPr lang="en-GB" sz="2000" b="1" u="none" strike="noStrike" kern="1200" dirty="0">
                        <a:solidFill>
                          <a:schemeClr val="lt1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u="none" strike="noStrike" dirty="0" smtClean="0"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Response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u="none" strike="noStrike" dirty="0"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Population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u="none" strike="noStrike" dirty="0" smtClean="0"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Resp. </a:t>
                      </a:r>
                      <a:r>
                        <a:rPr lang="en-GB" sz="2000" u="none" strike="noStrike" dirty="0"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Rate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b"/>
                </a:tc>
              </a:tr>
              <a:tr h="468000"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u="none" strike="noStrike" dirty="0" smtClean="0"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Male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u="none" strike="noStrike" dirty="0" smtClean="0"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694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u="none" strike="noStrike" dirty="0" smtClean="0"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2502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u="none" strike="noStrike" dirty="0" smtClean="0"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28%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</a:tr>
              <a:tr h="468000"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u="none" strike="noStrike" dirty="0" smtClean="0"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Female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u="none" strike="noStrike" dirty="0" smtClean="0"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966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u="none" strike="noStrike" dirty="0" smtClean="0"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2939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u="none" strike="noStrike" dirty="0" smtClean="0"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33%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</a:tr>
              <a:tr h="468000"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Not Disclosed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120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-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-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</a:tr>
              <a:tr h="378425"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University Total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1" u="none" strike="noStrike" dirty="0"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1780</a:t>
                      </a:r>
                      <a:endParaRPr lang="en-GB" sz="2000" b="1" i="0" u="none" strike="noStrike" dirty="0"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1" u="none" strike="noStrike" dirty="0"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5441</a:t>
                      </a:r>
                      <a:endParaRPr lang="en-GB" sz="2000" b="1" i="0" u="none" strike="noStrike" dirty="0"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1" u="none" strike="noStrike" dirty="0"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33%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</a:tr>
              <a:tr h="468000"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u="none" strike="noStrike" dirty="0" smtClean="0"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1. R&amp;T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u="none" strike="noStrike" dirty="0" smtClean="0"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628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u="none" strike="noStrike" dirty="0" smtClean="0"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2116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u="none" strike="noStrike" dirty="0" smtClean="0"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30%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</a:tr>
              <a:tr h="468000"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u="none" strike="noStrike" dirty="0" smtClean="0"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2. MPA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740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u="none" strike="noStrike" dirty="0" smtClean="0"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1574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u="none" strike="noStrike" dirty="0" smtClean="0"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47%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</a:tr>
              <a:tr h="468000"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u="none" strike="noStrike" dirty="0" smtClean="0"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3. Tech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125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u="none" strike="noStrike" dirty="0" smtClean="0"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529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u="none" strike="noStrike" dirty="0" smtClean="0"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24%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</a:tr>
              <a:tr h="468000"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4. Ops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181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948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19%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</a:tr>
              <a:tr h="468000"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5. Clinical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30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274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11%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</a:tr>
              <a:tr h="392283"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u="none" strike="noStrike" dirty="0"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99.Not Disclosed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u="none" strike="noStrike" dirty="0"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55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u="none" strike="noStrike" dirty="0"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-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u="none" strike="noStrike" dirty="0"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-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</a:tr>
              <a:tr h="468000"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1" u="none" strike="noStrike" dirty="0" smtClean="0"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University Total</a:t>
                      </a:r>
                      <a:endParaRPr lang="en-GB" sz="2000" b="1" i="0" u="none" strike="noStrike" dirty="0"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1" u="none" strike="noStrike" dirty="0"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1780</a:t>
                      </a:r>
                      <a:endParaRPr lang="en-GB" sz="2000" b="1" i="0" u="none" strike="noStrike" dirty="0"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1" u="none" strike="noStrike" dirty="0"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5441</a:t>
                      </a:r>
                      <a:endParaRPr lang="en-GB" sz="2000" b="1" i="0" u="none" strike="noStrike" dirty="0"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1" u="none" strike="noStrike" dirty="0"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33%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8795" marR="8795" marT="9525" marB="0" anchor="ctr"/>
                </a:tc>
              </a:tr>
            </a:tbl>
          </a:graphicData>
        </a:graphic>
      </p:graphicFrame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Date tbi</a:t>
            </a:r>
            <a:endParaRPr lang="en-GB" dirty="0"/>
          </a:p>
        </p:txBody>
      </p:sp>
      <p:sp>
        <p:nvSpPr>
          <p:cNvPr id="6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GU 2012 staff survey -  MVLS College</a:t>
            </a:r>
            <a:endParaRPr lang="en-GB" dirty="0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CDD6-974A-4339-8C46-D9BDA30C8D3F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="" xmlns:p14="http://schemas.microsoft.com/office/powerpoint/2010/main" val="269376407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7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8280000" cy="792088"/>
          </a:xfrm>
        </p:spPr>
        <p:txBody>
          <a:bodyPr>
            <a:normAutofit/>
          </a:bodyPr>
          <a:lstStyle/>
          <a:p>
            <a:r>
              <a:rPr lang="en-GB" noProof="0" dirty="0" smtClean="0"/>
              <a:t>MVLS – Response by School etc.</a:t>
            </a:r>
            <a:endParaRPr lang="en-GB" noProof="0" dirty="0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Date tbi</a:t>
            </a:r>
            <a:endParaRPr lang="en-GB" dirty="0"/>
          </a:p>
        </p:txBody>
      </p:sp>
      <p:sp>
        <p:nvSpPr>
          <p:cNvPr id="6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GU 2012 staff survey -  MVLS College</a:t>
            </a:r>
            <a:endParaRPr lang="en-GB" dirty="0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CDD6-974A-4339-8C46-D9BDA30C8D3F}" type="slidenum">
              <a:rPr lang="en-GB" smtClean="0"/>
              <a:pPr/>
              <a:t>5</a:t>
            </a:fld>
            <a:endParaRPr lang="en-GB" dirty="0"/>
          </a:p>
        </p:txBody>
      </p:sp>
      <p:graphicFrame>
        <p:nvGraphicFramePr>
          <p:cNvPr id="9" name="Content Placeholder 6"/>
          <p:cNvGraphicFramePr>
            <a:graphicFrameLocks noGrp="1"/>
          </p:cNvGraphicFramePr>
          <p:nvPr>
            <p:ph idx="1"/>
          </p:nvPr>
        </p:nvGraphicFramePr>
        <p:xfrm>
          <a:off x="539552" y="1124744"/>
          <a:ext cx="7931224" cy="512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56"/>
                <a:gridCol w="1661356"/>
                <a:gridCol w="1982806"/>
                <a:gridCol w="198280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School</a:t>
                      </a:r>
                      <a:endParaRPr lang="en-GB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Sample n</a:t>
                      </a:r>
                      <a:endParaRPr lang="en-GB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Population N</a:t>
                      </a:r>
                      <a:endParaRPr lang="en-GB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% response</a:t>
                      </a:r>
                      <a:endParaRPr lang="en-GB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RI </a:t>
                      </a:r>
                      <a:r>
                        <a:rPr lang="en-GB" sz="1600" dirty="0" err="1" smtClean="0"/>
                        <a:t>Biodiv</a:t>
                      </a:r>
                      <a:r>
                        <a:rPr lang="en-GB" sz="1600" baseline="0" dirty="0" smtClean="0"/>
                        <a:t> Animal Comp</a:t>
                      </a:r>
                      <a:endParaRPr lang="en-GB" sz="1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29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75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39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RI Cancer Sciences</a:t>
                      </a:r>
                      <a:endParaRPr lang="en-GB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24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142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17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RI VC &amp; Medical Sc</a:t>
                      </a:r>
                      <a:endParaRPr lang="en-GB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40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170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24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RI Health &amp; Wellbeing</a:t>
                      </a:r>
                      <a:endParaRPr lang="en-GB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43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164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26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RI III</a:t>
                      </a:r>
                      <a:endParaRPr lang="en-GB" sz="1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55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278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20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RI Mo</a:t>
                      </a:r>
                      <a:r>
                        <a:rPr lang="en-GB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 Cell &amp; </a:t>
                      </a:r>
                      <a:r>
                        <a:rPr lang="en-GB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Syst</a:t>
                      </a:r>
                      <a:r>
                        <a:rPr lang="en-GB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Biol</a:t>
                      </a:r>
                      <a:endParaRPr lang="en-GB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21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102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21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RI </a:t>
                      </a:r>
                      <a:r>
                        <a:rPr lang="en-GB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Neuro</a:t>
                      </a:r>
                      <a:r>
                        <a:rPr lang="en-GB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&amp; Psych</a:t>
                      </a:r>
                      <a:endParaRPr lang="en-GB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28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96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29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Sch</a:t>
                      </a:r>
                      <a:r>
                        <a:rPr lang="en-GB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Life Sciences</a:t>
                      </a:r>
                      <a:endParaRPr lang="en-GB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24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92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26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Sch</a:t>
                      </a:r>
                      <a:r>
                        <a:rPr lang="en-GB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Medicine</a:t>
                      </a:r>
                      <a:endParaRPr lang="en-GB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79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338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23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Sch</a:t>
                      </a:r>
                      <a:r>
                        <a:rPr lang="en-GB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Vet Med</a:t>
                      </a:r>
                      <a:endParaRPr lang="en-GB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36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177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20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MVLS</a:t>
                      </a:r>
                      <a:r>
                        <a:rPr lang="en-GB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College Admin</a:t>
                      </a:r>
                      <a:endParaRPr lang="en-GB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26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105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25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Disclosed</a:t>
                      </a:r>
                      <a:endParaRPr lang="en-GB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103</a:t>
                      </a:r>
                      <a:endParaRPr lang="en-GB" sz="20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69376407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7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College </a:t>
            </a:r>
            <a:r>
              <a:rPr lang="en-GB" noProof="0" dirty="0" smtClean="0"/>
              <a:t>Response by Gender &amp; Job Family</a:t>
            </a:r>
            <a:endParaRPr lang="en-GB" noProof="0" dirty="0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Date tbi</a:t>
            </a:r>
            <a:endParaRPr lang="en-GB" dirty="0"/>
          </a:p>
        </p:txBody>
      </p:sp>
      <p:sp>
        <p:nvSpPr>
          <p:cNvPr id="6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GU 2012 staff survey -  MVLS College</a:t>
            </a:r>
            <a:endParaRPr lang="en-GB" dirty="0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CDD6-974A-4339-8C46-D9BDA30C8D3F}" type="slidenum">
              <a:rPr lang="en-GB" smtClean="0"/>
              <a:pPr/>
              <a:t>6</a:t>
            </a:fld>
            <a:endParaRPr lang="en-GB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474257940"/>
              </p:ext>
            </p:extLst>
          </p:nvPr>
        </p:nvGraphicFramePr>
        <p:xfrm>
          <a:off x="1403648" y="1052736"/>
          <a:ext cx="6120680" cy="4896540"/>
        </p:xfrm>
        <a:graphic>
          <a:graphicData uri="http://schemas.openxmlformats.org/drawingml/2006/table">
            <a:tbl>
              <a:tblPr/>
              <a:tblGrid>
                <a:gridCol w="2024376"/>
                <a:gridCol w="1294106"/>
                <a:gridCol w="1416384"/>
                <a:gridCol w="1385814"/>
              </a:tblGrid>
              <a:tr h="408045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MVLS College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Response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Population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Resp. Rate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08045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Male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188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703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27%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  <a:tr h="408045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Female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302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1036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29%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</a:tr>
              <a:tr h="408045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Not Disclosed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  <a:tr h="408045"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MVLS Total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508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1739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29%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</a:tr>
              <a:tr h="408045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R&amp;T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253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805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31%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  <a:tr h="408045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MPA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317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48%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</a:tr>
              <a:tr h="408045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Tech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286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  <a:tr h="408045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Ops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</a:tr>
              <a:tr h="408045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Clinical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273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  <a:tr h="408045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Not Disclosed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</a:tr>
              <a:tr h="408045"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MVLS Total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508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1739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29%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5562113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smtClean="0"/>
              <a:t>10 question items used as GU KPIs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Date tbi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GU 2012 staff survey -  MVLS College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B74CA-C378-4BE0-A2F5-1C532EA1697D}" type="slidenum">
              <a:rPr lang="en-GB" smtClean="0"/>
              <a:pPr/>
              <a:t>7</a:t>
            </a:fld>
            <a:endParaRPr lang="en-GB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3820150381"/>
              </p:ext>
            </p:extLst>
          </p:nvPr>
        </p:nvGraphicFramePr>
        <p:xfrm>
          <a:off x="731311" y="972000"/>
          <a:ext cx="7730632" cy="504929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197272"/>
                <a:gridCol w="1533360"/>
              </a:tblGrid>
              <a:tr h="393705"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KPI Question Item</a:t>
                      </a:r>
                      <a:endParaRPr lang="en-GB" sz="1600" b="1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Measure (%)</a:t>
                      </a:r>
                      <a:endParaRPr lang="en-GB" sz="1600" b="1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/>
                </a:tc>
              </a:tr>
              <a:tr h="458636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KPI </a:t>
                      </a:r>
                      <a:r>
                        <a:rPr lang="en-US" sz="160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1:</a:t>
                      </a:r>
                      <a:r>
                        <a:rPr lang="en-US" sz="1600" u="none" strike="noStrike" baseline="0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 </a:t>
                      </a:r>
                      <a:r>
                        <a:rPr lang="en-US" sz="160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Understanding </a:t>
                      </a:r>
                      <a:r>
                        <a:rPr lang="en-US" sz="160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of team aims</a:t>
                      </a:r>
                      <a:endParaRPr lang="en-US" sz="16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VG + Good + Satis</a:t>
                      </a:r>
                      <a:endParaRPr lang="en-GB" sz="16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/>
                </a:tc>
              </a:tr>
              <a:tr h="458636"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KPI </a:t>
                      </a:r>
                      <a:r>
                        <a:rPr lang="en-GB" sz="160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2: Understanding </a:t>
                      </a:r>
                      <a:r>
                        <a:rPr lang="en-GB" sz="160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of </a:t>
                      </a:r>
                      <a:r>
                        <a:rPr lang="en-GB" sz="160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performance</a:t>
                      </a:r>
                      <a:r>
                        <a:rPr lang="en-GB" sz="1600" u="none" strike="noStrike" baseline="0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 </a:t>
                      </a:r>
                      <a:r>
                        <a:rPr lang="en-GB" sz="160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expectations</a:t>
                      </a:r>
                      <a:endParaRPr lang="en-GB" sz="16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VG + Good + Satis</a:t>
                      </a:r>
                      <a:endParaRPr lang="en-GB" sz="16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/>
                </a:tc>
              </a:tr>
              <a:tr h="458636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KPI </a:t>
                      </a:r>
                      <a:r>
                        <a:rPr lang="en-US" sz="160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3:</a:t>
                      </a:r>
                      <a:r>
                        <a:rPr lang="en-US" sz="1600" u="none" strike="noStrike" baseline="0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 </a:t>
                      </a:r>
                      <a:r>
                        <a:rPr lang="en-US" sz="160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How </a:t>
                      </a:r>
                      <a:r>
                        <a:rPr lang="en-US" sz="160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often praised for a job well done</a:t>
                      </a:r>
                      <a:endParaRPr lang="en-US" sz="16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At least </a:t>
                      </a:r>
                      <a:r>
                        <a:rPr lang="en-GB" sz="160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6 </a:t>
                      </a:r>
                      <a:r>
                        <a:rPr lang="en-GB" sz="160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monthly</a:t>
                      </a:r>
                      <a:endParaRPr lang="en-GB" sz="16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/>
                </a:tc>
              </a:tr>
              <a:tr h="527861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KPI </a:t>
                      </a:r>
                      <a:r>
                        <a:rPr lang="en-US" sz="160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4: How often do you discuss </a:t>
                      </a:r>
                      <a:r>
                        <a:rPr lang="en-US" sz="160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with manager how to improve working practices</a:t>
                      </a:r>
                      <a:endParaRPr lang="en-US" sz="16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At least annually</a:t>
                      </a:r>
                      <a:endParaRPr lang="en-GB" sz="16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/>
                </a:tc>
              </a:tr>
              <a:tr h="458636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KPI </a:t>
                      </a:r>
                      <a:r>
                        <a:rPr lang="en-US" sz="160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5:</a:t>
                      </a:r>
                      <a:r>
                        <a:rPr lang="en-US" sz="1600" u="none" strike="noStrike" baseline="0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 </a:t>
                      </a:r>
                      <a:r>
                        <a:rPr lang="en-US" sz="160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How </a:t>
                      </a:r>
                      <a:r>
                        <a:rPr lang="en-US" sz="160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often given performance feedback</a:t>
                      </a:r>
                      <a:endParaRPr lang="en-US" sz="16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at least </a:t>
                      </a:r>
                      <a:r>
                        <a:rPr lang="en-GB" sz="160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annually</a:t>
                      </a:r>
                      <a:endParaRPr lang="en-GB" sz="16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/>
                </a:tc>
              </a:tr>
              <a:tr h="458636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KPI </a:t>
                      </a:r>
                      <a:r>
                        <a:rPr lang="en-US" sz="160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6: How </a:t>
                      </a:r>
                      <a:r>
                        <a:rPr lang="en-US" sz="160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good are </a:t>
                      </a:r>
                      <a:r>
                        <a:rPr lang="en-US" sz="160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communications </a:t>
                      </a:r>
                      <a:r>
                        <a:rPr lang="en-US" sz="160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within </a:t>
                      </a:r>
                      <a:r>
                        <a:rPr lang="en-US" sz="160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your </a:t>
                      </a:r>
                      <a:r>
                        <a:rPr lang="en-US" sz="160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work team</a:t>
                      </a:r>
                      <a:endParaRPr lang="en-US" sz="16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Ex + Good + Satis</a:t>
                      </a:r>
                      <a:endParaRPr lang="en-GB" sz="16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/>
                </a:tc>
              </a:tr>
              <a:tr h="458636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KPI </a:t>
                      </a:r>
                      <a:r>
                        <a:rPr lang="en-US" sz="160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7: how </a:t>
                      </a:r>
                      <a:r>
                        <a:rPr lang="en-US" sz="160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good are </a:t>
                      </a:r>
                      <a:r>
                        <a:rPr lang="en-US" sz="160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communications </a:t>
                      </a:r>
                      <a:r>
                        <a:rPr lang="en-US" sz="160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with other teams in School/RI/S</a:t>
                      </a:r>
                      <a:endParaRPr lang="en-US" sz="16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Ex + Good + Satis</a:t>
                      </a:r>
                      <a:endParaRPr lang="en-GB" sz="16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/>
                </a:tc>
              </a:tr>
              <a:tr h="458636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KPI </a:t>
                      </a:r>
                      <a:r>
                        <a:rPr lang="en-US" sz="160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8: How </a:t>
                      </a:r>
                      <a:r>
                        <a:rPr lang="en-US" sz="160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well are GU-wide changes communicated?</a:t>
                      </a:r>
                      <a:endParaRPr lang="en-US" sz="16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Ex + Good + Satis</a:t>
                      </a:r>
                      <a:endParaRPr lang="en-GB" sz="16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/>
                </a:tc>
              </a:tr>
              <a:tr h="458636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KPI </a:t>
                      </a:r>
                      <a:r>
                        <a:rPr lang="en-US" sz="160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9: I </a:t>
                      </a:r>
                      <a:r>
                        <a:rPr lang="en-US" sz="160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enjoy working in the University</a:t>
                      </a:r>
                      <a:endParaRPr lang="en-US" sz="16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Str Agree + Agree</a:t>
                      </a:r>
                      <a:endParaRPr lang="en-GB" sz="16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/>
                </a:tc>
              </a:tr>
              <a:tr h="458636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KPI </a:t>
                      </a:r>
                      <a:r>
                        <a:rPr lang="en-US" sz="160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10: I </a:t>
                      </a:r>
                      <a:r>
                        <a:rPr lang="en-US" sz="160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feel loyal and supportive to the University</a:t>
                      </a:r>
                      <a:endParaRPr lang="en-US" sz="16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60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Str Agree + Agree</a:t>
                      </a:r>
                      <a:endParaRPr lang="en-GB" sz="16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01049595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8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 dirty="0" smtClean="0"/>
              <a:t>Average of all GU KPIs 1-10</a:t>
            </a:r>
            <a:endParaRPr lang="en-GB" noProof="0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Date tbi</a:t>
            </a:r>
            <a:endParaRPr lang="en-GB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GU 2012 staff survey -  MVLS College</a:t>
            </a:r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B5F56-2D17-49DA-BAE8-CE1FA1F031B6}" type="slidenum">
              <a:rPr lang="en-GB" smtClean="0"/>
              <a:pPr/>
              <a:t>8</a:t>
            </a:fld>
            <a:endParaRPr lang="en-GB"/>
          </a:p>
        </p:txBody>
      </p:sp>
      <p:pic>
        <p:nvPicPr>
          <p:cNvPr id="7" name="Picture 6"/>
          <p:cNvPicPr/>
          <p:nvPr>
            <p:extLst>
              <p:ext uri="{D42A27DB-BD31-4B8C-83A1-F6EECF244321}">
                <p14:modId xmlns="" xmlns:p14="http://schemas.microsoft.com/office/powerpoint/2010/main" val="2524614189"/>
              </p:ext>
            </p:extLst>
          </p:nvPr>
        </p:nvPicPr>
        <p:blipFill>
          <a:blip r:embed="rId3" cstate="print"/>
          <a:stretch>
            <a:fillRect/>
          </a:stretch>
        </p:blipFill>
        <p:spPr>
          <a:xfrm>
            <a:off x="649076" y="548681"/>
            <a:ext cx="7606143" cy="60077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7175" y="5517233"/>
            <a:ext cx="1263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 smtClean="0"/>
              <a:t>**Heterosexual/straight and LGBT, as worded in the questionnaire</a:t>
            </a:r>
            <a:endParaRPr lang="en-GB" sz="800" dirty="0"/>
          </a:p>
        </p:txBody>
      </p:sp>
      <p:sp>
        <p:nvSpPr>
          <p:cNvPr id="8" name="TextBox 7"/>
          <p:cNvSpPr txBox="1"/>
          <p:nvPr/>
        </p:nvSpPr>
        <p:spPr>
          <a:xfrm>
            <a:off x="6479745" y="4941168"/>
            <a:ext cx="1263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 smtClean="0"/>
              <a:t>*Disability Reported or No Disability Reported</a:t>
            </a:r>
            <a:endParaRPr lang="en-GB" sz="800" dirty="0"/>
          </a:p>
        </p:txBody>
      </p:sp>
    </p:spTree>
    <p:extLst>
      <p:ext uri="{BB962C8B-B14F-4D97-AF65-F5344CB8AC3E}">
        <p14:creationId xmlns="" xmlns:p14="http://schemas.microsoft.com/office/powerpoint/2010/main" val="7065395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smtClean="0"/>
              <a:t>Average of all MVLS College KPIs 1-10</a:t>
            </a:r>
            <a:endParaRPr lang="en-GB" noProof="0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Date tbi</a:t>
            </a:r>
            <a:endParaRPr lang="en-GB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GU 2012 staff survey -  Social Sciences College</a:t>
            </a:r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B5F56-2D17-49DA-BAE8-CE1FA1F031B6}" type="slidenum">
              <a:rPr lang="en-GB" smtClean="0"/>
              <a:pPr/>
              <a:t>9</a:t>
            </a:fld>
            <a:endParaRPr lang="en-GB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00" y="720000"/>
            <a:ext cx="8382000" cy="5468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356669635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smtClean="0"/>
              <a:t>KPI 1: Understanding of team aims (VG + G +S)</a:t>
            </a:r>
            <a:endParaRPr lang="en-GB" noProof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Date tbi</a:t>
            </a:r>
            <a:endParaRPr lang="en-GB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GU 2012 staff survey -  Social Sciences College</a:t>
            </a:r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B5F56-2D17-49DA-BAE8-CE1FA1F031B6}" type="slidenum">
              <a:rPr lang="en-GB" smtClean="0"/>
              <a:pPr/>
              <a:t>10</a:t>
            </a:fld>
            <a:endParaRPr lang="en-GB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00" y="720000"/>
            <a:ext cx="8389433" cy="5481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35311799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8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 smtClean="0"/>
              <a:t>KPI 2: Understanding of performance expectations (VG + G +S)</a:t>
            </a:r>
            <a:endParaRPr lang="en-GB" noProof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Date tbi</a:t>
            </a:r>
            <a:endParaRPr lang="en-GB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GU 2012 staff survey -  Social Sciences College</a:t>
            </a:r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B5F56-2D17-49DA-BAE8-CE1FA1F031B6}" type="slidenum">
              <a:rPr lang="en-GB" smtClean="0"/>
              <a:pPr/>
              <a:t>11</a:t>
            </a:fld>
            <a:endParaRPr lang="en-GB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00" y="720000"/>
            <a:ext cx="8389433" cy="5481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203945741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8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 dirty="0" smtClean="0"/>
              <a:t>KPI 3: How often praised for a job well done (at least 6-monthly)</a:t>
            </a:r>
            <a:endParaRPr lang="en-GB" noProof="0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Date </a:t>
            </a:r>
            <a:r>
              <a:rPr lang="en-US" dirty="0" err="1" smtClean="0"/>
              <a:t>tbi</a:t>
            </a:r>
            <a:endParaRPr lang="en-GB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GU 2012 staff survey -  Social Sciences College</a:t>
            </a:r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B5F56-2D17-49DA-BAE8-CE1FA1F031B6}" type="slidenum">
              <a:rPr lang="en-GB" smtClean="0"/>
              <a:pPr/>
              <a:t>12</a:t>
            </a:fld>
            <a:endParaRPr lang="en-GB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00" y="720000"/>
            <a:ext cx="8389433" cy="5481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220757038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8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 dirty="0" smtClean="0"/>
              <a:t>KPI 4: How often discuss working practice (at least annually)</a:t>
            </a:r>
            <a:endParaRPr lang="en-GB" noProof="0" dirty="0">
              <a:solidFill>
                <a:srgbClr val="FF0000"/>
              </a:solidFill>
            </a:endParaRPr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Date tbi</a:t>
            </a:r>
            <a:endParaRPr lang="en-GB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GU 2012 staff survey -  Social Sciences College</a:t>
            </a:r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B5F56-2D17-49DA-BAE8-CE1FA1F031B6}" type="slidenum">
              <a:rPr lang="en-GB" smtClean="0"/>
              <a:pPr/>
              <a:t>13</a:t>
            </a:fld>
            <a:endParaRPr lang="en-GB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00" y="720000"/>
            <a:ext cx="8389433" cy="5481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378419757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8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 dirty="0" smtClean="0"/>
              <a:t>KPI 5: How often given performance feedback (at least annually)</a:t>
            </a:r>
            <a:endParaRPr lang="en-GB" noProof="0" dirty="0">
              <a:solidFill>
                <a:srgbClr val="FF0000"/>
              </a:solidFill>
            </a:endParaRPr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Date tbi</a:t>
            </a:r>
            <a:endParaRPr lang="en-GB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GU 2012 staff survey -  Social Sciences College</a:t>
            </a:r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B5F56-2D17-49DA-BAE8-CE1FA1F031B6}" type="slidenum">
              <a:rPr lang="en-GB" smtClean="0"/>
              <a:pPr/>
              <a:t>14</a:t>
            </a:fld>
            <a:endParaRPr lang="en-GB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00" y="720000"/>
            <a:ext cx="8389433" cy="5481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97052146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8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smtClean="0"/>
              <a:t>KPI 6: How good are communications within work team (Ex + G + Satis)</a:t>
            </a:r>
            <a:endParaRPr lang="en-GB" noProof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Date tbi</a:t>
            </a:r>
            <a:endParaRPr lang="en-GB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GU 2012 staff survey -  Social Sciences College</a:t>
            </a:r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B5F56-2D17-49DA-BAE8-CE1FA1F031B6}" type="slidenum">
              <a:rPr lang="en-GB" smtClean="0"/>
              <a:pPr/>
              <a:t>15</a:t>
            </a:fld>
            <a:endParaRPr lang="en-GB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00" y="720000"/>
            <a:ext cx="8389433" cy="5481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13329731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8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smtClean="0"/>
              <a:t>KPI 7: How good are communications with other School/RIs? (E+G+S)</a:t>
            </a:r>
            <a:endParaRPr lang="en-GB" noProof="0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Date tbi</a:t>
            </a:r>
            <a:endParaRPr lang="en-GB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GU 2012 staff survey -  Social Sciences College</a:t>
            </a:r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B5F56-2D17-49DA-BAE8-CE1FA1F031B6}" type="slidenum">
              <a:rPr lang="en-GB" smtClean="0"/>
              <a:pPr/>
              <a:t>16</a:t>
            </a:fld>
            <a:endParaRPr lang="en-GB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00" y="720000"/>
            <a:ext cx="8389433" cy="5481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302991278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8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smtClean="0"/>
              <a:t>KPI 8: How well are GU-wide changes communicated? (Ex + G + Satis)</a:t>
            </a:r>
            <a:endParaRPr lang="en-GB" noProof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Date tbi</a:t>
            </a:r>
            <a:endParaRPr lang="en-GB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GU 2012 staff survey -  Social Sciences College</a:t>
            </a:r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B5F56-2D17-49DA-BAE8-CE1FA1F031B6}" type="slidenum">
              <a:rPr lang="en-GB" smtClean="0"/>
              <a:pPr/>
              <a:t>17</a:t>
            </a:fld>
            <a:endParaRPr lang="en-GB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00" y="720000"/>
            <a:ext cx="8389433" cy="5481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398733332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smtClean="0"/>
              <a:t>KPI 9: I enjoy working in the University (SA + A) </a:t>
            </a:r>
            <a:endParaRPr lang="en-GB" noProof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Date tbi</a:t>
            </a:r>
            <a:endParaRPr lang="en-GB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GU 2012 staff survey -  Social Sciences College</a:t>
            </a:r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B5F56-2D17-49DA-BAE8-CE1FA1F031B6}" type="slidenum">
              <a:rPr lang="en-GB" smtClean="0"/>
              <a:pPr/>
              <a:t>18</a:t>
            </a:fld>
            <a:endParaRPr lang="en-GB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00" y="720000"/>
            <a:ext cx="8389433" cy="5481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317568522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smtClean="0"/>
              <a:t>KPI 10: I feel loyal and supportive to the University (SA + A)</a:t>
            </a:r>
            <a:endParaRPr lang="en-GB" noProof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Date tbi</a:t>
            </a:r>
            <a:endParaRPr lang="en-GB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GU 2012 staff survey -  Social Sciences College</a:t>
            </a:r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B5F56-2D17-49DA-BAE8-CE1FA1F031B6}" type="slidenum">
              <a:rPr lang="en-GB" smtClean="0"/>
              <a:pPr/>
              <a:t>19</a:t>
            </a:fld>
            <a:endParaRPr lang="en-GB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00" y="720000"/>
            <a:ext cx="8389433" cy="5481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348035755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smtClean="0"/>
              <a:t>HSE Stress Measurement Tool - Findings</a:t>
            </a:r>
            <a:endParaRPr lang="en-GB" noProof="0"/>
          </a:p>
        </p:txBody>
      </p:sp>
    </p:spTree>
    <p:extLst>
      <p:ext uri="{BB962C8B-B14F-4D97-AF65-F5344CB8AC3E}">
        <p14:creationId xmlns="" xmlns:p14="http://schemas.microsoft.com/office/powerpoint/2010/main" val="366387437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smtClean="0"/>
              <a:t>HSE UK benchmark for work-related stress</a:t>
            </a:r>
            <a:endParaRPr lang="en-GB" noProof="0"/>
          </a:p>
        </p:txBody>
      </p:sp>
      <p:sp>
        <p:nvSpPr>
          <p:cNvPr id="849923" name="Rectangle 3"/>
          <p:cNvSpPr>
            <a:spLocks noGrp="1" noChangeArrowheads="1"/>
          </p:cNvSpPr>
          <p:nvPr>
            <p:ph idx="1"/>
          </p:nvPr>
        </p:nvSpPr>
        <p:spPr>
          <a:xfrm>
            <a:off x="703610" y="914400"/>
            <a:ext cx="7739711" cy="1938536"/>
          </a:xfrm>
        </p:spPr>
        <p:txBody>
          <a:bodyPr>
            <a:normAutofit fontScale="92500" lnSpcReduction="20000"/>
          </a:bodyPr>
          <a:lstStyle/>
          <a:p>
            <a:r>
              <a:rPr lang="en-GB" noProof="0" dirty="0" smtClean="0"/>
              <a:t>Classifications are derived from HSE survey of 136 UK organisations (2004-10), using their methodology</a:t>
            </a:r>
          </a:p>
          <a:p>
            <a:pPr lvl="1"/>
            <a:r>
              <a:rPr lang="en-GB" noProof="0" dirty="0" smtClean="0"/>
              <a:t>35 questions measure 7 key work design factors </a:t>
            </a:r>
          </a:p>
          <a:p>
            <a:pPr lvl="1"/>
            <a:r>
              <a:rPr lang="en-GB" noProof="0" dirty="0" smtClean="0"/>
              <a:t>scored 1-5; 5 is least stress</a:t>
            </a:r>
          </a:p>
          <a:p>
            <a:r>
              <a:rPr lang="en-GB" noProof="0" dirty="0" smtClean="0"/>
              <a:t>HSE “traffic light” scoring scheme for 7 factors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Date tbi</a:t>
            </a:r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GU 2012 staff survey -  MVLS College</a:t>
            </a:r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C8985-DE6B-4692-9DB2-4C50E06E499B}" type="slidenum">
              <a:rPr lang="en-GB" smtClean="0"/>
              <a:pPr/>
              <a:t>21</a:t>
            </a:fld>
            <a:endParaRPr lang="en-GB" dirty="0"/>
          </a:p>
        </p:txBody>
      </p:sp>
      <p:graphicFrame>
        <p:nvGraphicFramePr>
          <p:cNvPr id="8" name="Content Placeholder 15"/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1381967406"/>
              </p:ext>
            </p:extLst>
          </p:nvPr>
        </p:nvGraphicFramePr>
        <p:xfrm>
          <a:off x="782056" y="2996952"/>
          <a:ext cx="7461312" cy="325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5569"/>
                <a:gridCol w="4173154"/>
                <a:gridCol w="2462589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b="0" dirty="0" smtClean="0">
                          <a:latin typeface="+mj-lt"/>
                        </a:rPr>
                        <a:t>Colour</a:t>
                      </a:r>
                      <a:endParaRPr lang="en-GB" sz="1600" b="0" dirty="0">
                        <a:latin typeface="+mj-lt"/>
                      </a:endParaRPr>
                    </a:p>
                  </a:txBody>
                  <a:tcPr marL="84433" marR="84433" anchor="ctr"/>
                </a:tc>
                <a:tc>
                  <a:txBody>
                    <a:bodyPr/>
                    <a:lstStyle/>
                    <a:p>
                      <a:r>
                        <a:rPr lang="en-GB" sz="1600" b="0" dirty="0" smtClean="0">
                          <a:latin typeface="+mj-lt"/>
                        </a:rPr>
                        <a:t>Comment</a:t>
                      </a:r>
                      <a:endParaRPr lang="en-GB" sz="1600" b="0" dirty="0">
                        <a:latin typeface="+mj-lt"/>
                      </a:endParaRPr>
                    </a:p>
                  </a:txBody>
                  <a:tcPr marL="84433" marR="84433" anchor="ctr"/>
                </a:tc>
                <a:tc>
                  <a:txBody>
                    <a:bodyPr/>
                    <a:lstStyle/>
                    <a:p>
                      <a:r>
                        <a:rPr lang="en-GB" sz="1600" b="0" dirty="0" smtClean="0">
                          <a:latin typeface="+mj-lt"/>
                        </a:rPr>
                        <a:t>Range of</a:t>
                      </a:r>
                      <a:r>
                        <a:rPr lang="en-GB" sz="1600" b="0" baseline="0" dirty="0" smtClean="0">
                          <a:latin typeface="+mj-lt"/>
                        </a:rPr>
                        <a:t> UK benchmark</a:t>
                      </a:r>
                      <a:endParaRPr lang="en-GB" sz="1600" b="0" dirty="0">
                        <a:latin typeface="+mj-lt"/>
                      </a:endParaRPr>
                    </a:p>
                  </a:txBody>
                  <a:tcPr marL="84433" marR="84433" anchor="ctr"/>
                </a:tc>
              </a:tr>
              <a:tr h="72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effectLst/>
                          <a:latin typeface="+mj-lt"/>
                        </a:rPr>
                        <a:t>Doing very well - need to maintain performance</a:t>
                      </a:r>
                      <a:endParaRPr lang="en-US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smtClean="0">
                          <a:effectLst/>
                          <a:latin typeface="+mj-lt"/>
                        </a:rPr>
                        <a:t>At or above 80</a:t>
                      </a:r>
                      <a:r>
                        <a:rPr lang="en-US" sz="1600" b="0" i="0" u="none" strike="noStrike" baseline="30000" dirty="0" smtClean="0">
                          <a:effectLst/>
                          <a:latin typeface="+mj-lt"/>
                        </a:rPr>
                        <a:t>th</a:t>
                      </a:r>
                      <a:r>
                        <a:rPr lang="en-US" sz="1600" b="0" i="0" u="none" strike="noStrike" dirty="0" smtClean="0">
                          <a:effectLst/>
                          <a:latin typeface="+mj-lt"/>
                        </a:rPr>
                        <a:t> percentile</a:t>
                      </a:r>
                      <a:endParaRPr lang="en-US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72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effectLst/>
                          <a:latin typeface="+mj-lt"/>
                        </a:rPr>
                        <a:t>Good, but need for improvement</a:t>
                      </a:r>
                      <a:r>
                        <a:rPr lang="en-US" sz="1600" b="0" u="none" strike="noStrike" dirty="0" smtClean="0">
                          <a:effectLst/>
                          <a:latin typeface="+mj-lt"/>
                        </a:rPr>
                        <a:t>.</a:t>
                      </a:r>
                      <a:endParaRPr lang="en-US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dirty="0" smtClean="0">
                          <a:effectLst/>
                          <a:latin typeface="+mj-lt"/>
                        </a:rPr>
                        <a:t>50</a:t>
                      </a:r>
                      <a:r>
                        <a:rPr lang="en-US" sz="1600" b="0" u="none" strike="noStrike" baseline="30000" dirty="0" smtClean="0">
                          <a:effectLst/>
                          <a:latin typeface="+mj-lt"/>
                        </a:rPr>
                        <a:t>th</a:t>
                      </a:r>
                      <a:r>
                        <a:rPr lang="en-US" sz="1600" b="0" u="none" strike="noStrike" dirty="0" smtClean="0">
                          <a:effectLst/>
                          <a:latin typeface="+mj-lt"/>
                        </a:rPr>
                        <a:t>- 80</a:t>
                      </a:r>
                      <a:r>
                        <a:rPr lang="en-US" sz="1600" b="0" u="none" strike="noStrike" baseline="30000" dirty="0" smtClean="0">
                          <a:effectLst/>
                          <a:latin typeface="+mj-lt"/>
                        </a:rPr>
                        <a:t>th</a:t>
                      </a:r>
                      <a:r>
                        <a:rPr lang="en-US" sz="1600" b="0" u="none" strike="noStrike" dirty="0" smtClean="0">
                          <a:effectLst/>
                          <a:latin typeface="+mj-lt"/>
                        </a:rPr>
                        <a:t> percentile</a:t>
                      </a:r>
                      <a:endParaRPr lang="en-US" sz="1600" b="0" i="0" u="none" strike="noStrike" dirty="0" smtClean="0">
                        <a:effectLst/>
                        <a:latin typeface="+mj-lt"/>
                      </a:endParaRPr>
                    </a:p>
                    <a:p>
                      <a:pPr algn="l" fontAlgn="b"/>
                      <a:endParaRPr lang="en-US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72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effectLst/>
                          <a:latin typeface="+mj-lt"/>
                        </a:rPr>
                        <a:t>Clear need for improvement.  </a:t>
                      </a:r>
                      <a:endParaRPr lang="en-US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smtClean="0">
                          <a:effectLst/>
                          <a:latin typeface="+mj-lt"/>
                        </a:rPr>
                        <a:t>20</a:t>
                      </a:r>
                      <a:r>
                        <a:rPr lang="en-US" sz="1600" b="0" i="0" u="none" strike="noStrike" baseline="30000" dirty="0" smtClean="0">
                          <a:effectLst/>
                          <a:latin typeface="+mj-lt"/>
                        </a:rPr>
                        <a:t>th</a:t>
                      </a:r>
                      <a:r>
                        <a:rPr lang="en-US" sz="1600" b="0" i="0" u="none" strike="noStrike" dirty="0" smtClean="0">
                          <a:effectLst/>
                          <a:latin typeface="+mj-lt"/>
                        </a:rPr>
                        <a:t> – 50</a:t>
                      </a:r>
                      <a:r>
                        <a:rPr lang="en-US" sz="1600" b="0" i="0" u="none" strike="noStrike" baseline="30000" dirty="0" smtClean="0">
                          <a:effectLst/>
                          <a:latin typeface="+mj-lt"/>
                        </a:rPr>
                        <a:t>th</a:t>
                      </a:r>
                      <a:r>
                        <a:rPr lang="en-US" sz="1600" b="0" i="0" u="none" strike="noStrike" dirty="0" smtClean="0">
                          <a:effectLst/>
                          <a:latin typeface="+mj-lt"/>
                        </a:rPr>
                        <a:t> percentile</a:t>
                      </a:r>
                      <a:endParaRPr lang="en-US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72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effectLst/>
                          <a:latin typeface="+mj-lt"/>
                        </a:rPr>
                        <a:t>Urgent action </a:t>
                      </a:r>
                      <a:r>
                        <a:rPr lang="en-US" sz="1600" b="0" u="none" strike="noStrike" dirty="0" smtClean="0">
                          <a:effectLst/>
                          <a:latin typeface="+mj-lt"/>
                        </a:rPr>
                        <a:t>needed</a:t>
                      </a:r>
                      <a:endParaRPr lang="en-US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smtClean="0">
                          <a:effectLst/>
                          <a:latin typeface="+mj-lt"/>
                        </a:rPr>
                        <a:t>Below</a:t>
                      </a:r>
                      <a:r>
                        <a:rPr lang="en-US" sz="1600" b="0" i="0" u="none" strike="noStrike" baseline="0" dirty="0" smtClean="0">
                          <a:effectLst/>
                          <a:latin typeface="+mj-lt"/>
                        </a:rPr>
                        <a:t> 20</a:t>
                      </a:r>
                      <a:r>
                        <a:rPr lang="en-US" sz="1600" b="0" i="0" u="none" strike="noStrike" baseline="30000" dirty="0" smtClean="0">
                          <a:effectLst/>
                          <a:latin typeface="+mj-lt"/>
                        </a:rPr>
                        <a:t>th</a:t>
                      </a:r>
                      <a:r>
                        <a:rPr lang="en-US" sz="1600" b="0" i="0" u="none" strike="noStrike" baseline="0" dirty="0" smtClean="0">
                          <a:effectLst/>
                          <a:latin typeface="+mj-lt"/>
                        </a:rPr>
                        <a:t> percentile</a:t>
                      </a:r>
                      <a:endParaRPr lang="en-US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099298" y="3630209"/>
            <a:ext cx="281444" cy="190500"/>
          </a:xfrm>
          <a:prstGeom prst="rect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GB" dirty="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99298" y="4380995"/>
            <a:ext cx="281444" cy="180975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GB" dirty="0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099298" y="5098750"/>
            <a:ext cx="281444" cy="180975"/>
          </a:xfrm>
          <a:prstGeom prst="rect">
            <a:avLst/>
          </a:prstGeom>
          <a:solidFill>
            <a:srgbClr val="FFCC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GB" dirty="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099298" y="5737847"/>
            <a:ext cx="281444" cy="180975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="" xmlns:p14="http://schemas.microsoft.com/office/powerpoint/2010/main" val="65292894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noProof="0" dirty="0" smtClean="0"/>
              <a:t>HSE benchmark factors for </a:t>
            </a:r>
            <a:r>
              <a:rPr lang="en-GB" sz="3200" noProof="0" dirty="0"/>
              <a:t>work-related stress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Date tbi</a:t>
            </a:r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GU 2012 staff survey -  MVLS College</a:t>
            </a:r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A01D0-945C-42B9-BB59-ED98BE293A36}" type="slidenum">
              <a:rPr lang="en-GB" smtClean="0"/>
              <a:pPr/>
              <a:t>22</a:t>
            </a:fld>
            <a:endParaRPr lang="en-GB" dirty="0"/>
          </a:p>
        </p:txBody>
      </p:sp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1708335270"/>
              </p:ext>
            </p:extLst>
          </p:nvPr>
        </p:nvGraphicFramePr>
        <p:xfrm>
          <a:off x="715566" y="980728"/>
          <a:ext cx="7811734" cy="550099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520834"/>
                <a:gridCol w="797794"/>
                <a:gridCol w="797794"/>
                <a:gridCol w="797794"/>
                <a:gridCol w="897518"/>
              </a:tblGrid>
              <a:tr h="482490">
                <a:tc>
                  <a:txBody>
                    <a:bodyPr/>
                    <a:lstStyle/>
                    <a:p>
                      <a:endParaRPr lang="en-GB" sz="1600" b="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4433" marR="84433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dirty="0">
                          <a:solidFill>
                            <a:schemeClr val="bg1"/>
                          </a:solidFill>
                          <a:latin typeface="Calibri" pitchFamily="34" charset="0"/>
                          <a:cs typeface="Calibri" pitchFamily="34" charset="0"/>
                        </a:rPr>
                        <a:t>Red </a:t>
                      </a:r>
                      <a:endParaRPr lang="en-GB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Yellow </a:t>
                      </a:r>
                    </a:p>
                  </a:txBody>
                  <a:tcPr marL="8795" marR="879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dirty="0">
                          <a:latin typeface="Calibri" pitchFamily="34" charset="0"/>
                          <a:cs typeface="Calibri" pitchFamily="34" charset="0"/>
                        </a:rPr>
                        <a:t>Aqua </a:t>
                      </a:r>
                    </a:p>
                  </a:txBody>
                  <a:tcPr marL="8795" marR="8795" marT="9525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Green </a:t>
                      </a:r>
                    </a:p>
                  </a:txBody>
                  <a:tcPr marL="8795" marR="8795" marT="9525" marB="0" anchor="ctr">
                    <a:solidFill>
                      <a:srgbClr val="92D050"/>
                    </a:solidFill>
                  </a:tcPr>
                </a:tc>
              </a:tr>
              <a:tr h="178769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400" b="1" i="1" dirty="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63325" marR="63325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400" b="1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>
                    <a:solidFill>
                      <a:srgbClr val="F8889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400" b="1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>
                    <a:solidFill>
                      <a:srgbClr val="F1F7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400" b="1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>
                    <a:solidFill>
                      <a:srgbClr val="C7F4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400" b="1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>
                    <a:solidFill>
                      <a:srgbClr val="DAFDBF"/>
                    </a:solidFill>
                  </a:tcPr>
                </a:tc>
              </a:tr>
              <a:tr h="35088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dirty="0" smtClean="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Factor</a:t>
                      </a:r>
                      <a:r>
                        <a:rPr lang="en-GB" sz="1600" b="1" baseline="0" dirty="0" smtClean="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 (s</a:t>
                      </a:r>
                      <a:r>
                        <a:rPr lang="en-GB" sz="1600" b="1" dirty="0" smtClean="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tressor)</a:t>
                      </a:r>
                      <a:endParaRPr lang="en-GB" sz="1600" b="1" dirty="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63325" marR="63325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1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Less than</a:t>
                      </a:r>
                      <a:endParaRPr lang="en-GB" sz="1400" b="0" i="1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>
                    <a:solidFill>
                      <a:srgbClr val="F8889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1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Between</a:t>
                      </a:r>
                      <a:endParaRPr lang="en-GB" sz="1400" b="0" i="1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>
                    <a:solidFill>
                      <a:srgbClr val="F1F7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1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Between</a:t>
                      </a:r>
                      <a:endParaRPr lang="en-GB" sz="1400" b="0" i="1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>
                    <a:solidFill>
                      <a:srgbClr val="C7F4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1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Greater than</a:t>
                      </a:r>
                      <a:endParaRPr lang="en-GB" sz="1400" b="0" i="1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>
                    <a:solidFill>
                      <a:srgbClr val="DAFDBF"/>
                    </a:solidFill>
                  </a:tcPr>
                </a:tc>
              </a:tr>
              <a:tr h="35088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1. </a:t>
                      </a:r>
                      <a:r>
                        <a:rPr lang="en-GB" sz="1600" b="1" dirty="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Demands</a:t>
                      </a:r>
                      <a:r>
                        <a:rPr lang="en-GB" sz="1600" dirty="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: workload, work patterns and the work environment</a:t>
                      </a:r>
                    </a:p>
                  </a:txBody>
                  <a:tcPr marL="63325" marR="63325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2.94</a:t>
                      </a:r>
                      <a:endParaRPr lang="en-GB" sz="14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>
                    <a:solidFill>
                      <a:srgbClr val="F8889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2.94 - 3.10</a:t>
                      </a:r>
                      <a:endParaRPr lang="en-GB" sz="14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>
                    <a:solidFill>
                      <a:srgbClr val="F1F7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3.10 - 3.29</a:t>
                      </a:r>
                      <a:endParaRPr lang="en-GB" sz="14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>
                    <a:solidFill>
                      <a:srgbClr val="C7F4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3.29</a:t>
                      </a:r>
                      <a:endParaRPr lang="en-GB" sz="14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>
                    <a:solidFill>
                      <a:srgbClr val="DAFDBF"/>
                    </a:solidFill>
                  </a:tcPr>
                </a:tc>
              </a:tr>
              <a:tr h="35088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2. </a:t>
                      </a:r>
                      <a:r>
                        <a:rPr lang="en-GB" sz="1600" b="1" dirty="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Control</a:t>
                      </a:r>
                      <a:r>
                        <a:rPr lang="en-GB" sz="1600" dirty="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: how much say staff have in the way they do their work</a:t>
                      </a:r>
                    </a:p>
                  </a:txBody>
                  <a:tcPr marL="63325" marR="63325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3.22</a:t>
                      </a:r>
                      <a:endParaRPr lang="en-GB" sz="14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>
                    <a:solidFill>
                      <a:srgbClr val="F8889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3.22 - </a:t>
                      </a:r>
                      <a:r>
                        <a:rPr lang="en-GB" sz="14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3.47</a:t>
                      </a:r>
                    </a:p>
                  </a:txBody>
                  <a:tcPr marL="8795" marR="8795" marT="9525" marB="0" anchor="ctr">
                    <a:solidFill>
                      <a:srgbClr val="F1F7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3.47 - </a:t>
                      </a:r>
                      <a:r>
                        <a:rPr lang="en-GB" sz="14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3.72</a:t>
                      </a:r>
                    </a:p>
                  </a:txBody>
                  <a:tcPr marL="8795" marR="8795" marT="9525" marB="0" anchor="ctr">
                    <a:solidFill>
                      <a:srgbClr val="C7F4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3.72</a:t>
                      </a:r>
                      <a:endParaRPr lang="en-GB" sz="14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>
                    <a:solidFill>
                      <a:srgbClr val="DAFDBF"/>
                    </a:solidFill>
                  </a:tcPr>
                </a:tc>
              </a:tr>
              <a:tr h="35088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3. </a:t>
                      </a:r>
                      <a:r>
                        <a:rPr lang="en-GB" sz="1600" b="1" dirty="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Support</a:t>
                      </a:r>
                      <a:r>
                        <a:rPr lang="en-GB" sz="1600" dirty="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: encouragement, sponsorship, resources provided by:</a:t>
                      </a:r>
                    </a:p>
                  </a:txBody>
                  <a:tcPr marL="63325" marR="63325" marT="0" marB="0" anchor="ctr"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>
                    <a:solidFill>
                      <a:srgbClr val="F8889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>
                    <a:solidFill>
                      <a:srgbClr val="F1F7A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>
                    <a:solidFill>
                      <a:srgbClr val="C7F4F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>
                    <a:solidFill>
                      <a:srgbClr val="DAFDBF"/>
                    </a:solidFill>
                  </a:tcPr>
                </a:tc>
              </a:tr>
              <a:tr h="35088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	a</a:t>
                      </a:r>
                      <a:r>
                        <a:rPr lang="en-GB" sz="1600" dirty="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. The organisation </a:t>
                      </a:r>
                      <a:r>
                        <a:rPr lang="en-GB" sz="1600" dirty="0" smtClean="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and </a:t>
                      </a:r>
                      <a:r>
                        <a:rPr lang="en-GB" sz="1600" dirty="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line management</a:t>
                      </a:r>
                    </a:p>
                  </a:txBody>
                  <a:tcPr marL="63325" marR="63325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3.27</a:t>
                      </a:r>
                      <a:endParaRPr lang="en-GB" sz="14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>
                    <a:solidFill>
                      <a:srgbClr val="F8889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3.27 - </a:t>
                      </a:r>
                      <a:r>
                        <a:rPr lang="en-GB" sz="14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3.46</a:t>
                      </a:r>
                    </a:p>
                  </a:txBody>
                  <a:tcPr marL="8795" marR="8795" marT="9525" marB="0" anchor="ctr">
                    <a:solidFill>
                      <a:srgbClr val="F1F7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3.46 - </a:t>
                      </a:r>
                      <a:r>
                        <a:rPr lang="en-GB" sz="14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3.65</a:t>
                      </a:r>
                    </a:p>
                  </a:txBody>
                  <a:tcPr marL="8795" marR="8795" marT="9525" marB="0" anchor="ctr">
                    <a:solidFill>
                      <a:srgbClr val="C7F4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3.65</a:t>
                      </a:r>
                      <a:endParaRPr lang="en-GB" sz="14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>
                    <a:solidFill>
                      <a:srgbClr val="DAFDBF"/>
                    </a:solidFill>
                  </a:tcPr>
                </a:tc>
              </a:tr>
              <a:tr h="35088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	b</a:t>
                      </a:r>
                      <a:r>
                        <a:rPr lang="en-GB" sz="1600" dirty="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. Colleagues</a:t>
                      </a:r>
                    </a:p>
                  </a:txBody>
                  <a:tcPr marL="63325" marR="63325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3.63</a:t>
                      </a:r>
                      <a:endParaRPr lang="en-GB" sz="14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>
                    <a:solidFill>
                      <a:srgbClr val="F8889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3.63 - </a:t>
                      </a:r>
                      <a:r>
                        <a:rPr lang="en-GB" sz="14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3.78</a:t>
                      </a:r>
                    </a:p>
                  </a:txBody>
                  <a:tcPr marL="8795" marR="8795" marT="9525" marB="0" anchor="ctr">
                    <a:solidFill>
                      <a:srgbClr val="F1F7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3.78 - </a:t>
                      </a:r>
                      <a:r>
                        <a:rPr lang="en-GB" sz="14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3.89</a:t>
                      </a:r>
                    </a:p>
                  </a:txBody>
                  <a:tcPr marL="8795" marR="8795" marT="9525" marB="0" anchor="ctr">
                    <a:solidFill>
                      <a:srgbClr val="C7F4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3.89</a:t>
                      </a:r>
                      <a:endParaRPr lang="en-GB" sz="14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>
                    <a:solidFill>
                      <a:srgbClr val="DAFDBF"/>
                    </a:solidFill>
                  </a:tcPr>
                </a:tc>
              </a:tr>
              <a:tr h="52635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4. </a:t>
                      </a:r>
                      <a:r>
                        <a:rPr lang="en-GB" sz="1600" b="1" dirty="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Relationships</a:t>
                      </a:r>
                      <a:r>
                        <a:rPr lang="en-GB" sz="1600" dirty="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: promoting positive working to avoid conflict and dealing with unacceptable behaviour</a:t>
                      </a:r>
                    </a:p>
                  </a:txBody>
                  <a:tcPr marL="63325" marR="63325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3.61</a:t>
                      </a:r>
                      <a:endParaRPr lang="en-GB" sz="14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>
                    <a:solidFill>
                      <a:srgbClr val="F8889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3.61 - </a:t>
                      </a:r>
                      <a:r>
                        <a:rPr lang="en-GB" sz="14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3.85</a:t>
                      </a:r>
                    </a:p>
                  </a:txBody>
                  <a:tcPr marL="8795" marR="8795" marT="9525" marB="0" anchor="ctr">
                    <a:solidFill>
                      <a:srgbClr val="F1F7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3.85 - </a:t>
                      </a:r>
                      <a:r>
                        <a:rPr lang="en-GB" sz="14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4.04</a:t>
                      </a:r>
                    </a:p>
                  </a:txBody>
                  <a:tcPr marL="8795" marR="8795" marT="9525" marB="0" anchor="ctr">
                    <a:solidFill>
                      <a:srgbClr val="C7F4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4.04</a:t>
                      </a:r>
                      <a:endParaRPr lang="en-GB" sz="14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>
                    <a:solidFill>
                      <a:srgbClr val="DAFDBF"/>
                    </a:solidFill>
                  </a:tcPr>
                </a:tc>
              </a:tr>
              <a:tr h="52635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5. </a:t>
                      </a:r>
                      <a:r>
                        <a:rPr lang="en-GB" sz="1600" b="1" dirty="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Role</a:t>
                      </a:r>
                      <a:r>
                        <a:rPr lang="en-GB" sz="1600" dirty="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: whether staff understand role within organisation and whether the organisation ensures they do not have conflicting roles</a:t>
                      </a:r>
                    </a:p>
                  </a:txBody>
                  <a:tcPr marL="63325" marR="63325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4.04</a:t>
                      </a:r>
                      <a:endParaRPr lang="en-GB" sz="14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>
                    <a:solidFill>
                      <a:srgbClr val="F8889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4.04 - </a:t>
                      </a:r>
                      <a:r>
                        <a:rPr lang="en-GB" sz="14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4.18</a:t>
                      </a:r>
                    </a:p>
                  </a:txBody>
                  <a:tcPr marL="8795" marR="8795" marT="9525" marB="0" anchor="ctr">
                    <a:solidFill>
                      <a:srgbClr val="F1F7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4.18 - </a:t>
                      </a:r>
                      <a:r>
                        <a:rPr lang="en-GB" sz="14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4.31</a:t>
                      </a:r>
                    </a:p>
                  </a:txBody>
                  <a:tcPr marL="8795" marR="8795" marT="9525" marB="0" anchor="ctr">
                    <a:solidFill>
                      <a:srgbClr val="C7F4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4.31</a:t>
                      </a:r>
                      <a:endParaRPr lang="en-GB" sz="14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>
                    <a:solidFill>
                      <a:srgbClr val="DAFDBF"/>
                    </a:solidFill>
                  </a:tcPr>
                </a:tc>
              </a:tr>
              <a:tr h="52635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6. </a:t>
                      </a:r>
                      <a:r>
                        <a:rPr lang="en-GB" sz="1600" b="1" dirty="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Change</a:t>
                      </a:r>
                      <a:r>
                        <a:rPr lang="en-GB" sz="1600" dirty="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: how organisational change (large or small) is managed and communicated in the organisation</a:t>
                      </a:r>
                    </a:p>
                  </a:txBody>
                  <a:tcPr marL="63325" marR="63325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2.79</a:t>
                      </a:r>
                      <a:endParaRPr lang="en-GB" sz="14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>
                    <a:solidFill>
                      <a:srgbClr val="F8889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2.79 - </a:t>
                      </a:r>
                      <a:r>
                        <a:rPr lang="en-GB" sz="14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3.04</a:t>
                      </a:r>
                    </a:p>
                  </a:txBody>
                  <a:tcPr marL="8795" marR="8795" marT="9525" marB="0" anchor="ctr">
                    <a:solidFill>
                      <a:srgbClr val="F1F7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3.04 - </a:t>
                      </a:r>
                      <a:r>
                        <a:rPr lang="en-GB" sz="14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3.24</a:t>
                      </a:r>
                    </a:p>
                  </a:txBody>
                  <a:tcPr marL="8795" marR="8795" marT="9525" marB="0" anchor="ctr">
                    <a:solidFill>
                      <a:srgbClr val="C7F4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 smtClean="0">
                          <a:effectLst/>
                          <a:latin typeface="Calibri" pitchFamily="34" charset="0"/>
                          <a:cs typeface="Calibri" pitchFamily="34" charset="0"/>
                        </a:rPr>
                        <a:t>3.24</a:t>
                      </a:r>
                      <a:endParaRPr lang="en-GB" sz="1400" b="0" i="0" u="none" strike="noStrike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8795" marR="8795" marT="9525" marB="0" anchor="ctr">
                    <a:solidFill>
                      <a:srgbClr val="DAFDB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09106337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smtClean="0"/>
              <a:t>HSE Scores: GU2012 by GU2009, Gender, Job Family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Date tbi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GU 2012 staff survey -  MVLS College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BD462-41E1-4251-9C5C-8430CA5D157D}" type="slidenum">
              <a:rPr lang="en-GB" smtClean="0"/>
              <a:pPr/>
              <a:t>23</a:t>
            </a:fld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871569" y="855406"/>
            <a:ext cx="74537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/>
              <a:t>Notes</a:t>
            </a:r>
            <a:endParaRPr lang="en-GB" sz="16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390160"/>
          <a:ext cx="8280399" cy="2582504"/>
        </p:xfrm>
        <a:graphic>
          <a:graphicData uri="http://schemas.openxmlformats.org/drawingml/2006/table">
            <a:tbl>
              <a:tblPr/>
              <a:tblGrid>
                <a:gridCol w="2355587"/>
                <a:gridCol w="901268"/>
                <a:gridCol w="92175"/>
                <a:gridCol w="665709"/>
                <a:gridCol w="573534"/>
                <a:gridCol w="696434"/>
                <a:gridCol w="760445"/>
                <a:gridCol w="760445"/>
                <a:gridCol w="665709"/>
                <a:gridCol w="809093"/>
              </a:tblGrid>
              <a:tr h="322813">
                <a:tc>
                  <a:txBody>
                    <a:bodyPr/>
                    <a:lstStyle/>
                    <a:p>
                      <a:pPr algn="l" fontAlgn="ctr"/>
                      <a:r>
                        <a:rPr lang="en-GB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Stress Factor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ltDnDiag">
                      <a:fgClr>
                        <a:srgbClr val="00CCFF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GU2012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900" b="0" i="0" u="none" strike="noStrike">
                        <a:effectLst/>
                        <a:latin typeface="Calibri"/>
                      </a:endParaRP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GU M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GU F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1.R&amp;T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2.MPA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3.Tech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4.Ops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5.Clinic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2813">
                <a:tc>
                  <a:txBody>
                    <a:bodyPr/>
                    <a:lstStyle/>
                    <a:p>
                      <a:pPr algn="l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1.Demands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3.04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900" b="0" i="0" u="none" strike="noStrike">
                        <a:effectLst/>
                        <a:latin typeface="Calibri"/>
                      </a:endParaRP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3.03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3.10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2.65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3.18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3.43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3.62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2.82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322813">
                <a:tc>
                  <a:txBody>
                    <a:bodyPr/>
                    <a:lstStyle/>
                    <a:p>
                      <a:pPr algn="l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2.Control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3.26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900" b="0" i="0" u="none" strike="noStrike">
                        <a:effectLst/>
                        <a:latin typeface="Calibri"/>
                      </a:endParaRP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3.28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3.27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3.27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3.27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3.26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3.22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3.21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322813">
                <a:tc>
                  <a:txBody>
                    <a:bodyPr/>
                    <a:lstStyle/>
                    <a:p>
                      <a:pPr algn="l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3a.Managers' Support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2.87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900" b="0" i="0" u="none" strike="noStrike">
                        <a:effectLst/>
                        <a:latin typeface="Calibri"/>
                      </a:endParaRP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2.88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2.85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2.83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2.80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2.81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3.32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2.76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322813">
                <a:tc>
                  <a:txBody>
                    <a:bodyPr/>
                    <a:lstStyle/>
                    <a:p>
                      <a:pPr algn="l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3b.Peer Support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2.65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900" b="0" i="0" u="none" strike="noStrike">
                        <a:effectLst/>
                        <a:latin typeface="Calibri"/>
                      </a:endParaRP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2.71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2.58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2.57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2.52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2.59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2.42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322813">
                <a:tc>
                  <a:txBody>
                    <a:bodyPr/>
                    <a:lstStyle/>
                    <a:p>
                      <a:pPr algn="l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4.Relationships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3.76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900" b="0" i="0" u="none" strike="noStrike">
                        <a:effectLst/>
                        <a:latin typeface="Calibri"/>
                      </a:endParaRP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3.79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3.75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3.74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3.73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3.75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3.92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3.77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</a:tr>
              <a:tr h="322813">
                <a:tc>
                  <a:txBody>
                    <a:bodyPr/>
                    <a:lstStyle/>
                    <a:p>
                      <a:pPr algn="l" fontAlgn="ctr"/>
                      <a:r>
                        <a:rPr lang="en-GB" sz="1900" b="0" i="0" u="none" strike="noStrike" dirty="0">
                          <a:effectLst/>
                          <a:latin typeface="Calibri"/>
                        </a:rPr>
                        <a:t>5.Role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4.15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900" b="0" i="0" u="none" strike="noStrike">
                        <a:effectLst/>
                        <a:latin typeface="Calibri"/>
                      </a:endParaRP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4.15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4.20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4.01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4.21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4.26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4.47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4.13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</a:tr>
              <a:tr h="322813">
                <a:tc>
                  <a:txBody>
                    <a:bodyPr/>
                    <a:lstStyle/>
                    <a:p>
                      <a:pPr algn="l" fontAlgn="ctr"/>
                      <a:r>
                        <a:rPr lang="en-GB" sz="1900" b="0" i="0" u="none" strike="noStrike" dirty="0">
                          <a:effectLst/>
                          <a:latin typeface="Calibri"/>
                        </a:rPr>
                        <a:t>6.Change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3.06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900" b="0" i="0" u="none" strike="noStrike">
                        <a:effectLst/>
                        <a:latin typeface="Calibri"/>
                      </a:endParaRP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3.10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2.96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3.29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2.89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2.74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>
                          <a:effectLst/>
                          <a:latin typeface="Calibri"/>
                        </a:rPr>
                        <a:t>3.16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900" b="0" i="0" u="none" strike="noStrike" dirty="0">
                          <a:effectLst/>
                          <a:latin typeface="Calibri"/>
                        </a:rPr>
                        <a:t>2.81</a:t>
                      </a:r>
                    </a:p>
                  </a:txBody>
                  <a:tcPr marL="7686" marR="7686" marT="76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88780228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HSE Scores for </a:t>
            </a:r>
            <a:r>
              <a:rPr lang="en-GB" noProof="0" dirty="0" smtClean="0"/>
              <a:t>MVLS College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Date tbi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GU 2012 staff survey -  MVLS College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BD462-41E1-4251-9C5C-8430CA5D157D}" type="slidenum">
              <a:rPr lang="en-GB"/>
              <a:pPr/>
              <a:t>24</a:t>
            </a:fld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871569" y="855406"/>
            <a:ext cx="74537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/>
              <a:t>Notes:</a:t>
            </a:r>
            <a:endParaRPr lang="en-GB" sz="16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066800" y="2081212"/>
          <a:ext cx="7061200" cy="3200400"/>
        </p:xfrm>
        <a:graphic>
          <a:graphicData uri="http://schemas.openxmlformats.org/drawingml/2006/table">
            <a:tbl>
              <a:tblPr/>
              <a:tblGrid>
                <a:gridCol w="2919687"/>
                <a:gridCol w="1129792"/>
                <a:gridCol w="76166"/>
                <a:gridCol w="1551877"/>
                <a:gridCol w="76166"/>
                <a:gridCol w="1307512"/>
              </a:tblGrid>
              <a:tr h="400050"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Stress Factor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ltDnDiag">
                      <a:fgClr>
                        <a:srgbClr val="00CCFF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effectLst/>
                          <a:latin typeface="Calibri"/>
                        </a:rPr>
                        <a:t>GU2012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2400" b="0" i="0" u="none" strike="noStrike"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effectLst/>
                          <a:latin typeface="Calibri"/>
                        </a:rPr>
                        <a:t>All Colleges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2400" b="0" i="0" u="none" strike="noStrike"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effectLst/>
                          <a:latin typeface="Calibri"/>
                        </a:rPr>
                        <a:t>2.MVLS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b="0" i="0" u="none" strike="noStrike">
                          <a:effectLst/>
                          <a:latin typeface="Calibri"/>
                        </a:rPr>
                        <a:t>1.Demands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effectLst/>
                          <a:latin typeface="Calibri"/>
                        </a:rPr>
                        <a:t>3.04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2400" b="0" i="0" u="none" strike="noStrike"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effectLst/>
                          <a:latin typeface="Calibri"/>
                        </a:rPr>
                        <a:t>2.86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2400" b="0" i="0" u="none" strike="noStrike"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b="0" i="0" u="none" strike="noStrike">
                          <a:effectLst/>
                          <a:latin typeface="Calibri"/>
                        </a:rPr>
                        <a:t>2.Control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effectLst/>
                          <a:latin typeface="Calibri"/>
                        </a:rPr>
                        <a:t>3.26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2400" b="0" i="0" u="none" strike="noStrike"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effectLst/>
                          <a:latin typeface="Calibri"/>
                        </a:rPr>
                        <a:t>3.27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2400" b="0" i="0" u="none" strike="noStrike"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effectLst/>
                          <a:latin typeface="Calibri"/>
                        </a:rPr>
                        <a:t>3.28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b="0" i="0" u="none" strike="noStrike">
                          <a:effectLst/>
                          <a:latin typeface="Calibri"/>
                        </a:rPr>
                        <a:t>3a.Managers' Support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effectLst/>
                          <a:latin typeface="Calibri"/>
                        </a:rPr>
                        <a:t>2.87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2400" b="0" i="0" u="none" strike="noStrike"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effectLst/>
                          <a:latin typeface="Calibri"/>
                        </a:rPr>
                        <a:t>2.80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2400" b="0" i="0" u="none" strike="noStrike"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effectLst/>
                          <a:latin typeface="Calibri"/>
                        </a:rPr>
                        <a:t>2.79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b="0" i="0" u="none" strike="noStrike">
                          <a:effectLst/>
                          <a:latin typeface="Calibri"/>
                        </a:rPr>
                        <a:t>3b.Peer Support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effectLst/>
                          <a:latin typeface="Calibri"/>
                        </a:rPr>
                        <a:t>2.65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2400" b="0" i="0" u="none" strike="noStrike"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effectLst/>
                          <a:latin typeface="Calibri"/>
                        </a:rPr>
                        <a:t>2.54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2400" b="0" i="0" u="none" strike="noStrike"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effectLst/>
                          <a:latin typeface="Calibri"/>
                        </a:rPr>
                        <a:t>2.54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b="0" i="0" u="none" strike="noStrike">
                          <a:effectLst/>
                          <a:latin typeface="Calibri"/>
                        </a:rPr>
                        <a:t>4.Relationships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effectLst/>
                          <a:latin typeface="Calibri"/>
                        </a:rPr>
                        <a:t>3.76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2400" b="0" i="0" u="none" strike="noStrike"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effectLst/>
                          <a:latin typeface="Calibri"/>
                        </a:rPr>
                        <a:t>3.75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2400" b="0" i="0" u="none" strike="noStrike"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effectLst/>
                          <a:latin typeface="Calibri"/>
                        </a:rPr>
                        <a:t>3.75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b="0" i="0" u="none" strike="noStrike">
                          <a:effectLst/>
                          <a:latin typeface="Calibri"/>
                        </a:rPr>
                        <a:t>5.Role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effectLst/>
                          <a:latin typeface="Calibri"/>
                        </a:rPr>
                        <a:t>4.15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2400" b="0" i="0" u="none" strike="noStrike"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effectLst/>
                          <a:latin typeface="Calibri"/>
                        </a:rPr>
                        <a:t>4.10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2400" b="0" i="0" u="none" strike="noStrike"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effectLst/>
                          <a:latin typeface="Calibri"/>
                        </a:rPr>
                        <a:t>4.13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fontAlgn="ctr"/>
                      <a:r>
                        <a:rPr lang="en-GB" sz="2400" b="0" i="0" u="none" strike="noStrike">
                          <a:effectLst/>
                          <a:latin typeface="Calibri"/>
                        </a:rPr>
                        <a:t>6.Change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effectLst/>
                          <a:latin typeface="Calibri"/>
                        </a:rPr>
                        <a:t>3.06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2400" b="0" i="0" u="none" strike="noStrike"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effectLst/>
                          <a:latin typeface="Calibri"/>
                        </a:rPr>
                        <a:t>3.07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2400" b="0" i="0" u="none" strike="noStrike"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 dirty="0">
                          <a:effectLst/>
                          <a:latin typeface="Calibri"/>
                        </a:rPr>
                        <a:t>2.98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90216990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2326</TotalTime>
  <Words>1375</Words>
  <Application>Microsoft Office PowerPoint</Application>
  <PresentationFormat>On-screen Show (4:3)</PresentationFormat>
  <Paragraphs>494</Paragraphs>
  <Slides>24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Glasgow University Staff Survey 2012 MVLS College Presentation </vt:lpstr>
      <vt:lpstr>Purpose of GU 2012 Staff Survey</vt:lpstr>
      <vt:lpstr>GU Response Rates by College/US</vt:lpstr>
      <vt:lpstr>GU Response Rates by Gender &amp; Job Family</vt:lpstr>
      <vt:lpstr>MVLS – Response by School etc.</vt:lpstr>
      <vt:lpstr>College Response by Gender &amp; Job Family</vt:lpstr>
      <vt:lpstr>10 question items used as GU KPIs</vt:lpstr>
      <vt:lpstr>Average of all GU KPIs 1-10</vt:lpstr>
      <vt:lpstr>Average of all MVLS College KPIs 1-10</vt:lpstr>
      <vt:lpstr>KPI 1: Understanding of team aims (VG + G +S)</vt:lpstr>
      <vt:lpstr>KPI 2: Understanding of performance expectations (VG + G +S)</vt:lpstr>
      <vt:lpstr>KPI 3: How often praised for a job well done (at least 6-monthly)</vt:lpstr>
      <vt:lpstr>KPI 4: How often discuss working practice (at least annually)</vt:lpstr>
      <vt:lpstr>KPI 5: How often given performance feedback (at least annually)</vt:lpstr>
      <vt:lpstr>KPI 6: How good are communications within work team (Ex + G + Satis)</vt:lpstr>
      <vt:lpstr>KPI 7: How good are communications with other School/RIs? (E+G+S)</vt:lpstr>
      <vt:lpstr>KPI 8: How well are GU-wide changes communicated? (Ex + G + Satis)</vt:lpstr>
      <vt:lpstr>KPI 9: I enjoy working in the University (SA + A) </vt:lpstr>
      <vt:lpstr>KPI 10: I feel loyal and supportive to the University (SA + A)</vt:lpstr>
      <vt:lpstr>HSE Stress Measurement Tool - Findings</vt:lpstr>
      <vt:lpstr>HSE UK benchmark for work-related stress</vt:lpstr>
      <vt:lpstr>HSE benchmark factors for work-related stress</vt:lpstr>
      <vt:lpstr>HSE Scores: GU2012 by GU2009, Gender, Job Family</vt:lpstr>
      <vt:lpstr>HSE Scores for MVLS College</vt:lpstr>
    </vt:vector>
  </TitlesOfParts>
  <Company>University of Glasgow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Marshall</dc:creator>
  <cp:lastModifiedBy>ib45z</cp:lastModifiedBy>
  <cp:revision>73</cp:revision>
  <cp:lastPrinted>2012-07-31T13:49:26Z</cp:lastPrinted>
  <dcterms:created xsi:type="dcterms:W3CDTF">2012-07-30T10:14:59Z</dcterms:created>
  <dcterms:modified xsi:type="dcterms:W3CDTF">2012-11-30T14:38:37Z</dcterms:modified>
</cp:coreProperties>
</file>