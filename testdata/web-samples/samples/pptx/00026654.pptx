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Default Extension="xml" ContentType="application/xml"/>
  <Override PartName="/ppt/tableStyles.xml" ContentType="application/vnd.openxmlformats-officedocument.presentationml.tableStyles+xml"/>
  <Override PartName="/ppt/notesSlides/notesSlide31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8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notesSlides/notesSlide8.xml" ContentType="application/vnd.openxmlformats-officedocument.presentationml.notesSlide+xml"/>
  <Default Extension="png" ContentType="image/png"/>
  <Override PartName="/ppt/slideLayouts/slideLayout4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slides/slide26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notesSlides/notesSlide18.xml" ContentType="application/vnd.openxmlformats-officedocument.presentationml.notesSlide+xml"/>
  <Override PartName="/ppt/viewProps.xml" ContentType="application/vnd.openxmlformats-officedocument.presentationml.viewProps+xml"/>
  <Default Extension="jpeg" ContentType="image/jpeg"/>
  <Override PartName="/ppt/notesSlides/notesSlide1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5.xml" ContentType="application/vnd.openxmlformats-officedocument.presentationml.slide+xml"/>
  <Default Extension="tiff" ContentType="image/tiff"/>
  <Override PartName="/ppt/notesSlides/notesSlide1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24.xml" ContentType="application/vnd.openxmlformats-officedocument.presentationml.notesSlide+xml"/>
  <Override PartName="/ppt/slides/slide6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1.xml" ContentType="application/vnd.openxmlformats-officedocument.presentationml.slide+xml"/>
  <Default Extension="pdf" ContentType="application/pd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trictFirstAndLastChars="0" saveSubsetFonts="1" autoCompressPictures="0">
  <p:sldMasterIdLst>
    <p:sldMasterId id="2147483673" r:id="rId1"/>
  </p:sldMasterIdLst>
  <p:notesMasterIdLst>
    <p:notesMasterId r:id="rId37"/>
  </p:notesMasterIdLst>
  <p:sldIdLst>
    <p:sldId id="300" r:id="rId2"/>
    <p:sldId id="461" r:id="rId3"/>
    <p:sldId id="393" r:id="rId4"/>
    <p:sldId id="458" r:id="rId5"/>
    <p:sldId id="442" r:id="rId6"/>
    <p:sldId id="467" r:id="rId7"/>
    <p:sldId id="413" r:id="rId8"/>
    <p:sldId id="462" r:id="rId9"/>
    <p:sldId id="463" r:id="rId10"/>
    <p:sldId id="464" r:id="rId11"/>
    <p:sldId id="472" r:id="rId12"/>
    <p:sldId id="502" r:id="rId13"/>
    <p:sldId id="504" r:id="rId14"/>
    <p:sldId id="471" r:id="rId15"/>
    <p:sldId id="488" r:id="rId16"/>
    <p:sldId id="484" r:id="rId17"/>
    <p:sldId id="485" r:id="rId18"/>
    <p:sldId id="479" r:id="rId19"/>
    <p:sldId id="492" r:id="rId20"/>
    <p:sldId id="481" r:id="rId21"/>
    <p:sldId id="474" r:id="rId22"/>
    <p:sldId id="475" r:id="rId23"/>
    <p:sldId id="476" r:id="rId24"/>
    <p:sldId id="486" r:id="rId25"/>
    <p:sldId id="473" r:id="rId26"/>
    <p:sldId id="505" r:id="rId27"/>
    <p:sldId id="460" r:id="rId28"/>
    <p:sldId id="399" r:id="rId29"/>
    <p:sldId id="400" r:id="rId30"/>
    <p:sldId id="508" r:id="rId31"/>
    <p:sldId id="507" r:id="rId32"/>
    <p:sldId id="506" r:id="rId33"/>
    <p:sldId id="501" r:id="rId34"/>
    <p:sldId id="509" r:id="rId35"/>
    <p:sldId id="510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BCFCFE"/>
    <a:srgbClr val="FFFFFF"/>
    <a:srgbClr val="000000"/>
    <a:srgbClr val="7AB033"/>
    <a:srgbClr val="62C020"/>
    <a:srgbClr val="6ED326"/>
    <a:srgbClr val="003B6E"/>
    <a:srgbClr val="FFDB61"/>
    <a:srgbClr val="FFDE60"/>
    <a:srgbClr val="FFE55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83" autoAdjust="0"/>
    <p:restoredTop sz="88918" autoAdjust="0"/>
  </p:normalViewPr>
  <p:slideViewPr>
    <p:cSldViewPr>
      <p:cViewPr varScale="1">
        <p:scale>
          <a:sx n="121" d="100"/>
          <a:sy n="121" d="100"/>
        </p:scale>
        <p:origin x="-312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0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DFE22CB-FFE7-9C47-AA9D-F498722B19C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6DC754-50E4-6944-8BD9-AEC9AFC9E893}" type="slidenum">
              <a:rPr lang="en-US"/>
              <a:pPr/>
              <a:t>1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>
              <a:solidFill>
                <a:srgbClr val="002BC8"/>
              </a:solidFill>
              <a:latin typeface="Helvetica" pitchFamily="-65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2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3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r>
              <a:rPr lang="en-US" dirty="0" smtClean="0"/>
              <a:t>Check on numbers</a:t>
            </a: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DD43EE-5883-194B-B9C0-FC9E9B2E0A34}" type="slidenum">
              <a:rPr lang="en-US"/>
              <a:pPr/>
              <a:t>4</a:t>
            </a:fld>
            <a:endParaRPr lang="en-US"/>
          </a:p>
        </p:txBody>
      </p:sp>
      <p:sp>
        <p:nvSpPr>
          <p:cNvPr id="25088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08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AEA7FB-22CD-9942-AFDC-29FCEC9D0556}" type="slidenum">
              <a:rPr lang="en-US"/>
              <a:pPr/>
              <a:t>5</a:t>
            </a:fld>
            <a:endParaRPr lang="en-US"/>
          </a:p>
        </p:txBody>
      </p:sp>
      <p:sp>
        <p:nvSpPr>
          <p:cNvPr id="2324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AFECDA-F93A-9246-9473-A913C3D5BFED}" type="slidenum">
              <a:rPr lang="en-US"/>
              <a:pPr/>
              <a:t>6</a:t>
            </a:fld>
            <a:endParaRPr lang="en-US"/>
          </a:p>
        </p:txBody>
      </p:sp>
      <p:sp>
        <p:nvSpPr>
          <p:cNvPr id="2406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7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8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9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10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11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12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AEA7FB-22CD-9942-AFDC-29FCEC9D0556}" type="slidenum">
              <a:rPr lang="en-US"/>
              <a:pPr/>
              <a:t>13</a:t>
            </a:fld>
            <a:endParaRPr lang="en-US"/>
          </a:p>
        </p:txBody>
      </p:sp>
      <p:sp>
        <p:nvSpPr>
          <p:cNvPr id="2324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14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15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16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17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18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19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20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21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22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23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24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25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AEA7FB-22CD-9942-AFDC-29FCEC9D0556}" type="slidenum">
              <a:rPr lang="en-US"/>
              <a:pPr/>
              <a:t>26</a:t>
            </a:fld>
            <a:endParaRPr lang="en-US"/>
          </a:p>
        </p:txBody>
      </p:sp>
      <p:sp>
        <p:nvSpPr>
          <p:cNvPr id="23245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AFECDA-F93A-9246-9473-A913C3D5BFED}" type="slidenum">
              <a:rPr lang="en-US"/>
              <a:pPr/>
              <a:t>27</a:t>
            </a:fld>
            <a:endParaRPr lang="en-US"/>
          </a:p>
        </p:txBody>
      </p:sp>
      <p:sp>
        <p:nvSpPr>
          <p:cNvPr id="24064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06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8DEDDC-CE29-024A-B4E8-1DECE64A6922}" type="slidenum">
              <a:rPr lang="en-US"/>
              <a:pPr/>
              <a:t>28</a:t>
            </a:fld>
            <a:endParaRPr lang="en-US"/>
          </a:p>
        </p:txBody>
      </p:sp>
      <p:sp>
        <p:nvSpPr>
          <p:cNvPr id="27750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DF268A-22C9-CC4E-9B96-831F11A8099D}" type="slidenum">
              <a:rPr lang="en-US"/>
              <a:pPr/>
              <a:t>29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5D6DCC-E78A-E04B-BEDA-969A3EBB561D}" type="slidenum">
              <a:rPr lang="en-US"/>
              <a:pPr/>
              <a:t>30</a:t>
            </a:fld>
            <a:endParaRPr lang="en-US"/>
          </a:p>
        </p:txBody>
      </p:sp>
      <p:sp>
        <p:nvSpPr>
          <p:cNvPr id="3164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64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DF268A-22C9-CC4E-9B96-831F11A8099D}" type="slidenum">
              <a:rPr lang="en-US"/>
              <a:pPr/>
              <a:t>31</a:t>
            </a:fld>
            <a:endParaRPr lang="en-US"/>
          </a:p>
        </p:txBody>
      </p:sp>
      <p:sp>
        <p:nvSpPr>
          <p:cNvPr id="2693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32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F25797-D5A6-9248-9113-1C0769E7B8EF}" type="slidenum">
              <a:rPr lang="en-US"/>
              <a:pPr/>
              <a:t>33</a:t>
            </a:fld>
            <a:endParaRPr lang="en-US"/>
          </a:p>
        </p:txBody>
      </p:sp>
      <p:sp>
        <p:nvSpPr>
          <p:cNvPr id="27136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34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37624A-348F-2741-A243-E6FC41CC6EC6}" type="slidenum">
              <a:rPr lang="en-US"/>
              <a:pPr/>
              <a:t>35</a:t>
            </a:fld>
            <a:endParaRPr lang="en-US"/>
          </a:p>
        </p:txBody>
      </p:sp>
      <p:sp>
        <p:nvSpPr>
          <p:cNvPr id="30413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5600" y="1981200"/>
            <a:ext cx="5562600" cy="20574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4267200"/>
            <a:ext cx="5562600" cy="15240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43969CA-EEBF-6A4F-9F9C-2821BE2AED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DB209E51-C600-AC41-8646-3C0AA1B69C4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458A6101-821E-8744-8843-DE75277889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C8726AE0-CCCB-9545-8AB4-E53E1AAD4D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7136BF22-F04A-F747-84BF-A02A5CD775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68F8004C-4BF2-A04B-9F56-49C097C4392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76E0FC5E-63CA-CF47-B726-E5CCE335B7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82BE8DBA-80C9-F44A-8740-100763F7184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5B8695E0-7005-7243-8D8B-2AB792B907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EBF856FB-EBF7-394D-9AAE-AF47CD902A1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D70D8776-1E2D-554D-9D8F-12D2ED2E92D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Pr>
        <a:gradFill rotWithShape="0">
          <a:gsLst>
            <a:gs pos="0">
              <a:srgbClr val="2F2F76"/>
            </a:gs>
            <a:gs pos="100000">
              <a:srgbClr val="0A169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  <a:cs typeface="+mn-cs"/>
              </a:defRPr>
            </a:lvl1pPr>
          </a:lstStyle>
          <a:p>
            <a:fld id="{3C8A80E1-FB31-F54C-96A8-7E4C3FFBA565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-65" charset="0"/>
          <a:ea typeface="ヒラギノ角ゴ Pro W3" pitchFamily="-65" charset="-128"/>
          <a:cs typeface="ヒラギノ角ゴ Pro W3" pitchFamily="-65" charset="-128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-65" charset="0"/>
          <a:ea typeface="ヒラギノ角ゴ Pro W3" pitchFamily="-65" charset="-128"/>
          <a:cs typeface="ヒラギノ角ゴ Pro W3" pitchFamily="-65" charset="-128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-65" charset="0"/>
          <a:ea typeface="ヒラギノ角ゴ Pro W3" pitchFamily="-65" charset="-128"/>
          <a:cs typeface="ヒラギノ角ゴ Pro W3" pitchFamily="-65" charset="-128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-65" charset="0"/>
          <a:ea typeface="ヒラギノ角ゴ Pro W3" pitchFamily="-65" charset="-128"/>
          <a:cs typeface="ヒラギノ角ゴ Pro W3" pitchFamily="-65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-65" charset="0"/>
          <a:ea typeface="ヒラギノ角ゴ Pro W3" pitchFamily="-65" charset="-128"/>
          <a:cs typeface="ヒラギノ角ゴ Pro W3" pitchFamily="-65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-65" charset="0"/>
          <a:ea typeface="ヒラギノ角ゴ Pro W3" pitchFamily="-65" charset="-128"/>
          <a:cs typeface="ヒラギノ角ゴ Pro W3" pitchFamily="-65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-65" charset="0"/>
          <a:ea typeface="ヒラギノ角ゴ Pro W3" pitchFamily="-65" charset="-128"/>
          <a:cs typeface="ヒラギノ角ゴ Pro W3" pitchFamily="-65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-65" charset="0"/>
          <a:ea typeface="ヒラギノ角ゴ Pro W3" pitchFamily="-65" charset="-128"/>
          <a:cs typeface="ヒラギノ角ゴ Pro W3" pitchFamily="-65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df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df"/><Relationship Id="rId4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6.pdf"/><Relationship Id="rId12" Type="http://schemas.openxmlformats.org/officeDocument/2006/relationships/image" Target="../media/image17.png"/><Relationship Id="rId13" Type="http://schemas.openxmlformats.org/officeDocument/2006/relationships/image" Target="../media/image18.pdf"/><Relationship Id="rId14" Type="http://schemas.openxmlformats.org/officeDocument/2006/relationships/image" Target="../media/image19.png"/><Relationship Id="rId15" Type="http://schemas.openxmlformats.org/officeDocument/2006/relationships/image" Target="../media/image20.pdf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df"/><Relationship Id="rId4" Type="http://schemas.openxmlformats.org/officeDocument/2006/relationships/image" Target="../media/image9.png"/><Relationship Id="rId5" Type="http://schemas.openxmlformats.org/officeDocument/2006/relationships/image" Target="../media/image10.pdf"/><Relationship Id="rId6" Type="http://schemas.openxmlformats.org/officeDocument/2006/relationships/image" Target="../media/image11.png"/><Relationship Id="rId7" Type="http://schemas.openxmlformats.org/officeDocument/2006/relationships/image" Target="../media/image12.pdf"/><Relationship Id="rId8" Type="http://schemas.openxmlformats.org/officeDocument/2006/relationships/image" Target="../media/image13.png"/><Relationship Id="rId9" Type="http://schemas.openxmlformats.org/officeDocument/2006/relationships/image" Target="../media/image14.pdf"/><Relationship Id="rId10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df"/><Relationship Id="rId4" Type="http://schemas.openxmlformats.org/officeDocument/2006/relationships/image" Target="../media/image23.png"/><Relationship Id="rId5" Type="http://schemas.openxmlformats.org/officeDocument/2006/relationships/image" Target="../media/image24.pdf"/><Relationship Id="rId6" Type="http://schemas.openxmlformats.org/officeDocument/2006/relationships/image" Target="../media/image25.png"/><Relationship Id="rId7" Type="http://schemas.openxmlformats.org/officeDocument/2006/relationships/image" Target="../media/image26.pdf"/><Relationship Id="rId8" Type="http://schemas.openxmlformats.org/officeDocument/2006/relationships/image" Target="../media/image27.png"/><Relationship Id="rId9" Type="http://schemas.openxmlformats.org/officeDocument/2006/relationships/image" Target="../media/image28.pdf"/><Relationship Id="rId1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df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df"/><Relationship Id="rId4" Type="http://schemas.openxmlformats.org/officeDocument/2006/relationships/image" Target="../media/image33.png"/><Relationship Id="rId5" Type="http://schemas.openxmlformats.org/officeDocument/2006/relationships/image" Target="../media/image34.pdf"/><Relationship Id="rId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df"/><Relationship Id="rId4" Type="http://schemas.openxmlformats.org/officeDocument/2006/relationships/image" Target="../media/image37.png"/><Relationship Id="rId5" Type="http://schemas.openxmlformats.org/officeDocument/2006/relationships/image" Target="../media/image38.pdf"/><Relationship Id="rId6" Type="http://schemas.openxmlformats.org/officeDocument/2006/relationships/image" Target="../media/image39.png"/><Relationship Id="rId7" Type="http://schemas.openxmlformats.org/officeDocument/2006/relationships/image" Target="../media/image40.pdf"/><Relationship Id="rId8" Type="http://schemas.openxmlformats.org/officeDocument/2006/relationships/image" Target="../media/image41.png"/><Relationship Id="rId9" Type="http://schemas.openxmlformats.org/officeDocument/2006/relationships/image" Target="../media/image42.pdf"/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4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df"/><Relationship Id="rId4" Type="http://schemas.openxmlformats.org/officeDocument/2006/relationships/image" Target="../media/image46.png"/><Relationship Id="rId5" Type="http://schemas.openxmlformats.org/officeDocument/2006/relationships/image" Target="../media/image32.pdf"/><Relationship Id="rId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df"/><Relationship Id="rId4" Type="http://schemas.openxmlformats.org/officeDocument/2006/relationships/image" Target="../media/image48.png"/><Relationship Id="rId5" Type="http://schemas.openxmlformats.org/officeDocument/2006/relationships/image" Target="../media/image49.pdf"/><Relationship Id="rId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tiff"/><Relationship Id="rId4" Type="http://schemas.openxmlformats.org/officeDocument/2006/relationships/image" Target="../media/image52.pdf"/><Relationship Id="rId5" Type="http://schemas.openxmlformats.org/officeDocument/2006/relationships/image" Target="../media/image53.png"/><Relationship Id="rId6" Type="http://schemas.openxmlformats.org/officeDocument/2006/relationships/image" Target="../media/image54.pdf"/><Relationship Id="rId7" Type="http://schemas.openxmlformats.org/officeDocument/2006/relationships/image" Target="../media/image55.png"/><Relationship Id="rId8" Type="http://schemas.openxmlformats.org/officeDocument/2006/relationships/image" Target="../media/image56.pdf"/><Relationship Id="rId9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8.tif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tif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tiff"/><Relationship Id="rId4" Type="http://schemas.openxmlformats.org/officeDocument/2006/relationships/image" Target="../media/image61.pdf"/><Relationship Id="rId5" Type="http://schemas.openxmlformats.org/officeDocument/2006/relationships/image" Target="../media/image62.png"/><Relationship Id="rId6" Type="http://schemas.openxmlformats.org/officeDocument/2006/relationships/image" Target="../media/image63.pdf"/><Relationship Id="rId7" Type="http://schemas.openxmlformats.org/officeDocument/2006/relationships/image" Target="../media/image64.png"/><Relationship Id="rId8" Type="http://schemas.openxmlformats.org/officeDocument/2006/relationships/image" Target="../media/image65.pdf"/><Relationship Id="rId9" Type="http://schemas.openxmlformats.org/officeDocument/2006/relationships/image" Target="../media/image66.png"/><Relationship Id="rId10" Type="http://schemas.openxmlformats.org/officeDocument/2006/relationships/image" Target="../media/image67.pdf"/><Relationship Id="rId11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df"/><Relationship Id="rId4" Type="http://schemas.openxmlformats.org/officeDocument/2006/relationships/image" Target="../media/image62.png"/><Relationship Id="rId5" Type="http://schemas.openxmlformats.org/officeDocument/2006/relationships/image" Target="../media/image63.pdf"/><Relationship Id="rId6" Type="http://schemas.openxmlformats.org/officeDocument/2006/relationships/image" Target="../media/image64.png"/><Relationship Id="rId7" Type="http://schemas.openxmlformats.org/officeDocument/2006/relationships/image" Target="../media/image65.pdf"/><Relationship Id="rId8" Type="http://schemas.openxmlformats.org/officeDocument/2006/relationships/image" Target="../media/image66.png"/><Relationship Id="rId9" Type="http://schemas.openxmlformats.org/officeDocument/2006/relationships/image" Target="../media/image69.tiff"/><Relationship Id="rId10" Type="http://schemas.openxmlformats.org/officeDocument/2006/relationships/image" Target="../media/image67.pdf"/><Relationship Id="rId11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tiff"/><Relationship Id="rId4" Type="http://schemas.openxmlformats.org/officeDocument/2006/relationships/image" Target="../media/image67.pdf"/><Relationship Id="rId5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1.tif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2.tif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3.tif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4.tif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5.tif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df"/><Relationship Id="rId4" Type="http://schemas.openxmlformats.org/officeDocument/2006/relationships/image" Target="../media/image77.png"/><Relationship Id="rId5" Type="http://schemas.openxmlformats.org/officeDocument/2006/relationships/image" Target="../media/image78.pdf"/><Relationship Id="rId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4" Type="http://schemas.openxmlformats.org/officeDocument/2006/relationships/image" Target="../media/image81.pdf"/><Relationship Id="rId5" Type="http://schemas.openxmlformats.org/officeDocument/2006/relationships/image" Target="../media/image82.png"/><Relationship Id="rId6" Type="http://schemas.openxmlformats.org/officeDocument/2006/relationships/image" Target="../media/image83.pdf"/><Relationship Id="rId7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5.png"/></Relationships>
</file>

<file path=ppt/slides/_rels/slide3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94.pdf"/><Relationship Id="rId1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6.pdf"/><Relationship Id="rId4" Type="http://schemas.openxmlformats.org/officeDocument/2006/relationships/image" Target="../media/image87.png"/><Relationship Id="rId5" Type="http://schemas.openxmlformats.org/officeDocument/2006/relationships/image" Target="../media/image88.pdf"/><Relationship Id="rId6" Type="http://schemas.openxmlformats.org/officeDocument/2006/relationships/image" Target="../media/image89.png"/><Relationship Id="rId7" Type="http://schemas.openxmlformats.org/officeDocument/2006/relationships/image" Target="../media/image90.pdf"/><Relationship Id="rId8" Type="http://schemas.openxmlformats.org/officeDocument/2006/relationships/image" Target="../media/image91.png"/><Relationship Id="rId9" Type="http://schemas.openxmlformats.org/officeDocument/2006/relationships/image" Target="../media/image92.pdf"/><Relationship Id="rId10" Type="http://schemas.openxmlformats.org/officeDocument/2006/relationships/image" Target="../media/image9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df"/><Relationship Id="rId4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8.tif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tiff"/><Relationship Id="rId4" Type="http://schemas.openxmlformats.org/officeDocument/2006/relationships/image" Target="../media/image100.tiff"/><Relationship Id="rId5" Type="http://schemas.openxmlformats.org/officeDocument/2006/relationships/image" Target="../media/image101.tif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457200"/>
            <a:ext cx="7315200" cy="1981200"/>
          </a:xfrm>
        </p:spPr>
        <p:txBody>
          <a:bodyPr/>
          <a:lstStyle/>
          <a:p>
            <a:pPr algn="l"/>
            <a:r>
              <a:rPr lang="en-US" dirty="0" smtClean="0">
                <a:latin typeface="Arial" pitchFamily="-65" charset="0"/>
              </a:rPr>
              <a:t>Momentum transport and flow shear suppression of turbulence in</a:t>
            </a:r>
            <a:r>
              <a:rPr lang="en-US" dirty="0" smtClean="0">
                <a:latin typeface="Arial" pitchFamily="-65" charset="0"/>
              </a:rPr>
              <a:t> </a:t>
            </a:r>
            <a:r>
              <a:rPr lang="en-US" dirty="0" err="1" smtClean="0">
                <a:latin typeface="Arial" pitchFamily="-65" charset="0"/>
              </a:rPr>
              <a:t>tokamaks</a:t>
            </a:r>
            <a:endParaRPr lang="en-US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9725" y="3048000"/>
            <a:ext cx="8194675" cy="2209800"/>
          </a:xfrm>
        </p:spPr>
        <p:txBody>
          <a:bodyPr/>
          <a:lstStyle/>
          <a:p>
            <a:r>
              <a:rPr lang="en-US" dirty="0"/>
              <a:t>Michael </a:t>
            </a:r>
            <a:r>
              <a:rPr lang="en-US" dirty="0" smtClean="0"/>
              <a:t>Barnes</a:t>
            </a:r>
          </a:p>
          <a:p>
            <a:r>
              <a:rPr lang="en-US" sz="2600" dirty="0" smtClean="0"/>
              <a:t>University </a:t>
            </a:r>
            <a:r>
              <a:rPr lang="en-US" sz="2600" dirty="0"/>
              <a:t>of </a:t>
            </a:r>
            <a:r>
              <a:rPr lang="en-US" sz="2600" dirty="0" smtClean="0"/>
              <a:t>Oxford</a:t>
            </a:r>
          </a:p>
          <a:p>
            <a:r>
              <a:rPr lang="en-US" sz="2600" dirty="0" err="1" smtClean="0"/>
              <a:t>Culham</a:t>
            </a:r>
            <a:r>
              <a:rPr lang="en-US" sz="2600" dirty="0" smtClean="0"/>
              <a:t> Centre for Fusion Energy</a:t>
            </a:r>
            <a:endParaRPr lang="en-US" sz="2600" dirty="0"/>
          </a:p>
        </p:txBody>
      </p:sp>
      <p:sp>
        <p:nvSpPr>
          <p:cNvPr id="121865" name="Rectangle 9"/>
          <p:cNvSpPr>
            <a:spLocks noChangeArrowheads="1"/>
          </p:cNvSpPr>
          <p:nvPr/>
        </p:nvSpPr>
        <p:spPr bwMode="auto">
          <a:xfrm>
            <a:off x="609600" y="5638800"/>
            <a:ext cx="7924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609600" indent="-609600" algn="r" eaLnBrk="1" hangingPunct="1">
              <a:spcBef>
                <a:spcPct val="20000"/>
              </a:spcBef>
            </a:pPr>
            <a:r>
              <a:rPr lang="en-US" sz="22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F. I. Parra, E. G. </a:t>
            </a:r>
            <a:r>
              <a:rPr lang="en-US" sz="2200" dirty="0" err="1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Highcock</a:t>
            </a:r>
            <a:r>
              <a:rPr lang="en-US" sz="22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, A. A. </a:t>
            </a:r>
            <a:r>
              <a:rPr lang="en-US" sz="2200" dirty="0" err="1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Schekochihin</a:t>
            </a:r>
            <a:r>
              <a:rPr lang="en-US" sz="22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, </a:t>
            </a:r>
          </a:p>
          <a:p>
            <a:pPr marL="609600" indent="-609600" algn="r" eaLnBrk="1" hangingPunct="1">
              <a:spcBef>
                <a:spcPct val="20000"/>
              </a:spcBef>
            </a:pPr>
            <a:r>
              <a:rPr lang="en-US" sz="22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S. C. Cowley, and C. M. Roach</a:t>
            </a:r>
          </a:p>
        </p:txBody>
      </p:sp>
    </p:spTree>
  </p:cSld>
  <p:clrMapOvr>
    <a:masterClrMapping/>
  </p:clrMapOvr>
  <p:transition advTm="465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581400" y="304800"/>
            <a:ext cx="5334000" cy="990600"/>
          </a:xfrm>
        </p:spPr>
        <p:txBody>
          <a:bodyPr/>
          <a:lstStyle/>
          <a:p>
            <a:pPr algn="ctr"/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3429000" y="6248400"/>
            <a:ext cx="2819400" cy="425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027" tIns="43013" rIns="86027" bIns="43013">
            <a:prstTxWarp prst="textNoShape">
              <a:avLst/>
            </a:prstTxWarp>
            <a:spAutoFit/>
          </a:bodyPr>
          <a:lstStyle/>
          <a:p>
            <a:pPr algn="ctr" defTabSz="860425"/>
            <a:r>
              <a:rPr lang="en-US" sz="2200" dirty="0" smtClean="0">
                <a:solidFill>
                  <a:schemeClr val="tx2"/>
                </a:solidFill>
              </a:rPr>
              <a:t>Connor et al. (2004)</a:t>
            </a:r>
          </a:p>
        </p:txBody>
      </p:sp>
      <p:pic>
        <p:nvPicPr>
          <p:cNvPr id="8" name="Picture 7" descr="itb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38200"/>
            <a:ext cx="3151231" cy="5791200"/>
          </a:xfrm>
          <a:prstGeom prst="rect">
            <a:avLst/>
          </a:prstGeom>
        </p:spPr>
      </p:pic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3505200" y="1676400"/>
            <a:ext cx="5486400" cy="433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Identify </a:t>
            </a:r>
            <a:r>
              <a:rPr lang="en-US" kern="0" dirty="0" err="1" smtClean="0">
                <a:latin typeface="+mn-lt"/>
                <a:ea typeface="+mn-ea"/>
                <a:cs typeface="+mn-cs"/>
              </a:rPr>
              <a:t>mechanism(s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) for achieving enhanced confinement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transport 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barriers experimentally observed with temperature gradients well above threshold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Often accompanied by large      E </a:t>
            </a:r>
            <a:r>
              <a:rPr lang="en-US" kern="0" dirty="0" err="1" smtClean="0">
                <a:latin typeface="+mn-lt"/>
                <a:ea typeface="+mn-ea"/>
                <a:cs typeface="+mn-cs"/>
              </a:rPr>
              <a:t>x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 B shear and low or negative magnetic shear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How do </a:t>
            </a:r>
            <a:r>
              <a:rPr lang="en-US" kern="0" dirty="0" err="1" smtClean="0">
                <a:latin typeface="+mn-lt"/>
                <a:ea typeface="+mn-ea"/>
                <a:cs typeface="+mn-cs"/>
              </a:rPr>
              <a:t>ITBs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 work, and how can we make them better?</a:t>
            </a:r>
          </a:p>
        </p:txBody>
      </p:sp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Multiple scale problem</a:t>
            </a:r>
            <a:endParaRPr lang="en-US" dirty="0"/>
          </a:p>
        </p:txBody>
      </p:sp>
      <p:graphicFrame>
        <p:nvGraphicFramePr>
          <p:cNvPr id="303107" name="Group 1027"/>
          <p:cNvGraphicFramePr>
            <a:graphicFrameLocks noGrp="1"/>
          </p:cNvGraphicFramePr>
          <p:nvPr/>
        </p:nvGraphicFramePr>
        <p:xfrm>
          <a:off x="415925" y="1650998"/>
          <a:ext cx="8312150" cy="3835402"/>
        </p:xfrm>
        <a:graphic>
          <a:graphicData uri="http://schemas.openxmlformats.org/drawingml/2006/table">
            <a:tbl>
              <a:tblPr/>
              <a:tblGrid>
                <a:gridCol w="2771775"/>
                <a:gridCol w="2768600"/>
                <a:gridCol w="2771775"/>
              </a:tblGrid>
              <a:tr h="733425"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Physics</a:t>
                      </a:r>
                      <a:endParaRPr kumimoji="0" 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Perpendicular </a:t>
                      </a:r>
                    </a:p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spatial scale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Temporal scale</a:t>
                      </a:r>
                      <a:endParaRPr kumimoji="0" lang="en-US" sz="1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54088"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Turbulence from ETG modes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      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  </a:t>
                      </a:r>
                      <a:r>
                        <a:rPr kumimoji="0" 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~ 0.005 – 0.05 </a:t>
                      </a: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cm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      </a:t>
                      </a: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~ 0.5 - 5.0 MHz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5963"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Turbulence from ITG modes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       </a:t>
                      </a: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~ </a:t>
                      </a:r>
                      <a:r>
                        <a:rPr kumimoji="0" 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0.3 </a:t>
                      </a: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-</a:t>
                      </a:r>
                      <a:r>
                        <a:rPr kumimoji="0" 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 3.0 </a:t>
                      </a: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cm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      </a:t>
                      </a: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~ 10 - 100 kHz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Transport barriers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Measurements suggest width ~ 1 - 10 cm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100 ms or more in core?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5963">
                <a:tc>
                  <a:txBody>
                    <a:bodyPr/>
                    <a:lstStyle/>
                    <a:p>
                      <a:pPr marL="0" marR="0" lvl="0" indent="0" algn="l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Discharge evolution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Profile scales ~</a:t>
                      </a:r>
                      <a:r>
                        <a:rPr kumimoji="0" lang="en-US" sz="1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 200 </a:t>
                      </a: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cm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Energy confinement time </a:t>
                      </a:r>
                    </a:p>
                    <a:p>
                      <a:pPr marL="0" marR="0" lvl="0" indent="0" algn="ctr" defTabSz="8636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~ 2 - 4 </a:t>
                      </a:r>
                      <a:r>
                        <a:rPr kumimoji="0" lang="en-US" sz="1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entury Gothic" pitchFamily="-65" charset="0"/>
                          <a:ea typeface="ヒラギノ角ゴ Pro W3" pitchFamily="-65" charset="-128"/>
                          <a:cs typeface="ヒラギノ角ゴ Pro W3" pitchFamily="-65" charset="-128"/>
                        </a:rPr>
                        <a:t>s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entury Gothic" pitchFamily="-65" charset="0"/>
                        <a:ea typeface="ヒラギノ角ゴ Pro W3" pitchFamily="-65" charset="-128"/>
                        <a:cs typeface="ヒラギノ角ゴ Pro W3" pitchFamily="-65" charset="-128"/>
                      </a:endParaRPr>
                    </a:p>
                  </a:txBody>
                  <a:tcPr marL="16549" marR="16549" marT="8273" marB="827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03133" name="Picture 1053" descr="image-1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33763" y="2651123"/>
            <a:ext cx="520700" cy="404813"/>
          </a:xfrm>
          <a:prstGeom prst="rect">
            <a:avLst/>
          </a:prstGeom>
          <a:noFill/>
        </p:spPr>
      </p:pic>
      <p:pic>
        <p:nvPicPr>
          <p:cNvPr id="303134" name="Picture 1054" descr="image-1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3484561"/>
            <a:ext cx="520700" cy="404812"/>
          </a:xfrm>
          <a:prstGeom prst="rect">
            <a:avLst/>
          </a:prstGeom>
          <a:noFill/>
        </p:spPr>
      </p:pic>
      <p:pic>
        <p:nvPicPr>
          <p:cNvPr id="303135" name="Picture 1055" descr="image-1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4600" y="2771773"/>
            <a:ext cx="428625" cy="225425"/>
          </a:xfrm>
          <a:prstGeom prst="rect">
            <a:avLst/>
          </a:prstGeom>
          <a:noFill/>
        </p:spPr>
      </p:pic>
      <p:pic>
        <p:nvPicPr>
          <p:cNvPr id="303136" name="Picture 1056" descr="image-1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81750" y="3587748"/>
            <a:ext cx="428625" cy="225425"/>
          </a:xfrm>
          <a:prstGeom prst="rect">
            <a:avLst/>
          </a:prstGeom>
          <a:noFill/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2590292" y="6060185"/>
            <a:ext cx="6401308" cy="384523"/>
          </a:xfrm>
          <a:prstGeom prst="rect">
            <a:avLst/>
          </a:prstGeom>
        </p:spPr>
      </p:pic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110420" y="6019800"/>
            <a:ext cx="2590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en-US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simulation cost:</a:t>
            </a:r>
            <a:endParaRPr lang="en-US" sz="2600" dirty="0">
              <a:latin typeface="Century Gothic" pitchFamily="-65" charset="0"/>
              <a:ea typeface="ヒラギノ角ゴ Pro W3" pitchFamily="-65" charset="-128"/>
              <a:cs typeface="ヒラギノ角ゴ Pro W3" pitchFamily="-65" charset="-128"/>
            </a:endParaRPr>
          </a:p>
        </p:txBody>
      </p:sp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msgrid_mod2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09600" y="3167097"/>
            <a:ext cx="7847619" cy="3386103"/>
          </a:xfrm>
          <a:prstGeom prst="rect">
            <a:avLst/>
          </a:prstGeom>
        </p:spPr>
      </p:pic>
      <p:sp>
        <p:nvSpPr>
          <p:cNvPr id="249860" name="Rectangle 4"/>
          <p:cNvSpPr>
            <a:spLocks noGrp="1" noChangeArrowheads="1"/>
          </p:cNvSpPr>
          <p:nvPr>
            <p:ph type="title"/>
          </p:nvPr>
        </p:nvSpPr>
        <p:spPr>
          <a:xfrm>
            <a:off x="128588" y="230187"/>
            <a:ext cx="8926512" cy="608013"/>
          </a:xfrm>
        </p:spPr>
        <p:txBody>
          <a:bodyPr/>
          <a:lstStyle/>
          <a:p>
            <a:pPr algn="ctr"/>
            <a:r>
              <a:rPr lang="en-US" sz="3800" dirty="0" err="1"/>
              <a:t>Multiscale</a:t>
            </a:r>
            <a:r>
              <a:rPr lang="en-US" sz="3800" dirty="0" smtClean="0"/>
              <a:t> simulation (TRINITY)</a:t>
            </a:r>
            <a:endParaRPr lang="en-US" dirty="0"/>
          </a:p>
        </p:txBody>
      </p:sp>
      <p:sp>
        <p:nvSpPr>
          <p:cNvPr id="249866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7848600" cy="1295399"/>
          </a:xfrm>
          <a:noFill/>
          <a:ln/>
        </p:spPr>
        <p:txBody>
          <a:bodyPr lIns="90909" tIns="45454" rIns="90909" bIns="45454"/>
          <a:lstStyle/>
          <a:p>
            <a:pPr marL="363538" indent="-363538" defTabSz="966788">
              <a:lnSpc>
                <a:spcPct val="90000"/>
              </a:lnSpc>
            </a:pPr>
            <a:r>
              <a:rPr lang="en-US" sz="2200" dirty="0" smtClean="0"/>
              <a:t>Turbulent fluctuations calculated in small </a:t>
            </a:r>
            <a:r>
              <a:rPr lang="en-US" sz="2200" dirty="0"/>
              <a:t>regions of fine</a:t>
            </a:r>
            <a:r>
              <a:rPr lang="en-US" sz="2200" dirty="0" smtClean="0"/>
              <a:t> space-time grid </a:t>
            </a:r>
            <a:r>
              <a:rPr lang="en-US" sz="2200" dirty="0"/>
              <a:t>embedded in “coarse”</a:t>
            </a:r>
            <a:r>
              <a:rPr lang="en-US" sz="2200" dirty="0" smtClean="0"/>
              <a:t> grid (</a:t>
            </a:r>
            <a:r>
              <a:rPr lang="en-US" sz="2200" dirty="0"/>
              <a:t>for</a:t>
            </a:r>
            <a:r>
              <a:rPr lang="en-US" sz="2200" dirty="0" smtClean="0"/>
              <a:t> mean quantities)</a:t>
            </a:r>
          </a:p>
        </p:txBody>
      </p:sp>
      <p:sp>
        <p:nvSpPr>
          <p:cNvPr id="249867" name="Line 11"/>
          <p:cNvSpPr>
            <a:spLocks noChangeShapeType="1"/>
          </p:cNvSpPr>
          <p:nvPr/>
        </p:nvSpPr>
        <p:spPr bwMode="auto">
          <a:xfrm flipH="1">
            <a:off x="3657600" y="2743200"/>
            <a:ext cx="1506538" cy="1447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9868" name="Rectangle 12"/>
          <p:cNvSpPr>
            <a:spLocks noChangeArrowheads="1"/>
          </p:cNvSpPr>
          <p:nvPr/>
        </p:nvSpPr>
        <p:spPr bwMode="auto">
          <a:xfrm>
            <a:off x="5197475" y="2438400"/>
            <a:ext cx="3870325" cy="425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027" tIns="43013" rIns="86027" bIns="43013">
            <a:prstTxWarp prst="textNoShape">
              <a:avLst/>
            </a:prstTxWarp>
            <a:spAutoFit/>
          </a:bodyPr>
          <a:lstStyle/>
          <a:p>
            <a:pPr defTabSz="860425"/>
            <a:r>
              <a:rPr lang="en-US" sz="2200" dirty="0" smtClean="0">
                <a:solidFill>
                  <a:schemeClr val="tx2"/>
                </a:solidFill>
              </a:rPr>
              <a:t>Flux tube simulation domain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249869" name="Line 13"/>
          <p:cNvSpPr>
            <a:spLocks noChangeShapeType="1"/>
          </p:cNvSpPr>
          <p:nvPr/>
        </p:nvSpPr>
        <p:spPr bwMode="auto">
          <a:xfrm>
            <a:off x="5181600" y="2743200"/>
            <a:ext cx="381000" cy="1447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9870" name="Line 14"/>
          <p:cNvSpPr>
            <a:spLocks noChangeShapeType="1"/>
          </p:cNvSpPr>
          <p:nvPr/>
        </p:nvSpPr>
        <p:spPr bwMode="auto">
          <a:xfrm flipH="1">
            <a:off x="4038600" y="2743200"/>
            <a:ext cx="1143000" cy="1600199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 advTm="343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1428" name="Rectangle 4"/>
          <p:cNvSpPr>
            <a:spLocks noChangeArrowheads="1"/>
          </p:cNvSpPr>
          <p:nvPr/>
        </p:nvSpPr>
        <p:spPr bwMode="auto">
          <a:xfrm>
            <a:off x="685800" y="2514600"/>
            <a:ext cx="7696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Effect of rotational shear on turbulent transport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Implications for local gradients (0D)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Extension to radial profiles (1D)</a:t>
            </a:r>
            <a:endParaRPr lang="en-US" sz="3200" dirty="0">
              <a:latin typeface="Century Gothic" pitchFamily="-65" charset="0"/>
              <a:ea typeface="ヒラギノ角ゴ Pro W3" pitchFamily="-65" charset="-128"/>
              <a:cs typeface="ヒラギノ角ゴ Pro W3" pitchFamily="-65" charset="-128"/>
            </a:endParaRPr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Overview</a:t>
            </a:r>
          </a:p>
        </p:txBody>
      </p:sp>
    </p:spTree>
  </p:cSld>
  <p:clrMapOvr>
    <a:masterClrMapping/>
  </p:clrMapOvr>
  <p:transition advTm="145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533400" y="1447800"/>
            <a:ext cx="8153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en-US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GK equation with mean flow satisfying                      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en-US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but :</a:t>
            </a:r>
            <a:endParaRPr lang="en-US" sz="2600" dirty="0">
              <a:latin typeface="Century Gothic" pitchFamily="-65" charset="0"/>
              <a:ea typeface="ヒラギノ角ゴ Pro W3" pitchFamily="-65" charset="-128"/>
              <a:cs typeface="ヒラギノ角ゴ Pro W3" pitchFamily="-65" charset="-128"/>
            </a:endParaRPr>
          </a:p>
        </p:txBody>
      </p:sp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04800" y="2616676"/>
            <a:ext cx="8458200" cy="1650524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304800" y="4581293"/>
            <a:ext cx="3200400" cy="676507"/>
          </a:xfrm>
          <a:prstGeom prst="rect">
            <a:avLst/>
          </a:prstGeom>
        </p:spPr>
      </p:pic>
      <p:pic>
        <p:nvPicPr>
          <p:cNvPr id="15" name="Picture 14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4038600" y="5614794"/>
            <a:ext cx="4897438" cy="1167006"/>
          </a:xfrm>
          <a:prstGeom prst="rect">
            <a:avLst/>
          </a:prstGeom>
        </p:spPr>
      </p:pic>
      <p:sp>
        <p:nvSpPr>
          <p:cNvPr id="16" name="Rectangle 26"/>
          <p:cNvSpPr>
            <a:spLocks noChangeArrowheads="1"/>
          </p:cNvSpPr>
          <p:nvPr/>
        </p:nvSpPr>
        <p:spPr bwMode="auto">
          <a:xfrm>
            <a:off x="4419600" y="5410200"/>
            <a:ext cx="3352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en-US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Local approximation:</a:t>
            </a:r>
            <a:endParaRPr lang="en-US" sz="2600" dirty="0">
              <a:latin typeface="Century Gothic" pitchFamily="-65" charset="0"/>
              <a:ea typeface="ヒラギノ角ゴ Pro W3" pitchFamily="-65" charset="-128"/>
              <a:cs typeface="ヒラギノ角ゴ Pro W3" pitchFamily="-65" charset="-128"/>
            </a:endParaRPr>
          </a:p>
        </p:txBody>
      </p:sp>
      <p:pic>
        <p:nvPicPr>
          <p:cNvPr id="18" name="Picture 17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6455654" y="1360928"/>
            <a:ext cx="2025650" cy="688927"/>
          </a:xfrm>
          <a:prstGeom prst="rect">
            <a:avLst/>
          </a:prstGeom>
        </p:spPr>
      </p:pic>
      <p:pic>
        <p:nvPicPr>
          <p:cNvPr id="19" name="Picture 1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1"/>
              <a:stretch>
                <a:fillRect/>
              </a:stretch>
            </p:blipFill>
          </mc:Choice>
          <mc:Fallback>
            <p:blipFill>
              <a:blip r:embed="rId12"/>
              <a:stretch>
                <a:fillRect/>
              </a:stretch>
            </p:blipFill>
          </mc:Fallback>
        </mc:AlternateContent>
        <p:spPr>
          <a:xfrm>
            <a:off x="1479819" y="1965967"/>
            <a:ext cx="2044700" cy="413291"/>
          </a:xfrm>
          <a:prstGeom prst="rect">
            <a:avLst/>
          </a:prstGeom>
        </p:spPr>
      </p:pic>
      <p:pic>
        <p:nvPicPr>
          <p:cNvPr id="20" name="Picture 1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3"/>
              <a:stretch>
                <a:fillRect/>
              </a:stretch>
            </p:blipFill>
          </mc:Choice>
          <mc:Fallback>
            <p:blipFill>
              <a:blip r:embed="rId14"/>
              <a:stretch>
                <a:fillRect/>
              </a:stretch>
            </p:blipFill>
          </mc:Fallback>
        </mc:AlternateContent>
        <p:spPr>
          <a:xfrm>
            <a:off x="739011" y="5688698"/>
            <a:ext cx="2385189" cy="864501"/>
          </a:xfrm>
          <a:prstGeom prst="rect">
            <a:avLst/>
          </a:prstGeom>
        </p:spPr>
      </p:pic>
      <p:sp>
        <p:nvSpPr>
          <p:cNvPr id="2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228599" y="2559312"/>
            <a:ext cx="8610601" cy="1828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pic>
        <p:nvPicPr>
          <p:cNvPr id="14" name="Picture 13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5"/>
              <a:stretch>
                <a:fillRect/>
              </a:stretch>
            </p:blipFill>
          </mc:Choice>
          <mc:Fallback>
            <p:blipFill>
              <a:blip r:embed="rId16"/>
              <a:stretch>
                <a:fillRect/>
              </a:stretch>
            </p:blipFill>
          </mc:Fallback>
        </mc:AlternateContent>
        <p:spPr>
          <a:xfrm>
            <a:off x="5410200" y="4724400"/>
            <a:ext cx="1655763" cy="39822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auto">
          <a:xfrm>
            <a:off x="5334000" y="4648200"/>
            <a:ext cx="1828800" cy="5334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</p:cSld>
  <p:clrMapOvr>
    <a:masterClrMapping/>
  </p:clrMapOvr>
  <p:transition advTm="324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Linear stability (GS2)</a:t>
            </a:r>
            <a:endParaRPr lang="en-US" dirty="0"/>
          </a:p>
        </p:txBody>
      </p:sp>
      <p:pic>
        <p:nvPicPr>
          <p:cNvPr id="8" name="Picture 7" descr="gamvsgexb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" y="2133600"/>
            <a:ext cx="6096000" cy="4064000"/>
          </a:xfrm>
          <a:prstGeom prst="rect">
            <a:avLst/>
          </a:prstGeom>
        </p:spPr>
      </p:pic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324600" y="2133600"/>
            <a:ext cx="2667000" cy="3951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ITG drive at small shear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ITG/PVG drive at moderate shear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Stabilization at large shear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Roughly linear dependence of critical flow shear on R/LT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685800" y="6324600"/>
            <a:ext cx="4953000" cy="425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027" tIns="43013" rIns="86027" bIns="43013">
            <a:prstTxWarp prst="textNoShape">
              <a:avLst/>
            </a:prstTxWarp>
            <a:spAutoFit/>
          </a:bodyPr>
          <a:lstStyle/>
          <a:p>
            <a:pPr defTabSz="860425"/>
            <a:r>
              <a:rPr lang="en-US" sz="2200" dirty="0" smtClean="0">
                <a:solidFill>
                  <a:schemeClr val="tx2"/>
                </a:solidFill>
              </a:rPr>
              <a:t>Barnes et al., </a:t>
            </a:r>
            <a:r>
              <a:rPr lang="en-US" sz="2200" dirty="0" smtClean="0">
                <a:solidFill>
                  <a:schemeClr val="tx2"/>
                </a:solidFill>
              </a:rPr>
              <a:t>2010  (arXiv:1007.3390)</a:t>
            </a:r>
            <a:endParaRPr lang="en-US" sz="2200" dirty="0">
              <a:solidFill>
                <a:schemeClr val="tx2"/>
              </a:solidFill>
            </a:endParaRPr>
          </a:p>
        </p:txBody>
      </p:sp>
      <p:pic>
        <p:nvPicPr>
          <p:cNvPr id="17" name="Picture 1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7425620" y="1447800"/>
            <a:ext cx="1257300" cy="305830"/>
          </a:xfrm>
          <a:prstGeom prst="rect">
            <a:avLst/>
          </a:prstGeom>
        </p:spPr>
      </p:pic>
      <p:pic>
        <p:nvPicPr>
          <p:cNvPr id="18" name="Picture 17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5715000" y="1431184"/>
            <a:ext cx="1266825" cy="376624"/>
          </a:xfrm>
          <a:prstGeom prst="rect">
            <a:avLst/>
          </a:prstGeom>
        </p:spPr>
      </p:pic>
      <p:pic>
        <p:nvPicPr>
          <p:cNvPr id="19" name="Picture 1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3416300" y="1437784"/>
            <a:ext cx="1917700" cy="4164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1371600"/>
            <a:ext cx="28706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Cyclone base case:</a:t>
            </a:r>
            <a:endParaRPr lang="en-US" dirty="0"/>
          </a:p>
        </p:txBody>
      </p:sp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Transient growth</a:t>
            </a:r>
            <a:endParaRPr lang="en-US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019800" y="2209800"/>
            <a:ext cx="2971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Beyond critical shear value, transient linear growth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Amplification of initial amplitude increases with shear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Cf. Newton et al., 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2010 (arXiv:1007.0040)</a:t>
            </a:r>
            <a:endParaRPr lang="en-US" kern="0" dirty="0" smtClean="0"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 descr="Qvstime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66700" y="2209800"/>
            <a:ext cx="5600700" cy="3733800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Qvsgexb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" y="304800"/>
            <a:ext cx="4572000" cy="304800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5" name="Picture 4" descr="Pivsgexb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152400" y="3505200"/>
            <a:ext cx="4572000" cy="30480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800600" y="1371600"/>
            <a:ext cx="4267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Fluxes follow linear trends up to linear stabilization point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Subcritical (linearly stable) turbulence beyond this point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Optimal flow shear for confinement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Possible hysteresis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Maximum in momentum flux =&gt; possible bifurcation</a:t>
            </a:r>
          </a:p>
        </p:txBody>
      </p:sp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Turbulent </a:t>
            </a:r>
            <a:r>
              <a:rPr lang="en-US" dirty="0" err="1" smtClean="0"/>
              <a:t>Prandtl</a:t>
            </a:r>
            <a:r>
              <a:rPr lang="en-US" dirty="0" smtClean="0"/>
              <a:t> number</a:t>
            </a:r>
            <a:endParaRPr lang="en-US" dirty="0"/>
          </a:p>
        </p:txBody>
      </p:sp>
      <p:pic>
        <p:nvPicPr>
          <p:cNvPr id="4" name="Picture 3" descr="prandtl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2400" y="3048000"/>
            <a:ext cx="5486400" cy="365760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5" name="Picture 4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1468051" y="1707888"/>
            <a:ext cx="1351349" cy="787400"/>
          </a:xfrm>
          <a:prstGeom prst="rect">
            <a:avLst/>
          </a:prstGeom>
        </p:spPr>
      </p:pic>
      <p:pic>
        <p:nvPicPr>
          <p:cNvPr id="6" name="Picture 5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3810000" y="1600200"/>
            <a:ext cx="4419600" cy="419862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3810000" y="2209800"/>
            <a:ext cx="2667000" cy="397435"/>
          </a:xfrm>
          <a:prstGeom prst="rect">
            <a:avLst/>
          </a:prstGeom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5715000" y="3200400"/>
            <a:ext cx="3276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err="1" smtClean="0">
                <a:latin typeface="+mn-lt"/>
                <a:ea typeface="+mn-ea"/>
                <a:cs typeface="+mn-cs"/>
              </a:rPr>
              <a:t>Prandtl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 number tends to shear- and R/LT-independent value of order unity (in both turbulence regimes)</a:t>
            </a:r>
          </a:p>
        </p:txBody>
      </p:sp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53400" cy="990600"/>
          </a:xfrm>
        </p:spPr>
        <p:txBody>
          <a:bodyPr/>
          <a:lstStyle/>
          <a:p>
            <a:pPr algn="ctr"/>
            <a:r>
              <a:rPr lang="en-US" dirty="0" smtClean="0"/>
              <a:t>Zero magnetic shear </a:t>
            </a:r>
            <a:endParaRPr lang="en-US" dirty="0"/>
          </a:p>
        </p:txBody>
      </p:sp>
      <p:pic>
        <p:nvPicPr>
          <p:cNvPr id="6" name="Picture 5" descr="highcock_fluxes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" y="1485900"/>
            <a:ext cx="6184900" cy="5219700"/>
          </a:xfrm>
          <a:prstGeom prst="rect">
            <a:avLst/>
          </a:prstGeom>
        </p:spPr>
      </p:pic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6324600" y="5789225"/>
            <a:ext cx="2819400" cy="76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027" tIns="43013" rIns="86027" bIns="43013">
            <a:prstTxWarp prst="textNoShape">
              <a:avLst/>
            </a:prstTxWarp>
            <a:spAutoFit/>
          </a:bodyPr>
          <a:lstStyle/>
          <a:p>
            <a:pPr defTabSz="860425"/>
            <a:r>
              <a:rPr lang="en-US" sz="2200" dirty="0" err="1" smtClean="0">
                <a:solidFill>
                  <a:schemeClr val="tx2"/>
                </a:solidFill>
              </a:rPr>
              <a:t>Highcock</a:t>
            </a:r>
            <a:r>
              <a:rPr lang="en-US" sz="2200" dirty="0" smtClean="0">
                <a:solidFill>
                  <a:schemeClr val="tx2"/>
                </a:solidFill>
              </a:rPr>
              <a:t> et al., </a:t>
            </a:r>
            <a:r>
              <a:rPr lang="en-US" sz="2200" dirty="0" smtClean="0">
                <a:solidFill>
                  <a:schemeClr val="tx2"/>
                </a:solidFill>
              </a:rPr>
              <a:t>2010 (arXiv:1008.2305)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553200" y="2362200"/>
            <a:ext cx="24384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Similar…sort of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All turbulence subcritical</a:t>
            </a:r>
          </a:p>
        </p:txBody>
      </p:sp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153400" cy="990600"/>
          </a:xfrm>
        </p:spPr>
        <p:txBody>
          <a:bodyPr/>
          <a:lstStyle/>
          <a:p>
            <a:pPr algn="ctr"/>
            <a:r>
              <a:rPr lang="en-US" dirty="0" smtClean="0"/>
              <a:t>Zero magnetic shear 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553200" y="2362200"/>
            <a:ext cx="2438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Similar…sort of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All turbulence subcritical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Very different critical flow shear values</a:t>
            </a:r>
          </a:p>
        </p:txBody>
      </p:sp>
      <p:pic>
        <p:nvPicPr>
          <p:cNvPr id="9" name="Picture 8" descr="highcock_qflux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1291719"/>
            <a:ext cx="6019800" cy="2400300"/>
          </a:xfrm>
          <a:prstGeom prst="rect">
            <a:avLst/>
          </a:prstGeom>
        </p:spPr>
      </p:pic>
      <p:pic>
        <p:nvPicPr>
          <p:cNvPr id="10" name="Picture 9" descr="Qvsgexb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328526" y="3810000"/>
            <a:ext cx="4100478" cy="2733651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1428" name="Rectangle 4"/>
          <p:cNvSpPr>
            <a:spLocks noChangeArrowheads="1"/>
          </p:cNvSpPr>
          <p:nvPr/>
        </p:nvSpPr>
        <p:spPr bwMode="auto">
          <a:xfrm>
            <a:off x="685800" y="2514600"/>
            <a:ext cx="7696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dirty="0" smtClean="0">
                <a:solidFill>
                  <a:schemeClr val="tx1">
                    <a:alpha val="30000"/>
                  </a:schemeClr>
                </a:solidFill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Effect of rotational shear on turbulent transport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Implications for local gradients (0D)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dirty="0" smtClean="0">
                <a:solidFill>
                  <a:schemeClr val="tx1">
                    <a:alpha val="30000"/>
                  </a:schemeClr>
                </a:solidFill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Extension to radial profiles (1D)</a:t>
            </a:r>
            <a:endParaRPr lang="en-US" sz="3200" dirty="0">
              <a:solidFill>
                <a:schemeClr val="tx1">
                  <a:alpha val="30000"/>
                </a:schemeClr>
              </a:solidFill>
              <a:latin typeface="Century Gothic" pitchFamily="-65" charset="0"/>
              <a:ea typeface="ヒラギノ角ゴ Pro W3" pitchFamily="-65" charset="-128"/>
              <a:cs typeface="ヒラギノ角ゴ Pro W3" pitchFamily="-65" charset="-128"/>
            </a:endParaRPr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Overview</a:t>
            </a:r>
          </a:p>
        </p:txBody>
      </p:sp>
    </p:spTree>
  </p:cSld>
  <p:clrMapOvr>
    <a:masterClrMapping/>
  </p:clrMapOvr>
  <p:transition advTm="145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953000" y="5181600"/>
            <a:ext cx="4000500" cy="926325"/>
          </a:xfrm>
          <a:prstGeom prst="rect">
            <a:avLst/>
          </a:prstGeom>
        </p:spPr>
      </p:pic>
      <p:sp useBgFill="1">
        <p:nvSpPr>
          <p:cNvPr id="7" name="Oval 6"/>
          <p:cNvSpPr/>
          <p:nvPr/>
        </p:nvSpPr>
        <p:spPr bwMode="auto">
          <a:xfrm>
            <a:off x="762000" y="2394316"/>
            <a:ext cx="3810000" cy="3810000"/>
          </a:xfrm>
          <a:prstGeom prst="ellipse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 useBgFill="1">
        <p:nvSpPr>
          <p:cNvPr id="8" name="Left Arrow 7"/>
          <p:cNvSpPr/>
          <p:nvPr/>
        </p:nvSpPr>
        <p:spPr bwMode="auto">
          <a:xfrm rot="7884643">
            <a:off x="2571648" y="2825751"/>
            <a:ext cx="1966509" cy="457200"/>
          </a:xfrm>
          <a:prstGeom prst="leftArrow">
            <a:avLst>
              <a:gd name="adj1" fmla="val 45409"/>
              <a:gd name="adj2" fmla="val 50000"/>
            </a:avLst>
          </a:prstGeom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 useBgFill="1">
        <p:nvSpPr>
          <p:cNvPr id="9" name="Left Arrow 8"/>
          <p:cNvSpPr/>
          <p:nvPr/>
        </p:nvSpPr>
        <p:spPr bwMode="auto">
          <a:xfrm rot="13688268">
            <a:off x="2615108" y="5144466"/>
            <a:ext cx="1940994" cy="457200"/>
          </a:xfrm>
          <a:prstGeom prst="leftArrow">
            <a:avLst>
              <a:gd name="adj1" fmla="val 45409"/>
              <a:gd name="adj2" fmla="val 50000"/>
            </a:avLst>
          </a:prstGeom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 useBgFill="1">
        <p:nvSpPr>
          <p:cNvPr id="10" name="Left Arrow 9"/>
          <p:cNvSpPr/>
          <p:nvPr/>
        </p:nvSpPr>
        <p:spPr bwMode="auto">
          <a:xfrm>
            <a:off x="228600" y="3955218"/>
            <a:ext cx="2209800" cy="457200"/>
          </a:xfrm>
          <a:prstGeom prst="leftArrow">
            <a:avLst>
              <a:gd name="adj1" fmla="val 45409"/>
              <a:gd name="adj2" fmla="val 50000"/>
            </a:avLst>
          </a:prstGeom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3048000" y="1860916"/>
            <a:ext cx="803275" cy="390481"/>
          </a:xfrm>
          <a:prstGeom prst="rect">
            <a:avLst/>
          </a:prstGeom>
        </p:spPr>
      </p:pic>
      <p:sp>
        <p:nvSpPr>
          <p:cNvPr id="12" name="Left Arrow 11"/>
          <p:cNvSpPr/>
          <p:nvPr/>
        </p:nvSpPr>
        <p:spPr bwMode="auto">
          <a:xfrm>
            <a:off x="2667000" y="3994516"/>
            <a:ext cx="2502408" cy="484632"/>
          </a:xfrm>
          <a:prstGeom prst="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24400" y="3537316"/>
            <a:ext cx="2494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heat, momentum</a:t>
            </a:r>
            <a:endParaRPr lang="en-US" dirty="0"/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/>
            <a:r>
              <a:rPr lang="en-US" dirty="0" smtClean="0"/>
              <a:t>Power/Torque balance for beam injection</a:t>
            </a:r>
            <a:endParaRPr lang="en-US" dirty="0"/>
          </a:p>
        </p:txBody>
      </p:sp>
      <p:sp useBgFill="1">
        <p:nvSpPr>
          <p:cNvPr id="23" name="Freeform 22"/>
          <p:cNvSpPr/>
          <p:nvPr/>
        </p:nvSpPr>
        <p:spPr bwMode="auto">
          <a:xfrm>
            <a:off x="0" y="1447800"/>
            <a:ext cx="3124200" cy="990600"/>
          </a:xfrm>
          <a:custGeom>
            <a:avLst/>
            <a:gdLst>
              <a:gd name="connsiteX0" fmla="*/ 1647757 w 1647757"/>
              <a:gd name="connsiteY0" fmla="*/ 724242 h 724242"/>
              <a:gd name="connsiteX1" fmla="*/ 598230 w 1647757"/>
              <a:gd name="connsiteY1" fmla="*/ 209925 h 724242"/>
              <a:gd name="connsiteX2" fmla="*/ 0 w 1647757"/>
              <a:gd name="connsiteY2" fmla="*/ 0 h 724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7757" h="724242">
                <a:moveTo>
                  <a:pt x="1647757" y="724242"/>
                </a:moveTo>
                <a:cubicBezTo>
                  <a:pt x="1260306" y="527437"/>
                  <a:pt x="872856" y="330632"/>
                  <a:pt x="598230" y="209925"/>
                </a:cubicBezTo>
                <a:cubicBezTo>
                  <a:pt x="323604" y="89218"/>
                  <a:pt x="0" y="0"/>
                  <a:pt x="0" y="0"/>
                </a:cubicBezTo>
              </a:path>
            </a:pathLst>
          </a:cu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 useBgFill="1">
        <p:nvSpPr>
          <p:cNvPr id="24" name="Freeform 23"/>
          <p:cNvSpPr/>
          <p:nvPr/>
        </p:nvSpPr>
        <p:spPr bwMode="auto">
          <a:xfrm>
            <a:off x="0" y="5334000"/>
            <a:ext cx="1828800" cy="685800"/>
          </a:xfrm>
          <a:custGeom>
            <a:avLst/>
            <a:gdLst>
              <a:gd name="connsiteX0" fmla="*/ 1647757 w 1647757"/>
              <a:gd name="connsiteY0" fmla="*/ 724242 h 724242"/>
              <a:gd name="connsiteX1" fmla="*/ 598230 w 1647757"/>
              <a:gd name="connsiteY1" fmla="*/ 209925 h 724242"/>
              <a:gd name="connsiteX2" fmla="*/ 0 w 1647757"/>
              <a:gd name="connsiteY2" fmla="*/ 0 h 724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47757" h="724242">
                <a:moveTo>
                  <a:pt x="1647757" y="724242"/>
                </a:moveTo>
                <a:cubicBezTo>
                  <a:pt x="1260306" y="527437"/>
                  <a:pt x="872856" y="330632"/>
                  <a:pt x="598230" y="209925"/>
                </a:cubicBezTo>
                <a:cubicBezTo>
                  <a:pt x="323604" y="89218"/>
                  <a:pt x="0" y="0"/>
                  <a:pt x="0" y="0"/>
                </a:cubicBezTo>
              </a:path>
            </a:pathLst>
          </a:custGeom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65" charset="0"/>
              <a:ea typeface="ＭＳ Ｐゴシック" pitchFamily="-65" charset="-128"/>
              <a:cs typeface="ＭＳ Ｐゴシック" pitchFamily="-65" charset="-128"/>
            </a:endParaRPr>
          </a:p>
        </p:txBody>
      </p:sp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Balance w/o neoclassical</a:t>
            </a:r>
            <a:endParaRPr lang="en-US" dirty="0"/>
          </a:p>
        </p:txBody>
      </p:sp>
      <p:pic>
        <p:nvPicPr>
          <p:cNvPr id="4" name="Picture 3" descr="fig_Qt_1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1524000"/>
            <a:ext cx="5486400" cy="4648200"/>
          </a:xfrm>
          <a:prstGeom prst="rect">
            <a:avLst/>
          </a:prstGeom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791200" y="1524000"/>
            <a:ext cx="3200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    = red lines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         = green lines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Critical gradient = dashed line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For given    and     , only one solution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	No bifurcation!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6172201" y="1970902"/>
            <a:ext cx="762000" cy="391297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6172200" y="1524000"/>
            <a:ext cx="304800" cy="3810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6324600" y="2514600"/>
            <a:ext cx="2225221" cy="8382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7696200" y="4267200"/>
            <a:ext cx="762000" cy="391297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7010400" y="4648200"/>
            <a:ext cx="304800" cy="381000"/>
          </a:xfrm>
          <a:prstGeom prst="rect">
            <a:avLst/>
          </a:prstGeom>
        </p:spPr>
      </p:pic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1676400" y="6280180"/>
            <a:ext cx="2514600" cy="425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027" tIns="43013" rIns="86027" bIns="43013">
            <a:prstTxWarp prst="textNoShape">
              <a:avLst/>
            </a:prstTxWarp>
            <a:spAutoFit/>
          </a:bodyPr>
          <a:lstStyle/>
          <a:p>
            <a:pPr defTabSz="860425"/>
            <a:r>
              <a:rPr lang="en-US" sz="2200" dirty="0" smtClean="0">
                <a:solidFill>
                  <a:schemeClr val="tx2"/>
                </a:solidFill>
              </a:rPr>
              <a:t>Parra et al., 2010</a:t>
            </a:r>
            <a:endParaRPr lang="en-US" sz="22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Neoclassical energy flux</a:t>
            </a:r>
            <a:endParaRPr lang="en-US" dirty="0"/>
          </a:p>
        </p:txBody>
      </p:sp>
      <p:pic>
        <p:nvPicPr>
          <p:cNvPr id="5" name="Picture 4" descr="fig_Q_1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00" y="1392400"/>
            <a:ext cx="6520800" cy="5008400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Neoclassical energy flux</a:t>
            </a:r>
            <a:endParaRPr lang="en-US" dirty="0"/>
          </a:p>
        </p:txBody>
      </p:sp>
      <p:pic>
        <p:nvPicPr>
          <p:cNvPr id="5" name="Picture 4" descr="fig_Q_2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00" y="1392400"/>
            <a:ext cx="6520800" cy="5008400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6705600" cy="990600"/>
          </a:xfrm>
        </p:spPr>
        <p:txBody>
          <a:bodyPr/>
          <a:lstStyle/>
          <a:p>
            <a:pPr algn="ctr"/>
            <a:r>
              <a:rPr lang="en-US" dirty="0" smtClean="0"/>
              <a:t>Curves of constant   </a:t>
            </a:r>
            <a:endParaRPr lang="en-US" dirty="0"/>
          </a:p>
        </p:txBody>
      </p:sp>
      <p:pic>
        <p:nvPicPr>
          <p:cNvPr id="5" name="Picture 4" descr="fig_PiQ_1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371600"/>
            <a:ext cx="5334000" cy="4534632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791200" y="1524000"/>
            <a:ext cx="3200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Neoclassical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Turbulent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err="1" smtClean="0">
                <a:latin typeface="+mn-lt"/>
                <a:ea typeface="+mn-ea"/>
                <a:cs typeface="+mn-cs"/>
              </a:rPr>
              <a:t>Prandtl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 numbers</a:t>
            </a:r>
          </a:p>
        </p:txBody>
      </p:sp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6400800" y="3657600"/>
            <a:ext cx="2411412" cy="908335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6324600" y="2057400"/>
            <a:ext cx="2427514" cy="91440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8"/>
              <a:stretch>
                <a:fillRect/>
              </a:stretch>
            </p:blipFill>
          </mc:Choice>
          <mc:Fallback>
            <p:blipFill>
              <a:blip r:embed="rId9"/>
              <a:stretch>
                <a:fillRect/>
              </a:stretch>
            </p:blipFill>
          </mc:Fallback>
        </mc:AlternateContent>
        <p:spPr>
          <a:xfrm>
            <a:off x="6553200" y="5181600"/>
            <a:ext cx="1719262" cy="329439"/>
          </a:xfrm>
          <a:prstGeom prst="rect">
            <a:avLst/>
          </a:prstGeom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0"/>
              <a:stretch>
                <a:fillRect/>
              </a:stretch>
            </p:blipFill>
          </mc:Choice>
          <mc:Fallback>
            <p:blipFill>
              <a:blip r:embed="rId11"/>
              <a:stretch>
                <a:fillRect/>
              </a:stretch>
            </p:blipFill>
          </mc:Fallback>
        </mc:AlternateContent>
        <p:spPr>
          <a:xfrm>
            <a:off x="6705600" y="662080"/>
            <a:ext cx="1187115" cy="609600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6705600" cy="990600"/>
          </a:xfrm>
        </p:spPr>
        <p:txBody>
          <a:bodyPr/>
          <a:lstStyle/>
          <a:p>
            <a:pPr algn="ctr"/>
            <a:r>
              <a:rPr lang="en-US" dirty="0" smtClean="0"/>
              <a:t>Curves of constant   </a:t>
            </a:r>
            <a:endParaRPr 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791200" y="1524000"/>
            <a:ext cx="3200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Neoclassical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Turbulent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kern="0" dirty="0" smtClean="0">
              <a:latin typeface="+mn-lt"/>
              <a:ea typeface="+mn-ea"/>
              <a:cs typeface="+mn-cs"/>
            </a:endParaRP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err="1" smtClean="0">
                <a:latin typeface="+mn-lt"/>
                <a:ea typeface="+mn-ea"/>
                <a:cs typeface="+mn-cs"/>
              </a:rPr>
              <a:t>Prandtl</a:t>
            </a:r>
            <a:r>
              <a:rPr lang="en-US" kern="0" dirty="0" smtClean="0">
                <a:latin typeface="+mn-lt"/>
                <a:ea typeface="+mn-ea"/>
                <a:cs typeface="+mn-cs"/>
              </a:rPr>
              <a:t> numbers</a:t>
            </a:r>
          </a:p>
        </p:txBody>
      </p:sp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400800" y="3657600"/>
            <a:ext cx="2411412" cy="908335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6324600" y="2057400"/>
            <a:ext cx="2427514" cy="91440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6553200" y="5181600"/>
            <a:ext cx="1719262" cy="329439"/>
          </a:xfrm>
          <a:prstGeom prst="rect">
            <a:avLst/>
          </a:prstGeom>
        </p:spPr>
      </p:pic>
      <p:pic>
        <p:nvPicPr>
          <p:cNvPr id="12" name="Picture 11" descr="fig_PiQ_2.t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1371600"/>
            <a:ext cx="5333999" cy="4572000"/>
          </a:xfrm>
          <a:prstGeom prst="rect">
            <a:avLst/>
          </a:prstGeom>
        </p:spPr>
      </p:pic>
      <p:pic>
        <p:nvPicPr>
          <p:cNvPr id="13" name="Picture 12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0"/>
              <a:stretch>
                <a:fillRect/>
              </a:stretch>
            </p:blipFill>
          </mc:Choice>
          <mc:Fallback>
            <p:blipFill>
              <a:blip r:embed="rId11"/>
              <a:stretch>
                <a:fillRect/>
              </a:stretch>
            </p:blipFill>
          </mc:Fallback>
        </mc:AlternateContent>
        <p:spPr>
          <a:xfrm>
            <a:off x="6705600" y="662080"/>
            <a:ext cx="1187115" cy="609600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g_PiQ_3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00" y="1468600"/>
            <a:ext cx="6520800" cy="5008400"/>
          </a:xfrm>
          <a:prstGeom prst="rect">
            <a:avLst/>
          </a:prstGeom>
        </p:spPr>
      </p:pic>
      <p:sp>
        <p:nvSpPr>
          <p:cNvPr id="7" name="Rectangle 1026"/>
          <p:cNvSpPr txBox="1">
            <a:spLocks noChangeArrowheads="1"/>
          </p:cNvSpPr>
          <p:nvPr/>
        </p:nvSpPr>
        <p:spPr bwMode="auto">
          <a:xfrm>
            <a:off x="685800" y="381000"/>
            <a:ext cx="6705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Curves of constant   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6705600" y="662080"/>
            <a:ext cx="1187115" cy="609600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Possible solutions</a:t>
            </a:r>
            <a:endParaRPr lang="en-US" dirty="0"/>
          </a:p>
        </p:txBody>
      </p:sp>
      <p:pic>
        <p:nvPicPr>
          <p:cNvPr id="5" name="Picture 4" descr="fig_inter_1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149" y="1447800"/>
            <a:ext cx="6521451" cy="5006975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Possible solutions</a:t>
            </a:r>
            <a:endParaRPr lang="en-US" dirty="0"/>
          </a:p>
        </p:txBody>
      </p:sp>
      <p:pic>
        <p:nvPicPr>
          <p:cNvPr id="5" name="Picture 4" descr="fig_inter_2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447800"/>
            <a:ext cx="6520800" cy="5008400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Possible solutions</a:t>
            </a:r>
            <a:endParaRPr lang="en-US" dirty="0"/>
          </a:p>
        </p:txBody>
      </p:sp>
      <p:pic>
        <p:nvPicPr>
          <p:cNvPr id="5" name="Picture 4" descr="fig_inter_3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00" y="1468600"/>
            <a:ext cx="6520800" cy="5008400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990600"/>
          </a:xfrm>
        </p:spPr>
        <p:txBody>
          <a:bodyPr/>
          <a:lstStyle/>
          <a:p>
            <a:pPr algn="ctr"/>
            <a:r>
              <a:rPr lang="en-US" dirty="0" smtClean="0"/>
              <a:t>Total energy flux</a:t>
            </a:r>
            <a:endParaRPr lang="en-US" dirty="0"/>
          </a:p>
        </p:txBody>
      </p:sp>
      <p:pic>
        <p:nvPicPr>
          <p:cNvPr id="5" name="Picture 4" descr="fig_Q_total_1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066800"/>
            <a:ext cx="6913377" cy="5303800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8153400" cy="990600"/>
          </a:xfrm>
        </p:spPr>
        <p:txBody>
          <a:bodyPr/>
          <a:lstStyle/>
          <a:p>
            <a:pPr algn="ctr"/>
            <a:r>
              <a:rPr lang="en-US" dirty="0" smtClean="0"/>
              <a:t>Bifurcations</a:t>
            </a:r>
            <a:endParaRPr lang="en-US" dirty="0"/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5791200" y="5867400"/>
            <a:ext cx="1676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027" tIns="43013" rIns="86027" bIns="43013">
            <a:prstTxWarp prst="textNoShape">
              <a:avLst/>
            </a:prstTxWarp>
            <a:spAutoFit/>
          </a:bodyPr>
          <a:lstStyle/>
          <a:p>
            <a:pPr defTabSz="860425"/>
            <a:r>
              <a:rPr lang="en-US" sz="2200" dirty="0" err="1" smtClean="0">
                <a:solidFill>
                  <a:schemeClr val="tx2"/>
                </a:solidFill>
              </a:rPr>
              <a:t>Highcock</a:t>
            </a:r>
            <a:r>
              <a:rPr lang="en-US" sz="2200" dirty="0" smtClean="0">
                <a:solidFill>
                  <a:schemeClr val="tx2"/>
                </a:solidFill>
              </a:rPr>
              <a:t> et al., 2010</a:t>
            </a: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791200" y="1524000"/>
            <a:ext cx="3200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Consider inverse problem: for fixed fluxes, what are gradients?</a:t>
            </a:r>
          </a:p>
          <a:p>
            <a:pPr marL="363538" marR="0" lvl="0" indent="-363538" algn="l" defTabSz="966788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dirty="0" smtClean="0">
                <a:latin typeface="+mn-lt"/>
                <a:ea typeface="+mn-ea"/>
                <a:cs typeface="+mn-cs"/>
              </a:rPr>
              <a:t>With inclusion of neoclassical fluxes, we see bifurcation to much larger flow shear and R/LT </a:t>
            </a:r>
          </a:p>
        </p:txBody>
      </p:sp>
      <p:pic>
        <p:nvPicPr>
          <p:cNvPr id="9" name="Picture 8" descr="highcock_bifurcation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243651"/>
            <a:ext cx="5562600" cy="5538149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1428" name="Rectangle 4"/>
          <p:cNvSpPr>
            <a:spLocks noChangeArrowheads="1"/>
          </p:cNvSpPr>
          <p:nvPr/>
        </p:nvSpPr>
        <p:spPr bwMode="auto">
          <a:xfrm>
            <a:off x="685800" y="2514600"/>
            <a:ext cx="7696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dirty="0" smtClean="0">
                <a:solidFill>
                  <a:schemeClr val="tx1">
                    <a:alpha val="30000"/>
                  </a:schemeClr>
                </a:solidFill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Effect of rotational shear on turbulent transport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dirty="0" smtClean="0">
                <a:solidFill>
                  <a:schemeClr val="tx1">
                    <a:alpha val="30000"/>
                  </a:schemeClr>
                </a:solidFill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Implications for local gradients (0D)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3200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Extension to radial profiles (1D)</a:t>
            </a:r>
            <a:endParaRPr lang="en-US" sz="3200" dirty="0">
              <a:latin typeface="Century Gothic" pitchFamily="-65" charset="0"/>
              <a:ea typeface="ヒラギノ角ゴ Pro W3" pitchFamily="-65" charset="-128"/>
              <a:cs typeface="ヒラギノ角ゴ Pro W3" pitchFamily="-65" charset="-128"/>
            </a:endParaRPr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Overview</a:t>
            </a:r>
          </a:p>
        </p:txBody>
      </p:sp>
    </p:spTree>
  </p:cSld>
  <p:clrMapOvr>
    <a:masterClrMapping/>
  </p:clrMapOvr>
  <p:transition advTm="145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13" y="457200"/>
            <a:ext cx="8154987" cy="609600"/>
          </a:xfrm>
        </p:spPr>
        <p:txBody>
          <a:bodyPr/>
          <a:lstStyle/>
          <a:p>
            <a:pPr algn="ctr"/>
            <a:r>
              <a:rPr lang="en-US" sz="3800" dirty="0" smtClean="0">
                <a:latin typeface="Arial" pitchFamily="-65" charset="0"/>
              </a:rPr>
              <a:t>Transport equations in GK</a:t>
            </a:r>
            <a:endParaRPr lang="en-US" dirty="0"/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533400" y="1447800"/>
            <a:ext cx="815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12700" dir="2700000" algn="ctr" rotWithShape="0">
              <a:srgbClr val="000000">
                <a:alpha val="89999"/>
              </a:srgbClr>
            </a:outerShdw>
          </a:effectLst>
        </p:spPr>
        <p:txBody>
          <a:bodyPr>
            <a:prstTxWarp prst="textNoShape">
              <a:avLst/>
            </a:prstTxWarp>
          </a:bodyPr>
          <a:lstStyle/>
          <a:p>
            <a:pPr marL="342900" indent="-342900" eaLnBrk="1" hangingPunct="1">
              <a:lnSpc>
                <a:spcPct val="90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en-US" dirty="0" smtClean="0">
                <a:latin typeface="Century Gothic" pitchFamily="-65" charset="0"/>
                <a:ea typeface="ヒラギノ角ゴ Pro W3" pitchFamily="-65" charset="-128"/>
                <a:cs typeface="ヒラギノ角ゴ Pro W3" pitchFamily="-65" charset="-128"/>
              </a:rPr>
              <a:t>Moment equations for evolution of mean quantities:</a:t>
            </a:r>
            <a:endParaRPr lang="en-US" sz="2600" dirty="0">
              <a:latin typeface="Century Gothic" pitchFamily="-65" charset="0"/>
              <a:ea typeface="ヒラギノ角ゴ Pro W3" pitchFamily="-65" charset="-128"/>
              <a:cs typeface="ヒラギノ角ゴ Pro W3" pitchFamily="-65" charset="-128"/>
            </a:endParaRPr>
          </a:p>
        </p:txBody>
      </p:sp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452585" y="2133600"/>
            <a:ext cx="8168640" cy="2887980"/>
          </a:xfrm>
          <a:prstGeom prst="rect">
            <a:avLst/>
          </a:prstGeom>
        </p:spPr>
      </p:pic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953000" y="6248400"/>
            <a:ext cx="3886200" cy="425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6027" tIns="43013" rIns="86027" bIns="43013">
            <a:prstTxWarp prst="textNoShape">
              <a:avLst/>
            </a:prstTxWarp>
            <a:spAutoFit/>
          </a:bodyPr>
          <a:lstStyle/>
          <a:p>
            <a:pPr algn="ctr" defTabSz="860425"/>
            <a:r>
              <a:rPr lang="en-US" sz="2200" dirty="0" err="1" smtClean="0">
                <a:solidFill>
                  <a:schemeClr val="tx2"/>
                </a:solidFill>
              </a:rPr>
              <a:t>Sugama</a:t>
            </a:r>
            <a:r>
              <a:rPr lang="en-US" sz="2200" dirty="0" smtClean="0">
                <a:solidFill>
                  <a:schemeClr val="tx2"/>
                </a:solidFill>
              </a:rPr>
              <a:t> (1997), Abel (2010)</a:t>
            </a:r>
          </a:p>
        </p:txBody>
      </p:sp>
      <p:pic>
        <p:nvPicPr>
          <p:cNvPr id="14" name="Picture 13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1163345" y="5182421"/>
            <a:ext cx="3942055" cy="791315"/>
          </a:xfrm>
          <a:prstGeom prst="rect">
            <a:avLst/>
          </a:prstGeom>
        </p:spPr>
      </p:pic>
    </p:spTree>
  </p:cSld>
  <p:clrMapOvr>
    <a:masterClrMapping/>
  </p:clrMapOvr>
  <p:transition advTm="324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97237" y="6248400"/>
            <a:ext cx="28956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336550"/>
            <a:ext cx="7775575" cy="608013"/>
          </a:xfrm>
        </p:spPr>
        <p:txBody>
          <a:bodyPr/>
          <a:lstStyle/>
          <a:p>
            <a:pPr algn="ctr"/>
            <a:r>
              <a:rPr lang="en-US" sz="3800" dirty="0" smtClean="0">
                <a:latin typeface="Arial" pitchFamily="-65" charset="0"/>
              </a:rPr>
              <a:t>TRINITY </a:t>
            </a:r>
            <a:r>
              <a:rPr lang="en-US" sz="3800" dirty="0">
                <a:latin typeface="Arial" pitchFamily="-65" charset="0"/>
              </a:rPr>
              <a:t>schematic</a:t>
            </a:r>
            <a:endParaRPr lang="en-US" dirty="0"/>
          </a:p>
        </p:txBody>
      </p:sp>
      <p:sp>
        <p:nvSpPr>
          <p:cNvPr id="276483" name="Rectangle 3"/>
          <p:cNvSpPr>
            <a:spLocks noChangeArrowheads="1"/>
          </p:cNvSpPr>
          <p:nvPr/>
        </p:nvSpPr>
        <p:spPr bwMode="auto">
          <a:xfrm>
            <a:off x="381000" y="3630613"/>
            <a:ext cx="1385888" cy="941387"/>
          </a:xfrm>
          <a:prstGeom prst="rect">
            <a:avLst/>
          </a:prstGeom>
          <a:solidFill>
            <a:srgbClr val="D7F559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484" name="Text Box 4"/>
          <p:cNvSpPr txBox="1">
            <a:spLocks noChangeArrowheads="1"/>
          </p:cNvSpPr>
          <p:nvPr/>
        </p:nvSpPr>
        <p:spPr bwMode="auto">
          <a:xfrm>
            <a:off x="538163" y="3822700"/>
            <a:ext cx="1084262" cy="63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algn="ctr" defTabSz="815975">
              <a:spcBef>
                <a:spcPct val="50000"/>
              </a:spcBef>
            </a:pPr>
            <a:r>
              <a:rPr lang="en-US" sz="1800" b="1" dirty="0" smtClean="0">
                <a:solidFill>
                  <a:srgbClr val="000000"/>
                </a:solidFill>
              </a:rPr>
              <a:t>Macro </a:t>
            </a:r>
            <a:r>
              <a:rPr lang="en-US" sz="1800" b="1" dirty="0">
                <a:solidFill>
                  <a:srgbClr val="000000"/>
                </a:solidFill>
              </a:rPr>
              <a:t>profiles</a:t>
            </a:r>
            <a:endParaRPr lang="en-US" sz="3600" dirty="0">
              <a:solidFill>
                <a:schemeClr val="tx2"/>
              </a:solidFill>
            </a:endParaRPr>
          </a:p>
        </p:txBody>
      </p:sp>
      <p:sp>
        <p:nvSpPr>
          <p:cNvPr id="276485" name="Rectangle 5"/>
          <p:cNvSpPr>
            <a:spLocks noChangeArrowheads="1"/>
          </p:cNvSpPr>
          <p:nvPr/>
        </p:nvSpPr>
        <p:spPr bwMode="auto">
          <a:xfrm>
            <a:off x="3297237" y="1219200"/>
            <a:ext cx="2493963" cy="885825"/>
          </a:xfrm>
          <a:prstGeom prst="rect">
            <a:avLst/>
          </a:prstGeom>
          <a:solidFill>
            <a:schemeClr val="hlink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486" name="Text Box 6"/>
          <p:cNvSpPr txBox="1">
            <a:spLocks noChangeArrowheads="1"/>
          </p:cNvSpPr>
          <p:nvPr/>
        </p:nvSpPr>
        <p:spPr bwMode="auto">
          <a:xfrm>
            <a:off x="3435350" y="1219200"/>
            <a:ext cx="2146300" cy="90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algn="ctr" defTabSz="815975">
              <a:spcBef>
                <a:spcPct val="50000"/>
              </a:spcBef>
            </a:pPr>
            <a:r>
              <a:rPr lang="en-US" sz="1800" b="1">
                <a:solidFill>
                  <a:srgbClr val="000000"/>
                </a:solidFill>
              </a:rPr>
              <a:t>Steady-state turbulent fluxes and heating</a:t>
            </a:r>
            <a:endParaRPr lang="en-US" sz="3600">
              <a:solidFill>
                <a:srgbClr val="000000"/>
              </a:solidFill>
            </a:endParaRPr>
          </a:p>
        </p:txBody>
      </p:sp>
      <p:sp>
        <p:nvSpPr>
          <p:cNvPr id="276489" name="Line 9"/>
          <p:cNvSpPr>
            <a:spLocks noChangeShapeType="1"/>
          </p:cNvSpPr>
          <p:nvPr/>
        </p:nvSpPr>
        <p:spPr bwMode="auto">
          <a:xfrm flipV="1">
            <a:off x="1752600" y="2514600"/>
            <a:ext cx="1066800" cy="16002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492" name="Line 12"/>
          <p:cNvSpPr>
            <a:spLocks noChangeShapeType="1"/>
          </p:cNvSpPr>
          <p:nvPr/>
        </p:nvSpPr>
        <p:spPr bwMode="auto">
          <a:xfrm flipV="1">
            <a:off x="4224294" y="2487614"/>
            <a:ext cx="377829" cy="2099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493" name="Line 13"/>
          <p:cNvSpPr>
            <a:spLocks noChangeShapeType="1"/>
          </p:cNvSpPr>
          <p:nvPr/>
        </p:nvSpPr>
        <p:spPr bwMode="auto">
          <a:xfrm>
            <a:off x="4245285" y="6003864"/>
            <a:ext cx="346344" cy="10498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494" name="Rectangle 14"/>
          <p:cNvSpPr>
            <a:spLocks noChangeArrowheads="1"/>
          </p:cNvSpPr>
          <p:nvPr/>
        </p:nvSpPr>
        <p:spPr bwMode="auto">
          <a:xfrm>
            <a:off x="4606924" y="2286000"/>
            <a:ext cx="1387475" cy="449263"/>
          </a:xfrm>
          <a:prstGeom prst="rect">
            <a:avLst/>
          </a:prstGeom>
          <a:solidFill>
            <a:srgbClr val="FEE35A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495" name="Text Box 15"/>
          <p:cNvSpPr txBox="1">
            <a:spLocks noChangeArrowheads="1"/>
          </p:cNvSpPr>
          <p:nvPr/>
        </p:nvSpPr>
        <p:spPr bwMode="auto">
          <a:xfrm>
            <a:off x="4627562" y="2335213"/>
            <a:ext cx="145415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en-US" sz="1800" b="1" dirty="0" smtClean="0">
                <a:solidFill>
                  <a:srgbClr val="000000"/>
                </a:solidFill>
              </a:rPr>
              <a:t>GS2/GENE</a:t>
            </a:r>
            <a:endParaRPr lang="en-US" sz="1800" b="1" dirty="0">
              <a:solidFill>
                <a:srgbClr val="000000"/>
              </a:solidFill>
            </a:endParaRPr>
          </a:p>
        </p:txBody>
      </p:sp>
      <p:sp>
        <p:nvSpPr>
          <p:cNvPr id="276496" name="Rectangle 16"/>
          <p:cNvSpPr>
            <a:spLocks noChangeArrowheads="1"/>
          </p:cNvSpPr>
          <p:nvPr/>
        </p:nvSpPr>
        <p:spPr bwMode="auto">
          <a:xfrm>
            <a:off x="4606924" y="2913063"/>
            <a:ext cx="1387475" cy="447675"/>
          </a:xfrm>
          <a:prstGeom prst="rect">
            <a:avLst/>
          </a:prstGeom>
          <a:solidFill>
            <a:srgbClr val="FEE35A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497" name="Text Box 17"/>
          <p:cNvSpPr txBox="1">
            <a:spLocks noChangeArrowheads="1"/>
          </p:cNvSpPr>
          <p:nvPr/>
        </p:nvSpPr>
        <p:spPr bwMode="auto">
          <a:xfrm>
            <a:off x="4627562" y="2960688"/>
            <a:ext cx="145415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en-US" sz="1800" b="1" dirty="0" smtClean="0">
                <a:solidFill>
                  <a:srgbClr val="000000"/>
                </a:solidFill>
              </a:rPr>
              <a:t>GS2/GENE</a:t>
            </a:r>
            <a:endParaRPr lang="en-US" sz="1800" b="1" dirty="0">
              <a:solidFill>
                <a:srgbClr val="000000"/>
              </a:solidFill>
            </a:endParaRPr>
          </a:p>
        </p:txBody>
      </p:sp>
      <p:sp>
        <p:nvSpPr>
          <p:cNvPr id="276500" name="Line 20"/>
          <p:cNvSpPr>
            <a:spLocks noChangeShapeType="1"/>
          </p:cNvSpPr>
          <p:nvPr/>
        </p:nvSpPr>
        <p:spPr bwMode="auto">
          <a:xfrm flipV="1">
            <a:off x="4255779" y="3127888"/>
            <a:ext cx="33584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01" name="Oval 21"/>
          <p:cNvSpPr>
            <a:spLocks noChangeArrowheads="1"/>
          </p:cNvSpPr>
          <p:nvPr/>
        </p:nvSpPr>
        <p:spPr bwMode="auto">
          <a:xfrm>
            <a:off x="5230812" y="4370388"/>
            <a:ext cx="138112" cy="133350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02" name="Oval 22"/>
          <p:cNvSpPr>
            <a:spLocks noChangeArrowheads="1"/>
          </p:cNvSpPr>
          <p:nvPr/>
        </p:nvSpPr>
        <p:spPr bwMode="auto">
          <a:xfrm>
            <a:off x="5230812" y="4773613"/>
            <a:ext cx="138112" cy="134937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03" name="Oval 23"/>
          <p:cNvSpPr>
            <a:spLocks noChangeArrowheads="1"/>
          </p:cNvSpPr>
          <p:nvPr/>
        </p:nvSpPr>
        <p:spPr bwMode="auto">
          <a:xfrm>
            <a:off x="5230812" y="5176838"/>
            <a:ext cx="138112" cy="134937"/>
          </a:xfrm>
          <a:prstGeom prst="ellipse">
            <a:avLst/>
          </a:prstGeom>
          <a:solidFill>
            <a:schemeClr val="tx1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04" name="Rectangle 24"/>
          <p:cNvSpPr>
            <a:spLocks noChangeArrowheads="1"/>
          </p:cNvSpPr>
          <p:nvPr/>
        </p:nvSpPr>
        <p:spPr bwMode="auto">
          <a:xfrm>
            <a:off x="4606924" y="3536950"/>
            <a:ext cx="1387475" cy="447675"/>
          </a:xfrm>
          <a:prstGeom prst="rect">
            <a:avLst/>
          </a:prstGeom>
          <a:solidFill>
            <a:srgbClr val="FEE35A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05" name="Text Box 25"/>
          <p:cNvSpPr txBox="1">
            <a:spLocks noChangeArrowheads="1"/>
          </p:cNvSpPr>
          <p:nvPr/>
        </p:nvSpPr>
        <p:spPr bwMode="auto">
          <a:xfrm>
            <a:off x="4627562" y="3584575"/>
            <a:ext cx="145415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en-US" sz="1800" b="1" dirty="0" smtClean="0">
                <a:solidFill>
                  <a:srgbClr val="000000"/>
                </a:solidFill>
              </a:rPr>
              <a:t>GS2/GENE</a:t>
            </a:r>
            <a:endParaRPr lang="en-US" sz="1800" b="1" dirty="0">
              <a:solidFill>
                <a:srgbClr val="000000"/>
              </a:solidFill>
            </a:endParaRPr>
          </a:p>
        </p:txBody>
      </p:sp>
      <p:sp>
        <p:nvSpPr>
          <p:cNvPr id="276506" name="Line 26"/>
          <p:cNvSpPr>
            <a:spLocks noChangeShapeType="1"/>
          </p:cNvSpPr>
          <p:nvPr/>
        </p:nvSpPr>
        <p:spPr bwMode="auto">
          <a:xfrm>
            <a:off x="4255779" y="3736670"/>
            <a:ext cx="335850" cy="1049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07" name="Rectangle 27"/>
          <p:cNvSpPr>
            <a:spLocks noChangeArrowheads="1"/>
          </p:cNvSpPr>
          <p:nvPr/>
        </p:nvSpPr>
        <p:spPr bwMode="auto">
          <a:xfrm>
            <a:off x="7315200" y="3733800"/>
            <a:ext cx="1371600" cy="838200"/>
          </a:xfrm>
          <a:prstGeom prst="rect">
            <a:avLst/>
          </a:prstGeom>
          <a:solidFill>
            <a:srgbClr val="CCFFFF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08" name="Text Box 28"/>
          <p:cNvSpPr txBox="1">
            <a:spLocks noChangeArrowheads="1"/>
          </p:cNvSpPr>
          <p:nvPr/>
        </p:nvSpPr>
        <p:spPr bwMode="auto">
          <a:xfrm>
            <a:off x="7337425" y="3819525"/>
            <a:ext cx="1314450" cy="63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algn="ctr" defTabSz="815975">
              <a:spcBef>
                <a:spcPct val="50000"/>
              </a:spcBef>
            </a:pPr>
            <a:r>
              <a:rPr lang="en-US" sz="1800" b="1">
                <a:solidFill>
                  <a:srgbClr val="000000"/>
                </a:solidFill>
              </a:rPr>
              <a:t>Transport solver</a:t>
            </a:r>
            <a:endParaRPr lang="en-US" sz="1800" b="1">
              <a:solidFill>
                <a:schemeClr val="tx2"/>
              </a:solidFill>
            </a:endParaRPr>
          </a:p>
        </p:txBody>
      </p:sp>
      <p:sp>
        <p:nvSpPr>
          <p:cNvPr id="276510" name="Line 30"/>
          <p:cNvSpPr>
            <a:spLocks noChangeShapeType="1"/>
          </p:cNvSpPr>
          <p:nvPr/>
        </p:nvSpPr>
        <p:spPr bwMode="auto">
          <a:xfrm>
            <a:off x="6008488" y="3736672"/>
            <a:ext cx="1306711" cy="301928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11" name="Line 31"/>
          <p:cNvSpPr>
            <a:spLocks noChangeShapeType="1"/>
          </p:cNvSpPr>
          <p:nvPr/>
        </p:nvSpPr>
        <p:spPr bwMode="auto">
          <a:xfrm>
            <a:off x="6008488" y="3117392"/>
            <a:ext cx="1306711" cy="921208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12" name="Line 32"/>
          <p:cNvSpPr>
            <a:spLocks noChangeShapeType="1"/>
          </p:cNvSpPr>
          <p:nvPr/>
        </p:nvSpPr>
        <p:spPr bwMode="auto">
          <a:xfrm>
            <a:off x="5997994" y="2519104"/>
            <a:ext cx="1317206" cy="1519495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13" name="Line 33"/>
          <p:cNvSpPr>
            <a:spLocks noChangeShapeType="1"/>
          </p:cNvSpPr>
          <p:nvPr/>
        </p:nvSpPr>
        <p:spPr bwMode="auto">
          <a:xfrm flipV="1">
            <a:off x="5997994" y="4038600"/>
            <a:ext cx="1317206" cy="1933776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514" name="Freeform 34"/>
          <p:cNvSpPr>
            <a:spLocks/>
          </p:cNvSpPr>
          <p:nvPr/>
        </p:nvSpPr>
        <p:spPr bwMode="auto">
          <a:xfrm>
            <a:off x="990600" y="4572000"/>
            <a:ext cx="7010400" cy="213359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208" y="1248"/>
              </a:cxn>
              <a:cxn ang="0">
                <a:pos x="4512" y="0"/>
              </a:cxn>
            </a:cxnLst>
            <a:rect l="0" t="0" r="r" b="b"/>
            <a:pathLst>
              <a:path w="4512" h="1248">
                <a:moveTo>
                  <a:pt x="0" y="0"/>
                </a:moveTo>
                <a:cubicBezTo>
                  <a:pt x="728" y="624"/>
                  <a:pt x="1456" y="1248"/>
                  <a:pt x="2208" y="1248"/>
                </a:cubicBezTo>
                <a:cubicBezTo>
                  <a:pt x="2960" y="1248"/>
                  <a:pt x="3736" y="624"/>
                  <a:pt x="4512" y="0"/>
                </a:cubicBez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2838919" y="2285461"/>
            <a:ext cx="1387475" cy="449263"/>
          </a:xfrm>
          <a:prstGeom prst="rect">
            <a:avLst/>
          </a:prstGeom>
          <a:solidFill>
            <a:srgbClr val="7AB033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2859557" y="2334674"/>
            <a:ext cx="145415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en-US" sz="1800" b="1">
                <a:solidFill>
                  <a:srgbClr val="000000"/>
                </a:solidFill>
              </a:rPr>
              <a:t>Flux tube 1</a:t>
            </a:r>
          </a:p>
        </p:txBody>
      </p:sp>
      <p:sp>
        <p:nvSpPr>
          <p:cNvPr id="39" name="Rectangle 16"/>
          <p:cNvSpPr>
            <a:spLocks noChangeArrowheads="1"/>
          </p:cNvSpPr>
          <p:nvPr/>
        </p:nvSpPr>
        <p:spPr bwMode="auto">
          <a:xfrm>
            <a:off x="2838919" y="2912524"/>
            <a:ext cx="1387475" cy="447675"/>
          </a:xfrm>
          <a:prstGeom prst="rect">
            <a:avLst/>
          </a:prstGeom>
          <a:solidFill>
            <a:srgbClr val="7AB033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Text Box 17"/>
          <p:cNvSpPr txBox="1">
            <a:spLocks noChangeArrowheads="1"/>
          </p:cNvSpPr>
          <p:nvPr/>
        </p:nvSpPr>
        <p:spPr bwMode="auto">
          <a:xfrm>
            <a:off x="2859557" y="2960149"/>
            <a:ext cx="145415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en-US" sz="1800" b="1">
                <a:solidFill>
                  <a:srgbClr val="000000"/>
                </a:solidFill>
              </a:rPr>
              <a:t>Flux tube 2</a:t>
            </a:r>
          </a:p>
        </p:txBody>
      </p:sp>
      <p:sp>
        <p:nvSpPr>
          <p:cNvPr id="41" name="Rectangle 18"/>
          <p:cNvSpPr>
            <a:spLocks noChangeArrowheads="1"/>
          </p:cNvSpPr>
          <p:nvPr/>
        </p:nvSpPr>
        <p:spPr bwMode="auto">
          <a:xfrm>
            <a:off x="2838919" y="5736686"/>
            <a:ext cx="1387475" cy="446088"/>
          </a:xfrm>
          <a:prstGeom prst="rect">
            <a:avLst/>
          </a:prstGeom>
          <a:solidFill>
            <a:srgbClr val="7AB033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Text Box 19"/>
          <p:cNvSpPr txBox="1">
            <a:spLocks noChangeArrowheads="1"/>
          </p:cNvSpPr>
          <p:nvPr/>
        </p:nvSpPr>
        <p:spPr bwMode="auto">
          <a:xfrm>
            <a:off x="2823044" y="5784311"/>
            <a:ext cx="1452563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en-US" sz="1800" b="1">
                <a:solidFill>
                  <a:srgbClr val="000000"/>
                </a:solidFill>
              </a:rPr>
              <a:t>Flux tube N</a:t>
            </a:r>
            <a:endParaRPr lang="en-US" sz="1800" b="1">
              <a:solidFill>
                <a:schemeClr val="tx2"/>
              </a:solidFill>
            </a:endParaRPr>
          </a:p>
        </p:txBody>
      </p:sp>
      <p:sp>
        <p:nvSpPr>
          <p:cNvPr id="43" name="Oval 21"/>
          <p:cNvSpPr>
            <a:spLocks noChangeArrowheads="1"/>
          </p:cNvSpPr>
          <p:nvPr/>
        </p:nvSpPr>
        <p:spPr bwMode="auto">
          <a:xfrm>
            <a:off x="3462807" y="4369849"/>
            <a:ext cx="138112" cy="133350"/>
          </a:xfrm>
          <a:prstGeom prst="ellipse">
            <a:avLst/>
          </a:prstGeom>
          <a:solidFill>
            <a:srgbClr val="7AB033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Oval 22"/>
          <p:cNvSpPr>
            <a:spLocks noChangeArrowheads="1"/>
          </p:cNvSpPr>
          <p:nvPr/>
        </p:nvSpPr>
        <p:spPr bwMode="auto">
          <a:xfrm>
            <a:off x="3462807" y="4773074"/>
            <a:ext cx="138112" cy="134937"/>
          </a:xfrm>
          <a:prstGeom prst="ellipse">
            <a:avLst/>
          </a:prstGeom>
          <a:solidFill>
            <a:srgbClr val="7AB033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Oval 23"/>
          <p:cNvSpPr>
            <a:spLocks noChangeArrowheads="1"/>
          </p:cNvSpPr>
          <p:nvPr/>
        </p:nvSpPr>
        <p:spPr bwMode="auto">
          <a:xfrm>
            <a:off x="3462807" y="5176299"/>
            <a:ext cx="138112" cy="134937"/>
          </a:xfrm>
          <a:prstGeom prst="ellipse">
            <a:avLst/>
          </a:prstGeom>
          <a:solidFill>
            <a:srgbClr val="7AB033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Rectangle 24"/>
          <p:cNvSpPr>
            <a:spLocks noChangeArrowheads="1"/>
          </p:cNvSpPr>
          <p:nvPr/>
        </p:nvSpPr>
        <p:spPr bwMode="auto">
          <a:xfrm>
            <a:off x="2838919" y="3536411"/>
            <a:ext cx="1387475" cy="447675"/>
          </a:xfrm>
          <a:prstGeom prst="rect">
            <a:avLst/>
          </a:prstGeom>
          <a:solidFill>
            <a:srgbClr val="7AB033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Text Box 25"/>
          <p:cNvSpPr txBox="1">
            <a:spLocks noChangeArrowheads="1"/>
          </p:cNvSpPr>
          <p:nvPr/>
        </p:nvSpPr>
        <p:spPr bwMode="auto">
          <a:xfrm>
            <a:off x="2859557" y="3584036"/>
            <a:ext cx="145415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en-US" sz="1800" b="1">
                <a:solidFill>
                  <a:srgbClr val="000000"/>
                </a:solidFill>
              </a:rPr>
              <a:t>Flux tube 3</a:t>
            </a:r>
          </a:p>
        </p:txBody>
      </p:sp>
      <p:sp>
        <p:nvSpPr>
          <p:cNvPr id="48" name="Line 9"/>
          <p:cNvSpPr>
            <a:spLocks noChangeShapeType="1"/>
          </p:cNvSpPr>
          <p:nvPr/>
        </p:nvSpPr>
        <p:spPr bwMode="auto">
          <a:xfrm flipV="1">
            <a:off x="1752600" y="3124200"/>
            <a:ext cx="1066800" cy="9906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Line 9"/>
          <p:cNvSpPr>
            <a:spLocks noChangeShapeType="1"/>
          </p:cNvSpPr>
          <p:nvPr/>
        </p:nvSpPr>
        <p:spPr bwMode="auto">
          <a:xfrm flipV="1">
            <a:off x="1752600" y="3733800"/>
            <a:ext cx="1066800" cy="3810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Line 9"/>
          <p:cNvSpPr>
            <a:spLocks noChangeShapeType="1"/>
          </p:cNvSpPr>
          <p:nvPr/>
        </p:nvSpPr>
        <p:spPr bwMode="auto">
          <a:xfrm>
            <a:off x="1752600" y="4114800"/>
            <a:ext cx="1066800" cy="18288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498" name="Rectangle 18"/>
          <p:cNvSpPr>
            <a:spLocks noChangeArrowheads="1"/>
          </p:cNvSpPr>
          <p:nvPr/>
        </p:nvSpPr>
        <p:spPr bwMode="auto">
          <a:xfrm>
            <a:off x="4606924" y="5737225"/>
            <a:ext cx="1387475" cy="446088"/>
          </a:xfrm>
          <a:prstGeom prst="rect">
            <a:avLst/>
          </a:prstGeom>
          <a:solidFill>
            <a:srgbClr val="FEE35A"/>
          </a:solidFill>
          <a:ln w="317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6499" name="Text Box 19"/>
          <p:cNvSpPr txBox="1">
            <a:spLocks noChangeArrowheads="1"/>
          </p:cNvSpPr>
          <p:nvPr/>
        </p:nvSpPr>
        <p:spPr bwMode="auto">
          <a:xfrm>
            <a:off x="4591049" y="5784850"/>
            <a:ext cx="1452563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591" tIns="40796" rIns="81591" bIns="40796">
            <a:prstTxWarp prst="textNoShape">
              <a:avLst/>
            </a:prstTxWarp>
            <a:spAutoFit/>
          </a:bodyPr>
          <a:lstStyle/>
          <a:p>
            <a:pPr defTabSz="815975">
              <a:spcBef>
                <a:spcPct val="50000"/>
              </a:spcBef>
            </a:pPr>
            <a:r>
              <a:rPr lang="en-US" sz="1800" b="1" dirty="0" smtClean="0">
                <a:solidFill>
                  <a:srgbClr val="000000"/>
                </a:solidFill>
              </a:rPr>
              <a:t>GS2/GENE</a:t>
            </a:r>
            <a:endParaRPr lang="en-US" sz="1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advTm="851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12775"/>
          </a:xfrm>
        </p:spPr>
        <p:txBody>
          <a:bodyPr/>
          <a:lstStyle/>
          <a:p>
            <a:pPr algn="ctr"/>
            <a:r>
              <a:rPr lang="en-US" sz="3800" dirty="0" smtClean="0"/>
              <a:t>TRINITY </a:t>
            </a:r>
            <a:r>
              <a:rPr lang="en-US" sz="3800" dirty="0"/>
              <a:t>transport solver</a:t>
            </a:r>
            <a:endParaRPr lang="en-US" dirty="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39850"/>
            <a:ext cx="8382000" cy="528955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152"/>
              </a:spcBef>
            </a:pPr>
            <a:r>
              <a:rPr lang="en-US" sz="2300" dirty="0"/>
              <a:t>Transport equations are stiff, nonlinear </a:t>
            </a:r>
            <a:r>
              <a:rPr lang="en-US" sz="2300" dirty="0" err="1" smtClean="0"/>
              <a:t>PDEs</a:t>
            </a:r>
            <a:r>
              <a:rPr lang="en-US" sz="2300" dirty="0" smtClean="0"/>
              <a:t>.  Implicit treatment via Newton’s Method (multi-step BDF, adaptive time step) allows for time steps ~0.1 seconds (vs. turbulence </a:t>
            </a:r>
            <a:r>
              <a:rPr lang="en-US" sz="2300" dirty="0" err="1" smtClean="0"/>
              <a:t>sim</a:t>
            </a:r>
            <a:r>
              <a:rPr lang="en-US" sz="2300" dirty="0" smtClean="0"/>
              <a:t> time ~0.001 seconds)</a:t>
            </a:r>
          </a:p>
          <a:p>
            <a:pPr>
              <a:lnSpc>
                <a:spcPct val="90000"/>
              </a:lnSpc>
              <a:spcBef>
                <a:spcPts val="1152"/>
              </a:spcBef>
            </a:pPr>
            <a:r>
              <a:rPr lang="en-US" sz="2300" dirty="0" smtClean="0"/>
              <a:t>Challenge: requires computation of quantities like</a:t>
            </a:r>
          </a:p>
          <a:p>
            <a:pPr>
              <a:lnSpc>
                <a:spcPct val="90000"/>
              </a:lnSpc>
              <a:spcBef>
                <a:spcPts val="1152"/>
              </a:spcBef>
            </a:pPr>
            <a:endParaRPr lang="en-US" sz="2300" dirty="0" smtClean="0"/>
          </a:p>
          <a:p>
            <a:pPr>
              <a:lnSpc>
                <a:spcPct val="90000"/>
              </a:lnSpc>
              <a:spcBef>
                <a:spcPts val="1152"/>
              </a:spcBef>
              <a:buNone/>
            </a:pPr>
            <a:endParaRPr lang="en-US" sz="2300" dirty="0" smtClean="0"/>
          </a:p>
          <a:p>
            <a:pPr>
              <a:lnSpc>
                <a:spcPct val="90000"/>
              </a:lnSpc>
              <a:spcBef>
                <a:spcPts val="1152"/>
              </a:spcBef>
              <a:buNone/>
            </a:pPr>
            <a:endParaRPr lang="en-US" sz="2300" dirty="0" smtClean="0"/>
          </a:p>
          <a:p>
            <a:pPr>
              <a:lnSpc>
                <a:spcPct val="90000"/>
              </a:lnSpc>
              <a:spcBef>
                <a:spcPts val="1152"/>
              </a:spcBef>
            </a:pPr>
            <a:r>
              <a:rPr lang="en-US" sz="2300" dirty="0" smtClean="0"/>
              <a:t>Local approximation:</a:t>
            </a:r>
          </a:p>
          <a:p>
            <a:pPr>
              <a:lnSpc>
                <a:spcPct val="90000"/>
              </a:lnSpc>
              <a:spcBef>
                <a:spcPts val="1152"/>
              </a:spcBef>
            </a:pPr>
            <a:endParaRPr lang="en-US" sz="2300" dirty="0" smtClean="0"/>
          </a:p>
          <a:p>
            <a:pPr>
              <a:lnSpc>
                <a:spcPct val="90000"/>
              </a:lnSpc>
              <a:spcBef>
                <a:spcPts val="1152"/>
              </a:spcBef>
            </a:pPr>
            <a:r>
              <a:rPr lang="en-US" sz="2300" dirty="0" smtClean="0"/>
              <a:t>Simplifying assumption: normalized fluxes depend primarily on gradient scale lengths</a:t>
            </a:r>
          </a:p>
          <a:p>
            <a:pPr>
              <a:lnSpc>
                <a:spcPct val="90000"/>
              </a:lnSpc>
            </a:pPr>
            <a:endParaRPr lang="en-US" sz="2300" dirty="0"/>
          </a:p>
          <a:p>
            <a:pPr>
              <a:lnSpc>
                <a:spcPct val="90000"/>
              </a:lnSpc>
            </a:pPr>
            <a:endParaRPr lang="en-US" sz="2300" dirty="0"/>
          </a:p>
          <a:p>
            <a:pPr>
              <a:lnSpc>
                <a:spcPct val="90000"/>
              </a:lnSpc>
            </a:pPr>
            <a:endParaRPr lang="en-US" sz="2300" dirty="0" smtClean="0"/>
          </a:p>
          <a:p>
            <a:pPr>
              <a:lnSpc>
                <a:spcPct val="90000"/>
              </a:lnSpc>
              <a:buNone/>
            </a:pPr>
            <a:endParaRPr lang="en-US" sz="2300" dirty="0" smtClean="0"/>
          </a:p>
          <a:p>
            <a:pPr>
              <a:lnSpc>
                <a:spcPct val="90000"/>
              </a:lnSpc>
            </a:pPr>
            <a:endParaRPr lang="en-US" sz="2300" dirty="0"/>
          </a:p>
          <a:p>
            <a:pPr>
              <a:lnSpc>
                <a:spcPct val="90000"/>
              </a:lnSpc>
            </a:pPr>
            <a:endParaRPr lang="en-US" sz="2300" dirty="0" smtClean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pic>
        <p:nvPicPr>
          <p:cNvPr id="12" name="Picture 11" descr="image-35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50962" y="3586163"/>
            <a:ext cx="3168650" cy="376237"/>
          </a:xfrm>
          <a:prstGeom prst="rect">
            <a:avLst/>
          </a:prstGeom>
          <a:noFill/>
        </p:spPr>
      </p:pic>
      <p:pic>
        <p:nvPicPr>
          <p:cNvPr id="17" name="Picture 1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4"/>
              <a:stretch>
                <a:fillRect/>
              </a:stretch>
            </p:blipFill>
          </mc:Choice>
          <mc:Fallback>
            <p:blipFill>
              <a:blip r:embed="rId5"/>
              <a:stretch>
                <a:fillRect/>
              </a:stretch>
            </p:blipFill>
          </mc:Fallback>
        </mc:AlternateContent>
        <p:spPr>
          <a:xfrm>
            <a:off x="4114800" y="4724400"/>
            <a:ext cx="4038601" cy="65091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6"/>
              <a:stretch>
                <a:fillRect/>
              </a:stretch>
            </p:blipFill>
          </mc:Choice>
          <mc:Fallback>
            <p:blipFill>
              <a:blip r:embed="rId7"/>
              <a:stretch>
                <a:fillRect/>
              </a:stretch>
            </p:blipFill>
          </mc:Fallback>
        </mc:AlternateContent>
        <p:spPr>
          <a:xfrm>
            <a:off x="457200" y="3318753"/>
            <a:ext cx="4572000" cy="948447"/>
          </a:xfrm>
          <a:prstGeom prst="rect">
            <a:avLst/>
          </a:prstGeom>
        </p:spPr>
      </p:pic>
    </p:spTree>
  </p:cSld>
  <p:clrMapOvr>
    <a:masterClrMapping/>
  </p:clrMapOvr>
  <p:transition advTm="220489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11138"/>
            <a:ext cx="7775575" cy="814387"/>
          </a:xfrm>
        </p:spPr>
        <p:txBody>
          <a:bodyPr/>
          <a:lstStyle/>
          <a:p>
            <a:pPr algn="ctr"/>
            <a:r>
              <a:rPr lang="en-US" sz="3800" dirty="0" smtClean="0"/>
              <a:t>Evolving density profile</a:t>
            </a:r>
            <a:endParaRPr lang="en-US" dirty="0"/>
          </a:p>
        </p:txBody>
      </p:sp>
      <p:sp>
        <p:nvSpPr>
          <p:cNvPr id="3153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38801" y="2273832"/>
            <a:ext cx="3428999" cy="3822168"/>
          </a:xfrm>
          <a:noFill/>
          <a:ln/>
        </p:spPr>
        <p:txBody>
          <a:bodyPr lIns="90909" tIns="45454" rIns="90909" bIns="45454"/>
          <a:lstStyle/>
          <a:p>
            <a:pPr marL="363538" indent="-363538" defTabSz="966788">
              <a:lnSpc>
                <a:spcPct val="90000"/>
              </a:lnSpc>
            </a:pPr>
            <a:r>
              <a:rPr lang="en-US" sz="2200" dirty="0" smtClean="0"/>
              <a:t>Costs </a:t>
            </a:r>
            <a:r>
              <a:rPr lang="en-US" sz="2200" dirty="0" smtClean="0"/>
              <a:t>~120k CPU hrs (&lt;10 clock hrs)</a:t>
            </a:r>
          </a:p>
          <a:p>
            <a:pPr marL="363538" indent="-363538" defTabSz="966788">
              <a:lnSpc>
                <a:spcPct val="90000"/>
              </a:lnSpc>
            </a:pPr>
            <a:r>
              <a:rPr lang="en-US" sz="2200" dirty="0" smtClean="0"/>
              <a:t>Dens and temp profiles agree within ~15% across device</a:t>
            </a:r>
          </a:p>
          <a:p>
            <a:pPr marL="363538" indent="-363538" defTabSz="966788">
              <a:lnSpc>
                <a:spcPct val="90000"/>
              </a:lnSpc>
            </a:pPr>
            <a:r>
              <a:rPr lang="en-US" sz="2200" dirty="0" smtClean="0"/>
              <a:t>Energy off by 5%</a:t>
            </a:r>
          </a:p>
          <a:p>
            <a:pPr marL="363538" indent="-363538" defTabSz="966788">
              <a:lnSpc>
                <a:spcPct val="90000"/>
              </a:lnSpc>
            </a:pPr>
            <a:r>
              <a:rPr lang="en-US" sz="2200" dirty="0" smtClean="0"/>
              <a:t>Incremental energy off by 15%</a:t>
            </a:r>
          </a:p>
          <a:p>
            <a:pPr marL="363538" indent="-363538" defTabSz="966788">
              <a:lnSpc>
                <a:spcPct val="90000"/>
              </a:lnSpc>
            </a:pPr>
            <a:r>
              <a:rPr lang="en-US" sz="2200" dirty="0" smtClean="0"/>
              <a:t>Flow shear absent</a:t>
            </a:r>
          </a:p>
        </p:txBody>
      </p:sp>
      <p:pic>
        <p:nvPicPr>
          <p:cNvPr id="12" name="Picture 11" descr="jet42982_densfix_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6" y="1742137"/>
            <a:ext cx="5448354" cy="4658663"/>
          </a:xfrm>
          <a:prstGeom prst="rect">
            <a:avLst/>
          </a:prstGeom>
        </p:spPr>
      </p:pic>
    </p:spTree>
  </p:cSld>
  <p:clrMapOvr>
    <a:masterClrMapping/>
  </p:clrMapOvr>
  <p:transition advTm="146116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12775"/>
          </a:xfrm>
        </p:spPr>
        <p:txBody>
          <a:bodyPr/>
          <a:lstStyle/>
          <a:p>
            <a:pPr algn="ctr"/>
            <a:r>
              <a:rPr lang="en-US" sz="3800" dirty="0" smtClean="0"/>
              <a:t>Model fluxes</a:t>
            </a:r>
            <a:endParaRPr lang="en-US" dirty="0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39850"/>
            <a:ext cx="8382000" cy="528955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152"/>
              </a:spcBef>
            </a:pPr>
            <a:r>
              <a:rPr lang="en-US" sz="2300" dirty="0" smtClean="0"/>
              <a:t>Simple model for fluxes </a:t>
            </a:r>
            <a:r>
              <a:rPr lang="en-US" sz="2300" dirty="0" smtClean="0"/>
              <a:t>with parameters chosen to fit zero magnetic shear results from GS2:</a:t>
            </a:r>
            <a:endParaRPr lang="en-US" sz="2300" dirty="0" smtClean="0"/>
          </a:p>
          <a:p>
            <a:pPr>
              <a:lnSpc>
                <a:spcPct val="90000"/>
              </a:lnSpc>
            </a:pPr>
            <a:endParaRPr lang="en-US" sz="2300" dirty="0"/>
          </a:p>
          <a:p>
            <a:pPr>
              <a:lnSpc>
                <a:spcPct val="90000"/>
              </a:lnSpc>
            </a:pPr>
            <a:endParaRPr lang="en-US" sz="2300" dirty="0" smtClean="0"/>
          </a:p>
          <a:p>
            <a:pPr>
              <a:lnSpc>
                <a:spcPct val="90000"/>
              </a:lnSpc>
              <a:buNone/>
            </a:pPr>
            <a:endParaRPr lang="en-US" sz="2300" dirty="0" smtClean="0"/>
          </a:p>
          <a:p>
            <a:pPr>
              <a:lnSpc>
                <a:spcPct val="90000"/>
              </a:lnSpc>
            </a:pPr>
            <a:endParaRPr lang="en-US" sz="2300" dirty="0"/>
          </a:p>
          <a:p>
            <a:pPr>
              <a:lnSpc>
                <a:spcPct val="90000"/>
              </a:lnSpc>
            </a:pPr>
            <a:endParaRPr lang="en-US" sz="2300" dirty="0" smtClean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268413" y="2328688"/>
            <a:ext cx="2312987" cy="391085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5"/>
              <a:stretch>
                <a:fillRect/>
              </a:stretch>
            </p:blipFill>
          </mc:Choice>
          <mc:Fallback>
            <p:blipFill>
              <a:blip r:embed="rId6"/>
              <a:stretch>
                <a:fillRect/>
              </a:stretch>
            </p:blipFill>
          </mc:Fallback>
        </mc:AlternateContent>
        <p:spPr>
          <a:xfrm>
            <a:off x="4953000" y="2350032"/>
            <a:ext cx="2362200" cy="372367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7"/>
              <a:stretch>
                <a:fillRect/>
              </a:stretch>
            </p:blipFill>
          </mc:Choice>
          <mc:Fallback>
            <p:blipFill>
              <a:blip r:embed="rId8"/>
              <a:stretch>
                <a:fillRect/>
              </a:stretch>
            </p:blipFill>
          </mc:Fallback>
        </mc:AlternateContent>
        <p:spPr>
          <a:xfrm>
            <a:off x="1981200" y="3124200"/>
            <a:ext cx="4876800" cy="937847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9"/>
              <a:stretch>
                <a:fillRect/>
              </a:stretch>
            </p:blipFill>
          </mc:Choice>
          <mc:Fallback>
            <p:blipFill>
              <a:blip r:embed="rId10"/>
              <a:stretch>
                <a:fillRect/>
              </a:stretch>
            </p:blipFill>
          </mc:Fallback>
        </mc:AlternateContent>
        <p:spPr>
          <a:xfrm>
            <a:off x="1981200" y="5643327"/>
            <a:ext cx="5105400" cy="909873"/>
          </a:xfrm>
          <a:prstGeom prst="rect">
            <a:avLst/>
          </a:prstGeom>
        </p:spPr>
      </p:pic>
      <p:pic>
        <p:nvPicPr>
          <p:cNvPr id="13" name="Picture 12" descr="latex-image-1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11"/>
              <a:stretch>
                <a:fillRect/>
              </a:stretch>
            </p:blipFill>
          </mc:Choice>
          <mc:Fallback>
            <p:blipFill>
              <a:blip r:embed="rId12"/>
              <a:stretch>
                <a:fillRect/>
              </a:stretch>
            </p:blipFill>
          </mc:Fallback>
        </mc:AlternateContent>
        <p:spPr>
          <a:xfrm>
            <a:off x="2819400" y="4343400"/>
            <a:ext cx="3048000" cy="833266"/>
          </a:xfrm>
          <a:prstGeom prst="rect">
            <a:avLst/>
          </a:prstGeom>
        </p:spPr>
      </p:pic>
    </p:spTree>
  </p:cSld>
  <p:clrMapOvr>
    <a:masterClrMapping/>
  </p:clrMapOvr>
  <p:transition advTm="220489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153400" cy="990600"/>
          </a:xfrm>
        </p:spPr>
        <p:txBody>
          <a:bodyPr/>
          <a:lstStyle/>
          <a:p>
            <a:pPr algn="ctr"/>
            <a:r>
              <a:rPr lang="en-US" dirty="0" smtClean="0"/>
              <a:t>Preliminary results</a:t>
            </a:r>
            <a:endParaRPr lang="en-US" dirty="0"/>
          </a:p>
        </p:txBody>
      </p:sp>
      <p:pic>
        <p:nvPicPr>
          <p:cNvPr id="5" name="Picture 4" descr="T0vspioq.pdf"/>
          <p:cNvPicPr>
            <a:picLocks noChangeAspect="1"/>
          </p:cNvPicPr>
          <p:nvPr/>
        </p:nvPicPr>
        <mc:AlternateContent>
          <mc:Choice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219200" y="1981200"/>
            <a:ext cx="6477000" cy="4318000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6425"/>
            <a:ext cx="9144000" cy="612775"/>
          </a:xfrm>
        </p:spPr>
        <p:txBody>
          <a:bodyPr/>
          <a:lstStyle/>
          <a:p>
            <a:pPr algn="ctr"/>
            <a:r>
              <a:rPr lang="en-US" sz="3800" dirty="0" smtClean="0"/>
              <a:t>Conclusions</a:t>
            </a:r>
            <a:endParaRPr lang="en-US" sz="3800" dirty="0"/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153400" cy="4876800"/>
          </a:xfrm>
        </p:spPr>
        <p:txBody>
          <a:bodyPr/>
          <a:lstStyle/>
          <a:p>
            <a:pPr marL="363538" indent="-363538" defTabSz="966788">
              <a:lnSpc>
                <a:spcPct val="90000"/>
              </a:lnSpc>
              <a:spcBef>
                <a:spcPts val="1152"/>
              </a:spcBef>
            </a:pPr>
            <a:r>
              <a:rPr lang="en-US" sz="2300" dirty="0" smtClean="0"/>
              <a:t>Maximum temperature gradient for given heat </a:t>
            </a:r>
            <a:r>
              <a:rPr lang="en-US" sz="2300" dirty="0" smtClean="0"/>
              <a:t>flux due to flow shear driven subcritical </a:t>
            </a:r>
            <a:r>
              <a:rPr lang="en-US" sz="2300" dirty="0" smtClean="0"/>
              <a:t>turbulence</a:t>
            </a:r>
            <a:endParaRPr lang="en-US" sz="2300" dirty="0" smtClean="0"/>
          </a:p>
          <a:p>
            <a:pPr marL="363538" indent="-363538" defTabSz="966788">
              <a:lnSpc>
                <a:spcPct val="90000"/>
              </a:lnSpc>
              <a:spcBef>
                <a:spcPts val="1152"/>
              </a:spcBef>
            </a:pPr>
            <a:r>
              <a:rPr lang="en-US" sz="2300" dirty="0" smtClean="0"/>
              <a:t>Turbulent </a:t>
            </a:r>
            <a:r>
              <a:rPr lang="en-US" sz="2300" dirty="0" err="1" smtClean="0"/>
              <a:t>Prandtl</a:t>
            </a:r>
            <a:r>
              <a:rPr lang="en-US" sz="2300" dirty="0" smtClean="0"/>
              <a:t> number is constant of order unity for moderate to large flow shear values.</a:t>
            </a:r>
            <a:endParaRPr lang="en-US" sz="2300" dirty="0" smtClean="0"/>
          </a:p>
          <a:p>
            <a:pPr marL="363538" indent="-363538" defTabSz="966788">
              <a:lnSpc>
                <a:spcPct val="90000"/>
              </a:lnSpc>
              <a:spcBef>
                <a:spcPts val="1152"/>
              </a:spcBef>
            </a:pPr>
            <a:r>
              <a:rPr lang="en-US" sz="2300" dirty="0" smtClean="0"/>
              <a:t>Flow shear more effective in stabilizing turbulence as zero magnetic shear</a:t>
            </a:r>
          </a:p>
          <a:p>
            <a:pPr marL="363538" indent="-363538" defTabSz="966788">
              <a:lnSpc>
                <a:spcPct val="90000"/>
              </a:lnSpc>
              <a:spcBef>
                <a:spcPts val="1152"/>
              </a:spcBef>
            </a:pPr>
            <a:r>
              <a:rPr lang="en-US" sz="2300" dirty="0" smtClean="0"/>
              <a:t>B</a:t>
            </a:r>
            <a:r>
              <a:rPr lang="en-US" sz="2300" dirty="0" smtClean="0"/>
              <a:t>ifurcation observed in </a:t>
            </a:r>
            <a:r>
              <a:rPr lang="en-US" sz="2300" dirty="0" smtClean="0"/>
              <a:t>0D model </a:t>
            </a:r>
            <a:r>
              <a:rPr lang="en-US" sz="2300" dirty="0" smtClean="0"/>
              <a:t>(GS2 </a:t>
            </a:r>
            <a:r>
              <a:rPr lang="en-US" sz="2300" dirty="0" smtClean="0"/>
              <a:t>simulations</a:t>
            </a:r>
            <a:r>
              <a:rPr lang="en-US" sz="2300" dirty="0" smtClean="0"/>
              <a:t>). Requires neoclassical contribution to fluxes</a:t>
            </a:r>
            <a:endParaRPr lang="en-US" sz="1900" dirty="0" smtClean="0"/>
          </a:p>
          <a:p>
            <a:pPr marL="363538" indent="-363538" defTabSz="966788">
              <a:lnSpc>
                <a:spcPct val="90000"/>
              </a:lnSpc>
              <a:spcBef>
                <a:spcPts val="1152"/>
              </a:spcBef>
            </a:pPr>
            <a:r>
              <a:rPr lang="en-US" sz="2300" dirty="0" smtClean="0"/>
              <a:t>Preliminary work </a:t>
            </a:r>
            <a:r>
              <a:rPr lang="en-US" sz="2300" dirty="0" smtClean="0"/>
              <a:t>on extension to</a:t>
            </a:r>
            <a:r>
              <a:rPr lang="en-US" sz="2300" dirty="0" smtClean="0"/>
              <a:t> 1D </a:t>
            </a:r>
            <a:r>
              <a:rPr lang="en-US" sz="2300" dirty="0" smtClean="0"/>
              <a:t>transport </a:t>
            </a:r>
            <a:r>
              <a:rPr lang="en-US" sz="2300" dirty="0" smtClean="0"/>
              <a:t>simulations shows peak in core temperature at beam energy which varies with power (peak at higher energies for higher powers)</a:t>
            </a:r>
            <a:endParaRPr lang="en-US" sz="2300" dirty="0" smtClean="0"/>
          </a:p>
        </p:txBody>
      </p:sp>
    </p:spTree>
  </p:cSld>
  <p:clrMapOvr>
    <a:masterClrMapping/>
  </p:clrMapOvr>
  <p:transition advTm="225301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153400" cy="990600"/>
          </a:xfrm>
        </p:spPr>
        <p:txBody>
          <a:bodyPr/>
          <a:lstStyle/>
          <a:p>
            <a:pPr algn="ctr"/>
            <a:r>
              <a:rPr lang="en-US" dirty="0" smtClean="0"/>
              <a:t>Shear stabilization</a:t>
            </a:r>
            <a:endParaRPr lang="en-US" dirty="0"/>
          </a:p>
        </p:txBody>
      </p:sp>
      <p:pic>
        <p:nvPicPr>
          <p:cNvPr id="4" name="Picture 3" descr="twisteddy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981200"/>
            <a:ext cx="8625036" cy="3746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752600" y="5939135"/>
            <a:ext cx="5486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 smtClean="0"/>
              <a:t>Newton et al., 2010 (arXiv:1007.0040)</a:t>
            </a:r>
            <a:endParaRPr lang="en-US" dirty="0"/>
          </a:p>
        </p:txBody>
      </p:sp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153400" cy="990600"/>
          </a:xfrm>
        </p:spPr>
        <p:txBody>
          <a:bodyPr/>
          <a:lstStyle/>
          <a:p>
            <a:pPr algn="ctr"/>
            <a:r>
              <a:rPr lang="en-US" dirty="0" smtClean="0"/>
              <a:t>Bifurcation condition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200400" y="6091535"/>
            <a:ext cx="2590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 dirty="0" smtClean="0"/>
              <a:t>Parra </a:t>
            </a:r>
            <a:r>
              <a:rPr lang="en-US" kern="0" dirty="0" smtClean="0"/>
              <a:t>et al.,</a:t>
            </a:r>
            <a:r>
              <a:rPr lang="en-US" kern="0" dirty="0" smtClean="0"/>
              <a:t> 2010</a:t>
            </a:r>
            <a:endParaRPr lang="en-US" dirty="0"/>
          </a:p>
        </p:txBody>
      </p:sp>
      <p:pic>
        <p:nvPicPr>
          <p:cNvPr id="5" name="Picture 4" descr="drltdgam_Q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0" y="1447800"/>
            <a:ext cx="3911600" cy="838200"/>
          </a:xfrm>
          <a:prstGeom prst="rect">
            <a:avLst/>
          </a:prstGeom>
        </p:spPr>
      </p:pic>
      <p:pic>
        <p:nvPicPr>
          <p:cNvPr id="7" name="Picture 6" descr="drltdgam_pioq.tif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0" y="2514600"/>
            <a:ext cx="5219700" cy="1625600"/>
          </a:xfrm>
          <a:prstGeom prst="rect">
            <a:avLst/>
          </a:prstGeom>
        </p:spPr>
      </p:pic>
      <p:pic>
        <p:nvPicPr>
          <p:cNvPr id="8" name="Picture 7" descr="drltcritdgam.tif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5950" y="4368800"/>
            <a:ext cx="5372100" cy="1498600"/>
          </a:xfrm>
          <a:prstGeom prst="rect">
            <a:avLst/>
          </a:prstGeom>
        </p:spPr>
      </p:pic>
    </p:spTree>
  </p:cSld>
  <p:clrMapOvr>
    <a:masterClrMapping/>
  </p:clrMapOvr>
  <p:transition advTm="268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ishbowl">
  <a:themeElements>
    <a:clrScheme name="">
      <a:dk1>
        <a:srgbClr val="3E3E5C"/>
      </a:dk1>
      <a:lt1>
        <a:srgbClr val="FFEA0F"/>
      </a:lt1>
      <a:dk2>
        <a:srgbClr val="90C0E5"/>
      </a:dk2>
      <a:lt2>
        <a:srgbClr val="CEFF03"/>
      </a:lt2>
      <a:accent1>
        <a:srgbClr val="60597B"/>
      </a:accent1>
      <a:accent2>
        <a:srgbClr val="6666FF"/>
      </a:accent2>
      <a:accent3>
        <a:srgbClr val="C6DCF0"/>
      </a:accent3>
      <a:accent4>
        <a:srgbClr val="DAC80B"/>
      </a:accent4>
      <a:accent5>
        <a:srgbClr val="B6B5BF"/>
      </a:accent5>
      <a:accent6>
        <a:srgbClr val="5C5CE7"/>
      </a:accent6>
      <a:hlink>
        <a:srgbClr val="99CCFF"/>
      </a:hlink>
      <a:folHlink>
        <a:srgbClr val="FFFF99"/>
      </a:folHlink>
    </a:clrScheme>
    <a:fontScheme name="Fishbowl">
      <a:majorFont>
        <a:latin typeface="Century Gothic"/>
        <a:ea typeface="ヒラギノ角ゴ Pro W3"/>
        <a:cs typeface="ヒラギノ角ゴ Pro W3"/>
      </a:majorFont>
      <a:minorFont>
        <a:latin typeface="Century Gothic"/>
        <a:ea typeface="ヒラギノ角ゴ Pro W3"/>
        <a:cs typeface="ヒラギノ角ゴ Pro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Fishbowl 1">
        <a:dk1>
          <a:srgbClr val="777777"/>
        </a:dk1>
        <a:lt1>
          <a:srgbClr val="FFFFFF"/>
        </a:lt1>
        <a:dk2>
          <a:srgbClr val="90C0E5"/>
        </a:dk2>
        <a:lt2>
          <a:srgbClr val="FFFFFF"/>
        </a:lt2>
        <a:accent1>
          <a:srgbClr val="909082"/>
        </a:accent1>
        <a:accent2>
          <a:srgbClr val="809EA8"/>
        </a:accent2>
        <a:accent3>
          <a:srgbClr val="C6DCF0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shbowl 2">
        <a:dk1>
          <a:srgbClr val="3E3E5C"/>
        </a:dk1>
        <a:lt1>
          <a:srgbClr val="FFFFFF"/>
        </a:lt1>
        <a:dk2>
          <a:srgbClr val="90C0E5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C6DCF0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2004:Templates:Presentations:Designs:Fishbowl</Template>
  <TotalTime>30933</TotalTime>
  <Words>903</Words>
  <Application>Microsoft Macintosh PowerPoint</Application>
  <PresentationFormat>On-screen Show (4:3)</PresentationFormat>
  <Paragraphs>207</Paragraphs>
  <Slides>35</Slides>
  <Notes>35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Fishbowl</vt:lpstr>
      <vt:lpstr>Momentum transport and flow shear suppression of turbulence in tokamaks</vt:lpstr>
      <vt:lpstr>Objective</vt:lpstr>
      <vt:lpstr>Multiple scale problem</vt:lpstr>
      <vt:lpstr>Multiscale simulation (TRINITY)</vt:lpstr>
      <vt:lpstr>Overview</vt:lpstr>
      <vt:lpstr>Model</vt:lpstr>
      <vt:lpstr>Linear stability (GS2)</vt:lpstr>
      <vt:lpstr>Transient growth</vt:lpstr>
      <vt:lpstr>Slide 9</vt:lpstr>
      <vt:lpstr>Turbulent Prandtl number</vt:lpstr>
      <vt:lpstr>Zero magnetic shear </vt:lpstr>
      <vt:lpstr>Zero magnetic shear </vt:lpstr>
      <vt:lpstr>Overview</vt:lpstr>
      <vt:lpstr>Power/Torque balance for beam injection</vt:lpstr>
      <vt:lpstr>Balance w/o neoclassical</vt:lpstr>
      <vt:lpstr>Neoclassical energy flux</vt:lpstr>
      <vt:lpstr>Neoclassical energy flux</vt:lpstr>
      <vt:lpstr>Curves of constant   </vt:lpstr>
      <vt:lpstr>Curves of constant   </vt:lpstr>
      <vt:lpstr>Slide 20</vt:lpstr>
      <vt:lpstr>Possible solutions</vt:lpstr>
      <vt:lpstr>Possible solutions</vt:lpstr>
      <vt:lpstr>Possible solutions</vt:lpstr>
      <vt:lpstr>Total energy flux</vt:lpstr>
      <vt:lpstr>Bifurcations</vt:lpstr>
      <vt:lpstr>Overview</vt:lpstr>
      <vt:lpstr>Transport equations in GK</vt:lpstr>
      <vt:lpstr>TRINITY schematic</vt:lpstr>
      <vt:lpstr>TRINITY transport solver</vt:lpstr>
      <vt:lpstr>Evolving density profile</vt:lpstr>
      <vt:lpstr>Model fluxes</vt:lpstr>
      <vt:lpstr>Preliminary results</vt:lpstr>
      <vt:lpstr>Conclusions</vt:lpstr>
      <vt:lpstr>Shear stabilization</vt:lpstr>
      <vt:lpstr>Bifurcation condition</vt:lpstr>
    </vt:vector>
  </TitlesOfParts>
  <Company>Michael Barnes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Velocity-space resolution in continuum gyrokinetics</dc:title>
  <dc:creator>Michael Barnes</dc:creator>
  <cp:lastModifiedBy>Michael Barnes</cp:lastModifiedBy>
  <cp:revision>602</cp:revision>
  <cp:lastPrinted>2008-11-23T23:28:33Z</cp:lastPrinted>
  <dcterms:created xsi:type="dcterms:W3CDTF">2010-08-31T07:34:10Z</dcterms:created>
  <dcterms:modified xsi:type="dcterms:W3CDTF">2010-09-02T08:29:25Z</dcterms:modified>
</cp:coreProperties>
</file>