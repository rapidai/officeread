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3"/>
  </p:notesMasterIdLst>
  <p:handoutMasterIdLst>
    <p:handoutMasterId r:id="rId24"/>
  </p:handoutMasterIdLst>
  <p:sldIdLst>
    <p:sldId id="299" r:id="rId2"/>
    <p:sldId id="427" r:id="rId3"/>
    <p:sldId id="445" r:id="rId4"/>
    <p:sldId id="446" r:id="rId5"/>
    <p:sldId id="434" r:id="rId6"/>
    <p:sldId id="436" r:id="rId7"/>
    <p:sldId id="437" r:id="rId8"/>
    <p:sldId id="438" r:id="rId9"/>
    <p:sldId id="409" r:id="rId10"/>
    <p:sldId id="435" r:id="rId11"/>
    <p:sldId id="441" r:id="rId12"/>
    <p:sldId id="442" r:id="rId13"/>
    <p:sldId id="443" r:id="rId14"/>
    <p:sldId id="410" r:id="rId15"/>
    <p:sldId id="429" r:id="rId16"/>
    <p:sldId id="423" r:id="rId17"/>
    <p:sldId id="424" r:id="rId18"/>
    <p:sldId id="444" r:id="rId19"/>
    <p:sldId id="430" r:id="rId20"/>
    <p:sldId id="426" r:id="rId21"/>
    <p:sldId id="428" r:id="rId22"/>
  </p:sldIdLst>
  <p:sldSz cx="9144000" cy="6858000" type="screen4x3"/>
  <p:notesSz cx="7102475" cy="9388475"/>
  <p:defaultTextStyle>
    <a:defPPr>
      <a:defRPr lang="en-US"/>
    </a:defPPr>
    <a:lvl1pPr algn="l" rtl="0" eaLnBrk="0" fontAlgn="base" hangingPunct="0">
      <a:lnSpc>
        <a:spcPct val="80000"/>
      </a:lnSpc>
      <a:spcBef>
        <a:spcPct val="0"/>
      </a:spcBef>
      <a:spcAft>
        <a:spcPct val="0"/>
      </a:spcAft>
      <a:defRPr sz="3200" b="1" kern="1200">
        <a:solidFill>
          <a:schemeClr val="tx1"/>
        </a:solidFill>
        <a:latin typeface="Arial" charset="0"/>
        <a:ea typeface="+mn-ea"/>
        <a:cs typeface="+mn-cs"/>
      </a:defRPr>
    </a:lvl1pPr>
    <a:lvl2pPr marL="457200" algn="l" rtl="0" eaLnBrk="0" fontAlgn="base" hangingPunct="0">
      <a:lnSpc>
        <a:spcPct val="80000"/>
      </a:lnSpc>
      <a:spcBef>
        <a:spcPct val="0"/>
      </a:spcBef>
      <a:spcAft>
        <a:spcPct val="0"/>
      </a:spcAft>
      <a:defRPr sz="3200" b="1" kern="1200">
        <a:solidFill>
          <a:schemeClr val="tx1"/>
        </a:solidFill>
        <a:latin typeface="Arial" charset="0"/>
        <a:ea typeface="+mn-ea"/>
        <a:cs typeface="+mn-cs"/>
      </a:defRPr>
    </a:lvl2pPr>
    <a:lvl3pPr marL="914400" algn="l" rtl="0" eaLnBrk="0" fontAlgn="base" hangingPunct="0">
      <a:lnSpc>
        <a:spcPct val="80000"/>
      </a:lnSpc>
      <a:spcBef>
        <a:spcPct val="0"/>
      </a:spcBef>
      <a:spcAft>
        <a:spcPct val="0"/>
      </a:spcAft>
      <a:defRPr sz="3200" b="1" kern="1200">
        <a:solidFill>
          <a:schemeClr val="tx1"/>
        </a:solidFill>
        <a:latin typeface="Arial" charset="0"/>
        <a:ea typeface="+mn-ea"/>
        <a:cs typeface="+mn-cs"/>
      </a:defRPr>
    </a:lvl3pPr>
    <a:lvl4pPr marL="1371600" algn="l" rtl="0" eaLnBrk="0" fontAlgn="base" hangingPunct="0">
      <a:lnSpc>
        <a:spcPct val="80000"/>
      </a:lnSpc>
      <a:spcBef>
        <a:spcPct val="0"/>
      </a:spcBef>
      <a:spcAft>
        <a:spcPct val="0"/>
      </a:spcAft>
      <a:defRPr sz="3200" b="1" kern="1200">
        <a:solidFill>
          <a:schemeClr val="tx1"/>
        </a:solidFill>
        <a:latin typeface="Arial" charset="0"/>
        <a:ea typeface="+mn-ea"/>
        <a:cs typeface="+mn-cs"/>
      </a:defRPr>
    </a:lvl4pPr>
    <a:lvl5pPr marL="1828800" algn="l" rtl="0" eaLnBrk="0" fontAlgn="base" hangingPunct="0">
      <a:lnSpc>
        <a:spcPct val="80000"/>
      </a:lnSpc>
      <a:spcBef>
        <a:spcPct val="0"/>
      </a:spcBef>
      <a:spcAft>
        <a:spcPct val="0"/>
      </a:spcAft>
      <a:defRPr sz="3200" b="1" kern="1200">
        <a:solidFill>
          <a:schemeClr val="tx1"/>
        </a:solidFill>
        <a:latin typeface="Arial" charset="0"/>
        <a:ea typeface="+mn-ea"/>
        <a:cs typeface="+mn-cs"/>
      </a:defRPr>
    </a:lvl5pPr>
    <a:lvl6pPr marL="2286000" algn="l" defTabSz="914400" rtl="0" eaLnBrk="1" latinLnBrk="0" hangingPunct="1">
      <a:defRPr sz="3200" b="1" kern="1200">
        <a:solidFill>
          <a:schemeClr val="tx1"/>
        </a:solidFill>
        <a:latin typeface="Arial" charset="0"/>
        <a:ea typeface="+mn-ea"/>
        <a:cs typeface="+mn-cs"/>
      </a:defRPr>
    </a:lvl6pPr>
    <a:lvl7pPr marL="2743200" algn="l" defTabSz="914400" rtl="0" eaLnBrk="1" latinLnBrk="0" hangingPunct="1">
      <a:defRPr sz="3200" b="1" kern="1200">
        <a:solidFill>
          <a:schemeClr val="tx1"/>
        </a:solidFill>
        <a:latin typeface="Arial" charset="0"/>
        <a:ea typeface="+mn-ea"/>
        <a:cs typeface="+mn-cs"/>
      </a:defRPr>
    </a:lvl7pPr>
    <a:lvl8pPr marL="3200400" algn="l" defTabSz="914400" rtl="0" eaLnBrk="1" latinLnBrk="0" hangingPunct="1">
      <a:defRPr sz="3200" b="1" kern="1200">
        <a:solidFill>
          <a:schemeClr val="tx1"/>
        </a:solidFill>
        <a:latin typeface="Arial" charset="0"/>
        <a:ea typeface="+mn-ea"/>
        <a:cs typeface="+mn-cs"/>
      </a:defRPr>
    </a:lvl8pPr>
    <a:lvl9pPr marL="3657600" algn="l" defTabSz="914400" rtl="0" eaLnBrk="1" latinLnBrk="0" hangingPunct="1">
      <a:defRPr sz="32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showPr>
  <p:clrMru>
    <a:srgbClr val="800000"/>
    <a:srgbClr val="AA1133"/>
    <a:srgbClr val="000000"/>
    <a:srgbClr val="F8F8F8"/>
    <a:srgbClr val="445511"/>
    <a:srgbClr val="557799"/>
    <a:srgbClr val="FF9900"/>
    <a:srgbClr val="FF0000"/>
    <a:srgbClr val="C0C0C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369" autoAdjust="0"/>
    <p:restoredTop sz="92330" autoAdjust="0"/>
  </p:normalViewPr>
  <p:slideViewPr>
    <p:cSldViewPr snapToGrid="0">
      <p:cViewPr varScale="1">
        <p:scale>
          <a:sx n="114" d="100"/>
          <a:sy n="114" d="100"/>
        </p:scale>
        <p:origin x="-750" y="-102"/>
      </p:cViewPr>
      <p:guideLst>
        <p:guide orient="horz"/>
        <p:guide/>
        <p:guide pos="5759"/>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idx="2"/>
          </p:nvPr>
        </p:nvSpPr>
        <p:spPr bwMode="auto">
          <a:xfrm>
            <a:off x="1212850" y="709613"/>
            <a:ext cx="4678363" cy="3508375"/>
          </a:xfrm>
          <a:prstGeom prst="rect">
            <a:avLst/>
          </a:prstGeom>
          <a:noFill/>
          <a:ln w="12700">
            <a:solidFill>
              <a:srgbClr val="000000"/>
            </a:solidFill>
            <a:miter lim="800000"/>
            <a:headEnd/>
            <a:tailEnd/>
          </a:ln>
        </p:spPr>
      </p:sp>
      <p:sp>
        <p:nvSpPr>
          <p:cNvPr id="2051" name="Rectangle 3"/>
          <p:cNvSpPr>
            <a:spLocks noGrp="1" noChangeArrowheads="1"/>
          </p:cNvSpPr>
          <p:nvPr>
            <p:ph type="body" sz="quarter" idx="3"/>
          </p:nvPr>
        </p:nvSpPr>
        <p:spPr bwMode="auto">
          <a:xfrm>
            <a:off x="946997" y="4458564"/>
            <a:ext cx="5208482" cy="4226096"/>
          </a:xfrm>
          <a:prstGeom prst="rect">
            <a:avLst/>
          </a:prstGeom>
          <a:noFill/>
          <a:ln w="12700">
            <a:noFill/>
            <a:miter lim="800000"/>
            <a:headEnd/>
            <a:tailEnd/>
          </a:ln>
          <a:effectLst/>
        </p:spPr>
        <p:txBody>
          <a:bodyPr vert="horz" wrap="square" lIns="93493" tIns="45927" rIns="93493" bIns="4592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spcBef>
                <a:spcPct val="20000"/>
              </a:spcBef>
              <a:defRPr/>
            </a:pPr>
            <a:r>
              <a:rPr lang="en-US" b="1" dirty="0" smtClean="0"/>
              <a:t>Talking points:</a:t>
            </a:r>
          </a:p>
          <a:p>
            <a:pPr>
              <a:defRPr/>
            </a:pPr>
            <a:r>
              <a:rPr lang="en-US" dirty="0" smtClean="0"/>
              <a:t>Talking points</a:t>
            </a:r>
          </a:p>
          <a:p>
            <a:pPr>
              <a:spcBef>
                <a:spcPct val="20000"/>
              </a:spcBef>
              <a:defRPr/>
            </a:pPr>
            <a:r>
              <a:rPr lang="en-US" dirty="0" smtClean="0"/>
              <a:t>Today, local and state leaders are facing a mounting problem: They must find ways to deliver the services constituents are asking for with dramatically scarcer resources. </a:t>
            </a:r>
          </a:p>
          <a:p>
            <a:pPr>
              <a:spcBef>
                <a:spcPct val="20000"/>
              </a:spcBef>
              <a:defRPr/>
            </a:pPr>
            <a:endParaRPr lang="en-US" dirty="0" smtClean="0"/>
          </a:p>
          <a:p>
            <a:pPr>
              <a:spcBef>
                <a:spcPct val="20000"/>
              </a:spcBef>
              <a:defRPr/>
            </a:pPr>
            <a:r>
              <a:rPr lang="en-US" dirty="0" smtClean="0"/>
              <a:t>Unprecedented pressures on Public Service </a:t>
            </a:r>
          </a:p>
          <a:p>
            <a:pPr>
              <a:spcBef>
                <a:spcPct val="20000"/>
              </a:spcBef>
              <a:buFont typeface="Arial" pitchFamily="34" charset="0"/>
              <a:buChar char="•"/>
              <a:defRPr/>
            </a:pPr>
            <a:r>
              <a:rPr lang="en-US" dirty="0" smtClean="0"/>
              <a:t>Sustained economic downturn – which leads to fewer resources. </a:t>
            </a:r>
          </a:p>
          <a:p>
            <a:pPr>
              <a:spcBef>
                <a:spcPct val="20000"/>
              </a:spcBef>
              <a:buFont typeface="Arial" pitchFamily="34" charset="0"/>
              <a:buChar char="•"/>
              <a:defRPr/>
            </a:pPr>
            <a:r>
              <a:rPr lang="en-US" dirty="0" smtClean="0"/>
              <a:t>Demand from constituents of all ages for more and newer government services – which leads to increased costs. Meantime, local and state leaders must run government organizations while planning for the future – and many are stuck.</a:t>
            </a:r>
          </a:p>
          <a:p>
            <a:pPr>
              <a:spcBef>
                <a:spcPct val="20000"/>
              </a:spcBef>
              <a:defRPr/>
            </a:pPr>
            <a:endParaRPr lang="en-US" dirty="0" smtClean="0"/>
          </a:p>
          <a:p>
            <a:pPr>
              <a:spcBef>
                <a:spcPct val="20000"/>
              </a:spcBef>
              <a:defRPr/>
            </a:pPr>
            <a:r>
              <a:rPr lang="en-US" dirty="0" smtClean="0"/>
              <a:t>From a region-wide vantage point, there’s a clear argument for a merger. With an array of duplicative back-office functions and a multitude of overlapping citizen-facing services, fiscal savings are at stake, not to mention the potential for more coordinated and effective service delivery.</a:t>
            </a:r>
          </a:p>
          <a:p>
            <a:pPr>
              <a:spcBef>
                <a:spcPct val="20000"/>
              </a:spcBef>
              <a:defRPr/>
            </a:pPr>
            <a:endParaRPr lang="en-US" dirty="0" smtClean="0"/>
          </a:p>
          <a:p>
            <a:pPr>
              <a:spcBef>
                <a:spcPct val="20000"/>
              </a:spcBef>
              <a:defRPr/>
            </a:pPr>
            <a:r>
              <a:rPr lang="en-US" dirty="0" smtClean="0"/>
              <a:t>Not to mention that we have a patchwork of government entities that dates back to the 19</a:t>
            </a:r>
            <a:r>
              <a:rPr lang="en-US" baseline="30000" dirty="0" smtClean="0"/>
              <a:t>th</a:t>
            </a:r>
            <a:r>
              <a:rPr lang="en-US" dirty="0" smtClean="0"/>
              <a:t> century (Minnesota example)</a:t>
            </a:r>
          </a:p>
          <a:p>
            <a:pPr>
              <a:spcBef>
                <a:spcPct val="20000"/>
              </a:spcBef>
              <a:defRPr/>
            </a:pPr>
            <a:endParaRPr lang="en-US" dirty="0" smtClean="0"/>
          </a:p>
          <a:p>
            <a:pPr>
              <a:spcBef>
                <a:spcPct val="20000"/>
              </a:spcBef>
              <a:defRPr/>
            </a:pPr>
            <a:r>
              <a:rPr lang="en-US" dirty="0" smtClean="0"/>
              <a:t>Across the board, as public service leaders look for solutions, they’re finding that cutting their way out – scaling back programs and services, merging agencies, school systems or counties – is tactically difficult and politically challenging. And raising resources – increasing taxes, fees and borrowing – is economically unsustainable and politically unpalatable. </a:t>
            </a:r>
          </a:p>
          <a:p>
            <a:pPr>
              <a:spcBef>
                <a:spcPct val="20000"/>
              </a:spcBef>
              <a:defRPr/>
            </a:pPr>
            <a:endParaRPr lang="en-US" dirty="0" smtClean="0"/>
          </a:p>
          <a:p>
            <a:pPr>
              <a:spcBef>
                <a:spcPct val="20000"/>
              </a:spcBef>
              <a:defRPr/>
            </a:pPr>
            <a:r>
              <a:rPr lang="en-US" dirty="0" smtClean="0"/>
              <a:t>Growing their way out isn’t a viable option either – most projections show tax receipt and cost curves just don’t add up.</a:t>
            </a:r>
          </a:p>
          <a:p>
            <a:pPr>
              <a:spcBef>
                <a:spcPct val="20000"/>
              </a:spcBef>
              <a:defRPr/>
            </a:pPr>
            <a:endParaRPr lang="en-US" sz="1100" dirty="0" smtClean="0"/>
          </a:p>
          <a:p>
            <a:pPr>
              <a:spcBef>
                <a:spcPct val="20000"/>
              </a:spcBef>
              <a:defRPr/>
            </a:pPr>
            <a:r>
              <a:rPr lang="en-US" sz="1400" i="1" dirty="0" smtClean="0"/>
              <a:t>But there is a solution: Cross-jurisdiction collaboration. </a:t>
            </a:r>
            <a:endParaRPr lang="en-US" b="1" dirty="0" smtClean="0"/>
          </a:p>
        </p:txBody>
      </p:sp>
      <p:sp>
        <p:nvSpPr>
          <p:cNvPr id="20484" name="Slide Number Placeholder 3"/>
          <p:cNvSpPr>
            <a:spLocks noGrp="1"/>
          </p:cNvSpPr>
          <p:nvPr>
            <p:ph type="sldNum" sz="quarter" idx="5"/>
          </p:nvPr>
        </p:nvSpPr>
        <p:spPr>
          <a:xfrm>
            <a:off x="4023092" y="8917127"/>
            <a:ext cx="3077739" cy="469745"/>
          </a:xfrm>
          <a:prstGeom prst="rect">
            <a:avLst/>
          </a:prstGeom>
          <a:noFill/>
        </p:spPr>
        <p:txBody>
          <a:bodyPr lIns="93342" tIns="46671" rIns="93342" bIns="46671"/>
          <a:lstStyle/>
          <a:p>
            <a:fld id="{95B668F7-27C0-4845-83C0-467255204A56}" type="slidenum">
              <a:rPr lang="en-US" smtClean="0"/>
              <a:pPr/>
              <a:t>4</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xfrm>
            <a:off x="1211263" y="709613"/>
            <a:ext cx="4681537" cy="3509962"/>
          </a:xfrm>
          <a:noFill/>
          <a:ln>
            <a:solidFill>
              <a:srgbClr val="000000"/>
            </a:solidFill>
            <a:miter lim="800000"/>
            <a:headEnd/>
            <a:tailEnd/>
          </a:ln>
        </p:spPr>
      </p:sp>
      <p:sp>
        <p:nvSpPr>
          <p:cNvPr id="3" name="Notes Placeholder 2"/>
          <p:cNvSpPr>
            <a:spLocks noGrp="1"/>
          </p:cNvSpPr>
          <p:nvPr>
            <p:ph type="body" idx="1"/>
          </p:nvPr>
        </p:nvSpPr>
        <p:spPr/>
        <p:txBody>
          <a:bodyPr>
            <a:normAutofit fontScale="32500" lnSpcReduction="20000"/>
          </a:bodyPr>
          <a:lstStyle/>
          <a:p>
            <a:pPr defTabSz="933420" eaLnBrk="1" fontAlgn="auto" hangingPunct="1">
              <a:spcBef>
                <a:spcPts val="0"/>
              </a:spcBef>
              <a:spcAft>
                <a:spcPts val="0"/>
              </a:spcAft>
              <a:defRPr/>
            </a:pPr>
            <a:r>
              <a:rPr lang="en-US" dirty="0" smtClean="0">
                <a:latin typeface="Arial" pitchFamily="34" charset="0"/>
                <a:cs typeface="Arial" pitchFamily="34" charset="0"/>
              </a:rPr>
              <a:t>Next we need to determine with whom might we partner with. An XJC may occur across existing public sector entities and at a peer-to-peer relationship (e.g., city to city) or in a more “hierarchical” relationship (e.g., city to county).  Also, there are opportunities to partner with third party agencies, which may be public and/or private entities.   </a:t>
            </a:r>
          </a:p>
          <a:p>
            <a:pPr defTabSz="933420" eaLnBrk="1" fontAlgn="auto" hangingPunct="1">
              <a:spcBef>
                <a:spcPts val="0"/>
              </a:spcBef>
              <a:spcAft>
                <a:spcPts val="0"/>
              </a:spcAft>
              <a:defRPr/>
            </a:pPr>
            <a:endParaRPr lang="en-US" dirty="0" smtClean="0">
              <a:latin typeface="Arial" pitchFamily="34" charset="0"/>
              <a:cs typeface="Arial" pitchFamily="34" charset="0"/>
            </a:endParaRPr>
          </a:p>
          <a:p>
            <a:pPr defTabSz="933420" eaLnBrk="1" fontAlgn="auto" hangingPunct="1">
              <a:spcBef>
                <a:spcPts val="0"/>
              </a:spcBef>
              <a:spcAft>
                <a:spcPts val="0"/>
              </a:spcAft>
              <a:defRPr/>
            </a:pPr>
            <a:r>
              <a:rPr lang="en-US" dirty="0" smtClean="0">
                <a:latin typeface="Arial" pitchFamily="34" charset="0"/>
                <a:cs typeface="Arial" pitchFamily="34" charset="0"/>
              </a:rPr>
              <a:t>Significant examples exist for all these scenarios and choosing the most appropriate model will depend on the individual circumstances of the involved parties.</a:t>
            </a:r>
          </a:p>
          <a:p>
            <a:pPr defTabSz="933420" eaLnBrk="1" fontAlgn="auto" hangingPunct="1">
              <a:spcBef>
                <a:spcPts val="0"/>
              </a:spcBef>
              <a:spcAft>
                <a:spcPts val="0"/>
              </a:spcAft>
              <a:defRPr/>
            </a:pPr>
            <a:endParaRPr lang="en-US" dirty="0" smtClean="0">
              <a:latin typeface="Arial" pitchFamily="34" charset="0"/>
              <a:cs typeface="Arial" pitchFamily="34" charset="0"/>
            </a:endParaRPr>
          </a:p>
          <a:p>
            <a:r>
              <a:rPr lang="en-US" b="1" dirty="0" smtClean="0"/>
              <a:t>State of Tennessee</a:t>
            </a:r>
          </a:p>
          <a:p>
            <a:r>
              <a:rPr lang="en-US" b="1" dirty="0" smtClean="0"/>
              <a:t>Outcome:</a:t>
            </a:r>
          </a:p>
          <a:p>
            <a:r>
              <a:rPr lang="en-US" dirty="0" smtClean="0"/>
              <a:t>The Tennessee Department of Labor has signed a contract with technology vendor Chicago Systems Group-Government Solutions to assist in the development of functional specifications for an unemployment</a:t>
            </a:r>
          </a:p>
          <a:p>
            <a:r>
              <a:rPr lang="en-US" dirty="0" smtClean="0"/>
              <a:t>insurance system. The focus of the project is to develop a common unemployment insurance benefit system that could be used by multiple states.</a:t>
            </a:r>
          </a:p>
          <a:p>
            <a:r>
              <a:rPr lang="en-US" b="1" dirty="0" smtClean="0"/>
              <a:t>Description:</a:t>
            </a:r>
          </a:p>
          <a:p>
            <a:r>
              <a:rPr lang="en-US" dirty="0" smtClean="0"/>
              <a:t>• The U.S. Department of Labor awarded funds to the Southeast Consortium based on proximity and similarity of unemployment programs and laws to aid in the development of a new system.</a:t>
            </a:r>
          </a:p>
          <a:p>
            <a:r>
              <a:rPr lang="en-US" dirty="0" smtClean="0"/>
              <a:t>• The Southeast Consortium (which includes Tennessee, North Carolina, South Carolina and Georgia) is considering improvements to the system that will allow for faster implementation, more efficient use of staff, real-time processing and</a:t>
            </a:r>
          </a:p>
          <a:p>
            <a:r>
              <a:rPr lang="en-US" dirty="0" smtClean="0"/>
              <a:t>access to information, and self service functions so claimants can update their information.</a:t>
            </a:r>
          </a:p>
          <a:p>
            <a:r>
              <a:rPr lang="en-US" dirty="0" smtClean="0"/>
              <a:t>• Multiple states using the system will allow for easier assistance in disaster situations.</a:t>
            </a:r>
          </a:p>
          <a:p>
            <a:r>
              <a:rPr lang="en-US" dirty="0" smtClean="0"/>
              <a:t>• This announcement is part of a $6.8 million infrastructure grant announced October 2009.</a:t>
            </a:r>
          </a:p>
          <a:p>
            <a:r>
              <a:rPr lang="en-US" dirty="0" smtClean="0"/>
              <a:t>• Collectively, the Southeast Consortium of states will contribute $9.9 million toward the redesign project.</a:t>
            </a:r>
          </a:p>
          <a:p>
            <a:r>
              <a:rPr lang="en-US" dirty="0" smtClean="0"/>
              <a:t>• The Southeast Consortium is scheduled to complete the project on September 28, 2011.</a:t>
            </a:r>
          </a:p>
          <a:p>
            <a:endParaRPr lang="en-US" dirty="0" smtClean="0"/>
          </a:p>
          <a:p>
            <a:r>
              <a:rPr lang="en-US" b="1" dirty="0" smtClean="0"/>
              <a:t>C-IV</a:t>
            </a:r>
            <a:endParaRPr lang="en-US" dirty="0" smtClean="0"/>
          </a:p>
          <a:p>
            <a:r>
              <a:rPr lang="en-US" b="1" dirty="0" smtClean="0"/>
              <a:t>Outcome:</a:t>
            </a:r>
          </a:p>
          <a:p>
            <a:r>
              <a:rPr lang="en-US" dirty="0" smtClean="0"/>
              <a:t>Thirty-nine counties in the state of California operate under a joint powers authority (JPA) to procure, build, implement and maintain a new welfare and welfare-to-work system with more than 800,000 recipients.</a:t>
            </a:r>
          </a:p>
          <a:p>
            <a:r>
              <a:rPr lang="en-US" b="1" dirty="0" smtClean="0"/>
              <a:t>Description:</a:t>
            </a:r>
          </a:p>
          <a:p>
            <a:r>
              <a:rPr lang="en-US" dirty="0" smtClean="0"/>
              <a:t>• C-IV is a consortium of 39 of the 58 California counties managing welfare eligibility and employment services.</a:t>
            </a:r>
          </a:p>
          <a:p>
            <a:r>
              <a:rPr lang="en-US" dirty="0" smtClean="0"/>
              <a:t>• Thirty-five additional “migration” counties using another system known as ISAWS unanimously agreed to migrate to C-IV. The original and migration counties each represent 13 percent of the California caseload, 26 percent total. The overall objective of C-IV is to provide a fair, accurate and effective process by which a planning consultant will be awarded an agreement with the SAWS Consortium JPA to provide the consortium with procurement planning services. These services support the consortium in development of a large-scale, competitive procurement process for maintenance and operations goods and services for the C-IV system.</a:t>
            </a:r>
          </a:p>
          <a:p>
            <a:endParaRPr lang="en-US" dirty="0" smtClean="0"/>
          </a:p>
          <a:p>
            <a:r>
              <a:rPr lang="en-US" b="1" dirty="0" smtClean="0"/>
              <a:t>Ohio Shared Services</a:t>
            </a:r>
            <a:endParaRPr lang="en-US" dirty="0" smtClean="0"/>
          </a:p>
          <a:p>
            <a:r>
              <a:rPr lang="en-US" b="1" dirty="0" smtClean="0"/>
              <a:t>Outcome:</a:t>
            </a:r>
          </a:p>
          <a:p>
            <a:r>
              <a:rPr lang="en-US" dirty="0" smtClean="0"/>
              <a:t>Ohio moved to a statewide shared services model in 2007, which brought a 15 to 20 percent improvement in productivity and a reduction of costs from $37 per transaction to just $12. Ohio expects to achieve about $26 million in average annual savings, or about $500 million over 20 years.</a:t>
            </a:r>
          </a:p>
          <a:p>
            <a:r>
              <a:rPr lang="en-US" b="1" dirty="0" smtClean="0"/>
              <a:t>Description:</a:t>
            </a:r>
          </a:p>
          <a:p>
            <a:r>
              <a:rPr lang="en-US" dirty="0" smtClean="0"/>
              <a:t>• As part of the launch of its PeopleSoft enterprise resource planning system, the shared services center was designed in partnership with the state’s unions and under the guidance of Accenture through the design, build and deployment stages. It is staffed and managed internally, rather than outsourced.</a:t>
            </a:r>
          </a:p>
          <a:p>
            <a:r>
              <a:rPr lang="en-US" dirty="0" smtClean="0"/>
              <a:t>• Ohio engaged stakeholders on multiple levels, allowing agencies to volunteer to participate in the transformation. The first service on its agenda was financial services, followed by human resources and technology services.</a:t>
            </a:r>
          </a:p>
          <a:p>
            <a:r>
              <a:rPr lang="en-US" dirty="0" smtClean="0"/>
              <a:t>• Some of the departments</a:t>
            </a:r>
          </a:p>
          <a:p>
            <a:r>
              <a:rPr lang="en-US" dirty="0" smtClean="0"/>
              <a:t>within the state that are already benefiting from the shared services transformation include the Ohio Department of Rehabilitation and Correction, Ohio Rehabilitation Services Commission and Ohio Department of Taxation.</a:t>
            </a:r>
          </a:p>
          <a:p>
            <a:endParaRPr lang="en-US" dirty="0" smtClean="0"/>
          </a:p>
          <a:p>
            <a:r>
              <a:rPr lang="en-US" b="1" dirty="0" smtClean="0"/>
              <a:t>San Francisco, California</a:t>
            </a:r>
            <a:endParaRPr lang="en-US" dirty="0" smtClean="0"/>
          </a:p>
          <a:p>
            <a:r>
              <a:rPr lang="en-US" b="1" dirty="0" smtClean="0"/>
              <a:t>Outcome:</a:t>
            </a:r>
          </a:p>
          <a:p>
            <a:r>
              <a:rPr lang="en-US" dirty="0" smtClean="0"/>
              <a:t>City </a:t>
            </a:r>
            <a:r>
              <a:rPr lang="en-US" dirty="0" err="1" smtClean="0"/>
              <a:t>CarShare</a:t>
            </a:r>
            <a:r>
              <a:rPr lang="en-US" dirty="0" smtClean="0"/>
              <a:t> and the city of San Francisco have stepped up efforts to save money and lower the city’s carbon footprint by entering a formal agreement to extend car sharing to city employees.</a:t>
            </a:r>
          </a:p>
          <a:p>
            <a:r>
              <a:rPr lang="en-US" b="1" dirty="0" smtClean="0"/>
              <a:t>Description:</a:t>
            </a:r>
          </a:p>
          <a:p>
            <a:r>
              <a:rPr lang="en-US" dirty="0" smtClean="0"/>
              <a:t>• This arrangement offers the city a way to manage a smaller vehicle fleet, with lower purchase and maintenance costs and reduced greenhouse gas emissions.</a:t>
            </a:r>
          </a:p>
          <a:p>
            <a:r>
              <a:rPr lang="en-US" dirty="0" smtClean="0"/>
              <a:t>• Gas, insurance and maintenance are included in the service, and fewer cars will serve more city and county employees.</a:t>
            </a:r>
          </a:p>
          <a:p>
            <a:r>
              <a:rPr lang="en-US" dirty="0" smtClean="0"/>
              <a:t>• The city and county of San Francisco will save taxpayer money by encouraging transit-oriented sharing.</a:t>
            </a:r>
          </a:p>
          <a:p>
            <a:r>
              <a:rPr lang="en-US" dirty="0" smtClean="0"/>
              <a:t>• The mayor’s office announced the partnership with City </a:t>
            </a:r>
            <a:r>
              <a:rPr lang="en-US" dirty="0" err="1" smtClean="0"/>
              <a:t>CarShare</a:t>
            </a:r>
            <a:r>
              <a:rPr lang="en-US" dirty="0" smtClean="0"/>
              <a:t>, and individual departments will individually sign up for the program.</a:t>
            </a:r>
            <a:endParaRPr lang="en-US" dirty="0" smtClean="0">
              <a:latin typeface="Arial" pitchFamily="34" charset="0"/>
              <a:cs typeface="Arial" pitchFamily="34" charset="0"/>
            </a:endParaRPr>
          </a:p>
        </p:txBody>
      </p:sp>
      <p:sp>
        <p:nvSpPr>
          <p:cNvPr id="50180" name="Slide Number Placeholder 3"/>
          <p:cNvSpPr>
            <a:spLocks noGrp="1"/>
          </p:cNvSpPr>
          <p:nvPr>
            <p:ph type="sldNum" sz="quarter" idx="5"/>
          </p:nvPr>
        </p:nvSpPr>
        <p:spPr bwMode="auto">
          <a:xfrm>
            <a:off x="4023092" y="8917128"/>
            <a:ext cx="3077739" cy="469745"/>
          </a:xfrm>
          <a:prstGeom prst="rect">
            <a:avLst/>
          </a:prstGeom>
          <a:ln>
            <a:miter lim="800000"/>
            <a:headEnd/>
            <a:tailEnd/>
          </a:ln>
        </p:spPr>
        <p:txBody>
          <a:bodyPr wrap="square" lIns="93342" tIns="46671" rIns="93342" bIns="46671" numCol="1" anchorCtr="0" compatLnSpc="1">
            <a:prstTxWarp prst="textNoShape">
              <a:avLst/>
            </a:prstTxWarp>
          </a:bodyPr>
          <a:lstStyle/>
          <a:p>
            <a:pPr fontAlgn="base">
              <a:spcBef>
                <a:spcPct val="0"/>
              </a:spcBef>
              <a:spcAft>
                <a:spcPct val="0"/>
              </a:spcAft>
              <a:defRPr/>
            </a:pPr>
            <a:fld id="{F35B5D7B-1D4D-4B1E-A26F-CD32B8C92D88}" type="slidenum">
              <a:rPr lang="en-US" smtClean="0"/>
              <a:pPr fontAlgn="base">
                <a:spcBef>
                  <a:spcPct val="0"/>
                </a:spcBef>
                <a:spcAft>
                  <a:spcPct val="0"/>
                </a:spcAft>
                <a:defRPr/>
              </a:pPr>
              <a:t>11</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xfrm>
            <a:off x="1211263" y="709613"/>
            <a:ext cx="4681537" cy="3509962"/>
          </a:xfrm>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Now, we can bring together the past two concepts into a single matrix and show the intersections of functions and the value matrix.  This is intended to illustrate the full scope of potential collaboration models.  </a:t>
            </a:r>
          </a:p>
          <a:p>
            <a:pPr eaLnBrk="1" hangingPunct="1">
              <a:spcBef>
                <a:spcPct val="0"/>
              </a:spcBef>
            </a:pPr>
            <a:endParaRPr lang="en-US" dirty="0" smtClean="0"/>
          </a:p>
          <a:p>
            <a:pPr eaLnBrk="1" hangingPunct="1">
              <a:spcBef>
                <a:spcPct val="0"/>
              </a:spcBef>
            </a:pPr>
            <a:r>
              <a:rPr lang="en-US" dirty="0" smtClean="0"/>
              <a:t>When we plot the services across the government value chain we see that collaboration models can exist in many different combinations. Collaboration can be isolated to one or more levers of the value chain and can span across one or more services. For examples where a municipality contracts out a service, this translates to collaboration across all of the value chain levers in one service like in Cupertino - example 1. </a:t>
            </a:r>
          </a:p>
        </p:txBody>
      </p:sp>
      <p:sp>
        <p:nvSpPr>
          <p:cNvPr id="52228" name="Slide Number Placeholder 3"/>
          <p:cNvSpPr>
            <a:spLocks noGrp="1"/>
          </p:cNvSpPr>
          <p:nvPr>
            <p:ph type="sldNum" sz="quarter" idx="5"/>
          </p:nvPr>
        </p:nvSpPr>
        <p:spPr bwMode="auto">
          <a:xfrm>
            <a:off x="4023092" y="8917128"/>
            <a:ext cx="3077739" cy="469745"/>
          </a:xfrm>
          <a:prstGeom prst="rect">
            <a:avLst/>
          </a:prstGeom>
          <a:ln>
            <a:miter lim="800000"/>
            <a:headEnd/>
            <a:tailEnd/>
          </a:ln>
        </p:spPr>
        <p:txBody>
          <a:bodyPr wrap="square" lIns="93342" tIns="46671" rIns="93342" bIns="46671" numCol="1" anchorCtr="0" compatLnSpc="1">
            <a:prstTxWarp prst="textNoShape">
              <a:avLst/>
            </a:prstTxWarp>
          </a:bodyPr>
          <a:lstStyle/>
          <a:p>
            <a:pPr fontAlgn="base">
              <a:spcBef>
                <a:spcPct val="0"/>
              </a:spcBef>
              <a:spcAft>
                <a:spcPct val="0"/>
              </a:spcAft>
              <a:defRPr/>
            </a:pPr>
            <a:fld id="{CC11BA48-BD66-406F-AE2E-A67C39CD6541}" type="slidenum">
              <a:rPr lang="en-US" smtClean="0"/>
              <a:pPr fontAlgn="base">
                <a:spcBef>
                  <a:spcPct val="0"/>
                </a:spcBef>
                <a:spcAft>
                  <a:spcPct val="0"/>
                </a:spcAft>
                <a:defRPr/>
              </a:pPr>
              <a:t>12</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xfrm>
            <a:off x="1211263" y="709613"/>
            <a:ext cx="4681537" cy="3509962"/>
          </a:xfrm>
          <a:noFill/>
          <a:ln>
            <a:solidFill>
              <a:srgbClr val="000000"/>
            </a:solidFill>
            <a:miter lim="800000"/>
            <a:headEnd/>
            <a:tailEnd/>
          </a:ln>
        </p:spPr>
      </p:sp>
      <p:sp>
        <p:nvSpPr>
          <p:cNvPr id="53251" name="Notes Placeholder 2"/>
          <p:cNvSpPr>
            <a:spLocks noGrp="1"/>
          </p:cNvSpPr>
          <p:nvPr>
            <p:ph type="body" idx="1"/>
          </p:nvPr>
        </p:nvSpPr>
        <p:spPr bwMode="auto"/>
        <p:txBody>
          <a:bodyPr wrap="square" numCol="1" anchor="t" anchorCtr="0" compatLnSpc="1">
            <a:prstTxWarp prst="textNoShape">
              <a:avLst/>
            </a:prstTxWarp>
            <a:normAutofit lnSpcReduction="10000"/>
          </a:bodyPr>
          <a:lstStyle/>
          <a:p>
            <a:pPr eaLnBrk="1" hangingPunct="1">
              <a:spcBef>
                <a:spcPct val="0"/>
              </a:spcBef>
              <a:defRPr/>
            </a:pPr>
            <a:r>
              <a:rPr lang="en-US" dirty="0" smtClean="0"/>
              <a:t>Finally, there is the concept of </a:t>
            </a:r>
            <a:r>
              <a:rPr lang="en-US" i="1" dirty="0" smtClean="0"/>
              <a:t>how</a:t>
            </a:r>
            <a:r>
              <a:rPr lang="en-US" dirty="0" smtClean="0"/>
              <a:t> to implement the collaboration model.  This can be done in one of four manners: Coordinating services, merging functions or entities, contracting out to existing service providers or creating a new entity to perform services.</a:t>
            </a:r>
          </a:p>
          <a:p>
            <a:pPr eaLnBrk="1" hangingPunct="1">
              <a:spcBef>
                <a:spcPct val="0"/>
              </a:spcBef>
              <a:defRPr/>
            </a:pPr>
            <a:endParaRPr lang="en-US" dirty="0" smtClean="0"/>
          </a:p>
          <a:p>
            <a:pPr eaLnBrk="1" hangingPunct="1">
              <a:spcBef>
                <a:spcPct val="0"/>
              </a:spcBef>
              <a:defRPr/>
            </a:pPr>
            <a:r>
              <a:rPr lang="en-US" dirty="0" smtClean="0"/>
              <a:t>When </a:t>
            </a:r>
            <a:r>
              <a:rPr lang="en-US" u="sng" dirty="0" smtClean="0"/>
              <a:t>Coordinating</a:t>
            </a:r>
            <a:r>
              <a:rPr lang="en-US" dirty="0" smtClean="0"/>
              <a:t> services, the collaborating entities share power and responsibility to provide services. Coordinating does not result in the formation of a separate new entity</a:t>
            </a:r>
          </a:p>
          <a:p>
            <a:pPr eaLnBrk="1" hangingPunct="1">
              <a:spcBef>
                <a:spcPct val="0"/>
              </a:spcBef>
              <a:defRPr/>
            </a:pPr>
            <a:endParaRPr lang="en-US" dirty="0" smtClean="0"/>
          </a:p>
          <a:p>
            <a:pPr eaLnBrk="1" hangingPunct="1">
              <a:spcBef>
                <a:spcPct val="0"/>
              </a:spcBef>
              <a:defRPr/>
            </a:pPr>
            <a:r>
              <a:rPr lang="en-US" u="sng" dirty="0" smtClean="0"/>
              <a:t>Merging</a:t>
            </a:r>
            <a:r>
              <a:rPr lang="en-US" dirty="0" smtClean="0"/>
              <a:t> results in a single entity or functional unit responsible for providing services to all entities</a:t>
            </a:r>
          </a:p>
          <a:p>
            <a:pPr eaLnBrk="1" hangingPunct="1">
              <a:spcBef>
                <a:spcPct val="0"/>
              </a:spcBef>
              <a:defRPr/>
            </a:pPr>
            <a:endParaRPr lang="en-US" dirty="0" smtClean="0"/>
          </a:p>
          <a:p>
            <a:pPr eaLnBrk="1" hangingPunct="1">
              <a:spcBef>
                <a:spcPct val="0"/>
              </a:spcBef>
              <a:defRPr/>
            </a:pPr>
            <a:r>
              <a:rPr lang="en-US" dirty="0" smtClean="0"/>
              <a:t>Services may be </a:t>
            </a:r>
            <a:r>
              <a:rPr lang="en-US" u="sng" dirty="0" smtClean="0"/>
              <a:t>contracted</a:t>
            </a:r>
            <a:r>
              <a:rPr lang="en-US" dirty="0" smtClean="0"/>
              <a:t> out to either an existing local government entity or a third party provider (public or private entity</a:t>
            </a:r>
          </a:p>
          <a:p>
            <a:pPr eaLnBrk="1" hangingPunct="1">
              <a:spcBef>
                <a:spcPct val="0"/>
              </a:spcBef>
              <a:defRPr/>
            </a:pPr>
            <a:endParaRPr lang="en-US" dirty="0" smtClean="0"/>
          </a:p>
          <a:p>
            <a:pPr eaLnBrk="1" hangingPunct="1">
              <a:spcBef>
                <a:spcPct val="0"/>
              </a:spcBef>
              <a:defRPr/>
            </a:pPr>
            <a:r>
              <a:rPr lang="en-US" u="sng" dirty="0" smtClean="0"/>
              <a:t>New entities </a:t>
            </a:r>
            <a:r>
              <a:rPr lang="en-US" dirty="0" smtClean="0"/>
              <a:t>may also be created specifically to provide certain services on a regional level</a:t>
            </a:r>
          </a:p>
          <a:p>
            <a:pPr eaLnBrk="1" hangingPunct="1">
              <a:spcBef>
                <a:spcPct val="0"/>
              </a:spcBef>
              <a:buFontTx/>
              <a:buChar char="-"/>
              <a:defRPr/>
            </a:pPr>
            <a:endParaRPr lang="en-US" dirty="0" smtClean="0"/>
          </a:p>
          <a:p>
            <a:pPr eaLnBrk="1" hangingPunct="1">
              <a:spcBef>
                <a:spcPct val="0"/>
              </a:spcBef>
              <a:buFontTx/>
              <a:buChar char="-"/>
              <a:defRPr/>
            </a:pPr>
            <a:r>
              <a:rPr lang="en-US" dirty="0" smtClean="0"/>
              <a:t>Each implementation method has certain key advantages as well as limitations and risks. The chosen implementation method varies based on :</a:t>
            </a:r>
          </a:p>
          <a:p>
            <a:pPr lvl="1" eaLnBrk="1" hangingPunct="1">
              <a:spcBef>
                <a:spcPct val="0"/>
              </a:spcBef>
              <a:buFontTx/>
              <a:buChar char="-"/>
              <a:defRPr/>
            </a:pPr>
            <a:r>
              <a:rPr lang="en-US" dirty="0" smtClean="0"/>
              <a:t>drivers or reasons for collaboration including the specific problems that must be solved through collaboration,</a:t>
            </a:r>
          </a:p>
          <a:p>
            <a:pPr lvl="1" eaLnBrk="1" hangingPunct="1">
              <a:spcBef>
                <a:spcPct val="0"/>
              </a:spcBef>
              <a:buFontTx/>
              <a:buChar char="-"/>
              <a:defRPr/>
            </a:pPr>
            <a:r>
              <a:rPr lang="en-US" dirty="0" smtClean="0"/>
              <a:t>the collaborating entities involved and</a:t>
            </a:r>
          </a:p>
          <a:p>
            <a:pPr lvl="1" eaLnBrk="1" hangingPunct="1">
              <a:spcBef>
                <a:spcPct val="0"/>
              </a:spcBef>
              <a:buFontTx/>
              <a:buChar char="-"/>
              <a:defRPr/>
            </a:pPr>
            <a:r>
              <a:rPr lang="en-US" dirty="0" smtClean="0"/>
              <a:t>relevant financial, political and future considerations pertaining to the collaborating entities </a:t>
            </a:r>
          </a:p>
          <a:p>
            <a:pPr eaLnBrk="1" hangingPunct="1">
              <a:spcBef>
                <a:spcPct val="0"/>
              </a:spcBef>
              <a:defRPr/>
            </a:pPr>
            <a:endParaRPr lang="en-US" dirty="0" smtClean="0"/>
          </a:p>
        </p:txBody>
      </p:sp>
      <p:sp>
        <p:nvSpPr>
          <p:cNvPr id="53252" name="Slide Number Placeholder 3"/>
          <p:cNvSpPr>
            <a:spLocks noGrp="1"/>
          </p:cNvSpPr>
          <p:nvPr>
            <p:ph type="sldNum" sz="quarter" idx="5"/>
          </p:nvPr>
        </p:nvSpPr>
        <p:spPr bwMode="auto">
          <a:xfrm>
            <a:off x="4023092" y="8917128"/>
            <a:ext cx="3077739" cy="469745"/>
          </a:xfrm>
          <a:prstGeom prst="rect">
            <a:avLst/>
          </a:prstGeom>
          <a:ln>
            <a:miter lim="800000"/>
            <a:headEnd/>
            <a:tailEnd/>
          </a:ln>
        </p:spPr>
        <p:txBody>
          <a:bodyPr wrap="square" lIns="93342" tIns="46671" rIns="93342" bIns="46671" numCol="1" anchorCtr="0" compatLnSpc="1">
            <a:prstTxWarp prst="textNoShape">
              <a:avLst/>
            </a:prstTxWarp>
          </a:bodyPr>
          <a:lstStyle/>
          <a:p>
            <a:pPr fontAlgn="base">
              <a:spcBef>
                <a:spcPct val="0"/>
              </a:spcBef>
              <a:spcAft>
                <a:spcPct val="0"/>
              </a:spcAft>
              <a:defRPr/>
            </a:pPr>
            <a:fld id="{3FDA12A5-F747-49AE-A47F-44AE4403E76A}" type="slidenum">
              <a:rPr lang="en-US" smtClean="0"/>
              <a:pPr fontAlgn="base">
                <a:spcBef>
                  <a:spcPct val="0"/>
                </a:spcBef>
                <a:spcAft>
                  <a:spcPct val="0"/>
                </a:spcAft>
                <a:defRPr/>
              </a:pPr>
              <a:t>13</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4023092" y="8917421"/>
            <a:ext cx="3077739" cy="469424"/>
          </a:xfrm>
          <a:prstGeom prst="rect">
            <a:avLst/>
          </a:prstGeom>
          <a:ln/>
        </p:spPr>
        <p:txBody>
          <a:bodyPr lIns="94761" tIns="47380" rIns="94761" bIns="47380"/>
          <a:lstStyle/>
          <a:p>
            <a:fld id="{9BACE92A-AAAC-48A5-A5D8-19954F1E2D18}" type="slidenum">
              <a:rPr lang="en-US">
                <a:solidFill>
                  <a:prstClr val="black"/>
                </a:solidFill>
              </a:rPr>
              <a:pPr/>
              <a:t>14</a:t>
            </a:fld>
            <a:endParaRPr lang="en-US" dirty="0">
              <a:solidFill>
                <a:prstClr val="black"/>
              </a:solidFill>
            </a:endParaRPr>
          </a:p>
        </p:txBody>
      </p:sp>
      <p:sp>
        <p:nvSpPr>
          <p:cNvPr id="1201154" name="Rectangle 2"/>
          <p:cNvSpPr>
            <a:spLocks noGrp="1" noRot="1" noChangeAspect="1" noChangeArrowheads="1" noTextEdit="1"/>
          </p:cNvSpPr>
          <p:nvPr>
            <p:ph type="sldImg"/>
          </p:nvPr>
        </p:nvSpPr>
        <p:spPr>
          <a:ln/>
        </p:spPr>
      </p:sp>
      <p:sp>
        <p:nvSpPr>
          <p:cNvPr id="1201155" name="Rectangle 3"/>
          <p:cNvSpPr>
            <a:spLocks noGrp="1" noChangeArrowheads="1"/>
          </p:cNvSpPr>
          <p:nvPr>
            <p:ph type="body" idx="1"/>
          </p:nvPr>
        </p:nvSpPr>
        <p:spPr/>
        <p:txBody>
          <a:bodyPr/>
          <a:lstStyle/>
          <a:p>
            <a:pPr eaLnBrk="1" hangingPunct="1"/>
            <a:r>
              <a:rPr lang="en-US" dirty="0" smtClean="0"/>
              <a:t>our team aligned around the idea of a regional operations center.  This path seemed the best way to start based on everything we heard.</a:t>
            </a:r>
          </a:p>
          <a:p>
            <a:pPr eaLnBrk="1" hangingPunct="1"/>
            <a:endParaRPr lang="en-US" dirty="0" smtClean="0"/>
          </a:p>
          <a:p>
            <a:pPr eaLnBrk="1" hangingPunct="1"/>
            <a:r>
              <a:rPr lang="en-US" dirty="0" smtClean="0"/>
              <a:t>And these are the reasons, at the lower left area of the chart around 7 </a:t>
            </a:r>
            <a:r>
              <a:rPr lang="en-US" dirty="0" err="1" smtClean="0"/>
              <a:t>oclock</a:t>
            </a:r>
            <a:r>
              <a:rPr lang="en-US" dirty="0" smtClean="0"/>
              <a:t> position for those early risers and adopters, we needed to come up with a manageable number of stakeholders and luck y number seven became that number.  Those entities are named in the outer ring of the center model.</a:t>
            </a:r>
          </a:p>
          <a:p>
            <a:pPr eaLnBrk="1" hangingPunct="1"/>
            <a:r>
              <a:rPr lang="en-US" dirty="0" smtClean="0"/>
              <a:t>We also saw  low risk functions as the way to start (</a:t>
            </a:r>
            <a:r>
              <a:rPr lang="en-US" dirty="0" err="1" smtClean="0"/>
              <a:t>ie</a:t>
            </a:r>
            <a:r>
              <a:rPr lang="en-US" dirty="0" smtClean="0"/>
              <a:t>. HR , IT, Finance, Procurement) areas that do not have a lot of jobs, do not face citizens, are scalable,)</a:t>
            </a:r>
          </a:p>
          <a:p>
            <a:pPr eaLnBrk="1" hangingPunct="1"/>
            <a:r>
              <a:rPr lang="en-US" dirty="0" smtClean="0"/>
              <a:t>We developed the Regional Operations Center as a JPA or Joint Powers Agreement which are mechanisms that city managers are familiar with and have experience.</a:t>
            </a:r>
          </a:p>
          <a:p>
            <a:pPr eaLnBrk="1" hangingPunct="1"/>
            <a:r>
              <a:rPr lang="en-US" dirty="0" smtClean="0"/>
              <a:t>We allowed for a difference in service levels as this seemed to be a factor in decision making.</a:t>
            </a:r>
          </a:p>
          <a:p>
            <a:pPr eaLnBrk="1" hangingPunct="1"/>
            <a:r>
              <a:rPr lang="en-US" dirty="0" smtClean="0"/>
              <a:t>And finally we envisioned a smooth transition by managing the change in a way that stakeholders see positive attributes in better service, etc. </a:t>
            </a:r>
          </a:p>
          <a:p>
            <a:pPr eaLnBrk="1" hangingPunct="1">
              <a:spcBef>
                <a:spcPct val="0"/>
              </a:spcBef>
            </a:pPr>
            <a:r>
              <a:rPr lang="en-US" dirty="0" smtClean="0"/>
              <a:t>But these small step is only the first step……we envision a far greater opportunity when this operations center is realized for the entire silicon valley.</a:t>
            </a:r>
          </a:p>
          <a:p>
            <a:pPr eaLnBrk="1" hangingPunct="1">
              <a:spcBef>
                <a:spcPct val="0"/>
              </a:spcBef>
            </a:pPr>
            <a:endParaRPr lang="en-US" dirty="0" smtClean="0"/>
          </a:p>
          <a:p>
            <a:pPr eaLnBrk="1" hangingPunct="1">
              <a:spcBef>
                <a:spcPct val="0"/>
              </a:spcBef>
            </a:pPr>
            <a:r>
              <a:rPr lang="en-US" dirty="0" smtClean="0"/>
              <a:t>Total budget for all silicon valley government entities is north of $14B and this slide shows the breakdown by type of entity and by type of service provided.</a:t>
            </a:r>
          </a:p>
          <a:p>
            <a:pPr eaLnBrk="1" hangingPunct="1"/>
            <a:endParaRPr lang="en-US" dirty="0" smtClean="0"/>
          </a:p>
          <a:p>
            <a:pPr defTabSz="933420" eaLnBrk="1" hangingPunct="1">
              <a:defRPr/>
            </a:pPr>
            <a:r>
              <a:rPr lang="en-US" dirty="0" smtClean="0"/>
              <a:t>Of that $14B, we believe 36% of that total or $5B is possible as addressable under our regional operations center voyage.  </a:t>
            </a:r>
          </a:p>
          <a:p>
            <a:pPr eaLnBrk="1" hangingPunct="1"/>
            <a:endParaRPr lang="en-US" dirty="0" smtClean="0"/>
          </a:p>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4023092" y="8917421"/>
            <a:ext cx="3077739" cy="469424"/>
          </a:xfrm>
          <a:prstGeom prst="rect">
            <a:avLst/>
          </a:prstGeom>
          <a:ln/>
        </p:spPr>
        <p:txBody>
          <a:bodyPr lIns="94761" tIns="47380" rIns="94761" bIns="47380"/>
          <a:lstStyle/>
          <a:p>
            <a:fld id="{9BACE92A-AAAC-48A5-A5D8-19954F1E2D18}" type="slidenum">
              <a:rPr lang="en-US">
                <a:solidFill>
                  <a:prstClr val="black"/>
                </a:solidFill>
              </a:rPr>
              <a:pPr/>
              <a:t>15</a:t>
            </a:fld>
            <a:endParaRPr lang="en-US" dirty="0">
              <a:solidFill>
                <a:prstClr val="black"/>
              </a:solidFill>
            </a:endParaRPr>
          </a:p>
        </p:txBody>
      </p:sp>
      <p:sp>
        <p:nvSpPr>
          <p:cNvPr id="1201154" name="Rectangle 2"/>
          <p:cNvSpPr>
            <a:spLocks noGrp="1" noRot="1" noChangeAspect="1" noChangeArrowheads="1" noTextEdit="1"/>
          </p:cNvSpPr>
          <p:nvPr>
            <p:ph type="sldImg"/>
          </p:nvPr>
        </p:nvSpPr>
        <p:spPr>
          <a:ln/>
        </p:spPr>
      </p:sp>
      <p:sp>
        <p:nvSpPr>
          <p:cNvPr id="1201155" name="Rectangle 3"/>
          <p:cNvSpPr>
            <a:spLocks noGrp="1" noChangeArrowheads="1"/>
          </p:cNvSpPr>
          <p:nvPr>
            <p:ph type="body" idx="1"/>
          </p:nvPr>
        </p:nvSpPr>
        <p:spPr/>
        <p:txBody>
          <a:bodyPr/>
          <a:lstStyle/>
          <a:p>
            <a:pPr eaLnBrk="1" hangingPunct="1"/>
            <a:r>
              <a:rPr lang="en-US" dirty="0" smtClean="0"/>
              <a:t>our team aligned around the idea of a regional operations center.  This path seemed the best way to start based on everything we heard.</a:t>
            </a:r>
          </a:p>
          <a:p>
            <a:pPr eaLnBrk="1" hangingPunct="1"/>
            <a:endParaRPr lang="en-US" dirty="0" smtClean="0"/>
          </a:p>
          <a:p>
            <a:pPr eaLnBrk="1" hangingPunct="1"/>
            <a:r>
              <a:rPr lang="en-US" dirty="0" smtClean="0"/>
              <a:t>And these are the reasons, at the lower left area of the chart around 7 </a:t>
            </a:r>
            <a:r>
              <a:rPr lang="en-US" dirty="0" err="1" smtClean="0"/>
              <a:t>oclock</a:t>
            </a:r>
            <a:r>
              <a:rPr lang="en-US" dirty="0" smtClean="0"/>
              <a:t> position for those early risers and adopters, we needed to come up with a manageable number of stakeholders and luck y number seven became that number.  Those entities are named in the outer ring of the center model.</a:t>
            </a:r>
          </a:p>
          <a:p>
            <a:pPr eaLnBrk="1" hangingPunct="1"/>
            <a:r>
              <a:rPr lang="en-US" dirty="0" smtClean="0"/>
              <a:t>We also saw  low risk functions as the way to start (</a:t>
            </a:r>
            <a:r>
              <a:rPr lang="en-US" dirty="0" err="1" smtClean="0"/>
              <a:t>ie</a:t>
            </a:r>
            <a:r>
              <a:rPr lang="en-US" dirty="0" smtClean="0"/>
              <a:t>. HR , IT, Finance, Procurement) areas that do not have a lot of jobs, do not face citizens, are scalable,)</a:t>
            </a:r>
          </a:p>
          <a:p>
            <a:pPr eaLnBrk="1" hangingPunct="1"/>
            <a:r>
              <a:rPr lang="en-US" dirty="0" smtClean="0"/>
              <a:t>We developed the Regional Operations Center as a JPA or Joint Powers Agreement which are mechanisms that city managers are familiar with and have experience.</a:t>
            </a:r>
          </a:p>
          <a:p>
            <a:pPr eaLnBrk="1" hangingPunct="1"/>
            <a:r>
              <a:rPr lang="en-US" dirty="0" smtClean="0"/>
              <a:t>We allowed for a difference in service levels as this seemed to be a factor in decision making.</a:t>
            </a:r>
          </a:p>
          <a:p>
            <a:pPr eaLnBrk="1" hangingPunct="1"/>
            <a:r>
              <a:rPr lang="en-US" dirty="0" smtClean="0"/>
              <a:t>And finally we envisioned a smooth transition by managing the change in a way that stakeholders see positive attributes in better service, etc. </a:t>
            </a:r>
          </a:p>
          <a:p>
            <a:pPr eaLnBrk="1" hangingPunct="1">
              <a:spcBef>
                <a:spcPct val="0"/>
              </a:spcBef>
            </a:pPr>
            <a:r>
              <a:rPr lang="en-US" dirty="0" smtClean="0"/>
              <a:t>But these small step is only the first step……we envision a far greater opportunity when this operations center is realized for the entire silicon valley.</a:t>
            </a:r>
          </a:p>
          <a:p>
            <a:pPr eaLnBrk="1" hangingPunct="1">
              <a:spcBef>
                <a:spcPct val="0"/>
              </a:spcBef>
            </a:pPr>
            <a:endParaRPr lang="en-US" dirty="0" smtClean="0"/>
          </a:p>
          <a:p>
            <a:pPr eaLnBrk="1" hangingPunct="1">
              <a:spcBef>
                <a:spcPct val="0"/>
              </a:spcBef>
            </a:pPr>
            <a:r>
              <a:rPr lang="en-US" dirty="0" smtClean="0"/>
              <a:t>Total budget for all silicon valley government entities is north of $14B and this slide shows the breakdown by type of entity and by type of service provided.</a:t>
            </a:r>
          </a:p>
          <a:p>
            <a:pPr eaLnBrk="1" hangingPunct="1"/>
            <a:endParaRPr lang="en-US" dirty="0" smtClean="0"/>
          </a:p>
          <a:p>
            <a:pPr defTabSz="933420" eaLnBrk="1" hangingPunct="1">
              <a:defRPr/>
            </a:pPr>
            <a:r>
              <a:rPr lang="en-US" dirty="0" smtClean="0"/>
              <a:t>Of that $14B, we believe 36% of that total or $5B is possible as addressable under our regional operations center voyage.  </a:t>
            </a:r>
          </a:p>
          <a:p>
            <a:pPr eaLnBrk="1" hangingPunct="1"/>
            <a:endParaRPr lang="en-US" dirty="0" smtClean="0"/>
          </a:p>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7" descr="CU006536.jpg"/>
          <p:cNvPicPr>
            <a:picLocks noChangeAspect="1"/>
          </p:cNvPicPr>
          <p:nvPr userDrawn="1"/>
        </p:nvPicPr>
        <p:blipFill>
          <a:blip r:embed="rId2" cstate="print"/>
          <a:srcRect t="43529"/>
          <a:stretch>
            <a:fillRect/>
          </a:stretch>
        </p:blipFill>
        <p:spPr bwMode="auto">
          <a:xfrm>
            <a:off x="0" y="0"/>
            <a:ext cx="9142413" cy="3452813"/>
          </a:xfrm>
          <a:prstGeom prst="rect">
            <a:avLst/>
          </a:prstGeom>
          <a:noFill/>
          <a:ln w="9525">
            <a:noFill/>
            <a:miter lim="800000"/>
            <a:headEnd/>
            <a:tailEnd/>
          </a:ln>
        </p:spPr>
      </p:pic>
      <p:sp>
        <p:nvSpPr>
          <p:cNvPr id="5" name="Rectangle 4"/>
          <p:cNvSpPr/>
          <p:nvPr userDrawn="1"/>
        </p:nvSpPr>
        <p:spPr bwMode="auto">
          <a:xfrm>
            <a:off x="0" y="3433763"/>
            <a:ext cx="9144000" cy="3424237"/>
          </a:xfrm>
          <a:prstGeom prst="rect">
            <a:avLst/>
          </a:prstGeom>
          <a:solidFill>
            <a:srgbClr val="65181B"/>
          </a:solidFill>
          <a:ln w="9525" algn="ctr">
            <a:noFill/>
            <a:miter lim="800000"/>
            <a:headEnd/>
            <a:tailEnd/>
          </a:ln>
          <a:effectLst/>
        </p:spPr>
        <p:txBody>
          <a:bodyPr wrap="none" anchor="ctr"/>
          <a:lstStyle/>
          <a:p>
            <a:pPr>
              <a:defRPr/>
            </a:pPr>
            <a:endParaRPr lang="en-US"/>
          </a:p>
        </p:txBody>
      </p:sp>
      <p:sp>
        <p:nvSpPr>
          <p:cNvPr id="10300" name="Rectangle 60"/>
          <p:cNvSpPr>
            <a:spLocks noGrp="1" noChangeArrowheads="1"/>
          </p:cNvSpPr>
          <p:nvPr>
            <p:ph type="ctrTitle" sz="quarter"/>
          </p:nvPr>
        </p:nvSpPr>
        <p:spPr>
          <a:xfrm>
            <a:off x="2436813" y="4250058"/>
            <a:ext cx="6216650" cy="1143000"/>
          </a:xfrm>
          <a:ln w="9525"/>
        </p:spPr>
        <p:txBody>
          <a:bodyPr lIns="91440" tIns="45720" rIns="91440" bIns="45720" anchor="t"/>
          <a:lstStyle>
            <a:lvl1pPr>
              <a:defRPr/>
            </a:lvl1pPr>
          </a:lstStyle>
          <a:p>
            <a:r>
              <a:rPr lang="en-US" dirty="0"/>
              <a:t>Click to edit Master title style</a:t>
            </a:r>
          </a:p>
        </p:txBody>
      </p:sp>
      <p:sp>
        <p:nvSpPr>
          <p:cNvPr id="10301" name="Rectangle 61"/>
          <p:cNvSpPr>
            <a:spLocks noGrp="1" noChangeArrowheads="1"/>
          </p:cNvSpPr>
          <p:nvPr>
            <p:ph type="subTitle" sz="quarter" idx="1"/>
          </p:nvPr>
        </p:nvSpPr>
        <p:spPr>
          <a:xfrm>
            <a:off x="2452688" y="5427983"/>
            <a:ext cx="6216650" cy="514350"/>
          </a:xfrm>
          <a:ln w="9525"/>
        </p:spPr>
        <p:txBody>
          <a:bodyPr lIns="91440" tIns="45720" rIns="91440" bIns="45720"/>
          <a:lstStyle>
            <a:lvl1pPr marL="0" indent="0">
              <a:buFontTx/>
              <a:buNone/>
              <a:defRPr sz="2400">
                <a:solidFill>
                  <a:schemeClr val="bg1"/>
                </a:solidFill>
              </a:defRPr>
            </a:lvl1pPr>
          </a:lstStyle>
          <a:p>
            <a:r>
              <a:rPr lang="en-US" dirty="0"/>
              <a:t>Click to edit Master subtitle style</a:t>
            </a:r>
          </a:p>
        </p:txBody>
      </p:sp>
      <p:pic>
        <p:nvPicPr>
          <p:cNvPr id="8" name="Picture 7" descr="2012 One Minnesota state and text logo.jpg"/>
          <p:cNvPicPr>
            <a:picLocks noChangeAspect="1"/>
          </p:cNvPicPr>
          <p:nvPr userDrawn="1"/>
        </p:nvPicPr>
        <p:blipFill>
          <a:blip r:embed="rId3" cstate="print"/>
          <a:stretch>
            <a:fillRect/>
          </a:stretch>
        </p:blipFill>
        <p:spPr>
          <a:xfrm>
            <a:off x="0" y="3451860"/>
            <a:ext cx="4465320" cy="11277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0"/>
          <p:cNvSpPr>
            <a:spLocks noGrp="1" noChangeArrowheads="1"/>
          </p:cNvSpPr>
          <p:nvPr>
            <p:ph type="sldNum" sz="quarter" idx="10"/>
          </p:nvPr>
        </p:nvSpPr>
        <p:spPr>
          <a:ln/>
        </p:spPr>
        <p:txBody>
          <a:bodyPr/>
          <a:lstStyle>
            <a:lvl1pPr>
              <a:defRPr/>
            </a:lvl1pPr>
          </a:lstStyle>
          <a:p>
            <a:pPr>
              <a:defRPr/>
            </a:pPr>
            <a:fld id="{ACCFB468-5EAA-4B0A-8525-B7359404716B}"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0"/>
          <p:cNvSpPr>
            <a:spLocks noGrp="1" noChangeArrowheads="1"/>
          </p:cNvSpPr>
          <p:nvPr>
            <p:ph type="sldNum" sz="quarter" idx="10"/>
          </p:nvPr>
        </p:nvSpPr>
        <p:spPr>
          <a:ln/>
        </p:spPr>
        <p:txBody>
          <a:bodyPr/>
          <a:lstStyle>
            <a:lvl1pPr>
              <a:defRPr/>
            </a:lvl1pPr>
          </a:lstStyle>
          <a:p>
            <a:pPr>
              <a:defRPr/>
            </a:pPr>
            <a:fld id="{25CF0226-32A1-4162-BDD2-0C8A4FE77006}" type="slidenum">
              <a:rPr lang="en-US"/>
              <a:pPr>
                <a:defRPr/>
              </a:pPr>
              <a:t>‹#›</a:t>
            </a:fld>
            <a:endParaRPr lang="en-US" dirty="0"/>
          </a:p>
        </p:txBody>
      </p:sp>
      <p:sp>
        <p:nvSpPr>
          <p:cNvPr id="5"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0850" y="1565275"/>
            <a:ext cx="4098925" cy="4759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565275"/>
            <a:ext cx="4098925" cy="4759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0"/>
          <p:cNvSpPr>
            <a:spLocks noGrp="1" noChangeArrowheads="1"/>
          </p:cNvSpPr>
          <p:nvPr>
            <p:ph type="sldNum" sz="quarter" idx="10"/>
          </p:nvPr>
        </p:nvSpPr>
        <p:spPr>
          <a:ln/>
        </p:spPr>
        <p:txBody>
          <a:bodyPr/>
          <a:lstStyle>
            <a:lvl1pPr>
              <a:defRPr/>
            </a:lvl1pPr>
          </a:lstStyle>
          <a:p>
            <a:pPr>
              <a:defRPr/>
            </a:pPr>
            <a:fld id="{84F085F7-694F-4289-833F-4DC40DF40764}" type="slidenum">
              <a:rPr lang="en-US"/>
              <a:pPr>
                <a:defRPr/>
              </a:pPr>
              <a:t>‹#›</a:t>
            </a:fld>
            <a:endParaRPr lang="en-US" dirty="0"/>
          </a:p>
        </p:txBody>
      </p:sp>
      <p:sp>
        <p:nvSpPr>
          <p:cNvPr id="6"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0"/>
          <p:cNvSpPr>
            <a:spLocks noGrp="1" noChangeArrowheads="1"/>
          </p:cNvSpPr>
          <p:nvPr>
            <p:ph type="sldNum" sz="quarter" idx="10"/>
          </p:nvPr>
        </p:nvSpPr>
        <p:spPr>
          <a:ln/>
        </p:spPr>
        <p:txBody>
          <a:bodyPr/>
          <a:lstStyle>
            <a:lvl1pPr>
              <a:defRPr/>
            </a:lvl1pPr>
          </a:lstStyle>
          <a:p>
            <a:pPr>
              <a:defRPr/>
            </a:pPr>
            <a:fld id="{46B3C096-1BB8-41B6-B7F2-17EA505A2539}" type="slidenum">
              <a:rPr lang="en-US"/>
              <a:pPr>
                <a:defRPr/>
              </a:pPr>
              <a:t>‹#›</a:t>
            </a:fld>
            <a:endParaRPr lang="en-US" dirty="0"/>
          </a:p>
        </p:txBody>
      </p:sp>
      <p:sp>
        <p:nvSpPr>
          <p:cNvPr id="8"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0"/>
          <p:cNvSpPr>
            <a:spLocks noGrp="1" noChangeArrowheads="1"/>
          </p:cNvSpPr>
          <p:nvPr>
            <p:ph type="sldNum" sz="quarter" idx="10"/>
          </p:nvPr>
        </p:nvSpPr>
        <p:spPr>
          <a:ln/>
        </p:spPr>
        <p:txBody>
          <a:bodyPr/>
          <a:lstStyle>
            <a:lvl1pPr>
              <a:defRPr/>
            </a:lvl1pPr>
          </a:lstStyle>
          <a:p>
            <a:pPr>
              <a:defRPr/>
            </a:pPr>
            <a:fld id="{7EB2F6E9-3A4F-47CB-BB15-960780540C71}" type="slidenum">
              <a:rPr lang="en-US"/>
              <a:pPr>
                <a:defRPr/>
              </a:pPr>
              <a:t>‹#›</a:t>
            </a:fld>
            <a:endParaRPr lang="en-US" dirty="0"/>
          </a:p>
        </p:txBody>
      </p:sp>
      <p:sp>
        <p:nvSpPr>
          <p:cNvPr id="4"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0"/>
          <p:cNvSpPr>
            <a:spLocks noGrp="1" noChangeArrowheads="1"/>
          </p:cNvSpPr>
          <p:nvPr>
            <p:ph type="sldNum" sz="quarter" idx="10"/>
          </p:nvPr>
        </p:nvSpPr>
        <p:spPr>
          <a:ln/>
        </p:spPr>
        <p:txBody>
          <a:bodyPr/>
          <a:lstStyle>
            <a:lvl1pPr>
              <a:defRPr/>
            </a:lvl1pPr>
          </a:lstStyle>
          <a:p>
            <a:pPr>
              <a:defRPr/>
            </a:pPr>
            <a:fld id="{6240605A-FFF1-41E4-984D-B3E26A0702EF}" type="slidenum">
              <a:rPr lang="en-US"/>
              <a:pPr>
                <a:defRPr/>
              </a:pPr>
              <a:t>‹#›</a:t>
            </a:fld>
            <a:endParaRPr lang="en-US" dirty="0"/>
          </a:p>
        </p:txBody>
      </p:sp>
      <p:sp>
        <p:nvSpPr>
          <p:cNvPr id="3"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0"/>
          <p:cNvSpPr>
            <a:spLocks noGrp="1" noChangeArrowheads="1"/>
          </p:cNvSpPr>
          <p:nvPr>
            <p:ph type="sldNum" sz="quarter" idx="10"/>
          </p:nvPr>
        </p:nvSpPr>
        <p:spPr>
          <a:ln/>
        </p:spPr>
        <p:txBody>
          <a:bodyPr/>
          <a:lstStyle>
            <a:lvl1pPr>
              <a:defRPr/>
            </a:lvl1pPr>
          </a:lstStyle>
          <a:p>
            <a:pPr>
              <a:defRPr/>
            </a:pPr>
            <a:fld id="{FEADD38A-D91D-4FE8-93AA-C6F451D8B4FE}" type="slidenum">
              <a:rPr lang="en-US"/>
              <a:pPr>
                <a:defRPr/>
              </a:pPr>
              <a:t>‹#›</a:t>
            </a:fld>
            <a:endParaRPr lang="en-US" dirty="0"/>
          </a:p>
        </p:txBody>
      </p:sp>
      <p:sp>
        <p:nvSpPr>
          <p:cNvPr id="6"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0"/>
          <p:cNvSpPr>
            <a:spLocks noGrp="1" noChangeArrowheads="1"/>
          </p:cNvSpPr>
          <p:nvPr>
            <p:ph type="sldNum" sz="quarter" idx="10"/>
          </p:nvPr>
        </p:nvSpPr>
        <p:spPr>
          <a:ln/>
        </p:spPr>
        <p:txBody>
          <a:bodyPr/>
          <a:lstStyle>
            <a:lvl1pPr>
              <a:defRPr/>
            </a:lvl1pPr>
          </a:lstStyle>
          <a:p>
            <a:pPr>
              <a:defRPr/>
            </a:pPr>
            <a:fld id="{2BABDC2E-8A30-4717-8E5A-E301909FD23A}" type="slidenum">
              <a:rPr lang="en-US"/>
              <a:pPr>
                <a:defRPr/>
              </a:pPr>
              <a:t>‹#›</a:t>
            </a:fld>
            <a:endParaRPr lang="en-US" dirty="0"/>
          </a:p>
        </p:txBody>
      </p:sp>
      <p:sp>
        <p:nvSpPr>
          <p:cNvPr id="6"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0"/>
          <p:cNvSpPr>
            <a:spLocks noGrp="1" noChangeArrowheads="1"/>
          </p:cNvSpPr>
          <p:nvPr>
            <p:ph type="sldNum" sz="quarter" idx="10"/>
          </p:nvPr>
        </p:nvSpPr>
        <p:spPr>
          <a:ln/>
        </p:spPr>
        <p:txBody>
          <a:bodyPr/>
          <a:lstStyle>
            <a:lvl1pPr>
              <a:defRPr/>
            </a:lvl1pPr>
          </a:lstStyle>
          <a:p>
            <a:pPr>
              <a:defRPr/>
            </a:pPr>
            <a:fld id="{DBD9E4B3-DADF-4CA8-98A5-5A00BBD3E04C}" type="slidenum">
              <a:rPr lang="en-US"/>
              <a:pPr>
                <a:defRPr/>
              </a:pPr>
              <a:t>‹#›</a:t>
            </a:fld>
            <a:endParaRPr lang="en-US" dirty="0"/>
          </a:p>
        </p:txBody>
      </p:sp>
      <p:sp>
        <p:nvSpPr>
          <p:cNvPr id="5"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3538" y="0"/>
            <a:ext cx="2087562" cy="6324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0850" y="0"/>
            <a:ext cx="6110288"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0"/>
          <p:cNvSpPr>
            <a:spLocks noGrp="1" noChangeArrowheads="1"/>
          </p:cNvSpPr>
          <p:nvPr>
            <p:ph type="sldNum" sz="quarter" idx="10"/>
          </p:nvPr>
        </p:nvSpPr>
        <p:spPr>
          <a:ln/>
        </p:spPr>
        <p:txBody>
          <a:bodyPr/>
          <a:lstStyle>
            <a:lvl1pPr>
              <a:defRPr/>
            </a:lvl1pPr>
          </a:lstStyle>
          <a:p>
            <a:pPr>
              <a:defRPr/>
            </a:pPr>
            <a:fld id="{519E0B80-3305-4688-84F8-8E013E375294}" type="slidenum">
              <a:rPr lang="en-US"/>
              <a:pPr>
                <a:defRPr/>
              </a:pPr>
              <a:t>‹#›</a:t>
            </a:fld>
            <a:endParaRPr lang="en-US" dirty="0"/>
          </a:p>
        </p:txBody>
      </p:sp>
      <p:sp>
        <p:nvSpPr>
          <p:cNvPr id="5"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2438" y="0"/>
            <a:ext cx="6283325"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0850" y="1565275"/>
            <a:ext cx="8350250" cy="4759325"/>
          </a:xfrm>
        </p:spPr>
        <p:txBody>
          <a:bodyPr/>
          <a:lstStyle/>
          <a:p>
            <a:pPr lvl="0"/>
            <a:endParaRPr lang="en-US" noProof="0" dirty="0" smtClean="0"/>
          </a:p>
        </p:txBody>
      </p:sp>
      <p:sp>
        <p:nvSpPr>
          <p:cNvPr id="4" name="Rectangle 60"/>
          <p:cNvSpPr>
            <a:spLocks noGrp="1" noChangeArrowheads="1"/>
          </p:cNvSpPr>
          <p:nvPr>
            <p:ph type="sldNum" sz="quarter" idx="10"/>
          </p:nvPr>
        </p:nvSpPr>
        <p:spPr>
          <a:ln/>
        </p:spPr>
        <p:txBody>
          <a:bodyPr/>
          <a:lstStyle>
            <a:lvl1pPr>
              <a:defRPr/>
            </a:lvl1pPr>
          </a:lstStyle>
          <a:p>
            <a:pPr>
              <a:defRPr/>
            </a:pPr>
            <a:fld id="{3CC8FC8C-9785-4FF2-8A6C-771D07F17D1B}" type="slidenum">
              <a:rPr lang="en-US"/>
              <a:pPr>
                <a:defRPr/>
              </a:pPr>
              <a:t>‹#›</a:t>
            </a:fld>
            <a:endParaRPr lang="en-US" dirty="0"/>
          </a:p>
        </p:txBody>
      </p:sp>
      <p:sp>
        <p:nvSpPr>
          <p:cNvPr id="5"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2438" y="0"/>
            <a:ext cx="6283325"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0850" y="1565275"/>
            <a:ext cx="4098925" cy="47593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02175" y="1565275"/>
            <a:ext cx="4098925" cy="23034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02175" y="4021138"/>
            <a:ext cx="4098925" cy="23034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0"/>
          <p:cNvSpPr>
            <a:spLocks noGrp="1" noChangeArrowheads="1"/>
          </p:cNvSpPr>
          <p:nvPr>
            <p:ph type="sldNum" sz="quarter" idx="10"/>
          </p:nvPr>
        </p:nvSpPr>
        <p:spPr>
          <a:ln/>
        </p:spPr>
        <p:txBody>
          <a:bodyPr/>
          <a:lstStyle>
            <a:lvl1pPr>
              <a:defRPr/>
            </a:lvl1pPr>
          </a:lstStyle>
          <a:p>
            <a:pPr>
              <a:defRPr/>
            </a:pPr>
            <a:fld id="{4B20F8A3-EA13-464C-BFEB-2EC2AD1DF0FA}" type="slidenum">
              <a:rPr lang="en-US"/>
              <a:pPr>
                <a:defRPr/>
              </a:pPr>
              <a:t>‹#›</a:t>
            </a:fld>
            <a:endParaRPr lang="en-US" dirty="0"/>
          </a:p>
        </p:txBody>
      </p:sp>
      <p:sp>
        <p:nvSpPr>
          <p:cNvPr id="7"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2438" y="0"/>
            <a:ext cx="6283325"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0850" y="1565275"/>
            <a:ext cx="4098925" cy="47593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702175" y="1565275"/>
            <a:ext cx="4098925" cy="23034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702175" y="4021138"/>
            <a:ext cx="4098925" cy="23034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0"/>
          <p:cNvSpPr>
            <a:spLocks noGrp="1" noChangeArrowheads="1"/>
          </p:cNvSpPr>
          <p:nvPr>
            <p:ph type="sldNum" sz="quarter" idx="10"/>
          </p:nvPr>
        </p:nvSpPr>
        <p:spPr>
          <a:ln/>
        </p:spPr>
        <p:txBody>
          <a:bodyPr/>
          <a:lstStyle>
            <a:lvl1pPr>
              <a:defRPr/>
            </a:lvl1pPr>
          </a:lstStyle>
          <a:p>
            <a:pPr>
              <a:defRPr/>
            </a:pPr>
            <a:fld id="{A190DF86-967D-43E4-850B-DDBFB8A55EB7}" type="slidenum">
              <a:rPr lang="en-US"/>
              <a:pPr>
                <a:defRPr/>
              </a:pPr>
              <a:t>‹#›</a:t>
            </a:fld>
            <a:endParaRPr lang="en-US" dirty="0"/>
          </a:p>
        </p:txBody>
      </p:sp>
      <p:sp>
        <p:nvSpPr>
          <p:cNvPr id="7" name="Rectangle 62"/>
          <p:cNvSpPr>
            <a:spLocks noGrp="1" noChangeArrowheads="1"/>
          </p:cNvSpPr>
          <p:nvPr>
            <p:ph type="ftr" sz="quarter" idx="11"/>
          </p:nvPr>
        </p:nvSpPr>
        <p:spPr>
          <a:ln/>
        </p:spPr>
        <p:txBody>
          <a:bodyPr/>
          <a:lstStyle>
            <a:lvl1pPr>
              <a:defRPr/>
            </a:lvl1pPr>
          </a:lstStyle>
          <a:p>
            <a:pPr>
              <a:defRPr/>
            </a:pPr>
            <a:r>
              <a:rPr lang="en-US"/>
              <a:t>Copyright © 2008 Accenture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4" name="AC Banner"/>
          <p:cNvSpPr>
            <a:spLocks noChangeArrowheads="1"/>
          </p:cNvSpPr>
          <p:nvPr/>
        </p:nvSpPr>
        <p:spPr bwMode="gray">
          <a:xfrm>
            <a:off x="0" y="0"/>
            <a:ext cx="9144000" cy="1241425"/>
          </a:xfrm>
          <a:prstGeom prst="rect">
            <a:avLst/>
          </a:prstGeom>
          <a:solidFill>
            <a:srgbClr val="65181B"/>
          </a:solidFill>
          <a:ln w="9525" algn="ctr">
            <a:noFill/>
            <a:miter lim="800000"/>
            <a:headEnd/>
            <a:tailEnd/>
          </a:ln>
          <a:effectLst/>
        </p:spPr>
        <p:txBody>
          <a:bodyPr wrap="none" anchor="ctr"/>
          <a:lstStyle/>
          <a:p>
            <a:pPr>
              <a:defRPr/>
            </a:pPr>
            <a:endParaRPr lang="en-US" dirty="0"/>
          </a:p>
        </p:txBody>
      </p:sp>
      <p:sp>
        <p:nvSpPr>
          <p:cNvPr id="3075" name="Rectangle 29"/>
          <p:cNvSpPr>
            <a:spLocks noGrp="1" noChangeArrowheads="1"/>
          </p:cNvSpPr>
          <p:nvPr>
            <p:ph type="body" idx="1"/>
          </p:nvPr>
        </p:nvSpPr>
        <p:spPr bwMode="gray">
          <a:xfrm>
            <a:off x="450850" y="1565275"/>
            <a:ext cx="8350250" cy="4759325"/>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84" name="Rectangle 60"/>
          <p:cNvSpPr>
            <a:spLocks noGrp="1" noChangeArrowheads="1"/>
          </p:cNvSpPr>
          <p:nvPr>
            <p:ph type="sldNum" sz="quarter" idx="4"/>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a:t>
            </a:fld>
            <a:endParaRPr lang="en-US" dirty="0"/>
          </a:p>
        </p:txBody>
      </p:sp>
      <p:sp>
        <p:nvSpPr>
          <p:cNvPr id="1086" name="Rectangle 62"/>
          <p:cNvSpPr>
            <a:spLocks noGrp="1" noChangeArrowheads="1"/>
          </p:cNvSpPr>
          <p:nvPr>
            <p:ph type="ftr" sz="quarter" idx="3"/>
          </p:nvPr>
        </p:nvSpPr>
        <p:spPr bwMode="gray">
          <a:xfrm>
            <a:off x="144463" y="6324600"/>
            <a:ext cx="4489450" cy="457200"/>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1000" b="0">
                <a:latin typeface="Arial" charset="0"/>
              </a:defRPr>
            </a:lvl1pPr>
          </a:lstStyle>
          <a:p>
            <a:pPr>
              <a:defRPr/>
            </a:pPr>
            <a:r>
              <a:rPr lang="en-US" dirty="0" smtClean="0"/>
              <a:t>Copyright © 2011 Accenture All Rights Reserved.</a:t>
            </a:r>
            <a:endParaRPr lang="en-US" dirty="0"/>
          </a:p>
        </p:txBody>
      </p:sp>
      <p:sp>
        <p:nvSpPr>
          <p:cNvPr id="3078" name="Rectangle 65"/>
          <p:cNvSpPr>
            <a:spLocks noGrp="1" noChangeArrowheads="1"/>
          </p:cNvSpPr>
          <p:nvPr>
            <p:ph type="title"/>
          </p:nvPr>
        </p:nvSpPr>
        <p:spPr bwMode="gray">
          <a:xfrm>
            <a:off x="452438" y="0"/>
            <a:ext cx="6696075" cy="1143000"/>
          </a:xfrm>
          <a:prstGeom prst="rect">
            <a:avLst/>
          </a:prstGeom>
          <a:noFill/>
          <a:ln w="12700">
            <a:noFill/>
            <a:miter lim="800000"/>
            <a:headEnd/>
            <a:tailEnd/>
          </a:ln>
        </p:spPr>
        <p:txBody>
          <a:bodyPr vert="horz" wrap="square" lIns="90488" tIns="44450" rIns="90488" bIns="44450" numCol="1" anchor="b" anchorCtr="0" compatLnSpc="1">
            <a:prstTxWarp prst="textNoShape">
              <a:avLst/>
            </a:prstTxWarp>
          </a:bodyPr>
          <a:lstStyle/>
          <a:p>
            <a:pPr lvl="0"/>
            <a:r>
              <a:rPr lang="en-US" smtClean="0"/>
              <a:t>Click to edit Master title style</a:t>
            </a:r>
          </a:p>
        </p:txBody>
      </p:sp>
      <p:pic>
        <p:nvPicPr>
          <p:cNvPr id="3079" name="Picture 9" descr="CU006536.jpg"/>
          <p:cNvPicPr>
            <a:picLocks noChangeAspect="1"/>
          </p:cNvPicPr>
          <p:nvPr userDrawn="1"/>
        </p:nvPicPr>
        <p:blipFill>
          <a:blip r:embed="rId16" cstate="print"/>
          <a:srcRect/>
          <a:stretch>
            <a:fillRect/>
          </a:stretch>
        </p:blipFill>
        <p:spPr bwMode="auto">
          <a:xfrm>
            <a:off x="7291388" y="0"/>
            <a:ext cx="1852612" cy="12398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97"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Lst>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charset="0"/>
        </a:defRPr>
      </a:lvl2pPr>
      <a:lvl3pPr algn="l" rtl="0" eaLnBrk="0" fontAlgn="base" hangingPunct="0">
        <a:spcBef>
          <a:spcPct val="0"/>
        </a:spcBef>
        <a:spcAft>
          <a:spcPct val="0"/>
        </a:spcAft>
        <a:defRPr sz="3200" b="1">
          <a:solidFill>
            <a:schemeClr val="bg1"/>
          </a:solidFill>
          <a:latin typeface="Arial" charset="0"/>
        </a:defRPr>
      </a:lvl3pPr>
      <a:lvl4pPr algn="l" rtl="0" eaLnBrk="0" fontAlgn="base" hangingPunct="0">
        <a:spcBef>
          <a:spcPct val="0"/>
        </a:spcBef>
        <a:spcAft>
          <a:spcPct val="0"/>
        </a:spcAft>
        <a:defRPr sz="3200" b="1">
          <a:solidFill>
            <a:schemeClr val="bg1"/>
          </a:solidFill>
          <a:latin typeface="Arial" charset="0"/>
        </a:defRPr>
      </a:lvl4pPr>
      <a:lvl5pPr algn="l" rtl="0" eaLnBrk="0" fontAlgn="base" hangingPunct="0">
        <a:spcBef>
          <a:spcPct val="0"/>
        </a:spcBef>
        <a:spcAft>
          <a:spcPct val="0"/>
        </a:spcAft>
        <a:defRPr sz="3200" b="1">
          <a:solidFill>
            <a:schemeClr val="bg1"/>
          </a:solidFill>
          <a:latin typeface="Arial" charset="0"/>
        </a:defRPr>
      </a:lvl5pPr>
      <a:lvl6pPr marL="457200" algn="l" rtl="0" eaLnBrk="0" fontAlgn="base" hangingPunct="0">
        <a:spcBef>
          <a:spcPct val="0"/>
        </a:spcBef>
        <a:spcAft>
          <a:spcPct val="0"/>
        </a:spcAft>
        <a:defRPr sz="3200" b="1">
          <a:solidFill>
            <a:schemeClr val="bg1"/>
          </a:solidFill>
          <a:latin typeface="Arial" charset="0"/>
        </a:defRPr>
      </a:lvl6pPr>
      <a:lvl7pPr marL="914400" algn="l" rtl="0" eaLnBrk="0" fontAlgn="base" hangingPunct="0">
        <a:spcBef>
          <a:spcPct val="0"/>
        </a:spcBef>
        <a:spcAft>
          <a:spcPct val="0"/>
        </a:spcAft>
        <a:defRPr sz="3200" b="1">
          <a:solidFill>
            <a:schemeClr val="bg1"/>
          </a:solidFill>
          <a:latin typeface="Arial" charset="0"/>
        </a:defRPr>
      </a:lvl7pPr>
      <a:lvl8pPr marL="1371600" algn="l" rtl="0" eaLnBrk="0" fontAlgn="base" hangingPunct="0">
        <a:spcBef>
          <a:spcPct val="0"/>
        </a:spcBef>
        <a:spcAft>
          <a:spcPct val="0"/>
        </a:spcAft>
        <a:defRPr sz="3200" b="1">
          <a:solidFill>
            <a:schemeClr val="bg1"/>
          </a:solidFill>
          <a:latin typeface="Arial" charset="0"/>
        </a:defRPr>
      </a:lvl8pPr>
      <a:lvl9pPr marL="1828800" algn="l" rtl="0" eaLnBrk="0" fontAlgn="base" hangingPunct="0">
        <a:spcBef>
          <a:spcPct val="0"/>
        </a:spcBef>
        <a:spcAft>
          <a:spcPct val="0"/>
        </a:spcAft>
        <a:defRPr sz="3200" b="1">
          <a:solidFill>
            <a:schemeClr val="bg1"/>
          </a:solidFill>
          <a:latin typeface="Arial" charset="0"/>
        </a:defRPr>
      </a:lvl9pPr>
    </p:titleStyle>
    <p:bodyStyle>
      <a:lvl1pPr marL="176213" indent="-176213" algn="l" rtl="0" eaLnBrk="0" fontAlgn="base" hangingPunct="0">
        <a:spcBef>
          <a:spcPct val="20000"/>
        </a:spcBef>
        <a:spcAft>
          <a:spcPct val="0"/>
        </a:spcAft>
        <a:buClr>
          <a:schemeClr val="tx1"/>
        </a:buClr>
        <a:buChar char="•"/>
        <a:defRPr sz="2800">
          <a:solidFill>
            <a:schemeClr val="tx1"/>
          </a:solidFill>
          <a:latin typeface="+mn-lt"/>
          <a:ea typeface="+mn-ea"/>
          <a:cs typeface="+mn-cs"/>
        </a:defRPr>
      </a:lvl1pPr>
      <a:lvl2pPr marL="576263" indent="-285750" algn="l" rtl="0" eaLnBrk="0" fontAlgn="base" hangingPunct="0">
        <a:spcBef>
          <a:spcPct val="20000"/>
        </a:spcBef>
        <a:spcAft>
          <a:spcPct val="0"/>
        </a:spcAft>
        <a:buClr>
          <a:schemeClr val="tx1"/>
        </a:buClr>
        <a:buChar char="–"/>
        <a:defRPr sz="2600">
          <a:solidFill>
            <a:schemeClr val="tx1"/>
          </a:solidFill>
          <a:latin typeface="+mn-lt"/>
        </a:defRPr>
      </a:lvl2pPr>
      <a:lvl3pPr marL="858838" indent="-168275" algn="l" rtl="0" eaLnBrk="0" fontAlgn="base" hangingPunct="0">
        <a:spcBef>
          <a:spcPct val="20000"/>
        </a:spcBef>
        <a:spcAft>
          <a:spcPct val="0"/>
        </a:spcAft>
        <a:buClr>
          <a:schemeClr val="tx1"/>
        </a:buClr>
        <a:buChar char="•"/>
        <a:defRPr sz="2200">
          <a:solidFill>
            <a:schemeClr val="tx1"/>
          </a:solidFill>
          <a:latin typeface="+mn-lt"/>
        </a:defRPr>
      </a:lvl3pPr>
      <a:lvl4pPr marL="1200150" indent="-227013" algn="l" rtl="0" eaLnBrk="0" fontAlgn="base" hangingPunct="0">
        <a:spcBef>
          <a:spcPct val="20000"/>
        </a:spcBef>
        <a:spcAft>
          <a:spcPct val="0"/>
        </a:spcAft>
        <a:buClr>
          <a:schemeClr val="tx1"/>
        </a:buClr>
        <a:buChar char="–"/>
        <a:defRPr sz="2000">
          <a:solidFill>
            <a:schemeClr val="tx1"/>
          </a:solidFill>
          <a:latin typeface="+mn-lt"/>
        </a:defRPr>
      </a:lvl4pPr>
      <a:lvl5pPr marL="1481138" indent="-166688" algn="l" rtl="0" eaLnBrk="0" fontAlgn="base" hangingPunct="0">
        <a:spcBef>
          <a:spcPct val="20000"/>
        </a:spcBef>
        <a:spcAft>
          <a:spcPct val="0"/>
        </a:spcAft>
        <a:buClr>
          <a:schemeClr val="tx1"/>
        </a:buClr>
        <a:buChar char="•"/>
        <a:defRPr sz="2000">
          <a:solidFill>
            <a:schemeClr val="tx1"/>
          </a:solidFill>
          <a:latin typeface="+mn-lt"/>
        </a:defRPr>
      </a:lvl5pPr>
      <a:lvl6pPr marL="1938338" indent="-166688" algn="l" rtl="0" eaLnBrk="0" fontAlgn="base" hangingPunct="0">
        <a:spcBef>
          <a:spcPct val="20000"/>
        </a:spcBef>
        <a:spcAft>
          <a:spcPct val="0"/>
        </a:spcAft>
        <a:buClr>
          <a:schemeClr val="tx1"/>
        </a:buClr>
        <a:buChar char="•"/>
        <a:defRPr sz="2000">
          <a:solidFill>
            <a:schemeClr val="tx1"/>
          </a:solidFill>
          <a:latin typeface="+mn-lt"/>
        </a:defRPr>
      </a:lvl6pPr>
      <a:lvl7pPr marL="2395538" indent="-166688" algn="l" rtl="0" eaLnBrk="0" fontAlgn="base" hangingPunct="0">
        <a:spcBef>
          <a:spcPct val="20000"/>
        </a:spcBef>
        <a:spcAft>
          <a:spcPct val="0"/>
        </a:spcAft>
        <a:buClr>
          <a:schemeClr val="tx1"/>
        </a:buClr>
        <a:buChar char="•"/>
        <a:defRPr sz="2000">
          <a:solidFill>
            <a:schemeClr val="tx1"/>
          </a:solidFill>
          <a:latin typeface="+mn-lt"/>
        </a:defRPr>
      </a:lvl7pPr>
      <a:lvl8pPr marL="2852738" indent="-166688" algn="l" rtl="0" eaLnBrk="0" fontAlgn="base" hangingPunct="0">
        <a:spcBef>
          <a:spcPct val="20000"/>
        </a:spcBef>
        <a:spcAft>
          <a:spcPct val="0"/>
        </a:spcAft>
        <a:buClr>
          <a:schemeClr val="tx1"/>
        </a:buClr>
        <a:buChar char="•"/>
        <a:defRPr sz="2000">
          <a:solidFill>
            <a:schemeClr val="tx1"/>
          </a:solidFill>
          <a:latin typeface="+mn-lt"/>
        </a:defRPr>
      </a:lvl8pPr>
      <a:lvl9pPr marL="3309938" indent="-166688" algn="l" rtl="0" eaLnBrk="0" fontAlgn="base" hangingPunct="0">
        <a:spcBef>
          <a:spcPct val="20000"/>
        </a:spcBef>
        <a:spcAft>
          <a:spcPct val="0"/>
        </a:spcAft>
        <a:buClr>
          <a:schemeClr val="tx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gif"/><Relationship Id="rId4" Type="http://schemas.openxmlformats.org/officeDocument/2006/relationships/image" Target="../media/image5.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2" Type="http://schemas.openxmlformats.org/officeDocument/2006/relationships/hyperlink" Target="http://www.michigan.gov/documents/snyder/ED_2012-1_373029_7.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legislature.state.oh.us/BillText129/129_HB_371_EN_N.pd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njleg.state.nj.us/2010/Bills/S3000/2794_I1.HT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senate.leg.state.mn.us/departments/scr/billsumm/summary_display_from_db.php?ls=87&amp;id=491"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revisor.mn.gov/bin/bldbill.php?bill=S0489.0.html&amp;session=ls87"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4"/>
          <p:cNvSpPr>
            <a:spLocks noGrp="1" noChangeArrowheads="1"/>
          </p:cNvSpPr>
          <p:nvPr>
            <p:ph type="subTitle" idx="1"/>
          </p:nvPr>
        </p:nvSpPr>
        <p:spPr>
          <a:xfrm>
            <a:off x="3365500" y="6096530"/>
            <a:ext cx="2620433" cy="514350"/>
          </a:xfrm>
          <a:ln w="12700"/>
        </p:spPr>
        <p:txBody>
          <a:bodyPr/>
          <a:lstStyle/>
          <a:p>
            <a:r>
              <a:rPr lang="en-US" dirty="0" smtClean="0"/>
              <a:t>January 25, 2012</a:t>
            </a:r>
          </a:p>
        </p:txBody>
      </p:sp>
      <p:sp>
        <p:nvSpPr>
          <p:cNvPr id="5123" name="Rectangle 15"/>
          <p:cNvSpPr>
            <a:spLocks noGrp="1" noChangeArrowheads="1"/>
          </p:cNvSpPr>
          <p:nvPr>
            <p:ph type="ctrTitle"/>
          </p:nvPr>
        </p:nvSpPr>
        <p:spPr>
          <a:xfrm>
            <a:off x="1097491" y="4658782"/>
            <a:ext cx="7891463" cy="1512888"/>
          </a:xfrm>
          <a:ln w="12700"/>
        </p:spPr>
        <p:txBody>
          <a:bodyPr/>
          <a:lstStyle/>
          <a:p>
            <a:r>
              <a:rPr lang="en-US" dirty="0" smtClean="0"/>
              <a:t>Cross-Jurisdiction Collaboration </a:t>
            </a:r>
            <a:br>
              <a:rPr lang="en-US" dirty="0" smtClean="0"/>
            </a:br>
            <a:r>
              <a:rPr lang="en-US" dirty="0" smtClean="0"/>
              <a:t>Break-Out Session</a:t>
            </a:r>
            <a:br>
              <a:rPr lang="en-US" dirty="0" smtClean="0"/>
            </a:b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a:xfrm>
            <a:off x="142505" y="1565275"/>
            <a:ext cx="9001496" cy="4759325"/>
          </a:xfrm>
        </p:spPr>
        <p:txBody>
          <a:bodyPr/>
          <a:lstStyle/>
          <a:p>
            <a:pPr marL="403225" indent="-403225"/>
            <a:r>
              <a:rPr lang="en-US" dirty="0" smtClean="0"/>
              <a:t>Introductions</a:t>
            </a:r>
          </a:p>
          <a:p>
            <a:pPr marL="403225" indent="-403225"/>
            <a:r>
              <a:rPr lang="en-US" dirty="0" smtClean="0"/>
              <a:t>What is Cross-Jurisdiction Collaboration?</a:t>
            </a:r>
          </a:p>
          <a:p>
            <a:pPr marL="403225" indent="-403225"/>
            <a:r>
              <a:rPr lang="en-US" dirty="0" smtClean="0"/>
              <a:t>What are some examples?</a:t>
            </a:r>
          </a:p>
          <a:p>
            <a:pPr marL="403225" indent="-403225"/>
            <a:r>
              <a:rPr lang="en-US" dirty="0" smtClean="0"/>
              <a:t>What have other states done legislatively?</a:t>
            </a:r>
          </a:p>
          <a:p>
            <a:pPr marL="403225" indent="-403225"/>
            <a:r>
              <a:rPr lang="en-US" dirty="0" smtClean="0"/>
              <a:t>What has Minnesota done to-date?</a:t>
            </a:r>
          </a:p>
          <a:p>
            <a:pPr marL="403225" indent="-403225"/>
            <a:r>
              <a:rPr lang="en-US" dirty="0" smtClean="0"/>
              <a:t>What can Minnesota do going forward?</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ACCFB468-5EAA-4B0A-8525-B7359404716B}"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Introductions</a:t>
            </a:r>
            <a:endParaRPr lang="en-US" dirty="0"/>
          </a:p>
        </p:txBody>
      </p:sp>
      <p:sp>
        <p:nvSpPr>
          <p:cNvPr id="90114" name="AutoShape 2" descr="Friedman, Jerr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3</a:t>
            </a:fld>
            <a:endParaRPr lang="en-US" dirty="0"/>
          </a:p>
        </p:txBody>
      </p:sp>
      <p:sp>
        <p:nvSpPr>
          <p:cNvPr id="90116" name="AutoShape 4" descr="Friedman, Jerr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9" name="TextBox 18"/>
          <p:cNvSpPr txBox="1"/>
          <p:nvPr/>
        </p:nvSpPr>
        <p:spPr>
          <a:xfrm>
            <a:off x="3174691" y="4661236"/>
            <a:ext cx="6332135" cy="1274195"/>
          </a:xfrm>
          <a:prstGeom prst="rect">
            <a:avLst/>
          </a:prstGeom>
          <a:noFill/>
        </p:spPr>
        <p:txBody>
          <a:bodyPr wrap="square" rtlCol="0">
            <a:spAutoFit/>
          </a:bodyPr>
          <a:lstStyle/>
          <a:p>
            <a:r>
              <a:rPr lang="en-US" sz="2400" dirty="0" smtClean="0"/>
              <a:t>Antonio </a:t>
            </a:r>
            <a:r>
              <a:rPr lang="en-US" sz="2400" dirty="0" err="1" smtClean="0"/>
              <a:t>Oftelie</a:t>
            </a:r>
            <a:endParaRPr lang="en-US" sz="2400" dirty="0" smtClean="0"/>
          </a:p>
          <a:p>
            <a:r>
              <a:rPr lang="en-US" sz="1800" b="0" i="1" dirty="0" smtClean="0"/>
              <a:t>Executive Director, Leadership for a Networked World</a:t>
            </a:r>
          </a:p>
          <a:p>
            <a:r>
              <a:rPr lang="en-US" sz="1800" b="0" i="1" dirty="0" smtClean="0"/>
              <a:t>Fellow, Technology &amp; Entrepreneurship Center </a:t>
            </a:r>
          </a:p>
          <a:p>
            <a:r>
              <a:rPr lang="en-US" sz="1800" b="0" i="1" dirty="0" smtClean="0"/>
              <a:t>Harvard</a:t>
            </a:r>
          </a:p>
          <a:p>
            <a:r>
              <a:rPr lang="en-US" sz="1800" b="0" dirty="0" smtClean="0"/>
              <a:t>antonio.oftelie@post.harvard.edu</a:t>
            </a:r>
            <a:endParaRPr lang="en-US" sz="1800" b="0" dirty="0"/>
          </a:p>
        </p:txBody>
      </p:sp>
      <p:sp>
        <p:nvSpPr>
          <p:cNvPr id="10" name="TextBox 9"/>
          <p:cNvSpPr txBox="1"/>
          <p:nvPr/>
        </p:nvSpPr>
        <p:spPr>
          <a:xfrm>
            <a:off x="1271462" y="1890702"/>
            <a:ext cx="8229600" cy="3637919"/>
          </a:xfrm>
          <a:prstGeom prst="rect">
            <a:avLst/>
          </a:prstGeom>
          <a:noFill/>
        </p:spPr>
        <p:txBody>
          <a:bodyPr wrap="square" numCol="2" spcCol="914400" rtlCol="0">
            <a:spAutoFit/>
          </a:bodyPr>
          <a:lstStyle/>
          <a:p>
            <a:r>
              <a:rPr lang="en-US" sz="2400" dirty="0" smtClean="0"/>
              <a:t>Rep. Carol McFarlane</a:t>
            </a:r>
          </a:p>
          <a:p>
            <a:r>
              <a:rPr lang="en-US" sz="1800" b="0" dirty="0" smtClean="0"/>
              <a:t>District 53B</a:t>
            </a:r>
          </a:p>
          <a:p>
            <a:r>
              <a:rPr lang="en-US" sz="1800" b="0" dirty="0" smtClean="0"/>
              <a:t>rep.carol.mcfarlane@house.mn</a:t>
            </a:r>
            <a:endParaRPr lang="en-US" sz="2400" dirty="0" smtClean="0"/>
          </a:p>
          <a:p>
            <a:endParaRPr lang="en-US" sz="2400" dirty="0" smtClean="0"/>
          </a:p>
          <a:p>
            <a:endParaRPr lang="en-US" sz="2400" dirty="0" smtClean="0"/>
          </a:p>
          <a:p>
            <a:r>
              <a:rPr lang="en-US" sz="2400" dirty="0" smtClean="0"/>
              <a:t>Rep. Denise </a:t>
            </a:r>
            <a:r>
              <a:rPr lang="en-US" sz="2400" dirty="0" err="1" smtClean="0"/>
              <a:t>Dittrich</a:t>
            </a:r>
            <a:endParaRPr lang="en-US" sz="2400" dirty="0" smtClean="0"/>
          </a:p>
          <a:p>
            <a:r>
              <a:rPr lang="en-US" sz="1800" b="0" dirty="0" smtClean="0"/>
              <a:t>District 47A</a:t>
            </a:r>
          </a:p>
          <a:p>
            <a:r>
              <a:rPr lang="en-US" sz="1800" b="0" dirty="0" smtClean="0"/>
              <a:t>rep.denise.dittrich@house.mn</a:t>
            </a:r>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Sen. John Carlson</a:t>
            </a:r>
          </a:p>
          <a:p>
            <a:r>
              <a:rPr lang="en-US" sz="1800" b="0" dirty="0" smtClean="0"/>
              <a:t>District 04</a:t>
            </a:r>
          </a:p>
          <a:p>
            <a:r>
              <a:rPr lang="en-US" sz="1800" b="0" dirty="0" smtClean="0"/>
              <a:t>sen.john.carlson@senate.mn</a:t>
            </a:r>
            <a:endParaRPr lang="en-US" sz="2400" dirty="0" smtClean="0"/>
          </a:p>
          <a:p>
            <a:endParaRPr lang="en-US" sz="2400" dirty="0" smtClean="0"/>
          </a:p>
          <a:p>
            <a:endParaRPr lang="en-US" sz="2400" dirty="0" smtClean="0"/>
          </a:p>
          <a:p>
            <a:r>
              <a:rPr lang="en-US" sz="2400" dirty="0" smtClean="0"/>
              <a:t>Sen. Kathy </a:t>
            </a:r>
            <a:r>
              <a:rPr lang="en-US" sz="2400" dirty="0" err="1" smtClean="0"/>
              <a:t>Sheran</a:t>
            </a:r>
            <a:endParaRPr lang="en-US" sz="2400" dirty="0" smtClean="0"/>
          </a:p>
          <a:p>
            <a:r>
              <a:rPr lang="en-US" sz="1800" b="0" dirty="0" smtClean="0"/>
              <a:t>District 23</a:t>
            </a:r>
          </a:p>
          <a:p>
            <a:r>
              <a:rPr lang="en-US" sz="1800" b="0" dirty="0" smtClean="0"/>
              <a:t>sen.kathy.sheran@senate.mn</a:t>
            </a:r>
          </a:p>
        </p:txBody>
      </p:sp>
      <p:pic>
        <p:nvPicPr>
          <p:cNvPr id="2050" name="Picture 2" descr="Photo of Senator Carlson"/>
          <p:cNvPicPr>
            <a:picLocks noChangeAspect="1" noChangeArrowheads="1"/>
          </p:cNvPicPr>
          <p:nvPr/>
        </p:nvPicPr>
        <p:blipFill>
          <a:blip r:embed="rId3" cstate="print"/>
          <a:srcRect/>
          <a:stretch>
            <a:fillRect/>
          </a:stretch>
        </p:blipFill>
        <p:spPr bwMode="auto">
          <a:xfrm>
            <a:off x="4754880" y="1764792"/>
            <a:ext cx="919194" cy="1133856"/>
          </a:xfrm>
          <a:prstGeom prst="rect">
            <a:avLst/>
          </a:prstGeom>
          <a:noFill/>
        </p:spPr>
      </p:pic>
      <p:pic>
        <p:nvPicPr>
          <p:cNvPr id="2054" name="Picture 6" descr="Representative Carol McFarlane"/>
          <p:cNvPicPr>
            <a:picLocks noChangeAspect="1" noChangeArrowheads="1"/>
          </p:cNvPicPr>
          <p:nvPr/>
        </p:nvPicPr>
        <p:blipFill>
          <a:blip r:embed="rId4" cstate="print"/>
          <a:srcRect/>
          <a:stretch>
            <a:fillRect/>
          </a:stretch>
        </p:blipFill>
        <p:spPr bwMode="auto">
          <a:xfrm>
            <a:off x="210312" y="1764792"/>
            <a:ext cx="881887" cy="1133856"/>
          </a:xfrm>
          <a:prstGeom prst="rect">
            <a:avLst/>
          </a:prstGeom>
          <a:noFill/>
        </p:spPr>
      </p:pic>
      <p:pic>
        <p:nvPicPr>
          <p:cNvPr id="2056" name="Picture 8" descr="Representative Denise Dittrich"/>
          <p:cNvPicPr>
            <a:picLocks noChangeAspect="1" noChangeArrowheads="1"/>
          </p:cNvPicPr>
          <p:nvPr/>
        </p:nvPicPr>
        <p:blipFill>
          <a:blip r:embed="rId5" cstate="print"/>
          <a:srcRect/>
          <a:stretch>
            <a:fillRect/>
          </a:stretch>
        </p:blipFill>
        <p:spPr bwMode="auto">
          <a:xfrm>
            <a:off x="210312" y="3017520"/>
            <a:ext cx="881887" cy="1133856"/>
          </a:xfrm>
          <a:prstGeom prst="rect">
            <a:avLst/>
          </a:prstGeom>
          <a:noFill/>
        </p:spPr>
      </p:pic>
      <p:pic>
        <p:nvPicPr>
          <p:cNvPr id="2058" name="Picture 10" descr="Antonio Oftelie"/>
          <p:cNvPicPr>
            <a:picLocks noChangeAspect="1" noChangeArrowheads="1"/>
          </p:cNvPicPr>
          <p:nvPr/>
        </p:nvPicPr>
        <p:blipFill>
          <a:blip r:embed="rId6" cstate="print"/>
          <a:srcRect/>
          <a:stretch>
            <a:fillRect/>
          </a:stretch>
        </p:blipFill>
        <p:spPr bwMode="auto">
          <a:xfrm>
            <a:off x="1992960" y="4599432"/>
            <a:ext cx="1133856" cy="1133856"/>
          </a:xfrm>
          <a:prstGeom prst="rect">
            <a:avLst/>
          </a:prstGeom>
          <a:noFill/>
        </p:spPr>
      </p:pic>
      <p:pic>
        <p:nvPicPr>
          <p:cNvPr id="2060" name="Picture 12" descr="Photo of Senator Sheran"/>
          <p:cNvPicPr>
            <a:picLocks noChangeAspect="1" noChangeArrowheads="1"/>
          </p:cNvPicPr>
          <p:nvPr/>
        </p:nvPicPr>
        <p:blipFill>
          <a:blip r:embed="rId7" cstate="print"/>
          <a:srcRect/>
          <a:stretch>
            <a:fillRect/>
          </a:stretch>
        </p:blipFill>
        <p:spPr bwMode="auto">
          <a:xfrm>
            <a:off x="4754880" y="3017520"/>
            <a:ext cx="914400" cy="1127943"/>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457200" y="2209800"/>
            <a:ext cx="8229600" cy="3733800"/>
          </a:xfrm>
          <a:prstGeom prst="rect">
            <a:avLst/>
          </a:prstGeom>
        </p:spPr>
        <p:txBody>
          <a:bodyPr/>
          <a:lstStyle/>
          <a:p>
            <a:pPr>
              <a:spcBef>
                <a:spcPct val="20000"/>
              </a:spcBef>
              <a:defRPr/>
            </a:pPr>
            <a:endParaRPr lang="en-US" sz="2000" dirty="0">
              <a:latin typeface="+mn-lt"/>
              <a:ea typeface="+mn-ea"/>
            </a:endParaRPr>
          </a:p>
        </p:txBody>
      </p:sp>
      <p:sp>
        <p:nvSpPr>
          <p:cNvPr id="6" name="Content Placeholder 2"/>
          <p:cNvSpPr txBox="1">
            <a:spLocks/>
          </p:cNvSpPr>
          <p:nvPr/>
        </p:nvSpPr>
        <p:spPr>
          <a:xfrm>
            <a:off x="533400" y="2209800"/>
            <a:ext cx="8229600" cy="3733800"/>
          </a:xfrm>
          <a:prstGeom prst="rect">
            <a:avLst/>
          </a:prstGeom>
        </p:spPr>
        <p:txBody>
          <a:bodyPr/>
          <a:lstStyle/>
          <a:p>
            <a:pPr eaLnBrk="1" fontAlgn="auto" hangingPunct="1">
              <a:spcBef>
                <a:spcPct val="20000"/>
              </a:spcBef>
              <a:spcAft>
                <a:spcPts val="0"/>
              </a:spcAft>
              <a:buFont typeface="Arial" pitchFamily="34" charset="0"/>
              <a:buNone/>
              <a:defRPr/>
            </a:pPr>
            <a:endParaRPr lang="en-US" sz="1100" dirty="0">
              <a:latin typeface="+mn-lt"/>
              <a:ea typeface="+mn-ea"/>
            </a:endParaRPr>
          </a:p>
        </p:txBody>
      </p:sp>
      <p:sp>
        <p:nvSpPr>
          <p:cNvPr id="10244" name="AutoShape 11"/>
          <p:cNvSpPr>
            <a:spLocks noChangeAspect="1" noChangeArrowheads="1"/>
          </p:cNvSpPr>
          <p:nvPr/>
        </p:nvSpPr>
        <p:spPr bwMode="auto">
          <a:xfrm rot="5400000" flipH="1">
            <a:off x="4143375" y="4440238"/>
            <a:ext cx="873125" cy="2565400"/>
          </a:xfrm>
          <a:prstGeom prst="homePlate">
            <a:avLst>
              <a:gd name="adj" fmla="val 25000"/>
            </a:avLst>
          </a:prstGeom>
          <a:solidFill>
            <a:schemeClr val="accent1"/>
          </a:solidFill>
          <a:ln w="6350">
            <a:solidFill>
              <a:schemeClr val="accent1"/>
            </a:solidFill>
            <a:miter lim="800000"/>
            <a:headEnd/>
            <a:tailEnd/>
          </a:ln>
        </p:spPr>
        <p:txBody>
          <a:bodyPr rot="10800000" vert="eaVert" lIns="45720" rIns="45720" anchor="ctr" anchorCtr="1"/>
          <a:lstStyle/>
          <a:p>
            <a:pPr marL="114300" indent="-114300">
              <a:spcBef>
                <a:spcPct val="30000"/>
              </a:spcBef>
              <a:buClr>
                <a:schemeClr val="folHlink"/>
              </a:buClr>
            </a:pPr>
            <a:endParaRPr lang="en-US" sz="1800">
              <a:solidFill>
                <a:schemeClr val="bg1"/>
              </a:solidFill>
            </a:endParaRPr>
          </a:p>
        </p:txBody>
      </p:sp>
      <p:sp>
        <p:nvSpPr>
          <p:cNvPr id="10245" name="AutoShape 12"/>
          <p:cNvSpPr>
            <a:spLocks noChangeAspect="1" noChangeArrowheads="1"/>
          </p:cNvSpPr>
          <p:nvPr/>
        </p:nvSpPr>
        <p:spPr bwMode="auto">
          <a:xfrm rot="-5400000" flipH="1" flipV="1">
            <a:off x="4143375" y="1657351"/>
            <a:ext cx="873125" cy="2565400"/>
          </a:xfrm>
          <a:prstGeom prst="homePlate">
            <a:avLst>
              <a:gd name="adj" fmla="val 25000"/>
            </a:avLst>
          </a:prstGeom>
          <a:solidFill>
            <a:schemeClr val="accent1"/>
          </a:solidFill>
          <a:ln w="6350">
            <a:solidFill>
              <a:schemeClr val="accent1"/>
            </a:solidFill>
            <a:miter lim="800000"/>
            <a:headEnd/>
            <a:tailEnd/>
          </a:ln>
        </p:spPr>
        <p:txBody>
          <a:bodyPr rot="10800000" vert="eaVert" lIns="45720" rIns="45720" anchor="ctr" anchorCtr="1"/>
          <a:lstStyle/>
          <a:p>
            <a:pPr marL="114300" indent="-114300" algn="ctr">
              <a:spcBef>
                <a:spcPct val="30000"/>
              </a:spcBef>
              <a:buClr>
                <a:schemeClr val="folHlink"/>
              </a:buClr>
            </a:pPr>
            <a:r>
              <a:rPr lang="en-US" sz="2000" dirty="0">
                <a:solidFill>
                  <a:schemeClr val="bg1"/>
                </a:solidFill>
              </a:rPr>
              <a:t>Falling Revenues</a:t>
            </a:r>
          </a:p>
        </p:txBody>
      </p:sp>
      <p:sp>
        <p:nvSpPr>
          <p:cNvPr id="10246" name="AutoShape 14"/>
          <p:cNvSpPr>
            <a:spLocks noChangeAspect="1" noChangeArrowheads="1"/>
          </p:cNvSpPr>
          <p:nvPr/>
        </p:nvSpPr>
        <p:spPr bwMode="auto">
          <a:xfrm>
            <a:off x="836613" y="3749675"/>
            <a:ext cx="2009775" cy="1117600"/>
          </a:xfrm>
          <a:prstGeom prst="homePlate">
            <a:avLst>
              <a:gd name="adj" fmla="val 12663"/>
            </a:avLst>
          </a:prstGeom>
          <a:solidFill>
            <a:schemeClr val="accent1"/>
          </a:solidFill>
          <a:ln w="6350">
            <a:solidFill>
              <a:schemeClr val="accent1"/>
            </a:solidFill>
            <a:miter lim="800000"/>
            <a:headEnd/>
            <a:tailEnd/>
          </a:ln>
        </p:spPr>
        <p:txBody>
          <a:bodyPr lIns="45720" rIns="45720" anchor="ctr" anchorCtr="1"/>
          <a:lstStyle/>
          <a:p>
            <a:pPr>
              <a:spcBef>
                <a:spcPct val="30000"/>
              </a:spcBef>
              <a:buClr>
                <a:schemeClr val="folHlink"/>
              </a:buClr>
            </a:pPr>
            <a:r>
              <a:rPr lang="en-US" sz="2000" dirty="0">
                <a:solidFill>
                  <a:schemeClr val="bg1"/>
                </a:solidFill>
              </a:rPr>
              <a:t>Budget </a:t>
            </a:r>
            <a:r>
              <a:rPr lang="en-US" sz="1800" dirty="0">
                <a:solidFill>
                  <a:schemeClr val="bg1"/>
                </a:solidFill>
              </a:rPr>
              <a:t>Shortfalls</a:t>
            </a:r>
          </a:p>
          <a:p>
            <a:pPr>
              <a:spcBef>
                <a:spcPct val="30000"/>
              </a:spcBef>
              <a:buClr>
                <a:schemeClr val="folHlink"/>
              </a:buClr>
            </a:pPr>
            <a:r>
              <a:rPr lang="en-US" sz="1800" dirty="0">
                <a:solidFill>
                  <a:schemeClr val="bg1"/>
                </a:solidFill>
              </a:rPr>
              <a:t>Reduced </a:t>
            </a:r>
            <a:r>
              <a:rPr lang="en-US" sz="1800" dirty="0" smtClean="0">
                <a:solidFill>
                  <a:schemeClr val="bg1"/>
                </a:solidFill>
              </a:rPr>
              <a:t>Funding</a:t>
            </a:r>
            <a:endParaRPr lang="en-US" sz="1800" dirty="0">
              <a:solidFill>
                <a:schemeClr val="bg1"/>
              </a:solidFill>
            </a:endParaRPr>
          </a:p>
        </p:txBody>
      </p:sp>
      <p:sp>
        <p:nvSpPr>
          <p:cNvPr id="10247" name="AutoShape 15"/>
          <p:cNvSpPr>
            <a:spLocks noChangeAspect="1" noChangeArrowheads="1"/>
          </p:cNvSpPr>
          <p:nvPr/>
        </p:nvSpPr>
        <p:spPr bwMode="auto">
          <a:xfrm flipH="1">
            <a:off x="6345238" y="3749675"/>
            <a:ext cx="2009775" cy="1117600"/>
          </a:xfrm>
          <a:prstGeom prst="homePlate">
            <a:avLst>
              <a:gd name="adj" fmla="val 12663"/>
            </a:avLst>
          </a:prstGeom>
          <a:solidFill>
            <a:schemeClr val="accent1"/>
          </a:solidFill>
          <a:ln w="6350">
            <a:solidFill>
              <a:schemeClr val="accent1"/>
            </a:solidFill>
            <a:miter lim="800000"/>
            <a:headEnd/>
            <a:tailEnd/>
          </a:ln>
        </p:spPr>
        <p:txBody>
          <a:bodyPr lIns="45720" rIns="45720" anchor="ctr" anchorCtr="1"/>
          <a:lstStyle/>
          <a:p>
            <a:pPr algn="ctr">
              <a:spcBef>
                <a:spcPct val="30000"/>
              </a:spcBef>
              <a:buClr>
                <a:schemeClr val="folHlink"/>
              </a:buClr>
            </a:pPr>
            <a:r>
              <a:rPr lang="en-US" sz="2000" dirty="0">
                <a:solidFill>
                  <a:schemeClr val="bg1"/>
                </a:solidFill>
              </a:rPr>
              <a:t>Major Demographic  Shifts</a:t>
            </a:r>
          </a:p>
        </p:txBody>
      </p:sp>
      <p:sp>
        <p:nvSpPr>
          <p:cNvPr id="10248" name="Rectangle 5"/>
          <p:cNvSpPr>
            <a:spLocks noChangeArrowheads="1"/>
          </p:cNvSpPr>
          <p:nvPr/>
        </p:nvSpPr>
        <p:spPr bwMode="gray">
          <a:xfrm>
            <a:off x="1233488" y="1646238"/>
            <a:ext cx="6705600" cy="457200"/>
          </a:xfrm>
          <a:prstGeom prst="rect">
            <a:avLst/>
          </a:prstGeom>
          <a:noFill/>
          <a:ln w="12700">
            <a:noFill/>
            <a:miter lim="800000"/>
            <a:headEnd/>
            <a:tailEnd/>
          </a:ln>
        </p:spPr>
        <p:txBody>
          <a:bodyPr lIns="90488" tIns="44450" rIns="90488" bIns="44450"/>
          <a:lstStyle/>
          <a:p>
            <a:pPr algn="ctr">
              <a:spcBef>
                <a:spcPct val="15000"/>
              </a:spcBef>
              <a:spcAft>
                <a:spcPct val="60000"/>
              </a:spcAft>
              <a:buClr>
                <a:schemeClr val="tx1"/>
              </a:buClr>
            </a:pPr>
            <a:r>
              <a:rPr lang="en-US" sz="1800" b="1"/>
              <a:t>Unprecedented pressure on the Public Sector: These factors converge to create an imperative to restructure</a:t>
            </a:r>
          </a:p>
        </p:txBody>
      </p:sp>
      <p:grpSp>
        <p:nvGrpSpPr>
          <p:cNvPr id="2" name="Group 15"/>
          <p:cNvGrpSpPr>
            <a:grpSpLocks/>
          </p:cNvGrpSpPr>
          <p:nvPr/>
        </p:nvGrpSpPr>
        <p:grpSpPr bwMode="auto">
          <a:xfrm>
            <a:off x="3120572" y="3505200"/>
            <a:ext cx="2960914" cy="1704656"/>
            <a:chOff x="3290790" y="3451412"/>
            <a:chExt cx="2565400" cy="1704175"/>
          </a:xfrm>
          <a:solidFill>
            <a:srgbClr val="6688BB"/>
          </a:solidFill>
        </p:grpSpPr>
        <p:sp>
          <p:nvSpPr>
            <p:cNvPr id="13" name="Rectangle 13"/>
            <p:cNvSpPr>
              <a:spLocks noChangeAspect="1" noChangeArrowheads="1"/>
            </p:cNvSpPr>
            <p:nvPr/>
          </p:nvSpPr>
          <p:spPr bwMode="auto">
            <a:xfrm>
              <a:off x="3290790" y="3451412"/>
              <a:ext cx="2554287" cy="1661417"/>
            </a:xfrm>
            <a:prstGeom prst="rect">
              <a:avLst/>
            </a:prstGeom>
            <a:grpFill/>
            <a:ln w="6350">
              <a:noFill/>
              <a:miter lim="800000"/>
              <a:headEnd/>
              <a:tailEnd/>
            </a:ln>
          </p:spPr>
          <p:txBody>
            <a:bodyPr lIns="45720" rIns="45720" anchor="ctr"/>
            <a:lstStyle/>
            <a:p>
              <a:pPr marL="406400" lvl="1" indent="-177800" algn="ctr">
                <a:spcBef>
                  <a:spcPct val="30000"/>
                </a:spcBef>
                <a:buClr>
                  <a:schemeClr val="folHlink"/>
                </a:buClr>
                <a:defRPr/>
              </a:pPr>
              <a:r>
                <a:rPr lang="en-US" sz="2000" b="1" dirty="0">
                  <a:solidFill>
                    <a:schemeClr val="bg1"/>
                  </a:solidFill>
                </a:rPr>
                <a:t>Capacity Imperative</a:t>
              </a:r>
            </a:p>
          </p:txBody>
        </p:sp>
        <p:sp>
          <p:nvSpPr>
            <p:cNvPr id="14" name="Rectangle 13"/>
            <p:cNvSpPr>
              <a:spLocks noChangeAspect="1" noChangeArrowheads="1"/>
            </p:cNvSpPr>
            <p:nvPr/>
          </p:nvSpPr>
          <p:spPr bwMode="auto">
            <a:xfrm flipV="1">
              <a:off x="3290790" y="5109881"/>
              <a:ext cx="2565400" cy="45706"/>
            </a:xfrm>
            <a:prstGeom prst="rect">
              <a:avLst/>
            </a:prstGeom>
            <a:grpFill/>
            <a:ln w="6350">
              <a:noFill/>
              <a:miter lim="800000"/>
              <a:headEnd/>
              <a:tailEnd/>
            </a:ln>
          </p:spPr>
          <p:txBody>
            <a:bodyPr lIns="45720" rIns="45720" anchor="ctr"/>
            <a:lstStyle/>
            <a:p>
              <a:pPr marL="406400" lvl="1" indent="-177800">
                <a:spcBef>
                  <a:spcPct val="30000"/>
                </a:spcBef>
                <a:buClr>
                  <a:schemeClr val="folHlink"/>
                </a:buClr>
                <a:defRPr/>
              </a:pPr>
              <a:r>
                <a:rPr lang="en-US" dirty="0">
                  <a:solidFill>
                    <a:schemeClr val="bg1"/>
                  </a:solidFill>
                </a:rPr>
                <a:t>…</a:t>
              </a:r>
            </a:p>
          </p:txBody>
        </p:sp>
      </p:grpSp>
      <p:sp>
        <p:nvSpPr>
          <p:cNvPr id="10250" name="TextBox 14"/>
          <p:cNvSpPr txBox="1">
            <a:spLocks noChangeArrowheads="1"/>
          </p:cNvSpPr>
          <p:nvPr/>
        </p:nvSpPr>
        <p:spPr bwMode="auto">
          <a:xfrm>
            <a:off x="3346450" y="5640388"/>
            <a:ext cx="2673350" cy="584775"/>
          </a:xfrm>
          <a:prstGeom prst="rect">
            <a:avLst/>
          </a:prstGeom>
          <a:noFill/>
          <a:ln w="9525">
            <a:noFill/>
            <a:miter lim="800000"/>
            <a:headEnd/>
            <a:tailEnd/>
          </a:ln>
        </p:spPr>
        <p:txBody>
          <a:bodyPr>
            <a:spAutoFit/>
          </a:bodyPr>
          <a:lstStyle/>
          <a:p>
            <a:pPr algn="ctr"/>
            <a:r>
              <a:rPr lang="en-US" sz="2000" dirty="0">
                <a:solidFill>
                  <a:srgbClr val="FFFFFF"/>
                </a:solidFill>
              </a:rPr>
              <a:t>Rising Citizen Demands</a:t>
            </a:r>
          </a:p>
        </p:txBody>
      </p:sp>
      <p:sp>
        <p:nvSpPr>
          <p:cNvPr id="16" name="Title 15"/>
          <p:cNvSpPr>
            <a:spLocks noGrp="1"/>
          </p:cNvSpPr>
          <p:nvPr>
            <p:ph type="title"/>
          </p:nvPr>
        </p:nvSpPr>
        <p:spPr>
          <a:xfrm>
            <a:off x="231775" y="236538"/>
            <a:ext cx="8528050" cy="996950"/>
          </a:xfrm>
        </p:spPr>
        <p:txBody>
          <a:bodyPr>
            <a:normAutofit/>
          </a:bodyPr>
          <a:lstStyle/>
          <a:p>
            <a:pPr eaLnBrk="1" fontAlgn="auto" hangingPunct="1">
              <a:spcAft>
                <a:spcPts val="0"/>
              </a:spcAft>
              <a:defRPr/>
            </a:pPr>
            <a:r>
              <a:rPr lang="en-US" sz="2400" dirty="0" smtClean="0"/>
              <a:t>Minnesota’s Public Service Organizations:</a:t>
            </a:r>
            <a:br>
              <a:rPr lang="en-US" sz="2400" dirty="0" smtClean="0"/>
            </a:br>
            <a:r>
              <a:rPr lang="en-US" sz="2400" dirty="0" smtClean="0"/>
              <a:t>The “New Normal”</a:t>
            </a:r>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6553200" y="6356350"/>
            <a:ext cx="2133600" cy="365125"/>
          </a:xfrm>
          <a:prstGeom prst="rect">
            <a:avLst/>
          </a:prstGeom>
        </p:spPr>
        <p:txBody>
          <a:bodyPr/>
          <a:lstStyle/>
          <a:p>
            <a:fld id="{8A2A4605-0B0C-4E55-A51F-934F6DEC0EC0}" type="slidenum">
              <a:rPr lang="en-US" smtClean="0">
                <a:solidFill>
                  <a:srgbClr val="FFFFFF"/>
                </a:solidFill>
              </a:rPr>
              <a:pPr/>
              <a:t>5</a:t>
            </a:fld>
            <a:endParaRPr lang="en-US" dirty="0">
              <a:solidFill>
                <a:srgbClr val="FFFFFF"/>
              </a:solidFill>
            </a:endParaRPr>
          </a:p>
        </p:txBody>
      </p:sp>
      <p:pic>
        <p:nvPicPr>
          <p:cNvPr id="7" name="Picture 6" descr="silos.jpg"/>
          <p:cNvPicPr>
            <a:picLocks noChangeAspect="1"/>
          </p:cNvPicPr>
          <p:nvPr/>
        </p:nvPicPr>
        <p:blipFill>
          <a:blip r:embed="rId2" cstate="print"/>
          <a:stretch>
            <a:fillRect/>
          </a:stretch>
        </p:blipFill>
        <p:spPr>
          <a:xfrm>
            <a:off x="724249" y="1219200"/>
            <a:ext cx="7525054" cy="5638800"/>
          </a:xfrm>
          <a:prstGeom prst="rect">
            <a:avLst/>
          </a:prstGeom>
        </p:spPr>
      </p:pic>
      <p:sp>
        <p:nvSpPr>
          <p:cNvPr id="8" name="TextBox 7"/>
          <p:cNvSpPr txBox="1"/>
          <p:nvPr/>
        </p:nvSpPr>
        <p:spPr>
          <a:xfrm>
            <a:off x="533400" y="619780"/>
            <a:ext cx="4759636" cy="486287"/>
          </a:xfrm>
          <a:prstGeom prst="rect">
            <a:avLst/>
          </a:prstGeom>
          <a:noFill/>
        </p:spPr>
        <p:txBody>
          <a:bodyPr wrap="none" rtlCol="0">
            <a:spAutoFit/>
          </a:bodyPr>
          <a:lstStyle/>
          <a:p>
            <a:r>
              <a:rPr lang="en-US" dirty="0" smtClean="0">
                <a:solidFill>
                  <a:schemeClr val="bg1"/>
                </a:solidFill>
              </a:rPr>
              <a:t>The Current Landscape</a:t>
            </a:r>
            <a:endParaRPr lang="en-US" dirty="0">
              <a:solidFill>
                <a:schemeClr val="bg1"/>
              </a:solidFill>
            </a:endParaRPr>
          </a:p>
        </p:txBody>
      </p:sp>
      <p:sp>
        <p:nvSpPr>
          <p:cNvPr id="6" name="TextBox 5"/>
          <p:cNvSpPr txBox="1"/>
          <p:nvPr/>
        </p:nvSpPr>
        <p:spPr>
          <a:xfrm>
            <a:off x="906010" y="1979801"/>
            <a:ext cx="2505814" cy="486287"/>
          </a:xfrm>
          <a:prstGeom prst="rect">
            <a:avLst/>
          </a:prstGeom>
        </p:spPr>
        <p:style>
          <a:lnRef idx="0">
            <a:schemeClr val="accent2"/>
          </a:lnRef>
          <a:fillRef idx="3">
            <a:schemeClr val="accent2"/>
          </a:fillRef>
          <a:effectRef idx="3">
            <a:schemeClr val="accent2"/>
          </a:effectRef>
          <a:fontRef idx="minor">
            <a:schemeClr val="lt1"/>
          </a:fontRef>
        </p:style>
        <p:txBody>
          <a:bodyPr wrap="none" rtlCol="0" anchor="ctr">
            <a:spAutoFit/>
          </a:bodyPr>
          <a:lstStyle/>
          <a:p>
            <a:r>
              <a:rPr lang="en-US" dirty="0" smtClean="0"/>
              <a:t>87 Counties</a:t>
            </a:r>
            <a:endParaRPr lang="en-US" dirty="0"/>
          </a:p>
        </p:txBody>
      </p:sp>
      <p:sp>
        <p:nvSpPr>
          <p:cNvPr id="9" name="TextBox 8"/>
          <p:cNvSpPr txBox="1"/>
          <p:nvPr/>
        </p:nvSpPr>
        <p:spPr>
          <a:xfrm>
            <a:off x="2048312" y="2979491"/>
            <a:ext cx="2097049" cy="486287"/>
          </a:xfrm>
          <a:prstGeom prst="rect">
            <a:avLst/>
          </a:prstGeom>
        </p:spPr>
        <p:style>
          <a:lnRef idx="0">
            <a:schemeClr val="accent2"/>
          </a:lnRef>
          <a:fillRef idx="3">
            <a:schemeClr val="accent2"/>
          </a:fillRef>
          <a:effectRef idx="3">
            <a:schemeClr val="accent2"/>
          </a:effectRef>
          <a:fontRef idx="minor">
            <a:schemeClr val="lt1"/>
          </a:fontRef>
        </p:style>
        <p:txBody>
          <a:bodyPr wrap="none" rtlCol="0" anchor="ctr">
            <a:spAutoFit/>
          </a:bodyPr>
          <a:lstStyle/>
          <a:p>
            <a:r>
              <a:rPr lang="en-US" dirty="0" smtClean="0"/>
              <a:t>856 Cities</a:t>
            </a:r>
            <a:endParaRPr lang="en-US" dirty="0"/>
          </a:p>
        </p:txBody>
      </p:sp>
      <p:sp>
        <p:nvSpPr>
          <p:cNvPr id="10" name="TextBox 9"/>
          <p:cNvSpPr txBox="1"/>
          <p:nvPr/>
        </p:nvSpPr>
        <p:spPr>
          <a:xfrm>
            <a:off x="2996268" y="4145560"/>
            <a:ext cx="4100803" cy="486287"/>
          </a:xfrm>
          <a:prstGeom prst="rect">
            <a:avLst/>
          </a:prstGeom>
        </p:spPr>
        <p:style>
          <a:lnRef idx="0">
            <a:schemeClr val="accent2"/>
          </a:lnRef>
          <a:fillRef idx="3">
            <a:schemeClr val="accent2"/>
          </a:fillRef>
          <a:effectRef idx="3">
            <a:schemeClr val="accent2"/>
          </a:effectRef>
          <a:fontRef idx="minor">
            <a:schemeClr val="lt1"/>
          </a:fontRef>
        </p:style>
        <p:txBody>
          <a:bodyPr wrap="none" rtlCol="0" anchor="ctr">
            <a:spAutoFit/>
          </a:bodyPr>
          <a:lstStyle/>
          <a:p>
            <a:r>
              <a:rPr lang="en-US" dirty="0" smtClean="0"/>
              <a:t>519 School Districts</a:t>
            </a:r>
            <a:endParaRPr lang="en-US" dirty="0"/>
          </a:p>
        </p:txBody>
      </p:sp>
      <p:sp>
        <p:nvSpPr>
          <p:cNvPr id="11" name="TextBox 10"/>
          <p:cNvSpPr txBox="1"/>
          <p:nvPr/>
        </p:nvSpPr>
        <p:spPr>
          <a:xfrm>
            <a:off x="4095226" y="5479410"/>
            <a:ext cx="4145687" cy="486287"/>
          </a:xfrm>
          <a:prstGeom prst="rect">
            <a:avLst/>
          </a:prstGeom>
        </p:spPr>
        <p:style>
          <a:lnRef idx="0">
            <a:schemeClr val="accent2"/>
          </a:lnRef>
          <a:fillRef idx="3">
            <a:schemeClr val="accent2"/>
          </a:fillRef>
          <a:effectRef idx="3">
            <a:schemeClr val="accent2"/>
          </a:effectRef>
          <a:fontRef idx="minor">
            <a:schemeClr val="lt1"/>
          </a:fontRef>
        </p:style>
        <p:txBody>
          <a:bodyPr wrap="none" rtlCol="0" anchor="ctr">
            <a:spAutoFit/>
          </a:bodyPr>
          <a:lstStyle/>
          <a:p>
            <a:r>
              <a:rPr lang="en-US" dirty="0" smtClean="0"/>
              <a:t>$527,100,646 in LGA</a:t>
            </a:r>
            <a:endParaRPr lang="en-US" dirty="0"/>
          </a:p>
        </p:txBody>
      </p:sp>
      <p:sp>
        <p:nvSpPr>
          <p:cNvPr id="12"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5</a:t>
            </a:fld>
            <a:endParaRPr lang="en-US" dirty="0"/>
          </a:p>
        </p:txBody>
      </p:sp>
    </p:spTree>
    <p:extLst>
      <p:ext uri="{BB962C8B-B14F-4D97-AF65-F5344CB8AC3E}">
        <p14:creationId xmlns:p14="http://schemas.microsoft.com/office/powerpoint/2010/main" xmlns="" val="330401222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3"/>
          <p:cNvSpPr>
            <a:spLocks noGrp="1"/>
          </p:cNvSpPr>
          <p:nvPr>
            <p:ph type="title"/>
          </p:nvPr>
        </p:nvSpPr>
        <p:spPr>
          <a:xfrm>
            <a:off x="319088" y="390525"/>
            <a:ext cx="8280400" cy="741363"/>
          </a:xfrm>
        </p:spPr>
        <p:txBody>
          <a:bodyPr/>
          <a:lstStyle/>
          <a:p>
            <a:r>
              <a:rPr lang="en-US" dirty="0" smtClean="0"/>
              <a:t>Case in Point </a:t>
            </a:r>
            <a:br>
              <a:rPr lang="en-US" dirty="0" smtClean="0"/>
            </a:br>
            <a:r>
              <a:rPr lang="en-US" b="0" dirty="0" smtClean="0"/>
              <a:t>Memphis &amp; Shelby County, TN</a:t>
            </a:r>
          </a:p>
        </p:txBody>
      </p:sp>
      <p:sp>
        <p:nvSpPr>
          <p:cNvPr id="5123" name="Content Placeholder 2"/>
          <p:cNvSpPr>
            <a:spLocks noGrp="1"/>
          </p:cNvSpPr>
          <p:nvPr>
            <p:ph idx="1"/>
          </p:nvPr>
        </p:nvSpPr>
        <p:spPr>
          <a:xfrm>
            <a:off x="4702175" y="1698625"/>
            <a:ext cx="4260850" cy="4322763"/>
          </a:xfrm>
        </p:spPr>
        <p:txBody>
          <a:bodyPr/>
          <a:lstStyle/>
          <a:p>
            <a:r>
              <a:rPr lang="en-US" sz="2400" dirty="0" smtClean="0"/>
              <a:t>In Memphis, Tennessee and surrounding Shelby County, citizens were faced with a stark vote on the November 2010 ballot</a:t>
            </a:r>
            <a:r>
              <a:rPr lang="en-US" sz="2400" b="1" i="1" dirty="0" smtClean="0"/>
              <a:t>:</a:t>
            </a:r>
          </a:p>
          <a:p>
            <a:pPr marL="401638"/>
            <a:r>
              <a:rPr lang="en-US" sz="2400" b="1" i="1" dirty="0" smtClean="0"/>
              <a:t>“For consolidation of City of Memphis and Shelby County,” </a:t>
            </a:r>
          </a:p>
          <a:p>
            <a:pPr algn="ctr">
              <a:buNone/>
            </a:pPr>
            <a:r>
              <a:rPr lang="en-US" sz="2400" b="1" dirty="0" smtClean="0"/>
              <a:t>or</a:t>
            </a:r>
            <a:r>
              <a:rPr lang="en-US" sz="2400" b="1" i="1" dirty="0" smtClean="0"/>
              <a:t> </a:t>
            </a:r>
          </a:p>
          <a:p>
            <a:pPr marL="465138" indent="-239713">
              <a:tabLst>
                <a:tab pos="284163" algn="l"/>
              </a:tabLst>
            </a:pPr>
            <a:r>
              <a:rPr lang="en-US" sz="2400" b="1" i="1" dirty="0" smtClean="0"/>
              <a:t>“Against consolidation of Memphis and Shelby County.”</a:t>
            </a:r>
          </a:p>
          <a:p>
            <a:endParaRPr lang="en-US" sz="2400" dirty="0" smtClean="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939C41F1-824E-404C-869D-216BEE080098}" type="slidenum">
              <a:rPr lang="en-US"/>
              <a:pPr>
                <a:defRPr/>
              </a:pPr>
              <a:t>6</a:t>
            </a:fld>
            <a:endParaRPr lang="en-US"/>
          </a:p>
        </p:txBody>
      </p:sp>
      <p:pic>
        <p:nvPicPr>
          <p:cNvPr id="5125" name="Picture 4" descr="city-memphis.jpg"/>
          <p:cNvPicPr>
            <a:picLocks noChangeAspect="1"/>
          </p:cNvPicPr>
          <p:nvPr/>
        </p:nvPicPr>
        <p:blipFill>
          <a:blip r:embed="rId2" cstate="print"/>
          <a:srcRect/>
          <a:stretch>
            <a:fillRect/>
          </a:stretch>
        </p:blipFill>
        <p:spPr bwMode="auto">
          <a:xfrm>
            <a:off x="276225" y="1498600"/>
            <a:ext cx="4295775" cy="43830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359760" y="246948"/>
            <a:ext cx="7772400" cy="1016000"/>
          </a:xfrm>
        </p:spPr>
        <p:txBody>
          <a:bodyPr/>
          <a:lstStyle/>
          <a:p>
            <a:r>
              <a:rPr lang="en-US" dirty="0" smtClean="0"/>
              <a:t>Why the Vote? What Happened?</a:t>
            </a:r>
          </a:p>
        </p:txBody>
      </p:sp>
      <p:sp>
        <p:nvSpPr>
          <p:cNvPr id="6147" name="Content Placeholder 2"/>
          <p:cNvSpPr>
            <a:spLocks noGrp="1"/>
          </p:cNvSpPr>
          <p:nvPr>
            <p:ph idx="1"/>
          </p:nvPr>
        </p:nvSpPr>
        <p:spPr/>
        <p:txBody>
          <a:bodyPr/>
          <a:lstStyle/>
          <a:p>
            <a:r>
              <a:rPr lang="en-US" sz="2400" dirty="0" smtClean="0"/>
              <a:t>For years city and county officials debated the merits of a full-on merger or a consolidation into a regional government. </a:t>
            </a:r>
          </a:p>
          <a:p>
            <a:r>
              <a:rPr lang="en-US" sz="2400" dirty="0" smtClean="0"/>
              <a:t>From a region-wide vantage point, there’s a clear argument for collaboration: </a:t>
            </a:r>
          </a:p>
          <a:p>
            <a:pPr lvl="1"/>
            <a:r>
              <a:rPr lang="en-US" dirty="0" smtClean="0"/>
              <a:t>Modernize and meet future demands</a:t>
            </a:r>
          </a:p>
          <a:p>
            <a:pPr lvl="1"/>
            <a:r>
              <a:rPr lang="en-US" dirty="0" smtClean="0"/>
              <a:t>Collaborating on economic development</a:t>
            </a:r>
          </a:p>
          <a:p>
            <a:pPr lvl="1"/>
            <a:r>
              <a:rPr lang="en-US" dirty="0" smtClean="0"/>
              <a:t>Improving services for citizens and businesses</a:t>
            </a:r>
          </a:p>
          <a:p>
            <a:pPr lvl="1"/>
            <a:r>
              <a:rPr lang="en-US" dirty="0" smtClean="0"/>
              <a:t>Reducing overall costs to taxpayers</a:t>
            </a:r>
          </a:p>
          <a:p>
            <a:endParaRPr lang="en-US" dirty="0" smtClean="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4527FBEC-396A-4FF9-B842-D760711A397F}" type="slidenum">
              <a:rPr lang="en-US"/>
              <a:pPr>
                <a:defRPr/>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242576" y="59960"/>
            <a:ext cx="6696075" cy="1143000"/>
          </a:xfrm>
        </p:spPr>
        <p:txBody>
          <a:bodyPr/>
          <a:lstStyle/>
          <a:p>
            <a:r>
              <a:rPr lang="en-US" dirty="0" smtClean="0"/>
              <a:t>The Vote Result:</a:t>
            </a:r>
          </a:p>
        </p:txBody>
      </p:sp>
      <p:sp>
        <p:nvSpPr>
          <p:cNvPr id="7171" name="Content Placeholder 2"/>
          <p:cNvSpPr>
            <a:spLocks noGrp="1"/>
          </p:cNvSpPr>
          <p:nvPr>
            <p:ph idx="1"/>
          </p:nvPr>
        </p:nvSpPr>
        <p:spPr/>
        <p:txBody>
          <a:bodyPr/>
          <a:lstStyle/>
          <a:p>
            <a:r>
              <a:rPr lang="en-US" dirty="0" smtClean="0"/>
              <a:t>Naturally, a split vote took down the proposed merger: </a:t>
            </a:r>
          </a:p>
          <a:p>
            <a:pPr lvl="1"/>
            <a:r>
              <a:rPr lang="en-US" sz="2600" b="1" dirty="0" smtClean="0">
                <a:solidFill>
                  <a:srgbClr val="993333"/>
                </a:solidFill>
              </a:rPr>
              <a:t>49 percent against a merger to 51 percent for a merger in Memphis</a:t>
            </a:r>
          </a:p>
          <a:p>
            <a:pPr lvl="1"/>
            <a:r>
              <a:rPr lang="en-US" sz="2600" b="1" dirty="0" smtClean="0">
                <a:solidFill>
                  <a:srgbClr val="993333"/>
                </a:solidFill>
              </a:rPr>
              <a:t>85 percent against a merger to 15 percent for a merger in Shelby County. </a:t>
            </a:r>
          </a:p>
          <a:p>
            <a:r>
              <a:rPr lang="en-US" dirty="0" smtClean="0"/>
              <a:t>Bridging these chasms was insurmountable.</a:t>
            </a:r>
          </a:p>
          <a:p>
            <a:pPr>
              <a:buFont typeface="Wingdings 2" pitchFamily="18" charset="2"/>
              <a:buNone/>
            </a:pPr>
            <a:endParaRPr lang="en-US" dirty="0" smtClean="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E598EAB0-9B19-486A-8B79-A55BBCE1561F}" type="slidenum">
              <a:rPr lang="en-US"/>
              <a:pPr>
                <a:defRPr/>
              </a:pPr>
              <a:t>8</a:t>
            </a:fld>
            <a:endParaRPr lang="en-US"/>
          </a:p>
        </p:txBody>
      </p:sp>
      <p:sp>
        <p:nvSpPr>
          <p:cNvPr id="5" name="TextBox 4"/>
          <p:cNvSpPr txBox="1"/>
          <p:nvPr/>
        </p:nvSpPr>
        <p:spPr>
          <a:xfrm>
            <a:off x="1283517" y="5226341"/>
            <a:ext cx="6568578" cy="127419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endParaRPr lang="en-US" dirty="0" smtClean="0">
              <a:solidFill>
                <a:schemeClr val="tx1"/>
              </a:solidFill>
            </a:endParaRPr>
          </a:p>
          <a:p>
            <a:r>
              <a:rPr lang="en-US" dirty="0" smtClean="0">
                <a:solidFill>
                  <a:schemeClr val="tx1"/>
                </a:solidFill>
              </a:rPr>
              <a:t>There is a Better Way Forward…</a:t>
            </a:r>
          </a:p>
          <a:p>
            <a:endParaRPr lang="en-US" dirty="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smtClean="0"/>
              <a:t>Cross-Jurisdiction Collaboration makes government operations significantly less expensive and more effective</a:t>
            </a:r>
            <a:endParaRPr lang="en-US" sz="2400" dirty="0"/>
          </a:p>
        </p:txBody>
      </p:sp>
      <p:pic>
        <p:nvPicPr>
          <p:cNvPr id="52226" name="Picture 2"/>
          <p:cNvPicPr>
            <a:picLocks noChangeAspect="1" noChangeArrowheads="1"/>
          </p:cNvPicPr>
          <p:nvPr/>
        </p:nvPicPr>
        <p:blipFill>
          <a:blip r:embed="rId3" cstate="print"/>
          <a:srcRect/>
          <a:stretch>
            <a:fillRect/>
          </a:stretch>
        </p:blipFill>
        <p:spPr bwMode="auto">
          <a:xfrm>
            <a:off x="247868" y="1302091"/>
            <a:ext cx="8583613" cy="5072063"/>
          </a:xfrm>
          <a:prstGeom prst="rect">
            <a:avLst/>
          </a:prstGeom>
          <a:noFill/>
          <a:ln w="9525">
            <a:noFill/>
            <a:miter lim="800000"/>
            <a:headEnd/>
            <a:tailEnd/>
          </a:ln>
          <a:effectLst/>
        </p:spPr>
      </p:pic>
      <p:sp>
        <p:nvSpPr>
          <p:cNvPr id="6"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381000" y="427193"/>
            <a:ext cx="6900644" cy="776695"/>
          </a:xfrm>
        </p:spPr>
        <p:txBody>
          <a:bodyPr/>
          <a:lstStyle/>
          <a:p>
            <a:r>
              <a:rPr lang="en-US" dirty="0" smtClean="0"/>
              <a:t>Why Cross-Jurisdiction Collaboration?</a:t>
            </a:r>
          </a:p>
        </p:txBody>
      </p:sp>
      <p:sp>
        <p:nvSpPr>
          <p:cNvPr id="15363" name="Content Placeholder 2"/>
          <p:cNvSpPr>
            <a:spLocks noGrp="1"/>
          </p:cNvSpPr>
          <p:nvPr>
            <p:ph idx="1"/>
          </p:nvPr>
        </p:nvSpPr>
        <p:spPr>
          <a:xfrm>
            <a:off x="371475" y="1438275"/>
            <a:ext cx="7772400" cy="5172075"/>
          </a:xfrm>
        </p:spPr>
        <p:txBody>
          <a:bodyPr rtlCol="0">
            <a:normAutofit lnSpcReduction="10000"/>
          </a:bodyPr>
          <a:lstStyle/>
          <a:p>
            <a:pPr fontAlgn="auto">
              <a:spcAft>
                <a:spcPts val="0"/>
              </a:spcAft>
              <a:buFont typeface="Arial" pitchFamily="34" charset="0"/>
              <a:buChar char="•"/>
              <a:defRPr/>
            </a:pPr>
            <a:r>
              <a:rPr lang="en-US" smtClean="0"/>
              <a:t>Improve Efficiency of Government</a:t>
            </a:r>
          </a:p>
          <a:p>
            <a:pPr lvl="1" fontAlgn="auto">
              <a:spcAft>
                <a:spcPts val="0"/>
              </a:spcAft>
              <a:buFont typeface="Arial" pitchFamily="34" charset="0"/>
              <a:buChar char="–"/>
              <a:defRPr/>
            </a:pPr>
            <a:r>
              <a:rPr lang="en-US" smtClean="0"/>
              <a:t>Greater output from resources</a:t>
            </a:r>
          </a:p>
          <a:p>
            <a:pPr lvl="1" fontAlgn="auto">
              <a:spcAft>
                <a:spcPts val="0"/>
              </a:spcAft>
              <a:buFont typeface="Arial" pitchFamily="34" charset="0"/>
              <a:buChar char="–"/>
              <a:defRPr/>
            </a:pPr>
            <a:r>
              <a:rPr lang="en-US" smtClean="0"/>
              <a:t>Savings in administrative and technical costs</a:t>
            </a:r>
          </a:p>
          <a:p>
            <a:pPr fontAlgn="auto">
              <a:spcAft>
                <a:spcPts val="0"/>
              </a:spcAft>
              <a:buFont typeface="Arial" pitchFamily="34" charset="0"/>
              <a:buChar char="•"/>
              <a:defRPr/>
            </a:pPr>
            <a:r>
              <a:rPr lang="en-US" smtClean="0"/>
              <a:t>Improve Effectiveness of Government</a:t>
            </a:r>
          </a:p>
          <a:p>
            <a:pPr lvl="1" fontAlgn="auto">
              <a:spcAft>
                <a:spcPts val="0"/>
              </a:spcAft>
              <a:buFont typeface="Arial" pitchFamily="34" charset="0"/>
              <a:buChar char="–"/>
              <a:defRPr/>
            </a:pPr>
            <a:r>
              <a:rPr lang="en-US" smtClean="0"/>
              <a:t>Enhanced quality of citizen services</a:t>
            </a:r>
          </a:p>
          <a:p>
            <a:pPr lvl="1" fontAlgn="auto">
              <a:spcAft>
                <a:spcPts val="0"/>
              </a:spcAft>
              <a:buFont typeface="Arial" pitchFamily="34" charset="0"/>
              <a:buChar char="–"/>
              <a:defRPr/>
            </a:pPr>
            <a:r>
              <a:rPr lang="en-US" smtClean="0"/>
              <a:t>Enhanced reach of citizen services</a:t>
            </a:r>
          </a:p>
          <a:p>
            <a:pPr fontAlgn="auto">
              <a:spcAft>
                <a:spcPts val="0"/>
              </a:spcAft>
              <a:buFont typeface="Arial" pitchFamily="34" charset="0"/>
              <a:buChar char="•"/>
              <a:defRPr/>
            </a:pPr>
            <a:r>
              <a:rPr lang="en-US" smtClean="0"/>
              <a:t>Improve Equity and Transparency in Government</a:t>
            </a:r>
          </a:p>
          <a:p>
            <a:pPr lvl="1" fontAlgn="auto">
              <a:spcAft>
                <a:spcPts val="0"/>
              </a:spcAft>
              <a:buFont typeface="Arial" pitchFamily="34" charset="0"/>
              <a:buChar char="–"/>
              <a:defRPr/>
            </a:pPr>
            <a:r>
              <a:rPr lang="en-US" smtClean="0"/>
              <a:t>Reduce inequity in services across jurisdictions</a:t>
            </a:r>
          </a:p>
          <a:p>
            <a:pPr lvl="1" fontAlgn="auto">
              <a:spcAft>
                <a:spcPts val="0"/>
              </a:spcAft>
              <a:buFont typeface="Arial" pitchFamily="34" charset="0"/>
              <a:buChar char="–"/>
              <a:defRPr/>
            </a:pPr>
            <a:r>
              <a:rPr lang="en-US" smtClean="0"/>
              <a:t>Enhanced citizen interaction and view</a:t>
            </a:r>
          </a:p>
          <a:p>
            <a:pPr lvl="1" fontAlgn="auto">
              <a:spcAft>
                <a:spcPts val="0"/>
              </a:spcAft>
              <a:buFont typeface="Arial" pitchFamily="34" charset="0"/>
              <a:buChar char="–"/>
              <a:defRPr/>
            </a:pPr>
            <a:r>
              <a:rPr lang="en-US" smtClean="0"/>
              <a:t>Reduced environmental footprint</a:t>
            </a:r>
          </a:p>
          <a:p>
            <a:pPr fontAlgn="auto">
              <a:spcAft>
                <a:spcPts val="0"/>
              </a:spcAft>
              <a:buFont typeface="Arial" pitchFamily="34" charset="0"/>
              <a:buChar char="•"/>
              <a:defRPr/>
            </a:pPr>
            <a:endParaRPr lang="en-US" smtClean="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pPr>
              <a:defRPr/>
            </a:pPr>
            <a:fld id="{78DC9BD4-1E7E-4AE1-B303-2FA06794C736}" type="slidenum">
              <a:rPr lang="en-US"/>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dirty="0" smtClean="0"/>
              <a:t>Who are the likely partners?</a:t>
            </a:r>
          </a:p>
        </p:txBody>
      </p:sp>
      <p:grpSp>
        <p:nvGrpSpPr>
          <p:cNvPr id="2" name="Group 80"/>
          <p:cNvGrpSpPr/>
          <p:nvPr/>
        </p:nvGrpSpPr>
        <p:grpSpPr>
          <a:xfrm>
            <a:off x="5542709" y="219081"/>
            <a:ext cx="3213941" cy="301063"/>
            <a:chOff x="5657009" y="2552706"/>
            <a:chExt cx="3213941" cy="301063"/>
          </a:xfrm>
        </p:grpSpPr>
        <p:sp>
          <p:nvSpPr>
            <p:cNvPr id="39966" name="TextBox 129"/>
            <p:cNvSpPr txBox="1">
              <a:spLocks noChangeArrowheads="1"/>
            </p:cNvSpPr>
            <p:nvPr/>
          </p:nvSpPr>
          <p:spPr bwMode="auto">
            <a:xfrm>
              <a:off x="5657009" y="2552706"/>
              <a:ext cx="1568241" cy="289310"/>
            </a:xfrm>
            <a:prstGeom prst="rect">
              <a:avLst/>
            </a:prstGeom>
            <a:noFill/>
            <a:ln w="9525">
              <a:noFill/>
              <a:miter lim="800000"/>
              <a:headEnd/>
              <a:tailEnd/>
            </a:ln>
          </p:spPr>
          <p:txBody>
            <a:bodyPr lIns="0" rIns="0">
              <a:spAutoFit/>
            </a:bodyPr>
            <a:lstStyle/>
            <a:p>
              <a:pPr algn="ctr"/>
              <a:endParaRPr lang="en-US" sz="1600" dirty="0">
                <a:solidFill>
                  <a:srgbClr val="002060"/>
                </a:solidFill>
              </a:endParaRPr>
            </a:p>
          </p:txBody>
        </p:sp>
        <p:sp>
          <p:nvSpPr>
            <p:cNvPr id="39968" name="TextBox 131"/>
            <p:cNvSpPr txBox="1">
              <a:spLocks noChangeArrowheads="1"/>
            </p:cNvSpPr>
            <p:nvPr/>
          </p:nvSpPr>
          <p:spPr bwMode="auto">
            <a:xfrm>
              <a:off x="7302709" y="2564459"/>
              <a:ext cx="1568241" cy="289310"/>
            </a:xfrm>
            <a:prstGeom prst="rect">
              <a:avLst/>
            </a:prstGeom>
            <a:noFill/>
            <a:ln w="9525">
              <a:noFill/>
              <a:miter lim="800000"/>
              <a:headEnd/>
              <a:tailEnd/>
            </a:ln>
          </p:spPr>
          <p:txBody>
            <a:bodyPr lIns="0" rIns="0">
              <a:spAutoFit/>
            </a:bodyPr>
            <a:lstStyle/>
            <a:p>
              <a:pPr algn="ctr"/>
              <a:endParaRPr lang="en-US" sz="1600" dirty="0">
                <a:solidFill>
                  <a:srgbClr val="002060"/>
                </a:solidFill>
              </a:endParaRPr>
            </a:p>
          </p:txBody>
        </p:sp>
      </p:grpSp>
      <p:sp>
        <p:nvSpPr>
          <p:cNvPr id="59" name="TextBox 54"/>
          <p:cNvSpPr txBox="1">
            <a:spLocks noChangeArrowheads="1"/>
          </p:cNvSpPr>
          <p:nvPr/>
        </p:nvSpPr>
        <p:spPr bwMode="auto">
          <a:xfrm>
            <a:off x="404813" y="6344593"/>
            <a:ext cx="8396287" cy="230832"/>
          </a:xfrm>
          <a:prstGeom prst="rect">
            <a:avLst/>
          </a:prstGeom>
          <a:noFill/>
          <a:ln w="9525">
            <a:noFill/>
            <a:miter lim="800000"/>
            <a:headEnd/>
            <a:tailEnd/>
          </a:ln>
        </p:spPr>
        <p:txBody>
          <a:bodyPr wrap="square" anchor="b">
            <a:spAutoFit/>
          </a:bodyPr>
          <a:lstStyle/>
          <a:p>
            <a:pPr>
              <a:lnSpc>
                <a:spcPct val="100000"/>
              </a:lnSpc>
            </a:pPr>
            <a:r>
              <a:rPr lang="en-US" sz="900" b="0" dirty="0" smtClean="0">
                <a:solidFill>
                  <a:schemeClr val="accent5"/>
                </a:solidFill>
              </a:rPr>
              <a:t>* Note: In this slide, “Local” is a proxy for  a local government entity such as a city, town, township, borough, special district or school district </a:t>
            </a:r>
          </a:p>
        </p:txBody>
      </p:sp>
      <p:sp>
        <p:nvSpPr>
          <p:cNvPr id="54" name="Rectangle 34"/>
          <p:cNvSpPr>
            <a:spLocks noChangeArrowheads="1"/>
          </p:cNvSpPr>
          <p:nvPr/>
        </p:nvSpPr>
        <p:spPr bwMode="auto">
          <a:xfrm>
            <a:off x="1342760" y="4260408"/>
            <a:ext cx="1392237" cy="1169551"/>
          </a:xfrm>
          <a:prstGeom prst="rect">
            <a:avLst/>
          </a:prstGeom>
          <a:noFill/>
          <a:ln w="9525">
            <a:noFill/>
            <a:miter lim="800000"/>
            <a:headEnd/>
            <a:tailEnd/>
          </a:ln>
          <a:effectLst/>
        </p:spPr>
        <p:txBody>
          <a:bodyPr lIns="18288" rIns="18288">
            <a:spAutoFit/>
          </a:bodyPr>
          <a:lstStyle/>
          <a:p>
            <a:pPr algn="ctr" fontAlgn="auto">
              <a:lnSpc>
                <a:spcPct val="100000"/>
              </a:lnSpc>
              <a:spcBef>
                <a:spcPts val="0"/>
              </a:spcBef>
              <a:spcAft>
                <a:spcPts val="300"/>
              </a:spcAft>
              <a:defRPr/>
            </a:pPr>
            <a:r>
              <a:rPr lang="en-US" sz="1400" b="0" kern="0" dirty="0" smtClean="0">
                <a:latin typeface="Arial"/>
                <a:cs typeface="+mn-cs"/>
              </a:rPr>
              <a:t>Southeast Consortium common unemployment system</a:t>
            </a:r>
            <a:endParaRPr lang="en-US" sz="1400" b="0" kern="0" dirty="0">
              <a:latin typeface="Arial"/>
              <a:cs typeface="+mn-cs"/>
            </a:endParaRPr>
          </a:p>
        </p:txBody>
      </p:sp>
      <p:sp>
        <p:nvSpPr>
          <p:cNvPr id="55" name="Rectangle 34"/>
          <p:cNvSpPr>
            <a:spLocks noChangeArrowheads="1"/>
          </p:cNvSpPr>
          <p:nvPr/>
        </p:nvSpPr>
        <p:spPr bwMode="auto">
          <a:xfrm>
            <a:off x="2897579" y="4260408"/>
            <a:ext cx="1579418" cy="1892826"/>
          </a:xfrm>
          <a:prstGeom prst="rect">
            <a:avLst/>
          </a:prstGeom>
          <a:noFill/>
          <a:ln w="9525">
            <a:noFill/>
            <a:miter lim="800000"/>
            <a:headEnd/>
            <a:tailEnd/>
          </a:ln>
          <a:effectLst/>
        </p:spPr>
        <p:txBody>
          <a:bodyPr wrap="square" lIns="18288" rIns="18288">
            <a:spAutoFit/>
          </a:bodyPr>
          <a:lstStyle/>
          <a:p>
            <a:pPr marL="119063" indent="-119063" algn="ctr" fontAlgn="auto">
              <a:lnSpc>
                <a:spcPct val="100000"/>
              </a:lnSpc>
              <a:spcBef>
                <a:spcPts val="0"/>
              </a:spcBef>
              <a:spcAft>
                <a:spcPts val="300"/>
              </a:spcAft>
              <a:defRPr/>
            </a:pPr>
            <a:r>
              <a:rPr lang="en-US" sz="1400" b="0" kern="0" dirty="0" smtClean="0">
                <a:latin typeface="Arial"/>
                <a:cs typeface="+mn-cs"/>
              </a:rPr>
              <a:t>39 counties in CA sign JPA for a new welfare system</a:t>
            </a:r>
          </a:p>
          <a:p>
            <a:pPr marL="119063" indent="-119063" algn="ctr" fontAlgn="auto">
              <a:lnSpc>
                <a:spcPct val="100000"/>
              </a:lnSpc>
              <a:spcBef>
                <a:spcPts val="0"/>
              </a:spcBef>
              <a:spcAft>
                <a:spcPts val="300"/>
              </a:spcAft>
              <a:defRPr/>
            </a:pPr>
            <a:endParaRPr lang="en-US" sz="1400" b="0" kern="0" dirty="0" smtClean="0">
              <a:latin typeface="Arial"/>
            </a:endParaRPr>
          </a:p>
          <a:p>
            <a:pPr marL="119063" indent="-119063" algn="ctr" fontAlgn="auto">
              <a:lnSpc>
                <a:spcPct val="100000"/>
              </a:lnSpc>
              <a:spcBef>
                <a:spcPts val="0"/>
              </a:spcBef>
              <a:spcAft>
                <a:spcPts val="300"/>
              </a:spcAft>
              <a:defRPr/>
            </a:pPr>
            <a:r>
              <a:rPr lang="en-US" sz="1400" b="0" kern="0" dirty="0" smtClean="0">
                <a:latin typeface="Arial"/>
                <a:cs typeface="+mn-cs"/>
              </a:rPr>
              <a:t>MN Child Support delivered by state and counties</a:t>
            </a:r>
            <a:endParaRPr lang="en-US" sz="1400" b="0" kern="0" dirty="0">
              <a:latin typeface="Arial"/>
              <a:cs typeface="+mn-cs"/>
            </a:endParaRPr>
          </a:p>
        </p:txBody>
      </p:sp>
      <p:sp>
        <p:nvSpPr>
          <p:cNvPr id="58" name="Rectangle 34"/>
          <p:cNvSpPr>
            <a:spLocks noChangeArrowheads="1"/>
          </p:cNvSpPr>
          <p:nvPr/>
        </p:nvSpPr>
        <p:spPr bwMode="auto">
          <a:xfrm>
            <a:off x="6234529" y="4260408"/>
            <a:ext cx="1536700" cy="523220"/>
          </a:xfrm>
          <a:prstGeom prst="rect">
            <a:avLst/>
          </a:prstGeom>
          <a:noFill/>
          <a:ln w="9525">
            <a:noFill/>
            <a:miter lim="800000"/>
            <a:headEnd/>
            <a:tailEnd/>
          </a:ln>
          <a:effectLst/>
        </p:spPr>
        <p:txBody>
          <a:bodyPr lIns="18288" rIns="18288">
            <a:spAutoFit/>
          </a:bodyPr>
          <a:lstStyle/>
          <a:p>
            <a:pPr algn="ctr" fontAlgn="auto">
              <a:lnSpc>
                <a:spcPct val="100000"/>
              </a:lnSpc>
              <a:spcBef>
                <a:spcPts val="0"/>
              </a:spcBef>
              <a:spcAft>
                <a:spcPts val="300"/>
              </a:spcAft>
              <a:defRPr/>
            </a:pPr>
            <a:r>
              <a:rPr lang="en-US" sz="1400" b="0" kern="0" dirty="0" smtClean="0">
                <a:latin typeface="Arial"/>
              </a:rPr>
              <a:t>San Francisco city car share </a:t>
            </a:r>
            <a:endParaRPr lang="en-US" sz="1400" b="0" kern="0" dirty="0">
              <a:latin typeface="Arial"/>
            </a:endParaRPr>
          </a:p>
        </p:txBody>
      </p:sp>
      <p:sp>
        <p:nvSpPr>
          <p:cNvPr id="71" name="Right Brace 61"/>
          <p:cNvSpPr>
            <a:spLocks/>
          </p:cNvSpPr>
          <p:nvPr/>
        </p:nvSpPr>
        <p:spPr bwMode="auto">
          <a:xfrm rot="16200000">
            <a:off x="2792809" y="610382"/>
            <a:ext cx="208864" cy="3108960"/>
          </a:xfrm>
          <a:prstGeom prst="rightBrace">
            <a:avLst>
              <a:gd name="adj1" fmla="val 0"/>
              <a:gd name="adj2" fmla="val 50000"/>
            </a:avLst>
          </a:prstGeom>
          <a:noFill/>
          <a:ln w="25400" algn="ctr">
            <a:solidFill>
              <a:schemeClr val="tx1"/>
            </a:solidFill>
            <a:round/>
            <a:headEnd/>
            <a:tailEnd/>
          </a:ln>
        </p:spPr>
        <p:txBody>
          <a:bodyPr lIns="36512" tIns="36000" rIns="36512" bIns="19050" anchor="ctr"/>
          <a:lstStyle/>
          <a:p>
            <a:pPr marL="177800" indent="-177800" defTabSz="6022975" eaLnBrk="0" hangingPunct="0">
              <a:lnSpc>
                <a:spcPct val="100000"/>
              </a:lnSpc>
              <a:spcBef>
                <a:spcPct val="10000"/>
              </a:spcBef>
              <a:buFont typeface="Wingdings" pitchFamily="2" charset="2"/>
              <a:buChar char="§"/>
            </a:pPr>
            <a:endParaRPr lang="en-US" sz="1400" dirty="0">
              <a:solidFill>
                <a:schemeClr val="accent1"/>
              </a:solidFill>
            </a:endParaRPr>
          </a:p>
        </p:txBody>
      </p:sp>
      <p:sp>
        <p:nvSpPr>
          <p:cNvPr id="72" name="TextBox 65"/>
          <p:cNvSpPr txBox="1">
            <a:spLocks noChangeArrowheads="1"/>
          </p:cNvSpPr>
          <p:nvPr/>
        </p:nvSpPr>
        <p:spPr bwMode="auto">
          <a:xfrm>
            <a:off x="780350" y="1463713"/>
            <a:ext cx="4236616" cy="584775"/>
          </a:xfrm>
          <a:prstGeom prst="rect">
            <a:avLst/>
          </a:prstGeom>
          <a:noFill/>
          <a:ln w="9525">
            <a:noFill/>
            <a:miter lim="800000"/>
            <a:headEnd/>
            <a:tailEnd/>
          </a:ln>
        </p:spPr>
        <p:txBody>
          <a:bodyPr wrap="square">
            <a:spAutoFit/>
          </a:bodyPr>
          <a:lstStyle/>
          <a:p>
            <a:pPr algn="ctr">
              <a:lnSpc>
                <a:spcPct val="100000"/>
              </a:lnSpc>
            </a:pPr>
            <a:r>
              <a:rPr lang="en-US" sz="1600" dirty="0" smtClean="0"/>
              <a:t>Collaboration between existing public entities and/or…</a:t>
            </a:r>
          </a:p>
        </p:txBody>
      </p:sp>
      <p:sp>
        <p:nvSpPr>
          <p:cNvPr id="39958" name="TextBox 83"/>
          <p:cNvSpPr txBox="1">
            <a:spLocks noChangeArrowheads="1"/>
          </p:cNvSpPr>
          <p:nvPr/>
        </p:nvSpPr>
        <p:spPr bwMode="auto">
          <a:xfrm>
            <a:off x="1408213" y="2309624"/>
            <a:ext cx="1469324" cy="289310"/>
          </a:xfrm>
          <a:prstGeom prst="rect">
            <a:avLst/>
          </a:prstGeom>
          <a:noFill/>
          <a:ln w="9525">
            <a:noFill/>
            <a:miter lim="800000"/>
            <a:headEnd/>
            <a:tailEnd/>
          </a:ln>
        </p:spPr>
        <p:txBody>
          <a:bodyPr lIns="0" rIns="0">
            <a:spAutoFit/>
          </a:bodyPr>
          <a:lstStyle/>
          <a:p>
            <a:pPr algn="ctr"/>
            <a:endParaRPr lang="en-US" sz="1600" dirty="0">
              <a:solidFill>
                <a:srgbClr val="002060"/>
              </a:solidFill>
            </a:endParaRPr>
          </a:p>
        </p:txBody>
      </p:sp>
      <p:sp>
        <p:nvSpPr>
          <p:cNvPr id="60" name="Rectangle 59"/>
          <p:cNvSpPr/>
          <p:nvPr/>
        </p:nvSpPr>
        <p:spPr bwMode="auto">
          <a:xfrm>
            <a:off x="1342760" y="2374864"/>
            <a:ext cx="1524552" cy="183753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algn="ctr">
              <a:lnSpc>
                <a:spcPct val="100000"/>
              </a:lnSpc>
            </a:pPr>
            <a:r>
              <a:rPr lang="en-US" sz="1400" dirty="0" smtClean="0"/>
              <a:t>Peer-to-Peer</a:t>
            </a:r>
            <a:endParaRPr lang="en-US" sz="1400" dirty="0"/>
          </a:p>
        </p:txBody>
      </p:sp>
      <p:sp>
        <p:nvSpPr>
          <p:cNvPr id="66" name="Rectangle 65"/>
          <p:cNvSpPr/>
          <p:nvPr/>
        </p:nvSpPr>
        <p:spPr bwMode="auto">
          <a:xfrm>
            <a:off x="2940194" y="2374864"/>
            <a:ext cx="1524552" cy="183753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algn="ctr">
              <a:lnSpc>
                <a:spcPct val="100000"/>
              </a:lnSpc>
            </a:pPr>
            <a:r>
              <a:rPr lang="en-US" sz="1400" dirty="0" smtClean="0"/>
              <a:t>Hierarchical</a:t>
            </a:r>
          </a:p>
        </p:txBody>
      </p:sp>
      <p:sp>
        <p:nvSpPr>
          <p:cNvPr id="67" name="Rectangle 66"/>
          <p:cNvSpPr/>
          <p:nvPr/>
        </p:nvSpPr>
        <p:spPr bwMode="auto">
          <a:xfrm>
            <a:off x="1631668" y="3124164"/>
            <a:ext cx="339120" cy="361950"/>
          </a:xfrm>
          <a:prstGeom prst="rect">
            <a:avLst/>
          </a:prstGeom>
          <a:solidFill>
            <a:srgbClr val="66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sp>
        <p:nvSpPr>
          <p:cNvPr id="68" name="Rectangle 67"/>
          <p:cNvSpPr/>
          <p:nvPr/>
        </p:nvSpPr>
        <p:spPr bwMode="auto">
          <a:xfrm>
            <a:off x="2256362" y="3124164"/>
            <a:ext cx="339120" cy="361950"/>
          </a:xfrm>
          <a:prstGeom prst="rect">
            <a:avLst/>
          </a:prstGeom>
          <a:solidFill>
            <a:srgbClr val="66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cxnSp>
        <p:nvCxnSpPr>
          <p:cNvPr id="69" name="Straight Connector 68"/>
          <p:cNvCxnSpPr>
            <a:stCxn id="67" idx="3"/>
            <a:endCxn id="68" idx="1"/>
          </p:cNvCxnSpPr>
          <p:nvPr/>
        </p:nvCxnSpPr>
        <p:spPr bwMode="auto">
          <a:xfrm>
            <a:off x="1970788" y="3305139"/>
            <a:ext cx="28557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4" name="Rectangle 83"/>
          <p:cNvSpPr/>
          <p:nvPr/>
        </p:nvSpPr>
        <p:spPr bwMode="auto">
          <a:xfrm>
            <a:off x="4667708" y="2374864"/>
            <a:ext cx="1524552" cy="183753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algn="ctr">
              <a:lnSpc>
                <a:spcPct val="100000"/>
              </a:lnSpc>
            </a:pPr>
            <a:r>
              <a:rPr lang="en-US" sz="1400" dirty="0" smtClean="0"/>
              <a:t>State/local* and public</a:t>
            </a:r>
          </a:p>
        </p:txBody>
      </p:sp>
      <p:sp>
        <p:nvSpPr>
          <p:cNvPr id="85" name="Rectangle 84"/>
          <p:cNvSpPr/>
          <p:nvPr/>
        </p:nvSpPr>
        <p:spPr bwMode="auto">
          <a:xfrm>
            <a:off x="4975329" y="2941990"/>
            <a:ext cx="339120" cy="36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sp>
        <p:nvSpPr>
          <p:cNvPr id="86" name="Rectangle 85"/>
          <p:cNvSpPr/>
          <p:nvPr/>
        </p:nvSpPr>
        <p:spPr bwMode="auto">
          <a:xfrm>
            <a:off x="5608948" y="3188846"/>
            <a:ext cx="339120" cy="361950"/>
          </a:xfrm>
          <a:prstGeom prst="rect">
            <a:avLst/>
          </a:prstGeom>
          <a:solidFill>
            <a:schemeClr val="accent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sp>
        <p:nvSpPr>
          <p:cNvPr id="91" name="Rectangle 90"/>
          <p:cNvSpPr/>
          <p:nvPr/>
        </p:nvSpPr>
        <p:spPr bwMode="auto">
          <a:xfrm>
            <a:off x="6274066" y="2374864"/>
            <a:ext cx="1524552" cy="183753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91440" tIns="91440" rIns="91440" bIns="91440" numCol="1" rtlCol="0" anchor="t" anchorCtr="0" compatLnSpc="1">
            <a:prstTxWarp prst="textNoShape">
              <a:avLst/>
            </a:prstTxWarp>
          </a:bodyPr>
          <a:lstStyle/>
          <a:p>
            <a:pPr algn="ctr">
              <a:lnSpc>
                <a:spcPct val="100000"/>
              </a:lnSpc>
            </a:pPr>
            <a:r>
              <a:rPr lang="en-US" sz="1400" dirty="0" smtClean="0"/>
              <a:t>State/local* and private</a:t>
            </a:r>
          </a:p>
        </p:txBody>
      </p:sp>
      <p:sp>
        <p:nvSpPr>
          <p:cNvPr id="96" name="Rectangle 95"/>
          <p:cNvSpPr/>
          <p:nvPr/>
        </p:nvSpPr>
        <p:spPr bwMode="auto">
          <a:xfrm>
            <a:off x="4975329" y="3493646"/>
            <a:ext cx="339120" cy="361950"/>
          </a:xfrm>
          <a:prstGeom prst="rect">
            <a:avLst/>
          </a:prstGeom>
          <a:solidFill>
            <a:srgbClr val="66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cxnSp>
        <p:nvCxnSpPr>
          <p:cNvPr id="120" name="Elbow Connector 119"/>
          <p:cNvCxnSpPr>
            <a:stCxn id="85" idx="3"/>
            <a:endCxn id="86" idx="1"/>
          </p:cNvCxnSpPr>
          <p:nvPr/>
        </p:nvCxnSpPr>
        <p:spPr bwMode="auto">
          <a:xfrm>
            <a:off x="5314449" y="3122965"/>
            <a:ext cx="294499" cy="24685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124" name="Elbow Connector 123"/>
          <p:cNvCxnSpPr>
            <a:stCxn id="96" idx="3"/>
            <a:endCxn id="86" idx="1"/>
          </p:cNvCxnSpPr>
          <p:nvPr/>
        </p:nvCxnSpPr>
        <p:spPr bwMode="auto">
          <a:xfrm flipV="1">
            <a:off x="5314449" y="3369821"/>
            <a:ext cx="294499" cy="304800"/>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sp>
        <p:nvSpPr>
          <p:cNvPr id="138" name="Right Brace 61"/>
          <p:cNvSpPr>
            <a:spLocks/>
          </p:cNvSpPr>
          <p:nvPr/>
        </p:nvSpPr>
        <p:spPr bwMode="auto">
          <a:xfrm rot="16200000">
            <a:off x="6142282" y="612957"/>
            <a:ext cx="208864" cy="3103809"/>
          </a:xfrm>
          <a:prstGeom prst="rightBrace">
            <a:avLst>
              <a:gd name="adj1" fmla="val 0"/>
              <a:gd name="adj2" fmla="val 50000"/>
            </a:avLst>
          </a:prstGeom>
          <a:noFill/>
          <a:ln w="25400" algn="ctr">
            <a:solidFill>
              <a:schemeClr val="tx1"/>
            </a:solidFill>
            <a:round/>
            <a:headEnd/>
            <a:tailEnd/>
          </a:ln>
        </p:spPr>
        <p:txBody>
          <a:bodyPr lIns="36512" tIns="36000" rIns="36512" bIns="19050" anchor="ctr"/>
          <a:lstStyle/>
          <a:p>
            <a:pPr marL="177800" indent="-177800" defTabSz="6022975" eaLnBrk="0" hangingPunct="0">
              <a:lnSpc>
                <a:spcPct val="100000"/>
              </a:lnSpc>
              <a:spcBef>
                <a:spcPct val="10000"/>
              </a:spcBef>
              <a:buFont typeface="Wingdings" pitchFamily="2" charset="2"/>
              <a:buChar char="§"/>
            </a:pPr>
            <a:endParaRPr lang="en-US" sz="1400" dirty="0">
              <a:solidFill>
                <a:schemeClr val="accent1"/>
              </a:solidFill>
            </a:endParaRPr>
          </a:p>
        </p:txBody>
      </p:sp>
      <p:sp>
        <p:nvSpPr>
          <p:cNvPr id="139" name="TextBox 65"/>
          <p:cNvSpPr txBox="1">
            <a:spLocks noChangeArrowheads="1"/>
          </p:cNvSpPr>
          <p:nvPr/>
        </p:nvSpPr>
        <p:spPr bwMode="auto">
          <a:xfrm>
            <a:off x="4869442" y="1463713"/>
            <a:ext cx="2771363" cy="584775"/>
          </a:xfrm>
          <a:prstGeom prst="rect">
            <a:avLst/>
          </a:prstGeom>
          <a:noFill/>
          <a:ln w="9525">
            <a:noFill/>
            <a:miter lim="800000"/>
            <a:headEnd/>
            <a:tailEnd/>
          </a:ln>
        </p:spPr>
        <p:txBody>
          <a:bodyPr wrap="square">
            <a:spAutoFit/>
          </a:bodyPr>
          <a:lstStyle/>
          <a:p>
            <a:pPr algn="ctr">
              <a:lnSpc>
                <a:spcPct val="100000"/>
              </a:lnSpc>
            </a:pPr>
            <a:r>
              <a:rPr lang="en-US" sz="1600" dirty="0" smtClean="0"/>
              <a:t>…public and private entities</a:t>
            </a:r>
          </a:p>
        </p:txBody>
      </p:sp>
      <p:sp>
        <p:nvSpPr>
          <p:cNvPr id="48" name="Rectangle 34"/>
          <p:cNvSpPr>
            <a:spLocks noChangeArrowheads="1"/>
          </p:cNvSpPr>
          <p:nvPr/>
        </p:nvSpPr>
        <p:spPr bwMode="auto">
          <a:xfrm>
            <a:off x="4652580" y="4257740"/>
            <a:ext cx="1536700" cy="1677382"/>
          </a:xfrm>
          <a:prstGeom prst="rect">
            <a:avLst/>
          </a:prstGeom>
          <a:noFill/>
          <a:ln w="9525">
            <a:noFill/>
            <a:miter lim="800000"/>
            <a:headEnd/>
            <a:tailEnd/>
          </a:ln>
          <a:effectLst/>
        </p:spPr>
        <p:txBody>
          <a:bodyPr lIns="18288" rIns="18288">
            <a:spAutoFit/>
          </a:bodyPr>
          <a:lstStyle/>
          <a:p>
            <a:pPr algn="ctr" fontAlgn="auto">
              <a:lnSpc>
                <a:spcPct val="100000"/>
              </a:lnSpc>
              <a:spcBef>
                <a:spcPts val="0"/>
              </a:spcBef>
              <a:spcAft>
                <a:spcPts val="300"/>
              </a:spcAft>
              <a:defRPr/>
            </a:pPr>
            <a:r>
              <a:rPr lang="en-US" sz="1400" b="0" kern="0" dirty="0" smtClean="0">
                <a:latin typeface="Arial"/>
              </a:rPr>
              <a:t>St. Paul / Minneapolis Metropolitan Council</a:t>
            </a:r>
          </a:p>
          <a:p>
            <a:pPr algn="ctr" fontAlgn="auto">
              <a:lnSpc>
                <a:spcPct val="100000"/>
              </a:lnSpc>
              <a:spcBef>
                <a:spcPts val="0"/>
              </a:spcBef>
              <a:spcAft>
                <a:spcPts val="300"/>
              </a:spcAft>
              <a:defRPr/>
            </a:pPr>
            <a:endParaRPr lang="en-US" sz="1400" b="0" kern="0" dirty="0" smtClean="0">
              <a:latin typeface="Arial"/>
            </a:endParaRPr>
          </a:p>
          <a:p>
            <a:pPr algn="ctr" fontAlgn="auto">
              <a:lnSpc>
                <a:spcPct val="100000"/>
              </a:lnSpc>
              <a:spcBef>
                <a:spcPts val="0"/>
              </a:spcBef>
              <a:spcAft>
                <a:spcPts val="300"/>
              </a:spcAft>
              <a:defRPr/>
            </a:pPr>
            <a:r>
              <a:rPr lang="en-US" sz="1400" b="0" kern="0" dirty="0" smtClean="0">
                <a:latin typeface="Arial"/>
              </a:rPr>
              <a:t>Regional planning agency</a:t>
            </a:r>
            <a:endParaRPr lang="en-US" sz="1400" b="0" kern="0" dirty="0">
              <a:latin typeface="Arial"/>
            </a:endParaRPr>
          </a:p>
        </p:txBody>
      </p:sp>
      <p:sp>
        <p:nvSpPr>
          <p:cNvPr id="51" name="Rectangle 50"/>
          <p:cNvSpPr/>
          <p:nvPr/>
        </p:nvSpPr>
        <p:spPr bwMode="auto">
          <a:xfrm>
            <a:off x="3822892" y="3138335"/>
            <a:ext cx="339120" cy="361950"/>
          </a:xfrm>
          <a:prstGeom prst="rect">
            <a:avLst/>
          </a:prstGeom>
          <a:solidFill>
            <a:srgbClr val="66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cxnSp>
        <p:nvCxnSpPr>
          <p:cNvPr id="52" name="Straight Connector 51"/>
          <p:cNvCxnSpPr>
            <a:endCxn id="51" idx="1"/>
          </p:cNvCxnSpPr>
          <p:nvPr/>
        </p:nvCxnSpPr>
        <p:spPr bwMode="auto">
          <a:xfrm>
            <a:off x="3537318" y="3319310"/>
            <a:ext cx="28557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63" name="Rectangle 62"/>
          <p:cNvSpPr/>
          <p:nvPr/>
        </p:nvSpPr>
        <p:spPr bwMode="auto">
          <a:xfrm>
            <a:off x="3212577" y="3148974"/>
            <a:ext cx="339120" cy="36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sp>
        <p:nvSpPr>
          <p:cNvPr id="64" name="Rectangle 63"/>
          <p:cNvSpPr/>
          <p:nvPr/>
        </p:nvSpPr>
        <p:spPr bwMode="auto">
          <a:xfrm>
            <a:off x="6531220" y="2945528"/>
            <a:ext cx="339120" cy="36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sp>
        <p:nvSpPr>
          <p:cNvPr id="65" name="Rectangle 64"/>
          <p:cNvSpPr/>
          <p:nvPr/>
        </p:nvSpPr>
        <p:spPr bwMode="auto">
          <a:xfrm>
            <a:off x="7164839" y="3192384"/>
            <a:ext cx="339120" cy="361950"/>
          </a:xfrm>
          <a:prstGeom prst="rect">
            <a:avLst/>
          </a:prstGeom>
          <a:solidFill>
            <a:srgbClr val="7030A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sp>
        <p:nvSpPr>
          <p:cNvPr id="70" name="Rectangle 69"/>
          <p:cNvSpPr/>
          <p:nvPr/>
        </p:nvSpPr>
        <p:spPr bwMode="auto">
          <a:xfrm>
            <a:off x="6531220" y="3497184"/>
            <a:ext cx="339120" cy="361950"/>
          </a:xfrm>
          <a:prstGeom prst="rect">
            <a:avLst/>
          </a:prstGeom>
          <a:solidFill>
            <a:srgbClr val="660000"/>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2800" b="1" i="0" u="none" strike="noStrike" cap="none" normalizeH="0" baseline="0" smtClean="0">
              <a:ln>
                <a:solidFill>
                  <a:schemeClr val="bg2"/>
                </a:solidFill>
              </a:ln>
              <a:solidFill>
                <a:schemeClr val="tx1"/>
              </a:solidFill>
              <a:effectLst/>
              <a:latin typeface="Arial" charset="0"/>
            </a:endParaRPr>
          </a:p>
        </p:txBody>
      </p:sp>
      <p:cxnSp>
        <p:nvCxnSpPr>
          <p:cNvPr id="73" name="Elbow Connector 72"/>
          <p:cNvCxnSpPr>
            <a:stCxn id="64" idx="3"/>
            <a:endCxn id="65" idx="1"/>
          </p:cNvCxnSpPr>
          <p:nvPr/>
        </p:nvCxnSpPr>
        <p:spPr bwMode="auto">
          <a:xfrm>
            <a:off x="6870340" y="3126503"/>
            <a:ext cx="294499" cy="246856"/>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74" name="Elbow Connector 73"/>
          <p:cNvCxnSpPr>
            <a:stCxn id="70" idx="3"/>
            <a:endCxn id="65" idx="1"/>
          </p:cNvCxnSpPr>
          <p:nvPr/>
        </p:nvCxnSpPr>
        <p:spPr bwMode="auto">
          <a:xfrm flipV="1">
            <a:off x="6870340" y="3373359"/>
            <a:ext cx="294499" cy="304800"/>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sp>
        <p:nvSpPr>
          <p:cNvPr id="41" name="Rectangle 40"/>
          <p:cNvSpPr/>
          <p:nvPr/>
        </p:nvSpPr>
        <p:spPr bwMode="auto">
          <a:xfrm>
            <a:off x="8360229" y="225635"/>
            <a:ext cx="514498" cy="766311"/>
          </a:xfrm>
          <a:prstGeom prst="rect">
            <a:avLst/>
          </a:prstGeom>
          <a:solidFill>
            <a:schemeClr val="bg1">
              <a:lumMod val="50000"/>
              <a:alpha val="20000"/>
            </a:schemeClr>
          </a:solidFill>
          <a:ln w="12700" cap="flat" cmpd="sng" algn="ctr">
            <a:noFill/>
            <a:prstDash val="solid"/>
            <a:round/>
            <a:headEnd type="none" w="med" len="med"/>
            <a:tailEnd type="none" w="med" len="med"/>
          </a:ln>
          <a:effectLst/>
        </p:spPr>
        <p:txBody>
          <a:bodyPr lIns="36512" tIns="36000" rIns="36512" bIns="19050" anchor="ctr"/>
          <a:lstStyle/>
          <a:p>
            <a:pPr marL="177800" indent="-177800" defTabSz="6022975" eaLnBrk="0" hangingPunct="0">
              <a:spcBef>
                <a:spcPct val="10000"/>
              </a:spcBef>
              <a:buFont typeface="Wingdings" pitchFamily="2" charset="2"/>
              <a:buChar char="§"/>
              <a:defRPr/>
            </a:pPr>
            <a:endParaRPr lang="en-US" sz="1100">
              <a:latin typeface="Arial" charset="0"/>
              <a:ea typeface="+mn-ea"/>
              <a:cs typeface="+mn-cs"/>
            </a:endParaRPr>
          </a:p>
        </p:txBody>
      </p:sp>
      <p:sp>
        <p:nvSpPr>
          <p:cNvPr id="47" name="Rectangle 46"/>
          <p:cNvSpPr/>
          <p:nvPr/>
        </p:nvSpPr>
        <p:spPr bwMode="auto">
          <a:xfrm>
            <a:off x="7528955" y="235535"/>
            <a:ext cx="534390" cy="766311"/>
          </a:xfrm>
          <a:prstGeom prst="rect">
            <a:avLst/>
          </a:prstGeom>
          <a:solidFill>
            <a:schemeClr val="bg1">
              <a:lumMod val="50000"/>
              <a:alpha val="20000"/>
            </a:schemeClr>
          </a:solidFill>
          <a:ln w="12700" cap="flat" cmpd="sng" algn="ctr">
            <a:noFill/>
            <a:prstDash val="solid"/>
            <a:round/>
            <a:headEnd type="none" w="med" len="med"/>
            <a:tailEnd type="none" w="med" len="med"/>
          </a:ln>
          <a:effectLst/>
        </p:spPr>
        <p:txBody>
          <a:bodyPr lIns="36512" tIns="36000" rIns="36512" bIns="19050" anchor="ctr"/>
          <a:lstStyle/>
          <a:p>
            <a:pPr marL="177800" indent="-177800" defTabSz="6022975" eaLnBrk="0" hangingPunct="0">
              <a:spcBef>
                <a:spcPct val="10000"/>
              </a:spcBef>
              <a:buFont typeface="Wingdings" pitchFamily="2" charset="2"/>
              <a:buChar char="§"/>
              <a:defRPr/>
            </a:pPr>
            <a:endParaRPr lang="en-US" sz="1100">
              <a:latin typeface="Arial" charset="0"/>
              <a:ea typeface="+mn-ea"/>
              <a:cs typeface="+mn-cs"/>
            </a:endParaRPr>
          </a:p>
        </p:txBody>
      </p:sp>
      <p:sp>
        <p:nvSpPr>
          <p:cNvPr id="38"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11</a:t>
            </a:fld>
            <a:endParaRPr lang="en-US"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smtClean="0"/>
              <a:t>What is the appropriate scope?</a:t>
            </a:r>
          </a:p>
        </p:txBody>
      </p:sp>
      <p:sp>
        <p:nvSpPr>
          <p:cNvPr id="42028" name="TextBox 126"/>
          <p:cNvSpPr txBox="1">
            <a:spLocks noChangeArrowheads="1"/>
          </p:cNvSpPr>
          <p:nvPr/>
        </p:nvSpPr>
        <p:spPr bwMode="auto">
          <a:xfrm>
            <a:off x="7441878" y="4583305"/>
            <a:ext cx="1503557" cy="1200329"/>
          </a:xfrm>
          <a:prstGeom prst="rect">
            <a:avLst/>
          </a:prstGeom>
          <a:noFill/>
          <a:ln w="9525">
            <a:noFill/>
            <a:miter lim="800000"/>
            <a:headEnd/>
            <a:tailEnd/>
          </a:ln>
        </p:spPr>
        <p:txBody>
          <a:bodyPr wrap="square">
            <a:spAutoFit/>
          </a:bodyPr>
          <a:lstStyle/>
          <a:p>
            <a:pPr>
              <a:lnSpc>
                <a:spcPct val="100000"/>
              </a:lnSpc>
            </a:pPr>
            <a:r>
              <a:rPr lang="en-US" sz="900" dirty="0">
                <a:solidFill>
                  <a:srgbClr val="0070C0"/>
                </a:solidFill>
              </a:rPr>
              <a:t>Philadelphia: </a:t>
            </a:r>
            <a:r>
              <a:rPr lang="en-US" sz="900" b="0" dirty="0">
                <a:solidFill>
                  <a:srgbClr val="0070C0"/>
                </a:solidFill>
              </a:rPr>
              <a:t>Five counties coordinate plans, goals and assets to achieve maximum regional benefit in green building construction and new energy technology commercialization</a:t>
            </a:r>
          </a:p>
        </p:txBody>
      </p:sp>
      <p:sp>
        <p:nvSpPr>
          <p:cNvPr id="42030" name="Oval 128"/>
          <p:cNvSpPr>
            <a:spLocks/>
          </p:cNvSpPr>
          <p:nvPr/>
        </p:nvSpPr>
        <p:spPr bwMode="auto">
          <a:xfrm>
            <a:off x="7238998" y="4619143"/>
            <a:ext cx="210312" cy="210312"/>
          </a:xfrm>
          <a:prstGeom prst="ellipse">
            <a:avLst/>
          </a:prstGeom>
          <a:solidFill>
            <a:srgbClr val="660000"/>
          </a:solidFill>
          <a:ln w="9525" algn="ctr">
            <a:solidFill>
              <a:schemeClr val="bg1"/>
            </a:solidFill>
            <a:round/>
            <a:headEnd/>
            <a:tailEnd/>
          </a:ln>
        </p:spPr>
        <p:txBody>
          <a:bodyPr lIns="0" tIns="0" rIns="0" bIns="0" anchor="ctr" anchorCtr="0"/>
          <a:lstStyle/>
          <a:p>
            <a:pPr algn="ctr" eaLnBrk="0" hangingPunct="0">
              <a:lnSpc>
                <a:spcPct val="100000"/>
              </a:lnSpc>
            </a:pPr>
            <a:r>
              <a:rPr lang="en-US" sz="1100" b="1" dirty="0">
                <a:solidFill>
                  <a:schemeClr val="bg1"/>
                </a:solidFill>
              </a:rPr>
              <a:t>4</a:t>
            </a:r>
          </a:p>
        </p:txBody>
      </p:sp>
      <p:sp>
        <p:nvSpPr>
          <p:cNvPr id="42031" name="TextBox 129"/>
          <p:cNvSpPr txBox="1">
            <a:spLocks noChangeArrowheads="1"/>
          </p:cNvSpPr>
          <p:nvPr/>
        </p:nvSpPr>
        <p:spPr bwMode="auto">
          <a:xfrm>
            <a:off x="7441878" y="2035897"/>
            <a:ext cx="1503557" cy="646331"/>
          </a:xfrm>
          <a:prstGeom prst="rect">
            <a:avLst/>
          </a:prstGeom>
          <a:noFill/>
          <a:ln w="9525">
            <a:noFill/>
            <a:miter lim="800000"/>
            <a:headEnd/>
            <a:tailEnd/>
          </a:ln>
        </p:spPr>
        <p:txBody>
          <a:bodyPr wrap="square">
            <a:spAutoFit/>
          </a:bodyPr>
          <a:lstStyle/>
          <a:p>
            <a:pPr>
              <a:lnSpc>
                <a:spcPct val="100000"/>
              </a:lnSpc>
            </a:pPr>
            <a:r>
              <a:rPr lang="en-US" sz="900" dirty="0">
                <a:solidFill>
                  <a:srgbClr val="0070C0"/>
                </a:solidFill>
              </a:rPr>
              <a:t>Cupertino: </a:t>
            </a:r>
            <a:r>
              <a:rPr lang="en-US" sz="900" b="0" dirty="0">
                <a:solidFill>
                  <a:srgbClr val="0070C0"/>
                </a:solidFill>
              </a:rPr>
              <a:t>All police services are contracted out to the Santa Clara County Sheriff’s dept.</a:t>
            </a:r>
          </a:p>
        </p:txBody>
      </p:sp>
      <p:sp>
        <p:nvSpPr>
          <p:cNvPr id="42033" name="Oval 131"/>
          <p:cNvSpPr>
            <a:spLocks/>
          </p:cNvSpPr>
          <p:nvPr/>
        </p:nvSpPr>
        <p:spPr bwMode="auto">
          <a:xfrm>
            <a:off x="7256669" y="2109285"/>
            <a:ext cx="210312" cy="210312"/>
          </a:xfrm>
          <a:prstGeom prst="ellipse">
            <a:avLst/>
          </a:prstGeom>
          <a:solidFill>
            <a:srgbClr val="660000"/>
          </a:solidFill>
          <a:ln w="9525" algn="ctr">
            <a:solidFill>
              <a:schemeClr val="bg1"/>
            </a:solidFill>
            <a:round/>
            <a:headEnd/>
            <a:tailEnd/>
          </a:ln>
        </p:spPr>
        <p:txBody>
          <a:bodyPr lIns="0" tIns="0" rIns="0" bIns="0" anchor="ctr" anchorCtr="0"/>
          <a:lstStyle/>
          <a:p>
            <a:pPr algn="ctr" eaLnBrk="0" hangingPunct="0">
              <a:lnSpc>
                <a:spcPct val="100000"/>
              </a:lnSpc>
            </a:pPr>
            <a:r>
              <a:rPr lang="en-US" sz="1100" b="1" dirty="0">
                <a:solidFill>
                  <a:schemeClr val="bg1"/>
                </a:solidFill>
              </a:rPr>
              <a:t>1</a:t>
            </a:r>
          </a:p>
        </p:txBody>
      </p:sp>
      <p:sp>
        <p:nvSpPr>
          <p:cNvPr id="42034" name="TextBox 132"/>
          <p:cNvSpPr txBox="1">
            <a:spLocks noChangeArrowheads="1"/>
          </p:cNvSpPr>
          <p:nvPr/>
        </p:nvSpPr>
        <p:spPr bwMode="auto">
          <a:xfrm>
            <a:off x="7440731" y="3539334"/>
            <a:ext cx="1503557" cy="1061829"/>
          </a:xfrm>
          <a:prstGeom prst="rect">
            <a:avLst/>
          </a:prstGeom>
          <a:noFill/>
          <a:ln w="9525">
            <a:noFill/>
            <a:miter lim="800000"/>
            <a:headEnd/>
            <a:tailEnd/>
          </a:ln>
        </p:spPr>
        <p:txBody>
          <a:bodyPr wrap="square">
            <a:spAutoFit/>
          </a:bodyPr>
          <a:lstStyle/>
          <a:p>
            <a:pPr>
              <a:lnSpc>
                <a:spcPct val="100000"/>
              </a:lnSpc>
            </a:pPr>
            <a:r>
              <a:rPr lang="en-US" sz="900" dirty="0">
                <a:solidFill>
                  <a:srgbClr val="0070C0"/>
                </a:solidFill>
              </a:rPr>
              <a:t>Youngstown, OH: </a:t>
            </a:r>
            <a:r>
              <a:rPr lang="en-US" sz="900" b="0" dirty="0">
                <a:solidFill>
                  <a:srgbClr val="0070C0"/>
                </a:solidFill>
              </a:rPr>
              <a:t>Nine cities partnered with city / county governments, housing nonprofits and banks to develop low-cost housing  and revitalize vacant land</a:t>
            </a:r>
          </a:p>
        </p:txBody>
      </p:sp>
      <p:sp>
        <p:nvSpPr>
          <p:cNvPr id="42036" name="Oval 134"/>
          <p:cNvSpPr>
            <a:spLocks/>
          </p:cNvSpPr>
          <p:nvPr/>
        </p:nvSpPr>
        <p:spPr bwMode="auto">
          <a:xfrm>
            <a:off x="7256149" y="3576305"/>
            <a:ext cx="210312" cy="210312"/>
          </a:xfrm>
          <a:prstGeom prst="ellipse">
            <a:avLst/>
          </a:prstGeom>
          <a:solidFill>
            <a:srgbClr val="660000"/>
          </a:solidFill>
          <a:ln w="9525" algn="ctr">
            <a:solidFill>
              <a:schemeClr val="bg1"/>
            </a:solidFill>
            <a:round/>
            <a:headEnd/>
            <a:tailEnd/>
          </a:ln>
        </p:spPr>
        <p:txBody>
          <a:bodyPr lIns="0" tIns="0" rIns="0" bIns="0" anchor="ctr" anchorCtr="0"/>
          <a:lstStyle/>
          <a:p>
            <a:pPr algn="ctr" eaLnBrk="0" hangingPunct="0">
              <a:lnSpc>
                <a:spcPct val="100000"/>
              </a:lnSpc>
            </a:pPr>
            <a:r>
              <a:rPr lang="en-US" sz="1100" b="1">
                <a:solidFill>
                  <a:schemeClr val="bg1"/>
                </a:solidFill>
              </a:rPr>
              <a:t>3</a:t>
            </a:r>
          </a:p>
        </p:txBody>
      </p:sp>
      <p:sp>
        <p:nvSpPr>
          <p:cNvPr id="42037" name="TextBox 135"/>
          <p:cNvSpPr txBox="1">
            <a:spLocks noChangeArrowheads="1"/>
          </p:cNvSpPr>
          <p:nvPr/>
        </p:nvSpPr>
        <p:spPr bwMode="auto">
          <a:xfrm>
            <a:off x="7459468" y="2678164"/>
            <a:ext cx="1503557" cy="923330"/>
          </a:xfrm>
          <a:prstGeom prst="rect">
            <a:avLst/>
          </a:prstGeom>
          <a:noFill/>
          <a:ln w="9525">
            <a:noFill/>
            <a:miter lim="800000"/>
            <a:headEnd/>
            <a:tailEnd/>
          </a:ln>
        </p:spPr>
        <p:txBody>
          <a:bodyPr wrap="square">
            <a:spAutoFit/>
          </a:bodyPr>
          <a:lstStyle/>
          <a:p>
            <a:pPr>
              <a:lnSpc>
                <a:spcPct val="100000"/>
              </a:lnSpc>
            </a:pPr>
            <a:r>
              <a:rPr lang="en-US" sz="900" dirty="0">
                <a:solidFill>
                  <a:srgbClr val="0070C0"/>
                </a:solidFill>
              </a:rPr>
              <a:t>Morris County: </a:t>
            </a:r>
            <a:r>
              <a:rPr lang="en-US" sz="900" b="0" dirty="0">
                <a:solidFill>
                  <a:srgbClr val="0070C0"/>
                </a:solidFill>
              </a:rPr>
              <a:t>Five Morris County towns merged their municipal courts into a regional court based in Dover in 2008</a:t>
            </a:r>
          </a:p>
        </p:txBody>
      </p:sp>
      <p:sp>
        <p:nvSpPr>
          <p:cNvPr id="42039" name="Oval 137"/>
          <p:cNvSpPr>
            <a:spLocks/>
          </p:cNvSpPr>
          <p:nvPr/>
        </p:nvSpPr>
        <p:spPr bwMode="auto">
          <a:xfrm>
            <a:off x="7269404" y="2731812"/>
            <a:ext cx="210312" cy="210312"/>
          </a:xfrm>
          <a:prstGeom prst="ellipse">
            <a:avLst/>
          </a:prstGeom>
          <a:solidFill>
            <a:srgbClr val="660000"/>
          </a:solidFill>
          <a:ln w="9525" algn="ctr">
            <a:solidFill>
              <a:schemeClr val="bg1"/>
            </a:solidFill>
            <a:round/>
            <a:headEnd/>
            <a:tailEnd/>
          </a:ln>
        </p:spPr>
        <p:txBody>
          <a:bodyPr lIns="0" tIns="0" rIns="0" bIns="0" anchor="ctr" anchorCtr="0"/>
          <a:lstStyle/>
          <a:p>
            <a:pPr algn="ctr" eaLnBrk="0" hangingPunct="0">
              <a:lnSpc>
                <a:spcPct val="100000"/>
              </a:lnSpc>
            </a:pPr>
            <a:r>
              <a:rPr lang="en-US" sz="1100" b="1">
                <a:solidFill>
                  <a:schemeClr val="bg1"/>
                </a:solidFill>
              </a:rPr>
              <a:t>2</a:t>
            </a:r>
          </a:p>
        </p:txBody>
      </p:sp>
      <p:grpSp>
        <p:nvGrpSpPr>
          <p:cNvPr id="2" name="Group 62"/>
          <p:cNvGrpSpPr/>
          <p:nvPr/>
        </p:nvGrpSpPr>
        <p:grpSpPr>
          <a:xfrm>
            <a:off x="454204" y="1586741"/>
            <a:ext cx="6552238" cy="4875208"/>
            <a:chOff x="454204" y="1586741"/>
            <a:chExt cx="6045197" cy="4875208"/>
          </a:xfrm>
        </p:grpSpPr>
        <p:sp>
          <p:nvSpPr>
            <p:cNvPr id="76" name="Rectangle 75"/>
            <p:cNvSpPr/>
            <p:nvPr/>
          </p:nvSpPr>
          <p:spPr bwMode="auto">
            <a:xfrm>
              <a:off x="4205594" y="5528981"/>
              <a:ext cx="756092" cy="507831"/>
            </a:xfrm>
            <a:prstGeom prst="rect">
              <a:avLst/>
            </a:prstGeom>
            <a:noFill/>
            <a:ln w="9525" cap="flat" cmpd="sng" algn="ctr">
              <a:noFill/>
              <a:prstDash val="solid"/>
              <a:round/>
              <a:headEnd type="none" w="med" len="med"/>
              <a:tailEnd type="none" w="med" len="med"/>
            </a:ln>
            <a:effectLst/>
          </p:spPr>
          <p:txBody>
            <a:bodyPr wrap="square"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Entitlements and social services</a:t>
              </a:r>
            </a:p>
          </p:txBody>
        </p:sp>
        <p:sp>
          <p:nvSpPr>
            <p:cNvPr id="86" name="Rectangle 85"/>
            <p:cNvSpPr/>
            <p:nvPr/>
          </p:nvSpPr>
          <p:spPr bwMode="auto">
            <a:xfrm>
              <a:off x="4859713" y="5528982"/>
              <a:ext cx="897859" cy="646331"/>
            </a:xfrm>
            <a:prstGeom prst="rect">
              <a:avLst/>
            </a:prstGeom>
            <a:noFill/>
            <a:ln w="9525" cap="flat" cmpd="sng" algn="ctr">
              <a:noFill/>
              <a:prstDash val="solid"/>
              <a:round/>
              <a:headEnd type="none" w="med" len="med"/>
              <a:tailEnd type="none" w="med" len="med"/>
            </a:ln>
            <a:effectLst/>
          </p:spPr>
          <p:txBody>
            <a:bodyPr wrap="square" lIns="45720" rIns="45720">
              <a:spAutoFit/>
            </a:bodyPr>
            <a:lstStyle/>
            <a:p>
              <a:pPr algn="ctr" fontAlgn="auto">
                <a:lnSpc>
                  <a:spcPct val="100000"/>
                </a:lnSpc>
                <a:spcBef>
                  <a:spcPts val="0"/>
                </a:spcBef>
                <a:spcAft>
                  <a:spcPts val="0"/>
                </a:spcAft>
                <a:defRPr/>
              </a:pPr>
              <a:r>
                <a:rPr lang="en-US" sz="900" b="0" kern="0" dirty="0" smtClean="0">
                  <a:solidFill>
                    <a:srgbClr val="800000"/>
                  </a:solidFill>
                  <a:latin typeface="+mn-lt"/>
                  <a:cs typeface="+mn-cs"/>
                </a:rPr>
                <a:t>Transportation, housing</a:t>
              </a:r>
              <a:r>
                <a:rPr lang="en-US" sz="900" b="0" kern="0" dirty="0">
                  <a:solidFill>
                    <a:srgbClr val="800000"/>
                  </a:solidFill>
                  <a:latin typeface="+mn-lt"/>
                  <a:cs typeface="+mn-cs"/>
                </a:rPr>
                <a:t>, and community development</a:t>
              </a:r>
            </a:p>
          </p:txBody>
        </p:sp>
        <p:sp>
          <p:nvSpPr>
            <p:cNvPr id="87" name="Rectangle 86"/>
            <p:cNvSpPr/>
            <p:nvPr/>
          </p:nvSpPr>
          <p:spPr bwMode="auto">
            <a:xfrm>
              <a:off x="3182525" y="5528982"/>
              <a:ext cx="431822" cy="369332"/>
            </a:xfrm>
            <a:prstGeom prst="rect">
              <a:avLst/>
            </a:prstGeom>
            <a:noFill/>
            <a:ln w="9525" cap="flat" cmpd="sng" algn="ctr">
              <a:noFill/>
              <a:prstDash val="solid"/>
              <a:round/>
              <a:headEnd type="none" w="med" len="med"/>
              <a:tailEnd type="none" w="med" len="med"/>
            </a:ln>
            <a:effectLst/>
          </p:spPr>
          <p:txBody>
            <a:bodyPr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Public works</a:t>
              </a:r>
            </a:p>
          </p:txBody>
        </p:sp>
        <p:sp>
          <p:nvSpPr>
            <p:cNvPr id="88" name="Rectangle 87"/>
            <p:cNvSpPr/>
            <p:nvPr/>
          </p:nvSpPr>
          <p:spPr bwMode="auto">
            <a:xfrm>
              <a:off x="1703902" y="5528982"/>
              <a:ext cx="656423" cy="369332"/>
            </a:xfrm>
            <a:prstGeom prst="rect">
              <a:avLst/>
            </a:prstGeom>
            <a:noFill/>
            <a:ln w="9525" cap="flat" cmpd="sng" algn="ctr">
              <a:noFill/>
              <a:prstDash val="solid"/>
              <a:round/>
              <a:headEnd type="none" w="med" len="med"/>
              <a:tailEnd type="none" w="med" len="med"/>
            </a:ln>
            <a:effectLst/>
          </p:spPr>
          <p:txBody>
            <a:bodyPr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Public safety</a:t>
              </a:r>
            </a:p>
          </p:txBody>
        </p:sp>
        <p:sp>
          <p:nvSpPr>
            <p:cNvPr id="89" name="Rectangle 88"/>
            <p:cNvSpPr/>
            <p:nvPr/>
          </p:nvSpPr>
          <p:spPr bwMode="auto">
            <a:xfrm>
              <a:off x="5659429" y="5541682"/>
              <a:ext cx="656424" cy="646331"/>
            </a:xfrm>
            <a:prstGeom prst="rect">
              <a:avLst/>
            </a:prstGeom>
            <a:noFill/>
            <a:ln w="9525" cap="flat" cmpd="sng" algn="ctr">
              <a:noFill/>
              <a:prstDash val="solid"/>
              <a:round/>
              <a:headEnd type="none" w="med" len="med"/>
              <a:tailEnd type="none" w="med" len="med"/>
            </a:ln>
            <a:effectLst/>
          </p:spPr>
          <p:txBody>
            <a:bodyPr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Parks, recreation, and public property</a:t>
              </a:r>
            </a:p>
          </p:txBody>
        </p:sp>
        <p:sp>
          <p:nvSpPr>
            <p:cNvPr id="90" name="Rectangle 89"/>
            <p:cNvSpPr/>
            <p:nvPr/>
          </p:nvSpPr>
          <p:spPr bwMode="auto">
            <a:xfrm>
              <a:off x="2297490" y="5528982"/>
              <a:ext cx="873002" cy="230832"/>
            </a:xfrm>
            <a:prstGeom prst="rect">
              <a:avLst/>
            </a:prstGeom>
            <a:noFill/>
            <a:ln w="9525" cap="flat" cmpd="sng" algn="ctr">
              <a:noFill/>
              <a:prstDash val="solid"/>
              <a:round/>
              <a:headEnd type="none" w="med" len="med"/>
              <a:tailEnd type="none" w="med" len="med"/>
            </a:ln>
            <a:effectLst/>
          </p:spPr>
          <p:txBody>
            <a:bodyPr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Administration</a:t>
              </a:r>
            </a:p>
          </p:txBody>
        </p:sp>
        <p:sp>
          <p:nvSpPr>
            <p:cNvPr id="91" name="Rectangle 90"/>
            <p:cNvSpPr/>
            <p:nvPr/>
          </p:nvSpPr>
          <p:spPr bwMode="auto">
            <a:xfrm>
              <a:off x="1118335" y="5528982"/>
              <a:ext cx="657760" cy="230832"/>
            </a:xfrm>
            <a:prstGeom prst="rect">
              <a:avLst/>
            </a:prstGeom>
            <a:noFill/>
            <a:ln w="9525" cap="flat" cmpd="sng" algn="ctr">
              <a:noFill/>
              <a:prstDash val="solid"/>
              <a:round/>
              <a:headEnd type="none" w="med" len="med"/>
              <a:tailEnd type="none" w="med" len="med"/>
            </a:ln>
            <a:effectLst/>
          </p:spPr>
          <p:txBody>
            <a:bodyPr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Education</a:t>
              </a:r>
            </a:p>
          </p:txBody>
        </p:sp>
        <p:sp>
          <p:nvSpPr>
            <p:cNvPr id="95" name="Down Arrow 94"/>
            <p:cNvSpPr/>
            <p:nvPr/>
          </p:nvSpPr>
          <p:spPr bwMode="auto">
            <a:xfrm flipV="1">
              <a:off x="1844277" y="2016533"/>
              <a:ext cx="497331" cy="3449149"/>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96" name="Down Arrow 95"/>
            <p:cNvSpPr/>
            <p:nvPr/>
          </p:nvSpPr>
          <p:spPr bwMode="auto">
            <a:xfrm flipV="1">
              <a:off x="2481984" y="2016533"/>
              <a:ext cx="497331" cy="3449149"/>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97" name="Down Arrow 96"/>
            <p:cNvSpPr/>
            <p:nvPr/>
          </p:nvSpPr>
          <p:spPr bwMode="auto">
            <a:xfrm flipV="1">
              <a:off x="3119690" y="2022159"/>
              <a:ext cx="497331" cy="3450555"/>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98" name="Down Arrow 97"/>
            <p:cNvSpPr/>
            <p:nvPr/>
          </p:nvSpPr>
          <p:spPr bwMode="auto">
            <a:xfrm flipV="1">
              <a:off x="3757397" y="2022159"/>
              <a:ext cx="498667" cy="3450555"/>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99" name="Down Arrow 98"/>
            <p:cNvSpPr/>
            <p:nvPr/>
          </p:nvSpPr>
          <p:spPr bwMode="auto">
            <a:xfrm flipV="1">
              <a:off x="4395103" y="2022159"/>
              <a:ext cx="498668" cy="3450555"/>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00" name="Down Arrow 99"/>
            <p:cNvSpPr/>
            <p:nvPr/>
          </p:nvSpPr>
          <p:spPr bwMode="auto">
            <a:xfrm flipV="1">
              <a:off x="5032810" y="2022159"/>
              <a:ext cx="498667" cy="3450555"/>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01" name="Down Arrow 100"/>
            <p:cNvSpPr/>
            <p:nvPr/>
          </p:nvSpPr>
          <p:spPr bwMode="auto">
            <a:xfrm flipV="1">
              <a:off x="1214593" y="2016533"/>
              <a:ext cx="497331" cy="3449149"/>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cxnSp>
          <p:nvCxnSpPr>
            <p:cNvPr id="42003" name="Straight Connector 101"/>
            <p:cNvCxnSpPr>
              <a:cxnSpLocks noChangeShapeType="1"/>
            </p:cNvCxnSpPr>
            <p:nvPr/>
          </p:nvCxnSpPr>
          <p:spPr bwMode="auto">
            <a:xfrm>
              <a:off x="1163790" y="5470223"/>
              <a:ext cx="5250048" cy="0"/>
            </a:xfrm>
            <a:prstGeom prst="line">
              <a:avLst/>
            </a:prstGeom>
            <a:noFill/>
            <a:ln w="19050" algn="ctr">
              <a:solidFill>
                <a:schemeClr val="accent5"/>
              </a:solidFill>
              <a:round/>
              <a:headEnd/>
              <a:tailEnd/>
            </a:ln>
          </p:spPr>
        </p:cxnSp>
        <p:sp>
          <p:nvSpPr>
            <p:cNvPr id="103" name="Down Arrow 102"/>
            <p:cNvSpPr/>
            <p:nvPr/>
          </p:nvSpPr>
          <p:spPr bwMode="auto">
            <a:xfrm rot="16200000">
              <a:off x="3550825" y="-37401"/>
              <a:ext cx="566888" cy="5330262"/>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04" name="Down Arrow 103"/>
            <p:cNvSpPr/>
            <p:nvPr/>
          </p:nvSpPr>
          <p:spPr bwMode="auto">
            <a:xfrm rot="16200000">
              <a:off x="3550122" y="793235"/>
              <a:ext cx="568294" cy="5330262"/>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05" name="Down Arrow 104"/>
            <p:cNvSpPr/>
            <p:nvPr/>
          </p:nvSpPr>
          <p:spPr bwMode="auto">
            <a:xfrm rot="16200000">
              <a:off x="3550826" y="1623873"/>
              <a:ext cx="566887" cy="5330262"/>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06" name="Down Arrow 105"/>
            <p:cNvSpPr/>
            <p:nvPr/>
          </p:nvSpPr>
          <p:spPr bwMode="auto">
            <a:xfrm rot="16200000">
              <a:off x="3550826" y="2453807"/>
              <a:ext cx="566887" cy="5330262"/>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07" name="Rectangle 106"/>
            <p:cNvSpPr/>
            <p:nvPr/>
          </p:nvSpPr>
          <p:spPr bwMode="auto">
            <a:xfrm>
              <a:off x="454205" y="2511680"/>
              <a:ext cx="681824" cy="230832"/>
            </a:xfrm>
            <a:prstGeom prst="rect">
              <a:avLst/>
            </a:prstGeom>
            <a:noFill/>
            <a:ln w="9525" cap="flat" cmpd="sng" algn="ctr">
              <a:noFill/>
              <a:prstDash val="solid"/>
              <a:round/>
              <a:headEnd type="none" w="med" len="med"/>
              <a:tailEnd type="none" w="med" len="med"/>
            </a:ln>
            <a:effectLst/>
          </p:spPr>
          <p:txBody>
            <a:bodyPr lIns="45720" rIns="45720">
              <a:spAutoFit/>
            </a:bodyPr>
            <a:lstStyle/>
            <a:p>
              <a:pPr fontAlgn="auto">
                <a:lnSpc>
                  <a:spcPct val="100000"/>
                </a:lnSpc>
                <a:spcBef>
                  <a:spcPts val="0"/>
                </a:spcBef>
                <a:spcAft>
                  <a:spcPts val="0"/>
                </a:spcAft>
                <a:defRPr/>
              </a:pPr>
              <a:r>
                <a:rPr lang="en-US" sz="900" b="0" kern="0" dirty="0">
                  <a:solidFill>
                    <a:srgbClr val="800000"/>
                  </a:solidFill>
                  <a:latin typeface="+mn-lt"/>
                  <a:cs typeface="+mn-cs"/>
                </a:rPr>
                <a:t>Policy</a:t>
              </a:r>
            </a:p>
          </p:txBody>
        </p:sp>
        <p:sp>
          <p:nvSpPr>
            <p:cNvPr id="108" name="Rectangle 107"/>
            <p:cNvSpPr/>
            <p:nvPr/>
          </p:nvSpPr>
          <p:spPr bwMode="auto">
            <a:xfrm>
              <a:off x="454205" y="3341614"/>
              <a:ext cx="681824" cy="230832"/>
            </a:xfrm>
            <a:prstGeom prst="rect">
              <a:avLst/>
            </a:prstGeom>
            <a:noFill/>
            <a:ln w="9525" cap="flat" cmpd="sng" algn="ctr">
              <a:noFill/>
              <a:prstDash val="solid"/>
              <a:round/>
              <a:headEnd type="none" w="med" len="med"/>
              <a:tailEnd type="none" w="med" len="med"/>
            </a:ln>
            <a:effectLst/>
          </p:spPr>
          <p:txBody>
            <a:bodyPr lIns="45720" rIns="45720">
              <a:spAutoFit/>
            </a:bodyPr>
            <a:lstStyle/>
            <a:p>
              <a:pPr fontAlgn="auto">
                <a:lnSpc>
                  <a:spcPct val="100000"/>
                </a:lnSpc>
                <a:spcBef>
                  <a:spcPts val="0"/>
                </a:spcBef>
                <a:spcAft>
                  <a:spcPts val="0"/>
                </a:spcAft>
                <a:defRPr/>
              </a:pPr>
              <a:r>
                <a:rPr lang="en-US" sz="900" b="0" kern="0" dirty="0">
                  <a:solidFill>
                    <a:srgbClr val="800000"/>
                  </a:solidFill>
                  <a:latin typeface="+mn-lt"/>
                  <a:cs typeface="+mn-cs"/>
                </a:rPr>
                <a:t>Program</a:t>
              </a:r>
            </a:p>
          </p:txBody>
        </p:sp>
        <p:sp>
          <p:nvSpPr>
            <p:cNvPr id="109" name="Rectangle 108"/>
            <p:cNvSpPr/>
            <p:nvPr/>
          </p:nvSpPr>
          <p:spPr bwMode="auto">
            <a:xfrm>
              <a:off x="454204" y="4172954"/>
              <a:ext cx="721453" cy="230832"/>
            </a:xfrm>
            <a:prstGeom prst="rect">
              <a:avLst/>
            </a:prstGeom>
            <a:noFill/>
            <a:ln w="9525" cap="flat" cmpd="sng" algn="ctr">
              <a:noFill/>
              <a:prstDash val="solid"/>
              <a:round/>
              <a:headEnd type="none" w="med" len="med"/>
              <a:tailEnd type="none" w="med" len="med"/>
            </a:ln>
            <a:effectLst/>
          </p:spPr>
          <p:txBody>
            <a:bodyPr wrap="square" lIns="45720" rIns="45720">
              <a:spAutoFit/>
            </a:bodyPr>
            <a:lstStyle/>
            <a:p>
              <a:pPr fontAlgn="auto">
                <a:lnSpc>
                  <a:spcPct val="100000"/>
                </a:lnSpc>
                <a:spcBef>
                  <a:spcPts val="0"/>
                </a:spcBef>
                <a:spcAft>
                  <a:spcPts val="0"/>
                </a:spcAft>
                <a:defRPr/>
              </a:pPr>
              <a:r>
                <a:rPr lang="en-US" sz="900" b="0" kern="0" dirty="0">
                  <a:solidFill>
                    <a:srgbClr val="800000"/>
                  </a:solidFill>
                  <a:latin typeface="+mn-lt"/>
                  <a:cs typeface="+mn-cs"/>
                </a:rPr>
                <a:t>Production</a:t>
              </a:r>
            </a:p>
          </p:txBody>
        </p:sp>
        <p:sp>
          <p:nvSpPr>
            <p:cNvPr id="110" name="Rectangle 109"/>
            <p:cNvSpPr/>
            <p:nvPr/>
          </p:nvSpPr>
          <p:spPr bwMode="auto">
            <a:xfrm>
              <a:off x="454205" y="5002888"/>
              <a:ext cx="681824" cy="230832"/>
            </a:xfrm>
            <a:prstGeom prst="rect">
              <a:avLst/>
            </a:prstGeom>
            <a:noFill/>
            <a:ln w="9525" cap="flat" cmpd="sng" algn="ctr">
              <a:noFill/>
              <a:prstDash val="solid"/>
              <a:round/>
              <a:headEnd type="none" w="med" len="med"/>
              <a:tailEnd type="none" w="med" len="med"/>
            </a:ln>
            <a:effectLst/>
          </p:spPr>
          <p:txBody>
            <a:bodyPr lIns="45720" rIns="45720">
              <a:spAutoFit/>
            </a:bodyPr>
            <a:lstStyle/>
            <a:p>
              <a:pPr fontAlgn="auto">
                <a:lnSpc>
                  <a:spcPct val="100000"/>
                </a:lnSpc>
                <a:spcBef>
                  <a:spcPts val="0"/>
                </a:spcBef>
                <a:spcAft>
                  <a:spcPts val="0"/>
                </a:spcAft>
                <a:defRPr/>
              </a:pPr>
              <a:r>
                <a:rPr lang="en-US" sz="900" b="0" kern="0" dirty="0">
                  <a:solidFill>
                    <a:srgbClr val="800000"/>
                  </a:solidFill>
                  <a:latin typeface="+mn-lt"/>
                  <a:cs typeface="+mn-cs"/>
                </a:rPr>
                <a:t>Provision</a:t>
              </a:r>
            </a:p>
          </p:txBody>
        </p:sp>
        <p:sp>
          <p:nvSpPr>
            <p:cNvPr id="42012" name="Oval 110"/>
            <p:cNvSpPr>
              <a:spLocks noChangeArrowheads="1"/>
            </p:cNvSpPr>
            <p:nvPr/>
          </p:nvSpPr>
          <p:spPr bwMode="auto">
            <a:xfrm>
              <a:off x="5007408" y="2366792"/>
              <a:ext cx="1164450" cy="469827"/>
            </a:xfrm>
            <a:prstGeom prst="ellipse">
              <a:avLst/>
            </a:prstGeom>
            <a:solidFill>
              <a:schemeClr val="accent4">
                <a:alpha val="20000"/>
              </a:schemeClr>
            </a:solidFill>
            <a:ln w="12700" algn="ctr">
              <a:solidFill>
                <a:srgbClr val="660000"/>
              </a:solidFill>
              <a:prstDash val="dash"/>
              <a:round/>
              <a:headEnd/>
              <a:tailEnd/>
            </a:ln>
          </p:spPr>
          <p:txBody>
            <a:bodyPr lIns="36512" tIns="36000" rIns="36512" bIns="19050" anchor="ctr"/>
            <a:lstStyle/>
            <a:p>
              <a:pPr marL="177800" indent="-177800" defTabSz="6022975" eaLnBrk="0" hangingPunct="0">
                <a:lnSpc>
                  <a:spcPct val="100000"/>
                </a:lnSpc>
                <a:spcBef>
                  <a:spcPct val="10000"/>
                </a:spcBef>
              </a:pPr>
              <a:endParaRPr lang="en-US"/>
            </a:p>
          </p:txBody>
        </p:sp>
        <p:sp>
          <p:nvSpPr>
            <p:cNvPr id="42013" name="Oval 111"/>
            <p:cNvSpPr>
              <a:spLocks/>
            </p:cNvSpPr>
            <p:nvPr/>
          </p:nvSpPr>
          <p:spPr bwMode="auto">
            <a:xfrm>
              <a:off x="5484685" y="2476513"/>
              <a:ext cx="194037" cy="210312"/>
            </a:xfrm>
            <a:prstGeom prst="ellipse">
              <a:avLst/>
            </a:prstGeom>
            <a:solidFill>
              <a:srgbClr val="660000"/>
            </a:solidFill>
            <a:ln w="9525" algn="ctr">
              <a:solidFill>
                <a:schemeClr val="bg1"/>
              </a:solidFill>
              <a:round/>
              <a:headEnd/>
              <a:tailEnd/>
            </a:ln>
          </p:spPr>
          <p:txBody>
            <a:bodyPr lIns="0" tIns="0" rIns="0" bIns="0" anchor="ctr"/>
            <a:lstStyle/>
            <a:p>
              <a:pPr algn="ctr" eaLnBrk="0" hangingPunct="0">
                <a:lnSpc>
                  <a:spcPct val="100000"/>
                </a:lnSpc>
              </a:pPr>
              <a:r>
                <a:rPr lang="en-US" sz="1100" b="1" dirty="0">
                  <a:solidFill>
                    <a:schemeClr val="bg1"/>
                  </a:solidFill>
                </a:rPr>
                <a:t>4</a:t>
              </a:r>
            </a:p>
          </p:txBody>
        </p:sp>
        <p:grpSp>
          <p:nvGrpSpPr>
            <p:cNvPr id="3" name="Group 85"/>
            <p:cNvGrpSpPr>
              <a:grpSpLocks/>
            </p:cNvGrpSpPr>
            <p:nvPr/>
          </p:nvGrpSpPr>
          <p:grpSpPr bwMode="auto">
            <a:xfrm>
              <a:off x="1805507" y="2378046"/>
              <a:ext cx="542786" cy="3038402"/>
              <a:chOff x="2221840" y="3176337"/>
              <a:chExt cx="697003" cy="2394283"/>
            </a:xfrm>
            <a:solidFill>
              <a:schemeClr val="accent4">
                <a:alpha val="50000"/>
              </a:schemeClr>
            </a:solidFill>
          </p:grpSpPr>
          <p:sp>
            <p:nvSpPr>
              <p:cNvPr id="42044" name="Oval 113"/>
              <p:cNvSpPr>
                <a:spLocks noChangeArrowheads="1"/>
              </p:cNvSpPr>
              <p:nvPr/>
            </p:nvSpPr>
            <p:spPr bwMode="auto">
              <a:xfrm>
                <a:off x="2221840" y="3176337"/>
                <a:ext cx="697003" cy="2394283"/>
              </a:xfrm>
              <a:prstGeom prst="ellipse">
                <a:avLst/>
              </a:prstGeom>
              <a:solidFill>
                <a:schemeClr val="accent4">
                  <a:alpha val="20000"/>
                </a:schemeClr>
              </a:solidFill>
              <a:ln w="12700" algn="ctr">
                <a:solidFill>
                  <a:srgbClr val="660000"/>
                </a:solidFill>
                <a:prstDash val="dash"/>
                <a:round/>
                <a:headEnd/>
                <a:tailEnd/>
              </a:ln>
            </p:spPr>
            <p:txBody>
              <a:bodyPr lIns="36512" tIns="36000" rIns="36512" bIns="19050" anchor="ctr"/>
              <a:lstStyle/>
              <a:p>
                <a:pPr marL="177800" indent="-177800" defTabSz="6022975" eaLnBrk="0" hangingPunct="0">
                  <a:lnSpc>
                    <a:spcPct val="100000"/>
                  </a:lnSpc>
                  <a:spcBef>
                    <a:spcPct val="10000"/>
                  </a:spcBef>
                  <a:buFont typeface="Wingdings" pitchFamily="2" charset="2"/>
                  <a:buChar char="§"/>
                </a:pPr>
                <a:endParaRPr lang="en-US"/>
              </a:p>
            </p:txBody>
          </p:sp>
          <p:sp>
            <p:nvSpPr>
              <p:cNvPr id="42045" name="Oval 114"/>
              <p:cNvSpPr>
                <a:spLocks/>
              </p:cNvSpPr>
              <p:nvPr/>
            </p:nvSpPr>
            <p:spPr bwMode="auto">
              <a:xfrm>
                <a:off x="2422369" y="4240498"/>
                <a:ext cx="249167" cy="165727"/>
              </a:xfrm>
              <a:prstGeom prst="ellipse">
                <a:avLst/>
              </a:prstGeom>
              <a:solidFill>
                <a:srgbClr val="660000"/>
              </a:solidFill>
              <a:ln w="9525" algn="ctr">
                <a:solidFill>
                  <a:schemeClr val="bg1"/>
                </a:solidFill>
                <a:round/>
                <a:headEnd/>
                <a:tailEnd/>
              </a:ln>
            </p:spPr>
            <p:txBody>
              <a:bodyPr lIns="0" tIns="0" rIns="0" bIns="0" anchor="ctr"/>
              <a:lstStyle/>
              <a:p>
                <a:pPr algn="ctr" eaLnBrk="0" hangingPunct="0">
                  <a:lnSpc>
                    <a:spcPct val="100000"/>
                  </a:lnSpc>
                </a:pPr>
                <a:r>
                  <a:rPr lang="en-US" sz="1100" b="1" dirty="0">
                    <a:solidFill>
                      <a:schemeClr val="bg1"/>
                    </a:solidFill>
                  </a:rPr>
                  <a:t>1</a:t>
                </a:r>
              </a:p>
            </p:txBody>
          </p:sp>
        </p:grpSp>
        <p:grpSp>
          <p:nvGrpSpPr>
            <p:cNvPr id="4" name="Group 73"/>
            <p:cNvGrpSpPr>
              <a:grpSpLocks/>
            </p:cNvGrpSpPr>
            <p:nvPr/>
          </p:nvGrpSpPr>
          <p:grpSpPr bwMode="auto">
            <a:xfrm>
              <a:off x="4395103" y="2355539"/>
              <a:ext cx="1136374" cy="3038402"/>
              <a:chOff x="4516132" y="2337463"/>
              <a:chExt cx="1803400" cy="3353474"/>
            </a:xfrm>
            <a:solidFill>
              <a:schemeClr val="accent4">
                <a:alpha val="50000"/>
              </a:schemeClr>
            </a:solidFill>
          </p:grpSpPr>
          <p:sp>
            <p:nvSpPr>
              <p:cNvPr id="42042" name="Oval 116"/>
              <p:cNvSpPr>
                <a:spLocks noChangeArrowheads="1"/>
              </p:cNvSpPr>
              <p:nvPr/>
            </p:nvSpPr>
            <p:spPr bwMode="auto">
              <a:xfrm>
                <a:off x="4516132" y="2337463"/>
                <a:ext cx="1803400" cy="3353474"/>
              </a:xfrm>
              <a:prstGeom prst="ellipse">
                <a:avLst/>
              </a:prstGeom>
              <a:solidFill>
                <a:schemeClr val="accent4">
                  <a:alpha val="20000"/>
                </a:schemeClr>
              </a:solidFill>
              <a:ln w="12700" algn="ctr">
                <a:solidFill>
                  <a:srgbClr val="660000"/>
                </a:solidFill>
                <a:prstDash val="dash"/>
                <a:round/>
                <a:headEnd/>
                <a:tailEnd/>
              </a:ln>
            </p:spPr>
            <p:txBody>
              <a:bodyPr lIns="36512" tIns="36000" rIns="36512" bIns="19050" anchor="ctr"/>
              <a:lstStyle/>
              <a:p>
                <a:pPr marL="177800" indent="-177800" defTabSz="6022975" eaLnBrk="0" hangingPunct="0">
                  <a:lnSpc>
                    <a:spcPct val="100000"/>
                  </a:lnSpc>
                  <a:spcBef>
                    <a:spcPct val="10000"/>
                  </a:spcBef>
                  <a:buFont typeface="Wingdings" pitchFamily="2" charset="2"/>
                  <a:buChar char="§"/>
                </a:pPr>
                <a:endParaRPr lang="en-US"/>
              </a:p>
            </p:txBody>
          </p:sp>
          <p:sp>
            <p:nvSpPr>
              <p:cNvPr id="42043" name="Oval 117"/>
              <p:cNvSpPr>
                <a:spLocks/>
              </p:cNvSpPr>
              <p:nvPr/>
            </p:nvSpPr>
            <p:spPr bwMode="auto">
              <a:xfrm>
                <a:off x="5265073" y="3873879"/>
                <a:ext cx="307933" cy="232121"/>
              </a:xfrm>
              <a:prstGeom prst="ellipse">
                <a:avLst/>
              </a:prstGeom>
              <a:solidFill>
                <a:srgbClr val="660000"/>
              </a:solidFill>
              <a:ln w="9525" algn="ctr">
                <a:solidFill>
                  <a:schemeClr val="bg1"/>
                </a:solidFill>
                <a:round/>
                <a:headEnd/>
                <a:tailEnd/>
              </a:ln>
            </p:spPr>
            <p:txBody>
              <a:bodyPr lIns="0" tIns="0" rIns="0" bIns="0" anchor="ctr"/>
              <a:lstStyle/>
              <a:p>
                <a:pPr algn="ctr" eaLnBrk="0" hangingPunct="0">
                  <a:lnSpc>
                    <a:spcPct val="100000"/>
                  </a:lnSpc>
                </a:pPr>
                <a:r>
                  <a:rPr lang="en-US" sz="1100" b="1" dirty="0">
                    <a:solidFill>
                      <a:schemeClr val="bg1"/>
                    </a:solidFill>
                  </a:rPr>
                  <a:t>3</a:t>
                </a:r>
              </a:p>
            </p:txBody>
          </p:sp>
        </p:grpSp>
        <p:sp>
          <p:nvSpPr>
            <p:cNvPr id="119" name="Rectangle 118"/>
            <p:cNvSpPr/>
            <p:nvPr/>
          </p:nvSpPr>
          <p:spPr bwMode="auto">
            <a:xfrm>
              <a:off x="456564" y="1586741"/>
              <a:ext cx="1053176" cy="430887"/>
            </a:xfrm>
            <a:prstGeom prst="rect">
              <a:avLst/>
            </a:prstGeom>
            <a:noFill/>
            <a:ln w="9525" cap="flat" cmpd="sng" algn="ctr">
              <a:noFill/>
              <a:prstDash val="solid"/>
              <a:round/>
              <a:headEnd type="none" w="med" len="med"/>
              <a:tailEnd type="none" w="med" len="med"/>
            </a:ln>
            <a:effectLst/>
          </p:spPr>
          <p:txBody>
            <a:bodyPr wrap="square" lIns="45720" rIns="45720">
              <a:spAutoFit/>
            </a:bodyPr>
            <a:lstStyle/>
            <a:p>
              <a:pPr fontAlgn="auto">
                <a:lnSpc>
                  <a:spcPct val="100000"/>
                </a:lnSpc>
                <a:spcBef>
                  <a:spcPts val="0"/>
                </a:spcBef>
                <a:spcAft>
                  <a:spcPts val="0"/>
                </a:spcAft>
                <a:defRPr/>
              </a:pPr>
              <a:r>
                <a:rPr lang="en-GB" sz="1100" b="1" dirty="0">
                  <a:solidFill>
                    <a:srgbClr val="800000"/>
                  </a:solidFill>
                  <a:latin typeface="+mn-lt"/>
                  <a:cs typeface="+mn-cs"/>
                </a:rPr>
                <a:t>Government Value Chain</a:t>
              </a:r>
              <a:endParaRPr lang="en-US" sz="1100" b="1" kern="0" dirty="0">
                <a:solidFill>
                  <a:srgbClr val="800000"/>
                </a:solidFill>
                <a:latin typeface="+mn-lt"/>
                <a:cs typeface="+mn-cs"/>
              </a:endParaRPr>
            </a:p>
          </p:txBody>
        </p:sp>
        <p:cxnSp>
          <p:nvCxnSpPr>
            <p:cNvPr id="42017" name="Straight Connector 119"/>
            <p:cNvCxnSpPr>
              <a:cxnSpLocks noChangeShapeType="1"/>
            </p:cNvCxnSpPr>
            <p:nvPr/>
          </p:nvCxnSpPr>
          <p:spPr bwMode="auto">
            <a:xfrm rot="5400000" flipH="1" flipV="1">
              <a:off x="-532512" y="3783307"/>
              <a:ext cx="3387256" cy="0"/>
            </a:xfrm>
            <a:prstGeom prst="line">
              <a:avLst/>
            </a:prstGeom>
            <a:noFill/>
            <a:ln w="19050" algn="ctr">
              <a:solidFill>
                <a:schemeClr val="accent5"/>
              </a:solidFill>
              <a:round/>
              <a:headEnd/>
              <a:tailEnd/>
            </a:ln>
          </p:spPr>
        </p:cxnSp>
        <p:sp>
          <p:nvSpPr>
            <p:cNvPr id="121" name="Rectangle 120"/>
            <p:cNvSpPr/>
            <p:nvPr/>
          </p:nvSpPr>
          <p:spPr bwMode="auto">
            <a:xfrm>
              <a:off x="1128073" y="6200339"/>
              <a:ext cx="5313961" cy="261610"/>
            </a:xfrm>
            <a:prstGeom prst="rect">
              <a:avLst/>
            </a:prstGeom>
            <a:noFill/>
            <a:ln w="9525" cap="flat" cmpd="sng" algn="ctr">
              <a:noFill/>
              <a:prstDash val="solid"/>
              <a:round/>
              <a:headEnd type="none" w="med" len="med"/>
              <a:tailEnd type="none" w="med" len="med"/>
            </a:ln>
            <a:effectLst/>
          </p:spPr>
          <p:txBody>
            <a:bodyPr wrap="square" lIns="45720" rIns="45720">
              <a:spAutoFit/>
            </a:bodyPr>
            <a:lstStyle/>
            <a:p>
              <a:pPr algn="ctr" fontAlgn="auto">
                <a:lnSpc>
                  <a:spcPct val="100000"/>
                </a:lnSpc>
                <a:spcBef>
                  <a:spcPts val="0"/>
                </a:spcBef>
                <a:spcAft>
                  <a:spcPts val="0"/>
                </a:spcAft>
                <a:defRPr/>
              </a:pPr>
              <a:r>
                <a:rPr lang="en-GB" sz="1100" b="1" dirty="0">
                  <a:solidFill>
                    <a:srgbClr val="800000"/>
                  </a:solidFill>
                  <a:latin typeface="+mn-lt"/>
                  <a:cs typeface="+mn-cs"/>
                </a:rPr>
                <a:t>Services and </a:t>
              </a:r>
              <a:r>
                <a:rPr lang="en-GB" sz="1100" b="1" dirty="0" smtClean="0">
                  <a:solidFill>
                    <a:srgbClr val="800000"/>
                  </a:solidFill>
                  <a:latin typeface="+mn-lt"/>
                  <a:cs typeface="+mn-cs"/>
                </a:rPr>
                <a:t>functional </a:t>
              </a:r>
              <a:r>
                <a:rPr lang="en-GB" sz="1100" b="1" dirty="0">
                  <a:solidFill>
                    <a:srgbClr val="800000"/>
                  </a:solidFill>
                  <a:latin typeface="+mn-lt"/>
                  <a:cs typeface="+mn-cs"/>
                </a:rPr>
                <a:t>areas</a:t>
              </a:r>
              <a:endParaRPr lang="en-US" sz="1100" b="1" kern="0" dirty="0">
                <a:solidFill>
                  <a:srgbClr val="800000"/>
                </a:solidFill>
                <a:latin typeface="+mn-lt"/>
                <a:cs typeface="+mn-cs"/>
              </a:endParaRPr>
            </a:p>
          </p:txBody>
        </p:sp>
        <p:grpSp>
          <p:nvGrpSpPr>
            <p:cNvPr id="5" name="Group 85"/>
            <p:cNvGrpSpPr>
              <a:grpSpLocks/>
            </p:cNvGrpSpPr>
            <p:nvPr/>
          </p:nvGrpSpPr>
          <p:grpSpPr bwMode="auto">
            <a:xfrm>
              <a:off x="2455246" y="3295193"/>
              <a:ext cx="542786" cy="2121255"/>
              <a:chOff x="3189197" y="3176337"/>
              <a:chExt cx="697003" cy="2394283"/>
            </a:xfrm>
            <a:solidFill>
              <a:schemeClr val="accent4">
                <a:alpha val="50000"/>
              </a:schemeClr>
            </a:solidFill>
          </p:grpSpPr>
          <p:sp>
            <p:nvSpPr>
              <p:cNvPr id="42040" name="Oval 123"/>
              <p:cNvSpPr>
                <a:spLocks noChangeArrowheads="1"/>
              </p:cNvSpPr>
              <p:nvPr/>
            </p:nvSpPr>
            <p:spPr bwMode="auto">
              <a:xfrm>
                <a:off x="3189197" y="3176337"/>
                <a:ext cx="697003" cy="2394283"/>
              </a:xfrm>
              <a:prstGeom prst="ellipse">
                <a:avLst/>
              </a:prstGeom>
              <a:solidFill>
                <a:schemeClr val="accent4">
                  <a:alpha val="20000"/>
                </a:schemeClr>
              </a:solidFill>
              <a:ln w="12700" algn="ctr">
                <a:solidFill>
                  <a:srgbClr val="660000"/>
                </a:solidFill>
                <a:prstDash val="dash"/>
                <a:round/>
                <a:headEnd/>
                <a:tailEnd/>
              </a:ln>
            </p:spPr>
            <p:txBody>
              <a:bodyPr lIns="36512" tIns="36000" rIns="36512" bIns="19050" anchor="ctr"/>
              <a:lstStyle/>
              <a:p>
                <a:pPr marL="177800" indent="-177800" defTabSz="6022975" eaLnBrk="0" hangingPunct="0">
                  <a:lnSpc>
                    <a:spcPct val="100000"/>
                  </a:lnSpc>
                  <a:spcBef>
                    <a:spcPct val="10000"/>
                  </a:spcBef>
                  <a:buFont typeface="Wingdings" pitchFamily="2" charset="2"/>
                  <a:buChar char="§"/>
                </a:pPr>
                <a:endParaRPr lang="en-US"/>
              </a:p>
            </p:txBody>
          </p:sp>
          <p:sp>
            <p:nvSpPr>
              <p:cNvPr id="42041" name="Oval 124"/>
              <p:cNvSpPr>
                <a:spLocks/>
              </p:cNvSpPr>
              <p:nvPr/>
            </p:nvSpPr>
            <p:spPr bwMode="auto">
              <a:xfrm>
                <a:off x="3384941" y="4328854"/>
                <a:ext cx="249167" cy="237381"/>
              </a:xfrm>
              <a:prstGeom prst="ellipse">
                <a:avLst/>
              </a:prstGeom>
              <a:solidFill>
                <a:srgbClr val="660000"/>
              </a:solidFill>
              <a:ln w="9525" algn="ctr">
                <a:solidFill>
                  <a:schemeClr val="bg1"/>
                </a:solidFill>
                <a:round/>
                <a:headEnd/>
                <a:tailEnd/>
              </a:ln>
            </p:spPr>
            <p:txBody>
              <a:bodyPr lIns="0" tIns="0" rIns="0" bIns="0" anchor="ctr"/>
              <a:lstStyle/>
              <a:p>
                <a:pPr algn="ctr" eaLnBrk="0" hangingPunct="0">
                  <a:lnSpc>
                    <a:spcPct val="100000"/>
                  </a:lnSpc>
                </a:pPr>
                <a:r>
                  <a:rPr lang="en-US" sz="1100" b="1" dirty="0">
                    <a:solidFill>
                      <a:schemeClr val="bg1"/>
                    </a:solidFill>
                  </a:rPr>
                  <a:t>2</a:t>
                </a:r>
              </a:p>
            </p:txBody>
          </p:sp>
        </p:grpSp>
        <p:sp>
          <p:nvSpPr>
            <p:cNvPr id="139" name="Down Arrow 138"/>
            <p:cNvSpPr/>
            <p:nvPr/>
          </p:nvSpPr>
          <p:spPr bwMode="auto">
            <a:xfrm flipV="1">
              <a:off x="5671853" y="2026379"/>
              <a:ext cx="497331" cy="3450556"/>
            </a:xfrm>
            <a:prstGeom prst="downArrow">
              <a:avLst/>
            </a:prstGeom>
            <a:solidFill>
              <a:schemeClr val="accent5">
                <a:lumMod val="40000"/>
                <a:lumOff val="60000"/>
                <a:alpha val="30000"/>
              </a:schemeClr>
            </a:solidFill>
            <a:ln w="9525" cap="flat" cmpd="sng" algn="ctr">
              <a:noFill/>
              <a:prstDash val="solid"/>
              <a:round/>
              <a:headEnd type="none" w="med" len="med"/>
              <a:tailEnd type="none" w="med" len="med"/>
            </a:ln>
            <a:effectLst/>
          </p:spPr>
          <p:txBody>
            <a:bodyPr/>
            <a:lstStyle/>
            <a:p>
              <a:pPr eaLnBrk="0" hangingPunct="0">
                <a:lnSpc>
                  <a:spcPct val="100000"/>
                </a:lnSpc>
                <a:defRPr/>
              </a:pPr>
              <a:endParaRPr lang="en-US" sz="3200" b="1">
                <a:cs typeface="+mn-cs"/>
              </a:endParaRPr>
            </a:p>
          </p:txBody>
        </p:sp>
        <p:sp>
          <p:nvSpPr>
            <p:cNvPr id="140" name="Rectangle 139"/>
            <p:cNvSpPr/>
            <p:nvPr/>
          </p:nvSpPr>
          <p:spPr bwMode="auto">
            <a:xfrm>
              <a:off x="3758733" y="5531796"/>
              <a:ext cx="431823" cy="369332"/>
            </a:xfrm>
            <a:prstGeom prst="rect">
              <a:avLst/>
            </a:prstGeom>
            <a:noFill/>
            <a:ln w="9525" cap="flat" cmpd="sng" algn="ctr">
              <a:noFill/>
              <a:prstDash val="solid"/>
              <a:round/>
              <a:headEnd type="none" w="med" len="med"/>
              <a:tailEnd type="none" w="med" len="med"/>
            </a:ln>
            <a:effectLst/>
          </p:spPr>
          <p:txBody>
            <a:bodyPr lIns="45720" rIns="45720">
              <a:spAutoFit/>
            </a:bodyPr>
            <a:lstStyle/>
            <a:p>
              <a:pPr algn="ctr" fontAlgn="auto">
                <a:lnSpc>
                  <a:spcPct val="100000"/>
                </a:lnSpc>
                <a:spcBef>
                  <a:spcPts val="0"/>
                </a:spcBef>
                <a:spcAft>
                  <a:spcPts val="0"/>
                </a:spcAft>
                <a:defRPr/>
              </a:pPr>
              <a:r>
                <a:rPr lang="en-US" sz="900" b="0" kern="0" dirty="0">
                  <a:solidFill>
                    <a:srgbClr val="800000"/>
                  </a:solidFill>
                  <a:latin typeface="+mn-lt"/>
                  <a:cs typeface="+mn-cs"/>
                </a:rPr>
                <a:t>Public health</a:t>
              </a:r>
            </a:p>
          </p:txBody>
        </p:sp>
      </p:grpSp>
      <p:sp>
        <p:nvSpPr>
          <p:cNvPr id="64" name="Rectangle 34"/>
          <p:cNvSpPr>
            <a:spLocks noChangeArrowheads="1"/>
          </p:cNvSpPr>
          <p:nvPr/>
        </p:nvSpPr>
        <p:spPr bwMode="auto">
          <a:xfrm>
            <a:off x="7436482" y="1473812"/>
            <a:ext cx="950912" cy="240066"/>
          </a:xfrm>
          <a:prstGeom prst="rect">
            <a:avLst/>
          </a:prstGeom>
          <a:noFill/>
          <a:ln w="9525">
            <a:noFill/>
            <a:miter lim="800000"/>
            <a:headEnd/>
            <a:tailEnd/>
          </a:ln>
          <a:effectLst/>
        </p:spPr>
        <p:txBody>
          <a:bodyPr lIns="45720" rIns="45720">
            <a:spAutoFit/>
          </a:bodyPr>
          <a:lstStyle/>
          <a:p>
            <a:pPr algn="ctr" fontAlgn="auto">
              <a:spcBef>
                <a:spcPts val="0"/>
              </a:spcBef>
              <a:spcAft>
                <a:spcPts val="1800"/>
              </a:spcAft>
              <a:defRPr/>
            </a:pPr>
            <a:r>
              <a:rPr lang="en-US" sz="1200" b="1" kern="0" dirty="0">
                <a:solidFill>
                  <a:schemeClr val="accent4"/>
                </a:solidFill>
                <a:latin typeface="+mn-lt"/>
                <a:cs typeface="+mn-cs"/>
              </a:rPr>
              <a:t>Illustrative</a:t>
            </a:r>
          </a:p>
        </p:txBody>
      </p:sp>
      <p:sp>
        <p:nvSpPr>
          <p:cNvPr id="54" name="Rectangle 53"/>
          <p:cNvSpPr/>
          <p:nvPr/>
        </p:nvSpPr>
        <p:spPr bwMode="auto">
          <a:xfrm>
            <a:off x="7961877" y="0"/>
            <a:ext cx="923748" cy="1160705"/>
          </a:xfrm>
          <a:prstGeom prst="rect">
            <a:avLst/>
          </a:prstGeom>
          <a:solidFill>
            <a:schemeClr val="bg1">
              <a:lumMod val="50000"/>
              <a:alpha val="20000"/>
            </a:schemeClr>
          </a:solidFill>
          <a:ln w="12700" cap="flat" cmpd="sng" algn="ctr">
            <a:noFill/>
            <a:prstDash val="solid"/>
            <a:round/>
            <a:headEnd type="none" w="med" len="med"/>
            <a:tailEnd type="none" w="med" len="med"/>
          </a:ln>
          <a:effectLst/>
        </p:spPr>
        <p:txBody>
          <a:bodyPr lIns="36512" tIns="36000" rIns="36512" bIns="19050" anchor="ctr"/>
          <a:lstStyle/>
          <a:p>
            <a:pPr marL="177800" indent="-177800" defTabSz="6022975" eaLnBrk="0" hangingPunct="0">
              <a:spcBef>
                <a:spcPct val="10000"/>
              </a:spcBef>
              <a:buFont typeface="Wingdings" pitchFamily="2" charset="2"/>
              <a:buChar char="§"/>
              <a:defRPr/>
            </a:pPr>
            <a:endParaRPr lang="en-US" sz="1100">
              <a:latin typeface="Arial" charset="0"/>
              <a:ea typeface="+mn-ea"/>
              <a:cs typeface="+mn-cs"/>
            </a:endParaRPr>
          </a:p>
        </p:txBody>
      </p:sp>
      <p:sp>
        <p:nvSpPr>
          <p:cNvPr id="58" name="Rectangle 57"/>
          <p:cNvSpPr/>
          <p:nvPr/>
        </p:nvSpPr>
        <p:spPr bwMode="auto">
          <a:xfrm>
            <a:off x="8403203" y="0"/>
            <a:ext cx="500435" cy="1160705"/>
          </a:xfrm>
          <a:prstGeom prst="rect">
            <a:avLst/>
          </a:prstGeom>
          <a:solidFill>
            <a:schemeClr val="bg1">
              <a:lumMod val="50000"/>
              <a:alpha val="20000"/>
            </a:schemeClr>
          </a:solidFill>
          <a:ln w="12700" cap="flat" cmpd="sng" algn="ctr">
            <a:noFill/>
            <a:prstDash val="solid"/>
            <a:round/>
            <a:headEnd type="none" w="med" len="med"/>
            <a:tailEnd type="none" w="med" len="med"/>
          </a:ln>
          <a:effectLst/>
        </p:spPr>
        <p:txBody>
          <a:bodyPr lIns="36512" tIns="36000" rIns="36512" bIns="19050" anchor="ctr"/>
          <a:lstStyle/>
          <a:p>
            <a:pPr marL="177800" indent="-177800" defTabSz="6022975" eaLnBrk="0" hangingPunct="0">
              <a:spcBef>
                <a:spcPct val="10000"/>
              </a:spcBef>
              <a:buFont typeface="Wingdings" pitchFamily="2" charset="2"/>
              <a:buChar char="§"/>
              <a:defRPr/>
            </a:pPr>
            <a:endParaRPr lang="en-US" sz="1100">
              <a:latin typeface="Arial" charset="0"/>
              <a:ea typeface="+mn-ea"/>
              <a:cs typeface="+mn-cs"/>
            </a:endParaRPr>
          </a:p>
        </p:txBody>
      </p:sp>
      <p:sp>
        <p:nvSpPr>
          <p:cNvPr id="60" name="Rectangle 59"/>
          <p:cNvSpPr/>
          <p:nvPr/>
        </p:nvSpPr>
        <p:spPr bwMode="auto">
          <a:xfrm>
            <a:off x="6574852" y="0"/>
            <a:ext cx="1350999" cy="1160705"/>
          </a:xfrm>
          <a:prstGeom prst="rect">
            <a:avLst/>
          </a:prstGeom>
          <a:solidFill>
            <a:schemeClr val="bg1">
              <a:lumMod val="50000"/>
              <a:alpha val="20000"/>
            </a:schemeClr>
          </a:solidFill>
          <a:ln w="12700" cap="flat" cmpd="sng" algn="ctr">
            <a:noFill/>
            <a:prstDash val="solid"/>
            <a:round/>
            <a:headEnd type="none" w="med" len="med"/>
            <a:tailEnd type="none" w="med" len="med"/>
          </a:ln>
          <a:effectLst/>
        </p:spPr>
        <p:txBody>
          <a:bodyPr lIns="36512" tIns="36000" rIns="36512" bIns="19050" anchor="ctr"/>
          <a:lstStyle/>
          <a:p>
            <a:pPr marL="177800" indent="-177800" defTabSz="6022975" eaLnBrk="0" hangingPunct="0">
              <a:spcBef>
                <a:spcPct val="10000"/>
              </a:spcBef>
              <a:buFont typeface="Wingdings" pitchFamily="2" charset="2"/>
              <a:buChar char="§"/>
              <a:defRPr/>
            </a:pPr>
            <a:endParaRPr lang="en-US" sz="1100">
              <a:latin typeface="Arial" charset="0"/>
              <a:ea typeface="+mn-ea"/>
              <a:cs typeface="+mn-cs"/>
            </a:endParaRPr>
          </a:p>
        </p:txBody>
      </p:sp>
      <p:sp>
        <p:nvSpPr>
          <p:cNvPr id="62" name="Rectangle 61"/>
          <p:cNvSpPr/>
          <p:nvPr/>
        </p:nvSpPr>
        <p:spPr bwMode="auto">
          <a:xfrm>
            <a:off x="8573983" y="225635"/>
            <a:ext cx="300743" cy="766311"/>
          </a:xfrm>
          <a:prstGeom prst="rect">
            <a:avLst/>
          </a:prstGeom>
          <a:solidFill>
            <a:schemeClr val="bg1">
              <a:lumMod val="50000"/>
              <a:alpha val="20000"/>
            </a:schemeClr>
          </a:solidFill>
          <a:ln w="12700" cap="flat" cmpd="sng" algn="ctr">
            <a:noFill/>
            <a:prstDash val="solid"/>
            <a:round/>
            <a:headEnd type="none" w="med" len="med"/>
            <a:tailEnd type="none" w="med" len="med"/>
          </a:ln>
          <a:effectLst/>
        </p:spPr>
        <p:txBody>
          <a:bodyPr lIns="36512" tIns="36000" rIns="36512" bIns="19050" anchor="ctr"/>
          <a:lstStyle/>
          <a:p>
            <a:pPr marL="177800" indent="-177800" defTabSz="6022975" eaLnBrk="0" hangingPunct="0">
              <a:spcBef>
                <a:spcPct val="10000"/>
              </a:spcBef>
              <a:buFont typeface="Wingdings" pitchFamily="2" charset="2"/>
              <a:buChar char="§"/>
              <a:defRPr/>
            </a:pPr>
            <a:endParaRPr lang="en-US" sz="1100">
              <a:latin typeface="Arial" charset="0"/>
              <a:ea typeface="+mn-ea"/>
              <a:cs typeface="+mn-cs"/>
            </a:endParaRPr>
          </a:p>
        </p:txBody>
      </p:sp>
      <p:sp>
        <p:nvSpPr>
          <p:cNvPr id="56"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12</a:t>
            </a:fld>
            <a:endParaRPr lang="en-US" dirty="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40988" y="43042"/>
            <a:ext cx="6394528" cy="1143000"/>
          </a:xfrm>
        </p:spPr>
        <p:txBody>
          <a:bodyPr/>
          <a:lstStyle/>
          <a:p>
            <a:r>
              <a:rPr lang="en-US" dirty="0" smtClean="0"/>
              <a:t>Cross-Jurisdiction Collaboration Business Models</a:t>
            </a:r>
          </a:p>
        </p:txBody>
      </p:sp>
      <p:sp>
        <p:nvSpPr>
          <p:cNvPr id="27" name="TextBox 54"/>
          <p:cNvSpPr txBox="1">
            <a:spLocks noChangeArrowheads="1"/>
          </p:cNvSpPr>
          <p:nvPr/>
        </p:nvSpPr>
        <p:spPr bwMode="auto">
          <a:xfrm>
            <a:off x="431834" y="5969972"/>
            <a:ext cx="8396287" cy="230832"/>
          </a:xfrm>
          <a:prstGeom prst="rect">
            <a:avLst/>
          </a:prstGeom>
          <a:noFill/>
          <a:ln w="9525">
            <a:noFill/>
            <a:miter lim="800000"/>
            <a:headEnd/>
            <a:tailEnd/>
          </a:ln>
        </p:spPr>
        <p:txBody>
          <a:bodyPr wrap="square" anchor="b">
            <a:spAutoFit/>
          </a:bodyPr>
          <a:lstStyle/>
          <a:p>
            <a:pPr>
              <a:lnSpc>
                <a:spcPct val="100000"/>
              </a:lnSpc>
            </a:pPr>
            <a:r>
              <a:rPr lang="en-US" sz="900" b="0" dirty="0" smtClean="0">
                <a:solidFill>
                  <a:schemeClr val="accent5"/>
                </a:solidFill>
              </a:rPr>
              <a:t>Sources: Accenture and Leadership for a Networked World at Harvard University research, Secondary public/ private sector research </a:t>
            </a:r>
          </a:p>
        </p:txBody>
      </p:sp>
      <p:sp>
        <p:nvSpPr>
          <p:cNvPr id="88" name="TextBox 87"/>
          <p:cNvSpPr txBox="1"/>
          <p:nvPr/>
        </p:nvSpPr>
        <p:spPr>
          <a:xfrm>
            <a:off x="486960" y="2488582"/>
            <a:ext cx="1964959" cy="954107"/>
          </a:xfrm>
          <a:prstGeom prst="rect">
            <a:avLst/>
          </a:prstGeom>
          <a:noFill/>
          <a:ln>
            <a:noFill/>
          </a:ln>
        </p:spPr>
        <p:txBody>
          <a:bodyPr wrap="square" lIns="18288" rIns="18288">
            <a:spAutoFit/>
          </a:bodyPr>
          <a:lstStyle/>
          <a:p>
            <a:pPr fontAlgn="auto">
              <a:lnSpc>
                <a:spcPct val="100000"/>
              </a:lnSpc>
              <a:spcBef>
                <a:spcPts val="0"/>
              </a:spcBef>
              <a:spcAft>
                <a:spcPts val="0"/>
              </a:spcAft>
              <a:defRPr/>
            </a:pPr>
            <a:r>
              <a:rPr lang="en-US" sz="1400" b="1" dirty="0">
                <a:solidFill>
                  <a:schemeClr val="accent2">
                    <a:lumMod val="75000"/>
                  </a:schemeClr>
                </a:solidFill>
                <a:latin typeface="+mn-lt"/>
                <a:cs typeface="+mn-cs"/>
              </a:rPr>
              <a:t>Consolidation and/ or sharing of specific function(s) between entities</a:t>
            </a:r>
          </a:p>
        </p:txBody>
      </p:sp>
      <p:sp>
        <p:nvSpPr>
          <p:cNvPr id="43033" name="TextBox 67"/>
          <p:cNvSpPr txBox="1">
            <a:spLocks noChangeArrowheads="1"/>
          </p:cNvSpPr>
          <p:nvPr/>
        </p:nvSpPr>
        <p:spPr bwMode="auto">
          <a:xfrm>
            <a:off x="464446" y="3861619"/>
            <a:ext cx="1976216" cy="1815882"/>
          </a:xfrm>
          <a:prstGeom prst="rect">
            <a:avLst/>
          </a:prstGeom>
          <a:noFill/>
          <a:ln w="9525">
            <a:noFill/>
            <a:miter lim="800000"/>
            <a:headEnd/>
            <a:tailEnd/>
          </a:ln>
        </p:spPr>
        <p:txBody>
          <a:bodyPr wrap="square" lIns="45720" rIns="45720">
            <a:spAutoFit/>
          </a:bodyPr>
          <a:lstStyle/>
          <a:p>
            <a:pPr>
              <a:lnSpc>
                <a:spcPct val="100000"/>
              </a:lnSpc>
            </a:pPr>
            <a:r>
              <a:rPr lang="en-US" sz="1400" b="0" dirty="0">
                <a:solidFill>
                  <a:srgbClr val="000000"/>
                </a:solidFill>
              </a:rPr>
              <a:t>Youngstown, OH: Nine cities partnered with </a:t>
            </a:r>
            <a:r>
              <a:rPr lang="en-US" sz="1400" b="0" dirty="0" smtClean="0">
                <a:solidFill>
                  <a:srgbClr val="000000"/>
                </a:solidFill>
              </a:rPr>
              <a:t>city/county </a:t>
            </a:r>
            <a:r>
              <a:rPr lang="en-US" sz="1400" b="0" dirty="0">
                <a:solidFill>
                  <a:srgbClr val="000000"/>
                </a:solidFill>
              </a:rPr>
              <a:t>governments, housing nonprofits and banks to develop low-cost housing </a:t>
            </a:r>
            <a:r>
              <a:rPr lang="en-US" sz="1400" b="0" dirty="0" smtClean="0">
                <a:solidFill>
                  <a:srgbClr val="000000"/>
                </a:solidFill>
              </a:rPr>
              <a:t>and </a:t>
            </a:r>
            <a:r>
              <a:rPr lang="en-US" sz="1400" b="0" dirty="0">
                <a:solidFill>
                  <a:srgbClr val="000000"/>
                </a:solidFill>
              </a:rPr>
              <a:t>revitalize vacant land</a:t>
            </a:r>
          </a:p>
        </p:txBody>
      </p:sp>
      <p:sp>
        <p:nvSpPr>
          <p:cNvPr id="28" name="TextBox 27"/>
          <p:cNvSpPr txBox="1"/>
          <p:nvPr/>
        </p:nvSpPr>
        <p:spPr>
          <a:xfrm>
            <a:off x="408805" y="1594694"/>
            <a:ext cx="1953703" cy="683188"/>
          </a:xfrm>
          <a:prstGeom prst="rect">
            <a:avLst/>
          </a:prstGeom>
          <a:solidFill>
            <a:srgbClr val="0070C0"/>
          </a:solidFill>
        </p:spPr>
        <p:txBody>
          <a:bodyPr anchor="ctr"/>
          <a:lstStyle/>
          <a:p>
            <a:pPr algn="ctr" fontAlgn="auto">
              <a:spcBef>
                <a:spcPts val="0"/>
              </a:spcBef>
              <a:spcAft>
                <a:spcPts val="0"/>
              </a:spcAft>
              <a:defRPr/>
            </a:pPr>
            <a:r>
              <a:rPr lang="en-US" sz="1600" dirty="0" smtClean="0">
                <a:solidFill>
                  <a:schemeClr val="bg1"/>
                </a:solidFill>
                <a:latin typeface="+mn-lt"/>
              </a:rPr>
              <a:t>Coordinating</a:t>
            </a:r>
          </a:p>
        </p:txBody>
      </p:sp>
      <p:sp>
        <p:nvSpPr>
          <p:cNvPr id="29" name="Oval 28"/>
          <p:cNvSpPr/>
          <p:nvPr/>
        </p:nvSpPr>
        <p:spPr bwMode="auto">
          <a:xfrm>
            <a:off x="391769" y="1600013"/>
            <a:ext cx="329184" cy="324657"/>
          </a:xfrm>
          <a:prstGeom prst="ellipse">
            <a:avLst/>
          </a:prstGeom>
          <a:solidFill>
            <a:schemeClr val="accent1"/>
          </a:solidFill>
          <a:ln w="12700" cap="flat" cmpd="sng" algn="ctr">
            <a:noFill/>
            <a:prstDash val="solid"/>
            <a:round/>
            <a:headEnd type="none" w="med" len="med"/>
            <a:tailEnd type="none" w="med" len="med"/>
          </a:ln>
          <a:effectLst/>
        </p:spPr>
        <p:txBody>
          <a:bodyPr wrap="none" lIns="0" tIns="0" rIns="0" bIns="0" anchor="b"/>
          <a:lstStyle/>
          <a:p>
            <a:pPr marL="177800" indent="-177800" algn="ctr" defTabSz="6022975" eaLnBrk="0" hangingPunct="0">
              <a:spcBef>
                <a:spcPct val="10000"/>
              </a:spcBef>
              <a:defRPr/>
            </a:pPr>
            <a:r>
              <a:rPr lang="en-US" sz="1400" dirty="0">
                <a:solidFill>
                  <a:schemeClr val="bg1"/>
                </a:solidFill>
                <a:cs typeface="+mn-cs"/>
              </a:rPr>
              <a:t>1</a:t>
            </a:r>
          </a:p>
        </p:txBody>
      </p:sp>
      <p:sp>
        <p:nvSpPr>
          <p:cNvPr id="32" name="TextBox 31"/>
          <p:cNvSpPr txBox="1"/>
          <p:nvPr/>
        </p:nvSpPr>
        <p:spPr>
          <a:xfrm>
            <a:off x="2583273" y="2496060"/>
            <a:ext cx="1964959" cy="954107"/>
          </a:xfrm>
          <a:prstGeom prst="rect">
            <a:avLst/>
          </a:prstGeom>
          <a:noFill/>
          <a:ln>
            <a:noFill/>
          </a:ln>
        </p:spPr>
        <p:txBody>
          <a:bodyPr wrap="square" lIns="18288" rIns="18288">
            <a:spAutoFit/>
          </a:bodyPr>
          <a:lstStyle/>
          <a:p>
            <a:pPr fontAlgn="auto">
              <a:lnSpc>
                <a:spcPct val="100000"/>
              </a:lnSpc>
              <a:spcBef>
                <a:spcPts val="0"/>
              </a:spcBef>
              <a:spcAft>
                <a:spcPts val="0"/>
              </a:spcAft>
              <a:defRPr/>
            </a:pPr>
            <a:r>
              <a:rPr lang="en-US" sz="1400" dirty="0" smtClean="0">
                <a:solidFill>
                  <a:schemeClr val="accent2">
                    <a:lumMod val="75000"/>
                  </a:schemeClr>
                </a:solidFill>
                <a:latin typeface="+mn-lt"/>
              </a:rPr>
              <a:t>Combining specific function(s) and/or political entities into a single entity</a:t>
            </a:r>
          </a:p>
        </p:txBody>
      </p:sp>
      <p:sp>
        <p:nvSpPr>
          <p:cNvPr id="33" name="TextBox 67"/>
          <p:cNvSpPr txBox="1">
            <a:spLocks noChangeArrowheads="1"/>
          </p:cNvSpPr>
          <p:nvPr/>
        </p:nvSpPr>
        <p:spPr bwMode="auto">
          <a:xfrm>
            <a:off x="2560759" y="3869097"/>
            <a:ext cx="1976216" cy="738664"/>
          </a:xfrm>
          <a:prstGeom prst="rect">
            <a:avLst/>
          </a:prstGeom>
          <a:noFill/>
          <a:ln w="9525">
            <a:noFill/>
            <a:miter lim="800000"/>
            <a:headEnd/>
            <a:tailEnd/>
          </a:ln>
        </p:spPr>
        <p:txBody>
          <a:bodyPr wrap="square" lIns="45720" rIns="45720">
            <a:spAutoFit/>
          </a:bodyPr>
          <a:lstStyle/>
          <a:p>
            <a:pPr>
              <a:lnSpc>
                <a:spcPct val="100000"/>
              </a:lnSpc>
            </a:pPr>
            <a:r>
              <a:rPr lang="en-US" sz="1400" b="0" dirty="0" smtClean="0">
                <a:solidFill>
                  <a:srgbClr val="000000"/>
                </a:solidFill>
              </a:rPr>
              <a:t>City of Preston / Webster County, GA merger </a:t>
            </a:r>
          </a:p>
        </p:txBody>
      </p:sp>
      <p:sp>
        <p:nvSpPr>
          <p:cNvPr id="34" name="TextBox 33"/>
          <p:cNvSpPr txBox="1"/>
          <p:nvPr/>
        </p:nvSpPr>
        <p:spPr>
          <a:xfrm>
            <a:off x="2496729" y="1585394"/>
            <a:ext cx="1953703" cy="683188"/>
          </a:xfrm>
          <a:prstGeom prst="rect">
            <a:avLst/>
          </a:prstGeom>
          <a:solidFill>
            <a:srgbClr val="0070C0"/>
          </a:solidFill>
        </p:spPr>
        <p:txBody>
          <a:bodyPr anchor="ctr"/>
          <a:lstStyle/>
          <a:p>
            <a:pPr algn="ctr" fontAlgn="auto">
              <a:spcBef>
                <a:spcPts val="0"/>
              </a:spcBef>
              <a:spcAft>
                <a:spcPts val="0"/>
              </a:spcAft>
              <a:defRPr/>
            </a:pPr>
            <a:r>
              <a:rPr lang="en-US" sz="1600" dirty="0" smtClean="0">
                <a:solidFill>
                  <a:schemeClr val="bg1"/>
                </a:solidFill>
                <a:latin typeface="+mn-lt"/>
              </a:rPr>
              <a:t>Merging</a:t>
            </a:r>
          </a:p>
        </p:txBody>
      </p:sp>
      <p:sp>
        <p:nvSpPr>
          <p:cNvPr id="35" name="Oval 34"/>
          <p:cNvSpPr/>
          <p:nvPr/>
        </p:nvSpPr>
        <p:spPr bwMode="auto">
          <a:xfrm>
            <a:off x="2488082" y="1607491"/>
            <a:ext cx="329184" cy="324657"/>
          </a:xfrm>
          <a:prstGeom prst="ellipse">
            <a:avLst/>
          </a:prstGeom>
          <a:solidFill>
            <a:schemeClr val="accent1"/>
          </a:solidFill>
          <a:ln w="12700" cap="flat" cmpd="sng" algn="ctr">
            <a:noFill/>
            <a:prstDash val="solid"/>
            <a:round/>
            <a:headEnd type="none" w="med" len="med"/>
            <a:tailEnd type="none" w="med" len="med"/>
          </a:ln>
          <a:effectLst/>
        </p:spPr>
        <p:txBody>
          <a:bodyPr wrap="none" lIns="0" tIns="0" rIns="0" bIns="0" anchor="b"/>
          <a:lstStyle/>
          <a:p>
            <a:pPr marL="177800" indent="-177800" algn="ctr" defTabSz="6022975" eaLnBrk="0" hangingPunct="0">
              <a:spcBef>
                <a:spcPct val="10000"/>
              </a:spcBef>
              <a:defRPr/>
            </a:pPr>
            <a:r>
              <a:rPr lang="en-US" sz="1400" dirty="0" smtClean="0">
                <a:solidFill>
                  <a:schemeClr val="bg1"/>
                </a:solidFill>
                <a:cs typeface="+mn-cs"/>
              </a:rPr>
              <a:t>2</a:t>
            </a:r>
            <a:endParaRPr lang="en-US" sz="1400" dirty="0">
              <a:solidFill>
                <a:schemeClr val="bg1"/>
              </a:solidFill>
              <a:cs typeface="+mn-cs"/>
            </a:endParaRPr>
          </a:p>
        </p:txBody>
      </p:sp>
      <p:sp>
        <p:nvSpPr>
          <p:cNvPr id="38" name="TextBox 37"/>
          <p:cNvSpPr txBox="1"/>
          <p:nvPr/>
        </p:nvSpPr>
        <p:spPr>
          <a:xfrm>
            <a:off x="4679586" y="2496060"/>
            <a:ext cx="1964959" cy="1169551"/>
          </a:xfrm>
          <a:prstGeom prst="rect">
            <a:avLst/>
          </a:prstGeom>
          <a:noFill/>
          <a:ln>
            <a:noFill/>
          </a:ln>
        </p:spPr>
        <p:txBody>
          <a:bodyPr wrap="square" lIns="18288" rIns="18288">
            <a:spAutoFit/>
          </a:bodyPr>
          <a:lstStyle/>
          <a:p>
            <a:pPr fontAlgn="auto">
              <a:lnSpc>
                <a:spcPct val="100000"/>
              </a:lnSpc>
              <a:spcBef>
                <a:spcPts val="0"/>
              </a:spcBef>
              <a:spcAft>
                <a:spcPts val="0"/>
              </a:spcAft>
              <a:defRPr/>
            </a:pPr>
            <a:r>
              <a:rPr lang="en-US" sz="1400" dirty="0" smtClean="0">
                <a:solidFill>
                  <a:schemeClr val="accent2">
                    <a:lumMod val="75000"/>
                  </a:schemeClr>
                </a:solidFill>
                <a:latin typeface="+mn-lt"/>
              </a:rPr>
              <a:t>Transferring mgmt. and execution of function(s) to an external service provider</a:t>
            </a:r>
          </a:p>
        </p:txBody>
      </p:sp>
      <p:sp>
        <p:nvSpPr>
          <p:cNvPr id="39" name="TextBox 67"/>
          <p:cNvSpPr txBox="1">
            <a:spLocks noChangeArrowheads="1"/>
          </p:cNvSpPr>
          <p:nvPr/>
        </p:nvSpPr>
        <p:spPr bwMode="auto">
          <a:xfrm>
            <a:off x="4657072" y="3869097"/>
            <a:ext cx="1976216" cy="1169551"/>
          </a:xfrm>
          <a:prstGeom prst="rect">
            <a:avLst/>
          </a:prstGeom>
          <a:noFill/>
          <a:ln w="9525">
            <a:noFill/>
            <a:miter lim="800000"/>
            <a:headEnd/>
            <a:tailEnd/>
          </a:ln>
        </p:spPr>
        <p:txBody>
          <a:bodyPr wrap="square" lIns="45720" rIns="45720">
            <a:spAutoFit/>
          </a:bodyPr>
          <a:lstStyle/>
          <a:p>
            <a:pPr>
              <a:lnSpc>
                <a:spcPct val="100000"/>
              </a:lnSpc>
            </a:pPr>
            <a:r>
              <a:rPr lang="en-US" sz="1400" b="0" dirty="0" smtClean="0">
                <a:solidFill>
                  <a:srgbClr val="000000"/>
                </a:solidFill>
              </a:rPr>
              <a:t>Mine Hill Township contracts its police services from Wharton Borough Police department</a:t>
            </a:r>
          </a:p>
        </p:txBody>
      </p:sp>
      <p:sp>
        <p:nvSpPr>
          <p:cNvPr id="40" name="TextBox 39"/>
          <p:cNvSpPr txBox="1"/>
          <p:nvPr/>
        </p:nvSpPr>
        <p:spPr>
          <a:xfrm>
            <a:off x="4567875" y="1585394"/>
            <a:ext cx="1953703" cy="683188"/>
          </a:xfrm>
          <a:prstGeom prst="rect">
            <a:avLst/>
          </a:prstGeom>
          <a:solidFill>
            <a:srgbClr val="0070C0"/>
          </a:solidFill>
        </p:spPr>
        <p:txBody>
          <a:bodyPr anchor="ctr"/>
          <a:lstStyle/>
          <a:p>
            <a:pPr algn="ctr" fontAlgn="auto">
              <a:spcBef>
                <a:spcPts val="0"/>
              </a:spcBef>
              <a:spcAft>
                <a:spcPts val="0"/>
              </a:spcAft>
              <a:defRPr/>
            </a:pPr>
            <a:r>
              <a:rPr lang="en-US" sz="1600" dirty="0" smtClean="0">
                <a:solidFill>
                  <a:schemeClr val="bg1"/>
                </a:solidFill>
                <a:latin typeface="+mn-lt"/>
              </a:rPr>
              <a:t>Contracting</a:t>
            </a:r>
          </a:p>
        </p:txBody>
      </p:sp>
      <p:sp>
        <p:nvSpPr>
          <p:cNvPr id="41" name="Oval 40"/>
          <p:cNvSpPr/>
          <p:nvPr/>
        </p:nvSpPr>
        <p:spPr bwMode="auto">
          <a:xfrm>
            <a:off x="4584395" y="1607491"/>
            <a:ext cx="329184" cy="324657"/>
          </a:xfrm>
          <a:prstGeom prst="ellipse">
            <a:avLst/>
          </a:prstGeom>
          <a:solidFill>
            <a:schemeClr val="accent1"/>
          </a:solidFill>
          <a:ln w="12700" cap="flat" cmpd="sng" algn="ctr">
            <a:noFill/>
            <a:prstDash val="solid"/>
            <a:round/>
            <a:headEnd type="none" w="med" len="med"/>
            <a:tailEnd type="none" w="med" len="med"/>
          </a:ln>
          <a:effectLst/>
        </p:spPr>
        <p:txBody>
          <a:bodyPr wrap="none" lIns="0" tIns="0" rIns="0" bIns="0" anchor="b"/>
          <a:lstStyle/>
          <a:p>
            <a:pPr marL="177800" indent="-177800" algn="ctr" defTabSz="6022975" eaLnBrk="0" hangingPunct="0">
              <a:spcBef>
                <a:spcPct val="10000"/>
              </a:spcBef>
              <a:defRPr/>
            </a:pPr>
            <a:r>
              <a:rPr lang="en-US" sz="1400" dirty="0" smtClean="0">
                <a:solidFill>
                  <a:schemeClr val="bg1"/>
                </a:solidFill>
                <a:cs typeface="+mn-cs"/>
              </a:rPr>
              <a:t>3</a:t>
            </a:r>
            <a:endParaRPr lang="en-US" sz="1400" dirty="0">
              <a:solidFill>
                <a:schemeClr val="bg1"/>
              </a:solidFill>
              <a:cs typeface="+mn-cs"/>
            </a:endParaRPr>
          </a:p>
        </p:txBody>
      </p:sp>
      <p:sp>
        <p:nvSpPr>
          <p:cNvPr id="43" name="TextBox 42"/>
          <p:cNvSpPr txBox="1"/>
          <p:nvPr/>
        </p:nvSpPr>
        <p:spPr>
          <a:xfrm>
            <a:off x="6775898" y="2503538"/>
            <a:ext cx="1964959" cy="1384995"/>
          </a:xfrm>
          <a:prstGeom prst="rect">
            <a:avLst/>
          </a:prstGeom>
          <a:noFill/>
          <a:ln>
            <a:noFill/>
          </a:ln>
        </p:spPr>
        <p:txBody>
          <a:bodyPr wrap="square" lIns="18288" rIns="18288">
            <a:spAutoFit/>
          </a:bodyPr>
          <a:lstStyle/>
          <a:p>
            <a:pPr fontAlgn="auto">
              <a:lnSpc>
                <a:spcPct val="100000"/>
              </a:lnSpc>
              <a:spcBef>
                <a:spcPts val="0"/>
              </a:spcBef>
              <a:spcAft>
                <a:spcPts val="0"/>
              </a:spcAft>
              <a:defRPr/>
            </a:pPr>
            <a:r>
              <a:rPr lang="en-US" sz="1400" dirty="0" smtClean="0">
                <a:solidFill>
                  <a:schemeClr val="accent2">
                    <a:lumMod val="75000"/>
                  </a:schemeClr>
                </a:solidFill>
                <a:latin typeface="+mn-lt"/>
              </a:rPr>
              <a:t>Transferring mgmt. and execution of function(s) to a separate entity created specifically for this purpose</a:t>
            </a:r>
          </a:p>
        </p:txBody>
      </p:sp>
      <p:sp>
        <p:nvSpPr>
          <p:cNvPr id="45" name="TextBox 44"/>
          <p:cNvSpPr txBox="1"/>
          <p:nvPr/>
        </p:nvSpPr>
        <p:spPr>
          <a:xfrm>
            <a:off x="6647409" y="1584483"/>
            <a:ext cx="1953703" cy="683188"/>
          </a:xfrm>
          <a:prstGeom prst="rect">
            <a:avLst/>
          </a:prstGeom>
          <a:solidFill>
            <a:srgbClr val="0070C0"/>
          </a:solidFill>
        </p:spPr>
        <p:txBody>
          <a:bodyPr anchor="ctr"/>
          <a:lstStyle/>
          <a:p>
            <a:pPr algn="ctr" fontAlgn="auto">
              <a:spcBef>
                <a:spcPts val="0"/>
              </a:spcBef>
              <a:spcAft>
                <a:spcPts val="0"/>
              </a:spcAft>
              <a:defRPr/>
            </a:pPr>
            <a:r>
              <a:rPr lang="en-US" sz="1600" dirty="0" smtClean="0">
                <a:solidFill>
                  <a:schemeClr val="bg1"/>
                </a:solidFill>
                <a:latin typeface="+mn-lt"/>
              </a:rPr>
              <a:t>New Entity</a:t>
            </a:r>
          </a:p>
        </p:txBody>
      </p:sp>
      <p:sp>
        <p:nvSpPr>
          <p:cNvPr id="47" name="Oval 46"/>
          <p:cNvSpPr/>
          <p:nvPr/>
        </p:nvSpPr>
        <p:spPr bwMode="auto">
          <a:xfrm>
            <a:off x="6680707" y="1614969"/>
            <a:ext cx="329184" cy="324657"/>
          </a:xfrm>
          <a:prstGeom prst="ellipse">
            <a:avLst/>
          </a:prstGeom>
          <a:solidFill>
            <a:schemeClr val="accent1"/>
          </a:solidFill>
          <a:ln w="12700" cap="flat" cmpd="sng" algn="ctr">
            <a:noFill/>
            <a:prstDash val="solid"/>
            <a:round/>
            <a:headEnd type="none" w="med" len="med"/>
            <a:tailEnd type="none" w="med" len="med"/>
          </a:ln>
          <a:effectLst/>
        </p:spPr>
        <p:txBody>
          <a:bodyPr wrap="none" lIns="0" tIns="0" rIns="0" bIns="0" anchor="b"/>
          <a:lstStyle/>
          <a:p>
            <a:pPr marL="177800" indent="-177800" algn="ctr" defTabSz="6022975" eaLnBrk="0" hangingPunct="0">
              <a:spcBef>
                <a:spcPct val="10000"/>
              </a:spcBef>
              <a:defRPr/>
            </a:pPr>
            <a:r>
              <a:rPr lang="en-US" sz="1400" dirty="0" smtClean="0">
                <a:solidFill>
                  <a:schemeClr val="bg1"/>
                </a:solidFill>
                <a:cs typeface="+mn-cs"/>
              </a:rPr>
              <a:t>4</a:t>
            </a:r>
            <a:endParaRPr lang="en-US" sz="1400" dirty="0">
              <a:solidFill>
                <a:schemeClr val="bg1"/>
              </a:solidFill>
              <a:cs typeface="+mn-cs"/>
            </a:endParaRPr>
          </a:p>
        </p:txBody>
      </p:sp>
      <p:sp>
        <p:nvSpPr>
          <p:cNvPr id="24" name="Rectangle 34"/>
          <p:cNvSpPr>
            <a:spLocks noChangeArrowheads="1"/>
          </p:cNvSpPr>
          <p:nvPr/>
        </p:nvSpPr>
        <p:spPr bwMode="auto">
          <a:xfrm>
            <a:off x="6820469" y="3942022"/>
            <a:ext cx="1536700" cy="1169551"/>
          </a:xfrm>
          <a:prstGeom prst="rect">
            <a:avLst/>
          </a:prstGeom>
          <a:noFill/>
          <a:ln w="9525">
            <a:noFill/>
            <a:miter lim="800000"/>
            <a:headEnd/>
            <a:tailEnd/>
          </a:ln>
          <a:effectLst/>
        </p:spPr>
        <p:txBody>
          <a:bodyPr lIns="18288" rIns="18288">
            <a:spAutoFit/>
          </a:bodyPr>
          <a:lstStyle/>
          <a:p>
            <a:pPr fontAlgn="auto">
              <a:lnSpc>
                <a:spcPct val="100000"/>
              </a:lnSpc>
              <a:spcBef>
                <a:spcPts val="0"/>
              </a:spcBef>
              <a:spcAft>
                <a:spcPts val="300"/>
              </a:spcAft>
              <a:defRPr/>
            </a:pPr>
            <a:r>
              <a:rPr lang="en-US" sz="1400" b="0" kern="0" dirty="0">
                <a:latin typeface="Arial"/>
              </a:rPr>
              <a:t>City and County of Sacramento JPA outsourcing with a family services nonprofit </a:t>
            </a:r>
          </a:p>
        </p:txBody>
      </p:sp>
      <p:sp>
        <p:nvSpPr>
          <p:cNvPr id="20"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13</a:t>
            </a:fld>
            <a:endParaRPr lang="en-US"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bwMode="auto">
          <a:xfrm>
            <a:off x="0" y="5783283"/>
            <a:ext cx="8787740" cy="1074717"/>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0"/>
              </a:spcBef>
              <a:spcAft>
                <a:spcPct val="0"/>
              </a:spcAft>
              <a:buClrTx/>
              <a:buSzTx/>
              <a:buFontTx/>
              <a:buNone/>
              <a:tabLst/>
            </a:pPr>
            <a:endParaRPr kumimoji="0" lang="en-US" sz="3200" b="1" i="0" u="none" strike="noStrike" cap="none" normalizeH="0" baseline="0" smtClean="0">
              <a:ln>
                <a:noFill/>
              </a:ln>
              <a:solidFill>
                <a:schemeClr val="tx1"/>
              </a:solidFill>
              <a:effectLst/>
              <a:latin typeface="Arial" charset="0"/>
            </a:endParaRPr>
          </a:p>
        </p:txBody>
      </p:sp>
      <p:sp>
        <p:nvSpPr>
          <p:cNvPr id="5" name="AcnSubjectTitle_ID_5"/>
          <p:cNvSpPr txBox="1">
            <a:spLocks noChangeArrowheads="1"/>
          </p:cNvSpPr>
          <p:nvPr>
            <p:custDataLst>
              <p:tags r:id="rId1"/>
            </p:custDataLst>
          </p:nvPr>
        </p:nvSpPr>
        <p:spPr bwMode="gray">
          <a:xfrm>
            <a:off x="304800" y="1371600"/>
            <a:ext cx="8458200" cy="246221"/>
          </a:xfrm>
          <a:prstGeom prst="rect">
            <a:avLst/>
          </a:prstGeom>
          <a:noFill/>
          <a:ln w="12700" algn="ctr">
            <a:noFill/>
            <a:miter lim="800000"/>
            <a:headEnd/>
            <a:tailEnd/>
          </a:ln>
          <a:effectLst/>
        </p:spPr>
        <p:txBody>
          <a:bodyPr wrap="square" lIns="0" tIns="0" rIns="0" bIns="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nSpc>
                <a:spcPct val="100000"/>
              </a:lnSpc>
              <a:buClr>
                <a:schemeClr val="accent3"/>
              </a:buClr>
            </a:pPr>
            <a:r>
              <a:rPr lang="en-US" sz="1600" kern="0" dirty="0" smtClean="0">
                <a:solidFill>
                  <a:schemeClr val="accent2"/>
                </a:solidFill>
              </a:rPr>
              <a:t>Silicon Valley’s Regional Operations Center provides a blueprint for XJC success.</a:t>
            </a:r>
          </a:p>
        </p:txBody>
      </p:sp>
      <p:sp>
        <p:nvSpPr>
          <p:cNvPr id="10" name="Text Box 9"/>
          <p:cNvSpPr txBox="1">
            <a:spLocks noChangeArrowheads="1"/>
          </p:cNvSpPr>
          <p:nvPr/>
        </p:nvSpPr>
        <p:spPr bwMode="gray">
          <a:xfrm>
            <a:off x="311399" y="1947557"/>
            <a:ext cx="1438493" cy="427509"/>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eaLnBrk="0" fontAlgn="base" hangingPunct="0">
              <a:spcBef>
                <a:spcPct val="0"/>
              </a:spcBef>
              <a:spcAft>
                <a:spcPct val="0"/>
              </a:spcAft>
            </a:pPr>
            <a:r>
              <a:rPr lang="en-US" sz="1600" b="1" dirty="0">
                <a:solidFill>
                  <a:prstClr val="white"/>
                </a:solidFill>
              </a:rPr>
              <a:t>Situation</a:t>
            </a:r>
          </a:p>
        </p:txBody>
      </p:sp>
      <p:sp>
        <p:nvSpPr>
          <p:cNvPr id="13" name="Text Box 17"/>
          <p:cNvSpPr txBox="1">
            <a:spLocks noChangeArrowheads="1"/>
          </p:cNvSpPr>
          <p:nvPr/>
        </p:nvSpPr>
        <p:spPr bwMode="auto">
          <a:xfrm>
            <a:off x="1998684" y="1964334"/>
            <a:ext cx="6726424" cy="393954"/>
          </a:xfrm>
          <a:prstGeom prst="rect">
            <a:avLst/>
          </a:prstGeom>
          <a:noFill/>
          <a:ln w="12700">
            <a:noFill/>
            <a:miter lim="800000"/>
            <a:headEnd type="none" w="sm" len="sm"/>
            <a:tailEnd type="none" w="sm" len="sm"/>
          </a:ln>
          <a:effectLst/>
        </p:spPr>
        <p:txBody>
          <a:bodyPr wrap="square" lIns="0" tIns="0" rIns="0" bIns="0" anchor="t">
            <a:spAutoFit/>
          </a:bodyPr>
          <a:lstStyle/>
          <a:p>
            <a:pPr lvl="0">
              <a:spcAft>
                <a:spcPts val="600"/>
              </a:spcAft>
            </a:pPr>
            <a:r>
              <a:rPr lang="en-US" sz="1500" b="0" dirty="0" smtClean="0"/>
              <a:t>Silicon Valley jurisdictions had budget shortfalls, managers needed to make unpopular service cuts, and citizens reacted adversely to these cuts</a:t>
            </a:r>
            <a:r>
              <a:rPr lang="en-US" sz="1600" b="0" dirty="0" smtClean="0"/>
              <a:t>.  </a:t>
            </a:r>
          </a:p>
        </p:txBody>
      </p:sp>
      <p:sp>
        <p:nvSpPr>
          <p:cNvPr id="8" name="Text Box 6"/>
          <p:cNvSpPr txBox="1">
            <a:spLocks noChangeArrowheads="1"/>
          </p:cNvSpPr>
          <p:nvPr/>
        </p:nvSpPr>
        <p:spPr bwMode="gray">
          <a:xfrm>
            <a:off x="311399" y="2564009"/>
            <a:ext cx="1438493" cy="597691"/>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a:r>
              <a:rPr lang="en-US" sz="1600" dirty="0">
                <a:solidFill>
                  <a:prstClr val="white"/>
                </a:solidFill>
              </a:rPr>
              <a:t>Challenge</a:t>
            </a:r>
          </a:p>
        </p:txBody>
      </p:sp>
      <p:sp>
        <p:nvSpPr>
          <p:cNvPr id="14" name="Text Box 17"/>
          <p:cNvSpPr txBox="1">
            <a:spLocks noChangeArrowheads="1"/>
          </p:cNvSpPr>
          <p:nvPr/>
        </p:nvSpPr>
        <p:spPr bwMode="auto">
          <a:xfrm>
            <a:off x="1998684" y="2564009"/>
            <a:ext cx="6726424" cy="553998"/>
          </a:xfrm>
          <a:prstGeom prst="rect">
            <a:avLst/>
          </a:prstGeom>
          <a:noFill/>
          <a:ln w="12700">
            <a:noFill/>
            <a:miter lim="800000"/>
            <a:headEnd type="none" w="sm" len="sm"/>
            <a:tailEnd type="none" w="sm" len="sm"/>
          </a:ln>
          <a:effectLst/>
        </p:spPr>
        <p:txBody>
          <a:bodyPr wrap="square" lIns="0" tIns="0" rIns="0" bIns="0" anchor="t">
            <a:spAutoFit/>
          </a:bodyPr>
          <a:lstStyle/>
          <a:p>
            <a:pPr lvl="0"/>
            <a:r>
              <a:rPr lang="en-US" sz="1500" b="0" dirty="0" smtClean="0"/>
              <a:t>While there was a lot of energy surrounding cross-jurisdiction collaboration in Silicon Valley, there has been little consensus on where to start or how to make it work.</a:t>
            </a:r>
          </a:p>
        </p:txBody>
      </p:sp>
      <p:sp>
        <p:nvSpPr>
          <p:cNvPr id="12" name="Text Box 12"/>
          <p:cNvSpPr txBox="1">
            <a:spLocks noChangeArrowheads="1"/>
          </p:cNvSpPr>
          <p:nvPr/>
        </p:nvSpPr>
        <p:spPr bwMode="gray">
          <a:xfrm>
            <a:off x="311399" y="5741584"/>
            <a:ext cx="1490472" cy="923304"/>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a:r>
              <a:rPr lang="en-US" sz="1600" dirty="0" smtClean="0">
                <a:solidFill>
                  <a:prstClr val="white"/>
                </a:solidFill>
              </a:rPr>
              <a:t>Outcome</a:t>
            </a:r>
            <a:endParaRPr lang="en-US" sz="1600" dirty="0">
              <a:solidFill>
                <a:prstClr val="white"/>
              </a:solidFill>
            </a:endParaRPr>
          </a:p>
        </p:txBody>
      </p:sp>
      <p:sp>
        <p:nvSpPr>
          <p:cNvPr id="15" name="Text Box 17"/>
          <p:cNvSpPr txBox="1">
            <a:spLocks noChangeArrowheads="1"/>
          </p:cNvSpPr>
          <p:nvPr/>
        </p:nvSpPr>
        <p:spPr bwMode="auto">
          <a:xfrm>
            <a:off x="1998684" y="5926237"/>
            <a:ext cx="6745514" cy="778675"/>
          </a:xfrm>
          <a:prstGeom prst="rect">
            <a:avLst/>
          </a:prstGeom>
          <a:noFill/>
          <a:ln w="12700">
            <a:noFill/>
            <a:miter lim="800000"/>
            <a:headEnd type="none" w="sm" len="sm"/>
            <a:tailEnd type="none" w="sm" len="sm"/>
          </a:ln>
          <a:effectLst/>
        </p:spPr>
        <p:txBody>
          <a:bodyPr wrap="square" lIns="0" tIns="0" rIns="0" bIns="0" anchor="t">
            <a:spAutoFit/>
          </a:bodyPr>
          <a:lstStyle/>
          <a:p>
            <a:pPr>
              <a:spcAft>
                <a:spcPts val="600"/>
              </a:spcAft>
            </a:pPr>
            <a:r>
              <a:rPr lang="en-US" sz="1400" dirty="0" smtClean="0"/>
              <a:t>New collaboration models will reduce costs while minimizing impact to citizens and employees. The impact of these collaborations could result in annual benefits of $220-520M for the Silicon Valley Network. </a:t>
            </a:r>
          </a:p>
          <a:p>
            <a:pPr>
              <a:spcAft>
                <a:spcPts val="600"/>
              </a:spcAft>
            </a:pPr>
            <a:endParaRPr lang="en-US" sz="1500" b="1" dirty="0">
              <a:cs typeface="Arial" pitchFamily="34" charset="0"/>
            </a:endParaRPr>
          </a:p>
        </p:txBody>
      </p:sp>
      <p:sp>
        <p:nvSpPr>
          <p:cNvPr id="30" name="AcnActionTitle_ID_30"/>
          <p:cNvSpPr>
            <a:spLocks noGrp="1"/>
          </p:cNvSpPr>
          <p:nvPr>
            <p:ph type="title"/>
            <p:custDataLst>
              <p:tags r:id="rId2"/>
            </p:custDataLst>
          </p:nvPr>
        </p:nvSpPr>
        <p:spPr>
          <a:xfrm>
            <a:off x="515938" y="594824"/>
            <a:ext cx="8424861" cy="582211"/>
          </a:xfrm>
        </p:spPr>
        <p:txBody>
          <a:bodyPr wrap="square">
            <a:spAutoFit/>
          </a:bodyPr>
          <a:lstStyle/>
          <a:p>
            <a:pPr lvl="0">
              <a:lnSpc>
                <a:spcPct val="100000"/>
              </a:lnSpc>
              <a:defRPr/>
            </a:pPr>
            <a:r>
              <a:rPr lang="en-US" dirty="0" smtClean="0"/>
              <a:t>Example: Silicon Valley Network</a:t>
            </a:r>
            <a:endParaRPr lang="en-US" dirty="0"/>
          </a:p>
        </p:txBody>
      </p:sp>
      <p:sp>
        <p:nvSpPr>
          <p:cNvPr id="17" name="Text Box 6"/>
          <p:cNvSpPr txBox="1">
            <a:spLocks noChangeArrowheads="1"/>
          </p:cNvSpPr>
          <p:nvPr/>
        </p:nvSpPr>
        <p:spPr bwMode="gray">
          <a:xfrm>
            <a:off x="311399" y="3388779"/>
            <a:ext cx="1493731" cy="2132540"/>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a:r>
              <a:rPr lang="en-US" sz="1600" dirty="0" smtClean="0">
                <a:solidFill>
                  <a:prstClr val="white"/>
                </a:solidFill>
              </a:rPr>
              <a:t>Solution</a:t>
            </a:r>
            <a:endParaRPr lang="en-US" sz="1600" dirty="0">
              <a:solidFill>
                <a:prstClr val="white"/>
              </a:solidFill>
            </a:endParaRPr>
          </a:p>
        </p:txBody>
      </p:sp>
      <p:sp>
        <p:nvSpPr>
          <p:cNvPr id="19" name="Content Placeholder 2"/>
          <p:cNvSpPr txBox="1">
            <a:spLocks/>
          </p:cNvSpPr>
          <p:nvPr/>
        </p:nvSpPr>
        <p:spPr bwMode="gray">
          <a:xfrm>
            <a:off x="1998684" y="3388778"/>
            <a:ext cx="3736440" cy="2215667"/>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a:lnSpc>
                <a:spcPct val="100000"/>
              </a:lnSpc>
              <a:spcBef>
                <a:spcPts val="0"/>
              </a:spcBef>
              <a:spcAft>
                <a:spcPts val="600"/>
              </a:spcAft>
              <a:buClr>
                <a:schemeClr val="accent3"/>
              </a:buClr>
            </a:pPr>
            <a:r>
              <a:rPr lang="en-US" sz="1500" b="0" dirty="0" smtClean="0"/>
              <a:t>A scalable Regional Operations Center with the authority, neutrality and funding to improve the delivery of civil services.</a:t>
            </a:r>
          </a:p>
          <a:p>
            <a:pPr marL="285750" indent="-285750">
              <a:lnSpc>
                <a:spcPct val="100000"/>
              </a:lnSpc>
              <a:spcBef>
                <a:spcPts val="0"/>
              </a:spcBef>
              <a:spcAft>
                <a:spcPts val="0"/>
              </a:spcAft>
              <a:buClr>
                <a:schemeClr val="accent3"/>
              </a:buClr>
              <a:buFont typeface="+mj-lt"/>
              <a:buAutoNum type="arabicParenR"/>
            </a:pPr>
            <a:r>
              <a:rPr lang="en-US" sz="1200" b="0" kern="0" dirty="0" smtClean="0"/>
              <a:t>Start with a manageable number of stakeholders</a:t>
            </a:r>
          </a:p>
          <a:p>
            <a:pPr marL="285750" indent="-285750">
              <a:lnSpc>
                <a:spcPct val="100000"/>
              </a:lnSpc>
              <a:spcBef>
                <a:spcPts val="0"/>
              </a:spcBef>
              <a:spcAft>
                <a:spcPts val="0"/>
              </a:spcAft>
              <a:buClr>
                <a:schemeClr val="accent3"/>
              </a:buClr>
              <a:buFont typeface="+mj-lt"/>
              <a:buAutoNum type="arabicParenR"/>
            </a:pPr>
            <a:r>
              <a:rPr lang="en-US" sz="1200" b="0" kern="0" dirty="0" smtClean="0"/>
              <a:t>Start with low-risk functions before tackling complex issues i.e. HR, IT, Finance &amp; procurement or back office functions</a:t>
            </a:r>
          </a:p>
          <a:p>
            <a:pPr marL="285750" indent="-285750">
              <a:lnSpc>
                <a:spcPct val="100000"/>
              </a:lnSpc>
              <a:spcBef>
                <a:spcPts val="0"/>
              </a:spcBef>
              <a:spcAft>
                <a:spcPts val="0"/>
              </a:spcAft>
              <a:buClr>
                <a:schemeClr val="accent3"/>
              </a:buClr>
              <a:buFont typeface="+mj-lt"/>
              <a:buAutoNum type="arabicParenR"/>
            </a:pPr>
            <a:r>
              <a:rPr lang="en-US" sz="1200" b="0" kern="0" dirty="0" smtClean="0"/>
              <a:t>Use existing decision-makers and structures more effectively</a:t>
            </a:r>
          </a:p>
          <a:p>
            <a:pPr marL="285750" indent="-285750">
              <a:lnSpc>
                <a:spcPct val="100000"/>
              </a:lnSpc>
              <a:spcBef>
                <a:spcPts val="0"/>
              </a:spcBef>
              <a:spcAft>
                <a:spcPts val="0"/>
              </a:spcAft>
              <a:buClr>
                <a:schemeClr val="accent3"/>
              </a:buClr>
              <a:buFont typeface="+mj-lt"/>
              <a:buAutoNum type="arabicParenR"/>
            </a:pPr>
            <a:r>
              <a:rPr lang="en-US" sz="1200" b="0" kern="0" dirty="0" smtClean="0"/>
              <a:t>Control for different service expectations</a:t>
            </a:r>
          </a:p>
          <a:p>
            <a:pPr marL="285750" indent="-285750">
              <a:lnSpc>
                <a:spcPct val="100000"/>
              </a:lnSpc>
              <a:spcBef>
                <a:spcPts val="0"/>
              </a:spcBef>
              <a:spcAft>
                <a:spcPts val="0"/>
              </a:spcAft>
              <a:buClr>
                <a:schemeClr val="accent3"/>
              </a:buClr>
              <a:buFont typeface="+mj-lt"/>
              <a:buAutoNum type="arabicParenR"/>
            </a:pPr>
            <a:r>
              <a:rPr lang="en-US" sz="1200" b="0" kern="0" dirty="0" smtClean="0"/>
              <a:t>Ensure a smooth transition</a:t>
            </a:r>
          </a:p>
        </p:txBody>
      </p:sp>
      <p:pic>
        <p:nvPicPr>
          <p:cNvPr id="2050" name="Picture 2"/>
          <p:cNvPicPr>
            <a:picLocks noChangeAspect="1" noChangeArrowheads="1"/>
          </p:cNvPicPr>
          <p:nvPr/>
        </p:nvPicPr>
        <p:blipFill>
          <a:blip r:embed="rId5" cstate="print"/>
          <a:srcRect/>
          <a:stretch>
            <a:fillRect/>
          </a:stretch>
        </p:blipFill>
        <p:spPr bwMode="auto">
          <a:xfrm>
            <a:off x="5835793" y="3350643"/>
            <a:ext cx="3135927" cy="2291937"/>
          </a:xfrm>
          <a:prstGeom prst="rect">
            <a:avLst/>
          </a:prstGeom>
          <a:noFill/>
          <a:ln w="9525">
            <a:noFill/>
            <a:miter lim="800000"/>
            <a:headEnd/>
            <a:tailEnd/>
          </a:ln>
        </p:spPr>
      </p:pic>
      <p:sp>
        <p:nvSpPr>
          <p:cNvPr id="16"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14</a:t>
            </a:fld>
            <a:endParaRPr lang="en-US" dirty="0"/>
          </a:p>
        </p:txBody>
      </p:sp>
    </p:spTree>
  </p:cSld>
  <p:clrMapOvr>
    <a:masterClrMapping/>
  </p:clrMapOvr>
  <p:transition advClick="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cnSubjectTitle_ID_5"/>
          <p:cNvSpPr txBox="1">
            <a:spLocks noChangeArrowheads="1"/>
          </p:cNvSpPr>
          <p:nvPr>
            <p:custDataLst>
              <p:tags r:id="rId1"/>
            </p:custDataLst>
          </p:nvPr>
        </p:nvSpPr>
        <p:spPr bwMode="gray">
          <a:xfrm>
            <a:off x="304800" y="1371600"/>
            <a:ext cx="8458200" cy="246221"/>
          </a:xfrm>
          <a:prstGeom prst="rect">
            <a:avLst/>
          </a:prstGeom>
          <a:noFill/>
          <a:ln w="12700" algn="ctr">
            <a:noFill/>
            <a:miter lim="800000"/>
            <a:headEnd/>
            <a:tailEnd/>
          </a:ln>
          <a:effectLst/>
        </p:spPr>
        <p:txBody>
          <a:bodyPr wrap="square" lIns="0" tIns="0" rIns="0" bIns="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nSpc>
                <a:spcPct val="100000"/>
              </a:lnSpc>
              <a:buClr>
                <a:schemeClr val="accent3"/>
              </a:buClr>
            </a:pPr>
            <a:r>
              <a:rPr lang="en-US" sz="1600" kern="0" dirty="0" smtClean="0">
                <a:solidFill>
                  <a:schemeClr val="accent2"/>
                </a:solidFill>
              </a:rPr>
              <a:t>Creating a sustainable model for local government collaboration.</a:t>
            </a:r>
          </a:p>
        </p:txBody>
      </p:sp>
      <p:sp>
        <p:nvSpPr>
          <p:cNvPr id="13" name="Text Box 17"/>
          <p:cNvSpPr txBox="1">
            <a:spLocks noChangeArrowheads="1"/>
          </p:cNvSpPr>
          <p:nvPr/>
        </p:nvSpPr>
        <p:spPr bwMode="auto">
          <a:xfrm>
            <a:off x="1998684" y="2014668"/>
            <a:ext cx="6726424" cy="972574"/>
          </a:xfrm>
          <a:prstGeom prst="rect">
            <a:avLst/>
          </a:prstGeom>
          <a:noFill/>
          <a:ln w="12700">
            <a:noFill/>
            <a:miter lim="800000"/>
            <a:headEnd type="none" w="sm" len="sm"/>
            <a:tailEnd type="none" w="sm" len="sm"/>
          </a:ln>
          <a:effectLst/>
        </p:spPr>
        <p:txBody>
          <a:bodyPr wrap="square" lIns="0" tIns="0" rIns="0" bIns="0" anchor="t">
            <a:spAutoFit/>
          </a:bodyPr>
          <a:lstStyle/>
          <a:p>
            <a:pPr lvl="0">
              <a:spcAft>
                <a:spcPts val="600"/>
              </a:spcAft>
            </a:pPr>
            <a:r>
              <a:rPr lang="en-US" sz="1500" b="0" dirty="0" smtClean="0"/>
              <a:t>Facing budget shortfalls, heightened constituent expectations and rising technology costs, local government leaders </a:t>
            </a:r>
            <a:r>
              <a:rPr lang="en-US" sz="1600" b="0" dirty="0" smtClean="0"/>
              <a:t>needed a way to share ideas, risks and costs around technology infrastructure. Each member locality needed to receive state of the art technology services, at a lower cost, while providing more effective citizen services  </a:t>
            </a:r>
          </a:p>
        </p:txBody>
      </p:sp>
      <p:sp>
        <p:nvSpPr>
          <p:cNvPr id="8" name="Text Box 6"/>
          <p:cNvSpPr txBox="1">
            <a:spLocks noChangeArrowheads="1"/>
          </p:cNvSpPr>
          <p:nvPr/>
        </p:nvSpPr>
        <p:spPr bwMode="gray">
          <a:xfrm>
            <a:off x="311399" y="2004969"/>
            <a:ext cx="1438493" cy="1156731"/>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a:r>
              <a:rPr lang="en-US" sz="1600" dirty="0">
                <a:solidFill>
                  <a:prstClr val="white"/>
                </a:solidFill>
              </a:rPr>
              <a:t>Challenge</a:t>
            </a:r>
          </a:p>
        </p:txBody>
      </p:sp>
      <p:sp>
        <p:nvSpPr>
          <p:cNvPr id="12" name="Text Box 12"/>
          <p:cNvSpPr txBox="1">
            <a:spLocks noChangeArrowheads="1"/>
          </p:cNvSpPr>
          <p:nvPr/>
        </p:nvSpPr>
        <p:spPr bwMode="gray">
          <a:xfrm>
            <a:off x="318782" y="5385046"/>
            <a:ext cx="1456962" cy="1109038"/>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a:r>
              <a:rPr lang="en-US" sz="1600" dirty="0" smtClean="0">
                <a:solidFill>
                  <a:prstClr val="white"/>
                </a:solidFill>
              </a:rPr>
              <a:t>Outcome</a:t>
            </a:r>
            <a:endParaRPr lang="en-US" sz="1600" dirty="0">
              <a:solidFill>
                <a:prstClr val="white"/>
              </a:solidFill>
            </a:endParaRPr>
          </a:p>
        </p:txBody>
      </p:sp>
      <p:sp>
        <p:nvSpPr>
          <p:cNvPr id="15" name="Text Box 17"/>
          <p:cNvSpPr txBox="1">
            <a:spLocks noChangeArrowheads="1"/>
          </p:cNvSpPr>
          <p:nvPr/>
        </p:nvSpPr>
        <p:spPr bwMode="auto">
          <a:xfrm>
            <a:off x="2007073" y="5386317"/>
            <a:ext cx="6745514" cy="738664"/>
          </a:xfrm>
          <a:prstGeom prst="rect">
            <a:avLst/>
          </a:prstGeom>
          <a:noFill/>
          <a:ln w="12700">
            <a:noFill/>
            <a:miter lim="800000"/>
            <a:headEnd type="none" w="sm" len="sm"/>
            <a:tailEnd type="none" w="sm" len="sm"/>
          </a:ln>
          <a:effectLst/>
        </p:spPr>
        <p:txBody>
          <a:bodyPr wrap="square" lIns="0" tIns="0" rIns="0" bIns="0" anchor="t">
            <a:spAutoFit/>
          </a:bodyPr>
          <a:lstStyle/>
          <a:p>
            <a:pPr>
              <a:spcAft>
                <a:spcPts val="600"/>
              </a:spcAft>
            </a:pPr>
            <a:r>
              <a:rPr lang="en-US" sz="1500" dirty="0" smtClean="0"/>
              <a:t>LOGIS, headquartered in Golden Valley, has an operating budget of $8 million and services 45 member localities comprising 2.1 million residents. LOGIS has delivered $73 million in savings and cost avoidance since its inception.</a:t>
            </a:r>
            <a:endParaRPr lang="en-US" sz="1500" b="1" dirty="0">
              <a:cs typeface="Arial" pitchFamily="34" charset="0"/>
            </a:endParaRPr>
          </a:p>
        </p:txBody>
      </p:sp>
      <p:sp>
        <p:nvSpPr>
          <p:cNvPr id="30" name="AcnActionTitle_ID_30"/>
          <p:cNvSpPr>
            <a:spLocks noGrp="1"/>
          </p:cNvSpPr>
          <p:nvPr>
            <p:ph type="title"/>
            <p:custDataLst>
              <p:tags r:id="rId2"/>
            </p:custDataLst>
          </p:nvPr>
        </p:nvSpPr>
        <p:spPr>
          <a:xfrm>
            <a:off x="265424" y="287048"/>
            <a:ext cx="8630406" cy="889987"/>
          </a:xfrm>
        </p:spPr>
        <p:txBody>
          <a:bodyPr wrap="square">
            <a:spAutoFit/>
          </a:bodyPr>
          <a:lstStyle/>
          <a:p>
            <a:pPr lvl="0">
              <a:lnSpc>
                <a:spcPct val="100000"/>
              </a:lnSpc>
              <a:defRPr/>
            </a:pPr>
            <a:r>
              <a:rPr lang="en-US" sz="2600" dirty="0" smtClean="0"/>
              <a:t>Example: </a:t>
            </a:r>
            <a:r>
              <a:rPr lang="en-US" sz="2600" b="0" dirty="0" smtClean="0"/>
              <a:t>MN Local Government Information </a:t>
            </a:r>
            <a:br>
              <a:rPr lang="en-US" sz="2600" b="0" dirty="0" smtClean="0"/>
            </a:br>
            <a:r>
              <a:rPr lang="en-US" sz="2600" b="0" dirty="0" smtClean="0"/>
              <a:t>Systems Association (LOGIS)</a:t>
            </a:r>
            <a:endParaRPr lang="en-US" sz="2600" b="0" dirty="0"/>
          </a:p>
        </p:txBody>
      </p:sp>
      <p:sp>
        <p:nvSpPr>
          <p:cNvPr id="17" name="Text Box 6"/>
          <p:cNvSpPr txBox="1">
            <a:spLocks noChangeArrowheads="1"/>
          </p:cNvSpPr>
          <p:nvPr/>
        </p:nvSpPr>
        <p:spPr bwMode="gray">
          <a:xfrm>
            <a:off x="311399" y="3388779"/>
            <a:ext cx="1450289" cy="1795617"/>
          </a:xfrm>
          <a:prstGeom prst="rect">
            <a:avLst/>
          </a:prstGeom>
          <a:solidFill>
            <a:srgbClr val="660000"/>
          </a:solidFill>
          <a:ln w="9525" algn="ctr">
            <a:noFill/>
            <a:miter lim="800000"/>
            <a:headEnd/>
            <a:tailEnd/>
          </a:ln>
          <a:effectLst>
            <a:outerShdw blurRad="50800" dist="38100" dir="2700000" algn="tl" rotWithShape="0">
              <a:prstClr val="black">
                <a:alpha val="40000"/>
              </a:prstClr>
            </a:outerShdw>
          </a:effectLst>
        </p:spPr>
        <p:txBody>
          <a:bodyPr wrap="square" lIns="45720" rIns="45720" anchor="ctr">
            <a:noAutofit/>
          </a:bodyPr>
          <a:lstStyle/>
          <a:p>
            <a:pPr algn="ctr"/>
            <a:r>
              <a:rPr lang="en-US" sz="1600" dirty="0" smtClean="0">
                <a:solidFill>
                  <a:prstClr val="white"/>
                </a:solidFill>
              </a:rPr>
              <a:t>Solution</a:t>
            </a:r>
            <a:endParaRPr lang="en-US" sz="1600" dirty="0">
              <a:solidFill>
                <a:prstClr val="white"/>
              </a:solidFill>
            </a:endParaRPr>
          </a:p>
        </p:txBody>
      </p:sp>
      <p:sp>
        <p:nvSpPr>
          <p:cNvPr id="19" name="Content Placeholder 2"/>
          <p:cNvSpPr txBox="1">
            <a:spLocks/>
          </p:cNvSpPr>
          <p:nvPr/>
        </p:nvSpPr>
        <p:spPr bwMode="gray">
          <a:xfrm>
            <a:off x="1998684" y="3388779"/>
            <a:ext cx="6616810" cy="2097622"/>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a:lnSpc>
                <a:spcPct val="100000"/>
              </a:lnSpc>
              <a:spcBef>
                <a:spcPts val="0"/>
              </a:spcBef>
              <a:spcAft>
                <a:spcPts val="600"/>
              </a:spcAft>
              <a:buClr>
                <a:schemeClr val="accent3"/>
              </a:buClr>
            </a:pPr>
            <a:r>
              <a:rPr lang="en-US" sz="1500" b="0" dirty="0" smtClean="0"/>
              <a:t>LOGIS was formed (1972) under a Minnesota joint powers act to provide an organization through which its members could establish, operate, and maintain data processing facilities and management information systems for the use and benefit of members. LOGIS provides solutions for local governments across: Applications, Network Services, Internet Services, Implementation Services and IP Telephony.</a:t>
            </a:r>
            <a:endParaRPr lang="en-US" sz="1200" b="0" kern="0" dirty="0" smtClean="0"/>
          </a:p>
        </p:txBody>
      </p:sp>
      <p:sp>
        <p:nvSpPr>
          <p:cNvPr id="16"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15</a:t>
            </a:fld>
            <a:endParaRPr lang="en-US" dirty="0"/>
          </a:p>
        </p:txBody>
      </p:sp>
    </p:spTree>
  </p:cSld>
  <p:clrMapOvr>
    <a:masterClrMapping/>
  </p:clrMapOvr>
  <p:transition advClick="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0"/>
            <a:ext cx="7180289" cy="1143000"/>
          </a:xfrm>
        </p:spPr>
        <p:txBody>
          <a:bodyPr/>
          <a:lstStyle/>
          <a:p>
            <a:r>
              <a:rPr lang="en-US" sz="2400" dirty="0" smtClean="0"/>
              <a:t>Legislative Mandates For XJC Example: Michigan Executive Directive 2012-1</a:t>
            </a:r>
            <a:endParaRPr lang="en-US" sz="2400" dirty="0"/>
          </a:p>
        </p:txBody>
      </p:sp>
      <p:sp>
        <p:nvSpPr>
          <p:cNvPr id="7" name="Content Placeholder 1"/>
          <p:cNvSpPr>
            <a:spLocks noGrp="1"/>
          </p:cNvSpPr>
          <p:nvPr>
            <p:ph idx="1"/>
          </p:nvPr>
        </p:nvSpPr>
        <p:spPr>
          <a:xfrm>
            <a:off x="209862" y="1400385"/>
            <a:ext cx="8934138" cy="4759325"/>
          </a:xfrm>
        </p:spPr>
        <p:txBody>
          <a:bodyPr/>
          <a:lstStyle/>
          <a:p>
            <a:r>
              <a:rPr lang="en-US" sz="1600" b="1" u="sng" dirty="0" smtClean="0"/>
              <a:t>Government Technology Innovation:</a:t>
            </a:r>
            <a:r>
              <a:rPr lang="en-US" sz="1600" b="1" dirty="0" smtClean="0"/>
              <a:t>  </a:t>
            </a:r>
            <a:r>
              <a:rPr lang="en-US" sz="1600" dirty="0" smtClean="0">
                <a:hlinkClick r:id="rId2"/>
              </a:rPr>
              <a:t>Executive Directive 2012-1</a:t>
            </a:r>
            <a:r>
              <a:rPr lang="en-US" sz="1600" dirty="0" smtClean="0"/>
              <a:t> establishes Information, Communications and Technology (ITC) management responsibilities as well as an ITC Innovation Fund Investment Board within the Department of Technology, Management and Budget. The department received a $2.5 million appropriation for the fund.  The $2.5 million innovation fund was approved by the state Legislature in Michigan’s 2012 budget.  </a:t>
            </a:r>
          </a:p>
          <a:p>
            <a:pPr>
              <a:buNone/>
            </a:pPr>
            <a:r>
              <a:rPr lang="en-US" sz="1600" dirty="0" smtClean="0"/>
              <a:t> </a:t>
            </a:r>
          </a:p>
          <a:p>
            <a:r>
              <a:rPr lang="en-US" sz="1600" dirty="0" smtClean="0"/>
              <a:t>All state Executive Branch agencies and departments and shared service projects involving local governments and other public service providers are eligible to receive loans from the fund.  The investment fund board will oversee management of the fund, including the solicitation of projects, eligibility criteria, performance and accountability, contractual reporting, loan repayment and project termination.</a:t>
            </a:r>
            <a:endParaRPr lang="en-US" sz="1600" dirty="0"/>
          </a:p>
          <a:p>
            <a:pPr marL="0" indent="0">
              <a:buNone/>
            </a:pPr>
            <a:endParaRPr lang="en-US" sz="1600" dirty="0"/>
          </a:p>
          <a:p>
            <a:pPr marL="0" indent="0">
              <a:buNone/>
            </a:pPr>
            <a:endParaRPr lang="en-US" sz="1600" dirty="0"/>
          </a:p>
          <a:p>
            <a:pPr>
              <a:buNone/>
            </a:pPr>
            <a:endParaRPr lang="en-US" dirty="0"/>
          </a:p>
        </p:txBody>
      </p:sp>
      <p:sp>
        <p:nvSpPr>
          <p:cNvPr id="9"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0"/>
            <a:ext cx="7180289" cy="1143000"/>
          </a:xfrm>
        </p:spPr>
        <p:txBody>
          <a:bodyPr/>
          <a:lstStyle/>
          <a:p>
            <a:r>
              <a:rPr lang="en-US" sz="2400" dirty="0" smtClean="0"/>
              <a:t>Legislative Mandates For XJC Example</a:t>
            </a:r>
            <a:br>
              <a:rPr lang="en-US" sz="2400" dirty="0" smtClean="0"/>
            </a:br>
            <a:r>
              <a:rPr lang="en-US" sz="2400" b="0" dirty="0" smtClean="0"/>
              <a:t>Ohio Local Government Innovation Fund</a:t>
            </a:r>
            <a:endParaRPr lang="en-US" sz="2400" b="0" dirty="0"/>
          </a:p>
        </p:txBody>
      </p:sp>
      <p:sp>
        <p:nvSpPr>
          <p:cNvPr id="7" name="Content Placeholder 1"/>
          <p:cNvSpPr>
            <a:spLocks noGrp="1"/>
          </p:cNvSpPr>
          <p:nvPr>
            <p:ph idx="1"/>
          </p:nvPr>
        </p:nvSpPr>
        <p:spPr>
          <a:xfrm>
            <a:off x="209862" y="1400385"/>
            <a:ext cx="8934138" cy="4759325"/>
          </a:xfrm>
        </p:spPr>
        <p:txBody>
          <a:bodyPr/>
          <a:lstStyle/>
          <a:p>
            <a:r>
              <a:rPr lang="en-US" sz="1600" b="1" u="sng" dirty="0" smtClean="0"/>
              <a:t>Ohio Local Government Innovation Fund:</a:t>
            </a:r>
            <a:r>
              <a:rPr lang="en-US" sz="1600" dirty="0" smtClean="0"/>
              <a:t> </a:t>
            </a:r>
            <a:r>
              <a:rPr lang="en-US" sz="1600" dirty="0" smtClean="0">
                <a:hlinkClick r:id="rId2"/>
              </a:rPr>
              <a:t>House Bill 371 </a:t>
            </a:r>
            <a:r>
              <a:rPr lang="en-US" sz="1600" dirty="0" smtClean="0"/>
              <a:t>encourages local government innovation projects by allocating $45 million for collaboration and shared services amongst political subdivisions.  Of the $45 million allocation, $36 million will be available for loans while $9 million will be designated for grants.  </a:t>
            </a:r>
          </a:p>
          <a:p>
            <a:pPr>
              <a:buNone/>
            </a:pPr>
            <a:endParaRPr lang="en-US" sz="1600" dirty="0" smtClean="0"/>
          </a:p>
          <a:p>
            <a:r>
              <a:rPr lang="en-US" sz="1600" dirty="0" smtClean="0"/>
              <a:t>The Local Government Collaboration Council (LGIC) met in November 2011 to discuss the application process and the amount of money a collaborative project may receive.  The fifteen member LGIC discussed how the $100,000 to $500,000 loan range could be allocated.  Representative Ron </a:t>
            </a:r>
            <a:r>
              <a:rPr lang="en-US" sz="1600" dirty="0" err="1" smtClean="0"/>
              <a:t>Amstutz</a:t>
            </a:r>
            <a:r>
              <a:rPr lang="en-US" sz="1600" dirty="0" smtClean="0"/>
              <a:t> (R-Wooster) explained that a single entity seeking funding is eligible for $100,000 and each additional jurisdiction that signs on increases the total eligibility by $100,000 up to $500,000.</a:t>
            </a:r>
          </a:p>
          <a:p>
            <a:pPr>
              <a:buNone/>
            </a:pPr>
            <a:r>
              <a:rPr lang="en-US" sz="1600" dirty="0" smtClean="0"/>
              <a:t> </a:t>
            </a:r>
            <a:endParaRPr lang="en-US" sz="1400" dirty="0" smtClean="0"/>
          </a:p>
          <a:p>
            <a:pPr marL="0" indent="0">
              <a:buNone/>
            </a:pPr>
            <a:endParaRPr lang="en-US" sz="1600" dirty="0"/>
          </a:p>
          <a:p>
            <a:pPr marL="0" indent="0">
              <a:buNone/>
            </a:pPr>
            <a:endParaRPr lang="en-US" sz="1600" dirty="0"/>
          </a:p>
          <a:p>
            <a:pPr>
              <a:buNone/>
            </a:pPr>
            <a:endParaRPr lang="en-US" dirty="0"/>
          </a:p>
        </p:txBody>
      </p:sp>
      <p:sp>
        <p:nvSpPr>
          <p:cNvPr id="9"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0"/>
            <a:ext cx="7180289" cy="1143000"/>
          </a:xfrm>
        </p:spPr>
        <p:txBody>
          <a:bodyPr/>
          <a:lstStyle/>
          <a:p>
            <a:r>
              <a:rPr lang="en-US" sz="2400" dirty="0" smtClean="0"/>
              <a:t>Legislative Mandates For XJC Example</a:t>
            </a:r>
            <a:r>
              <a:rPr lang="en-US" sz="2400" b="0" dirty="0" smtClean="0"/>
              <a:t/>
            </a:r>
            <a:br>
              <a:rPr lang="en-US" sz="2400" b="0" dirty="0" smtClean="0"/>
            </a:br>
            <a:r>
              <a:rPr lang="en-US" sz="2400" b="0" dirty="0" smtClean="0"/>
              <a:t>New Jersey Local Unit Sharing of Services</a:t>
            </a:r>
            <a:endParaRPr lang="en-US" sz="2400" b="0" dirty="0"/>
          </a:p>
        </p:txBody>
      </p:sp>
      <p:sp>
        <p:nvSpPr>
          <p:cNvPr id="7" name="Content Placeholder 1"/>
          <p:cNvSpPr>
            <a:spLocks noGrp="1"/>
          </p:cNvSpPr>
          <p:nvPr>
            <p:ph idx="1"/>
          </p:nvPr>
        </p:nvSpPr>
        <p:spPr>
          <a:xfrm>
            <a:off x="209862" y="1400385"/>
            <a:ext cx="8934138" cy="4759325"/>
          </a:xfrm>
        </p:spPr>
        <p:txBody>
          <a:bodyPr/>
          <a:lstStyle/>
          <a:p>
            <a:r>
              <a:rPr lang="en-US" sz="1600" b="1" u="sng" dirty="0" smtClean="0"/>
              <a:t>New Jersey Shared Services: </a:t>
            </a:r>
            <a:r>
              <a:rPr lang="en-US" sz="1600" dirty="0" smtClean="0"/>
              <a:t> </a:t>
            </a:r>
            <a:r>
              <a:rPr lang="en-US" sz="1600" dirty="0" smtClean="0">
                <a:hlinkClick r:id="rId2"/>
              </a:rPr>
              <a:t>Senate Bill 2794 </a:t>
            </a:r>
            <a:r>
              <a:rPr lang="en-US" sz="1600" dirty="0" smtClean="0"/>
              <a:t>would require New Jersey’s Local Unit Alignment, Reorganization, and Consolidation Commission (LUARCC) to study local government units (county government, municipal government, school districts) to determine where taxpayer dollars could be saved through sharing of services.</a:t>
            </a:r>
          </a:p>
          <a:p>
            <a:pPr>
              <a:buNone/>
            </a:pPr>
            <a:endParaRPr lang="en-US" sz="1600" dirty="0" smtClean="0"/>
          </a:p>
          <a:p>
            <a:r>
              <a:rPr lang="en-US" sz="1600" dirty="0" smtClean="0"/>
              <a:t>If the study shows that a savings can be realized through sharing that service in one or more local governments, the question of whether to do so or not would be put to a public referendum in all municipalities involved.  If the towns involved fail to pass the proposal, they would be subject to losing state aid in the amount equal to what they would have saved had they shared the service.  If one town approves it but another denies it, only the town that denied it would lose aid. </a:t>
            </a:r>
          </a:p>
          <a:p>
            <a:pPr>
              <a:buNone/>
            </a:pPr>
            <a:endParaRPr lang="en-US" sz="1400" dirty="0" smtClean="0"/>
          </a:p>
          <a:p>
            <a:pPr>
              <a:buNone/>
            </a:pPr>
            <a:r>
              <a:rPr lang="en-US" sz="1400" dirty="0" smtClean="0"/>
              <a:t> </a:t>
            </a:r>
          </a:p>
          <a:p>
            <a:pPr marL="0" indent="0">
              <a:buNone/>
            </a:pPr>
            <a:endParaRPr lang="en-US" sz="1600" dirty="0"/>
          </a:p>
          <a:p>
            <a:pPr marL="0" indent="0">
              <a:buNone/>
            </a:pPr>
            <a:endParaRPr lang="en-US" sz="1600" dirty="0"/>
          </a:p>
          <a:p>
            <a:pPr>
              <a:buNone/>
            </a:pPr>
            <a:endParaRPr lang="en-US" dirty="0"/>
          </a:p>
        </p:txBody>
      </p:sp>
      <p:sp>
        <p:nvSpPr>
          <p:cNvPr id="9"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568" y="59960"/>
            <a:ext cx="6696075" cy="1143000"/>
          </a:xfrm>
        </p:spPr>
        <p:txBody>
          <a:bodyPr/>
          <a:lstStyle/>
          <a:p>
            <a:r>
              <a:rPr lang="en-US" sz="2400" dirty="0" smtClean="0"/>
              <a:t>Minnesota Example</a:t>
            </a:r>
            <a:br>
              <a:rPr lang="en-US" sz="2400" dirty="0" smtClean="0"/>
            </a:br>
            <a:r>
              <a:rPr lang="en-US" sz="2400" b="0" dirty="0" smtClean="0"/>
              <a:t>Minnesota Accountable Government Innovation and Collaborate (MAGIC) Act</a:t>
            </a:r>
            <a:endParaRPr lang="en-US" sz="2400" b="0" dirty="0"/>
          </a:p>
        </p:txBody>
      </p:sp>
      <p:sp>
        <p:nvSpPr>
          <p:cNvPr id="3" name="Content Placeholder 2"/>
          <p:cNvSpPr>
            <a:spLocks noGrp="1"/>
          </p:cNvSpPr>
          <p:nvPr>
            <p:ph idx="1"/>
          </p:nvPr>
        </p:nvSpPr>
        <p:spPr>
          <a:xfrm>
            <a:off x="255978" y="1460344"/>
            <a:ext cx="8350250" cy="4759325"/>
          </a:xfrm>
        </p:spPr>
        <p:txBody>
          <a:bodyPr/>
          <a:lstStyle/>
          <a:p>
            <a:r>
              <a:rPr lang="en-US" sz="1400" dirty="0" smtClean="0">
                <a:hlinkClick r:id="rId3"/>
              </a:rPr>
              <a:t>The </a:t>
            </a:r>
            <a:r>
              <a:rPr lang="en-US" sz="1400" b="1" dirty="0" smtClean="0">
                <a:hlinkClick r:id="rId3"/>
              </a:rPr>
              <a:t>MAGIC Act </a:t>
            </a:r>
            <a:r>
              <a:rPr lang="en-US" sz="1400" dirty="0" smtClean="0"/>
              <a:t>has two major components, each designed to address a specific barrier to innovation under the current state supervised-county administered model of service delivery. </a:t>
            </a:r>
          </a:p>
          <a:p>
            <a:pPr>
              <a:buNone/>
            </a:pPr>
            <a:r>
              <a:rPr lang="en-US" sz="1400" dirty="0" smtClean="0"/>
              <a:t>		1) Implement the Cooley Doctrine which would allow counties to do anything for the health, 	safety and general welfare of the public that is not prohibited or prescribed by state law. 	Currently Minnesota operates under the Dillon Rule which prohibits counties from doing 	anything unless it is explicitly authorized by state law and replacing it with the Cooley 	Doctrine </a:t>
            </a:r>
          </a:p>
          <a:p>
            <a:endParaRPr lang="en-US" sz="1400" dirty="0" smtClean="0"/>
          </a:p>
          <a:p>
            <a:pPr>
              <a:buNone/>
            </a:pPr>
            <a:r>
              <a:rPr lang="en-US" sz="1400" dirty="0" smtClean="0"/>
              <a:t>		2) Authorizes counties to receive waivers from current rules by adhering to a strict process 	that includes the submission of detailed business plan with clear outcomes and performance 	measures, a mechanism for state input and a reporting component to allow for adequate 	legislative oversight of this new framework and a methodology for sharing the results of the 	experiments in innovation. </a:t>
            </a:r>
          </a:p>
          <a:p>
            <a:pPr>
              <a:buNone/>
            </a:pPr>
            <a:endParaRPr lang="en-US" sz="1400" dirty="0" smtClean="0"/>
          </a:p>
          <a:p>
            <a:r>
              <a:rPr lang="en-US" sz="1400" dirty="0" smtClean="0"/>
              <a:t>This legislation will create an environment where state and county employees focus their energy on outcomes rather than processes and where decisions are made by local communities to the extent possible. This represents an important shift in philosophy that will encourage state agencies to act as technical advisors to counties who are investing resources to explore new service delivery systems. At the same time, county boards and employees will be required to accept a heightened level of accountability in exchange for the freedom to innovate. </a:t>
            </a:r>
            <a:endParaRPr lang="en-US" dirty="0"/>
          </a:p>
        </p:txBody>
      </p:sp>
      <p:sp>
        <p:nvSpPr>
          <p:cNvPr id="4" name="Slide Number Placeholder 3"/>
          <p:cNvSpPr>
            <a:spLocks noGrp="1"/>
          </p:cNvSpPr>
          <p:nvPr>
            <p:ph type="sldNum" sz="quarter" idx="10"/>
          </p:nvPr>
        </p:nvSpPr>
        <p:spPr/>
        <p:txBody>
          <a:bodyPr/>
          <a:lstStyle/>
          <a:p>
            <a:pPr>
              <a:defRPr/>
            </a:pPr>
            <a:fld id="{ACCFB468-5EAA-4B0A-8525-B7359404716B}"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0"/>
            <a:ext cx="7180289" cy="1143000"/>
          </a:xfrm>
        </p:spPr>
        <p:txBody>
          <a:bodyPr/>
          <a:lstStyle/>
          <a:p>
            <a:r>
              <a:rPr lang="en-US" sz="2400" dirty="0" smtClean="0"/>
              <a:t>Minnesota Example </a:t>
            </a:r>
            <a:br>
              <a:rPr lang="en-US" sz="2400" dirty="0" smtClean="0"/>
            </a:br>
            <a:r>
              <a:rPr lang="en-US" sz="2000" dirty="0" smtClean="0"/>
              <a:t>S.F. No. 489, as introduced - 87th Legislative Session (2011-2012) [11-1740]</a:t>
            </a:r>
            <a:endParaRPr lang="en-US" sz="2000" dirty="0"/>
          </a:p>
        </p:txBody>
      </p:sp>
      <p:sp>
        <p:nvSpPr>
          <p:cNvPr id="7" name="Content Placeholder 1"/>
          <p:cNvSpPr>
            <a:spLocks noGrp="1"/>
          </p:cNvSpPr>
          <p:nvPr>
            <p:ph idx="1"/>
          </p:nvPr>
        </p:nvSpPr>
        <p:spPr>
          <a:xfrm>
            <a:off x="209862" y="1400385"/>
            <a:ext cx="8934138" cy="4759325"/>
          </a:xfrm>
        </p:spPr>
        <p:txBody>
          <a:bodyPr/>
          <a:lstStyle/>
          <a:p>
            <a:r>
              <a:rPr lang="en-US" sz="1400" b="1" u="sng" dirty="0" smtClean="0"/>
              <a:t>Minnesota School Districts Collaboration on Shared Services</a:t>
            </a:r>
            <a:r>
              <a:rPr lang="en-US" sz="1400" dirty="0" smtClean="0"/>
              <a:t>:  </a:t>
            </a:r>
            <a:r>
              <a:rPr lang="en-US" sz="1400" dirty="0" smtClean="0">
                <a:hlinkClick r:id="rId2"/>
              </a:rPr>
              <a:t>S.F. 489 </a:t>
            </a:r>
            <a:r>
              <a:rPr lang="en-US" sz="1400" dirty="0" smtClean="0"/>
              <a:t>is a bill for an act relating to education finance; requiring the Department of Education to hire a consultant to work with districts to share services; creating a competition among school districts; creating an incentive for districts to share services; appropriating money.</a:t>
            </a:r>
          </a:p>
          <a:p>
            <a:pPr>
              <a:buNone/>
            </a:pPr>
            <a:endParaRPr lang="en-US" sz="1400" dirty="0" smtClean="0"/>
          </a:p>
          <a:p>
            <a:pPr>
              <a:buNone/>
            </a:pPr>
            <a:r>
              <a:rPr lang="en-US" sz="1400" dirty="0" smtClean="0"/>
              <a:t>Sec. 5. SHARED SERVICES COMPETITION.</a:t>
            </a:r>
          </a:p>
          <a:p>
            <a:pPr>
              <a:buNone/>
            </a:pPr>
            <a:r>
              <a:rPr lang="en-US" sz="1400" dirty="0" smtClean="0"/>
              <a:t>School districts within each economic development region under Minnesota are encouraged to work together to share services to maximize the savings generated per adjusted average daily membership. For fiscal years 2012, 2013, and 2014, the school districts and charter schools in each economic development region with the most shared services savings in each year are eligible for a shared services savings grant under paragraph  The commissioner shall award a shared services grant to the participating school districts and charter schools of the economic development region that generates the most savings per adjusted average daily membership, as reported according to section The shared services grants shall be equal per adjusted average daily membership among all participating school districts and charter schools, and may be up to $500 per adjusted average daily membership. The total grant per year may not exceed $5,000,000 each year. </a:t>
            </a:r>
          </a:p>
          <a:p>
            <a:pPr marL="0" indent="0">
              <a:buNone/>
            </a:pPr>
            <a:endParaRPr lang="en-US" sz="1600" dirty="0"/>
          </a:p>
          <a:p>
            <a:pPr marL="0" indent="0">
              <a:buNone/>
            </a:pPr>
            <a:endParaRPr lang="en-US" sz="1600" dirty="0"/>
          </a:p>
          <a:p>
            <a:pPr>
              <a:buNone/>
            </a:pPr>
            <a:endParaRPr lang="en-US" dirty="0"/>
          </a:p>
        </p:txBody>
      </p:sp>
      <p:sp>
        <p:nvSpPr>
          <p:cNvPr id="9" name="Rectangle 60"/>
          <p:cNvSpPr>
            <a:spLocks noGrp="1" noChangeArrowheads="1"/>
          </p:cNvSpPr>
          <p:nvPr>
            <p:ph type="sldNum" sz="quarter" idx="4294967295"/>
          </p:nvPr>
        </p:nvSpPr>
        <p:spPr bwMode="gray">
          <a:xfrm>
            <a:off x="7269163" y="6503988"/>
            <a:ext cx="1693862" cy="269875"/>
          </a:xfrm>
          <a:prstGeom prst="rect">
            <a:avLst/>
          </a:prstGeom>
          <a:noFill/>
          <a:ln w="12700">
            <a:noFill/>
            <a:miter lim="800000"/>
            <a:headEnd/>
            <a:tailEnd/>
          </a:ln>
          <a:effectLst/>
        </p:spPr>
        <p:txBody>
          <a:bodyPr vert="horz" wrap="square" lIns="90488" tIns="44450" rIns="90488" bIns="44450" numCol="1" anchor="b" anchorCtr="0" compatLnSpc="1">
            <a:prstTxWarp prst="textNoShape">
              <a:avLst/>
            </a:prstTxWarp>
          </a:bodyPr>
          <a:lstStyle>
            <a:lvl1pPr algn="r">
              <a:defRPr sz="1000" b="0">
                <a:latin typeface="Arial" charset="0"/>
              </a:defRPr>
            </a:lvl1pPr>
          </a:lstStyle>
          <a:p>
            <a:pPr>
              <a:defRPr/>
            </a:pPr>
            <a:fld id="{89D85C6B-89EE-4F2B-925B-A4095DD46214}" type="slidenum">
              <a:rPr lang="en-US"/>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can we do in the future?</a:t>
            </a:r>
            <a:endParaRPr lang="en-US" dirty="0"/>
          </a:p>
        </p:txBody>
      </p:sp>
      <p:sp>
        <p:nvSpPr>
          <p:cNvPr id="3" name="Content Placeholder 2"/>
          <p:cNvSpPr>
            <a:spLocks noGrp="1"/>
          </p:cNvSpPr>
          <p:nvPr>
            <p:ph idx="1"/>
          </p:nvPr>
        </p:nvSpPr>
        <p:spPr/>
        <p:txBody>
          <a:bodyPr/>
          <a:lstStyle/>
          <a:p>
            <a:pPr>
              <a:buNone/>
            </a:pPr>
            <a:r>
              <a:rPr lang="en-US" dirty="0" smtClean="0"/>
              <a:t>Key Questions: </a:t>
            </a:r>
          </a:p>
          <a:p>
            <a:pPr marL="747713" lvl="1" indent="-457200">
              <a:buFont typeface="+mj-lt"/>
              <a:buAutoNum type="arabicPeriod"/>
            </a:pPr>
            <a:r>
              <a:rPr lang="en-US" sz="2000" dirty="0" smtClean="0"/>
              <a:t>How can Minnesota move from “program-centric” to “citizen-centric?”</a:t>
            </a:r>
          </a:p>
          <a:p>
            <a:pPr marL="747713" lvl="1" indent="-457200">
              <a:buFont typeface="+mj-lt"/>
              <a:buAutoNum type="arabicPeriod"/>
            </a:pPr>
            <a:r>
              <a:rPr lang="en-US" sz="2000" dirty="0" smtClean="0"/>
              <a:t>What programs and operations could be made more efficient and/or effective via cross-jurisdiction collaboration? What services/functional areas should be targeted? </a:t>
            </a:r>
          </a:p>
          <a:p>
            <a:pPr marL="747713" lvl="1" indent="-457200">
              <a:buFont typeface="+mj-lt"/>
              <a:buAutoNum type="arabicPeriod"/>
            </a:pPr>
            <a:r>
              <a:rPr lang="en-US" sz="2000" dirty="0" smtClean="0"/>
              <a:t>What incentives and levers does the legislature have to encourage cross-jurisdiction collaboration?</a:t>
            </a:r>
          </a:p>
          <a:p>
            <a:pPr marL="1033463" lvl="2" indent="-342900"/>
            <a:r>
              <a:rPr lang="en-US" sz="1800" dirty="0" smtClean="0"/>
              <a:t>Example: Linking local government aid to increased collaboration.</a:t>
            </a:r>
          </a:p>
          <a:p>
            <a:pPr marL="1033463" lvl="2" indent="-342900"/>
            <a:r>
              <a:rPr lang="en-US" sz="1800" dirty="0" smtClean="0"/>
              <a:t>Example: Make collaboration required versus optional.</a:t>
            </a:r>
          </a:p>
          <a:p>
            <a:pPr marL="1033463" lvl="2" indent="-342900"/>
            <a:r>
              <a:rPr lang="en-US" sz="1800" dirty="0" smtClean="0"/>
              <a:t>Example: Innovation funds for cross-jurisdiction collaboration</a:t>
            </a:r>
          </a:p>
          <a:p>
            <a:pPr marL="1033463" lvl="2" indent="-342900"/>
            <a:r>
              <a:rPr lang="en-US" sz="1800" dirty="0" smtClean="0"/>
              <a:t>Example: Encourage Joint Powers Agreements</a:t>
            </a:r>
          </a:p>
          <a:p>
            <a:pPr marL="747713" lvl="1" indent="-457200">
              <a:buFont typeface="+mj-lt"/>
              <a:buAutoNum type="arabicPeriod"/>
            </a:pPr>
            <a:r>
              <a:rPr lang="en-US" sz="2000" dirty="0" smtClean="0"/>
              <a:t>At what level (legislature/county/local) should the decisions on enabling business models be made?</a:t>
            </a:r>
          </a:p>
        </p:txBody>
      </p:sp>
      <p:sp>
        <p:nvSpPr>
          <p:cNvPr id="4" name="Slide Number Placeholder 3"/>
          <p:cNvSpPr>
            <a:spLocks noGrp="1"/>
          </p:cNvSpPr>
          <p:nvPr>
            <p:ph type="sldNum" sz="quarter" idx="10"/>
          </p:nvPr>
        </p:nvSpPr>
        <p:spPr/>
        <p:txBody>
          <a:bodyPr/>
          <a:lstStyle/>
          <a:p>
            <a:pPr>
              <a:defRPr/>
            </a:pPr>
            <a:fld id="{ACCFB468-5EAA-4B0A-8525-B7359404716B}" type="slidenum">
              <a:rPr lang="en-US" smtClean="0"/>
              <a:pPr>
                <a:defRPr/>
              </a:pPr>
              <a:t>21</a:t>
            </a:fld>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TYLE" val="AcnSubjectTitle"/>
  <p:tag name="DATE" val="12/6/2010 10:51:34 AM"/>
</p:tagLst>
</file>

<file path=ppt/tags/tag2.xml><?xml version="1.0" encoding="utf-8"?>
<p:tagLst xmlns:a="http://schemas.openxmlformats.org/drawingml/2006/main" xmlns:r="http://schemas.openxmlformats.org/officeDocument/2006/relationships" xmlns:p="http://schemas.openxmlformats.org/presentationml/2006/main">
  <p:tag name="STYLE" val="AcnActionTitle"/>
  <p:tag name="DATE" val="3/11/2011 3:35:12 PM"/>
</p:tagLst>
</file>

<file path=ppt/tags/tag3.xml><?xml version="1.0" encoding="utf-8"?>
<p:tagLst xmlns:a="http://schemas.openxmlformats.org/drawingml/2006/main" xmlns:r="http://schemas.openxmlformats.org/officeDocument/2006/relationships" xmlns:p="http://schemas.openxmlformats.org/presentationml/2006/main">
  <p:tag name="STYLE" val="AcnSubjectTitle"/>
  <p:tag name="DATE" val="12/6/2010 10:51:34 AM"/>
</p:tagLst>
</file>

<file path=ppt/tags/tag4.xml><?xml version="1.0" encoding="utf-8"?>
<p:tagLst xmlns:a="http://schemas.openxmlformats.org/drawingml/2006/main" xmlns:r="http://schemas.openxmlformats.org/officeDocument/2006/relationships" xmlns:p="http://schemas.openxmlformats.org/presentationml/2006/main">
  <p:tag name="STYLE" val="AcnActionTitle"/>
  <p:tag name="DATE" val="3/11/2011 3:35:12 PM"/>
</p:tagLst>
</file>

<file path=ppt/theme/theme1.xml><?xml version="1.0" encoding="utf-8"?>
<a:theme xmlns:a="http://schemas.openxmlformats.org/drawingml/2006/main" name="Accenture Freeway">
  <a:themeElements>
    <a:clrScheme name="Accenture Freeway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fontScheme name="Accenture Freewa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lnDef>
  </a:objectDefaults>
  <a:extraClrSchemeLst>
    <a:extraClrScheme>
      <a:clrScheme name="Accenture Freeway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Accenture Freeway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Accenture Freeway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Accenture Freeway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Accenture Freeway</Template>
  <TotalTime>9339</TotalTime>
  <Words>3545</Words>
  <Application>Microsoft Office PowerPoint</Application>
  <PresentationFormat>On-screen Show (4:3)</PresentationFormat>
  <Paragraphs>333</Paragraphs>
  <Slides>21</Slides>
  <Notes>9</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Accenture Freeway</vt:lpstr>
      <vt:lpstr>Cross-Jurisdiction Collaboration  Break-Out Session </vt:lpstr>
      <vt:lpstr>Agenda</vt:lpstr>
      <vt:lpstr>Introductions</vt:lpstr>
      <vt:lpstr>Minnesota’s Public Service Organizations: The “New Normal”</vt:lpstr>
      <vt:lpstr>Slide 5</vt:lpstr>
      <vt:lpstr>Case in Point  Memphis &amp; Shelby County, TN</vt:lpstr>
      <vt:lpstr>Why the Vote? What Happened?</vt:lpstr>
      <vt:lpstr>The Vote Result:</vt:lpstr>
      <vt:lpstr>Cross-Jurisdiction Collaboration makes government operations significantly less expensive and more effective</vt:lpstr>
      <vt:lpstr>Why Cross-Jurisdiction Collaboration?</vt:lpstr>
      <vt:lpstr>Who are the likely partners?</vt:lpstr>
      <vt:lpstr>What is the appropriate scope?</vt:lpstr>
      <vt:lpstr>Cross-Jurisdiction Collaboration Business Models</vt:lpstr>
      <vt:lpstr>Example: Silicon Valley Network</vt:lpstr>
      <vt:lpstr>Example: MN Local Government Information  Systems Association (LOGIS)</vt:lpstr>
      <vt:lpstr>Legislative Mandates For XJC Example: Michigan Executive Directive 2012-1</vt:lpstr>
      <vt:lpstr>Legislative Mandates For XJC Example Ohio Local Government Innovation Fund</vt:lpstr>
      <vt:lpstr>Legislative Mandates For XJC Example New Jersey Local Unit Sharing of Services</vt:lpstr>
      <vt:lpstr>Minnesota Example Minnesota Accountable Government Innovation and Collaborate (MAGIC) Act</vt:lpstr>
      <vt:lpstr>Minnesota Example  S.F. No. 489, as introduced - 87th Legislative Session (2011-2012) [11-1740]</vt:lpstr>
      <vt:lpstr>What can we do in the future?</vt:lpstr>
    </vt:vector>
  </TitlesOfParts>
  <Company>SM&amp;A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sjones</dc:creator>
  <dc:description>Accenture Sample Presentation v9.1</dc:description>
  <cp:lastModifiedBy>Kate Cimino</cp:lastModifiedBy>
  <cp:revision>142</cp:revision>
  <cp:lastPrinted>2000-08-10T20:43:38Z</cp:lastPrinted>
  <dcterms:created xsi:type="dcterms:W3CDTF">2008-05-09T15:59:42Z</dcterms:created>
  <dcterms:modified xsi:type="dcterms:W3CDTF">2012-01-25T04:07:12Z</dcterms:modified>
  <cp:category>Presentation Designs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ecked Out">
    <vt:lpwstr/>
  </property>
</Properties>
</file>