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wdp" ContentType="image/vnd.ms-photo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7" r:id="rId2"/>
    <p:sldId id="390" r:id="rId3"/>
    <p:sldId id="391" r:id="rId4"/>
    <p:sldId id="432" r:id="rId5"/>
    <p:sldId id="451" r:id="rId6"/>
    <p:sldId id="458" r:id="rId7"/>
    <p:sldId id="358" r:id="rId8"/>
    <p:sldId id="418" r:id="rId9"/>
    <p:sldId id="450" r:id="rId10"/>
    <p:sldId id="387" r:id="rId11"/>
    <p:sldId id="323" r:id="rId12"/>
    <p:sldId id="421" r:id="rId13"/>
    <p:sldId id="318" r:id="rId14"/>
    <p:sldId id="375" r:id="rId15"/>
    <p:sldId id="435" r:id="rId16"/>
    <p:sldId id="437" r:id="rId17"/>
    <p:sldId id="329" r:id="rId18"/>
    <p:sldId id="368" r:id="rId19"/>
    <p:sldId id="332" r:id="rId20"/>
    <p:sldId id="441" r:id="rId21"/>
    <p:sldId id="396" r:id="rId22"/>
    <p:sldId id="369" r:id="rId23"/>
    <p:sldId id="336" r:id="rId24"/>
    <p:sldId id="397" r:id="rId25"/>
    <p:sldId id="422" r:id="rId26"/>
    <p:sldId id="427" r:id="rId27"/>
    <p:sldId id="282" r:id="rId28"/>
    <p:sldId id="426" r:id="rId29"/>
    <p:sldId id="409" r:id="rId30"/>
    <p:sldId id="398" r:id="rId31"/>
    <p:sldId id="349" r:id="rId32"/>
    <p:sldId id="353" r:id="rId33"/>
    <p:sldId id="289" r:id="rId34"/>
    <p:sldId id="399" r:id="rId35"/>
    <p:sldId id="290" r:id="rId36"/>
    <p:sldId id="411" r:id="rId37"/>
    <p:sldId id="429" r:id="rId38"/>
    <p:sldId id="440" r:id="rId39"/>
    <p:sldId id="431" r:id="rId40"/>
    <p:sldId id="404" r:id="rId41"/>
    <p:sldId id="445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clrMru>
    <a:srgbClr val="7F7F7F"/>
    <a:srgbClr val="666666"/>
    <a:srgbClr val="00FF00"/>
    <a:srgbClr val="FF0000"/>
    <a:srgbClr val="6F4A26"/>
    <a:srgbClr val="804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1" autoAdjust="0"/>
    <p:restoredTop sz="72449" autoAdjust="0"/>
  </p:normalViewPr>
  <p:slideViewPr>
    <p:cSldViewPr snapToGrid="0" snapToObjects="1">
      <p:cViewPr>
        <p:scale>
          <a:sx n="66" d="100"/>
          <a:sy n="66" d="100"/>
        </p:scale>
        <p:origin x="-1912" y="-5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84"/>
    </p:cViewPr>
  </p:sorterViewPr>
  <p:notesViewPr>
    <p:cSldViewPr snapToGrid="0" snapToObjects="1">
      <p:cViewPr varScale="1">
        <p:scale>
          <a:sx n="93" d="100"/>
          <a:sy n="93" d="100"/>
        </p:scale>
        <p:origin x="-280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handoutMaster" Target="handoutMasters/handoutMaster1.xml"/><Relationship Id="rId45" Type="http://schemas.openxmlformats.org/officeDocument/2006/relationships/printerSettings" Target="printerSettings/printerSettings1.bin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4864C9-0235-E444-B2AE-3B39DC5C597F}" type="datetimeFigureOut">
              <a:rPr lang="en-US" smtClean="0"/>
              <a:t>4/11/12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32A617-FA78-394A-B5C4-B58BCAFF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198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73821-4986-7044-8976-563DDE2DE506}" type="datetimeFigureOut">
              <a:rPr lang="en-US" smtClean="0"/>
              <a:t>4/11/12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86A4C-3EC3-B041-AC0E-EFE805A5D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932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00DC6-791A-EF4A-BB1A-61E2C70A04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693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55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4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93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68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92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44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44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67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44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444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44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44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157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20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836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836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836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1905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1905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1905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836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836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515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7548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7548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2636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7548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518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50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893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893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522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2918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8640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9068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149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149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609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2301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86A4C-3EC3-B041-AC0E-EFE805A5DEA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442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742B-E47F-6644-94AA-B2666C96ABC9}" type="datetime1">
              <a:rPr lang="en-US" smtClean="0"/>
              <a:t>4/11/12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F63C-B4E6-6041-B84D-EFD5916BA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46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172D-75B7-A04C-9BD4-BE3498D2E1CA}" type="datetime1">
              <a:rPr lang="en-US" smtClean="0"/>
              <a:t>4/11/12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F63C-B4E6-6041-B84D-EFD5916BA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257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4674-EC29-EA48-913C-C46E6371DBBD}" type="datetime1">
              <a:rPr lang="en-US" smtClean="0"/>
              <a:t>4/11/12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F63C-B4E6-6041-B84D-EFD5916BA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838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45B31-FA1C-044C-BEC2-311736BB553A}" type="datetime1">
              <a:rPr lang="en-US" smtClean="0"/>
              <a:t>4/11/12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F63C-B4E6-6041-B84D-EFD5916BA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304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21EC-B369-C149-BC0E-876AE663446C}" type="datetime1">
              <a:rPr lang="en-US" smtClean="0"/>
              <a:t>4/11/12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F63C-B4E6-6041-B84D-EFD5916BA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059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5104-CDCF-7A42-A45F-842B9FB43D10}" type="datetime1">
              <a:rPr lang="en-US" smtClean="0"/>
              <a:t>4/11/12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F63C-B4E6-6041-B84D-EFD5916BA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14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AF9A5-A714-2A46-8436-206627DAB0B4}" type="datetime1">
              <a:rPr lang="en-US" smtClean="0"/>
              <a:t>4/11/12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F63C-B4E6-6041-B84D-EFD5916BA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083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96E9D-7B44-2F43-B0F9-88349A062A3B}" type="datetime1">
              <a:rPr lang="en-US" smtClean="0"/>
              <a:t>4/11/12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F63C-B4E6-6041-B84D-EFD5916BA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38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90CED-4EF2-C94E-9189-70DE44F9479B}" type="datetime1">
              <a:rPr lang="en-US" smtClean="0"/>
              <a:t>4/11/12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F63C-B4E6-6041-B84D-EFD5916BA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30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1E0B-D423-E343-BBEE-F37A533E379F}" type="datetime1">
              <a:rPr lang="en-US" smtClean="0"/>
              <a:t>4/11/12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F63C-B4E6-6041-B84D-EFD5916BA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661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14C0E-9586-A643-BBB4-F021E10C3609}" type="datetime1">
              <a:rPr lang="en-US" smtClean="0"/>
              <a:t>4/11/12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F63C-B4E6-6041-B84D-EFD5916BA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394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B7D7B-F74A-8A4E-A6E7-DEE8F90F84A6}" type="datetime1">
              <a:rPr lang="en-US" smtClean="0"/>
              <a:t>4/11/12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0F63C-B4E6-6041-B84D-EFD5916BA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71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6" Type="http://schemas.openxmlformats.org/officeDocument/2006/relationships/image" Target="../media/image3.png"/><Relationship Id="rId7" Type="http://schemas.microsoft.com/office/2007/relationships/hdphoto" Target="../media/hdphoto2.wdp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microsoft.com/office/2007/relationships/hdphoto" Target="../media/hdphoto3.wdp"/><Relationship Id="rId6" Type="http://schemas.microsoft.com/office/2007/relationships/hdphoto" Target="../media/hdphoto4.wdp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4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4" Type="http://schemas.openxmlformats.org/officeDocument/2006/relationships/image" Target="../media/image13.jpeg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4" Type="http://schemas.openxmlformats.org/officeDocument/2006/relationships/image" Target="../media/image16.jpeg"/><Relationship Id="rId5" Type="http://schemas.openxmlformats.org/officeDocument/2006/relationships/image" Target="../media/image17.jpeg"/><Relationship Id="rId6" Type="http://schemas.openxmlformats.org/officeDocument/2006/relationships/image" Target="../media/image18.jpeg"/><Relationship Id="rId7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microsoft.com/office/2007/relationships/hdphoto" Target="../media/hdphoto5.wdp"/><Relationship Id="rId6" Type="http://schemas.microsoft.com/office/2007/relationships/hdphoto" Target="../media/hdphoto6.wdp"/><Relationship Id="rId7" Type="http://schemas.microsoft.com/office/2007/relationships/hdphoto" Target="../media/hdphoto7.wdp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microsoft.com/office/2007/relationships/hdphoto" Target="../media/hdphoto7.wdp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4" Type="http://schemas.openxmlformats.org/officeDocument/2006/relationships/image" Target="../media/image23.emf"/><Relationship Id="rId5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4" Type="http://schemas.openxmlformats.org/officeDocument/2006/relationships/image" Target="../media/image23.emf"/><Relationship Id="rId5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emf"/></Relationships>
</file>

<file path=ppt/slides/_rels/slide40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4.emf"/><Relationship Id="rId12" Type="http://schemas.openxmlformats.org/officeDocument/2006/relationships/image" Target="../media/image35.emf"/><Relationship Id="rId13" Type="http://schemas.openxmlformats.org/officeDocument/2006/relationships/image" Target="../media/image36.emf"/><Relationship Id="rId14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6.emf"/><Relationship Id="rId4" Type="http://schemas.openxmlformats.org/officeDocument/2006/relationships/image" Target="../media/image27.emf"/><Relationship Id="rId5" Type="http://schemas.openxmlformats.org/officeDocument/2006/relationships/image" Target="../media/image28.emf"/><Relationship Id="rId6" Type="http://schemas.openxmlformats.org/officeDocument/2006/relationships/image" Target="../media/image29.emf"/><Relationship Id="rId7" Type="http://schemas.openxmlformats.org/officeDocument/2006/relationships/image" Target="../media/image30.emf"/><Relationship Id="rId8" Type="http://schemas.openxmlformats.org/officeDocument/2006/relationships/image" Target="../media/image31.emf"/><Relationship Id="rId9" Type="http://schemas.openxmlformats.org/officeDocument/2006/relationships/image" Target="../media/image32.emf"/><Relationship Id="rId10" Type="http://schemas.openxmlformats.org/officeDocument/2006/relationships/image" Target="../media/image33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tfuzzwhitecrop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69755" y="19244"/>
            <a:ext cx="5448900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27674" y="4455252"/>
            <a:ext cx="5016326" cy="2403996"/>
          </a:xfrm>
        </p:spPr>
        <p:txBody>
          <a:bodyPr>
            <a:noAutofit/>
          </a:bodyPr>
          <a:lstStyle/>
          <a:p>
            <a:pPr algn="l">
              <a:lnSpc>
                <a:spcPct val="80000"/>
              </a:lnSpc>
            </a:pP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Wyatt Lloyd</a:t>
            </a:r>
            <a:r>
              <a:rPr lang="en-US" baseline="30000" dirty="0" smtClean="0">
                <a:solidFill>
                  <a:schemeClr val="accent6">
                    <a:lumMod val="75000"/>
                  </a:schemeClr>
                </a:solidFill>
              </a:rPr>
              <a:t>*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US" dirty="0" smtClean="0">
                <a:solidFill>
                  <a:schemeClr val="tx1"/>
                </a:solidFill>
              </a:rPr>
              <a:t>Michael J. Freedman</a:t>
            </a:r>
            <a:r>
              <a:rPr lang="en-US" baseline="30000" dirty="0" smtClean="0">
                <a:solidFill>
                  <a:schemeClr val="tx1"/>
                </a:solidFill>
              </a:rPr>
              <a:t>*</a:t>
            </a:r>
            <a:endParaRPr lang="en-US" dirty="0">
              <a:solidFill>
                <a:schemeClr val="tx1"/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 dirty="0" smtClean="0">
                <a:solidFill>
                  <a:schemeClr val="tx1"/>
                </a:solidFill>
              </a:rPr>
              <a:t>		Michael Kaminsky</a:t>
            </a:r>
            <a:r>
              <a:rPr lang="en-US" baseline="30000" dirty="0" smtClean="0">
                <a:solidFill>
                  <a:schemeClr val="tx1"/>
                </a:solidFill>
              </a:rPr>
              <a:t>†</a:t>
            </a:r>
            <a:endParaRPr lang="en-US" dirty="0">
              <a:solidFill>
                <a:schemeClr val="tx1"/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smtClean="0">
                <a:solidFill>
                  <a:schemeClr val="tx1"/>
                </a:solidFill>
              </a:rPr>
              <a:t>		David G. Andersen</a:t>
            </a:r>
            <a:r>
              <a:rPr lang="en-US" baseline="30000" dirty="0" smtClean="0">
                <a:solidFill>
                  <a:schemeClr val="tx1"/>
                </a:solidFill>
              </a:rPr>
              <a:t>‡</a:t>
            </a:r>
          </a:p>
          <a:p>
            <a:r>
              <a:rPr lang="en-US" sz="2200" baseline="30000" dirty="0" smtClean="0">
                <a:solidFill>
                  <a:schemeClr val="tx1"/>
                </a:solidFill>
              </a:rPr>
              <a:t>*</a:t>
            </a:r>
            <a:r>
              <a:rPr lang="en-US" sz="2200" dirty="0" smtClean="0">
                <a:solidFill>
                  <a:schemeClr val="tx1"/>
                </a:solidFill>
              </a:rPr>
              <a:t>Princeton, </a:t>
            </a:r>
            <a:r>
              <a:rPr lang="en-US" sz="2400" baseline="30000" dirty="0">
                <a:solidFill>
                  <a:schemeClr val="tx1"/>
                </a:solidFill>
              </a:rPr>
              <a:t>†</a:t>
            </a:r>
            <a:r>
              <a:rPr lang="en-US" sz="2200" dirty="0" smtClean="0">
                <a:solidFill>
                  <a:srgbClr val="000000"/>
                </a:solidFill>
              </a:rPr>
              <a:t>Intel </a:t>
            </a:r>
            <a:r>
              <a:rPr lang="en-US" sz="2200" dirty="0">
                <a:solidFill>
                  <a:srgbClr val="000000"/>
                </a:solidFill>
              </a:rPr>
              <a:t>Labs, </a:t>
            </a:r>
            <a:r>
              <a:rPr lang="en-US" sz="2400" baseline="30000" dirty="0">
                <a:solidFill>
                  <a:schemeClr val="tx1"/>
                </a:solidFill>
              </a:rPr>
              <a:t>‡</a:t>
            </a:r>
            <a:r>
              <a:rPr lang="en-US" sz="2200" dirty="0" smtClean="0">
                <a:solidFill>
                  <a:srgbClr val="000000"/>
                </a:solidFill>
              </a:rPr>
              <a:t>CMU</a:t>
            </a: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2001002" y="0"/>
            <a:ext cx="7142998" cy="4455252"/>
          </a:xfrm>
        </p:spPr>
        <p:txBody>
          <a:bodyPr anchor="t" anchorCtr="0">
            <a:noAutofit/>
          </a:bodyPr>
          <a:lstStyle/>
          <a:p>
            <a:pPr algn="l"/>
            <a:r>
              <a:rPr lang="en-US" sz="5200" dirty="0"/>
              <a:t>Don’t Settle for Eventual</a:t>
            </a:r>
            <a:r>
              <a:rPr lang="en-US" sz="4800" dirty="0"/>
              <a:t>: </a:t>
            </a:r>
            <a:r>
              <a:rPr lang="en-US" sz="4800" dirty="0" smtClean="0"/>
              <a:t>   </a:t>
            </a:r>
            <a:br>
              <a:rPr lang="en-US" sz="4800" dirty="0" smtClean="0"/>
            </a:br>
            <a:r>
              <a:rPr lang="en-US" sz="4800" dirty="0"/>
              <a:t> </a:t>
            </a:r>
            <a:r>
              <a:rPr lang="en-US" sz="4800" dirty="0" smtClean="0"/>
              <a:t>					</a:t>
            </a:r>
            <a:r>
              <a:rPr lang="en-US" dirty="0" smtClean="0"/>
              <a:t>Scalable </a:t>
            </a:r>
            <a:r>
              <a:rPr lang="en-US" dirty="0"/>
              <a:t>Causal 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					Consistency </a:t>
            </a:r>
            <a:r>
              <a:rPr lang="en-US" dirty="0"/>
              <a:t>for 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					Wide</a:t>
            </a:r>
            <a:r>
              <a:rPr lang="en-US" dirty="0"/>
              <a:t>-Area </a:t>
            </a:r>
            <a:r>
              <a:rPr lang="en-US" dirty="0" smtClean="0"/>
              <a:t>Storage  						with COPS</a:t>
            </a:r>
            <a:endParaRPr lang="en-US" dirty="0"/>
          </a:p>
        </p:txBody>
      </p:sp>
      <p:pic>
        <p:nvPicPr>
          <p:cNvPr id="11" name="Picture 10" descr="princeton-shield-logo-smaller.bmp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06" b="89441" l="23056" r="77083">
                        <a14:foregroundMark x1="45278" y1="24017" x2="45278" y2="24017"/>
                        <a14:foregroundMark x1="53611" y1="29607" x2="53611" y2="29607"/>
                        <a14:foregroundMark x1="53611" y1="15528" x2="53611" y2="15528"/>
                        <a14:backgroundMark x1="40278" y1="13458" x2="40278" y2="134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466090">
            <a:off x="2994011" y="2261685"/>
            <a:ext cx="396498" cy="26598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269056" y="-153080"/>
            <a:ext cx="210089" cy="249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princeton-shield-logo-smaller.bmp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106" b="89441" l="23056" r="77083">
                        <a14:foregroundMark x1="45278" y1="24017" x2="45278" y2="24017"/>
                        <a14:foregroundMark x1="53611" y1="29607" x2="53611" y2="29607"/>
                        <a14:foregroundMark x1="53611" y1="15528" x2="53611" y2="15528"/>
                        <a14:backgroundMark x1="40278" y1="13458" x2="40278" y2="134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67339">
            <a:off x="1117316" y="1724625"/>
            <a:ext cx="475655" cy="31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004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Wide-Area Storage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632349" y="1655679"/>
            <a:ext cx="2872851" cy="4564369"/>
            <a:chOff x="632349" y="1655679"/>
            <a:chExt cx="2872851" cy="4564369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9053" y="1655679"/>
              <a:ext cx="1354222" cy="1354222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632349" y="3111504"/>
              <a:ext cx="2872851" cy="3108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/>
                <a:t>Stores:</a:t>
              </a:r>
            </a:p>
            <a:p>
              <a:r>
                <a:rPr lang="en-US" sz="2800" dirty="0" smtClean="0"/>
                <a:t>Status Updates</a:t>
              </a:r>
            </a:p>
            <a:p>
              <a:r>
                <a:rPr lang="en-US" sz="2800" dirty="0" smtClean="0"/>
                <a:t>Likes</a:t>
              </a:r>
            </a:p>
            <a:p>
              <a:r>
                <a:rPr lang="en-US" sz="2800" dirty="0" smtClean="0"/>
                <a:t>Comments</a:t>
              </a:r>
            </a:p>
            <a:p>
              <a:r>
                <a:rPr lang="en-US" sz="2800" dirty="0" smtClean="0"/>
                <a:t>Photos</a:t>
              </a:r>
            </a:p>
            <a:p>
              <a:r>
                <a:rPr lang="en-US" sz="2800" dirty="0" smtClean="0"/>
                <a:t>Friends List</a:t>
              </a:r>
            </a:p>
            <a:p>
              <a:endParaRPr lang="en-US" sz="2800" dirty="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505200" y="1909681"/>
            <a:ext cx="2875715" cy="3043107"/>
            <a:chOff x="3505200" y="1909681"/>
            <a:chExt cx="2875715" cy="304310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17900" y="1909681"/>
              <a:ext cx="1527630" cy="1125622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3505200" y="3136906"/>
              <a:ext cx="2875715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/>
                <a:t>Stores:</a:t>
              </a:r>
            </a:p>
            <a:p>
              <a:r>
                <a:rPr lang="en-US" sz="2800" dirty="0" smtClean="0"/>
                <a:t>Tweets</a:t>
              </a:r>
            </a:p>
            <a:p>
              <a:r>
                <a:rPr lang="en-US" sz="2800" dirty="0" smtClean="0"/>
                <a:t>Favorites</a:t>
              </a:r>
            </a:p>
            <a:p>
              <a:r>
                <a:rPr lang="en-US" sz="2800" dirty="0" smtClean="0"/>
                <a:t>Following List</a:t>
              </a:r>
              <a:endParaRPr lang="en-US" sz="2800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380915" y="1646109"/>
            <a:ext cx="2875715" cy="4143051"/>
            <a:chOff x="6380915" y="1646109"/>
            <a:chExt cx="2875715" cy="4143051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93615" y="1646109"/>
              <a:ext cx="1409699" cy="1389194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6380915" y="3111504"/>
              <a:ext cx="2875715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/>
                <a:t>Stores:</a:t>
              </a:r>
            </a:p>
            <a:p>
              <a:r>
                <a:rPr lang="en-US" sz="2800" dirty="0" smtClean="0"/>
                <a:t>Posts</a:t>
              </a:r>
            </a:p>
            <a:p>
              <a:r>
                <a:rPr lang="en-US" sz="2800" dirty="0" smtClean="0"/>
                <a:t>+1s</a:t>
              </a:r>
            </a:p>
            <a:p>
              <a:r>
                <a:rPr lang="en-US" sz="2800" dirty="0" smtClean="0"/>
                <a:t>Comments</a:t>
              </a:r>
            </a:p>
            <a:p>
              <a:r>
                <a:rPr lang="en-US" sz="2800" dirty="0" smtClean="0"/>
                <a:t>Photos</a:t>
              </a:r>
            </a:p>
            <a:p>
              <a:r>
                <a:rPr lang="en-US" sz="2800" dirty="0" smtClean="0"/>
                <a:t>Circles</a:t>
              </a:r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820778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BlankMap-USA-states.PNG"/>
          <p:cNvPicPr>
            <a:picLocks noChangeAspect="1"/>
          </p:cNvPicPr>
          <p:nvPr/>
        </p:nvPicPr>
        <p:blipFill>
          <a:blip r:embed="rId3" cstate="print">
            <a:alphaModFix/>
          </a:blip>
          <a:srcRect/>
          <a:stretch>
            <a:fillRect/>
          </a:stretch>
        </p:blipFill>
        <p:spPr bwMode="auto">
          <a:xfrm>
            <a:off x="-27246" y="1375468"/>
            <a:ext cx="9171246" cy="5572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" name="Freeform 142"/>
          <p:cNvSpPr/>
          <p:nvPr/>
        </p:nvSpPr>
        <p:spPr>
          <a:xfrm>
            <a:off x="107104" y="5322738"/>
            <a:ext cx="3457928" cy="1744143"/>
          </a:xfrm>
          <a:custGeom>
            <a:avLst/>
            <a:gdLst>
              <a:gd name="connsiteX0" fmla="*/ 107104 w 3457928"/>
              <a:gd name="connsiteY0" fmla="*/ 0 h 1744143"/>
              <a:gd name="connsiteX1" fmla="*/ 1193444 w 3457928"/>
              <a:gd name="connsiteY1" fmla="*/ 0 h 1744143"/>
              <a:gd name="connsiteX2" fmla="*/ 1881969 w 3457928"/>
              <a:gd name="connsiteY2" fmla="*/ 474284 h 1744143"/>
              <a:gd name="connsiteX3" fmla="*/ 2325686 w 3457928"/>
              <a:gd name="connsiteY3" fmla="*/ 611980 h 1744143"/>
              <a:gd name="connsiteX4" fmla="*/ 2983610 w 3457928"/>
              <a:gd name="connsiteY4" fmla="*/ 902670 h 1744143"/>
              <a:gd name="connsiteX5" fmla="*/ 3457928 w 3457928"/>
              <a:gd name="connsiteY5" fmla="*/ 1269858 h 1744143"/>
              <a:gd name="connsiteX6" fmla="*/ 3396725 w 3457928"/>
              <a:gd name="connsiteY6" fmla="*/ 1698244 h 1744143"/>
              <a:gd name="connsiteX7" fmla="*/ 2631697 w 3457928"/>
              <a:gd name="connsiteY7" fmla="*/ 1744143 h 1744143"/>
              <a:gd name="connsiteX8" fmla="*/ 1193444 w 3457928"/>
              <a:gd name="connsiteY8" fmla="*/ 1713544 h 1744143"/>
              <a:gd name="connsiteX9" fmla="*/ 0 w 3457928"/>
              <a:gd name="connsiteY9" fmla="*/ 1682945 h 1744143"/>
              <a:gd name="connsiteX10" fmla="*/ 45902 w 3457928"/>
              <a:gd name="connsiteY10" fmla="*/ 0 h 1744143"/>
              <a:gd name="connsiteX11" fmla="*/ 107104 w 3457928"/>
              <a:gd name="connsiteY11" fmla="*/ 0 h 17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57928" h="1744143">
                <a:moveTo>
                  <a:pt x="107104" y="0"/>
                </a:moveTo>
                <a:lnTo>
                  <a:pt x="1193444" y="0"/>
                </a:lnTo>
                <a:lnTo>
                  <a:pt x="1881969" y="474284"/>
                </a:lnTo>
                <a:lnTo>
                  <a:pt x="2325686" y="611980"/>
                </a:lnTo>
                <a:lnTo>
                  <a:pt x="2983610" y="902670"/>
                </a:lnTo>
                <a:lnTo>
                  <a:pt x="3457928" y="1269858"/>
                </a:lnTo>
                <a:lnTo>
                  <a:pt x="3396725" y="1698244"/>
                </a:lnTo>
                <a:lnTo>
                  <a:pt x="2631697" y="1744143"/>
                </a:lnTo>
                <a:lnTo>
                  <a:pt x="1193444" y="1713544"/>
                </a:lnTo>
                <a:lnTo>
                  <a:pt x="0" y="1682945"/>
                </a:lnTo>
                <a:lnTo>
                  <a:pt x="45902" y="0"/>
                </a:lnTo>
                <a:lnTo>
                  <a:pt x="10710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Wide-Area Storage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552151" y="1058644"/>
            <a:ext cx="6039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Serves Requests Quickly</a:t>
            </a:r>
            <a:endParaRPr lang="en-US" sz="36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770821" y="2100114"/>
            <a:ext cx="7867917" cy="3687167"/>
            <a:chOff x="770821" y="2100114"/>
            <a:chExt cx="7867917" cy="3687167"/>
          </a:xfrm>
        </p:grpSpPr>
        <p:grpSp>
          <p:nvGrpSpPr>
            <p:cNvPr id="15" name="Group 14"/>
            <p:cNvGrpSpPr/>
            <p:nvPr/>
          </p:nvGrpSpPr>
          <p:grpSpPr>
            <a:xfrm>
              <a:off x="1016000" y="2100114"/>
              <a:ext cx="1129477" cy="853171"/>
              <a:chOff x="1016000" y="2100114"/>
              <a:chExt cx="1129477" cy="853171"/>
            </a:xfrm>
          </p:grpSpPr>
          <p:sp>
            <p:nvSpPr>
              <p:cNvPr id="2" name="Oval 1"/>
              <p:cNvSpPr/>
              <p:nvPr/>
            </p:nvSpPr>
            <p:spPr>
              <a:xfrm>
                <a:off x="1866077" y="2100114"/>
                <a:ext cx="279400" cy="279400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1016000" y="2311400"/>
                <a:ext cx="862777" cy="641885"/>
                <a:chOff x="927100" y="2273300"/>
                <a:chExt cx="965200" cy="718085"/>
              </a:xfrm>
            </p:grpSpPr>
            <p:cxnSp>
              <p:nvCxnSpPr>
                <p:cNvPr id="8" name="Straight Arrow Connector 7"/>
                <p:cNvCxnSpPr/>
                <p:nvPr/>
              </p:nvCxnSpPr>
              <p:spPr>
                <a:xfrm flipH="1">
                  <a:off x="965200" y="2349500"/>
                  <a:ext cx="927100" cy="641885"/>
                </a:xfrm>
                <a:prstGeom prst="straightConnector1">
                  <a:avLst/>
                </a:prstGeom>
                <a:ln>
                  <a:solidFill>
                    <a:srgbClr val="000000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/>
                <p:cNvCxnSpPr/>
                <p:nvPr/>
              </p:nvCxnSpPr>
              <p:spPr>
                <a:xfrm rot="10800000" flipH="1">
                  <a:off x="927100" y="2273300"/>
                  <a:ext cx="927100" cy="641885"/>
                </a:xfrm>
                <a:prstGeom prst="straightConnector1">
                  <a:avLst/>
                </a:prstGeom>
                <a:ln>
                  <a:solidFill>
                    <a:srgbClr val="000000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9" name="Group 28"/>
            <p:cNvGrpSpPr/>
            <p:nvPr/>
          </p:nvGrpSpPr>
          <p:grpSpPr>
            <a:xfrm rot="907609">
              <a:off x="1382344" y="2443991"/>
              <a:ext cx="1129477" cy="853171"/>
              <a:chOff x="1016000" y="2100114"/>
              <a:chExt cx="1129477" cy="853171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1866077" y="2100114"/>
                <a:ext cx="279400" cy="279400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1" name="Group 30"/>
              <p:cNvGrpSpPr/>
              <p:nvPr/>
            </p:nvGrpSpPr>
            <p:grpSpPr>
              <a:xfrm>
                <a:off x="1016000" y="2311400"/>
                <a:ext cx="862777" cy="641885"/>
                <a:chOff x="927100" y="2273300"/>
                <a:chExt cx="965200" cy="718085"/>
              </a:xfrm>
            </p:grpSpPr>
            <p:cxnSp>
              <p:nvCxnSpPr>
                <p:cNvPr id="32" name="Straight Arrow Connector 31"/>
                <p:cNvCxnSpPr/>
                <p:nvPr/>
              </p:nvCxnSpPr>
              <p:spPr>
                <a:xfrm flipH="1">
                  <a:off x="965200" y="2349500"/>
                  <a:ext cx="927100" cy="641885"/>
                </a:xfrm>
                <a:prstGeom prst="straightConnector1">
                  <a:avLst/>
                </a:prstGeom>
                <a:ln>
                  <a:solidFill>
                    <a:srgbClr val="000000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/>
                <p:cNvCxnSpPr/>
                <p:nvPr/>
              </p:nvCxnSpPr>
              <p:spPr>
                <a:xfrm rot="10800000" flipH="1">
                  <a:off x="927100" y="2273300"/>
                  <a:ext cx="927100" cy="641885"/>
                </a:xfrm>
                <a:prstGeom prst="straightConnector1">
                  <a:avLst/>
                </a:prstGeom>
                <a:ln>
                  <a:solidFill>
                    <a:srgbClr val="000000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Oval 34"/>
            <p:cNvSpPr/>
            <p:nvPr/>
          </p:nvSpPr>
          <p:spPr>
            <a:xfrm rot="907609">
              <a:off x="4297025" y="2984900"/>
              <a:ext cx="279400" cy="279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/>
            <p:cNvGrpSpPr/>
            <p:nvPr/>
          </p:nvGrpSpPr>
          <p:grpSpPr>
            <a:xfrm rot="19390283">
              <a:off x="3562359" y="3546866"/>
              <a:ext cx="1468242" cy="1492664"/>
              <a:chOff x="927100" y="2273300"/>
              <a:chExt cx="965200" cy="718085"/>
            </a:xfrm>
          </p:grpSpPr>
          <p:cxnSp>
            <p:nvCxnSpPr>
              <p:cNvPr id="37" name="Straight Arrow Connector 36"/>
              <p:cNvCxnSpPr/>
              <p:nvPr/>
            </p:nvCxnSpPr>
            <p:spPr>
              <a:xfrm flipH="1">
                <a:off x="965200" y="2349500"/>
                <a:ext cx="927100" cy="641885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/>
              <p:nvPr/>
            </p:nvCxnSpPr>
            <p:spPr>
              <a:xfrm rot="10800000" flipH="1">
                <a:off x="927100" y="2273300"/>
                <a:ext cx="927100" cy="641885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/>
            <p:cNvGrpSpPr/>
            <p:nvPr/>
          </p:nvGrpSpPr>
          <p:grpSpPr>
            <a:xfrm rot="19390283">
              <a:off x="770821" y="3633325"/>
              <a:ext cx="610976" cy="728269"/>
              <a:chOff x="927100" y="2273300"/>
              <a:chExt cx="965200" cy="718085"/>
            </a:xfrm>
          </p:grpSpPr>
          <p:cxnSp>
            <p:nvCxnSpPr>
              <p:cNvPr id="40" name="Straight Arrow Connector 39"/>
              <p:cNvCxnSpPr/>
              <p:nvPr/>
            </p:nvCxnSpPr>
            <p:spPr>
              <a:xfrm flipH="1">
                <a:off x="965200" y="2349500"/>
                <a:ext cx="927100" cy="641885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 rot="10800000" flipH="1">
                <a:off x="927100" y="2273300"/>
                <a:ext cx="927100" cy="641885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Oval 41"/>
            <p:cNvSpPr/>
            <p:nvPr/>
          </p:nvSpPr>
          <p:spPr>
            <a:xfrm rot="907609">
              <a:off x="876300" y="4489200"/>
              <a:ext cx="279400" cy="279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" name="Group 42"/>
            <p:cNvGrpSpPr/>
            <p:nvPr/>
          </p:nvGrpSpPr>
          <p:grpSpPr>
            <a:xfrm rot="16390965">
              <a:off x="3099032" y="4873350"/>
              <a:ext cx="610976" cy="728269"/>
              <a:chOff x="927100" y="2273300"/>
              <a:chExt cx="965200" cy="718085"/>
            </a:xfrm>
          </p:grpSpPr>
          <p:cxnSp>
            <p:nvCxnSpPr>
              <p:cNvPr id="44" name="Straight Arrow Connector 43"/>
              <p:cNvCxnSpPr/>
              <p:nvPr/>
            </p:nvCxnSpPr>
            <p:spPr>
              <a:xfrm flipH="1">
                <a:off x="965200" y="2349500"/>
                <a:ext cx="927100" cy="641885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/>
              <p:nvPr/>
            </p:nvCxnSpPr>
            <p:spPr>
              <a:xfrm rot="10800000" flipH="1">
                <a:off x="927100" y="2273300"/>
                <a:ext cx="927100" cy="641885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Oval 45"/>
            <p:cNvSpPr/>
            <p:nvPr/>
          </p:nvSpPr>
          <p:spPr>
            <a:xfrm rot="907609">
              <a:off x="2884286" y="4605525"/>
              <a:ext cx="279400" cy="279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oup 46"/>
            <p:cNvGrpSpPr/>
            <p:nvPr/>
          </p:nvGrpSpPr>
          <p:grpSpPr>
            <a:xfrm rot="2700000">
              <a:off x="5102058" y="5117658"/>
              <a:ext cx="610976" cy="728269"/>
              <a:chOff x="927100" y="2273300"/>
              <a:chExt cx="965200" cy="718085"/>
            </a:xfrm>
          </p:grpSpPr>
          <p:cxnSp>
            <p:nvCxnSpPr>
              <p:cNvPr id="48" name="Straight Arrow Connector 47"/>
              <p:cNvCxnSpPr/>
              <p:nvPr/>
            </p:nvCxnSpPr>
            <p:spPr>
              <a:xfrm flipH="1">
                <a:off x="965200" y="2349500"/>
                <a:ext cx="927100" cy="641885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/>
              <p:nvPr/>
            </p:nvCxnSpPr>
            <p:spPr>
              <a:xfrm rot="10800000" flipH="1">
                <a:off x="927100" y="2273300"/>
                <a:ext cx="927100" cy="641885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Oval 49"/>
            <p:cNvSpPr/>
            <p:nvPr/>
          </p:nvSpPr>
          <p:spPr>
            <a:xfrm rot="8816644">
              <a:off x="5917576" y="5332813"/>
              <a:ext cx="279400" cy="279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1" name="Group 50"/>
            <p:cNvGrpSpPr/>
            <p:nvPr/>
          </p:nvGrpSpPr>
          <p:grpSpPr>
            <a:xfrm rot="9237480">
              <a:off x="7314633" y="3936770"/>
              <a:ext cx="610976" cy="728269"/>
              <a:chOff x="927100" y="2273300"/>
              <a:chExt cx="965200" cy="718085"/>
            </a:xfrm>
          </p:grpSpPr>
          <p:cxnSp>
            <p:nvCxnSpPr>
              <p:cNvPr id="52" name="Straight Arrow Connector 51"/>
              <p:cNvCxnSpPr/>
              <p:nvPr/>
            </p:nvCxnSpPr>
            <p:spPr>
              <a:xfrm flipH="1">
                <a:off x="965200" y="2349500"/>
                <a:ext cx="927100" cy="641885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/>
              <p:nvPr/>
            </p:nvCxnSpPr>
            <p:spPr>
              <a:xfrm rot="10800000" flipH="1">
                <a:off x="927100" y="2273300"/>
                <a:ext cx="927100" cy="641885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Oval 53"/>
            <p:cNvSpPr/>
            <p:nvPr/>
          </p:nvSpPr>
          <p:spPr>
            <a:xfrm rot="14587664">
              <a:off x="7363612" y="4752536"/>
              <a:ext cx="279400" cy="279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5" name="Group 54"/>
            <p:cNvGrpSpPr/>
            <p:nvPr/>
          </p:nvGrpSpPr>
          <p:grpSpPr>
            <a:xfrm rot="9237480">
              <a:off x="8281085" y="2677133"/>
              <a:ext cx="335496" cy="397462"/>
              <a:chOff x="927100" y="2273300"/>
              <a:chExt cx="965200" cy="718085"/>
            </a:xfrm>
          </p:grpSpPr>
          <p:cxnSp>
            <p:nvCxnSpPr>
              <p:cNvPr id="56" name="Straight Arrow Connector 55"/>
              <p:cNvCxnSpPr/>
              <p:nvPr/>
            </p:nvCxnSpPr>
            <p:spPr>
              <a:xfrm flipH="1">
                <a:off x="965200" y="2349500"/>
                <a:ext cx="927100" cy="641885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/>
              <p:cNvCxnSpPr/>
              <p:nvPr/>
            </p:nvCxnSpPr>
            <p:spPr>
              <a:xfrm rot="10800000" flipH="1">
                <a:off x="927100" y="2273300"/>
                <a:ext cx="927100" cy="641885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Oval 57"/>
            <p:cNvSpPr/>
            <p:nvPr/>
          </p:nvSpPr>
          <p:spPr>
            <a:xfrm rot="14587664">
              <a:off x="8359338" y="2302017"/>
              <a:ext cx="279400" cy="279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0850" y="2715769"/>
            <a:ext cx="8785261" cy="3516437"/>
            <a:chOff x="50850" y="2715769"/>
            <a:chExt cx="8785261" cy="3516437"/>
          </a:xfrm>
        </p:grpSpPr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961" b="89990" l="10000" r="9443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850" y="2715769"/>
              <a:ext cx="1501301" cy="995037"/>
            </a:xfrm>
            <a:prstGeom prst="rect">
              <a:avLst/>
            </a:prstGeom>
          </p:spPr>
        </p:pic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961" b="89990" l="10000" r="9443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40100" y="5237169"/>
              <a:ext cx="1501301" cy="995037"/>
            </a:xfrm>
            <a:prstGeom prst="rect">
              <a:avLst/>
            </a:prstGeom>
          </p:spPr>
        </p:pic>
        <p:pic>
          <p:nvPicPr>
            <p:cNvPr id="64" name="Picture 63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961" b="89990" l="10000" r="9443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34810" y="3066566"/>
              <a:ext cx="1501301" cy="9950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40850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Inside </a:t>
            </a:r>
            <a:r>
              <a:rPr lang="en-US" dirty="0"/>
              <a:t>t</a:t>
            </a:r>
            <a:r>
              <a:rPr lang="en-US" dirty="0" smtClean="0"/>
              <a:t>he Datacenter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4000" y="1926164"/>
            <a:ext cx="821267" cy="8212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53734" y="1693331"/>
            <a:ext cx="4250266" cy="425026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540000" y="1788713"/>
            <a:ext cx="1727200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2800" b="1" u="sng" dirty="0" smtClean="0"/>
              <a:t>Web Tier</a:t>
            </a:r>
            <a:endParaRPr lang="en-US" sz="2800" b="1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4368798" y="1788713"/>
            <a:ext cx="2286000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2800" b="1" u="sng" dirty="0" smtClean="0"/>
              <a:t>Storage Tier</a:t>
            </a:r>
            <a:endParaRPr lang="en-US" sz="2800" b="1" u="sng" dirty="0"/>
          </a:p>
        </p:txBody>
      </p:sp>
      <p:grpSp>
        <p:nvGrpSpPr>
          <p:cNvPr id="17" name="Group 16"/>
          <p:cNvGrpSpPr/>
          <p:nvPr/>
        </p:nvGrpSpPr>
        <p:grpSpPr>
          <a:xfrm>
            <a:off x="2607736" y="2552698"/>
            <a:ext cx="1524000" cy="2181584"/>
            <a:chOff x="2607736" y="2552698"/>
            <a:chExt cx="1524000" cy="2181584"/>
          </a:xfrm>
        </p:grpSpPr>
        <p:sp>
          <p:nvSpPr>
            <p:cNvPr id="9" name="Rectangle 8"/>
            <p:cNvSpPr/>
            <p:nvPr/>
          </p:nvSpPr>
          <p:spPr>
            <a:xfrm>
              <a:off x="2607736" y="2552698"/>
              <a:ext cx="1524000" cy="575746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607736" y="3355617"/>
              <a:ext cx="1524000" cy="575746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607736" y="4158536"/>
              <a:ext cx="1524000" cy="575746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2607736" y="4961454"/>
            <a:ext cx="1524000" cy="57574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4690531" y="2552698"/>
            <a:ext cx="1625600" cy="2984502"/>
            <a:chOff x="4690531" y="2552698"/>
            <a:chExt cx="1625600" cy="2984502"/>
          </a:xfrm>
        </p:grpSpPr>
        <p:sp>
          <p:nvSpPr>
            <p:cNvPr id="13" name="Oval 12"/>
            <p:cNvSpPr/>
            <p:nvPr/>
          </p:nvSpPr>
          <p:spPr>
            <a:xfrm>
              <a:off x="4690531" y="2552698"/>
              <a:ext cx="1625600" cy="575746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2400" dirty="0" smtClean="0"/>
                <a:t>A-F</a:t>
              </a:r>
              <a:endParaRPr lang="en-US" sz="2400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4690531" y="3355617"/>
              <a:ext cx="1625600" cy="575746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2400" dirty="0" smtClean="0"/>
                <a:t>G-L</a:t>
              </a:r>
              <a:endParaRPr lang="en-US" sz="2400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4690531" y="4158536"/>
              <a:ext cx="1625600" cy="575746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2400" dirty="0" smtClean="0"/>
                <a:t>M-R</a:t>
              </a:r>
              <a:endParaRPr lang="en-US" sz="2400" dirty="0"/>
            </a:p>
          </p:txBody>
        </p:sp>
        <p:sp>
          <p:nvSpPr>
            <p:cNvPr id="16" name="Oval 15"/>
            <p:cNvSpPr/>
            <p:nvPr/>
          </p:nvSpPr>
          <p:spPr>
            <a:xfrm>
              <a:off x="4690531" y="4961454"/>
              <a:ext cx="1625600" cy="575746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2400" dirty="0" smtClean="0"/>
                <a:t>S-Z</a:t>
              </a:r>
              <a:endParaRPr lang="en-US" sz="2400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7212927" y="3146268"/>
            <a:ext cx="2286000" cy="1619903"/>
            <a:chOff x="7212927" y="3146268"/>
            <a:chExt cx="2286000" cy="1619903"/>
          </a:xfrm>
        </p:grpSpPr>
        <p:grpSp>
          <p:nvGrpSpPr>
            <p:cNvPr id="34" name="Group 33"/>
            <p:cNvGrpSpPr/>
            <p:nvPr/>
          </p:nvGrpSpPr>
          <p:grpSpPr>
            <a:xfrm>
              <a:off x="7744574" y="3557905"/>
              <a:ext cx="1222707" cy="1208266"/>
              <a:chOff x="2353734" y="1693331"/>
              <a:chExt cx="4301064" cy="4250266"/>
            </a:xfrm>
          </p:grpSpPr>
          <p:sp>
            <p:nvSpPr>
              <p:cNvPr id="35" name="Rectangle 34"/>
              <p:cNvSpPr/>
              <p:nvPr/>
            </p:nvSpPr>
            <p:spPr>
              <a:xfrm>
                <a:off x="2353734" y="1693331"/>
                <a:ext cx="4250266" cy="425026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2540000" y="1898134"/>
                <a:ext cx="1727200" cy="5232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600" b="1" dirty="0" smtClean="0"/>
                  <a:t>Web Tier</a:t>
                </a:r>
                <a:endParaRPr lang="en-US" sz="600" b="1" dirty="0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4368798" y="1898134"/>
                <a:ext cx="2286000" cy="5232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600" b="1" dirty="0" smtClean="0"/>
                  <a:t>Storage Tier</a:t>
                </a:r>
                <a:endParaRPr lang="en-US" sz="600" b="1" dirty="0"/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2607736" y="2552698"/>
                <a:ext cx="1524000" cy="57574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2607736" y="3355617"/>
                <a:ext cx="1524000" cy="57574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2607736" y="4158536"/>
                <a:ext cx="1524000" cy="57574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2607736" y="4961454"/>
                <a:ext cx="1524000" cy="57574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4690531" y="2552698"/>
                <a:ext cx="1625600" cy="575746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algn="ctr"/>
                <a:r>
                  <a:rPr lang="en-US" dirty="0" smtClean="0"/>
                  <a:t>A-F</a:t>
                </a:r>
                <a:endParaRPr lang="en-US" dirty="0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4690531" y="3355617"/>
                <a:ext cx="1625600" cy="575746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algn="ctr"/>
                <a:r>
                  <a:rPr lang="en-US" dirty="0" smtClean="0"/>
                  <a:t>G-L</a:t>
                </a:r>
                <a:endParaRPr lang="en-US" dirty="0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4690531" y="4158536"/>
                <a:ext cx="1625600" cy="575746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algn="ctr"/>
                <a:r>
                  <a:rPr lang="en-US" dirty="0" smtClean="0"/>
                  <a:t>M-R</a:t>
                </a:r>
                <a:endParaRPr lang="en-US" dirty="0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4690531" y="4961454"/>
                <a:ext cx="1625600" cy="575746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algn="ctr"/>
                <a:r>
                  <a:rPr lang="en-US" dirty="0" smtClean="0"/>
                  <a:t>S-Z</a:t>
                </a:r>
                <a:endParaRPr lang="en-US" dirty="0"/>
              </a:p>
            </p:txBody>
          </p:sp>
        </p:grpSp>
        <p:sp>
          <p:nvSpPr>
            <p:cNvPr id="58" name="TextBox 57"/>
            <p:cNvSpPr txBox="1"/>
            <p:nvPr/>
          </p:nvSpPr>
          <p:spPr>
            <a:xfrm>
              <a:off x="7212927" y="3146268"/>
              <a:ext cx="2286000" cy="52322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/>
              <a:r>
                <a:rPr lang="en-US" sz="2400" b="1" dirty="0" smtClean="0"/>
                <a:t>Remote DC</a:t>
              </a:r>
              <a:endParaRPr lang="en-US" sz="2400" b="1" dirty="0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5738232" y="2460774"/>
            <a:ext cx="2286000" cy="2788553"/>
            <a:chOff x="5738232" y="2460774"/>
            <a:chExt cx="2286000" cy="2788553"/>
          </a:xfrm>
        </p:grpSpPr>
        <p:cxnSp>
          <p:nvCxnSpPr>
            <p:cNvPr id="18" name="Straight Arrow Connector 17"/>
            <p:cNvCxnSpPr>
              <a:stCxn id="13" idx="6"/>
            </p:cNvCxnSpPr>
            <p:nvPr/>
          </p:nvCxnSpPr>
          <p:spPr>
            <a:xfrm>
              <a:off x="6316131" y="2840571"/>
              <a:ext cx="1225559" cy="493190"/>
            </a:xfrm>
            <a:prstGeom prst="straightConnector1">
              <a:avLst/>
            </a:prstGeom>
            <a:ln w="38100" cmpd="sng">
              <a:solidFill>
                <a:schemeClr val="accent4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/>
            <p:nvPr/>
          </p:nvCxnSpPr>
          <p:spPr>
            <a:xfrm>
              <a:off x="6316131" y="3662151"/>
              <a:ext cx="1225559" cy="140055"/>
            </a:xfrm>
            <a:prstGeom prst="straightConnector1">
              <a:avLst/>
            </a:prstGeom>
            <a:ln w="38100" cmpd="sng">
              <a:solidFill>
                <a:schemeClr val="accent4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 flipV="1">
              <a:off x="6316131" y="4258714"/>
              <a:ext cx="1225559" cy="197561"/>
            </a:xfrm>
            <a:prstGeom prst="straightConnector1">
              <a:avLst/>
            </a:prstGeom>
            <a:ln w="38100" cmpd="sng">
              <a:solidFill>
                <a:schemeClr val="accent4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16" idx="6"/>
            </p:cNvCxnSpPr>
            <p:nvPr/>
          </p:nvCxnSpPr>
          <p:spPr>
            <a:xfrm flipV="1">
              <a:off x="6316131" y="4650640"/>
              <a:ext cx="1225559" cy="598687"/>
            </a:xfrm>
            <a:prstGeom prst="straightConnector1">
              <a:avLst/>
            </a:prstGeom>
            <a:ln w="38100" cmpd="sng">
              <a:solidFill>
                <a:schemeClr val="accent4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 rot="1324738">
              <a:off x="5738232" y="2460774"/>
              <a:ext cx="2286000" cy="52322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/>
              <a:r>
                <a:rPr lang="en-US" sz="2800" dirty="0" smtClean="0">
                  <a:solidFill>
                    <a:schemeClr val="accent4">
                      <a:lumMod val="50000"/>
                    </a:schemeClr>
                  </a:solidFill>
                </a:rPr>
                <a:t>Replication</a:t>
              </a:r>
              <a:endParaRPr lang="en-US" sz="28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  <p:cxnSp>
        <p:nvCxnSpPr>
          <p:cNvPr id="19" name="Straight Arrow Connector 18"/>
          <p:cNvCxnSpPr>
            <a:stCxn id="9" idx="3"/>
            <a:endCxn id="13" idx="2"/>
          </p:cNvCxnSpPr>
          <p:nvPr/>
        </p:nvCxnSpPr>
        <p:spPr>
          <a:xfrm>
            <a:off x="4131736" y="2840571"/>
            <a:ext cx="558795" cy="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4131736" y="2900011"/>
            <a:ext cx="796859" cy="2349316"/>
            <a:chOff x="4131736" y="2900011"/>
            <a:chExt cx="796859" cy="2349316"/>
          </a:xfrm>
        </p:grpSpPr>
        <p:cxnSp>
          <p:nvCxnSpPr>
            <p:cNvPr id="46" name="Straight Arrow Connector 45"/>
            <p:cNvCxnSpPr>
              <a:endCxn id="16" idx="2"/>
            </p:cNvCxnSpPr>
            <p:nvPr/>
          </p:nvCxnSpPr>
          <p:spPr>
            <a:xfrm>
              <a:off x="4132994" y="3009251"/>
              <a:ext cx="557537" cy="224007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endCxn id="14" idx="1"/>
            </p:cNvCxnSpPr>
            <p:nvPr/>
          </p:nvCxnSpPr>
          <p:spPr>
            <a:xfrm>
              <a:off x="4131736" y="2900011"/>
              <a:ext cx="796859" cy="53992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4131736" y="2908846"/>
              <a:ext cx="558795" cy="753305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4131736" y="3009251"/>
              <a:ext cx="656575" cy="1289148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Arrow Connector 53"/>
          <p:cNvCxnSpPr/>
          <p:nvPr/>
        </p:nvCxnSpPr>
        <p:spPr>
          <a:xfrm>
            <a:off x="1075267" y="2341866"/>
            <a:ext cx="1532469" cy="405565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-45475" y="-214115"/>
            <a:ext cx="9285675" cy="7077168"/>
          </a:xfrm>
          <a:custGeom>
            <a:avLst/>
            <a:gdLst>
              <a:gd name="connsiteX0" fmla="*/ 6609215 w 9285675"/>
              <a:gd name="connsiteY0" fmla="*/ 1843365 h 6977477"/>
              <a:gd name="connsiteX1" fmla="*/ 4424351 w 9285675"/>
              <a:gd name="connsiteY1" fmla="*/ 1843365 h 6977477"/>
              <a:gd name="connsiteX2" fmla="*/ 4465317 w 9285675"/>
              <a:gd name="connsiteY2" fmla="*/ 5871458 h 6977477"/>
              <a:gd name="connsiteX3" fmla="*/ 6540938 w 9285675"/>
              <a:gd name="connsiteY3" fmla="*/ 5885113 h 6977477"/>
              <a:gd name="connsiteX4" fmla="*/ 7715303 w 9285675"/>
              <a:gd name="connsiteY4" fmla="*/ 5024876 h 6977477"/>
              <a:gd name="connsiteX5" fmla="*/ 7715303 w 9285675"/>
              <a:gd name="connsiteY5" fmla="*/ 2771874 h 6977477"/>
              <a:gd name="connsiteX6" fmla="*/ 6718459 w 9285675"/>
              <a:gd name="connsiteY6" fmla="*/ 1843365 h 6977477"/>
              <a:gd name="connsiteX7" fmla="*/ 6704803 w 9285675"/>
              <a:gd name="connsiteY7" fmla="*/ 27309 h 6977477"/>
              <a:gd name="connsiteX8" fmla="*/ 9285675 w 9285675"/>
              <a:gd name="connsiteY8" fmla="*/ 54618 h 6977477"/>
              <a:gd name="connsiteX9" fmla="*/ 9285675 w 9285675"/>
              <a:gd name="connsiteY9" fmla="*/ 6977477 h 6977477"/>
              <a:gd name="connsiteX10" fmla="*/ 0 w 9285675"/>
              <a:gd name="connsiteY10" fmla="*/ 6963823 h 6977477"/>
              <a:gd name="connsiteX11" fmla="*/ 54621 w 9285675"/>
              <a:gd name="connsiteY11" fmla="*/ 0 h 6977477"/>
              <a:gd name="connsiteX12" fmla="*/ 6595560 w 9285675"/>
              <a:gd name="connsiteY12" fmla="*/ 0 h 6977477"/>
              <a:gd name="connsiteX13" fmla="*/ 6527283 w 9285675"/>
              <a:gd name="connsiteY13" fmla="*/ 1761437 h 6977477"/>
              <a:gd name="connsiteX14" fmla="*/ 6609215 w 9285675"/>
              <a:gd name="connsiteY14" fmla="*/ 1843365 h 6977477"/>
              <a:gd name="connsiteX0" fmla="*/ 6609215 w 9285675"/>
              <a:gd name="connsiteY0" fmla="*/ 1843365 h 6977477"/>
              <a:gd name="connsiteX1" fmla="*/ 4424351 w 9285675"/>
              <a:gd name="connsiteY1" fmla="*/ 1843365 h 6977477"/>
              <a:gd name="connsiteX2" fmla="*/ 4465317 w 9285675"/>
              <a:gd name="connsiteY2" fmla="*/ 5871458 h 6977477"/>
              <a:gd name="connsiteX3" fmla="*/ 6540938 w 9285675"/>
              <a:gd name="connsiteY3" fmla="*/ 5885113 h 6977477"/>
              <a:gd name="connsiteX4" fmla="*/ 7715303 w 9285675"/>
              <a:gd name="connsiteY4" fmla="*/ 5024876 h 6977477"/>
              <a:gd name="connsiteX5" fmla="*/ 7715303 w 9285675"/>
              <a:gd name="connsiteY5" fmla="*/ 2771874 h 6977477"/>
              <a:gd name="connsiteX6" fmla="*/ 6718459 w 9285675"/>
              <a:gd name="connsiteY6" fmla="*/ 1843365 h 6977477"/>
              <a:gd name="connsiteX7" fmla="*/ 6704803 w 9285675"/>
              <a:gd name="connsiteY7" fmla="*/ 27309 h 6977477"/>
              <a:gd name="connsiteX8" fmla="*/ 9285675 w 9285675"/>
              <a:gd name="connsiteY8" fmla="*/ 54618 h 6977477"/>
              <a:gd name="connsiteX9" fmla="*/ 9285675 w 9285675"/>
              <a:gd name="connsiteY9" fmla="*/ 6977477 h 6977477"/>
              <a:gd name="connsiteX10" fmla="*/ 0 w 9285675"/>
              <a:gd name="connsiteY10" fmla="*/ 6963823 h 6977477"/>
              <a:gd name="connsiteX11" fmla="*/ 54621 w 9285675"/>
              <a:gd name="connsiteY11" fmla="*/ 0 h 6977477"/>
              <a:gd name="connsiteX12" fmla="*/ 6595560 w 9285675"/>
              <a:gd name="connsiteY12" fmla="*/ 0 h 6977477"/>
              <a:gd name="connsiteX13" fmla="*/ 6609215 w 9285675"/>
              <a:gd name="connsiteY13" fmla="*/ 1843365 h 6977477"/>
              <a:gd name="connsiteX0" fmla="*/ 6583815 w 9285675"/>
              <a:gd name="connsiteY0" fmla="*/ 1843365 h 6977477"/>
              <a:gd name="connsiteX1" fmla="*/ 4424351 w 9285675"/>
              <a:gd name="connsiteY1" fmla="*/ 1843365 h 6977477"/>
              <a:gd name="connsiteX2" fmla="*/ 4465317 w 9285675"/>
              <a:gd name="connsiteY2" fmla="*/ 5871458 h 6977477"/>
              <a:gd name="connsiteX3" fmla="*/ 6540938 w 9285675"/>
              <a:gd name="connsiteY3" fmla="*/ 5885113 h 6977477"/>
              <a:gd name="connsiteX4" fmla="*/ 7715303 w 9285675"/>
              <a:gd name="connsiteY4" fmla="*/ 5024876 h 6977477"/>
              <a:gd name="connsiteX5" fmla="*/ 7715303 w 9285675"/>
              <a:gd name="connsiteY5" fmla="*/ 2771874 h 6977477"/>
              <a:gd name="connsiteX6" fmla="*/ 6718459 w 9285675"/>
              <a:gd name="connsiteY6" fmla="*/ 1843365 h 6977477"/>
              <a:gd name="connsiteX7" fmla="*/ 6704803 w 9285675"/>
              <a:gd name="connsiteY7" fmla="*/ 27309 h 6977477"/>
              <a:gd name="connsiteX8" fmla="*/ 9285675 w 9285675"/>
              <a:gd name="connsiteY8" fmla="*/ 54618 h 6977477"/>
              <a:gd name="connsiteX9" fmla="*/ 9285675 w 9285675"/>
              <a:gd name="connsiteY9" fmla="*/ 6977477 h 6977477"/>
              <a:gd name="connsiteX10" fmla="*/ 0 w 9285675"/>
              <a:gd name="connsiteY10" fmla="*/ 6963823 h 6977477"/>
              <a:gd name="connsiteX11" fmla="*/ 54621 w 9285675"/>
              <a:gd name="connsiteY11" fmla="*/ 0 h 6977477"/>
              <a:gd name="connsiteX12" fmla="*/ 6595560 w 9285675"/>
              <a:gd name="connsiteY12" fmla="*/ 0 h 6977477"/>
              <a:gd name="connsiteX13" fmla="*/ 6583815 w 9285675"/>
              <a:gd name="connsiteY13" fmla="*/ 1843365 h 6977477"/>
              <a:gd name="connsiteX0" fmla="*/ 6583815 w 9285675"/>
              <a:gd name="connsiteY0" fmla="*/ 1843365 h 6977477"/>
              <a:gd name="connsiteX1" fmla="*/ 4424351 w 9285675"/>
              <a:gd name="connsiteY1" fmla="*/ 1843365 h 6977477"/>
              <a:gd name="connsiteX2" fmla="*/ 4465317 w 9285675"/>
              <a:gd name="connsiteY2" fmla="*/ 5871458 h 6977477"/>
              <a:gd name="connsiteX3" fmla="*/ 6540938 w 9285675"/>
              <a:gd name="connsiteY3" fmla="*/ 5885113 h 6977477"/>
              <a:gd name="connsiteX4" fmla="*/ 7715303 w 9285675"/>
              <a:gd name="connsiteY4" fmla="*/ 5024876 h 6977477"/>
              <a:gd name="connsiteX5" fmla="*/ 7715303 w 9285675"/>
              <a:gd name="connsiteY5" fmla="*/ 2771874 h 6977477"/>
              <a:gd name="connsiteX6" fmla="*/ 6718459 w 9285675"/>
              <a:gd name="connsiteY6" fmla="*/ 1843365 h 6977477"/>
              <a:gd name="connsiteX7" fmla="*/ 6704803 w 9285675"/>
              <a:gd name="connsiteY7" fmla="*/ 27309 h 6977477"/>
              <a:gd name="connsiteX8" fmla="*/ 9285675 w 9285675"/>
              <a:gd name="connsiteY8" fmla="*/ 54618 h 6977477"/>
              <a:gd name="connsiteX9" fmla="*/ 9285675 w 9285675"/>
              <a:gd name="connsiteY9" fmla="*/ 6977477 h 6977477"/>
              <a:gd name="connsiteX10" fmla="*/ 0 w 9285675"/>
              <a:gd name="connsiteY10" fmla="*/ 6963823 h 6977477"/>
              <a:gd name="connsiteX11" fmla="*/ 54621 w 9285675"/>
              <a:gd name="connsiteY11" fmla="*/ 0 h 6977477"/>
              <a:gd name="connsiteX12" fmla="*/ 6589210 w 9285675"/>
              <a:gd name="connsiteY12" fmla="*/ 6350 h 6977477"/>
              <a:gd name="connsiteX13" fmla="*/ 6583815 w 9285675"/>
              <a:gd name="connsiteY13" fmla="*/ 1843365 h 6977477"/>
              <a:gd name="connsiteX0" fmla="*/ 6583815 w 9285675"/>
              <a:gd name="connsiteY0" fmla="*/ 1875115 h 7009227"/>
              <a:gd name="connsiteX1" fmla="*/ 4424351 w 9285675"/>
              <a:gd name="connsiteY1" fmla="*/ 1875115 h 7009227"/>
              <a:gd name="connsiteX2" fmla="*/ 4465317 w 9285675"/>
              <a:gd name="connsiteY2" fmla="*/ 5903208 h 7009227"/>
              <a:gd name="connsiteX3" fmla="*/ 6540938 w 9285675"/>
              <a:gd name="connsiteY3" fmla="*/ 5916863 h 7009227"/>
              <a:gd name="connsiteX4" fmla="*/ 7715303 w 9285675"/>
              <a:gd name="connsiteY4" fmla="*/ 5056626 h 7009227"/>
              <a:gd name="connsiteX5" fmla="*/ 7715303 w 9285675"/>
              <a:gd name="connsiteY5" fmla="*/ 2803624 h 7009227"/>
              <a:gd name="connsiteX6" fmla="*/ 6718459 w 9285675"/>
              <a:gd name="connsiteY6" fmla="*/ 1875115 h 7009227"/>
              <a:gd name="connsiteX7" fmla="*/ 6704803 w 9285675"/>
              <a:gd name="connsiteY7" fmla="*/ 59059 h 7009227"/>
              <a:gd name="connsiteX8" fmla="*/ 9285675 w 9285675"/>
              <a:gd name="connsiteY8" fmla="*/ 86368 h 7009227"/>
              <a:gd name="connsiteX9" fmla="*/ 9285675 w 9285675"/>
              <a:gd name="connsiteY9" fmla="*/ 7009227 h 7009227"/>
              <a:gd name="connsiteX10" fmla="*/ 0 w 9285675"/>
              <a:gd name="connsiteY10" fmla="*/ 6995573 h 7009227"/>
              <a:gd name="connsiteX11" fmla="*/ 54621 w 9285675"/>
              <a:gd name="connsiteY11" fmla="*/ 31750 h 7009227"/>
              <a:gd name="connsiteX12" fmla="*/ 6582860 w 9285675"/>
              <a:gd name="connsiteY12" fmla="*/ 0 h 7009227"/>
              <a:gd name="connsiteX13" fmla="*/ 6583815 w 9285675"/>
              <a:gd name="connsiteY13" fmla="*/ 1875115 h 7009227"/>
              <a:gd name="connsiteX0" fmla="*/ 6583815 w 9285675"/>
              <a:gd name="connsiteY0" fmla="*/ 1885906 h 7020018"/>
              <a:gd name="connsiteX1" fmla="*/ 4424351 w 9285675"/>
              <a:gd name="connsiteY1" fmla="*/ 1885906 h 7020018"/>
              <a:gd name="connsiteX2" fmla="*/ 4465317 w 9285675"/>
              <a:gd name="connsiteY2" fmla="*/ 5913999 h 7020018"/>
              <a:gd name="connsiteX3" fmla="*/ 6540938 w 9285675"/>
              <a:gd name="connsiteY3" fmla="*/ 5927654 h 7020018"/>
              <a:gd name="connsiteX4" fmla="*/ 7715303 w 9285675"/>
              <a:gd name="connsiteY4" fmla="*/ 5067417 h 7020018"/>
              <a:gd name="connsiteX5" fmla="*/ 7715303 w 9285675"/>
              <a:gd name="connsiteY5" fmla="*/ 2814415 h 7020018"/>
              <a:gd name="connsiteX6" fmla="*/ 6718459 w 9285675"/>
              <a:gd name="connsiteY6" fmla="*/ 1885906 h 7020018"/>
              <a:gd name="connsiteX7" fmla="*/ 6717503 w 9285675"/>
              <a:gd name="connsiteY7" fmla="*/ 0 h 7020018"/>
              <a:gd name="connsiteX8" fmla="*/ 9285675 w 9285675"/>
              <a:gd name="connsiteY8" fmla="*/ 97159 h 7020018"/>
              <a:gd name="connsiteX9" fmla="*/ 9285675 w 9285675"/>
              <a:gd name="connsiteY9" fmla="*/ 7020018 h 7020018"/>
              <a:gd name="connsiteX10" fmla="*/ 0 w 9285675"/>
              <a:gd name="connsiteY10" fmla="*/ 7006364 h 7020018"/>
              <a:gd name="connsiteX11" fmla="*/ 54621 w 9285675"/>
              <a:gd name="connsiteY11" fmla="*/ 42541 h 7020018"/>
              <a:gd name="connsiteX12" fmla="*/ 6582860 w 9285675"/>
              <a:gd name="connsiteY12" fmla="*/ 10791 h 7020018"/>
              <a:gd name="connsiteX13" fmla="*/ 6583815 w 9285675"/>
              <a:gd name="connsiteY13" fmla="*/ 1885906 h 7020018"/>
              <a:gd name="connsiteX0" fmla="*/ 6583815 w 9285675"/>
              <a:gd name="connsiteY0" fmla="*/ 1885906 h 7020018"/>
              <a:gd name="connsiteX1" fmla="*/ 4424351 w 9285675"/>
              <a:gd name="connsiteY1" fmla="*/ 1885906 h 7020018"/>
              <a:gd name="connsiteX2" fmla="*/ 4465317 w 9285675"/>
              <a:gd name="connsiteY2" fmla="*/ 5913999 h 7020018"/>
              <a:gd name="connsiteX3" fmla="*/ 6540938 w 9285675"/>
              <a:gd name="connsiteY3" fmla="*/ 5927654 h 7020018"/>
              <a:gd name="connsiteX4" fmla="*/ 7715303 w 9285675"/>
              <a:gd name="connsiteY4" fmla="*/ 5067417 h 7020018"/>
              <a:gd name="connsiteX5" fmla="*/ 7715303 w 9285675"/>
              <a:gd name="connsiteY5" fmla="*/ 2814415 h 7020018"/>
              <a:gd name="connsiteX6" fmla="*/ 6718459 w 9285675"/>
              <a:gd name="connsiteY6" fmla="*/ 1885906 h 7020018"/>
              <a:gd name="connsiteX7" fmla="*/ 6717503 w 9285675"/>
              <a:gd name="connsiteY7" fmla="*/ 0 h 7020018"/>
              <a:gd name="connsiteX8" fmla="*/ 9285675 w 9285675"/>
              <a:gd name="connsiteY8" fmla="*/ 97159 h 7020018"/>
              <a:gd name="connsiteX9" fmla="*/ 9285675 w 9285675"/>
              <a:gd name="connsiteY9" fmla="*/ 7020018 h 7020018"/>
              <a:gd name="connsiteX10" fmla="*/ 0 w 9285675"/>
              <a:gd name="connsiteY10" fmla="*/ 7006364 h 7020018"/>
              <a:gd name="connsiteX11" fmla="*/ 54621 w 9285675"/>
              <a:gd name="connsiteY11" fmla="*/ 42541 h 7020018"/>
              <a:gd name="connsiteX12" fmla="*/ 6728910 w 9285675"/>
              <a:gd name="connsiteY12" fmla="*/ 10791 h 7020018"/>
              <a:gd name="connsiteX13" fmla="*/ 6583815 w 9285675"/>
              <a:gd name="connsiteY13" fmla="*/ 1885906 h 7020018"/>
              <a:gd name="connsiteX0" fmla="*/ 6748915 w 9285675"/>
              <a:gd name="connsiteY0" fmla="*/ 1892256 h 7020018"/>
              <a:gd name="connsiteX1" fmla="*/ 4424351 w 9285675"/>
              <a:gd name="connsiteY1" fmla="*/ 1885906 h 7020018"/>
              <a:gd name="connsiteX2" fmla="*/ 4465317 w 9285675"/>
              <a:gd name="connsiteY2" fmla="*/ 5913999 h 7020018"/>
              <a:gd name="connsiteX3" fmla="*/ 6540938 w 9285675"/>
              <a:gd name="connsiteY3" fmla="*/ 5927654 h 7020018"/>
              <a:gd name="connsiteX4" fmla="*/ 7715303 w 9285675"/>
              <a:gd name="connsiteY4" fmla="*/ 5067417 h 7020018"/>
              <a:gd name="connsiteX5" fmla="*/ 7715303 w 9285675"/>
              <a:gd name="connsiteY5" fmla="*/ 2814415 h 7020018"/>
              <a:gd name="connsiteX6" fmla="*/ 6718459 w 9285675"/>
              <a:gd name="connsiteY6" fmla="*/ 1885906 h 7020018"/>
              <a:gd name="connsiteX7" fmla="*/ 6717503 w 9285675"/>
              <a:gd name="connsiteY7" fmla="*/ 0 h 7020018"/>
              <a:gd name="connsiteX8" fmla="*/ 9285675 w 9285675"/>
              <a:gd name="connsiteY8" fmla="*/ 97159 h 7020018"/>
              <a:gd name="connsiteX9" fmla="*/ 9285675 w 9285675"/>
              <a:gd name="connsiteY9" fmla="*/ 7020018 h 7020018"/>
              <a:gd name="connsiteX10" fmla="*/ 0 w 9285675"/>
              <a:gd name="connsiteY10" fmla="*/ 7006364 h 7020018"/>
              <a:gd name="connsiteX11" fmla="*/ 54621 w 9285675"/>
              <a:gd name="connsiteY11" fmla="*/ 42541 h 7020018"/>
              <a:gd name="connsiteX12" fmla="*/ 6728910 w 9285675"/>
              <a:gd name="connsiteY12" fmla="*/ 10791 h 7020018"/>
              <a:gd name="connsiteX13" fmla="*/ 6748915 w 9285675"/>
              <a:gd name="connsiteY13" fmla="*/ 1892256 h 7020018"/>
              <a:gd name="connsiteX0" fmla="*/ 6723515 w 9285675"/>
              <a:gd name="connsiteY0" fmla="*/ 1892256 h 7020018"/>
              <a:gd name="connsiteX1" fmla="*/ 4424351 w 9285675"/>
              <a:gd name="connsiteY1" fmla="*/ 1885906 h 7020018"/>
              <a:gd name="connsiteX2" fmla="*/ 4465317 w 9285675"/>
              <a:gd name="connsiteY2" fmla="*/ 5913999 h 7020018"/>
              <a:gd name="connsiteX3" fmla="*/ 6540938 w 9285675"/>
              <a:gd name="connsiteY3" fmla="*/ 5927654 h 7020018"/>
              <a:gd name="connsiteX4" fmla="*/ 7715303 w 9285675"/>
              <a:gd name="connsiteY4" fmla="*/ 5067417 h 7020018"/>
              <a:gd name="connsiteX5" fmla="*/ 7715303 w 9285675"/>
              <a:gd name="connsiteY5" fmla="*/ 2814415 h 7020018"/>
              <a:gd name="connsiteX6" fmla="*/ 6718459 w 9285675"/>
              <a:gd name="connsiteY6" fmla="*/ 1885906 h 7020018"/>
              <a:gd name="connsiteX7" fmla="*/ 6717503 w 9285675"/>
              <a:gd name="connsiteY7" fmla="*/ 0 h 7020018"/>
              <a:gd name="connsiteX8" fmla="*/ 9285675 w 9285675"/>
              <a:gd name="connsiteY8" fmla="*/ 97159 h 7020018"/>
              <a:gd name="connsiteX9" fmla="*/ 9285675 w 9285675"/>
              <a:gd name="connsiteY9" fmla="*/ 7020018 h 7020018"/>
              <a:gd name="connsiteX10" fmla="*/ 0 w 9285675"/>
              <a:gd name="connsiteY10" fmla="*/ 7006364 h 7020018"/>
              <a:gd name="connsiteX11" fmla="*/ 54621 w 9285675"/>
              <a:gd name="connsiteY11" fmla="*/ 42541 h 7020018"/>
              <a:gd name="connsiteX12" fmla="*/ 6728910 w 9285675"/>
              <a:gd name="connsiteY12" fmla="*/ 10791 h 7020018"/>
              <a:gd name="connsiteX13" fmla="*/ 6723515 w 9285675"/>
              <a:gd name="connsiteY13" fmla="*/ 1892256 h 7020018"/>
              <a:gd name="connsiteX0" fmla="*/ 6723515 w 9285675"/>
              <a:gd name="connsiteY0" fmla="*/ 1892256 h 7020018"/>
              <a:gd name="connsiteX1" fmla="*/ 4424351 w 9285675"/>
              <a:gd name="connsiteY1" fmla="*/ 1885906 h 7020018"/>
              <a:gd name="connsiteX2" fmla="*/ 4465317 w 9285675"/>
              <a:gd name="connsiteY2" fmla="*/ 5913999 h 7020018"/>
              <a:gd name="connsiteX3" fmla="*/ 6540938 w 9285675"/>
              <a:gd name="connsiteY3" fmla="*/ 5927654 h 7020018"/>
              <a:gd name="connsiteX4" fmla="*/ 7715303 w 9285675"/>
              <a:gd name="connsiteY4" fmla="*/ 5067417 h 7020018"/>
              <a:gd name="connsiteX5" fmla="*/ 7715303 w 9285675"/>
              <a:gd name="connsiteY5" fmla="*/ 2814415 h 7020018"/>
              <a:gd name="connsiteX6" fmla="*/ 6718459 w 9285675"/>
              <a:gd name="connsiteY6" fmla="*/ 1885906 h 7020018"/>
              <a:gd name="connsiteX7" fmla="*/ 6717503 w 9285675"/>
              <a:gd name="connsiteY7" fmla="*/ 0 h 7020018"/>
              <a:gd name="connsiteX8" fmla="*/ 9285675 w 9285675"/>
              <a:gd name="connsiteY8" fmla="*/ 97159 h 7020018"/>
              <a:gd name="connsiteX9" fmla="*/ 9285675 w 9285675"/>
              <a:gd name="connsiteY9" fmla="*/ 7020018 h 7020018"/>
              <a:gd name="connsiteX10" fmla="*/ 0 w 9285675"/>
              <a:gd name="connsiteY10" fmla="*/ 7006364 h 7020018"/>
              <a:gd name="connsiteX11" fmla="*/ 54621 w 9285675"/>
              <a:gd name="connsiteY11" fmla="*/ 42541 h 7020018"/>
              <a:gd name="connsiteX12" fmla="*/ 6722560 w 9285675"/>
              <a:gd name="connsiteY12" fmla="*/ 10791 h 7020018"/>
              <a:gd name="connsiteX13" fmla="*/ 6723515 w 9285675"/>
              <a:gd name="connsiteY13" fmla="*/ 1892256 h 7020018"/>
              <a:gd name="connsiteX0" fmla="*/ 6723515 w 9285675"/>
              <a:gd name="connsiteY0" fmla="*/ 1908131 h 7035893"/>
              <a:gd name="connsiteX1" fmla="*/ 4424351 w 9285675"/>
              <a:gd name="connsiteY1" fmla="*/ 1901781 h 7035893"/>
              <a:gd name="connsiteX2" fmla="*/ 4465317 w 9285675"/>
              <a:gd name="connsiteY2" fmla="*/ 5929874 h 7035893"/>
              <a:gd name="connsiteX3" fmla="*/ 6540938 w 9285675"/>
              <a:gd name="connsiteY3" fmla="*/ 5943529 h 7035893"/>
              <a:gd name="connsiteX4" fmla="*/ 7715303 w 9285675"/>
              <a:gd name="connsiteY4" fmla="*/ 5083292 h 7035893"/>
              <a:gd name="connsiteX5" fmla="*/ 7715303 w 9285675"/>
              <a:gd name="connsiteY5" fmla="*/ 2830290 h 7035893"/>
              <a:gd name="connsiteX6" fmla="*/ 6718459 w 9285675"/>
              <a:gd name="connsiteY6" fmla="*/ 1901781 h 7035893"/>
              <a:gd name="connsiteX7" fmla="*/ 6727028 w 9285675"/>
              <a:gd name="connsiteY7" fmla="*/ 0 h 7035893"/>
              <a:gd name="connsiteX8" fmla="*/ 9285675 w 9285675"/>
              <a:gd name="connsiteY8" fmla="*/ 113034 h 7035893"/>
              <a:gd name="connsiteX9" fmla="*/ 9285675 w 9285675"/>
              <a:gd name="connsiteY9" fmla="*/ 7035893 h 7035893"/>
              <a:gd name="connsiteX10" fmla="*/ 0 w 9285675"/>
              <a:gd name="connsiteY10" fmla="*/ 7022239 h 7035893"/>
              <a:gd name="connsiteX11" fmla="*/ 54621 w 9285675"/>
              <a:gd name="connsiteY11" fmla="*/ 58416 h 7035893"/>
              <a:gd name="connsiteX12" fmla="*/ 6722560 w 9285675"/>
              <a:gd name="connsiteY12" fmla="*/ 26666 h 7035893"/>
              <a:gd name="connsiteX13" fmla="*/ 6723515 w 9285675"/>
              <a:gd name="connsiteY13" fmla="*/ 1908131 h 7035893"/>
              <a:gd name="connsiteX0" fmla="*/ 6723515 w 9285675"/>
              <a:gd name="connsiteY0" fmla="*/ 1949406 h 7077168"/>
              <a:gd name="connsiteX1" fmla="*/ 4424351 w 9285675"/>
              <a:gd name="connsiteY1" fmla="*/ 1943056 h 7077168"/>
              <a:gd name="connsiteX2" fmla="*/ 4465317 w 9285675"/>
              <a:gd name="connsiteY2" fmla="*/ 5971149 h 7077168"/>
              <a:gd name="connsiteX3" fmla="*/ 6540938 w 9285675"/>
              <a:gd name="connsiteY3" fmla="*/ 5984804 h 7077168"/>
              <a:gd name="connsiteX4" fmla="*/ 7715303 w 9285675"/>
              <a:gd name="connsiteY4" fmla="*/ 5124567 h 7077168"/>
              <a:gd name="connsiteX5" fmla="*/ 7715303 w 9285675"/>
              <a:gd name="connsiteY5" fmla="*/ 2871565 h 7077168"/>
              <a:gd name="connsiteX6" fmla="*/ 6718459 w 9285675"/>
              <a:gd name="connsiteY6" fmla="*/ 1943056 h 7077168"/>
              <a:gd name="connsiteX7" fmla="*/ 6723853 w 9285675"/>
              <a:gd name="connsiteY7" fmla="*/ 0 h 7077168"/>
              <a:gd name="connsiteX8" fmla="*/ 9285675 w 9285675"/>
              <a:gd name="connsiteY8" fmla="*/ 154309 h 7077168"/>
              <a:gd name="connsiteX9" fmla="*/ 9285675 w 9285675"/>
              <a:gd name="connsiteY9" fmla="*/ 7077168 h 7077168"/>
              <a:gd name="connsiteX10" fmla="*/ 0 w 9285675"/>
              <a:gd name="connsiteY10" fmla="*/ 7063514 h 7077168"/>
              <a:gd name="connsiteX11" fmla="*/ 54621 w 9285675"/>
              <a:gd name="connsiteY11" fmla="*/ 99691 h 7077168"/>
              <a:gd name="connsiteX12" fmla="*/ 6722560 w 9285675"/>
              <a:gd name="connsiteY12" fmla="*/ 67941 h 7077168"/>
              <a:gd name="connsiteX13" fmla="*/ 6723515 w 9285675"/>
              <a:gd name="connsiteY13" fmla="*/ 1949406 h 7077168"/>
              <a:gd name="connsiteX0" fmla="*/ 6720340 w 9285675"/>
              <a:gd name="connsiteY0" fmla="*/ 1946231 h 7077168"/>
              <a:gd name="connsiteX1" fmla="*/ 4424351 w 9285675"/>
              <a:gd name="connsiteY1" fmla="*/ 1943056 h 7077168"/>
              <a:gd name="connsiteX2" fmla="*/ 4465317 w 9285675"/>
              <a:gd name="connsiteY2" fmla="*/ 5971149 h 7077168"/>
              <a:gd name="connsiteX3" fmla="*/ 6540938 w 9285675"/>
              <a:gd name="connsiteY3" fmla="*/ 5984804 h 7077168"/>
              <a:gd name="connsiteX4" fmla="*/ 7715303 w 9285675"/>
              <a:gd name="connsiteY4" fmla="*/ 5124567 h 7077168"/>
              <a:gd name="connsiteX5" fmla="*/ 7715303 w 9285675"/>
              <a:gd name="connsiteY5" fmla="*/ 2871565 h 7077168"/>
              <a:gd name="connsiteX6" fmla="*/ 6718459 w 9285675"/>
              <a:gd name="connsiteY6" fmla="*/ 1943056 h 7077168"/>
              <a:gd name="connsiteX7" fmla="*/ 6723853 w 9285675"/>
              <a:gd name="connsiteY7" fmla="*/ 0 h 7077168"/>
              <a:gd name="connsiteX8" fmla="*/ 9285675 w 9285675"/>
              <a:gd name="connsiteY8" fmla="*/ 154309 h 7077168"/>
              <a:gd name="connsiteX9" fmla="*/ 9285675 w 9285675"/>
              <a:gd name="connsiteY9" fmla="*/ 7077168 h 7077168"/>
              <a:gd name="connsiteX10" fmla="*/ 0 w 9285675"/>
              <a:gd name="connsiteY10" fmla="*/ 7063514 h 7077168"/>
              <a:gd name="connsiteX11" fmla="*/ 54621 w 9285675"/>
              <a:gd name="connsiteY11" fmla="*/ 99691 h 7077168"/>
              <a:gd name="connsiteX12" fmla="*/ 6722560 w 9285675"/>
              <a:gd name="connsiteY12" fmla="*/ 67941 h 7077168"/>
              <a:gd name="connsiteX13" fmla="*/ 6720340 w 9285675"/>
              <a:gd name="connsiteY13" fmla="*/ 1946231 h 7077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285675" h="7077168">
                <a:moveTo>
                  <a:pt x="6720340" y="1946231"/>
                </a:moveTo>
                <a:lnTo>
                  <a:pt x="4424351" y="1943056"/>
                </a:lnTo>
                <a:lnTo>
                  <a:pt x="4465317" y="5971149"/>
                </a:lnTo>
                <a:lnTo>
                  <a:pt x="6540938" y="5984804"/>
                </a:lnTo>
                <a:lnTo>
                  <a:pt x="7715303" y="5124567"/>
                </a:lnTo>
                <a:lnTo>
                  <a:pt x="7715303" y="2871565"/>
                </a:lnTo>
                <a:lnTo>
                  <a:pt x="6718459" y="1943056"/>
                </a:lnTo>
                <a:cubicBezTo>
                  <a:pt x="6718140" y="1314421"/>
                  <a:pt x="6724172" y="628635"/>
                  <a:pt x="6723853" y="0"/>
                </a:cubicBezTo>
                <a:lnTo>
                  <a:pt x="9285675" y="154309"/>
                </a:lnTo>
                <a:lnTo>
                  <a:pt x="9285675" y="7077168"/>
                </a:lnTo>
                <a:lnTo>
                  <a:pt x="0" y="7063514"/>
                </a:lnTo>
                <a:lnTo>
                  <a:pt x="54621" y="99691"/>
                </a:lnTo>
                <a:lnTo>
                  <a:pt x="6722560" y="67941"/>
                </a:lnTo>
                <a:cubicBezTo>
                  <a:pt x="6720762" y="680279"/>
                  <a:pt x="6722138" y="1333893"/>
                  <a:pt x="6720340" y="1946231"/>
                </a:cubicBezTo>
                <a:close/>
              </a:path>
            </a:pathLst>
          </a:custGeom>
          <a:solidFill>
            <a:schemeClr val="bg1">
              <a:lumMod val="50000"/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 62"/>
          <p:cNvSpPr/>
          <p:nvPr/>
        </p:nvSpPr>
        <p:spPr>
          <a:xfrm>
            <a:off x="2743200" y="2609134"/>
            <a:ext cx="819880" cy="138297"/>
          </a:xfrm>
          <a:custGeom>
            <a:avLst/>
            <a:gdLst>
              <a:gd name="connsiteX0" fmla="*/ 0 w 2810934"/>
              <a:gd name="connsiteY0" fmla="*/ 474147 h 474147"/>
              <a:gd name="connsiteX1" fmla="*/ 524934 w 2810934"/>
              <a:gd name="connsiteY1" fmla="*/ 13 h 474147"/>
              <a:gd name="connsiteX2" fmla="*/ 982134 w 2810934"/>
              <a:gd name="connsiteY2" fmla="*/ 457213 h 474147"/>
              <a:gd name="connsiteX3" fmla="*/ 1524000 w 2810934"/>
              <a:gd name="connsiteY3" fmla="*/ 50813 h 474147"/>
              <a:gd name="connsiteX4" fmla="*/ 1913467 w 2810934"/>
              <a:gd name="connsiteY4" fmla="*/ 406413 h 474147"/>
              <a:gd name="connsiteX5" fmla="*/ 2302934 w 2810934"/>
              <a:gd name="connsiteY5" fmla="*/ 101613 h 474147"/>
              <a:gd name="connsiteX6" fmla="*/ 2506134 w 2810934"/>
              <a:gd name="connsiteY6" fmla="*/ 423347 h 474147"/>
              <a:gd name="connsiteX7" fmla="*/ 2810934 w 2810934"/>
              <a:gd name="connsiteY7" fmla="*/ 220147 h 474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10934" h="474147">
                <a:moveTo>
                  <a:pt x="0" y="474147"/>
                </a:moveTo>
                <a:cubicBezTo>
                  <a:pt x="180622" y="238491"/>
                  <a:pt x="361245" y="2835"/>
                  <a:pt x="524934" y="13"/>
                </a:cubicBezTo>
                <a:cubicBezTo>
                  <a:pt x="688623" y="-2809"/>
                  <a:pt x="815623" y="448746"/>
                  <a:pt x="982134" y="457213"/>
                </a:cubicBezTo>
                <a:cubicBezTo>
                  <a:pt x="1148645" y="465680"/>
                  <a:pt x="1368778" y="59280"/>
                  <a:pt x="1524000" y="50813"/>
                </a:cubicBezTo>
                <a:cubicBezTo>
                  <a:pt x="1679222" y="42346"/>
                  <a:pt x="1783645" y="397946"/>
                  <a:pt x="1913467" y="406413"/>
                </a:cubicBezTo>
                <a:cubicBezTo>
                  <a:pt x="2043289" y="414880"/>
                  <a:pt x="2204156" y="98791"/>
                  <a:pt x="2302934" y="101613"/>
                </a:cubicBezTo>
                <a:cubicBezTo>
                  <a:pt x="2401712" y="104435"/>
                  <a:pt x="2421468" y="403591"/>
                  <a:pt x="2506134" y="423347"/>
                </a:cubicBezTo>
                <a:cubicBezTo>
                  <a:pt x="2590800" y="443103"/>
                  <a:pt x="2740378" y="304814"/>
                  <a:pt x="2810934" y="220147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3297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 animBg="1"/>
      <p:bldP spid="3" grpId="0" animBg="1"/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Desired Properties: ALPS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</a:t>
            </a:r>
            <a:r>
              <a:rPr lang="en-US" dirty="0" smtClean="0"/>
              <a:t>vailability</a:t>
            </a:r>
          </a:p>
          <a:p>
            <a:endParaRPr lang="en-US" sz="1600" dirty="0"/>
          </a:p>
          <a:p>
            <a:r>
              <a:rPr lang="en-US" b="1" dirty="0" smtClean="0"/>
              <a:t>L</a:t>
            </a:r>
            <a:r>
              <a:rPr lang="en-US" dirty="0" smtClean="0"/>
              <a:t>ow Latency</a:t>
            </a:r>
            <a:endParaRPr lang="en-US" dirty="0"/>
          </a:p>
          <a:p>
            <a:endParaRPr lang="en-US" sz="1600" b="1" dirty="0" smtClean="0"/>
          </a:p>
          <a:p>
            <a:r>
              <a:rPr lang="en-US" b="1" dirty="0" smtClean="0"/>
              <a:t>P</a:t>
            </a:r>
            <a:r>
              <a:rPr lang="en-US" dirty="0" smtClean="0"/>
              <a:t>artition Tolerance</a:t>
            </a:r>
            <a:endParaRPr lang="en-US" dirty="0"/>
          </a:p>
          <a:p>
            <a:endParaRPr lang="en-US" sz="1600" b="1" dirty="0" smtClean="0"/>
          </a:p>
          <a:p>
            <a:r>
              <a:rPr lang="en-US" b="1" dirty="0" smtClean="0"/>
              <a:t>S</a:t>
            </a:r>
            <a:r>
              <a:rPr lang="en-US" dirty="0" smtClean="0"/>
              <a:t>calability</a:t>
            </a:r>
          </a:p>
        </p:txBody>
      </p:sp>
      <p:pic>
        <p:nvPicPr>
          <p:cNvPr id="5" name="Picture 4" descr="alps-bw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380802"/>
            <a:ext cx="9144000" cy="20434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815304" y="5411400"/>
            <a:ext cx="6328696" cy="20190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003284" y="5411400"/>
            <a:ext cx="4140715" cy="20190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390172" y="5411400"/>
            <a:ext cx="1753827" cy="20190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5411400"/>
            <a:ext cx="9144000" cy="20190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/>
          <p:cNvSpPr/>
          <p:nvPr/>
        </p:nvSpPr>
        <p:spPr>
          <a:xfrm>
            <a:off x="4584184" y="1600200"/>
            <a:ext cx="838200" cy="2273300"/>
          </a:xfrm>
          <a:prstGeom prst="rightBrace">
            <a:avLst>
              <a:gd name="adj1" fmla="val 41650"/>
              <a:gd name="adj2" fmla="val 49371"/>
            </a:avLst>
          </a:prstGeom>
          <a:ln w="38100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727700" y="2387600"/>
            <a:ext cx="2679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“Always On”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914371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  <p:bldP spid="9" grpId="0" animBg="1"/>
      <p:bldP spid="10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Scalability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88606" y="1140639"/>
            <a:ext cx="83981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/>
              <a:t>Increase capacity and throughput in each datacenter</a:t>
            </a:r>
            <a:endParaRPr lang="en-US" sz="3000" dirty="0"/>
          </a:p>
        </p:txBody>
      </p:sp>
      <p:grpSp>
        <p:nvGrpSpPr>
          <p:cNvPr id="10" name="Group 9"/>
          <p:cNvGrpSpPr/>
          <p:nvPr/>
        </p:nvGrpSpPr>
        <p:grpSpPr>
          <a:xfrm>
            <a:off x="1024307" y="1845333"/>
            <a:ext cx="6857894" cy="4992150"/>
            <a:chOff x="651449" y="1394073"/>
            <a:chExt cx="6857894" cy="4992150"/>
          </a:xfrm>
        </p:grpSpPr>
        <p:grpSp>
          <p:nvGrpSpPr>
            <p:cNvPr id="7" name="Group 6"/>
            <p:cNvGrpSpPr/>
            <p:nvPr/>
          </p:nvGrpSpPr>
          <p:grpSpPr>
            <a:xfrm>
              <a:off x="651449" y="1394073"/>
              <a:ext cx="1914635" cy="4992150"/>
              <a:chOff x="274798" y="718538"/>
              <a:chExt cx="1914635" cy="4992150"/>
            </a:xfrm>
          </p:grpSpPr>
          <p:sp>
            <p:nvSpPr>
              <p:cNvPr id="68" name="Rectangle 67"/>
              <p:cNvSpPr/>
              <p:nvPr/>
            </p:nvSpPr>
            <p:spPr>
              <a:xfrm>
                <a:off x="274798" y="718538"/>
                <a:ext cx="1914635" cy="499215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636778" y="911957"/>
                <a:ext cx="1190674" cy="421705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r>
                  <a:rPr lang="en-US" dirty="0" smtClean="0"/>
                  <a:t>A-Z</a:t>
                </a:r>
                <a:endParaRPr lang="en-US" dirty="0"/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5594708" y="1394073"/>
              <a:ext cx="1914635" cy="4951116"/>
              <a:chOff x="274798" y="718538"/>
              <a:chExt cx="1914635" cy="4951116"/>
            </a:xfrm>
          </p:grpSpPr>
          <p:sp>
            <p:nvSpPr>
              <p:cNvPr id="74" name="Rectangle 73"/>
              <p:cNvSpPr/>
              <p:nvPr/>
            </p:nvSpPr>
            <p:spPr>
              <a:xfrm>
                <a:off x="274798" y="718538"/>
                <a:ext cx="1914635" cy="495111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636778" y="911957"/>
                <a:ext cx="1190674" cy="421705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r>
                  <a:rPr lang="en-US" dirty="0" smtClean="0"/>
                  <a:t>A-Z</a:t>
                </a:r>
                <a:endParaRPr lang="en-US" dirty="0"/>
              </a:p>
            </p:txBody>
          </p:sp>
        </p:grpSp>
        <p:cxnSp>
          <p:nvCxnSpPr>
            <p:cNvPr id="100" name="Straight Arrow Connector 99"/>
            <p:cNvCxnSpPr>
              <a:endCxn id="75" idx="2"/>
            </p:cNvCxnSpPr>
            <p:nvPr/>
          </p:nvCxnSpPr>
          <p:spPr>
            <a:xfrm>
              <a:off x="2204103" y="1798345"/>
              <a:ext cx="3752585" cy="0"/>
            </a:xfrm>
            <a:prstGeom prst="straightConnector1">
              <a:avLst/>
            </a:prstGeom>
            <a:ln w="38100" cmpd="sng"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1037845" y="1846208"/>
            <a:ext cx="6830818" cy="4990400"/>
            <a:chOff x="651449" y="4136776"/>
            <a:chExt cx="6830818" cy="4990400"/>
          </a:xfrm>
        </p:grpSpPr>
        <p:grpSp>
          <p:nvGrpSpPr>
            <p:cNvPr id="6" name="Group 5"/>
            <p:cNvGrpSpPr/>
            <p:nvPr/>
          </p:nvGrpSpPr>
          <p:grpSpPr>
            <a:xfrm>
              <a:off x="651449" y="4136776"/>
              <a:ext cx="1914635" cy="4990400"/>
              <a:chOff x="2538100" y="1959295"/>
              <a:chExt cx="1914635" cy="4990400"/>
            </a:xfrm>
          </p:grpSpPr>
          <p:sp>
            <p:nvSpPr>
              <p:cNvPr id="70" name="Rectangle 69"/>
              <p:cNvSpPr/>
              <p:nvPr/>
            </p:nvSpPr>
            <p:spPr>
              <a:xfrm>
                <a:off x="2538100" y="1959295"/>
                <a:ext cx="1914635" cy="49904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40" name="Group 39"/>
              <p:cNvGrpSpPr/>
              <p:nvPr/>
            </p:nvGrpSpPr>
            <p:grpSpPr>
              <a:xfrm>
                <a:off x="2900080" y="2179845"/>
                <a:ext cx="1190674" cy="1009803"/>
                <a:chOff x="4690531" y="3355617"/>
                <a:chExt cx="1625600" cy="1378665"/>
              </a:xfrm>
            </p:grpSpPr>
            <p:sp>
              <p:nvSpPr>
                <p:cNvPr id="60" name="Oval 59"/>
                <p:cNvSpPr/>
                <p:nvPr/>
              </p:nvSpPr>
              <p:spPr>
                <a:xfrm>
                  <a:off x="4690531" y="3355617"/>
                  <a:ext cx="1625600" cy="575746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n-US" dirty="0" smtClean="0"/>
                    <a:t>A-L</a:t>
                  </a:r>
                  <a:endParaRPr lang="en-US" dirty="0"/>
                </a:p>
              </p:txBody>
            </p:sp>
            <p:sp>
              <p:nvSpPr>
                <p:cNvPr id="61" name="Oval 60"/>
                <p:cNvSpPr/>
                <p:nvPr/>
              </p:nvSpPr>
              <p:spPr>
                <a:xfrm>
                  <a:off x="4690531" y="4158536"/>
                  <a:ext cx="1625600" cy="575746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n-US" dirty="0" smtClean="0"/>
                    <a:t>M-Z</a:t>
                  </a:r>
                  <a:endParaRPr lang="en-US" dirty="0"/>
                </a:p>
              </p:txBody>
            </p:sp>
          </p:grpSp>
        </p:grpSp>
        <p:grpSp>
          <p:nvGrpSpPr>
            <p:cNvPr id="76" name="Group 75"/>
            <p:cNvGrpSpPr/>
            <p:nvPr/>
          </p:nvGrpSpPr>
          <p:grpSpPr>
            <a:xfrm>
              <a:off x="5567632" y="4136776"/>
              <a:ext cx="1914635" cy="4990400"/>
              <a:chOff x="2538100" y="1959295"/>
              <a:chExt cx="1914635" cy="4990400"/>
            </a:xfrm>
          </p:grpSpPr>
          <p:sp>
            <p:nvSpPr>
              <p:cNvPr id="77" name="Rectangle 76"/>
              <p:cNvSpPr/>
              <p:nvPr/>
            </p:nvSpPr>
            <p:spPr>
              <a:xfrm>
                <a:off x="2538100" y="1959295"/>
                <a:ext cx="1914635" cy="49904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78" name="Group 77"/>
              <p:cNvGrpSpPr/>
              <p:nvPr/>
            </p:nvGrpSpPr>
            <p:grpSpPr>
              <a:xfrm>
                <a:off x="2900080" y="2179845"/>
                <a:ext cx="1190674" cy="1009803"/>
                <a:chOff x="4690531" y="3355617"/>
                <a:chExt cx="1625600" cy="1378665"/>
              </a:xfrm>
            </p:grpSpPr>
            <p:sp>
              <p:nvSpPr>
                <p:cNvPr id="79" name="Oval 78"/>
                <p:cNvSpPr/>
                <p:nvPr/>
              </p:nvSpPr>
              <p:spPr>
                <a:xfrm>
                  <a:off x="4690531" y="3355617"/>
                  <a:ext cx="1625600" cy="575746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n-US" dirty="0" smtClean="0"/>
                    <a:t>A-L</a:t>
                  </a:r>
                  <a:endParaRPr lang="en-US" dirty="0"/>
                </a:p>
              </p:txBody>
            </p:sp>
            <p:sp>
              <p:nvSpPr>
                <p:cNvPr id="80" name="Oval 79"/>
                <p:cNvSpPr/>
                <p:nvPr/>
              </p:nvSpPr>
              <p:spPr>
                <a:xfrm>
                  <a:off x="4690531" y="4158536"/>
                  <a:ext cx="1625600" cy="575746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n-US" dirty="0" smtClean="0"/>
                    <a:t>M-Z</a:t>
                  </a:r>
                  <a:endParaRPr lang="en-US" dirty="0"/>
                </a:p>
              </p:txBody>
            </p:sp>
          </p:grpSp>
        </p:grpSp>
        <p:cxnSp>
          <p:nvCxnSpPr>
            <p:cNvPr id="81" name="Straight Arrow Connector 80"/>
            <p:cNvCxnSpPr>
              <a:stCxn id="60" idx="6"/>
              <a:endCxn id="79" idx="2"/>
            </p:cNvCxnSpPr>
            <p:nvPr/>
          </p:nvCxnSpPr>
          <p:spPr>
            <a:xfrm>
              <a:off x="2204103" y="4568179"/>
              <a:ext cx="3725509" cy="0"/>
            </a:xfrm>
            <a:prstGeom prst="straightConnector1">
              <a:avLst/>
            </a:prstGeom>
            <a:ln w="38100" cmpd="sng"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endCxn id="80" idx="2"/>
            </p:cNvCxnSpPr>
            <p:nvPr/>
          </p:nvCxnSpPr>
          <p:spPr>
            <a:xfrm>
              <a:off x="2204103" y="5156277"/>
              <a:ext cx="3725509" cy="0"/>
            </a:xfrm>
            <a:prstGeom prst="straightConnector1">
              <a:avLst/>
            </a:prstGeom>
            <a:ln w="38100" cmpd="sng"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1033669" y="1846208"/>
            <a:ext cx="6839171" cy="4990400"/>
            <a:chOff x="670172" y="104143"/>
            <a:chExt cx="6839171" cy="4990400"/>
          </a:xfrm>
        </p:grpSpPr>
        <p:grpSp>
          <p:nvGrpSpPr>
            <p:cNvPr id="5" name="Group 4"/>
            <p:cNvGrpSpPr/>
            <p:nvPr/>
          </p:nvGrpSpPr>
          <p:grpSpPr>
            <a:xfrm>
              <a:off x="670172" y="104143"/>
              <a:ext cx="1914635" cy="4990400"/>
              <a:chOff x="4826185" y="1379867"/>
              <a:chExt cx="1914635" cy="4990400"/>
            </a:xfrm>
          </p:grpSpPr>
          <p:sp>
            <p:nvSpPr>
              <p:cNvPr id="71" name="Rectangle 70"/>
              <p:cNvSpPr/>
              <p:nvPr/>
            </p:nvSpPr>
            <p:spPr>
              <a:xfrm>
                <a:off x="4826185" y="1379867"/>
                <a:ext cx="1914635" cy="49904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39" name="Group 38"/>
              <p:cNvGrpSpPr/>
              <p:nvPr/>
            </p:nvGrpSpPr>
            <p:grpSpPr>
              <a:xfrm>
                <a:off x="5212458" y="1591746"/>
                <a:ext cx="1190674" cy="2186003"/>
                <a:chOff x="4690531" y="2552698"/>
                <a:chExt cx="1625600" cy="2984502"/>
              </a:xfrm>
            </p:grpSpPr>
            <p:sp>
              <p:nvSpPr>
                <p:cNvPr id="62" name="Oval 61"/>
                <p:cNvSpPr/>
                <p:nvPr/>
              </p:nvSpPr>
              <p:spPr>
                <a:xfrm>
                  <a:off x="4690531" y="2552698"/>
                  <a:ext cx="1625600" cy="575746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n-US" dirty="0" smtClean="0"/>
                    <a:t>A-F</a:t>
                  </a:r>
                  <a:endParaRPr lang="en-US" dirty="0"/>
                </a:p>
              </p:txBody>
            </p:sp>
            <p:sp>
              <p:nvSpPr>
                <p:cNvPr id="63" name="Oval 62"/>
                <p:cNvSpPr/>
                <p:nvPr/>
              </p:nvSpPr>
              <p:spPr>
                <a:xfrm>
                  <a:off x="4690531" y="3355617"/>
                  <a:ext cx="1625600" cy="575746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n-US" dirty="0" smtClean="0"/>
                    <a:t>G-L</a:t>
                  </a:r>
                  <a:endParaRPr lang="en-US" dirty="0"/>
                </a:p>
              </p:txBody>
            </p:sp>
            <p:sp>
              <p:nvSpPr>
                <p:cNvPr id="64" name="Oval 63"/>
                <p:cNvSpPr/>
                <p:nvPr/>
              </p:nvSpPr>
              <p:spPr>
                <a:xfrm>
                  <a:off x="4690531" y="4158536"/>
                  <a:ext cx="1625600" cy="575746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n-US" dirty="0" smtClean="0"/>
                    <a:t>M-R</a:t>
                  </a:r>
                  <a:endParaRPr lang="en-US" dirty="0"/>
                </a:p>
              </p:txBody>
            </p:sp>
            <p:sp>
              <p:nvSpPr>
                <p:cNvPr id="65" name="Oval 64"/>
                <p:cNvSpPr/>
                <p:nvPr/>
              </p:nvSpPr>
              <p:spPr>
                <a:xfrm>
                  <a:off x="4690531" y="4961454"/>
                  <a:ext cx="1625600" cy="575746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n-US" dirty="0" smtClean="0"/>
                    <a:t>S-Z</a:t>
                  </a:r>
                  <a:endParaRPr lang="en-US" dirty="0"/>
                </a:p>
              </p:txBody>
            </p:sp>
          </p:grpSp>
        </p:grpSp>
        <p:grpSp>
          <p:nvGrpSpPr>
            <p:cNvPr id="87" name="Group 86"/>
            <p:cNvGrpSpPr/>
            <p:nvPr/>
          </p:nvGrpSpPr>
          <p:grpSpPr>
            <a:xfrm>
              <a:off x="5594708" y="104143"/>
              <a:ext cx="1914635" cy="4990400"/>
              <a:chOff x="4826185" y="1379867"/>
              <a:chExt cx="1914635" cy="4990400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4826185" y="1379867"/>
                <a:ext cx="1914635" cy="49904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89" name="Group 88"/>
              <p:cNvGrpSpPr/>
              <p:nvPr/>
            </p:nvGrpSpPr>
            <p:grpSpPr>
              <a:xfrm>
                <a:off x="5212458" y="1591746"/>
                <a:ext cx="1190674" cy="2186003"/>
                <a:chOff x="4690531" y="2552698"/>
                <a:chExt cx="1625600" cy="2984502"/>
              </a:xfrm>
            </p:grpSpPr>
            <p:sp>
              <p:nvSpPr>
                <p:cNvPr id="90" name="Oval 89"/>
                <p:cNvSpPr/>
                <p:nvPr/>
              </p:nvSpPr>
              <p:spPr>
                <a:xfrm>
                  <a:off x="4690531" y="2552698"/>
                  <a:ext cx="1625600" cy="575746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n-US" dirty="0" smtClean="0"/>
                    <a:t>A-F</a:t>
                  </a:r>
                  <a:endParaRPr lang="en-US" dirty="0"/>
                </a:p>
              </p:txBody>
            </p:sp>
            <p:sp>
              <p:nvSpPr>
                <p:cNvPr id="91" name="Oval 90"/>
                <p:cNvSpPr/>
                <p:nvPr/>
              </p:nvSpPr>
              <p:spPr>
                <a:xfrm>
                  <a:off x="4690531" y="3355617"/>
                  <a:ext cx="1625600" cy="575746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n-US" dirty="0" smtClean="0"/>
                    <a:t>G-L</a:t>
                  </a:r>
                  <a:endParaRPr lang="en-US" dirty="0"/>
                </a:p>
              </p:txBody>
            </p:sp>
            <p:sp>
              <p:nvSpPr>
                <p:cNvPr id="92" name="Oval 91"/>
                <p:cNvSpPr/>
                <p:nvPr/>
              </p:nvSpPr>
              <p:spPr>
                <a:xfrm>
                  <a:off x="4690531" y="4158536"/>
                  <a:ext cx="1625600" cy="575746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n-US" dirty="0" smtClean="0"/>
                    <a:t>M-R</a:t>
                  </a:r>
                  <a:endParaRPr lang="en-US" dirty="0"/>
                </a:p>
              </p:txBody>
            </p:sp>
            <p:sp>
              <p:nvSpPr>
                <p:cNvPr id="93" name="Oval 92"/>
                <p:cNvSpPr/>
                <p:nvPr/>
              </p:nvSpPr>
              <p:spPr>
                <a:xfrm>
                  <a:off x="4690531" y="4961454"/>
                  <a:ext cx="1625600" cy="575746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n-US" dirty="0" smtClean="0"/>
                    <a:t>S-Z</a:t>
                  </a:r>
                  <a:endParaRPr lang="en-US" dirty="0"/>
                </a:p>
              </p:txBody>
            </p:sp>
          </p:grpSp>
        </p:grpSp>
        <p:cxnSp>
          <p:nvCxnSpPr>
            <p:cNvPr id="94" name="Straight Arrow Connector 93"/>
            <p:cNvCxnSpPr>
              <a:stCxn id="62" idx="6"/>
              <a:endCxn id="90" idx="2"/>
            </p:cNvCxnSpPr>
            <p:nvPr/>
          </p:nvCxnSpPr>
          <p:spPr>
            <a:xfrm>
              <a:off x="2247119" y="526875"/>
              <a:ext cx="3733862" cy="0"/>
            </a:xfrm>
            <a:prstGeom prst="straightConnector1">
              <a:avLst/>
            </a:prstGeom>
            <a:ln w="38100" cmpd="sng"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>
              <a:stCxn id="63" idx="6"/>
              <a:endCxn id="91" idx="2"/>
            </p:cNvCxnSpPr>
            <p:nvPr/>
          </p:nvCxnSpPr>
          <p:spPr>
            <a:xfrm>
              <a:off x="2247119" y="1114974"/>
              <a:ext cx="3733862" cy="0"/>
            </a:xfrm>
            <a:prstGeom prst="straightConnector1">
              <a:avLst/>
            </a:prstGeom>
            <a:ln w="38100" cmpd="sng"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stCxn id="64" idx="6"/>
              <a:endCxn id="92" idx="2"/>
            </p:cNvCxnSpPr>
            <p:nvPr/>
          </p:nvCxnSpPr>
          <p:spPr>
            <a:xfrm>
              <a:off x="2247119" y="1703073"/>
              <a:ext cx="3733862" cy="0"/>
            </a:xfrm>
            <a:prstGeom prst="straightConnector1">
              <a:avLst/>
            </a:prstGeom>
            <a:ln w="38100" cmpd="sng"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stCxn id="65" idx="6"/>
              <a:endCxn id="93" idx="2"/>
            </p:cNvCxnSpPr>
            <p:nvPr/>
          </p:nvCxnSpPr>
          <p:spPr>
            <a:xfrm>
              <a:off x="2247119" y="2291172"/>
              <a:ext cx="3733862" cy="0"/>
            </a:xfrm>
            <a:prstGeom prst="straightConnector1">
              <a:avLst/>
            </a:prstGeom>
            <a:ln w="38100" cmpd="sng"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Group 143"/>
          <p:cNvGrpSpPr/>
          <p:nvPr/>
        </p:nvGrpSpPr>
        <p:grpSpPr>
          <a:xfrm>
            <a:off x="1033669" y="1824816"/>
            <a:ext cx="6839171" cy="5033184"/>
            <a:chOff x="1040505" y="1168959"/>
            <a:chExt cx="6839171" cy="5033184"/>
          </a:xfrm>
        </p:grpSpPr>
        <p:grpSp>
          <p:nvGrpSpPr>
            <p:cNvPr id="3" name="Group 2"/>
            <p:cNvGrpSpPr/>
            <p:nvPr/>
          </p:nvGrpSpPr>
          <p:grpSpPr>
            <a:xfrm>
              <a:off x="1040505" y="1168959"/>
              <a:ext cx="1914635" cy="4992150"/>
              <a:chOff x="7037308" y="203669"/>
              <a:chExt cx="1914635" cy="4992150"/>
            </a:xfrm>
          </p:grpSpPr>
          <p:sp>
            <p:nvSpPr>
              <p:cNvPr id="72" name="Rectangle 71"/>
              <p:cNvSpPr/>
              <p:nvPr/>
            </p:nvSpPr>
            <p:spPr>
              <a:xfrm>
                <a:off x="7037308" y="203669"/>
                <a:ext cx="1914635" cy="499215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42" name="Group 41"/>
              <p:cNvGrpSpPr/>
              <p:nvPr/>
            </p:nvGrpSpPr>
            <p:grpSpPr>
              <a:xfrm>
                <a:off x="7399288" y="401334"/>
                <a:ext cx="1190674" cy="4566825"/>
                <a:chOff x="10464800" y="-250686"/>
                <a:chExt cx="1625600" cy="6234990"/>
              </a:xfrm>
            </p:grpSpPr>
            <p:grpSp>
              <p:nvGrpSpPr>
                <p:cNvPr id="46" name="Group 45"/>
                <p:cNvGrpSpPr/>
                <p:nvPr/>
              </p:nvGrpSpPr>
              <p:grpSpPr>
                <a:xfrm>
                  <a:off x="10464800" y="-250686"/>
                  <a:ext cx="1625600" cy="2984502"/>
                  <a:chOff x="4690531" y="2552698"/>
                  <a:chExt cx="1625600" cy="2984502"/>
                </a:xfrm>
              </p:grpSpPr>
              <p:sp>
                <p:nvSpPr>
                  <p:cNvPr id="52" name="Oval 51"/>
                  <p:cNvSpPr/>
                  <p:nvPr/>
                </p:nvSpPr>
                <p:spPr>
                  <a:xfrm>
                    <a:off x="4690531" y="2552698"/>
                    <a:ext cx="1625600" cy="575746"/>
                  </a:xfrm>
                  <a:prstGeom prst="ellipse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r>
                      <a:rPr lang="en-US" dirty="0" smtClean="0"/>
                      <a:t>A-C</a:t>
                    </a:r>
                    <a:endParaRPr lang="en-US" dirty="0"/>
                  </a:p>
                </p:txBody>
              </p:sp>
              <p:sp>
                <p:nvSpPr>
                  <p:cNvPr id="53" name="Oval 52"/>
                  <p:cNvSpPr/>
                  <p:nvPr/>
                </p:nvSpPr>
                <p:spPr>
                  <a:xfrm>
                    <a:off x="4690531" y="3355617"/>
                    <a:ext cx="1625600" cy="575746"/>
                  </a:xfrm>
                  <a:prstGeom prst="ellipse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r>
                      <a:rPr lang="en-US" dirty="0"/>
                      <a:t>D</a:t>
                    </a:r>
                    <a:r>
                      <a:rPr lang="en-US" dirty="0" smtClean="0"/>
                      <a:t>-</a:t>
                    </a:r>
                    <a:r>
                      <a:rPr lang="en-US" dirty="0"/>
                      <a:t>F</a:t>
                    </a:r>
                  </a:p>
                </p:txBody>
              </p:sp>
              <p:sp>
                <p:nvSpPr>
                  <p:cNvPr id="55" name="Oval 54"/>
                  <p:cNvSpPr/>
                  <p:nvPr/>
                </p:nvSpPr>
                <p:spPr>
                  <a:xfrm>
                    <a:off x="4690531" y="4158536"/>
                    <a:ext cx="1625600" cy="575746"/>
                  </a:xfrm>
                  <a:prstGeom prst="ellipse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r>
                      <a:rPr lang="en-US" dirty="0"/>
                      <a:t>G</a:t>
                    </a:r>
                    <a:r>
                      <a:rPr lang="en-US" dirty="0" smtClean="0"/>
                      <a:t>-</a:t>
                    </a:r>
                    <a:r>
                      <a:rPr lang="en-US" dirty="0"/>
                      <a:t>J</a:t>
                    </a:r>
                  </a:p>
                </p:txBody>
              </p:sp>
              <p:sp>
                <p:nvSpPr>
                  <p:cNvPr id="59" name="Oval 58"/>
                  <p:cNvSpPr/>
                  <p:nvPr/>
                </p:nvSpPr>
                <p:spPr>
                  <a:xfrm>
                    <a:off x="4690531" y="4961454"/>
                    <a:ext cx="1625600" cy="575746"/>
                  </a:xfrm>
                  <a:prstGeom prst="ellipse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r>
                      <a:rPr lang="en-US" dirty="0"/>
                      <a:t>K</a:t>
                    </a:r>
                    <a:r>
                      <a:rPr lang="en-US" dirty="0" smtClean="0"/>
                      <a:t>-</a:t>
                    </a:r>
                    <a:r>
                      <a:rPr lang="en-US" dirty="0"/>
                      <a:t>L</a:t>
                    </a:r>
                  </a:p>
                </p:txBody>
              </p:sp>
            </p:grpSp>
            <p:grpSp>
              <p:nvGrpSpPr>
                <p:cNvPr id="47" name="Group 46"/>
                <p:cNvGrpSpPr/>
                <p:nvPr/>
              </p:nvGrpSpPr>
              <p:grpSpPr>
                <a:xfrm>
                  <a:off x="10464800" y="2999802"/>
                  <a:ext cx="1625600" cy="2984502"/>
                  <a:chOff x="4690531" y="2552698"/>
                  <a:chExt cx="1625600" cy="2984502"/>
                </a:xfrm>
              </p:grpSpPr>
              <p:sp>
                <p:nvSpPr>
                  <p:cNvPr id="48" name="Oval 47"/>
                  <p:cNvSpPr/>
                  <p:nvPr/>
                </p:nvSpPr>
                <p:spPr>
                  <a:xfrm>
                    <a:off x="4690531" y="2552698"/>
                    <a:ext cx="1625600" cy="575746"/>
                  </a:xfrm>
                  <a:prstGeom prst="ellipse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r>
                      <a:rPr lang="en-US" dirty="0" smtClean="0"/>
                      <a:t>M-</a:t>
                    </a:r>
                    <a:r>
                      <a:rPr lang="en-US" dirty="0"/>
                      <a:t>O</a:t>
                    </a:r>
                  </a:p>
                </p:txBody>
              </p:sp>
              <p:sp>
                <p:nvSpPr>
                  <p:cNvPr id="49" name="Oval 48"/>
                  <p:cNvSpPr/>
                  <p:nvPr/>
                </p:nvSpPr>
                <p:spPr>
                  <a:xfrm>
                    <a:off x="4690531" y="3355617"/>
                    <a:ext cx="1625600" cy="575746"/>
                  </a:xfrm>
                  <a:prstGeom prst="ellipse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r>
                      <a:rPr lang="en-US" dirty="0"/>
                      <a:t>P</a:t>
                    </a:r>
                    <a:r>
                      <a:rPr lang="en-US" dirty="0" smtClean="0"/>
                      <a:t>-</a:t>
                    </a:r>
                    <a:r>
                      <a:rPr lang="en-US" dirty="0"/>
                      <a:t>S</a:t>
                    </a:r>
                  </a:p>
                </p:txBody>
              </p:sp>
              <p:sp>
                <p:nvSpPr>
                  <p:cNvPr id="50" name="Oval 49"/>
                  <p:cNvSpPr/>
                  <p:nvPr/>
                </p:nvSpPr>
                <p:spPr>
                  <a:xfrm>
                    <a:off x="4690531" y="4158536"/>
                    <a:ext cx="1625600" cy="575746"/>
                  </a:xfrm>
                  <a:prstGeom prst="ellipse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r>
                      <a:rPr lang="en-US" dirty="0"/>
                      <a:t>T</a:t>
                    </a:r>
                    <a:r>
                      <a:rPr lang="en-US" dirty="0" smtClean="0"/>
                      <a:t>-</a:t>
                    </a:r>
                    <a:r>
                      <a:rPr lang="en-US" dirty="0"/>
                      <a:t>V</a:t>
                    </a:r>
                  </a:p>
                </p:txBody>
              </p:sp>
              <p:sp>
                <p:nvSpPr>
                  <p:cNvPr id="51" name="Oval 50"/>
                  <p:cNvSpPr/>
                  <p:nvPr/>
                </p:nvSpPr>
                <p:spPr>
                  <a:xfrm>
                    <a:off x="4690531" y="4961454"/>
                    <a:ext cx="1625600" cy="575746"/>
                  </a:xfrm>
                  <a:prstGeom prst="ellipse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r>
                      <a:rPr lang="en-US" dirty="0"/>
                      <a:t>W</a:t>
                    </a:r>
                    <a:r>
                      <a:rPr lang="en-US" dirty="0" smtClean="0"/>
                      <a:t>-Z</a:t>
                    </a:r>
                    <a:endParaRPr lang="en-US" dirty="0"/>
                  </a:p>
                </p:txBody>
              </p:sp>
            </p:grpSp>
          </p:grpSp>
        </p:grpSp>
        <p:grpSp>
          <p:nvGrpSpPr>
            <p:cNvPr id="108" name="Group 107"/>
            <p:cNvGrpSpPr/>
            <p:nvPr/>
          </p:nvGrpSpPr>
          <p:grpSpPr>
            <a:xfrm>
              <a:off x="5965041" y="1209993"/>
              <a:ext cx="1914635" cy="4992150"/>
              <a:chOff x="7037308" y="203669"/>
              <a:chExt cx="1914635" cy="4992150"/>
            </a:xfrm>
          </p:grpSpPr>
          <p:sp>
            <p:nvSpPr>
              <p:cNvPr id="109" name="Rectangle 108"/>
              <p:cNvSpPr/>
              <p:nvPr/>
            </p:nvSpPr>
            <p:spPr>
              <a:xfrm>
                <a:off x="7037308" y="203669"/>
                <a:ext cx="1914635" cy="499215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110" name="Group 109"/>
              <p:cNvGrpSpPr/>
              <p:nvPr/>
            </p:nvGrpSpPr>
            <p:grpSpPr>
              <a:xfrm>
                <a:off x="7399288" y="401334"/>
                <a:ext cx="1190674" cy="4566825"/>
                <a:chOff x="10464800" y="-250686"/>
                <a:chExt cx="1625600" cy="6234990"/>
              </a:xfrm>
            </p:grpSpPr>
            <p:grpSp>
              <p:nvGrpSpPr>
                <p:cNvPr id="111" name="Group 110"/>
                <p:cNvGrpSpPr/>
                <p:nvPr/>
              </p:nvGrpSpPr>
              <p:grpSpPr>
                <a:xfrm>
                  <a:off x="10464800" y="-250686"/>
                  <a:ext cx="1625600" cy="2984502"/>
                  <a:chOff x="4690531" y="2552698"/>
                  <a:chExt cx="1625600" cy="2984502"/>
                </a:xfrm>
              </p:grpSpPr>
              <p:sp>
                <p:nvSpPr>
                  <p:cNvPr id="122" name="Oval 121"/>
                  <p:cNvSpPr/>
                  <p:nvPr/>
                </p:nvSpPr>
                <p:spPr>
                  <a:xfrm>
                    <a:off x="4690531" y="2552698"/>
                    <a:ext cx="1625600" cy="575746"/>
                  </a:xfrm>
                  <a:prstGeom prst="ellipse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r>
                      <a:rPr lang="en-US" dirty="0" smtClean="0"/>
                      <a:t>A-C</a:t>
                    </a:r>
                    <a:endParaRPr lang="en-US" dirty="0"/>
                  </a:p>
                </p:txBody>
              </p:sp>
              <p:sp>
                <p:nvSpPr>
                  <p:cNvPr id="124" name="Oval 123"/>
                  <p:cNvSpPr/>
                  <p:nvPr/>
                </p:nvSpPr>
                <p:spPr>
                  <a:xfrm>
                    <a:off x="4690531" y="3355617"/>
                    <a:ext cx="1625600" cy="575746"/>
                  </a:xfrm>
                  <a:prstGeom prst="ellipse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r>
                      <a:rPr lang="en-US" dirty="0"/>
                      <a:t>D</a:t>
                    </a:r>
                    <a:r>
                      <a:rPr lang="en-US" dirty="0" smtClean="0"/>
                      <a:t>-</a:t>
                    </a:r>
                    <a:r>
                      <a:rPr lang="en-US" dirty="0"/>
                      <a:t>F</a:t>
                    </a:r>
                  </a:p>
                </p:txBody>
              </p:sp>
              <p:sp>
                <p:nvSpPr>
                  <p:cNvPr id="130" name="Oval 129"/>
                  <p:cNvSpPr/>
                  <p:nvPr/>
                </p:nvSpPr>
                <p:spPr>
                  <a:xfrm>
                    <a:off x="4690531" y="4158536"/>
                    <a:ext cx="1625600" cy="575746"/>
                  </a:xfrm>
                  <a:prstGeom prst="ellipse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r>
                      <a:rPr lang="en-US" dirty="0"/>
                      <a:t>G</a:t>
                    </a:r>
                    <a:r>
                      <a:rPr lang="en-US" dirty="0" smtClean="0"/>
                      <a:t>-</a:t>
                    </a:r>
                    <a:r>
                      <a:rPr lang="en-US" dirty="0"/>
                      <a:t>J</a:t>
                    </a:r>
                  </a:p>
                </p:txBody>
              </p:sp>
              <p:sp>
                <p:nvSpPr>
                  <p:cNvPr id="133" name="Oval 132"/>
                  <p:cNvSpPr/>
                  <p:nvPr/>
                </p:nvSpPr>
                <p:spPr>
                  <a:xfrm>
                    <a:off x="4690531" y="4961454"/>
                    <a:ext cx="1625600" cy="575746"/>
                  </a:xfrm>
                  <a:prstGeom prst="ellipse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r>
                      <a:rPr lang="en-US" dirty="0"/>
                      <a:t>K</a:t>
                    </a:r>
                    <a:r>
                      <a:rPr lang="en-US" dirty="0" smtClean="0"/>
                      <a:t>-</a:t>
                    </a:r>
                    <a:r>
                      <a:rPr lang="en-US" dirty="0"/>
                      <a:t>L</a:t>
                    </a:r>
                  </a:p>
                </p:txBody>
              </p:sp>
            </p:grpSp>
            <p:grpSp>
              <p:nvGrpSpPr>
                <p:cNvPr id="112" name="Group 111"/>
                <p:cNvGrpSpPr/>
                <p:nvPr/>
              </p:nvGrpSpPr>
              <p:grpSpPr>
                <a:xfrm>
                  <a:off x="10464800" y="2999802"/>
                  <a:ext cx="1625600" cy="2984502"/>
                  <a:chOff x="4690531" y="2552698"/>
                  <a:chExt cx="1625600" cy="2984502"/>
                </a:xfrm>
              </p:grpSpPr>
              <p:sp>
                <p:nvSpPr>
                  <p:cNvPr id="113" name="Oval 112"/>
                  <p:cNvSpPr/>
                  <p:nvPr/>
                </p:nvSpPr>
                <p:spPr>
                  <a:xfrm>
                    <a:off x="4690531" y="2552698"/>
                    <a:ext cx="1625600" cy="575746"/>
                  </a:xfrm>
                  <a:prstGeom prst="ellipse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r>
                      <a:rPr lang="en-US" dirty="0" smtClean="0"/>
                      <a:t>M-</a:t>
                    </a:r>
                    <a:r>
                      <a:rPr lang="en-US" dirty="0"/>
                      <a:t>O</a:t>
                    </a:r>
                  </a:p>
                </p:txBody>
              </p:sp>
              <p:sp>
                <p:nvSpPr>
                  <p:cNvPr id="114" name="Oval 113"/>
                  <p:cNvSpPr/>
                  <p:nvPr/>
                </p:nvSpPr>
                <p:spPr>
                  <a:xfrm>
                    <a:off x="4690531" y="3355617"/>
                    <a:ext cx="1625600" cy="575746"/>
                  </a:xfrm>
                  <a:prstGeom prst="ellipse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r>
                      <a:rPr lang="en-US" dirty="0"/>
                      <a:t>P</a:t>
                    </a:r>
                    <a:r>
                      <a:rPr lang="en-US" dirty="0" smtClean="0"/>
                      <a:t>-</a:t>
                    </a:r>
                    <a:r>
                      <a:rPr lang="en-US" dirty="0"/>
                      <a:t>S</a:t>
                    </a:r>
                  </a:p>
                </p:txBody>
              </p:sp>
              <p:sp>
                <p:nvSpPr>
                  <p:cNvPr id="115" name="Oval 114"/>
                  <p:cNvSpPr/>
                  <p:nvPr/>
                </p:nvSpPr>
                <p:spPr>
                  <a:xfrm>
                    <a:off x="4690531" y="4158536"/>
                    <a:ext cx="1625600" cy="575746"/>
                  </a:xfrm>
                  <a:prstGeom prst="ellipse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r>
                      <a:rPr lang="en-US" dirty="0"/>
                      <a:t>T</a:t>
                    </a:r>
                    <a:r>
                      <a:rPr lang="en-US" dirty="0" smtClean="0"/>
                      <a:t>-</a:t>
                    </a:r>
                    <a:r>
                      <a:rPr lang="en-US" dirty="0"/>
                      <a:t>V</a:t>
                    </a:r>
                  </a:p>
                </p:txBody>
              </p:sp>
              <p:sp>
                <p:nvSpPr>
                  <p:cNvPr id="116" name="Oval 115"/>
                  <p:cNvSpPr/>
                  <p:nvPr/>
                </p:nvSpPr>
                <p:spPr>
                  <a:xfrm>
                    <a:off x="4690531" y="4961454"/>
                    <a:ext cx="1625600" cy="575746"/>
                  </a:xfrm>
                  <a:prstGeom prst="ellipse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r>
                      <a:rPr lang="en-US" dirty="0"/>
                      <a:t>W</a:t>
                    </a:r>
                    <a:r>
                      <a:rPr lang="en-US" dirty="0" smtClean="0"/>
                      <a:t>-Z</a:t>
                    </a:r>
                    <a:endParaRPr lang="en-US" dirty="0"/>
                  </a:p>
                </p:txBody>
              </p:sp>
            </p:grpSp>
          </p:grpSp>
        </p:grpSp>
        <p:cxnSp>
          <p:nvCxnSpPr>
            <p:cNvPr id="134" name="Straight Arrow Connector 133"/>
            <p:cNvCxnSpPr>
              <a:stCxn id="52" idx="6"/>
            </p:cNvCxnSpPr>
            <p:nvPr/>
          </p:nvCxnSpPr>
          <p:spPr>
            <a:xfrm>
              <a:off x="2593159" y="1577477"/>
              <a:ext cx="3717156" cy="0"/>
            </a:xfrm>
            <a:prstGeom prst="straightConnector1">
              <a:avLst/>
            </a:prstGeom>
            <a:ln w="38100" cmpd="sng"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stCxn id="53" idx="6"/>
              <a:endCxn id="124" idx="2"/>
            </p:cNvCxnSpPr>
            <p:nvPr/>
          </p:nvCxnSpPr>
          <p:spPr>
            <a:xfrm>
              <a:off x="2593159" y="2165576"/>
              <a:ext cx="3733862" cy="41034"/>
            </a:xfrm>
            <a:prstGeom prst="straightConnector1">
              <a:avLst/>
            </a:prstGeom>
            <a:ln w="38100" cmpd="sng"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55" idx="6"/>
              <a:endCxn id="130" idx="2"/>
            </p:cNvCxnSpPr>
            <p:nvPr/>
          </p:nvCxnSpPr>
          <p:spPr>
            <a:xfrm>
              <a:off x="2593159" y="2753675"/>
              <a:ext cx="3733862" cy="41034"/>
            </a:xfrm>
            <a:prstGeom prst="straightConnector1">
              <a:avLst/>
            </a:prstGeom>
            <a:ln w="38100" cmpd="sng"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>
              <a:stCxn id="59" idx="6"/>
              <a:endCxn id="133" idx="2"/>
            </p:cNvCxnSpPr>
            <p:nvPr/>
          </p:nvCxnSpPr>
          <p:spPr>
            <a:xfrm>
              <a:off x="2593159" y="3341773"/>
              <a:ext cx="3733862" cy="41034"/>
            </a:xfrm>
            <a:prstGeom prst="straightConnector1">
              <a:avLst/>
            </a:prstGeom>
            <a:ln w="38100" cmpd="sng"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/>
            <p:cNvCxnSpPr>
              <a:stCxn id="48" idx="6"/>
              <a:endCxn id="113" idx="2"/>
            </p:cNvCxnSpPr>
            <p:nvPr/>
          </p:nvCxnSpPr>
          <p:spPr>
            <a:xfrm>
              <a:off x="2593159" y="3958300"/>
              <a:ext cx="3733862" cy="41034"/>
            </a:xfrm>
            <a:prstGeom prst="straightConnector1">
              <a:avLst/>
            </a:prstGeom>
            <a:ln w="38100" cmpd="sng"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49" idx="6"/>
              <a:endCxn id="114" idx="2"/>
            </p:cNvCxnSpPr>
            <p:nvPr/>
          </p:nvCxnSpPr>
          <p:spPr>
            <a:xfrm>
              <a:off x="2593159" y="4546399"/>
              <a:ext cx="3733862" cy="41034"/>
            </a:xfrm>
            <a:prstGeom prst="straightConnector1">
              <a:avLst/>
            </a:prstGeom>
            <a:ln w="38100" cmpd="sng"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/>
            <p:cNvCxnSpPr>
              <a:stCxn id="50" idx="6"/>
              <a:endCxn id="115" idx="2"/>
            </p:cNvCxnSpPr>
            <p:nvPr/>
          </p:nvCxnSpPr>
          <p:spPr>
            <a:xfrm>
              <a:off x="2593159" y="5134498"/>
              <a:ext cx="3733862" cy="41034"/>
            </a:xfrm>
            <a:prstGeom prst="straightConnector1">
              <a:avLst/>
            </a:prstGeom>
            <a:ln w="38100" cmpd="sng"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/>
            <p:cNvCxnSpPr>
              <a:stCxn id="51" idx="6"/>
              <a:endCxn id="116" idx="2"/>
            </p:cNvCxnSpPr>
            <p:nvPr/>
          </p:nvCxnSpPr>
          <p:spPr>
            <a:xfrm>
              <a:off x="2593159" y="5722596"/>
              <a:ext cx="3733862" cy="41034"/>
            </a:xfrm>
            <a:prstGeom prst="straightConnector1">
              <a:avLst/>
            </a:prstGeom>
            <a:ln w="38100" cmpd="sng"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85109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Desired Property: Consistency</a:t>
            </a:r>
            <a:endParaRPr lang="en-US" dirty="0"/>
          </a:p>
        </p:txBody>
      </p:sp>
      <p:pic>
        <p:nvPicPr>
          <p:cNvPr id="5" name="Picture 4" descr="alps-bw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380802"/>
            <a:ext cx="9144000" cy="2043404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365499"/>
          </a:xfrm>
        </p:spPr>
        <p:txBody>
          <a:bodyPr>
            <a:normAutofit/>
          </a:bodyPr>
          <a:lstStyle/>
          <a:p>
            <a:r>
              <a:rPr lang="en-US" dirty="0" smtClean="0"/>
              <a:t>Restricts order/timing of operations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Stronger consistency:</a:t>
            </a:r>
          </a:p>
          <a:p>
            <a:pPr lvl="1"/>
            <a:r>
              <a:rPr lang="en-US" dirty="0" smtClean="0"/>
              <a:t>Makes </a:t>
            </a:r>
            <a:r>
              <a:rPr lang="en-US" dirty="0"/>
              <a:t>programming </a:t>
            </a:r>
            <a:r>
              <a:rPr lang="en-US" dirty="0" smtClean="0"/>
              <a:t>easier</a:t>
            </a:r>
          </a:p>
          <a:p>
            <a:pPr lvl="1"/>
            <a:r>
              <a:rPr lang="en-US" dirty="0" smtClean="0"/>
              <a:t>Makes </a:t>
            </a:r>
            <a:r>
              <a:rPr lang="en-US" dirty="0"/>
              <a:t>user experience better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934957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Consistency with ALPS</a:t>
            </a:r>
            <a:endParaRPr lang="en-US" dirty="0"/>
          </a:p>
        </p:txBody>
      </p:sp>
      <p:pic>
        <p:nvPicPr>
          <p:cNvPr id="5" name="Picture 4" descr="alps-bw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379625"/>
            <a:ext cx="9144000" cy="2043404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07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/>
              <a:t>Strong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3600" dirty="0" smtClean="0"/>
              <a:t>Sequential </a:t>
            </a:r>
            <a:r>
              <a:rPr lang="en-US" sz="2400" dirty="0" smtClean="0"/>
              <a:t> 	</a:t>
            </a: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3600" b="1" dirty="0" smtClean="0"/>
              <a:t>Causal</a:t>
            </a:r>
            <a:r>
              <a:rPr lang="en-US" sz="3600" dirty="0" smtClean="0"/>
              <a:t> </a:t>
            </a:r>
            <a:r>
              <a:rPr lang="en-US" sz="2400" dirty="0" smtClean="0"/>
              <a:t> 				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3600" dirty="0" smtClean="0"/>
              <a:t>Eventual 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717800" y="1739900"/>
            <a:ext cx="9169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 smtClean="0"/>
              <a:t>Impossible [Brewer00, GilbertLynch02]</a:t>
            </a:r>
          </a:p>
          <a:p>
            <a:pPr marL="0" indent="0">
              <a:buFont typeface="Arial"/>
              <a:buNone/>
            </a:pPr>
            <a:endParaRPr lang="en-US" sz="2400" dirty="0" smtClean="0"/>
          </a:p>
          <a:p>
            <a:pPr marL="0" indent="0">
              <a:buFont typeface="Arial"/>
              <a:buNone/>
            </a:pPr>
            <a:r>
              <a:rPr lang="en-US" sz="2400" dirty="0" smtClean="0"/>
              <a:t>Impossible [LiptonSandberg88, AttiyaWelch94]</a:t>
            </a:r>
          </a:p>
          <a:p>
            <a:pPr marL="0" indent="0">
              <a:buFont typeface="Arial"/>
              <a:buNone/>
            </a:pPr>
            <a:endParaRPr lang="en-US" sz="3600" dirty="0"/>
          </a:p>
          <a:p>
            <a:pPr marL="0" indent="0">
              <a:buFont typeface="Arial"/>
              <a:buNone/>
            </a:pPr>
            <a:r>
              <a:rPr lang="en-US" sz="2400" dirty="0" smtClean="0"/>
              <a:t>		  COPS</a:t>
            </a:r>
          </a:p>
          <a:p>
            <a:pPr marL="0" indent="0">
              <a:buFont typeface="Arial"/>
              <a:buNone/>
            </a:pPr>
            <a:endParaRPr lang="en-US" sz="3600" dirty="0" smtClean="0"/>
          </a:p>
          <a:p>
            <a:pPr marL="0" indent="0">
              <a:buFont typeface="Arial"/>
              <a:buNone/>
            </a:pPr>
            <a:r>
              <a:rPr lang="en-US" sz="2400" dirty="0" smtClean="0"/>
              <a:t>Amazon	   LinkedIn  	Facebook/Apache</a:t>
            </a:r>
          </a:p>
          <a:p>
            <a:pPr marL="0" indent="0">
              <a:lnSpc>
                <a:spcPct val="50000"/>
              </a:lnSpc>
              <a:buFont typeface="Arial"/>
              <a:buNone/>
            </a:pPr>
            <a:r>
              <a:rPr lang="en-US" sz="2400" dirty="0" smtClean="0"/>
              <a:t>Dynamo 	 </a:t>
            </a:r>
            <a:r>
              <a:rPr lang="en-US" sz="2400" dirty="0" err="1" smtClean="0"/>
              <a:t>Voldemort</a:t>
            </a:r>
            <a:r>
              <a:rPr lang="en-US" sz="2400" dirty="0"/>
              <a:t>	</a:t>
            </a:r>
            <a:r>
              <a:rPr lang="en-US" sz="2400" dirty="0" smtClean="0"/>
              <a:t>       Cassandra</a:t>
            </a:r>
          </a:p>
          <a:p>
            <a:pPr marL="0" indent="0">
              <a:buFont typeface="Arial"/>
              <a:buNone/>
            </a:pPr>
            <a:endParaRPr lang="en-US" sz="2400" dirty="0" smtClean="0"/>
          </a:p>
          <a:p>
            <a:pPr marL="0" indent="0">
              <a:buFont typeface="Arial"/>
              <a:buNone/>
            </a:pPr>
            <a:endParaRPr lang="en-US" sz="2400" dirty="0" smtClean="0"/>
          </a:p>
        </p:txBody>
      </p:sp>
      <p:pic>
        <p:nvPicPr>
          <p:cNvPr id="8" name="Picture 7" descr="hotfuzzwhitecrop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8900" y="3232148"/>
            <a:ext cx="1136265" cy="143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4206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468729"/>
              </p:ext>
            </p:extLst>
          </p:nvPr>
        </p:nvGraphicFramePr>
        <p:xfrm>
          <a:off x="601134" y="750888"/>
          <a:ext cx="7941733" cy="5356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67"/>
                <a:gridCol w="745067"/>
                <a:gridCol w="728133"/>
                <a:gridCol w="728133"/>
                <a:gridCol w="795867"/>
                <a:gridCol w="3081866"/>
              </a:tblGrid>
              <a:tr h="765175">
                <a:tc>
                  <a:txBody>
                    <a:bodyPr/>
                    <a:lstStyle/>
                    <a:p>
                      <a:pPr algn="l"/>
                      <a:r>
                        <a:rPr lang="en-US" sz="3200" dirty="0" smtClean="0"/>
                        <a:t>System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A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L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P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S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 smtClean="0"/>
                        <a:t>Consistency</a:t>
                      </a:r>
                      <a:endParaRPr lang="en-US" sz="3200" dirty="0"/>
                    </a:p>
                  </a:txBody>
                  <a:tcPr/>
                </a:tc>
              </a:tr>
              <a:tr h="765175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MDCC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FF00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✖</a:t>
                      </a:r>
                      <a:endParaRPr lang="en-US" sz="440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FF00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✖</a:t>
                      </a:r>
                      <a:endParaRPr lang="en-US" sz="440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FF00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✖</a:t>
                      </a:r>
                      <a:endParaRPr lang="en-US" sz="440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00FF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sz="4400" dirty="0" smtClean="0">
                        <a:solidFill>
                          <a:srgbClr val="00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00FF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  </a:t>
                      </a:r>
                      <a:r>
                        <a:rPr lang="en-US" sz="3200" dirty="0" smtClean="0"/>
                        <a:t>Strong</a:t>
                      </a:r>
                      <a:endParaRPr lang="en-US" sz="3200" dirty="0"/>
                    </a:p>
                  </a:txBody>
                  <a:tcPr/>
                </a:tc>
              </a:tr>
              <a:tr h="765175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Walter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FF00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✖</a:t>
                      </a:r>
                      <a:endParaRPr lang="en-US" sz="440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FF00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✖</a:t>
                      </a:r>
                      <a:endParaRPr lang="en-US" sz="440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FF00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✖</a:t>
                      </a:r>
                      <a:endParaRPr lang="en-US" sz="440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 smtClean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4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        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3200" dirty="0" smtClean="0"/>
                        <a:t>PSI + </a:t>
                      </a:r>
                      <a:r>
                        <a:rPr lang="en-US" sz="3200" dirty="0" err="1" smtClean="0"/>
                        <a:t>Txn</a:t>
                      </a:r>
                      <a:endParaRPr lang="en-US" sz="3200" dirty="0"/>
                    </a:p>
                  </a:txBody>
                  <a:tcPr/>
                </a:tc>
              </a:tr>
              <a:tr h="765175">
                <a:tc>
                  <a:txBody>
                    <a:bodyPr/>
                    <a:lstStyle/>
                    <a:p>
                      <a:r>
                        <a:rPr lang="en-US" sz="3600" b="1" dirty="0" smtClean="0"/>
                        <a:t>COPS</a:t>
                      </a:r>
                      <a:endParaRPr lang="en-US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smtClean="0">
                          <a:solidFill>
                            <a:srgbClr val="00FF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sz="4400" dirty="0">
                        <a:solidFill>
                          <a:srgbClr val="00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smtClean="0">
                          <a:solidFill>
                            <a:srgbClr val="00FF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sz="4400" dirty="0">
                        <a:solidFill>
                          <a:srgbClr val="00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00FF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sz="4400" dirty="0" smtClean="0">
                        <a:solidFill>
                          <a:srgbClr val="00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00FF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sz="4400" dirty="0" smtClean="0">
                        <a:solidFill>
                          <a:srgbClr val="00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aseline="0" dirty="0" smtClean="0"/>
                        <a:t>        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3200" dirty="0" smtClean="0"/>
                        <a:t>Causal+</a:t>
                      </a:r>
                      <a:endParaRPr lang="en-US" sz="3200" dirty="0"/>
                    </a:p>
                  </a:txBody>
                  <a:tcPr/>
                </a:tc>
              </a:tr>
              <a:tr h="765175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Bayou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00FF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sz="4400" dirty="0" smtClean="0">
                        <a:solidFill>
                          <a:srgbClr val="00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00FF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sz="4400" dirty="0" smtClean="0">
                        <a:solidFill>
                          <a:srgbClr val="00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00FF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sz="4400" dirty="0" smtClean="0">
                        <a:solidFill>
                          <a:srgbClr val="00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FF00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✖</a:t>
                      </a:r>
                      <a:endParaRPr lang="en-US" sz="440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        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3200" dirty="0" smtClean="0"/>
                        <a:t>Causal+</a:t>
                      </a:r>
                      <a:endParaRPr lang="en-US" sz="3200" dirty="0"/>
                    </a:p>
                  </a:txBody>
                  <a:tcPr/>
                </a:tc>
              </a:tr>
              <a:tr h="765175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PNUTS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00FF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sz="4400" dirty="0" smtClean="0">
                        <a:solidFill>
                          <a:srgbClr val="00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00FF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sz="4400" dirty="0" smtClean="0">
                        <a:solidFill>
                          <a:srgbClr val="00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00FF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sz="4400" dirty="0" smtClean="0">
                        <a:solidFill>
                          <a:srgbClr val="00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        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3200" dirty="0" smtClean="0"/>
                        <a:t>Per-Key Seq.</a:t>
                      </a:r>
                      <a:endParaRPr lang="en-US" sz="3200" dirty="0"/>
                    </a:p>
                  </a:txBody>
                  <a:tcPr/>
                </a:tc>
              </a:tr>
              <a:tr h="765175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Dynamo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00FF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sz="4400" dirty="0" smtClean="0">
                        <a:solidFill>
                          <a:srgbClr val="00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00FF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sz="4400" dirty="0" smtClean="0">
                        <a:solidFill>
                          <a:srgbClr val="00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00FF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sz="4400" dirty="0" smtClean="0">
                        <a:solidFill>
                          <a:srgbClr val="00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00FF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sz="4400" dirty="0" smtClean="0">
                        <a:solidFill>
                          <a:srgbClr val="00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 smtClean="0">
                          <a:solidFill>
                            <a:srgbClr val="FF00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✖</a:t>
                      </a:r>
                      <a:r>
                        <a:rPr lang="en-US" sz="3200" dirty="0" smtClean="0"/>
                        <a:t>   </a:t>
                      </a:r>
                      <a:r>
                        <a:rPr lang="en-US" sz="1600" dirty="0" smtClean="0"/>
                        <a:t>  </a:t>
                      </a:r>
                      <a:r>
                        <a:rPr lang="en-US" sz="3200" dirty="0" smtClean="0"/>
                        <a:t>Eventual</a:t>
                      </a:r>
                      <a:endParaRPr 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01134" y="3081867"/>
            <a:ext cx="7941733" cy="694266"/>
          </a:xfrm>
          <a:prstGeom prst="rect">
            <a:avLst/>
          </a:prstGeom>
          <a:noFill/>
          <a:ln w="28575" cmpd="sng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5740400" y="2269067"/>
            <a:ext cx="0" cy="3048000"/>
          </a:xfrm>
          <a:prstGeom prst="straightConnector1">
            <a:avLst/>
          </a:prstGeom>
          <a:ln w="76200" cmpd="sng">
            <a:gradFill flip="none"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5400000" scaled="0"/>
              <a:tileRect/>
            </a:gra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2866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Causality By Example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12900"/>
            <a:ext cx="4178299" cy="4525963"/>
          </a:xfrm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	Remove boss from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 friends group</a:t>
            </a:r>
          </a:p>
          <a:p>
            <a:pPr marL="0" indent="0"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800" dirty="0" smtClean="0"/>
              <a:t>	Post to friends:</a:t>
            </a:r>
          </a:p>
          <a:p>
            <a:pPr marL="0" indent="0">
              <a:buNone/>
            </a:pPr>
            <a:r>
              <a:rPr lang="en-US" sz="2800" dirty="0"/>
              <a:t>	 </a:t>
            </a:r>
            <a:r>
              <a:rPr lang="en-US" sz="2800" dirty="0" smtClean="0"/>
              <a:t>“Time for a new job!”</a:t>
            </a: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	Friend reads post</a:t>
            </a:r>
            <a:endParaRPr lang="en-US" sz="2800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283200" y="4025934"/>
            <a:ext cx="1631353" cy="89746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5140408" y="2608896"/>
            <a:ext cx="3092" cy="77278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5295900" y="4025934"/>
            <a:ext cx="1618653" cy="89746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5140408" y="2618114"/>
            <a:ext cx="0" cy="76356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158949" y="1269727"/>
            <a:ext cx="3365106" cy="219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800" u="sng" dirty="0" smtClean="0"/>
              <a:t>Causality (       )</a:t>
            </a:r>
          </a:p>
          <a:p>
            <a:pPr>
              <a:lnSpc>
                <a:spcPct val="130000"/>
              </a:lnSpc>
            </a:pPr>
            <a:r>
              <a:rPr lang="en-US" sz="2600" dirty="0" smtClean="0">
                <a:solidFill>
                  <a:srgbClr val="FF0000"/>
                </a:solidFill>
              </a:rPr>
              <a:t>Thread-of-Execution</a:t>
            </a:r>
          </a:p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FF0000"/>
                </a:solidFill>
              </a:rPr>
              <a:t>G</a:t>
            </a:r>
            <a:r>
              <a:rPr lang="en-US" sz="2600" dirty="0" smtClean="0">
                <a:solidFill>
                  <a:srgbClr val="FF0000"/>
                </a:solidFill>
              </a:rPr>
              <a:t>ets-From</a:t>
            </a:r>
          </a:p>
          <a:p>
            <a:pPr>
              <a:lnSpc>
                <a:spcPct val="130000"/>
              </a:lnSpc>
            </a:pPr>
            <a:r>
              <a:rPr lang="en-US" sz="2600" dirty="0" smtClean="0">
                <a:solidFill>
                  <a:srgbClr val="FF0000"/>
                </a:solidFill>
              </a:rPr>
              <a:t>Transitivity</a:t>
            </a:r>
            <a:endParaRPr lang="en-US" sz="2600" dirty="0">
              <a:solidFill>
                <a:srgbClr val="FF0000"/>
              </a:solidFill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7760131" y="1682481"/>
            <a:ext cx="56146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4" name="Group 33"/>
          <p:cNvGrpSpPr/>
          <p:nvPr/>
        </p:nvGrpSpPr>
        <p:grpSpPr>
          <a:xfrm>
            <a:off x="6906879" y="4998451"/>
            <a:ext cx="625354" cy="109239"/>
            <a:chOff x="7865514" y="1161082"/>
            <a:chExt cx="625354" cy="109239"/>
          </a:xfrm>
        </p:grpSpPr>
        <p:grpSp>
          <p:nvGrpSpPr>
            <p:cNvPr id="35" name="Group 34"/>
            <p:cNvGrpSpPr/>
            <p:nvPr/>
          </p:nvGrpSpPr>
          <p:grpSpPr>
            <a:xfrm>
              <a:off x="7865514" y="1161082"/>
              <a:ext cx="217624" cy="109239"/>
              <a:chOff x="7865513" y="1187946"/>
              <a:chExt cx="821287" cy="412254"/>
            </a:xfrm>
          </p:grpSpPr>
          <p:sp>
            <p:nvSpPr>
              <p:cNvPr id="49" name="Oval 48"/>
              <p:cNvSpPr/>
              <p:nvPr/>
            </p:nvSpPr>
            <p:spPr>
              <a:xfrm>
                <a:off x="7865513" y="1187946"/>
                <a:ext cx="821287" cy="41225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8058877" y="1187946"/>
                <a:ext cx="436973" cy="41225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8181772" y="1297185"/>
                <a:ext cx="201168" cy="201168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8273244" y="1161082"/>
              <a:ext cx="217624" cy="109239"/>
              <a:chOff x="7865513" y="1187946"/>
              <a:chExt cx="821287" cy="412254"/>
            </a:xfrm>
          </p:grpSpPr>
          <p:sp>
            <p:nvSpPr>
              <p:cNvPr id="46" name="Oval 45"/>
              <p:cNvSpPr/>
              <p:nvPr/>
            </p:nvSpPr>
            <p:spPr>
              <a:xfrm>
                <a:off x="7865513" y="1187946"/>
                <a:ext cx="821287" cy="41225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8058877" y="1187946"/>
                <a:ext cx="436973" cy="41225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8181772" y="1297185"/>
                <a:ext cx="201168" cy="201168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33" name="Picture 32" descr="wlloyd_photo.jp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649"/>
          <a:stretch/>
        </p:blipFill>
        <p:spPr>
          <a:xfrm>
            <a:off x="186267" y="1684868"/>
            <a:ext cx="797053" cy="953177"/>
          </a:xfrm>
          <a:prstGeom prst="rect">
            <a:avLst/>
          </a:prstGeom>
        </p:spPr>
      </p:pic>
      <p:pic>
        <p:nvPicPr>
          <p:cNvPr id="36" name="Picture 35" descr="wlloyd_photo.jp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649"/>
          <a:stretch/>
        </p:blipFill>
        <p:spPr>
          <a:xfrm>
            <a:off x="207444" y="3170016"/>
            <a:ext cx="775875" cy="927851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4351602" y="3462635"/>
            <a:ext cx="1523999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New Job!</a:t>
            </a:r>
            <a:endParaRPr lang="en-US" sz="2400" dirty="0"/>
          </a:p>
        </p:txBody>
      </p:sp>
      <p:grpSp>
        <p:nvGrpSpPr>
          <p:cNvPr id="43" name="Group 42"/>
          <p:cNvGrpSpPr/>
          <p:nvPr/>
        </p:nvGrpSpPr>
        <p:grpSpPr>
          <a:xfrm>
            <a:off x="4464969" y="1731688"/>
            <a:ext cx="1297264" cy="1077901"/>
            <a:chOff x="4244742" y="1789420"/>
            <a:chExt cx="1297264" cy="1077901"/>
          </a:xfrm>
        </p:grpSpPr>
        <p:sp>
          <p:nvSpPr>
            <p:cNvPr id="44" name="Rectangle 43"/>
            <p:cNvSpPr/>
            <p:nvPr/>
          </p:nvSpPr>
          <p:spPr>
            <a:xfrm>
              <a:off x="4244742" y="1789420"/>
              <a:ext cx="1297264" cy="1077901"/>
            </a:xfrm>
            <a:prstGeom prst="rect">
              <a:avLst/>
            </a:prstGeom>
            <a:solidFill>
              <a:srgbClr val="6F4A26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2900" u="sng" dirty="0" smtClean="0"/>
                <a:t>Friends</a:t>
              </a:r>
            </a:p>
            <a:p>
              <a:pPr algn="ctr"/>
              <a:r>
                <a:rPr lang="en-US" sz="2900" dirty="0" smtClean="0"/>
                <a:t>Boss</a:t>
              </a:r>
              <a:endParaRPr lang="en-US" sz="2900" dirty="0">
                <a:solidFill>
                  <a:schemeClr val="bg1"/>
                </a:solidFill>
                <a:latin typeface="Calibri (Body)"/>
                <a:cs typeface="Calibri (Body)"/>
              </a:endParaRPr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4381501" y="2404698"/>
              <a:ext cx="1025051" cy="251816"/>
              <a:chOff x="4381501" y="2385454"/>
              <a:chExt cx="1025051" cy="251816"/>
            </a:xfrm>
          </p:grpSpPr>
          <p:cxnSp>
            <p:nvCxnSpPr>
              <p:cNvPr id="53" name="Straight Connector 52"/>
              <p:cNvCxnSpPr/>
              <p:nvPr/>
            </p:nvCxnSpPr>
            <p:spPr>
              <a:xfrm flipV="1">
                <a:off x="4381501" y="2385454"/>
                <a:ext cx="1025051" cy="251816"/>
              </a:xfrm>
              <a:prstGeom prst="line">
                <a:avLst/>
              </a:prstGeom>
              <a:ln w="38100" cmpd="sng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4381501" y="2385454"/>
                <a:ext cx="1025051" cy="251816"/>
              </a:xfrm>
              <a:prstGeom prst="line">
                <a:avLst/>
              </a:prstGeom>
              <a:ln w="38100" cmpd="sng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Group 23"/>
          <p:cNvGrpSpPr/>
          <p:nvPr/>
        </p:nvGrpSpPr>
        <p:grpSpPr>
          <a:xfrm>
            <a:off x="5295900" y="2618114"/>
            <a:ext cx="1758353" cy="2163297"/>
            <a:chOff x="6004007" y="3031379"/>
            <a:chExt cx="1758353" cy="2163297"/>
          </a:xfrm>
        </p:grpSpPr>
        <p:cxnSp>
          <p:nvCxnSpPr>
            <p:cNvPr id="25" name="Straight Arrow Connector 24"/>
            <p:cNvCxnSpPr/>
            <p:nvPr/>
          </p:nvCxnSpPr>
          <p:spPr>
            <a:xfrm>
              <a:off x="6004007" y="4221245"/>
              <a:ext cx="1758353" cy="973431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6016707" y="3031379"/>
              <a:ext cx="0" cy="1191886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445" y="4621309"/>
            <a:ext cx="754284" cy="75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6333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Causality Is Useful</a:t>
            </a:r>
            <a:endParaRPr lang="en-US" dirty="0"/>
          </a:p>
        </p:txBody>
      </p:sp>
      <p:sp>
        <p:nvSpPr>
          <p:cNvPr id="35" name="Content Placeholder 2"/>
          <p:cNvSpPr txBox="1">
            <a:spLocks/>
          </p:cNvSpPr>
          <p:nvPr/>
        </p:nvSpPr>
        <p:spPr>
          <a:xfrm>
            <a:off x="5188911" y="1608138"/>
            <a:ext cx="2728575" cy="5276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2800" dirty="0" smtClean="0"/>
              <a:t>For Programmers:</a:t>
            </a:r>
            <a:endParaRPr lang="en-US" sz="2800" dirty="0"/>
          </a:p>
        </p:txBody>
      </p:sp>
      <p:sp>
        <p:nvSpPr>
          <p:cNvPr id="36" name="Content Placeholder 2"/>
          <p:cNvSpPr txBox="1">
            <a:spLocks/>
          </p:cNvSpPr>
          <p:nvPr/>
        </p:nvSpPr>
        <p:spPr>
          <a:xfrm>
            <a:off x="1340811" y="1608138"/>
            <a:ext cx="2728575" cy="5276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2800" dirty="0" smtClean="0"/>
              <a:t>For Users:</a:t>
            </a:r>
            <a:endParaRPr lang="en-US" sz="2800" dirty="0"/>
          </a:p>
        </p:txBody>
      </p:sp>
      <p:sp>
        <p:nvSpPr>
          <p:cNvPr id="37" name="Content Placeholder 2"/>
          <p:cNvSpPr txBox="1">
            <a:spLocks/>
          </p:cNvSpPr>
          <p:nvPr/>
        </p:nvSpPr>
        <p:spPr>
          <a:xfrm>
            <a:off x="6959778" y="2435390"/>
            <a:ext cx="1979275" cy="434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2800" dirty="0" smtClean="0"/>
              <a:t>Photo Upload</a:t>
            </a:r>
            <a:endParaRPr lang="en-US" sz="2800" dirty="0"/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6896278" y="3899566"/>
            <a:ext cx="1979275" cy="434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2800" dirty="0" smtClean="0"/>
              <a:t>Add to album</a:t>
            </a:r>
            <a:endParaRPr lang="en-US" sz="2800" dirty="0"/>
          </a:p>
        </p:txBody>
      </p:sp>
      <p:sp>
        <p:nvSpPr>
          <p:cNvPr id="39" name="Content Placeholder 2"/>
          <p:cNvSpPr txBox="1">
            <a:spLocks/>
          </p:cNvSpPr>
          <p:nvPr/>
        </p:nvSpPr>
        <p:spPr>
          <a:xfrm>
            <a:off x="1083733" y="5047075"/>
            <a:ext cx="3200400" cy="515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2400" dirty="0" smtClean="0"/>
              <a:t>Employment Integrity</a:t>
            </a:r>
            <a:endParaRPr lang="en-US" sz="2400" dirty="0"/>
          </a:p>
        </p:txBody>
      </p:sp>
      <p:sp>
        <p:nvSpPr>
          <p:cNvPr id="40" name="Content Placeholder 2"/>
          <p:cNvSpPr txBox="1">
            <a:spLocks/>
          </p:cNvSpPr>
          <p:nvPr/>
        </p:nvSpPr>
        <p:spPr>
          <a:xfrm>
            <a:off x="5030628" y="5047075"/>
            <a:ext cx="3045144" cy="563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2400" dirty="0" smtClean="0"/>
              <a:t>Referential Integrity</a:t>
            </a:r>
            <a:endParaRPr lang="en-US" sz="2400" dirty="0"/>
          </a:p>
        </p:txBody>
      </p:sp>
      <p:grpSp>
        <p:nvGrpSpPr>
          <p:cNvPr id="31" name="Group 30"/>
          <p:cNvGrpSpPr/>
          <p:nvPr/>
        </p:nvGrpSpPr>
        <p:grpSpPr>
          <a:xfrm>
            <a:off x="5863986" y="2331031"/>
            <a:ext cx="1182730" cy="2301785"/>
            <a:chOff x="5863986" y="2331031"/>
            <a:chExt cx="1182730" cy="2301785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6553200" y="3183094"/>
              <a:ext cx="0" cy="578004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5" name="Picture 4" descr="key_west_little.jp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59683" y="2331031"/>
              <a:ext cx="987033" cy="740275"/>
            </a:xfrm>
            <a:prstGeom prst="rect">
              <a:avLst/>
            </a:prstGeom>
          </p:spPr>
        </p:pic>
        <p:grpSp>
          <p:nvGrpSpPr>
            <p:cNvPr id="21" name="Group 20"/>
            <p:cNvGrpSpPr/>
            <p:nvPr/>
          </p:nvGrpSpPr>
          <p:grpSpPr>
            <a:xfrm>
              <a:off x="5863986" y="3903936"/>
              <a:ext cx="1106561" cy="728880"/>
              <a:chOff x="8875553" y="2870043"/>
              <a:chExt cx="3034254" cy="1998632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9427796" y="2870043"/>
                <a:ext cx="2482011" cy="19986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5" name="Picture 24" descr="key_west_little.jpg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875553" y="3950884"/>
                <a:ext cx="987033" cy="740275"/>
              </a:xfrm>
              <a:prstGeom prst="rect">
                <a:avLst/>
              </a:prstGeom>
            </p:spPr>
          </p:pic>
          <p:pic>
            <p:nvPicPr>
              <p:cNvPr id="13" name="Picture 12" descr="kw2.jpg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732059" y="3007471"/>
                <a:ext cx="968888" cy="726666"/>
              </a:xfrm>
              <a:prstGeom prst="rect">
                <a:avLst/>
              </a:prstGeom>
            </p:spPr>
          </p:pic>
          <p:pic>
            <p:nvPicPr>
              <p:cNvPr id="14" name="Picture 13" descr="kw3.jpg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597298" y="3007471"/>
                <a:ext cx="968888" cy="726666"/>
              </a:xfrm>
              <a:prstGeom prst="rect">
                <a:avLst/>
              </a:prstGeom>
            </p:spPr>
          </p:pic>
          <p:pic>
            <p:nvPicPr>
              <p:cNvPr id="15" name="Picture 14" descr="kw4.jpg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732059" y="3964493"/>
                <a:ext cx="968888" cy="726666"/>
              </a:xfrm>
              <a:prstGeom prst="rect">
                <a:avLst/>
              </a:prstGeom>
            </p:spPr>
          </p:pic>
          <p:sp>
            <p:nvSpPr>
              <p:cNvPr id="20" name="Right Arrow 19"/>
              <p:cNvSpPr/>
              <p:nvPr/>
            </p:nvSpPr>
            <p:spPr>
              <a:xfrm>
                <a:off x="9869825" y="3987331"/>
                <a:ext cx="311007" cy="747248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6" name="Group 45"/>
          <p:cNvGrpSpPr/>
          <p:nvPr/>
        </p:nvGrpSpPr>
        <p:grpSpPr>
          <a:xfrm>
            <a:off x="1943100" y="2289303"/>
            <a:ext cx="1523999" cy="2213055"/>
            <a:chOff x="1943100" y="2289303"/>
            <a:chExt cx="1523999" cy="2213055"/>
          </a:xfrm>
        </p:grpSpPr>
        <p:grpSp>
          <p:nvGrpSpPr>
            <p:cNvPr id="3" name="Group 2"/>
            <p:cNvGrpSpPr/>
            <p:nvPr/>
          </p:nvGrpSpPr>
          <p:grpSpPr>
            <a:xfrm>
              <a:off x="1943100" y="3579342"/>
              <a:ext cx="1523999" cy="923016"/>
              <a:chOff x="1257301" y="3342648"/>
              <a:chExt cx="1523999" cy="923016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1257301" y="3803999"/>
                <a:ext cx="1523999" cy="46166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smtClean="0"/>
                  <a:t>New Job!</a:t>
                </a:r>
                <a:endParaRPr lang="en-US" sz="2400" dirty="0"/>
              </a:p>
            </p:txBody>
          </p:sp>
          <p:cxnSp>
            <p:nvCxnSpPr>
              <p:cNvPr id="27" name="Straight Arrow Connector 26"/>
              <p:cNvCxnSpPr/>
              <p:nvPr/>
            </p:nvCxnSpPr>
            <p:spPr>
              <a:xfrm>
                <a:off x="2016208" y="3342648"/>
                <a:ext cx="3092" cy="38515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/>
            <p:cNvGrpSpPr/>
            <p:nvPr/>
          </p:nvGrpSpPr>
          <p:grpSpPr>
            <a:xfrm>
              <a:off x="2056467" y="2289303"/>
              <a:ext cx="1297264" cy="1077901"/>
              <a:chOff x="4244742" y="1789420"/>
              <a:chExt cx="1297264" cy="1077901"/>
            </a:xfrm>
          </p:grpSpPr>
          <p:sp>
            <p:nvSpPr>
              <p:cNvPr id="42" name="Rectangle 41"/>
              <p:cNvSpPr/>
              <p:nvPr/>
            </p:nvSpPr>
            <p:spPr>
              <a:xfrm>
                <a:off x="4244742" y="1789420"/>
                <a:ext cx="1297264" cy="1077901"/>
              </a:xfrm>
              <a:prstGeom prst="rect">
                <a:avLst/>
              </a:prstGeom>
              <a:solidFill>
                <a:srgbClr val="6F4A26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sz="2900" u="sng" dirty="0" smtClean="0"/>
                  <a:t>Friends</a:t>
                </a:r>
              </a:p>
              <a:p>
                <a:pPr algn="ctr"/>
                <a:r>
                  <a:rPr lang="en-US" sz="2900" dirty="0" smtClean="0"/>
                  <a:t>Boss</a:t>
                </a:r>
                <a:endParaRPr lang="en-US" sz="2900" dirty="0">
                  <a:solidFill>
                    <a:schemeClr val="bg1"/>
                  </a:solidFill>
                  <a:latin typeface="Calibri (Body)"/>
                  <a:cs typeface="Calibri (Body)"/>
                </a:endParaRPr>
              </a:p>
            </p:txBody>
          </p:sp>
          <p:grpSp>
            <p:nvGrpSpPr>
              <p:cNvPr id="43" name="Group 42"/>
              <p:cNvGrpSpPr/>
              <p:nvPr/>
            </p:nvGrpSpPr>
            <p:grpSpPr>
              <a:xfrm>
                <a:off x="4381501" y="2404698"/>
                <a:ext cx="1025051" cy="251816"/>
                <a:chOff x="4381501" y="2385454"/>
                <a:chExt cx="1025051" cy="251816"/>
              </a:xfrm>
            </p:grpSpPr>
            <p:cxnSp>
              <p:nvCxnSpPr>
                <p:cNvPr id="44" name="Straight Connector 43"/>
                <p:cNvCxnSpPr/>
                <p:nvPr/>
              </p:nvCxnSpPr>
              <p:spPr>
                <a:xfrm flipV="1">
                  <a:off x="4381501" y="2385454"/>
                  <a:ext cx="1025051" cy="251816"/>
                </a:xfrm>
                <a:prstGeom prst="line">
                  <a:avLst/>
                </a:prstGeom>
                <a:ln w="38100" cmpd="sng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>
                  <a:off x="4381501" y="2385454"/>
                  <a:ext cx="1025051" cy="251816"/>
                </a:xfrm>
                <a:prstGeom prst="line">
                  <a:avLst/>
                </a:prstGeom>
                <a:ln w="38100" cmpd="sng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7524627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72390" y="1495402"/>
            <a:ext cx="8563770" cy="5203454"/>
            <a:chOff x="-27246" y="1375468"/>
            <a:chExt cx="9171246" cy="5572564"/>
          </a:xfrm>
        </p:grpSpPr>
        <p:pic>
          <p:nvPicPr>
            <p:cNvPr id="86" name="Picture 18" descr="BlankMap-USA-states.PNG"/>
            <p:cNvPicPr>
              <a:picLocks noChangeAspect="1"/>
            </p:cNvPicPr>
            <p:nvPr/>
          </p:nvPicPr>
          <p:blipFill>
            <a:blip r:embed="rId3" cstate="print">
              <a:alphaModFix/>
            </a:blip>
            <a:srcRect/>
            <a:stretch>
              <a:fillRect/>
            </a:stretch>
          </p:blipFill>
          <p:spPr bwMode="auto">
            <a:xfrm>
              <a:off x="-27246" y="1375468"/>
              <a:ext cx="9171246" cy="5572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87" name="Group 86"/>
            <p:cNvGrpSpPr/>
            <p:nvPr/>
          </p:nvGrpSpPr>
          <p:grpSpPr>
            <a:xfrm>
              <a:off x="50850" y="2715769"/>
              <a:ext cx="8785261" cy="3516437"/>
              <a:chOff x="50850" y="2715769"/>
              <a:chExt cx="8785261" cy="3516437"/>
            </a:xfrm>
          </p:grpSpPr>
          <p:pic>
            <p:nvPicPr>
              <p:cNvPr id="92" name="Picture 9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961" b="89990" l="10000" r="94434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0850" y="2715769"/>
                <a:ext cx="1501301" cy="995037"/>
              </a:xfrm>
              <a:prstGeom prst="rect">
                <a:avLst/>
              </a:prstGeom>
            </p:spPr>
          </p:pic>
          <p:pic>
            <p:nvPicPr>
              <p:cNvPr id="93" name="Picture 92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9961" b="89990" l="10000" r="94434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40100" y="5237169"/>
                <a:ext cx="1501301" cy="995037"/>
              </a:xfrm>
              <a:prstGeom prst="rect">
                <a:avLst/>
              </a:prstGeom>
            </p:spPr>
          </p:pic>
          <p:pic>
            <p:nvPicPr>
              <p:cNvPr id="94" name="Picture 93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9961" b="89990" l="10000" r="94434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334810" y="3066566"/>
                <a:ext cx="1501301" cy="995037"/>
              </a:xfrm>
              <a:prstGeom prst="rect">
                <a:avLst/>
              </a:prstGeom>
            </p:spPr>
          </p:pic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Conflicts in Causal</a:t>
            </a:r>
            <a:endParaRPr lang="en-US" dirty="0"/>
          </a:p>
        </p:txBody>
      </p:sp>
      <p:sp>
        <p:nvSpPr>
          <p:cNvPr id="91" name="Rectangle 90"/>
          <p:cNvSpPr/>
          <p:nvPr/>
        </p:nvSpPr>
        <p:spPr>
          <a:xfrm>
            <a:off x="6740914" y="3262406"/>
            <a:ext cx="811782" cy="4634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K=2</a:t>
            </a:r>
            <a:endParaRPr lang="en-US" sz="2400" dirty="0"/>
          </a:p>
        </p:txBody>
      </p:sp>
      <p:sp>
        <p:nvSpPr>
          <p:cNvPr id="90" name="Rectangle 89"/>
          <p:cNvSpPr/>
          <p:nvPr/>
        </p:nvSpPr>
        <p:spPr>
          <a:xfrm>
            <a:off x="1341281" y="3074486"/>
            <a:ext cx="811782" cy="4634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K=1</a:t>
            </a:r>
            <a:endParaRPr lang="en-US" sz="2400" dirty="0"/>
          </a:p>
        </p:txBody>
      </p:sp>
      <p:sp>
        <p:nvSpPr>
          <p:cNvPr id="84" name="Rectangle 83"/>
          <p:cNvSpPr/>
          <p:nvPr/>
        </p:nvSpPr>
        <p:spPr>
          <a:xfrm>
            <a:off x="1341281" y="3074486"/>
            <a:ext cx="811782" cy="4634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K=1</a:t>
            </a:r>
            <a:endParaRPr lang="en-US" sz="2400" dirty="0"/>
          </a:p>
        </p:txBody>
      </p:sp>
      <p:sp>
        <p:nvSpPr>
          <p:cNvPr id="85" name="Rectangle 84"/>
          <p:cNvSpPr/>
          <p:nvPr/>
        </p:nvSpPr>
        <p:spPr>
          <a:xfrm>
            <a:off x="6740914" y="3262406"/>
            <a:ext cx="811782" cy="4634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K=2</a:t>
            </a:r>
            <a:endParaRPr lang="en-US" sz="2400" dirty="0"/>
          </a:p>
        </p:txBody>
      </p:sp>
      <p:sp>
        <p:nvSpPr>
          <p:cNvPr id="88" name="Rectangle 87"/>
          <p:cNvSpPr/>
          <p:nvPr/>
        </p:nvSpPr>
        <p:spPr>
          <a:xfrm>
            <a:off x="1341281" y="3074486"/>
            <a:ext cx="811782" cy="4634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K=1</a:t>
            </a:r>
            <a:endParaRPr lang="en-US" sz="2400" dirty="0"/>
          </a:p>
        </p:txBody>
      </p:sp>
      <p:sp>
        <p:nvSpPr>
          <p:cNvPr id="89" name="Rectangle 88"/>
          <p:cNvSpPr/>
          <p:nvPr/>
        </p:nvSpPr>
        <p:spPr>
          <a:xfrm>
            <a:off x="6740914" y="3262406"/>
            <a:ext cx="811782" cy="4634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K=2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-1058222" y="138555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7294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6984E-6 2.12598E-6 L 0.2792 0.29087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51" y="1454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3287 0.24803 " pathEditMode="relative" ptsTypes="AA">
                                      <p:cBhvr>
                                        <p:cTn id="2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0.00116 L 0.59657 0.03914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776" y="189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8971E-6 1.11163E-6 L -0.59431 -0.03659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724" y="-18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0" grpId="0" animBg="1"/>
      <p:bldP spid="84" grpId="0" animBg="1"/>
      <p:bldP spid="84" grpId="1" animBg="1"/>
      <p:bldP spid="85" grpId="0" animBg="1"/>
      <p:bldP spid="85" grpId="1" animBg="1"/>
      <p:bldP spid="88" grpId="0" animBg="1"/>
      <p:bldP spid="88" grpId="1" animBg="1"/>
      <p:bldP spid="89" grpId="0" animBg="1"/>
      <p:bldP spid="8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272390" y="1495402"/>
            <a:ext cx="8563770" cy="5203454"/>
            <a:chOff x="-27246" y="1375468"/>
            <a:chExt cx="9171246" cy="5572564"/>
          </a:xfrm>
        </p:grpSpPr>
        <p:pic>
          <p:nvPicPr>
            <p:cNvPr id="86" name="Picture 18" descr="BlankMap-USA-states.PNG"/>
            <p:cNvPicPr>
              <a:picLocks noChangeAspect="1"/>
            </p:cNvPicPr>
            <p:nvPr/>
          </p:nvPicPr>
          <p:blipFill>
            <a:blip r:embed="rId3" cstate="print">
              <a:alphaModFix/>
            </a:blip>
            <a:srcRect/>
            <a:stretch>
              <a:fillRect/>
            </a:stretch>
          </p:blipFill>
          <p:spPr bwMode="auto">
            <a:xfrm>
              <a:off x="-27246" y="1375468"/>
              <a:ext cx="9171246" cy="5572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87" name="Group 86"/>
            <p:cNvGrpSpPr/>
            <p:nvPr/>
          </p:nvGrpSpPr>
          <p:grpSpPr>
            <a:xfrm>
              <a:off x="50850" y="2715769"/>
              <a:ext cx="8785261" cy="3516437"/>
              <a:chOff x="50850" y="2715769"/>
              <a:chExt cx="8785261" cy="3516437"/>
            </a:xfrm>
          </p:grpSpPr>
          <p:pic>
            <p:nvPicPr>
              <p:cNvPr id="88" name="Picture 8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961" b="89990" l="10000" r="94434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0850" y="2715769"/>
                <a:ext cx="1501301" cy="995037"/>
              </a:xfrm>
              <a:prstGeom prst="rect">
                <a:avLst/>
              </a:prstGeom>
            </p:spPr>
          </p:pic>
          <p:pic>
            <p:nvPicPr>
              <p:cNvPr id="89" name="Picture 88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961" b="89990" l="10000" r="94434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40100" y="5237169"/>
                <a:ext cx="1501301" cy="995037"/>
              </a:xfrm>
              <a:prstGeom prst="rect">
                <a:avLst/>
              </a:prstGeom>
            </p:spPr>
          </p:pic>
          <p:pic>
            <p:nvPicPr>
              <p:cNvPr id="90" name="Picture 89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961" b="89990" l="10000" r="94434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334810" y="3066566"/>
                <a:ext cx="1501301" cy="995037"/>
              </a:xfrm>
              <a:prstGeom prst="rect">
                <a:avLst/>
              </a:prstGeom>
            </p:spPr>
          </p:pic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Conflicts in Causal</a:t>
            </a:r>
            <a:endParaRPr lang="en-US" dirty="0"/>
          </a:p>
        </p:txBody>
      </p:sp>
      <p:sp>
        <p:nvSpPr>
          <p:cNvPr id="101" name="Rectangle 100"/>
          <p:cNvSpPr/>
          <p:nvPr/>
        </p:nvSpPr>
        <p:spPr>
          <a:xfrm>
            <a:off x="1170936" y="2760171"/>
            <a:ext cx="811782" cy="4634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K=2</a:t>
            </a:r>
            <a:endParaRPr lang="en-US" sz="2400" dirty="0"/>
          </a:p>
        </p:txBody>
      </p:sp>
      <p:sp>
        <p:nvSpPr>
          <p:cNvPr id="102" name="Rectangle 101"/>
          <p:cNvSpPr/>
          <p:nvPr/>
        </p:nvSpPr>
        <p:spPr>
          <a:xfrm>
            <a:off x="1170936" y="2760171"/>
            <a:ext cx="811782" cy="4634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K=3</a:t>
            </a:r>
            <a:endParaRPr lang="en-US" sz="2400" dirty="0"/>
          </a:p>
        </p:txBody>
      </p:sp>
      <p:sp>
        <p:nvSpPr>
          <p:cNvPr id="103" name="Rectangle 102"/>
          <p:cNvSpPr/>
          <p:nvPr/>
        </p:nvSpPr>
        <p:spPr>
          <a:xfrm>
            <a:off x="4100791" y="4646126"/>
            <a:ext cx="811782" cy="4634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K=2</a:t>
            </a:r>
            <a:endParaRPr lang="en-US" sz="2400" dirty="0"/>
          </a:p>
        </p:txBody>
      </p:sp>
      <p:sp>
        <p:nvSpPr>
          <p:cNvPr id="104" name="Rectangle 103"/>
          <p:cNvSpPr/>
          <p:nvPr/>
        </p:nvSpPr>
        <p:spPr>
          <a:xfrm>
            <a:off x="4100791" y="4646126"/>
            <a:ext cx="811782" cy="4634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K=3</a:t>
            </a:r>
            <a:endParaRPr lang="en-US" sz="2400" dirty="0"/>
          </a:p>
        </p:txBody>
      </p:sp>
      <p:sp>
        <p:nvSpPr>
          <p:cNvPr id="105" name="Rectangle 104"/>
          <p:cNvSpPr/>
          <p:nvPr/>
        </p:nvSpPr>
        <p:spPr>
          <a:xfrm>
            <a:off x="6618703" y="3013576"/>
            <a:ext cx="811782" cy="4634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K=2</a:t>
            </a:r>
            <a:endParaRPr lang="en-US" sz="2400" dirty="0"/>
          </a:p>
        </p:txBody>
      </p:sp>
      <p:sp>
        <p:nvSpPr>
          <p:cNvPr id="106" name="Rectangle 105"/>
          <p:cNvSpPr/>
          <p:nvPr/>
        </p:nvSpPr>
        <p:spPr>
          <a:xfrm>
            <a:off x="6618703" y="3013576"/>
            <a:ext cx="811782" cy="4634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K=3</a:t>
            </a:r>
            <a:endParaRPr lang="en-US" sz="2400" dirty="0"/>
          </a:p>
        </p:txBody>
      </p:sp>
      <p:sp>
        <p:nvSpPr>
          <p:cNvPr id="84" name="Content Placeholder 2"/>
          <p:cNvSpPr>
            <a:spLocks noGrp="1"/>
          </p:cNvSpPr>
          <p:nvPr>
            <p:ph idx="1"/>
          </p:nvPr>
        </p:nvSpPr>
        <p:spPr>
          <a:xfrm>
            <a:off x="1474556" y="1214026"/>
            <a:ext cx="8364191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Causal + Conflict Handling = </a:t>
            </a:r>
            <a:r>
              <a:rPr lang="en-US" b="1" dirty="0" smtClean="0"/>
              <a:t>Causal+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9090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8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 Causal+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Bayou ‘94, TACT ‘00, PRACTI </a:t>
            </a:r>
            <a:r>
              <a:rPr lang="fr-FR" sz="2800" dirty="0" smtClean="0"/>
              <a:t>‘</a:t>
            </a:r>
            <a:r>
              <a:rPr lang="en-US" sz="2800" dirty="0" smtClean="0"/>
              <a:t>06</a:t>
            </a:r>
          </a:p>
          <a:p>
            <a:pPr lvl="1"/>
            <a:r>
              <a:rPr lang="en-US" dirty="0" smtClean="0"/>
              <a:t>Log-exchange based</a:t>
            </a:r>
          </a:p>
          <a:p>
            <a:pPr lvl="1"/>
            <a:endParaRPr lang="en-US" dirty="0"/>
          </a:p>
          <a:p>
            <a:r>
              <a:rPr lang="en-US" dirty="0" smtClean="0"/>
              <a:t>Log is single </a:t>
            </a:r>
            <a:r>
              <a:rPr lang="en-US" dirty="0"/>
              <a:t>serialization </a:t>
            </a:r>
            <a:r>
              <a:rPr lang="en-US" dirty="0" smtClean="0"/>
              <a:t>point</a:t>
            </a:r>
          </a:p>
          <a:p>
            <a:pPr lvl="1"/>
            <a:r>
              <a:rPr lang="en-US" b="1" dirty="0"/>
              <a:t>I</a:t>
            </a:r>
            <a:r>
              <a:rPr lang="en-US" b="1" dirty="0" smtClean="0"/>
              <a:t>mplicitly</a:t>
            </a:r>
            <a:r>
              <a:rPr lang="en-US" dirty="0" smtClean="0"/>
              <a:t> </a:t>
            </a:r>
            <a:r>
              <a:rPr lang="en-US" dirty="0"/>
              <a:t>captures and enforces causal </a:t>
            </a:r>
            <a:r>
              <a:rPr lang="en-US" dirty="0" smtClean="0"/>
              <a:t>order</a:t>
            </a:r>
          </a:p>
          <a:p>
            <a:pPr lvl="1"/>
            <a:r>
              <a:rPr lang="en-US" dirty="0" smtClean="0"/>
              <a:t>Limits scalability OR</a:t>
            </a:r>
          </a:p>
          <a:p>
            <a:pPr lvl="1"/>
            <a:r>
              <a:rPr lang="en-US" dirty="0" smtClean="0"/>
              <a:t>No cross-server causality</a:t>
            </a: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122374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Scalability Key Idea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867" y="1600200"/>
            <a:ext cx="8669866" cy="4525963"/>
          </a:xfrm>
        </p:spPr>
        <p:txBody>
          <a:bodyPr>
            <a:normAutofit/>
          </a:bodyPr>
          <a:lstStyle/>
          <a:p>
            <a:r>
              <a:rPr lang="en-US" sz="3100" dirty="0" smtClean="0"/>
              <a:t>Dependency metadata explicitly captures causality</a:t>
            </a:r>
          </a:p>
          <a:p>
            <a:endParaRPr lang="en-US" sz="3100" dirty="0"/>
          </a:p>
          <a:p>
            <a:r>
              <a:rPr lang="en-US" sz="3100" dirty="0" smtClean="0"/>
              <a:t>Distributed </a:t>
            </a:r>
            <a:r>
              <a:rPr lang="en-US" sz="3100" dirty="0"/>
              <a:t>verifications replace </a:t>
            </a:r>
            <a:r>
              <a:rPr lang="en-US" sz="3100" dirty="0" smtClean="0"/>
              <a:t>single serialization</a:t>
            </a:r>
          </a:p>
          <a:p>
            <a:pPr lvl="1"/>
            <a:r>
              <a:rPr lang="en-US" dirty="0" smtClean="0"/>
              <a:t>Delay exposing replicated puts until all   dependencies are satisfied in the datacenter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3664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COPS</a:t>
            </a:r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 flipH="1">
            <a:off x="8475320" y="3223136"/>
            <a:ext cx="532808" cy="607812"/>
            <a:chOff x="4586363" y="2015342"/>
            <a:chExt cx="3113488" cy="3551774"/>
          </a:xfrm>
        </p:grpSpPr>
        <p:sp>
          <p:nvSpPr>
            <p:cNvPr id="18" name="Oval 17"/>
            <p:cNvSpPr/>
            <p:nvPr/>
          </p:nvSpPr>
          <p:spPr>
            <a:xfrm>
              <a:off x="4732672" y="2350535"/>
              <a:ext cx="2837879" cy="2937147"/>
            </a:xfrm>
            <a:prstGeom prst="ellipse">
              <a:avLst/>
            </a:prstGeom>
            <a:noFill/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4586363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5825693" y="201534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4586363" y="273704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5825693" y="489673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7048015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7048015" y="272421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 flipH="1">
            <a:off x="7014174" y="1002706"/>
            <a:ext cx="877179" cy="1000660"/>
            <a:chOff x="4586363" y="2015342"/>
            <a:chExt cx="3113488" cy="3551774"/>
          </a:xfrm>
        </p:grpSpPr>
        <p:sp>
          <p:nvSpPr>
            <p:cNvPr id="26" name="Oval 25"/>
            <p:cNvSpPr/>
            <p:nvPr/>
          </p:nvSpPr>
          <p:spPr>
            <a:xfrm>
              <a:off x="4732672" y="2350535"/>
              <a:ext cx="2837879" cy="2937147"/>
            </a:xfrm>
            <a:prstGeom prst="ellipse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4586363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5825693" y="201534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4586363" y="273704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5825693" y="489673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7048015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7048015" y="272421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5" name="TextBox 184"/>
          <p:cNvSpPr txBox="1"/>
          <p:nvPr/>
        </p:nvSpPr>
        <p:spPr>
          <a:xfrm rot="19871878">
            <a:off x="4037473" y="1286497"/>
            <a:ext cx="294253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Key-Value Store</a:t>
            </a:r>
            <a:endParaRPr lang="en-US" sz="3200" dirty="0"/>
          </a:p>
        </p:txBody>
      </p:sp>
      <p:grpSp>
        <p:nvGrpSpPr>
          <p:cNvPr id="39" name="Group 38"/>
          <p:cNvGrpSpPr/>
          <p:nvPr/>
        </p:nvGrpSpPr>
        <p:grpSpPr>
          <a:xfrm>
            <a:off x="6197273" y="1852205"/>
            <a:ext cx="2410550" cy="2148234"/>
            <a:chOff x="6197273" y="1852205"/>
            <a:chExt cx="2410550" cy="2148234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6197273" y="1970376"/>
              <a:ext cx="1041638" cy="1126591"/>
            </a:xfrm>
            <a:prstGeom prst="straightConnector1">
              <a:avLst/>
            </a:prstGeom>
            <a:ln w="152400" cmpd="sng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/>
            <p:nvPr/>
          </p:nvCxnSpPr>
          <p:spPr>
            <a:xfrm flipV="1">
              <a:off x="6713260" y="3716225"/>
              <a:ext cx="1699736" cy="284214"/>
            </a:xfrm>
            <a:prstGeom prst="straightConnector1">
              <a:avLst/>
            </a:prstGeom>
            <a:ln w="152400" cmpd="sng">
              <a:solidFill>
                <a:srgbClr val="00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/>
            <p:nvPr/>
          </p:nvCxnSpPr>
          <p:spPr>
            <a:xfrm>
              <a:off x="7880855" y="1852205"/>
              <a:ext cx="726968" cy="1305077"/>
            </a:xfrm>
            <a:prstGeom prst="straightConnector1">
              <a:avLst/>
            </a:prstGeom>
            <a:ln w="152400" cmpd="sng">
              <a:solidFill>
                <a:srgbClr val="00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6493617" y="2468810"/>
              <a:ext cx="2046353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dirty="0" smtClean="0"/>
                <a:t>Causal+</a:t>
              </a:r>
            </a:p>
            <a:p>
              <a:pPr algn="ctr"/>
              <a:r>
                <a:rPr lang="en-US" sz="3200" dirty="0" smtClean="0"/>
                <a:t>Replication</a:t>
              </a:r>
              <a:endParaRPr lang="en-US" sz="3200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577422" y="2825428"/>
            <a:ext cx="3113488" cy="3551774"/>
            <a:chOff x="4586363" y="2015342"/>
            <a:chExt cx="3113488" cy="3551774"/>
          </a:xfrm>
        </p:grpSpPr>
        <p:sp>
          <p:nvSpPr>
            <p:cNvPr id="127" name="Oval 126"/>
            <p:cNvSpPr/>
            <p:nvPr/>
          </p:nvSpPr>
          <p:spPr>
            <a:xfrm>
              <a:off x="4732672" y="2350535"/>
              <a:ext cx="2837879" cy="2937147"/>
            </a:xfrm>
            <a:prstGeom prst="ellipse">
              <a:avLst/>
            </a:prstGeom>
            <a:noFill/>
            <a:ln w="571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/>
            <p:cNvSpPr/>
            <p:nvPr/>
          </p:nvSpPr>
          <p:spPr>
            <a:xfrm>
              <a:off x="4586363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5825693" y="201534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4586363" y="273704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/>
            <p:cNvSpPr/>
            <p:nvPr/>
          </p:nvSpPr>
          <p:spPr>
            <a:xfrm>
              <a:off x="5825693" y="489673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7048015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7048015" y="272421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4364765" y="1287196"/>
            <a:ext cx="4618325" cy="3893019"/>
            <a:chOff x="4364765" y="1287196"/>
            <a:chExt cx="4618325" cy="3893019"/>
          </a:xfrm>
        </p:grpSpPr>
        <p:sp>
          <p:nvSpPr>
            <p:cNvPr id="61" name="TextBox 60"/>
            <p:cNvSpPr txBox="1"/>
            <p:nvPr/>
          </p:nvSpPr>
          <p:spPr>
            <a:xfrm>
              <a:off x="7068625" y="1287196"/>
              <a:ext cx="724440" cy="5272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rmAutofit fontScale="47500" lnSpcReduction="20000"/>
            </a:bodyPr>
            <a:lstStyle/>
            <a:p>
              <a:pPr algn="ctr"/>
              <a:r>
                <a:rPr lang="en-US" sz="3200" dirty="0" smtClean="0"/>
                <a:t>All</a:t>
              </a:r>
            </a:p>
            <a:p>
              <a:pPr algn="ctr"/>
              <a:r>
                <a:rPr lang="en-US" sz="3200" dirty="0" smtClean="0"/>
                <a:t>Data</a:t>
              </a:r>
              <a:endParaRPr lang="en-US" sz="3200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8466806" y="3376466"/>
              <a:ext cx="516284" cy="3757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rmAutofit fontScale="32500" lnSpcReduction="20000"/>
            </a:bodyPr>
            <a:lstStyle/>
            <a:p>
              <a:pPr algn="ctr"/>
              <a:r>
                <a:rPr lang="en-US" sz="3200" dirty="0" smtClean="0"/>
                <a:t>All</a:t>
              </a:r>
            </a:p>
            <a:p>
              <a:pPr algn="ctr"/>
              <a:r>
                <a:rPr lang="en-US" sz="3200" dirty="0" smtClean="0"/>
                <a:t>Data</a:t>
              </a:r>
              <a:endParaRPr lang="en-US" sz="3200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364765" y="4102997"/>
              <a:ext cx="1479956" cy="10772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 smtClean="0"/>
                <a:t>All</a:t>
              </a:r>
            </a:p>
            <a:p>
              <a:pPr algn="ctr"/>
              <a:r>
                <a:rPr lang="en-US" sz="3200" dirty="0" smtClean="0"/>
                <a:t>Data</a:t>
              </a:r>
              <a:endParaRPr lang="en-US" sz="32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336538" y="1014391"/>
            <a:ext cx="5731449" cy="5181981"/>
            <a:chOff x="3338448" y="1014391"/>
            <a:chExt cx="5731449" cy="5181981"/>
          </a:xfrm>
        </p:grpSpPr>
        <p:grpSp>
          <p:nvGrpSpPr>
            <p:cNvPr id="81" name="Group 80"/>
            <p:cNvGrpSpPr/>
            <p:nvPr/>
          </p:nvGrpSpPr>
          <p:grpSpPr>
            <a:xfrm rot="677474">
              <a:off x="6932105" y="1014391"/>
              <a:ext cx="1040234" cy="924712"/>
              <a:chOff x="4347389" y="2873241"/>
              <a:chExt cx="3629390" cy="3226329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>
                <a:off x="5238199" y="2873241"/>
                <a:ext cx="413301" cy="7208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6634714" y="5378711"/>
                <a:ext cx="413301" cy="7208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flipH="1">
                <a:off x="6604976" y="2873241"/>
                <a:ext cx="413301" cy="7208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flipH="1">
                <a:off x="5238199" y="5351543"/>
                <a:ext cx="413301" cy="7208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flipH="1">
                <a:off x="4347389" y="4511316"/>
                <a:ext cx="77056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flipH="1">
                <a:off x="7206214" y="4511316"/>
                <a:ext cx="77056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" name="Group 87"/>
            <p:cNvGrpSpPr/>
            <p:nvPr/>
          </p:nvGrpSpPr>
          <p:grpSpPr>
            <a:xfrm rot="20973726">
              <a:off x="8423238" y="3198612"/>
              <a:ext cx="646659" cy="574845"/>
              <a:chOff x="4347389" y="2873241"/>
              <a:chExt cx="3629390" cy="3226329"/>
            </a:xfrm>
          </p:grpSpPr>
          <p:cxnSp>
            <p:nvCxnSpPr>
              <p:cNvPr id="89" name="Straight Connector 88"/>
              <p:cNvCxnSpPr/>
              <p:nvPr/>
            </p:nvCxnSpPr>
            <p:spPr>
              <a:xfrm>
                <a:off x="5238199" y="2873241"/>
                <a:ext cx="413301" cy="7208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>
                <a:off x="6634714" y="5378711"/>
                <a:ext cx="413301" cy="7208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flipH="1">
                <a:off x="6604976" y="2873241"/>
                <a:ext cx="413301" cy="7208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flipH="1">
                <a:off x="5238199" y="5351543"/>
                <a:ext cx="413301" cy="7208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flipH="1">
                <a:off x="4347389" y="4511316"/>
                <a:ext cx="77056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flipH="1">
                <a:off x="7206214" y="4511316"/>
                <a:ext cx="77056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 54"/>
            <p:cNvGrpSpPr/>
            <p:nvPr/>
          </p:nvGrpSpPr>
          <p:grpSpPr>
            <a:xfrm>
              <a:off x="3338448" y="2970043"/>
              <a:ext cx="3629390" cy="3226329"/>
              <a:chOff x="4347389" y="2873241"/>
              <a:chExt cx="3629390" cy="3226329"/>
            </a:xfrm>
          </p:grpSpPr>
          <p:cxnSp>
            <p:nvCxnSpPr>
              <p:cNvPr id="53" name="Straight Connector 52"/>
              <p:cNvCxnSpPr/>
              <p:nvPr/>
            </p:nvCxnSpPr>
            <p:spPr>
              <a:xfrm>
                <a:off x="5238199" y="2873241"/>
                <a:ext cx="413301" cy="7208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6634714" y="5378711"/>
                <a:ext cx="413301" cy="7208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 flipH="1">
                <a:off x="6604976" y="2873241"/>
                <a:ext cx="413301" cy="7208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>
                <a:off x="5238199" y="5351543"/>
                <a:ext cx="413301" cy="7208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 flipH="1">
                <a:off x="4347389" y="4511316"/>
                <a:ext cx="77056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flipH="1">
                <a:off x="7206214" y="4511316"/>
                <a:ext cx="77056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Group 12"/>
          <p:cNvGrpSpPr/>
          <p:nvPr/>
        </p:nvGrpSpPr>
        <p:grpSpPr>
          <a:xfrm>
            <a:off x="3401273" y="1012630"/>
            <a:ext cx="5592221" cy="5384442"/>
            <a:chOff x="3437688" y="1012630"/>
            <a:chExt cx="5592221" cy="5384442"/>
          </a:xfrm>
        </p:grpSpPr>
        <p:grpSp>
          <p:nvGrpSpPr>
            <p:cNvPr id="124" name="Group 123"/>
            <p:cNvGrpSpPr/>
            <p:nvPr/>
          </p:nvGrpSpPr>
          <p:grpSpPr>
            <a:xfrm>
              <a:off x="6970817" y="1012630"/>
              <a:ext cx="971079" cy="1010131"/>
              <a:chOff x="4446629" y="2717330"/>
              <a:chExt cx="3403184" cy="3540042"/>
            </a:xfrm>
          </p:grpSpPr>
          <p:grpSp>
            <p:nvGrpSpPr>
              <p:cNvPr id="125" name="Group 124"/>
              <p:cNvGrpSpPr/>
              <p:nvPr/>
            </p:nvGrpSpPr>
            <p:grpSpPr>
              <a:xfrm>
                <a:off x="6456363" y="2922777"/>
                <a:ext cx="1393450" cy="3334595"/>
                <a:chOff x="6456363" y="2922777"/>
                <a:chExt cx="1393450" cy="3334595"/>
              </a:xfrm>
            </p:grpSpPr>
            <p:grpSp>
              <p:nvGrpSpPr>
                <p:cNvPr id="146" name="Group 145"/>
                <p:cNvGrpSpPr/>
                <p:nvPr/>
              </p:nvGrpSpPr>
              <p:grpSpPr>
                <a:xfrm>
                  <a:off x="6456363" y="2922777"/>
                  <a:ext cx="885005" cy="494659"/>
                  <a:chOff x="6477529" y="2922776"/>
                  <a:chExt cx="885005" cy="494659"/>
                </a:xfrm>
              </p:grpSpPr>
              <p:sp>
                <p:nvSpPr>
                  <p:cNvPr id="155" name="Donut 154"/>
                  <p:cNvSpPr/>
                  <p:nvPr/>
                </p:nvSpPr>
                <p:spPr>
                  <a:xfrm rot="678058">
                    <a:off x="6477529" y="29227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6" name="Donut 155"/>
                  <p:cNvSpPr/>
                  <p:nvPr/>
                </p:nvSpPr>
                <p:spPr>
                  <a:xfrm rot="1798949">
                    <a:off x="6741806" y="30471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7" name="Donut 156"/>
                  <p:cNvSpPr/>
                  <p:nvPr/>
                </p:nvSpPr>
                <p:spPr>
                  <a:xfrm rot="2499383">
                    <a:off x="6986401" y="3238881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7" name="Group 146"/>
                <p:cNvGrpSpPr/>
                <p:nvPr/>
              </p:nvGrpSpPr>
              <p:grpSpPr>
                <a:xfrm rot="3496887">
                  <a:off x="7159981" y="4222411"/>
                  <a:ext cx="885005" cy="494659"/>
                  <a:chOff x="6477529" y="2922776"/>
                  <a:chExt cx="885005" cy="494659"/>
                </a:xfrm>
              </p:grpSpPr>
              <p:sp>
                <p:nvSpPr>
                  <p:cNvPr id="152" name="Donut 151"/>
                  <p:cNvSpPr/>
                  <p:nvPr/>
                </p:nvSpPr>
                <p:spPr>
                  <a:xfrm rot="678058">
                    <a:off x="6477529" y="29227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3" name="Donut 152"/>
                  <p:cNvSpPr/>
                  <p:nvPr/>
                </p:nvSpPr>
                <p:spPr>
                  <a:xfrm rot="1798949">
                    <a:off x="6741806" y="30471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4" name="Donut 153"/>
                  <p:cNvSpPr/>
                  <p:nvPr/>
                </p:nvSpPr>
                <p:spPr>
                  <a:xfrm rot="2499383">
                    <a:off x="6986401" y="3238881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8" name="Group 147"/>
                <p:cNvGrpSpPr/>
                <p:nvPr/>
              </p:nvGrpSpPr>
              <p:grpSpPr>
                <a:xfrm rot="6970419">
                  <a:off x="6429854" y="5567540"/>
                  <a:ext cx="885005" cy="494659"/>
                  <a:chOff x="6477529" y="2922776"/>
                  <a:chExt cx="885005" cy="494659"/>
                </a:xfrm>
              </p:grpSpPr>
              <p:sp>
                <p:nvSpPr>
                  <p:cNvPr id="149" name="Donut 148"/>
                  <p:cNvSpPr/>
                  <p:nvPr/>
                </p:nvSpPr>
                <p:spPr>
                  <a:xfrm rot="678058">
                    <a:off x="6477529" y="29227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0" name="Donut 149"/>
                  <p:cNvSpPr/>
                  <p:nvPr/>
                </p:nvSpPr>
                <p:spPr>
                  <a:xfrm rot="1798949">
                    <a:off x="6741806" y="30471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1" name="Donut 150"/>
                  <p:cNvSpPr/>
                  <p:nvPr/>
                </p:nvSpPr>
                <p:spPr>
                  <a:xfrm rot="2499383">
                    <a:off x="6986401" y="3238881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26" name="Group 125"/>
              <p:cNvGrpSpPr/>
              <p:nvPr/>
            </p:nvGrpSpPr>
            <p:grpSpPr>
              <a:xfrm rot="10800000">
                <a:off x="4446629" y="2717330"/>
                <a:ext cx="1393450" cy="3334595"/>
                <a:chOff x="6608763" y="3075177"/>
                <a:chExt cx="1393450" cy="3334595"/>
              </a:xfrm>
            </p:grpSpPr>
            <p:grpSp>
              <p:nvGrpSpPr>
                <p:cNvPr id="129" name="Group 128"/>
                <p:cNvGrpSpPr/>
                <p:nvPr/>
              </p:nvGrpSpPr>
              <p:grpSpPr>
                <a:xfrm>
                  <a:off x="6608763" y="3075177"/>
                  <a:ext cx="885005" cy="494659"/>
                  <a:chOff x="6477529" y="2922776"/>
                  <a:chExt cx="885005" cy="494659"/>
                </a:xfrm>
              </p:grpSpPr>
              <p:sp>
                <p:nvSpPr>
                  <p:cNvPr id="138" name="Donut 137"/>
                  <p:cNvSpPr/>
                  <p:nvPr/>
                </p:nvSpPr>
                <p:spPr>
                  <a:xfrm rot="678058">
                    <a:off x="6477529" y="29227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9" name="Donut 138"/>
                  <p:cNvSpPr/>
                  <p:nvPr/>
                </p:nvSpPr>
                <p:spPr>
                  <a:xfrm rot="1798949">
                    <a:off x="6741806" y="30471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" name="Donut 144"/>
                  <p:cNvSpPr/>
                  <p:nvPr/>
                </p:nvSpPr>
                <p:spPr>
                  <a:xfrm rot="2499383">
                    <a:off x="6986401" y="3238881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30" name="Group 129"/>
                <p:cNvGrpSpPr/>
                <p:nvPr/>
              </p:nvGrpSpPr>
              <p:grpSpPr>
                <a:xfrm rot="3496887">
                  <a:off x="7312381" y="4374811"/>
                  <a:ext cx="885005" cy="494659"/>
                  <a:chOff x="6477529" y="2922776"/>
                  <a:chExt cx="885005" cy="494659"/>
                </a:xfrm>
              </p:grpSpPr>
              <p:sp>
                <p:nvSpPr>
                  <p:cNvPr id="135" name="Donut 134"/>
                  <p:cNvSpPr/>
                  <p:nvPr/>
                </p:nvSpPr>
                <p:spPr>
                  <a:xfrm rot="678058">
                    <a:off x="6477529" y="29227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6" name="Donut 135"/>
                  <p:cNvSpPr/>
                  <p:nvPr/>
                </p:nvSpPr>
                <p:spPr>
                  <a:xfrm rot="1798949">
                    <a:off x="6741806" y="30471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7" name="Donut 136"/>
                  <p:cNvSpPr/>
                  <p:nvPr/>
                </p:nvSpPr>
                <p:spPr>
                  <a:xfrm rot="2499383">
                    <a:off x="6986401" y="3238881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31" name="Group 130"/>
                <p:cNvGrpSpPr/>
                <p:nvPr/>
              </p:nvGrpSpPr>
              <p:grpSpPr>
                <a:xfrm rot="6970419">
                  <a:off x="6582254" y="5719940"/>
                  <a:ext cx="885005" cy="494659"/>
                  <a:chOff x="6477529" y="2922776"/>
                  <a:chExt cx="885005" cy="494659"/>
                </a:xfrm>
              </p:grpSpPr>
              <p:sp>
                <p:nvSpPr>
                  <p:cNvPr id="132" name="Donut 131"/>
                  <p:cNvSpPr/>
                  <p:nvPr/>
                </p:nvSpPr>
                <p:spPr>
                  <a:xfrm rot="678058">
                    <a:off x="6477529" y="29227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3" name="Donut 132"/>
                  <p:cNvSpPr/>
                  <p:nvPr/>
                </p:nvSpPr>
                <p:spPr>
                  <a:xfrm rot="1798949">
                    <a:off x="6741806" y="30471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4" name="Donut 133"/>
                  <p:cNvSpPr/>
                  <p:nvPr/>
                </p:nvSpPr>
                <p:spPr>
                  <a:xfrm rot="2499383">
                    <a:off x="6986401" y="3238881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58" name="Group 157"/>
            <p:cNvGrpSpPr/>
            <p:nvPr/>
          </p:nvGrpSpPr>
          <p:grpSpPr>
            <a:xfrm>
              <a:off x="8456896" y="3238234"/>
              <a:ext cx="573013" cy="596057"/>
              <a:chOff x="4446629" y="2717330"/>
              <a:chExt cx="3403184" cy="3540042"/>
            </a:xfrm>
          </p:grpSpPr>
          <p:grpSp>
            <p:nvGrpSpPr>
              <p:cNvPr id="159" name="Group 158"/>
              <p:cNvGrpSpPr/>
              <p:nvPr/>
            </p:nvGrpSpPr>
            <p:grpSpPr>
              <a:xfrm>
                <a:off x="6456363" y="2922777"/>
                <a:ext cx="1393450" cy="3334595"/>
                <a:chOff x="6456363" y="2922777"/>
                <a:chExt cx="1393450" cy="3334595"/>
              </a:xfrm>
            </p:grpSpPr>
            <p:grpSp>
              <p:nvGrpSpPr>
                <p:cNvPr id="173" name="Group 172"/>
                <p:cNvGrpSpPr/>
                <p:nvPr/>
              </p:nvGrpSpPr>
              <p:grpSpPr>
                <a:xfrm>
                  <a:off x="6456363" y="2922777"/>
                  <a:ext cx="885005" cy="494659"/>
                  <a:chOff x="6477529" y="2922776"/>
                  <a:chExt cx="885005" cy="494659"/>
                </a:xfrm>
              </p:grpSpPr>
              <p:sp>
                <p:nvSpPr>
                  <p:cNvPr id="182" name="Donut 181"/>
                  <p:cNvSpPr/>
                  <p:nvPr/>
                </p:nvSpPr>
                <p:spPr>
                  <a:xfrm rot="678058">
                    <a:off x="6477529" y="29227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3" name="Donut 182"/>
                  <p:cNvSpPr/>
                  <p:nvPr/>
                </p:nvSpPr>
                <p:spPr>
                  <a:xfrm rot="1798949">
                    <a:off x="6741806" y="30471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4" name="Donut 183"/>
                  <p:cNvSpPr/>
                  <p:nvPr/>
                </p:nvSpPr>
                <p:spPr>
                  <a:xfrm rot="2499383">
                    <a:off x="6986401" y="3238881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74" name="Group 173"/>
                <p:cNvGrpSpPr/>
                <p:nvPr/>
              </p:nvGrpSpPr>
              <p:grpSpPr>
                <a:xfrm rot="3496887">
                  <a:off x="7159981" y="4222411"/>
                  <a:ext cx="885005" cy="494659"/>
                  <a:chOff x="6477529" y="2922776"/>
                  <a:chExt cx="885005" cy="494659"/>
                </a:xfrm>
              </p:grpSpPr>
              <p:sp>
                <p:nvSpPr>
                  <p:cNvPr id="179" name="Donut 178"/>
                  <p:cNvSpPr/>
                  <p:nvPr/>
                </p:nvSpPr>
                <p:spPr>
                  <a:xfrm rot="678058">
                    <a:off x="6477529" y="29227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0" name="Donut 179"/>
                  <p:cNvSpPr/>
                  <p:nvPr/>
                </p:nvSpPr>
                <p:spPr>
                  <a:xfrm rot="1798949">
                    <a:off x="6741806" y="30471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1" name="Donut 180"/>
                  <p:cNvSpPr/>
                  <p:nvPr/>
                </p:nvSpPr>
                <p:spPr>
                  <a:xfrm rot="2499383">
                    <a:off x="6986401" y="3238881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75" name="Group 174"/>
                <p:cNvGrpSpPr/>
                <p:nvPr/>
              </p:nvGrpSpPr>
              <p:grpSpPr>
                <a:xfrm rot="6970419">
                  <a:off x="6429854" y="5567540"/>
                  <a:ext cx="885005" cy="494659"/>
                  <a:chOff x="6477529" y="2922776"/>
                  <a:chExt cx="885005" cy="494659"/>
                </a:xfrm>
              </p:grpSpPr>
              <p:sp>
                <p:nvSpPr>
                  <p:cNvPr id="176" name="Donut 175"/>
                  <p:cNvSpPr/>
                  <p:nvPr/>
                </p:nvSpPr>
                <p:spPr>
                  <a:xfrm rot="678058">
                    <a:off x="6477529" y="29227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7" name="Donut 176"/>
                  <p:cNvSpPr/>
                  <p:nvPr/>
                </p:nvSpPr>
                <p:spPr>
                  <a:xfrm rot="1798949">
                    <a:off x="6741806" y="30471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8" name="Donut 177"/>
                  <p:cNvSpPr/>
                  <p:nvPr/>
                </p:nvSpPr>
                <p:spPr>
                  <a:xfrm rot="2499383">
                    <a:off x="6986401" y="3238881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60" name="Group 159"/>
              <p:cNvGrpSpPr/>
              <p:nvPr/>
            </p:nvGrpSpPr>
            <p:grpSpPr>
              <a:xfrm rot="10800000">
                <a:off x="4446629" y="2717330"/>
                <a:ext cx="1393450" cy="3334595"/>
                <a:chOff x="6608763" y="3075177"/>
                <a:chExt cx="1393450" cy="3334595"/>
              </a:xfrm>
            </p:grpSpPr>
            <p:grpSp>
              <p:nvGrpSpPr>
                <p:cNvPr id="161" name="Group 160"/>
                <p:cNvGrpSpPr/>
                <p:nvPr/>
              </p:nvGrpSpPr>
              <p:grpSpPr>
                <a:xfrm>
                  <a:off x="6608763" y="3075177"/>
                  <a:ext cx="885005" cy="494659"/>
                  <a:chOff x="6477529" y="2922776"/>
                  <a:chExt cx="885005" cy="494659"/>
                </a:xfrm>
              </p:grpSpPr>
              <p:sp>
                <p:nvSpPr>
                  <p:cNvPr id="170" name="Donut 169"/>
                  <p:cNvSpPr/>
                  <p:nvPr/>
                </p:nvSpPr>
                <p:spPr>
                  <a:xfrm rot="678058">
                    <a:off x="6477529" y="29227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1" name="Donut 170"/>
                  <p:cNvSpPr/>
                  <p:nvPr/>
                </p:nvSpPr>
                <p:spPr>
                  <a:xfrm rot="1798949">
                    <a:off x="6741806" y="30471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2" name="Donut 171"/>
                  <p:cNvSpPr/>
                  <p:nvPr/>
                </p:nvSpPr>
                <p:spPr>
                  <a:xfrm rot="2499383">
                    <a:off x="6986401" y="3238881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62" name="Group 161"/>
                <p:cNvGrpSpPr/>
                <p:nvPr/>
              </p:nvGrpSpPr>
              <p:grpSpPr>
                <a:xfrm rot="3496887">
                  <a:off x="7312381" y="4374811"/>
                  <a:ext cx="885005" cy="494659"/>
                  <a:chOff x="6477529" y="2922776"/>
                  <a:chExt cx="885005" cy="494659"/>
                </a:xfrm>
              </p:grpSpPr>
              <p:sp>
                <p:nvSpPr>
                  <p:cNvPr id="167" name="Donut 166"/>
                  <p:cNvSpPr/>
                  <p:nvPr/>
                </p:nvSpPr>
                <p:spPr>
                  <a:xfrm rot="678058">
                    <a:off x="6477529" y="29227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8" name="Donut 167"/>
                  <p:cNvSpPr/>
                  <p:nvPr/>
                </p:nvSpPr>
                <p:spPr>
                  <a:xfrm rot="1798949">
                    <a:off x="6741806" y="30471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9" name="Donut 168"/>
                  <p:cNvSpPr/>
                  <p:nvPr/>
                </p:nvSpPr>
                <p:spPr>
                  <a:xfrm rot="2499383">
                    <a:off x="6986401" y="3238881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63" name="Group 162"/>
                <p:cNvGrpSpPr/>
                <p:nvPr/>
              </p:nvGrpSpPr>
              <p:grpSpPr>
                <a:xfrm rot="6970419">
                  <a:off x="6582254" y="5719940"/>
                  <a:ext cx="885005" cy="494659"/>
                  <a:chOff x="6477529" y="2922776"/>
                  <a:chExt cx="885005" cy="494659"/>
                </a:xfrm>
              </p:grpSpPr>
              <p:sp>
                <p:nvSpPr>
                  <p:cNvPr id="164" name="Donut 163"/>
                  <p:cNvSpPr/>
                  <p:nvPr/>
                </p:nvSpPr>
                <p:spPr>
                  <a:xfrm rot="678058">
                    <a:off x="6477529" y="29227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5" name="Donut 164"/>
                  <p:cNvSpPr/>
                  <p:nvPr/>
                </p:nvSpPr>
                <p:spPr>
                  <a:xfrm rot="1798949">
                    <a:off x="6741806" y="30471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6" name="Donut 165"/>
                  <p:cNvSpPr/>
                  <p:nvPr/>
                </p:nvSpPr>
                <p:spPr>
                  <a:xfrm rot="2499383">
                    <a:off x="6986401" y="3238881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65" name="Group 64"/>
            <p:cNvGrpSpPr/>
            <p:nvPr/>
          </p:nvGrpSpPr>
          <p:grpSpPr>
            <a:xfrm>
              <a:off x="3437688" y="2857030"/>
              <a:ext cx="3403184" cy="3540042"/>
              <a:chOff x="4446629" y="2717330"/>
              <a:chExt cx="3403184" cy="3540042"/>
            </a:xfrm>
          </p:grpSpPr>
          <p:grpSp>
            <p:nvGrpSpPr>
              <p:cNvPr id="64" name="Group 63"/>
              <p:cNvGrpSpPr/>
              <p:nvPr/>
            </p:nvGrpSpPr>
            <p:grpSpPr>
              <a:xfrm>
                <a:off x="6456363" y="2922777"/>
                <a:ext cx="1393450" cy="3334595"/>
                <a:chOff x="6456363" y="2922777"/>
                <a:chExt cx="1393450" cy="3334595"/>
              </a:xfrm>
            </p:grpSpPr>
            <p:grpSp>
              <p:nvGrpSpPr>
                <p:cNvPr id="59" name="Group 58"/>
                <p:cNvGrpSpPr/>
                <p:nvPr/>
              </p:nvGrpSpPr>
              <p:grpSpPr>
                <a:xfrm>
                  <a:off x="6456363" y="2922777"/>
                  <a:ext cx="885005" cy="494659"/>
                  <a:chOff x="6477529" y="2922776"/>
                  <a:chExt cx="885005" cy="494659"/>
                </a:xfrm>
              </p:grpSpPr>
              <p:sp>
                <p:nvSpPr>
                  <p:cNvPr id="58" name="Donut 57"/>
                  <p:cNvSpPr/>
                  <p:nvPr/>
                </p:nvSpPr>
                <p:spPr>
                  <a:xfrm rot="678058">
                    <a:off x="6477529" y="29227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Donut 96"/>
                  <p:cNvSpPr/>
                  <p:nvPr/>
                </p:nvSpPr>
                <p:spPr>
                  <a:xfrm rot="1798949">
                    <a:off x="6741806" y="30471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8" name="Donut 97"/>
                  <p:cNvSpPr/>
                  <p:nvPr/>
                </p:nvSpPr>
                <p:spPr>
                  <a:xfrm rot="2499383">
                    <a:off x="6986401" y="3238881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1" name="Group 100"/>
                <p:cNvGrpSpPr/>
                <p:nvPr/>
              </p:nvGrpSpPr>
              <p:grpSpPr>
                <a:xfrm rot="3496887">
                  <a:off x="7159981" y="4222411"/>
                  <a:ext cx="885005" cy="494659"/>
                  <a:chOff x="6477529" y="2922776"/>
                  <a:chExt cx="885005" cy="494659"/>
                </a:xfrm>
              </p:grpSpPr>
              <p:sp>
                <p:nvSpPr>
                  <p:cNvPr id="102" name="Donut 101"/>
                  <p:cNvSpPr/>
                  <p:nvPr/>
                </p:nvSpPr>
                <p:spPr>
                  <a:xfrm rot="678058">
                    <a:off x="6477529" y="29227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3" name="Donut 102"/>
                  <p:cNvSpPr/>
                  <p:nvPr/>
                </p:nvSpPr>
                <p:spPr>
                  <a:xfrm rot="1798949">
                    <a:off x="6741806" y="30471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4" name="Donut 103"/>
                  <p:cNvSpPr/>
                  <p:nvPr/>
                </p:nvSpPr>
                <p:spPr>
                  <a:xfrm rot="2499383">
                    <a:off x="6986401" y="3238881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5" name="Group 104"/>
                <p:cNvGrpSpPr/>
                <p:nvPr/>
              </p:nvGrpSpPr>
              <p:grpSpPr>
                <a:xfrm rot="6970419">
                  <a:off x="6429854" y="5567540"/>
                  <a:ext cx="885005" cy="494659"/>
                  <a:chOff x="6477529" y="2922776"/>
                  <a:chExt cx="885005" cy="494659"/>
                </a:xfrm>
              </p:grpSpPr>
              <p:sp>
                <p:nvSpPr>
                  <p:cNvPr id="106" name="Donut 105"/>
                  <p:cNvSpPr/>
                  <p:nvPr/>
                </p:nvSpPr>
                <p:spPr>
                  <a:xfrm rot="678058">
                    <a:off x="6477529" y="29227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7" name="Donut 106"/>
                  <p:cNvSpPr/>
                  <p:nvPr/>
                </p:nvSpPr>
                <p:spPr>
                  <a:xfrm rot="1798949">
                    <a:off x="6741806" y="30471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Donut 107"/>
                  <p:cNvSpPr/>
                  <p:nvPr/>
                </p:nvSpPr>
                <p:spPr>
                  <a:xfrm rot="2499383">
                    <a:off x="6986401" y="3238881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63" name="Group 62"/>
              <p:cNvGrpSpPr/>
              <p:nvPr/>
            </p:nvGrpSpPr>
            <p:grpSpPr>
              <a:xfrm rot="10800000">
                <a:off x="4446629" y="2717330"/>
                <a:ext cx="1393450" cy="3334595"/>
                <a:chOff x="6608763" y="3075177"/>
                <a:chExt cx="1393450" cy="3334595"/>
              </a:xfrm>
            </p:grpSpPr>
            <p:grpSp>
              <p:nvGrpSpPr>
                <p:cNvPr id="109" name="Group 108"/>
                <p:cNvGrpSpPr/>
                <p:nvPr/>
              </p:nvGrpSpPr>
              <p:grpSpPr>
                <a:xfrm>
                  <a:off x="6608763" y="3075177"/>
                  <a:ext cx="885005" cy="494659"/>
                  <a:chOff x="6477529" y="2922776"/>
                  <a:chExt cx="885005" cy="494659"/>
                </a:xfrm>
              </p:grpSpPr>
              <p:sp>
                <p:nvSpPr>
                  <p:cNvPr id="110" name="Donut 109"/>
                  <p:cNvSpPr/>
                  <p:nvPr/>
                </p:nvSpPr>
                <p:spPr>
                  <a:xfrm rot="678058">
                    <a:off x="6477529" y="29227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1" name="Donut 110"/>
                  <p:cNvSpPr/>
                  <p:nvPr/>
                </p:nvSpPr>
                <p:spPr>
                  <a:xfrm rot="1798949">
                    <a:off x="6741806" y="30471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Donut 111"/>
                  <p:cNvSpPr/>
                  <p:nvPr/>
                </p:nvSpPr>
                <p:spPr>
                  <a:xfrm rot="2499383">
                    <a:off x="6986401" y="3238881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13" name="Group 112"/>
                <p:cNvGrpSpPr/>
                <p:nvPr/>
              </p:nvGrpSpPr>
              <p:grpSpPr>
                <a:xfrm rot="3496887">
                  <a:off x="7312381" y="4374811"/>
                  <a:ext cx="885005" cy="494659"/>
                  <a:chOff x="6477529" y="2922776"/>
                  <a:chExt cx="885005" cy="494659"/>
                </a:xfrm>
              </p:grpSpPr>
              <p:sp>
                <p:nvSpPr>
                  <p:cNvPr id="114" name="Donut 113"/>
                  <p:cNvSpPr/>
                  <p:nvPr/>
                </p:nvSpPr>
                <p:spPr>
                  <a:xfrm rot="678058">
                    <a:off x="6477529" y="29227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5" name="Donut 114"/>
                  <p:cNvSpPr/>
                  <p:nvPr/>
                </p:nvSpPr>
                <p:spPr>
                  <a:xfrm rot="1798949">
                    <a:off x="6741806" y="30471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8" name="Donut 117"/>
                  <p:cNvSpPr/>
                  <p:nvPr/>
                </p:nvSpPr>
                <p:spPr>
                  <a:xfrm rot="2499383">
                    <a:off x="6986401" y="3238881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19" name="Group 118"/>
                <p:cNvGrpSpPr/>
                <p:nvPr/>
              </p:nvGrpSpPr>
              <p:grpSpPr>
                <a:xfrm rot="6970419">
                  <a:off x="6582254" y="5719940"/>
                  <a:ext cx="885005" cy="494659"/>
                  <a:chOff x="6477529" y="2922776"/>
                  <a:chExt cx="885005" cy="494659"/>
                </a:xfrm>
              </p:grpSpPr>
              <p:sp>
                <p:nvSpPr>
                  <p:cNvPr id="120" name="Donut 119"/>
                  <p:cNvSpPr/>
                  <p:nvPr/>
                </p:nvSpPr>
                <p:spPr>
                  <a:xfrm rot="678058">
                    <a:off x="6477529" y="29227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" name="Donut 120"/>
                  <p:cNvSpPr/>
                  <p:nvPr/>
                </p:nvSpPr>
                <p:spPr>
                  <a:xfrm rot="1798949">
                    <a:off x="6741806" y="3047176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3" name="Donut 122"/>
                  <p:cNvSpPr/>
                  <p:nvPr/>
                </p:nvSpPr>
                <p:spPr>
                  <a:xfrm rot="2499383">
                    <a:off x="6986401" y="3238881"/>
                    <a:ext cx="376133" cy="178554"/>
                  </a:xfrm>
                  <a:prstGeom prst="donu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</p:grpSp>
      <p:grpSp>
        <p:nvGrpSpPr>
          <p:cNvPr id="187" name="Group 186"/>
          <p:cNvGrpSpPr/>
          <p:nvPr/>
        </p:nvGrpSpPr>
        <p:grpSpPr>
          <a:xfrm>
            <a:off x="457200" y="3685171"/>
            <a:ext cx="2942533" cy="2484033"/>
            <a:chOff x="420815" y="3211458"/>
            <a:chExt cx="2942533" cy="2484033"/>
          </a:xfrm>
        </p:grpSpPr>
        <p:grpSp>
          <p:nvGrpSpPr>
            <p:cNvPr id="188" name="Group 187"/>
            <p:cNvGrpSpPr/>
            <p:nvPr/>
          </p:nvGrpSpPr>
          <p:grpSpPr>
            <a:xfrm>
              <a:off x="784191" y="3882020"/>
              <a:ext cx="1536278" cy="1813471"/>
              <a:chOff x="784191" y="4453527"/>
              <a:chExt cx="1536278" cy="1813471"/>
            </a:xfrm>
          </p:grpSpPr>
          <p:sp>
            <p:nvSpPr>
              <p:cNvPr id="190" name="Rectangle 189"/>
              <p:cNvSpPr/>
              <p:nvPr/>
            </p:nvSpPr>
            <p:spPr>
              <a:xfrm>
                <a:off x="784191" y="4453527"/>
                <a:ext cx="1536278" cy="1813471"/>
              </a:xfrm>
              <a:prstGeom prst="rect">
                <a:avLst/>
              </a:prstGeom>
              <a:ln w="38100" cmpd="sng"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1" name="Rectangle 190"/>
              <p:cNvSpPr/>
              <p:nvPr/>
            </p:nvSpPr>
            <p:spPr>
              <a:xfrm>
                <a:off x="1448084" y="4541422"/>
                <a:ext cx="779588" cy="161514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9" name="TextBox 188"/>
            <p:cNvSpPr txBox="1"/>
            <p:nvPr/>
          </p:nvSpPr>
          <p:spPr>
            <a:xfrm>
              <a:off x="420815" y="3211458"/>
              <a:ext cx="2942533" cy="584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Client Library</a:t>
              </a:r>
              <a:endParaRPr lang="en-US" sz="32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03931" y="2513649"/>
            <a:ext cx="6566884" cy="3899298"/>
            <a:chOff x="251621" y="2584592"/>
            <a:chExt cx="6566884" cy="3899298"/>
          </a:xfrm>
        </p:grpSpPr>
        <p:sp>
          <p:nvSpPr>
            <p:cNvPr id="10" name="TextBox 9"/>
            <p:cNvSpPr txBox="1"/>
            <p:nvPr/>
          </p:nvSpPr>
          <p:spPr>
            <a:xfrm>
              <a:off x="1117288" y="2601679"/>
              <a:ext cx="2991725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chemeClr val="accent1">
                      <a:lumMod val="75000"/>
                    </a:schemeClr>
                  </a:solidFill>
                </a:rPr>
                <a:t>Local Datacenter</a:t>
              </a:r>
              <a:endParaRPr lang="en-US" sz="3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" name="Round Same Side Corner Rectangle 6"/>
            <p:cNvSpPr/>
            <p:nvPr/>
          </p:nvSpPr>
          <p:spPr>
            <a:xfrm rot="5400000">
              <a:off x="1585414" y="1250799"/>
              <a:ext cx="3899298" cy="6566884"/>
            </a:xfrm>
            <a:prstGeom prst="round2SameRect">
              <a:avLst/>
            </a:prstGeom>
            <a:noFill/>
            <a:ln w="76200" cmpd="sng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29346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4586363" y="2685728"/>
            <a:ext cx="3113488" cy="3551774"/>
            <a:chOff x="4586363" y="2015342"/>
            <a:chExt cx="3113488" cy="3551774"/>
          </a:xfrm>
        </p:grpSpPr>
        <p:sp>
          <p:nvSpPr>
            <p:cNvPr id="127" name="Oval 126"/>
            <p:cNvSpPr/>
            <p:nvPr/>
          </p:nvSpPr>
          <p:spPr>
            <a:xfrm>
              <a:off x="4732672" y="2350535"/>
              <a:ext cx="2837879" cy="2937147"/>
            </a:xfrm>
            <a:prstGeom prst="ellipse">
              <a:avLst/>
            </a:prstGeom>
            <a:noFill/>
            <a:ln w="571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/>
            <p:cNvSpPr/>
            <p:nvPr/>
          </p:nvSpPr>
          <p:spPr>
            <a:xfrm>
              <a:off x="4586363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5825693" y="201534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4586363" y="273704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/>
            <p:cNvSpPr/>
            <p:nvPr/>
          </p:nvSpPr>
          <p:spPr>
            <a:xfrm>
              <a:off x="5825693" y="489673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7048015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7048015" y="272421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/>
          <p:cNvGrpSpPr/>
          <p:nvPr/>
        </p:nvGrpSpPr>
        <p:grpSpPr>
          <a:xfrm flipH="1">
            <a:off x="8390152" y="2491803"/>
            <a:ext cx="532808" cy="607812"/>
            <a:chOff x="4586363" y="2015342"/>
            <a:chExt cx="3113488" cy="3551774"/>
          </a:xfrm>
        </p:grpSpPr>
        <p:sp>
          <p:nvSpPr>
            <p:cNvPr id="18" name="Oval 17"/>
            <p:cNvSpPr/>
            <p:nvPr/>
          </p:nvSpPr>
          <p:spPr>
            <a:xfrm>
              <a:off x="4732672" y="2350535"/>
              <a:ext cx="2837879" cy="2937147"/>
            </a:xfrm>
            <a:prstGeom prst="ellipse">
              <a:avLst/>
            </a:prstGeom>
            <a:noFill/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4586363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5825693" y="201534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4586363" y="273704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5825693" y="489673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7048015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7048015" y="272421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57200" y="3882020"/>
            <a:ext cx="1863269" cy="1813471"/>
            <a:chOff x="457200" y="4453527"/>
            <a:chExt cx="1863269" cy="1813471"/>
          </a:xfrm>
        </p:grpSpPr>
        <p:sp>
          <p:nvSpPr>
            <p:cNvPr id="117" name="Rectangle 116"/>
            <p:cNvSpPr/>
            <p:nvPr/>
          </p:nvSpPr>
          <p:spPr>
            <a:xfrm>
              <a:off x="457200" y="4453527"/>
              <a:ext cx="1863269" cy="1813471"/>
            </a:xfrm>
            <a:prstGeom prst="rect">
              <a:avLst/>
            </a:prstGeom>
            <a:ln w="38100" cmpd="sng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1448084" y="4541422"/>
              <a:ext cx="779588" cy="1615146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4" name="Straight Arrow Connector 43"/>
          <p:cNvCxnSpPr/>
          <p:nvPr/>
        </p:nvCxnSpPr>
        <p:spPr>
          <a:xfrm flipH="1">
            <a:off x="2227672" y="3882020"/>
            <a:ext cx="2358692" cy="1133604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808254" y="5015624"/>
            <a:ext cx="639830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808254" y="4777488"/>
            <a:ext cx="639830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08254" y="4193943"/>
            <a:ext cx="71946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get</a:t>
            </a:r>
            <a:endParaRPr lang="en-US" sz="3200" dirty="0"/>
          </a:p>
        </p:txBody>
      </p:sp>
      <p:cxnSp>
        <p:nvCxnSpPr>
          <p:cNvPr id="42" name="Straight Arrow Connector 41"/>
          <p:cNvCxnSpPr>
            <a:stCxn id="122" idx="3"/>
          </p:cNvCxnSpPr>
          <p:nvPr/>
        </p:nvCxnSpPr>
        <p:spPr>
          <a:xfrm flipV="1">
            <a:off x="2227672" y="3677703"/>
            <a:ext cx="2358691" cy="1099785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 rot="20141632">
            <a:off x="1920110" y="3707913"/>
            <a:ext cx="266314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get</a:t>
            </a:r>
            <a:endParaRPr lang="en-US" sz="3200" dirty="0"/>
          </a:p>
        </p:txBody>
      </p:sp>
      <p:sp>
        <p:nvSpPr>
          <p:cNvPr id="41" name="Freeform 40"/>
          <p:cNvSpPr/>
          <p:nvPr/>
        </p:nvSpPr>
        <p:spPr>
          <a:xfrm rot="5400000">
            <a:off x="289147" y="4845527"/>
            <a:ext cx="819880" cy="138297"/>
          </a:xfrm>
          <a:custGeom>
            <a:avLst/>
            <a:gdLst>
              <a:gd name="connsiteX0" fmla="*/ 0 w 2810934"/>
              <a:gd name="connsiteY0" fmla="*/ 474147 h 474147"/>
              <a:gd name="connsiteX1" fmla="*/ 524934 w 2810934"/>
              <a:gd name="connsiteY1" fmla="*/ 13 h 474147"/>
              <a:gd name="connsiteX2" fmla="*/ 982134 w 2810934"/>
              <a:gd name="connsiteY2" fmla="*/ 457213 h 474147"/>
              <a:gd name="connsiteX3" fmla="*/ 1524000 w 2810934"/>
              <a:gd name="connsiteY3" fmla="*/ 50813 h 474147"/>
              <a:gd name="connsiteX4" fmla="*/ 1913467 w 2810934"/>
              <a:gd name="connsiteY4" fmla="*/ 406413 h 474147"/>
              <a:gd name="connsiteX5" fmla="*/ 2302934 w 2810934"/>
              <a:gd name="connsiteY5" fmla="*/ 101613 h 474147"/>
              <a:gd name="connsiteX6" fmla="*/ 2506134 w 2810934"/>
              <a:gd name="connsiteY6" fmla="*/ 423347 h 474147"/>
              <a:gd name="connsiteX7" fmla="*/ 2810934 w 2810934"/>
              <a:gd name="connsiteY7" fmla="*/ 220147 h 474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10934" h="474147">
                <a:moveTo>
                  <a:pt x="0" y="474147"/>
                </a:moveTo>
                <a:cubicBezTo>
                  <a:pt x="180622" y="238491"/>
                  <a:pt x="361245" y="2835"/>
                  <a:pt x="524934" y="13"/>
                </a:cubicBezTo>
                <a:cubicBezTo>
                  <a:pt x="688623" y="-2809"/>
                  <a:pt x="815623" y="448746"/>
                  <a:pt x="982134" y="457213"/>
                </a:cubicBezTo>
                <a:cubicBezTo>
                  <a:pt x="1148645" y="465680"/>
                  <a:pt x="1368778" y="59280"/>
                  <a:pt x="1524000" y="50813"/>
                </a:cubicBezTo>
                <a:cubicBezTo>
                  <a:pt x="1679222" y="42346"/>
                  <a:pt x="1783645" y="397946"/>
                  <a:pt x="1913467" y="406413"/>
                </a:cubicBezTo>
                <a:cubicBezTo>
                  <a:pt x="2043289" y="414880"/>
                  <a:pt x="2204156" y="98791"/>
                  <a:pt x="2302934" y="101613"/>
                </a:cubicBezTo>
                <a:cubicBezTo>
                  <a:pt x="2401712" y="104435"/>
                  <a:pt x="2421468" y="403591"/>
                  <a:pt x="2506134" y="423347"/>
                </a:cubicBezTo>
                <a:cubicBezTo>
                  <a:pt x="2590800" y="443103"/>
                  <a:pt x="2740378" y="304814"/>
                  <a:pt x="2810934" y="220147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319961" y="3296868"/>
            <a:ext cx="294253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Client Library</a:t>
            </a:r>
            <a:endParaRPr lang="en-US" sz="3200" dirty="0"/>
          </a:p>
        </p:txBody>
      </p:sp>
      <p:sp>
        <p:nvSpPr>
          <p:cNvPr id="51" name="TextBox 50"/>
          <p:cNvSpPr txBox="1"/>
          <p:nvPr/>
        </p:nvSpPr>
        <p:spPr>
          <a:xfrm rot="19871878">
            <a:off x="4675171" y="1154613"/>
            <a:ext cx="294253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Key-Value Store</a:t>
            </a:r>
            <a:endParaRPr lang="en-US" sz="3200" dirty="0"/>
          </a:p>
        </p:txBody>
      </p:sp>
      <p:grpSp>
        <p:nvGrpSpPr>
          <p:cNvPr id="52" name="Group 51"/>
          <p:cNvGrpSpPr/>
          <p:nvPr/>
        </p:nvGrpSpPr>
        <p:grpSpPr>
          <a:xfrm>
            <a:off x="300033" y="2491805"/>
            <a:ext cx="7625159" cy="4314335"/>
            <a:chOff x="147723" y="2562748"/>
            <a:chExt cx="7625159" cy="4314335"/>
          </a:xfrm>
        </p:grpSpPr>
        <p:sp>
          <p:nvSpPr>
            <p:cNvPr id="53" name="TextBox 52"/>
            <p:cNvSpPr txBox="1"/>
            <p:nvPr/>
          </p:nvSpPr>
          <p:spPr>
            <a:xfrm>
              <a:off x="1935304" y="2584591"/>
              <a:ext cx="2991725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chemeClr val="accent1">
                      <a:lumMod val="75000"/>
                    </a:schemeClr>
                  </a:solidFill>
                </a:rPr>
                <a:t>Local Datacenter</a:t>
              </a:r>
              <a:endParaRPr lang="en-US" sz="3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4" name="Round Same Side Corner Rectangle 53"/>
            <p:cNvSpPr/>
            <p:nvPr/>
          </p:nvSpPr>
          <p:spPr>
            <a:xfrm rot="5400000">
              <a:off x="1803135" y="907336"/>
              <a:ext cx="4314335" cy="7625159"/>
            </a:xfrm>
            <a:prstGeom prst="round2SameRect">
              <a:avLst/>
            </a:prstGeom>
            <a:noFill/>
            <a:ln w="76200" cmpd="sng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" name="Group 54"/>
          <p:cNvGrpSpPr/>
          <p:nvPr/>
        </p:nvGrpSpPr>
        <p:grpSpPr>
          <a:xfrm flipH="1">
            <a:off x="7446666" y="940585"/>
            <a:ext cx="877179" cy="1000660"/>
            <a:chOff x="4586363" y="2015342"/>
            <a:chExt cx="3113488" cy="3551774"/>
          </a:xfrm>
        </p:grpSpPr>
        <p:sp>
          <p:nvSpPr>
            <p:cNvPr id="56" name="Oval 55"/>
            <p:cNvSpPr/>
            <p:nvPr/>
          </p:nvSpPr>
          <p:spPr>
            <a:xfrm>
              <a:off x="4732674" y="2350536"/>
              <a:ext cx="2837878" cy="2937148"/>
            </a:xfrm>
            <a:prstGeom prst="ellipse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/>
            <p:cNvSpPr/>
            <p:nvPr/>
          </p:nvSpPr>
          <p:spPr>
            <a:xfrm>
              <a:off x="4586363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/>
            <p:nvPr/>
          </p:nvSpPr>
          <p:spPr>
            <a:xfrm>
              <a:off x="5825693" y="201534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4586363" y="273704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>
              <a:off x="5825693" y="489673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>
              <a:off x="7048015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7048015" y="272421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62090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Put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319961" y="3296868"/>
            <a:ext cx="2942533" cy="2398623"/>
            <a:chOff x="319961" y="3296868"/>
            <a:chExt cx="2942533" cy="2398623"/>
          </a:xfrm>
        </p:grpSpPr>
        <p:grpSp>
          <p:nvGrpSpPr>
            <p:cNvPr id="5" name="Group 4"/>
            <p:cNvGrpSpPr/>
            <p:nvPr/>
          </p:nvGrpSpPr>
          <p:grpSpPr>
            <a:xfrm>
              <a:off x="457200" y="3882020"/>
              <a:ext cx="1863269" cy="1813471"/>
              <a:chOff x="457200" y="4453527"/>
              <a:chExt cx="1863269" cy="1813471"/>
            </a:xfrm>
          </p:grpSpPr>
          <p:sp>
            <p:nvSpPr>
              <p:cNvPr id="117" name="Rectangle 116"/>
              <p:cNvSpPr/>
              <p:nvPr/>
            </p:nvSpPr>
            <p:spPr>
              <a:xfrm>
                <a:off x="457200" y="4453527"/>
                <a:ext cx="1863269" cy="1813471"/>
              </a:xfrm>
              <a:prstGeom prst="rect">
                <a:avLst/>
              </a:prstGeom>
              <a:ln w="38100" cmpd="sng"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1448084" y="4541422"/>
                <a:ext cx="779588" cy="161514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TextBox 35"/>
            <p:cNvSpPr txBox="1"/>
            <p:nvPr/>
          </p:nvSpPr>
          <p:spPr>
            <a:xfrm>
              <a:off x="319961" y="3296868"/>
              <a:ext cx="2942533" cy="584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Client Library</a:t>
              </a:r>
              <a:endParaRPr lang="en-US" sz="3200" dirty="0"/>
            </a:p>
          </p:txBody>
        </p:sp>
      </p:grpSp>
      <p:cxnSp>
        <p:nvCxnSpPr>
          <p:cNvPr id="44" name="Straight Arrow Connector 43"/>
          <p:cNvCxnSpPr>
            <a:stCxn id="128" idx="3"/>
          </p:cNvCxnSpPr>
          <p:nvPr/>
        </p:nvCxnSpPr>
        <p:spPr>
          <a:xfrm flipH="1" flipV="1">
            <a:off x="2227673" y="5015624"/>
            <a:ext cx="2454149" cy="471261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4586363" y="2685728"/>
            <a:ext cx="3113488" cy="3551774"/>
            <a:chOff x="4586363" y="2015342"/>
            <a:chExt cx="3113488" cy="3551774"/>
          </a:xfrm>
        </p:grpSpPr>
        <p:sp>
          <p:nvSpPr>
            <p:cNvPr id="127" name="Oval 126"/>
            <p:cNvSpPr/>
            <p:nvPr/>
          </p:nvSpPr>
          <p:spPr>
            <a:xfrm>
              <a:off x="4732672" y="2350535"/>
              <a:ext cx="2837879" cy="2937147"/>
            </a:xfrm>
            <a:prstGeom prst="ellipse">
              <a:avLst/>
            </a:prstGeom>
            <a:noFill/>
            <a:ln w="571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5825693" y="201534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4586363" y="273704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/>
            <p:cNvSpPr/>
            <p:nvPr/>
          </p:nvSpPr>
          <p:spPr>
            <a:xfrm>
              <a:off x="5825693" y="489673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7048015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7048015" y="272421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/>
            <p:cNvSpPr/>
            <p:nvPr/>
          </p:nvSpPr>
          <p:spPr>
            <a:xfrm>
              <a:off x="4586363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/>
          <p:cNvGrpSpPr/>
          <p:nvPr/>
        </p:nvGrpSpPr>
        <p:grpSpPr>
          <a:xfrm flipH="1">
            <a:off x="8390152" y="2491803"/>
            <a:ext cx="532808" cy="607812"/>
            <a:chOff x="4586363" y="2015342"/>
            <a:chExt cx="3113488" cy="3551774"/>
          </a:xfrm>
        </p:grpSpPr>
        <p:sp>
          <p:nvSpPr>
            <p:cNvPr id="18" name="Oval 17"/>
            <p:cNvSpPr/>
            <p:nvPr/>
          </p:nvSpPr>
          <p:spPr>
            <a:xfrm>
              <a:off x="4732672" y="2350535"/>
              <a:ext cx="2837879" cy="2937147"/>
            </a:xfrm>
            <a:prstGeom prst="ellipse">
              <a:avLst/>
            </a:prstGeom>
            <a:noFill/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4586363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5825693" y="201534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4586363" y="273704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5825693" y="489673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7048015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7048015" y="272421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 flipH="1">
            <a:off x="7446666" y="940585"/>
            <a:ext cx="877179" cy="1000660"/>
            <a:chOff x="4586363" y="2015342"/>
            <a:chExt cx="3113488" cy="3551774"/>
          </a:xfrm>
        </p:grpSpPr>
        <p:sp>
          <p:nvSpPr>
            <p:cNvPr id="26" name="Oval 25"/>
            <p:cNvSpPr/>
            <p:nvPr/>
          </p:nvSpPr>
          <p:spPr>
            <a:xfrm>
              <a:off x="4732674" y="2350536"/>
              <a:ext cx="2837878" cy="2937148"/>
            </a:xfrm>
            <a:prstGeom prst="ellipse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4586363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5825693" y="201534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4586363" y="273704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5825693" y="489673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7048015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7048015" y="272421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9" name="Straight Arrow Connector 48"/>
          <p:cNvCxnSpPr/>
          <p:nvPr/>
        </p:nvCxnSpPr>
        <p:spPr>
          <a:xfrm flipH="1">
            <a:off x="901700" y="5015624"/>
            <a:ext cx="546384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901700" y="4777488"/>
            <a:ext cx="546384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08254" y="4213187"/>
            <a:ext cx="75333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put</a:t>
            </a:r>
            <a:endParaRPr lang="en-US" sz="3200" dirty="0"/>
          </a:p>
        </p:txBody>
      </p:sp>
      <p:cxnSp>
        <p:nvCxnSpPr>
          <p:cNvPr id="42" name="Straight Arrow Connector 41"/>
          <p:cNvCxnSpPr>
            <a:stCxn id="122" idx="3"/>
            <a:endCxn id="128" idx="2"/>
          </p:cNvCxnSpPr>
          <p:nvPr/>
        </p:nvCxnSpPr>
        <p:spPr>
          <a:xfrm>
            <a:off x="2227672" y="4777488"/>
            <a:ext cx="2358691" cy="47238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 rot="624683">
            <a:off x="2554270" y="4421498"/>
            <a:ext cx="175420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put_after</a:t>
            </a:r>
            <a:endParaRPr lang="en-US" sz="3200" dirty="0"/>
          </a:p>
        </p:txBody>
      </p:sp>
      <p:sp>
        <p:nvSpPr>
          <p:cNvPr id="37" name="TextBox 36"/>
          <p:cNvSpPr txBox="1"/>
          <p:nvPr/>
        </p:nvSpPr>
        <p:spPr>
          <a:xfrm>
            <a:off x="7322391" y="1648857"/>
            <a:ext cx="24854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4">
                    <a:lumMod val="75000"/>
                  </a:schemeClr>
                </a:solidFill>
              </a:rPr>
              <a:t>?</a:t>
            </a:r>
            <a:endParaRPr lang="en-US" sz="3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 flipH="1">
            <a:off x="8191710" y="2848561"/>
            <a:ext cx="4571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4">
                    <a:lumMod val="75000"/>
                  </a:schemeClr>
                </a:solidFill>
              </a:rPr>
              <a:t>?</a:t>
            </a:r>
            <a:endParaRPr lang="en-US" sz="3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 rot="19871878">
            <a:off x="4675171" y="1154613"/>
            <a:ext cx="294253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Key-Value Store</a:t>
            </a:r>
            <a:endParaRPr lang="en-US" sz="3200" dirty="0"/>
          </a:p>
        </p:txBody>
      </p:sp>
      <p:grpSp>
        <p:nvGrpSpPr>
          <p:cNvPr id="99" name="Group 98"/>
          <p:cNvGrpSpPr/>
          <p:nvPr/>
        </p:nvGrpSpPr>
        <p:grpSpPr>
          <a:xfrm>
            <a:off x="3055758" y="5486885"/>
            <a:ext cx="1943189" cy="1234589"/>
            <a:chOff x="3055758" y="5486885"/>
            <a:chExt cx="1943189" cy="1234589"/>
          </a:xfrm>
        </p:grpSpPr>
        <p:grpSp>
          <p:nvGrpSpPr>
            <p:cNvPr id="98" name="Group 97"/>
            <p:cNvGrpSpPr/>
            <p:nvPr/>
          </p:nvGrpSpPr>
          <p:grpSpPr>
            <a:xfrm>
              <a:off x="3055758" y="5486885"/>
              <a:ext cx="1943189" cy="471184"/>
              <a:chOff x="3055758" y="5486885"/>
              <a:chExt cx="1943189" cy="471184"/>
            </a:xfrm>
          </p:grpSpPr>
          <p:cxnSp>
            <p:nvCxnSpPr>
              <p:cNvPr id="60" name="Straight Arrow Connector 59"/>
              <p:cNvCxnSpPr/>
              <p:nvPr/>
            </p:nvCxnSpPr>
            <p:spPr>
              <a:xfrm flipV="1">
                <a:off x="4920371" y="5486885"/>
                <a:ext cx="78576" cy="471184"/>
              </a:xfrm>
              <a:prstGeom prst="straightConnector1">
                <a:avLst/>
              </a:prstGeom>
              <a:ln w="28575" cmpd="sng">
                <a:headEnd type="none"/>
                <a:tailEnd type="non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/>
              <p:cNvCxnSpPr/>
              <p:nvPr/>
            </p:nvCxnSpPr>
            <p:spPr>
              <a:xfrm flipV="1">
                <a:off x="3055758" y="5486886"/>
                <a:ext cx="1778089" cy="471182"/>
              </a:xfrm>
              <a:prstGeom prst="straightConnector1">
                <a:avLst/>
              </a:prstGeom>
              <a:ln w="28575" cmpd="sng">
                <a:headEnd type="none"/>
                <a:tailEnd type="non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oup 96"/>
            <p:cNvGrpSpPr/>
            <p:nvPr/>
          </p:nvGrpSpPr>
          <p:grpSpPr>
            <a:xfrm>
              <a:off x="3055758" y="5860591"/>
              <a:ext cx="1864613" cy="860883"/>
              <a:chOff x="3055758" y="5860591"/>
              <a:chExt cx="1864613" cy="860883"/>
            </a:xfrm>
            <a:noFill/>
          </p:grpSpPr>
          <p:sp>
            <p:nvSpPr>
              <p:cNvPr id="7" name="Rectangle 6"/>
              <p:cNvSpPr/>
              <p:nvPr/>
            </p:nvSpPr>
            <p:spPr>
              <a:xfrm>
                <a:off x="3055758" y="5958068"/>
                <a:ext cx="1864613" cy="763406"/>
              </a:xfrm>
              <a:prstGeom prst="rect">
                <a:avLst/>
              </a:prstGeom>
              <a:grpFill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055758" y="5860591"/>
                <a:ext cx="1864613" cy="461665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>
                    <a:solidFill>
                      <a:schemeClr val="accent4">
                        <a:lumMod val="75000"/>
                      </a:schemeClr>
                    </a:solidFill>
                  </a:rPr>
                  <a:t>Replication Q</a:t>
                </a:r>
                <a:endParaRPr lang="en-US" sz="24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p:grpSp>
      </p:grpSp>
      <p:sp>
        <p:nvSpPr>
          <p:cNvPr id="76" name="Rectangle 75"/>
          <p:cNvSpPr/>
          <p:nvPr/>
        </p:nvSpPr>
        <p:spPr>
          <a:xfrm flipV="1">
            <a:off x="4798612" y="5413909"/>
            <a:ext cx="200336" cy="82021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1" name="Group 100"/>
          <p:cNvGrpSpPr/>
          <p:nvPr/>
        </p:nvGrpSpPr>
        <p:grpSpPr>
          <a:xfrm>
            <a:off x="4299213" y="6296856"/>
            <a:ext cx="582912" cy="421456"/>
            <a:chOff x="4299213" y="6296856"/>
            <a:chExt cx="582912" cy="421456"/>
          </a:xfrm>
        </p:grpSpPr>
        <p:sp>
          <p:nvSpPr>
            <p:cNvPr id="10" name="Rectangle 9"/>
            <p:cNvSpPr/>
            <p:nvPr/>
          </p:nvSpPr>
          <p:spPr>
            <a:xfrm>
              <a:off x="4334174" y="6296856"/>
              <a:ext cx="499673" cy="35127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299213" y="6355136"/>
              <a:ext cx="582912" cy="363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0000"/>
                </a:lnSpc>
              </a:pPr>
              <a:r>
                <a:rPr lang="en-US" sz="1600" dirty="0" smtClean="0"/>
                <a:t>put</a:t>
              </a:r>
            </a:p>
            <a:p>
              <a:r>
                <a:rPr lang="en-US" sz="1600" dirty="0" smtClean="0"/>
                <a:t>after</a:t>
              </a:r>
              <a:endParaRPr lang="en-US" sz="1600" dirty="0"/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4602527" y="4978175"/>
            <a:ext cx="1084907" cy="51193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r>
              <a:rPr lang="en-US" sz="2800" dirty="0" smtClean="0"/>
              <a:t>K:V</a:t>
            </a:r>
            <a:endParaRPr lang="en-US" sz="1400" dirty="0"/>
          </a:p>
        </p:txBody>
      </p:sp>
      <p:sp>
        <p:nvSpPr>
          <p:cNvPr id="62" name="Freeform 61"/>
          <p:cNvSpPr/>
          <p:nvPr/>
        </p:nvSpPr>
        <p:spPr>
          <a:xfrm rot="5400000">
            <a:off x="289147" y="4845527"/>
            <a:ext cx="819880" cy="138297"/>
          </a:xfrm>
          <a:custGeom>
            <a:avLst/>
            <a:gdLst>
              <a:gd name="connsiteX0" fmla="*/ 0 w 2810934"/>
              <a:gd name="connsiteY0" fmla="*/ 474147 h 474147"/>
              <a:gd name="connsiteX1" fmla="*/ 524934 w 2810934"/>
              <a:gd name="connsiteY1" fmla="*/ 13 h 474147"/>
              <a:gd name="connsiteX2" fmla="*/ 982134 w 2810934"/>
              <a:gd name="connsiteY2" fmla="*/ 457213 h 474147"/>
              <a:gd name="connsiteX3" fmla="*/ 1524000 w 2810934"/>
              <a:gd name="connsiteY3" fmla="*/ 50813 h 474147"/>
              <a:gd name="connsiteX4" fmla="*/ 1913467 w 2810934"/>
              <a:gd name="connsiteY4" fmla="*/ 406413 h 474147"/>
              <a:gd name="connsiteX5" fmla="*/ 2302934 w 2810934"/>
              <a:gd name="connsiteY5" fmla="*/ 101613 h 474147"/>
              <a:gd name="connsiteX6" fmla="*/ 2506134 w 2810934"/>
              <a:gd name="connsiteY6" fmla="*/ 423347 h 474147"/>
              <a:gd name="connsiteX7" fmla="*/ 2810934 w 2810934"/>
              <a:gd name="connsiteY7" fmla="*/ 220147 h 474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10934" h="474147">
                <a:moveTo>
                  <a:pt x="0" y="474147"/>
                </a:moveTo>
                <a:cubicBezTo>
                  <a:pt x="180622" y="238491"/>
                  <a:pt x="361245" y="2835"/>
                  <a:pt x="524934" y="13"/>
                </a:cubicBezTo>
                <a:cubicBezTo>
                  <a:pt x="688623" y="-2809"/>
                  <a:pt x="815623" y="448746"/>
                  <a:pt x="982134" y="457213"/>
                </a:cubicBezTo>
                <a:cubicBezTo>
                  <a:pt x="1148645" y="465680"/>
                  <a:pt x="1368778" y="59280"/>
                  <a:pt x="1524000" y="50813"/>
                </a:cubicBezTo>
                <a:cubicBezTo>
                  <a:pt x="1679222" y="42346"/>
                  <a:pt x="1783645" y="397946"/>
                  <a:pt x="1913467" y="406413"/>
                </a:cubicBezTo>
                <a:cubicBezTo>
                  <a:pt x="2043289" y="414880"/>
                  <a:pt x="2204156" y="98791"/>
                  <a:pt x="2302934" y="101613"/>
                </a:cubicBezTo>
                <a:cubicBezTo>
                  <a:pt x="2401712" y="104435"/>
                  <a:pt x="2421468" y="403591"/>
                  <a:pt x="2506134" y="423347"/>
                </a:cubicBezTo>
                <a:cubicBezTo>
                  <a:pt x="2590800" y="443103"/>
                  <a:pt x="2740378" y="304814"/>
                  <a:pt x="2810934" y="220147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/>
          <p:cNvGrpSpPr/>
          <p:nvPr/>
        </p:nvGrpSpPr>
        <p:grpSpPr>
          <a:xfrm>
            <a:off x="457200" y="674870"/>
            <a:ext cx="2805294" cy="1485536"/>
            <a:chOff x="369037" y="1315700"/>
            <a:chExt cx="2805294" cy="1485536"/>
          </a:xfrm>
        </p:grpSpPr>
        <p:grpSp>
          <p:nvGrpSpPr>
            <p:cNvPr id="16" name="Group 15"/>
            <p:cNvGrpSpPr/>
            <p:nvPr/>
          </p:nvGrpSpPr>
          <p:grpSpPr>
            <a:xfrm>
              <a:off x="369037" y="1315701"/>
              <a:ext cx="2805294" cy="1485535"/>
              <a:chOff x="153920" y="992536"/>
              <a:chExt cx="2805294" cy="1485535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1303730" y="992536"/>
                <a:ext cx="1655484" cy="14855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2800" dirty="0" smtClean="0"/>
                  <a:t>put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sz="2800" dirty="0" smtClean="0"/>
                  <a:t>+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sz="2800" dirty="0" smtClean="0"/>
                  <a:t>ordering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sz="2800" dirty="0" smtClean="0"/>
                  <a:t>metadata</a:t>
                </a:r>
                <a:endParaRPr lang="en-US" sz="2800" dirty="0"/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153920" y="1258250"/>
                <a:ext cx="1003448" cy="954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 smtClean="0"/>
                  <a:t>put</a:t>
                </a:r>
              </a:p>
              <a:p>
                <a:pPr algn="ctr"/>
                <a:r>
                  <a:rPr lang="en-US" sz="2800" dirty="0" smtClean="0"/>
                  <a:t>after </a:t>
                </a:r>
                <a:endParaRPr lang="en-US" sz="2800" dirty="0"/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768236" y="1412138"/>
                <a:ext cx="100344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 smtClean="0"/>
                  <a:t>=</a:t>
                </a:r>
                <a:endParaRPr lang="en-US" sz="3600" dirty="0"/>
              </a:p>
            </p:txBody>
          </p:sp>
        </p:grpSp>
        <p:sp>
          <p:nvSpPr>
            <p:cNvPr id="65" name="Rectangle 64"/>
            <p:cNvSpPr/>
            <p:nvPr/>
          </p:nvSpPr>
          <p:spPr>
            <a:xfrm>
              <a:off x="440178" y="1315700"/>
              <a:ext cx="2734153" cy="14855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300033" y="2491805"/>
            <a:ext cx="7625159" cy="4314335"/>
            <a:chOff x="147723" y="2562748"/>
            <a:chExt cx="7625159" cy="4314335"/>
          </a:xfrm>
        </p:grpSpPr>
        <p:sp>
          <p:nvSpPr>
            <p:cNvPr id="67" name="TextBox 66"/>
            <p:cNvSpPr txBox="1"/>
            <p:nvPr/>
          </p:nvSpPr>
          <p:spPr>
            <a:xfrm>
              <a:off x="1935304" y="2584591"/>
              <a:ext cx="2991725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chemeClr val="accent1">
                      <a:lumMod val="75000"/>
                    </a:schemeClr>
                  </a:solidFill>
                </a:rPr>
                <a:t>Local Datacenter</a:t>
              </a:r>
              <a:endParaRPr lang="en-US" sz="3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8" name="Round Same Side Corner Rectangle 67"/>
            <p:cNvSpPr/>
            <p:nvPr/>
          </p:nvSpPr>
          <p:spPr>
            <a:xfrm rot="5400000">
              <a:off x="1803135" y="907336"/>
              <a:ext cx="4314335" cy="7625159"/>
            </a:xfrm>
            <a:prstGeom prst="round2SameRect">
              <a:avLst/>
            </a:prstGeom>
            <a:noFill/>
            <a:ln w="76200" cmpd="sng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/>
          <p:cNvCxnSpPr>
            <a:stCxn id="7" idx="3"/>
          </p:cNvCxnSpPr>
          <p:nvPr/>
        </p:nvCxnSpPr>
        <p:spPr>
          <a:xfrm flipV="1">
            <a:off x="4920371" y="2160406"/>
            <a:ext cx="2402020" cy="417936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7" idx="3"/>
          </p:cNvCxnSpPr>
          <p:nvPr/>
        </p:nvCxnSpPr>
        <p:spPr>
          <a:xfrm flipV="1">
            <a:off x="4920371" y="3356114"/>
            <a:ext cx="3219829" cy="298365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2047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7" grpId="0"/>
      <p:bldP spid="37" grpId="0"/>
      <p:bldP spid="56" grpId="0"/>
      <p:bldP spid="76" grpId="0" animBg="1"/>
      <p:bldP spid="6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Dependencies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Dependencies are explicit metadata on values</a:t>
            </a:r>
          </a:p>
          <a:p>
            <a:r>
              <a:rPr lang="en-US" dirty="0"/>
              <a:t>Library tracks and attaches them to </a:t>
            </a:r>
            <a:r>
              <a:rPr lang="en-US" dirty="0" err="1"/>
              <a:t>put_afters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3876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Dependencies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Dependencies are explicit metadata on values</a:t>
            </a:r>
          </a:p>
          <a:p>
            <a:r>
              <a:rPr lang="en-US" dirty="0" smtClean="0"/>
              <a:t>Library tracks and attaches them to </a:t>
            </a:r>
            <a:r>
              <a:rPr lang="en-US" dirty="0" err="1" smtClean="0"/>
              <a:t>put_afters</a:t>
            </a:r>
            <a:endParaRPr lang="en-US" dirty="0" smtClean="0"/>
          </a:p>
        </p:txBody>
      </p:sp>
      <p:grpSp>
        <p:nvGrpSpPr>
          <p:cNvPr id="9" name="Group 8"/>
          <p:cNvGrpSpPr/>
          <p:nvPr/>
        </p:nvGrpSpPr>
        <p:grpSpPr>
          <a:xfrm>
            <a:off x="573898" y="3031992"/>
            <a:ext cx="4226701" cy="3597408"/>
            <a:chOff x="76961" y="3063179"/>
            <a:chExt cx="4226701" cy="3597408"/>
          </a:xfrm>
        </p:grpSpPr>
        <p:sp>
          <p:nvSpPr>
            <p:cNvPr id="17" name="Rectangle 16"/>
            <p:cNvSpPr/>
            <p:nvPr/>
          </p:nvSpPr>
          <p:spPr>
            <a:xfrm>
              <a:off x="76961" y="3063179"/>
              <a:ext cx="4226701" cy="3597408"/>
            </a:xfrm>
            <a:prstGeom prst="rect">
              <a:avLst/>
            </a:prstGeom>
            <a:ln w="38100" cmpd="sng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891565" y="3176473"/>
              <a:ext cx="1270982" cy="3369813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5" name="Straight Arrow Connector 14"/>
          <p:cNvCxnSpPr/>
          <p:nvPr/>
        </p:nvCxnSpPr>
        <p:spPr>
          <a:xfrm>
            <a:off x="867812" y="4436136"/>
            <a:ext cx="2520690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7812" y="3851360"/>
            <a:ext cx="252069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put</a:t>
            </a:r>
            <a:r>
              <a:rPr lang="en-US" sz="3200" dirty="0" smtClean="0"/>
              <a:t>(Key, Val)</a:t>
            </a:r>
            <a:endParaRPr lang="en-US" sz="3200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4659484" y="4043507"/>
            <a:ext cx="4382916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659485" y="3360581"/>
            <a:ext cx="438291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put_after</a:t>
            </a:r>
            <a:r>
              <a:rPr lang="en-US" sz="3200" dirty="0"/>
              <a:t>(</a:t>
            </a:r>
            <a:r>
              <a:rPr lang="en-US" sz="3200" dirty="0" err="1" smtClean="0"/>
              <a:t>Key,Val,</a:t>
            </a:r>
            <a:r>
              <a:rPr lang="en-US" sz="3200" dirty="0" err="1" smtClean="0">
                <a:solidFill>
                  <a:schemeClr val="accent2">
                    <a:lumMod val="75000"/>
                  </a:schemeClr>
                </a:solidFill>
              </a:rPr>
              <a:t>deps</a:t>
            </a:r>
            <a:r>
              <a:rPr lang="en-US" sz="3200" dirty="0" smtClean="0"/>
              <a:t>)</a:t>
            </a:r>
            <a:endParaRPr lang="en-US" sz="3200" dirty="0"/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867812" y="4914477"/>
            <a:ext cx="2520690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4659484" y="5205842"/>
            <a:ext cx="4382916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659485" y="4621066"/>
            <a:ext cx="438291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version</a:t>
            </a:r>
            <a:endParaRPr lang="en-US" sz="3200" dirty="0"/>
          </a:p>
        </p:txBody>
      </p:sp>
      <p:sp>
        <p:nvSpPr>
          <p:cNvPr id="12" name="Rectangle 11"/>
          <p:cNvSpPr/>
          <p:nvPr/>
        </p:nvSpPr>
        <p:spPr>
          <a:xfrm>
            <a:off x="3479800" y="4406900"/>
            <a:ext cx="1103484" cy="2031999"/>
          </a:xfrm>
          <a:prstGeom prst="rect">
            <a:avLst/>
          </a:prstGeom>
          <a:solidFill>
            <a:schemeClr val="bg1">
              <a:alpha val="0"/>
            </a:schemeClr>
          </a:solidFill>
          <a:ln w="19050" cmpd="sng">
            <a:solidFill>
              <a:schemeClr val="accent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800" u="sng" dirty="0" smtClean="0"/>
              <a:t>deps</a:t>
            </a:r>
          </a:p>
          <a:p>
            <a:pPr>
              <a:lnSpc>
                <a:spcPct val="70000"/>
              </a:lnSpc>
            </a:pPr>
            <a:r>
              <a:rPr lang="en-US" sz="2800" dirty="0"/>
              <a:t>. . .  </a:t>
            </a:r>
          </a:p>
          <a:p>
            <a:pPr>
              <a:lnSpc>
                <a:spcPct val="70000"/>
              </a:lnSpc>
            </a:pPr>
            <a:r>
              <a:rPr lang="en-US" sz="2800" b="1" dirty="0" err="1" smtClean="0"/>
              <a:t>K</a:t>
            </a:r>
            <a:r>
              <a:rPr lang="en-US" sz="2800" b="1" baseline="-25000" dirty="0" err="1" smtClean="0"/>
              <a:t>version</a:t>
            </a:r>
            <a:endParaRPr lang="en-US" sz="2800" dirty="0"/>
          </a:p>
          <a:p>
            <a:pPr algn="ctr"/>
            <a:endParaRPr lang="en-US" sz="2800" dirty="0"/>
          </a:p>
        </p:txBody>
      </p:sp>
      <p:grpSp>
        <p:nvGrpSpPr>
          <p:cNvPr id="27" name="Group 26"/>
          <p:cNvGrpSpPr/>
          <p:nvPr/>
        </p:nvGrpSpPr>
        <p:grpSpPr>
          <a:xfrm>
            <a:off x="4572001" y="5488034"/>
            <a:ext cx="3275892" cy="400110"/>
            <a:chOff x="4572001" y="5488034"/>
            <a:chExt cx="3275892" cy="400110"/>
          </a:xfrm>
        </p:grpSpPr>
        <p:sp>
          <p:nvSpPr>
            <p:cNvPr id="20" name="TextBox 19"/>
            <p:cNvSpPr txBox="1"/>
            <p:nvPr/>
          </p:nvSpPr>
          <p:spPr>
            <a:xfrm>
              <a:off x="4824585" y="5488034"/>
              <a:ext cx="30233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(Thread-Of-Execution Rule)</a:t>
              </a:r>
              <a:endParaRPr lang="en-US" sz="2000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 flipH="1" flipV="1">
              <a:off x="4572001" y="5538835"/>
              <a:ext cx="303384" cy="1746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Freeform 18"/>
          <p:cNvSpPr/>
          <p:nvPr/>
        </p:nvSpPr>
        <p:spPr>
          <a:xfrm rot="5400000">
            <a:off x="289147" y="4592919"/>
            <a:ext cx="819880" cy="138297"/>
          </a:xfrm>
          <a:custGeom>
            <a:avLst/>
            <a:gdLst>
              <a:gd name="connsiteX0" fmla="*/ 0 w 2810934"/>
              <a:gd name="connsiteY0" fmla="*/ 474147 h 474147"/>
              <a:gd name="connsiteX1" fmla="*/ 524934 w 2810934"/>
              <a:gd name="connsiteY1" fmla="*/ 13 h 474147"/>
              <a:gd name="connsiteX2" fmla="*/ 982134 w 2810934"/>
              <a:gd name="connsiteY2" fmla="*/ 457213 h 474147"/>
              <a:gd name="connsiteX3" fmla="*/ 1524000 w 2810934"/>
              <a:gd name="connsiteY3" fmla="*/ 50813 h 474147"/>
              <a:gd name="connsiteX4" fmla="*/ 1913467 w 2810934"/>
              <a:gd name="connsiteY4" fmla="*/ 406413 h 474147"/>
              <a:gd name="connsiteX5" fmla="*/ 2302934 w 2810934"/>
              <a:gd name="connsiteY5" fmla="*/ 101613 h 474147"/>
              <a:gd name="connsiteX6" fmla="*/ 2506134 w 2810934"/>
              <a:gd name="connsiteY6" fmla="*/ 423347 h 474147"/>
              <a:gd name="connsiteX7" fmla="*/ 2810934 w 2810934"/>
              <a:gd name="connsiteY7" fmla="*/ 220147 h 474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10934" h="474147">
                <a:moveTo>
                  <a:pt x="0" y="474147"/>
                </a:moveTo>
                <a:cubicBezTo>
                  <a:pt x="180622" y="238491"/>
                  <a:pt x="361245" y="2835"/>
                  <a:pt x="524934" y="13"/>
                </a:cubicBezTo>
                <a:cubicBezTo>
                  <a:pt x="688623" y="-2809"/>
                  <a:pt x="815623" y="448746"/>
                  <a:pt x="982134" y="457213"/>
                </a:cubicBezTo>
                <a:cubicBezTo>
                  <a:pt x="1148645" y="465680"/>
                  <a:pt x="1368778" y="59280"/>
                  <a:pt x="1524000" y="50813"/>
                </a:cubicBezTo>
                <a:cubicBezTo>
                  <a:pt x="1679222" y="42346"/>
                  <a:pt x="1783645" y="397946"/>
                  <a:pt x="1913467" y="406413"/>
                </a:cubicBezTo>
                <a:cubicBezTo>
                  <a:pt x="2043289" y="414880"/>
                  <a:pt x="2204156" y="98791"/>
                  <a:pt x="2302934" y="101613"/>
                </a:cubicBezTo>
                <a:cubicBezTo>
                  <a:pt x="2401712" y="104435"/>
                  <a:pt x="2421468" y="403591"/>
                  <a:pt x="2506134" y="423347"/>
                </a:cubicBezTo>
                <a:cubicBezTo>
                  <a:pt x="2590800" y="443103"/>
                  <a:pt x="2740378" y="304814"/>
                  <a:pt x="2810934" y="220147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96072" y="3045083"/>
            <a:ext cx="1706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Client 1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1213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4" grpId="0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Dependencies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Dependencies are explicit metadata on values</a:t>
            </a:r>
          </a:p>
          <a:p>
            <a:r>
              <a:rPr lang="en-US" dirty="0"/>
              <a:t>Library tracks and attaches them to </a:t>
            </a:r>
            <a:r>
              <a:rPr lang="en-US" dirty="0" err="1"/>
              <a:t>put_afters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573898" y="3031992"/>
            <a:ext cx="4226701" cy="3597408"/>
            <a:chOff x="76961" y="3063179"/>
            <a:chExt cx="4226701" cy="3597408"/>
          </a:xfrm>
        </p:grpSpPr>
        <p:sp>
          <p:nvSpPr>
            <p:cNvPr id="17" name="Rectangle 16"/>
            <p:cNvSpPr/>
            <p:nvPr/>
          </p:nvSpPr>
          <p:spPr>
            <a:xfrm>
              <a:off x="76961" y="3063179"/>
              <a:ext cx="4226701" cy="3597408"/>
            </a:xfrm>
            <a:prstGeom prst="rect">
              <a:avLst/>
            </a:prstGeom>
            <a:ln w="38100" cmpd="sng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891565" y="3176473"/>
              <a:ext cx="1270982" cy="3369813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3479800" y="4406900"/>
            <a:ext cx="1103484" cy="2031999"/>
          </a:xfrm>
          <a:prstGeom prst="rect">
            <a:avLst/>
          </a:prstGeom>
          <a:solidFill>
            <a:schemeClr val="bg1">
              <a:alpha val="0"/>
            </a:schemeClr>
          </a:solidFill>
          <a:ln w="19050" cmpd="sng">
            <a:solidFill>
              <a:schemeClr val="accent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800" u="sng" dirty="0" smtClean="0"/>
              <a:t>deps</a:t>
            </a:r>
          </a:p>
          <a:p>
            <a:pPr>
              <a:lnSpc>
                <a:spcPct val="70000"/>
              </a:lnSpc>
            </a:pPr>
            <a:r>
              <a:rPr lang="en-US" sz="2800" dirty="0"/>
              <a:t>. . .  </a:t>
            </a:r>
          </a:p>
          <a:p>
            <a:pPr>
              <a:lnSpc>
                <a:spcPct val="70000"/>
              </a:lnSpc>
            </a:pPr>
            <a:r>
              <a:rPr lang="en-US" sz="2800" b="1" dirty="0" err="1" smtClean="0"/>
              <a:t>K</a:t>
            </a:r>
            <a:r>
              <a:rPr lang="en-US" sz="2800" b="1" baseline="-25000" dirty="0" err="1" smtClean="0"/>
              <a:t>version</a:t>
            </a:r>
            <a:endParaRPr lang="en-US" sz="2800" dirty="0"/>
          </a:p>
          <a:p>
            <a:r>
              <a:rPr lang="en-US" sz="2800" b="1" dirty="0"/>
              <a:t>L</a:t>
            </a:r>
            <a:r>
              <a:rPr lang="en-US" sz="2800" b="1" baseline="-25000" dirty="0"/>
              <a:t>337</a:t>
            </a:r>
            <a:endParaRPr lang="en-US" sz="2800" dirty="0"/>
          </a:p>
          <a:p>
            <a:r>
              <a:rPr lang="en-US" sz="2800" b="1" dirty="0"/>
              <a:t>M</a:t>
            </a:r>
            <a:r>
              <a:rPr lang="en-US" sz="2800" b="1" baseline="-25000" dirty="0"/>
              <a:t>195</a:t>
            </a:r>
            <a:r>
              <a:rPr lang="en-US" sz="2800" dirty="0"/>
              <a:t> </a:t>
            </a:r>
          </a:p>
          <a:p>
            <a:pPr algn="ctr"/>
            <a:endParaRPr lang="en-US" sz="2800" dirty="0"/>
          </a:p>
        </p:txBody>
      </p:sp>
      <p:grpSp>
        <p:nvGrpSpPr>
          <p:cNvPr id="27" name="Group 26"/>
          <p:cNvGrpSpPr/>
          <p:nvPr/>
        </p:nvGrpSpPr>
        <p:grpSpPr>
          <a:xfrm>
            <a:off x="4572001" y="5488034"/>
            <a:ext cx="2247899" cy="400110"/>
            <a:chOff x="4572001" y="5488034"/>
            <a:chExt cx="2247899" cy="400110"/>
          </a:xfrm>
        </p:grpSpPr>
        <p:sp>
          <p:nvSpPr>
            <p:cNvPr id="20" name="TextBox 19"/>
            <p:cNvSpPr txBox="1"/>
            <p:nvPr/>
          </p:nvSpPr>
          <p:spPr>
            <a:xfrm>
              <a:off x="4824585" y="5488034"/>
              <a:ext cx="19953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(Gets-From Rule)</a:t>
              </a:r>
              <a:endParaRPr lang="en-US" sz="2000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 flipH="1" flipV="1">
              <a:off x="4572001" y="5538835"/>
              <a:ext cx="303384" cy="1746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/>
          <p:cNvCxnSpPr/>
          <p:nvPr/>
        </p:nvCxnSpPr>
        <p:spPr>
          <a:xfrm>
            <a:off x="867812" y="4399253"/>
            <a:ext cx="2520690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67812" y="3822124"/>
            <a:ext cx="252069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get(K)</a:t>
            </a:r>
            <a:endParaRPr lang="en-US" sz="3200" dirty="0"/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4659484" y="3730062"/>
            <a:ext cx="4027316" cy="1482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59484" y="3145286"/>
            <a:ext cx="402731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get(K)</a:t>
            </a:r>
            <a:endParaRPr lang="en-US" sz="3200" dirty="0"/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4659484" y="4618923"/>
            <a:ext cx="4027316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659484" y="4072635"/>
            <a:ext cx="4027316" cy="589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value,version,</a:t>
            </a:r>
            <a:r>
              <a:rPr lang="en-US" sz="3200" dirty="0" smtClean="0">
                <a:solidFill>
                  <a:srgbClr val="4F6228"/>
                </a:solidFill>
              </a:rPr>
              <a:t>deps</a:t>
            </a:r>
            <a:r>
              <a:rPr lang="fr-FR" sz="3200" dirty="0">
                <a:solidFill>
                  <a:srgbClr val="4F6228"/>
                </a:solidFill>
              </a:rPr>
              <a:t>'</a:t>
            </a:r>
            <a:endParaRPr lang="en-US" sz="3200" dirty="0">
              <a:solidFill>
                <a:srgbClr val="4F6228"/>
              </a:solidFill>
              <a:latin typeface="Arial"/>
              <a:cs typeface="Arial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817012" y="4406900"/>
            <a:ext cx="2520690" cy="584776"/>
            <a:chOff x="1744112" y="3332088"/>
            <a:chExt cx="2520690" cy="584776"/>
          </a:xfrm>
        </p:grpSpPr>
        <p:cxnSp>
          <p:nvCxnSpPr>
            <p:cNvPr id="37" name="Straight Arrow Connector 36"/>
            <p:cNvCxnSpPr/>
            <p:nvPr/>
          </p:nvCxnSpPr>
          <p:spPr>
            <a:xfrm flipH="1">
              <a:off x="1744112" y="3868844"/>
              <a:ext cx="2520690" cy="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1744112" y="3332088"/>
              <a:ext cx="2520690" cy="584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 smtClean="0"/>
                <a:t>value</a:t>
              </a:r>
              <a:endParaRPr lang="en-US" sz="3200" dirty="0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569169" y="6038789"/>
            <a:ext cx="2247899" cy="400110"/>
            <a:chOff x="4572001" y="5488034"/>
            <a:chExt cx="2247899" cy="400110"/>
          </a:xfrm>
        </p:grpSpPr>
        <p:sp>
          <p:nvSpPr>
            <p:cNvPr id="41" name="TextBox 40"/>
            <p:cNvSpPr txBox="1"/>
            <p:nvPr/>
          </p:nvSpPr>
          <p:spPr>
            <a:xfrm>
              <a:off x="4824585" y="5488034"/>
              <a:ext cx="19953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(Transitivity Rule)</a:t>
              </a:r>
              <a:endParaRPr lang="en-US" sz="2000" dirty="0"/>
            </a:p>
          </p:txBody>
        </p:sp>
        <p:cxnSp>
          <p:nvCxnSpPr>
            <p:cNvPr id="42" name="Straight Connector 41"/>
            <p:cNvCxnSpPr/>
            <p:nvPr/>
          </p:nvCxnSpPr>
          <p:spPr>
            <a:xfrm flipH="1" flipV="1">
              <a:off x="4572001" y="5538835"/>
              <a:ext cx="303384" cy="1746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/>
          <p:cNvGrpSpPr/>
          <p:nvPr/>
        </p:nvGrpSpPr>
        <p:grpSpPr>
          <a:xfrm>
            <a:off x="7396666" y="4644711"/>
            <a:ext cx="797754" cy="1985248"/>
            <a:chOff x="7687262" y="3932952"/>
            <a:chExt cx="797754" cy="1985248"/>
          </a:xfrm>
        </p:grpSpPr>
        <p:cxnSp>
          <p:nvCxnSpPr>
            <p:cNvPr id="44" name="Straight Connector 43"/>
            <p:cNvCxnSpPr/>
            <p:nvPr/>
          </p:nvCxnSpPr>
          <p:spPr>
            <a:xfrm flipH="1">
              <a:off x="7687262" y="3932952"/>
              <a:ext cx="100095" cy="848081"/>
            </a:xfrm>
            <a:prstGeom prst="line">
              <a:avLst/>
            </a:prstGeom>
            <a:ln>
              <a:solidFill>
                <a:srgbClr val="4F6228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5" name="Rectangle 44"/>
            <p:cNvSpPr/>
            <p:nvPr/>
          </p:nvSpPr>
          <p:spPr>
            <a:xfrm>
              <a:off x="7697705" y="4818525"/>
              <a:ext cx="787311" cy="1099675"/>
            </a:xfrm>
            <a:prstGeom prst="rect">
              <a:avLst/>
            </a:prstGeom>
            <a:gradFill>
              <a:gsLst>
                <a:gs pos="0">
                  <a:schemeClr val="accent3">
                    <a:lumMod val="50000"/>
                  </a:schemeClr>
                </a:gs>
                <a:gs pos="70000">
                  <a:schemeClr val="accent3">
                    <a:lumMod val="60000"/>
                    <a:lumOff val="40000"/>
                  </a:schemeClr>
                </a:gs>
                <a:gs pos="71000">
                  <a:schemeClr val="bg1"/>
                </a:gs>
              </a:gsLst>
            </a:gradFill>
            <a:ln w="38100" cmpd="sng">
              <a:solidFill>
                <a:schemeClr val="accent3">
                  <a:lumMod val="50000"/>
                </a:schemeClr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70000"/>
                </a:lnSpc>
              </a:pPr>
              <a:r>
                <a:rPr lang="en-US" sz="2000" dirty="0" smtClean="0">
                  <a:solidFill>
                    <a:schemeClr val="accent3">
                      <a:lumMod val="50000"/>
                    </a:schemeClr>
                  </a:solidFill>
                </a:rPr>
                <a:t>deps</a:t>
              </a:r>
              <a:r>
                <a:rPr lang="fr-FR" sz="2000" dirty="0">
                  <a:solidFill>
                    <a:srgbClr val="4F6228"/>
                  </a:solidFill>
                </a:rPr>
                <a:t>'</a:t>
              </a:r>
              <a:endParaRPr lang="en-US" sz="2000" dirty="0" smtClean="0">
                <a:solidFill>
                  <a:schemeClr val="accent3">
                    <a:lumMod val="50000"/>
                  </a:schemeClr>
                </a:solidFill>
              </a:endParaRPr>
            </a:p>
            <a:p>
              <a:pPr>
                <a:lnSpc>
                  <a:spcPct val="120000"/>
                </a:lnSpc>
              </a:pPr>
              <a:r>
                <a:rPr lang="en-US" sz="2000" b="1" dirty="0" smtClean="0"/>
                <a:t>L</a:t>
              </a:r>
              <a:r>
                <a:rPr lang="en-US" sz="2000" b="1" baseline="-25000" dirty="0" smtClean="0"/>
                <a:t>337</a:t>
              </a:r>
            </a:p>
            <a:p>
              <a:r>
                <a:rPr lang="en-US" sz="2000" b="1" dirty="0" smtClean="0"/>
                <a:t>M</a:t>
              </a:r>
              <a:r>
                <a:rPr lang="en-US" sz="2000" b="1" baseline="-25000" dirty="0" smtClean="0"/>
                <a:t>195</a:t>
              </a:r>
            </a:p>
          </p:txBody>
        </p:sp>
        <p:cxnSp>
          <p:nvCxnSpPr>
            <p:cNvPr id="46" name="Straight Connector 45"/>
            <p:cNvCxnSpPr/>
            <p:nvPr/>
          </p:nvCxnSpPr>
          <p:spPr>
            <a:xfrm>
              <a:off x="8384920" y="3950308"/>
              <a:ext cx="100095" cy="848081"/>
            </a:xfrm>
            <a:prstGeom prst="line">
              <a:avLst/>
            </a:prstGeom>
            <a:ln>
              <a:solidFill>
                <a:srgbClr val="4F6228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7" name="Freeform 46"/>
          <p:cNvSpPr/>
          <p:nvPr/>
        </p:nvSpPr>
        <p:spPr>
          <a:xfrm rot="5400000">
            <a:off x="289147" y="4592919"/>
            <a:ext cx="819880" cy="138297"/>
          </a:xfrm>
          <a:custGeom>
            <a:avLst/>
            <a:gdLst>
              <a:gd name="connsiteX0" fmla="*/ 0 w 2810934"/>
              <a:gd name="connsiteY0" fmla="*/ 474147 h 474147"/>
              <a:gd name="connsiteX1" fmla="*/ 524934 w 2810934"/>
              <a:gd name="connsiteY1" fmla="*/ 13 h 474147"/>
              <a:gd name="connsiteX2" fmla="*/ 982134 w 2810934"/>
              <a:gd name="connsiteY2" fmla="*/ 457213 h 474147"/>
              <a:gd name="connsiteX3" fmla="*/ 1524000 w 2810934"/>
              <a:gd name="connsiteY3" fmla="*/ 50813 h 474147"/>
              <a:gd name="connsiteX4" fmla="*/ 1913467 w 2810934"/>
              <a:gd name="connsiteY4" fmla="*/ 406413 h 474147"/>
              <a:gd name="connsiteX5" fmla="*/ 2302934 w 2810934"/>
              <a:gd name="connsiteY5" fmla="*/ 101613 h 474147"/>
              <a:gd name="connsiteX6" fmla="*/ 2506134 w 2810934"/>
              <a:gd name="connsiteY6" fmla="*/ 423347 h 474147"/>
              <a:gd name="connsiteX7" fmla="*/ 2810934 w 2810934"/>
              <a:gd name="connsiteY7" fmla="*/ 220147 h 474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10934" h="474147">
                <a:moveTo>
                  <a:pt x="0" y="474147"/>
                </a:moveTo>
                <a:cubicBezTo>
                  <a:pt x="180622" y="238491"/>
                  <a:pt x="361245" y="2835"/>
                  <a:pt x="524934" y="13"/>
                </a:cubicBezTo>
                <a:cubicBezTo>
                  <a:pt x="688623" y="-2809"/>
                  <a:pt x="815623" y="448746"/>
                  <a:pt x="982134" y="457213"/>
                </a:cubicBezTo>
                <a:cubicBezTo>
                  <a:pt x="1148645" y="465680"/>
                  <a:pt x="1368778" y="59280"/>
                  <a:pt x="1524000" y="50813"/>
                </a:cubicBezTo>
                <a:cubicBezTo>
                  <a:pt x="1679222" y="42346"/>
                  <a:pt x="1783645" y="397946"/>
                  <a:pt x="1913467" y="406413"/>
                </a:cubicBezTo>
                <a:cubicBezTo>
                  <a:pt x="2043289" y="414880"/>
                  <a:pt x="2204156" y="98791"/>
                  <a:pt x="2302934" y="101613"/>
                </a:cubicBezTo>
                <a:cubicBezTo>
                  <a:pt x="2401712" y="104435"/>
                  <a:pt x="2421468" y="403591"/>
                  <a:pt x="2506134" y="423347"/>
                </a:cubicBezTo>
                <a:cubicBezTo>
                  <a:pt x="2590800" y="443103"/>
                  <a:pt x="2740378" y="304814"/>
                  <a:pt x="2810934" y="220147"/>
                </a:cubicBezTo>
              </a:path>
            </a:pathLst>
          </a:cu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596072" y="3045083"/>
            <a:ext cx="1706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Client 2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6014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32" grpId="0"/>
      <p:bldP spid="32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Causal+ Replication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4586363" y="1569869"/>
            <a:ext cx="4336597" cy="4667633"/>
            <a:chOff x="4586363" y="1569869"/>
            <a:chExt cx="4336597" cy="4667633"/>
          </a:xfrm>
        </p:grpSpPr>
        <p:grpSp>
          <p:nvGrpSpPr>
            <p:cNvPr id="3" name="Group 2"/>
            <p:cNvGrpSpPr/>
            <p:nvPr/>
          </p:nvGrpSpPr>
          <p:grpSpPr>
            <a:xfrm>
              <a:off x="4586363" y="2685728"/>
              <a:ext cx="3113488" cy="3551774"/>
              <a:chOff x="4586363" y="2015342"/>
              <a:chExt cx="3113488" cy="3551774"/>
            </a:xfrm>
          </p:grpSpPr>
          <p:sp>
            <p:nvSpPr>
              <p:cNvPr id="127" name="Oval 126"/>
              <p:cNvSpPr/>
              <p:nvPr/>
            </p:nvSpPr>
            <p:spPr>
              <a:xfrm>
                <a:off x="4732672" y="2350535"/>
                <a:ext cx="2837879" cy="2937147"/>
              </a:xfrm>
              <a:prstGeom prst="ellipse">
                <a:avLst/>
              </a:prstGeom>
              <a:noFill/>
              <a:ln w="5715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/>
              <p:cNvSpPr/>
              <p:nvPr/>
            </p:nvSpPr>
            <p:spPr>
              <a:xfrm>
                <a:off x="5825693" y="2015342"/>
                <a:ext cx="651836" cy="670386"/>
              </a:xfrm>
              <a:prstGeom prst="ellipse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Oval 140"/>
              <p:cNvSpPr/>
              <p:nvPr/>
            </p:nvSpPr>
            <p:spPr>
              <a:xfrm>
                <a:off x="4586363" y="2737040"/>
                <a:ext cx="651836" cy="670386"/>
              </a:xfrm>
              <a:prstGeom prst="ellipse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5825693" y="4896730"/>
                <a:ext cx="651836" cy="670386"/>
              </a:xfrm>
              <a:prstGeom prst="ellipse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7048015" y="4244289"/>
                <a:ext cx="651836" cy="670386"/>
              </a:xfrm>
              <a:prstGeom prst="ellipse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7048015" y="2724212"/>
                <a:ext cx="651836" cy="670386"/>
              </a:xfrm>
              <a:prstGeom prst="ellipse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Oval 127"/>
              <p:cNvSpPr/>
              <p:nvPr/>
            </p:nvSpPr>
            <p:spPr>
              <a:xfrm>
                <a:off x="4586363" y="4244289"/>
                <a:ext cx="651836" cy="670386"/>
              </a:xfrm>
              <a:prstGeom prst="ellipse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 flipH="1">
              <a:off x="8390152" y="2491803"/>
              <a:ext cx="532808" cy="607812"/>
              <a:chOff x="4586363" y="2015342"/>
              <a:chExt cx="3113488" cy="3551774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4732672" y="2350535"/>
                <a:ext cx="2837879" cy="2937147"/>
              </a:xfrm>
              <a:prstGeom prst="ellipse">
                <a:avLst/>
              </a:prstGeom>
              <a:noFill/>
              <a:ln w="952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4586363" y="4244289"/>
                <a:ext cx="651836" cy="670386"/>
              </a:xfrm>
              <a:prstGeom prst="ellipse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5825693" y="2015342"/>
                <a:ext cx="651836" cy="670386"/>
              </a:xfrm>
              <a:prstGeom prst="ellipse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4586363" y="2737040"/>
                <a:ext cx="651836" cy="670386"/>
              </a:xfrm>
              <a:prstGeom prst="ellipse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5825693" y="4896730"/>
                <a:ext cx="651836" cy="670386"/>
              </a:xfrm>
              <a:prstGeom prst="ellipse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7048015" y="4244289"/>
                <a:ext cx="651836" cy="670386"/>
              </a:xfrm>
              <a:prstGeom prst="ellipse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7048015" y="2724212"/>
                <a:ext cx="651836" cy="670386"/>
              </a:xfrm>
              <a:prstGeom prst="ellipse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 flipH="1">
              <a:off x="7048015" y="1569869"/>
              <a:ext cx="877179" cy="1000660"/>
              <a:chOff x="4586363" y="2015342"/>
              <a:chExt cx="3113488" cy="3551774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4732672" y="2350535"/>
                <a:ext cx="2837879" cy="2937147"/>
              </a:xfrm>
              <a:prstGeom prst="ellipse">
                <a:avLst/>
              </a:prstGeom>
              <a:noFill/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4586363" y="4244289"/>
                <a:ext cx="651836" cy="670386"/>
              </a:xfrm>
              <a:prstGeom prst="ellipse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5825693" y="2015342"/>
                <a:ext cx="651836" cy="670386"/>
              </a:xfrm>
              <a:prstGeom prst="ellipse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4586363" y="2737040"/>
                <a:ext cx="651836" cy="670386"/>
              </a:xfrm>
              <a:prstGeom prst="ellipse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5825693" y="4896730"/>
                <a:ext cx="651836" cy="670386"/>
              </a:xfrm>
              <a:prstGeom prst="ellipse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7048015" y="4244289"/>
                <a:ext cx="651836" cy="670386"/>
              </a:xfrm>
              <a:prstGeom prst="ellipse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7048015" y="2724212"/>
                <a:ext cx="651836" cy="670386"/>
              </a:xfrm>
              <a:prstGeom prst="ellipse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51" name="Straight Arrow Connector 50"/>
          <p:cNvCxnSpPr>
            <a:stCxn id="7" idx="3"/>
            <a:endCxn id="30" idx="5"/>
          </p:cNvCxnSpPr>
          <p:nvPr/>
        </p:nvCxnSpPr>
        <p:spPr>
          <a:xfrm flipV="1">
            <a:off x="4920371" y="2542869"/>
            <a:ext cx="2498909" cy="379690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7" idx="3"/>
            <a:endCxn id="24" idx="6"/>
          </p:cNvCxnSpPr>
          <p:nvPr/>
        </p:nvCxnSpPr>
        <p:spPr>
          <a:xfrm flipV="1">
            <a:off x="4920371" y="2670473"/>
            <a:ext cx="3469781" cy="366929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 rot="19871878">
            <a:off x="3689910" y="1517190"/>
            <a:ext cx="294253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Key-Value Store</a:t>
            </a:r>
            <a:endParaRPr lang="en-US" sz="3200" dirty="0"/>
          </a:p>
        </p:txBody>
      </p:sp>
      <p:grpSp>
        <p:nvGrpSpPr>
          <p:cNvPr id="99" name="Group 98"/>
          <p:cNvGrpSpPr/>
          <p:nvPr/>
        </p:nvGrpSpPr>
        <p:grpSpPr>
          <a:xfrm>
            <a:off x="3055758" y="5486885"/>
            <a:ext cx="1943189" cy="1234589"/>
            <a:chOff x="3055758" y="5486885"/>
            <a:chExt cx="1943189" cy="1234589"/>
          </a:xfrm>
        </p:grpSpPr>
        <p:grpSp>
          <p:nvGrpSpPr>
            <p:cNvPr id="98" name="Group 97"/>
            <p:cNvGrpSpPr/>
            <p:nvPr/>
          </p:nvGrpSpPr>
          <p:grpSpPr>
            <a:xfrm>
              <a:off x="3055758" y="5486885"/>
              <a:ext cx="1943189" cy="471184"/>
              <a:chOff x="3055758" y="5486885"/>
              <a:chExt cx="1943189" cy="471184"/>
            </a:xfrm>
          </p:grpSpPr>
          <p:cxnSp>
            <p:nvCxnSpPr>
              <p:cNvPr id="60" name="Straight Arrow Connector 59"/>
              <p:cNvCxnSpPr/>
              <p:nvPr/>
            </p:nvCxnSpPr>
            <p:spPr>
              <a:xfrm flipV="1">
                <a:off x="4920371" y="5486885"/>
                <a:ext cx="78576" cy="471184"/>
              </a:xfrm>
              <a:prstGeom prst="straightConnector1">
                <a:avLst/>
              </a:prstGeom>
              <a:ln w="28575" cmpd="sng">
                <a:headEnd type="none"/>
                <a:tailEnd type="non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/>
              <p:cNvCxnSpPr/>
              <p:nvPr/>
            </p:nvCxnSpPr>
            <p:spPr>
              <a:xfrm flipV="1">
                <a:off x="3055758" y="5486886"/>
                <a:ext cx="1778089" cy="471182"/>
              </a:xfrm>
              <a:prstGeom prst="straightConnector1">
                <a:avLst/>
              </a:prstGeom>
              <a:ln w="28575" cmpd="sng">
                <a:headEnd type="none"/>
                <a:tailEnd type="non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oup 96"/>
            <p:cNvGrpSpPr/>
            <p:nvPr/>
          </p:nvGrpSpPr>
          <p:grpSpPr>
            <a:xfrm>
              <a:off x="3055758" y="5860591"/>
              <a:ext cx="1864613" cy="860883"/>
              <a:chOff x="3055758" y="5860591"/>
              <a:chExt cx="1864613" cy="860883"/>
            </a:xfrm>
            <a:noFill/>
          </p:grpSpPr>
          <p:sp>
            <p:nvSpPr>
              <p:cNvPr id="7" name="Rectangle 6"/>
              <p:cNvSpPr/>
              <p:nvPr/>
            </p:nvSpPr>
            <p:spPr>
              <a:xfrm>
                <a:off x="3055758" y="5958068"/>
                <a:ext cx="1864613" cy="763406"/>
              </a:xfrm>
              <a:prstGeom prst="rect">
                <a:avLst/>
              </a:prstGeom>
              <a:grpFill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055758" y="5860591"/>
                <a:ext cx="1864613" cy="461665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>
                    <a:solidFill>
                      <a:schemeClr val="accent4">
                        <a:lumMod val="75000"/>
                      </a:schemeClr>
                    </a:solidFill>
                  </a:rPr>
                  <a:t>Replication Q</a:t>
                </a:r>
                <a:endParaRPr lang="en-US" sz="24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p:grpSp>
      </p:grpSp>
      <p:sp>
        <p:nvSpPr>
          <p:cNvPr id="76" name="Rectangle 75"/>
          <p:cNvSpPr/>
          <p:nvPr/>
        </p:nvSpPr>
        <p:spPr>
          <a:xfrm flipV="1">
            <a:off x="4798612" y="5413909"/>
            <a:ext cx="200336" cy="82021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1" name="Group 100"/>
          <p:cNvGrpSpPr/>
          <p:nvPr/>
        </p:nvGrpSpPr>
        <p:grpSpPr>
          <a:xfrm>
            <a:off x="4299213" y="6296856"/>
            <a:ext cx="582912" cy="421456"/>
            <a:chOff x="4299213" y="6296856"/>
            <a:chExt cx="582912" cy="421456"/>
          </a:xfrm>
        </p:grpSpPr>
        <p:sp>
          <p:nvSpPr>
            <p:cNvPr id="10" name="Rectangle 9"/>
            <p:cNvSpPr/>
            <p:nvPr/>
          </p:nvSpPr>
          <p:spPr>
            <a:xfrm>
              <a:off x="4334174" y="6296856"/>
              <a:ext cx="499673" cy="35127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299213" y="6355136"/>
              <a:ext cx="582912" cy="363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0000"/>
                </a:lnSpc>
              </a:pPr>
              <a:r>
                <a:rPr lang="en-US" sz="1600" dirty="0" smtClean="0"/>
                <a:t>put</a:t>
              </a:r>
            </a:p>
            <a:p>
              <a:r>
                <a:rPr lang="en-US" sz="1600" dirty="0" smtClean="0"/>
                <a:t>after</a:t>
              </a:r>
              <a:endParaRPr lang="en-US" sz="1600" dirty="0"/>
            </a:p>
          </p:txBody>
        </p:sp>
      </p:grpSp>
      <p:cxnSp>
        <p:nvCxnSpPr>
          <p:cNvPr id="64" name="Straight Arrow Connector 63"/>
          <p:cNvCxnSpPr/>
          <p:nvPr/>
        </p:nvCxnSpPr>
        <p:spPr>
          <a:xfrm>
            <a:off x="1136581" y="5207063"/>
            <a:ext cx="3449782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136581" y="4622287"/>
            <a:ext cx="344978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put_after(</a:t>
            </a:r>
            <a:r>
              <a:rPr lang="en-US" sz="3200" dirty="0" err="1" smtClean="0"/>
              <a:t>K,V,</a:t>
            </a:r>
            <a:r>
              <a:rPr lang="en-US" sz="3200" dirty="0" err="1" smtClean="0">
                <a:solidFill>
                  <a:srgbClr val="953735"/>
                </a:solidFill>
              </a:rPr>
              <a:t>deps</a:t>
            </a:r>
            <a:r>
              <a:rPr lang="en-US" sz="3200" dirty="0" smtClean="0"/>
              <a:t>)</a:t>
            </a:r>
            <a:endParaRPr lang="en-US" sz="3200" dirty="0"/>
          </a:p>
        </p:txBody>
      </p:sp>
      <p:cxnSp>
        <p:nvCxnSpPr>
          <p:cNvPr id="67" name="Straight Arrow Connector 66"/>
          <p:cNvCxnSpPr/>
          <p:nvPr/>
        </p:nvCxnSpPr>
        <p:spPr>
          <a:xfrm flipH="1">
            <a:off x="1136581" y="5413909"/>
            <a:ext cx="3449782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39028" y="5110340"/>
            <a:ext cx="670248" cy="316270"/>
          </a:xfrm>
          <a:prstGeom prst="rect">
            <a:avLst/>
          </a:prstGeom>
          <a:noFill/>
        </p:spPr>
        <p:txBody>
          <a:bodyPr wrap="none" rtlCol="0">
            <a:normAutofit fontScale="62500" lnSpcReduction="20000"/>
          </a:bodyPr>
          <a:lstStyle/>
          <a:p>
            <a:r>
              <a:rPr lang="en-US" sz="2800" dirty="0" err="1" smtClean="0"/>
              <a:t>K:V,</a:t>
            </a:r>
            <a:r>
              <a:rPr lang="en-US" sz="1400" dirty="0" err="1" smtClean="0"/>
              <a:t>deps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89668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3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65" grpId="0"/>
      <p:bldP spid="4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Causal+ Replication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3631388" y="1417638"/>
            <a:ext cx="4557892" cy="5199506"/>
            <a:chOff x="4586363" y="2015342"/>
            <a:chExt cx="3113488" cy="3551774"/>
          </a:xfrm>
        </p:grpSpPr>
        <p:sp>
          <p:nvSpPr>
            <p:cNvPr id="127" name="Oval 126"/>
            <p:cNvSpPr/>
            <p:nvPr/>
          </p:nvSpPr>
          <p:spPr>
            <a:xfrm>
              <a:off x="4732672" y="2350535"/>
              <a:ext cx="2837879" cy="2937147"/>
            </a:xfrm>
            <a:prstGeom prst="ellipse">
              <a:avLst/>
            </a:prstGeom>
            <a:noFill/>
            <a:ln w="571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/>
            <p:cNvSpPr/>
            <p:nvPr/>
          </p:nvSpPr>
          <p:spPr>
            <a:xfrm>
              <a:off x="4586363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5825693" y="201534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4586363" y="273704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/>
            <p:cNvSpPr/>
            <p:nvPr/>
          </p:nvSpPr>
          <p:spPr>
            <a:xfrm>
              <a:off x="5825693" y="4896730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7048015" y="4244289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7048015" y="2724212"/>
              <a:ext cx="651836" cy="67038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9" name="Straight Arrow Connector 58"/>
          <p:cNvCxnSpPr/>
          <p:nvPr/>
        </p:nvCxnSpPr>
        <p:spPr>
          <a:xfrm>
            <a:off x="227001" y="2956854"/>
            <a:ext cx="3404387" cy="1"/>
          </a:xfrm>
          <a:prstGeom prst="straightConnector1">
            <a:avLst/>
          </a:prstGeom>
          <a:ln w="38100" cmpd="sng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61228" y="2364926"/>
            <a:ext cx="3449782" cy="58477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604A7B"/>
                </a:solidFill>
              </a:rPr>
              <a:t>put_after(</a:t>
            </a:r>
            <a:r>
              <a:rPr lang="en-US" sz="3200" dirty="0" err="1" smtClean="0">
                <a:solidFill>
                  <a:srgbClr val="604A7B"/>
                </a:solidFill>
              </a:rPr>
              <a:t>K,V,</a:t>
            </a:r>
            <a:r>
              <a:rPr lang="en-US" sz="3200" dirty="0" err="1" smtClean="0">
                <a:solidFill>
                  <a:srgbClr val="953735"/>
                </a:solidFill>
              </a:rPr>
              <a:t>deps</a:t>
            </a:r>
            <a:r>
              <a:rPr lang="en-US" sz="3200" dirty="0" smtClean="0">
                <a:solidFill>
                  <a:srgbClr val="604A7B"/>
                </a:solidFill>
              </a:rPr>
              <a:t>)</a:t>
            </a:r>
            <a:endParaRPr lang="en-US" sz="3200" dirty="0">
              <a:solidFill>
                <a:srgbClr val="604A7B"/>
              </a:solidFill>
            </a:endParaRPr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4585687" y="2842549"/>
            <a:ext cx="2649358" cy="1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469087" y="2246548"/>
            <a:ext cx="288421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dep_check(L</a:t>
            </a:r>
            <a:r>
              <a:rPr lang="en-US" sz="3200" baseline="-25000" dirty="0" smtClean="0"/>
              <a:t>337</a:t>
            </a:r>
            <a:r>
              <a:rPr lang="en-US" sz="3200" dirty="0" smtClean="0"/>
              <a:t>)</a:t>
            </a:r>
            <a:endParaRPr lang="en-US" sz="3200" dirty="0"/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4534887" y="3133165"/>
            <a:ext cx="2700158" cy="1"/>
          </a:xfrm>
          <a:prstGeom prst="straightConnector1">
            <a:avLst/>
          </a:prstGeom>
          <a:ln w="38100" cmpd="sng">
            <a:solidFill>
              <a:schemeClr val="tx1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567888" y="2648950"/>
            <a:ext cx="1108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/>
              <a:t>K:V,</a:t>
            </a:r>
            <a:r>
              <a:rPr lang="en-US" sz="1400" dirty="0" err="1" smtClean="0"/>
              <a:t>deps</a:t>
            </a:r>
            <a:endParaRPr lang="en-US" sz="1400" dirty="0"/>
          </a:p>
        </p:txBody>
      </p:sp>
      <p:grpSp>
        <p:nvGrpSpPr>
          <p:cNvPr id="33" name="Group 32"/>
          <p:cNvGrpSpPr/>
          <p:nvPr/>
        </p:nvGrpSpPr>
        <p:grpSpPr>
          <a:xfrm>
            <a:off x="2351519" y="3000502"/>
            <a:ext cx="1113562" cy="1740236"/>
            <a:chOff x="2351519" y="3000502"/>
            <a:chExt cx="1113562" cy="1740236"/>
          </a:xfrm>
        </p:grpSpPr>
        <p:cxnSp>
          <p:nvCxnSpPr>
            <p:cNvPr id="76" name="Straight Connector 75"/>
            <p:cNvCxnSpPr/>
            <p:nvPr/>
          </p:nvCxnSpPr>
          <p:spPr>
            <a:xfrm flipV="1">
              <a:off x="2351519" y="3000502"/>
              <a:ext cx="417081" cy="582727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flipV="1">
              <a:off x="3048000" y="3000502"/>
              <a:ext cx="417081" cy="582727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5" name="Rectangle 74"/>
            <p:cNvSpPr/>
            <p:nvPr/>
          </p:nvSpPr>
          <p:spPr>
            <a:xfrm>
              <a:off x="2351519" y="3583229"/>
              <a:ext cx="696481" cy="1157509"/>
            </a:xfrm>
            <a:prstGeom prst="rect">
              <a:avLst/>
            </a:prstGeom>
            <a:gradFill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78000">
                  <a:schemeClr val="bg1"/>
                </a:gs>
                <a:gs pos="77000">
                  <a:schemeClr val="accent2">
                    <a:tint val="50000"/>
                    <a:shade val="100000"/>
                    <a:satMod val="350000"/>
                  </a:schemeClr>
                </a:gs>
              </a:gsLst>
            </a:gradFill>
            <a:ln w="38100" cmpd="sng"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70000"/>
                </a:lnSpc>
              </a:pPr>
              <a:r>
                <a:rPr lang="en-US" sz="2000" dirty="0" smtClean="0">
                  <a:solidFill>
                    <a:schemeClr val="accent2">
                      <a:lumMod val="75000"/>
                    </a:schemeClr>
                  </a:solidFill>
                </a:rPr>
                <a:t>deps</a:t>
              </a:r>
              <a:r>
                <a:rPr lang="en-US" sz="2000" dirty="0" smtClean="0"/>
                <a:t>  </a:t>
              </a:r>
            </a:p>
            <a:p>
              <a:pPr>
                <a:lnSpc>
                  <a:spcPct val="130000"/>
                </a:lnSpc>
              </a:pPr>
              <a:r>
                <a:rPr lang="en-US" sz="2000" b="1" dirty="0" smtClean="0"/>
                <a:t>L</a:t>
              </a:r>
              <a:r>
                <a:rPr lang="en-US" sz="2000" b="1" baseline="-25000" dirty="0" smtClean="0"/>
                <a:t>337</a:t>
              </a:r>
              <a:endParaRPr lang="en-US" sz="2000" dirty="0"/>
            </a:p>
            <a:p>
              <a:r>
                <a:rPr lang="en-US" sz="2000" b="1" dirty="0" smtClean="0"/>
                <a:t>M</a:t>
              </a:r>
              <a:r>
                <a:rPr lang="en-US" sz="2000" b="1" baseline="-25000" dirty="0" smtClean="0"/>
                <a:t>195</a:t>
              </a:r>
              <a:r>
                <a:rPr lang="en-US" sz="2000" dirty="0" smtClean="0"/>
                <a:t> </a:t>
              </a:r>
              <a:endParaRPr lang="en-US" sz="2000" dirty="0"/>
            </a:p>
            <a:p>
              <a:pPr>
                <a:lnSpc>
                  <a:spcPct val="70000"/>
                </a:lnSpc>
              </a:pPr>
              <a:endParaRPr lang="en-US" sz="2000" dirty="0" smtClean="0"/>
            </a:p>
          </p:txBody>
        </p:sp>
      </p:grpSp>
      <p:cxnSp>
        <p:nvCxnSpPr>
          <p:cNvPr id="81" name="Straight Arrow Connector 80"/>
          <p:cNvCxnSpPr/>
          <p:nvPr/>
        </p:nvCxnSpPr>
        <p:spPr>
          <a:xfrm rot="3639224">
            <a:off x="3646790" y="4565297"/>
            <a:ext cx="2649358" cy="1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 rot="3639224">
            <a:off x="3806987" y="4144164"/>
            <a:ext cx="299404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dep_check(M</a:t>
            </a:r>
            <a:r>
              <a:rPr lang="en-US" sz="3200" baseline="-25000" dirty="0" smtClean="0"/>
              <a:t>195</a:t>
            </a:r>
            <a:r>
              <a:rPr lang="en-US" sz="3200" dirty="0" smtClean="0"/>
              <a:t>)</a:t>
            </a:r>
            <a:endParaRPr lang="en-US" sz="3200" dirty="0"/>
          </a:p>
        </p:txBody>
      </p:sp>
      <p:cxnSp>
        <p:nvCxnSpPr>
          <p:cNvPr id="83" name="Straight Arrow Connector 82"/>
          <p:cNvCxnSpPr/>
          <p:nvPr/>
        </p:nvCxnSpPr>
        <p:spPr>
          <a:xfrm>
            <a:off x="4144714" y="3450485"/>
            <a:ext cx="1363907" cy="2425862"/>
          </a:xfrm>
          <a:prstGeom prst="straightConnector1">
            <a:avLst/>
          </a:prstGeom>
          <a:ln w="38100" cmpd="sng">
            <a:solidFill>
              <a:schemeClr val="tx1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10694" y="5131609"/>
            <a:ext cx="3334253" cy="1485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Exposing values after </a:t>
            </a:r>
            <a:r>
              <a:rPr lang="en-US" sz="2800" dirty="0" err="1" smtClean="0"/>
              <a:t>dep_checks</a:t>
            </a:r>
            <a:r>
              <a:rPr lang="en-US" sz="2800" dirty="0" smtClean="0"/>
              <a:t> return ensures causal+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6307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5" grpId="0"/>
      <p:bldP spid="70" grpId="0"/>
      <p:bldP spid="82" grpId="0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COPS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8646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Serve operations locally, replicate in background</a:t>
            </a:r>
          </a:p>
          <a:p>
            <a:pPr lvl="1"/>
            <a:r>
              <a:rPr lang="en-US" dirty="0" smtClean="0"/>
              <a:t>“Always On”</a:t>
            </a:r>
          </a:p>
          <a:p>
            <a:pPr lvl="1"/>
            <a:endParaRPr lang="en-US" dirty="0"/>
          </a:p>
          <a:p>
            <a:r>
              <a:rPr lang="en-US" dirty="0"/>
              <a:t>Partition </a:t>
            </a:r>
            <a:r>
              <a:rPr lang="en-US" dirty="0" err="1" smtClean="0"/>
              <a:t>keyspace</a:t>
            </a:r>
            <a:r>
              <a:rPr lang="en-US" dirty="0" smtClean="0"/>
              <a:t> onto many nodes</a:t>
            </a:r>
            <a:endParaRPr lang="en-US" dirty="0"/>
          </a:p>
          <a:p>
            <a:pPr lvl="1"/>
            <a:r>
              <a:rPr lang="en-US" dirty="0" smtClean="0"/>
              <a:t>Scalability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Control replication with dependencies</a:t>
            </a:r>
          </a:p>
          <a:p>
            <a:pPr lvl="1"/>
            <a:r>
              <a:rPr lang="en-US" dirty="0" smtClean="0"/>
              <a:t>Causal+ Consistency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1687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1260623" y="1211704"/>
            <a:ext cx="3684629" cy="4171037"/>
            <a:chOff x="1260623" y="1211704"/>
            <a:chExt cx="3684629" cy="4171037"/>
          </a:xfrm>
        </p:grpSpPr>
        <p:grpSp>
          <p:nvGrpSpPr>
            <p:cNvPr id="12" name="Group 11"/>
            <p:cNvGrpSpPr/>
            <p:nvPr/>
          </p:nvGrpSpPr>
          <p:grpSpPr>
            <a:xfrm>
              <a:off x="1260623" y="1211704"/>
              <a:ext cx="3590262" cy="4171037"/>
              <a:chOff x="1260623" y="1211704"/>
              <a:chExt cx="3590262" cy="4171037"/>
            </a:xfrm>
          </p:grpSpPr>
          <p:grpSp>
            <p:nvGrpSpPr>
              <p:cNvPr id="43" name="Group 42"/>
              <p:cNvGrpSpPr/>
              <p:nvPr/>
            </p:nvGrpSpPr>
            <p:grpSpPr>
              <a:xfrm>
                <a:off x="1260623" y="2207742"/>
                <a:ext cx="3101100" cy="3174999"/>
                <a:chOff x="3276600" y="2832100"/>
                <a:chExt cx="3101100" cy="3174999"/>
              </a:xfrm>
            </p:grpSpPr>
            <p:grpSp>
              <p:nvGrpSpPr>
                <p:cNvPr id="40" name="Group 39"/>
                <p:cNvGrpSpPr/>
                <p:nvPr/>
              </p:nvGrpSpPr>
              <p:grpSpPr>
                <a:xfrm>
                  <a:off x="3276600" y="2832100"/>
                  <a:ext cx="3101100" cy="3174999"/>
                  <a:chOff x="3276600" y="2832100"/>
                  <a:chExt cx="3101100" cy="3174999"/>
                </a:xfrm>
              </p:grpSpPr>
              <p:sp>
                <p:nvSpPr>
                  <p:cNvPr id="29" name="Oval 28"/>
                  <p:cNvSpPr/>
                  <p:nvPr/>
                </p:nvSpPr>
                <p:spPr>
                  <a:xfrm>
                    <a:off x="3410521" y="2923259"/>
                    <a:ext cx="2837879" cy="2937147"/>
                  </a:xfrm>
                  <a:prstGeom prst="ellipse">
                    <a:avLst/>
                  </a:prstGeom>
                  <a:noFill/>
                  <a:ln w="57150" cap="flat" cmpd="sng" algn="ctr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3"/>
                  </a:lnRef>
                  <a:fillRef idx="3">
                    <a:schemeClr val="accent3"/>
                  </a:fillRef>
                  <a:effectRef idx="2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/>
                  <p:cNvSpPr/>
                  <p:nvPr/>
                </p:nvSpPr>
                <p:spPr>
                  <a:xfrm>
                    <a:off x="5725864" y="4817013"/>
                    <a:ext cx="651836" cy="670386"/>
                  </a:xfrm>
                  <a:prstGeom prst="ellipse">
                    <a:avLst/>
                  </a:prstGeom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Oval 30"/>
                  <p:cNvSpPr/>
                  <p:nvPr/>
                </p:nvSpPr>
                <p:spPr>
                  <a:xfrm>
                    <a:off x="5725864" y="3296936"/>
                    <a:ext cx="651836" cy="670386"/>
                  </a:xfrm>
                  <a:prstGeom prst="ellipse">
                    <a:avLst/>
                  </a:prstGeom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39" name="Group 38"/>
                  <p:cNvGrpSpPr/>
                  <p:nvPr/>
                </p:nvGrpSpPr>
                <p:grpSpPr>
                  <a:xfrm>
                    <a:off x="3276600" y="2832100"/>
                    <a:ext cx="2260599" cy="3174999"/>
                    <a:chOff x="3276600" y="2832100"/>
                    <a:chExt cx="2260599" cy="3174999"/>
                  </a:xfrm>
                </p:grpSpPr>
                <p:sp>
                  <p:nvSpPr>
                    <p:cNvPr id="32" name="Rectangle 31"/>
                    <p:cNvSpPr/>
                    <p:nvPr/>
                  </p:nvSpPr>
                  <p:spPr>
                    <a:xfrm>
                      <a:off x="3276600" y="2832100"/>
                      <a:ext cx="2082800" cy="3174999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solidFill>
                        <a:srgbClr val="FFFFFF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38" name="Group 37"/>
                    <p:cNvGrpSpPr/>
                    <p:nvPr/>
                  </p:nvGrpSpPr>
                  <p:grpSpPr>
                    <a:xfrm>
                      <a:off x="5398768" y="2915331"/>
                      <a:ext cx="138431" cy="401336"/>
                      <a:chOff x="5398768" y="2915331"/>
                      <a:chExt cx="138431" cy="401336"/>
                    </a:xfrm>
                  </p:grpSpPr>
                  <p:sp>
                    <p:nvSpPr>
                      <p:cNvPr id="33" name="Rectangle 32"/>
                      <p:cNvSpPr/>
                      <p:nvPr/>
                    </p:nvSpPr>
                    <p:spPr>
                      <a:xfrm flipH="1">
                        <a:off x="5398768" y="2915331"/>
                        <a:ext cx="49531" cy="312436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rgbClr val="FFFFFF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4" name="Rectangle 33"/>
                      <p:cNvSpPr/>
                      <p:nvPr/>
                    </p:nvSpPr>
                    <p:spPr>
                      <a:xfrm flipH="1">
                        <a:off x="5487668" y="3004231"/>
                        <a:ext cx="49531" cy="312436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rgbClr val="FFFFFF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37" name="Group 36"/>
                    <p:cNvGrpSpPr/>
                    <p:nvPr/>
                  </p:nvGrpSpPr>
                  <p:grpSpPr>
                    <a:xfrm>
                      <a:off x="5398768" y="5550580"/>
                      <a:ext cx="138431" cy="356886"/>
                      <a:chOff x="5398768" y="5550580"/>
                      <a:chExt cx="138431" cy="356886"/>
                    </a:xfrm>
                  </p:grpSpPr>
                  <p:sp>
                    <p:nvSpPr>
                      <p:cNvPr id="35" name="Rectangle 34"/>
                      <p:cNvSpPr/>
                      <p:nvPr/>
                    </p:nvSpPr>
                    <p:spPr>
                      <a:xfrm flipH="1">
                        <a:off x="5398768" y="5595030"/>
                        <a:ext cx="49531" cy="312436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rgbClr val="FFFFFF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6" name="Rectangle 35"/>
                      <p:cNvSpPr/>
                      <p:nvPr/>
                    </p:nvSpPr>
                    <p:spPr>
                      <a:xfrm flipH="1">
                        <a:off x="5487668" y="5550580"/>
                        <a:ext cx="49531" cy="312436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rgbClr val="FFFFFF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</p:grpSp>
            <p:sp>
              <p:nvSpPr>
                <p:cNvPr id="41" name="Rectangle 40"/>
                <p:cNvSpPr/>
                <p:nvPr/>
              </p:nvSpPr>
              <p:spPr>
                <a:xfrm flipH="1">
                  <a:off x="5577837" y="3060816"/>
                  <a:ext cx="49531" cy="312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 flipH="1">
                  <a:off x="5577837" y="5438812"/>
                  <a:ext cx="49531" cy="312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" name="TextBox 44"/>
              <p:cNvSpPr txBox="1"/>
              <p:nvPr/>
            </p:nvSpPr>
            <p:spPr>
              <a:xfrm>
                <a:off x="3270404" y="1211704"/>
                <a:ext cx="158048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 smtClean="0"/>
                  <a:t>Remote</a:t>
                </a:r>
              </a:p>
              <a:p>
                <a:pPr algn="ctr"/>
                <a:r>
                  <a:rPr lang="en-US" sz="2400" dirty="0" smtClean="0"/>
                  <a:t>Datacenter</a:t>
                </a:r>
                <a:endParaRPr lang="en-US" sz="2400" dirty="0"/>
              </a:p>
            </p:txBody>
          </p:sp>
        </p:grpSp>
        <p:sp>
          <p:nvSpPr>
            <p:cNvPr id="78" name="Rectangle 77"/>
            <p:cNvSpPr/>
            <p:nvPr/>
          </p:nvSpPr>
          <p:spPr>
            <a:xfrm>
              <a:off x="4014001" y="2521562"/>
              <a:ext cx="845600" cy="454664"/>
            </a:xfrm>
            <a:prstGeom prst="rect">
              <a:avLst/>
            </a:prstGeom>
            <a:solidFill>
              <a:srgbClr val="6F4A26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rmAutofit fontScale="92500" lnSpcReduction="20000"/>
            </a:bodyPr>
            <a:lstStyle/>
            <a:p>
              <a:pPr algn="ctr"/>
              <a:r>
                <a:rPr lang="en-US" sz="2900" dirty="0" smtClean="0"/>
                <a:t>Boss</a:t>
              </a:r>
              <a:endParaRPr lang="en-US" sz="2900" dirty="0">
                <a:solidFill>
                  <a:schemeClr val="bg1"/>
                </a:solidFill>
                <a:latin typeface="Calibri (Body)"/>
                <a:cs typeface="Calibri (Body)"/>
              </a:endParaRP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4035546" y="4181020"/>
              <a:ext cx="909706" cy="2755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sz="2400" dirty="0" smtClean="0"/>
                <a:t>Berkeley!</a:t>
              </a:r>
              <a:endParaRPr lang="en-US" sz="2400" dirty="0"/>
            </a:p>
          </p:txBody>
        </p:sp>
      </p:grpSp>
      <p:cxnSp>
        <p:nvCxnSpPr>
          <p:cNvPr id="9" name="Straight Arrow Connector 8"/>
          <p:cNvCxnSpPr>
            <a:endCxn id="78" idx="3"/>
          </p:cNvCxnSpPr>
          <p:nvPr/>
        </p:nvCxnSpPr>
        <p:spPr>
          <a:xfrm flipH="1" flipV="1">
            <a:off x="4859601" y="2748894"/>
            <a:ext cx="2383898" cy="9665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5078244" y="4001007"/>
            <a:ext cx="2165257" cy="45618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Gets Aren’t Enough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311869" y="1554580"/>
            <a:ext cx="2651305" cy="707886"/>
            <a:chOff x="190500" y="2417668"/>
            <a:chExt cx="2651305" cy="707886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190500" y="2791771"/>
              <a:ext cx="1879600" cy="0"/>
            </a:xfrm>
            <a:prstGeom prst="line">
              <a:avLst/>
            </a:prstGeom>
            <a:ln w="38100" cmpd="sng">
              <a:solidFill>
                <a:schemeClr val="accent4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1761586" y="2417668"/>
              <a:ext cx="108021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Remote</a:t>
              </a:r>
            </a:p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Progress</a:t>
              </a:r>
              <a:endParaRPr lang="en-US" sz="2000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358956" y="2407897"/>
            <a:ext cx="2651305" cy="707886"/>
            <a:chOff x="190500" y="2417668"/>
            <a:chExt cx="2651305" cy="707886"/>
          </a:xfrm>
        </p:grpSpPr>
        <p:cxnSp>
          <p:nvCxnSpPr>
            <p:cNvPr id="59" name="Straight Connector 58"/>
            <p:cNvCxnSpPr/>
            <p:nvPr/>
          </p:nvCxnSpPr>
          <p:spPr>
            <a:xfrm>
              <a:off x="190500" y="2791771"/>
              <a:ext cx="1879600" cy="0"/>
            </a:xfrm>
            <a:prstGeom prst="line">
              <a:avLst/>
            </a:prstGeom>
            <a:ln w="38100" cmpd="sng">
              <a:solidFill>
                <a:schemeClr val="accent4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761586" y="2417668"/>
              <a:ext cx="108021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Remote</a:t>
              </a:r>
            </a:p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Progress</a:t>
              </a:r>
              <a:endParaRPr lang="en-US" sz="2000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311869" y="3513338"/>
            <a:ext cx="2651305" cy="707886"/>
            <a:chOff x="190500" y="2417668"/>
            <a:chExt cx="2651305" cy="707886"/>
          </a:xfrm>
        </p:grpSpPr>
        <p:cxnSp>
          <p:nvCxnSpPr>
            <p:cNvPr id="62" name="Straight Connector 61"/>
            <p:cNvCxnSpPr/>
            <p:nvPr/>
          </p:nvCxnSpPr>
          <p:spPr>
            <a:xfrm>
              <a:off x="190500" y="2791771"/>
              <a:ext cx="1879600" cy="0"/>
            </a:xfrm>
            <a:prstGeom prst="line">
              <a:avLst/>
            </a:prstGeom>
            <a:ln w="38100" cmpd="sng">
              <a:solidFill>
                <a:schemeClr val="accent4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1761586" y="2417668"/>
              <a:ext cx="108021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Remote</a:t>
              </a:r>
            </a:p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Progress</a:t>
              </a:r>
              <a:endParaRPr lang="en-US" sz="2000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58956" y="1095751"/>
            <a:ext cx="1573868" cy="2690415"/>
            <a:chOff x="237587" y="2291713"/>
            <a:chExt cx="1573868" cy="2690415"/>
          </a:xfrm>
        </p:grpSpPr>
        <p:grpSp>
          <p:nvGrpSpPr>
            <p:cNvPr id="10" name="Group 9"/>
            <p:cNvGrpSpPr/>
            <p:nvPr/>
          </p:nvGrpSpPr>
          <p:grpSpPr>
            <a:xfrm>
              <a:off x="237587" y="2291713"/>
              <a:ext cx="1573868" cy="2178615"/>
              <a:chOff x="308837" y="575162"/>
              <a:chExt cx="1573868" cy="2178615"/>
            </a:xfrm>
          </p:grpSpPr>
          <p:cxnSp>
            <p:nvCxnSpPr>
              <p:cNvPr id="5" name="Straight Arrow Connector 4"/>
              <p:cNvCxnSpPr/>
              <p:nvPr/>
            </p:nvCxnSpPr>
            <p:spPr>
              <a:xfrm>
                <a:off x="1078838" y="2316827"/>
                <a:ext cx="0" cy="43695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" name="TextBox 2"/>
              <p:cNvSpPr txBox="1"/>
              <p:nvPr/>
            </p:nvSpPr>
            <p:spPr>
              <a:xfrm>
                <a:off x="308837" y="575162"/>
                <a:ext cx="157386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 smtClean="0"/>
                  <a:t>My</a:t>
                </a:r>
              </a:p>
              <a:p>
                <a:pPr algn="ctr"/>
                <a:r>
                  <a:rPr lang="en-US" sz="2400" dirty="0" smtClean="0"/>
                  <a:t>Operations</a:t>
                </a:r>
                <a:endParaRPr lang="en-US" sz="2400" dirty="0"/>
              </a:p>
            </p:txBody>
          </p:sp>
        </p:grpSp>
        <p:sp>
          <p:nvSpPr>
            <p:cNvPr id="53" name="Rectangle 52"/>
            <p:cNvSpPr/>
            <p:nvPr/>
          </p:nvSpPr>
          <p:spPr>
            <a:xfrm>
              <a:off x="237587" y="4520463"/>
              <a:ext cx="1523999" cy="46166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New Job!</a:t>
              </a:r>
              <a:endParaRPr lang="en-US" sz="2400" dirty="0"/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358956" y="3269655"/>
              <a:ext cx="1297264" cy="615278"/>
              <a:chOff x="4244742" y="1943372"/>
              <a:chExt cx="1297264" cy="615278"/>
            </a:xfrm>
          </p:grpSpPr>
          <p:sp>
            <p:nvSpPr>
              <p:cNvPr id="64" name="Rectangle 63"/>
              <p:cNvSpPr/>
              <p:nvPr/>
            </p:nvSpPr>
            <p:spPr>
              <a:xfrm>
                <a:off x="4244742" y="1943372"/>
                <a:ext cx="1297264" cy="615278"/>
              </a:xfrm>
              <a:prstGeom prst="rect">
                <a:avLst/>
              </a:prstGeom>
              <a:solidFill>
                <a:srgbClr val="6F4A26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sz="2900" dirty="0" smtClean="0"/>
                  <a:t>Boss</a:t>
                </a:r>
                <a:endParaRPr lang="en-US" sz="2900" dirty="0">
                  <a:solidFill>
                    <a:schemeClr val="bg1"/>
                  </a:solidFill>
                  <a:latin typeface="Calibri (Body)"/>
                  <a:cs typeface="Calibri (Body)"/>
                </a:endParaRPr>
              </a:p>
            </p:txBody>
          </p:sp>
          <p:grpSp>
            <p:nvGrpSpPr>
              <p:cNvPr id="66" name="Group 65"/>
              <p:cNvGrpSpPr/>
              <p:nvPr/>
            </p:nvGrpSpPr>
            <p:grpSpPr>
              <a:xfrm>
                <a:off x="4334717" y="2113200"/>
                <a:ext cx="1071182" cy="256710"/>
                <a:chOff x="4334717" y="2093956"/>
                <a:chExt cx="1071182" cy="256710"/>
              </a:xfrm>
            </p:grpSpPr>
            <p:cxnSp>
              <p:nvCxnSpPr>
                <p:cNvPr id="68" name="Straight Connector 67"/>
                <p:cNvCxnSpPr/>
                <p:nvPr/>
              </p:nvCxnSpPr>
              <p:spPr>
                <a:xfrm flipV="1">
                  <a:off x="4380848" y="2093956"/>
                  <a:ext cx="1025051" cy="251816"/>
                </a:xfrm>
                <a:prstGeom prst="line">
                  <a:avLst/>
                </a:prstGeom>
                <a:ln w="38100" cmpd="sng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/>
                <p:cNvCxnSpPr/>
                <p:nvPr/>
              </p:nvCxnSpPr>
              <p:spPr>
                <a:xfrm>
                  <a:off x="4334717" y="2098850"/>
                  <a:ext cx="1025051" cy="251816"/>
                </a:xfrm>
                <a:prstGeom prst="line">
                  <a:avLst/>
                </a:prstGeom>
                <a:ln w="38100" cmpd="sng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83" name="Rectangle 82"/>
          <p:cNvSpPr/>
          <p:nvPr/>
        </p:nvSpPr>
        <p:spPr>
          <a:xfrm>
            <a:off x="4005285" y="2521247"/>
            <a:ext cx="845600" cy="45466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>
            <a:normAutofit fontScale="92500" lnSpcReduction="20000"/>
          </a:bodyPr>
          <a:lstStyle/>
          <a:p>
            <a:pPr algn="ctr"/>
            <a:r>
              <a:rPr lang="en-US" sz="2900" dirty="0" smtClean="0"/>
              <a:t>Boss</a:t>
            </a:r>
            <a:endParaRPr lang="en-US" sz="2900" dirty="0">
              <a:solidFill>
                <a:schemeClr val="bg1"/>
              </a:solidFill>
              <a:latin typeface="Calibri (Body)"/>
              <a:cs typeface="Calibri (Body)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4035546" y="4192655"/>
            <a:ext cx="909706" cy="275577"/>
          </a:xfrm>
          <a:prstGeom prst="rect">
            <a:avLst/>
          </a:prstGeom>
          <a:solidFill>
            <a:srgbClr val="7F7F7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normAutofit fontScale="55000" lnSpcReduction="20000"/>
          </a:bodyPr>
          <a:lstStyle/>
          <a:p>
            <a:pPr algn="ctr"/>
            <a:r>
              <a:rPr lang="en-US" sz="2400" dirty="0" smtClean="0"/>
              <a:t>Berkeley!</a:t>
            </a:r>
            <a:endParaRPr lang="en-US" sz="2400" dirty="0"/>
          </a:p>
        </p:txBody>
      </p:sp>
      <p:grpSp>
        <p:nvGrpSpPr>
          <p:cNvPr id="28" name="Group 27"/>
          <p:cNvGrpSpPr/>
          <p:nvPr/>
        </p:nvGrpSpPr>
        <p:grpSpPr>
          <a:xfrm>
            <a:off x="4155463" y="2638431"/>
            <a:ext cx="845600" cy="454664"/>
            <a:chOff x="-2519295" y="2795376"/>
            <a:chExt cx="845600" cy="454664"/>
          </a:xfrm>
        </p:grpSpPr>
        <p:sp>
          <p:nvSpPr>
            <p:cNvPr id="74" name="Rectangle 73"/>
            <p:cNvSpPr/>
            <p:nvPr/>
          </p:nvSpPr>
          <p:spPr>
            <a:xfrm>
              <a:off x="-2519295" y="2795376"/>
              <a:ext cx="845600" cy="454664"/>
            </a:xfrm>
            <a:prstGeom prst="rect">
              <a:avLst/>
            </a:prstGeom>
            <a:solidFill>
              <a:srgbClr val="6F4A26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rmAutofit fontScale="92500" lnSpcReduction="20000"/>
            </a:bodyPr>
            <a:lstStyle/>
            <a:p>
              <a:pPr algn="ctr"/>
              <a:r>
                <a:rPr lang="en-US" sz="2900" dirty="0" smtClean="0"/>
                <a:t>Boss</a:t>
              </a:r>
              <a:endParaRPr lang="en-US" sz="2900" dirty="0">
                <a:solidFill>
                  <a:schemeClr val="bg1"/>
                </a:solidFill>
                <a:latin typeface="Calibri (Body)"/>
                <a:cs typeface="Calibri (Body)"/>
              </a:endParaRPr>
            </a:p>
          </p:txBody>
        </p:sp>
        <p:grpSp>
          <p:nvGrpSpPr>
            <p:cNvPr id="75" name="Group 74"/>
            <p:cNvGrpSpPr/>
            <p:nvPr/>
          </p:nvGrpSpPr>
          <p:grpSpPr>
            <a:xfrm>
              <a:off x="-2430151" y="2977927"/>
              <a:ext cx="668162" cy="106217"/>
              <a:chOff x="4381501" y="2385454"/>
              <a:chExt cx="1025051" cy="251816"/>
            </a:xfrm>
          </p:grpSpPr>
          <p:cxnSp>
            <p:nvCxnSpPr>
              <p:cNvPr id="76" name="Straight Connector 75"/>
              <p:cNvCxnSpPr/>
              <p:nvPr/>
            </p:nvCxnSpPr>
            <p:spPr>
              <a:xfrm flipV="1">
                <a:off x="4381501" y="2385454"/>
                <a:ext cx="1025051" cy="251816"/>
              </a:xfrm>
              <a:prstGeom prst="line">
                <a:avLst/>
              </a:prstGeom>
              <a:ln w="38100" cmpd="sng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>
                <a:off x="4381501" y="2385454"/>
                <a:ext cx="1025051" cy="251816"/>
              </a:xfrm>
              <a:prstGeom prst="line">
                <a:avLst/>
              </a:prstGeom>
              <a:ln w="38100" cmpd="sng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8" name="Group 97"/>
          <p:cNvGrpSpPr/>
          <p:nvPr/>
        </p:nvGrpSpPr>
        <p:grpSpPr>
          <a:xfrm>
            <a:off x="7243499" y="2311440"/>
            <a:ext cx="1524000" cy="1807629"/>
            <a:chOff x="7243499" y="2311440"/>
            <a:chExt cx="1524000" cy="1807629"/>
          </a:xfrm>
        </p:grpSpPr>
        <p:pic>
          <p:nvPicPr>
            <p:cNvPr id="89" name="Picture 88" descr="mfreed_photo.jp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67921" y="2311440"/>
              <a:ext cx="961131" cy="1167447"/>
            </a:xfrm>
            <a:prstGeom prst="rect">
              <a:avLst/>
            </a:prstGeom>
          </p:spPr>
        </p:pic>
        <p:grpSp>
          <p:nvGrpSpPr>
            <p:cNvPr id="49" name="Group 48"/>
            <p:cNvGrpSpPr/>
            <p:nvPr/>
          </p:nvGrpSpPr>
          <p:grpSpPr>
            <a:xfrm>
              <a:off x="7243499" y="3543323"/>
              <a:ext cx="1524000" cy="575746"/>
              <a:chOff x="2607736" y="4961454"/>
              <a:chExt cx="1524000" cy="575746"/>
            </a:xfrm>
          </p:grpSpPr>
          <p:sp>
            <p:nvSpPr>
              <p:cNvPr id="97" name="Rectangle 96"/>
              <p:cNvSpPr/>
              <p:nvPr/>
            </p:nvSpPr>
            <p:spPr>
              <a:xfrm>
                <a:off x="2607736" y="4961454"/>
                <a:ext cx="1524000" cy="57574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4" name="Freeform 93"/>
              <p:cNvSpPr/>
              <p:nvPr/>
            </p:nvSpPr>
            <p:spPr>
              <a:xfrm>
                <a:off x="2803361" y="5133557"/>
                <a:ext cx="794746" cy="204981"/>
              </a:xfrm>
              <a:custGeom>
                <a:avLst/>
                <a:gdLst>
                  <a:gd name="connsiteX0" fmla="*/ 0 w 2810934"/>
                  <a:gd name="connsiteY0" fmla="*/ 474147 h 474147"/>
                  <a:gd name="connsiteX1" fmla="*/ 524934 w 2810934"/>
                  <a:gd name="connsiteY1" fmla="*/ 13 h 474147"/>
                  <a:gd name="connsiteX2" fmla="*/ 982134 w 2810934"/>
                  <a:gd name="connsiteY2" fmla="*/ 457213 h 474147"/>
                  <a:gd name="connsiteX3" fmla="*/ 1524000 w 2810934"/>
                  <a:gd name="connsiteY3" fmla="*/ 50813 h 474147"/>
                  <a:gd name="connsiteX4" fmla="*/ 1913467 w 2810934"/>
                  <a:gd name="connsiteY4" fmla="*/ 406413 h 474147"/>
                  <a:gd name="connsiteX5" fmla="*/ 2302934 w 2810934"/>
                  <a:gd name="connsiteY5" fmla="*/ 101613 h 474147"/>
                  <a:gd name="connsiteX6" fmla="*/ 2506134 w 2810934"/>
                  <a:gd name="connsiteY6" fmla="*/ 423347 h 474147"/>
                  <a:gd name="connsiteX7" fmla="*/ 2810934 w 2810934"/>
                  <a:gd name="connsiteY7" fmla="*/ 220147 h 474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10934" h="474147">
                    <a:moveTo>
                      <a:pt x="0" y="474147"/>
                    </a:moveTo>
                    <a:cubicBezTo>
                      <a:pt x="180622" y="238491"/>
                      <a:pt x="361245" y="2835"/>
                      <a:pt x="524934" y="13"/>
                    </a:cubicBezTo>
                    <a:cubicBezTo>
                      <a:pt x="688623" y="-2809"/>
                      <a:pt x="815623" y="448746"/>
                      <a:pt x="982134" y="457213"/>
                    </a:cubicBezTo>
                    <a:cubicBezTo>
                      <a:pt x="1148645" y="465680"/>
                      <a:pt x="1368778" y="59280"/>
                      <a:pt x="1524000" y="50813"/>
                    </a:cubicBezTo>
                    <a:cubicBezTo>
                      <a:pt x="1679222" y="42346"/>
                      <a:pt x="1783645" y="397946"/>
                      <a:pt x="1913467" y="406413"/>
                    </a:cubicBezTo>
                    <a:cubicBezTo>
                      <a:pt x="2043289" y="414880"/>
                      <a:pt x="2204156" y="98791"/>
                      <a:pt x="2302934" y="101613"/>
                    </a:cubicBezTo>
                    <a:cubicBezTo>
                      <a:pt x="2401712" y="104435"/>
                      <a:pt x="2421468" y="403591"/>
                      <a:pt x="2506134" y="423347"/>
                    </a:cubicBezTo>
                    <a:cubicBezTo>
                      <a:pt x="2590800" y="443103"/>
                      <a:pt x="2740378" y="304814"/>
                      <a:pt x="2810934" y="220147"/>
                    </a:cubicBezTo>
                  </a:path>
                </a:pathLst>
              </a:custGeom>
              <a:ln>
                <a:solidFill>
                  <a:schemeClr val="tx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99" name="Rectangle 98"/>
          <p:cNvSpPr/>
          <p:nvPr/>
        </p:nvSpPr>
        <p:spPr>
          <a:xfrm>
            <a:off x="7102234" y="4302026"/>
            <a:ext cx="845600" cy="454664"/>
          </a:xfrm>
          <a:prstGeom prst="rect">
            <a:avLst/>
          </a:prstGeom>
          <a:solidFill>
            <a:srgbClr val="6F4A26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>
            <a:normAutofit fontScale="92500" lnSpcReduction="20000"/>
          </a:bodyPr>
          <a:lstStyle/>
          <a:p>
            <a:pPr algn="ctr"/>
            <a:r>
              <a:rPr lang="en-US" sz="2900" dirty="0" smtClean="0"/>
              <a:t>Boss</a:t>
            </a:r>
            <a:endParaRPr lang="en-US" sz="2900" dirty="0">
              <a:solidFill>
                <a:schemeClr val="bg1"/>
              </a:solidFill>
              <a:latin typeface="Calibri (Body)"/>
              <a:cs typeface="Calibri (Body)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8074199" y="4418170"/>
            <a:ext cx="909706" cy="2755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r>
              <a:rPr lang="en-US" sz="2400" dirty="0" smtClean="0"/>
              <a:t>New Job!</a:t>
            </a:r>
            <a:endParaRPr lang="en-US" sz="2400" dirty="0"/>
          </a:p>
        </p:txBody>
      </p:sp>
      <p:sp>
        <p:nvSpPr>
          <p:cNvPr id="82" name="Rectangle 81"/>
          <p:cNvSpPr/>
          <p:nvPr/>
        </p:nvSpPr>
        <p:spPr>
          <a:xfrm>
            <a:off x="4168538" y="4312974"/>
            <a:ext cx="909706" cy="2755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r>
              <a:rPr lang="en-US" sz="2400" dirty="0" smtClean="0"/>
              <a:t>New Job!</a:t>
            </a:r>
            <a:endParaRPr lang="en-US" sz="2400" dirty="0"/>
          </a:p>
        </p:txBody>
      </p:sp>
      <p:sp>
        <p:nvSpPr>
          <p:cNvPr id="16" name="Rounded Rectangular Callout 15"/>
          <p:cNvSpPr/>
          <p:nvPr/>
        </p:nvSpPr>
        <p:spPr>
          <a:xfrm>
            <a:off x="5849086" y="1305158"/>
            <a:ext cx="1675948" cy="915213"/>
          </a:xfrm>
          <a:prstGeom prst="wedgeRoundRectCallout">
            <a:avLst>
              <a:gd name="adj1" fmla="val 61799"/>
              <a:gd name="adj2" fmla="val 125579"/>
              <a:gd name="adj3" fmla="val 16667"/>
            </a:avLst>
          </a:prstGeom>
          <a:solidFill>
            <a:srgbClr val="FFFFFF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FF0000"/>
                </a:solidFill>
              </a:rPr>
              <a:t>You’re Fired!!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694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92" grpId="0" animBg="1"/>
      <p:bldP spid="99" grpId="0" animBg="1"/>
      <p:bldP spid="100" grpId="0" animBg="1"/>
      <p:bldP spid="82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1260623" y="1211704"/>
            <a:ext cx="3684629" cy="4171037"/>
            <a:chOff x="1260623" y="1211704"/>
            <a:chExt cx="3684629" cy="4171037"/>
          </a:xfrm>
        </p:grpSpPr>
        <p:grpSp>
          <p:nvGrpSpPr>
            <p:cNvPr id="12" name="Group 11"/>
            <p:cNvGrpSpPr/>
            <p:nvPr/>
          </p:nvGrpSpPr>
          <p:grpSpPr>
            <a:xfrm>
              <a:off x="1260623" y="1211704"/>
              <a:ext cx="3590262" cy="4171037"/>
              <a:chOff x="1260623" y="1211704"/>
              <a:chExt cx="3590262" cy="4171037"/>
            </a:xfrm>
          </p:grpSpPr>
          <p:grpSp>
            <p:nvGrpSpPr>
              <p:cNvPr id="43" name="Group 42"/>
              <p:cNvGrpSpPr/>
              <p:nvPr/>
            </p:nvGrpSpPr>
            <p:grpSpPr>
              <a:xfrm>
                <a:off x="1260623" y="2207742"/>
                <a:ext cx="3101100" cy="3174999"/>
                <a:chOff x="3276600" y="2832100"/>
                <a:chExt cx="3101100" cy="3174999"/>
              </a:xfrm>
            </p:grpSpPr>
            <p:grpSp>
              <p:nvGrpSpPr>
                <p:cNvPr id="40" name="Group 39"/>
                <p:cNvGrpSpPr/>
                <p:nvPr/>
              </p:nvGrpSpPr>
              <p:grpSpPr>
                <a:xfrm>
                  <a:off x="3276600" y="2832100"/>
                  <a:ext cx="3101100" cy="3174999"/>
                  <a:chOff x="3276600" y="2832100"/>
                  <a:chExt cx="3101100" cy="3174999"/>
                </a:xfrm>
              </p:grpSpPr>
              <p:sp>
                <p:nvSpPr>
                  <p:cNvPr id="29" name="Oval 28"/>
                  <p:cNvSpPr/>
                  <p:nvPr/>
                </p:nvSpPr>
                <p:spPr>
                  <a:xfrm>
                    <a:off x="3410521" y="2923259"/>
                    <a:ext cx="2837879" cy="2937147"/>
                  </a:xfrm>
                  <a:prstGeom prst="ellipse">
                    <a:avLst/>
                  </a:prstGeom>
                  <a:noFill/>
                  <a:ln w="57150" cap="flat" cmpd="sng" algn="ctr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3"/>
                  </a:lnRef>
                  <a:fillRef idx="3">
                    <a:schemeClr val="accent3"/>
                  </a:fillRef>
                  <a:effectRef idx="2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/>
                  <p:cNvSpPr/>
                  <p:nvPr/>
                </p:nvSpPr>
                <p:spPr>
                  <a:xfrm>
                    <a:off x="5725864" y="4817013"/>
                    <a:ext cx="651836" cy="670386"/>
                  </a:xfrm>
                  <a:prstGeom prst="ellipse">
                    <a:avLst/>
                  </a:prstGeom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Oval 30"/>
                  <p:cNvSpPr/>
                  <p:nvPr/>
                </p:nvSpPr>
                <p:spPr>
                  <a:xfrm>
                    <a:off x="5725864" y="3296936"/>
                    <a:ext cx="651836" cy="670386"/>
                  </a:xfrm>
                  <a:prstGeom prst="ellipse">
                    <a:avLst/>
                  </a:prstGeom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39" name="Group 38"/>
                  <p:cNvGrpSpPr/>
                  <p:nvPr/>
                </p:nvGrpSpPr>
                <p:grpSpPr>
                  <a:xfrm>
                    <a:off x="3276600" y="2832100"/>
                    <a:ext cx="2260599" cy="3174999"/>
                    <a:chOff x="3276600" y="2832100"/>
                    <a:chExt cx="2260599" cy="3174999"/>
                  </a:xfrm>
                </p:grpSpPr>
                <p:sp>
                  <p:nvSpPr>
                    <p:cNvPr id="32" name="Rectangle 31"/>
                    <p:cNvSpPr/>
                    <p:nvPr/>
                  </p:nvSpPr>
                  <p:spPr>
                    <a:xfrm>
                      <a:off x="3276600" y="2832100"/>
                      <a:ext cx="2082800" cy="3174999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solidFill>
                        <a:srgbClr val="FFFFFF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38" name="Group 37"/>
                    <p:cNvGrpSpPr/>
                    <p:nvPr/>
                  </p:nvGrpSpPr>
                  <p:grpSpPr>
                    <a:xfrm>
                      <a:off x="5398768" y="2915331"/>
                      <a:ext cx="138431" cy="401336"/>
                      <a:chOff x="5398768" y="2915331"/>
                      <a:chExt cx="138431" cy="401336"/>
                    </a:xfrm>
                  </p:grpSpPr>
                  <p:sp>
                    <p:nvSpPr>
                      <p:cNvPr id="33" name="Rectangle 32"/>
                      <p:cNvSpPr/>
                      <p:nvPr/>
                    </p:nvSpPr>
                    <p:spPr>
                      <a:xfrm flipH="1">
                        <a:off x="5398768" y="2915331"/>
                        <a:ext cx="49531" cy="312436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rgbClr val="FFFFFF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4" name="Rectangle 33"/>
                      <p:cNvSpPr/>
                      <p:nvPr/>
                    </p:nvSpPr>
                    <p:spPr>
                      <a:xfrm flipH="1">
                        <a:off x="5487668" y="3004231"/>
                        <a:ext cx="49531" cy="312436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rgbClr val="FFFFFF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37" name="Group 36"/>
                    <p:cNvGrpSpPr/>
                    <p:nvPr/>
                  </p:nvGrpSpPr>
                  <p:grpSpPr>
                    <a:xfrm>
                      <a:off x="5398768" y="5550580"/>
                      <a:ext cx="138431" cy="356886"/>
                      <a:chOff x="5398768" y="5550580"/>
                      <a:chExt cx="138431" cy="356886"/>
                    </a:xfrm>
                  </p:grpSpPr>
                  <p:sp>
                    <p:nvSpPr>
                      <p:cNvPr id="35" name="Rectangle 34"/>
                      <p:cNvSpPr/>
                      <p:nvPr/>
                    </p:nvSpPr>
                    <p:spPr>
                      <a:xfrm flipH="1">
                        <a:off x="5398768" y="5595030"/>
                        <a:ext cx="49531" cy="312436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rgbClr val="FFFFFF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6" name="Rectangle 35"/>
                      <p:cNvSpPr/>
                      <p:nvPr/>
                    </p:nvSpPr>
                    <p:spPr>
                      <a:xfrm flipH="1">
                        <a:off x="5487668" y="5550580"/>
                        <a:ext cx="49531" cy="312436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rgbClr val="FFFFFF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</p:grpSp>
            <p:sp>
              <p:nvSpPr>
                <p:cNvPr id="41" name="Rectangle 40"/>
                <p:cNvSpPr/>
                <p:nvPr/>
              </p:nvSpPr>
              <p:spPr>
                <a:xfrm flipH="1">
                  <a:off x="5577837" y="3060816"/>
                  <a:ext cx="49531" cy="312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 flipH="1">
                  <a:off x="5577837" y="5438812"/>
                  <a:ext cx="49531" cy="312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" name="TextBox 44"/>
              <p:cNvSpPr txBox="1"/>
              <p:nvPr/>
            </p:nvSpPr>
            <p:spPr>
              <a:xfrm>
                <a:off x="3270404" y="1211704"/>
                <a:ext cx="158048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 smtClean="0"/>
                  <a:t>Remote</a:t>
                </a:r>
              </a:p>
              <a:p>
                <a:pPr algn="ctr"/>
                <a:r>
                  <a:rPr lang="en-US" sz="2400" dirty="0" smtClean="0"/>
                  <a:t>Datacenter</a:t>
                </a:r>
                <a:endParaRPr lang="en-US" sz="2400" dirty="0"/>
              </a:p>
            </p:txBody>
          </p:sp>
        </p:grpSp>
        <p:sp>
          <p:nvSpPr>
            <p:cNvPr id="78" name="Rectangle 77"/>
            <p:cNvSpPr/>
            <p:nvPr/>
          </p:nvSpPr>
          <p:spPr>
            <a:xfrm>
              <a:off x="4014001" y="2521562"/>
              <a:ext cx="845600" cy="454664"/>
            </a:xfrm>
            <a:prstGeom prst="rect">
              <a:avLst/>
            </a:prstGeom>
            <a:solidFill>
              <a:srgbClr val="6F4A26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rmAutofit fontScale="92500" lnSpcReduction="20000"/>
            </a:bodyPr>
            <a:lstStyle/>
            <a:p>
              <a:pPr algn="ctr"/>
              <a:r>
                <a:rPr lang="en-US" sz="2900" dirty="0" smtClean="0"/>
                <a:t>Boss</a:t>
              </a:r>
              <a:endParaRPr lang="en-US" sz="2900" dirty="0">
                <a:solidFill>
                  <a:schemeClr val="bg1"/>
                </a:solidFill>
                <a:latin typeface="Calibri (Body)"/>
                <a:cs typeface="Calibri (Body)"/>
              </a:endParaRP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4035546" y="4181020"/>
              <a:ext cx="909706" cy="2755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sz="2400" dirty="0" smtClean="0"/>
                <a:t>Berkeley!</a:t>
              </a:r>
              <a:endParaRPr lang="en-US" sz="2400" dirty="0"/>
            </a:p>
          </p:txBody>
        </p:sp>
      </p:grpSp>
      <p:cxnSp>
        <p:nvCxnSpPr>
          <p:cNvPr id="9" name="Straight Arrow Connector 8"/>
          <p:cNvCxnSpPr>
            <a:endCxn id="91" idx="3"/>
          </p:cNvCxnSpPr>
          <p:nvPr/>
        </p:nvCxnSpPr>
        <p:spPr>
          <a:xfrm flipH="1" flipV="1">
            <a:off x="5109447" y="2991023"/>
            <a:ext cx="2134053" cy="72440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5078244" y="4001007"/>
            <a:ext cx="2165257" cy="45618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Gets Aren’t Enough</a:t>
            </a:r>
            <a:endParaRPr lang="en-US" dirty="0"/>
          </a:p>
        </p:txBody>
      </p:sp>
      <p:sp>
        <p:nvSpPr>
          <p:cNvPr id="83" name="Rectangle 82"/>
          <p:cNvSpPr/>
          <p:nvPr/>
        </p:nvSpPr>
        <p:spPr>
          <a:xfrm>
            <a:off x="4005285" y="2521247"/>
            <a:ext cx="845600" cy="45466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>
            <a:normAutofit fontScale="92500" lnSpcReduction="20000"/>
          </a:bodyPr>
          <a:lstStyle/>
          <a:p>
            <a:pPr algn="ctr"/>
            <a:r>
              <a:rPr lang="en-US" sz="2900" dirty="0" smtClean="0"/>
              <a:t>Boss</a:t>
            </a:r>
            <a:endParaRPr lang="en-US" sz="2900" dirty="0">
              <a:solidFill>
                <a:schemeClr val="bg1"/>
              </a:solidFill>
              <a:latin typeface="Calibri (Body)"/>
              <a:cs typeface="Calibri (Body)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4045543" y="4192655"/>
            <a:ext cx="909706" cy="275577"/>
          </a:xfrm>
          <a:prstGeom prst="rect">
            <a:avLst/>
          </a:prstGeom>
          <a:solidFill>
            <a:srgbClr val="7F7F7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normAutofit fontScale="55000" lnSpcReduction="20000"/>
          </a:bodyPr>
          <a:lstStyle/>
          <a:p>
            <a:pPr algn="ctr"/>
            <a:r>
              <a:rPr lang="en-US" sz="2400" dirty="0" smtClean="0"/>
              <a:t>Berkeley!</a:t>
            </a:r>
            <a:endParaRPr lang="en-US" sz="2400" dirty="0"/>
          </a:p>
        </p:txBody>
      </p:sp>
      <p:grpSp>
        <p:nvGrpSpPr>
          <p:cNvPr id="28" name="Group 27"/>
          <p:cNvGrpSpPr/>
          <p:nvPr/>
        </p:nvGrpSpPr>
        <p:grpSpPr>
          <a:xfrm>
            <a:off x="4155463" y="2638431"/>
            <a:ext cx="845600" cy="454664"/>
            <a:chOff x="-2519295" y="2795376"/>
            <a:chExt cx="845600" cy="454664"/>
          </a:xfrm>
        </p:grpSpPr>
        <p:sp>
          <p:nvSpPr>
            <p:cNvPr id="74" name="Rectangle 73"/>
            <p:cNvSpPr/>
            <p:nvPr/>
          </p:nvSpPr>
          <p:spPr>
            <a:xfrm>
              <a:off x="-2519295" y="2795376"/>
              <a:ext cx="845600" cy="454664"/>
            </a:xfrm>
            <a:prstGeom prst="rect">
              <a:avLst/>
            </a:prstGeom>
            <a:solidFill>
              <a:srgbClr val="6F4A26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rmAutofit fontScale="92500" lnSpcReduction="20000"/>
            </a:bodyPr>
            <a:lstStyle/>
            <a:p>
              <a:pPr algn="ctr"/>
              <a:r>
                <a:rPr lang="en-US" sz="2900" dirty="0" smtClean="0"/>
                <a:t>Boss</a:t>
              </a:r>
              <a:endParaRPr lang="en-US" sz="2900" dirty="0">
                <a:solidFill>
                  <a:schemeClr val="bg1"/>
                </a:solidFill>
                <a:latin typeface="Calibri (Body)"/>
                <a:cs typeface="Calibri (Body)"/>
              </a:endParaRPr>
            </a:p>
          </p:txBody>
        </p:sp>
        <p:grpSp>
          <p:nvGrpSpPr>
            <p:cNvPr id="75" name="Group 74"/>
            <p:cNvGrpSpPr/>
            <p:nvPr/>
          </p:nvGrpSpPr>
          <p:grpSpPr>
            <a:xfrm>
              <a:off x="-2430151" y="2977927"/>
              <a:ext cx="668162" cy="106217"/>
              <a:chOff x="4381501" y="2385454"/>
              <a:chExt cx="1025051" cy="251816"/>
            </a:xfrm>
          </p:grpSpPr>
          <p:cxnSp>
            <p:nvCxnSpPr>
              <p:cNvPr id="76" name="Straight Connector 75"/>
              <p:cNvCxnSpPr/>
              <p:nvPr/>
            </p:nvCxnSpPr>
            <p:spPr>
              <a:xfrm flipV="1">
                <a:off x="4381501" y="2385454"/>
                <a:ext cx="1025051" cy="251816"/>
              </a:xfrm>
              <a:prstGeom prst="line">
                <a:avLst/>
              </a:prstGeom>
              <a:ln w="38100" cmpd="sng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>
                <a:off x="4381501" y="2385454"/>
                <a:ext cx="1025051" cy="251816"/>
              </a:xfrm>
              <a:prstGeom prst="line">
                <a:avLst/>
              </a:prstGeom>
              <a:ln w="38100" cmpd="sng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8" name="Group 97"/>
          <p:cNvGrpSpPr/>
          <p:nvPr/>
        </p:nvGrpSpPr>
        <p:grpSpPr>
          <a:xfrm>
            <a:off x="7243499" y="2311440"/>
            <a:ext cx="1524000" cy="1807629"/>
            <a:chOff x="7243499" y="2311440"/>
            <a:chExt cx="1524000" cy="1807629"/>
          </a:xfrm>
        </p:grpSpPr>
        <p:pic>
          <p:nvPicPr>
            <p:cNvPr id="89" name="Picture 88" descr="mfreed_photo.jp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67921" y="2311440"/>
              <a:ext cx="961131" cy="1167447"/>
            </a:xfrm>
            <a:prstGeom prst="rect">
              <a:avLst/>
            </a:prstGeom>
          </p:spPr>
        </p:pic>
        <p:grpSp>
          <p:nvGrpSpPr>
            <p:cNvPr id="49" name="Group 48"/>
            <p:cNvGrpSpPr/>
            <p:nvPr/>
          </p:nvGrpSpPr>
          <p:grpSpPr>
            <a:xfrm>
              <a:off x="7243499" y="3543323"/>
              <a:ext cx="1524000" cy="575746"/>
              <a:chOff x="2607736" y="4961454"/>
              <a:chExt cx="1524000" cy="575746"/>
            </a:xfrm>
          </p:grpSpPr>
          <p:sp>
            <p:nvSpPr>
              <p:cNvPr id="97" name="Rectangle 96"/>
              <p:cNvSpPr/>
              <p:nvPr/>
            </p:nvSpPr>
            <p:spPr>
              <a:xfrm>
                <a:off x="2607736" y="4961454"/>
                <a:ext cx="1524000" cy="57574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4" name="Freeform 93"/>
              <p:cNvSpPr/>
              <p:nvPr/>
            </p:nvSpPr>
            <p:spPr>
              <a:xfrm>
                <a:off x="2803361" y="5133557"/>
                <a:ext cx="794746" cy="204981"/>
              </a:xfrm>
              <a:custGeom>
                <a:avLst/>
                <a:gdLst>
                  <a:gd name="connsiteX0" fmla="*/ 0 w 2810934"/>
                  <a:gd name="connsiteY0" fmla="*/ 474147 h 474147"/>
                  <a:gd name="connsiteX1" fmla="*/ 524934 w 2810934"/>
                  <a:gd name="connsiteY1" fmla="*/ 13 h 474147"/>
                  <a:gd name="connsiteX2" fmla="*/ 982134 w 2810934"/>
                  <a:gd name="connsiteY2" fmla="*/ 457213 h 474147"/>
                  <a:gd name="connsiteX3" fmla="*/ 1524000 w 2810934"/>
                  <a:gd name="connsiteY3" fmla="*/ 50813 h 474147"/>
                  <a:gd name="connsiteX4" fmla="*/ 1913467 w 2810934"/>
                  <a:gd name="connsiteY4" fmla="*/ 406413 h 474147"/>
                  <a:gd name="connsiteX5" fmla="*/ 2302934 w 2810934"/>
                  <a:gd name="connsiteY5" fmla="*/ 101613 h 474147"/>
                  <a:gd name="connsiteX6" fmla="*/ 2506134 w 2810934"/>
                  <a:gd name="connsiteY6" fmla="*/ 423347 h 474147"/>
                  <a:gd name="connsiteX7" fmla="*/ 2810934 w 2810934"/>
                  <a:gd name="connsiteY7" fmla="*/ 220147 h 474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10934" h="474147">
                    <a:moveTo>
                      <a:pt x="0" y="474147"/>
                    </a:moveTo>
                    <a:cubicBezTo>
                      <a:pt x="180622" y="238491"/>
                      <a:pt x="361245" y="2835"/>
                      <a:pt x="524934" y="13"/>
                    </a:cubicBezTo>
                    <a:cubicBezTo>
                      <a:pt x="688623" y="-2809"/>
                      <a:pt x="815623" y="448746"/>
                      <a:pt x="982134" y="457213"/>
                    </a:cubicBezTo>
                    <a:cubicBezTo>
                      <a:pt x="1148645" y="465680"/>
                      <a:pt x="1368778" y="59280"/>
                      <a:pt x="1524000" y="50813"/>
                    </a:cubicBezTo>
                    <a:cubicBezTo>
                      <a:pt x="1679222" y="42346"/>
                      <a:pt x="1783645" y="397946"/>
                      <a:pt x="1913467" y="406413"/>
                    </a:cubicBezTo>
                    <a:cubicBezTo>
                      <a:pt x="2043289" y="414880"/>
                      <a:pt x="2204156" y="98791"/>
                      <a:pt x="2302934" y="101613"/>
                    </a:cubicBezTo>
                    <a:cubicBezTo>
                      <a:pt x="2401712" y="104435"/>
                      <a:pt x="2421468" y="403591"/>
                      <a:pt x="2506134" y="423347"/>
                    </a:cubicBezTo>
                    <a:cubicBezTo>
                      <a:pt x="2590800" y="443103"/>
                      <a:pt x="2740378" y="304814"/>
                      <a:pt x="2810934" y="220147"/>
                    </a:cubicBezTo>
                  </a:path>
                </a:pathLst>
              </a:custGeom>
              <a:ln>
                <a:solidFill>
                  <a:schemeClr val="tx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99" name="Rectangle 98"/>
          <p:cNvSpPr/>
          <p:nvPr/>
        </p:nvSpPr>
        <p:spPr>
          <a:xfrm>
            <a:off x="7996081" y="4320550"/>
            <a:ext cx="845600" cy="454664"/>
          </a:xfrm>
          <a:prstGeom prst="rect">
            <a:avLst/>
          </a:prstGeom>
          <a:solidFill>
            <a:srgbClr val="6F4A26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>
            <a:normAutofit fontScale="92500" lnSpcReduction="20000"/>
          </a:bodyPr>
          <a:lstStyle/>
          <a:p>
            <a:pPr algn="ctr"/>
            <a:r>
              <a:rPr lang="en-US" sz="2900" dirty="0" smtClean="0"/>
              <a:t>Boss</a:t>
            </a:r>
            <a:endParaRPr lang="en-US" sz="2900" dirty="0">
              <a:solidFill>
                <a:schemeClr val="bg1"/>
              </a:solidFill>
              <a:latin typeface="Calibri (Body)"/>
              <a:cs typeface="Calibri (Body)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7016324" y="4406251"/>
            <a:ext cx="909706" cy="2755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r>
              <a:rPr lang="en-US" sz="2400" dirty="0" smtClean="0"/>
              <a:t>New Job!</a:t>
            </a:r>
            <a:endParaRPr lang="en-US" sz="2400" dirty="0"/>
          </a:p>
        </p:txBody>
      </p:sp>
      <p:sp>
        <p:nvSpPr>
          <p:cNvPr id="82" name="Rectangle 81"/>
          <p:cNvSpPr/>
          <p:nvPr/>
        </p:nvSpPr>
        <p:spPr>
          <a:xfrm>
            <a:off x="4168538" y="4308632"/>
            <a:ext cx="909706" cy="2755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r>
              <a:rPr lang="en-US" sz="2400" dirty="0" smtClean="0"/>
              <a:t>New Job!</a:t>
            </a:r>
            <a:endParaRPr lang="en-US" sz="2400" dirty="0"/>
          </a:p>
        </p:txBody>
      </p:sp>
      <p:sp>
        <p:nvSpPr>
          <p:cNvPr id="16" name="Rounded Rectangular Callout 15"/>
          <p:cNvSpPr/>
          <p:nvPr/>
        </p:nvSpPr>
        <p:spPr>
          <a:xfrm>
            <a:off x="5849086" y="1305158"/>
            <a:ext cx="1675948" cy="915213"/>
          </a:xfrm>
          <a:prstGeom prst="wedgeRoundRectCallout">
            <a:avLst>
              <a:gd name="adj1" fmla="val 61799"/>
              <a:gd name="adj2" fmla="val 125579"/>
              <a:gd name="adj3" fmla="val 16667"/>
            </a:avLst>
          </a:prstGeom>
          <a:solidFill>
            <a:srgbClr val="FFFFFF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FF0000"/>
                </a:solidFill>
              </a:rPr>
              <a:t>You’re Fired!!</a:t>
            </a:r>
            <a:endParaRPr lang="en-US" sz="2800" dirty="0">
              <a:solidFill>
                <a:srgbClr val="FF000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66957" y="3969301"/>
            <a:ext cx="1523999" cy="918674"/>
            <a:chOff x="366957" y="3911569"/>
            <a:chExt cx="1523999" cy="918674"/>
          </a:xfrm>
        </p:grpSpPr>
        <p:sp>
          <p:nvSpPr>
            <p:cNvPr id="71" name="Rectangle 70"/>
            <p:cNvSpPr/>
            <p:nvPr/>
          </p:nvSpPr>
          <p:spPr>
            <a:xfrm>
              <a:off x="366957" y="4410114"/>
              <a:ext cx="1523999" cy="42012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2400" dirty="0" smtClean="0"/>
                <a:t>Berkeley!</a:t>
              </a:r>
              <a:endParaRPr lang="en-US" sz="2400" dirty="0"/>
            </a:p>
          </p:txBody>
        </p:sp>
        <p:cxnSp>
          <p:nvCxnSpPr>
            <p:cNvPr id="134" name="Straight Arrow Connector 133"/>
            <p:cNvCxnSpPr/>
            <p:nvPr/>
          </p:nvCxnSpPr>
          <p:spPr>
            <a:xfrm>
              <a:off x="1128957" y="3911569"/>
              <a:ext cx="0" cy="43695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6" name="Group 155"/>
          <p:cNvGrpSpPr/>
          <p:nvPr/>
        </p:nvGrpSpPr>
        <p:grpSpPr>
          <a:xfrm>
            <a:off x="334423" y="3517164"/>
            <a:ext cx="2651305" cy="707886"/>
            <a:chOff x="190500" y="2417668"/>
            <a:chExt cx="2651305" cy="707886"/>
          </a:xfrm>
        </p:grpSpPr>
        <p:cxnSp>
          <p:nvCxnSpPr>
            <p:cNvPr id="157" name="Straight Connector 156"/>
            <p:cNvCxnSpPr/>
            <p:nvPr/>
          </p:nvCxnSpPr>
          <p:spPr>
            <a:xfrm>
              <a:off x="190500" y="2791771"/>
              <a:ext cx="1879600" cy="0"/>
            </a:xfrm>
            <a:prstGeom prst="line">
              <a:avLst/>
            </a:prstGeom>
            <a:ln w="38100" cmpd="sng">
              <a:solidFill>
                <a:schemeClr val="accent4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/>
            <p:cNvSpPr txBox="1"/>
            <p:nvPr/>
          </p:nvSpPr>
          <p:spPr>
            <a:xfrm>
              <a:off x="1761586" y="2417668"/>
              <a:ext cx="108021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Remote</a:t>
              </a:r>
            </a:p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Progress</a:t>
              </a:r>
              <a:endParaRPr lang="en-US" sz="2000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grpSp>
        <p:nvGrpSpPr>
          <p:cNvPr id="159" name="Group 158"/>
          <p:cNvGrpSpPr/>
          <p:nvPr/>
        </p:nvGrpSpPr>
        <p:grpSpPr>
          <a:xfrm>
            <a:off x="593150" y="4601409"/>
            <a:ext cx="2651305" cy="707886"/>
            <a:chOff x="190500" y="2417668"/>
            <a:chExt cx="2651305" cy="707886"/>
          </a:xfrm>
        </p:grpSpPr>
        <p:cxnSp>
          <p:nvCxnSpPr>
            <p:cNvPr id="160" name="Straight Connector 159"/>
            <p:cNvCxnSpPr/>
            <p:nvPr/>
          </p:nvCxnSpPr>
          <p:spPr>
            <a:xfrm>
              <a:off x="190500" y="2791771"/>
              <a:ext cx="1879600" cy="0"/>
            </a:xfrm>
            <a:prstGeom prst="line">
              <a:avLst/>
            </a:prstGeom>
            <a:ln w="38100" cmpd="sng">
              <a:solidFill>
                <a:schemeClr val="accent4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TextBox 160"/>
            <p:cNvSpPr txBox="1"/>
            <p:nvPr/>
          </p:nvSpPr>
          <p:spPr>
            <a:xfrm>
              <a:off x="1761586" y="2417668"/>
              <a:ext cx="108021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Remote</a:t>
              </a:r>
            </a:p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Progress</a:t>
              </a:r>
              <a:endParaRPr lang="en-US" sz="2000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46063" y="5918534"/>
            <a:ext cx="2651305" cy="707886"/>
            <a:chOff x="190500" y="2417668"/>
            <a:chExt cx="2651305" cy="707886"/>
          </a:xfrm>
        </p:grpSpPr>
        <p:cxnSp>
          <p:nvCxnSpPr>
            <p:cNvPr id="163" name="Straight Connector 162"/>
            <p:cNvCxnSpPr/>
            <p:nvPr/>
          </p:nvCxnSpPr>
          <p:spPr>
            <a:xfrm>
              <a:off x="190500" y="2791771"/>
              <a:ext cx="1879600" cy="0"/>
            </a:xfrm>
            <a:prstGeom prst="line">
              <a:avLst/>
            </a:prstGeom>
            <a:ln w="38100" cmpd="sng">
              <a:solidFill>
                <a:schemeClr val="accent4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/>
            <p:cNvSpPr txBox="1"/>
            <p:nvPr/>
          </p:nvSpPr>
          <p:spPr>
            <a:xfrm>
              <a:off x="1761586" y="2417668"/>
              <a:ext cx="108021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Remote</a:t>
              </a:r>
            </a:p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Progress</a:t>
              </a:r>
              <a:endParaRPr lang="en-US" sz="2000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grpSp>
        <p:nvGrpSpPr>
          <p:cNvPr id="165" name="Group 164"/>
          <p:cNvGrpSpPr/>
          <p:nvPr/>
        </p:nvGrpSpPr>
        <p:grpSpPr>
          <a:xfrm>
            <a:off x="358956" y="1095751"/>
            <a:ext cx="1573868" cy="2690415"/>
            <a:chOff x="237587" y="2291713"/>
            <a:chExt cx="1573868" cy="2690415"/>
          </a:xfrm>
        </p:grpSpPr>
        <p:grpSp>
          <p:nvGrpSpPr>
            <p:cNvPr id="166" name="Group 165"/>
            <p:cNvGrpSpPr/>
            <p:nvPr/>
          </p:nvGrpSpPr>
          <p:grpSpPr>
            <a:xfrm>
              <a:off x="237587" y="2291713"/>
              <a:ext cx="1573868" cy="2178615"/>
              <a:chOff x="308837" y="575162"/>
              <a:chExt cx="1573868" cy="2178615"/>
            </a:xfrm>
          </p:grpSpPr>
          <p:cxnSp>
            <p:nvCxnSpPr>
              <p:cNvPr id="173" name="Straight Arrow Connector 172"/>
              <p:cNvCxnSpPr/>
              <p:nvPr/>
            </p:nvCxnSpPr>
            <p:spPr>
              <a:xfrm>
                <a:off x="1078838" y="2316827"/>
                <a:ext cx="0" cy="43695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4" name="TextBox 173"/>
              <p:cNvSpPr txBox="1"/>
              <p:nvPr/>
            </p:nvSpPr>
            <p:spPr>
              <a:xfrm>
                <a:off x="308837" y="575162"/>
                <a:ext cx="157386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 smtClean="0"/>
                  <a:t>My</a:t>
                </a:r>
              </a:p>
              <a:p>
                <a:pPr algn="ctr"/>
                <a:r>
                  <a:rPr lang="en-US" sz="2400" dirty="0" smtClean="0"/>
                  <a:t>Operations</a:t>
                </a:r>
                <a:endParaRPr lang="en-US" sz="2400" dirty="0"/>
              </a:p>
            </p:txBody>
          </p:sp>
        </p:grpSp>
        <p:sp>
          <p:nvSpPr>
            <p:cNvPr id="167" name="Rectangle 166"/>
            <p:cNvSpPr/>
            <p:nvPr/>
          </p:nvSpPr>
          <p:spPr>
            <a:xfrm>
              <a:off x="237587" y="4520463"/>
              <a:ext cx="1523999" cy="46166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New Job!</a:t>
              </a:r>
              <a:endParaRPr lang="en-US" sz="2400" dirty="0"/>
            </a:p>
          </p:txBody>
        </p:sp>
        <p:grpSp>
          <p:nvGrpSpPr>
            <p:cNvPr id="168" name="Group 167"/>
            <p:cNvGrpSpPr/>
            <p:nvPr/>
          </p:nvGrpSpPr>
          <p:grpSpPr>
            <a:xfrm>
              <a:off x="358956" y="3269655"/>
              <a:ext cx="1297264" cy="615278"/>
              <a:chOff x="4244742" y="1943372"/>
              <a:chExt cx="1297264" cy="615278"/>
            </a:xfrm>
          </p:grpSpPr>
          <p:sp>
            <p:nvSpPr>
              <p:cNvPr id="169" name="Rectangle 168"/>
              <p:cNvSpPr/>
              <p:nvPr/>
            </p:nvSpPr>
            <p:spPr>
              <a:xfrm>
                <a:off x="4244742" y="1943372"/>
                <a:ext cx="1297264" cy="615278"/>
              </a:xfrm>
              <a:prstGeom prst="rect">
                <a:avLst/>
              </a:prstGeom>
              <a:solidFill>
                <a:srgbClr val="6F4A26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sz="2900" dirty="0" smtClean="0"/>
                  <a:t>Boss</a:t>
                </a:r>
                <a:endParaRPr lang="en-US" sz="2900" dirty="0">
                  <a:solidFill>
                    <a:schemeClr val="bg1"/>
                  </a:solidFill>
                  <a:latin typeface="Calibri (Body)"/>
                  <a:cs typeface="Calibri (Body)"/>
                </a:endParaRPr>
              </a:p>
            </p:txBody>
          </p:sp>
          <p:grpSp>
            <p:nvGrpSpPr>
              <p:cNvPr id="170" name="Group 169"/>
              <p:cNvGrpSpPr/>
              <p:nvPr/>
            </p:nvGrpSpPr>
            <p:grpSpPr>
              <a:xfrm>
                <a:off x="4334717" y="2113200"/>
                <a:ext cx="1071182" cy="256710"/>
                <a:chOff x="4334717" y="2093956"/>
                <a:chExt cx="1071182" cy="256710"/>
              </a:xfrm>
            </p:grpSpPr>
            <p:cxnSp>
              <p:nvCxnSpPr>
                <p:cNvPr id="171" name="Straight Connector 170"/>
                <p:cNvCxnSpPr/>
                <p:nvPr/>
              </p:nvCxnSpPr>
              <p:spPr>
                <a:xfrm flipV="1">
                  <a:off x="4380848" y="2093956"/>
                  <a:ext cx="1025051" cy="251816"/>
                </a:xfrm>
                <a:prstGeom prst="line">
                  <a:avLst/>
                </a:prstGeom>
                <a:ln w="38100" cmpd="sng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/>
                <p:cNvCxnSpPr/>
                <p:nvPr/>
              </p:nvCxnSpPr>
              <p:spPr>
                <a:xfrm>
                  <a:off x="4334717" y="2098850"/>
                  <a:ext cx="1025051" cy="251816"/>
                </a:xfrm>
                <a:prstGeom prst="line">
                  <a:avLst/>
                </a:prstGeom>
                <a:ln w="38100" cmpd="sng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8" name="Group 7"/>
          <p:cNvGrpSpPr/>
          <p:nvPr/>
        </p:nvGrpSpPr>
        <p:grpSpPr>
          <a:xfrm>
            <a:off x="457200" y="5101340"/>
            <a:ext cx="1297264" cy="1115107"/>
            <a:chOff x="457200" y="5005120"/>
            <a:chExt cx="1297264" cy="1115107"/>
          </a:xfrm>
        </p:grpSpPr>
        <p:cxnSp>
          <p:nvCxnSpPr>
            <p:cNvPr id="135" name="Straight Arrow Connector 134"/>
            <p:cNvCxnSpPr/>
            <p:nvPr/>
          </p:nvCxnSpPr>
          <p:spPr>
            <a:xfrm>
              <a:off x="1128957" y="5005120"/>
              <a:ext cx="0" cy="43695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5" name="Rectangle 174"/>
            <p:cNvSpPr/>
            <p:nvPr/>
          </p:nvSpPr>
          <p:spPr>
            <a:xfrm>
              <a:off x="457200" y="5504949"/>
              <a:ext cx="1297264" cy="615278"/>
            </a:xfrm>
            <a:prstGeom prst="rect">
              <a:avLst/>
            </a:prstGeom>
            <a:solidFill>
              <a:srgbClr val="6F4A26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2900" dirty="0" smtClean="0"/>
                <a:t>Boss</a:t>
              </a:r>
              <a:endParaRPr lang="en-US" sz="2900" dirty="0">
                <a:solidFill>
                  <a:schemeClr val="bg1"/>
                </a:solidFill>
                <a:latin typeface="Calibri (Body)"/>
                <a:cs typeface="Calibri (Body)"/>
              </a:endParaRPr>
            </a:p>
          </p:txBody>
        </p:sp>
      </p:grpSp>
      <p:sp>
        <p:nvSpPr>
          <p:cNvPr id="93" name="Rectangle 92"/>
          <p:cNvSpPr/>
          <p:nvPr/>
        </p:nvSpPr>
        <p:spPr>
          <a:xfrm>
            <a:off x="4168538" y="4299163"/>
            <a:ext cx="909706" cy="275577"/>
          </a:xfrm>
          <a:prstGeom prst="rect">
            <a:avLst/>
          </a:prstGeom>
          <a:solidFill>
            <a:srgbClr val="7F7F7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r>
              <a:rPr lang="en-US" sz="2400" dirty="0" smtClean="0"/>
              <a:t>New Job!</a:t>
            </a:r>
            <a:endParaRPr lang="en-US" sz="2400" dirty="0"/>
          </a:p>
        </p:txBody>
      </p:sp>
      <p:sp>
        <p:nvSpPr>
          <p:cNvPr id="90" name="Rectangle 89"/>
          <p:cNvSpPr/>
          <p:nvPr/>
        </p:nvSpPr>
        <p:spPr>
          <a:xfrm>
            <a:off x="4297335" y="4444947"/>
            <a:ext cx="909706" cy="2755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normAutofit fontScale="55000" lnSpcReduction="20000"/>
          </a:bodyPr>
          <a:lstStyle/>
          <a:p>
            <a:pPr algn="ctr"/>
            <a:r>
              <a:rPr lang="en-US" sz="2400" dirty="0" smtClean="0"/>
              <a:t>Berkeley!</a:t>
            </a:r>
            <a:endParaRPr lang="en-US" sz="2400" dirty="0"/>
          </a:p>
        </p:txBody>
      </p:sp>
      <p:grpSp>
        <p:nvGrpSpPr>
          <p:cNvPr id="47" name="Group 46"/>
          <p:cNvGrpSpPr/>
          <p:nvPr/>
        </p:nvGrpSpPr>
        <p:grpSpPr>
          <a:xfrm>
            <a:off x="4155463" y="2638431"/>
            <a:ext cx="845600" cy="454664"/>
            <a:chOff x="-1543742" y="2795376"/>
            <a:chExt cx="845600" cy="454664"/>
          </a:xfrm>
        </p:grpSpPr>
        <p:sp>
          <p:nvSpPr>
            <p:cNvPr id="84" name="Rectangle 83"/>
            <p:cNvSpPr/>
            <p:nvPr/>
          </p:nvSpPr>
          <p:spPr>
            <a:xfrm>
              <a:off x="-1543742" y="2795376"/>
              <a:ext cx="845600" cy="454664"/>
            </a:xfrm>
            <a:prstGeom prst="rect">
              <a:avLst/>
            </a:prstGeom>
            <a:solidFill>
              <a:srgbClr val="7F7F7F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rmAutofit fontScale="92500" lnSpcReduction="20000"/>
            </a:bodyPr>
            <a:lstStyle/>
            <a:p>
              <a:pPr algn="ctr"/>
              <a:r>
                <a:rPr lang="en-US" sz="2900" dirty="0" smtClean="0"/>
                <a:t>Boss</a:t>
              </a:r>
              <a:endParaRPr lang="en-US" sz="2900" dirty="0">
                <a:solidFill>
                  <a:schemeClr val="bg1"/>
                </a:solidFill>
                <a:latin typeface="Calibri (Body)"/>
                <a:cs typeface="Calibri (Body)"/>
              </a:endParaRPr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-1454598" y="2977927"/>
              <a:ext cx="668162" cy="106217"/>
              <a:chOff x="4381501" y="2385454"/>
              <a:chExt cx="1025051" cy="251816"/>
            </a:xfrm>
            <a:solidFill>
              <a:srgbClr val="7F7F7F"/>
            </a:solidFill>
          </p:grpSpPr>
          <p:cxnSp>
            <p:nvCxnSpPr>
              <p:cNvPr id="86" name="Straight Connector 85"/>
              <p:cNvCxnSpPr/>
              <p:nvPr/>
            </p:nvCxnSpPr>
            <p:spPr>
              <a:xfrm flipV="1">
                <a:off x="4381501" y="2385454"/>
                <a:ext cx="1025051" cy="251816"/>
              </a:xfrm>
              <a:prstGeom prst="line">
                <a:avLst/>
              </a:prstGeom>
              <a:grpFill/>
              <a:ln w="38100" cmpd="sng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>
                <a:off x="4381501" y="2385454"/>
                <a:ext cx="1025051" cy="251816"/>
              </a:xfrm>
              <a:prstGeom prst="line">
                <a:avLst/>
              </a:prstGeom>
              <a:grpFill/>
              <a:ln w="38100" cmpd="sng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1" name="Rectangle 90"/>
          <p:cNvSpPr/>
          <p:nvPr/>
        </p:nvSpPr>
        <p:spPr>
          <a:xfrm>
            <a:off x="4263847" y="2763691"/>
            <a:ext cx="845600" cy="454664"/>
          </a:xfrm>
          <a:prstGeom prst="rect">
            <a:avLst/>
          </a:prstGeom>
          <a:solidFill>
            <a:srgbClr val="6F4A26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>
            <a:normAutofit fontScale="92500" lnSpcReduction="20000"/>
          </a:bodyPr>
          <a:lstStyle/>
          <a:p>
            <a:pPr algn="ctr"/>
            <a:r>
              <a:rPr lang="en-US" sz="2900" dirty="0" smtClean="0"/>
              <a:t>Boss</a:t>
            </a:r>
            <a:endParaRPr lang="en-US" sz="2900" dirty="0">
              <a:solidFill>
                <a:schemeClr val="bg1"/>
              </a:solidFill>
              <a:latin typeface="Calibri (Body)"/>
              <a:cs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7562508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00" grpId="0" animBg="1"/>
      <p:bldP spid="16" grpId="0" animBg="1"/>
      <p:bldP spid="93" grpId="0" animBg="1"/>
      <p:bldP spid="90" grpId="0" animBg="1"/>
      <p:bldP spid="9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 Transactions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Provide consistent view of multiple keys</a:t>
            </a:r>
          </a:p>
          <a:p>
            <a:pPr lvl="1"/>
            <a:r>
              <a:rPr lang="en-US" dirty="0" smtClean="0"/>
              <a:t>Snapshot of visible values</a:t>
            </a:r>
          </a:p>
          <a:p>
            <a:endParaRPr lang="en-US" dirty="0"/>
          </a:p>
          <a:p>
            <a:r>
              <a:rPr lang="en-US" dirty="0" smtClean="0"/>
              <a:t>Keys can be spread across many servers</a:t>
            </a:r>
          </a:p>
          <a:p>
            <a:endParaRPr lang="en-US" dirty="0"/>
          </a:p>
          <a:p>
            <a:r>
              <a:rPr lang="en-US" dirty="0" smtClean="0"/>
              <a:t>Takes at most 2 parallel                                              rounds of gets</a:t>
            </a:r>
          </a:p>
          <a:p>
            <a:pPr>
              <a:lnSpc>
                <a:spcPct val="80000"/>
              </a:lnSpc>
            </a:pPr>
            <a:endParaRPr lang="en-US" dirty="0"/>
          </a:p>
          <a:p>
            <a:r>
              <a:rPr lang="en-US" dirty="0" smtClean="0"/>
              <a:t>No locks, no blocking</a:t>
            </a:r>
          </a:p>
        </p:txBody>
      </p:sp>
      <p:sp>
        <p:nvSpPr>
          <p:cNvPr id="4" name="Right Brace 3"/>
          <p:cNvSpPr/>
          <p:nvPr/>
        </p:nvSpPr>
        <p:spPr>
          <a:xfrm>
            <a:off x="4863584" y="4275084"/>
            <a:ext cx="838200" cy="1921411"/>
          </a:xfrm>
          <a:prstGeom prst="rightBrace">
            <a:avLst>
              <a:gd name="adj1" fmla="val 41650"/>
              <a:gd name="adj2" fmla="val 49371"/>
            </a:avLst>
          </a:prstGeom>
          <a:ln w="38100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07100" y="4908533"/>
            <a:ext cx="2679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Low Latency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195333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1260623" y="1211704"/>
            <a:ext cx="3684629" cy="4171037"/>
            <a:chOff x="1260623" y="1211704"/>
            <a:chExt cx="3684629" cy="4171037"/>
          </a:xfrm>
        </p:grpSpPr>
        <p:grpSp>
          <p:nvGrpSpPr>
            <p:cNvPr id="12" name="Group 11"/>
            <p:cNvGrpSpPr/>
            <p:nvPr/>
          </p:nvGrpSpPr>
          <p:grpSpPr>
            <a:xfrm>
              <a:off x="1260623" y="1211704"/>
              <a:ext cx="3590262" cy="4171037"/>
              <a:chOff x="1260623" y="1211704"/>
              <a:chExt cx="3590262" cy="4171037"/>
            </a:xfrm>
          </p:grpSpPr>
          <p:grpSp>
            <p:nvGrpSpPr>
              <p:cNvPr id="43" name="Group 42"/>
              <p:cNvGrpSpPr/>
              <p:nvPr/>
            </p:nvGrpSpPr>
            <p:grpSpPr>
              <a:xfrm>
                <a:off x="1260623" y="2207742"/>
                <a:ext cx="3101100" cy="3174999"/>
                <a:chOff x="3276600" y="2832100"/>
                <a:chExt cx="3101100" cy="3174999"/>
              </a:xfrm>
            </p:grpSpPr>
            <p:grpSp>
              <p:nvGrpSpPr>
                <p:cNvPr id="40" name="Group 39"/>
                <p:cNvGrpSpPr/>
                <p:nvPr/>
              </p:nvGrpSpPr>
              <p:grpSpPr>
                <a:xfrm>
                  <a:off x="3276600" y="2832100"/>
                  <a:ext cx="3101100" cy="3174999"/>
                  <a:chOff x="3276600" y="2832100"/>
                  <a:chExt cx="3101100" cy="3174999"/>
                </a:xfrm>
              </p:grpSpPr>
              <p:sp>
                <p:nvSpPr>
                  <p:cNvPr id="29" name="Oval 28"/>
                  <p:cNvSpPr/>
                  <p:nvPr/>
                </p:nvSpPr>
                <p:spPr>
                  <a:xfrm>
                    <a:off x="3410521" y="2923259"/>
                    <a:ext cx="2837879" cy="2937147"/>
                  </a:xfrm>
                  <a:prstGeom prst="ellipse">
                    <a:avLst/>
                  </a:prstGeom>
                  <a:noFill/>
                  <a:ln w="57150" cap="flat" cmpd="sng" algn="ctr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3"/>
                  </a:lnRef>
                  <a:fillRef idx="3">
                    <a:schemeClr val="accent3"/>
                  </a:fillRef>
                  <a:effectRef idx="2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/>
                  <p:cNvSpPr/>
                  <p:nvPr/>
                </p:nvSpPr>
                <p:spPr>
                  <a:xfrm>
                    <a:off x="5725864" y="4817013"/>
                    <a:ext cx="651836" cy="670386"/>
                  </a:xfrm>
                  <a:prstGeom prst="ellipse">
                    <a:avLst/>
                  </a:prstGeom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Oval 30"/>
                  <p:cNvSpPr/>
                  <p:nvPr/>
                </p:nvSpPr>
                <p:spPr>
                  <a:xfrm>
                    <a:off x="5725864" y="3296936"/>
                    <a:ext cx="651836" cy="670386"/>
                  </a:xfrm>
                  <a:prstGeom prst="ellipse">
                    <a:avLst/>
                  </a:prstGeom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39" name="Group 38"/>
                  <p:cNvGrpSpPr/>
                  <p:nvPr/>
                </p:nvGrpSpPr>
                <p:grpSpPr>
                  <a:xfrm>
                    <a:off x="3276600" y="2832100"/>
                    <a:ext cx="2260599" cy="3174999"/>
                    <a:chOff x="3276600" y="2832100"/>
                    <a:chExt cx="2260599" cy="3174999"/>
                  </a:xfrm>
                </p:grpSpPr>
                <p:sp>
                  <p:nvSpPr>
                    <p:cNvPr id="32" name="Rectangle 31"/>
                    <p:cNvSpPr/>
                    <p:nvPr/>
                  </p:nvSpPr>
                  <p:spPr>
                    <a:xfrm>
                      <a:off x="3276600" y="2832100"/>
                      <a:ext cx="2082800" cy="3174999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solidFill>
                        <a:srgbClr val="FFFFFF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38" name="Group 37"/>
                    <p:cNvGrpSpPr/>
                    <p:nvPr/>
                  </p:nvGrpSpPr>
                  <p:grpSpPr>
                    <a:xfrm>
                      <a:off x="5398768" y="2915331"/>
                      <a:ext cx="138431" cy="401336"/>
                      <a:chOff x="5398768" y="2915331"/>
                      <a:chExt cx="138431" cy="401336"/>
                    </a:xfrm>
                  </p:grpSpPr>
                  <p:sp>
                    <p:nvSpPr>
                      <p:cNvPr id="33" name="Rectangle 32"/>
                      <p:cNvSpPr/>
                      <p:nvPr/>
                    </p:nvSpPr>
                    <p:spPr>
                      <a:xfrm flipH="1">
                        <a:off x="5398768" y="2915331"/>
                        <a:ext cx="49531" cy="312436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rgbClr val="FFFFFF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4" name="Rectangle 33"/>
                      <p:cNvSpPr/>
                      <p:nvPr/>
                    </p:nvSpPr>
                    <p:spPr>
                      <a:xfrm flipH="1">
                        <a:off x="5487668" y="3004231"/>
                        <a:ext cx="49531" cy="312436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rgbClr val="FFFFFF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37" name="Group 36"/>
                    <p:cNvGrpSpPr/>
                    <p:nvPr/>
                  </p:nvGrpSpPr>
                  <p:grpSpPr>
                    <a:xfrm>
                      <a:off x="5398768" y="5550580"/>
                      <a:ext cx="138431" cy="356886"/>
                      <a:chOff x="5398768" y="5550580"/>
                      <a:chExt cx="138431" cy="356886"/>
                    </a:xfrm>
                  </p:grpSpPr>
                  <p:sp>
                    <p:nvSpPr>
                      <p:cNvPr id="35" name="Rectangle 34"/>
                      <p:cNvSpPr/>
                      <p:nvPr/>
                    </p:nvSpPr>
                    <p:spPr>
                      <a:xfrm flipH="1">
                        <a:off x="5398768" y="5595030"/>
                        <a:ext cx="49531" cy="312436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rgbClr val="FFFFFF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6" name="Rectangle 35"/>
                      <p:cNvSpPr/>
                      <p:nvPr/>
                    </p:nvSpPr>
                    <p:spPr>
                      <a:xfrm flipH="1">
                        <a:off x="5487668" y="5550580"/>
                        <a:ext cx="49531" cy="312436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rgbClr val="FFFFFF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</p:grpSp>
            <p:sp>
              <p:nvSpPr>
                <p:cNvPr id="41" name="Rectangle 40"/>
                <p:cNvSpPr/>
                <p:nvPr/>
              </p:nvSpPr>
              <p:spPr>
                <a:xfrm flipH="1">
                  <a:off x="5577837" y="3060816"/>
                  <a:ext cx="49531" cy="312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 flipH="1">
                  <a:off x="5577837" y="5438812"/>
                  <a:ext cx="49531" cy="312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" name="TextBox 44"/>
              <p:cNvSpPr txBox="1"/>
              <p:nvPr/>
            </p:nvSpPr>
            <p:spPr>
              <a:xfrm>
                <a:off x="3270404" y="1211704"/>
                <a:ext cx="158048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 smtClean="0"/>
                  <a:t>Remote</a:t>
                </a:r>
              </a:p>
              <a:p>
                <a:pPr algn="ctr"/>
                <a:r>
                  <a:rPr lang="en-US" sz="2400" dirty="0" smtClean="0"/>
                  <a:t>Datacenter</a:t>
                </a:r>
                <a:endParaRPr lang="en-US" sz="2400" dirty="0"/>
              </a:p>
            </p:txBody>
          </p:sp>
        </p:grpSp>
        <p:sp>
          <p:nvSpPr>
            <p:cNvPr id="78" name="Rectangle 77"/>
            <p:cNvSpPr/>
            <p:nvPr/>
          </p:nvSpPr>
          <p:spPr>
            <a:xfrm>
              <a:off x="4014001" y="2521562"/>
              <a:ext cx="845600" cy="454664"/>
            </a:xfrm>
            <a:prstGeom prst="rect">
              <a:avLst/>
            </a:prstGeom>
            <a:solidFill>
              <a:srgbClr val="6F4A26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rmAutofit fontScale="92500" lnSpcReduction="20000"/>
            </a:bodyPr>
            <a:lstStyle/>
            <a:p>
              <a:pPr algn="ctr"/>
              <a:r>
                <a:rPr lang="en-US" sz="2900" dirty="0" smtClean="0"/>
                <a:t>Boss</a:t>
              </a:r>
              <a:endParaRPr lang="en-US" sz="2900" dirty="0">
                <a:solidFill>
                  <a:schemeClr val="bg1"/>
                </a:solidFill>
                <a:latin typeface="Calibri (Body)"/>
                <a:cs typeface="Calibri (Body)"/>
              </a:endParaRP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4035546" y="4181020"/>
              <a:ext cx="909706" cy="2755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sz="2400" dirty="0" smtClean="0"/>
                <a:t>Berkeley!</a:t>
              </a:r>
              <a:endParaRPr lang="en-US" sz="240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 Transactions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311869" y="1554580"/>
            <a:ext cx="2651305" cy="707886"/>
            <a:chOff x="190500" y="2417668"/>
            <a:chExt cx="2651305" cy="707886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190500" y="2791771"/>
              <a:ext cx="1879600" cy="0"/>
            </a:xfrm>
            <a:prstGeom prst="line">
              <a:avLst/>
            </a:prstGeom>
            <a:ln w="38100" cmpd="sng">
              <a:solidFill>
                <a:schemeClr val="accent4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1761586" y="2417668"/>
              <a:ext cx="108021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Remote</a:t>
              </a:r>
            </a:p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Progress</a:t>
              </a:r>
              <a:endParaRPr lang="en-US" sz="2000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358956" y="2407897"/>
            <a:ext cx="2651305" cy="707886"/>
            <a:chOff x="190500" y="2417668"/>
            <a:chExt cx="2651305" cy="707886"/>
          </a:xfrm>
        </p:grpSpPr>
        <p:cxnSp>
          <p:nvCxnSpPr>
            <p:cNvPr id="59" name="Straight Connector 58"/>
            <p:cNvCxnSpPr/>
            <p:nvPr/>
          </p:nvCxnSpPr>
          <p:spPr>
            <a:xfrm>
              <a:off x="190500" y="2791771"/>
              <a:ext cx="1879600" cy="0"/>
            </a:xfrm>
            <a:prstGeom prst="line">
              <a:avLst/>
            </a:prstGeom>
            <a:ln w="38100" cmpd="sng">
              <a:solidFill>
                <a:schemeClr val="accent4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761586" y="2417668"/>
              <a:ext cx="108021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Remote</a:t>
              </a:r>
            </a:p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Progress</a:t>
              </a:r>
              <a:endParaRPr lang="en-US" sz="2000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311869" y="3513338"/>
            <a:ext cx="2651305" cy="707886"/>
            <a:chOff x="190500" y="2417668"/>
            <a:chExt cx="2651305" cy="707886"/>
          </a:xfrm>
        </p:grpSpPr>
        <p:cxnSp>
          <p:nvCxnSpPr>
            <p:cNvPr id="62" name="Straight Connector 61"/>
            <p:cNvCxnSpPr/>
            <p:nvPr/>
          </p:nvCxnSpPr>
          <p:spPr>
            <a:xfrm>
              <a:off x="190500" y="2791771"/>
              <a:ext cx="1879600" cy="0"/>
            </a:xfrm>
            <a:prstGeom prst="line">
              <a:avLst/>
            </a:prstGeom>
            <a:ln w="38100" cmpd="sng">
              <a:solidFill>
                <a:schemeClr val="accent4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1761586" y="2417668"/>
              <a:ext cx="108021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Remote</a:t>
              </a:r>
            </a:p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Progress</a:t>
              </a:r>
              <a:endParaRPr lang="en-US" sz="2000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58956" y="1095751"/>
            <a:ext cx="1573868" cy="2690415"/>
            <a:chOff x="237587" y="2291713"/>
            <a:chExt cx="1573868" cy="2690415"/>
          </a:xfrm>
        </p:grpSpPr>
        <p:grpSp>
          <p:nvGrpSpPr>
            <p:cNvPr id="10" name="Group 9"/>
            <p:cNvGrpSpPr/>
            <p:nvPr/>
          </p:nvGrpSpPr>
          <p:grpSpPr>
            <a:xfrm>
              <a:off x="237587" y="2291713"/>
              <a:ext cx="1573868" cy="2178615"/>
              <a:chOff x="308837" y="575162"/>
              <a:chExt cx="1573868" cy="2178615"/>
            </a:xfrm>
          </p:grpSpPr>
          <p:cxnSp>
            <p:nvCxnSpPr>
              <p:cNvPr id="5" name="Straight Arrow Connector 4"/>
              <p:cNvCxnSpPr/>
              <p:nvPr/>
            </p:nvCxnSpPr>
            <p:spPr>
              <a:xfrm>
                <a:off x="1078838" y="2316827"/>
                <a:ext cx="0" cy="43695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" name="TextBox 2"/>
              <p:cNvSpPr txBox="1"/>
              <p:nvPr/>
            </p:nvSpPr>
            <p:spPr>
              <a:xfrm>
                <a:off x="308837" y="575162"/>
                <a:ext cx="157386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 smtClean="0"/>
                  <a:t>My</a:t>
                </a:r>
              </a:p>
              <a:p>
                <a:pPr algn="ctr"/>
                <a:r>
                  <a:rPr lang="en-US" sz="2400" dirty="0" smtClean="0"/>
                  <a:t>Operations</a:t>
                </a:r>
                <a:endParaRPr lang="en-US" sz="2400" dirty="0"/>
              </a:p>
            </p:txBody>
          </p:sp>
        </p:grpSp>
        <p:sp>
          <p:nvSpPr>
            <p:cNvPr id="53" name="Rectangle 52"/>
            <p:cNvSpPr/>
            <p:nvPr/>
          </p:nvSpPr>
          <p:spPr>
            <a:xfrm>
              <a:off x="237587" y="4520463"/>
              <a:ext cx="1523999" cy="46166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New Job!</a:t>
              </a:r>
              <a:endParaRPr lang="en-US" sz="2400" dirty="0"/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358956" y="3269655"/>
              <a:ext cx="1297264" cy="615278"/>
              <a:chOff x="4244742" y="1943372"/>
              <a:chExt cx="1297264" cy="615278"/>
            </a:xfrm>
          </p:grpSpPr>
          <p:sp>
            <p:nvSpPr>
              <p:cNvPr id="64" name="Rectangle 63"/>
              <p:cNvSpPr/>
              <p:nvPr/>
            </p:nvSpPr>
            <p:spPr>
              <a:xfrm>
                <a:off x="4244742" y="1943372"/>
                <a:ext cx="1297264" cy="615278"/>
              </a:xfrm>
              <a:prstGeom prst="rect">
                <a:avLst/>
              </a:prstGeom>
              <a:solidFill>
                <a:srgbClr val="6F4A26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sz="2900" dirty="0" smtClean="0"/>
                  <a:t>Boss</a:t>
                </a:r>
                <a:endParaRPr lang="en-US" sz="2900" dirty="0">
                  <a:solidFill>
                    <a:schemeClr val="bg1"/>
                  </a:solidFill>
                  <a:latin typeface="Calibri (Body)"/>
                  <a:cs typeface="Calibri (Body)"/>
                </a:endParaRPr>
              </a:p>
            </p:txBody>
          </p:sp>
          <p:grpSp>
            <p:nvGrpSpPr>
              <p:cNvPr id="66" name="Group 65"/>
              <p:cNvGrpSpPr/>
              <p:nvPr/>
            </p:nvGrpSpPr>
            <p:grpSpPr>
              <a:xfrm>
                <a:off x="4334717" y="2113200"/>
                <a:ext cx="1071182" cy="256710"/>
                <a:chOff x="4334717" y="2093956"/>
                <a:chExt cx="1071182" cy="256710"/>
              </a:xfrm>
            </p:grpSpPr>
            <p:cxnSp>
              <p:nvCxnSpPr>
                <p:cNvPr id="68" name="Straight Connector 67"/>
                <p:cNvCxnSpPr/>
                <p:nvPr/>
              </p:nvCxnSpPr>
              <p:spPr>
                <a:xfrm flipV="1">
                  <a:off x="4380848" y="2093956"/>
                  <a:ext cx="1025051" cy="251816"/>
                </a:xfrm>
                <a:prstGeom prst="line">
                  <a:avLst/>
                </a:prstGeom>
                <a:ln w="38100" cmpd="sng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/>
                <p:cNvCxnSpPr/>
                <p:nvPr/>
              </p:nvCxnSpPr>
              <p:spPr>
                <a:xfrm>
                  <a:off x="4334717" y="2098850"/>
                  <a:ext cx="1025051" cy="251816"/>
                </a:xfrm>
                <a:prstGeom prst="line">
                  <a:avLst/>
                </a:prstGeom>
                <a:ln w="38100" cmpd="sng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83" name="Rectangle 82"/>
          <p:cNvSpPr/>
          <p:nvPr/>
        </p:nvSpPr>
        <p:spPr>
          <a:xfrm>
            <a:off x="4017004" y="2523263"/>
            <a:ext cx="845600" cy="45466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>
            <a:normAutofit fontScale="92500" lnSpcReduction="20000"/>
          </a:bodyPr>
          <a:lstStyle/>
          <a:p>
            <a:pPr algn="ctr"/>
            <a:r>
              <a:rPr lang="en-US" sz="2900" dirty="0" smtClean="0"/>
              <a:t>Boss</a:t>
            </a:r>
            <a:endParaRPr lang="en-US" sz="2900" dirty="0">
              <a:solidFill>
                <a:schemeClr val="bg1"/>
              </a:solidFill>
              <a:latin typeface="Calibri (Body)"/>
              <a:cs typeface="Calibri (Body)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991201" y="2901060"/>
            <a:ext cx="1998879" cy="454664"/>
            <a:chOff x="7145121" y="2554668"/>
            <a:chExt cx="1998879" cy="454664"/>
          </a:xfrm>
        </p:grpSpPr>
        <p:sp>
          <p:nvSpPr>
            <p:cNvPr id="90" name="Rectangle 89"/>
            <p:cNvSpPr/>
            <p:nvPr/>
          </p:nvSpPr>
          <p:spPr>
            <a:xfrm>
              <a:off x="8234294" y="2644212"/>
              <a:ext cx="909706" cy="2755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sz="2400" dirty="0" smtClean="0"/>
                <a:t>Berkeley!</a:t>
              </a:r>
              <a:endParaRPr lang="en-US" sz="2400" dirty="0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7145121" y="2554668"/>
              <a:ext cx="845600" cy="454664"/>
            </a:xfrm>
            <a:prstGeom prst="rect">
              <a:avLst/>
            </a:prstGeom>
            <a:solidFill>
              <a:srgbClr val="6F4A26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rmAutofit fontScale="92500" lnSpcReduction="20000"/>
            </a:bodyPr>
            <a:lstStyle/>
            <a:p>
              <a:pPr algn="ctr"/>
              <a:r>
                <a:rPr lang="en-US" sz="2900" dirty="0" smtClean="0"/>
                <a:t>Boss</a:t>
              </a:r>
              <a:endParaRPr lang="en-US" sz="2900" dirty="0">
                <a:solidFill>
                  <a:schemeClr val="bg1"/>
                </a:solidFill>
                <a:latin typeface="Calibri (Body)"/>
                <a:cs typeface="Calibri (Body)"/>
              </a:endParaRPr>
            </a:p>
          </p:txBody>
        </p:sp>
      </p:grpSp>
      <p:sp>
        <p:nvSpPr>
          <p:cNvPr id="92" name="Rectangle 91"/>
          <p:cNvSpPr/>
          <p:nvPr/>
        </p:nvSpPr>
        <p:spPr>
          <a:xfrm>
            <a:off x="4046249" y="4182589"/>
            <a:ext cx="909706" cy="275577"/>
          </a:xfrm>
          <a:prstGeom prst="rect">
            <a:avLst/>
          </a:prstGeom>
          <a:solidFill>
            <a:srgbClr val="7F7F7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normAutofit fontScale="55000" lnSpcReduction="20000"/>
          </a:bodyPr>
          <a:lstStyle/>
          <a:p>
            <a:pPr algn="ctr"/>
            <a:r>
              <a:rPr lang="en-US" sz="2400" dirty="0" smtClean="0"/>
              <a:t>Berkeley!</a:t>
            </a:r>
            <a:endParaRPr lang="en-US" sz="2400" dirty="0"/>
          </a:p>
        </p:txBody>
      </p:sp>
      <p:grpSp>
        <p:nvGrpSpPr>
          <p:cNvPr id="28" name="Group 27"/>
          <p:cNvGrpSpPr/>
          <p:nvPr/>
        </p:nvGrpSpPr>
        <p:grpSpPr>
          <a:xfrm>
            <a:off x="4167182" y="2640447"/>
            <a:ext cx="845600" cy="454664"/>
            <a:chOff x="-2519295" y="2795376"/>
            <a:chExt cx="845600" cy="454664"/>
          </a:xfrm>
        </p:grpSpPr>
        <p:sp>
          <p:nvSpPr>
            <p:cNvPr id="74" name="Rectangle 73"/>
            <p:cNvSpPr/>
            <p:nvPr/>
          </p:nvSpPr>
          <p:spPr>
            <a:xfrm>
              <a:off x="-2519295" y="2795376"/>
              <a:ext cx="845600" cy="454664"/>
            </a:xfrm>
            <a:prstGeom prst="rect">
              <a:avLst/>
            </a:prstGeom>
            <a:solidFill>
              <a:srgbClr val="6F4A26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rmAutofit fontScale="92500" lnSpcReduction="20000"/>
            </a:bodyPr>
            <a:lstStyle/>
            <a:p>
              <a:pPr algn="ctr"/>
              <a:r>
                <a:rPr lang="en-US" sz="2900" dirty="0" smtClean="0"/>
                <a:t>Boss</a:t>
              </a:r>
              <a:endParaRPr lang="en-US" sz="2900" dirty="0">
                <a:solidFill>
                  <a:schemeClr val="bg1"/>
                </a:solidFill>
                <a:latin typeface="Calibri (Body)"/>
                <a:cs typeface="Calibri (Body)"/>
              </a:endParaRPr>
            </a:p>
          </p:txBody>
        </p:sp>
        <p:grpSp>
          <p:nvGrpSpPr>
            <p:cNvPr id="75" name="Group 74"/>
            <p:cNvGrpSpPr/>
            <p:nvPr/>
          </p:nvGrpSpPr>
          <p:grpSpPr>
            <a:xfrm>
              <a:off x="-2430151" y="2977927"/>
              <a:ext cx="668162" cy="106217"/>
              <a:chOff x="4381501" y="2385454"/>
              <a:chExt cx="1025051" cy="251816"/>
            </a:xfrm>
          </p:grpSpPr>
          <p:cxnSp>
            <p:nvCxnSpPr>
              <p:cNvPr id="76" name="Straight Connector 75"/>
              <p:cNvCxnSpPr/>
              <p:nvPr/>
            </p:nvCxnSpPr>
            <p:spPr>
              <a:xfrm flipV="1">
                <a:off x="4381501" y="2385454"/>
                <a:ext cx="1025051" cy="251816"/>
              </a:xfrm>
              <a:prstGeom prst="line">
                <a:avLst/>
              </a:prstGeom>
              <a:ln w="38100" cmpd="sng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>
                <a:off x="4381501" y="2385454"/>
                <a:ext cx="1025051" cy="251816"/>
              </a:xfrm>
              <a:prstGeom prst="line">
                <a:avLst/>
              </a:prstGeom>
              <a:ln w="38100" cmpd="sng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8" name="Group 97"/>
          <p:cNvGrpSpPr/>
          <p:nvPr/>
        </p:nvGrpSpPr>
        <p:grpSpPr>
          <a:xfrm>
            <a:off x="7243499" y="389450"/>
            <a:ext cx="1524000" cy="1807629"/>
            <a:chOff x="7243499" y="2311440"/>
            <a:chExt cx="1524000" cy="1807629"/>
          </a:xfrm>
        </p:grpSpPr>
        <p:pic>
          <p:nvPicPr>
            <p:cNvPr id="89" name="Picture 88" descr="mfreed_photo.jp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67921" y="2311440"/>
              <a:ext cx="961131" cy="1167447"/>
            </a:xfrm>
            <a:prstGeom prst="rect">
              <a:avLst/>
            </a:prstGeom>
          </p:spPr>
        </p:pic>
        <p:grpSp>
          <p:nvGrpSpPr>
            <p:cNvPr id="49" name="Group 48"/>
            <p:cNvGrpSpPr/>
            <p:nvPr/>
          </p:nvGrpSpPr>
          <p:grpSpPr>
            <a:xfrm>
              <a:off x="7243499" y="3543323"/>
              <a:ext cx="1524000" cy="575746"/>
              <a:chOff x="2607736" y="4961454"/>
              <a:chExt cx="1524000" cy="575746"/>
            </a:xfrm>
          </p:grpSpPr>
          <p:sp>
            <p:nvSpPr>
              <p:cNvPr id="97" name="Rectangle 96"/>
              <p:cNvSpPr/>
              <p:nvPr/>
            </p:nvSpPr>
            <p:spPr>
              <a:xfrm>
                <a:off x="2607736" y="4961454"/>
                <a:ext cx="1524000" cy="57574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4" name="Freeform 93"/>
              <p:cNvSpPr/>
              <p:nvPr/>
            </p:nvSpPr>
            <p:spPr>
              <a:xfrm>
                <a:off x="2803361" y="5133557"/>
                <a:ext cx="794746" cy="204981"/>
              </a:xfrm>
              <a:custGeom>
                <a:avLst/>
                <a:gdLst>
                  <a:gd name="connsiteX0" fmla="*/ 0 w 2810934"/>
                  <a:gd name="connsiteY0" fmla="*/ 474147 h 474147"/>
                  <a:gd name="connsiteX1" fmla="*/ 524934 w 2810934"/>
                  <a:gd name="connsiteY1" fmla="*/ 13 h 474147"/>
                  <a:gd name="connsiteX2" fmla="*/ 982134 w 2810934"/>
                  <a:gd name="connsiteY2" fmla="*/ 457213 h 474147"/>
                  <a:gd name="connsiteX3" fmla="*/ 1524000 w 2810934"/>
                  <a:gd name="connsiteY3" fmla="*/ 50813 h 474147"/>
                  <a:gd name="connsiteX4" fmla="*/ 1913467 w 2810934"/>
                  <a:gd name="connsiteY4" fmla="*/ 406413 h 474147"/>
                  <a:gd name="connsiteX5" fmla="*/ 2302934 w 2810934"/>
                  <a:gd name="connsiteY5" fmla="*/ 101613 h 474147"/>
                  <a:gd name="connsiteX6" fmla="*/ 2506134 w 2810934"/>
                  <a:gd name="connsiteY6" fmla="*/ 423347 h 474147"/>
                  <a:gd name="connsiteX7" fmla="*/ 2810934 w 2810934"/>
                  <a:gd name="connsiteY7" fmla="*/ 220147 h 474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10934" h="474147">
                    <a:moveTo>
                      <a:pt x="0" y="474147"/>
                    </a:moveTo>
                    <a:cubicBezTo>
                      <a:pt x="180622" y="238491"/>
                      <a:pt x="361245" y="2835"/>
                      <a:pt x="524934" y="13"/>
                    </a:cubicBezTo>
                    <a:cubicBezTo>
                      <a:pt x="688623" y="-2809"/>
                      <a:pt x="815623" y="448746"/>
                      <a:pt x="982134" y="457213"/>
                    </a:cubicBezTo>
                    <a:cubicBezTo>
                      <a:pt x="1148645" y="465680"/>
                      <a:pt x="1368778" y="59280"/>
                      <a:pt x="1524000" y="50813"/>
                    </a:cubicBezTo>
                    <a:cubicBezTo>
                      <a:pt x="1679222" y="42346"/>
                      <a:pt x="1783645" y="397946"/>
                      <a:pt x="1913467" y="406413"/>
                    </a:cubicBezTo>
                    <a:cubicBezTo>
                      <a:pt x="2043289" y="414880"/>
                      <a:pt x="2204156" y="98791"/>
                      <a:pt x="2302934" y="101613"/>
                    </a:cubicBezTo>
                    <a:cubicBezTo>
                      <a:pt x="2401712" y="104435"/>
                      <a:pt x="2421468" y="403591"/>
                      <a:pt x="2506134" y="423347"/>
                    </a:cubicBezTo>
                    <a:cubicBezTo>
                      <a:pt x="2590800" y="443103"/>
                      <a:pt x="2740378" y="304814"/>
                      <a:pt x="2810934" y="220147"/>
                    </a:cubicBezTo>
                  </a:path>
                </a:pathLst>
              </a:custGeom>
              <a:ln>
                <a:solidFill>
                  <a:schemeClr val="tx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2" name="Rectangle 81"/>
          <p:cNvSpPr/>
          <p:nvPr/>
        </p:nvSpPr>
        <p:spPr>
          <a:xfrm>
            <a:off x="4161017" y="4300211"/>
            <a:ext cx="909706" cy="2755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r>
              <a:rPr lang="en-US" sz="2400" dirty="0" smtClean="0"/>
              <a:t>New Job!</a:t>
            </a:r>
            <a:endParaRPr lang="en-US" sz="2400" dirty="0"/>
          </a:p>
        </p:txBody>
      </p:sp>
      <p:grpSp>
        <p:nvGrpSpPr>
          <p:cNvPr id="70" name="Group 69"/>
          <p:cNvGrpSpPr/>
          <p:nvPr/>
        </p:nvGrpSpPr>
        <p:grpSpPr>
          <a:xfrm>
            <a:off x="366957" y="3969301"/>
            <a:ext cx="1523999" cy="918674"/>
            <a:chOff x="366957" y="3911569"/>
            <a:chExt cx="1523999" cy="918674"/>
          </a:xfrm>
        </p:grpSpPr>
        <p:sp>
          <p:nvSpPr>
            <p:cNvPr id="71" name="Rectangle 70"/>
            <p:cNvSpPr/>
            <p:nvPr/>
          </p:nvSpPr>
          <p:spPr>
            <a:xfrm>
              <a:off x="366957" y="4410114"/>
              <a:ext cx="1523999" cy="42012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2400" dirty="0" smtClean="0"/>
                <a:t>Berkeley!</a:t>
              </a:r>
              <a:endParaRPr lang="en-US" sz="2400" dirty="0"/>
            </a:p>
          </p:txBody>
        </p:sp>
        <p:cxnSp>
          <p:nvCxnSpPr>
            <p:cNvPr id="72" name="Straight Arrow Connector 71"/>
            <p:cNvCxnSpPr/>
            <p:nvPr/>
          </p:nvCxnSpPr>
          <p:spPr>
            <a:xfrm>
              <a:off x="1128957" y="3911569"/>
              <a:ext cx="0" cy="43695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/>
          <p:cNvGrpSpPr/>
          <p:nvPr/>
        </p:nvGrpSpPr>
        <p:grpSpPr>
          <a:xfrm>
            <a:off x="593150" y="4601409"/>
            <a:ext cx="2651305" cy="707886"/>
            <a:chOff x="190500" y="2417668"/>
            <a:chExt cx="2651305" cy="707886"/>
          </a:xfrm>
        </p:grpSpPr>
        <p:cxnSp>
          <p:nvCxnSpPr>
            <p:cNvPr id="79" name="Straight Connector 78"/>
            <p:cNvCxnSpPr/>
            <p:nvPr/>
          </p:nvCxnSpPr>
          <p:spPr>
            <a:xfrm>
              <a:off x="190500" y="2791771"/>
              <a:ext cx="1879600" cy="0"/>
            </a:xfrm>
            <a:prstGeom prst="line">
              <a:avLst/>
            </a:prstGeom>
            <a:ln w="38100" cmpd="sng">
              <a:solidFill>
                <a:schemeClr val="accent4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1761586" y="2417668"/>
              <a:ext cx="108021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Remote</a:t>
              </a:r>
            </a:p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Progress</a:t>
              </a:r>
              <a:endParaRPr lang="en-US" sz="2000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546063" y="5918534"/>
            <a:ext cx="2651305" cy="707886"/>
            <a:chOff x="190500" y="2417668"/>
            <a:chExt cx="2651305" cy="707886"/>
          </a:xfrm>
        </p:grpSpPr>
        <p:cxnSp>
          <p:nvCxnSpPr>
            <p:cNvPr id="95" name="Straight Connector 94"/>
            <p:cNvCxnSpPr/>
            <p:nvPr/>
          </p:nvCxnSpPr>
          <p:spPr>
            <a:xfrm>
              <a:off x="190500" y="2791771"/>
              <a:ext cx="1879600" cy="0"/>
            </a:xfrm>
            <a:prstGeom prst="line">
              <a:avLst/>
            </a:prstGeom>
            <a:ln w="38100" cmpd="sng">
              <a:solidFill>
                <a:schemeClr val="accent4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/>
            <p:cNvSpPr txBox="1"/>
            <p:nvPr/>
          </p:nvSpPr>
          <p:spPr>
            <a:xfrm>
              <a:off x="1761586" y="2417668"/>
              <a:ext cx="108021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Remote</a:t>
              </a:r>
            </a:p>
            <a:p>
              <a:pPr algn="ctr"/>
              <a:r>
                <a:rPr lang="en-US" sz="2000" dirty="0" smtClean="0">
                  <a:solidFill>
                    <a:schemeClr val="accent4">
                      <a:lumMod val="75000"/>
                    </a:schemeClr>
                  </a:solidFill>
                </a:rPr>
                <a:t>Progress</a:t>
              </a:r>
              <a:endParaRPr lang="en-US" sz="2000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457200" y="5101340"/>
            <a:ext cx="1297264" cy="1115107"/>
            <a:chOff x="457200" y="5005120"/>
            <a:chExt cx="1297264" cy="1115107"/>
          </a:xfrm>
        </p:grpSpPr>
        <p:cxnSp>
          <p:nvCxnSpPr>
            <p:cNvPr id="103" name="Straight Arrow Connector 102"/>
            <p:cNvCxnSpPr/>
            <p:nvPr/>
          </p:nvCxnSpPr>
          <p:spPr>
            <a:xfrm>
              <a:off x="1128957" y="5005120"/>
              <a:ext cx="0" cy="43695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4" name="Rectangle 103"/>
            <p:cNvSpPr/>
            <p:nvPr/>
          </p:nvSpPr>
          <p:spPr>
            <a:xfrm>
              <a:off x="457200" y="5504949"/>
              <a:ext cx="1297264" cy="615278"/>
            </a:xfrm>
            <a:prstGeom prst="rect">
              <a:avLst/>
            </a:prstGeom>
            <a:solidFill>
              <a:srgbClr val="6F4A26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2900" dirty="0" smtClean="0"/>
                <a:t>Boss</a:t>
              </a:r>
              <a:endParaRPr lang="en-US" sz="2900" dirty="0">
                <a:solidFill>
                  <a:schemeClr val="bg1"/>
                </a:solidFill>
                <a:latin typeface="Calibri (Body)"/>
                <a:cs typeface="Calibri (Body)"/>
              </a:endParaRPr>
            </a:p>
          </p:txBody>
        </p:sp>
      </p:grpSp>
      <p:sp>
        <p:nvSpPr>
          <p:cNvPr id="113" name="Rectangle 112"/>
          <p:cNvSpPr/>
          <p:nvPr/>
        </p:nvSpPr>
        <p:spPr>
          <a:xfrm>
            <a:off x="4167182" y="4297902"/>
            <a:ext cx="909706" cy="275577"/>
          </a:xfrm>
          <a:prstGeom prst="rect">
            <a:avLst/>
          </a:prstGeom>
          <a:solidFill>
            <a:srgbClr val="7F7F7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r>
              <a:rPr lang="en-US" sz="2400" dirty="0" smtClean="0"/>
              <a:t>New Job!</a:t>
            </a:r>
            <a:endParaRPr lang="en-US" sz="2400" dirty="0"/>
          </a:p>
        </p:txBody>
      </p:sp>
      <p:sp>
        <p:nvSpPr>
          <p:cNvPr id="114" name="Rectangle 113"/>
          <p:cNvSpPr/>
          <p:nvPr/>
        </p:nvSpPr>
        <p:spPr>
          <a:xfrm>
            <a:off x="4265523" y="4405310"/>
            <a:ext cx="909706" cy="2755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normAutofit fontScale="55000" lnSpcReduction="20000"/>
          </a:bodyPr>
          <a:lstStyle/>
          <a:p>
            <a:pPr algn="ctr"/>
            <a:r>
              <a:rPr lang="en-US" sz="2400" dirty="0" smtClean="0"/>
              <a:t>Berkeley!</a:t>
            </a:r>
            <a:endParaRPr lang="en-US" sz="2400" dirty="0"/>
          </a:p>
        </p:txBody>
      </p:sp>
      <p:grpSp>
        <p:nvGrpSpPr>
          <p:cNvPr id="115" name="Group 114"/>
          <p:cNvGrpSpPr/>
          <p:nvPr/>
        </p:nvGrpSpPr>
        <p:grpSpPr>
          <a:xfrm>
            <a:off x="4154409" y="2620511"/>
            <a:ext cx="845600" cy="454664"/>
            <a:chOff x="-1543742" y="2795376"/>
            <a:chExt cx="845600" cy="454664"/>
          </a:xfrm>
        </p:grpSpPr>
        <p:sp>
          <p:nvSpPr>
            <p:cNvPr id="116" name="Rectangle 115"/>
            <p:cNvSpPr/>
            <p:nvPr/>
          </p:nvSpPr>
          <p:spPr>
            <a:xfrm>
              <a:off x="-1543742" y="2795376"/>
              <a:ext cx="845600" cy="454664"/>
            </a:xfrm>
            <a:prstGeom prst="rect">
              <a:avLst/>
            </a:prstGeom>
            <a:solidFill>
              <a:srgbClr val="7F7F7F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rmAutofit fontScale="92500" lnSpcReduction="20000"/>
            </a:bodyPr>
            <a:lstStyle/>
            <a:p>
              <a:pPr algn="ctr"/>
              <a:r>
                <a:rPr lang="en-US" sz="2900" dirty="0" smtClean="0"/>
                <a:t>Boss</a:t>
              </a:r>
              <a:endParaRPr lang="en-US" sz="2900" dirty="0">
                <a:solidFill>
                  <a:schemeClr val="bg1"/>
                </a:solidFill>
                <a:latin typeface="Calibri (Body)"/>
                <a:cs typeface="Calibri (Body)"/>
              </a:endParaRPr>
            </a:p>
          </p:txBody>
        </p:sp>
        <p:grpSp>
          <p:nvGrpSpPr>
            <p:cNvPr id="117" name="Group 116"/>
            <p:cNvGrpSpPr/>
            <p:nvPr/>
          </p:nvGrpSpPr>
          <p:grpSpPr>
            <a:xfrm>
              <a:off x="-1454598" y="2977927"/>
              <a:ext cx="668162" cy="106217"/>
              <a:chOff x="4381501" y="2385454"/>
              <a:chExt cx="1025051" cy="251816"/>
            </a:xfrm>
            <a:solidFill>
              <a:srgbClr val="7F7F7F"/>
            </a:solidFill>
          </p:grpSpPr>
          <p:cxnSp>
            <p:nvCxnSpPr>
              <p:cNvPr id="118" name="Straight Connector 117"/>
              <p:cNvCxnSpPr/>
              <p:nvPr/>
            </p:nvCxnSpPr>
            <p:spPr>
              <a:xfrm flipV="1">
                <a:off x="4381501" y="2385454"/>
                <a:ext cx="1025051" cy="251816"/>
              </a:xfrm>
              <a:prstGeom prst="line">
                <a:avLst/>
              </a:prstGeom>
              <a:grpFill/>
              <a:ln w="38100" cmpd="sng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>
              <a:xfrm>
                <a:off x="4381501" y="2385454"/>
                <a:ext cx="1025051" cy="251816"/>
              </a:xfrm>
              <a:prstGeom prst="line">
                <a:avLst/>
              </a:prstGeom>
              <a:grpFill/>
              <a:ln w="38100" cmpd="sng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Rectangle 119"/>
          <p:cNvSpPr/>
          <p:nvPr/>
        </p:nvSpPr>
        <p:spPr>
          <a:xfrm>
            <a:off x="4275566" y="2750595"/>
            <a:ext cx="845600" cy="454664"/>
          </a:xfrm>
          <a:prstGeom prst="rect">
            <a:avLst/>
          </a:prstGeom>
          <a:solidFill>
            <a:srgbClr val="6F4A26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>
            <a:normAutofit fontScale="92500" lnSpcReduction="20000"/>
          </a:bodyPr>
          <a:lstStyle/>
          <a:p>
            <a:pPr algn="ctr"/>
            <a:r>
              <a:rPr lang="en-US" sz="2900" dirty="0" smtClean="0"/>
              <a:t>Boss</a:t>
            </a:r>
            <a:endParaRPr lang="en-US" sz="2900" dirty="0">
              <a:solidFill>
                <a:schemeClr val="bg1"/>
              </a:solidFill>
              <a:latin typeface="Calibri (Body)"/>
              <a:cs typeface="Calibri (Body)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991201" y="5948050"/>
            <a:ext cx="1998879" cy="454664"/>
            <a:chOff x="7145121" y="5601658"/>
            <a:chExt cx="1998879" cy="454664"/>
          </a:xfrm>
        </p:grpSpPr>
        <p:sp>
          <p:nvSpPr>
            <p:cNvPr id="99" name="Rectangle 98"/>
            <p:cNvSpPr/>
            <p:nvPr/>
          </p:nvSpPr>
          <p:spPr>
            <a:xfrm>
              <a:off x="7145121" y="5601658"/>
              <a:ext cx="845600" cy="454664"/>
            </a:xfrm>
            <a:prstGeom prst="rect">
              <a:avLst/>
            </a:prstGeom>
            <a:solidFill>
              <a:srgbClr val="6F4A26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rmAutofit fontScale="92500" lnSpcReduction="20000"/>
            </a:bodyPr>
            <a:lstStyle/>
            <a:p>
              <a:pPr algn="ctr"/>
              <a:r>
                <a:rPr lang="en-US" sz="2900" dirty="0" smtClean="0"/>
                <a:t>Boss</a:t>
              </a:r>
              <a:endParaRPr lang="en-US" sz="2900" dirty="0">
                <a:solidFill>
                  <a:schemeClr val="bg1"/>
                </a:solidFill>
                <a:latin typeface="Calibri (Body)"/>
                <a:cs typeface="Calibri (Body)"/>
              </a:endParaRPr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8234294" y="5691202"/>
              <a:ext cx="909706" cy="2755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sz="2400" dirty="0" smtClean="0"/>
                <a:t>Berkeley!</a:t>
              </a:r>
              <a:endParaRPr lang="en-US" sz="24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991201" y="3662807"/>
            <a:ext cx="1998879" cy="454664"/>
            <a:chOff x="7145121" y="3316415"/>
            <a:chExt cx="1998879" cy="454664"/>
          </a:xfrm>
        </p:grpSpPr>
        <p:sp>
          <p:nvSpPr>
            <p:cNvPr id="88" name="Rectangle 87"/>
            <p:cNvSpPr/>
            <p:nvPr/>
          </p:nvSpPr>
          <p:spPr>
            <a:xfrm>
              <a:off x="8234294" y="3405959"/>
              <a:ext cx="909706" cy="2755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sz="2400" dirty="0" smtClean="0"/>
                <a:t>Berkeley!</a:t>
              </a:r>
              <a:endParaRPr lang="en-US" sz="2400" dirty="0"/>
            </a:p>
          </p:txBody>
        </p:sp>
        <p:grpSp>
          <p:nvGrpSpPr>
            <p:cNvPr id="124" name="Group 123"/>
            <p:cNvGrpSpPr/>
            <p:nvPr/>
          </p:nvGrpSpPr>
          <p:grpSpPr>
            <a:xfrm>
              <a:off x="7145121" y="3316415"/>
              <a:ext cx="845600" cy="454664"/>
              <a:chOff x="-2519295" y="2795376"/>
              <a:chExt cx="845600" cy="454664"/>
            </a:xfrm>
          </p:grpSpPr>
          <p:sp>
            <p:nvSpPr>
              <p:cNvPr id="125" name="Rectangle 124"/>
              <p:cNvSpPr/>
              <p:nvPr/>
            </p:nvSpPr>
            <p:spPr>
              <a:xfrm>
                <a:off x="-2519295" y="2795376"/>
                <a:ext cx="845600" cy="454664"/>
              </a:xfrm>
              <a:prstGeom prst="rect">
                <a:avLst/>
              </a:prstGeom>
              <a:solidFill>
                <a:srgbClr val="6F4A26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>
                <a:normAutofit fontScale="92500" lnSpcReduction="20000"/>
              </a:bodyPr>
              <a:lstStyle/>
              <a:p>
                <a:pPr algn="ctr"/>
                <a:r>
                  <a:rPr lang="en-US" sz="2900" dirty="0" smtClean="0"/>
                  <a:t>Boss</a:t>
                </a:r>
                <a:endParaRPr lang="en-US" sz="2900" dirty="0">
                  <a:solidFill>
                    <a:schemeClr val="bg1"/>
                  </a:solidFill>
                  <a:latin typeface="Calibri (Body)"/>
                  <a:cs typeface="Calibri (Body)"/>
                </a:endParaRPr>
              </a:p>
            </p:txBody>
          </p:sp>
          <p:grpSp>
            <p:nvGrpSpPr>
              <p:cNvPr id="126" name="Group 125"/>
              <p:cNvGrpSpPr/>
              <p:nvPr/>
            </p:nvGrpSpPr>
            <p:grpSpPr>
              <a:xfrm>
                <a:off x="-2430151" y="2977927"/>
                <a:ext cx="668162" cy="106217"/>
                <a:chOff x="4381501" y="2385454"/>
                <a:chExt cx="1025051" cy="251816"/>
              </a:xfrm>
            </p:grpSpPr>
            <p:cxnSp>
              <p:nvCxnSpPr>
                <p:cNvPr id="127" name="Straight Connector 126"/>
                <p:cNvCxnSpPr/>
                <p:nvPr/>
              </p:nvCxnSpPr>
              <p:spPr>
                <a:xfrm flipV="1">
                  <a:off x="4381501" y="2385454"/>
                  <a:ext cx="1025051" cy="251816"/>
                </a:xfrm>
                <a:prstGeom prst="line">
                  <a:avLst/>
                </a:prstGeom>
                <a:ln w="38100" cmpd="sng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>
                <a:xfrm>
                  <a:off x="4381501" y="2385454"/>
                  <a:ext cx="1025051" cy="251816"/>
                </a:xfrm>
                <a:prstGeom prst="line">
                  <a:avLst/>
                </a:prstGeom>
                <a:ln w="38100" cmpd="sng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7" name="Group 6"/>
          <p:cNvGrpSpPr/>
          <p:nvPr/>
        </p:nvGrpSpPr>
        <p:grpSpPr>
          <a:xfrm>
            <a:off x="6991201" y="5186301"/>
            <a:ext cx="1998879" cy="454664"/>
            <a:chOff x="7145121" y="4839909"/>
            <a:chExt cx="1998879" cy="454664"/>
          </a:xfrm>
        </p:grpSpPr>
        <p:sp>
          <p:nvSpPr>
            <p:cNvPr id="121" name="Rectangle 120"/>
            <p:cNvSpPr/>
            <p:nvPr/>
          </p:nvSpPr>
          <p:spPr>
            <a:xfrm>
              <a:off x="8234294" y="4929453"/>
              <a:ext cx="909706" cy="2755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sz="2400" dirty="0" smtClean="0"/>
                <a:t>Berkeley!</a:t>
              </a:r>
              <a:endParaRPr lang="en-US" sz="2400" dirty="0"/>
            </a:p>
          </p:txBody>
        </p:sp>
        <p:grpSp>
          <p:nvGrpSpPr>
            <p:cNvPr id="129" name="Group 128"/>
            <p:cNvGrpSpPr/>
            <p:nvPr/>
          </p:nvGrpSpPr>
          <p:grpSpPr>
            <a:xfrm>
              <a:off x="7145121" y="4839909"/>
              <a:ext cx="845600" cy="454664"/>
              <a:chOff x="-2519295" y="2795376"/>
              <a:chExt cx="845600" cy="454664"/>
            </a:xfrm>
          </p:grpSpPr>
          <p:sp>
            <p:nvSpPr>
              <p:cNvPr id="130" name="Rectangle 129"/>
              <p:cNvSpPr/>
              <p:nvPr/>
            </p:nvSpPr>
            <p:spPr>
              <a:xfrm>
                <a:off x="-2519295" y="2795376"/>
                <a:ext cx="845600" cy="454664"/>
              </a:xfrm>
              <a:prstGeom prst="rect">
                <a:avLst/>
              </a:prstGeom>
              <a:solidFill>
                <a:srgbClr val="6F4A26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>
                <a:normAutofit fontScale="92500" lnSpcReduction="20000"/>
              </a:bodyPr>
              <a:lstStyle/>
              <a:p>
                <a:pPr algn="ctr"/>
                <a:r>
                  <a:rPr lang="en-US" sz="2900" dirty="0" smtClean="0"/>
                  <a:t>Boss</a:t>
                </a:r>
                <a:endParaRPr lang="en-US" sz="2900" dirty="0">
                  <a:solidFill>
                    <a:schemeClr val="bg1"/>
                  </a:solidFill>
                  <a:latin typeface="Calibri (Body)"/>
                  <a:cs typeface="Calibri (Body)"/>
                </a:endParaRPr>
              </a:p>
            </p:txBody>
          </p:sp>
          <p:grpSp>
            <p:nvGrpSpPr>
              <p:cNvPr id="131" name="Group 130"/>
              <p:cNvGrpSpPr/>
              <p:nvPr/>
            </p:nvGrpSpPr>
            <p:grpSpPr>
              <a:xfrm>
                <a:off x="-2430151" y="2977927"/>
                <a:ext cx="668162" cy="106217"/>
                <a:chOff x="4381501" y="2385454"/>
                <a:chExt cx="1025051" cy="251816"/>
              </a:xfrm>
            </p:grpSpPr>
            <p:cxnSp>
              <p:nvCxnSpPr>
                <p:cNvPr id="132" name="Straight Connector 131"/>
                <p:cNvCxnSpPr/>
                <p:nvPr/>
              </p:nvCxnSpPr>
              <p:spPr>
                <a:xfrm flipV="1">
                  <a:off x="4381501" y="2385454"/>
                  <a:ext cx="1025051" cy="251816"/>
                </a:xfrm>
                <a:prstGeom prst="line">
                  <a:avLst/>
                </a:prstGeom>
                <a:ln w="38100" cmpd="sng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/>
                <p:cNvCxnSpPr/>
                <p:nvPr/>
              </p:nvCxnSpPr>
              <p:spPr>
                <a:xfrm>
                  <a:off x="4381501" y="2385454"/>
                  <a:ext cx="1025051" cy="251816"/>
                </a:xfrm>
                <a:prstGeom prst="line">
                  <a:avLst/>
                </a:prstGeom>
                <a:ln w="38100" cmpd="sng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8" name="Group 7"/>
          <p:cNvGrpSpPr/>
          <p:nvPr/>
        </p:nvGrpSpPr>
        <p:grpSpPr>
          <a:xfrm>
            <a:off x="6991201" y="4424554"/>
            <a:ext cx="1998879" cy="454664"/>
            <a:chOff x="7145121" y="4078162"/>
            <a:chExt cx="1998879" cy="454664"/>
          </a:xfrm>
        </p:grpSpPr>
        <p:sp>
          <p:nvSpPr>
            <p:cNvPr id="100" name="Rectangle 99"/>
            <p:cNvSpPr/>
            <p:nvPr/>
          </p:nvSpPr>
          <p:spPr>
            <a:xfrm>
              <a:off x="8234294" y="4167706"/>
              <a:ext cx="909706" cy="2755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/>
              <a:r>
                <a:rPr lang="en-US" sz="2400" dirty="0" smtClean="0"/>
                <a:t>New Job!</a:t>
              </a:r>
              <a:endParaRPr lang="en-US" sz="2400" dirty="0"/>
            </a:p>
          </p:txBody>
        </p:sp>
        <p:grpSp>
          <p:nvGrpSpPr>
            <p:cNvPr id="134" name="Group 133"/>
            <p:cNvGrpSpPr/>
            <p:nvPr/>
          </p:nvGrpSpPr>
          <p:grpSpPr>
            <a:xfrm>
              <a:off x="7145121" y="4078162"/>
              <a:ext cx="845600" cy="454664"/>
              <a:chOff x="-2519295" y="2795376"/>
              <a:chExt cx="845600" cy="454664"/>
            </a:xfrm>
          </p:grpSpPr>
          <p:sp>
            <p:nvSpPr>
              <p:cNvPr id="135" name="Rectangle 134"/>
              <p:cNvSpPr/>
              <p:nvPr/>
            </p:nvSpPr>
            <p:spPr>
              <a:xfrm>
                <a:off x="-2519295" y="2795376"/>
                <a:ext cx="845600" cy="454664"/>
              </a:xfrm>
              <a:prstGeom prst="rect">
                <a:avLst/>
              </a:prstGeom>
              <a:solidFill>
                <a:srgbClr val="6F4A26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>
                <a:normAutofit fontScale="92500" lnSpcReduction="20000"/>
              </a:bodyPr>
              <a:lstStyle/>
              <a:p>
                <a:pPr algn="ctr"/>
                <a:r>
                  <a:rPr lang="en-US" sz="2900" dirty="0" smtClean="0"/>
                  <a:t>Boss</a:t>
                </a:r>
                <a:endParaRPr lang="en-US" sz="2900" dirty="0">
                  <a:solidFill>
                    <a:schemeClr val="bg1"/>
                  </a:solidFill>
                  <a:latin typeface="Calibri (Body)"/>
                  <a:cs typeface="Calibri (Body)"/>
                </a:endParaRPr>
              </a:p>
            </p:txBody>
          </p:sp>
          <p:grpSp>
            <p:nvGrpSpPr>
              <p:cNvPr id="136" name="Group 135"/>
              <p:cNvGrpSpPr/>
              <p:nvPr/>
            </p:nvGrpSpPr>
            <p:grpSpPr>
              <a:xfrm>
                <a:off x="-2430151" y="2977927"/>
                <a:ext cx="668162" cy="106217"/>
                <a:chOff x="4381501" y="2385454"/>
                <a:chExt cx="1025051" cy="251816"/>
              </a:xfrm>
            </p:grpSpPr>
            <p:cxnSp>
              <p:nvCxnSpPr>
                <p:cNvPr id="137" name="Straight Connector 136"/>
                <p:cNvCxnSpPr/>
                <p:nvPr/>
              </p:nvCxnSpPr>
              <p:spPr>
                <a:xfrm flipV="1">
                  <a:off x="4381501" y="2385454"/>
                  <a:ext cx="1025051" cy="251816"/>
                </a:xfrm>
                <a:prstGeom prst="line">
                  <a:avLst/>
                </a:prstGeom>
                <a:ln w="38100" cmpd="sng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/>
                <p:cNvCxnSpPr/>
                <p:nvPr/>
              </p:nvCxnSpPr>
              <p:spPr>
                <a:xfrm>
                  <a:off x="4381501" y="2385454"/>
                  <a:ext cx="1025051" cy="251816"/>
                </a:xfrm>
                <a:prstGeom prst="line">
                  <a:avLst/>
                </a:prstGeom>
                <a:ln w="38100" cmpd="sng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39" name="TextBox 138"/>
          <p:cNvSpPr txBox="1"/>
          <p:nvPr/>
        </p:nvSpPr>
        <p:spPr>
          <a:xfrm>
            <a:off x="7218109" y="2225674"/>
            <a:ext cx="1817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/>
              <a:t>Could Get</a:t>
            </a:r>
            <a:endParaRPr lang="en-US" sz="2800" u="sng" dirty="0"/>
          </a:p>
        </p:txBody>
      </p:sp>
      <p:grpSp>
        <p:nvGrpSpPr>
          <p:cNvPr id="18" name="Group 17"/>
          <p:cNvGrpSpPr/>
          <p:nvPr/>
        </p:nvGrpSpPr>
        <p:grpSpPr>
          <a:xfrm>
            <a:off x="4035546" y="5283108"/>
            <a:ext cx="2395861" cy="1231992"/>
            <a:chOff x="4035546" y="5283108"/>
            <a:chExt cx="2395861" cy="1231992"/>
          </a:xfrm>
        </p:grpSpPr>
        <p:grpSp>
          <p:nvGrpSpPr>
            <p:cNvPr id="140" name="Group 139"/>
            <p:cNvGrpSpPr/>
            <p:nvPr/>
          </p:nvGrpSpPr>
          <p:grpSpPr>
            <a:xfrm>
              <a:off x="4035546" y="5283108"/>
              <a:ext cx="2395861" cy="1231992"/>
              <a:chOff x="4360539" y="5283108"/>
              <a:chExt cx="2395861" cy="1231992"/>
            </a:xfrm>
          </p:grpSpPr>
          <p:sp>
            <p:nvSpPr>
              <p:cNvPr id="143" name="Rectangle 142"/>
              <p:cNvSpPr/>
              <p:nvPr/>
            </p:nvSpPr>
            <p:spPr>
              <a:xfrm>
                <a:off x="4360539" y="5283108"/>
                <a:ext cx="2395861" cy="1231992"/>
              </a:xfrm>
              <a:prstGeom prst="rect">
                <a:avLst/>
              </a:prstGeom>
              <a:noFill/>
              <a:ln w="57150" cmpd="sng"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TextBox 143"/>
              <p:cNvSpPr txBox="1"/>
              <p:nvPr/>
            </p:nvSpPr>
            <p:spPr>
              <a:xfrm>
                <a:off x="4969780" y="5290518"/>
                <a:ext cx="1186342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 smtClean="0">
                    <a:solidFill>
                      <a:srgbClr val="FF0000"/>
                    </a:solidFill>
                  </a:rPr>
                  <a:t>Never</a:t>
                </a:r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45" name="Rectangle 144"/>
            <p:cNvSpPr/>
            <p:nvPr/>
          </p:nvSpPr>
          <p:spPr>
            <a:xfrm>
              <a:off x="4265523" y="5905233"/>
              <a:ext cx="845600" cy="454664"/>
            </a:xfrm>
            <a:prstGeom prst="rect">
              <a:avLst/>
            </a:prstGeom>
            <a:solidFill>
              <a:srgbClr val="6F4A26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rmAutofit fontScale="92500" lnSpcReduction="20000"/>
            </a:bodyPr>
            <a:lstStyle/>
            <a:p>
              <a:pPr algn="ctr"/>
              <a:r>
                <a:rPr lang="en-US" sz="2900" dirty="0" smtClean="0"/>
                <a:t>Boss</a:t>
              </a:r>
              <a:endParaRPr lang="en-US" sz="2900" dirty="0">
                <a:solidFill>
                  <a:schemeClr val="bg1"/>
                </a:solidFill>
                <a:latin typeface="Calibri (Body)"/>
                <a:cs typeface="Calibri (Body)"/>
              </a:endParaRPr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5318556" y="5994777"/>
              <a:ext cx="909706" cy="27557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/>
              <a:r>
                <a:rPr lang="en-US" sz="2400" dirty="0" smtClean="0"/>
                <a:t>New Job!</a:t>
              </a:r>
              <a:endParaRPr lang="en-US" sz="2400" dirty="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5829841" y="829406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7189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92" grpId="0" animBg="1"/>
      <p:bldP spid="82" grpId="0" animBg="1"/>
      <p:bldP spid="113" grpId="0" animBg="1"/>
      <p:bldP spid="114" grpId="0" animBg="1"/>
      <p:bldP spid="1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System So Far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ALPS and Causal+, but …</a:t>
            </a:r>
          </a:p>
          <a:p>
            <a:pPr marL="0" indent="0">
              <a:buNone/>
            </a:pPr>
            <a:endParaRPr lang="en-US" b="1" dirty="0" smtClean="0"/>
          </a:p>
          <a:p>
            <a:r>
              <a:rPr lang="en-US" dirty="0" smtClean="0"/>
              <a:t>Proliferation of dependencies reduces efficiency</a:t>
            </a:r>
          </a:p>
          <a:p>
            <a:pPr lvl="1"/>
            <a:r>
              <a:rPr lang="en-US" dirty="0" smtClean="0"/>
              <a:t>Results in lots of metadata</a:t>
            </a:r>
          </a:p>
          <a:p>
            <a:pPr lvl="1"/>
            <a:r>
              <a:rPr lang="en-US" dirty="0" smtClean="0"/>
              <a:t>Requires lots of verification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We need to reduce metadata and dep_checks</a:t>
            </a:r>
          </a:p>
          <a:p>
            <a:pPr lvl="1"/>
            <a:r>
              <a:rPr lang="en-US" dirty="0" smtClean="0"/>
              <a:t>Nearest dependencies</a:t>
            </a:r>
          </a:p>
          <a:p>
            <a:pPr lvl="1"/>
            <a:r>
              <a:rPr lang="en-US" dirty="0" smtClean="0"/>
              <a:t>Dependency garbage collection</a:t>
            </a:r>
          </a:p>
        </p:txBody>
      </p:sp>
    </p:spTree>
    <p:extLst>
      <p:ext uri="{BB962C8B-B14F-4D97-AF65-F5344CB8AC3E}">
        <p14:creationId xmlns:p14="http://schemas.microsoft.com/office/powerpoint/2010/main" val="21031262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Many Dependencies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Dependencies grow with client lifetime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1494" y="6185855"/>
            <a:ext cx="384808" cy="38480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3751878" y="5180086"/>
            <a:ext cx="769616" cy="1005769"/>
            <a:chOff x="3751878" y="5180086"/>
            <a:chExt cx="769616" cy="1005769"/>
          </a:xfrm>
        </p:grpSpPr>
        <p:cxnSp>
          <p:nvCxnSpPr>
            <p:cNvPr id="6" name="Straight Arrow Connector 5"/>
            <p:cNvCxnSpPr>
              <a:stCxn id="9" idx="2"/>
            </p:cNvCxnSpPr>
            <p:nvPr/>
          </p:nvCxnSpPr>
          <p:spPr>
            <a:xfrm>
              <a:off x="3944282" y="5564894"/>
              <a:ext cx="577212" cy="62096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3751878" y="5180086"/>
              <a:ext cx="384808" cy="38480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751878" y="4184389"/>
            <a:ext cx="384808" cy="995697"/>
            <a:chOff x="3751878" y="4184389"/>
            <a:chExt cx="384808" cy="995697"/>
          </a:xfrm>
        </p:grpSpPr>
        <p:cxnSp>
          <p:nvCxnSpPr>
            <p:cNvPr id="13" name="Straight Arrow Connector 12"/>
            <p:cNvCxnSpPr>
              <a:stCxn id="16" idx="2"/>
              <a:endCxn id="9" idx="0"/>
            </p:cNvCxnSpPr>
            <p:nvPr/>
          </p:nvCxnSpPr>
          <p:spPr>
            <a:xfrm>
              <a:off x="3944282" y="4569197"/>
              <a:ext cx="0" cy="610889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3751878" y="4184389"/>
              <a:ext cx="384808" cy="38480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539212" y="3544547"/>
            <a:ext cx="402525" cy="2641308"/>
            <a:chOff x="4539212" y="3544547"/>
            <a:chExt cx="402525" cy="2641308"/>
          </a:xfrm>
        </p:grpSpPr>
        <p:cxnSp>
          <p:nvCxnSpPr>
            <p:cNvPr id="7" name="Straight Arrow Connector 6"/>
            <p:cNvCxnSpPr>
              <a:stCxn id="10" idx="2"/>
              <a:endCxn id="5" idx="0"/>
            </p:cNvCxnSpPr>
            <p:nvPr/>
          </p:nvCxnSpPr>
          <p:spPr>
            <a:xfrm flipH="1">
              <a:off x="4713898" y="5253861"/>
              <a:ext cx="17718" cy="931994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9" name="Group 28"/>
            <p:cNvGrpSpPr/>
            <p:nvPr/>
          </p:nvGrpSpPr>
          <p:grpSpPr>
            <a:xfrm>
              <a:off x="4539212" y="3544547"/>
              <a:ext cx="402525" cy="1709314"/>
              <a:chOff x="4539212" y="3544547"/>
              <a:chExt cx="402525" cy="1709314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4539212" y="4869053"/>
                <a:ext cx="384808" cy="384808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Arrow Connector 13"/>
              <p:cNvCxnSpPr>
                <a:stCxn id="17" idx="2"/>
              </p:cNvCxnSpPr>
              <p:nvPr/>
            </p:nvCxnSpPr>
            <p:spPr>
              <a:xfrm flipH="1">
                <a:off x="4731615" y="3929355"/>
                <a:ext cx="17718" cy="93199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Rectangle 16"/>
              <p:cNvSpPr/>
              <p:nvPr/>
            </p:nvSpPr>
            <p:spPr>
              <a:xfrm>
                <a:off x="4556929" y="3544547"/>
                <a:ext cx="384808" cy="384808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1" name="Group 30"/>
          <p:cNvGrpSpPr/>
          <p:nvPr/>
        </p:nvGrpSpPr>
        <p:grpSpPr>
          <a:xfrm>
            <a:off x="4906302" y="3713102"/>
            <a:ext cx="865817" cy="2472753"/>
            <a:chOff x="4906302" y="3713102"/>
            <a:chExt cx="865817" cy="2472753"/>
          </a:xfrm>
        </p:grpSpPr>
        <p:cxnSp>
          <p:nvCxnSpPr>
            <p:cNvPr id="8" name="Straight Arrow Connector 7"/>
            <p:cNvCxnSpPr/>
            <p:nvPr/>
          </p:nvCxnSpPr>
          <p:spPr>
            <a:xfrm flipH="1">
              <a:off x="4906302" y="5468675"/>
              <a:ext cx="655696" cy="71718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5369594" y="5037608"/>
              <a:ext cx="384808" cy="38480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/>
            <p:cNvCxnSpPr>
              <a:stCxn id="10" idx="3"/>
              <a:endCxn id="11" idx="1"/>
            </p:cNvCxnSpPr>
            <p:nvPr/>
          </p:nvCxnSpPr>
          <p:spPr>
            <a:xfrm>
              <a:off x="4924020" y="5061457"/>
              <a:ext cx="445574" cy="168555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endCxn id="11" idx="0"/>
            </p:cNvCxnSpPr>
            <p:nvPr/>
          </p:nvCxnSpPr>
          <p:spPr>
            <a:xfrm flipH="1">
              <a:off x="5561998" y="4144169"/>
              <a:ext cx="17717" cy="893439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5387311" y="3713102"/>
              <a:ext cx="384808" cy="38480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/>
            <p:cNvCxnSpPr>
              <a:stCxn id="17" idx="3"/>
              <a:endCxn id="18" idx="1"/>
            </p:cNvCxnSpPr>
            <p:nvPr/>
          </p:nvCxnSpPr>
          <p:spPr>
            <a:xfrm>
              <a:off x="4941737" y="3736951"/>
              <a:ext cx="445574" cy="168555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3751878" y="3352143"/>
            <a:ext cx="384808" cy="832246"/>
            <a:chOff x="3751878" y="3352143"/>
            <a:chExt cx="384808" cy="832246"/>
          </a:xfrm>
        </p:grpSpPr>
        <p:cxnSp>
          <p:nvCxnSpPr>
            <p:cNvPr id="20" name="Straight Arrow Connector 19"/>
            <p:cNvCxnSpPr>
              <a:stCxn id="21" idx="2"/>
              <a:endCxn id="16" idx="0"/>
            </p:cNvCxnSpPr>
            <p:nvPr/>
          </p:nvCxnSpPr>
          <p:spPr>
            <a:xfrm>
              <a:off x="3944282" y="3736951"/>
              <a:ext cx="0" cy="44743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3751878" y="3352143"/>
              <a:ext cx="384808" cy="38480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/>
          <p:cNvSpPr/>
          <p:nvPr/>
        </p:nvSpPr>
        <p:spPr>
          <a:xfrm>
            <a:off x="3751878" y="3352143"/>
            <a:ext cx="384808" cy="38480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751878" y="4184389"/>
            <a:ext cx="384808" cy="38480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751878" y="5180086"/>
            <a:ext cx="384808" cy="38480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116878" y="3314043"/>
            <a:ext cx="66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Put</a:t>
            </a:r>
            <a:endParaRPr lang="en-US" sz="2400" dirty="0"/>
          </a:p>
        </p:txBody>
      </p:sp>
      <p:sp>
        <p:nvSpPr>
          <p:cNvPr id="34" name="TextBox 33"/>
          <p:cNvSpPr txBox="1"/>
          <p:nvPr/>
        </p:nvSpPr>
        <p:spPr>
          <a:xfrm>
            <a:off x="3091478" y="4107532"/>
            <a:ext cx="66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Put</a:t>
            </a:r>
            <a:endParaRPr lang="en-US" sz="2400" dirty="0"/>
          </a:p>
        </p:txBody>
      </p:sp>
      <p:sp>
        <p:nvSpPr>
          <p:cNvPr id="35" name="TextBox 34"/>
          <p:cNvSpPr txBox="1"/>
          <p:nvPr/>
        </p:nvSpPr>
        <p:spPr>
          <a:xfrm>
            <a:off x="3058756" y="5140672"/>
            <a:ext cx="66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Put</a:t>
            </a:r>
            <a:endParaRPr lang="en-US"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3777278" y="6136035"/>
            <a:ext cx="66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Put</a:t>
            </a:r>
            <a:endParaRPr lang="en-US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4013160" y="4830624"/>
            <a:ext cx="66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Get</a:t>
            </a:r>
            <a:endParaRPr lang="en-US" sz="2400" dirty="0"/>
          </a:p>
        </p:txBody>
      </p:sp>
      <p:sp>
        <p:nvSpPr>
          <p:cNvPr id="38" name="TextBox 37"/>
          <p:cNvSpPr txBox="1"/>
          <p:nvPr/>
        </p:nvSpPr>
        <p:spPr>
          <a:xfrm>
            <a:off x="5801688" y="5037992"/>
            <a:ext cx="66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Get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730122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66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4" grpId="0" animBg="1"/>
      <p:bldP spid="24" grpId="1" animBg="1"/>
      <p:bldP spid="25" grpId="0" animBg="1"/>
      <p:bldP spid="25" grpId="1" animBg="1"/>
      <p:bldP spid="32" grpId="0" animBg="1"/>
      <p:bldP spid="32" grpId="1" animBg="1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Nearest Dependencies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21494" y="6185855"/>
            <a:ext cx="384808" cy="38480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stCxn id="16" idx="2"/>
          </p:cNvCxnSpPr>
          <p:nvPr/>
        </p:nvCxnSpPr>
        <p:spPr>
          <a:xfrm>
            <a:off x="3944282" y="5564894"/>
            <a:ext cx="577212" cy="6209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7" idx="2"/>
            <a:endCxn id="6" idx="0"/>
          </p:cNvCxnSpPr>
          <p:nvPr/>
        </p:nvCxnSpPr>
        <p:spPr>
          <a:xfrm flipH="1">
            <a:off x="4713898" y="5253861"/>
            <a:ext cx="17718" cy="9319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4906302" y="5468675"/>
            <a:ext cx="655696" cy="71718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751878" y="5180086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539212" y="4869053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369594" y="5037608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17" idx="3"/>
            <a:endCxn id="18" idx="1"/>
          </p:cNvCxnSpPr>
          <p:nvPr/>
        </p:nvCxnSpPr>
        <p:spPr>
          <a:xfrm>
            <a:off x="4924020" y="5061457"/>
            <a:ext cx="445574" cy="16855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32" idx="2"/>
            <a:endCxn id="16" idx="0"/>
          </p:cNvCxnSpPr>
          <p:nvPr/>
        </p:nvCxnSpPr>
        <p:spPr>
          <a:xfrm>
            <a:off x="3944282" y="4569197"/>
            <a:ext cx="0" cy="61088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33" idx="2"/>
          </p:cNvCxnSpPr>
          <p:nvPr/>
        </p:nvCxnSpPr>
        <p:spPr>
          <a:xfrm flipH="1">
            <a:off x="4731615" y="3929355"/>
            <a:ext cx="17718" cy="9319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18" idx="0"/>
          </p:cNvCxnSpPr>
          <p:nvPr/>
        </p:nvCxnSpPr>
        <p:spPr>
          <a:xfrm flipH="1">
            <a:off x="5561998" y="4144169"/>
            <a:ext cx="17717" cy="89343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751878" y="4184389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4556929" y="3544547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387311" y="3713102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stCxn id="33" idx="3"/>
            <a:endCxn id="34" idx="1"/>
          </p:cNvCxnSpPr>
          <p:nvPr/>
        </p:nvCxnSpPr>
        <p:spPr>
          <a:xfrm>
            <a:off x="4941737" y="3736951"/>
            <a:ext cx="445574" cy="16855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40" idx="2"/>
            <a:endCxn id="32" idx="0"/>
          </p:cNvCxnSpPr>
          <p:nvPr/>
        </p:nvCxnSpPr>
        <p:spPr>
          <a:xfrm>
            <a:off x="3944282" y="3736951"/>
            <a:ext cx="0" cy="44743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751878" y="3352143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750354" y="5180086"/>
            <a:ext cx="384808" cy="38480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5368070" y="5037608"/>
            <a:ext cx="384808" cy="38480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45500" cy="1307443"/>
          </a:xfrm>
        </p:spPr>
        <p:txBody>
          <a:bodyPr>
            <a:normAutofit/>
          </a:bodyPr>
          <a:lstStyle/>
          <a:p>
            <a:r>
              <a:rPr lang="en-US" dirty="0" smtClean="0"/>
              <a:t>Transitively capture all ordering constraints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8567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Nearest Are Few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21494" y="6185855"/>
            <a:ext cx="384808" cy="38480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stCxn id="16" idx="2"/>
          </p:cNvCxnSpPr>
          <p:nvPr/>
        </p:nvCxnSpPr>
        <p:spPr>
          <a:xfrm>
            <a:off x="3944282" y="5564894"/>
            <a:ext cx="577212" cy="6209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7" idx="2"/>
            <a:endCxn id="6" idx="0"/>
          </p:cNvCxnSpPr>
          <p:nvPr/>
        </p:nvCxnSpPr>
        <p:spPr>
          <a:xfrm flipH="1">
            <a:off x="4713898" y="5253861"/>
            <a:ext cx="17718" cy="9319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4906302" y="5468675"/>
            <a:ext cx="655696" cy="71718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751878" y="5180086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539212" y="4869053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369594" y="5037608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17" idx="3"/>
            <a:endCxn id="18" idx="1"/>
          </p:cNvCxnSpPr>
          <p:nvPr/>
        </p:nvCxnSpPr>
        <p:spPr>
          <a:xfrm>
            <a:off x="4924020" y="5061457"/>
            <a:ext cx="445574" cy="16855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32" idx="2"/>
            <a:endCxn id="16" idx="0"/>
          </p:cNvCxnSpPr>
          <p:nvPr/>
        </p:nvCxnSpPr>
        <p:spPr>
          <a:xfrm>
            <a:off x="3944282" y="4569197"/>
            <a:ext cx="0" cy="61088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33" idx="2"/>
          </p:cNvCxnSpPr>
          <p:nvPr/>
        </p:nvCxnSpPr>
        <p:spPr>
          <a:xfrm flipH="1">
            <a:off x="4731615" y="3929355"/>
            <a:ext cx="17718" cy="9319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18" idx="0"/>
          </p:cNvCxnSpPr>
          <p:nvPr/>
        </p:nvCxnSpPr>
        <p:spPr>
          <a:xfrm flipH="1">
            <a:off x="5561998" y="4144169"/>
            <a:ext cx="17717" cy="89343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751878" y="4184389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4556929" y="3544547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387311" y="3713102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stCxn id="33" idx="3"/>
            <a:endCxn id="34" idx="1"/>
          </p:cNvCxnSpPr>
          <p:nvPr/>
        </p:nvCxnSpPr>
        <p:spPr>
          <a:xfrm>
            <a:off x="4941737" y="3736951"/>
            <a:ext cx="445574" cy="16855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40" idx="2"/>
            <a:endCxn id="32" idx="0"/>
          </p:cNvCxnSpPr>
          <p:nvPr/>
        </p:nvCxnSpPr>
        <p:spPr>
          <a:xfrm>
            <a:off x="3944282" y="3736951"/>
            <a:ext cx="0" cy="44743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751878" y="3352143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750354" y="5180086"/>
            <a:ext cx="384808" cy="38480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5368070" y="5037608"/>
            <a:ext cx="384808" cy="38480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>
            <a:stCxn id="27" idx="2"/>
            <a:endCxn id="26" idx="0"/>
          </p:cNvCxnSpPr>
          <p:nvPr/>
        </p:nvCxnSpPr>
        <p:spPr>
          <a:xfrm flipH="1">
            <a:off x="2814627" y="4469629"/>
            <a:ext cx="296224" cy="52949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622223" y="4999121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918447" y="4084821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>
            <a:stCxn id="27" idx="3"/>
          </p:cNvCxnSpPr>
          <p:nvPr/>
        </p:nvCxnSpPr>
        <p:spPr>
          <a:xfrm>
            <a:off x="3303255" y="4277225"/>
            <a:ext cx="445574" cy="16855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8" idx="2"/>
          </p:cNvCxnSpPr>
          <p:nvPr/>
        </p:nvCxnSpPr>
        <p:spPr>
          <a:xfrm>
            <a:off x="2095681" y="4548438"/>
            <a:ext cx="526542" cy="45068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903277" y="4163630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/>
          <p:cNvCxnSpPr>
            <a:stCxn id="26" idx="3"/>
            <a:endCxn id="44" idx="1"/>
          </p:cNvCxnSpPr>
          <p:nvPr/>
        </p:nvCxnSpPr>
        <p:spPr>
          <a:xfrm>
            <a:off x="3007031" y="5191525"/>
            <a:ext cx="743323" cy="18096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46" idx="2"/>
            <a:endCxn id="38" idx="0"/>
          </p:cNvCxnSpPr>
          <p:nvPr/>
        </p:nvCxnSpPr>
        <p:spPr>
          <a:xfrm flipH="1">
            <a:off x="2095681" y="3542122"/>
            <a:ext cx="192404" cy="62150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095681" y="3157314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/>
          <p:cNvCxnSpPr>
            <a:stCxn id="48" idx="2"/>
          </p:cNvCxnSpPr>
          <p:nvPr/>
        </p:nvCxnSpPr>
        <p:spPr>
          <a:xfrm>
            <a:off x="1272915" y="3620931"/>
            <a:ext cx="630362" cy="56345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080511" y="3236123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/>
          <p:cNvCxnSpPr>
            <a:stCxn id="51" idx="2"/>
            <a:endCxn id="40" idx="0"/>
          </p:cNvCxnSpPr>
          <p:nvPr/>
        </p:nvCxnSpPr>
        <p:spPr>
          <a:xfrm flipH="1">
            <a:off x="3944282" y="2664885"/>
            <a:ext cx="288041" cy="68725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4039919" y="2280077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/>
          <p:cNvCxnSpPr>
            <a:stCxn id="53" idx="2"/>
          </p:cNvCxnSpPr>
          <p:nvPr/>
        </p:nvCxnSpPr>
        <p:spPr>
          <a:xfrm>
            <a:off x="3217153" y="2743694"/>
            <a:ext cx="526542" cy="60844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024749" y="2358886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/>
          <p:cNvCxnSpPr>
            <a:stCxn id="53" idx="2"/>
            <a:endCxn id="27" idx="0"/>
          </p:cNvCxnSpPr>
          <p:nvPr/>
        </p:nvCxnSpPr>
        <p:spPr>
          <a:xfrm flipH="1">
            <a:off x="3110851" y="2743694"/>
            <a:ext cx="106302" cy="134112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endCxn id="33" idx="0"/>
          </p:cNvCxnSpPr>
          <p:nvPr/>
        </p:nvCxnSpPr>
        <p:spPr>
          <a:xfrm>
            <a:off x="4254611" y="2664885"/>
            <a:ext cx="494722" cy="8796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64" idx="1"/>
            <a:endCxn id="34" idx="3"/>
          </p:cNvCxnSpPr>
          <p:nvPr/>
        </p:nvCxnSpPr>
        <p:spPr>
          <a:xfrm flipH="1">
            <a:off x="5772119" y="3858751"/>
            <a:ext cx="661868" cy="4675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6433987" y="3666347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/>
          <p:cNvCxnSpPr>
            <a:stCxn id="66" idx="2"/>
          </p:cNvCxnSpPr>
          <p:nvPr/>
        </p:nvCxnSpPr>
        <p:spPr>
          <a:xfrm>
            <a:off x="6115241" y="3049693"/>
            <a:ext cx="526542" cy="60844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5922837" y="2664885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/>
          <p:cNvCxnSpPr>
            <a:stCxn id="66" idx="2"/>
            <a:endCxn id="34" idx="0"/>
          </p:cNvCxnSpPr>
          <p:nvPr/>
        </p:nvCxnSpPr>
        <p:spPr>
          <a:xfrm flipH="1">
            <a:off x="5579715" y="3049693"/>
            <a:ext cx="535526" cy="66340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64" idx="2"/>
            <a:endCxn id="18" idx="3"/>
          </p:cNvCxnSpPr>
          <p:nvPr/>
        </p:nvCxnSpPr>
        <p:spPr>
          <a:xfrm flipH="1">
            <a:off x="5754402" y="4051155"/>
            <a:ext cx="871989" cy="117885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7269827" y="3624200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Arrow Connector 75"/>
          <p:cNvCxnSpPr>
            <a:stCxn id="77" idx="1"/>
            <a:endCxn id="75" idx="3"/>
          </p:cNvCxnSpPr>
          <p:nvPr/>
        </p:nvCxnSpPr>
        <p:spPr>
          <a:xfrm flipH="1">
            <a:off x="7654635" y="3769849"/>
            <a:ext cx="661868" cy="4675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8316503" y="3577445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Arrow Connector 77"/>
          <p:cNvCxnSpPr>
            <a:stCxn id="79" idx="2"/>
            <a:endCxn id="77" idx="0"/>
          </p:cNvCxnSpPr>
          <p:nvPr/>
        </p:nvCxnSpPr>
        <p:spPr>
          <a:xfrm>
            <a:off x="8382565" y="2921780"/>
            <a:ext cx="126342" cy="65566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8190161" y="2536972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Arrow Connector 79"/>
          <p:cNvCxnSpPr>
            <a:stCxn id="75" idx="1"/>
            <a:endCxn id="64" idx="3"/>
          </p:cNvCxnSpPr>
          <p:nvPr/>
        </p:nvCxnSpPr>
        <p:spPr>
          <a:xfrm flipH="1">
            <a:off x="6818795" y="3816604"/>
            <a:ext cx="451032" cy="4214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86" idx="2"/>
          </p:cNvCxnSpPr>
          <p:nvPr/>
        </p:nvCxnSpPr>
        <p:spPr>
          <a:xfrm>
            <a:off x="7321301" y="2939021"/>
            <a:ext cx="126342" cy="65566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7128897" y="2554213"/>
            <a:ext cx="384808" cy="3848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45500" cy="1307443"/>
          </a:xfrm>
        </p:spPr>
        <p:txBody>
          <a:bodyPr>
            <a:normAutofit/>
          </a:bodyPr>
          <a:lstStyle/>
          <a:p>
            <a:r>
              <a:rPr lang="en-US" dirty="0" smtClean="0"/>
              <a:t>Transitively capture all ordering constraints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3172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Nearest Are Few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Only check nearest when replicating</a:t>
            </a:r>
          </a:p>
          <a:p>
            <a:endParaRPr lang="en-US" dirty="0"/>
          </a:p>
          <a:p>
            <a:r>
              <a:rPr lang="en-US" dirty="0" smtClean="0"/>
              <a:t>COPS only tracks nearest</a:t>
            </a:r>
          </a:p>
          <a:p>
            <a:endParaRPr lang="en-US" dirty="0"/>
          </a:p>
          <a:p>
            <a:r>
              <a:rPr lang="en-US" dirty="0" smtClean="0"/>
              <a:t>COPS-GT tracks non-nearest for transactions</a:t>
            </a:r>
          </a:p>
          <a:p>
            <a:endParaRPr lang="en-US" dirty="0"/>
          </a:p>
          <a:p>
            <a:r>
              <a:rPr lang="en-US" dirty="0" smtClean="0"/>
              <a:t>Dependency garbage collection tames metadata in COPS-GT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8342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Extended COPS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Get transactions</a:t>
            </a:r>
          </a:p>
          <a:p>
            <a:pPr lvl="1"/>
            <a:r>
              <a:rPr lang="en-US" dirty="0"/>
              <a:t>P</a:t>
            </a:r>
            <a:r>
              <a:rPr lang="en-US" dirty="0" smtClean="0"/>
              <a:t>rovide consistent view of multiple keys</a:t>
            </a:r>
          </a:p>
          <a:p>
            <a:endParaRPr lang="en-US" dirty="0"/>
          </a:p>
          <a:p>
            <a:r>
              <a:rPr lang="en-US" dirty="0" smtClean="0"/>
              <a:t>Nearest Dependencies</a:t>
            </a:r>
          </a:p>
          <a:p>
            <a:pPr lvl="1"/>
            <a:r>
              <a:rPr lang="en-US" dirty="0" smtClean="0"/>
              <a:t>Reduce number of dep_checks</a:t>
            </a:r>
          </a:p>
          <a:p>
            <a:pPr lvl="1"/>
            <a:r>
              <a:rPr lang="en-US" dirty="0" smtClean="0"/>
              <a:t>Reduce metadata in COPS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7217210" y="3075718"/>
            <a:ext cx="1022786" cy="1628210"/>
            <a:chOff x="3750354" y="3352143"/>
            <a:chExt cx="2021765" cy="3218520"/>
          </a:xfrm>
        </p:grpSpPr>
        <p:sp>
          <p:nvSpPr>
            <p:cNvPr id="5" name="Rectangle 4"/>
            <p:cNvSpPr/>
            <p:nvPr/>
          </p:nvSpPr>
          <p:spPr>
            <a:xfrm>
              <a:off x="4521494" y="6185855"/>
              <a:ext cx="384808" cy="384808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/>
            <p:cNvCxnSpPr>
              <a:stCxn id="9" idx="2"/>
            </p:cNvCxnSpPr>
            <p:nvPr/>
          </p:nvCxnSpPr>
          <p:spPr>
            <a:xfrm>
              <a:off x="3944282" y="5564894"/>
              <a:ext cx="577212" cy="62096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>
              <a:stCxn id="10" idx="2"/>
              <a:endCxn id="5" idx="0"/>
            </p:cNvCxnSpPr>
            <p:nvPr/>
          </p:nvCxnSpPr>
          <p:spPr>
            <a:xfrm flipH="1">
              <a:off x="4713898" y="5253861"/>
              <a:ext cx="17718" cy="931994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H="1">
              <a:off x="4906302" y="5468675"/>
              <a:ext cx="655696" cy="71718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3751878" y="5180086"/>
              <a:ext cx="384808" cy="38480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539212" y="4869053"/>
              <a:ext cx="384808" cy="38480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369594" y="5037608"/>
              <a:ext cx="384808" cy="38480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/>
            <p:cNvCxnSpPr>
              <a:stCxn id="10" idx="3"/>
              <a:endCxn id="11" idx="1"/>
            </p:cNvCxnSpPr>
            <p:nvPr/>
          </p:nvCxnSpPr>
          <p:spPr>
            <a:xfrm>
              <a:off x="4924020" y="5061457"/>
              <a:ext cx="445574" cy="168555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16" idx="2"/>
              <a:endCxn id="9" idx="0"/>
            </p:cNvCxnSpPr>
            <p:nvPr/>
          </p:nvCxnSpPr>
          <p:spPr>
            <a:xfrm>
              <a:off x="3944282" y="4569197"/>
              <a:ext cx="0" cy="610889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7" idx="2"/>
            </p:cNvCxnSpPr>
            <p:nvPr/>
          </p:nvCxnSpPr>
          <p:spPr>
            <a:xfrm flipH="1">
              <a:off x="4731615" y="3929355"/>
              <a:ext cx="17718" cy="931994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endCxn id="11" idx="0"/>
            </p:cNvCxnSpPr>
            <p:nvPr/>
          </p:nvCxnSpPr>
          <p:spPr>
            <a:xfrm flipH="1">
              <a:off x="5561998" y="4144169"/>
              <a:ext cx="17717" cy="893439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3751878" y="4184389"/>
              <a:ext cx="384808" cy="38480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556929" y="3544547"/>
              <a:ext cx="384808" cy="38480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387311" y="3713102"/>
              <a:ext cx="384808" cy="38480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/>
            <p:cNvCxnSpPr>
              <a:stCxn id="17" idx="3"/>
              <a:endCxn id="18" idx="1"/>
            </p:cNvCxnSpPr>
            <p:nvPr/>
          </p:nvCxnSpPr>
          <p:spPr>
            <a:xfrm>
              <a:off x="4941737" y="3736951"/>
              <a:ext cx="445574" cy="168555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21" idx="2"/>
              <a:endCxn id="16" idx="0"/>
            </p:cNvCxnSpPr>
            <p:nvPr/>
          </p:nvCxnSpPr>
          <p:spPr>
            <a:xfrm>
              <a:off x="3944282" y="3736951"/>
              <a:ext cx="0" cy="44743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3751878" y="3352143"/>
              <a:ext cx="384808" cy="38480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750354" y="5180086"/>
              <a:ext cx="384808" cy="384808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368070" y="5037608"/>
              <a:ext cx="384808" cy="384808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234309" y="1979595"/>
            <a:ext cx="1255256" cy="494298"/>
            <a:chOff x="4927600" y="2476500"/>
            <a:chExt cx="1321295" cy="965200"/>
          </a:xfrm>
        </p:grpSpPr>
        <p:cxnSp>
          <p:nvCxnSpPr>
            <p:cNvPr id="26" name="Straight Arrow Connector 25"/>
            <p:cNvCxnSpPr/>
            <p:nvPr/>
          </p:nvCxnSpPr>
          <p:spPr>
            <a:xfrm flipV="1">
              <a:off x="4927600" y="2832100"/>
              <a:ext cx="876300" cy="1524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V="1">
              <a:off x="4927600" y="2984500"/>
              <a:ext cx="1321295" cy="1524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4927600" y="3289300"/>
              <a:ext cx="1204910" cy="2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V="1">
              <a:off x="4927600" y="3162300"/>
              <a:ext cx="746222" cy="2794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V="1">
              <a:off x="4927600" y="2476500"/>
              <a:ext cx="1074837" cy="3556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61278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Overhead of get </a:t>
            </a:r>
            <a:r>
              <a:rPr lang="en-US" dirty="0" smtClean="0"/>
              <a:t>transactions?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Compare to previous causal+ systems?</a:t>
            </a:r>
          </a:p>
          <a:p>
            <a:endParaRPr lang="en-US" dirty="0" smtClean="0"/>
          </a:p>
          <a:p>
            <a:r>
              <a:rPr lang="en-US" dirty="0" smtClean="0"/>
              <a:t>Scale?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2058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Experimental Setup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1041401" y="1828039"/>
            <a:ext cx="4250266" cy="425026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5808335" y="3106334"/>
            <a:ext cx="2286000" cy="1619903"/>
            <a:chOff x="5808335" y="3106334"/>
            <a:chExt cx="2286000" cy="1619903"/>
          </a:xfrm>
        </p:grpSpPr>
        <p:sp>
          <p:nvSpPr>
            <p:cNvPr id="66" name="Rectangle 65"/>
            <p:cNvSpPr/>
            <p:nvPr/>
          </p:nvSpPr>
          <p:spPr>
            <a:xfrm>
              <a:off x="6339982" y="3517971"/>
              <a:ext cx="1208266" cy="120826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6912825" y="3576192"/>
              <a:ext cx="649864" cy="1034514"/>
              <a:chOff x="6912825" y="3441484"/>
              <a:chExt cx="649864" cy="1034514"/>
            </a:xfrm>
          </p:grpSpPr>
          <p:sp>
            <p:nvSpPr>
              <p:cNvPr id="68" name="TextBox 67"/>
              <p:cNvSpPr txBox="1"/>
              <p:nvPr/>
            </p:nvSpPr>
            <p:spPr>
              <a:xfrm>
                <a:off x="6912825" y="3441484"/>
                <a:ext cx="649864" cy="14874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600" b="1" u="sng" dirty="0" smtClean="0"/>
                  <a:t>COPS</a:t>
                </a:r>
                <a:endParaRPr lang="en-US" sz="600" b="1" u="sng" dirty="0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7004287" y="3627564"/>
                <a:ext cx="462126" cy="163673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7004287" y="3855818"/>
                <a:ext cx="462126" cy="163673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7004287" y="4084072"/>
                <a:ext cx="462126" cy="163673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7004287" y="4312325"/>
                <a:ext cx="462126" cy="163673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5" name="TextBox 64"/>
            <p:cNvSpPr txBox="1"/>
            <p:nvPr/>
          </p:nvSpPr>
          <p:spPr>
            <a:xfrm>
              <a:off x="5808335" y="3106334"/>
              <a:ext cx="2286000" cy="52322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/>
              <a:r>
                <a:rPr lang="en-US" sz="2400" b="1" dirty="0" smtClean="0"/>
                <a:t>Remote DC</a:t>
              </a:r>
              <a:endParaRPr lang="en-US" sz="2400" b="1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893731" y="2975279"/>
            <a:ext cx="1225559" cy="2408756"/>
            <a:chOff x="4893731" y="2975279"/>
            <a:chExt cx="1225559" cy="2408756"/>
          </a:xfrm>
        </p:grpSpPr>
        <p:cxnSp>
          <p:nvCxnSpPr>
            <p:cNvPr id="78" name="Straight Arrow Connector 77"/>
            <p:cNvCxnSpPr>
              <a:stCxn id="59" idx="6"/>
            </p:cNvCxnSpPr>
            <p:nvPr/>
          </p:nvCxnSpPr>
          <p:spPr>
            <a:xfrm>
              <a:off x="4893731" y="2975279"/>
              <a:ext cx="1225559" cy="493190"/>
            </a:xfrm>
            <a:prstGeom prst="straightConnector1">
              <a:avLst/>
            </a:prstGeom>
            <a:ln w="38100" cmpd="sng">
              <a:solidFill>
                <a:schemeClr val="accent4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/>
            <p:nvPr/>
          </p:nvCxnSpPr>
          <p:spPr>
            <a:xfrm>
              <a:off x="4893731" y="3796859"/>
              <a:ext cx="1225559" cy="140055"/>
            </a:xfrm>
            <a:prstGeom prst="straightConnector1">
              <a:avLst/>
            </a:prstGeom>
            <a:ln w="38100" cmpd="sng">
              <a:solidFill>
                <a:schemeClr val="accent4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 flipV="1">
              <a:off x="4893731" y="4398695"/>
              <a:ext cx="1225559" cy="197561"/>
            </a:xfrm>
            <a:prstGeom prst="straightConnector1">
              <a:avLst/>
            </a:prstGeom>
            <a:ln w="38100" cmpd="sng">
              <a:solidFill>
                <a:schemeClr val="accent4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/>
            <p:nvPr/>
          </p:nvCxnSpPr>
          <p:spPr>
            <a:xfrm flipV="1">
              <a:off x="4893731" y="4785348"/>
              <a:ext cx="1225559" cy="598687"/>
            </a:xfrm>
            <a:prstGeom prst="straightConnector1">
              <a:avLst/>
            </a:prstGeom>
            <a:ln w="38100" cmpd="sng">
              <a:solidFill>
                <a:schemeClr val="accent4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3005667" y="1955559"/>
            <a:ext cx="2286000" cy="3716349"/>
            <a:chOff x="3005667" y="1820851"/>
            <a:chExt cx="2286000" cy="3716349"/>
          </a:xfrm>
        </p:grpSpPr>
        <p:sp>
          <p:nvSpPr>
            <p:cNvPr id="52" name="TextBox 51"/>
            <p:cNvSpPr txBox="1"/>
            <p:nvPr/>
          </p:nvSpPr>
          <p:spPr>
            <a:xfrm>
              <a:off x="3005667" y="1820851"/>
              <a:ext cx="2286000" cy="52322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/>
              <a:r>
                <a:rPr lang="en-US" sz="2800" b="1" u="sng" dirty="0" smtClean="0"/>
                <a:t>COPS Servers</a:t>
              </a:r>
              <a:endParaRPr lang="en-US" sz="2800" b="1" u="sng" dirty="0"/>
            </a:p>
          </p:txBody>
        </p:sp>
        <p:sp>
          <p:nvSpPr>
            <p:cNvPr id="59" name="Oval 58"/>
            <p:cNvSpPr/>
            <p:nvPr/>
          </p:nvSpPr>
          <p:spPr>
            <a:xfrm>
              <a:off x="3268131" y="2552698"/>
              <a:ext cx="1625600" cy="575746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2400" dirty="0"/>
            </a:p>
          </p:txBody>
        </p:sp>
        <p:sp>
          <p:nvSpPr>
            <p:cNvPr id="60" name="Oval 59"/>
            <p:cNvSpPr/>
            <p:nvPr/>
          </p:nvSpPr>
          <p:spPr>
            <a:xfrm>
              <a:off x="3268131" y="3355617"/>
              <a:ext cx="1625600" cy="575746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2400" dirty="0"/>
            </a:p>
          </p:txBody>
        </p:sp>
        <p:sp>
          <p:nvSpPr>
            <p:cNvPr id="98" name="Oval 97"/>
            <p:cNvSpPr/>
            <p:nvPr/>
          </p:nvSpPr>
          <p:spPr>
            <a:xfrm>
              <a:off x="3268131" y="4961454"/>
              <a:ext cx="1625600" cy="575746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2400" dirty="0"/>
            </a:p>
          </p:txBody>
        </p:sp>
        <p:sp>
          <p:nvSpPr>
            <p:cNvPr id="99" name="Oval 98"/>
            <p:cNvSpPr/>
            <p:nvPr/>
          </p:nvSpPr>
          <p:spPr>
            <a:xfrm>
              <a:off x="3268131" y="4199094"/>
              <a:ext cx="1625600" cy="575746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2400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185333" y="1951067"/>
            <a:ext cx="1727200" cy="3748487"/>
            <a:chOff x="1185333" y="1951067"/>
            <a:chExt cx="1727200" cy="3748487"/>
          </a:xfrm>
        </p:grpSpPr>
        <p:sp>
          <p:nvSpPr>
            <p:cNvPr id="51" name="TextBox 50"/>
            <p:cNvSpPr txBox="1"/>
            <p:nvPr/>
          </p:nvSpPr>
          <p:spPr>
            <a:xfrm>
              <a:off x="1185333" y="1951067"/>
              <a:ext cx="1727200" cy="52322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/>
              <a:r>
                <a:rPr lang="en-US" sz="2800" b="1" u="sng" dirty="0" smtClean="0"/>
                <a:t>Clients</a:t>
              </a:r>
              <a:endParaRPr lang="en-US" sz="2800" b="1" u="sng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253069" y="2715052"/>
              <a:ext cx="1524000" cy="575746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253069" y="3517971"/>
              <a:ext cx="1524000" cy="575746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253069" y="4320890"/>
              <a:ext cx="1524000" cy="575746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253069" y="5123808"/>
              <a:ext cx="1524000" cy="575746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1388533" y="2771488"/>
              <a:ext cx="819880" cy="138297"/>
            </a:xfrm>
            <a:custGeom>
              <a:avLst/>
              <a:gdLst>
                <a:gd name="connsiteX0" fmla="*/ 0 w 2810934"/>
                <a:gd name="connsiteY0" fmla="*/ 474147 h 474147"/>
                <a:gd name="connsiteX1" fmla="*/ 524934 w 2810934"/>
                <a:gd name="connsiteY1" fmla="*/ 13 h 474147"/>
                <a:gd name="connsiteX2" fmla="*/ 982134 w 2810934"/>
                <a:gd name="connsiteY2" fmla="*/ 457213 h 474147"/>
                <a:gd name="connsiteX3" fmla="*/ 1524000 w 2810934"/>
                <a:gd name="connsiteY3" fmla="*/ 50813 h 474147"/>
                <a:gd name="connsiteX4" fmla="*/ 1913467 w 2810934"/>
                <a:gd name="connsiteY4" fmla="*/ 406413 h 474147"/>
                <a:gd name="connsiteX5" fmla="*/ 2302934 w 2810934"/>
                <a:gd name="connsiteY5" fmla="*/ 101613 h 474147"/>
                <a:gd name="connsiteX6" fmla="*/ 2506134 w 2810934"/>
                <a:gd name="connsiteY6" fmla="*/ 423347 h 474147"/>
                <a:gd name="connsiteX7" fmla="*/ 2810934 w 2810934"/>
                <a:gd name="connsiteY7" fmla="*/ 220147 h 474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0934" h="474147">
                  <a:moveTo>
                    <a:pt x="0" y="474147"/>
                  </a:moveTo>
                  <a:cubicBezTo>
                    <a:pt x="180622" y="238491"/>
                    <a:pt x="361245" y="2835"/>
                    <a:pt x="524934" y="13"/>
                  </a:cubicBezTo>
                  <a:cubicBezTo>
                    <a:pt x="688623" y="-2809"/>
                    <a:pt x="815623" y="448746"/>
                    <a:pt x="982134" y="457213"/>
                  </a:cubicBezTo>
                  <a:cubicBezTo>
                    <a:pt x="1148645" y="465680"/>
                    <a:pt x="1368778" y="59280"/>
                    <a:pt x="1524000" y="50813"/>
                  </a:cubicBezTo>
                  <a:cubicBezTo>
                    <a:pt x="1679222" y="42346"/>
                    <a:pt x="1783645" y="397946"/>
                    <a:pt x="1913467" y="406413"/>
                  </a:cubicBezTo>
                  <a:cubicBezTo>
                    <a:pt x="2043289" y="414880"/>
                    <a:pt x="2204156" y="98791"/>
                    <a:pt x="2302934" y="101613"/>
                  </a:cubicBezTo>
                  <a:cubicBezTo>
                    <a:pt x="2401712" y="104435"/>
                    <a:pt x="2421468" y="403591"/>
                    <a:pt x="2506134" y="423347"/>
                  </a:cubicBezTo>
                  <a:cubicBezTo>
                    <a:pt x="2590800" y="443103"/>
                    <a:pt x="2740378" y="304814"/>
                    <a:pt x="2810934" y="220147"/>
                  </a:cubicBezTo>
                </a:path>
              </a:pathLst>
            </a:cu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>
              <a:off x="1798473" y="2923888"/>
              <a:ext cx="819880" cy="138297"/>
            </a:xfrm>
            <a:custGeom>
              <a:avLst/>
              <a:gdLst>
                <a:gd name="connsiteX0" fmla="*/ 0 w 2810934"/>
                <a:gd name="connsiteY0" fmla="*/ 474147 h 474147"/>
                <a:gd name="connsiteX1" fmla="*/ 524934 w 2810934"/>
                <a:gd name="connsiteY1" fmla="*/ 13 h 474147"/>
                <a:gd name="connsiteX2" fmla="*/ 982134 w 2810934"/>
                <a:gd name="connsiteY2" fmla="*/ 457213 h 474147"/>
                <a:gd name="connsiteX3" fmla="*/ 1524000 w 2810934"/>
                <a:gd name="connsiteY3" fmla="*/ 50813 h 474147"/>
                <a:gd name="connsiteX4" fmla="*/ 1913467 w 2810934"/>
                <a:gd name="connsiteY4" fmla="*/ 406413 h 474147"/>
                <a:gd name="connsiteX5" fmla="*/ 2302934 w 2810934"/>
                <a:gd name="connsiteY5" fmla="*/ 101613 h 474147"/>
                <a:gd name="connsiteX6" fmla="*/ 2506134 w 2810934"/>
                <a:gd name="connsiteY6" fmla="*/ 423347 h 474147"/>
                <a:gd name="connsiteX7" fmla="*/ 2810934 w 2810934"/>
                <a:gd name="connsiteY7" fmla="*/ 220147 h 474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0934" h="474147">
                  <a:moveTo>
                    <a:pt x="0" y="474147"/>
                  </a:moveTo>
                  <a:cubicBezTo>
                    <a:pt x="180622" y="238491"/>
                    <a:pt x="361245" y="2835"/>
                    <a:pt x="524934" y="13"/>
                  </a:cubicBezTo>
                  <a:cubicBezTo>
                    <a:pt x="688623" y="-2809"/>
                    <a:pt x="815623" y="448746"/>
                    <a:pt x="982134" y="457213"/>
                  </a:cubicBezTo>
                  <a:cubicBezTo>
                    <a:pt x="1148645" y="465680"/>
                    <a:pt x="1368778" y="59280"/>
                    <a:pt x="1524000" y="50813"/>
                  </a:cubicBezTo>
                  <a:cubicBezTo>
                    <a:pt x="1679222" y="42346"/>
                    <a:pt x="1783645" y="397946"/>
                    <a:pt x="1913467" y="406413"/>
                  </a:cubicBezTo>
                  <a:cubicBezTo>
                    <a:pt x="2043289" y="414880"/>
                    <a:pt x="2204156" y="98791"/>
                    <a:pt x="2302934" y="101613"/>
                  </a:cubicBezTo>
                  <a:cubicBezTo>
                    <a:pt x="2401712" y="104435"/>
                    <a:pt x="2421468" y="403591"/>
                    <a:pt x="2506134" y="423347"/>
                  </a:cubicBezTo>
                  <a:cubicBezTo>
                    <a:pt x="2590800" y="443103"/>
                    <a:pt x="2740378" y="304814"/>
                    <a:pt x="2810934" y="220147"/>
                  </a:cubicBezTo>
                </a:path>
              </a:pathLst>
            </a:cu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1480502" y="3076288"/>
              <a:ext cx="819880" cy="138297"/>
            </a:xfrm>
            <a:custGeom>
              <a:avLst/>
              <a:gdLst>
                <a:gd name="connsiteX0" fmla="*/ 0 w 2810934"/>
                <a:gd name="connsiteY0" fmla="*/ 474147 h 474147"/>
                <a:gd name="connsiteX1" fmla="*/ 524934 w 2810934"/>
                <a:gd name="connsiteY1" fmla="*/ 13 h 474147"/>
                <a:gd name="connsiteX2" fmla="*/ 982134 w 2810934"/>
                <a:gd name="connsiteY2" fmla="*/ 457213 h 474147"/>
                <a:gd name="connsiteX3" fmla="*/ 1524000 w 2810934"/>
                <a:gd name="connsiteY3" fmla="*/ 50813 h 474147"/>
                <a:gd name="connsiteX4" fmla="*/ 1913467 w 2810934"/>
                <a:gd name="connsiteY4" fmla="*/ 406413 h 474147"/>
                <a:gd name="connsiteX5" fmla="*/ 2302934 w 2810934"/>
                <a:gd name="connsiteY5" fmla="*/ 101613 h 474147"/>
                <a:gd name="connsiteX6" fmla="*/ 2506134 w 2810934"/>
                <a:gd name="connsiteY6" fmla="*/ 423347 h 474147"/>
                <a:gd name="connsiteX7" fmla="*/ 2810934 w 2810934"/>
                <a:gd name="connsiteY7" fmla="*/ 220147 h 474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0934" h="474147">
                  <a:moveTo>
                    <a:pt x="0" y="474147"/>
                  </a:moveTo>
                  <a:cubicBezTo>
                    <a:pt x="180622" y="238491"/>
                    <a:pt x="361245" y="2835"/>
                    <a:pt x="524934" y="13"/>
                  </a:cubicBezTo>
                  <a:cubicBezTo>
                    <a:pt x="688623" y="-2809"/>
                    <a:pt x="815623" y="448746"/>
                    <a:pt x="982134" y="457213"/>
                  </a:cubicBezTo>
                  <a:cubicBezTo>
                    <a:pt x="1148645" y="465680"/>
                    <a:pt x="1368778" y="59280"/>
                    <a:pt x="1524000" y="50813"/>
                  </a:cubicBezTo>
                  <a:cubicBezTo>
                    <a:pt x="1679222" y="42346"/>
                    <a:pt x="1783645" y="397946"/>
                    <a:pt x="1913467" y="406413"/>
                  </a:cubicBezTo>
                  <a:cubicBezTo>
                    <a:pt x="2043289" y="414880"/>
                    <a:pt x="2204156" y="98791"/>
                    <a:pt x="2302934" y="101613"/>
                  </a:cubicBezTo>
                  <a:cubicBezTo>
                    <a:pt x="2401712" y="104435"/>
                    <a:pt x="2421468" y="403591"/>
                    <a:pt x="2506134" y="423347"/>
                  </a:cubicBezTo>
                  <a:cubicBezTo>
                    <a:pt x="2590800" y="443103"/>
                    <a:pt x="2740378" y="304814"/>
                    <a:pt x="2810934" y="220147"/>
                  </a:cubicBezTo>
                </a:path>
              </a:pathLst>
            </a:cu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1296564" y="4352050"/>
              <a:ext cx="819880" cy="138297"/>
            </a:xfrm>
            <a:custGeom>
              <a:avLst/>
              <a:gdLst>
                <a:gd name="connsiteX0" fmla="*/ 0 w 2810934"/>
                <a:gd name="connsiteY0" fmla="*/ 474147 h 474147"/>
                <a:gd name="connsiteX1" fmla="*/ 524934 w 2810934"/>
                <a:gd name="connsiteY1" fmla="*/ 13 h 474147"/>
                <a:gd name="connsiteX2" fmla="*/ 982134 w 2810934"/>
                <a:gd name="connsiteY2" fmla="*/ 457213 h 474147"/>
                <a:gd name="connsiteX3" fmla="*/ 1524000 w 2810934"/>
                <a:gd name="connsiteY3" fmla="*/ 50813 h 474147"/>
                <a:gd name="connsiteX4" fmla="*/ 1913467 w 2810934"/>
                <a:gd name="connsiteY4" fmla="*/ 406413 h 474147"/>
                <a:gd name="connsiteX5" fmla="*/ 2302934 w 2810934"/>
                <a:gd name="connsiteY5" fmla="*/ 101613 h 474147"/>
                <a:gd name="connsiteX6" fmla="*/ 2506134 w 2810934"/>
                <a:gd name="connsiteY6" fmla="*/ 423347 h 474147"/>
                <a:gd name="connsiteX7" fmla="*/ 2810934 w 2810934"/>
                <a:gd name="connsiteY7" fmla="*/ 220147 h 474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0934" h="474147">
                  <a:moveTo>
                    <a:pt x="0" y="474147"/>
                  </a:moveTo>
                  <a:cubicBezTo>
                    <a:pt x="180622" y="238491"/>
                    <a:pt x="361245" y="2835"/>
                    <a:pt x="524934" y="13"/>
                  </a:cubicBezTo>
                  <a:cubicBezTo>
                    <a:pt x="688623" y="-2809"/>
                    <a:pt x="815623" y="448746"/>
                    <a:pt x="982134" y="457213"/>
                  </a:cubicBezTo>
                  <a:cubicBezTo>
                    <a:pt x="1148645" y="465680"/>
                    <a:pt x="1368778" y="59280"/>
                    <a:pt x="1524000" y="50813"/>
                  </a:cubicBezTo>
                  <a:cubicBezTo>
                    <a:pt x="1679222" y="42346"/>
                    <a:pt x="1783645" y="397946"/>
                    <a:pt x="1913467" y="406413"/>
                  </a:cubicBezTo>
                  <a:cubicBezTo>
                    <a:pt x="2043289" y="414880"/>
                    <a:pt x="2204156" y="98791"/>
                    <a:pt x="2302934" y="101613"/>
                  </a:cubicBezTo>
                  <a:cubicBezTo>
                    <a:pt x="2401712" y="104435"/>
                    <a:pt x="2421468" y="403591"/>
                    <a:pt x="2506134" y="423347"/>
                  </a:cubicBezTo>
                  <a:cubicBezTo>
                    <a:pt x="2590800" y="443103"/>
                    <a:pt x="2740378" y="304814"/>
                    <a:pt x="2810934" y="220147"/>
                  </a:cubicBezTo>
                </a:path>
              </a:pathLst>
            </a:cu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1706504" y="4504450"/>
              <a:ext cx="819880" cy="138297"/>
            </a:xfrm>
            <a:custGeom>
              <a:avLst/>
              <a:gdLst>
                <a:gd name="connsiteX0" fmla="*/ 0 w 2810934"/>
                <a:gd name="connsiteY0" fmla="*/ 474147 h 474147"/>
                <a:gd name="connsiteX1" fmla="*/ 524934 w 2810934"/>
                <a:gd name="connsiteY1" fmla="*/ 13 h 474147"/>
                <a:gd name="connsiteX2" fmla="*/ 982134 w 2810934"/>
                <a:gd name="connsiteY2" fmla="*/ 457213 h 474147"/>
                <a:gd name="connsiteX3" fmla="*/ 1524000 w 2810934"/>
                <a:gd name="connsiteY3" fmla="*/ 50813 h 474147"/>
                <a:gd name="connsiteX4" fmla="*/ 1913467 w 2810934"/>
                <a:gd name="connsiteY4" fmla="*/ 406413 h 474147"/>
                <a:gd name="connsiteX5" fmla="*/ 2302934 w 2810934"/>
                <a:gd name="connsiteY5" fmla="*/ 101613 h 474147"/>
                <a:gd name="connsiteX6" fmla="*/ 2506134 w 2810934"/>
                <a:gd name="connsiteY6" fmla="*/ 423347 h 474147"/>
                <a:gd name="connsiteX7" fmla="*/ 2810934 w 2810934"/>
                <a:gd name="connsiteY7" fmla="*/ 220147 h 474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0934" h="474147">
                  <a:moveTo>
                    <a:pt x="0" y="474147"/>
                  </a:moveTo>
                  <a:cubicBezTo>
                    <a:pt x="180622" y="238491"/>
                    <a:pt x="361245" y="2835"/>
                    <a:pt x="524934" y="13"/>
                  </a:cubicBezTo>
                  <a:cubicBezTo>
                    <a:pt x="688623" y="-2809"/>
                    <a:pt x="815623" y="448746"/>
                    <a:pt x="982134" y="457213"/>
                  </a:cubicBezTo>
                  <a:cubicBezTo>
                    <a:pt x="1148645" y="465680"/>
                    <a:pt x="1368778" y="59280"/>
                    <a:pt x="1524000" y="50813"/>
                  </a:cubicBezTo>
                  <a:cubicBezTo>
                    <a:pt x="1679222" y="42346"/>
                    <a:pt x="1783645" y="397946"/>
                    <a:pt x="1913467" y="406413"/>
                  </a:cubicBezTo>
                  <a:cubicBezTo>
                    <a:pt x="2043289" y="414880"/>
                    <a:pt x="2204156" y="98791"/>
                    <a:pt x="2302934" y="101613"/>
                  </a:cubicBezTo>
                  <a:cubicBezTo>
                    <a:pt x="2401712" y="104435"/>
                    <a:pt x="2421468" y="403591"/>
                    <a:pt x="2506134" y="423347"/>
                  </a:cubicBezTo>
                  <a:cubicBezTo>
                    <a:pt x="2590800" y="443103"/>
                    <a:pt x="2740378" y="304814"/>
                    <a:pt x="2810934" y="220147"/>
                  </a:cubicBezTo>
                </a:path>
              </a:pathLst>
            </a:cu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1388533" y="4656850"/>
              <a:ext cx="819880" cy="138297"/>
            </a:xfrm>
            <a:custGeom>
              <a:avLst/>
              <a:gdLst>
                <a:gd name="connsiteX0" fmla="*/ 0 w 2810934"/>
                <a:gd name="connsiteY0" fmla="*/ 474147 h 474147"/>
                <a:gd name="connsiteX1" fmla="*/ 524934 w 2810934"/>
                <a:gd name="connsiteY1" fmla="*/ 13 h 474147"/>
                <a:gd name="connsiteX2" fmla="*/ 982134 w 2810934"/>
                <a:gd name="connsiteY2" fmla="*/ 457213 h 474147"/>
                <a:gd name="connsiteX3" fmla="*/ 1524000 w 2810934"/>
                <a:gd name="connsiteY3" fmla="*/ 50813 h 474147"/>
                <a:gd name="connsiteX4" fmla="*/ 1913467 w 2810934"/>
                <a:gd name="connsiteY4" fmla="*/ 406413 h 474147"/>
                <a:gd name="connsiteX5" fmla="*/ 2302934 w 2810934"/>
                <a:gd name="connsiteY5" fmla="*/ 101613 h 474147"/>
                <a:gd name="connsiteX6" fmla="*/ 2506134 w 2810934"/>
                <a:gd name="connsiteY6" fmla="*/ 423347 h 474147"/>
                <a:gd name="connsiteX7" fmla="*/ 2810934 w 2810934"/>
                <a:gd name="connsiteY7" fmla="*/ 220147 h 474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0934" h="474147">
                  <a:moveTo>
                    <a:pt x="0" y="474147"/>
                  </a:moveTo>
                  <a:cubicBezTo>
                    <a:pt x="180622" y="238491"/>
                    <a:pt x="361245" y="2835"/>
                    <a:pt x="524934" y="13"/>
                  </a:cubicBezTo>
                  <a:cubicBezTo>
                    <a:pt x="688623" y="-2809"/>
                    <a:pt x="815623" y="448746"/>
                    <a:pt x="982134" y="457213"/>
                  </a:cubicBezTo>
                  <a:cubicBezTo>
                    <a:pt x="1148645" y="465680"/>
                    <a:pt x="1368778" y="59280"/>
                    <a:pt x="1524000" y="50813"/>
                  </a:cubicBezTo>
                  <a:cubicBezTo>
                    <a:pt x="1679222" y="42346"/>
                    <a:pt x="1783645" y="397946"/>
                    <a:pt x="1913467" y="406413"/>
                  </a:cubicBezTo>
                  <a:cubicBezTo>
                    <a:pt x="2043289" y="414880"/>
                    <a:pt x="2204156" y="98791"/>
                    <a:pt x="2302934" y="101613"/>
                  </a:cubicBezTo>
                  <a:cubicBezTo>
                    <a:pt x="2401712" y="104435"/>
                    <a:pt x="2421468" y="403591"/>
                    <a:pt x="2506134" y="423347"/>
                  </a:cubicBezTo>
                  <a:cubicBezTo>
                    <a:pt x="2590800" y="443103"/>
                    <a:pt x="2740378" y="304814"/>
                    <a:pt x="2810934" y="220147"/>
                  </a:cubicBezTo>
                </a:path>
              </a:pathLst>
            </a:cu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1392766" y="3575310"/>
              <a:ext cx="1137851" cy="443097"/>
              <a:chOff x="1222962" y="4369742"/>
              <a:chExt cx="1137851" cy="443097"/>
            </a:xfrm>
          </p:grpSpPr>
          <p:sp>
            <p:nvSpPr>
              <p:cNvPr id="105" name="Freeform 104"/>
              <p:cNvSpPr/>
              <p:nvPr/>
            </p:nvSpPr>
            <p:spPr>
              <a:xfrm>
                <a:off x="1448964" y="4369742"/>
                <a:ext cx="819880" cy="138297"/>
              </a:xfrm>
              <a:custGeom>
                <a:avLst/>
                <a:gdLst>
                  <a:gd name="connsiteX0" fmla="*/ 0 w 2810934"/>
                  <a:gd name="connsiteY0" fmla="*/ 474147 h 474147"/>
                  <a:gd name="connsiteX1" fmla="*/ 524934 w 2810934"/>
                  <a:gd name="connsiteY1" fmla="*/ 13 h 474147"/>
                  <a:gd name="connsiteX2" fmla="*/ 982134 w 2810934"/>
                  <a:gd name="connsiteY2" fmla="*/ 457213 h 474147"/>
                  <a:gd name="connsiteX3" fmla="*/ 1524000 w 2810934"/>
                  <a:gd name="connsiteY3" fmla="*/ 50813 h 474147"/>
                  <a:gd name="connsiteX4" fmla="*/ 1913467 w 2810934"/>
                  <a:gd name="connsiteY4" fmla="*/ 406413 h 474147"/>
                  <a:gd name="connsiteX5" fmla="*/ 2302934 w 2810934"/>
                  <a:gd name="connsiteY5" fmla="*/ 101613 h 474147"/>
                  <a:gd name="connsiteX6" fmla="*/ 2506134 w 2810934"/>
                  <a:gd name="connsiteY6" fmla="*/ 423347 h 474147"/>
                  <a:gd name="connsiteX7" fmla="*/ 2810934 w 2810934"/>
                  <a:gd name="connsiteY7" fmla="*/ 220147 h 474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10934" h="474147">
                    <a:moveTo>
                      <a:pt x="0" y="474147"/>
                    </a:moveTo>
                    <a:cubicBezTo>
                      <a:pt x="180622" y="238491"/>
                      <a:pt x="361245" y="2835"/>
                      <a:pt x="524934" y="13"/>
                    </a:cubicBezTo>
                    <a:cubicBezTo>
                      <a:pt x="688623" y="-2809"/>
                      <a:pt x="815623" y="448746"/>
                      <a:pt x="982134" y="457213"/>
                    </a:cubicBezTo>
                    <a:cubicBezTo>
                      <a:pt x="1148645" y="465680"/>
                      <a:pt x="1368778" y="59280"/>
                      <a:pt x="1524000" y="50813"/>
                    </a:cubicBezTo>
                    <a:cubicBezTo>
                      <a:pt x="1679222" y="42346"/>
                      <a:pt x="1783645" y="397946"/>
                      <a:pt x="1913467" y="406413"/>
                    </a:cubicBezTo>
                    <a:cubicBezTo>
                      <a:pt x="2043289" y="414880"/>
                      <a:pt x="2204156" y="98791"/>
                      <a:pt x="2302934" y="101613"/>
                    </a:cubicBezTo>
                    <a:cubicBezTo>
                      <a:pt x="2401712" y="104435"/>
                      <a:pt x="2421468" y="403591"/>
                      <a:pt x="2506134" y="423347"/>
                    </a:cubicBezTo>
                    <a:cubicBezTo>
                      <a:pt x="2590800" y="443103"/>
                      <a:pt x="2740378" y="304814"/>
                      <a:pt x="2810934" y="220147"/>
                    </a:cubicBezTo>
                  </a:path>
                </a:pathLst>
              </a:cu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Freeform 105"/>
              <p:cNvSpPr/>
              <p:nvPr/>
            </p:nvSpPr>
            <p:spPr>
              <a:xfrm>
                <a:off x="1222962" y="4522142"/>
                <a:ext cx="819880" cy="138297"/>
              </a:xfrm>
              <a:custGeom>
                <a:avLst/>
                <a:gdLst>
                  <a:gd name="connsiteX0" fmla="*/ 0 w 2810934"/>
                  <a:gd name="connsiteY0" fmla="*/ 474147 h 474147"/>
                  <a:gd name="connsiteX1" fmla="*/ 524934 w 2810934"/>
                  <a:gd name="connsiteY1" fmla="*/ 13 h 474147"/>
                  <a:gd name="connsiteX2" fmla="*/ 982134 w 2810934"/>
                  <a:gd name="connsiteY2" fmla="*/ 457213 h 474147"/>
                  <a:gd name="connsiteX3" fmla="*/ 1524000 w 2810934"/>
                  <a:gd name="connsiteY3" fmla="*/ 50813 h 474147"/>
                  <a:gd name="connsiteX4" fmla="*/ 1913467 w 2810934"/>
                  <a:gd name="connsiteY4" fmla="*/ 406413 h 474147"/>
                  <a:gd name="connsiteX5" fmla="*/ 2302934 w 2810934"/>
                  <a:gd name="connsiteY5" fmla="*/ 101613 h 474147"/>
                  <a:gd name="connsiteX6" fmla="*/ 2506134 w 2810934"/>
                  <a:gd name="connsiteY6" fmla="*/ 423347 h 474147"/>
                  <a:gd name="connsiteX7" fmla="*/ 2810934 w 2810934"/>
                  <a:gd name="connsiteY7" fmla="*/ 220147 h 474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10934" h="474147">
                    <a:moveTo>
                      <a:pt x="0" y="474147"/>
                    </a:moveTo>
                    <a:cubicBezTo>
                      <a:pt x="180622" y="238491"/>
                      <a:pt x="361245" y="2835"/>
                      <a:pt x="524934" y="13"/>
                    </a:cubicBezTo>
                    <a:cubicBezTo>
                      <a:pt x="688623" y="-2809"/>
                      <a:pt x="815623" y="448746"/>
                      <a:pt x="982134" y="457213"/>
                    </a:cubicBezTo>
                    <a:cubicBezTo>
                      <a:pt x="1148645" y="465680"/>
                      <a:pt x="1368778" y="59280"/>
                      <a:pt x="1524000" y="50813"/>
                    </a:cubicBezTo>
                    <a:cubicBezTo>
                      <a:pt x="1679222" y="42346"/>
                      <a:pt x="1783645" y="397946"/>
                      <a:pt x="1913467" y="406413"/>
                    </a:cubicBezTo>
                    <a:cubicBezTo>
                      <a:pt x="2043289" y="414880"/>
                      <a:pt x="2204156" y="98791"/>
                      <a:pt x="2302934" y="101613"/>
                    </a:cubicBezTo>
                    <a:cubicBezTo>
                      <a:pt x="2401712" y="104435"/>
                      <a:pt x="2421468" y="403591"/>
                      <a:pt x="2506134" y="423347"/>
                    </a:cubicBezTo>
                    <a:cubicBezTo>
                      <a:pt x="2590800" y="443103"/>
                      <a:pt x="2740378" y="304814"/>
                      <a:pt x="2810934" y="220147"/>
                    </a:cubicBezTo>
                  </a:path>
                </a:pathLst>
              </a:cu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Freeform 106"/>
              <p:cNvSpPr/>
              <p:nvPr/>
            </p:nvSpPr>
            <p:spPr>
              <a:xfrm>
                <a:off x="1540933" y="4674542"/>
                <a:ext cx="819880" cy="138297"/>
              </a:xfrm>
              <a:custGeom>
                <a:avLst/>
                <a:gdLst>
                  <a:gd name="connsiteX0" fmla="*/ 0 w 2810934"/>
                  <a:gd name="connsiteY0" fmla="*/ 474147 h 474147"/>
                  <a:gd name="connsiteX1" fmla="*/ 524934 w 2810934"/>
                  <a:gd name="connsiteY1" fmla="*/ 13 h 474147"/>
                  <a:gd name="connsiteX2" fmla="*/ 982134 w 2810934"/>
                  <a:gd name="connsiteY2" fmla="*/ 457213 h 474147"/>
                  <a:gd name="connsiteX3" fmla="*/ 1524000 w 2810934"/>
                  <a:gd name="connsiteY3" fmla="*/ 50813 h 474147"/>
                  <a:gd name="connsiteX4" fmla="*/ 1913467 w 2810934"/>
                  <a:gd name="connsiteY4" fmla="*/ 406413 h 474147"/>
                  <a:gd name="connsiteX5" fmla="*/ 2302934 w 2810934"/>
                  <a:gd name="connsiteY5" fmla="*/ 101613 h 474147"/>
                  <a:gd name="connsiteX6" fmla="*/ 2506134 w 2810934"/>
                  <a:gd name="connsiteY6" fmla="*/ 423347 h 474147"/>
                  <a:gd name="connsiteX7" fmla="*/ 2810934 w 2810934"/>
                  <a:gd name="connsiteY7" fmla="*/ 220147 h 474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10934" h="474147">
                    <a:moveTo>
                      <a:pt x="0" y="474147"/>
                    </a:moveTo>
                    <a:cubicBezTo>
                      <a:pt x="180622" y="238491"/>
                      <a:pt x="361245" y="2835"/>
                      <a:pt x="524934" y="13"/>
                    </a:cubicBezTo>
                    <a:cubicBezTo>
                      <a:pt x="688623" y="-2809"/>
                      <a:pt x="815623" y="448746"/>
                      <a:pt x="982134" y="457213"/>
                    </a:cubicBezTo>
                    <a:cubicBezTo>
                      <a:pt x="1148645" y="465680"/>
                      <a:pt x="1368778" y="59280"/>
                      <a:pt x="1524000" y="50813"/>
                    </a:cubicBezTo>
                    <a:cubicBezTo>
                      <a:pt x="1679222" y="42346"/>
                      <a:pt x="1783645" y="397946"/>
                      <a:pt x="1913467" y="406413"/>
                    </a:cubicBezTo>
                    <a:cubicBezTo>
                      <a:pt x="2043289" y="414880"/>
                      <a:pt x="2204156" y="98791"/>
                      <a:pt x="2302934" y="101613"/>
                    </a:cubicBezTo>
                    <a:cubicBezTo>
                      <a:pt x="2401712" y="104435"/>
                      <a:pt x="2421468" y="403591"/>
                      <a:pt x="2506134" y="423347"/>
                    </a:cubicBezTo>
                    <a:cubicBezTo>
                      <a:pt x="2590800" y="443103"/>
                      <a:pt x="2740378" y="304814"/>
                      <a:pt x="2810934" y="220147"/>
                    </a:cubicBezTo>
                  </a:path>
                </a:pathLst>
              </a:cu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3" name="Group 112"/>
            <p:cNvGrpSpPr/>
            <p:nvPr/>
          </p:nvGrpSpPr>
          <p:grpSpPr>
            <a:xfrm>
              <a:off x="1315804" y="5162486"/>
              <a:ext cx="1137851" cy="443097"/>
              <a:chOff x="1222962" y="4369742"/>
              <a:chExt cx="1137851" cy="443097"/>
            </a:xfrm>
          </p:grpSpPr>
          <p:sp>
            <p:nvSpPr>
              <p:cNvPr id="114" name="Freeform 113"/>
              <p:cNvSpPr/>
              <p:nvPr/>
            </p:nvSpPr>
            <p:spPr>
              <a:xfrm>
                <a:off x="1448964" y="4369742"/>
                <a:ext cx="819880" cy="138297"/>
              </a:xfrm>
              <a:custGeom>
                <a:avLst/>
                <a:gdLst>
                  <a:gd name="connsiteX0" fmla="*/ 0 w 2810934"/>
                  <a:gd name="connsiteY0" fmla="*/ 474147 h 474147"/>
                  <a:gd name="connsiteX1" fmla="*/ 524934 w 2810934"/>
                  <a:gd name="connsiteY1" fmla="*/ 13 h 474147"/>
                  <a:gd name="connsiteX2" fmla="*/ 982134 w 2810934"/>
                  <a:gd name="connsiteY2" fmla="*/ 457213 h 474147"/>
                  <a:gd name="connsiteX3" fmla="*/ 1524000 w 2810934"/>
                  <a:gd name="connsiteY3" fmla="*/ 50813 h 474147"/>
                  <a:gd name="connsiteX4" fmla="*/ 1913467 w 2810934"/>
                  <a:gd name="connsiteY4" fmla="*/ 406413 h 474147"/>
                  <a:gd name="connsiteX5" fmla="*/ 2302934 w 2810934"/>
                  <a:gd name="connsiteY5" fmla="*/ 101613 h 474147"/>
                  <a:gd name="connsiteX6" fmla="*/ 2506134 w 2810934"/>
                  <a:gd name="connsiteY6" fmla="*/ 423347 h 474147"/>
                  <a:gd name="connsiteX7" fmla="*/ 2810934 w 2810934"/>
                  <a:gd name="connsiteY7" fmla="*/ 220147 h 474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10934" h="474147">
                    <a:moveTo>
                      <a:pt x="0" y="474147"/>
                    </a:moveTo>
                    <a:cubicBezTo>
                      <a:pt x="180622" y="238491"/>
                      <a:pt x="361245" y="2835"/>
                      <a:pt x="524934" y="13"/>
                    </a:cubicBezTo>
                    <a:cubicBezTo>
                      <a:pt x="688623" y="-2809"/>
                      <a:pt x="815623" y="448746"/>
                      <a:pt x="982134" y="457213"/>
                    </a:cubicBezTo>
                    <a:cubicBezTo>
                      <a:pt x="1148645" y="465680"/>
                      <a:pt x="1368778" y="59280"/>
                      <a:pt x="1524000" y="50813"/>
                    </a:cubicBezTo>
                    <a:cubicBezTo>
                      <a:pt x="1679222" y="42346"/>
                      <a:pt x="1783645" y="397946"/>
                      <a:pt x="1913467" y="406413"/>
                    </a:cubicBezTo>
                    <a:cubicBezTo>
                      <a:pt x="2043289" y="414880"/>
                      <a:pt x="2204156" y="98791"/>
                      <a:pt x="2302934" y="101613"/>
                    </a:cubicBezTo>
                    <a:cubicBezTo>
                      <a:pt x="2401712" y="104435"/>
                      <a:pt x="2421468" y="403591"/>
                      <a:pt x="2506134" y="423347"/>
                    </a:cubicBezTo>
                    <a:cubicBezTo>
                      <a:pt x="2590800" y="443103"/>
                      <a:pt x="2740378" y="304814"/>
                      <a:pt x="2810934" y="220147"/>
                    </a:cubicBezTo>
                  </a:path>
                </a:pathLst>
              </a:cu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Freeform 114"/>
              <p:cNvSpPr/>
              <p:nvPr/>
            </p:nvSpPr>
            <p:spPr>
              <a:xfrm>
                <a:off x="1222962" y="4522142"/>
                <a:ext cx="819880" cy="138297"/>
              </a:xfrm>
              <a:custGeom>
                <a:avLst/>
                <a:gdLst>
                  <a:gd name="connsiteX0" fmla="*/ 0 w 2810934"/>
                  <a:gd name="connsiteY0" fmla="*/ 474147 h 474147"/>
                  <a:gd name="connsiteX1" fmla="*/ 524934 w 2810934"/>
                  <a:gd name="connsiteY1" fmla="*/ 13 h 474147"/>
                  <a:gd name="connsiteX2" fmla="*/ 982134 w 2810934"/>
                  <a:gd name="connsiteY2" fmla="*/ 457213 h 474147"/>
                  <a:gd name="connsiteX3" fmla="*/ 1524000 w 2810934"/>
                  <a:gd name="connsiteY3" fmla="*/ 50813 h 474147"/>
                  <a:gd name="connsiteX4" fmla="*/ 1913467 w 2810934"/>
                  <a:gd name="connsiteY4" fmla="*/ 406413 h 474147"/>
                  <a:gd name="connsiteX5" fmla="*/ 2302934 w 2810934"/>
                  <a:gd name="connsiteY5" fmla="*/ 101613 h 474147"/>
                  <a:gd name="connsiteX6" fmla="*/ 2506134 w 2810934"/>
                  <a:gd name="connsiteY6" fmla="*/ 423347 h 474147"/>
                  <a:gd name="connsiteX7" fmla="*/ 2810934 w 2810934"/>
                  <a:gd name="connsiteY7" fmla="*/ 220147 h 474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10934" h="474147">
                    <a:moveTo>
                      <a:pt x="0" y="474147"/>
                    </a:moveTo>
                    <a:cubicBezTo>
                      <a:pt x="180622" y="238491"/>
                      <a:pt x="361245" y="2835"/>
                      <a:pt x="524934" y="13"/>
                    </a:cubicBezTo>
                    <a:cubicBezTo>
                      <a:pt x="688623" y="-2809"/>
                      <a:pt x="815623" y="448746"/>
                      <a:pt x="982134" y="457213"/>
                    </a:cubicBezTo>
                    <a:cubicBezTo>
                      <a:pt x="1148645" y="465680"/>
                      <a:pt x="1368778" y="59280"/>
                      <a:pt x="1524000" y="50813"/>
                    </a:cubicBezTo>
                    <a:cubicBezTo>
                      <a:pt x="1679222" y="42346"/>
                      <a:pt x="1783645" y="397946"/>
                      <a:pt x="1913467" y="406413"/>
                    </a:cubicBezTo>
                    <a:cubicBezTo>
                      <a:pt x="2043289" y="414880"/>
                      <a:pt x="2204156" y="98791"/>
                      <a:pt x="2302934" y="101613"/>
                    </a:cubicBezTo>
                    <a:cubicBezTo>
                      <a:pt x="2401712" y="104435"/>
                      <a:pt x="2421468" y="403591"/>
                      <a:pt x="2506134" y="423347"/>
                    </a:cubicBezTo>
                    <a:cubicBezTo>
                      <a:pt x="2590800" y="443103"/>
                      <a:pt x="2740378" y="304814"/>
                      <a:pt x="2810934" y="220147"/>
                    </a:cubicBezTo>
                  </a:path>
                </a:pathLst>
              </a:cu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Freeform 115"/>
              <p:cNvSpPr/>
              <p:nvPr/>
            </p:nvSpPr>
            <p:spPr>
              <a:xfrm>
                <a:off x="1540933" y="4674542"/>
                <a:ext cx="819880" cy="138297"/>
              </a:xfrm>
              <a:custGeom>
                <a:avLst/>
                <a:gdLst>
                  <a:gd name="connsiteX0" fmla="*/ 0 w 2810934"/>
                  <a:gd name="connsiteY0" fmla="*/ 474147 h 474147"/>
                  <a:gd name="connsiteX1" fmla="*/ 524934 w 2810934"/>
                  <a:gd name="connsiteY1" fmla="*/ 13 h 474147"/>
                  <a:gd name="connsiteX2" fmla="*/ 982134 w 2810934"/>
                  <a:gd name="connsiteY2" fmla="*/ 457213 h 474147"/>
                  <a:gd name="connsiteX3" fmla="*/ 1524000 w 2810934"/>
                  <a:gd name="connsiteY3" fmla="*/ 50813 h 474147"/>
                  <a:gd name="connsiteX4" fmla="*/ 1913467 w 2810934"/>
                  <a:gd name="connsiteY4" fmla="*/ 406413 h 474147"/>
                  <a:gd name="connsiteX5" fmla="*/ 2302934 w 2810934"/>
                  <a:gd name="connsiteY5" fmla="*/ 101613 h 474147"/>
                  <a:gd name="connsiteX6" fmla="*/ 2506134 w 2810934"/>
                  <a:gd name="connsiteY6" fmla="*/ 423347 h 474147"/>
                  <a:gd name="connsiteX7" fmla="*/ 2810934 w 2810934"/>
                  <a:gd name="connsiteY7" fmla="*/ 220147 h 474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10934" h="474147">
                    <a:moveTo>
                      <a:pt x="0" y="474147"/>
                    </a:moveTo>
                    <a:cubicBezTo>
                      <a:pt x="180622" y="238491"/>
                      <a:pt x="361245" y="2835"/>
                      <a:pt x="524934" y="13"/>
                    </a:cubicBezTo>
                    <a:cubicBezTo>
                      <a:pt x="688623" y="-2809"/>
                      <a:pt x="815623" y="448746"/>
                      <a:pt x="982134" y="457213"/>
                    </a:cubicBezTo>
                    <a:cubicBezTo>
                      <a:pt x="1148645" y="465680"/>
                      <a:pt x="1368778" y="59280"/>
                      <a:pt x="1524000" y="50813"/>
                    </a:cubicBezTo>
                    <a:cubicBezTo>
                      <a:pt x="1679222" y="42346"/>
                      <a:pt x="1783645" y="397946"/>
                      <a:pt x="1913467" y="406413"/>
                    </a:cubicBezTo>
                    <a:cubicBezTo>
                      <a:pt x="2043289" y="414880"/>
                      <a:pt x="2204156" y="98791"/>
                      <a:pt x="2302934" y="101613"/>
                    </a:cubicBezTo>
                    <a:cubicBezTo>
                      <a:pt x="2401712" y="104435"/>
                      <a:pt x="2421468" y="403591"/>
                      <a:pt x="2506134" y="423347"/>
                    </a:cubicBezTo>
                    <a:cubicBezTo>
                      <a:pt x="2590800" y="443103"/>
                      <a:pt x="2740378" y="304814"/>
                      <a:pt x="2810934" y="220147"/>
                    </a:cubicBezTo>
                  </a:path>
                </a:pathLst>
              </a:cu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44" name="Group 143"/>
          <p:cNvGrpSpPr/>
          <p:nvPr/>
        </p:nvGrpSpPr>
        <p:grpSpPr>
          <a:xfrm>
            <a:off x="2777069" y="2923888"/>
            <a:ext cx="729126" cy="2598444"/>
            <a:chOff x="2777069" y="2789180"/>
            <a:chExt cx="729126" cy="2598444"/>
          </a:xfrm>
        </p:grpSpPr>
        <p:grpSp>
          <p:nvGrpSpPr>
            <p:cNvPr id="117" name="Group 116"/>
            <p:cNvGrpSpPr/>
            <p:nvPr/>
          </p:nvGrpSpPr>
          <p:grpSpPr>
            <a:xfrm>
              <a:off x="2777069" y="2789180"/>
              <a:ext cx="558795" cy="2594855"/>
              <a:chOff x="4131736" y="2900011"/>
              <a:chExt cx="558795" cy="2594855"/>
            </a:xfrm>
          </p:grpSpPr>
          <p:cxnSp>
            <p:nvCxnSpPr>
              <p:cNvPr id="118" name="Straight Arrow Connector 117"/>
              <p:cNvCxnSpPr>
                <a:endCxn id="98" idx="2"/>
              </p:cNvCxnSpPr>
              <p:nvPr/>
            </p:nvCxnSpPr>
            <p:spPr>
              <a:xfrm>
                <a:off x="4132994" y="3143959"/>
                <a:ext cx="489804" cy="2350907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Arrow Connector 118"/>
              <p:cNvCxnSpPr/>
              <p:nvPr/>
            </p:nvCxnSpPr>
            <p:spPr>
              <a:xfrm>
                <a:off x="4131736" y="2900011"/>
                <a:ext cx="491062" cy="51391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/>
              <p:cNvCxnSpPr/>
              <p:nvPr/>
            </p:nvCxnSpPr>
            <p:spPr>
              <a:xfrm>
                <a:off x="4131736" y="2908846"/>
                <a:ext cx="558795" cy="753305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/>
              <p:cNvCxnSpPr/>
              <p:nvPr/>
            </p:nvCxnSpPr>
            <p:spPr>
              <a:xfrm>
                <a:off x="4131736" y="3009251"/>
                <a:ext cx="558795" cy="1413905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5" name="Group 124"/>
            <p:cNvGrpSpPr/>
            <p:nvPr/>
          </p:nvGrpSpPr>
          <p:grpSpPr>
            <a:xfrm flipV="1">
              <a:off x="2793307" y="2927477"/>
              <a:ext cx="558795" cy="2460147"/>
              <a:chOff x="4131736" y="2900011"/>
              <a:chExt cx="558795" cy="2460147"/>
            </a:xfrm>
          </p:grpSpPr>
          <p:cxnSp>
            <p:nvCxnSpPr>
              <p:cNvPr id="126" name="Straight Arrow Connector 125"/>
              <p:cNvCxnSpPr/>
              <p:nvPr/>
            </p:nvCxnSpPr>
            <p:spPr>
              <a:xfrm>
                <a:off x="4132994" y="3009251"/>
                <a:ext cx="489804" cy="2350907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Arrow Connector 126"/>
              <p:cNvCxnSpPr/>
              <p:nvPr/>
            </p:nvCxnSpPr>
            <p:spPr>
              <a:xfrm>
                <a:off x="4131736" y="2900011"/>
                <a:ext cx="491062" cy="51391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Arrow Connector 127"/>
              <p:cNvCxnSpPr/>
              <p:nvPr/>
            </p:nvCxnSpPr>
            <p:spPr>
              <a:xfrm>
                <a:off x="4131736" y="2908846"/>
                <a:ext cx="558795" cy="753305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Arrow Connector 128"/>
              <p:cNvCxnSpPr/>
              <p:nvPr/>
            </p:nvCxnSpPr>
            <p:spPr>
              <a:xfrm>
                <a:off x="4131736" y="3009251"/>
                <a:ext cx="558795" cy="1413905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0" name="Group 129"/>
            <p:cNvGrpSpPr/>
            <p:nvPr/>
          </p:nvGrpSpPr>
          <p:grpSpPr>
            <a:xfrm>
              <a:off x="2811068" y="3079877"/>
              <a:ext cx="695127" cy="2100601"/>
              <a:chOff x="4131736" y="2385779"/>
              <a:chExt cx="695127" cy="2100601"/>
            </a:xfrm>
          </p:grpSpPr>
          <p:cxnSp>
            <p:nvCxnSpPr>
              <p:cNvPr id="131" name="Straight Arrow Connector 130"/>
              <p:cNvCxnSpPr>
                <a:endCxn id="98" idx="1"/>
              </p:cNvCxnSpPr>
              <p:nvPr/>
            </p:nvCxnSpPr>
            <p:spPr>
              <a:xfrm>
                <a:off x="4132994" y="3143959"/>
                <a:ext cx="693869" cy="1342421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Arrow Connector 131"/>
              <p:cNvCxnSpPr/>
              <p:nvPr/>
            </p:nvCxnSpPr>
            <p:spPr>
              <a:xfrm flipV="1">
                <a:off x="4131736" y="2385779"/>
                <a:ext cx="558795" cy="514232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Arrow Connector 132"/>
              <p:cNvCxnSpPr>
                <a:endCxn id="60" idx="2"/>
              </p:cNvCxnSpPr>
              <p:nvPr/>
            </p:nvCxnSpPr>
            <p:spPr>
              <a:xfrm>
                <a:off x="4131736" y="3043554"/>
                <a:ext cx="457063" cy="40546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/>
              <p:cNvCxnSpPr>
                <a:endCxn id="99" idx="1"/>
              </p:cNvCxnSpPr>
              <p:nvPr/>
            </p:nvCxnSpPr>
            <p:spPr>
              <a:xfrm>
                <a:off x="4131736" y="3143959"/>
                <a:ext cx="695127" cy="580061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9" name="Group 138"/>
            <p:cNvGrpSpPr/>
            <p:nvPr/>
          </p:nvGrpSpPr>
          <p:grpSpPr>
            <a:xfrm flipV="1">
              <a:off x="2793307" y="3128444"/>
              <a:ext cx="695127" cy="1965893"/>
              <a:chOff x="4131736" y="2385779"/>
              <a:chExt cx="695127" cy="1965893"/>
            </a:xfrm>
          </p:grpSpPr>
          <p:cxnSp>
            <p:nvCxnSpPr>
              <p:cNvPr id="140" name="Straight Arrow Connector 139"/>
              <p:cNvCxnSpPr/>
              <p:nvPr/>
            </p:nvCxnSpPr>
            <p:spPr>
              <a:xfrm>
                <a:off x="4132994" y="3009251"/>
                <a:ext cx="693869" cy="1342421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/>
              <p:cNvCxnSpPr/>
              <p:nvPr/>
            </p:nvCxnSpPr>
            <p:spPr>
              <a:xfrm flipV="1">
                <a:off x="4131736" y="2385779"/>
                <a:ext cx="558795" cy="514232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Arrow Connector 141"/>
              <p:cNvCxnSpPr/>
              <p:nvPr/>
            </p:nvCxnSpPr>
            <p:spPr>
              <a:xfrm>
                <a:off x="4131736" y="2908846"/>
                <a:ext cx="457063" cy="40546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Arrow Connector 142"/>
              <p:cNvCxnSpPr/>
              <p:nvPr/>
            </p:nvCxnSpPr>
            <p:spPr>
              <a:xfrm>
                <a:off x="4131736" y="3009251"/>
                <a:ext cx="695127" cy="580061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TextBox 9"/>
          <p:cNvSpPr txBox="1"/>
          <p:nvPr/>
        </p:nvSpPr>
        <p:spPr>
          <a:xfrm>
            <a:off x="1822356" y="1379150"/>
            <a:ext cx="26883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/>
              <a:t>Local Datacenter</a:t>
            </a:r>
            <a:endParaRPr lang="en-US" sz="2800" b="1" dirty="0"/>
          </a:p>
        </p:txBody>
      </p:sp>
      <p:grpSp>
        <p:nvGrpSpPr>
          <p:cNvPr id="9" name="Group 8"/>
          <p:cNvGrpSpPr/>
          <p:nvPr/>
        </p:nvGrpSpPr>
        <p:grpSpPr>
          <a:xfrm>
            <a:off x="1238699" y="6115822"/>
            <a:ext cx="1539628" cy="773346"/>
            <a:chOff x="1238699" y="6231286"/>
            <a:chExt cx="1539628" cy="773346"/>
          </a:xfrm>
        </p:grpSpPr>
        <p:sp>
          <p:nvSpPr>
            <p:cNvPr id="7" name="Left Brace 6"/>
            <p:cNvSpPr/>
            <p:nvPr/>
          </p:nvSpPr>
          <p:spPr>
            <a:xfrm rot="16200000">
              <a:off x="1883450" y="5586535"/>
              <a:ext cx="250125" cy="1539628"/>
            </a:xfrm>
            <a:prstGeom prst="leftBrace">
              <a:avLst/>
            </a:prstGeom>
            <a:ln w="3810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00287" y="6481412"/>
              <a:ext cx="4164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/>
                <a:t>N</a:t>
              </a:r>
              <a:endParaRPr lang="en-US" sz="2800" dirty="0"/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3274023" y="6131675"/>
            <a:ext cx="1539628" cy="773346"/>
            <a:chOff x="1238699" y="6231286"/>
            <a:chExt cx="1539628" cy="773346"/>
          </a:xfrm>
        </p:grpSpPr>
        <p:sp>
          <p:nvSpPr>
            <p:cNvPr id="70" name="Left Brace 69"/>
            <p:cNvSpPr/>
            <p:nvPr/>
          </p:nvSpPr>
          <p:spPr>
            <a:xfrm rot="16200000">
              <a:off x="1883450" y="5586535"/>
              <a:ext cx="250125" cy="1539628"/>
            </a:xfrm>
            <a:prstGeom prst="leftBrace">
              <a:avLst/>
            </a:prstGeom>
            <a:ln w="3810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800287" y="6481412"/>
              <a:ext cx="4164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/>
                <a:t>N</a:t>
              </a:r>
              <a:endParaRPr lang="en-US" sz="28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990800" y="4842372"/>
            <a:ext cx="561590" cy="773346"/>
            <a:chOff x="6990800" y="4842372"/>
            <a:chExt cx="561590" cy="773346"/>
          </a:xfrm>
        </p:grpSpPr>
        <p:sp>
          <p:nvSpPr>
            <p:cNvPr id="77" name="Left Brace 76"/>
            <p:cNvSpPr/>
            <p:nvPr/>
          </p:nvSpPr>
          <p:spPr>
            <a:xfrm rot="16200000">
              <a:off x="7146532" y="4686640"/>
              <a:ext cx="250125" cy="561590"/>
            </a:xfrm>
            <a:prstGeom prst="leftBrace">
              <a:avLst/>
            </a:prstGeom>
            <a:ln w="3810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7062007" y="5092498"/>
              <a:ext cx="3432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/>
                <a:t>N</a:t>
              </a:r>
              <a:endParaRPr lang="en-US" sz="2800" dirty="0"/>
            </a:p>
          </p:txBody>
        </p:sp>
      </p:grpSp>
      <p:sp>
        <p:nvSpPr>
          <p:cNvPr id="83" name="TextBox 82"/>
          <p:cNvSpPr txBox="1"/>
          <p:nvPr/>
        </p:nvSpPr>
        <p:spPr>
          <a:xfrm rot="1324738">
            <a:off x="4382574" y="2618907"/>
            <a:ext cx="2286000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2800" dirty="0" smtClean="0">
                <a:solidFill>
                  <a:schemeClr val="accent4">
                    <a:lumMod val="50000"/>
                  </a:schemeClr>
                </a:solidFill>
              </a:rPr>
              <a:t>Replication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8163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COPS &amp; COPS-GT</a:t>
            </a:r>
            <a:br>
              <a:rPr lang="en-US" dirty="0" smtClean="0"/>
            </a:br>
            <a:r>
              <a:rPr lang="en-US" dirty="0" smtClean="0"/>
              <a:t>Competitive for Expected Workloads </a:t>
            </a:r>
            <a:endParaRPr lang="en-US" dirty="0"/>
          </a:p>
        </p:txBody>
      </p:sp>
      <p:pic>
        <p:nvPicPr>
          <p:cNvPr id="8" name="Picture 7" descr="interput.axises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705806"/>
            <a:ext cx="9144000" cy="4783668"/>
          </a:xfrm>
          <a:prstGeom prst="rect">
            <a:avLst/>
          </a:prstGeom>
        </p:spPr>
      </p:pic>
      <p:pic>
        <p:nvPicPr>
          <p:cNvPr id="9" name="Picture 8" descr="interput.1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705806"/>
            <a:ext cx="9144000" cy="4783668"/>
          </a:xfrm>
          <a:prstGeom prst="rect">
            <a:avLst/>
          </a:prstGeom>
        </p:spPr>
      </p:pic>
      <p:pic>
        <p:nvPicPr>
          <p:cNvPr id="10" name="Picture 9" descr="interput.2.ep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705806"/>
            <a:ext cx="9144000" cy="4783668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1562100" y="2947671"/>
            <a:ext cx="2909820" cy="2568357"/>
            <a:chOff x="1562100" y="2676743"/>
            <a:chExt cx="2909820" cy="2568357"/>
          </a:xfrm>
        </p:grpSpPr>
        <p:grpSp>
          <p:nvGrpSpPr>
            <p:cNvPr id="19" name="Group 18"/>
            <p:cNvGrpSpPr/>
            <p:nvPr/>
          </p:nvGrpSpPr>
          <p:grpSpPr>
            <a:xfrm>
              <a:off x="1601720" y="2676743"/>
              <a:ext cx="2870200" cy="2568357"/>
              <a:chOff x="1601720" y="2676743"/>
              <a:chExt cx="2870200" cy="2568357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1601720" y="2676743"/>
                <a:ext cx="2870200" cy="1815882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High per-client write rates result in 1000s of dependencies</a:t>
                </a:r>
                <a:endParaRPr lang="en-US" sz="2800" dirty="0" smtClean="0">
                  <a:solidFill>
                    <a:schemeClr val="accent1">
                      <a:lumMod val="50000"/>
                    </a:schemeClr>
                  </a:solidFill>
                  <a:sym typeface="Wingdings"/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1739900" y="4492625"/>
                <a:ext cx="330200" cy="752475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1562100" y="4429125"/>
              <a:ext cx="2540000" cy="342900"/>
              <a:chOff x="1612900" y="4429125"/>
              <a:chExt cx="2540000" cy="342900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 flipH="1">
                <a:off x="1612900" y="4600575"/>
                <a:ext cx="2540000" cy="0"/>
              </a:xfrm>
              <a:prstGeom prst="line">
                <a:avLst/>
              </a:prstGeom>
              <a:ln w="38100" cmpd="sng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 flipV="1">
                <a:off x="4152900" y="4429125"/>
                <a:ext cx="0" cy="342900"/>
              </a:xfrm>
              <a:prstGeom prst="line">
                <a:avLst/>
              </a:prstGeom>
              <a:ln w="38100" cmpd="sng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V="1">
                <a:off x="1612900" y="4429125"/>
                <a:ext cx="0" cy="342900"/>
              </a:xfrm>
              <a:prstGeom prst="line">
                <a:avLst/>
              </a:prstGeom>
              <a:ln w="38100" cmpd="sng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Group 24"/>
          <p:cNvGrpSpPr/>
          <p:nvPr/>
        </p:nvGrpSpPr>
        <p:grpSpPr>
          <a:xfrm>
            <a:off x="6022245" y="2239427"/>
            <a:ext cx="3197955" cy="2460626"/>
            <a:chOff x="6022245" y="1968499"/>
            <a:chExt cx="3197955" cy="2460626"/>
          </a:xfrm>
        </p:grpSpPr>
        <p:sp>
          <p:nvSpPr>
            <p:cNvPr id="24" name="Rectangle 23"/>
            <p:cNvSpPr/>
            <p:nvPr/>
          </p:nvSpPr>
          <p:spPr>
            <a:xfrm>
              <a:off x="6337300" y="2943443"/>
              <a:ext cx="2654300" cy="1485682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6022245" y="1968499"/>
              <a:ext cx="3197955" cy="1633993"/>
              <a:chOff x="6022245" y="1968499"/>
              <a:chExt cx="3197955" cy="1633993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6022245" y="2648385"/>
                <a:ext cx="3197955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 smtClean="0">
                    <a:solidFill>
                      <a:srgbClr val="FF0000"/>
                    </a:solidFill>
                  </a:rPr>
                  <a:t>Low per-client</a:t>
                </a:r>
              </a:p>
              <a:p>
                <a:r>
                  <a:rPr lang="en-US" sz="2800" dirty="0" smtClean="0">
                    <a:solidFill>
                      <a:srgbClr val="FF0000"/>
                    </a:solidFill>
                  </a:rPr>
                  <a:t>write rates expected</a:t>
                </a:r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7277100" y="1968499"/>
                <a:ext cx="1536700" cy="670143"/>
              </a:xfrm>
              <a:prstGeom prst="ellipse">
                <a:avLst/>
              </a:prstGeom>
              <a:noFill/>
              <a:ln w="76200" cmpd="sng"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700151" y="5976154"/>
            <a:ext cx="2231887" cy="830997"/>
          </a:xfrm>
          <a:prstGeom prst="rect">
            <a:avLst/>
          </a:prstGeom>
          <a:ln w="19050" cmpd="sng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</a:rPr>
              <a:t>People tweeting 1000 times/sec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12114" y="5993087"/>
            <a:ext cx="2231887" cy="83099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People tweeting 1 time/sec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03400" y="1604208"/>
            <a:ext cx="553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All Put Workload – 4 Servers / Datacenter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195291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COPS &amp; COPS-GT</a:t>
            </a:r>
            <a:br>
              <a:rPr lang="en-US" dirty="0" smtClean="0"/>
            </a:br>
            <a:r>
              <a:rPr lang="en-US" dirty="0" smtClean="0"/>
              <a:t>Competitive for Expected Workloads </a:t>
            </a:r>
            <a:endParaRPr lang="en-US" dirty="0"/>
          </a:p>
        </p:txBody>
      </p:sp>
      <p:pic>
        <p:nvPicPr>
          <p:cNvPr id="8" name="Picture 7" descr="interput.axises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705806"/>
            <a:ext cx="9144000" cy="4783668"/>
          </a:xfrm>
          <a:prstGeom prst="rect">
            <a:avLst/>
          </a:prstGeom>
        </p:spPr>
      </p:pic>
      <p:pic>
        <p:nvPicPr>
          <p:cNvPr id="9" name="Picture 8" descr="interput.1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705806"/>
            <a:ext cx="9144000" cy="4783668"/>
          </a:xfrm>
          <a:prstGeom prst="rect">
            <a:avLst/>
          </a:prstGeom>
        </p:spPr>
      </p:pic>
      <p:pic>
        <p:nvPicPr>
          <p:cNvPr id="10" name="Picture 9" descr="interput.2.ep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705806"/>
            <a:ext cx="9144000" cy="4783668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1562100" y="4700053"/>
            <a:ext cx="2540000" cy="815975"/>
            <a:chOff x="1562100" y="4429125"/>
            <a:chExt cx="2540000" cy="815975"/>
          </a:xfrm>
        </p:grpSpPr>
        <p:sp>
          <p:nvSpPr>
            <p:cNvPr id="18" name="Rectangle 17"/>
            <p:cNvSpPr/>
            <p:nvPr/>
          </p:nvSpPr>
          <p:spPr>
            <a:xfrm>
              <a:off x="1739900" y="4492625"/>
              <a:ext cx="330200" cy="752475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1562100" y="4429125"/>
              <a:ext cx="2540000" cy="342900"/>
              <a:chOff x="1612900" y="4429125"/>
              <a:chExt cx="2540000" cy="342900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 flipH="1">
                <a:off x="1612900" y="4600575"/>
                <a:ext cx="2540000" cy="0"/>
              </a:xfrm>
              <a:prstGeom prst="line">
                <a:avLst/>
              </a:prstGeom>
              <a:ln w="38100" cmpd="sng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 flipV="1">
                <a:off x="4152900" y="4429125"/>
                <a:ext cx="0" cy="342900"/>
              </a:xfrm>
              <a:prstGeom prst="line">
                <a:avLst/>
              </a:prstGeom>
              <a:ln w="38100" cmpd="sng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V="1">
                <a:off x="1612900" y="4429125"/>
                <a:ext cx="0" cy="342900"/>
              </a:xfrm>
              <a:prstGeom prst="line">
                <a:avLst/>
              </a:prstGeom>
              <a:ln w="38100" cmpd="sng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Oval 20"/>
          <p:cNvSpPr/>
          <p:nvPr/>
        </p:nvSpPr>
        <p:spPr>
          <a:xfrm>
            <a:off x="7277100" y="2239427"/>
            <a:ext cx="1536700" cy="670143"/>
          </a:xfrm>
          <a:prstGeom prst="ellipse">
            <a:avLst/>
          </a:prstGeom>
          <a:noFill/>
          <a:ln w="76200" cmpd="sng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803400" y="1604208"/>
            <a:ext cx="553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Varied Workloads – 4 Servers / Datacenter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1371600" y="5588681"/>
            <a:ext cx="7315200" cy="895112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1435100" y="5663422"/>
            <a:ext cx="7581900" cy="487740"/>
            <a:chOff x="1435100" y="5398175"/>
            <a:chExt cx="7581900" cy="487740"/>
          </a:xfrm>
        </p:grpSpPr>
        <p:sp>
          <p:nvSpPr>
            <p:cNvPr id="29" name="TextBox 28"/>
            <p:cNvSpPr txBox="1"/>
            <p:nvPr/>
          </p:nvSpPr>
          <p:spPr>
            <a:xfrm>
              <a:off x="1435100" y="5398175"/>
              <a:ext cx="2463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>
                  <a:solidFill>
                    <a:schemeClr val="tx2"/>
                  </a:solidFill>
                </a:rPr>
                <a:t>Pathological</a:t>
              </a:r>
              <a:endParaRPr 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553200" y="5424250"/>
              <a:ext cx="2463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>
                  <a:solidFill>
                    <a:srgbClr val="FF0000"/>
                  </a:solidFill>
                </a:rPr>
                <a:t>Expected</a:t>
              </a:r>
              <a:endParaRPr lang="en-US" sz="2400" dirty="0"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Connector 30"/>
            <p:cNvCxnSpPr/>
            <p:nvPr/>
          </p:nvCxnSpPr>
          <p:spPr>
            <a:xfrm>
              <a:off x="3606800" y="5651500"/>
              <a:ext cx="3340100" cy="0"/>
            </a:xfrm>
            <a:prstGeom prst="line">
              <a:avLst/>
            </a:prstGeom>
            <a:ln w="38100" cmpd="sng">
              <a:solidFill>
                <a:srgbClr val="00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/>
          <p:cNvSpPr txBox="1"/>
          <p:nvPr/>
        </p:nvSpPr>
        <p:spPr>
          <a:xfrm>
            <a:off x="1993900" y="6098377"/>
            <a:ext cx="59563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Workload</a:t>
            </a:r>
            <a:endParaRPr lang="en-US" sz="3200" dirty="0"/>
          </a:p>
        </p:txBody>
      </p:sp>
      <p:grpSp>
        <p:nvGrpSpPr>
          <p:cNvPr id="33" name="Group 32"/>
          <p:cNvGrpSpPr/>
          <p:nvPr/>
        </p:nvGrpSpPr>
        <p:grpSpPr>
          <a:xfrm>
            <a:off x="1562100" y="4694372"/>
            <a:ext cx="2540000" cy="815975"/>
            <a:chOff x="1562100" y="4429125"/>
            <a:chExt cx="2540000" cy="815975"/>
          </a:xfrm>
        </p:grpSpPr>
        <p:sp>
          <p:nvSpPr>
            <p:cNvPr id="34" name="Rectangle 33"/>
            <p:cNvSpPr/>
            <p:nvPr/>
          </p:nvSpPr>
          <p:spPr>
            <a:xfrm>
              <a:off x="1739900" y="4492625"/>
              <a:ext cx="330200" cy="752475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1562100" y="4429125"/>
              <a:ext cx="2540000" cy="342900"/>
              <a:chOff x="1612900" y="4429125"/>
              <a:chExt cx="2540000" cy="342900"/>
            </a:xfrm>
          </p:grpSpPr>
          <p:cxnSp>
            <p:nvCxnSpPr>
              <p:cNvPr id="36" name="Straight Connector 35"/>
              <p:cNvCxnSpPr/>
              <p:nvPr/>
            </p:nvCxnSpPr>
            <p:spPr>
              <a:xfrm flipH="1">
                <a:off x="1612900" y="4600575"/>
                <a:ext cx="2540000" cy="0"/>
              </a:xfrm>
              <a:prstGeom prst="line">
                <a:avLst/>
              </a:prstGeom>
              <a:ln w="38100" cmpd="sng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V="1">
                <a:off x="4152900" y="4429125"/>
                <a:ext cx="0" cy="342900"/>
              </a:xfrm>
              <a:prstGeom prst="line">
                <a:avLst/>
              </a:prstGeom>
              <a:ln w="38100" cmpd="sng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 flipV="1">
                <a:off x="1612900" y="4429125"/>
                <a:ext cx="0" cy="342900"/>
              </a:xfrm>
              <a:prstGeom prst="line">
                <a:avLst/>
              </a:prstGeom>
              <a:ln w="38100" cmpd="sng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912455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ps_vs_log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683" y="3252202"/>
            <a:ext cx="9009317" cy="35349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COPS Low Overhead vs. LOG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1600201"/>
            <a:ext cx="8445500" cy="1652001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 smtClean="0"/>
              <a:t>COPS – dependencies </a:t>
            </a:r>
            <a:r>
              <a:rPr lang="en-US" sz="4000" dirty="0" smtClean="0"/>
              <a:t>≈</a:t>
            </a:r>
            <a:r>
              <a:rPr lang="en-US" dirty="0" smtClean="0"/>
              <a:t> LOG</a:t>
            </a:r>
          </a:p>
          <a:p>
            <a:r>
              <a:rPr lang="en-US" dirty="0" smtClean="0"/>
              <a:t>1 server per datacenter only 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30200" y="3262490"/>
            <a:ext cx="8445500" cy="174089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COPS and LOG achieve very similar throughput</a:t>
            </a:r>
          </a:p>
          <a:p>
            <a:pPr lvl="1"/>
            <a:r>
              <a:rPr lang="en-US" dirty="0" smtClean="0"/>
              <a:t>Nearest dependencies mean very little metadata</a:t>
            </a:r>
          </a:p>
          <a:p>
            <a:pPr lvl="1"/>
            <a:r>
              <a:rPr lang="en-US" dirty="0" smtClean="0"/>
              <a:t>In this case </a:t>
            </a:r>
            <a:r>
              <a:rPr lang="en-US" dirty="0" err="1" smtClean="0"/>
              <a:t>dep_checks</a:t>
            </a:r>
            <a:r>
              <a:rPr lang="en-US" dirty="0" smtClean="0"/>
              <a:t> are function calls</a:t>
            </a:r>
          </a:p>
          <a:p>
            <a:pPr marL="457200" lvl="1" indent="0">
              <a:buFont typeface="Arial"/>
              <a:buNone/>
            </a:pPr>
            <a:r>
              <a:rPr lang="en-U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72436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999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COPS Scales Out</a:t>
            </a:r>
            <a:endParaRPr lang="en-US" dirty="0"/>
          </a:p>
        </p:txBody>
      </p:sp>
      <p:pic>
        <p:nvPicPr>
          <p:cNvPr id="6" name="Picture 5" descr="scale1.axises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332" y="1591734"/>
            <a:ext cx="9107585" cy="4764616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169332" y="1591734"/>
            <a:ext cx="9107585" cy="4764616"/>
            <a:chOff x="1162050" y="2754312"/>
            <a:chExt cx="2743200" cy="1435100"/>
          </a:xfrm>
        </p:grpSpPr>
        <p:pic>
          <p:nvPicPr>
            <p:cNvPr id="8" name="Picture 7" descr="scale1.1.eps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62050" y="2754312"/>
              <a:ext cx="2743200" cy="1435100"/>
            </a:xfrm>
            <a:prstGeom prst="rect">
              <a:avLst/>
            </a:prstGeom>
          </p:spPr>
        </p:pic>
        <p:pic>
          <p:nvPicPr>
            <p:cNvPr id="9" name="Picture 8" descr="scale1.2.eps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62050" y="2754312"/>
              <a:ext cx="2743200" cy="1435100"/>
            </a:xfrm>
            <a:prstGeom prst="rect">
              <a:avLst/>
            </a:prstGeom>
          </p:spPr>
        </p:pic>
        <p:pic>
          <p:nvPicPr>
            <p:cNvPr id="10" name="Picture 9" descr="scale1.3.eps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62050" y="2754312"/>
              <a:ext cx="2743200" cy="1435100"/>
            </a:xfrm>
            <a:prstGeom prst="rect">
              <a:avLst/>
            </a:prstGeom>
          </p:spPr>
        </p:pic>
      </p:grpSp>
      <p:grpSp>
        <p:nvGrpSpPr>
          <p:cNvPr id="20" name="Group 19"/>
          <p:cNvGrpSpPr/>
          <p:nvPr/>
        </p:nvGrpSpPr>
        <p:grpSpPr>
          <a:xfrm>
            <a:off x="169332" y="1591734"/>
            <a:ext cx="9107585" cy="4764616"/>
            <a:chOff x="2800350" y="1162050"/>
            <a:chExt cx="2743200" cy="1435100"/>
          </a:xfrm>
        </p:grpSpPr>
        <p:pic>
          <p:nvPicPr>
            <p:cNvPr id="11" name="Picture 10" descr="scale2.1.eps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00350" y="1162050"/>
              <a:ext cx="2743200" cy="1435100"/>
            </a:xfrm>
            <a:prstGeom prst="rect">
              <a:avLst/>
            </a:prstGeom>
          </p:spPr>
        </p:pic>
        <p:pic>
          <p:nvPicPr>
            <p:cNvPr id="12" name="Picture 11" descr="scale2.2.eps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00350" y="1162050"/>
              <a:ext cx="2743200" cy="1435100"/>
            </a:xfrm>
            <a:prstGeom prst="rect">
              <a:avLst/>
            </a:prstGeom>
          </p:spPr>
        </p:pic>
      </p:grpSp>
      <p:grpSp>
        <p:nvGrpSpPr>
          <p:cNvPr id="21" name="Group 20"/>
          <p:cNvGrpSpPr/>
          <p:nvPr/>
        </p:nvGrpSpPr>
        <p:grpSpPr>
          <a:xfrm>
            <a:off x="169332" y="1591734"/>
            <a:ext cx="9107585" cy="4764616"/>
            <a:chOff x="2720975" y="2527300"/>
            <a:chExt cx="2743200" cy="1435100"/>
          </a:xfrm>
        </p:grpSpPr>
        <p:pic>
          <p:nvPicPr>
            <p:cNvPr id="13" name="Picture 12" descr="scale4.1.eps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20975" y="2527300"/>
              <a:ext cx="2743200" cy="1435100"/>
            </a:xfrm>
            <a:prstGeom prst="rect">
              <a:avLst/>
            </a:prstGeom>
          </p:spPr>
        </p:pic>
        <p:pic>
          <p:nvPicPr>
            <p:cNvPr id="14" name="Picture 13" descr="scale4.2.eps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20975" y="2527300"/>
              <a:ext cx="2743200" cy="1435100"/>
            </a:xfrm>
            <a:prstGeom prst="rect">
              <a:avLst/>
            </a:prstGeom>
          </p:spPr>
        </p:pic>
      </p:grpSp>
      <p:grpSp>
        <p:nvGrpSpPr>
          <p:cNvPr id="22" name="Group 21"/>
          <p:cNvGrpSpPr/>
          <p:nvPr/>
        </p:nvGrpSpPr>
        <p:grpSpPr>
          <a:xfrm>
            <a:off x="169332" y="1591734"/>
            <a:ext cx="9107585" cy="4764616"/>
            <a:chOff x="5613400" y="1079500"/>
            <a:chExt cx="2743200" cy="1435100"/>
          </a:xfrm>
        </p:grpSpPr>
        <p:pic>
          <p:nvPicPr>
            <p:cNvPr id="15" name="Picture 14" descr="scale8.1.eps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13400" y="1079500"/>
              <a:ext cx="2743200" cy="1435100"/>
            </a:xfrm>
            <a:prstGeom prst="rect">
              <a:avLst/>
            </a:prstGeom>
          </p:spPr>
        </p:pic>
        <p:pic>
          <p:nvPicPr>
            <p:cNvPr id="16" name="Picture 15" descr="scale8.2.eps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13400" y="1079500"/>
              <a:ext cx="2743200" cy="1435100"/>
            </a:xfrm>
            <a:prstGeom prst="rect">
              <a:avLst/>
            </a:prstGeom>
          </p:spPr>
        </p:pic>
      </p:grpSp>
      <p:grpSp>
        <p:nvGrpSpPr>
          <p:cNvPr id="23" name="Group 22"/>
          <p:cNvGrpSpPr/>
          <p:nvPr/>
        </p:nvGrpSpPr>
        <p:grpSpPr>
          <a:xfrm>
            <a:off x="169332" y="1591734"/>
            <a:ext cx="9107585" cy="4764616"/>
            <a:chOff x="5264150" y="2847975"/>
            <a:chExt cx="2743200" cy="1435100"/>
          </a:xfrm>
        </p:grpSpPr>
        <p:pic>
          <p:nvPicPr>
            <p:cNvPr id="17" name="Picture 16" descr="scale16.1.eps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64150" y="2847975"/>
              <a:ext cx="2743200" cy="1435100"/>
            </a:xfrm>
            <a:prstGeom prst="rect">
              <a:avLst/>
            </a:prstGeom>
          </p:spPr>
        </p:pic>
        <p:pic>
          <p:nvPicPr>
            <p:cNvPr id="18" name="Picture 17" descr="scale16.2.eps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64150" y="2847975"/>
              <a:ext cx="2743200" cy="1435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21124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Novel Properties</a:t>
            </a:r>
          </a:p>
          <a:p>
            <a:pPr lvl="1"/>
            <a:r>
              <a:rPr lang="en-US" dirty="0" smtClean="0"/>
              <a:t>First ALPS and causal+ consistent system in COPS</a:t>
            </a:r>
          </a:p>
          <a:p>
            <a:pPr lvl="1"/>
            <a:r>
              <a:rPr lang="en-US" dirty="0" smtClean="0"/>
              <a:t>Lock free, low latency get transactions in COPS-GT</a:t>
            </a:r>
          </a:p>
          <a:p>
            <a:endParaRPr lang="en-US" dirty="0" smtClean="0"/>
          </a:p>
          <a:p>
            <a:r>
              <a:rPr lang="en-US" dirty="0" smtClean="0"/>
              <a:t>Novel techniques</a:t>
            </a:r>
          </a:p>
          <a:p>
            <a:pPr lvl="1"/>
            <a:r>
              <a:rPr lang="en-US" dirty="0" smtClean="0"/>
              <a:t>Explicit dependency tracking and verification with decentralized replication</a:t>
            </a:r>
          </a:p>
          <a:p>
            <a:pPr lvl="1"/>
            <a:r>
              <a:rPr lang="en-US" dirty="0" smtClean="0"/>
              <a:t>Optimizations to reduce metadata and checks</a:t>
            </a:r>
          </a:p>
          <a:p>
            <a:pPr lvl="1"/>
            <a:endParaRPr lang="en-US" dirty="0" smtClean="0"/>
          </a:p>
          <a:p>
            <a:r>
              <a:rPr lang="en-US" dirty="0"/>
              <a:t>COPS achieves high throughput and scales out</a:t>
            </a:r>
          </a:p>
        </p:txBody>
      </p:sp>
    </p:spTree>
    <p:extLst>
      <p:ext uri="{BB962C8B-B14F-4D97-AF65-F5344CB8AC3E}">
        <p14:creationId xmlns:p14="http://schemas.microsoft.com/office/powerpoint/2010/main" val="36378232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51854</TotalTime>
  <Words>1195</Words>
  <Application>Microsoft Macintosh PowerPoint</Application>
  <PresentationFormat>On-screen Show (4:3)</PresentationFormat>
  <Paragraphs>519</Paragraphs>
  <Slides>41</Slides>
  <Notes>41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Don’t Settle for Eventual:           Scalable Causal        Consistency for        Wide-Area Storage        with COPS</vt:lpstr>
      <vt:lpstr>Wide-Area Storage</vt:lpstr>
      <vt:lpstr>Wide-Area Storage</vt:lpstr>
      <vt:lpstr>Inside the Datacenter</vt:lpstr>
      <vt:lpstr>Desired Properties: ALPS</vt:lpstr>
      <vt:lpstr>Scalability</vt:lpstr>
      <vt:lpstr>Desired Property: Consistency</vt:lpstr>
      <vt:lpstr>Consistency with ALPS</vt:lpstr>
      <vt:lpstr>PowerPoint Presentation</vt:lpstr>
      <vt:lpstr>Causality By Example </vt:lpstr>
      <vt:lpstr>Causality Is Useful</vt:lpstr>
      <vt:lpstr>Conflicts in Causal</vt:lpstr>
      <vt:lpstr>Conflicts in Causal</vt:lpstr>
      <vt:lpstr>Previous Causal+ Systems</vt:lpstr>
      <vt:lpstr>Scalability Key Idea</vt:lpstr>
      <vt:lpstr>COPS</vt:lpstr>
      <vt:lpstr>Get</vt:lpstr>
      <vt:lpstr>Put</vt:lpstr>
      <vt:lpstr>Dependencies</vt:lpstr>
      <vt:lpstr>Dependencies</vt:lpstr>
      <vt:lpstr>Dependencies</vt:lpstr>
      <vt:lpstr>Causal+ Replication</vt:lpstr>
      <vt:lpstr>Causal+ Replication</vt:lpstr>
      <vt:lpstr>Basic COPS Summary</vt:lpstr>
      <vt:lpstr>Gets Aren’t Enough</vt:lpstr>
      <vt:lpstr>Gets Aren’t Enough</vt:lpstr>
      <vt:lpstr>Get Transactions</vt:lpstr>
      <vt:lpstr>Get Transactions</vt:lpstr>
      <vt:lpstr>System So Far</vt:lpstr>
      <vt:lpstr>Many Dependencies</vt:lpstr>
      <vt:lpstr>Nearest Dependencies</vt:lpstr>
      <vt:lpstr>The Nearest Are Few</vt:lpstr>
      <vt:lpstr>The Nearest Are Few</vt:lpstr>
      <vt:lpstr>Extended COPS Summary</vt:lpstr>
      <vt:lpstr>Evaluation Questions</vt:lpstr>
      <vt:lpstr>Experimental Setup</vt:lpstr>
      <vt:lpstr>COPS &amp; COPS-GT Competitive for Expected Workloads </vt:lpstr>
      <vt:lpstr>COPS &amp; COPS-GT Competitive for Expected Workloads </vt:lpstr>
      <vt:lpstr>COPS Low Overhead vs. LOG</vt:lpstr>
      <vt:lpstr>COPS Scales Out</vt:lpstr>
      <vt:lpstr>Conclusion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COPS   Scalable Wide-Area Storage with Eventual Causal Consistency </dc:title>
  <dc:creator>Wyatt</dc:creator>
  <cp:lastModifiedBy>Wyatt</cp:lastModifiedBy>
  <cp:revision>688</cp:revision>
  <cp:lastPrinted>2011-10-11T19:44:17Z</cp:lastPrinted>
  <dcterms:created xsi:type="dcterms:W3CDTF">2011-09-16T13:14:40Z</dcterms:created>
  <dcterms:modified xsi:type="dcterms:W3CDTF">2012-04-11T18:57:04Z</dcterms:modified>
</cp:coreProperties>
</file>