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9" r:id="rId4"/>
    <p:sldId id="258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34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/>
          <p:nvPr/>
        </p:nvSpPr>
        <p:spPr bwMode="ltGray">
          <a:xfrm>
            <a:off x="0" y="0"/>
            <a:ext cx="9144000" cy="513556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9"/>
          <p:cNvSpPr/>
          <p:nvPr/>
        </p:nvSpPr>
        <p:spPr bwMode="invGray">
          <a:xfrm>
            <a:off x="0" y="5127625"/>
            <a:ext cx="9144000" cy="460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tIns="0" bIns="0" anchor="t"/>
          <a:lstStyle>
            <a:lvl1pPr algn="l">
              <a:defRPr sz="47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26229-F418-40D2-8CB3-CBD72DC8F5AF}" type="datetimeFigureOut">
              <a:rPr lang="en-CA"/>
              <a:pPr>
                <a:defRPr/>
              </a:pPr>
              <a:t>24/03/2012</a:t>
            </a:fld>
            <a:endParaRPr lang="en-CA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CC2047-27CA-4EB5-98C1-4E0B1B525BB9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966DE-4CE7-4E9E-8010-B6FE6966F31A}" type="datetimeFigureOut">
              <a:rPr lang="en-CA"/>
              <a:pPr>
                <a:defRPr/>
              </a:pPr>
              <a:t>24/03/2012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8D20F-0372-427F-899A-1202A4EE70EB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/>
          <p:nvPr/>
        </p:nvSpPr>
        <p:spPr bwMode="ltGray">
          <a:xfrm>
            <a:off x="0" y="0"/>
            <a:ext cx="9144000" cy="26019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1"/>
          <p:cNvSpPr/>
          <p:nvPr/>
        </p:nvSpPr>
        <p:spPr bwMode="invGray">
          <a:xfrm>
            <a:off x="0" y="2601913"/>
            <a:ext cx="9144000" cy="46037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tIns="0" rIns="91440" bIns="0" anchor="b"/>
          <a:lstStyle>
            <a:lvl1pPr algn="l">
              <a:defRPr sz="4700" b="1" cap="none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F5E76C-491B-45E7-B830-C44A764CB1CA}" type="datetimeFigureOut">
              <a:rPr lang="en-CA"/>
              <a:pPr>
                <a:defRPr/>
              </a:pPr>
              <a:t>24/03/2012</a:t>
            </a:fld>
            <a:endParaRPr lang="en-CA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12E78C-1C69-431E-BE2D-8DB25AF9110B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7DCF4E-75ED-43AF-98BB-8B8F10407263}" type="datetimeFigureOut">
              <a:rPr lang="en-CA"/>
              <a:pPr>
                <a:defRPr/>
              </a:pPr>
              <a:t>24/03/2012</a:t>
            </a:fld>
            <a:endParaRPr lang="en-C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7E1D4-5130-463B-974B-B303E27FAD59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A88E2-3480-4142-9857-5A696530C17A}" type="datetimeFigureOut">
              <a:rPr lang="en-CA"/>
              <a:pPr>
                <a:defRPr/>
              </a:pPr>
              <a:t>24/03/2012</a:t>
            </a:fld>
            <a:endParaRPr lang="en-CA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341D57-0CCE-4531-9CEC-1973367A84FE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980C0-C8A7-4472-8605-ACCF83F237BF}" type="datetimeFigureOut">
              <a:rPr lang="en-CA"/>
              <a:pPr>
                <a:defRPr/>
              </a:pPr>
              <a:t>24/03/2012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6FEA3-7AF2-4D26-9E5F-8A4FAD81D33C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6E8AAA-88E0-41E9-8DBF-864AB1A4B957}" type="datetimeFigureOut">
              <a:rPr lang="en-CA"/>
              <a:pPr>
                <a:defRPr/>
              </a:pPr>
              <a:t>24/03/2012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D3EBF2-C496-4CD7-9EF7-7D4E6CF45588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1"/>
          <p:cNvSpPr/>
          <p:nvPr/>
        </p:nvSpPr>
        <p:spPr bwMode="invGray">
          <a:xfrm>
            <a:off x="2855913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8"/>
          <p:cNvSpPr/>
          <p:nvPr/>
        </p:nvSpPr>
        <p:spPr bwMode="invGray">
          <a:xfrm>
            <a:off x="2855913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CE7C5-5532-4591-9E1D-4B31B32C7B61}" type="datetimeFigureOut">
              <a:rPr lang="en-CA"/>
              <a:pPr>
                <a:defRPr/>
              </a:pPr>
              <a:t>24/03/2012</a:t>
            </a:fld>
            <a:endParaRPr lang="en-CA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E00D20-D524-4B05-8448-527E0CDE9E4E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/>
          <p:nvPr/>
        </p:nvSpPr>
        <p:spPr>
          <a:xfrm>
            <a:off x="2855913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8"/>
          <p:cNvSpPr/>
          <p:nvPr/>
        </p:nvSpPr>
        <p:spPr bwMode="invGray">
          <a:xfrm>
            <a:off x="2855913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165100" y="1169988"/>
            <a:ext cx="2522538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620B55-F86E-4AEB-B0DF-4764B11FDE16}" type="datetimeFigureOut">
              <a:rPr lang="en-CA"/>
              <a:pPr>
                <a:defRPr/>
              </a:pPr>
              <a:t>24/03/2012</a:t>
            </a:fld>
            <a:endParaRPr lang="en-CA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300" y="1169988"/>
            <a:ext cx="5194300" cy="201612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138" y="1169988"/>
            <a:ext cx="733425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DECA0E-6214-409A-847F-3E46B28C703D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08487-0D77-469E-97ED-3F3FE4668ED2}" type="datetimeFigureOut">
              <a:rPr lang="en-CA"/>
              <a:pPr>
                <a:defRPr/>
              </a:pPr>
              <a:t>24/03/2012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AC05B6-3A58-4D61-ADBB-0D79E81FBD4F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/>
          <p:nvPr/>
        </p:nvSpPr>
        <p:spPr bwMode="invGray">
          <a:xfrm>
            <a:off x="6599238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7"/>
          <p:cNvSpPr/>
          <p:nvPr/>
        </p:nvSpPr>
        <p:spPr bwMode="ltGray">
          <a:xfrm>
            <a:off x="6648450" y="0"/>
            <a:ext cx="2514600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8C0D3-55FA-4759-B62D-784BC12C986A}" type="datetimeFigureOut">
              <a:rPr lang="en-CA"/>
              <a:pPr>
                <a:defRPr/>
              </a:pPr>
              <a:t>24/03/2012</a:t>
            </a:fld>
            <a:endParaRPr lang="en-CA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3" y="6376988"/>
            <a:ext cx="38369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13873-0403-4A86-A6CA-54B97D839655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6688"/>
            <a:ext cx="9144000" cy="444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4000" cy="14335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774825"/>
            <a:ext cx="8229600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95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611A5700-7885-418E-858A-4C0D5263EC61}" type="datetimeFigureOut">
              <a:rPr lang="en-CA"/>
              <a:pPr>
                <a:defRPr/>
              </a:pPr>
              <a:t>24/03/2012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013" y="6477000"/>
            <a:ext cx="5508625" cy="274638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95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200" y="6477000"/>
            <a:ext cx="733425" cy="274638"/>
          </a:xfrm>
          <a:prstGeom prst="rect">
            <a:avLst/>
          </a:prstGeom>
        </p:spPr>
        <p:txBody>
          <a:bodyPr vert="horz" bIns="0" rtlCol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95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77CC73F4-9B35-4F83-8F7E-AFB0FF294BA4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79" r:id="rId2"/>
    <p:sldLayoutId id="2147483781" r:id="rId3"/>
    <p:sldLayoutId id="2147483778" r:id="rId4"/>
    <p:sldLayoutId id="2147483777" r:id="rId5"/>
    <p:sldLayoutId id="2147483776" r:id="rId6"/>
    <p:sldLayoutId id="2147483782" r:id="rId7"/>
    <p:sldLayoutId id="2147483783" r:id="rId8"/>
    <p:sldLayoutId id="2147483784" r:id="rId9"/>
    <p:sldLayoutId id="2147483775" r:id="rId10"/>
    <p:sldLayoutId id="214748378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500" b="1" kern="1200">
          <a:solidFill>
            <a:srgbClr val="A6BE8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A6BE89"/>
          </a:solidFill>
          <a:latin typeface="Corbe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A6BE89"/>
          </a:solidFill>
          <a:latin typeface="Corbe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A6BE89"/>
          </a:solidFill>
          <a:latin typeface="Corbe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A6BE89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500" b="1">
          <a:solidFill>
            <a:srgbClr val="A6BE89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500" b="1">
          <a:solidFill>
            <a:srgbClr val="A6BE89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500" b="1">
          <a:solidFill>
            <a:srgbClr val="A6BE89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500" b="1">
          <a:solidFill>
            <a:srgbClr val="A6BE89"/>
          </a:solidFill>
          <a:latin typeface="Corbel" pitchFamily="34" charset="0"/>
        </a:defRPr>
      </a:lvl9pPr>
      <a:extLst/>
    </p:titleStyle>
    <p:bodyStyle>
      <a:lvl1pPr marL="438150" indent="-319088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0" fontAlgn="base" hangingPunct="0">
        <a:spcBef>
          <a:spcPct val="20000"/>
        </a:spcBef>
        <a:spcAft>
          <a:spcPct val="0"/>
        </a:spcAft>
        <a:buClr>
          <a:srgbClr val="E7BC29"/>
        </a:buClr>
        <a:buFont typeface="Arial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025" indent="-182563" algn="l" rtl="0" eaLnBrk="0" fontAlgn="base" hangingPunct="0">
        <a:spcBef>
          <a:spcPct val="20000"/>
        </a:spcBef>
        <a:spcAft>
          <a:spcPct val="0"/>
        </a:spcAft>
        <a:buClr>
          <a:srgbClr val="D092A7"/>
        </a:buClr>
        <a:buFont typeface="Arial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5575" indent="-182563" algn="l" rtl="0" eaLnBrk="0" fontAlgn="base" hangingPunct="0">
        <a:spcBef>
          <a:spcPct val="20000"/>
        </a:spcBef>
        <a:spcAft>
          <a:spcPct val="0"/>
        </a:spcAft>
        <a:buClr>
          <a:srgbClr val="9C85C0"/>
        </a:buClr>
        <a:buFont typeface="Wingdings 3" pitchFamily="18" charset="2"/>
        <a:buChar char="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accent1">
                    <a:satMod val="150000"/>
                  </a:schemeClr>
                </a:solidFill>
              </a:rPr>
              <a:t>RJR-MacDonald Inc. V. Canada (Attorney General)</a:t>
            </a:r>
            <a:endParaRPr lang="en-CA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13314" name="Subtitle 2"/>
          <p:cNvSpPr>
            <a:spLocks noGrp="1"/>
          </p:cNvSpPr>
          <p:nvPr>
            <p:ph type="subTitle" idx="1"/>
          </p:nvPr>
        </p:nvSpPr>
        <p:spPr>
          <a:xfrm>
            <a:off x="539750" y="5229225"/>
            <a:ext cx="8077200" cy="1500188"/>
          </a:xfrm>
        </p:spPr>
        <p:txBody>
          <a:bodyPr/>
          <a:lstStyle/>
          <a:p>
            <a:pPr eaLnBrk="1" hangingPunct="1"/>
            <a:r>
              <a:rPr lang="en-CA" sz="2500" smtClean="0"/>
              <a:t>Case 31</a:t>
            </a:r>
          </a:p>
          <a:p>
            <a:pPr eaLnBrk="1" hangingPunct="1"/>
            <a:r>
              <a:rPr lang="en-CA" sz="2500" smtClean="0"/>
              <a:t>Asha Clarke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accent1">
                    <a:satMod val="150000"/>
                  </a:schemeClr>
                </a:solidFill>
              </a:rPr>
              <a:t>Background</a:t>
            </a:r>
            <a:endParaRPr lang="en-CA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62500" lnSpcReduction="20000"/>
          </a:bodyPr>
          <a:lstStyle/>
          <a:p>
            <a:pPr marL="438912" indent="-320040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r>
              <a:rPr lang="en-CA" sz="3600" dirty="0" smtClean="0"/>
              <a:t>The </a:t>
            </a:r>
            <a:r>
              <a:rPr lang="en-CA" sz="3600" i="1" dirty="0" smtClean="0"/>
              <a:t>Tobacco Products Control Act</a:t>
            </a:r>
            <a:r>
              <a:rPr lang="en-CA" sz="3600" dirty="0" smtClean="0"/>
              <a:t> prohibited all advertising and promotion of tobacco products and the sale of a tobacco product unless its package includes prescribed unattributed health warnings and a list of toxic ingredients.</a:t>
            </a:r>
          </a:p>
          <a:p>
            <a:pPr marL="438912" indent="-320040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CA" sz="3600" dirty="0" smtClean="0"/>
              <a:t> </a:t>
            </a:r>
          </a:p>
          <a:p>
            <a:pPr marL="438912" indent="-320040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r>
              <a:rPr lang="en-CA" sz="3600" dirty="0" smtClean="0"/>
              <a:t>RJR-MacDonald and Imperial Tobacco Inc. The appellants sought the declaration that the Act was altogether ultra </a:t>
            </a:r>
            <a:r>
              <a:rPr lang="en-CA" sz="3600" dirty="0" err="1" smtClean="0"/>
              <a:t>vires</a:t>
            </a:r>
            <a:r>
              <a:rPr lang="en-CA" sz="3600" dirty="0" smtClean="0"/>
              <a:t> Parliament and invalid as an unjustified infringement of freedom of expression guarantees under the Charter. </a:t>
            </a:r>
          </a:p>
          <a:p>
            <a:pPr marL="438912" indent="-320040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endParaRPr lang="en-CA" sz="3600" dirty="0" smtClean="0"/>
          </a:p>
          <a:p>
            <a:pPr marL="438912" indent="-320040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r>
              <a:rPr lang="en-CA" sz="3600" dirty="0" smtClean="0"/>
              <a:t>Both </a:t>
            </a:r>
            <a:r>
              <a:rPr lang="en-CA" sz="3600" dirty="0"/>
              <a:t>cases were heard at the Quebec Superior Court which found that the Act was ultra </a:t>
            </a:r>
            <a:r>
              <a:rPr lang="en-CA" sz="3600" dirty="0" err="1"/>
              <a:t>vires</a:t>
            </a:r>
            <a:r>
              <a:rPr lang="en-CA" sz="3600" dirty="0"/>
              <a:t> Parliament and infringed upon s.2 (b) of the Charter. The Court of Appeal reversed the judgement. </a:t>
            </a:r>
          </a:p>
          <a:p>
            <a:pPr marL="438912" indent="-320040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endParaRPr lang="en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accent1">
                    <a:satMod val="150000"/>
                  </a:schemeClr>
                </a:solidFill>
              </a:rPr>
              <a:t>Decision</a:t>
            </a:r>
            <a:endParaRPr lang="en-CA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153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sz="2500" smtClean="0"/>
              <a:t>The appeal should be allowed. </a:t>
            </a:r>
          </a:p>
          <a:p>
            <a:pPr eaLnBrk="1" hangingPunct="1">
              <a:buFont typeface="Wingdings 2" pitchFamily="18" charset="2"/>
              <a:buNone/>
            </a:pPr>
            <a:endParaRPr lang="en-CA" sz="2500" smtClean="0"/>
          </a:p>
          <a:p>
            <a:pPr eaLnBrk="1" hangingPunct="1"/>
            <a:r>
              <a:rPr lang="en-CA" sz="2500" smtClean="0"/>
              <a:t>Parliament had the competence to enact the legislation under the criminal law power or POGG</a:t>
            </a:r>
          </a:p>
          <a:p>
            <a:pPr eaLnBrk="1" hangingPunct="1">
              <a:buFont typeface="Wingdings 2" pitchFamily="18" charset="2"/>
              <a:buNone/>
            </a:pPr>
            <a:endParaRPr lang="en-CA" sz="2500" smtClean="0"/>
          </a:p>
          <a:p>
            <a:pPr eaLnBrk="1" hangingPunct="1"/>
            <a:r>
              <a:rPr lang="en-CA" sz="2500" smtClean="0"/>
              <a:t>ss.4,8,9 of the act are inconsistent with the right of freedom of expression in s.2(b) of the Charter and do not constitute a reasonable limit on that right that can be justified under s.1 of the Charter. </a:t>
            </a:r>
          </a:p>
          <a:p>
            <a:pPr eaLnBrk="1" hangingPunct="1"/>
            <a:endParaRPr lang="en-CA" sz="220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accent1">
                    <a:satMod val="150000"/>
                  </a:schemeClr>
                </a:solidFill>
              </a:rPr>
              <a:t>Questions for the Supreme Court</a:t>
            </a:r>
            <a:endParaRPr lang="en-CA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CA" sz="2500" dirty="0" smtClean="0"/>
              <a:t>Whether Parliament had legislative competence to enact the legislation under either, the peace, order and good government of Canada clause or the criminal law power.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CA" sz="2500" dirty="0" smtClean="0"/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CA" sz="2500" dirty="0" smtClean="0"/>
              <a:t>Whether the Act infringed the right to freedom of expression protected by s. 2(b) of the Charter and, if so, whether it was saved under s. 1 of the Charter. </a:t>
            </a:r>
          </a:p>
          <a:p>
            <a:pPr marL="576072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endParaRPr lang="en-CA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accent1">
                    <a:satMod val="150000"/>
                  </a:schemeClr>
                </a:solidFill>
              </a:rPr>
              <a:t>Question</a:t>
            </a:r>
            <a:endParaRPr lang="en-CA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CA" sz="2500" smtClean="0"/>
              <a:t>The SCC has expressed the values promoted by the freedom of expression guarantee as ‘the quest for truth, the promotion of individual self-development and the protection and fostering of a vibrant democracy where the participation of all individuals is accepted and encouraged’. </a:t>
            </a:r>
          </a:p>
          <a:p>
            <a:pPr eaLnBrk="1" hangingPunct="1"/>
            <a:r>
              <a:rPr lang="en-CA" sz="2500" smtClean="0"/>
              <a:t>Given this, do you believe that the right of freedom of expression of RJR MacDonald Inc –tobacco advertising and promotion, relates to these values? </a:t>
            </a:r>
          </a:p>
          <a:p>
            <a:pPr eaLnBrk="1" hangingPunct="1"/>
            <a:endParaRPr lang="en-CA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2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24</TotalTime>
  <Words>281</Words>
  <Application>Microsoft Office PowerPoint</Application>
  <PresentationFormat>On-screen Show (4:3)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Design Template</vt:lpstr>
      </vt:variant>
      <vt:variant>
        <vt:i4>7</vt:i4>
      </vt:variant>
      <vt:variant>
        <vt:lpstr>Slide Titles</vt:lpstr>
      </vt:variant>
      <vt:variant>
        <vt:i4>5</vt:i4>
      </vt:variant>
    </vt:vector>
  </HeadingPairs>
  <TitlesOfParts>
    <vt:vector size="18" baseType="lpstr">
      <vt:lpstr>Arial</vt:lpstr>
      <vt:lpstr>Corbel</vt:lpstr>
      <vt:lpstr>Wingdings 2</vt:lpstr>
      <vt:lpstr>Wingdings</vt:lpstr>
      <vt:lpstr>Wingdings 3</vt:lpstr>
      <vt:lpstr>Calibri</vt:lpstr>
      <vt:lpstr>Module</vt:lpstr>
      <vt:lpstr>Module</vt:lpstr>
      <vt:lpstr>Module</vt:lpstr>
      <vt:lpstr>Module</vt:lpstr>
      <vt:lpstr>Module</vt:lpstr>
      <vt:lpstr>Module</vt:lpstr>
      <vt:lpstr>Module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RJR-MacDonald Inc. V. Canada (Attorney General)</dc:title>
  <dc:creator>Asha</dc:creator>
  <cp:lastModifiedBy>itc</cp:lastModifiedBy>
  <cp:revision>4</cp:revision>
  <dcterms:created xsi:type="dcterms:W3CDTF">2012-03-24T12:32:40Z</dcterms:created>
  <dcterms:modified xsi:type="dcterms:W3CDTF">2012-03-24T23:19:38Z</dcterms:modified>
</cp:coreProperties>
</file>