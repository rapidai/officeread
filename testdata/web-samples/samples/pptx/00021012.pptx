
<file path=[Content_Types].xml><?xml version="1.0" encoding="utf-8"?>
<Types xmlns="http://schemas.openxmlformats.org/package/2006/content-types">
  <Default Extension="xml" ContentType="application/xml"/>
  <Default Extension="xls" ContentType="application/vnd.ms-excel"/>
  <Default Extension="jpeg" ContentType="image/jpeg"/>
  <Default Extension="jpg" ContentType="image/jpeg"/>
  <Default Extension="emf" ContentType="image/x-emf"/>
  <Default Extension="rels" ContentType="application/vnd.openxmlformats-package.relationships+xml"/>
  <Default Extension="vml" ContentType="application/vnd.openxmlformats-officedocument.vmlDrawing"/>
  <Default Extension="wdp" ContentType="image/vnd.ms-photo"/>
  <Default Extension="docx" ContentType="application/vnd.openxmlformats-officedocument.wordprocessingml.document"/>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embeddings/oleObject1.bin" ContentType="application/vnd.openxmlformats-officedocument.oleObject"/>
  <Override PartName="/ppt/notesSlides/notesSlide8.xml" ContentType="application/vnd.openxmlformats-officedocument.presentationml.notesSlide+xml"/>
  <Override PartName="/ppt/embeddings/oleObject2.bin" ContentType="application/vnd.openxmlformats-officedocument.oleObject"/>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42"/>
  </p:notesMasterIdLst>
  <p:handoutMasterIdLst>
    <p:handoutMasterId r:id="rId43"/>
  </p:handoutMasterIdLst>
  <p:sldIdLst>
    <p:sldId id="334" r:id="rId2"/>
    <p:sldId id="335" r:id="rId3"/>
    <p:sldId id="337" r:id="rId4"/>
    <p:sldId id="338" r:id="rId5"/>
    <p:sldId id="339" r:id="rId6"/>
    <p:sldId id="340" r:id="rId7"/>
    <p:sldId id="341" r:id="rId8"/>
    <p:sldId id="342" r:id="rId9"/>
    <p:sldId id="345" r:id="rId10"/>
    <p:sldId id="383" r:id="rId11"/>
    <p:sldId id="420" r:id="rId12"/>
    <p:sldId id="422" r:id="rId13"/>
    <p:sldId id="423" r:id="rId14"/>
    <p:sldId id="424" r:id="rId15"/>
    <p:sldId id="425" r:id="rId16"/>
    <p:sldId id="426" r:id="rId17"/>
    <p:sldId id="431" r:id="rId18"/>
    <p:sldId id="450" r:id="rId19"/>
    <p:sldId id="448" r:id="rId20"/>
    <p:sldId id="347" r:id="rId21"/>
    <p:sldId id="385" r:id="rId22"/>
    <p:sldId id="387" r:id="rId23"/>
    <p:sldId id="451" r:id="rId24"/>
    <p:sldId id="351" r:id="rId25"/>
    <p:sldId id="389" r:id="rId26"/>
    <p:sldId id="452" r:id="rId27"/>
    <p:sldId id="401" r:id="rId28"/>
    <p:sldId id="453" r:id="rId29"/>
    <p:sldId id="404" r:id="rId30"/>
    <p:sldId id="358" r:id="rId31"/>
    <p:sldId id="440" r:id="rId32"/>
    <p:sldId id="439" r:id="rId33"/>
    <p:sldId id="441" r:id="rId34"/>
    <p:sldId id="359" r:id="rId35"/>
    <p:sldId id="442" r:id="rId36"/>
    <p:sldId id="443" r:id="rId37"/>
    <p:sldId id="449" r:id="rId38"/>
    <p:sldId id="454" r:id="rId39"/>
    <p:sldId id="446" r:id="rId40"/>
    <p:sldId id="434" r:id="rId41"/>
  </p:sldIdLst>
  <p:sldSz cx="13004800" cy="9753600"/>
  <p:notesSz cx="6781800" cy="9067800"/>
  <p:defaultTextStyle>
    <a:defPPr>
      <a:defRPr lang="en-US"/>
    </a:defPPr>
    <a:lvl1pPr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1pPr>
    <a:lvl2pPr marL="4572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5pPr>
    <a:lvl6pPr marL="22860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6pPr>
    <a:lvl7pPr marL="27432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7pPr>
    <a:lvl8pPr marL="32004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8pPr>
    <a:lvl9pPr marL="36576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1"/>
    <a:srgbClr val="F27D08"/>
    <a:srgbClr val="FFFF66"/>
    <a:srgbClr val="FAF7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33" autoAdjust="0"/>
    <p:restoredTop sz="90968" autoAdjust="0"/>
  </p:normalViewPr>
  <p:slideViewPr>
    <p:cSldViewPr>
      <p:cViewPr varScale="1">
        <p:scale>
          <a:sx n="60" d="100"/>
          <a:sy n="60" d="100"/>
        </p:scale>
        <p:origin x="-392" y="-104"/>
      </p:cViewPr>
      <p:guideLst>
        <p:guide orient="horz" pos="3072"/>
        <p:guide pos="409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handoutMaster" Target="handoutMasters/handoutMaster1.xml"/><Relationship Id="rId44" Type="http://schemas.openxmlformats.org/officeDocument/2006/relationships/printerSettings" Target="printerSettings/printerSettings1.bin"/><Relationship Id="rId45"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suzannegysin:ESS:ADU:Reporting:2012-01:2012-02:MilestoneReport_January.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it-IT"/>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US"/>
              <a:t>ADU Milestones</a:t>
            </a:r>
            <a:r>
              <a:rPr lang="en-US" baseline="0"/>
              <a:t> for 2012 </a:t>
            </a:r>
            <a:br>
              <a:rPr lang="en-US" baseline="0"/>
            </a:br>
            <a:r>
              <a:rPr lang="en-US" baseline="0"/>
              <a:t>as of December, 2011 without WP3</a:t>
            </a:r>
            <a:endParaRPr lang="en-US"/>
          </a:p>
        </c:rich>
      </c:tx>
      <c:layout/>
      <c:overlay val="0"/>
    </c:title>
    <c:autoTitleDeleted val="0"/>
    <c:plotArea>
      <c:layout>
        <c:manualLayout>
          <c:layoutTarget val="inner"/>
          <c:xMode val="edge"/>
          <c:yMode val="edge"/>
          <c:x val="0.0260939381774388"/>
          <c:y val="0.229195088676671"/>
          <c:w val="0.926340337024311"/>
          <c:h val="0.565547152785984"/>
        </c:manualLayout>
      </c:layout>
      <c:lineChart>
        <c:grouping val="standard"/>
        <c:varyColors val="0"/>
        <c:ser>
          <c:idx val="1"/>
          <c:order val="0"/>
          <c:tx>
            <c:v>Planned</c:v>
          </c:tx>
          <c:marker>
            <c:symbol val="none"/>
          </c:marker>
          <c:cat>
            <c:numRef>
              <c:f>'Distribution over time'!$A$54:$A$203</c:f>
              <c:numCache>
                <c:formatCode>yyyy\-mm\-dd;@</c:formatCode>
                <c:ptCount val="150"/>
                <c:pt idx="0">
                  <c:v>40557.0</c:v>
                </c:pt>
                <c:pt idx="1">
                  <c:v>40574.0</c:v>
                </c:pt>
                <c:pt idx="2">
                  <c:v>40592.0</c:v>
                </c:pt>
                <c:pt idx="3">
                  <c:v>40617.0</c:v>
                </c:pt>
                <c:pt idx="4">
                  <c:v>40625.0</c:v>
                </c:pt>
                <c:pt idx="5">
                  <c:v>40626.0</c:v>
                </c:pt>
                <c:pt idx="6">
                  <c:v>40627.0</c:v>
                </c:pt>
                <c:pt idx="7">
                  <c:v>40632.0</c:v>
                </c:pt>
                <c:pt idx="8">
                  <c:v>40655.0</c:v>
                </c:pt>
                <c:pt idx="9">
                  <c:v>40666.0</c:v>
                </c:pt>
                <c:pt idx="10">
                  <c:v>40693.0</c:v>
                </c:pt>
                <c:pt idx="11">
                  <c:v>40694.0</c:v>
                </c:pt>
                <c:pt idx="12">
                  <c:v>40704.0</c:v>
                </c:pt>
                <c:pt idx="13">
                  <c:v>40721.0</c:v>
                </c:pt>
                <c:pt idx="14">
                  <c:v>40728.0</c:v>
                </c:pt>
                <c:pt idx="15">
                  <c:v>40737.0</c:v>
                </c:pt>
                <c:pt idx="16">
                  <c:v>40749.0</c:v>
                </c:pt>
                <c:pt idx="17">
                  <c:v>40756.0</c:v>
                </c:pt>
                <c:pt idx="18">
                  <c:v>40787.0</c:v>
                </c:pt>
                <c:pt idx="19">
                  <c:v>40817.0</c:v>
                </c:pt>
                <c:pt idx="20">
                  <c:v>40823.0</c:v>
                </c:pt>
                <c:pt idx="21">
                  <c:v>40830.0</c:v>
                </c:pt>
                <c:pt idx="22">
                  <c:v>40848.0</c:v>
                </c:pt>
                <c:pt idx="23">
                  <c:v>40851.0</c:v>
                </c:pt>
                <c:pt idx="24">
                  <c:v>40861.0</c:v>
                </c:pt>
                <c:pt idx="25">
                  <c:v>40865.0</c:v>
                </c:pt>
                <c:pt idx="26">
                  <c:v>40868.0</c:v>
                </c:pt>
                <c:pt idx="27">
                  <c:v>40875.0</c:v>
                </c:pt>
                <c:pt idx="28">
                  <c:v>40877.0</c:v>
                </c:pt>
                <c:pt idx="29">
                  <c:v>40879.0</c:v>
                </c:pt>
                <c:pt idx="30">
                  <c:v>40886.0</c:v>
                </c:pt>
                <c:pt idx="31">
                  <c:v>40889.0</c:v>
                </c:pt>
                <c:pt idx="32">
                  <c:v>40890.0</c:v>
                </c:pt>
                <c:pt idx="33">
                  <c:v>40891.0</c:v>
                </c:pt>
                <c:pt idx="34">
                  <c:v>40892.0</c:v>
                </c:pt>
                <c:pt idx="35">
                  <c:v>40893.0</c:v>
                </c:pt>
                <c:pt idx="36">
                  <c:v>40897.0</c:v>
                </c:pt>
                <c:pt idx="37">
                  <c:v>40905.0</c:v>
                </c:pt>
                <c:pt idx="38">
                  <c:v>40906.0</c:v>
                </c:pt>
                <c:pt idx="39">
                  <c:v>40907.0</c:v>
                </c:pt>
                <c:pt idx="40">
                  <c:v>40909.0</c:v>
                </c:pt>
                <c:pt idx="41">
                  <c:v>40910.0</c:v>
                </c:pt>
                <c:pt idx="42">
                  <c:v>40913.0</c:v>
                </c:pt>
                <c:pt idx="43">
                  <c:v>40924.0</c:v>
                </c:pt>
                <c:pt idx="44">
                  <c:v>40927.0</c:v>
                </c:pt>
                <c:pt idx="45">
                  <c:v>40928.0</c:v>
                </c:pt>
                <c:pt idx="46">
                  <c:v>40934.0</c:v>
                </c:pt>
                <c:pt idx="47">
                  <c:v>40935.0</c:v>
                </c:pt>
                <c:pt idx="48">
                  <c:v>40938.0</c:v>
                </c:pt>
                <c:pt idx="49">
                  <c:v>40939.0</c:v>
                </c:pt>
                <c:pt idx="50">
                  <c:v>40940.0</c:v>
                </c:pt>
                <c:pt idx="51">
                  <c:v>40942.0</c:v>
                </c:pt>
                <c:pt idx="52">
                  <c:v>40946.0</c:v>
                </c:pt>
                <c:pt idx="53">
                  <c:v>40948.0</c:v>
                </c:pt>
                <c:pt idx="54">
                  <c:v>40949.0</c:v>
                </c:pt>
                <c:pt idx="55">
                  <c:v>40952.0</c:v>
                </c:pt>
                <c:pt idx="56">
                  <c:v>40953.0</c:v>
                </c:pt>
                <c:pt idx="57">
                  <c:v>40961.0</c:v>
                </c:pt>
                <c:pt idx="58">
                  <c:v>40969.0</c:v>
                </c:pt>
                <c:pt idx="59">
                  <c:v>40970.0</c:v>
                </c:pt>
                <c:pt idx="60">
                  <c:v>40974.0</c:v>
                </c:pt>
                <c:pt idx="61">
                  <c:v>40975.0</c:v>
                </c:pt>
                <c:pt idx="62">
                  <c:v>40983.0</c:v>
                </c:pt>
                <c:pt idx="63">
                  <c:v>40989.0</c:v>
                </c:pt>
                <c:pt idx="64">
                  <c:v>40990.0</c:v>
                </c:pt>
                <c:pt idx="65">
                  <c:v>40991.0</c:v>
                </c:pt>
                <c:pt idx="66">
                  <c:v>40995.0</c:v>
                </c:pt>
                <c:pt idx="67">
                  <c:v>40998.0</c:v>
                </c:pt>
                <c:pt idx="68">
                  <c:v>41001.0</c:v>
                </c:pt>
                <c:pt idx="69">
                  <c:v>41002.0</c:v>
                </c:pt>
                <c:pt idx="70">
                  <c:v>41003.0</c:v>
                </c:pt>
                <c:pt idx="71">
                  <c:v>41012.0</c:v>
                </c:pt>
                <c:pt idx="72">
                  <c:v>41016.0</c:v>
                </c:pt>
                <c:pt idx="73">
                  <c:v>41018.0</c:v>
                </c:pt>
                <c:pt idx="74">
                  <c:v>41019.0</c:v>
                </c:pt>
                <c:pt idx="75">
                  <c:v>41022.0</c:v>
                </c:pt>
                <c:pt idx="76">
                  <c:v>41026.0</c:v>
                </c:pt>
                <c:pt idx="77">
                  <c:v>41029.0</c:v>
                </c:pt>
                <c:pt idx="78">
                  <c:v>41031.0</c:v>
                </c:pt>
                <c:pt idx="79">
                  <c:v>41036.0</c:v>
                </c:pt>
                <c:pt idx="80">
                  <c:v>41040.0</c:v>
                </c:pt>
                <c:pt idx="81">
                  <c:v>41044.0</c:v>
                </c:pt>
                <c:pt idx="82">
                  <c:v>41046.0</c:v>
                </c:pt>
                <c:pt idx="83">
                  <c:v>41047.0</c:v>
                </c:pt>
                <c:pt idx="84">
                  <c:v>41048.0</c:v>
                </c:pt>
                <c:pt idx="85">
                  <c:v>41050.0</c:v>
                </c:pt>
                <c:pt idx="86">
                  <c:v>41053.0</c:v>
                </c:pt>
                <c:pt idx="87">
                  <c:v>41057.0</c:v>
                </c:pt>
                <c:pt idx="88">
                  <c:v>41059.0</c:v>
                </c:pt>
                <c:pt idx="89">
                  <c:v>41060.0</c:v>
                </c:pt>
                <c:pt idx="90">
                  <c:v>41064.0</c:v>
                </c:pt>
                <c:pt idx="91">
                  <c:v>41065.0</c:v>
                </c:pt>
                <c:pt idx="92">
                  <c:v>41071.0</c:v>
                </c:pt>
                <c:pt idx="93">
                  <c:v>41073.0</c:v>
                </c:pt>
                <c:pt idx="94">
                  <c:v>41080.0</c:v>
                </c:pt>
                <c:pt idx="95">
                  <c:v>41082.0</c:v>
                </c:pt>
                <c:pt idx="96">
                  <c:v>41085.0</c:v>
                </c:pt>
                <c:pt idx="97">
                  <c:v>41088.0</c:v>
                </c:pt>
                <c:pt idx="98">
                  <c:v>41092.0</c:v>
                </c:pt>
                <c:pt idx="99">
                  <c:v>41093.0</c:v>
                </c:pt>
                <c:pt idx="100">
                  <c:v>41094.0</c:v>
                </c:pt>
                <c:pt idx="101">
                  <c:v>41096.0</c:v>
                </c:pt>
                <c:pt idx="102">
                  <c:v>41100.0</c:v>
                </c:pt>
                <c:pt idx="103">
                  <c:v>41102.0</c:v>
                </c:pt>
                <c:pt idx="104">
                  <c:v>41103.0</c:v>
                </c:pt>
                <c:pt idx="105">
                  <c:v>41106.0</c:v>
                </c:pt>
                <c:pt idx="106">
                  <c:v>41107.0</c:v>
                </c:pt>
                <c:pt idx="107">
                  <c:v>41113.0</c:v>
                </c:pt>
                <c:pt idx="108">
                  <c:v>41115.0</c:v>
                </c:pt>
                <c:pt idx="109">
                  <c:v>41117.0</c:v>
                </c:pt>
                <c:pt idx="110">
                  <c:v>41121.0</c:v>
                </c:pt>
                <c:pt idx="111">
                  <c:v>41122.0</c:v>
                </c:pt>
                <c:pt idx="112">
                  <c:v>41138.0</c:v>
                </c:pt>
                <c:pt idx="113">
                  <c:v>41141.0</c:v>
                </c:pt>
                <c:pt idx="114">
                  <c:v>41142.0</c:v>
                </c:pt>
                <c:pt idx="115">
                  <c:v>41145.0</c:v>
                </c:pt>
                <c:pt idx="116">
                  <c:v>41151.0</c:v>
                </c:pt>
                <c:pt idx="117">
                  <c:v>41158.0</c:v>
                </c:pt>
                <c:pt idx="118">
                  <c:v>41159.0</c:v>
                </c:pt>
                <c:pt idx="119">
                  <c:v>41162.0</c:v>
                </c:pt>
                <c:pt idx="120">
                  <c:v>41169.0</c:v>
                </c:pt>
                <c:pt idx="121">
                  <c:v>41173.0</c:v>
                </c:pt>
                <c:pt idx="122">
                  <c:v>41176.0</c:v>
                </c:pt>
                <c:pt idx="123">
                  <c:v>41178.0</c:v>
                </c:pt>
                <c:pt idx="124">
                  <c:v>41179.0</c:v>
                </c:pt>
                <c:pt idx="125">
                  <c:v>41183.0</c:v>
                </c:pt>
                <c:pt idx="126">
                  <c:v>41185.0</c:v>
                </c:pt>
                <c:pt idx="127">
                  <c:v>41190.0</c:v>
                </c:pt>
                <c:pt idx="128">
                  <c:v>41192.0</c:v>
                </c:pt>
                <c:pt idx="129">
                  <c:v>41197.0</c:v>
                </c:pt>
                <c:pt idx="130">
                  <c:v>41199.0</c:v>
                </c:pt>
                <c:pt idx="131">
                  <c:v>41200.0</c:v>
                </c:pt>
                <c:pt idx="132">
                  <c:v>41201.0</c:v>
                </c:pt>
                <c:pt idx="133">
                  <c:v>41204.0</c:v>
                </c:pt>
                <c:pt idx="134">
                  <c:v>41207.0</c:v>
                </c:pt>
                <c:pt idx="135">
                  <c:v>41213.0</c:v>
                </c:pt>
                <c:pt idx="136">
                  <c:v>41214.0</c:v>
                </c:pt>
                <c:pt idx="137">
                  <c:v>41218.0</c:v>
                </c:pt>
                <c:pt idx="138">
                  <c:v>41220.0</c:v>
                </c:pt>
                <c:pt idx="139">
                  <c:v>41225.0</c:v>
                </c:pt>
                <c:pt idx="140">
                  <c:v>41229.0</c:v>
                </c:pt>
                <c:pt idx="141">
                  <c:v>41232.0</c:v>
                </c:pt>
                <c:pt idx="142">
                  <c:v>41235.0</c:v>
                </c:pt>
                <c:pt idx="143">
                  <c:v>41241.0</c:v>
                </c:pt>
                <c:pt idx="144">
                  <c:v>41250.0</c:v>
                </c:pt>
                <c:pt idx="145">
                  <c:v>41254.0</c:v>
                </c:pt>
                <c:pt idx="146">
                  <c:v>41260.0</c:v>
                </c:pt>
                <c:pt idx="147">
                  <c:v>41261.0</c:v>
                </c:pt>
                <c:pt idx="148">
                  <c:v>41264.0</c:v>
                </c:pt>
                <c:pt idx="149">
                  <c:v>41269.0</c:v>
                </c:pt>
              </c:numCache>
            </c:numRef>
          </c:cat>
          <c:val>
            <c:numRef>
              <c:f>'Distribution over time'!$G$54:$G$233</c:f>
              <c:numCache>
                <c:formatCode>General</c:formatCode>
                <c:ptCount val="180"/>
                <c:pt idx="0">
                  <c:v>1.0</c:v>
                </c:pt>
                <c:pt idx="1">
                  <c:v>2.0</c:v>
                </c:pt>
                <c:pt idx="2">
                  <c:v>3.0</c:v>
                </c:pt>
                <c:pt idx="3">
                  <c:v>5.0</c:v>
                </c:pt>
                <c:pt idx="4">
                  <c:v>6.0</c:v>
                </c:pt>
                <c:pt idx="5">
                  <c:v>7.0</c:v>
                </c:pt>
                <c:pt idx="6">
                  <c:v>8.0</c:v>
                </c:pt>
                <c:pt idx="7">
                  <c:v>9.0</c:v>
                </c:pt>
                <c:pt idx="8">
                  <c:v>10.0</c:v>
                </c:pt>
                <c:pt idx="9">
                  <c:v>11.0</c:v>
                </c:pt>
                <c:pt idx="10">
                  <c:v>12.0</c:v>
                </c:pt>
                <c:pt idx="11">
                  <c:v>13.0</c:v>
                </c:pt>
                <c:pt idx="12">
                  <c:v>14.0</c:v>
                </c:pt>
                <c:pt idx="13">
                  <c:v>15.0</c:v>
                </c:pt>
                <c:pt idx="14">
                  <c:v>16.0</c:v>
                </c:pt>
                <c:pt idx="15">
                  <c:v>17.0</c:v>
                </c:pt>
                <c:pt idx="16">
                  <c:v>18.0</c:v>
                </c:pt>
                <c:pt idx="17">
                  <c:v>19.0</c:v>
                </c:pt>
                <c:pt idx="18">
                  <c:v>20.0</c:v>
                </c:pt>
                <c:pt idx="19">
                  <c:v>21.0</c:v>
                </c:pt>
                <c:pt idx="20">
                  <c:v>22.0</c:v>
                </c:pt>
                <c:pt idx="21">
                  <c:v>23.0</c:v>
                </c:pt>
                <c:pt idx="22">
                  <c:v>24.0</c:v>
                </c:pt>
                <c:pt idx="23">
                  <c:v>26.0</c:v>
                </c:pt>
                <c:pt idx="24">
                  <c:v>28.0</c:v>
                </c:pt>
                <c:pt idx="25">
                  <c:v>29.0</c:v>
                </c:pt>
                <c:pt idx="26">
                  <c:v>30.0</c:v>
                </c:pt>
                <c:pt idx="27">
                  <c:v>31.0</c:v>
                </c:pt>
                <c:pt idx="28">
                  <c:v>34.0</c:v>
                </c:pt>
                <c:pt idx="29">
                  <c:v>48.0</c:v>
                </c:pt>
                <c:pt idx="30">
                  <c:v>49.0</c:v>
                </c:pt>
                <c:pt idx="31">
                  <c:v>53.0</c:v>
                </c:pt>
                <c:pt idx="32">
                  <c:v>54.0</c:v>
                </c:pt>
                <c:pt idx="33">
                  <c:v>55.0</c:v>
                </c:pt>
                <c:pt idx="34">
                  <c:v>57.0</c:v>
                </c:pt>
                <c:pt idx="35">
                  <c:v>60.0</c:v>
                </c:pt>
                <c:pt idx="36">
                  <c:v>61.0</c:v>
                </c:pt>
                <c:pt idx="37">
                  <c:v>64.0</c:v>
                </c:pt>
                <c:pt idx="38">
                  <c:v>65.0</c:v>
                </c:pt>
                <c:pt idx="39">
                  <c:v>66.0</c:v>
                </c:pt>
                <c:pt idx="40">
                  <c:v>69.0</c:v>
                </c:pt>
                <c:pt idx="41">
                  <c:v>70.0</c:v>
                </c:pt>
                <c:pt idx="42">
                  <c:v>71.0</c:v>
                </c:pt>
                <c:pt idx="43">
                  <c:v>72.0</c:v>
                </c:pt>
                <c:pt idx="44">
                  <c:v>73.0</c:v>
                </c:pt>
                <c:pt idx="45">
                  <c:v>76.0</c:v>
                </c:pt>
                <c:pt idx="46">
                  <c:v>77.0</c:v>
                </c:pt>
                <c:pt idx="47">
                  <c:v>78.0</c:v>
                </c:pt>
                <c:pt idx="48">
                  <c:v>80.0</c:v>
                </c:pt>
                <c:pt idx="49">
                  <c:v>83.0</c:v>
                </c:pt>
                <c:pt idx="50">
                  <c:v>85.0</c:v>
                </c:pt>
                <c:pt idx="51">
                  <c:v>87.0</c:v>
                </c:pt>
                <c:pt idx="52">
                  <c:v>88.0</c:v>
                </c:pt>
                <c:pt idx="53">
                  <c:v>89.0</c:v>
                </c:pt>
                <c:pt idx="54">
                  <c:v>91.0</c:v>
                </c:pt>
                <c:pt idx="55">
                  <c:v>92.0</c:v>
                </c:pt>
                <c:pt idx="56">
                  <c:v>93.0</c:v>
                </c:pt>
                <c:pt idx="57">
                  <c:v>94.0</c:v>
                </c:pt>
                <c:pt idx="58">
                  <c:v>97.0</c:v>
                </c:pt>
                <c:pt idx="59">
                  <c:v>99.0</c:v>
                </c:pt>
                <c:pt idx="60">
                  <c:v>100.0</c:v>
                </c:pt>
                <c:pt idx="61">
                  <c:v>101.0</c:v>
                </c:pt>
                <c:pt idx="62">
                  <c:v>103.0</c:v>
                </c:pt>
                <c:pt idx="63">
                  <c:v>104.0</c:v>
                </c:pt>
                <c:pt idx="64">
                  <c:v>105.0</c:v>
                </c:pt>
                <c:pt idx="65">
                  <c:v>107.0</c:v>
                </c:pt>
                <c:pt idx="66">
                  <c:v>108.0</c:v>
                </c:pt>
                <c:pt idx="67">
                  <c:v>109.0</c:v>
                </c:pt>
                <c:pt idx="68">
                  <c:v>110.0</c:v>
                </c:pt>
                <c:pt idx="69">
                  <c:v>111.0</c:v>
                </c:pt>
                <c:pt idx="70">
                  <c:v>112.0</c:v>
                </c:pt>
                <c:pt idx="71">
                  <c:v>113.0</c:v>
                </c:pt>
                <c:pt idx="72">
                  <c:v>114.0</c:v>
                </c:pt>
                <c:pt idx="73">
                  <c:v>115.0</c:v>
                </c:pt>
                <c:pt idx="74">
                  <c:v>122.0</c:v>
                </c:pt>
                <c:pt idx="75">
                  <c:v>123.0</c:v>
                </c:pt>
                <c:pt idx="76">
                  <c:v>124.0</c:v>
                </c:pt>
                <c:pt idx="77">
                  <c:v>126.0</c:v>
                </c:pt>
                <c:pt idx="78">
                  <c:v>127.0</c:v>
                </c:pt>
                <c:pt idx="79">
                  <c:v>128.0</c:v>
                </c:pt>
                <c:pt idx="80">
                  <c:v>129.0</c:v>
                </c:pt>
                <c:pt idx="81">
                  <c:v>131.0</c:v>
                </c:pt>
                <c:pt idx="82">
                  <c:v>143.0</c:v>
                </c:pt>
                <c:pt idx="83">
                  <c:v>144.0</c:v>
                </c:pt>
                <c:pt idx="84">
                  <c:v>145.0</c:v>
                </c:pt>
                <c:pt idx="85">
                  <c:v>147.0</c:v>
                </c:pt>
                <c:pt idx="86">
                  <c:v>149.0</c:v>
                </c:pt>
                <c:pt idx="87">
                  <c:v>150.0</c:v>
                </c:pt>
                <c:pt idx="88">
                  <c:v>152.0</c:v>
                </c:pt>
                <c:pt idx="89">
                  <c:v>157.0</c:v>
                </c:pt>
                <c:pt idx="90">
                  <c:v>159.0</c:v>
                </c:pt>
                <c:pt idx="91">
                  <c:v>161.0</c:v>
                </c:pt>
                <c:pt idx="92">
                  <c:v>162.0</c:v>
                </c:pt>
                <c:pt idx="93">
                  <c:v>164.0</c:v>
                </c:pt>
                <c:pt idx="94">
                  <c:v>166.0</c:v>
                </c:pt>
                <c:pt idx="95">
                  <c:v>167.0</c:v>
                </c:pt>
                <c:pt idx="96">
                  <c:v>168.0</c:v>
                </c:pt>
                <c:pt idx="97">
                  <c:v>170.0</c:v>
                </c:pt>
                <c:pt idx="98">
                  <c:v>173.0</c:v>
                </c:pt>
                <c:pt idx="99">
                  <c:v>175.0</c:v>
                </c:pt>
                <c:pt idx="100">
                  <c:v>177.0</c:v>
                </c:pt>
                <c:pt idx="101">
                  <c:v>178.0</c:v>
                </c:pt>
                <c:pt idx="102">
                  <c:v>180.0</c:v>
                </c:pt>
                <c:pt idx="103">
                  <c:v>181.0</c:v>
                </c:pt>
                <c:pt idx="104">
                  <c:v>182.0</c:v>
                </c:pt>
                <c:pt idx="105">
                  <c:v>183.0</c:v>
                </c:pt>
                <c:pt idx="106">
                  <c:v>184.0</c:v>
                </c:pt>
                <c:pt idx="107">
                  <c:v>185.0</c:v>
                </c:pt>
                <c:pt idx="108">
                  <c:v>186.0</c:v>
                </c:pt>
                <c:pt idx="109">
                  <c:v>188.0</c:v>
                </c:pt>
                <c:pt idx="110">
                  <c:v>189.0</c:v>
                </c:pt>
                <c:pt idx="111">
                  <c:v>190.0</c:v>
                </c:pt>
                <c:pt idx="112">
                  <c:v>197.0</c:v>
                </c:pt>
                <c:pt idx="113">
                  <c:v>199.0</c:v>
                </c:pt>
                <c:pt idx="114">
                  <c:v>200.0</c:v>
                </c:pt>
                <c:pt idx="115">
                  <c:v>201.0</c:v>
                </c:pt>
                <c:pt idx="116">
                  <c:v>202.0</c:v>
                </c:pt>
                <c:pt idx="117">
                  <c:v>205.0</c:v>
                </c:pt>
                <c:pt idx="118">
                  <c:v>208.0</c:v>
                </c:pt>
                <c:pt idx="119">
                  <c:v>210.0</c:v>
                </c:pt>
                <c:pt idx="120">
                  <c:v>213.0</c:v>
                </c:pt>
                <c:pt idx="121">
                  <c:v>214.0</c:v>
                </c:pt>
                <c:pt idx="122">
                  <c:v>215.0</c:v>
                </c:pt>
                <c:pt idx="123">
                  <c:v>218.0</c:v>
                </c:pt>
                <c:pt idx="124">
                  <c:v>219.0</c:v>
                </c:pt>
                <c:pt idx="125">
                  <c:v>231.0</c:v>
                </c:pt>
                <c:pt idx="126">
                  <c:v>233.0</c:v>
                </c:pt>
                <c:pt idx="127">
                  <c:v>247.0</c:v>
                </c:pt>
                <c:pt idx="128">
                  <c:v>248.0</c:v>
                </c:pt>
                <c:pt idx="129">
                  <c:v>263.0</c:v>
                </c:pt>
                <c:pt idx="130">
                  <c:v>264.0</c:v>
                </c:pt>
                <c:pt idx="131">
                  <c:v>265.0</c:v>
                </c:pt>
                <c:pt idx="132">
                  <c:v>268.0</c:v>
                </c:pt>
                <c:pt idx="133">
                  <c:v>269.0</c:v>
                </c:pt>
                <c:pt idx="134">
                  <c:v>270.0</c:v>
                </c:pt>
                <c:pt idx="135">
                  <c:v>271.0</c:v>
                </c:pt>
                <c:pt idx="136">
                  <c:v>272.0</c:v>
                </c:pt>
                <c:pt idx="137">
                  <c:v>273.0</c:v>
                </c:pt>
                <c:pt idx="138">
                  <c:v>275.0</c:v>
                </c:pt>
                <c:pt idx="139">
                  <c:v>276.0</c:v>
                </c:pt>
                <c:pt idx="140">
                  <c:v>278.0</c:v>
                </c:pt>
                <c:pt idx="141">
                  <c:v>279.0</c:v>
                </c:pt>
                <c:pt idx="142">
                  <c:v>280.0</c:v>
                </c:pt>
                <c:pt idx="143">
                  <c:v>281.0</c:v>
                </c:pt>
                <c:pt idx="144">
                  <c:v>282.0</c:v>
                </c:pt>
                <c:pt idx="145">
                  <c:v>283.0</c:v>
                </c:pt>
                <c:pt idx="146">
                  <c:v>284.0</c:v>
                </c:pt>
                <c:pt idx="147">
                  <c:v>285.0</c:v>
                </c:pt>
                <c:pt idx="148">
                  <c:v>287.0</c:v>
                </c:pt>
                <c:pt idx="149">
                  <c:v>291.0</c:v>
                </c:pt>
                <c:pt idx="150">
                  <c:v>294.0</c:v>
                </c:pt>
              </c:numCache>
            </c:numRef>
          </c:val>
          <c:smooth val="0"/>
        </c:ser>
        <c:ser>
          <c:idx val="0"/>
          <c:order val="1"/>
          <c:tx>
            <c:v>Completed</c:v>
          </c:tx>
          <c:marker>
            <c:symbol val="none"/>
          </c:marker>
          <c:cat>
            <c:numRef>
              <c:f>'Distribution over time'!$A$54:$A$203</c:f>
              <c:numCache>
                <c:formatCode>yyyy\-mm\-dd;@</c:formatCode>
                <c:ptCount val="150"/>
                <c:pt idx="0">
                  <c:v>40557.0</c:v>
                </c:pt>
                <c:pt idx="1">
                  <c:v>40574.0</c:v>
                </c:pt>
                <c:pt idx="2">
                  <c:v>40592.0</c:v>
                </c:pt>
                <c:pt idx="3">
                  <c:v>40617.0</c:v>
                </c:pt>
                <c:pt idx="4">
                  <c:v>40625.0</c:v>
                </c:pt>
                <c:pt idx="5">
                  <c:v>40626.0</c:v>
                </c:pt>
                <c:pt idx="6">
                  <c:v>40627.0</c:v>
                </c:pt>
                <c:pt idx="7">
                  <c:v>40632.0</c:v>
                </c:pt>
                <c:pt idx="8">
                  <c:v>40655.0</c:v>
                </c:pt>
                <c:pt idx="9">
                  <c:v>40666.0</c:v>
                </c:pt>
                <c:pt idx="10">
                  <c:v>40693.0</c:v>
                </c:pt>
                <c:pt idx="11">
                  <c:v>40694.0</c:v>
                </c:pt>
                <c:pt idx="12">
                  <c:v>40704.0</c:v>
                </c:pt>
                <c:pt idx="13">
                  <c:v>40721.0</c:v>
                </c:pt>
                <c:pt idx="14">
                  <c:v>40728.0</c:v>
                </c:pt>
                <c:pt idx="15">
                  <c:v>40737.0</c:v>
                </c:pt>
                <c:pt idx="16">
                  <c:v>40749.0</c:v>
                </c:pt>
                <c:pt idx="17">
                  <c:v>40756.0</c:v>
                </c:pt>
                <c:pt idx="18">
                  <c:v>40787.0</c:v>
                </c:pt>
                <c:pt idx="19">
                  <c:v>40817.0</c:v>
                </c:pt>
                <c:pt idx="20">
                  <c:v>40823.0</c:v>
                </c:pt>
                <c:pt idx="21">
                  <c:v>40830.0</c:v>
                </c:pt>
                <c:pt idx="22">
                  <c:v>40848.0</c:v>
                </c:pt>
                <c:pt idx="23">
                  <c:v>40851.0</c:v>
                </c:pt>
                <c:pt idx="24">
                  <c:v>40861.0</c:v>
                </c:pt>
                <c:pt idx="25">
                  <c:v>40865.0</c:v>
                </c:pt>
                <c:pt idx="26">
                  <c:v>40868.0</c:v>
                </c:pt>
                <c:pt idx="27">
                  <c:v>40875.0</c:v>
                </c:pt>
                <c:pt idx="28">
                  <c:v>40877.0</c:v>
                </c:pt>
                <c:pt idx="29">
                  <c:v>40879.0</c:v>
                </c:pt>
                <c:pt idx="30">
                  <c:v>40886.0</c:v>
                </c:pt>
                <c:pt idx="31">
                  <c:v>40889.0</c:v>
                </c:pt>
                <c:pt idx="32">
                  <c:v>40890.0</c:v>
                </c:pt>
                <c:pt idx="33">
                  <c:v>40891.0</c:v>
                </c:pt>
                <c:pt idx="34">
                  <c:v>40892.0</c:v>
                </c:pt>
                <c:pt idx="35">
                  <c:v>40893.0</c:v>
                </c:pt>
                <c:pt idx="36">
                  <c:v>40897.0</c:v>
                </c:pt>
                <c:pt idx="37">
                  <c:v>40905.0</c:v>
                </c:pt>
                <c:pt idx="38">
                  <c:v>40906.0</c:v>
                </c:pt>
                <c:pt idx="39">
                  <c:v>40907.0</c:v>
                </c:pt>
                <c:pt idx="40">
                  <c:v>40909.0</c:v>
                </c:pt>
                <c:pt idx="41">
                  <c:v>40910.0</c:v>
                </c:pt>
                <c:pt idx="42">
                  <c:v>40913.0</c:v>
                </c:pt>
                <c:pt idx="43">
                  <c:v>40924.0</c:v>
                </c:pt>
                <c:pt idx="44">
                  <c:v>40927.0</c:v>
                </c:pt>
                <c:pt idx="45">
                  <c:v>40928.0</c:v>
                </c:pt>
                <c:pt idx="46">
                  <c:v>40934.0</c:v>
                </c:pt>
                <c:pt idx="47">
                  <c:v>40935.0</c:v>
                </c:pt>
                <c:pt idx="48">
                  <c:v>40938.0</c:v>
                </c:pt>
                <c:pt idx="49">
                  <c:v>40939.0</c:v>
                </c:pt>
                <c:pt idx="50">
                  <c:v>40940.0</c:v>
                </c:pt>
                <c:pt idx="51">
                  <c:v>40942.0</c:v>
                </c:pt>
                <c:pt idx="52">
                  <c:v>40946.0</c:v>
                </c:pt>
                <c:pt idx="53">
                  <c:v>40948.0</c:v>
                </c:pt>
                <c:pt idx="54">
                  <c:v>40949.0</c:v>
                </c:pt>
                <c:pt idx="55">
                  <c:v>40952.0</c:v>
                </c:pt>
                <c:pt idx="56">
                  <c:v>40953.0</c:v>
                </c:pt>
                <c:pt idx="57">
                  <c:v>40961.0</c:v>
                </c:pt>
                <c:pt idx="58">
                  <c:v>40969.0</c:v>
                </c:pt>
                <c:pt idx="59">
                  <c:v>40970.0</c:v>
                </c:pt>
                <c:pt idx="60">
                  <c:v>40974.0</c:v>
                </c:pt>
                <c:pt idx="61">
                  <c:v>40975.0</c:v>
                </c:pt>
                <c:pt idx="62">
                  <c:v>40983.0</c:v>
                </c:pt>
                <c:pt idx="63">
                  <c:v>40989.0</c:v>
                </c:pt>
                <c:pt idx="64">
                  <c:v>40990.0</c:v>
                </c:pt>
                <c:pt idx="65">
                  <c:v>40991.0</c:v>
                </c:pt>
                <c:pt idx="66">
                  <c:v>40995.0</c:v>
                </c:pt>
                <c:pt idx="67">
                  <c:v>40998.0</c:v>
                </c:pt>
                <c:pt idx="68">
                  <c:v>41001.0</c:v>
                </c:pt>
                <c:pt idx="69">
                  <c:v>41002.0</c:v>
                </c:pt>
                <c:pt idx="70">
                  <c:v>41003.0</c:v>
                </c:pt>
                <c:pt idx="71">
                  <c:v>41012.0</c:v>
                </c:pt>
                <c:pt idx="72">
                  <c:v>41016.0</c:v>
                </c:pt>
                <c:pt idx="73">
                  <c:v>41018.0</c:v>
                </c:pt>
                <c:pt idx="74">
                  <c:v>41019.0</c:v>
                </c:pt>
                <c:pt idx="75">
                  <c:v>41022.0</c:v>
                </c:pt>
                <c:pt idx="76">
                  <c:v>41026.0</c:v>
                </c:pt>
                <c:pt idx="77">
                  <c:v>41029.0</c:v>
                </c:pt>
                <c:pt idx="78">
                  <c:v>41031.0</c:v>
                </c:pt>
                <c:pt idx="79">
                  <c:v>41036.0</c:v>
                </c:pt>
                <c:pt idx="80">
                  <c:v>41040.0</c:v>
                </c:pt>
                <c:pt idx="81">
                  <c:v>41044.0</c:v>
                </c:pt>
                <c:pt idx="82">
                  <c:v>41046.0</c:v>
                </c:pt>
                <c:pt idx="83">
                  <c:v>41047.0</c:v>
                </c:pt>
                <c:pt idx="84">
                  <c:v>41048.0</c:v>
                </c:pt>
                <c:pt idx="85">
                  <c:v>41050.0</c:v>
                </c:pt>
                <c:pt idx="86">
                  <c:v>41053.0</c:v>
                </c:pt>
                <c:pt idx="87">
                  <c:v>41057.0</c:v>
                </c:pt>
                <c:pt idx="88">
                  <c:v>41059.0</c:v>
                </c:pt>
                <c:pt idx="89">
                  <c:v>41060.0</c:v>
                </c:pt>
                <c:pt idx="90">
                  <c:v>41064.0</c:v>
                </c:pt>
                <c:pt idx="91">
                  <c:v>41065.0</c:v>
                </c:pt>
                <c:pt idx="92">
                  <c:v>41071.0</c:v>
                </c:pt>
                <c:pt idx="93">
                  <c:v>41073.0</c:v>
                </c:pt>
                <c:pt idx="94">
                  <c:v>41080.0</c:v>
                </c:pt>
                <c:pt idx="95">
                  <c:v>41082.0</c:v>
                </c:pt>
                <c:pt idx="96">
                  <c:v>41085.0</c:v>
                </c:pt>
                <c:pt idx="97">
                  <c:v>41088.0</c:v>
                </c:pt>
                <c:pt idx="98">
                  <c:v>41092.0</c:v>
                </c:pt>
                <c:pt idx="99">
                  <c:v>41093.0</c:v>
                </c:pt>
                <c:pt idx="100">
                  <c:v>41094.0</c:v>
                </c:pt>
                <c:pt idx="101">
                  <c:v>41096.0</c:v>
                </c:pt>
                <c:pt idx="102">
                  <c:v>41100.0</c:v>
                </c:pt>
                <c:pt idx="103">
                  <c:v>41102.0</c:v>
                </c:pt>
                <c:pt idx="104">
                  <c:v>41103.0</c:v>
                </c:pt>
                <c:pt idx="105">
                  <c:v>41106.0</c:v>
                </c:pt>
                <c:pt idx="106">
                  <c:v>41107.0</c:v>
                </c:pt>
                <c:pt idx="107">
                  <c:v>41113.0</c:v>
                </c:pt>
                <c:pt idx="108">
                  <c:v>41115.0</c:v>
                </c:pt>
                <c:pt idx="109">
                  <c:v>41117.0</c:v>
                </c:pt>
                <c:pt idx="110">
                  <c:v>41121.0</c:v>
                </c:pt>
                <c:pt idx="111">
                  <c:v>41122.0</c:v>
                </c:pt>
                <c:pt idx="112">
                  <c:v>41138.0</c:v>
                </c:pt>
                <c:pt idx="113">
                  <c:v>41141.0</c:v>
                </c:pt>
                <c:pt idx="114">
                  <c:v>41142.0</c:v>
                </c:pt>
                <c:pt idx="115">
                  <c:v>41145.0</c:v>
                </c:pt>
                <c:pt idx="116">
                  <c:v>41151.0</c:v>
                </c:pt>
                <c:pt idx="117">
                  <c:v>41158.0</c:v>
                </c:pt>
                <c:pt idx="118">
                  <c:v>41159.0</c:v>
                </c:pt>
                <c:pt idx="119">
                  <c:v>41162.0</c:v>
                </c:pt>
                <c:pt idx="120">
                  <c:v>41169.0</c:v>
                </c:pt>
                <c:pt idx="121">
                  <c:v>41173.0</c:v>
                </c:pt>
                <c:pt idx="122">
                  <c:v>41176.0</c:v>
                </c:pt>
                <c:pt idx="123">
                  <c:v>41178.0</c:v>
                </c:pt>
                <c:pt idx="124">
                  <c:v>41179.0</c:v>
                </c:pt>
                <c:pt idx="125">
                  <c:v>41183.0</c:v>
                </c:pt>
                <c:pt idx="126">
                  <c:v>41185.0</c:v>
                </c:pt>
                <c:pt idx="127">
                  <c:v>41190.0</c:v>
                </c:pt>
                <c:pt idx="128">
                  <c:v>41192.0</c:v>
                </c:pt>
                <c:pt idx="129">
                  <c:v>41197.0</c:v>
                </c:pt>
                <c:pt idx="130">
                  <c:v>41199.0</c:v>
                </c:pt>
                <c:pt idx="131">
                  <c:v>41200.0</c:v>
                </c:pt>
                <c:pt idx="132">
                  <c:v>41201.0</c:v>
                </c:pt>
                <c:pt idx="133">
                  <c:v>41204.0</c:v>
                </c:pt>
                <c:pt idx="134">
                  <c:v>41207.0</c:v>
                </c:pt>
                <c:pt idx="135">
                  <c:v>41213.0</c:v>
                </c:pt>
                <c:pt idx="136">
                  <c:v>41214.0</c:v>
                </c:pt>
                <c:pt idx="137">
                  <c:v>41218.0</c:v>
                </c:pt>
                <c:pt idx="138">
                  <c:v>41220.0</c:v>
                </c:pt>
                <c:pt idx="139">
                  <c:v>41225.0</c:v>
                </c:pt>
                <c:pt idx="140">
                  <c:v>41229.0</c:v>
                </c:pt>
                <c:pt idx="141">
                  <c:v>41232.0</c:v>
                </c:pt>
                <c:pt idx="142">
                  <c:v>41235.0</c:v>
                </c:pt>
                <c:pt idx="143">
                  <c:v>41241.0</c:v>
                </c:pt>
                <c:pt idx="144">
                  <c:v>41250.0</c:v>
                </c:pt>
                <c:pt idx="145">
                  <c:v>41254.0</c:v>
                </c:pt>
                <c:pt idx="146">
                  <c:v>41260.0</c:v>
                </c:pt>
                <c:pt idx="147">
                  <c:v>41261.0</c:v>
                </c:pt>
                <c:pt idx="148">
                  <c:v>41264.0</c:v>
                </c:pt>
                <c:pt idx="149">
                  <c:v>41269.0</c:v>
                </c:pt>
              </c:numCache>
            </c:numRef>
          </c:cat>
          <c:val>
            <c:numRef>
              <c:f>'Distribution over time'!$P$54:$P$95</c:f>
              <c:numCache>
                <c:formatCode>General</c:formatCode>
                <c:ptCount val="42"/>
                <c:pt idx="0">
                  <c:v>1.0</c:v>
                </c:pt>
                <c:pt idx="1">
                  <c:v>2.0</c:v>
                </c:pt>
                <c:pt idx="2">
                  <c:v>3.0</c:v>
                </c:pt>
                <c:pt idx="3">
                  <c:v>5.0</c:v>
                </c:pt>
                <c:pt idx="4">
                  <c:v>6.0</c:v>
                </c:pt>
                <c:pt idx="5">
                  <c:v>7.0</c:v>
                </c:pt>
                <c:pt idx="6">
                  <c:v>8.0</c:v>
                </c:pt>
                <c:pt idx="7">
                  <c:v>9.0</c:v>
                </c:pt>
                <c:pt idx="8">
                  <c:v>10.0</c:v>
                </c:pt>
                <c:pt idx="9">
                  <c:v>11.0</c:v>
                </c:pt>
                <c:pt idx="10">
                  <c:v>11.0</c:v>
                </c:pt>
                <c:pt idx="11">
                  <c:v>12.0</c:v>
                </c:pt>
                <c:pt idx="12">
                  <c:v>13.0</c:v>
                </c:pt>
                <c:pt idx="13">
                  <c:v>14.0</c:v>
                </c:pt>
                <c:pt idx="14">
                  <c:v>14.0</c:v>
                </c:pt>
                <c:pt idx="15">
                  <c:v>14.0</c:v>
                </c:pt>
                <c:pt idx="16">
                  <c:v>15.0</c:v>
                </c:pt>
                <c:pt idx="17">
                  <c:v>16.0</c:v>
                </c:pt>
                <c:pt idx="18">
                  <c:v>17.0</c:v>
                </c:pt>
                <c:pt idx="19">
                  <c:v>18.0</c:v>
                </c:pt>
                <c:pt idx="20">
                  <c:v>18.0</c:v>
                </c:pt>
                <c:pt idx="21">
                  <c:v>19.0</c:v>
                </c:pt>
                <c:pt idx="22">
                  <c:v>19.0</c:v>
                </c:pt>
                <c:pt idx="23">
                  <c:v>21.0</c:v>
                </c:pt>
                <c:pt idx="24">
                  <c:v>21.0</c:v>
                </c:pt>
                <c:pt idx="25">
                  <c:v>22.0</c:v>
                </c:pt>
                <c:pt idx="26">
                  <c:v>23.0</c:v>
                </c:pt>
                <c:pt idx="27">
                  <c:v>24.0</c:v>
                </c:pt>
                <c:pt idx="28">
                  <c:v>25.0</c:v>
                </c:pt>
                <c:pt idx="29">
                  <c:v>39.0</c:v>
                </c:pt>
                <c:pt idx="30">
                  <c:v>40.0</c:v>
                </c:pt>
                <c:pt idx="31">
                  <c:v>40.0</c:v>
                </c:pt>
                <c:pt idx="32">
                  <c:v>40.0</c:v>
                </c:pt>
                <c:pt idx="33">
                  <c:v>40.0</c:v>
                </c:pt>
                <c:pt idx="34">
                  <c:v>40.0</c:v>
                </c:pt>
                <c:pt idx="35">
                  <c:v>40.0</c:v>
                </c:pt>
                <c:pt idx="36">
                  <c:v>40.0</c:v>
                </c:pt>
                <c:pt idx="37">
                  <c:v>40.0</c:v>
                </c:pt>
                <c:pt idx="38">
                  <c:v>40.0</c:v>
                </c:pt>
                <c:pt idx="39">
                  <c:v>40.0</c:v>
                </c:pt>
                <c:pt idx="40">
                  <c:v>50.0</c:v>
                </c:pt>
              </c:numCache>
            </c:numRef>
          </c:val>
          <c:smooth val="0"/>
        </c:ser>
        <c:dLbls>
          <c:showLegendKey val="0"/>
          <c:showVal val="0"/>
          <c:showCatName val="0"/>
          <c:showSerName val="0"/>
          <c:showPercent val="0"/>
          <c:showBubbleSize val="0"/>
        </c:dLbls>
        <c:marker val="1"/>
        <c:smooth val="0"/>
        <c:axId val="3932312"/>
        <c:axId val="734380696"/>
      </c:lineChart>
      <c:dateAx>
        <c:axId val="3932312"/>
        <c:scaling>
          <c:orientation val="minMax"/>
        </c:scaling>
        <c:delete val="0"/>
        <c:axPos val="b"/>
        <c:numFmt formatCode="yyyy\-mm\-dd;@" sourceLinked="1"/>
        <c:majorTickMark val="out"/>
        <c:minorTickMark val="none"/>
        <c:tickLblPos val="nextTo"/>
        <c:crossAx val="734380696"/>
        <c:crosses val="autoZero"/>
        <c:auto val="1"/>
        <c:lblOffset val="100"/>
        <c:baseTimeUnit val="days"/>
        <c:majorUnit val="15.0"/>
        <c:majorTimeUnit val="days"/>
        <c:minorUnit val="10.0"/>
        <c:minorTimeUnit val="days"/>
      </c:dateAx>
      <c:valAx>
        <c:axId val="734380696"/>
        <c:scaling>
          <c:orientation val="minMax"/>
        </c:scaling>
        <c:delete val="0"/>
        <c:axPos val="l"/>
        <c:majorGridlines/>
        <c:numFmt formatCode="General" sourceLinked="1"/>
        <c:majorTickMark val="out"/>
        <c:minorTickMark val="none"/>
        <c:tickLblPos val="nextTo"/>
        <c:crossAx val="3932312"/>
        <c:crossesAt val="40908.0"/>
        <c:crossBetween val="midCat"/>
      </c:valAx>
    </c:plotArea>
    <c:legend>
      <c:legendPos val="r"/>
      <c:layout>
        <c:manualLayout>
          <c:xMode val="edge"/>
          <c:yMode val="edge"/>
          <c:x val="0.153558321769393"/>
          <c:y val="0.356811345887357"/>
          <c:w val="0.153948703521654"/>
          <c:h val="0.106371363272388"/>
        </c:manualLayout>
      </c:layout>
      <c:overlay val="0"/>
    </c:legend>
    <c:plotVisOnly val="1"/>
    <c:dispBlanksAs val="span"/>
    <c:showDLblsOverMax val="0"/>
  </c:chart>
  <c:spPr>
    <a:solidFill>
      <a:schemeClr val="bg1"/>
    </a:solidFill>
  </c:sp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38215" cy="45354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2044" y="0"/>
            <a:ext cx="2938214" cy="453547"/>
          </a:xfrm>
          <a:prstGeom prst="rect">
            <a:avLst/>
          </a:prstGeom>
        </p:spPr>
        <p:txBody>
          <a:bodyPr vert="horz" lIns="91440" tIns="45720" rIns="91440" bIns="45720" rtlCol="0"/>
          <a:lstStyle>
            <a:lvl1pPr algn="r">
              <a:defRPr sz="1200"/>
            </a:lvl1pPr>
          </a:lstStyle>
          <a:p>
            <a:fld id="{13E577B0-23D3-41C2-ADBE-FA65B057CA7E}" type="datetimeFigureOut">
              <a:rPr lang="en-US" smtClean="0"/>
              <a:t>05/03/12</a:t>
            </a:fld>
            <a:endParaRPr lang="en-US"/>
          </a:p>
        </p:txBody>
      </p:sp>
      <p:sp>
        <p:nvSpPr>
          <p:cNvPr id="4" name="Footer Placeholder 3"/>
          <p:cNvSpPr>
            <a:spLocks noGrp="1"/>
          </p:cNvSpPr>
          <p:nvPr>
            <p:ph type="ftr" sz="quarter" idx="2"/>
          </p:nvPr>
        </p:nvSpPr>
        <p:spPr>
          <a:xfrm>
            <a:off x="0" y="8612696"/>
            <a:ext cx="2938215" cy="45354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2044" y="8612696"/>
            <a:ext cx="2938214" cy="453547"/>
          </a:xfrm>
          <a:prstGeom prst="rect">
            <a:avLst/>
          </a:prstGeom>
        </p:spPr>
        <p:txBody>
          <a:bodyPr vert="horz" lIns="91440" tIns="45720" rIns="91440" bIns="45720" rtlCol="0" anchor="b"/>
          <a:lstStyle>
            <a:lvl1pPr algn="r">
              <a:defRPr sz="1200"/>
            </a:lvl1pPr>
          </a:lstStyle>
          <a:p>
            <a:fld id="{8F1C794C-5E17-4B93-854B-B366ED13DBB9}" type="slidenum">
              <a:rPr lang="en-US" smtClean="0"/>
              <a:t>‹n.›</a:t>
            </a:fld>
            <a:endParaRPr lang="en-US"/>
          </a:p>
        </p:txBody>
      </p:sp>
    </p:spTree>
    <p:extLst>
      <p:ext uri="{BB962C8B-B14F-4D97-AF65-F5344CB8AC3E}">
        <p14:creationId xmlns:p14="http://schemas.microsoft.com/office/powerpoint/2010/main" val="202420858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58" name="Rectangle 2"/>
          <p:cNvSpPr>
            <a:spLocks noGrp="1"/>
          </p:cNvSpPr>
          <p:nvPr>
            <p:ph type="hdr" sz="quarter"/>
          </p:nvPr>
        </p:nvSpPr>
        <p:spPr bwMode="auto">
          <a:xfrm>
            <a:off x="1" y="1"/>
            <a:ext cx="2938780" cy="453390"/>
          </a:xfrm>
          <a:prstGeom prst="rect">
            <a:avLst/>
          </a:prstGeom>
          <a:noFill/>
          <a:ln w="25400">
            <a:noFill/>
            <a:miter lim="800000"/>
            <a:headEnd/>
            <a:tailEnd/>
          </a:ln>
          <a:effectLst/>
        </p:spPr>
        <p:txBody>
          <a:bodyPr vert="horz" wrap="square" lIns="90419" tIns="45210" rIns="90419" bIns="45210" numCol="1" anchor="t" anchorCtr="0" compatLnSpc="1">
            <a:prstTxWarp prst="textNoShape">
              <a:avLst/>
            </a:prstTxWarp>
          </a:bodyPr>
          <a:lstStyle>
            <a:lvl1pPr algn="l">
              <a:defRPr sz="1200"/>
            </a:lvl1pPr>
          </a:lstStyle>
          <a:p>
            <a:endParaRPr lang="en-US"/>
          </a:p>
        </p:txBody>
      </p:sp>
      <p:sp>
        <p:nvSpPr>
          <p:cNvPr id="96259" name="Rectangle 3"/>
          <p:cNvSpPr>
            <a:spLocks noGrp="1"/>
          </p:cNvSpPr>
          <p:nvPr>
            <p:ph type="dt" idx="1"/>
          </p:nvPr>
        </p:nvSpPr>
        <p:spPr bwMode="auto">
          <a:xfrm>
            <a:off x="3843023" y="1"/>
            <a:ext cx="2938780" cy="453390"/>
          </a:xfrm>
          <a:prstGeom prst="rect">
            <a:avLst/>
          </a:prstGeom>
          <a:noFill/>
          <a:ln w="25400">
            <a:noFill/>
            <a:miter lim="800000"/>
            <a:headEnd/>
            <a:tailEnd/>
          </a:ln>
          <a:effectLst/>
        </p:spPr>
        <p:txBody>
          <a:bodyPr vert="horz" wrap="square" lIns="90419" tIns="45210" rIns="90419" bIns="45210" numCol="1" anchor="t" anchorCtr="0" compatLnSpc="1">
            <a:prstTxWarp prst="textNoShape">
              <a:avLst/>
            </a:prstTxWarp>
          </a:bodyPr>
          <a:lstStyle>
            <a:lvl1pPr algn="r">
              <a:defRPr sz="1200"/>
            </a:lvl1pPr>
          </a:lstStyle>
          <a:p>
            <a:endParaRPr lang="en-US"/>
          </a:p>
        </p:txBody>
      </p:sp>
      <p:sp>
        <p:nvSpPr>
          <p:cNvPr id="96260" name="Rectangle 4"/>
          <p:cNvSpPr>
            <a:spLocks noGrp="1" noRot="1" noChangeAspect="1" noChangeArrowheads="1" noTextEdit="1"/>
          </p:cNvSpPr>
          <p:nvPr>
            <p:ph type="sldImg" idx="2"/>
          </p:nvPr>
        </p:nvSpPr>
        <p:spPr bwMode="auto">
          <a:xfrm>
            <a:off x="1123950" y="681038"/>
            <a:ext cx="4533900" cy="3400425"/>
          </a:xfrm>
          <a:prstGeom prst="rect">
            <a:avLst/>
          </a:prstGeom>
          <a:noFill/>
          <a:ln w="9525">
            <a:solidFill>
              <a:srgbClr val="000000"/>
            </a:solidFill>
            <a:miter lim="800000"/>
            <a:headEnd/>
            <a:tailEnd/>
          </a:ln>
          <a:effectLst/>
        </p:spPr>
      </p:sp>
      <p:sp>
        <p:nvSpPr>
          <p:cNvPr id="96261" name="Rectangle 5"/>
          <p:cNvSpPr>
            <a:spLocks noGrp="1"/>
          </p:cNvSpPr>
          <p:nvPr>
            <p:ph type="body" sz="quarter" idx="3"/>
          </p:nvPr>
        </p:nvSpPr>
        <p:spPr bwMode="auto">
          <a:xfrm>
            <a:off x="904242" y="4307206"/>
            <a:ext cx="4973320" cy="4080510"/>
          </a:xfrm>
          <a:prstGeom prst="rect">
            <a:avLst/>
          </a:prstGeom>
          <a:noFill/>
          <a:ln w="25400">
            <a:noFill/>
            <a:miter lim="800000"/>
            <a:headEnd/>
            <a:tailEnd/>
          </a:ln>
          <a:effectLst/>
        </p:spPr>
        <p:txBody>
          <a:bodyPr vert="horz" wrap="square" lIns="90419" tIns="45210" rIns="90419" bIns="4521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6262" name="Rectangle 6"/>
          <p:cNvSpPr>
            <a:spLocks noGrp="1"/>
          </p:cNvSpPr>
          <p:nvPr>
            <p:ph type="ftr" sz="quarter" idx="4"/>
          </p:nvPr>
        </p:nvSpPr>
        <p:spPr bwMode="auto">
          <a:xfrm>
            <a:off x="1" y="8614410"/>
            <a:ext cx="2938780" cy="453390"/>
          </a:xfrm>
          <a:prstGeom prst="rect">
            <a:avLst/>
          </a:prstGeom>
          <a:noFill/>
          <a:ln w="25400">
            <a:noFill/>
            <a:miter lim="800000"/>
            <a:headEnd/>
            <a:tailEnd/>
          </a:ln>
          <a:effectLst/>
        </p:spPr>
        <p:txBody>
          <a:bodyPr vert="horz" wrap="square" lIns="90419" tIns="45210" rIns="90419" bIns="45210" numCol="1" anchor="b" anchorCtr="0" compatLnSpc="1">
            <a:prstTxWarp prst="textNoShape">
              <a:avLst/>
            </a:prstTxWarp>
          </a:bodyPr>
          <a:lstStyle>
            <a:lvl1pPr algn="l">
              <a:defRPr sz="1200"/>
            </a:lvl1pPr>
          </a:lstStyle>
          <a:p>
            <a:endParaRPr lang="en-US"/>
          </a:p>
        </p:txBody>
      </p:sp>
      <p:sp>
        <p:nvSpPr>
          <p:cNvPr id="96263" name="Rectangle 7"/>
          <p:cNvSpPr>
            <a:spLocks noGrp="1"/>
          </p:cNvSpPr>
          <p:nvPr>
            <p:ph type="sldNum" sz="quarter" idx="5"/>
          </p:nvPr>
        </p:nvSpPr>
        <p:spPr bwMode="auto">
          <a:xfrm>
            <a:off x="3843023" y="8614410"/>
            <a:ext cx="2938780" cy="453390"/>
          </a:xfrm>
          <a:prstGeom prst="rect">
            <a:avLst/>
          </a:prstGeom>
          <a:noFill/>
          <a:ln w="25400">
            <a:noFill/>
            <a:miter lim="800000"/>
            <a:headEnd/>
            <a:tailEnd/>
          </a:ln>
          <a:effectLst/>
        </p:spPr>
        <p:txBody>
          <a:bodyPr vert="horz" wrap="square" lIns="90419" tIns="45210" rIns="90419" bIns="45210" numCol="1" anchor="b" anchorCtr="0" compatLnSpc="1">
            <a:prstTxWarp prst="textNoShape">
              <a:avLst/>
            </a:prstTxWarp>
          </a:bodyPr>
          <a:lstStyle>
            <a:lvl1pPr algn="r">
              <a:defRPr sz="1200"/>
            </a:lvl1pPr>
          </a:lstStyle>
          <a:p>
            <a:fld id="{0246BE51-7DE0-7D42-879B-41C2916FDA3A}" type="slidenum">
              <a:rPr lang="en-US"/>
              <a:pPr/>
              <a:t>‹n.›</a:t>
            </a:fld>
            <a:endParaRPr lang="en-US"/>
          </a:p>
        </p:txBody>
      </p:sp>
    </p:spTree>
    <p:extLst>
      <p:ext uri="{BB962C8B-B14F-4D97-AF65-F5344CB8AC3E}">
        <p14:creationId xmlns:p14="http://schemas.microsoft.com/office/powerpoint/2010/main" val="4216394688"/>
      </p:ext>
    </p:extLst>
  </p:cSld>
  <p:clrMap bg1="lt1" tx1="dk1" bg2="lt2" tx2="dk2" accent1="accent1" accent2="accent2" accent3="accent3" accent4="accent4" accent5="accent5" accent6="accent6" hlink="hlink" folHlink="folHlink"/>
  <p:hf sldNum="0" hdr="0" ftr="0" dt="0"/>
  <p:notesStyle>
    <a:lvl1pPr algn="l" rtl="0" fontAlgn="base">
      <a:spcBef>
        <a:spcPct val="0"/>
      </a:spcBef>
      <a:spcAft>
        <a:spcPct val="0"/>
      </a:spcAft>
      <a:defRPr sz="1200" kern="1200">
        <a:solidFill>
          <a:schemeClr val="tx1"/>
        </a:solidFill>
        <a:latin typeface="Gill Sans" charset="0"/>
        <a:ea typeface="+mn-ea"/>
        <a:cs typeface="+mn-cs"/>
      </a:defRPr>
    </a:lvl1pPr>
    <a:lvl2pPr marL="457200" algn="l" rtl="0" fontAlgn="base">
      <a:spcBef>
        <a:spcPct val="0"/>
      </a:spcBef>
      <a:spcAft>
        <a:spcPct val="0"/>
      </a:spcAft>
      <a:defRPr sz="1200" kern="1200">
        <a:solidFill>
          <a:schemeClr val="tx1"/>
        </a:solidFill>
        <a:latin typeface="Gill Sans" charset="0"/>
        <a:ea typeface="ＭＳ Ｐゴシック" charset="-128"/>
        <a:cs typeface="+mn-cs"/>
      </a:defRPr>
    </a:lvl2pPr>
    <a:lvl3pPr marL="914400" algn="l" rtl="0" fontAlgn="base">
      <a:spcBef>
        <a:spcPct val="0"/>
      </a:spcBef>
      <a:spcAft>
        <a:spcPct val="0"/>
      </a:spcAft>
      <a:defRPr sz="1200" kern="1200">
        <a:solidFill>
          <a:schemeClr val="tx1"/>
        </a:solidFill>
        <a:latin typeface="Gill Sans" charset="0"/>
        <a:ea typeface="ＭＳ Ｐゴシック" charset="-128"/>
        <a:cs typeface="+mn-cs"/>
      </a:defRPr>
    </a:lvl3pPr>
    <a:lvl4pPr marL="1371600" algn="l" rtl="0" fontAlgn="base">
      <a:spcBef>
        <a:spcPct val="0"/>
      </a:spcBef>
      <a:spcAft>
        <a:spcPct val="0"/>
      </a:spcAft>
      <a:defRPr sz="1200" kern="1200">
        <a:solidFill>
          <a:schemeClr val="tx1"/>
        </a:solidFill>
        <a:latin typeface="Gill Sans" charset="0"/>
        <a:ea typeface="ＭＳ Ｐゴシック" charset="-128"/>
        <a:cs typeface="+mn-cs"/>
      </a:defRPr>
    </a:lvl4pPr>
    <a:lvl5pPr marL="1828800" algn="l" rtl="0" fontAlgn="base">
      <a:spcBef>
        <a:spcPct val="0"/>
      </a:spcBef>
      <a:spcAft>
        <a:spcPct val="0"/>
      </a:spcAft>
      <a:defRPr sz="1200" kern="1200">
        <a:solidFill>
          <a:schemeClr val="tx1"/>
        </a:solidFill>
        <a:latin typeface="Gill Sans"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451239" eaLnBrk="0" hangingPunct="0">
              <a:defRPr sz="2400">
                <a:solidFill>
                  <a:schemeClr val="tx1"/>
                </a:solidFill>
                <a:latin typeface="MS UI Gothic" charset="0"/>
                <a:ea typeface="ＭＳ Ｐゴシック" charset="0"/>
                <a:cs typeface="ＭＳ Ｐゴシック" charset="0"/>
              </a:defRPr>
            </a:lvl1pPr>
            <a:lvl2pPr marL="735818" indent="-283007" defTabSz="451239" eaLnBrk="0" hangingPunct="0">
              <a:defRPr sz="2400">
                <a:solidFill>
                  <a:schemeClr val="tx1"/>
                </a:solidFill>
                <a:latin typeface="MS UI Gothic" charset="0"/>
                <a:ea typeface="ＭＳ Ｐゴシック" charset="0"/>
              </a:defRPr>
            </a:lvl2pPr>
            <a:lvl3pPr marL="1132027" indent="-226405" defTabSz="451239" eaLnBrk="0" hangingPunct="0">
              <a:defRPr sz="2400">
                <a:solidFill>
                  <a:schemeClr val="tx1"/>
                </a:solidFill>
                <a:latin typeface="MS UI Gothic" charset="0"/>
                <a:ea typeface="ＭＳ Ｐゴシック" charset="0"/>
              </a:defRPr>
            </a:lvl3pPr>
            <a:lvl4pPr marL="1584838" indent="-226405" defTabSz="451239" eaLnBrk="0" hangingPunct="0">
              <a:defRPr sz="2400">
                <a:solidFill>
                  <a:schemeClr val="tx1"/>
                </a:solidFill>
                <a:latin typeface="MS UI Gothic" charset="0"/>
                <a:ea typeface="ＭＳ Ｐゴシック" charset="0"/>
              </a:defRPr>
            </a:lvl4pPr>
            <a:lvl5pPr marL="2037649" indent="-226405" defTabSz="451239" eaLnBrk="0" hangingPunct="0">
              <a:defRPr sz="2400">
                <a:solidFill>
                  <a:schemeClr val="tx1"/>
                </a:solidFill>
                <a:latin typeface="MS UI Gothic" charset="0"/>
                <a:ea typeface="ＭＳ Ｐゴシック" charset="0"/>
              </a:defRPr>
            </a:lvl5pPr>
            <a:lvl6pPr marL="2490460" indent="-226405" defTabSz="451239" eaLnBrk="0" fontAlgn="base" hangingPunct="0">
              <a:spcBef>
                <a:spcPct val="0"/>
              </a:spcBef>
              <a:spcAft>
                <a:spcPct val="0"/>
              </a:spcAft>
              <a:defRPr sz="2400">
                <a:solidFill>
                  <a:schemeClr val="tx1"/>
                </a:solidFill>
                <a:latin typeface="MS UI Gothic" charset="0"/>
                <a:ea typeface="ＭＳ Ｐゴシック" charset="0"/>
              </a:defRPr>
            </a:lvl6pPr>
            <a:lvl7pPr marL="2943271" indent="-226405" defTabSz="451239" eaLnBrk="0" fontAlgn="base" hangingPunct="0">
              <a:spcBef>
                <a:spcPct val="0"/>
              </a:spcBef>
              <a:spcAft>
                <a:spcPct val="0"/>
              </a:spcAft>
              <a:defRPr sz="2400">
                <a:solidFill>
                  <a:schemeClr val="tx1"/>
                </a:solidFill>
                <a:latin typeface="MS UI Gothic" charset="0"/>
                <a:ea typeface="ＭＳ Ｐゴシック" charset="0"/>
              </a:defRPr>
            </a:lvl7pPr>
            <a:lvl8pPr marL="3396082" indent="-226405" defTabSz="451239" eaLnBrk="0" fontAlgn="base" hangingPunct="0">
              <a:spcBef>
                <a:spcPct val="0"/>
              </a:spcBef>
              <a:spcAft>
                <a:spcPct val="0"/>
              </a:spcAft>
              <a:defRPr sz="2400">
                <a:solidFill>
                  <a:schemeClr val="tx1"/>
                </a:solidFill>
                <a:latin typeface="MS UI Gothic" charset="0"/>
                <a:ea typeface="ＭＳ Ｐゴシック" charset="0"/>
              </a:defRPr>
            </a:lvl8pPr>
            <a:lvl9pPr marL="3848892" indent="-226405" defTabSz="451239" eaLnBrk="0" fontAlgn="base" hangingPunct="0">
              <a:spcBef>
                <a:spcPct val="0"/>
              </a:spcBef>
              <a:spcAft>
                <a:spcPct val="0"/>
              </a:spcAft>
              <a:defRPr sz="2400">
                <a:solidFill>
                  <a:schemeClr val="tx1"/>
                </a:solidFill>
                <a:latin typeface="MS UI Gothic" charset="0"/>
                <a:ea typeface="ＭＳ Ｐゴシック" charset="0"/>
              </a:defRPr>
            </a:lvl9pPr>
          </a:lstStyle>
          <a:p>
            <a:pPr eaLnBrk="1" hangingPunct="1"/>
            <a:fld id="{5C3BAD5B-ABB5-AB41-B2AC-1A5AC1C20C3E}" type="slidenum">
              <a:rPr lang="en-GB" sz="1200">
                <a:latin typeface="Times" charset="0"/>
              </a:rPr>
              <a:pPr eaLnBrk="1" hangingPunct="1"/>
              <a:t>4</a:t>
            </a:fld>
            <a:endParaRPr lang="en-GB" sz="1200">
              <a:latin typeface="Times" charset="0"/>
            </a:endParaRPr>
          </a:p>
        </p:txBody>
      </p:sp>
      <p:sp>
        <p:nvSpPr>
          <p:cNvPr id="6246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6246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fr-FR">
              <a:latin typeface="Times"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451239" eaLnBrk="0" hangingPunct="0">
              <a:defRPr sz="2400">
                <a:solidFill>
                  <a:schemeClr val="tx1"/>
                </a:solidFill>
                <a:latin typeface="MS UI Gothic" charset="0"/>
                <a:ea typeface="ＭＳ Ｐゴシック" charset="0"/>
                <a:cs typeface="ＭＳ Ｐゴシック" charset="0"/>
              </a:defRPr>
            </a:lvl1pPr>
            <a:lvl2pPr marL="735818" indent="-283007" defTabSz="451239" eaLnBrk="0" hangingPunct="0">
              <a:defRPr sz="2400">
                <a:solidFill>
                  <a:schemeClr val="tx1"/>
                </a:solidFill>
                <a:latin typeface="MS UI Gothic" charset="0"/>
                <a:ea typeface="ＭＳ Ｐゴシック" charset="0"/>
              </a:defRPr>
            </a:lvl2pPr>
            <a:lvl3pPr marL="1132027" indent="-226405" defTabSz="451239" eaLnBrk="0" hangingPunct="0">
              <a:defRPr sz="2400">
                <a:solidFill>
                  <a:schemeClr val="tx1"/>
                </a:solidFill>
                <a:latin typeface="MS UI Gothic" charset="0"/>
                <a:ea typeface="ＭＳ Ｐゴシック" charset="0"/>
              </a:defRPr>
            </a:lvl3pPr>
            <a:lvl4pPr marL="1584838" indent="-226405" defTabSz="451239" eaLnBrk="0" hangingPunct="0">
              <a:defRPr sz="2400">
                <a:solidFill>
                  <a:schemeClr val="tx1"/>
                </a:solidFill>
                <a:latin typeface="MS UI Gothic" charset="0"/>
                <a:ea typeface="ＭＳ Ｐゴシック" charset="0"/>
              </a:defRPr>
            </a:lvl4pPr>
            <a:lvl5pPr marL="2037649" indent="-226405" defTabSz="451239" eaLnBrk="0" hangingPunct="0">
              <a:defRPr sz="2400">
                <a:solidFill>
                  <a:schemeClr val="tx1"/>
                </a:solidFill>
                <a:latin typeface="MS UI Gothic" charset="0"/>
                <a:ea typeface="ＭＳ Ｐゴシック" charset="0"/>
              </a:defRPr>
            </a:lvl5pPr>
            <a:lvl6pPr marL="2490460" indent="-226405" defTabSz="451239" eaLnBrk="0" fontAlgn="base" hangingPunct="0">
              <a:spcBef>
                <a:spcPct val="0"/>
              </a:spcBef>
              <a:spcAft>
                <a:spcPct val="0"/>
              </a:spcAft>
              <a:defRPr sz="2400">
                <a:solidFill>
                  <a:schemeClr val="tx1"/>
                </a:solidFill>
                <a:latin typeface="MS UI Gothic" charset="0"/>
                <a:ea typeface="ＭＳ Ｐゴシック" charset="0"/>
              </a:defRPr>
            </a:lvl6pPr>
            <a:lvl7pPr marL="2943271" indent="-226405" defTabSz="451239" eaLnBrk="0" fontAlgn="base" hangingPunct="0">
              <a:spcBef>
                <a:spcPct val="0"/>
              </a:spcBef>
              <a:spcAft>
                <a:spcPct val="0"/>
              </a:spcAft>
              <a:defRPr sz="2400">
                <a:solidFill>
                  <a:schemeClr val="tx1"/>
                </a:solidFill>
                <a:latin typeface="MS UI Gothic" charset="0"/>
                <a:ea typeface="ＭＳ Ｐゴシック" charset="0"/>
              </a:defRPr>
            </a:lvl7pPr>
            <a:lvl8pPr marL="3396082" indent="-226405" defTabSz="451239" eaLnBrk="0" fontAlgn="base" hangingPunct="0">
              <a:spcBef>
                <a:spcPct val="0"/>
              </a:spcBef>
              <a:spcAft>
                <a:spcPct val="0"/>
              </a:spcAft>
              <a:defRPr sz="2400">
                <a:solidFill>
                  <a:schemeClr val="tx1"/>
                </a:solidFill>
                <a:latin typeface="MS UI Gothic" charset="0"/>
                <a:ea typeface="ＭＳ Ｐゴシック" charset="0"/>
              </a:defRPr>
            </a:lvl8pPr>
            <a:lvl9pPr marL="3848892" indent="-226405" defTabSz="451239" eaLnBrk="0" fontAlgn="base" hangingPunct="0">
              <a:spcBef>
                <a:spcPct val="0"/>
              </a:spcBef>
              <a:spcAft>
                <a:spcPct val="0"/>
              </a:spcAft>
              <a:defRPr sz="2400">
                <a:solidFill>
                  <a:schemeClr val="tx1"/>
                </a:solidFill>
                <a:latin typeface="MS UI Gothic" charset="0"/>
                <a:ea typeface="ＭＳ Ｐゴシック" charset="0"/>
              </a:defRPr>
            </a:lvl9pPr>
          </a:lstStyle>
          <a:p>
            <a:pPr eaLnBrk="1" hangingPunct="1"/>
            <a:fld id="{13E314CC-FBB9-9943-B387-7374C14E3209}" type="slidenum">
              <a:rPr lang="en-GB" sz="1200">
                <a:latin typeface="Times" charset="0"/>
              </a:rPr>
              <a:pPr eaLnBrk="1" hangingPunct="1"/>
              <a:t>5</a:t>
            </a:fld>
            <a:endParaRPr lang="en-GB" sz="1200">
              <a:latin typeface="Times" charset="0"/>
            </a:endParaRPr>
          </a:p>
        </p:txBody>
      </p:sp>
      <p:sp>
        <p:nvSpPr>
          <p:cNvPr id="6349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6349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fr-FR">
              <a:latin typeface="Times"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451239" eaLnBrk="0" hangingPunct="0">
              <a:defRPr sz="2400">
                <a:solidFill>
                  <a:schemeClr val="tx1"/>
                </a:solidFill>
                <a:latin typeface="MS UI Gothic" charset="0"/>
                <a:ea typeface="ＭＳ Ｐゴシック" charset="0"/>
                <a:cs typeface="ＭＳ Ｐゴシック" charset="0"/>
              </a:defRPr>
            </a:lvl1pPr>
            <a:lvl2pPr marL="735818" indent="-283007" defTabSz="451239" eaLnBrk="0" hangingPunct="0">
              <a:defRPr sz="2400">
                <a:solidFill>
                  <a:schemeClr val="tx1"/>
                </a:solidFill>
                <a:latin typeface="MS UI Gothic" charset="0"/>
                <a:ea typeface="ＭＳ Ｐゴシック" charset="0"/>
              </a:defRPr>
            </a:lvl2pPr>
            <a:lvl3pPr marL="1132027" indent="-226405" defTabSz="451239" eaLnBrk="0" hangingPunct="0">
              <a:defRPr sz="2400">
                <a:solidFill>
                  <a:schemeClr val="tx1"/>
                </a:solidFill>
                <a:latin typeface="MS UI Gothic" charset="0"/>
                <a:ea typeface="ＭＳ Ｐゴシック" charset="0"/>
              </a:defRPr>
            </a:lvl3pPr>
            <a:lvl4pPr marL="1584838" indent="-226405" defTabSz="451239" eaLnBrk="0" hangingPunct="0">
              <a:defRPr sz="2400">
                <a:solidFill>
                  <a:schemeClr val="tx1"/>
                </a:solidFill>
                <a:latin typeface="MS UI Gothic" charset="0"/>
                <a:ea typeface="ＭＳ Ｐゴシック" charset="0"/>
              </a:defRPr>
            </a:lvl4pPr>
            <a:lvl5pPr marL="2037649" indent="-226405" defTabSz="451239" eaLnBrk="0" hangingPunct="0">
              <a:defRPr sz="2400">
                <a:solidFill>
                  <a:schemeClr val="tx1"/>
                </a:solidFill>
                <a:latin typeface="MS UI Gothic" charset="0"/>
                <a:ea typeface="ＭＳ Ｐゴシック" charset="0"/>
              </a:defRPr>
            </a:lvl5pPr>
            <a:lvl6pPr marL="2490460" indent="-226405" defTabSz="451239" eaLnBrk="0" fontAlgn="base" hangingPunct="0">
              <a:spcBef>
                <a:spcPct val="0"/>
              </a:spcBef>
              <a:spcAft>
                <a:spcPct val="0"/>
              </a:spcAft>
              <a:defRPr sz="2400">
                <a:solidFill>
                  <a:schemeClr val="tx1"/>
                </a:solidFill>
                <a:latin typeface="MS UI Gothic" charset="0"/>
                <a:ea typeface="ＭＳ Ｐゴシック" charset="0"/>
              </a:defRPr>
            </a:lvl6pPr>
            <a:lvl7pPr marL="2943271" indent="-226405" defTabSz="451239" eaLnBrk="0" fontAlgn="base" hangingPunct="0">
              <a:spcBef>
                <a:spcPct val="0"/>
              </a:spcBef>
              <a:spcAft>
                <a:spcPct val="0"/>
              </a:spcAft>
              <a:defRPr sz="2400">
                <a:solidFill>
                  <a:schemeClr val="tx1"/>
                </a:solidFill>
                <a:latin typeface="MS UI Gothic" charset="0"/>
                <a:ea typeface="ＭＳ Ｐゴシック" charset="0"/>
              </a:defRPr>
            </a:lvl7pPr>
            <a:lvl8pPr marL="3396082" indent="-226405" defTabSz="451239" eaLnBrk="0" fontAlgn="base" hangingPunct="0">
              <a:spcBef>
                <a:spcPct val="0"/>
              </a:spcBef>
              <a:spcAft>
                <a:spcPct val="0"/>
              </a:spcAft>
              <a:defRPr sz="2400">
                <a:solidFill>
                  <a:schemeClr val="tx1"/>
                </a:solidFill>
                <a:latin typeface="MS UI Gothic" charset="0"/>
                <a:ea typeface="ＭＳ Ｐゴシック" charset="0"/>
              </a:defRPr>
            </a:lvl8pPr>
            <a:lvl9pPr marL="3848892" indent="-226405" defTabSz="451239" eaLnBrk="0" fontAlgn="base" hangingPunct="0">
              <a:spcBef>
                <a:spcPct val="0"/>
              </a:spcBef>
              <a:spcAft>
                <a:spcPct val="0"/>
              </a:spcAft>
              <a:defRPr sz="2400">
                <a:solidFill>
                  <a:schemeClr val="tx1"/>
                </a:solidFill>
                <a:latin typeface="MS UI Gothic" charset="0"/>
                <a:ea typeface="ＭＳ Ｐゴシック" charset="0"/>
              </a:defRPr>
            </a:lvl9pPr>
          </a:lstStyle>
          <a:p>
            <a:pPr eaLnBrk="1" hangingPunct="1"/>
            <a:fld id="{6D16D1A6-F8DF-ED41-904A-7A52D804FC7E}" type="slidenum">
              <a:rPr lang="en-GB" sz="1200">
                <a:latin typeface="Times" charset="0"/>
              </a:rPr>
              <a:pPr eaLnBrk="1" hangingPunct="1"/>
              <a:t>6</a:t>
            </a:fld>
            <a:endParaRPr lang="en-GB" sz="1200">
              <a:latin typeface="Times" charset="0"/>
            </a:endParaRPr>
          </a:p>
        </p:txBody>
      </p:sp>
      <p:sp>
        <p:nvSpPr>
          <p:cNvPr id="6451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6451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fr-FR">
              <a:latin typeface="Times"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451239" eaLnBrk="0" hangingPunct="0">
              <a:defRPr sz="2400">
                <a:solidFill>
                  <a:schemeClr val="tx1"/>
                </a:solidFill>
                <a:latin typeface="MS UI Gothic" charset="0"/>
                <a:ea typeface="ＭＳ Ｐゴシック" charset="0"/>
                <a:cs typeface="ＭＳ Ｐゴシック" charset="0"/>
              </a:defRPr>
            </a:lvl1pPr>
            <a:lvl2pPr marL="735818" indent="-283007" defTabSz="451239" eaLnBrk="0" hangingPunct="0">
              <a:defRPr sz="2400">
                <a:solidFill>
                  <a:schemeClr val="tx1"/>
                </a:solidFill>
                <a:latin typeface="MS UI Gothic" charset="0"/>
                <a:ea typeface="ＭＳ Ｐゴシック" charset="0"/>
              </a:defRPr>
            </a:lvl2pPr>
            <a:lvl3pPr marL="1132027" indent="-226405" defTabSz="451239" eaLnBrk="0" hangingPunct="0">
              <a:defRPr sz="2400">
                <a:solidFill>
                  <a:schemeClr val="tx1"/>
                </a:solidFill>
                <a:latin typeface="MS UI Gothic" charset="0"/>
                <a:ea typeface="ＭＳ Ｐゴシック" charset="0"/>
              </a:defRPr>
            </a:lvl3pPr>
            <a:lvl4pPr marL="1584838" indent="-226405" defTabSz="451239" eaLnBrk="0" hangingPunct="0">
              <a:defRPr sz="2400">
                <a:solidFill>
                  <a:schemeClr val="tx1"/>
                </a:solidFill>
                <a:latin typeface="MS UI Gothic" charset="0"/>
                <a:ea typeface="ＭＳ Ｐゴシック" charset="0"/>
              </a:defRPr>
            </a:lvl4pPr>
            <a:lvl5pPr marL="2037649" indent="-226405" defTabSz="451239" eaLnBrk="0" hangingPunct="0">
              <a:defRPr sz="2400">
                <a:solidFill>
                  <a:schemeClr val="tx1"/>
                </a:solidFill>
                <a:latin typeface="MS UI Gothic" charset="0"/>
                <a:ea typeface="ＭＳ Ｐゴシック" charset="0"/>
              </a:defRPr>
            </a:lvl5pPr>
            <a:lvl6pPr marL="2490460" indent="-226405" defTabSz="451239" eaLnBrk="0" fontAlgn="base" hangingPunct="0">
              <a:spcBef>
                <a:spcPct val="0"/>
              </a:spcBef>
              <a:spcAft>
                <a:spcPct val="0"/>
              </a:spcAft>
              <a:defRPr sz="2400">
                <a:solidFill>
                  <a:schemeClr val="tx1"/>
                </a:solidFill>
                <a:latin typeface="MS UI Gothic" charset="0"/>
                <a:ea typeface="ＭＳ Ｐゴシック" charset="0"/>
              </a:defRPr>
            </a:lvl6pPr>
            <a:lvl7pPr marL="2943271" indent="-226405" defTabSz="451239" eaLnBrk="0" fontAlgn="base" hangingPunct="0">
              <a:spcBef>
                <a:spcPct val="0"/>
              </a:spcBef>
              <a:spcAft>
                <a:spcPct val="0"/>
              </a:spcAft>
              <a:defRPr sz="2400">
                <a:solidFill>
                  <a:schemeClr val="tx1"/>
                </a:solidFill>
                <a:latin typeface="MS UI Gothic" charset="0"/>
                <a:ea typeface="ＭＳ Ｐゴシック" charset="0"/>
              </a:defRPr>
            </a:lvl7pPr>
            <a:lvl8pPr marL="3396082" indent="-226405" defTabSz="451239" eaLnBrk="0" fontAlgn="base" hangingPunct="0">
              <a:spcBef>
                <a:spcPct val="0"/>
              </a:spcBef>
              <a:spcAft>
                <a:spcPct val="0"/>
              </a:spcAft>
              <a:defRPr sz="2400">
                <a:solidFill>
                  <a:schemeClr val="tx1"/>
                </a:solidFill>
                <a:latin typeface="MS UI Gothic" charset="0"/>
                <a:ea typeface="ＭＳ Ｐゴシック" charset="0"/>
              </a:defRPr>
            </a:lvl8pPr>
            <a:lvl9pPr marL="3848892" indent="-226405" defTabSz="451239" eaLnBrk="0" fontAlgn="base" hangingPunct="0">
              <a:spcBef>
                <a:spcPct val="0"/>
              </a:spcBef>
              <a:spcAft>
                <a:spcPct val="0"/>
              </a:spcAft>
              <a:defRPr sz="2400">
                <a:solidFill>
                  <a:schemeClr val="tx1"/>
                </a:solidFill>
                <a:latin typeface="MS UI Gothic" charset="0"/>
                <a:ea typeface="ＭＳ Ｐゴシック" charset="0"/>
              </a:defRPr>
            </a:lvl9pPr>
          </a:lstStyle>
          <a:p>
            <a:pPr eaLnBrk="1" hangingPunct="1"/>
            <a:fld id="{7425A2C2-EB3A-9D4B-98A2-5AA78DBA852A}" type="slidenum">
              <a:rPr lang="en-GB" sz="1200">
                <a:latin typeface="Times" charset="0"/>
              </a:rPr>
              <a:pPr eaLnBrk="1" hangingPunct="1"/>
              <a:t>7</a:t>
            </a:fld>
            <a:endParaRPr lang="en-GB" sz="1200">
              <a:latin typeface="Times" charset="0"/>
            </a:endParaRPr>
          </a:p>
        </p:txBody>
      </p:sp>
      <p:sp>
        <p:nvSpPr>
          <p:cNvPr id="6553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6553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fr-FR">
              <a:latin typeface="Times"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451239" eaLnBrk="0" hangingPunct="0">
              <a:defRPr sz="2400">
                <a:solidFill>
                  <a:schemeClr val="tx1"/>
                </a:solidFill>
                <a:latin typeface="MS UI Gothic" charset="0"/>
                <a:ea typeface="ＭＳ Ｐゴシック" charset="0"/>
                <a:cs typeface="ＭＳ Ｐゴシック" charset="0"/>
              </a:defRPr>
            </a:lvl1pPr>
            <a:lvl2pPr marL="735818" indent="-283007" defTabSz="451239" eaLnBrk="0" hangingPunct="0">
              <a:defRPr sz="2400">
                <a:solidFill>
                  <a:schemeClr val="tx1"/>
                </a:solidFill>
                <a:latin typeface="MS UI Gothic" charset="0"/>
                <a:ea typeface="ＭＳ Ｐゴシック" charset="0"/>
              </a:defRPr>
            </a:lvl2pPr>
            <a:lvl3pPr marL="1132027" indent="-226405" defTabSz="451239" eaLnBrk="0" hangingPunct="0">
              <a:defRPr sz="2400">
                <a:solidFill>
                  <a:schemeClr val="tx1"/>
                </a:solidFill>
                <a:latin typeface="MS UI Gothic" charset="0"/>
                <a:ea typeface="ＭＳ Ｐゴシック" charset="0"/>
              </a:defRPr>
            </a:lvl3pPr>
            <a:lvl4pPr marL="1584838" indent="-226405" defTabSz="451239" eaLnBrk="0" hangingPunct="0">
              <a:defRPr sz="2400">
                <a:solidFill>
                  <a:schemeClr val="tx1"/>
                </a:solidFill>
                <a:latin typeface="MS UI Gothic" charset="0"/>
                <a:ea typeface="ＭＳ Ｐゴシック" charset="0"/>
              </a:defRPr>
            </a:lvl4pPr>
            <a:lvl5pPr marL="2037649" indent="-226405" defTabSz="451239" eaLnBrk="0" hangingPunct="0">
              <a:defRPr sz="2400">
                <a:solidFill>
                  <a:schemeClr val="tx1"/>
                </a:solidFill>
                <a:latin typeface="MS UI Gothic" charset="0"/>
                <a:ea typeface="ＭＳ Ｐゴシック" charset="0"/>
              </a:defRPr>
            </a:lvl5pPr>
            <a:lvl6pPr marL="2490460" indent="-226405" defTabSz="451239" eaLnBrk="0" fontAlgn="base" hangingPunct="0">
              <a:spcBef>
                <a:spcPct val="0"/>
              </a:spcBef>
              <a:spcAft>
                <a:spcPct val="0"/>
              </a:spcAft>
              <a:defRPr sz="2400">
                <a:solidFill>
                  <a:schemeClr val="tx1"/>
                </a:solidFill>
                <a:latin typeface="MS UI Gothic" charset="0"/>
                <a:ea typeface="ＭＳ Ｐゴシック" charset="0"/>
              </a:defRPr>
            </a:lvl6pPr>
            <a:lvl7pPr marL="2943271" indent="-226405" defTabSz="451239" eaLnBrk="0" fontAlgn="base" hangingPunct="0">
              <a:spcBef>
                <a:spcPct val="0"/>
              </a:spcBef>
              <a:spcAft>
                <a:spcPct val="0"/>
              </a:spcAft>
              <a:defRPr sz="2400">
                <a:solidFill>
                  <a:schemeClr val="tx1"/>
                </a:solidFill>
                <a:latin typeface="MS UI Gothic" charset="0"/>
                <a:ea typeface="ＭＳ Ｐゴシック" charset="0"/>
              </a:defRPr>
            </a:lvl7pPr>
            <a:lvl8pPr marL="3396082" indent="-226405" defTabSz="451239" eaLnBrk="0" fontAlgn="base" hangingPunct="0">
              <a:spcBef>
                <a:spcPct val="0"/>
              </a:spcBef>
              <a:spcAft>
                <a:spcPct val="0"/>
              </a:spcAft>
              <a:defRPr sz="2400">
                <a:solidFill>
                  <a:schemeClr val="tx1"/>
                </a:solidFill>
                <a:latin typeface="MS UI Gothic" charset="0"/>
                <a:ea typeface="ＭＳ Ｐゴシック" charset="0"/>
              </a:defRPr>
            </a:lvl8pPr>
            <a:lvl9pPr marL="3848892" indent="-226405" defTabSz="451239" eaLnBrk="0" fontAlgn="base" hangingPunct="0">
              <a:spcBef>
                <a:spcPct val="0"/>
              </a:spcBef>
              <a:spcAft>
                <a:spcPct val="0"/>
              </a:spcAft>
              <a:defRPr sz="2400">
                <a:solidFill>
                  <a:schemeClr val="tx1"/>
                </a:solidFill>
                <a:latin typeface="MS UI Gothic" charset="0"/>
                <a:ea typeface="ＭＳ Ｐゴシック" charset="0"/>
              </a:defRPr>
            </a:lvl9pPr>
          </a:lstStyle>
          <a:p>
            <a:pPr eaLnBrk="1" hangingPunct="1"/>
            <a:fld id="{92577BA1-621E-F348-84E7-10A16A0422A4}" type="slidenum">
              <a:rPr lang="en-GB" sz="1200">
                <a:latin typeface="Times" charset="0"/>
              </a:rPr>
              <a:pPr eaLnBrk="1" hangingPunct="1"/>
              <a:t>8</a:t>
            </a:fld>
            <a:endParaRPr lang="en-GB" sz="1200">
              <a:latin typeface="Times" charset="0"/>
            </a:endParaRPr>
          </a:p>
        </p:txBody>
      </p:sp>
      <p:sp>
        <p:nvSpPr>
          <p:cNvPr id="6656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6656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fr-FR">
              <a:latin typeface="Times"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BFCDB7F-15DE-4F45-B00F-8B2ED659F922}" type="slidenum">
              <a:rPr lang="en-US" smtClean="0"/>
              <a:pPr/>
              <a:t>16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737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it-IT">
              <a:latin typeface="Calibri" charset="0"/>
            </a:endParaRPr>
          </a:p>
        </p:txBody>
      </p:sp>
      <p:sp>
        <p:nvSpPr>
          <p:cNvPr id="7373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451239" eaLnBrk="0" hangingPunct="0">
              <a:defRPr sz="2400">
                <a:solidFill>
                  <a:schemeClr val="tx1"/>
                </a:solidFill>
                <a:latin typeface="MS UI Gothic" charset="0"/>
                <a:ea typeface="ＭＳ Ｐゴシック" charset="0"/>
                <a:cs typeface="ＭＳ Ｐゴシック" charset="0"/>
              </a:defRPr>
            </a:lvl1pPr>
            <a:lvl2pPr marL="735818" indent="-283007" defTabSz="451239" eaLnBrk="0" hangingPunct="0">
              <a:defRPr sz="2400">
                <a:solidFill>
                  <a:schemeClr val="tx1"/>
                </a:solidFill>
                <a:latin typeface="MS UI Gothic" charset="0"/>
                <a:ea typeface="ＭＳ Ｐゴシック" charset="0"/>
              </a:defRPr>
            </a:lvl2pPr>
            <a:lvl3pPr marL="1132027" indent="-226405" defTabSz="451239" eaLnBrk="0" hangingPunct="0">
              <a:defRPr sz="2400">
                <a:solidFill>
                  <a:schemeClr val="tx1"/>
                </a:solidFill>
                <a:latin typeface="MS UI Gothic" charset="0"/>
                <a:ea typeface="ＭＳ Ｐゴシック" charset="0"/>
              </a:defRPr>
            </a:lvl3pPr>
            <a:lvl4pPr marL="1584838" indent="-226405" defTabSz="451239" eaLnBrk="0" hangingPunct="0">
              <a:defRPr sz="2400">
                <a:solidFill>
                  <a:schemeClr val="tx1"/>
                </a:solidFill>
                <a:latin typeface="MS UI Gothic" charset="0"/>
                <a:ea typeface="ＭＳ Ｐゴシック" charset="0"/>
              </a:defRPr>
            </a:lvl4pPr>
            <a:lvl5pPr marL="2037649" indent="-226405" defTabSz="451239" eaLnBrk="0" hangingPunct="0">
              <a:defRPr sz="2400">
                <a:solidFill>
                  <a:schemeClr val="tx1"/>
                </a:solidFill>
                <a:latin typeface="MS UI Gothic" charset="0"/>
                <a:ea typeface="ＭＳ Ｐゴシック" charset="0"/>
              </a:defRPr>
            </a:lvl5pPr>
            <a:lvl6pPr marL="2490460" indent="-226405" defTabSz="451239" eaLnBrk="0" fontAlgn="base" hangingPunct="0">
              <a:spcBef>
                <a:spcPct val="0"/>
              </a:spcBef>
              <a:spcAft>
                <a:spcPct val="0"/>
              </a:spcAft>
              <a:defRPr sz="2400">
                <a:solidFill>
                  <a:schemeClr val="tx1"/>
                </a:solidFill>
                <a:latin typeface="MS UI Gothic" charset="0"/>
                <a:ea typeface="ＭＳ Ｐゴシック" charset="0"/>
              </a:defRPr>
            </a:lvl6pPr>
            <a:lvl7pPr marL="2943271" indent="-226405" defTabSz="451239" eaLnBrk="0" fontAlgn="base" hangingPunct="0">
              <a:spcBef>
                <a:spcPct val="0"/>
              </a:spcBef>
              <a:spcAft>
                <a:spcPct val="0"/>
              </a:spcAft>
              <a:defRPr sz="2400">
                <a:solidFill>
                  <a:schemeClr val="tx1"/>
                </a:solidFill>
                <a:latin typeface="MS UI Gothic" charset="0"/>
                <a:ea typeface="ＭＳ Ｐゴシック" charset="0"/>
              </a:defRPr>
            </a:lvl7pPr>
            <a:lvl8pPr marL="3396082" indent="-226405" defTabSz="451239" eaLnBrk="0" fontAlgn="base" hangingPunct="0">
              <a:spcBef>
                <a:spcPct val="0"/>
              </a:spcBef>
              <a:spcAft>
                <a:spcPct val="0"/>
              </a:spcAft>
              <a:defRPr sz="2400">
                <a:solidFill>
                  <a:schemeClr val="tx1"/>
                </a:solidFill>
                <a:latin typeface="MS UI Gothic" charset="0"/>
                <a:ea typeface="ＭＳ Ｐゴシック" charset="0"/>
              </a:defRPr>
            </a:lvl8pPr>
            <a:lvl9pPr marL="3848892" indent="-226405" defTabSz="451239" eaLnBrk="0" fontAlgn="base" hangingPunct="0">
              <a:spcBef>
                <a:spcPct val="0"/>
              </a:spcBef>
              <a:spcAft>
                <a:spcPct val="0"/>
              </a:spcAft>
              <a:defRPr sz="2400">
                <a:solidFill>
                  <a:schemeClr val="tx1"/>
                </a:solidFill>
                <a:latin typeface="MS UI Gothic" charset="0"/>
                <a:ea typeface="ＭＳ Ｐゴシック" charset="0"/>
              </a:defRPr>
            </a:lvl9pPr>
          </a:lstStyle>
          <a:p>
            <a:pPr eaLnBrk="1" hangingPunct="1"/>
            <a:fld id="{BA1866D5-A51C-E747-B15C-61B91C1986A3}" type="slidenum">
              <a:rPr lang="en-US" sz="1200">
                <a:solidFill>
                  <a:srgbClr val="000000"/>
                </a:solidFill>
              </a:rPr>
              <a:pPr eaLnBrk="1" hangingPunct="1"/>
              <a:t>19</a:t>
            </a:fld>
            <a:endParaRPr lang="en-US" sz="1200">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6963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numCol="1" anchor="t" anchorCtr="0" compatLnSpc="1">
            <a:prstTxWarp prst="textNoShape">
              <a:avLst/>
            </a:prstTxWarp>
          </a:bodyPr>
          <a:lstStyle/>
          <a:p>
            <a:pPr eaLnBrk="1" hangingPunct="1"/>
            <a:endParaRPr lang="it-IT">
              <a:latin typeface="Calibri"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Rot="1" noChangeAspect="1" noChangeArrowheads="1" noTextEdit="1"/>
          </p:cNvSpPr>
          <p:nvPr>
            <p:ph type="sldImg"/>
          </p:nvPr>
        </p:nvSpPr>
        <p:spPr bwMode="auto">
          <a:xfrm>
            <a:off x="1123950" y="679450"/>
            <a:ext cx="4535488" cy="34020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7270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wrap="square" lIns="90424" tIns="45212" rIns="90424" bIns="45212" numCol="1" anchor="t" anchorCtr="0" compatLnSpc="1">
            <a:prstTxWarp prst="textNoShape">
              <a:avLst/>
            </a:prstTxWarp>
          </a:bodyPr>
          <a:lstStyle/>
          <a:p>
            <a:endParaRPr lang="it-IT">
              <a:latin typeface="Calibri"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p:cNvSpPr>
            <a:spLocks noGrp="1"/>
          </p:cNvSpPr>
          <p:nvPr>
            <p:ph type="ctrTitle"/>
          </p:nvPr>
        </p:nvSpPr>
        <p:spPr>
          <a:xfrm>
            <a:off x="957784" y="1996480"/>
            <a:ext cx="11055350" cy="2090737"/>
          </a:xfrm>
        </p:spPr>
        <p:txBody>
          <a:bodyPr/>
          <a:lstStyle>
            <a:lvl1pPr algn="ctr">
              <a:defRPr b="1"/>
            </a:lvl1pPr>
          </a:lstStyle>
          <a:p>
            <a:r>
              <a:rPr lang="en-US" smtClean="0"/>
              <a:t>Click to edit Master title style</a:t>
            </a:r>
            <a:endParaRPr lang="sv-SE" dirty="0"/>
          </a:p>
        </p:txBody>
      </p:sp>
      <p:sp>
        <p:nvSpPr>
          <p:cNvPr id="3" name="Underrubrik 2"/>
          <p:cNvSpPr>
            <a:spLocks noGrp="1"/>
          </p:cNvSpPr>
          <p:nvPr>
            <p:ph type="subTitle" idx="1"/>
          </p:nvPr>
        </p:nvSpPr>
        <p:spPr>
          <a:xfrm>
            <a:off x="1965896" y="4948808"/>
            <a:ext cx="9102725" cy="249237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sv-SE" dirty="0"/>
          </a:p>
        </p:txBody>
      </p:sp>
      <p:sp>
        <p:nvSpPr>
          <p:cNvPr id="4" name="Platshållare för bildnummer 3"/>
          <p:cNvSpPr>
            <a:spLocks noGrp="1"/>
          </p:cNvSpPr>
          <p:nvPr>
            <p:ph type="sldNum" sz="quarter" idx="10"/>
          </p:nvPr>
        </p:nvSpPr>
        <p:spPr/>
        <p:txBody>
          <a:bodyPr/>
          <a:lstStyle>
            <a:lvl1pPr>
              <a:defRPr smtClean="0"/>
            </a:lvl1pPr>
          </a:lstStyle>
          <a:p>
            <a:fld id="{22B76AD9-3B10-7341-AA29-9FC06026622E}" type="slidenum">
              <a:rPr lang="en-US"/>
              <a:pPr/>
              <a:t>‹n.›</a:t>
            </a:fld>
            <a:endParaRPr lang="en-US"/>
          </a:p>
        </p:txBody>
      </p:sp>
    </p:spTree>
  </p:cSld>
  <p:clrMapOvr>
    <a:masterClrMapping/>
  </p:clrMapOvr>
  <p:transition xmlns:p14="http://schemas.microsoft.com/office/powerpoint/2010/mai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smtClean="0"/>
              <a:t>Click to edit Master title style</a:t>
            </a:r>
            <a:endParaRPr lang="sv-SE"/>
          </a:p>
        </p:txBody>
      </p:sp>
      <p:sp>
        <p:nvSpPr>
          <p:cNvPr id="3" name="Platshållare för innehåll 2"/>
          <p:cNvSpPr>
            <a:spLocks noGrp="1"/>
          </p:cNvSpPr>
          <p:nvPr>
            <p:ph idx="1" hasCustomPrompt="1"/>
          </p:nvPr>
        </p:nvSpPr>
        <p:spPr/>
        <p:txBody>
          <a:bodyPr/>
          <a:lstStyle>
            <a:lvl1pPr>
              <a:defRPr/>
            </a:lvl1pPr>
          </a:lstStyle>
          <a:p>
            <a:pPr lvl="0"/>
            <a:r>
              <a:rPr lang="sv-SE" dirty="0" smtClean="0"/>
              <a:t>Klicka här för att ändra format på bakgrundstexten</a:t>
            </a:r>
          </a:p>
          <a:p>
            <a:pPr lvl="1"/>
            <a:r>
              <a:rPr lang="sv-SE" dirty="0" smtClean="0"/>
              <a:t>Nivå två</a:t>
            </a:r>
          </a:p>
          <a:p>
            <a:pPr lvl="2"/>
            <a:r>
              <a:rPr lang="sv-SE" dirty="0" smtClean="0"/>
              <a:t>Nivå tre</a:t>
            </a:r>
          </a:p>
          <a:p>
            <a:pPr lvl="3"/>
            <a:r>
              <a:rPr lang="sv-SE" dirty="0" smtClean="0"/>
              <a:t>Nivå fyra</a:t>
            </a:r>
          </a:p>
        </p:txBody>
      </p:sp>
      <p:sp>
        <p:nvSpPr>
          <p:cNvPr id="4" name="Platshållare för bildnummer 3"/>
          <p:cNvSpPr>
            <a:spLocks noGrp="1"/>
          </p:cNvSpPr>
          <p:nvPr>
            <p:ph type="sldNum" sz="quarter" idx="10"/>
          </p:nvPr>
        </p:nvSpPr>
        <p:spPr/>
        <p:txBody>
          <a:bodyPr/>
          <a:lstStyle>
            <a:lvl1pPr>
              <a:defRPr smtClean="0"/>
            </a:lvl1pPr>
          </a:lstStyle>
          <a:p>
            <a:fld id="{FF2B4A6C-5733-B342-BEF2-6FB7836DDFCC}" type="slidenum">
              <a:rPr lang="en-US"/>
              <a:pPr/>
              <a:t>‹n.›</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p:cNvSpPr>
            <a:spLocks noGrp="1"/>
          </p:cNvSpPr>
          <p:nvPr>
            <p:ph type="title"/>
          </p:nvPr>
        </p:nvSpPr>
        <p:spPr>
          <a:xfrm>
            <a:off x="1027113" y="6267450"/>
            <a:ext cx="11053762" cy="1936750"/>
          </a:xfrm>
        </p:spPr>
        <p:txBody>
          <a:bodyPr anchor="t"/>
          <a:lstStyle>
            <a:lvl1pPr algn="l">
              <a:defRPr sz="4000" b="1" cap="all"/>
            </a:lvl1pPr>
          </a:lstStyle>
          <a:p>
            <a:r>
              <a:rPr lang="en-US" smtClean="0"/>
              <a:t>Click to edit Master title style</a:t>
            </a:r>
            <a:endParaRPr lang="sv-SE"/>
          </a:p>
        </p:txBody>
      </p:sp>
      <p:sp>
        <p:nvSpPr>
          <p:cNvPr id="3" name="Platshållare för text 2"/>
          <p:cNvSpPr>
            <a:spLocks noGrp="1"/>
          </p:cNvSpPr>
          <p:nvPr>
            <p:ph type="body" idx="1"/>
          </p:nvPr>
        </p:nvSpPr>
        <p:spPr>
          <a:xfrm>
            <a:off x="1027113" y="4133850"/>
            <a:ext cx="11053762" cy="21336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Platshållare för bildnummer 3"/>
          <p:cNvSpPr>
            <a:spLocks noGrp="1"/>
          </p:cNvSpPr>
          <p:nvPr>
            <p:ph type="sldNum" sz="quarter" idx="10"/>
          </p:nvPr>
        </p:nvSpPr>
        <p:spPr/>
        <p:txBody>
          <a:bodyPr/>
          <a:lstStyle>
            <a:lvl1pPr>
              <a:defRPr smtClean="0"/>
            </a:lvl1pPr>
          </a:lstStyle>
          <a:p>
            <a:fld id="{706AB452-3DE2-3A44-A832-EA434AEB04B9}" type="slidenum">
              <a:rPr lang="en-US"/>
              <a:pPr/>
              <a:t>‹n.›</a:t>
            </a:fld>
            <a:endParaRPr lang="en-US"/>
          </a:p>
        </p:txBody>
      </p:sp>
    </p:spTree>
  </p:cSld>
  <p:clrMapOvr>
    <a:masterClrMapping/>
  </p:clrMapOvr>
  <p:transition xmlns:p14="http://schemas.microsoft.com/office/powerpoint/2010/mai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smtClean="0"/>
              <a:t>Click to edit Master title style</a:t>
            </a:r>
            <a:endParaRPr lang="sv-SE"/>
          </a:p>
        </p:txBody>
      </p:sp>
      <p:sp>
        <p:nvSpPr>
          <p:cNvPr id="3" name="Platshållare för innehåll 2"/>
          <p:cNvSpPr>
            <a:spLocks noGrp="1"/>
          </p:cNvSpPr>
          <p:nvPr>
            <p:ph sz="half" idx="1"/>
          </p:nvPr>
        </p:nvSpPr>
        <p:spPr>
          <a:xfrm>
            <a:off x="1181100" y="2971800"/>
            <a:ext cx="3657600" cy="4787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innehåll 3"/>
          <p:cNvSpPr>
            <a:spLocks noGrp="1"/>
          </p:cNvSpPr>
          <p:nvPr>
            <p:ph sz="half" idx="2"/>
          </p:nvPr>
        </p:nvSpPr>
        <p:spPr>
          <a:xfrm>
            <a:off x="4991100" y="2971800"/>
            <a:ext cx="3657600" cy="4787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5" name="Platshållare för bildnummer 4"/>
          <p:cNvSpPr>
            <a:spLocks noGrp="1"/>
          </p:cNvSpPr>
          <p:nvPr>
            <p:ph type="sldNum" sz="quarter" idx="10"/>
          </p:nvPr>
        </p:nvSpPr>
        <p:spPr/>
        <p:txBody>
          <a:bodyPr/>
          <a:lstStyle>
            <a:lvl1pPr>
              <a:defRPr smtClean="0"/>
            </a:lvl1pPr>
          </a:lstStyle>
          <a:p>
            <a:fld id="{69EF22F9-2B1A-1143-A6E9-C5CC19F3E8EE}" type="slidenum">
              <a:rPr lang="en-US"/>
              <a:pPr/>
              <a:t>‹n.›</a:t>
            </a:fld>
            <a:endParaRPr lang="en-US"/>
          </a:p>
        </p:txBody>
      </p:sp>
    </p:spTree>
  </p:cSld>
  <p:clrMapOvr>
    <a:masterClrMapping/>
  </p:clrMapOvr>
  <p:transition xmlns:p14="http://schemas.microsoft.com/office/powerpoint/2010/mai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650875" y="390525"/>
            <a:ext cx="11703050" cy="1625600"/>
          </a:xfrm>
        </p:spPr>
        <p:txBody>
          <a:bodyPr/>
          <a:lstStyle>
            <a:lvl1pPr>
              <a:defRPr/>
            </a:lvl1pPr>
          </a:lstStyle>
          <a:p>
            <a:r>
              <a:rPr lang="en-US" smtClean="0"/>
              <a:t>Click to edit Master title style</a:t>
            </a:r>
            <a:endParaRPr lang="sv-SE"/>
          </a:p>
        </p:txBody>
      </p:sp>
      <p:sp>
        <p:nvSpPr>
          <p:cNvPr id="3" name="Platshållare för text 2"/>
          <p:cNvSpPr>
            <a:spLocks noGrp="1"/>
          </p:cNvSpPr>
          <p:nvPr>
            <p:ph type="body" idx="1"/>
          </p:nvPr>
        </p:nvSpPr>
        <p:spPr>
          <a:xfrm>
            <a:off x="650875" y="2182813"/>
            <a:ext cx="5745163"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Platshållare för innehåll 3"/>
          <p:cNvSpPr>
            <a:spLocks noGrp="1"/>
          </p:cNvSpPr>
          <p:nvPr>
            <p:ph sz="half" idx="2"/>
          </p:nvPr>
        </p:nvSpPr>
        <p:spPr>
          <a:xfrm>
            <a:off x="650875" y="3092450"/>
            <a:ext cx="5745163"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p:cNvSpPr>
            <a:spLocks noGrp="1"/>
          </p:cNvSpPr>
          <p:nvPr>
            <p:ph type="body" sz="quarter" idx="3"/>
          </p:nvPr>
        </p:nvSpPr>
        <p:spPr>
          <a:xfrm>
            <a:off x="6605588" y="2182813"/>
            <a:ext cx="5748337" cy="9096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Platshållare för innehåll 5"/>
          <p:cNvSpPr>
            <a:spLocks noGrp="1"/>
          </p:cNvSpPr>
          <p:nvPr>
            <p:ph sz="quarter" idx="4"/>
          </p:nvPr>
        </p:nvSpPr>
        <p:spPr>
          <a:xfrm>
            <a:off x="6605588" y="3092450"/>
            <a:ext cx="5748337" cy="56197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7" name="Platshållare för bildnummer 6"/>
          <p:cNvSpPr>
            <a:spLocks noGrp="1"/>
          </p:cNvSpPr>
          <p:nvPr>
            <p:ph type="sldNum" sz="quarter" idx="10"/>
          </p:nvPr>
        </p:nvSpPr>
        <p:spPr/>
        <p:txBody>
          <a:bodyPr/>
          <a:lstStyle>
            <a:lvl1pPr>
              <a:defRPr smtClean="0"/>
            </a:lvl1pPr>
          </a:lstStyle>
          <a:p>
            <a:fld id="{518CE635-5BA5-5249-AA81-EB64DF50290E}" type="slidenum">
              <a:rPr lang="en-US"/>
              <a:pPr/>
              <a:t>‹n.›</a:t>
            </a:fld>
            <a:endParaRPr lang="en-US"/>
          </a:p>
        </p:txBody>
      </p:sp>
    </p:spTree>
  </p:cSld>
  <p:clrMapOvr>
    <a:masterClrMapping/>
  </p:clrMapOvr>
  <p:transition xmlns:p14="http://schemas.microsoft.com/office/powerpoint/2010/mai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smtClean="0"/>
              <a:t>Click to edit Master title style</a:t>
            </a:r>
            <a:endParaRPr lang="sv-SE"/>
          </a:p>
        </p:txBody>
      </p:sp>
      <p:sp>
        <p:nvSpPr>
          <p:cNvPr id="3" name="Platshållare för bildnummer 2"/>
          <p:cNvSpPr>
            <a:spLocks noGrp="1"/>
          </p:cNvSpPr>
          <p:nvPr>
            <p:ph type="sldNum" sz="quarter" idx="10"/>
          </p:nvPr>
        </p:nvSpPr>
        <p:spPr/>
        <p:txBody>
          <a:bodyPr/>
          <a:lstStyle>
            <a:lvl1pPr>
              <a:defRPr smtClean="0"/>
            </a:lvl1pPr>
          </a:lstStyle>
          <a:p>
            <a:fld id="{6961CAF6-8E47-6D49-995C-96475C1873D5}" type="slidenum">
              <a:rPr lang="en-US"/>
              <a:pPr/>
              <a:t>‹n.›</a:t>
            </a:fld>
            <a:endParaRPr lang="en-US"/>
          </a:p>
        </p:txBody>
      </p:sp>
    </p:spTree>
  </p:cSld>
  <p:clrMapOvr>
    <a:masterClrMapping/>
  </p:clrMapOvr>
  <p:transition xmlns:p14="http://schemas.microsoft.com/office/powerpoint/2010/mai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tshållare för bildnummer 1"/>
          <p:cNvSpPr>
            <a:spLocks noGrp="1"/>
          </p:cNvSpPr>
          <p:nvPr>
            <p:ph type="sldNum" sz="quarter" idx="10"/>
          </p:nvPr>
        </p:nvSpPr>
        <p:spPr/>
        <p:txBody>
          <a:bodyPr/>
          <a:lstStyle>
            <a:lvl1pPr>
              <a:defRPr smtClean="0"/>
            </a:lvl1pPr>
          </a:lstStyle>
          <a:p>
            <a:fld id="{3200A202-E0DE-0D42-8965-4E934D8EB815}" type="slidenum">
              <a:rPr lang="en-US"/>
              <a:pPr/>
              <a:t>‹n.›</a:t>
            </a:fld>
            <a:endParaRPr lang="en-US"/>
          </a:p>
        </p:txBody>
      </p:sp>
    </p:spTree>
  </p:cSld>
  <p:clrMapOvr>
    <a:masterClrMapping/>
  </p:clrMapOvr>
  <p:transition xmlns:p14="http://schemas.microsoft.com/office/powerpoint/2010/mai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ehåll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650875" y="388938"/>
            <a:ext cx="4278313" cy="1652587"/>
          </a:xfrm>
        </p:spPr>
        <p:txBody>
          <a:bodyPr/>
          <a:lstStyle>
            <a:lvl1pPr algn="l">
              <a:defRPr sz="2000" b="1"/>
            </a:lvl1pPr>
          </a:lstStyle>
          <a:p>
            <a:r>
              <a:rPr lang="en-US" smtClean="0"/>
              <a:t>Click to edit Master title style</a:t>
            </a:r>
            <a:endParaRPr lang="sv-SE"/>
          </a:p>
        </p:txBody>
      </p:sp>
      <p:sp>
        <p:nvSpPr>
          <p:cNvPr id="3" name="Platshållare för innehåll 2"/>
          <p:cNvSpPr>
            <a:spLocks noGrp="1"/>
          </p:cNvSpPr>
          <p:nvPr>
            <p:ph idx="1"/>
          </p:nvPr>
        </p:nvSpPr>
        <p:spPr>
          <a:xfrm>
            <a:off x="5084763" y="388938"/>
            <a:ext cx="7269162" cy="8323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text 3"/>
          <p:cNvSpPr>
            <a:spLocks noGrp="1"/>
          </p:cNvSpPr>
          <p:nvPr>
            <p:ph type="body" sz="half" idx="2"/>
          </p:nvPr>
        </p:nvSpPr>
        <p:spPr>
          <a:xfrm>
            <a:off x="650875" y="2041525"/>
            <a:ext cx="4278313" cy="66706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Platshållare för bildnummer 4"/>
          <p:cNvSpPr>
            <a:spLocks noGrp="1"/>
          </p:cNvSpPr>
          <p:nvPr>
            <p:ph type="sldNum" sz="quarter" idx="10"/>
          </p:nvPr>
        </p:nvSpPr>
        <p:spPr/>
        <p:txBody>
          <a:bodyPr/>
          <a:lstStyle>
            <a:lvl1pPr>
              <a:defRPr smtClean="0"/>
            </a:lvl1pPr>
          </a:lstStyle>
          <a:p>
            <a:fld id="{0CD10244-191B-A741-9FCF-A4C6542A1BC2}" type="slidenum">
              <a:rPr lang="en-US"/>
              <a:pPr/>
              <a:t>‹n.›</a:t>
            </a:fld>
            <a:endParaRPr lang="en-US"/>
          </a:p>
        </p:txBody>
      </p:sp>
    </p:spTree>
  </p:cSld>
  <p:clrMapOvr>
    <a:masterClrMapping/>
  </p:clrMapOvr>
  <p:transition xmlns:p14="http://schemas.microsoft.com/office/powerpoint/2010/mai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2549525" y="6827838"/>
            <a:ext cx="7802563" cy="806450"/>
          </a:xfrm>
        </p:spPr>
        <p:txBody>
          <a:bodyPr/>
          <a:lstStyle>
            <a:lvl1pPr algn="l">
              <a:defRPr sz="2000" b="1"/>
            </a:lvl1pPr>
          </a:lstStyle>
          <a:p>
            <a:r>
              <a:rPr lang="en-US" smtClean="0"/>
              <a:t>Click to edit Master title style</a:t>
            </a:r>
            <a:endParaRPr lang="sv-SE"/>
          </a:p>
        </p:txBody>
      </p:sp>
      <p:sp>
        <p:nvSpPr>
          <p:cNvPr id="3" name="Platshållare för bild 2"/>
          <p:cNvSpPr>
            <a:spLocks noGrp="1"/>
          </p:cNvSpPr>
          <p:nvPr>
            <p:ph type="pic" idx="1"/>
          </p:nvPr>
        </p:nvSpPr>
        <p:spPr>
          <a:xfrm>
            <a:off x="2549525" y="871538"/>
            <a:ext cx="7802563" cy="5851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sv-SE"/>
          </a:p>
        </p:txBody>
      </p:sp>
      <p:sp>
        <p:nvSpPr>
          <p:cNvPr id="4" name="Platshållare för text 3"/>
          <p:cNvSpPr>
            <a:spLocks noGrp="1"/>
          </p:cNvSpPr>
          <p:nvPr>
            <p:ph type="body" sz="half" idx="2"/>
          </p:nvPr>
        </p:nvSpPr>
        <p:spPr>
          <a:xfrm>
            <a:off x="2549525" y="7634288"/>
            <a:ext cx="7802563" cy="11445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Platshållare för bildnummer 4"/>
          <p:cNvSpPr>
            <a:spLocks noGrp="1"/>
          </p:cNvSpPr>
          <p:nvPr>
            <p:ph type="sldNum" sz="quarter" idx="10"/>
          </p:nvPr>
        </p:nvSpPr>
        <p:spPr/>
        <p:txBody>
          <a:bodyPr/>
          <a:lstStyle>
            <a:lvl1pPr>
              <a:defRPr smtClean="0"/>
            </a:lvl1pPr>
          </a:lstStyle>
          <a:p>
            <a:fld id="{83E64A99-B461-BA4C-9D82-75DADCF00FFF}" type="slidenum">
              <a:rPr lang="en-US"/>
              <a:pPr/>
              <a:t>‹n.›</a:t>
            </a:fld>
            <a:endParaRPr lang="en-US"/>
          </a:p>
        </p:txBody>
      </p:sp>
    </p:spTree>
  </p:cSld>
  <p:clrMapOvr>
    <a:masterClrMapping/>
  </p:clrMapOvr>
  <p:transition xmlns:p14="http://schemas.microsoft.com/office/powerpoint/2010/mai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smtClean="0"/>
              <a:t>Click to edit Master title style</a:t>
            </a:r>
            <a:endParaRPr lang="sv-SE"/>
          </a:p>
        </p:txBody>
      </p:sp>
      <p:sp>
        <p:nvSpPr>
          <p:cNvPr id="3" name="Platshållare för lodrät text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bildnummer 3"/>
          <p:cNvSpPr>
            <a:spLocks noGrp="1"/>
          </p:cNvSpPr>
          <p:nvPr>
            <p:ph type="sldNum" sz="quarter" idx="10"/>
          </p:nvPr>
        </p:nvSpPr>
        <p:spPr/>
        <p:txBody>
          <a:bodyPr/>
          <a:lstStyle>
            <a:lvl1pPr>
              <a:defRPr smtClean="0"/>
            </a:lvl1pPr>
          </a:lstStyle>
          <a:p>
            <a:fld id="{7F649304-BE25-E542-A1C6-DC2C9892ACD1}" type="slidenum">
              <a:rPr lang="en-US"/>
              <a:pPr/>
              <a:t>‹n.›</a:t>
            </a:fld>
            <a:endParaRPr lang="en-US"/>
          </a:p>
        </p:txBody>
      </p:sp>
    </p:spTree>
  </p:cSld>
  <p:clrMapOvr>
    <a:masterClrMapping/>
  </p:clrMapOvr>
  <p:transition xmlns:p14="http://schemas.microsoft.com/office/powerpoint/2010/mai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8191500" y="558800"/>
            <a:ext cx="2336800" cy="7200900"/>
          </a:xfrm>
        </p:spPr>
        <p:txBody>
          <a:bodyPr vert="eaVert"/>
          <a:lstStyle/>
          <a:p>
            <a:r>
              <a:rPr lang="en-US" smtClean="0"/>
              <a:t>Click to edit Master title style</a:t>
            </a:r>
            <a:endParaRPr lang="sv-SE"/>
          </a:p>
        </p:txBody>
      </p:sp>
      <p:sp>
        <p:nvSpPr>
          <p:cNvPr id="3" name="Platshållare för lodrät text 2"/>
          <p:cNvSpPr>
            <a:spLocks noGrp="1"/>
          </p:cNvSpPr>
          <p:nvPr>
            <p:ph type="body" orient="vert" idx="1"/>
          </p:nvPr>
        </p:nvSpPr>
        <p:spPr>
          <a:xfrm>
            <a:off x="1181100" y="558800"/>
            <a:ext cx="6858000" cy="72009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bildnummer 3"/>
          <p:cNvSpPr>
            <a:spLocks noGrp="1"/>
          </p:cNvSpPr>
          <p:nvPr>
            <p:ph type="sldNum" sz="quarter" idx="10"/>
          </p:nvPr>
        </p:nvSpPr>
        <p:spPr/>
        <p:txBody>
          <a:bodyPr/>
          <a:lstStyle>
            <a:lvl1pPr>
              <a:defRPr smtClean="0"/>
            </a:lvl1pPr>
          </a:lstStyle>
          <a:p>
            <a:fld id="{5C47028C-E13F-0A40-811C-2A02C395A461}" type="slidenum">
              <a:rPr lang="en-US"/>
              <a:pPr/>
              <a:t>‹n.›</a:t>
            </a:fld>
            <a:endParaRPr lang="en-US"/>
          </a:p>
        </p:txBody>
      </p:sp>
    </p:spTree>
  </p:cSld>
  <p:clrMapOvr>
    <a:masterClrMapping/>
  </p:clrMapOvr>
  <p:transition xmlns:p14="http://schemas.microsoft.com/office/powerpoint/2010/mai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Rubrik och innehåll">
    <p:spTree>
      <p:nvGrpSpPr>
        <p:cNvPr id="1" name=""/>
        <p:cNvGrpSpPr/>
        <p:nvPr/>
      </p:nvGrpSpPr>
      <p:grpSpPr>
        <a:xfrm>
          <a:off x="0" y="0"/>
          <a:ext cx="0" cy="0"/>
          <a:chOff x="0" y="0"/>
          <a:chExt cx="0" cy="0"/>
        </a:xfrm>
      </p:grpSpPr>
      <p:sp>
        <p:nvSpPr>
          <p:cNvPr id="2" name="Rubrik 1"/>
          <p:cNvSpPr>
            <a:spLocks noGrp="1"/>
          </p:cNvSpPr>
          <p:nvPr>
            <p:ph type="title"/>
          </p:nvPr>
        </p:nvSpPr>
        <p:spPr>
          <a:xfrm>
            <a:off x="2806700" y="254005"/>
            <a:ext cx="9677400" cy="1140595"/>
          </a:xfrm>
          <a:prstGeom prst="rect">
            <a:avLst/>
          </a:prstGeom>
        </p:spPr>
        <p:txBody>
          <a:bodyPr lIns="91415" tIns="45708" rIns="91415" bIns="45708"/>
          <a:lstStyle>
            <a:lvl1pPr>
              <a:defRPr sz="4000">
                <a:solidFill>
                  <a:srgbClr val="333399"/>
                </a:solidFill>
                <a:latin typeface="Papyrus"/>
                <a:cs typeface="Papyrus"/>
              </a:defRPr>
            </a:lvl1pPr>
          </a:lstStyle>
          <a:p>
            <a:r>
              <a:rPr lang="sv-SE" dirty="0" smtClean="0"/>
              <a:t>Klicka här för att ändra format</a:t>
            </a:r>
            <a:endParaRPr lang="sv-SE" dirty="0"/>
          </a:p>
        </p:txBody>
      </p:sp>
    </p:spTree>
    <p:extLst>
      <p:ext uri="{BB962C8B-B14F-4D97-AF65-F5344CB8AC3E}">
        <p14:creationId xmlns:p14="http://schemas.microsoft.com/office/powerpoint/2010/main" val="3302486717"/>
      </p:ext>
    </p:extLst>
  </p:cSld>
  <p:clrMapOvr>
    <a:masterClrMapping/>
  </p:clrMapOvr>
  <p:transition xmlns:p14="http://schemas.microsoft.com/office/powerpoint/2010/mai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2.jpeg"/><Relationship Id="rId15" Type="http://schemas.openxmlformats.org/officeDocument/2006/relationships/image" Target="../media/image3.png"/><Relationship Id="rId16"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49" name="Picture 1"/>
          <p:cNvPicPr>
            <a:picLocks noChangeAspect="1" noChangeArrowheads="1"/>
          </p:cNvPicPr>
          <p:nvPr/>
        </p:nvPicPr>
        <p:blipFill>
          <a:blip r:embed="rId14"/>
          <a:srcRect/>
          <a:stretch>
            <a:fillRect/>
          </a:stretch>
        </p:blipFill>
        <p:spPr bwMode="auto">
          <a:xfrm>
            <a:off x="1590675" y="1193800"/>
            <a:ext cx="11566525" cy="8674100"/>
          </a:xfrm>
          <a:prstGeom prst="rect">
            <a:avLst/>
          </a:prstGeom>
          <a:noFill/>
          <a:ln w="12700" cap="flat">
            <a:noFill/>
            <a:miter lim="800000"/>
            <a:headEnd/>
            <a:tailEnd/>
          </a:ln>
        </p:spPr>
      </p:pic>
      <p:sp>
        <p:nvSpPr>
          <p:cNvPr id="2050" name="Rectangle 2"/>
          <p:cNvSpPr>
            <a:spLocks/>
          </p:cNvSpPr>
          <p:nvPr/>
        </p:nvSpPr>
        <p:spPr bwMode="auto">
          <a:xfrm>
            <a:off x="10623550" y="9053264"/>
            <a:ext cx="584200" cy="266700"/>
          </a:xfrm>
          <a:prstGeom prst="rect">
            <a:avLst/>
          </a:prstGeom>
          <a:noFill/>
          <a:ln w="12700" cap="flat">
            <a:noFill/>
            <a:miter lim="800000"/>
            <a:headEnd type="none" w="med" len="med"/>
            <a:tailEnd type="none" w="med" len="med"/>
          </a:ln>
        </p:spPr>
        <p:txBody>
          <a:bodyPr wrap="none" lIns="0" tIns="0" rIns="0" bIns="0" anchor="ctr">
            <a:prstTxWarp prst="textNoShape">
              <a:avLst/>
            </a:prstTxWarp>
            <a:spAutoFit/>
          </a:bodyPr>
          <a:lstStyle/>
          <a:p>
            <a:r>
              <a:rPr lang="en-US" sz="1800" b="1">
                <a:solidFill>
                  <a:srgbClr val="1C405B"/>
                </a:solidFill>
                <a:latin typeface="Lucida Grande" charset="0"/>
                <a:ea typeface="Lucida Grande" charset="0"/>
                <a:cs typeface="Lucida Grande" charset="0"/>
                <a:sym typeface="Lucida Grande" charset="0"/>
              </a:rPr>
              <a:t>page</a:t>
            </a:r>
          </a:p>
        </p:txBody>
      </p:sp>
      <p:sp>
        <p:nvSpPr>
          <p:cNvPr id="2051" name="Rectangle 3"/>
          <p:cNvSpPr>
            <a:spLocks noGrp="1" noChangeArrowheads="1"/>
          </p:cNvSpPr>
          <p:nvPr>
            <p:ph type="body" idx="1"/>
          </p:nvPr>
        </p:nvSpPr>
        <p:spPr bwMode="auto">
          <a:xfrm>
            <a:off x="1181100" y="2971800"/>
            <a:ext cx="7467600" cy="4787900"/>
          </a:xfrm>
          <a:prstGeom prst="rect">
            <a:avLst/>
          </a:prstGeom>
          <a:noFill/>
          <a:ln w="12700">
            <a:noFill/>
            <a:miter lim="800000"/>
            <a:headEnd/>
            <a:tailEnd/>
          </a:ln>
          <a:effectLst/>
        </p:spPr>
        <p:txBody>
          <a:bodyPr vert="horz" wrap="square" lIns="0" tIns="0" rIns="0" bIns="0" numCol="1" anchor="t" anchorCtr="0" compatLnSpc="1">
            <a:prstTxWarp prst="textNoShape">
              <a:avLst/>
            </a:prstTxWarp>
          </a:bodyPr>
          <a:lstStyle/>
          <a:p>
            <a:pPr lvl="0"/>
            <a:r>
              <a:rPr lang="en-US" dirty="0">
                <a:sym typeface="TitilliumText14L Bold" pitchFamily="-64" charset="0"/>
              </a:rPr>
              <a:t>Click to edit Master text styles</a:t>
            </a:r>
          </a:p>
          <a:p>
            <a:pPr lvl="1"/>
            <a:r>
              <a:rPr lang="en-US" dirty="0">
                <a:sym typeface="TitilliumText14L Bold" pitchFamily="-64" charset="0"/>
              </a:rPr>
              <a:t>Second level</a:t>
            </a:r>
          </a:p>
          <a:p>
            <a:pPr lvl="2"/>
            <a:r>
              <a:rPr lang="en-US" dirty="0">
                <a:sym typeface="TitilliumText14L Bold" pitchFamily="-64" charset="0"/>
              </a:rPr>
              <a:t>Third level</a:t>
            </a:r>
          </a:p>
          <a:p>
            <a:pPr lvl="3"/>
            <a:r>
              <a:rPr lang="en-US" dirty="0">
                <a:sym typeface="TitilliumText14L Bold" pitchFamily="-64" charset="0"/>
              </a:rPr>
              <a:t>Fourth </a:t>
            </a:r>
            <a:r>
              <a:rPr lang="en-US" dirty="0" smtClean="0">
                <a:sym typeface="TitilliumText14L Bold" pitchFamily="-64" charset="0"/>
              </a:rPr>
              <a:t>level</a:t>
            </a:r>
            <a:endParaRPr lang="en-US" dirty="0">
              <a:sym typeface="TitilliumText14L Bold" pitchFamily="-64" charset="0"/>
            </a:endParaRPr>
          </a:p>
        </p:txBody>
      </p:sp>
      <p:sp>
        <p:nvSpPr>
          <p:cNvPr id="2052" name="Rectangle 4"/>
          <p:cNvSpPr>
            <a:spLocks noGrp="1" noChangeArrowheads="1"/>
          </p:cNvSpPr>
          <p:nvPr>
            <p:ph type="title"/>
          </p:nvPr>
        </p:nvSpPr>
        <p:spPr bwMode="auto">
          <a:xfrm>
            <a:off x="2109912" y="558800"/>
            <a:ext cx="9505056" cy="1509688"/>
          </a:xfrm>
          <a:prstGeom prst="rect">
            <a:avLst/>
          </a:prstGeom>
          <a:noFill/>
          <a:ln w="12700">
            <a:noFill/>
            <a:miter lim="800000"/>
            <a:headEnd/>
            <a:tailEnd/>
          </a:ln>
          <a:effectLst/>
        </p:spPr>
        <p:txBody>
          <a:bodyPr vert="horz" wrap="square" lIns="0" tIns="0" rIns="0" bIns="0" numCol="1" anchor="b" anchorCtr="0" compatLnSpc="1">
            <a:prstTxWarp prst="textNoShape">
              <a:avLst/>
            </a:prstTxWarp>
          </a:bodyPr>
          <a:lstStyle/>
          <a:p>
            <a:pPr lvl="0"/>
            <a:r>
              <a:rPr lang="en-US" smtClean="0">
                <a:sym typeface="TitilliumText14L 600 wt" pitchFamily="-64" charset="0"/>
              </a:rPr>
              <a:t>Click to edit Master title style</a:t>
            </a:r>
            <a:endParaRPr lang="en-US" dirty="0">
              <a:sym typeface="TitilliumText14L 600 wt" pitchFamily="-64" charset="0"/>
            </a:endParaRPr>
          </a:p>
        </p:txBody>
      </p:sp>
      <p:sp>
        <p:nvSpPr>
          <p:cNvPr id="2053" name="Text Box 5"/>
          <p:cNvSpPr txBox="1">
            <a:spLocks noGrp="1" noChangeArrowheads="1"/>
          </p:cNvSpPr>
          <p:nvPr>
            <p:ph type="sldNum" sz="quarter" idx="4"/>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‹n.›</a:t>
            </a:fld>
            <a:endParaRPr lang="en-US" dirty="0"/>
          </a:p>
        </p:txBody>
      </p:sp>
      <p:pic>
        <p:nvPicPr>
          <p:cNvPr id="2054" name="Picture 6"/>
          <p:cNvPicPr>
            <a:picLocks noChangeAspect="1" noChangeArrowheads="1"/>
          </p:cNvPicPr>
          <p:nvPr/>
        </p:nvPicPr>
        <p:blipFill>
          <a:blip r:embed="rId15"/>
          <a:srcRect/>
          <a:stretch>
            <a:fillRect/>
          </a:stretch>
        </p:blipFill>
        <p:spPr bwMode="auto">
          <a:xfrm>
            <a:off x="381000" y="419100"/>
            <a:ext cx="1693863" cy="901700"/>
          </a:xfrm>
          <a:prstGeom prst="rect">
            <a:avLst/>
          </a:prstGeom>
          <a:noFill/>
          <a:ln w="12700" cap="flat">
            <a:noFill/>
            <a:miter lim="800000"/>
            <a:headEnd/>
            <a:tailEnd/>
          </a:ln>
        </p:spPr>
      </p:pic>
      <p:pic>
        <p:nvPicPr>
          <p:cNvPr id="8" name="Picture 144" descr="logoinfn"/>
          <p:cNvPicPr>
            <a:picLocks noChangeAspect="1" noChangeArrowheads="1"/>
          </p:cNvPicPr>
          <p:nvPr userDrawn="1"/>
        </p:nvPicPr>
        <p:blipFill>
          <a:blip r:embed="rId1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206758" y="52264"/>
            <a:ext cx="1704354" cy="131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700" r:id="rId12"/>
  </p:sldLayoutIdLst>
  <p:transition xmlns:p14="http://schemas.microsoft.com/office/powerpoint/2010/main"/>
  <p:timing>
    <p:tnLst>
      <p:par>
        <p:cTn xmlns:p14="http://schemas.microsoft.com/office/powerpoint/2010/main" id="1" dur="indefinite" restart="never" nodeType="tmRoot"/>
      </p:par>
    </p:tnLst>
  </p:timing>
  <p:hf sldNum="0" hdr="0" ftr="0" dt="0"/>
  <p:txStyles>
    <p:titleStyle>
      <a:lvl1pPr algn="l" rtl="0" eaLnBrk="1" fontAlgn="base" hangingPunct="1">
        <a:spcBef>
          <a:spcPct val="0"/>
        </a:spcBef>
        <a:spcAft>
          <a:spcPct val="0"/>
        </a:spcAft>
        <a:defRPr sz="4800">
          <a:solidFill>
            <a:srgbClr val="1C405B"/>
          </a:solidFill>
          <a:latin typeface="+mj-lt"/>
          <a:ea typeface="+mj-ea"/>
          <a:cs typeface="+mj-cs"/>
          <a:sym typeface="TitilliumText14L 600 wt" pitchFamily="-64" charset="0"/>
        </a:defRPr>
      </a:lvl1pPr>
      <a:lvl2pPr algn="l" rtl="0" eaLnBrk="1" fontAlgn="base" hangingPunct="1">
        <a:spcBef>
          <a:spcPct val="0"/>
        </a:spcBef>
        <a:spcAft>
          <a:spcPct val="0"/>
        </a:spcAft>
        <a:defRPr sz="4800">
          <a:solidFill>
            <a:srgbClr val="1C405B"/>
          </a:solidFill>
          <a:latin typeface="TitilliumText14L 600 wt" pitchFamily="-64" charset="0"/>
          <a:ea typeface="ヒラギノ角ゴ ProN W6" charset="-128"/>
          <a:cs typeface="ヒラギノ角ゴ ProN W6" charset="-128"/>
          <a:sym typeface="TitilliumText14L 600 wt" pitchFamily="-64" charset="0"/>
        </a:defRPr>
      </a:lvl2pPr>
      <a:lvl3pPr algn="l" rtl="0" eaLnBrk="1" fontAlgn="base" hangingPunct="1">
        <a:spcBef>
          <a:spcPct val="0"/>
        </a:spcBef>
        <a:spcAft>
          <a:spcPct val="0"/>
        </a:spcAft>
        <a:defRPr sz="4800">
          <a:solidFill>
            <a:srgbClr val="1C405B"/>
          </a:solidFill>
          <a:latin typeface="TitilliumText14L 600 wt" pitchFamily="-64" charset="0"/>
          <a:ea typeface="ヒラギノ角ゴ ProN W6" charset="-128"/>
          <a:cs typeface="ヒラギノ角ゴ ProN W6" charset="-128"/>
          <a:sym typeface="TitilliumText14L 600 wt" pitchFamily="-64" charset="0"/>
        </a:defRPr>
      </a:lvl3pPr>
      <a:lvl4pPr algn="l" rtl="0" eaLnBrk="1" fontAlgn="base" hangingPunct="1">
        <a:spcBef>
          <a:spcPct val="0"/>
        </a:spcBef>
        <a:spcAft>
          <a:spcPct val="0"/>
        </a:spcAft>
        <a:defRPr sz="4800">
          <a:solidFill>
            <a:srgbClr val="1C405B"/>
          </a:solidFill>
          <a:latin typeface="TitilliumText14L 600 wt" pitchFamily="-64" charset="0"/>
          <a:ea typeface="ヒラギノ角ゴ ProN W6" charset="-128"/>
          <a:cs typeface="ヒラギノ角ゴ ProN W6" charset="-128"/>
          <a:sym typeface="TitilliumText14L 600 wt" pitchFamily="-64" charset="0"/>
        </a:defRPr>
      </a:lvl4pPr>
      <a:lvl5pPr algn="l" rtl="0" eaLnBrk="1" fontAlgn="base" hangingPunct="1">
        <a:spcBef>
          <a:spcPct val="0"/>
        </a:spcBef>
        <a:spcAft>
          <a:spcPct val="0"/>
        </a:spcAft>
        <a:defRPr sz="4800">
          <a:solidFill>
            <a:srgbClr val="1C405B"/>
          </a:solidFill>
          <a:latin typeface="TitilliumText14L 600 wt" pitchFamily="-64" charset="0"/>
          <a:ea typeface="ヒラギノ角ゴ ProN W6" charset="-128"/>
          <a:cs typeface="ヒラギノ角ゴ ProN W6" charset="-128"/>
          <a:sym typeface="TitilliumText14L 600 wt" pitchFamily="-64" charset="0"/>
        </a:defRPr>
      </a:lvl5pPr>
      <a:lvl6pPr marL="457200" algn="l" rtl="0" eaLnBrk="1" fontAlgn="base" hangingPunct="1">
        <a:spcBef>
          <a:spcPct val="0"/>
        </a:spcBef>
        <a:spcAft>
          <a:spcPct val="0"/>
        </a:spcAft>
        <a:defRPr sz="4800">
          <a:solidFill>
            <a:srgbClr val="1C405B"/>
          </a:solidFill>
          <a:latin typeface="TitilliumText14L 600 wt" pitchFamily="-64" charset="0"/>
          <a:ea typeface="ヒラギノ角ゴ ProN W6" charset="-128"/>
          <a:cs typeface="ヒラギノ角ゴ ProN W6" charset="-128"/>
          <a:sym typeface="TitilliumText14L 600 wt" pitchFamily="-64" charset="0"/>
        </a:defRPr>
      </a:lvl6pPr>
      <a:lvl7pPr marL="914400" algn="l" rtl="0" eaLnBrk="1" fontAlgn="base" hangingPunct="1">
        <a:spcBef>
          <a:spcPct val="0"/>
        </a:spcBef>
        <a:spcAft>
          <a:spcPct val="0"/>
        </a:spcAft>
        <a:defRPr sz="4800">
          <a:solidFill>
            <a:srgbClr val="1C405B"/>
          </a:solidFill>
          <a:latin typeface="TitilliumText14L 600 wt" pitchFamily="-64" charset="0"/>
          <a:ea typeface="ヒラギノ角ゴ ProN W6" charset="-128"/>
          <a:cs typeface="ヒラギノ角ゴ ProN W6" charset="-128"/>
          <a:sym typeface="TitilliumText14L 600 wt" pitchFamily="-64" charset="0"/>
        </a:defRPr>
      </a:lvl7pPr>
      <a:lvl8pPr marL="1371600" algn="l" rtl="0" eaLnBrk="1" fontAlgn="base" hangingPunct="1">
        <a:spcBef>
          <a:spcPct val="0"/>
        </a:spcBef>
        <a:spcAft>
          <a:spcPct val="0"/>
        </a:spcAft>
        <a:defRPr sz="4800">
          <a:solidFill>
            <a:srgbClr val="1C405B"/>
          </a:solidFill>
          <a:latin typeface="TitilliumText14L 600 wt" pitchFamily="-64" charset="0"/>
          <a:ea typeface="ヒラギノ角ゴ ProN W6" charset="-128"/>
          <a:cs typeface="ヒラギノ角ゴ ProN W6" charset="-128"/>
          <a:sym typeface="TitilliumText14L 600 wt" pitchFamily="-64" charset="0"/>
        </a:defRPr>
      </a:lvl8pPr>
      <a:lvl9pPr marL="1828800" algn="l" rtl="0" eaLnBrk="1" fontAlgn="base" hangingPunct="1">
        <a:spcBef>
          <a:spcPct val="0"/>
        </a:spcBef>
        <a:spcAft>
          <a:spcPct val="0"/>
        </a:spcAft>
        <a:defRPr sz="4800">
          <a:solidFill>
            <a:srgbClr val="1C405B"/>
          </a:solidFill>
          <a:latin typeface="TitilliumText14L 600 wt" pitchFamily="-64" charset="0"/>
          <a:ea typeface="ヒラギノ角ゴ ProN W6" charset="-128"/>
          <a:cs typeface="ヒラギノ角ゴ ProN W6" charset="-128"/>
          <a:sym typeface="TitilliumText14L 600 wt" pitchFamily="-64" charset="0"/>
        </a:defRPr>
      </a:lvl9pPr>
    </p:titleStyle>
    <p:bodyStyle>
      <a:lvl1pPr marL="365125" indent="-365125" algn="l" rtl="0" eaLnBrk="1" fontAlgn="base" hangingPunct="1">
        <a:spcBef>
          <a:spcPts val="1000"/>
        </a:spcBef>
        <a:spcAft>
          <a:spcPct val="0"/>
        </a:spcAft>
        <a:buClr>
          <a:srgbClr val="57ABE7"/>
        </a:buClr>
        <a:buSzPct val="125000"/>
        <a:buFont typeface="TitilliumText14L Bold" pitchFamily="-64" charset="0"/>
        <a:buChar char="&gt;"/>
        <a:defRPr sz="2800">
          <a:solidFill>
            <a:schemeClr val="tx1"/>
          </a:solidFill>
          <a:latin typeface="+mn-lt"/>
          <a:ea typeface="+mn-ea"/>
          <a:cs typeface="+mn-cs"/>
          <a:sym typeface="TitilliumText14L Bold" pitchFamily="-64" charset="0"/>
        </a:defRPr>
      </a:lvl1pPr>
      <a:lvl2pPr marL="612000" indent="-274638" algn="l" rtl="0" eaLnBrk="1" fontAlgn="base" hangingPunct="1">
        <a:spcBef>
          <a:spcPts val="600"/>
        </a:spcBef>
        <a:spcAft>
          <a:spcPct val="0"/>
        </a:spcAft>
        <a:buClr>
          <a:srgbClr val="57ABE7"/>
        </a:buClr>
        <a:buSzPct val="125000"/>
        <a:buFont typeface="Arial" pitchFamily="34" charset="0"/>
        <a:buChar char="•"/>
        <a:defRPr sz="2400">
          <a:solidFill>
            <a:schemeClr val="tx1"/>
          </a:solidFill>
          <a:latin typeface="+mn-lt"/>
          <a:ea typeface="+mn-ea"/>
          <a:cs typeface="+mn-cs"/>
          <a:sym typeface="TitilliumText14L Bold" pitchFamily="-64" charset="0"/>
        </a:defRPr>
      </a:lvl2pPr>
      <a:lvl3pPr marL="990600" indent="-274638" algn="l" defTabSz="715963" rtl="0" eaLnBrk="1" fontAlgn="base" hangingPunct="1">
        <a:spcBef>
          <a:spcPts val="600"/>
        </a:spcBef>
        <a:spcAft>
          <a:spcPct val="0"/>
        </a:spcAft>
        <a:buClr>
          <a:srgbClr val="57ABE7"/>
        </a:buClr>
        <a:buSzPct val="125000"/>
        <a:buFont typeface="Arial" pitchFamily="34" charset="0"/>
        <a:buChar char="•"/>
        <a:defRPr sz="2000">
          <a:solidFill>
            <a:schemeClr val="tx1"/>
          </a:solidFill>
          <a:latin typeface="+mn-lt"/>
          <a:ea typeface="+mn-ea"/>
          <a:cs typeface="+mn-cs"/>
          <a:sym typeface="TitilliumText14L Bold" pitchFamily="-64" charset="0"/>
        </a:defRPr>
      </a:lvl3pPr>
      <a:lvl4pPr marL="1431925" indent="-349250" algn="l" rtl="0" eaLnBrk="1" fontAlgn="base" hangingPunct="1">
        <a:spcBef>
          <a:spcPts val="600"/>
        </a:spcBef>
        <a:spcAft>
          <a:spcPct val="0"/>
        </a:spcAft>
        <a:buClr>
          <a:srgbClr val="57ABE7"/>
        </a:buClr>
        <a:buSzPct val="125000"/>
        <a:buFont typeface="Arial" pitchFamily="34" charset="0"/>
        <a:buChar char="•"/>
        <a:defRPr>
          <a:solidFill>
            <a:schemeClr val="tx1"/>
          </a:solidFill>
          <a:latin typeface="+mn-lt"/>
          <a:ea typeface="+mn-ea"/>
          <a:cs typeface="+mn-cs"/>
          <a:sym typeface="TitilliumText14L Bold" pitchFamily="-64" charset="0"/>
        </a:defRPr>
      </a:lvl4pPr>
      <a:lvl5pPr algn="l" rtl="0" eaLnBrk="1" fontAlgn="base" hangingPunct="1">
        <a:spcBef>
          <a:spcPts val="3500"/>
        </a:spcBef>
        <a:spcAft>
          <a:spcPct val="0"/>
        </a:spcAft>
        <a:buClr>
          <a:srgbClr val="57ABE7"/>
        </a:buClr>
        <a:buSzPct val="125000"/>
        <a:buFont typeface="TitilliumText14L Bold" pitchFamily="-64" charset="0"/>
        <a:defRPr>
          <a:solidFill>
            <a:schemeClr val="tx1"/>
          </a:solidFill>
          <a:latin typeface="+mn-lt"/>
          <a:ea typeface="+mn-ea"/>
          <a:cs typeface="+mn-cs"/>
          <a:sym typeface="TitilliumText14L Bold" pitchFamily="-64" charset="0"/>
        </a:defRPr>
      </a:lvl5pPr>
      <a:lvl6pPr marL="457200" algn="l" rtl="0" eaLnBrk="1" fontAlgn="base" hangingPunct="1">
        <a:spcBef>
          <a:spcPts val="3500"/>
        </a:spcBef>
        <a:spcAft>
          <a:spcPct val="0"/>
        </a:spcAft>
        <a:buClr>
          <a:srgbClr val="57ABE7"/>
        </a:buClr>
        <a:buSzPct val="125000"/>
        <a:buFont typeface="TitilliumText14L Bold" pitchFamily="-64" charset="0"/>
        <a:defRPr>
          <a:solidFill>
            <a:schemeClr val="tx1"/>
          </a:solidFill>
          <a:latin typeface="+mn-lt"/>
          <a:ea typeface="+mn-ea"/>
          <a:cs typeface="+mn-cs"/>
          <a:sym typeface="TitilliumText14L Bold" pitchFamily="-64" charset="0"/>
        </a:defRPr>
      </a:lvl6pPr>
      <a:lvl7pPr marL="914400" algn="l" rtl="0" eaLnBrk="1" fontAlgn="base" hangingPunct="1">
        <a:spcBef>
          <a:spcPts val="3500"/>
        </a:spcBef>
        <a:spcAft>
          <a:spcPct val="0"/>
        </a:spcAft>
        <a:buClr>
          <a:srgbClr val="57ABE7"/>
        </a:buClr>
        <a:buSzPct val="125000"/>
        <a:buFont typeface="TitilliumText14L Bold" pitchFamily="-64" charset="0"/>
        <a:defRPr>
          <a:solidFill>
            <a:schemeClr val="tx1"/>
          </a:solidFill>
          <a:latin typeface="+mn-lt"/>
          <a:ea typeface="+mn-ea"/>
          <a:cs typeface="+mn-cs"/>
          <a:sym typeface="TitilliumText14L Bold" pitchFamily="-64" charset="0"/>
        </a:defRPr>
      </a:lvl7pPr>
      <a:lvl8pPr marL="1371600" algn="l" rtl="0" eaLnBrk="1" fontAlgn="base" hangingPunct="1">
        <a:spcBef>
          <a:spcPts val="3500"/>
        </a:spcBef>
        <a:spcAft>
          <a:spcPct val="0"/>
        </a:spcAft>
        <a:buClr>
          <a:srgbClr val="57ABE7"/>
        </a:buClr>
        <a:buSzPct val="125000"/>
        <a:buFont typeface="TitilliumText14L Bold" pitchFamily="-64" charset="0"/>
        <a:defRPr>
          <a:solidFill>
            <a:schemeClr val="tx1"/>
          </a:solidFill>
          <a:latin typeface="+mn-lt"/>
          <a:ea typeface="+mn-ea"/>
          <a:cs typeface="+mn-cs"/>
          <a:sym typeface="TitilliumText14L Bold" pitchFamily="-64" charset="0"/>
        </a:defRPr>
      </a:lvl8pPr>
      <a:lvl9pPr marL="1828800" algn="l" rtl="0" eaLnBrk="1" fontAlgn="base" hangingPunct="1">
        <a:spcBef>
          <a:spcPts val="3500"/>
        </a:spcBef>
        <a:spcAft>
          <a:spcPct val="0"/>
        </a:spcAft>
        <a:buClr>
          <a:srgbClr val="57ABE7"/>
        </a:buClr>
        <a:buSzPct val="125000"/>
        <a:buFont typeface="TitilliumText14L Bold" pitchFamily="-64" charset="0"/>
        <a:defRPr>
          <a:solidFill>
            <a:schemeClr val="tx1"/>
          </a:solidFill>
          <a:latin typeface="+mn-lt"/>
          <a:ea typeface="+mn-ea"/>
          <a:cs typeface="+mn-cs"/>
          <a:sym typeface="TitilliumText14L Bold" pitchFamily="-64" charset="0"/>
        </a:defRPr>
      </a:lvl9pPr>
    </p:bodyStyle>
    <p:other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7.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jpe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package" Target="../embeddings/Documento_di_Microsoft_Word1.docx"/><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jpeg"/><Relationship Id="rId1" Type="http://schemas.openxmlformats.org/officeDocument/2006/relationships/vmlDrawing" Target="../drawings/vmlDrawing1.vml"/><Relationship Id="rId2"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jpg"/></Relationships>
</file>

<file path=ppt/slides/_rels/slide23.xml.rels><?xml version="1.0" encoding="UTF-8" standalone="yes"?>
<Relationships xmlns="http://schemas.openxmlformats.org/package/2006/relationships"><Relationship Id="rId3" Type="http://schemas.openxmlformats.org/officeDocument/2006/relationships/image" Target="../media/image18.emf"/><Relationship Id="rId4" Type="http://schemas.openxmlformats.org/officeDocument/2006/relationships/image" Target="../media/image19.emf"/><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8.xml"/><Relationship Id="rId4" Type="http://schemas.openxmlformats.org/officeDocument/2006/relationships/oleObject" Target="../embeddings/oleObject2.bin"/><Relationship Id="rId5" Type="http://schemas.openxmlformats.org/officeDocument/2006/relationships/oleObject" Target="../embeddings/Foglio_di_lavoro_di_Excel_97_-_20041.xls"/><Relationship Id="rId6" Type="http://schemas.openxmlformats.org/officeDocument/2006/relationships/image" Target="../media/image20.png"/><Relationship Id="rId7" Type="http://schemas.openxmlformats.org/officeDocument/2006/relationships/image" Target="../media/image21.jpeg"/><Relationship Id="rId8" Type="http://schemas.openxmlformats.org/officeDocument/2006/relationships/image" Target="../media/image22.jpeg"/><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4" Type="http://schemas.openxmlformats.org/officeDocument/2006/relationships/image" Target="../media/image27.jpeg"/><Relationship Id="rId1" Type="http://schemas.openxmlformats.org/officeDocument/2006/relationships/slideLayout" Target="../slideLayouts/slideLayout1.xml"/><Relationship Id="rId2" Type="http://schemas.openxmlformats.org/officeDocument/2006/relationships/image" Target="../media/image25.jpeg"/></Relationships>
</file>

<file path=ppt/slides/_rels/slide29.xml.rels><?xml version="1.0" encoding="UTF-8" standalone="yes"?>
<Relationships xmlns="http://schemas.openxmlformats.org/package/2006/relationships"><Relationship Id="rId3" Type="http://schemas.openxmlformats.org/officeDocument/2006/relationships/image" Target="../media/image28.jpeg"/><Relationship Id="rId4" Type="http://schemas.openxmlformats.org/officeDocument/2006/relationships/image" Target="../media/image29.jpeg"/><Relationship Id="rId5" Type="http://schemas.openxmlformats.org/officeDocument/2006/relationships/image" Target="../media/image30.jpeg"/><Relationship Id="rId6" Type="http://schemas.openxmlformats.org/officeDocument/2006/relationships/image" Target="../media/image31.jpeg"/><Relationship Id="rId7" Type="http://schemas.openxmlformats.org/officeDocument/2006/relationships/image" Target="../media/image32.png"/><Relationship Id="rId8" Type="http://schemas.openxmlformats.org/officeDocument/2006/relationships/image" Target="../media/image33.jpeg"/><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 Id="rId3"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jpeg"/><Relationship Id="rId3" Type="http://schemas.microsoft.com/office/2007/relationships/hdphoto" Target="../media/hdphoto1.wdp"/></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4"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image" Target="../media/image4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ext Box 10"/>
          <p:cNvSpPr txBox="1">
            <a:spLocks noChangeArrowheads="1"/>
          </p:cNvSpPr>
          <p:nvPr/>
        </p:nvSpPr>
        <p:spPr bwMode="auto">
          <a:xfrm>
            <a:off x="525736" y="2356520"/>
            <a:ext cx="12241360" cy="1608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30046" tIns="65023" rIns="130046" bIns="65023">
            <a:spAutoFit/>
          </a:bodyPr>
          <a:lstStyle>
            <a:lvl1pPr eaLnBrk="0" hangingPunct="0">
              <a:defRPr sz="2400">
                <a:solidFill>
                  <a:schemeClr val="tx1"/>
                </a:solidFill>
                <a:latin typeface="MS UI Gothic" charset="0"/>
                <a:ea typeface="ＭＳ Ｐゴシック" charset="0"/>
                <a:cs typeface="ＭＳ Ｐゴシック" charset="0"/>
              </a:defRPr>
            </a:lvl1pPr>
            <a:lvl2pPr marL="742950" indent="-285750" eaLnBrk="0" hangingPunct="0">
              <a:defRPr sz="2400">
                <a:solidFill>
                  <a:schemeClr val="tx1"/>
                </a:solidFill>
                <a:latin typeface="MS UI Gothic" charset="0"/>
                <a:ea typeface="ＭＳ Ｐゴシック" charset="0"/>
              </a:defRPr>
            </a:lvl2pPr>
            <a:lvl3pPr marL="1143000" indent="-228600" eaLnBrk="0" hangingPunct="0">
              <a:defRPr sz="2400">
                <a:solidFill>
                  <a:schemeClr val="tx1"/>
                </a:solidFill>
                <a:latin typeface="MS UI Gothic" charset="0"/>
                <a:ea typeface="ＭＳ Ｐゴシック" charset="0"/>
              </a:defRPr>
            </a:lvl3pPr>
            <a:lvl4pPr marL="1600200" indent="-228600" eaLnBrk="0" hangingPunct="0">
              <a:defRPr sz="2400">
                <a:solidFill>
                  <a:schemeClr val="tx1"/>
                </a:solidFill>
                <a:latin typeface="MS UI Gothic" charset="0"/>
                <a:ea typeface="ＭＳ Ｐゴシック" charset="0"/>
              </a:defRPr>
            </a:lvl4pPr>
            <a:lvl5pPr marL="2057400" indent="-228600" eaLnBrk="0" hangingPunct="0">
              <a:defRPr sz="2400">
                <a:solidFill>
                  <a:schemeClr val="tx1"/>
                </a:solidFill>
                <a:latin typeface="MS UI Gothic" charset="0"/>
                <a:ea typeface="ＭＳ Ｐゴシック" charset="0"/>
              </a:defRPr>
            </a:lvl5pPr>
            <a:lvl6pPr marL="2514600" indent="-228600" eaLnBrk="0" fontAlgn="base" hangingPunct="0">
              <a:spcBef>
                <a:spcPct val="0"/>
              </a:spcBef>
              <a:spcAft>
                <a:spcPct val="0"/>
              </a:spcAft>
              <a:defRPr sz="2400">
                <a:solidFill>
                  <a:schemeClr val="tx1"/>
                </a:solidFill>
                <a:latin typeface="MS UI Gothic" charset="0"/>
                <a:ea typeface="ＭＳ Ｐゴシック" charset="0"/>
              </a:defRPr>
            </a:lvl6pPr>
            <a:lvl7pPr marL="2971800" indent="-228600" eaLnBrk="0" fontAlgn="base" hangingPunct="0">
              <a:spcBef>
                <a:spcPct val="0"/>
              </a:spcBef>
              <a:spcAft>
                <a:spcPct val="0"/>
              </a:spcAft>
              <a:defRPr sz="2400">
                <a:solidFill>
                  <a:schemeClr val="tx1"/>
                </a:solidFill>
                <a:latin typeface="MS UI Gothic" charset="0"/>
                <a:ea typeface="ＭＳ Ｐゴシック" charset="0"/>
              </a:defRPr>
            </a:lvl7pPr>
            <a:lvl8pPr marL="3429000" indent="-228600" eaLnBrk="0" fontAlgn="base" hangingPunct="0">
              <a:spcBef>
                <a:spcPct val="0"/>
              </a:spcBef>
              <a:spcAft>
                <a:spcPct val="0"/>
              </a:spcAft>
              <a:defRPr sz="2400">
                <a:solidFill>
                  <a:schemeClr val="tx1"/>
                </a:solidFill>
                <a:latin typeface="MS UI Gothic" charset="0"/>
                <a:ea typeface="ＭＳ Ｐゴシック" charset="0"/>
              </a:defRPr>
            </a:lvl8pPr>
            <a:lvl9pPr marL="3886200" indent="-228600" eaLnBrk="0" fontAlgn="base" hangingPunct="0">
              <a:spcBef>
                <a:spcPct val="0"/>
              </a:spcBef>
              <a:spcAft>
                <a:spcPct val="0"/>
              </a:spcAft>
              <a:defRPr sz="2400">
                <a:solidFill>
                  <a:schemeClr val="tx1"/>
                </a:solidFill>
                <a:latin typeface="MS UI Gothic" charset="0"/>
                <a:ea typeface="ＭＳ Ｐゴシック" charset="0"/>
              </a:defRPr>
            </a:lvl9pPr>
          </a:lstStyle>
          <a:p>
            <a:pPr eaLnBrk="1" hangingPunct="1"/>
            <a:r>
              <a:rPr lang="en-US" sz="4800" b="1" dirty="0">
                <a:solidFill>
                  <a:srgbClr val="000090"/>
                </a:solidFill>
                <a:latin typeface="TitilliumText22L 600 wt" pitchFamily="-64" charset="0"/>
                <a:ea typeface="TitilliumText22L 800 wt" pitchFamily="-64" charset="0"/>
                <a:cs typeface="TitilliumText22L 800 wt" pitchFamily="-64" charset="0"/>
              </a:rPr>
              <a:t>The High power proton accelerator for the European Spallation Source (ESS</a:t>
            </a:r>
            <a:r>
              <a:rPr lang="en-US" sz="4800" b="1" dirty="0" smtClean="0">
                <a:solidFill>
                  <a:srgbClr val="000090"/>
                </a:solidFill>
                <a:latin typeface="TitilliumText22L 600 wt" pitchFamily="-64" charset="0"/>
                <a:ea typeface="TitilliumText22L 800 wt" pitchFamily="-64" charset="0"/>
                <a:cs typeface="TitilliumText22L 800 wt" pitchFamily="-64" charset="0"/>
              </a:rPr>
              <a:t>)</a:t>
            </a:r>
            <a:endParaRPr lang="en-US" sz="4800" b="1" dirty="0">
              <a:solidFill>
                <a:srgbClr val="000090"/>
              </a:solidFill>
              <a:ea typeface="TitilliumText22L 400 wt" pitchFamily="-64" charset="0"/>
              <a:cs typeface="TitilliumText22L 400 wt" pitchFamily="-64" charset="0"/>
              <a:sym typeface="TitilliumText22L 400 wt" pitchFamily="-64" charset="0"/>
            </a:endParaRPr>
          </a:p>
        </p:txBody>
      </p:sp>
      <p:sp>
        <p:nvSpPr>
          <p:cNvPr id="14338" name="Text Box 10"/>
          <p:cNvSpPr txBox="1">
            <a:spLocks noChangeArrowheads="1"/>
          </p:cNvSpPr>
          <p:nvPr/>
        </p:nvSpPr>
        <p:spPr bwMode="auto">
          <a:xfrm>
            <a:off x="957784" y="5020816"/>
            <a:ext cx="11162453" cy="623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46" tIns="65023" rIns="130046" bIns="65023">
            <a:spAutoFit/>
          </a:bodyPr>
          <a:lstStyle>
            <a:lvl1pPr eaLnBrk="0" hangingPunct="0">
              <a:defRPr sz="2400">
                <a:solidFill>
                  <a:schemeClr val="tx1"/>
                </a:solidFill>
                <a:latin typeface="MS UI Gothic" charset="0"/>
                <a:ea typeface="ＭＳ Ｐゴシック" charset="0"/>
                <a:cs typeface="ＭＳ Ｐゴシック" charset="0"/>
              </a:defRPr>
            </a:lvl1pPr>
            <a:lvl2pPr marL="742950" indent="-285750" eaLnBrk="0" hangingPunct="0">
              <a:defRPr sz="2400">
                <a:solidFill>
                  <a:schemeClr val="tx1"/>
                </a:solidFill>
                <a:latin typeface="MS UI Gothic" charset="0"/>
                <a:ea typeface="ＭＳ Ｐゴシック" charset="0"/>
              </a:defRPr>
            </a:lvl2pPr>
            <a:lvl3pPr marL="1143000" indent="-228600" eaLnBrk="0" hangingPunct="0">
              <a:defRPr sz="2400">
                <a:solidFill>
                  <a:schemeClr val="tx1"/>
                </a:solidFill>
                <a:latin typeface="MS UI Gothic" charset="0"/>
                <a:ea typeface="ＭＳ Ｐゴシック" charset="0"/>
              </a:defRPr>
            </a:lvl3pPr>
            <a:lvl4pPr marL="1600200" indent="-228600" eaLnBrk="0" hangingPunct="0">
              <a:defRPr sz="2400">
                <a:solidFill>
                  <a:schemeClr val="tx1"/>
                </a:solidFill>
                <a:latin typeface="MS UI Gothic" charset="0"/>
                <a:ea typeface="ＭＳ Ｐゴシック" charset="0"/>
              </a:defRPr>
            </a:lvl4pPr>
            <a:lvl5pPr marL="2057400" indent="-228600" eaLnBrk="0" hangingPunct="0">
              <a:defRPr sz="2400">
                <a:solidFill>
                  <a:schemeClr val="tx1"/>
                </a:solidFill>
                <a:latin typeface="MS UI Gothic" charset="0"/>
                <a:ea typeface="ＭＳ Ｐゴシック" charset="0"/>
              </a:defRPr>
            </a:lvl5pPr>
            <a:lvl6pPr marL="2514600" indent="-228600" eaLnBrk="0" fontAlgn="base" hangingPunct="0">
              <a:spcBef>
                <a:spcPct val="0"/>
              </a:spcBef>
              <a:spcAft>
                <a:spcPct val="0"/>
              </a:spcAft>
              <a:defRPr sz="2400">
                <a:solidFill>
                  <a:schemeClr val="tx1"/>
                </a:solidFill>
                <a:latin typeface="MS UI Gothic" charset="0"/>
                <a:ea typeface="ＭＳ Ｐゴシック" charset="0"/>
              </a:defRPr>
            </a:lvl6pPr>
            <a:lvl7pPr marL="2971800" indent="-228600" eaLnBrk="0" fontAlgn="base" hangingPunct="0">
              <a:spcBef>
                <a:spcPct val="0"/>
              </a:spcBef>
              <a:spcAft>
                <a:spcPct val="0"/>
              </a:spcAft>
              <a:defRPr sz="2400">
                <a:solidFill>
                  <a:schemeClr val="tx1"/>
                </a:solidFill>
                <a:latin typeface="MS UI Gothic" charset="0"/>
                <a:ea typeface="ＭＳ Ｐゴシック" charset="0"/>
              </a:defRPr>
            </a:lvl7pPr>
            <a:lvl8pPr marL="3429000" indent="-228600" eaLnBrk="0" fontAlgn="base" hangingPunct="0">
              <a:spcBef>
                <a:spcPct val="0"/>
              </a:spcBef>
              <a:spcAft>
                <a:spcPct val="0"/>
              </a:spcAft>
              <a:defRPr sz="2400">
                <a:solidFill>
                  <a:schemeClr val="tx1"/>
                </a:solidFill>
                <a:latin typeface="MS UI Gothic" charset="0"/>
                <a:ea typeface="ＭＳ Ｐゴシック" charset="0"/>
              </a:defRPr>
            </a:lvl8pPr>
            <a:lvl9pPr marL="3886200" indent="-228600" eaLnBrk="0" fontAlgn="base" hangingPunct="0">
              <a:spcBef>
                <a:spcPct val="0"/>
              </a:spcBef>
              <a:spcAft>
                <a:spcPct val="0"/>
              </a:spcAft>
              <a:defRPr sz="2400">
                <a:solidFill>
                  <a:schemeClr val="tx1"/>
                </a:solidFill>
                <a:latin typeface="MS UI Gothic" charset="0"/>
                <a:ea typeface="ＭＳ Ｐゴシック" charset="0"/>
              </a:defRPr>
            </a:lvl9pPr>
          </a:lstStyle>
          <a:p>
            <a:pPr algn="ctr" eaLnBrk="1" hangingPunct="1"/>
            <a:r>
              <a:rPr lang="it-IT" sz="3200" b="1" i="1" dirty="0" smtClean="0">
                <a:latin typeface="Arial" charset="0"/>
                <a:cs typeface="Arial" charset="0"/>
              </a:rPr>
              <a:t>S. Gammino</a:t>
            </a:r>
            <a:endParaRPr lang="sv-SE" sz="3200" b="1" i="1" dirty="0">
              <a:latin typeface="Arial" charset="0"/>
              <a:cs typeface="Arial" charset="0"/>
            </a:endParaRPr>
          </a:p>
        </p:txBody>
      </p:sp>
      <p:sp>
        <p:nvSpPr>
          <p:cNvPr id="14339" name="Text Box 10"/>
          <p:cNvSpPr txBox="1">
            <a:spLocks noChangeArrowheads="1"/>
          </p:cNvSpPr>
          <p:nvPr/>
        </p:nvSpPr>
        <p:spPr bwMode="auto">
          <a:xfrm>
            <a:off x="973103" y="7292623"/>
            <a:ext cx="11162453" cy="500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46" tIns="65023" rIns="130046" bIns="65023">
            <a:spAutoFit/>
          </a:bodyPr>
          <a:lstStyle>
            <a:lvl1pPr eaLnBrk="0" hangingPunct="0">
              <a:defRPr sz="2400">
                <a:solidFill>
                  <a:schemeClr val="tx1"/>
                </a:solidFill>
                <a:latin typeface="MS UI Gothic" charset="0"/>
                <a:ea typeface="ＭＳ Ｐゴシック" charset="0"/>
                <a:cs typeface="ＭＳ Ｐゴシック" charset="0"/>
              </a:defRPr>
            </a:lvl1pPr>
            <a:lvl2pPr marL="742950" indent="-285750" eaLnBrk="0" hangingPunct="0">
              <a:defRPr sz="2400">
                <a:solidFill>
                  <a:schemeClr val="tx1"/>
                </a:solidFill>
                <a:latin typeface="MS UI Gothic" charset="0"/>
                <a:ea typeface="ＭＳ Ｐゴシック" charset="0"/>
              </a:defRPr>
            </a:lvl2pPr>
            <a:lvl3pPr marL="1143000" indent="-228600" eaLnBrk="0" hangingPunct="0">
              <a:defRPr sz="2400">
                <a:solidFill>
                  <a:schemeClr val="tx1"/>
                </a:solidFill>
                <a:latin typeface="MS UI Gothic" charset="0"/>
                <a:ea typeface="ＭＳ Ｐゴシック" charset="0"/>
              </a:defRPr>
            </a:lvl3pPr>
            <a:lvl4pPr marL="1600200" indent="-228600" eaLnBrk="0" hangingPunct="0">
              <a:defRPr sz="2400">
                <a:solidFill>
                  <a:schemeClr val="tx1"/>
                </a:solidFill>
                <a:latin typeface="MS UI Gothic" charset="0"/>
                <a:ea typeface="ＭＳ Ｐゴシック" charset="0"/>
              </a:defRPr>
            </a:lvl4pPr>
            <a:lvl5pPr marL="2057400" indent="-228600" eaLnBrk="0" hangingPunct="0">
              <a:defRPr sz="2400">
                <a:solidFill>
                  <a:schemeClr val="tx1"/>
                </a:solidFill>
                <a:latin typeface="MS UI Gothic" charset="0"/>
                <a:ea typeface="ＭＳ Ｐゴシック" charset="0"/>
              </a:defRPr>
            </a:lvl5pPr>
            <a:lvl6pPr marL="2514600" indent="-228600" eaLnBrk="0" fontAlgn="base" hangingPunct="0">
              <a:spcBef>
                <a:spcPct val="0"/>
              </a:spcBef>
              <a:spcAft>
                <a:spcPct val="0"/>
              </a:spcAft>
              <a:defRPr sz="2400">
                <a:solidFill>
                  <a:schemeClr val="tx1"/>
                </a:solidFill>
                <a:latin typeface="MS UI Gothic" charset="0"/>
                <a:ea typeface="ＭＳ Ｐゴシック" charset="0"/>
              </a:defRPr>
            </a:lvl6pPr>
            <a:lvl7pPr marL="2971800" indent="-228600" eaLnBrk="0" fontAlgn="base" hangingPunct="0">
              <a:spcBef>
                <a:spcPct val="0"/>
              </a:spcBef>
              <a:spcAft>
                <a:spcPct val="0"/>
              </a:spcAft>
              <a:defRPr sz="2400">
                <a:solidFill>
                  <a:schemeClr val="tx1"/>
                </a:solidFill>
                <a:latin typeface="MS UI Gothic" charset="0"/>
                <a:ea typeface="ＭＳ Ｐゴシック" charset="0"/>
              </a:defRPr>
            </a:lvl7pPr>
            <a:lvl8pPr marL="3429000" indent="-228600" eaLnBrk="0" fontAlgn="base" hangingPunct="0">
              <a:spcBef>
                <a:spcPct val="0"/>
              </a:spcBef>
              <a:spcAft>
                <a:spcPct val="0"/>
              </a:spcAft>
              <a:defRPr sz="2400">
                <a:solidFill>
                  <a:schemeClr val="tx1"/>
                </a:solidFill>
                <a:latin typeface="MS UI Gothic" charset="0"/>
                <a:ea typeface="ＭＳ Ｐゴシック" charset="0"/>
              </a:defRPr>
            </a:lvl8pPr>
            <a:lvl9pPr marL="3886200" indent="-228600" eaLnBrk="0" fontAlgn="base" hangingPunct="0">
              <a:spcBef>
                <a:spcPct val="0"/>
              </a:spcBef>
              <a:spcAft>
                <a:spcPct val="0"/>
              </a:spcAft>
              <a:defRPr sz="2400">
                <a:solidFill>
                  <a:schemeClr val="tx1"/>
                </a:solidFill>
                <a:latin typeface="MS UI Gothic" charset="0"/>
                <a:ea typeface="ＭＳ Ｐゴシック" charset="0"/>
              </a:defRPr>
            </a:lvl9pPr>
          </a:lstStyle>
          <a:p>
            <a:pPr algn="ctr" eaLnBrk="1" hangingPunct="1"/>
            <a:r>
              <a:rPr lang="sv-SE" dirty="0" smtClean="0">
                <a:latin typeface="Arial" charset="0"/>
                <a:cs typeface="Arial" charset="0"/>
              </a:rPr>
              <a:t>Milano, 9 </a:t>
            </a:r>
            <a:r>
              <a:rPr lang="sv-SE" dirty="0" err="1" smtClean="0">
                <a:latin typeface="Arial" charset="0"/>
                <a:cs typeface="Arial" charset="0"/>
              </a:rPr>
              <a:t>Marzo</a:t>
            </a:r>
            <a:r>
              <a:rPr lang="sv-SE" dirty="0" smtClean="0">
                <a:latin typeface="Arial" charset="0"/>
                <a:cs typeface="Arial" charset="0"/>
              </a:rPr>
              <a:t> 2012</a:t>
            </a:r>
            <a:endParaRPr lang="sv-SE" dirty="0">
              <a:latin typeface="Arial" charset="0"/>
              <a:cs typeface="Arial" charset="0"/>
            </a:endParaRPr>
          </a:p>
        </p:txBody>
      </p:sp>
      <p:sp>
        <p:nvSpPr>
          <p:cNvPr id="5"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1</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Platshållare för bildnummer 1"/>
          <p:cNvSpPr>
            <a:spLocks noGrp="1"/>
          </p:cNvSpPr>
          <p:nvPr>
            <p:ph type="sldNum" sz="quarter" idx="4294967295"/>
          </p:nvPr>
        </p:nvSpPr>
        <p:spPr>
          <a:xfrm>
            <a:off x="975360" y="8886613"/>
            <a:ext cx="2709333" cy="65024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46" tIns="65023" rIns="130046" bIns="65023"/>
          <a:lstStyle>
            <a:lvl1pPr eaLnBrk="0" hangingPunct="0">
              <a:defRPr sz="3400">
                <a:solidFill>
                  <a:schemeClr val="tx1"/>
                </a:solidFill>
                <a:latin typeface="MS UI Gothic" charset="0"/>
                <a:ea typeface="ＭＳ Ｐゴシック" charset="0"/>
                <a:cs typeface="ＭＳ Ｐゴシック" charset="0"/>
              </a:defRPr>
            </a:lvl1pPr>
            <a:lvl2pPr marL="1056623" indent="-406394" eaLnBrk="0" hangingPunct="0">
              <a:defRPr sz="3400">
                <a:solidFill>
                  <a:schemeClr val="tx1"/>
                </a:solidFill>
                <a:latin typeface="MS UI Gothic" charset="0"/>
                <a:ea typeface="ＭＳ Ｐゴシック" charset="0"/>
              </a:defRPr>
            </a:lvl2pPr>
            <a:lvl3pPr marL="1625575" indent="-325115" eaLnBrk="0" hangingPunct="0">
              <a:defRPr sz="3400">
                <a:solidFill>
                  <a:schemeClr val="tx1"/>
                </a:solidFill>
                <a:latin typeface="MS UI Gothic" charset="0"/>
                <a:ea typeface="ＭＳ Ｐゴシック" charset="0"/>
              </a:defRPr>
            </a:lvl3pPr>
            <a:lvl4pPr marL="2275804" indent="-325115" eaLnBrk="0" hangingPunct="0">
              <a:defRPr sz="3400">
                <a:solidFill>
                  <a:schemeClr val="tx1"/>
                </a:solidFill>
                <a:latin typeface="MS UI Gothic" charset="0"/>
                <a:ea typeface="ＭＳ Ｐゴシック" charset="0"/>
              </a:defRPr>
            </a:lvl4pPr>
            <a:lvl5pPr marL="2926034" indent="-325115" eaLnBrk="0" hangingPunct="0">
              <a:defRPr sz="3400">
                <a:solidFill>
                  <a:schemeClr val="tx1"/>
                </a:solidFill>
                <a:latin typeface="MS UI Gothic" charset="0"/>
                <a:ea typeface="ＭＳ Ｐゴシック" charset="0"/>
              </a:defRPr>
            </a:lvl5pPr>
            <a:lvl6pPr marL="3576264" indent="-325115" eaLnBrk="0" fontAlgn="base" hangingPunct="0">
              <a:spcBef>
                <a:spcPct val="0"/>
              </a:spcBef>
              <a:spcAft>
                <a:spcPct val="0"/>
              </a:spcAft>
              <a:defRPr sz="3400">
                <a:solidFill>
                  <a:schemeClr val="tx1"/>
                </a:solidFill>
                <a:latin typeface="MS UI Gothic" charset="0"/>
                <a:ea typeface="ＭＳ Ｐゴシック" charset="0"/>
              </a:defRPr>
            </a:lvl6pPr>
            <a:lvl7pPr marL="4226494" indent="-325115" eaLnBrk="0" fontAlgn="base" hangingPunct="0">
              <a:spcBef>
                <a:spcPct val="0"/>
              </a:spcBef>
              <a:spcAft>
                <a:spcPct val="0"/>
              </a:spcAft>
              <a:defRPr sz="3400">
                <a:solidFill>
                  <a:schemeClr val="tx1"/>
                </a:solidFill>
                <a:latin typeface="MS UI Gothic" charset="0"/>
                <a:ea typeface="ＭＳ Ｐゴシック" charset="0"/>
              </a:defRPr>
            </a:lvl7pPr>
            <a:lvl8pPr marL="4876724" indent="-325115" eaLnBrk="0" fontAlgn="base" hangingPunct="0">
              <a:spcBef>
                <a:spcPct val="0"/>
              </a:spcBef>
              <a:spcAft>
                <a:spcPct val="0"/>
              </a:spcAft>
              <a:defRPr sz="3400">
                <a:solidFill>
                  <a:schemeClr val="tx1"/>
                </a:solidFill>
                <a:latin typeface="MS UI Gothic" charset="0"/>
                <a:ea typeface="ＭＳ Ｐゴシック" charset="0"/>
              </a:defRPr>
            </a:lvl8pPr>
            <a:lvl9pPr marL="5526954" indent="-325115" eaLnBrk="0" fontAlgn="base" hangingPunct="0">
              <a:spcBef>
                <a:spcPct val="0"/>
              </a:spcBef>
              <a:spcAft>
                <a:spcPct val="0"/>
              </a:spcAft>
              <a:defRPr sz="3400">
                <a:solidFill>
                  <a:schemeClr val="tx1"/>
                </a:solidFill>
                <a:latin typeface="MS UI Gothic" charset="0"/>
                <a:ea typeface="ＭＳ Ｐゴシック" charset="0"/>
              </a:defRPr>
            </a:lvl9pPr>
          </a:lstStyle>
          <a:p>
            <a:pPr algn="l" eaLnBrk="1" hangingPunct="1"/>
            <a:fld id="{9110F198-44E3-3640-AD8F-D65C32090920}" type="slidenum">
              <a:rPr lang="sv-SE" sz="1100">
                <a:solidFill>
                  <a:schemeClr val="hlink"/>
                </a:solidFill>
                <a:latin typeface="Arial" charset="0"/>
              </a:rPr>
              <a:pPr algn="l" eaLnBrk="1" hangingPunct="1"/>
              <a:t>2</a:t>
            </a:fld>
            <a:endParaRPr lang="sv-SE" sz="1100">
              <a:solidFill>
                <a:schemeClr val="hlink"/>
              </a:solidFill>
              <a:latin typeface="Arial" charset="0"/>
            </a:endParaRPr>
          </a:p>
        </p:txBody>
      </p:sp>
      <p:pic>
        <p:nvPicPr>
          <p:cNvPr id="2867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89" y="22578"/>
            <a:ext cx="13058988" cy="9789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4"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2</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ext Box 10"/>
          <p:cNvSpPr txBox="1">
            <a:spLocks noChangeArrowheads="1"/>
          </p:cNvSpPr>
          <p:nvPr/>
        </p:nvSpPr>
        <p:spPr bwMode="auto">
          <a:xfrm>
            <a:off x="1074702" y="4671343"/>
            <a:ext cx="11162453" cy="4378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46" tIns="65023" rIns="130046" bIns="65023">
            <a:spAutoFit/>
          </a:bodyPr>
          <a:lstStyle>
            <a:lvl1pPr eaLnBrk="0" hangingPunct="0">
              <a:defRPr sz="2400">
                <a:solidFill>
                  <a:schemeClr val="tx1"/>
                </a:solidFill>
                <a:latin typeface="MS UI Gothic" charset="0"/>
                <a:ea typeface="ＭＳ Ｐゴシック" charset="0"/>
                <a:cs typeface="ＭＳ Ｐゴシック" charset="0"/>
              </a:defRPr>
            </a:lvl1pPr>
            <a:lvl2pPr marL="742950" indent="-285750" eaLnBrk="0" hangingPunct="0">
              <a:defRPr sz="2400">
                <a:solidFill>
                  <a:schemeClr val="tx1"/>
                </a:solidFill>
                <a:latin typeface="MS UI Gothic" charset="0"/>
                <a:ea typeface="ＭＳ Ｐゴシック" charset="0"/>
              </a:defRPr>
            </a:lvl2pPr>
            <a:lvl3pPr marL="1143000" indent="-228600" eaLnBrk="0" hangingPunct="0">
              <a:defRPr sz="2400">
                <a:solidFill>
                  <a:schemeClr val="tx1"/>
                </a:solidFill>
                <a:latin typeface="MS UI Gothic" charset="0"/>
                <a:ea typeface="ＭＳ Ｐゴシック" charset="0"/>
              </a:defRPr>
            </a:lvl3pPr>
            <a:lvl4pPr marL="1600200" indent="-228600" eaLnBrk="0" hangingPunct="0">
              <a:defRPr sz="2400">
                <a:solidFill>
                  <a:schemeClr val="tx1"/>
                </a:solidFill>
                <a:latin typeface="MS UI Gothic" charset="0"/>
                <a:ea typeface="ＭＳ Ｐゴシック" charset="0"/>
              </a:defRPr>
            </a:lvl4pPr>
            <a:lvl5pPr marL="2057400" indent="-228600" eaLnBrk="0" hangingPunct="0">
              <a:defRPr sz="2400">
                <a:solidFill>
                  <a:schemeClr val="tx1"/>
                </a:solidFill>
                <a:latin typeface="MS UI Gothic" charset="0"/>
                <a:ea typeface="ＭＳ Ｐゴシック" charset="0"/>
              </a:defRPr>
            </a:lvl5pPr>
            <a:lvl6pPr marL="2514600" indent="-228600" eaLnBrk="0" fontAlgn="base" hangingPunct="0">
              <a:spcBef>
                <a:spcPct val="0"/>
              </a:spcBef>
              <a:spcAft>
                <a:spcPct val="0"/>
              </a:spcAft>
              <a:defRPr sz="2400">
                <a:solidFill>
                  <a:schemeClr val="tx1"/>
                </a:solidFill>
                <a:latin typeface="MS UI Gothic" charset="0"/>
                <a:ea typeface="ＭＳ Ｐゴシック" charset="0"/>
              </a:defRPr>
            </a:lvl6pPr>
            <a:lvl7pPr marL="2971800" indent="-228600" eaLnBrk="0" fontAlgn="base" hangingPunct="0">
              <a:spcBef>
                <a:spcPct val="0"/>
              </a:spcBef>
              <a:spcAft>
                <a:spcPct val="0"/>
              </a:spcAft>
              <a:defRPr sz="2400">
                <a:solidFill>
                  <a:schemeClr val="tx1"/>
                </a:solidFill>
                <a:latin typeface="MS UI Gothic" charset="0"/>
                <a:ea typeface="ＭＳ Ｐゴシック" charset="0"/>
              </a:defRPr>
            </a:lvl7pPr>
            <a:lvl8pPr marL="3429000" indent="-228600" eaLnBrk="0" fontAlgn="base" hangingPunct="0">
              <a:spcBef>
                <a:spcPct val="0"/>
              </a:spcBef>
              <a:spcAft>
                <a:spcPct val="0"/>
              </a:spcAft>
              <a:defRPr sz="2400">
                <a:solidFill>
                  <a:schemeClr val="tx1"/>
                </a:solidFill>
                <a:latin typeface="MS UI Gothic" charset="0"/>
                <a:ea typeface="ＭＳ Ｐゴシック" charset="0"/>
              </a:defRPr>
            </a:lvl8pPr>
            <a:lvl9pPr marL="3886200" indent="-228600" eaLnBrk="0" fontAlgn="base" hangingPunct="0">
              <a:spcBef>
                <a:spcPct val="0"/>
              </a:spcBef>
              <a:spcAft>
                <a:spcPct val="0"/>
              </a:spcAft>
              <a:defRPr sz="2400">
                <a:solidFill>
                  <a:schemeClr val="tx1"/>
                </a:solidFill>
                <a:latin typeface="MS UI Gothic" charset="0"/>
                <a:ea typeface="ＭＳ Ｐゴシック" charset="0"/>
              </a:defRPr>
            </a:lvl9pPr>
          </a:lstStyle>
          <a:p>
            <a:pPr algn="l" eaLnBrk="1" hangingPunct="1"/>
            <a:r>
              <a:rPr lang="sv-SE" sz="2300" dirty="0">
                <a:latin typeface="Arial" charset="0"/>
                <a:cs typeface="Arial" charset="0"/>
              </a:rPr>
              <a:t>Energy		2.5 GeV</a:t>
            </a:r>
          </a:p>
          <a:p>
            <a:pPr algn="l" eaLnBrk="1" hangingPunct="1"/>
            <a:r>
              <a:rPr lang="sv-SE" sz="2300" dirty="0" err="1">
                <a:latin typeface="Arial" charset="0"/>
                <a:cs typeface="Arial" charset="0"/>
              </a:rPr>
              <a:t>Current</a:t>
            </a:r>
            <a:r>
              <a:rPr lang="sv-SE" sz="2300" dirty="0">
                <a:latin typeface="Arial" charset="0"/>
                <a:cs typeface="Arial" charset="0"/>
              </a:rPr>
              <a:t>		50 mA</a:t>
            </a:r>
          </a:p>
          <a:p>
            <a:pPr algn="l" eaLnBrk="1" hangingPunct="1"/>
            <a:r>
              <a:rPr lang="sv-SE" sz="2300" dirty="0" err="1">
                <a:latin typeface="Arial" charset="0"/>
                <a:cs typeface="Arial" charset="0"/>
              </a:rPr>
              <a:t>Average</a:t>
            </a:r>
            <a:r>
              <a:rPr lang="sv-SE" sz="2300" dirty="0">
                <a:latin typeface="Arial" charset="0"/>
                <a:cs typeface="Arial" charset="0"/>
              </a:rPr>
              <a:t> </a:t>
            </a:r>
            <a:r>
              <a:rPr lang="sv-SE" sz="2300" dirty="0" err="1">
                <a:latin typeface="Arial" charset="0"/>
                <a:cs typeface="Arial" charset="0"/>
              </a:rPr>
              <a:t>power</a:t>
            </a:r>
            <a:r>
              <a:rPr lang="sv-SE" sz="2300" dirty="0">
                <a:latin typeface="Arial" charset="0"/>
                <a:cs typeface="Arial" charset="0"/>
              </a:rPr>
              <a:t>	5 MW</a:t>
            </a:r>
          </a:p>
          <a:p>
            <a:pPr algn="l" eaLnBrk="1" hangingPunct="1"/>
            <a:r>
              <a:rPr lang="sv-SE" sz="2300" dirty="0" err="1">
                <a:latin typeface="Arial" charset="0"/>
                <a:cs typeface="Arial" charset="0"/>
              </a:rPr>
              <a:t>Pulse</a:t>
            </a:r>
            <a:r>
              <a:rPr lang="sv-SE" sz="2300" dirty="0">
                <a:latin typeface="Arial" charset="0"/>
                <a:cs typeface="Arial" charset="0"/>
              </a:rPr>
              <a:t> </a:t>
            </a:r>
            <a:r>
              <a:rPr lang="sv-SE" sz="2300" dirty="0" err="1">
                <a:latin typeface="Arial" charset="0"/>
                <a:cs typeface="Arial" charset="0"/>
              </a:rPr>
              <a:t>length</a:t>
            </a:r>
            <a:r>
              <a:rPr lang="sv-SE" sz="2300" dirty="0">
                <a:latin typeface="Arial" charset="0"/>
                <a:cs typeface="Arial" charset="0"/>
              </a:rPr>
              <a:t>	</a:t>
            </a:r>
            <a:r>
              <a:rPr lang="sv-SE" sz="2300" dirty="0" smtClean="0">
                <a:latin typeface="Arial" charset="0"/>
                <a:cs typeface="Arial" charset="0"/>
              </a:rPr>
              <a:t>	2.86 </a:t>
            </a:r>
            <a:r>
              <a:rPr lang="sv-SE" sz="2300" dirty="0" err="1">
                <a:latin typeface="Arial" charset="0"/>
                <a:cs typeface="Arial" charset="0"/>
              </a:rPr>
              <a:t>ms</a:t>
            </a:r>
            <a:r>
              <a:rPr lang="sv-SE" sz="2300" dirty="0">
                <a:latin typeface="Arial" charset="0"/>
                <a:cs typeface="Arial" charset="0"/>
              </a:rPr>
              <a:t>	 (new </a:t>
            </a:r>
            <a:r>
              <a:rPr lang="sv-SE" sz="2300" dirty="0" err="1">
                <a:latin typeface="Arial" charset="0"/>
                <a:cs typeface="Arial" charset="0"/>
              </a:rPr>
              <a:t>value</a:t>
            </a:r>
            <a:r>
              <a:rPr lang="sv-SE" sz="2300" dirty="0">
                <a:latin typeface="Arial" charset="0"/>
                <a:cs typeface="Arial" charset="0"/>
              </a:rPr>
              <a:t> </a:t>
            </a:r>
            <a:r>
              <a:rPr lang="sv-SE" sz="2300" dirty="0" err="1">
                <a:latin typeface="Arial" charset="0"/>
                <a:cs typeface="Arial" charset="0"/>
              </a:rPr>
              <a:t>since</a:t>
            </a:r>
            <a:r>
              <a:rPr lang="sv-SE" sz="2300" dirty="0">
                <a:latin typeface="Arial" charset="0"/>
                <a:cs typeface="Arial" charset="0"/>
              </a:rPr>
              <a:t> April 2011, </a:t>
            </a:r>
            <a:r>
              <a:rPr lang="sv-SE" sz="2300" dirty="0" err="1">
                <a:latin typeface="Arial" charset="0"/>
                <a:cs typeface="Arial" charset="0"/>
              </a:rPr>
              <a:t>equal</a:t>
            </a:r>
            <a:r>
              <a:rPr lang="sv-SE" sz="2300" dirty="0">
                <a:latin typeface="Arial" charset="0"/>
                <a:cs typeface="Arial" charset="0"/>
              </a:rPr>
              <a:t> </a:t>
            </a:r>
            <a:r>
              <a:rPr lang="sv-SE" sz="2300" dirty="0" err="1">
                <a:latin typeface="Arial" charset="0"/>
                <a:cs typeface="Arial" charset="0"/>
              </a:rPr>
              <a:t>to</a:t>
            </a:r>
            <a:r>
              <a:rPr lang="sv-SE" sz="2300" dirty="0">
                <a:latin typeface="Arial" charset="0"/>
                <a:cs typeface="Arial" charset="0"/>
              </a:rPr>
              <a:t> 2×20/14)</a:t>
            </a:r>
          </a:p>
          <a:p>
            <a:pPr algn="l" eaLnBrk="1" hangingPunct="1"/>
            <a:r>
              <a:rPr lang="sv-SE" sz="2300" dirty="0">
                <a:latin typeface="Arial" charset="0"/>
                <a:cs typeface="Arial" charset="0"/>
              </a:rPr>
              <a:t>Rep rate		14 Hz	</a:t>
            </a:r>
            <a:r>
              <a:rPr lang="sv-SE" sz="2300" dirty="0" smtClean="0">
                <a:latin typeface="Arial" charset="0"/>
                <a:cs typeface="Arial" charset="0"/>
              </a:rPr>
              <a:t>	 </a:t>
            </a:r>
            <a:r>
              <a:rPr lang="sv-SE" sz="2300" dirty="0">
                <a:latin typeface="Arial" charset="0"/>
                <a:cs typeface="Arial" charset="0"/>
              </a:rPr>
              <a:t>(new </a:t>
            </a:r>
            <a:r>
              <a:rPr lang="sv-SE" sz="2300" dirty="0" err="1">
                <a:latin typeface="Arial" charset="0"/>
                <a:cs typeface="Arial" charset="0"/>
              </a:rPr>
              <a:t>value</a:t>
            </a:r>
            <a:r>
              <a:rPr lang="sv-SE" sz="2300" dirty="0">
                <a:latin typeface="Arial" charset="0"/>
                <a:cs typeface="Arial" charset="0"/>
              </a:rPr>
              <a:t> </a:t>
            </a:r>
            <a:r>
              <a:rPr lang="sv-SE" sz="2300" dirty="0" err="1">
                <a:latin typeface="Arial" charset="0"/>
                <a:cs typeface="Arial" charset="0"/>
              </a:rPr>
              <a:t>since</a:t>
            </a:r>
            <a:r>
              <a:rPr lang="sv-SE" sz="2300" dirty="0">
                <a:latin typeface="Arial" charset="0"/>
                <a:cs typeface="Arial" charset="0"/>
              </a:rPr>
              <a:t> April 2011)</a:t>
            </a:r>
          </a:p>
          <a:p>
            <a:pPr algn="l" eaLnBrk="1" hangingPunct="1"/>
            <a:r>
              <a:rPr lang="sv-SE" sz="2300" dirty="0" err="1">
                <a:latin typeface="Arial" charset="0"/>
                <a:cs typeface="Arial" charset="0"/>
              </a:rPr>
              <a:t>Length</a:t>
            </a:r>
            <a:r>
              <a:rPr lang="sv-SE" sz="2300" dirty="0">
                <a:latin typeface="Arial" charset="0"/>
                <a:cs typeface="Arial" charset="0"/>
              </a:rPr>
              <a:t>		</a:t>
            </a:r>
            <a:r>
              <a:rPr lang="sv-SE" sz="2300" dirty="0" smtClean="0">
                <a:latin typeface="Arial" charset="0"/>
                <a:cs typeface="Arial" charset="0"/>
              </a:rPr>
              <a:t>	482 </a:t>
            </a:r>
            <a:r>
              <a:rPr lang="sv-SE" sz="2300" dirty="0">
                <a:latin typeface="Arial" charset="0"/>
                <a:cs typeface="Arial" charset="0"/>
              </a:rPr>
              <a:t>m, plus HEBT</a:t>
            </a:r>
          </a:p>
          <a:p>
            <a:pPr algn="l" eaLnBrk="1" hangingPunct="1"/>
            <a:r>
              <a:rPr lang="en-US" sz="2300" dirty="0">
                <a:latin typeface="Arial" charset="0"/>
                <a:cs typeface="Arial" charset="0"/>
              </a:rPr>
              <a:t>Max cavity field	40 MV/</a:t>
            </a:r>
            <a:r>
              <a:rPr lang="en-US" sz="2300" dirty="0" smtClean="0">
                <a:latin typeface="Arial" charset="0"/>
                <a:cs typeface="Arial" charset="0"/>
              </a:rPr>
              <a:t>m</a:t>
            </a:r>
          </a:p>
          <a:p>
            <a:pPr algn="l" eaLnBrk="1" hangingPunct="1"/>
            <a:r>
              <a:rPr lang="en-US" sz="2300" dirty="0" smtClean="0">
                <a:latin typeface="Arial" charset="0"/>
                <a:cs typeface="Arial" charset="0"/>
              </a:rPr>
              <a:t>Reliability		&gt; 95%</a:t>
            </a:r>
            <a:endParaRPr lang="sv-SE" sz="2300" dirty="0">
              <a:latin typeface="Arial" charset="0"/>
              <a:cs typeface="Arial" charset="0"/>
            </a:endParaRPr>
          </a:p>
          <a:p>
            <a:pPr algn="l" eaLnBrk="1" hangingPunct="1"/>
            <a:endParaRPr lang="sv-SE" sz="2300" dirty="0">
              <a:latin typeface="Arial" charset="0"/>
              <a:cs typeface="Arial" charset="0"/>
            </a:endParaRPr>
          </a:p>
          <a:p>
            <a:pPr algn="l" eaLnBrk="1" hangingPunct="1"/>
            <a:endParaRPr lang="sv-SE" sz="2300" dirty="0">
              <a:latin typeface="Arial" charset="0"/>
              <a:cs typeface="Arial" charset="0"/>
            </a:endParaRPr>
          </a:p>
          <a:p>
            <a:pPr algn="l" eaLnBrk="1" hangingPunct="1"/>
            <a:r>
              <a:rPr lang="sv-SE" sz="2300" dirty="0" err="1">
                <a:latin typeface="Arial" charset="0"/>
                <a:cs typeface="Arial" charset="0"/>
              </a:rPr>
              <a:t>Longer</a:t>
            </a:r>
            <a:r>
              <a:rPr lang="sv-SE" sz="2300" dirty="0">
                <a:latin typeface="Arial" charset="0"/>
                <a:cs typeface="Arial" charset="0"/>
              </a:rPr>
              <a:t> </a:t>
            </a:r>
            <a:r>
              <a:rPr lang="sv-SE" sz="2300" dirty="0" err="1">
                <a:latin typeface="Arial" charset="0"/>
                <a:cs typeface="Arial" charset="0"/>
              </a:rPr>
              <a:t>than</a:t>
            </a:r>
            <a:r>
              <a:rPr lang="sv-SE" sz="2300" dirty="0">
                <a:latin typeface="Arial" charset="0"/>
                <a:cs typeface="Arial" charset="0"/>
              </a:rPr>
              <a:t> </a:t>
            </a:r>
            <a:r>
              <a:rPr lang="sv-SE" sz="2300" dirty="0" err="1">
                <a:latin typeface="Arial" charset="0"/>
                <a:cs typeface="Arial" charset="0"/>
              </a:rPr>
              <a:t>previously</a:t>
            </a:r>
            <a:r>
              <a:rPr lang="sv-SE" sz="2300" dirty="0">
                <a:latin typeface="Arial" charset="0"/>
                <a:cs typeface="Arial" charset="0"/>
              </a:rPr>
              <a:t> </a:t>
            </a:r>
            <a:r>
              <a:rPr lang="sv-SE" sz="2300" dirty="0" err="1">
                <a:latin typeface="Arial" charset="0"/>
                <a:cs typeface="Arial" charset="0"/>
              </a:rPr>
              <a:t>because</a:t>
            </a:r>
            <a:r>
              <a:rPr lang="sv-SE" sz="2300" dirty="0">
                <a:latin typeface="Arial" charset="0"/>
                <a:cs typeface="Arial" charset="0"/>
              </a:rPr>
              <a:t> </a:t>
            </a:r>
            <a:r>
              <a:rPr lang="sv-SE" sz="2300" dirty="0" err="1">
                <a:latin typeface="Arial" charset="0"/>
                <a:cs typeface="Arial" charset="0"/>
              </a:rPr>
              <a:t>of</a:t>
            </a:r>
            <a:r>
              <a:rPr lang="sv-SE" sz="2300" dirty="0">
                <a:latin typeface="Arial" charset="0"/>
                <a:cs typeface="Arial" charset="0"/>
              </a:rPr>
              <a:t> ”hybrid design”, </a:t>
            </a:r>
            <a:r>
              <a:rPr lang="sv-SE" sz="2300" dirty="0" err="1">
                <a:latin typeface="Arial" charset="0"/>
                <a:cs typeface="Arial" charset="0"/>
              </a:rPr>
              <a:t>smoother</a:t>
            </a:r>
            <a:r>
              <a:rPr lang="sv-SE" sz="2300" dirty="0">
                <a:latin typeface="Arial" charset="0"/>
                <a:cs typeface="Arial" charset="0"/>
              </a:rPr>
              <a:t> longitudinal </a:t>
            </a:r>
            <a:r>
              <a:rPr lang="sv-SE" sz="2300" dirty="0" err="1">
                <a:latin typeface="Arial" charset="0"/>
                <a:cs typeface="Arial" charset="0"/>
              </a:rPr>
              <a:t>phase</a:t>
            </a:r>
            <a:r>
              <a:rPr lang="sv-SE" sz="2300" dirty="0">
                <a:latin typeface="Arial" charset="0"/>
                <a:cs typeface="Arial" charset="0"/>
              </a:rPr>
              <a:t> </a:t>
            </a:r>
            <a:r>
              <a:rPr lang="sv-SE" sz="2300" dirty="0" err="1">
                <a:latin typeface="Arial" charset="0"/>
                <a:cs typeface="Arial" charset="0"/>
              </a:rPr>
              <a:t>advance</a:t>
            </a:r>
            <a:r>
              <a:rPr lang="sv-SE" sz="2300" dirty="0">
                <a:latin typeface="Arial" charset="0"/>
                <a:cs typeface="Arial" charset="0"/>
              </a:rPr>
              <a:t>, </a:t>
            </a:r>
            <a:r>
              <a:rPr lang="sv-SE" sz="2300" dirty="0" err="1">
                <a:latin typeface="Arial" charset="0"/>
                <a:cs typeface="Arial" charset="0"/>
              </a:rPr>
              <a:t>lower</a:t>
            </a:r>
            <a:r>
              <a:rPr lang="sv-SE" sz="2300" dirty="0">
                <a:latin typeface="Arial" charset="0"/>
                <a:cs typeface="Arial" charset="0"/>
              </a:rPr>
              <a:t> </a:t>
            </a:r>
            <a:r>
              <a:rPr lang="sv-SE" sz="2300" dirty="0" err="1">
                <a:latin typeface="Arial" charset="0"/>
                <a:cs typeface="Arial" charset="0"/>
              </a:rPr>
              <a:t>field</a:t>
            </a:r>
            <a:r>
              <a:rPr lang="sv-SE" sz="2300" dirty="0">
                <a:latin typeface="Arial" charset="0"/>
                <a:cs typeface="Arial" charset="0"/>
              </a:rPr>
              <a:t> gradients, ...</a:t>
            </a: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6303" y="1977814"/>
            <a:ext cx="10579947" cy="2149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 Box 10"/>
          <p:cNvSpPr txBox="1">
            <a:spLocks noChangeArrowheads="1"/>
          </p:cNvSpPr>
          <p:nvPr/>
        </p:nvSpPr>
        <p:spPr bwMode="auto">
          <a:xfrm>
            <a:off x="2336801" y="882792"/>
            <a:ext cx="9525564" cy="500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46" tIns="65023" rIns="130046" bIns="65023">
            <a:spAutoFit/>
          </a:bodyPr>
          <a:lstStyle>
            <a:lvl1pPr eaLnBrk="0" hangingPunct="0">
              <a:defRPr sz="2400">
                <a:solidFill>
                  <a:schemeClr val="tx1"/>
                </a:solidFill>
                <a:latin typeface="MS UI Gothic" charset="0"/>
                <a:ea typeface="ＭＳ Ｐゴシック" charset="0"/>
                <a:cs typeface="ＭＳ Ｐゴシック" charset="0"/>
              </a:defRPr>
            </a:lvl1pPr>
            <a:lvl2pPr marL="742950" indent="-285750" eaLnBrk="0" hangingPunct="0">
              <a:defRPr sz="2400">
                <a:solidFill>
                  <a:schemeClr val="tx1"/>
                </a:solidFill>
                <a:latin typeface="MS UI Gothic" charset="0"/>
                <a:ea typeface="ＭＳ Ｐゴシック" charset="0"/>
              </a:defRPr>
            </a:lvl2pPr>
            <a:lvl3pPr marL="1143000" indent="-228600" eaLnBrk="0" hangingPunct="0">
              <a:defRPr sz="2400">
                <a:solidFill>
                  <a:schemeClr val="tx1"/>
                </a:solidFill>
                <a:latin typeface="MS UI Gothic" charset="0"/>
                <a:ea typeface="ＭＳ Ｐゴシック" charset="0"/>
              </a:defRPr>
            </a:lvl3pPr>
            <a:lvl4pPr marL="1600200" indent="-228600" eaLnBrk="0" hangingPunct="0">
              <a:defRPr sz="2400">
                <a:solidFill>
                  <a:schemeClr val="tx1"/>
                </a:solidFill>
                <a:latin typeface="MS UI Gothic" charset="0"/>
                <a:ea typeface="ＭＳ Ｐゴシック" charset="0"/>
              </a:defRPr>
            </a:lvl4pPr>
            <a:lvl5pPr marL="2057400" indent="-228600" eaLnBrk="0" hangingPunct="0">
              <a:defRPr sz="2400">
                <a:solidFill>
                  <a:schemeClr val="tx1"/>
                </a:solidFill>
                <a:latin typeface="MS UI Gothic" charset="0"/>
                <a:ea typeface="ＭＳ Ｐゴシック" charset="0"/>
              </a:defRPr>
            </a:lvl5pPr>
            <a:lvl6pPr marL="2514600" indent="-228600" eaLnBrk="0" fontAlgn="base" hangingPunct="0">
              <a:spcBef>
                <a:spcPct val="0"/>
              </a:spcBef>
              <a:spcAft>
                <a:spcPct val="0"/>
              </a:spcAft>
              <a:defRPr sz="2400">
                <a:solidFill>
                  <a:schemeClr val="tx1"/>
                </a:solidFill>
                <a:latin typeface="MS UI Gothic" charset="0"/>
                <a:ea typeface="ＭＳ Ｐゴシック" charset="0"/>
              </a:defRPr>
            </a:lvl6pPr>
            <a:lvl7pPr marL="2971800" indent="-228600" eaLnBrk="0" fontAlgn="base" hangingPunct="0">
              <a:spcBef>
                <a:spcPct val="0"/>
              </a:spcBef>
              <a:spcAft>
                <a:spcPct val="0"/>
              </a:spcAft>
              <a:defRPr sz="2400">
                <a:solidFill>
                  <a:schemeClr val="tx1"/>
                </a:solidFill>
                <a:latin typeface="MS UI Gothic" charset="0"/>
                <a:ea typeface="ＭＳ Ｐゴシック" charset="0"/>
              </a:defRPr>
            </a:lvl7pPr>
            <a:lvl8pPr marL="3429000" indent="-228600" eaLnBrk="0" fontAlgn="base" hangingPunct="0">
              <a:spcBef>
                <a:spcPct val="0"/>
              </a:spcBef>
              <a:spcAft>
                <a:spcPct val="0"/>
              </a:spcAft>
              <a:defRPr sz="2400">
                <a:solidFill>
                  <a:schemeClr val="tx1"/>
                </a:solidFill>
                <a:latin typeface="MS UI Gothic" charset="0"/>
                <a:ea typeface="ＭＳ Ｐゴシック" charset="0"/>
              </a:defRPr>
            </a:lvl8pPr>
            <a:lvl9pPr marL="3886200" indent="-228600" eaLnBrk="0" fontAlgn="base" hangingPunct="0">
              <a:spcBef>
                <a:spcPct val="0"/>
              </a:spcBef>
              <a:spcAft>
                <a:spcPct val="0"/>
              </a:spcAft>
              <a:defRPr sz="2400">
                <a:solidFill>
                  <a:schemeClr val="tx1"/>
                </a:solidFill>
                <a:latin typeface="MS UI Gothic" charset="0"/>
                <a:ea typeface="ＭＳ Ｐゴシック" charset="0"/>
              </a:defRPr>
            </a:lvl9pPr>
          </a:lstStyle>
          <a:p>
            <a:pPr algn="ctr" eaLnBrk="1" hangingPunct="1"/>
            <a:r>
              <a:rPr lang="sv-SE" b="1">
                <a:latin typeface="Arial" charset="0"/>
                <a:cs typeface="Arial" charset="0"/>
              </a:rPr>
              <a:t>Present Geometry and Top-Level Parameters</a:t>
            </a:r>
          </a:p>
        </p:txBody>
      </p:sp>
      <p:sp>
        <p:nvSpPr>
          <p:cNvPr id="6"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3</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18" descr="site-small"/>
          <p:cNvPicPr>
            <a:picLocks noChangeAspect="1" noChangeArrowheads="1"/>
          </p:cNvPicPr>
          <p:nvPr/>
        </p:nvPicPr>
        <p:blipFill>
          <a:blip r:embed="rId3">
            <a:extLst>
              <a:ext uri="{28A0092B-C50C-407E-A947-70E740481C1C}">
                <a14:useLocalDpi xmlns:a14="http://schemas.microsoft.com/office/drawing/2010/main" val="0"/>
              </a:ext>
            </a:extLst>
          </a:blip>
          <a:srcRect t="17482" b="4094"/>
          <a:stretch>
            <a:fillRect/>
          </a:stretch>
        </p:blipFill>
        <p:spPr bwMode="auto">
          <a:xfrm>
            <a:off x="-50328" y="1270691"/>
            <a:ext cx="13055128" cy="7206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10"/>
          <p:cNvSpPr>
            <a:spLocks noChangeArrowheads="1"/>
          </p:cNvSpPr>
          <p:nvPr/>
        </p:nvSpPr>
        <p:spPr bwMode="auto">
          <a:xfrm>
            <a:off x="1300480" y="8561493"/>
            <a:ext cx="10512213" cy="86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05" tIns="65003" rIns="130005" bIns="65003" anchor="ctr"/>
          <a:lstStyle/>
          <a:p>
            <a:pPr algn="ctr"/>
            <a:endParaRPr lang="it-IT">
              <a:solidFill>
                <a:srgbClr val="FF0000"/>
              </a:solidFill>
            </a:endParaRPr>
          </a:p>
        </p:txBody>
      </p:sp>
      <p:sp>
        <p:nvSpPr>
          <p:cNvPr id="7" name="Rectangle 3"/>
          <p:cNvSpPr>
            <a:spLocks noChangeArrowheads="1"/>
          </p:cNvSpPr>
          <p:nvPr/>
        </p:nvSpPr>
        <p:spPr bwMode="auto">
          <a:xfrm>
            <a:off x="2235201" y="2291813"/>
            <a:ext cx="10363200" cy="2540001"/>
          </a:xfrm>
          <a:prstGeom prst="rect">
            <a:avLst/>
          </a:prstGeom>
          <a:solidFill>
            <a:schemeClr val="accent6">
              <a:lumMod val="20000"/>
              <a:lumOff val="80000"/>
            </a:schemeClr>
          </a:solidFill>
          <a:ln w="12700" algn="ctr">
            <a:solidFill>
              <a:srgbClr val="4F81BD"/>
            </a:solidFill>
            <a:miter lim="800000"/>
            <a:headEnd/>
            <a:tailEnd/>
          </a:ln>
          <a:effectLst/>
        </p:spPr>
        <p:txBody>
          <a:bodyPr lIns="127991" tIns="66556" rIns="127991" bIns="66556" anchor="ctr"/>
          <a:lstStyle/>
          <a:p>
            <a:pPr marL="252854" indent="-252854" algn="l" defTabSz="650029" fontAlgn="auto">
              <a:spcBef>
                <a:spcPts val="0"/>
              </a:spcBef>
              <a:spcAft>
                <a:spcPts val="0"/>
              </a:spcAft>
              <a:buFont typeface="Arial" pitchFamily="-112" charset="0"/>
              <a:buChar char="•"/>
              <a:defRPr/>
            </a:pPr>
            <a:r>
              <a:rPr lang="en-US" sz="2300" dirty="0">
                <a:solidFill>
                  <a:srgbClr val="000090"/>
                </a:solidFill>
                <a:latin typeface="Arial" pitchFamily="-112" charset="0"/>
                <a:ea typeface="Arial" pitchFamily="-112" charset="0"/>
                <a:cs typeface="Arial" pitchFamily="-112" charset="0"/>
              </a:rPr>
              <a:t>High power</a:t>
            </a:r>
            <a:r>
              <a:rPr lang="en-US" sz="2300" b="1" dirty="0">
                <a:solidFill>
                  <a:srgbClr val="000090"/>
                </a:solidFill>
                <a:latin typeface="Arial" pitchFamily="-112" charset="0"/>
                <a:ea typeface="Arial" pitchFamily="-112" charset="0"/>
                <a:cs typeface="Arial" pitchFamily="-112" charset="0"/>
              </a:rPr>
              <a:t>, </a:t>
            </a:r>
            <a:r>
              <a:rPr lang="en-US" sz="2300" dirty="0">
                <a:solidFill>
                  <a:srgbClr val="000090"/>
                </a:solidFill>
                <a:latin typeface="Arial" pitchFamily="-112" charset="0"/>
                <a:ea typeface="Arial" pitchFamily="-112" charset="0"/>
                <a:cs typeface="Arial" pitchFamily="-112" charset="0"/>
              </a:rPr>
              <a:t>highly</a:t>
            </a:r>
            <a:r>
              <a:rPr lang="en-US" sz="2300" b="1" dirty="0">
                <a:solidFill>
                  <a:srgbClr val="000090"/>
                </a:solidFill>
                <a:latin typeface="Arial" pitchFamily="-112" charset="0"/>
                <a:ea typeface="Arial" pitchFamily="-112" charset="0"/>
                <a:cs typeface="Arial" pitchFamily="-112" charset="0"/>
              </a:rPr>
              <a:t> reliable Front Ends</a:t>
            </a:r>
          </a:p>
          <a:p>
            <a:pPr marL="252854" indent="-252854" algn="l" defTabSz="650029" fontAlgn="auto">
              <a:spcBef>
                <a:spcPts val="0"/>
              </a:spcBef>
              <a:spcAft>
                <a:spcPts val="0"/>
              </a:spcAft>
              <a:buFont typeface="Arial" pitchFamily="-112" charset="0"/>
              <a:buChar char="•"/>
              <a:defRPr/>
            </a:pPr>
            <a:r>
              <a:rPr lang="en-US" sz="2300" dirty="0">
                <a:solidFill>
                  <a:srgbClr val="000090"/>
                </a:solidFill>
                <a:latin typeface="Arial" pitchFamily="-112" charset="0"/>
                <a:ea typeface="Arial" pitchFamily="-112" charset="0"/>
                <a:cs typeface="Arial" pitchFamily="-112" charset="0"/>
              </a:rPr>
              <a:t>High intensity light ions </a:t>
            </a:r>
            <a:r>
              <a:rPr lang="en-US" sz="2300" b="1" dirty="0" err="1">
                <a:solidFill>
                  <a:srgbClr val="000090"/>
                </a:solidFill>
                <a:latin typeface="Arial" pitchFamily="-112" charset="0"/>
                <a:ea typeface="Arial" pitchFamily="-112" charset="0"/>
                <a:cs typeface="Arial" pitchFamily="-112" charset="0"/>
              </a:rPr>
              <a:t>Linacs</a:t>
            </a:r>
            <a:r>
              <a:rPr lang="en-US" sz="2300" dirty="0">
                <a:solidFill>
                  <a:srgbClr val="000090"/>
                </a:solidFill>
                <a:latin typeface="Arial" pitchFamily="-112" charset="0"/>
                <a:ea typeface="Arial" pitchFamily="-112" charset="0"/>
                <a:cs typeface="Arial" pitchFamily="-112" charset="0"/>
              </a:rPr>
              <a:t> : systems design, beam dynamics</a:t>
            </a:r>
            <a:r>
              <a:rPr lang="en-US" sz="2300" b="1" dirty="0">
                <a:solidFill>
                  <a:srgbClr val="000090"/>
                </a:solidFill>
                <a:latin typeface="Arial" pitchFamily="-112" charset="0"/>
                <a:ea typeface="Arial" pitchFamily="-112" charset="0"/>
                <a:cs typeface="Arial" pitchFamily="-112" charset="0"/>
              </a:rPr>
              <a:t>, </a:t>
            </a:r>
            <a:r>
              <a:rPr lang="en-US" sz="2300" dirty="0">
                <a:solidFill>
                  <a:srgbClr val="000090"/>
                </a:solidFill>
                <a:latin typeface="Arial" pitchFamily="-112" charset="0"/>
                <a:ea typeface="Arial" pitchFamily="-112" charset="0"/>
                <a:cs typeface="Arial" pitchFamily="-112" charset="0"/>
              </a:rPr>
              <a:t>performance and current projects, reliability issues,</a:t>
            </a:r>
          </a:p>
          <a:p>
            <a:pPr marL="252854" indent="-252854" algn="l" defTabSz="650029" fontAlgn="auto">
              <a:spcBef>
                <a:spcPts val="0"/>
              </a:spcBef>
              <a:spcAft>
                <a:spcPts val="0"/>
              </a:spcAft>
              <a:buFont typeface="Arial" pitchFamily="-112" charset="0"/>
              <a:buChar char="•"/>
              <a:defRPr/>
            </a:pPr>
            <a:r>
              <a:rPr lang="en-US" sz="2300" b="1" dirty="0">
                <a:solidFill>
                  <a:srgbClr val="000090"/>
                </a:solidFill>
                <a:latin typeface="Arial" pitchFamily="-112" charset="0"/>
                <a:ea typeface="Arial" pitchFamily="-112" charset="0"/>
                <a:cs typeface="Arial" pitchFamily="-112" charset="0"/>
              </a:rPr>
              <a:t>Synergies </a:t>
            </a:r>
            <a:r>
              <a:rPr lang="en-US" sz="2300" dirty="0">
                <a:solidFill>
                  <a:srgbClr val="000090"/>
                </a:solidFill>
                <a:latin typeface="Arial" pitchFamily="-112" charset="0"/>
                <a:ea typeface="Arial" pitchFamily="-112" charset="0"/>
                <a:cs typeface="Arial" pitchFamily="-112" charset="0"/>
              </a:rPr>
              <a:t>with ongoing and planned projects on accelerator driven systems, transmutation, neutrino factories, HEP injectors, materials science</a:t>
            </a:r>
            <a:endParaRPr lang="es-ES_tradnl" sz="2300" dirty="0">
              <a:solidFill>
                <a:srgbClr val="000090"/>
              </a:solidFill>
              <a:latin typeface="Arial" pitchFamily="-112" charset="0"/>
              <a:ea typeface="Arial" pitchFamily="-112" charset="0"/>
              <a:cs typeface="Arial" pitchFamily="-112" charset="0"/>
            </a:endParaRPr>
          </a:p>
        </p:txBody>
      </p:sp>
      <p:sp>
        <p:nvSpPr>
          <p:cNvPr id="8" name="Rectangle 3"/>
          <p:cNvSpPr>
            <a:spLocks noChangeArrowheads="1"/>
          </p:cNvSpPr>
          <p:nvPr/>
        </p:nvSpPr>
        <p:spPr bwMode="auto">
          <a:xfrm>
            <a:off x="6156962" y="4951475"/>
            <a:ext cx="6441439" cy="3910471"/>
          </a:xfrm>
          <a:prstGeom prst="rect">
            <a:avLst/>
          </a:prstGeom>
          <a:solidFill>
            <a:schemeClr val="accent6">
              <a:lumMod val="20000"/>
              <a:lumOff val="80000"/>
            </a:schemeClr>
          </a:solidFill>
          <a:ln w="12700" algn="ctr">
            <a:solidFill>
              <a:srgbClr val="4F81BD"/>
            </a:solidFill>
            <a:miter lim="800000"/>
            <a:headEnd/>
            <a:tailEnd/>
          </a:ln>
          <a:effectLst/>
        </p:spPr>
        <p:txBody>
          <a:bodyPr lIns="127991" tIns="66556" rIns="127991" bIns="66556" anchor="ctr"/>
          <a:lstStyle/>
          <a:p>
            <a:pPr marL="252854" indent="-252854" algn="l">
              <a:buFont typeface="Arial" pitchFamily="-65" charset="0"/>
              <a:buChar char="•"/>
              <a:defRPr/>
            </a:pPr>
            <a:r>
              <a:rPr lang="en-US" sz="2300" b="1" dirty="0">
                <a:solidFill>
                  <a:srgbClr val="000090"/>
                </a:solidFill>
                <a:latin typeface="Arial" pitchFamily="-65" charset="0"/>
                <a:ea typeface="Arial" pitchFamily="-65" charset="0"/>
                <a:cs typeface="Arial" pitchFamily="-65" charset="0"/>
              </a:rPr>
              <a:t>Beam loss handling</a:t>
            </a:r>
            <a:r>
              <a:rPr lang="en-US" sz="2300" dirty="0">
                <a:solidFill>
                  <a:srgbClr val="000090"/>
                </a:solidFill>
                <a:latin typeface="Arial" pitchFamily="-65" charset="0"/>
                <a:ea typeface="Arial" pitchFamily="-65" charset="0"/>
                <a:cs typeface="Arial" pitchFamily="-65" charset="0"/>
              </a:rPr>
              <a:t> and </a:t>
            </a:r>
            <a:r>
              <a:rPr lang="en-US" sz="2300" b="1" dirty="0">
                <a:solidFill>
                  <a:srgbClr val="000090"/>
                </a:solidFill>
                <a:latin typeface="Arial" pitchFamily="-65" charset="0"/>
                <a:ea typeface="Arial" pitchFamily="-65" charset="0"/>
                <a:cs typeface="Arial" pitchFamily="-65" charset="0"/>
              </a:rPr>
              <a:t>diagnostics systems </a:t>
            </a:r>
            <a:r>
              <a:rPr lang="en-US" sz="2300" dirty="0">
                <a:solidFill>
                  <a:srgbClr val="000090"/>
                </a:solidFill>
                <a:latin typeface="Arial" pitchFamily="-65" charset="0"/>
                <a:ea typeface="Arial" pitchFamily="-65" charset="0"/>
                <a:cs typeface="Arial" pitchFamily="-65" charset="0"/>
              </a:rPr>
              <a:t>for high brightness </a:t>
            </a:r>
            <a:r>
              <a:rPr lang="en-US" sz="2300" dirty="0" err="1">
                <a:solidFill>
                  <a:srgbClr val="000090"/>
                </a:solidFill>
                <a:latin typeface="Arial" pitchFamily="-65" charset="0"/>
                <a:ea typeface="Arial" pitchFamily="-65" charset="0"/>
                <a:cs typeface="Arial" pitchFamily="-65" charset="0"/>
              </a:rPr>
              <a:t>hadron</a:t>
            </a:r>
            <a:r>
              <a:rPr lang="en-US" sz="2300" dirty="0">
                <a:solidFill>
                  <a:srgbClr val="000090"/>
                </a:solidFill>
                <a:latin typeface="Arial" pitchFamily="-65" charset="0"/>
                <a:ea typeface="Arial" pitchFamily="-65" charset="0"/>
                <a:cs typeface="Arial" pitchFamily="-65" charset="0"/>
              </a:rPr>
              <a:t> accelerators (</a:t>
            </a:r>
            <a:r>
              <a:rPr lang="it-IT" sz="2300" dirty="0">
                <a:solidFill>
                  <a:srgbClr val="000090"/>
                </a:solidFill>
                <a:latin typeface="Arial" pitchFamily="-65" charset="0"/>
                <a:ea typeface="ＭＳ Ｐゴシック" pitchFamily="-65" charset="-128"/>
                <a:cs typeface="ＭＳ Ｐゴシック" pitchFamily="-65" charset="-128"/>
              </a:rPr>
              <a:t>≪1 W/m with localized exceptions)</a:t>
            </a:r>
            <a:endParaRPr lang="en-US" sz="2300" dirty="0">
              <a:solidFill>
                <a:srgbClr val="000090"/>
              </a:solidFill>
              <a:latin typeface="Arial" pitchFamily="-65" charset="0"/>
              <a:ea typeface="Arial" pitchFamily="-65" charset="0"/>
              <a:cs typeface="Arial" pitchFamily="-65" charset="0"/>
            </a:endParaRPr>
          </a:p>
          <a:p>
            <a:pPr marL="252854" indent="-252854" algn="l">
              <a:buFont typeface="Arial" pitchFamily="-65" charset="0"/>
              <a:buChar char="•"/>
              <a:defRPr/>
            </a:pPr>
            <a:r>
              <a:rPr lang="en-US" sz="2300" dirty="0">
                <a:solidFill>
                  <a:srgbClr val="000090"/>
                </a:solidFill>
                <a:latin typeface="Arial" pitchFamily="-65" charset="0"/>
                <a:ea typeface="Arial" pitchFamily="-65" charset="0"/>
                <a:cs typeface="Arial" pitchFamily="-65" charset="0"/>
              </a:rPr>
              <a:t>Current state of </a:t>
            </a:r>
            <a:r>
              <a:rPr lang="en-US" sz="2300" b="1" dirty="0">
                <a:solidFill>
                  <a:srgbClr val="000090"/>
                </a:solidFill>
                <a:latin typeface="Arial" pitchFamily="-65" charset="0"/>
                <a:ea typeface="Arial" pitchFamily="-65" charset="0"/>
                <a:cs typeface="Arial" pitchFamily="-65" charset="0"/>
              </a:rPr>
              <a:t>theory</a:t>
            </a:r>
            <a:r>
              <a:rPr lang="en-US" sz="2300" dirty="0">
                <a:solidFill>
                  <a:srgbClr val="000090"/>
                </a:solidFill>
                <a:latin typeface="Arial" pitchFamily="-65" charset="0"/>
                <a:ea typeface="Arial" pitchFamily="-65" charset="0"/>
                <a:cs typeface="Arial" pitchFamily="-65" charset="0"/>
              </a:rPr>
              <a:t> and </a:t>
            </a:r>
            <a:r>
              <a:rPr lang="en-US" sz="2300" b="1" dirty="0">
                <a:solidFill>
                  <a:srgbClr val="000090"/>
                </a:solidFill>
                <a:latin typeface="Arial" pitchFamily="-65" charset="0"/>
                <a:ea typeface="Arial" pitchFamily="-65" charset="0"/>
                <a:cs typeface="Arial" pitchFamily="-65" charset="0"/>
              </a:rPr>
              <a:t>simulation tools</a:t>
            </a:r>
            <a:r>
              <a:rPr lang="en-US" sz="2300" dirty="0">
                <a:solidFill>
                  <a:srgbClr val="000090"/>
                </a:solidFill>
                <a:latin typeface="Arial" pitchFamily="-65" charset="0"/>
                <a:ea typeface="Arial" pitchFamily="-65" charset="0"/>
                <a:cs typeface="Arial" pitchFamily="-65" charset="0"/>
              </a:rPr>
              <a:t>, confronting predictions with experiment,</a:t>
            </a:r>
          </a:p>
          <a:p>
            <a:pPr marL="252854" indent="-252854" algn="l">
              <a:buFont typeface="Arial" pitchFamily="-65" charset="0"/>
              <a:buChar char="•"/>
              <a:defRPr/>
            </a:pPr>
            <a:r>
              <a:rPr lang="en-US" sz="2300" b="1" dirty="0">
                <a:solidFill>
                  <a:srgbClr val="000090"/>
                </a:solidFill>
                <a:latin typeface="Arial" pitchFamily="-65" charset="0"/>
                <a:ea typeface="Arial" pitchFamily="-65" charset="0"/>
                <a:cs typeface="Arial" pitchFamily="-65" charset="0"/>
              </a:rPr>
              <a:t>Low-energy superconducting structures,</a:t>
            </a:r>
            <a:r>
              <a:rPr lang="en-US" sz="2300" dirty="0">
                <a:solidFill>
                  <a:srgbClr val="000090"/>
                </a:solidFill>
                <a:latin typeface="Arial" pitchFamily="-65" charset="0"/>
                <a:ea typeface="Arial" pitchFamily="-65" charset="0"/>
                <a:cs typeface="Arial" pitchFamily="-65" charset="0"/>
              </a:rPr>
              <a:t> to be checked: how competitive they are for energies below 100 </a:t>
            </a:r>
            <a:r>
              <a:rPr lang="en-US" sz="2300" dirty="0" err="1">
                <a:solidFill>
                  <a:srgbClr val="000090"/>
                </a:solidFill>
                <a:latin typeface="Arial" pitchFamily="-65" charset="0"/>
                <a:ea typeface="Arial" pitchFamily="-65" charset="0"/>
                <a:cs typeface="Arial" pitchFamily="-65" charset="0"/>
              </a:rPr>
              <a:t>MeV</a:t>
            </a:r>
            <a:r>
              <a:rPr lang="en-US" sz="2300" dirty="0">
                <a:solidFill>
                  <a:srgbClr val="000090"/>
                </a:solidFill>
                <a:latin typeface="Arial" pitchFamily="-65" charset="0"/>
                <a:ea typeface="Arial" pitchFamily="-65" charset="0"/>
                <a:cs typeface="Arial" pitchFamily="-65" charset="0"/>
              </a:rPr>
              <a:t>…</a:t>
            </a:r>
          </a:p>
        </p:txBody>
      </p:sp>
      <p:sp>
        <p:nvSpPr>
          <p:cNvPr id="11" name="10 Rectángulo"/>
          <p:cNvSpPr/>
          <p:nvPr/>
        </p:nvSpPr>
        <p:spPr>
          <a:xfrm>
            <a:off x="304759" y="1852464"/>
            <a:ext cx="4564723" cy="744135"/>
          </a:xfrm>
          <a:prstGeom prst="rect">
            <a:avLst/>
          </a:prstGeom>
          <a:solidFill>
            <a:schemeClr val="accent6">
              <a:lumMod val="20000"/>
              <a:lumOff val="80000"/>
            </a:schemeClr>
          </a:solidFill>
          <a:ln>
            <a:solidFill>
              <a:srgbClr val="4F81BD"/>
            </a:solidFill>
          </a:ln>
        </p:spPr>
        <p:txBody>
          <a:bodyPr lIns="130039" tIns="65020" rIns="130039" bIns="65020">
            <a:spAutoFit/>
          </a:bodyPr>
          <a:lstStyle/>
          <a:p>
            <a:pPr defTabSz="650029" fontAlgn="auto">
              <a:spcBef>
                <a:spcPts val="0"/>
              </a:spcBef>
              <a:spcAft>
                <a:spcPts val="0"/>
              </a:spcAft>
              <a:defRPr/>
            </a:pPr>
            <a:r>
              <a:rPr lang="es-ES" sz="4000" b="1" dirty="0">
                <a:ln w="10541" cmpd="sng">
                  <a:solidFill>
                    <a:schemeClr val="accent1">
                      <a:shade val="88000"/>
                      <a:satMod val="110000"/>
                    </a:schemeClr>
                  </a:solidFill>
                  <a:prstDash val="solid"/>
                </a:ln>
                <a:solidFill>
                  <a:srgbClr val="FF0000"/>
                </a:solidFill>
                <a:latin typeface="Arial" charset="0"/>
                <a:ea typeface="+mn-ea"/>
                <a:cs typeface="Arial" charset="0"/>
              </a:rPr>
              <a:t>ACCELERATORS</a:t>
            </a:r>
          </a:p>
        </p:txBody>
      </p:sp>
      <p:sp>
        <p:nvSpPr>
          <p:cNvPr id="9"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4</a:t>
            </a:fld>
            <a:endParaRPr lang="en-US" dirty="0"/>
          </a:p>
        </p:txBody>
      </p:sp>
      <p:graphicFrame>
        <p:nvGraphicFramePr>
          <p:cNvPr id="3" name="Tabella 2"/>
          <p:cNvGraphicFramePr>
            <a:graphicFrameLocks noGrp="1"/>
          </p:cNvGraphicFramePr>
          <p:nvPr>
            <p:extLst>
              <p:ext uri="{D42A27DB-BD31-4B8C-83A1-F6EECF244321}">
                <p14:modId xmlns:p14="http://schemas.microsoft.com/office/powerpoint/2010/main" val="2209754276"/>
              </p:ext>
            </p:extLst>
          </p:nvPr>
        </p:nvGraphicFramePr>
        <p:xfrm>
          <a:off x="453728" y="6302568"/>
          <a:ext cx="5184576" cy="2966720"/>
        </p:xfrm>
        <a:graphic>
          <a:graphicData uri="http://schemas.openxmlformats.org/drawingml/2006/table">
            <a:tbl>
              <a:tblPr firstRow="1" bandRow="1">
                <a:tableStyleId>{5C22544A-7EE6-4342-B048-85BDC9FD1C3A}</a:tableStyleId>
              </a:tblPr>
              <a:tblGrid>
                <a:gridCol w="2520279"/>
                <a:gridCol w="1296144"/>
                <a:gridCol w="1368153"/>
              </a:tblGrid>
              <a:tr h="370840">
                <a:tc>
                  <a:txBody>
                    <a:bodyPr/>
                    <a:lstStyle/>
                    <a:p>
                      <a:endParaRPr lang="it-IT" dirty="0"/>
                    </a:p>
                  </a:txBody>
                  <a:tcPr/>
                </a:tc>
                <a:tc>
                  <a:txBody>
                    <a:bodyPr/>
                    <a:lstStyle/>
                    <a:p>
                      <a:pPr algn="ctr"/>
                      <a:r>
                        <a:rPr lang="it-IT" dirty="0" err="1" smtClean="0"/>
                        <a:t>Nominal</a:t>
                      </a:r>
                      <a:endParaRPr lang="it-IT" dirty="0"/>
                    </a:p>
                  </a:txBody>
                  <a:tcPr/>
                </a:tc>
                <a:tc>
                  <a:txBody>
                    <a:bodyPr/>
                    <a:lstStyle/>
                    <a:p>
                      <a:pPr algn="ctr"/>
                      <a:r>
                        <a:rPr lang="it-IT" dirty="0" smtClean="0"/>
                        <a:t>Upgrade</a:t>
                      </a:r>
                      <a:endParaRPr lang="it-IT" dirty="0"/>
                    </a:p>
                  </a:txBody>
                  <a:tcPr/>
                </a:tc>
              </a:tr>
              <a:tr h="370840">
                <a:tc>
                  <a:txBody>
                    <a:bodyPr/>
                    <a:lstStyle/>
                    <a:p>
                      <a:r>
                        <a:rPr lang="it-IT" dirty="0" err="1" smtClean="0"/>
                        <a:t>Average</a:t>
                      </a:r>
                      <a:r>
                        <a:rPr lang="it-IT" dirty="0" smtClean="0"/>
                        <a:t> </a:t>
                      </a:r>
                      <a:r>
                        <a:rPr lang="it-IT" dirty="0" err="1" smtClean="0"/>
                        <a:t>beam</a:t>
                      </a:r>
                      <a:r>
                        <a:rPr lang="it-IT" dirty="0" smtClean="0"/>
                        <a:t> </a:t>
                      </a:r>
                      <a:r>
                        <a:rPr lang="it-IT" dirty="0" err="1" smtClean="0"/>
                        <a:t>power</a:t>
                      </a:r>
                      <a:endParaRPr lang="it-IT" dirty="0"/>
                    </a:p>
                  </a:txBody>
                  <a:tcPr/>
                </a:tc>
                <a:tc>
                  <a:txBody>
                    <a:bodyPr/>
                    <a:lstStyle/>
                    <a:p>
                      <a:pPr algn="ctr"/>
                      <a:r>
                        <a:rPr lang="it-IT" dirty="0" smtClean="0"/>
                        <a:t>5.0 MW</a:t>
                      </a:r>
                      <a:endParaRPr lang="it-IT" dirty="0"/>
                    </a:p>
                  </a:txBody>
                  <a:tcPr/>
                </a:tc>
                <a:tc>
                  <a:txBody>
                    <a:bodyPr/>
                    <a:lstStyle/>
                    <a:p>
                      <a:pPr algn="ctr"/>
                      <a:r>
                        <a:rPr lang="it-IT" dirty="0" smtClean="0"/>
                        <a:t>7.5 MW</a:t>
                      </a:r>
                      <a:endParaRPr lang="it-IT" dirty="0"/>
                    </a:p>
                  </a:txBody>
                  <a:tcPr/>
                </a:tc>
              </a:tr>
              <a:tr h="370840">
                <a:tc>
                  <a:txBody>
                    <a:bodyPr/>
                    <a:lstStyle/>
                    <a:p>
                      <a:r>
                        <a:rPr lang="it-IT" dirty="0" err="1" smtClean="0"/>
                        <a:t>Macropulse</a:t>
                      </a:r>
                      <a:r>
                        <a:rPr lang="it-IT" dirty="0" smtClean="0"/>
                        <a:t> </a:t>
                      </a:r>
                      <a:r>
                        <a:rPr lang="it-IT" dirty="0" err="1" smtClean="0"/>
                        <a:t>length</a:t>
                      </a:r>
                      <a:endParaRPr lang="it-IT" dirty="0"/>
                    </a:p>
                  </a:txBody>
                  <a:tcPr/>
                </a:tc>
                <a:tc>
                  <a:txBody>
                    <a:bodyPr/>
                    <a:lstStyle/>
                    <a:p>
                      <a:pPr algn="ctr"/>
                      <a:r>
                        <a:rPr lang="it-IT" dirty="0" smtClean="0"/>
                        <a:t>2.86 </a:t>
                      </a:r>
                      <a:r>
                        <a:rPr lang="it-IT" dirty="0" err="1" smtClean="0"/>
                        <a:t>ms</a:t>
                      </a:r>
                      <a:endParaRPr lang="it-IT" dirty="0"/>
                    </a:p>
                  </a:txBody>
                  <a:tcPr/>
                </a:tc>
                <a:tc>
                  <a:txBody>
                    <a:bodyPr/>
                    <a:lstStyle/>
                    <a:p>
                      <a:pPr algn="ctr"/>
                      <a:r>
                        <a:rPr lang="it-IT" dirty="0" smtClean="0"/>
                        <a:t>2.86</a:t>
                      </a:r>
                      <a:r>
                        <a:rPr lang="it-IT" baseline="0" dirty="0" smtClean="0"/>
                        <a:t> </a:t>
                      </a:r>
                      <a:r>
                        <a:rPr lang="it-IT" baseline="0" dirty="0" err="1" smtClean="0"/>
                        <a:t>ms</a:t>
                      </a:r>
                      <a:endParaRPr lang="it-IT" dirty="0"/>
                    </a:p>
                  </a:txBody>
                  <a:tcPr/>
                </a:tc>
              </a:tr>
              <a:tr h="370840">
                <a:tc>
                  <a:txBody>
                    <a:bodyPr/>
                    <a:lstStyle/>
                    <a:p>
                      <a:r>
                        <a:rPr lang="it-IT" dirty="0" err="1" smtClean="0"/>
                        <a:t>Repetition</a:t>
                      </a:r>
                      <a:r>
                        <a:rPr lang="it-IT" baseline="0" dirty="0" smtClean="0"/>
                        <a:t> rate</a:t>
                      </a:r>
                      <a:endParaRPr lang="it-IT" dirty="0"/>
                    </a:p>
                  </a:txBody>
                  <a:tcPr/>
                </a:tc>
                <a:tc>
                  <a:txBody>
                    <a:bodyPr/>
                    <a:lstStyle/>
                    <a:p>
                      <a:pPr algn="ctr"/>
                      <a:r>
                        <a:rPr lang="it-IT" dirty="0" smtClean="0"/>
                        <a:t>14 Hz</a:t>
                      </a:r>
                      <a:endParaRPr lang="it-IT" dirty="0"/>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it-IT" dirty="0" smtClean="0"/>
                        <a:t>14 Hz</a:t>
                      </a:r>
                    </a:p>
                  </a:txBody>
                  <a:tcPr/>
                </a:tc>
              </a:tr>
              <a:tr h="370840">
                <a:tc>
                  <a:txBody>
                    <a:bodyPr/>
                    <a:lstStyle/>
                    <a:p>
                      <a:r>
                        <a:rPr lang="it-IT" dirty="0" smtClean="0"/>
                        <a:t>Proton </a:t>
                      </a:r>
                      <a:r>
                        <a:rPr lang="it-IT" dirty="0" err="1" smtClean="0"/>
                        <a:t>energy</a:t>
                      </a:r>
                      <a:endParaRPr lang="it-IT" dirty="0"/>
                    </a:p>
                  </a:txBody>
                  <a:tcPr/>
                </a:tc>
                <a:tc>
                  <a:txBody>
                    <a:bodyPr/>
                    <a:lstStyle/>
                    <a:p>
                      <a:pPr algn="ctr"/>
                      <a:r>
                        <a:rPr lang="it-IT" dirty="0" smtClean="0"/>
                        <a:t>2.5 </a:t>
                      </a:r>
                      <a:r>
                        <a:rPr lang="it-IT" dirty="0" err="1" smtClean="0"/>
                        <a:t>GeV</a:t>
                      </a:r>
                      <a:endParaRPr lang="it-IT" dirty="0"/>
                    </a:p>
                  </a:txBody>
                  <a:tcPr/>
                </a:tc>
                <a:tc>
                  <a:txBody>
                    <a:bodyPr/>
                    <a:lstStyle/>
                    <a:p>
                      <a:pPr algn="ctr"/>
                      <a:r>
                        <a:rPr lang="it-IT" dirty="0" smtClean="0"/>
                        <a:t>2.5 </a:t>
                      </a:r>
                      <a:r>
                        <a:rPr lang="it-IT" dirty="0" err="1" smtClean="0"/>
                        <a:t>GeV</a:t>
                      </a:r>
                      <a:endParaRPr lang="it-IT" dirty="0"/>
                    </a:p>
                  </a:txBody>
                  <a:tcPr/>
                </a:tc>
              </a:tr>
              <a:tr h="370840">
                <a:tc>
                  <a:txBody>
                    <a:bodyPr/>
                    <a:lstStyle/>
                    <a:p>
                      <a:r>
                        <a:rPr lang="it-IT" dirty="0" err="1" smtClean="0"/>
                        <a:t>Beam</a:t>
                      </a:r>
                      <a:r>
                        <a:rPr lang="it-IT" dirty="0" smtClean="0"/>
                        <a:t> </a:t>
                      </a:r>
                      <a:r>
                        <a:rPr lang="it-IT" dirty="0" err="1" smtClean="0"/>
                        <a:t>current</a:t>
                      </a:r>
                      <a:endParaRPr lang="it-IT" dirty="0"/>
                    </a:p>
                  </a:txBody>
                  <a:tcPr/>
                </a:tc>
                <a:tc>
                  <a:txBody>
                    <a:bodyPr/>
                    <a:lstStyle/>
                    <a:p>
                      <a:pPr algn="ctr"/>
                      <a:r>
                        <a:rPr lang="it-IT" dirty="0" smtClean="0"/>
                        <a:t>50 </a:t>
                      </a:r>
                      <a:r>
                        <a:rPr lang="it-IT" dirty="0" err="1" smtClean="0"/>
                        <a:t>mA</a:t>
                      </a:r>
                      <a:endParaRPr lang="it-IT" dirty="0"/>
                    </a:p>
                  </a:txBody>
                  <a:tcPr/>
                </a:tc>
                <a:tc>
                  <a:txBody>
                    <a:bodyPr/>
                    <a:lstStyle/>
                    <a:p>
                      <a:pPr algn="ctr"/>
                      <a:r>
                        <a:rPr lang="it-IT" dirty="0" smtClean="0"/>
                        <a:t>75 </a:t>
                      </a:r>
                      <a:r>
                        <a:rPr lang="it-IT" dirty="0" err="1" smtClean="0"/>
                        <a:t>mA</a:t>
                      </a:r>
                      <a:endParaRPr lang="it-IT" dirty="0"/>
                    </a:p>
                  </a:txBody>
                  <a:tcPr/>
                </a:tc>
              </a:tr>
              <a:tr h="370840">
                <a:tc>
                  <a:txBody>
                    <a:bodyPr/>
                    <a:lstStyle/>
                    <a:p>
                      <a:r>
                        <a:rPr lang="it-IT" dirty="0" smtClean="0"/>
                        <a:t>Duty </a:t>
                      </a:r>
                      <a:r>
                        <a:rPr lang="it-IT" dirty="0" err="1" smtClean="0"/>
                        <a:t>factor</a:t>
                      </a:r>
                      <a:endParaRPr lang="it-IT" dirty="0"/>
                    </a:p>
                  </a:txBody>
                  <a:tcPr/>
                </a:tc>
                <a:tc>
                  <a:txBody>
                    <a:bodyPr/>
                    <a:lstStyle/>
                    <a:p>
                      <a:pPr algn="ctr"/>
                      <a:r>
                        <a:rPr lang="it-IT" dirty="0" smtClean="0"/>
                        <a:t>4%</a:t>
                      </a:r>
                      <a:endParaRPr lang="it-IT" dirty="0"/>
                    </a:p>
                  </a:txBody>
                  <a:tcPr/>
                </a:tc>
                <a:tc>
                  <a:txBody>
                    <a:bodyPr/>
                    <a:lstStyle/>
                    <a:p>
                      <a:pPr algn="ctr"/>
                      <a:r>
                        <a:rPr lang="it-IT" dirty="0" smtClean="0"/>
                        <a:t>4%</a:t>
                      </a:r>
                      <a:endParaRPr lang="it-IT" dirty="0"/>
                    </a:p>
                  </a:txBody>
                  <a:tcPr/>
                </a:tc>
              </a:tr>
              <a:tr h="370840">
                <a:tc>
                  <a:txBody>
                    <a:bodyPr/>
                    <a:lstStyle/>
                    <a:p>
                      <a:r>
                        <a:rPr lang="it-IT" dirty="0" err="1" smtClean="0"/>
                        <a:t>Beam</a:t>
                      </a:r>
                      <a:r>
                        <a:rPr lang="it-IT" dirty="0" smtClean="0"/>
                        <a:t> </a:t>
                      </a:r>
                      <a:r>
                        <a:rPr lang="it-IT" dirty="0" err="1" smtClean="0"/>
                        <a:t>loss</a:t>
                      </a:r>
                      <a:r>
                        <a:rPr lang="it-IT" dirty="0" smtClean="0"/>
                        <a:t> rate</a:t>
                      </a:r>
                      <a:endParaRPr lang="it-IT" dirty="0"/>
                    </a:p>
                  </a:txBody>
                  <a:tcPr/>
                </a:tc>
                <a:tc>
                  <a:txBody>
                    <a:bodyPr/>
                    <a:lstStyle/>
                    <a:p>
                      <a:pPr algn="ctr"/>
                      <a:r>
                        <a:rPr lang="it-IT" dirty="0" smtClean="0"/>
                        <a:t>&lt; 1 </a:t>
                      </a:r>
                      <a:r>
                        <a:rPr lang="it-IT" dirty="0" err="1" smtClean="0"/>
                        <a:t>W</a:t>
                      </a:r>
                      <a:r>
                        <a:rPr lang="it-IT" dirty="0" smtClean="0"/>
                        <a:t>/m</a:t>
                      </a:r>
                      <a:endParaRPr lang="it-IT" dirty="0"/>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it-IT" dirty="0" smtClean="0"/>
                        <a:t>&lt; 1 </a:t>
                      </a:r>
                      <a:r>
                        <a:rPr lang="it-IT" dirty="0" err="1" smtClean="0"/>
                        <a:t>W</a:t>
                      </a:r>
                      <a:r>
                        <a:rPr lang="it-IT" dirty="0" smtClean="0"/>
                        <a:t>/m</a:t>
                      </a:r>
                    </a:p>
                  </a:txBody>
                  <a:tcPr/>
                </a:tc>
              </a:tr>
            </a:tbl>
          </a:graphicData>
        </a:graphic>
      </p:graphicFrame>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1" name="Picture 18" descr="site-small"/>
          <p:cNvPicPr>
            <a:picLocks noChangeAspect="1" noChangeArrowheads="1"/>
          </p:cNvPicPr>
          <p:nvPr/>
        </p:nvPicPr>
        <p:blipFill>
          <a:blip r:embed="rId3">
            <a:extLst>
              <a:ext uri="{28A0092B-C50C-407E-A947-70E740481C1C}">
                <a14:useLocalDpi xmlns:a14="http://schemas.microsoft.com/office/drawing/2010/main" val="0"/>
              </a:ext>
            </a:extLst>
          </a:blip>
          <a:srcRect t="1184" b="4094"/>
          <a:stretch>
            <a:fillRect/>
          </a:stretch>
        </p:blipFill>
        <p:spPr bwMode="auto">
          <a:xfrm>
            <a:off x="50328" y="2140496"/>
            <a:ext cx="13004800" cy="7632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Rectangle 10"/>
          <p:cNvSpPr>
            <a:spLocks noChangeArrowheads="1"/>
          </p:cNvSpPr>
          <p:nvPr/>
        </p:nvSpPr>
        <p:spPr bwMode="auto">
          <a:xfrm>
            <a:off x="1300480" y="8561493"/>
            <a:ext cx="10512213" cy="86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05" tIns="65003" rIns="130005" bIns="65003" anchor="ctr"/>
          <a:lstStyle/>
          <a:p>
            <a:pPr algn="ctr"/>
            <a:endParaRPr lang="it-IT">
              <a:solidFill>
                <a:srgbClr val="FF0000"/>
              </a:solidFill>
            </a:endParaRPr>
          </a:p>
        </p:txBody>
      </p:sp>
      <p:sp>
        <p:nvSpPr>
          <p:cNvPr id="30724" name="Rectangle 3"/>
          <p:cNvSpPr>
            <a:spLocks noChangeArrowheads="1"/>
          </p:cNvSpPr>
          <p:nvPr/>
        </p:nvSpPr>
        <p:spPr bwMode="auto">
          <a:xfrm>
            <a:off x="2235201" y="1780456"/>
            <a:ext cx="10363200" cy="3149601"/>
          </a:xfrm>
          <a:prstGeom prst="rect">
            <a:avLst/>
          </a:prstGeom>
          <a:solidFill>
            <a:srgbClr val="CECEEF"/>
          </a:solidFill>
          <a:ln w="12700">
            <a:solidFill>
              <a:srgbClr val="5C6C91"/>
            </a:solidFill>
            <a:miter lim="800000"/>
            <a:headEnd/>
            <a:tailEnd/>
          </a:ln>
        </p:spPr>
        <p:txBody>
          <a:bodyPr lIns="127991" tIns="66556" rIns="127991" bIns="66556" anchor="ctr"/>
          <a:lstStyle/>
          <a:p>
            <a:pPr marL="250610" indent="-250610" algn="l">
              <a:buFont typeface="Arial" charset="0"/>
              <a:buChar char="•"/>
            </a:pPr>
            <a:r>
              <a:rPr lang="en-US" sz="2300" b="1" dirty="0">
                <a:solidFill>
                  <a:srgbClr val="000090"/>
                </a:solidFill>
                <a:cs typeface="Arial" charset="0"/>
              </a:rPr>
              <a:t>Radio frequency </a:t>
            </a:r>
            <a:r>
              <a:rPr lang="en-US" sz="2300" dirty="0">
                <a:solidFill>
                  <a:srgbClr val="000090"/>
                </a:solidFill>
                <a:cs typeface="Arial" charset="0"/>
              </a:rPr>
              <a:t>issues: where are we on high-gradient cavities and high power couplers, and current expectancies; current problems with the operation of high power, high duty cycle klystron/modulator systems,</a:t>
            </a:r>
          </a:p>
          <a:p>
            <a:pPr marL="250610" indent="-250610" algn="l">
              <a:buFont typeface="Arial" charset="0"/>
              <a:buChar char="•"/>
            </a:pPr>
            <a:r>
              <a:rPr lang="en-US" sz="2300" dirty="0">
                <a:solidFill>
                  <a:srgbClr val="000090"/>
                </a:solidFill>
                <a:cs typeface="Arial" charset="0"/>
              </a:rPr>
              <a:t>Compatibility of the proposed ESS design with </a:t>
            </a:r>
            <a:r>
              <a:rPr lang="en-US" sz="2300" b="1" dirty="0">
                <a:solidFill>
                  <a:srgbClr val="000090"/>
                </a:solidFill>
                <a:cs typeface="Arial" charset="0"/>
              </a:rPr>
              <a:t>future upgrades</a:t>
            </a:r>
          </a:p>
          <a:p>
            <a:pPr marL="250610" indent="-250610" algn="l">
              <a:buFont typeface="Arial" charset="0"/>
              <a:buChar char="•"/>
            </a:pPr>
            <a:r>
              <a:rPr lang="en-US" sz="2300" b="1" dirty="0">
                <a:solidFill>
                  <a:srgbClr val="000090"/>
                </a:solidFill>
                <a:cs typeface="Arial" charset="0"/>
              </a:rPr>
              <a:t>Energy usage</a:t>
            </a:r>
            <a:r>
              <a:rPr lang="en-US" sz="2300" dirty="0">
                <a:solidFill>
                  <a:srgbClr val="000090"/>
                </a:solidFill>
                <a:cs typeface="Arial" charset="0"/>
              </a:rPr>
              <a:t>, how to minimize electricity consumption without seriously compromising the performance</a:t>
            </a:r>
            <a:endParaRPr lang="es-ES_tradnl" sz="2300" dirty="0">
              <a:solidFill>
                <a:srgbClr val="000090"/>
              </a:solidFill>
              <a:cs typeface="Arial" charset="0"/>
            </a:endParaRPr>
          </a:p>
        </p:txBody>
      </p:sp>
      <p:sp>
        <p:nvSpPr>
          <p:cNvPr id="14" name="9 Rectángulo"/>
          <p:cNvSpPr/>
          <p:nvPr/>
        </p:nvSpPr>
        <p:spPr>
          <a:xfrm>
            <a:off x="4270152" y="1060376"/>
            <a:ext cx="4564723" cy="744135"/>
          </a:xfrm>
          <a:prstGeom prst="rect">
            <a:avLst/>
          </a:prstGeom>
          <a:solidFill>
            <a:srgbClr val="CECEEF"/>
          </a:solidFill>
        </p:spPr>
        <p:txBody>
          <a:bodyPr lIns="130039" tIns="65020" rIns="130039" bIns="65020">
            <a:spAutoFit/>
          </a:bodyPr>
          <a:lstStyle/>
          <a:p>
            <a:pPr defTabSz="650029" fontAlgn="auto">
              <a:spcBef>
                <a:spcPts val="0"/>
              </a:spcBef>
              <a:spcAft>
                <a:spcPts val="0"/>
              </a:spcAft>
              <a:defRPr/>
            </a:pPr>
            <a:r>
              <a:rPr lang="es-ES" sz="4000" b="1" dirty="0">
                <a:ln w="10541" cmpd="sng">
                  <a:solidFill>
                    <a:schemeClr val="accent1">
                      <a:shade val="88000"/>
                      <a:satMod val="110000"/>
                    </a:schemeClr>
                  </a:solidFill>
                  <a:prstDash val="solid"/>
                </a:ln>
                <a:solidFill>
                  <a:srgbClr val="FF0000"/>
                </a:solidFill>
                <a:latin typeface="Arial" charset="0"/>
                <a:ea typeface="+mn-ea"/>
                <a:cs typeface="Arial" charset="0"/>
              </a:rPr>
              <a:t>ACCELERATORS</a:t>
            </a:r>
          </a:p>
        </p:txBody>
      </p:sp>
      <p:sp>
        <p:nvSpPr>
          <p:cNvPr id="9"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5</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0"/>
          <p:cNvSpPr>
            <a:spLocks noChangeArrowheads="1"/>
          </p:cNvSpPr>
          <p:nvPr/>
        </p:nvSpPr>
        <p:spPr bwMode="auto">
          <a:xfrm>
            <a:off x="178366" y="2328257"/>
            <a:ext cx="12648071" cy="2904401"/>
          </a:xfrm>
          <a:prstGeom prst="rect">
            <a:avLst/>
          </a:prstGeom>
          <a:solidFill>
            <a:srgbClr val="CECEEF"/>
          </a:solidFill>
          <a:ln w="28575">
            <a:solidFill>
              <a:srgbClr val="336699"/>
            </a:solidFill>
            <a:miter lim="800000"/>
            <a:headEnd/>
            <a:tailEnd/>
          </a:ln>
        </p:spPr>
        <p:txBody>
          <a:bodyPr lIns="127991" tIns="66556" rIns="127991" bIns="66556" anchor="ctr">
            <a:spAutoFit/>
          </a:bodyPr>
          <a:lstStyle/>
          <a:p>
            <a:pPr algn="just"/>
            <a:r>
              <a:rPr lang="en-US" sz="3600" i="1" dirty="0">
                <a:solidFill>
                  <a:srgbClr val="000090"/>
                </a:solidFill>
              </a:rPr>
              <a:t>In comparison to the originally proposed design (5 MW, 1 </a:t>
            </a:r>
            <a:r>
              <a:rPr lang="en-US" sz="3600" i="1" dirty="0" err="1">
                <a:solidFill>
                  <a:srgbClr val="000090"/>
                </a:solidFill>
              </a:rPr>
              <a:t>GeV</a:t>
            </a:r>
            <a:r>
              <a:rPr lang="en-US" sz="3600" i="1" dirty="0">
                <a:solidFill>
                  <a:srgbClr val="000090"/>
                </a:solidFill>
              </a:rPr>
              <a:t>, 150 </a:t>
            </a:r>
            <a:r>
              <a:rPr lang="en-US" sz="3600" i="1" dirty="0" smtClean="0">
                <a:solidFill>
                  <a:srgbClr val="000090"/>
                </a:solidFill>
              </a:rPr>
              <a:t>mA) </a:t>
            </a:r>
            <a:r>
              <a:rPr lang="en-US" sz="3600" i="1" u="sng" dirty="0">
                <a:solidFill>
                  <a:srgbClr val="000090"/>
                </a:solidFill>
              </a:rPr>
              <a:t>the parameters have been modified in 2009 </a:t>
            </a:r>
            <a:r>
              <a:rPr lang="en-US" sz="3600" i="1" dirty="0">
                <a:solidFill>
                  <a:srgbClr val="000090"/>
                </a:solidFill>
              </a:rPr>
              <a:t>in order to </a:t>
            </a:r>
            <a:r>
              <a:rPr lang="en-US" sz="3600" b="1" i="1" dirty="0">
                <a:solidFill>
                  <a:srgbClr val="000090"/>
                </a:solidFill>
              </a:rPr>
              <a:t>simplify the </a:t>
            </a:r>
            <a:r>
              <a:rPr lang="en-US" sz="3600" b="1" i="1" dirty="0" err="1">
                <a:solidFill>
                  <a:srgbClr val="000090"/>
                </a:solidFill>
              </a:rPr>
              <a:t>linac</a:t>
            </a:r>
            <a:r>
              <a:rPr lang="en-US" sz="3600" b="1" i="1" dirty="0">
                <a:solidFill>
                  <a:srgbClr val="000090"/>
                </a:solidFill>
              </a:rPr>
              <a:t> design </a:t>
            </a:r>
            <a:r>
              <a:rPr lang="en-US" sz="3600" i="1" dirty="0">
                <a:solidFill>
                  <a:srgbClr val="000090"/>
                </a:solidFill>
              </a:rPr>
              <a:t>and to </a:t>
            </a:r>
            <a:r>
              <a:rPr lang="en-US" sz="3600" b="1" i="1" dirty="0">
                <a:solidFill>
                  <a:srgbClr val="000090"/>
                </a:solidFill>
              </a:rPr>
              <a:t>increase its reliability</a:t>
            </a:r>
            <a:r>
              <a:rPr lang="en-US" sz="3600" i="1" dirty="0">
                <a:solidFill>
                  <a:srgbClr val="000090"/>
                </a:solidFill>
              </a:rPr>
              <a:t>. The current has been decreased and the final energy increased, keeping the footprint of the accelerator the same.</a:t>
            </a:r>
          </a:p>
        </p:txBody>
      </p:sp>
      <p:sp>
        <p:nvSpPr>
          <p:cNvPr id="31746" name="Rectangle 20"/>
          <p:cNvSpPr>
            <a:spLocks noChangeArrowheads="1"/>
          </p:cNvSpPr>
          <p:nvPr/>
        </p:nvSpPr>
        <p:spPr bwMode="auto">
          <a:xfrm>
            <a:off x="101601" y="5378624"/>
            <a:ext cx="12826435" cy="3015201"/>
          </a:xfrm>
          <a:prstGeom prst="rect">
            <a:avLst/>
          </a:prstGeom>
          <a:solidFill>
            <a:srgbClr val="CECEEF"/>
          </a:solidFill>
          <a:ln w="28575">
            <a:solidFill>
              <a:srgbClr val="336699"/>
            </a:solidFill>
            <a:miter lim="800000"/>
            <a:headEnd/>
            <a:tailEnd/>
          </a:ln>
        </p:spPr>
        <p:txBody>
          <a:bodyPr lIns="127991" tIns="66556" rIns="127991" bIns="66556" anchor="ctr">
            <a:spAutoFit/>
          </a:bodyPr>
          <a:lstStyle/>
          <a:p>
            <a:pPr marL="370270" indent="-370270" algn="l">
              <a:spcBef>
                <a:spcPct val="10000"/>
              </a:spcBef>
              <a:spcAft>
                <a:spcPct val="10000"/>
              </a:spcAft>
              <a:buClr>
                <a:srgbClr val="C00000"/>
              </a:buClr>
              <a:buFont typeface="Wingdings" charset="0"/>
              <a:buChar char="ü"/>
            </a:pPr>
            <a:r>
              <a:rPr lang="en-US" sz="2400" b="1" i="1" dirty="0">
                <a:solidFill>
                  <a:srgbClr val="000090"/>
                </a:solidFill>
              </a:rPr>
              <a:t>Decrease in current </a:t>
            </a:r>
            <a:r>
              <a:rPr lang="en-US" sz="2400" i="1" dirty="0">
                <a:solidFill>
                  <a:srgbClr val="000090"/>
                </a:solidFill>
              </a:rPr>
              <a:t>– With increased energy the average pulse current is reduced </a:t>
            </a:r>
            <a:endParaRPr lang="en-US" sz="2400" i="1" dirty="0" smtClean="0">
              <a:solidFill>
                <a:srgbClr val="000090"/>
              </a:solidFill>
            </a:endParaRPr>
          </a:p>
          <a:p>
            <a:pPr marL="370270" indent="-370270" algn="l">
              <a:spcBef>
                <a:spcPct val="10000"/>
              </a:spcBef>
              <a:spcAft>
                <a:spcPct val="10000"/>
              </a:spcAft>
              <a:buClr>
                <a:srgbClr val="C00000"/>
              </a:buClr>
              <a:buFont typeface="Wingdings" charset="0"/>
              <a:buChar char="ü"/>
            </a:pPr>
            <a:r>
              <a:rPr lang="en-US" sz="2400" b="1" i="1" dirty="0" smtClean="0">
                <a:solidFill>
                  <a:srgbClr val="000090"/>
                </a:solidFill>
              </a:rPr>
              <a:t>Increase </a:t>
            </a:r>
            <a:r>
              <a:rPr lang="en-US" sz="2400" b="1" i="1" dirty="0">
                <a:solidFill>
                  <a:srgbClr val="000090"/>
                </a:solidFill>
              </a:rPr>
              <a:t>of the cavity gradient </a:t>
            </a:r>
            <a:r>
              <a:rPr lang="en-US" sz="2400" i="1" dirty="0">
                <a:solidFill>
                  <a:srgbClr val="000090"/>
                </a:solidFill>
              </a:rPr>
              <a:t>– By decreasing the current, the gradient can be raised to 15 MV/m, keeping the coupler power </a:t>
            </a:r>
            <a:r>
              <a:rPr lang="en-US" sz="2400" i="1" dirty="0" smtClean="0">
                <a:solidFill>
                  <a:srgbClr val="000090"/>
                </a:solidFill>
              </a:rPr>
              <a:t>constant.</a:t>
            </a:r>
            <a:endParaRPr lang="en-US" sz="2400" i="1" dirty="0">
              <a:solidFill>
                <a:srgbClr val="000090"/>
              </a:solidFill>
            </a:endParaRPr>
          </a:p>
          <a:p>
            <a:pPr marL="370270" indent="-370270" algn="l">
              <a:spcBef>
                <a:spcPct val="10000"/>
              </a:spcBef>
              <a:spcAft>
                <a:spcPct val="10000"/>
              </a:spcAft>
              <a:buClr>
                <a:srgbClr val="C00000"/>
              </a:buClr>
              <a:buFont typeface="Wingdings" charset="0"/>
              <a:buChar char="ü"/>
            </a:pPr>
            <a:r>
              <a:rPr lang="en-US" sz="2400" b="1" i="1" dirty="0">
                <a:solidFill>
                  <a:srgbClr val="000090"/>
                </a:solidFill>
              </a:rPr>
              <a:t>Increase of beam </a:t>
            </a:r>
            <a:r>
              <a:rPr lang="en-US" sz="2400" b="1" i="1" dirty="0" smtClean="0">
                <a:solidFill>
                  <a:srgbClr val="000090"/>
                </a:solidFill>
              </a:rPr>
              <a:t>energy</a:t>
            </a:r>
            <a:r>
              <a:rPr lang="en-US" sz="2400" i="1" dirty="0" smtClean="0">
                <a:solidFill>
                  <a:srgbClr val="000090"/>
                </a:solidFill>
              </a:rPr>
              <a:t>.</a:t>
            </a:r>
            <a:endParaRPr lang="en-US" sz="2400" i="1" dirty="0">
              <a:solidFill>
                <a:srgbClr val="000090"/>
              </a:solidFill>
            </a:endParaRPr>
          </a:p>
          <a:p>
            <a:pPr marL="370270" indent="-370270" algn="l">
              <a:spcBef>
                <a:spcPct val="10000"/>
              </a:spcBef>
              <a:spcAft>
                <a:spcPct val="10000"/>
              </a:spcAft>
              <a:buClr>
                <a:srgbClr val="C00000"/>
              </a:buClr>
              <a:buFont typeface="Wingdings" charset="0"/>
              <a:buChar char="ü"/>
            </a:pPr>
            <a:r>
              <a:rPr lang="en-US" sz="2400" b="1" i="1" dirty="0">
                <a:solidFill>
                  <a:srgbClr val="000090"/>
                </a:solidFill>
              </a:rPr>
              <a:t>Repetition rate </a:t>
            </a:r>
            <a:r>
              <a:rPr lang="en-US" sz="2400" i="1" dirty="0">
                <a:solidFill>
                  <a:srgbClr val="000090"/>
                </a:solidFill>
              </a:rPr>
              <a:t>- The originally proposed repetition rate of 16.67 Hz has been </a:t>
            </a:r>
            <a:r>
              <a:rPr lang="en-US" sz="2400" i="1" dirty="0" smtClean="0">
                <a:solidFill>
                  <a:srgbClr val="000090"/>
                </a:solidFill>
              </a:rPr>
              <a:t>changed to 20 and then to 14 </a:t>
            </a:r>
            <a:r>
              <a:rPr lang="en-US" sz="2400" i="1" dirty="0">
                <a:solidFill>
                  <a:srgbClr val="000090"/>
                </a:solidFill>
              </a:rPr>
              <a:t>Hz.</a:t>
            </a:r>
          </a:p>
          <a:p>
            <a:pPr marL="370270" indent="-370270" algn="l">
              <a:spcBef>
                <a:spcPct val="10000"/>
              </a:spcBef>
              <a:spcAft>
                <a:spcPct val="10000"/>
              </a:spcAft>
              <a:buClr>
                <a:srgbClr val="C00000"/>
              </a:buClr>
              <a:buFont typeface="Wingdings" charset="0"/>
              <a:buChar char="ü"/>
            </a:pPr>
            <a:r>
              <a:rPr lang="en-US" sz="2400" b="1" i="1" dirty="0">
                <a:solidFill>
                  <a:srgbClr val="000090"/>
                </a:solidFill>
              </a:rPr>
              <a:t>Pulse length </a:t>
            </a:r>
            <a:r>
              <a:rPr lang="en-US" sz="2400" i="1" dirty="0">
                <a:solidFill>
                  <a:srgbClr val="000090"/>
                </a:solidFill>
              </a:rPr>
              <a:t>–</a:t>
            </a:r>
            <a:r>
              <a:rPr lang="en-US" sz="2400" i="1" dirty="0" smtClean="0">
                <a:solidFill>
                  <a:srgbClr val="000090"/>
                </a:solidFill>
              </a:rPr>
              <a:t>2.86 </a:t>
            </a:r>
            <a:r>
              <a:rPr lang="en-US" sz="2400" i="1" dirty="0" err="1">
                <a:solidFill>
                  <a:srgbClr val="000090"/>
                </a:solidFill>
              </a:rPr>
              <a:t>ms</a:t>
            </a:r>
            <a:endParaRPr lang="es-ES" sz="2400" i="1" dirty="0">
              <a:solidFill>
                <a:srgbClr val="000090"/>
              </a:solidFill>
            </a:endParaRPr>
          </a:p>
        </p:txBody>
      </p:sp>
      <p:sp>
        <p:nvSpPr>
          <p:cNvPr id="31747" name="Rectangle 20"/>
          <p:cNvSpPr>
            <a:spLocks noChangeArrowheads="1"/>
          </p:cNvSpPr>
          <p:nvPr/>
        </p:nvSpPr>
        <p:spPr bwMode="auto">
          <a:xfrm>
            <a:off x="864730" y="1431761"/>
            <a:ext cx="11530470" cy="780743"/>
          </a:xfrm>
          <a:prstGeom prst="rect">
            <a:avLst/>
          </a:prstGeom>
          <a:solidFill>
            <a:srgbClr val="CECEEF"/>
          </a:solidFill>
          <a:ln w="28575">
            <a:solidFill>
              <a:srgbClr val="C00000"/>
            </a:solidFill>
            <a:miter lim="800000"/>
            <a:headEnd/>
            <a:tailEnd/>
          </a:ln>
        </p:spPr>
        <p:txBody>
          <a:bodyPr lIns="127991" tIns="66556" rIns="127991" bIns="66556" anchor="ctr">
            <a:spAutoFit/>
          </a:bodyPr>
          <a:lstStyle/>
          <a:p>
            <a:pPr marL="370270" indent="-370270">
              <a:spcBef>
                <a:spcPct val="10000"/>
              </a:spcBef>
              <a:spcAft>
                <a:spcPct val="10000"/>
              </a:spcAft>
              <a:buClr>
                <a:srgbClr val="C00000"/>
              </a:buClr>
            </a:pPr>
            <a:r>
              <a:rPr lang="en-US" i="1" dirty="0" smtClean="0">
                <a:solidFill>
                  <a:srgbClr val="FF0000"/>
                </a:solidFill>
              </a:rPr>
              <a:t>Parameters </a:t>
            </a:r>
            <a:r>
              <a:rPr lang="en-US" i="1" dirty="0">
                <a:solidFill>
                  <a:srgbClr val="FF0000"/>
                </a:solidFill>
              </a:rPr>
              <a:t>for the ESS </a:t>
            </a:r>
            <a:r>
              <a:rPr lang="en-US" i="1" dirty="0" err="1">
                <a:solidFill>
                  <a:srgbClr val="FF0000"/>
                </a:solidFill>
              </a:rPr>
              <a:t>linac</a:t>
            </a:r>
            <a:endParaRPr lang="en-US" i="1" dirty="0">
              <a:solidFill>
                <a:srgbClr val="FF0000"/>
              </a:solidFill>
            </a:endParaRPr>
          </a:p>
        </p:txBody>
      </p:sp>
      <p:sp>
        <p:nvSpPr>
          <p:cNvPr id="5"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6</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Picture 18" descr="site-small"/>
          <p:cNvPicPr>
            <a:picLocks noChangeAspect="1" noChangeArrowheads="1"/>
          </p:cNvPicPr>
          <p:nvPr/>
        </p:nvPicPr>
        <p:blipFill>
          <a:blip r:embed="rId3">
            <a:extLst>
              <a:ext uri="{28A0092B-C50C-407E-A947-70E740481C1C}">
                <a14:useLocalDpi xmlns:a14="http://schemas.microsoft.com/office/drawing/2010/main" val="0"/>
              </a:ext>
            </a:extLst>
          </a:blip>
          <a:srcRect t="1184" b="4094"/>
          <a:stretch>
            <a:fillRect/>
          </a:stretch>
        </p:blipFill>
        <p:spPr bwMode="auto">
          <a:xfrm>
            <a:off x="0" y="1404485"/>
            <a:ext cx="13004800" cy="7360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Rectangle 10"/>
          <p:cNvSpPr>
            <a:spLocks noChangeArrowheads="1"/>
          </p:cNvSpPr>
          <p:nvPr/>
        </p:nvSpPr>
        <p:spPr bwMode="auto">
          <a:xfrm>
            <a:off x="1300480" y="8561493"/>
            <a:ext cx="10512213" cy="86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05" tIns="65003" rIns="130005" bIns="65003" anchor="ctr"/>
          <a:lstStyle/>
          <a:p>
            <a:pPr algn="ctr"/>
            <a:endParaRPr lang="it-IT">
              <a:solidFill>
                <a:srgbClr val="FF0000"/>
              </a:solidFill>
            </a:endParaRPr>
          </a:p>
        </p:txBody>
      </p:sp>
      <p:sp>
        <p:nvSpPr>
          <p:cNvPr id="32772" name="Rectangle 20"/>
          <p:cNvSpPr>
            <a:spLocks noChangeArrowheads="1"/>
          </p:cNvSpPr>
          <p:nvPr/>
        </p:nvSpPr>
        <p:spPr bwMode="auto">
          <a:xfrm>
            <a:off x="6502400" y="1276400"/>
            <a:ext cx="6134383" cy="627662"/>
          </a:xfrm>
          <a:prstGeom prst="rect">
            <a:avLst/>
          </a:prstGeom>
          <a:solidFill>
            <a:srgbClr val="CECEEF"/>
          </a:solidFill>
          <a:ln w="28575">
            <a:solidFill>
              <a:srgbClr val="C00000"/>
            </a:solidFill>
            <a:miter lim="800000"/>
            <a:headEnd/>
            <a:tailEnd/>
          </a:ln>
        </p:spPr>
        <p:txBody>
          <a:bodyPr lIns="127991" tIns="66556" rIns="127991" bIns="66556" anchor="ctr">
            <a:spAutoFit/>
          </a:bodyPr>
          <a:lstStyle/>
          <a:p>
            <a:pPr marL="370270" indent="-370270">
              <a:spcBef>
                <a:spcPct val="10000"/>
              </a:spcBef>
              <a:spcAft>
                <a:spcPct val="10000"/>
              </a:spcAft>
              <a:buClr>
                <a:srgbClr val="C00000"/>
              </a:buClr>
            </a:pPr>
            <a:r>
              <a:rPr lang="en-US" sz="3100" i="1">
                <a:solidFill>
                  <a:srgbClr val="FF0000"/>
                </a:solidFill>
              </a:rPr>
              <a:t>Cavities and Cryomodules</a:t>
            </a:r>
          </a:p>
        </p:txBody>
      </p:sp>
      <p:sp>
        <p:nvSpPr>
          <p:cNvPr id="32773" name="Rectangle 20"/>
          <p:cNvSpPr>
            <a:spLocks noChangeArrowheads="1"/>
          </p:cNvSpPr>
          <p:nvPr/>
        </p:nvSpPr>
        <p:spPr bwMode="auto">
          <a:xfrm>
            <a:off x="219969" y="3048889"/>
            <a:ext cx="6426447" cy="3950841"/>
          </a:xfrm>
          <a:prstGeom prst="rect">
            <a:avLst/>
          </a:prstGeom>
          <a:solidFill>
            <a:srgbClr val="CECEEF"/>
          </a:solidFill>
          <a:ln w="28575">
            <a:solidFill>
              <a:srgbClr val="336699"/>
            </a:solidFill>
            <a:miter lim="800000"/>
            <a:headEnd/>
            <a:tailEnd/>
          </a:ln>
        </p:spPr>
        <p:txBody>
          <a:bodyPr wrap="square" lIns="127991" tIns="66556" rIns="127991" bIns="66556" anchor="ctr">
            <a:spAutoFit/>
          </a:bodyPr>
          <a:lstStyle/>
          <a:p>
            <a:pPr algn="l"/>
            <a:r>
              <a:rPr lang="en-US" sz="3100" i="1" dirty="0">
                <a:solidFill>
                  <a:srgbClr val="000090"/>
                </a:solidFill>
              </a:rPr>
              <a:t>The </a:t>
            </a:r>
            <a:r>
              <a:rPr lang="en-US" sz="3100" i="1" dirty="0" err="1" smtClean="0">
                <a:solidFill>
                  <a:srgbClr val="000090"/>
                </a:solidFill>
              </a:rPr>
              <a:t>linac</a:t>
            </a:r>
            <a:r>
              <a:rPr lang="en-US" sz="3100" i="1" dirty="0" smtClean="0">
                <a:solidFill>
                  <a:srgbClr val="000090"/>
                </a:solidFill>
              </a:rPr>
              <a:t> </a:t>
            </a:r>
            <a:r>
              <a:rPr lang="en-US" sz="3100" i="1" dirty="0">
                <a:solidFill>
                  <a:srgbClr val="000090"/>
                </a:solidFill>
              </a:rPr>
              <a:t>parameters that were used are consistent with the </a:t>
            </a:r>
            <a:r>
              <a:rPr lang="en-US" sz="3100" b="1" i="1" dirty="0">
                <a:solidFill>
                  <a:srgbClr val="000090"/>
                </a:solidFill>
              </a:rPr>
              <a:t>SRF technology </a:t>
            </a:r>
            <a:r>
              <a:rPr lang="en-US" sz="3100" i="1" dirty="0">
                <a:solidFill>
                  <a:srgbClr val="000090"/>
                </a:solidFill>
              </a:rPr>
              <a:t>available today or that is expected to be in a 2 </a:t>
            </a:r>
            <a:r>
              <a:rPr lang="en-US" sz="3100" i="1" dirty="0" smtClean="0">
                <a:solidFill>
                  <a:srgbClr val="000090"/>
                </a:solidFill>
              </a:rPr>
              <a:t>year </a:t>
            </a:r>
            <a:r>
              <a:rPr lang="en-US" sz="3100" i="1" dirty="0">
                <a:solidFill>
                  <a:srgbClr val="000090"/>
                </a:solidFill>
              </a:rPr>
              <a:t>period. </a:t>
            </a:r>
            <a:r>
              <a:rPr lang="en-US" sz="3100" b="1" i="1" dirty="0">
                <a:solidFill>
                  <a:srgbClr val="000090"/>
                </a:solidFill>
              </a:rPr>
              <a:t>No fundamental issue was identified. </a:t>
            </a:r>
            <a:r>
              <a:rPr lang="en-US" sz="3100" i="1" dirty="0">
                <a:solidFill>
                  <a:srgbClr val="000090"/>
                </a:solidFill>
              </a:rPr>
              <a:t>However there is still a large amount of work that remains to be done towards</a:t>
            </a:r>
          </a:p>
          <a:p>
            <a:pPr algn="l"/>
            <a:r>
              <a:rPr lang="en-US" sz="3100" i="1" dirty="0">
                <a:solidFill>
                  <a:srgbClr val="000090"/>
                </a:solidFill>
              </a:rPr>
              <a:t>the engineering various </a:t>
            </a:r>
            <a:r>
              <a:rPr lang="en-US" sz="3100" i="1" dirty="0" smtClean="0">
                <a:solidFill>
                  <a:srgbClr val="000090"/>
                </a:solidFill>
              </a:rPr>
              <a:t>components.</a:t>
            </a:r>
            <a:endParaRPr lang="es-ES" sz="3100" i="1" dirty="0">
              <a:solidFill>
                <a:srgbClr val="000090"/>
              </a:solidFill>
            </a:endParaRPr>
          </a:p>
        </p:txBody>
      </p:sp>
      <p:sp>
        <p:nvSpPr>
          <p:cNvPr id="32774" name="Rectangle 20"/>
          <p:cNvSpPr>
            <a:spLocks noChangeArrowheads="1"/>
          </p:cNvSpPr>
          <p:nvPr/>
        </p:nvSpPr>
        <p:spPr bwMode="auto">
          <a:xfrm>
            <a:off x="7010402" y="1801760"/>
            <a:ext cx="4978399" cy="3855431"/>
          </a:xfrm>
          <a:prstGeom prst="rect">
            <a:avLst/>
          </a:prstGeom>
          <a:solidFill>
            <a:srgbClr val="CECEEF"/>
          </a:solidFill>
          <a:ln w="28575">
            <a:solidFill>
              <a:srgbClr val="C00000"/>
            </a:solidFill>
            <a:miter lim="800000"/>
            <a:headEnd/>
            <a:tailEnd/>
          </a:ln>
        </p:spPr>
        <p:txBody>
          <a:bodyPr lIns="127991" tIns="66556" rIns="127991" bIns="66556" anchor="ctr">
            <a:spAutoFit/>
          </a:bodyPr>
          <a:lstStyle/>
          <a:p>
            <a:pPr marL="370270" indent="-370270" algn="l">
              <a:spcBef>
                <a:spcPct val="10000"/>
              </a:spcBef>
              <a:spcAft>
                <a:spcPct val="10000"/>
              </a:spcAft>
              <a:buClr>
                <a:srgbClr val="C00000"/>
              </a:buClr>
              <a:buFont typeface="Wingdings" charset="0"/>
              <a:buChar char="ü"/>
            </a:pPr>
            <a:r>
              <a:rPr lang="en-US" sz="3100" b="1" i="1" dirty="0">
                <a:solidFill>
                  <a:srgbClr val="000090"/>
                </a:solidFill>
                <a:cs typeface="Arial" charset="0"/>
              </a:rPr>
              <a:t>Power Couplers</a:t>
            </a:r>
          </a:p>
          <a:p>
            <a:pPr marL="370270" indent="-370270" algn="l">
              <a:spcBef>
                <a:spcPct val="10000"/>
              </a:spcBef>
              <a:spcAft>
                <a:spcPct val="10000"/>
              </a:spcAft>
              <a:buClr>
                <a:srgbClr val="C00000"/>
              </a:buClr>
              <a:buFont typeface="Wingdings" charset="0"/>
              <a:buChar char="ü"/>
            </a:pPr>
            <a:r>
              <a:rPr lang="en-US" sz="3100" b="1" i="1" dirty="0">
                <a:solidFill>
                  <a:srgbClr val="000090"/>
                </a:solidFill>
                <a:cs typeface="Arial" charset="0"/>
              </a:rPr>
              <a:t>Transition Energy from Warm to Cold Sections</a:t>
            </a:r>
          </a:p>
          <a:p>
            <a:pPr marL="370270" indent="-370270" algn="l">
              <a:spcBef>
                <a:spcPct val="10000"/>
              </a:spcBef>
              <a:spcAft>
                <a:spcPct val="10000"/>
              </a:spcAft>
              <a:buClr>
                <a:srgbClr val="C00000"/>
              </a:buClr>
              <a:buFont typeface="Wingdings" charset="0"/>
              <a:buChar char="ü"/>
            </a:pPr>
            <a:r>
              <a:rPr lang="en-US" sz="3100" b="1" i="1" dirty="0">
                <a:solidFill>
                  <a:srgbClr val="000090"/>
                </a:solidFill>
                <a:cs typeface="Arial" charset="0"/>
              </a:rPr>
              <a:t>Higher Order Modes</a:t>
            </a:r>
          </a:p>
          <a:p>
            <a:pPr marL="370270" indent="-370270" algn="l">
              <a:spcBef>
                <a:spcPct val="10000"/>
              </a:spcBef>
              <a:spcAft>
                <a:spcPct val="10000"/>
              </a:spcAft>
              <a:buClr>
                <a:srgbClr val="C00000"/>
              </a:buClr>
              <a:buFont typeface="Wingdings" charset="0"/>
              <a:buChar char="ü"/>
            </a:pPr>
            <a:r>
              <a:rPr lang="en-US" sz="3100" b="1" i="1" dirty="0" err="1">
                <a:solidFill>
                  <a:srgbClr val="000090"/>
                </a:solidFill>
                <a:cs typeface="Arial" charset="0"/>
              </a:rPr>
              <a:t>Cryomodules</a:t>
            </a:r>
            <a:endParaRPr lang="en-US" sz="3100" b="1" i="1" dirty="0">
              <a:solidFill>
                <a:srgbClr val="000090"/>
              </a:solidFill>
              <a:cs typeface="Arial" charset="0"/>
            </a:endParaRPr>
          </a:p>
          <a:p>
            <a:pPr marL="370270" indent="-370270" algn="l">
              <a:spcBef>
                <a:spcPct val="10000"/>
              </a:spcBef>
              <a:spcAft>
                <a:spcPct val="10000"/>
              </a:spcAft>
              <a:buClr>
                <a:srgbClr val="C00000"/>
              </a:buClr>
              <a:buFont typeface="Wingdings" charset="0"/>
              <a:buChar char="ü"/>
            </a:pPr>
            <a:r>
              <a:rPr lang="en-US" sz="3100" b="1" i="1" dirty="0">
                <a:solidFill>
                  <a:srgbClr val="000090"/>
                </a:solidFill>
                <a:cs typeface="Arial" charset="0"/>
              </a:rPr>
              <a:t>Cryogenics</a:t>
            </a:r>
          </a:p>
        </p:txBody>
      </p:sp>
      <p:sp>
        <p:nvSpPr>
          <p:cNvPr id="32775" name="Rectangle 20"/>
          <p:cNvSpPr>
            <a:spLocks noChangeArrowheads="1"/>
          </p:cNvSpPr>
          <p:nvPr/>
        </p:nvSpPr>
        <p:spPr bwMode="auto">
          <a:xfrm>
            <a:off x="6768818" y="5891297"/>
            <a:ext cx="6134383" cy="625405"/>
          </a:xfrm>
          <a:prstGeom prst="rect">
            <a:avLst/>
          </a:prstGeom>
          <a:solidFill>
            <a:srgbClr val="CECEEF"/>
          </a:solidFill>
          <a:ln w="28575">
            <a:solidFill>
              <a:srgbClr val="C00000"/>
            </a:solidFill>
            <a:miter lim="800000"/>
            <a:headEnd/>
            <a:tailEnd/>
          </a:ln>
        </p:spPr>
        <p:txBody>
          <a:bodyPr lIns="127991" tIns="66556" rIns="127991" bIns="66556" anchor="ctr">
            <a:spAutoFit/>
          </a:bodyPr>
          <a:lstStyle/>
          <a:p>
            <a:pPr marL="370270" indent="-370270">
              <a:spcBef>
                <a:spcPct val="10000"/>
              </a:spcBef>
              <a:spcAft>
                <a:spcPct val="10000"/>
              </a:spcAft>
              <a:buClr>
                <a:srgbClr val="C00000"/>
              </a:buClr>
            </a:pPr>
            <a:r>
              <a:rPr lang="en-US" sz="3100" i="1">
                <a:solidFill>
                  <a:srgbClr val="FF0000"/>
                </a:solidFill>
              </a:rPr>
              <a:t>High-power RF architecture</a:t>
            </a:r>
            <a:endParaRPr lang="es-ES" sz="3100" i="1">
              <a:solidFill>
                <a:srgbClr val="FF0000"/>
              </a:solidFill>
            </a:endParaRPr>
          </a:p>
        </p:txBody>
      </p:sp>
      <p:sp>
        <p:nvSpPr>
          <p:cNvPr id="32776" name="Rectangle 20"/>
          <p:cNvSpPr>
            <a:spLocks noChangeArrowheads="1"/>
          </p:cNvSpPr>
          <p:nvPr/>
        </p:nvSpPr>
        <p:spPr bwMode="auto">
          <a:xfrm>
            <a:off x="7301408" y="6602498"/>
            <a:ext cx="4673600" cy="1709137"/>
          </a:xfrm>
          <a:prstGeom prst="rect">
            <a:avLst/>
          </a:prstGeom>
          <a:solidFill>
            <a:srgbClr val="CECEEF"/>
          </a:solidFill>
          <a:ln w="28575">
            <a:solidFill>
              <a:srgbClr val="C00000"/>
            </a:solidFill>
            <a:miter lim="800000"/>
            <a:headEnd/>
            <a:tailEnd/>
          </a:ln>
        </p:spPr>
        <p:txBody>
          <a:bodyPr lIns="127991" tIns="66556" rIns="127991" bIns="66556" anchor="ctr">
            <a:spAutoFit/>
          </a:bodyPr>
          <a:lstStyle/>
          <a:p>
            <a:pPr marL="370270" indent="-370270">
              <a:spcBef>
                <a:spcPct val="10000"/>
              </a:spcBef>
              <a:spcAft>
                <a:spcPct val="10000"/>
              </a:spcAft>
              <a:buClr>
                <a:srgbClr val="C00000"/>
              </a:buClr>
              <a:buFont typeface="Wingdings" charset="0"/>
              <a:buChar char="ü"/>
            </a:pPr>
            <a:r>
              <a:rPr lang="en-US" sz="3100" b="1" i="1">
                <a:solidFill>
                  <a:srgbClr val="000090"/>
                </a:solidFill>
                <a:cs typeface="Arial" charset="0"/>
              </a:rPr>
              <a:t>1 klystron per cavity</a:t>
            </a:r>
          </a:p>
          <a:p>
            <a:pPr marL="370270" indent="-370270">
              <a:spcBef>
                <a:spcPct val="10000"/>
              </a:spcBef>
              <a:spcAft>
                <a:spcPct val="10000"/>
              </a:spcAft>
              <a:buClr>
                <a:srgbClr val="C00000"/>
              </a:buClr>
              <a:buFont typeface="Wingdings" charset="0"/>
              <a:buChar char="ü"/>
            </a:pPr>
            <a:r>
              <a:rPr lang="en-US" sz="3100" b="1" i="1">
                <a:solidFill>
                  <a:srgbClr val="000090"/>
                </a:solidFill>
                <a:cs typeface="Arial" charset="0"/>
              </a:rPr>
              <a:t>1 klystron to power  several cavities</a:t>
            </a:r>
          </a:p>
        </p:txBody>
      </p:sp>
      <p:sp>
        <p:nvSpPr>
          <p:cNvPr id="10"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7</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3" name="Picture 18" descr="site-small"/>
          <p:cNvPicPr>
            <a:picLocks noChangeAspect="1" noChangeArrowheads="1"/>
          </p:cNvPicPr>
          <p:nvPr/>
        </p:nvPicPr>
        <p:blipFill>
          <a:blip r:embed="rId3">
            <a:extLst>
              <a:ext uri="{28A0092B-C50C-407E-A947-70E740481C1C}">
                <a14:useLocalDpi xmlns:a14="http://schemas.microsoft.com/office/drawing/2010/main" val="0"/>
              </a:ext>
            </a:extLst>
          </a:blip>
          <a:srcRect t="1184" b="4094"/>
          <a:stretch>
            <a:fillRect/>
          </a:stretch>
        </p:blipFill>
        <p:spPr bwMode="auto">
          <a:xfrm>
            <a:off x="0" y="1605522"/>
            <a:ext cx="13004800" cy="8229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Slide Number Placeholder 2"/>
          <p:cNvSpPr>
            <a:spLocks noGrp="1"/>
          </p:cNvSpPr>
          <p:nvPr>
            <p:ph type="sldNum" sz="quarter" idx="4294967295"/>
          </p:nvPr>
        </p:nvSpPr>
        <p:spPr>
          <a:xfrm>
            <a:off x="11812693" y="10003821"/>
            <a:ext cx="866987" cy="32512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39" tIns="65020" rIns="130039" bIns="65020"/>
          <a:lstStyle>
            <a:lvl1pPr defTabSz="1295944" eaLnBrk="0" hangingPunct="0">
              <a:defRPr sz="3400">
                <a:solidFill>
                  <a:schemeClr val="tx1"/>
                </a:solidFill>
                <a:latin typeface="MS UI Gothic" charset="0"/>
                <a:ea typeface="ＭＳ Ｐゴシック" charset="0"/>
                <a:cs typeface="ＭＳ Ｐゴシック" charset="0"/>
              </a:defRPr>
            </a:lvl1pPr>
            <a:lvl2pPr marL="1056623" indent="-406394" defTabSz="1295944" eaLnBrk="0" hangingPunct="0">
              <a:defRPr sz="3400">
                <a:solidFill>
                  <a:schemeClr val="tx1"/>
                </a:solidFill>
                <a:latin typeface="MS UI Gothic" charset="0"/>
                <a:ea typeface="ＭＳ Ｐゴシック" charset="0"/>
              </a:defRPr>
            </a:lvl2pPr>
            <a:lvl3pPr marL="1625575" indent="-325115" defTabSz="1295944" eaLnBrk="0" hangingPunct="0">
              <a:defRPr sz="3400">
                <a:solidFill>
                  <a:schemeClr val="tx1"/>
                </a:solidFill>
                <a:latin typeface="MS UI Gothic" charset="0"/>
                <a:ea typeface="ＭＳ Ｐゴシック" charset="0"/>
              </a:defRPr>
            </a:lvl3pPr>
            <a:lvl4pPr marL="2275804" indent="-325115" defTabSz="1295944" eaLnBrk="0" hangingPunct="0">
              <a:defRPr sz="3400">
                <a:solidFill>
                  <a:schemeClr val="tx1"/>
                </a:solidFill>
                <a:latin typeface="MS UI Gothic" charset="0"/>
                <a:ea typeface="ＭＳ Ｐゴシック" charset="0"/>
              </a:defRPr>
            </a:lvl4pPr>
            <a:lvl5pPr marL="2926034" indent="-325115" defTabSz="1295944" eaLnBrk="0" hangingPunct="0">
              <a:defRPr sz="3400">
                <a:solidFill>
                  <a:schemeClr val="tx1"/>
                </a:solidFill>
                <a:latin typeface="MS UI Gothic" charset="0"/>
                <a:ea typeface="ＭＳ Ｐゴシック" charset="0"/>
              </a:defRPr>
            </a:lvl5pPr>
            <a:lvl6pPr marL="3576264" indent="-325115" defTabSz="1295944" eaLnBrk="0" fontAlgn="base" hangingPunct="0">
              <a:spcBef>
                <a:spcPct val="0"/>
              </a:spcBef>
              <a:spcAft>
                <a:spcPct val="0"/>
              </a:spcAft>
              <a:defRPr sz="3400">
                <a:solidFill>
                  <a:schemeClr val="tx1"/>
                </a:solidFill>
                <a:latin typeface="MS UI Gothic" charset="0"/>
                <a:ea typeface="ＭＳ Ｐゴシック" charset="0"/>
              </a:defRPr>
            </a:lvl6pPr>
            <a:lvl7pPr marL="4226494" indent="-325115" defTabSz="1295944" eaLnBrk="0" fontAlgn="base" hangingPunct="0">
              <a:spcBef>
                <a:spcPct val="0"/>
              </a:spcBef>
              <a:spcAft>
                <a:spcPct val="0"/>
              </a:spcAft>
              <a:defRPr sz="3400">
                <a:solidFill>
                  <a:schemeClr val="tx1"/>
                </a:solidFill>
                <a:latin typeface="MS UI Gothic" charset="0"/>
                <a:ea typeface="ＭＳ Ｐゴシック" charset="0"/>
              </a:defRPr>
            </a:lvl7pPr>
            <a:lvl8pPr marL="4876724" indent="-325115" defTabSz="1295944" eaLnBrk="0" fontAlgn="base" hangingPunct="0">
              <a:spcBef>
                <a:spcPct val="0"/>
              </a:spcBef>
              <a:spcAft>
                <a:spcPct val="0"/>
              </a:spcAft>
              <a:defRPr sz="3400">
                <a:solidFill>
                  <a:schemeClr val="tx1"/>
                </a:solidFill>
                <a:latin typeface="MS UI Gothic" charset="0"/>
                <a:ea typeface="ＭＳ Ｐゴシック" charset="0"/>
              </a:defRPr>
            </a:lvl8pPr>
            <a:lvl9pPr marL="5526954" indent="-325115" defTabSz="1295944" eaLnBrk="0" fontAlgn="base" hangingPunct="0">
              <a:spcBef>
                <a:spcPct val="0"/>
              </a:spcBef>
              <a:spcAft>
                <a:spcPct val="0"/>
              </a:spcAft>
              <a:defRPr sz="3400">
                <a:solidFill>
                  <a:schemeClr val="tx1"/>
                </a:solidFill>
                <a:latin typeface="MS UI Gothic" charset="0"/>
                <a:ea typeface="ＭＳ Ｐゴシック" charset="0"/>
              </a:defRPr>
            </a:lvl9pPr>
          </a:lstStyle>
          <a:p>
            <a:pPr eaLnBrk="1" hangingPunct="1"/>
            <a:fld id="{0ADE687D-3B64-AD48-8816-31960B89810D}" type="slidenum">
              <a:rPr lang="en-GB" sz="2000">
                <a:latin typeface="Times New Roman" charset="0"/>
              </a:rPr>
              <a:pPr eaLnBrk="1" hangingPunct="1"/>
              <a:t>8</a:t>
            </a:fld>
            <a:endParaRPr lang="en-GB" sz="2000">
              <a:latin typeface="Times New Roman" charset="0"/>
            </a:endParaRPr>
          </a:p>
        </p:txBody>
      </p:sp>
      <p:sp>
        <p:nvSpPr>
          <p:cNvPr id="33795" name="Rectangle 10"/>
          <p:cNvSpPr>
            <a:spLocks noChangeArrowheads="1"/>
          </p:cNvSpPr>
          <p:nvPr/>
        </p:nvSpPr>
        <p:spPr bwMode="auto">
          <a:xfrm>
            <a:off x="1300480" y="9353581"/>
            <a:ext cx="10512213" cy="86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05" tIns="65003" rIns="130005" bIns="65003" anchor="ctr"/>
          <a:lstStyle/>
          <a:p>
            <a:pPr algn="ctr"/>
            <a:endParaRPr lang="it-IT">
              <a:solidFill>
                <a:srgbClr val="FF0000"/>
              </a:solidFill>
            </a:endParaRPr>
          </a:p>
        </p:txBody>
      </p:sp>
      <p:sp>
        <p:nvSpPr>
          <p:cNvPr id="33796" name="Rectangle 20"/>
          <p:cNvSpPr>
            <a:spLocks noChangeArrowheads="1"/>
          </p:cNvSpPr>
          <p:nvPr/>
        </p:nvSpPr>
        <p:spPr bwMode="auto">
          <a:xfrm>
            <a:off x="9241052" y="2140496"/>
            <a:ext cx="3759199" cy="2710502"/>
          </a:xfrm>
          <a:prstGeom prst="rect">
            <a:avLst/>
          </a:prstGeom>
          <a:solidFill>
            <a:srgbClr val="CECEEF"/>
          </a:solidFill>
          <a:ln w="28575">
            <a:solidFill>
              <a:srgbClr val="C00000"/>
            </a:solidFill>
            <a:miter lim="800000"/>
            <a:headEnd/>
            <a:tailEnd/>
          </a:ln>
        </p:spPr>
        <p:txBody>
          <a:bodyPr lIns="127991" tIns="66556" rIns="127991" bIns="66556" anchor="ctr">
            <a:spAutoFit/>
          </a:bodyPr>
          <a:lstStyle/>
          <a:p>
            <a:pPr marL="485415" indent="-485415" algn="l">
              <a:spcBef>
                <a:spcPct val="10000"/>
              </a:spcBef>
              <a:spcAft>
                <a:spcPct val="10000"/>
              </a:spcAft>
              <a:buClr>
                <a:srgbClr val="C00000"/>
              </a:buClr>
              <a:buFont typeface="Wingdings" charset="0"/>
              <a:buChar char="ü"/>
            </a:pPr>
            <a:r>
              <a:rPr lang="en-US" sz="3100" b="1" i="1" dirty="0">
                <a:solidFill>
                  <a:srgbClr val="000090"/>
                </a:solidFill>
              </a:rPr>
              <a:t>Beam Diagnostics</a:t>
            </a:r>
          </a:p>
          <a:p>
            <a:pPr marL="485415" indent="-485415" algn="l">
              <a:spcBef>
                <a:spcPct val="10000"/>
              </a:spcBef>
              <a:spcAft>
                <a:spcPct val="10000"/>
              </a:spcAft>
              <a:buClr>
                <a:srgbClr val="C00000"/>
              </a:buClr>
              <a:buFont typeface="Wingdings" charset="0"/>
              <a:buChar char="ü"/>
            </a:pPr>
            <a:r>
              <a:rPr lang="en-US" sz="3100" b="1" i="1" dirty="0" err="1">
                <a:solidFill>
                  <a:srgbClr val="000090"/>
                </a:solidFill>
              </a:rPr>
              <a:t>Linac</a:t>
            </a:r>
            <a:r>
              <a:rPr lang="en-US" sz="3100" b="1" i="1" dirty="0">
                <a:solidFill>
                  <a:srgbClr val="000090"/>
                </a:solidFill>
              </a:rPr>
              <a:t> Front-Ends</a:t>
            </a:r>
          </a:p>
          <a:p>
            <a:pPr marL="485415" indent="-485415" algn="l">
              <a:spcBef>
                <a:spcPct val="10000"/>
              </a:spcBef>
              <a:spcAft>
                <a:spcPct val="10000"/>
              </a:spcAft>
              <a:buClr>
                <a:srgbClr val="C00000"/>
              </a:buClr>
              <a:buFont typeface="Wingdings" charset="0"/>
              <a:buChar char="ü"/>
            </a:pPr>
            <a:r>
              <a:rPr lang="en-US" sz="3100" b="1" i="1" dirty="0">
                <a:solidFill>
                  <a:srgbClr val="000090"/>
                </a:solidFill>
              </a:rPr>
              <a:t>Beam Dynamics</a:t>
            </a:r>
            <a:endParaRPr lang="es-ES" sz="3100" b="1" i="1" dirty="0">
              <a:solidFill>
                <a:srgbClr val="000090"/>
              </a:solidFill>
            </a:endParaRPr>
          </a:p>
        </p:txBody>
      </p:sp>
      <p:sp>
        <p:nvSpPr>
          <p:cNvPr id="33797" name="Rectangle 20"/>
          <p:cNvSpPr>
            <a:spLocks noChangeArrowheads="1"/>
          </p:cNvSpPr>
          <p:nvPr/>
        </p:nvSpPr>
        <p:spPr bwMode="auto">
          <a:xfrm>
            <a:off x="2250551" y="988368"/>
            <a:ext cx="6052049" cy="2996734"/>
          </a:xfrm>
          <a:prstGeom prst="rect">
            <a:avLst/>
          </a:prstGeom>
          <a:solidFill>
            <a:srgbClr val="CECEEF"/>
          </a:solidFill>
          <a:ln w="28575">
            <a:solidFill>
              <a:srgbClr val="C00000"/>
            </a:solidFill>
            <a:miter lim="800000"/>
            <a:headEnd/>
            <a:tailEnd/>
          </a:ln>
        </p:spPr>
        <p:txBody>
          <a:bodyPr wrap="square" lIns="127991" tIns="66556" rIns="127991" bIns="66556" anchor="ctr">
            <a:spAutoFit/>
          </a:bodyPr>
          <a:lstStyle/>
          <a:p>
            <a:pPr algn="l"/>
            <a:r>
              <a:rPr lang="en-US" sz="3100" i="1" dirty="0">
                <a:solidFill>
                  <a:srgbClr val="000090"/>
                </a:solidFill>
              </a:rPr>
              <a:t>Main topics addressed: </a:t>
            </a:r>
            <a:r>
              <a:rPr lang="en-US" sz="3100" i="1" dirty="0" err="1">
                <a:solidFill>
                  <a:srgbClr val="000090"/>
                </a:solidFill>
              </a:rPr>
              <a:t>modelling</a:t>
            </a:r>
            <a:r>
              <a:rPr lang="en-US" sz="3100" i="1" dirty="0">
                <a:solidFill>
                  <a:srgbClr val="000090"/>
                </a:solidFill>
              </a:rPr>
              <a:t> codes, radiation issues, longitudinal and transverse measuring techniques</a:t>
            </a:r>
          </a:p>
          <a:p>
            <a:pPr algn="l"/>
            <a:endParaRPr lang="en-US" sz="3100" i="1" dirty="0">
              <a:solidFill>
                <a:srgbClr val="000090"/>
              </a:solidFill>
            </a:endParaRPr>
          </a:p>
          <a:p>
            <a:pPr algn="l"/>
            <a:r>
              <a:rPr lang="en-US" sz="3100" i="1" dirty="0">
                <a:solidFill>
                  <a:srgbClr val="000090"/>
                </a:solidFill>
              </a:rPr>
              <a:t>Main message: more diagnostic equipment than envisaged</a:t>
            </a:r>
          </a:p>
        </p:txBody>
      </p:sp>
      <p:sp>
        <p:nvSpPr>
          <p:cNvPr id="33798" name="Rectangle 20"/>
          <p:cNvSpPr>
            <a:spLocks noChangeArrowheads="1"/>
          </p:cNvSpPr>
          <p:nvPr/>
        </p:nvSpPr>
        <p:spPr bwMode="auto">
          <a:xfrm>
            <a:off x="579040" y="4948808"/>
            <a:ext cx="11683999" cy="1447235"/>
          </a:xfrm>
          <a:prstGeom prst="rect">
            <a:avLst/>
          </a:prstGeom>
          <a:solidFill>
            <a:srgbClr val="CECEEF"/>
          </a:solidFill>
          <a:ln w="28575">
            <a:solidFill>
              <a:srgbClr val="336699"/>
            </a:solidFill>
            <a:miter lim="800000"/>
            <a:headEnd/>
            <a:tailEnd/>
          </a:ln>
        </p:spPr>
        <p:txBody>
          <a:bodyPr lIns="127991" tIns="66556" rIns="127991" bIns="66556" anchor="ctr">
            <a:spAutoFit/>
          </a:bodyPr>
          <a:lstStyle/>
          <a:p>
            <a:pPr marL="370270" indent="-370270">
              <a:spcBef>
                <a:spcPct val="10000"/>
              </a:spcBef>
              <a:spcAft>
                <a:spcPct val="10000"/>
              </a:spcAft>
              <a:buClr>
                <a:srgbClr val="C00000"/>
              </a:buClr>
              <a:buFont typeface="Wingdings" charset="0"/>
              <a:buChar char="ü"/>
            </a:pPr>
            <a:r>
              <a:rPr lang="en-US" sz="2800" i="1">
                <a:solidFill>
                  <a:srgbClr val="000090"/>
                </a:solidFill>
              </a:rPr>
              <a:t>The primary linac diagnostic needs include </a:t>
            </a:r>
            <a:r>
              <a:rPr lang="en-US" sz="2800" b="1" i="1">
                <a:solidFill>
                  <a:srgbClr val="000090"/>
                </a:solidFill>
              </a:rPr>
              <a:t>beam position</a:t>
            </a:r>
            <a:r>
              <a:rPr lang="en-US" sz="2800" i="1">
                <a:solidFill>
                  <a:srgbClr val="000090"/>
                </a:solidFill>
              </a:rPr>
              <a:t>, </a:t>
            </a:r>
            <a:r>
              <a:rPr lang="en-US" sz="2800" b="1" i="1">
                <a:solidFill>
                  <a:srgbClr val="000090"/>
                </a:solidFill>
              </a:rPr>
              <a:t>beam arrival time </a:t>
            </a:r>
            <a:r>
              <a:rPr lang="en-US" sz="2800" i="1">
                <a:solidFill>
                  <a:srgbClr val="000090"/>
                </a:solidFill>
              </a:rPr>
              <a:t>(or phase), </a:t>
            </a:r>
            <a:r>
              <a:rPr lang="en-US" sz="2800" b="1" i="1">
                <a:solidFill>
                  <a:srgbClr val="000090"/>
                </a:solidFill>
              </a:rPr>
              <a:t>beam bunch length</a:t>
            </a:r>
            <a:r>
              <a:rPr lang="en-US" sz="2800" i="1">
                <a:solidFill>
                  <a:srgbClr val="000090"/>
                </a:solidFill>
              </a:rPr>
              <a:t>, </a:t>
            </a:r>
            <a:r>
              <a:rPr lang="en-US" sz="2800" b="1" i="1">
                <a:solidFill>
                  <a:srgbClr val="000090"/>
                </a:solidFill>
              </a:rPr>
              <a:t>beam transverse profiles</a:t>
            </a:r>
            <a:r>
              <a:rPr lang="en-US" sz="2800" i="1">
                <a:solidFill>
                  <a:srgbClr val="000090"/>
                </a:solidFill>
              </a:rPr>
              <a:t>, and </a:t>
            </a:r>
            <a:r>
              <a:rPr lang="en-US" sz="2800" b="1" i="1">
                <a:solidFill>
                  <a:srgbClr val="000090"/>
                </a:solidFill>
              </a:rPr>
              <a:t>beam loss</a:t>
            </a:r>
            <a:r>
              <a:rPr lang="en-US" sz="2800" i="1">
                <a:solidFill>
                  <a:srgbClr val="000090"/>
                </a:solidFill>
              </a:rPr>
              <a:t>. </a:t>
            </a:r>
          </a:p>
        </p:txBody>
      </p:sp>
      <p:sp>
        <p:nvSpPr>
          <p:cNvPr id="33799" name="Rectangle 20"/>
          <p:cNvSpPr>
            <a:spLocks noChangeArrowheads="1"/>
          </p:cNvSpPr>
          <p:nvPr/>
        </p:nvSpPr>
        <p:spPr bwMode="auto">
          <a:xfrm>
            <a:off x="309712" y="4444752"/>
            <a:ext cx="3759199" cy="627662"/>
          </a:xfrm>
          <a:prstGeom prst="rect">
            <a:avLst/>
          </a:prstGeom>
          <a:solidFill>
            <a:srgbClr val="CECEEF"/>
          </a:solidFill>
          <a:ln w="28575">
            <a:solidFill>
              <a:srgbClr val="C00000"/>
            </a:solidFill>
            <a:miter lim="800000"/>
            <a:headEnd/>
            <a:tailEnd/>
          </a:ln>
        </p:spPr>
        <p:txBody>
          <a:bodyPr lIns="127991" tIns="66556" rIns="127991" bIns="66556" anchor="ctr">
            <a:spAutoFit/>
          </a:bodyPr>
          <a:lstStyle/>
          <a:p>
            <a:pPr marL="485415" indent="-485415">
              <a:spcBef>
                <a:spcPct val="10000"/>
              </a:spcBef>
              <a:spcAft>
                <a:spcPct val="10000"/>
              </a:spcAft>
              <a:buClr>
                <a:srgbClr val="C00000"/>
              </a:buClr>
            </a:pPr>
            <a:r>
              <a:rPr lang="en-US" sz="3100" b="1" i="1">
                <a:solidFill>
                  <a:srgbClr val="FF0000"/>
                </a:solidFill>
              </a:rPr>
              <a:t>Beam Diagnostics</a:t>
            </a:r>
          </a:p>
        </p:txBody>
      </p:sp>
      <p:sp>
        <p:nvSpPr>
          <p:cNvPr id="33800" name="Rectangle 20"/>
          <p:cNvSpPr>
            <a:spLocks noChangeArrowheads="1"/>
          </p:cNvSpPr>
          <p:nvPr/>
        </p:nvSpPr>
        <p:spPr bwMode="auto">
          <a:xfrm>
            <a:off x="579040" y="6417354"/>
            <a:ext cx="11683999" cy="1088519"/>
          </a:xfrm>
          <a:prstGeom prst="rect">
            <a:avLst/>
          </a:prstGeom>
          <a:solidFill>
            <a:srgbClr val="CECEEF"/>
          </a:solidFill>
          <a:ln w="28575">
            <a:solidFill>
              <a:srgbClr val="336699"/>
            </a:solidFill>
            <a:miter lim="800000"/>
            <a:headEnd/>
            <a:tailEnd/>
          </a:ln>
        </p:spPr>
        <p:txBody>
          <a:bodyPr lIns="127991" tIns="66556" rIns="127991" bIns="66556" anchor="ctr">
            <a:spAutoFit/>
          </a:bodyPr>
          <a:lstStyle/>
          <a:p>
            <a:pPr marL="370270" indent="-370270">
              <a:spcBef>
                <a:spcPct val="10000"/>
              </a:spcBef>
              <a:spcAft>
                <a:spcPct val="10000"/>
              </a:spcAft>
              <a:buClr>
                <a:srgbClr val="C00000"/>
              </a:buClr>
              <a:buFont typeface="Wingdings" charset="0"/>
              <a:buChar char="ü"/>
            </a:pPr>
            <a:r>
              <a:rPr lang="en-US" sz="3100" i="1">
                <a:solidFill>
                  <a:srgbClr val="000090"/>
                </a:solidFill>
              </a:rPr>
              <a:t>Especially important for high power operation are </a:t>
            </a:r>
            <a:r>
              <a:rPr lang="en-US" sz="3100" b="1" i="1">
                <a:solidFill>
                  <a:srgbClr val="000090"/>
                </a:solidFill>
              </a:rPr>
              <a:t>sensitive beam loss measurement</a:t>
            </a:r>
            <a:r>
              <a:rPr lang="en-US" sz="3100" i="1">
                <a:solidFill>
                  <a:srgbClr val="000090"/>
                </a:solidFill>
              </a:rPr>
              <a:t> and </a:t>
            </a:r>
            <a:r>
              <a:rPr lang="en-US" sz="3100" b="1" i="1">
                <a:solidFill>
                  <a:srgbClr val="000090"/>
                </a:solidFill>
              </a:rPr>
              <a:t>profile resolution </a:t>
            </a:r>
            <a:r>
              <a:rPr lang="en-US" sz="3100" i="1">
                <a:solidFill>
                  <a:srgbClr val="000090"/>
                </a:solidFill>
              </a:rPr>
              <a:t>over a wide dynamic range.</a:t>
            </a:r>
          </a:p>
        </p:txBody>
      </p:sp>
      <p:sp>
        <p:nvSpPr>
          <p:cNvPr id="33801" name="Rectangle 20"/>
          <p:cNvSpPr>
            <a:spLocks noChangeArrowheads="1"/>
          </p:cNvSpPr>
          <p:nvPr/>
        </p:nvSpPr>
        <p:spPr bwMode="auto">
          <a:xfrm>
            <a:off x="579040" y="7497474"/>
            <a:ext cx="11683999" cy="1009227"/>
          </a:xfrm>
          <a:prstGeom prst="rect">
            <a:avLst/>
          </a:prstGeom>
          <a:solidFill>
            <a:srgbClr val="CECEEF"/>
          </a:solidFill>
          <a:ln w="28575">
            <a:solidFill>
              <a:srgbClr val="336699"/>
            </a:solidFill>
            <a:miter lim="800000"/>
            <a:headEnd/>
            <a:tailEnd/>
          </a:ln>
        </p:spPr>
        <p:txBody>
          <a:bodyPr lIns="127991" tIns="66556" rIns="127991" bIns="66556" anchor="ctr">
            <a:spAutoFit/>
          </a:bodyPr>
          <a:lstStyle/>
          <a:p>
            <a:pPr marL="370270" indent="-370270">
              <a:spcBef>
                <a:spcPct val="10000"/>
              </a:spcBef>
              <a:spcAft>
                <a:spcPct val="10000"/>
              </a:spcAft>
              <a:buClr>
                <a:srgbClr val="C00000"/>
              </a:buClr>
              <a:buFont typeface="Wingdings" charset="0"/>
              <a:buChar char="ü"/>
            </a:pPr>
            <a:r>
              <a:rPr lang="en-US" sz="2800" i="1" dirty="0">
                <a:solidFill>
                  <a:srgbClr val="000090"/>
                </a:solidFill>
              </a:rPr>
              <a:t>Techniques for </a:t>
            </a:r>
            <a:r>
              <a:rPr lang="en-US" sz="2800" b="1" i="1" dirty="0">
                <a:solidFill>
                  <a:srgbClr val="000090"/>
                </a:solidFill>
              </a:rPr>
              <a:t>halo measurement </a:t>
            </a:r>
            <a:r>
              <a:rPr lang="en-US" sz="2800" i="1" dirty="0">
                <a:solidFill>
                  <a:srgbClr val="000090"/>
                </a:solidFill>
              </a:rPr>
              <a:t>in a superconducting  environment need to be developed.</a:t>
            </a:r>
          </a:p>
        </p:txBody>
      </p:sp>
      <p:sp>
        <p:nvSpPr>
          <p:cNvPr id="11"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8</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olo 1"/>
          <p:cNvSpPr>
            <a:spLocks noGrp="1"/>
          </p:cNvSpPr>
          <p:nvPr>
            <p:ph type="ctrTitle"/>
          </p:nvPr>
        </p:nvSpPr>
        <p:spPr>
          <a:xfrm>
            <a:off x="381720" y="1564432"/>
            <a:ext cx="12241360" cy="6912768"/>
          </a:xfrm>
          <a:solidFill>
            <a:srgbClr val="FFFFC1"/>
          </a:solidFill>
        </p:spPr>
        <p:txBody>
          <a:bodyPr/>
          <a:lstStyle/>
          <a:p>
            <a:pPr algn="l"/>
            <a:r>
              <a:rPr lang="en-GB" sz="3100" u="sng" dirty="0">
                <a:solidFill>
                  <a:srgbClr val="0000FF"/>
                </a:solidFill>
                <a:latin typeface="Times New Roman" charset="0"/>
                <a:ea typeface="ＭＳ Ｐゴシック" charset="0"/>
                <a:cs typeface="ＭＳ Ｐゴシック" charset="0"/>
              </a:rPr>
              <a:t>Accelerator</a:t>
            </a:r>
            <a:br>
              <a:rPr lang="en-GB" sz="3100" u="sng" dirty="0">
                <a:solidFill>
                  <a:srgbClr val="0000FF"/>
                </a:solidFill>
                <a:latin typeface="Times New Roman" charset="0"/>
                <a:ea typeface="ＭＳ Ｐゴシック" charset="0"/>
                <a:cs typeface="ＭＳ Ｐゴシック" charset="0"/>
              </a:rPr>
            </a:br>
            <a:r>
              <a:rPr lang="en-GB" sz="3100" dirty="0">
                <a:solidFill>
                  <a:srgbClr val="FF0000"/>
                </a:solidFill>
                <a:latin typeface="Times New Roman" charset="0"/>
                <a:ea typeface="ＭＳ Ｐゴシック" charset="0"/>
                <a:cs typeface="ＭＳ Ｐゴシック" charset="0"/>
              </a:rPr>
              <a:t>Clear elements</a:t>
            </a:r>
            <a:r>
              <a:rPr lang="en-GB" sz="3100" dirty="0">
                <a:solidFill>
                  <a:srgbClr val="0000FF"/>
                </a:solidFill>
                <a:latin typeface="Times New Roman" charset="0"/>
                <a:ea typeface="ＭＳ Ｐゴシック" charset="0"/>
                <a:cs typeface="ＭＳ Ｐゴシック" charset="0"/>
              </a:rPr>
              <a:t>: </a:t>
            </a:r>
            <a:r>
              <a:rPr lang="en-GB" sz="3100" dirty="0" smtClean="0">
                <a:solidFill>
                  <a:srgbClr val="0000FF"/>
                </a:solidFill>
                <a:latin typeface="Times New Roman" charset="0"/>
                <a:ea typeface="ＭＳ Ｐゴシック" charset="0"/>
                <a:cs typeface="ＭＳ Ｐゴシック" charset="0"/>
              </a:rPr>
              <a:t>main </a:t>
            </a:r>
            <a:r>
              <a:rPr lang="en-GB" sz="3100" dirty="0">
                <a:solidFill>
                  <a:srgbClr val="0000FF"/>
                </a:solidFill>
                <a:latin typeface="Times New Roman" charset="0"/>
                <a:ea typeface="ＭＳ Ｐゴシック" charset="0"/>
                <a:cs typeface="ＭＳ Ｐゴシック" charset="0"/>
              </a:rPr>
              <a:t>requirements, </a:t>
            </a:r>
            <a:r>
              <a:rPr lang="en-GB" sz="3100" dirty="0" smtClean="0">
                <a:solidFill>
                  <a:srgbClr val="0000FF"/>
                </a:solidFill>
                <a:latin typeface="Times New Roman" charset="0"/>
                <a:ea typeface="ＭＳ Ｐゴシック" charset="0"/>
                <a:cs typeface="ＭＳ Ｐゴシック" charset="0"/>
              </a:rPr>
              <a:t>items </a:t>
            </a:r>
            <a:r>
              <a:rPr lang="en-GB" sz="3100" dirty="0">
                <a:solidFill>
                  <a:srgbClr val="0000FF"/>
                </a:solidFill>
                <a:latin typeface="Times New Roman" charset="0"/>
                <a:ea typeface="ＭＳ Ｐゴシック" charset="0"/>
                <a:cs typeface="ＭＳ Ｐゴシック" charset="0"/>
              </a:rPr>
              <a:t>that deserve additional R&amp;</a:t>
            </a:r>
            <a:r>
              <a:rPr lang="en-GB" sz="3100" dirty="0" smtClean="0">
                <a:solidFill>
                  <a:srgbClr val="0000FF"/>
                </a:solidFill>
                <a:latin typeface="Times New Roman" charset="0"/>
                <a:ea typeface="ＭＳ Ｐゴシック" charset="0"/>
                <a:cs typeface="ＭＳ Ｐゴシック" charset="0"/>
              </a:rPr>
              <a:t>D.</a:t>
            </a:r>
            <a:br>
              <a:rPr lang="en-GB" sz="3100" dirty="0" smtClean="0">
                <a:solidFill>
                  <a:srgbClr val="0000FF"/>
                </a:solidFill>
                <a:latin typeface="Times New Roman" charset="0"/>
                <a:ea typeface="ＭＳ Ｐゴシック" charset="0"/>
                <a:cs typeface="ＭＳ Ｐゴシック" charset="0"/>
              </a:rPr>
            </a:br>
            <a:r>
              <a:rPr lang="en-GB" sz="1600" dirty="0">
                <a:solidFill>
                  <a:srgbClr val="0000FF"/>
                </a:solidFill>
                <a:latin typeface="Times New Roman" charset="0"/>
                <a:ea typeface="ＭＳ Ｐゴシック" charset="0"/>
                <a:cs typeface="ＭＳ Ｐゴシック" charset="0"/>
              </a:rPr>
              <a:t/>
            </a:r>
            <a:br>
              <a:rPr lang="en-GB" sz="1600" dirty="0">
                <a:solidFill>
                  <a:srgbClr val="0000FF"/>
                </a:solidFill>
                <a:latin typeface="Times New Roman" charset="0"/>
                <a:ea typeface="ＭＳ Ｐゴシック" charset="0"/>
                <a:cs typeface="ＭＳ Ｐゴシック" charset="0"/>
              </a:rPr>
            </a:br>
            <a:r>
              <a:rPr lang="en-GB" sz="600" dirty="0">
                <a:solidFill>
                  <a:srgbClr val="0000FF"/>
                </a:solidFill>
                <a:latin typeface="Times New Roman" charset="0"/>
                <a:ea typeface="ＭＳ Ｐゴシック" charset="0"/>
                <a:cs typeface="ＭＳ Ｐゴシック" charset="0"/>
              </a:rPr>
              <a:t/>
            </a:r>
            <a:br>
              <a:rPr lang="en-GB" sz="600" dirty="0">
                <a:solidFill>
                  <a:srgbClr val="0000FF"/>
                </a:solidFill>
                <a:latin typeface="Times New Roman" charset="0"/>
                <a:ea typeface="ＭＳ Ｐゴシック" charset="0"/>
                <a:cs typeface="ＭＳ Ｐゴシック" charset="0"/>
              </a:rPr>
            </a:br>
            <a:r>
              <a:rPr lang="en-GB" sz="3100" dirty="0">
                <a:solidFill>
                  <a:srgbClr val="FF0000"/>
                </a:solidFill>
                <a:latin typeface="Times New Roman" charset="0"/>
                <a:ea typeface="ＭＳ Ｐゴシック" charset="0"/>
                <a:cs typeface="ＭＳ Ｐゴシック" charset="0"/>
              </a:rPr>
              <a:t>“Obscure” elements</a:t>
            </a:r>
            <a:r>
              <a:rPr lang="en-GB" sz="3100" dirty="0">
                <a:solidFill>
                  <a:srgbClr val="0000FF"/>
                </a:solidFill>
                <a:latin typeface="Times New Roman" charset="0"/>
                <a:ea typeface="ＭＳ Ｐゴシック" charset="0"/>
                <a:cs typeface="ＭＳ Ｐゴシック" charset="0"/>
              </a:rPr>
              <a:t>: </a:t>
            </a:r>
            <a:r>
              <a:rPr lang="en-GB" sz="3100" dirty="0" smtClean="0">
                <a:solidFill>
                  <a:srgbClr val="0000FF"/>
                </a:solidFill>
                <a:latin typeface="Times New Roman" charset="0"/>
                <a:ea typeface="ＭＳ Ｐゴシック" charset="0"/>
                <a:cs typeface="ＭＳ Ｐゴシック" charset="0"/>
              </a:rPr>
              <a:t>transition elements between different sections, partnership </a:t>
            </a:r>
            <a:r>
              <a:rPr lang="en-GB" sz="3100" dirty="0">
                <a:solidFill>
                  <a:srgbClr val="0000FF"/>
                </a:solidFill>
                <a:latin typeface="Times New Roman" charset="0"/>
                <a:ea typeface="ＭＳ Ｐゴシック" charset="0"/>
                <a:cs typeface="ＭＳ Ｐゴシック" charset="0"/>
              </a:rPr>
              <a:t>definition </a:t>
            </a:r>
            <a:r>
              <a:rPr lang="en-GB" sz="3100" dirty="0" smtClean="0">
                <a:solidFill>
                  <a:srgbClr val="0000FF"/>
                </a:solidFill>
                <a:latin typeface="Times New Roman" charset="0"/>
                <a:ea typeface="ＭＳ Ｐゴシック" charset="0"/>
                <a:cs typeface="ＭＳ Ｐゴシック" charset="0"/>
              </a:rPr>
              <a:t>complicated by the </a:t>
            </a:r>
            <a:r>
              <a:rPr lang="en-GB" sz="3100" dirty="0">
                <a:solidFill>
                  <a:srgbClr val="0000FF"/>
                </a:solidFill>
                <a:latin typeface="Times New Roman" charset="0"/>
                <a:ea typeface="ＭＳ Ｐゴシック" charset="0"/>
                <a:cs typeface="ＭＳ Ｐゴシック" charset="0"/>
              </a:rPr>
              <a:t>workloads of involved research teams.</a:t>
            </a:r>
            <a:br>
              <a:rPr lang="en-GB" sz="3100" dirty="0">
                <a:solidFill>
                  <a:srgbClr val="0000FF"/>
                </a:solidFill>
                <a:latin typeface="Times New Roman" charset="0"/>
                <a:ea typeface="ＭＳ Ｐゴシック" charset="0"/>
                <a:cs typeface="ＭＳ Ｐゴシック" charset="0"/>
              </a:rPr>
            </a:br>
            <a:r>
              <a:rPr lang="en-GB" sz="3100" dirty="0">
                <a:solidFill>
                  <a:srgbClr val="0000FF"/>
                </a:solidFill>
                <a:latin typeface="Times New Roman" charset="0"/>
                <a:ea typeface="ＭＳ Ｐゴシック" charset="0"/>
                <a:cs typeface="ＭＳ Ｐゴシック" charset="0"/>
              </a:rPr>
              <a:t/>
            </a:r>
            <a:br>
              <a:rPr lang="en-GB" sz="3100" dirty="0">
                <a:solidFill>
                  <a:srgbClr val="0000FF"/>
                </a:solidFill>
                <a:latin typeface="Times New Roman" charset="0"/>
                <a:ea typeface="ＭＳ Ｐゴシック" charset="0"/>
                <a:cs typeface="ＭＳ Ｐゴシック" charset="0"/>
              </a:rPr>
            </a:br>
            <a:r>
              <a:rPr lang="en-GB" sz="3100" dirty="0">
                <a:solidFill>
                  <a:srgbClr val="FF0000"/>
                </a:solidFill>
                <a:latin typeface="Times New Roman" charset="0"/>
                <a:ea typeface="ＭＳ Ｐゴシック" charset="0"/>
                <a:cs typeface="ＭＳ Ｐゴシック" charset="0"/>
              </a:rPr>
              <a:t>Strength points</a:t>
            </a:r>
            <a:r>
              <a:rPr lang="en-GB" sz="3100" dirty="0">
                <a:solidFill>
                  <a:srgbClr val="0000FF"/>
                </a:solidFill>
                <a:latin typeface="Times New Roman" charset="0"/>
                <a:ea typeface="ＭＳ Ｐゴシック" charset="0"/>
                <a:cs typeface="ＭＳ Ｐゴシック" charset="0"/>
              </a:rPr>
              <a:t>: for most of the components (e.g. Front-End until the warm-cold transition, elliptical cavities) there is a sufficient/remarkable experience within the Institutions involved in </a:t>
            </a:r>
            <a:r>
              <a:rPr lang="en-GB" sz="3100" dirty="0" smtClean="0">
                <a:solidFill>
                  <a:srgbClr val="0000FF"/>
                </a:solidFill>
                <a:latin typeface="Times New Roman" charset="0"/>
                <a:ea typeface="ＭＳ Ｐゴシック" charset="0"/>
                <a:cs typeface="ＭＳ Ｐゴシック" charset="0"/>
              </a:rPr>
              <a:t>ESS.</a:t>
            </a:r>
            <a:r>
              <a:rPr lang="en-GB" sz="3100" dirty="0">
                <a:solidFill>
                  <a:srgbClr val="0000FF"/>
                </a:solidFill>
                <a:latin typeface="Times New Roman" charset="0"/>
                <a:ea typeface="ＭＳ Ｐゴシック" charset="0"/>
                <a:cs typeface="ＭＳ Ｐゴシック" charset="0"/>
              </a:rPr>
              <a:t> </a:t>
            </a:r>
            <a:r>
              <a:rPr lang="en-GB" sz="3100" dirty="0" smtClean="0">
                <a:solidFill>
                  <a:srgbClr val="0000FF"/>
                </a:solidFill>
                <a:latin typeface="Times New Roman" charset="0"/>
                <a:ea typeface="ＭＳ Ｐゴシック" charset="0"/>
                <a:cs typeface="ＭＳ Ｐゴシック" charset="0"/>
              </a:rPr>
              <a:t>INFN is recognized to own a remarkable </a:t>
            </a:r>
            <a:r>
              <a:rPr lang="en-GB" sz="3100" i="1" u="sng" dirty="0" smtClean="0">
                <a:solidFill>
                  <a:srgbClr val="0000FF"/>
                </a:solidFill>
                <a:latin typeface="Times New Roman" charset="0"/>
                <a:ea typeface="ＭＳ Ｐゴシック" charset="0"/>
                <a:cs typeface="ＭＳ Ｐゴシック" charset="0"/>
              </a:rPr>
              <a:t>expertise in the design </a:t>
            </a:r>
            <a:r>
              <a:rPr lang="en-GB" sz="3100" i="1" u="sng" dirty="0">
                <a:solidFill>
                  <a:srgbClr val="0000FF"/>
                </a:solidFill>
                <a:latin typeface="Times New Roman" charset="0"/>
                <a:ea typeface="ＭＳ Ｐゴシック" charset="0"/>
                <a:cs typeface="ＭＳ Ｐゴシック" charset="0"/>
              </a:rPr>
              <a:t>of HPPA </a:t>
            </a:r>
            <a:r>
              <a:rPr lang="en-GB" sz="3100" i="1" u="sng" dirty="0" smtClean="0">
                <a:solidFill>
                  <a:srgbClr val="0000FF"/>
                </a:solidFill>
                <a:latin typeface="Times New Roman" charset="0"/>
                <a:ea typeface="ＭＳ Ｐゴシック" charset="0"/>
                <a:cs typeface="ＭＳ Ｐゴシック" charset="0"/>
              </a:rPr>
              <a:t>accelerators</a:t>
            </a:r>
            <a:r>
              <a:rPr lang="en-GB" sz="3100" dirty="0" smtClean="0">
                <a:solidFill>
                  <a:srgbClr val="0000FF"/>
                </a:solidFill>
                <a:latin typeface="Times New Roman" charset="0"/>
                <a:ea typeface="ＭＳ Ｐゴシック" charset="0"/>
                <a:cs typeface="ＭＳ Ｐゴシック" charset="0"/>
              </a:rPr>
              <a:t>.</a:t>
            </a:r>
            <a:br>
              <a:rPr lang="en-GB" sz="3100" dirty="0" smtClean="0">
                <a:solidFill>
                  <a:srgbClr val="0000FF"/>
                </a:solidFill>
                <a:latin typeface="Times New Roman" charset="0"/>
                <a:ea typeface="ＭＳ Ｐゴシック" charset="0"/>
                <a:cs typeface="ＭＳ Ｐゴシック" charset="0"/>
              </a:rPr>
            </a:br>
            <a:r>
              <a:rPr lang="en-GB" sz="3100" dirty="0">
                <a:solidFill>
                  <a:srgbClr val="0000FF"/>
                </a:solidFill>
                <a:latin typeface="Times New Roman" charset="0"/>
                <a:ea typeface="ＭＳ Ｐゴシック" charset="0"/>
                <a:cs typeface="ＭＳ Ｐゴシック" charset="0"/>
              </a:rPr>
              <a:t/>
            </a:r>
            <a:br>
              <a:rPr lang="en-GB" sz="3100" dirty="0">
                <a:solidFill>
                  <a:srgbClr val="0000FF"/>
                </a:solidFill>
                <a:latin typeface="Times New Roman" charset="0"/>
                <a:ea typeface="ＭＳ Ｐゴシック" charset="0"/>
                <a:cs typeface="ＭＳ Ｐゴシック" charset="0"/>
              </a:rPr>
            </a:br>
            <a:r>
              <a:rPr lang="en-GB" sz="3100" dirty="0">
                <a:solidFill>
                  <a:srgbClr val="FF0000"/>
                </a:solidFill>
                <a:latin typeface="Times New Roman" charset="0"/>
                <a:ea typeface="ＭＳ Ｐゴシック" charset="0"/>
                <a:cs typeface="ＭＳ Ｐゴシック" charset="0"/>
              </a:rPr>
              <a:t>Italian </a:t>
            </a:r>
            <a:r>
              <a:rPr lang="en-GB" sz="3100" dirty="0" smtClean="0">
                <a:solidFill>
                  <a:srgbClr val="FF0000"/>
                </a:solidFill>
                <a:latin typeface="Times New Roman" charset="0"/>
                <a:ea typeface="ＭＳ Ｐゴシック" charset="0"/>
                <a:cs typeface="ＭＳ Ｐゴシック" charset="0"/>
              </a:rPr>
              <a:t>contribution </a:t>
            </a:r>
            <a:r>
              <a:rPr lang="en-GB" sz="3100" dirty="0">
                <a:solidFill>
                  <a:srgbClr val="FF0000"/>
                </a:solidFill>
                <a:latin typeface="Times New Roman" charset="0"/>
                <a:ea typeface="ＭＳ Ｐゴシック" charset="0"/>
                <a:cs typeface="ＭＳ Ｐゴシック" charset="0"/>
              </a:rPr>
              <a:t>to the Accelerator DU</a:t>
            </a:r>
            <a:r>
              <a:rPr lang="en-GB" sz="3100" dirty="0">
                <a:solidFill>
                  <a:srgbClr val="0000FF"/>
                </a:solidFill>
                <a:latin typeface="Times New Roman" charset="0"/>
                <a:ea typeface="ＭＳ Ｐゴシック" charset="0"/>
                <a:cs typeface="ＭＳ Ｐゴシック" charset="0"/>
              </a:rPr>
              <a:t>: Ion Source, LEBT, DTL, elliptical cavities, know-how about RFQ and superconductivity </a:t>
            </a:r>
            <a:r>
              <a:rPr lang="en-GB" sz="3100" dirty="0">
                <a:solidFill>
                  <a:srgbClr val="0000FF"/>
                </a:solidFill>
                <a:latin typeface="Times New Roman" charset="0"/>
                <a:ea typeface="ＭＳ Ｐゴシック" charset="0"/>
                <a:cs typeface="ＭＳ Ｐゴシック" charset="0"/>
                <a:sym typeface="Wingdings" charset="0"/>
              </a:rPr>
              <a:t> </a:t>
            </a:r>
            <a:r>
              <a:rPr lang="en-GB" sz="3100" dirty="0">
                <a:solidFill>
                  <a:srgbClr val="FF0000"/>
                </a:solidFill>
                <a:latin typeface="Times New Roman" charset="0"/>
                <a:ea typeface="ＭＳ Ｐゴシック" charset="0"/>
                <a:cs typeface="ＭＳ Ｐゴシック" charset="0"/>
                <a:sym typeface="Wingdings" charset="0"/>
              </a:rPr>
              <a:t>useful know-how for ESS design and construction.</a:t>
            </a:r>
            <a:endParaRPr lang="en-GB" sz="3100" dirty="0">
              <a:solidFill>
                <a:srgbClr val="FF0000"/>
              </a:solidFill>
              <a:latin typeface="Times New Roman" charset="0"/>
              <a:ea typeface="ＭＳ Ｐゴシック" charset="0"/>
              <a:cs typeface="ＭＳ Ｐゴシック" charset="0"/>
            </a:endParaRPr>
          </a:p>
        </p:txBody>
      </p:sp>
      <p:sp>
        <p:nvSpPr>
          <p:cNvPr id="5"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9</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4"/>
          <p:cNvSpPr>
            <a:spLocks noGrp="1"/>
          </p:cNvSpPr>
          <p:nvPr>
            <p:ph type="title"/>
          </p:nvPr>
        </p:nvSpPr>
        <p:spPr>
          <a:xfrm>
            <a:off x="1677864" y="979667"/>
            <a:ext cx="9492543" cy="584765"/>
          </a:xfrm>
        </p:spPr>
        <p:txBody>
          <a:bodyPr anchor="t"/>
          <a:lstStyle/>
          <a:p>
            <a:pPr algn="ctr" eaLnBrk="1" hangingPunct="1"/>
            <a:r>
              <a:rPr lang="en-US" sz="6000" dirty="0">
                <a:solidFill>
                  <a:srgbClr val="FF0000"/>
                </a:solidFill>
                <a:latin typeface="Times New Roman" charset="0"/>
                <a:ea typeface="ＭＳ Ｐゴシック" charset="0"/>
                <a:cs typeface="ＭＳ Ｐゴシック" charset="0"/>
              </a:rPr>
              <a:t>Collaboration model for </a:t>
            </a:r>
            <a:r>
              <a:rPr lang="en-US" sz="6000" dirty="0" err="1">
                <a:solidFill>
                  <a:srgbClr val="FF0000"/>
                </a:solidFill>
                <a:latin typeface="Times New Roman" charset="0"/>
                <a:ea typeface="ＭＳ Ｐゴシック" charset="0"/>
                <a:cs typeface="ＭＳ Ｐゴシック" charset="0"/>
              </a:rPr>
              <a:t>linac</a:t>
            </a:r>
            <a:r>
              <a:rPr lang="en-US" sz="6000" dirty="0">
                <a:solidFill>
                  <a:srgbClr val="FF0000"/>
                </a:solidFill>
                <a:latin typeface="Times New Roman" charset="0"/>
                <a:ea typeface="ＭＳ Ｐゴシック" charset="0"/>
                <a:cs typeface="ＭＳ Ｐゴシック" charset="0"/>
              </a:rPr>
              <a:t> </a:t>
            </a:r>
            <a:r>
              <a:rPr lang="en-US" sz="6000" dirty="0" smtClean="0">
                <a:solidFill>
                  <a:srgbClr val="FF0000"/>
                </a:solidFill>
                <a:latin typeface="Times New Roman" charset="0"/>
                <a:ea typeface="ＭＳ Ｐゴシック" charset="0"/>
                <a:cs typeface="ＭＳ Ｐゴシック" charset="0"/>
              </a:rPr>
              <a:t>design update (ADU)</a:t>
            </a:r>
            <a:endParaRPr lang="en-US" sz="6000" dirty="0">
              <a:solidFill>
                <a:srgbClr val="FF0000"/>
              </a:solidFill>
              <a:latin typeface="Times New Roman" charset="0"/>
              <a:ea typeface="ＭＳ Ｐゴシック" charset="0"/>
              <a:cs typeface="ＭＳ Ｐゴシック" charset="0"/>
            </a:endParaRPr>
          </a:p>
        </p:txBody>
      </p:sp>
      <p:sp>
        <p:nvSpPr>
          <p:cNvPr id="53250" name="Content Placeholder 2"/>
          <p:cNvSpPr>
            <a:spLocks noGrp="1"/>
          </p:cNvSpPr>
          <p:nvPr>
            <p:ph idx="1"/>
          </p:nvPr>
        </p:nvSpPr>
        <p:spPr>
          <a:xfrm>
            <a:off x="885776" y="3076600"/>
            <a:ext cx="11017224" cy="2221653"/>
          </a:xfrm>
        </p:spPr>
        <p:txBody>
          <a:bodyPr/>
          <a:lstStyle/>
          <a:p>
            <a:pPr eaLnBrk="1" hangingPunct="1">
              <a:buFontTx/>
              <a:buNone/>
            </a:pPr>
            <a:r>
              <a:rPr lang="en-GB" b="1" dirty="0">
                <a:solidFill>
                  <a:srgbClr val="0000E5"/>
                </a:solidFill>
                <a:latin typeface="Times New Roman" charset="0"/>
                <a:ea typeface="ＭＳ Ｐゴシック" charset="0"/>
                <a:cs typeface="ＭＳ Ｐゴシック" charset="0"/>
              </a:rPr>
              <a:t>Work </a:t>
            </a:r>
            <a:r>
              <a:rPr lang="en-GB" b="1" dirty="0" smtClean="0">
                <a:solidFill>
                  <a:srgbClr val="0000E5"/>
                </a:solidFill>
                <a:latin typeface="Times New Roman" charset="0"/>
                <a:ea typeface="ＭＳ Ｐゴシック" charset="0"/>
                <a:cs typeface="ＭＳ Ｐゴシック" charset="0"/>
              </a:rPr>
              <a:t>Packages</a:t>
            </a:r>
          </a:p>
          <a:p>
            <a:pPr eaLnBrk="1" hangingPunct="1">
              <a:buFontTx/>
              <a:buNone/>
            </a:pPr>
            <a:r>
              <a:rPr lang="en-GB" b="1" dirty="0" smtClean="0">
                <a:solidFill>
                  <a:srgbClr val="0000E5"/>
                </a:solidFill>
                <a:latin typeface="Times New Roman" charset="0"/>
                <a:ea typeface="ＭＳ Ｐゴシック" charset="0"/>
                <a:cs typeface="ＭＳ Ｐゴシック" charset="0"/>
              </a:rPr>
              <a:t>1</a:t>
            </a:r>
            <a:r>
              <a:rPr lang="en-US" dirty="0">
                <a:solidFill>
                  <a:srgbClr val="0000E5"/>
                </a:solidFill>
                <a:latin typeface="Times New Roman" charset="0"/>
                <a:ea typeface="ＭＳ Ｐゴシック" charset="0"/>
                <a:cs typeface="ＭＳ Ｐゴシック" charset="0"/>
              </a:rPr>
              <a:t>. </a:t>
            </a:r>
            <a:r>
              <a:rPr lang="en-GB" dirty="0">
                <a:solidFill>
                  <a:srgbClr val="0000E5"/>
                </a:solidFill>
                <a:latin typeface="Times New Roman" charset="0"/>
                <a:ea typeface="ＭＳ Ｐゴシック" charset="0"/>
                <a:cs typeface="ＭＳ Ｐゴシック" charset="0"/>
              </a:rPr>
              <a:t>Management Coordination – ESS (Mats </a:t>
            </a:r>
            <a:r>
              <a:rPr lang="en-GB" dirty="0" err="1">
                <a:solidFill>
                  <a:srgbClr val="0000E5"/>
                </a:solidFill>
                <a:latin typeface="Times New Roman" charset="0"/>
                <a:ea typeface="ＭＳ Ｐゴシック" charset="0"/>
                <a:cs typeface="ＭＳ Ｐゴシック" charset="0"/>
              </a:rPr>
              <a:t>Lindroos</a:t>
            </a:r>
            <a:r>
              <a:rPr lang="en-GB" dirty="0">
                <a:solidFill>
                  <a:srgbClr val="0000E5"/>
                </a:solidFill>
                <a:latin typeface="Times New Roman" charset="0"/>
                <a:ea typeface="ＭＳ Ｐゴシック" charset="0"/>
                <a:cs typeface="ＭＳ Ｐゴシック" charset="0"/>
              </a:rPr>
              <a:t>)</a:t>
            </a:r>
            <a:endParaRPr lang="en-US" dirty="0">
              <a:solidFill>
                <a:srgbClr val="0000E5"/>
              </a:solidFill>
              <a:latin typeface="Times New Roman" charset="0"/>
              <a:ea typeface="ＭＳ Ｐゴシック" charset="0"/>
              <a:cs typeface="ＭＳ Ｐゴシック" charset="0"/>
            </a:endParaRPr>
          </a:p>
          <a:p>
            <a:pPr eaLnBrk="1" hangingPunct="1">
              <a:buFontTx/>
              <a:buNone/>
            </a:pPr>
            <a:r>
              <a:rPr lang="en-GB" b="1" dirty="0">
                <a:solidFill>
                  <a:srgbClr val="0000E5"/>
                </a:solidFill>
                <a:latin typeface="Times New Roman" charset="0"/>
                <a:ea typeface="ＭＳ Ｐゴシック" charset="0"/>
                <a:cs typeface="ＭＳ Ｐゴシック" charset="0"/>
              </a:rPr>
              <a:t>2</a:t>
            </a:r>
            <a:r>
              <a:rPr lang="en-US" dirty="0">
                <a:solidFill>
                  <a:srgbClr val="0000E5"/>
                </a:solidFill>
                <a:latin typeface="Times New Roman" charset="0"/>
                <a:ea typeface="ＭＳ Ｐゴシック" charset="0"/>
                <a:cs typeface="ＭＳ Ｐゴシック" charset="0"/>
              </a:rPr>
              <a:t>. </a:t>
            </a:r>
            <a:r>
              <a:rPr lang="en-GB" dirty="0">
                <a:solidFill>
                  <a:srgbClr val="0000E5"/>
                </a:solidFill>
                <a:latin typeface="Times New Roman" charset="0"/>
                <a:ea typeface="ＭＳ Ｐゴシック" charset="0"/>
                <a:cs typeface="ＭＳ Ｐゴシック" charset="0"/>
              </a:rPr>
              <a:t>Accelerator Science – ESS (Steve </a:t>
            </a:r>
            <a:r>
              <a:rPr lang="en-GB" dirty="0" err="1">
                <a:solidFill>
                  <a:srgbClr val="0000E5"/>
                </a:solidFill>
                <a:latin typeface="Times New Roman" charset="0"/>
                <a:ea typeface="ＭＳ Ｐゴシック" charset="0"/>
                <a:cs typeface="ＭＳ Ｐゴシック" charset="0"/>
              </a:rPr>
              <a:t>Peggs</a:t>
            </a:r>
            <a:r>
              <a:rPr lang="en-GB" dirty="0">
                <a:solidFill>
                  <a:srgbClr val="0000E5"/>
                </a:solidFill>
                <a:latin typeface="Times New Roman" charset="0"/>
                <a:ea typeface="ＭＳ Ｐゴシック" charset="0"/>
                <a:cs typeface="ＭＳ Ｐゴシック" charset="0"/>
              </a:rPr>
              <a:t>)</a:t>
            </a:r>
            <a:endParaRPr lang="en-US" dirty="0">
              <a:solidFill>
                <a:srgbClr val="0000E5"/>
              </a:solidFill>
              <a:latin typeface="Times New Roman" charset="0"/>
              <a:ea typeface="ＭＳ Ｐゴシック" charset="0"/>
              <a:cs typeface="ＭＳ Ｐゴシック" charset="0"/>
            </a:endParaRPr>
          </a:p>
          <a:p>
            <a:pPr eaLnBrk="1" hangingPunct="1">
              <a:buFontTx/>
              <a:buNone/>
            </a:pPr>
            <a:r>
              <a:rPr lang="en-GB" b="1" dirty="0">
                <a:solidFill>
                  <a:srgbClr val="0000E5"/>
                </a:solidFill>
                <a:latin typeface="Times New Roman" charset="0"/>
                <a:ea typeface="ＭＳ Ｐゴシック" charset="0"/>
                <a:cs typeface="ＭＳ Ｐゴシック" charset="0"/>
              </a:rPr>
              <a:t>3</a:t>
            </a:r>
            <a:r>
              <a:rPr lang="en-US" dirty="0">
                <a:solidFill>
                  <a:srgbClr val="0000E5"/>
                </a:solidFill>
                <a:latin typeface="Times New Roman" charset="0"/>
                <a:ea typeface="ＭＳ Ｐゴシック" charset="0"/>
                <a:cs typeface="ＭＳ Ｐゴシック" charset="0"/>
              </a:rPr>
              <a:t>. </a:t>
            </a:r>
            <a:r>
              <a:rPr lang="en-GB" dirty="0">
                <a:solidFill>
                  <a:srgbClr val="0000E5"/>
                </a:solidFill>
                <a:latin typeface="Times New Roman" charset="0"/>
                <a:ea typeface="ＭＳ Ｐゴシック" charset="0"/>
                <a:cs typeface="ＭＳ Ｐゴシック" charset="0"/>
              </a:rPr>
              <a:t>Infrastructure Services – </a:t>
            </a:r>
            <a:r>
              <a:rPr lang="en-GB" dirty="0" err="1">
                <a:solidFill>
                  <a:srgbClr val="0000E5"/>
                </a:solidFill>
                <a:latin typeface="Times New Roman" charset="0"/>
                <a:ea typeface="ＭＳ Ｐゴシック" charset="0"/>
                <a:cs typeface="ＭＳ Ｐゴシック" charset="0"/>
              </a:rPr>
              <a:t>Tekniker</a:t>
            </a:r>
            <a:r>
              <a:rPr lang="en-GB" dirty="0">
                <a:solidFill>
                  <a:srgbClr val="0000E5"/>
                </a:solidFill>
                <a:latin typeface="Times New Roman" charset="0"/>
                <a:ea typeface="ＭＳ Ｐゴシック" charset="0"/>
                <a:cs typeface="ＭＳ Ｐゴシック" charset="0"/>
              </a:rPr>
              <a:t>, </a:t>
            </a:r>
            <a:r>
              <a:rPr lang="en-GB" dirty="0" smtClean="0">
                <a:solidFill>
                  <a:srgbClr val="0000E5"/>
                </a:solidFill>
                <a:latin typeface="Times New Roman" charset="0"/>
                <a:ea typeface="ＭＳ Ｐゴシック" charset="0"/>
                <a:cs typeface="ＭＳ Ｐゴシック" charset="0"/>
              </a:rPr>
              <a:t>Bilbao, now ESS Lund</a:t>
            </a:r>
            <a:endParaRPr lang="en-US" dirty="0">
              <a:solidFill>
                <a:srgbClr val="0000E5"/>
              </a:solidFill>
              <a:latin typeface="Times New Roman" charset="0"/>
              <a:ea typeface="ＭＳ Ｐゴシック" charset="0"/>
              <a:cs typeface="ＭＳ Ｐゴシック" charset="0"/>
            </a:endParaRPr>
          </a:p>
          <a:p>
            <a:pPr eaLnBrk="1" hangingPunct="1">
              <a:buFontTx/>
              <a:buNone/>
            </a:pPr>
            <a:r>
              <a:rPr lang="en-GB" b="1" dirty="0">
                <a:solidFill>
                  <a:srgbClr val="0000E5"/>
                </a:solidFill>
                <a:latin typeface="Times New Roman" charset="0"/>
                <a:ea typeface="ＭＳ Ｐゴシック" charset="0"/>
                <a:cs typeface="ＭＳ Ｐゴシック" charset="0"/>
              </a:rPr>
              <a:t>4</a:t>
            </a:r>
            <a:r>
              <a:rPr lang="en-GB" dirty="0">
                <a:solidFill>
                  <a:srgbClr val="0000E5"/>
                </a:solidFill>
                <a:latin typeface="Times New Roman" charset="0"/>
                <a:ea typeface="ＭＳ Ｐゴシック" charset="0"/>
                <a:cs typeface="ＭＳ Ｐゴシック" charset="0"/>
              </a:rPr>
              <a:t>. SCRF Spoke cavities – IPN, </a:t>
            </a:r>
            <a:r>
              <a:rPr lang="en-GB" dirty="0" err="1">
                <a:solidFill>
                  <a:srgbClr val="0000E5"/>
                </a:solidFill>
                <a:latin typeface="Times New Roman" charset="0"/>
                <a:ea typeface="ＭＳ Ｐゴシック" charset="0"/>
                <a:cs typeface="ＭＳ Ｐゴシック" charset="0"/>
              </a:rPr>
              <a:t>Orsay</a:t>
            </a:r>
            <a:r>
              <a:rPr lang="en-GB" dirty="0">
                <a:solidFill>
                  <a:srgbClr val="0000E5"/>
                </a:solidFill>
                <a:latin typeface="Times New Roman" charset="0"/>
                <a:ea typeface="ＭＳ Ｐゴシック" charset="0"/>
                <a:cs typeface="ＭＳ Ｐゴシック" charset="0"/>
              </a:rPr>
              <a:t> (</a:t>
            </a:r>
            <a:r>
              <a:rPr lang="en-GB" dirty="0" err="1">
                <a:solidFill>
                  <a:srgbClr val="0000E5"/>
                </a:solidFill>
                <a:latin typeface="Times New Roman" charset="0"/>
                <a:ea typeface="ＭＳ Ｐゴシック" charset="0"/>
                <a:cs typeface="ＭＳ Ｐゴシック" charset="0"/>
              </a:rPr>
              <a:t>Sebastien</a:t>
            </a:r>
            <a:r>
              <a:rPr lang="en-GB" dirty="0">
                <a:solidFill>
                  <a:srgbClr val="0000E5"/>
                </a:solidFill>
                <a:latin typeface="Times New Roman" charset="0"/>
                <a:ea typeface="ＭＳ Ｐゴシック" charset="0"/>
                <a:cs typeface="ＭＳ Ｐゴシック" charset="0"/>
              </a:rPr>
              <a:t> </a:t>
            </a:r>
            <a:r>
              <a:rPr lang="en-GB" dirty="0" err="1">
                <a:solidFill>
                  <a:srgbClr val="0000E5"/>
                </a:solidFill>
                <a:latin typeface="Times New Roman" charset="0"/>
                <a:ea typeface="ＭＳ Ｐゴシック" charset="0"/>
                <a:cs typeface="ＭＳ Ｐゴシック" charset="0"/>
              </a:rPr>
              <a:t>Bousson</a:t>
            </a:r>
            <a:r>
              <a:rPr lang="en-GB" dirty="0">
                <a:solidFill>
                  <a:srgbClr val="0000E5"/>
                </a:solidFill>
                <a:latin typeface="Times New Roman" charset="0"/>
                <a:ea typeface="ＭＳ Ｐゴシック" charset="0"/>
                <a:cs typeface="ＭＳ Ｐゴシック" charset="0"/>
              </a:rPr>
              <a:t>)</a:t>
            </a:r>
          </a:p>
          <a:p>
            <a:pPr eaLnBrk="1" hangingPunct="1">
              <a:buFontTx/>
              <a:buNone/>
            </a:pPr>
            <a:r>
              <a:rPr lang="en-GB" b="1" dirty="0">
                <a:solidFill>
                  <a:srgbClr val="0000E5"/>
                </a:solidFill>
                <a:latin typeface="Times New Roman" charset="0"/>
                <a:ea typeface="ＭＳ Ｐゴシック" charset="0"/>
                <a:cs typeface="ＭＳ Ｐゴシック" charset="0"/>
              </a:rPr>
              <a:t>5</a:t>
            </a:r>
            <a:r>
              <a:rPr lang="en-GB" dirty="0">
                <a:solidFill>
                  <a:srgbClr val="0000E5"/>
                </a:solidFill>
                <a:latin typeface="Times New Roman" charset="0"/>
                <a:ea typeface="ＭＳ Ｐゴシック" charset="0"/>
                <a:cs typeface="ＭＳ Ｐゴシック" charset="0"/>
              </a:rPr>
              <a:t>. SCRF Elliptical cavities – CEA, IRFU-</a:t>
            </a:r>
            <a:r>
              <a:rPr lang="en-GB" dirty="0" err="1">
                <a:solidFill>
                  <a:srgbClr val="0000E5"/>
                </a:solidFill>
                <a:latin typeface="Times New Roman" charset="0"/>
                <a:ea typeface="ＭＳ Ｐゴシック" charset="0"/>
                <a:cs typeface="ＭＳ Ｐゴシック" charset="0"/>
              </a:rPr>
              <a:t>Saclay</a:t>
            </a:r>
            <a:r>
              <a:rPr lang="en-GB" dirty="0">
                <a:solidFill>
                  <a:srgbClr val="0000E5"/>
                </a:solidFill>
                <a:latin typeface="Times New Roman" charset="0"/>
                <a:ea typeface="ＭＳ Ｐゴシック" charset="0"/>
                <a:cs typeface="ＭＳ Ｐゴシック" charset="0"/>
              </a:rPr>
              <a:t> (Guillaume </a:t>
            </a:r>
            <a:r>
              <a:rPr lang="en-GB" dirty="0" err="1">
                <a:solidFill>
                  <a:srgbClr val="0000E5"/>
                </a:solidFill>
                <a:latin typeface="Times New Roman" charset="0"/>
                <a:ea typeface="ＭＳ Ｐゴシック" charset="0"/>
                <a:cs typeface="ＭＳ Ｐゴシック" charset="0"/>
              </a:rPr>
              <a:t>Devanz</a:t>
            </a:r>
            <a:r>
              <a:rPr lang="en-GB" dirty="0">
                <a:solidFill>
                  <a:srgbClr val="0000E5"/>
                </a:solidFill>
                <a:latin typeface="Times New Roman" charset="0"/>
                <a:ea typeface="ＭＳ Ｐゴシック" charset="0"/>
                <a:cs typeface="ＭＳ Ｐゴシック" charset="0"/>
              </a:rPr>
              <a:t>)</a:t>
            </a:r>
          </a:p>
          <a:p>
            <a:pPr eaLnBrk="1" hangingPunct="1">
              <a:buFontTx/>
              <a:buNone/>
            </a:pPr>
            <a:r>
              <a:rPr lang="en-GB" dirty="0">
                <a:solidFill>
                  <a:srgbClr val="0000E5"/>
                </a:solidFill>
                <a:latin typeface="Times New Roman" charset="0"/>
                <a:ea typeface="ＭＳ Ｐゴシック" charset="0"/>
                <a:cs typeface="ＭＳ Ｐゴシック" charset="0"/>
              </a:rPr>
              <a:t>				       with contribution by </a:t>
            </a:r>
            <a:r>
              <a:rPr lang="en-GB" dirty="0" smtClean="0">
                <a:solidFill>
                  <a:srgbClr val="0000E5"/>
                </a:solidFill>
                <a:latin typeface="Times New Roman" charset="0"/>
                <a:ea typeface="ＭＳ Ｐゴシック" charset="0"/>
                <a:cs typeface="ＭＳ Ｐゴシック" charset="0"/>
              </a:rPr>
              <a:t>INFN</a:t>
            </a:r>
            <a:endParaRPr lang="en-US" dirty="0">
              <a:solidFill>
                <a:srgbClr val="0000E5"/>
              </a:solidFill>
              <a:latin typeface="Times New Roman" charset="0"/>
              <a:ea typeface="ＭＳ Ｐゴシック" charset="0"/>
              <a:cs typeface="ＭＳ Ｐゴシック" charset="0"/>
            </a:endParaRPr>
          </a:p>
          <a:p>
            <a:pPr eaLnBrk="1" hangingPunct="1">
              <a:buFontTx/>
              <a:buNone/>
            </a:pPr>
            <a:r>
              <a:rPr lang="en-GB" b="1" dirty="0">
                <a:solidFill>
                  <a:srgbClr val="0000E5"/>
                </a:solidFill>
                <a:latin typeface="Times New Roman" charset="0"/>
                <a:ea typeface="ＭＳ Ｐゴシック" charset="0"/>
                <a:cs typeface="ＭＳ Ｐゴシック" charset="0"/>
              </a:rPr>
              <a:t>6</a:t>
            </a:r>
            <a:r>
              <a:rPr lang="en-US" dirty="0">
                <a:solidFill>
                  <a:srgbClr val="0000E5"/>
                </a:solidFill>
                <a:latin typeface="Times New Roman" charset="0"/>
                <a:ea typeface="ＭＳ Ｐゴシック" charset="0"/>
                <a:cs typeface="ＭＳ Ｐゴシック" charset="0"/>
              </a:rPr>
              <a:t>. </a:t>
            </a:r>
            <a:r>
              <a:rPr lang="en-GB" dirty="0">
                <a:solidFill>
                  <a:srgbClr val="0000E5"/>
                </a:solidFill>
                <a:latin typeface="Times New Roman" charset="0"/>
                <a:ea typeface="ＭＳ Ｐゴシック" charset="0"/>
                <a:cs typeface="ＭＳ Ｐゴシック" charset="0"/>
              </a:rPr>
              <a:t>Front End and NC </a:t>
            </a:r>
            <a:r>
              <a:rPr lang="en-GB" dirty="0" err="1">
                <a:solidFill>
                  <a:srgbClr val="0000E5"/>
                </a:solidFill>
                <a:latin typeface="Times New Roman" charset="0"/>
                <a:ea typeface="ＭＳ Ｐゴシック" charset="0"/>
                <a:cs typeface="ＭＳ Ｐゴシック" charset="0"/>
              </a:rPr>
              <a:t>linac</a:t>
            </a:r>
            <a:r>
              <a:rPr lang="en-GB" dirty="0">
                <a:solidFill>
                  <a:srgbClr val="0000E5"/>
                </a:solidFill>
                <a:latin typeface="Times New Roman" charset="0"/>
                <a:ea typeface="ＭＳ Ｐゴシック" charset="0"/>
                <a:cs typeface="ＭＳ Ｐゴシック" charset="0"/>
              </a:rPr>
              <a:t> – </a:t>
            </a:r>
            <a:r>
              <a:rPr lang="en-GB" dirty="0" smtClean="0">
                <a:solidFill>
                  <a:srgbClr val="0000E5"/>
                </a:solidFill>
                <a:latin typeface="Times New Roman" charset="0"/>
                <a:ea typeface="ＭＳ Ｐゴシック" charset="0"/>
                <a:cs typeface="ＭＳ Ｐゴシック" charset="0"/>
              </a:rPr>
              <a:t>INFN</a:t>
            </a:r>
            <a:r>
              <a:rPr lang="en-GB" dirty="0">
                <a:solidFill>
                  <a:srgbClr val="0000E5"/>
                </a:solidFill>
                <a:latin typeface="Times New Roman" charset="0"/>
                <a:ea typeface="ＭＳ Ｐゴシック" charset="0"/>
                <a:cs typeface="ＭＳ Ｐゴシック" charset="0"/>
              </a:rPr>
              <a:t> </a:t>
            </a:r>
            <a:r>
              <a:rPr lang="en-GB" dirty="0" smtClean="0">
                <a:solidFill>
                  <a:srgbClr val="0000E5"/>
                </a:solidFill>
                <a:latin typeface="Times New Roman" charset="0"/>
                <a:ea typeface="ＭＳ Ｐゴシック" charset="0"/>
                <a:cs typeface="ＭＳ Ｐゴシック" charset="0"/>
              </a:rPr>
              <a:t>(</a:t>
            </a:r>
            <a:r>
              <a:rPr lang="en-GB" dirty="0">
                <a:solidFill>
                  <a:srgbClr val="0000E5"/>
                </a:solidFill>
                <a:latin typeface="Times New Roman" charset="0"/>
                <a:ea typeface="ＭＳ Ｐゴシック" charset="0"/>
                <a:cs typeface="ＭＳ Ｐゴシック" charset="0"/>
              </a:rPr>
              <a:t>Santo Gammino)</a:t>
            </a:r>
            <a:endParaRPr lang="en-US" dirty="0">
              <a:solidFill>
                <a:srgbClr val="0000E5"/>
              </a:solidFill>
              <a:latin typeface="Times New Roman" charset="0"/>
              <a:ea typeface="ＭＳ Ｐゴシック" charset="0"/>
              <a:cs typeface="ＭＳ Ｐゴシック" charset="0"/>
            </a:endParaRPr>
          </a:p>
          <a:p>
            <a:pPr eaLnBrk="1" hangingPunct="1">
              <a:buFontTx/>
              <a:buNone/>
            </a:pPr>
            <a:r>
              <a:rPr lang="en-GB" b="1" dirty="0">
                <a:solidFill>
                  <a:srgbClr val="0000E5"/>
                </a:solidFill>
                <a:latin typeface="Times New Roman" charset="0"/>
                <a:ea typeface="ＭＳ Ｐゴシック" charset="0"/>
                <a:cs typeface="ＭＳ Ｐゴシック" charset="0"/>
              </a:rPr>
              <a:t>7</a:t>
            </a:r>
            <a:r>
              <a:rPr lang="en-US" dirty="0">
                <a:solidFill>
                  <a:srgbClr val="0000E5"/>
                </a:solidFill>
                <a:latin typeface="Times New Roman" charset="0"/>
                <a:ea typeface="ＭＳ Ｐゴシック" charset="0"/>
                <a:cs typeface="ＭＳ Ｐゴシック" charset="0"/>
              </a:rPr>
              <a:t>. Beam transport, NC magnets and </a:t>
            </a:r>
            <a:r>
              <a:rPr lang="en-GB" dirty="0">
                <a:solidFill>
                  <a:srgbClr val="0000E5"/>
                </a:solidFill>
                <a:latin typeface="Times New Roman" charset="0"/>
                <a:ea typeface="ＭＳ Ｐゴシック" charset="0"/>
                <a:cs typeface="ＭＳ Ｐゴシック" charset="0"/>
              </a:rPr>
              <a:t>Power Supplies – </a:t>
            </a:r>
            <a:r>
              <a:rPr lang="en-GB" dirty="0" err="1">
                <a:solidFill>
                  <a:srgbClr val="0000E5"/>
                </a:solidFill>
                <a:latin typeface="Times New Roman" charset="0"/>
                <a:ea typeface="ＭＳ Ｐゴシック" charset="0"/>
                <a:cs typeface="ＭＳ Ｐゴシック" charset="0"/>
              </a:rPr>
              <a:t>Århus</a:t>
            </a:r>
            <a:r>
              <a:rPr lang="en-GB" dirty="0">
                <a:solidFill>
                  <a:srgbClr val="0000E5"/>
                </a:solidFill>
                <a:latin typeface="Times New Roman" charset="0"/>
                <a:ea typeface="ＭＳ Ｐゴシック" charset="0"/>
                <a:cs typeface="ＭＳ Ｐゴシック" charset="0"/>
              </a:rPr>
              <a:t> University (</a:t>
            </a:r>
            <a:r>
              <a:rPr lang="en-GB" dirty="0" err="1">
                <a:solidFill>
                  <a:srgbClr val="0000E5"/>
                </a:solidFill>
                <a:latin typeface="Times New Roman" charset="0"/>
                <a:ea typeface="ＭＳ Ｐゴシック" charset="0"/>
                <a:cs typeface="ＭＳ Ｐゴシック" charset="0"/>
              </a:rPr>
              <a:t>Søren</a:t>
            </a:r>
            <a:r>
              <a:rPr lang="en-GB" dirty="0">
                <a:solidFill>
                  <a:srgbClr val="0000E5"/>
                </a:solidFill>
                <a:latin typeface="Times New Roman" charset="0"/>
                <a:ea typeface="ＭＳ Ｐゴシック" charset="0"/>
                <a:cs typeface="ＭＳ Ｐゴシック" charset="0"/>
              </a:rPr>
              <a:t> </a:t>
            </a:r>
            <a:r>
              <a:rPr lang="en-GB" dirty="0" err="1">
                <a:solidFill>
                  <a:srgbClr val="0000E5"/>
                </a:solidFill>
                <a:latin typeface="Times New Roman" charset="0"/>
                <a:ea typeface="ＭＳ Ｐゴシック" charset="0"/>
                <a:cs typeface="ＭＳ Ｐゴシック" charset="0"/>
              </a:rPr>
              <a:t>Pape-Møller</a:t>
            </a:r>
            <a:r>
              <a:rPr lang="en-GB" dirty="0">
                <a:solidFill>
                  <a:srgbClr val="0000E5"/>
                </a:solidFill>
                <a:latin typeface="Times New Roman" charset="0"/>
                <a:ea typeface="ＭＳ Ｐゴシック" charset="0"/>
                <a:cs typeface="ＭＳ Ｐゴシック" charset="0"/>
              </a:rPr>
              <a:t>)</a:t>
            </a:r>
            <a:endParaRPr lang="en-US" dirty="0">
              <a:solidFill>
                <a:srgbClr val="0000E5"/>
              </a:solidFill>
              <a:latin typeface="Times New Roman" charset="0"/>
              <a:ea typeface="ＭＳ Ｐゴシック" charset="0"/>
              <a:cs typeface="ＭＳ Ｐゴシック" charset="0"/>
            </a:endParaRPr>
          </a:p>
          <a:p>
            <a:pPr>
              <a:buNone/>
            </a:pPr>
            <a:r>
              <a:rPr lang="en-GB" b="1" dirty="0">
                <a:solidFill>
                  <a:srgbClr val="0000E5"/>
                </a:solidFill>
                <a:latin typeface="Times New Roman" charset="0"/>
                <a:ea typeface="ＭＳ Ｐゴシック" charset="0"/>
                <a:cs typeface="ＭＳ Ｐゴシック" charset="0"/>
              </a:rPr>
              <a:t>8</a:t>
            </a:r>
            <a:r>
              <a:rPr lang="en-US" dirty="0">
                <a:solidFill>
                  <a:srgbClr val="0000E5"/>
                </a:solidFill>
                <a:latin typeface="Times New Roman" charset="0"/>
                <a:ea typeface="ＭＳ Ｐゴシック" charset="0"/>
                <a:cs typeface="ＭＳ Ｐゴシック" charset="0"/>
              </a:rPr>
              <a:t>. </a:t>
            </a:r>
            <a:r>
              <a:rPr lang="en-GB" dirty="0">
                <a:solidFill>
                  <a:srgbClr val="0000E5"/>
                </a:solidFill>
                <a:latin typeface="Times New Roman" charset="0"/>
                <a:ea typeface="ＭＳ Ｐゴシック" charset="0"/>
                <a:cs typeface="ＭＳ Ｐゴシック" charset="0"/>
              </a:rPr>
              <a:t>RF Systems – </a:t>
            </a:r>
            <a:r>
              <a:rPr lang="en-GB" dirty="0" smtClean="0">
                <a:solidFill>
                  <a:srgbClr val="0000E5"/>
                </a:solidFill>
                <a:latin typeface="Times New Roman" charset="0"/>
                <a:ea typeface="ＭＳ Ｐゴシック" charset="0"/>
                <a:cs typeface="ＭＳ Ｐゴシック" charset="0"/>
              </a:rPr>
              <a:t>ESS</a:t>
            </a:r>
            <a:r>
              <a:rPr lang="en-GB" dirty="0">
                <a:solidFill>
                  <a:srgbClr val="0000E5"/>
                </a:solidFill>
                <a:latin typeface="Times New Roman" charset="0"/>
                <a:ea typeface="ＭＳ Ｐゴシック" charset="0"/>
                <a:cs typeface="ＭＳ Ｐゴシック" charset="0"/>
              </a:rPr>
              <a:t> (Dave </a:t>
            </a:r>
            <a:r>
              <a:rPr lang="en-GB" dirty="0" err="1" smtClean="0">
                <a:solidFill>
                  <a:srgbClr val="0000E5"/>
                </a:solidFill>
                <a:latin typeface="Times New Roman" charset="0"/>
                <a:ea typeface="ＭＳ Ｐゴシック" charset="0"/>
                <a:cs typeface="ＭＳ Ｐゴシック" charset="0"/>
              </a:rPr>
              <a:t>Mc.Ginnis</a:t>
            </a:r>
            <a:r>
              <a:rPr lang="en-GB" dirty="0" smtClean="0">
                <a:solidFill>
                  <a:srgbClr val="0000E5"/>
                </a:solidFill>
                <a:latin typeface="Times New Roman" charset="0"/>
                <a:ea typeface="ＭＳ Ｐゴシック" charset="0"/>
                <a:cs typeface="ＭＳ Ｐゴシック" charset="0"/>
              </a:rPr>
              <a:t>)</a:t>
            </a:r>
          </a:p>
          <a:p>
            <a:pPr>
              <a:buNone/>
            </a:pPr>
            <a:r>
              <a:rPr lang="en-GB" b="1" dirty="0" smtClean="0">
                <a:solidFill>
                  <a:srgbClr val="0000E5"/>
                </a:solidFill>
                <a:latin typeface="Times New Roman" charset="0"/>
                <a:ea typeface="ＭＳ Ｐゴシック" charset="0"/>
                <a:cs typeface="ＭＳ Ｐゴシック" charset="0"/>
              </a:rPr>
              <a:t>19.</a:t>
            </a:r>
            <a:r>
              <a:rPr lang="en-GB" dirty="0" smtClean="0">
                <a:solidFill>
                  <a:srgbClr val="0000E5"/>
                </a:solidFill>
                <a:latin typeface="Times New Roman" charset="0"/>
                <a:ea typeface="ＭＳ Ｐゴシック" charset="0"/>
                <a:cs typeface="ＭＳ Ｐゴシック" charset="0"/>
              </a:rPr>
              <a:t> Test stand – </a:t>
            </a:r>
            <a:r>
              <a:rPr lang="en-GB" dirty="0">
                <a:solidFill>
                  <a:srgbClr val="0000E5"/>
                </a:solidFill>
                <a:latin typeface="Times New Roman" charset="0"/>
                <a:ea typeface="ＭＳ Ｐゴシック" charset="0"/>
                <a:cs typeface="ＭＳ Ｐゴシック" charset="0"/>
              </a:rPr>
              <a:t>Uppsala university (Roger </a:t>
            </a:r>
            <a:r>
              <a:rPr lang="en-GB" dirty="0" err="1">
                <a:solidFill>
                  <a:srgbClr val="0000E5"/>
                </a:solidFill>
                <a:latin typeface="Times New Roman" charset="0"/>
                <a:ea typeface="ＭＳ Ｐゴシック" charset="0"/>
                <a:cs typeface="ＭＳ Ｐゴシック" charset="0"/>
              </a:rPr>
              <a:t>Ruber</a:t>
            </a:r>
            <a:r>
              <a:rPr lang="en-GB" dirty="0">
                <a:solidFill>
                  <a:srgbClr val="0000E5"/>
                </a:solidFill>
                <a:latin typeface="Times New Roman" charset="0"/>
                <a:ea typeface="ＭＳ Ｐゴシック" charset="0"/>
                <a:cs typeface="ＭＳ Ｐゴシック" charset="0"/>
              </a:rPr>
              <a:t>)</a:t>
            </a:r>
            <a:endParaRPr lang="en-US" dirty="0">
              <a:solidFill>
                <a:srgbClr val="0000E5"/>
              </a:solidFill>
              <a:latin typeface="Times New Roman" charset="0"/>
              <a:ea typeface="ＭＳ Ｐゴシック" charset="0"/>
              <a:cs typeface="ＭＳ Ｐゴシック" charset="0"/>
            </a:endParaRPr>
          </a:p>
        </p:txBody>
      </p:sp>
      <p:sp>
        <p:nvSpPr>
          <p:cNvPr id="4"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10</a:t>
            </a:fld>
            <a:endParaRPr lang="en-US" dirty="0"/>
          </a:p>
        </p:txBody>
      </p:sp>
    </p:spTree>
    <p:extLst>
      <p:ext uri="{BB962C8B-B14F-4D97-AF65-F5344CB8AC3E}">
        <p14:creationId xmlns:p14="http://schemas.microsoft.com/office/powerpoint/2010/main" val="2949543411"/>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ADU Project </a:t>
            </a:r>
            <a:br>
              <a:rPr lang="en-US"/>
            </a:br>
            <a:r>
              <a:rPr lang="en-US"/>
              <a:t>Plan</a:t>
            </a:r>
          </a:p>
        </p:txBody>
      </p:sp>
      <p:pic>
        <p:nvPicPr>
          <p:cNvPr id="10" name="Content Placeholder 7"/>
          <p:cNvPicPr>
            <a:picLocks noGrp="1" noChangeAspect="1"/>
          </p:cNvPicPr>
          <p:nvPr>
            <p:ph idx="1"/>
          </p:nvPr>
        </p:nvPicPr>
        <p:blipFill>
          <a:blip r:embed="rId2"/>
          <a:srcRect t="-76937" b="-76937"/>
          <a:stretch>
            <a:fillRect/>
          </a:stretch>
        </p:blipFill>
        <p:spPr>
          <a:xfrm>
            <a:off x="3622080" y="-3188096"/>
            <a:ext cx="9186898" cy="10518987"/>
          </a:xfrm>
        </p:spPr>
      </p:pic>
      <p:sp>
        <p:nvSpPr>
          <p:cNvPr id="8" name="Text Placeholder 7"/>
          <p:cNvSpPr>
            <a:spLocks noGrp="1"/>
          </p:cNvSpPr>
          <p:nvPr>
            <p:ph type="body" sz="half" idx="2"/>
          </p:nvPr>
        </p:nvSpPr>
        <p:spPr/>
        <p:txBody>
          <a:bodyPr/>
          <a:lstStyle/>
          <a:p>
            <a:r>
              <a:rPr lang="en-US" sz="2600"/>
              <a:t>900 tasks/milestones, </a:t>
            </a:r>
          </a:p>
          <a:p>
            <a:r>
              <a:rPr lang="en-US" sz="2600"/>
              <a:t>294 deliverables</a:t>
            </a:r>
          </a:p>
          <a:p>
            <a:r>
              <a:rPr lang="en-US" sz="2600"/>
              <a:t>189 968 hours</a:t>
            </a:r>
          </a:p>
          <a:p>
            <a:endParaRPr lang="en-US" sz="2600"/>
          </a:p>
          <a:p>
            <a:endParaRPr lang="en-US" sz="2600"/>
          </a:p>
          <a:p>
            <a:endParaRPr lang="en-US" sz="2600"/>
          </a:p>
          <a:p>
            <a:endParaRPr lang="en-US"/>
          </a:p>
        </p:txBody>
      </p:sp>
      <p:sp>
        <p:nvSpPr>
          <p:cNvPr id="6" name="Slide Number Placeholder 5"/>
          <p:cNvSpPr>
            <a:spLocks noGrp="1"/>
          </p:cNvSpPr>
          <p:nvPr>
            <p:ph type="sldNum" sz="quarter" idx="4294967295"/>
          </p:nvPr>
        </p:nvSpPr>
        <p:spPr>
          <a:xfrm>
            <a:off x="10124606" y="9040143"/>
            <a:ext cx="1016944" cy="519289"/>
          </a:xfrm>
          <a:prstGeom prst="rect">
            <a:avLst/>
          </a:prstGeom>
        </p:spPr>
        <p:txBody>
          <a:bodyPr lIns="130046" tIns="65023" rIns="130046" bIns="65023"/>
          <a:lstStyle/>
          <a:p>
            <a:fld id="{93840F7D-8ACA-1546-86D4-92E9504ACDB4}" type="slidenum">
              <a:rPr>
                <a:solidFill>
                  <a:prstClr val="black">
                    <a:tint val="75000"/>
                  </a:prstClr>
                </a:solidFill>
                <a:latin typeface="Calibri"/>
              </a:rPr>
              <a:pPr/>
              <a:t>11</a:t>
            </a:fld>
            <a:endParaRPr lang="en-US">
              <a:solidFill>
                <a:prstClr val="black">
                  <a:tint val="75000"/>
                </a:prstClr>
              </a:solidFill>
              <a:latin typeface="Calibri"/>
            </a:endParaRPr>
          </a:p>
        </p:txBody>
      </p:sp>
      <p:graphicFrame>
        <p:nvGraphicFramePr>
          <p:cNvPr id="11" name="Chart 10"/>
          <p:cNvGraphicFramePr>
            <a:graphicFrameLocks/>
          </p:cNvGraphicFramePr>
          <p:nvPr>
            <p:extLst>
              <p:ext uri="{D42A27DB-BD31-4B8C-83A1-F6EECF244321}">
                <p14:modId xmlns:p14="http://schemas.microsoft.com/office/powerpoint/2010/main" val="2063470430"/>
              </p:ext>
            </p:extLst>
          </p:nvPr>
        </p:nvGraphicFramePr>
        <p:xfrm>
          <a:off x="2181920" y="4084712"/>
          <a:ext cx="9320199" cy="588728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52016525"/>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4294967295"/>
          </p:nvPr>
        </p:nvSpPr>
        <p:spPr>
          <a:xfrm>
            <a:off x="4443307" y="9040143"/>
            <a:ext cx="4118187" cy="519289"/>
          </a:xfrm>
          <a:prstGeom prst="rect">
            <a:avLst/>
          </a:prstGeom>
        </p:spPr>
        <p:txBody>
          <a:bodyPr lIns="130046" tIns="65023" rIns="130046" bIns="65023"/>
          <a:lstStyle/>
          <a:p>
            <a:endParaRPr lang="en-US" dirty="0" smtClean="0">
              <a:solidFill>
                <a:prstClr val="black">
                  <a:tint val="75000"/>
                </a:prstClr>
              </a:solidFill>
              <a:latin typeface="Calibri"/>
            </a:endParaRPr>
          </a:p>
          <a:p>
            <a:endParaRPr lang="en-US" dirty="0">
              <a:solidFill>
                <a:prstClr val="black">
                  <a:tint val="75000"/>
                </a:prstClr>
              </a:solidFill>
              <a:latin typeface="Calibri"/>
            </a:endParaRPr>
          </a:p>
        </p:txBody>
      </p:sp>
      <p:sp>
        <p:nvSpPr>
          <p:cNvPr id="6" name="Slide Number Placeholder 5"/>
          <p:cNvSpPr>
            <a:spLocks noGrp="1"/>
          </p:cNvSpPr>
          <p:nvPr>
            <p:ph type="sldNum" sz="quarter" idx="4294967295"/>
          </p:nvPr>
        </p:nvSpPr>
        <p:spPr>
          <a:xfrm>
            <a:off x="10124606" y="9040143"/>
            <a:ext cx="1016944" cy="519289"/>
          </a:xfrm>
          <a:prstGeom prst="rect">
            <a:avLst/>
          </a:prstGeom>
        </p:spPr>
        <p:txBody>
          <a:bodyPr lIns="130046" tIns="65023" rIns="130046" bIns="65023"/>
          <a:lstStyle/>
          <a:p>
            <a:fld id="{C99E78E9-7A00-C248-B1AA-07E7034C9595}" type="slidenum">
              <a:rPr lang="en-US">
                <a:solidFill>
                  <a:prstClr val="black">
                    <a:tint val="75000"/>
                  </a:prstClr>
                </a:solidFill>
                <a:latin typeface="Calibri"/>
              </a:rPr>
              <a:pPr/>
              <a:t>12</a:t>
            </a:fld>
            <a:endParaRPr lang="en-US">
              <a:solidFill>
                <a:prstClr val="black">
                  <a:tint val="75000"/>
                </a:prstClr>
              </a:solidFill>
              <a:latin typeface="Calibri"/>
            </a:endParaRPr>
          </a:p>
        </p:txBody>
      </p:sp>
      <p:graphicFrame>
        <p:nvGraphicFramePr>
          <p:cNvPr id="7" name="Table 6"/>
          <p:cNvGraphicFramePr>
            <a:graphicFrameLocks noGrp="1"/>
          </p:cNvGraphicFramePr>
          <p:nvPr>
            <p:extLst>
              <p:ext uri="{D42A27DB-BD31-4B8C-83A1-F6EECF244321}">
                <p14:modId xmlns:p14="http://schemas.microsoft.com/office/powerpoint/2010/main" val="363079017"/>
              </p:ext>
            </p:extLst>
          </p:nvPr>
        </p:nvGraphicFramePr>
        <p:xfrm>
          <a:off x="1668040" y="598690"/>
          <a:ext cx="9473506" cy="8872201"/>
        </p:xfrm>
        <a:graphic>
          <a:graphicData uri="http://schemas.openxmlformats.org/drawingml/2006/table">
            <a:tbl>
              <a:tblPr/>
              <a:tblGrid>
                <a:gridCol w="1209385"/>
                <a:gridCol w="4064873"/>
                <a:gridCol w="1797276"/>
                <a:gridCol w="1310165"/>
                <a:gridCol w="1091807"/>
              </a:tblGrid>
              <a:tr h="687721">
                <a:tc>
                  <a:txBody>
                    <a:bodyPr/>
                    <a:lstStyle/>
                    <a:p>
                      <a:pPr algn="l" fontAlgn="b"/>
                      <a:endParaRPr lang="en-US" sz="1600" b="0" i="0" u="none" strike="noStrike">
                        <a:solidFill>
                          <a:srgbClr val="000000"/>
                        </a:solidFill>
                        <a:effectLst/>
                        <a:latin typeface="Calibri"/>
                      </a:endParaRPr>
                    </a:p>
                  </a:txBody>
                  <a:tcPr marL="11925" marR="11925" marT="11925" marB="0" anchor="b">
                    <a:lnL>
                      <a:noFill/>
                    </a:lnL>
                    <a:lnR>
                      <a:noFill/>
                    </a:lnR>
                    <a:lnT>
                      <a:noFill/>
                    </a:lnT>
                    <a:lnB>
                      <a:noFill/>
                    </a:lnB>
                  </a:tcPr>
                </a:tc>
                <a:tc gridSpan="4">
                  <a:txBody>
                    <a:bodyPr/>
                    <a:lstStyle/>
                    <a:p>
                      <a:pPr algn="l" fontAlgn="t"/>
                      <a:r>
                        <a:rPr lang="en-US" sz="2800" b="0" i="0" u="none" strike="noStrike">
                          <a:solidFill>
                            <a:srgbClr val="000000"/>
                          </a:solidFill>
                          <a:effectLst/>
                          <a:latin typeface="Calibri"/>
                        </a:rPr>
                        <a:t>Proposed review schedule for ADU Work Units</a:t>
                      </a:r>
                    </a:p>
                  </a:txBody>
                  <a:tcPr marL="11925" marR="11925" marT="11925" marB="0">
                    <a:lnL>
                      <a:noFill/>
                    </a:lnL>
                    <a:lnR>
                      <a:noFill/>
                    </a:lnR>
                    <a:lnT>
                      <a:noFill/>
                    </a:lnT>
                    <a:lnB>
                      <a:noFill/>
                    </a:lnB>
                  </a:tcPr>
                </a:tc>
                <a:tc hMerge="1">
                  <a:txBody>
                    <a:bodyPr/>
                    <a:lstStyle/>
                    <a:p>
                      <a:endParaRPr lang="en-US"/>
                    </a:p>
                  </a:txBody>
                  <a:tcPr/>
                </a:tc>
                <a:tc hMerge="1">
                  <a:txBody>
                    <a:bodyPr/>
                    <a:lstStyle/>
                    <a:p>
                      <a:pPr algn="l" fontAlgn="b"/>
                      <a:endParaRPr lang="en-US" sz="1100" b="0" i="0" u="none" strike="noStrike">
                        <a:solidFill>
                          <a:srgbClr val="000000"/>
                        </a:solidFill>
                        <a:effectLst/>
                        <a:latin typeface="Calibri"/>
                      </a:endParaRPr>
                    </a:p>
                  </a:txBody>
                  <a:tcPr marL="8385" marR="8385" marT="8385" marB="0" anchor="b">
                    <a:lnL>
                      <a:noFill/>
                    </a:lnL>
                    <a:lnR>
                      <a:noFill/>
                    </a:lnR>
                    <a:lnT>
                      <a:noFill/>
                    </a:lnT>
                    <a:lnB>
                      <a:noFill/>
                    </a:lnB>
                  </a:tcPr>
                </a:tc>
                <a:tc hMerge="1">
                  <a:txBody>
                    <a:bodyPr/>
                    <a:lstStyle/>
                    <a:p>
                      <a:pPr algn="l" fontAlgn="b"/>
                      <a:endParaRPr lang="en-US" sz="1100" b="0" i="0" u="none" strike="noStrike">
                        <a:solidFill>
                          <a:srgbClr val="000000"/>
                        </a:solidFill>
                        <a:effectLst/>
                        <a:latin typeface="Calibri"/>
                      </a:endParaRPr>
                    </a:p>
                  </a:txBody>
                  <a:tcPr marL="8385" marR="8385" marT="8385" marB="0" anchor="b">
                    <a:lnL>
                      <a:noFill/>
                    </a:lnL>
                    <a:lnR>
                      <a:noFill/>
                    </a:lnR>
                    <a:lnT>
                      <a:noFill/>
                    </a:lnT>
                    <a:lnB>
                      <a:noFill/>
                    </a:lnB>
                  </a:tcPr>
                </a:tc>
              </a:tr>
              <a:tr h="250347">
                <a:tc>
                  <a:txBody>
                    <a:bodyPr/>
                    <a:lstStyle/>
                    <a:p>
                      <a:pPr algn="l" fontAlgn="b"/>
                      <a:r>
                        <a:rPr lang="en-US" sz="1600" b="1" i="0" u="none" strike="noStrike">
                          <a:solidFill>
                            <a:srgbClr val="FFFFFF"/>
                          </a:solidFill>
                          <a:effectLst/>
                          <a:latin typeface="Calibri"/>
                        </a:rPr>
                        <a:t>WBS</a:t>
                      </a:r>
                    </a:p>
                  </a:txBody>
                  <a:tcPr marL="11925" marR="11925" marT="11925" marB="0" anchor="b">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F81BD"/>
                    </a:solidFill>
                  </a:tcPr>
                </a:tc>
                <a:tc>
                  <a:txBody>
                    <a:bodyPr/>
                    <a:lstStyle/>
                    <a:p>
                      <a:pPr algn="l" fontAlgn="b"/>
                      <a:r>
                        <a:rPr lang="en-US" sz="1600" b="1" i="0" u="none" strike="noStrike">
                          <a:solidFill>
                            <a:srgbClr val="FFFFFF"/>
                          </a:solidFill>
                          <a:effectLst/>
                          <a:latin typeface="Calibri"/>
                        </a:rPr>
                        <a:t>Name</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F81BD"/>
                    </a:solidFill>
                  </a:tcPr>
                </a:tc>
                <a:tc>
                  <a:txBody>
                    <a:bodyPr/>
                    <a:lstStyle/>
                    <a:p>
                      <a:pPr algn="l" fontAlgn="b"/>
                      <a:r>
                        <a:rPr lang="en-US" sz="1600" b="1" i="0" u="none" strike="noStrike">
                          <a:solidFill>
                            <a:srgbClr val="FFFFFF"/>
                          </a:solidFill>
                          <a:effectLst/>
                          <a:latin typeface="Calibri"/>
                        </a:rPr>
                        <a:t>Review Schedule</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F81BD"/>
                    </a:solidFill>
                  </a:tcPr>
                </a:tc>
                <a:tc>
                  <a:txBody>
                    <a:bodyPr/>
                    <a:lstStyle/>
                    <a:p>
                      <a:pPr algn="l" fontAlgn="b"/>
                      <a:r>
                        <a:rPr lang="en-US" sz="1600" b="1" i="0" u="none" strike="noStrike">
                          <a:solidFill>
                            <a:srgbClr val="FFFFFF"/>
                          </a:solidFill>
                          <a:effectLst/>
                          <a:latin typeface="Calibri"/>
                        </a:rPr>
                        <a:t>Column1</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F81BD"/>
                    </a:solidFill>
                  </a:tcPr>
                </a:tc>
                <a:tc>
                  <a:txBody>
                    <a:bodyPr/>
                    <a:lstStyle/>
                    <a:p>
                      <a:pPr algn="l" fontAlgn="b"/>
                      <a:r>
                        <a:rPr lang="en-US" sz="1600" b="1" i="0" u="none" strike="noStrike">
                          <a:solidFill>
                            <a:srgbClr val="FFFFFF"/>
                          </a:solidFill>
                          <a:effectLst/>
                          <a:latin typeface="Calibri"/>
                        </a:rPr>
                        <a:t>Column2</a:t>
                      </a:r>
                    </a:p>
                  </a:txBody>
                  <a:tcPr marL="11925" marR="11925" marT="11925" marB="0" anchor="b">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4F81BD"/>
                    </a:solidFill>
                  </a:tcPr>
                </a:tc>
              </a:tr>
              <a:tr h="250347">
                <a:tc>
                  <a:txBody>
                    <a:bodyPr/>
                    <a:lstStyle/>
                    <a:p>
                      <a:pPr algn="l" fontAlgn="b"/>
                      <a:r>
                        <a:rPr lang="en-US" sz="1600" b="0" i="0" u="none" strike="noStrike">
                          <a:solidFill>
                            <a:srgbClr val="000000"/>
                          </a:solidFill>
                          <a:effectLst/>
                          <a:latin typeface="Calibri"/>
                        </a:rPr>
                        <a:t>ADU_1.4.2</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Cavities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8E4BC"/>
                    </a:solidFill>
                  </a:tcPr>
                </a:tc>
                <a:tc>
                  <a:txBody>
                    <a:bodyPr/>
                    <a:lstStyle/>
                    <a:p>
                      <a:pPr algn="r" fontAlgn="b"/>
                      <a:r>
                        <a:rPr lang="en-US" sz="1600" b="0" i="0" u="none" strike="noStrike">
                          <a:solidFill>
                            <a:srgbClr val="000000"/>
                          </a:solidFill>
                          <a:effectLst/>
                          <a:latin typeface="Calibri"/>
                        </a:rPr>
                        <a:t>2012-04-30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8E4BC"/>
                    </a:solidFill>
                  </a:tcPr>
                </a:tc>
                <a:tc>
                  <a:txBody>
                    <a:bodyPr/>
                    <a:lstStyle/>
                    <a:p>
                      <a:pPr algn="l" fontAlgn="b"/>
                      <a:r>
                        <a:rPr lang="en-US" sz="1600" b="0" i="0" u="none" strike="noStrike">
                          <a:solidFill>
                            <a:srgbClr val="000000"/>
                          </a:solidFill>
                          <a:effectLst/>
                          <a:latin typeface="Calibri"/>
                        </a:rPr>
                        <a:t>S. Bousson</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D. McGinnis</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r>
              <a:tr h="250347">
                <a:tc>
                  <a:txBody>
                    <a:bodyPr/>
                    <a:lstStyle/>
                    <a:p>
                      <a:pPr algn="l" fontAlgn="b"/>
                      <a:r>
                        <a:rPr lang="en-US" sz="1600" b="0" i="0" u="none" strike="noStrike">
                          <a:solidFill>
                            <a:srgbClr val="000000"/>
                          </a:solidFill>
                          <a:effectLst/>
                          <a:latin typeface="Calibri"/>
                        </a:rPr>
                        <a:t>ADU_1.4.3</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Cold tuning system</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8E4BC"/>
                    </a:solidFill>
                  </a:tcPr>
                </a:tc>
                <a:tc>
                  <a:txBody>
                    <a:bodyPr/>
                    <a:lstStyle/>
                    <a:p>
                      <a:pPr algn="r" fontAlgn="b"/>
                      <a:r>
                        <a:rPr lang="en-US" sz="1600" b="0" i="0" u="none" strike="noStrike">
                          <a:solidFill>
                            <a:srgbClr val="000000"/>
                          </a:solidFill>
                          <a:effectLst/>
                          <a:latin typeface="Calibri"/>
                        </a:rPr>
                        <a:t>2012-04-30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8E4BC"/>
                    </a:solidFill>
                  </a:tcPr>
                </a:tc>
                <a:tc>
                  <a:txBody>
                    <a:bodyPr/>
                    <a:lstStyle/>
                    <a:p>
                      <a:pPr algn="l" fontAlgn="b"/>
                      <a:r>
                        <a:rPr lang="en-US" sz="1600" b="0" i="0" u="none" strike="noStrike">
                          <a:solidFill>
                            <a:srgbClr val="000000"/>
                          </a:solidFill>
                          <a:effectLst/>
                          <a:latin typeface="Calibri"/>
                        </a:rPr>
                        <a:t>S. Bousson</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D. McGinnis</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r>
              <a:tr h="250347">
                <a:tc>
                  <a:txBody>
                    <a:bodyPr/>
                    <a:lstStyle/>
                    <a:p>
                      <a:pPr algn="l" fontAlgn="b"/>
                      <a:r>
                        <a:rPr lang="en-US" sz="1600" b="0" i="0" u="none" strike="noStrike">
                          <a:solidFill>
                            <a:srgbClr val="000000"/>
                          </a:solidFill>
                          <a:effectLst/>
                          <a:latin typeface="Calibri"/>
                        </a:rPr>
                        <a:t>ADU_1.4.4</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Power coupler </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8E4BC"/>
                    </a:solidFill>
                  </a:tcPr>
                </a:tc>
                <a:tc>
                  <a:txBody>
                    <a:bodyPr/>
                    <a:lstStyle/>
                    <a:p>
                      <a:pPr algn="r" fontAlgn="b"/>
                      <a:r>
                        <a:rPr lang="en-US" sz="1600" b="0" i="0" u="none" strike="noStrike">
                          <a:solidFill>
                            <a:srgbClr val="000000"/>
                          </a:solidFill>
                          <a:effectLst/>
                          <a:latin typeface="Calibri"/>
                        </a:rPr>
                        <a:t>2012-04-30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8E4BC"/>
                    </a:solidFill>
                  </a:tcPr>
                </a:tc>
                <a:tc>
                  <a:txBody>
                    <a:bodyPr/>
                    <a:lstStyle/>
                    <a:p>
                      <a:pPr algn="l" fontAlgn="b"/>
                      <a:r>
                        <a:rPr lang="en-US" sz="1600" b="0" i="0" u="none" strike="noStrike">
                          <a:solidFill>
                            <a:srgbClr val="000000"/>
                          </a:solidFill>
                          <a:effectLst/>
                          <a:latin typeface="Calibri"/>
                        </a:rPr>
                        <a:t>S. Bousson</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D. McGinnis</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r>
              <a:tr h="250347">
                <a:tc>
                  <a:txBody>
                    <a:bodyPr/>
                    <a:lstStyle/>
                    <a:p>
                      <a:pPr algn="l" fontAlgn="b"/>
                      <a:r>
                        <a:rPr lang="en-US" sz="1600" b="0" i="0" u="none" strike="noStrike">
                          <a:solidFill>
                            <a:srgbClr val="000000"/>
                          </a:solidFill>
                          <a:effectLst/>
                          <a:latin typeface="Calibri"/>
                        </a:rPr>
                        <a:t>ADU_1.5.4</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High beta cavities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8E4BC"/>
                    </a:solidFill>
                  </a:tcPr>
                </a:tc>
                <a:tc>
                  <a:txBody>
                    <a:bodyPr/>
                    <a:lstStyle/>
                    <a:p>
                      <a:pPr algn="r" fontAlgn="b"/>
                      <a:r>
                        <a:rPr lang="en-US" sz="1600" b="0" i="0" u="none" strike="noStrike">
                          <a:solidFill>
                            <a:srgbClr val="000000"/>
                          </a:solidFill>
                          <a:effectLst/>
                          <a:latin typeface="Calibri"/>
                        </a:rPr>
                        <a:t>2012-04-30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8E4BC"/>
                    </a:solidFill>
                  </a:tcPr>
                </a:tc>
                <a:tc>
                  <a:txBody>
                    <a:bodyPr/>
                    <a:lstStyle/>
                    <a:p>
                      <a:pPr algn="l" fontAlgn="b"/>
                      <a:r>
                        <a:rPr lang="en-US" sz="1600" b="0" i="0" u="none" strike="noStrike">
                          <a:solidFill>
                            <a:srgbClr val="000000"/>
                          </a:solidFill>
                          <a:effectLst/>
                          <a:latin typeface="Calibri"/>
                        </a:rPr>
                        <a:t>S. Bousson</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D. McGinnis</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r>
              <a:tr h="250347">
                <a:tc>
                  <a:txBody>
                    <a:bodyPr/>
                    <a:lstStyle/>
                    <a:p>
                      <a:pPr algn="l" fontAlgn="b"/>
                      <a:r>
                        <a:rPr lang="en-US" sz="1600" b="0" i="0" u="none" strike="noStrike">
                          <a:solidFill>
                            <a:srgbClr val="000000"/>
                          </a:solidFill>
                          <a:effectLst/>
                          <a:latin typeface="Calibri"/>
                        </a:rPr>
                        <a:t>ADU_1.1.1</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System Engineering</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D5B4"/>
                    </a:solidFill>
                  </a:tcPr>
                </a:tc>
                <a:tc>
                  <a:txBody>
                    <a:bodyPr/>
                    <a:lstStyle/>
                    <a:p>
                      <a:pPr algn="r" fontAlgn="b"/>
                      <a:r>
                        <a:rPr lang="en-US" sz="1600" b="0" i="0" u="none" strike="noStrike">
                          <a:solidFill>
                            <a:srgbClr val="000000"/>
                          </a:solidFill>
                          <a:effectLst/>
                          <a:latin typeface="Calibri"/>
                        </a:rPr>
                        <a:t>2012-05-30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D5B4"/>
                    </a:solidFill>
                  </a:tcPr>
                </a:tc>
                <a:tc>
                  <a:txBody>
                    <a:bodyPr/>
                    <a:lstStyle/>
                    <a:p>
                      <a:pPr algn="l" fontAlgn="b"/>
                      <a:r>
                        <a:rPr lang="en-US" sz="1600" b="0" i="0" u="none" strike="noStrike">
                          <a:solidFill>
                            <a:srgbClr val="000000"/>
                          </a:solidFill>
                          <a:effectLst/>
                          <a:latin typeface="Calibri"/>
                        </a:rPr>
                        <a:t>R. Duperrier</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M. Landroos</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r>
              <a:tr h="250347">
                <a:tc>
                  <a:txBody>
                    <a:bodyPr/>
                    <a:lstStyle/>
                    <a:p>
                      <a:pPr algn="l" fontAlgn="b"/>
                      <a:r>
                        <a:rPr lang="en-US" sz="1600" b="0" i="0" u="none" strike="noStrike">
                          <a:solidFill>
                            <a:srgbClr val="000000"/>
                          </a:solidFill>
                          <a:effectLst/>
                          <a:latin typeface="Calibri"/>
                        </a:rPr>
                        <a:t>ADU_1.1.2</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TDR editing   </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D5B4"/>
                    </a:solidFill>
                  </a:tcPr>
                </a:tc>
                <a:tc>
                  <a:txBody>
                    <a:bodyPr/>
                    <a:lstStyle/>
                    <a:p>
                      <a:pPr algn="r" fontAlgn="b"/>
                      <a:r>
                        <a:rPr lang="en-US" sz="1600" b="0" i="0" u="none" strike="noStrike">
                          <a:solidFill>
                            <a:srgbClr val="000000"/>
                          </a:solidFill>
                          <a:effectLst/>
                          <a:latin typeface="Calibri"/>
                        </a:rPr>
                        <a:t>2012-05-30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D5B4"/>
                    </a:solidFill>
                  </a:tcPr>
                </a:tc>
                <a:tc>
                  <a:txBody>
                    <a:bodyPr/>
                    <a:lstStyle/>
                    <a:p>
                      <a:pPr algn="l" fontAlgn="b"/>
                      <a:r>
                        <a:rPr lang="en-US" sz="1600" b="0" i="0" u="none" strike="noStrike">
                          <a:solidFill>
                            <a:srgbClr val="000000"/>
                          </a:solidFill>
                          <a:effectLst/>
                          <a:latin typeface="Calibri"/>
                        </a:rPr>
                        <a:t>R. Duperrier</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M. Landroos</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r>
              <a:tr h="250347">
                <a:tc>
                  <a:txBody>
                    <a:bodyPr/>
                    <a:lstStyle/>
                    <a:p>
                      <a:pPr algn="l" fontAlgn="b"/>
                      <a:r>
                        <a:rPr lang="en-US" sz="1600" b="0" i="0" u="none" strike="noStrike">
                          <a:solidFill>
                            <a:srgbClr val="000000"/>
                          </a:solidFill>
                          <a:effectLst/>
                          <a:latin typeface="Calibri"/>
                        </a:rPr>
                        <a:t>ADU_1.1.3</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Review organisation</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D5B4"/>
                    </a:solidFill>
                  </a:tcPr>
                </a:tc>
                <a:tc>
                  <a:txBody>
                    <a:bodyPr/>
                    <a:lstStyle/>
                    <a:p>
                      <a:pPr algn="r" fontAlgn="b"/>
                      <a:r>
                        <a:rPr lang="en-US" sz="1600" b="0" i="0" u="none" strike="noStrike">
                          <a:solidFill>
                            <a:srgbClr val="000000"/>
                          </a:solidFill>
                          <a:effectLst/>
                          <a:latin typeface="Calibri"/>
                        </a:rPr>
                        <a:t>2012-05-30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D5B4"/>
                    </a:solidFill>
                  </a:tcPr>
                </a:tc>
                <a:tc>
                  <a:txBody>
                    <a:bodyPr/>
                    <a:lstStyle/>
                    <a:p>
                      <a:pPr algn="l" fontAlgn="b"/>
                      <a:r>
                        <a:rPr lang="en-US" sz="1600" b="0" i="0" u="none" strike="noStrike">
                          <a:solidFill>
                            <a:srgbClr val="000000"/>
                          </a:solidFill>
                          <a:effectLst/>
                          <a:latin typeface="Calibri"/>
                        </a:rPr>
                        <a:t>R. Duperrier</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M. Landroos</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r>
              <a:tr h="250347">
                <a:tc>
                  <a:txBody>
                    <a:bodyPr/>
                    <a:lstStyle/>
                    <a:p>
                      <a:pPr algn="l" fontAlgn="b"/>
                      <a:r>
                        <a:rPr lang="en-US" sz="1600" b="0" i="0" u="none" strike="noStrike">
                          <a:solidFill>
                            <a:srgbClr val="000000"/>
                          </a:solidFill>
                          <a:effectLst/>
                          <a:latin typeface="Calibri"/>
                        </a:rPr>
                        <a:t>ADU_1.1.4</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Planning and documentation</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D5B4"/>
                    </a:solidFill>
                  </a:tcPr>
                </a:tc>
                <a:tc>
                  <a:txBody>
                    <a:bodyPr/>
                    <a:lstStyle/>
                    <a:p>
                      <a:pPr algn="r" fontAlgn="b"/>
                      <a:r>
                        <a:rPr lang="en-US" sz="1600" b="0" i="0" u="none" strike="noStrike">
                          <a:solidFill>
                            <a:srgbClr val="000000"/>
                          </a:solidFill>
                          <a:effectLst/>
                          <a:latin typeface="Calibri"/>
                        </a:rPr>
                        <a:t>2012-05-30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CD5B4"/>
                    </a:solidFill>
                  </a:tcPr>
                </a:tc>
                <a:tc>
                  <a:txBody>
                    <a:bodyPr/>
                    <a:lstStyle/>
                    <a:p>
                      <a:pPr algn="l" fontAlgn="b"/>
                      <a:r>
                        <a:rPr lang="en-US" sz="1600" b="0" i="0" u="none" strike="noStrike">
                          <a:solidFill>
                            <a:srgbClr val="000000"/>
                          </a:solidFill>
                          <a:effectLst/>
                          <a:latin typeface="Calibri"/>
                        </a:rPr>
                        <a:t>R. Duperrier</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M. Landroos</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r>
              <a:tr h="250347">
                <a:tc>
                  <a:txBody>
                    <a:bodyPr/>
                    <a:lstStyle/>
                    <a:p>
                      <a:pPr algn="l" fontAlgn="b"/>
                      <a:r>
                        <a:rPr lang="en-US" sz="1600" b="0" i="0" u="none" strike="noStrike">
                          <a:solidFill>
                            <a:srgbClr val="000000"/>
                          </a:solidFill>
                          <a:effectLst/>
                          <a:latin typeface="Calibri"/>
                        </a:rPr>
                        <a:t>ADU_1.2.3</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c>
                  <a:txBody>
                    <a:bodyPr/>
                    <a:lstStyle/>
                    <a:p>
                      <a:pPr algn="l" fontAlgn="b"/>
                      <a:r>
                        <a:rPr lang="en-US" sz="1600" b="0" i="0" u="none" strike="noStrike">
                          <a:solidFill>
                            <a:srgbClr val="000000"/>
                          </a:solidFill>
                          <a:effectLst/>
                          <a:latin typeface="Calibri"/>
                        </a:rPr>
                        <a:t>Control systems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c>
                  <a:txBody>
                    <a:bodyPr/>
                    <a:lstStyle/>
                    <a:p>
                      <a:pPr algn="r" fontAlgn="b"/>
                      <a:r>
                        <a:rPr lang="en-US" sz="1600" b="0" i="0" u="none" strike="noStrike">
                          <a:solidFill>
                            <a:srgbClr val="000000"/>
                          </a:solidFill>
                          <a:effectLst/>
                          <a:latin typeface="Calibri"/>
                        </a:rPr>
                        <a:t>2012-06-30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c>
                  <a:txBody>
                    <a:bodyPr/>
                    <a:lstStyle/>
                    <a:p>
                      <a:pPr algn="l" fontAlgn="b"/>
                      <a:r>
                        <a:rPr lang="en-US" sz="1600" b="0" i="0" u="none" strike="noStrike">
                          <a:solidFill>
                            <a:srgbClr val="000000"/>
                          </a:solidFill>
                          <a:effectLst/>
                          <a:latin typeface="Calibri"/>
                        </a:rPr>
                        <a:t>G.Trahern</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c>
                  <a:txBody>
                    <a:bodyPr/>
                    <a:lstStyle/>
                    <a:p>
                      <a:pPr algn="l" fontAlgn="b"/>
                      <a:r>
                        <a:rPr lang="en-US" sz="1600" b="0" i="0" u="none" strike="noStrike">
                          <a:solidFill>
                            <a:srgbClr val="000000"/>
                          </a:solidFill>
                          <a:effectLst/>
                          <a:latin typeface="Calibri"/>
                        </a:rPr>
                        <a:t>R. Ruber</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r>
              <a:tr h="250347">
                <a:tc>
                  <a:txBody>
                    <a:bodyPr/>
                    <a:lstStyle/>
                    <a:p>
                      <a:pPr algn="l" fontAlgn="b"/>
                      <a:r>
                        <a:rPr lang="en-US" sz="1600" b="0" i="0" u="none" strike="noStrike">
                          <a:solidFill>
                            <a:srgbClr val="000000"/>
                          </a:solidFill>
                          <a:effectLst/>
                          <a:latin typeface="Calibri"/>
                        </a:rPr>
                        <a:t>ADU_1.2.4</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c>
                  <a:txBody>
                    <a:bodyPr/>
                    <a:lstStyle/>
                    <a:p>
                      <a:pPr algn="l" fontAlgn="b"/>
                      <a:r>
                        <a:rPr lang="en-US" sz="1600" b="0" i="0" u="none" strike="noStrike">
                          <a:solidFill>
                            <a:srgbClr val="000000"/>
                          </a:solidFill>
                          <a:effectLst/>
                          <a:latin typeface="Calibri"/>
                        </a:rPr>
                        <a:t>Beam Instrumentation</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c>
                  <a:txBody>
                    <a:bodyPr/>
                    <a:lstStyle/>
                    <a:p>
                      <a:pPr algn="r" fontAlgn="b"/>
                      <a:r>
                        <a:rPr lang="en-US" sz="1600" b="0" i="0" u="none" strike="noStrike">
                          <a:solidFill>
                            <a:srgbClr val="000000"/>
                          </a:solidFill>
                          <a:effectLst/>
                          <a:latin typeface="Calibri"/>
                        </a:rPr>
                        <a:t>2012-06-30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c>
                  <a:txBody>
                    <a:bodyPr/>
                    <a:lstStyle/>
                    <a:p>
                      <a:pPr algn="l" fontAlgn="b"/>
                      <a:r>
                        <a:rPr lang="en-US" sz="1600" b="0" i="0" u="none" strike="noStrike">
                          <a:solidFill>
                            <a:srgbClr val="000000"/>
                          </a:solidFill>
                          <a:effectLst/>
                          <a:latin typeface="Calibri"/>
                        </a:rPr>
                        <a:t>A.Jansson</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c>
                  <a:txBody>
                    <a:bodyPr/>
                    <a:lstStyle/>
                    <a:p>
                      <a:pPr algn="l" fontAlgn="b"/>
                      <a:r>
                        <a:rPr lang="en-US" sz="1600" b="0" i="0" u="none" strike="noStrike">
                          <a:solidFill>
                            <a:srgbClr val="000000"/>
                          </a:solidFill>
                          <a:effectLst/>
                          <a:latin typeface="Calibri"/>
                        </a:rPr>
                        <a:t>R. Ruber</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r>
              <a:tr h="250347">
                <a:tc>
                  <a:txBody>
                    <a:bodyPr/>
                    <a:lstStyle/>
                    <a:p>
                      <a:pPr algn="l" fontAlgn="b"/>
                      <a:r>
                        <a:rPr lang="en-US" sz="1600" b="0" i="0" u="none" strike="noStrike">
                          <a:solidFill>
                            <a:srgbClr val="000000"/>
                          </a:solidFill>
                          <a:effectLst/>
                          <a:latin typeface="Calibri"/>
                        </a:rPr>
                        <a:t>ADU_1.6.2</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Proton source and Low Energy Beam Transport  </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FCC9"/>
                    </a:solidFill>
                  </a:tcPr>
                </a:tc>
                <a:tc>
                  <a:txBody>
                    <a:bodyPr/>
                    <a:lstStyle/>
                    <a:p>
                      <a:pPr algn="r" fontAlgn="b"/>
                      <a:r>
                        <a:rPr lang="en-US" sz="1600" b="0" i="0" u="none" strike="noStrike">
                          <a:solidFill>
                            <a:srgbClr val="000000"/>
                          </a:solidFill>
                          <a:effectLst/>
                          <a:latin typeface="Calibri"/>
                        </a:rPr>
                        <a:t>2012-06-30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FCC9"/>
                    </a:solidFill>
                  </a:tcPr>
                </a:tc>
                <a:tc>
                  <a:txBody>
                    <a:bodyPr/>
                    <a:lstStyle/>
                    <a:p>
                      <a:pPr algn="l" fontAlgn="b"/>
                      <a:r>
                        <a:rPr lang="en-US" sz="1600" b="0" i="0" u="none" strike="noStrike">
                          <a:solidFill>
                            <a:srgbClr val="000000"/>
                          </a:solidFill>
                          <a:effectLst/>
                          <a:latin typeface="Calibri"/>
                        </a:rPr>
                        <a:t>S.Gammino</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H.Danared</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r>
              <a:tr h="250347">
                <a:tc>
                  <a:txBody>
                    <a:bodyPr/>
                    <a:lstStyle/>
                    <a:p>
                      <a:pPr algn="l" fontAlgn="b"/>
                      <a:r>
                        <a:rPr lang="en-US" sz="1600" b="0" i="0" u="none" strike="noStrike">
                          <a:solidFill>
                            <a:srgbClr val="000000"/>
                          </a:solidFill>
                          <a:effectLst/>
                          <a:latin typeface="Calibri"/>
                        </a:rPr>
                        <a:t>ADU_1.6.3</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Radio Frequency Quadrupole  </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FCC9"/>
                    </a:solidFill>
                  </a:tcPr>
                </a:tc>
                <a:tc>
                  <a:txBody>
                    <a:bodyPr/>
                    <a:lstStyle/>
                    <a:p>
                      <a:pPr algn="r" fontAlgn="b"/>
                      <a:r>
                        <a:rPr lang="en-US" sz="1600" b="0" i="0" u="none" strike="noStrike">
                          <a:solidFill>
                            <a:srgbClr val="000000"/>
                          </a:solidFill>
                          <a:effectLst/>
                          <a:latin typeface="Calibri"/>
                        </a:rPr>
                        <a:t>2012-06-30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FCC9"/>
                    </a:solidFill>
                  </a:tcPr>
                </a:tc>
                <a:tc>
                  <a:txBody>
                    <a:bodyPr/>
                    <a:lstStyle/>
                    <a:p>
                      <a:pPr algn="l" fontAlgn="b"/>
                      <a:r>
                        <a:rPr lang="en-US" sz="1600" b="0" i="0" u="none" strike="noStrike">
                          <a:solidFill>
                            <a:srgbClr val="000000"/>
                          </a:solidFill>
                          <a:effectLst/>
                          <a:latin typeface="Calibri"/>
                        </a:rPr>
                        <a:t>S.Gammino</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H.Danared</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r>
              <a:tr h="250347">
                <a:tc>
                  <a:txBody>
                    <a:bodyPr/>
                    <a:lstStyle/>
                    <a:p>
                      <a:pPr algn="l" fontAlgn="b"/>
                      <a:r>
                        <a:rPr lang="en-US" sz="1600" b="0" i="0" u="none" strike="noStrike">
                          <a:solidFill>
                            <a:srgbClr val="000000"/>
                          </a:solidFill>
                          <a:effectLst/>
                          <a:latin typeface="Calibri"/>
                        </a:rPr>
                        <a:t>ADU_1.6.4</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Medium Energy Beam Transport  </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FCC9"/>
                    </a:solidFill>
                  </a:tcPr>
                </a:tc>
                <a:tc>
                  <a:txBody>
                    <a:bodyPr/>
                    <a:lstStyle/>
                    <a:p>
                      <a:pPr algn="r" fontAlgn="b"/>
                      <a:r>
                        <a:rPr lang="en-US" sz="1600" b="0" i="0" u="none" strike="noStrike">
                          <a:solidFill>
                            <a:srgbClr val="000000"/>
                          </a:solidFill>
                          <a:effectLst/>
                          <a:latin typeface="Calibri"/>
                        </a:rPr>
                        <a:t>2012-06-30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FCC9"/>
                    </a:solidFill>
                  </a:tcPr>
                </a:tc>
                <a:tc>
                  <a:txBody>
                    <a:bodyPr/>
                    <a:lstStyle/>
                    <a:p>
                      <a:pPr algn="l" fontAlgn="b"/>
                      <a:r>
                        <a:rPr lang="en-US" sz="1600" b="0" i="0" u="none" strike="noStrike">
                          <a:solidFill>
                            <a:srgbClr val="000000"/>
                          </a:solidFill>
                          <a:effectLst/>
                          <a:latin typeface="Calibri"/>
                        </a:rPr>
                        <a:t>S.Gammino</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H.Danared</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r>
              <a:tr h="250347">
                <a:tc>
                  <a:txBody>
                    <a:bodyPr/>
                    <a:lstStyle/>
                    <a:p>
                      <a:pPr algn="l" fontAlgn="b"/>
                      <a:r>
                        <a:rPr lang="en-US" sz="1600" b="0" i="0" u="none" strike="noStrike">
                          <a:solidFill>
                            <a:srgbClr val="000000"/>
                          </a:solidFill>
                          <a:effectLst/>
                          <a:latin typeface="Calibri"/>
                        </a:rPr>
                        <a:t>ADU_1.6.7</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Prototypes and tests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FCC9"/>
                    </a:solidFill>
                  </a:tcPr>
                </a:tc>
                <a:tc>
                  <a:txBody>
                    <a:bodyPr/>
                    <a:lstStyle/>
                    <a:p>
                      <a:pPr algn="r" fontAlgn="b"/>
                      <a:r>
                        <a:rPr lang="en-US" sz="1600" b="0" i="0" u="none" strike="noStrike">
                          <a:solidFill>
                            <a:srgbClr val="000000"/>
                          </a:solidFill>
                          <a:effectLst/>
                          <a:latin typeface="Calibri"/>
                        </a:rPr>
                        <a:t>2012-06-30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8FCC9"/>
                    </a:solidFill>
                  </a:tcPr>
                </a:tc>
                <a:tc>
                  <a:txBody>
                    <a:bodyPr/>
                    <a:lstStyle/>
                    <a:p>
                      <a:pPr algn="l" fontAlgn="b"/>
                      <a:r>
                        <a:rPr lang="en-US" sz="1600" b="0" i="0" u="none" strike="noStrike">
                          <a:solidFill>
                            <a:srgbClr val="000000"/>
                          </a:solidFill>
                          <a:effectLst/>
                          <a:latin typeface="Calibri"/>
                        </a:rPr>
                        <a:t>S.Gammino</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H.Danared</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r>
              <a:tr h="250347">
                <a:tc>
                  <a:txBody>
                    <a:bodyPr/>
                    <a:lstStyle/>
                    <a:p>
                      <a:pPr algn="l" fontAlgn="b"/>
                      <a:r>
                        <a:rPr lang="en-US" sz="1600" b="0" i="0" u="none" strike="noStrike">
                          <a:solidFill>
                            <a:srgbClr val="000000"/>
                          </a:solidFill>
                          <a:effectLst/>
                          <a:latin typeface="Calibri"/>
                        </a:rPr>
                        <a:t>ADU_1.2.2</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c>
                  <a:txBody>
                    <a:bodyPr/>
                    <a:lstStyle/>
                    <a:p>
                      <a:pPr algn="l" fontAlgn="b"/>
                      <a:r>
                        <a:rPr lang="en-US" sz="1600" b="0" i="0" u="none" strike="noStrike">
                          <a:solidFill>
                            <a:srgbClr val="000000"/>
                          </a:solidFill>
                          <a:effectLst/>
                          <a:latin typeface="Calibri"/>
                        </a:rPr>
                        <a:t>Beam physics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c>
                  <a:txBody>
                    <a:bodyPr/>
                    <a:lstStyle/>
                    <a:p>
                      <a:pPr algn="r" fontAlgn="b"/>
                      <a:r>
                        <a:rPr lang="en-US" sz="1600" b="0" i="0" u="none" strike="noStrike">
                          <a:solidFill>
                            <a:srgbClr val="000000"/>
                          </a:solidFill>
                          <a:effectLst/>
                          <a:latin typeface="Calibri"/>
                        </a:rPr>
                        <a:t>2012-06-30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c>
                  <a:txBody>
                    <a:bodyPr/>
                    <a:lstStyle/>
                    <a:p>
                      <a:pPr algn="l" fontAlgn="b"/>
                      <a:r>
                        <a:rPr lang="en-US" sz="1600" b="0" i="0" u="none" strike="noStrike">
                          <a:solidFill>
                            <a:srgbClr val="000000"/>
                          </a:solidFill>
                          <a:effectLst/>
                          <a:latin typeface="Calibri"/>
                        </a:rPr>
                        <a:t>H.Danared</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c>
                  <a:txBody>
                    <a:bodyPr/>
                    <a:lstStyle/>
                    <a:p>
                      <a:pPr algn="l" fontAlgn="b"/>
                      <a:r>
                        <a:rPr lang="en-US" sz="1600" b="0" i="0" u="none" strike="noStrike">
                          <a:solidFill>
                            <a:srgbClr val="000000"/>
                          </a:solidFill>
                          <a:effectLst/>
                          <a:latin typeface="Calibri"/>
                        </a:rPr>
                        <a:t>G.Trahern</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D79B"/>
                    </a:solidFill>
                  </a:tcPr>
                </a:tc>
              </a:tr>
              <a:tr h="250347">
                <a:tc>
                  <a:txBody>
                    <a:bodyPr/>
                    <a:lstStyle/>
                    <a:p>
                      <a:pPr algn="l" fontAlgn="b"/>
                      <a:r>
                        <a:rPr lang="en-US" sz="1600" b="0" i="0" u="none" strike="noStrike">
                          <a:solidFill>
                            <a:srgbClr val="000000"/>
                          </a:solidFill>
                          <a:effectLst/>
                          <a:latin typeface="Calibri"/>
                        </a:rPr>
                        <a:t>ADU_1.8.2</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RF modelling</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9694"/>
                    </a:solidFill>
                  </a:tcPr>
                </a:tc>
                <a:tc>
                  <a:txBody>
                    <a:bodyPr/>
                    <a:lstStyle/>
                    <a:p>
                      <a:pPr algn="r" fontAlgn="b"/>
                      <a:r>
                        <a:rPr lang="en-US" sz="1600" b="0" i="1" u="none" strike="noStrike">
                          <a:solidFill>
                            <a:srgbClr val="000000"/>
                          </a:solidFill>
                          <a:effectLst/>
                          <a:latin typeface="Calibri"/>
                        </a:rPr>
                        <a:t>2012-08-30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9694"/>
                    </a:solidFill>
                  </a:tcPr>
                </a:tc>
                <a:tc>
                  <a:txBody>
                    <a:bodyPr/>
                    <a:lstStyle/>
                    <a:p>
                      <a:pPr algn="l" fontAlgn="b"/>
                      <a:r>
                        <a:rPr lang="en-US" sz="1600" b="0" i="0" u="none" strike="noStrike">
                          <a:solidFill>
                            <a:srgbClr val="000000"/>
                          </a:solidFill>
                          <a:effectLst/>
                          <a:latin typeface="Calibri"/>
                        </a:rPr>
                        <a:t>D.McGinnis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R.Ruber</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r>
              <a:tr h="250347">
                <a:tc>
                  <a:txBody>
                    <a:bodyPr/>
                    <a:lstStyle/>
                    <a:p>
                      <a:pPr algn="l" fontAlgn="b"/>
                      <a:r>
                        <a:rPr lang="en-US" sz="1600" b="0" i="0" u="none" strike="noStrike">
                          <a:solidFill>
                            <a:srgbClr val="000000"/>
                          </a:solidFill>
                          <a:effectLst/>
                          <a:latin typeface="Calibri"/>
                        </a:rPr>
                        <a:t>ADU_1.8.3</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Low level RF system</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9694"/>
                    </a:solidFill>
                  </a:tcPr>
                </a:tc>
                <a:tc>
                  <a:txBody>
                    <a:bodyPr/>
                    <a:lstStyle/>
                    <a:p>
                      <a:pPr algn="r" fontAlgn="b"/>
                      <a:r>
                        <a:rPr lang="en-US" sz="1600" b="0" i="1" u="none" strike="noStrike">
                          <a:solidFill>
                            <a:srgbClr val="000000"/>
                          </a:solidFill>
                          <a:effectLst/>
                          <a:latin typeface="Calibri"/>
                        </a:rPr>
                        <a:t>2012-08-30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9694"/>
                    </a:solidFill>
                  </a:tcPr>
                </a:tc>
                <a:tc>
                  <a:txBody>
                    <a:bodyPr/>
                    <a:lstStyle/>
                    <a:p>
                      <a:pPr algn="l" fontAlgn="b"/>
                      <a:r>
                        <a:rPr lang="en-US" sz="1600" b="0" i="0" u="none" strike="noStrike">
                          <a:solidFill>
                            <a:srgbClr val="000000"/>
                          </a:solidFill>
                          <a:effectLst/>
                          <a:latin typeface="Calibri"/>
                        </a:rPr>
                        <a:t>D.McGinnis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R.Ruber</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r>
              <a:tr h="250347">
                <a:tc>
                  <a:txBody>
                    <a:bodyPr/>
                    <a:lstStyle/>
                    <a:p>
                      <a:pPr algn="l" fontAlgn="b"/>
                      <a:r>
                        <a:rPr lang="en-US" sz="1600" b="0" i="0" u="none" strike="noStrike">
                          <a:solidFill>
                            <a:srgbClr val="000000"/>
                          </a:solidFill>
                          <a:effectLst/>
                          <a:latin typeface="Calibri"/>
                        </a:rPr>
                        <a:t>ADU_1.8.4</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RF power generation</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9694"/>
                    </a:solidFill>
                  </a:tcPr>
                </a:tc>
                <a:tc>
                  <a:txBody>
                    <a:bodyPr/>
                    <a:lstStyle/>
                    <a:p>
                      <a:pPr algn="r" fontAlgn="b"/>
                      <a:r>
                        <a:rPr lang="en-US" sz="1600" b="0" i="1" u="none" strike="noStrike">
                          <a:solidFill>
                            <a:srgbClr val="000000"/>
                          </a:solidFill>
                          <a:effectLst/>
                          <a:latin typeface="Calibri"/>
                        </a:rPr>
                        <a:t>2012-08-30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9694"/>
                    </a:solidFill>
                  </a:tcPr>
                </a:tc>
                <a:tc>
                  <a:txBody>
                    <a:bodyPr/>
                    <a:lstStyle/>
                    <a:p>
                      <a:pPr algn="l" fontAlgn="b"/>
                      <a:r>
                        <a:rPr lang="en-US" sz="1600" b="0" i="0" u="none" strike="noStrike">
                          <a:solidFill>
                            <a:srgbClr val="000000"/>
                          </a:solidFill>
                          <a:effectLst/>
                          <a:latin typeface="Calibri"/>
                        </a:rPr>
                        <a:t>D.McGinnis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R.Ruber</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r>
              <a:tr h="250347">
                <a:tc>
                  <a:txBody>
                    <a:bodyPr/>
                    <a:lstStyle/>
                    <a:p>
                      <a:pPr algn="l" fontAlgn="b"/>
                      <a:r>
                        <a:rPr lang="en-US" sz="1600" b="0" i="0" u="none" strike="noStrike">
                          <a:solidFill>
                            <a:srgbClr val="000000"/>
                          </a:solidFill>
                          <a:effectLst/>
                          <a:latin typeface="Calibri"/>
                        </a:rPr>
                        <a:t>ADU_1.8.5</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RF power distribution</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9694"/>
                    </a:solidFill>
                  </a:tcPr>
                </a:tc>
                <a:tc>
                  <a:txBody>
                    <a:bodyPr/>
                    <a:lstStyle/>
                    <a:p>
                      <a:pPr algn="r" fontAlgn="b"/>
                      <a:r>
                        <a:rPr lang="en-US" sz="1600" b="0" i="1" u="none" strike="noStrike">
                          <a:solidFill>
                            <a:srgbClr val="000000"/>
                          </a:solidFill>
                          <a:effectLst/>
                          <a:latin typeface="Calibri"/>
                        </a:rPr>
                        <a:t>2012-08-30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A9694"/>
                    </a:solidFill>
                  </a:tcPr>
                </a:tc>
                <a:tc>
                  <a:txBody>
                    <a:bodyPr/>
                    <a:lstStyle/>
                    <a:p>
                      <a:pPr algn="l" fontAlgn="b"/>
                      <a:r>
                        <a:rPr lang="en-US" sz="1600" b="0" i="0" u="none" strike="noStrike">
                          <a:solidFill>
                            <a:srgbClr val="000000"/>
                          </a:solidFill>
                          <a:effectLst/>
                          <a:latin typeface="Calibri"/>
                        </a:rPr>
                        <a:t>D.McGinnis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R.Ruber</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r>
              <a:tr h="250347">
                <a:tc>
                  <a:txBody>
                    <a:bodyPr/>
                    <a:lstStyle/>
                    <a:p>
                      <a:pPr algn="l" fontAlgn="b"/>
                      <a:r>
                        <a:rPr lang="en-US" sz="1600" b="0" i="0" u="none" strike="noStrike">
                          <a:solidFill>
                            <a:srgbClr val="000000"/>
                          </a:solidFill>
                          <a:effectLst/>
                          <a:latin typeface="Calibri"/>
                        </a:rPr>
                        <a:t>ADU_1.4.5</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Cryomodule </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r" fontAlgn="b"/>
                      <a:r>
                        <a:rPr lang="en-US" sz="1600" b="0" i="0" u="none" strike="noStrike">
                          <a:solidFill>
                            <a:srgbClr val="000000"/>
                          </a:solidFill>
                          <a:effectLst/>
                          <a:latin typeface="Calibri"/>
                        </a:rPr>
                        <a:t>2012-09-30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l" fontAlgn="b"/>
                      <a:r>
                        <a:rPr lang="en-US" sz="1600" b="0" i="0" u="none" strike="noStrike">
                          <a:solidFill>
                            <a:srgbClr val="000000"/>
                          </a:solidFill>
                          <a:effectLst/>
                          <a:latin typeface="Calibri"/>
                        </a:rPr>
                        <a:t>G. Devanz</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W.Hees</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r>
              <a:tr h="250347">
                <a:tc>
                  <a:txBody>
                    <a:bodyPr/>
                    <a:lstStyle/>
                    <a:p>
                      <a:pPr algn="l" fontAlgn="b"/>
                      <a:r>
                        <a:rPr lang="en-US" sz="1600" b="0" i="0" u="none" strike="noStrike">
                          <a:solidFill>
                            <a:srgbClr val="000000"/>
                          </a:solidFill>
                          <a:effectLst/>
                          <a:latin typeface="Calibri"/>
                        </a:rPr>
                        <a:t>ADU_1.4.6</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Superconducting magnets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r" fontAlgn="b"/>
                      <a:r>
                        <a:rPr lang="en-US" sz="1600" b="0" i="0" u="none" strike="noStrike">
                          <a:solidFill>
                            <a:srgbClr val="000000"/>
                          </a:solidFill>
                          <a:effectLst/>
                          <a:latin typeface="Calibri"/>
                        </a:rPr>
                        <a:t>2012-09-30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l" fontAlgn="b"/>
                      <a:r>
                        <a:rPr lang="en-US" sz="1600" b="0" i="0" u="none" strike="noStrike">
                          <a:solidFill>
                            <a:srgbClr val="000000"/>
                          </a:solidFill>
                          <a:effectLst/>
                          <a:latin typeface="Calibri"/>
                        </a:rPr>
                        <a:t>G. Devanz</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W.Hees</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r>
              <a:tr h="250347">
                <a:tc>
                  <a:txBody>
                    <a:bodyPr/>
                    <a:lstStyle/>
                    <a:p>
                      <a:pPr algn="l" fontAlgn="b"/>
                      <a:r>
                        <a:rPr lang="en-US" sz="1600" b="0" i="0" u="none" strike="noStrike">
                          <a:solidFill>
                            <a:srgbClr val="000000"/>
                          </a:solidFill>
                          <a:effectLst/>
                          <a:latin typeface="Calibri"/>
                        </a:rPr>
                        <a:t>ADU_1.5.2</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Medium beta cavities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r" fontAlgn="b"/>
                      <a:r>
                        <a:rPr lang="en-US" sz="1600" b="0" i="0" u="none" strike="noStrike">
                          <a:solidFill>
                            <a:srgbClr val="000000"/>
                          </a:solidFill>
                          <a:effectLst/>
                          <a:latin typeface="Calibri"/>
                        </a:rPr>
                        <a:t>2012-09-30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l" fontAlgn="b"/>
                      <a:r>
                        <a:rPr lang="en-US" sz="1600" b="0" i="0" u="none" strike="noStrike">
                          <a:solidFill>
                            <a:srgbClr val="000000"/>
                          </a:solidFill>
                          <a:effectLst/>
                          <a:latin typeface="Calibri"/>
                        </a:rPr>
                        <a:t>G. Devanz</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W.Hees</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r>
              <a:tr h="250347">
                <a:tc>
                  <a:txBody>
                    <a:bodyPr/>
                    <a:lstStyle/>
                    <a:p>
                      <a:pPr algn="l" fontAlgn="b"/>
                      <a:r>
                        <a:rPr lang="en-US" sz="1600" b="0" i="0" u="none" strike="noStrike">
                          <a:solidFill>
                            <a:srgbClr val="000000"/>
                          </a:solidFill>
                          <a:effectLst/>
                          <a:latin typeface="Calibri"/>
                        </a:rPr>
                        <a:t>ADU_1.5.3</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Cold tuning system </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r" fontAlgn="b"/>
                      <a:r>
                        <a:rPr lang="en-US" sz="1600" b="0" i="0" u="none" strike="noStrike">
                          <a:solidFill>
                            <a:srgbClr val="000000"/>
                          </a:solidFill>
                          <a:effectLst/>
                          <a:latin typeface="Calibri"/>
                        </a:rPr>
                        <a:t>2012-09-30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l" fontAlgn="b"/>
                      <a:r>
                        <a:rPr lang="en-US" sz="1600" b="0" i="0" u="none" strike="noStrike">
                          <a:solidFill>
                            <a:srgbClr val="000000"/>
                          </a:solidFill>
                          <a:effectLst/>
                          <a:latin typeface="Calibri"/>
                        </a:rPr>
                        <a:t>G. Devanz</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W.Hees</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r>
              <a:tr h="250347">
                <a:tc>
                  <a:txBody>
                    <a:bodyPr/>
                    <a:lstStyle/>
                    <a:p>
                      <a:pPr algn="l" fontAlgn="b"/>
                      <a:r>
                        <a:rPr lang="en-US" sz="1600" b="0" i="0" u="none" strike="noStrike">
                          <a:solidFill>
                            <a:srgbClr val="000000"/>
                          </a:solidFill>
                          <a:effectLst/>
                          <a:latin typeface="Calibri"/>
                        </a:rPr>
                        <a:t>ADU_1.5.5</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Power coupler </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r" fontAlgn="b"/>
                      <a:r>
                        <a:rPr lang="en-US" sz="1600" b="0" i="0" u="none" strike="noStrike">
                          <a:solidFill>
                            <a:srgbClr val="000000"/>
                          </a:solidFill>
                          <a:effectLst/>
                          <a:latin typeface="Calibri"/>
                        </a:rPr>
                        <a:t>2012-09-30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l" fontAlgn="b"/>
                      <a:r>
                        <a:rPr lang="en-US" sz="1600" b="0" i="0" u="none" strike="noStrike">
                          <a:solidFill>
                            <a:srgbClr val="000000"/>
                          </a:solidFill>
                          <a:effectLst/>
                          <a:latin typeface="Calibri"/>
                        </a:rPr>
                        <a:t>G. Devanz</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W.Hees</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r>
              <a:tr h="250347">
                <a:tc>
                  <a:txBody>
                    <a:bodyPr/>
                    <a:lstStyle/>
                    <a:p>
                      <a:pPr algn="l" fontAlgn="b"/>
                      <a:r>
                        <a:rPr lang="en-US" sz="1600" b="0" i="0" u="none" strike="noStrike">
                          <a:solidFill>
                            <a:srgbClr val="000000"/>
                          </a:solidFill>
                          <a:effectLst/>
                          <a:latin typeface="Calibri"/>
                        </a:rPr>
                        <a:t>ADU_1.5.7</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High beta Cryomodule </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r" fontAlgn="b"/>
                      <a:r>
                        <a:rPr lang="en-US" sz="1600" b="0" i="0" u="none" strike="noStrike">
                          <a:solidFill>
                            <a:srgbClr val="000000"/>
                          </a:solidFill>
                          <a:effectLst/>
                          <a:latin typeface="Calibri"/>
                        </a:rPr>
                        <a:t>2012-09-30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l" fontAlgn="b"/>
                      <a:r>
                        <a:rPr lang="en-US" sz="1600" b="0" i="0" u="none" strike="noStrike">
                          <a:solidFill>
                            <a:srgbClr val="000000"/>
                          </a:solidFill>
                          <a:effectLst/>
                          <a:latin typeface="Calibri"/>
                        </a:rPr>
                        <a:t>W.Hees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G. Devanz</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r>
              <a:tr h="250347">
                <a:tc>
                  <a:txBody>
                    <a:bodyPr/>
                    <a:lstStyle/>
                    <a:p>
                      <a:pPr algn="l" fontAlgn="b"/>
                      <a:r>
                        <a:rPr lang="en-US" sz="1600" b="0" i="0" u="none" strike="noStrike">
                          <a:solidFill>
                            <a:srgbClr val="000000"/>
                          </a:solidFill>
                          <a:effectLst/>
                          <a:latin typeface="Calibri"/>
                        </a:rPr>
                        <a:t>ADU_1.5.8</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Superconducting Magnets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r" fontAlgn="b"/>
                      <a:r>
                        <a:rPr lang="en-US" sz="1600" b="0" i="0" u="none" strike="noStrike">
                          <a:solidFill>
                            <a:srgbClr val="000000"/>
                          </a:solidFill>
                          <a:effectLst/>
                          <a:latin typeface="Calibri"/>
                        </a:rPr>
                        <a:t>2012-09-30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l" fontAlgn="b"/>
                      <a:r>
                        <a:rPr lang="en-US" sz="1600" b="0" i="0" u="none" strike="noStrike">
                          <a:solidFill>
                            <a:srgbClr val="000000"/>
                          </a:solidFill>
                          <a:effectLst/>
                          <a:latin typeface="Calibri"/>
                        </a:rPr>
                        <a:t>W.Hees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G. Devanz</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r>
              <a:tr h="250347">
                <a:tc>
                  <a:txBody>
                    <a:bodyPr/>
                    <a:lstStyle/>
                    <a:p>
                      <a:pPr algn="l" fontAlgn="b"/>
                      <a:r>
                        <a:rPr lang="en-US" sz="1600" b="0" i="0" u="none" strike="noStrike">
                          <a:solidFill>
                            <a:srgbClr val="000000"/>
                          </a:solidFill>
                          <a:effectLst/>
                          <a:latin typeface="Calibri"/>
                        </a:rPr>
                        <a:t>ADU_1.6.5</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Drift Tube Linac  </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r" fontAlgn="b"/>
                      <a:r>
                        <a:rPr lang="en-US" sz="1600" b="0" i="0" u="none" strike="noStrike">
                          <a:solidFill>
                            <a:srgbClr val="000000"/>
                          </a:solidFill>
                          <a:effectLst/>
                          <a:latin typeface="Calibri"/>
                        </a:rPr>
                        <a:t>2012-09-30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CC0DA"/>
                    </a:solidFill>
                  </a:tcPr>
                </a:tc>
                <a:tc>
                  <a:txBody>
                    <a:bodyPr/>
                    <a:lstStyle/>
                    <a:p>
                      <a:pPr algn="l" fontAlgn="b"/>
                      <a:r>
                        <a:rPr lang="en-US" sz="1600" b="0" i="0" u="none" strike="noStrike">
                          <a:solidFill>
                            <a:srgbClr val="000000"/>
                          </a:solidFill>
                          <a:effectLst/>
                          <a:latin typeface="Calibri"/>
                        </a:rPr>
                        <a:t>S.Gammino</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W.Hees</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r>
              <a:tr h="250347">
                <a:tc>
                  <a:txBody>
                    <a:bodyPr/>
                    <a:lstStyle/>
                    <a:p>
                      <a:pPr algn="l" fontAlgn="b"/>
                      <a:r>
                        <a:rPr lang="en-US" sz="1600" b="0" i="0" u="none" strike="noStrike">
                          <a:solidFill>
                            <a:srgbClr val="000000"/>
                          </a:solidFill>
                          <a:effectLst/>
                          <a:latin typeface="Calibri"/>
                        </a:rPr>
                        <a:t>ADU_1.7.2</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High Energy Beam Transport  </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BD97"/>
                    </a:solidFill>
                  </a:tcPr>
                </a:tc>
                <a:tc>
                  <a:txBody>
                    <a:bodyPr/>
                    <a:lstStyle/>
                    <a:p>
                      <a:pPr algn="r" fontAlgn="b"/>
                      <a:r>
                        <a:rPr lang="en-US" sz="1600" b="0" i="0" u="none" strike="noStrike">
                          <a:solidFill>
                            <a:srgbClr val="000000"/>
                          </a:solidFill>
                          <a:effectLst/>
                          <a:latin typeface="Calibri"/>
                        </a:rPr>
                        <a:t>2012-09-30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BD97"/>
                    </a:solidFill>
                  </a:tcPr>
                </a:tc>
                <a:tc>
                  <a:txBody>
                    <a:bodyPr/>
                    <a:lstStyle/>
                    <a:p>
                      <a:pPr algn="l" fontAlgn="b"/>
                      <a:r>
                        <a:rPr lang="en-US" sz="1600" b="0" i="0" u="none" strike="noStrike">
                          <a:solidFill>
                            <a:srgbClr val="000000"/>
                          </a:solidFill>
                          <a:effectLst/>
                          <a:latin typeface="Calibri"/>
                        </a:rPr>
                        <a:t>S. Pape Møller</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H.Danared</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r>
              <a:tr h="250347">
                <a:tc>
                  <a:txBody>
                    <a:bodyPr/>
                    <a:lstStyle/>
                    <a:p>
                      <a:pPr algn="l" fontAlgn="b"/>
                      <a:r>
                        <a:rPr lang="en-US" sz="1600" b="0" i="0" u="none" strike="noStrike">
                          <a:solidFill>
                            <a:srgbClr val="000000"/>
                          </a:solidFill>
                          <a:effectLst/>
                          <a:latin typeface="Calibri"/>
                        </a:rPr>
                        <a:t>ADU_1.7.3</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Normal conducting magnets  </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BD97"/>
                    </a:solidFill>
                  </a:tcPr>
                </a:tc>
                <a:tc>
                  <a:txBody>
                    <a:bodyPr/>
                    <a:lstStyle/>
                    <a:p>
                      <a:pPr algn="r" fontAlgn="b"/>
                      <a:r>
                        <a:rPr lang="en-US" sz="1600" b="0" i="0" u="none" strike="noStrike">
                          <a:solidFill>
                            <a:srgbClr val="000000"/>
                          </a:solidFill>
                          <a:effectLst/>
                          <a:latin typeface="Calibri"/>
                        </a:rPr>
                        <a:t>2012-09-30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BD97"/>
                    </a:solidFill>
                  </a:tcPr>
                </a:tc>
                <a:tc>
                  <a:txBody>
                    <a:bodyPr/>
                    <a:lstStyle/>
                    <a:p>
                      <a:pPr algn="l" fontAlgn="b"/>
                      <a:r>
                        <a:rPr lang="en-US" sz="1600" b="0" i="0" u="none" strike="noStrike">
                          <a:solidFill>
                            <a:srgbClr val="000000"/>
                          </a:solidFill>
                          <a:effectLst/>
                          <a:latin typeface="Calibri"/>
                        </a:rPr>
                        <a:t>S. Pape Møller</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a:solidFill>
                            <a:srgbClr val="000000"/>
                          </a:solidFill>
                          <a:effectLst/>
                          <a:latin typeface="Calibri"/>
                        </a:rPr>
                        <a:t>H.Danared</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r>
              <a:tr h="250347">
                <a:tc>
                  <a:txBody>
                    <a:bodyPr/>
                    <a:lstStyle/>
                    <a:p>
                      <a:pPr algn="l" fontAlgn="b"/>
                      <a:r>
                        <a:rPr lang="en-US" sz="1600" b="0" i="0" u="none" strike="noStrike">
                          <a:solidFill>
                            <a:srgbClr val="000000"/>
                          </a:solidFill>
                          <a:effectLst/>
                          <a:latin typeface="Calibri"/>
                        </a:rPr>
                        <a:t>ADU_1.7.4</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Power supplies</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BD97"/>
                    </a:solidFill>
                  </a:tcPr>
                </a:tc>
                <a:tc>
                  <a:txBody>
                    <a:bodyPr/>
                    <a:lstStyle/>
                    <a:p>
                      <a:pPr algn="r" fontAlgn="b"/>
                      <a:r>
                        <a:rPr lang="en-US" sz="1600" b="0" i="0" u="none" strike="noStrike">
                          <a:solidFill>
                            <a:srgbClr val="000000"/>
                          </a:solidFill>
                          <a:effectLst/>
                          <a:latin typeface="Calibri"/>
                        </a:rPr>
                        <a:t>2012-09-30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BD97"/>
                    </a:solidFill>
                  </a:tcPr>
                </a:tc>
                <a:tc>
                  <a:txBody>
                    <a:bodyPr/>
                    <a:lstStyle/>
                    <a:p>
                      <a:pPr algn="l" fontAlgn="b"/>
                      <a:r>
                        <a:rPr lang="en-US" sz="1600" b="0" i="0" u="none" strike="noStrike">
                          <a:solidFill>
                            <a:srgbClr val="000000"/>
                          </a:solidFill>
                          <a:effectLst/>
                          <a:latin typeface="Calibri"/>
                        </a:rPr>
                        <a:t>S. Pape Møller</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c>
                  <a:txBody>
                    <a:bodyPr/>
                    <a:lstStyle/>
                    <a:p>
                      <a:pPr algn="l" fontAlgn="b"/>
                      <a:r>
                        <a:rPr lang="en-US" sz="1600" b="0" i="0" u="none" strike="noStrike">
                          <a:solidFill>
                            <a:srgbClr val="000000"/>
                          </a:solidFill>
                          <a:effectLst/>
                          <a:latin typeface="Calibri"/>
                        </a:rPr>
                        <a:t>H.Danared</a:t>
                      </a: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6F1"/>
                    </a:solidFill>
                  </a:tcPr>
                </a:tc>
              </a:tr>
              <a:tr h="250347">
                <a:tc>
                  <a:txBody>
                    <a:bodyPr/>
                    <a:lstStyle/>
                    <a:p>
                      <a:pPr algn="l" fontAlgn="b"/>
                      <a:r>
                        <a:rPr lang="en-US" sz="1600" b="0" i="0" u="none" strike="noStrike">
                          <a:solidFill>
                            <a:srgbClr val="000000"/>
                          </a:solidFill>
                          <a:effectLst/>
                          <a:latin typeface="Calibri"/>
                        </a:rPr>
                        <a:t>ADU_1.7.5</a:t>
                      </a:r>
                    </a:p>
                  </a:txBody>
                  <a:tcPr marL="11925" marR="11925" marT="119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dirty="0">
                          <a:solidFill>
                            <a:srgbClr val="000000"/>
                          </a:solidFill>
                          <a:effectLst/>
                          <a:latin typeface="Calibri"/>
                        </a:rPr>
                        <a:t>Warm magnet/diagnostics prototype</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BD97"/>
                    </a:solidFill>
                  </a:tcPr>
                </a:tc>
                <a:tc>
                  <a:txBody>
                    <a:bodyPr/>
                    <a:lstStyle/>
                    <a:p>
                      <a:pPr algn="r" fontAlgn="b"/>
                      <a:r>
                        <a:rPr lang="en-US" sz="1600" b="0" i="0" u="none" strike="noStrike">
                          <a:solidFill>
                            <a:srgbClr val="000000"/>
                          </a:solidFill>
                          <a:effectLst/>
                          <a:latin typeface="Calibri"/>
                        </a:rPr>
                        <a:t>2012-09-30</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4BD97"/>
                    </a:solidFill>
                  </a:tcPr>
                </a:tc>
                <a:tc>
                  <a:txBody>
                    <a:bodyPr/>
                    <a:lstStyle/>
                    <a:p>
                      <a:pPr algn="l" fontAlgn="b"/>
                      <a:r>
                        <a:rPr lang="en-US" sz="1600" b="0" i="0" u="none" strike="noStrike">
                          <a:solidFill>
                            <a:srgbClr val="000000"/>
                          </a:solidFill>
                          <a:effectLst/>
                          <a:latin typeface="Calibri"/>
                        </a:rPr>
                        <a:t>S. Pape Møller</a:t>
                      </a:r>
                    </a:p>
                  </a:txBody>
                  <a:tcPr marL="11925" marR="11925" marT="119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c>
                  <a:txBody>
                    <a:bodyPr/>
                    <a:lstStyle/>
                    <a:p>
                      <a:pPr algn="l" fontAlgn="b"/>
                      <a:r>
                        <a:rPr lang="en-US" sz="1600" b="0" i="0" u="none" strike="noStrike" dirty="0" err="1">
                          <a:solidFill>
                            <a:srgbClr val="000000"/>
                          </a:solidFill>
                          <a:effectLst/>
                          <a:latin typeface="Calibri"/>
                        </a:rPr>
                        <a:t>H.Danared</a:t>
                      </a:r>
                      <a:endParaRPr lang="en-US" sz="1600" b="0" i="0" u="none" strike="noStrike" dirty="0">
                        <a:solidFill>
                          <a:srgbClr val="000000"/>
                        </a:solidFill>
                        <a:effectLst/>
                        <a:latin typeface="Calibri"/>
                      </a:endParaRPr>
                    </a:p>
                  </a:txBody>
                  <a:tcPr marL="11925" marR="11925" marT="119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8CCE4"/>
                    </a:solidFill>
                  </a:tcPr>
                </a:tc>
              </a:tr>
            </a:tbl>
          </a:graphicData>
        </a:graphic>
      </p:graphicFrame>
    </p:spTree>
    <p:extLst>
      <p:ext uri="{BB962C8B-B14F-4D97-AF65-F5344CB8AC3E}">
        <p14:creationId xmlns:p14="http://schemas.microsoft.com/office/powerpoint/2010/main" val="899077445"/>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766096" y="0"/>
            <a:ext cx="9505056" cy="1509688"/>
          </a:xfrm>
        </p:spPr>
        <p:txBody>
          <a:bodyPr/>
          <a:lstStyle/>
          <a:p>
            <a:r>
              <a:rPr lang="en-US" sz="4000" dirty="0"/>
              <a:t>WP 8 and WP 19</a:t>
            </a:r>
          </a:p>
        </p:txBody>
      </p:sp>
      <p:sp>
        <p:nvSpPr>
          <p:cNvPr id="4" name="Content Placeholder 3"/>
          <p:cNvSpPr>
            <a:spLocks noGrp="1"/>
          </p:cNvSpPr>
          <p:nvPr>
            <p:ph idx="1"/>
          </p:nvPr>
        </p:nvSpPr>
        <p:spPr>
          <a:xfrm>
            <a:off x="309712" y="1636440"/>
            <a:ext cx="12551072" cy="7850618"/>
          </a:xfrm>
        </p:spPr>
        <p:txBody>
          <a:bodyPr/>
          <a:lstStyle/>
          <a:p>
            <a:r>
              <a:rPr lang="en-US" sz="2300" dirty="0"/>
              <a:t>The complexity of the RF system, the high cost and the close integration needs with the conventional facilities has made it necessary to move WP 8 (RF systems) to  Lund.</a:t>
            </a:r>
          </a:p>
          <a:p>
            <a:pPr lvl="1"/>
            <a:r>
              <a:rPr lang="en-US" sz="2300" dirty="0"/>
              <a:t>New planning has been submitted and EPG have decided to appoint David McGinnis as WP leader</a:t>
            </a:r>
          </a:p>
          <a:p>
            <a:r>
              <a:rPr lang="en-US" sz="2300" dirty="0"/>
              <a:t>Uppsala is proposed to lead a </a:t>
            </a:r>
            <a:r>
              <a:rPr lang="en-US" sz="2300" b="1" dirty="0"/>
              <a:t>new WP 19 </a:t>
            </a:r>
            <a:r>
              <a:rPr lang="en-US" sz="2300" dirty="0"/>
              <a:t>on Test stands. The WP is a P2B WP and we propose to launch it ASAP to avoid any issues with the UU contract.</a:t>
            </a:r>
          </a:p>
          <a:p>
            <a:pPr lvl="1"/>
            <a:r>
              <a:rPr lang="en-US" sz="2300" dirty="0"/>
              <a:t>The addenda will have the same total budget as the present UU WP</a:t>
            </a:r>
          </a:p>
          <a:p>
            <a:endParaRPr lang="en-US" sz="2300" dirty="0"/>
          </a:p>
          <a:p>
            <a:r>
              <a:rPr lang="en-US" sz="2300" dirty="0"/>
              <a:t>The new WP at UU: Uppsala will build a test stand with a complete 352 MHz RF source including the low level RF system which is designed and built at LU</a:t>
            </a:r>
          </a:p>
          <a:p>
            <a:pPr lvl="1"/>
            <a:r>
              <a:rPr lang="en-US" sz="2300" dirty="0"/>
              <a:t>Test of complete RF system</a:t>
            </a:r>
          </a:p>
          <a:p>
            <a:pPr lvl="1"/>
            <a:r>
              <a:rPr lang="en-US" sz="2300" dirty="0"/>
              <a:t>Test of LLRF (control of phase, frequency and amplitude) with test cavity from </a:t>
            </a:r>
            <a:r>
              <a:rPr lang="en-US" sz="2300" dirty="0" err="1"/>
              <a:t>Orsay</a:t>
            </a:r>
            <a:endParaRPr lang="en-US" sz="2300" dirty="0"/>
          </a:p>
          <a:p>
            <a:pPr lvl="1"/>
            <a:r>
              <a:rPr lang="en-US" sz="2300" dirty="0"/>
              <a:t>System test of RF system and test at full power of complete spoke cavity </a:t>
            </a:r>
            <a:r>
              <a:rPr lang="en-US" sz="2300" dirty="0" err="1"/>
              <a:t>Cryo</a:t>
            </a:r>
            <a:r>
              <a:rPr lang="en-US" sz="2300" dirty="0"/>
              <a:t> Module from </a:t>
            </a:r>
            <a:r>
              <a:rPr lang="en-US" sz="2300" dirty="0" err="1"/>
              <a:t>Orsay</a:t>
            </a:r>
            <a:endParaRPr lang="en-US" sz="2300" dirty="0"/>
          </a:p>
          <a:p>
            <a:pPr lvl="1"/>
            <a:r>
              <a:rPr lang="en-US" sz="2300" dirty="0"/>
              <a:t>Test of recombination of RF sources for future upgrades</a:t>
            </a:r>
          </a:p>
          <a:p>
            <a:pPr lvl="1"/>
            <a:r>
              <a:rPr lang="en-US" sz="2300" dirty="0"/>
              <a:t>Survey of existing European test stands for ESS construction phase</a:t>
            </a:r>
          </a:p>
        </p:txBody>
      </p:sp>
      <p:sp>
        <p:nvSpPr>
          <p:cNvPr id="2" name="Slide Number Placeholder 1"/>
          <p:cNvSpPr>
            <a:spLocks noGrp="1"/>
          </p:cNvSpPr>
          <p:nvPr>
            <p:ph type="sldNum" sz="quarter" idx="4294967295"/>
          </p:nvPr>
        </p:nvSpPr>
        <p:spPr>
          <a:xfrm>
            <a:off x="11254928" y="8837240"/>
            <a:ext cx="866987" cy="325120"/>
          </a:xfrm>
        </p:spPr>
        <p:txBody>
          <a:bodyPr/>
          <a:lstStyle/>
          <a:p>
            <a:pPr>
              <a:defRPr/>
            </a:pPr>
            <a:fld id="{3739104A-A2E6-2149-8A06-EB7F67BEA2AF}" type="slidenum">
              <a:rPr lang="en-GB" smtClean="0"/>
              <a:pPr>
                <a:defRPr/>
              </a:pPr>
              <a:t>13</a:t>
            </a:fld>
            <a:endParaRPr lang="en-GB" dirty="0"/>
          </a:p>
        </p:txBody>
      </p:sp>
    </p:spTree>
    <p:extLst>
      <p:ext uri="{BB962C8B-B14F-4D97-AF65-F5344CB8AC3E}">
        <p14:creationId xmlns:p14="http://schemas.microsoft.com/office/powerpoint/2010/main" val="883783803"/>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3"/>
          <p:cNvSpPr txBox="1">
            <a:spLocks/>
          </p:cNvSpPr>
          <p:nvPr/>
        </p:nvSpPr>
        <p:spPr>
          <a:xfrm>
            <a:off x="642832" y="1431864"/>
            <a:ext cx="11487573" cy="7850618"/>
          </a:xfrm>
          <a:prstGeom prst="rect">
            <a:avLst/>
          </a:prstGeom>
        </p:spPr>
        <p:txBody>
          <a:bodyPr lIns="130046" tIns="65023" rIns="130046" bIns="65023"/>
          <a:lstStyle>
            <a:lvl1pPr marL="342813" indent="-342813" algn="l" rtl="0" eaLnBrk="0" fontAlgn="base" hangingPunct="0">
              <a:spcBef>
                <a:spcPct val="20000"/>
              </a:spcBef>
              <a:spcAft>
                <a:spcPct val="0"/>
              </a:spcAft>
              <a:buChar char="•"/>
              <a:defRPr sz="2800">
                <a:solidFill>
                  <a:srgbClr val="000000"/>
                </a:solidFill>
                <a:latin typeface="+mn-lt"/>
                <a:ea typeface="ＭＳ Ｐゴシック" pitchFamily="-112" charset="-128"/>
                <a:cs typeface="ＭＳ Ｐゴシック" pitchFamily="-112" charset="-128"/>
              </a:defRPr>
            </a:lvl1pPr>
            <a:lvl2pPr marL="742760" indent="-285677" algn="l" rtl="0" eaLnBrk="0" fontAlgn="base" hangingPunct="0">
              <a:spcBef>
                <a:spcPct val="20000"/>
              </a:spcBef>
              <a:spcAft>
                <a:spcPct val="0"/>
              </a:spcAft>
              <a:buChar char="–"/>
              <a:defRPr sz="2800">
                <a:solidFill>
                  <a:srgbClr val="000000"/>
                </a:solidFill>
                <a:latin typeface="+mn-lt"/>
                <a:ea typeface="ＭＳ Ｐゴシック" pitchFamily="-112" charset="-128"/>
              </a:defRPr>
            </a:lvl2pPr>
            <a:lvl3pPr marL="1142706" indent="-228541" algn="l" rtl="0" eaLnBrk="0" fontAlgn="base" hangingPunct="0">
              <a:spcBef>
                <a:spcPct val="20000"/>
              </a:spcBef>
              <a:spcAft>
                <a:spcPct val="0"/>
              </a:spcAft>
              <a:buChar char="•"/>
              <a:defRPr sz="2800">
                <a:solidFill>
                  <a:srgbClr val="000000"/>
                </a:solidFill>
                <a:latin typeface="+mn-lt"/>
                <a:ea typeface="ＭＳ Ｐゴシック" pitchFamily="-112" charset="-128"/>
              </a:defRPr>
            </a:lvl3pPr>
            <a:lvl4pPr marL="1599790" indent="-228541" algn="l" rtl="0" eaLnBrk="0" fontAlgn="base" hangingPunct="0">
              <a:spcBef>
                <a:spcPct val="20000"/>
              </a:spcBef>
              <a:spcAft>
                <a:spcPct val="0"/>
              </a:spcAft>
              <a:buChar char="–"/>
              <a:defRPr sz="2800">
                <a:solidFill>
                  <a:srgbClr val="000000"/>
                </a:solidFill>
                <a:latin typeface="+mn-lt"/>
                <a:ea typeface="ＭＳ Ｐゴシック" pitchFamily="-112" charset="-128"/>
              </a:defRPr>
            </a:lvl4pPr>
            <a:lvl5pPr marL="2056875" indent="-228541" algn="l" rtl="0" eaLnBrk="0" fontAlgn="base" hangingPunct="0">
              <a:spcBef>
                <a:spcPct val="20000"/>
              </a:spcBef>
              <a:spcAft>
                <a:spcPct val="0"/>
              </a:spcAft>
              <a:buChar char="»"/>
              <a:defRPr sz="2800">
                <a:solidFill>
                  <a:srgbClr val="000000"/>
                </a:solidFill>
                <a:latin typeface="+mn-lt"/>
                <a:ea typeface="ＭＳ Ｐゴシック" pitchFamily="-112" charset="-128"/>
              </a:defRPr>
            </a:lvl5pPr>
            <a:lvl6pPr marL="2513959" indent="-228541" algn="l" rtl="0" fontAlgn="base">
              <a:spcBef>
                <a:spcPct val="20000"/>
              </a:spcBef>
              <a:spcAft>
                <a:spcPct val="0"/>
              </a:spcAft>
              <a:buChar char="»"/>
              <a:defRPr sz="2800">
                <a:solidFill>
                  <a:srgbClr val="000000"/>
                </a:solidFill>
                <a:latin typeface="+mn-lt"/>
                <a:ea typeface="ＭＳ Ｐゴシック" pitchFamily="-112" charset="-128"/>
              </a:defRPr>
            </a:lvl6pPr>
            <a:lvl7pPr marL="2971040" indent="-228541" algn="l" rtl="0" fontAlgn="base">
              <a:spcBef>
                <a:spcPct val="20000"/>
              </a:spcBef>
              <a:spcAft>
                <a:spcPct val="0"/>
              </a:spcAft>
              <a:buChar char="»"/>
              <a:defRPr sz="2800">
                <a:solidFill>
                  <a:srgbClr val="000000"/>
                </a:solidFill>
                <a:latin typeface="+mn-lt"/>
                <a:ea typeface="ＭＳ Ｐゴシック" pitchFamily="-112" charset="-128"/>
              </a:defRPr>
            </a:lvl7pPr>
            <a:lvl8pPr marL="3428124" indent="-228541" algn="l" rtl="0" fontAlgn="base">
              <a:spcBef>
                <a:spcPct val="20000"/>
              </a:spcBef>
              <a:spcAft>
                <a:spcPct val="0"/>
              </a:spcAft>
              <a:buChar char="»"/>
              <a:defRPr sz="2800">
                <a:solidFill>
                  <a:srgbClr val="000000"/>
                </a:solidFill>
                <a:latin typeface="+mn-lt"/>
                <a:ea typeface="ＭＳ Ｐゴシック" pitchFamily="-112" charset="-128"/>
              </a:defRPr>
            </a:lvl8pPr>
            <a:lvl9pPr marL="3885205" indent="-228541" algn="l" rtl="0" fontAlgn="base">
              <a:spcBef>
                <a:spcPct val="20000"/>
              </a:spcBef>
              <a:spcAft>
                <a:spcPct val="0"/>
              </a:spcAft>
              <a:buChar char="»"/>
              <a:defRPr sz="2800">
                <a:solidFill>
                  <a:srgbClr val="000000"/>
                </a:solidFill>
                <a:latin typeface="+mn-lt"/>
                <a:ea typeface="ＭＳ Ｐゴシック" pitchFamily="-112" charset="-128"/>
              </a:defRPr>
            </a:lvl9pPr>
          </a:lstStyle>
          <a:p>
            <a:r>
              <a:rPr lang="en-US" sz="3400" dirty="0"/>
              <a:t>Good progress with ADU project…</a:t>
            </a:r>
          </a:p>
          <a:p>
            <a:pPr lvl="1"/>
            <a:r>
              <a:rPr lang="en-US" sz="3400" dirty="0"/>
              <a:t>…goal is to have requirement specifications, interface control documents, cost and schedule for construction for the end of 2012 (together with TDR)</a:t>
            </a:r>
          </a:p>
          <a:p>
            <a:pPr lvl="1"/>
            <a:r>
              <a:rPr lang="en-US" sz="3400" dirty="0"/>
              <a:t>Responsibilities and organization adapted to new situation with project office at ESS and a stronger accelerator division at ESS</a:t>
            </a:r>
          </a:p>
          <a:p>
            <a:pPr lvl="1"/>
            <a:endParaRPr lang="en-US" sz="3400" dirty="0"/>
          </a:p>
          <a:p>
            <a:r>
              <a:rPr lang="en-US" sz="3400" dirty="0"/>
              <a:t>Evolving baseline and the CDR is a snapshot of the status in November 2011</a:t>
            </a:r>
          </a:p>
          <a:p>
            <a:r>
              <a:rPr lang="en-US" sz="3400" dirty="0"/>
              <a:t>However, </a:t>
            </a:r>
            <a:r>
              <a:rPr lang="en-US" sz="3400" u="sng" dirty="0">
                <a:solidFill>
                  <a:srgbClr val="FF0000"/>
                </a:solidFill>
              </a:rPr>
              <a:t>baseline is converging – many decisions taken since last TAC</a:t>
            </a:r>
            <a:r>
              <a:rPr lang="en-US" sz="3400" dirty="0"/>
              <a:t>!</a:t>
            </a:r>
          </a:p>
          <a:p>
            <a:endParaRPr lang="en-US" sz="3400" dirty="0"/>
          </a:p>
          <a:p>
            <a:endParaRPr lang="en-US" sz="3400" dirty="0"/>
          </a:p>
          <a:p>
            <a:endParaRPr lang="en-US" sz="3400" dirty="0"/>
          </a:p>
        </p:txBody>
      </p:sp>
      <p:sp>
        <p:nvSpPr>
          <p:cNvPr id="4" name="Titolo 3"/>
          <p:cNvSpPr>
            <a:spLocks noGrp="1"/>
          </p:cNvSpPr>
          <p:nvPr>
            <p:ph type="title"/>
          </p:nvPr>
        </p:nvSpPr>
        <p:spPr>
          <a:xfrm>
            <a:off x="2225600" y="-451792"/>
            <a:ext cx="9677400" cy="1140595"/>
          </a:xfrm>
        </p:spPr>
        <p:txBody>
          <a:bodyPr/>
          <a:lstStyle/>
          <a:p>
            <a:r>
              <a:rPr lang="it-IT" b="1" dirty="0" smtClean="0">
                <a:solidFill>
                  <a:srgbClr val="FF0000"/>
                </a:solidFill>
              </a:rPr>
              <a:t> </a:t>
            </a:r>
            <a:r>
              <a:rPr lang="it-IT" b="1" dirty="0" err="1" smtClean="0">
                <a:solidFill>
                  <a:srgbClr val="FF0000"/>
                </a:solidFill>
              </a:rPr>
              <a:t>Comments</a:t>
            </a:r>
            <a:r>
              <a:rPr lang="it-IT" b="1" dirty="0" smtClean="0">
                <a:solidFill>
                  <a:srgbClr val="FF0000"/>
                </a:solidFill>
              </a:rPr>
              <a:t> from TAC-4 (Feb.16</a:t>
            </a:r>
            <a:r>
              <a:rPr lang="it-IT" b="1" baseline="30000" dirty="0" smtClean="0">
                <a:solidFill>
                  <a:srgbClr val="FF0000"/>
                </a:solidFill>
              </a:rPr>
              <a:t>th</a:t>
            </a:r>
            <a:r>
              <a:rPr lang="it-IT" b="1" dirty="0" smtClean="0">
                <a:solidFill>
                  <a:srgbClr val="FF0000"/>
                </a:solidFill>
              </a:rPr>
              <a:t>,2012)</a:t>
            </a:r>
            <a:endParaRPr lang="it-IT" b="1" dirty="0">
              <a:solidFill>
                <a:srgbClr val="FF0000"/>
              </a:solidFill>
            </a:endParaRPr>
          </a:p>
        </p:txBody>
      </p:sp>
      <p:sp>
        <p:nvSpPr>
          <p:cNvPr id="5" name="Slide Number Placeholder 1"/>
          <p:cNvSpPr txBox="1">
            <a:spLocks/>
          </p:cNvSpPr>
          <p:nvPr/>
        </p:nvSpPr>
        <p:spPr bwMode="auto">
          <a:xfrm>
            <a:off x="11254928" y="8837240"/>
            <a:ext cx="866987" cy="32512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defPPr>
              <a:defRPr lang="en-US"/>
            </a:defPPr>
            <a:lvl1pPr algn="l" rtl="0" fontAlgn="base">
              <a:spcBef>
                <a:spcPct val="0"/>
              </a:spcBef>
              <a:spcAft>
                <a:spcPct val="0"/>
              </a:spcAft>
              <a:defRPr sz="3600" b="1" kern="1200">
                <a:solidFill>
                  <a:srgbClr val="FFFFFF"/>
                </a:solidFill>
                <a:latin typeface="Lucida Grande" charset="0"/>
                <a:ea typeface="Lucida Grande" charset="0"/>
                <a:cs typeface="Lucida Grande" charset="0"/>
                <a:sym typeface="Lucida Grande" charset="0"/>
              </a:defRPr>
            </a:lvl1pPr>
            <a:lvl2pPr marL="4572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5pPr>
            <a:lvl6pPr marL="22860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6pPr>
            <a:lvl7pPr marL="27432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7pPr>
            <a:lvl8pPr marL="32004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8pPr>
            <a:lvl9pPr marL="36576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9pPr>
          </a:lstStyle>
          <a:p>
            <a:pPr>
              <a:defRPr/>
            </a:pPr>
            <a:fld id="{3739104A-A2E6-2149-8A06-EB7F67BEA2AF}" type="slidenum">
              <a:rPr lang="en-GB" smtClean="0"/>
              <a:pPr>
                <a:defRPr/>
              </a:pPr>
              <a:t>14</a:t>
            </a:fld>
            <a:endParaRPr lang="en-GB" dirty="0"/>
          </a:p>
        </p:txBody>
      </p:sp>
    </p:spTree>
    <p:extLst>
      <p:ext uri="{BB962C8B-B14F-4D97-AF65-F5344CB8AC3E}">
        <p14:creationId xmlns:p14="http://schemas.microsoft.com/office/powerpoint/2010/main" val="4220064020"/>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3399" y="4073759"/>
            <a:ext cx="9677400" cy="1140595"/>
          </a:xfrm>
        </p:spPr>
        <p:txBody>
          <a:bodyPr/>
          <a:lstStyle/>
          <a:p>
            <a:r>
              <a:rPr lang="en-US" dirty="0" smtClean="0"/>
              <a:t>P2B and Construction</a:t>
            </a:r>
            <a:endParaRPr lang="en-US" dirty="0"/>
          </a:p>
        </p:txBody>
      </p:sp>
      <p:sp>
        <p:nvSpPr>
          <p:cNvPr id="3" name="Slide Number Placeholder 1"/>
          <p:cNvSpPr txBox="1">
            <a:spLocks/>
          </p:cNvSpPr>
          <p:nvPr/>
        </p:nvSpPr>
        <p:spPr bwMode="auto">
          <a:xfrm>
            <a:off x="11254928" y="8837240"/>
            <a:ext cx="866987" cy="32512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defPPr>
              <a:defRPr lang="en-US"/>
            </a:defPPr>
            <a:lvl1pPr algn="l" rtl="0" fontAlgn="base">
              <a:spcBef>
                <a:spcPct val="0"/>
              </a:spcBef>
              <a:spcAft>
                <a:spcPct val="0"/>
              </a:spcAft>
              <a:defRPr sz="3600" b="1" kern="1200">
                <a:solidFill>
                  <a:srgbClr val="FFFFFF"/>
                </a:solidFill>
                <a:latin typeface="Lucida Grande" charset="0"/>
                <a:ea typeface="Lucida Grande" charset="0"/>
                <a:cs typeface="Lucida Grande" charset="0"/>
                <a:sym typeface="Lucida Grande" charset="0"/>
              </a:defRPr>
            </a:lvl1pPr>
            <a:lvl2pPr marL="4572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5pPr>
            <a:lvl6pPr marL="22860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6pPr>
            <a:lvl7pPr marL="27432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7pPr>
            <a:lvl8pPr marL="32004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8pPr>
            <a:lvl9pPr marL="36576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9pPr>
          </a:lstStyle>
          <a:p>
            <a:pPr>
              <a:defRPr/>
            </a:pPr>
            <a:fld id="{3739104A-A2E6-2149-8A06-EB7F67BEA2AF}" type="slidenum">
              <a:rPr lang="en-GB" smtClean="0"/>
              <a:pPr>
                <a:defRPr/>
              </a:pPr>
              <a:t>15</a:t>
            </a:fld>
            <a:endParaRPr lang="en-GB" dirty="0"/>
          </a:p>
        </p:txBody>
      </p:sp>
    </p:spTree>
    <p:extLst>
      <p:ext uri="{BB962C8B-B14F-4D97-AF65-F5344CB8AC3E}">
        <p14:creationId xmlns:p14="http://schemas.microsoft.com/office/powerpoint/2010/main" val="1148847604"/>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6702" y="254003"/>
            <a:ext cx="8102882" cy="697276"/>
          </a:xfrm>
        </p:spPr>
        <p:txBody>
          <a:bodyPr>
            <a:normAutofit fontScale="90000"/>
          </a:bodyPr>
          <a:lstStyle/>
          <a:p>
            <a:r>
              <a:rPr lang="en-US" dirty="0" smtClean="0">
                <a:latin typeface="+mj-lt"/>
              </a:rPr>
              <a:t>ESS Project Strategy</a:t>
            </a:r>
            <a:endParaRPr lang="en-US" dirty="0">
              <a:latin typeface="+mj-lt"/>
            </a:endParaRPr>
          </a:p>
        </p:txBody>
      </p:sp>
      <p:graphicFrame>
        <p:nvGraphicFramePr>
          <p:cNvPr id="3" name="Table 2"/>
          <p:cNvGraphicFramePr>
            <a:graphicFrameLocks noGrp="1"/>
          </p:cNvGraphicFramePr>
          <p:nvPr/>
        </p:nvGraphicFramePr>
        <p:xfrm>
          <a:off x="304169" y="5484928"/>
          <a:ext cx="12107421" cy="869698"/>
        </p:xfrm>
        <a:graphic>
          <a:graphicData uri="http://schemas.openxmlformats.org/drawingml/2006/table">
            <a:tbl>
              <a:tblPr firstRow="1" bandRow="1">
                <a:tableStyleId>{616DA210-FB5B-4158-B5E0-FEB733F419BA}</a:tableStyleId>
              </a:tblPr>
              <a:tblGrid>
                <a:gridCol w="1345269"/>
                <a:gridCol w="1345269"/>
                <a:gridCol w="1345269"/>
                <a:gridCol w="1345269"/>
                <a:gridCol w="1345269"/>
                <a:gridCol w="1345269"/>
                <a:gridCol w="1345269"/>
                <a:gridCol w="1345269"/>
                <a:gridCol w="1345269"/>
              </a:tblGrid>
              <a:tr h="434849">
                <a:tc>
                  <a:txBody>
                    <a:bodyPr/>
                    <a:lstStyle/>
                    <a:p>
                      <a:pPr algn="ctr"/>
                      <a:r>
                        <a:rPr lang="en-US" sz="2000" dirty="0" smtClean="0"/>
                        <a:t>2011</a:t>
                      </a:r>
                      <a:endParaRPr lang="en-US" sz="2000" dirty="0"/>
                    </a:p>
                  </a:txBody>
                  <a:tcPr marL="140885" marR="140885" marT="65024" marB="65024">
                    <a:lnT w="76200" cap="flat" cmpd="sng" algn="ctr">
                      <a:solidFill>
                        <a:schemeClr val="bg1"/>
                      </a:solidFill>
                      <a:prstDash val="solid"/>
                      <a:round/>
                      <a:headEnd type="none" w="med" len="med"/>
                      <a:tailEnd type="none" w="med" len="med"/>
                    </a:lnT>
                  </a:tcPr>
                </a:tc>
                <a:tc>
                  <a:txBody>
                    <a:bodyPr/>
                    <a:lstStyle/>
                    <a:p>
                      <a:pPr algn="ctr"/>
                      <a:r>
                        <a:rPr lang="en-US" sz="2000" dirty="0" smtClean="0"/>
                        <a:t>2012</a:t>
                      </a:r>
                      <a:endParaRPr lang="en-US" sz="2000" dirty="0"/>
                    </a:p>
                  </a:txBody>
                  <a:tcPr marL="140885" marR="140885" marT="65024" marB="65024">
                    <a:lnT w="76200" cap="flat" cmpd="sng" algn="ctr">
                      <a:solidFill>
                        <a:schemeClr val="bg1"/>
                      </a:solidFill>
                      <a:prstDash val="solid"/>
                      <a:round/>
                      <a:headEnd type="none" w="med" len="med"/>
                      <a:tailEnd type="none" w="med" len="med"/>
                    </a:lnT>
                  </a:tcPr>
                </a:tc>
                <a:tc>
                  <a:txBody>
                    <a:bodyPr/>
                    <a:lstStyle/>
                    <a:p>
                      <a:pPr algn="ctr"/>
                      <a:r>
                        <a:rPr lang="en-US" sz="2000" dirty="0" smtClean="0"/>
                        <a:t>2013</a:t>
                      </a:r>
                      <a:endParaRPr lang="en-US" sz="2000" dirty="0"/>
                    </a:p>
                  </a:txBody>
                  <a:tcPr marL="140885" marR="140885" marT="65024" marB="65024">
                    <a:lnT w="76200" cap="flat" cmpd="sng" algn="ctr">
                      <a:solidFill>
                        <a:schemeClr val="bg1"/>
                      </a:solidFill>
                      <a:prstDash val="solid"/>
                      <a:round/>
                      <a:headEnd type="none" w="med" len="med"/>
                      <a:tailEnd type="none" w="med" len="med"/>
                    </a:lnT>
                  </a:tcPr>
                </a:tc>
                <a:tc>
                  <a:txBody>
                    <a:bodyPr/>
                    <a:lstStyle/>
                    <a:p>
                      <a:pPr algn="ctr"/>
                      <a:r>
                        <a:rPr lang="en-US" sz="2000" dirty="0" smtClean="0"/>
                        <a:t>2014</a:t>
                      </a:r>
                      <a:endParaRPr lang="en-US" sz="2000" dirty="0"/>
                    </a:p>
                  </a:txBody>
                  <a:tcPr marL="140885" marR="140885" marT="65024" marB="65024">
                    <a:lnT w="76200" cap="flat" cmpd="sng" algn="ctr">
                      <a:solidFill>
                        <a:schemeClr val="bg1"/>
                      </a:solidFill>
                      <a:prstDash val="solid"/>
                      <a:round/>
                      <a:headEnd type="none" w="med" len="med"/>
                      <a:tailEnd type="none" w="med" len="med"/>
                    </a:lnT>
                  </a:tcPr>
                </a:tc>
                <a:tc>
                  <a:txBody>
                    <a:bodyPr/>
                    <a:lstStyle/>
                    <a:p>
                      <a:pPr algn="ctr"/>
                      <a:r>
                        <a:rPr lang="en-US" sz="2000" dirty="0" smtClean="0"/>
                        <a:t>2015</a:t>
                      </a:r>
                      <a:endParaRPr lang="en-US" sz="2000" dirty="0"/>
                    </a:p>
                  </a:txBody>
                  <a:tcPr marL="140885" marR="140885" marT="65024" marB="65024">
                    <a:lnT w="76200" cap="flat" cmpd="sng" algn="ctr">
                      <a:solidFill>
                        <a:schemeClr val="bg1"/>
                      </a:solidFill>
                      <a:prstDash val="solid"/>
                      <a:round/>
                      <a:headEnd type="none" w="med" len="med"/>
                      <a:tailEnd type="none" w="med" len="med"/>
                    </a:lnT>
                  </a:tcPr>
                </a:tc>
                <a:tc>
                  <a:txBody>
                    <a:bodyPr/>
                    <a:lstStyle/>
                    <a:p>
                      <a:pPr algn="ctr"/>
                      <a:r>
                        <a:rPr lang="en-US" sz="2000" dirty="0" smtClean="0"/>
                        <a:t>2016</a:t>
                      </a:r>
                      <a:endParaRPr lang="en-US" sz="2000" dirty="0"/>
                    </a:p>
                  </a:txBody>
                  <a:tcPr marL="140885" marR="140885" marT="65024" marB="65024">
                    <a:lnT w="76200" cap="flat" cmpd="sng" algn="ctr">
                      <a:solidFill>
                        <a:schemeClr val="bg1"/>
                      </a:solidFill>
                      <a:prstDash val="solid"/>
                      <a:round/>
                      <a:headEnd type="none" w="med" len="med"/>
                      <a:tailEnd type="none" w="med" len="med"/>
                    </a:lnT>
                  </a:tcPr>
                </a:tc>
                <a:tc>
                  <a:txBody>
                    <a:bodyPr/>
                    <a:lstStyle/>
                    <a:p>
                      <a:pPr algn="ctr"/>
                      <a:r>
                        <a:rPr lang="en-US" sz="2000" dirty="0" smtClean="0"/>
                        <a:t>2017                                                                                                                                                                                                                                                                                                                                                                                                                                                                         </a:t>
                      </a:r>
                      <a:endParaRPr lang="en-US" sz="2000" dirty="0"/>
                    </a:p>
                  </a:txBody>
                  <a:tcPr marL="140885" marR="140885" marT="65024" marB="65024">
                    <a:lnT w="76200" cap="flat" cmpd="sng" algn="ctr">
                      <a:solidFill>
                        <a:schemeClr val="bg1"/>
                      </a:solidFill>
                      <a:prstDash val="solid"/>
                      <a:round/>
                      <a:headEnd type="none" w="med" len="med"/>
                      <a:tailEnd type="none" w="med" len="med"/>
                    </a:lnT>
                  </a:tcPr>
                </a:tc>
                <a:tc>
                  <a:txBody>
                    <a:bodyPr/>
                    <a:lstStyle/>
                    <a:p>
                      <a:pPr algn="ctr"/>
                      <a:r>
                        <a:rPr lang="en-US" sz="2000" dirty="0" smtClean="0"/>
                        <a:t>2018</a:t>
                      </a:r>
                      <a:endParaRPr lang="en-US" sz="2000" dirty="0"/>
                    </a:p>
                  </a:txBody>
                  <a:tcPr marL="140885" marR="140885" marT="65024" marB="65024">
                    <a:lnT w="76200" cap="flat" cmpd="sng" algn="ctr">
                      <a:solidFill>
                        <a:schemeClr val="bg1"/>
                      </a:solidFill>
                      <a:prstDash val="solid"/>
                      <a:round/>
                      <a:headEnd type="none" w="med" len="med"/>
                      <a:tailEnd type="none" w="med" len="med"/>
                    </a:lnT>
                  </a:tcPr>
                </a:tc>
                <a:tc>
                  <a:txBody>
                    <a:bodyPr/>
                    <a:lstStyle/>
                    <a:p>
                      <a:pPr algn="ctr"/>
                      <a:r>
                        <a:rPr lang="en-US" sz="2000" dirty="0" smtClean="0"/>
                        <a:t>2019</a:t>
                      </a:r>
                      <a:endParaRPr lang="en-US" sz="2000" dirty="0"/>
                    </a:p>
                  </a:txBody>
                  <a:tcPr marL="140885" marR="140885" marT="65024" marB="65024">
                    <a:lnT w="76200" cap="flat" cmpd="sng" algn="ctr">
                      <a:solidFill>
                        <a:schemeClr val="bg1"/>
                      </a:solidFill>
                      <a:prstDash val="solid"/>
                      <a:round/>
                      <a:headEnd type="none" w="med" len="med"/>
                      <a:tailEnd type="none" w="med" len="med"/>
                    </a:lnT>
                  </a:tcPr>
                </a:tc>
              </a:tr>
              <a:tr h="434849">
                <a:tc>
                  <a:txBody>
                    <a:bodyPr/>
                    <a:lstStyle/>
                    <a:p>
                      <a:pPr algn="ctr"/>
                      <a:endParaRPr lang="en-US" sz="2000" dirty="0"/>
                    </a:p>
                  </a:txBody>
                  <a:tcPr marL="140885" marR="140885" marT="65024" marB="65024">
                    <a:lnB w="76200" cap="flat" cmpd="sng" algn="ctr">
                      <a:solidFill>
                        <a:schemeClr val="bg1"/>
                      </a:solidFill>
                      <a:prstDash val="solid"/>
                      <a:round/>
                      <a:headEnd type="none" w="med" len="med"/>
                      <a:tailEnd type="none" w="med" len="med"/>
                    </a:lnB>
                    <a:noFill/>
                  </a:tcPr>
                </a:tc>
                <a:tc>
                  <a:txBody>
                    <a:bodyPr/>
                    <a:lstStyle/>
                    <a:p>
                      <a:pPr algn="ctr"/>
                      <a:endParaRPr lang="en-US" sz="2000" dirty="0"/>
                    </a:p>
                  </a:txBody>
                  <a:tcPr marL="140885" marR="140885" marT="65024" marB="65024">
                    <a:lnB w="76200" cap="flat" cmpd="sng" algn="ctr">
                      <a:solidFill>
                        <a:schemeClr val="bg1"/>
                      </a:solidFill>
                      <a:prstDash val="solid"/>
                      <a:round/>
                      <a:headEnd type="none" w="med" len="med"/>
                      <a:tailEnd type="none" w="med" len="med"/>
                    </a:lnB>
                    <a:noFill/>
                  </a:tcPr>
                </a:tc>
                <a:tc>
                  <a:txBody>
                    <a:bodyPr/>
                    <a:lstStyle/>
                    <a:p>
                      <a:pPr algn="ctr"/>
                      <a:endParaRPr lang="en-US" sz="2000" dirty="0"/>
                    </a:p>
                  </a:txBody>
                  <a:tcPr marL="140885" marR="140885" marT="65024" marB="65024">
                    <a:lnB w="76200" cap="flat" cmpd="sng" algn="ctr">
                      <a:solidFill>
                        <a:schemeClr val="bg1"/>
                      </a:solidFill>
                      <a:prstDash val="solid"/>
                      <a:round/>
                      <a:headEnd type="none" w="med" len="med"/>
                      <a:tailEnd type="none" w="med" len="med"/>
                    </a:lnB>
                    <a:noFill/>
                  </a:tcPr>
                </a:tc>
                <a:tc>
                  <a:txBody>
                    <a:bodyPr/>
                    <a:lstStyle/>
                    <a:p>
                      <a:pPr algn="ctr"/>
                      <a:endParaRPr lang="en-US" sz="2000" dirty="0"/>
                    </a:p>
                  </a:txBody>
                  <a:tcPr marL="140885" marR="140885" marT="65024" marB="65024">
                    <a:lnB w="76200" cap="flat" cmpd="sng" algn="ctr">
                      <a:solidFill>
                        <a:schemeClr val="bg1"/>
                      </a:solidFill>
                      <a:prstDash val="solid"/>
                      <a:round/>
                      <a:headEnd type="none" w="med" len="med"/>
                      <a:tailEnd type="none" w="med" len="med"/>
                    </a:lnB>
                    <a:noFill/>
                  </a:tcPr>
                </a:tc>
                <a:tc>
                  <a:txBody>
                    <a:bodyPr/>
                    <a:lstStyle/>
                    <a:p>
                      <a:pPr algn="ctr"/>
                      <a:endParaRPr lang="en-US" sz="2000" dirty="0"/>
                    </a:p>
                  </a:txBody>
                  <a:tcPr marL="140885" marR="140885" marT="65024" marB="65024">
                    <a:lnB w="76200" cap="flat" cmpd="sng" algn="ctr">
                      <a:solidFill>
                        <a:schemeClr val="bg1"/>
                      </a:solidFill>
                      <a:prstDash val="solid"/>
                      <a:round/>
                      <a:headEnd type="none" w="med" len="med"/>
                      <a:tailEnd type="none" w="med" len="med"/>
                    </a:lnB>
                    <a:noFill/>
                  </a:tcPr>
                </a:tc>
                <a:tc>
                  <a:txBody>
                    <a:bodyPr/>
                    <a:lstStyle/>
                    <a:p>
                      <a:pPr algn="ctr"/>
                      <a:endParaRPr lang="en-US" sz="2000" dirty="0"/>
                    </a:p>
                  </a:txBody>
                  <a:tcPr marL="140885" marR="140885" marT="65024" marB="65024">
                    <a:lnB w="76200" cap="flat" cmpd="sng" algn="ctr">
                      <a:solidFill>
                        <a:schemeClr val="bg1"/>
                      </a:solidFill>
                      <a:prstDash val="solid"/>
                      <a:round/>
                      <a:headEnd type="none" w="med" len="med"/>
                      <a:tailEnd type="none" w="med" len="med"/>
                    </a:lnB>
                    <a:noFill/>
                  </a:tcPr>
                </a:tc>
                <a:tc>
                  <a:txBody>
                    <a:bodyPr/>
                    <a:lstStyle/>
                    <a:p>
                      <a:pPr algn="ctr"/>
                      <a:endParaRPr lang="en-US" sz="2000" dirty="0"/>
                    </a:p>
                  </a:txBody>
                  <a:tcPr marL="140885" marR="140885" marT="65024" marB="65024">
                    <a:lnB w="76200" cap="flat" cmpd="sng" algn="ctr">
                      <a:solidFill>
                        <a:schemeClr val="bg1"/>
                      </a:solidFill>
                      <a:prstDash val="solid"/>
                      <a:round/>
                      <a:headEnd type="none" w="med" len="med"/>
                      <a:tailEnd type="none" w="med" len="med"/>
                    </a:lnB>
                    <a:noFill/>
                  </a:tcPr>
                </a:tc>
                <a:tc>
                  <a:txBody>
                    <a:bodyPr/>
                    <a:lstStyle/>
                    <a:p>
                      <a:pPr algn="ctr"/>
                      <a:endParaRPr lang="en-US" sz="2000" dirty="0"/>
                    </a:p>
                  </a:txBody>
                  <a:tcPr marL="140885" marR="140885" marT="65024" marB="65024">
                    <a:lnB w="76200" cap="flat" cmpd="sng" algn="ctr">
                      <a:solidFill>
                        <a:schemeClr val="bg1"/>
                      </a:solidFill>
                      <a:prstDash val="solid"/>
                      <a:round/>
                      <a:headEnd type="none" w="med" len="med"/>
                      <a:tailEnd type="none" w="med" len="med"/>
                    </a:lnB>
                    <a:noFill/>
                  </a:tcPr>
                </a:tc>
                <a:tc>
                  <a:txBody>
                    <a:bodyPr/>
                    <a:lstStyle/>
                    <a:p>
                      <a:pPr algn="ctr"/>
                      <a:endParaRPr lang="en-US" sz="2000" dirty="0"/>
                    </a:p>
                  </a:txBody>
                  <a:tcPr marL="140885" marR="140885" marT="65024" marB="65024">
                    <a:lnB w="76200" cap="flat" cmpd="sng" algn="ctr">
                      <a:solidFill>
                        <a:schemeClr val="bg1"/>
                      </a:solidFill>
                      <a:prstDash val="solid"/>
                      <a:round/>
                      <a:headEnd type="none" w="med" len="med"/>
                      <a:tailEnd type="none" w="med" len="med"/>
                    </a:lnB>
                    <a:noFill/>
                  </a:tcPr>
                </a:tc>
              </a:tr>
            </a:tbl>
          </a:graphicData>
        </a:graphic>
      </p:graphicFrame>
      <p:cxnSp>
        <p:nvCxnSpPr>
          <p:cNvPr id="4" name="Straight Arrow Connector 3"/>
          <p:cNvCxnSpPr/>
          <p:nvPr/>
        </p:nvCxnSpPr>
        <p:spPr>
          <a:xfrm>
            <a:off x="418015" y="5918420"/>
            <a:ext cx="12657755" cy="2258"/>
          </a:xfrm>
          <a:prstGeom prst="straightConnector1">
            <a:avLst/>
          </a:prstGeom>
          <a:ln w="38100">
            <a:solidFill>
              <a:schemeClr val="tx2">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6" name="Line Callout 2 (Accent Bar) 5"/>
          <p:cNvSpPr/>
          <p:nvPr/>
        </p:nvSpPr>
        <p:spPr>
          <a:xfrm>
            <a:off x="3716255" y="7224593"/>
            <a:ext cx="2421484" cy="711205"/>
          </a:xfrm>
          <a:prstGeom prst="accentCallout2">
            <a:avLst>
              <a:gd name="adj1" fmla="val 18750"/>
              <a:gd name="adj2" fmla="val -8333"/>
              <a:gd name="adj3" fmla="val 18750"/>
              <a:gd name="adj4" fmla="val -16667"/>
              <a:gd name="adj5" fmla="val -183365"/>
              <a:gd name="adj6" fmla="val -30132"/>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sz="1700" dirty="0" err="1">
                <a:solidFill>
                  <a:srgbClr val="000000"/>
                </a:solidFill>
              </a:rPr>
              <a:t>TDRs</a:t>
            </a:r>
            <a:r>
              <a:rPr lang="en-US" sz="1700" dirty="0">
                <a:solidFill>
                  <a:srgbClr val="000000"/>
                </a:solidFill>
              </a:rPr>
              <a:t> with cost and Schedule</a:t>
            </a:r>
          </a:p>
        </p:txBody>
      </p:sp>
      <p:sp>
        <p:nvSpPr>
          <p:cNvPr id="7" name="Line Callout 2 (Accent Bar) 6"/>
          <p:cNvSpPr/>
          <p:nvPr/>
        </p:nvSpPr>
        <p:spPr>
          <a:xfrm>
            <a:off x="4376664" y="6656715"/>
            <a:ext cx="1761079" cy="711205"/>
          </a:xfrm>
          <a:prstGeom prst="accentCallout2">
            <a:avLst>
              <a:gd name="adj1" fmla="val 18750"/>
              <a:gd name="adj2" fmla="val -8333"/>
              <a:gd name="adj3" fmla="val 18750"/>
              <a:gd name="adj4" fmla="val -16667"/>
              <a:gd name="adj5" fmla="val -99567"/>
              <a:gd name="adj6" fmla="val -25889"/>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sz="1700" dirty="0">
                <a:solidFill>
                  <a:srgbClr val="000000"/>
                </a:solidFill>
              </a:rPr>
              <a:t>International convention signed</a:t>
            </a:r>
          </a:p>
        </p:txBody>
      </p:sp>
      <p:sp>
        <p:nvSpPr>
          <p:cNvPr id="11" name="Rectangle 10"/>
          <p:cNvSpPr/>
          <p:nvPr/>
        </p:nvSpPr>
        <p:spPr>
          <a:xfrm>
            <a:off x="304173" y="4444056"/>
            <a:ext cx="2682091" cy="406403"/>
          </a:xfrm>
          <a:prstGeom prst="rect">
            <a:avLst/>
          </a:prstGeom>
          <a:solidFill>
            <a:srgbClr val="3366FF"/>
          </a:solidFill>
        </p:spPr>
        <p:style>
          <a:lnRef idx="2">
            <a:schemeClr val="accent1">
              <a:shade val="50000"/>
            </a:schemeClr>
          </a:lnRef>
          <a:fillRef idx="1">
            <a:schemeClr val="accent1"/>
          </a:fillRef>
          <a:effectRef idx="0">
            <a:schemeClr val="accent1"/>
          </a:effectRef>
          <a:fontRef idx="minor">
            <a:schemeClr val="lt1"/>
          </a:fontRef>
        </p:style>
        <p:txBody>
          <a:bodyPr lIns="130032" tIns="65017" rIns="130032" bIns="65017" rtlCol="0" anchor="ctr"/>
          <a:lstStyle/>
          <a:p>
            <a:pPr algn="ctr"/>
            <a:endParaRPr lang="en-US" dirty="0">
              <a:solidFill>
                <a:srgbClr val="FFFFFF"/>
              </a:solidFill>
            </a:endParaRPr>
          </a:p>
        </p:txBody>
      </p:sp>
      <p:sp>
        <p:nvSpPr>
          <p:cNvPr id="14" name="Rectangle 13"/>
          <p:cNvSpPr/>
          <p:nvPr/>
        </p:nvSpPr>
        <p:spPr>
          <a:xfrm>
            <a:off x="304173" y="3721576"/>
            <a:ext cx="2682091" cy="722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30032" tIns="65017" rIns="130032" bIns="65017" rtlCol="0" anchor="b"/>
          <a:lstStyle/>
          <a:p>
            <a:pPr algn="ctr"/>
            <a:r>
              <a:rPr lang="en-US" sz="2000" dirty="0">
                <a:solidFill>
                  <a:srgbClr val="000000">
                    <a:lumMod val="95000"/>
                    <a:lumOff val="5000"/>
                  </a:srgbClr>
                </a:solidFill>
              </a:rPr>
              <a:t>Design Updates</a:t>
            </a:r>
          </a:p>
        </p:txBody>
      </p:sp>
      <p:sp>
        <p:nvSpPr>
          <p:cNvPr id="16" name="Rectangle 15"/>
          <p:cNvSpPr/>
          <p:nvPr/>
        </p:nvSpPr>
        <p:spPr>
          <a:xfrm>
            <a:off x="4376663" y="4444056"/>
            <a:ext cx="7421047" cy="406403"/>
          </a:xfrm>
          <a:prstGeom prst="rect">
            <a:avLst/>
          </a:prstGeom>
          <a:solidFill>
            <a:srgbClr val="3366FF"/>
          </a:solidFill>
        </p:spPr>
        <p:style>
          <a:lnRef idx="2">
            <a:schemeClr val="accent1">
              <a:shade val="50000"/>
            </a:schemeClr>
          </a:lnRef>
          <a:fillRef idx="1">
            <a:schemeClr val="accent1"/>
          </a:fillRef>
          <a:effectRef idx="0">
            <a:schemeClr val="accent1"/>
          </a:effectRef>
          <a:fontRef idx="minor">
            <a:schemeClr val="lt1"/>
          </a:fontRef>
        </p:style>
        <p:txBody>
          <a:bodyPr lIns="130032" tIns="65017" rIns="130032" bIns="65017" rtlCol="0" anchor="ctr"/>
          <a:lstStyle/>
          <a:p>
            <a:pPr algn="ctr"/>
            <a:endParaRPr lang="en-US" dirty="0">
              <a:solidFill>
                <a:srgbClr val="FFFFFF"/>
              </a:solidFill>
            </a:endParaRPr>
          </a:p>
        </p:txBody>
      </p:sp>
      <p:sp>
        <p:nvSpPr>
          <p:cNvPr id="17" name="Rectangle 16"/>
          <p:cNvSpPr/>
          <p:nvPr/>
        </p:nvSpPr>
        <p:spPr>
          <a:xfrm>
            <a:off x="6426736" y="3699024"/>
            <a:ext cx="3962428" cy="722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30032" tIns="65017" rIns="130032" bIns="65017" rtlCol="0" anchor="b"/>
          <a:lstStyle/>
          <a:p>
            <a:pPr algn="ctr"/>
            <a:r>
              <a:rPr lang="en-US" sz="2000" dirty="0">
                <a:solidFill>
                  <a:srgbClr val="000000">
                    <a:lumMod val="95000"/>
                    <a:lumOff val="5000"/>
                  </a:srgbClr>
                </a:solidFill>
              </a:rPr>
              <a:t>Construction projects</a:t>
            </a:r>
          </a:p>
        </p:txBody>
      </p:sp>
      <p:sp>
        <p:nvSpPr>
          <p:cNvPr id="19" name="Line Callout 2 (Accent Bar) 18"/>
          <p:cNvSpPr/>
          <p:nvPr/>
        </p:nvSpPr>
        <p:spPr>
          <a:xfrm>
            <a:off x="10909582" y="7672723"/>
            <a:ext cx="2421484" cy="483910"/>
          </a:xfrm>
          <a:prstGeom prst="accentCallout2">
            <a:avLst>
              <a:gd name="adj1" fmla="val 18750"/>
              <a:gd name="adj2" fmla="val -8333"/>
              <a:gd name="adj3" fmla="val 18750"/>
              <a:gd name="adj4" fmla="val -16667"/>
              <a:gd name="adj5" fmla="val -355022"/>
              <a:gd name="adj6" fmla="val -36990"/>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sz="1700" dirty="0">
                <a:solidFill>
                  <a:srgbClr val="000000">
                    <a:lumMod val="95000"/>
                    <a:lumOff val="5000"/>
                  </a:srgbClr>
                </a:solidFill>
              </a:rPr>
              <a:t>First protons</a:t>
            </a:r>
          </a:p>
        </p:txBody>
      </p:sp>
      <p:sp>
        <p:nvSpPr>
          <p:cNvPr id="20" name="Rectangle 19"/>
          <p:cNvSpPr/>
          <p:nvPr/>
        </p:nvSpPr>
        <p:spPr>
          <a:xfrm>
            <a:off x="1184706" y="3518375"/>
            <a:ext cx="7298173" cy="397333"/>
          </a:xfrm>
          <a:prstGeom prst="rect">
            <a:avLst/>
          </a:prstGeom>
          <a:solidFill>
            <a:srgbClr val="3366FF"/>
          </a:solidFill>
        </p:spPr>
        <p:style>
          <a:lnRef idx="2">
            <a:schemeClr val="accent1">
              <a:shade val="50000"/>
            </a:schemeClr>
          </a:lnRef>
          <a:fillRef idx="1">
            <a:schemeClr val="accent1"/>
          </a:fillRef>
          <a:effectRef idx="0">
            <a:schemeClr val="accent1"/>
          </a:effectRef>
          <a:fontRef idx="minor">
            <a:schemeClr val="lt1"/>
          </a:fontRef>
        </p:style>
        <p:txBody>
          <a:bodyPr lIns="130032" tIns="65017" rIns="130032" bIns="65017" rtlCol="0" anchor="ctr"/>
          <a:lstStyle/>
          <a:p>
            <a:pPr algn="ctr"/>
            <a:endParaRPr lang="en-US" dirty="0">
              <a:solidFill>
                <a:srgbClr val="FFFFFF"/>
              </a:solidFill>
            </a:endParaRPr>
          </a:p>
        </p:txBody>
      </p:sp>
      <p:sp>
        <p:nvSpPr>
          <p:cNvPr id="21" name="Rectangle 20"/>
          <p:cNvSpPr/>
          <p:nvPr/>
        </p:nvSpPr>
        <p:spPr>
          <a:xfrm>
            <a:off x="2986260" y="2795890"/>
            <a:ext cx="2022238" cy="7224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30032" tIns="65017" rIns="130032" bIns="65017" rtlCol="0" anchor="b"/>
          <a:lstStyle/>
          <a:p>
            <a:pPr algn="ctr"/>
            <a:r>
              <a:rPr lang="en-US" sz="2000" dirty="0">
                <a:solidFill>
                  <a:srgbClr val="000000">
                    <a:lumMod val="95000"/>
                    <a:lumOff val="5000"/>
                  </a:srgbClr>
                </a:solidFill>
              </a:rPr>
              <a:t>P2B projects</a:t>
            </a:r>
          </a:p>
        </p:txBody>
      </p:sp>
      <p:sp>
        <p:nvSpPr>
          <p:cNvPr id="22" name="Line Callout 2 (Accent Bar) 21"/>
          <p:cNvSpPr/>
          <p:nvPr/>
        </p:nvSpPr>
        <p:spPr>
          <a:xfrm>
            <a:off x="8135258" y="7445427"/>
            <a:ext cx="2421484" cy="711205"/>
          </a:xfrm>
          <a:prstGeom prst="accentCallout2">
            <a:avLst>
              <a:gd name="adj1" fmla="val 18750"/>
              <a:gd name="adj2" fmla="val -8333"/>
              <a:gd name="adj3" fmla="val 18750"/>
              <a:gd name="adj4" fmla="val -16667"/>
              <a:gd name="adj5" fmla="val -215739"/>
              <a:gd name="adj6" fmla="val -47731"/>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sz="1700" dirty="0" err="1">
                <a:solidFill>
                  <a:srgbClr val="000000">
                    <a:lumMod val="95000"/>
                    <a:lumOff val="5000"/>
                  </a:srgbClr>
                </a:solidFill>
              </a:rPr>
              <a:t>Cryomodule</a:t>
            </a:r>
            <a:r>
              <a:rPr lang="en-US" sz="1700" dirty="0">
                <a:solidFill>
                  <a:srgbClr val="000000">
                    <a:lumMod val="95000"/>
                    <a:lumOff val="5000"/>
                  </a:srgbClr>
                </a:solidFill>
              </a:rPr>
              <a:t> production starts</a:t>
            </a:r>
          </a:p>
        </p:txBody>
      </p:sp>
      <p:sp>
        <p:nvSpPr>
          <p:cNvPr id="23" name="TextBox 22"/>
          <p:cNvSpPr txBox="1"/>
          <p:nvPr/>
        </p:nvSpPr>
        <p:spPr>
          <a:xfrm>
            <a:off x="165696" y="990901"/>
            <a:ext cx="12529392" cy="2285740"/>
          </a:xfrm>
          <a:prstGeom prst="rect">
            <a:avLst/>
          </a:prstGeom>
          <a:noFill/>
        </p:spPr>
        <p:txBody>
          <a:bodyPr wrap="square" lIns="130032" tIns="65017" rIns="130032" bIns="65017" rtlCol="0">
            <a:spAutoFit/>
          </a:bodyPr>
          <a:lstStyle/>
          <a:p>
            <a:pPr algn="l"/>
            <a:r>
              <a:rPr lang="en-US" sz="2800" dirty="0">
                <a:solidFill>
                  <a:srgbClr val="000000"/>
                </a:solidFill>
              </a:rPr>
              <a:t>P2B</a:t>
            </a:r>
          </a:p>
          <a:p>
            <a:pPr marL="406394" indent="-406394" algn="l">
              <a:buFont typeface="Arial"/>
              <a:buChar char="•"/>
            </a:pPr>
            <a:r>
              <a:rPr lang="en-US" sz="2800" dirty="0">
                <a:solidFill>
                  <a:srgbClr val="000000"/>
                </a:solidFill>
              </a:rPr>
              <a:t> assures a stringent project framework for </a:t>
            </a:r>
            <a:r>
              <a:rPr lang="en-US" sz="2800" dirty="0" smtClean="0">
                <a:solidFill>
                  <a:srgbClr val="000000"/>
                </a:solidFill>
              </a:rPr>
              <a:t>prototyping the design choices in the technical design</a:t>
            </a:r>
          </a:p>
          <a:p>
            <a:pPr marL="406394" indent="-406394" algn="l">
              <a:buFont typeface="Arial"/>
              <a:buChar char="•"/>
            </a:pPr>
            <a:r>
              <a:rPr lang="en-US" sz="2800" dirty="0">
                <a:solidFill>
                  <a:srgbClr val="000000"/>
                </a:solidFill>
              </a:rPr>
              <a:t> a continuous transition from design to </a:t>
            </a:r>
            <a:r>
              <a:rPr lang="en-US" sz="2800" dirty="0" smtClean="0">
                <a:solidFill>
                  <a:srgbClr val="000000"/>
                </a:solidFill>
              </a:rPr>
              <a:t>construction </a:t>
            </a:r>
            <a:r>
              <a:rPr lang="en-US" sz="2800" dirty="0">
                <a:solidFill>
                  <a:srgbClr val="000000"/>
                </a:solidFill>
              </a:rPr>
              <a:t>and keeps the collaborations intact through the construction decision process</a:t>
            </a:r>
          </a:p>
        </p:txBody>
      </p:sp>
      <p:sp>
        <p:nvSpPr>
          <p:cNvPr id="24" name="Line Callout 2 (Accent Bar) 23"/>
          <p:cNvSpPr/>
          <p:nvPr/>
        </p:nvSpPr>
        <p:spPr>
          <a:xfrm>
            <a:off x="11984230" y="6884011"/>
            <a:ext cx="2421484" cy="483910"/>
          </a:xfrm>
          <a:prstGeom prst="accentCallout2">
            <a:avLst>
              <a:gd name="adj1" fmla="val 18750"/>
              <a:gd name="adj2" fmla="val -8333"/>
              <a:gd name="adj3" fmla="val 18750"/>
              <a:gd name="adj4" fmla="val -16667"/>
              <a:gd name="adj5" fmla="val -200743"/>
              <a:gd name="adj6" fmla="val -28039"/>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l"/>
            <a:r>
              <a:rPr lang="en-US" sz="1700" dirty="0">
                <a:solidFill>
                  <a:srgbClr val="000000">
                    <a:lumMod val="95000"/>
                    <a:lumOff val="5000"/>
                  </a:srgbClr>
                </a:solidFill>
              </a:rPr>
              <a:t>First </a:t>
            </a:r>
          </a:p>
          <a:p>
            <a:pPr algn="l"/>
            <a:r>
              <a:rPr lang="en-US" sz="1700" dirty="0">
                <a:solidFill>
                  <a:srgbClr val="000000">
                    <a:lumMod val="95000"/>
                    <a:lumOff val="5000"/>
                  </a:srgbClr>
                </a:solidFill>
              </a:rPr>
              <a:t>neutrons</a:t>
            </a:r>
          </a:p>
        </p:txBody>
      </p:sp>
      <p:cxnSp>
        <p:nvCxnSpPr>
          <p:cNvPr id="26" name="Straight Arrow Connector 25"/>
          <p:cNvCxnSpPr>
            <a:endCxn id="17" idx="2"/>
          </p:cNvCxnSpPr>
          <p:nvPr/>
        </p:nvCxnSpPr>
        <p:spPr bwMode="auto">
          <a:xfrm rot="5400000">
            <a:off x="8095448" y="4034075"/>
            <a:ext cx="699932" cy="7492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7" name="Straight Arrow Connector 26"/>
          <p:cNvCxnSpPr/>
          <p:nvPr/>
        </p:nvCxnSpPr>
        <p:spPr bwMode="auto">
          <a:xfrm rot="5400000">
            <a:off x="5890506" y="4194560"/>
            <a:ext cx="496731" cy="225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8" name="Straight Arrow Connector 27"/>
          <p:cNvCxnSpPr/>
          <p:nvPr/>
        </p:nvCxnSpPr>
        <p:spPr bwMode="auto">
          <a:xfrm rot="5400000">
            <a:off x="5458167" y="4194560"/>
            <a:ext cx="496731" cy="225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9" name="Straight Arrow Connector 28"/>
          <p:cNvCxnSpPr/>
          <p:nvPr/>
        </p:nvCxnSpPr>
        <p:spPr bwMode="auto">
          <a:xfrm rot="5400000">
            <a:off x="4127165" y="4162941"/>
            <a:ext cx="496731" cy="225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33" name="Straight Arrow Connector 32"/>
          <p:cNvCxnSpPr/>
          <p:nvPr/>
        </p:nvCxnSpPr>
        <p:spPr bwMode="auto">
          <a:xfrm rot="5400000" flipH="1" flipV="1">
            <a:off x="2748609" y="4184980"/>
            <a:ext cx="475311" cy="225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5" name="Rectangle 24"/>
          <p:cNvSpPr/>
          <p:nvPr/>
        </p:nvSpPr>
        <p:spPr>
          <a:xfrm>
            <a:off x="304169" y="8670588"/>
            <a:ext cx="1325986" cy="734787"/>
          </a:xfrm>
          <a:prstGeom prst="rect">
            <a:avLst/>
          </a:prstGeom>
          <a:solidFill>
            <a:srgbClr val="92D050"/>
          </a:solidFill>
          <a:effectLst>
            <a:outerShdw blurRad="40000" dist="23000" dir="5400000" rotWithShape="0">
              <a:srgbClr val="000000">
                <a:alpha val="35000"/>
              </a:srgbClr>
            </a:outerShdw>
          </a:effectLst>
          <a:scene3d>
            <a:camera prst="orthographicFront">
              <a:rot lat="0" lon="0" rev="0"/>
            </a:camera>
            <a:lightRig rig="threePt" dir="t">
              <a:rot lat="0" lon="0" rev="1200000"/>
            </a:lightRig>
          </a:scene3d>
        </p:spPr>
        <p:style>
          <a:lnRef idx="0">
            <a:schemeClr val="accent3"/>
          </a:lnRef>
          <a:fillRef idx="3">
            <a:schemeClr val="accent3"/>
          </a:fillRef>
          <a:effectRef idx="3">
            <a:schemeClr val="accent3"/>
          </a:effectRef>
          <a:fontRef idx="minor">
            <a:schemeClr val="lt1"/>
          </a:fontRef>
        </p:style>
        <p:txBody>
          <a:bodyPr lIns="130032" tIns="65017" rIns="130032" bIns="65017" rtlCol="0" anchor="ctr"/>
          <a:lstStyle/>
          <a:p>
            <a:pPr algn="ctr"/>
            <a:r>
              <a:rPr lang="en-US" sz="2800" dirty="0" smtClean="0"/>
              <a:t>DU</a:t>
            </a:r>
            <a:endParaRPr lang="en-US" sz="2800" dirty="0"/>
          </a:p>
        </p:txBody>
      </p:sp>
      <p:cxnSp>
        <p:nvCxnSpPr>
          <p:cNvPr id="39" name="Straight Connector 38"/>
          <p:cNvCxnSpPr/>
          <p:nvPr/>
        </p:nvCxnSpPr>
        <p:spPr bwMode="auto">
          <a:xfrm rot="5400000">
            <a:off x="-1749392" y="7350688"/>
            <a:ext cx="4107125" cy="2257"/>
          </a:xfrm>
          <a:prstGeom prst="line">
            <a:avLst/>
          </a:prstGeom>
          <a:solidFill>
            <a:schemeClr val="accent1"/>
          </a:solidFill>
          <a:ln w="3175" cap="flat" cmpd="sng" algn="ctr">
            <a:solidFill>
              <a:schemeClr val="tx1"/>
            </a:solidFill>
            <a:prstDash val="solid"/>
            <a:round/>
            <a:headEnd type="none" w="med" len="med"/>
            <a:tailEnd type="none" w="med" len="med"/>
          </a:ln>
          <a:effectLst/>
        </p:spPr>
      </p:cxnSp>
      <p:sp>
        <p:nvSpPr>
          <p:cNvPr id="42" name="Rectangle 41"/>
          <p:cNvSpPr/>
          <p:nvPr/>
        </p:nvSpPr>
        <p:spPr>
          <a:xfrm>
            <a:off x="1647103" y="8661899"/>
            <a:ext cx="1325986" cy="734787"/>
          </a:xfrm>
          <a:prstGeom prst="rect">
            <a:avLst/>
          </a:prstGeom>
          <a:solidFill>
            <a:srgbClr val="92D050"/>
          </a:solidFill>
          <a:effectLst>
            <a:outerShdw blurRad="40000" dist="23000" dir="5400000" rotWithShape="0">
              <a:srgbClr val="000000">
                <a:alpha val="35000"/>
              </a:srgbClr>
            </a:outerShdw>
          </a:effectLst>
          <a:scene3d>
            <a:camera prst="orthographicFront">
              <a:rot lat="0" lon="0" rev="0"/>
            </a:camera>
            <a:lightRig rig="threePt" dir="t">
              <a:rot lat="0" lon="0" rev="1200000"/>
            </a:lightRig>
          </a:scene3d>
        </p:spPr>
        <p:style>
          <a:lnRef idx="0">
            <a:schemeClr val="accent3"/>
          </a:lnRef>
          <a:fillRef idx="3">
            <a:schemeClr val="accent3"/>
          </a:fillRef>
          <a:effectRef idx="3">
            <a:schemeClr val="accent3"/>
          </a:effectRef>
          <a:fontRef idx="minor">
            <a:schemeClr val="lt1"/>
          </a:fontRef>
        </p:style>
        <p:txBody>
          <a:bodyPr lIns="130032" tIns="65017" rIns="130032" bIns="65017" rtlCol="0" anchor="ctr"/>
          <a:lstStyle/>
          <a:p>
            <a:pPr algn="ctr"/>
            <a:r>
              <a:rPr lang="en-US" sz="2800" dirty="0" smtClean="0"/>
              <a:t>DU</a:t>
            </a:r>
            <a:endParaRPr lang="en-US" sz="2800" dirty="0"/>
          </a:p>
        </p:txBody>
      </p:sp>
      <p:sp>
        <p:nvSpPr>
          <p:cNvPr id="43" name="Rectangle 42"/>
          <p:cNvSpPr/>
          <p:nvPr/>
        </p:nvSpPr>
        <p:spPr>
          <a:xfrm>
            <a:off x="1647103" y="7935800"/>
            <a:ext cx="1325986" cy="749680"/>
          </a:xfrm>
          <a:prstGeom prst="rect">
            <a:avLst/>
          </a:prstGeom>
          <a:solidFill>
            <a:schemeClr val="accent2">
              <a:lumMod val="60000"/>
              <a:lumOff val="40000"/>
            </a:schemeClr>
          </a:solidFill>
          <a:effectLst>
            <a:outerShdw blurRad="40000" dist="23000" dir="5400000" rotWithShape="0">
              <a:srgbClr val="000000">
                <a:alpha val="35000"/>
              </a:srgbClr>
            </a:outerShdw>
          </a:effectLst>
          <a:scene3d>
            <a:camera prst="orthographicFront">
              <a:rot lat="0" lon="0" rev="0"/>
            </a:camera>
            <a:lightRig rig="threePt" dir="t">
              <a:rot lat="0" lon="0" rev="1200000"/>
            </a:lightRig>
          </a:scene3d>
        </p:spPr>
        <p:style>
          <a:lnRef idx="0">
            <a:schemeClr val="accent3"/>
          </a:lnRef>
          <a:fillRef idx="3">
            <a:schemeClr val="accent3"/>
          </a:fillRef>
          <a:effectRef idx="3">
            <a:schemeClr val="accent3"/>
          </a:effectRef>
          <a:fontRef idx="minor">
            <a:schemeClr val="lt1"/>
          </a:fontRef>
        </p:style>
        <p:txBody>
          <a:bodyPr lIns="130032" tIns="65017" rIns="130032" bIns="65017" rtlCol="0" anchor="ctr"/>
          <a:lstStyle/>
          <a:p>
            <a:pPr algn="ctr"/>
            <a:r>
              <a:rPr lang="en-US" sz="2800" dirty="0" smtClean="0"/>
              <a:t>P2B</a:t>
            </a:r>
            <a:endParaRPr lang="en-US" sz="2800" dirty="0"/>
          </a:p>
        </p:txBody>
      </p:sp>
      <p:cxnSp>
        <p:nvCxnSpPr>
          <p:cNvPr id="44" name="Straight Connector 43"/>
          <p:cNvCxnSpPr/>
          <p:nvPr/>
        </p:nvCxnSpPr>
        <p:spPr bwMode="auto">
          <a:xfrm rot="5400000">
            <a:off x="-406459" y="7341998"/>
            <a:ext cx="4107125" cy="2257"/>
          </a:xfrm>
          <a:prstGeom prst="line">
            <a:avLst/>
          </a:prstGeom>
          <a:solidFill>
            <a:schemeClr val="accent1"/>
          </a:solidFill>
          <a:ln w="3175" cap="flat" cmpd="sng" algn="ctr">
            <a:solidFill>
              <a:schemeClr val="tx1"/>
            </a:solidFill>
            <a:prstDash val="solid"/>
            <a:round/>
            <a:headEnd type="none" w="med" len="med"/>
            <a:tailEnd type="none" w="med" len="med"/>
          </a:ln>
          <a:effectLst/>
        </p:spPr>
      </p:cxnSp>
      <p:sp>
        <p:nvSpPr>
          <p:cNvPr id="46" name="Rectangle 45"/>
          <p:cNvSpPr/>
          <p:nvPr/>
        </p:nvSpPr>
        <p:spPr>
          <a:xfrm>
            <a:off x="2989648" y="8429040"/>
            <a:ext cx="1325986" cy="967649"/>
          </a:xfrm>
          <a:prstGeom prst="rect">
            <a:avLst/>
          </a:prstGeom>
          <a:solidFill>
            <a:schemeClr val="accent2">
              <a:lumMod val="60000"/>
              <a:lumOff val="40000"/>
            </a:schemeClr>
          </a:solidFill>
          <a:effectLst>
            <a:outerShdw blurRad="40000" dist="23000" dir="5400000" rotWithShape="0">
              <a:srgbClr val="000000">
                <a:alpha val="35000"/>
              </a:srgbClr>
            </a:outerShdw>
          </a:effectLst>
          <a:scene3d>
            <a:camera prst="orthographicFront">
              <a:rot lat="0" lon="0" rev="0"/>
            </a:camera>
            <a:lightRig rig="threePt" dir="t">
              <a:rot lat="0" lon="0" rev="1200000"/>
            </a:lightRig>
          </a:scene3d>
        </p:spPr>
        <p:style>
          <a:lnRef idx="0">
            <a:schemeClr val="accent3"/>
          </a:lnRef>
          <a:fillRef idx="3">
            <a:schemeClr val="accent3"/>
          </a:fillRef>
          <a:effectRef idx="3">
            <a:schemeClr val="accent3"/>
          </a:effectRef>
          <a:fontRef idx="minor">
            <a:schemeClr val="lt1"/>
          </a:fontRef>
        </p:style>
        <p:txBody>
          <a:bodyPr lIns="130032" tIns="65017" rIns="130032" bIns="65017" rtlCol="0" anchor="ctr"/>
          <a:lstStyle/>
          <a:p>
            <a:pPr algn="ctr"/>
            <a:r>
              <a:rPr lang="en-US" sz="2800" dirty="0" smtClean="0"/>
              <a:t>P2B</a:t>
            </a:r>
            <a:endParaRPr lang="en-US" sz="2800" dirty="0"/>
          </a:p>
        </p:txBody>
      </p:sp>
      <p:cxnSp>
        <p:nvCxnSpPr>
          <p:cNvPr id="47" name="Straight Connector 46"/>
          <p:cNvCxnSpPr/>
          <p:nvPr/>
        </p:nvCxnSpPr>
        <p:spPr bwMode="auto">
          <a:xfrm rot="5400000">
            <a:off x="934956" y="7338646"/>
            <a:ext cx="4107125" cy="2257"/>
          </a:xfrm>
          <a:prstGeom prst="line">
            <a:avLst/>
          </a:prstGeom>
          <a:solidFill>
            <a:schemeClr val="accent1"/>
          </a:solidFill>
          <a:ln w="3175" cap="flat" cmpd="sng" algn="ctr">
            <a:solidFill>
              <a:schemeClr val="tx1"/>
            </a:solidFill>
            <a:prstDash val="solid"/>
            <a:round/>
            <a:headEnd type="none" w="med" len="med"/>
            <a:tailEnd type="none" w="med" len="med"/>
          </a:ln>
          <a:effectLst/>
        </p:spPr>
      </p:cxnSp>
      <p:sp>
        <p:nvSpPr>
          <p:cNvPr id="48" name="Rectangle 47"/>
          <p:cNvSpPr/>
          <p:nvPr/>
        </p:nvSpPr>
        <p:spPr>
          <a:xfrm>
            <a:off x="4341975" y="7908870"/>
            <a:ext cx="1325986" cy="734787"/>
          </a:xfrm>
          <a:prstGeom prst="rect">
            <a:avLst/>
          </a:prstGeom>
          <a:solidFill>
            <a:srgbClr val="FF6600"/>
          </a:solidFill>
          <a:effectLst>
            <a:outerShdw blurRad="40000" dist="23000" dir="5400000" rotWithShape="0">
              <a:srgbClr val="000000">
                <a:alpha val="35000"/>
              </a:srgbClr>
            </a:outerShdw>
          </a:effectLst>
          <a:scene3d>
            <a:camera prst="orthographicFront">
              <a:rot lat="0" lon="0" rev="0"/>
            </a:camera>
            <a:lightRig rig="threePt" dir="t">
              <a:rot lat="0" lon="0" rev="1200000"/>
            </a:lightRig>
          </a:scene3d>
        </p:spPr>
        <p:style>
          <a:lnRef idx="0">
            <a:schemeClr val="accent3"/>
          </a:lnRef>
          <a:fillRef idx="3">
            <a:schemeClr val="accent3"/>
          </a:fillRef>
          <a:effectRef idx="3">
            <a:schemeClr val="accent3"/>
          </a:effectRef>
          <a:fontRef idx="minor">
            <a:schemeClr val="lt1"/>
          </a:fontRef>
        </p:style>
        <p:txBody>
          <a:bodyPr lIns="130032" tIns="65017" rIns="130032" bIns="65017" rtlCol="0" anchor="ctr"/>
          <a:lstStyle/>
          <a:p>
            <a:pPr algn="ctr"/>
            <a:r>
              <a:rPr lang="en-US" sz="2800" dirty="0" smtClean="0"/>
              <a:t>Const.</a:t>
            </a:r>
            <a:endParaRPr lang="en-US" sz="2800" dirty="0"/>
          </a:p>
        </p:txBody>
      </p:sp>
      <p:sp>
        <p:nvSpPr>
          <p:cNvPr id="49" name="Rectangle 48"/>
          <p:cNvSpPr/>
          <p:nvPr/>
        </p:nvSpPr>
        <p:spPr>
          <a:xfrm>
            <a:off x="4341975" y="8643657"/>
            <a:ext cx="1325986" cy="749680"/>
          </a:xfrm>
          <a:prstGeom prst="rect">
            <a:avLst/>
          </a:prstGeom>
          <a:solidFill>
            <a:schemeClr val="accent2">
              <a:lumMod val="60000"/>
              <a:lumOff val="40000"/>
            </a:schemeClr>
          </a:solidFill>
          <a:effectLst>
            <a:outerShdw blurRad="40000" dist="23000" dir="5400000" rotWithShape="0">
              <a:srgbClr val="000000">
                <a:alpha val="35000"/>
              </a:srgbClr>
            </a:outerShdw>
          </a:effectLst>
          <a:scene3d>
            <a:camera prst="orthographicFront">
              <a:rot lat="0" lon="0" rev="0"/>
            </a:camera>
            <a:lightRig rig="threePt" dir="t">
              <a:rot lat="0" lon="0" rev="1200000"/>
            </a:lightRig>
          </a:scene3d>
        </p:spPr>
        <p:style>
          <a:lnRef idx="0">
            <a:schemeClr val="accent3"/>
          </a:lnRef>
          <a:fillRef idx="3">
            <a:schemeClr val="accent3"/>
          </a:fillRef>
          <a:effectRef idx="3">
            <a:schemeClr val="accent3"/>
          </a:effectRef>
          <a:fontRef idx="minor">
            <a:schemeClr val="lt1"/>
          </a:fontRef>
        </p:style>
        <p:txBody>
          <a:bodyPr lIns="130032" tIns="65017" rIns="130032" bIns="65017" rtlCol="0" anchor="ctr"/>
          <a:lstStyle/>
          <a:p>
            <a:pPr algn="ctr"/>
            <a:r>
              <a:rPr lang="en-US" sz="2800" dirty="0" smtClean="0"/>
              <a:t>P2B</a:t>
            </a:r>
            <a:endParaRPr lang="en-US" sz="2800" dirty="0"/>
          </a:p>
        </p:txBody>
      </p:sp>
      <p:cxnSp>
        <p:nvCxnSpPr>
          <p:cNvPr id="50" name="Straight Connector 49"/>
          <p:cNvCxnSpPr/>
          <p:nvPr/>
        </p:nvCxnSpPr>
        <p:spPr bwMode="auto">
          <a:xfrm rot="5400000">
            <a:off x="2287283" y="7350688"/>
            <a:ext cx="4107125" cy="2257"/>
          </a:xfrm>
          <a:prstGeom prst="line">
            <a:avLst/>
          </a:prstGeom>
          <a:solidFill>
            <a:schemeClr val="accent1"/>
          </a:solidFill>
          <a:ln w="3175" cap="flat" cmpd="sng" algn="ctr">
            <a:solidFill>
              <a:schemeClr val="tx1"/>
            </a:solidFill>
            <a:prstDash val="solid"/>
            <a:round/>
            <a:headEnd type="none" w="med" len="med"/>
            <a:tailEnd type="none" w="med" len="med"/>
          </a:ln>
          <a:effectLst/>
        </p:spPr>
      </p:cxnSp>
      <p:sp>
        <p:nvSpPr>
          <p:cNvPr id="51" name="Rectangle 50"/>
          <p:cNvSpPr/>
          <p:nvPr/>
        </p:nvSpPr>
        <p:spPr>
          <a:xfrm>
            <a:off x="5689654" y="7672726"/>
            <a:ext cx="1325986" cy="1250015"/>
          </a:xfrm>
          <a:prstGeom prst="rect">
            <a:avLst/>
          </a:prstGeom>
          <a:solidFill>
            <a:srgbClr val="FF6600"/>
          </a:solidFill>
          <a:effectLst>
            <a:outerShdw blurRad="40000" dist="23000" dir="5400000" rotWithShape="0">
              <a:srgbClr val="000000">
                <a:alpha val="35000"/>
              </a:srgbClr>
            </a:outerShdw>
          </a:effectLst>
          <a:scene3d>
            <a:camera prst="orthographicFront">
              <a:rot lat="0" lon="0" rev="0"/>
            </a:camera>
            <a:lightRig rig="threePt" dir="t">
              <a:rot lat="0" lon="0" rev="1200000"/>
            </a:lightRig>
          </a:scene3d>
        </p:spPr>
        <p:style>
          <a:lnRef idx="0">
            <a:schemeClr val="accent3"/>
          </a:lnRef>
          <a:fillRef idx="3">
            <a:schemeClr val="accent3"/>
          </a:fillRef>
          <a:effectRef idx="3">
            <a:schemeClr val="accent3"/>
          </a:effectRef>
          <a:fontRef idx="minor">
            <a:schemeClr val="lt1"/>
          </a:fontRef>
        </p:style>
        <p:txBody>
          <a:bodyPr lIns="130032" tIns="65017" rIns="130032" bIns="65017" rtlCol="0" anchor="ctr"/>
          <a:lstStyle/>
          <a:p>
            <a:pPr algn="ctr"/>
            <a:r>
              <a:rPr lang="en-US" sz="2800" dirty="0" smtClean="0"/>
              <a:t>Const.</a:t>
            </a:r>
            <a:endParaRPr lang="en-US" sz="2800" dirty="0"/>
          </a:p>
        </p:txBody>
      </p:sp>
      <p:sp>
        <p:nvSpPr>
          <p:cNvPr id="52" name="Rectangle 51"/>
          <p:cNvSpPr/>
          <p:nvPr/>
        </p:nvSpPr>
        <p:spPr>
          <a:xfrm>
            <a:off x="5691913" y="8922741"/>
            <a:ext cx="1325986" cy="470595"/>
          </a:xfrm>
          <a:prstGeom prst="rect">
            <a:avLst/>
          </a:prstGeom>
          <a:solidFill>
            <a:schemeClr val="accent2">
              <a:lumMod val="60000"/>
              <a:lumOff val="40000"/>
            </a:schemeClr>
          </a:solidFill>
          <a:effectLst>
            <a:outerShdw blurRad="40000" dist="23000" dir="5400000" rotWithShape="0">
              <a:srgbClr val="000000">
                <a:alpha val="35000"/>
              </a:srgbClr>
            </a:outerShdw>
          </a:effectLst>
          <a:scene3d>
            <a:camera prst="orthographicFront">
              <a:rot lat="0" lon="0" rev="0"/>
            </a:camera>
            <a:lightRig rig="threePt" dir="t">
              <a:rot lat="0" lon="0" rev="1200000"/>
            </a:lightRig>
          </a:scene3d>
        </p:spPr>
        <p:style>
          <a:lnRef idx="0">
            <a:schemeClr val="accent3"/>
          </a:lnRef>
          <a:fillRef idx="3">
            <a:schemeClr val="accent3"/>
          </a:fillRef>
          <a:effectRef idx="3">
            <a:schemeClr val="accent3"/>
          </a:effectRef>
          <a:fontRef idx="minor">
            <a:schemeClr val="lt1"/>
          </a:fontRef>
        </p:style>
        <p:txBody>
          <a:bodyPr lIns="130032" tIns="65017" rIns="130032" bIns="65017" rtlCol="0" anchor="ctr"/>
          <a:lstStyle/>
          <a:p>
            <a:pPr algn="ctr"/>
            <a:r>
              <a:rPr lang="en-US" sz="2800" dirty="0" smtClean="0"/>
              <a:t>P2B</a:t>
            </a:r>
            <a:endParaRPr lang="en-US" sz="2800" dirty="0"/>
          </a:p>
        </p:txBody>
      </p:sp>
      <p:cxnSp>
        <p:nvCxnSpPr>
          <p:cNvPr id="53" name="Straight Connector 52"/>
          <p:cNvCxnSpPr/>
          <p:nvPr/>
        </p:nvCxnSpPr>
        <p:spPr bwMode="auto">
          <a:xfrm rot="5400000">
            <a:off x="3637222" y="7350687"/>
            <a:ext cx="4107125" cy="2257"/>
          </a:xfrm>
          <a:prstGeom prst="line">
            <a:avLst/>
          </a:prstGeom>
          <a:solidFill>
            <a:schemeClr val="accent1"/>
          </a:solidFill>
          <a:ln w="3175" cap="flat" cmpd="sng" algn="ctr">
            <a:solidFill>
              <a:schemeClr val="tx1"/>
            </a:solidFill>
            <a:prstDash val="solid"/>
            <a:round/>
            <a:headEnd type="none" w="med" len="med"/>
            <a:tailEnd type="none" w="med" len="med"/>
          </a:ln>
          <a:effectLst/>
        </p:spPr>
      </p:cxnSp>
      <p:sp>
        <p:nvSpPr>
          <p:cNvPr id="35" name="Slide Number Placeholder 1"/>
          <p:cNvSpPr txBox="1">
            <a:spLocks/>
          </p:cNvSpPr>
          <p:nvPr/>
        </p:nvSpPr>
        <p:spPr bwMode="auto">
          <a:xfrm>
            <a:off x="11254928" y="8837240"/>
            <a:ext cx="866987" cy="32512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defPPr>
              <a:defRPr lang="en-US"/>
            </a:defPPr>
            <a:lvl1pPr algn="l" rtl="0" fontAlgn="base">
              <a:spcBef>
                <a:spcPct val="0"/>
              </a:spcBef>
              <a:spcAft>
                <a:spcPct val="0"/>
              </a:spcAft>
              <a:defRPr sz="3600" b="1" kern="1200">
                <a:solidFill>
                  <a:srgbClr val="FFFFFF"/>
                </a:solidFill>
                <a:latin typeface="Lucida Grande" charset="0"/>
                <a:ea typeface="Lucida Grande" charset="0"/>
                <a:cs typeface="Lucida Grande" charset="0"/>
                <a:sym typeface="Lucida Grande" charset="0"/>
              </a:defRPr>
            </a:lvl1pPr>
            <a:lvl2pPr marL="4572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128"/>
                <a:cs typeface="ヒラギノ角ゴ ProN W3" charset="-128"/>
                <a:sym typeface="Gill Sans" charset="0"/>
              </a:defRPr>
            </a:lvl5pPr>
            <a:lvl6pPr marL="22860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6pPr>
            <a:lvl7pPr marL="27432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7pPr>
            <a:lvl8pPr marL="32004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8pPr>
            <a:lvl9pPr marL="3657600" algn="l" defTabSz="457200" rtl="0" eaLnBrk="1" latinLnBrk="0" hangingPunct="1">
              <a:defRPr sz="4200" kern="1200">
                <a:solidFill>
                  <a:srgbClr val="000000"/>
                </a:solidFill>
                <a:latin typeface="Gill Sans" charset="0"/>
                <a:ea typeface="ヒラギノ角ゴ ProN W3" charset="-128"/>
                <a:cs typeface="ヒラギノ角ゴ ProN W3" charset="-128"/>
                <a:sym typeface="Gill Sans" charset="0"/>
              </a:defRPr>
            </a:lvl9pPr>
          </a:lstStyle>
          <a:p>
            <a:pPr>
              <a:defRPr/>
            </a:pPr>
            <a:fld id="{3739104A-A2E6-2149-8A06-EB7F67BEA2AF}" type="slidenum">
              <a:rPr lang="en-GB" smtClean="0"/>
              <a:pPr>
                <a:defRPr/>
              </a:pPr>
              <a:t>16</a:t>
            </a:fld>
            <a:endParaRPr lang="en-GB" dirty="0"/>
          </a:p>
        </p:txBody>
      </p:sp>
    </p:spTree>
    <p:extLst>
      <p:ext uri="{BB962C8B-B14F-4D97-AF65-F5344CB8AC3E}">
        <p14:creationId xmlns:p14="http://schemas.microsoft.com/office/powerpoint/2010/main" val="1616820036"/>
      </p:ext>
    </p:extLst>
  </p:cSld>
  <p:clrMapOvr>
    <a:masterClrMapping/>
  </p:clrMapOvr>
  <p:transition xmlns:p14="http://schemas.microsoft.com/office/powerpoint/2010/main" spd="med"/>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982921" cy="9753600"/>
          </a:xfrm>
          <a:prstGeom prst="rect">
            <a:avLst/>
          </a:prstGeom>
        </p:spPr>
      </p:pic>
      <p:sp>
        <p:nvSpPr>
          <p:cNvPr id="3" name="Slide Number Placeholder 1"/>
          <p:cNvSpPr>
            <a:spLocks noGrp="1"/>
          </p:cNvSpPr>
          <p:nvPr>
            <p:ph type="sldNum" sz="quarter" idx="4294967295"/>
          </p:nvPr>
        </p:nvSpPr>
        <p:spPr>
          <a:xfrm>
            <a:off x="11612077" y="8872160"/>
            <a:ext cx="866987" cy="325120"/>
          </a:xfrm>
        </p:spPr>
        <p:txBody>
          <a:bodyPr/>
          <a:lstStyle/>
          <a:p>
            <a:pPr>
              <a:defRPr/>
            </a:pPr>
            <a:fld id="{3739104A-A2E6-2149-8A06-EB7F67BEA2AF}" type="slidenum">
              <a:rPr lang="en-GB" smtClean="0">
                <a:solidFill>
                  <a:srgbClr val="FF0000"/>
                </a:solidFill>
              </a:rPr>
              <a:pPr>
                <a:defRPr/>
              </a:pPr>
              <a:t>17</a:t>
            </a:fld>
            <a:endParaRPr lang="en-GB" dirty="0">
              <a:solidFill>
                <a:srgbClr val="FF0000"/>
              </a:solidFill>
            </a:endParaRPr>
          </a:p>
        </p:txBody>
      </p:sp>
    </p:spTree>
    <p:extLst>
      <p:ext uri="{BB962C8B-B14F-4D97-AF65-F5344CB8AC3E}">
        <p14:creationId xmlns:p14="http://schemas.microsoft.com/office/powerpoint/2010/main" val="3293852179"/>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p:cNvPicPr>
            <a:picLocks noChangeAspect="1"/>
          </p:cNvPicPr>
          <p:nvPr/>
        </p:nvPicPr>
        <p:blipFill>
          <a:blip r:embed="rId2"/>
          <a:stretch>
            <a:fillRect/>
          </a:stretch>
        </p:blipFill>
        <p:spPr>
          <a:xfrm>
            <a:off x="0" y="252871"/>
            <a:ext cx="13004800" cy="9224334"/>
          </a:xfrm>
          <a:prstGeom prst="rect">
            <a:avLst/>
          </a:prstGeom>
        </p:spPr>
      </p:pic>
      <p:pic>
        <p:nvPicPr>
          <p:cNvPr id="5" name="Picture 144" descr="logoinfn"/>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64513" y="91698"/>
            <a:ext cx="1840287" cy="1415927"/>
          </a:xfrm>
          <a:prstGeom prst="rect">
            <a:avLst/>
          </a:prstGeom>
          <a:solidFill>
            <a:schemeClr val="bg1"/>
          </a:solidFill>
          <a:ln>
            <a:noFill/>
          </a:ln>
          <a:extLst/>
        </p:spPr>
      </p:pic>
    </p:spTree>
    <p:extLst>
      <p:ext uri="{BB962C8B-B14F-4D97-AF65-F5344CB8AC3E}">
        <p14:creationId xmlns:p14="http://schemas.microsoft.com/office/powerpoint/2010/main" val="1829320076"/>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Content Placeholder 4"/>
          <p:cNvSpPr>
            <a:spLocks noGrp="1"/>
          </p:cNvSpPr>
          <p:nvPr>
            <p:ph idx="1"/>
          </p:nvPr>
        </p:nvSpPr>
        <p:spPr>
          <a:xfrm>
            <a:off x="557672" y="2056836"/>
            <a:ext cx="11812693" cy="8128000"/>
          </a:xfrm>
        </p:spPr>
        <p:txBody>
          <a:bodyPr/>
          <a:lstStyle/>
          <a:p>
            <a:pPr>
              <a:spcAft>
                <a:spcPts val="2401"/>
              </a:spcAft>
            </a:pPr>
            <a:r>
              <a:rPr lang="en-US" sz="3600" dirty="0">
                <a:solidFill>
                  <a:srgbClr val="0000E5"/>
                </a:solidFill>
                <a:latin typeface="Times New Roman" charset="0"/>
                <a:ea typeface="ＭＳ Ｐゴシック" charset="0"/>
                <a:cs typeface="ＭＳ Ｐゴシック" charset="0"/>
              </a:rPr>
              <a:t>Project plan for the </a:t>
            </a:r>
            <a:r>
              <a:rPr lang="en-US" sz="3600" dirty="0" err="1">
                <a:solidFill>
                  <a:srgbClr val="0000E5"/>
                </a:solidFill>
                <a:latin typeface="Times New Roman" charset="0"/>
                <a:ea typeface="ＭＳ Ｐゴシック" charset="0"/>
                <a:cs typeface="ＭＳ Ｐゴシック" charset="0"/>
              </a:rPr>
              <a:t>linac</a:t>
            </a:r>
            <a:r>
              <a:rPr lang="en-US" sz="3600" dirty="0">
                <a:solidFill>
                  <a:srgbClr val="0000E5"/>
                </a:solidFill>
                <a:latin typeface="Times New Roman" charset="0"/>
                <a:ea typeface="ＭＳ Ｐゴシック" charset="0"/>
                <a:cs typeface="ＭＳ Ｐゴシック" charset="0"/>
              </a:rPr>
              <a:t> design update and prototyping</a:t>
            </a:r>
          </a:p>
          <a:p>
            <a:pPr lvl="1">
              <a:spcAft>
                <a:spcPts val="2401"/>
              </a:spcAft>
              <a:buFont typeface="Arial" charset="0"/>
              <a:buChar char="•"/>
            </a:pPr>
            <a:r>
              <a:rPr lang="en-US" sz="3600" dirty="0">
                <a:solidFill>
                  <a:srgbClr val="FF0000"/>
                </a:solidFill>
                <a:latin typeface="Times New Roman" charset="0"/>
                <a:ea typeface="ＭＳ Ｐゴシック" charset="0"/>
              </a:rPr>
              <a:t>Design Report for the end of 2012, 20% precision in costing</a:t>
            </a:r>
          </a:p>
          <a:p>
            <a:pPr lvl="1">
              <a:spcAft>
                <a:spcPts val="2401"/>
              </a:spcAft>
              <a:buFont typeface="Arial" charset="0"/>
              <a:buChar char="•"/>
            </a:pPr>
            <a:r>
              <a:rPr lang="en-US" sz="3600" b="1" u="sng" dirty="0">
                <a:solidFill>
                  <a:srgbClr val="0000E5"/>
                </a:solidFill>
                <a:latin typeface="Times New Roman" charset="0"/>
                <a:ea typeface="ＭＳ Ｐゴシック" charset="0"/>
              </a:rPr>
              <a:t>Readiness to construct by the end of 2012</a:t>
            </a:r>
            <a:r>
              <a:rPr lang="en-US" sz="3600" dirty="0">
                <a:solidFill>
                  <a:srgbClr val="0000E5"/>
                </a:solidFill>
                <a:latin typeface="Times New Roman" charset="0"/>
                <a:ea typeface="ＭＳ Ｐゴシック" charset="0"/>
              </a:rPr>
              <a:t> -- the design will be a safe baseline design with technical choices made for which the writing of specifications, detailed drawings and completion of late prototypes could be launched without any further delay after 2012</a:t>
            </a:r>
          </a:p>
          <a:p>
            <a:pPr lvl="1">
              <a:spcAft>
                <a:spcPts val="2401"/>
              </a:spcAft>
              <a:buFont typeface="Arial" charset="0"/>
              <a:buChar char="•"/>
            </a:pPr>
            <a:r>
              <a:rPr lang="en-US" sz="3600" b="1" dirty="0">
                <a:solidFill>
                  <a:srgbClr val="FF0000"/>
                </a:solidFill>
                <a:latin typeface="Times New Roman" charset="0"/>
                <a:ea typeface="ＭＳ Ｐゴシック" charset="0"/>
              </a:rPr>
              <a:t>Energy budget and sustainability </a:t>
            </a:r>
            <a:r>
              <a:rPr lang="en-US" sz="3600" dirty="0">
                <a:solidFill>
                  <a:srgbClr val="0000E5"/>
                </a:solidFill>
                <a:latin typeface="Times New Roman" charset="0"/>
                <a:ea typeface="ＭＳ Ｐゴシック" charset="0"/>
              </a:rPr>
              <a:t>should be taken into account in each work package</a:t>
            </a:r>
          </a:p>
        </p:txBody>
      </p:sp>
      <p:sp>
        <p:nvSpPr>
          <p:cNvPr id="3"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19</a:t>
            </a:fld>
            <a:endParaRPr lang="en-US" dirty="0"/>
          </a:p>
        </p:txBody>
      </p:sp>
    </p:spTree>
    <p:extLst>
      <p:ext uri="{BB962C8B-B14F-4D97-AF65-F5344CB8AC3E}">
        <p14:creationId xmlns:p14="http://schemas.microsoft.com/office/powerpoint/2010/main" val="502147287"/>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3"/>
          <p:cNvSpPr txBox="1">
            <a:spLocks noChangeArrowheads="1"/>
          </p:cNvSpPr>
          <p:nvPr/>
        </p:nvSpPr>
        <p:spPr bwMode="auto">
          <a:xfrm>
            <a:off x="5664765" y="1412558"/>
            <a:ext cx="7466470" cy="1356924"/>
          </a:xfrm>
          <a:prstGeom prst="rect">
            <a:avLst/>
          </a:prstGeom>
          <a:solidFill>
            <a:srgbClr val="000080"/>
          </a:solidFill>
          <a:ln w="25400">
            <a:noFill/>
            <a:miter lim="800000"/>
            <a:headEnd/>
            <a:tailEnd/>
          </a:ln>
          <a:effectLst/>
        </p:spPr>
        <p:txBody>
          <a:bodyPr lIns="130039" tIns="65020" rIns="130039" bIns="65020">
            <a:spAutoFit/>
          </a:bodyPr>
          <a:lstStyle/>
          <a:p>
            <a:pPr algn="ctr">
              <a:spcBef>
                <a:spcPct val="50000"/>
              </a:spcBef>
              <a:defRPr/>
            </a:pPr>
            <a:r>
              <a:rPr lang="it-IT" sz="4000" i="1" dirty="0">
                <a:solidFill>
                  <a:srgbClr val="6699FF"/>
                </a:solidFill>
                <a:effectLst>
                  <a:outerShdw blurRad="38100" dist="38100" dir="2700000" algn="tl">
                    <a:srgbClr val="000000"/>
                  </a:outerShdw>
                </a:effectLst>
              </a:rPr>
              <a:t>TRASCO INTENSE PROTON SOURCE (TRIPS)</a:t>
            </a:r>
          </a:p>
        </p:txBody>
      </p:sp>
      <p:pic>
        <p:nvPicPr>
          <p:cNvPr id="38914" name="Picture 9" descr="P0002117"/>
          <p:cNvPicPr>
            <a:picLocks noChangeAspect="1" noChangeArrowheads="1"/>
          </p:cNvPicPr>
          <p:nvPr/>
        </p:nvPicPr>
        <p:blipFill>
          <a:blip r:embed="rId2">
            <a:extLst>
              <a:ext uri="{28A0092B-C50C-407E-A947-70E740481C1C}">
                <a14:useLocalDpi xmlns:a14="http://schemas.microsoft.com/office/drawing/2010/main" val="0"/>
              </a:ext>
            </a:extLst>
          </a:blip>
          <a:srcRect l="14081"/>
          <a:stretch>
            <a:fillRect/>
          </a:stretch>
        </p:blipFill>
        <p:spPr bwMode="auto">
          <a:xfrm>
            <a:off x="5664765" y="2157624"/>
            <a:ext cx="7423573" cy="5335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CasellaDiTesto 4"/>
          <p:cNvSpPr txBox="1">
            <a:spLocks noChangeArrowheads="1"/>
          </p:cNvSpPr>
          <p:nvPr/>
        </p:nvSpPr>
        <p:spPr bwMode="auto">
          <a:xfrm>
            <a:off x="153529" y="4923402"/>
            <a:ext cx="8733084" cy="36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0039" tIns="65020" rIns="130039" bIns="65020">
            <a:spAutoFit/>
          </a:bodyPr>
          <a:lstStyle>
            <a:lvl1pPr eaLnBrk="0" hangingPunct="0">
              <a:defRPr sz="2400">
                <a:solidFill>
                  <a:schemeClr val="tx1"/>
                </a:solidFill>
                <a:latin typeface="MS UI Gothic" charset="0"/>
                <a:ea typeface="ＭＳ Ｐゴシック" charset="0"/>
                <a:cs typeface="ＭＳ Ｐゴシック" charset="0"/>
              </a:defRPr>
            </a:lvl1pPr>
            <a:lvl2pPr marL="742950" indent="-285750" eaLnBrk="0" hangingPunct="0">
              <a:defRPr sz="2400">
                <a:solidFill>
                  <a:schemeClr val="tx1"/>
                </a:solidFill>
                <a:latin typeface="MS UI Gothic" charset="0"/>
                <a:ea typeface="ＭＳ Ｐゴシック" charset="0"/>
              </a:defRPr>
            </a:lvl2pPr>
            <a:lvl3pPr marL="1143000" indent="-228600" eaLnBrk="0" hangingPunct="0">
              <a:defRPr sz="2400">
                <a:solidFill>
                  <a:schemeClr val="tx1"/>
                </a:solidFill>
                <a:latin typeface="MS UI Gothic" charset="0"/>
                <a:ea typeface="ＭＳ Ｐゴシック" charset="0"/>
              </a:defRPr>
            </a:lvl3pPr>
            <a:lvl4pPr marL="1600200" indent="-228600" eaLnBrk="0" hangingPunct="0">
              <a:defRPr sz="2400">
                <a:solidFill>
                  <a:schemeClr val="tx1"/>
                </a:solidFill>
                <a:latin typeface="MS UI Gothic" charset="0"/>
                <a:ea typeface="ＭＳ Ｐゴシック" charset="0"/>
              </a:defRPr>
            </a:lvl4pPr>
            <a:lvl5pPr marL="2057400" indent="-228600" eaLnBrk="0" hangingPunct="0">
              <a:defRPr sz="2400">
                <a:solidFill>
                  <a:schemeClr val="tx1"/>
                </a:solidFill>
                <a:latin typeface="MS UI Gothic" charset="0"/>
                <a:ea typeface="ＭＳ Ｐゴシック" charset="0"/>
              </a:defRPr>
            </a:lvl5pPr>
            <a:lvl6pPr marL="2514600" indent="-228600" eaLnBrk="0" fontAlgn="base" hangingPunct="0">
              <a:spcBef>
                <a:spcPct val="0"/>
              </a:spcBef>
              <a:spcAft>
                <a:spcPct val="0"/>
              </a:spcAft>
              <a:defRPr sz="2400">
                <a:solidFill>
                  <a:schemeClr val="tx1"/>
                </a:solidFill>
                <a:latin typeface="MS UI Gothic" charset="0"/>
                <a:ea typeface="ＭＳ Ｐゴシック" charset="0"/>
              </a:defRPr>
            </a:lvl6pPr>
            <a:lvl7pPr marL="2971800" indent="-228600" eaLnBrk="0" fontAlgn="base" hangingPunct="0">
              <a:spcBef>
                <a:spcPct val="0"/>
              </a:spcBef>
              <a:spcAft>
                <a:spcPct val="0"/>
              </a:spcAft>
              <a:defRPr sz="2400">
                <a:solidFill>
                  <a:schemeClr val="tx1"/>
                </a:solidFill>
                <a:latin typeface="MS UI Gothic" charset="0"/>
                <a:ea typeface="ＭＳ Ｐゴシック" charset="0"/>
              </a:defRPr>
            </a:lvl7pPr>
            <a:lvl8pPr marL="3429000" indent="-228600" eaLnBrk="0" fontAlgn="base" hangingPunct="0">
              <a:spcBef>
                <a:spcPct val="0"/>
              </a:spcBef>
              <a:spcAft>
                <a:spcPct val="0"/>
              </a:spcAft>
              <a:defRPr sz="2400">
                <a:solidFill>
                  <a:schemeClr val="tx1"/>
                </a:solidFill>
                <a:latin typeface="MS UI Gothic" charset="0"/>
                <a:ea typeface="ＭＳ Ｐゴシック" charset="0"/>
              </a:defRPr>
            </a:lvl8pPr>
            <a:lvl9pPr marL="3886200" indent="-228600" eaLnBrk="0" fontAlgn="base" hangingPunct="0">
              <a:spcBef>
                <a:spcPct val="0"/>
              </a:spcBef>
              <a:spcAft>
                <a:spcPct val="0"/>
              </a:spcAft>
              <a:defRPr sz="2400">
                <a:solidFill>
                  <a:schemeClr val="tx1"/>
                </a:solidFill>
                <a:latin typeface="MS UI Gothic" charset="0"/>
                <a:ea typeface="ＭＳ Ｐゴシック" charset="0"/>
              </a:defRPr>
            </a:lvl9pPr>
          </a:lstStyle>
          <a:p>
            <a:pPr algn="l" eaLnBrk="1" hangingPunct="1">
              <a:spcAft>
                <a:spcPts val="604"/>
              </a:spcAft>
            </a:pPr>
            <a:r>
              <a:rPr lang="it-IT" b="1" i="1" dirty="0" err="1">
                <a:solidFill>
                  <a:srgbClr val="660066"/>
                </a:solidFill>
              </a:rPr>
              <a:t>Beam</a:t>
            </a:r>
            <a:r>
              <a:rPr lang="it-IT" b="1" i="1" dirty="0">
                <a:solidFill>
                  <a:srgbClr val="660066"/>
                </a:solidFill>
              </a:rPr>
              <a:t> </a:t>
            </a:r>
            <a:r>
              <a:rPr lang="it-IT" b="1" i="1" dirty="0" err="1">
                <a:solidFill>
                  <a:srgbClr val="660066"/>
                </a:solidFill>
              </a:rPr>
              <a:t>energy</a:t>
            </a:r>
            <a:r>
              <a:rPr lang="it-IT" b="1" i="1" dirty="0">
                <a:solidFill>
                  <a:srgbClr val="660066"/>
                </a:solidFill>
              </a:rPr>
              <a:t> 80 </a:t>
            </a:r>
            <a:r>
              <a:rPr lang="it-IT" b="1" i="1" dirty="0" err="1">
                <a:solidFill>
                  <a:srgbClr val="660066"/>
                </a:solidFill>
              </a:rPr>
              <a:t>keV</a:t>
            </a:r>
            <a:endParaRPr lang="it-IT" b="1" i="1" dirty="0">
              <a:solidFill>
                <a:srgbClr val="660066"/>
              </a:solidFill>
            </a:endParaRPr>
          </a:p>
          <a:p>
            <a:pPr algn="l" eaLnBrk="1" hangingPunct="1">
              <a:spcAft>
                <a:spcPts val="604"/>
              </a:spcAft>
            </a:pPr>
            <a:r>
              <a:rPr lang="it-IT" b="1" i="1" dirty="0" err="1">
                <a:solidFill>
                  <a:srgbClr val="660066"/>
                </a:solidFill>
              </a:rPr>
              <a:t>Current</a:t>
            </a:r>
            <a:r>
              <a:rPr lang="it-IT" b="1" i="1" dirty="0">
                <a:solidFill>
                  <a:srgbClr val="660066"/>
                </a:solidFill>
              </a:rPr>
              <a:t> up to 60 </a:t>
            </a:r>
            <a:r>
              <a:rPr lang="it-IT" b="1" i="1" dirty="0" err="1">
                <a:solidFill>
                  <a:srgbClr val="660066"/>
                </a:solidFill>
              </a:rPr>
              <a:t>mA</a:t>
            </a:r>
            <a:endParaRPr lang="it-IT" b="1" i="1" dirty="0">
              <a:solidFill>
                <a:srgbClr val="660066"/>
              </a:solidFill>
            </a:endParaRPr>
          </a:p>
          <a:p>
            <a:pPr algn="l" eaLnBrk="1" hangingPunct="1">
              <a:spcAft>
                <a:spcPts val="604"/>
              </a:spcAft>
            </a:pPr>
            <a:r>
              <a:rPr lang="it-IT" b="1" i="1" dirty="0">
                <a:solidFill>
                  <a:srgbClr val="660066"/>
                </a:solidFill>
              </a:rPr>
              <a:t>Proton </a:t>
            </a:r>
            <a:r>
              <a:rPr lang="it-IT" b="1" i="1" dirty="0" err="1">
                <a:solidFill>
                  <a:srgbClr val="660066"/>
                </a:solidFill>
              </a:rPr>
              <a:t>fraction</a:t>
            </a:r>
            <a:r>
              <a:rPr lang="it-IT" b="1" i="1" dirty="0">
                <a:solidFill>
                  <a:srgbClr val="660066"/>
                </a:solidFill>
              </a:rPr>
              <a:t> &gt; 80%</a:t>
            </a:r>
          </a:p>
          <a:p>
            <a:pPr algn="l" eaLnBrk="1" hangingPunct="1">
              <a:spcAft>
                <a:spcPts val="604"/>
              </a:spcAft>
            </a:pPr>
            <a:r>
              <a:rPr lang="it-IT" b="1" i="1" dirty="0">
                <a:solidFill>
                  <a:srgbClr val="660066"/>
                </a:solidFill>
              </a:rPr>
              <a:t>RF </a:t>
            </a:r>
            <a:r>
              <a:rPr lang="it-IT" b="1" i="1" dirty="0" err="1">
                <a:solidFill>
                  <a:srgbClr val="660066"/>
                </a:solidFill>
              </a:rPr>
              <a:t>power</a:t>
            </a:r>
            <a:r>
              <a:rPr lang="it-IT" b="1" i="1" dirty="0">
                <a:solidFill>
                  <a:srgbClr val="660066"/>
                </a:solidFill>
              </a:rPr>
              <a:t> &lt; 1 kW @ 2.45 GHz</a:t>
            </a:r>
          </a:p>
          <a:p>
            <a:pPr algn="l" eaLnBrk="1" hangingPunct="1">
              <a:spcAft>
                <a:spcPts val="604"/>
              </a:spcAft>
            </a:pPr>
            <a:r>
              <a:rPr lang="it-IT" b="1" i="1" dirty="0">
                <a:solidFill>
                  <a:srgbClr val="660066"/>
                </a:solidFill>
              </a:rPr>
              <a:t>CW mode</a:t>
            </a:r>
          </a:p>
          <a:p>
            <a:pPr algn="l" eaLnBrk="1" hangingPunct="1">
              <a:spcAft>
                <a:spcPts val="604"/>
              </a:spcAft>
            </a:pPr>
            <a:r>
              <a:rPr lang="it-IT" b="1" i="1" dirty="0">
                <a:solidFill>
                  <a:srgbClr val="660066"/>
                </a:solidFill>
              </a:rPr>
              <a:t>Reliability 99.8% over 142 h (35 </a:t>
            </a:r>
            <a:r>
              <a:rPr lang="it-IT" b="1" i="1" dirty="0" err="1">
                <a:solidFill>
                  <a:srgbClr val="660066"/>
                </a:solidFill>
              </a:rPr>
              <a:t>mA</a:t>
            </a:r>
            <a:r>
              <a:rPr lang="it-IT" b="1" i="1" dirty="0">
                <a:solidFill>
                  <a:srgbClr val="660066"/>
                </a:solidFill>
              </a:rPr>
              <a:t>)</a:t>
            </a:r>
          </a:p>
          <a:p>
            <a:pPr algn="l" eaLnBrk="1" hangingPunct="1">
              <a:spcAft>
                <a:spcPts val="604"/>
              </a:spcAft>
            </a:pPr>
            <a:r>
              <a:rPr lang="it-IT" b="1" i="1" dirty="0" err="1">
                <a:solidFill>
                  <a:srgbClr val="660066"/>
                </a:solidFill>
              </a:rPr>
              <a:t>Emittance</a:t>
            </a:r>
            <a:r>
              <a:rPr lang="it-IT" b="1" i="1" dirty="0">
                <a:solidFill>
                  <a:srgbClr val="660066"/>
                </a:solidFill>
              </a:rPr>
              <a:t> 0.07 π mm </a:t>
            </a:r>
            <a:r>
              <a:rPr lang="it-IT" b="1" i="1" dirty="0" err="1">
                <a:solidFill>
                  <a:srgbClr val="660066"/>
                </a:solidFill>
              </a:rPr>
              <a:t>mrad</a:t>
            </a:r>
            <a:r>
              <a:rPr lang="it-IT" b="1" i="1" dirty="0">
                <a:solidFill>
                  <a:srgbClr val="660066"/>
                </a:solidFill>
              </a:rPr>
              <a:t> (32 </a:t>
            </a:r>
            <a:r>
              <a:rPr lang="it-IT" b="1" i="1" dirty="0" err="1">
                <a:solidFill>
                  <a:srgbClr val="660066"/>
                </a:solidFill>
              </a:rPr>
              <a:t>mA</a:t>
            </a:r>
            <a:r>
              <a:rPr lang="it-IT" b="1" i="1" dirty="0">
                <a:solidFill>
                  <a:srgbClr val="660066"/>
                </a:solidFill>
              </a:rPr>
              <a:t>), 0.15 to 0.25 </a:t>
            </a:r>
            <a:r>
              <a:rPr lang="it-IT" b="1" i="1" dirty="0" err="1">
                <a:solidFill>
                  <a:srgbClr val="660066"/>
                </a:solidFill>
              </a:rPr>
              <a:t>at</a:t>
            </a:r>
            <a:r>
              <a:rPr lang="it-IT" b="1" i="1" dirty="0">
                <a:solidFill>
                  <a:srgbClr val="660066"/>
                </a:solidFill>
              </a:rPr>
              <a:t> </a:t>
            </a:r>
            <a:r>
              <a:rPr lang="it-IT" b="1" i="1" dirty="0" err="1">
                <a:solidFill>
                  <a:srgbClr val="660066"/>
                </a:solidFill>
              </a:rPr>
              <a:t>max</a:t>
            </a:r>
            <a:r>
              <a:rPr lang="it-IT" b="1" i="1" dirty="0">
                <a:solidFill>
                  <a:srgbClr val="660066"/>
                </a:solidFill>
              </a:rPr>
              <a:t> </a:t>
            </a:r>
            <a:r>
              <a:rPr lang="it-IT" b="1" i="1" dirty="0" err="1">
                <a:solidFill>
                  <a:srgbClr val="660066"/>
                </a:solidFill>
              </a:rPr>
              <a:t>current</a:t>
            </a:r>
            <a:endParaRPr lang="it-IT" b="1" i="1" dirty="0">
              <a:solidFill>
                <a:srgbClr val="660066"/>
              </a:solidFill>
            </a:endParaRPr>
          </a:p>
          <a:p>
            <a:pPr algn="l" eaLnBrk="1" hangingPunct="1">
              <a:spcAft>
                <a:spcPts val="604"/>
              </a:spcAft>
            </a:pPr>
            <a:endParaRPr lang="it-IT" b="1" i="1" dirty="0">
              <a:solidFill>
                <a:srgbClr val="660066"/>
              </a:solidFill>
            </a:endParaRPr>
          </a:p>
        </p:txBody>
      </p:sp>
      <p:sp>
        <p:nvSpPr>
          <p:cNvPr id="38916" name="CasellaDiTesto 5"/>
          <p:cNvSpPr txBox="1">
            <a:spLocks noChangeArrowheads="1"/>
          </p:cNvSpPr>
          <p:nvPr/>
        </p:nvSpPr>
        <p:spPr bwMode="auto">
          <a:xfrm>
            <a:off x="165696" y="1132384"/>
            <a:ext cx="5332871" cy="3594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eaLnBrk="0" hangingPunct="0">
              <a:defRPr sz="2400">
                <a:solidFill>
                  <a:schemeClr val="tx1"/>
                </a:solidFill>
                <a:latin typeface="MS UI Gothic" charset="0"/>
                <a:ea typeface="ＭＳ Ｐゴシック" charset="0"/>
                <a:cs typeface="ＭＳ Ｐゴシック" charset="0"/>
              </a:defRPr>
            </a:lvl1pPr>
            <a:lvl2pPr marL="742950" indent="-285750" eaLnBrk="0" hangingPunct="0">
              <a:defRPr sz="2400">
                <a:solidFill>
                  <a:schemeClr val="tx1"/>
                </a:solidFill>
                <a:latin typeface="MS UI Gothic" charset="0"/>
                <a:ea typeface="ＭＳ Ｐゴシック" charset="0"/>
              </a:defRPr>
            </a:lvl2pPr>
            <a:lvl3pPr marL="1143000" indent="-228600" eaLnBrk="0" hangingPunct="0">
              <a:defRPr sz="2400">
                <a:solidFill>
                  <a:schemeClr val="tx1"/>
                </a:solidFill>
                <a:latin typeface="MS UI Gothic" charset="0"/>
                <a:ea typeface="ＭＳ Ｐゴシック" charset="0"/>
              </a:defRPr>
            </a:lvl3pPr>
            <a:lvl4pPr marL="1600200" indent="-228600" eaLnBrk="0" hangingPunct="0">
              <a:defRPr sz="2400">
                <a:solidFill>
                  <a:schemeClr val="tx1"/>
                </a:solidFill>
                <a:latin typeface="MS UI Gothic" charset="0"/>
                <a:ea typeface="ＭＳ Ｐゴシック" charset="0"/>
              </a:defRPr>
            </a:lvl4pPr>
            <a:lvl5pPr marL="2057400" indent="-228600" eaLnBrk="0" hangingPunct="0">
              <a:defRPr sz="2400">
                <a:solidFill>
                  <a:schemeClr val="tx1"/>
                </a:solidFill>
                <a:latin typeface="MS UI Gothic" charset="0"/>
                <a:ea typeface="ＭＳ Ｐゴシック" charset="0"/>
              </a:defRPr>
            </a:lvl5pPr>
            <a:lvl6pPr marL="2514600" indent="-228600" eaLnBrk="0" fontAlgn="base" hangingPunct="0">
              <a:spcBef>
                <a:spcPct val="0"/>
              </a:spcBef>
              <a:spcAft>
                <a:spcPct val="0"/>
              </a:spcAft>
              <a:defRPr sz="2400">
                <a:solidFill>
                  <a:schemeClr val="tx1"/>
                </a:solidFill>
                <a:latin typeface="MS UI Gothic" charset="0"/>
                <a:ea typeface="ＭＳ Ｐゴシック" charset="0"/>
              </a:defRPr>
            </a:lvl6pPr>
            <a:lvl7pPr marL="2971800" indent="-228600" eaLnBrk="0" fontAlgn="base" hangingPunct="0">
              <a:spcBef>
                <a:spcPct val="0"/>
              </a:spcBef>
              <a:spcAft>
                <a:spcPct val="0"/>
              </a:spcAft>
              <a:defRPr sz="2400">
                <a:solidFill>
                  <a:schemeClr val="tx1"/>
                </a:solidFill>
                <a:latin typeface="MS UI Gothic" charset="0"/>
                <a:ea typeface="ＭＳ Ｐゴシック" charset="0"/>
              </a:defRPr>
            </a:lvl7pPr>
            <a:lvl8pPr marL="3429000" indent="-228600" eaLnBrk="0" fontAlgn="base" hangingPunct="0">
              <a:spcBef>
                <a:spcPct val="0"/>
              </a:spcBef>
              <a:spcAft>
                <a:spcPct val="0"/>
              </a:spcAft>
              <a:defRPr sz="2400">
                <a:solidFill>
                  <a:schemeClr val="tx1"/>
                </a:solidFill>
                <a:latin typeface="MS UI Gothic" charset="0"/>
                <a:ea typeface="ＭＳ Ｐゴシック" charset="0"/>
              </a:defRPr>
            </a:lvl8pPr>
            <a:lvl9pPr marL="3886200" indent="-228600" eaLnBrk="0" fontAlgn="base" hangingPunct="0">
              <a:spcBef>
                <a:spcPct val="0"/>
              </a:spcBef>
              <a:spcAft>
                <a:spcPct val="0"/>
              </a:spcAft>
              <a:defRPr sz="2400">
                <a:solidFill>
                  <a:schemeClr val="tx1"/>
                </a:solidFill>
                <a:latin typeface="MS UI Gothic" charset="0"/>
                <a:ea typeface="ＭＳ Ｐゴシック" charset="0"/>
              </a:defRPr>
            </a:lvl9pPr>
          </a:lstStyle>
          <a:p>
            <a:pPr algn="l" eaLnBrk="1" hangingPunct="1"/>
            <a:r>
              <a:rPr lang="en-GB" sz="2800" dirty="0"/>
              <a:t>The high current proton source will be based on the know-how acquired during the design phase and the construction phase and commissioning of the sources named TRIPS and VIS at INFN-LNS and of the SILHI source at CEA-</a:t>
            </a:r>
            <a:r>
              <a:rPr lang="en-GB" sz="2800" dirty="0" err="1"/>
              <a:t>Saclay</a:t>
            </a:r>
            <a:r>
              <a:rPr lang="en-GB" sz="2800" dirty="0"/>
              <a:t>.</a:t>
            </a:r>
            <a:endParaRPr lang="it-IT" sz="2800" dirty="0"/>
          </a:p>
        </p:txBody>
      </p:sp>
      <p:sp>
        <p:nvSpPr>
          <p:cNvPr id="38917" name="Rettangolo 6"/>
          <p:cNvSpPr>
            <a:spLocks noChangeArrowheads="1"/>
          </p:cNvSpPr>
          <p:nvPr/>
        </p:nvSpPr>
        <p:spPr bwMode="auto">
          <a:xfrm>
            <a:off x="165696" y="8330388"/>
            <a:ext cx="12839104" cy="13849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35" tIns="45718" rIns="91435" bIns="45718">
            <a:spAutoFit/>
          </a:bodyPr>
          <a:lstStyle/>
          <a:p>
            <a:r>
              <a:rPr lang="en-GB" sz="4400" dirty="0"/>
              <a:t>Test benches available at INFN-LNS and at CEA-IRFU</a:t>
            </a:r>
          </a:p>
          <a:p>
            <a:endParaRPr lang="it-IT" sz="4000" dirty="0"/>
          </a:p>
        </p:txBody>
      </p:sp>
      <p:sp>
        <p:nvSpPr>
          <p:cNvPr id="7" name="Text Box 5"/>
          <p:cNvSpPr txBox="1">
            <a:spLocks noGrp="1" noChangeArrowheads="1"/>
          </p:cNvSpPr>
          <p:nvPr>
            <p:ph type="sldNum" sz="quarter" idx="4294967295"/>
          </p:nvPr>
        </p:nvSpPr>
        <p:spPr bwMode="auto">
          <a:xfrm>
            <a:off x="11863114" y="9053264"/>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solidFill>
                  <a:srgbClr val="FF0000"/>
                </a:solidFill>
              </a:rPr>
              <a:pPr/>
              <a:t>20</a:t>
            </a:fld>
            <a:endParaRPr lang="en-US" dirty="0">
              <a:solidFill>
                <a:srgbClr val="FF0000"/>
              </a:solidFill>
            </a:endParaRPr>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ggetto 14"/>
          <p:cNvGraphicFramePr>
            <a:graphicFrameLocks noChangeAspect="1"/>
          </p:cNvGraphicFramePr>
          <p:nvPr>
            <p:extLst>
              <p:ext uri="{D42A27DB-BD31-4B8C-83A1-F6EECF244321}">
                <p14:modId xmlns:p14="http://schemas.microsoft.com/office/powerpoint/2010/main" val="4273243789"/>
              </p:ext>
            </p:extLst>
          </p:nvPr>
        </p:nvGraphicFramePr>
        <p:xfrm>
          <a:off x="4126136" y="5956920"/>
          <a:ext cx="9976027" cy="2376264"/>
        </p:xfrm>
        <a:graphic>
          <a:graphicData uri="http://schemas.openxmlformats.org/presentationml/2006/ole">
            <mc:AlternateContent xmlns:mc="http://schemas.openxmlformats.org/markup-compatibility/2006">
              <mc:Choice xmlns:v="urn:schemas-microsoft-com:vml" Requires="v">
                <p:oleObj spid="_x0000_s35885" name="Documento" r:id="rId4" imgW="5918200" imgH="1409700" progId="Word.Document.12">
                  <p:embed/>
                </p:oleObj>
              </mc:Choice>
              <mc:Fallback>
                <p:oleObj name="Documento" r:id="rId4" imgW="5918200" imgH="1409700" progId="Word.Document.12">
                  <p:embed/>
                  <p:pic>
                    <p:nvPicPr>
                      <p:cNvPr id="0" name=""/>
                      <p:cNvPicPr/>
                      <p:nvPr/>
                    </p:nvPicPr>
                    <p:blipFill>
                      <a:blip r:embed="rId5"/>
                      <a:stretch>
                        <a:fillRect/>
                      </a:stretch>
                    </p:blipFill>
                    <p:spPr>
                      <a:xfrm>
                        <a:off x="4126136" y="5956920"/>
                        <a:ext cx="9976027" cy="2376264"/>
                      </a:xfrm>
                      <a:prstGeom prst="rect">
                        <a:avLst/>
                      </a:prstGeom>
                    </p:spPr>
                  </p:pic>
                </p:oleObj>
              </mc:Fallback>
            </mc:AlternateContent>
          </a:graphicData>
        </a:graphic>
      </p:graphicFrame>
      <p:sp>
        <p:nvSpPr>
          <p:cNvPr id="2" name="Titolo 1"/>
          <p:cNvSpPr>
            <a:spLocks noGrp="1"/>
          </p:cNvSpPr>
          <p:nvPr>
            <p:ph type="title"/>
          </p:nvPr>
        </p:nvSpPr>
        <p:spPr>
          <a:xfrm>
            <a:off x="1749872" y="340296"/>
            <a:ext cx="9505056" cy="789608"/>
          </a:xfrm>
        </p:spPr>
        <p:txBody>
          <a:bodyPr/>
          <a:lstStyle/>
          <a:p>
            <a:pPr lvl="0" algn="ctr"/>
            <a:r>
              <a:rPr lang="it-IT" b="1" dirty="0" smtClean="0"/>
              <a:t>Proton source &amp; </a:t>
            </a:r>
            <a:r>
              <a:rPr lang="it-IT" b="1" dirty="0" err="1" smtClean="0"/>
              <a:t>Tests</a:t>
            </a:r>
            <a:endParaRPr lang="it-IT" dirty="0"/>
          </a:p>
        </p:txBody>
      </p:sp>
      <p:sp>
        <p:nvSpPr>
          <p:cNvPr id="3" name="Segnaposto numero diapositiva 2"/>
          <p:cNvSpPr>
            <a:spLocks noGrp="1"/>
          </p:cNvSpPr>
          <p:nvPr>
            <p:ph type="sldNum" sz="quarter" idx="10"/>
          </p:nvPr>
        </p:nvSpPr>
        <p:spPr/>
        <p:txBody>
          <a:bodyPr/>
          <a:lstStyle/>
          <a:p>
            <a:fld id="{6961CAF6-8E47-6D49-995C-96475C1873D5}" type="slidenum">
              <a:rPr lang="en-US" smtClean="0"/>
              <a:pPr/>
              <a:t>21</a:t>
            </a:fld>
            <a:endParaRPr lang="en-US"/>
          </a:p>
        </p:txBody>
      </p:sp>
      <p:pic>
        <p:nvPicPr>
          <p:cNvPr id="8" name="Immagine 7"/>
          <p:cNvPicPr/>
          <p:nvPr/>
        </p:nvPicPr>
        <p:blipFill>
          <a:blip r:embed="rId6"/>
          <a:srcRect/>
          <a:stretch>
            <a:fillRect/>
          </a:stretch>
        </p:blipFill>
        <p:spPr bwMode="auto">
          <a:xfrm>
            <a:off x="0" y="2227064"/>
            <a:ext cx="4288790" cy="3225800"/>
          </a:xfrm>
          <a:prstGeom prst="rect">
            <a:avLst/>
          </a:prstGeom>
          <a:noFill/>
          <a:ln w="9525">
            <a:noFill/>
            <a:miter lim="800000"/>
            <a:headEnd/>
            <a:tailEnd/>
          </a:ln>
        </p:spPr>
      </p:pic>
      <p:pic>
        <p:nvPicPr>
          <p:cNvPr id="9" name="Immagine 8"/>
          <p:cNvPicPr/>
          <p:nvPr/>
        </p:nvPicPr>
        <p:blipFill>
          <a:blip r:embed="rId7" cstate="print"/>
          <a:srcRect/>
          <a:stretch>
            <a:fillRect/>
          </a:stretch>
        </p:blipFill>
        <p:spPr bwMode="auto">
          <a:xfrm>
            <a:off x="7222480" y="1924472"/>
            <a:ext cx="4536504" cy="3816424"/>
          </a:xfrm>
          <a:prstGeom prst="rect">
            <a:avLst/>
          </a:prstGeom>
          <a:noFill/>
        </p:spPr>
      </p:pic>
      <p:sp>
        <p:nvSpPr>
          <p:cNvPr id="5" name="CasellaDiTesto 4"/>
          <p:cNvSpPr txBox="1"/>
          <p:nvPr/>
        </p:nvSpPr>
        <p:spPr>
          <a:xfrm>
            <a:off x="4997047" y="1276400"/>
            <a:ext cx="1625515" cy="3539431"/>
          </a:xfrm>
          <a:prstGeom prst="rect">
            <a:avLst/>
          </a:prstGeom>
          <a:noFill/>
        </p:spPr>
        <p:txBody>
          <a:bodyPr wrap="none" rtlCol="0">
            <a:spAutoFit/>
          </a:bodyPr>
          <a:lstStyle/>
          <a:p>
            <a:endParaRPr lang="it-IT" sz="2800" b="1" u="sng" dirty="0">
              <a:solidFill>
                <a:srgbClr val="FF0000"/>
              </a:solidFill>
            </a:endParaRPr>
          </a:p>
          <a:p>
            <a:endParaRPr lang="it-IT" sz="2800" b="1" u="sng" dirty="0" smtClean="0">
              <a:solidFill>
                <a:srgbClr val="FF0000"/>
              </a:solidFill>
            </a:endParaRPr>
          </a:p>
          <a:p>
            <a:r>
              <a:rPr lang="it-IT" sz="2800" b="1" dirty="0" smtClean="0">
                <a:solidFill>
                  <a:srgbClr val="FF0000"/>
                </a:solidFill>
              </a:rPr>
              <a:t>SILHI </a:t>
            </a:r>
          </a:p>
          <a:p>
            <a:endParaRPr lang="it-IT" sz="2800" b="1" u="sng" dirty="0" smtClean="0">
              <a:solidFill>
                <a:srgbClr val="FF0000"/>
              </a:solidFill>
            </a:endParaRPr>
          </a:p>
          <a:p>
            <a:r>
              <a:rPr lang="it-IT" sz="2800" b="1" dirty="0" smtClean="0">
                <a:solidFill>
                  <a:srgbClr val="FF0000"/>
                </a:solidFill>
              </a:rPr>
              <a:t>90mA </a:t>
            </a:r>
            <a:endParaRPr lang="it-IT" sz="2800" b="1" dirty="0">
              <a:solidFill>
                <a:srgbClr val="FF0000"/>
              </a:solidFill>
              <a:latin typeface="Symbol" charset="2"/>
              <a:cs typeface="Symbol" charset="2"/>
            </a:endParaRPr>
          </a:p>
          <a:p>
            <a:endParaRPr lang="it-IT" sz="2800" b="1" dirty="0" smtClean="0">
              <a:solidFill>
                <a:srgbClr val="FF0000"/>
              </a:solidFill>
              <a:latin typeface="Symbol" charset="2"/>
              <a:cs typeface="Symbol" charset="2"/>
            </a:endParaRPr>
          </a:p>
          <a:p>
            <a:r>
              <a:rPr lang="it-IT" sz="2800" b="1" dirty="0" smtClean="0">
                <a:solidFill>
                  <a:srgbClr val="FF0000"/>
                </a:solidFill>
                <a:latin typeface="Symbol" charset="2"/>
                <a:cs typeface="Symbol" charset="2"/>
              </a:rPr>
              <a:t> </a:t>
            </a:r>
            <a:r>
              <a:rPr lang="it-IT" sz="2800" b="1" dirty="0" err="1">
                <a:solidFill>
                  <a:srgbClr val="FF0000"/>
                </a:solidFill>
                <a:latin typeface="Symbol" charset="2"/>
                <a:cs typeface="Symbol" charset="2"/>
              </a:rPr>
              <a:t>f</a:t>
            </a:r>
            <a:r>
              <a:rPr lang="it-IT" sz="2800" b="1" dirty="0" smtClean="0">
                <a:solidFill>
                  <a:srgbClr val="FF0000"/>
                </a:solidFill>
              </a:rPr>
              <a:t>=9mm</a:t>
            </a:r>
            <a:endParaRPr lang="it-IT" sz="2800" b="1" dirty="0">
              <a:solidFill>
                <a:srgbClr val="FF0000"/>
              </a:solidFill>
            </a:endParaRPr>
          </a:p>
          <a:p>
            <a:endParaRPr lang="it-IT" sz="2800" b="1" u="sng" dirty="0">
              <a:solidFill>
                <a:srgbClr val="FF0000"/>
              </a:solidFill>
            </a:endParaRPr>
          </a:p>
        </p:txBody>
      </p:sp>
      <p:sp>
        <p:nvSpPr>
          <p:cNvPr id="4" name="Ovale 3"/>
          <p:cNvSpPr/>
          <p:nvPr/>
        </p:nvSpPr>
        <p:spPr bwMode="auto">
          <a:xfrm>
            <a:off x="8158584" y="6532984"/>
            <a:ext cx="864096" cy="864096"/>
          </a:xfrm>
          <a:prstGeom prst="ellipse">
            <a:avLst/>
          </a:prstGeom>
          <a:gradFill flip="none" rotWithShape="1">
            <a:gsLst>
              <a:gs pos="0">
                <a:schemeClr val="accent1">
                  <a:tint val="50000"/>
                  <a:satMod val="300000"/>
                  <a:alpha val="22000"/>
                </a:schemeClr>
              </a:gs>
              <a:gs pos="35000">
                <a:schemeClr val="accent1">
                  <a:tint val="37000"/>
                  <a:satMod val="300000"/>
                  <a:alpha val="22000"/>
                </a:schemeClr>
              </a:gs>
              <a:gs pos="100000">
                <a:schemeClr val="accent1">
                  <a:tint val="15000"/>
                  <a:satMod val="350000"/>
                  <a:alpha val="22000"/>
                </a:schemeClr>
              </a:gs>
            </a:gsLst>
            <a:lin ang="16200000" scaled="1"/>
            <a:tileRect/>
          </a:gradFill>
          <a:ln>
            <a:headEnd type="none" w="med" len="med"/>
            <a:tailEnd type="none" w="med" len="me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vert="horz" wrap="squar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it-IT" sz="1200" b="0" i="0" u="none" strike="noStrike" cap="none" normalizeH="0" baseline="0" dirty="0" smtClean="0">
              <a:ln>
                <a:noFill/>
              </a:ln>
              <a:solidFill>
                <a:srgbClr val="000000">
                  <a:alpha val="50000"/>
                </a:srgbClr>
              </a:solidFill>
              <a:effectLst/>
              <a:latin typeface="Arial" pitchFamily="34" charset="0"/>
              <a:ea typeface="ヒラギノ角ゴ ProN W3" charset="-128"/>
              <a:cs typeface="Arial" pitchFamily="34" charset="0"/>
              <a:sym typeface="Gill Sans" charset="0"/>
            </a:endParaRPr>
          </a:p>
        </p:txBody>
      </p:sp>
      <p:grpSp>
        <p:nvGrpSpPr>
          <p:cNvPr id="10" name="Gruppo 9"/>
          <p:cNvGrpSpPr/>
          <p:nvPr/>
        </p:nvGrpSpPr>
        <p:grpSpPr>
          <a:xfrm>
            <a:off x="-493216" y="6100540"/>
            <a:ext cx="6131520" cy="3672804"/>
            <a:chOff x="-493216" y="1398713"/>
            <a:chExt cx="8651800" cy="5278684"/>
          </a:xfrm>
        </p:grpSpPr>
        <p:pic>
          <p:nvPicPr>
            <p:cNvPr id="12" name="Immagine 3" descr="DSC04052.JP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329636" y="1398713"/>
              <a:ext cx="7039751" cy="5278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ttangolo 12"/>
            <p:cNvSpPr/>
            <p:nvPr/>
          </p:nvSpPr>
          <p:spPr>
            <a:xfrm>
              <a:off x="-493216" y="5806513"/>
              <a:ext cx="8651800" cy="751990"/>
            </a:xfrm>
            <a:prstGeom prst="rect">
              <a:avLst/>
            </a:prstGeom>
          </p:spPr>
          <p:txBody>
            <a:bodyPr wrap="square">
              <a:spAutoFit/>
            </a:bodyPr>
            <a:lstStyle/>
            <a:p>
              <a:r>
                <a:rPr lang="it-IT" sz="2800" b="1" dirty="0">
                  <a:solidFill>
                    <a:srgbClr val="FFFFFF"/>
                  </a:solidFill>
                </a:rPr>
                <a:t>VIS-Versatile </a:t>
              </a:r>
              <a:r>
                <a:rPr lang="it-IT" sz="2800" b="1" dirty="0" err="1">
                  <a:solidFill>
                    <a:srgbClr val="FFFFFF"/>
                  </a:solidFill>
                </a:rPr>
                <a:t>Ion</a:t>
              </a:r>
              <a:r>
                <a:rPr lang="it-IT" sz="2800" b="1" dirty="0">
                  <a:solidFill>
                    <a:srgbClr val="FFFFFF"/>
                  </a:solidFill>
                </a:rPr>
                <a:t> </a:t>
              </a:r>
              <a:r>
                <a:rPr lang="it-IT" sz="2800" b="1" dirty="0" smtClean="0">
                  <a:solidFill>
                    <a:srgbClr val="FFFFFF"/>
                  </a:solidFill>
                </a:rPr>
                <a:t>Source</a:t>
              </a:r>
              <a:endParaRPr lang="it-IT" sz="2800" dirty="0">
                <a:solidFill>
                  <a:srgbClr val="FFFFFF"/>
                </a:solidFill>
              </a:endParaRPr>
            </a:p>
          </p:txBody>
        </p:sp>
      </p:grpSp>
    </p:spTree>
    <p:extLst>
      <p:ext uri="{BB962C8B-B14F-4D97-AF65-F5344CB8AC3E}">
        <p14:creationId xmlns:p14="http://schemas.microsoft.com/office/powerpoint/2010/main" val="3473283015"/>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olo 7"/>
          <p:cNvSpPr>
            <a:spLocks noGrp="1"/>
          </p:cNvSpPr>
          <p:nvPr>
            <p:ph type="ctrTitle"/>
          </p:nvPr>
        </p:nvSpPr>
        <p:spPr>
          <a:xfrm>
            <a:off x="2957562" y="52265"/>
            <a:ext cx="10385598" cy="1008112"/>
          </a:xfrm>
        </p:spPr>
        <p:txBody>
          <a:bodyPr/>
          <a:lstStyle/>
          <a:p>
            <a:pPr lvl="0" algn="l"/>
            <a:r>
              <a:rPr lang="en-US" sz="4400" dirty="0" smtClean="0">
                <a:solidFill>
                  <a:srgbClr val="FF0000"/>
                </a:solidFill>
              </a:rPr>
              <a:t>WU2 – Proton source &amp; LEBT</a:t>
            </a:r>
            <a:endParaRPr lang="it-IT" sz="4400" dirty="0">
              <a:solidFill>
                <a:srgbClr val="FF0000"/>
              </a:solidFill>
            </a:endParaRPr>
          </a:p>
        </p:txBody>
      </p:sp>
      <p:sp>
        <p:nvSpPr>
          <p:cNvPr id="7" name="Segnaposto numero diapositiva 2"/>
          <p:cNvSpPr>
            <a:spLocks noGrp="1"/>
          </p:cNvSpPr>
          <p:nvPr>
            <p:ph type="sldNum" sz="quarter" idx="10"/>
          </p:nvPr>
        </p:nvSpPr>
        <p:spPr>
          <a:xfrm>
            <a:off x="11682413" y="9053264"/>
            <a:ext cx="615950" cy="546100"/>
          </a:xfrm>
        </p:spPr>
        <p:txBody>
          <a:bodyPr/>
          <a:lstStyle/>
          <a:p>
            <a:fld id="{6961CAF6-8E47-6D49-995C-96475C1873D5}" type="slidenum">
              <a:rPr lang="en-US" smtClean="0"/>
              <a:pPr/>
              <a:t>22</a:t>
            </a:fld>
            <a:endParaRPr lang="en-US" dirty="0"/>
          </a:p>
        </p:txBody>
      </p:sp>
      <p:pic>
        <p:nvPicPr>
          <p:cNvPr id="10" name="Immagine 9" descr="Layout Ess_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469" y="1564432"/>
            <a:ext cx="11312515" cy="7992888"/>
          </a:xfrm>
          <a:prstGeom prst="rect">
            <a:avLst/>
          </a:prstGeom>
        </p:spPr>
      </p:pic>
    </p:spTree>
    <p:extLst>
      <p:ext uri="{BB962C8B-B14F-4D97-AF65-F5344CB8AC3E}">
        <p14:creationId xmlns:p14="http://schemas.microsoft.com/office/powerpoint/2010/main" val="3122988635"/>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p:cNvSpPr txBox="1"/>
          <p:nvPr/>
        </p:nvSpPr>
        <p:spPr>
          <a:xfrm>
            <a:off x="4630192" y="340296"/>
            <a:ext cx="4198866" cy="1054646"/>
          </a:xfrm>
          <a:prstGeom prst="rect">
            <a:avLst/>
          </a:prstGeom>
          <a:noFill/>
        </p:spPr>
        <p:txBody>
          <a:bodyPr wrap="square" lIns="130046" tIns="65023" rIns="130046" bIns="65023" rtlCol="0">
            <a:spAutoFit/>
          </a:bodyPr>
          <a:lstStyle/>
          <a:p>
            <a:r>
              <a:rPr lang="en-US" sz="3600" b="1" dirty="0" smtClean="0"/>
              <a:t>RFQ ANALYSIS</a:t>
            </a:r>
            <a:endParaRPr lang="it-IT" sz="3600" b="1" dirty="0"/>
          </a:p>
          <a:p>
            <a:endParaRPr lang="it-IT" sz="2400" dirty="0"/>
          </a:p>
        </p:txBody>
      </p:sp>
      <p:sp>
        <p:nvSpPr>
          <p:cNvPr id="4" name="Rectangle 1"/>
          <p:cNvSpPr>
            <a:spLocks noChangeArrowheads="1"/>
          </p:cNvSpPr>
          <p:nvPr/>
        </p:nvSpPr>
        <p:spPr bwMode="auto">
          <a:xfrm>
            <a:off x="357717" y="1247901"/>
            <a:ext cx="12391777" cy="1608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0046" tIns="65023" rIns="130046" bIns="65023" numCol="1" anchor="ctr" anchorCtr="0" compatLnSpc="1">
            <a:prstTxWarp prst="textNoShape">
              <a:avLst/>
            </a:prstTxWarp>
            <a:spAutoFit/>
          </a:bodyPr>
          <a:lstStyle/>
          <a:p>
            <a:pPr algn="l" defTabSz="1300460"/>
            <a:r>
              <a:rPr kumimoji="0" lang="en-US"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sym typeface="Symbol" pitchFamily="18" charset="2"/>
              </a:rPr>
              <a:t></a:t>
            </a:r>
            <a:r>
              <a:rPr kumimoji="0" lang="en-US"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sensitivity to dipole-like perturbations: the RFQ can be made naturally</a:t>
            </a:r>
            <a:r>
              <a:rPr kumimoji="0" lang="en-US"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sym typeface="Symbol" pitchFamily="18" charset="2"/>
              </a:rPr>
              <a:t>  stable with proper choice of vane undercuts: 23 mm at RFQ input, 25 mm at RFQ output.</a:t>
            </a:r>
            <a:endParaRPr kumimoji="0" lang="it-IT" sz="2400" b="0" i="0" u="none" strike="noStrike" cap="none" normalizeH="0" baseline="0" dirty="0" smtClean="0">
              <a:ln>
                <a:noFill/>
              </a:ln>
              <a:solidFill>
                <a:schemeClr val="tx1"/>
              </a:solidFill>
              <a:effectLst/>
              <a:latin typeface="Arial" pitchFamily="34" charset="0"/>
              <a:cs typeface="Arial" pitchFamily="34" charset="0"/>
              <a:sym typeface="Symbol" pitchFamily="18" charset="2"/>
            </a:endParaRPr>
          </a:p>
          <a:p>
            <a:pPr algn="l" defTabSz="1300460" eaLnBrk="0" hangingPunct="0"/>
            <a:r>
              <a:rPr kumimoji="0" lang="en-US"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sym typeface="Symbol" pitchFamily="18" charset="2"/>
              </a:rPr>
              <a:t></a:t>
            </a:r>
            <a:r>
              <a:rPr kumimoji="0" lang="en-US"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sensitivity to </a:t>
            </a:r>
            <a:r>
              <a:rPr kumimoji="0" lang="en-US" sz="2400"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quadrupole</a:t>
            </a:r>
            <a:r>
              <a:rPr kumimoji="0" lang="en-US"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-like perturbations: RFQ ends are tuned with adjustable-length rods.</a:t>
            </a:r>
            <a:endParaRPr kumimoji="0" lang="en-US" sz="24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sym typeface="Symbol" pitchFamily="18" charset="2"/>
            </a:endParaRPr>
          </a:p>
        </p:txBody>
      </p:sp>
      <p:pic>
        <p:nvPicPr>
          <p:cNvPr id="2050" name="Picture 2" descr="Emod-ESS-Sortie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90133" y="6328553"/>
            <a:ext cx="5095805" cy="2966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69015" y="3445370"/>
            <a:ext cx="5131928" cy="2921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69014" y="6430152"/>
            <a:ext cx="5100319" cy="290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asellaDiTesto 4"/>
          <p:cNvSpPr txBox="1"/>
          <p:nvPr/>
        </p:nvSpPr>
        <p:spPr>
          <a:xfrm>
            <a:off x="460129" y="3238218"/>
            <a:ext cx="7308885" cy="2716639"/>
          </a:xfrm>
          <a:prstGeom prst="rect">
            <a:avLst/>
          </a:prstGeom>
          <a:noFill/>
        </p:spPr>
        <p:txBody>
          <a:bodyPr wrap="square" lIns="130046" tIns="65023" rIns="130046" bIns="65023" rtlCol="0">
            <a:spAutoFit/>
          </a:bodyPr>
          <a:lstStyle/>
          <a:p>
            <a:r>
              <a:rPr lang="en-US" sz="2400" dirty="0">
                <a:sym typeface="Symbol"/>
              </a:rPr>
              <a:t></a:t>
            </a:r>
            <a:r>
              <a:rPr lang="en-US" sz="2400" dirty="0"/>
              <a:t> </a:t>
            </a:r>
            <a:r>
              <a:rPr lang="en-US" sz="2400" dirty="0" err="1"/>
              <a:t>quadrupole</a:t>
            </a:r>
            <a:r>
              <a:rPr lang="en-US" sz="2400" dirty="0"/>
              <a:t> mode closer to accelerating mode Q</a:t>
            </a:r>
            <a:r>
              <a:rPr lang="en-US" sz="2400" baseline="-25000" dirty="0"/>
              <a:t>0</a:t>
            </a:r>
            <a:r>
              <a:rPr lang="en-US" sz="2400" dirty="0"/>
              <a:t>  is Q</a:t>
            </a:r>
            <a:r>
              <a:rPr lang="en-US" sz="2400" baseline="-25000" dirty="0"/>
              <a:t>1</a:t>
            </a:r>
            <a:r>
              <a:rPr lang="en-US" sz="2400" dirty="0"/>
              <a:t>: 1.47 MHz frequency shift, +31.9 MHz quadratic frequency shift</a:t>
            </a:r>
            <a:endParaRPr lang="it-IT" sz="2400" b="1" dirty="0"/>
          </a:p>
          <a:p>
            <a:r>
              <a:rPr lang="en-US" sz="2400" dirty="0">
                <a:sym typeface="Symbol"/>
              </a:rPr>
              <a:t></a:t>
            </a:r>
            <a:r>
              <a:rPr lang="en-US" sz="2400" dirty="0"/>
              <a:t> dipole modes closer to accelerating mode Q</a:t>
            </a:r>
            <a:r>
              <a:rPr lang="en-US" sz="2400" baseline="-25000" dirty="0"/>
              <a:t>0</a:t>
            </a:r>
            <a:r>
              <a:rPr lang="en-US" sz="2400" dirty="0"/>
              <a:t> are </a:t>
            </a:r>
            <a:endParaRPr lang="it-IT" sz="2400" b="1" dirty="0"/>
          </a:p>
          <a:p>
            <a:r>
              <a:rPr lang="en-US" sz="2400" dirty="0"/>
              <a:t>D</a:t>
            </a:r>
            <a:r>
              <a:rPr lang="en-US" sz="2400" baseline="-25000" dirty="0"/>
              <a:t>2</a:t>
            </a:r>
            <a:r>
              <a:rPr lang="en-US" sz="2400" dirty="0"/>
              <a:t> : -5.5 MHz shift,  -61.3 MHz QFS</a:t>
            </a:r>
            <a:endParaRPr lang="it-IT" sz="2400" b="1" dirty="0"/>
          </a:p>
          <a:p>
            <a:r>
              <a:rPr lang="en-US" sz="2400" dirty="0"/>
              <a:t>D</a:t>
            </a:r>
            <a:r>
              <a:rPr lang="en-US" sz="2400" baseline="-25000" dirty="0"/>
              <a:t>3</a:t>
            </a:r>
            <a:r>
              <a:rPr lang="en-US" sz="2400" dirty="0"/>
              <a:t> : +2.3 MHz shift, +40.3 MHz QFS</a:t>
            </a:r>
            <a:endParaRPr lang="it-IT" sz="2400" b="1" dirty="0"/>
          </a:p>
          <a:p>
            <a:endParaRPr lang="it-IT" sz="2400" dirty="0"/>
          </a:p>
        </p:txBody>
      </p:sp>
    </p:spTree>
    <p:extLst>
      <p:ext uri="{BB962C8B-B14F-4D97-AF65-F5344CB8AC3E}">
        <p14:creationId xmlns:p14="http://schemas.microsoft.com/office/powerpoint/2010/main" val="3020198931"/>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7" name="Object 3"/>
          <p:cNvGraphicFramePr>
            <a:graphicFrameLocks noGrp="1" noChangeAspect="1"/>
          </p:cNvGraphicFramePr>
          <p:nvPr>
            <p:ph idx="1"/>
          </p:nvPr>
        </p:nvGraphicFramePr>
        <p:xfrm>
          <a:off x="-20320" y="0"/>
          <a:ext cx="13077050" cy="3296356"/>
        </p:xfrm>
        <a:graphic>
          <a:graphicData uri="http://schemas.openxmlformats.org/presentationml/2006/ole">
            <mc:AlternateContent xmlns:mc="http://schemas.openxmlformats.org/markup-compatibility/2006">
              <mc:Choice xmlns:v="urn:schemas-microsoft-com:vml" Requires="v">
                <p:oleObj spid="_x0000_s27701" name="Foglio di lavoro" r:id="rId5" imgW="37688889" imgH="9498413" progId="Excel.Sheet.8">
                  <p:embed/>
                </p:oleObj>
              </mc:Choice>
              <mc:Fallback>
                <p:oleObj name="Foglio di lavoro" r:id="rId5" imgW="37688889" imgH="9498413" progId="Excel.Sheet.8">
                  <p:embed/>
                  <p:pic>
                    <p:nvPicPr>
                      <p:cNvPr id="0" name=""/>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320" y="0"/>
                        <a:ext cx="13077050" cy="3296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pic>
                </p:oleObj>
              </mc:Fallback>
            </mc:AlternateContent>
          </a:graphicData>
        </a:graphic>
      </p:graphicFrame>
      <p:sp>
        <p:nvSpPr>
          <p:cNvPr id="19458" name="Rectangle 4"/>
          <p:cNvSpPr>
            <a:spLocks noChangeArrowheads="1"/>
          </p:cNvSpPr>
          <p:nvPr/>
        </p:nvSpPr>
        <p:spPr bwMode="auto">
          <a:xfrm>
            <a:off x="0" y="3666631"/>
            <a:ext cx="13004800" cy="319927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24124" tIns="62062" rIns="124124" bIns="62062" anchor="ctr"/>
          <a:lstStyle/>
          <a:p>
            <a:pPr algn="ctr"/>
            <a:endParaRPr lang="it-IT"/>
          </a:p>
        </p:txBody>
      </p:sp>
      <p:sp>
        <p:nvSpPr>
          <p:cNvPr id="19459" name="Text Box 6"/>
          <p:cNvSpPr txBox="1">
            <a:spLocks noChangeArrowheads="1"/>
          </p:cNvSpPr>
          <p:nvPr/>
        </p:nvSpPr>
        <p:spPr bwMode="auto">
          <a:xfrm>
            <a:off x="571218" y="8389902"/>
            <a:ext cx="6249529" cy="54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4124" tIns="62062" rIns="124124" bIns="62062">
            <a:spAutoFit/>
          </a:bodyPr>
          <a:lstStyle>
            <a:lvl1pPr eaLnBrk="0" hangingPunct="0">
              <a:defRPr sz="2400">
                <a:solidFill>
                  <a:schemeClr val="tx1"/>
                </a:solidFill>
                <a:latin typeface="MS UI Gothic" charset="0"/>
                <a:ea typeface="ＭＳ Ｐゴシック" charset="0"/>
                <a:cs typeface="ＭＳ Ｐゴシック" charset="0"/>
              </a:defRPr>
            </a:lvl1pPr>
            <a:lvl2pPr marL="742950" indent="-285750" eaLnBrk="0" hangingPunct="0">
              <a:defRPr sz="2400">
                <a:solidFill>
                  <a:schemeClr val="tx1"/>
                </a:solidFill>
                <a:latin typeface="MS UI Gothic" charset="0"/>
                <a:ea typeface="ＭＳ Ｐゴシック" charset="0"/>
              </a:defRPr>
            </a:lvl2pPr>
            <a:lvl3pPr marL="1143000" indent="-228600" eaLnBrk="0" hangingPunct="0">
              <a:defRPr sz="2400">
                <a:solidFill>
                  <a:schemeClr val="tx1"/>
                </a:solidFill>
                <a:latin typeface="MS UI Gothic" charset="0"/>
                <a:ea typeface="ＭＳ Ｐゴシック" charset="0"/>
              </a:defRPr>
            </a:lvl3pPr>
            <a:lvl4pPr marL="1600200" indent="-228600" eaLnBrk="0" hangingPunct="0">
              <a:defRPr sz="2400">
                <a:solidFill>
                  <a:schemeClr val="tx1"/>
                </a:solidFill>
                <a:latin typeface="MS UI Gothic" charset="0"/>
                <a:ea typeface="ＭＳ Ｐゴシック" charset="0"/>
              </a:defRPr>
            </a:lvl4pPr>
            <a:lvl5pPr marL="2057400" indent="-228600" eaLnBrk="0" hangingPunct="0">
              <a:defRPr sz="2400">
                <a:solidFill>
                  <a:schemeClr val="tx1"/>
                </a:solidFill>
                <a:latin typeface="MS UI Gothic" charset="0"/>
                <a:ea typeface="ＭＳ Ｐゴシック" charset="0"/>
              </a:defRPr>
            </a:lvl5pPr>
            <a:lvl6pPr marL="2514600" indent="-228600" eaLnBrk="0" fontAlgn="base" hangingPunct="0">
              <a:spcBef>
                <a:spcPct val="0"/>
              </a:spcBef>
              <a:spcAft>
                <a:spcPct val="0"/>
              </a:spcAft>
              <a:defRPr sz="2400">
                <a:solidFill>
                  <a:schemeClr val="tx1"/>
                </a:solidFill>
                <a:latin typeface="MS UI Gothic" charset="0"/>
                <a:ea typeface="ＭＳ Ｐゴシック" charset="0"/>
              </a:defRPr>
            </a:lvl6pPr>
            <a:lvl7pPr marL="2971800" indent="-228600" eaLnBrk="0" fontAlgn="base" hangingPunct="0">
              <a:spcBef>
                <a:spcPct val="0"/>
              </a:spcBef>
              <a:spcAft>
                <a:spcPct val="0"/>
              </a:spcAft>
              <a:defRPr sz="2400">
                <a:solidFill>
                  <a:schemeClr val="tx1"/>
                </a:solidFill>
                <a:latin typeface="MS UI Gothic" charset="0"/>
                <a:ea typeface="ＭＳ Ｐゴシック" charset="0"/>
              </a:defRPr>
            </a:lvl7pPr>
            <a:lvl8pPr marL="3429000" indent="-228600" eaLnBrk="0" fontAlgn="base" hangingPunct="0">
              <a:spcBef>
                <a:spcPct val="0"/>
              </a:spcBef>
              <a:spcAft>
                <a:spcPct val="0"/>
              </a:spcAft>
              <a:defRPr sz="2400">
                <a:solidFill>
                  <a:schemeClr val="tx1"/>
                </a:solidFill>
                <a:latin typeface="MS UI Gothic" charset="0"/>
                <a:ea typeface="ＭＳ Ｐゴシック" charset="0"/>
              </a:defRPr>
            </a:lvl8pPr>
            <a:lvl9pPr marL="3886200" indent="-228600" eaLnBrk="0" fontAlgn="base" hangingPunct="0">
              <a:spcBef>
                <a:spcPct val="0"/>
              </a:spcBef>
              <a:spcAft>
                <a:spcPct val="0"/>
              </a:spcAft>
              <a:defRPr sz="2400">
                <a:solidFill>
                  <a:schemeClr val="tx1"/>
                </a:solidFill>
                <a:latin typeface="MS UI Gothic" charset="0"/>
                <a:ea typeface="ＭＳ Ｐゴシック" charset="0"/>
              </a:defRPr>
            </a:lvl9pPr>
          </a:lstStyle>
          <a:p>
            <a:pPr eaLnBrk="1" hangingPunct="1"/>
            <a:r>
              <a:rPr lang="it-IT" sz="2700"/>
              <a:t>TRASCO@LegnaroINFN</a:t>
            </a:r>
          </a:p>
        </p:txBody>
      </p:sp>
      <p:sp>
        <p:nvSpPr>
          <p:cNvPr id="19460" name="Text Box 7"/>
          <p:cNvSpPr txBox="1">
            <a:spLocks noChangeArrowheads="1"/>
          </p:cNvSpPr>
          <p:nvPr/>
        </p:nvSpPr>
        <p:spPr bwMode="auto">
          <a:xfrm>
            <a:off x="7005886" y="8286044"/>
            <a:ext cx="5005493" cy="54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4124" tIns="62062" rIns="124124" bIns="62062">
            <a:spAutoFit/>
          </a:bodyPr>
          <a:lstStyle>
            <a:lvl1pPr eaLnBrk="0" hangingPunct="0">
              <a:defRPr sz="2400">
                <a:solidFill>
                  <a:schemeClr val="tx1"/>
                </a:solidFill>
                <a:latin typeface="MS UI Gothic" charset="0"/>
                <a:ea typeface="ＭＳ Ｐゴシック" charset="0"/>
                <a:cs typeface="ＭＳ Ｐゴシック" charset="0"/>
              </a:defRPr>
            </a:lvl1pPr>
            <a:lvl2pPr marL="742950" indent="-285750" eaLnBrk="0" hangingPunct="0">
              <a:defRPr sz="2400">
                <a:solidFill>
                  <a:schemeClr val="tx1"/>
                </a:solidFill>
                <a:latin typeface="MS UI Gothic" charset="0"/>
                <a:ea typeface="ＭＳ Ｐゴシック" charset="0"/>
              </a:defRPr>
            </a:lvl2pPr>
            <a:lvl3pPr marL="1143000" indent="-228600" eaLnBrk="0" hangingPunct="0">
              <a:defRPr sz="2400">
                <a:solidFill>
                  <a:schemeClr val="tx1"/>
                </a:solidFill>
                <a:latin typeface="MS UI Gothic" charset="0"/>
                <a:ea typeface="ＭＳ Ｐゴシック" charset="0"/>
              </a:defRPr>
            </a:lvl3pPr>
            <a:lvl4pPr marL="1600200" indent="-228600" eaLnBrk="0" hangingPunct="0">
              <a:defRPr sz="2400">
                <a:solidFill>
                  <a:schemeClr val="tx1"/>
                </a:solidFill>
                <a:latin typeface="MS UI Gothic" charset="0"/>
                <a:ea typeface="ＭＳ Ｐゴシック" charset="0"/>
              </a:defRPr>
            </a:lvl4pPr>
            <a:lvl5pPr marL="2057400" indent="-228600" eaLnBrk="0" hangingPunct="0">
              <a:defRPr sz="2400">
                <a:solidFill>
                  <a:schemeClr val="tx1"/>
                </a:solidFill>
                <a:latin typeface="MS UI Gothic" charset="0"/>
                <a:ea typeface="ＭＳ Ｐゴシック" charset="0"/>
              </a:defRPr>
            </a:lvl5pPr>
            <a:lvl6pPr marL="2514600" indent="-228600" eaLnBrk="0" fontAlgn="base" hangingPunct="0">
              <a:spcBef>
                <a:spcPct val="0"/>
              </a:spcBef>
              <a:spcAft>
                <a:spcPct val="0"/>
              </a:spcAft>
              <a:defRPr sz="2400">
                <a:solidFill>
                  <a:schemeClr val="tx1"/>
                </a:solidFill>
                <a:latin typeface="MS UI Gothic" charset="0"/>
                <a:ea typeface="ＭＳ Ｐゴシック" charset="0"/>
              </a:defRPr>
            </a:lvl6pPr>
            <a:lvl7pPr marL="2971800" indent="-228600" eaLnBrk="0" fontAlgn="base" hangingPunct="0">
              <a:spcBef>
                <a:spcPct val="0"/>
              </a:spcBef>
              <a:spcAft>
                <a:spcPct val="0"/>
              </a:spcAft>
              <a:defRPr sz="2400">
                <a:solidFill>
                  <a:schemeClr val="tx1"/>
                </a:solidFill>
                <a:latin typeface="MS UI Gothic" charset="0"/>
                <a:ea typeface="ＭＳ Ｐゴシック" charset="0"/>
              </a:defRPr>
            </a:lvl7pPr>
            <a:lvl8pPr marL="3429000" indent="-228600" eaLnBrk="0" fontAlgn="base" hangingPunct="0">
              <a:spcBef>
                <a:spcPct val="0"/>
              </a:spcBef>
              <a:spcAft>
                <a:spcPct val="0"/>
              </a:spcAft>
              <a:defRPr sz="2400">
                <a:solidFill>
                  <a:schemeClr val="tx1"/>
                </a:solidFill>
                <a:latin typeface="MS UI Gothic" charset="0"/>
                <a:ea typeface="ＭＳ Ｐゴシック" charset="0"/>
              </a:defRPr>
            </a:lvl8pPr>
            <a:lvl9pPr marL="3886200" indent="-228600" eaLnBrk="0" fontAlgn="base" hangingPunct="0">
              <a:spcBef>
                <a:spcPct val="0"/>
              </a:spcBef>
              <a:spcAft>
                <a:spcPct val="0"/>
              </a:spcAft>
              <a:defRPr sz="2400">
                <a:solidFill>
                  <a:schemeClr val="tx1"/>
                </a:solidFill>
                <a:latin typeface="MS UI Gothic" charset="0"/>
                <a:ea typeface="ＭＳ Ｐゴシック" charset="0"/>
              </a:defRPr>
            </a:lvl9pPr>
          </a:lstStyle>
          <a:p>
            <a:pPr eaLnBrk="1" hangingPunct="1"/>
            <a:r>
              <a:rPr lang="it-IT" sz="2700"/>
              <a:t>IPHI@Saclay.CEA</a:t>
            </a:r>
          </a:p>
        </p:txBody>
      </p:sp>
      <p:pic>
        <p:nvPicPr>
          <p:cNvPr id="19461"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7841" y="4023360"/>
            <a:ext cx="4064000" cy="421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91023" y="4079806"/>
            <a:ext cx="4994204" cy="3994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Rectangle 12"/>
          <p:cNvSpPr>
            <a:spLocks noChangeArrowheads="1"/>
          </p:cNvSpPr>
          <p:nvPr/>
        </p:nvSpPr>
        <p:spPr bwMode="auto">
          <a:xfrm>
            <a:off x="243840" y="3939823"/>
            <a:ext cx="6123093" cy="5145475"/>
          </a:xfrm>
          <a:prstGeom prst="rect">
            <a:avLst/>
          </a:prstGeom>
          <a:noFill/>
          <a:ln w="76200">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wrap="none" lIns="124124" tIns="62062" rIns="124124" bIns="62062" anchor="ctr"/>
          <a:lstStyle/>
          <a:p>
            <a:endParaRPr lang="it-IT"/>
          </a:p>
        </p:txBody>
      </p:sp>
      <p:sp>
        <p:nvSpPr>
          <p:cNvPr id="19464" name="Rectangle 13"/>
          <p:cNvSpPr>
            <a:spLocks noChangeArrowheads="1"/>
          </p:cNvSpPr>
          <p:nvPr/>
        </p:nvSpPr>
        <p:spPr bwMode="auto">
          <a:xfrm>
            <a:off x="6572392" y="3946596"/>
            <a:ext cx="6123093" cy="5145476"/>
          </a:xfrm>
          <a:prstGeom prst="rect">
            <a:avLst/>
          </a:prstGeom>
          <a:noFill/>
          <a:ln w="762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lIns="124124" tIns="62062" rIns="124124" bIns="62062" anchor="ctr"/>
          <a:lstStyle/>
          <a:p>
            <a:endParaRPr lang="it-IT"/>
          </a:p>
        </p:txBody>
      </p:sp>
      <p:sp>
        <p:nvSpPr>
          <p:cNvPr id="19465" name="Rectangle 2"/>
          <p:cNvSpPr>
            <a:spLocks noGrp="1" noChangeArrowheads="1"/>
          </p:cNvSpPr>
          <p:nvPr>
            <p:ph type="title"/>
          </p:nvPr>
        </p:nvSpPr>
        <p:spPr>
          <a:xfrm>
            <a:off x="1142436" y="8383130"/>
            <a:ext cx="11054080" cy="1300480"/>
          </a:xfrm>
        </p:spPr>
        <p:txBody>
          <a:bodyPr/>
          <a:lstStyle/>
          <a:p>
            <a:r>
              <a:rPr lang="en-US" sz="3300" dirty="0">
                <a:solidFill>
                  <a:srgbClr val="223131"/>
                </a:solidFill>
                <a:latin typeface="Times New Roman" charset="0"/>
                <a:ea typeface="ＭＳ Ｐゴシック" charset="0"/>
                <a:cs typeface="ＭＳ Ｐゴシック" charset="0"/>
              </a:rPr>
              <a:t>Research Programs in Europe related to ADS studies</a:t>
            </a:r>
          </a:p>
        </p:txBody>
      </p:sp>
      <p:sp>
        <p:nvSpPr>
          <p:cNvPr id="11"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24</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314004806"/>
              </p:ext>
            </p:extLst>
          </p:nvPr>
        </p:nvGraphicFramePr>
        <p:xfrm>
          <a:off x="813768" y="1636440"/>
          <a:ext cx="11233248" cy="6984776"/>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1233248"/>
              </a:tblGrid>
              <a:tr h="815383">
                <a:tc>
                  <a:txBody>
                    <a:bodyPr/>
                    <a:lstStyle/>
                    <a:p>
                      <a:pPr algn="ctr"/>
                      <a:r>
                        <a:rPr lang="en-US" sz="2400" b="1" dirty="0" smtClean="0"/>
                        <a:t>Technical Results-WU3</a:t>
                      </a:r>
                      <a:endParaRPr lang="en-US" sz="2400" b="1" dirty="0"/>
                    </a:p>
                  </a:txBody>
                  <a:tcPr anchor="ctr"/>
                </a:tc>
              </a:tr>
              <a:tr h="6169393">
                <a:tc>
                  <a:txBody>
                    <a:bodyPr/>
                    <a:lstStyle/>
                    <a:p>
                      <a:pPr marL="185738" indent="-185738">
                        <a:buFont typeface="Arial" pitchFamily="34" charset="0"/>
                        <a:buNone/>
                      </a:pPr>
                      <a:endParaRPr lang="en-US" sz="2000" dirty="0" smtClean="0"/>
                    </a:p>
                    <a:p>
                      <a:pPr marL="185738" indent="-185738">
                        <a:buFont typeface="Arial" pitchFamily="34" charset="0"/>
                        <a:buNone/>
                      </a:pPr>
                      <a:endParaRPr lang="en-US" sz="2000" dirty="0" smtClean="0"/>
                    </a:p>
                    <a:p>
                      <a:pPr marL="185738" indent="-185738">
                        <a:buFont typeface="Arial" pitchFamily="34" charset="0"/>
                        <a:buNone/>
                      </a:pPr>
                      <a:endParaRPr lang="en-US" sz="2000" dirty="0" smtClean="0"/>
                    </a:p>
                    <a:p>
                      <a:pPr marL="185738" indent="-185738">
                        <a:buFont typeface="Arial" pitchFamily="34" charset="0"/>
                        <a:buNone/>
                      </a:pPr>
                      <a:endParaRPr lang="en-US" sz="2000" dirty="0" smtClean="0"/>
                    </a:p>
                    <a:p>
                      <a:pPr marL="185738" indent="-185738">
                        <a:buFont typeface="Arial" pitchFamily="34" charset="0"/>
                        <a:buNone/>
                      </a:pPr>
                      <a:endParaRPr lang="en-US" sz="2000" dirty="0" smtClean="0"/>
                    </a:p>
                    <a:p>
                      <a:pPr marL="185738" indent="-185738">
                        <a:buFont typeface="Arial" pitchFamily="34" charset="0"/>
                        <a:buNone/>
                      </a:pPr>
                      <a:endParaRPr lang="en-US" sz="2000" dirty="0" smtClean="0"/>
                    </a:p>
                    <a:p>
                      <a:pPr marL="185738" indent="-185738">
                        <a:buFont typeface="Arial" pitchFamily="34" charset="0"/>
                        <a:buNone/>
                      </a:pPr>
                      <a:endParaRPr lang="en-US" sz="2000" dirty="0" smtClean="0"/>
                    </a:p>
                    <a:p>
                      <a:pPr marL="185738" indent="-185738">
                        <a:buFont typeface="Arial" pitchFamily="34" charset="0"/>
                        <a:buNone/>
                      </a:pPr>
                      <a:endParaRPr lang="en-US" sz="2000" dirty="0"/>
                    </a:p>
                  </a:txBody>
                  <a:tcPr/>
                </a:tc>
              </a:tr>
            </a:tbl>
          </a:graphicData>
        </a:graphic>
      </p:graphicFrame>
      <p:pic>
        <p:nvPicPr>
          <p:cNvPr id="61" name="Immagine 60"/>
          <p:cNvPicPr>
            <a:picLocks noChangeAspect="1"/>
          </p:cNvPicPr>
          <p:nvPr/>
        </p:nvPicPr>
        <p:blipFill rotWithShape="1">
          <a:blip r:embed="rId2"/>
          <a:srcRect b="13579"/>
          <a:stretch/>
        </p:blipFill>
        <p:spPr>
          <a:xfrm>
            <a:off x="813767" y="2356520"/>
            <a:ext cx="11189811" cy="6336704"/>
          </a:xfrm>
          <a:prstGeom prst="rect">
            <a:avLst/>
          </a:prstGeom>
        </p:spPr>
      </p:pic>
      <p:sp>
        <p:nvSpPr>
          <p:cNvPr id="2" name="Rettangolo 1"/>
          <p:cNvSpPr/>
          <p:nvPr/>
        </p:nvSpPr>
        <p:spPr bwMode="auto">
          <a:xfrm>
            <a:off x="10030792" y="8117160"/>
            <a:ext cx="1944216" cy="576064"/>
          </a:xfrm>
          <a:prstGeom prst="rect">
            <a:avLst/>
          </a:prstGeom>
          <a:solidFill>
            <a:schemeClr val="bg1"/>
          </a:solidFill>
          <a:ln>
            <a:solidFill>
              <a:schemeClr val="bg1"/>
            </a:solidFill>
            <a:headEnd type="none" w="med" len="med"/>
            <a:tailEnd type="none" w="med" len="med"/>
          </a:ln>
          <a:effectLst>
            <a:outerShdw blurRad="50800" dist="38100" dir="2700000" algn="tl"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vert="horz" wrap="square" lIns="0" tIns="0" rIns="0" bIns="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it-IT" sz="1200" b="0" i="0" u="none" strike="noStrike" cap="none" normalizeH="0" baseline="0" dirty="0" smtClean="0">
              <a:ln>
                <a:solidFill>
                  <a:schemeClr val="bg1"/>
                </a:solidFill>
              </a:ln>
              <a:solidFill>
                <a:schemeClr val="bg1"/>
              </a:solidFill>
              <a:effectLst/>
              <a:latin typeface="Arial" pitchFamily="34" charset="0"/>
              <a:ea typeface="ヒラギノ角ゴ ProN W3" charset="-128"/>
              <a:cs typeface="Arial" pitchFamily="34" charset="0"/>
              <a:sym typeface="Gill Sans" charset="0"/>
            </a:endParaRPr>
          </a:p>
        </p:txBody>
      </p:sp>
      <p:sp>
        <p:nvSpPr>
          <p:cNvPr id="6"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25</a:t>
            </a:fld>
            <a:endParaRPr lang="en-US" dirty="0"/>
          </a:p>
        </p:txBody>
      </p:sp>
    </p:spTree>
    <p:extLst>
      <p:ext uri="{BB962C8B-B14F-4D97-AF65-F5344CB8AC3E}">
        <p14:creationId xmlns:p14="http://schemas.microsoft.com/office/powerpoint/2010/main" val="822131435"/>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p:cNvSpPr>
          <p:nvPr/>
        </p:nvSpPr>
        <p:spPr bwMode="auto">
          <a:xfrm>
            <a:off x="1270000" y="254000"/>
            <a:ext cx="104648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endParaRPr lang="en-US" sz="8400" dirty="0">
              <a:solidFill>
                <a:schemeClr val="tx1"/>
              </a:solidFill>
              <a:ea typeface="ＭＳ Ｐゴシック" charset="0"/>
              <a:cs typeface="Gill Sans" charset="0"/>
            </a:endParaRP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l="6348" t="11203" r="47504" b="52740"/>
          <a:stretch>
            <a:fillRect/>
          </a:stretch>
        </p:blipFill>
        <p:spPr bwMode="auto">
          <a:xfrm>
            <a:off x="1893888" y="1564432"/>
            <a:ext cx="97917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a:tailEnd/>
              </a14:hiddenLine>
            </a:ext>
          </a:extLst>
        </p:spPr>
      </p:pic>
      <p:sp>
        <p:nvSpPr>
          <p:cNvPr id="16387" name="Rectangle 3"/>
          <p:cNvSpPr>
            <a:spLocks/>
          </p:cNvSpPr>
          <p:nvPr/>
        </p:nvSpPr>
        <p:spPr bwMode="auto">
          <a:xfrm>
            <a:off x="1749872" y="7253064"/>
            <a:ext cx="90932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r>
              <a:rPr lang="en-US" dirty="0">
                <a:solidFill>
                  <a:schemeClr val="tx1"/>
                </a:solidFill>
                <a:ea typeface="ＭＳ Ｐゴシック" charset="0"/>
                <a:cs typeface="Gill Sans" charset="0"/>
              </a:rPr>
              <a:t>Room for diagnostics &amp; Vacuum elements</a:t>
            </a:r>
          </a:p>
        </p:txBody>
      </p:sp>
      <p:sp>
        <p:nvSpPr>
          <p:cNvPr id="5" name="Rettangolo 2"/>
          <p:cNvSpPr>
            <a:spLocks noChangeArrowheads="1"/>
          </p:cNvSpPr>
          <p:nvPr/>
        </p:nvSpPr>
        <p:spPr bwMode="auto">
          <a:xfrm>
            <a:off x="5370084" y="412304"/>
            <a:ext cx="2304531" cy="170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0039" tIns="65020" rIns="130039" bIns="65020">
            <a:spAutoFit/>
          </a:bodyPr>
          <a:lstStyle/>
          <a:p>
            <a:r>
              <a:rPr lang="it-IT" sz="5100" b="1" dirty="0" smtClean="0"/>
              <a:t>MEBT</a:t>
            </a:r>
            <a:endParaRPr lang="it-IT" sz="5100" dirty="0"/>
          </a:p>
          <a:p>
            <a:endParaRPr lang="it-IT" sz="5100" dirty="0"/>
          </a:p>
        </p:txBody>
      </p:sp>
      <p:sp>
        <p:nvSpPr>
          <p:cNvPr id="6"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26</a:t>
            </a:fld>
            <a:endParaRPr lang="en-US" dirty="0"/>
          </a:p>
        </p:txBody>
      </p:sp>
    </p:spTree>
    <p:extLst>
      <p:ext uri="{BB962C8B-B14F-4D97-AF65-F5344CB8AC3E}">
        <p14:creationId xmlns:p14="http://schemas.microsoft.com/office/powerpoint/2010/main" val="2767811413"/>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ttangolo 2"/>
          <p:cNvSpPr>
            <a:spLocks noChangeArrowheads="1"/>
          </p:cNvSpPr>
          <p:nvPr/>
        </p:nvSpPr>
        <p:spPr bwMode="auto">
          <a:xfrm>
            <a:off x="3772863" y="412304"/>
            <a:ext cx="5498971" cy="170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0039" tIns="65020" rIns="130039" bIns="65020">
            <a:spAutoFit/>
          </a:bodyPr>
          <a:lstStyle/>
          <a:p>
            <a:r>
              <a:rPr lang="en-US" sz="5100" b="1" dirty="0" smtClean="0"/>
              <a:t>Drift tube </a:t>
            </a:r>
            <a:r>
              <a:rPr lang="en-US" sz="5100" b="1" dirty="0" err="1" smtClean="0"/>
              <a:t>Linac</a:t>
            </a:r>
            <a:endParaRPr lang="it-IT" sz="5100" dirty="0"/>
          </a:p>
          <a:p>
            <a:endParaRPr lang="it-IT" sz="5100" dirty="0"/>
          </a:p>
        </p:txBody>
      </p:sp>
      <p:sp>
        <p:nvSpPr>
          <p:cNvPr id="45058" name="CasellaDiTesto 3"/>
          <p:cNvSpPr txBox="1">
            <a:spLocks noChangeArrowheads="1"/>
          </p:cNvSpPr>
          <p:nvPr/>
        </p:nvSpPr>
        <p:spPr bwMode="auto">
          <a:xfrm>
            <a:off x="50328" y="1636440"/>
            <a:ext cx="13004800" cy="7353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039" tIns="65020" rIns="130039" bIns="65020">
            <a:spAutoFit/>
          </a:bodyPr>
          <a:lstStyle>
            <a:lvl1pPr eaLnBrk="0" hangingPunct="0">
              <a:defRPr sz="2400">
                <a:solidFill>
                  <a:schemeClr val="tx1"/>
                </a:solidFill>
                <a:latin typeface="MS UI Gothic" charset="0"/>
                <a:ea typeface="ＭＳ Ｐゴシック" charset="0"/>
                <a:cs typeface="ＭＳ Ｐゴシック" charset="0"/>
              </a:defRPr>
            </a:lvl1pPr>
            <a:lvl2pPr marL="742950" indent="-285750" eaLnBrk="0" hangingPunct="0">
              <a:defRPr sz="2400">
                <a:solidFill>
                  <a:schemeClr val="tx1"/>
                </a:solidFill>
                <a:latin typeface="MS UI Gothic" charset="0"/>
                <a:ea typeface="ＭＳ Ｐゴシック" charset="0"/>
              </a:defRPr>
            </a:lvl2pPr>
            <a:lvl3pPr marL="1143000" indent="-228600" eaLnBrk="0" hangingPunct="0">
              <a:defRPr sz="2400">
                <a:solidFill>
                  <a:schemeClr val="tx1"/>
                </a:solidFill>
                <a:latin typeface="MS UI Gothic" charset="0"/>
                <a:ea typeface="ＭＳ Ｐゴシック" charset="0"/>
              </a:defRPr>
            </a:lvl3pPr>
            <a:lvl4pPr marL="1600200" indent="-228600" eaLnBrk="0" hangingPunct="0">
              <a:defRPr sz="2400">
                <a:solidFill>
                  <a:schemeClr val="tx1"/>
                </a:solidFill>
                <a:latin typeface="MS UI Gothic" charset="0"/>
                <a:ea typeface="ＭＳ Ｐゴシック" charset="0"/>
              </a:defRPr>
            </a:lvl4pPr>
            <a:lvl5pPr marL="2057400" indent="-228600" eaLnBrk="0" hangingPunct="0">
              <a:defRPr sz="2400">
                <a:solidFill>
                  <a:schemeClr val="tx1"/>
                </a:solidFill>
                <a:latin typeface="MS UI Gothic" charset="0"/>
                <a:ea typeface="ＭＳ Ｐゴシック" charset="0"/>
              </a:defRPr>
            </a:lvl5pPr>
            <a:lvl6pPr marL="2514600" indent="-228600" eaLnBrk="0" fontAlgn="base" hangingPunct="0">
              <a:spcBef>
                <a:spcPct val="0"/>
              </a:spcBef>
              <a:spcAft>
                <a:spcPct val="0"/>
              </a:spcAft>
              <a:defRPr sz="2400">
                <a:solidFill>
                  <a:schemeClr val="tx1"/>
                </a:solidFill>
                <a:latin typeface="MS UI Gothic" charset="0"/>
                <a:ea typeface="ＭＳ Ｐゴシック" charset="0"/>
              </a:defRPr>
            </a:lvl6pPr>
            <a:lvl7pPr marL="2971800" indent="-228600" eaLnBrk="0" fontAlgn="base" hangingPunct="0">
              <a:spcBef>
                <a:spcPct val="0"/>
              </a:spcBef>
              <a:spcAft>
                <a:spcPct val="0"/>
              </a:spcAft>
              <a:defRPr sz="2400">
                <a:solidFill>
                  <a:schemeClr val="tx1"/>
                </a:solidFill>
                <a:latin typeface="MS UI Gothic" charset="0"/>
                <a:ea typeface="ＭＳ Ｐゴシック" charset="0"/>
              </a:defRPr>
            </a:lvl7pPr>
            <a:lvl8pPr marL="3429000" indent="-228600" eaLnBrk="0" fontAlgn="base" hangingPunct="0">
              <a:spcBef>
                <a:spcPct val="0"/>
              </a:spcBef>
              <a:spcAft>
                <a:spcPct val="0"/>
              </a:spcAft>
              <a:defRPr sz="2400">
                <a:solidFill>
                  <a:schemeClr val="tx1"/>
                </a:solidFill>
                <a:latin typeface="MS UI Gothic" charset="0"/>
                <a:ea typeface="ＭＳ Ｐゴシック" charset="0"/>
              </a:defRPr>
            </a:lvl8pPr>
            <a:lvl9pPr marL="3886200" indent="-228600" eaLnBrk="0" fontAlgn="base" hangingPunct="0">
              <a:spcBef>
                <a:spcPct val="0"/>
              </a:spcBef>
              <a:spcAft>
                <a:spcPct val="0"/>
              </a:spcAft>
              <a:defRPr sz="2400">
                <a:solidFill>
                  <a:schemeClr val="tx1"/>
                </a:solidFill>
                <a:latin typeface="MS UI Gothic" charset="0"/>
                <a:ea typeface="ＭＳ Ｐゴシック" charset="0"/>
              </a:defRPr>
            </a:lvl9pPr>
          </a:lstStyle>
          <a:p>
            <a:pPr algn="l" eaLnBrk="1" hangingPunct="1"/>
            <a:r>
              <a:rPr lang="en-US" sz="3100" dirty="0"/>
              <a:t>As for this part</a:t>
            </a:r>
            <a:r>
              <a:rPr lang="en-GB" sz="3100" dirty="0"/>
              <a:t>, INFN-LNL team has already designed an accelerator with similar performances and has prototyped with Italian industry, together with CERN Linac4 team, a common prototype tank approximately 1 m long (prototype for Linac4 and SPES driver). </a:t>
            </a:r>
          </a:p>
          <a:p>
            <a:pPr algn="l" eaLnBrk="1" hangingPunct="1"/>
            <a:endParaRPr lang="en-GB" sz="3100" dirty="0"/>
          </a:p>
          <a:p>
            <a:pPr algn="l" eaLnBrk="1" hangingPunct="1"/>
            <a:r>
              <a:rPr lang="en-GB" sz="3100" dirty="0"/>
              <a:t>The collaboration with CERN team could continue and the DTL may be built on the basis of this R&amp;D. If we look in details to the different parameters of the Linac4 and ESS DTL, there is an evident similarity concerning pulse current, gradient, injection energy, and some difference exists for output energy and duty cycle only. </a:t>
            </a:r>
          </a:p>
          <a:p>
            <a:pPr algn="l" eaLnBrk="1" hangingPunct="1"/>
            <a:endParaRPr lang="en-GB" sz="3100" dirty="0"/>
          </a:p>
          <a:p>
            <a:pPr algn="l" eaLnBrk="1" hangingPunct="1"/>
            <a:r>
              <a:rPr lang="en-GB" sz="3100" dirty="0"/>
              <a:t>For this reason, there is no need of prototyping for NC </a:t>
            </a:r>
            <a:r>
              <a:rPr lang="en-GB" sz="3100" dirty="0" err="1"/>
              <a:t>Linac</a:t>
            </a:r>
            <a:r>
              <a:rPr lang="en-GB" sz="3100" dirty="0"/>
              <a:t>, but a careful analysis of the optimum design, adapted to the ESS parameters, is </a:t>
            </a:r>
            <a:r>
              <a:rPr lang="en-GB" sz="3100" dirty="0" smtClean="0"/>
              <a:t>under way, </a:t>
            </a:r>
            <a:r>
              <a:rPr lang="en-GB" sz="3100" dirty="0"/>
              <a:t>to put in evidence possible </a:t>
            </a:r>
            <a:r>
              <a:rPr lang="en-GB" sz="3100" dirty="0" smtClean="0"/>
              <a:t>criticalities and maximize the reliability .</a:t>
            </a:r>
            <a:endParaRPr lang="it-IT" sz="3100" dirty="0"/>
          </a:p>
          <a:p>
            <a:pPr algn="l" eaLnBrk="1" hangingPunct="1"/>
            <a:endParaRPr lang="it-IT" sz="3100" dirty="0"/>
          </a:p>
        </p:txBody>
      </p:sp>
      <p:sp>
        <p:nvSpPr>
          <p:cNvPr id="5"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27</a:t>
            </a:fld>
            <a:endParaRPr lang="en-US" dirty="0"/>
          </a:p>
        </p:txBody>
      </p:sp>
    </p:spTree>
    <p:extLst>
      <p:ext uri="{BB962C8B-B14F-4D97-AF65-F5344CB8AC3E}">
        <p14:creationId xmlns:p14="http://schemas.microsoft.com/office/powerpoint/2010/main" val="411998715"/>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INFN\Desktop\Report STEM\2012.02.10\Immagini\triangol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3069" y="1804459"/>
            <a:ext cx="2341248" cy="658547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INFN\Desktop\Report STEM\2012.02.10\Immagini\16cell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11" y="8358786"/>
            <a:ext cx="13025712" cy="13931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INFN\Desktop\Report STEM\2012.02.10\Immagini\duecellestem.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12" y="1843405"/>
            <a:ext cx="7581550" cy="6617793"/>
          </a:xfrm>
          <a:prstGeom prst="rect">
            <a:avLst/>
          </a:prstGeom>
          <a:noFill/>
          <a:extLst>
            <a:ext uri="{909E8E84-426E-40dd-AFC4-6F175D3DCCD1}">
              <a14:hiddenFill xmlns:a14="http://schemas.microsoft.com/office/drawing/2010/main">
                <a:solidFill>
                  <a:srgbClr val="FFFFFF"/>
                </a:solidFill>
              </a14:hiddenFill>
            </a:ext>
          </a:extLst>
        </p:spPr>
      </p:pic>
      <p:sp>
        <p:nvSpPr>
          <p:cNvPr id="4" name="CasellaDiTesto 3"/>
          <p:cNvSpPr txBox="1"/>
          <p:nvPr/>
        </p:nvSpPr>
        <p:spPr>
          <a:xfrm>
            <a:off x="664951" y="98419"/>
            <a:ext cx="12186955" cy="500648"/>
          </a:xfrm>
          <a:prstGeom prst="rect">
            <a:avLst/>
          </a:prstGeom>
          <a:noFill/>
        </p:spPr>
        <p:txBody>
          <a:bodyPr wrap="square" lIns="130046" tIns="65023" rIns="130046" bIns="65023" rtlCol="0">
            <a:spAutoFit/>
          </a:bodyPr>
          <a:lstStyle/>
          <a:p>
            <a:pPr algn="ctr"/>
            <a:r>
              <a:rPr lang="it-IT" sz="2400" b="1" dirty="0">
                <a:latin typeface="Bookman Old Style" pitchFamily="18" charset="0"/>
              </a:rPr>
              <a:t>Analisys of RF Stem Effect on fields shape</a:t>
            </a:r>
          </a:p>
        </p:txBody>
      </p:sp>
      <p:sp>
        <p:nvSpPr>
          <p:cNvPr id="5" name="CasellaDiTesto 4"/>
          <p:cNvSpPr txBox="1"/>
          <p:nvPr/>
        </p:nvSpPr>
        <p:spPr>
          <a:xfrm>
            <a:off x="1966099" y="916360"/>
            <a:ext cx="7560637" cy="869980"/>
          </a:xfrm>
          <a:prstGeom prst="rect">
            <a:avLst/>
          </a:prstGeom>
          <a:noFill/>
        </p:spPr>
        <p:txBody>
          <a:bodyPr wrap="square" lIns="130046" tIns="65023" rIns="130046" bIns="65023" rtlCol="0">
            <a:spAutoFit/>
          </a:bodyPr>
          <a:lstStyle/>
          <a:p>
            <a:pPr algn="just"/>
            <a:r>
              <a:rPr lang="en-US" sz="2400" dirty="0">
                <a:solidFill>
                  <a:srgbClr val="FF0000"/>
                </a:solidFill>
                <a:latin typeface="Bookman Old Style" pitchFamily="18" charset="0"/>
              </a:rPr>
              <a:t>S</a:t>
            </a:r>
            <a:r>
              <a:rPr lang="en-US" sz="2400" dirty="0" smtClean="0">
                <a:solidFill>
                  <a:srgbClr val="FF0000"/>
                </a:solidFill>
                <a:effectLst/>
                <a:latin typeface="Bookman Old Style" pitchFamily="18" charset="0"/>
              </a:rPr>
              <a:t>tem volume that perturbs first cell is less than that which perturbs second one.</a:t>
            </a:r>
            <a:endParaRPr lang="it-IT" sz="2400" dirty="0">
              <a:solidFill>
                <a:srgbClr val="FF0000"/>
              </a:solidFill>
              <a:latin typeface="Bookman Old Style" pitchFamily="18" charset="0"/>
            </a:endParaRPr>
          </a:p>
        </p:txBody>
      </p:sp>
      <p:sp>
        <p:nvSpPr>
          <p:cNvPr id="6" name="CasellaDiTesto 5"/>
          <p:cNvSpPr txBox="1"/>
          <p:nvPr/>
        </p:nvSpPr>
        <p:spPr>
          <a:xfrm>
            <a:off x="7560638" y="1843406"/>
            <a:ext cx="3052432" cy="5363518"/>
          </a:xfrm>
          <a:prstGeom prst="rect">
            <a:avLst/>
          </a:prstGeom>
          <a:noFill/>
        </p:spPr>
        <p:txBody>
          <a:bodyPr wrap="square" lIns="130046" tIns="65023" rIns="130046" bIns="65023" rtlCol="0">
            <a:spAutoFit/>
          </a:bodyPr>
          <a:lstStyle/>
          <a:p>
            <a:pPr marL="487672" indent="-487672" algn="just">
              <a:buAutoNum type="arabicParenR"/>
            </a:pPr>
            <a:r>
              <a:rPr lang="en-US" sz="2000" dirty="0">
                <a:latin typeface="Bookman Old Style" pitchFamily="18" charset="0"/>
              </a:rPr>
              <a:t>We decrease triangle height until cell resonant frequency is less than that corrected for stem (moving A point from top to bottom);</a:t>
            </a:r>
          </a:p>
          <a:p>
            <a:pPr marL="487672" indent="-487672" algn="just">
              <a:buAutoNum type="arabicParenR"/>
            </a:pPr>
            <a:r>
              <a:rPr lang="en-US" sz="2000" dirty="0">
                <a:latin typeface="Bookman Old Style" pitchFamily="18" charset="0"/>
              </a:rPr>
              <a:t>we decrease triangle base until cell resonant frequency is equal to that corrected for stem (moving B point from left to right).</a:t>
            </a:r>
            <a:endParaRPr lang="it-IT" sz="2000" dirty="0">
              <a:latin typeface="Bookman Old Style" pitchFamily="18" charset="0"/>
            </a:endParaRPr>
          </a:p>
        </p:txBody>
      </p:sp>
    </p:spTree>
    <p:extLst>
      <p:ext uri="{BB962C8B-B14F-4D97-AF65-F5344CB8AC3E}">
        <p14:creationId xmlns:p14="http://schemas.microsoft.com/office/powerpoint/2010/main" val="4169012443"/>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2902000" y="-235768"/>
            <a:ext cx="6048672" cy="1600201"/>
          </a:xfrm>
          <a:solidFill>
            <a:srgbClr val="FFFFFF"/>
          </a:solidFill>
          <a:extLst/>
        </p:spPr>
        <p:txBody>
          <a:bodyPr/>
          <a:lstStyle/>
          <a:p>
            <a:pPr>
              <a:defRPr/>
            </a:pPr>
            <a:r>
              <a:rPr lang="it-IT" sz="3800" dirty="0">
                <a:ln>
                  <a:solidFill>
                    <a:srgbClr val="2B5046"/>
                  </a:solidFill>
                </a:ln>
                <a:solidFill>
                  <a:srgbClr val="223131"/>
                </a:solidFill>
              </a:rPr>
              <a:t>CERN</a:t>
            </a:r>
            <a:r>
              <a:rPr lang="it-IT" sz="3800" dirty="0" smtClean="0">
                <a:ln>
                  <a:solidFill>
                    <a:srgbClr val="2B5046"/>
                  </a:solidFill>
                </a:ln>
                <a:solidFill>
                  <a:srgbClr val="223131"/>
                </a:solidFill>
              </a:rPr>
              <a:t>-INFN DTL </a:t>
            </a:r>
            <a:r>
              <a:rPr lang="it-IT" sz="3800" dirty="0" err="1">
                <a:ln>
                  <a:solidFill>
                    <a:srgbClr val="2B5046"/>
                  </a:solidFill>
                </a:ln>
                <a:solidFill>
                  <a:srgbClr val="223131"/>
                </a:solidFill>
              </a:rPr>
              <a:t>prototype</a:t>
            </a:r>
            <a:r>
              <a:rPr lang="it-IT" sz="3800" dirty="0">
                <a:ln>
                  <a:solidFill>
                    <a:srgbClr val="2B5046"/>
                  </a:solidFill>
                </a:ln>
                <a:solidFill>
                  <a:srgbClr val="223131"/>
                </a:solidFill>
              </a:rPr>
              <a:t>, </a:t>
            </a:r>
            <a:r>
              <a:rPr lang="it-IT" sz="3800" dirty="0" err="1">
                <a:ln>
                  <a:solidFill>
                    <a:srgbClr val="2B5046"/>
                  </a:solidFill>
                </a:ln>
                <a:solidFill>
                  <a:srgbClr val="223131"/>
                </a:solidFill>
              </a:rPr>
              <a:t>based</a:t>
            </a:r>
            <a:r>
              <a:rPr lang="it-IT" sz="3800" dirty="0">
                <a:ln>
                  <a:solidFill>
                    <a:srgbClr val="2B5046"/>
                  </a:solidFill>
                </a:ln>
                <a:solidFill>
                  <a:srgbClr val="223131"/>
                </a:solidFill>
              </a:rPr>
              <a:t> on CERN design</a:t>
            </a:r>
          </a:p>
        </p:txBody>
      </p:sp>
      <p:pic>
        <p:nvPicPr>
          <p:cNvPr id="47106" name="Picture 4" descr="Poutre_tank"/>
          <p:cNvPicPr>
            <a:picLocks noChangeAspect="1" noChangeArrowheads="1"/>
          </p:cNvPicPr>
          <p:nvPr/>
        </p:nvPicPr>
        <p:blipFill>
          <a:blip r:embed="rId3">
            <a:extLst>
              <a:ext uri="{28A0092B-C50C-407E-A947-70E740481C1C}">
                <a14:useLocalDpi xmlns:a14="http://schemas.microsoft.com/office/drawing/2010/main" val="0"/>
              </a:ext>
            </a:extLst>
          </a:blip>
          <a:srcRect l="27419" t="4642" r="29033" b="2515"/>
          <a:stretch>
            <a:fillRect/>
          </a:stretch>
        </p:blipFill>
        <p:spPr bwMode="auto">
          <a:xfrm>
            <a:off x="8439574" y="3140571"/>
            <a:ext cx="4425244" cy="6613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7" name="Picture 5" descr="Poutre-drif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51147" y="0"/>
            <a:ext cx="4253653" cy="3106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4190436"/>
            <a:ext cx="3680178" cy="2991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9" name="Picture 7" descr="DSCN11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26366" y="1600766"/>
            <a:ext cx="4870026" cy="3957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0" name="Text Box 8"/>
          <p:cNvSpPr txBox="1">
            <a:spLocks noChangeArrowheads="1"/>
          </p:cNvSpPr>
          <p:nvPr/>
        </p:nvSpPr>
        <p:spPr bwMode="auto">
          <a:xfrm>
            <a:off x="1167273" y="7924801"/>
            <a:ext cx="2560320" cy="1241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4124" tIns="62062" rIns="124124" bIns="62062">
            <a:spAutoFit/>
          </a:bodyPr>
          <a:lstStyle>
            <a:lvl1pPr eaLnBrk="0" hangingPunct="0">
              <a:defRPr sz="2400">
                <a:solidFill>
                  <a:schemeClr val="tx1"/>
                </a:solidFill>
                <a:latin typeface="MS UI Gothic" charset="0"/>
                <a:ea typeface="ＭＳ Ｐゴシック" charset="0"/>
                <a:cs typeface="ＭＳ Ｐゴシック" charset="0"/>
              </a:defRPr>
            </a:lvl1pPr>
            <a:lvl2pPr marL="742950" indent="-285750" eaLnBrk="0" hangingPunct="0">
              <a:defRPr sz="2400">
                <a:solidFill>
                  <a:schemeClr val="tx1"/>
                </a:solidFill>
                <a:latin typeface="MS UI Gothic" charset="0"/>
                <a:ea typeface="ＭＳ Ｐゴシック" charset="0"/>
              </a:defRPr>
            </a:lvl2pPr>
            <a:lvl3pPr marL="1143000" indent="-228600" eaLnBrk="0" hangingPunct="0">
              <a:defRPr sz="2400">
                <a:solidFill>
                  <a:schemeClr val="tx1"/>
                </a:solidFill>
                <a:latin typeface="MS UI Gothic" charset="0"/>
                <a:ea typeface="ＭＳ Ｐゴシック" charset="0"/>
              </a:defRPr>
            </a:lvl3pPr>
            <a:lvl4pPr marL="1600200" indent="-228600" eaLnBrk="0" hangingPunct="0">
              <a:defRPr sz="2400">
                <a:solidFill>
                  <a:schemeClr val="tx1"/>
                </a:solidFill>
                <a:latin typeface="MS UI Gothic" charset="0"/>
                <a:ea typeface="ＭＳ Ｐゴシック" charset="0"/>
              </a:defRPr>
            </a:lvl4pPr>
            <a:lvl5pPr marL="2057400" indent="-228600" eaLnBrk="0" hangingPunct="0">
              <a:defRPr sz="2400">
                <a:solidFill>
                  <a:schemeClr val="tx1"/>
                </a:solidFill>
                <a:latin typeface="MS UI Gothic" charset="0"/>
                <a:ea typeface="ＭＳ Ｐゴシック" charset="0"/>
              </a:defRPr>
            </a:lvl5pPr>
            <a:lvl6pPr marL="2514600" indent="-228600" eaLnBrk="0" fontAlgn="base" hangingPunct="0">
              <a:spcBef>
                <a:spcPct val="0"/>
              </a:spcBef>
              <a:spcAft>
                <a:spcPct val="0"/>
              </a:spcAft>
              <a:defRPr sz="2400">
                <a:solidFill>
                  <a:schemeClr val="tx1"/>
                </a:solidFill>
                <a:latin typeface="MS UI Gothic" charset="0"/>
                <a:ea typeface="ＭＳ Ｐゴシック" charset="0"/>
              </a:defRPr>
            </a:lvl6pPr>
            <a:lvl7pPr marL="2971800" indent="-228600" eaLnBrk="0" fontAlgn="base" hangingPunct="0">
              <a:spcBef>
                <a:spcPct val="0"/>
              </a:spcBef>
              <a:spcAft>
                <a:spcPct val="0"/>
              </a:spcAft>
              <a:defRPr sz="2400">
                <a:solidFill>
                  <a:schemeClr val="tx1"/>
                </a:solidFill>
                <a:latin typeface="MS UI Gothic" charset="0"/>
                <a:ea typeface="ＭＳ Ｐゴシック" charset="0"/>
              </a:defRPr>
            </a:lvl7pPr>
            <a:lvl8pPr marL="3429000" indent="-228600" eaLnBrk="0" fontAlgn="base" hangingPunct="0">
              <a:spcBef>
                <a:spcPct val="0"/>
              </a:spcBef>
              <a:spcAft>
                <a:spcPct val="0"/>
              </a:spcAft>
              <a:defRPr sz="2400">
                <a:solidFill>
                  <a:schemeClr val="tx1"/>
                </a:solidFill>
                <a:latin typeface="MS UI Gothic" charset="0"/>
                <a:ea typeface="ＭＳ Ｐゴシック" charset="0"/>
              </a:defRPr>
            </a:lvl8pPr>
            <a:lvl9pPr marL="3886200" indent="-228600" eaLnBrk="0" fontAlgn="base" hangingPunct="0">
              <a:spcBef>
                <a:spcPct val="0"/>
              </a:spcBef>
              <a:spcAft>
                <a:spcPct val="0"/>
              </a:spcAft>
              <a:defRPr sz="2400">
                <a:solidFill>
                  <a:schemeClr val="tx1"/>
                </a:solidFill>
                <a:latin typeface="MS UI Gothic" charset="0"/>
                <a:ea typeface="ＭＳ Ｐゴシック" charset="0"/>
              </a:defRPr>
            </a:lvl9pPr>
          </a:lstStyle>
          <a:p>
            <a:pPr eaLnBrk="1" hangingPunct="1"/>
            <a:r>
              <a:rPr lang="it-IT"/>
              <a:t>Tank machining at Cinel (Vigonza-Italy)</a:t>
            </a:r>
          </a:p>
        </p:txBody>
      </p:sp>
      <p:pic>
        <p:nvPicPr>
          <p:cNvPr id="47111" name="Immagine 9"/>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0" y="-38383"/>
            <a:ext cx="2783841" cy="4077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2" name="Picture 2" descr="IMG_106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82436" y="5563165"/>
            <a:ext cx="4605867" cy="327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5"/>
          <p:cNvSpPr txBox="1">
            <a:spLocks noGrp="1" noChangeArrowheads="1"/>
          </p:cNvSpPr>
          <p:nvPr>
            <p:ph type="sldNum" sz="quarter" idx="4294967295"/>
          </p:nvPr>
        </p:nvSpPr>
        <p:spPr bwMode="auto">
          <a:xfrm>
            <a:off x="12263040" y="9083228"/>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solidFill>
                  <a:srgbClr val="FF0000"/>
                </a:solidFill>
              </a:rPr>
              <a:pPr/>
              <a:t>29</a:t>
            </a:fld>
            <a:endParaRPr lang="en-US" dirty="0">
              <a:solidFill>
                <a:srgbClr val="FF0000"/>
              </a:solidFill>
            </a:endParaRPr>
          </a:p>
        </p:txBody>
      </p:sp>
    </p:spTree>
    <p:extLst>
      <p:ext uri="{BB962C8B-B14F-4D97-AF65-F5344CB8AC3E}">
        <p14:creationId xmlns:p14="http://schemas.microsoft.com/office/powerpoint/2010/main" val="1920994104"/>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Immagin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05" y="-230293"/>
            <a:ext cx="13235095" cy="9647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0" name="Immagin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56498" y="-106116"/>
            <a:ext cx="5917636" cy="720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30</a:t>
            </a:fld>
            <a:endParaRPr lang="en-US"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31</a:t>
            </a:fld>
            <a:endParaRPr lang="en-US" dirty="0"/>
          </a:p>
        </p:txBody>
      </p:sp>
      <p:pic>
        <p:nvPicPr>
          <p:cNvPr id="5" name="Immagine 4"/>
          <p:cNvPicPr>
            <a:picLocks noChangeAspect="1"/>
          </p:cNvPicPr>
          <p:nvPr/>
        </p:nvPicPr>
        <p:blipFill>
          <a:blip r:embed="rId2"/>
          <a:stretch>
            <a:fillRect/>
          </a:stretch>
        </p:blipFill>
        <p:spPr>
          <a:xfrm>
            <a:off x="159841" y="2140496"/>
            <a:ext cx="7782719" cy="4896544"/>
          </a:xfrm>
          <a:prstGeom prst="rect">
            <a:avLst/>
          </a:prstGeom>
        </p:spPr>
      </p:pic>
      <p:sp>
        <p:nvSpPr>
          <p:cNvPr id="2" name="CasellaDiTesto 1"/>
          <p:cNvSpPr txBox="1"/>
          <p:nvPr/>
        </p:nvSpPr>
        <p:spPr>
          <a:xfrm>
            <a:off x="3199693" y="412304"/>
            <a:ext cx="5254639" cy="923330"/>
          </a:xfrm>
          <a:prstGeom prst="rect">
            <a:avLst/>
          </a:prstGeom>
          <a:noFill/>
        </p:spPr>
        <p:txBody>
          <a:bodyPr wrap="none" rtlCol="0">
            <a:spAutoFit/>
          </a:bodyPr>
          <a:lstStyle/>
          <a:p>
            <a:r>
              <a:rPr lang="it-IT" sz="5400" b="1" dirty="0" err="1" smtClean="0">
                <a:solidFill>
                  <a:schemeClr val="accent1">
                    <a:lumMod val="75000"/>
                  </a:schemeClr>
                </a:solidFill>
              </a:rPr>
              <a:t>Disadvantages</a:t>
            </a:r>
            <a:endParaRPr lang="it-IT" sz="5400" b="1" dirty="0">
              <a:solidFill>
                <a:schemeClr val="accent1">
                  <a:lumMod val="75000"/>
                </a:schemeClr>
              </a:solidFill>
            </a:endParaRPr>
          </a:p>
        </p:txBody>
      </p:sp>
      <p:sp>
        <p:nvSpPr>
          <p:cNvPr id="3" name="CasellaDiTesto 2"/>
          <p:cNvSpPr txBox="1"/>
          <p:nvPr/>
        </p:nvSpPr>
        <p:spPr>
          <a:xfrm>
            <a:off x="-284164" y="7596261"/>
            <a:ext cx="8802788" cy="2031325"/>
          </a:xfrm>
          <a:prstGeom prst="rect">
            <a:avLst/>
          </a:prstGeom>
          <a:noFill/>
        </p:spPr>
        <p:txBody>
          <a:bodyPr wrap="square" rtlCol="0">
            <a:spAutoFit/>
          </a:bodyPr>
          <a:lstStyle/>
          <a:p>
            <a:r>
              <a:rPr lang="it-IT" b="1" dirty="0" err="1" smtClean="0">
                <a:solidFill>
                  <a:srgbClr val="FF0000"/>
                </a:solidFill>
              </a:rPr>
              <a:t>Matching</a:t>
            </a:r>
            <a:r>
              <a:rPr lang="it-IT" b="1" dirty="0" smtClean="0">
                <a:solidFill>
                  <a:srgbClr val="FF0000"/>
                </a:solidFill>
              </a:rPr>
              <a:t>, </a:t>
            </a:r>
            <a:r>
              <a:rPr lang="it-IT" b="1" dirty="0" err="1" smtClean="0">
                <a:solidFill>
                  <a:srgbClr val="FF0000"/>
                </a:solidFill>
              </a:rPr>
              <a:t>cost</a:t>
            </a:r>
            <a:r>
              <a:rPr lang="it-IT" b="1" dirty="0" smtClean="0">
                <a:solidFill>
                  <a:srgbClr val="FF0000"/>
                </a:solidFill>
              </a:rPr>
              <a:t>, </a:t>
            </a:r>
            <a:r>
              <a:rPr lang="it-IT" b="1" dirty="0" err="1" smtClean="0">
                <a:solidFill>
                  <a:srgbClr val="FF0000"/>
                </a:solidFill>
              </a:rPr>
              <a:t>length</a:t>
            </a:r>
            <a:r>
              <a:rPr lang="it-IT" b="1" dirty="0" smtClean="0">
                <a:solidFill>
                  <a:srgbClr val="FF0000"/>
                </a:solidFill>
              </a:rPr>
              <a:t> (</a:t>
            </a:r>
            <a:r>
              <a:rPr lang="it-IT" b="1" dirty="0" err="1" smtClean="0">
                <a:solidFill>
                  <a:srgbClr val="FF0000"/>
                </a:solidFill>
              </a:rPr>
              <a:t>not</a:t>
            </a:r>
            <a:r>
              <a:rPr lang="it-IT" b="1" dirty="0" smtClean="0">
                <a:solidFill>
                  <a:srgbClr val="FF0000"/>
                </a:solidFill>
              </a:rPr>
              <a:t> </a:t>
            </a:r>
            <a:r>
              <a:rPr lang="it-IT" b="1" dirty="0" err="1" smtClean="0">
                <a:solidFill>
                  <a:srgbClr val="FF0000"/>
                </a:solidFill>
              </a:rPr>
              <a:t>compensated</a:t>
            </a:r>
            <a:r>
              <a:rPr lang="it-IT" b="1" dirty="0" smtClean="0">
                <a:solidFill>
                  <a:srgbClr val="FF0000"/>
                </a:solidFill>
              </a:rPr>
              <a:t> by </a:t>
            </a:r>
            <a:r>
              <a:rPr lang="it-IT" b="1" dirty="0" err="1" smtClean="0">
                <a:solidFill>
                  <a:srgbClr val="FF0000"/>
                </a:solidFill>
              </a:rPr>
              <a:t>cryogenics</a:t>
            </a:r>
            <a:r>
              <a:rPr lang="it-IT" b="1" dirty="0" smtClean="0">
                <a:solidFill>
                  <a:srgbClr val="FF0000"/>
                </a:solidFill>
              </a:rPr>
              <a:t>’ </a:t>
            </a:r>
            <a:r>
              <a:rPr lang="it-IT" b="1" dirty="0" err="1" smtClean="0">
                <a:solidFill>
                  <a:srgbClr val="FF0000"/>
                </a:solidFill>
              </a:rPr>
              <a:t>savings</a:t>
            </a:r>
            <a:endParaRPr lang="it-IT" b="1" dirty="0">
              <a:solidFill>
                <a:srgbClr val="FF0000"/>
              </a:solidFill>
            </a:endParaRPr>
          </a:p>
        </p:txBody>
      </p:sp>
      <p:pic>
        <p:nvPicPr>
          <p:cNvPr id="6" name="Immagine 5"/>
          <p:cNvPicPr>
            <a:picLocks noChangeAspect="1"/>
          </p:cNvPicPr>
          <p:nvPr/>
        </p:nvPicPr>
        <p:blipFill>
          <a:blip r:embed="rId3"/>
          <a:stretch>
            <a:fillRect/>
          </a:stretch>
        </p:blipFill>
        <p:spPr>
          <a:xfrm>
            <a:off x="8078068" y="1636440"/>
            <a:ext cx="4926732" cy="6384345"/>
          </a:xfrm>
          <a:prstGeom prst="rect">
            <a:avLst/>
          </a:prstGeom>
        </p:spPr>
      </p:pic>
    </p:spTree>
    <p:extLst>
      <p:ext uri="{BB962C8B-B14F-4D97-AF65-F5344CB8AC3E}">
        <p14:creationId xmlns:p14="http://schemas.microsoft.com/office/powerpoint/2010/main" val="3682013369"/>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32</a:t>
            </a:fld>
            <a:endParaRPr lang="en-US" dirty="0"/>
          </a:p>
        </p:txBody>
      </p:sp>
      <p:pic>
        <p:nvPicPr>
          <p:cNvPr id="5" name="Immagine 4"/>
          <p:cNvPicPr>
            <a:picLocks noChangeAspect="1"/>
          </p:cNvPicPr>
          <p:nvPr/>
        </p:nvPicPr>
        <p:blipFill>
          <a:blip r:embed="rId2"/>
          <a:stretch>
            <a:fillRect/>
          </a:stretch>
        </p:blipFill>
        <p:spPr>
          <a:xfrm>
            <a:off x="165696" y="22095"/>
            <a:ext cx="13004800" cy="9481392"/>
          </a:xfrm>
          <a:prstGeom prst="rect">
            <a:avLst/>
          </a:prstGeom>
        </p:spPr>
      </p:pic>
    </p:spTree>
    <p:extLst>
      <p:ext uri="{BB962C8B-B14F-4D97-AF65-F5344CB8AC3E}">
        <p14:creationId xmlns:p14="http://schemas.microsoft.com/office/powerpoint/2010/main" val="1675627143"/>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33</a:t>
            </a:fld>
            <a:endParaRPr lang="en-US" dirty="0"/>
          </a:p>
        </p:txBody>
      </p:sp>
      <p:pic>
        <p:nvPicPr>
          <p:cNvPr id="2" name="Immagine 1"/>
          <p:cNvPicPr>
            <a:picLocks noChangeAspect="1"/>
          </p:cNvPicPr>
          <p:nvPr/>
        </p:nvPicPr>
        <p:blipFill>
          <a:blip r:embed="rId2">
            <a:extLst>
              <a:ext uri="{BEBA8EAE-BF5A-486C-A8C5-ECC9F3942E4B}">
                <a14:imgProps xmlns:a14="http://schemas.microsoft.com/office/drawing/2010/main">
                  <a14:imgLayer r:embed="rId3">
                    <a14:imgEffect>
                      <a14:brightnessContrast bright="40000"/>
                    </a14:imgEffect>
                  </a14:imgLayer>
                </a14:imgProps>
              </a:ext>
            </a:extLst>
          </a:blip>
          <a:stretch>
            <a:fillRect/>
          </a:stretch>
        </p:blipFill>
        <p:spPr>
          <a:xfrm>
            <a:off x="1451024" y="1425004"/>
            <a:ext cx="10668000" cy="7988300"/>
          </a:xfrm>
          <a:prstGeom prst="rect">
            <a:avLst/>
          </a:prstGeom>
        </p:spPr>
      </p:pic>
      <p:sp>
        <p:nvSpPr>
          <p:cNvPr id="3" name="CasellaDiTesto 2"/>
          <p:cNvSpPr txBox="1"/>
          <p:nvPr/>
        </p:nvSpPr>
        <p:spPr>
          <a:xfrm>
            <a:off x="3161616" y="340296"/>
            <a:ext cx="7373232" cy="1569660"/>
          </a:xfrm>
          <a:prstGeom prst="rect">
            <a:avLst/>
          </a:prstGeom>
          <a:noFill/>
        </p:spPr>
        <p:txBody>
          <a:bodyPr wrap="none" rtlCol="0">
            <a:spAutoFit/>
          </a:bodyPr>
          <a:lstStyle/>
          <a:p>
            <a:r>
              <a:rPr lang="it-IT" sz="4800" b="1" dirty="0" smtClean="0">
                <a:solidFill>
                  <a:srgbClr val="376092"/>
                </a:solidFill>
              </a:rPr>
              <a:t>First </a:t>
            </a:r>
            <a:r>
              <a:rPr lang="it-IT" sz="4800" b="1" dirty="0" err="1" smtClean="0">
                <a:solidFill>
                  <a:srgbClr val="376092"/>
                </a:solidFill>
              </a:rPr>
              <a:t>prototype</a:t>
            </a:r>
            <a:r>
              <a:rPr lang="it-IT" sz="4800" b="1" dirty="0" smtClean="0">
                <a:solidFill>
                  <a:srgbClr val="376092"/>
                </a:solidFill>
              </a:rPr>
              <a:t> in 2013</a:t>
            </a:r>
          </a:p>
          <a:p>
            <a:r>
              <a:rPr lang="it-IT" sz="4800" b="1" dirty="0" err="1">
                <a:solidFill>
                  <a:srgbClr val="376092"/>
                </a:solidFill>
              </a:rPr>
              <a:t>a</a:t>
            </a:r>
            <a:r>
              <a:rPr lang="it-IT" sz="4800" b="1" dirty="0" err="1" smtClean="0">
                <a:solidFill>
                  <a:srgbClr val="376092"/>
                </a:solidFill>
              </a:rPr>
              <a:t>t</a:t>
            </a:r>
            <a:r>
              <a:rPr lang="it-IT" sz="4800" b="1" dirty="0" smtClean="0">
                <a:solidFill>
                  <a:srgbClr val="376092"/>
                </a:solidFill>
              </a:rPr>
              <a:t> IPN-Orsay</a:t>
            </a:r>
            <a:endParaRPr lang="it-IT" sz="4800" b="1" dirty="0">
              <a:solidFill>
                <a:srgbClr val="376092"/>
              </a:solidFill>
            </a:endParaRPr>
          </a:p>
        </p:txBody>
      </p:sp>
    </p:spTree>
    <p:extLst>
      <p:ext uri="{BB962C8B-B14F-4D97-AF65-F5344CB8AC3E}">
        <p14:creationId xmlns:p14="http://schemas.microsoft.com/office/powerpoint/2010/main" val="2890053484"/>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Grp="1" noChangeArrowheads="1"/>
          </p:cNvSpPr>
          <p:nvPr>
            <p:ph type="sldNum" sz="quarter" idx="4294967295"/>
          </p:nvPr>
        </p:nvSpPr>
        <p:spPr bwMode="auto">
          <a:xfrm>
            <a:off x="11758984" y="9198879"/>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34</a:t>
            </a:fld>
            <a:endParaRPr lang="en-US" dirty="0"/>
          </a:p>
        </p:txBody>
      </p:sp>
      <p:sp>
        <p:nvSpPr>
          <p:cNvPr id="5" name="CasellaDiTesto 4"/>
          <p:cNvSpPr txBox="1"/>
          <p:nvPr/>
        </p:nvSpPr>
        <p:spPr>
          <a:xfrm>
            <a:off x="3046016" y="52264"/>
            <a:ext cx="6768752" cy="1323439"/>
          </a:xfrm>
          <a:prstGeom prst="rect">
            <a:avLst/>
          </a:prstGeom>
          <a:noFill/>
        </p:spPr>
        <p:txBody>
          <a:bodyPr wrap="square" rtlCol="0">
            <a:spAutoFit/>
          </a:bodyPr>
          <a:lstStyle/>
          <a:p>
            <a:r>
              <a:rPr lang="it-IT" sz="4000" b="1" dirty="0" err="1" smtClean="0">
                <a:solidFill>
                  <a:srgbClr val="376092"/>
                </a:solidFill>
              </a:rPr>
              <a:t>Elliptical</a:t>
            </a:r>
            <a:r>
              <a:rPr lang="it-IT" sz="4000" b="1" dirty="0" smtClean="0">
                <a:solidFill>
                  <a:srgbClr val="376092"/>
                </a:solidFill>
              </a:rPr>
              <a:t> </a:t>
            </a:r>
            <a:r>
              <a:rPr lang="it-IT" sz="4000" b="1" dirty="0" err="1" smtClean="0">
                <a:solidFill>
                  <a:srgbClr val="376092"/>
                </a:solidFill>
              </a:rPr>
              <a:t>cavities</a:t>
            </a:r>
            <a:r>
              <a:rPr lang="it-IT" sz="4000" b="1" dirty="0" smtClean="0">
                <a:solidFill>
                  <a:srgbClr val="376092"/>
                </a:solidFill>
              </a:rPr>
              <a:t> design </a:t>
            </a:r>
            <a:r>
              <a:rPr lang="it-IT" sz="4000" b="1" dirty="0" err="1" smtClean="0">
                <a:solidFill>
                  <a:srgbClr val="376092"/>
                </a:solidFill>
              </a:rPr>
              <a:t>at</a:t>
            </a:r>
            <a:r>
              <a:rPr lang="it-IT" sz="4000" b="1" dirty="0" smtClean="0">
                <a:solidFill>
                  <a:srgbClr val="376092"/>
                </a:solidFill>
              </a:rPr>
              <a:t> CEA-IRFU, </a:t>
            </a:r>
            <a:r>
              <a:rPr lang="it-IT" sz="4000" b="1" dirty="0" err="1" smtClean="0">
                <a:solidFill>
                  <a:srgbClr val="376092"/>
                </a:solidFill>
              </a:rPr>
              <a:t>Saclay</a:t>
            </a:r>
            <a:endParaRPr lang="it-IT" sz="4000" b="1" dirty="0">
              <a:solidFill>
                <a:srgbClr val="376092"/>
              </a:solidFill>
            </a:endParaRPr>
          </a:p>
        </p:txBody>
      </p:sp>
      <p:sp>
        <p:nvSpPr>
          <p:cNvPr id="2" name="CasellaDiTesto 1"/>
          <p:cNvSpPr txBox="1"/>
          <p:nvPr/>
        </p:nvSpPr>
        <p:spPr>
          <a:xfrm>
            <a:off x="237704" y="2140496"/>
            <a:ext cx="12313368" cy="4616648"/>
          </a:xfrm>
          <a:prstGeom prst="rect">
            <a:avLst/>
          </a:prstGeom>
          <a:noFill/>
        </p:spPr>
        <p:txBody>
          <a:bodyPr wrap="square" rtlCol="0">
            <a:spAutoFit/>
          </a:bodyPr>
          <a:lstStyle/>
          <a:p>
            <a:pPr algn="just"/>
            <a:r>
              <a:rPr lang="it-IT" dirty="0"/>
              <a:t>The </a:t>
            </a:r>
            <a:r>
              <a:rPr lang="it-IT" dirty="0" err="1"/>
              <a:t>elliptical</a:t>
            </a:r>
            <a:r>
              <a:rPr lang="it-IT" dirty="0"/>
              <a:t> </a:t>
            </a:r>
            <a:r>
              <a:rPr lang="it-IT" dirty="0" err="1"/>
              <a:t>superconducting</a:t>
            </a:r>
            <a:r>
              <a:rPr lang="it-IT" dirty="0"/>
              <a:t> </a:t>
            </a:r>
            <a:r>
              <a:rPr lang="it-IT" dirty="0" err="1"/>
              <a:t>linac</a:t>
            </a:r>
            <a:r>
              <a:rPr lang="it-IT" dirty="0"/>
              <a:t> </a:t>
            </a:r>
            <a:r>
              <a:rPr lang="it-IT" dirty="0" err="1"/>
              <a:t>consists</a:t>
            </a:r>
            <a:r>
              <a:rPr lang="it-IT" dirty="0"/>
              <a:t> of </a:t>
            </a:r>
            <a:r>
              <a:rPr lang="it-IT" dirty="0" err="1"/>
              <a:t>two</a:t>
            </a:r>
            <a:r>
              <a:rPr lang="it-IT" dirty="0"/>
              <a:t> </a:t>
            </a:r>
            <a:r>
              <a:rPr lang="it-IT" dirty="0" err="1"/>
              <a:t>types</a:t>
            </a:r>
            <a:r>
              <a:rPr lang="it-IT" dirty="0"/>
              <a:t> of </a:t>
            </a:r>
            <a:r>
              <a:rPr lang="it-IT" dirty="0" err="1"/>
              <a:t>cavities</a:t>
            </a:r>
            <a:r>
              <a:rPr lang="it-IT" dirty="0"/>
              <a:t> – medium beta and high beta – to accelerate the </a:t>
            </a:r>
            <a:r>
              <a:rPr lang="it-IT" dirty="0" err="1"/>
              <a:t>beam</a:t>
            </a:r>
            <a:r>
              <a:rPr lang="it-IT" dirty="0"/>
              <a:t> from the </a:t>
            </a:r>
            <a:r>
              <a:rPr lang="it-IT" dirty="0" err="1"/>
              <a:t>spoke</a:t>
            </a:r>
            <a:r>
              <a:rPr lang="it-IT" dirty="0"/>
              <a:t> </a:t>
            </a:r>
            <a:r>
              <a:rPr lang="it-IT" dirty="0" err="1"/>
              <a:t>superconducting</a:t>
            </a:r>
            <a:r>
              <a:rPr lang="it-IT" dirty="0"/>
              <a:t> </a:t>
            </a:r>
            <a:r>
              <a:rPr lang="it-IT" dirty="0" err="1"/>
              <a:t>linac</a:t>
            </a:r>
            <a:r>
              <a:rPr lang="it-IT" dirty="0"/>
              <a:t> </a:t>
            </a:r>
            <a:r>
              <a:rPr lang="it-IT" dirty="0" err="1" smtClean="0"/>
              <a:t>energy</a:t>
            </a:r>
            <a:r>
              <a:rPr lang="it-IT" dirty="0" smtClean="0"/>
              <a:t> (191 </a:t>
            </a:r>
            <a:r>
              <a:rPr lang="it-IT" dirty="0" err="1" smtClean="0"/>
              <a:t>MeV</a:t>
            </a:r>
            <a:r>
              <a:rPr lang="it-IT" dirty="0" smtClean="0"/>
              <a:t>) up </a:t>
            </a:r>
            <a:r>
              <a:rPr lang="it-IT" dirty="0"/>
              <a:t>to full </a:t>
            </a:r>
            <a:r>
              <a:rPr lang="it-IT" dirty="0" err="1" smtClean="0"/>
              <a:t>energy</a:t>
            </a:r>
            <a:r>
              <a:rPr lang="it-IT" dirty="0" smtClean="0"/>
              <a:t> (653 </a:t>
            </a:r>
            <a:r>
              <a:rPr lang="it-IT" dirty="0" err="1" smtClean="0"/>
              <a:t>MeV</a:t>
            </a:r>
            <a:r>
              <a:rPr lang="it-IT" dirty="0" smtClean="0"/>
              <a:t> in the medium beta, 2500 </a:t>
            </a:r>
            <a:r>
              <a:rPr lang="it-IT" dirty="0" err="1" smtClean="0"/>
              <a:t>MeV</a:t>
            </a:r>
            <a:r>
              <a:rPr lang="it-IT" dirty="0" smtClean="0"/>
              <a:t> the high beta). </a:t>
            </a:r>
          </a:p>
          <a:p>
            <a:pPr algn="just"/>
            <a:r>
              <a:rPr lang="it-IT" dirty="0" smtClean="0"/>
              <a:t>The </a:t>
            </a:r>
            <a:r>
              <a:rPr lang="it-IT" dirty="0" err="1"/>
              <a:t>profile</a:t>
            </a:r>
            <a:r>
              <a:rPr lang="it-IT" dirty="0"/>
              <a:t> of a 5-cell high beta </a:t>
            </a:r>
            <a:r>
              <a:rPr lang="it-IT" dirty="0" err="1"/>
              <a:t>cavity</a:t>
            </a:r>
            <a:r>
              <a:rPr lang="it-IT" dirty="0"/>
              <a:t> </a:t>
            </a:r>
            <a:r>
              <a:rPr lang="it-IT" dirty="0" err="1"/>
              <a:t>is</a:t>
            </a:r>
            <a:r>
              <a:rPr lang="it-IT" dirty="0"/>
              <a:t> </a:t>
            </a:r>
            <a:r>
              <a:rPr lang="it-IT" dirty="0" err="1"/>
              <a:t>shown</a:t>
            </a:r>
            <a:r>
              <a:rPr lang="it-IT" dirty="0"/>
              <a:t> in </a:t>
            </a:r>
            <a:r>
              <a:rPr lang="it-IT" dirty="0" smtClean="0"/>
              <a:t>Figure.</a:t>
            </a:r>
            <a:endParaRPr lang="it-IT" dirty="0"/>
          </a:p>
        </p:txBody>
      </p:sp>
      <p:pic>
        <p:nvPicPr>
          <p:cNvPr id="3" name="Immagine 2"/>
          <p:cNvPicPr>
            <a:picLocks noChangeAspect="1"/>
          </p:cNvPicPr>
          <p:nvPr/>
        </p:nvPicPr>
        <p:blipFill>
          <a:blip r:embed="rId2"/>
          <a:stretch>
            <a:fillRect/>
          </a:stretch>
        </p:blipFill>
        <p:spPr>
          <a:xfrm>
            <a:off x="-3942" y="7181056"/>
            <a:ext cx="9932783" cy="2736304"/>
          </a:xfrm>
          <a:prstGeom prst="rect">
            <a:avLst/>
          </a:prstGeom>
        </p:spPr>
      </p:pic>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Grp="1" noChangeArrowheads="1"/>
          </p:cNvSpPr>
          <p:nvPr>
            <p:ph type="sldNum" sz="quarter" idx="4294967295"/>
          </p:nvPr>
        </p:nvSpPr>
        <p:spPr bwMode="auto">
          <a:xfrm>
            <a:off x="11758984" y="9198879"/>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35</a:t>
            </a:fld>
            <a:endParaRPr lang="en-US" dirty="0"/>
          </a:p>
        </p:txBody>
      </p:sp>
      <p:pic>
        <p:nvPicPr>
          <p:cNvPr id="3" name="Immagine 2"/>
          <p:cNvPicPr>
            <a:picLocks noChangeAspect="1"/>
          </p:cNvPicPr>
          <p:nvPr/>
        </p:nvPicPr>
        <p:blipFill>
          <a:blip r:embed="rId2"/>
          <a:stretch>
            <a:fillRect/>
          </a:stretch>
        </p:blipFill>
        <p:spPr>
          <a:xfrm>
            <a:off x="0" y="4809066"/>
            <a:ext cx="7042844" cy="4944534"/>
          </a:xfrm>
          <a:prstGeom prst="rect">
            <a:avLst/>
          </a:prstGeom>
        </p:spPr>
      </p:pic>
      <p:pic>
        <p:nvPicPr>
          <p:cNvPr id="5" name="Immagine 4"/>
          <p:cNvPicPr>
            <a:picLocks noChangeAspect="1"/>
          </p:cNvPicPr>
          <p:nvPr/>
        </p:nvPicPr>
        <p:blipFill>
          <a:blip r:embed="rId3"/>
          <a:stretch>
            <a:fillRect/>
          </a:stretch>
        </p:blipFill>
        <p:spPr>
          <a:xfrm>
            <a:off x="7476769" y="1420416"/>
            <a:ext cx="5520754" cy="6192688"/>
          </a:xfrm>
          <a:prstGeom prst="rect">
            <a:avLst/>
          </a:prstGeom>
        </p:spPr>
      </p:pic>
      <p:pic>
        <p:nvPicPr>
          <p:cNvPr id="6" name="Immagine 5"/>
          <p:cNvPicPr>
            <a:picLocks noChangeAspect="1"/>
          </p:cNvPicPr>
          <p:nvPr/>
        </p:nvPicPr>
        <p:blipFill>
          <a:blip r:embed="rId4"/>
          <a:stretch>
            <a:fillRect/>
          </a:stretch>
        </p:blipFill>
        <p:spPr>
          <a:xfrm>
            <a:off x="309712" y="268288"/>
            <a:ext cx="6846540" cy="4378817"/>
          </a:xfrm>
          <a:prstGeom prst="rect">
            <a:avLst/>
          </a:prstGeom>
        </p:spPr>
      </p:pic>
    </p:spTree>
    <p:extLst>
      <p:ext uri="{BB962C8B-B14F-4D97-AF65-F5344CB8AC3E}">
        <p14:creationId xmlns:p14="http://schemas.microsoft.com/office/powerpoint/2010/main" val="2180849145"/>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Grp="1" noChangeArrowheads="1"/>
          </p:cNvSpPr>
          <p:nvPr>
            <p:ph type="sldNum" sz="quarter" idx="4294967295"/>
          </p:nvPr>
        </p:nvSpPr>
        <p:spPr bwMode="auto">
          <a:xfrm>
            <a:off x="11758984" y="9198879"/>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36</a:t>
            </a:fld>
            <a:endParaRPr lang="en-US" dirty="0"/>
          </a:p>
        </p:txBody>
      </p:sp>
      <p:pic>
        <p:nvPicPr>
          <p:cNvPr id="2" name="Immagine 1"/>
          <p:cNvPicPr>
            <a:picLocks noChangeAspect="1"/>
          </p:cNvPicPr>
          <p:nvPr/>
        </p:nvPicPr>
        <p:blipFill>
          <a:blip r:embed="rId2"/>
          <a:stretch>
            <a:fillRect/>
          </a:stretch>
        </p:blipFill>
        <p:spPr>
          <a:xfrm>
            <a:off x="93688" y="1492424"/>
            <a:ext cx="13004800" cy="8193635"/>
          </a:xfrm>
          <a:prstGeom prst="rect">
            <a:avLst/>
          </a:prstGeom>
        </p:spPr>
      </p:pic>
      <p:sp>
        <p:nvSpPr>
          <p:cNvPr id="6" name="CasellaDiTesto 5"/>
          <p:cNvSpPr txBox="1"/>
          <p:nvPr/>
        </p:nvSpPr>
        <p:spPr>
          <a:xfrm>
            <a:off x="3046016" y="52264"/>
            <a:ext cx="6768752" cy="1323439"/>
          </a:xfrm>
          <a:prstGeom prst="rect">
            <a:avLst/>
          </a:prstGeom>
          <a:noFill/>
        </p:spPr>
        <p:txBody>
          <a:bodyPr wrap="square" rtlCol="0">
            <a:spAutoFit/>
          </a:bodyPr>
          <a:lstStyle/>
          <a:p>
            <a:r>
              <a:rPr lang="it-IT" sz="4000" b="1" dirty="0" err="1" smtClean="0">
                <a:solidFill>
                  <a:srgbClr val="376092"/>
                </a:solidFill>
              </a:rPr>
              <a:t>Prototype</a:t>
            </a:r>
            <a:r>
              <a:rPr lang="it-IT" sz="4000" b="1" dirty="0" smtClean="0">
                <a:solidFill>
                  <a:srgbClr val="376092"/>
                </a:solidFill>
              </a:rPr>
              <a:t> design </a:t>
            </a:r>
            <a:r>
              <a:rPr lang="it-IT" sz="4000" b="1" dirty="0" err="1" smtClean="0">
                <a:solidFill>
                  <a:srgbClr val="376092"/>
                </a:solidFill>
              </a:rPr>
              <a:t>at</a:t>
            </a:r>
            <a:r>
              <a:rPr lang="it-IT" sz="4000" b="1" dirty="0" smtClean="0">
                <a:solidFill>
                  <a:srgbClr val="376092"/>
                </a:solidFill>
              </a:rPr>
              <a:t> CEA-IRFU, </a:t>
            </a:r>
            <a:r>
              <a:rPr lang="it-IT" sz="4000" b="1" dirty="0" err="1" smtClean="0">
                <a:solidFill>
                  <a:srgbClr val="376092"/>
                </a:solidFill>
              </a:rPr>
              <a:t>Saclay</a:t>
            </a:r>
            <a:endParaRPr lang="it-IT" sz="4000" b="1" dirty="0">
              <a:solidFill>
                <a:srgbClr val="376092"/>
              </a:solidFill>
            </a:endParaRPr>
          </a:p>
        </p:txBody>
      </p:sp>
    </p:spTree>
    <p:extLst>
      <p:ext uri="{BB962C8B-B14F-4D97-AF65-F5344CB8AC3E}">
        <p14:creationId xmlns:p14="http://schemas.microsoft.com/office/powerpoint/2010/main" val="3921090126"/>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37</a:t>
            </a:fld>
            <a:endParaRPr lang="en-US" dirty="0"/>
          </a:p>
        </p:txBody>
      </p:sp>
      <p:pic>
        <p:nvPicPr>
          <p:cNvPr id="2" name="Immagine 1"/>
          <p:cNvPicPr>
            <a:picLocks noChangeAspect="1"/>
          </p:cNvPicPr>
          <p:nvPr/>
        </p:nvPicPr>
        <p:blipFill>
          <a:blip r:embed="rId2"/>
          <a:stretch>
            <a:fillRect/>
          </a:stretch>
        </p:blipFill>
        <p:spPr>
          <a:xfrm>
            <a:off x="301713" y="1996480"/>
            <a:ext cx="13044977" cy="5472608"/>
          </a:xfrm>
          <a:prstGeom prst="rect">
            <a:avLst/>
          </a:prstGeom>
        </p:spPr>
      </p:pic>
      <p:sp>
        <p:nvSpPr>
          <p:cNvPr id="3" name="CasellaDiTesto 2"/>
          <p:cNvSpPr txBox="1"/>
          <p:nvPr/>
        </p:nvSpPr>
        <p:spPr>
          <a:xfrm>
            <a:off x="4587989" y="412304"/>
            <a:ext cx="2999740" cy="1200329"/>
          </a:xfrm>
          <a:prstGeom prst="rect">
            <a:avLst/>
          </a:prstGeom>
          <a:noFill/>
        </p:spPr>
        <p:txBody>
          <a:bodyPr wrap="none" rtlCol="0">
            <a:spAutoFit/>
          </a:bodyPr>
          <a:lstStyle/>
          <a:p>
            <a:r>
              <a:rPr lang="it-IT" sz="7200" b="1" dirty="0" smtClean="0">
                <a:solidFill>
                  <a:srgbClr val="376092"/>
                </a:solidFill>
              </a:rPr>
              <a:t>HEBT</a:t>
            </a:r>
            <a:endParaRPr lang="it-IT" sz="7200" b="1" dirty="0">
              <a:solidFill>
                <a:srgbClr val="376092"/>
              </a:solidFill>
            </a:endParaRPr>
          </a:p>
        </p:txBody>
      </p:sp>
    </p:spTree>
    <p:extLst>
      <p:ext uri="{BB962C8B-B14F-4D97-AF65-F5344CB8AC3E}">
        <p14:creationId xmlns:p14="http://schemas.microsoft.com/office/powerpoint/2010/main" val="1160496490"/>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Grp="1" noChangeArrowheads="1"/>
          </p:cNvSpPr>
          <p:nvPr>
            <p:ph type="sldNum" sz="quarter" idx="4294967295"/>
          </p:nvPr>
        </p:nvSpPr>
        <p:spPr bwMode="auto">
          <a:xfrm>
            <a:off x="11254928" y="8765232"/>
            <a:ext cx="615950" cy="546100"/>
          </a:xfrm>
          <a:prstGeom prst="rect">
            <a:avLst/>
          </a:prstGeom>
          <a:noFill/>
          <a:ln w="12700">
            <a:noFill/>
            <a:miter lim="800000"/>
            <a:headEnd/>
            <a:tailEnd/>
          </a:ln>
          <a:effectLst/>
        </p:spPr>
        <p:txBody>
          <a:bodyPr vert="horz" wrap="none" lIns="91440" tIns="45720" rIns="91440" bIns="45720" numCol="1" anchor="t" anchorCtr="0" compatLnSpc="1">
            <a:prstTxWarp prst="textNoShape">
              <a:avLst/>
            </a:prstTxWarp>
          </a:bodyPr>
          <a:lstStyle>
            <a:lvl1pPr algn="l">
              <a:defRPr sz="3600" b="1">
                <a:solidFill>
                  <a:srgbClr val="FFFFFF"/>
                </a:solidFill>
                <a:latin typeface="Lucida Grande" charset="0"/>
                <a:ea typeface="Lucida Grande" charset="0"/>
                <a:cs typeface="Lucida Grande" charset="0"/>
                <a:sym typeface="Lucida Grande" charset="0"/>
              </a:defRPr>
            </a:lvl1pPr>
          </a:lstStyle>
          <a:p>
            <a:fld id="{4ACB9A20-8CC5-7A43-BE30-FAB0BA4A295C}" type="slidenum">
              <a:rPr lang="en-US"/>
              <a:pPr/>
              <a:t>38</a:t>
            </a:fld>
            <a:endParaRPr lang="en-US" dirty="0"/>
          </a:p>
        </p:txBody>
      </p:sp>
      <p:sp>
        <p:nvSpPr>
          <p:cNvPr id="3" name="CasellaDiTesto 2"/>
          <p:cNvSpPr txBox="1"/>
          <p:nvPr/>
        </p:nvSpPr>
        <p:spPr>
          <a:xfrm>
            <a:off x="3048357" y="412304"/>
            <a:ext cx="6079008" cy="1200329"/>
          </a:xfrm>
          <a:prstGeom prst="rect">
            <a:avLst/>
          </a:prstGeom>
          <a:noFill/>
        </p:spPr>
        <p:txBody>
          <a:bodyPr wrap="none" rtlCol="0">
            <a:spAutoFit/>
          </a:bodyPr>
          <a:lstStyle/>
          <a:p>
            <a:r>
              <a:rPr lang="it-IT" sz="7200" b="1" dirty="0" err="1" smtClean="0">
                <a:solidFill>
                  <a:srgbClr val="376092"/>
                </a:solidFill>
              </a:rPr>
              <a:t>Perspectives</a:t>
            </a:r>
            <a:endParaRPr lang="it-IT" sz="7200" b="1" dirty="0">
              <a:solidFill>
                <a:srgbClr val="376092"/>
              </a:solidFill>
            </a:endParaRPr>
          </a:p>
        </p:txBody>
      </p:sp>
      <p:sp>
        <p:nvSpPr>
          <p:cNvPr id="2" name="CasellaDiTesto 1"/>
          <p:cNvSpPr txBox="1"/>
          <p:nvPr/>
        </p:nvSpPr>
        <p:spPr>
          <a:xfrm>
            <a:off x="299004" y="1852464"/>
            <a:ext cx="12108052" cy="7848302"/>
          </a:xfrm>
          <a:prstGeom prst="rect">
            <a:avLst/>
          </a:prstGeom>
          <a:noFill/>
        </p:spPr>
        <p:txBody>
          <a:bodyPr wrap="square" rtlCol="0">
            <a:spAutoFit/>
          </a:bodyPr>
          <a:lstStyle/>
          <a:p>
            <a:pPr marL="571500" indent="-571500" algn="l">
              <a:buFont typeface="Arial"/>
              <a:buChar char="•"/>
            </a:pPr>
            <a:r>
              <a:rPr lang="it-IT" dirty="0" smtClean="0"/>
              <a:t>A </a:t>
            </a:r>
            <a:r>
              <a:rPr lang="it-IT" dirty="0" err="1" smtClean="0"/>
              <a:t>clear</a:t>
            </a:r>
            <a:r>
              <a:rPr lang="it-IT" dirty="0" smtClean="0"/>
              <a:t> </a:t>
            </a:r>
            <a:r>
              <a:rPr lang="it-IT" dirty="0" err="1" smtClean="0"/>
              <a:t>path</a:t>
            </a:r>
            <a:r>
              <a:rPr lang="it-IT" dirty="0" smtClean="0"/>
              <a:t> </a:t>
            </a:r>
            <a:r>
              <a:rPr lang="it-IT" dirty="0" err="1" smtClean="0"/>
              <a:t>towards</a:t>
            </a:r>
            <a:r>
              <a:rPr lang="it-IT" dirty="0" smtClean="0"/>
              <a:t> the </a:t>
            </a:r>
            <a:r>
              <a:rPr lang="it-IT" dirty="0" err="1" smtClean="0"/>
              <a:t>definition</a:t>
            </a:r>
            <a:r>
              <a:rPr lang="it-IT" dirty="0" smtClean="0"/>
              <a:t> of </a:t>
            </a:r>
            <a:r>
              <a:rPr lang="it-IT" dirty="0" err="1" smtClean="0"/>
              <a:t>each</a:t>
            </a:r>
            <a:r>
              <a:rPr lang="it-IT" dirty="0" smtClean="0"/>
              <a:t> component of the </a:t>
            </a:r>
            <a:r>
              <a:rPr lang="it-IT" dirty="0" err="1" smtClean="0"/>
              <a:t>accelerator</a:t>
            </a:r>
            <a:r>
              <a:rPr lang="it-IT" dirty="0" smtClean="0"/>
              <a:t> </a:t>
            </a:r>
            <a:r>
              <a:rPr lang="it-IT" dirty="0" err="1" smtClean="0"/>
              <a:t>is</a:t>
            </a:r>
            <a:r>
              <a:rPr lang="it-IT" dirty="0" smtClean="0"/>
              <a:t> </a:t>
            </a:r>
            <a:r>
              <a:rPr lang="it-IT" dirty="0" err="1" smtClean="0"/>
              <a:t>tracked</a:t>
            </a:r>
            <a:r>
              <a:rPr lang="it-IT" dirty="0" smtClean="0"/>
              <a:t>. </a:t>
            </a:r>
          </a:p>
          <a:p>
            <a:pPr marL="571500" indent="-571500" algn="l">
              <a:buFont typeface="Arial"/>
              <a:buChar char="•"/>
            </a:pPr>
            <a:r>
              <a:rPr lang="it-IT" dirty="0" smtClean="0"/>
              <a:t>Reliability </a:t>
            </a:r>
            <a:r>
              <a:rPr lang="it-IT" dirty="0" err="1" smtClean="0"/>
              <a:t>issues</a:t>
            </a:r>
            <a:r>
              <a:rPr lang="it-IT" dirty="0" smtClean="0"/>
              <a:t> and </a:t>
            </a:r>
            <a:r>
              <a:rPr lang="it-IT" dirty="0" err="1" smtClean="0"/>
              <a:t>possibility</a:t>
            </a:r>
            <a:r>
              <a:rPr lang="it-IT" dirty="0" smtClean="0"/>
              <a:t> to upgrade </a:t>
            </a:r>
            <a:r>
              <a:rPr lang="it-IT" dirty="0" err="1" smtClean="0"/>
              <a:t>have</a:t>
            </a:r>
            <a:r>
              <a:rPr lang="it-IT" dirty="0" smtClean="0"/>
              <a:t> </a:t>
            </a:r>
            <a:r>
              <a:rPr lang="it-IT" dirty="0" err="1" smtClean="0"/>
              <a:t>driven</a:t>
            </a:r>
            <a:r>
              <a:rPr lang="it-IT" dirty="0" smtClean="0"/>
              <a:t> the </a:t>
            </a:r>
            <a:r>
              <a:rPr lang="it-IT" dirty="0" err="1" smtClean="0"/>
              <a:t>efforts</a:t>
            </a:r>
            <a:r>
              <a:rPr lang="it-IT" dirty="0" smtClean="0"/>
              <a:t> of ADU </a:t>
            </a:r>
            <a:r>
              <a:rPr lang="it-IT" dirty="0" err="1" smtClean="0"/>
              <a:t>WPs</a:t>
            </a:r>
            <a:r>
              <a:rPr lang="it-IT" dirty="0" smtClean="0"/>
              <a:t>.</a:t>
            </a:r>
          </a:p>
          <a:p>
            <a:pPr marL="571500" indent="-571500" algn="l">
              <a:buFont typeface="Arial"/>
              <a:buChar char="•"/>
            </a:pPr>
            <a:r>
              <a:rPr lang="it-IT" dirty="0" smtClean="0"/>
              <a:t>Some open </a:t>
            </a:r>
            <a:r>
              <a:rPr lang="it-IT" dirty="0" err="1" smtClean="0"/>
              <a:t>questions</a:t>
            </a:r>
            <a:r>
              <a:rPr lang="it-IT" dirty="0" smtClean="0"/>
              <a:t> are </a:t>
            </a:r>
            <a:r>
              <a:rPr lang="it-IT" dirty="0" err="1" smtClean="0"/>
              <a:t>still</a:t>
            </a:r>
            <a:r>
              <a:rPr lang="it-IT" dirty="0" smtClean="0"/>
              <a:t> on the </a:t>
            </a:r>
            <a:r>
              <a:rPr lang="it-IT" dirty="0" err="1" smtClean="0"/>
              <a:t>table</a:t>
            </a:r>
            <a:r>
              <a:rPr lang="it-IT" dirty="0" smtClean="0"/>
              <a:t> with the </a:t>
            </a:r>
            <a:r>
              <a:rPr lang="it-IT" dirty="0" err="1" smtClean="0"/>
              <a:t>aim</a:t>
            </a:r>
            <a:r>
              <a:rPr lang="it-IT" dirty="0" smtClean="0"/>
              <a:t> to reduce </a:t>
            </a:r>
            <a:r>
              <a:rPr lang="it-IT" dirty="0" err="1" smtClean="0"/>
              <a:t>costs</a:t>
            </a:r>
            <a:r>
              <a:rPr lang="it-IT" dirty="0" smtClean="0"/>
              <a:t> and </a:t>
            </a:r>
            <a:r>
              <a:rPr lang="it-IT" dirty="0" err="1" smtClean="0"/>
              <a:t>increase</a:t>
            </a:r>
            <a:r>
              <a:rPr lang="it-IT" dirty="0" smtClean="0"/>
              <a:t> </a:t>
            </a:r>
            <a:r>
              <a:rPr lang="it-IT" dirty="0" err="1" smtClean="0"/>
              <a:t>beam</a:t>
            </a:r>
            <a:r>
              <a:rPr lang="it-IT" dirty="0" smtClean="0"/>
              <a:t> </a:t>
            </a:r>
            <a:r>
              <a:rPr lang="it-IT" dirty="0" err="1" smtClean="0"/>
              <a:t>availability</a:t>
            </a:r>
            <a:r>
              <a:rPr lang="it-IT" dirty="0" smtClean="0"/>
              <a:t>.</a:t>
            </a:r>
          </a:p>
          <a:p>
            <a:pPr marL="571500" indent="-571500" algn="l">
              <a:buFont typeface="Arial"/>
              <a:buChar char="•"/>
            </a:pPr>
            <a:r>
              <a:rPr lang="it-IT" dirty="0" smtClean="0"/>
              <a:t>Team building </a:t>
            </a:r>
            <a:r>
              <a:rPr lang="it-IT" dirty="0" err="1" smtClean="0"/>
              <a:t>is</a:t>
            </a:r>
            <a:r>
              <a:rPr lang="it-IT" dirty="0" smtClean="0"/>
              <a:t> </a:t>
            </a:r>
            <a:r>
              <a:rPr lang="it-IT" dirty="0" err="1" smtClean="0"/>
              <a:t>well</a:t>
            </a:r>
            <a:r>
              <a:rPr lang="it-IT" dirty="0" smtClean="0"/>
              <a:t> </a:t>
            </a:r>
            <a:r>
              <a:rPr lang="it-IT" dirty="0" err="1" smtClean="0"/>
              <a:t>placed</a:t>
            </a:r>
            <a:r>
              <a:rPr lang="it-IT" dirty="0" smtClean="0"/>
              <a:t>.</a:t>
            </a:r>
          </a:p>
          <a:p>
            <a:pPr marL="571500" indent="-571500" algn="l">
              <a:buFont typeface="Arial"/>
              <a:buChar char="•"/>
            </a:pPr>
            <a:r>
              <a:rPr lang="it-IT" smtClean="0"/>
              <a:t>Links </a:t>
            </a:r>
            <a:r>
              <a:rPr lang="it-IT" dirty="0" err="1" smtClean="0"/>
              <a:t>between</a:t>
            </a:r>
            <a:r>
              <a:rPr lang="it-IT" dirty="0" smtClean="0"/>
              <a:t> </a:t>
            </a:r>
            <a:r>
              <a:rPr lang="it-IT" dirty="0" err="1" smtClean="0"/>
              <a:t>accelerator’s</a:t>
            </a:r>
            <a:r>
              <a:rPr lang="it-IT" dirty="0" smtClean="0"/>
              <a:t> designers and </a:t>
            </a:r>
            <a:r>
              <a:rPr lang="it-IT" dirty="0" err="1" smtClean="0"/>
              <a:t>infrastructure</a:t>
            </a:r>
            <a:r>
              <a:rPr lang="it-IT" dirty="0" smtClean="0"/>
              <a:t> are </a:t>
            </a:r>
            <a:r>
              <a:rPr lang="it-IT" dirty="0" err="1" smtClean="0"/>
              <a:t>established</a:t>
            </a:r>
            <a:r>
              <a:rPr lang="it-IT" dirty="0" smtClean="0"/>
              <a:t>.</a:t>
            </a:r>
          </a:p>
          <a:p>
            <a:pPr marL="571500" indent="-571500" algn="l">
              <a:buFont typeface="Arial"/>
              <a:buChar char="•"/>
            </a:pPr>
            <a:r>
              <a:rPr lang="it-IT" dirty="0" smtClean="0"/>
              <a:t>Second </a:t>
            </a:r>
            <a:r>
              <a:rPr lang="it-IT" dirty="0" err="1" smtClean="0"/>
              <a:t>half</a:t>
            </a:r>
            <a:r>
              <a:rPr lang="it-IT" dirty="0" smtClean="0"/>
              <a:t> 2012: TDR and </a:t>
            </a:r>
            <a:r>
              <a:rPr lang="it-IT" dirty="0" err="1" smtClean="0"/>
              <a:t>costing</a:t>
            </a:r>
            <a:endParaRPr lang="it-IT" dirty="0" smtClean="0"/>
          </a:p>
          <a:p>
            <a:pPr marL="571500" indent="-571500" algn="l">
              <a:buFont typeface="Arial"/>
              <a:buChar char="•"/>
            </a:pPr>
            <a:r>
              <a:rPr lang="it-IT" dirty="0" smtClean="0"/>
              <a:t>Ready to </a:t>
            </a:r>
            <a:r>
              <a:rPr lang="it-IT" dirty="0" err="1" smtClean="0"/>
              <a:t>build</a:t>
            </a:r>
            <a:r>
              <a:rPr lang="it-IT" dirty="0" smtClean="0"/>
              <a:t> ESS </a:t>
            </a:r>
            <a:r>
              <a:rPr lang="it-IT" dirty="0" err="1" smtClean="0"/>
              <a:t>since</a:t>
            </a:r>
            <a:r>
              <a:rPr lang="it-IT" dirty="0" smtClean="0"/>
              <a:t> 2013!</a:t>
            </a:r>
          </a:p>
          <a:p>
            <a:pPr marL="571500" indent="-571500" algn="l">
              <a:buFont typeface="Arial"/>
              <a:buChar char="•"/>
            </a:pPr>
            <a:endParaRPr lang="it-IT" dirty="0"/>
          </a:p>
        </p:txBody>
      </p:sp>
    </p:spTree>
    <p:extLst>
      <p:ext uri="{BB962C8B-B14F-4D97-AF65-F5344CB8AC3E}">
        <p14:creationId xmlns:p14="http://schemas.microsoft.com/office/powerpoint/2010/main" val="2182100644"/>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44" descr="logoinfn"/>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64513" y="91698"/>
            <a:ext cx="1840287" cy="1415927"/>
          </a:xfrm>
          <a:prstGeom prst="rect">
            <a:avLst/>
          </a:prstGeom>
          <a:solidFill>
            <a:schemeClr val="bg1"/>
          </a:solidFill>
          <a:ln>
            <a:noFill/>
          </a:ln>
          <a:extLst/>
        </p:spPr>
      </p:pic>
      <p:sp>
        <p:nvSpPr>
          <p:cNvPr id="3" name="CasellaDiTesto 2"/>
          <p:cNvSpPr txBox="1"/>
          <p:nvPr/>
        </p:nvSpPr>
        <p:spPr>
          <a:xfrm>
            <a:off x="2397944" y="2068488"/>
            <a:ext cx="8303482" cy="5401479"/>
          </a:xfrm>
          <a:prstGeom prst="rect">
            <a:avLst/>
          </a:prstGeom>
          <a:noFill/>
        </p:spPr>
        <p:txBody>
          <a:bodyPr wrap="square" rtlCol="0">
            <a:spAutoFit/>
          </a:bodyPr>
          <a:lstStyle/>
          <a:p>
            <a:r>
              <a:rPr lang="it-IT" sz="11500" dirty="0" err="1" smtClean="0"/>
              <a:t>Thanks</a:t>
            </a:r>
            <a:r>
              <a:rPr lang="it-IT" sz="11500" dirty="0" smtClean="0"/>
              <a:t> for </a:t>
            </a:r>
            <a:r>
              <a:rPr lang="it-IT" sz="11500" dirty="0" err="1" smtClean="0"/>
              <a:t>your</a:t>
            </a:r>
            <a:r>
              <a:rPr lang="it-IT" sz="11500" dirty="0" smtClean="0"/>
              <a:t> </a:t>
            </a:r>
            <a:r>
              <a:rPr lang="it-IT" sz="11500" dirty="0" err="1" smtClean="0"/>
              <a:t>attention</a:t>
            </a:r>
            <a:r>
              <a:rPr lang="it-IT" sz="11500" dirty="0"/>
              <a:t>.</a:t>
            </a:r>
          </a:p>
        </p:txBody>
      </p:sp>
    </p:spTree>
    <p:extLst>
      <p:ext uri="{BB962C8B-B14F-4D97-AF65-F5344CB8AC3E}">
        <p14:creationId xmlns:p14="http://schemas.microsoft.com/office/powerpoint/2010/main" val="684010958"/>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p:cNvPicPr>
            <a:picLocks noChangeAspect="1"/>
          </p:cNvPicPr>
          <p:nvPr/>
        </p:nvPicPr>
        <p:blipFill>
          <a:blip r:embed="rId2"/>
          <a:stretch>
            <a:fillRect/>
          </a:stretch>
        </p:blipFill>
        <p:spPr>
          <a:xfrm>
            <a:off x="0" y="36125"/>
            <a:ext cx="13004800" cy="9677669"/>
          </a:xfrm>
          <a:prstGeom prst="rect">
            <a:avLst/>
          </a:prstGeom>
        </p:spPr>
      </p:pic>
    </p:spTree>
    <p:extLst>
      <p:ext uri="{BB962C8B-B14F-4D97-AF65-F5344CB8AC3E}">
        <p14:creationId xmlns:p14="http://schemas.microsoft.com/office/powerpoint/2010/main" val="714008721"/>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 Modifie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llets &amp; bread copy">
      <a:majorFont>
        <a:latin typeface="TitilliumText14L 600 wt"/>
        <a:ea typeface="ヒラギノ角ゴ ProN W6"/>
        <a:cs typeface="ヒラギノ角ゴ ProN W6"/>
      </a:majorFont>
      <a:minorFont>
        <a:latin typeface="TitilliumText14L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effectLst>
          <a:outerShdw blurRad="50800" dist="38100" dir="2700000" algn="tl" rotWithShape="0">
            <a:prstClr val="black">
              <a:alpha val="40000"/>
            </a:prstClr>
          </a:outerShdw>
        </a:effectLst>
      </a:spPr>
      <a:bodyPr vert="horz" wrap="square" lIns="0" tIns="0" rIns="0" bIns="0" numCol="1" rtlCol="0" anchor="ctr" anchorCtr="0" compatLnSpc="1">
        <a:prstTxWarp prst="textNoShape">
          <a:avLst/>
        </a:prstTxWarp>
        <a:no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sz="1200" b="0" i="0" u="none" strike="noStrike" cap="none" normalizeH="0" baseline="0" dirty="0" smtClean="0">
            <a:ln>
              <a:noFill/>
            </a:ln>
            <a:solidFill>
              <a:srgbClr val="000000"/>
            </a:solidFill>
            <a:effectLst/>
            <a:latin typeface="Arial" pitchFamily="34" charset="0"/>
            <a:ea typeface="ヒラギノ角ゴ ProN W3" charset="-128"/>
            <a:cs typeface="Arial" pitchFamily="34" charset="0"/>
            <a:sym typeface="Gill Sans" charset="0"/>
          </a:defRPr>
        </a:defPPr>
      </a:lstStyle>
      <a:style>
        <a:lnRef idx="1">
          <a:schemeClr val="accent1"/>
        </a:lnRef>
        <a:fillRef idx="2">
          <a:schemeClr val="accent1"/>
        </a:fillRef>
        <a:effectRef idx="1">
          <a:schemeClr val="accent1"/>
        </a:effectRef>
        <a:fontRef idx="minor">
          <a:schemeClr val="dk1"/>
        </a:fontRef>
      </a: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128"/>
            <a:cs typeface="ヒラギノ角ゴ ProN W3" charset="-128"/>
            <a:sym typeface="Gill Sans" charset="0"/>
          </a:defRPr>
        </a:defPPr>
      </a:lstStyle>
    </a:lnDef>
  </a:objectDefaults>
  <a:extraClrSchemeLst>
    <a:extraClrScheme>
      <a:clrScheme name="Bullets &amp; bread cop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t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ESS Modified</Template>
  <TotalTime>511</TotalTime>
  <Pages>0</Pages>
  <Words>2200</Words>
  <Characters>0</Characters>
  <Application>Microsoft Macintosh PowerPoint</Application>
  <PresentationFormat>Personalizzato</PresentationFormat>
  <Lines>0</Lines>
  <Paragraphs>426</Paragraphs>
  <Slides>40</Slides>
  <Notes>9</Notes>
  <HiddenSlides>0</HiddenSlides>
  <MMClips>0</MMClips>
  <ScaleCrop>false</ScaleCrop>
  <HeadingPairs>
    <vt:vector size="6" baseType="variant">
      <vt:variant>
        <vt:lpstr>Tema</vt:lpstr>
      </vt:variant>
      <vt:variant>
        <vt:i4>1</vt:i4>
      </vt:variant>
      <vt:variant>
        <vt:lpstr>Server OLE incorporati</vt:lpstr>
      </vt:variant>
      <vt:variant>
        <vt:i4>2</vt:i4>
      </vt:variant>
      <vt:variant>
        <vt:lpstr>Titoli diapositive</vt:lpstr>
      </vt:variant>
      <vt:variant>
        <vt:i4>40</vt:i4>
      </vt:variant>
    </vt:vector>
  </HeadingPairs>
  <TitlesOfParts>
    <vt:vector size="43" baseType="lpstr">
      <vt:lpstr>ESS Modified</vt:lpstr>
      <vt:lpstr>Documento</vt:lpstr>
      <vt:lpstr>Foglio di lavoro</vt:lpstr>
      <vt:lpstr>Presentazione di PowerPoint</vt:lpstr>
      <vt:lpstr>Presentazione di PowerPoint</vt:lpstr>
      <vt:lpstr>Presentazione di PowerPoint</vt:lpstr>
      <vt:lpstr>Presentazione di PowerPoint</vt:lpstr>
      <vt:lpstr>Presentazione di PowerPoint</vt:lpstr>
      <vt:lpstr>Presentazione di PowerPoint</vt:lpstr>
      <vt:lpstr>Presentazione di PowerPoint</vt:lpstr>
      <vt:lpstr>Presentazione di PowerPoint</vt:lpstr>
      <vt:lpstr>Accelerator Clear elements: main requirements, items that deserve additional R&amp;D.   “Obscure” elements: transition elements between different sections, partnership definition complicated by the workloads of involved research teams.  Strength points: for most of the components (e.g. Front-End until the warm-cold transition, elliptical cavities) there is a sufficient/remarkable experience within the Institutions involved in ESS. INFN is recognized to own a remarkable expertise in the design of HPPA accelerators.  Italian contribution to the Accelerator DU: Ion Source, LEBT, DTL, elliptical cavities, know-how about RFQ and superconductivity  useful know-how for ESS design and construction.</vt:lpstr>
      <vt:lpstr>Collaboration model for linac design update (ADU)</vt:lpstr>
      <vt:lpstr>ADU Project  Plan</vt:lpstr>
      <vt:lpstr>Presentazione di PowerPoint</vt:lpstr>
      <vt:lpstr>WP 8 and WP 19</vt:lpstr>
      <vt:lpstr> Comments from TAC-4 (Feb.16th,2012)</vt:lpstr>
      <vt:lpstr>P2B and Construction</vt:lpstr>
      <vt:lpstr>ESS Project Strategy</vt:lpstr>
      <vt:lpstr>Presentazione di PowerPoint</vt:lpstr>
      <vt:lpstr>Presentazione di PowerPoint</vt:lpstr>
      <vt:lpstr>Presentazione di PowerPoint</vt:lpstr>
      <vt:lpstr>Presentazione di PowerPoint</vt:lpstr>
      <vt:lpstr>Proton source &amp; Tests</vt:lpstr>
      <vt:lpstr>WU2 – Proton source &amp; LEBT</vt:lpstr>
      <vt:lpstr>Presentazione di PowerPoint</vt:lpstr>
      <vt:lpstr>Research Programs in Europe related to ADS studies</vt:lpstr>
      <vt:lpstr>Presentazione di PowerPoint</vt:lpstr>
      <vt:lpstr>Presentazione di PowerPoint</vt:lpstr>
      <vt:lpstr>Presentazione di PowerPoint</vt:lpstr>
      <vt:lpstr>Presentazione di PowerPoint</vt:lpstr>
      <vt:lpstr>CERN-INFN DTL prototype, based on CERN design</vt:lpstr>
      <vt:lpstr>Presentazione di PowerPoint</vt:lpstr>
      <vt:lpstr>Presentazione di PowerPoint</vt:lpstr>
      <vt:lpstr>Presentazione di PowerPoint</vt:lpstr>
      <vt:lpstr>Presentazione di PowerPoint</vt:lpstr>
      <vt:lpstr>Presentazione di PowerPoint</vt:lpstr>
      <vt:lpstr>Presentazione di PowerPoint</vt:lpstr>
      <vt:lpstr>Presentazione di PowerPoint</vt:lpstr>
      <vt:lpstr>Presentazione di PowerPoint</vt:lpstr>
      <vt:lpstr>Presentazione di PowerPoint</vt:lpstr>
      <vt:lpstr>Presentazione di PowerPoint</vt:lpstr>
      <vt:lpstr>Presentazione di PowerPoint</vt:lpstr>
    </vt:vector>
  </TitlesOfParts>
  <Company>Semcon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Agenda - Project Management</dc:title>
  <dc:subject/>
  <dc:creator>Johan Andersson</dc:creator>
  <cp:keywords/>
  <dc:description/>
  <cp:lastModifiedBy>Santo Gammino</cp:lastModifiedBy>
  <cp:revision>130</cp:revision>
  <cp:lastPrinted>2011-06-01T15:25:44Z</cp:lastPrinted>
  <dcterms:created xsi:type="dcterms:W3CDTF">2010-10-20T06:40:43Z</dcterms:created>
  <dcterms:modified xsi:type="dcterms:W3CDTF">2012-03-05T23:12:21Z</dcterms:modified>
</cp:coreProperties>
</file>