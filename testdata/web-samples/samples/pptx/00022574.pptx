
<file path=[Content_Types].xml><?xml version="1.0" encoding="utf-8"?>
<Types xmlns="http://schemas.openxmlformats.org/package/2006/content-types">
  <Override PartName="/ppt/slides/slide29.xml" ContentType="application/vnd.openxmlformats-officedocument.presentationml.slide+xml"/>
  <Override PartName="/ppt/notesSlides/notesSlide2.xml" ContentType="application/vnd.openxmlformats-officedocument.presentationml.notesSlide+xml"/>
  <Override PartName="/ppt/tags/tag8.xml" ContentType="application/vnd.openxmlformats-officedocument.presentationml.tag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ags/tag4.xml" ContentType="application/vnd.openxmlformats-officedocument.presentationml.tags+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tags/tag2.xml" ContentType="application/vnd.openxmlformats-officedocument.presentationml.tags+xml"/>
  <Default Extension="wmf" ContentType="image/x-wmf"/>
  <Override PartName="/ppt/notesSlides/notesSlide18.xml" ContentType="application/vnd.openxmlformats-officedocument.presentationml.notesSlide+xml"/>
  <Override PartName="/ppt/notesSlides/notesSlide27.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tags/tag16.xml" ContentType="application/vnd.openxmlformats-officedocument.presentationml.tags+xml"/>
  <Override PartName="/ppt/tags/tag18.xml" ContentType="application/vnd.openxmlformats-officedocument.presentationml.tags+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tags/tag14.xml" ContentType="application/vnd.openxmlformats-officedocument.presentationml.tags+xml"/>
  <Override PartName="/ppt/notesSlides/notesSlide7.xml" ContentType="application/vnd.openxmlformats-officedocument.presentationml.notesSlide+xml"/>
  <Override PartName="/ppt/notesSlides/notesSlide10.xml" ContentType="application/vnd.openxmlformats-officedocument.presentationml.notesSlide+xml"/>
  <Override PartName="/ppt/tags/tag12.xml" ContentType="application/vnd.openxmlformats-officedocument.presentationml.tags+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tags/tag7.xml" ContentType="application/vnd.openxmlformats-officedocument.presentationml.tags+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tags/tag3.xml" ContentType="application/vnd.openxmlformats-officedocument.presentationml.tags+xml"/>
  <Override PartName="/ppt/notesSlides/notesSlide17.xml" ContentType="application/vnd.openxmlformats-officedocument.presentationml.notesSlide+xml"/>
  <Default Extension="jpeg" ContentType="image/jpeg"/>
  <Override PartName="/ppt/notesSlides/notesSlide28.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tags/tag1.xml" ContentType="application/vnd.openxmlformats-officedocument.presentationml.tags+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tags/tag17.xml" ContentType="application/vnd.openxmlformats-officedocument.presentationml.tags+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tags/tag15.xml" ContentType="application/vnd.openxmlformats-officedocument.presentationml.tags+xml"/>
  <Override PartName="/ppt/notesSlides/notesSlide6.xml" ContentType="application/vnd.openxmlformats-officedocument.presentationml.notesSlide+xml"/>
  <Override PartName="/ppt/tags/tag13.xml" ContentType="application/vnd.openxmlformats-officedocument.presentationml.tags+xml"/>
  <Override PartName="/ppt/slides/slide8.xml" ContentType="application/vnd.openxmlformats-officedocument.presentationml.slide+xml"/>
  <Override PartName="/ppt/notesSlides/notesSlide4.xml" ContentType="application/vnd.openxmlformats-officedocument.presentationml.notesSlide+xml"/>
  <Override PartName="/ppt/tags/tag11.xml" ContentType="application/vnd.openxmlformats-officedocument.presentationml.tags+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tags/tag6.xml" ContentType="application/vnd.openxmlformats-officedocument.presentationml.tag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75" r:id="rId3"/>
    <p:sldId id="263" r:id="rId4"/>
    <p:sldId id="318" r:id="rId5"/>
    <p:sldId id="257" r:id="rId6"/>
    <p:sldId id="321" r:id="rId7"/>
    <p:sldId id="319" r:id="rId8"/>
    <p:sldId id="259" r:id="rId9"/>
    <p:sldId id="323" r:id="rId10"/>
    <p:sldId id="324" r:id="rId11"/>
    <p:sldId id="326" r:id="rId12"/>
    <p:sldId id="299" r:id="rId13"/>
    <p:sldId id="301" r:id="rId14"/>
    <p:sldId id="290" r:id="rId15"/>
    <p:sldId id="260" r:id="rId16"/>
    <p:sldId id="293" r:id="rId17"/>
    <p:sldId id="261" r:id="rId18"/>
    <p:sldId id="307" r:id="rId19"/>
    <p:sldId id="267" r:id="rId20"/>
    <p:sldId id="306" r:id="rId21"/>
    <p:sldId id="308" r:id="rId22"/>
    <p:sldId id="309" r:id="rId23"/>
    <p:sldId id="313" r:id="rId24"/>
    <p:sldId id="262" r:id="rId25"/>
    <p:sldId id="325" r:id="rId26"/>
    <p:sldId id="312" r:id="rId27"/>
    <p:sldId id="314" r:id="rId28"/>
    <p:sldId id="270" r:id="rId29"/>
    <p:sldId id="272" r:id="rId30"/>
    <p:sldId id="320"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showPr>
  <p:clrMru>
    <a:srgbClr val="09BFFF"/>
    <a:srgbClr val="33CCFF"/>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84" autoAdjust="0"/>
    <p:restoredTop sz="83528" autoAdjust="0"/>
  </p:normalViewPr>
  <p:slideViewPr>
    <p:cSldViewPr>
      <p:cViewPr varScale="1">
        <p:scale>
          <a:sx n="56" d="100"/>
          <a:sy n="56" d="100"/>
        </p:scale>
        <p:origin x="-762" y="-96"/>
      </p:cViewPr>
      <p:guideLst>
        <p:guide orient="horz" pos="2160"/>
        <p:guide pos="2880"/>
      </p:guideLst>
    </p:cSldViewPr>
  </p:slideViewPr>
  <p:outlineViewPr>
    <p:cViewPr>
      <p:scale>
        <a:sx n="33" d="100"/>
        <a:sy n="33" d="100"/>
      </p:scale>
      <p:origin x="0" y="13626"/>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7FE7173-F003-4C6F-A619-F596D3A98C64}" type="datetimeFigureOut">
              <a:rPr lang="en-US" smtClean="0"/>
              <a:pPr/>
              <a:t>5/18/2010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90FD89C-4CA8-4D2B-A043-FA6EAACDC509}"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90FD89C-4CA8-4D2B-A043-FA6EAACDC509}"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dirty="0" err="1" smtClean="0"/>
              <a:t>Multiagent</a:t>
            </a:r>
            <a:r>
              <a:rPr lang="en-US" dirty="0" smtClean="0"/>
              <a:t> systems today</a:t>
            </a:r>
            <a:r>
              <a:rPr lang="en-US" baseline="0" dirty="0" smtClean="0"/>
              <a:t> involve interactions between large numbers of anonymous agents </a:t>
            </a:r>
            <a:endParaRPr lang="en-US" dirty="0" smtClean="0"/>
          </a:p>
          <a:p>
            <a:endParaRPr lang="en-US" dirty="0" smtClean="0"/>
          </a:p>
          <a:p>
            <a:r>
              <a:rPr lang="en-US" dirty="0" smtClean="0"/>
              <a:t>This anonymity allows untrustworthy parties to gain from fraud.</a:t>
            </a:r>
          </a:p>
          <a:p>
            <a:endParaRPr lang="en-US" dirty="0" smtClean="0"/>
          </a:p>
          <a:p>
            <a:r>
              <a:rPr lang="en-US" dirty="0" smtClean="0"/>
              <a:t>For example, on</a:t>
            </a:r>
            <a:r>
              <a:rPr lang="en-US" baseline="0" dirty="0" smtClean="0"/>
              <a:t> eBay a seller might not deliver an auctioned item,</a:t>
            </a:r>
            <a:endParaRPr lang="en-US" dirty="0" smtClean="0"/>
          </a:p>
          <a:p>
            <a:r>
              <a:rPr lang="en-US" dirty="0" smtClean="0"/>
              <a:t>(</a:t>
            </a:r>
            <a:r>
              <a:rPr lang="en-US" dirty="0" err="1" smtClean="0"/>
              <a:t>Resnick</a:t>
            </a:r>
            <a:r>
              <a:rPr lang="en-US" dirty="0" smtClean="0"/>
              <a:t>, 8.1% trust premium)</a:t>
            </a:r>
          </a:p>
          <a:p>
            <a:endParaRPr lang="en-US" dirty="0" smtClean="0"/>
          </a:p>
          <a:p>
            <a:r>
              <a:rPr lang="en-US" dirty="0" smtClean="0"/>
              <a:t>Or in P2P</a:t>
            </a:r>
            <a:r>
              <a:rPr lang="en-US" baseline="0" dirty="0" smtClean="0"/>
              <a:t> file sharing systems a user might distribute a </a:t>
            </a:r>
            <a:r>
              <a:rPr lang="en-US" baseline="0" dirty="0" err="1" smtClean="0"/>
              <a:t>trojan</a:t>
            </a:r>
            <a:r>
              <a:rPr lang="en-US" baseline="0" dirty="0" smtClean="0"/>
              <a:t> or virus.</a:t>
            </a:r>
          </a:p>
          <a:p>
            <a:r>
              <a:rPr lang="en-US" baseline="0" dirty="0" smtClean="0"/>
              <a:t>And a malicious site might install spyware on my computer</a:t>
            </a:r>
          </a:p>
          <a:p>
            <a:endParaRPr lang="en-US" dirty="0" smtClean="0"/>
          </a:p>
          <a:p>
            <a:r>
              <a:rPr lang="en-US" dirty="0" smtClean="0"/>
              <a:t>B</a:t>
            </a:r>
            <a:r>
              <a:rPr lang="en-US" baseline="0" dirty="0" smtClean="0"/>
              <a:t>ecause there are so many agents we are not going to have repeat experience with most </a:t>
            </a:r>
            <a:r>
              <a:rPr lang="en-US" dirty="0" smtClean="0"/>
              <a:t>counterparties.</a:t>
            </a:r>
          </a:p>
          <a:p>
            <a:endParaRPr lang="en-US" dirty="0" smtClean="0"/>
          </a:p>
          <a:p>
            <a:r>
              <a:rPr lang="en-US" dirty="0" smtClean="0"/>
              <a:t>It’d be great if we could pool collective experience t</a:t>
            </a:r>
            <a:r>
              <a:rPr lang="en-US" baseline="0" dirty="0" smtClean="0"/>
              <a:t>o identify untrustworthy agents from trustworthy agents</a:t>
            </a:r>
            <a:endParaRPr lang="en-US" dirty="0" smtClean="0"/>
          </a:p>
          <a:p>
            <a:endParaRPr lang="en-US" baseline="0" dirty="0" smtClean="0"/>
          </a:p>
          <a:p>
            <a:r>
              <a:rPr lang="en-US" baseline="0" dirty="0" err="1" smtClean="0"/>
              <a:t>Theres</a:t>
            </a:r>
            <a:r>
              <a:rPr lang="en-US" baseline="0" dirty="0" smtClean="0"/>
              <a:t> a need for mechanisms which aggregate trust information</a:t>
            </a:r>
            <a:endParaRPr lang="en-US" dirty="0"/>
          </a:p>
        </p:txBody>
      </p:sp>
      <p:sp>
        <p:nvSpPr>
          <p:cNvPr id="4" name="Slide Number Placeholder 3"/>
          <p:cNvSpPr>
            <a:spLocks noGrp="1"/>
          </p:cNvSpPr>
          <p:nvPr>
            <p:ph type="sldNum" sz="quarter" idx="10"/>
          </p:nvPr>
        </p:nvSpPr>
        <p:spPr/>
        <p:txBody>
          <a:bodyPr/>
          <a:lstStyle/>
          <a:p>
            <a:fld id="{D90FD89C-4CA8-4D2B-A043-FA6EAACDC509}"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dirty="0" smtClean="0"/>
              <a:t>Lets say we have a peer to peer network,</a:t>
            </a:r>
            <a:r>
              <a:rPr lang="en-US" baseline="0" dirty="0" smtClean="0"/>
              <a:t> and we have agents who would like to exchange files.</a:t>
            </a:r>
          </a:p>
          <a:p>
            <a:endParaRPr lang="en-US" baseline="0" dirty="0" smtClean="0"/>
          </a:p>
          <a:p>
            <a:r>
              <a:rPr lang="en-US" baseline="0" dirty="0" smtClean="0"/>
              <a:t>They’re going to have a bunch of interactions: say this agent interacts with this other agent, and he has a positive experience (represented by the green arrow) and reports it somewhere, and this agent also has a positive experience, and this agent has a negative experience.</a:t>
            </a:r>
            <a:endParaRPr lang="en-US" dirty="0" smtClean="0"/>
          </a:p>
          <a:p>
            <a:endParaRPr lang="en-US" dirty="0" smtClean="0"/>
          </a:p>
          <a:p>
            <a:r>
              <a:rPr lang="en-US" dirty="0" smtClean="0"/>
              <a:t>A</a:t>
            </a:r>
            <a:r>
              <a:rPr lang="en-US" baseline="0" dirty="0" smtClean="0"/>
              <a:t> natural model for this is a graph, where the agents are the vertices and the interactions are represented by directed edges.</a:t>
            </a:r>
            <a:endParaRPr lang="en-US" dirty="0" smtClean="0"/>
          </a:p>
          <a:p>
            <a:r>
              <a:rPr lang="en-US" dirty="0" smtClean="0"/>
              <a:t>We model trustworthy</a:t>
            </a:r>
            <a:r>
              <a:rPr lang="en-US" baseline="0" dirty="0" smtClean="0"/>
              <a:t> vs. </a:t>
            </a:r>
            <a:r>
              <a:rPr lang="en-US" baseline="0" dirty="0" err="1" smtClean="0"/>
              <a:t>nontrustworthy</a:t>
            </a:r>
            <a:r>
              <a:rPr lang="en-US" baseline="0" dirty="0" smtClean="0"/>
              <a:t> agents by giving each agent a type </a:t>
            </a:r>
            <a:r>
              <a:rPr lang="en-US" baseline="0" dirty="0" err="1" smtClean="0"/>
              <a:t>theta_i</a:t>
            </a:r>
            <a:r>
              <a:rPr lang="en-US" baseline="0" dirty="0" smtClean="0"/>
              <a:t>: good agents have high </a:t>
            </a:r>
            <a:r>
              <a:rPr lang="en-US" baseline="0" dirty="0" err="1" smtClean="0"/>
              <a:t>thetai</a:t>
            </a:r>
            <a:endParaRPr lang="en-US" baseline="0" dirty="0" smtClean="0"/>
          </a:p>
          <a:p>
            <a:endParaRPr lang="en-US" dirty="0" smtClean="0"/>
          </a:p>
          <a:p>
            <a:pPr>
              <a:buFontTx/>
              <a:buNone/>
            </a:pPr>
            <a:r>
              <a:rPr lang="en-US" dirty="0" smtClean="0"/>
              <a:t>Now there</a:t>
            </a:r>
            <a:r>
              <a:rPr lang="en-US" baseline="0" dirty="0" smtClean="0"/>
              <a:t> are two main challenges: first, how do we use these reports to get information about who is most trustworthy? Like to infer </a:t>
            </a:r>
            <a:r>
              <a:rPr lang="en-US" baseline="0" dirty="0" err="1" smtClean="0"/>
              <a:t>s_is</a:t>
            </a:r>
            <a:endParaRPr lang="en-US" baseline="0" dirty="0" smtClean="0"/>
          </a:p>
          <a:p>
            <a:pPr>
              <a:buFontTx/>
              <a:buNone/>
            </a:pPr>
            <a:r>
              <a:rPr lang="en-US" baseline="0" dirty="0" smtClean="0"/>
              <a:t>Second, there is motivation for agents to manipulate their reports to try to appear more trustworthy, and we need to find ways to combat that.</a:t>
            </a:r>
            <a:endParaRPr lang="en-US" dirty="0" smtClean="0"/>
          </a:p>
          <a:p>
            <a:r>
              <a:rPr lang="en-US" dirty="0" smtClean="0"/>
              <a:t>So in</a:t>
            </a:r>
            <a:r>
              <a:rPr lang="en-US" baseline="0" dirty="0" smtClean="0"/>
              <a:t> addition to being low type, may actively subvert mechanism: going </a:t>
            </a:r>
            <a:r>
              <a:rPr lang="en-US" baseline="0" smtClean="0"/>
              <a:t>to explicitly model </a:t>
            </a:r>
          </a:p>
          <a:p>
            <a:endParaRPr lang="en-US" dirty="0" smtClean="0"/>
          </a:p>
          <a:p>
            <a:endParaRPr lang="en-US" dirty="0" smtClean="0"/>
          </a:p>
          <a:p>
            <a:endParaRPr lang="en-US" dirty="0" smtClean="0"/>
          </a:p>
          <a:p>
            <a:endParaRPr lang="en-US" dirty="0" smtClean="0"/>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 directed edge exists from </a:t>
            </a:r>
            <a:r>
              <a:rPr lang="en-US" baseline="0" dirty="0" err="1" smtClean="0"/>
              <a:t>i</a:t>
            </a:r>
            <a:r>
              <a:rPr lang="en-US" baseline="0" dirty="0" smtClean="0"/>
              <a:t> to j whenever agent </a:t>
            </a:r>
            <a:r>
              <a:rPr lang="en-US" baseline="0" dirty="0" err="1" smtClean="0"/>
              <a:t>i</a:t>
            </a:r>
            <a:r>
              <a:rPr lang="en-US" baseline="0" dirty="0" smtClean="0"/>
              <a:t> has had a positive experience with agent j</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In general these edges can be weighted (imagine giving a rating on eBay, or recording the proportion of bad interactions))</a:t>
            </a:r>
          </a:p>
        </p:txBody>
      </p:sp>
      <p:sp>
        <p:nvSpPr>
          <p:cNvPr id="4" name="Slide Number Placeholder 3"/>
          <p:cNvSpPr>
            <a:spLocks noGrp="1"/>
          </p:cNvSpPr>
          <p:nvPr>
            <p:ph type="sldNum" sz="quarter" idx="10"/>
          </p:nvPr>
        </p:nvSpPr>
        <p:spPr/>
        <p:txBody>
          <a:bodyPr/>
          <a:lstStyle/>
          <a:p>
            <a:fld id="{D90FD89C-4CA8-4D2B-A043-FA6EAACDC509}"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smtClean="0"/>
          </a:p>
          <a:p>
            <a:endParaRPr lang="en-US" dirty="0" smtClean="0"/>
          </a:p>
        </p:txBody>
      </p:sp>
      <p:sp>
        <p:nvSpPr>
          <p:cNvPr id="4" name="Slide Number Placeholder 3"/>
          <p:cNvSpPr>
            <a:spLocks noGrp="1"/>
          </p:cNvSpPr>
          <p:nvPr>
            <p:ph type="sldNum" sz="quarter" idx="10"/>
          </p:nvPr>
        </p:nvSpPr>
        <p:spPr/>
        <p:txBody>
          <a:bodyPr/>
          <a:lstStyle/>
          <a:p>
            <a:fld id="{D90FD89C-4CA8-4D2B-A043-FA6EAACDC509}"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These are the two most important questions I’m going to be addressing in this talk.</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a:buFontTx/>
              <a:buNone/>
            </a:pPr>
            <a:r>
              <a:rPr lang="en-US" baseline="0" dirty="0" smtClean="0"/>
              <a:t>First, we’re going to briefly highlight some transitive trust algorithms that have been studied and examine how they solve the first problem of going from a trust graph to trust scores which discriminate between untrustworthy and trustworthy agents. </a:t>
            </a:r>
          </a:p>
          <a:p>
            <a:pPr>
              <a:buFontTx/>
              <a:buNone/>
            </a:pPr>
            <a:endParaRPr lang="en-US" baseline="0" dirty="0" smtClean="0"/>
          </a:p>
          <a:p>
            <a:pPr>
              <a:buFontTx/>
              <a:buNone/>
            </a:pPr>
            <a:r>
              <a:rPr lang="en-US" baseline="0" dirty="0" smtClean="0"/>
              <a:t>Then we’re going to illustrate the tension between being very informative, between making good use of the available trust graph information and being suspect to manipulation. Existing trust mechanisms either do </a:t>
            </a:r>
            <a:r>
              <a:rPr lang="en-US" baseline="0" dirty="0" err="1" smtClean="0"/>
              <a:t>informativeness</a:t>
            </a:r>
            <a:r>
              <a:rPr lang="en-US" baseline="0" dirty="0" smtClean="0"/>
              <a:t> well or do </a:t>
            </a:r>
            <a:r>
              <a:rPr lang="en-US" baseline="0" dirty="0" err="1" smtClean="0"/>
              <a:t>strategyproofness</a:t>
            </a:r>
            <a:r>
              <a:rPr lang="en-US" baseline="0" dirty="0" smtClean="0"/>
              <a:t> well but never both.</a:t>
            </a:r>
          </a:p>
          <a:p>
            <a:pPr>
              <a:buFontTx/>
              <a:buNone/>
            </a:pPr>
            <a:endParaRPr lang="en-US" baseline="0" dirty="0" smtClean="0"/>
          </a:p>
          <a:p>
            <a:pPr>
              <a:buFontTx/>
              <a:buNone/>
            </a:pPr>
            <a:r>
              <a:rPr lang="en-US" baseline="0" dirty="0" smtClean="0"/>
              <a:t>Then I’m going to talk about our core contribution, which is a method for taking existing trust algorithms and combining them into hybrid mechanisms that can get best of both worlds. I’m going to talk about a few results which let us adjust the </a:t>
            </a:r>
            <a:r>
              <a:rPr lang="en-US" baseline="0" dirty="0" err="1" smtClean="0"/>
              <a:t>strategyproofness</a:t>
            </a:r>
            <a:r>
              <a:rPr lang="en-US" baseline="0" dirty="0" smtClean="0"/>
              <a:t> of our hybrids.</a:t>
            </a:r>
          </a:p>
          <a:p>
            <a:pPr>
              <a:buFontTx/>
              <a:buNone/>
            </a:pPr>
            <a:endParaRPr lang="en-US" baseline="0" dirty="0" smtClean="0"/>
          </a:p>
          <a:p>
            <a:pPr>
              <a:buFontTx/>
              <a:buNone/>
            </a:pPr>
            <a:r>
              <a:rPr lang="en-US" baseline="0" dirty="0" smtClean="0"/>
              <a:t>And finally I’m going to talk about our experimental validation of the effectiveness of hybrids which show they can do better than existing mechanisms.</a:t>
            </a:r>
          </a:p>
        </p:txBody>
      </p:sp>
      <p:sp>
        <p:nvSpPr>
          <p:cNvPr id="4" name="Slide Number Placeholder 3"/>
          <p:cNvSpPr>
            <a:spLocks noGrp="1"/>
          </p:cNvSpPr>
          <p:nvPr>
            <p:ph type="sldNum" sz="quarter" idx="10"/>
          </p:nvPr>
        </p:nvSpPr>
        <p:spPr/>
        <p:txBody>
          <a:bodyPr/>
          <a:lstStyle/>
          <a:p>
            <a:fld id="{D90FD89C-4CA8-4D2B-A043-FA6EAACDC509}"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These are the two most important questions I’m going to be addressing in this talk.</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a:buFontTx/>
              <a:buNone/>
            </a:pPr>
            <a:r>
              <a:rPr lang="en-US" baseline="0" dirty="0" smtClean="0"/>
              <a:t>First, we’re going to briefly highlight some transitive trust algorithms that have been studied and examine how they solve the first problem of going from a trust graph to trust scores which discriminate between untrustworthy and trustworthy agents. </a:t>
            </a:r>
          </a:p>
          <a:p>
            <a:pPr>
              <a:buFontTx/>
              <a:buNone/>
            </a:pPr>
            <a:endParaRPr lang="en-US" baseline="0" dirty="0" smtClean="0"/>
          </a:p>
          <a:p>
            <a:pPr>
              <a:buFontTx/>
              <a:buNone/>
            </a:pPr>
            <a:r>
              <a:rPr lang="en-US" baseline="0" dirty="0" smtClean="0"/>
              <a:t>Then we’re going to illustrate the tension between being very informative, between making good use of the available trust graph information and being suspect to manipulation. Existing trust mechanisms either do </a:t>
            </a:r>
            <a:r>
              <a:rPr lang="en-US" baseline="0" dirty="0" err="1" smtClean="0"/>
              <a:t>informativeness</a:t>
            </a:r>
            <a:r>
              <a:rPr lang="en-US" baseline="0" dirty="0" smtClean="0"/>
              <a:t> well or do </a:t>
            </a:r>
            <a:r>
              <a:rPr lang="en-US" baseline="0" dirty="0" err="1" smtClean="0"/>
              <a:t>strategyproofness</a:t>
            </a:r>
            <a:r>
              <a:rPr lang="en-US" baseline="0" dirty="0" smtClean="0"/>
              <a:t> well but never both.</a:t>
            </a:r>
          </a:p>
          <a:p>
            <a:pPr>
              <a:buFontTx/>
              <a:buNone/>
            </a:pPr>
            <a:endParaRPr lang="en-US" baseline="0" dirty="0" smtClean="0"/>
          </a:p>
          <a:p>
            <a:pPr>
              <a:buFontTx/>
              <a:buNone/>
            </a:pPr>
            <a:r>
              <a:rPr lang="en-US" baseline="0" dirty="0" smtClean="0"/>
              <a:t>Then I’m going to talk about our core contribution, which is a method for taking existing trust algorithms and combining them into hybrid mechanisms that can get best of both worlds. I’m going to talk about a few results which let us adjust the </a:t>
            </a:r>
            <a:r>
              <a:rPr lang="en-US" baseline="0" dirty="0" err="1" smtClean="0"/>
              <a:t>strategyproofness</a:t>
            </a:r>
            <a:r>
              <a:rPr lang="en-US" baseline="0" dirty="0" smtClean="0"/>
              <a:t> of our hybrids.</a:t>
            </a:r>
          </a:p>
          <a:p>
            <a:pPr>
              <a:buFontTx/>
              <a:buNone/>
            </a:pPr>
            <a:endParaRPr lang="en-US" baseline="0" dirty="0" smtClean="0"/>
          </a:p>
          <a:p>
            <a:pPr>
              <a:buFontTx/>
              <a:buNone/>
            </a:pPr>
            <a:r>
              <a:rPr lang="en-US" baseline="0" dirty="0" smtClean="0"/>
              <a:t>And finally I’m going to talk about our experimental validation of the effectiveness of hybrids which show they can do better than existing mechanisms.</a:t>
            </a:r>
          </a:p>
        </p:txBody>
      </p:sp>
      <p:sp>
        <p:nvSpPr>
          <p:cNvPr id="4" name="Slide Number Placeholder 3"/>
          <p:cNvSpPr>
            <a:spLocks noGrp="1"/>
          </p:cNvSpPr>
          <p:nvPr>
            <p:ph type="sldNum" sz="quarter" idx="10"/>
          </p:nvPr>
        </p:nvSpPr>
        <p:spPr/>
        <p:txBody>
          <a:bodyPr/>
          <a:lstStyle/>
          <a:p>
            <a:fld id="{D90FD89C-4CA8-4D2B-A043-FA6EAACDC509}" type="slidenum">
              <a:rPr lang="en-US" smtClean="0"/>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Okay, so lets talk about transitive trust mechanisms that have been studied.</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One famous mechanism is the </a:t>
            </a:r>
            <a:r>
              <a:rPr lang="en-US" baseline="0" dirty="0" err="1" smtClean="0"/>
              <a:t>PageRank</a:t>
            </a:r>
            <a:r>
              <a:rPr lang="en-US" baseline="0" dirty="0" smtClean="0"/>
              <a:t> mechanism, which has been applied to scoring the relative authoritativeness of web pages but can just as easily be applied to a generic </a:t>
            </a:r>
            <a:r>
              <a:rPr lang="en-US" baseline="0" dirty="0" err="1" smtClean="0"/>
              <a:t>multiagent</a:t>
            </a:r>
            <a:r>
              <a:rPr lang="en-US" baseline="0" dirty="0" smtClean="0"/>
              <a:t> system (</a:t>
            </a:r>
            <a:r>
              <a:rPr lang="en-US" baseline="0" dirty="0" err="1" smtClean="0"/>
              <a:t>Eigentrust</a:t>
            </a:r>
            <a:r>
              <a:rPr lang="en-US" baseline="0" dirty="0" smtClean="0"/>
              <a:t>)</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Simulates a random walk on the trust graph with random jumps, and the </a:t>
            </a:r>
            <a:r>
              <a:rPr lang="en-US" baseline="0" dirty="0" err="1" smtClean="0"/>
              <a:t>PageRank</a:t>
            </a:r>
            <a:r>
              <a:rPr lang="en-US" baseline="0" dirty="0" smtClean="0"/>
              <a:t> is defined as the stationary distribution of this random walk. </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(This can be computed as the first </a:t>
            </a:r>
            <a:r>
              <a:rPr lang="en-US" baseline="0" dirty="0" err="1" smtClean="0"/>
              <a:t>eigenvalue</a:t>
            </a:r>
            <a:r>
              <a:rPr lang="en-US" baseline="0" dirty="0" smtClean="0"/>
              <a:t> of the adjacency matrix A, where </a:t>
            </a:r>
            <a:r>
              <a:rPr lang="en-US" baseline="0" dirty="0" err="1" smtClean="0"/>
              <a:t>Aij</a:t>
            </a:r>
            <a:r>
              <a:rPr lang="en-US" baseline="0" dirty="0" smtClean="0"/>
              <a:t> is the weight of the edge from </a:t>
            </a:r>
            <a:r>
              <a:rPr lang="en-US" baseline="0" dirty="0" err="1" smtClean="0"/>
              <a:t>i</a:t>
            </a:r>
            <a:r>
              <a:rPr lang="en-US" baseline="0" dirty="0" smtClean="0"/>
              <a:t> to j divided by the total number of edges leaving </a:t>
            </a:r>
            <a:r>
              <a:rPr lang="en-US" baseline="0" dirty="0" err="1" smtClean="0"/>
              <a:t>i</a:t>
            </a:r>
            <a:r>
              <a:rPr lang="en-US" baseline="0" dirty="0" smtClean="0"/>
              <a:t> plus the random jump factor)</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idea behind </a:t>
            </a:r>
            <a:r>
              <a:rPr lang="en-US" baseline="0" dirty="0" err="1" smtClean="0"/>
              <a:t>pagerank</a:t>
            </a:r>
            <a:r>
              <a:rPr lang="en-US" baseline="0" dirty="0" smtClean="0"/>
              <a:t> is that an agent is more trustworthy if it has many links, but its even more trustworthy if it has links from pages that themselves are very trustworthy.</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So here are the </a:t>
            </a:r>
            <a:r>
              <a:rPr lang="en-US" baseline="0" dirty="0" err="1" smtClean="0"/>
              <a:t>PageRank</a:t>
            </a:r>
            <a:r>
              <a:rPr lang="en-US" baseline="0" dirty="0" smtClean="0"/>
              <a:t> values for this graph.</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that these are symmetric rather than asymmetric, as we had before</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D90FD89C-4CA8-4D2B-A043-FA6EAACDC509}" type="slidenum">
              <a:rPr lang="en-US" smtClean="0"/>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There are</a:t>
            </a:r>
            <a:r>
              <a:rPr lang="en-US" baseline="0" dirty="0" smtClean="0"/>
              <a:t> a lot of simpler algorithms which have been studied which in some sense don’t do as good a job as </a:t>
            </a:r>
            <a:r>
              <a:rPr lang="en-US" baseline="0" dirty="0" err="1" smtClean="0"/>
              <a:t>PageRank</a:t>
            </a:r>
            <a:r>
              <a:rPr lang="en-US" baseline="0" dirty="0" smtClean="0"/>
              <a:t>, and I’m going to show you why.</a:t>
            </a:r>
          </a:p>
          <a:p>
            <a:endParaRPr lang="en-US" baseline="0" dirty="0" smtClean="0"/>
          </a:p>
          <a:p>
            <a:r>
              <a:rPr lang="en-US" baseline="0" dirty="0" smtClean="0"/>
              <a:t>For example, </a:t>
            </a:r>
            <a:r>
              <a:rPr lang="en-US" baseline="0" dirty="0" err="1" smtClean="0"/>
              <a:t>theres</a:t>
            </a:r>
            <a:r>
              <a:rPr lang="en-US" baseline="0" dirty="0" smtClean="0"/>
              <a:t> the shortest path algorithm, which …</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With shortest path, only this edge matters: rest of the graph is pretty irrelevant</a:t>
            </a:r>
          </a:p>
        </p:txBody>
      </p:sp>
      <p:sp>
        <p:nvSpPr>
          <p:cNvPr id="4" name="Slide Number Placeholder 3"/>
          <p:cNvSpPr>
            <a:spLocks noGrp="1"/>
          </p:cNvSpPr>
          <p:nvPr>
            <p:ph type="sldNum" sz="quarter" idx="10"/>
          </p:nvPr>
        </p:nvSpPr>
        <p:spPr/>
        <p:txBody>
          <a:bodyPr/>
          <a:lstStyle/>
          <a:p>
            <a:fld id="{D90FD89C-4CA8-4D2B-A043-FA6EAACDC509}" type="slidenum">
              <a:rPr lang="en-US" smtClean="0"/>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err="1" smtClean="0"/>
              <a:t>Theres</a:t>
            </a:r>
            <a:r>
              <a:rPr lang="en-US" baseline="0" dirty="0" smtClean="0"/>
              <a:t> the maximum flow algorithm, which …</a:t>
            </a: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err="1" smtClean="0"/>
              <a:t>Maxflow</a:t>
            </a:r>
            <a:r>
              <a:rPr lang="en-US" dirty="0" smtClean="0"/>
              <a:t> takes a</a:t>
            </a:r>
            <a:r>
              <a:rPr lang="en-US" baseline="0" dirty="0" smtClean="0"/>
              <a:t> few more edges into account: would be the same overall score if those edges were removed</a:t>
            </a:r>
          </a:p>
          <a:p>
            <a:endParaRPr lang="en-US" dirty="0" smtClean="0"/>
          </a:p>
        </p:txBody>
      </p:sp>
      <p:sp>
        <p:nvSpPr>
          <p:cNvPr id="4" name="Slide Number Placeholder 3"/>
          <p:cNvSpPr>
            <a:spLocks noGrp="1"/>
          </p:cNvSpPr>
          <p:nvPr>
            <p:ph type="sldNum" sz="quarter" idx="10"/>
          </p:nvPr>
        </p:nvSpPr>
        <p:spPr/>
        <p:txBody>
          <a:bodyPr/>
          <a:lstStyle/>
          <a:p>
            <a:fld id="{D90FD89C-4CA8-4D2B-A043-FA6EAACDC509}" type="slidenum">
              <a:rPr lang="en-US" smtClean="0"/>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smtClean="0"/>
              <a:t>Theres</a:t>
            </a:r>
            <a:r>
              <a:rPr lang="en-US" dirty="0" smtClean="0"/>
              <a:t> also hitting time, which …</a:t>
            </a: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Hitting time doesn’t take </a:t>
            </a:r>
            <a:r>
              <a:rPr lang="en-US" baseline="0" dirty="0" err="1" smtClean="0"/>
              <a:t>j’s</a:t>
            </a:r>
            <a:r>
              <a:rPr lang="en-US" baseline="0" dirty="0" smtClean="0"/>
              <a:t> </a:t>
            </a:r>
            <a:r>
              <a:rPr lang="en-US" baseline="0" dirty="0" err="1" smtClean="0"/>
              <a:t>outlinks</a:t>
            </a:r>
            <a:r>
              <a:rPr lang="en-US" baseline="0" dirty="0" smtClean="0"/>
              <a:t> into account: we’ve already hit j.</a:t>
            </a:r>
          </a:p>
          <a:p>
            <a:endParaRPr lang="en-US" baseline="0" dirty="0" smtClean="0"/>
          </a:p>
          <a:p>
            <a:endParaRPr lang="en-US" baseline="0" dirty="0" smtClean="0"/>
          </a:p>
          <a:p>
            <a:r>
              <a:rPr lang="en-US" baseline="0" dirty="0" err="1" smtClean="0"/>
              <a:t>PageRank</a:t>
            </a:r>
            <a:r>
              <a:rPr lang="en-US" baseline="0" dirty="0" smtClean="0"/>
              <a:t> takes all these edges into account: looking for stationary distribution of random surfer</a:t>
            </a:r>
          </a:p>
          <a:p>
            <a:endParaRPr lang="en-US" baseline="0" dirty="0" smtClean="0"/>
          </a:p>
          <a:p>
            <a:r>
              <a:rPr lang="en-US" dirty="0" smtClean="0"/>
              <a:t>Seems</a:t>
            </a:r>
            <a:r>
              <a:rPr lang="en-US" baseline="0" dirty="0" smtClean="0"/>
              <a:t> great, we should all use </a:t>
            </a:r>
            <a:r>
              <a:rPr lang="en-US" baseline="0" dirty="0" err="1" smtClean="0"/>
              <a:t>PageRank</a:t>
            </a:r>
            <a:r>
              <a:rPr lang="en-US" baseline="0" dirty="0" smtClean="0"/>
              <a:t>. </a:t>
            </a:r>
            <a:endParaRPr lang="en-US" dirty="0" smtClean="0"/>
          </a:p>
          <a:p>
            <a:endParaRPr lang="en-US" dirty="0" smtClean="0"/>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D90FD89C-4CA8-4D2B-A043-FA6EAACDC509}" type="slidenum">
              <a:rPr lang="en-US" smtClean="0"/>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smtClean="0"/>
              <a:t>Theres</a:t>
            </a:r>
            <a:r>
              <a:rPr lang="en-US" dirty="0" smtClean="0"/>
              <a:t> also hitting time, which …</a:t>
            </a: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Hitting time doesn’t take </a:t>
            </a:r>
            <a:r>
              <a:rPr lang="en-US" baseline="0" dirty="0" err="1" smtClean="0"/>
              <a:t>j’s</a:t>
            </a:r>
            <a:r>
              <a:rPr lang="en-US" baseline="0" dirty="0" smtClean="0"/>
              <a:t> </a:t>
            </a:r>
            <a:r>
              <a:rPr lang="en-US" baseline="0" dirty="0" err="1" smtClean="0"/>
              <a:t>outlinks</a:t>
            </a:r>
            <a:r>
              <a:rPr lang="en-US" baseline="0" dirty="0" smtClean="0"/>
              <a:t> into account: we’ve already hit j.</a:t>
            </a:r>
          </a:p>
          <a:p>
            <a:endParaRPr lang="en-US" baseline="0" dirty="0" smtClean="0"/>
          </a:p>
          <a:p>
            <a:endParaRPr lang="en-US" baseline="0" dirty="0" smtClean="0"/>
          </a:p>
          <a:p>
            <a:r>
              <a:rPr lang="en-US" baseline="0" dirty="0" err="1" smtClean="0"/>
              <a:t>PageRank</a:t>
            </a:r>
            <a:r>
              <a:rPr lang="en-US" baseline="0" dirty="0" smtClean="0"/>
              <a:t> takes all these edges into account: looking for stationary distribution of random surfer</a:t>
            </a:r>
          </a:p>
          <a:p>
            <a:endParaRPr lang="en-US" baseline="0" dirty="0" smtClean="0"/>
          </a:p>
          <a:p>
            <a:r>
              <a:rPr lang="en-US" dirty="0" smtClean="0"/>
              <a:t>Seems</a:t>
            </a:r>
            <a:r>
              <a:rPr lang="en-US" baseline="0" dirty="0" smtClean="0"/>
              <a:t> great, we should all use </a:t>
            </a:r>
            <a:r>
              <a:rPr lang="en-US" baseline="0" dirty="0" err="1" smtClean="0"/>
              <a:t>PageRank</a:t>
            </a:r>
            <a:r>
              <a:rPr lang="en-US" baseline="0" dirty="0" smtClean="0"/>
              <a:t>. </a:t>
            </a:r>
            <a:endParaRPr lang="en-US" dirty="0" smtClean="0"/>
          </a:p>
          <a:p>
            <a:endParaRPr lang="en-US" dirty="0" smtClean="0"/>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D90FD89C-4CA8-4D2B-A043-FA6EAACDC509}" type="slidenum">
              <a:rPr lang="en-US" smtClean="0"/>
              <a:pPr/>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There’s still the other challenge that I mentioned, which is that there are all sorts of incentives for agents to manipulate the trust graph; take the web ranking example, if you get a higher </a:t>
            </a:r>
            <a:r>
              <a:rPr lang="en-US" baseline="0" dirty="0" err="1" smtClean="0"/>
              <a:t>pagerank</a:t>
            </a:r>
            <a:r>
              <a:rPr lang="en-US" baseline="0" dirty="0" smtClean="0"/>
              <a:t> you can get more hits and more viewers and more advertising money.</a:t>
            </a:r>
          </a:p>
          <a:p>
            <a:endParaRPr lang="en-US" baseline="0" dirty="0" smtClean="0"/>
          </a:p>
          <a:p>
            <a:r>
              <a:rPr lang="en-US" baseline="0" dirty="0" smtClean="0"/>
              <a:t>So for </a:t>
            </a:r>
            <a:r>
              <a:rPr lang="en-US" baseline="0" dirty="0" err="1" smtClean="0"/>
              <a:t>pagerank</a:t>
            </a:r>
            <a:r>
              <a:rPr lang="en-US" baseline="0" dirty="0" smtClean="0"/>
              <a:t>, you can do this misreport manipulations, where you lie about which links you’d like to put on the graph</a:t>
            </a:r>
          </a:p>
          <a:p>
            <a:r>
              <a:rPr lang="en-US" baseline="0" dirty="0" smtClean="0"/>
              <a:t>You can also make fake </a:t>
            </a:r>
            <a:r>
              <a:rPr lang="en-US" baseline="0" dirty="0" err="1" smtClean="0"/>
              <a:t>sybil</a:t>
            </a:r>
            <a:r>
              <a:rPr lang="en-US" baseline="0" dirty="0" smtClean="0"/>
              <a:t> nodes which you control which you can make links to back and forth</a:t>
            </a:r>
          </a:p>
          <a:p>
            <a:endParaRPr lang="en-US" baseline="0" dirty="0" smtClean="0"/>
          </a:p>
          <a:p>
            <a:r>
              <a:rPr lang="en-US" baseline="0" dirty="0" smtClean="0"/>
              <a:t>Optimal manipulation for </a:t>
            </a:r>
            <a:r>
              <a:rPr lang="en-US" baseline="0" dirty="0" err="1" smtClean="0"/>
              <a:t>pagerank</a:t>
            </a:r>
            <a:r>
              <a:rPr lang="en-US" baseline="0" dirty="0" smtClean="0"/>
              <a:t> is to do both of these things</a:t>
            </a:r>
          </a:p>
          <a:p>
            <a:endParaRPr lang="en-US" baseline="0" dirty="0" smtClean="0"/>
          </a:p>
          <a:p>
            <a:r>
              <a:rPr lang="en-US" baseline="0" dirty="0" smtClean="0"/>
              <a:t>In this toy example the agent with the lowest trust score can become the highest trusted agent in the graph.</a:t>
            </a:r>
            <a:endParaRPr lang="en-US" dirty="0" smtClean="0"/>
          </a:p>
          <a:p>
            <a:endParaRPr lang="en-US" dirty="0" smtClean="0"/>
          </a:p>
          <a:p>
            <a:r>
              <a:rPr lang="en-US" dirty="0" smtClean="0"/>
              <a:t>How</a:t>
            </a:r>
            <a:r>
              <a:rPr lang="en-US" baseline="0" dirty="0" smtClean="0"/>
              <a:t> can we prevent these sorts of manipulations from being profitable?</a:t>
            </a:r>
            <a:endParaRPr lang="en-US" dirty="0" smtClean="0"/>
          </a:p>
          <a:p>
            <a:r>
              <a:rPr lang="en-US" dirty="0" smtClean="0"/>
              <a:t>(There</a:t>
            </a:r>
            <a:r>
              <a:rPr lang="en-US" baseline="0" dirty="0" smtClean="0"/>
              <a:t> are </a:t>
            </a:r>
            <a:r>
              <a:rPr lang="en-US" dirty="0" smtClean="0"/>
              <a:t>Whitewashing, collusion)</a:t>
            </a:r>
            <a:endParaRPr lang="en-US" dirty="0"/>
          </a:p>
        </p:txBody>
      </p:sp>
      <p:sp>
        <p:nvSpPr>
          <p:cNvPr id="4" name="Slide Number Placeholder 3"/>
          <p:cNvSpPr>
            <a:spLocks noGrp="1"/>
          </p:cNvSpPr>
          <p:nvPr>
            <p:ph type="sldNum" sz="quarter" idx="10"/>
          </p:nvPr>
        </p:nvSpPr>
        <p:spPr/>
        <p:txBody>
          <a:bodyPr/>
          <a:lstStyle/>
          <a:p>
            <a:fld id="{D90FD89C-4CA8-4D2B-A043-FA6EAACDC509}" type="slidenum">
              <a:rPr lang="en-US" smtClean="0"/>
              <a:pPr/>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latin typeface="+mn-lt"/>
                <a:ea typeface="+mn-ea"/>
                <a:cs typeface="+mn-cs"/>
              </a:rPr>
              <a:t>So the most informative of our trust mechanisms, namely </a:t>
            </a:r>
            <a:r>
              <a:rPr lang="en-US" sz="1200" b="0" i="0" kern="1200" dirty="0" err="1" smtClean="0">
                <a:solidFill>
                  <a:schemeClr val="tx1"/>
                </a:solidFill>
                <a:latin typeface="+mn-lt"/>
                <a:ea typeface="+mn-ea"/>
                <a:cs typeface="+mn-cs"/>
              </a:rPr>
              <a:t>pagerank</a:t>
            </a:r>
            <a:r>
              <a:rPr lang="en-US" sz="1200" b="0" i="0" kern="1200" dirty="0" smtClean="0">
                <a:solidFill>
                  <a:schemeClr val="tx1"/>
                </a:solidFill>
                <a:latin typeface="+mn-lt"/>
                <a:ea typeface="+mn-ea"/>
                <a:cs typeface="+mn-cs"/>
              </a:rPr>
              <a:t>, can be suspect to manipulation.  Now, let's take a closer look at how we can quantify the ability to manipulate a trust mechanism and the trade-off between </a:t>
            </a:r>
            <a:r>
              <a:rPr lang="en-US" sz="1200" b="0" i="0" kern="1200" dirty="0" err="1" smtClean="0">
                <a:solidFill>
                  <a:schemeClr val="tx1"/>
                </a:solidFill>
                <a:latin typeface="+mn-lt"/>
                <a:ea typeface="+mn-ea"/>
                <a:cs typeface="+mn-cs"/>
              </a:rPr>
              <a:t>informativeness</a:t>
            </a:r>
            <a:r>
              <a:rPr lang="en-US" sz="1200" b="0" i="0" kern="1200" dirty="0" smtClean="0">
                <a:solidFill>
                  <a:schemeClr val="tx1"/>
                </a:solidFill>
                <a:latin typeface="+mn-lt"/>
                <a:ea typeface="+mn-ea"/>
                <a:cs typeface="+mn-cs"/>
              </a:rPr>
              <a:t> and </a:t>
            </a:r>
            <a:r>
              <a:rPr lang="en-US" sz="1200" b="0" i="0" kern="1200" dirty="0" err="1" smtClean="0">
                <a:solidFill>
                  <a:schemeClr val="tx1"/>
                </a:solidFill>
                <a:latin typeface="+mn-lt"/>
                <a:ea typeface="+mn-ea"/>
                <a:cs typeface="+mn-cs"/>
              </a:rPr>
              <a:t>strategyproofness</a:t>
            </a:r>
            <a:endParaRPr lang="en-US" dirty="0" smtClean="0"/>
          </a:p>
        </p:txBody>
      </p:sp>
      <p:sp>
        <p:nvSpPr>
          <p:cNvPr id="4" name="Slide Number Placeholder 3"/>
          <p:cNvSpPr>
            <a:spLocks noGrp="1"/>
          </p:cNvSpPr>
          <p:nvPr>
            <p:ph type="sldNum" sz="quarter" idx="10"/>
          </p:nvPr>
        </p:nvSpPr>
        <p:spPr/>
        <p:txBody>
          <a:bodyPr/>
          <a:lstStyle/>
          <a:p>
            <a:fld id="{D90FD89C-4CA8-4D2B-A043-FA6EAACDC509}" type="slidenum">
              <a:rPr lang="en-US" smtClean="0"/>
              <a:pPr/>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We’d like our mechanisms to be </a:t>
            </a:r>
            <a:r>
              <a:rPr lang="en-US" dirty="0" err="1" smtClean="0"/>
              <a:t>strategyproof</a:t>
            </a:r>
            <a:r>
              <a:rPr lang="en-US" dirty="0" smtClean="0"/>
              <a:t>,</a:t>
            </a:r>
            <a:r>
              <a:rPr lang="en-US" baseline="0" dirty="0" smtClean="0"/>
              <a:t> so that agents cannot benefit from manipulating</a:t>
            </a:r>
          </a:p>
          <a:p>
            <a:endParaRPr lang="en-US" dirty="0" smtClean="0"/>
          </a:p>
          <a:p>
            <a:r>
              <a:rPr lang="en-US" dirty="0" err="1" smtClean="0"/>
              <a:t>Theres</a:t>
            </a:r>
            <a:r>
              <a:rPr lang="en-US" baseline="0" dirty="0" smtClean="0"/>
              <a:t> two main ways people have looked at this in the past</a:t>
            </a:r>
          </a:p>
          <a:p>
            <a:endParaRPr lang="en-US" dirty="0" smtClean="0"/>
          </a:p>
          <a:p>
            <a:endParaRPr lang="en-US" dirty="0" smtClean="0"/>
          </a:p>
          <a:p>
            <a:pPr marL="0" marR="0" lvl="1" indent="0" algn="l" defTabSz="914400" rtl="0" eaLnBrk="1" fontAlgn="auto" latinLnBrk="0" hangingPunct="1">
              <a:lnSpc>
                <a:spcPct val="100000"/>
              </a:lnSpc>
              <a:spcBef>
                <a:spcPts val="0"/>
              </a:spcBef>
              <a:spcAft>
                <a:spcPts val="0"/>
              </a:spcAft>
              <a:buClrTx/>
              <a:buSzTx/>
              <a:buFontTx/>
              <a:buNone/>
              <a:tabLst/>
              <a:defRPr/>
            </a:pPr>
            <a:r>
              <a:rPr lang="en-US" dirty="0" smtClean="0"/>
              <a:t>Agents cannot increase their absolute trust score from the perspective of any other agent</a:t>
            </a:r>
          </a:p>
          <a:p>
            <a:endParaRPr lang="en-US" dirty="0" smtClean="0"/>
          </a:p>
          <a:p>
            <a:endParaRPr lang="en-US" dirty="0" smtClean="0"/>
          </a:p>
          <a:p>
            <a:r>
              <a:rPr lang="en-US" dirty="0" smtClean="0"/>
              <a:t>Shows</a:t>
            </a:r>
            <a:r>
              <a:rPr lang="en-US" baseline="0" dirty="0" smtClean="0"/>
              <a:t> the </a:t>
            </a:r>
            <a:r>
              <a:rPr lang="en-US" baseline="0" dirty="0" err="1" smtClean="0"/>
              <a:t>maxflow</a:t>
            </a:r>
            <a:r>
              <a:rPr lang="en-US" baseline="0" dirty="0" smtClean="0"/>
              <a:t> algorithm: </a:t>
            </a:r>
            <a:r>
              <a:rPr lang="en-US" baseline="0" dirty="0" err="1" smtClean="0"/>
              <a:t>maxflow</a:t>
            </a:r>
            <a:r>
              <a:rPr lang="en-US" baseline="0" dirty="0" smtClean="0"/>
              <a:t> is value </a:t>
            </a:r>
            <a:r>
              <a:rPr lang="en-US" baseline="0" dirty="0" err="1" smtClean="0"/>
              <a:t>strategyproof</a:t>
            </a:r>
            <a:endParaRPr lang="en-US" baseline="0" dirty="0" smtClean="0"/>
          </a:p>
          <a:p>
            <a:endParaRPr lang="en-US" baseline="0" dirty="0" smtClean="0"/>
          </a:p>
          <a:p>
            <a:r>
              <a:rPr lang="en-US" baseline="0" dirty="0" smtClean="0"/>
              <a:t>In order for j to increase his trust score, I need to increase the capacity of the maximum flow edges from </a:t>
            </a:r>
            <a:r>
              <a:rPr lang="en-US" baseline="0" dirty="0" err="1" smtClean="0"/>
              <a:t>i</a:t>
            </a:r>
            <a:r>
              <a:rPr lang="en-US" baseline="0" dirty="0" smtClean="0"/>
              <a:t> to j. But any edge that j controls (</a:t>
            </a:r>
            <a:r>
              <a:rPr lang="en-US" baseline="0" dirty="0" err="1" smtClean="0"/>
              <a:t>outlinks</a:t>
            </a:r>
            <a:r>
              <a:rPr lang="en-US" baseline="0" dirty="0" smtClean="0"/>
              <a:t>) cannot be part of this flow.</a:t>
            </a:r>
            <a:endParaRPr lang="en-US" dirty="0" smtClean="0"/>
          </a:p>
          <a:p>
            <a:endParaRPr lang="en-US" dirty="0" smtClean="0"/>
          </a:p>
          <a:p>
            <a:r>
              <a:rPr lang="en-US" dirty="0" smtClean="0"/>
              <a:t>Easy way to guarantee value </a:t>
            </a:r>
            <a:r>
              <a:rPr lang="en-US" dirty="0" err="1" smtClean="0"/>
              <a:t>strategyproofness</a:t>
            </a:r>
            <a:r>
              <a:rPr lang="en-US" dirty="0" smtClean="0"/>
              <a:t>:</a:t>
            </a:r>
            <a:r>
              <a:rPr lang="en-US" baseline="0" dirty="0" smtClean="0"/>
              <a:t> don’t let my own reports affect my score</a:t>
            </a:r>
          </a:p>
          <a:p>
            <a:endParaRPr lang="en-US" baseline="0" dirty="0" smtClean="0"/>
          </a:p>
          <a:p>
            <a:r>
              <a:rPr lang="en-US" baseline="0" dirty="0" smtClean="0"/>
              <a:t>Hitting time, </a:t>
            </a:r>
            <a:r>
              <a:rPr lang="en-US" baseline="0" dirty="0" err="1" smtClean="0"/>
              <a:t>maxflow</a:t>
            </a:r>
            <a:r>
              <a:rPr lang="en-US" baseline="0" dirty="0" smtClean="0"/>
              <a:t>, shortest path are all value </a:t>
            </a:r>
            <a:r>
              <a:rPr lang="en-US" baseline="0" dirty="0" err="1" smtClean="0"/>
              <a:t>strategyproof</a:t>
            </a:r>
            <a:r>
              <a:rPr lang="en-US" baseline="0" dirty="0" smtClean="0"/>
              <a:t>.</a:t>
            </a:r>
          </a:p>
          <a:p>
            <a:r>
              <a:rPr lang="en-US" baseline="0" dirty="0" err="1" smtClean="0"/>
              <a:t>PageRank</a:t>
            </a:r>
            <a:r>
              <a:rPr lang="en-US" baseline="0" dirty="0" smtClean="0"/>
              <a:t> is NOT value </a:t>
            </a:r>
            <a:r>
              <a:rPr lang="en-US" baseline="0" dirty="0" err="1" smtClean="0"/>
              <a:t>strategyproof</a:t>
            </a:r>
            <a:r>
              <a:rPr lang="en-US" baseline="0" dirty="0" smtClean="0"/>
              <a:t> (recall manipulations example)</a:t>
            </a:r>
            <a:endParaRPr lang="en-US" dirty="0" smtClean="0"/>
          </a:p>
        </p:txBody>
      </p:sp>
      <p:sp>
        <p:nvSpPr>
          <p:cNvPr id="4" name="Slide Number Placeholder 3"/>
          <p:cNvSpPr>
            <a:spLocks noGrp="1"/>
          </p:cNvSpPr>
          <p:nvPr>
            <p:ph type="sldNum" sz="quarter" idx="10"/>
          </p:nvPr>
        </p:nvSpPr>
        <p:spPr/>
        <p:txBody>
          <a:bodyPr/>
          <a:lstStyle/>
          <a:p>
            <a:fld id="{D90FD89C-4CA8-4D2B-A043-FA6EAACDC509}" type="slidenum">
              <a:rPr lang="en-US" smtClean="0"/>
              <a:pPr/>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smtClean="0"/>
          </a:p>
          <a:p>
            <a:pPr marL="0" marR="0" lvl="1" indent="0" algn="l" defTabSz="914400" rtl="0" eaLnBrk="1" fontAlgn="auto" latinLnBrk="0" hangingPunct="1">
              <a:lnSpc>
                <a:spcPct val="100000"/>
              </a:lnSpc>
              <a:spcBef>
                <a:spcPts val="0"/>
              </a:spcBef>
              <a:spcAft>
                <a:spcPts val="0"/>
              </a:spcAft>
              <a:buClrTx/>
              <a:buSzTx/>
              <a:buFontTx/>
              <a:buNone/>
              <a:tabLst/>
              <a:defRPr/>
            </a:pPr>
            <a:r>
              <a:rPr lang="en-US" dirty="0" smtClean="0"/>
              <a:t>Agents cannot increase their position in a rank order from the perspective of any other agent</a:t>
            </a:r>
          </a:p>
          <a:p>
            <a:endParaRPr lang="en-US" dirty="0" smtClean="0"/>
          </a:p>
          <a:p>
            <a:endParaRPr lang="en-US" dirty="0" smtClean="0"/>
          </a:p>
          <a:p>
            <a:r>
              <a:rPr lang="en-US" dirty="0" smtClean="0"/>
              <a:t>Shortest path</a:t>
            </a:r>
            <a:r>
              <a:rPr lang="en-US" baseline="0" dirty="0" smtClean="0"/>
              <a:t> is rank </a:t>
            </a:r>
            <a:r>
              <a:rPr lang="en-US" baseline="0" dirty="0" err="1" smtClean="0"/>
              <a:t>strategyproof</a:t>
            </a:r>
            <a:endParaRPr lang="en-US" baseline="0" dirty="0" smtClean="0"/>
          </a:p>
          <a:p>
            <a:endParaRPr lang="en-US" dirty="0" smtClean="0"/>
          </a:p>
          <a:p>
            <a:r>
              <a:rPr lang="en-US" dirty="0" smtClean="0"/>
              <a:t>Say agent</a:t>
            </a:r>
            <a:r>
              <a:rPr lang="en-US" baseline="0" dirty="0" smtClean="0"/>
              <a:t> j wants to increase his rank in the eyes of agent </a:t>
            </a:r>
            <a:r>
              <a:rPr lang="en-US" baseline="0" dirty="0" err="1" smtClean="0"/>
              <a:t>i</a:t>
            </a:r>
            <a:r>
              <a:rPr lang="en-US" baseline="0" dirty="0" smtClean="0"/>
              <a:t>.</a:t>
            </a:r>
          </a:p>
          <a:p>
            <a:endParaRPr lang="en-US" dirty="0" smtClean="0"/>
          </a:p>
          <a:p>
            <a:r>
              <a:rPr lang="en-US" dirty="0" smtClean="0"/>
              <a:t>If another agent j’ has higher trust score than j, j’ must have a shorter shortest path from</a:t>
            </a:r>
            <a:r>
              <a:rPr lang="en-US" baseline="0" dirty="0" smtClean="0"/>
              <a:t> </a:t>
            </a:r>
            <a:r>
              <a:rPr lang="en-US" baseline="0" dirty="0" err="1" smtClean="0"/>
              <a:t>i</a:t>
            </a:r>
            <a:r>
              <a:rPr lang="en-US" baseline="0" dirty="0" smtClean="0"/>
              <a:t>. But j cannot lie on this shortest path (because that would be a shorter shortest path than the one currently from </a:t>
            </a:r>
            <a:r>
              <a:rPr lang="en-US" baseline="0" dirty="0" err="1" smtClean="0"/>
              <a:t>i</a:t>
            </a:r>
            <a:r>
              <a:rPr lang="en-US" baseline="0" dirty="0" smtClean="0"/>
              <a:t> to j).</a:t>
            </a:r>
          </a:p>
          <a:p>
            <a:endParaRPr lang="en-US" baseline="0" dirty="0" smtClean="0"/>
          </a:p>
          <a:p>
            <a:r>
              <a:rPr lang="en-US" dirty="0" smtClean="0"/>
              <a:t>Therefore j cannot decrease</a:t>
            </a:r>
            <a:r>
              <a:rPr lang="en-US" baseline="0" dirty="0" smtClean="0"/>
              <a:t> the rank of any agent who is ranked higher.</a:t>
            </a:r>
            <a:endParaRPr lang="en-US" dirty="0" smtClean="0"/>
          </a:p>
          <a:p>
            <a:endParaRPr lang="en-US" dirty="0" smtClean="0"/>
          </a:p>
          <a:p>
            <a:r>
              <a:rPr lang="en-US" dirty="0" smtClean="0"/>
              <a:t>This</a:t>
            </a:r>
            <a:r>
              <a:rPr lang="en-US" baseline="0" dirty="0" smtClean="0"/>
              <a:t> is not true for </a:t>
            </a:r>
            <a:r>
              <a:rPr lang="en-US" baseline="0" dirty="0" err="1" smtClean="0"/>
              <a:t>maxflow</a:t>
            </a:r>
            <a:r>
              <a:rPr lang="en-US" baseline="0" dirty="0" smtClean="0"/>
              <a:t>, hitting time, or </a:t>
            </a:r>
            <a:r>
              <a:rPr lang="en-US" baseline="0" dirty="0" err="1" smtClean="0"/>
              <a:t>pagerank</a:t>
            </a:r>
            <a:r>
              <a:rPr lang="en-US" baseline="0" dirty="0" smtClean="0"/>
              <a:t>.</a:t>
            </a:r>
            <a:endParaRPr lang="en-US" dirty="0" smtClean="0"/>
          </a:p>
        </p:txBody>
      </p:sp>
      <p:sp>
        <p:nvSpPr>
          <p:cNvPr id="4" name="Slide Number Placeholder 3"/>
          <p:cNvSpPr>
            <a:spLocks noGrp="1"/>
          </p:cNvSpPr>
          <p:nvPr>
            <p:ph type="sldNum" sz="quarter" idx="10"/>
          </p:nvPr>
        </p:nvSpPr>
        <p:spPr/>
        <p:txBody>
          <a:bodyPr/>
          <a:lstStyle/>
          <a:p>
            <a:fld id="{D90FD89C-4CA8-4D2B-A043-FA6EAACDC509}" type="slidenum">
              <a:rPr lang="en-US" smtClean="0"/>
              <a:pPr/>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We’re going to define some natural generalizations</a:t>
            </a:r>
            <a:r>
              <a:rPr lang="en-US" baseline="0" dirty="0" smtClean="0"/>
              <a:t> </a:t>
            </a:r>
            <a:r>
              <a:rPr lang="en-US" dirty="0" smtClean="0"/>
              <a:t>of the value- and rank- </a:t>
            </a:r>
            <a:r>
              <a:rPr lang="en-US" dirty="0" err="1" smtClean="0"/>
              <a:t>strategyproofness</a:t>
            </a:r>
            <a:r>
              <a:rPr lang="en-US" baseline="0" dirty="0" smtClean="0"/>
              <a:t> concepts that will be useful later for hybrids.</a:t>
            </a:r>
          </a:p>
          <a:p>
            <a:endParaRPr lang="en-US" baseline="0" dirty="0" smtClean="0"/>
          </a:p>
          <a:p>
            <a:r>
              <a:rPr lang="en-US" baseline="0" dirty="0" smtClean="0"/>
              <a:t>First we define epsilon value </a:t>
            </a:r>
            <a:r>
              <a:rPr lang="en-US" baseline="0" dirty="0" err="1" smtClean="0"/>
              <a:t>strategyproofness</a:t>
            </a:r>
            <a:r>
              <a:rPr lang="en-US" baseline="0" dirty="0" smtClean="0"/>
              <a:t>, which requires that agents cannot increase their trust score by more than epsilon through manipulation. This means that the maximum value of the manipulation is bounded by epsilon</a:t>
            </a:r>
          </a:p>
          <a:p>
            <a:endParaRPr lang="en-US" baseline="0" dirty="0" smtClean="0"/>
          </a:p>
          <a:p>
            <a:r>
              <a:rPr lang="en-US" baseline="0" dirty="0" smtClean="0"/>
              <a:t>If epsilon = 0 this reduces to value </a:t>
            </a:r>
            <a:r>
              <a:rPr lang="en-US" baseline="0" dirty="0" err="1" smtClean="0"/>
              <a:t>strategyproofness</a:t>
            </a:r>
            <a:endParaRPr lang="en-US" baseline="0" dirty="0" smtClean="0"/>
          </a:p>
          <a:p>
            <a:endParaRPr lang="en-US" dirty="0" smtClean="0"/>
          </a:p>
          <a:p>
            <a:endParaRPr lang="en-US" dirty="0" smtClean="0"/>
          </a:p>
          <a:p>
            <a:r>
              <a:rPr lang="en-US" dirty="0" smtClean="0"/>
              <a:t>We also define the corresponding generalization for rank </a:t>
            </a:r>
            <a:r>
              <a:rPr lang="en-US" dirty="0" err="1" smtClean="0"/>
              <a:t>strategyproofness</a:t>
            </a:r>
            <a:endParaRPr lang="en-US" dirty="0" smtClean="0"/>
          </a:p>
          <a:p>
            <a:endParaRPr lang="en-US" dirty="0" smtClean="0"/>
          </a:p>
          <a:p>
            <a:r>
              <a:rPr lang="en-US" dirty="0" smtClean="0"/>
              <a:t>Epsilon rank </a:t>
            </a:r>
            <a:r>
              <a:rPr lang="en-US" dirty="0" err="1" smtClean="0"/>
              <a:t>strategyproof</a:t>
            </a:r>
            <a:r>
              <a:rPr lang="en-US" dirty="0" smtClean="0"/>
              <a:t> mechanisms do not allow agents to improve their rank above</a:t>
            </a:r>
            <a:r>
              <a:rPr lang="en-US" baseline="0" dirty="0" smtClean="0"/>
              <a:t> agents with epsilon higher trust score</a:t>
            </a:r>
          </a:p>
          <a:p>
            <a:endParaRPr lang="en-US" baseline="0" dirty="0" smtClean="0"/>
          </a:p>
          <a:p>
            <a:r>
              <a:rPr lang="en-US" baseline="0" dirty="0" smtClean="0"/>
              <a:t>Rank manipulations are locally restricted.</a:t>
            </a:r>
            <a:endParaRPr lang="en-US" dirty="0"/>
          </a:p>
        </p:txBody>
      </p:sp>
      <p:sp>
        <p:nvSpPr>
          <p:cNvPr id="4" name="Slide Number Placeholder 3"/>
          <p:cNvSpPr>
            <a:spLocks noGrp="1"/>
          </p:cNvSpPr>
          <p:nvPr>
            <p:ph type="sldNum" sz="quarter" idx="10"/>
          </p:nvPr>
        </p:nvSpPr>
        <p:spPr/>
        <p:txBody>
          <a:bodyPr/>
          <a:lstStyle/>
          <a:p>
            <a:fld id="{D90FD89C-4CA8-4D2B-A043-FA6EAACDC509}" type="slidenum">
              <a:rPr lang="en-US" smtClean="0"/>
              <a:pPr/>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We’d like our mechanism</a:t>
            </a:r>
            <a:r>
              <a:rPr lang="en-US" baseline="0" dirty="0" smtClean="0"/>
              <a:t> to have good </a:t>
            </a:r>
            <a:r>
              <a:rPr lang="en-US" baseline="0" dirty="0" err="1" smtClean="0"/>
              <a:t>informativeness</a:t>
            </a:r>
            <a:r>
              <a:rPr lang="en-US" baseline="0" dirty="0" smtClean="0"/>
              <a:t> and </a:t>
            </a:r>
            <a:r>
              <a:rPr lang="en-US" baseline="0" dirty="0" err="1" smtClean="0"/>
              <a:t>strategyproofness</a:t>
            </a:r>
            <a:r>
              <a:rPr lang="en-US" baseline="0" dirty="0" smtClean="0"/>
              <a:t> properties</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But </a:t>
            </a:r>
            <a:r>
              <a:rPr lang="en-US" baseline="0" dirty="0" smtClean="0"/>
              <a:t>there a tradeoff between </a:t>
            </a:r>
            <a:r>
              <a:rPr lang="en-US" baseline="0" dirty="0" err="1" smtClean="0"/>
              <a:t>informativeness</a:t>
            </a:r>
            <a:r>
              <a:rPr lang="en-US" baseline="0" dirty="0" smtClean="0"/>
              <a:t> and </a:t>
            </a:r>
            <a:r>
              <a:rPr lang="en-US" baseline="0" dirty="0" err="1" smtClean="0"/>
              <a:t>strategyproofness</a:t>
            </a:r>
            <a:r>
              <a:rPr lang="en-US" baseline="0" dirty="0" smtClean="0"/>
              <a:t>. </a:t>
            </a:r>
            <a:r>
              <a:rPr lang="en-US" sz="1200" b="0" i="0" kern="1200" dirty="0" smtClean="0">
                <a:solidFill>
                  <a:schemeClr val="tx1"/>
                </a:solidFill>
                <a:latin typeface="+mn-lt"/>
                <a:ea typeface="+mn-ea"/>
                <a:cs typeface="+mn-cs"/>
              </a:rPr>
              <a:t>For example the most informative mechanism, namely </a:t>
            </a:r>
            <a:r>
              <a:rPr lang="en-US" sz="1200" b="0" i="0" kern="1200" dirty="0" err="1" smtClean="0">
                <a:solidFill>
                  <a:schemeClr val="tx1"/>
                </a:solidFill>
                <a:latin typeface="+mn-lt"/>
                <a:ea typeface="+mn-ea"/>
                <a:cs typeface="+mn-cs"/>
              </a:rPr>
              <a:t>PageRank</a:t>
            </a:r>
            <a:r>
              <a:rPr lang="en-US" sz="1200" b="0" i="0" kern="1200" dirty="0" smtClean="0">
                <a:solidFill>
                  <a:schemeClr val="tx1"/>
                </a:solidFill>
                <a:latin typeface="+mn-lt"/>
                <a:ea typeface="+mn-ea"/>
                <a:cs typeface="+mn-cs"/>
              </a:rPr>
              <a:t>, is not value- or rank-</a:t>
            </a:r>
            <a:r>
              <a:rPr lang="en-US" sz="1200" b="0" i="0" kern="1200" dirty="0" err="1" smtClean="0">
                <a:solidFill>
                  <a:schemeClr val="tx1"/>
                </a:solidFill>
                <a:latin typeface="+mn-lt"/>
                <a:ea typeface="+mn-ea"/>
                <a:cs typeface="+mn-cs"/>
              </a:rPr>
              <a:t>strategyproof</a:t>
            </a:r>
            <a:r>
              <a:rPr lang="en-US" sz="1200" b="0" i="0" kern="1200" dirty="0" smtClean="0">
                <a:solidFill>
                  <a:schemeClr val="tx1"/>
                </a:solidFill>
                <a:latin typeface="+mn-lt"/>
                <a:ea typeface="+mn-ea"/>
                <a:cs typeface="+mn-cs"/>
              </a:rPr>
              <a:t>. </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Existing</a:t>
            </a:r>
            <a:r>
              <a:rPr lang="en-US" baseline="0" dirty="0" smtClean="0"/>
              <a:t> m</a:t>
            </a:r>
            <a:r>
              <a:rPr lang="en-US" dirty="0" smtClean="0"/>
              <a:t>echanisms</a:t>
            </a:r>
            <a:r>
              <a:rPr lang="en-US" baseline="0" dirty="0" smtClean="0"/>
              <a:t> are either very informative or very </a:t>
            </a:r>
            <a:r>
              <a:rPr lang="en-US" baseline="0" dirty="0" err="1" smtClean="0"/>
              <a:t>strategyproof</a:t>
            </a:r>
            <a:r>
              <a:rPr lang="en-US" baseline="0" dirty="0" smtClean="0"/>
              <a:t> but never both;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Previous work has generally focused either on getting really accurate informative mechanisms or getting really strong theoretical </a:t>
            </a:r>
            <a:r>
              <a:rPr lang="en-US" baseline="0" dirty="0" err="1" smtClean="0"/>
              <a:t>strategyproofness</a:t>
            </a:r>
            <a:r>
              <a:rPr lang="en-US" baseline="0" dirty="0" smtClean="0"/>
              <a:t> results.</a:t>
            </a:r>
            <a:endParaRPr lang="en-US" dirty="0" smtClean="0"/>
          </a:p>
          <a:p>
            <a:endParaRPr lang="en-US" dirty="0" smtClean="0"/>
          </a:p>
          <a:p>
            <a:r>
              <a:rPr lang="en-US" sz="1200" b="0" i="0" kern="1200" dirty="0" smtClean="0">
                <a:solidFill>
                  <a:schemeClr val="tx1"/>
                </a:solidFill>
                <a:latin typeface="+mn-lt"/>
                <a:ea typeface="+mn-ea"/>
                <a:cs typeface="+mn-cs"/>
              </a:rPr>
              <a:t>That being said, value- and rank-strategy </a:t>
            </a:r>
            <a:r>
              <a:rPr lang="en-US" sz="1200" b="0" i="0" kern="1200" dirty="0" err="1" smtClean="0">
                <a:solidFill>
                  <a:schemeClr val="tx1"/>
                </a:solidFill>
                <a:latin typeface="+mn-lt"/>
                <a:ea typeface="+mn-ea"/>
                <a:cs typeface="+mn-cs"/>
              </a:rPr>
              <a:t>proofness</a:t>
            </a:r>
            <a:r>
              <a:rPr lang="en-US" sz="1200" b="0" i="0" kern="1200" dirty="0" smtClean="0">
                <a:solidFill>
                  <a:schemeClr val="tx1"/>
                </a:solidFill>
                <a:latin typeface="+mn-lt"/>
                <a:ea typeface="+mn-ea"/>
                <a:cs typeface="+mn-cs"/>
              </a:rPr>
              <a:t> are very binary (black/white) definitions---we will now introduce a generalization of these concepts which allows us to quantify a degree of strategy-</a:t>
            </a:r>
            <a:r>
              <a:rPr lang="en-US" sz="1200" b="0" i="0" kern="1200" dirty="0" err="1" smtClean="0">
                <a:solidFill>
                  <a:schemeClr val="tx1"/>
                </a:solidFill>
                <a:latin typeface="+mn-lt"/>
                <a:ea typeface="+mn-ea"/>
                <a:cs typeface="+mn-cs"/>
              </a:rPr>
              <a:t>proofness</a:t>
            </a:r>
            <a:r>
              <a:rPr lang="en-US" sz="1200" b="0" i="0" kern="1200" dirty="0" smtClean="0">
                <a:solidFill>
                  <a:schemeClr val="tx1"/>
                </a:solidFill>
                <a:latin typeface="+mn-lt"/>
                <a:ea typeface="+mn-ea"/>
                <a:cs typeface="+mn-cs"/>
              </a:rPr>
              <a:t>."</a:t>
            </a:r>
            <a:br>
              <a:rPr lang="en-US" sz="1200" b="0" i="0" kern="1200" dirty="0" smtClean="0">
                <a:solidFill>
                  <a:schemeClr val="tx1"/>
                </a:solidFill>
                <a:latin typeface="+mn-lt"/>
                <a:ea typeface="+mn-ea"/>
                <a:cs typeface="+mn-cs"/>
              </a:rPr>
            </a:br>
            <a:endParaRPr lang="en-US" dirty="0" smtClean="0"/>
          </a:p>
          <a:p>
            <a:endParaRPr lang="en-US" dirty="0" smtClean="0"/>
          </a:p>
        </p:txBody>
      </p:sp>
      <p:sp>
        <p:nvSpPr>
          <p:cNvPr id="4" name="Slide Number Placeholder 3"/>
          <p:cNvSpPr>
            <a:spLocks noGrp="1"/>
          </p:cNvSpPr>
          <p:nvPr>
            <p:ph type="sldNum" sz="quarter" idx="10"/>
          </p:nvPr>
        </p:nvSpPr>
        <p:spPr/>
        <p:txBody>
          <a:bodyPr/>
          <a:lstStyle/>
          <a:p>
            <a:fld id="{D90FD89C-4CA8-4D2B-A043-FA6EAACDC509}" type="slidenum">
              <a:rPr lang="en-US" smtClean="0"/>
              <a:pPr/>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So now we have all the background</a:t>
            </a:r>
            <a:r>
              <a:rPr lang="en-US" baseline="0" dirty="0" smtClean="0"/>
              <a:t> we need to talk about our main results.</a:t>
            </a: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p:txBody>
      </p:sp>
      <p:sp>
        <p:nvSpPr>
          <p:cNvPr id="4" name="Slide Number Placeholder 3"/>
          <p:cNvSpPr>
            <a:spLocks noGrp="1"/>
          </p:cNvSpPr>
          <p:nvPr>
            <p:ph type="sldNum" sz="quarter" idx="10"/>
          </p:nvPr>
        </p:nvSpPr>
        <p:spPr/>
        <p:txBody>
          <a:bodyPr/>
          <a:lstStyle/>
          <a:p>
            <a:fld id="{D90FD89C-4CA8-4D2B-A043-FA6EAACDC509}" type="slidenum">
              <a:rPr lang="en-US" smtClean="0"/>
              <a:pPr/>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One natural thing to do is to simply use a convex combination to combine mechanisms together</a:t>
            </a:r>
          </a:p>
          <a:p>
            <a:endParaRPr lang="en-US" dirty="0" smtClean="0"/>
          </a:p>
          <a:p>
            <a:r>
              <a:rPr lang="en-US" dirty="0" smtClean="0"/>
              <a:t>We can prove results showing</a:t>
            </a:r>
            <a:r>
              <a:rPr lang="en-US" baseline="0" dirty="0" smtClean="0"/>
              <a:t> </a:t>
            </a:r>
            <a:r>
              <a:rPr lang="en-US" dirty="0" smtClean="0"/>
              <a:t>these hybrids</a:t>
            </a:r>
            <a:r>
              <a:rPr lang="en-US" baseline="0" dirty="0" smtClean="0"/>
              <a:t> have intermediate </a:t>
            </a:r>
            <a:r>
              <a:rPr lang="en-US" baseline="0" dirty="0" err="1" smtClean="0"/>
              <a:t>strategyproofness</a:t>
            </a:r>
            <a:r>
              <a:rPr lang="en-US" baseline="0" dirty="0" smtClean="0"/>
              <a:t> properties. We’ll show later through experiments that they have intermediate </a:t>
            </a:r>
            <a:r>
              <a:rPr lang="en-US" baseline="0" dirty="0" err="1" smtClean="0"/>
              <a:t>informativeness</a:t>
            </a:r>
            <a:r>
              <a:rPr lang="en-US" baseline="0" dirty="0" smtClean="0"/>
              <a:t> properties.</a:t>
            </a:r>
            <a:endParaRPr lang="en-US" dirty="0" smtClean="0"/>
          </a:p>
          <a:p>
            <a:endParaRPr lang="en-US" dirty="0" smtClean="0"/>
          </a:p>
          <a:p>
            <a:r>
              <a:rPr lang="en-US" baseline="0" dirty="0" smtClean="0"/>
              <a:t>We’ll also show these hybrid mechanisms can have better overall efficiency for some problem domains</a:t>
            </a:r>
          </a:p>
        </p:txBody>
      </p:sp>
      <p:sp>
        <p:nvSpPr>
          <p:cNvPr id="4" name="Slide Number Placeholder 3"/>
          <p:cNvSpPr>
            <a:spLocks noGrp="1"/>
          </p:cNvSpPr>
          <p:nvPr>
            <p:ph type="sldNum" sz="quarter" idx="10"/>
          </p:nvPr>
        </p:nvSpPr>
        <p:spPr/>
        <p:txBody>
          <a:bodyPr/>
          <a:lstStyle/>
          <a:p>
            <a:fld id="{D90FD89C-4CA8-4D2B-A043-FA6EAACDC509}" type="slidenum">
              <a:rPr lang="en-US" smtClean="0"/>
              <a:pPr/>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baseline="0" dirty="0" smtClean="0"/>
              <a:t>First, if we’re interested in value-</a:t>
            </a:r>
            <a:r>
              <a:rPr lang="en-US" baseline="0" dirty="0" err="1" smtClean="0"/>
              <a:t>strategyproofness</a:t>
            </a:r>
            <a:r>
              <a:rPr lang="en-US" baseline="0" dirty="0" smtClean="0"/>
              <a:t> we have a result concerning combining epsilon value-</a:t>
            </a:r>
            <a:r>
              <a:rPr lang="en-US" baseline="0" dirty="0" err="1" smtClean="0"/>
              <a:t>strategyproof</a:t>
            </a:r>
            <a:r>
              <a:rPr lang="en-US" baseline="0" dirty="0" smtClean="0"/>
              <a:t> mechanisms. </a:t>
            </a:r>
            <a:r>
              <a:rPr lang="en-US" baseline="0" dirty="0" err="1" smtClean="0"/>
              <a:t>Theres</a:t>
            </a:r>
            <a:r>
              <a:rPr lang="en-US" baseline="0" dirty="0" smtClean="0"/>
              <a:t> some notation here which I don’t have time to get into but the idea is fairly intuitive: we can bound the maximum value of manipulation as the worst-case value of manipulating either mechanism.</a:t>
            </a:r>
          </a:p>
          <a:p>
            <a:pPr>
              <a:buFontTx/>
              <a:buNone/>
            </a:pPr>
            <a:endParaRPr lang="en-US" baseline="0" dirty="0" smtClean="0"/>
          </a:p>
          <a:p>
            <a:pPr>
              <a:buFontTx/>
              <a:buNone/>
            </a:pPr>
            <a:r>
              <a:rPr lang="en-US" baseline="0" dirty="0" smtClean="0"/>
              <a:t>They combine more or less in the intuitive way: the key here is to pick the right mechanisms to combine. If we combine a </a:t>
            </a:r>
            <a:r>
              <a:rPr lang="en-US" baseline="0" dirty="0" err="1" smtClean="0"/>
              <a:t>strategyproof</a:t>
            </a:r>
            <a:r>
              <a:rPr lang="en-US" baseline="0" dirty="0" smtClean="0"/>
              <a:t> mechanism like </a:t>
            </a:r>
            <a:r>
              <a:rPr lang="en-US" baseline="0" dirty="0" err="1" smtClean="0"/>
              <a:t>Maxflow</a:t>
            </a:r>
            <a:r>
              <a:rPr lang="en-US" baseline="0" dirty="0" smtClean="0"/>
              <a:t> with an informative mechanism like </a:t>
            </a:r>
            <a:r>
              <a:rPr lang="en-US" baseline="0" dirty="0" err="1" smtClean="0"/>
              <a:t>PageRank</a:t>
            </a:r>
            <a:r>
              <a:rPr lang="en-US" baseline="0" dirty="0" smtClean="0"/>
              <a:t> we get a family of hybrid parameterized by alpha. By adjusting alpha we can get more or less </a:t>
            </a:r>
            <a:r>
              <a:rPr lang="en-US" baseline="0" dirty="0" err="1" smtClean="0"/>
              <a:t>strategyproof</a:t>
            </a:r>
            <a:r>
              <a:rPr lang="en-US" baseline="0" dirty="0" smtClean="0"/>
              <a:t> mechanisms.</a:t>
            </a:r>
          </a:p>
        </p:txBody>
      </p:sp>
      <p:sp>
        <p:nvSpPr>
          <p:cNvPr id="4" name="Slide Number Placeholder 3"/>
          <p:cNvSpPr>
            <a:spLocks noGrp="1"/>
          </p:cNvSpPr>
          <p:nvPr>
            <p:ph type="sldNum" sz="quarter" idx="10"/>
          </p:nvPr>
        </p:nvSpPr>
        <p:spPr/>
        <p:txBody>
          <a:bodyPr/>
          <a:lstStyle/>
          <a:p>
            <a:fld id="{D90FD89C-4CA8-4D2B-A043-FA6EAACDC509}" type="slidenum">
              <a:rPr lang="en-US" smtClean="0"/>
              <a:pPr/>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Similarly,</a:t>
            </a:r>
            <a:r>
              <a:rPr lang="en-US" baseline="0" dirty="0" smtClean="0"/>
              <a:t> if we’d like to get epsilon-rank-</a:t>
            </a:r>
            <a:r>
              <a:rPr lang="en-US" baseline="0" dirty="0" err="1" smtClean="0"/>
              <a:t>strategyproof</a:t>
            </a:r>
            <a:r>
              <a:rPr lang="en-US" baseline="0" dirty="0" smtClean="0"/>
              <a:t> mechanisms, we have a result that shows how to do that by picking the right base mechanisms </a:t>
            </a:r>
            <a:endParaRPr lang="en-US" dirty="0" smtClean="0"/>
          </a:p>
          <a:p>
            <a:endParaRPr lang="en-US" dirty="0" smtClean="0"/>
          </a:p>
          <a:p>
            <a:r>
              <a:rPr lang="en-US" baseline="0" dirty="0" smtClean="0"/>
              <a:t>if we combine two value-</a:t>
            </a:r>
            <a:r>
              <a:rPr lang="en-US" baseline="0" dirty="0" err="1" smtClean="0"/>
              <a:t>strategyproof</a:t>
            </a:r>
            <a:r>
              <a:rPr lang="en-US" baseline="0" dirty="0" smtClean="0"/>
              <a:t> mechanisms that obey a technical condition, we can get alpha-rank-</a:t>
            </a:r>
            <a:r>
              <a:rPr lang="en-US" baseline="0" dirty="0" err="1" smtClean="0"/>
              <a:t>strategyproofness</a:t>
            </a:r>
            <a:endParaRPr lang="en-US" baseline="0" dirty="0" smtClean="0"/>
          </a:p>
          <a:p>
            <a:endParaRPr lang="en-US" baseline="0" dirty="0" smtClean="0"/>
          </a:p>
          <a:p>
            <a:r>
              <a:rPr lang="en-US" baseline="0" dirty="0" smtClean="0"/>
              <a:t>Shortest path  hybrids</a:t>
            </a:r>
          </a:p>
          <a:p>
            <a:endParaRPr lang="en-US" baseline="0" dirty="0" smtClean="0"/>
          </a:p>
          <a:p>
            <a:r>
              <a:rPr lang="en-US" baseline="0" dirty="0" smtClean="0"/>
              <a:t>Again, defines a family of hybrids parameterized by blend factor alpha</a:t>
            </a:r>
          </a:p>
          <a:p>
            <a:endParaRPr lang="en-US" baseline="0" dirty="0" smtClean="0"/>
          </a:p>
          <a:p>
            <a:r>
              <a:rPr lang="en-US" baseline="0" dirty="0" smtClean="0"/>
              <a:t>“upwards value preserving” means any agent j who has higher value from another agent </a:t>
            </a:r>
            <a:r>
              <a:rPr lang="en-US" baseline="0" dirty="0" err="1" smtClean="0"/>
              <a:t>k’s</a:t>
            </a:r>
            <a:r>
              <a:rPr lang="en-US" baseline="0" dirty="0" smtClean="0"/>
              <a:t> perspective than from our perspective cannot have his trust score reduced from agent </a:t>
            </a:r>
            <a:r>
              <a:rPr lang="en-US" baseline="0" dirty="0" err="1" smtClean="0"/>
              <a:t>k’s</a:t>
            </a:r>
            <a:r>
              <a:rPr lang="en-US" baseline="0" dirty="0" smtClean="0"/>
              <a:t> perspective after the manipulation. Its not quite rank-</a:t>
            </a:r>
            <a:r>
              <a:rPr lang="en-US" baseline="0" dirty="0" err="1" smtClean="0"/>
              <a:t>strategyproofness</a:t>
            </a:r>
            <a:r>
              <a:rPr lang="en-US" baseline="0" dirty="0" smtClean="0"/>
              <a:t>: imposes conditions on agents which are ranked below us, and we can reduce the rank of certain agents who are higher ranked than us from agent </a:t>
            </a:r>
            <a:r>
              <a:rPr lang="en-US" baseline="0" dirty="0" err="1" smtClean="0"/>
              <a:t>k’s</a:t>
            </a:r>
            <a:r>
              <a:rPr lang="en-US" baseline="0" dirty="0" smtClean="0"/>
              <a:t> perspective but not by enough relative to our trust score.</a:t>
            </a:r>
          </a:p>
          <a:p>
            <a:endParaRPr lang="en-US" baseline="0" dirty="0" smtClean="0"/>
          </a:p>
          <a:p>
            <a:r>
              <a:rPr lang="en-US" baseline="0" dirty="0" smtClean="0"/>
              <a:t>Basically this is describing shortest path, trying to factor out more generally exactly what we need.</a:t>
            </a:r>
          </a:p>
          <a:p>
            <a:endParaRPr lang="en-US" baseline="0" dirty="0" smtClean="0"/>
          </a:p>
          <a:p>
            <a:r>
              <a:rPr lang="en-US" baseline="0" dirty="0" smtClean="0"/>
              <a:t>This is very nice because it relates rank- and value- </a:t>
            </a:r>
            <a:r>
              <a:rPr lang="en-US" baseline="0" dirty="0" err="1" smtClean="0"/>
              <a:t>strategyproofness</a:t>
            </a:r>
            <a:endParaRPr lang="en-US" baseline="0" dirty="0" smtClean="0"/>
          </a:p>
          <a:p>
            <a:endParaRPr lang="en-US" baseline="0" dirty="0" smtClean="0"/>
          </a:p>
          <a:p>
            <a:r>
              <a:rPr lang="en-US" baseline="0" dirty="0" smtClean="0"/>
              <a:t>It is also nice because its easier to find value-</a:t>
            </a:r>
            <a:r>
              <a:rPr lang="en-US" baseline="0" dirty="0" err="1" smtClean="0"/>
              <a:t>strategyproof</a:t>
            </a:r>
            <a:r>
              <a:rPr lang="en-US" baseline="0" dirty="0" smtClean="0"/>
              <a:t> mechanisms: we are lifting value </a:t>
            </a:r>
            <a:r>
              <a:rPr lang="en-US" baseline="0" dirty="0" err="1" smtClean="0"/>
              <a:t>strategyproof</a:t>
            </a:r>
            <a:r>
              <a:rPr lang="en-US" baseline="0" dirty="0" smtClean="0"/>
              <a:t> mechanisms into (locally) rank-</a:t>
            </a:r>
            <a:r>
              <a:rPr lang="en-US" baseline="0" dirty="0" err="1" smtClean="0"/>
              <a:t>strategyproof</a:t>
            </a:r>
            <a:r>
              <a:rPr lang="en-US" baseline="0" dirty="0" smtClean="0"/>
              <a:t> mechanisms.</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D90FD89C-4CA8-4D2B-A043-FA6EAACDC509}" type="slidenum">
              <a:rPr lang="en-US" smtClean="0"/>
              <a:pPr/>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So now we’ve characterized the </a:t>
            </a:r>
            <a:r>
              <a:rPr lang="en-US" dirty="0" err="1" smtClean="0"/>
              <a:t>strategyproofness</a:t>
            </a:r>
            <a:r>
              <a:rPr lang="en-US" dirty="0" smtClean="0"/>
              <a:t> of hybrids</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Going</a:t>
            </a:r>
            <a:r>
              <a:rPr lang="en-US" baseline="0" dirty="0" smtClean="0"/>
              <a:t> to look at the </a:t>
            </a:r>
            <a:r>
              <a:rPr lang="en-US" baseline="0" dirty="0" err="1" smtClean="0"/>
              <a:t>informativeness</a:t>
            </a:r>
            <a:r>
              <a:rPr lang="en-US" baseline="0" dirty="0" smtClean="0"/>
              <a:t> of our hybrids</a:t>
            </a: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p:txBody>
      </p:sp>
      <p:sp>
        <p:nvSpPr>
          <p:cNvPr id="4" name="Slide Number Placeholder 3"/>
          <p:cNvSpPr>
            <a:spLocks noGrp="1"/>
          </p:cNvSpPr>
          <p:nvPr>
            <p:ph type="sldNum" sz="quarter" idx="10"/>
          </p:nvPr>
        </p:nvSpPr>
        <p:spPr/>
        <p:txBody>
          <a:bodyPr/>
          <a:lstStyle/>
          <a:p>
            <a:fld id="{D90FD89C-4CA8-4D2B-A043-FA6EAACDC509}" type="slidenum">
              <a:rPr lang="en-US" smtClean="0"/>
              <a:pPr/>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Empirical </a:t>
            </a:r>
            <a:r>
              <a:rPr lang="en-US" baseline="0" dirty="0" err="1" smtClean="0"/>
              <a:t>informativeness</a:t>
            </a:r>
            <a:r>
              <a:rPr lang="en-US" baseline="0" dirty="0" smtClean="0"/>
              <a:t> results</a:t>
            </a:r>
            <a:endParaRPr lang="en-US" dirty="0" smtClean="0"/>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Correlation</a:t>
            </a:r>
            <a:r>
              <a:rPr lang="en-US" baseline="0" dirty="0" smtClean="0"/>
              <a:t> between true types, mechanism predictions</a:t>
            </a:r>
            <a:endParaRPr lang="en-US" dirty="0" smtClean="0"/>
          </a:p>
          <a:p>
            <a:endParaRPr lang="en-US" dirty="0"/>
          </a:p>
        </p:txBody>
      </p:sp>
      <p:sp>
        <p:nvSpPr>
          <p:cNvPr id="4" name="Slide Number Placeholder 3"/>
          <p:cNvSpPr>
            <a:spLocks noGrp="1"/>
          </p:cNvSpPr>
          <p:nvPr>
            <p:ph type="sldNum" sz="quarter" idx="10"/>
          </p:nvPr>
        </p:nvSpPr>
        <p:spPr/>
        <p:txBody>
          <a:bodyPr/>
          <a:lstStyle/>
          <a:p>
            <a:fld id="{D90FD89C-4CA8-4D2B-A043-FA6EAACDC509}" type="slidenum">
              <a:rPr lang="en-US" smtClean="0"/>
              <a:pPr/>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we expect as we increase the # </a:t>
            </a:r>
            <a:r>
              <a:rPr lang="en-US" baseline="0" dirty="0" err="1" smtClean="0"/>
              <a:t>timesteps</a:t>
            </a:r>
            <a:r>
              <a:rPr lang="en-US" baseline="0" dirty="0" smtClean="0"/>
              <a:t> </a:t>
            </a:r>
            <a:r>
              <a:rPr lang="en-US" baseline="0" dirty="0" err="1" smtClean="0"/>
              <a:t>informativeness</a:t>
            </a:r>
            <a:r>
              <a:rPr lang="en-US" baseline="0" dirty="0" smtClean="0"/>
              <a:t> increases (check)</a:t>
            </a:r>
          </a:p>
          <a:p>
            <a:endParaRPr lang="en-US" dirty="0" smtClean="0"/>
          </a:p>
          <a:p>
            <a:r>
              <a:rPr lang="en-US" dirty="0" smtClean="0"/>
              <a:t>Pointer</a:t>
            </a:r>
            <a:r>
              <a:rPr lang="en-US" baseline="0" dirty="0" smtClean="0"/>
              <a:t> shortest path performs worse than </a:t>
            </a:r>
            <a:r>
              <a:rPr lang="en-US" baseline="0" dirty="0" err="1" smtClean="0"/>
              <a:t>maxflow</a:t>
            </a:r>
            <a:r>
              <a:rPr lang="en-US" baseline="0" dirty="0" smtClean="0"/>
              <a:t> performs worse than hitting time performs worse than </a:t>
            </a:r>
            <a:r>
              <a:rPr lang="en-US" baseline="0" dirty="0" err="1" smtClean="0"/>
              <a:t>pagerank</a:t>
            </a:r>
            <a:endParaRPr lang="en-US" baseline="0" dirty="0" smtClean="0"/>
          </a:p>
          <a:p>
            <a:r>
              <a:rPr lang="en-US" dirty="0" smtClean="0"/>
              <a:t>Can</a:t>
            </a:r>
            <a:r>
              <a:rPr lang="en-US" baseline="0" dirty="0" smtClean="0"/>
              <a:t> get intermediate </a:t>
            </a:r>
            <a:r>
              <a:rPr lang="en-US" baseline="0" dirty="0" err="1" smtClean="0"/>
              <a:t>informativeness</a:t>
            </a:r>
            <a:r>
              <a:rPr lang="en-US" baseline="0" dirty="0" smtClean="0"/>
              <a:t> with 0.5 shortest path hitting time hybrid</a:t>
            </a:r>
          </a:p>
          <a:p>
            <a:endParaRPr lang="en-US" baseline="0" dirty="0" smtClean="0"/>
          </a:p>
          <a:p>
            <a:r>
              <a:rPr lang="en-US" baseline="0" dirty="0" smtClean="0"/>
              <a:t>In some experiments: with different setup, hybrids higher </a:t>
            </a:r>
            <a:r>
              <a:rPr lang="en-US" baseline="0" dirty="0" err="1" smtClean="0"/>
              <a:t>informativeness</a:t>
            </a:r>
            <a:r>
              <a:rPr lang="en-US" baseline="0" dirty="0" smtClean="0"/>
              <a:t> than base mechanisms</a:t>
            </a:r>
          </a:p>
          <a:p>
            <a:r>
              <a:rPr lang="en-US" baseline="0" dirty="0" smtClean="0"/>
              <a:t>One possible explanation is that they measure different aspects of the trust graph</a:t>
            </a:r>
          </a:p>
        </p:txBody>
      </p:sp>
      <p:sp>
        <p:nvSpPr>
          <p:cNvPr id="4" name="Slide Number Placeholder 3"/>
          <p:cNvSpPr>
            <a:spLocks noGrp="1"/>
          </p:cNvSpPr>
          <p:nvPr>
            <p:ph type="sldNum" sz="quarter" idx="10"/>
          </p:nvPr>
        </p:nvSpPr>
        <p:spPr/>
        <p:txBody>
          <a:bodyPr/>
          <a:lstStyle/>
          <a:p>
            <a:fld id="{D90FD89C-4CA8-4D2B-A043-FA6EAACDC509}" type="slidenum">
              <a:rPr lang="en-US" smtClean="0"/>
              <a:pPr/>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In practice: care about trustworthy agents receiving good interactions</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p:txBody>
      </p:sp>
      <p:sp>
        <p:nvSpPr>
          <p:cNvPr id="4" name="Slide Number Placeholder 3"/>
          <p:cNvSpPr>
            <a:spLocks noGrp="1"/>
          </p:cNvSpPr>
          <p:nvPr>
            <p:ph type="sldNum" sz="quarter" idx="10"/>
          </p:nvPr>
        </p:nvSpPr>
        <p:spPr/>
        <p:txBody>
          <a:bodyPr/>
          <a:lstStyle/>
          <a:p>
            <a:fld id="{D90FD89C-4CA8-4D2B-A043-FA6EAACDC509}" type="slidenum">
              <a:rPr lang="en-US" smtClean="0"/>
              <a:pPr/>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90FD89C-4CA8-4D2B-A043-FA6EAACDC509}" type="slidenum">
              <a:rPr lang="en-US" smtClean="0"/>
              <a:pPr/>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Define gamma</a:t>
            </a:r>
          </a:p>
          <a:p>
            <a:endParaRPr lang="en-US" dirty="0"/>
          </a:p>
        </p:txBody>
      </p:sp>
      <p:sp>
        <p:nvSpPr>
          <p:cNvPr id="4" name="Slide Number Placeholder 3"/>
          <p:cNvSpPr>
            <a:spLocks noGrp="1"/>
          </p:cNvSpPr>
          <p:nvPr>
            <p:ph type="sldNum" sz="quarter" idx="10"/>
          </p:nvPr>
        </p:nvSpPr>
        <p:spPr/>
        <p:txBody>
          <a:bodyPr/>
          <a:lstStyle/>
          <a:p>
            <a:fld id="{D90FD89C-4CA8-4D2B-A043-FA6EAACDC509}" type="slidenum">
              <a:rPr lang="en-US" smtClean="0"/>
              <a:pPr/>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On x-axis,</a:t>
            </a:r>
            <a:r>
              <a:rPr lang="en-US" baseline="0" dirty="0" smtClean="0"/>
              <a:t> hybrid blend factor. 0 is shortest path mechanism, as we move alpha to 1 we have pure hitting time </a:t>
            </a:r>
          </a:p>
          <a:p>
            <a:r>
              <a:rPr lang="en-US" baseline="0" dirty="0" smtClean="0"/>
              <a:t>On y-axis, efficiency</a:t>
            </a:r>
          </a:p>
          <a:p>
            <a:endParaRPr lang="en-US" dirty="0" smtClean="0"/>
          </a:p>
          <a:p>
            <a:r>
              <a:rPr lang="en-US" dirty="0" smtClean="0"/>
              <a:t>Varying gamma, the proportion of free-riding agents</a:t>
            </a:r>
          </a:p>
          <a:p>
            <a:endParaRPr lang="en-US" dirty="0" smtClean="0"/>
          </a:p>
          <a:p>
            <a:r>
              <a:rPr lang="en-US" dirty="0" smtClean="0"/>
              <a:t>Green</a:t>
            </a:r>
            <a:r>
              <a:rPr lang="en-US" baseline="0" dirty="0" smtClean="0"/>
              <a:t> line, no free-riding agents gamma=0, natural that it increases</a:t>
            </a:r>
          </a:p>
          <a:p>
            <a:r>
              <a:rPr lang="en-US" baseline="0" dirty="0" smtClean="0"/>
              <a:t>If all agents are cooperative, we would use hitting time and not shortest path</a:t>
            </a:r>
          </a:p>
          <a:p>
            <a:endParaRPr lang="en-US" baseline="0" dirty="0" smtClean="0"/>
          </a:p>
          <a:p>
            <a:r>
              <a:rPr lang="en-US" baseline="0" dirty="0" smtClean="0"/>
              <a:t>Once we have free-riding agents the story changes.</a:t>
            </a:r>
          </a:p>
          <a:p>
            <a:endParaRPr lang="en-US" baseline="0" dirty="0" smtClean="0"/>
          </a:p>
          <a:p>
            <a:r>
              <a:rPr lang="en-US" baseline="0" dirty="0" smtClean="0"/>
              <a:t>Black line, 80% free-riding agents, when alpha=1 all manipulating, so low performance</a:t>
            </a:r>
          </a:p>
          <a:p>
            <a:r>
              <a:rPr lang="en-US" baseline="0" dirty="0" smtClean="0"/>
              <a:t>Peak in the middle, shows hybrid has higher efficiency than either base mechanism</a:t>
            </a:r>
          </a:p>
          <a:p>
            <a:endParaRPr lang="en-US" dirty="0" smtClean="0"/>
          </a:p>
          <a:p>
            <a:r>
              <a:rPr lang="en-US" dirty="0" smtClean="0"/>
              <a:t>For teal and black optimal efficiency occurs at an alpha between 0</a:t>
            </a:r>
            <a:r>
              <a:rPr lang="en-US" baseline="0" dirty="0" smtClean="0"/>
              <a:t> and 1</a:t>
            </a:r>
            <a:endParaRPr lang="en-US" dirty="0" smtClean="0"/>
          </a:p>
        </p:txBody>
      </p:sp>
      <p:sp>
        <p:nvSpPr>
          <p:cNvPr id="4" name="Slide Number Placeholder 3"/>
          <p:cNvSpPr>
            <a:spLocks noGrp="1"/>
          </p:cNvSpPr>
          <p:nvPr>
            <p:ph type="sldNum" sz="quarter" idx="10"/>
          </p:nvPr>
        </p:nvSpPr>
        <p:spPr/>
        <p:txBody>
          <a:bodyPr/>
          <a:lstStyle/>
          <a:p>
            <a:fld id="{D90FD89C-4CA8-4D2B-A043-FA6EAACDC509}" type="slidenum">
              <a:rPr lang="en-US" smtClean="0"/>
              <a:pPr/>
              <a:t>28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1A69D17-2DD5-4563-92F5-F8AC720842F1}" type="datetimeFigureOut">
              <a:rPr lang="en-US" smtClean="0"/>
              <a:pPr/>
              <a:t>5/18/2010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597F24-DF8B-438C-8BF3-B3E03953D1E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1A69D17-2DD5-4563-92F5-F8AC720842F1}" type="datetimeFigureOut">
              <a:rPr lang="en-US" smtClean="0"/>
              <a:pPr/>
              <a:t>5/18/2010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597F24-DF8B-438C-8BF3-B3E03953D1E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1A69D17-2DD5-4563-92F5-F8AC720842F1}" type="datetimeFigureOut">
              <a:rPr lang="en-US" smtClean="0"/>
              <a:pPr/>
              <a:t>5/18/2010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597F24-DF8B-438C-8BF3-B3E03953D1E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1A69D17-2DD5-4563-92F5-F8AC720842F1}" type="datetimeFigureOut">
              <a:rPr lang="en-US" smtClean="0"/>
              <a:pPr/>
              <a:t>5/18/2010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597F24-DF8B-438C-8BF3-B3E03953D1E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1A69D17-2DD5-4563-92F5-F8AC720842F1}" type="datetimeFigureOut">
              <a:rPr lang="en-US" smtClean="0"/>
              <a:pPr/>
              <a:t>5/18/2010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C597F24-DF8B-438C-8BF3-B3E03953D1E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1A69D17-2DD5-4563-92F5-F8AC720842F1}" type="datetimeFigureOut">
              <a:rPr lang="en-US" smtClean="0"/>
              <a:pPr/>
              <a:t>5/18/2010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C597F24-DF8B-438C-8BF3-B3E03953D1E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1A69D17-2DD5-4563-92F5-F8AC720842F1}" type="datetimeFigureOut">
              <a:rPr lang="en-US" smtClean="0"/>
              <a:pPr/>
              <a:t>5/18/2010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C597F24-DF8B-438C-8BF3-B3E03953D1E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1A69D17-2DD5-4563-92F5-F8AC720842F1}" type="datetimeFigureOut">
              <a:rPr lang="en-US" smtClean="0"/>
              <a:pPr/>
              <a:t>5/18/2010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597F24-DF8B-438C-8BF3-B3E03953D1E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1A69D17-2DD5-4563-92F5-F8AC720842F1}" type="datetimeFigureOut">
              <a:rPr lang="en-US" smtClean="0"/>
              <a:pPr/>
              <a:t>5/18/2010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597F24-DF8B-438C-8BF3-B3E03953D1E9}"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1A69D17-2DD5-4563-92F5-F8AC720842F1}" type="datetimeFigureOut">
              <a:rPr lang="en-US" smtClean="0"/>
              <a:pPr/>
              <a:t>5/18/2010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597F24-DF8B-438C-8BF3-B3E03953D1E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1A69D17-2DD5-4563-92F5-F8AC720842F1}" type="datetimeFigureOut">
              <a:rPr lang="en-US" smtClean="0"/>
              <a:pPr/>
              <a:t>5/18/2010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597F24-DF8B-438C-8BF3-B3E03953D1E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A69D17-2DD5-4563-92F5-F8AC720842F1}" type="datetimeFigureOut">
              <a:rPr lang="en-US" smtClean="0"/>
              <a:pPr/>
              <a:t>5/18/2010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597F24-DF8B-438C-8BF3-B3E03953D1E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1.wmf"/></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1.wmf"/><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6.xml"/><Relationship Id="rId5" Type="http://schemas.openxmlformats.org/officeDocument/2006/relationships/image" Target="../media/image1.wmf"/><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wmf"/></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wmf"/></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wmf"/></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7.xml"/><Relationship Id="rId5" Type="http://schemas.openxmlformats.org/officeDocument/2006/relationships/image" Target="../media/image1.wmf"/><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1.wmf"/></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1.wmf"/></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11.xml"/><Relationship Id="rId5" Type="http://schemas.openxmlformats.org/officeDocument/2006/relationships/image" Target="../media/image2.png"/><Relationship Id="rId4" Type="http://schemas.openxmlformats.org/officeDocument/2006/relationships/image" Target="../media/image1.wmf"/></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15.xml"/><Relationship Id="rId5" Type="http://schemas.openxmlformats.org/officeDocument/2006/relationships/image" Target="../media/image8.jpeg"/><Relationship Id="rId4" Type="http://schemas.openxmlformats.org/officeDocument/2006/relationships/image" Target="../media/image7.jpe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17.xml"/><Relationship Id="rId4" Type="http://schemas.openxmlformats.org/officeDocument/2006/relationships/image" Target="../media/image9.jpe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Hybrid Transitive Trust Mechanisms</a:t>
            </a:r>
            <a:endParaRPr lang="en-US" dirty="0"/>
          </a:p>
        </p:txBody>
      </p:sp>
      <p:sp>
        <p:nvSpPr>
          <p:cNvPr id="3" name="Subtitle 2"/>
          <p:cNvSpPr>
            <a:spLocks noGrp="1"/>
          </p:cNvSpPr>
          <p:nvPr>
            <p:ph type="subTitle" idx="1"/>
          </p:nvPr>
        </p:nvSpPr>
        <p:spPr>
          <a:xfrm>
            <a:off x="914400" y="3886200"/>
            <a:ext cx="7239000" cy="1828800"/>
          </a:xfrm>
        </p:spPr>
        <p:txBody>
          <a:bodyPr>
            <a:normAutofit/>
          </a:bodyPr>
          <a:lstStyle/>
          <a:p>
            <a:r>
              <a:rPr lang="en-US" dirty="0" err="1" smtClean="0"/>
              <a:t>Jie</a:t>
            </a:r>
            <a:r>
              <a:rPr lang="en-US" dirty="0" smtClean="0"/>
              <a:t> Tang, Sven </a:t>
            </a:r>
            <a:r>
              <a:rPr lang="en-US" dirty="0" err="1" smtClean="0"/>
              <a:t>Seuken</a:t>
            </a:r>
            <a:r>
              <a:rPr lang="en-US" dirty="0" smtClean="0"/>
              <a:t>, David C. </a:t>
            </a:r>
            <a:r>
              <a:rPr lang="en-US" dirty="0" err="1" smtClean="0"/>
              <a:t>Parkes</a:t>
            </a:r>
            <a:endParaRPr lang="en-US" dirty="0" smtClean="0"/>
          </a:p>
          <a:p>
            <a:r>
              <a:rPr lang="en-US" dirty="0" smtClean="0"/>
              <a:t>UC Berkeley, Harvard University, </a:t>
            </a:r>
            <a:endParaRPr lang="en-US" dirty="0"/>
          </a:p>
        </p:txBody>
      </p:sp>
    </p:spTree>
  </p:cSld>
  <p:clrMapOvr>
    <a:masterClrMapping/>
  </p:clrMapOvr>
  <p:transition advTm="11359"/>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Motivation</a:t>
            </a:r>
            <a:endParaRPr lang="en-US" dirty="0"/>
          </a:p>
        </p:txBody>
      </p:sp>
      <p:sp>
        <p:nvSpPr>
          <p:cNvPr id="3" name="Content Placeholder 2"/>
          <p:cNvSpPr>
            <a:spLocks noGrp="1"/>
          </p:cNvSpPr>
          <p:nvPr>
            <p:ph idx="1"/>
          </p:nvPr>
        </p:nvSpPr>
        <p:spPr/>
        <p:txBody>
          <a:bodyPr>
            <a:normAutofit/>
          </a:bodyPr>
          <a:lstStyle/>
          <a:p>
            <a:r>
              <a:rPr lang="en-US" dirty="0"/>
              <a:t>L</a:t>
            </a:r>
            <a:r>
              <a:rPr lang="en-US" dirty="0" smtClean="0"/>
              <a:t>arge multi-agent systems must deal with fraudulent behavior</a:t>
            </a:r>
          </a:p>
          <a:p>
            <a:pPr lvl="1"/>
            <a:r>
              <a:rPr lang="en-US" dirty="0" smtClean="0"/>
              <a:t>eBay auctions</a:t>
            </a:r>
          </a:p>
          <a:p>
            <a:pPr lvl="1"/>
            <a:r>
              <a:rPr lang="en-US" dirty="0" smtClean="0"/>
              <a:t>P2P file sharing systems</a:t>
            </a:r>
          </a:p>
          <a:p>
            <a:pPr lvl="1"/>
            <a:r>
              <a:rPr lang="en-US" dirty="0" smtClean="0"/>
              <a:t>Web surfing</a:t>
            </a:r>
          </a:p>
          <a:p>
            <a:r>
              <a:rPr lang="en-US" dirty="0" smtClean="0"/>
              <a:t>Pool collective experience</a:t>
            </a:r>
          </a:p>
          <a:p>
            <a:r>
              <a:rPr lang="en-US" dirty="0" smtClean="0"/>
              <a:t>Need mechanisms for aggregating trust</a:t>
            </a:r>
            <a:endParaRPr lang="en-US" dirty="0"/>
          </a:p>
        </p:txBody>
      </p:sp>
    </p:spTree>
    <p:custDataLst>
      <p:tags r:id="rId1"/>
    </p:custDataLst>
  </p:cSld>
  <p:clrMapOvr>
    <a:masterClrMapping/>
  </p:clrMapOvr>
  <p:transition advTm="74156"/>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Straight Arrow Connector 36"/>
          <p:cNvCxnSpPr/>
          <p:nvPr/>
        </p:nvCxnSpPr>
        <p:spPr>
          <a:xfrm rot="10800000" flipV="1">
            <a:off x="2057400" y="2362200"/>
            <a:ext cx="1905000" cy="5334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914400" y="-152400"/>
            <a:ext cx="8229600" cy="1143000"/>
          </a:xfrm>
        </p:spPr>
        <p:txBody>
          <a:bodyPr/>
          <a:lstStyle/>
          <a:p>
            <a:r>
              <a:rPr lang="en-US" dirty="0" smtClean="0"/>
              <a:t>Agent Interaction Model</a:t>
            </a:r>
            <a:endParaRPr lang="en-US" dirty="0"/>
          </a:p>
        </p:txBody>
      </p:sp>
      <p:pic>
        <p:nvPicPr>
          <p:cNvPr id="5" name="Picture 6" descr="C:\Documents and Settings\Temp\Local Settings\Temporary Internet Files\Content.IE5\A22ZQKB8\MC900078627[1].wmf"/>
          <p:cNvPicPr>
            <a:picLocks noChangeAspect="1" noChangeArrowheads="1"/>
          </p:cNvPicPr>
          <p:nvPr/>
        </p:nvPicPr>
        <p:blipFill>
          <a:blip r:embed="rId4" cstate="print"/>
          <a:srcRect l="45534"/>
          <a:stretch>
            <a:fillRect/>
          </a:stretch>
        </p:blipFill>
        <p:spPr bwMode="auto">
          <a:xfrm>
            <a:off x="2959100" y="5010466"/>
            <a:ext cx="381000" cy="687072"/>
          </a:xfrm>
          <a:prstGeom prst="rect">
            <a:avLst/>
          </a:prstGeom>
          <a:noFill/>
        </p:spPr>
      </p:pic>
      <p:sp>
        <p:nvSpPr>
          <p:cNvPr id="7" name="Oval 6"/>
          <p:cNvSpPr/>
          <p:nvPr/>
        </p:nvSpPr>
        <p:spPr>
          <a:xfrm>
            <a:off x="2667000" y="48768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6" descr="C:\Documents and Settings\Temp\Local Settings\Temporary Internet Files\Content.IE5\A22ZQKB8\MC900078627[1].wmf"/>
          <p:cNvPicPr>
            <a:picLocks noChangeAspect="1" noChangeArrowheads="1"/>
          </p:cNvPicPr>
          <p:nvPr/>
        </p:nvPicPr>
        <p:blipFill>
          <a:blip r:embed="rId4" cstate="print"/>
          <a:srcRect l="45534"/>
          <a:stretch>
            <a:fillRect/>
          </a:stretch>
        </p:blipFill>
        <p:spPr bwMode="auto">
          <a:xfrm>
            <a:off x="1435100" y="2876866"/>
            <a:ext cx="381000" cy="687072"/>
          </a:xfrm>
          <a:prstGeom prst="rect">
            <a:avLst/>
          </a:prstGeom>
          <a:noFill/>
        </p:spPr>
      </p:pic>
      <p:sp>
        <p:nvSpPr>
          <p:cNvPr id="11" name="Oval 10"/>
          <p:cNvSpPr/>
          <p:nvPr/>
        </p:nvSpPr>
        <p:spPr>
          <a:xfrm>
            <a:off x="1143000" y="27432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6" descr="C:\Documents and Settings\Temp\Local Settings\Temporary Internet Files\Content.IE5\A22ZQKB8\MC900078627[1].wmf"/>
          <p:cNvPicPr>
            <a:picLocks noChangeAspect="1" noChangeArrowheads="1"/>
          </p:cNvPicPr>
          <p:nvPr/>
        </p:nvPicPr>
        <p:blipFill>
          <a:blip r:embed="rId4" cstate="print"/>
          <a:srcRect l="45534"/>
          <a:stretch>
            <a:fillRect/>
          </a:stretch>
        </p:blipFill>
        <p:spPr bwMode="auto">
          <a:xfrm>
            <a:off x="5702300" y="5467666"/>
            <a:ext cx="381000" cy="687072"/>
          </a:xfrm>
          <a:prstGeom prst="rect">
            <a:avLst/>
          </a:prstGeom>
          <a:noFill/>
        </p:spPr>
      </p:pic>
      <p:sp>
        <p:nvSpPr>
          <p:cNvPr id="14" name="Oval 13"/>
          <p:cNvSpPr/>
          <p:nvPr/>
        </p:nvSpPr>
        <p:spPr>
          <a:xfrm>
            <a:off x="5410200" y="53340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6" descr="C:\Documents and Settings\Temp\Local Settings\Temporary Internet Files\Content.IE5\A22ZQKB8\MC900078627[1].wmf"/>
          <p:cNvPicPr>
            <a:picLocks noChangeAspect="1" noChangeArrowheads="1"/>
          </p:cNvPicPr>
          <p:nvPr/>
        </p:nvPicPr>
        <p:blipFill>
          <a:blip r:embed="rId4" cstate="print"/>
          <a:srcRect l="45534"/>
          <a:stretch>
            <a:fillRect/>
          </a:stretch>
        </p:blipFill>
        <p:spPr bwMode="auto">
          <a:xfrm>
            <a:off x="7150100" y="2495866"/>
            <a:ext cx="381000" cy="687072"/>
          </a:xfrm>
          <a:prstGeom prst="rect">
            <a:avLst/>
          </a:prstGeom>
          <a:noFill/>
        </p:spPr>
      </p:pic>
      <p:sp>
        <p:nvSpPr>
          <p:cNvPr id="17" name="Oval 16"/>
          <p:cNvSpPr/>
          <p:nvPr/>
        </p:nvSpPr>
        <p:spPr>
          <a:xfrm>
            <a:off x="6858000" y="23622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6" descr="C:\Documents and Settings\Temp\Local Settings\Temporary Internet Files\Content.IE5\A22ZQKB8\MC900078627[1].wmf"/>
          <p:cNvPicPr>
            <a:picLocks noChangeAspect="1" noChangeArrowheads="1"/>
          </p:cNvPicPr>
          <p:nvPr/>
        </p:nvPicPr>
        <p:blipFill>
          <a:blip r:embed="rId4" cstate="print"/>
          <a:srcRect l="45534"/>
          <a:stretch>
            <a:fillRect/>
          </a:stretch>
        </p:blipFill>
        <p:spPr bwMode="auto">
          <a:xfrm>
            <a:off x="4483100" y="2038666"/>
            <a:ext cx="381000" cy="687072"/>
          </a:xfrm>
          <a:prstGeom prst="rect">
            <a:avLst/>
          </a:prstGeom>
          <a:noFill/>
        </p:spPr>
      </p:pic>
      <p:sp>
        <p:nvSpPr>
          <p:cNvPr id="20" name="Oval 19"/>
          <p:cNvSpPr/>
          <p:nvPr/>
        </p:nvSpPr>
        <p:spPr>
          <a:xfrm>
            <a:off x="4191000" y="19050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Arrow Connector 21"/>
          <p:cNvCxnSpPr/>
          <p:nvPr/>
        </p:nvCxnSpPr>
        <p:spPr>
          <a:xfrm flipV="1">
            <a:off x="2133600" y="2514600"/>
            <a:ext cx="1905000" cy="5334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rot="5400000" flipH="1" flipV="1">
            <a:off x="2857500" y="3467100"/>
            <a:ext cx="1981200" cy="8382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2209800" y="3200400"/>
            <a:ext cx="3200400" cy="21336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5257800" y="2438400"/>
            <a:ext cx="1371600" cy="3048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rot="5400000" flipH="1" flipV="1">
            <a:off x="5753100" y="3924300"/>
            <a:ext cx="1828800" cy="8382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rot="10800000">
            <a:off x="3657600" y="5562600"/>
            <a:ext cx="1600200" cy="228600"/>
          </a:xfrm>
          <a:prstGeom prst="straightConnector1">
            <a:avLst/>
          </a:prstGeom>
          <a:ln w="15875">
            <a:solidFill>
              <a:srgbClr val="FF000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rot="16200000" flipV="1">
            <a:off x="4152900" y="3619500"/>
            <a:ext cx="2362200" cy="7620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rot="5400000">
            <a:off x="2705100" y="3390900"/>
            <a:ext cx="1981200" cy="8382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flipV="1">
            <a:off x="2133600" y="2514600"/>
            <a:ext cx="1905000" cy="5334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rot="5400000" flipH="1" flipV="1">
            <a:off x="2857500" y="3467100"/>
            <a:ext cx="1981200" cy="8382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p:nvPr/>
        </p:nvCxnSpPr>
        <p:spPr>
          <a:xfrm>
            <a:off x="2209800" y="3200400"/>
            <a:ext cx="3200400" cy="21336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p:nvPr/>
        </p:nvCxnSpPr>
        <p:spPr>
          <a:xfrm>
            <a:off x="5257800" y="2438400"/>
            <a:ext cx="1371600" cy="3048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a:xfrm rot="5400000" flipH="1" flipV="1">
            <a:off x="5753100" y="3924300"/>
            <a:ext cx="1828800" cy="8382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rot="16200000" flipV="1">
            <a:off x="4152900" y="3619500"/>
            <a:ext cx="2362200" cy="7620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p:nvPr/>
        </p:nvCxnSpPr>
        <p:spPr>
          <a:xfrm rot="5400000">
            <a:off x="2705099" y="3390900"/>
            <a:ext cx="1981200" cy="8382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p:nvPr/>
        </p:nvCxnSpPr>
        <p:spPr>
          <a:xfrm rot="16200000" flipH="1">
            <a:off x="1562100" y="3771900"/>
            <a:ext cx="1295400" cy="10668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p:nvPr/>
        </p:nvCxnSpPr>
        <p:spPr>
          <a:xfrm rot="16200000" flipH="1">
            <a:off x="1562101" y="3771900"/>
            <a:ext cx="1295400" cy="10668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p:nvPr/>
        </p:nvCxnSpPr>
        <p:spPr>
          <a:xfrm rot="5400000">
            <a:off x="5600700" y="3848100"/>
            <a:ext cx="1828800" cy="838200"/>
          </a:xfrm>
          <a:prstGeom prst="straightConnector1">
            <a:avLst/>
          </a:prstGeom>
          <a:ln>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0" y="838200"/>
            <a:ext cx="9185848" cy="523220"/>
          </a:xfrm>
          <a:prstGeom prst="rect">
            <a:avLst/>
          </a:prstGeom>
          <a:noFill/>
        </p:spPr>
        <p:txBody>
          <a:bodyPr wrap="none" rtlCol="0">
            <a:spAutoFit/>
          </a:bodyPr>
          <a:lstStyle/>
          <a:p>
            <a:r>
              <a:rPr lang="en-US" sz="2800" dirty="0" err="1" smtClean="0"/>
              <a:t>Defn</a:t>
            </a:r>
            <a:r>
              <a:rPr lang="en-US" sz="2800" dirty="0" smtClean="0"/>
              <a:t>. Agent Type: </a:t>
            </a:r>
            <a:r>
              <a:rPr lang="el-GR" sz="2800" dirty="0" smtClean="0"/>
              <a:t>θ</a:t>
            </a:r>
            <a:r>
              <a:rPr lang="en-US" sz="2800" baseline="-25000" dirty="0" err="1" smtClean="0"/>
              <a:t>i</a:t>
            </a:r>
            <a:r>
              <a:rPr lang="en-US" sz="2800" dirty="0" smtClean="0"/>
              <a:t> in [0,1] = prob. of a successful interaction</a:t>
            </a:r>
            <a:endParaRPr lang="en-US" sz="2800" dirty="0"/>
          </a:p>
        </p:txBody>
      </p:sp>
      <p:cxnSp>
        <p:nvCxnSpPr>
          <p:cNvPr id="35" name="Straight Arrow Connector 34"/>
          <p:cNvCxnSpPr/>
          <p:nvPr/>
        </p:nvCxnSpPr>
        <p:spPr>
          <a:xfrm rot="10800000" flipV="1">
            <a:off x="2057400" y="2362200"/>
            <a:ext cx="1905000" cy="5334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sp>
        <p:nvSpPr>
          <p:cNvPr id="42" name="Rectangle 41"/>
          <p:cNvSpPr/>
          <p:nvPr/>
        </p:nvSpPr>
        <p:spPr>
          <a:xfrm>
            <a:off x="1676400" y="3048000"/>
            <a:ext cx="386644" cy="369332"/>
          </a:xfrm>
          <a:prstGeom prst="rect">
            <a:avLst/>
          </a:prstGeom>
        </p:spPr>
        <p:txBody>
          <a:bodyPr wrap="none">
            <a:spAutoFit/>
          </a:bodyPr>
          <a:lstStyle/>
          <a:p>
            <a:r>
              <a:rPr lang="el-GR" dirty="0" smtClean="0"/>
              <a:t>θ</a:t>
            </a:r>
            <a:r>
              <a:rPr lang="en-US" baseline="-25000" dirty="0" err="1" smtClean="0"/>
              <a:t>1</a:t>
            </a:r>
            <a:endParaRPr lang="en-US" dirty="0"/>
          </a:p>
        </p:txBody>
      </p:sp>
      <p:sp>
        <p:nvSpPr>
          <p:cNvPr id="44" name="Rectangle 43"/>
          <p:cNvSpPr/>
          <p:nvPr/>
        </p:nvSpPr>
        <p:spPr>
          <a:xfrm>
            <a:off x="4724400" y="2209800"/>
            <a:ext cx="386644" cy="369332"/>
          </a:xfrm>
          <a:prstGeom prst="rect">
            <a:avLst/>
          </a:prstGeom>
        </p:spPr>
        <p:txBody>
          <a:bodyPr wrap="none">
            <a:spAutoFit/>
          </a:bodyPr>
          <a:lstStyle/>
          <a:p>
            <a:r>
              <a:rPr lang="el-GR" dirty="0" smtClean="0"/>
              <a:t>θ</a:t>
            </a:r>
            <a:r>
              <a:rPr lang="en-US" baseline="-25000" dirty="0" err="1" smtClean="0"/>
              <a:t>2</a:t>
            </a:r>
            <a:endParaRPr lang="en-US" dirty="0"/>
          </a:p>
        </p:txBody>
      </p:sp>
      <p:sp>
        <p:nvSpPr>
          <p:cNvPr id="45" name="Rectangle 44"/>
          <p:cNvSpPr/>
          <p:nvPr/>
        </p:nvSpPr>
        <p:spPr>
          <a:xfrm>
            <a:off x="7391400" y="2743200"/>
            <a:ext cx="386644" cy="369332"/>
          </a:xfrm>
          <a:prstGeom prst="rect">
            <a:avLst/>
          </a:prstGeom>
        </p:spPr>
        <p:txBody>
          <a:bodyPr wrap="none">
            <a:spAutoFit/>
          </a:bodyPr>
          <a:lstStyle/>
          <a:p>
            <a:r>
              <a:rPr lang="el-GR" dirty="0" smtClean="0"/>
              <a:t>θ</a:t>
            </a:r>
            <a:r>
              <a:rPr lang="en-US" baseline="-25000" dirty="0" err="1" smtClean="0"/>
              <a:t>3</a:t>
            </a:r>
            <a:endParaRPr lang="en-US" dirty="0"/>
          </a:p>
        </p:txBody>
      </p:sp>
      <p:sp>
        <p:nvSpPr>
          <p:cNvPr id="46" name="Rectangle 45"/>
          <p:cNvSpPr/>
          <p:nvPr/>
        </p:nvSpPr>
        <p:spPr>
          <a:xfrm>
            <a:off x="3200400" y="5257800"/>
            <a:ext cx="386644" cy="369332"/>
          </a:xfrm>
          <a:prstGeom prst="rect">
            <a:avLst/>
          </a:prstGeom>
        </p:spPr>
        <p:txBody>
          <a:bodyPr wrap="none">
            <a:spAutoFit/>
          </a:bodyPr>
          <a:lstStyle/>
          <a:p>
            <a:r>
              <a:rPr lang="el-GR" dirty="0" smtClean="0"/>
              <a:t>θ</a:t>
            </a:r>
            <a:r>
              <a:rPr lang="en-US" baseline="-25000" dirty="0" err="1" smtClean="0"/>
              <a:t>4</a:t>
            </a:r>
            <a:endParaRPr lang="en-US" dirty="0"/>
          </a:p>
        </p:txBody>
      </p:sp>
      <p:sp>
        <p:nvSpPr>
          <p:cNvPr id="47" name="Rectangle 46"/>
          <p:cNvSpPr/>
          <p:nvPr/>
        </p:nvSpPr>
        <p:spPr>
          <a:xfrm>
            <a:off x="5943600" y="5715000"/>
            <a:ext cx="386644" cy="369332"/>
          </a:xfrm>
          <a:prstGeom prst="rect">
            <a:avLst/>
          </a:prstGeom>
        </p:spPr>
        <p:txBody>
          <a:bodyPr wrap="none">
            <a:spAutoFit/>
          </a:bodyPr>
          <a:lstStyle/>
          <a:p>
            <a:r>
              <a:rPr lang="el-GR" dirty="0" smtClean="0"/>
              <a:t>θ</a:t>
            </a:r>
            <a:r>
              <a:rPr lang="en-US" baseline="-25000" dirty="0" err="1" smtClean="0"/>
              <a:t>5</a:t>
            </a:r>
            <a:endParaRPr lang="en-US" dirty="0"/>
          </a:p>
        </p:txBody>
      </p:sp>
      <p:sp>
        <p:nvSpPr>
          <p:cNvPr id="48" name="Rectangle 47"/>
          <p:cNvSpPr/>
          <p:nvPr/>
        </p:nvSpPr>
        <p:spPr>
          <a:xfrm>
            <a:off x="1409236" y="2362200"/>
            <a:ext cx="352982" cy="369332"/>
          </a:xfrm>
          <a:prstGeom prst="rect">
            <a:avLst/>
          </a:prstGeom>
        </p:spPr>
        <p:txBody>
          <a:bodyPr wrap="none">
            <a:spAutoFit/>
          </a:bodyPr>
          <a:lstStyle/>
          <a:p>
            <a:r>
              <a:rPr lang="en-US" dirty="0" smtClean="0"/>
              <a:t>s</a:t>
            </a:r>
            <a:r>
              <a:rPr lang="en-US" baseline="-25000" dirty="0" smtClean="0"/>
              <a:t>1</a:t>
            </a:r>
            <a:endParaRPr lang="en-US" dirty="0"/>
          </a:p>
        </p:txBody>
      </p:sp>
      <p:sp>
        <p:nvSpPr>
          <p:cNvPr id="54" name="Rectangle 53"/>
          <p:cNvSpPr/>
          <p:nvPr/>
        </p:nvSpPr>
        <p:spPr>
          <a:xfrm>
            <a:off x="4457236" y="1524000"/>
            <a:ext cx="352982" cy="369332"/>
          </a:xfrm>
          <a:prstGeom prst="rect">
            <a:avLst/>
          </a:prstGeom>
        </p:spPr>
        <p:txBody>
          <a:bodyPr wrap="none">
            <a:spAutoFit/>
          </a:bodyPr>
          <a:lstStyle/>
          <a:p>
            <a:r>
              <a:rPr lang="en-US" dirty="0" smtClean="0"/>
              <a:t>s</a:t>
            </a:r>
            <a:r>
              <a:rPr lang="en-US" baseline="-25000" dirty="0" smtClean="0"/>
              <a:t>2</a:t>
            </a:r>
            <a:endParaRPr lang="en-US" dirty="0"/>
          </a:p>
        </p:txBody>
      </p:sp>
      <p:sp>
        <p:nvSpPr>
          <p:cNvPr id="57" name="Rectangle 56"/>
          <p:cNvSpPr/>
          <p:nvPr/>
        </p:nvSpPr>
        <p:spPr>
          <a:xfrm>
            <a:off x="7124236" y="1981200"/>
            <a:ext cx="352982" cy="369332"/>
          </a:xfrm>
          <a:prstGeom prst="rect">
            <a:avLst/>
          </a:prstGeom>
        </p:spPr>
        <p:txBody>
          <a:bodyPr wrap="none">
            <a:spAutoFit/>
          </a:bodyPr>
          <a:lstStyle/>
          <a:p>
            <a:r>
              <a:rPr lang="en-US" dirty="0" smtClean="0"/>
              <a:t>s</a:t>
            </a:r>
            <a:r>
              <a:rPr lang="en-US" baseline="-25000" dirty="0" smtClean="0"/>
              <a:t>3</a:t>
            </a:r>
            <a:endParaRPr lang="en-US" dirty="0"/>
          </a:p>
        </p:txBody>
      </p:sp>
      <p:sp>
        <p:nvSpPr>
          <p:cNvPr id="58" name="Rectangle 57"/>
          <p:cNvSpPr/>
          <p:nvPr/>
        </p:nvSpPr>
        <p:spPr>
          <a:xfrm>
            <a:off x="2971800" y="5726668"/>
            <a:ext cx="352982" cy="369332"/>
          </a:xfrm>
          <a:prstGeom prst="rect">
            <a:avLst/>
          </a:prstGeom>
        </p:spPr>
        <p:txBody>
          <a:bodyPr wrap="none">
            <a:spAutoFit/>
          </a:bodyPr>
          <a:lstStyle/>
          <a:p>
            <a:r>
              <a:rPr lang="en-US" dirty="0" smtClean="0"/>
              <a:t>s</a:t>
            </a:r>
            <a:r>
              <a:rPr lang="en-US" baseline="-25000" dirty="0" smtClean="0"/>
              <a:t>4</a:t>
            </a:r>
            <a:endParaRPr lang="en-US" dirty="0"/>
          </a:p>
        </p:txBody>
      </p:sp>
      <p:sp>
        <p:nvSpPr>
          <p:cNvPr id="59" name="Rectangle 58"/>
          <p:cNvSpPr/>
          <p:nvPr/>
        </p:nvSpPr>
        <p:spPr>
          <a:xfrm>
            <a:off x="5715000" y="6183868"/>
            <a:ext cx="352982" cy="369332"/>
          </a:xfrm>
          <a:prstGeom prst="rect">
            <a:avLst/>
          </a:prstGeom>
        </p:spPr>
        <p:txBody>
          <a:bodyPr wrap="none">
            <a:spAutoFit/>
          </a:bodyPr>
          <a:lstStyle/>
          <a:p>
            <a:r>
              <a:rPr lang="en-US" dirty="0" smtClean="0"/>
              <a:t>s</a:t>
            </a:r>
            <a:r>
              <a:rPr lang="en-US" baseline="-25000" dirty="0" smtClean="0"/>
              <a:t>5</a:t>
            </a:r>
            <a:endParaRPr lang="en-US" dirty="0"/>
          </a:p>
        </p:txBody>
      </p:sp>
    </p:spTree>
    <p:custDataLst>
      <p:tags r:id="rId1"/>
    </p:custDataLst>
  </p:cSld>
  <p:clrMapOvr>
    <a:masterClrMapping/>
  </p:clrMapOvr>
  <p:transition advTm="78641"/>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49"/>
                                        </p:tgtEl>
                                        <p:attrNameLst>
                                          <p:attrName>style.visibility</p:attrName>
                                        </p:attrNameLst>
                                      </p:cBhvr>
                                      <p:to>
                                        <p:strVal val="visible"/>
                                      </p:to>
                                    </p:set>
                                  </p:childTnLst>
                                </p:cTn>
                              </p:par>
                              <p:par>
                                <p:cTn id="49" presetID="1" presetClass="exit" presetSubtype="0" fill="hold" nodeType="withEffect">
                                  <p:stCondLst>
                                    <p:cond delay="0"/>
                                  </p:stCondLst>
                                  <p:childTnLst>
                                    <p:set>
                                      <p:cBhvr>
                                        <p:cTn id="50" dur="1" fill="hold">
                                          <p:stCondLst>
                                            <p:cond delay="0"/>
                                          </p:stCondLst>
                                        </p:cTn>
                                        <p:tgtEl>
                                          <p:spTgt spid="36"/>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70"/>
                                        </p:tgtEl>
                                        <p:attrNameLst>
                                          <p:attrName>style.visibility</p:attrName>
                                        </p:attrNameLst>
                                      </p:cBhvr>
                                      <p:to>
                                        <p:strVal val="hidden"/>
                                      </p:to>
                                    </p:set>
                                  </p:childTnLst>
                                </p:cTn>
                              </p:par>
                              <p:par>
                                <p:cTn id="53" presetID="1" presetClass="entr" presetSubtype="0" fill="hold" nodeType="withEffect">
                                  <p:stCondLst>
                                    <p:cond delay="0"/>
                                  </p:stCondLst>
                                  <p:childTnLst>
                                    <p:set>
                                      <p:cBhvr>
                                        <p:cTn id="54" dur="1" fill="hold">
                                          <p:stCondLst>
                                            <p:cond delay="0"/>
                                          </p:stCondLst>
                                        </p:cTn>
                                        <p:tgtEl>
                                          <p:spTgt spid="55"/>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52"/>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51"/>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6"/>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53"/>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50"/>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67"/>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35"/>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7"/>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1"/>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20"/>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7"/>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4"/>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42"/>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44"/>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45"/>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47"/>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46"/>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48"/>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54"/>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57"/>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59"/>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animBg="1"/>
      <p:bldP spid="14" grpId="0" animBg="1"/>
      <p:bldP spid="17" grpId="0" animBg="1"/>
      <p:bldP spid="20" grpId="0" animBg="1"/>
      <p:bldP spid="34" grpId="0"/>
      <p:bldP spid="42" grpId="0"/>
      <p:bldP spid="44" grpId="0"/>
      <p:bldP spid="45" grpId="0"/>
      <p:bldP spid="46" grpId="0"/>
      <p:bldP spid="47" grpId="0"/>
      <p:bldP spid="48" grpId="0"/>
      <p:bldP spid="54" grpId="0"/>
      <p:bldP spid="57" grpId="0"/>
      <p:bldP spid="58" grpId="0"/>
      <p:bldP spid="5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Goals</a:t>
            </a:r>
            <a:endParaRPr lang="en-US" dirty="0"/>
          </a:p>
        </p:txBody>
      </p:sp>
      <p:sp>
        <p:nvSpPr>
          <p:cNvPr id="6" name="Content Placeholder 30"/>
          <p:cNvSpPr>
            <a:spLocks noGrp="1"/>
          </p:cNvSpPr>
          <p:nvPr>
            <p:ph idx="1"/>
          </p:nvPr>
        </p:nvSpPr>
        <p:spPr>
          <a:xfrm>
            <a:off x="457200" y="1646237"/>
            <a:ext cx="8229600" cy="4525963"/>
          </a:xfrm>
        </p:spPr>
        <p:txBody>
          <a:bodyPr>
            <a:normAutofit lnSpcReduction="10000"/>
          </a:bodyPr>
          <a:lstStyle/>
          <a:p>
            <a:r>
              <a:rPr lang="en-US" b="1" dirty="0" err="1" smtClean="0"/>
              <a:t>Informativeness</a:t>
            </a:r>
            <a:r>
              <a:rPr lang="en-US" dirty="0" smtClean="0"/>
              <a:t>: correlation between scores </a:t>
            </a:r>
            <a:r>
              <a:rPr lang="en-US" dirty="0" err="1" smtClean="0"/>
              <a:t>s</a:t>
            </a:r>
            <a:r>
              <a:rPr lang="en-US" baseline="-25000" dirty="0" err="1" smtClean="0"/>
              <a:t>i</a:t>
            </a:r>
            <a:r>
              <a:rPr lang="en-US" dirty="0" smtClean="0"/>
              <a:t> produced by the trust mechanism and true agent types </a:t>
            </a:r>
            <a:r>
              <a:rPr lang="el-GR" dirty="0" smtClean="0"/>
              <a:t>θ</a:t>
            </a:r>
            <a:r>
              <a:rPr lang="en-US" baseline="-25000" dirty="0" err="1" smtClean="0"/>
              <a:t>i</a:t>
            </a:r>
            <a:r>
              <a:rPr lang="en-US" baseline="-25000" dirty="0" smtClean="0"/>
              <a:t> </a:t>
            </a:r>
            <a:r>
              <a:rPr lang="en-US" dirty="0" smtClean="0"/>
              <a:t> (</a:t>
            </a:r>
            <a:r>
              <a:rPr lang="en-US" dirty="0" err="1" smtClean="0"/>
              <a:t>corr</a:t>
            </a:r>
            <a:r>
              <a:rPr lang="en-US" dirty="0" smtClean="0"/>
              <a:t>(S,</a:t>
            </a:r>
            <a:r>
              <a:rPr lang="el-GR" dirty="0" smtClean="0"/>
              <a:t> θ</a:t>
            </a:r>
            <a:r>
              <a:rPr lang="en-US" dirty="0" smtClean="0"/>
              <a:t>))</a:t>
            </a:r>
          </a:p>
          <a:p>
            <a:r>
              <a:rPr lang="en-US" b="1" dirty="0" err="1" smtClean="0"/>
              <a:t>Strategyproofness</a:t>
            </a:r>
            <a:r>
              <a:rPr lang="en-US" dirty="0" smtClean="0"/>
              <a:t>: Prevent individual agents from manipulating trust scores </a:t>
            </a:r>
            <a:r>
              <a:rPr lang="en-US" dirty="0" err="1" smtClean="0"/>
              <a:t>s</a:t>
            </a:r>
            <a:r>
              <a:rPr lang="en-US" baseline="-25000" dirty="0" err="1" smtClean="0"/>
              <a:t>i</a:t>
            </a:r>
            <a:endParaRPr lang="en-US" dirty="0" smtClean="0"/>
          </a:p>
          <a:p>
            <a:r>
              <a:rPr lang="en-US" dirty="0" smtClean="0"/>
              <a:t>Trust mechanisms should be both informative and </a:t>
            </a:r>
            <a:r>
              <a:rPr lang="en-US" dirty="0" err="1" smtClean="0"/>
              <a:t>strategyproof</a:t>
            </a:r>
            <a:endParaRPr lang="en-US" dirty="0" smtClean="0"/>
          </a:p>
          <a:p>
            <a:r>
              <a:rPr lang="en-US" dirty="0" smtClean="0"/>
              <a:t>Optimize tradeoff between </a:t>
            </a:r>
            <a:r>
              <a:rPr lang="en-US" dirty="0" err="1" smtClean="0"/>
              <a:t>informativeness</a:t>
            </a:r>
            <a:r>
              <a:rPr lang="en-US" dirty="0" smtClean="0"/>
              <a:t> and </a:t>
            </a:r>
            <a:r>
              <a:rPr lang="en-US" dirty="0" err="1" smtClean="0"/>
              <a:t>strategyproofness</a:t>
            </a:r>
            <a:endParaRPr lang="en-US" dirty="0" smtClean="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Motivation</a:t>
            </a:r>
          </a:p>
          <a:p>
            <a:r>
              <a:rPr lang="en-US" dirty="0" smtClean="0"/>
              <a:t>Example Mechanisms</a:t>
            </a:r>
          </a:p>
          <a:p>
            <a:r>
              <a:rPr lang="en-US" dirty="0" err="1" smtClean="0"/>
              <a:t>Informativeness</a:t>
            </a:r>
            <a:r>
              <a:rPr lang="en-US" dirty="0" smtClean="0"/>
              <a:t> vs. </a:t>
            </a:r>
            <a:r>
              <a:rPr lang="en-US" dirty="0" err="1" smtClean="0"/>
              <a:t>Strategyproofness</a:t>
            </a:r>
            <a:endParaRPr lang="en-US" dirty="0" smtClean="0"/>
          </a:p>
          <a:p>
            <a:r>
              <a:rPr lang="en-US" dirty="0" smtClean="0"/>
              <a:t>Hybrid Transitive Trust Mechanisms</a:t>
            </a:r>
          </a:p>
          <a:p>
            <a:pPr lvl="1"/>
            <a:r>
              <a:rPr lang="en-US" dirty="0" smtClean="0"/>
              <a:t>Theoretical Analysis</a:t>
            </a:r>
            <a:endParaRPr lang="en-US" dirty="0"/>
          </a:p>
          <a:p>
            <a:r>
              <a:rPr lang="en-US" dirty="0" smtClean="0"/>
              <a:t>Experimental Results</a:t>
            </a:r>
          </a:p>
          <a:p>
            <a:pPr lvl="1"/>
            <a:r>
              <a:rPr lang="en-US" dirty="0" err="1" smtClean="0"/>
              <a:t>Informativeness</a:t>
            </a:r>
            <a:endParaRPr lang="en-US" dirty="0" smtClean="0"/>
          </a:p>
          <a:p>
            <a:pPr lvl="1"/>
            <a:r>
              <a:rPr lang="en-US" dirty="0" smtClean="0"/>
              <a:t>Efficiency</a:t>
            </a:r>
          </a:p>
          <a:p>
            <a:r>
              <a:rPr lang="en-US" dirty="0" smtClean="0"/>
              <a:t>Conclusions</a:t>
            </a:r>
          </a:p>
        </p:txBody>
      </p:sp>
    </p:spTree>
    <p:custDataLst>
      <p:tags r:id="rId1"/>
    </p:custDataLst>
  </p:cSld>
  <p:clrMapOvr>
    <a:masterClrMapping/>
  </p:clrMapOvr>
  <p:transition advTm="46235"/>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Motivation</a:t>
            </a:r>
          </a:p>
          <a:p>
            <a:r>
              <a:rPr lang="en-US" b="1" dirty="0" smtClean="0"/>
              <a:t>Example Mechanisms</a:t>
            </a:r>
          </a:p>
          <a:p>
            <a:r>
              <a:rPr lang="en-US" dirty="0" err="1" smtClean="0"/>
              <a:t>Informativeness</a:t>
            </a:r>
            <a:r>
              <a:rPr lang="en-US" dirty="0" smtClean="0"/>
              <a:t> vs. </a:t>
            </a:r>
            <a:r>
              <a:rPr lang="en-US" dirty="0" err="1" smtClean="0"/>
              <a:t>Strategyproofness</a:t>
            </a:r>
            <a:endParaRPr lang="en-US" dirty="0" smtClean="0"/>
          </a:p>
          <a:p>
            <a:r>
              <a:rPr lang="en-US" dirty="0" smtClean="0"/>
              <a:t>Hybrid Transitive Trust Mechanisms</a:t>
            </a:r>
          </a:p>
          <a:p>
            <a:pPr lvl="1"/>
            <a:r>
              <a:rPr lang="en-US" dirty="0" smtClean="0"/>
              <a:t>Theoretical Analysis</a:t>
            </a:r>
            <a:endParaRPr lang="en-US" dirty="0"/>
          </a:p>
          <a:p>
            <a:r>
              <a:rPr lang="en-US" dirty="0" smtClean="0"/>
              <a:t>Experimental Results</a:t>
            </a:r>
          </a:p>
          <a:p>
            <a:pPr lvl="1"/>
            <a:r>
              <a:rPr lang="en-US" dirty="0" err="1" smtClean="0"/>
              <a:t>Informativeness</a:t>
            </a:r>
            <a:endParaRPr lang="en-US" dirty="0" smtClean="0"/>
          </a:p>
          <a:p>
            <a:pPr lvl="1"/>
            <a:r>
              <a:rPr lang="en-US" dirty="0" smtClean="0"/>
              <a:t>Efficiency</a:t>
            </a:r>
          </a:p>
          <a:p>
            <a:r>
              <a:rPr lang="en-US" dirty="0" smtClean="0"/>
              <a:t>Conclusions</a:t>
            </a:r>
          </a:p>
        </p:txBody>
      </p:sp>
    </p:spTree>
  </p:cSld>
  <p:clrMapOvr>
    <a:masterClrMapping/>
  </p:clrMapOvr>
  <p:transition advTm="46235"/>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 name="Picture 22"/>
          <p:cNvPicPr>
            <a:picLocks noChangeArrowheads="1"/>
          </p:cNvPicPr>
          <p:nvPr/>
        </p:nvPicPr>
        <p:blipFill>
          <a:blip r:embed="rId4" cstate="print"/>
          <a:srcRect/>
          <a:stretch>
            <a:fillRect/>
          </a:stretch>
        </p:blipFill>
        <p:spPr bwMode="auto">
          <a:xfrm>
            <a:off x="1447800" y="3124200"/>
            <a:ext cx="384048" cy="685800"/>
          </a:xfrm>
          <a:prstGeom prst="rect">
            <a:avLst/>
          </a:prstGeom>
          <a:noFill/>
          <a:ln w="9525">
            <a:noFill/>
            <a:miter lim="800000"/>
            <a:headEnd/>
            <a:tailEnd/>
          </a:ln>
        </p:spPr>
      </p:pic>
      <p:pic>
        <p:nvPicPr>
          <p:cNvPr id="2070" name="Picture 22"/>
          <p:cNvPicPr>
            <a:picLocks noChangeArrowheads="1"/>
          </p:cNvPicPr>
          <p:nvPr/>
        </p:nvPicPr>
        <p:blipFill>
          <a:blip r:embed="rId4" cstate="print"/>
          <a:srcRect/>
          <a:stretch>
            <a:fillRect/>
          </a:stretch>
        </p:blipFill>
        <p:spPr bwMode="auto">
          <a:xfrm>
            <a:off x="1435608" y="3108960"/>
            <a:ext cx="384048" cy="685800"/>
          </a:xfrm>
          <a:prstGeom prst="rect">
            <a:avLst/>
          </a:prstGeom>
          <a:noFill/>
          <a:ln w="9525">
            <a:noFill/>
            <a:miter lim="800000"/>
            <a:headEnd/>
            <a:tailEnd/>
          </a:ln>
        </p:spPr>
      </p:pic>
      <p:sp>
        <p:nvSpPr>
          <p:cNvPr id="2" name="Title 1"/>
          <p:cNvSpPr>
            <a:spLocks noGrp="1"/>
          </p:cNvSpPr>
          <p:nvPr>
            <p:ph type="title"/>
          </p:nvPr>
        </p:nvSpPr>
        <p:spPr>
          <a:xfrm>
            <a:off x="457200" y="0"/>
            <a:ext cx="8229600" cy="1143000"/>
          </a:xfrm>
        </p:spPr>
        <p:txBody>
          <a:bodyPr/>
          <a:lstStyle/>
          <a:p>
            <a:r>
              <a:rPr lang="en-US" dirty="0" smtClean="0"/>
              <a:t>Example: </a:t>
            </a:r>
            <a:r>
              <a:rPr lang="en-US" dirty="0" err="1" smtClean="0"/>
              <a:t>PageRank</a:t>
            </a:r>
            <a:endParaRPr lang="en-US" dirty="0"/>
          </a:p>
        </p:txBody>
      </p:sp>
      <p:pic>
        <p:nvPicPr>
          <p:cNvPr id="5" name="Picture 6" descr="C:\Documents and Settings\Temp\Local Settings\Temporary Internet Files\Content.IE5\A22ZQKB8\MC900078627[1].wmf"/>
          <p:cNvPicPr>
            <a:picLocks noChangeAspect="1" noChangeArrowheads="1"/>
          </p:cNvPicPr>
          <p:nvPr/>
        </p:nvPicPr>
        <p:blipFill>
          <a:blip r:embed="rId5" cstate="print"/>
          <a:srcRect l="45534"/>
          <a:stretch>
            <a:fillRect/>
          </a:stretch>
        </p:blipFill>
        <p:spPr bwMode="auto">
          <a:xfrm>
            <a:off x="2959100" y="5239066"/>
            <a:ext cx="381000" cy="687072"/>
          </a:xfrm>
          <a:prstGeom prst="rect">
            <a:avLst/>
          </a:prstGeom>
          <a:noFill/>
        </p:spPr>
      </p:pic>
      <p:sp>
        <p:nvSpPr>
          <p:cNvPr id="7" name="Oval 6"/>
          <p:cNvSpPr/>
          <p:nvPr/>
        </p:nvSpPr>
        <p:spPr>
          <a:xfrm>
            <a:off x="2667000" y="51054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1143000" y="29718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6" descr="C:\Documents and Settings\Temp\Local Settings\Temporary Internet Files\Content.IE5\A22ZQKB8\MC900078627[1].wmf"/>
          <p:cNvPicPr>
            <a:picLocks noChangeAspect="1" noChangeArrowheads="1"/>
          </p:cNvPicPr>
          <p:nvPr/>
        </p:nvPicPr>
        <p:blipFill>
          <a:blip r:embed="rId5" cstate="print"/>
          <a:srcRect l="45534"/>
          <a:stretch>
            <a:fillRect/>
          </a:stretch>
        </p:blipFill>
        <p:spPr bwMode="auto">
          <a:xfrm>
            <a:off x="5702300" y="5696266"/>
            <a:ext cx="381000" cy="687072"/>
          </a:xfrm>
          <a:prstGeom prst="rect">
            <a:avLst/>
          </a:prstGeom>
          <a:noFill/>
        </p:spPr>
      </p:pic>
      <p:sp>
        <p:nvSpPr>
          <p:cNvPr id="14" name="Oval 13"/>
          <p:cNvSpPr/>
          <p:nvPr/>
        </p:nvSpPr>
        <p:spPr>
          <a:xfrm>
            <a:off x="5410200" y="55626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6" descr="C:\Documents and Settings\Temp\Local Settings\Temporary Internet Files\Content.IE5\A22ZQKB8\MC900078627[1].wmf"/>
          <p:cNvPicPr>
            <a:picLocks noChangeAspect="1" noChangeArrowheads="1"/>
          </p:cNvPicPr>
          <p:nvPr/>
        </p:nvPicPr>
        <p:blipFill>
          <a:blip r:embed="rId5" cstate="print"/>
          <a:srcRect l="45534"/>
          <a:stretch>
            <a:fillRect/>
          </a:stretch>
        </p:blipFill>
        <p:spPr bwMode="auto">
          <a:xfrm>
            <a:off x="7150100" y="2724466"/>
            <a:ext cx="381000" cy="687072"/>
          </a:xfrm>
          <a:prstGeom prst="rect">
            <a:avLst/>
          </a:prstGeom>
          <a:noFill/>
        </p:spPr>
      </p:pic>
      <p:sp>
        <p:nvSpPr>
          <p:cNvPr id="17" name="Oval 16"/>
          <p:cNvSpPr/>
          <p:nvPr/>
        </p:nvSpPr>
        <p:spPr>
          <a:xfrm>
            <a:off x="6858000" y="25908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6" descr="C:\Documents and Settings\Temp\Local Settings\Temporary Internet Files\Content.IE5\A22ZQKB8\MC900078627[1].wmf"/>
          <p:cNvPicPr>
            <a:picLocks noChangeAspect="1" noChangeArrowheads="1"/>
          </p:cNvPicPr>
          <p:nvPr/>
        </p:nvPicPr>
        <p:blipFill>
          <a:blip r:embed="rId5" cstate="print"/>
          <a:srcRect l="45534"/>
          <a:stretch>
            <a:fillRect/>
          </a:stretch>
        </p:blipFill>
        <p:spPr bwMode="auto">
          <a:xfrm>
            <a:off x="4483100" y="2267266"/>
            <a:ext cx="381000" cy="687072"/>
          </a:xfrm>
          <a:prstGeom prst="rect">
            <a:avLst/>
          </a:prstGeom>
          <a:noFill/>
        </p:spPr>
      </p:pic>
      <p:sp>
        <p:nvSpPr>
          <p:cNvPr id="20" name="Oval 19"/>
          <p:cNvSpPr/>
          <p:nvPr/>
        </p:nvSpPr>
        <p:spPr>
          <a:xfrm>
            <a:off x="4191000" y="21336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Arrow Connector 21"/>
          <p:cNvCxnSpPr/>
          <p:nvPr/>
        </p:nvCxnSpPr>
        <p:spPr>
          <a:xfrm flipV="1">
            <a:off x="2133600" y="2743200"/>
            <a:ext cx="1905000" cy="5334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rot="5400000" flipH="1" flipV="1">
            <a:off x="2857500" y="3695700"/>
            <a:ext cx="1981200" cy="8382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2209800" y="3429000"/>
            <a:ext cx="3200400" cy="21336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5257800" y="2667000"/>
            <a:ext cx="1371600" cy="3048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rot="5400000" flipH="1" flipV="1">
            <a:off x="5753100" y="4152900"/>
            <a:ext cx="1828800" cy="8382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rot="16200000" flipV="1">
            <a:off x="4152900" y="3848100"/>
            <a:ext cx="2362200" cy="762000"/>
          </a:xfrm>
          <a:prstGeom prst="straightConnector1">
            <a:avLst/>
          </a:prstGeom>
          <a:ln w="15875">
            <a:solidFill>
              <a:srgbClr val="FF000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rot="5400000">
            <a:off x="2705100" y="3619500"/>
            <a:ext cx="1981200" cy="838200"/>
          </a:xfrm>
          <a:prstGeom prst="straightConnector1">
            <a:avLst/>
          </a:prstGeom>
          <a:ln w="15875">
            <a:solidFill>
              <a:srgbClr val="FF000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flipV="1">
            <a:off x="2133600" y="2743200"/>
            <a:ext cx="1905000" cy="5334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rot="5400000" flipH="1" flipV="1">
            <a:off x="2857500" y="3695700"/>
            <a:ext cx="1981200" cy="8382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p:nvPr/>
        </p:nvCxnSpPr>
        <p:spPr>
          <a:xfrm>
            <a:off x="2209800" y="3429000"/>
            <a:ext cx="3200400" cy="21336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p:nvPr/>
        </p:nvCxnSpPr>
        <p:spPr>
          <a:xfrm>
            <a:off x="5257800" y="2667000"/>
            <a:ext cx="1371600" cy="3048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a:xfrm rot="5400000" flipH="1" flipV="1">
            <a:off x="5753100" y="4152900"/>
            <a:ext cx="1828800" cy="8382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rot="16200000" flipV="1">
            <a:off x="4152900" y="3848100"/>
            <a:ext cx="2362200" cy="7620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p:nvPr/>
        </p:nvCxnSpPr>
        <p:spPr>
          <a:xfrm rot="5400000">
            <a:off x="2705100" y="3619500"/>
            <a:ext cx="1981200" cy="8382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rot="16200000" flipH="1">
            <a:off x="1562101" y="4000500"/>
            <a:ext cx="1295400" cy="10668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sp>
        <p:nvSpPr>
          <p:cNvPr id="70" name="Oval 69"/>
          <p:cNvSpPr/>
          <p:nvPr/>
        </p:nvSpPr>
        <p:spPr>
          <a:xfrm>
            <a:off x="1143000" y="2971800"/>
            <a:ext cx="914400" cy="914400"/>
          </a:xfrm>
          <a:prstGeom prst="ellipse">
            <a:avLst/>
          </a:prstGeom>
          <a:noFill/>
          <a:ln w="5715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p:cNvSpPr/>
          <p:nvPr/>
        </p:nvSpPr>
        <p:spPr>
          <a:xfrm>
            <a:off x="4191000" y="2133600"/>
            <a:ext cx="914400" cy="914400"/>
          </a:xfrm>
          <a:prstGeom prst="ellipse">
            <a:avLst/>
          </a:prstGeom>
          <a:noFill/>
          <a:ln w="5715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p:cNvSpPr/>
          <p:nvPr/>
        </p:nvSpPr>
        <p:spPr>
          <a:xfrm>
            <a:off x="6858000" y="2590800"/>
            <a:ext cx="914400" cy="914400"/>
          </a:xfrm>
          <a:prstGeom prst="ellipse">
            <a:avLst/>
          </a:prstGeom>
          <a:noFill/>
          <a:ln w="5715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p:cNvSpPr/>
          <p:nvPr/>
        </p:nvSpPr>
        <p:spPr>
          <a:xfrm>
            <a:off x="1143000" y="2971800"/>
            <a:ext cx="914400" cy="914400"/>
          </a:xfrm>
          <a:prstGeom prst="ellipse">
            <a:avLst/>
          </a:prstGeom>
          <a:noFill/>
          <a:ln w="5715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p:cNvSpPr/>
          <p:nvPr/>
        </p:nvSpPr>
        <p:spPr>
          <a:xfrm>
            <a:off x="2667000" y="5105400"/>
            <a:ext cx="914400" cy="914400"/>
          </a:xfrm>
          <a:prstGeom prst="ellipse">
            <a:avLst/>
          </a:prstGeom>
          <a:noFill/>
          <a:ln w="5715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p:cNvSpPr/>
          <p:nvPr/>
        </p:nvSpPr>
        <p:spPr>
          <a:xfrm>
            <a:off x="4191000" y="2133600"/>
            <a:ext cx="914400" cy="914400"/>
          </a:xfrm>
          <a:prstGeom prst="ellipse">
            <a:avLst/>
          </a:prstGeom>
          <a:noFill/>
          <a:ln w="5715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p:cNvSpPr/>
          <p:nvPr/>
        </p:nvSpPr>
        <p:spPr>
          <a:xfrm>
            <a:off x="5410200" y="5562600"/>
            <a:ext cx="914400" cy="914400"/>
          </a:xfrm>
          <a:prstGeom prst="ellipse">
            <a:avLst/>
          </a:prstGeom>
          <a:noFill/>
          <a:ln w="5715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9" name="Straight Arrow Connector 78"/>
          <p:cNvCxnSpPr/>
          <p:nvPr/>
        </p:nvCxnSpPr>
        <p:spPr>
          <a:xfrm flipV="1">
            <a:off x="2133600" y="2743200"/>
            <a:ext cx="1905000" cy="533400"/>
          </a:xfrm>
          <a:prstGeom prst="straightConnector1">
            <a:avLst/>
          </a:prstGeom>
          <a:ln w="44450">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p:nvPr/>
        </p:nvCxnSpPr>
        <p:spPr>
          <a:xfrm>
            <a:off x="5257800" y="2667000"/>
            <a:ext cx="1371600" cy="304800"/>
          </a:xfrm>
          <a:prstGeom prst="straightConnector1">
            <a:avLst/>
          </a:prstGeom>
          <a:ln w="44450">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p:nvPr/>
        </p:nvCxnSpPr>
        <p:spPr>
          <a:xfrm rot="5400000" flipH="1" flipV="1">
            <a:off x="2857500" y="3695700"/>
            <a:ext cx="1981200" cy="838200"/>
          </a:xfrm>
          <a:prstGeom prst="straightConnector1">
            <a:avLst/>
          </a:prstGeom>
          <a:ln w="44450">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p:nvPr/>
        </p:nvCxnSpPr>
        <p:spPr>
          <a:xfrm rot="16200000" flipH="1">
            <a:off x="1562101" y="4000500"/>
            <a:ext cx="1295400" cy="1066800"/>
          </a:xfrm>
          <a:prstGeom prst="straightConnector1">
            <a:avLst/>
          </a:prstGeom>
          <a:ln w="44450">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sp>
        <p:nvSpPr>
          <p:cNvPr id="83" name="TextBox 82"/>
          <p:cNvSpPr txBox="1"/>
          <p:nvPr/>
        </p:nvSpPr>
        <p:spPr>
          <a:xfrm>
            <a:off x="1295400" y="2514600"/>
            <a:ext cx="593432" cy="369332"/>
          </a:xfrm>
          <a:prstGeom prst="rect">
            <a:avLst/>
          </a:prstGeom>
          <a:noFill/>
          <a:ln>
            <a:solidFill>
              <a:schemeClr val="tx1"/>
            </a:solidFill>
          </a:ln>
        </p:spPr>
        <p:txBody>
          <a:bodyPr wrap="none" rtlCol="0">
            <a:spAutoFit/>
          </a:bodyPr>
          <a:lstStyle/>
          <a:p>
            <a:r>
              <a:rPr lang="en-US" dirty="0" smtClean="0"/>
              <a:t>0.16</a:t>
            </a:r>
            <a:endParaRPr lang="en-US" dirty="0"/>
          </a:p>
        </p:txBody>
      </p:sp>
      <p:sp>
        <p:nvSpPr>
          <p:cNvPr id="84" name="TextBox 83"/>
          <p:cNvSpPr txBox="1"/>
          <p:nvPr/>
        </p:nvSpPr>
        <p:spPr>
          <a:xfrm>
            <a:off x="4343400" y="1676400"/>
            <a:ext cx="593432" cy="369332"/>
          </a:xfrm>
          <a:prstGeom prst="rect">
            <a:avLst/>
          </a:prstGeom>
          <a:noFill/>
          <a:ln>
            <a:solidFill>
              <a:schemeClr val="tx1"/>
            </a:solidFill>
          </a:ln>
        </p:spPr>
        <p:txBody>
          <a:bodyPr wrap="none" rtlCol="0">
            <a:spAutoFit/>
          </a:bodyPr>
          <a:lstStyle/>
          <a:p>
            <a:r>
              <a:rPr lang="en-US" dirty="0" smtClean="0"/>
              <a:t>0.33</a:t>
            </a:r>
            <a:endParaRPr lang="en-US" dirty="0"/>
          </a:p>
        </p:txBody>
      </p:sp>
      <p:sp>
        <p:nvSpPr>
          <p:cNvPr id="85" name="TextBox 84"/>
          <p:cNvSpPr txBox="1"/>
          <p:nvPr/>
        </p:nvSpPr>
        <p:spPr>
          <a:xfrm>
            <a:off x="7010400" y="2133600"/>
            <a:ext cx="593432" cy="369332"/>
          </a:xfrm>
          <a:prstGeom prst="rect">
            <a:avLst/>
          </a:prstGeom>
          <a:noFill/>
          <a:ln>
            <a:solidFill>
              <a:schemeClr val="tx1"/>
            </a:solidFill>
          </a:ln>
        </p:spPr>
        <p:txBody>
          <a:bodyPr wrap="none" rtlCol="0">
            <a:spAutoFit/>
          </a:bodyPr>
          <a:lstStyle/>
          <a:p>
            <a:r>
              <a:rPr lang="en-US" dirty="0" smtClean="0"/>
              <a:t>0.20</a:t>
            </a:r>
            <a:endParaRPr lang="en-US" dirty="0"/>
          </a:p>
        </p:txBody>
      </p:sp>
      <p:sp>
        <p:nvSpPr>
          <p:cNvPr id="86" name="TextBox 85"/>
          <p:cNvSpPr txBox="1"/>
          <p:nvPr/>
        </p:nvSpPr>
        <p:spPr>
          <a:xfrm>
            <a:off x="2819400" y="6096000"/>
            <a:ext cx="593432" cy="369332"/>
          </a:xfrm>
          <a:prstGeom prst="rect">
            <a:avLst/>
          </a:prstGeom>
          <a:noFill/>
          <a:ln>
            <a:solidFill>
              <a:schemeClr val="tx1"/>
            </a:solidFill>
          </a:ln>
        </p:spPr>
        <p:txBody>
          <a:bodyPr wrap="none" rtlCol="0">
            <a:spAutoFit/>
          </a:bodyPr>
          <a:lstStyle/>
          <a:p>
            <a:r>
              <a:rPr lang="en-US" dirty="0" smtClean="0"/>
              <a:t>0.20</a:t>
            </a:r>
            <a:endParaRPr lang="en-US" dirty="0"/>
          </a:p>
        </p:txBody>
      </p:sp>
      <p:sp>
        <p:nvSpPr>
          <p:cNvPr id="87" name="TextBox 86"/>
          <p:cNvSpPr txBox="1"/>
          <p:nvPr/>
        </p:nvSpPr>
        <p:spPr>
          <a:xfrm>
            <a:off x="6400800" y="5943600"/>
            <a:ext cx="593432" cy="369332"/>
          </a:xfrm>
          <a:prstGeom prst="rect">
            <a:avLst/>
          </a:prstGeom>
          <a:noFill/>
          <a:ln>
            <a:solidFill>
              <a:schemeClr val="tx1"/>
            </a:solidFill>
          </a:ln>
        </p:spPr>
        <p:txBody>
          <a:bodyPr wrap="none" rtlCol="0">
            <a:spAutoFit/>
          </a:bodyPr>
          <a:lstStyle/>
          <a:p>
            <a:r>
              <a:rPr lang="en-US" dirty="0" smtClean="0"/>
              <a:t>0.11</a:t>
            </a:r>
            <a:endParaRPr lang="en-US" dirty="0"/>
          </a:p>
        </p:txBody>
      </p:sp>
      <p:cxnSp>
        <p:nvCxnSpPr>
          <p:cNvPr id="45" name="Straight Arrow Connector 44"/>
          <p:cNvCxnSpPr/>
          <p:nvPr/>
        </p:nvCxnSpPr>
        <p:spPr>
          <a:xfrm rot="10800000" flipV="1">
            <a:off x="2057400" y="2514600"/>
            <a:ext cx="1905000" cy="5334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transition advTm="47969"/>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70"/>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7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71"/>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79"/>
                                        </p:tgtEl>
                                        <p:attrNameLst>
                                          <p:attrName>style.visibility</p:attrName>
                                        </p:attrNameLst>
                                      </p:cBhvr>
                                      <p:to>
                                        <p:strVal val="hidden"/>
                                      </p:to>
                                    </p:set>
                                  </p:childTnLst>
                                </p:cTn>
                              </p:par>
                              <p:par>
                                <p:cTn id="21" presetID="1" presetClass="entr" presetSubtype="0" fill="hold" grpId="0" nodeType="withEffect">
                                  <p:stCondLst>
                                    <p:cond delay="0"/>
                                  </p:stCondLst>
                                  <p:childTnLst>
                                    <p:set>
                                      <p:cBhvr>
                                        <p:cTn id="22" dur="1" fill="hold">
                                          <p:stCondLst>
                                            <p:cond delay="0"/>
                                          </p:stCondLst>
                                        </p:cTn>
                                        <p:tgtEl>
                                          <p:spTgt spid="7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72"/>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80"/>
                                        </p:tgtEl>
                                        <p:attrNameLst>
                                          <p:attrName>style.visibility</p:attrName>
                                        </p:attrNameLst>
                                      </p:cBhvr>
                                      <p:to>
                                        <p:strVal val="hidden"/>
                                      </p:to>
                                    </p:set>
                                  </p:childTnLst>
                                </p:cTn>
                              </p:par>
                              <p:par>
                                <p:cTn id="31" presetID="1" presetClass="entr" presetSubtype="0" fill="hold" grpId="0" nodeType="withEffect">
                                  <p:stCondLst>
                                    <p:cond delay="0"/>
                                  </p:stCondLst>
                                  <p:childTnLst>
                                    <p:set>
                                      <p:cBhvr>
                                        <p:cTn id="32" dur="1" fill="hold">
                                          <p:stCondLst>
                                            <p:cond delay="0"/>
                                          </p:stCondLst>
                                        </p:cTn>
                                        <p:tgtEl>
                                          <p:spTgt spid="7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grpId="1" nodeType="clickEffect">
                                  <p:stCondLst>
                                    <p:cond delay="0"/>
                                  </p:stCondLst>
                                  <p:childTnLst>
                                    <p:set>
                                      <p:cBhvr>
                                        <p:cTn id="36" dur="1" fill="hold">
                                          <p:stCondLst>
                                            <p:cond delay="0"/>
                                          </p:stCondLst>
                                        </p:cTn>
                                        <p:tgtEl>
                                          <p:spTgt spid="73"/>
                                        </p:tgtEl>
                                        <p:attrNameLst>
                                          <p:attrName>style.visibility</p:attrName>
                                        </p:attrNameLst>
                                      </p:cBhvr>
                                      <p:to>
                                        <p:strVal val="hidden"/>
                                      </p:to>
                                    </p:set>
                                  </p:childTnLst>
                                </p:cTn>
                              </p:par>
                              <p:par>
                                <p:cTn id="37" presetID="1" presetClass="entr" presetSubtype="0" fill="hold" grpId="0" nodeType="withEffect">
                                  <p:stCondLst>
                                    <p:cond delay="0"/>
                                  </p:stCondLst>
                                  <p:childTnLst>
                                    <p:set>
                                      <p:cBhvr>
                                        <p:cTn id="38" dur="1" fill="hold">
                                          <p:stCondLst>
                                            <p:cond delay="0"/>
                                          </p:stCondLst>
                                        </p:cTn>
                                        <p:tgtEl>
                                          <p:spTgt spid="7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8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grpId="1" nodeType="clickEffect">
                                  <p:stCondLst>
                                    <p:cond delay="0"/>
                                  </p:stCondLst>
                                  <p:childTnLst>
                                    <p:set>
                                      <p:cBhvr>
                                        <p:cTn id="44" dur="1" fill="hold">
                                          <p:stCondLst>
                                            <p:cond delay="0"/>
                                          </p:stCondLst>
                                        </p:cTn>
                                        <p:tgtEl>
                                          <p:spTgt spid="74"/>
                                        </p:tgtEl>
                                        <p:attrNameLst>
                                          <p:attrName>style.visibility</p:attrName>
                                        </p:attrNameLst>
                                      </p:cBhvr>
                                      <p:to>
                                        <p:strVal val="hidden"/>
                                      </p:to>
                                    </p:set>
                                  </p:childTnLst>
                                </p:cTn>
                              </p:par>
                              <p:par>
                                <p:cTn id="45" presetID="1" presetClass="exit" presetSubtype="0" fill="hold" nodeType="withEffect">
                                  <p:stCondLst>
                                    <p:cond delay="0"/>
                                  </p:stCondLst>
                                  <p:childTnLst>
                                    <p:set>
                                      <p:cBhvr>
                                        <p:cTn id="46" dur="1" fill="hold">
                                          <p:stCondLst>
                                            <p:cond delay="0"/>
                                          </p:stCondLst>
                                        </p:cTn>
                                        <p:tgtEl>
                                          <p:spTgt spid="82"/>
                                        </p:tgtEl>
                                        <p:attrNameLst>
                                          <p:attrName>style.visibility</p:attrName>
                                        </p:attrNameLst>
                                      </p:cBhvr>
                                      <p:to>
                                        <p:strVal val="hidden"/>
                                      </p:to>
                                    </p:set>
                                  </p:childTnLst>
                                </p:cTn>
                              </p:par>
                              <p:par>
                                <p:cTn id="47" presetID="1" presetClass="entr" presetSubtype="0" fill="hold" grpId="0" nodeType="withEffect">
                                  <p:stCondLst>
                                    <p:cond delay="0"/>
                                  </p:stCondLst>
                                  <p:childTnLst>
                                    <p:set>
                                      <p:cBhvr>
                                        <p:cTn id="48" dur="1" fill="hold">
                                          <p:stCondLst>
                                            <p:cond delay="0"/>
                                          </p:stCondLst>
                                        </p:cTn>
                                        <p:tgtEl>
                                          <p:spTgt spid="7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8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grpId="1" nodeType="clickEffect">
                                  <p:stCondLst>
                                    <p:cond delay="0"/>
                                  </p:stCondLst>
                                  <p:childTnLst>
                                    <p:set>
                                      <p:cBhvr>
                                        <p:cTn id="54" dur="1" fill="hold">
                                          <p:stCondLst>
                                            <p:cond delay="0"/>
                                          </p:stCondLst>
                                        </p:cTn>
                                        <p:tgtEl>
                                          <p:spTgt spid="75"/>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81"/>
                                        </p:tgtEl>
                                        <p:attrNameLst>
                                          <p:attrName>style.visibility</p:attrName>
                                        </p:attrNameLst>
                                      </p:cBhvr>
                                      <p:to>
                                        <p:strVal val="hidden"/>
                                      </p:to>
                                    </p:set>
                                  </p:childTnLst>
                                </p:cTn>
                              </p:par>
                              <p:par>
                                <p:cTn id="57" presetID="1" presetClass="entr" presetSubtype="0" fill="hold" grpId="0" nodeType="withEffect">
                                  <p:stCondLst>
                                    <p:cond delay="0"/>
                                  </p:stCondLst>
                                  <p:childTnLst>
                                    <p:set>
                                      <p:cBhvr>
                                        <p:cTn id="58" dur="1" fill="hold">
                                          <p:stCondLst>
                                            <p:cond delay="0"/>
                                          </p:stCondLst>
                                        </p:cTn>
                                        <p:tgtEl>
                                          <p:spTgt spid="7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grpId="1" nodeType="clickEffect">
                                  <p:stCondLst>
                                    <p:cond delay="0"/>
                                  </p:stCondLst>
                                  <p:childTnLst>
                                    <p:set>
                                      <p:cBhvr>
                                        <p:cTn id="62" dur="1" fill="hold">
                                          <p:stCondLst>
                                            <p:cond delay="0"/>
                                          </p:stCondLst>
                                        </p:cTn>
                                        <p:tgtEl>
                                          <p:spTgt spid="76"/>
                                        </p:tgtEl>
                                        <p:attrNameLst>
                                          <p:attrName>style.visibility</p:attrName>
                                        </p:attrNameLst>
                                      </p:cBhvr>
                                      <p:to>
                                        <p:strVal val="hidden"/>
                                      </p:to>
                                    </p:set>
                                  </p:childTnLst>
                                </p:cTn>
                              </p:par>
                              <p:par>
                                <p:cTn id="63" presetID="1" presetClass="entr" presetSubtype="0" fill="hold" grpId="0" nodeType="withEffect">
                                  <p:stCondLst>
                                    <p:cond delay="0"/>
                                  </p:stCondLst>
                                  <p:childTnLst>
                                    <p:set>
                                      <p:cBhvr>
                                        <p:cTn id="64" dur="1" fill="hold">
                                          <p:stCondLst>
                                            <p:cond delay="0"/>
                                          </p:stCondLst>
                                        </p:cTn>
                                        <p:tgtEl>
                                          <p:spTgt spid="87"/>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8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83"/>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84"/>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animBg="1"/>
      <p:bldP spid="70" grpId="1" animBg="1"/>
      <p:bldP spid="71" grpId="0" animBg="1"/>
      <p:bldP spid="71" grpId="1" animBg="1"/>
      <p:bldP spid="72" grpId="0" animBg="1"/>
      <p:bldP spid="72" grpId="1" animBg="1"/>
      <p:bldP spid="73" grpId="0" animBg="1"/>
      <p:bldP spid="73" grpId="1" animBg="1"/>
      <p:bldP spid="74" grpId="0" animBg="1"/>
      <p:bldP spid="74" grpId="1" animBg="1"/>
      <p:bldP spid="75" grpId="0" animBg="1"/>
      <p:bldP spid="75" grpId="1" animBg="1"/>
      <p:bldP spid="76" grpId="0" animBg="1"/>
      <p:bldP spid="76" grpId="1" animBg="1"/>
      <p:bldP spid="83" grpId="0" animBg="1"/>
      <p:bldP spid="84" grpId="0" animBg="1"/>
      <p:bldP spid="85" grpId="0" animBg="1"/>
      <p:bldP spid="86" grpId="0" animBg="1"/>
      <p:bldP spid="8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val 9"/>
          <p:cNvSpPr/>
          <p:nvPr/>
        </p:nvSpPr>
        <p:spPr>
          <a:xfrm>
            <a:off x="5410200" y="55626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6858000" y="25908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p:cNvSpPr/>
          <p:nvPr/>
        </p:nvSpPr>
        <p:spPr>
          <a:xfrm>
            <a:off x="1143000" y="2971800"/>
            <a:ext cx="914400" cy="914400"/>
          </a:xfrm>
          <a:prstGeom prst="ellipse">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dirty="0" smtClean="0"/>
              <a:t>Example: Shortest Path</a:t>
            </a:r>
            <a:endParaRPr lang="en-US" dirty="0"/>
          </a:p>
        </p:txBody>
      </p:sp>
      <p:pic>
        <p:nvPicPr>
          <p:cNvPr id="4" name="Picture 22"/>
          <p:cNvPicPr>
            <a:picLocks noChangeArrowheads="1"/>
          </p:cNvPicPr>
          <p:nvPr/>
        </p:nvPicPr>
        <p:blipFill>
          <a:blip r:embed="rId4" cstate="print"/>
          <a:srcRect/>
          <a:stretch>
            <a:fillRect/>
          </a:stretch>
        </p:blipFill>
        <p:spPr bwMode="auto">
          <a:xfrm>
            <a:off x="1447800" y="3124200"/>
            <a:ext cx="384048" cy="685800"/>
          </a:xfrm>
          <a:prstGeom prst="rect">
            <a:avLst/>
          </a:prstGeom>
          <a:noFill/>
          <a:ln w="9525">
            <a:noFill/>
            <a:miter lim="800000"/>
            <a:headEnd/>
            <a:tailEnd/>
          </a:ln>
        </p:spPr>
      </p:pic>
      <p:pic>
        <p:nvPicPr>
          <p:cNvPr id="5" name="Picture 22"/>
          <p:cNvPicPr>
            <a:picLocks noChangeArrowheads="1"/>
          </p:cNvPicPr>
          <p:nvPr/>
        </p:nvPicPr>
        <p:blipFill>
          <a:blip r:embed="rId4" cstate="print"/>
          <a:srcRect/>
          <a:stretch>
            <a:fillRect/>
          </a:stretch>
        </p:blipFill>
        <p:spPr bwMode="auto">
          <a:xfrm>
            <a:off x="1435608" y="3108960"/>
            <a:ext cx="384048" cy="685800"/>
          </a:xfrm>
          <a:prstGeom prst="rect">
            <a:avLst/>
          </a:prstGeom>
          <a:noFill/>
          <a:ln w="9525">
            <a:noFill/>
            <a:miter lim="800000"/>
            <a:headEnd/>
            <a:tailEnd/>
          </a:ln>
        </p:spPr>
      </p:pic>
      <p:pic>
        <p:nvPicPr>
          <p:cNvPr id="6" name="Picture 6" descr="C:\Documents and Settings\Temp\Local Settings\Temporary Internet Files\Content.IE5\A22ZQKB8\MC900078627[1].wmf"/>
          <p:cNvPicPr>
            <a:picLocks noChangeAspect="1" noChangeArrowheads="1"/>
          </p:cNvPicPr>
          <p:nvPr/>
        </p:nvPicPr>
        <p:blipFill>
          <a:blip r:embed="rId5" cstate="print"/>
          <a:srcRect l="45534"/>
          <a:stretch>
            <a:fillRect/>
          </a:stretch>
        </p:blipFill>
        <p:spPr bwMode="auto">
          <a:xfrm>
            <a:off x="2959100" y="5239066"/>
            <a:ext cx="381000" cy="687072"/>
          </a:xfrm>
          <a:prstGeom prst="rect">
            <a:avLst/>
          </a:prstGeom>
          <a:noFill/>
        </p:spPr>
      </p:pic>
      <p:sp>
        <p:nvSpPr>
          <p:cNvPr id="7" name="Oval 6"/>
          <p:cNvSpPr/>
          <p:nvPr/>
        </p:nvSpPr>
        <p:spPr>
          <a:xfrm>
            <a:off x="2667000" y="51054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1143000" y="29718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6" descr="C:\Documents and Settings\Temp\Local Settings\Temporary Internet Files\Content.IE5\A22ZQKB8\MC900078627[1].wmf"/>
          <p:cNvPicPr>
            <a:picLocks noChangeAspect="1" noChangeArrowheads="1"/>
          </p:cNvPicPr>
          <p:nvPr/>
        </p:nvPicPr>
        <p:blipFill>
          <a:blip r:embed="rId5" cstate="print"/>
          <a:srcRect l="45534"/>
          <a:stretch>
            <a:fillRect/>
          </a:stretch>
        </p:blipFill>
        <p:spPr bwMode="auto">
          <a:xfrm>
            <a:off x="5702300" y="5696266"/>
            <a:ext cx="381000" cy="687072"/>
          </a:xfrm>
          <a:prstGeom prst="rect">
            <a:avLst/>
          </a:prstGeom>
          <a:noFill/>
        </p:spPr>
      </p:pic>
      <p:pic>
        <p:nvPicPr>
          <p:cNvPr id="11" name="Picture 6" descr="C:\Documents and Settings\Temp\Local Settings\Temporary Internet Files\Content.IE5\A22ZQKB8\MC900078627[1].wmf"/>
          <p:cNvPicPr>
            <a:picLocks noChangeAspect="1" noChangeArrowheads="1"/>
          </p:cNvPicPr>
          <p:nvPr/>
        </p:nvPicPr>
        <p:blipFill>
          <a:blip r:embed="rId5" cstate="print"/>
          <a:srcRect l="45534"/>
          <a:stretch>
            <a:fillRect/>
          </a:stretch>
        </p:blipFill>
        <p:spPr bwMode="auto">
          <a:xfrm>
            <a:off x="7150100" y="2724466"/>
            <a:ext cx="381000" cy="687072"/>
          </a:xfrm>
          <a:prstGeom prst="rect">
            <a:avLst/>
          </a:prstGeom>
          <a:noFill/>
        </p:spPr>
      </p:pic>
      <p:pic>
        <p:nvPicPr>
          <p:cNvPr id="13" name="Picture 6" descr="C:\Documents and Settings\Temp\Local Settings\Temporary Internet Files\Content.IE5\A22ZQKB8\MC900078627[1].wmf"/>
          <p:cNvPicPr>
            <a:picLocks noChangeAspect="1" noChangeArrowheads="1"/>
          </p:cNvPicPr>
          <p:nvPr/>
        </p:nvPicPr>
        <p:blipFill>
          <a:blip r:embed="rId5" cstate="print"/>
          <a:srcRect l="45534"/>
          <a:stretch>
            <a:fillRect/>
          </a:stretch>
        </p:blipFill>
        <p:spPr bwMode="auto">
          <a:xfrm>
            <a:off x="4483100" y="2267266"/>
            <a:ext cx="381000" cy="687072"/>
          </a:xfrm>
          <a:prstGeom prst="rect">
            <a:avLst/>
          </a:prstGeom>
          <a:noFill/>
        </p:spPr>
      </p:pic>
      <p:sp>
        <p:nvSpPr>
          <p:cNvPr id="14" name="Oval 13"/>
          <p:cNvSpPr/>
          <p:nvPr/>
        </p:nvSpPr>
        <p:spPr>
          <a:xfrm>
            <a:off x="4191000" y="21336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p:cNvCxnSpPr/>
          <p:nvPr/>
        </p:nvCxnSpPr>
        <p:spPr>
          <a:xfrm flipV="1">
            <a:off x="2133600" y="2743200"/>
            <a:ext cx="1905000" cy="5334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rot="5400000" flipH="1" flipV="1">
            <a:off x="2857500" y="3695700"/>
            <a:ext cx="1981200" cy="8382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2209800" y="3429000"/>
            <a:ext cx="3200400" cy="21336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5257800" y="2667000"/>
            <a:ext cx="1371600" cy="3048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rot="5400000" flipH="1" flipV="1">
            <a:off x="5753100" y="4152900"/>
            <a:ext cx="1828800" cy="8382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rot="16200000" flipV="1">
            <a:off x="4152900" y="3848100"/>
            <a:ext cx="2362200" cy="762000"/>
          </a:xfrm>
          <a:prstGeom prst="straightConnector1">
            <a:avLst/>
          </a:prstGeom>
          <a:ln w="15875">
            <a:solidFill>
              <a:srgbClr val="FF000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rot="5400000">
            <a:off x="2705100" y="3619500"/>
            <a:ext cx="1981200" cy="838200"/>
          </a:xfrm>
          <a:prstGeom prst="straightConnector1">
            <a:avLst/>
          </a:prstGeom>
          <a:ln w="15875">
            <a:solidFill>
              <a:srgbClr val="FF000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V="1">
            <a:off x="2133600" y="2743200"/>
            <a:ext cx="1905000" cy="5334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rot="5400000" flipH="1" flipV="1">
            <a:off x="2857500" y="3695700"/>
            <a:ext cx="1981200" cy="8382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2209800" y="3429000"/>
            <a:ext cx="3200400" cy="21336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5257800" y="2667000"/>
            <a:ext cx="1371600" cy="3048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rot="5400000" flipH="1" flipV="1">
            <a:off x="5753100" y="4152900"/>
            <a:ext cx="1828800" cy="8382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rot="16200000" flipV="1">
            <a:off x="4152900" y="3848100"/>
            <a:ext cx="2362200" cy="7620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rot="5400000">
            <a:off x="2705100" y="3619500"/>
            <a:ext cx="1981200" cy="8382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rot="16200000" flipH="1">
            <a:off x="1562101" y="4000500"/>
            <a:ext cx="1295400" cy="10668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rot="16200000" flipH="1">
            <a:off x="1562101" y="4000500"/>
            <a:ext cx="1295400" cy="1066800"/>
          </a:xfrm>
          <a:prstGeom prst="straightConnector1">
            <a:avLst/>
          </a:prstGeom>
          <a:ln w="44450">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1524000" y="2590800"/>
            <a:ext cx="237566" cy="369332"/>
          </a:xfrm>
          <a:prstGeom prst="rect">
            <a:avLst/>
          </a:prstGeom>
          <a:noFill/>
        </p:spPr>
        <p:txBody>
          <a:bodyPr wrap="none" rtlCol="0">
            <a:spAutoFit/>
          </a:bodyPr>
          <a:lstStyle/>
          <a:p>
            <a:r>
              <a:rPr lang="en-US" dirty="0" err="1" smtClean="0"/>
              <a:t>i</a:t>
            </a:r>
            <a:endParaRPr lang="en-US" dirty="0"/>
          </a:p>
        </p:txBody>
      </p:sp>
      <p:sp>
        <p:nvSpPr>
          <p:cNvPr id="48" name="Oval 47"/>
          <p:cNvSpPr/>
          <p:nvPr/>
        </p:nvSpPr>
        <p:spPr>
          <a:xfrm>
            <a:off x="2667000" y="5105400"/>
            <a:ext cx="914400" cy="914400"/>
          </a:xfrm>
          <a:prstGeom prst="ellipse">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p:cNvSpPr txBox="1"/>
          <p:nvPr/>
        </p:nvSpPr>
        <p:spPr>
          <a:xfrm>
            <a:off x="3048000" y="4724400"/>
            <a:ext cx="228600" cy="369332"/>
          </a:xfrm>
          <a:prstGeom prst="rect">
            <a:avLst/>
          </a:prstGeom>
          <a:noFill/>
        </p:spPr>
        <p:txBody>
          <a:bodyPr wrap="square" rtlCol="0">
            <a:spAutoFit/>
          </a:bodyPr>
          <a:lstStyle/>
          <a:p>
            <a:r>
              <a:rPr lang="en-US" dirty="0" err="1" smtClean="0"/>
              <a:t>j</a:t>
            </a:r>
            <a:endParaRPr lang="en-US" dirty="0"/>
          </a:p>
        </p:txBody>
      </p:sp>
      <p:cxnSp>
        <p:nvCxnSpPr>
          <p:cNvPr id="44" name="Straight Arrow Connector 43"/>
          <p:cNvCxnSpPr/>
          <p:nvPr/>
        </p:nvCxnSpPr>
        <p:spPr>
          <a:xfrm rot="10800000" flipV="1">
            <a:off x="2057400" y="2514600"/>
            <a:ext cx="1905000" cy="5334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transition advTm="100095"/>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6"/>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7"/>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8"/>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9"/>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4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7"/>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8"/>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9"/>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46" grpId="0" animBg="1"/>
      <p:bldP spid="7" grpId="0" animBg="1"/>
      <p:bldP spid="8" grpId="0" animBg="1"/>
      <p:bldP spid="14" grpId="0" animBg="1"/>
      <p:bldP spid="47" grpId="0"/>
      <p:bldP spid="48" grpId="0" animBg="1"/>
      <p:bldP spid="4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val 9"/>
          <p:cNvSpPr/>
          <p:nvPr/>
        </p:nvSpPr>
        <p:spPr>
          <a:xfrm>
            <a:off x="5410200" y="55626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6858000" y="25908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p:cNvSpPr/>
          <p:nvPr/>
        </p:nvSpPr>
        <p:spPr>
          <a:xfrm>
            <a:off x="1143000" y="2971800"/>
            <a:ext cx="914400" cy="914400"/>
          </a:xfrm>
          <a:prstGeom prst="ellipse">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dirty="0" smtClean="0"/>
              <a:t>Example: </a:t>
            </a:r>
            <a:r>
              <a:rPr lang="en-US" dirty="0" err="1" smtClean="0"/>
              <a:t>Maxflow</a:t>
            </a:r>
            <a:endParaRPr lang="en-US" dirty="0"/>
          </a:p>
        </p:txBody>
      </p:sp>
      <p:pic>
        <p:nvPicPr>
          <p:cNvPr id="4" name="Picture 22"/>
          <p:cNvPicPr>
            <a:picLocks noChangeArrowheads="1"/>
          </p:cNvPicPr>
          <p:nvPr/>
        </p:nvPicPr>
        <p:blipFill>
          <a:blip r:embed="rId3" cstate="print"/>
          <a:srcRect/>
          <a:stretch>
            <a:fillRect/>
          </a:stretch>
        </p:blipFill>
        <p:spPr bwMode="auto">
          <a:xfrm>
            <a:off x="1447800" y="3124200"/>
            <a:ext cx="384048" cy="685800"/>
          </a:xfrm>
          <a:prstGeom prst="rect">
            <a:avLst/>
          </a:prstGeom>
          <a:noFill/>
          <a:ln w="9525">
            <a:noFill/>
            <a:miter lim="800000"/>
            <a:headEnd/>
            <a:tailEnd/>
          </a:ln>
        </p:spPr>
      </p:pic>
      <p:pic>
        <p:nvPicPr>
          <p:cNvPr id="5" name="Picture 22"/>
          <p:cNvPicPr>
            <a:picLocks noChangeArrowheads="1"/>
          </p:cNvPicPr>
          <p:nvPr/>
        </p:nvPicPr>
        <p:blipFill>
          <a:blip r:embed="rId3" cstate="print"/>
          <a:srcRect/>
          <a:stretch>
            <a:fillRect/>
          </a:stretch>
        </p:blipFill>
        <p:spPr bwMode="auto">
          <a:xfrm>
            <a:off x="1435608" y="3108960"/>
            <a:ext cx="384048" cy="685800"/>
          </a:xfrm>
          <a:prstGeom prst="rect">
            <a:avLst/>
          </a:prstGeom>
          <a:noFill/>
          <a:ln w="9525">
            <a:noFill/>
            <a:miter lim="800000"/>
            <a:headEnd/>
            <a:tailEnd/>
          </a:ln>
        </p:spPr>
      </p:pic>
      <p:pic>
        <p:nvPicPr>
          <p:cNvPr id="6" name="Picture 6" descr="C:\Documents and Settings\Temp\Local Settings\Temporary Internet Files\Content.IE5\A22ZQKB8\MC900078627[1].wmf"/>
          <p:cNvPicPr>
            <a:picLocks noChangeAspect="1" noChangeArrowheads="1"/>
          </p:cNvPicPr>
          <p:nvPr/>
        </p:nvPicPr>
        <p:blipFill>
          <a:blip r:embed="rId4" cstate="print"/>
          <a:srcRect l="45534"/>
          <a:stretch>
            <a:fillRect/>
          </a:stretch>
        </p:blipFill>
        <p:spPr bwMode="auto">
          <a:xfrm>
            <a:off x="2959100" y="5239066"/>
            <a:ext cx="381000" cy="687072"/>
          </a:xfrm>
          <a:prstGeom prst="rect">
            <a:avLst/>
          </a:prstGeom>
          <a:noFill/>
        </p:spPr>
      </p:pic>
      <p:sp>
        <p:nvSpPr>
          <p:cNvPr id="7" name="Oval 6"/>
          <p:cNvSpPr/>
          <p:nvPr/>
        </p:nvSpPr>
        <p:spPr>
          <a:xfrm>
            <a:off x="2667000" y="51054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1143000" y="29718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6" descr="C:\Documents and Settings\Temp\Local Settings\Temporary Internet Files\Content.IE5\A22ZQKB8\MC900078627[1].wmf"/>
          <p:cNvPicPr>
            <a:picLocks noChangeAspect="1" noChangeArrowheads="1"/>
          </p:cNvPicPr>
          <p:nvPr/>
        </p:nvPicPr>
        <p:blipFill>
          <a:blip r:embed="rId4" cstate="print"/>
          <a:srcRect l="45534"/>
          <a:stretch>
            <a:fillRect/>
          </a:stretch>
        </p:blipFill>
        <p:spPr bwMode="auto">
          <a:xfrm>
            <a:off x="5702300" y="5696266"/>
            <a:ext cx="381000" cy="687072"/>
          </a:xfrm>
          <a:prstGeom prst="rect">
            <a:avLst/>
          </a:prstGeom>
          <a:noFill/>
        </p:spPr>
      </p:pic>
      <p:pic>
        <p:nvPicPr>
          <p:cNvPr id="11" name="Picture 6" descr="C:\Documents and Settings\Temp\Local Settings\Temporary Internet Files\Content.IE5\A22ZQKB8\MC900078627[1].wmf"/>
          <p:cNvPicPr>
            <a:picLocks noChangeAspect="1" noChangeArrowheads="1"/>
          </p:cNvPicPr>
          <p:nvPr/>
        </p:nvPicPr>
        <p:blipFill>
          <a:blip r:embed="rId4" cstate="print"/>
          <a:srcRect l="45534"/>
          <a:stretch>
            <a:fillRect/>
          </a:stretch>
        </p:blipFill>
        <p:spPr bwMode="auto">
          <a:xfrm>
            <a:off x="7150100" y="2724466"/>
            <a:ext cx="381000" cy="687072"/>
          </a:xfrm>
          <a:prstGeom prst="rect">
            <a:avLst/>
          </a:prstGeom>
          <a:noFill/>
        </p:spPr>
      </p:pic>
      <p:pic>
        <p:nvPicPr>
          <p:cNvPr id="13" name="Picture 6" descr="C:\Documents and Settings\Temp\Local Settings\Temporary Internet Files\Content.IE5\A22ZQKB8\MC900078627[1].wmf"/>
          <p:cNvPicPr>
            <a:picLocks noChangeAspect="1" noChangeArrowheads="1"/>
          </p:cNvPicPr>
          <p:nvPr/>
        </p:nvPicPr>
        <p:blipFill>
          <a:blip r:embed="rId4" cstate="print"/>
          <a:srcRect l="45534"/>
          <a:stretch>
            <a:fillRect/>
          </a:stretch>
        </p:blipFill>
        <p:spPr bwMode="auto">
          <a:xfrm>
            <a:off x="4483100" y="2267266"/>
            <a:ext cx="381000" cy="687072"/>
          </a:xfrm>
          <a:prstGeom prst="rect">
            <a:avLst/>
          </a:prstGeom>
          <a:noFill/>
        </p:spPr>
      </p:pic>
      <p:sp>
        <p:nvSpPr>
          <p:cNvPr id="14" name="Oval 13"/>
          <p:cNvSpPr/>
          <p:nvPr/>
        </p:nvSpPr>
        <p:spPr>
          <a:xfrm>
            <a:off x="4191000" y="21336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p:cNvCxnSpPr/>
          <p:nvPr/>
        </p:nvCxnSpPr>
        <p:spPr>
          <a:xfrm flipV="1">
            <a:off x="2133600" y="2743200"/>
            <a:ext cx="1905000" cy="5334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rot="5400000" flipH="1" flipV="1">
            <a:off x="2857500" y="3695700"/>
            <a:ext cx="1981200" cy="8382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2209800" y="3429000"/>
            <a:ext cx="3200400" cy="21336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5257800" y="2667000"/>
            <a:ext cx="1371600" cy="3048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rot="5400000" flipH="1" flipV="1">
            <a:off x="5753100" y="4152900"/>
            <a:ext cx="1828800" cy="8382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rot="16200000" flipV="1">
            <a:off x="4152900" y="3848100"/>
            <a:ext cx="2362200" cy="762000"/>
          </a:xfrm>
          <a:prstGeom prst="straightConnector1">
            <a:avLst/>
          </a:prstGeom>
          <a:ln w="15875">
            <a:solidFill>
              <a:srgbClr val="FF000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rot="5400000">
            <a:off x="2705100" y="3619500"/>
            <a:ext cx="1981200" cy="838200"/>
          </a:xfrm>
          <a:prstGeom prst="straightConnector1">
            <a:avLst/>
          </a:prstGeom>
          <a:ln w="15875">
            <a:solidFill>
              <a:srgbClr val="FF000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V="1">
            <a:off x="2133600" y="2743200"/>
            <a:ext cx="1905000" cy="5334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rot="5400000" flipH="1" flipV="1">
            <a:off x="2857500" y="3695700"/>
            <a:ext cx="1981200" cy="8382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2209800" y="3429000"/>
            <a:ext cx="3200400" cy="21336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5257800" y="2667000"/>
            <a:ext cx="1371600" cy="3048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rot="5400000" flipH="1" flipV="1">
            <a:off x="5753100" y="4152900"/>
            <a:ext cx="1828800" cy="8382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rot="16200000" flipV="1">
            <a:off x="4152900" y="3848100"/>
            <a:ext cx="2362200" cy="7620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rot="5400000">
            <a:off x="2705100" y="3619500"/>
            <a:ext cx="1981200" cy="8382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rot="16200000" flipH="1">
            <a:off x="1562101" y="4000500"/>
            <a:ext cx="1295400" cy="10668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flipV="1">
            <a:off x="2133600" y="2743200"/>
            <a:ext cx="1905000" cy="533400"/>
          </a:xfrm>
          <a:prstGeom prst="straightConnector1">
            <a:avLst/>
          </a:prstGeom>
          <a:ln w="44450">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rot="16200000" flipH="1">
            <a:off x="1562101" y="4000500"/>
            <a:ext cx="1295400" cy="1066800"/>
          </a:xfrm>
          <a:prstGeom prst="straightConnector1">
            <a:avLst/>
          </a:prstGeom>
          <a:ln w="44450">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1524000" y="2590800"/>
            <a:ext cx="237566" cy="369332"/>
          </a:xfrm>
          <a:prstGeom prst="rect">
            <a:avLst/>
          </a:prstGeom>
          <a:noFill/>
        </p:spPr>
        <p:txBody>
          <a:bodyPr wrap="none" rtlCol="0">
            <a:spAutoFit/>
          </a:bodyPr>
          <a:lstStyle/>
          <a:p>
            <a:r>
              <a:rPr lang="en-US" dirty="0" err="1" smtClean="0"/>
              <a:t>i</a:t>
            </a:r>
            <a:endParaRPr lang="en-US" dirty="0"/>
          </a:p>
        </p:txBody>
      </p:sp>
      <p:sp>
        <p:nvSpPr>
          <p:cNvPr id="48" name="Oval 47"/>
          <p:cNvSpPr/>
          <p:nvPr/>
        </p:nvSpPr>
        <p:spPr>
          <a:xfrm>
            <a:off x="2667000" y="5105400"/>
            <a:ext cx="914400" cy="914400"/>
          </a:xfrm>
          <a:prstGeom prst="ellipse">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p:cNvSpPr txBox="1"/>
          <p:nvPr/>
        </p:nvSpPr>
        <p:spPr>
          <a:xfrm>
            <a:off x="3048000" y="4724400"/>
            <a:ext cx="228600" cy="369332"/>
          </a:xfrm>
          <a:prstGeom prst="rect">
            <a:avLst/>
          </a:prstGeom>
          <a:noFill/>
        </p:spPr>
        <p:txBody>
          <a:bodyPr wrap="square" rtlCol="0">
            <a:spAutoFit/>
          </a:bodyPr>
          <a:lstStyle/>
          <a:p>
            <a:r>
              <a:rPr lang="en-US" dirty="0" err="1" smtClean="0"/>
              <a:t>j</a:t>
            </a:r>
            <a:endParaRPr lang="en-US" dirty="0"/>
          </a:p>
        </p:txBody>
      </p:sp>
      <p:cxnSp>
        <p:nvCxnSpPr>
          <p:cNvPr id="53" name="Straight Arrow Connector 52"/>
          <p:cNvCxnSpPr/>
          <p:nvPr/>
        </p:nvCxnSpPr>
        <p:spPr>
          <a:xfrm rot="5400000">
            <a:off x="2705100" y="3619500"/>
            <a:ext cx="1981200" cy="838200"/>
          </a:xfrm>
          <a:prstGeom prst="straightConnector1">
            <a:avLst/>
          </a:prstGeom>
          <a:ln w="44450">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rot="10800000" flipV="1">
            <a:off x="2057400" y="2514600"/>
            <a:ext cx="1905000" cy="5334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spTree>
  </p:cSld>
  <p:clrMapOvr>
    <a:masterClrMapping/>
  </p:clrMapOvr>
  <p:transition advTm="100095"/>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val 9"/>
          <p:cNvSpPr/>
          <p:nvPr/>
        </p:nvSpPr>
        <p:spPr>
          <a:xfrm>
            <a:off x="5410200" y="55626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6858000" y="25908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p:cNvSpPr/>
          <p:nvPr/>
        </p:nvSpPr>
        <p:spPr>
          <a:xfrm>
            <a:off x="1143000" y="2971800"/>
            <a:ext cx="914400" cy="914400"/>
          </a:xfrm>
          <a:prstGeom prst="ellipse">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dirty="0" smtClean="0"/>
              <a:t>Example: Hitting Time</a:t>
            </a:r>
            <a:endParaRPr lang="en-US" dirty="0"/>
          </a:p>
        </p:txBody>
      </p:sp>
      <p:pic>
        <p:nvPicPr>
          <p:cNvPr id="4" name="Picture 22"/>
          <p:cNvPicPr>
            <a:picLocks noChangeArrowheads="1"/>
          </p:cNvPicPr>
          <p:nvPr/>
        </p:nvPicPr>
        <p:blipFill>
          <a:blip r:embed="rId3" cstate="print"/>
          <a:srcRect/>
          <a:stretch>
            <a:fillRect/>
          </a:stretch>
        </p:blipFill>
        <p:spPr bwMode="auto">
          <a:xfrm>
            <a:off x="1447800" y="3124200"/>
            <a:ext cx="384048" cy="685800"/>
          </a:xfrm>
          <a:prstGeom prst="rect">
            <a:avLst/>
          </a:prstGeom>
          <a:noFill/>
          <a:ln w="9525">
            <a:noFill/>
            <a:miter lim="800000"/>
            <a:headEnd/>
            <a:tailEnd/>
          </a:ln>
        </p:spPr>
      </p:pic>
      <p:pic>
        <p:nvPicPr>
          <p:cNvPr id="5" name="Picture 22"/>
          <p:cNvPicPr>
            <a:picLocks noChangeArrowheads="1"/>
          </p:cNvPicPr>
          <p:nvPr/>
        </p:nvPicPr>
        <p:blipFill>
          <a:blip r:embed="rId3" cstate="print"/>
          <a:srcRect/>
          <a:stretch>
            <a:fillRect/>
          </a:stretch>
        </p:blipFill>
        <p:spPr bwMode="auto">
          <a:xfrm>
            <a:off x="1435608" y="3108960"/>
            <a:ext cx="384048" cy="685800"/>
          </a:xfrm>
          <a:prstGeom prst="rect">
            <a:avLst/>
          </a:prstGeom>
          <a:noFill/>
          <a:ln w="9525">
            <a:noFill/>
            <a:miter lim="800000"/>
            <a:headEnd/>
            <a:tailEnd/>
          </a:ln>
        </p:spPr>
      </p:pic>
      <p:pic>
        <p:nvPicPr>
          <p:cNvPr id="6" name="Picture 6" descr="C:\Documents and Settings\Temp\Local Settings\Temporary Internet Files\Content.IE5\A22ZQKB8\MC900078627[1].wmf"/>
          <p:cNvPicPr>
            <a:picLocks noChangeAspect="1" noChangeArrowheads="1"/>
          </p:cNvPicPr>
          <p:nvPr/>
        </p:nvPicPr>
        <p:blipFill>
          <a:blip r:embed="rId4" cstate="print"/>
          <a:srcRect l="45534"/>
          <a:stretch>
            <a:fillRect/>
          </a:stretch>
        </p:blipFill>
        <p:spPr bwMode="auto">
          <a:xfrm>
            <a:off x="2959100" y="5239066"/>
            <a:ext cx="381000" cy="687072"/>
          </a:xfrm>
          <a:prstGeom prst="rect">
            <a:avLst/>
          </a:prstGeom>
          <a:noFill/>
        </p:spPr>
      </p:pic>
      <p:sp>
        <p:nvSpPr>
          <p:cNvPr id="7" name="Oval 6"/>
          <p:cNvSpPr/>
          <p:nvPr/>
        </p:nvSpPr>
        <p:spPr>
          <a:xfrm>
            <a:off x="2667000" y="51054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1143000" y="29718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6" descr="C:\Documents and Settings\Temp\Local Settings\Temporary Internet Files\Content.IE5\A22ZQKB8\MC900078627[1].wmf"/>
          <p:cNvPicPr>
            <a:picLocks noChangeAspect="1" noChangeArrowheads="1"/>
          </p:cNvPicPr>
          <p:nvPr/>
        </p:nvPicPr>
        <p:blipFill>
          <a:blip r:embed="rId4" cstate="print"/>
          <a:srcRect l="45534"/>
          <a:stretch>
            <a:fillRect/>
          </a:stretch>
        </p:blipFill>
        <p:spPr bwMode="auto">
          <a:xfrm>
            <a:off x="5702300" y="5696266"/>
            <a:ext cx="381000" cy="687072"/>
          </a:xfrm>
          <a:prstGeom prst="rect">
            <a:avLst/>
          </a:prstGeom>
          <a:noFill/>
        </p:spPr>
      </p:pic>
      <p:pic>
        <p:nvPicPr>
          <p:cNvPr id="11" name="Picture 6" descr="C:\Documents and Settings\Temp\Local Settings\Temporary Internet Files\Content.IE5\A22ZQKB8\MC900078627[1].wmf"/>
          <p:cNvPicPr>
            <a:picLocks noChangeAspect="1" noChangeArrowheads="1"/>
          </p:cNvPicPr>
          <p:nvPr/>
        </p:nvPicPr>
        <p:blipFill>
          <a:blip r:embed="rId4" cstate="print"/>
          <a:srcRect l="45534"/>
          <a:stretch>
            <a:fillRect/>
          </a:stretch>
        </p:blipFill>
        <p:spPr bwMode="auto">
          <a:xfrm>
            <a:off x="7150100" y="2724466"/>
            <a:ext cx="381000" cy="687072"/>
          </a:xfrm>
          <a:prstGeom prst="rect">
            <a:avLst/>
          </a:prstGeom>
          <a:noFill/>
        </p:spPr>
      </p:pic>
      <p:pic>
        <p:nvPicPr>
          <p:cNvPr id="13" name="Picture 6" descr="C:\Documents and Settings\Temp\Local Settings\Temporary Internet Files\Content.IE5\A22ZQKB8\MC900078627[1].wmf"/>
          <p:cNvPicPr>
            <a:picLocks noChangeAspect="1" noChangeArrowheads="1"/>
          </p:cNvPicPr>
          <p:nvPr/>
        </p:nvPicPr>
        <p:blipFill>
          <a:blip r:embed="rId4" cstate="print"/>
          <a:srcRect l="45534"/>
          <a:stretch>
            <a:fillRect/>
          </a:stretch>
        </p:blipFill>
        <p:spPr bwMode="auto">
          <a:xfrm>
            <a:off x="4483100" y="2267266"/>
            <a:ext cx="381000" cy="687072"/>
          </a:xfrm>
          <a:prstGeom prst="rect">
            <a:avLst/>
          </a:prstGeom>
          <a:noFill/>
        </p:spPr>
      </p:pic>
      <p:sp>
        <p:nvSpPr>
          <p:cNvPr id="14" name="Oval 13"/>
          <p:cNvSpPr/>
          <p:nvPr/>
        </p:nvSpPr>
        <p:spPr>
          <a:xfrm>
            <a:off x="4191000" y="21336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p:cNvCxnSpPr/>
          <p:nvPr/>
        </p:nvCxnSpPr>
        <p:spPr>
          <a:xfrm flipV="1">
            <a:off x="2133600" y="2743200"/>
            <a:ext cx="1905000" cy="5334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rot="5400000" flipH="1" flipV="1">
            <a:off x="2857500" y="3695700"/>
            <a:ext cx="1981200" cy="8382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2209800" y="3429000"/>
            <a:ext cx="3200400" cy="21336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5257800" y="2667000"/>
            <a:ext cx="1371600" cy="3048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rot="5400000" flipH="1" flipV="1">
            <a:off x="5753100" y="4152900"/>
            <a:ext cx="1828800" cy="8382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rot="16200000" flipV="1">
            <a:off x="4152900" y="3848100"/>
            <a:ext cx="2362200" cy="762000"/>
          </a:xfrm>
          <a:prstGeom prst="straightConnector1">
            <a:avLst/>
          </a:prstGeom>
          <a:ln w="15875">
            <a:solidFill>
              <a:srgbClr val="FF000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rot="5400000">
            <a:off x="2705100" y="3619500"/>
            <a:ext cx="1981200" cy="838200"/>
          </a:xfrm>
          <a:prstGeom prst="straightConnector1">
            <a:avLst/>
          </a:prstGeom>
          <a:ln w="15875">
            <a:solidFill>
              <a:srgbClr val="FF000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V="1">
            <a:off x="2133600" y="2743200"/>
            <a:ext cx="1905000" cy="5334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rot="5400000" flipH="1" flipV="1">
            <a:off x="2857500" y="3695700"/>
            <a:ext cx="1981200" cy="8382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2209800" y="3429000"/>
            <a:ext cx="3200400" cy="21336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5257800" y="2667000"/>
            <a:ext cx="1371600" cy="3048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rot="5400000" flipH="1" flipV="1">
            <a:off x="5753100" y="4152900"/>
            <a:ext cx="1828800" cy="8382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rot="16200000" flipV="1">
            <a:off x="4152900" y="3848100"/>
            <a:ext cx="2362200" cy="7620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rot="5400000">
            <a:off x="2705100" y="3619500"/>
            <a:ext cx="1981200" cy="8382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rot="16200000" flipH="1">
            <a:off x="1562101" y="4000500"/>
            <a:ext cx="1295400" cy="10668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flipV="1">
            <a:off x="2133600" y="2743200"/>
            <a:ext cx="1905000" cy="533400"/>
          </a:xfrm>
          <a:prstGeom prst="straightConnector1">
            <a:avLst/>
          </a:prstGeom>
          <a:ln w="44450">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a:off x="5257800" y="2667000"/>
            <a:ext cx="1371600" cy="304800"/>
          </a:xfrm>
          <a:prstGeom prst="straightConnector1">
            <a:avLst/>
          </a:prstGeom>
          <a:ln w="44450">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rot="16200000" flipH="1">
            <a:off x="1562101" y="4000500"/>
            <a:ext cx="1295400" cy="1066800"/>
          </a:xfrm>
          <a:prstGeom prst="straightConnector1">
            <a:avLst/>
          </a:prstGeom>
          <a:ln w="44450">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1524000" y="2590800"/>
            <a:ext cx="237566" cy="369332"/>
          </a:xfrm>
          <a:prstGeom prst="rect">
            <a:avLst/>
          </a:prstGeom>
          <a:noFill/>
        </p:spPr>
        <p:txBody>
          <a:bodyPr wrap="none" rtlCol="0">
            <a:spAutoFit/>
          </a:bodyPr>
          <a:lstStyle/>
          <a:p>
            <a:r>
              <a:rPr lang="en-US" dirty="0" err="1" smtClean="0"/>
              <a:t>i</a:t>
            </a:r>
            <a:endParaRPr lang="en-US" dirty="0"/>
          </a:p>
        </p:txBody>
      </p:sp>
      <p:sp>
        <p:nvSpPr>
          <p:cNvPr id="48" name="Oval 47"/>
          <p:cNvSpPr/>
          <p:nvPr/>
        </p:nvSpPr>
        <p:spPr>
          <a:xfrm>
            <a:off x="2667000" y="5105400"/>
            <a:ext cx="914400" cy="914400"/>
          </a:xfrm>
          <a:prstGeom prst="ellipse">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p:cNvSpPr txBox="1"/>
          <p:nvPr/>
        </p:nvSpPr>
        <p:spPr>
          <a:xfrm>
            <a:off x="3048000" y="4724400"/>
            <a:ext cx="228600" cy="369332"/>
          </a:xfrm>
          <a:prstGeom prst="rect">
            <a:avLst/>
          </a:prstGeom>
          <a:noFill/>
        </p:spPr>
        <p:txBody>
          <a:bodyPr wrap="square" rtlCol="0">
            <a:spAutoFit/>
          </a:bodyPr>
          <a:lstStyle/>
          <a:p>
            <a:r>
              <a:rPr lang="en-US" dirty="0" err="1" smtClean="0"/>
              <a:t>j</a:t>
            </a:r>
            <a:endParaRPr lang="en-US" dirty="0"/>
          </a:p>
        </p:txBody>
      </p:sp>
      <p:cxnSp>
        <p:nvCxnSpPr>
          <p:cNvPr id="50" name="Straight Arrow Connector 49"/>
          <p:cNvCxnSpPr/>
          <p:nvPr/>
        </p:nvCxnSpPr>
        <p:spPr>
          <a:xfrm>
            <a:off x="2209800" y="3429000"/>
            <a:ext cx="3200400" cy="2133600"/>
          </a:xfrm>
          <a:prstGeom prst="straightConnector1">
            <a:avLst/>
          </a:prstGeom>
          <a:ln w="44450">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a:xfrm rot="5400000">
            <a:off x="2705100" y="3619500"/>
            <a:ext cx="1981200" cy="838200"/>
          </a:xfrm>
          <a:prstGeom prst="straightConnector1">
            <a:avLst/>
          </a:prstGeom>
          <a:ln w="44450">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p:nvPr/>
        </p:nvCxnSpPr>
        <p:spPr>
          <a:xfrm rot="16200000" flipV="1">
            <a:off x="4152900" y="3848100"/>
            <a:ext cx="2362200" cy="762000"/>
          </a:xfrm>
          <a:prstGeom prst="straightConnector1">
            <a:avLst/>
          </a:prstGeom>
          <a:ln w="44450">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a:xfrm rot="5400000" flipH="1" flipV="1">
            <a:off x="5753100" y="4152900"/>
            <a:ext cx="1828800" cy="838200"/>
          </a:xfrm>
          <a:prstGeom prst="straightConnector1">
            <a:avLst/>
          </a:prstGeom>
          <a:ln w="44450">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rot="10800000" flipV="1">
            <a:off x="2057400" y="2514600"/>
            <a:ext cx="1905000" cy="5334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rot="10800000" flipV="1">
            <a:off x="2057400" y="2514600"/>
            <a:ext cx="1905000" cy="533400"/>
          </a:xfrm>
          <a:prstGeom prst="straightConnector1">
            <a:avLst/>
          </a:prstGeom>
          <a:ln w="44450">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spTree>
  </p:cSld>
  <p:clrMapOvr>
    <a:masterClrMapping/>
  </p:clrMapOvr>
  <p:transition advTm="100095"/>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2"/>
          <p:cNvPicPr>
            <a:picLocks noChangeArrowheads="1"/>
          </p:cNvPicPr>
          <p:nvPr/>
        </p:nvPicPr>
        <p:blipFill>
          <a:blip r:embed="rId3" cstate="print"/>
          <a:srcRect/>
          <a:stretch>
            <a:fillRect/>
          </a:stretch>
        </p:blipFill>
        <p:spPr bwMode="auto">
          <a:xfrm>
            <a:off x="1447800" y="3124200"/>
            <a:ext cx="384048" cy="685800"/>
          </a:xfrm>
          <a:prstGeom prst="rect">
            <a:avLst/>
          </a:prstGeom>
          <a:noFill/>
          <a:ln w="9525">
            <a:noFill/>
            <a:miter lim="800000"/>
            <a:headEnd/>
            <a:tailEnd/>
          </a:ln>
        </p:spPr>
      </p:pic>
      <p:pic>
        <p:nvPicPr>
          <p:cNvPr id="5" name="Picture 22"/>
          <p:cNvPicPr>
            <a:picLocks noChangeArrowheads="1"/>
          </p:cNvPicPr>
          <p:nvPr/>
        </p:nvPicPr>
        <p:blipFill>
          <a:blip r:embed="rId3" cstate="print"/>
          <a:srcRect/>
          <a:stretch>
            <a:fillRect/>
          </a:stretch>
        </p:blipFill>
        <p:spPr bwMode="auto">
          <a:xfrm>
            <a:off x="1435608" y="3108960"/>
            <a:ext cx="384048" cy="685800"/>
          </a:xfrm>
          <a:prstGeom prst="rect">
            <a:avLst/>
          </a:prstGeom>
          <a:noFill/>
          <a:ln w="9525">
            <a:noFill/>
            <a:miter lim="800000"/>
            <a:headEnd/>
            <a:tailEnd/>
          </a:ln>
        </p:spPr>
      </p:pic>
      <p:sp>
        <p:nvSpPr>
          <p:cNvPr id="10" name="Oval 9"/>
          <p:cNvSpPr/>
          <p:nvPr/>
        </p:nvSpPr>
        <p:spPr>
          <a:xfrm>
            <a:off x="5410200" y="55626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6858000" y="25908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p:cNvSpPr/>
          <p:nvPr/>
        </p:nvSpPr>
        <p:spPr>
          <a:xfrm>
            <a:off x="1143000" y="2971800"/>
            <a:ext cx="914400" cy="914400"/>
          </a:xfrm>
          <a:prstGeom prst="ellipse">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dirty="0" smtClean="0"/>
              <a:t>Example: </a:t>
            </a:r>
            <a:r>
              <a:rPr lang="en-US" dirty="0" err="1" smtClean="0"/>
              <a:t>PageRank</a:t>
            </a:r>
            <a:endParaRPr lang="en-US" dirty="0"/>
          </a:p>
        </p:txBody>
      </p:sp>
      <p:pic>
        <p:nvPicPr>
          <p:cNvPr id="6" name="Picture 6" descr="C:\Documents and Settings\Temp\Local Settings\Temporary Internet Files\Content.IE5\A22ZQKB8\MC900078627[1].wmf"/>
          <p:cNvPicPr>
            <a:picLocks noChangeAspect="1" noChangeArrowheads="1"/>
          </p:cNvPicPr>
          <p:nvPr/>
        </p:nvPicPr>
        <p:blipFill>
          <a:blip r:embed="rId4" cstate="print"/>
          <a:srcRect l="45534"/>
          <a:stretch>
            <a:fillRect/>
          </a:stretch>
        </p:blipFill>
        <p:spPr bwMode="auto">
          <a:xfrm>
            <a:off x="2959100" y="5239066"/>
            <a:ext cx="381000" cy="687072"/>
          </a:xfrm>
          <a:prstGeom prst="rect">
            <a:avLst/>
          </a:prstGeom>
          <a:noFill/>
        </p:spPr>
      </p:pic>
      <p:sp>
        <p:nvSpPr>
          <p:cNvPr id="7" name="Oval 6"/>
          <p:cNvSpPr/>
          <p:nvPr/>
        </p:nvSpPr>
        <p:spPr>
          <a:xfrm>
            <a:off x="2667000" y="51054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1143000" y="29718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6" descr="C:\Documents and Settings\Temp\Local Settings\Temporary Internet Files\Content.IE5\A22ZQKB8\MC900078627[1].wmf"/>
          <p:cNvPicPr>
            <a:picLocks noChangeAspect="1" noChangeArrowheads="1"/>
          </p:cNvPicPr>
          <p:nvPr/>
        </p:nvPicPr>
        <p:blipFill>
          <a:blip r:embed="rId4" cstate="print"/>
          <a:srcRect l="45534"/>
          <a:stretch>
            <a:fillRect/>
          </a:stretch>
        </p:blipFill>
        <p:spPr bwMode="auto">
          <a:xfrm>
            <a:off x="5702300" y="5696266"/>
            <a:ext cx="381000" cy="687072"/>
          </a:xfrm>
          <a:prstGeom prst="rect">
            <a:avLst/>
          </a:prstGeom>
          <a:noFill/>
        </p:spPr>
      </p:pic>
      <p:pic>
        <p:nvPicPr>
          <p:cNvPr id="11" name="Picture 6" descr="C:\Documents and Settings\Temp\Local Settings\Temporary Internet Files\Content.IE5\A22ZQKB8\MC900078627[1].wmf"/>
          <p:cNvPicPr>
            <a:picLocks noChangeAspect="1" noChangeArrowheads="1"/>
          </p:cNvPicPr>
          <p:nvPr/>
        </p:nvPicPr>
        <p:blipFill>
          <a:blip r:embed="rId4" cstate="print"/>
          <a:srcRect l="45534"/>
          <a:stretch>
            <a:fillRect/>
          </a:stretch>
        </p:blipFill>
        <p:spPr bwMode="auto">
          <a:xfrm>
            <a:off x="7150100" y="2724466"/>
            <a:ext cx="381000" cy="687072"/>
          </a:xfrm>
          <a:prstGeom prst="rect">
            <a:avLst/>
          </a:prstGeom>
          <a:noFill/>
        </p:spPr>
      </p:pic>
      <p:pic>
        <p:nvPicPr>
          <p:cNvPr id="13" name="Picture 6" descr="C:\Documents and Settings\Temp\Local Settings\Temporary Internet Files\Content.IE5\A22ZQKB8\MC900078627[1].wmf"/>
          <p:cNvPicPr>
            <a:picLocks noChangeAspect="1" noChangeArrowheads="1"/>
          </p:cNvPicPr>
          <p:nvPr/>
        </p:nvPicPr>
        <p:blipFill>
          <a:blip r:embed="rId4" cstate="print"/>
          <a:srcRect l="45534"/>
          <a:stretch>
            <a:fillRect/>
          </a:stretch>
        </p:blipFill>
        <p:spPr bwMode="auto">
          <a:xfrm>
            <a:off x="4483100" y="2267266"/>
            <a:ext cx="381000" cy="687072"/>
          </a:xfrm>
          <a:prstGeom prst="rect">
            <a:avLst/>
          </a:prstGeom>
          <a:noFill/>
        </p:spPr>
      </p:pic>
      <p:sp>
        <p:nvSpPr>
          <p:cNvPr id="14" name="Oval 13"/>
          <p:cNvSpPr/>
          <p:nvPr/>
        </p:nvSpPr>
        <p:spPr>
          <a:xfrm>
            <a:off x="4191000" y="21336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p:cNvCxnSpPr/>
          <p:nvPr/>
        </p:nvCxnSpPr>
        <p:spPr>
          <a:xfrm flipV="1">
            <a:off x="2133600" y="2743200"/>
            <a:ext cx="1905000" cy="5334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rot="5400000" flipH="1" flipV="1">
            <a:off x="2857500" y="3695700"/>
            <a:ext cx="1981200" cy="8382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2209800" y="3429000"/>
            <a:ext cx="3200400" cy="21336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5257800" y="2667000"/>
            <a:ext cx="1371600" cy="3048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rot="5400000" flipH="1" flipV="1">
            <a:off x="5753100" y="4152900"/>
            <a:ext cx="1828800" cy="8382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rot="16200000" flipV="1">
            <a:off x="4152900" y="3848100"/>
            <a:ext cx="2362200" cy="762000"/>
          </a:xfrm>
          <a:prstGeom prst="straightConnector1">
            <a:avLst/>
          </a:prstGeom>
          <a:ln w="15875">
            <a:solidFill>
              <a:srgbClr val="FF000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rot="5400000">
            <a:off x="2705100" y="3619500"/>
            <a:ext cx="1981200" cy="838200"/>
          </a:xfrm>
          <a:prstGeom prst="straightConnector1">
            <a:avLst/>
          </a:prstGeom>
          <a:ln w="15875">
            <a:solidFill>
              <a:srgbClr val="FF000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V="1">
            <a:off x="2133600" y="2743200"/>
            <a:ext cx="1905000" cy="5334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rot="5400000" flipH="1" flipV="1">
            <a:off x="2857500" y="3695700"/>
            <a:ext cx="1981200" cy="8382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2209800" y="3429000"/>
            <a:ext cx="3200400" cy="21336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5257800" y="2667000"/>
            <a:ext cx="1371600" cy="3048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rot="5400000" flipH="1" flipV="1">
            <a:off x="5753100" y="4152900"/>
            <a:ext cx="1828800" cy="8382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rot="16200000" flipV="1">
            <a:off x="4152900" y="3848100"/>
            <a:ext cx="2362200" cy="7620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rot="5400000">
            <a:off x="2705100" y="3619500"/>
            <a:ext cx="1981200" cy="8382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rot="16200000" flipH="1">
            <a:off x="1562101" y="4000500"/>
            <a:ext cx="1295400" cy="10668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flipV="1">
            <a:off x="2133600" y="2743200"/>
            <a:ext cx="1905000" cy="533400"/>
          </a:xfrm>
          <a:prstGeom prst="straightConnector1">
            <a:avLst/>
          </a:prstGeom>
          <a:ln w="44450">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a:off x="5257800" y="2667000"/>
            <a:ext cx="1371600" cy="304800"/>
          </a:xfrm>
          <a:prstGeom prst="straightConnector1">
            <a:avLst/>
          </a:prstGeom>
          <a:ln w="44450">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rot="16200000" flipH="1">
            <a:off x="1562101" y="4000500"/>
            <a:ext cx="1295400" cy="1066800"/>
          </a:xfrm>
          <a:prstGeom prst="straightConnector1">
            <a:avLst/>
          </a:prstGeom>
          <a:ln w="44450">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1524000" y="2590800"/>
            <a:ext cx="237566" cy="369332"/>
          </a:xfrm>
          <a:prstGeom prst="rect">
            <a:avLst/>
          </a:prstGeom>
          <a:noFill/>
        </p:spPr>
        <p:txBody>
          <a:bodyPr wrap="none" rtlCol="0">
            <a:spAutoFit/>
          </a:bodyPr>
          <a:lstStyle/>
          <a:p>
            <a:r>
              <a:rPr lang="en-US" dirty="0" err="1" smtClean="0"/>
              <a:t>i</a:t>
            </a:r>
            <a:endParaRPr lang="en-US" dirty="0"/>
          </a:p>
        </p:txBody>
      </p:sp>
      <p:sp>
        <p:nvSpPr>
          <p:cNvPr id="48" name="Oval 47"/>
          <p:cNvSpPr/>
          <p:nvPr/>
        </p:nvSpPr>
        <p:spPr>
          <a:xfrm>
            <a:off x="2667000" y="5105400"/>
            <a:ext cx="914400" cy="914400"/>
          </a:xfrm>
          <a:prstGeom prst="ellipse">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p:cNvSpPr txBox="1"/>
          <p:nvPr/>
        </p:nvSpPr>
        <p:spPr>
          <a:xfrm>
            <a:off x="3048000" y="4724400"/>
            <a:ext cx="228600" cy="369332"/>
          </a:xfrm>
          <a:prstGeom prst="rect">
            <a:avLst/>
          </a:prstGeom>
          <a:noFill/>
        </p:spPr>
        <p:txBody>
          <a:bodyPr wrap="square" rtlCol="0">
            <a:spAutoFit/>
          </a:bodyPr>
          <a:lstStyle/>
          <a:p>
            <a:r>
              <a:rPr lang="en-US" dirty="0" err="1" smtClean="0"/>
              <a:t>j</a:t>
            </a:r>
            <a:endParaRPr lang="en-US" dirty="0"/>
          </a:p>
        </p:txBody>
      </p:sp>
      <p:cxnSp>
        <p:nvCxnSpPr>
          <p:cNvPr id="50" name="Straight Arrow Connector 49"/>
          <p:cNvCxnSpPr/>
          <p:nvPr/>
        </p:nvCxnSpPr>
        <p:spPr>
          <a:xfrm>
            <a:off x="2209800" y="3429000"/>
            <a:ext cx="3200400" cy="2133600"/>
          </a:xfrm>
          <a:prstGeom prst="straightConnector1">
            <a:avLst/>
          </a:prstGeom>
          <a:ln w="44450">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a:xfrm rot="5400000">
            <a:off x="2705100" y="3619500"/>
            <a:ext cx="1981200" cy="838200"/>
          </a:xfrm>
          <a:prstGeom prst="straightConnector1">
            <a:avLst/>
          </a:prstGeom>
          <a:ln w="44450">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p:nvPr/>
        </p:nvCxnSpPr>
        <p:spPr>
          <a:xfrm rot="16200000" flipV="1">
            <a:off x="4152900" y="3848100"/>
            <a:ext cx="2362200" cy="762000"/>
          </a:xfrm>
          <a:prstGeom prst="straightConnector1">
            <a:avLst/>
          </a:prstGeom>
          <a:ln w="44450">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a:xfrm rot="5400000" flipH="1" flipV="1">
            <a:off x="5753100" y="4152900"/>
            <a:ext cx="1828800" cy="838200"/>
          </a:xfrm>
          <a:prstGeom prst="straightConnector1">
            <a:avLst/>
          </a:prstGeom>
          <a:ln w="44450">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rot="10800000" flipV="1">
            <a:off x="2057400" y="2514600"/>
            <a:ext cx="1905000" cy="5334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rot="10800000" flipV="1">
            <a:off x="2057400" y="2514600"/>
            <a:ext cx="1905000" cy="533400"/>
          </a:xfrm>
          <a:prstGeom prst="straightConnector1">
            <a:avLst/>
          </a:prstGeom>
          <a:ln w="44450">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rot="5400000" flipH="1" flipV="1">
            <a:off x="2846560" y="3669672"/>
            <a:ext cx="2018168" cy="853289"/>
          </a:xfrm>
          <a:prstGeom prst="straightConnector1">
            <a:avLst/>
          </a:prstGeom>
          <a:ln w="44450">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spTree>
  </p:cSld>
  <p:clrMapOvr>
    <a:masterClrMapping/>
  </p:clrMapOvr>
  <p:transition advTm="100095"/>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274638"/>
            <a:ext cx="8229600" cy="1143000"/>
          </a:xfrm>
        </p:spPr>
        <p:txBody>
          <a:bodyPr/>
          <a:lstStyle/>
          <a:p>
            <a:r>
              <a:rPr lang="en-US" dirty="0" smtClean="0"/>
              <a:t>Manipulations</a:t>
            </a:r>
            <a:endParaRPr lang="en-US" dirty="0"/>
          </a:p>
        </p:txBody>
      </p:sp>
      <p:sp>
        <p:nvSpPr>
          <p:cNvPr id="5" name="Content Placeholder 2"/>
          <p:cNvSpPr>
            <a:spLocks noGrp="1"/>
          </p:cNvSpPr>
          <p:nvPr>
            <p:ph idx="1"/>
          </p:nvPr>
        </p:nvSpPr>
        <p:spPr>
          <a:xfrm>
            <a:off x="457200" y="1219200"/>
            <a:ext cx="8229600" cy="4525963"/>
          </a:xfrm>
        </p:spPr>
        <p:txBody>
          <a:bodyPr/>
          <a:lstStyle/>
          <a:p>
            <a:pPr>
              <a:buNone/>
            </a:pPr>
            <a:r>
              <a:rPr lang="en-US" dirty="0" smtClean="0">
                <a:solidFill>
                  <a:srgbClr val="92D050"/>
                </a:solidFill>
              </a:rPr>
              <a:t>Misreport</a:t>
            </a:r>
            <a:endParaRPr lang="en-US" dirty="0" smtClean="0"/>
          </a:p>
          <a:p>
            <a:pPr>
              <a:buNone/>
            </a:pPr>
            <a:r>
              <a:rPr lang="en-US" dirty="0" smtClean="0">
                <a:solidFill>
                  <a:srgbClr val="00B0F0"/>
                </a:solidFill>
              </a:rPr>
              <a:t>Sybil</a:t>
            </a:r>
            <a:endParaRPr lang="en-US" dirty="0"/>
          </a:p>
        </p:txBody>
      </p:sp>
      <p:pic>
        <p:nvPicPr>
          <p:cNvPr id="6" name="Picture 22"/>
          <p:cNvPicPr>
            <a:picLocks noChangeArrowheads="1"/>
          </p:cNvPicPr>
          <p:nvPr/>
        </p:nvPicPr>
        <p:blipFill>
          <a:blip r:embed="rId4" cstate="print"/>
          <a:srcRect/>
          <a:stretch>
            <a:fillRect/>
          </a:stretch>
        </p:blipFill>
        <p:spPr bwMode="auto">
          <a:xfrm>
            <a:off x="1447800" y="3124200"/>
            <a:ext cx="384048" cy="685800"/>
          </a:xfrm>
          <a:prstGeom prst="rect">
            <a:avLst/>
          </a:prstGeom>
          <a:noFill/>
          <a:ln w="9525">
            <a:noFill/>
            <a:miter lim="800000"/>
            <a:headEnd/>
            <a:tailEnd/>
          </a:ln>
        </p:spPr>
      </p:pic>
      <p:pic>
        <p:nvPicPr>
          <p:cNvPr id="7" name="Picture 22"/>
          <p:cNvPicPr>
            <a:picLocks noChangeArrowheads="1"/>
          </p:cNvPicPr>
          <p:nvPr/>
        </p:nvPicPr>
        <p:blipFill>
          <a:blip r:embed="rId4" cstate="print"/>
          <a:srcRect/>
          <a:stretch>
            <a:fillRect/>
          </a:stretch>
        </p:blipFill>
        <p:spPr bwMode="auto">
          <a:xfrm>
            <a:off x="1435608" y="3108960"/>
            <a:ext cx="384048" cy="685800"/>
          </a:xfrm>
          <a:prstGeom prst="rect">
            <a:avLst/>
          </a:prstGeom>
          <a:noFill/>
          <a:ln w="9525">
            <a:noFill/>
            <a:miter lim="800000"/>
            <a:headEnd/>
            <a:tailEnd/>
          </a:ln>
        </p:spPr>
      </p:pic>
      <p:pic>
        <p:nvPicPr>
          <p:cNvPr id="8" name="Picture 7" descr="C:\Documents and Settings\Temp\Local Settings\Temporary Internet Files\Content.IE5\A22ZQKB8\MC900078627[1].wmf"/>
          <p:cNvPicPr>
            <a:picLocks noChangeAspect="1" noChangeArrowheads="1"/>
          </p:cNvPicPr>
          <p:nvPr/>
        </p:nvPicPr>
        <p:blipFill>
          <a:blip r:embed="rId5" cstate="print"/>
          <a:srcRect l="45534"/>
          <a:stretch>
            <a:fillRect/>
          </a:stretch>
        </p:blipFill>
        <p:spPr bwMode="auto">
          <a:xfrm>
            <a:off x="2959100" y="5239066"/>
            <a:ext cx="381000" cy="687072"/>
          </a:xfrm>
          <a:prstGeom prst="rect">
            <a:avLst/>
          </a:prstGeom>
          <a:noFill/>
        </p:spPr>
      </p:pic>
      <p:sp>
        <p:nvSpPr>
          <p:cNvPr id="9" name="Oval 8"/>
          <p:cNvSpPr/>
          <p:nvPr/>
        </p:nvSpPr>
        <p:spPr>
          <a:xfrm>
            <a:off x="2667000" y="51054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43000" y="29718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descr="C:\Documents and Settings\Temp\Local Settings\Temporary Internet Files\Content.IE5\A22ZQKB8\MC900078627[1].wmf"/>
          <p:cNvPicPr>
            <a:picLocks noChangeAspect="1" noChangeArrowheads="1"/>
          </p:cNvPicPr>
          <p:nvPr/>
        </p:nvPicPr>
        <p:blipFill>
          <a:blip r:embed="rId5" cstate="print"/>
          <a:srcRect l="45534"/>
          <a:stretch>
            <a:fillRect/>
          </a:stretch>
        </p:blipFill>
        <p:spPr bwMode="auto">
          <a:xfrm>
            <a:off x="5702300" y="5696266"/>
            <a:ext cx="381000" cy="687072"/>
          </a:xfrm>
          <a:prstGeom prst="rect">
            <a:avLst/>
          </a:prstGeom>
          <a:noFill/>
        </p:spPr>
      </p:pic>
      <p:sp>
        <p:nvSpPr>
          <p:cNvPr id="12" name="Oval 11"/>
          <p:cNvSpPr/>
          <p:nvPr/>
        </p:nvSpPr>
        <p:spPr>
          <a:xfrm>
            <a:off x="5410200" y="55626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6" descr="C:\Documents and Settings\Temp\Local Settings\Temporary Internet Files\Content.IE5\A22ZQKB8\MC900078627[1].wmf"/>
          <p:cNvPicPr>
            <a:picLocks noChangeAspect="1" noChangeArrowheads="1"/>
          </p:cNvPicPr>
          <p:nvPr/>
        </p:nvPicPr>
        <p:blipFill>
          <a:blip r:embed="rId5" cstate="print"/>
          <a:srcRect l="45534"/>
          <a:stretch>
            <a:fillRect/>
          </a:stretch>
        </p:blipFill>
        <p:spPr bwMode="auto">
          <a:xfrm>
            <a:off x="7150100" y="2724466"/>
            <a:ext cx="381000" cy="687072"/>
          </a:xfrm>
          <a:prstGeom prst="rect">
            <a:avLst/>
          </a:prstGeom>
          <a:noFill/>
        </p:spPr>
      </p:pic>
      <p:sp>
        <p:nvSpPr>
          <p:cNvPr id="14" name="Oval 13"/>
          <p:cNvSpPr/>
          <p:nvPr/>
        </p:nvSpPr>
        <p:spPr>
          <a:xfrm>
            <a:off x="6858000" y="25908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6" descr="C:\Documents and Settings\Temp\Local Settings\Temporary Internet Files\Content.IE5\A22ZQKB8\MC900078627[1].wmf"/>
          <p:cNvPicPr>
            <a:picLocks noChangeAspect="1" noChangeArrowheads="1"/>
          </p:cNvPicPr>
          <p:nvPr/>
        </p:nvPicPr>
        <p:blipFill>
          <a:blip r:embed="rId5" cstate="print"/>
          <a:srcRect l="45534"/>
          <a:stretch>
            <a:fillRect/>
          </a:stretch>
        </p:blipFill>
        <p:spPr bwMode="auto">
          <a:xfrm>
            <a:off x="4483100" y="2267266"/>
            <a:ext cx="381000" cy="687072"/>
          </a:xfrm>
          <a:prstGeom prst="rect">
            <a:avLst/>
          </a:prstGeom>
          <a:noFill/>
        </p:spPr>
      </p:pic>
      <p:sp>
        <p:nvSpPr>
          <p:cNvPr id="16" name="Oval 15"/>
          <p:cNvSpPr/>
          <p:nvPr/>
        </p:nvSpPr>
        <p:spPr>
          <a:xfrm>
            <a:off x="4191000" y="21336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p:cNvCxnSpPr/>
          <p:nvPr/>
        </p:nvCxnSpPr>
        <p:spPr>
          <a:xfrm rot="5400000" flipH="1" flipV="1">
            <a:off x="2857500" y="3695700"/>
            <a:ext cx="1981200" cy="8382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5257800" y="2667000"/>
            <a:ext cx="1371600" cy="3048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rot="5400000" flipH="1" flipV="1">
            <a:off x="5753100" y="4152900"/>
            <a:ext cx="1828800" cy="8382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rot="16200000" flipV="1">
            <a:off x="4152900" y="3848100"/>
            <a:ext cx="2362200" cy="762000"/>
          </a:xfrm>
          <a:prstGeom prst="straightConnector1">
            <a:avLst/>
          </a:prstGeom>
          <a:ln w="15875">
            <a:solidFill>
              <a:srgbClr val="FF000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rot="5400000">
            <a:off x="2705100" y="3619500"/>
            <a:ext cx="1981200" cy="838200"/>
          </a:xfrm>
          <a:prstGeom prst="straightConnector1">
            <a:avLst/>
          </a:prstGeom>
          <a:ln w="15875">
            <a:solidFill>
              <a:srgbClr val="FF000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2133600" y="2743200"/>
            <a:ext cx="1905000" cy="5334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rot="5400000" flipH="1" flipV="1">
            <a:off x="2857500" y="3695700"/>
            <a:ext cx="1981200" cy="8382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2209800" y="3429000"/>
            <a:ext cx="3200400" cy="21336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5257800" y="2667000"/>
            <a:ext cx="1371600" cy="3048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rot="5400000" flipH="1" flipV="1">
            <a:off x="5753100" y="4152900"/>
            <a:ext cx="1828800" cy="8382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rot="16200000" flipV="1">
            <a:off x="4152900" y="3848100"/>
            <a:ext cx="2362200" cy="7620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rot="5400000">
            <a:off x="2705100" y="3619500"/>
            <a:ext cx="1981200" cy="8382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rot="16200000" flipH="1">
            <a:off x="1562101" y="4000500"/>
            <a:ext cx="1295400" cy="10668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1295400" y="2514600"/>
            <a:ext cx="593432" cy="369332"/>
          </a:xfrm>
          <a:prstGeom prst="rect">
            <a:avLst/>
          </a:prstGeom>
          <a:noFill/>
          <a:ln>
            <a:solidFill>
              <a:schemeClr val="tx1"/>
            </a:solidFill>
          </a:ln>
        </p:spPr>
        <p:txBody>
          <a:bodyPr wrap="none" rtlCol="0">
            <a:spAutoFit/>
          </a:bodyPr>
          <a:lstStyle/>
          <a:p>
            <a:r>
              <a:rPr lang="en-US" dirty="0" smtClean="0"/>
              <a:t>0.16</a:t>
            </a:r>
            <a:endParaRPr lang="en-US" dirty="0"/>
          </a:p>
        </p:txBody>
      </p:sp>
      <p:sp>
        <p:nvSpPr>
          <p:cNvPr id="32" name="TextBox 31"/>
          <p:cNvSpPr txBox="1"/>
          <p:nvPr/>
        </p:nvSpPr>
        <p:spPr>
          <a:xfrm>
            <a:off x="4343400" y="1676400"/>
            <a:ext cx="593432" cy="369332"/>
          </a:xfrm>
          <a:prstGeom prst="rect">
            <a:avLst/>
          </a:prstGeom>
          <a:noFill/>
          <a:ln>
            <a:solidFill>
              <a:schemeClr val="tx1"/>
            </a:solidFill>
          </a:ln>
        </p:spPr>
        <p:txBody>
          <a:bodyPr wrap="none" rtlCol="0">
            <a:spAutoFit/>
          </a:bodyPr>
          <a:lstStyle/>
          <a:p>
            <a:r>
              <a:rPr lang="en-US" dirty="0" smtClean="0"/>
              <a:t>0.32</a:t>
            </a:r>
            <a:endParaRPr lang="en-US" dirty="0"/>
          </a:p>
        </p:txBody>
      </p:sp>
      <p:sp>
        <p:nvSpPr>
          <p:cNvPr id="33" name="TextBox 32"/>
          <p:cNvSpPr txBox="1"/>
          <p:nvPr/>
        </p:nvSpPr>
        <p:spPr>
          <a:xfrm>
            <a:off x="7010400" y="2133600"/>
            <a:ext cx="593432" cy="369332"/>
          </a:xfrm>
          <a:prstGeom prst="rect">
            <a:avLst/>
          </a:prstGeom>
          <a:noFill/>
          <a:ln>
            <a:solidFill>
              <a:schemeClr val="tx1"/>
            </a:solidFill>
          </a:ln>
        </p:spPr>
        <p:txBody>
          <a:bodyPr wrap="none" rtlCol="0">
            <a:spAutoFit/>
          </a:bodyPr>
          <a:lstStyle/>
          <a:p>
            <a:r>
              <a:rPr lang="en-US" dirty="0" smtClean="0"/>
              <a:t>0.20</a:t>
            </a:r>
            <a:endParaRPr lang="en-US" dirty="0"/>
          </a:p>
        </p:txBody>
      </p:sp>
      <p:sp>
        <p:nvSpPr>
          <p:cNvPr id="34" name="TextBox 33"/>
          <p:cNvSpPr txBox="1"/>
          <p:nvPr/>
        </p:nvSpPr>
        <p:spPr>
          <a:xfrm>
            <a:off x="2819400" y="6096000"/>
            <a:ext cx="593432" cy="369332"/>
          </a:xfrm>
          <a:prstGeom prst="rect">
            <a:avLst/>
          </a:prstGeom>
          <a:noFill/>
          <a:ln>
            <a:solidFill>
              <a:schemeClr val="tx1"/>
            </a:solidFill>
          </a:ln>
        </p:spPr>
        <p:txBody>
          <a:bodyPr wrap="none" rtlCol="0">
            <a:spAutoFit/>
          </a:bodyPr>
          <a:lstStyle/>
          <a:p>
            <a:r>
              <a:rPr lang="en-US" dirty="0" smtClean="0"/>
              <a:t>0.20</a:t>
            </a:r>
            <a:endParaRPr lang="en-US" dirty="0"/>
          </a:p>
        </p:txBody>
      </p:sp>
      <p:sp>
        <p:nvSpPr>
          <p:cNvPr id="35" name="TextBox 34"/>
          <p:cNvSpPr txBox="1"/>
          <p:nvPr/>
        </p:nvSpPr>
        <p:spPr>
          <a:xfrm>
            <a:off x="6400800" y="5943600"/>
            <a:ext cx="593432" cy="369332"/>
          </a:xfrm>
          <a:prstGeom prst="rect">
            <a:avLst/>
          </a:prstGeom>
          <a:noFill/>
          <a:ln>
            <a:solidFill>
              <a:schemeClr val="tx1"/>
            </a:solidFill>
          </a:ln>
        </p:spPr>
        <p:txBody>
          <a:bodyPr wrap="none" rtlCol="0">
            <a:spAutoFit/>
          </a:bodyPr>
          <a:lstStyle/>
          <a:p>
            <a:r>
              <a:rPr lang="en-US" dirty="0" smtClean="0"/>
              <a:t>0.11</a:t>
            </a:r>
            <a:endParaRPr lang="en-US" dirty="0"/>
          </a:p>
        </p:txBody>
      </p:sp>
      <p:sp>
        <p:nvSpPr>
          <p:cNvPr id="36" name="Oval 35"/>
          <p:cNvSpPr/>
          <p:nvPr/>
        </p:nvSpPr>
        <p:spPr>
          <a:xfrm>
            <a:off x="1143000" y="2971800"/>
            <a:ext cx="914400" cy="914400"/>
          </a:xfrm>
          <a:prstGeom prst="ellipse">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p:cNvSpPr txBox="1"/>
          <p:nvPr/>
        </p:nvSpPr>
        <p:spPr>
          <a:xfrm>
            <a:off x="1997368" y="2514600"/>
            <a:ext cx="593432" cy="369332"/>
          </a:xfrm>
          <a:prstGeom prst="rect">
            <a:avLst/>
          </a:prstGeom>
          <a:solidFill>
            <a:srgbClr val="92D050"/>
          </a:solidFill>
          <a:ln>
            <a:solidFill>
              <a:srgbClr val="92D050"/>
            </a:solidFill>
          </a:ln>
        </p:spPr>
        <p:txBody>
          <a:bodyPr wrap="none" rtlCol="0">
            <a:spAutoFit/>
          </a:bodyPr>
          <a:lstStyle/>
          <a:p>
            <a:r>
              <a:rPr lang="en-US" dirty="0" smtClean="0"/>
              <a:t>0.36</a:t>
            </a:r>
            <a:endParaRPr lang="en-US" dirty="0"/>
          </a:p>
        </p:txBody>
      </p:sp>
      <p:sp>
        <p:nvSpPr>
          <p:cNvPr id="38" name="TextBox 37"/>
          <p:cNvSpPr txBox="1"/>
          <p:nvPr/>
        </p:nvSpPr>
        <p:spPr>
          <a:xfrm>
            <a:off x="5045368" y="1676400"/>
            <a:ext cx="593432" cy="369332"/>
          </a:xfrm>
          <a:prstGeom prst="rect">
            <a:avLst/>
          </a:prstGeom>
          <a:solidFill>
            <a:srgbClr val="92D050"/>
          </a:solidFill>
          <a:ln>
            <a:solidFill>
              <a:srgbClr val="92D050"/>
            </a:solidFill>
          </a:ln>
        </p:spPr>
        <p:txBody>
          <a:bodyPr wrap="none" rtlCol="0">
            <a:spAutoFit/>
          </a:bodyPr>
          <a:lstStyle/>
          <a:p>
            <a:r>
              <a:rPr lang="en-US" dirty="0" smtClean="0"/>
              <a:t>0.11</a:t>
            </a:r>
            <a:endParaRPr lang="en-US" dirty="0"/>
          </a:p>
        </p:txBody>
      </p:sp>
      <p:sp>
        <p:nvSpPr>
          <p:cNvPr id="39" name="TextBox 38"/>
          <p:cNvSpPr txBox="1"/>
          <p:nvPr/>
        </p:nvSpPr>
        <p:spPr>
          <a:xfrm>
            <a:off x="7712368" y="2133600"/>
            <a:ext cx="593432" cy="369332"/>
          </a:xfrm>
          <a:prstGeom prst="rect">
            <a:avLst/>
          </a:prstGeom>
          <a:solidFill>
            <a:srgbClr val="92D050"/>
          </a:solidFill>
          <a:ln>
            <a:solidFill>
              <a:srgbClr val="92D050"/>
            </a:solidFill>
          </a:ln>
        </p:spPr>
        <p:txBody>
          <a:bodyPr wrap="none" rtlCol="0">
            <a:spAutoFit/>
          </a:bodyPr>
          <a:lstStyle/>
          <a:p>
            <a:r>
              <a:rPr lang="en-US" dirty="0" smtClean="0"/>
              <a:t>0.08</a:t>
            </a:r>
            <a:endParaRPr lang="en-US" dirty="0"/>
          </a:p>
        </p:txBody>
      </p:sp>
      <p:sp>
        <p:nvSpPr>
          <p:cNvPr id="40" name="TextBox 39"/>
          <p:cNvSpPr txBox="1"/>
          <p:nvPr/>
        </p:nvSpPr>
        <p:spPr>
          <a:xfrm>
            <a:off x="3521368" y="6096000"/>
            <a:ext cx="593432" cy="369332"/>
          </a:xfrm>
          <a:prstGeom prst="rect">
            <a:avLst/>
          </a:prstGeom>
          <a:solidFill>
            <a:srgbClr val="92D050"/>
          </a:solidFill>
          <a:ln>
            <a:solidFill>
              <a:srgbClr val="92D050"/>
            </a:solidFill>
          </a:ln>
        </p:spPr>
        <p:txBody>
          <a:bodyPr wrap="none" rtlCol="0">
            <a:spAutoFit/>
          </a:bodyPr>
          <a:lstStyle/>
          <a:p>
            <a:r>
              <a:rPr lang="en-US" dirty="0" smtClean="0"/>
              <a:t>0.07</a:t>
            </a:r>
            <a:endParaRPr lang="en-US" dirty="0"/>
          </a:p>
        </p:txBody>
      </p:sp>
      <p:sp>
        <p:nvSpPr>
          <p:cNvPr id="41" name="TextBox 40"/>
          <p:cNvSpPr txBox="1"/>
          <p:nvPr/>
        </p:nvSpPr>
        <p:spPr>
          <a:xfrm>
            <a:off x="7102768" y="5943600"/>
            <a:ext cx="593432" cy="369332"/>
          </a:xfrm>
          <a:prstGeom prst="rect">
            <a:avLst/>
          </a:prstGeom>
          <a:solidFill>
            <a:srgbClr val="92D050"/>
          </a:solidFill>
          <a:ln>
            <a:solidFill>
              <a:srgbClr val="92D050"/>
            </a:solidFill>
          </a:ln>
        </p:spPr>
        <p:txBody>
          <a:bodyPr wrap="none" rtlCol="0">
            <a:spAutoFit/>
          </a:bodyPr>
          <a:lstStyle/>
          <a:p>
            <a:r>
              <a:rPr lang="en-US" dirty="0" smtClean="0"/>
              <a:t>0.03</a:t>
            </a:r>
            <a:endParaRPr lang="en-US" dirty="0"/>
          </a:p>
        </p:txBody>
      </p:sp>
      <p:sp>
        <p:nvSpPr>
          <p:cNvPr id="42" name="Oval 41"/>
          <p:cNvSpPr/>
          <p:nvPr/>
        </p:nvSpPr>
        <p:spPr>
          <a:xfrm>
            <a:off x="914400" y="5181600"/>
            <a:ext cx="914400" cy="914400"/>
          </a:xfrm>
          <a:prstGeom prst="ellipse">
            <a:avLst/>
          </a:prstGeom>
          <a:noFill/>
          <a:ln w="44450">
            <a:solidFill>
              <a:srgbClr val="09B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cxnSp>
        <p:nvCxnSpPr>
          <p:cNvPr id="43" name="Straight Arrow Connector 42"/>
          <p:cNvCxnSpPr/>
          <p:nvPr/>
        </p:nvCxnSpPr>
        <p:spPr>
          <a:xfrm rot="5400000">
            <a:off x="914400" y="4419600"/>
            <a:ext cx="1295400" cy="228600"/>
          </a:xfrm>
          <a:prstGeom prst="straightConnector1">
            <a:avLst/>
          </a:prstGeom>
          <a:ln w="44450">
            <a:solidFill>
              <a:srgbClr val="09BFFF"/>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rot="5400000" flipH="1" flipV="1">
            <a:off x="781050" y="4387850"/>
            <a:ext cx="1244600" cy="241300"/>
          </a:xfrm>
          <a:prstGeom prst="straightConnector1">
            <a:avLst/>
          </a:prstGeom>
          <a:ln w="44450">
            <a:solidFill>
              <a:srgbClr val="09BFFF"/>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flipV="1">
            <a:off x="2743200" y="3810000"/>
            <a:ext cx="533400" cy="304800"/>
          </a:xfrm>
          <a:prstGeom prst="straightConnector1">
            <a:avLst/>
          </a:prstGeom>
          <a:ln w="44450">
            <a:solidFill>
              <a:srgbClr val="92D050"/>
            </a:solidFill>
            <a:prstDash val="solid"/>
            <a:tailEnd type="none" w="lg" len="lg"/>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rot="16200000" flipH="1">
            <a:off x="2724338" y="3828861"/>
            <a:ext cx="503222" cy="313099"/>
          </a:xfrm>
          <a:prstGeom prst="straightConnector1">
            <a:avLst/>
          </a:prstGeom>
          <a:ln w="44450">
            <a:solidFill>
              <a:srgbClr val="92D050"/>
            </a:solidFill>
            <a:prstDash val="solid"/>
            <a:tailEnd type="none" w="lg" len="lg"/>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a:xfrm flipV="1">
            <a:off x="2895600" y="2819401"/>
            <a:ext cx="533400" cy="304800"/>
          </a:xfrm>
          <a:prstGeom prst="straightConnector1">
            <a:avLst/>
          </a:prstGeom>
          <a:ln w="44450">
            <a:solidFill>
              <a:srgbClr val="92D050"/>
            </a:solidFill>
            <a:prstDash val="solid"/>
            <a:tailEnd type="none" w="lg" len="lg"/>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rot="16200000" flipH="1">
            <a:off x="2876738" y="2838262"/>
            <a:ext cx="503222" cy="313099"/>
          </a:xfrm>
          <a:prstGeom prst="straightConnector1">
            <a:avLst/>
          </a:prstGeom>
          <a:ln w="44450">
            <a:solidFill>
              <a:srgbClr val="92D050"/>
            </a:solidFill>
            <a:prstDash val="solid"/>
            <a:tailEnd type="none" w="lg" len="lg"/>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a:xfrm flipV="1">
            <a:off x="1981200" y="4373578"/>
            <a:ext cx="533400" cy="304800"/>
          </a:xfrm>
          <a:prstGeom prst="straightConnector1">
            <a:avLst/>
          </a:prstGeom>
          <a:ln w="44450">
            <a:solidFill>
              <a:srgbClr val="92D050"/>
            </a:solidFill>
            <a:prstDash val="solid"/>
            <a:tailEnd type="none" w="lg" len="lg"/>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rot="16200000" flipH="1">
            <a:off x="1962338" y="4392439"/>
            <a:ext cx="503222" cy="313099"/>
          </a:xfrm>
          <a:prstGeom prst="straightConnector1">
            <a:avLst/>
          </a:prstGeom>
          <a:ln w="44450">
            <a:solidFill>
              <a:srgbClr val="92D050"/>
            </a:solidFill>
            <a:prstDash val="solid"/>
            <a:tailEnd type="none" w="lg" len="lg"/>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p:nvPr/>
        </p:nvCxnSpPr>
        <p:spPr>
          <a:xfrm rot="10800000" flipV="1">
            <a:off x="2057400" y="2514600"/>
            <a:ext cx="1905000" cy="5334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transition advTm="53359"/>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1" end="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36" grpId="0" animBg="1"/>
      <p:bldP spid="37" grpId="0" animBg="1"/>
      <p:bldP spid="38" grpId="0" animBg="1"/>
      <p:bldP spid="39" grpId="0" animBg="1"/>
      <p:bldP spid="40" grpId="0" animBg="1"/>
      <p:bldP spid="41" grpId="0" animBg="1"/>
      <p:bldP spid="4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Motivation</a:t>
            </a:r>
          </a:p>
          <a:p>
            <a:r>
              <a:rPr lang="en-US" dirty="0" smtClean="0"/>
              <a:t>Example Mechanisms</a:t>
            </a:r>
          </a:p>
          <a:p>
            <a:r>
              <a:rPr lang="en-US" b="1" dirty="0" err="1" smtClean="0"/>
              <a:t>Informativeness</a:t>
            </a:r>
            <a:r>
              <a:rPr lang="en-US" b="1" dirty="0" smtClean="0"/>
              <a:t> vs. </a:t>
            </a:r>
            <a:r>
              <a:rPr lang="en-US" b="1" dirty="0" err="1" smtClean="0"/>
              <a:t>Strategyproofness</a:t>
            </a:r>
            <a:endParaRPr lang="en-US" b="1" dirty="0" smtClean="0"/>
          </a:p>
          <a:p>
            <a:r>
              <a:rPr lang="en-US" dirty="0" smtClean="0"/>
              <a:t>Hybrid Transitive Trust Mechanisms</a:t>
            </a:r>
          </a:p>
          <a:p>
            <a:pPr lvl="1"/>
            <a:r>
              <a:rPr lang="en-US" dirty="0" smtClean="0"/>
              <a:t>Theoretical Analysis</a:t>
            </a:r>
            <a:endParaRPr lang="en-US" dirty="0"/>
          </a:p>
          <a:p>
            <a:r>
              <a:rPr lang="en-US" dirty="0" smtClean="0"/>
              <a:t>Experimental Results</a:t>
            </a:r>
          </a:p>
          <a:p>
            <a:pPr lvl="1"/>
            <a:r>
              <a:rPr lang="en-US" dirty="0" err="1" smtClean="0"/>
              <a:t>Informativeness</a:t>
            </a:r>
            <a:endParaRPr lang="en-US" dirty="0" smtClean="0"/>
          </a:p>
          <a:p>
            <a:pPr lvl="1"/>
            <a:r>
              <a:rPr lang="en-US" dirty="0" smtClean="0"/>
              <a:t>Efficiency</a:t>
            </a:r>
          </a:p>
          <a:p>
            <a:r>
              <a:rPr lang="en-US" dirty="0" smtClean="0"/>
              <a:t>Conclusions</a:t>
            </a:r>
          </a:p>
        </p:txBody>
      </p:sp>
    </p:spTree>
  </p:cSld>
  <p:clrMapOvr>
    <a:masterClrMapping/>
  </p:clrMapOvr>
  <p:transition advTm="7250"/>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Value-</a:t>
            </a:r>
            <a:r>
              <a:rPr lang="en-US" dirty="0" err="1" smtClean="0"/>
              <a:t>strategyproof</a:t>
            </a:r>
            <a:r>
              <a:rPr lang="en-US" dirty="0" smtClean="0"/>
              <a:t> example</a:t>
            </a:r>
            <a:endParaRPr lang="en-US" dirty="0"/>
          </a:p>
        </p:txBody>
      </p:sp>
      <p:pic>
        <p:nvPicPr>
          <p:cNvPr id="4" name="Picture 6" descr="C:\Documents and Settings\Temp\Local Settings\Temporary Internet Files\Content.IE5\A22ZQKB8\MC900078627[1].wmf"/>
          <p:cNvPicPr>
            <a:picLocks noChangeAspect="1" noChangeArrowheads="1"/>
          </p:cNvPicPr>
          <p:nvPr/>
        </p:nvPicPr>
        <p:blipFill>
          <a:blip r:embed="rId4" cstate="print"/>
          <a:srcRect l="45534"/>
          <a:stretch>
            <a:fillRect/>
          </a:stretch>
        </p:blipFill>
        <p:spPr bwMode="auto">
          <a:xfrm>
            <a:off x="2959100" y="5467666"/>
            <a:ext cx="381000" cy="687072"/>
          </a:xfrm>
          <a:prstGeom prst="rect">
            <a:avLst/>
          </a:prstGeom>
          <a:noFill/>
        </p:spPr>
      </p:pic>
      <p:sp>
        <p:nvSpPr>
          <p:cNvPr id="5" name="Oval 4"/>
          <p:cNvSpPr/>
          <p:nvPr/>
        </p:nvSpPr>
        <p:spPr>
          <a:xfrm>
            <a:off x="2667000" y="53340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6" descr="C:\Documents and Settings\Temp\Local Settings\Temporary Internet Files\Content.IE5\A22ZQKB8\MC900078627[1].wmf"/>
          <p:cNvPicPr>
            <a:picLocks noChangeAspect="1" noChangeArrowheads="1"/>
          </p:cNvPicPr>
          <p:nvPr/>
        </p:nvPicPr>
        <p:blipFill>
          <a:blip r:embed="rId4" cstate="print"/>
          <a:srcRect l="45534"/>
          <a:stretch>
            <a:fillRect/>
          </a:stretch>
        </p:blipFill>
        <p:spPr bwMode="auto">
          <a:xfrm>
            <a:off x="1435100" y="3334066"/>
            <a:ext cx="381000" cy="687072"/>
          </a:xfrm>
          <a:prstGeom prst="rect">
            <a:avLst/>
          </a:prstGeom>
          <a:noFill/>
        </p:spPr>
      </p:pic>
      <p:sp>
        <p:nvSpPr>
          <p:cNvPr id="7" name="Oval 6"/>
          <p:cNvSpPr/>
          <p:nvPr/>
        </p:nvSpPr>
        <p:spPr>
          <a:xfrm>
            <a:off x="1143000" y="32004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6" descr="C:\Documents and Settings\Temp\Local Settings\Temporary Internet Files\Content.IE5\A22ZQKB8\MC900078627[1].wmf"/>
          <p:cNvPicPr>
            <a:picLocks noChangeAspect="1" noChangeArrowheads="1"/>
          </p:cNvPicPr>
          <p:nvPr/>
        </p:nvPicPr>
        <p:blipFill>
          <a:blip r:embed="rId4" cstate="print"/>
          <a:srcRect l="45534"/>
          <a:stretch>
            <a:fillRect/>
          </a:stretch>
        </p:blipFill>
        <p:spPr bwMode="auto">
          <a:xfrm>
            <a:off x="5702300" y="5924866"/>
            <a:ext cx="381000" cy="687072"/>
          </a:xfrm>
          <a:prstGeom prst="rect">
            <a:avLst/>
          </a:prstGeom>
          <a:noFill/>
        </p:spPr>
      </p:pic>
      <p:sp>
        <p:nvSpPr>
          <p:cNvPr id="9" name="Oval 8"/>
          <p:cNvSpPr/>
          <p:nvPr/>
        </p:nvSpPr>
        <p:spPr>
          <a:xfrm>
            <a:off x="5410200" y="57912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6" descr="C:\Documents and Settings\Temp\Local Settings\Temporary Internet Files\Content.IE5\A22ZQKB8\MC900078627[1].wmf"/>
          <p:cNvPicPr>
            <a:picLocks noChangeAspect="1" noChangeArrowheads="1"/>
          </p:cNvPicPr>
          <p:nvPr/>
        </p:nvPicPr>
        <p:blipFill>
          <a:blip r:embed="rId4" cstate="print"/>
          <a:srcRect l="45534"/>
          <a:stretch>
            <a:fillRect/>
          </a:stretch>
        </p:blipFill>
        <p:spPr bwMode="auto">
          <a:xfrm>
            <a:off x="7150100" y="2953066"/>
            <a:ext cx="381000" cy="687072"/>
          </a:xfrm>
          <a:prstGeom prst="rect">
            <a:avLst/>
          </a:prstGeom>
          <a:noFill/>
        </p:spPr>
      </p:pic>
      <p:sp>
        <p:nvSpPr>
          <p:cNvPr id="11" name="Oval 10"/>
          <p:cNvSpPr/>
          <p:nvPr/>
        </p:nvSpPr>
        <p:spPr>
          <a:xfrm>
            <a:off x="6858000" y="28194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6" descr="C:\Documents and Settings\Temp\Local Settings\Temporary Internet Files\Content.IE5\A22ZQKB8\MC900078627[1].wmf"/>
          <p:cNvPicPr>
            <a:picLocks noChangeAspect="1" noChangeArrowheads="1"/>
          </p:cNvPicPr>
          <p:nvPr/>
        </p:nvPicPr>
        <p:blipFill>
          <a:blip r:embed="rId4" cstate="print"/>
          <a:srcRect l="45534"/>
          <a:stretch>
            <a:fillRect/>
          </a:stretch>
        </p:blipFill>
        <p:spPr bwMode="auto">
          <a:xfrm>
            <a:off x="4483100" y="2495866"/>
            <a:ext cx="381000" cy="687072"/>
          </a:xfrm>
          <a:prstGeom prst="rect">
            <a:avLst/>
          </a:prstGeom>
          <a:noFill/>
        </p:spPr>
      </p:pic>
      <p:sp>
        <p:nvSpPr>
          <p:cNvPr id="13" name="Oval 12"/>
          <p:cNvSpPr/>
          <p:nvPr/>
        </p:nvSpPr>
        <p:spPr>
          <a:xfrm>
            <a:off x="4191000" y="23622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p:cNvCxnSpPr/>
          <p:nvPr/>
        </p:nvCxnSpPr>
        <p:spPr>
          <a:xfrm flipV="1">
            <a:off x="2133600" y="2971800"/>
            <a:ext cx="1905000" cy="5334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rot="5400000" flipH="1" flipV="1">
            <a:off x="2857500" y="3924300"/>
            <a:ext cx="1981200" cy="8382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2209800" y="3657600"/>
            <a:ext cx="3200400" cy="21336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5257800" y="2895600"/>
            <a:ext cx="1371600" cy="3048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rot="5400000" flipH="1" flipV="1">
            <a:off x="5753100" y="4381500"/>
            <a:ext cx="1828800" cy="8382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rot="16200000" flipV="1">
            <a:off x="4152900" y="4076700"/>
            <a:ext cx="2362200" cy="762000"/>
          </a:xfrm>
          <a:prstGeom prst="straightConnector1">
            <a:avLst/>
          </a:prstGeom>
          <a:ln w="15875">
            <a:solidFill>
              <a:srgbClr val="FF000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rot="5400000">
            <a:off x="2705100" y="3848100"/>
            <a:ext cx="1981200" cy="838200"/>
          </a:xfrm>
          <a:prstGeom prst="straightConnector1">
            <a:avLst/>
          </a:prstGeom>
          <a:ln w="15875">
            <a:solidFill>
              <a:srgbClr val="FF000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2133600" y="2971800"/>
            <a:ext cx="1905000" cy="5334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rot="5400000" flipH="1" flipV="1">
            <a:off x="2857500" y="3924300"/>
            <a:ext cx="1981200" cy="8382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2209800" y="3657600"/>
            <a:ext cx="3200400" cy="21336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5257800" y="2895600"/>
            <a:ext cx="1371600" cy="3048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rot="5400000" flipH="1" flipV="1">
            <a:off x="5753100" y="4381500"/>
            <a:ext cx="1828800" cy="8382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rot="16200000" flipV="1">
            <a:off x="4152900" y="4076700"/>
            <a:ext cx="2362200" cy="7620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rot="5400000">
            <a:off x="2705100" y="3848100"/>
            <a:ext cx="1981200" cy="8382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rot="16200000" flipH="1">
            <a:off x="1562101" y="4229100"/>
            <a:ext cx="1295400" cy="10668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sp>
        <p:nvSpPr>
          <p:cNvPr id="29" name="Oval 28"/>
          <p:cNvSpPr/>
          <p:nvPr/>
        </p:nvSpPr>
        <p:spPr>
          <a:xfrm>
            <a:off x="1143000" y="3200400"/>
            <a:ext cx="914400" cy="914400"/>
          </a:xfrm>
          <a:prstGeom prst="ellipse">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1524000" y="2819400"/>
            <a:ext cx="237566" cy="369332"/>
          </a:xfrm>
          <a:prstGeom prst="rect">
            <a:avLst/>
          </a:prstGeom>
          <a:noFill/>
        </p:spPr>
        <p:txBody>
          <a:bodyPr wrap="none" rtlCol="0">
            <a:spAutoFit/>
          </a:bodyPr>
          <a:lstStyle/>
          <a:p>
            <a:r>
              <a:rPr lang="en-US" dirty="0" err="1" smtClean="0"/>
              <a:t>i</a:t>
            </a:r>
            <a:endParaRPr lang="en-US" dirty="0"/>
          </a:p>
        </p:txBody>
      </p:sp>
      <p:sp>
        <p:nvSpPr>
          <p:cNvPr id="31" name="Oval 30"/>
          <p:cNvSpPr/>
          <p:nvPr/>
        </p:nvSpPr>
        <p:spPr>
          <a:xfrm>
            <a:off x="6858000" y="2819400"/>
            <a:ext cx="914400" cy="914400"/>
          </a:xfrm>
          <a:prstGeom prst="ellipse">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p:cNvSpPr txBox="1"/>
          <p:nvPr/>
        </p:nvSpPr>
        <p:spPr>
          <a:xfrm>
            <a:off x="7239000" y="2438400"/>
            <a:ext cx="228600" cy="369332"/>
          </a:xfrm>
          <a:prstGeom prst="rect">
            <a:avLst/>
          </a:prstGeom>
          <a:noFill/>
        </p:spPr>
        <p:txBody>
          <a:bodyPr wrap="square" rtlCol="0">
            <a:spAutoFit/>
          </a:bodyPr>
          <a:lstStyle/>
          <a:p>
            <a:r>
              <a:rPr lang="en-US" dirty="0" err="1" smtClean="0"/>
              <a:t>j</a:t>
            </a:r>
            <a:endParaRPr lang="en-US" dirty="0"/>
          </a:p>
        </p:txBody>
      </p:sp>
      <p:cxnSp>
        <p:nvCxnSpPr>
          <p:cNvPr id="35" name="Straight Arrow Connector 34"/>
          <p:cNvCxnSpPr/>
          <p:nvPr/>
        </p:nvCxnSpPr>
        <p:spPr>
          <a:xfrm>
            <a:off x="5257800" y="2895600"/>
            <a:ext cx="1371600" cy="304800"/>
          </a:xfrm>
          <a:prstGeom prst="straightConnector1">
            <a:avLst/>
          </a:prstGeom>
          <a:ln w="44450">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2209800" y="3657600"/>
            <a:ext cx="3200400" cy="2133600"/>
          </a:xfrm>
          <a:prstGeom prst="straightConnector1">
            <a:avLst/>
          </a:prstGeom>
          <a:ln w="44450">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rot="5400000" flipH="1" flipV="1">
            <a:off x="5753100" y="4381500"/>
            <a:ext cx="1828800" cy="838200"/>
          </a:xfrm>
          <a:prstGeom prst="straightConnector1">
            <a:avLst/>
          </a:prstGeom>
          <a:ln w="44450">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flipV="1">
            <a:off x="2133600" y="2971800"/>
            <a:ext cx="1905000" cy="533400"/>
          </a:xfrm>
          <a:prstGeom prst="straightConnector1">
            <a:avLst/>
          </a:prstGeom>
          <a:ln w="44450">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flipV="1">
            <a:off x="2133600" y="2971800"/>
            <a:ext cx="1905000" cy="533400"/>
          </a:xfrm>
          <a:prstGeom prst="straightConnector1">
            <a:avLst/>
          </a:prstGeom>
          <a:ln w="44450">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sp>
        <p:nvSpPr>
          <p:cNvPr id="39" name="Rectangle 38"/>
          <p:cNvSpPr/>
          <p:nvPr/>
        </p:nvSpPr>
        <p:spPr>
          <a:xfrm>
            <a:off x="685800" y="1408093"/>
            <a:ext cx="7848600" cy="954107"/>
          </a:xfrm>
          <a:prstGeom prst="rect">
            <a:avLst/>
          </a:prstGeom>
        </p:spPr>
        <p:txBody>
          <a:bodyPr wrap="square">
            <a:spAutoFit/>
          </a:bodyPr>
          <a:lstStyle/>
          <a:p>
            <a:r>
              <a:rPr lang="en-US" sz="2800" dirty="0" smtClean="0"/>
              <a:t>Value </a:t>
            </a:r>
            <a:r>
              <a:rPr lang="en-US" sz="2800" dirty="0" err="1" smtClean="0"/>
              <a:t>strategyproofness</a:t>
            </a:r>
            <a:r>
              <a:rPr lang="en-US" sz="2800" dirty="0" smtClean="0"/>
              <a:t>: an agent cannot increase its own trust score</a:t>
            </a:r>
          </a:p>
        </p:txBody>
      </p:sp>
    </p:spTree>
    <p:custDataLst>
      <p:tags r:id="rId1"/>
    </p:custDataLst>
  </p:cSld>
  <p:clrMapOvr>
    <a:masterClrMapping/>
  </p:clrMapOvr>
  <p:transition advTm="39328"/>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7"/>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2"/>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5"/>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36"/>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37"/>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38"/>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9" grpId="0" animBg="1"/>
      <p:bldP spid="11" grpId="0" animBg="1"/>
      <p:bldP spid="13" grpId="0" animBg="1"/>
      <p:bldP spid="29" grpId="0" animBg="1"/>
      <p:bldP spid="30" grpId="0"/>
      <p:bldP spid="31" grpId="0" animBg="1"/>
      <p:bldP spid="3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Rank-</a:t>
            </a:r>
            <a:r>
              <a:rPr lang="en-US" dirty="0" err="1" smtClean="0"/>
              <a:t>strategyproof</a:t>
            </a:r>
            <a:r>
              <a:rPr lang="en-US" dirty="0" smtClean="0"/>
              <a:t> example</a:t>
            </a:r>
            <a:endParaRPr lang="en-US" dirty="0"/>
          </a:p>
        </p:txBody>
      </p:sp>
      <p:pic>
        <p:nvPicPr>
          <p:cNvPr id="4" name="Picture 6" descr="C:\Documents and Settings\Temp\Local Settings\Temporary Internet Files\Content.IE5\A22ZQKB8\MC900078627[1].wmf"/>
          <p:cNvPicPr>
            <a:picLocks noChangeAspect="1" noChangeArrowheads="1"/>
          </p:cNvPicPr>
          <p:nvPr/>
        </p:nvPicPr>
        <p:blipFill>
          <a:blip r:embed="rId4" cstate="print"/>
          <a:srcRect l="45534"/>
          <a:stretch>
            <a:fillRect/>
          </a:stretch>
        </p:blipFill>
        <p:spPr bwMode="auto">
          <a:xfrm>
            <a:off x="2959100" y="5467666"/>
            <a:ext cx="381000" cy="687072"/>
          </a:xfrm>
          <a:prstGeom prst="rect">
            <a:avLst/>
          </a:prstGeom>
          <a:noFill/>
        </p:spPr>
      </p:pic>
      <p:sp>
        <p:nvSpPr>
          <p:cNvPr id="5" name="Oval 4"/>
          <p:cNvSpPr/>
          <p:nvPr/>
        </p:nvSpPr>
        <p:spPr>
          <a:xfrm>
            <a:off x="2667000" y="53340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6" descr="C:\Documents and Settings\Temp\Local Settings\Temporary Internet Files\Content.IE5\A22ZQKB8\MC900078627[1].wmf"/>
          <p:cNvPicPr>
            <a:picLocks noChangeAspect="1" noChangeArrowheads="1"/>
          </p:cNvPicPr>
          <p:nvPr/>
        </p:nvPicPr>
        <p:blipFill>
          <a:blip r:embed="rId4" cstate="print"/>
          <a:srcRect l="45534"/>
          <a:stretch>
            <a:fillRect/>
          </a:stretch>
        </p:blipFill>
        <p:spPr bwMode="auto">
          <a:xfrm>
            <a:off x="1435100" y="3334066"/>
            <a:ext cx="381000" cy="687072"/>
          </a:xfrm>
          <a:prstGeom prst="rect">
            <a:avLst/>
          </a:prstGeom>
          <a:noFill/>
        </p:spPr>
      </p:pic>
      <p:sp>
        <p:nvSpPr>
          <p:cNvPr id="7" name="Oval 6"/>
          <p:cNvSpPr/>
          <p:nvPr/>
        </p:nvSpPr>
        <p:spPr>
          <a:xfrm>
            <a:off x="1143000" y="32004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6" descr="C:\Documents and Settings\Temp\Local Settings\Temporary Internet Files\Content.IE5\A22ZQKB8\MC900078627[1].wmf"/>
          <p:cNvPicPr>
            <a:picLocks noChangeAspect="1" noChangeArrowheads="1"/>
          </p:cNvPicPr>
          <p:nvPr/>
        </p:nvPicPr>
        <p:blipFill>
          <a:blip r:embed="rId4" cstate="print"/>
          <a:srcRect l="45534"/>
          <a:stretch>
            <a:fillRect/>
          </a:stretch>
        </p:blipFill>
        <p:spPr bwMode="auto">
          <a:xfrm>
            <a:off x="5702300" y="5924866"/>
            <a:ext cx="381000" cy="687072"/>
          </a:xfrm>
          <a:prstGeom prst="rect">
            <a:avLst/>
          </a:prstGeom>
          <a:noFill/>
        </p:spPr>
      </p:pic>
      <p:sp>
        <p:nvSpPr>
          <p:cNvPr id="9" name="Oval 8"/>
          <p:cNvSpPr/>
          <p:nvPr/>
        </p:nvSpPr>
        <p:spPr>
          <a:xfrm>
            <a:off x="5410200" y="57912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6" descr="C:\Documents and Settings\Temp\Local Settings\Temporary Internet Files\Content.IE5\A22ZQKB8\MC900078627[1].wmf"/>
          <p:cNvPicPr>
            <a:picLocks noChangeAspect="1" noChangeArrowheads="1"/>
          </p:cNvPicPr>
          <p:nvPr/>
        </p:nvPicPr>
        <p:blipFill>
          <a:blip r:embed="rId4" cstate="print"/>
          <a:srcRect l="45534"/>
          <a:stretch>
            <a:fillRect/>
          </a:stretch>
        </p:blipFill>
        <p:spPr bwMode="auto">
          <a:xfrm>
            <a:off x="7150100" y="2953066"/>
            <a:ext cx="381000" cy="687072"/>
          </a:xfrm>
          <a:prstGeom prst="rect">
            <a:avLst/>
          </a:prstGeom>
          <a:noFill/>
        </p:spPr>
      </p:pic>
      <p:sp>
        <p:nvSpPr>
          <p:cNvPr id="11" name="Oval 10"/>
          <p:cNvSpPr/>
          <p:nvPr/>
        </p:nvSpPr>
        <p:spPr>
          <a:xfrm>
            <a:off x="6858000" y="28194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6" descr="C:\Documents and Settings\Temp\Local Settings\Temporary Internet Files\Content.IE5\A22ZQKB8\MC900078627[1].wmf"/>
          <p:cNvPicPr>
            <a:picLocks noChangeAspect="1" noChangeArrowheads="1"/>
          </p:cNvPicPr>
          <p:nvPr/>
        </p:nvPicPr>
        <p:blipFill>
          <a:blip r:embed="rId4" cstate="print"/>
          <a:srcRect l="45534"/>
          <a:stretch>
            <a:fillRect/>
          </a:stretch>
        </p:blipFill>
        <p:spPr bwMode="auto">
          <a:xfrm>
            <a:off x="4483100" y="2495866"/>
            <a:ext cx="381000" cy="687072"/>
          </a:xfrm>
          <a:prstGeom prst="rect">
            <a:avLst/>
          </a:prstGeom>
          <a:noFill/>
        </p:spPr>
      </p:pic>
      <p:sp>
        <p:nvSpPr>
          <p:cNvPr id="13" name="Oval 12"/>
          <p:cNvSpPr/>
          <p:nvPr/>
        </p:nvSpPr>
        <p:spPr>
          <a:xfrm>
            <a:off x="4191000" y="23622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p:cNvCxnSpPr/>
          <p:nvPr/>
        </p:nvCxnSpPr>
        <p:spPr>
          <a:xfrm flipV="1">
            <a:off x="2133600" y="2971800"/>
            <a:ext cx="1905000" cy="5334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rot="5400000" flipH="1" flipV="1">
            <a:off x="2857500" y="3924300"/>
            <a:ext cx="1981200" cy="8382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2209800" y="3657600"/>
            <a:ext cx="3200400" cy="21336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5257800" y="2895600"/>
            <a:ext cx="1371600" cy="3048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rot="5400000" flipH="1" flipV="1">
            <a:off x="5753100" y="4381500"/>
            <a:ext cx="1828800" cy="8382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rot="16200000" flipV="1">
            <a:off x="4152900" y="4076700"/>
            <a:ext cx="2362200" cy="762000"/>
          </a:xfrm>
          <a:prstGeom prst="straightConnector1">
            <a:avLst/>
          </a:prstGeom>
          <a:ln w="15875">
            <a:solidFill>
              <a:srgbClr val="FF000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rot="5400000">
            <a:off x="2705100" y="3848100"/>
            <a:ext cx="1981200" cy="838200"/>
          </a:xfrm>
          <a:prstGeom prst="straightConnector1">
            <a:avLst/>
          </a:prstGeom>
          <a:ln w="15875">
            <a:solidFill>
              <a:srgbClr val="FF000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2133600" y="2971800"/>
            <a:ext cx="1905000" cy="5334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rot="5400000" flipH="1" flipV="1">
            <a:off x="2857500" y="3924300"/>
            <a:ext cx="1981200" cy="8382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2209800" y="3657600"/>
            <a:ext cx="3200400" cy="21336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5257800" y="2895600"/>
            <a:ext cx="1371600" cy="3048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rot="5400000" flipH="1" flipV="1">
            <a:off x="5753100" y="4381500"/>
            <a:ext cx="1828800" cy="8382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rot="16200000" flipV="1">
            <a:off x="4152900" y="4076700"/>
            <a:ext cx="2362200" cy="7620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rot="5400000">
            <a:off x="2705100" y="3848100"/>
            <a:ext cx="1981200" cy="8382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rot="16200000" flipH="1">
            <a:off x="1562101" y="4229100"/>
            <a:ext cx="1295400" cy="10668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sp>
        <p:nvSpPr>
          <p:cNvPr id="29" name="Oval 28"/>
          <p:cNvSpPr/>
          <p:nvPr/>
        </p:nvSpPr>
        <p:spPr>
          <a:xfrm>
            <a:off x="1143000" y="3200400"/>
            <a:ext cx="914400" cy="914400"/>
          </a:xfrm>
          <a:prstGeom prst="ellipse">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1524000" y="2819400"/>
            <a:ext cx="237566" cy="369332"/>
          </a:xfrm>
          <a:prstGeom prst="rect">
            <a:avLst/>
          </a:prstGeom>
          <a:noFill/>
        </p:spPr>
        <p:txBody>
          <a:bodyPr wrap="none" rtlCol="0">
            <a:spAutoFit/>
          </a:bodyPr>
          <a:lstStyle/>
          <a:p>
            <a:r>
              <a:rPr lang="en-US" dirty="0" err="1" smtClean="0"/>
              <a:t>i</a:t>
            </a:r>
            <a:endParaRPr lang="en-US" dirty="0"/>
          </a:p>
        </p:txBody>
      </p:sp>
      <p:sp>
        <p:nvSpPr>
          <p:cNvPr id="31" name="Oval 30"/>
          <p:cNvSpPr/>
          <p:nvPr/>
        </p:nvSpPr>
        <p:spPr>
          <a:xfrm>
            <a:off x="6858000" y="2819400"/>
            <a:ext cx="914400" cy="914400"/>
          </a:xfrm>
          <a:prstGeom prst="ellipse">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p:cNvSpPr txBox="1"/>
          <p:nvPr/>
        </p:nvSpPr>
        <p:spPr>
          <a:xfrm>
            <a:off x="7239000" y="2438400"/>
            <a:ext cx="228600" cy="369332"/>
          </a:xfrm>
          <a:prstGeom prst="rect">
            <a:avLst/>
          </a:prstGeom>
          <a:noFill/>
        </p:spPr>
        <p:txBody>
          <a:bodyPr wrap="square" rtlCol="0">
            <a:spAutoFit/>
          </a:bodyPr>
          <a:lstStyle/>
          <a:p>
            <a:r>
              <a:rPr lang="en-US" dirty="0" err="1" smtClean="0"/>
              <a:t>j</a:t>
            </a:r>
            <a:endParaRPr lang="en-US" dirty="0"/>
          </a:p>
        </p:txBody>
      </p:sp>
      <p:cxnSp>
        <p:nvCxnSpPr>
          <p:cNvPr id="34" name="Straight Arrow Connector 33"/>
          <p:cNvCxnSpPr/>
          <p:nvPr/>
        </p:nvCxnSpPr>
        <p:spPr>
          <a:xfrm>
            <a:off x="5257800" y="2895600"/>
            <a:ext cx="1371600" cy="304800"/>
          </a:xfrm>
          <a:prstGeom prst="straightConnector1">
            <a:avLst/>
          </a:prstGeom>
          <a:ln w="44450">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flipV="1">
            <a:off x="2133600" y="2971800"/>
            <a:ext cx="1905000" cy="533400"/>
          </a:xfrm>
          <a:prstGeom prst="straightConnector1">
            <a:avLst/>
          </a:prstGeom>
          <a:ln w="44450">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sp>
        <p:nvSpPr>
          <p:cNvPr id="35" name="Rectangle 34"/>
          <p:cNvSpPr/>
          <p:nvPr/>
        </p:nvSpPr>
        <p:spPr>
          <a:xfrm>
            <a:off x="914400" y="1447800"/>
            <a:ext cx="7467600" cy="954107"/>
          </a:xfrm>
          <a:prstGeom prst="rect">
            <a:avLst/>
          </a:prstGeom>
        </p:spPr>
        <p:txBody>
          <a:bodyPr wrap="square">
            <a:spAutoFit/>
          </a:bodyPr>
          <a:lstStyle/>
          <a:p>
            <a:r>
              <a:rPr lang="en-US" sz="2800" dirty="0" smtClean="0"/>
              <a:t>Rank </a:t>
            </a:r>
            <a:r>
              <a:rPr lang="en-US" sz="2800" dirty="0" err="1" smtClean="0"/>
              <a:t>strategyproofness</a:t>
            </a:r>
            <a:r>
              <a:rPr lang="en-US" sz="2800" dirty="0" smtClean="0"/>
              <a:t>: an agent cannot increase its rank</a:t>
            </a:r>
          </a:p>
        </p:txBody>
      </p:sp>
    </p:spTree>
    <p:custDataLst>
      <p:tags r:id="rId1"/>
    </p:custDataLst>
  </p:cSld>
  <p:clrMapOvr>
    <a:masterClrMapping/>
  </p:clrMapOvr>
  <p:transition advTm="45125"/>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4"/>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6"/>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7"/>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2"/>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4"/>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8"/>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9" grpId="0" animBg="1"/>
      <p:bldP spid="11" grpId="0" animBg="1"/>
      <p:bldP spid="13" grpId="0" animBg="1"/>
      <p:bldP spid="29" grpId="0" animBg="1"/>
      <p:bldP spid="30" grpId="0"/>
      <p:bldP spid="31" grpId="0" animBg="1"/>
      <p:bldP spid="3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l-GR" dirty="0" smtClean="0"/>
              <a:t>ε</a:t>
            </a:r>
            <a:r>
              <a:rPr lang="en-US" dirty="0" smtClean="0"/>
              <a:t>-</a:t>
            </a:r>
            <a:r>
              <a:rPr lang="en-US" dirty="0" err="1" smtClean="0"/>
              <a:t>strategyproof</a:t>
            </a:r>
            <a:endParaRPr lang="en-US" dirty="0"/>
          </a:p>
        </p:txBody>
      </p:sp>
      <p:sp>
        <p:nvSpPr>
          <p:cNvPr id="3" name="Content Placeholder 2"/>
          <p:cNvSpPr>
            <a:spLocks noGrp="1"/>
          </p:cNvSpPr>
          <p:nvPr>
            <p:ph idx="1"/>
          </p:nvPr>
        </p:nvSpPr>
        <p:spPr/>
        <p:txBody>
          <a:bodyPr>
            <a:normAutofit/>
          </a:bodyPr>
          <a:lstStyle/>
          <a:p>
            <a:r>
              <a:rPr lang="el-GR" b="1" dirty="0" smtClean="0"/>
              <a:t>ε</a:t>
            </a:r>
            <a:r>
              <a:rPr lang="en-US" b="1" dirty="0" smtClean="0"/>
              <a:t>-value </a:t>
            </a:r>
            <a:r>
              <a:rPr lang="en-US" b="1" dirty="0" err="1" smtClean="0"/>
              <a:t>strategyproof</a:t>
            </a:r>
            <a:r>
              <a:rPr lang="en-US" b="1" dirty="0" smtClean="0"/>
              <a:t>: </a:t>
            </a:r>
            <a:r>
              <a:rPr lang="en-US" dirty="0" smtClean="0"/>
              <a:t>Agents cannot increase their trust score by more than </a:t>
            </a:r>
            <a:r>
              <a:rPr lang="el-GR" dirty="0" smtClean="0"/>
              <a:t>ε</a:t>
            </a:r>
            <a:r>
              <a:rPr lang="en-US" dirty="0" smtClean="0"/>
              <a:t> through manipulation</a:t>
            </a:r>
          </a:p>
          <a:p>
            <a:r>
              <a:rPr lang="el-GR" b="1" dirty="0" smtClean="0"/>
              <a:t>ε</a:t>
            </a:r>
            <a:r>
              <a:rPr lang="en-US" b="1" dirty="0" smtClean="0"/>
              <a:t>-rank </a:t>
            </a:r>
            <a:r>
              <a:rPr lang="en-US" b="1" dirty="0" err="1" smtClean="0"/>
              <a:t>strategyproof</a:t>
            </a:r>
            <a:r>
              <a:rPr lang="en-US" b="1" dirty="0" smtClean="0"/>
              <a:t>: </a:t>
            </a:r>
            <a:r>
              <a:rPr lang="en-US" dirty="0" smtClean="0"/>
              <a:t>Agents cannot improve their rank to be above agents who have </a:t>
            </a:r>
            <a:r>
              <a:rPr lang="el-GR" dirty="0" smtClean="0"/>
              <a:t>ε </a:t>
            </a:r>
            <a:r>
              <a:rPr lang="en-US" dirty="0" smtClean="0"/>
              <a:t>higher trust score</a:t>
            </a:r>
          </a:p>
        </p:txBody>
      </p:sp>
    </p:spTree>
    <p:custDataLst>
      <p:tags r:id="rId1"/>
    </p:custDataLst>
  </p:cSld>
  <p:clrMapOvr>
    <a:masterClrMapping/>
  </p:clrMapOvr>
  <p:transition advTm="2825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Informativeness</a:t>
            </a:r>
            <a:r>
              <a:rPr lang="en-US" dirty="0" smtClean="0"/>
              <a:t> vs. </a:t>
            </a:r>
            <a:r>
              <a:rPr lang="en-US" dirty="0" err="1" smtClean="0"/>
              <a:t>Strategyproofness</a:t>
            </a:r>
            <a:endParaRPr lang="en-US" dirty="0"/>
          </a:p>
        </p:txBody>
      </p:sp>
      <p:pic>
        <p:nvPicPr>
          <p:cNvPr id="3074" name="Picture 2" descr="C:\home\jietang\My Dropbox\Documents\thesis\code\trunk\aamas10\cameraready\tradeoffs.jpg"/>
          <p:cNvPicPr>
            <a:picLocks noChangeAspect="1" noChangeArrowheads="1"/>
          </p:cNvPicPr>
          <p:nvPr/>
        </p:nvPicPr>
        <p:blipFill>
          <a:blip r:embed="rId3" cstate="print"/>
          <a:srcRect r="23009"/>
          <a:stretch>
            <a:fillRect/>
          </a:stretch>
        </p:blipFill>
        <p:spPr bwMode="auto">
          <a:xfrm>
            <a:off x="228600" y="1943375"/>
            <a:ext cx="8728983" cy="3924025"/>
          </a:xfrm>
          <a:prstGeom prst="rect">
            <a:avLst/>
          </a:prstGeom>
          <a:noFill/>
        </p:spPr>
      </p:pic>
      <p:sp>
        <p:nvSpPr>
          <p:cNvPr id="4" name="Right Brace 3"/>
          <p:cNvSpPr/>
          <p:nvPr/>
        </p:nvSpPr>
        <p:spPr>
          <a:xfrm>
            <a:off x="5334000" y="3048000"/>
            <a:ext cx="304800" cy="2438400"/>
          </a:xfrm>
          <a:prstGeom prst="rightBrace">
            <a:avLst>
              <a:gd name="adj1" fmla="val 8333"/>
              <a:gd name="adj2" fmla="val 15940"/>
            </a:avLst>
          </a:prstGeom>
          <a:ln w="25400">
            <a:solidFill>
              <a:schemeClr val="tx1"/>
            </a:soli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Right Brace 4"/>
          <p:cNvSpPr/>
          <p:nvPr/>
        </p:nvSpPr>
        <p:spPr>
          <a:xfrm>
            <a:off x="5791200" y="4953000"/>
            <a:ext cx="228600" cy="533400"/>
          </a:xfrm>
          <a:prstGeom prst="rightBrace">
            <a:avLst>
              <a:gd name="adj1" fmla="val 8333"/>
              <a:gd name="adj2" fmla="val 48189"/>
            </a:avLst>
          </a:prstGeom>
          <a:ln w="25400">
            <a:solidFill>
              <a:schemeClr val="tx1"/>
            </a:soli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ransition advTm="34359"/>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a:t>
            </a:r>
            <a:endParaRPr lang="en-US" dirty="0"/>
          </a:p>
        </p:txBody>
      </p:sp>
      <p:sp>
        <p:nvSpPr>
          <p:cNvPr id="4" name="Content Placeholder 3"/>
          <p:cNvSpPr>
            <a:spLocks noGrp="1"/>
          </p:cNvSpPr>
          <p:nvPr>
            <p:ph idx="1"/>
          </p:nvPr>
        </p:nvSpPr>
        <p:spPr/>
        <p:txBody>
          <a:bodyPr>
            <a:normAutofit fontScale="92500" lnSpcReduction="10000"/>
          </a:bodyPr>
          <a:lstStyle/>
          <a:p>
            <a:r>
              <a:rPr lang="en-US" dirty="0" smtClean="0"/>
              <a:t>Motivation</a:t>
            </a:r>
          </a:p>
          <a:p>
            <a:r>
              <a:rPr lang="en-US" dirty="0" smtClean="0"/>
              <a:t>Example Mechanisms</a:t>
            </a:r>
          </a:p>
          <a:p>
            <a:r>
              <a:rPr lang="en-US" dirty="0" err="1" smtClean="0"/>
              <a:t>Informativeness</a:t>
            </a:r>
            <a:r>
              <a:rPr lang="en-US" dirty="0" smtClean="0"/>
              <a:t> vs. </a:t>
            </a:r>
            <a:r>
              <a:rPr lang="en-US" dirty="0" err="1" smtClean="0"/>
              <a:t>Strategyproofness</a:t>
            </a:r>
            <a:endParaRPr lang="en-US" dirty="0" smtClean="0"/>
          </a:p>
          <a:p>
            <a:r>
              <a:rPr lang="en-US" b="1" dirty="0" smtClean="0"/>
              <a:t>Hybrid Transitive Trust Mechanisms</a:t>
            </a:r>
          </a:p>
          <a:p>
            <a:pPr lvl="1"/>
            <a:r>
              <a:rPr lang="en-US" dirty="0" smtClean="0"/>
              <a:t>Theoretical Analysis</a:t>
            </a:r>
          </a:p>
          <a:p>
            <a:r>
              <a:rPr lang="en-US" dirty="0" smtClean="0"/>
              <a:t>Experimental Results</a:t>
            </a:r>
          </a:p>
          <a:p>
            <a:pPr lvl="1"/>
            <a:r>
              <a:rPr lang="en-US" dirty="0" err="1" smtClean="0"/>
              <a:t>Informativeness</a:t>
            </a:r>
            <a:endParaRPr lang="en-US" dirty="0" smtClean="0"/>
          </a:p>
          <a:p>
            <a:pPr lvl="1"/>
            <a:r>
              <a:rPr lang="en-US" dirty="0" smtClean="0"/>
              <a:t>Efficiency</a:t>
            </a:r>
          </a:p>
          <a:p>
            <a:r>
              <a:rPr lang="en-US" dirty="0" smtClean="0"/>
              <a:t>Conclusions</a:t>
            </a:r>
          </a:p>
        </p:txBody>
      </p:sp>
    </p:spTree>
  </p:cSld>
  <p:clrMapOvr>
    <a:masterClrMapping/>
  </p:clrMapOvr>
  <p:transition advTm="15046"/>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Hybrid Mechanisms</a:t>
            </a:r>
            <a:endParaRPr lang="en-US" dirty="0"/>
          </a:p>
        </p:txBody>
      </p:sp>
      <p:sp>
        <p:nvSpPr>
          <p:cNvPr id="153" name="Content Placeholder 152"/>
          <p:cNvSpPr>
            <a:spLocks noGrp="1"/>
          </p:cNvSpPr>
          <p:nvPr>
            <p:ph idx="1"/>
          </p:nvPr>
        </p:nvSpPr>
        <p:spPr>
          <a:xfrm>
            <a:off x="457200" y="3398837"/>
            <a:ext cx="8229600" cy="3459163"/>
          </a:xfrm>
        </p:spPr>
        <p:txBody>
          <a:bodyPr/>
          <a:lstStyle/>
          <a:p>
            <a:r>
              <a:rPr lang="en-US" dirty="0" smtClean="0"/>
              <a:t>Convex weighting of two mechanisms (one with good </a:t>
            </a:r>
            <a:r>
              <a:rPr lang="en-US" dirty="0" err="1" smtClean="0"/>
              <a:t>strategyproofness</a:t>
            </a:r>
            <a:r>
              <a:rPr lang="en-US" dirty="0" smtClean="0"/>
              <a:t> properties, one with good </a:t>
            </a:r>
            <a:r>
              <a:rPr lang="en-US" dirty="0" err="1" smtClean="0"/>
              <a:t>informativeness</a:t>
            </a:r>
            <a:r>
              <a:rPr lang="en-US" dirty="0" smtClean="0"/>
              <a:t>)</a:t>
            </a:r>
          </a:p>
          <a:p>
            <a:r>
              <a:rPr lang="en-US" dirty="0" smtClean="0"/>
              <a:t>Get intermediate </a:t>
            </a:r>
            <a:r>
              <a:rPr lang="en-US" dirty="0" err="1" smtClean="0"/>
              <a:t>strategyproofness</a:t>
            </a:r>
            <a:r>
              <a:rPr lang="en-US" dirty="0" smtClean="0"/>
              <a:t> and </a:t>
            </a:r>
            <a:r>
              <a:rPr lang="en-US" dirty="0" err="1" smtClean="0"/>
              <a:t>informativeness</a:t>
            </a:r>
            <a:r>
              <a:rPr lang="en-US" dirty="0" smtClean="0"/>
              <a:t> properties</a:t>
            </a:r>
          </a:p>
        </p:txBody>
      </p:sp>
      <p:sp>
        <p:nvSpPr>
          <p:cNvPr id="194" name="TextBox 193"/>
          <p:cNvSpPr txBox="1"/>
          <p:nvPr/>
        </p:nvSpPr>
        <p:spPr>
          <a:xfrm>
            <a:off x="609600" y="1447800"/>
            <a:ext cx="9753600" cy="1569660"/>
          </a:xfrm>
          <a:prstGeom prst="rect">
            <a:avLst/>
          </a:prstGeom>
          <a:noFill/>
        </p:spPr>
        <p:txBody>
          <a:bodyPr wrap="square" rtlCol="0">
            <a:spAutoFit/>
          </a:bodyPr>
          <a:lstStyle/>
          <a:p>
            <a:r>
              <a:rPr lang="el-GR" sz="4800" dirty="0" smtClean="0"/>
              <a:t>α</a:t>
            </a:r>
            <a:r>
              <a:rPr lang="en-US" sz="9600" dirty="0" smtClean="0"/>
              <a:t>(        )</a:t>
            </a:r>
            <a:r>
              <a:rPr lang="en-US" sz="4800" dirty="0" smtClean="0"/>
              <a:t> + (1-</a:t>
            </a:r>
            <a:r>
              <a:rPr lang="el-GR" sz="4800" dirty="0" smtClean="0"/>
              <a:t>α</a:t>
            </a:r>
            <a:r>
              <a:rPr lang="en-US" sz="4800" dirty="0" smtClean="0"/>
              <a:t>)</a:t>
            </a:r>
            <a:r>
              <a:rPr lang="en-US" sz="9600" dirty="0" smtClean="0"/>
              <a:t>(        )</a:t>
            </a:r>
            <a:endParaRPr lang="en-US" sz="9600" dirty="0"/>
          </a:p>
        </p:txBody>
      </p:sp>
      <p:grpSp>
        <p:nvGrpSpPr>
          <p:cNvPr id="195" name="Group 149"/>
          <p:cNvGrpSpPr>
            <a:grpSpLocks noChangeAspect="1"/>
          </p:cNvGrpSpPr>
          <p:nvPr/>
        </p:nvGrpSpPr>
        <p:grpSpPr>
          <a:xfrm>
            <a:off x="6019795" y="1569720"/>
            <a:ext cx="2359143" cy="1554475"/>
            <a:chOff x="4800600" y="1752600"/>
            <a:chExt cx="6629400" cy="4343400"/>
          </a:xfrm>
        </p:grpSpPr>
        <p:pic>
          <p:nvPicPr>
            <p:cNvPr id="230" name="Picture 6" descr="C:\Documents and Settings\Temp\Local Settings\Temporary Internet Files\Content.IE5\A22ZQKB8\MC900078627[1].wmf"/>
            <p:cNvPicPr>
              <a:picLocks noChangeAspect="1" noChangeArrowheads="1"/>
            </p:cNvPicPr>
            <p:nvPr/>
          </p:nvPicPr>
          <p:blipFill>
            <a:blip r:embed="rId4" cstate="print"/>
            <a:srcRect l="45534"/>
            <a:stretch>
              <a:fillRect/>
            </a:stretch>
          </p:blipFill>
          <p:spPr bwMode="auto">
            <a:xfrm>
              <a:off x="6616700" y="4858066"/>
              <a:ext cx="381000" cy="687072"/>
            </a:xfrm>
            <a:prstGeom prst="rect">
              <a:avLst/>
            </a:prstGeom>
            <a:noFill/>
          </p:spPr>
        </p:pic>
        <p:sp>
          <p:nvSpPr>
            <p:cNvPr id="231" name="Oval 230"/>
            <p:cNvSpPr/>
            <p:nvPr/>
          </p:nvSpPr>
          <p:spPr>
            <a:xfrm>
              <a:off x="6324600" y="47244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pic>
          <p:nvPicPr>
            <p:cNvPr id="232" name="Picture 6" descr="C:\Documents and Settings\Temp\Local Settings\Temporary Internet Files\Content.IE5\A22ZQKB8\MC900078627[1].wmf"/>
            <p:cNvPicPr>
              <a:picLocks noChangeAspect="1" noChangeArrowheads="1"/>
            </p:cNvPicPr>
            <p:nvPr/>
          </p:nvPicPr>
          <p:blipFill>
            <a:blip r:embed="rId4" cstate="print"/>
            <a:srcRect l="45534"/>
            <a:stretch>
              <a:fillRect/>
            </a:stretch>
          </p:blipFill>
          <p:spPr bwMode="auto">
            <a:xfrm>
              <a:off x="5092700" y="2724466"/>
              <a:ext cx="381000" cy="687072"/>
            </a:xfrm>
            <a:prstGeom prst="rect">
              <a:avLst/>
            </a:prstGeom>
            <a:noFill/>
          </p:spPr>
        </p:pic>
        <p:sp>
          <p:nvSpPr>
            <p:cNvPr id="233" name="Oval 232"/>
            <p:cNvSpPr/>
            <p:nvPr/>
          </p:nvSpPr>
          <p:spPr>
            <a:xfrm>
              <a:off x="4800600" y="25908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pic>
          <p:nvPicPr>
            <p:cNvPr id="234" name="Picture 6" descr="C:\Documents and Settings\Temp\Local Settings\Temporary Internet Files\Content.IE5\A22ZQKB8\MC900078627[1].wmf"/>
            <p:cNvPicPr>
              <a:picLocks noChangeAspect="1" noChangeArrowheads="1"/>
            </p:cNvPicPr>
            <p:nvPr/>
          </p:nvPicPr>
          <p:blipFill>
            <a:blip r:embed="rId4" cstate="print"/>
            <a:srcRect l="45534"/>
            <a:stretch>
              <a:fillRect/>
            </a:stretch>
          </p:blipFill>
          <p:spPr bwMode="auto">
            <a:xfrm>
              <a:off x="9359900" y="5315266"/>
              <a:ext cx="381000" cy="687072"/>
            </a:xfrm>
            <a:prstGeom prst="rect">
              <a:avLst/>
            </a:prstGeom>
            <a:noFill/>
          </p:spPr>
        </p:pic>
        <p:sp>
          <p:nvSpPr>
            <p:cNvPr id="235" name="Oval 234"/>
            <p:cNvSpPr/>
            <p:nvPr/>
          </p:nvSpPr>
          <p:spPr>
            <a:xfrm>
              <a:off x="9067800" y="51816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pic>
          <p:nvPicPr>
            <p:cNvPr id="236" name="Picture 6" descr="C:\Documents and Settings\Temp\Local Settings\Temporary Internet Files\Content.IE5\A22ZQKB8\MC900078627[1].wmf"/>
            <p:cNvPicPr>
              <a:picLocks noChangeAspect="1" noChangeArrowheads="1"/>
            </p:cNvPicPr>
            <p:nvPr/>
          </p:nvPicPr>
          <p:blipFill>
            <a:blip r:embed="rId4" cstate="print"/>
            <a:srcRect l="45534"/>
            <a:stretch>
              <a:fillRect/>
            </a:stretch>
          </p:blipFill>
          <p:spPr bwMode="auto">
            <a:xfrm>
              <a:off x="10807700" y="2343466"/>
              <a:ext cx="381000" cy="687072"/>
            </a:xfrm>
            <a:prstGeom prst="rect">
              <a:avLst/>
            </a:prstGeom>
            <a:noFill/>
          </p:spPr>
        </p:pic>
        <p:sp>
          <p:nvSpPr>
            <p:cNvPr id="237" name="Oval 236"/>
            <p:cNvSpPr/>
            <p:nvPr/>
          </p:nvSpPr>
          <p:spPr>
            <a:xfrm>
              <a:off x="10515600" y="22098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pic>
          <p:nvPicPr>
            <p:cNvPr id="238" name="Picture 6" descr="C:\Documents and Settings\Temp\Local Settings\Temporary Internet Files\Content.IE5\A22ZQKB8\MC900078627[1].wmf"/>
            <p:cNvPicPr>
              <a:picLocks noChangeAspect="1" noChangeArrowheads="1"/>
            </p:cNvPicPr>
            <p:nvPr/>
          </p:nvPicPr>
          <p:blipFill>
            <a:blip r:embed="rId4" cstate="print"/>
            <a:srcRect l="45534"/>
            <a:stretch>
              <a:fillRect/>
            </a:stretch>
          </p:blipFill>
          <p:spPr bwMode="auto">
            <a:xfrm>
              <a:off x="8140700" y="1886266"/>
              <a:ext cx="381000" cy="687072"/>
            </a:xfrm>
            <a:prstGeom prst="rect">
              <a:avLst/>
            </a:prstGeom>
            <a:noFill/>
          </p:spPr>
        </p:pic>
        <p:sp>
          <p:nvSpPr>
            <p:cNvPr id="239" name="Oval 238"/>
            <p:cNvSpPr/>
            <p:nvPr/>
          </p:nvSpPr>
          <p:spPr>
            <a:xfrm>
              <a:off x="7848600" y="17526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cxnSp>
          <p:nvCxnSpPr>
            <p:cNvPr id="240" name="Straight Arrow Connector 239"/>
            <p:cNvCxnSpPr/>
            <p:nvPr/>
          </p:nvCxnSpPr>
          <p:spPr>
            <a:xfrm flipV="1">
              <a:off x="5791200" y="2362200"/>
              <a:ext cx="1905000" cy="5334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41" name="Straight Arrow Connector 240"/>
            <p:cNvCxnSpPr/>
            <p:nvPr/>
          </p:nvCxnSpPr>
          <p:spPr>
            <a:xfrm rot="5400000" flipH="1" flipV="1">
              <a:off x="6515100" y="3314700"/>
              <a:ext cx="1981200" cy="8382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42" name="Straight Arrow Connector 241"/>
            <p:cNvCxnSpPr/>
            <p:nvPr/>
          </p:nvCxnSpPr>
          <p:spPr>
            <a:xfrm>
              <a:off x="5867400" y="3048000"/>
              <a:ext cx="3200400" cy="21336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43" name="Straight Arrow Connector 242"/>
            <p:cNvCxnSpPr/>
            <p:nvPr/>
          </p:nvCxnSpPr>
          <p:spPr>
            <a:xfrm>
              <a:off x="8915400" y="2286000"/>
              <a:ext cx="1371600" cy="3048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44" name="Straight Arrow Connector 243"/>
            <p:cNvCxnSpPr/>
            <p:nvPr/>
          </p:nvCxnSpPr>
          <p:spPr>
            <a:xfrm rot="5400000" flipH="1" flipV="1">
              <a:off x="9410700" y="3771900"/>
              <a:ext cx="1828800" cy="8382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45" name="Straight Arrow Connector 244"/>
            <p:cNvCxnSpPr/>
            <p:nvPr/>
          </p:nvCxnSpPr>
          <p:spPr>
            <a:xfrm rot="16200000" flipV="1">
              <a:off x="7810500" y="3467100"/>
              <a:ext cx="2362200" cy="762000"/>
            </a:xfrm>
            <a:prstGeom prst="straightConnector1">
              <a:avLst/>
            </a:prstGeom>
            <a:ln w="15875">
              <a:solidFill>
                <a:srgbClr val="FF000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46" name="Straight Arrow Connector 245"/>
            <p:cNvCxnSpPr/>
            <p:nvPr/>
          </p:nvCxnSpPr>
          <p:spPr>
            <a:xfrm rot="5400000">
              <a:off x="6362700" y="3238500"/>
              <a:ext cx="1981200" cy="838200"/>
            </a:xfrm>
            <a:prstGeom prst="straightConnector1">
              <a:avLst/>
            </a:prstGeom>
            <a:ln w="15875">
              <a:solidFill>
                <a:srgbClr val="FF000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47" name="Straight Arrow Connector 246"/>
            <p:cNvCxnSpPr/>
            <p:nvPr/>
          </p:nvCxnSpPr>
          <p:spPr>
            <a:xfrm flipV="1">
              <a:off x="5791200" y="2362200"/>
              <a:ext cx="1905000" cy="5334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48" name="Straight Arrow Connector 247"/>
            <p:cNvCxnSpPr/>
            <p:nvPr/>
          </p:nvCxnSpPr>
          <p:spPr>
            <a:xfrm rot="5400000" flipH="1" flipV="1">
              <a:off x="6515100" y="3314700"/>
              <a:ext cx="1981200" cy="8382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49" name="Straight Arrow Connector 248"/>
            <p:cNvCxnSpPr/>
            <p:nvPr/>
          </p:nvCxnSpPr>
          <p:spPr>
            <a:xfrm>
              <a:off x="5867400" y="3048000"/>
              <a:ext cx="3200400" cy="21336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50" name="Straight Arrow Connector 249"/>
            <p:cNvCxnSpPr/>
            <p:nvPr/>
          </p:nvCxnSpPr>
          <p:spPr>
            <a:xfrm>
              <a:off x="8915400" y="2286000"/>
              <a:ext cx="1371600" cy="3048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51" name="Straight Arrow Connector 250"/>
            <p:cNvCxnSpPr/>
            <p:nvPr/>
          </p:nvCxnSpPr>
          <p:spPr>
            <a:xfrm rot="5400000" flipH="1" flipV="1">
              <a:off x="9410700" y="3771900"/>
              <a:ext cx="1828800" cy="8382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52" name="Straight Arrow Connector 251"/>
            <p:cNvCxnSpPr/>
            <p:nvPr/>
          </p:nvCxnSpPr>
          <p:spPr>
            <a:xfrm rot="16200000" flipV="1">
              <a:off x="7810500" y="3467100"/>
              <a:ext cx="2362200" cy="7620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53" name="Straight Arrow Connector 252"/>
            <p:cNvCxnSpPr/>
            <p:nvPr/>
          </p:nvCxnSpPr>
          <p:spPr>
            <a:xfrm rot="5400000">
              <a:off x="6362700" y="3238500"/>
              <a:ext cx="1981200" cy="8382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54" name="Straight Arrow Connector 253"/>
            <p:cNvCxnSpPr/>
            <p:nvPr/>
          </p:nvCxnSpPr>
          <p:spPr>
            <a:xfrm rot="16200000" flipH="1">
              <a:off x="5219701" y="3619500"/>
              <a:ext cx="1295400" cy="10668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55" name="Straight Arrow Connector 254"/>
            <p:cNvCxnSpPr/>
            <p:nvPr/>
          </p:nvCxnSpPr>
          <p:spPr>
            <a:xfrm>
              <a:off x="8915400" y="2286000"/>
              <a:ext cx="1371600" cy="304800"/>
            </a:xfrm>
            <a:prstGeom prst="straightConnector1">
              <a:avLst/>
            </a:prstGeom>
            <a:ln w="44450">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56" name="Straight Arrow Connector 255"/>
            <p:cNvCxnSpPr/>
            <p:nvPr/>
          </p:nvCxnSpPr>
          <p:spPr>
            <a:xfrm flipV="1">
              <a:off x="5791200" y="2362200"/>
              <a:ext cx="1905000" cy="533400"/>
            </a:xfrm>
            <a:prstGeom prst="straightConnector1">
              <a:avLst/>
            </a:prstGeom>
            <a:ln w="44450">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grpSp>
      <p:grpSp>
        <p:nvGrpSpPr>
          <p:cNvPr id="196" name="Group 155"/>
          <p:cNvGrpSpPr>
            <a:grpSpLocks noChangeAspect="1"/>
          </p:cNvGrpSpPr>
          <p:nvPr/>
        </p:nvGrpSpPr>
        <p:grpSpPr>
          <a:xfrm>
            <a:off x="1295399" y="1569718"/>
            <a:ext cx="2372626" cy="1554480"/>
            <a:chOff x="1143001" y="2133600"/>
            <a:chExt cx="6629399" cy="4343400"/>
          </a:xfrm>
        </p:grpSpPr>
        <p:sp>
          <p:nvSpPr>
            <p:cNvPr id="197" name="Oval 196"/>
            <p:cNvSpPr/>
            <p:nvPr/>
          </p:nvSpPr>
          <p:spPr>
            <a:xfrm>
              <a:off x="5410200" y="55626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Oval 197"/>
            <p:cNvSpPr/>
            <p:nvPr/>
          </p:nvSpPr>
          <p:spPr>
            <a:xfrm>
              <a:off x="6858000" y="25908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9" name="Picture 22"/>
            <p:cNvPicPr>
              <a:picLocks noChangeArrowheads="1"/>
            </p:cNvPicPr>
            <p:nvPr/>
          </p:nvPicPr>
          <p:blipFill>
            <a:blip r:embed="rId5" cstate="print"/>
            <a:srcRect/>
            <a:stretch>
              <a:fillRect/>
            </a:stretch>
          </p:blipFill>
          <p:spPr bwMode="auto">
            <a:xfrm>
              <a:off x="1447800" y="3124200"/>
              <a:ext cx="384048" cy="685800"/>
            </a:xfrm>
            <a:prstGeom prst="rect">
              <a:avLst/>
            </a:prstGeom>
            <a:noFill/>
            <a:ln w="9525">
              <a:noFill/>
              <a:miter lim="800000"/>
              <a:headEnd/>
              <a:tailEnd/>
            </a:ln>
          </p:spPr>
        </p:pic>
        <p:pic>
          <p:nvPicPr>
            <p:cNvPr id="200" name="Picture 22"/>
            <p:cNvPicPr>
              <a:picLocks noChangeArrowheads="1"/>
            </p:cNvPicPr>
            <p:nvPr/>
          </p:nvPicPr>
          <p:blipFill>
            <a:blip r:embed="rId5" cstate="print"/>
            <a:srcRect/>
            <a:stretch>
              <a:fillRect/>
            </a:stretch>
          </p:blipFill>
          <p:spPr bwMode="auto">
            <a:xfrm>
              <a:off x="1435608" y="3108960"/>
              <a:ext cx="384048" cy="685800"/>
            </a:xfrm>
            <a:prstGeom prst="rect">
              <a:avLst/>
            </a:prstGeom>
            <a:noFill/>
            <a:ln w="9525">
              <a:noFill/>
              <a:miter lim="800000"/>
              <a:headEnd/>
              <a:tailEnd/>
            </a:ln>
          </p:spPr>
        </p:pic>
        <p:pic>
          <p:nvPicPr>
            <p:cNvPr id="201" name="Picture 6" descr="C:\Documents and Settings\Temp\Local Settings\Temporary Internet Files\Content.IE5\A22ZQKB8\MC900078627[1].wmf"/>
            <p:cNvPicPr>
              <a:picLocks noChangeAspect="1" noChangeArrowheads="1"/>
            </p:cNvPicPr>
            <p:nvPr/>
          </p:nvPicPr>
          <p:blipFill>
            <a:blip r:embed="rId4" cstate="print"/>
            <a:srcRect l="45534"/>
            <a:stretch>
              <a:fillRect/>
            </a:stretch>
          </p:blipFill>
          <p:spPr bwMode="auto">
            <a:xfrm>
              <a:off x="2959100" y="5239066"/>
              <a:ext cx="381000" cy="687072"/>
            </a:xfrm>
            <a:prstGeom prst="rect">
              <a:avLst/>
            </a:prstGeom>
            <a:noFill/>
          </p:spPr>
        </p:pic>
        <p:sp>
          <p:nvSpPr>
            <p:cNvPr id="202" name="Oval 201"/>
            <p:cNvSpPr/>
            <p:nvPr/>
          </p:nvSpPr>
          <p:spPr>
            <a:xfrm>
              <a:off x="2667000" y="51054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Oval 202"/>
            <p:cNvSpPr/>
            <p:nvPr/>
          </p:nvSpPr>
          <p:spPr>
            <a:xfrm>
              <a:off x="1143001" y="29718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4" name="Picture 6" descr="C:\Documents and Settings\Temp\Local Settings\Temporary Internet Files\Content.IE5\A22ZQKB8\MC900078627[1].wmf"/>
            <p:cNvPicPr>
              <a:picLocks noChangeAspect="1" noChangeArrowheads="1"/>
            </p:cNvPicPr>
            <p:nvPr/>
          </p:nvPicPr>
          <p:blipFill>
            <a:blip r:embed="rId4" cstate="print"/>
            <a:srcRect l="45534"/>
            <a:stretch>
              <a:fillRect/>
            </a:stretch>
          </p:blipFill>
          <p:spPr bwMode="auto">
            <a:xfrm>
              <a:off x="5702300" y="5696266"/>
              <a:ext cx="381000" cy="687072"/>
            </a:xfrm>
            <a:prstGeom prst="rect">
              <a:avLst/>
            </a:prstGeom>
            <a:noFill/>
          </p:spPr>
        </p:pic>
        <p:pic>
          <p:nvPicPr>
            <p:cNvPr id="205" name="Picture 6" descr="C:\Documents and Settings\Temp\Local Settings\Temporary Internet Files\Content.IE5\A22ZQKB8\MC900078627[1].wmf"/>
            <p:cNvPicPr>
              <a:picLocks noChangeAspect="1" noChangeArrowheads="1"/>
            </p:cNvPicPr>
            <p:nvPr/>
          </p:nvPicPr>
          <p:blipFill>
            <a:blip r:embed="rId4" cstate="print"/>
            <a:srcRect l="45534"/>
            <a:stretch>
              <a:fillRect/>
            </a:stretch>
          </p:blipFill>
          <p:spPr bwMode="auto">
            <a:xfrm>
              <a:off x="7150100" y="2724466"/>
              <a:ext cx="381000" cy="687072"/>
            </a:xfrm>
            <a:prstGeom prst="rect">
              <a:avLst/>
            </a:prstGeom>
            <a:noFill/>
          </p:spPr>
        </p:pic>
        <p:pic>
          <p:nvPicPr>
            <p:cNvPr id="206" name="Picture 6" descr="C:\Documents and Settings\Temp\Local Settings\Temporary Internet Files\Content.IE5\A22ZQKB8\MC900078627[1].wmf"/>
            <p:cNvPicPr>
              <a:picLocks noChangeAspect="1" noChangeArrowheads="1"/>
            </p:cNvPicPr>
            <p:nvPr/>
          </p:nvPicPr>
          <p:blipFill>
            <a:blip r:embed="rId4" cstate="print"/>
            <a:srcRect l="45534"/>
            <a:stretch>
              <a:fillRect/>
            </a:stretch>
          </p:blipFill>
          <p:spPr bwMode="auto">
            <a:xfrm>
              <a:off x="4483100" y="2267266"/>
              <a:ext cx="381000" cy="687072"/>
            </a:xfrm>
            <a:prstGeom prst="rect">
              <a:avLst/>
            </a:prstGeom>
            <a:noFill/>
          </p:spPr>
        </p:pic>
        <p:sp>
          <p:nvSpPr>
            <p:cNvPr id="207" name="Oval 206"/>
            <p:cNvSpPr/>
            <p:nvPr/>
          </p:nvSpPr>
          <p:spPr>
            <a:xfrm>
              <a:off x="4191000" y="2133600"/>
              <a:ext cx="914400" cy="9144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8" name="Straight Arrow Connector 207"/>
            <p:cNvCxnSpPr/>
            <p:nvPr/>
          </p:nvCxnSpPr>
          <p:spPr>
            <a:xfrm flipV="1">
              <a:off x="2133600" y="2743200"/>
              <a:ext cx="1905000" cy="5334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09" name="Straight Arrow Connector 208"/>
            <p:cNvCxnSpPr/>
            <p:nvPr/>
          </p:nvCxnSpPr>
          <p:spPr>
            <a:xfrm rot="5400000" flipH="1" flipV="1">
              <a:off x="2857500" y="3695700"/>
              <a:ext cx="1981200" cy="8382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10" name="Straight Arrow Connector 209"/>
            <p:cNvCxnSpPr/>
            <p:nvPr/>
          </p:nvCxnSpPr>
          <p:spPr>
            <a:xfrm>
              <a:off x="2209800" y="3429000"/>
              <a:ext cx="3200400" cy="21336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11" name="Straight Arrow Connector 210"/>
            <p:cNvCxnSpPr/>
            <p:nvPr/>
          </p:nvCxnSpPr>
          <p:spPr>
            <a:xfrm>
              <a:off x="5257800" y="2667000"/>
              <a:ext cx="1371600" cy="3048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12" name="Straight Arrow Connector 211"/>
            <p:cNvCxnSpPr/>
            <p:nvPr/>
          </p:nvCxnSpPr>
          <p:spPr>
            <a:xfrm rot="5400000" flipH="1" flipV="1">
              <a:off x="5753100" y="4152900"/>
              <a:ext cx="1828800" cy="838200"/>
            </a:xfrm>
            <a:prstGeom prst="straightConnector1">
              <a:avLst/>
            </a:prstGeom>
            <a:ln w="15875">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13" name="Straight Arrow Connector 212"/>
            <p:cNvCxnSpPr/>
            <p:nvPr/>
          </p:nvCxnSpPr>
          <p:spPr>
            <a:xfrm rot="16200000" flipV="1">
              <a:off x="4152900" y="3848100"/>
              <a:ext cx="2362200" cy="762000"/>
            </a:xfrm>
            <a:prstGeom prst="straightConnector1">
              <a:avLst/>
            </a:prstGeom>
            <a:ln w="15875">
              <a:solidFill>
                <a:srgbClr val="FF000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14" name="Straight Arrow Connector 213"/>
            <p:cNvCxnSpPr/>
            <p:nvPr/>
          </p:nvCxnSpPr>
          <p:spPr>
            <a:xfrm rot="5400000">
              <a:off x="2705100" y="3619500"/>
              <a:ext cx="1981200" cy="838200"/>
            </a:xfrm>
            <a:prstGeom prst="straightConnector1">
              <a:avLst/>
            </a:prstGeom>
            <a:ln w="15875">
              <a:solidFill>
                <a:srgbClr val="FF000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15" name="Straight Arrow Connector 214"/>
            <p:cNvCxnSpPr/>
            <p:nvPr/>
          </p:nvCxnSpPr>
          <p:spPr>
            <a:xfrm flipV="1">
              <a:off x="2133600" y="2743200"/>
              <a:ext cx="1905000" cy="5334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16" name="Straight Arrow Connector 215"/>
            <p:cNvCxnSpPr/>
            <p:nvPr/>
          </p:nvCxnSpPr>
          <p:spPr>
            <a:xfrm rot="5400000" flipH="1" flipV="1">
              <a:off x="2857500" y="3695700"/>
              <a:ext cx="1981200" cy="8382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17" name="Straight Arrow Connector 216"/>
            <p:cNvCxnSpPr/>
            <p:nvPr/>
          </p:nvCxnSpPr>
          <p:spPr>
            <a:xfrm>
              <a:off x="2209800" y="3429000"/>
              <a:ext cx="3200400" cy="21336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18" name="Straight Arrow Connector 217"/>
            <p:cNvCxnSpPr/>
            <p:nvPr/>
          </p:nvCxnSpPr>
          <p:spPr>
            <a:xfrm>
              <a:off x="5257800" y="2667000"/>
              <a:ext cx="1371600" cy="3048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19" name="Straight Arrow Connector 218"/>
            <p:cNvCxnSpPr/>
            <p:nvPr/>
          </p:nvCxnSpPr>
          <p:spPr>
            <a:xfrm rot="5400000" flipH="1" flipV="1">
              <a:off x="5753100" y="4152900"/>
              <a:ext cx="1828800" cy="8382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20" name="Straight Arrow Connector 219"/>
            <p:cNvCxnSpPr/>
            <p:nvPr/>
          </p:nvCxnSpPr>
          <p:spPr>
            <a:xfrm rot="16200000" flipV="1">
              <a:off x="4152900" y="3848100"/>
              <a:ext cx="2362200" cy="7620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21" name="Straight Arrow Connector 220"/>
            <p:cNvCxnSpPr/>
            <p:nvPr/>
          </p:nvCxnSpPr>
          <p:spPr>
            <a:xfrm rot="5400000">
              <a:off x="2705100" y="3619500"/>
              <a:ext cx="1981200" cy="8382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22" name="Straight Arrow Connector 221"/>
            <p:cNvCxnSpPr/>
            <p:nvPr/>
          </p:nvCxnSpPr>
          <p:spPr>
            <a:xfrm rot="16200000" flipH="1">
              <a:off x="1562101" y="4000500"/>
              <a:ext cx="1295400" cy="1066800"/>
            </a:xfrm>
            <a:prstGeom prst="straightConnector1">
              <a:avLst/>
            </a:prstGeom>
            <a:ln w="1587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23" name="Straight Arrow Connector 222"/>
            <p:cNvCxnSpPr/>
            <p:nvPr/>
          </p:nvCxnSpPr>
          <p:spPr>
            <a:xfrm flipV="1">
              <a:off x="2133600" y="2743200"/>
              <a:ext cx="1905000" cy="533400"/>
            </a:xfrm>
            <a:prstGeom prst="straightConnector1">
              <a:avLst/>
            </a:prstGeom>
            <a:ln w="44450">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24" name="Straight Arrow Connector 223"/>
            <p:cNvCxnSpPr/>
            <p:nvPr/>
          </p:nvCxnSpPr>
          <p:spPr>
            <a:xfrm>
              <a:off x="5257800" y="2667000"/>
              <a:ext cx="1371600" cy="304800"/>
            </a:xfrm>
            <a:prstGeom prst="straightConnector1">
              <a:avLst/>
            </a:prstGeom>
            <a:ln w="44450">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25" name="Straight Arrow Connector 224"/>
            <p:cNvCxnSpPr/>
            <p:nvPr/>
          </p:nvCxnSpPr>
          <p:spPr>
            <a:xfrm rot="16200000" flipH="1">
              <a:off x="1562101" y="4000500"/>
              <a:ext cx="1295400" cy="1066800"/>
            </a:xfrm>
            <a:prstGeom prst="straightConnector1">
              <a:avLst/>
            </a:prstGeom>
            <a:ln w="44450">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26" name="Straight Arrow Connector 225"/>
            <p:cNvCxnSpPr/>
            <p:nvPr/>
          </p:nvCxnSpPr>
          <p:spPr>
            <a:xfrm>
              <a:off x="2209800" y="3429000"/>
              <a:ext cx="3200400" cy="2133600"/>
            </a:xfrm>
            <a:prstGeom prst="straightConnector1">
              <a:avLst/>
            </a:prstGeom>
            <a:ln w="44450">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27" name="Straight Arrow Connector 226"/>
            <p:cNvCxnSpPr/>
            <p:nvPr/>
          </p:nvCxnSpPr>
          <p:spPr>
            <a:xfrm rot="5400000">
              <a:off x="2705100" y="3619500"/>
              <a:ext cx="1981200" cy="838200"/>
            </a:xfrm>
            <a:prstGeom prst="straightConnector1">
              <a:avLst/>
            </a:prstGeom>
            <a:ln w="44450">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28" name="Straight Arrow Connector 227"/>
            <p:cNvCxnSpPr/>
            <p:nvPr/>
          </p:nvCxnSpPr>
          <p:spPr>
            <a:xfrm rot="16200000" flipV="1">
              <a:off x="4152900" y="3848100"/>
              <a:ext cx="2362200" cy="762000"/>
            </a:xfrm>
            <a:prstGeom prst="straightConnector1">
              <a:avLst/>
            </a:prstGeom>
            <a:ln w="44450">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29" name="Straight Arrow Connector 228"/>
            <p:cNvCxnSpPr/>
            <p:nvPr/>
          </p:nvCxnSpPr>
          <p:spPr>
            <a:xfrm rot="5400000" flipH="1" flipV="1">
              <a:off x="5753100" y="4152900"/>
              <a:ext cx="1828800" cy="838200"/>
            </a:xfrm>
            <a:prstGeom prst="straightConnector1">
              <a:avLst/>
            </a:prstGeom>
            <a:ln w="44450">
              <a:solidFill>
                <a:srgbClr val="92D050"/>
              </a:solidFill>
              <a:prstDash val="solid"/>
              <a:tailEnd type="triangle" w="lg" len="lg"/>
            </a:ln>
          </p:spPr>
          <p:style>
            <a:lnRef idx="1">
              <a:schemeClr val="accent1"/>
            </a:lnRef>
            <a:fillRef idx="0">
              <a:schemeClr val="accent1"/>
            </a:fillRef>
            <a:effectRef idx="0">
              <a:schemeClr val="accent1"/>
            </a:effectRef>
            <a:fontRef idx="minor">
              <a:schemeClr val="tx1"/>
            </a:fontRef>
          </p:style>
        </p:cxnSp>
      </p:grpSp>
    </p:spTree>
    <p:custDataLst>
      <p:tags r:id="rId1"/>
    </p:custDataLst>
  </p:cSld>
  <p:clrMapOvr>
    <a:masterClrMapping/>
  </p:clrMapOvr>
  <p:transition advTm="31"/>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 grpId="0" build="p"/>
      <p:bldP spid="19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Main Results</a:t>
            </a:r>
            <a:endParaRPr lang="en-US" dirty="0"/>
          </a:p>
        </p:txBody>
      </p:sp>
      <p:sp>
        <p:nvSpPr>
          <p:cNvPr id="3" name="Content Placeholder 2"/>
          <p:cNvSpPr>
            <a:spLocks noGrp="1"/>
          </p:cNvSpPr>
          <p:nvPr>
            <p:ph idx="1"/>
          </p:nvPr>
        </p:nvSpPr>
        <p:spPr>
          <a:xfrm>
            <a:off x="457200" y="3276600"/>
            <a:ext cx="8229600" cy="2971800"/>
          </a:xfrm>
        </p:spPr>
        <p:txBody>
          <a:bodyPr>
            <a:normAutofit/>
          </a:bodyPr>
          <a:lstStyle/>
          <a:p>
            <a:r>
              <a:rPr lang="en-US" dirty="0" smtClean="0"/>
              <a:t>Can combine </a:t>
            </a:r>
            <a:r>
              <a:rPr lang="el-GR" dirty="0" smtClean="0"/>
              <a:t>ε</a:t>
            </a:r>
            <a:r>
              <a:rPr lang="en-US" dirty="0" smtClean="0"/>
              <a:t>-value-</a:t>
            </a:r>
            <a:r>
              <a:rPr lang="en-US" dirty="0" err="1" smtClean="0"/>
              <a:t>strategyproof</a:t>
            </a:r>
            <a:r>
              <a:rPr lang="en-US" dirty="0" smtClean="0"/>
              <a:t> mechanisms naturally</a:t>
            </a:r>
          </a:p>
          <a:p>
            <a:r>
              <a:rPr lang="en-US" dirty="0" smtClean="0"/>
              <a:t>(1-</a:t>
            </a:r>
            <a:r>
              <a:rPr lang="el-GR" dirty="0" smtClean="0"/>
              <a:t> α</a:t>
            </a:r>
            <a:r>
              <a:rPr lang="en-US" dirty="0" smtClean="0"/>
              <a:t>)</a:t>
            </a:r>
            <a:r>
              <a:rPr lang="en-US" dirty="0" err="1" smtClean="0"/>
              <a:t>Maxflow</a:t>
            </a:r>
            <a:r>
              <a:rPr lang="en-US" dirty="0" smtClean="0"/>
              <a:t>-</a:t>
            </a:r>
            <a:r>
              <a:rPr lang="el-GR" dirty="0" smtClean="0"/>
              <a:t> α </a:t>
            </a:r>
            <a:r>
              <a:rPr lang="en-US" dirty="0" err="1" smtClean="0"/>
              <a:t>PageRank</a:t>
            </a:r>
            <a:r>
              <a:rPr lang="en-US" dirty="0" smtClean="0"/>
              <a:t> hybrid is 0.5</a:t>
            </a:r>
            <a:r>
              <a:rPr lang="el-GR" dirty="0" smtClean="0"/>
              <a:t>α</a:t>
            </a:r>
            <a:r>
              <a:rPr lang="en-US" dirty="0" smtClean="0"/>
              <a:t>-value </a:t>
            </a:r>
            <a:r>
              <a:rPr lang="en-US" dirty="0" err="1" smtClean="0"/>
              <a:t>strategyproof</a:t>
            </a:r>
            <a:endParaRPr lang="en-US" dirty="0" smtClean="0"/>
          </a:p>
          <a:p>
            <a:r>
              <a:rPr lang="en-US" dirty="0" smtClean="0"/>
              <a:t>Adjust </a:t>
            </a:r>
            <a:r>
              <a:rPr lang="en-US" dirty="0" err="1" smtClean="0"/>
              <a:t>strategyproofness</a:t>
            </a:r>
            <a:r>
              <a:rPr lang="en-US" dirty="0" smtClean="0"/>
              <a:t> as we vary </a:t>
            </a:r>
            <a:r>
              <a:rPr lang="el-GR" dirty="0" smtClean="0"/>
              <a:t>α</a:t>
            </a:r>
            <a:endParaRPr lang="en-US" dirty="0" smtClean="0"/>
          </a:p>
        </p:txBody>
      </p:sp>
      <p:pic>
        <p:nvPicPr>
          <p:cNvPr id="7170" name="Picture 2"/>
          <p:cNvPicPr>
            <a:picLocks noChangeAspect="1" noChangeArrowheads="1"/>
          </p:cNvPicPr>
          <p:nvPr/>
        </p:nvPicPr>
        <p:blipFill>
          <a:blip r:embed="rId4" cstate="print"/>
          <a:srcRect/>
          <a:stretch>
            <a:fillRect/>
          </a:stretch>
        </p:blipFill>
        <p:spPr bwMode="auto">
          <a:xfrm>
            <a:off x="76200" y="1524000"/>
            <a:ext cx="8978407" cy="1328596"/>
          </a:xfrm>
          <a:prstGeom prst="rect">
            <a:avLst/>
          </a:prstGeom>
          <a:noFill/>
          <a:ln w="9525">
            <a:solidFill>
              <a:schemeClr val="tx1"/>
            </a:solidFill>
            <a:miter lim="800000"/>
            <a:headEnd/>
            <a:tailEnd/>
          </a:ln>
        </p:spPr>
      </p:pic>
    </p:spTree>
    <p:custDataLst>
      <p:tags r:id="rId1"/>
    </p:custDataLst>
  </p:cSld>
  <p:clrMapOvr>
    <a:masterClrMapping/>
  </p:clrMapOvr>
  <p:transition advTm="51999"/>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Main Results:</a:t>
            </a:r>
            <a:endParaRPr lang="en-US" dirty="0"/>
          </a:p>
        </p:txBody>
      </p:sp>
      <p:sp>
        <p:nvSpPr>
          <p:cNvPr id="3" name="Content Placeholder 2"/>
          <p:cNvSpPr>
            <a:spLocks noGrp="1"/>
          </p:cNvSpPr>
          <p:nvPr>
            <p:ph idx="1"/>
          </p:nvPr>
        </p:nvSpPr>
        <p:spPr>
          <a:xfrm>
            <a:off x="350755" y="3505200"/>
            <a:ext cx="8640845" cy="2895600"/>
          </a:xfrm>
        </p:spPr>
        <p:txBody>
          <a:bodyPr>
            <a:normAutofit fontScale="92500" lnSpcReduction="10000"/>
          </a:bodyPr>
          <a:lstStyle/>
          <a:p>
            <a:r>
              <a:rPr lang="en-US" dirty="0" smtClean="0"/>
              <a:t>“Upwards value </a:t>
            </a:r>
            <a:r>
              <a:rPr lang="en-US" dirty="0" err="1" smtClean="0"/>
              <a:t>preservance</a:t>
            </a:r>
            <a:r>
              <a:rPr lang="en-US" dirty="0" smtClean="0"/>
              <a:t>” and value-</a:t>
            </a:r>
            <a:r>
              <a:rPr lang="en-US" dirty="0" err="1" smtClean="0"/>
              <a:t>strategyproofness</a:t>
            </a:r>
            <a:r>
              <a:rPr lang="en-US" dirty="0" smtClean="0"/>
              <a:t> yield </a:t>
            </a:r>
            <a:r>
              <a:rPr lang="el-GR" dirty="0" smtClean="0"/>
              <a:t>α</a:t>
            </a:r>
            <a:r>
              <a:rPr lang="en-US" dirty="0" smtClean="0"/>
              <a:t>-rank </a:t>
            </a:r>
            <a:r>
              <a:rPr lang="en-US" dirty="0" err="1" smtClean="0"/>
              <a:t>strategyproofness</a:t>
            </a:r>
            <a:endParaRPr lang="en-US" dirty="0" smtClean="0"/>
          </a:p>
          <a:p>
            <a:pPr marL="342900" lvl="1" indent="-342900">
              <a:buFont typeface="Arial" pitchFamily="34" charset="0"/>
              <a:buChar char="•"/>
            </a:pPr>
            <a:r>
              <a:rPr lang="en-US" sz="3200" dirty="0" smtClean="0"/>
              <a:t>(1-</a:t>
            </a:r>
            <a:r>
              <a:rPr lang="el-GR" dirty="0" smtClean="0"/>
              <a:t> α</a:t>
            </a:r>
            <a:r>
              <a:rPr lang="en-US" dirty="0" smtClean="0"/>
              <a:t>) </a:t>
            </a:r>
            <a:r>
              <a:rPr lang="en-US" sz="3200" dirty="0" smtClean="0"/>
              <a:t>Shortest Path-</a:t>
            </a:r>
            <a:r>
              <a:rPr lang="el-GR" dirty="0" smtClean="0"/>
              <a:t> α </a:t>
            </a:r>
            <a:r>
              <a:rPr lang="en-US" sz="3200" dirty="0" smtClean="0"/>
              <a:t>Hitting Time hybrid is </a:t>
            </a:r>
            <a:r>
              <a:rPr lang="el-GR" sz="3200" dirty="0" smtClean="0"/>
              <a:t>α</a:t>
            </a:r>
            <a:r>
              <a:rPr lang="en-US" sz="3200" dirty="0" smtClean="0"/>
              <a:t>-rank </a:t>
            </a:r>
            <a:r>
              <a:rPr lang="en-US" sz="3200" dirty="0" err="1" smtClean="0"/>
              <a:t>strategyproof</a:t>
            </a:r>
            <a:endParaRPr lang="en-US" sz="3200" dirty="0" smtClean="0"/>
          </a:p>
          <a:p>
            <a:r>
              <a:rPr lang="en-US" dirty="0" smtClean="0"/>
              <a:t>(1-</a:t>
            </a:r>
            <a:r>
              <a:rPr lang="el-GR" dirty="0" smtClean="0"/>
              <a:t> α</a:t>
            </a:r>
            <a:r>
              <a:rPr lang="en-US" dirty="0" smtClean="0"/>
              <a:t>) Shortest Path-</a:t>
            </a:r>
            <a:r>
              <a:rPr lang="el-GR" dirty="0" smtClean="0"/>
              <a:t> α</a:t>
            </a:r>
            <a:r>
              <a:rPr lang="en-US" dirty="0" smtClean="0"/>
              <a:t> </a:t>
            </a:r>
            <a:r>
              <a:rPr lang="en-US" dirty="0" err="1" smtClean="0"/>
              <a:t>Maxflow</a:t>
            </a:r>
            <a:r>
              <a:rPr lang="en-US" dirty="0" smtClean="0"/>
              <a:t> hybrid is </a:t>
            </a:r>
            <a:r>
              <a:rPr lang="el-GR" dirty="0" smtClean="0"/>
              <a:t>α</a:t>
            </a:r>
            <a:r>
              <a:rPr lang="en-US" dirty="0" smtClean="0"/>
              <a:t>-rank </a:t>
            </a:r>
            <a:r>
              <a:rPr lang="en-US" dirty="0" err="1" smtClean="0"/>
              <a:t>strategyproof</a:t>
            </a:r>
            <a:endParaRPr lang="en-US" dirty="0" smtClean="0"/>
          </a:p>
          <a:p>
            <a:endParaRPr lang="en-US" dirty="0"/>
          </a:p>
        </p:txBody>
      </p:sp>
      <p:pic>
        <p:nvPicPr>
          <p:cNvPr id="5" name="Picture 4"/>
          <p:cNvPicPr>
            <a:picLocks noChangeAspect="1" noChangeArrowheads="1"/>
          </p:cNvPicPr>
          <p:nvPr/>
        </p:nvPicPr>
        <p:blipFill>
          <a:blip r:embed="rId4" cstate="print"/>
          <a:srcRect/>
          <a:stretch>
            <a:fillRect/>
          </a:stretch>
        </p:blipFill>
        <p:spPr bwMode="auto">
          <a:xfrm>
            <a:off x="76199" y="1556486"/>
            <a:ext cx="8977265" cy="1415314"/>
          </a:xfrm>
          <a:prstGeom prst="rect">
            <a:avLst/>
          </a:prstGeom>
          <a:noFill/>
          <a:ln w="9525">
            <a:solidFill>
              <a:schemeClr val="tx1"/>
            </a:solidFill>
            <a:miter lim="800000"/>
            <a:headEnd/>
            <a:tailEnd/>
          </a:ln>
        </p:spPr>
      </p:pic>
    </p:spTree>
    <p:custDataLst>
      <p:tags r:id="rId1"/>
    </p:custDataLst>
  </p:cSld>
  <p:clrMapOvr>
    <a:masterClrMapping/>
  </p:clrMapOvr>
  <p:transition advTm="15"/>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Motivation</a:t>
            </a:r>
          </a:p>
          <a:p>
            <a:r>
              <a:rPr lang="en-US" dirty="0" smtClean="0"/>
              <a:t>Example Mechanisms</a:t>
            </a:r>
          </a:p>
          <a:p>
            <a:r>
              <a:rPr lang="en-US" dirty="0" err="1" smtClean="0"/>
              <a:t>Informativeness</a:t>
            </a:r>
            <a:r>
              <a:rPr lang="en-US" dirty="0" smtClean="0"/>
              <a:t> vs. </a:t>
            </a:r>
            <a:r>
              <a:rPr lang="en-US" dirty="0" err="1" smtClean="0"/>
              <a:t>Strategyproofness</a:t>
            </a:r>
            <a:endParaRPr lang="en-US" dirty="0" smtClean="0"/>
          </a:p>
          <a:p>
            <a:r>
              <a:rPr lang="en-US" dirty="0" smtClean="0"/>
              <a:t>Hybrid Transitive Trust Mechanisms</a:t>
            </a:r>
          </a:p>
          <a:p>
            <a:pPr lvl="1"/>
            <a:r>
              <a:rPr lang="en-US" dirty="0" smtClean="0"/>
              <a:t>Theoretical Analysis</a:t>
            </a:r>
          </a:p>
          <a:p>
            <a:r>
              <a:rPr lang="en-US" dirty="0" smtClean="0"/>
              <a:t>Experimental Results</a:t>
            </a:r>
          </a:p>
          <a:p>
            <a:pPr lvl="1"/>
            <a:r>
              <a:rPr lang="en-US" b="1" dirty="0" err="1" smtClean="0"/>
              <a:t>Informativeness</a:t>
            </a:r>
            <a:endParaRPr lang="en-US" b="1" dirty="0" smtClean="0"/>
          </a:p>
          <a:p>
            <a:pPr lvl="1"/>
            <a:r>
              <a:rPr lang="en-US" dirty="0" smtClean="0"/>
              <a:t>Efficiency</a:t>
            </a:r>
          </a:p>
          <a:p>
            <a:r>
              <a:rPr lang="en-US" dirty="0" smtClean="0"/>
              <a:t>Conclusions</a:t>
            </a:r>
          </a:p>
        </p:txBody>
      </p:sp>
    </p:spTree>
  </p:cSld>
  <p:clrMapOvr>
    <a:masterClrMapping/>
  </p:clrMapOvr>
  <p:transition advTm="10547"/>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Informativeness</a:t>
            </a:r>
            <a:endParaRPr lang="en-US" dirty="0"/>
          </a:p>
        </p:txBody>
      </p:sp>
      <p:sp>
        <p:nvSpPr>
          <p:cNvPr id="3" name="Content Placeholder 2"/>
          <p:cNvSpPr>
            <a:spLocks noGrp="1"/>
          </p:cNvSpPr>
          <p:nvPr>
            <p:ph idx="1"/>
          </p:nvPr>
        </p:nvSpPr>
        <p:spPr>
          <a:xfrm>
            <a:off x="457200" y="2286000"/>
            <a:ext cx="8229600" cy="4419600"/>
          </a:xfrm>
        </p:spPr>
        <p:txBody>
          <a:bodyPr>
            <a:normAutofit lnSpcReduction="10000"/>
          </a:bodyPr>
          <a:lstStyle/>
          <a:p>
            <a:r>
              <a:rPr lang="en-US" dirty="0" err="1" smtClean="0"/>
              <a:t>Informativeness</a:t>
            </a:r>
            <a:r>
              <a:rPr lang="en-US" dirty="0" smtClean="0"/>
              <a:t> is the correlation between the true agent types </a:t>
            </a:r>
            <a:r>
              <a:rPr lang="el-GR" dirty="0" smtClean="0"/>
              <a:t>θ</a:t>
            </a:r>
            <a:r>
              <a:rPr lang="en-US" baseline="-25000" dirty="0" err="1" smtClean="0"/>
              <a:t>i</a:t>
            </a:r>
            <a:r>
              <a:rPr lang="el-GR" dirty="0" smtClean="0"/>
              <a:t> </a:t>
            </a:r>
            <a:r>
              <a:rPr lang="en-US" dirty="0" smtClean="0"/>
              <a:t>and the trust scores given by each trust mechanism </a:t>
            </a:r>
            <a:r>
              <a:rPr lang="en-US" dirty="0" err="1" smtClean="0"/>
              <a:t>s</a:t>
            </a:r>
            <a:r>
              <a:rPr lang="en-US" baseline="-25000" dirty="0" err="1" smtClean="0"/>
              <a:t>i</a:t>
            </a:r>
            <a:r>
              <a:rPr lang="en-US" baseline="-25000" dirty="0" smtClean="0"/>
              <a:t>  </a:t>
            </a:r>
          </a:p>
          <a:p>
            <a:r>
              <a:rPr lang="en-US" dirty="0" smtClean="0"/>
              <a:t>Can only be measured experimentally</a:t>
            </a:r>
          </a:p>
          <a:p>
            <a:r>
              <a:rPr lang="en-US" dirty="0" smtClean="0"/>
              <a:t>Setup</a:t>
            </a:r>
          </a:p>
          <a:p>
            <a:pPr lvl="1"/>
            <a:r>
              <a:rPr lang="en-US" dirty="0" smtClean="0"/>
              <a:t>N agents, each with type </a:t>
            </a:r>
            <a:r>
              <a:rPr lang="el-GR" dirty="0" smtClean="0"/>
              <a:t>θ</a:t>
            </a:r>
            <a:r>
              <a:rPr lang="en-US" baseline="-25000" dirty="0" err="1" smtClean="0"/>
              <a:t>i</a:t>
            </a:r>
            <a:r>
              <a:rPr lang="en-US" baseline="-25000" dirty="0" smtClean="0"/>
              <a:t> </a:t>
            </a:r>
            <a:r>
              <a:rPr lang="en-US" dirty="0" smtClean="0"/>
              <a:t> (fraction of good)</a:t>
            </a:r>
            <a:endParaRPr lang="en-US" baseline="-25000" dirty="0" smtClean="0"/>
          </a:p>
          <a:p>
            <a:pPr lvl="1"/>
            <a:r>
              <a:rPr lang="en-US" dirty="0" smtClean="0"/>
              <a:t>No strategic agent behavior</a:t>
            </a:r>
          </a:p>
          <a:p>
            <a:pPr lvl="1"/>
            <a:r>
              <a:rPr lang="en-US" dirty="0" smtClean="0"/>
              <a:t>Agents randomly interact, report results</a:t>
            </a:r>
          </a:p>
          <a:p>
            <a:pPr lvl="1"/>
            <a:r>
              <a:rPr lang="en-US" dirty="0" smtClean="0"/>
              <a:t>Vary number of </a:t>
            </a:r>
            <a:r>
              <a:rPr lang="en-US" dirty="0" err="1" smtClean="0"/>
              <a:t>timesteps</a:t>
            </a:r>
            <a:endParaRPr lang="en-US" dirty="0" smtClean="0"/>
          </a:p>
        </p:txBody>
      </p:sp>
      <p:pic>
        <p:nvPicPr>
          <p:cNvPr id="2051" name="Picture 3"/>
          <p:cNvPicPr>
            <a:picLocks noChangeAspect="1" noChangeArrowheads="1"/>
          </p:cNvPicPr>
          <p:nvPr/>
        </p:nvPicPr>
        <p:blipFill>
          <a:blip r:embed="rId4" cstate="print"/>
          <a:srcRect/>
          <a:stretch>
            <a:fillRect/>
          </a:stretch>
        </p:blipFill>
        <p:spPr bwMode="auto">
          <a:xfrm>
            <a:off x="2362200" y="1371600"/>
            <a:ext cx="4343400" cy="888804"/>
          </a:xfrm>
          <a:prstGeom prst="rect">
            <a:avLst/>
          </a:prstGeom>
          <a:noFill/>
          <a:ln w="9525">
            <a:noFill/>
            <a:miter lim="800000"/>
            <a:headEnd/>
            <a:tailEnd/>
          </a:ln>
        </p:spPr>
      </p:pic>
    </p:spTree>
    <p:custDataLst>
      <p:tags r:id="rId1"/>
    </p:custDataLst>
  </p:cSld>
  <p:clrMapOvr>
    <a:masterClrMapping/>
  </p:clrMapOvr>
  <p:transition advTm="47468"/>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Informativeness</a:t>
            </a:r>
            <a:r>
              <a:rPr lang="en-US" dirty="0" smtClean="0"/>
              <a:t> Properties</a:t>
            </a:r>
            <a:endParaRPr lang="en-US" dirty="0"/>
          </a:p>
        </p:txBody>
      </p:sp>
      <p:sp>
        <p:nvSpPr>
          <p:cNvPr id="3" name="Content Placeholder 2"/>
          <p:cNvSpPr>
            <a:spLocks noGrp="1"/>
          </p:cNvSpPr>
          <p:nvPr>
            <p:ph idx="1"/>
          </p:nvPr>
        </p:nvSpPr>
        <p:spPr>
          <a:xfrm>
            <a:off x="457200" y="1295400"/>
            <a:ext cx="8229600" cy="4525963"/>
          </a:xfrm>
        </p:spPr>
        <p:txBody>
          <a:bodyPr/>
          <a:lstStyle/>
          <a:p>
            <a:r>
              <a:rPr lang="en-US" dirty="0" smtClean="0"/>
              <a:t>Sometimes hybrids have </a:t>
            </a:r>
            <a:r>
              <a:rPr lang="en-US" dirty="0" err="1" smtClean="0"/>
              <a:t>informativeness</a:t>
            </a:r>
            <a:r>
              <a:rPr lang="en-US" dirty="0" smtClean="0"/>
              <a:t> even higher than either of their base mechanisms</a:t>
            </a:r>
          </a:p>
          <a:p>
            <a:endParaRPr lang="en-US" dirty="0"/>
          </a:p>
        </p:txBody>
      </p:sp>
      <p:pic>
        <p:nvPicPr>
          <p:cNvPr id="1032" name="Picture 8" descr="C:\home\jietang\My Dropbox\Documents\thesis\code\trunk\aamas10\cameraready\before_informativeness_information_tau_50.jpg"/>
          <p:cNvPicPr>
            <a:picLocks noChangeAspect="1" noChangeArrowheads="1"/>
          </p:cNvPicPr>
          <p:nvPr/>
        </p:nvPicPr>
        <p:blipFill>
          <a:blip r:embed="rId4" cstate="print"/>
          <a:srcRect/>
          <a:stretch>
            <a:fillRect/>
          </a:stretch>
        </p:blipFill>
        <p:spPr bwMode="auto">
          <a:xfrm>
            <a:off x="1905000" y="2286000"/>
            <a:ext cx="5120639" cy="4267200"/>
          </a:xfrm>
          <a:prstGeom prst="rect">
            <a:avLst/>
          </a:prstGeom>
          <a:noFill/>
        </p:spPr>
      </p:pic>
      <p:pic>
        <p:nvPicPr>
          <p:cNvPr id="1031" name="Picture 7" descr="C:\home\jietang\My Dropbox\Documents\thesis\code\trunk\aamas10\cameraready\after_informativeness_information_tau_50.jpg"/>
          <p:cNvPicPr>
            <a:picLocks noChangeAspect="1" noChangeArrowheads="1"/>
          </p:cNvPicPr>
          <p:nvPr/>
        </p:nvPicPr>
        <p:blipFill>
          <a:blip r:embed="rId5" cstate="print"/>
          <a:srcRect/>
          <a:stretch>
            <a:fillRect/>
          </a:stretch>
        </p:blipFill>
        <p:spPr bwMode="auto">
          <a:xfrm>
            <a:off x="1905000" y="2286000"/>
            <a:ext cx="5120639" cy="4267200"/>
          </a:xfrm>
          <a:prstGeom prst="rect">
            <a:avLst/>
          </a:prstGeom>
          <a:noFill/>
        </p:spPr>
      </p:pic>
    </p:spTree>
    <p:custDataLst>
      <p:tags r:id="rId1"/>
    </p:custDataLst>
  </p:cSld>
  <p:clrMapOvr>
    <a:masterClrMapping/>
  </p:clrMapOvr>
  <p:transition advTm="61563"/>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Motivation</a:t>
            </a:r>
          </a:p>
          <a:p>
            <a:r>
              <a:rPr lang="en-US" dirty="0" smtClean="0"/>
              <a:t>Example Mechanisms</a:t>
            </a:r>
          </a:p>
          <a:p>
            <a:r>
              <a:rPr lang="en-US" dirty="0" err="1" smtClean="0"/>
              <a:t>Informativeness</a:t>
            </a:r>
            <a:r>
              <a:rPr lang="en-US" dirty="0" smtClean="0"/>
              <a:t> vs. </a:t>
            </a:r>
            <a:r>
              <a:rPr lang="en-US" dirty="0" err="1" smtClean="0"/>
              <a:t>Strategyproofness</a:t>
            </a:r>
            <a:endParaRPr lang="en-US" dirty="0" smtClean="0"/>
          </a:p>
          <a:p>
            <a:r>
              <a:rPr lang="en-US" dirty="0" smtClean="0"/>
              <a:t>Hybrid Transitive Trust Mechanisms</a:t>
            </a:r>
          </a:p>
          <a:p>
            <a:pPr lvl="1"/>
            <a:r>
              <a:rPr lang="en-US" dirty="0" smtClean="0"/>
              <a:t>Theoretical Analysis</a:t>
            </a:r>
          </a:p>
          <a:p>
            <a:r>
              <a:rPr lang="en-US" dirty="0" smtClean="0"/>
              <a:t>Experimental Results</a:t>
            </a:r>
          </a:p>
          <a:p>
            <a:pPr lvl="1"/>
            <a:r>
              <a:rPr lang="en-US" dirty="0" err="1" smtClean="0"/>
              <a:t>Informativeness</a:t>
            </a:r>
            <a:endParaRPr lang="en-US" dirty="0" smtClean="0"/>
          </a:p>
          <a:p>
            <a:pPr lvl="1"/>
            <a:r>
              <a:rPr lang="en-US" b="1" dirty="0" smtClean="0"/>
              <a:t>Efficiency</a:t>
            </a:r>
          </a:p>
          <a:p>
            <a:r>
              <a:rPr lang="en-US" dirty="0" smtClean="0"/>
              <a:t>Conclusions</a:t>
            </a:r>
          </a:p>
        </p:txBody>
      </p:sp>
    </p:spTree>
  </p:cSld>
  <p:clrMapOvr>
    <a:masterClrMapping/>
  </p:clrMapOvr>
  <p:transition advTm="10547"/>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Efficiency Experiments</a:t>
            </a:r>
            <a:endParaRPr lang="en-US" dirty="0"/>
          </a:p>
        </p:txBody>
      </p:sp>
      <p:sp>
        <p:nvSpPr>
          <p:cNvPr id="3" name="Content Placeholder 2"/>
          <p:cNvSpPr>
            <a:spLocks noGrp="1"/>
          </p:cNvSpPr>
          <p:nvPr>
            <p:ph idx="1"/>
          </p:nvPr>
        </p:nvSpPr>
        <p:spPr>
          <a:xfrm>
            <a:off x="457200" y="1600200"/>
            <a:ext cx="8686800" cy="4953000"/>
          </a:xfrm>
        </p:spPr>
        <p:txBody>
          <a:bodyPr>
            <a:normAutofit fontScale="92500" lnSpcReduction="20000"/>
          </a:bodyPr>
          <a:lstStyle/>
          <a:p>
            <a:r>
              <a:rPr lang="en-US" dirty="0" smtClean="0"/>
              <a:t>In practice: care about trustworthy agents receiving good interactions</a:t>
            </a:r>
          </a:p>
          <a:p>
            <a:r>
              <a:rPr lang="en-US" dirty="0" smtClean="0"/>
              <a:t>Agents will be strategic</a:t>
            </a:r>
          </a:p>
          <a:p>
            <a:r>
              <a:rPr lang="en-US" dirty="0" smtClean="0"/>
              <a:t>Measure efficiency as fraction of good interactions for cooperative agents</a:t>
            </a:r>
          </a:p>
          <a:p>
            <a:r>
              <a:rPr lang="en-US" dirty="0" smtClean="0"/>
              <a:t>Simulated two application domains, a P2P file sharing domain and a web surfing domain</a:t>
            </a:r>
          </a:p>
          <a:p>
            <a:r>
              <a:rPr lang="en-US" dirty="0" smtClean="0"/>
              <a:t>Setup</a:t>
            </a:r>
          </a:p>
          <a:p>
            <a:pPr lvl="1"/>
            <a:r>
              <a:rPr lang="en-US" dirty="0" smtClean="0"/>
              <a:t>Agents use hybrid trust mechanism to choose interaction partners</a:t>
            </a:r>
          </a:p>
          <a:p>
            <a:pPr lvl="1"/>
            <a:r>
              <a:rPr lang="en-US" dirty="0" smtClean="0"/>
              <a:t>Report results of interactions to trust mechanism</a:t>
            </a:r>
          </a:p>
        </p:txBody>
      </p:sp>
    </p:spTree>
    <p:custDataLst>
      <p:tags r:id="rId1"/>
    </p:custDataLst>
  </p:cSld>
  <p:clrMapOvr>
    <a:masterClrMapping/>
  </p:clrMapOvr>
  <p:transition advTm="63812"/>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Cooperative, Lazy free-rider, Strategic</a:t>
            </a:r>
            <a:endParaRPr lang="en-US" dirty="0"/>
          </a:p>
        </p:txBody>
      </p:sp>
      <p:sp>
        <p:nvSpPr>
          <p:cNvPr id="3" name="Content Placeholder 2"/>
          <p:cNvSpPr>
            <a:spLocks noGrp="1"/>
          </p:cNvSpPr>
          <p:nvPr>
            <p:ph idx="1"/>
          </p:nvPr>
        </p:nvSpPr>
        <p:spPr>
          <a:xfrm>
            <a:off x="457200" y="1600200"/>
            <a:ext cx="8382000" cy="4525963"/>
          </a:xfrm>
        </p:spPr>
        <p:txBody>
          <a:bodyPr>
            <a:normAutofit/>
          </a:bodyPr>
          <a:lstStyle/>
          <a:p>
            <a:r>
              <a:rPr lang="en-US" dirty="0" smtClean="0"/>
              <a:t>Cooperative agents have high type</a:t>
            </a:r>
          </a:p>
          <a:p>
            <a:r>
              <a:rPr lang="en-US" dirty="0" smtClean="0"/>
              <a:t>Lazy free-rider agents have low type</a:t>
            </a:r>
          </a:p>
          <a:p>
            <a:r>
              <a:rPr lang="en-US" dirty="0" smtClean="0"/>
              <a:t>Strategic agents also have low type, but attempt to manipulate the system</a:t>
            </a:r>
          </a:p>
          <a:p>
            <a:r>
              <a:rPr lang="en-US" dirty="0" smtClean="0"/>
              <a:t>Simple agent utility model:</a:t>
            </a:r>
          </a:p>
          <a:p>
            <a:pPr lvl="1"/>
            <a:r>
              <a:rPr lang="en-US" dirty="0" smtClean="0"/>
              <a:t>Assume </a:t>
            </a:r>
            <a:r>
              <a:rPr lang="en-US" dirty="0" err="1" smtClean="0"/>
              <a:t>heterogenous</a:t>
            </a:r>
            <a:r>
              <a:rPr lang="en-US" dirty="0" smtClean="0"/>
              <a:t> ability to manipulate</a:t>
            </a:r>
          </a:p>
          <a:p>
            <a:pPr lvl="1"/>
            <a:r>
              <a:rPr lang="en-US" dirty="0" smtClean="0"/>
              <a:t>Reward proportional to manipulability of algorithm</a:t>
            </a:r>
          </a:p>
          <a:p>
            <a:pPr lvl="1"/>
            <a:r>
              <a:rPr lang="en-US" dirty="0" smtClean="0"/>
              <a:t>As </a:t>
            </a:r>
            <a:r>
              <a:rPr lang="el-GR" dirty="0" smtClean="0"/>
              <a:t>α</a:t>
            </a:r>
            <a:r>
              <a:rPr lang="en-US" dirty="0" smtClean="0"/>
              <a:t> increases, more strategic agents manipulate</a:t>
            </a:r>
            <a:endParaRPr lang="en-US" dirty="0"/>
          </a:p>
        </p:txBody>
      </p:sp>
    </p:spTree>
  </p:cSld>
  <p:clrMapOvr>
    <a:masterClrMapping/>
  </p:clrMapOvr>
  <p:transition advTm="39813"/>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File Sharing Domain</a:t>
            </a:r>
            <a:endParaRPr lang="en-US" dirty="0"/>
          </a:p>
        </p:txBody>
      </p:sp>
      <p:pic>
        <p:nvPicPr>
          <p:cNvPr id="6147" name="Picture 3" descr="C:\home\jietang\My Dropbox\Documents\thesis\code\trunk\aamas10\cameraready\static_5_weighted_virus_hard_08_0.80_authentic_tmp.jpg"/>
          <p:cNvPicPr>
            <a:picLocks noChangeAspect="1" noChangeArrowheads="1"/>
          </p:cNvPicPr>
          <p:nvPr/>
        </p:nvPicPr>
        <p:blipFill>
          <a:blip r:embed="rId4" cstate="print"/>
          <a:srcRect/>
          <a:stretch>
            <a:fillRect/>
          </a:stretch>
        </p:blipFill>
        <p:spPr bwMode="auto">
          <a:xfrm>
            <a:off x="1066800" y="1143000"/>
            <a:ext cx="6594230" cy="5715000"/>
          </a:xfrm>
          <a:prstGeom prst="rect">
            <a:avLst/>
          </a:prstGeom>
          <a:noFill/>
        </p:spPr>
      </p:pic>
      <p:cxnSp>
        <p:nvCxnSpPr>
          <p:cNvPr id="5" name="Straight Arrow Connector 4"/>
          <p:cNvCxnSpPr/>
          <p:nvPr/>
        </p:nvCxnSpPr>
        <p:spPr>
          <a:xfrm rot="5400000">
            <a:off x="3580605" y="3199606"/>
            <a:ext cx="762794" cy="794"/>
          </a:xfrm>
          <a:prstGeom prst="straightConnector1">
            <a:avLst/>
          </a:prstGeom>
          <a:ln w="133350">
            <a:solidFill>
              <a:schemeClr val="tx1"/>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rot="5400000">
            <a:off x="4495006" y="3275806"/>
            <a:ext cx="762794" cy="794"/>
          </a:xfrm>
          <a:prstGeom prst="straightConnector1">
            <a:avLst/>
          </a:prstGeom>
          <a:ln w="133350">
            <a:solidFill>
              <a:srgbClr val="09BFFF"/>
            </a:solidFill>
            <a:tailEnd type="triangle" w="med" len="med"/>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transition advTm="72703"/>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Conclusions</a:t>
            </a:r>
            <a:endParaRPr lang="en-US" dirty="0"/>
          </a:p>
        </p:txBody>
      </p:sp>
      <p:sp>
        <p:nvSpPr>
          <p:cNvPr id="3" name="Content Placeholder 2"/>
          <p:cNvSpPr>
            <a:spLocks noGrp="1"/>
          </p:cNvSpPr>
          <p:nvPr>
            <p:ph idx="1"/>
          </p:nvPr>
        </p:nvSpPr>
        <p:spPr>
          <a:xfrm>
            <a:off x="457200" y="1295400"/>
            <a:ext cx="8229600" cy="5715000"/>
          </a:xfrm>
        </p:spPr>
        <p:txBody>
          <a:bodyPr>
            <a:normAutofit/>
          </a:bodyPr>
          <a:lstStyle/>
          <a:p>
            <a:r>
              <a:rPr lang="en-US" dirty="0" smtClean="0"/>
              <a:t>Analyzed </a:t>
            </a:r>
            <a:r>
              <a:rPr lang="en-US" dirty="0" err="1" smtClean="0"/>
              <a:t>informativeness</a:t>
            </a:r>
            <a:r>
              <a:rPr lang="en-US" dirty="0" smtClean="0"/>
              <a:t> and </a:t>
            </a:r>
            <a:r>
              <a:rPr lang="en-US" dirty="0" err="1" smtClean="0"/>
              <a:t>strategyproofness</a:t>
            </a:r>
            <a:r>
              <a:rPr lang="en-US" dirty="0" smtClean="0"/>
              <a:t> trade-off theoretically and experimentally</a:t>
            </a:r>
          </a:p>
          <a:p>
            <a:r>
              <a:rPr lang="en-US" dirty="0" smtClean="0"/>
              <a:t>Hybrid mechanisms have intermediate </a:t>
            </a:r>
            <a:r>
              <a:rPr lang="en-US" dirty="0" err="1" smtClean="0"/>
              <a:t>informativeness</a:t>
            </a:r>
            <a:r>
              <a:rPr lang="en-US" dirty="0" smtClean="0"/>
              <a:t>, </a:t>
            </a:r>
            <a:r>
              <a:rPr lang="en-US" dirty="0" err="1" smtClean="0"/>
              <a:t>strategyproofness</a:t>
            </a:r>
            <a:r>
              <a:rPr lang="en-US" dirty="0"/>
              <a:t> </a:t>
            </a:r>
            <a:r>
              <a:rPr lang="en-US" dirty="0" smtClean="0"/>
              <a:t>properties</a:t>
            </a:r>
            <a:endParaRPr lang="en-US" dirty="0"/>
          </a:p>
          <a:p>
            <a:r>
              <a:rPr lang="en-US" dirty="0"/>
              <a:t>F</a:t>
            </a:r>
            <a:r>
              <a:rPr lang="en-US" dirty="0" smtClean="0"/>
              <a:t>or some domains, hybrid mechanisms produce better efficiency than either base mechanism</a:t>
            </a:r>
          </a:p>
          <a:p>
            <a:r>
              <a:rPr lang="en-US" dirty="0" smtClean="0"/>
              <a:t>Thank you for your attention</a:t>
            </a:r>
          </a:p>
        </p:txBody>
      </p:sp>
    </p:spTree>
    <p:custDataLst>
      <p:tags r:id="rId1"/>
    </p:custDataLst>
  </p:cSld>
  <p:clrMapOvr>
    <a:masterClrMapping/>
  </p:clrMapOvr>
  <p:transition advTm="23953"/>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Conclusions</a:t>
            </a:r>
            <a:endParaRPr lang="en-US" dirty="0"/>
          </a:p>
        </p:txBody>
      </p:sp>
      <p:sp>
        <p:nvSpPr>
          <p:cNvPr id="3" name="Content Placeholder 2"/>
          <p:cNvSpPr>
            <a:spLocks noGrp="1"/>
          </p:cNvSpPr>
          <p:nvPr>
            <p:ph idx="1"/>
          </p:nvPr>
        </p:nvSpPr>
        <p:spPr>
          <a:xfrm>
            <a:off x="457200" y="1295400"/>
            <a:ext cx="8229600" cy="5715000"/>
          </a:xfrm>
        </p:spPr>
        <p:txBody>
          <a:bodyPr>
            <a:normAutofit/>
          </a:bodyPr>
          <a:lstStyle/>
          <a:p>
            <a:r>
              <a:rPr lang="en-US" dirty="0" smtClean="0"/>
              <a:t>Analyzed </a:t>
            </a:r>
            <a:r>
              <a:rPr lang="en-US" dirty="0" err="1" smtClean="0"/>
              <a:t>informativeness</a:t>
            </a:r>
            <a:r>
              <a:rPr lang="en-US" dirty="0" smtClean="0"/>
              <a:t> and </a:t>
            </a:r>
            <a:r>
              <a:rPr lang="en-US" dirty="0" err="1" smtClean="0"/>
              <a:t>strategyproofness</a:t>
            </a:r>
            <a:r>
              <a:rPr lang="en-US" dirty="0" smtClean="0"/>
              <a:t> trade-off theoretically and experimentally</a:t>
            </a:r>
          </a:p>
          <a:p>
            <a:r>
              <a:rPr lang="en-US" dirty="0" smtClean="0"/>
              <a:t>Hybrid mechanisms have intermediate </a:t>
            </a:r>
            <a:r>
              <a:rPr lang="en-US" dirty="0" err="1" smtClean="0"/>
              <a:t>informativeness</a:t>
            </a:r>
            <a:r>
              <a:rPr lang="en-US" dirty="0" smtClean="0"/>
              <a:t>, </a:t>
            </a:r>
            <a:r>
              <a:rPr lang="en-US" dirty="0" err="1" smtClean="0"/>
              <a:t>strategyproofness</a:t>
            </a:r>
            <a:r>
              <a:rPr lang="en-US" dirty="0"/>
              <a:t> </a:t>
            </a:r>
            <a:r>
              <a:rPr lang="en-US" dirty="0" smtClean="0"/>
              <a:t>properties</a:t>
            </a:r>
            <a:endParaRPr lang="en-US" dirty="0"/>
          </a:p>
          <a:p>
            <a:r>
              <a:rPr lang="en-US" dirty="0"/>
              <a:t>F</a:t>
            </a:r>
            <a:r>
              <a:rPr lang="en-US" dirty="0" smtClean="0"/>
              <a:t>or some domains, hybrid mechanisms produce better efficiency than either base mechanism</a:t>
            </a:r>
          </a:p>
          <a:p>
            <a:r>
              <a:rPr lang="en-US" dirty="0" smtClean="0"/>
              <a:t>Thank you for your attention</a:t>
            </a:r>
          </a:p>
        </p:txBody>
      </p:sp>
    </p:spTree>
  </p:cSld>
  <p:clrMapOvr>
    <a:masterClrMapping/>
  </p:clrMapOvr>
  <p:transition advTm="23953"/>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ags/tag1.xml><?xml version="1.0" encoding="utf-8"?>
<p:tagLst xmlns:a="http://schemas.openxmlformats.org/drawingml/2006/main" xmlns:r="http://schemas.openxmlformats.org/officeDocument/2006/relationships" xmlns:p="http://schemas.openxmlformats.org/presentationml/2006/main">
  <p:tag name="TIMING" val="|2.3|41.4|20.3"/>
</p:tagLst>
</file>

<file path=ppt/tags/tag2.xml><?xml version="1.0" encoding="utf-8"?>
<p:tagLst xmlns:a="http://schemas.openxmlformats.org/drawingml/2006/main" xmlns:r="http://schemas.openxmlformats.org/officeDocument/2006/relationships" xmlns:p="http://schemas.openxmlformats.org/presentationml/2006/main">
  <p:tag name="TIMING" val="|4.7|5.9|2.9|3.6|2.4|15.9|7|20.5|7.4"/>
</p:tagLst>
</file>

<file path=ppt/tags/tag3.xml><?xml version="1.0" encoding="utf-8"?>
<p:tagLst xmlns:a="http://schemas.openxmlformats.org/drawingml/2006/main" xmlns:r="http://schemas.openxmlformats.org/officeDocument/2006/relationships" xmlns:p="http://schemas.openxmlformats.org/presentationml/2006/main">
  <p:tag name="TIMING" val="|0.5|24.9|26.2|7"/>
</p:tagLst>
</file>

<file path=ppt/tags/tag4.xml><?xml version="1.0" encoding="utf-8"?>
<p:tagLst xmlns:a="http://schemas.openxmlformats.org/drawingml/2006/main" xmlns:r="http://schemas.openxmlformats.org/officeDocument/2006/relationships" xmlns:p="http://schemas.openxmlformats.org/presentationml/2006/main">
  <p:tag name="TIMING" val="|1.3|2.4|4|4|16|20.9"/>
</p:tagLst>
</file>

<file path=ppt/tags/tag5.xml><?xml version="1.0" encoding="utf-8"?>
<p:tagLst xmlns:a="http://schemas.openxmlformats.org/drawingml/2006/main" xmlns:r="http://schemas.openxmlformats.org/officeDocument/2006/relationships" xmlns:p="http://schemas.openxmlformats.org/presentationml/2006/main">
  <p:tag name="TIMING" val="|8.5|6.1|0.4|0.6|3.3|0.6|0.3|1.1"/>
</p:tagLst>
</file>

<file path=ppt/tags/tag6.xml><?xml version="1.0" encoding="utf-8"?>
<p:tagLst xmlns:a="http://schemas.openxmlformats.org/drawingml/2006/main" xmlns:r="http://schemas.openxmlformats.org/officeDocument/2006/relationships" xmlns:p="http://schemas.openxmlformats.org/presentationml/2006/main">
  <p:tag name="TIMING" val="|3.7|10.5"/>
</p:tagLst>
</file>

<file path=ppt/tags/tag7.xml><?xml version="1.0" encoding="utf-8"?>
<p:tagLst xmlns:a="http://schemas.openxmlformats.org/drawingml/2006/main" xmlns:r="http://schemas.openxmlformats.org/officeDocument/2006/relationships" xmlns:p="http://schemas.openxmlformats.org/presentationml/2006/main">
  <p:tag name="TIMING" val="|13.8|4.2|13.5|14.7"/>
</p:tagLst>
</file>

<file path=ppt/tags/tag8.xml><?xml version="1.0" encoding="utf-8"?>
<p:tagLst xmlns:a="http://schemas.openxmlformats.org/drawingml/2006/main" xmlns:r="http://schemas.openxmlformats.org/officeDocument/2006/relationships" xmlns:p="http://schemas.openxmlformats.org/presentationml/2006/main">
  <p:tag name="TIMING" val="|5.2"/>
</p:tagLst>
</file>

<file path=ppt/tags/tag9.xml><?xml version="1.0" encoding="utf-8"?>
<p:tagLst xmlns:a="http://schemas.openxmlformats.org/drawingml/2006/main" xmlns:r="http://schemas.openxmlformats.org/officeDocument/2006/relationships" xmlns:p="http://schemas.openxmlformats.org/presentationml/2006/main">
  <p:tag name="TIMING" val="|0.4"/>
</p:tagLst>
</file>

<file path=ppt/tags/tag10.xml><?xml version="1.0" encoding="utf-8"?>
<p:tagLst xmlns:a="http://schemas.openxmlformats.org/drawingml/2006/main" xmlns:r="http://schemas.openxmlformats.org/officeDocument/2006/relationships" xmlns:p="http://schemas.openxmlformats.org/presentationml/2006/main">
  <p:tag name="TIMING" val="|0.2|0.4"/>
</p:tagLst>
</file>

<file path=ppt/tags/tag11.xml><?xml version="1.0" encoding="utf-8"?>
<p:tagLst xmlns:a="http://schemas.openxmlformats.org/drawingml/2006/main" xmlns:r="http://schemas.openxmlformats.org/officeDocument/2006/relationships" xmlns:p="http://schemas.openxmlformats.org/presentationml/2006/main">
  <p:tag name="TIMING" val="|0|0|0|0|0"/>
</p:tagLst>
</file>

<file path=ppt/tags/tag12.xml><?xml version="1.0" encoding="utf-8"?>
<p:tagLst xmlns:a="http://schemas.openxmlformats.org/drawingml/2006/main" xmlns:r="http://schemas.openxmlformats.org/officeDocument/2006/relationships" xmlns:p="http://schemas.openxmlformats.org/presentationml/2006/main">
  <p:tag name="TIMING" val="|0|0|0|0"/>
</p:tagLst>
</file>

<file path=ppt/tags/tag13.xml><?xml version="1.0" encoding="utf-8"?>
<p:tagLst xmlns:a="http://schemas.openxmlformats.org/drawingml/2006/main" xmlns:r="http://schemas.openxmlformats.org/officeDocument/2006/relationships" xmlns:p="http://schemas.openxmlformats.org/presentationml/2006/main">
  <p:tag name="TIMING" val="|0|0|0|0"/>
</p:tagLst>
</file>

<file path=ppt/tags/tag14.xml><?xml version="1.0" encoding="utf-8"?>
<p:tagLst xmlns:a="http://schemas.openxmlformats.org/drawingml/2006/main" xmlns:r="http://schemas.openxmlformats.org/officeDocument/2006/relationships" xmlns:p="http://schemas.openxmlformats.org/presentationml/2006/main">
  <p:tag name="TIMING" val="|0|0|0"/>
</p:tagLst>
</file>

<file path=ppt/tags/tag15.xml><?xml version="1.0" encoding="utf-8"?>
<p:tagLst xmlns:a="http://schemas.openxmlformats.org/drawingml/2006/main" xmlns:r="http://schemas.openxmlformats.org/officeDocument/2006/relationships" xmlns:p="http://schemas.openxmlformats.org/presentationml/2006/main">
  <p:tag name="TIMING" val="|0|0|0"/>
</p:tagLst>
</file>

<file path=ppt/tags/tag16.xml><?xml version="1.0" encoding="utf-8"?>
<p:tagLst xmlns:a="http://schemas.openxmlformats.org/drawingml/2006/main" xmlns:r="http://schemas.openxmlformats.org/officeDocument/2006/relationships" xmlns:p="http://schemas.openxmlformats.org/presentationml/2006/main">
  <p:tag name="TIMING" val="|0|0|0|0|0"/>
</p:tagLst>
</file>

<file path=ppt/tags/tag17.xml><?xml version="1.0" encoding="utf-8"?>
<p:tagLst xmlns:a="http://schemas.openxmlformats.org/drawingml/2006/main" xmlns:r="http://schemas.openxmlformats.org/officeDocument/2006/relationships" xmlns:p="http://schemas.openxmlformats.org/presentationml/2006/main">
  <p:tag name="TIMING" val="|70.7|6.8"/>
</p:tagLst>
</file>

<file path=ppt/tags/tag18.xml><?xml version="1.0" encoding="utf-8"?>
<p:tagLst xmlns:a="http://schemas.openxmlformats.org/drawingml/2006/main" xmlns:r="http://schemas.openxmlformats.org/officeDocument/2006/relationships" xmlns:p="http://schemas.openxmlformats.org/presentationml/2006/main">
  <p:tag name="TIMING" val="|0.5|9|8.4|13.2|1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a:solidFill>
            <a:schemeClr val="tx1"/>
          </a:solidFill>
          <a:tailEnd type="triangle" w="lg" len="lg"/>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4634</TotalTime>
  <Words>2987</Words>
  <Application>Microsoft Office PowerPoint</Application>
  <PresentationFormat>On-screen Show (4:3)</PresentationFormat>
  <Paragraphs>404</Paragraphs>
  <Slides>30</Slides>
  <Notes>28</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Office Theme</vt:lpstr>
      <vt:lpstr>Hybrid Transitive Trust Mechanisms</vt:lpstr>
      <vt:lpstr>Motivation</vt:lpstr>
      <vt:lpstr>Agent Interaction Model</vt:lpstr>
      <vt:lpstr>Goals</vt:lpstr>
      <vt:lpstr>Outline</vt:lpstr>
      <vt:lpstr>Outline</vt:lpstr>
      <vt:lpstr>Example: PageRank</vt:lpstr>
      <vt:lpstr>Example: Shortest Path</vt:lpstr>
      <vt:lpstr>Example: Maxflow</vt:lpstr>
      <vt:lpstr>Example: Hitting Time</vt:lpstr>
      <vt:lpstr>Example: PageRank</vt:lpstr>
      <vt:lpstr>Manipulations</vt:lpstr>
      <vt:lpstr>Outline</vt:lpstr>
      <vt:lpstr>Value-strategyproof example</vt:lpstr>
      <vt:lpstr>Rank-strategyproof example</vt:lpstr>
      <vt:lpstr>ε-strategyproof</vt:lpstr>
      <vt:lpstr>Informativeness vs. Strategyproofness</vt:lpstr>
      <vt:lpstr>Outline</vt:lpstr>
      <vt:lpstr>Hybrid Mechanisms</vt:lpstr>
      <vt:lpstr>Main Results</vt:lpstr>
      <vt:lpstr>Main Results:</vt:lpstr>
      <vt:lpstr>Outline</vt:lpstr>
      <vt:lpstr>Informativeness</vt:lpstr>
      <vt:lpstr>Informativeness Properties</vt:lpstr>
      <vt:lpstr>Outline</vt:lpstr>
      <vt:lpstr>Efficiency Experiments</vt:lpstr>
      <vt:lpstr>Cooperative, Lazy free-rider, Strategic</vt:lpstr>
      <vt:lpstr>File Sharing Domain</vt:lpstr>
      <vt:lpstr>Conclusions</vt:lpstr>
      <vt:lpstr>Conclusions</vt:lpstr>
    </vt:vector>
  </TitlesOfParts>
  <Company>EECS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Hybrid Transitive-Trust Mechanisms</dc:title>
  <dc:creator>Jie Tang</dc:creator>
  <cp:lastModifiedBy>Jie Tang</cp:lastModifiedBy>
  <cp:revision>764</cp:revision>
  <dcterms:created xsi:type="dcterms:W3CDTF">2010-05-09T08:18:59Z</dcterms:created>
  <dcterms:modified xsi:type="dcterms:W3CDTF">2010-05-18T21:50:20Z</dcterms:modified>
</cp:coreProperties>
</file>