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73" r:id="rId3"/>
    <p:sldId id="257" r:id="rId4"/>
    <p:sldId id="271"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4" r:id="rId19"/>
    <p:sldId id="275" r:id="rId2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08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A88502-8B5C-4F18-B01E-3C4E809F0833}" type="datetimeFigureOut">
              <a:rPr lang="en-US" smtClean="0"/>
              <a:pPr/>
              <a:t>11/14/2012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D88FA-716E-4A44-A395-C95BDD2F2D2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A88502-8B5C-4F18-B01E-3C4E809F0833}" type="datetimeFigureOut">
              <a:rPr lang="en-US" smtClean="0"/>
              <a:pPr/>
              <a:t>11/14/2012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D88FA-716E-4A44-A395-C95BDD2F2D2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gif"/><Relationship Id="rId7"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5.gif"/><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609600" y="1066800"/>
            <a:ext cx="7772400" cy="2590800"/>
          </a:xfrm>
          <a:ln w="76200">
            <a:solidFill>
              <a:schemeClr val="tx1"/>
            </a:solidFill>
          </a:ln>
        </p:spPr>
        <p:txBody>
          <a:bodyPr/>
          <a:lstStyle/>
          <a:p>
            <a:r>
              <a:rPr lang="en-US" b="1" dirty="0" smtClean="0">
                <a:solidFill>
                  <a:srgbClr val="002060"/>
                </a:solidFill>
              </a:rPr>
              <a:t>Elections</a:t>
            </a:r>
            <a:r>
              <a:rPr lang="en-US" b="1" dirty="0" smtClean="0"/>
              <a:t> </a:t>
            </a:r>
            <a:r>
              <a:rPr lang="en-US" b="1" dirty="0" smtClean="0">
                <a:solidFill>
                  <a:srgbClr val="FF0000"/>
                </a:solidFill>
              </a:rPr>
              <a:t>Matter</a:t>
            </a:r>
            <a:r>
              <a:rPr lang="en-US" b="1" dirty="0" smtClean="0"/>
              <a:t>:  </a:t>
            </a:r>
            <a:br>
              <a:rPr lang="en-US" b="1" dirty="0" smtClean="0"/>
            </a:br>
            <a:r>
              <a:rPr lang="en-US" b="1" dirty="0" smtClean="0"/>
              <a:t>The Importance of Voting </a:t>
            </a:r>
            <a:endParaRPr lang="en-US" b="1" dirty="0"/>
          </a:p>
        </p:txBody>
      </p:sp>
      <p:sp>
        <p:nvSpPr>
          <p:cNvPr id="7" name="Subtitle 6"/>
          <p:cNvSpPr>
            <a:spLocks noGrp="1"/>
          </p:cNvSpPr>
          <p:nvPr>
            <p:ph type="subTitle" idx="1"/>
          </p:nvPr>
        </p:nvSpPr>
        <p:spPr/>
        <p:txBody>
          <a:bodyPr>
            <a:normAutofit fontScale="40000" lnSpcReduction="20000"/>
          </a:bodyPr>
          <a:lstStyle/>
          <a:p>
            <a:r>
              <a:rPr lang="en-US" sz="8000" b="1" dirty="0" err="1" smtClean="0">
                <a:solidFill>
                  <a:schemeClr val="tx1"/>
                </a:solidFill>
              </a:rPr>
              <a:t>Julietta</a:t>
            </a:r>
            <a:r>
              <a:rPr lang="en-US" sz="8000" b="1" dirty="0" smtClean="0">
                <a:solidFill>
                  <a:schemeClr val="tx1"/>
                </a:solidFill>
              </a:rPr>
              <a:t> Teresa Martinez-</a:t>
            </a:r>
            <a:r>
              <a:rPr lang="en-US" sz="8000" b="1" dirty="0" err="1" smtClean="0">
                <a:solidFill>
                  <a:schemeClr val="tx1"/>
                </a:solidFill>
              </a:rPr>
              <a:t>Landeros</a:t>
            </a:r>
            <a:r>
              <a:rPr lang="en-US" sz="8000" b="1" dirty="0" smtClean="0">
                <a:solidFill>
                  <a:schemeClr val="tx1"/>
                </a:solidFill>
              </a:rPr>
              <a:t/>
            </a:r>
            <a:br>
              <a:rPr lang="en-US" sz="8000" b="1" dirty="0" smtClean="0">
                <a:solidFill>
                  <a:schemeClr val="tx1"/>
                </a:solidFill>
              </a:rPr>
            </a:br>
            <a:r>
              <a:rPr lang="en-US" sz="8000" b="1" dirty="0" smtClean="0">
                <a:solidFill>
                  <a:srgbClr val="FF0000"/>
                </a:solidFill>
              </a:rPr>
              <a:t>Resident </a:t>
            </a:r>
            <a:r>
              <a:rPr lang="en-US" sz="8000" b="1" dirty="0" smtClean="0">
                <a:solidFill>
                  <a:srgbClr val="002060"/>
                </a:solidFill>
              </a:rPr>
              <a:t>Advisor</a:t>
            </a:r>
            <a:r>
              <a:rPr lang="en-US" sz="8000" b="1" dirty="0" smtClean="0">
                <a:solidFill>
                  <a:schemeClr val="tx1"/>
                </a:solidFill>
              </a:rPr>
              <a:t/>
            </a:r>
            <a:br>
              <a:rPr lang="en-US" sz="8000" b="1" dirty="0" smtClean="0">
                <a:solidFill>
                  <a:schemeClr val="tx1"/>
                </a:solidFill>
              </a:rPr>
            </a:br>
            <a:r>
              <a:rPr lang="en-US" sz="8000" b="1" dirty="0" smtClean="0">
                <a:solidFill>
                  <a:schemeClr val="tx1"/>
                </a:solidFill>
              </a:rPr>
              <a:t>University of Colorado at Boulder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rPr>
              <a:t>Note</a:t>
            </a:r>
            <a:r>
              <a:rPr lang="en-US" dirty="0" smtClean="0"/>
              <a:t> from the </a:t>
            </a:r>
            <a:r>
              <a:rPr lang="en-US" dirty="0" smtClean="0">
                <a:solidFill>
                  <a:srgbClr val="FF0000"/>
                </a:solidFill>
              </a:rPr>
              <a:t>Author</a:t>
            </a:r>
            <a:endParaRPr lang="en-US" dirty="0">
              <a:solidFill>
                <a:srgbClr val="FF0000"/>
              </a:solidFill>
            </a:endParaRPr>
          </a:p>
        </p:txBody>
      </p:sp>
      <p:sp>
        <p:nvSpPr>
          <p:cNvPr id="3" name="Content Placeholder 2"/>
          <p:cNvSpPr>
            <a:spLocks noGrp="1"/>
          </p:cNvSpPr>
          <p:nvPr>
            <p:ph idx="1"/>
          </p:nvPr>
        </p:nvSpPr>
        <p:spPr/>
        <p:txBody>
          <a:bodyPr>
            <a:normAutofit fontScale="55000" lnSpcReduction="20000"/>
          </a:bodyPr>
          <a:lstStyle/>
          <a:p>
            <a:pPr>
              <a:buNone/>
            </a:pPr>
            <a:r>
              <a:rPr lang="en-US" dirty="0" smtClean="0"/>
              <a:t>	My floor has an Avengers theme, and because this creates a </a:t>
            </a:r>
            <a:br>
              <a:rPr lang="en-US" dirty="0" smtClean="0"/>
            </a:br>
            <a:r>
              <a:rPr lang="en-US" dirty="0" smtClean="0"/>
              <a:t>sense of unity on the floor, residents asked for interesting </a:t>
            </a:r>
            <a:br>
              <a:rPr lang="en-US" dirty="0" smtClean="0"/>
            </a:br>
            <a:r>
              <a:rPr lang="en-US" dirty="0" smtClean="0"/>
              <a:t>ways to keep the theme going throughout the year. Thus, as the </a:t>
            </a:r>
            <a:br>
              <a:rPr lang="en-US" dirty="0" smtClean="0"/>
            </a:br>
            <a:r>
              <a:rPr lang="en-US" dirty="0" smtClean="0"/>
              <a:t>first Avenger is Captain America and as this is a presidential </a:t>
            </a:r>
            <a:br>
              <a:rPr lang="en-US" dirty="0" smtClean="0"/>
            </a:br>
            <a:r>
              <a:rPr lang="en-US" dirty="0" smtClean="0"/>
              <a:t>election year, I thought it would be a cool idea to educate </a:t>
            </a:r>
            <a:br>
              <a:rPr lang="en-US" dirty="0" smtClean="0"/>
            </a:br>
            <a:r>
              <a:rPr lang="en-US" dirty="0" smtClean="0"/>
              <a:t>residents on the importance of voting, especially as college </a:t>
            </a:r>
            <a:br>
              <a:rPr lang="en-US" dirty="0" smtClean="0"/>
            </a:br>
            <a:r>
              <a:rPr lang="en-US" dirty="0" smtClean="0"/>
              <a:t>students make up a very powerful voting block. This </a:t>
            </a:r>
            <a:r>
              <a:rPr lang="en-US" dirty="0" err="1" smtClean="0"/>
              <a:t>powerpoint</a:t>
            </a:r>
            <a:r>
              <a:rPr lang="en-US" dirty="0" smtClean="0"/>
              <a:t> </a:t>
            </a:r>
            <a:br>
              <a:rPr lang="en-US" dirty="0" smtClean="0"/>
            </a:br>
            <a:r>
              <a:rPr lang="en-US" dirty="0" smtClean="0"/>
              <a:t>uses non-partisan facts as statistics that simply demonstrate </a:t>
            </a:r>
            <a:br>
              <a:rPr lang="en-US" dirty="0" smtClean="0"/>
            </a:br>
            <a:r>
              <a:rPr lang="en-US" dirty="0" smtClean="0"/>
              <a:t>the power of their vote, and how voting affects their lives in </a:t>
            </a:r>
            <a:br>
              <a:rPr lang="en-US" dirty="0" smtClean="0"/>
            </a:br>
            <a:r>
              <a:rPr lang="en-US" dirty="0" smtClean="0"/>
              <a:t>ways they may not be aware of. </a:t>
            </a:r>
            <a:br>
              <a:rPr lang="en-US" dirty="0" smtClean="0"/>
            </a:br>
            <a:r>
              <a:rPr lang="en-US" dirty="0" smtClean="0"/>
              <a:t/>
            </a:r>
            <a:br>
              <a:rPr lang="en-US" dirty="0" smtClean="0"/>
            </a:br>
            <a:r>
              <a:rPr lang="en-US" dirty="0" smtClean="0"/>
              <a:t>Residents responded very well to this bulletin board, and in </a:t>
            </a:r>
            <a:br>
              <a:rPr lang="en-US" dirty="0" smtClean="0"/>
            </a:br>
            <a:r>
              <a:rPr lang="en-US" dirty="0" smtClean="0"/>
              <a:t>fact began to discuss if they were voting and why it is </a:t>
            </a:r>
            <a:br>
              <a:rPr lang="en-US" dirty="0" smtClean="0"/>
            </a:br>
            <a:r>
              <a:rPr lang="en-US" dirty="0" smtClean="0"/>
              <a:t>important to vote. They were especially responsive to thought </a:t>
            </a:r>
            <a:br>
              <a:rPr lang="en-US" dirty="0" smtClean="0"/>
            </a:br>
            <a:r>
              <a:rPr lang="en-US" dirty="0" smtClean="0"/>
              <a:t>provoking information they may not have otherwise known.</a:t>
            </a:r>
            <a:br>
              <a:rPr lang="en-US" dirty="0" smtClean="0"/>
            </a:br>
            <a:r>
              <a:rPr lang="en-US" dirty="0" smtClean="0"/>
              <a:t>Best,</a:t>
            </a:r>
            <a:br>
              <a:rPr lang="en-US" dirty="0" smtClean="0"/>
            </a:br>
            <a:r>
              <a:rPr lang="en-US" dirty="0" smtClean="0"/>
              <a:t/>
            </a:r>
            <a:br>
              <a:rPr lang="en-US" dirty="0" smtClean="0"/>
            </a:br>
            <a:r>
              <a:rPr lang="en-US" dirty="0" err="1" smtClean="0"/>
              <a:t>Julietta</a:t>
            </a:r>
            <a:r>
              <a:rPr lang="en-US" dirty="0" smtClean="0"/>
              <a:t> Teresa Martinez-</a:t>
            </a:r>
            <a:r>
              <a:rPr lang="en-US" dirty="0" err="1" smtClean="0"/>
              <a:t>Landeros</a:t>
            </a:r>
            <a:r>
              <a:rPr lang="en-US" dirty="0" smtClean="0"/>
              <a:t/>
            </a:r>
            <a:br>
              <a:rPr lang="en-US" dirty="0" smtClean="0"/>
            </a:br>
            <a:r>
              <a:rPr lang="en-US" dirty="0" smtClean="0"/>
              <a:t>Resident Advisor, University of Colorado at Boulder</a:t>
            </a:r>
            <a:br>
              <a:rPr lang="en-US" dirty="0" smtClean="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6" y="4308106"/>
            <a:ext cx="2590802" cy="2508987"/>
          </a:xfrm>
          <a:prstGeom prst="rect">
            <a:avLst/>
          </a:prstGeom>
          <a:noFill/>
        </p:spPr>
      </p:pic>
      <p:pic>
        <p:nvPicPr>
          <p:cNvPr id="25602"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sp>
        <p:nvSpPr>
          <p:cNvPr id="2" name="Title 1"/>
          <p:cNvSpPr>
            <a:spLocks noGrp="1"/>
          </p:cNvSpPr>
          <p:nvPr>
            <p:ph type="title"/>
          </p:nvPr>
        </p:nvSpPr>
        <p:spPr>
          <a:xfrm rot="5400000">
            <a:off x="4648200" y="3200400"/>
            <a:ext cx="6248400" cy="609600"/>
          </a:xfrm>
        </p:spPr>
        <p:txBody>
          <a:bodyPr>
            <a:normAutofit fontScale="90000"/>
          </a:bodyPr>
          <a:lstStyle/>
          <a:p>
            <a:r>
              <a:rPr lang="en-US" b="1" dirty="0" smtClean="0">
                <a:solidFill>
                  <a:srgbClr val="C00000"/>
                </a:solidFill>
                <a:effectLst>
                  <a:outerShdw blurRad="38100" dist="38100" dir="2700000" algn="tl">
                    <a:srgbClr val="000000">
                      <a:alpha val="43137"/>
                    </a:srgbClr>
                  </a:outerShdw>
                </a:effectLst>
                <a:latin typeface="American Captain" pitchFamily="50" charset="0"/>
              </a:rPr>
              <a:t>Did</a:t>
            </a:r>
            <a:r>
              <a:rPr lang="en-US" b="1" dirty="0" smtClean="0">
                <a:effectLst>
                  <a:outerShdw blurRad="38100" dist="38100" dir="2700000" algn="tl">
                    <a:srgbClr val="000000">
                      <a:alpha val="43137"/>
                    </a:srgbClr>
                  </a:outerShdw>
                </a:effectLst>
                <a:latin typeface="American Captain" pitchFamily="50" charset="0"/>
              </a:rPr>
              <a:t> </a:t>
            </a:r>
            <a:r>
              <a:rPr lang="en-US" dirty="0" smtClean="0">
                <a:ln w="18415" cmpd="sng">
                  <a:solidFill>
                    <a:schemeClr val="bg1">
                      <a:lumMod val="50000"/>
                    </a:schemeClr>
                  </a:solidFill>
                  <a:prstDash val="solid"/>
                </a:ln>
                <a:solidFill>
                  <a:srgbClr val="FFFFFF"/>
                </a:solidFill>
                <a:effectLst>
                  <a:outerShdw blurRad="63500" dir="3600000" algn="tl" rotWithShape="0">
                    <a:srgbClr val="000000">
                      <a:alpha val="70000"/>
                    </a:srgbClr>
                  </a:outerShdw>
                </a:effectLst>
                <a:latin typeface="American Captain" pitchFamily="50" charset="0"/>
              </a:rPr>
              <a:t>You</a:t>
            </a:r>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American Captain" pitchFamily="50" charset="0"/>
              </a:rPr>
              <a:t> </a:t>
            </a:r>
            <a:r>
              <a:rPr lang="en-US" b="1" dirty="0" smtClean="0">
                <a:solidFill>
                  <a:srgbClr val="002060"/>
                </a:solidFill>
                <a:effectLst>
                  <a:outerShdw blurRad="38100" dist="38100" dir="2700000" algn="tl">
                    <a:srgbClr val="000000">
                      <a:alpha val="43137"/>
                    </a:srgbClr>
                  </a:outerShdw>
                </a:effectLst>
                <a:latin typeface="American Captain" pitchFamily="50" charset="0"/>
              </a:rPr>
              <a:t>Know?</a:t>
            </a:r>
            <a:endParaRPr lang="en-US" b="1"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685802" y="-304800"/>
            <a:ext cx="5181599" cy="7315200"/>
          </a:xfrm>
        </p:spPr>
        <p:txBody>
          <a:bodyPr>
            <a:normAutofit fontScale="40000" lnSpcReduction="20000"/>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lvl="0" algn="just">
              <a:buBlip>
                <a:blip r:embed="rId3"/>
              </a:buBlip>
            </a:pPr>
            <a:r>
              <a:rPr lang="en-US" sz="3800" b="1" dirty="0">
                <a:ln/>
                <a:solidFill>
                  <a:sysClr val="windowText" lastClr="000000"/>
                </a:solidFill>
                <a:latin typeface="Aharoni" pitchFamily="2" charset="-79"/>
                <a:cs typeface="Aharoni" pitchFamily="2" charset="-79"/>
              </a:rPr>
              <a:t>The Millennial generation already makes up 1/5 of the electorate. By 2015, they will account for 1/3. </a:t>
            </a:r>
          </a:p>
          <a:p>
            <a:pPr lvl="0" algn="just">
              <a:buBlip>
                <a:blip r:embed="rId3"/>
              </a:buBlip>
            </a:pPr>
            <a:r>
              <a:rPr lang="en-US" sz="3800" b="1" dirty="0">
                <a:ln/>
                <a:solidFill>
                  <a:sysClr val="windowText" lastClr="000000"/>
                </a:solidFill>
                <a:latin typeface="Aharoni" pitchFamily="2" charset="-79"/>
                <a:cs typeface="Aharoni" pitchFamily="2" charset="-79"/>
              </a:rPr>
              <a:t>Compared to 2000, young voters have more than doubled their turnout in the 2008 primaries and caucuses.</a:t>
            </a:r>
          </a:p>
          <a:p>
            <a:pPr lvl="0" algn="just">
              <a:buBlip>
                <a:blip r:embed="rId3"/>
              </a:buBlip>
            </a:pPr>
            <a:r>
              <a:rPr lang="en-US" sz="3800" b="1" dirty="0">
                <a:ln/>
                <a:solidFill>
                  <a:sysClr val="windowText" lastClr="000000"/>
                </a:solidFill>
                <a:latin typeface="Aharoni" pitchFamily="2" charset="-79"/>
                <a:cs typeface="Aharoni" pitchFamily="2" charset="-79"/>
              </a:rPr>
              <a:t>In both the 2006 and the 2008 primaries, young voters made the difference in several tight races. Senator Obama owes his caucus win in Iowa to 18-29 year olds, and a winning margin among the youth vote helped Senator McCain win in California.</a:t>
            </a:r>
          </a:p>
          <a:p>
            <a:pPr lvl="0" algn="just">
              <a:buBlip>
                <a:blip r:embed="rId3"/>
              </a:buBlip>
            </a:pPr>
            <a:r>
              <a:rPr lang="en-US" sz="3800" b="1" dirty="0">
                <a:ln/>
                <a:solidFill>
                  <a:sysClr val="windowText" lastClr="000000"/>
                </a:solidFill>
                <a:latin typeface="Aharoni" pitchFamily="2" charset="-79"/>
                <a:cs typeface="Aharoni" pitchFamily="2" charset="-79"/>
              </a:rPr>
              <a:t>The 2008 presidential election was the first in decades where candidates were actively and aggressively courting the youth vote. In the primaries, four candidates from both parties had full-time, national youth outreach directors.</a:t>
            </a:r>
          </a:p>
          <a:p>
            <a:pPr lvl="0" algn="just">
              <a:buBlip>
                <a:blip r:embed="rId3"/>
              </a:buBlip>
            </a:pPr>
            <a:r>
              <a:rPr lang="en-US" sz="3800" b="1" dirty="0">
                <a:ln/>
                <a:solidFill>
                  <a:sysClr val="windowText" lastClr="000000"/>
                </a:solidFill>
                <a:latin typeface="Aharoni" pitchFamily="2" charset="-79"/>
                <a:cs typeface="Aharoni" pitchFamily="2" charset="-79"/>
              </a:rPr>
              <a:t>Young Latinos are the largest, and fastest-growing ethnic subset of young adults; 50,000 young Latinos turn 18 each month, and Latinos make up 17% of the youth electorate.</a:t>
            </a:r>
          </a:p>
          <a:p>
            <a:pPr lvl="0" algn="just">
              <a:buBlip>
                <a:blip r:embed="rId3"/>
              </a:buBlip>
            </a:pPr>
            <a:r>
              <a:rPr lang="en-US" sz="3800" b="1" dirty="0">
                <a:ln/>
                <a:solidFill>
                  <a:sysClr val="windowText" lastClr="000000"/>
                </a:solidFill>
                <a:latin typeface="Aharoni" pitchFamily="2" charset="-79"/>
                <a:cs typeface="Aharoni" pitchFamily="2" charset="-79"/>
              </a:rPr>
              <a:t>Since 2004, young women have led the turnout increase witnessed among young adults overall. In both 2004 and 2006, young women voted at rates seven and three points higher than young men. </a:t>
            </a:r>
          </a:p>
          <a:p>
            <a:pPr lvl="0" algn="just">
              <a:buBlip>
                <a:blip r:embed="rId3"/>
              </a:buBlip>
            </a:pPr>
            <a:r>
              <a:rPr lang="en-US" sz="3800" b="1" dirty="0">
                <a:ln/>
                <a:solidFill>
                  <a:sysClr val="windowText" lastClr="000000"/>
                </a:solidFill>
                <a:latin typeface="Aharoni" pitchFamily="2" charset="-79"/>
                <a:cs typeface="Aharoni" pitchFamily="2" charset="-79"/>
              </a:rPr>
              <a:t>Research shows that young voters with college experience are much more likely to vote than their non-college counterparts. Although ½ of young Americans ages 18-29 have never enrolled in college, 79% of the young voters on Super Tuesday attended college.</a:t>
            </a:r>
          </a:p>
          <a:p>
            <a:pPr algn="just">
              <a:buBlip>
                <a:blip r:embed="rId3"/>
              </a:buBlip>
            </a:pPr>
            <a:endParaRPr lang="en-US" b="1" dirty="0">
              <a:ln/>
              <a:solidFill>
                <a:sysClr val="windowText" lastClr="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okgop.com/wp-content/uploads/2012/09/ballot-box.jpg"/>
          <p:cNvPicPr>
            <a:picLocks noChangeAspect="1" noChangeArrowheads="1"/>
          </p:cNvPicPr>
          <p:nvPr/>
        </p:nvPicPr>
        <p:blipFill>
          <a:blip r:embed="rId2" cstate="print"/>
          <a:srcRect/>
          <a:stretch>
            <a:fillRect/>
          </a:stretch>
        </p:blipFill>
        <p:spPr bwMode="auto">
          <a:xfrm>
            <a:off x="228600" y="4585638"/>
            <a:ext cx="2514600" cy="2043761"/>
          </a:xfrm>
          <a:prstGeom prst="rect">
            <a:avLst/>
          </a:prstGeom>
          <a:noFill/>
        </p:spPr>
      </p:pic>
      <p:pic>
        <p:nvPicPr>
          <p:cNvPr id="4" name="Picture 2" descr="http://i.istockimg.com/file_thumbview_approve/382344/2/stock-illustration-382344-patriotic-border.jpg"/>
          <p:cNvPicPr>
            <a:picLocks noChangeAspect="1" noChangeArrowheads="1"/>
          </p:cNvPicPr>
          <p:nvPr/>
        </p:nvPicPr>
        <p:blipFill>
          <a:blip r:embed="rId3"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3" cstate="print"/>
          <a:srcRect/>
          <a:stretch>
            <a:fillRect/>
          </a:stretch>
        </p:blipFill>
        <p:spPr bwMode="auto">
          <a:xfrm rot="16200000">
            <a:off x="6594104" y="4308105"/>
            <a:ext cx="2590802" cy="2508987"/>
          </a:xfrm>
          <a:prstGeom prst="rect">
            <a:avLst/>
          </a:prstGeom>
          <a:noFill/>
        </p:spPr>
      </p:pic>
      <p:sp>
        <p:nvSpPr>
          <p:cNvPr id="2" name="Title 1"/>
          <p:cNvSpPr>
            <a:spLocks noGrp="1"/>
          </p:cNvSpPr>
          <p:nvPr>
            <p:ph type="ctrTitle"/>
          </p:nvPr>
        </p:nvSpPr>
        <p:spPr/>
        <p:txBody>
          <a:bodyPr>
            <a:normAutofit fontScale="90000"/>
          </a:bodyPr>
          <a:lstStyle/>
          <a:p>
            <a:r>
              <a:rPr lang="en-US" sz="8000" dirty="0" smtClean="0">
                <a:solidFill>
                  <a:srgbClr val="FF0000"/>
                </a:solidFill>
                <a:effectLst>
                  <a:outerShdw blurRad="38100" dist="38100" dir="2700000" algn="tl">
                    <a:srgbClr val="000000">
                      <a:alpha val="43137"/>
                    </a:srgbClr>
                  </a:outerShdw>
                </a:effectLst>
                <a:latin typeface="American Captain" pitchFamily="50" charset="0"/>
              </a:rPr>
              <a:t>Your</a:t>
            </a:r>
            <a:r>
              <a:rPr lang="en-US" sz="8000" dirty="0" smtClean="0">
                <a:effectLst>
                  <a:outerShdw blurRad="38100" dist="38100" dir="2700000" algn="tl">
                    <a:srgbClr val="000000">
                      <a:alpha val="43137"/>
                    </a:srgbClr>
                  </a:outerShdw>
                </a:effectLst>
                <a:latin typeface="American Captain" pitchFamily="50" charset="0"/>
              </a:rPr>
              <a:t> </a:t>
            </a:r>
            <a:r>
              <a:rPr lang="en-US" sz="8000"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Vote</a:t>
            </a:r>
            <a:r>
              <a:rPr lang="en-US" sz="8000" dirty="0" smtClean="0">
                <a:effectLst>
                  <a:outerShdw blurRad="38100" dist="38100" dir="2700000" algn="tl">
                    <a:srgbClr val="000000">
                      <a:alpha val="43137"/>
                    </a:srgbClr>
                  </a:outerShdw>
                </a:effectLst>
                <a:latin typeface="American Captain" pitchFamily="50" charset="0"/>
              </a:rPr>
              <a:t> </a:t>
            </a:r>
            <a:r>
              <a:rPr lang="en-US" sz="8000" dirty="0" smtClean="0">
                <a:solidFill>
                  <a:srgbClr val="002060"/>
                </a:solidFill>
                <a:effectLst>
                  <a:outerShdw blurRad="38100" dist="38100" dir="2700000" algn="tl">
                    <a:srgbClr val="000000">
                      <a:alpha val="43137"/>
                    </a:srgbClr>
                  </a:outerShdw>
                </a:effectLst>
                <a:latin typeface="American Captain" pitchFamily="50" charset="0"/>
              </a:rPr>
              <a:t>Matters!</a:t>
            </a:r>
            <a:endParaRPr lang="en-US" sz="8000"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Subtitle 2"/>
          <p:cNvSpPr>
            <a:spLocks noGrp="1"/>
          </p:cNvSpPr>
          <p:nvPr>
            <p:ph type="subTitle" idx="1"/>
          </p:nvPr>
        </p:nvSpPr>
        <p:spPr/>
        <p:txBody>
          <a:bodyPr>
            <a:scene3d>
              <a:camera prst="orthographicFront"/>
              <a:lightRig rig="balanced" dir="t">
                <a:rot lat="0" lon="0" rev="2100000"/>
              </a:lightRig>
            </a:scene3d>
            <a:sp3d extrusionH="57150" prstMaterial="metal">
              <a:bevelT w="38100" h="25400"/>
              <a:contourClr>
                <a:schemeClr val="bg2"/>
              </a:contourClr>
            </a:sp3d>
          </a:bodyPr>
          <a:lstStyle/>
          <a:p>
            <a:r>
              <a:rPr lang="en-US" b="1" dirty="0" smtClean="0">
                <a:ln w="50800"/>
                <a:solidFill>
                  <a:schemeClr val="tx1"/>
                </a:solidFill>
                <a:latin typeface="Aharoni" pitchFamily="2" charset="-79"/>
                <a:cs typeface="Aharoni" pitchFamily="2" charset="-79"/>
              </a:rPr>
              <a:t>Top 10 Reasons You Should Vote</a:t>
            </a:r>
            <a:endParaRPr lang="en-US" b="1" dirty="0">
              <a:ln w="50800"/>
              <a:solidFill>
                <a:schemeClr val="tx1"/>
              </a:solidFill>
              <a:latin typeface="Aharoni" pitchFamily="2" charset="-79"/>
              <a:cs typeface="Aharoni" pitchFamily="2" charset="-79"/>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5" y="4308105"/>
            <a:ext cx="2590802" cy="2508987"/>
          </a:xfrm>
          <a:prstGeom prst="rect">
            <a:avLst/>
          </a:prstGeom>
          <a:noFill/>
        </p:spPr>
      </p:pic>
      <p:sp>
        <p:nvSpPr>
          <p:cNvPr id="2" name="Title 1"/>
          <p:cNvSpPr>
            <a:spLocks noGrp="1"/>
          </p:cNvSpPr>
          <p:nvPr>
            <p:ph type="title"/>
          </p:nvPr>
        </p:nvSpPr>
        <p:spPr>
          <a:xfrm rot="5400000">
            <a:off x="4495800" y="2514600"/>
            <a:ext cx="6629400" cy="1143000"/>
          </a:xfrm>
        </p:spPr>
        <p:txBody>
          <a:bodyPr>
            <a:normAutofit fontScale="90000"/>
          </a:bodyPr>
          <a:lstStyle/>
          <a:p>
            <a:r>
              <a:rPr lang="en-US" dirty="0">
                <a:effectLst>
                  <a:outerShdw blurRad="38100" dist="38100" dir="2700000" algn="tl">
                    <a:srgbClr val="000000">
                      <a:alpha val="43137"/>
                    </a:srgbClr>
                  </a:outerShdw>
                </a:effectLst>
                <a:latin typeface="American Captain" pitchFamily="50" charset="0"/>
              </a:rPr>
              <a:t>10. </a:t>
            </a:r>
            <a:r>
              <a:rPr lang="en-US" dirty="0">
                <a:solidFill>
                  <a:srgbClr val="C00000"/>
                </a:solidFill>
                <a:effectLst>
                  <a:outerShdw blurRad="38100" dist="38100" dir="2700000" algn="tl">
                    <a:srgbClr val="000000">
                      <a:alpha val="43137"/>
                    </a:srgbClr>
                  </a:outerShdw>
                </a:effectLst>
                <a:latin typeface="American Captain" pitchFamily="50" charset="0"/>
              </a:rPr>
              <a:t>Honor</a:t>
            </a:r>
            <a:r>
              <a:rPr lang="en-US" dirty="0">
                <a:effectLst>
                  <a:outerShdw blurRad="38100" dist="38100" dir="2700000" algn="tl">
                    <a:srgbClr val="000000">
                      <a:alpha val="43137"/>
                    </a:srgbClr>
                  </a:outerShdw>
                </a:effectLst>
                <a:latin typeface="American Captain" pitchFamily="50" charset="0"/>
              </a:rPr>
              <a:t> </a:t>
            </a:r>
            <a:r>
              <a:rPr lang="en-US" dirty="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past</a:t>
            </a:r>
            <a:r>
              <a:rPr lang="en-US" dirty="0">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sacrifices</a:t>
            </a:r>
            <a:endParaRPr lang="en-US"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2895600" y="1752600"/>
            <a:ext cx="5638800" cy="2743200"/>
          </a:xfrm>
        </p:spPr>
        <p:txBody>
          <a:bodyPr>
            <a:normAutofit fontScale="850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latin typeface="Aharoni" pitchFamily="2" charset="-79"/>
                <a:cs typeface="Aharoni" pitchFamily="2" charset="-79"/>
              </a:rPr>
              <a:t>	Voting </a:t>
            </a:r>
            <a:r>
              <a:rPr lang="en-US" sz="2800" b="1" dirty="0">
                <a:ln w="50800"/>
                <a:latin typeface="Aharoni" pitchFamily="2" charset="-79"/>
                <a:cs typeface="Aharoni" pitchFamily="2" charset="-79"/>
              </a:rPr>
              <a:t>is a way to honor those who have helped to secure our rights. Military members who have fought for this country, suffrage activists and Civil Rights leaders are only a few examples of those to whom we owe our respect and appreciation. Voting gives you the opportunity to help pay that debt. </a:t>
            </a:r>
          </a:p>
          <a:p>
            <a:pPr algn="just">
              <a:buNone/>
            </a:pPr>
            <a:endParaRPr lang="en-US" sz="2800" b="1" dirty="0">
              <a:ln w="50800"/>
              <a:latin typeface="Aharoni" pitchFamily="2" charset="-79"/>
              <a:cs typeface="Aharoni" pitchFamily="2" charset="-79"/>
            </a:endParaRPr>
          </a:p>
          <a:p>
            <a:pPr algn="just"/>
            <a:endParaRPr lang="en-US" sz="2800" b="1" dirty="0">
              <a:ln w="50800"/>
              <a:latin typeface="Aharoni" pitchFamily="2" charset="-79"/>
              <a:cs typeface="Aharoni" pitchFamily="2" charset="-79"/>
            </a:endParaRPr>
          </a:p>
        </p:txBody>
      </p:sp>
      <p:pic>
        <p:nvPicPr>
          <p:cNvPr id="14340" name="Picture 4" descr="http://womhist.alexanderstreet.com/colosuff/womc.jpg"/>
          <p:cNvPicPr>
            <a:picLocks noChangeAspect="1" noChangeArrowheads="1"/>
          </p:cNvPicPr>
          <p:nvPr/>
        </p:nvPicPr>
        <p:blipFill>
          <a:blip r:embed="rId3" cstate="print"/>
          <a:srcRect/>
          <a:stretch>
            <a:fillRect/>
          </a:stretch>
        </p:blipFill>
        <p:spPr bwMode="auto">
          <a:xfrm rot="5400000">
            <a:off x="830475" y="1988925"/>
            <a:ext cx="3308668" cy="3445618"/>
          </a:xfrm>
          <a:prstGeom prst="rect">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6" y="4308105"/>
            <a:ext cx="2590802" cy="2508987"/>
          </a:xfrm>
          <a:prstGeom prst="rect">
            <a:avLst/>
          </a:prstGeom>
          <a:noFill/>
        </p:spPr>
      </p:pic>
      <p:sp>
        <p:nvSpPr>
          <p:cNvPr id="2" name="Title 1"/>
          <p:cNvSpPr>
            <a:spLocks noGrp="1"/>
          </p:cNvSpPr>
          <p:nvPr>
            <p:ph type="title"/>
          </p:nvPr>
        </p:nvSpPr>
        <p:spPr>
          <a:xfrm rot="5400000">
            <a:off x="4686300" y="2552700"/>
            <a:ext cx="6324600" cy="1219200"/>
          </a:xfrm>
        </p:spPr>
        <p:txBody>
          <a:bodyPr>
            <a:normAutofit fontScale="90000"/>
          </a:bodyPr>
          <a:lstStyle/>
          <a:p>
            <a:r>
              <a:rPr lang="en-US" dirty="0">
                <a:latin typeface="American Captain" pitchFamily="50" charset="0"/>
              </a:rPr>
              <a:t>9</a:t>
            </a:r>
            <a:r>
              <a:rPr lang="en-US" dirty="0" smtClean="0">
                <a:latin typeface="American Captain" pitchFamily="50" charset="0"/>
              </a:rPr>
              <a:t>. </a:t>
            </a:r>
            <a:r>
              <a:rPr lang="en-US" dirty="0">
                <a:solidFill>
                  <a:srgbClr val="C00000"/>
                </a:solidFill>
                <a:effectLst>
                  <a:outerShdw blurRad="38100" dist="38100" dir="2700000" algn="tl">
                    <a:srgbClr val="000000">
                      <a:alpha val="43137"/>
                    </a:srgbClr>
                  </a:outerShdw>
                </a:effectLst>
                <a:latin typeface="American Captain" pitchFamily="50" charset="0"/>
              </a:rPr>
              <a:t>the</a:t>
            </a:r>
            <a:r>
              <a:rPr lang="en-US" dirty="0">
                <a:effectLst>
                  <a:outerShdw blurRad="38100" dist="38100" dir="2700000" algn="tl">
                    <a:srgbClr val="000000">
                      <a:alpha val="43137"/>
                    </a:srgbClr>
                  </a:outerShdw>
                </a:effectLst>
                <a:latin typeface="American Captain" pitchFamily="50" charset="0"/>
              </a:rPr>
              <a:t> </a:t>
            </a:r>
            <a:r>
              <a:rPr lang="en-US" dirty="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next</a:t>
            </a:r>
            <a:r>
              <a:rPr lang="en-US" dirty="0">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generation</a:t>
            </a:r>
            <a:endParaRPr lang="en-US"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2731691" y="1611709"/>
            <a:ext cx="5486400" cy="3177382"/>
          </a:xfrm>
        </p:spPr>
        <p:txBody>
          <a:bodyPr>
            <a:normAutofit fontScale="850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latin typeface="Aharoni" pitchFamily="2" charset="-79"/>
                <a:cs typeface="Aharoni" pitchFamily="2" charset="-79"/>
              </a:rPr>
              <a:t>	By </a:t>
            </a:r>
            <a:r>
              <a:rPr lang="en-US" sz="2800" b="1" dirty="0">
                <a:ln w="50800"/>
                <a:latin typeface="Aharoni" pitchFamily="2" charset="-79"/>
                <a:cs typeface="Aharoni" pitchFamily="2" charset="-79"/>
              </a:rPr>
              <a:t>voting you are not only doing your part to influence the present, you are also affecting the future. Demonstrating this point well is the fact that the president selects U.S. Supreme Court Justices for lifetime appointments. These judicial officials may exert powerful influence for decades to come. </a:t>
            </a:r>
          </a:p>
          <a:p>
            <a:pPr algn="just"/>
            <a:endParaRPr lang="en-US" sz="2800" b="1" dirty="0">
              <a:ln w="50800"/>
              <a:latin typeface="Aharoni" pitchFamily="2" charset="-79"/>
              <a:cs typeface="Aharoni" pitchFamily="2" charset="-79"/>
            </a:endParaRPr>
          </a:p>
        </p:txBody>
      </p:sp>
      <p:pic>
        <p:nvPicPr>
          <p:cNvPr id="13314" name="Picture 2" descr="http://colorlines.com/assets_c/2012/07/diverse_kids_040711-thumb-640xauto-2782-thumb-640xauto-6458.jpg"/>
          <p:cNvPicPr>
            <a:picLocks noChangeAspect="1" noChangeArrowheads="1"/>
          </p:cNvPicPr>
          <p:nvPr/>
        </p:nvPicPr>
        <p:blipFill>
          <a:blip r:embed="rId3" cstate="print"/>
          <a:srcRect/>
          <a:stretch>
            <a:fillRect/>
          </a:stretch>
        </p:blipFill>
        <p:spPr bwMode="auto">
          <a:xfrm rot="5400000">
            <a:off x="-119063" y="2176462"/>
            <a:ext cx="5105400" cy="3190875"/>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5" y="4308105"/>
            <a:ext cx="2590802" cy="2508987"/>
          </a:xfrm>
          <a:prstGeom prst="rect">
            <a:avLst/>
          </a:prstGeom>
          <a:noFill/>
        </p:spPr>
      </p:pic>
      <p:sp>
        <p:nvSpPr>
          <p:cNvPr id="2" name="Title 1"/>
          <p:cNvSpPr>
            <a:spLocks noGrp="1"/>
          </p:cNvSpPr>
          <p:nvPr>
            <p:ph type="title"/>
          </p:nvPr>
        </p:nvSpPr>
        <p:spPr>
          <a:xfrm rot="5400000">
            <a:off x="4191000" y="2362200"/>
            <a:ext cx="6400800" cy="1676400"/>
          </a:xfrm>
        </p:spPr>
        <p:txBody>
          <a:bodyPr>
            <a:normAutofit fontScale="90000"/>
          </a:bodyPr>
          <a:lstStyle/>
          <a:p>
            <a:r>
              <a:rPr lang="en-US" dirty="0">
                <a:effectLst>
                  <a:outerShdw blurRad="38100" dist="38100" dir="2700000" algn="tl">
                    <a:srgbClr val="000000">
                      <a:alpha val="43137"/>
                    </a:srgbClr>
                  </a:outerShdw>
                </a:effectLst>
                <a:latin typeface="American Captain" pitchFamily="50" charset="0"/>
              </a:rPr>
              <a:t>8. </a:t>
            </a:r>
            <a:r>
              <a:rPr lang="en-US" dirty="0" smtClean="0">
                <a:solidFill>
                  <a:srgbClr val="C00000"/>
                </a:solidFill>
                <a:effectLst>
                  <a:outerShdw blurRad="38100" dist="38100" dir="2700000" algn="tl">
                    <a:srgbClr val="000000">
                      <a:alpha val="43137"/>
                    </a:srgbClr>
                  </a:outerShdw>
                </a:effectLst>
                <a:latin typeface="American Captain" pitchFamily="50" charset="0"/>
              </a:rPr>
              <a:t>address</a:t>
            </a:r>
            <a:r>
              <a:rPr lang="en-US" dirty="0" smtClean="0">
                <a:effectLst>
                  <a:outerShdw blurRad="38100" dist="38100" dir="2700000" algn="tl">
                    <a:srgbClr val="000000">
                      <a:alpha val="43137"/>
                    </a:srgbClr>
                  </a:outerShdw>
                </a:effectLst>
                <a:latin typeface="American Captain" pitchFamily="50" charset="0"/>
              </a:rPr>
              <a:t> </a:t>
            </a:r>
            <a:r>
              <a:rPr lang="en-US" dirty="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student</a:t>
            </a:r>
            <a:r>
              <a:rPr lang="en-US" dirty="0">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needs</a:t>
            </a:r>
            <a:r>
              <a:rPr lang="en-US" dirty="0">
                <a:latin typeface="American Captain" pitchFamily="50" charset="0"/>
              </a:rPr>
              <a:t/>
            </a:r>
            <a:br>
              <a:rPr lang="en-US" dirty="0">
                <a:latin typeface="American Captain" pitchFamily="50" charset="0"/>
              </a:rPr>
            </a:br>
            <a:endParaRPr lang="en-US" dirty="0">
              <a:latin typeface="American Captain" pitchFamily="50" charset="0"/>
            </a:endParaRPr>
          </a:p>
        </p:txBody>
      </p:sp>
      <p:sp>
        <p:nvSpPr>
          <p:cNvPr id="3" name="Content Placeholder 2"/>
          <p:cNvSpPr>
            <a:spLocks noGrp="1"/>
          </p:cNvSpPr>
          <p:nvPr>
            <p:ph idx="1"/>
          </p:nvPr>
        </p:nvSpPr>
        <p:spPr>
          <a:xfrm rot="5400000">
            <a:off x="2884091" y="1992709"/>
            <a:ext cx="5486400" cy="2720182"/>
          </a:xfrm>
        </p:spPr>
        <p:txBody>
          <a:bodyPr>
            <a:normAutofit fontScale="775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latin typeface="Aharoni" pitchFamily="2" charset="-79"/>
                <a:cs typeface="Aharoni" pitchFamily="2" charset="-79"/>
              </a:rPr>
              <a:t>	Politicians </a:t>
            </a:r>
            <a:r>
              <a:rPr lang="en-US" sz="2800" b="1" dirty="0">
                <a:ln w="50800"/>
                <a:latin typeface="Aharoni" pitchFamily="2" charset="-79"/>
                <a:cs typeface="Aharoni" pitchFamily="2" charset="-79"/>
              </a:rPr>
              <a:t>know who votes each election, and they are more likely to support initiatives that are popular among groups with the highest voter turnout. For college students to have significant political influence, they must turn out in greater numbers than is traditionally seen. You have a part to play in that. </a:t>
            </a:r>
          </a:p>
          <a:p>
            <a:endParaRPr lang="en-US" sz="2800" b="1" dirty="0">
              <a:ln w="50800"/>
              <a:latin typeface="Aharoni" pitchFamily="2" charset="-79"/>
              <a:cs typeface="Aharoni" pitchFamily="2" charset="-79"/>
            </a:endParaRPr>
          </a:p>
        </p:txBody>
      </p:sp>
      <p:pic>
        <p:nvPicPr>
          <p:cNvPr id="12290" name="Picture 2" descr="http://erikbrewer.files.wordpress.com/2011/09/students_college.jpg"/>
          <p:cNvPicPr>
            <a:picLocks noChangeAspect="1" noChangeArrowheads="1"/>
          </p:cNvPicPr>
          <p:nvPr/>
        </p:nvPicPr>
        <p:blipFill>
          <a:blip r:embed="rId3" cstate="print"/>
          <a:srcRect/>
          <a:stretch>
            <a:fillRect/>
          </a:stretch>
        </p:blipFill>
        <p:spPr bwMode="auto">
          <a:xfrm rot="5400000">
            <a:off x="246552" y="1887048"/>
            <a:ext cx="4929188" cy="3288693"/>
          </a:xfrm>
          <a:prstGeom prst="rect">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4" y="4308105"/>
            <a:ext cx="2590802" cy="2508987"/>
          </a:xfrm>
          <a:prstGeom prst="rect">
            <a:avLst/>
          </a:prstGeom>
          <a:noFill/>
        </p:spPr>
      </p:pic>
      <p:sp>
        <p:nvSpPr>
          <p:cNvPr id="2" name="Title 1"/>
          <p:cNvSpPr>
            <a:spLocks noGrp="1"/>
          </p:cNvSpPr>
          <p:nvPr>
            <p:ph type="title"/>
          </p:nvPr>
        </p:nvSpPr>
        <p:spPr>
          <a:xfrm rot="5400000">
            <a:off x="4575969" y="2739231"/>
            <a:ext cx="6621462" cy="1143000"/>
          </a:xfrm>
        </p:spPr>
        <p:txBody>
          <a:bodyPr>
            <a:normAutofit fontScale="90000"/>
          </a:bodyPr>
          <a:lstStyle/>
          <a:p>
            <a:r>
              <a:rPr lang="en-US" dirty="0">
                <a:effectLst>
                  <a:outerShdw blurRad="38100" dist="38100" dir="2700000" algn="tl">
                    <a:srgbClr val="000000">
                      <a:alpha val="43137"/>
                    </a:srgbClr>
                  </a:outerShdw>
                </a:effectLst>
                <a:latin typeface="American Captain" pitchFamily="50" charset="0"/>
              </a:rPr>
              <a:t>7. </a:t>
            </a:r>
            <a:r>
              <a:rPr lang="en-US" dirty="0" smtClean="0">
                <a:solidFill>
                  <a:srgbClr val="C00000"/>
                </a:solidFill>
                <a:effectLst>
                  <a:outerShdw blurRad="38100" dist="38100" dir="2700000" algn="tl">
                    <a:srgbClr val="000000">
                      <a:alpha val="43137"/>
                    </a:srgbClr>
                  </a:outerShdw>
                </a:effectLst>
                <a:latin typeface="American Captain" pitchFamily="50" charset="0"/>
              </a:rPr>
              <a:t>important</a:t>
            </a:r>
            <a:r>
              <a:rPr lang="en-US" dirty="0" smtClean="0">
                <a:solidFill>
                  <a:schemeClr val="bg1"/>
                </a:solidFill>
                <a:effectLst>
                  <a:outerShdw blurRad="38100" dist="38100" dir="2700000" algn="tl">
                    <a:srgbClr val="000000">
                      <a:alpha val="43137"/>
                    </a:srgbClr>
                  </a:outerShdw>
                </a:effectLst>
                <a:latin typeface="American Captain" pitchFamily="50" charset="0"/>
              </a:rPr>
              <a:t> </a:t>
            </a:r>
            <a:r>
              <a:rPr lang="en-US" dirty="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voting</a:t>
            </a:r>
            <a:r>
              <a:rPr lang="en-US" dirty="0">
                <a:solidFill>
                  <a:schemeClr val="bg1"/>
                </a:solidFill>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bloc</a:t>
            </a:r>
            <a:endParaRPr lang="en-US"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2693591" y="1573609"/>
            <a:ext cx="5715000" cy="3329782"/>
          </a:xfrm>
        </p:spPr>
        <p:txBody>
          <a:bodyPr>
            <a:normAutofit fontScale="850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latin typeface="Aharoni" pitchFamily="2" charset="-79"/>
                <a:cs typeface="Aharoni" pitchFamily="2" charset="-79"/>
              </a:rPr>
              <a:t>	The </a:t>
            </a:r>
            <a:r>
              <a:rPr lang="en-US" sz="2800" b="1" dirty="0">
                <a:ln w="50800"/>
                <a:latin typeface="Aharoni" pitchFamily="2" charset="-79"/>
                <a:cs typeface="Aharoni" pitchFamily="2" charset="-79"/>
              </a:rPr>
              <a:t>college vote can swing elections. There are more than 75 million </a:t>
            </a:r>
            <a:r>
              <a:rPr lang="en-US" sz="2800" b="1" dirty="0" err="1">
                <a:ln w="50800"/>
                <a:latin typeface="Aharoni" pitchFamily="2" charset="-79"/>
                <a:cs typeface="Aharoni" pitchFamily="2" charset="-79"/>
              </a:rPr>
              <a:t>Millennials</a:t>
            </a:r>
            <a:r>
              <a:rPr lang="en-US" sz="2800" b="1" dirty="0">
                <a:ln w="50800"/>
                <a:latin typeface="Aharoni" pitchFamily="2" charset="-79"/>
                <a:cs typeface="Aharoni" pitchFamily="2" charset="-79"/>
              </a:rPr>
              <a:t>, a number that rivals the number of baby boomers - another important voting bloc. The problem is that college students typically vote in much smaller numbers than older citizens. Mobilized, </a:t>
            </a:r>
            <a:r>
              <a:rPr lang="en-US" sz="2800" b="1" dirty="0" err="1">
                <a:ln w="50800"/>
                <a:latin typeface="Aharoni" pitchFamily="2" charset="-79"/>
                <a:cs typeface="Aharoni" pitchFamily="2" charset="-79"/>
              </a:rPr>
              <a:t>Millennials</a:t>
            </a:r>
            <a:r>
              <a:rPr lang="en-US" sz="2800" b="1" dirty="0">
                <a:ln w="50800"/>
                <a:latin typeface="Aharoni" pitchFamily="2" charset="-79"/>
                <a:cs typeface="Aharoni" pitchFamily="2" charset="-79"/>
              </a:rPr>
              <a:t> represent a powerful political force. </a:t>
            </a:r>
          </a:p>
          <a:p>
            <a:pPr algn="just"/>
            <a:endParaRPr lang="en-US" sz="2800" b="1" dirty="0">
              <a:ln w="50800"/>
              <a:latin typeface="Aharoni" pitchFamily="2" charset="-79"/>
              <a:cs typeface="Aharoni" pitchFamily="2" charset="-79"/>
            </a:endParaRPr>
          </a:p>
        </p:txBody>
      </p:sp>
      <p:pic>
        <p:nvPicPr>
          <p:cNvPr id="11268" name="Picture 4" descr="http://d3kg7tnmlk2xo8.cloudfront.net/wp-content/uploads/2011/03/millenials.jpg"/>
          <p:cNvPicPr>
            <a:picLocks noChangeAspect="1" noChangeArrowheads="1"/>
          </p:cNvPicPr>
          <p:nvPr/>
        </p:nvPicPr>
        <p:blipFill>
          <a:blip r:embed="rId3" cstate="print"/>
          <a:srcRect/>
          <a:stretch>
            <a:fillRect/>
          </a:stretch>
        </p:blipFill>
        <p:spPr bwMode="auto">
          <a:xfrm rot="5400000">
            <a:off x="100012" y="2185988"/>
            <a:ext cx="5086350" cy="2695575"/>
          </a:xfrm>
          <a:prstGeom prst="rect">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6" y="4308105"/>
            <a:ext cx="2590802" cy="2508987"/>
          </a:xfrm>
          <a:prstGeom prst="rect">
            <a:avLst/>
          </a:prstGeom>
          <a:noFill/>
        </p:spPr>
      </p:pic>
      <p:sp>
        <p:nvSpPr>
          <p:cNvPr id="2" name="Title 1"/>
          <p:cNvSpPr>
            <a:spLocks noGrp="1"/>
          </p:cNvSpPr>
          <p:nvPr>
            <p:ph type="title"/>
          </p:nvPr>
        </p:nvSpPr>
        <p:spPr>
          <a:xfrm rot="5400000">
            <a:off x="3390900" y="2628900"/>
            <a:ext cx="8229600" cy="1143000"/>
          </a:xfrm>
        </p:spPr>
        <p:txBody>
          <a:bodyPr>
            <a:noAutofit/>
          </a:bodyPr>
          <a:lstStyle/>
          <a:p>
            <a:r>
              <a:rPr lang="en-US" sz="3600" dirty="0">
                <a:latin typeface="American Captain" pitchFamily="50" charset="0"/>
              </a:rPr>
              <a:t>6</a:t>
            </a:r>
            <a:r>
              <a:rPr lang="en-US" sz="3600" dirty="0" smtClean="0">
                <a:latin typeface="American Captain" pitchFamily="50" charset="0"/>
              </a:rPr>
              <a:t>. </a:t>
            </a:r>
            <a:r>
              <a:rPr lang="en-US" sz="3600" dirty="0" smtClean="0">
                <a:solidFill>
                  <a:srgbClr val="C00000"/>
                </a:solidFill>
                <a:effectLst>
                  <a:outerShdw blurRad="38100" dist="38100" dir="2700000" algn="tl">
                    <a:srgbClr val="000000">
                      <a:alpha val="43137"/>
                    </a:srgbClr>
                  </a:outerShdw>
                </a:effectLst>
                <a:latin typeface="American Captain" pitchFamily="50" charset="0"/>
              </a:rPr>
              <a:t>Address</a:t>
            </a:r>
            <a:r>
              <a:rPr lang="en-US" sz="3600" dirty="0" smtClean="0">
                <a:effectLst>
                  <a:outerShdw blurRad="38100" dist="38100" dir="2700000" algn="tl">
                    <a:srgbClr val="000000">
                      <a:alpha val="43137"/>
                    </a:srgbClr>
                  </a:outerShdw>
                </a:effectLst>
                <a:latin typeface="American Captain" pitchFamily="50" charset="0"/>
              </a:rPr>
              <a:t> </a:t>
            </a:r>
            <a:r>
              <a:rPr lang="en-US" sz="3600"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environmental</a:t>
            </a:r>
            <a:r>
              <a:rPr lang="en-US" sz="3600" dirty="0" smtClean="0">
                <a:effectLst>
                  <a:outerShdw blurRad="38100" dist="38100" dir="2700000" algn="tl">
                    <a:srgbClr val="000000">
                      <a:alpha val="43137"/>
                    </a:srgbClr>
                  </a:outerShdw>
                </a:effectLst>
                <a:latin typeface="American Captain" pitchFamily="50" charset="0"/>
              </a:rPr>
              <a:t> </a:t>
            </a:r>
            <a:r>
              <a:rPr lang="en-US" sz="3600" dirty="0" smtClean="0">
                <a:solidFill>
                  <a:srgbClr val="002060"/>
                </a:solidFill>
                <a:effectLst>
                  <a:outerShdw blurRad="38100" dist="38100" dir="2700000" algn="tl">
                    <a:srgbClr val="000000">
                      <a:alpha val="43137"/>
                    </a:srgbClr>
                  </a:outerShdw>
                </a:effectLst>
                <a:latin typeface="American Captain" pitchFamily="50" charset="0"/>
              </a:rPr>
              <a:t>issues</a:t>
            </a:r>
            <a:r>
              <a:rPr lang="en-US" sz="3600" dirty="0">
                <a:latin typeface="American Captain" pitchFamily="50" charset="0"/>
              </a:rPr>
              <a:t/>
            </a:r>
            <a:br>
              <a:rPr lang="en-US" sz="3600" dirty="0">
                <a:latin typeface="American Captain" pitchFamily="50" charset="0"/>
              </a:rPr>
            </a:br>
            <a:endParaRPr lang="en-US" sz="3600" dirty="0">
              <a:latin typeface="American Captain" pitchFamily="50" charset="0"/>
            </a:endParaRPr>
          </a:p>
        </p:txBody>
      </p:sp>
      <p:sp>
        <p:nvSpPr>
          <p:cNvPr id="3" name="Content Placeholder 2"/>
          <p:cNvSpPr>
            <a:spLocks noGrp="1"/>
          </p:cNvSpPr>
          <p:nvPr>
            <p:ph idx="1"/>
          </p:nvPr>
        </p:nvSpPr>
        <p:spPr>
          <a:xfrm rot="5400000">
            <a:off x="2922191" y="1497409"/>
            <a:ext cx="5257800" cy="3329782"/>
          </a:xfrm>
        </p:spPr>
        <p:txBody>
          <a:bodyPr>
            <a:normAutofit fontScale="850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latin typeface="Aharoni" pitchFamily="2" charset="-79"/>
                <a:cs typeface="Aharoni" pitchFamily="2" charset="-79"/>
              </a:rPr>
              <a:t>	The </a:t>
            </a:r>
            <a:r>
              <a:rPr lang="en-US" sz="2800" b="1" dirty="0">
                <a:ln w="50800"/>
                <a:latin typeface="Aharoni" pitchFamily="2" charset="-79"/>
                <a:cs typeface="Aharoni" pitchFamily="2" charset="-79"/>
              </a:rPr>
              <a:t>environment stands to be among the biggest political topics of this generation. Many climate experts warn of serious, potentially irreversible weather changes that may drastically alter life on our planet. Whether you agree with this assessment or have other views, your vote is a way to express your convictions. </a:t>
            </a:r>
          </a:p>
          <a:p>
            <a:pPr algn="just"/>
            <a:endParaRPr lang="en-US" sz="2800" b="1" dirty="0">
              <a:ln w="50800"/>
              <a:latin typeface="Aharoni" pitchFamily="2" charset="-79"/>
              <a:cs typeface="Aharoni" pitchFamily="2" charset="-79"/>
            </a:endParaRPr>
          </a:p>
        </p:txBody>
      </p:sp>
      <p:pic>
        <p:nvPicPr>
          <p:cNvPr id="10242" name="Picture 2" descr="http://blog.gaiam.com/wp-content/uploads/2010/08/EcopoliticsBlogFeature.jpg"/>
          <p:cNvPicPr>
            <a:picLocks noChangeAspect="1" noChangeArrowheads="1"/>
          </p:cNvPicPr>
          <p:nvPr/>
        </p:nvPicPr>
        <p:blipFill>
          <a:blip r:embed="rId3" cstate="print"/>
          <a:srcRect/>
          <a:stretch>
            <a:fillRect/>
          </a:stretch>
        </p:blipFill>
        <p:spPr bwMode="auto">
          <a:xfrm rot="5400000">
            <a:off x="190500" y="2171700"/>
            <a:ext cx="4524375" cy="2619375"/>
          </a:xfrm>
          <a:prstGeom prst="rect">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5" y="4308106"/>
            <a:ext cx="2590802" cy="2508987"/>
          </a:xfrm>
          <a:prstGeom prst="rect">
            <a:avLst/>
          </a:prstGeom>
          <a:noFill/>
        </p:spPr>
      </p:pic>
      <p:sp>
        <p:nvSpPr>
          <p:cNvPr id="2" name="Title 1"/>
          <p:cNvSpPr>
            <a:spLocks noGrp="1"/>
          </p:cNvSpPr>
          <p:nvPr>
            <p:ph type="title"/>
          </p:nvPr>
        </p:nvSpPr>
        <p:spPr>
          <a:xfrm rot="5400000">
            <a:off x="3543300" y="2628900"/>
            <a:ext cx="8229600" cy="1143000"/>
          </a:xfrm>
        </p:spPr>
        <p:txBody>
          <a:bodyPr>
            <a:noAutofit/>
          </a:bodyPr>
          <a:lstStyle/>
          <a:p>
            <a:r>
              <a:rPr lang="en-US" dirty="0">
                <a:effectLst>
                  <a:outerShdw blurRad="38100" dist="38100" dir="2700000" algn="tl">
                    <a:srgbClr val="000000">
                      <a:alpha val="43137"/>
                    </a:srgbClr>
                  </a:outerShdw>
                </a:effectLst>
                <a:latin typeface="American Captain" pitchFamily="50" charset="0"/>
              </a:rPr>
              <a:t>5. </a:t>
            </a:r>
            <a:r>
              <a:rPr lang="en-US" dirty="0" smtClean="0">
                <a:solidFill>
                  <a:srgbClr val="C00000"/>
                </a:solidFill>
                <a:effectLst>
                  <a:outerShdw blurRad="38100" dist="38100" dir="2700000" algn="tl">
                    <a:srgbClr val="000000">
                      <a:alpha val="43137"/>
                    </a:srgbClr>
                  </a:outerShdw>
                </a:effectLst>
                <a:latin typeface="American Captain" pitchFamily="50" charset="0"/>
              </a:rPr>
              <a:t>shape</a:t>
            </a:r>
            <a:r>
              <a:rPr lang="en-US" dirty="0" smtClean="0">
                <a:effectLst>
                  <a:outerShdw blurRad="38100" dist="38100" dir="2700000" algn="tl">
                    <a:srgbClr val="000000">
                      <a:alpha val="43137"/>
                    </a:srgbClr>
                  </a:outerShdw>
                </a:effectLst>
                <a:latin typeface="American Captain" pitchFamily="50" charset="0"/>
              </a:rPr>
              <a:t> </a:t>
            </a:r>
            <a:r>
              <a:rPr lang="en-US" dirty="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foreign</a:t>
            </a:r>
            <a:r>
              <a:rPr lang="en-US" dirty="0">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policy</a:t>
            </a:r>
            <a:r>
              <a:rPr lang="en-US" dirty="0">
                <a:latin typeface="American Captain" pitchFamily="50" charset="0"/>
              </a:rPr>
              <a:t/>
            </a:r>
            <a:br>
              <a:rPr lang="en-US" dirty="0">
                <a:latin typeface="American Captain" pitchFamily="50" charset="0"/>
              </a:rPr>
            </a:br>
            <a:endParaRPr lang="en-US" dirty="0">
              <a:latin typeface="American Captain" pitchFamily="50" charset="0"/>
            </a:endParaRPr>
          </a:p>
        </p:txBody>
      </p:sp>
      <p:sp>
        <p:nvSpPr>
          <p:cNvPr id="3" name="Content Placeholder 2"/>
          <p:cNvSpPr>
            <a:spLocks noGrp="1"/>
          </p:cNvSpPr>
          <p:nvPr>
            <p:ph idx="1"/>
          </p:nvPr>
        </p:nvSpPr>
        <p:spPr>
          <a:xfrm rot="5400000">
            <a:off x="3291681" y="1737518"/>
            <a:ext cx="5029200" cy="2925763"/>
          </a:xfrm>
        </p:spPr>
        <p:txBody>
          <a:bodyPr>
            <a:normAutofit fontScale="775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latin typeface="Aharoni" pitchFamily="2" charset="-79"/>
                <a:cs typeface="Aharoni" pitchFamily="2" charset="-79"/>
              </a:rPr>
              <a:t>	National </a:t>
            </a:r>
            <a:r>
              <a:rPr lang="en-US" sz="2800" b="1" dirty="0">
                <a:ln w="50800"/>
                <a:latin typeface="Aharoni" pitchFamily="2" charset="-79"/>
                <a:cs typeface="Aharoni" pitchFamily="2" charset="-79"/>
              </a:rPr>
              <a:t>leaders in Washington, D.C., are continually making foreign policy decisions, including when to intervene militarily in world affairs. It isn't the president or Congressional members who deploy to other countries to risk their lives - it's young people. Use your vote to support foreign policies you believe in. </a:t>
            </a:r>
          </a:p>
          <a:p>
            <a:pPr algn="just"/>
            <a:endParaRPr lang="en-US" sz="2800" b="1" dirty="0">
              <a:ln w="50800"/>
              <a:latin typeface="Aharoni" pitchFamily="2" charset="-79"/>
              <a:cs typeface="Aharoni" pitchFamily="2" charset="-79"/>
            </a:endParaRPr>
          </a:p>
        </p:txBody>
      </p:sp>
      <p:pic>
        <p:nvPicPr>
          <p:cNvPr id="9218" name="Picture 2" descr="http://ocw.nd.edu/peace-studies/islamic-ethics-of-war-and-peace/pictures/bullet-peace-sign"/>
          <p:cNvPicPr>
            <a:picLocks noChangeAspect="1" noChangeArrowheads="1"/>
          </p:cNvPicPr>
          <p:nvPr/>
        </p:nvPicPr>
        <p:blipFill>
          <a:blip r:embed="rId3" cstate="print"/>
          <a:srcRect/>
          <a:stretch>
            <a:fillRect/>
          </a:stretch>
        </p:blipFill>
        <p:spPr bwMode="auto">
          <a:xfrm rot="5400000">
            <a:off x="190500" y="2095500"/>
            <a:ext cx="4762500" cy="2857500"/>
          </a:xfrm>
          <a:prstGeom prst="rect">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4" y="4308106"/>
            <a:ext cx="2590802" cy="2508987"/>
          </a:xfrm>
          <a:prstGeom prst="rect">
            <a:avLst/>
          </a:prstGeom>
          <a:noFill/>
        </p:spPr>
      </p:pic>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sp>
        <p:nvSpPr>
          <p:cNvPr id="2" name="Title 1"/>
          <p:cNvSpPr>
            <a:spLocks noGrp="1"/>
          </p:cNvSpPr>
          <p:nvPr>
            <p:ph type="title"/>
          </p:nvPr>
        </p:nvSpPr>
        <p:spPr>
          <a:xfrm rot="5400000">
            <a:off x="3543300" y="2628900"/>
            <a:ext cx="8229600" cy="1143000"/>
          </a:xfrm>
        </p:spPr>
        <p:txBody>
          <a:bodyPr>
            <a:noAutofit/>
          </a:bodyPr>
          <a:lstStyle/>
          <a:p>
            <a:r>
              <a:rPr lang="en-US" dirty="0">
                <a:effectLst>
                  <a:outerShdw blurRad="38100" dist="38100" dir="2700000" algn="tl">
                    <a:srgbClr val="000000">
                      <a:alpha val="43137"/>
                    </a:srgbClr>
                  </a:outerShdw>
                </a:effectLst>
                <a:latin typeface="American Captain" pitchFamily="50" charset="0"/>
              </a:rPr>
              <a:t>4</a:t>
            </a:r>
            <a:r>
              <a:rPr lang="en-US" dirty="0" smtClean="0">
                <a:effectLst>
                  <a:outerShdw blurRad="38100" dist="38100" dir="2700000" algn="tl">
                    <a:srgbClr val="000000">
                      <a:alpha val="43137"/>
                    </a:srgbClr>
                  </a:outerShdw>
                </a:effectLst>
                <a:latin typeface="American Captain" pitchFamily="50" charset="0"/>
              </a:rPr>
              <a:t>. </a:t>
            </a:r>
            <a:r>
              <a:rPr lang="en-US" dirty="0" smtClean="0">
                <a:solidFill>
                  <a:srgbClr val="C00000"/>
                </a:solidFill>
                <a:effectLst>
                  <a:outerShdw blurRad="38100" dist="38100" dir="2700000" algn="tl">
                    <a:srgbClr val="000000">
                      <a:alpha val="43137"/>
                    </a:srgbClr>
                  </a:outerShdw>
                </a:effectLst>
                <a:latin typeface="American Captain" pitchFamily="50" charset="0"/>
              </a:rPr>
              <a:t>Shape</a:t>
            </a:r>
            <a:r>
              <a:rPr lang="en-US" dirty="0" smtClean="0">
                <a:effectLst>
                  <a:outerShdw blurRad="38100" dist="38100" dir="2700000" algn="tl">
                    <a:srgbClr val="000000">
                      <a:alpha val="43137"/>
                    </a:srgbClr>
                  </a:outerShdw>
                </a:effectLst>
                <a:latin typeface="American Captain" pitchFamily="50" charset="0"/>
              </a:rPr>
              <a:t> </a:t>
            </a:r>
            <a:r>
              <a:rPr lang="en-US"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Economic</a:t>
            </a:r>
            <a:r>
              <a:rPr lang="en-US" dirty="0" smtClean="0">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future</a:t>
            </a:r>
            <a:r>
              <a:rPr lang="en-US" dirty="0">
                <a:latin typeface="American Captain" pitchFamily="50" charset="0"/>
              </a:rPr>
              <a:t/>
            </a:r>
            <a:br>
              <a:rPr lang="en-US" dirty="0">
                <a:latin typeface="American Captain" pitchFamily="50" charset="0"/>
              </a:rPr>
            </a:br>
            <a:endParaRPr lang="en-US" dirty="0">
              <a:latin typeface="American Captain" pitchFamily="50" charset="0"/>
            </a:endParaRPr>
          </a:p>
        </p:txBody>
      </p:sp>
      <p:sp>
        <p:nvSpPr>
          <p:cNvPr id="3" name="Content Placeholder 2"/>
          <p:cNvSpPr>
            <a:spLocks noGrp="1"/>
          </p:cNvSpPr>
          <p:nvPr>
            <p:ph idx="1"/>
          </p:nvPr>
        </p:nvSpPr>
        <p:spPr>
          <a:xfrm rot="5400000">
            <a:off x="3101182" y="1470818"/>
            <a:ext cx="5181600" cy="3306764"/>
          </a:xfrm>
        </p:spPr>
        <p:txBody>
          <a:bodyPr>
            <a:normAutofit fontScale="775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latin typeface="Aharoni" pitchFamily="2" charset="-79"/>
                <a:cs typeface="Aharoni" pitchFamily="2" charset="-79"/>
              </a:rPr>
              <a:t>	Most </a:t>
            </a:r>
            <a:r>
              <a:rPr lang="en-US" sz="2800" b="1" dirty="0">
                <a:ln w="50800"/>
                <a:latin typeface="Aharoni" pitchFamily="2" charset="-79"/>
                <a:cs typeface="Aharoni" pitchFamily="2" charset="-79"/>
              </a:rPr>
              <a:t>expect social security benefits to be gone or greatly diminished by the time college-aged individuals reach retirement age - which will be higher than it is now. </a:t>
            </a:r>
            <a:r>
              <a:rPr lang="en-US" sz="2800" b="1" u="sng" dirty="0">
                <a:ln w="50800"/>
                <a:solidFill>
                  <a:srgbClr val="C00000"/>
                </a:solidFill>
                <a:latin typeface="Aharoni" pitchFamily="2" charset="-79"/>
                <a:cs typeface="Aharoni" pitchFamily="2" charset="-79"/>
              </a:rPr>
              <a:t>Politicians continually make decisions about higher </a:t>
            </a:r>
            <a:r>
              <a:rPr lang="en-US" sz="2800" b="1" u="sng" dirty="0" err="1">
                <a:ln w="50800"/>
                <a:solidFill>
                  <a:srgbClr val="C00000"/>
                </a:solidFill>
                <a:latin typeface="Aharoni" pitchFamily="2" charset="-79"/>
                <a:cs typeface="Aharoni" pitchFamily="2" charset="-79"/>
              </a:rPr>
              <a:t>ed</a:t>
            </a:r>
            <a:r>
              <a:rPr lang="en-US" sz="2800" b="1" u="sng" dirty="0">
                <a:ln w="50800"/>
                <a:solidFill>
                  <a:srgbClr val="C00000"/>
                </a:solidFill>
                <a:latin typeface="Aharoni" pitchFamily="2" charset="-79"/>
                <a:cs typeface="Aharoni" pitchFamily="2" charset="-79"/>
              </a:rPr>
              <a:t> costs and student loan policies</a:t>
            </a:r>
            <a:r>
              <a:rPr lang="en-US" sz="2800" b="1" dirty="0">
                <a:ln w="50800"/>
                <a:latin typeface="Aharoni" pitchFamily="2" charset="-79"/>
                <a:cs typeface="Aharoni" pitchFamily="2" charset="-79"/>
              </a:rPr>
              <a:t>. These and other issues prove you have an important economic interest in every election. </a:t>
            </a:r>
          </a:p>
          <a:p>
            <a:pPr algn="just"/>
            <a:endParaRPr lang="en-US" sz="2800" b="1" dirty="0">
              <a:ln w="50800"/>
              <a:latin typeface="Aharoni" pitchFamily="2" charset="-79"/>
              <a:cs typeface="Aharoni" pitchFamily="2" charset="-79"/>
            </a:endParaRPr>
          </a:p>
        </p:txBody>
      </p:sp>
      <p:pic>
        <p:nvPicPr>
          <p:cNvPr id="8194" name="Picture 2" descr="http://economiccrisis.us/wp-content/uploads/usa-economy.jpg"/>
          <p:cNvPicPr>
            <a:picLocks noChangeAspect="1" noChangeArrowheads="1"/>
          </p:cNvPicPr>
          <p:nvPr/>
        </p:nvPicPr>
        <p:blipFill>
          <a:blip r:embed="rId3" cstate="print"/>
          <a:srcRect/>
          <a:stretch>
            <a:fillRect/>
          </a:stretch>
        </p:blipFill>
        <p:spPr bwMode="auto">
          <a:xfrm>
            <a:off x="609600" y="1981200"/>
            <a:ext cx="3581400" cy="3196400"/>
          </a:xfrm>
          <a:prstGeom prst="rect">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4" y="4308106"/>
            <a:ext cx="2590802" cy="2508987"/>
          </a:xfrm>
          <a:prstGeom prst="rect">
            <a:avLst/>
          </a:prstGeom>
          <a:noFill/>
        </p:spPr>
      </p:pic>
      <p:sp>
        <p:nvSpPr>
          <p:cNvPr id="2" name="Title 1"/>
          <p:cNvSpPr>
            <a:spLocks noGrp="1"/>
          </p:cNvSpPr>
          <p:nvPr>
            <p:ph type="title"/>
          </p:nvPr>
        </p:nvSpPr>
        <p:spPr>
          <a:xfrm rot="5400000">
            <a:off x="3924300" y="2705100"/>
            <a:ext cx="8229600" cy="1143000"/>
          </a:xfrm>
        </p:spPr>
        <p:txBody>
          <a:bodyPr/>
          <a:lstStyle/>
          <a:p>
            <a:r>
              <a:rPr lang="en-US" dirty="0">
                <a:effectLst>
                  <a:outerShdw blurRad="38100" dist="38100" dir="2700000" algn="tl">
                    <a:srgbClr val="000000">
                      <a:alpha val="43137"/>
                    </a:srgbClr>
                  </a:outerShdw>
                </a:effectLst>
                <a:latin typeface="American Captain" pitchFamily="50" charset="0"/>
              </a:rPr>
              <a:t>3. </a:t>
            </a:r>
            <a:r>
              <a:rPr lang="en-US" dirty="0">
                <a:solidFill>
                  <a:srgbClr val="C00000"/>
                </a:solidFill>
                <a:effectLst>
                  <a:outerShdw blurRad="38100" dist="38100" dir="2700000" algn="tl">
                    <a:srgbClr val="000000">
                      <a:alpha val="43137"/>
                    </a:srgbClr>
                  </a:outerShdw>
                </a:effectLst>
                <a:latin typeface="American Captain" pitchFamily="50" charset="0"/>
              </a:rPr>
              <a:t>Shape</a:t>
            </a:r>
            <a:r>
              <a:rPr lang="en-US" dirty="0">
                <a:effectLst>
                  <a:outerShdw blurRad="38100" dist="38100" dir="2700000" algn="tl">
                    <a:srgbClr val="000000">
                      <a:alpha val="43137"/>
                    </a:srgbClr>
                  </a:outerShdw>
                </a:effectLst>
                <a:latin typeface="American Captain" pitchFamily="50" charset="0"/>
              </a:rPr>
              <a:t> </a:t>
            </a:r>
            <a:r>
              <a:rPr lang="en-US"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social</a:t>
            </a:r>
            <a:r>
              <a:rPr lang="en-US" dirty="0" smtClean="0">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agenda</a:t>
            </a:r>
            <a:endParaRPr lang="en-US" dirty="0">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3482181" y="1775619"/>
            <a:ext cx="5334000" cy="2849563"/>
          </a:xfrm>
        </p:spPr>
        <p:txBody>
          <a:bodyPr>
            <a:normAutofit fontScale="625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b="1" dirty="0" smtClean="0">
                <a:ln w="50800"/>
                <a:latin typeface="Aharoni" pitchFamily="2" charset="-79"/>
                <a:cs typeface="Aharoni" pitchFamily="2" charset="-79"/>
              </a:rPr>
              <a:t>	Are </a:t>
            </a:r>
            <a:r>
              <a:rPr lang="en-US" b="1" dirty="0">
                <a:ln w="50800"/>
                <a:latin typeface="Aharoni" pitchFamily="2" charset="-79"/>
                <a:cs typeface="Aharoni" pitchFamily="2" charset="-79"/>
              </a:rPr>
              <a:t>you passionate about a particular social issue? Gay marriage, the economy, the environment, military spending, immigration and foreign policy are only a few of many contentious topics that dominate the political discourse. Learn about candidates' views on issues that are important to you, and vote in support of your beliefs. </a:t>
            </a:r>
          </a:p>
          <a:p>
            <a:pPr algn="just"/>
            <a:endParaRPr lang="en-US" b="1" dirty="0">
              <a:ln w="50800"/>
              <a:latin typeface="Aharoni" pitchFamily="2" charset="-79"/>
              <a:cs typeface="Aharoni" pitchFamily="2" charset="-79"/>
            </a:endParaRPr>
          </a:p>
        </p:txBody>
      </p:sp>
      <p:pic>
        <p:nvPicPr>
          <p:cNvPr id="7170" name="Picture 2" descr="http://3.bp.blogspot.com/-Ip15SoUpJXk/UCvfm4yvaTI/AAAAAAAAA1g/3uzvC_rCdfY/s1600/abortion-gay-rights-social-issues.jpg"/>
          <p:cNvPicPr>
            <a:picLocks noChangeAspect="1" noChangeArrowheads="1"/>
          </p:cNvPicPr>
          <p:nvPr/>
        </p:nvPicPr>
        <p:blipFill>
          <a:blip r:embed="rId3" cstate="print"/>
          <a:srcRect/>
          <a:stretch>
            <a:fillRect/>
          </a:stretch>
        </p:blipFill>
        <p:spPr bwMode="auto">
          <a:xfrm rot="5400000">
            <a:off x="514350" y="1695450"/>
            <a:ext cx="4762500" cy="396240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8"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5" y="4308106"/>
            <a:ext cx="2590802" cy="2508987"/>
          </a:xfrm>
          <a:prstGeom prst="rect">
            <a:avLst/>
          </a:prstGeom>
          <a:noFill/>
        </p:spPr>
      </p:pic>
      <p:sp>
        <p:nvSpPr>
          <p:cNvPr id="2" name="Title 1"/>
          <p:cNvSpPr>
            <a:spLocks noGrp="1"/>
          </p:cNvSpPr>
          <p:nvPr>
            <p:ph type="title"/>
          </p:nvPr>
        </p:nvSpPr>
        <p:spPr>
          <a:xfrm rot="5400000">
            <a:off x="3848100" y="2628900"/>
            <a:ext cx="8229600" cy="1143000"/>
          </a:xfrm>
        </p:spPr>
        <p:txBody>
          <a:bodyPr/>
          <a:lstStyle/>
          <a:p>
            <a:r>
              <a:rPr lang="en-US" dirty="0">
                <a:effectLst>
                  <a:outerShdw blurRad="38100" dist="38100" dir="2700000" algn="tl">
                    <a:srgbClr val="000000">
                      <a:alpha val="43137"/>
                    </a:srgbClr>
                  </a:outerShdw>
                </a:effectLst>
                <a:latin typeface="American Captain" pitchFamily="50" charset="0"/>
              </a:rPr>
              <a:t>2. </a:t>
            </a:r>
            <a:r>
              <a:rPr lang="en-US" dirty="0">
                <a:solidFill>
                  <a:srgbClr val="C00000"/>
                </a:solidFill>
                <a:effectLst>
                  <a:outerShdw blurRad="38100" dist="38100" dir="2700000" algn="tl">
                    <a:srgbClr val="000000">
                      <a:alpha val="43137"/>
                    </a:srgbClr>
                  </a:outerShdw>
                </a:effectLst>
                <a:latin typeface="American Captain" pitchFamily="50" charset="0"/>
              </a:rPr>
              <a:t>Your</a:t>
            </a:r>
            <a:r>
              <a:rPr lang="en-US" dirty="0">
                <a:ln>
                  <a:solidFill>
                    <a:schemeClr val="bg1">
                      <a:lumMod val="50000"/>
                    </a:schemeClr>
                  </a:solidFill>
                </a:ln>
                <a:effectLst>
                  <a:outerShdw blurRad="38100" dist="38100" dir="2700000" algn="tl">
                    <a:srgbClr val="000000">
                      <a:alpha val="43137"/>
                    </a:srgbClr>
                  </a:outerShdw>
                </a:effectLst>
                <a:latin typeface="American Captain" pitchFamily="50" charset="0"/>
              </a:rPr>
              <a:t> </a:t>
            </a:r>
            <a:r>
              <a:rPr lang="en-US"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voice</a:t>
            </a:r>
            <a:r>
              <a:rPr lang="en-US" dirty="0" smtClean="0">
                <a:ln>
                  <a:solidFill>
                    <a:schemeClr val="bg1">
                      <a:lumMod val="50000"/>
                    </a:schemeClr>
                  </a:solidFill>
                </a:ln>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matters</a:t>
            </a:r>
            <a:endParaRPr lang="en-US"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3215479" y="1889921"/>
            <a:ext cx="5410203" cy="2849562"/>
          </a:xfrm>
        </p:spPr>
        <p:txBody>
          <a:bodyPr>
            <a:normAutofit fontScale="700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b="1" dirty="0" smtClean="0">
                <a:ln w="50800"/>
                <a:latin typeface="Aharoni" pitchFamily="2" charset="-79"/>
                <a:cs typeface="Aharoni" pitchFamily="2" charset="-79"/>
              </a:rPr>
              <a:t>	Many </a:t>
            </a:r>
            <a:r>
              <a:rPr lang="en-US" b="1" dirty="0">
                <a:ln w="50800"/>
                <a:latin typeface="Aharoni" pitchFamily="2" charset="-79"/>
                <a:cs typeface="Aharoni" pitchFamily="2" charset="-79"/>
              </a:rPr>
              <a:t>students don't believe their vote will make any difference, but recent history has shown that elections can be decided by a handful of votes. In fact, many local contests end in ties each election year with winners being determined by a coin flip. Taking the initiative to vote can help prevent elections from being left to chance. </a:t>
            </a:r>
          </a:p>
          <a:p>
            <a:pPr algn="just"/>
            <a:endParaRPr lang="en-US" b="1" dirty="0">
              <a:ln w="50800"/>
              <a:latin typeface="Aharoni" pitchFamily="2" charset="-79"/>
              <a:cs typeface="Aharoni" pitchFamily="2" charset="-79"/>
            </a:endParaRPr>
          </a:p>
        </p:txBody>
      </p:sp>
      <p:pic>
        <p:nvPicPr>
          <p:cNvPr id="6146" name="Picture 2" descr="http://30daysout.files.wordpress.com/2008/11/vote1.jpg"/>
          <p:cNvPicPr>
            <a:picLocks noChangeAspect="1" noChangeArrowheads="1"/>
          </p:cNvPicPr>
          <p:nvPr/>
        </p:nvPicPr>
        <p:blipFill>
          <a:blip r:embed="rId3" cstate="print"/>
          <a:srcRect/>
          <a:stretch>
            <a:fillRect/>
          </a:stretch>
        </p:blipFill>
        <p:spPr bwMode="auto">
          <a:xfrm rot="5400000">
            <a:off x="500063" y="1785937"/>
            <a:ext cx="4105275" cy="3429001"/>
          </a:xfrm>
          <a:prstGeom prst="rect">
            <a:avLst/>
          </a:prstGeom>
          <a:ln>
            <a:noFill/>
          </a:ln>
          <a:effectLst>
            <a:softEdge rad="1125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4" y="4308105"/>
            <a:ext cx="2590802" cy="2508987"/>
          </a:xfrm>
          <a:prstGeom prst="rect">
            <a:avLst/>
          </a:prstGeom>
          <a:noFill/>
        </p:spPr>
      </p:pic>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sp>
        <p:nvSpPr>
          <p:cNvPr id="2" name="Title 1"/>
          <p:cNvSpPr>
            <a:spLocks noGrp="1"/>
          </p:cNvSpPr>
          <p:nvPr>
            <p:ph type="title"/>
          </p:nvPr>
        </p:nvSpPr>
        <p:spPr>
          <a:xfrm rot="5400000">
            <a:off x="3467100" y="2857500"/>
            <a:ext cx="8229600" cy="1143000"/>
          </a:xfrm>
        </p:spPr>
        <p:txBody>
          <a:bodyPr>
            <a:noAutofit/>
          </a:bodyPr>
          <a:lstStyle/>
          <a:p>
            <a:r>
              <a:rPr lang="en-US" sz="4800" dirty="0">
                <a:effectLst>
                  <a:outerShdw blurRad="38100" dist="38100" dir="2700000" algn="tl">
                    <a:srgbClr val="000000">
                      <a:alpha val="43137"/>
                    </a:srgbClr>
                  </a:outerShdw>
                </a:effectLst>
                <a:latin typeface="American Captain" pitchFamily="50" charset="0"/>
              </a:rPr>
              <a:t>1. </a:t>
            </a:r>
            <a:r>
              <a:rPr lang="en-US" sz="4800" dirty="0">
                <a:solidFill>
                  <a:srgbClr val="C00000"/>
                </a:solidFill>
                <a:effectLst>
                  <a:outerShdw blurRad="38100" dist="38100" dir="2700000" algn="tl">
                    <a:srgbClr val="000000">
                      <a:alpha val="43137"/>
                    </a:srgbClr>
                  </a:outerShdw>
                </a:effectLst>
                <a:latin typeface="American Captain" pitchFamily="50" charset="0"/>
              </a:rPr>
              <a:t>It's </a:t>
            </a:r>
            <a:r>
              <a:rPr lang="en-US" sz="4800" dirty="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your</a:t>
            </a:r>
            <a:r>
              <a:rPr lang="en-US" sz="4800" dirty="0">
                <a:solidFill>
                  <a:schemeClr val="bg1"/>
                </a:solidFill>
                <a:effectLst>
                  <a:outerShdw blurRad="38100" dist="38100" dir="2700000" algn="tl">
                    <a:srgbClr val="000000">
                      <a:alpha val="43137"/>
                    </a:srgbClr>
                  </a:outerShdw>
                </a:effectLst>
                <a:latin typeface="American Captain" pitchFamily="50" charset="0"/>
              </a:rPr>
              <a:t> </a:t>
            </a:r>
            <a:r>
              <a:rPr lang="en-US" sz="4800" dirty="0" smtClean="0">
                <a:solidFill>
                  <a:srgbClr val="002060"/>
                </a:solidFill>
                <a:effectLst>
                  <a:outerShdw blurRad="38100" dist="38100" dir="2700000" algn="tl">
                    <a:srgbClr val="000000">
                      <a:alpha val="43137"/>
                    </a:srgbClr>
                  </a:outerShdw>
                </a:effectLst>
                <a:latin typeface="American Captain" pitchFamily="50" charset="0"/>
              </a:rPr>
              <a:t>right</a:t>
            </a:r>
            <a:r>
              <a:rPr lang="en-US" sz="4800" dirty="0">
                <a:latin typeface="American Captain" pitchFamily="50" charset="0"/>
              </a:rPr>
              <a:t/>
            </a:r>
            <a:br>
              <a:rPr lang="en-US" sz="4800" dirty="0">
                <a:latin typeface="American Captain" pitchFamily="50" charset="0"/>
              </a:rPr>
            </a:br>
            <a:endParaRPr lang="en-US" sz="4800" dirty="0">
              <a:latin typeface="American Captain" pitchFamily="50" charset="0"/>
            </a:endParaRPr>
          </a:p>
        </p:txBody>
      </p:sp>
      <p:sp>
        <p:nvSpPr>
          <p:cNvPr id="3" name="Content Placeholder 2"/>
          <p:cNvSpPr>
            <a:spLocks noGrp="1"/>
          </p:cNvSpPr>
          <p:nvPr>
            <p:ph idx="1"/>
          </p:nvPr>
        </p:nvSpPr>
        <p:spPr>
          <a:xfrm rot="5400000">
            <a:off x="3329781" y="1775619"/>
            <a:ext cx="5181600" cy="2849563"/>
          </a:xfrm>
        </p:spPr>
        <p:txBody>
          <a:bodyPr>
            <a:normAutofit fontScale="70000" lnSpcReduction="2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b="1" dirty="0" smtClean="0">
                <a:ln w="50800"/>
                <a:latin typeface="Aharoni" pitchFamily="2" charset="-79"/>
                <a:cs typeface="Aharoni" pitchFamily="2" charset="-79"/>
              </a:rPr>
              <a:t>	Just </a:t>
            </a:r>
            <a:r>
              <a:rPr lang="en-US" b="1" dirty="0">
                <a:ln w="50800"/>
                <a:latin typeface="Aharoni" pitchFamily="2" charset="-79"/>
                <a:cs typeface="Aharoni" pitchFamily="2" charset="-79"/>
              </a:rPr>
              <a:t>as you've been told since elementary school, voting is an important right we have a duty to exercise. Many governments around the world allow citizens no part in electing officials. You do have the opportunity to help select government leaders, and the health of our democracy relies on your participation. </a:t>
            </a:r>
          </a:p>
          <a:p>
            <a:pPr algn="just"/>
            <a:endParaRPr lang="en-US" b="1" dirty="0">
              <a:ln w="50800"/>
              <a:latin typeface="Aharoni" pitchFamily="2" charset="-79"/>
              <a:cs typeface="Aharoni" pitchFamily="2" charset="-79"/>
            </a:endParaRPr>
          </a:p>
        </p:txBody>
      </p:sp>
      <p:pic>
        <p:nvPicPr>
          <p:cNvPr id="5124" name="Picture 4" descr="http://4.bp.blogspot.com/-iV5tcuB-79w/T_UP3rzCSLI/AAAAAAAACgU/CNdq9t8W0a0/s1600/We-the-People.jpg"/>
          <p:cNvPicPr>
            <a:picLocks noChangeAspect="1" noChangeArrowheads="1"/>
          </p:cNvPicPr>
          <p:nvPr/>
        </p:nvPicPr>
        <p:blipFill>
          <a:blip r:embed="rId3" cstate="print"/>
          <a:srcRect/>
          <a:stretch>
            <a:fillRect/>
          </a:stretch>
        </p:blipFill>
        <p:spPr bwMode="auto">
          <a:xfrm rot="5400000">
            <a:off x="563474" y="2027326"/>
            <a:ext cx="4359451" cy="2895600"/>
          </a:xfrm>
          <a:prstGeom prst="rect">
            <a:avLst/>
          </a:prstGeom>
          <a:ln>
            <a:noFill/>
          </a:ln>
          <a:effectLst>
            <a:softEdge rad="11250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7"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4" y="4308106"/>
            <a:ext cx="2590802" cy="2508987"/>
          </a:xfrm>
          <a:prstGeom prst="rect">
            <a:avLst/>
          </a:prstGeom>
          <a:noFill/>
        </p:spPr>
      </p:pic>
      <p:sp>
        <p:nvSpPr>
          <p:cNvPr id="2" name="Title 1"/>
          <p:cNvSpPr>
            <a:spLocks noGrp="1"/>
          </p:cNvSpPr>
          <p:nvPr>
            <p:ph type="title"/>
          </p:nvPr>
        </p:nvSpPr>
        <p:spPr>
          <a:xfrm rot="5400000">
            <a:off x="3924300" y="2857500"/>
            <a:ext cx="8229600" cy="1143000"/>
          </a:xfrm>
        </p:spPr>
        <p:txBody>
          <a:bodyPr/>
          <a:lstStyle/>
          <a:p>
            <a:r>
              <a:rPr lang="en-US" dirty="0" smtClean="0">
                <a:solidFill>
                  <a:srgbClr val="C00000"/>
                </a:solidFill>
                <a:effectLst>
                  <a:outerShdw blurRad="38100" dist="38100" dir="2700000" algn="tl">
                    <a:srgbClr val="000000">
                      <a:alpha val="43137"/>
                    </a:srgbClr>
                  </a:outerShdw>
                </a:effectLst>
                <a:latin typeface="American Captain" pitchFamily="50" charset="0"/>
              </a:rPr>
              <a:t>Battlefield</a:t>
            </a:r>
            <a:r>
              <a:rPr lang="en-US"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a:t>
            </a:r>
            <a:r>
              <a:rPr lang="en-US" dirty="0" smtClean="0">
                <a:ln>
                  <a:solidFill>
                    <a:schemeClr val="bg1">
                      <a:lumMod val="50000"/>
                    </a:schemeClr>
                  </a:solidFill>
                </a:ln>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Colorado</a:t>
            </a:r>
            <a:endParaRPr lang="en-US"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1428750" y="323850"/>
            <a:ext cx="5448300" cy="6324600"/>
          </a:xfrm>
        </p:spPr>
        <p:txBody>
          <a:bodyPr>
            <a:normAutofit lnSpcReduction="10000"/>
            <a:scene3d>
              <a:camera prst="orthographicFront"/>
              <a:lightRig rig="balanced" dir="t">
                <a:rot lat="0" lon="0" rev="2100000"/>
              </a:lightRig>
            </a:scene3d>
            <a:sp3d extrusionH="57150" prstMaterial="metal">
              <a:bevelT w="38100" h="25400"/>
              <a:contourClr>
                <a:schemeClr val="bg2"/>
              </a:contourClr>
            </a:sp3d>
          </a:bodyPr>
          <a:lstStyle/>
          <a:p>
            <a:pPr>
              <a:buNone/>
            </a:pPr>
            <a:r>
              <a:rPr lang="en-US" sz="1800" b="1" dirty="0" smtClean="0">
                <a:ln w="50800"/>
                <a:latin typeface="Aharoni" pitchFamily="2" charset="-79"/>
                <a:cs typeface="Aharoni" pitchFamily="2" charset="-79"/>
              </a:rPr>
              <a:t>	</a:t>
            </a:r>
            <a:r>
              <a:rPr lang="en-US" sz="1800" b="1" u="sng" dirty="0" smtClean="0">
                <a:ln w="50800"/>
                <a:latin typeface="Aharoni" pitchFamily="2" charset="-79"/>
                <a:cs typeface="Aharoni" pitchFamily="2" charset="-79"/>
              </a:rPr>
              <a:t>Swing State</a:t>
            </a:r>
            <a:r>
              <a:rPr lang="en-US" sz="1800" b="1" dirty="0" smtClean="0">
                <a:ln w="50800"/>
                <a:latin typeface="Aharoni" pitchFamily="2" charset="-79"/>
                <a:cs typeface="Aharoni" pitchFamily="2" charset="-79"/>
              </a:rPr>
              <a:t>: </a:t>
            </a:r>
            <a:r>
              <a:rPr lang="en-US" sz="1800" b="1" dirty="0">
                <a:ln w="50800"/>
                <a:latin typeface="Aharoni" pitchFamily="2" charset="-79"/>
                <a:cs typeface="Aharoni" pitchFamily="2" charset="-79"/>
              </a:rPr>
              <a:t>A</a:t>
            </a:r>
            <a:r>
              <a:rPr lang="en-US" sz="1800" b="1" dirty="0" smtClean="0">
                <a:ln w="50800"/>
                <a:latin typeface="Aharoni" pitchFamily="2" charset="-79"/>
                <a:cs typeface="Aharoni" pitchFamily="2" charset="-79"/>
              </a:rPr>
              <a:t> state in which no single candidate or party has overwhelming support in securing that state's votes. These states are also referred to as a Battleground state.</a:t>
            </a:r>
            <a:endParaRPr lang="en-US" sz="1800" b="1" dirty="0">
              <a:ln w="50800"/>
              <a:latin typeface="Aharoni" pitchFamily="2" charset="-79"/>
              <a:cs typeface="Aharoni" pitchFamily="2" charset="-79"/>
            </a:endParaRPr>
          </a:p>
          <a:p>
            <a:endParaRPr lang="en-US" sz="1800" b="1" dirty="0" smtClean="0">
              <a:ln w="50800"/>
              <a:latin typeface="Aharoni" pitchFamily="2" charset="-79"/>
              <a:cs typeface="Aharoni" pitchFamily="2" charset="-79"/>
            </a:endParaRPr>
          </a:p>
          <a:p>
            <a:endParaRPr lang="en-US" sz="1800" b="1" dirty="0" smtClean="0">
              <a:ln w="50800"/>
              <a:latin typeface="Aharoni" pitchFamily="2" charset="-79"/>
              <a:cs typeface="Aharoni" pitchFamily="2" charset="-79"/>
            </a:endParaRPr>
          </a:p>
          <a:p>
            <a:endParaRPr lang="en-US" sz="1800" b="1" dirty="0">
              <a:ln w="50800"/>
              <a:latin typeface="Aharoni" pitchFamily="2" charset="-79"/>
              <a:cs typeface="Aharoni" pitchFamily="2" charset="-79"/>
            </a:endParaRPr>
          </a:p>
          <a:p>
            <a:endParaRPr lang="en-US" sz="1800" b="1" dirty="0" smtClean="0">
              <a:ln w="50800"/>
              <a:latin typeface="Aharoni" pitchFamily="2" charset="-79"/>
              <a:cs typeface="Aharoni" pitchFamily="2" charset="-79"/>
            </a:endParaRPr>
          </a:p>
          <a:p>
            <a:endParaRPr lang="en-US" sz="1800" b="1" dirty="0">
              <a:ln w="50800"/>
              <a:latin typeface="Aharoni" pitchFamily="2" charset="-79"/>
              <a:cs typeface="Aharoni" pitchFamily="2" charset="-79"/>
            </a:endParaRPr>
          </a:p>
          <a:p>
            <a:endParaRPr lang="en-US" sz="1800" b="1" dirty="0" smtClean="0">
              <a:ln w="50800"/>
              <a:latin typeface="Aharoni" pitchFamily="2" charset="-79"/>
              <a:cs typeface="Aharoni" pitchFamily="2" charset="-79"/>
            </a:endParaRPr>
          </a:p>
          <a:p>
            <a:pPr>
              <a:buNone/>
            </a:pPr>
            <a:r>
              <a:rPr lang="en-US" sz="1800" b="1" dirty="0">
                <a:ln w="50800"/>
                <a:latin typeface="Aharoni" pitchFamily="2" charset="-79"/>
                <a:cs typeface="Aharoni" pitchFamily="2" charset="-79"/>
              </a:rPr>
              <a:t>	</a:t>
            </a:r>
            <a:endParaRPr lang="en-US" sz="1800" b="1" dirty="0" smtClean="0">
              <a:ln w="50800"/>
              <a:latin typeface="Aharoni" pitchFamily="2" charset="-79"/>
              <a:cs typeface="Aharoni" pitchFamily="2" charset="-79"/>
            </a:endParaRPr>
          </a:p>
          <a:p>
            <a:pPr>
              <a:buNone/>
            </a:pPr>
            <a:r>
              <a:rPr lang="en-US" sz="1800" b="1" dirty="0">
                <a:ln w="50800"/>
                <a:latin typeface="Aharoni" pitchFamily="2" charset="-79"/>
                <a:cs typeface="Aharoni" pitchFamily="2" charset="-79"/>
              </a:rPr>
              <a:t>	</a:t>
            </a:r>
            <a:endParaRPr lang="en-US" sz="1800" b="1" dirty="0" smtClean="0">
              <a:ln w="50800"/>
              <a:latin typeface="Aharoni" pitchFamily="2" charset="-79"/>
              <a:cs typeface="Aharoni" pitchFamily="2" charset="-79"/>
            </a:endParaRPr>
          </a:p>
          <a:p>
            <a:pPr>
              <a:buNone/>
            </a:pPr>
            <a:endParaRPr lang="en-US" sz="1800" b="1" dirty="0">
              <a:ln w="50800"/>
              <a:latin typeface="Aharoni" pitchFamily="2" charset="-79"/>
              <a:cs typeface="Aharoni" pitchFamily="2" charset="-79"/>
            </a:endParaRPr>
          </a:p>
          <a:p>
            <a:pPr>
              <a:buNone/>
            </a:pPr>
            <a:r>
              <a:rPr lang="en-US" sz="1800" b="1" dirty="0" smtClean="0">
                <a:ln w="50800"/>
                <a:latin typeface="Aharoni" pitchFamily="2" charset="-79"/>
                <a:cs typeface="Aharoni" pitchFamily="2" charset="-79"/>
              </a:rPr>
              <a:t>	</a:t>
            </a:r>
          </a:p>
          <a:p>
            <a:pPr>
              <a:buNone/>
            </a:pPr>
            <a:endParaRPr lang="en-US" sz="1800" b="1" dirty="0">
              <a:ln w="50800"/>
              <a:latin typeface="Aharoni" pitchFamily="2" charset="-79"/>
              <a:cs typeface="Aharoni" pitchFamily="2" charset="-79"/>
            </a:endParaRPr>
          </a:p>
          <a:p>
            <a:pPr>
              <a:buNone/>
            </a:pPr>
            <a:r>
              <a:rPr lang="en-US" sz="1800" b="1" dirty="0" smtClean="0">
                <a:ln w="50800"/>
                <a:latin typeface="Aharoni" pitchFamily="2" charset="-79"/>
                <a:cs typeface="Aharoni" pitchFamily="2" charset="-79"/>
              </a:rPr>
              <a:t>	Colorado is the target of both major political parties in presidential elections, since winning this swing state is the best opportunity for a party to gain votes. With such a close race in 2012, your vote really does make all the difference!</a:t>
            </a:r>
            <a:endParaRPr lang="en-US" sz="1800" b="1" dirty="0">
              <a:ln w="50800"/>
              <a:latin typeface="Aharoni" pitchFamily="2" charset="-79"/>
              <a:cs typeface="Aharoni" pitchFamily="2" charset="-79"/>
            </a:endParaRPr>
          </a:p>
        </p:txBody>
      </p:sp>
      <p:pic>
        <p:nvPicPr>
          <p:cNvPr id="5122" name="Picture 2"/>
          <p:cNvPicPr>
            <a:picLocks noChangeAspect="1" noChangeArrowheads="1"/>
          </p:cNvPicPr>
          <p:nvPr/>
        </p:nvPicPr>
        <p:blipFill>
          <a:blip r:embed="rId3" cstate="print"/>
          <a:srcRect/>
          <a:stretch>
            <a:fillRect/>
          </a:stretch>
        </p:blipFill>
        <p:spPr bwMode="auto">
          <a:xfrm rot="5400000">
            <a:off x="1981200" y="2362200"/>
            <a:ext cx="4724400" cy="2396938"/>
          </a:xfrm>
          <a:prstGeom prst="rect">
            <a:avLst/>
          </a:prstGeom>
          <a:noFill/>
          <a:ln w="9525">
            <a:noFill/>
            <a:miter lim="800000"/>
            <a:headEnd/>
            <a:tailEnd/>
          </a:ln>
          <a:effectLst>
            <a:outerShdw blurRad="50800" dist="38100" dir="5400000" algn="t" rotWithShape="0">
              <a:prstClr val="black">
                <a:alpha val="40000"/>
              </a:prst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7" y="40907"/>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5" y="4308106"/>
            <a:ext cx="2590802" cy="2508987"/>
          </a:xfrm>
          <a:prstGeom prst="rect">
            <a:avLst/>
          </a:prstGeom>
          <a:noFill/>
        </p:spPr>
      </p:pic>
      <p:sp>
        <p:nvSpPr>
          <p:cNvPr id="2" name="Title 1"/>
          <p:cNvSpPr>
            <a:spLocks noGrp="1"/>
          </p:cNvSpPr>
          <p:nvPr>
            <p:ph type="title"/>
          </p:nvPr>
        </p:nvSpPr>
        <p:spPr>
          <a:xfrm rot="5400000">
            <a:off x="3848100" y="2628900"/>
            <a:ext cx="8229600" cy="1143000"/>
          </a:xfrm>
        </p:spPr>
        <p:txBody>
          <a:bodyPr/>
          <a:lstStyle/>
          <a:p>
            <a:r>
              <a:rPr lang="en-US" dirty="0" smtClean="0">
                <a:solidFill>
                  <a:srgbClr val="C00000"/>
                </a:solidFill>
                <a:effectLst>
                  <a:outerShdw blurRad="38100" dist="38100" dir="2700000" algn="tl">
                    <a:srgbClr val="000000">
                      <a:alpha val="43137"/>
                    </a:srgbClr>
                  </a:outerShdw>
                </a:effectLst>
                <a:latin typeface="American Captain" pitchFamily="50" charset="0"/>
              </a:rPr>
              <a:t>Out</a:t>
            </a:r>
            <a:r>
              <a:rPr lang="en-US"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-Of-</a:t>
            </a:r>
            <a:r>
              <a:rPr lang="en-US" dirty="0" smtClean="0">
                <a:solidFill>
                  <a:srgbClr val="002060"/>
                </a:solidFill>
                <a:effectLst>
                  <a:outerShdw blurRad="38100" dist="38100" dir="2700000" algn="tl">
                    <a:srgbClr val="000000">
                      <a:alpha val="43137"/>
                    </a:srgbClr>
                  </a:outerShdw>
                </a:effectLst>
                <a:latin typeface="American Captain" pitchFamily="50" charset="0"/>
              </a:rPr>
              <a:t>State</a:t>
            </a:r>
            <a:endParaRPr lang="en-US"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1181100" y="266700"/>
            <a:ext cx="5691982" cy="6530182"/>
          </a:xfrm>
        </p:spPr>
        <p:txBody>
          <a:bodyPr>
            <a:normAutofit lnSpcReduction="10000"/>
            <a:scene3d>
              <a:camera prst="orthographicFront"/>
              <a:lightRig rig="balanced" dir="t">
                <a:rot lat="0" lon="0" rev="2100000"/>
              </a:lightRig>
            </a:scene3d>
            <a:sp3d extrusionH="57150" prstMaterial="metal">
              <a:bevelT w="38100" h="25400"/>
              <a:contourClr>
                <a:schemeClr val="bg2"/>
              </a:contourClr>
            </a:sp3d>
          </a:bodyPr>
          <a:lstStyle/>
          <a:p>
            <a:pPr>
              <a:buBlip>
                <a:blip r:embed="rId3"/>
              </a:buBlip>
            </a:pPr>
            <a:r>
              <a:rPr lang="en-US" b="1" dirty="0" smtClean="0">
                <a:ln w="50800"/>
                <a:latin typeface="Aharoni" pitchFamily="2" charset="-79"/>
                <a:cs typeface="Aharoni" pitchFamily="2" charset="-79"/>
              </a:rPr>
              <a:t>Worry not, out-of-state students! The </a:t>
            </a:r>
            <a:r>
              <a:rPr lang="en-US" b="1" dirty="0">
                <a:ln w="50800"/>
                <a:latin typeface="Aharoni" pitchFamily="2" charset="-79"/>
                <a:cs typeface="Aharoni" pitchFamily="2" charset="-79"/>
              </a:rPr>
              <a:t>Supreme Court has ruled that college students who go to school out-of-state enjoy certain protections allowing them to register to vote in either their “home state” or “school state</a:t>
            </a:r>
            <a:r>
              <a:rPr lang="en-US" b="1" dirty="0" smtClean="0">
                <a:ln w="50800"/>
                <a:latin typeface="Aharoni" pitchFamily="2" charset="-79"/>
                <a:cs typeface="Aharoni" pitchFamily="2" charset="-79"/>
              </a:rPr>
              <a:t>.”</a:t>
            </a:r>
          </a:p>
          <a:p>
            <a:pPr>
              <a:buBlip>
                <a:blip r:embed="rId3"/>
              </a:buBlip>
            </a:pPr>
            <a:endParaRPr lang="en-US" b="1" dirty="0">
              <a:ln w="50800"/>
              <a:latin typeface="Aharoni" pitchFamily="2" charset="-79"/>
              <a:cs typeface="Aharoni" pitchFamily="2" charset="-79"/>
            </a:endParaRPr>
          </a:p>
          <a:p>
            <a:pPr>
              <a:buBlip>
                <a:blip r:embed="rId3"/>
              </a:buBlip>
            </a:pPr>
            <a:r>
              <a:rPr lang="en-US" b="1" dirty="0" smtClean="0">
                <a:ln w="50800"/>
                <a:latin typeface="Aharoni" pitchFamily="2" charset="-79"/>
                <a:cs typeface="Aharoni" pitchFamily="2" charset="-79"/>
              </a:rPr>
              <a:t>Visit </a:t>
            </a:r>
            <a:r>
              <a:rPr lang="en-US" b="1" u="sng" dirty="0" smtClean="0">
                <a:ln w="50800"/>
                <a:latin typeface="Aharoni" pitchFamily="2" charset="-79"/>
                <a:cs typeface="Aharoni" pitchFamily="2" charset="-79"/>
              </a:rPr>
              <a:t>Countmore.org</a:t>
            </a:r>
            <a:r>
              <a:rPr lang="en-US" b="1" dirty="0" smtClean="0">
                <a:ln w="50800"/>
                <a:latin typeface="Aharoni" pitchFamily="2" charset="-79"/>
                <a:cs typeface="Aharoni" pitchFamily="2" charset="-79"/>
              </a:rPr>
              <a:t> for more details.</a:t>
            </a:r>
            <a:endParaRPr lang="en-US" b="1" dirty="0">
              <a:ln w="50800"/>
              <a:latin typeface="Aharoni" pitchFamily="2" charset="-79"/>
              <a:cs typeface="Aharoni" pitchFamily="2" charset="-79"/>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5400000">
            <a:off x="-40908" y="40908"/>
            <a:ext cx="2590802" cy="2508987"/>
          </a:xfrm>
          <a:prstGeom prst="rect">
            <a:avLst/>
          </a:prstGeom>
          <a:noFill/>
        </p:spPr>
      </p:pic>
      <p:pic>
        <p:nvPicPr>
          <p:cNvPr id="5" name="Picture 2" descr="http://i.istockimg.com/file_thumbview_approve/382344/2/stock-illustration-382344-patriotic-border.jpg"/>
          <p:cNvPicPr>
            <a:picLocks noChangeAspect="1" noChangeArrowheads="1"/>
          </p:cNvPicPr>
          <p:nvPr/>
        </p:nvPicPr>
        <p:blipFill>
          <a:blip r:embed="rId2" cstate="print"/>
          <a:srcRect/>
          <a:stretch>
            <a:fillRect/>
          </a:stretch>
        </p:blipFill>
        <p:spPr bwMode="auto">
          <a:xfrm rot="16200000">
            <a:off x="6594105" y="4308105"/>
            <a:ext cx="2590802" cy="2508987"/>
          </a:xfrm>
          <a:prstGeom prst="rect">
            <a:avLst/>
          </a:prstGeom>
          <a:noFill/>
        </p:spPr>
      </p:pic>
      <p:sp>
        <p:nvSpPr>
          <p:cNvPr id="2" name="Title 1"/>
          <p:cNvSpPr>
            <a:spLocks noGrp="1"/>
          </p:cNvSpPr>
          <p:nvPr>
            <p:ph type="title"/>
          </p:nvPr>
        </p:nvSpPr>
        <p:spPr>
          <a:xfrm rot="5400000">
            <a:off x="3771900" y="2781300"/>
            <a:ext cx="8229600" cy="1143000"/>
          </a:xfrm>
        </p:spPr>
        <p:txBody>
          <a:bodyPr/>
          <a:lstStyle/>
          <a:p>
            <a:r>
              <a:rPr lang="en-US" dirty="0" smtClean="0">
                <a:solidFill>
                  <a:srgbClr val="C00000"/>
                </a:solidFill>
                <a:effectLst>
                  <a:outerShdw blurRad="38100" dist="38100" dir="2700000" algn="tl">
                    <a:srgbClr val="000000">
                      <a:alpha val="43137"/>
                    </a:srgbClr>
                  </a:outerShdw>
                </a:effectLst>
                <a:latin typeface="American Captain" pitchFamily="50" charset="0"/>
              </a:rPr>
              <a:t>Now</a:t>
            </a:r>
            <a:r>
              <a:rPr lang="en-US" dirty="0" smtClean="0">
                <a:effectLst>
                  <a:outerShdw blurRad="38100" dist="38100" dir="2700000" algn="tl">
                    <a:srgbClr val="000000">
                      <a:alpha val="43137"/>
                    </a:srgbClr>
                  </a:outerShdw>
                </a:effectLst>
                <a:latin typeface="American Captain" pitchFamily="50" charset="0"/>
              </a:rPr>
              <a:t> </a:t>
            </a:r>
            <a:r>
              <a:rPr lang="en-US" dirty="0" smtClean="0">
                <a:ln>
                  <a:solidFill>
                    <a:schemeClr val="bg1">
                      <a:lumMod val="50000"/>
                    </a:schemeClr>
                  </a:solidFill>
                </a:ln>
                <a:solidFill>
                  <a:schemeClr val="bg1"/>
                </a:solidFill>
                <a:effectLst>
                  <a:outerShdw blurRad="38100" dist="38100" dir="2700000" algn="tl">
                    <a:srgbClr val="000000">
                      <a:alpha val="43137"/>
                    </a:srgbClr>
                  </a:outerShdw>
                </a:effectLst>
                <a:latin typeface="American Captain" pitchFamily="50" charset="0"/>
              </a:rPr>
              <a:t>Get</a:t>
            </a:r>
            <a:r>
              <a:rPr lang="en-US" dirty="0" smtClean="0">
                <a:effectLst>
                  <a:outerShdw blurRad="38100" dist="38100" dir="2700000" algn="tl">
                    <a:srgbClr val="000000">
                      <a:alpha val="43137"/>
                    </a:srgbClr>
                  </a:outerShdw>
                </a:effectLst>
                <a:latin typeface="American Captain" pitchFamily="50" charset="0"/>
              </a:rPr>
              <a:t> </a:t>
            </a:r>
            <a:r>
              <a:rPr lang="en-US" dirty="0" smtClean="0">
                <a:solidFill>
                  <a:srgbClr val="002060"/>
                </a:solidFill>
                <a:effectLst>
                  <a:outerShdw blurRad="38100" dist="38100" dir="2700000" algn="tl">
                    <a:srgbClr val="000000">
                      <a:alpha val="43137"/>
                    </a:srgbClr>
                  </a:outerShdw>
                </a:effectLst>
                <a:latin typeface="American Captain" pitchFamily="50" charset="0"/>
              </a:rPr>
              <a:t>Involved!</a:t>
            </a:r>
            <a:endParaRPr lang="en-US" dirty="0">
              <a:solidFill>
                <a:srgbClr val="002060"/>
              </a:solidFill>
              <a:effectLst>
                <a:outerShdw blurRad="38100" dist="38100" dir="2700000" algn="tl">
                  <a:srgbClr val="000000">
                    <a:alpha val="43137"/>
                  </a:srgbClr>
                </a:outerShdw>
              </a:effectLst>
              <a:latin typeface="American Captain" pitchFamily="50" charset="0"/>
            </a:endParaRPr>
          </a:p>
        </p:txBody>
      </p:sp>
      <p:sp>
        <p:nvSpPr>
          <p:cNvPr id="3" name="Content Placeholder 2"/>
          <p:cNvSpPr>
            <a:spLocks noGrp="1"/>
          </p:cNvSpPr>
          <p:nvPr>
            <p:ph idx="1"/>
          </p:nvPr>
        </p:nvSpPr>
        <p:spPr>
          <a:xfrm rot="5400000">
            <a:off x="3569891" y="2526109"/>
            <a:ext cx="5715000" cy="1424782"/>
          </a:xfrm>
        </p:spPr>
        <p:txBody>
          <a:bodyPr>
            <a:normAutofit fontScale="85000" lnSpcReduction="10000"/>
            <a:scene3d>
              <a:camera prst="orthographicFront"/>
              <a:lightRig rig="balanced" dir="t">
                <a:rot lat="0" lon="0" rev="2100000"/>
              </a:lightRig>
            </a:scene3d>
            <a:sp3d extrusionH="57150" prstMaterial="metal">
              <a:bevelT w="38100" h="25400"/>
              <a:contourClr>
                <a:schemeClr val="bg2"/>
              </a:contourClr>
            </a:sp3d>
          </a:bodyPr>
          <a:lstStyle/>
          <a:p>
            <a:pPr algn="just">
              <a:buNone/>
            </a:pPr>
            <a:r>
              <a:rPr lang="en-US" sz="2800" b="1" dirty="0" smtClean="0">
                <a:ln w="50800"/>
              </a:rPr>
              <a:t>	</a:t>
            </a:r>
            <a:r>
              <a:rPr lang="en-US" sz="2800" b="1" dirty="0" smtClean="0">
                <a:ln w="50800"/>
                <a:latin typeface="Aharoni" pitchFamily="2" charset="-79"/>
                <a:cs typeface="Aharoni" pitchFamily="2" charset="-79"/>
              </a:rPr>
              <a:t>Learn more about the leading candidates by visiting their website, liking them on </a:t>
            </a:r>
            <a:r>
              <a:rPr lang="en-US" sz="2800" b="1" dirty="0" err="1" smtClean="0">
                <a:ln w="50800"/>
                <a:latin typeface="Aharoni" pitchFamily="2" charset="-79"/>
                <a:cs typeface="Aharoni" pitchFamily="2" charset="-79"/>
              </a:rPr>
              <a:t>Facebook</a:t>
            </a:r>
            <a:r>
              <a:rPr lang="en-US" sz="2800" b="1" dirty="0" smtClean="0">
                <a:ln w="50800"/>
                <a:latin typeface="Aharoni" pitchFamily="2" charset="-79"/>
                <a:cs typeface="Aharoni" pitchFamily="2" charset="-79"/>
              </a:rPr>
              <a:t>, and following them on Twitter</a:t>
            </a:r>
            <a:r>
              <a:rPr lang="en-US" sz="2800" b="1" dirty="0">
                <a:ln w="50800"/>
                <a:latin typeface="American Captain" pitchFamily="50" charset="0"/>
              </a:rPr>
              <a:t>!</a:t>
            </a:r>
            <a:endParaRPr lang="en-US" sz="2800" b="1" dirty="0" smtClean="0">
              <a:ln w="50800"/>
              <a:solidFill>
                <a:schemeClr val="bg1">
                  <a:shade val="50000"/>
                </a:schemeClr>
              </a:solidFill>
              <a:latin typeface="American Captain" pitchFamily="50" charset="0"/>
            </a:endParaRPr>
          </a:p>
          <a:p>
            <a:endParaRPr lang="en-US" b="1" dirty="0" smtClean="0">
              <a:ln w="50800"/>
              <a:solidFill>
                <a:schemeClr val="bg1">
                  <a:shade val="50000"/>
                </a:schemeClr>
              </a:solidFill>
              <a:latin typeface="American Captain" pitchFamily="50" charset="0"/>
            </a:endParaRPr>
          </a:p>
          <a:p>
            <a:pPr>
              <a:buNone/>
            </a:pPr>
            <a:endParaRPr lang="en-US" b="1" dirty="0" smtClean="0">
              <a:ln w="50800"/>
              <a:solidFill>
                <a:schemeClr val="bg1">
                  <a:shade val="50000"/>
                </a:schemeClr>
              </a:solidFill>
              <a:latin typeface="American Captain" pitchFamily="50" charset="0"/>
            </a:endParaRPr>
          </a:p>
          <a:p>
            <a:pPr lvl="2">
              <a:buBlip>
                <a:blip r:embed="rId3"/>
              </a:buBlip>
            </a:pPr>
            <a:endParaRPr lang="en-US" sz="2100" b="1" dirty="0">
              <a:ln w="50800"/>
              <a:solidFill>
                <a:schemeClr val="bg1">
                  <a:shade val="50000"/>
                </a:schemeClr>
              </a:solidFill>
            </a:endParaRPr>
          </a:p>
          <a:p>
            <a:pPr lvl="2">
              <a:buNone/>
            </a:pPr>
            <a:endParaRPr lang="en-US" b="1" dirty="0" smtClean="0">
              <a:ln w="50800"/>
              <a:solidFill>
                <a:schemeClr val="bg1">
                  <a:shade val="50000"/>
                </a:schemeClr>
              </a:solidFill>
            </a:endParaRPr>
          </a:p>
        </p:txBody>
      </p:sp>
      <p:sp>
        <p:nvSpPr>
          <p:cNvPr id="7" name="Rectangle 6"/>
          <p:cNvSpPr/>
          <p:nvPr/>
        </p:nvSpPr>
        <p:spPr>
          <a:xfrm rot="5400000">
            <a:off x="-65038" y="3189238"/>
            <a:ext cx="4267200" cy="2308324"/>
          </a:xfrm>
          <a:prstGeom prst="rect">
            <a:avLst/>
          </a:prstGeom>
        </p:spPr>
        <p:txBody>
          <a:bodyPr wrap="square">
            <a:spAutoFit/>
          </a:bodyPr>
          <a:lstStyle/>
          <a:p>
            <a:endParaRPr lang="en-US" b="1" dirty="0" smtClean="0">
              <a:ln w="50800"/>
              <a:solidFill>
                <a:schemeClr val="bg1">
                  <a:shade val="50000"/>
                </a:schemeClr>
              </a:solidFill>
              <a:latin typeface="American Captain" pitchFamily="50" charset="0"/>
            </a:endParaRPr>
          </a:p>
          <a:p>
            <a:pPr lvl="1">
              <a:buBlip>
                <a:blip r:embed="rId4"/>
              </a:buBlip>
            </a:pPr>
            <a:r>
              <a:rPr lang="en-US" b="1" dirty="0" smtClean="0">
                <a:ln w="50800"/>
                <a:solidFill>
                  <a:srgbClr val="C00000"/>
                </a:solidFill>
                <a:latin typeface="American Captain" pitchFamily="50" charset="0"/>
              </a:rPr>
              <a:t>Mitt Romney (R)</a:t>
            </a:r>
          </a:p>
          <a:p>
            <a:pPr lvl="2">
              <a:buBlip>
                <a:blip r:embed="rId5"/>
              </a:buBlip>
            </a:pPr>
            <a:r>
              <a:rPr lang="en-US" b="1" dirty="0" smtClean="0">
                <a:ln w="50800"/>
                <a:latin typeface="Aharoni" pitchFamily="2" charset="-79"/>
                <a:cs typeface="Aharoni" pitchFamily="2" charset="-79"/>
              </a:rPr>
              <a:t>Website: mittromney.com</a:t>
            </a:r>
          </a:p>
          <a:p>
            <a:pPr lvl="2">
              <a:buBlip>
                <a:blip r:embed="rId5"/>
              </a:buBlip>
            </a:pPr>
            <a:r>
              <a:rPr lang="en-US" b="1" dirty="0" err="1" smtClean="0">
                <a:ln w="50800"/>
                <a:latin typeface="Aharoni" pitchFamily="2" charset="-79"/>
                <a:cs typeface="Aharoni" pitchFamily="2" charset="-79"/>
              </a:rPr>
              <a:t>Facebook</a:t>
            </a:r>
            <a:r>
              <a:rPr lang="en-US" b="1" dirty="0" smtClean="0">
                <a:ln w="50800"/>
                <a:latin typeface="Aharoni" pitchFamily="2" charset="-79"/>
                <a:cs typeface="Aharoni" pitchFamily="2" charset="-79"/>
              </a:rPr>
              <a:t>: facebook.com/</a:t>
            </a:r>
            <a:r>
              <a:rPr lang="en-US" b="1" dirty="0" err="1" smtClean="0">
                <a:ln w="50800"/>
                <a:latin typeface="Aharoni" pitchFamily="2" charset="-79"/>
                <a:cs typeface="Aharoni" pitchFamily="2" charset="-79"/>
              </a:rPr>
              <a:t>mittromney</a:t>
            </a:r>
            <a:endParaRPr lang="en-US" b="1" dirty="0" smtClean="0">
              <a:ln w="50800"/>
              <a:latin typeface="Aharoni" pitchFamily="2" charset="-79"/>
              <a:cs typeface="Aharoni" pitchFamily="2" charset="-79"/>
            </a:endParaRPr>
          </a:p>
          <a:p>
            <a:pPr lvl="2">
              <a:buBlip>
                <a:blip r:embed="rId5"/>
              </a:buBlip>
            </a:pPr>
            <a:r>
              <a:rPr lang="en-US" b="1" dirty="0" smtClean="0">
                <a:ln w="50800"/>
                <a:latin typeface="Aharoni" pitchFamily="2" charset="-79"/>
                <a:cs typeface="Aharoni" pitchFamily="2" charset="-79"/>
              </a:rPr>
              <a:t>Twitter: twitter.com/</a:t>
            </a:r>
            <a:r>
              <a:rPr lang="en-US" b="1" dirty="0" err="1" smtClean="0">
                <a:ln w="50800"/>
                <a:latin typeface="Aharoni" pitchFamily="2" charset="-79"/>
                <a:cs typeface="Aharoni" pitchFamily="2" charset="-79"/>
              </a:rPr>
              <a:t>mittromney</a:t>
            </a:r>
            <a:r>
              <a:rPr lang="en-US" b="1" dirty="0" smtClean="0">
                <a:ln w="50800"/>
                <a:latin typeface="Aharoni" pitchFamily="2" charset="-79"/>
                <a:cs typeface="Aharoni" pitchFamily="2" charset="-79"/>
              </a:rPr>
              <a:t> </a:t>
            </a:r>
          </a:p>
          <a:p>
            <a:pPr lvl="2">
              <a:buNone/>
            </a:pPr>
            <a:r>
              <a:rPr lang="en-US" b="1" dirty="0" smtClean="0">
                <a:ln w="50800"/>
                <a:latin typeface="Aharoni" pitchFamily="2" charset="-79"/>
                <a:cs typeface="Aharoni" pitchFamily="2" charset="-79"/>
              </a:rPr>
              <a:t>or @</a:t>
            </a:r>
            <a:r>
              <a:rPr lang="en-US" b="1" dirty="0" err="1" smtClean="0">
                <a:ln w="50800"/>
                <a:latin typeface="Aharoni" pitchFamily="2" charset="-79"/>
                <a:cs typeface="Aharoni" pitchFamily="2" charset="-79"/>
              </a:rPr>
              <a:t>mittromney</a:t>
            </a:r>
            <a:endParaRPr lang="en-US" b="1" dirty="0" smtClean="0">
              <a:ln w="50800"/>
              <a:latin typeface="Aharoni" pitchFamily="2" charset="-79"/>
              <a:cs typeface="Aharoni" pitchFamily="2" charset="-79"/>
            </a:endParaRPr>
          </a:p>
        </p:txBody>
      </p:sp>
      <p:pic>
        <p:nvPicPr>
          <p:cNvPr id="2052" name="Picture 4" descr="http://missoulanews.bigskypress.com/binary/95bd/1341257433-mitt_romney.jpg"/>
          <p:cNvPicPr>
            <a:picLocks noChangeAspect="1" noChangeArrowheads="1"/>
          </p:cNvPicPr>
          <p:nvPr/>
        </p:nvPicPr>
        <p:blipFill>
          <a:blip r:embed="rId6" cstate="print"/>
          <a:srcRect/>
          <a:stretch>
            <a:fillRect/>
          </a:stretch>
        </p:blipFill>
        <p:spPr bwMode="auto">
          <a:xfrm rot="5400000">
            <a:off x="1035460" y="793340"/>
            <a:ext cx="1643830" cy="203835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TextBox 9"/>
          <p:cNvSpPr txBox="1"/>
          <p:nvPr/>
        </p:nvSpPr>
        <p:spPr>
          <a:xfrm rot="5400000">
            <a:off x="2198141" y="1002259"/>
            <a:ext cx="4343404" cy="2948486"/>
          </a:xfrm>
          <a:prstGeom prst="rect">
            <a:avLst/>
          </a:prstGeom>
          <a:noFill/>
        </p:spPr>
        <p:txBody>
          <a:bodyPr wrap="square" rtlCol="0">
            <a:spAutoFit/>
          </a:bodyPr>
          <a:lstStyle/>
          <a:p>
            <a:pPr algn="just">
              <a:buNone/>
            </a:pPr>
            <a:endParaRPr lang="en-US" b="1" dirty="0" smtClean="0">
              <a:ln w="50800"/>
              <a:solidFill>
                <a:schemeClr val="bg1">
                  <a:shade val="50000"/>
                </a:schemeClr>
              </a:solidFill>
              <a:latin typeface="American Captain" pitchFamily="50" charset="0"/>
            </a:endParaRPr>
          </a:p>
          <a:p>
            <a:pPr lvl="1">
              <a:buBlip>
                <a:blip r:embed="rId4"/>
              </a:buBlip>
            </a:pPr>
            <a:r>
              <a:rPr lang="en-US" b="1" dirty="0" smtClean="0">
                <a:ln w="50800"/>
                <a:solidFill>
                  <a:srgbClr val="002060"/>
                </a:solidFill>
                <a:latin typeface="American Captain" pitchFamily="50" charset="0"/>
              </a:rPr>
              <a:t>Barack Obama (D)</a:t>
            </a:r>
          </a:p>
          <a:p>
            <a:pPr lvl="2">
              <a:buBlip>
                <a:blip r:embed="rId5"/>
              </a:buBlip>
            </a:pPr>
            <a:r>
              <a:rPr lang="en-US" b="1" dirty="0" smtClean="0">
                <a:ln w="50800"/>
                <a:latin typeface="Aharoni" pitchFamily="2" charset="-79"/>
                <a:cs typeface="Aharoni" pitchFamily="2" charset="-79"/>
              </a:rPr>
              <a:t>Website: barackobama.com/</a:t>
            </a:r>
          </a:p>
          <a:p>
            <a:pPr lvl="2">
              <a:buBlip>
                <a:blip r:embed="rId5"/>
              </a:buBlip>
            </a:pPr>
            <a:r>
              <a:rPr lang="en-US" b="1" dirty="0" err="1" smtClean="0">
                <a:ln w="50800"/>
                <a:latin typeface="Aharoni" pitchFamily="2" charset="-79"/>
                <a:cs typeface="Aharoni" pitchFamily="2" charset="-79"/>
              </a:rPr>
              <a:t>Facebook</a:t>
            </a:r>
            <a:r>
              <a:rPr lang="en-US" b="1" dirty="0" smtClean="0">
                <a:ln w="50800"/>
                <a:latin typeface="Aharoni" pitchFamily="2" charset="-79"/>
                <a:cs typeface="Aharoni" pitchFamily="2" charset="-79"/>
              </a:rPr>
              <a:t>: facebook.com/</a:t>
            </a:r>
            <a:r>
              <a:rPr lang="en-US" b="1" dirty="0" err="1" smtClean="0">
                <a:ln w="50800"/>
                <a:latin typeface="Aharoni" pitchFamily="2" charset="-79"/>
                <a:cs typeface="Aharoni" pitchFamily="2" charset="-79"/>
              </a:rPr>
              <a:t>barackobama</a:t>
            </a:r>
            <a:endParaRPr lang="en-US" b="1" dirty="0" smtClean="0">
              <a:ln w="50800"/>
              <a:latin typeface="Aharoni" pitchFamily="2" charset="-79"/>
              <a:cs typeface="Aharoni" pitchFamily="2" charset="-79"/>
            </a:endParaRPr>
          </a:p>
          <a:p>
            <a:pPr lvl="2">
              <a:buBlip>
                <a:blip r:embed="rId5"/>
              </a:buBlip>
            </a:pPr>
            <a:r>
              <a:rPr lang="en-US" b="1" dirty="0" smtClean="0">
                <a:ln w="50800"/>
                <a:latin typeface="Aharoni" pitchFamily="2" charset="-79"/>
                <a:cs typeface="Aharoni" pitchFamily="2" charset="-79"/>
              </a:rPr>
              <a:t>Twitter: twitter.com/</a:t>
            </a:r>
            <a:r>
              <a:rPr lang="en-US" b="1" dirty="0" err="1" smtClean="0">
                <a:ln w="50800"/>
                <a:latin typeface="Aharoni" pitchFamily="2" charset="-79"/>
                <a:cs typeface="Aharoni" pitchFamily="2" charset="-79"/>
              </a:rPr>
              <a:t>BarackObama</a:t>
            </a:r>
            <a:r>
              <a:rPr lang="en-US" b="1" dirty="0" smtClean="0">
                <a:ln w="50800"/>
                <a:latin typeface="Aharoni" pitchFamily="2" charset="-79"/>
                <a:cs typeface="Aharoni" pitchFamily="2" charset="-79"/>
              </a:rPr>
              <a:t> </a:t>
            </a:r>
          </a:p>
          <a:p>
            <a:pPr lvl="2">
              <a:buNone/>
            </a:pPr>
            <a:r>
              <a:rPr lang="en-US" b="1" dirty="0" smtClean="0">
                <a:ln w="50800"/>
                <a:latin typeface="Aharoni" pitchFamily="2" charset="-79"/>
                <a:cs typeface="Aharoni" pitchFamily="2" charset="-79"/>
              </a:rPr>
              <a:t>or @</a:t>
            </a:r>
            <a:r>
              <a:rPr lang="en-US" b="1" dirty="0" err="1" smtClean="0">
                <a:ln w="50800"/>
                <a:latin typeface="Aharoni" pitchFamily="2" charset="-79"/>
                <a:cs typeface="Aharoni" pitchFamily="2" charset="-79"/>
              </a:rPr>
              <a:t>barackobama</a:t>
            </a:r>
            <a:endParaRPr lang="en-US" b="1" dirty="0" smtClean="0">
              <a:ln w="50800"/>
              <a:latin typeface="Aharoni" pitchFamily="2" charset="-79"/>
              <a:cs typeface="Aharoni" pitchFamily="2" charset="-79"/>
            </a:endParaRPr>
          </a:p>
          <a:p>
            <a:endParaRPr lang="en-US" dirty="0"/>
          </a:p>
        </p:txBody>
      </p:sp>
      <p:pic>
        <p:nvPicPr>
          <p:cNvPr id="2054" name="Picture 6" descr="http://theeconomiccollapseblog.com/wp-content/uploads/2010/11/Barack-Obama-Globalism.jpg"/>
          <p:cNvPicPr>
            <a:picLocks noChangeAspect="1" noChangeArrowheads="1"/>
          </p:cNvPicPr>
          <p:nvPr/>
        </p:nvPicPr>
        <p:blipFill>
          <a:blip r:embed="rId7" cstate="print"/>
          <a:srcRect/>
          <a:stretch>
            <a:fillRect/>
          </a:stretch>
        </p:blipFill>
        <p:spPr bwMode="auto">
          <a:xfrm rot="5400000">
            <a:off x="3258120" y="4514280"/>
            <a:ext cx="1838545" cy="225878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2"/>
          <p:cNvPicPr>
            <a:picLocks noChangeAspect="1" noChangeArrowheads="1"/>
          </p:cNvPicPr>
          <p:nvPr/>
        </p:nvPicPr>
        <p:blipFill>
          <a:blip r:embed="rId2" cstate="print"/>
          <a:srcRect/>
          <a:stretch>
            <a:fillRect/>
          </a:stretch>
        </p:blipFill>
        <p:spPr bwMode="auto">
          <a:xfrm>
            <a:off x="0" y="0"/>
            <a:ext cx="4800600" cy="6858000"/>
          </a:xfrm>
          <a:prstGeom prst="rect">
            <a:avLst/>
          </a:prstGeom>
          <a:noFill/>
          <a:ln w="9525">
            <a:noFill/>
            <a:miter lim="800000"/>
            <a:headEnd/>
            <a:tailEnd/>
          </a:ln>
        </p:spPr>
      </p:pic>
      <p:pic>
        <p:nvPicPr>
          <p:cNvPr id="1027" name="Picture 3" descr="1"/>
          <p:cNvPicPr>
            <a:picLocks noChangeAspect="1" noChangeArrowheads="1"/>
          </p:cNvPicPr>
          <p:nvPr/>
        </p:nvPicPr>
        <p:blipFill>
          <a:blip r:embed="rId3" cstate="print"/>
          <a:srcRect/>
          <a:stretch>
            <a:fillRect/>
          </a:stretch>
        </p:blipFill>
        <p:spPr bwMode="auto">
          <a:xfrm>
            <a:off x="5105400" y="0"/>
            <a:ext cx="3857625" cy="6858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2"/>
          <p:cNvPicPr>
            <a:picLocks noChangeAspect="1" noChangeArrowheads="1"/>
          </p:cNvPicPr>
          <p:nvPr/>
        </p:nvPicPr>
        <p:blipFill>
          <a:blip r:embed="rId2" cstate="print"/>
          <a:srcRect/>
          <a:stretch>
            <a:fillRect/>
          </a:stretch>
        </p:blipFill>
        <p:spPr bwMode="auto">
          <a:xfrm>
            <a:off x="152400" y="6350"/>
            <a:ext cx="8762999" cy="685165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564</TotalTime>
  <Words>399</Words>
  <Application>Microsoft Office PowerPoint</Application>
  <PresentationFormat>On-screen Show (4:3)</PresentationFormat>
  <Paragraphs>68</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Elections Matter:   The Importance of Voting </vt:lpstr>
      <vt:lpstr>Note from the Author</vt:lpstr>
      <vt:lpstr>Did You Know?</vt:lpstr>
      <vt:lpstr>Your Vote Matters!</vt:lpstr>
      <vt:lpstr>10. Honor past sacrifices</vt:lpstr>
      <vt:lpstr>9. the next generation</vt:lpstr>
      <vt:lpstr>8. address student needs </vt:lpstr>
      <vt:lpstr>7. important voting bloc</vt:lpstr>
      <vt:lpstr>6. Address environmental issues </vt:lpstr>
      <vt:lpstr>5. shape foreign policy </vt:lpstr>
      <vt:lpstr>4. Shape Economic future </vt:lpstr>
      <vt:lpstr>3. Shape social agenda</vt:lpstr>
      <vt:lpstr>2. Your voice matters</vt:lpstr>
      <vt:lpstr>1. It's your right </vt:lpstr>
      <vt:lpstr>Battlefield: Colorado</vt:lpstr>
      <vt:lpstr>Out-Of-State</vt:lpstr>
      <vt:lpstr>Now Get Involved!</vt:lpstr>
      <vt:lpstr>Slide 18</vt:lpstr>
      <vt:lpstr>Slide 19</vt:lpstr>
    </vt:vector>
  </TitlesOfParts>
  <Company>Information Builders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Julietta</dc:creator>
  <cp:lastModifiedBy>owner</cp:lastModifiedBy>
  <cp:revision>7</cp:revision>
  <dcterms:created xsi:type="dcterms:W3CDTF">2012-10-13T21:02:22Z</dcterms:created>
  <dcterms:modified xsi:type="dcterms:W3CDTF">2012-11-14T19:37:11Z</dcterms:modified>
</cp:coreProperties>
</file>