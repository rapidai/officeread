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5" r:id="rId1"/>
    <p:sldMasterId id="2147483922" r:id="rId2"/>
  </p:sldMasterIdLst>
  <p:notesMasterIdLst>
    <p:notesMasterId r:id="rId12"/>
  </p:notesMasterIdLst>
  <p:handoutMasterIdLst>
    <p:handoutMasterId r:id="rId13"/>
  </p:handoutMasterIdLst>
  <p:sldIdLst>
    <p:sldId id="256" r:id="rId3"/>
    <p:sldId id="258" r:id="rId4"/>
    <p:sldId id="263" r:id="rId5"/>
    <p:sldId id="264" r:id="rId6"/>
    <p:sldId id="257" r:id="rId7"/>
    <p:sldId id="260" r:id="rId8"/>
    <p:sldId id="259" r:id="rId9"/>
    <p:sldId id="261" r:id="rId10"/>
    <p:sldId id="262" r:id="rId11"/>
  </p:sldIdLst>
  <p:sldSz cx="9144000" cy="6858000" type="screen4x3"/>
  <p:notesSz cx="7019925" cy="93059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93" d="100"/>
          <a:sy n="93" d="100"/>
        </p:scale>
        <p:origin x="-498" y="-90"/>
      </p:cViewPr>
      <p:guideLst>
        <p:guide orient="horz" pos="4176"/>
        <p:guide pos="244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42603" cy="465615"/>
          </a:xfrm>
          <a:prstGeom prst="rect">
            <a:avLst/>
          </a:prstGeom>
        </p:spPr>
        <p:txBody>
          <a:bodyPr vert="horz" lIns="91541" tIns="45770" rIns="91541" bIns="4577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5733" y="0"/>
            <a:ext cx="3042603" cy="465615"/>
          </a:xfrm>
          <a:prstGeom prst="rect">
            <a:avLst/>
          </a:prstGeom>
        </p:spPr>
        <p:txBody>
          <a:bodyPr vert="horz" lIns="91541" tIns="45770" rIns="91541" bIns="45770" rtlCol="0"/>
          <a:lstStyle>
            <a:lvl1pPr algn="r">
              <a:defRPr sz="1200"/>
            </a:lvl1pPr>
          </a:lstStyle>
          <a:p>
            <a:fld id="{7B68EDB9-92DD-4305-B7C3-ABE1648D013B}" type="datetimeFigureOut">
              <a:rPr lang="en-US" smtClean="0"/>
              <a:pPr/>
              <a:t>2/23/2009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38722"/>
            <a:ext cx="3042603" cy="465615"/>
          </a:xfrm>
          <a:prstGeom prst="rect">
            <a:avLst/>
          </a:prstGeom>
        </p:spPr>
        <p:txBody>
          <a:bodyPr vert="horz" lIns="91541" tIns="45770" rIns="91541" bIns="4577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5733" y="8838722"/>
            <a:ext cx="3042603" cy="465615"/>
          </a:xfrm>
          <a:prstGeom prst="rect">
            <a:avLst/>
          </a:prstGeom>
        </p:spPr>
        <p:txBody>
          <a:bodyPr vert="horz" lIns="91541" tIns="45770" rIns="91541" bIns="45770" rtlCol="0" anchor="b"/>
          <a:lstStyle>
            <a:lvl1pPr algn="r">
              <a:defRPr sz="1200"/>
            </a:lvl1pPr>
          </a:lstStyle>
          <a:p>
            <a:fld id="{05F8B511-833D-49F6-98EF-93F283DBD6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42603" cy="465615"/>
          </a:xfrm>
          <a:prstGeom prst="rect">
            <a:avLst/>
          </a:prstGeom>
        </p:spPr>
        <p:txBody>
          <a:bodyPr vert="horz" lIns="91541" tIns="45770" rIns="91541" bIns="4577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5733" y="0"/>
            <a:ext cx="3042603" cy="465615"/>
          </a:xfrm>
          <a:prstGeom prst="rect">
            <a:avLst/>
          </a:prstGeom>
        </p:spPr>
        <p:txBody>
          <a:bodyPr vert="horz" lIns="91541" tIns="45770" rIns="91541" bIns="45770" rtlCol="0"/>
          <a:lstStyle>
            <a:lvl1pPr algn="r">
              <a:defRPr sz="1200"/>
            </a:lvl1pPr>
          </a:lstStyle>
          <a:p>
            <a:fld id="{F81834A0-B150-4299-A58E-D174B9F48B7C}" type="datetimeFigureOut">
              <a:rPr lang="en-US" smtClean="0"/>
              <a:pPr/>
              <a:t>2/23/2009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2688" y="696913"/>
            <a:ext cx="4654550" cy="34909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41" tIns="45770" rIns="91541" bIns="4577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629" y="4420950"/>
            <a:ext cx="5614668" cy="4187349"/>
          </a:xfrm>
          <a:prstGeom prst="rect">
            <a:avLst/>
          </a:prstGeom>
        </p:spPr>
        <p:txBody>
          <a:bodyPr vert="horz" lIns="91541" tIns="45770" rIns="91541" bIns="4577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8722"/>
            <a:ext cx="3042603" cy="465615"/>
          </a:xfrm>
          <a:prstGeom prst="rect">
            <a:avLst/>
          </a:prstGeom>
        </p:spPr>
        <p:txBody>
          <a:bodyPr vert="horz" lIns="91541" tIns="45770" rIns="91541" bIns="4577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5733" y="8838722"/>
            <a:ext cx="3042603" cy="465615"/>
          </a:xfrm>
          <a:prstGeom prst="rect">
            <a:avLst/>
          </a:prstGeom>
        </p:spPr>
        <p:txBody>
          <a:bodyPr vert="horz" lIns="91541" tIns="45770" rIns="91541" bIns="45770" rtlCol="0" anchor="b"/>
          <a:lstStyle>
            <a:lvl1pPr algn="r">
              <a:defRPr sz="1200"/>
            </a:lvl1pPr>
          </a:lstStyle>
          <a:p>
            <a:fld id="{C1E1590E-2566-4403-89D7-10175C1584F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auto">
          <a:xfrm>
            <a:off x="5610225" y="0"/>
            <a:ext cx="26988" cy="6858000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8" descr="template graphic_0901optimized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75205" y="1269996"/>
            <a:ext cx="4327777" cy="42423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378" y="1085334"/>
            <a:ext cx="4454622" cy="877163"/>
          </a:xfrm>
        </p:spPr>
        <p:txBody>
          <a:bodyPr wrap="square">
            <a:spAutoFit/>
          </a:bodyPr>
          <a:lstStyle>
            <a:lvl1pPr algn="l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378" y="2667000"/>
            <a:ext cx="4170536" cy="424732"/>
          </a:xfrm>
        </p:spPr>
        <p:txBody>
          <a:bodyPr wrap="square">
            <a:sp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10" name="Picture 9" descr="New_DOE_Logo_Color_042808.pn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228600" y="6238875"/>
            <a:ext cx="174307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ORNL_managed by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47038" y="6201688"/>
            <a:ext cx="3505200" cy="4524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81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687513" y="2324100"/>
            <a:ext cx="6400800" cy="1752600"/>
          </a:xfrm>
        </p:spPr>
        <p:txBody>
          <a:bodyPr/>
          <a:lstStyle>
            <a:lvl1pPr marL="0" indent="0">
              <a:buFont typeface="Symbol" pitchFamily="18" charset="2"/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308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687513" y="671513"/>
            <a:ext cx="7254875" cy="11430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11A2C20A-8FD7-4C71-AEE3-2AC6640F6814}" type="slidenum">
              <a:rPr lang="en-US" sz="1000" kern="1200">
                <a:solidFill>
                  <a:srgbClr val="00673E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000" kern="1200">
              <a:solidFill>
                <a:srgbClr val="00673E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600" kern="1200">
              <a:solidFill>
                <a:srgbClr val="00673E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888A8B60-2C87-4176-86E7-12E2466192C2}" type="slidenum">
              <a:rPr lang="en-US" sz="1000" kern="1200">
                <a:solidFill>
                  <a:srgbClr val="00673E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000" kern="1200">
              <a:solidFill>
                <a:srgbClr val="00673E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600" kern="1200">
              <a:solidFill>
                <a:srgbClr val="00673E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988" y="1635125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16388" y="1635125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7F5AF5A1-81B7-4D89-A489-9BC1A7946E9D}" type="slidenum">
              <a:rPr lang="en-US" sz="1000" kern="1200">
                <a:solidFill>
                  <a:srgbClr val="00673E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000" kern="1200">
              <a:solidFill>
                <a:srgbClr val="00673E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600" kern="1200">
              <a:solidFill>
                <a:srgbClr val="00673E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2CC531FF-8D19-4BE8-876B-900078D33746}" type="slidenum">
              <a:rPr lang="en-US" sz="1000" kern="1200">
                <a:solidFill>
                  <a:srgbClr val="00673E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000" kern="1200">
              <a:solidFill>
                <a:srgbClr val="00673E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600" kern="1200">
              <a:solidFill>
                <a:srgbClr val="00673E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1E8B0EE6-2DD5-48E5-981E-9138AA6EEA40}" type="slidenum">
              <a:rPr lang="en-US" sz="1000" kern="1200">
                <a:solidFill>
                  <a:srgbClr val="00673E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000" kern="1200">
              <a:solidFill>
                <a:srgbClr val="00673E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600" kern="1200">
              <a:solidFill>
                <a:srgbClr val="00673E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6766CD70-6239-404A-9D39-F5E7A687C84A}" type="slidenum">
              <a:rPr lang="en-US" sz="1000" kern="1200">
                <a:solidFill>
                  <a:srgbClr val="00673E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000" kern="1200">
              <a:solidFill>
                <a:srgbClr val="00673E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600" kern="1200">
              <a:solidFill>
                <a:srgbClr val="00673E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9F414F39-3C4B-450A-8614-BC172A124A05}" type="slidenum">
              <a:rPr lang="en-US" sz="1000" kern="1200">
                <a:solidFill>
                  <a:srgbClr val="00673E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000" kern="1200">
              <a:solidFill>
                <a:srgbClr val="00673E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600" kern="1200">
              <a:solidFill>
                <a:srgbClr val="00673E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61700AC5-F7ED-46E7-B5FE-983BA6E752C3}" type="slidenum">
              <a:rPr lang="en-US" sz="1000" kern="1200">
                <a:solidFill>
                  <a:srgbClr val="00673E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000" kern="1200">
              <a:solidFill>
                <a:srgbClr val="00673E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600" kern="1200">
              <a:solidFill>
                <a:srgbClr val="00673E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64AB16D5-45F5-4639-903E-67CB6DA4A3E5}" type="slidenum">
              <a:rPr lang="en-US" sz="1000" kern="1200">
                <a:solidFill>
                  <a:srgbClr val="00673E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000" kern="1200">
              <a:solidFill>
                <a:srgbClr val="00673E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600" kern="1200">
              <a:solidFill>
                <a:srgbClr val="00673E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23013" y="69850"/>
            <a:ext cx="2057400" cy="56800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813" y="69850"/>
            <a:ext cx="6019800" cy="56800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73ADB229-C022-47A0-83A5-5025B8AF4021}" type="slidenum">
              <a:rPr lang="en-US" sz="1000" kern="1200">
                <a:solidFill>
                  <a:srgbClr val="00673E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000" kern="1200">
              <a:solidFill>
                <a:srgbClr val="00673E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600" kern="1200">
              <a:solidFill>
                <a:srgbClr val="00673E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13" y="69850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3988" y="1635125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116388" y="1635125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116388" y="3768725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7124700" y="657225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EF42351C-8818-44C8-B6CA-35AB2F4545DC}" type="slidenum">
              <a:rPr lang="en-US" sz="1000" kern="1200">
                <a:solidFill>
                  <a:srgbClr val="00673E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000" kern="1200">
              <a:solidFill>
                <a:srgbClr val="00673E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200400" y="6556375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600" kern="1200">
              <a:solidFill>
                <a:srgbClr val="00673E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image" Target="../media/image5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204" y="177114"/>
            <a:ext cx="8229600" cy="48474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204" y="1344823"/>
            <a:ext cx="8229600" cy="2024144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 flipH="1">
            <a:off x="228600" y="6402858"/>
            <a:ext cx="2819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l" defTabSz="173038" eaLnBrk="1" hangingPunct="1">
              <a:lnSpc>
                <a:spcPct val="90000"/>
              </a:lnSpc>
              <a:tabLst>
                <a:tab pos="230188" algn="l"/>
              </a:tabLst>
              <a:defRPr/>
            </a:pPr>
            <a:fld id="{5090E27C-CA13-484A-97F4-0144A35C19E2}" type="slidenum">
              <a:rPr lang="en-US" sz="900" b="0" smtClean="0">
                <a:solidFill>
                  <a:schemeClr val="bg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pPr algn="l" defTabSz="173038" eaLnBrk="1" hangingPunct="1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r>
              <a:rPr lang="en-US" sz="900" b="0" dirty="0" smtClean="0">
                <a:solidFill>
                  <a:schemeClr val="bg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	Managed by UT-Battelle</a:t>
            </a:r>
            <a:br>
              <a:rPr lang="en-US" sz="900" b="0" dirty="0" smtClean="0">
                <a:solidFill>
                  <a:schemeClr val="bg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900" b="0" dirty="0" smtClean="0">
                <a:solidFill>
                  <a:schemeClr val="bg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	for the U.S. Department of Energy</a:t>
            </a:r>
            <a:endParaRPr lang="en-US" sz="900" b="0" dirty="0">
              <a:solidFill>
                <a:schemeClr val="bg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Content Placeholder 10" descr="ORNL emboss_2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077200" y="6216650"/>
            <a:ext cx="890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256"/>
          <p:cNvSpPr txBox="1">
            <a:spLocks noChangeArrowheads="1"/>
          </p:cNvSpPr>
          <p:nvPr/>
        </p:nvSpPr>
        <p:spPr>
          <a:xfrm>
            <a:off x="3124200" y="6476464"/>
            <a:ext cx="2895600" cy="18256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Presentation_name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9" r:id="rId3"/>
    <p:sldLayoutId id="2147483920" r:id="rId4"/>
    <p:sldLayoutId id="2147483921" r:id="rId5"/>
    <p:sldLayoutId id="2147483853" r:id="rId6"/>
    <p:sldLayoutId id="2147483935" r:id="rId7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kern="1200">
          <a:solidFill>
            <a:srgbClr val="006C3A"/>
          </a:solidFill>
          <a:latin typeface="Arial Black" pitchFamily="34" charset="0"/>
          <a:ea typeface="+mj-ea"/>
          <a:cs typeface="+mj-cs"/>
        </a:defRPr>
      </a:lvl1pPr>
    </p:titleStyle>
    <p:bodyStyle>
      <a:lvl1pPr marL="230188" indent="-230188" algn="l" defTabSz="914400" rtl="0" eaLnBrk="1" latinLnBrk="0" hangingPunct="1">
        <a:lnSpc>
          <a:spcPct val="90000"/>
        </a:lnSpc>
        <a:spcBef>
          <a:spcPts val="1400"/>
        </a:spcBef>
        <a:buClr>
          <a:srgbClr val="006C3A"/>
        </a:buClr>
        <a:buFont typeface="Arial" pitchFamily="34" charset="0"/>
        <a:buChar char="•"/>
        <a:defRPr sz="2800" b="1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1pPr>
      <a:lvl2pPr marL="625475" indent="-279400" algn="l" defTabSz="914400" rtl="0" eaLnBrk="1" latinLnBrk="0" hangingPunct="1">
        <a:lnSpc>
          <a:spcPct val="90000"/>
        </a:lnSpc>
        <a:spcBef>
          <a:spcPts val="1200"/>
        </a:spcBef>
        <a:buClr>
          <a:srgbClr val="006C3A"/>
        </a:buClr>
        <a:buFont typeface="Arial" pitchFamily="34" charset="0"/>
        <a:buChar char="–"/>
        <a:defRPr sz="2400" b="1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2pPr>
      <a:lvl3pPr marL="914400" indent="-230188" algn="l" defTabSz="914400" rtl="0" eaLnBrk="1" latinLnBrk="0" hangingPunct="1">
        <a:lnSpc>
          <a:spcPct val="90000"/>
        </a:lnSpc>
        <a:spcBef>
          <a:spcPts val="800"/>
        </a:spcBef>
        <a:buClr>
          <a:srgbClr val="006C3A"/>
        </a:buClr>
        <a:buFont typeface="Arial" pitchFamily="34" charset="0"/>
        <a:buChar char="•"/>
        <a:defRPr sz="2000" b="1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3pPr>
      <a:lvl4pPr marL="1144588" indent="-173038" algn="l" defTabSz="914400" rtl="0" eaLnBrk="1" latinLnBrk="0" hangingPunct="1">
        <a:lnSpc>
          <a:spcPct val="90000"/>
        </a:lnSpc>
        <a:spcBef>
          <a:spcPts val="800"/>
        </a:spcBef>
        <a:buClr>
          <a:srgbClr val="006C3A"/>
        </a:buClr>
        <a:buFont typeface="Arial" pitchFamily="34" charset="0"/>
        <a:buChar char="–"/>
        <a:defRPr sz="1800" b="1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4pPr>
      <a:lvl5pPr marL="1482725" indent="-222250" algn="l" defTabSz="914400" rtl="0" eaLnBrk="1" latinLnBrk="0" hangingPunct="1">
        <a:lnSpc>
          <a:spcPct val="90000"/>
        </a:lnSpc>
        <a:spcBef>
          <a:spcPts val="600"/>
        </a:spcBef>
        <a:buClr>
          <a:srgbClr val="006C3A"/>
        </a:buClr>
        <a:buFont typeface="Arial" pitchFamily="34" charset="0"/>
        <a:buChar char="»"/>
        <a:defRPr sz="1800" b="1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9794" name="Picture 2" descr="parchment_ornl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 flipV="1">
            <a:off x="3175" y="5345113"/>
            <a:ext cx="9140825" cy="1512887"/>
          </a:xfrm>
          <a:prstGeom prst="rect">
            <a:avLst/>
          </a:prstGeom>
          <a:noFill/>
        </p:spPr>
      </p:pic>
      <p:pic>
        <p:nvPicPr>
          <p:cNvPr id="929796" name="Picture 4" descr="parchment_ornl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3175" y="0"/>
            <a:ext cx="9140825" cy="1512888"/>
          </a:xfrm>
          <a:prstGeom prst="rect">
            <a:avLst/>
          </a:prstGeom>
          <a:noFill/>
        </p:spPr>
      </p:pic>
      <p:sp>
        <p:nvSpPr>
          <p:cNvPr id="929797" name="Text Box 5"/>
          <p:cNvSpPr txBox="1">
            <a:spLocks noChangeArrowheads="1"/>
          </p:cNvSpPr>
          <p:nvPr/>
        </p:nvSpPr>
        <p:spPr bwMode="auto">
          <a:xfrm>
            <a:off x="0" y="6313488"/>
            <a:ext cx="3430588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kern="1200">
                <a:solidFill>
                  <a:srgbClr val="00673E"/>
                </a:solidFill>
                <a:latin typeface="Times New Roman" pitchFamily="18" charset="0"/>
                <a:ea typeface="+mn-ea"/>
                <a:cs typeface="+mn-cs"/>
              </a:rPr>
              <a:t>O</a:t>
            </a:r>
            <a:r>
              <a:rPr lang="en-US" sz="1300" b="1" kern="1200">
                <a:solidFill>
                  <a:srgbClr val="00673E"/>
                </a:solidFill>
                <a:latin typeface="Times New Roman" pitchFamily="18" charset="0"/>
                <a:ea typeface="+mn-ea"/>
                <a:cs typeface="+mn-cs"/>
              </a:rPr>
              <a:t>AK</a:t>
            </a:r>
            <a:r>
              <a:rPr lang="en-US" sz="1600" b="1" kern="1200">
                <a:solidFill>
                  <a:srgbClr val="00673E"/>
                </a:solidFill>
                <a:latin typeface="Times New Roman" pitchFamily="18" charset="0"/>
                <a:ea typeface="+mn-ea"/>
                <a:cs typeface="+mn-cs"/>
              </a:rPr>
              <a:t> R</a:t>
            </a:r>
            <a:r>
              <a:rPr lang="en-US" sz="1300" b="1" kern="1200">
                <a:solidFill>
                  <a:srgbClr val="00673E"/>
                </a:solidFill>
                <a:latin typeface="Times New Roman" pitchFamily="18" charset="0"/>
                <a:ea typeface="+mn-ea"/>
                <a:cs typeface="+mn-cs"/>
              </a:rPr>
              <a:t>IDGE</a:t>
            </a:r>
            <a:r>
              <a:rPr lang="en-US" sz="1600" b="1" kern="1200">
                <a:solidFill>
                  <a:srgbClr val="00673E"/>
                </a:solidFill>
                <a:latin typeface="Times New Roman" pitchFamily="18" charset="0"/>
                <a:ea typeface="+mn-ea"/>
                <a:cs typeface="+mn-cs"/>
              </a:rPr>
              <a:t> N</a:t>
            </a:r>
            <a:r>
              <a:rPr lang="en-US" sz="1300" b="1" kern="1200">
                <a:solidFill>
                  <a:srgbClr val="00673E"/>
                </a:solidFill>
                <a:latin typeface="Times New Roman" pitchFamily="18" charset="0"/>
                <a:ea typeface="+mn-ea"/>
                <a:cs typeface="+mn-cs"/>
              </a:rPr>
              <a:t>ATIONAL</a:t>
            </a:r>
            <a:r>
              <a:rPr lang="en-US" sz="1600" b="1" kern="1200">
                <a:solidFill>
                  <a:srgbClr val="00673E"/>
                </a:solidFill>
                <a:latin typeface="Times New Roman" pitchFamily="18" charset="0"/>
                <a:ea typeface="+mn-ea"/>
                <a:cs typeface="+mn-cs"/>
              </a:rPr>
              <a:t> L</a:t>
            </a:r>
            <a:r>
              <a:rPr lang="en-US" sz="1300" b="1" kern="1200">
                <a:solidFill>
                  <a:srgbClr val="00673E"/>
                </a:solidFill>
                <a:latin typeface="Times New Roman" pitchFamily="18" charset="0"/>
                <a:ea typeface="+mn-ea"/>
                <a:cs typeface="+mn-cs"/>
              </a:rPr>
              <a:t>ABORATORY</a:t>
            </a:r>
          </a:p>
          <a:p>
            <a: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kern="1200">
                <a:solidFill>
                  <a:srgbClr val="00673E"/>
                </a:solidFill>
                <a:latin typeface="Times New Roman" pitchFamily="18" charset="0"/>
                <a:ea typeface="+mn-ea"/>
                <a:cs typeface="+mn-cs"/>
              </a:rPr>
              <a:t>U. S. D</a:t>
            </a:r>
            <a:r>
              <a:rPr lang="en-US" sz="1200" b="1" kern="1200">
                <a:solidFill>
                  <a:srgbClr val="00673E"/>
                </a:solidFill>
                <a:latin typeface="Times New Roman" pitchFamily="18" charset="0"/>
                <a:ea typeface="+mn-ea"/>
                <a:cs typeface="+mn-cs"/>
              </a:rPr>
              <a:t>EPARTMENT</a:t>
            </a:r>
            <a:r>
              <a:rPr lang="en-US" sz="1400" b="1" kern="1200">
                <a:solidFill>
                  <a:srgbClr val="00673E"/>
                </a:solidFill>
                <a:latin typeface="Times New Roman" pitchFamily="18" charset="0"/>
                <a:ea typeface="+mn-ea"/>
                <a:cs typeface="+mn-cs"/>
              </a:rPr>
              <a:t> </a:t>
            </a:r>
            <a:r>
              <a:rPr lang="en-US" sz="1200" b="1" kern="1200">
                <a:solidFill>
                  <a:srgbClr val="00673E"/>
                </a:solidFill>
                <a:latin typeface="Times New Roman" pitchFamily="18" charset="0"/>
                <a:ea typeface="+mn-ea"/>
                <a:cs typeface="+mn-cs"/>
              </a:rPr>
              <a:t>OF</a:t>
            </a:r>
            <a:r>
              <a:rPr lang="en-US" sz="1400" b="1" kern="1200">
                <a:solidFill>
                  <a:srgbClr val="00673E"/>
                </a:solidFill>
                <a:latin typeface="Times New Roman" pitchFamily="18" charset="0"/>
                <a:ea typeface="+mn-ea"/>
                <a:cs typeface="+mn-cs"/>
              </a:rPr>
              <a:t> E</a:t>
            </a:r>
            <a:r>
              <a:rPr lang="en-US" sz="1200" b="1" kern="1200">
                <a:solidFill>
                  <a:srgbClr val="00673E"/>
                </a:solidFill>
                <a:latin typeface="Times New Roman" pitchFamily="18" charset="0"/>
                <a:ea typeface="+mn-ea"/>
                <a:cs typeface="+mn-cs"/>
              </a:rPr>
              <a:t>NERGY</a:t>
            </a:r>
          </a:p>
        </p:txBody>
      </p:sp>
      <p:sp>
        <p:nvSpPr>
          <p:cNvPr id="92979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3988" y="1635125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9799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150813" y="69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980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24700" y="657225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i="0">
                <a:solidFill>
                  <a:schemeClr val="tx2"/>
                </a:solidFill>
              </a:defRPr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3AE899B7-7C9D-4D73-8CC7-A082C850195D}" type="slidenum">
              <a:rPr lang="en-US" kern="1200">
                <a:solidFill>
                  <a:srgbClr val="00673E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kern="1200">
              <a:solidFill>
                <a:srgbClr val="00673E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929801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6375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600" i="0">
                <a:solidFill>
                  <a:schemeClr val="tx2"/>
                </a:solidFill>
              </a:defRPr>
            </a:lvl1pPr>
          </a:lstStyle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kern="1200">
              <a:solidFill>
                <a:srgbClr val="00673E"/>
              </a:solidFill>
              <a:latin typeface="Arial" pitchFamily="34" charset="0"/>
              <a:ea typeface="+mn-ea"/>
              <a:cs typeface="+mn-cs"/>
            </a:endParaRPr>
          </a:p>
        </p:txBody>
      </p:sp>
      <p:pic>
        <p:nvPicPr>
          <p:cNvPr id="929802" name="Picture 10" descr="UT_Battell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6737350" y="6297613"/>
            <a:ext cx="1878013" cy="544512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4" r:id="rId2"/>
    <p:sldLayoutId id="2147483925" r:id="rId3"/>
    <p:sldLayoutId id="2147483926" r:id="rId4"/>
    <p:sldLayoutId id="2147483927" r:id="rId5"/>
    <p:sldLayoutId id="2147483928" r:id="rId6"/>
    <p:sldLayoutId id="2147483929" r:id="rId7"/>
    <p:sldLayoutId id="2147483930" r:id="rId8"/>
    <p:sldLayoutId id="2147483931" r:id="rId9"/>
    <p:sldLayoutId id="2147483932" r:id="rId10"/>
    <p:sldLayoutId id="2147483933" r:id="rId11"/>
    <p:sldLayoutId id="2147483934" r:id="rId12"/>
  </p:sldLayoutIdLst>
  <p:hf hdr="0" ftr="0" dt="0"/>
  <p:txStyles>
    <p:titleStyle>
      <a:lvl1pPr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rgbClr val="00673E"/>
          </a:solidFill>
          <a:latin typeface="+mj-lt"/>
          <a:ea typeface="+mj-ea"/>
          <a:cs typeface="+mj-cs"/>
        </a:defRPr>
      </a:lvl1pPr>
      <a:lvl2pPr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rgbClr val="00673E"/>
          </a:solidFill>
          <a:latin typeface="Arial Black" pitchFamily="34" charset="0"/>
        </a:defRPr>
      </a:lvl2pPr>
      <a:lvl3pPr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rgbClr val="00673E"/>
          </a:solidFill>
          <a:latin typeface="Arial Black" pitchFamily="34" charset="0"/>
        </a:defRPr>
      </a:lvl3pPr>
      <a:lvl4pPr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rgbClr val="00673E"/>
          </a:solidFill>
          <a:latin typeface="Arial Black" pitchFamily="34" charset="0"/>
        </a:defRPr>
      </a:lvl4pPr>
      <a:lvl5pPr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rgbClr val="00673E"/>
          </a:solidFill>
          <a:latin typeface="Arial Black" pitchFamily="34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rgbClr val="00673E"/>
          </a:solidFill>
          <a:latin typeface="Arial Black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rgbClr val="00673E"/>
          </a:solidFill>
          <a:latin typeface="Arial Black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rgbClr val="00673E"/>
          </a:solidFill>
          <a:latin typeface="Arial Black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rgbClr val="00673E"/>
          </a:solidFill>
          <a:latin typeface="Arial Black" pitchFamily="34" charset="0"/>
        </a:defRPr>
      </a:lvl9pPr>
    </p:titleStyle>
    <p:bodyStyle>
      <a:lvl1pPr marL="292100" indent="-292100" algn="l" rtl="0" fontAlgn="base">
        <a:lnSpc>
          <a:spcPct val="90000"/>
        </a:lnSpc>
        <a:spcBef>
          <a:spcPct val="60000"/>
        </a:spcBef>
        <a:spcAft>
          <a:spcPct val="0"/>
        </a:spcAft>
        <a:buClr>
          <a:srgbClr val="00673E"/>
        </a:buClr>
        <a:buSzPct val="125000"/>
        <a:buFont typeface="Symbol" pitchFamily="18" charset="2"/>
        <a:buChar char="·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644525" indent="-238125" algn="l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00673E"/>
        </a:buClr>
        <a:buSzPct val="150000"/>
        <a:buFont typeface="Symbol" pitchFamily="18" charset="2"/>
        <a:buChar char="-"/>
        <a:defRPr b="1">
          <a:solidFill>
            <a:schemeClr val="tx1"/>
          </a:solidFill>
          <a:latin typeface="+mn-lt"/>
        </a:defRPr>
      </a:lvl2pPr>
      <a:lvl3pPr marL="1030288" indent="-271463" algn="l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00673E"/>
        </a:buClr>
        <a:buFont typeface="Symbol" pitchFamily="18" charset="2"/>
        <a:buChar char="·"/>
        <a:defRPr sz="1600" b="1">
          <a:solidFill>
            <a:schemeClr val="tx1"/>
          </a:solidFill>
          <a:latin typeface="+mn-lt"/>
        </a:defRPr>
      </a:lvl3pPr>
      <a:lvl4pPr marL="1382713" indent="-238125" algn="l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00673E"/>
        </a:buClr>
        <a:buFont typeface="Symbol" pitchFamily="18" charset="2"/>
        <a:buChar char="-"/>
        <a:defRPr sz="1600" b="1">
          <a:solidFill>
            <a:schemeClr val="tx1"/>
          </a:solidFill>
          <a:latin typeface="+mn-lt"/>
        </a:defRPr>
      </a:lvl4pPr>
      <a:lvl5pPr marL="1716088" indent="-219075" algn="l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00673E"/>
        </a:buClr>
        <a:buFont typeface="Symbol" pitchFamily="18" charset="2"/>
        <a:buChar char="·"/>
        <a:defRPr sz="1600" b="1">
          <a:solidFill>
            <a:schemeClr val="tx1"/>
          </a:solidFill>
          <a:latin typeface="+mn-lt"/>
        </a:defRPr>
      </a:lvl5pPr>
      <a:lvl6pPr marL="2173288" indent="-219075" algn="l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00673E"/>
        </a:buClr>
        <a:buFont typeface="Symbol" pitchFamily="18" charset="2"/>
        <a:buChar char="·"/>
        <a:defRPr sz="1600" b="1">
          <a:solidFill>
            <a:schemeClr val="tx1"/>
          </a:solidFill>
          <a:latin typeface="+mn-lt"/>
        </a:defRPr>
      </a:lvl6pPr>
      <a:lvl7pPr marL="2630488" indent="-219075" algn="l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00673E"/>
        </a:buClr>
        <a:buFont typeface="Symbol" pitchFamily="18" charset="2"/>
        <a:buChar char="·"/>
        <a:defRPr sz="1600" b="1">
          <a:solidFill>
            <a:schemeClr val="tx1"/>
          </a:solidFill>
          <a:latin typeface="+mn-lt"/>
        </a:defRPr>
      </a:lvl7pPr>
      <a:lvl8pPr marL="3087688" indent="-219075" algn="l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00673E"/>
        </a:buClr>
        <a:buFont typeface="Symbol" pitchFamily="18" charset="2"/>
        <a:buChar char="·"/>
        <a:defRPr sz="1600" b="1">
          <a:solidFill>
            <a:schemeClr val="tx1"/>
          </a:solidFill>
          <a:latin typeface="+mn-lt"/>
        </a:defRPr>
      </a:lvl8pPr>
      <a:lvl9pPr marL="3544888" indent="-219075" algn="l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00673E"/>
        </a:buClr>
        <a:buFont typeface="Symbol" pitchFamily="18" charset="2"/>
        <a:buChar char="·"/>
        <a:defRPr sz="16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378" y="1085334"/>
            <a:ext cx="4454622" cy="1272784"/>
          </a:xfrm>
        </p:spPr>
        <p:txBody>
          <a:bodyPr/>
          <a:lstStyle/>
          <a:p>
            <a:r>
              <a:rPr lang="en-US" dirty="0" smtClean="0"/>
              <a:t>Computational nuclear physics in the next decade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378" y="2667000"/>
            <a:ext cx="4454622" cy="1448602"/>
          </a:xfrm>
        </p:spPr>
        <p:txBody>
          <a:bodyPr/>
          <a:lstStyle/>
          <a:p>
            <a:r>
              <a:rPr lang="en-US" dirty="0" smtClean="0"/>
              <a:t>David Dean</a:t>
            </a:r>
          </a:p>
          <a:p>
            <a:r>
              <a:rPr lang="en-US" dirty="0" smtClean="0"/>
              <a:t>LACM-EFES-JUSTIPEN Workshop</a:t>
            </a:r>
          </a:p>
          <a:p>
            <a:r>
              <a:rPr lang="en-US" dirty="0" smtClean="0"/>
              <a:t>24 February 2009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Line 6"/>
          <p:cNvSpPr>
            <a:spLocks noChangeShapeType="1"/>
          </p:cNvSpPr>
          <p:nvPr/>
        </p:nvSpPr>
        <p:spPr bwMode="auto">
          <a:xfrm>
            <a:off x="7086600" y="2362200"/>
            <a:ext cx="0" cy="608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oval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38" name="Rounded Rectangle 37"/>
          <p:cNvSpPr>
            <a:spLocks noChangeArrowheads="1"/>
          </p:cNvSpPr>
          <p:nvPr/>
        </p:nvSpPr>
        <p:spPr bwMode="auto">
          <a:xfrm>
            <a:off x="3355975" y="1150938"/>
            <a:ext cx="2362200" cy="517366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rgbClr val="CFDBF5"/>
              </a:gs>
              <a:gs pos="50000">
                <a:schemeClr val="bg1"/>
              </a:gs>
            </a:gsLst>
            <a:lin ang="5400000" scaled="1"/>
            <a:tileRect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defRPr/>
            </a:pPr>
            <a:endParaRPr lang="en-US" sz="1600">
              <a:latin typeface="Arial Narrow" pitchFamily="34" charset="0"/>
            </a:endParaRPr>
          </a:p>
        </p:txBody>
      </p:sp>
      <p:sp>
        <p:nvSpPr>
          <p:cNvPr id="17412" name="Line 2"/>
          <p:cNvSpPr>
            <a:spLocks noChangeShapeType="1"/>
          </p:cNvSpPr>
          <p:nvPr/>
        </p:nvSpPr>
        <p:spPr bwMode="auto">
          <a:xfrm flipV="1">
            <a:off x="4953000" y="2546350"/>
            <a:ext cx="0" cy="695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oval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413" name="Line 6"/>
          <p:cNvSpPr>
            <a:spLocks noChangeShapeType="1"/>
          </p:cNvSpPr>
          <p:nvPr/>
        </p:nvSpPr>
        <p:spPr bwMode="auto">
          <a:xfrm>
            <a:off x="3910013" y="3852863"/>
            <a:ext cx="0" cy="608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oval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414" name="Line 6"/>
          <p:cNvSpPr>
            <a:spLocks noChangeShapeType="1"/>
          </p:cNvSpPr>
          <p:nvPr/>
        </p:nvSpPr>
        <p:spPr bwMode="auto">
          <a:xfrm>
            <a:off x="6176963" y="2889250"/>
            <a:ext cx="0" cy="608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oval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415" name="Line 3"/>
          <p:cNvSpPr>
            <a:spLocks noChangeShapeType="1"/>
          </p:cNvSpPr>
          <p:nvPr/>
        </p:nvSpPr>
        <p:spPr bwMode="auto">
          <a:xfrm>
            <a:off x="8143875" y="1914525"/>
            <a:ext cx="0" cy="374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oval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416" name="Line 6"/>
          <p:cNvSpPr>
            <a:spLocks noChangeShapeType="1"/>
          </p:cNvSpPr>
          <p:nvPr/>
        </p:nvSpPr>
        <p:spPr bwMode="auto">
          <a:xfrm>
            <a:off x="5030788" y="3444875"/>
            <a:ext cx="0" cy="608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oval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417" name="Line 7"/>
          <p:cNvSpPr>
            <a:spLocks noChangeShapeType="1"/>
          </p:cNvSpPr>
          <p:nvPr/>
        </p:nvSpPr>
        <p:spPr bwMode="auto">
          <a:xfrm flipV="1">
            <a:off x="1855788" y="4110038"/>
            <a:ext cx="14287" cy="681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oval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418" name="Line 2"/>
          <p:cNvSpPr>
            <a:spLocks noChangeShapeType="1"/>
          </p:cNvSpPr>
          <p:nvPr/>
        </p:nvSpPr>
        <p:spPr bwMode="auto">
          <a:xfrm flipV="1">
            <a:off x="3906838" y="3059113"/>
            <a:ext cx="0" cy="695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oval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419" name="Line 3"/>
          <p:cNvSpPr>
            <a:spLocks noChangeShapeType="1"/>
          </p:cNvSpPr>
          <p:nvPr/>
        </p:nvSpPr>
        <p:spPr bwMode="auto">
          <a:xfrm>
            <a:off x="6176963" y="2509838"/>
            <a:ext cx="0" cy="374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oval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420" name="Line 5"/>
          <p:cNvSpPr>
            <a:spLocks noChangeShapeType="1"/>
          </p:cNvSpPr>
          <p:nvPr/>
        </p:nvSpPr>
        <p:spPr bwMode="auto">
          <a:xfrm flipV="1">
            <a:off x="2811463" y="3514725"/>
            <a:ext cx="0" cy="712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oval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421" name="Line 6"/>
          <p:cNvSpPr>
            <a:spLocks noChangeShapeType="1"/>
          </p:cNvSpPr>
          <p:nvPr/>
        </p:nvSpPr>
        <p:spPr bwMode="auto">
          <a:xfrm>
            <a:off x="1360488" y="4943475"/>
            <a:ext cx="0" cy="608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oval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422" name="Line 7"/>
          <p:cNvSpPr>
            <a:spLocks noChangeShapeType="1"/>
          </p:cNvSpPr>
          <p:nvPr/>
        </p:nvSpPr>
        <p:spPr bwMode="auto">
          <a:xfrm flipV="1">
            <a:off x="438150" y="4826000"/>
            <a:ext cx="14288" cy="681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oval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423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165100" y="146050"/>
            <a:ext cx="8089900" cy="881063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MS PGothic" pitchFamily="34" charset="-128"/>
              </a:rPr>
              <a:t>Million-fold increase in computing and data capabilities (ORNL)</a:t>
            </a:r>
            <a:endParaRPr lang="en-US" dirty="0" smtClean="0"/>
          </a:p>
        </p:txBody>
      </p:sp>
      <p:sp>
        <p:nvSpPr>
          <p:cNvPr id="14352" name="Freeform 40"/>
          <p:cNvSpPr>
            <a:spLocks/>
          </p:cNvSpPr>
          <p:nvPr/>
        </p:nvSpPr>
        <p:spPr bwMode="auto">
          <a:xfrm>
            <a:off x="6350" y="1219200"/>
            <a:ext cx="8986838" cy="4800600"/>
          </a:xfrm>
          <a:custGeom>
            <a:avLst/>
            <a:gdLst>
              <a:gd name="T0" fmla="*/ 0 w 2380"/>
              <a:gd name="T1" fmla="*/ 2147483647 h 1618"/>
              <a:gd name="T2" fmla="*/ 0 w 2380"/>
              <a:gd name="T3" fmla="*/ 2147483647 h 1618"/>
              <a:gd name="T4" fmla="*/ 2147483647 w 2380"/>
              <a:gd name="T5" fmla="*/ 2147483647 h 1618"/>
              <a:gd name="T6" fmla="*/ 2147483647 w 2380"/>
              <a:gd name="T7" fmla="*/ 2147483647 h 1618"/>
              <a:gd name="T8" fmla="*/ 2147483647 w 2380"/>
              <a:gd name="T9" fmla="*/ 2147483647 h 1618"/>
              <a:gd name="T10" fmla="*/ 2147483647 w 2380"/>
              <a:gd name="T11" fmla="*/ 0 h 1618"/>
              <a:gd name="T12" fmla="*/ 2147483647 w 2380"/>
              <a:gd name="T13" fmla="*/ 2147483647 h 1618"/>
              <a:gd name="T14" fmla="*/ 0 w 2380"/>
              <a:gd name="T15" fmla="*/ 2147483647 h 161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380"/>
              <a:gd name="T25" fmla="*/ 0 h 1618"/>
              <a:gd name="T26" fmla="*/ 2380 w 2380"/>
              <a:gd name="T27" fmla="*/ 1618 h 161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380" h="1618">
                <a:moveTo>
                  <a:pt x="0" y="1375"/>
                </a:moveTo>
                <a:lnTo>
                  <a:pt x="0" y="1618"/>
                </a:lnTo>
                <a:lnTo>
                  <a:pt x="2245" y="238"/>
                </a:lnTo>
                <a:lnTo>
                  <a:pt x="2277" y="295"/>
                </a:lnTo>
                <a:lnTo>
                  <a:pt x="2380" y="19"/>
                </a:lnTo>
                <a:lnTo>
                  <a:pt x="2088" y="0"/>
                </a:lnTo>
                <a:lnTo>
                  <a:pt x="2125" y="58"/>
                </a:lnTo>
                <a:lnTo>
                  <a:pt x="0" y="1375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50000">
                <a:srgbClr val="C8E2D3"/>
              </a:gs>
            </a:gsLst>
            <a:lin ang="18900000" scaled="1"/>
            <a:tileRect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defRPr/>
            </a:pPr>
            <a:endParaRPr lang="en-US" sz="1600">
              <a:latin typeface="Arial Narrow" pitchFamily="34" charset="0"/>
            </a:endParaRPr>
          </a:p>
        </p:txBody>
      </p:sp>
      <p:sp>
        <p:nvSpPr>
          <p:cNvPr id="17425" name="Text Box 48"/>
          <p:cNvSpPr txBox="1">
            <a:spLocks noChangeArrowheads="1"/>
          </p:cNvSpPr>
          <p:nvPr/>
        </p:nvSpPr>
        <p:spPr bwMode="auto">
          <a:xfrm>
            <a:off x="176213" y="5265738"/>
            <a:ext cx="557212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2004</a:t>
            </a:r>
          </a:p>
        </p:txBody>
      </p:sp>
      <p:sp>
        <p:nvSpPr>
          <p:cNvPr id="17426" name="Text Box 49"/>
          <p:cNvSpPr txBox="1">
            <a:spLocks noChangeArrowheads="1"/>
          </p:cNvSpPr>
          <p:nvPr/>
        </p:nvSpPr>
        <p:spPr bwMode="auto">
          <a:xfrm>
            <a:off x="2046288" y="4389438"/>
            <a:ext cx="557212" cy="31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2006</a:t>
            </a:r>
          </a:p>
        </p:txBody>
      </p:sp>
      <p:sp>
        <p:nvSpPr>
          <p:cNvPr id="17427" name="Text Box 50"/>
          <p:cNvSpPr txBox="1">
            <a:spLocks noChangeArrowheads="1"/>
          </p:cNvSpPr>
          <p:nvPr/>
        </p:nvSpPr>
        <p:spPr bwMode="auto">
          <a:xfrm>
            <a:off x="3008313" y="3921125"/>
            <a:ext cx="557212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2007</a:t>
            </a:r>
          </a:p>
        </p:txBody>
      </p:sp>
      <p:sp>
        <p:nvSpPr>
          <p:cNvPr id="17428" name="Text Box 51"/>
          <p:cNvSpPr txBox="1">
            <a:spLocks noChangeArrowheads="1"/>
          </p:cNvSpPr>
          <p:nvPr/>
        </p:nvSpPr>
        <p:spPr bwMode="auto">
          <a:xfrm>
            <a:off x="3970338" y="3454400"/>
            <a:ext cx="555625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2008</a:t>
            </a:r>
          </a:p>
        </p:txBody>
      </p:sp>
      <p:sp>
        <p:nvSpPr>
          <p:cNvPr id="17429" name="Text Box 52"/>
          <p:cNvSpPr txBox="1">
            <a:spLocks noChangeArrowheads="1"/>
          </p:cNvSpPr>
          <p:nvPr/>
        </p:nvSpPr>
        <p:spPr bwMode="auto">
          <a:xfrm>
            <a:off x="4930775" y="2987675"/>
            <a:ext cx="557213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2009</a:t>
            </a:r>
          </a:p>
        </p:txBody>
      </p:sp>
      <p:sp>
        <p:nvSpPr>
          <p:cNvPr id="17430" name="Text Box 52"/>
          <p:cNvSpPr txBox="1">
            <a:spLocks noChangeArrowheads="1"/>
          </p:cNvSpPr>
          <p:nvPr/>
        </p:nvSpPr>
        <p:spPr bwMode="auto">
          <a:xfrm>
            <a:off x="5902325" y="2520950"/>
            <a:ext cx="547688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2011</a:t>
            </a:r>
          </a:p>
        </p:txBody>
      </p:sp>
      <p:sp>
        <p:nvSpPr>
          <p:cNvPr id="17431" name="Text Box 52"/>
          <p:cNvSpPr txBox="1">
            <a:spLocks noChangeArrowheads="1"/>
          </p:cNvSpPr>
          <p:nvPr/>
        </p:nvSpPr>
        <p:spPr bwMode="auto">
          <a:xfrm>
            <a:off x="6843713" y="2052638"/>
            <a:ext cx="557212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2015</a:t>
            </a:r>
          </a:p>
        </p:txBody>
      </p:sp>
      <p:sp>
        <p:nvSpPr>
          <p:cNvPr id="17432" name="Text Box 52"/>
          <p:cNvSpPr txBox="1">
            <a:spLocks noChangeArrowheads="1"/>
          </p:cNvSpPr>
          <p:nvPr/>
        </p:nvSpPr>
        <p:spPr bwMode="auto">
          <a:xfrm>
            <a:off x="7840663" y="1585913"/>
            <a:ext cx="557212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2018</a:t>
            </a:r>
          </a:p>
        </p:txBody>
      </p:sp>
      <p:sp>
        <p:nvSpPr>
          <p:cNvPr id="17433" name="Rectangle 31"/>
          <p:cNvSpPr>
            <a:spLocks noChangeArrowheads="1"/>
          </p:cNvSpPr>
          <p:nvPr/>
        </p:nvSpPr>
        <p:spPr bwMode="auto">
          <a:xfrm>
            <a:off x="4254500" y="4138613"/>
            <a:ext cx="1550988" cy="1195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Cray “Baker”</a:t>
            </a:r>
          </a:p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8/12-core, dual-socket SMP </a:t>
            </a:r>
          </a:p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~1 PF</a:t>
            </a:r>
          </a:p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100 TB, 2.5 PB</a:t>
            </a:r>
          </a:p>
        </p:txBody>
      </p:sp>
      <p:sp>
        <p:nvSpPr>
          <p:cNvPr id="17434" name="Rectangle 32"/>
          <p:cNvSpPr>
            <a:spLocks noChangeArrowheads="1"/>
          </p:cNvSpPr>
          <p:nvPr/>
        </p:nvSpPr>
        <p:spPr bwMode="auto">
          <a:xfrm>
            <a:off x="5426075" y="3581400"/>
            <a:ext cx="1501775" cy="757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DARPA </a:t>
            </a:r>
            <a:br>
              <a:rPr lang="en-US" sz="1600" b="1">
                <a:latin typeface="Arial Narrow" pitchFamily="34" charset="0"/>
              </a:rPr>
            </a:br>
            <a:r>
              <a:rPr lang="en-US" sz="1600" b="1">
                <a:latin typeface="Arial Narrow" pitchFamily="34" charset="0"/>
              </a:rPr>
              <a:t>HPCS</a:t>
            </a:r>
            <a:br>
              <a:rPr lang="en-US" sz="1600" b="1">
                <a:latin typeface="Arial Narrow" pitchFamily="34" charset="0"/>
              </a:rPr>
            </a:br>
            <a:r>
              <a:rPr lang="en-US" sz="1600" b="1">
                <a:latin typeface="Arial Narrow" pitchFamily="34" charset="0"/>
              </a:rPr>
              <a:t> 20 PF</a:t>
            </a:r>
          </a:p>
        </p:txBody>
      </p:sp>
      <p:sp>
        <p:nvSpPr>
          <p:cNvPr id="17435" name="Rectangle 32"/>
          <p:cNvSpPr>
            <a:spLocks noChangeArrowheads="1"/>
          </p:cNvSpPr>
          <p:nvPr/>
        </p:nvSpPr>
        <p:spPr bwMode="auto">
          <a:xfrm>
            <a:off x="6127750" y="3013075"/>
            <a:ext cx="1920875" cy="757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Future </a:t>
            </a:r>
            <a:br>
              <a:rPr lang="en-US" sz="1600" b="1">
                <a:latin typeface="Arial Narrow" pitchFamily="34" charset="0"/>
              </a:rPr>
            </a:br>
            <a:r>
              <a:rPr lang="en-US" sz="1600" b="1">
                <a:latin typeface="Arial Narrow" pitchFamily="34" charset="0"/>
              </a:rPr>
              <a:t>system</a:t>
            </a:r>
            <a:br>
              <a:rPr lang="en-US" sz="1600" b="1">
                <a:latin typeface="Arial Narrow" pitchFamily="34" charset="0"/>
              </a:rPr>
            </a:br>
            <a:r>
              <a:rPr lang="en-US" sz="1600" b="1">
                <a:latin typeface="Arial Narrow" pitchFamily="34" charset="0"/>
              </a:rPr>
              <a:t>100–250 PF</a:t>
            </a:r>
          </a:p>
        </p:txBody>
      </p:sp>
      <p:sp>
        <p:nvSpPr>
          <p:cNvPr id="17436" name="Rectangle 32"/>
          <p:cNvSpPr>
            <a:spLocks noChangeArrowheads="1"/>
          </p:cNvSpPr>
          <p:nvPr/>
        </p:nvSpPr>
        <p:spPr bwMode="auto">
          <a:xfrm>
            <a:off x="2171700" y="2955925"/>
            <a:ext cx="1358900" cy="53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Cray XT4</a:t>
            </a:r>
          </a:p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119 TF</a:t>
            </a:r>
          </a:p>
        </p:txBody>
      </p:sp>
      <p:sp>
        <p:nvSpPr>
          <p:cNvPr id="17437" name="Rectangle 32"/>
          <p:cNvSpPr>
            <a:spLocks noChangeArrowheads="1"/>
          </p:cNvSpPr>
          <p:nvPr/>
        </p:nvSpPr>
        <p:spPr bwMode="auto">
          <a:xfrm>
            <a:off x="1271588" y="3332163"/>
            <a:ext cx="1181100" cy="75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Cray XT3 </a:t>
            </a:r>
          </a:p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Dual-core</a:t>
            </a:r>
          </a:p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54 TF</a:t>
            </a:r>
          </a:p>
        </p:txBody>
      </p:sp>
      <p:sp>
        <p:nvSpPr>
          <p:cNvPr id="17438" name="Rectangle 32"/>
          <p:cNvSpPr>
            <a:spLocks noChangeArrowheads="1"/>
          </p:cNvSpPr>
          <p:nvPr/>
        </p:nvSpPr>
        <p:spPr bwMode="auto">
          <a:xfrm>
            <a:off x="3228975" y="2066925"/>
            <a:ext cx="1379538" cy="97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Cray XT4 Quad-core</a:t>
            </a:r>
          </a:p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263 TF</a:t>
            </a:r>
          </a:p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62 TB, 1 PB</a:t>
            </a:r>
          </a:p>
        </p:txBody>
      </p:sp>
      <p:sp>
        <p:nvSpPr>
          <p:cNvPr id="17439" name="Rectangle 32"/>
          <p:cNvSpPr>
            <a:spLocks noChangeArrowheads="1"/>
          </p:cNvSpPr>
          <p:nvPr/>
        </p:nvSpPr>
        <p:spPr bwMode="auto">
          <a:xfrm>
            <a:off x="-38100" y="4251325"/>
            <a:ext cx="1095375" cy="53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Cray X1</a:t>
            </a:r>
          </a:p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3 TF</a:t>
            </a:r>
          </a:p>
        </p:txBody>
      </p:sp>
      <p:sp>
        <p:nvSpPr>
          <p:cNvPr id="17440" name="Rectangle 32"/>
          <p:cNvSpPr>
            <a:spLocks noChangeArrowheads="1"/>
          </p:cNvSpPr>
          <p:nvPr/>
        </p:nvSpPr>
        <p:spPr bwMode="auto">
          <a:xfrm>
            <a:off x="287338" y="5580063"/>
            <a:ext cx="2160587" cy="75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Cray XT3</a:t>
            </a:r>
          </a:p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Single-core</a:t>
            </a:r>
          </a:p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26 TF</a:t>
            </a:r>
          </a:p>
        </p:txBody>
      </p:sp>
      <p:sp>
        <p:nvSpPr>
          <p:cNvPr id="17441" name="Rectangle 32"/>
          <p:cNvSpPr>
            <a:spLocks noChangeArrowheads="1"/>
          </p:cNvSpPr>
          <p:nvPr/>
        </p:nvSpPr>
        <p:spPr bwMode="auto">
          <a:xfrm>
            <a:off x="7191375" y="2351088"/>
            <a:ext cx="1920875" cy="979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Future </a:t>
            </a:r>
            <a:br>
              <a:rPr lang="en-US" sz="1600" b="1">
                <a:latin typeface="Arial Narrow" pitchFamily="34" charset="0"/>
              </a:rPr>
            </a:br>
            <a:r>
              <a:rPr lang="en-US" sz="1600" b="1">
                <a:latin typeface="Arial Narrow" pitchFamily="34" charset="0"/>
              </a:rPr>
              <a:t>system</a:t>
            </a:r>
            <a:br>
              <a:rPr lang="en-US" sz="1600" b="1">
                <a:latin typeface="Arial Narrow" pitchFamily="34" charset="0"/>
              </a:rPr>
            </a:br>
            <a:r>
              <a:rPr lang="en-US" sz="1600" b="1">
                <a:latin typeface="Arial Narrow" pitchFamily="34" charset="0"/>
              </a:rPr>
              <a:t>1000 PF</a:t>
            </a:r>
            <a:br>
              <a:rPr lang="en-US" sz="1600" b="1">
                <a:latin typeface="Arial Narrow" pitchFamily="34" charset="0"/>
              </a:rPr>
            </a:br>
            <a:r>
              <a:rPr lang="en-US" sz="1600" b="1">
                <a:latin typeface="Arial Narrow" pitchFamily="34" charset="0"/>
              </a:rPr>
              <a:t>(1 EF)</a:t>
            </a:r>
          </a:p>
        </p:txBody>
      </p:sp>
      <p:pic>
        <p:nvPicPr>
          <p:cNvPr id="17442" name="Picture 39" descr="cascade"/>
          <p:cNvPicPr>
            <a:picLocks noChangeAspect="1" noChangeArrowheads="1"/>
          </p:cNvPicPr>
          <p:nvPr/>
        </p:nvPicPr>
        <p:blipFill>
          <a:blip r:embed="rId3"/>
          <a:srcRect r="2242"/>
          <a:stretch>
            <a:fillRect/>
          </a:stretch>
        </p:blipFill>
        <p:spPr bwMode="auto">
          <a:xfrm>
            <a:off x="6076950" y="4343400"/>
            <a:ext cx="2838450" cy="203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43" name="Picture 43" descr="DH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91200" y="914400"/>
            <a:ext cx="2028825" cy="123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44" name="Rectangle 31"/>
          <p:cNvSpPr>
            <a:spLocks noChangeArrowheads="1"/>
          </p:cNvSpPr>
          <p:nvPr/>
        </p:nvSpPr>
        <p:spPr bwMode="auto">
          <a:xfrm>
            <a:off x="3146425" y="4648200"/>
            <a:ext cx="1550988" cy="97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Cray XT4</a:t>
            </a:r>
          </a:p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Quad-core</a:t>
            </a:r>
          </a:p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166 TF</a:t>
            </a:r>
          </a:p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18 TB, 0.3 PB</a:t>
            </a:r>
          </a:p>
        </p:txBody>
      </p:sp>
      <p:sp>
        <p:nvSpPr>
          <p:cNvPr id="17445" name="Rectangle 32"/>
          <p:cNvSpPr>
            <a:spLocks noChangeArrowheads="1"/>
          </p:cNvSpPr>
          <p:nvPr/>
        </p:nvSpPr>
        <p:spPr bwMode="auto">
          <a:xfrm>
            <a:off x="4257675" y="1284288"/>
            <a:ext cx="1544638" cy="1195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Cray “Baker”</a:t>
            </a:r>
          </a:p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8-core, dual-socket SMP </a:t>
            </a:r>
          </a:p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1.4 PF</a:t>
            </a:r>
          </a:p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300 TB, 10 PB</a:t>
            </a:r>
          </a:p>
        </p:txBody>
      </p:sp>
      <p:sp>
        <p:nvSpPr>
          <p:cNvPr id="17446" name="Text Box 48"/>
          <p:cNvSpPr txBox="1">
            <a:spLocks noChangeArrowheads="1"/>
          </p:cNvSpPr>
          <p:nvPr/>
        </p:nvSpPr>
        <p:spPr bwMode="auto">
          <a:xfrm>
            <a:off x="1085850" y="4856163"/>
            <a:ext cx="555625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>
                <a:latin typeface="Arial Narrow" pitchFamily="34" charset="0"/>
              </a:rPr>
              <a:t>2005</a:t>
            </a:r>
          </a:p>
        </p:txBody>
      </p:sp>
      <p:pic>
        <p:nvPicPr>
          <p:cNvPr id="41" name="Picture 40" descr="DOE logo new 2005 shad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9800" y="1255713"/>
            <a:ext cx="763588" cy="7651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2" name="Picture 41" descr="NSF_color_logo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648200" y="5334000"/>
            <a:ext cx="774700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449" name="Picture 94" descr="2007-P00019_XT4_cut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-228600" y="1600200"/>
            <a:ext cx="3681413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3425" y="709613"/>
            <a:ext cx="7677150" cy="543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3900" y="542925"/>
            <a:ext cx="7696200" cy="577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04" y="177114"/>
            <a:ext cx="8727996" cy="406265"/>
          </a:xfrm>
        </p:spPr>
        <p:txBody>
          <a:bodyPr/>
          <a:lstStyle/>
          <a:p>
            <a:r>
              <a:rPr lang="en-US" sz="2400" dirty="0" smtClean="0"/>
              <a:t>Scientific Grand Challenges Workshop Series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228600" y="838200"/>
            <a:ext cx="8458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 smtClean="0"/>
              <a:t>Enabling science communities to address scientific grand challenges through extreme scale computational science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1676400"/>
            <a:ext cx="338105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Workshop series: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Climate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Science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High-Energy Physics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Nuclear Physics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Fusion Energy Sciences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Nuclear Energy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Biology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Materials Science and Chemistry</a:t>
            </a:r>
          </a:p>
        </p:txBody>
      </p:sp>
      <p:pic>
        <p:nvPicPr>
          <p:cNvPr id="37891" name="Picture 3" descr="nuclear physic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8600" y="1600200"/>
            <a:ext cx="4498258" cy="22860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4191000" y="3962400"/>
            <a:ext cx="38716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26-28 January 2009, Washington, DC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109 participants; DOE/NSF/NNSA reps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8200" y="4648200"/>
            <a:ext cx="745172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The Nuclear Physics Workshop defined Priority Research Directions in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Nuclear Astrophysics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Cold QCD and Nuclear Forces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Nuclear Structure and Reactions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Accelerator Physics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Hot and Dense QCD</a:t>
            </a:r>
            <a:endParaRPr lang="en-US" dirty="0"/>
          </a:p>
        </p:txBody>
      </p:sp>
      <p:pic>
        <p:nvPicPr>
          <p:cNvPr id="37893" name="Picture 5" descr="science banne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00650" y="6172200"/>
            <a:ext cx="3943350" cy="685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04" y="177114"/>
            <a:ext cx="8229600" cy="880369"/>
          </a:xfrm>
        </p:spPr>
        <p:txBody>
          <a:bodyPr/>
          <a:lstStyle/>
          <a:p>
            <a:r>
              <a:rPr lang="en-US" dirty="0" err="1" smtClean="0"/>
              <a:t>Exa</a:t>
            </a:r>
            <a:r>
              <a:rPr lang="en-US" dirty="0" smtClean="0"/>
              <a:t>-scale computing will unify nuclear physics</a:t>
            </a:r>
            <a:endParaRPr lang="en-US" dirty="0"/>
          </a:p>
        </p:txBody>
      </p:sp>
      <p:pic>
        <p:nvPicPr>
          <p:cNvPr id="4" name="Picture 2" descr="do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447800"/>
            <a:ext cx="2786707" cy="4600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3886200" y="3048000"/>
            <a:ext cx="1248769" cy="2483068"/>
            <a:chOff x="2664" y="1808"/>
            <a:chExt cx="1524" cy="2304"/>
          </a:xfrm>
        </p:grpSpPr>
        <p:sp>
          <p:nvSpPr>
            <p:cNvPr id="6" name="AutoShape 7"/>
            <p:cNvSpPr>
              <a:spLocks/>
            </p:cNvSpPr>
            <p:nvPr/>
          </p:nvSpPr>
          <p:spPr bwMode="auto">
            <a:xfrm>
              <a:off x="2664" y="1808"/>
              <a:ext cx="384" cy="2304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38100">
              <a:solidFill>
                <a:srgbClr val="004080"/>
              </a:solidFill>
              <a:round/>
              <a:headEnd/>
              <a:tailEnd/>
            </a:ln>
            <a:effectLst>
              <a:outerShdw blurRad="63500" dist="38099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Text Box 10"/>
            <p:cNvSpPr txBox="1">
              <a:spLocks noChangeArrowheads="1"/>
            </p:cNvSpPr>
            <p:nvPr/>
          </p:nvSpPr>
          <p:spPr bwMode="auto">
            <a:xfrm>
              <a:off x="3166" y="2816"/>
              <a:ext cx="1022" cy="4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Nuclear </a:t>
              </a:r>
              <a:endParaRPr lang="en-US" dirty="0" smtClean="0"/>
            </a:p>
            <a:p>
              <a:r>
                <a:rPr lang="en-US" dirty="0" smtClean="0"/>
                <a:t>Structure</a:t>
              </a:r>
              <a:endParaRPr lang="en-US" dirty="0"/>
            </a:p>
          </p:txBody>
        </p:sp>
      </p:grpSp>
      <p:pic>
        <p:nvPicPr>
          <p:cNvPr id="8" name="Picture 2" descr="landscapeB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3733800"/>
            <a:ext cx="2754290" cy="2206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1028" descr="landscape_log"/>
          <p:cNvPicPr>
            <a:picLocks noChangeAspect="1" noChangeArrowheads="1"/>
          </p:cNvPicPr>
          <p:nvPr/>
        </p:nvPicPr>
        <p:blipFill>
          <a:blip r:embed="rId4"/>
          <a:srcRect l="6824" r="10165" b="3346"/>
          <a:stretch>
            <a:fillRect/>
          </a:stretch>
        </p:blipFill>
        <p:spPr bwMode="auto">
          <a:xfrm>
            <a:off x="5181600" y="990600"/>
            <a:ext cx="3057433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3733800" y="1066800"/>
            <a:ext cx="783021" cy="2023240"/>
            <a:chOff x="2664" y="1808"/>
            <a:chExt cx="1519" cy="2304"/>
          </a:xfrm>
        </p:grpSpPr>
        <p:sp>
          <p:nvSpPr>
            <p:cNvPr id="11" name="AutoShape 7"/>
            <p:cNvSpPr>
              <a:spLocks/>
            </p:cNvSpPr>
            <p:nvPr/>
          </p:nvSpPr>
          <p:spPr bwMode="auto">
            <a:xfrm>
              <a:off x="2664" y="1808"/>
              <a:ext cx="384" cy="2304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38100">
              <a:solidFill>
                <a:srgbClr val="004080"/>
              </a:solidFill>
              <a:round/>
              <a:headEnd/>
              <a:tailEnd/>
            </a:ln>
            <a:effectLst>
              <a:outerShdw blurRad="63500" dist="38099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3166" y="2816"/>
              <a:ext cx="1017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 smtClean="0"/>
                <a:t>QCD</a:t>
              </a:r>
            </a:p>
          </p:txBody>
        </p:sp>
      </p:grpSp>
      <p:sp>
        <p:nvSpPr>
          <p:cNvPr id="14" name="Right Arrow 13"/>
          <p:cNvSpPr/>
          <p:nvPr/>
        </p:nvSpPr>
        <p:spPr bwMode="auto">
          <a:xfrm>
            <a:off x="3523593" y="6314090"/>
            <a:ext cx="646386" cy="204951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sng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59165" y="6090334"/>
            <a:ext cx="3153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Applications in astrophysics, </a:t>
            </a:r>
          </a:p>
          <a:p>
            <a:r>
              <a:rPr lang="en-US" dirty="0" smtClean="0"/>
              <a:t>defense, energy, and medicine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93" decel="1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193" decel="100000"/>
                                        <p:tgtEl>
                                          <p:spTgt spid="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308" accel="100000" fill="hold">
                                          <p:stCondLst>
                                            <p:cond delay="193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193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308" accel="100000" fill="hold">
                                          <p:stCondLst>
                                            <p:cond delay="193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193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308" accel="100000" fill="hold">
                                          <p:stCondLst>
                                            <p:cond delay="193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93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193" decel="100000"/>
                                        <p:tgtEl>
                                          <p:spTgt spid="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0" dur="308" accel="100000" fill="hold">
                                          <p:stCondLst>
                                            <p:cond delay="193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1" dur="193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2" dur="308" accel="100000" fill="hold">
                                          <p:stCondLst>
                                            <p:cond delay="193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3" dur="193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4" dur="308" accel="100000" fill="hold">
                                          <p:stCondLst>
                                            <p:cond delay="193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04" y="177114"/>
            <a:ext cx="8229600" cy="877163"/>
          </a:xfrm>
        </p:spPr>
        <p:txBody>
          <a:bodyPr/>
          <a:lstStyle/>
          <a:p>
            <a:r>
              <a:rPr lang="en-US" dirty="0" err="1" smtClean="0"/>
              <a:t>Exa</a:t>
            </a:r>
            <a:r>
              <a:rPr lang="en-US" dirty="0" smtClean="0"/>
              <a:t>-scale computing will unify nuclear physics</a:t>
            </a:r>
            <a:endParaRPr lang="en-US" dirty="0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9600" y="4800600"/>
            <a:ext cx="3646346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134446"/>
            <a:ext cx="1600200" cy="1294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09800" y="1143000"/>
            <a:ext cx="1245577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04800" y="3048000"/>
            <a:ext cx="1524000" cy="1229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2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057400" y="3124200"/>
            <a:ext cx="147917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3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953000" y="1066800"/>
            <a:ext cx="287655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28600" y="2438400"/>
            <a:ext cx="15888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Cold QCD and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Nuclear Forces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09800" y="2438400"/>
            <a:ext cx="13901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Nuclear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Astrophysics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8600" y="4572000"/>
            <a:ext cx="18197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Nuclear Structure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Reactions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57400" y="4572000"/>
            <a:ext cx="1556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Hot and Dense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QCD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867400" y="2743200"/>
            <a:ext cx="1018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HEP</a:t>
            </a:r>
          </a:p>
          <a:p>
            <a:pPr algn="ctr"/>
            <a:r>
              <a:rPr lang="en-US" dirty="0" smtClean="0"/>
              <a:t>neutrino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267200" y="3581400"/>
            <a:ext cx="41601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Equation of state of nuclear material?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Kaon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(strange meson) Condensates?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Sigma (strange) Baryons?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 SN1987A a black hole or a neutron star?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04" y="177114"/>
            <a:ext cx="8229600" cy="880369"/>
          </a:xfrm>
        </p:spPr>
        <p:txBody>
          <a:bodyPr/>
          <a:lstStyle/>
          <a:p>
            <a:r>
              <a:rPr lang="en-US" dirty="0" smtClean="0"/>
              <a:t>Nuclear Physics Requires Exascale Computing</a:t>
            </a:r>
            <a:endParaRPr lang="en-US" dirty="0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8663" y="985838"/>
            <a:ext cx="7686675" cy="48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Observations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204" y="1344823"/>
            <a:ext cx="8229600" cy="4748992"/>
          </a:xfrm>
        </p:spPr>
        <p:txBody>
          <a:bodyPr/>
          <a:lstStyle/>
          <a:p>
            <a:r>
              <a:rPr lang="en-US" dirty="0" smtClean="0"/>
              <a:t>Extreme scale computing requires collaborations</a:t>
            </a:r>
          </a:p>
          <a:p>
            <a:pPr lvl="1"/>
            <a:r>
              <a:rPr lang="en-US" dirty="0" smtClean="0"/>
              <a:t>Among domain specific scientists, applied mathematicians, and computer scientists</a:t>
            </a:r>
          </a:p>
          <a:p>
            <a:r>
              <a:rPr lang="en-US" dirty="0" smtClean="0"/>
              <a:t>Some of the most interesting physics outcomes will be at the interfaces: </a:t>
            </a:r>
          </a:p>
          <a:p>
            <a:pPr lvl="1"/>
            <a:r>
              <a:rPr lang="en-US" dirty="0" smtClean="0"/>
              <a:t>QCD to forces to </a:t>
            </a:r>
            <a:r>
              <a:rPr lang="en-US" dirty="0" smtClean="0"/>
              <a:t>structure</a:t>
            </a:r>
            <a:endParaRPr lang="en-US" dirty="0" smtClean="0"/>
          </a:p>
          <a:p>
            <a:pPr lvl="1"/>
            <a:r>
              <a:rPr lang="en-US" dirty="0" smtClean="0"/>
              <a:t>structure and reactions with nuclear astrophysics</a:t>
            </a:r>
          </a:p>
          <a:p>
            <a:r>
              <a:rPr lang="en-US" dirty="0" smtClean="0"/>
              <a:t>Opportunity to increase knowledge and leverage large investments in experimental facilities </a:t>
            </a:r>
            <a:endParaRPr lang="en-US" dirty="0" smtClean="0"/>
          </a:p>
          <a:p>
            <a:r>
              <a:rPr lang="en-US" dirty="0" smtClean="0"/>
              <a:t>Technology breakthroughs must occur</a:t>
            </a:r>
            <a:endParaRPr lang="en-US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RNL 0812 new">
      <a:dk1>
        <a:sysClr val="windowText" lastClr="000000"/>
      </a:dk1>
      <a:lt1>
        <a:sysClr val="window" lastClr="FFFFFF"/>
      </a:lt1>
      <a:dk2>
        <a:srgbClr val="006C3A"/>
      </a:dk2>
      <a:lt2>
        <a:srgbClr val="FFFFFF"/>
      </a:lt2>
      <a:accent1>
        <a:srgbClr val="4F81BD"/>
      </a:accent1>
      <a:accent2>
        <a:srgbClr val="C0504D"/>
      </a:accent2>
      <a:accent3>
        <a:srgbClr val="00B274"/>
      </a:accent3>
      <a:accent4>
        <a:srgbClr val="F79646"/>
      </a:accent4>
      <a:accent5>
        <a:srgbClr val="4BACC6"/>
      </a:accent5>
      <a:accent6>
        <a:srgbClr val="8064A2"/>
      </a:accent6>
      <a:hlink>
        <a:srgbClr val="1F497D"/>
      </a:hlink>
      <a:folHlink>
        <a:srgbClr val="006C3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UTB-template_beige">
  <a:themeElements>
    <a:clrScheme name="">
      <a:dk1>
        <a:srgbClr val="000000"/>
      </a:dk1>
      <a:lt1>
        <a:srgbClr val="FFFFCC"/>
      </a:lt1>
      <a:dk2>
        <a:srgbClr val="00673E"/>
      </a:dk2>
      <a:lt2>
        <a:srgbClr val="777777"/>
      </a:lt2>
      <a:accent1>
        <a:srgbClr val="002E8A"/>
      </a:accent1>
      <a:accent2>
        <a:srgbClr val="FFCC66"/>
      </a:accent2>
      <a:accent3>
        <a:srgbClr val="FFFFE2"/>
      </a:accent3>
      <a:accent4>
        <a:srgbClr val="000000"/>
      </a:accent4>
      <a:accent5>
        <a:srgbClr val="AAADC4"/>
      </a:accent5>
      <a:accent6>
        <a:srgbClr val="E7B95C"/>
      </a:accent6>
      <a:hlink>
        <a:srgbClr val="66007B"/>
      </a:hlink>
      <a:folHlink>
        <a:srgbClr val="4A848A"/>
      </a:folHlink>
    </a:clrScheme>
    <a:fontScheme name="1_UTB-template_beige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1_UTB-template_beig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UTB-template_beig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UTB-template_beig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UTB-template_beig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UTB-template_beig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UTB-template_beig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UTB-template_beig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UTB-template_beige 8">
        <a:dk1>
          <a:srgbClr val="000000"/>
        </a:dk1>
        <a:lt1>
          <a:srgbClr val="FFFFCC"/>
        </a:lt1>
        <a:dk2>
          <a:srgbClr val="00673E"/>
        </a:dk2>
        <a:lt2>
          <a:srgbClr val="B5947B"/>
        </a:lt2>
        <a:accent1>
          <a:srgbClr val="339933"/>
        </a:accent1>
        <a:accent2>
          <a:srgbClr val="993366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8A2D5C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3157</TotalTime>
  <Words>325</Words>
  <Application>Microsoft Office PowerPoint</Application>
  <PresentationFormat>On-screen Show (4:3)</PresentationFormat>
  <Paragraphs>90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Default Theme</vt:lpstr>
      <vt:lpstr>1_UTB-template_beige</vt:lpstr>
      <vt:lpstr>Computational nuclear physics in the next decade </vt:lpstr>
      <vt:lpstr>Million-fold increase in computing and data capabilities (ORNL)</vt:lpstr>
      <vt:lpstr>Slide 3</vt:lpstr>
      <vt:lpstr>Slide 4</vt:lpstr>
      <vt:lpstr>Scientific Grand Challenges Workshop Series</vt:lpstr>
      <vt:lpstr>Exa-scale computing will unify nuclear physics</vt:lpstr>
      <vt:lpstr>Exa-scale computing will unify nuclear physics</vt:lpstr>
      <vt:lpstr>Nuclear Physics Requires Exascale Computing</vt:lpstr>
      <vt:lpstr>Other Observations</vt:lpstr>
    </vt:vector>
  </TitlesOfParts>
  <Company>ORNL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Donna Jo Roy</dc:creator>
  <cp:lastModifiedBy>David Dean</cp:lastModifiedBy>
  <cp:revision>284</cp:revision>
  <dcterms:created xsi:type="dcterms:W3CDTF">2008-12-10T13:33:36Z</dcterms:created>
  <dcterms:modified xsi:type="dcterms:W3CDTF">2009-02-23T22:24:49Z</dcterms:modified>
</cp:coreProperties>
</file>