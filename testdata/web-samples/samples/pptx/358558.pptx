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0" r:id="rId3"/>
    <p:sldId id="293" r:id="rId4"/>
    <p:sldId id="317" r:id="rId5"/>
    <p:sldId id="329" r:id="rId6"/>
    <p:sldId id="313" r:id="rId7"/>
    <p:sldId id="301" r:id="rId8"/>
    <p:sldId id="305" r:id="rId9"/>
    <p:sldId id="315" r:id="rId10"/>
    <p:sldId id="306" r:id="rId11"/>
    <p:sldId id="323" r:id="rId12"/>
    <p:sldId id="324" r:id="rId13"/>
    <p:sldId id="309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FF99"/>
    <a:srgbClr val="6600FF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-5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308EF-607D-4ADB-BE13-81F084CFBF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893E46-116F-4024-A3C2-7DC4DB6DF97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EAB1CF-3398-406B-82F8-8F15251E9C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BB0CA7-0832-405E-9BB7-03419B72001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7A91C-0B67-4CB4-BB48-B63FEAC240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1799C5-C79A-4DFF-8B02-4867B02B31B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0F547F-0B0D-4EB6-88D6-2A1C1B4186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B930DE-BCA7-40C6-8D58-272A9268A9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55CF6F-96EA-4B30-9F64-A10921E2AC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290628-BE13-4A1A-A7D2-6A6005DE376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99665F-9E8B-4180-80F2-1B9F16B070F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BE2F234-1189-4638-BBD2-18CEAEED8D3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D1A509C-C0AF-4634-A11A-610966F346C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P:\My%20Documents\Legg\Courantfinal\Hawaii_U5.mp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4.xml"/><Relationship Id="rId1" Type="http://schemas.openxmlformats.org/officeDocument/2006/relationships/video" Target="file:///P:\My%20Documents\Legg\Courantfinal\Slope1_U5_gradual.mp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</p:spPr>
        <p:txBody>
          <a:bodyPr/>
          <a:lstStyle/>
          <a:p>
            <a:r>
              <a:rPr lang="en-US" sz="4000">
                <a:solidFill>
                  <a:srgbClr val="FF0000"/>
                </a:solidFill>
              </a:rPr>
              <a:t>Internal hydraulic jumps and overturning generated by tidal flow over a tall steep ridge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solidFill>
                  <a:srgbClr val="6600FF"/>
                </a:solidFill>
              </a:rPr>
              <a:t>Sonya Legg</a:t>
            </a:r>
          </a:p>
          <a:p>
            <a:r>
              <a:rPr lang="en-US"/>
              <a:t>Princeton University, NOAA-GFDL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498850" y="5160963"/>
            <a:ext cx="22018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6600FF"/>
                </a:solidFill>
              </a:rPr>
              <a:t>Jody Klymak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930525" y="5776913"/>
            <a:ext cx="3429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University of Victoria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rgbClr val="FF0000"/>
                </a:solidFill>
              </a:rPr>
              <a:t>Hawaiian Ocean Mixing Experiment: Observations at Kaena Ridge</a:t>
            </a:r>
          </a:p>
        </p:txBody>
      </p:sp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725" y="1384300"/>
            <a:ext cx="6029325" cy="277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4933" name="Picture 5"/>
          <p:cNvPicPr>
            <a:picLocks noChangeAspect="1" noChangeArrowheads="1"/>
          </p:cNvPicPr>
          <p:nvPr/>
        </p:nvPicPr>
        <p:blipFill>
          <a:blip r:embed="rId3"/>
          <a:srcRect t="7542" r="11632"/>
          <a:stretch>
            <a:fillRect/>
          </a:stretch>
        </p:blipFill>
        <p:spPr bwMode="auto">
          <a:xfrm>
            <a:off x="6665913" y="1517650"/>
            <a:ext cx="1978025" cy="519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4934" name="Text Box 6"/>
          <p:cNvSpPr txBox="1">
            <a:spLocks noChangeArrowheads="1"/>
          </p:cNvSpPr>
          <p:nvPr/>
        </p:nvSpPr>
        <p:spPr bwMode="auto">
          <a:xfrm>
            <a:off x="350838" y="5073650"/>
            <a:ext cx="55641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Strong dissipation observed during transition from offslope to onslope tidal flow at top of ridge</a:t>
            </a:r>
          </a:p>
        </p:txBody>
      </p:sp>
      <p:pic>
        <p:nvPicPr>
          <p:cNvPr id="124935" name="Picture 7"/>
          <p:cNvPicPr>
            <a:picLocks noChangeAspect="1" noChangeArrowheads="1"/>
          </p:cNvPicPr>
          <p:nvPr/>
        </p:nvPicPr>
        <p:blipFill>
          <a:blip r:embed="rId4"/>
          <a:srcRect l="41077"/>
          <a:stretch>
            <a:fillRect/>
          </a:stretch>
        </p:blipFill>
        <p:spPr bwMode="auto">
          <a:xfrm>
            <a:off x="6064250" y="1417638"/>
            <a:ext cx="636588" cy="502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4936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15175" y="1328738"/>
            <a:ext cx="10112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4937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064375" y="3768725"/>
            <a:ext cx="946150" cy="23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4938" name="Text Box 10"/>
          <p:cNvSpPr txBox="1">
            <a:spLocks noChangeArrowheads="1"/>
          </p:cNvSpPr>
          <p:nvPr/>
        </p:nvSpPr>
        <p:spPr bwMode="auto">
          <a:xfrm>
            <a:off x="379413" y="5853113"/>
            <a:ext cx="55864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Q: What is the cause of this high dissipation and associated overturning?</a:t>
            </a:r>
          </a:p>
        </p:txBody>
      </p:sp>
      <p:sp>
        <p:nvSpPr>
          <p:cNvPr id="124939" name="Text Box 11"/>
          <p:cNvSpPr txBox="1">
            <a:spLocks noChangeArrowheads="1"/>
          </p:cNvSpPr>
          <p:nvPr/>
        </p:nvSpPr>
        <p:spPr bwMode="auto">
          <a:xfrm>
            <a:off x="563563" y="4244975"/>
            <a:ext cx="419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Klymak, Pinkel and Rainville, JPO 2007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6925"/>
          </a:xfrm>
        </p:spPr>
        <p:txBody>
          <a:bodyPr/>
          <a:lstStyle/>
          <a:p>
            <a:r>
              <a:rPr lang="en-US" sz="2800">
                <a:solidFill>
                  <a:srgbClr val="FF0000"/>
                </a:solidFill>
              </a:rPr>
              <a:t>Hawaiian ridge simulations with MITgcm, stratification and topography from Kaena ridge</a:t>
            </a:r>
          </a:p>
        </p:txBody>
      </p:sp>
      <p:pic>
        <p:nvPicPr>
          <p:cNvPr id="62468" name="Hawaii_U5.mpg">
            <a:hlinkClick r:id="" action="ppaction://media"/>
          </p:cNvPr>
          <p:cNvPicPr>
            <a:picLocks noRot="1" noChangeAspect="1" noChangeArrowheads="1"/>
          </p:cNvPicPr>
          <p:nvPr>
            <p:ph idx="1"/>
            <a:videoFile r:link="rId1"/>
          </p:nvPr>
        </p:nvPicPr>
        <p:blipFill>
          <a:blip r:embed="rId3"/>
          <a:srcRect/>
          <a:stretch>
            <a:fillRect/>
          </a:stretch>
        </p:blipFill>
        <p:spPr>
          <a:xfrm>
            <a:off x="1095375" y="1584325"/>
            <a:ext cx="3543300" cy="3276600"/>
          </a:xfrm>
          <a:ln/>
        </p:spPr>
      </p:pic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2544763" y="4879975"/>
            <a:ext cx="742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46km</a:t>
            </a:r>
          </a:p>
        </p:txBody>
      </p:sp>
      <p:sp>
        <p:nvSpPr>
          <p:cNvPr id="62472" name="Line 8"/>
          <p:cNvSpPr>
            <a:spLocks noChangeShapeType="1"/>
          </p:cNvSpPr>
          <p:nvPr/>
        </p:nvSpPr>
        <p:spPr bwMode="auto">
          <a:xfrm>
            <a:off x="1144588" y="4916488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152400" y="1498600"/>
            <a:ext cx="831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-700m</a:t>
            </a:r>
          </a:p>
        </p:txBody>
      </p:sp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0" y="4691063"/>
            <a:ext cx="958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-1760m</a:t>
            </a:r>
          </a:p>
        </p:txBody>
      </p:sp>
      <p:sp>
        <p:nvSpPr>
          <p:cNvPr id="62475" name="Text Box 11"/>
          <p:cNvSpPr txBox="1">
            <a:spLocks noChangeArrowheads="1"/>
          </p:cNvSpPr>
          <p:nvPr/>
        </p:nvSpPr>
        <p:spPr bwMode="auto">
          <a:xfrm>
            <a:off x="277813" y="5272088"/>
            <a:ext cx="4822825" cy="14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Hawaiian ridge is tall and steep.</a:t>
            </a:r>
          </a:p>
          <a:p>
            <a:r>
              <a:rPr lang="en-US">
                <a:latin typeface="Symbol" pitchFamily="18" charset="2"/>
              </a:rPr>
              <a:t>g</a:t>
            </a:r>
            <a:r>
              <a:rPr lang="en-US"/>
              <a:t>&gt; 1, RL &lt; 1, Fr &lt;&lt; 1, h/H -&gt; 1.</a:t>
            </a:r>
            <a:endParaRPr lang="en-US">
              <a:latin typeface="Symbol" pitchFamily="18" charset="2"/>
            </a:endParaRPr>
          </a:p>
          <a:p>
            <a:r>
              <a:rPr lang="en-US"/>
              <a:t>Hydraulic jumps develop over steep slope during downslope flow: at flow reversal, jumps propagate upslope as internal bores.</a:t>
            </a:r>
          </a:p>
        </p:txBody>
      </p:sp>
      <p:sp>
        <p:nvSpPr>
          <p:cNvPr id="62476" name="Text Box 12"/>
          <p:cNvSpPr txBox="1">
            <a:spLocks noChangeArrowheads="1"/>
          </p:cNvSpPr>
          <p:nvPr/>
        </p:nvSpPr>
        <p:spPr bwMode="auto">
          <a:xfrm>
            <a:off x="604838" y="1166813"/>
            <a:ext cx="48387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Buoyancy field for U0=5cm/s, M2 tidal forcing.</a:t>
            </a:r>
          </a:p>
        </p:txBody>
      </p:sp>
      <p:sp>
        <p:nvSpPr>
          <p:cNvPr id="62477" name="Text Box 13"/>
          <p:cNvSpPr txBox="1">
            <a:spLocks noChangeArrowheads="1"/>
          </p:cNvSpPr>
          <p:nvPr/>
        </p:nvSpPr>
        <p:spPr bwMode="auto">
          <a:xfrm>
            <a:off x="5222875" y="5424488"/>
            <a:ext cx="37496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Asymmetric response: details of slope are important.</a:t>
            </a:r>
          </a:p>
        </p:txBody>
      </p:sp>
      <p:sp>
        <p:nvSpPr>
          <p:cNvPr id="62479" name="Text Box 15"/>
          <p:cNvSpPr txBox="1">
            <a:spLocks noChangeArrowheads="1"/>
          </p:cNvSpPr>
          <p:nvPr/>
        </p:nvSpPr>
        <p:spPr bwMode="auto">
          <a:xfrm>
            <a:off x="5078413" y="1762125"/>
            <a:ext cx="3692525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Model details: </a:t>
            </a:r>
          </a:p>
          <a:p>
            <a:pPr>
              <a:buFontTx/>
              <a:buChar char="•"/>
            </a:pPr>
            <a:r>
              <a:rPr lang="en-US"/>
              <a:t>2D nonhydrostatic simulations with resolution 115m X 9m near top of slope. </a:t>
            </a:r>
          </a:p>
          <a:p>
            <a:pPr>
              <a:buFontTx/>
              <a:buChar char="•"/>
            </a:pPr>
            <a:r>
              <a:rPr lang="en-US"/>
              <a:t>Total domain is 500km X 4300m. </a:t>
            </a:r>
          </a:p>
          <a:p>
            <a:pPr>
              <a:buFontTx/>
              <a:buChar char="•"/>
            </a:pPr>
            <a:r>
              <a:rPr lang="en-US"/>
              <a:t>Barotropic tide forced through a body forcing. </a:t>
            </a:r>
          </a:p>
          <a:p>
            <a:pPr>
              <a:buFontTx/>
              <a:buChar char="•"/>
            </a:pPr>
            <a:r>
              <a:rPr lang="en-US"/>
              <a:t>Open boundary conditions allow baroclinic tide to radiate away.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34" fill="hold"/>
                                        <p:tgtEl>
                                          <p:spTgt spid="624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6246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2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24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46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427" name="Object 3"/>
          <p:cNvGraphicFramePr>
            <a:graphicFrameLocks noChangeAspect="1"/>
          </p:cNvGraphicFramePr>
          <p:nvPr>
            <p:ph sz="half" idx="1"/>
          </p:nvPr>
        </p:nvGraphicFramePr>
        <p:xfrm>
          <a:off x="2419350" y="3754438"/>
          <a:ext cx="114300" cy="215900"/>
        </p:xfrm>
        <a:graphic>
          <a:graphicData uri="http://schemas.openxmlformats.org/presentationml/2006/ole">
            <p:oleObj spid="_x0000_s103427" name="Equation" r:id="rId3" imgW="114120" imgH="215640" progId="Equation.3">
              <p:embed/>
            </p:oleObj>
          </a:graphicData>
        </a:graphic>
      </p:graphicFrame>
      <p:graphicFrame>
        <p:nvGraphicFramePr>
          <p:cNvPr id="103435" name="Object 11"/>
          <p:cNvGraphicFramePr>
            <a:graphicFrameLocks noChangeAspect="1"/>
          </p:cNvGraphicFramePr>
          <p:nvPr>
            <p:ph sz="quarter" idx="2"/>
          </p:nvPr>
        </p:nvGraphicFramePr>
        <p:xfrm>
          <a:off x="1709738" y="4941888"/>
          <a:ext cx="2355850" cy="1127125"/>
        </p:xfrm>
        <a:graphic>
          <a:graphicData uri="http://schemas.openxmlformats.org/presentationml/2006/ole">
            <p:oleObj spid="_x0000_s103435" name="Equation" r:id="rId4" imgW="901440" imgH="431640" progId="Equation.3">
              <p:embed/>
            </p:oleObj>
          </a:graphicData>
        </a:graphic>
      </p:graphicFrame>
      <p:sp>
        <p:nvSpPr>
          <p:cNvPr id="103433" name="Text Box 9"/>
          <p:cNvSpPr txBox="1">
            <a:spLocks noChangeArrowheads="1"/>
          </p:cNvSpPr>
          <p:nvPr/>
        </p:nvSpPr>
        <p:spPr bwMode="auto">
          <a:xfrm>
            <a:off x="0" y="2643188"/>
            <a:ext cx="893127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In tidally oscillating flow, if RL &lt; 1, fluid does not feel full height of topography within a tidal cycle. Instead the vertical scale of topography experienced by flow is the vertical tidal displacement:</a:t>
            </a:r>
          </a:p>
        </p:txBody>
      </p:sp>
      <p:graphicFrame>
        <p:nvGraphicFramePr>
          <p:cNvPr id="103436" name="Object 12"/>
          <p:cNvGraphicFramePr>
            <a:graphicFrameLocks noChangeAspect="1"/>
          </p:cNvGraphicFramePr>
          <p:nvPr/>
        </p:nvGraphicFramePr>
        <p:xfrm>
          <a:off x="2430463" y="3360738"/>
          <a:ext cx="1676400" cy="1035050"/>
        </p:xfrm>
        <a:graphic>
          <a:graphicData uri="http://schemas.openxmlformats.org/presentationml/2006/ole">
            <p:oleObj spid="_x0000_s103436" name="Equation" r:id="rId5" imgW="685800" imgH="393480" progId="Equation.3">
              <p:embed/>
            </p:oleObj>
          </a:graphicData>
        </a:graphic>
      </p:graphicFrame>
      <p:sp>
        <p:nvSpPr>
          <p:cNvPr id="103438" name="Text Box 14"/>
          <p:cNvSpPr txBox="1">
            <a:spLocks noChangeArrowheads="1"/>
          </p:cNvSpPr>
          <p:nvPr/>
        </p:nvSpPr>
        <p:spPr bwMode="auto">
          <a:xfrm>
            <a:off x="5283200" y="5207000"/>
            <a:ext cx="552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i.e. </a:t>
            </a:r>
          </a:p>
        </p:txBody>
      </p:sp>
      <p:graphicFrame>
        <p:nvGraphicFramePr>
          <p:cNvPr id="103439" name="Object 15"/>
          <p:cNvGraphicFramePr>
            <a:graphicFrameLocks noChangeAspect="1"/>
          </p:cNvGraphicFramePr>
          <p:nvPr/>
        </p:nvGraphicFramePr>
        <p:xfrm>
          <a:off x="6705600" y="4953000"/>
          <a:ext cx="1447800" cy="955675"/>
        </p:xfrm>
        <a:graphic>
          <a:graphicData uri="http://schemas.openxmlformats.org/presentationml/2006/ole">
            <p:oleObj spid="_x0000_s103439" name="Equation" r:id="rId6" imgW="596880" imgH="393480" progId="Equation.3">
              <p:embed/>
            </p:oleObj>
          </a:graphicData>
        </a:graphic>
      </p:graphicFrame>
      <p:sp>
        <p:nvSpPr>
          <p:cNvPr id="103440" name="Text Box 16"/>
          <p:cNvSpPr txBox="1">
            <a:spLocks noChangeArrowheads="1"/>
          </p:cNvSpPr>
          <p:nvPr/>
        </p:nvSpPr>
        <p:spPr bwMode="auto">
          <a:xfrm>
            <a:off x="155575" y="6161088"/>
            <a:ext cx="88439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So transient jump-like waves may be possible if slope is sufficiently steep that Fr</a:t>
            </a:r>
            <a:r>
              <a:rPr lang="en-US">
                <a:solidFill>
                  <a:srgbClr val="6600FF"/>
                </a:solidFill>
                <a:latin typeface="Symbol" pitchFamily="18" charset="2"/>
              </a:rPr>
              <a:t>w</a:t>
            </a:r>
            <a:r>
              <a:rPr lang="en-US">
                <a:solidFill>
                  <a:srgbClr val="6600FF"/>
                </a:solidFill>
              </a:rPr>
              <a:t> &lt; 1</a:t>
            </a:r>
          </a:p>
        </p:txBody>
      </p:sp>
      <p:sp>
        <p:nvSpPr>
          <p:cNvPr id="103444" name="Text Box 20"/>
          <p:cNvSpPr txBox="1">
            <a:spLocks noChangeArrowheads="1"/>
          </p:cNvSpPr>
          <p:nvPr/>
        </p:nvSpPr>
        <p:spPr bwMode="auto">
          <a:xfrm>
            <a:off x="1000125" y="209550"/>
            <a:ext cx="76469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Role of topographic slope in generating transient jumps</a:t>
            </a:r>
          </a:p>
        </p:txBody>
      </p:sp>
      <p:sp>
        <p:nvSpPr>
          <p:cNvPr id="103445" name="Text Box 21"/>
          <p:cNvSpPr txBox="1">
            <a:spLocks noChangeArrowheads="1"/>
          </p:cNvSpPr>
          <p:nvPr/>
        </p:nvSpPr>
        <p:spPr bwMode="auto">
          <a:xfrm>
            <a:off x="271463" y="958850"/>
            <a:ext cx="7359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steady state flows, strongly nonlinear leewaves are generated when </a:t>
            </a:r>
          </a:p>
        </p:txBody>
      </p:sp>
      <p:graphicFrame>
        <p:nvGraphicFramePr>
          <p:cNvPr id="103446" name="Object 22"/>
          <p:cNvGraphicFramePr>
            <a:graphicFrameLocks noChangeAspect="1"/>
          </p:cNvGraphicFramePr>
          <p:nvPr>
            <p:ph sz="quarter" idx="3"/>
          </p:nvPr>
        </p:nvGraphicFramePr>
        <p:xfrm>
          <a:off x="927100" y="1355725"/>
          <a:ext cx="2306638" cy="1171575"/>
        </p:xfrm>
        <a:graphic>
          <a:graphicData uri="http://schemas.openxmlformats.org/presentationml/2006/ole">
            <p:oleObj spid="_x0000_s103446" name="Equation" r:id="rId7" imgW="774360" imgH="393480" progId="Equation.3">
              <p:embed/>
            </p:oleObj>
          </a:graphicData>
        </a:graphic>
      </p:graphicFrame>
      <p:sp>
        <p:nvSpPr>
          <p:cNvPr id="103449" name="Text Box 25"/>
          <p:cNvSpPr txBox="1">
            <a:spLocks noChangeArrowheads="1"/>
          </p:cNvSpPr>
          <p:nvPr/>
        </p:nvSpPr>
        <p:spPr bwMode="auto">
          <a:xfrm>
            <a:off x="3878263" y="1611313"/>
            <a:ext cx="4337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Fr &lt;&lt; 1: flow is blocked by topography.</a:t>
            </a:r>
          </a:p>
          <a:p>
            <a:r>
              <a:rPr lang="en-US"/>
              <a:t>Fr &gt;&gt; 1: small amplitude linear leewaves.</a:t>
            </a:r>
          </a:p>
        </p:txBody>
      </p:sp>
      <p:sp>
        <p:nvSpPr>
          <p:cNvPr id="103450" name="Text Box 26"/>
          <p:cNvSpPr txBox="1">
            <a:spLocks noChangeArrowheads="1"/>
          </p:cNvSpPr>
          <p:nvPr/>
        </p:nvSpPr>
        <p:spPr bwMode="auto">
          <a:xfrm>
            <a:off x="144463" y="4435475"/>
            <a:ext cx="870108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By analogy with steady case, we expect strongly nonlinear waves if h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 is large enough 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ext Box 2"/>
          <p:cNvSpPr txBox="1">
            <a:spLocks noChangeArrowheads="1"/>
          </p:cNvSpPr>
          <p:nvPr/>
        </p:nvSpPr>
        <p:spPr bwMode="auto">
          <a:xfrm>
            <a:off x="1225550" y="0"/>
            <a:ext cx="612616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Evidence for importance of Fr: </a:t>
            </a:r>
          </a:p>
          <a:p>
            <a:r>
              <a:rPr lang="en-US" sz="2800">
                <a:solidFill>
                  <a:srgbClr val="FF0000"/>
                </a:solidFill>
              </a:rPr>
              <a:t> isopycnal displacement amplitude </a:t>
            </a:r>
            <a:r>
              <a:rPr lang="en-US" sz="2800">
                <a:solidFill>
                  <a:srgbClr val="FF0000"/>
                </a:solidFill>
                <a:latin typeface="Symbol" pitchFamily="18" charset="2"/>
              </a:rPr>
              <a:t>D</a:t>
            </a:r>
            <a:r>
              <a:rPr lang="en-US" sz="280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4660900" y="1052513"/>
            <a:ext cx="42021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Symbol" pitchFamily="18" charset="2"/>
              </a:rPr>
              <a:t>D</a:t>
            </a:r>
            <a:r>
              <a:rPr lang="en-US"/>
              <a:t>h v. vertical tidal excursion dh/dx U0/</a:t>
            </a:r>
            <a:r>
              <a:rPr lang="en-US">
                <a:latin typeface="Symbol" pitchFamily="18" charset="2"/>
              </a:rPr>
              <a:t>w</a:t>
            </a:r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869950" y="1093788"/>
            <a:ext cx="1276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Symbol" pitchFamily="18" charset="2"/>
              </a:rPr>
              <a:t>D</a:t>
            </a:r>
            <a:r>
              <a:rPr lang="en-US"/>
              <a:t>h v. U0/N</a:t>
            </a:r>
            <a:endParaRPr lang="en-US">
              <a:latin typeface="Symbol" pitchFamily="18" charset="2"/>
            </a:endParaRPr>
          </a:p>
        </p:txBody>
      </p: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490538" y="3879850"/>
            <a:ext cx="29067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Symbol" pitchFamily="18" charset="2"/>
              </a:rPr>
              <a:t>D</a:t>
            </a:r>
            <a:r>
              <a:rPr lang="en-US"/>
              <a:t>h v. dh/dx U0/</a:t>
            </a:r>
            <a:r>
              <a:rPr lang="en-US">
                <a:latin typeface="Symbol" pitchFamily="18" charset="2"/>
              </a:rPr>
              <a:t>w, </a:t>
            </a:r>
            <a:r>
              <a:rPr lang="en-US"/>
              <a:t>U0/N/0.3</a:t>
            </a:r>
            <a:endParaRPr lang="en-US">
              <a:latin typeface="Symbol" pitchFamily="18" charset="2"/>
            </a:endParaRPr>
          </a:p>
        </p:txBody>
      </p:sp>
      <p:pic>
        <p:nvPicPr>
          <p:cNvPr id="121863" name="Picture 7" descr="Maxdis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638" y="1423988"/>
            <a:ext cx="3055937" cy="2413000"/>
          </a:xfrm>
          <a:prstGeom prst="rect">
            <a:avLst/>
          </a:prstGeom>
          <a:noFill/>
        </p:spPr>
      </p:pic>
      <p:pic>
        <p:nvPicPr>
          <p:cNvPr id="121864" name="Picture 8" descr="Maxdisp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11738" y="1366838"/>
            <a:ext cx="3197225" cy="2493962"/>
          </a:xfrm>
          <a:prstGeom prst="rect">
            <a:avLst/>
          </a:prstGeom>
          <a:noFill/>
        </p:spPr>
      </p:pic>
      <p:pic>
        <p:nvPicPr>
          <p:cNvPr id="121865" name="Picture 9" descr="Maxdisp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1625" y="4230688"/>
            <a:ext cx="3175000" cy="2474912"/>
          </a:xfrm>
          <a:prstGeom prst="rect">
            <a:avLst/>
          </a:prstGeom>
          <a:noFill/>
        </p:spPr>
      </p:pic>
      <p:sp>
        <p:nvSpPr>
          <p:cNvPr id="121866" name="Text Box 10"/>
          <p:cNvSpPr txBox="1">
            <a:spLocks noChangeArrowheads="1"/>
          </p:cNvSpPr>
          <p:nvPr/>
        </p:nvSpPr>
        <p:spPr bwMode="auto">
          <a:xfrm>
            <a:off x="4246563" y="4162425"/>
            <a:ext cx="4738687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At large Fr, </a:t>
            </a:r>
            <a:r>
              <a:rPr lang="en-US">
                <a:solidFill>
                  <a:srgbClr val="6600FF"/>
                </a:solidFill>
                <a:latin typeface="Symbol" pitchFamily="18" charset="2"/>
              </a:rPr>
              <a:t>D</a:t>
            </a:r>
            <a:r>
              <a:rPr lang="en-US">
                <a:solidFill>
                  <a:srgbClr val="6600FF"/>
                </a:solidFill>
              </a:rPr>
              <a:t>h is governed by tidal excursion distance, but at small Fr, </a:t>
            </a:r>
            <a:r>
              <a:rPr lang="en-US">
                <a:solidFill>
                  <a:srgbClr val="6600FF"/>
                </a:solidFill>
                <a:latin typeface="Symbol" pitchFamily="18" charset="2"/>
              </a:rPr>
              <a:t>D</a:t>
            </a:r>
            <a:r>
              <a:rPr lang="en-US">
                <a:solidFill>
                  <a:srgbClr val="6600FF"/>
                </a:solidFill>
              </a:rPr>
              <a:t>h is proportional to U0/N, the limit based on KE to PE conversion. There is therefore a regime transition governed by Fr.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200">
                <a:solidFill>
                  <a:srgbClr val="FF0000"/>
                </a:solidFill>
              </a:rPr>
              <a:t>Understanding the overturning at the Hawaiian ridge: numerical experiments</a:t>
            </a:r>
          </a:p>
        </p:txBody>
      </p:sp>
      <p:pic>
        <p:nvPicPr>
          <p:cNvPr id="99332" name="Slope1_U5_gradual.mpg">
            <a:hlinkClick r:id="" action="ppaction://media"/>
          </p:cNvPr>
          <p:cNvPicPr>
            <a:picLocks noRot="1" noChangeAspect="1" noChangeArrowheads="1"/>
          </p:cNvPicPr>
          <p:nvPr>
            <p:ph sz="half" idx="2"/>
            <a:videoFile r:link="rId1"/>
          </p:nvPr>
        </p:nvPicPr>
        <p:blipFill>
          <a:blip r:embed="rId3"/>
          <a:srcRect/>
          <a:stretch>
            <a:fillRect/>
          </a:stretch>
        </p:blipFill>
        <p:spPr>
          <a:xfrm>
            <a:off x="654050" y="2257425"/>
            <a:ext cx="4475163" cy="4138613"/>
          </a:xfrm>
          <a:ln/>
        </p:spPr>
      </p:pic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0" y="1219200"/>
            <a:ext cx="90074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Analysis suggests that the essential ingredients for the jump-like features with associated overturning are (a) large amplitude flow over large amplitude topography (b) steep topographic slope. </a:t>
            </a:r>
          </a:p>
        </p:txBody>
      </p:sp>
      <p:sp>
        <p:nvSpPr>
          <p:cNvPr id="99336" name="Text Box 8"/>
          <p:cNvSpPr txBox="1">
            <a:spLocks noChangeArrowheads="1"/>
          </p:cNvSpPr>
          <p:nvPr/>
        </p:nvSpPr>
        <p:spPr bwMode="auto">
          <a:xfrm>
            <a:off x="5919788" y="2482850"/>
            <a:ext cx="3106737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Simulation with idealized topography and uniform stratification. The behavior seen in the realistic simulation is reproduced when stratification at shelf-break and maximum slope are the same.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3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93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332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9933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639763"/>
          </a:xfrm>
        </p:spPr>
        <p:txBody>
          <a:bodyPr/>
          <a:lstStyle/>
          <a:p>
            <a:r>
              <a:rPr lang="en-US" sz="3200">
                <a:solidFill>
                  <a:srgbClr val="FF0000"/>
                </a:solidFill>
              </a:rPr>
              <a:t> Dependence of overturning on slope</a:t>
            </a:r>
          </a:p>
        </p:txBody>
      </p:sp>
      <p:pic>
        <p:nvPicPr>
          <p:cNvPr id="75780" name="Picture 4" descr="UT_t14400"/>
          <p:cNvPicPr>
            <a:picLocks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406525" y="1243013"/>
            <a:ext cx="2971800" cy="2230437"/>
          </a:xfrm>
          <a:noFill/>
          <a:ln/>
        </p:spPr>
      </p:pic>
      <p:pic>
        <p:nvPicPr>
          <p:cNvPr id="75783" name="Picture 7" descr="Slope1_U5_UN_U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1287463"/>
            <a:ext cx="2971800" cy="2230437"/>
          </a:xfrm>
          <a:prstGeom prst="rect">
            <a:avLst/>
          </a:prstGeom>
          <a:noFill/>
        </p:spPr>
      </p:pic>
      <p:pic>
        <p:nvPicPr>
          <p:cNvPr id="75785" name="Picture 9" descr="Slope2_U5_U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90800" y="3733800"/>
            <a:ext cx="3048000" cy="2287588"/>
          </a:xfrm>
          <a:prstGeom prst="rect">
            <a:avLst/>
          </a:prstGeom>
          <a:noFill/>
        </p:spPr>
      </p:pic>
      <p:pic>
        <p:nvPicPr>
          <p:cNvPr id="75786" name="Picture 10" descr="Slope3_U5_UT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1200" y="3733800"/>
            <a:ext cx="3048000" cy="2287588"/>
          </a:xfrm>
          <a:prstGeom prst="rect">
            <a:avLst/>
          </a:prstGeom>
          <a:noFill/>
        </p:spPr>
      </p:pic>
      <p:sp>
        <p:nvSpPr>
          <p:cNvPr id="75787" name="Text Box 11"/>
          <p:cNvSpPr txBox="1">
            <a:spLocks noChangeArrowheads="1"/>
          </p:cNvSpPr>
          <p:nvPr/>
        </p:nvSpPr>
        <p:spPr bwMode="auto">
          <a:xfrm>
            <a:off x="1703388" y="1057275"/>
            <a:ext cx="27717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Real topography, Fr</a:t>
            </a:r>
            <a:r>
              <a:rPr lang="en-US">
                <a:latin typeface="Symbol" pitchFamily="18" charset="2"/>
              </a:rPr>
              <a:t>w=0.3</a:t>
            </a:r>
          </a:p>
        </p:txBody>
      </p:sp>
      <p:sp>
        <p:nvSpPr>
          <p:cNvPr id="75788" name="Text Box 12"/>
          <p:cNvSpPr txBox="1">
            <a:spLocks noChangeArrowheads="1"/>
          </p:cNvSpPr>
          <p:nvPr/>
        </p:nvSpPr>
        <p:spPr bwMode="auto">
          <a:xfrm>
            <a:off x="4937125" y="1092200"/>
            <a:ext cx="2816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dh/dx(max) = 0.2, Fr</a:t>
            </a:r>
            <a:r>
              <a:rPr lang="en-US">
                <a:latin typeface="Symbol" pitchFamily="18" charset="2"/>
              </a:rPr>
              <a:t>w=0.3</a:t>
            </a:r>
          </a:p>
        </p:txBody>
      </p:sp>
      <p:sp>
        <p:nvSpPr>
          <p:cNvPr id="75791" name="Text Box 15"/>
          <p:cNvSpPr txBox="1">
            <a:spLocks noChangeArrowheads="1"/>
          </p:cNvSpPr>
          <p:nvPr/>
        </p:nvSpPr>
        <p:spPr bwMode="auto">
          <a:xfrm>
            <a:off x="2378075" y="3492500"/>
            <a:ext cx="28559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dh/dx(max) = 0.1, Fr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=0.6</a:t>
            </a:r>
          </a:p>
        </p:txBody>
      </p:sp>
      <p:sp>
        <p:nvSpPr>
          <p:cNvPr id="75793" name="Text Box 17"/>
          <p:cNvSpPr txBox="1">
            <a:spLocks noChangeArrowheads="1"/>
          </p:cNvSpPr>
          <p:nvPr/>
        </p:nvSpPr>
        <p:spPr bwMode="auto">
          <a:xfrm>
            <a:off x="5791200" y="3562350"/>
            <a:ext cx="29432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dh/dx(max) = 0.06, Fr</a:t>
            </a:r>
            <a:r>
              <a:rPr lang="en-US">
                <a:latin typeface="Symbol" pitchFamily="18" charset="2"/>
              </a:rPr>
              <a:t>w=1.0</a:t>
            </a:r>
            <a:endParaRPr lang="en-US"/>
          </a:p>
        </p:txBody>
      </p:sp>
      <p:sp>
        <p:nvSpPr>
          <p:cNvPr id="75794" name="Text Box 18"/>
          <p:cNvSpPr txBox="1">
            <a:spLocks noChangeArrowheads="1"/>
          </p:cNvSpPr>
          <p:nvPr/>
        </p:nvSpPr>
        <p:spPr bwMode="auto">
          <a:xfrm>
            <a:off x="990600" y="6019800"/>
            <a:ext cx="7331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Borelike features are found only for Fr</a:t>
            </a:r>
            <a:r>
              <a:rPr lang="en-US">
                <a:solidFill>
                  <a:srgbClr val="6600FF"/>
                </a:solidFill>
                <a:latin typeface="Symbol" pitchFamily="18" charset="2"/>
              </a:rPr>
              <a:t>w</a:t>
            </a:r>
            <a:r>
              <a:rPr lang="en-US">
                <a:solidFill>
                  <a:srgbClr val="6600FF"/>
                </a:solidFill>
              </a:rPr>
              <a:t>&lt;&lt;1.</a:t>
            </a:r>
          </a:p>
        </p:txBody>
      </p:sp>
      <p:sp>
        <p:nvSpPr>
          <p:cNvPr id="75795" name="Text Box 19"/>
          <p:cNvSpPr txBox="1">
            <a:spLocks noChangeArrowheads="1"/>
          </p:cNvSpPr>
          <p:nvPr/>
        </p:nvSpPr>
        <p:spPr bwMode="auto">
          <a:xfrm>
            <a:off x="304800" y="3886200"/>
            <a:ext cx="2073275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Snapshots of U(color) and buoyancy (contours) just after flow reversal, all with U0=5cm/s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solidFill>
                  <a:srgbClr val="FF0000"/>
                </a:solidFill>
              </a:rPr>
              <a:t>Dependence of overturning on flow amplitude</a:t>
            </a:r>
          </a:p>
        </p:txBody>
      </p:sp>
      <p:pic>
        <p:nvPicPr>
          <p:cNvPr id="87044" name="Picture 4" descr="Slope1_U10_UT"/>
          <p:cNvPicPr>
            <a:picLocks noChangeAspect="1" noChangeArrowheads="1"/>
          </p:cNvPicPr>
          <p:nvPr>
            <p:ph type="body"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914400" y="4191000"/>
            <a:ext cx="3276600" cy="2459038"/>
          </a:xfrm>
          <a:noFill/>
          <a:ln/>
        </p:spPr>
      </p:pic>
      <p:pic>
        <p:nvPicPr>
          <p:cNvPr id="87045" name="Picture 5" descr="Slope1_U2_U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600200"/>
            <a:ext cx="3124200" cy="2344738"/>
          </a:xfrm>
          <a:prstGeom prst="rect">
            <a:avLst/>
          </a:prstGeom>
          <a:noFill/>
        </p:spPr>
      </p:pic>
      <p:pic>
        <p:nvPicPr>
          <p:cNvPr id="87046" name="Picture 6" descr="Slope1_U5_UN_U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8200" y="1600200"/>
            <a:ext cx="3276600" cy="2459038"/>
          </a:xfrm>
          <a:prstGeom prst="rect">
            <a:avLst/>
          </a:prstGeom>
          <a:noFill/>
        </p:spPr>
      </p:pic>
      <p:sp>
        <p:nvSpPr>
          <p:cNvPr id="87047" name="Text Box 7"/>
          <p:cNvSpPr txBox="1">
            <a:spLocks noChangeArrowheads="1"/>
          </p:cNvSpPr>
          <p:nvPr/>
        </p:nvSpPr>
        <p:spPr bwMode="auto">
          <a:xfrm>
            <a:off x="1076325" y="1349375"/>
            <a:ext cx="2290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U0=2cm/s, </a:t>
            </a:r>
            <a:r>
              <a:rPr lang="en-US">
                <a:latin typeface="Symbol" pitchFamily="18" charset="2"/>
              </a:rPr>
              <a:t>l</a:t>
            </a:r>
            <a:r>
              <a:rPr lang="en-US"/>
              <a:t>c=186m</a:t>
            </a:r>
          </a:p>
        </p:txBody>
      </p:sp>
      <p:sp>
        <p:nvSpPr>
          <p:cNvPr id="87048" name="Text Box 8"/>
          <p:cNvSpPr txBox="1">
            <a:spLocks noChangeArrowheads="1"/>
          </p:cNvSpPr>
          <p:nvPr/>
        </p:nvSpPr>
        <p:spPr bwMode="auto">
          <a:xfrm>
            <a:off x="5057775" y="1358900"/>
            <a:ext cx="2290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U0=5cm/s, </a:t>
            </a:r>
            <a:r>
              <a:rPr lang="en-US">
                <a:latin typeface="Symbol" pitchFamily="18" charset="2"/>
              </a:rPr>
              <a:t>l</a:t>
            </a:r>
            <a:r>
              <a:rPr lang="en-US"/>
              <a:t>c=465m</a:t>
            </a:r>
          </a:p>
        </p:txBody>
      </p:sp>
      <p:sp>
        <p:nvSpPr>
          <p:cNvPr id="87049" name="Text Box 9"/>
          <p:cNvSpPr txBox="1">
            <a:spLocks noChangeArrowheads="1"/>
          </p:cNvSpPr>
          <p:nvPr/>
        </p:nvSpPr>
        <p:spPr bwMode="auto">
          <a:xfrm>
            <a:off x="1238250" y="3968750"/>
            <a:ext cx="24177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U0=10cm/s, </a:t>
            </a:r>
            <a:r>
              <a:rPr lang="en-US">
                <a:latin typeface="Symbol" pitchFamily="18" charset="2"/>
              </a:rPr>
              <a:t>l</a:t>
            </a:r>
            <a:r>
              <a:rPr lang="en-US"/>
              <a:t>c=930m</a:t>
            </a:r>
          </a:p>
        </p:txBody>
      </p:sp>
      <p:sp>
        <p:nvSpPr>
          <p:cNvPr id="87050" name="Text Box 10"/>
          <p:cNvSpPr txBox="1">
            <a:spLocks noChangeArrowheads="1"/>
          </p:cNvSpPr>
          <p:nvPr/>
        </p:nvSpPr>
        <p:spPr bwMode="auto">
          <a:xfrm>
            <a:off x="4860925" y="4227513"/>
            <a:ext cx="39020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Snapshots of U (color) and buoyancy (contours) just after flow reversal, for dh/dx(max) = 0.2. (Fr</a:t>
            </a:r>
            <a:r>
              <a:rPr lang="en-US">
                <a:latin typeface="Symbol" pitchFamily="18" charset="2"/>
              </a:rPr>
              <a:t>w</a:t>
            </a:r>
            <a:r>
              <a:rPr lang="en-US">
                <a:latin typeface="Arial Unicode MS" pitchFamily="34" charset="-128"/>
              </a:rPr>
              <a:t>=0.3)</a:t>
            </a:r>
            <a:r>
              <a:rPr lang="en-US"/>
              <a:t> </a:t>
            </a:r>
          </a:p>
        </p:txBody>
      </p:sp>
      <p:sp>
        <p:nvSpPr>
          <p:cNvPr id="87051" name="Text Box 11"/>
          <p:cNvSpPr txBox="1">
            <a:spLocks noChangeArrowheads="1"/>
          </p:cNvSpPr>
          <p:nvPr/>
        </p:nvSpPr>
        <p:spPr bwMode="auto">
          <a:xfrm>
            <a:off x="4327525" y="5522913"/>
            <a:ext cx="46640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Larger amplitude flow increases vertical extent and vigor of overturning.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347663" y="150813"/>
            <a:ext cx="79406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Evidence for overturning and internal bores</a:t>
            </a:r>
          </a:p>
        </p:txBody>
      </p:sp>
      <p:sp>
        <p:nvSpPr>
          <p:cNvPr id="101385" name="Text Box 9"/>
          <p:cNvSpPr txBox="1">
            <a:spLocks noChangeArrowheads="1"/>
          </p:cNvSpPr>
          <p:nvPr/>
        </p:nvSpPr>
        <p:spPr bwMode="auto">
          <a:xfrm>
            <a:off x="585788" y="1154113"/>
            <a:ext cx="37734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1386" name="Text Box 10"/>
          <p:cNvSpPr txBox="1">
            <a:spLocks noChangeArrowheads="1"/>
          </p:cNvSpPr>
          <p:nvPr/>
        </p:nvSpPr>
        <p:spPr bwMode="auto">
          <a:xfrm>
            <a:off x="720725" y="1077913"/>
            <a:ext cx="3683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Height of Ri&lt;1 layer at topographic depth of -1150m</a:t>
            </a:r>
          </a:p>
        </p:txBody>
      </p:sp>
      <p:sp>
        <p:nvSpPr>
          <p:cNvPr id="101387" name="Text Box 11"/>
          <p:cNvSpPr txBox="1">
            <a:spLocks noChangeArrowheads="1"/>
          </p:cNvSpPr>
          <p:nvPr/>
        </p:nvSpPr>
        <p:spPr bwMode="auto">
          <a:xfrm>
            <a:off x="5148263" y="1077913"/>
            <a:ext cx="3673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Skewness of dT/dt at top of slope, h=-1028m.</a:t>
            </a:r>
          </a:p>
        </p:txBody>
      </p:sp>
      <p:sp>
        <p:nvSpPr>
          <p:cNvPr id="101388" name="Text Box 12"/>
          <p:cNvSpPr txBox="1">
            <a:spLocks noChangeArrowheads="1"/>
          </p:cNvSpPr>
          <p:nvPr/>
        </p:nvSpPr>
        <p:spPr bwMode="auto">
          <a:xfrm>
            <a:off x="339725" y="5175250"/>
            <a:ext cx="430371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Steeper slopes and stronger flows associated with deeper overturning layer, occurring just after flow reversal.</a:t>
            </a:r>
          </a:p>
        </p:txBody>
      </p:sp>
      <p:sp>
        <p:nvSpPr>
          <p:cNvPr id="101389" name="Text Box 13"/>
          <p:cNvSpPr txBox="1">
            <a:spLocks noChangeArrowheads="1"/>
          </p:cNvSpPr>
          <p:nvPr/>
        </p:nvSpPr>
        <p:spPr bwMode="auto">
          <a:xfrm>
            <a:off x="4979988" y="5116513"/>
            <a:ext cx="40322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Negative dT/dt skewness for all low Fr runs indicates sudden drops in temperature, associated with upslope propagating internal bores.</a:t>
            </a:r>
          </a:p>
        </p:txBody>
      </p:sp>
      <p:pic>
        <p:nvPicPr>
          <p:cNvPr id="101392" name="Picture 16" descr="Ri1_1150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100" y="1941513"/>
            <a:ext cx="4019550" cy="3082925"/>
          </a:xfrm>
          <a:prstGeom prst="rect">
            <a:avLst/>
          </a:prstGeom>
          <a:noFill/>
        </p:spPr>
      </p:pic>
      <p:pic>
        <p:nvPicPr>
          <p:cNvPr id="101393" name="Picture 17" descr="Tskewprofiles1028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78375" y="1968500"/>
            <a:ext cx="3921125" cy="30067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938"/>
            <a:ext cx="8686800" cy="639762"/>
          </a:xfrm>
        </p:spPr>
        <p:txBody>
          <a:bodyPr/>
          <a:lstStyle/>
          <a:p>
            <a:r>
              <a:rPr lang="en-US" sz="3200">
                <a:solidFill>
                  <a:srgbClr val="FF0000"/>
                </a:solidFill>
              </a:rPr>
              <a:t>Influence of internal bores on dissipation</a:t>
            </a:r>
          </a:p>
        </p:txBody>
      </p:sp>
      <p:pic>
        <p:nvPicPr>
          <p:cNvPr id="88068" name="Picture 4" descr="Uniform_dis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20850"/>
            <a:ext cx="4802188" cy="3603625"/>
          </a:xfrm>
          <a:prstGeom prst="rect">
            <a:avLst/>
          </a:prstGeom>
          <a:noFill/>
        </p:spPr>
      </p:pic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136525" y="5370513"/>
            <a:ext cx="87217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The region affected by internal bores has an order of magnitude higher dissipation than the internal wave beams.</a:t>
            </a:r>
          </a:p>
        </p:txBody>
      </p:sp>
      <p:sp>
        <p:nvSpPr>
          <p:cNvPr id="88072" name="Text Box 8"/>
          <p:cNvSpPr txBox="1">
            <a:spLocks noChangeArrowheads="1"/>
          </p:cNvSpPr>
          <p:nvPr/>
        </p:nvSpPr>
        <p:spPr bwMode="auto">
          <a:xfrm>
            <a:off x="569913" y="898525"/>
            <a:ext cx="32543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Log10 dissipation (time-averaged) for U0=5cm/s, dh/dx=0.2</a:t>
            </a:r>
          </a:p>
        </p:txBody>
      </p:sp>
      <p:pic>
        <p:nvPicPr>
          <p:cNvPr id="88077" name="Picture 13" descr="Realtopo_dis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7700" y="1697038"/>
            <a:ext cx="4686300" cy="3516312"/>
          </a:xfrm>
          <a:prstGeom prst="rect">
            <a:avLst/>
          </a:prstGeom>
          <a:noFill/>
        </p:spPr>
      </p:pic>
      <p:sp>
        <p:nvSpPr>
          <p:cNvPr id="88078" name="Text Box 14"/>
          <p:cNvSpPr txBox="1">
            <a:spLocks noChangeArrowheads="1"/>
          </p:cNvSpPr>
          <p:nvPr/>
        </p:nvSpPr>
        <p:spPr bwMode="auto">
          <a:xfrm>
            <a:off x="4814888" y="846138"/>
            <a:ext cx="398462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Log10 dissipation (time-averaged) for U0=5cm/s, realistic topography and stratification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5176838" y="1133475"/>
            <a:ext cx="38258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Time-averaged dissipation for all simulations at location of maximum dissipation (h=-1170m)</a:t>
            </a: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282575" y="5764213"/>
            <a:ext cx="82105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rgbClr val="6600FF"/>
                </a:solidFill>
              </a:rPr>
              <a:t>Steep slopes and large amplitude flows have greatest enhancement of  dissipation on upper slope. High frequency flows are complicated by Parametric Subharmonic Instability. </a:t>
            </a:r>
          </a:p>
        </p:txBody>
      </p:sp>
      <p:sp>
        <p:nvSpPr>
          <p:cNvPr id="112648" name="Text Box 8"/>
          <p:cNvSpPr txBox="1">
            <a:spLocks noChangeArrowheads="1"/>
          </p:cNvSpPr>
          <p:nvPr/>
        </p:nvSpPr>
        <p:spPr bwMode="auto">
          <a:xfrm>
            <a:off x="420688" y="182563"/>
            <a:ext cx="854392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Impact of different slopes, tidal velocities, on dissipation near shelf-break</a:t>
            </a:r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198438" y="1216025"/>
            <a:ext cx="46101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Ratio between upper slope dissipation and total dissipation</a:t>
            </a:r>
          </a:p>
        </p:txBody>
      </p:sp>
      <p:pic>
        <p:nvPicPr>
          <p:cNvPr id="112651" name="Picture 11" descr="dissratio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87550"/>
            <a:ext cx="4241800" cy="3402013"/>
          </a:xfrm>
          <a:prstGeom prst="rect">
            <a:avLst/>
          </a:prstGeom>
          <a:noFill/>
        </p:spPr>
      </p:pic>
      <p:pic>
        <p:nvPicPr>
          <p:cNvPr id="112652" name="Picture 12" descr="Dissprofiles1150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02163" y="2046288"/>
            <a:ext cx="4414837" cy="33639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9" name="Picture 5" descr="F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73250"/>
            <a:ext cx="4587875" cy="3702050"/>
          </a:xfrm>
          <a:prstGeom prst="rect">
            <a:avLst/>
          </a:prstGeom>
          <a:noFill/>
        </p:spPr>
      </p:pic>
      <p:pic>
        <p:nvPicPr>
          <p:cNvPr id="113670" name="Picture 6" descr="Uproj"/>
          <p:cNvPicPr>
            <a:picLocks noChangeAspect="1" noChangeArrowheads="1"/>
          </p:cNvPicPr>
          <p:nvPr/>
        </p:nvPicPr>
        <p:blipFill>
          <a:blip r:embed="rId3"/>
          <a:srcRect l="4201" t="2533" r="6334"/>
          <a:stretch>
            <a:fillRect/>
          </a:stretch>
        </p:blipFill>
        <p:spPr bwMode="auto">
          <a:xfrm>
            <a:off x="4659313" y="2001838"/>
            <a:ext cx="4484687" cy="3663950"/>
          </a:xfrm>
          <a:prstGeom prst="rect">
            <a:avLst/>
          </a:prstGeom>
          <a:noFill/>
        </p:spPr>
      </p:pic>
      <p:sp>
        <p:nvSpPr>
          <p:cNvPr id="113671" name="Text Box 7"/>
          <p:cNvSpPr txBox="1">
            <a:spLocks noChangeArrowheads="1"/>
          </p:cNvSpPr>
          <p:nvPr/>
        </p:nvSpPr>
        <p:spPr bwMode="auto">
          <a:xfrm>
            <a:off x="133350" y="138113"/>
            <a:ext cx="887253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800">
                <a:solidFill>
                  <a:srgbClr val="FF0000"/>
                </a:solidFill>
              </a:rPr>
              <a:t>Do tidally driven transient hydraulic jumps matter on a global scale? </a:t>
            </a:r>
          </a:p>
        </p:txBody>
      </p:sp>
      <p:sp>
        <p:nvSpPr>
          <p:cNvPr id="113672" name="Text Box 8"/>
          <p:cNvSpPr txBox="1">
            <a:spLocks noChangeArrowheads="1"/>
          </p:cNvSpPr>
          <p:nvPr/>
        </p:nvSpPr>
        <p:spPr bwMode="auto">
          <a:xfrm>
            <a:off x="300038" y="1268413"/>
            <a:ext cx="43227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/>
              <a:t>Fr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 (N/(</a:t>
            </a:r>
            <a:r>
              <a:rPr lang="en-US">
                <a:latin typeface="Symbol" pitchFamily="18" charset="2"/>
              </a:rPr>
              <a:t>w</a:t>
            </a:r>
            <a:r>
              <a:rPr lang="en-US"/>
              <a:t> dh/dx)) calculated on ¼ degree scale</a:t>
            </a:r>
          </a:p>
        </p:txBody>
      </p:sp>
      <p:sp>
        <p:nvSpPr>
          <p:cNvPr id="113673" name="Text Box 9"/>
          <p:cNvSpPr txBox="1">
            <a:spLocks noChangeArrowheads="1"/>
          </p:cNvSpPr>
          <p:nvPr/>
        </p:nvSpPr>
        <p:spPr bwMode="auto">
          <a:xfrm>
            <a:off x="5003800" y="1123950"/>
            <a:ext cx="3865563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Amplitude of tidal velocity projected onto direction of topographic gradient (cm/s)</a:t>
            </a:r>
          </a:p>
        </p:txBody>
      </p:sp>
      <p:sp>
        <p:nvSpPr>
          <p:cNvPr id="113674" name="Text Box 10"/>
          <p:cNvSpPr txBox="1">
            <a:spLocks noChangeArrowheads="1"/>
          </p:cNvSpPr>
          <p:nvPr/>
        </p:nvSpPr>
        <p:spPr bwMode="auto">
          <a:xfrm>
            <a:off x="265113" y="5616575"/>
            <a:ext cx="87153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Large velocities combined with Fr</a:t>
            </a:r>
            <a:r>
              <a:rPr lang="en-US">
                <a:latin typeface="Symbol" pitchFamily="18" charset="2"/>
              </a:rPr>
              <a:t>w &lt; 1 </a:t>
            </a:r>
            <a:r>
              <a:rPr lang="en-US"/>
              <a:t>may lead to local overturning in jump-like features: seen in several interesting locations….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solidFill>
                  <a:srgbClr val="FF0000"/>
                </a:solidFill>
              </a:rPr>
              <a:t>Conclusions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/>
              <a:t>For steep slopes and large amplitude flows, overturning internal bores are generated.</a:t>
            </a:r>
          </a:p>
          <a:p>
            <a:pPr>
              <a:lnSpc>
                <a:spcPct val="90000"/>
              </a:lnSpc>
            </a:pPr>
            <a:r>
              <a:rPr lang="en-US" sz="2400"/>
              <a:t>The internal bores are locations of enhanced dissipation.</a:t>
            </a:r>
          </a:p>
          <a:p>
            <a:pPr>
              <a:lnSpc>
                <a:spcPct val="90000"/>
              </a:lnSpc>
            </a:pPr>
            <a:r>
              <a:rPr lang="en-US" sz="2400"/>
              <a:t>Probable cause: </a:t>
            </a:r>
            <a:r>
              <a:rPr lang="en-US" sz="2400">
                <a:solidFill>
                  <a:srgbClr val="6600FF"/>
                </a:solidFill>
              </a:rPr>
              <a:t>transient jump-like nonlinear lee-waves</a:t>
            </a:r>
            <a:r>
              <a:rPr lang="en-US" sz="2400"/>
              <a:t> are generated during off-slope flow, propagate toward slope when flow relaxes, and cause overturning. </a:t>
            </a:r>
          </a:p>
          <a:p>
            <a:pPr>
              <a:lnSpc>
                <a:spcPct val="90000"/>
              </a:lnSpc>
            </a:pPr>
            <a:r>
              <a:rPr lang="en-US" sz="2400"/>
              <a:t>Nonlinear jump-like features only appear when Fr based on tidal excursion distance is small, implying steep slopes. </a:t>
            </a:r>
          </a:p>
          <a:p>
            <a:pPr>
              <a:lnSpc>
                <a:spcPct val="90000"/>
              </a:lnSpc>
            </a:pPr>
            <a:r>
              <a:rPr lang="en-US" sz="2400"/>
              <a:t>Vertical scale of nonlinear features depends on flow amplitude, stratification.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3611</TotalTime>
  <Words>859</Words>
  <Application>Microsoft Office PowerPoint</Application>
  <PresentationFormat>On-screen Show (4:3)</PresentationFormat>
  <Paragraphs>76</Paragraphs>
  <Slides>13</Slides>
  <Notes>0</Notes>
  <HiddenSlides>0</HiddenSlides>
  <MMClips>2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Unicode MS</vt:lpstr>
      <vt:lpstr>Times New Roman</vt:lpstr>
      <vt:lpstr>Symbol</vt:lpstr>
      <vt:lpstr>Default Design</vt:lpstr>
      <vt:lpstr>Microsoft Equation 3.0</vt:lpstr>
      <vt:lpstr>Internal hydraulic jumps and overturning generated by tidal flow over a tall steep ridge</vt:lpstr>
      <vt:lpstr>Hawaiian Ocean Mixing Experiment: Observations at Kaena Ridge</vt:lpstr>
      <vt:lpstr>Hawaiian ridge simulations with MITgcm, stratification and topography from Kaena ridge</vt:lpstr>
      <vt:lpstr>Slide 4</vt:lpstr>
      <vt:lpstr>Slide 5</vt:lpstr>
      <vt:lpstr>Understanding the overturning at the Hawaiian ridge: numerical experiments</vt:lpstr>
      <vt:lpstr> Dependence of overturning on slope</vt:lpstr>
      <vt:lpstr>Dependence of overturning on flow amplitude</vt:lpstr>
      <vt:lpstr>Slide 9</vt:lpstr>
      <vt:lpstr>Influence of internal bores on dissipation</vt:lpstr>
      <vt:lpstr>Slide 11</vt:lpstr>
      <vt:lpstr>Slide 12</vt:lpstr>
      <vt:lpstr>Conclusions</vt:lpstr>
    </vt:vector>
  </TitlesOfParts>
  <Company>USDOC/NOAA/OAR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Improving Ocean Models: the Physics of Mixing</dc:title>
  <dc:creator>sal</dc:creator>
  <cp:lastModifiedBy>Sonya Legg</cp:lastModifiedBy>
  <cp:revision>90</cp:revision>
  <dcterms:created xsi:type="dcterms:W3CDTF">2005-04-11T19:22:49Z</dcterms:created>
  <dcterms:modified xsi:type="dcterms:W3CDTF">2008-02-27T18:24:30Z</dcterms:modified>
</cp:coreProperties>
</file>