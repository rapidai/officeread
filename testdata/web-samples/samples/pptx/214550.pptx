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bin" ContentType="application/vnd.openxmlformats-officedocument.oleObject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7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5" d="100"/>
          <a:sy n="85" d="100"/>
        </p:scale>
        <p:origin x="-42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9EE27-AFEC-487B-943F-9A1A0F51584E}" type="datetimeFigureOut">
              <a:rPr lang="en-US" smtClean="0"/>
              <a:t>4/2/2008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0087A-6134-47DB-BB72-1EF449C7A94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smtClean="0"/>
              <a:t>dAu – BBC 88%x2.26b, ZDC 0.52 b; pp – BBC 53%x42mb, ZDC 0.31 mb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E2FB006B-4FF3-413B-BC2F-62CE71768BDF}" type="slidenum">
              <a:rPr lang="en-US" smtClean="0"/>
              <a:pPr/>
              <a:t>5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4/2/2008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95600" y="152400"/>
            <a:ext cx="30203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Comic Sans MS" pitchFamily="66" charset="0"/>
              </a:rPr>
              <a:t>PHENIX Luminosity</a:t>
            </a:r>
            <a:endParaRPr lang="en-US" sz="2400" dirty="0">
              <a:latin typeface="Comic Sans MS" pitchFamily="66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3401" y="609600"/>
            <a:ext cx="838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latin typeface="Comic Sans MS" pitchFamily="66" charset="0"/>
              </a:rPr>
              <a:t>Recorded </a:t>
            </a:r>
            <a:r>
              <a:rPr lang="en-US" u="sng" dirty="0" smtClean="0">
                <a:latin typeface="Comic Sans MS" pitchFamily="66" charset="0"/>
              </a:rPr>
              <a:t>Luminosity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from PHENIX DAQ </a:t>
            </a:r>
            <a:r>
              <a:rPr lang="en-US" dirty="0" err="1" smtClean="0">
                <a:latin typeface="Comic Sans MS" pitchFamily="66" charset="0"/>
              </a:rPr>
              <a:t>scalers</a:t>
            </a:r>
            <a:r>
              <a:rPr lang="en-US" dirty="0" smtClean="0">
                <a:latin typeface="Comic Sans MS" pitchFamily="66" charset="0"/>
              </a:rPr>
              <a:t>, which only count when Run is going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where BBC count are from LL1 trigger system with ±30 cm vertex cut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endParaRPr lang="en-US" dirty="0" smtClean="0">
              <a:latin typeface="Comic Sans MS" pitchFamily="66" charset="0"/>
            </a:endParaRPr>
          </a:p>
          <a:p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part of this comes from the DAQ lifetime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endParaRPr lang="en-US" dirty="0" smtClean="0">
              <a:latin typeface="Comic Sans MS" pitchFamily="66" charset="0"/>
            </a:endParaRPr>
          </a:p>
          <a:p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which is typically about 90%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1600200" y="1447800"/>
          <a:ext cx="2133600" cy="972273"/>
        </p:xfrm>
        <a:graphic>
          <a:graphicData uri="http://schemas.openxmlformats.org/presentationml/2006/ole">
            <p:oleObj spid="_x0000_s1026" name="Equation" r:id="rId3" imgW="1002960" imgH="457200" progId="Equation.3">
              <p:embed/>
            </p:oleObj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38800" y="2209800"/>
          <a:ext cx="2667000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1748"/>
                <a:gridCol w="857693"/>
                <a:gridCol w="110755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ym typeface="Symbol"/>
                        </a:rPr>
                        <a:t></a:t>
                      </a:r>
                      <a:r>
                        <a:rPr lang="en-US" baseline="-25000" dirty="0" smtClean="0">
                          <a:sym typeface="Symbol"/>
                        </a:rPr>
                        <a:t>BBC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ym typeface="Symbol"/>
                        </a:rPr>
                        <a:t></a:t>
                      </a:r>
                      <a:r>
                        <a:rPr lang="en-US" baseline="-25000" dirty="0" smtClean="0">
                          <a:sym typeface="Symbol"/>
                        </a:rPr>
                        <a:t>BBC</a:t>
                      </a:r>
                      <a:r>
                        <a:rPr lang="en-US" baseline="30000" dirty="0" smtClean="0">
                          <a:sym typeface="Symbol"/>
                        </a:rPr>
                        <a:t>MB</a:t>
                      </a:r>
                      <a:endParaRPr lang="en-US" baseline="30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dAu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2.26 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0.88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42 </a:t>
                      </a:r>
                      <a:r>
                        <a:rPr lang="en-US" sz="1600" dirty="0" err="1" smtClean="0"/>
                        <a:t>mb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0.53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AuAu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6.847 b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0.92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828800" y="2819401"/>
          <a:ext cx="1447800" cy="965200"/>
        </p:xfrm>
        <a:graphic>
          <a:graphicData uri="http://schemas.openxmlformats.org/presentationml/2006/ole">
            <p:oleObj spid="_x0000_s1027" name="Equation" r:id="rId4" imgW="685800" imgH="457200" progId="Equation.3">
              <p:embed/>
            </p:oleObj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57200" y="394692"/>
            <a:ext cx="8382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latin typeface="Comic Sans MS" pitchFamily="66" charset="0"/>
              </a:rPr>
              <a:t>Delivered Luminosity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from RHIC </a:t>
            </a:r>
            <a:r>
              <a:rPr lang="en-US" dirty="0" err="1" smtClean="0">
                <a:latin typeface="Comic Sans MS" pitchFamily="66" charset="0"/>
              </a:rPr>
              <a:t>scalers</a:t>
            </a:r>
            <a:r>
              <a:rPr lang="en-US" dirty="0" smtClean="0">
                <a:latin typeface="Comic Sans MS" pitchFamily="66" charset="0"/>
              </a:rPr>
              <a:t>, which count whether Run is on or not (usually)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where I try to identify the stable part of all stores by using cuts on very high backgrounds, ZDC rates above </a:t>
            </a:r>
            <a:r>
              <a:rPr lang="en-US" dirty="0" err="1" smtClean="0">
                <a:latin typeface="Comic Sans MS" pitchFamily="66" charset="0"/>
              </a:rPr>
              <a:t>mimimal</a:t>
            </a:r>
            <a:r>
              <a:rPr lang="en-US" dirty="0" smtClean="0">
                <a:latin typeface="Comic Sans MS" pitchFamily="66" charset="0"/>
              </a:rPr>
              <a:t> level, and excluding (most) APEX &amp; development time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since I don’t have the CA “physics” signal that is set by the operators by hand, I cannot reliably get the same luminosity that CA gets, in fact in Run8 it came out as follows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and CA counts luminosity during RHIC CNI measurements, when PHENIX see backgrounds that are too large and cannot take data. I estimated this amounted to approximately 10% less delivered luminosity (for pp collisions)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the </a:t>
            </a:r>
            <a:r>
              <a:rPr lang="en-US" dirty="0" smtClean="0">
                <a:latin typeface="Comic Sans MS" pitchFamily="66" charset="0"/>
                <a:sym typeface="Symbol"/>
              </a:rPr>
              <a:t></a:t>
            </a:r>
            <a:r>
              <a:rPr lang="en-US" baseline="-25000" dirty="0" err="1" smtClean="0">
                <a:latin typeface="Comic Sans MS" pitchFamily="66" charset="0"/>
                <a:sym typeface="Symbol"/>
              </a:rPr>
              <a:t>ZDC</a:t>
            </a:r>
            <a:r>
              <a:rPr lang="en-US" baseline="30000" dirty="0" err="1" smtClean="0">
                <a:latin typeface="Comic Sans MS" pitchFamily="66" charset="0"/>
                <a:sym typeface="Symbol"/>
              </a:rPr>
              <a:t>eff</a:t>
            </a:r>
            <a:r>
              <a:rPr lang="en-US" baseline="30000" dirty="0" smtClean="0">
                <a:latin typeface="Comic Sans MS" pitchFamily="66" charset="0"/>
                <a:sym typeface="Symbol"/>
              </a:rPr>
              <a:t> </a:t>
            </a:r>
            <a:r>
              <a:rPr lang="en-US" dirty="0" smtClean="0">
                <a:latin typeface="Comic Sans MS" pitchFamily="66" charset="0"/>
                <a:sym typeface="Symbol"/>
              </a:rPr>
              <a:t>is especially uncertain in pp collisions (and small). It is determined </a:t>
            </a:r>
            <a:r>
              <a:rPr lang="en-US" dirty="0" err="1" smtClean="0">
                <a:latin typeface="Comic Sans MS" pitchFamily="66" charset="0"/>
                <a:sym typeface="Symbol"/>
              </a:rPr>
              <a:t>Vernier</a:t>
            </a:r>
            <a:r>
              <a:rPr lang="en-US" dirty="0" smtClean="0">
                <a:latin typeface="Comic Sans MS" pitchFamily="66" charset="0"/>
                <a:sym typeface="Symbol"/>
              </a:rPr>
              <a:t> Scans, but may not be completely stable during the pp run.</a:t>
            </a:r>
            <a:endParaRPr lang="en-US" baseline="30000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>
              <a:latin typeface="Comic Sans MS" pitchFamily="66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3657600" y="1066800"/>
          <a:ext cx="1190625" cy="809625"/>
        </p:xfrm>
        <a:graphic>
          <a:graphicData uri="http://schemas.openxmlformats.org/presentationml/2006/ole">
            <p:oleObj spid="_x0000_s2052" name="Equation" r:id="rId3" imgW="634680" imgH="431640" progId="Equation.3">
              <p:embed/>
            </p:oleObj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600200" y="3581400"/>
          <a:ext cx="22098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1748"/>
                <a:gridCol w="150805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ym typeface="Symbol"/>
                        </a:rPr>
                        <a:t>CA/my </a:t>
                      </a:r>
                      <a:r>
                        <a:rPr lang="en-US" dirty="0" err="1" smtClean="0">
                          <a:sym typeface="Symbol"/>
                        </a:rPr>
                        <a:t>Lumi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dAu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91.7%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87.8%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562600" y="3536796"/>
          <a:ext cx="22098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1748"/>
                <a:gridCol w="1508052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ym typeface="Symbol"/>
                        </a:rPr>
                        <a:t></a:t>
                      </a:r>
                      <a:r>
                        <a:rPr lang="en-US" baseline="-25000" dirty="0" err="1" smtClean="0">
                          <a:sym typeface="Symbol"/>
                        </a:rPr>
                        <a:t>ZDC</a:t>
                      </a:r>
                      <a:r>
                        <a:rPr lang="en-US" baseline="30000" dirty="0" err="1" smtClean="0">
                          <a:sym typeface="Symbol"/>
                        </a:rPr>
                        <a:t>eff</a:t>
                      </a:r>
                      <a:endParaRPr lang="en-US" baseline="30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dAu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0.52 b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0.31 </a:t>
                      </a:r>
                      <a:r>
                        <a:rPr lang="en-US" sz="1600" dirty="0" err="1" smtClean="0"/>
                        <a:t>mb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533400"/>
            <a:ext cx="838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 smtClean="0">
                <a:latin typeface="Comic Sans MS" pitchFamily="66" charset="0"/>
              </a:rPr>
              <a:t>Recorded/Delivered Luminosity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obtained by comparing </a:t>
            </a:r>
            <a:r>
              <a:rPr lang="en-US" dirty="0" smtClean="0">
                <a:latin typeface="Script MT Bold" pitchFamily="66" charset="0"/>
              </a:rPr>
              <a:t>L</a:t>
            </a:r>
            <a:r>
              <a:rPr lang="en-US" baseline="-25000" dirty="0" smtClean="0">
                <a:latin typeface="Comic Sans MS" pitchFamily="66" charset="0"/>
              </a:rPr>
              <a:t>ZDC</a:t>
            </a:r>
            <a:r>
              <a:rPr lang="en-US" dirty="0" smtClean="0">
                <a:latin typeface="Comic Sans MS" pitchFamily="66" charset="0"/>
              </a:rPr>
              <a:t> to </a:t>
            </a:r>
            <a:r>
              <a:rPr lang="en-US" dirty="0" smtClean="0">
                <a:latin typeface="Script MT Bold" pitchFamily="66" charset="0"/>
              </a:rPr>
              <a:t>L</a:t>
            </a:r>
            <a:r>
              <a:rPr lang="en-US" baseline="-25000" dirty="0" smtClean="0">
                <a:latin typeface="Comic Sans MS" pitchFamily="66" charset="0"/>
              </a:rPr>
              <a:t>BBC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this includes ±30 cm vertex cut which can be determined separately using the BBC without a vertex cut, and is about 50%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then the PHENIX efficiency (DAQ , HV, detector up &amp; </a:t>
            </a:r>
            <a:r>
              <a:rPr lang="en-US" dirty="0" err="1" smtClean="0">
                <a:latin typeface="Comic Sans MS" pitchFamily="66" charset="0"/>
              </a:rPr>
              <a:t>livetime</a:t>
            </a:r>
            <a:r>
              <a:rPr lang="en-US" dirty="0" smtClean="0">
                <a:latin typeface="Comic Sans MS" pitchFamily="66" charset="0"/>
              </a:rPr>
              <a:t>) is</a:t>
            </a: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the main uncertainties are: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sym typeface="Symbol"/>
              </a:rPr>
              <a:t></a:t>
            </a:r>
            <a:r>
              <a:rPr lang="en-US" baseline="-25000" dirty="0" err="1" smtClean="0">
                <a:sym typeface="Symbol"/>
              </a:rPr>
              <a:t>ZDC</a:t>
            </a:r>
            <a:r>
              <a:rPr lang="en-US" baseline="30000" dirty="0" err="1" smtClean="0">
                <a:sym typeface="Symbol"/>
              </a:rPr>
              <a:t>eff</a:t>
            </a:r>
            <a:r>
              <a:rPr lang="en-US" baseline="30000" dirty="0" smtClean="0">
                <a:sym typeface="Symbol"/>
              </a:rPr>
              <a:t> </a:t>
            </a:r>
            <a:r>
              <a:rPr lang="en-US" dirty="0" smtClean="0">
                <a:sym typeface="Symbol"/>
              </a:rPr>
              <a:t> </a:t>
            </a:r>
            <a:r>
              <a:rPr lang="en-US" dirty="0" smtClean="0">
                <a:latin typeface="Comic Sans MS" pitchFamily="66" charset="0"/>
                <a:sym typeface="Symbol"/>
              </a:rPr>
              <a:t>(see above)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  <a:sym typeface="Symbol"/>
              </a:rPr>
              <a:t> </a:t>
            </a:r>
            <a:r>
              <a:rPr lang="en-US" dirty="0" smtClean="0">
                <a:latin typeface="Comic Sans MS" pitchFamily="66" charset="0"/>
                <a:sym typeface="Symbol"/>
              </a:rPr>
              <a:t>when to count </a:t>
            </a:r>
            <a:r>
              <a:rPr lang="en-US" dirty="0" err="1" smtClean="0">
                <a:latin typeface="Script MT Bold" pitchFamily="66" charset="0"/>
              </a:rPr>
              <a:t>L</a:t>
            </a:r>
            <a:r>
              <a:rPr lang="en-US" baseline="-25000" dirty="0" err="1" smtClean="0">
                <a:latin typeface="Comic Sans MS" pitchFamily="66" charset="0"/>
              </a:rPr>
              <a:t>delivered</a:t>
            </a:r>
            <a:r>
              <a:rPr lang="en-US" dirty="0" smtClean="0">
                <a:latin typeface="Comic Sans MS" pitchFamily="66" charset="0"/>
              </a:rPr>
              <a:t> </a:t>
            </a:r>
          </a:p>
          <a:p>
            <a:pPr lvl="2"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e.g. not during polarization measurements</a:t>
            </a:r>
          </a:p>
          <a:p>
            <a:pPr lvl="2">
              <a:buFont typeface="Arial" pitchFamily="34" charset="0"/>
              <a:buChar char="•"/>
            </a:pPr>
            <a:r>
              <a:rPr lang="en-US" baseline="30000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not until collimation done and backgrounds down, etc.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Comic Sans MS" pitchFamily="66" charset="0"/>
              </a:rPr>
              <a:t> </a:t>
            </a:r>
            <a:r>
              <a:rPr lang="en-US" dirty="0" smtClean="0">
                <a:latin typeface="Comic Sans MS" pitchFamily="66" charset="0"/>
              </a:rPr>
              <a:t>uncertainty in </a:t>
            </a:r>
            <a:r>
              <a:rPr lang="en-US" dirty="0" smtClean="0">
                <a:latin typeface="Comic Sans MS" pitchFamily="66" charset="0"/>
                <a:sym typeface="Symbol"/>
              </a:rPr>
              <a:t></a:t>
            </a:r>
            <a:r>
              <a:rPr lang="en-US" baseline="-25000" dirty="0" smtClean="0">
                <a:latin typeface="Comic Sans MS" pitchFamily="66" charset="0"/>
                <a:sym typeface="Symbol"/>
              </a:rPr>
              <a:t>vertex </a:t>
            </a:r>
            <a:r>
              <a:rPr lang="en-US" dirty="0" smtClean="0">
                <a:latin typeface="Comic Sans MS" pitchFamily="66" charset="0"/>
                <a:sym typeface="Symbol"/>
              </a:rPr>
              <a:t>due to question of whether BBC without vertex cut includes all collisions that ZDC sees or not</a:t>
            </a:r>
            <a:endParaRPr lang="en-US" baseline="-25000" dirty="0" smtClean="0">
              <a:latin typeface="Comic Sans MS" pitchFamily="66" charset="0"/>
            </a:endParaRPr>
          </a:p>
          <a:p>
            <a:pPr lvl="2">
              <a:buFont typeface="Arial" pitchFamily="34" charset="0"/>
              <a:buChar char="•"/>
            </a:pPr>
            <a:endParaRPr lang="en-US" baseline="30000" dirty="0" smtClean="0"/>
          </a:p>
          <a:p>
            <a:pPr lvl="1">
              <a:buFont typeface="Arial" pitchFamily="34" charset="0"/>
              <a:buChar char="•"/>
            </a:pPr>
            <a:endParaRPr lang="en-US" dirty="0" smtClean="0">
              <a:latin typeface="Comic Sans MS" pitchFamily="66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91200" y="2133600"/>
          <a:ext cx="2514600" cy="11125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21902"/>
                <a:gridCol w="896349"/>
                <a:gridCol w="896349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ym typeface="Symbol"/>
                        </a:rPr>
                        <a:t></a:t>
                      </a:r>
                      <a:r>
                        <a:rPr lang="en-US" baseline="-25000" dirty="0" smtClean="0">
                          <a:sym typeface="Symbol"/>
                        </a:rPr>
                        <a:t>PHENIX</a:t>
                      </a:r>
                      <a:endParaRPr lang="en-US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-25000" dirty="0" smtClean="0"/>
                        <a:t>LT</a:t>
                      </a:r>
                      <a:endParaRPr lang="en-US" baseline="-25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 smtClean="0"/>
                        <a:t>dAu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68%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89%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62%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89%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838200" y="2057400"/>
          <a:ext cx="4000500" cy="1066800"/>
        </p:xfrm>
        <a:graphic>
          <a:graphicData uri="http://schemas.openxmlformats.org/presentationml/2006/ole">
            <p:oleObj spid="_x0000_s3074" name="Equation" r:id="rId3" imgW="1714320" imgH="457200" progId="Equation.3">
              <p:embed/>
            </p:oleObj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3/31/2008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1A1E90-B25C-48EF-B33A-3EB3279AF33A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PHENIX - MJL</a:t>
            </a:r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76200" y="304800"/>
            <a:ext cx="4724400" cy="2971800"/>
            <a:chOff x="3733800" y="0"/>
            <a:chExt cx="5057775" cy="3360738"/>
          </a:xfrm>
        </p:grpSpPr>
        <p:pic>
          <p:nvPicPr>
            <p:cNvPr id="4155" name="Picture 10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3733800" y="0"/>
              <a:ext cx="5057775" cy="3360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4156" name="TextBox 5"/>
            <p:cNvSpPr txBox="1">
              <a:spLocks noChangeArrowheads="1"/>
            </p:cNvSpPr>
            <p:nvPr/>
          </p:nvSpPr>
          <p:spPr bwMode="auto">
            <a:xfrm>
              <a:off x="4304838" y="344691"/>
              <a:ext cx="2286000" cy="1253006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US" sz="1600">
                  <a:latin typeface="Comic Sans MS" pitchFamily="66" charset="0"/>
                </a:rPr>
                <a:t>80 nb</a:t>
              </a:r>
              <a:r>
                <a:rPr lang="en-US" sz="1600" baseline="30000">
                  <a:latin typeface="Comic Sans MS" pitchFamily="66" charset="0"/>
                </a:rPr>
                <a:t>-1</a:t>
              </a:r>
              <a:r>
                <a:rPr lang="en-US" sz="1600">
                  <a:latin typeface="Comic Sans MS" pitchFamily="66" charset="0"/>
                </a:rPr>
                <a:t> Run8 dAu:</a:t>
              </a:r>
            </a:p>
            <a:p>
              <a:pPr>
                <a:buFont typeface="Arial" charset="0"/>
                <a:buChar char="•"/>
              </a:pPr>
              <a:r>
                <a:rPr lang="en-US" sz="1600">
                  <a:latin typeface="Comic Sans MS" pitchFamily="66" charset="0"/>
                </a:rPr>
                <a:t> 30x Run3</a:t>
              </a:r>
            </a:p>
            <a:p>
              <a:pPr>
                <a:buFont typeface="Arial" charset="0"/>
                <a:buChar char="•"/>
              </a:pPr>
              <a:r>
                <a:rPr lang="en-US" sz="1600">
                  <a:latin typeface="Comic Sans MS" pitchFamily="66" charset="0"/>
                </a:rPr>
                <a:t> 140% of Run8 goal</a:t>
              </a:r>
            </a:p>
            <a:p>
              <a:pPr>
                <a:buFont typeface="Arial" charset="0"/>
                <a:buChar char="•"/>
              </a:pPr>
              <a:r>
                <a:rPr lang="en-US" sz="1600">
                  <a:latin typeface="Comic Sans MS" pitchFamily="66" charset="0"/>
                </a:rPr>
                <a:t> 160 Billion Evts</a:t>
              </a:r>
            </a:p>
          </p:txBody>
        </p:sp>
      </p:grpSp>
      <p:sp>
        <p:nvSpPr>
          <p:cNvPr id="4102" name="TextBox 6"/>
          <p:cNvSpPr txBox="1">
            <a:spLocks noChangeArrowheads="1"/>
          </p:cNvSpPr>
          <p:nvPr/>
        </p:nvSpPr>
        <p:spPr bwMode="auto">
          <a:xfrm>
            <a:off x="5181600" y="381000"/>
            <a:ext cx="3581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0033CC"/>
                </a:solidFill>
                <a:latin typeface="Comic Sans MS" pitchFamily="66" charset="0"/>
              </a:rPr>
              <a:t>dAu</a:t>
            </a:r>
          </a:p>
          <a:p>
            <a:pPr>
              <a:buFont typeface="Arial" charset="0"/>
              <a:buChar char="•"/>
            </a:pPr>
            <a:r>
              <a:rPr lang="en-US" sz="2000">
                <a:solidFill>
                  <a:srgbClr val="0033CC"/>
                </a:solidFill>
                <a:latin typeface="Comic Sans MS" pitchFamily="66" charset="0"/>
              </a:rPr>
              <a:t> peaks above 3 nb</a:t>
            </a:r>
            <a:r>
              <a:rPr lang="en-US" sz="2000" baseline="30000">
                <a:solidFill>
                  <a:srgbClr val="0033CC"/>
                </a:solidFill>
                <a:latin typeface="Comic Sans MS" pitchFamily="66" charset="0"/>
              </a:rPr>
              <a:t>-1 </a:t>
            </a:r>
            <a:r>
              <a:rPr lang="en-US" sz="2000">
                <a:solidFill>
                  <a:srgbClr val="0033CC"/>
                </a:solidFill>
                <a:latin typeface="Comic Sans MS" pitchFamily="66" charset="0"/>
              </a:rPr>
              <a:t>per day</a:t>
            </a:r>
          </a:p>
          <a:p>
            <a:pPr>
              <a:buFont typeface="Arial" charset="0"/>
              <a:buChar char="•"/>
            </a:pPr>
            <a:r>
              <a:rPr lang="en-US" sz="2000">
                <a:solidFill>
                  <a:srgbClr val="0033CC"/>
                </a:solidFill>
                <a:latin typeface="Comic Sans MS" pitchFamily="66" charset="0"/>
              </a:rPr>
              <a:t> one day &gt; total Run3 luminosity of 2.7 nb</a:t>
            </a:r>
            <a:r>
              <a:rPr lang="en-US" sz="2000" baseline="30000">
                <a:solidFill>
                  <a:srgbClr val="0033CC"/>
                </a:solidFill>
                <a:latin typeface="Comic Sans MS" pitchFamily="66" charset="0"/>
              </a:rPr>
              <a:t>-1</a:t>
            </a:r>
            <a:endParaRPr lang="en-US" sz="2000">
              <a:solidFill>
                <a:srgbClr val="0033CC"/>
              </a:solidFill>
              <a:latin typeface="Comic Sans MS" pitchFamily="66" charset="0"/>
            </a:endParaRPr>
          </a:p>
        </p:txBody>
      </p:sp>
      <p:pic>
        <p:nvPicPr>
          <p:cNvPr id="4103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2738" y="1992313"/>
            <a:ext cx="1438275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4876800" y="3429000"/>
          <a:ext cx="38862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/>
                <a:gridCol w="1066800"/>
                <a:gridCol w="1066800"/>
                <a:gridCol w="1143000"/>
              </a:tblGrid>
              <a:tr h="294640">
                <a:tc>
                  <a:txBody>
                    <a:bodyPr/>
                    <a:lstStyle/>
                    <a:p>
                      <a:r>
                        <a:rPr lang="en-US" dirty="0" smtClean="0"/>
                        <a:t>Run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Energy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Long.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Trans.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 GeV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0.15 pb</a:t>
                      </a:r>
                      <a:r>
                        <a:rPr lang="en-US" baseline="30000" dirty="0" smtClean="0"/>
                        <a:t>-1</a:t>
                      </a:r>
                      <a:endParaRPr lang="en-US" baseline="30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200 GeV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0.35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 GeV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0.12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 GeV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3.4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0.16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200 GeV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7.5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2.7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06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62.4 GeV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0.08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0.02 pb</a:t>
                      </a:r>
                      <a:r>
                        <a:rPr lang="en-US" baseline="30000" dirty="0" smtClean="0"/>
                        <a:t>-1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08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200 GeV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FF0000"/>
                          </a:solidFill>
                        </a:rPr>
                        <a:t>5.2 pb</a:t>
                      </a:r>
                      <a:r>
                        <a:rPr lang="en-US" baseline="30000" dirty="0" smtClean="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151" name="Picture 8"/>
          <p:cNvPicPr>
            <a:picLocks noChangeAspect="1" noChangeArrowheads="1"/>
          </p:cNvPicPr>
          <p:nvPr/>
        </p:nvPicPr>
        <p:blipFill>
          <a:blip r:embed="rId4"/>
          <a:srcRect l="1636" r="8177" b="2461"/>
          <a:stretch>
            <a:fillRect/>
          </a:stretch>
        </p:blipFill>
        <p:spPr bwMode="auto">
          <a:xfrm>
            <a:off x="228600" y="3581400"/>
            <a:ext cx="42672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52" name="Picture 9"/>
          <p:cNvPicPr>
            <a:picLocks noChangeAspect="1" noChangeArrowheads="1"/>
          </p:cNvPicPr>
          <p:nvPr/>
        </p:nvPicPr>
        <p:blipFill>
          <a:blip r:embed="rId5"/>
          <a:srcRect l="1636" r="8177" b="2461"/>
          <a:stretch>
            <a:fillRect/>
          </a:stretch>
        </p:blipFill>
        <p:spPr bwMode="auto">
          <a:xfrm>
            <a:off x="2743200" y="5240338"/>
            <a:ext cx="1617663" cy="979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53" name="TextBox 3"/>
          <p:cNvSpPr txBox="1">
            <a:spLocks noChangeArrowheads="1"/>
          </p:cNvSpPr>
          <p:nvPr/>
        </p:nvSpPr>
        <p:spPr bwMode="auto">
          <a:xfrm flipH="1">
            <a:off x="785813" y="3897313"/>
            <a:ext cx="1804987" cy="16002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400">
                <a:latin typeface="Comic Sans MS" pitchFamily="66" charset="0"/>
              </a:rPr>
              <a:t>5.2 pb</a:t>
            </a:r>
            <a:r>
              <a:rPr lang="en-US" sz="1400" baseline="30000">
                <a:latin typeface="Comic Sans MS" pitchFamily="66" charset="0"/>
              </a:rPr>
              <a:t>-1</a:t>
            </a:r>
            <a:r>
              <a:rPr lang="en-US" sz="1400">
                <a:latin typeface="Comic Sans MS" pitchFamily="66" charset="0"/>
              </a:rPr>
              <a:t> 200 GeV p+p Transverse Vertical luminosity recorded</a:t>
            </a:r>
          </a:p>
          <a:p>
            <a:r>
              <a:rPr lang="en-US" sz="1400">
                <a:latin typeface="Comic Sans MS" pitchFamily="66" charset="0"/>
              </a:rPr>
              <a:t>(1.1 pb</a:t>
            </a:r>
            <a:r>
              <a:rPr lang="en-US" sz="1400" baseline="30000">
                <a:latin typeface="Comic Sans MS" pitchFamily="66" charset="0"/>
              </a:rPr>
              <a:t>-1</a:t>
            </a:r>
            <a:r>
              <a:rPr lang="en-US" sz="1400">
                <a:latin typeface="Comic Sans MS" pitchFamily="66" charset="0"/>
              </a:rPr>
              <a:t> FOM)</a:t>
            </a:r>
          </a:p>
          <a:p>
            <a:r>
              <a:rPr lang="en-US" sz="1400">
                <a:latin typeface="Comic Sans MS" pitchFamily="66" charset="0"/>
              </a:rPr>
              <a:t>Peak luminosity per day ~0.37 pb</a:t>
            </a:r>
            <a:r>
              <a:rPr lang="en-US" sz="1400" baseline="30000">
                <a:latin typeface="Comic Sans MS" pitchFamily="66" charset="0"/>
              </a:rPr>
              <a:t>-1</a:t>
            </a:r>
          </a:p>
        </p:txBody>
      </p:sp>
      <p:sp>
        <p:nvSpPr>
          <p:cNvPr id="4154" name="Rectangle 16"/>
          <p:cNvSpPr>
            <a:spLocks noChangeArrowheads="1"/>
          </p:cNvSpPr>
          <p:nvPr/>
        </p:nvSpPr>
        <p:spPr bwMode="auto">
          <a:xfrm>
            <a:off x="5029200" y="2438400"/>
            <a:ext cx="3886200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pp -  almost no progress on luminosity &amp; polarization development towards future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3/31/2008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PHENIX - MJL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9AD89B-E2C6-424E-8D1F-2046C4FC6BE0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5125" name="TextBox 7"/>
          <p:cNvSpPr txBox="1">
            <a:spLocks noChangeArrowheads="1"/>
          </p:cNvSpPr>
          <p:nvPr/>
        </p:nvSpPr>
        <p:spPr bwMode="auto">
          <a:xfrm>
            <a:off x="228600" y="3733800"/>
            <a:ext cx="37338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i="1">
                <a:latin typeface="Comic Sans MS" pitchFamily="66" charset="0"/>
              </a:rPr>
              <a:t>Black vertical lines are markers for Maintenance and/or APEX days</a:t>
            </a:r>
          </a:p>
        </p:txBody>
      </p:sp>
      <p:sp>
        <p:nvSpPr>
          <p:cNvPr id="5126" name="TextBox 8"/>
          <p:cNvSpPr txBox="1">
            <a:spLocks noChangeArrowheads="1"/>
          </p:cNvSpPr>
          <p:nvPr/>
        </p:nvSpPr>
        <p:spPr bwMode="auto">
          <a:xfrm>
            <a:off x="533400" y="219075"/>
            <a:ext cx="3581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mic Sans MS" pitchFamily="66" charset="0"/>
              </a:rPr>
              <a:t>200 GeV d+Au</a:t>
            </a:r>
          </a:p>
          <a:p>
            <a:pPr>
              <a:buFont typeface="Arial" charset="0"/>
              <a:buChar char="•"/>
            </a:pPr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 Live Time – 89%</a:t>
            </a:r>
          </a:p>
          <a:p>
            <a:pPr>
              <a:buFont typeface="Arial" charset="0"/>
              <a:buChar char="•"/>
            </a:pPr>
            <a:r>
              <a:rPr lang="en-US" sz="2000">
                <a:solidFill>
                  <a:srgbClr val="009900"/>
                </a:solidFill>
                <a:latin typeface="Comic Sans MS" pitchFamily="66" charset="0"/>
              </a:rPr>
              <a:t> PHENIX up – 77%</a:t>
            </a:r>
          </a:p>
          <a:p>
            <a:pPr>
              <a:buFont typeface="Arial" charset="0"/>
              <a:buChar char="•"/>
            </a:pPr>
            <a:r>
              <a:rPr lang="en-US" sz="2000">
                <a:latin typeface="Comic Sans MS" pitchFamily="66" charset="0"/>
              </a:rPr>
              <a:t> Overall (w/o vertex) – 68%</a:t>
            </a:r>
          </a:p>
        </p:txBody>
      </p:sp>
      <p:sp>
        <p:nvSpPr>
          <p:cNvPr id="5127" name="TextBox 7"/>
          <p:cNvSpPr txBox="1">
            <a:spLocks noChangeArrowheads="1"/>
          </p:cNvSpPr>
          <p:nvPr/>
        </p:nvSpPr>
        <p:spPr bwMode="auto">
          <a:xfrm>
            <a:off x="228600" y="4446588"/>
            <a:ext cx="4114800" cy="187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Comic Sans MS" pitchFamily="66" charset="0"/>
              </a:rPr>
              <a:t>200 GeV p+p</a:t>
            </a:r>
          </a:p>
          <a:p>
            <a:pPr>
              <a:buFont typeface="Arial" charset="0"/>
              <a:buChar char="•"/>
            </a:pPr>
            <a:r>
              <a:rPr lang="en-US" sz="2000">
                <a:solidFill>
                  <a:srgbClr val="FF0000"/>
                </a:solidFill>
                <a:latin typeface="Comic Sans MS" pitchFamily="66" charset="0"/>
              </a:rPr>
              <a:t> Live Time – 89%</a:t>
            </a:r>
          </a:p>
          <a:p>
            <a:pPr>
              <a:buFont typeface="Arial" charset="0"/>
              <a:buChar char="•"/>
            </a:pPr>
            <a:r>
              <a:rPr lang="en-US" sz="2000">
                <a:solidFill>
                  <a:srgbClr val="009900"/>
                </a:solidFill>
                <a:latin typeface="Comic Sans MS" pitchFamily="66" charset="0"/>
              </a:rPr>
              <a:t> PHENIX up – 69%</a:t>
            </a:r>
            <a:endParaRPr lang="en-US" sz="2000">
              <a:solidFill>
                <a:srgbClr val="FF0000"/>
              </a:solidFill>
              <a:latin typeface="Comic Sans MS" pitchFamily="66" charset="0"/>
            </a:endParaRPr>
          </a:p>
          <a:p>
            <a:pPr>
              <a:buFont typeface="Arial" charset="0"/>
              <a:buChar char="•"/>
            </a:pPr>
            <a:r>
              <a:rPr lang="en-US" sz="2000">
                <a:latin typeface="Comic Sans MS" pitchFamily="66" charset="0"/>
              </a:rPr>
              <a:t> Overall (w/o vertex) – 62%</a:t>
            </a:r>
            <a:endParaRPr lang="en-US" sz="2000">
              <a:solidFill>
                <a:srgbClr val="FF0000"/>
              </a:solidFill>
              <a:latin typeface="Comic Sans MS" pitchFamily="66" charset="0"/>
            </a:endParaRPr>
          </a:p>
          <a:p>
            <a:r>
              <a:rPr lang="en-US">
                <a:latin typeface="Comic Sans MS" pitchFamily="66" charset="0"/>
              </a:rPr>
              <a:t>(where 10% correction for loss due to CNI measurements is made)</a:t>
            </a:r>
          </a:p>
        </p:txBody>
      </p:sp>
      <p:sp>
        <p:nvSpPr>
          <p:cNvPr id="5128" name="TextBox 12"/>
          <p:cNvSpPr txBox="1">
            <a:spLocks noChangeArrowheads="1"/>
          </p:cNvSpPr>
          <p:nvPr/>
        </p:nvSpPr>
        <p:spPr bwMode="auto">
          <a:xfrm>
            <a:off x="304800" y="1752600"/>
            <a:ext cx="3810000" cy="1754188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solidFill>
                  <a:srgbClr val="0033CC"/>
                </a:solidFill>
                <a:latin typeface="Comic Sans MS" pitchFamily="66" charset="0"/>
              </a:rPr>
              <a:t>Vertex eff ~50% in both cases!</a:t>
            </a:r>
          </a:p>
          <a:p>
            <a:pPr>
              <a:buFont typeface="Arial" charset="0"/>
              <a:buChar char="•"/>
            </a:pPr>
            <a:r>
              <a:rPr lang="en-US">
                <a:solidFill>
                  <a:srgbClr val="FF0000"/>
                </a:solidFill>
                <a:latin typeface="Comic Sans MS" pitchFamily="66" charset="0"/>
              </a:rPr>
              <a:t> will be improved by Stochastic Cooling (SC) &amp; RF advances</a:t>
            </a:r>
          </a:p>
          <a:p>
            <a:pPr>
              <a:buFont typeface="Arial" charset="0"/>
              <a:buChar char="•"/>
            </a:pPr>
            <a:r>
              <a:rPr lang="en-US">
                <a:solidFill>
                  <a:srgbClr val="FF0000"/>
                </a:solidFill>
                <a:latin typeface="Comic Sans MS" pitchFamily="66" charset="0"/>
              </a:rPr>
              <a:t> but vertex detector upgrades use ±10 cm so even with SC can expect only 38% eff!!</a:t>
            </a:r>
          </a:p>
        </p:txBody>
      </p:sp>
      <p:pic>
        <p:nvPicPr>
          <p:cNvPr id="5129" name="Picture 11"/>
          <p:cNvPicPr>
            <a:picLocks noChangeAspect="1" noChangeArrowheads="1"/>
          </p:cNvPicPr>
          <p:nvPr/>
        </p:nvPicPr>
        <p:blipFill>
          <a:blip r:embed="rId3"/>
          <a:srcRect l="1636" r="8177" b="2461"/>
          <a:stretch>
            <a:fillRect/>
          </a:stretch>
        </p:blipFill>
        <p:spPr bwMode="auto">
          <a:xfrm>
            <a:off x="4522788" y="3330575"/>
            <a:ext cx="4330700" cy="3111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0" name="Picture 12"/>
          <p:cNvPicPr>
            <a:picLocks noChangeAspect="1" noChangeArrowheads="1"/>
          </p:cNvPicPr>
          <p:nvPr/>
        </p:nvPicPr>
        <p:blipFill>
          <a:blip r:embed="rId4"/>
          <a:srcRect l="1636" r="8177" b="2461"/>
          <a:stretch>
            <a:fillRect/>
          </a:stretch>
        </p:blipFill>
        <p:spPr bwMode="auto">
          <a:xfrm>
            <a:off x="4495800" y="134938"/>
            <a:ext cx="4371975" cy="314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3/31/2008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PHENIX - MJL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1B72AA-FD8C-434F-8613-4DEBFCB14640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3581400" y="685800"/>
            <a:ext cx="5410200" cy="5791200"/>
            <a:chOff x="228600" y="163975"/>
            <a:chExt cx="4879369" cy="5172154"/>
          </a:xfrm>
        </p:grpSpPr>
        <p:pic>
          <p:nvPicPr>
            <p:cNvPr id="6164" name="Picture 3" descr="C:\Documents and Settings\leitch\My Documents\phenix\run8\rhic_retreat\trigger\rc_trig_85k_bbcll1_run_252981.gif"/>
            <p:cNvPicPr>
              <a:picLocks noChangeAspect="1" noChangeArrowheads="1"/>
            </p:cNvPicPr>
            <p:nvPr/>
          </p:nvPicPr>
          <p:blipFill>
            <a:blip r:embed="rId2"/>
            <a:srcRect r="55814" b="21098"/>
            <a:stretch>
              <a:fillRect/>
            </a:stretch>
          </p:blipFill>
          <p:spPr bwMode="auto">
            <a:xfrm>
              <a:off x="228600" y="165100"/>
              <a:ext cx="3277208" cy="51604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5" name="Picture 3" descr="C:\Documents and Settings\leitch\My Documents\phenix\run8\rhic_retreat\trigger\rc_trig_85k_bbcll1_run_252981.gif"/>
            <p:cNvPicPr>
              <a:picLocks noChangeAspect="1" noChangeArrowheads="1"/>
            </p:cNvPicPr>
            <p:nvPr/>
          </p:nvPicPr>
          <p:blipFill>
            <a:blip r:embed="rId2"/>
            <a:srcRect l="53954" r="38139" b="21098"/>
            <a:stretch>
              <a:fillRect/>
            </a:stretch>
          </p:blipFill>
          <p:spPr bwMode="auto">
            <a:xfrm>
              <a:off x="3505200" y="163975"/>
              <a:ext cx="586482" cy="51605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6166" name="Picture 3" descr="C:\Documents and Settings\leitch\My Documents\phenix\run8\rhic_retreat\trigger\rc_trig_85k_bbcll1_run_252981.gif"/>
            <p:cNvPicPr>
              <a:picLocks noChangeAspect="1" noChangeArrowheads="1"/>
            </p:cNvPicPr>
            <p:nvPr/>
          </p:nvPicPr>
          <p:blipFill>
            <a:blip r:embed="rId2"/>
            <a:srcRect l="85580" b="21098"/>
            <a:stretch>
              <a:fillRect/>
            </a:stretch>
          </p:blipFill>
          <p:spPr bwMode="auto">
            <a:xfrm>
              <a:off x="4038600" y="175550"/>
              <a:ext cx="1069369" cy="51605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6150" name="TextBox 8"/>
          <p:cNvSpPr txBox="1">
            <a:spLocks noChangeArrowheads="1"/>
          </p:cNvSpPr>
          <p:nvPr/>
        </p:nvSpPr>
        <p:spPr bwMode="auto">
          <a:xfrm>
            <a:off x="2846388" y="3475038"/>
            <a:ext cx="841375" cy="908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bIns="0">
            <a:spAutoFit/>
          </a:bodyPr>
          <a:lstStyle/>
          <a:p>
            <a:r>
              <a:rPr lang="en-US" sz="1400" b="1"/>
              <a:t>thresh:</a:t>
            </a:r>
          </a:p>
          <a:p>
            <a:r>
              <a:rPr lang="en-US" sz="1400" b="1"/>
              <a:t>2.8 GeV</a:t>
            </a:r>
          </a:p>
          <a:p>
            <a:r>
              <a:rPr lang="en-US" sz="1400" b="1"/>
              <a:t>3.5 GeV</a:t>
            </a:r>
            <a:endParaRPr lang="en-US" sz="1600" b="1"/>
          </a:p>
          <a:p>
            <a:r>
              <a:rPr lang="en-US" sz="1400" b="1"/>
              <a:t>2.1 GeV</a:t>
            </a:r>
          </a:p>
        </p:txBody>
      </p:sp>
      <p:sp>
        <p:nvSpPr>
          <p:cNvPr id="6151" name="TextBox 11"/>
          <p:cNvSpPr txBox="1">
            <a:spLocks noChangeArrowheads="1"/>
          </p:cNvSpPr>
          <p:nvPr/>
        </p:nvSpPr>
        <p:spPr bwMode="auto">
          <a:xfrm>
            <a:off x="838200" y="152400"/>
            <a:ext cx="7223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latin typeface="Comic Sans MS" pitchFamily="66" charset="0"/>
              </a:rPr>
              <a:t>Waste No Rare Triggers – the PHENIX Strategy</a:t>
            </a:r>
          </a:p>
        </p:txBody>
      </p:sp>
      <p:sp>
        <p:nvSpPr>
          <p:cNvPr id="6152" name="TextBox 12"/>
          <p:cNvSpPr txBox="1">
            <a:spLocks noChangeArrowheads="1"/>
          </p:cNvSpPr>
          <p:nvPr/>
        </p:nvSpPr>
        <p:spPr bwMode="auto">
          <a:xfrm>
            <a:off x="228600" y="609600"/>
            <a:ext cx="3352800" cy="1477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Comic Sans MS" pitchFamily="66" charset="0"/>
              </a:rPr>
              <a:t>Actual trigger setup &amp; rates for one of the hottest Run8 dAu runs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omic Sans MS" pitchFamily="66" charset="0"/>
              </a:rPr>
              <a:t> &gt; 90% livetime</a:t>
            </a:r>
          </a:p>
          <a:p>
            <a:pPr>
              <a:buFont typeface="Arial" charset="0"/>
              <a:buChar char="•"/>
            </a:pPr>
            <a:r>
              <a:rPr lang="en-US">
                <a:latin typeface="Comic Sans MS" pitchFamily="66" charset="0"/>
              </a:rPr>
              <a:t> 85khz MB (BBC</a:t>
            </a:r>
            <a:r>
              <a:rPr lang="en-US" baseline="-25000">
                <a:latin typeface="Comic Sans MS" pitchFamily="66" charset="0"/>
              </a:rPr>
              <a:t>VtxCut</a:t>
            </a:r>
            <a:r>
              <a:rPr lang="en-US">
                <a:latin typeface="Comic Sans MS" pitchFamily="66" charset="0"/>
              </a:rPr>
              <a:t>) rate</a:t>
            </a:r>
          </a:p>
        </p:txBody>
      </p:sp>
      <p:sp>
        <p:nvSpPr>
          <p:cNvPr id="6153" name="Rectangle 13"/>
          <p:cNvSpPr>
            <a:spLocks noChangeArrowheads="1"/>
          </p:cNvSpPr>
          <p:nvPr/>
        </p:nvSpPr>
        <p:spPr bwMode="auto">
          <a:xfrm>
            <a:off x="808038" y="5287963"/>
            <a:ext cx="18764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0033CC"/>
                </a:solidFill>
                <a:latin typeface="Comic Sans MS" pitchFamily="66" charset="0"/>
                <a:sym typeface="Symbol" pitchFamily="18" charset="2"/>
              </a:rPr>
              <a:t> J/  </a:t>
            </a:r>
            <a:r>
              <a:rPr lang="en-US" sz="2400" baseline="30000">
                <a:solidFill>
                  <a:srgbClr val="0033CC"/>
                </a:solidFill>
                <a:latin typeface="Comic Sans MS" pitchFamily="66" charset="0"/>
                <a:sym typeface="Symbol" pitchFamily="18" charset="2"/>
              </a:rPr>
              <a:t>+</a:t>
            </a:r>
            <a:r>
              <a:rPr lang="en-US" sz="2400">
                <a:solidFill>
                  <a:srgbClr val="0033CC"/>
                </a:solidFill>
                <a:latin typeface="Comic Sans MS" pitchFamily="66" charset="0"/>
                <a:sym typeface="Symbol" pitchFamily="18" charset="2"/>
              </a:rPr>
              <a:t></a:t>
            </a:r>
            <a:r>
              <a:rPr lang="en-US" sz="2400" baseline="30000">
                <a:solidFill>
                  <a:srgbClr val="0033CC"/>
                </a:solidFill>
                <a:latin typeface="Comic Sans MS" pitchFamily="66" charset="0"/>
                <a:sym typeface="Symbol" pitchFamily="18" charset="2"/>
              </a:rPr>
              <a:t>-</a:t>
            </a:r>
            <a:endParaRPr lang="en-US" sz="2400" baseline="30000">
              <a:solidFill>
                <a:srgbClr val="0033CC"/>
              </a:solidFill>
              <a:latin typeface="Comic Sans MS" pitchFamily="66" charset="0"/>
            </a:endParaRPr>
          </a:p>
        </p:txBody>
      </p:sp>
      <p:sp>
        <p:nvSpPr>
          <p:cNvPr id="6154" name="Rectangle 14"/>
          <p:cNvSpPr>
            <a:spLocks noChangeArrowheads="1"/>
          </p:cNvSpPr>
          <p:nvPr/>
        </p:nvSpPr>
        <p:spPr bwMode="auto">
          <a:xfrm>
            <a:off x="762000" y="4572000"/>
            <a:ext cx="1857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FF0000"/>
                </a:solidFill>
                <a:latin typeface="Comic Sans MS" pitchFamily="66" charset="0"/>
              </a:rPr>
              <a:t> J/</a:t>
            </a:r>
            <a:r>
              <a:rPr lang="en-US" sz="240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  e</a:t>
            </a:r>
            <a:r>
              <a:rPr lang="en-US" sz="2400" baseline="3000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+</a:t>
            </a:r>
            <a:r>
              <a:rPr lang="en-US" sz="240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e</a:t>
            </a:r>
            <a:r>
              <a:rPr lang="en-US" sz="2400" baseline="30000">
                <a:solidFill>
                  <a:srgbClr val="FF0000"/>
                </a:solidFill>
                <a:latin typeface="Comic Sans MS" pitchFamily="66" charset="0"/>
                <a:sym typeface="Symbol" pitchFamily="18" charset="2"/>
              </a:rPr>
              <a:t>-</a:t>
            </a:r>
          </a:p>
        </p:txBody>
      </p:sp>
      <p:sp>
        <p:nvSpPr>
          <p:cNvPr id="6155" name="Rectangle 15"/>
          <p:cNvSpPr>
            <a:spLocks noChangeArrowheads="1"/>
          </p:cNvSpPr>
          <p:nvPr/>
        </p:nvSpPr>
        <p:spPr bwMode="auto">
          <a:xfrm>
            <a:off x="1020763" y="3575050"/>
            <a:ext cx="1776412" cy="76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latin typeface="Comic Sans MS" pitchFamily="66" charset="0"/>
              </a:rPr>
              <a:t> central-arm </a:t>
            </a:r>
          </a:p>
          <a:p>
            <a:pPr algn="ctr"/>
            <a:r>
              <a:rPr lang="en-US" sz="2400" b="1">
                <a:sym typeface="Symbol" pitchFamily="18" charset="2"/>
              </a:rPr>
              <a:t>,</a:t>
            </a:r>
            <a:r>
              <a:rPr lang="en-US" sz="2400" b="1" baseline="30000"/>
              <a:t>0</a:t>
            </a:r>
            <a:r>
              <a:rPr lang="en-US" sz="2400" b="1"/>
              <a:t>,</a:t>
            </a:r>
            <a:r>
              <a:rPr lang="en-US" sz="2400" b="1">
                <a:sym typeface="Symbol" pitchFamily="18" charset="2"/>
              </a:rPr>
              <a:t></a:t>
            </a:r>
            <a:r>
              <a:rPr lang="en-US" sz="2400" b="1" baseline="30000">
                <a:sym typeface="Symbol" pitchFamily="18" charset="2"/>
              </a:rPr>
              <a:t>±</a:t>
            </a:r>
            <a:r>
              <a:rPr lang="en-US" sz="2000">
                <a:latin typeface="Comic Sans MS" pitchFamily="66" charset="0"/>
              </a:rPr>
              <a:t>, etc</a:t>
            </a:r>
            <a:endParaRPr lang="en-US" sz="2400">
              <a:latin typeface="Comic Sans MS" pitchFamily="66" charset="0"/>
            </a:endParaRPr>
          </a:p>
        </p:txBody>
      </p:sp>
      <p:sp>
        <p:nvSpPr>
          <p:cNvPr id="6156" name="Rectangle 16"/>
          <p:cNvSpPr>
            <a:spLocks noChangeArrowheads="1"/>
          </p:cNvSpPr>
          <p:nvPr/>
        </p:nvSpPr>
        <p:spPr bwMode="auto">
          <a:xfrm>
            <a:off x="868363" y="2286000"/>
            <a:ext cx="1768475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>
                <a:solidFill>
                  <a:srgbClr val="009900"/>
                </a:solidFill>
                <a:latin typeface="Comic Sans MS" pitchFamily="66" charset="0"/>
              </a:rPr>
              <a:t>MPC Forward</a:t>
            </a:r>
          </a:p>
          <a:p>
            <a:pPr algn="ctr"/>
            <a:r>
              <a:rPr lang="en-US" sz="2000">
                <a:solidFill>
                  <a:srgbClr val="009900"/>
                </a:solidFill>
                <a:latin typeface="Comic Sans MS" pitchFamily="66" charset="0"/>
              </a:rPr>
              <a:t>Calorimeter</a:t>
            </a: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590800" y="5551488"/>
            <a:ext cx="762000" cy="76200"/>
          </a:xfrm>
          <a:prstGeom prst="straightConnector1">
            <a:avLst/>
          </a:prstGeom>
          <a:ln w="34925">
            <a:solidFill>
              <a:srgbClr val="0033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Left Brace 21"/>
          <p:cNvSpPr/>
          <p:nvPr/>
        </p:nvSpPr>
        <p:spPr>
          <a:xfrm>
            <a:off x="3429000" y="5410200"/>
            <a:ext cx="228600" cy="457200"/>
          </a:xfrm>
          <a:prstGeom prst="leftBrace">
            <a:avLst/>
          </a:prstGeom>
          <a:noFill/>
          <a:ln w="34925">
            <a:solidFill>
              <a:srgbClr val="0033C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7" name="Straight Arrow Connector 26"/>
          <p:cNvCxnSpPr>
            <a:stCxn id="6154" idx="3"/>
          </p:cNvCxnSpPr>
          <p:nvPr/>
        </p:nvCxnSpPr>
        <p:spPr>
          <a:xfrm flipV="1">
            <a:off x="2619375" y="4495800"/>
            <a:ext cx="962025" cy="306388"/>
          </a:xfrm>
          <a:prstGeom prst="straightConnector1">
            <a:avLst/>
          </a:prstGeom>
          <a:ln w="349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Left Brace 30"/>
          <p:cNvSpPr/>
          <p:nvPr/>
        </p:nvSpPr>
        <p:spPr>
          <a:xfrm>
            <a:off x="2667000" y="3709988"/>
            <a:ext cx="228600" cy="609600"/>
          </a:xfrm>
          <a:prstGeom prst="leftBrace">
            <a:avLst/>
          </a:prstGeom>
          <a:noFill/>
          <a:ln w="349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32" name="Left Brace 31"/>
          <p:cNvSpPr/>
          <p:nvPr/>
        </p:nvSpPr>
        <p:spPr>
          <a:xfrm>
            <a:off x="3419475" y="2479675"/>
            <a:ext cx="228600" cy="457200"/>
          </a:xfrm>
          <a:prstGeom prst="leftBrace">
            <a:avLst/>
          </a:prstGeom>
          <a:noFill/>
          <a:ln w="34925">
            <a:solidFill>
              <a:srgbClr val="00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33" name="Straight Arrow Connector 32"/>
          <p:cNvCxnSpPr/>
          <p:nvPr/>
        </p:nvCxnSpPr>
        <p:spPr>
          <a:xfrm>
            <a:off x="2579688" y="2614613"/>
            <a:ext cx="762000" cy="76200"/>
          </a:xfrm>
          <a:prstGeom prst="straightConnector1">
            <a:avLst/>
          </a:prstGeom>
          <a:ln w="34925">
            <a:solidFill>
              <a:srgbClr val="0099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63" name="TextBox 33"/>
          <p:cNvSpPr txBox="1">
            <a:spLocks noChangeArrowheads="1"/>
          </p:cNvSpPr>
          <p:nvPr/>
        </p:nvSpPr>
        <p:spPr bwMode="auto">
          <a:xfrm>
            <a:off x="228600" y="6096000"/>
            <a:ext cx="321786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i="1">
                <a:latin typeface="Comic Sans MS" pitchFamily="66" charset="0"/>
              </a:rPr>
              <a:t>(32 triggers total – some not shown)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706</Words>
  <Application>Microsoft Office PowerPoint</Application>
  <PresentationFormat>On-screen Show (4:3)</PresentationFormat>
  <Paragraphs>150</Paragraphs>
  <Slides>6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Office Theme</vt:lpstr>
      <vt:lpstr>Microsoft Equation 3.0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leitch</cp:lastModifiedBy>
  <cp:revision>8</cp:revision>
  <dcterms:created xsi:type="dcterms:W3CDTF">2006-08-16T00:00:00Z</dcterms:created>
  <dcterms:modified xsi:type="dcterms:W3CDTF">2008-04-02T22:43:13Z</dcterms:modified>
</cp:coreProperties>
</file>