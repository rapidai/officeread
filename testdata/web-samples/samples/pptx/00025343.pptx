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7" r:id="rId6"/>
    <p:sldId id="263" r:id="rId7"/>
    <p:sldId id="261" r:id="rId8"/>
    <p:sldId id="266" r:id="rId9"/>
    <p:sldId id="265" r:id="rId10"/>
    <p:sldId id="268" r:id="rId11"/>
    <p:sldId id="262" r:id="rId12"/>
    <p:sldId id="269"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703" autoAdjust="0"/>
  </p:normalViewPr>
  <p:slideViewPr>
    <p:cSldViewPr>
      <p:cViewPr varScale="1">
        <p:scale>
          <a:sx n="89" d="100"/>
          <a:sy n="89" d="100"/>
        </p:scale>
        <p:origin x="-2274"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CCA10002-C95C-4015-8325-854F480C62A5}" type="datetimeFigureOut">
              <a:rPr lang="en-US"/>
              <a:pPr>
                <a:defRPr/>
              </a:pPr>
              <a:t>6/18/2012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D0781553-8F3A-4ED4-A8B4-616250B7FC8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r>
              <a:rPr lang="en-CA" smtClean="0"/>
              <a:t>Bariatric obstetrics. Calls of scare providers vs care providers. Very little tracking on the rates of women with elevated BMI and how prevalent the physical incidences of morbidities really are. </a:t>
            </a:r>
          </a:p>
          <a:p>
            <a:r>
              <a:rPr lang="en-CA" smtClean="0"/>
              <a:t>Co-founder of Ottawa Fertility Centre, Dr. Arthur Leader will not treat women with BMI of higher than 35, yet others such as Dr. Anthony Cheung at UBC and Grace Fertility Centre add, “These people already know they have a problem – are you going to make it worse, add feelings of social injustice, low self-worth and depression?|”</a:t>
            </a:r>
          </a:p>
        </p:txBody>
      </p:sp>
      <p:sp>
        <p:nvSpPr>
          <p:cNvPr id="4" name="Slide Number Placeholder 3"/>
          <p:cNvSpPr>
            <a:spLocks noGrp="1"/>
          </p:cNvSpPr>
          <p:nvPr>
            <p:ph type="sldNum" sz="quarter" idx="5"/>
          </p:nvPr>
        </p:nvSpPr>
        <p:spPr/>
        <p:txBody>
          <a:bodyPr/>
          <a:lstStyle/>
          <a:p>
            <a:pPr>
              <a:defRPr/>
            </a:pPr>
            <a:fld id="{47970C09-DDE1-4073-952D-AE6626801F28}" type="slidenum">
              <a:rPr lang="en-US" smtClean="0"/>
              <a:pPr>
                <a:defRPr/>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p:spPr>
      </p:sp>
      <p:sp>
        <p:nvSpPr>
          <p:cNvPr id="204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buFontTx/>
              <a:buChar char="•"/>
            </a:pPr>
            <a:r>
              <a:rPr lang="en-US" b="1" smtClean="0"/>
              <a:t>First point</a:t>
            </a:r>
            <a:r>
              <a:rPr lang="en-US" smtClean="0"/>
              <a:t>: With the political issues, have been deep philosophical differences (woman-centred vs. Medical). This was sometimes evident in the caregivers’ answers as they referred to women. One midwife noted, “It’s just that midwives have a different focus. They see giving birth and pregnancy as something normal that happens in a woman’s life. And obstetricians look for the risk, the catastrophe that is waiting to happen… When we’re looking at an obese woman we say okay, we have a lot of obese women, and yes, they can give birth just fine and we’ll work with that. We strive to keep things normal and support the normal process of having a baby and the joy of it. We don’t like to subscribe to the risk talk”. Regardless, it was often felt that team approach – interprofessional collaboration, or share-care,  were felt to be a solid approach in working with women, in particular women with obesity (as suggested by one midwife). Nova Scotia was noted to be doing more of that than in Sask.</a:t>
            </a:r>
          </a:p>
          <a:p>
            <a:pPr eaLnBrk="1" hangingPunct="1">
              <a:spcBef>
                <a:spcPct val="0"/>
              </a:spcBef>
              <a:buFontTx/>
              <a:buChar char="•"/>
            </a:pPr>
            <a:r>
              <a:rPr lang="en-US" smtClean="0"/>
              <a:t> </a:t>
            </a:r>
            <a:r>
              <a:rPr lang="en-US" b="1" smtClean="0"/>
              <a:t>Second point</a:t>
            </a:r>
            <a:r>
              <a:rPr lang="en-US" smtClean="0"/>
              <a:t>: Another hcp,  </a:t>
            </a:r>
            <a:r>
              <a:rPr lang="en-CA" smtClean="0"/>
              <a:t>One nurse comments,”Some of the doctors have a hard time with the fact that they’re overweight. It’s a personal...  Their personal opinions come into play.  And I have heard the anesthetist too in particular would say you’re too fat.  “You’re too fat. I can’t get this. You’re too fat.” And going on and on and on about it while they’re trying to put an epidural in. “</a:t>
            </a:r>
          </a:p>
          <a:p>
            <a:pPr eaLnBrk="1" hangingPunct="1">
              <a:spcBef>
                <a:spcPct val="0"/>
              </a:spcBef>
              <a:buFontTx/>
              <a:buChar char="•"/>
            </a:pPr>
            <a:r>
              <a:rPr lang="en-CA" smtClean="0"/>
              <a:t>Another maternity unit nurse, “</a:t>
            </a:r>
            <a:r>
              <a:rPr lang="en-US" smtClean="0"/>
              <a:t>All of us hate it [working with their large sizes] and I know that they pick up on it.  Ideally it would be better if they never got that way but there you are I don’t know what you would do.  Some physicians are totally rude to their patients even about it and I don’t think that’s the way to go about it.  It’s a problem – it’s a big problem.</a:t>
            </a:r>
            <a:endParaRPr lang="en-CA" smtClean="0"/>
          </a:p>
          <a:p>
            <a:pPr eaLnBrk="1" hangingPunct="1">
              <a:spcBef>
                <a:spcPct val="0"/>
              </a:spcBef>
              <a:buFontTx/>
              <a:buChar char="•"/>
            </a:pPr>
            <a:r>
              <a:rPr lang="en-CA" smtClean="0"/>
              <a:t> </a:t>
            </a:r>
            <a:r>
              <a:rPr lang="en-US" b="1" smtClean="0"/>
              <a:t>Point three</a:t>
            </a:r>
            <a:r>
              <a:rPr lang="en-US" smtClean="0"/>
              <a:t>: One caregiver, “you probably give them a more supportive introduction when they have what you can foresee as difficulties at the beginning. Like for example, with weight and that you know the severity of weight problems for them and for their offspring. So you probably take a little extra time with them in order to reinforce a very positive aspect of healthy weight gain and healthy living during their pregnancy”.</a:t>
            </a:r>
          </a:p>
        </p:txBody>
      </p:sp>
      <p:sp>
        <p:nvSpPr>
          <p:cNvPr id="1638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0426E8C-E9A1-418E-A539-0158A22865EB}" type="slidenum">
              <a:rPr lang="en-US" smtClean="0"/>
              <a:pPr fontAlgn="base">
                <a:spcBef>
                  <a:spcPct val="0"/>
                </a:spcBef>
                <a:spcAft>
                  <a:spcPct val="0"/>
                </a:spcAft>
                <a:defRPr/>
              </a:pPr>
              <a:t>6</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p:spPr>
      </p:sp>
      <p:sp>
        <p:nvSpPr>
          <p:cNvPr id="215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buFontTx/>
              <a:buChar char="-"/>
            </a:pPr>
            <a:r>
              <a:rPr lang="en-US" smtClean="0"/>
              <a:t>Point one: Notion of pregnant women focusing on her baby more than herself. </a:t>
            </a:r>
          </a:p>
          <a:p>
            <a:pPr eaLnBrk="1" hangingPunct="1">
              <a:spcBef>
                <a:spcPct val="0"/>
              </a:spcBef>
              <a:buFontTx/>
              <a:buChar char="-"/>
            </a:pPr>
            <a:r>
              <a:rPr lang="en-US" smtClean="0"/>
              <a:t>Point two – socialized role of pregnancy – what does the “look” of pregnancy look like – models and media role in shaping stereotypes, self-perception</a:t>
            </a:r>
          </a:p>
        </p:txBody>
      </p:sp>
      <p:sp>
        <p:nvSpPr>
          <p:cNvPr id="174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FB88277-B000-4905-9CFB-8BD707D0C17B}" type="slidenum">
              <a:rPr lang="en-US" smtClean="0"/>
              <a:pPr fontAlgn="base">
                <a:spcBef>
                  <a:spcPct val="0"/>
                </a:spcBef>
                <a:spcAft>
                  <a:spcPct val="0"/>
                </a:spcAft>
                <a:defRPr/>
              </a:pPr>
              <a:t>7</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p:spPr>
      </p:sp>
      <p:sp>
        <p:nvSpPr>
          <p:cNvPr id="225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buFontTx/>
              <a:buChar char="-"/>
            </a:pPr>
            <a:r>
              <a:rPr lang="en-US" smtClean="0"/>
              <a:t>one woman commented that her caregiver – a midwife – was “fat-phoebic” right from the beginning and insisted that she birth in the hospital.  She comments, “From the first appointment everything degenerated to my weight and how I was going to have hypertension and I was probably going to be pre-clampsic and I was probably going to have gestational diabetes and not even look at having a home birth and be prepared for a C-Section or to have an epidural from the very beginning and it was always about that.”</a:t>
            </a:r>
          </a:p>
          <a:p>
            <a:pPr eaLnBrk="1" hangingPunct="1">
              <a:spcBef>
                <a:spcPct val="0"/>
              </a:spcBef>
              <a:buFontTx/>
              <a:buChar char="-"/>
            </a:pPr>
            <a:r>
              <a:rPr lang="en-US" smtClean="0"/>
              <a:t>On issue of wanting to discuss weight – women felt they had to bring it up because caregivers were apprehensive to (but notably caregivers we interviewed often didn’t bring it up for fear they may lose patient or upset them)</a:t>
            </a:r>
          </a:p>
          <a:p>
            <a:endParaRPr lang="en-CA" smtClean="0"/>
          </a:p>
        </p:txBody>
      </p:sp>
      <p:sp>
        <p:nvSpPr>
          <p:cNvPr id="4" name="Slide Number Placeholder 3"/>
          <p:cNvSpPr>
            <a:spLocks noGrp="1"/>
          </p:cNvSpPr>
          <p:nvPr>
            <p:ph type="sldNum" sz="quarter" idx="5"/>
          </p:nvPr>
        </p:nvSpPr>
        <p:spPr/>
        <p:txBody>
          <a:bodyPr/>
          <a:lstStyle/>
          <a:p>
            <a:pPr>
              <a:defRPr/>
            </a:pPr>
            <a:fld id="{692A6EF1-8E9F-4F94-AA96-E17AC425269A}" type="slidenum">
              <a:rPr lang="en-US" smtClean="0"/>
              <a:pPr>
                <a:defRPr/>
              </a:pPr>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p:spPr>
      </p:sp>
      <p:sp>
        <p:nvSpPr>
          <p:cNvPr id="2355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 </a:t>
            </a:r>
          </a:p>
          <a:p>
            <a:pPr eaLnBrk="1" hangingPunct="1">
              <a:spcBef>
                <a:spcPct val="0"/>
              </a:spcBef>
              <a:buFontTx/>
              <a:buChar char="-"/>
            </a:pPr>
            <a:r>
              <a:rPr lang="en-US" smtClean="0"/>
              <a:t>– on emotion of self blame/guilt – “Oh and everyone was saying, ‘Oh that’s going to be a big baby’ or ‘oh you’re gaining a bunch of weight’. It was so annoying… It made me feel like I was hurting my baby, that I was gaining too much weight. That I was setting him up for a lifelong risk of obesity, which I didn’t want for him”.</a:t>
            </a:r>
          </a:p>
          <a:p>
            <a:pPr lvl="1" eaLnBrk="1" hangingPunct="1">
              <a:spcBef>
                <a:spcPct val="0"/>
              </a:spcBef>
              <a:buFontTx/>
              <a:buChar char="-"/>
            </a:pPr>
            <a:r>
              <a:rPr lang="en-US" smtClean="0"/>
              <a:t>On fear of judgment – So when I went in, it was almost like sneaking in. Like you know, I know I’m not supposed to be overweight and get pregnant but I did… </a:t>
            </a:r>
          </a:p>
          <a:p>
            <a:pPr lvl="1" eaLnBrk="1" hangingPunct="1">
              <a:spcBef>
                <a:spcPct val="0"/>
              </a:spcBef>
              <a:buFontTx/>
              <a:buChar char="-"/>
            </a:pPr>
            <a:r>
              <a:rPr lang="en-US" smtClean="0"/>
              <a:t>Q: So would it be fair to say that you hid some information from your healthcare provider because you feared judgement?</a:t>
            </a:r>
          </a:p>
          <a:p>
            <a:pPr lvl="1" eaLnBrk="1" hangingPunct="1">
              <a:spcBef>
                <a:spcPct val="0"/>
              </a:spcBef>
              <a:buFontTx/>
              <a:buChar char="-"/>
            </a:pPr>
            <a:r>
              <a:rPr lang="en-US" smtClean="0"/>
              <a:t>-I did yes. Yes, he didn’t know any of the fertility information I was seekign out. Nor did he know the tracking I was doing. Nor did he know that I came off birth control pills. So yes, I dare say there was a lot of hidden stuff”…</a:t>
            </a:r>
          </a:p>
          <a:p>
            <a:pPr eaLnBrk="1" hangingPunct="1">
              <a:spcBef>
                <a:spcPct val="0"/>
              </a:spcBef>
            </a:pPr>
            <a:endParaRPr lang="en-US" smtClean="0"/>
          </a:p>
          <a:p>
            <a:endParaRPr lang="en-CA" smtClean="0"/>
          </a:p>
        </p:txBody>
      </p:sp>
      <p:sp>
        <p:nvSpPr>
          <p:cNvPr id="4" name="Slide Number Placeholder 3"/>
          <p:cNvSpPr>
            <a:spLocks noGrp="1"/>
          </p:cNvSpPr>
          <p:nvPr>
            <p:ph type="sldNum" sz="quarter" idx="5"/>
          </p:nvPr>
        </p:nvSpPr>
        <p:spPr/>
        <p:txBody>
          <a:bodyPr/>
          <a:lstStyle/>
          <a:p>
            <a:pPr>
              <a:defRPr/>
            </a:pPr>
            <a:fld id="{FD2CFB94-C76E-4E87-8EA2-47DA23FCFD5E}" type="slidenum">
              <a:rPr lang="en-US" smtClean="0"/>
              <a:pPr>
                <a:defRPr/>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4" name="Rectangle 3"/>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Straight Connector 4"/>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a:lstStyle>
            <a:extLst/>
          </a:lstStyle>
          <a:p>
            <a:pPr fontAlgn="auto">
              <a:spcBef>
                <a:spcPts val="0"/>
              </a:spcBef>
              <a:spcAft>
                <a:spcPts val="0"/>
              </a:spcAft>
              <a:defRPr/>
            </a:pPr>
            <a:endParaRPr lang="en-US">
              <a:latin typeface="+mn-lt"/>
            </a:endParaRPr>
          </a:p>
        </p:txBody>
      </p:sp>
      <p:sp>
        <p:nvSpPr>
          <p:cNvPr id="12" name="Title 11"/>
          <p:cNvSpPr>
            <a:spLocks noGrp="1"/>
          </p:cNvSpPr>
          <p:nvPr>
            <p:ph type="ctrTitle"/>
          </p:nvPr>
        </p:nvSpPr>
        <p:spPr>
          <a:xfrm>
            <a:off x="3366868" y="533400"/>
            <a:ext cx="5105400" cy="2868168"/>
          </a:xfrm>
        </p:spPr>
        <p:txBody>
          <a:bodyPr>
            <a:noAutofit/>
          </a:bodyPr>
          <a:lstStyle>
            <a:lvl1pPr algn="r">
              <a:defRPr sz="4200" b="1"/>
            </a:lvl1pPr>
            <a:extLst/>
          </a:lstStyle>
          <a:p>
            <a:r>
              <a:rPr lang="en-US" smtClean="0"/>
              <a:t>Click to edit Master title style</a:t>
            </a:r>
            <a:endParaRPr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30"/>
          <p:cNvSpPr>
            <a:spLocks noGrp="1"/>
          </p:cNvSpPr>
          <p:nvPr>
            <p:ph type="dt" sz="half" idx="10"/>
          </p:nvPr>
        </p:nvSpPr>
        <p:spPr>
          <a:xfrm>
            <a:off x="5870575" y="6557963"/>
            <a:ext cx="2003425" cy="227012"/>
          </a:xfrm>
        </p:spPr>
        <p:txBody>
          <a:bodyPr/>
          <a:lstStyle>
            <a:lvl1pPr>
              <a:defRPr lang="en-US">
                <a:solidFill>
                  <a:srgbClr val="FFFFFF"/>
                </a:solidFill>
              </a:defRPr>
            </a:lvl1pPr>
            <a:extLst/>
          </a:lstStyle>
          <a:p>
            <a:pPr>
              <a:defRPr/>
            </a:pPr>
            <a:fld id="{DE61218C-2335-49FB-B1C4-4ABA37FF0F6C}" type="datetimeFigureOut">
              <a:rPr/>
              <a:pPr>
                <a:defRPr/>
              </a:pPr>
              <a:t>6/18/2012</a:t>
            </a:fld>
            <a:endParaRPr/>
          </a:p>
        </p:txBody>
      </p:sp>
      <p:sp>
        <p:nvSpPr>
          <p:cNvPr id="7" name="Footer Placeholder 17"/>
          <p:cNvSpPr>
            <a:spLocks noGrp="1"/>
          </p:cNvSpPr>
          <p:nvPr>
            <p:ph type="ftr" sz="quarter" idx="11"/>
          </p:nvPr>
        </p:nvSpPr>
        <p:spPr>
          <a:xfrm>
            <a:off x="2819400" y="6557963"/>
            <a:ext cx="2927350" cy="228600"/>
          </a:xfrm>
        </p:spPr>
        <p:txBody>
          <a:bodyPr/>
          <a:lstStyle>
            <a:lvl1pPr>
              <a:defRPr lang="en-US">
                <a:solidFill>
                  <a:srgbClr val="FFFFFF"/>
                </a:solidFill>
              </a:defRPr>
            </a:lvl1pPr>
            <a:extLst/>
          </a:lstStyle>
          <a:p>
            <a:pPr>
              <a:defRPr/>
            </a:pPr>
            <a:endParaRPr/>
          </a:p>
        </p:txBody>
      </p:sp>
      <p:sp>
        <p:nvSpPr>
          <p:cNvPr id="8" name="Slide Number Placeholder 28"/>
          <p:cNvSpPr>
            <a:spLocks noGrp="1"/>
          </p:cNvSpPr>
          <p:nvPr>
            <p:ph type="sldNum" sz="quarter" idx="12"/>
          </p:nvPr>
        </p:nvSpPr>
        <p:spPr>
          <a:xfrm>
            <a:off x="7880350" y="6556375"/>
            <a:ext cx="588963" cy="228600"/>
          </a:xfrm>
        </p:spPr>
        <p:txBody>
          <a:bodyPr/>
          <a:lstStyle>
            <a:lvl1pPr>
              <a:defRPr lang="en-US">
                <a:solidFill>
                  <a:srgbClr val="FFFFFF"/>
                </a:solidFill>
              </a:defRPr>
            </a:lvl1pPr>
            <a:extLst/>
          </a:lstStyle>
          <a:p>
            <a:pPr>
              <a:defRPr/>
            </a:pPr>
            <a:fld id="{3EA80597-0136-4FB5-B940-09651AD34E71}" type="slidenum">
              <a:rPr/>
              <a:pPr>
                <a:defRPr/>
              </a:pPr>
              <a:t>‹#›</a:t>
            </a:fld>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6"/>
          <p:cNvSpPr>
            <a:spLocks noGrp="1"/>
          </p:cNvSpPr>
          <p:nvPr>
            <p:ph type="dt" sz="half" idx="10"/>
          </p:nvPr>
        </p:nvSpPr>
        <p:spPr/>
        <p:txBody>
          <a:bodyPr/>
          <a:lstStyle>
            <a:lvl1pPr>
              <a:defRPr/>
            </a:lvl1pPr>
          </a:lstStyle>
          <a:p>
            <a:pPr>
              <a:defRPr/>
            </a:pPr>
            <a:fld id="{1A87A75C-3B0F-4285-B73C-DFACBB6DFA88}" type="datetimeFigureOut">
              <a:rPr lang="en-US"/>
              <a:pPr>
                <a:defRPr/>
              </a:pPr>
              <a:t>6/18/2012</a:t>
            </a:fld>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15"/>
          <p:cNvSpPr>
            <a:spLocks noGrp="1"/>
          </p:cNvSpPr>
          <p:nvPr>
            <p:ph type="sldNum" sz="quarter" idx="12"/>
          </p:nvPr>
        </p:nvSpPr>
        <p:spPr/>
        <p:txBody>
          <a:bodyPr/>
          <a:lstStyle>
            <a:lvl1pPr>
              <a:defRPr/>
            </a:lvl1pPr>
          </a:lstStyle>
          <a:p>
            <a:pPr>
              <a:defRPr/>
            </a:pPr>
            <a:fld id="{5E0637F8-F56F-46F6-AAF1-D0B0E54CB93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anchor="t"/>
          <a:lstStyle>
            <a:lvl1pPr algn="r">
              <a:buNone/>
              <a:defRPr sz="42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4" name="Date Placeholder 3"/>
          <p:cNvSpPr>
            <a:spLocks noGrp="1"/>
          </p:cNvSpPr>
          <p:nvPr>
            <p:ph type="dt" sz="half" idx="10"/>
          </p:nvPr>
        </p:nvSpPr>
        <p:spPr>
          <a:xfrm>
            <a:off x="4724400" y="6556375"/>
            <a:ext cx="2001838" cy="227013"/>
          </a:xfrm>
        </p:spPr>
        <p:txBody>
          <a:bodyPr/>
          <a:lstStyle>
            <a:lvl1pPr>
              <a:defRPr>
                <a:solidFill>
                  <a:schemeClr val="tx2"/>
                </a:solidFill>
              </a:defRPr>
            </a:lvl1pPr>
            <a:extLst/>
          </a:lstStyle>
          <a:p>
            <a:pPr>
              <a:defRPr/>
            </a:pPr>
            <a:fld id="{DC4A986A-17C2-4AAB-B7CB-C5A1D64E28B0}" type="datetimeFigureOut">
              <a:rPr lang="en-US"/>
              <a:pPr>
                <a:defRPr/>
              </a:pPr>
              <a:t>6/18/2012</a:t>
            </a:fld>
            <a:endParaRPr lang="en-US"/>
          </a:p>
        </p:txBody>
      </p:sp>
      <p:sp>
        <p:nvSpPr>
          <p:cNvPr id="5" name="Footer Placeholder 4"/>
          <p:cNvSpPr>
            <a:spLocks noGrp="1"/>
          </p:cNvSpPr>
          <p:nvPr>
            <p:ph type="ftr" sz="quarter" idx="11"/>
          </p:nvPr>
        </p:nvSpPr>
        <p:spPr>
          <a:xfrm>
            <a:off x="1735138" y="6556375"/>
            <a:ext cx="2895600" cy="228600"/>
          </a:xfrm>
        </p:spPr>
        <p:txBody>
          <a:bodyPr/>
          <a:lstStyle>
            <a:lvl1pPr>
              <a:defRPr>
                <a:solidFill>
                  <a:schemeClr val="tx2"/>
                </a:solidFill>
              </a:defRPr>
            </a:lvl1pPr>
            <a:extLst/>
          </a:lstStyle>
          <a:p>
            <a:pPr>
              <a:defRPr/>
            </a:pPr>
            <a:endParaRPr lang="en-US"/>
          </a:p>
        </p:txBody>
      </p:sp>
      <p:sp>
        <p:nvSpPr>
          <p:cNvPr id="6" name="Slide Number Placeholder 5"/>
          <p:cNvSpPr>
            <a:spLocks noGrp="1"/>
          </p:cNvSpPr>
          <p:nvPr>
            <p:ph type="sldNum" sz="quarter" idx="12"/>
          </p:nvPr>
        </p:nvSpPr>
        <p:spPr>
          <a:xfrm>
            <a:off x="6734175" y="6554788"/>
            <a:ext cx="587375" cy="228600"/>
          </a:xfrm>
        </p:spPr>
        <p:txBody>
          <a:bodyPr/>
          <a:lstStyle>
            <a:lvl1pPr>
              <a:defRPr/>
            </a:lvl1pPr>
            <a:extLst/>
          </a:lstStyle>
          <a:p>
            <a:pPr>
              <a:defRPr/>
            </a:pPr>
            <a:fld id="{9EA90002-951D-4C71-99FD-F8B44DD47616}"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457200" y="1600200"/>
            <a:ext cx="352044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178808" y="1600200"/>
            <a:ext cx="352044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6"/>
          <p:cNvSpPr>
            <a:spLocks noGrp="1"/>
          </p:cNvSpPr>
          <p:nvPr>
            <p:ph type="dt" sz="half" idx="10"/>
          </p:nvPr>
        </p:nvSpPr>
        <p:spPr/>
        <p:txBody>
          <a:bodyPr/>
          <a:lstStyle>
            <a:lvl1pPr>
              <a:defRPr/>
            </a:lvl1pPr>
          </a:lstStyle>
          <a:p>
            <a:pPr>
              <a:defRPr/>
            </a:pPr>
            <a:fld id="{D54930F3-10EC-44E9-A87E-521AFA62CFD6}" type="datetimeFigureOut">
              <a:rPr lang="en-US"/>
              <a:pPr>
                <a:defRPr/>
              </a:pPr>
              <a:t>6/18/2012</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15"/>
          <p:cNvSpPr>
            <a:spLocks noGrp="1"/>
          </p:cNvSpPr>
          <p:nvPr>
            <p:ph type="sldNum" sz="quarter" idx="12"/>
          </p:nvPr>
        </p:nvSpPr>
        <p:spPr/>
        <p:txBody>
          <a:bodyPr/>
          <a:lstStyle>
            <a:lvl1pPr>
              <a:defRPr/>
            </a:lvl1pPr>
          </a:lstStyle>
          <a:p>
            <a:pPr>
              <a:defRPr/>
            </a:pPr>
            <a:fld id="{4DEE62D7-E088-42D0-9FEB-92825882C89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6"/>
          <p:cNvSpPr>
            <a:spLocks noGrp="1"/>
          </p:cNvSpPr>
          <p:nvPr>
            <p:ph type="dt" sz="half" idx="10"/>
          </p:nvPr>
        </p:nvSpPr>
        <p:spPr/>
        <p:txBody>
          <a:bodyPr/>
          <a:lstStyle>
            <a:lvl1pPr>
              <a:defRPr/>
            </a:lvl1pPr>
          </a:lstStyle>
          <a:p>
            <a:pPr>
              <a:defRPr/>
            </a:pPr>
            <a:fld id="{06769A3A-3084-4BC1-82EA-258769D57192}" type="datetimeFigureOut">
              <a:rPr lang="en-US"/>
              <a:pPr>
                <a:defRPr/>
              </a:pPr>
              <a:t>6/18/2012</a:t>
            </a:fld>
            <a:endParaRPr lang="en-US"/>
          </a:p>
        </p:txBody>
      </p:sp>
      <p:sp>
        <p:nvSpPr>
          <p:cNvPr id="8" name="Footer Placeholder 3"/>
          <p:cNvSpPr>
            <a:spLocks noGrp="1"/>
          </p:cNvSpPr>
          <p:nvPr>
            <p:ph type="ftr" sz="quarter" idx="11"/>
          </p:nvPr>
        </p:nvSpPr>
        <p:spPr/>
        <p:txBody>
          <a:bodyPr/>
          <a:lstStyle>
            <a:lvl1pPr>
              <a:defRPr/>
            </a:lvl1pPr>
          </a:lstStyle>
          <a:p>
            <a:pPr>
              <a:defRPr/>
            </a:pPr>
            <a:endParaRPr lang="en-US"/>
          </a:p>
        </p:txBody>
      </p:sp>
      <p:sp>
        <p:nvSpPr>
          <p:cNvPr id="9" name="Slide Number Placeholder 15"/>
          <p:cNvSpPr>
            <a:spLocks noGrp="1"/>
          </p:cNvSpPr>
          <p:nvPr>
            <p:ph type="sldNum" sz="quarter" idx="12"/>
          </p:nvPr>
        </p:nvSpPr>
        <p:spPr/>
        <p:txBody>
          <a:bodyPr/>
          <a:lstStyle>
            <a:lvl1pPr>
              <a:defRPr/>
            </a:lvl1pPr>
          </a:lstStyle>
          <a:p>
            <a:pPr>
              <a:defRPr/>
            </a:pPr>
            <a:fld id="{8BB7635B-3AA2-414E-92BA-304E67BA4CB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lang="en-US" smtClean="0"/>
              <a:t>Click to edit Master title style</a:t>
            </a:r>
            <a:endParaRPr lang="en-US"/>
          </a:p>
        </p:txBody>
      </p:sp>
      <p:sp>
        <p:nvSpPr>
          <p:cNvPr id="3" name="Date Placeholder 26"/>
          <p:cNvSpPr>
            <a:spLocks noGrp="1"/>
          </p:cNvSpPr>
          <p:nvPr>
            <p:ph type="dt" sz="half" idx="10"/>
          </p:nvPr>
        </p:nvSpPr>
        <p:spPr/>
        <p:txBody>
          <a:bodyPr/>
          <a:lstStyle>
            <a:lvl1pPr>
              <a:defRPr/>
            </a:lvl1pPr>
          </a:lstStyle>
          <a:p>
            <a:pPr>
              <a:defRPr/>
            </a:pPr>
            <a:fld id="{166FE3D5-E84B-4062-A6A9-5310B77FB7F6}" type="datetimeFigureOut">
              <a:rPr lang="en-US"/>
              <a:pPr>
                <a:defRPr/>
              </a:pPr>
              <a:t>6/18/2012</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15"/>
          <p:cNvSpPr>
            <a:spLocks noGrp="1"/>
          </p:cNvSpPr>
          <p:nvPr>
            <p:ph type="sldNum" sz="quarter" idx="12"/>
          </p:nvPr>
        </p:nvSpPr>
        <p:spPr/>
        <p:txBody>
          <a:bodyPr/>
          <a:lstStyle>
            <a:lvl1pPr>
              <a:defRPr/>
            </a:lvl1pPr>
          </a:lstStyle>
          <a:p>
            <a:pPr>
              <a:defRPr/>
            </a:pPr>
            <a:fld id="{CF5536BD-1068-4F0E-954A-A6CA2E1F585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6"/>
          <p:cNvSpPr>
            <a:spLocks noGrp="1"/>
          </p:cNvSpPr>
          <p:nvPr>
            <p:ph type="dt" sz="half" idx="10"/>
          </p:nvPr>
        </p:nvSpPr>
        <p:spPr/>
        <p:txBody>
          <a:bodyPr/>
          <a:lstStyle>
            <a:lvl1pPr>
              <a:defRPr/>
            </a:lvl1pPr>
          </a:lstStyle>
          <a:p>
            <a:pPr>
              <a:defRPr/>
            </a:pPr>
            <a:fld id="{AD72D289-1ED4-4C49-9F35-10176F7699C5}" type="datetimeFigureOut">
              <a:rPr lang="en-US"/>
              <a:pPr>
                <a:defRPr/>
              </a:pPr>
              <a:t>6/18/2012</a:t>
            </a:fld>
            <a:endParaRPr lang="en-US"/>
          </a:p>
        </p:txBody>
      </p:sp>
      <p:sp>
        <p:nvSpPr>
          <p:cNvPr id="3" name="Footer Placeholder 3"/>
          <p:cNvSpPr>
            <a:spLocks noGrp="1"/>
          </p:cNvSpPr>
          <p:nvPr>
            <p:ph type="ftr" sz="quarter" idx="11"/>
          </p:nvPr>
        </p:nvSpPr>
        <p:spPr/>
        <p:txBody>
          <a:bodyPr/>
          <a:lstStyle>
            <a:lvl1pPr>
              <a:defRPr/>
            </a:lvl1pPr>
          </a:lstStyle>
          <a:p>
            <a:pPr>
              <a:defRPr/>
            </a:pPr>
            <a:endParaRPr lang="en-US"/>
          </a:p>
        </p:txBody>
      </p:sp>
      <p:sp>
        <p:nvSpPr>
          <p:cNvPr id="4" name="Slide Number Placeholder 15"/>
          <p:cNvSpPr>
            <a:spLocks noGrp="1"/>
          </p:cNvSpPr>
          <p:nvPr>
            <p:ph type="sldNum" sz="quarter" idx="12"/>
          </p:nvPr>
        </p:nvSpPr>
        <p:spPr/>
        <p:txBody>
          <a:bodyPr/>
          <a:lstStyle>
            <a:lvl1pPr>
              <a:defRPr/>
            </a:lvl1pPr>
          </a:lstStyle>
          <a:p>
            <a:pPr>
              <a:defRPr/>
            </a:pPr>
            <a:fld id="{96C05D38-361E-43BA-80D9-4CF277FC48C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lstStyle>
            <a:lvl1pPr algn="l">
              <a:buNone/>
              <a:defRPr lang="en-US" sz="2400" baseline="0" smtClean="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lIns="45720" tIns="0" rIns="0" bIns="0" spcCol="0" rtlCol="0" fromWordArt="0" forceAA="0">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6"/>
          <p:cNvSpPr>
            <a:spLocks noGrp="1"/>
          </p:cNvSpPr>
          <p:nvPr>
            <p:ph type="dt" sz="half" idx="10"/>
          </p:nvPr>
        </p:nvSpPr>
        <p:spPr/>
        <p:txBody>
          <a:bodyPr/>
          <a:lstStyle>
            <a:lvl1pPr>
              <a:defRPr/>
            </a:lvl1pPr>
          </a:lstStyle>
          <a:p>
            <a:pPr>
              <a:defRPr/>
            </a:pPr>
            <a:fld id="{9F51CFC5-0D84-494F-9DA8-A450D8699310}" type="datetimeFigureOut">
              <a:rPr lang="en-US"/>
              <a:pPr>
                <a:defRPr/>
              </a:pPr>
              <a:t>6/18/2012</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15"/>
          <p:cNvSpPr>
            <a:spLocks noGrp="1"/>
          </p:cNvSpPr>
          <p:nvPr>
            <p:ph type="sldNum" sz="quarter" idx="12"/>
          </p:nvPr>
        </p:nvSpPr>
        <p:spPr/>
        <p:txBody>
          <a:bodyPr/>
          <a:lstStyle>
            <a:lvl1pPr>
              <a:defRPr/>
            </a:lvl1pPr>
          </a:lstStyle>
          <a:p>
            <a:pPr>
              <a:defRPr/>
            </a:pPr>
            <a:fld id="{FB3FD979-49DF-4869-8C45-ED52D9B15A1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5" name="Rectangle 4"/>
          <p:cNvSpPr/>
          <p:nvPr/>
        </p:nvSpPr>
        <p:spPr>
          <a:xfrm rot="21240000">
            <a:off x="598488" y="1004888"/>
            <a:ext cx="4319587" cy="431165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rot="21420000">
            <a:off x="596900" y="998538"/>
            <a:ext cx="4319588" cy="4313237"/>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2" name="Title 1"/>
          <p:cNvSpPr>
            <a:spLocks noGrp="1"/>
          </p:cNvSpPr>
          <p:nvPr>
            <p:ph type="title"/>
          </p:nvPr>
        </p:nvSpPr>
        <p:spPr>
          <a:xfrm>
            <a:off x="5389098" y="1143000"/>
            <a:ext cx="3429000" cy="2057400"/>
          </a:xfrm>
        </p:spPr>
        <p:txBody>
          <a:bodyPr/>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lang="en-US" smtClean="0"/>
              <a:t>Click to edit Master title style</a:t>
            </a:r>
            <a:endParaRPr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lIns="82296" tIns="0" rIns="0" bIns="0" spcCol="0" rtlCol="0" fromWordArt="0" forceAA="0">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7" name="Date Placeholder 4"/>
          <p:cNvSpPr>
            <a:spLocks noGrp="1"/>
          </p:cNvSpPr>
          <p:nvPr>
            <p:ph type="dt" sz="half" idx="10"/>
          </p:nvPr>
        </p:nvSpPr>
        <p:spPr/>
        <p:txBody>
          <a:bodyPr/>
          <a:lstStyle>
            <a:lvl1pPr>
              <a:defRPr/>
            </a:lvl1pPr>
            <a:extLst/>
          </a:lstStyle>
          <a:p>
            <a:pPr>
              <a:defRPr/>
            </a:pPr>
            <a:fld id="{556EDD41-B1B5-49B1-BD7F-1D43E9F7FF5D}" type="datetimeFigureOut">
              <a:rPr lang="en-US"/>
              <a:pPr>
                <a:defRPr/>
              </a:pPr>
              <a:t>6/18/2012</a:t>
            </a:fld>
            <a:endParaRPr lang="en-US"/>
          </a:p>
        </p:txBody>
      </p:sp>
      <p:sp>
        <p:nvSpPr>
          <p:cNvPr id="8" name="Footer Placeholder 5"/>
          <p:cNvSpPr>
            <a:spLocks noGrp="1"/>
          </p:cNvSpPr>
          <p:nvPr>
            <p:ph type="ftr" sz="quarter" idx="11"/>
          </p:nvPr>
        </p:nvSpPr>
        <p:spPr/>
        <p:txBody>
          <a:bodyPr/>
          <a:lstStyle>
            <a:lvl1pPr>
              <a:defRPr/>
            </a:lvl1pPr>
            <a:extLst/>
          </a:lstStyle>
          <a:p>
            <a:pPr>
              <a:defRPr/>
            </a:pPr>
            <a:endParaRPr lang="en-US"/>
          </a:p>
        </p:txBody>
      </p:sp>
      <p:sp>
        <p:nvSpPr>
          <p:cNvPr id="9" name="Slide Number Placeholder 6"/>
          <p:cNvSpPr>
            <a:spLocks noGrp="1"/>
          </p:cNvSpPr>
          <p:nvPr>
            <p:ph type="sldNum" sz="quarter" idx="12"/>
          </p:nvPr>
        </p:nvSpPr>
        <p:spPr/>
        <p:txBody>
          <a:bodyPr/>
          <a:lstStyle>
            <a:lvl1pPr>
              <a:defRPr/>
            </a:lvl1pPr>
            <a:extLst/>
          </a:lstStyle>
          <a:p>
            <a:pPr>
              <a:defRPr/>
            </a:pPr>
            <a:fld id="{0EF3768E-95AB-4926-8221-4798FE99411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6"/>
          <p:cNvSpPr>
            <a:spLocks noGrp="1"/>
          </p:cNvSpPr>
          <p:nvPr>
            <p:ph type="dt" sz="half" idx="10"/>
          </p:nvPr>
        </p:nvSpPr>
        <p:spPr/>
        <p:txBody>
          <a:bodyPr/>
          <a:lstStyle>
            <a:lvl1pPr>
              <a:defRPr/>
            </a:lvl1pPr>
          </a:lstStyle>
          <a:p>
            <a:pPr>
              <a:defRPr/>
            </a:pPr>
            <a:fld id="{8AE4BD74-5956-4D7F-B93E-282519E1692B}" type="datetimeFigureOut">
              <a:rPr lang="en-US"/>
              <a:pPr>
                <a:defRPr/>
              </a:pPr>
              <a:t>6/18/2012</a:t>
            </a:fld>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15"/>
          <p:cNvSpPr>
            <a:spLocks noGrp="1"/>
          </p:cNvSpPr>
          <p:nvPr>
            <p:ph type="sldNum" sz="quarter" idx="12"/>
          </p:nvPr>
        </p:nvSpPr>
        <p:spPr/>
        <p:txBody>
          <a:bodyPr/>
          <a:lstStyle>
            <a:lvl1pPr>
              <a:defRPr/>
            </a:lvl1pPr>
          </a:lstStyle>
          <a:p>
            <a:pPr>
              <a:defRPr/>
            </a:pPr>
            <a:fld id="{C7F71E7E-FF8C-4016-B5CB-41E082D8E2A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243388" y="6557963"/>
            <a:ext cx="2001837" cy="227012"/>
          </a:xfrm>
        </p:spPr>
        <p:txBody>
          <a:bodyPr/>
          <a:lstStyle>
            <a:lvl1pPr>
              <a:defRPr/>
            </a:lvl1pPr>
            <a:extLst/>
          </a:lstStyle>
          <a:p>
            <a:pPr>
              <a:defRPr/>
            </a:pPr>
            <a:fld id="{FD90FE4C-1210-4625-A304-D9AE25D0FCA8}" type="datetimeFigureOut">
              <a:rPr lang="en-US"/>
              <a:pPr>
                <a:defRPr/>
              </a:pPr>
              <a:t>6/18/2012</a:t>
            </a:fld>
            <a:endParaRPr lang="en-US"/>
          </a:p>
        </p:txBody>
      </p:sp>
      <p:sp>
        <p:nvSpPr>
          <p:cNvPr id="5" name="Footer Placeholder 4"/>
          <p:cNvSpPr>
            <a:spLocks noGrp="1"/>
          </p:cNvSpPr>
          <p:nvPr>
            <p:ph type="ftr" sz="quarter" idx="11"/>
          </p:nvPr>
        </p:nvSpPr>
        <p:spPr>
          <a:xfrm>
            <a:off x="457200" y="6556375"/>
            <a:ext cx="3657600" cy="228600"/>
          </a:xfrm>
        </p:spPr>
        <p:txBody>
          <a:bodyPr/>
          <a:lstStyle>
            <a:lvl1pPr>
              <a:defRPr/>
            </a:lvl1pPr>
            <a:extLst/>
          </a:lstStyle>
          <a:p>
            <a:pPr>
              <a:defRPr/>
            </a:pPr>
            <a:endParaRPr lang="en-US"/>
          </a:p>
        </p:txBody>
      </p:sp>
      <p:sp>
        <p:nvSpPr>
          <p:cNvPr id="6" name="Slide Number Placeholder 5"/>
          <p:cNvSpPr>
            <a:spLocks noGrp="1"/>
          </p:cNvSpPr>
          <p:nvPr>
            <p:ph type="sldNum" sz="quarter" idx="12"/>
          </p:nvPr>
        </p:nvSpPr>
        <p:spPr>
          <a:xfrm>
            <a:off x="6254750" y="6553200"/>
            <a:ext cx="587375" cy="228600"/>
          </a:xfrm>
        </p:spPr>
        <p:txBody>
          <a:bodyPr/>
          <a:lstStyle>
            <a:lvl1pPr>
              <a:defRPr>
                <a:solidFill>
                  <a:schemeClr val="tx2"/>
                </a:solidFill>
              </a:defRPr>
            </a:lvl1pPr>
            <a:extLst/>
          </a:lstStyle>
          <a:p>
            <a:pPr>
              <a:defRPr/>
            </a:pPr>
            <a:fld id="{2D62F35C-0545-4454-BEF7-256320BAAE3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3" name="Title Placeholder 2"/>
          <p:cNvSpPr>
            <a:spLocks noGrp="1"/>
          </p:cNvSpPr>
          <p:nvPr>
            <p:ph type="title"/>
          </p:nvPr>
        </p:nvSpPr>
        <p:spPr>
          <a:xfrm>
            <a:off x="457200" y="320675"/>
            <a:ext cx="7239000" cy="1143000"/>
          </a:xfrm>
          <a:prstGeom prst="rect">
            <a:avLst/>
          </a:prstGeom>
        </p:spPr>
        <p:txBody>
          <a:bodyPr vert="horz" lIns="45720" tIns="0" rIns="45720" bIns="0" anchor="b" anchorCtr="0">
            <a:normAutofit/>
          </a:bodyPr>
          <a:lstStyle>
            <a:extLst/>
          </a:lstStyle>
          <a:p>
            <a:r>
              <a:rPr lang="en-US" smtClean="0"/>
              <a:t>Click to edit Master title style</a:t>
            </a:r>
            <a:endParaRPr lang="en-US"/>
          </a:p>
        </p:txBody>
      </p:sp>
      <p:sp>
        <p:nvSpPr>
          <p:cNvPr id="1030" name="Text Placeholder 30"/>
          <p:cNvSpPr>
            <a:spLocks noGrp="1"/>
          </p:cNvSpPr>
          <p:nvPr>
            <p:ph type="body" idx="1"/>
          </p:nvPr>
        </p:nvSpPr>
        <p:spPr bwMode="auto">
          <a:xfrm>
            <a:off x="457200" y="1609725"/>
            <a:ext cx="7239000" cy="48466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7" name="Date Placeholder 26"/>
          <p:cNvSpPr>
            <a:spLocks noGrp="1"/>
          </p:cNvSpPr>
          <p:nvPr>
            <p:ph type="dt" sz="half" idx="2"/>
          </p:nvPr>
        </p:nvSpPr>
        <p:spPr>
          <a:xfrm>
            <a:off x="4246563" y="6557963"/>
            <a:ext cx="2001837" cy="227012"/>
          </a:xfrm>
          <a:prstGeom prst="rect">
            <a:avLst/>
          </a:prstGeom>
        </p:spPr>
        <p:txBody>
          <a:bodyPr vert="horz" tIns="0" bIns="0" anchor="b"/>
          <a:lstStyle>
            <a:lvl1pPr algn="l" eaLnBrk="1" fontAlgn="auto" latinLnBrk="0" hangingPunct="1">
              <a:spcBef>
                <a:spcPts val="0"/>
              </a:spcBef>
              <a:spcAft>
                <a:spcPts val="0"/>
              </a:spcAft>
              <a:defRPr kumimoji="0" sz="1000">
                <a:solidFill>
                  <a:schemeClr val="tx2"/>
                </a:solidFill>
                <a:latin typeface="+mn-lt"/>
              </a:defRPr>
            </a:lvl1pPr>
            <a:extLst/>
          </a:lstStyle>
          <a:p>
            <a:pPr>
              <a:defRPr/>
            </a:pPr>
            <a:fld id="{69757BE0-28EE-41A0-BA0A-6A2655CA4449}" type="datetimeFigureOut">
              <a:rPr lang="en-US"/>
              <a:pPr>
                <a:defRPr/>
              </a:pPr>
              <a:t>6/18/2012</a:t>
            </a:fld>
            <a:endParaRPr lang="en-US"/>
          </a:p>
        </p:txBody>
      </p:sp>
      <p:sp>
        <p:nvSpPr>
          <p:cNvPr id="4" name="Footer Placeholder 3"/>
          <p:cNvSpPr>
            <a:spLocks noGrp="1"/>
          </p:cNvSpPr>
          <p:nvPr>
            <p:ph type="ftr" sz="quarter" idx="3"/>
          </p:nvPr>
        </p:nvSpPr>
        <p:spPr>
          <a:xfrm>
            <a:off x="457200" y="6557963"/>
            <a:ext cx="3657600" cy="228600"/>
          </a:xfrm>
          <a:prstGeom prst="rect">
            <a:avLst/>
          </a:prstGeom>
        </p:spPr>
        <p:txBody>
          <a:bodyPr vert="horz" tIns="0" bIns="0" anchor="b"/>
          <a:lstStyle>
            <a:lvl1pPr algn="r" eaLnBrk="1" fontAlgn="auto" latinLnBrk="0" hangingPunct="1">
              <a:spcBef>
                <a:spcPts val="0"/>
              </a:spcBef>
              <a:spcAft>
                <a:spcPts val="0"/>
              </a:spcAft>
              <a:defRPr kumimoji="0" sz="1000">
                <a:solidFill>
                  <a:schemeClr val="tx2"/>
                </a:solidFill>
                <a:latin typeface="+mn-lt"/>
              </a:defRPr>
            </a:lvl1pPr>
            <a:extLst/>
          </a:lstStyle>
          <a:p>
            <a:pPr>
              <a:defRPr/>
            </a:pPr>
            <a:endParaRPr lang="en-US"/>
          </a:p>
        </p:txBody>
      </p:sp>
      <p:sp>
        <p:nvSpPr>
          <p:cNvPr id="16" name="Slide Number Placeholder 15"/>
          <p:cNvSpPr>
            <a:spLocks noGrp="1"/>
          </p:cNvSpPr>
          <p:nvPr>
            <p:ph type="sldNum" sz="quarter" idx="4"/>
          </p:nvPr>
        </p:nvSpPr>
        <p:spPr>
          <a:xfrm>
            <a:off x="6251575" y="6556375"/>
            <a:ext cx="588963" cy="228600"/>
          </a:xfrm>
          <a:prstGeom prst="rect">
            <a:avLst/>
          </a:prstGeom>
        </p:spPr>
        <p:txBody>
          <a:bodyPr vert="horz" lIns="0" tIns="0" rIns="0" bIns="0" anchor="b"/>
          <a:lstStyle>
            <a:lvl1pPr algn="r" eaLnBrk="1" fontAlgn="auto" latinLnBrk="0" hangingPunct="1">
              <a:spcBef>
                <a:spcPts val="0"/>
              </a:spcBef>
              <a:spcAft>
                <a:spcPts val="0"/>
              </a:spcAft>
              <a:defRPr kumimoji="0" sz="1100">
                <a:solidFill>
                  <a:schemeClr val="tx2"/>
                </a:solidFill>
                <a:latin typeface="+mn-lt"/>
              </a:defRPr>
            </a:lvl1pPr>
            <a:extLst/>
          </a:lstStyle>
          <a:p>
            <a:pPr>
              <a:defRPr/>
            </a:pPr>
            <a:fld id="{685885F4-3F98-406D-84D1-A4F942CB948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43" r:id="rId1"/>
    <p:sldLayoutId id="2147483736" r:id="rId2"/>
    <p:sldLayoutId id="2147483744" r:id="rId3"/>
    <p:sldLayoutId id="2147483737" r:id="rId4"/>
    <p:sldLayoutId id="2147483738" r:id="rId5"/>
    <p:sldLayoutId id="2147483739" r:id="rId6"/>
    <p:sldLayoutId id="2147483740" r:id="rId7"/>
    <p:sldLayoutId id="2147483741" r:id="rId8"/>
    <p:sldLayoutId id="2147483745" r:id="rId9"/>
    <p:sldLayoutId id="2147483742" r:id="rId10"/>
    <p:sldLayoutId id="2147483746" r:id="rId11"/>
  </p:sldLayoutIdLst>
  <p:txStyles>
    <p:titleStyle>
      <a:lvl1pPr algn="l" rtl="0" eaLnBrk="0" fontAlgn="base" hangingPunct="0">
        <a:spcBef>
          <a:spcPct val="0"/>
        </a:spcBef>
        <a:spcAft>
          <a:spcPct val="0"/>
        </a:spcAft>
        <a:defRPr sz="3800" b="1" kern="1200" cap="all">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latin typeface="+mj-lt"/>
          <a:ea typeface="+mj-ea"/>
          <a:cs typeface="+mj-cs"/>
        </a:defRPr>
      </a:lvl1pPr>
      <a:lvl2pPr algn="l" rtl="0" eaLnBrk="0" fontAlgn="base" hangingPunct="0">
        <a:spcBef>
          <a:spcPct val="0"/>
        </a:spcBef>
        <a:spcAft>
          <a:spcPct val="0"/>
        </a:spcAft>
        <a:defRPr sz="3800" b="1">
          <a:solidFill>
            <a:schemeClr val="tx1"/>
          </a:solidFill>
          <a:latin typeface="Trebuchet MS" pitchFamily="34" charset="0"/>
        </a:defRPr>
      </a:lvl2pPr>
      <a:lvl3pPr algn="l" rtl="0" eaLnBrk="0" fontAlgn="base" hangingPunct="0">
        <a:spcBef>
          <a:spcPct val="0"/>
        </a:spcBef>
        <a:spcAft>
          <a:spcPct val="0"/>
        </a:spcAft>
        <a:defRPr sz="3800" b="1">
          <a:solidFill>
            <a:schemeClr val="tx1"/>
          </a:solidFill>
          <a:latin typeface="Trebuchet MS" pitchFamily="34" charset="0"/>
        </a:defRPr>
      </a:lvl3pPr>
      <a:lvl4pPr algn="l" rtl="0" eaLnBrk="0" fontAlgn="base" hangingPunct="0">
        <a:spcBef>
          <a:spcPct val="0"/>
        </a:spcBef>
        <a:spcAft>
          <a:spcPct val="0"/>
        </a:spcAft>
        <a:defRPr sz="3800" b="1">
          <a:solidFill>
            <a:schemeClr val="tx1"/>
          </a:solidFill>
          <a:latin typeface="Trebuchet MS" pitchFamily="34" charset="0"/>
        </a:defRPr>
      </a:lvl4pPr>
      <a:lvl5pPr algn="l" rtl="0" eaLnBrk="0" fontAlgn="base" hangingPunct="0">
        <a:spcBef>
          <a:spcPct val="0"/>
        </a:spcBef>
        <a:spcAft>
          <a:spcPct val="0"/>
        </a:spcAft>
        <a:defRPr sz="3800" b="1">
          <a:solidFill>
            <a:schemeClr val="tx1"/>
          </a:solidFill>
          <a:latin typeface="Trebuchet MS" pitchFamily="34" charset="0"/>
        </a:defRPr>
      </a:lvl5pPr>
      <a:lvl6pPr marL="457200" algn="l" rtl="0" fontAlgn="base">
        <a:spcBef>
          <a:spcPct val="0"/>
        </a:spcBef>
        <a:spcAft>
          <a:spcPct val="0"/>
        </a:spcAft>
        <a:defRPr sz="3800" b="1">
          <a:solidFill>
            <a:schemeClr val="tx1"/>
          </a:solidFill>
          <a:latin typeface="Trebuchet MS" pitchFamily="34" charset="0"/>
        </a:defRPr>
      </a:lvl6pPr>
      <a:lvl7pPr marL="914400" algn="l" rtl="0" fontAlgn="base">
        <a:spcBef>
          <a:spcPct val="0"/>
        </a:spcBef>
        <a:spcAft>
          <a:spcPct val="0"/>
        </a:spcAft>
        <a:defRPr sz="3800" b="1">
          <a:solidFill>
            <a:schemeClr val="tx1"/>
          </a:solidFill>
          <a:latin typeface="Trebuchet MS" pitchFamily="34" charset="0"/>
        </a:defRPr>
      </a:lvl7pPr>
      <a:lvl8pPr marL="1371600" algn="l" rtl="0" fontAlgn="base">
        <a:spcBef>
          <a:spcPct val="0"/>
        </a:spcBef>
        <a:spcAft>
          <a:spcPct val="0"/>
        </a:spcAft>
        <a:defRPr sz="3800" b="1">
          <a:solidFill>
            <a:schemeClr val="tx1"/>
          </a:solidFill>
          <a:latin typeface="Trebuchet MS" pitchFamily="34" charset="0"/>
        </a:defRPr>
      </a:lvl8pPr>
      <a:lvl9pPr marL="1828800" algn="l" rtl="0" fontAlgn="base">
        <a:spcBef>
          <a:spcPct val="0"/>
        </a:spcBef>
        <a:spcAft>
          <a:spcPct val="0"/>
        </a:spcAft>
        <a:defRPr sz="3800" b="1">
          <a:solidFill>
            <a:schemeClr val="tx1"/>
          </a:solidFill>
          <a:latin typeface="Trebuchet MS" pitchFamily="34" charset="0"/>
        </a:defRPr>
      </a:lvl9pPr>
      <a:extLst/>
    </p:titleStyle>
    <p:bodyStyle>
      <a:lvl1pPr marL="273050" indent="-273050" algn="l" rtl="0" eaLnBrk="0" fontAlgn="base" hangingPunct="0">
        <a:spcBef>
          <a:spcPts val="600"/>
        </a:spcBef>
        <a:spcAft>
          <a:spcPct val="0"/>
        </a:spcAft>
        <a:buClr>
          <a:schemeClr val="tx2"/>
        </a:buClr>
        <a:buSzPct val="73000"/>
        <a:buFont typeface="Wingdings 2"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itchFamily="2" charset="2"/>
        <a:buChar char=""/>
        <a:defRPr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www.pwhce.ca/"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3428999"/>
          </a:xfrm>
        </p:spPr>
        <p:txBody>
          <a:bodyPr>
            <a:normAutofit fontScale="90000"/>
          </a:bodyPr>
          <a:lstStyle/>
          <a:p>
            <a:pPr algn="l" eaLnBrk="1" fontAlgn="auto" hangingPunct="1">
              <a:spcAft>
                <a:spcPts val="0"/>
              </a:spcAft>
              <a:defRPr/>
            </a:pPr>
            <a:r>
              <a:rPr lang="en-CA" i="1" dirty="0" smtClean="0">
                <a:solidFill>
                  <a:schemeClr val="tx2">
                    <a:lumMod val="60000"/>
                    <a:lumOff val="40000"/>
                  </a:schemeClr>
                </a:solidFill>
              </a:rPr>
              <a:t>Weight </a:t>
            </a:r>
            <a:r>
              <a:rPr lang="en-CA" i="1" dirty="0">
                <a:solidFill>
                  <a:schemeClr val="tx2">
                    <a:lumMod val="60000"/>
                    <a:lumOff val="40000"/>
                  </a:schemeClr>
                </a:solidFill>
              </a:rPr>
              <a:t>Expectations</a:t>
            </a:r>
            <a:r>
              <a:rPr lang="en-CA" i="1" dirty="0" smtClean="0">
                <a:solidFill>
                  <a:schemeClr val="tx2">
                    <a:lumMod val="60000"/>
                    <a:lumOff val="40000"/>
                  </a:schemeClr>
                </a:solidFill>
              </a:rPr>
              <a:t>:</a:t>
            </a:r>
            <a:br>
              <a:rPr lang="en-CA" i="1" dirty="0" smtClean="0">
                <a:solidFill>
                  <a:schemeClr val="tx2">
                    <a:lumMod val="60000"/>
                    <a:lumOff val="40000"/>
                  </a:schemeClr>
                </a:solidFill>
              </a:rPr>
            </a:br>
            <a:r>
              <a:rPr lang="en-CA" i="1" dirty="0" smtClean="0">
                <a:solidFill>
                  <a:schemeClr val="tx2">
                    <a:lumMod val="60000"/>
                    <a:lumOff val="40000"/>
                  </a:schemeClr>
                </a:solidFill>
              </a:rPr>
              <a:t> </a:t>
            </a:r>
            <a:br>
              <a:rPr lang="en-CA" i="1" dirty="0" smtClean="0">
                <a:solidFill>
                  <a:schemeClr val="tx2">
                    <a:lumMod val="60000"/>
                    <a:lumOff val="40000"/>
                  </a:schemeClr>
                </a:solidFill>
              </a:rPr>
            </a:br>
            <a:r>
              <a:rPr lang="en-CA" sz="3600" i="1" dirty="0" smtClean="0">
                <a:solidFill>
                  <a:schemeClr val="tx2">
                    <a:lumMod val="60000"/>
                    <a:lumOff val="40000"/>
                  </a:schemeClr>
                </a:solidFill>
              </a:rPr>
              <a:t>Experiences </a:t>
            </a:r>
            <a:r>
              <a:rPr lang="en-CA" sz="3600" i="1" dirty="0">
                <a:solidFill>
                  <a:schemeClr val="tx2">
                    <a:lumMod val="60000"/>
                    <a:lumOff val="40000"/>
                  </a:schemeClr>
                </a:solidFill>
              </a:rPr>
              <a:t>and needs of overweight and obese pregnant women and their healthcare providers</a:t>
            </a:r>
            <a:r>
              <a:rPr lang="en-US" dirty="0"/>
              <a:t/>
            </a:r>
            <a:br>
              <a:rPr lang="en-US" dirty="0"/>
            </a:br>
            <a:endParaRPr lang="en-US" dirty="0"/>
          </a:p>
        </p:txBody>
      </p:sp>
      <p:sp>
        <p:nvSpPr>
          <p:cNvPr id="3" name="Subtitle 2"/>
          <p:cNvSpPr>
            <a:spLocks noGrp="1"/>
          </p:cNvSpPr>
          <p:nvPr>
            <p:ph type="subTitle" idx="1"/>
          </p:nvPr>
        </p:nvSpPr>
        <p:spPr>
          <a:xfrm>
            <a:off x="152400" y="3886200"/>
            <a:ext cx="6553200" cy="2209800"/>
          </a:xfrm>
        </p:spPr>
        <p:txBody>
          <a:bodyPr>
            <a:normAutofit/>
          </a:bodyPr>
          <a:lstStyle/>
          <a:p>
            <a:pPr algn="l" eaLnBrk="1" fontAlgn="auto" hangingPunct="1">
              <a:spcAft>
                <a:spcPts val="0"/>
              </a:spcAft>
              <a:buFont typeface="Wingdings 2"/>
              <a:buNone/>
              <a:defRPr/>
            </a:pPr>
            <a:r>
              <a:rPr lang="en-US" dirty="0" smtClean="0">
                <a:solidFill>
                  <a:schemeClr val="bg2">
                    <a:lumMod val="50000"/>
                  </a:schemeClr>
                </a:solidFill>
              </a:rPr>
              <a:t>Yvonne Hanson    </a:t>
            </a:r>
          </a:p>
          <a:p>
            <a:pPr algn="l" eaLnBrk="1" fontAlgn="auto" hangingPunct="1">
              <a:spcAft>
                <a:spcPts val="0"/>
              </a:spcAft>
              <a:buFont typeface="Wingdings 2"/>
              <a:buNone/>
              <a:defRPr/>
            </a:pPr>
            <a:r>
              <a:rPr lang="en-US" dirty="0" smtClean="0">
                <a:solidFill>
                  <a:schemeClr val="bg2">
                    <a:lumMod val="50000"/>
                  </a:schemeClr>
                </a:solidFill>
              </a:rPr>
              <a:t>June 7, 2012 </a:t>
            </a:r>
          </a:p>
          <a:p>
            <a:pPr algn="l" eaLnBrk="1" fontAlgn="auto" hangingPunct="1">
              <a:spcAft>
                <a:spcPts val="0"/>
              </a:spcAft>
              <a:buFont typeface="Wingdings 2"/>
              <a:buNone/>
              <a:defRPr/>
            </a:pPr>
            <a:r>
              <a:rPr lang="en-US" dirty="0" smtClean="0">
                <a:solidFill>
                  <a:schemeClr val="bg2">
                    <a:lumMod val="50000"/>
                  </a:schemeClr>
                </a:solidFill>
              </a:rPr>
              <a:t>Regina </a:t>
            </a:r>
            <a:r>
              <a:rPr lang="en-US" dirty="0">
                <a:solidFill>
                  <a:schemeClr val="bg2">
                    <a:lumMod val="50000"/>
                  </a:schemeClr>
                </a:solidFill>
              </a:rPr>
              <a:t>R</a:t>
            </a:r>
            <a:r>
              <a:rPr lang="en-US" dirty="0" smtClean="0">
                <a:solidFill>
                  <a:schemeClr val="bg2">
                    <a:lumMod val="50000"/>
                  </a:schemeClr>
                </a:solidFill>
              </a:rPr>
              <a:t>esearch Day</a:t>
            </a:r>
            <a:endParaRPr lang="en-US" dirty="0">
              <a:solidFill>
                <a:schemeClr val="bg2">
                  <a:lumMod val="50000"/>
                </a:schemeClr>
              </a:solidFill>
            </a:endParaRPr>
          </a:p>
        </p:txBody>
      </p:sp>
      <p:pic>
        <p:nvPicPr>
          <p:cNvPr id="6148" name="Picture 4" descr="pregnant woman.jpg"/>
          <p:cNvPicPr>
            <a:picLocks noChangeAspect="1"/>
          </p:cNvPicPr>
          <p:nvPr/>
        </p:nvPicPr>
        <p:blipFill>
          <a:blip r:embed="rId2" cstate="print"/>
          <a:srcRect/>
          <a:stretch>
            <a:fillRect/>
          </a:stretch>
        </p:blipFill>
        <p:spPr bwMode="auto">
          <a:xfrm>
            <a:off x="5407025" y="2971800"/>
            <a:ext cx="3316288"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dirty="0" smtClean="0"/>
              <a:t>Study objectives</a:t>
            </a:r>
            <a:endParaRPr lang="en-US" dirty="0"/>
          </a:p>
        </p:txBody>
      </p:sp>
      <p:sp>
        <p:nvSpPr>
          <p:cNvPr id="7171" name="Content Placeholder 3"/>
          <p:cNvSpPr>
            <a:spLocks noGrp="1"/>
          </p:cNvSpPr>
          <p:nvPr>
            <p:ph idx="1"/>
          </p:nvPr>
        </p:nvSpPr>
        <p:spPr/>
        <p:txBody>
          <a:bodyPr/>
          <a:lstStyle/>
          <a:p>
            <a:pPr eaLnBrk="1" hangingPunct="1"/>
            <a:r>
              <a:rPr lang="en-US" smtClean="0"/>
              <a:t>What do we know about the psychological &amp; emotional implications of overweight &amp; obesity in pregnancy?</a:t>
            </a:r>
          </a:p>
          <a:p>
            <a:pPr eaLnBrk="1" hangingPunct="1"/>
            <a:r>
              <a:rPr lang="en-US" smtClean="0"/>
              <a:t>How does the social context of women’s lives affect their experiences of overweight &amp; obesity throughout pregnancy?</a:t>
            </a:r>
          </a:p>
          <a:p>
            <a:pPr eaLnBrk="1" hangingPunct="1"/>
            <a:r>
              <a:rPr lang="en-US" smtClean="0"/>
              <a:t>How do healthcare providers support women &amp; what are their ideas to improve the system for women?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dirty="0" smtClean="0"/>
              <a:t>Methods	</a:t>
            </a:r>
            <a:endParaRPr lang="en-US" dirty="0"/>
          </a:p>
        </p:txBody>
      </p:sp>
      <p:sp>
        <p:nvSpPr>
          <p:cNvPr id="8195" name="Content Placeholder 2"/>
          <p:cNvSpPr>
            <a:spLocks noGrp="1"/>
          </p:cNvSpPr>
          <p:nvPr>
            <p:ph idx="1"/>
          </p:nvPr>
        </p:nvSpPr>
        <p:spPr/>
        <p:txBody>
          <a:bodyPr/>
          <a:lstStyle/>
          <a:p>
            <a:pPr eaLnBrk="1" hangingPunct="1"/>
            <a:r>
              <a:rPr lang="en-US" smtClean="0"/>
              <a:t>Interviewed 33 individuals: 18 women; 15 health care providers (family doctors, nurses, ob/gyns, midwives, dieticians)</a:t>
            </a:r>
          </a:p>
          <a:p>
            <a:pPr eaLnBrk="1" hangingPunct="1"/>
            <a:r>
              <a:rPr lang="en-US" smtClean="0"/>
              <a:t>Joint study between ACEWH &amp; PWHCE</a:t>
            </a:r>
          </a:p>
          <a:p>
            <a:pPr eaLnBrk="1" hangingPunct="1"/>
            <a:r>
              <a:rPr lang="en-US" smtClean="0"/>
              <a:t>Co-researcher – Jennifer Bernier (ACEWH)</a:t>
            </a:r>
          </a:p>
          <a:p>
            <a:pPr eaLnBrk="1" hangingPunct="1"/>
            <a:r>
              <a:rPr lang="en-US" smtClean="0"/>
              <a:t>2010-2012 (First year in N.S. included women only; second year expanded to rural N.S. All women &amp; hcp were from Saskatoon HR)</a:t>
            </a:r>
          </a:p>
          <a:p>
            <a:pPr eaLnBrk="1" hangingPunct="1"/>
            <a:r>
              <a:rPr lang="en-US" smtClean="0"/>
              <a:t>Face-to-face interviews and phone interviews</a:t>
            </a:r>
          </a:p>
          <a:p>
            <a:pPr eaLnBrk="1" hangingPunct="1"/>
            <a:r>
              <a:rPr lang="en-US" smtClean="0"/>
              <a:t>Audio podcast (summer 2012)</a:t>
            </a:r>
          </a:p>
          <a:p>
            <a:pPr eaLnBrk="1" hangingPunct="1"/>
            <a:endParaRPr lang="en-US" smtClean="0"/>
          </a:p>
          <a:p>
            <a:pPr eaLnBrk="1" hangingPunct="1"/>
            <a:endParaRPr lang="en-US" smtClean="0"/>
          </a:p>
          <a:p>
            <a:pPr eaLnBrk="1" hangingPunct="1"/>
            <a:endParaRPr 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normAutofit fontScale="90000"/>
          </a:bodyPr>
          <a:lstStyle/>
          <a:p>
            <a:pPr eaLnBrk="1" fontAlgn="auto" hangingPunct="1">
              <a:spcAft>
                <a:spcPts val="0"/>
              </a:spcAft>
              <a:defRPr/>
            </a:pPr>
            <a:r>
              <a:rPr lang="en-US" dirty="0" smtClean="0"/>
              <a:t>Physical health &amp; pregnancy/ </a:t>
            </a:r>
            <a:br>
              <a:rPr lang="en-US" dirty="0" smtClean="0"/>
            </a:br>
            <a:r>
              <a:rPr lang="en-US" dirty="0" smtClean="0"/>
              <a:t>birth outcomes</a:t>
            </a:r>
            <a:endParaRPr lang="en-US" dirty="0"/>
          </a:p>
        </p:txBody>
      </p:sp>
      <p:sp>
        <p:nvSpPr>
          <p:cNvPr id="9219" name="Content Placeholder 2"/>
          <p:cNvSpPr>
            <a:spLocks noGrp="1"/>
          </p:cNvSpPr>
          <p:nvPr>
            <p:ph idx="1"/>
          </p:nvPr>
        </p:nvSpPr>
        <p:spPr/>
        <p:txBody>
          <a:bodyPr/>
          <a:lstStyle/>
          <a:p>
            <a:pPr eaLnBrk="1" hangingPunct="1"/>
            <a:r>
              <a:rPr lang="en-US" smtClean="0"/>
              <a:t>Literature indicates morbidities &amp; co-morbidities associated with obesity for mothers  (i.e. gestational diabetes, pre-eclampsia, cesarean birth, postoperative infection, hypertension, blood clots)</a:t>
            </a:r>
          </a:p>
          <a:p>
            <a:pPr eaLnBrk="1" hangingPunct="1"/>
            <a:r>
              <a:rPr lang="en-US" smtClean="0"/>
              <a:t>Also for babies (i.e. stillbirth, macrosomia, neural tube defect, incidences from cesarean)</a:t>
            </a:r>
          </a:p>
          <a:p>
            <a:pPr eaLnBrk="1" hangingPunct="1"/>
            <a:r>
              <a:rPr lang="en-US" smtClean="0"/>
              <a:t>Pregnancy outcome deteriorates in linear manner as BMI increases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432560"/>
          </a:xfrm>
        </p:spPr>
        <p:txBody>
          <a:bodyPr/>
          <a:lstStyle/>
          <a:p>
            <a:pPr eaLnBrk="1" fontAlgn="auto" hangingPunct="1">
              <a:spcAft>
                <a:spcPts val="0"/>
              </a:spcAft>
              <a:defRPr/>
            </a:pPr>
            <a:r>
              <a:rPr lang="en-US" dirty="0" smtClean="0"/>
              <a:t>perception of  Pregnant women with obesity ?</a:t>
            </a:r>
            <a:endParaRPr lang="en-US" dirty="0"/>
          </a:p>
        </p:txBody>
      </p:sp>
      <p:sp>
        <p:nvSpPr>
          <p:cNvPr id="10243" name="Content Placeholder 2"/>
          <p:cNvSpPr>
            <a:spLocks noGrp="1"/>
          </p:cNvSpPr>
          <p:nvPr>
            <p:ph idx="1"/>
          </p:nvPr>
        </p:nvSpPr>
        <p:spPr>
          <a:xfrm>
            <a:off x="457200" y="2057400"/>
            <a:ext cx="7239000" cy="4398963"/>
          </a:xfrm>
        </p:spPr>
        <p:txBody>
          <a:bodyPr/>
          <a:lstStyle/>
          <a:p>
            <a:pPr eaLnBrk="1" hangingPunct="1">
              <a:buFont typeface="Wingdings 2" pitchFamily="18" charset="2"/>
              <a:buNone/>
            </a:pPr>
            <a:r>
              <a:rPr lang="en-US" sz="2200" b="1" smtClean="0">
                <a:latin typeface="Times New Roman" pitchFamily="18" charset="0"/>
                <a:cs typeface="Times New Roman" pitchFamily="18" charset="0"/>
              </a:rPr>
              <a:t>The Globe and Mail </a:t>
            </a:r>
            <a:r>
              <a:rPr lang="en-US" sz="2200" smtClean="0"/>
              <a:t>-  “</a:t>
            </a:r>
            <a:r>
              <a:rPr lang="en-CA" sz="2400" smtClean="0">
                <a:latin typeface="Times New Roman" pitchFamily="18" charset="0"/>
                <a:cs typeface="Times New Roman" pitchFamily="18" charset="0"/>
              </a:rPr>
              <a:t>Canadian doctors are considering a policy that would bar obese women from trying to have babies through fertility treatments – provoking debate over whether the fat have the same </a:t>
            </a:r>
          </a:p>
          <a:p>
            <a:pPr eaLnBrk="1" hangingPunct="1">
              <a:buFont typeface="Wingdings 2" pitchFamily="18" charset="2"/>
              <a:buNone/>
            </a:pPr>
            <a:r>
              <a:rPr lang="en-CA" sz="2400" smtClean="0">
                <a:latin typeface="Times New Roman" pitchFamily="18" charset="0"/>
                <a:cs typeface="Times New Roman" pitchFamily="18" charset="0"/>
              </a:rPr>
              <a:t>	reproductive rights </a:t>
            </a:r>
          </a:p>
          <a:p>
            <a:pPr eaLnBrk="1" hangingPunct="1">
              <a:buFont typeface="Wingdings 2" pitchFamily="18" charset="2"/>
              <a:buNone/>
            </a:pPr>
            <a:r>
              <a:rPr lang="en-CA" sz="2400" smtClean="0">
                <a:latin typeface="Times New Roman" pitchFamily="18" charset="0"/>
                <a:cs typeface="Times New Roman" pitchFamily="18" charset="0"/>
              </a:rPr>
              <a:t>	as the thin.”</a:t>
            </a:r>
          </a:p>
          <a:p>
            <a:pPr eaLnBrk="1" hangingPunct="1">
              <a:buFont typeface="Wingdings 2" pitchFamily="18" charset="2"/>
              <a:buNone/>
            </a:pPr>
            <a:r>
              <a:rPr lang="en-CA" sz="2400" smtClean="0">
                <a:latin typeface="Times New Roman" pitchFamily="18" charset="0"/>
                <a:cs typeface="Times New Roman" pitchFamily="18" charset="0"/>
              </a:rPr>
              <a:t>	(</a:t>
            </a:r>
            <a:r>
              <a:rPr lang="en-US" sz="1800" b="1" i="1" smtClean="0"/>
              <a:t>Sept 20, 2011)</a:t>
            </a:r>
            <a:endParaRPr lang="en-US" sz="1800" smtClean="0">
              <a:latin typeface="Times New Roman" pitchFamily="18" charset="0"/>
              <a:cs typeface="Times New Roman" pitchFamily="18" charset="0"/>
            </a:endParaRPr>
          </a:p>
          <a:p>
            <a:pPr algn="ctr" eaLnBrk="1" hangingPunct="1">
              <a:buFont typeface="Wingdings 2" pitchFamily="18" charset="2"/>
              <a:buNone/>
            </a:pPr>
            <a:endParaRPr lang="en-US" sz="2200" smtClean="0"/>
          </a:p>
        </p:txBody>
      </p:sp>
      <p:pic>
        <p:nvPicPr>
          <p:cNvPr id="10244" name="Picture 3" descr="The-Globe-And-Mail.jpg"/>
          <p:cNvPicPr>
            <a:picLocks noChangeAspect="1"/>
          </p:cNvPicPr>
          <p:nvPr/>
        </p:nvPicPr>
        <p:blipFill>
          <a:blip r:embed="rId3" cstate="print"/>
          <a:srcRect/>
          <a:stretch>
            <a:fillRect/>
          </a:stretch>
        </p:blipFill>
        <p:spPr bwMode="auto">
          <a:xfrm>
            <a:off x="3657600" y="3706813"/>
            <a:ext cx="3733800" cy="26177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356360"/>
          </a:xfrm>
        </p:spPr>
        <p:txBody>
          <a:bodyPr>
            <a:normAutofit fontScale="90000"/>
          </a:bodyPr>
          <a:lstStyle/>
          <a:p>
            <a:pPr eaLnBrk="1" fontAlgn="auto" hangingPunct="1">
              <a:spcAft>
                <a:spcPts val="0"/>
              </a:spcAft>
              <a:defRPr/>
            </a:pPr>
            <a:r>
              <a:rPr lang="en-US" dirty="0" smtClean="0"/>
              <a:t>Caregivers in study: competition, stigma &amp; ethical practice</a:t>
            </a:r>
            <a:endParaRPr lang="en-US" dirty="0"/>
          </a:p>
        </p:txBody>
      </p:sp>
      <p:sp>
        <p:nvSpPr>
          <p:cNvPr id="10243" name="Content Placeholder 2"/>
          <p:cNvSpPr>
            <a:spLocks noGrp="1"/>
          </p:cNvSpPr>
          <p:nvPr>
            <p:ph idx="1"/>
          </p:nvPr>
        </p:nvSpPr>
        <p:spPr>
          <a:xfrm>
            <a:off x="457200" y="1676400"/>
            <a:ext cx="7239000" cy="4779963"/>
          </a:xfrm>
        </p:spPr>
        <p:txBody>
          <a:bodyPr/>
          <a:lstStyle/>
          <a:p>
            <a:pPr eaLnBrk="1" hangingPunct="1"/>
            <a:r>
              <a:rPr lang="en-US" sz="2800" smtClean="0"/>
              <a:t>The different orientations to maternity care in Canada has been historical &amp; political (i.e. midwifery care vs. physician)</a:t>
            </a:r>
          </a:p>
          <a:p>
            <a:pPr eaLnBrk="1" hangingPunct="1"/>
            <a:r>
              <a:rPr lang="en-US" sz="2800" smtClean="0"/>
              <a:t>Stigma of obesity &amp; overweight are pervasive</a:t>
            </a:r>
          </a:p>
          <a:p>
            <a:pPr eaLnBrk="1" hangingPunct="1"/>
            <a:r>
              <a:rPr lang="en-US" sz="2800" smtClean="0"/>
              <a:t>Maternity care providers of all scopes of practice are both ethically &amp; professionally obligated </a:t>
            </a:r>
          </a:p>
          <a:p>
            <a:pPr eaLnBrk="1" hangingPunct="1">
              <a:buFont typeface="Wingdings 2" pitchFamily="18" charset="2"/>
              <a:buNone/>
            </a:pPr>
            <a:r>
              <a:rPr lang="en-US" sz="2800" smtClean="0"/>
              <a:t>	to provide best care possible</a:t>
            </a:r>
          </a:p>
        </p:txBody>
      </p:sp>
      <p:pic>
        <p:nvPicPr>
          <p:cNvPr id="11268" name="Picture 3" descr="stethoscope.jpg"/>
          <p:cNvPicPr>
            <a:picLocks noChangeAspect="1"/>
          </p:cNvPicPr>
          <p:nvPr/>
        </p:nvPicPr>
        <p:blipFill>
          <a:blip r:embed="rId3" cstate="print"/>
          <a:srcRect/>
          <a:stretch>
            <a:fillRect/>
          </a:stretch>
        </p:blipFill>
        <p:spPr bwMode="auto">
          <a:xfrm>
            <a:off x="5943600" y="4953000"/>
            <a:ext cx="2057400" cy="1447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down)">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down)">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wipe(down)">
                                      <p:cBhvr>
                                        <p:cTn id="17" dur="500"/>
                                        <p:tgtEl>
                                          <p:spTgt spid="10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wipe(down)">
                                      <p:cBhvr>
                                        <p:cTn id="22"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70560"/>
          </a:xfrm>
        </p:spPr>
        <p:txBody>
          <a:bodyPr/>
          <a:lstStyle/>
          <a:p>
            <a:pPr eaLnBrk="1" fontAlgn="auto" hangingPunct="1">
              <a:spcAft>
                <a:spcPts val="0"/>
              </a:spcAft>
              <a:defRPr/>
            </a:pPr>
            <a:r>
              <a:rPr lang="en-US" dirty="0" smtClean="0"/>
              <a:t>self-perception &amp; Image</a:t>
            </a:r>
            <a:endParaRPr lang="en-US" dirty="0"/>
          </a:p>
        </p:txBody>
      </p:sp>
      <p:sp>
        <p:nvSpPr>
          <p:cNvPr id="12291" name="Content Placeholder 2"/>
          <p:cNvSpPr>
            <a:spLocks noGrp="1"/>
          </p:cNvSpPr>
          <p:nvPr>
            <p:ph idx="1"/>
          </p:nvPr>
        </p:nvSpPr>
        <p:spPr>
          <a:xfrm>
            <a:off x="457200" y="990600"/>
            <a:ext cx="7239000" cy="5465763"/>
          </a:xfrm>
        </p:spPr>
        <p:txBody>
          <a:bodyPr/>
          <a:lstStyle/>
          <a:p>
            <a:pPr eaLnBrk="1" hangingPunct="1">
              <a:buFont typeface="Wingdings 2" pitchFamily="18" charset="2"/>
              <a:buNone/>
            </a:pPr>
            <a:r>
              <a:rPr lang="en-US" sz="2500" smtClean="0"/>
              <a:t>“ I was very good during my pregnancy because I was taking care of somebody else. But once the baby was born, I wasn’t so good at taking care of myself. So my nutrition wasn’t probably as attentive as when I was pregnant.” 						</a:t>
            </a:r>
            <a:r>
              <a:rPr lang="en-US" sz="2000" smtClean="0"/>
              <a:t>(SK woman)</a:t>
            </a:r>
          </a:p>
          <a:p>
            <a:pPr eaLnBrk="1" hangingPunct="1">
              <a:buFont typeface="Wingdings 2" pitchFamily="18" charset="2"/>
              <a:buNone/>
            </a:pPr>
            <a:r>
              <a:rPr lang="en-US" sz="2500" smtClean="0"/>
              <a:t>“You see those pictures, beautiful pictures of pregnant women who are naked &amp; covered up just so…I guess the biggest thing about weight and pregnancy was I missed the aesthetics of looking cute &amp; pregnant. I know that sounds horribly selfish &amp; shallow but [it’s] the biggest thing that has affected my mood or feelings during the pregnancy”			</a:t>
            </a:r>
            <a:r>
              <a:rPr lang="en-US" sz="2000" smtClean="0"/>
              <a:t>(NS woman)</a:t>
            </a:r>
          </a:p>
          <a:p>
            <a:pPr eaLnBrk="1" hangingPunct="1">
              <a:buFont typeface="Wingdings 2" pitchFamily="18" charset="2"/>
              <a:buNone/>
            </a:pPr>
            <a:endParaRPr lang="en-US"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CA" dirty="0" smtClean="0"/>
              <a:t>Women’s experiences with caregivers</a:t>
            </a:r>
            <a:endParaRPr lang="en-CA" dirty="0"/>
          </a:p>
        </p:txBody>
      </p:sp>
      <p:sp>
        <p:nvSpPr>
          <p:cNvPr id="3" name="Content Placeholder 2"/>
          <p:cNvSpPr>
            <a:spLocks noGrp="1"/>
          </p:cNvSpPr>
          <p:nvPr>
            <p:ph idx="1"/>
          </p:nvPr>
        </p:nvSpPr>
        <p:spPr>
          <a:xfrm>
            <a:off x="457200" y="1752600"/>
            <a:ext cx="7239000" cy="4703763"/>
          </a:xfrm>
        </p:spPr>
        <p:txBody>
          <a:bodyPr/>
          <a:lstStyle/>
          <a:p>
            <a:pPr eaLnBrk="1" hangingPunct="1">
              <a:defRPr/>
            </a:pPr>
            <a:r>
              <a:rPr lang="en-US" sz="2800" dirty="0" smtClean="0"/>
              <a:t>18 women interviewed: 11 described experiences as either neutral or positive (although all have some negative experiences)</a:t>
            </a:r>
          </a:p>
          <a:p>
            <a:pPr eaLnBrk="1" hangingPunct="1">
              <a:buFont typeface="Wingdings 2" pitchFamily="18" charset="2"/>
              <a:buNone/>
              <a:defRPr/>
            </a:pPr>
            <a:endParaRPr lang="en-US" sz="2800" dirty="0" smtClean="0"/>
          </a:p>
          <a:p>
            <a:pPr>
              <a:defRPr/>
            </a:pPr>
            <a:r>
              <a:rPr lang="en-CA" sz="2800" dirty="0" smtClean="0"/>
              <a:t>Instances of uncertainty with caregiver – how to talk about weight?</a:t>
            </a:r>
          </a:p>
          <a:p>
            <a:pPr>
              <a:buFont typeface="Wingdings 2" pitchFamily="18" charset="2"/>
              <a:buNone/>
              <a:defRPr/>
            </a:pPr>
            <a:endParaRPr lang="en-CA" sz="2800" dirty="0" smtClean="0"/>
          </a:p>
          <a:p>
            <a:pPr>
              <a:defRPr/>
            </a:pPr>
            <a:r>
              <a:rPr lang="en-CA" sz="2800" dirty="0" smtClean="0"/>
              <a:t>Subtleties of comments or actions towards stigmatizing behaviour</a:t>
            </a:r>
          </a:p>
          <a:p>
            <a:pPr eaLnBrk="1" hangingPunct="1">
              <a:buFont typeface="Wingdings 2" pitchFamily="18" charset="2"/>
              <a:buNone/>
              <a:defRPr/>
            </a:pPr>
            <a:endParaRPr lang="en-US" sz="2800" dirty="0" smtClean="0">
              <a:solidFill>
                <a:schemeClr val="accent2">
                  <a:lumMod val="75000"/>
                </a:schemeClr>
              </a:solidFill>
            </a:endParaRPr>
          </a:p>
          <a:p>
            <a:pPr>
              <a:defRPr/>
            </a:pPr>
            <a:endParaRPr lang="en-CA"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674"/>
            <a:ext cx="7239000" cy="1431925"/>
          </a:xfrm>
        </p:spPr>
        <p:txBody>
          <a:bodyPr>
            <a:normAutofit fontScale="90000"/>
          </a:bodyPr>
          <a:lstStyle/>
          <a:p>
            <a:pPr>
              <a:defRPr/>
            </a:pPr>
            <a:r>
              <a:rPr lang="en-CA" dirty="0" smtClean="0"/>
              <a:t>Women’s emotional responses during pregnancy</a:t>
            </a:r>
            <a:endParaRPr lang="en-CA" dirty="0"/>
          </a:p>
        </p:txBody>
      </p:sp>
      <p:sp>
        <p:nvSpPr>
          <p:cNvPr id="3" name="Content Placeholder 2"/>
          <p:cNvSpPr>
            <a:spLocks noGrp="1"/>
          </p:cNvSpPr>
          <p:nvPr>
            <p:ph idx="1"/>
          </p:nvPr>
        </p:nvSpPr>
        <p:spPr/>
        <p:txBody>
          <a:bodyPr/>
          <a:lstStyle/>
          <a:p>
            <a:pPr eaLnBrk="1" hangingPunct="1">
              <a:buFont typeface="Wingdings 2" pitchFamily="18" charset="2"/>
              <a:buNone/>
              <a:defRPr/>
            </a:pPr>
            <a:endParaRPr lang="en-US" sz="3000" dirty="0" smtClean="0"/>
          </a:p>
          <a:p>
            <a:pPr eaLnBrk="1" hangingPunct="1">
              <a:buFont typeface="Wingdings 2" pitchFamily="18" charset="2"/>
              <a:buNone/>
              <a:defRPr/>
            </a:pPr>
            <a:r>
              <a:rPr lang="en-US" sz="3000" dirty="0" smtClean="0"/>
              <a:t>Two over-riding emotions in interviews: </a:t>
            </a:r>
          </a:p>
          <a:p>
            <a:pPr eaLnBrk="1" hangingPunct="1">
              <a:buFont typeface="Wingdings 2" pitchFamily="18" charset="2"/>
              <a:buNone/>
              <a:defRPr/>
            </a:pPr>
            <a:endParaRPr lang="en-US" sz="3000" dirty="0" smtClean="0"/>
          </a:p>
          <a:p>
            <a:pPr lvl="1" eaLnBrk="1" hangingPunct="1">
              <a:defRPr/>
            </a:pPr>
            <a:r>
              <a:rPr lang="en-US" sz="3000" dirty="0" smtClean="0">
                <a:solidFill>
                  <a:schemeClr val="accent2">
                    <a:lumMod val="75000"/>
                  </a:schemeClr>
                </a:solidFill>
              </a:rPr>
              <a:t>self-blame/guilt </a:t>
            </a:r>
          </a:p>
          <a:p>
            <a:pPr lvl="1" eaLnBrk="1" hangingPunct="1">
              <a:buFont typeface="Wingdings 2" pitchFamily="18" charset="2"/>
              <a:buNone/>
              <a:defRPr/>
            </a:pPr>
            <a:endParaRPr lang="en-US" sz="3000" dirty="0" smtClean="0">
              <a:solidFill>
                <a:schemeClr val="accent2">
                  <a:lumMod val="75000"/>
                </a:schemeClr>
              </a:solidFill>
            </a:endParaRPr>
          </a:p>
          <a:p>
            <a:pPr lvl="1" eaLnBrk="1" hangingPunct="1">
              <a:defRPr/>
            </a:pPr>
            <a:r>
              <a:rPr lang="en-US" sz="3000" dirty="0" smtClean="0">
                <a:solidFill>
                  <a:schemeClr val="accent2">
                    <a:lumMod val="75000"/>
                  </a:schemeClr>
                </a:solidFill>
              </a:rPr>
              <a:t>fear of judgment</a:t>
            </a:r>
          </a:p>
          <a:p>
            <a:pPr lvl="1" eaLnBrk="1" hangingPunct="1">
              <a:defRPr/>
            </a:pPr>
            <a:endParaRPr lang="en-CA" sz="3000" dirty="0"/>
          </a:p>
        </p:txBody>
      </p:sp>
      <p:pic>
        <p:nvPicPr>
          <p:cNvPr id="14340" name="Picture 3" descr="Cope-With-Pregnancy-Induced-Mood-Swings.jpg"/>
          <p:cNvPicPr>
            <a:picLocks noChangeAspect="1"/>
          </p:cNvPicPr>
          <p:nvPr/>
        </p:nvPicPr>
        <p:blipFill>
          <a:blip r:embed="rId3" cstate="print"/>
          <a:srcRect/>
          <a:stretch>
            <a:fillRect/>
          </a:stretch>
        </p:blipFill>
        <p:spPr bwMode="auto">
          <a:xfrm>
            <a:off x="4305300" y="2743200"/>
            <a:ext cx="3314700"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675"/>
            <a:ext cx="7239000" cy="822325"/>
          </a:xfrm>
        </p:spPr>
        <p:txBody>
          <a:bodyPr/>
          <a:lstStyle/>
          <a:p>
            <a:pPr>
              <a:defRPr/>
            </a:pPr>
            <a:r>
              <a:rPr lang="en-CA" dirty="0" smtClean="0"/>
              <a:t>Call for action	</a:t>
            </a:r>
            <a:endParaRPr lang="en-CA" dirty="0"/>
          </a:p>
        </p:txBody>
      </p:sp>
      <p:sp>
        <p:nvSpPr>
          <p:cNvPr id="15363" name="Content Placeholder 2"/>
          <p:cNvSpPr>
            <a:spLocks noGrp="1"/>
          </p:cNvSpPr>
          <p:nvPr>
            <p:ph idx="1"/>
          </p:nvPr>
        </p:nvSpPr>
        <p:spPr>
          <a:xfrm>
            <a:off x="457200" y="1371600"/>
            <a:ext cx="7239000" cy="5084763"/>
          </a:xfrm>
        </p:spPr>
        <p:txBody>
          <a:bodyPr/>
          <a:lstStyle/>
          <a:p>
            <a:r>
              <a:rPr lang="en-CA" smtClean="0"/>
              <a:t>Team approach to maternity care for women with overweight/obesity (intercollaborative practice)</a:t>
            </a:r>
          </a:p>
          <a:p>
            <a:r>
              <a:rPr lang="en-CA" smtClean="0"/>
              <a:t>Information on weight gain &amp; risk needs to be more systematically shared among all women, so as not to stigmatize</a:t>
            </a:r>
          </a:p>
          <a:p>
            <a:r>
              <a:rPr lang="en-CA" smtClean="0"/>
              <a:t>An understanding of risk among women with obesity should be tempered with other factors (age, pre-existing conditions, genetics) </a:t>
            </a:r>
          </a:p>
          <a:p>
            <a:r>
              <a:rPr lang="en-CA" smtClean="0"/>
              <a:t>Many obese women have negative experiences within health care, so sensitivity important</a:t>
            </a:r>
          </a:p>
          <a:p>
            <a:pPr>
              <a:buFont typeface="Wingdings 2" pitchFamily="18" charset="2"/>
              <a:buNone/>
            </a:pPr>
            <a:endParaRPr lang="en-CA"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1066800" y="457200"/>
            <a:ext cx="6324600" cy="5694363"/>
          </a:xfrm>
          <a:prstGeom prst="rect">
            <a:avLst/>
          </a:prstGeom>
          <a:noFill/>
          <a:ln w="9525">
            <a:noFill/>
            <a:miter lim="800000"/>
            <a:headEnd/>
            <a:tailEnd/>
          </a:ln>
        </p:spPr>
        <p:txBody>
          <a:bodyPr>
            <a:spAutoFit/>
          </a:bodyPr>
          <a:lstStyle/>
          <a:p>
            <a:r>
              <a:rPr lang="en-US" sz="2800">
                <a:latin typeface="Trebuchet MS" pitchFamily="34" charset="0"/>
              </a:rPr>
              <a:t>“I think it is hard for women who are overweight and obese to really love their bodies.  It’s rare. But you know, we can kind of stretch that concept a little bit. And again, going through the process of giving birth often helps women to have this more profound respect for what their bodies are capable of and how miraculous the whole process is. And again, helping them feel like they are doing it.  They have accomplished this great feat.”</a:t>
            </a:r>
          </a:p>
          <a:p>
            <a:pPr algn="r"/>
            <a:r>
              <a:rPr lang="en-US" sz="2800">
                <a:latin typeface="Trebuchet MS" pitchFamily="34" charset="0"/>
              </a:rPr>
              <a:t>- </a:t>
            </a:r>
            <a:r>
              <a:rPr lang="en-US" sz="2200">
                <a:latin typeface="Trebuchet MS" pitchFamily="34" charset="0"/>
              </a:rPr>
              <a:t>N.S. caregiver, 2012</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3261360"/>
          </a:xfrm>
        </p:spPr>
        <p:txBody>
          <a:bodyPr/>
          <a:lstStyle/>
          <a:p>
            <a:pPr algn="ctr">
              <a:defRPr/>
            </a:pPr>
            <a:r>
              <a:rPr lang="en-CA" dirty="0" smtClean="0"/>
              <a:t> </a:t>
            </a:r>
            <a:r>
              <a:rPr lang="en-CA" dirty="0" smtClean="0">
                <a:hlinkClick r:id="rId2"/>
              </a:rPr>
              <a:t>www.pwhce.ca</a:t>
            </a:r>
            <a:r>
              <a:rPr lang="en-CA" dirty="0" smtClean="0"/>
              <a:t/>
            </a:r>
            <a:br>
              <a:rPr lang="en-CA" dirty="0" smtClean="0"/>
            </a:br>
            <a:endParaRPr lang="en-CA"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themeOverride>
</file>

<file path=docProps/app.xml><?xml version="1.0" encoding="utf-8"?>
<Properties xmlns="http://schemas.openxmlformats.org/officeDocument/2006/extended-properties" xmlns:vt="http://schemas.openxmlformats.org/officeDocument/2006/docPropsVTypes">
  <Template>Opulent</Template>
  <TotalTime>483</TotalTime>
  <Words>1503</Words>
  <Application>Microsoft Office PowerPoint</Application>
  <PresentationFormat>On-screen Show (4:3)</PresentationFormat>
  <Paragraphs>74</Paragraphs>
  <Slides>12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Trebuchet MS</vt:lpstr>
      <vt:lpstr>Wingdings 2</vt:lpstr>
      <vt:lpstr>Wingdings</vt:lpstr>
      <vt:lpstr>Calibri</vt:lpstr>
      <vt:lpstr>Times New Roman</vt:lpstr>
      <vt:lpstr>Opulent</vt:lpstr>
      <vt:lpstr>Weight Expectations:   Experiences and needs of overweight and obese pregnant women and their healthcare providers </vt:lpstr>
      <vt:lpstr>Study objectives</vt:lpstr>
      <vt:lpstr>Methods </vt:lpstr>
      <vt:lpstr>Physical health &amp; pregnancy/  birth outcomes</vt:lpstr>
      <vt:lpstr>perception of  Pregnant women with obesity ?</vt:lpstr>
      <vt:lpstr>Caregivers in study: competition, stigma &amp; ethical practice</vt:lpstr>
      <vt:lpstr>self-perception &amp; Image</vt:lpstr>
      <vt:lpstr>Women’s experiences with caregivers</vt:lpstr>
      <vt:lpstr>Women’s emotional responses during pregnancy</vt:lpstr>
      <vt:lpstr>Call for action </vt:lpstr>
      <vt:lpstr>Slide 11</vt:lpstr>
      <vt:lpstr> www.pwhce.ca </vt:lpstr>
    </vt:vector>
  </TitlesOfParts>
  <Company>University of Saskatchewan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Weight Expectations:   Experiences and needs of overweight and obese pregnant women and their healthcare providers </dc:title>
  <dc:creator>ych982</dc:creator>
  <cp:lastModifiedBy>ych982</cp:lastModifiedBy>
  <cp:revision>57</cp:revision>
  <dcterms:created xsi:type="dcterms:W3CDTF">2012-06-04T16:41:16Z</dcterms:created>
  <dcterms:modified xsi:type="dcterms:W3CDTF">2012-06-18T22:14:35Z</dcterms:modified>
</cp:coreProperties>
</file>