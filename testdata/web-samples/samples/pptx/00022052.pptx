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slides/slide49.xml" ContentType="application/vnd.openxmlformats-officedocument.presentationml.slide+xml"/>
  <Default Extension="bin" ContentType="application/vnd.openxmlformats-officedocument.presentationml.printerSettings"/>
  <Override PartName="/ppt/notesSlides/notesSlide30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11.xml" ContentType="application/vnd.openxmlformats-officedocument.presentationml.slide+xml"/>
  <Override PartName="/ppt/slides/slide46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4.xml" ContentType="application/vnd.openxmlformats-officedocument.presentationml.slideLayout+xml"/>
  <Override PartName="/ppt/notesSlides/notesSlide26.xml" ContentType="application/vnd.openxmlformats-officedocument.presentationml.notesSlide+xml"/>
  <Override PartName="/ppt/notesSlides/notesSlide45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slides/slide1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35.xml" ContentType="application/vnd.openxmlformats-officedocument.presentationml.notes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Default Extension="jpeg" ContentType="image/jpeg"/>
  <Override PartName="/ppt/notesSlides/notesSlide23.xml" ContentType="application/vnd.openxmlformats-officedocument.presentationml.notes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s/slide31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5.xml" ContentType="application/vnd.openxmlformats-officedocument.presentationml.slideLayout+xml"/>
  <Default Extension="emf" ContentType="image/x-emf"/>
  <Override PartName="/ppt/notesSlides/notesSlide11.xml" ContentType="application/vnd.openxmlformats-officedocument.presentationml.notesSlide+xml"/>
  <Default Extension="rels" ContentType="application/vnd.openxmlformats-package.relationships+xml"/>
  <Override PartName="/ppt/notesSlides/notesSlide27.xml" ContentType="application/vnd.openxmlformats-officedocument.presentationml.notesSlide+xml"/>
  <Override PartName="/ppt/slides/slide16.xml" ContentType="application/vnd.openxmlformats-officedocument.presentationml.slide+xml"/>
  <Override PartName="/ppt/slides/slide35.xml" ContentType="application/vnd.openxmlformats-officedocument.presentationml.slide+xml"/>
  <Override PartName="/ppt/slides/slide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25.xml" ContentType="application/vnd.openxmlformats-officedocument.presentationml.slide+xml"/>
  <Override PartName="/ppt/slides/slide44.xml" ContentType="application/vnd.openxmlformats-officedocument.presentationml.slide+xml"/>
  <Override PartName="/ppt/theme/theme3.xml" ContentType="application/vnd.openxmlformats-officedocument.theme+xml"/>
  <Override PartName="/ppt/charts/chart2.xml" ContentType="application/vnd.openxmlformats-officedocument.drawingml.chart+xml"/>
  <Override PartName="/ppt/slideLayouts/slideLayout12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tableStyles.xml" ContentType="application/vnd.openxmlformats-officedocument.presentationml.tableStyles+xml"/>
  <Override PartName="/ppt/slides/slide48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viewProps.xml" ContentType="application/vnd.openxmlformats-officedocument.presentationml.viewProps+xml"/>
  <Override PartName="/ppt/notesSlides/notesSlide43.xml" ContentType="application/vnd.openxmlformats-officedocument.presentationml.notesSlide+xml"/>
  <Override PartName="/ppt/slideLayouts/slideLayout16.xml" ContentType="application/vnd.openxmlformats-officedocument.presentationml.slideLayout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slides/slide36.xml" ContentType="application/vnd.openxmlformats-officedocument.presentationml.slide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26.xml" ContentType="application/vnd.openxmlformats-officedocument.presentationml.slide+xml"/>
  <Override PartName="/ppt/slides/slide45.xml" ContentType="application/vnd.openxmlformats-officedocument.presentationml.slide+xml"/>
  <Override PartName="/ppt/theme/theme4.xml" ContentType="application/vnd.openxmlformats-officedocument.theme+xml"/>
  <Override PartName="/ppt/slides/slide10.xml" ContentType="application/vnd.openxmlformats-officedocument.presentationml.slide+xml"/>
  <Override PartName="/ppt/notesSlides/notesSlide40.xml" ContentType="application/vnd.openxmlformats-officedocument.presentationml.notesSlide+xml"/>
  <Override PartName="/ppt/charts/chart3.xml" ContentType="application/vnd.openxmlformats-officedocument.drawingml.chart+xml"/>
  <Override PartName="/ppt/slideLayouts/slideLayout13.xml" ContentType="application/vnd.openxmlformats-officedocument.presentationml.slideLayout+xml"/>
  <Default Extension="pdf" ContentType="application/pdf"/>
  <Override PartName="/ppt/notesSlides/notesSlide39.xml" ContentType="application/vnd.openxmlformats-officedocument.presentationml.notesSlide+xml"/>
  <Default Extension="png" ContentType="image/png"/>
  <Override PartName="/ppt/notesSlides/notesSlide25.xml" ContentType="application/vnd.openxmlformats-officedocument.presentationml.notesSlide+xml"/>
  <Override PartName="/ppt/notesSlides/notesSlide4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  <p:sldMasterId id="2147484147" r:id="rId2"/>
  </p:sldMasterIdLst>
  <p:notesMasterIdLst>
    <p:notesMasterId r:id="rId53"/>
  </p:notesMasterIdLst>
  <p:handoutMasterIdLst>
    <p:handoutMasterId r:id="rId54"/>
  </p:handoutMasterIdLst>
  <p:sldIdLst>
    <p:sldId id="258" r:id="rId3"/>
    <p:sldId id="288" r:id="rId4"/>
    <p:sldId id="280" r:id="rId5"/>
    <p:sldId id="358" r:id="rId6"/>
    <p:sldId id="366" r:id="rId7"/>
    <p:sldId id="359" r:id="rId8"/>
    <p:sldId id="360" r:id="rId9"/>
    <p:sldId id="321" r:id="rId10"/>
    <p:sldId id="356" r:id="rId11"/>
    <p:sldId id="361" r:id="rId12"/>
    <p:sldId id="368" r:id="rId13"/>
    <p:sldId id="317" r:id="rId14"/>
    <p:sldId id="320" r:id="rId15"/>
    <p:sldId id="329" r:id="rId16"/>
    <p:sldId id="330" r:id="rId17"/>
    <p:sldId id="282" r:id="rId18"/>
    <p:sldId id="293" r:id="rId19"/>
    <p:sldId id="322" r:id="rId20"/>
    <p:sldId id="324" r:id="rId21"/>
    <p:sldId id="326" r:id="rId22"/>
    <p:sldId id="323" r:id="rId23"/>
    <p:sldId id="276" r:id="rId24"/>
    <p:sldId id="370" r:id="rId25"/>
    <p:sldId id="325" r:id="rId26"/>
    <p:sldId id="298" r:id="rId27"/>
    <p:sldId id="327" r:id="rId28"/>
    <p:sldId id="301" r:id="rId29"/>
    <p:sldId id="299" r:id="rId30"/>
    <p:sldId id="303" r:id="rId31"/>
    <p:sldId id="300" r:id="rId32"/>
    <p:sldId id="304" r:id="rId33"/>
    <p:sldId id="278" r:id="rId34"/>
    <p:sldId id="305" r:id="rId35"/>
    <p:sldId id="284" r:id="rId36"/>
    <p:sldId id="345" r:id="rId37"/>
    <p:sldId id="306" r:id="rId38"/>
    <p:sldId id="331" r:id="rId39"/>
    <p:sldId id="344" r:id="rId40"/>
    <p:sldId id="334" r:id="rId41"/>
    <p:sldId id="335" r:id="rId42"/>
    <p:sldId id="333" r:id="rId43"/>
    <p:sldId id="336" r:id="rId44"/>
    <p:sldId id="332" r:id="rId45"/>
    <p:sldId id="310" r:id="rId46"/>
    <p:sldId id="342" r:id="rId47"/>
    <p:sldId id="372" r:id="rId48"/>
    <p:sldId id="362" r:id="rId49"/>
    <p:sldId id="363" r:id="rId50"/>
    <p:sldId id="364" r:id="rId51"/>
    <p:sldId id="365" r:id="rId52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handouts4" clrMode="gray" frameSlides="1"/>
  <p:showPr showNarration="1">
    <p:present/>
    <p:sldAll/>
    <p:penClr>
      <a:schemeClr val="tx1"/>
    </p:penClr>
  </p:showPr>
  <p:clrMru>
    <a:srgbClr val="F2A4A7"/>
    <a:srgbClr val="9DC49D"/>
    <a:srgbClr val="0A99BE"/>
    <a:srgbClr val="CF0202"/>
    <a:srgbClr val="009E01"/>
    <a:srgbClr val="D7823B"/>
    <a:srgbClr val="B1DCB5"/>
    <a:srgbClr val="A9D3AA"/>
    <a:srgbClr val="157D00"/>
    <a:srgbClr val="0032E7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85" autoAdjust="0"/>
    <p:restoredTop sz="82759" autoAdjust="0"/>
  </p:normalViewPr>
  <p:slideViewPr>
    <p:cSldViewPr snapToGrid="0" snapToObjects="1">
      <p:cViewPr varScale="1">
        <p:scale>
          <a:sx n="97" d="100"/>
          <a:sy n="97" d="100"/>
        </p:scale>
        <p:origin x="-120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notesMaster" Target="notesMasters/notesMaster1.xml"/><Relationship Id="rId54" Type="http://schemas.openxmlformats.org/officeDocument/2006/relationships/handoutMaster" Target="handoutMasters/handoutMaster1.xml"/><Relationship Id="rId55" Type="http://schemas.openxmlformats.org/officeDocument/2006/relationships/printerSettings" Target="printerSettings/printerSettings1.bin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walraed:work:alias:chooserDecider:doc:papers:OpoDis2011:paper:figs:ProbGraph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walraed:work:alias:chooserDecider:doc:papers:OpoDis2011:paper:figs:ProbGraph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walraed:work:alias:chooserDecider:doc:papers:OpoDis2011:paper:figs:ProbGraph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title>
      <c:tx>
        <c:rich>
          <a:bodyPr/>
          <a:lstStyle/>
          <a:p>
            <a:pPr>
              <a:defRPr/>
            </a:pPr>
            <a:r>
              <a:rPr lang="en-US" dirty="0"/>
              <a:t>m=4</a:t>
            </a:r>
          </a:p>
        </c:rich>
      </c:tx>
      <c:layout/>
    </c:title>
    <c:view3D>
      <c:perspective val="30"/>
    </c:view3D>
    <c:plotArea>
      <c:layout>
        <c:manualLayout>
          <c:layoutTarget val="inner"/>
          <c:xMode val="edge"/>
          <c:yMode val="edge"/>
          <c:x val="0.0785439632545932"/>
          <c:y val="0.0277777777777778"/>
          <c:w val="0.793559673401102"/>
          <c:h val="0.892285521910711"/>
        </c:manualLayout>
      </c:layout>
      <c:bar3DChart>
        <c:barDir val="col"/>
        <c:grouping val="standard"/>
        <c:ser>
          <c:idx val="0"/>
          <c:order val="0"/>
          <c:tx>
            <c:strRef>
              <c:f>'m=4'!$F$8</c:f>
              <c:strCache>
                <c:ptCount val="1"/>
                <c:pt idx="0">
                  <c:v>d=4</c:v>
                </c:pt>
              </c:strCache>
            </c:strRef>
          </c:tx>
          <c:cat>
            <c:numRef>
              <c:f>'m=4'!$A$9:$A$13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cat>
          <c:val>
            <c:numRef>
              <c:f>'m=4'!$F$9:$F$13</c:f>
              <c:numCache>
                <c:formatCode>General</c:formatCode>
                <c:ptCount val="5"/>
                <c:pt idx="0">
                  <c:v>0.15625</c:v>
                </c:pt>
                <c:pt idx="1">
                  <c:v>0.1875</c:v>
                </c:pt>
                <c:pt idx="2">
                  <c:v>0.5625</c:v>
                </c:pt>
                <c:pt idx="3">
                  <c:v>0.0</c:v>
                </c:pt>
                <c:pt idx="4">
                  <c:v>0.09375</c:v>
                </c:pt>
              </c:numCache>
            </c:numRef>
          </c:val>
        </c:ser>
        <c:ser>
          <c:idx val="1"/>
          <c:order val="1"/>
          <c:tx>
            <c:strRef>
              <c:f>'m=4'!$H$8</c:f>
              <c:strCache>
                <c:ptCount val="1"/>
                <c:pt idx="0">
                  <c:v>d=8</c:v>
                </c:pt>
              </c:strCache>
            </c:strRef>
          </c:tx>
          <c:cat>
            <c:numRef>
              <c:f>'m=4'!$A$9:$A$13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cat>
          <c:val>
            <c:numRef>
              <c:f>'m=4'!$H$9:$H$13</c:f>
              <c:numCache>
                <c:formatCode>General</c:formatCode>
                <c:ptCount val="5"/>
                <c:pt idx="0">
                  <c:v>0.04296875</c:v>
                </c:pt>
                <c:pt idx="1">
                  <c:v>0.0546875</c:v>
                </c:pt>
                <c:pt idx="2">
                  <c:v>0.4921875</c:v>
                </c:pt>
                <c:pt idx="3">
                  <c:v>0.0</c:v>
                </c:pt>
                <c:pt idx="4">
                  <c:v>0.41015625</c:v>
                </c:pt>
              </c:numCache>
            </c:numRef>
          </c:val>
        </c:ser>
        <c:ser>
          <c:idx val="2"/>
          <c:order val="2"/>
          <c:tx>
            <c:strRef>
              <c:f>'m=4'!$J$8</c:f>
              <c:strCache>
                <c:ptCount val="1"/>
                <c:pt idx="0">
                  <c:v>d=16</c:v>
                </c:pt>
              </c:strCache>
            </c:strRef>
          </c:tx>
          <c:cat>
            <c:numRef>
              <c:f>'m=4'!$A$9:$A$13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cat>
          <c:val>
            <c:numRef>
              <c:f>'m=4'!$J$9:$J$13</c:f>
              <c:numCache>
                <c:formatCode>General</c:formatCode>
                <c:ptCount val="5"/>
                <c:pt idx="0">
                  <c:v>0.01123046875</c:v>
                </c:pt>
                <c:pt idx="1">
                  <c:v>0.0146484375</c:v>
                </c:pt>
                <c:pt idx="2">
                  <c:v>0.3076171875</c:v>
                </c:pt>
                <c:pt idx="3">
                  <c:v>0.0</c:v>
                </c:pt>
                <c:pt idx="4">
                  <c:v>0.66650390625</c:v>
                </c:pt>
              </c:numCache>
            </c:numRef>
          </c:val>
        </c:ser>
        <c:ser>
          <c:idx val="3"/>
          <c:order val="3"/>
          <c:tx>
            <c:strRef>
              <c:f>'m=4'!$L$8</c:f>
              <c:strCache>
                <c:ptCount val="1"/>
                <c:pt idx="0">
                  <c:v>d=32</c:v>
                </c:pt>
              </c:strCache>
            </c:strRef>
          </c:tx>
          <c:cat>
            <c:numRef>
              <c:f>'m=4'!$A$9:$A$13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cat>
          <c:val>
            <c:numRef>
              <c:f>'m=4'!$L$9:$L$13</c:f>
              <c:numCache>
                <c:formatCode>General</c:formatCode>
                <c:ptCount val="5"/>
                <c:pt idx="0">
                  <c:v>0.00286865234375</c:v>
                </c:pt>
                <c:pt idx="1">
                  <c:v>0.0037841796875</c:v>
                </c:pt>
                <c:pt idx="2">
                  <c:v>0.1702880859375</c:v>
                </c:pt>
                <c:pt idx="3">
                  <c:v>0.0</c:v>
                </c:pt>
                <c:pt idx="4">
                  <c:v>0.82305908203125</c:v>
                </c:pt>
              </c:numCache>
            </c:numRef>
          </c:val>
        </c:ser>
        <c:ser>
          <c:idx val="4"/>
          <c:order val="4"/>
          <c:tx>
            <c:strRef>
              <c:f>'m=4'!$N$8</c:f>
              <c:strCache>
                <c:ptCount val="1"/>
                <c:pt idx="0">
                  <c:v>d=64</c:v>
                </c:pt>
              </c:strCache>
            </c:strRef>
          </c:tx>
          <c:cat>
            <c:numRef>
              <c:f>'m=4'!$A$9:$A$13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cat>
          <c:val>
            <c:numRef>
              <c:f>'m=4'!$N$9:$N$13</c:f>
              <c:numCache>
                <c:formatCode>General</c:formatCode>
                <c:ptCount val="5"/>
                <c:pt idx="0">
                  <c:v>0.00072479248046875</c:v>
                </c:pt>
                <c:pt idx="1">
                  <c:v>0.000961303710937499</c:v>
                </c:pt>
                <c:pt idx="2">
                  <c:v>0.0894012451171875</c:v>
                </c:pt>
                <c:pt idx="3">
                  <c:v>0.0</c:v>
                </c:pt>
                <c:pt idx="4">
                  <c:v>0.908912658691406</c:v>
                </c:pt>
              </c:numCache>
            </c:numRef>
          </c:val>
        </c:ser>
        <c:ser>
          <c:idx val="5"/>
          <c:order val="5"/>
          <c:tx>
            <c:strRef>
              <c:f>'m=4'!$P$8</c:f>
              <c:strCache>
                <c:ptCount val="1"/>
                <c:pt idx="0">
                  <c:v>d=128</c:v>
                </c:pt>
              </c:strCache>
            </c:strRef>
          </c:tx>
          <c:cat>
            <c:numRef>
              <c:f>'m=4'!$A$9:$A$13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cat>
          <c:val>
            <c:numRef>
              <c:f>'m=4'!$P$9:$P$13</c:f>
              <c:numCache>
                <c:formatCode>General</c:formatCode>
                <c:ptCount val="5"/>
                <c:pt idx="0">
                  <c:v>0.000182151794433594</c:v>
                </c:pt>
                <c:pt idx="1">
                  <c:v>0.000242233276367187</c:v>
                </c:pt>
                <c:pt idx="2">
                  <c:v>0.0457820892333985</c:v>
                </c:pt>
                <c:pt idx="3">
                  <c:v>0.0</c:v>
                </c:pt>
                <c:pt idx="4">
                  <c:v>0.953793525695802</c:v>
                </c:pt>
              </c:numCache>
            </c:numRef>
          </c:val>
        </c:ser>
        <c:shape val="box"/>
        <c:axId val="553738200"/>
        <c:axId val="554071384"/>
        <c:axId val="543942568"/>
      </c:bar3DChart>
      <c:catAx>
        <c:axId val="5537382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k</a:t>
                </a:r>
              </a:p>
            </c:rich>
          </c:tx>
          <c:layout/>
        </c:title>
        <c:numFmt formatCode="General" sourceLinked="1"/>
        <c:tickLblPos val="nextTo"/>
        <c:crossAx val="554071384"/>
        <c:crosses val="autoZero"/>
        <c:auto val="1"/>
        <c:lblAlgn val="ctr"/>
        <c:lblOffset val="100"/>
      </c:catAx>
      <c:valAx>
        <c:axId val="554071384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P(k,4,d)</a:t>
                </a:r>
              </a:p>
            </c:rich>
          </c:tx>
          <c:layout/>
        </c:title>
        <c:numFmt formatCode="General" sourceLinked="1"/>
        <c:tickLblPos val="nextTo"/>
        <c:crossAx val="553738200"/>
        <c:crosses val="autoZero"/>
        <c:crossBetween val="between"/>
      </c:valAx>
      <c:serAx>
        <c:axId val="543942568"/>
        <c:scaling>
          <c:orientation val="minMax"/>
        </c:scaling>
        <c:axPos val="b"/>
        <c:tickLblPos val="nextTo"/>
        <c:crossAx val="554071384"/>
        <c:crosses val="autoZero"/>
      </c:serAx>
    </c:plotArea>
    <c:legend>
      <c:legendPos val="r"/>
      <c:layout>
        <c:manualLayout>
          <c:xMode val="edge"/>
          <c:yMode val="edge"/>
          <c:x val="0.877513047589606"/>
          <c:y val="0.102567378008865"/>
          <c:w val="0.122486952410394"/>
          <c:h val="0.302228664409823"/>
        </c:manualLayout>
      </c:layout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title>
      <c:tx>
        <c:rich>
          <a:bodyPr/>
          <a:lstStyle/>
          <a:p>
            <a:pPr>
              <a:defRPr/>
            </a:pPr>
            <a:r>
              <a:rPr lang="en-US" dirty="0"/>
              <a:t>m=8</a:t>
            </a:r>
          </a:p>
        </c:rich>
      </c:tx>
      <c:layout>
        <c:manualLayout>
          <c:xMode val="edge"/>
          <c:yMode val="edge"/>
          <c:x val="0.444320866141732"/>
          <c:y val="0.0803571428571428"/>
        </c:manualLayout>
      </c:layout>
    </c:title>
    <c:view3D>
      <c:perspective val="30"/>
    </c:view3D>
    <c:plotArea>
      <c:layout>
        <c:manualLayout>
          <c:layoutTarget val="inner"/>
          <c:xMode val="edge"/>
          <c:yMode val="edge"/>
          <c:x val="0.0839475662133142"/>
          <c:y val="0.0995535714285714"/>
          <c:w val="0.799395132426628"/>
          <c:h val="0.78822360095613"/>
        </c:manualLayout>
      </c:layout>
      <c:bar3DChart>
        <c:barDir val="col"/>
        <c:grouping val="standard"/>
        <c:ser>
          <c:idx val="0"/>
          <c:order val="0"/>
          <c:tx>
            <c:strRef>
              <c:f>'m=8'!$F$25</c:f>
              <c:strCache>
                <c:ptCount val="1"/>
                <c:pt idx="0">
                  <c:v>d=8</c:v>
                </c:pt>
              </c:strCache>
            </c:strRef>
          </c:tx>
          <c:cat>
            <c:numRef>
              <c:f>'m=8'!$A$26:$A$34</c:f>
              <c:numCache>
                <c:formatCode>General</c:formatCode>
                <c:ptCount val="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</c:numCache>
            </c:numRef>
          </c:cat>
          <c:val>
            <c:numRef>
              <c:f>'m=8'!$F$26:$F$34</c:f>
              <c:numCache>
                <c:formatCode>General</c:formatCode>
                <c:ptCount val="9"/>
                <c:pt idx="0">
                  <c:v>0.0207252502441406</c:v>
                </c:pt>
                <c:pt idx="1">
                  <c:v>0.0931129455566406</c:v>
                </c:pt>
                <c:pt idx="2">
                  <c:v>0.238883972167969</c:v>
                </c:pt>
                <c:pt idx="3">
                  <c:v>0.229911804199219</c:v>
                </c:pt>
                <c:pt idx="4">
                  <c:v>0.280380249023437</c:v>
                </c:pt>
                <c:pt idx="5">
                  <c:v>0.067291259765625</c:v>
                </c:pt>
                <c:pt idx="6">
                  <c:v>0.067291259765625</c:v>
                </c:pt>
                <c:pt idx="7">
                  <c:v>0.0</c:v>
                </c:pt>
                <c:pt idx="8">
                  <c:v>0.00240325927734375</c:v>
                </c:pt>
              </c:numCache>
            </c:numRef>
          </c:val>
        </c:ser>
        <c:ser>
          <c:idx val="1"/>
          <c:order val="1"/>
          <c:tx>
            <c:strRef>
              <c:f>'m=8'!$H$25</c:f>
              <c:strCache>
                <c:ptCount val="1"/>
                <c:pt idx="0">
                  <c:v>d=16</c:v>
                </c:pt>
              </c:strCache>
            </c:strRef>
          </c:tx>
          <c:cat>
            <c:numRef>
              <c:f>'m=8'!$A$26:$A$34</c:f>
              <c:numCache>
                <c:formatCode>General</c:formatCode>
                <c:ptCount val="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</c:numCache>
            </c:numRef>
          </c:cat>
          <c:val>
            <c:numRef>
              <c:f>'m=8'!$H$26:$H$34</c:f>
              <c:numCache>
                <c:formatCode>General</c:formatCode>
                <c:ptCount val="9"/>
                <c:pt idx="0">
                  <c:v>0.00145784020423889</c:v>
                </c:pt>
                <c:pt idx="1">
                  <c:v>0.00889375805854797</c:v>
                </c:pt>
                <c:pt idx="2">
                  <c:v>0.0583979487419128</c:v>
                </c:pt>
                <c:pt idx="3">
                  <c:v>0.0689122080802917</c:v>
                </c:pt>
                <c:pt idx="4">
                  <c:v>0.290456414222717</c:v>
                </c:pt>
                <c:pt idx="5">
                  <c:v>0.0751769542694092</c:v>
                </c:pt>
                <c:pt idx="6">
                  <c:v>0.375884771347046</c:v>
                </c:pt>
                <c:pt idx="7">
                  <c:v>0.0</c:v>
                </c:pt>
                <c:pt idx="8">
                  <c:v>0.120820105075836</c:v>
                </c:pt>
              </c:numCache>
            </c:numRef>
          </c:val>
        </c:ser>
        <c:ser>
          <c:idx val="2"/>
          <c:order val="2"/>
          <c:tx>
            <c:strRef>
              <c:f>'m=8'!$J$25</c:f>
              <c:strCache>
                <c:ptCount val="1"/>
                <c:pt idx="0">
                  <c:v>d=32</c:v>
                </c:pt>
              </c:strCache>
            </c:strRef>
          </c:tx>
          <c:cat>
            <c:numRef>
              <c:f>'m=8'!$A$26:$A$34</c:f>
              <c:numCache>
                <c:formatCode>General</c:formatCode>
                <c:ptCount val="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</c:numCache>
            </c:numRef>
          </c:cat>
          <c:val>
            <c:numRef>
              <c:f>'m=8'!$J$26:$J$34</c:f>
              <c:numCache>
                <c:formatCode>General</c:formatCode>
                <c:ptCount val="9"/>
                <c:pt idx="0">
                  <c:v>9.57876909524203E-5</c:v>
                </c:pt>
                <c:pt idx="1">
                  <c:v>0.000671474495902658</c:v>
                </c:pt>
                <c:pt idx="2">
                  <c:v>0.00978098949417472</c:v>
                </c:pt>
                <c:pt idx="3">
                  <c:v>0.0123516633175313</c:v>
                </c:pt>
                <c:pt idx="4">
                  <c:v>0.126153999008238</c:v>
                </c:pt>
                <c:pt idx="5">
                  <c:v>0.033230809494853</c:v>
                </c:pt>
                <c:pt idx="6">
                  <c:v>0.432000523433089</c:v>
                </c:pt>
                <c:pt idx="7">
                  <c:v>0.0</c:v>
                </c:pt>
                <c:pt idx="8">
                  <c:v>0.385714753065258</c:v>
                </c:pt>
              </c:numCache>
            </c:numRef>
          </c:val>
        </c:ser>
        <c:ser>
          <c:idx val="3"/>
          <c:order val="3"/>
          <c:tx>
            <c:strRef>
              <c:f>'m=8'!$L$25</c:f>
              <c:strCache>
                <c:ptCount val="1"/>
                <c:pt idx="0">
                  <c:v>d=64</c:v>
                </c:pt>
              </c:strCache>
            </c:strRef>
          </c:tx>
          <c:cat>
            <c:numRef>
              <c:f>'m=8'!$A$26:$A$34</c:f>
              <c:numCache>
                <c:formatCode>General</c:formatCode>
                <c:ptCount val="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</c:numCache>
            </c:numRef>
          </c:cat>
          <c:val>
            <c:numRef>
              <c:f>'m=8'!$L$26:$L$34</c:f>
              <c:numCache>
                <c:formatCode>General</c:formatCode>
                <c:ptCount val="9"/>
                <c:pt idx="0">
                  <c:v>6.12530311627779E-6</c:v>
                </c:pt>
                <c:pt idx="1">
                  <c:v>4.59053426311584E-5</c:v>
                </c:pt>
                <c:pt idx="2">
                  <c:v>0.00140316814577091</c:v>
                </c:pt>
                <c:pt idx="3">
                  <c:v>0.00182332780605066</c:v>
                </c:pt>
                <c:pt idx="4">
                  <c:v>0.0405015411161002</c:v>
                </c:pt>
                <c:pt idx="5">
                  <c:v>0.0107397344982019</c:v>
                </c:pt>
                <c:pt idx="6">
                  <c:v>0.311452300447854</c:v>
                </c:pt>
                <c:pt idx="7">
                  <c:v>0.0</c:v>
                </c:pt>
                <c:pt idx="8">
                  <c:v>0.634027897340275</c:v>
                </c:pt>
              </c:numCache>
            </c:numRef>
          </c:val>
        </c:ser>
        <c:ser>
          <c:idx val="4"/>
          <c:order val="4"/>
          <c:tx>
            <c:strRef>
              <c:f>'m=8'!$N$25</c:f>
              <c:strCache>
                <c:ptCount val="1"/>
                <c:pt idx="0">
                  <c:v>d=128</c:v>
                </c:pt>
              </c:strCache>
            </c:strRef>
          </c:tx>
          <c:cat>
            <c:numRef>
              <c:f>'m=8'!$A$26:$A$34</c:f>
              <c:numCache>
                <c:formatCode>General</c:formatCode>
                <c:ptCount val="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</c:numCache>
            </c:numRef>
          </c:cat>
          <c:val>
            <c:numRef>
              <c:f>'m=8'!$N$26:$N$34</c:f>
              <c:numCache>
                <c:formatCode>General</c:formatCode>
                <c:ptCount val="9"/>
                <c:pt idx="0">
                  <c:v>3.87036791948958E-7</c:v>
                </c:pt>
                <c:pt idx="1">
                  <c:v>2.9973888473478E-6</c:v>
                </c:pt>
                <c:pt idx="2">
                  <c:v>0.000187536462902926</c:v>
                </c:pt>
                <c:pt idx="3">
                  <c:v>0.000246930252245647</c:v>
                </c:pt>
                <c:pt idx="4">
                  <c:v>0.0114113214877421</c:v>
                </c:pt>
                <c:pt idx="5">
                  <c:v>0.00303479468755086</c:v>
                </c:pt>
                <c:pt idx="6">
                  <c:v>0.185122475940602</c:v>
                </c:pt>
                <c:pt idx="7">
                  <c:v>0.0</c:v>
                </c:pt>
                <c:pt idx="8">
                  <c:v>0.799993556743317</c:v>
                </c:pt>
              </c:numCache>
            </c:numRef>
          </c:val>
        </c:ser>
        <c:shape val="box"/>
        <c:axId val="553914712"/>
        <c:axId val="553920552"/>
        <c:axId val="553927928"/>
      </c:bar3DChart>
      <c:catAx>
        <c:axId val="55391471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k</a:t>
                </a:r>
              </a:p>
            </c:rich>
          </c:tx>
          <c:layout/>
        </c:title>
        <c:numFmt formatCode="General" sourceLinked="1"/>
        <c:tickLblPos val="nextTo"/>
        <c:crossAx val="553920552"/>
        <c:crosses val="autoZero"/>
        <c:auto val="1"/>
        <c:lblAlgn val="ctr"/>
        <c:lblOffset val="100"/>
      </c:catAx>
      <c:valAx>
        <c:axId val="553920552"/>
        <c:scaling>
          <c:orientation val="minMax"/>
          <c:max val="0.8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P(k,8,d)</a:t>
                </a:r>
              </a:p>
            </c:rich>
          </c:tx>
          <c:layout/>
        </c:title>
        <c:numFmt formatCode="General" sourceLinked="1"/>
        <c:tickLblPos val="nextTo"/>
        <c:crossAx val="553914712"/>
        <c:crosses val="autoZero"/>
        <c:crossBetween val="between"/>
      </c:valAx>
      <c:serAx>
        <c:axId val="553927928"/>
        <c:scaling>
          <c:orientation val="minMax"/>
        </c:scaling>
        <c:axPos val="b"/>
        <c:tickLblPos val="nextTo"/>
        <c:crossAx val="553920552"/>
        <c:crosses val="autoZero"/>
      </c:serAx>
    </c:plotArea>
    <c:legend>
      <c:legendPos val="r"/>
      <c:layout>
        <c:manualLayout>
          <c:xMode val="edge"/>
          <c:yMode val="edge"/>
          <c:x val="0.87946170365068"/>
          <c:y val="0.132330392294713"/>
          <c:w val="0.12053829634932"/>
          <c:h val="0.236678325365579"/>
        </c:manualLayout>
      </c:layout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title>
      <c:tx>
        <c:rich>
          <a:bodyPr/>
          <a:lstStyle/>
          <a:p>
            <a:pPr>
              <a:defRPr/>
            </a:pPr>
            <a:r>
              <a:rPr lang="en-US" dirty="0"/>
              <a:t>m=16</a:t>
            </a:r>
          </a:p>
        </c:rich>
      </c:tx>
      <c:layout>
        <c:manualLayout>
          <c:xMode val="edge"/>
          <c:yMode val="edge"/>
          <c:x val="0.752543922320423"/>
          <c:y val="0.0999105525210894"/>
        </c:manualLayout>
      </c:layout>
    </c:title>
    <c:view3D>
      <c:rotX val="20"/>
      <c:rotY val="50"/>
      <c:perspective val="20"/>
    </c:view3D>
    <c:floor>
      <c:spPr>
        <a:scene3d>
          <a:camera prst="orthographicFront"/>
          <a:lightRig rig="threePt" dir="t"/>
        </a:scene3d>
        <a:sp3d>
          <a:contourClr>
            <a:srgbClr val="000000"/>
          </a:contourClr>
        </a:sp3d>
      </c:spPr>
    </c:floor>
    <c:plotArea>
      <c:layout>
        <c:manualLayout>
          <c:layoutTarget val="inner"/>
          <c:xMode val="edge"/>
          <c:yMode val="edge"/>
          <c:x val="0.106493693496646"/>
          <c:y val="0.0416107382550336"/>
          <c:w val="0.790034631087781"/>
          <c:h val="0.879472423329634"/>
        </c:manualLayout>
      </c:layout>
      <c:bar3DChart>
        <c:barDir val="col"/>
        <c:grouping val="standard"/>
        <c:ser>
          <c:idx val="0"/>
          <c:order val="0"/>
          <c:tx>
            <c:strRef>
              <c:f>'m=16'!$F$233</c:f>
              <c:strCache>
                <c:ptCount val="1"/>
                <c:pt idx="0">
                  <c:v>d=16</c:v>
                </c:pt>
              </c:strCache>
            </c:strRef>
          </c:tx>
          <c:cat>
            <c:numRef>
              <c:f>'m=16'!$A$234:$A$250</c:f>
              <c:numCache>
                <c:formatCode>General</c:formatCode>
                <c:ptCount val="17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</c:numCache>
            </c:numRef>
          </c:cat>
          <c:val>
            <c:numRef>
              <c:f>'m=16'!$F$234:$F$250</c:f>
              <c:numCache>
                <c:formatCode>General</c:formatCode>
                <c:ptCount val="17"/>
                <c:pt idx="0">
                  <c:v>0.000513453380067849</c:v>
                </c:pt>
                <c:pt idx="1">
                  <c:v>0.00492604459583525</c:v>
                </c:pt>
                <c:pt idx="2">
                  <c:v>0.0222951442041396</c:v>
                </c:pt>
                <c:pt idx="3">
                  <c:v>0.0624873174399347</c:v>
                </c:pt>
                <c:pt idx="4">
                  <c:v>0.123795860949075</c:v>
                </c:pt>
                <c:pt idx="5">
                  <c:v>0.178055984265705</c:v>
                </c:pt>
                <c:pt idx="6">
                  <c:v>0.203153266618877</c:v>
                </c:pt>
                <c:pt idx="7">
                  <c:v>0.171442398157778</c:v>
                </c:pt>
                <c:pt idx="8">
                  <c:v>0.125886040469814</c:v>
                </c:pt>
                <c:pt idx="9">
                  <c:v>0.0628413269081474</c:v>
                </c:pt>
                <c:pt idx="10">
                  <c:v>0.0322442506750953</c:v>
                </c:pt>
                <c:pt idx="11">
                  <c:v>0.0084635997290583</c:v>
                </c:pt>
                <c:pt idx="12">
                  <c:v>0.00344048769473915</c:v>
                </c:pt>
                <c:pt idx="13">
                  <c:v>0.000317583479514383</c:v>
                </c:pt>
                <c:pt idx="14">
                  <c:v>0.000136107205506164</c:v>
                </c:pt>
                <c:pt idx="15">
                  <c:v>0.0</c:v>
                </c:pt>
                <c:pt idx="16">
                  <c:v>1.13422671255137E-6</c:v>
                </c:pt>
              </c:numCache>
            </c:numRef>
          </c:val>
        </c:ser>
        <c:ser>
          <c:idx val="1"/>
          <c:order val="1"/>
          <c:tx>
            <c:strRef>
              <c:f>'m=16'!$H$233</c:f>
              <c:strCache>
                <c:ptCount val="1"/>
                <c:pt idx="0">
                  <c:v>d=32</c:v>
                </c:pt>
              </c:strCache>
            </c:strRef>
          </c:tx>
          <c:cat>
            <c:numRef>
              <c:f>'m=16'!$A$234:$A$250</c:f>
              <c:numCache>
                <c:formatCode>General</c:formatCode>
                <c:ptCount val="17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</c:numCache>
            </c:numRef>
          </c:cat>
          <c:val>
            <c:numRef>
              <c:f>'m=16'!$H$234:$H$250</c:f>
              <c:numCache>
                <c:formatCode>General</c:formatCode>
                <c:ptCount val="17"/>
                <c:pt idx="0">
                  <c:v>2.30074440318436E-6</c:v>
                </c:pt>
                <c:pt idx="1">
                  <c:v>3.79266829447457E-5</c:v>
                </c:pt>
                <c:pt idx="2">
                  <c:v>0.00032994941031229</c:v>
                </c:pt>
                <c:pt idx="3">
                  <c:v>0.00160755240607408</c:v>
                </c:pt>
                <c:pt idx="4">
                  <c:v>0.0067791117475321</c:v>
                </c:pt>
                <c:pt idx="5">
                  <c:v>0.0167848570240115</c:v>
                </c:pt>
                <c:pt idx="6">
                  <c:v>0.0473549229024141</c:v>
                </c:pt>
                <c:pt idx="7">
                  <c:v>0.0656806050023606</c:v>
                </c:pt>
                <c:pt idx="8">
                  <c:v>0.148059612514552</c:v>
                </c:pt>
                <c:pt idx="9">
                  <c:v>0.110195408706403</c:v>
                </c:pt>
                <c:pt idx="10">
                  <c:v>0.232872674373893</c:v>
                </c:pt>
                <c:pt idx="11">
                  <c:v>0.0785463781689426</c:v>
                </c:pt>
                <c:pt idx="12">
                  <c:v>0.18887603373958</c:v>
                </c:pt>
                <c:pt idx="13">
                  <c:v>0.0190379026050505</c:v>
                </c:pt>
                <c:pt idx="14">
                  <c:v>0.0734319100480519</c:v>
                </c:pt>
                <c:pt idx="15">
                  <c:v>0.0</c:v>
                </c:pt>
                <c:pt idx="16">
                  <c:v>0.010402853923474</c:v>
                </c:pt>
              </c:numCache>
            </c:numRef>
          </c:val>
        </c:ser>
        <c:ser>
          <c:idx val="2"/>
          <c:order val="2"/>
          <c:tx>
            <c:strRef>
              <c:f>'m=16'!$J$233</c:f>
              <c:strCache>
                <c:ptCount val="1"/>
                <c:pt idx="0">
                  <c:v>d=64</c:v>
                </c:pt>
              </c:strCache>
            </c:strRef>
          </c:tx>
          <c:cat>
            <c:numRef>
              <c:f>'m=16'!$A$234:$A$250</c:f>
              <c:numCache>
                <c:formatCode>General</c:formatCode>
                <c:ptCount val="17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</c:numCache>
            </c:numRef>
          </c:cat>
          <c:val>
            <c:numRef>
              <c:f>'m=16'!$J$234:$J$250</c:f>
              <c:numCache>
                <c:formatCode>General</c:formatCode>
                <c:ptCount val="17"/>
                <c:pt idx="0">
                  <c:v>8.62811693611597E-9</c:v>
                </c:pt>
                <c:pt idx="1">
                  <c:v>2.0139253081089E-7</c:v>
                </c:pt>
                <c:pt idx="2">
                  <c:v>3.21157546996743E-6</c:v>
                </c:pt>
                <c:pt idx="3">
                  <c:v>2.11890771774077E-5</c:v>
                </c:pt>
                <c:pt idx="4">
                  <c:v>0.000176253893034174</c:v>
                </c:pt>
                <c:pt idx="5">
                  <c:v>0.000556640092969267</c:v>
                </c:pt>
                <c:pt idx="6">
                  <c:v>0.00336702594662391</c:v>
                </c:pt>
                <c:pt idx="7">
                  <c:v>0.00555278002430981</c:v>
                </c:pt>
                <c:pt idx="8">
                  <c:v>0.0292054432610655</c:v>
                </c:pt>
                <c:pt idx="9">
                  <c:v>0.0240909592121965</c:v>
                </c:pt>
                <c:pt idx="10">
                  <c:v>0.12800267489831</c:v>
                </c:pt>
                <c:pt idx="11">
                  <c:v>0.0451865593890007</c:v>
                </c:pt>
                <c:pt idx="12">
                  <c:v>0.289390569087586</c:v>
                </c:pt>
                <c:pt idx="13">
                  <c:v>0.0294883496972365</c:v>
                </c:pt>
                <c:pt idx="14">
                  <c:v>0.315946603898963</c:v>
                </c:pt>
                <c:pt idx="15">
                  <c:v>0.0</c:v>
                </c:pt>
                <c:pt idx="16">
                  <c:v>0.12901152992541</c:v>
                </c:pt>
              </c:numCache>
            </c:numRef>
          </c:val>
        </c:ser>
        <c:ser>
          <c:idx val="3"/>
          <c:order val="3"/>
          <c:tx>
            <c:strRef>
              <c:f>'m=16'!$L$233</c:f>
              <c:strCache>
                <c:ptCount val="1"/>
                <c:pt idx="0">
                  <c:v>d=128</c:v>
                </c:pt>
              </c:strCache>
            </c:strRef>
          </c:tx>
          <c:cat>
            <c:numRef>
              <c:f>'m=16'!$A$234:$A$250</c:f>
              <c:numCache>
                <c:formatCode>General</c:formatCode>
                <c:ptCount val="17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</c:numCache>
            </c:numRef>
          </c:cat>
          <c:val>
            <c:numRef>
              <c:f>'m=16'!$L$234:$L$250</c:f>
              <c:numCache>
                <c:formatCode>General</c:formatCode>
                <c:ptCount val="17"/>
                <c:pt idx="0">
                  <c:v>3.15379247021102E-11</c:v>
                </c:pt>
                <c:pt idx="1">
                  <c:v>9.10887485215714E-10</c:v>
                </c:pt>
                <c:pt idx="2">
                  <c:v>2.71992856571599E-8</c:v>
                </c:pt>
                <c:pt idx="3">
                  <c:v>2.11890479742545E-7</c:v>
                </c:pt>
                <c:pt idx="4">
                  <c:v>3.46759871244995E-6</c:v>
                </c:pt>
                <c:pt idx="5">
                  <c:v>1.2330197712245E-5</c:v>
                </c:pt>
                <c:pt idx="6">
                  <c:v>0.000153640877524721</c:v>
                </c:pt>
                <c:pt idx="7">
                  <c:v>0.0002731405186861</c:v>
                </c:pt>
                <c:pt idx="8">
                  <c:v>0.00307603085336509</c:v>
                </c:pt>
                <c:pt idx="9">
                  <c:v>0.00264115337350228</c:v>
                </c:pt>
                <c:pt idx="10">
                  <c:v>0.0309366786166989</c:v>
                </c:pt>
                <c:pt idx="11">
                  <c:v>0.0110998640055095</c:v>
                </c:pt>
                <c:pt idx="12">
                  <c:v>0.159885207337471</c:v>
                </c:pt>
                <c:pt idx="13">
                  <c:v>0.0163510883448725</c:v>
                </c:pt>
                <c:pt idx="14">
                  <c:v>0.399433729567599</c:v>
                </c:pt>
                <c:pt idx="15">
                  <c:v>0.0</c:v>
                </c:pt>
                <c:pt idx="16">
                  <c:v>0.376133428676156</c:v>
                </c:pt>
              </c:numCache>
            </c:numRef>
          </c:val>
        </c:ser>
        <c:shape val="box"/>
        <c:axId val="553803032"/>
        <c:axId val="553808888"/>
        <c:axId val="553816408"/>
      </c:bar3DChart>
      <c:catAx>
        <c:axId val="55380303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k</a:t>
                </a:r>
              </a:p>
            </c:rich>
          </c:tx>
          <c:layout>
            <c:manualLayout>
              <c:xMode val="edge"/>
              <c:yMode val="edge"/>
              <c:x val="0.345799981898814"/>
              <c:y val="0.823290006947661"/>
            </c:manualLayout>
          </c:layout>
        </c:title>
        <c:numFmt formatCode="General" sourceLinked="1"/>
        <c:tickLblPos val="nextTo"/>
        <c:crossAx val="553808888"/>
        <c:crosses val="autoZero"/>
        <c:auto val="1"/>
        <c:lblAlgn val="ctr"/>
        <c:lblOffset val="100"/>
      </c:catAx>
      <c:valAx>
        <c:axId val="553808888"/>
        <c:scaling>
          <c:orientation val="minMax"/>
          <c:max val="0.4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P(k,16,d)</a:t>
                </a:r>
              </a:p>
            </c:rich>
          </c:tx>
          <c:layout/>
        </c:title>
        <c:numFmt formatCode="General" sourceLinked="1"/>
        <c:tickLblPos val="nextTo"/>
        <c:crossAx val="553803032"/>
        <c:crosses val="autoZero"/>
        <c:crossBetween val="between"/>
      </c:valAx>
      <c:serAx>
        <c:axId val="553816408"/>
        <c:scaling>
          <c:orientation val="minMax"/>
        </c:scaling>
        <c:delete val="1"/>
        <c:axPos val="b"/>
        <c:tickLblPos val="nextTo"/>
        <c:crossAx val="553808888"/>
        <c:crosses val="autoZero"/>
      </c:serAx>
    </c:plotArea>
    <c:legend>
      <c:legendPos val="r"/>
      <c:layout/>
    </c:legend>
    <c:plotVisOnly val="1"/>
  </c:chart>
  <c:spPr>
    <a:effectLst/>
    <a:scene3d>
      <a:camera prst="orthographicFront"/>
      <a:lightRig rig="threePt" dir="t"/>
    </a:scene3d>
    <a:sp3d/>
  </c:sp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3B25921-9DF5-4C52-BC9E-064B9405E462}" type="datetimeFigureOut">
              <a:rPr lang="en-US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FA9D06A-E540-422B-90C6-5075A9E67F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808319B-04B5-4A5F-8E33-54D4D08721C8}" type="datetimeFigureOut">
              <a:rPr lang="en-US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0CE7B16-8FE3-4FFE-8DD8-2944CD8FD3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baseline="0" dirty="0" smtClean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2D43040-D44B-4133-A885-07B17F9C68A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This way of referring to each other could</a:t>
            </a:r>
            <a:r>
              <a:rPr lang="en-US" baseline="0" dirty="0" smtClean="0"/>
              <a:t> be call a name, an address, an ID.  I’m going to call it a “label.”</a:t>
            </a:r>
            <a:endParaRPr lang="en-US" dirty="0" smtClean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C574AF1-E859-4542-B1A8-4BCD9B4C647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Like LDP and DAC,</a:t>
            </a:r>
            <a:r>
              <a:rPr lang="en-US" baseline="0" dirty="0" smtClean="0"/>
              <a:t> we want to try to move vertically down this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E7B16-8FE3-4FFE-8DD8-2944CD8FD31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E7B16-8FE3-4FFE-8DD8-2944CD8FD31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E7B16-8FE3-4FFE-8DD8-2944CD8FD31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E7B16-8FE3-4FFE-8DD8-2944CD8FD31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trike="noStrike" dirty="0" smtClean="0"/>
              <a:t>Labels should not preclude</a:t>
            </a:r>
            <a:r>
              <a:rPr lang="en-US" strike="noStrike" baseline="0" dirty="0" smtClean="0"/>
              <a:t> using these multiple paths for routing.  In fact it’d be nice if they exposed path multiplicity so that routing protocols could use it</a:t>
            </a:r>
            <a:endParaRPr lang="en-US" strike="noStrike" dirty="0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FB01B6-6B01-4515-A1D3-251D2727F4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-As you can see, we’ve encoded not only information about the location of a node in its labels, but also the various ways to reach that node. </a:t>
            </a:r>
          </a:p>
          <a:p>
            <a:pPr>
              <a:spcBef>
                <a:spcPct val="0"/>
              </a:spcBef>
            </a:pPr>
            <a:r>
              <a:rPr lang="en-US" dirty="0" smtClean="0"/>
              <a:t>-Note that there is one label per path here, and a concern that mentioned is the limited capabilities of switches for storing large numbers of labels.  In a few slides, we’ll see how to compact paths into fewer labels, without losing the encoding that we’ve created of locations and paths.</a:t>
            </a:r>
            <a:endParaRPr lang="en-US" baseline="0" dirty="0" smtClean="0"/>
          </a:p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E062D8-CFCA-484F-956B-F4864176574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baseline="0" dirty="0" smtClean="0"/>
              <a:t>-</a:t>
            </a:r>
            <a:r>
              <a:rPr lang="en-US" baseline="0" dirty="0" smtClean="0"/>
              <a:t>Any communication scheme would work.  We made our own routing and forwarding protocols that leverage the hierarchical structure of ALIAS addresses cleverly.  I won’t talk about that today, we’ll just talk about labels, but you can think of this as just general hierarchical forwarding</a:t>
            </a:r>
            <a:endParaRPr lang="en-US" dirty="0" smtClean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E062D8-CFCA-484F-956B-F4864176574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9B8659-7601-4B5F-9D1A-F0A7E6331BF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Any size hierarchy</a:t>
            </a: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105B971-C5D5-40DC-8C14-46D5EBDD8C6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9B8659-7601-4B5F-9D1A-F0A7E6331BF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C929E9C-E129-4B10-9EE8-C6A092022E8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C929E9C-E129-4B10-9EE8-C6A092022E8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9B8659-7601-4B5F-9D1A-F0A7E6331BF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Example from root: if it wants to get to a host that the yellow</a:t>
            </a:r>
            <a:r>
              <a:rPr lang="en-US" baseline="0" dirty="0" smtClean="0"/>
              <a:t> hypernode can reach, can send via either one.  However, if the yellow switch is aiming for the bottom right of the tree, needs to send via dark blue HN</a:t>
            </a: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Choosers have a value per instance (could end up being the same across instances)</a:t>
            </a:r>
          </a:p>
          <a:p>
            <a:pPr>
              <a:spcBef>
                <a:spcPct val="0"/>
              </a:spcBef>
            </a:pPr>
            <a:r>
              <a:rPr lang="en-US" dirty="0" smtClean="0"/>
              <a:t>Choosers</a:t>
            </a:r>
            <a:r>
              <a:rPr lang="en-US" baseline="0" dirty="0" smtClean="0"/>
              <a:t> could instead select a value that worked with all instances.  But it turns out to be useful to do multiple values, when we map this problem back to that of labeling in a multi-rooted tree.</a:t>
            </a: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Coordinate domain:</a:t>
            </a:r>
          </a:p>
          <a:p>
            <a:pPr>
              <a:spcBef>
                <a:spcPct val="0"/>
              </a:spcBef>
            </a:pPr>
            <a:r>
              <a:rPr lang="en-US" dirty="0" smtClean="0"/>
              <a:t>Need as many are there are choosers in the largest instance. Can be all choosers at level,</a:t>
            </a:r>
            <a:r>
              <a:rPr lang="en-US" baseline="0" dirty="0" smtClean="0"/>
              <a:t> but can do better.  </a:t>
            </a:r>
          </a:p>
          <a:p>
            <a:pPr>
              <a:spcBef>
                <a:spcPct val="0"/>
              </a:spcBef>
            </a:pPr>
            <a:r>
              <a:rPr lang="en-US" baseline="0" dirty="0" smtClean="0"/>
              <a:t>Complicated tradeoff between convergence time and label space because it’s probabilistic.  That is for a given label space, convergence time is a probability distribution.</a:t>
            </a:r>
          </a:p>
          <a:p>
            <a:pPr>
              <a:spcBef>
                <a:spcPct val="0"/>
              </a:spcBef>
            </a:pPr>
            <a:r>
              <a:rPr lang="en-US" baseline="0" dirty="0" smtClean="0"/>
              <a:t>Paxos: changing instances, liveness</a:t>
            </a: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5D252-31B0-4D6E-82AF-47F652E8D7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882E8C5-F712-466F-8431-018C5E98F2E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9B8659-7601-4B5F-9D1A-F0A7E6331BF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Red switch </a:t>
            </a:r>
            <a:r>
              <a:rPr lang="en-US" dirty="0" smtClean="0"/>
              <a:t>would have 6 labels without hypernode compaction</a:t>
            </a: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E3FCEB3-D106-43B9-B672-EDCA55CCB23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E3FCEB3-D106-43B9-B672-EDCA55CCB23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Recall that all information is passed</a:t>
            </a:r>
            <a:r>
              <a:rPr lang="en-US" baseline="0" dirty="0" smtClean="0"/>
              <a:t> via periodic state exchange.  Where there is nothing new to send, still send this as a heartbeat</a:t>
            </a:r>
            <a:r>
              <a:rPr lang="en-US" baseline="0" dirty="0" smtClean="0"/>
              <a:t>.</a:t>
            </a:r>
            <a:endParaRPr lang="en-US" dirty="0" smtClean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E3FCEB3-D106-43B9-B672-EDCA55CCB23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Formal derivation:</a:t>
            </a:r>
          </a:p>
          <a:p>
            <a:pPr>
              <a:spcBef>
                <a:spcPct val="0"/>
              </a:spcBef>
            </a:pPr>
            <a:r>
              <a:rPr lang="en-US" dirty="0" smtClean="0"/>
              <a:t>A set of steps wherein each step is a small permutation on the actual code, in order words a series of mechanical transforms </a:t>
            </a: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smtClean="0"/>
              <a:t>Portland between 50-400 Mbps to controller depending</a:t>
            </a:r>
            <a:r>
              <a:rPr lang="en-US" baseline="0" dirty="0" smtClean="0"/>
              <a:t> on various protocol settings, for 30k hosts</a:t>
            </a: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3E1306-7E47-441A-902E-E07F9FFCDEA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CC1E05B-F746-43A9-8210-E0DA0419104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3A471-E0A3-D94D-885D-B372FA4D4473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EFD7D-780A-49BF-9800-4C250B2A11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4498F-F154-5646-88EB-C54B0C9D60A6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3D13E-8996-4FDE-9856-C14EA9E6E2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24426-A83D-A84D-BA7F-BE272E5163D8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5FDF2-6D01-4A87-BD5C-546F443A87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5745A-7CA4-2A43-8381-947084A7B33A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CD8D1-DCC6-4C74-BD44-93D40766B0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338EB-498E-854A-829F-FC78AA13DFB1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57C40-4F30-4FD0-8542-444783727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F3B38-A28D-694E-9768-9EBAE54198F6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27545-D628-43DD-9D60-23AD81F70E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9D19A-ECBA-EE40-9B60-381D4DAD2D34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9012D-4A03-4643-B680-562D8A6ABA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46A98-94C7-FB4F-AF41-F7746ED0E423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D6059-8CF6-4888-BA6B-94DC5EFD55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81CC0-4BAB-5F41-A010-9E8F77465695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9698A-7A95-4543-85DC-B5ABC9CD5C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AD931-85D0-5E4F-831F-0042B3273D0B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FF5A5-55DF-46D5-9EBE-D1260A045E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5C141-F848-3E40-BA23-F43FB68135CD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2752-EE66-416E-BCC2-86FEB83DF7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A3DF177-420F-1B4C-83E4-DE96D7C702A2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C5F993A-031F-444B-B231-B3FD67A905A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EF2F9C-E625-7F45-BAD6-B65672C552B7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D6AA1A-0415-D349-BA35-198B2BBBAFE7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7AEB40-C5E1-4161-8942-7FD944AA387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E0ADA0-2448-7C44-B473-F7974B084340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58CF57-C66C-42CE-937D-171A05A4798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35444-7122-F046-8B19-02748081F5A2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4E3EED-3531-40C2-90D4-2614ACF07CF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CA97E-227C-1D41-BE8F-943A949BE25A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4426CE-5A26-4EE9-BA6D-475B47481C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1BE871-6E84-904D-8420-E23C1F0E16B7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4E0A43-AE90-4DAF-A6BD-FE022D9F9C4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fld id="{82E3B509-5859-9D42-AF82-B0CE3BFBF221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AC9B78-4FEE-4417-B029-59225112153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A6A1C86-2EE4-8E40-9870-2F7564B3B679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76C14E0-4F4A-42A0-8F30-1EC54D46922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02925A-9B83-7845-9BD6-DF730C8D7E50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6E8266-7E3F-430F-9FC5-35A12628C6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AAA72C-9EDD-6749-B0FF-F8911BC63BB7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E02B50-A88A-47E4-81AD-15F7272DE0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FA33C61-C8C0-2E45-B209-0EF4A1234A40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D3C9DFD-434C-4E1D-9C83-01042E198F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098" r:id="rId2"/>
    <p:sldLayoutId id="2147484097" r:id="rId3"/>
    <p:sldLayoutId id="2147484096" r:id="rId4"/>
    <p:sldLayoutId id="2147484095" r:id="rId5"/>
    <p:sldLayoutId id="2147484094" r:id="rId6"/>
    <p:sldLayoutId id="2147484093" r:id="rId7"/>
    <p:sldLayoutId id="2147484092" r:id="rId8"/>
    <p:sldLayoutId id="2147484091" r:id="rId9"/>
    <p:sldLayoutId id="2147484090" r:id="rId10"/>
    <p:sldLayoutId id="2147484089" r:id="rId11"/>
  </p:sldLayoutIdLst>
  <p:hf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5F7967B-6A44-3246-BAAB-51A4B97B8396}" type="datetime1">
              <a:rPr lang="en-US" smtClean="0"/>
              <a:pPr>
                <a:defRPr/>
              </a:pPr>
              <a:t>4/6/12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D3C9DFD-434C-4E1D-9C83-01042E198FA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8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www.macesystems.org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df"/><Relationship Id="rId3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58462" y="329278"/>
            <a:ext cx="7901545" cy="3245741"/>
          </a:xfrm>
          <a:prstGeom prst="rect">
            <a:avLst/>
          </a:prstGeom>
        </p:spPr>
        <p:txBody>
          <a:bodyPr lIns="0" rIns="0" anchor="ctr" anchorCtr="1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defTabSz="91440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4800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Scalable Label Assignment in Data Center Networks</a:t>
            </a:r>
            <a:endParaRPr lang="en-US" sz="4800" dirty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7650" name="Subtitle 2"/>
          <p:cNvSpPr txBox="1">
            <a:spLocks/>
          </p:cNvSpPr>
          <p:nvPr/>
        </p:nvSpPr>
        <p:spPr bwMode="auto">
          <a:xfrm>
            <a:off x="1496909" y="5578621"/>
            <a:ext cx="7063098" cy="1279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/>
          <a:lstStyle/>
          <a:p>
            <a:pPr algn="r" defTabSz="91440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</a:pPr>
            <a:r>
              <a:rPr lang="en-US" sz="2300" dirty="0" smtClean="0">
                <a:solidFill>
                  <a:schemeClr val="tx2"/>
                </a:solidFill>
                <a:latin typeface="Lucida Sans Unicode" pitchFamily="34" charset="0"/>
              </a:rPr>
              <a:t>With: Radhika Niranjan Mysore, Malveeka Tewari, Ying Zhang (Ericsson Research), </a:t>
            </a:r>
          </a:p>
          <a:p>
            <a:pPr algn="r" defTabSz="91440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</a:pPr>
            <a:r>
              <a:rPr lang="en-US" sz="2300" dirty="0" smtClean="0">
                <a:solidFill>
                  <a:schemeClr val="tx2"/>
                </a:solidFill>
                <a:latin typeface="Lucida Sans Unicode" pitchFamily="34" charset="0"/>
              </a:rPr>
              <a:t>Keith Marzullo, Amin Vahdat</a:t>
            </a:r>
            <a:endParaRPr lang="en-US" sz="2300" dirty="0">
              <a:solidFill>
                <a:schemeClr val="tx2"/>
              </a:solidFill>
              <a:latin typeface="Lucida Sans Unicode" pitchFamily="34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454025" y="3727450"/>
            <a:ext cx="8470900" cy="1021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/>
          <a:lstStyle/>
          <a:p>
            <a:pPr defTabSz="91440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</a:pPr>
            <a:r>
              <a:rPr lang="en-US" sz="2600" b="1" dirty="0">
                <a:solidFill>
                  <a:schemeClr val="tx2"/>
                </a:solidFill>
                <a:latin typeface="Lucida Sans Unicode" pitchFamily="34" charset="0"/>
              </a:rPr>
              <a:t>Meg Walraed-</a:t>
            </a:r>
            <a:r>
              <a:rPr lang="en-US" sz="2600" b="1" dirty="0" smtClean="0">
                <a:solidFill>
                  <a:schemeClr val="tx2"/>
                </a:solidFill>
                <a:latin typeface="Lucida Sans Unicode" pitchFamily="34" charset="0"/>
              </a:rPr>
              <a:t>Sullivan</a:t>
            </a:r>
            <a:endParaRPr lang="en-US" sz="2600" dirty="0" smtClean="0">
              <a:solidFill>
                <a:schemeClr val="tx2"/>
              </a:solidFill>
              <a:latin typeface="Lucida Sans Unicode" pitchFamily="34" charset="0"/>
            </a:endParaRPr>
          </a:p>
          <a:p>
            <a:pPr defTabSz="91440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</a:pPr>
            <a:r>
              <a:rPr lang="en-US" sz="2300" dirty="0" smtClean="0">
                <a:solidFill>
                  <a:schemeClr val="tx2"/>
                </a:solidFill>
                <a:latin typeface="Lucida Sans Unicode" pitchFamily="34" charset="0"/>
              </a:rPr>
              <a:t>University </a:t>
            </a:r>
            <a:r>
              <a:rPr lang="en-US" sz="2300" dirty="0">
                <a:solidFill>
                  <a:schemeClr val="tx2"/>
                </a:solidFill>
                <a:latin typeface="Lucida Sans Unicode" pitchFamily="34" charset="0"/>
              </a:rPr>
              <a:t>of California, San </a:t>
            </a:r>
            <a:r>
              <a:rPr lang="en-US" sz="2300" dirty="0" smtClean="0">
                <a:solidFill>
                  <a:schemeClr val="tx2"/>
                </a:solidFill>
                <a:latin typeface="Lucida Sans Unicode" pitchFamily="34" charset="0"/>
              </a:rPr>
              <a:t>Diego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1993"/>
          </a:xfrm>
        </p:spPr>
        <p:txBody>
          <a:bodyPr/>
          <a:lstStyle/>
          <a:p>
            <a:r>
              <a:rPr lang="en-US" dirty="0" smtClean="0"/>
              <a:t>Group of entities that want to communicate</a:t>
            </a:r>
          </a:p>
          <a:p>
            <a:pPr lvl="1"/>
            <a:r>
              <a:rPr lang="en-US" dirty="0" smtClean="0"/>
              <a:t>Need a way to refer to one another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Historically, a common problem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E.g. laptop has two labels (MAC address, IP address)</a:t>
            </a:r>
          </a:p>
          <a:p>
            <a:endParaRPr lang="en-US" dirty="0" smtClean="0"/>
          </a:p>
          <a:p>
            <a:r>
              <a:rPr lang="en-US" dirty="0" smtClean="0"/>
              <a:t>Labeling in data center networks is unique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Labeling in Distributed Networks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3431835"/>
            <a:ext cx="8229600" cy="1016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/>
          <a:p>
            <a:pPr marL="620713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itchFamily="34" charset="0"/>
              <a:buChar char="◦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Phone system</a:t>
            </a:r>
          </a:p>
          <a:p>
            <a:pPr marL="620713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itchFamily="34" charset="0"/>
              <a:buChar char="◦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Snail mail</a:t>
            </a:r>
          </a:p>
          <a:p>
            <a:pPr marL="620713" lvl="1" indent="-228600" defTabSz="914400">
              <a:spcBef>
                <a:spcPts val="325"/>
              </a:spcBef>
              <a:buClr>
                <a:schemeClr val="accent1"/>
              </a:buClr>
              <a:buFont typeface="Verdana" pitchFamily="34" charset="0"/>
              <a:buChar char="◦"/>
              <a:defRPr/>
            </a:pPr>
            <a:r>
              <a:rPr lang="en-US" sz="2300" dirty="0" smtClean="0"/>
              <a:t>Internet</a:t>
            </a:r>
          </a:p>
          <a:p>
            <a:pPr marL="620713" lvl="1" indent="-228600" defTabSz="914400">
              <a:spcBef>
                <a:spcPts val="325"/>
              </a:spcBef>
              <a:buClr>
                <a:schemeClr val="accent1"/>
              </a:buClr>
              <a:buFont typeface="Verdana" pitchFamily="34" charset="0"/>
              <a:buChar char="◦"/>
              <a:defRPr/>
            </a:pPr>
            <a:r>
              <a:rPr lang="en-US" sz="2300" dirty="0" smtClean="0"/>
              <a:t>Wireless networks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0713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85163" cy="1573942"/>
          </a:xfrm>
        </p:spPr>
        <p:txBody>
          <a:bodyPr/>
          <a:lstStyle/>
          <a:p>
            <a:r>
              <a:rPr lang="en-US" dirty="0" smtClean="0"/>
              <a:t>Interconnect of switches connecting hosts</a:t>
            </a:r>
          </a:p>
          <a:p>
            <a:r>
              <a:rPr lang="en-US" dirty="0" smtClean="0"/>
              <a:t>Massive in scale: 10k switches, 100k hosts, millions of VMs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Data Center Network Size</a:t>
            </a:r>
            <a:endParaRPr lang="en-US" dirty="0"/>
          </a:p>
        </p:txBody>
      </p:sp>
      <p:pic>
        <p:nvPicPr>
          <p:cNvPr id="89" name="Picture 88" descr="Dub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09" y="3220180"/>
            <a:ext cx="4913278" cy="287836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90" name="Picture 89" descr="Ra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51" y="3880299"/>
            <a:ext cx="3832393" cy="2892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85163" cy="1014568"/>
          </a:xfrm>
        </p:spPr>
        <p:txBody>
          <a:bodyPr/>
          <a:lstStyle/>
          <a:p>
            <a:r>
              <a:rPr lang="en-US" dirty="0" smtClean="0"/>
              <a:t>Designed with regular, symmetric structure</a:t>
            </a:r>
          </a:p>
          <a:p>
            <a:pPr lvl="1"/>
            <a:r>
              <a:rPr lang="en-US" dirty="0" smtClean="0"/>
              <a:t>Often multi-rooted trees (e.g. fat tree)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Data Center Network Structure</a:t>
            </a:r>
            <a:endParaRPr lang="en-US" dirty="0"/>
          </a:p>
        </p:txBody>
      </p:sp>
      <p:pic>
        <p:nvPicPr>
          <p:cNvPr id="91" name="Picture 90" descr="w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998" y="4319998"/>
            <a:ext cx="3384002" cy="2538002"/>
          </a:xfrm>
          <a:prstGeom prst="rect">
            <a:avLst/>
          </a:prstGeom>
        </p:spPr>
      </p:pic>
      <p:grpSp>
        <p:nvGrpSpPr>
          <p:cNvPr id="3" name="Group 100"/>
          <p:cNvGrpSpPr>
            <a:grpSpLocks/>
          </p:cNvGrpSpPr>
          <p:nvPr/>
        </p:nvGrpSpPr>
        <p:grpSpPr bwMode="auto">
          <a:xfrm>
            <a:off x="4109178" y="4525581"/>
            <a:ext cx="4457020" cy="2112155"/>
            <a:chOff x="4869989" y="4963833"/>
            <a:chExt cx="4020850" cy="1580443"/>
          </a:xfrm>
        </p:grpSpPr>
        <p:cxnSp>
          <p:nvCxnSpPr>
            <p:cNvPr id="9" name="Straight Connector 299"/>
            <p:cNvCxnSpPr>
              <a:cxnSpLocks noChangeAspect="1" noChangeShapeType="1"/>
            </p:cNvCxnSpPr>
            <p:nvPr/>
          </p:nvCxnSpPr>
          <p:spPr bwMode="auto">
            <a:xfrm>
              <a:off x="5177302" y="575319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0" name="Straight Connector 300"/>
            <p:cNvCxnSpPr>
              <a:cxnSpLocks noChangeAspect="1" noChangeShapeType="1"/>
            </p:cNvCxnSpPr>
            <p:nvPr/>
          </p:nvCxnSpPr>
          <p:spPr bwMode="auto">
            <a:xfrm rot="10800000" flipV="1">
              <a:off x="5163424" y="576013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1" name="Straight Connector 301"/>
            <p:cNvCxnSpPr>
              <a:cxnSpLocks noChangeAspect="1" noChangeShapeType="1"/>
            </p:cNvCxnSpPr>
            <p:nvPr/>
          </p:nvCxnSpPr>
          <p:spPr bwMode="auto">
            <a:xfrm rot="5400000">
              <a:off x="5434058" y="5903874"/>
              <a:ext cx="3013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2" name="Straight Connector 302"/>
            <p:cNvCxnSpPr>
              <a:cxnSpLocks noChangeAspect="1" noChangeShapeType="1"/>
            </p:cNvCxnSpPr>
            <p:nvPr/>
          </p:nvCxnSpPr>
          <p:spPr bwMode="auto">
            <a:xfrm rot="5400000">
              <a:off x="4981018" y="5903874"/>
              <a:ext cx="3013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13" name="Picture 308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470499" y="6016556"/>
              <a:ext cx="226262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309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470499" y="5641171"/>
              <a:ext cx="226262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306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020184" y="6016556"/>
              <a:ext cx="226261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307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018689" y="5641171"/>
              <a:ext cx="226261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Straight Connector 277"/>
            <p:cNvCxnSpPr>
              <a:cxnSpLocks noChangeAspect="1" noChangeShapeType="1"/>
            </p:cNvCxnSpPr>
            <p:nvPr/>
          </p:nvCxnSpPr>
          <p:spPr bwMode="auto">
            <a:xfrm>
              <a:off x="6191437" y="575319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8" name="Straight Connector 278"/>
            <p:cNvCxnSpPr>
              <a:cxnSpLocks noChangeAspect="1" noChangeShapeType="1"/>
            </p:cNvCxnSpPr>
            <p:nvPr/>
          </p:nvCxnSpPr>
          <p:spPr bwMode="auto">
            <a:xfrm rot="10800000" flipV="1">
              <a:off x="6177559" y="5760131"/>
              <a:ext cx="339036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9" name="Straight Connector 279"/>
            <p:cNvCxnSpPr>
              <a:cxnSpLocks noChangeAspect="1" noChangeShapeType="1"/>
            </p:cNvCxnSpPr>
            <p:nvPr/>
          </p:nvCxnSpPr>
          <p:spPr bwMode="auto">
            <a:xfrm rot="5400000">
              <a:off x="6449184" y="5903874"/>
              <a:ext cx="3013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" name="Straight Connector 280"/>
            <p:cNvCxnSpPr>
              <a:cxnSpLocks noChangeAspect="1" noChangeShapeType="1"/>
            </p:cNvCxnSpPr>
            <p:nvPr/>
          </p:nvCxnSpPr>
          <p:spPr bwMode="auto">
            <a:xfrm rot="5400000">
              <a:off x="5996144" y="5903874"/>
              <a:ext cx="3013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21" name="Picture 286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484968" y="6016556"/>
              <a:ext cx="225931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287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484968" y="5641171"/>
              <a:ext cx="225931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284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35309" y="6016556"/>
              <a:ext cx="225932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285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33817" y="5641171"/>
              <a:ext cx="225932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5" name="Straight Connector 255"/>
            <p:cNvCxnSpPr>
              <a:cxnSpLocks noChangeAspect="1" noChangeShapeType="1"/>
            </p:cNvCxnSpPr>
            <p:nvPr/>
          </p:nvCxnSpPr>
          <p:spPr bwMode="auto">
            <a:xfrm>
              <a:off x="7188719" y="575319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" name="Straight Connector 256"/>
            <p:cNvCxnSpPr>
              <a:cxnSpLocks noChangeAspect="1" noChangeShapeType="1"/>
            </p:cNvCxnSpPr>
            <p:nvPr/>
          </p:nvCxnSpPr>
          <p:spPr bwMode="auto">
            <a:xfrm rot="10800000" flipV="1">
              <a:off x="7176823" y="576013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7" name="Straight Connector 257"/>
            <p:cNvCxnSpPr>
              <a:cxnSpLocks noChangeAspect="1" noChangeShapeType="1"/>
            </p:cNvCxnSpPr>
            <p:nvPr/>
          </p:nvCxnSpPr>
          <p:spPr bwMode="auto">
            <a:xfrm rot="5400000">
              <a:off x="7446466" y="5902882"/>
              <a:ext cx="301366" cy="19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" name="Straight Connector 258"/>
            <p:cNvCxnSpPr>
              <a:cxnSpLocks noChangeAspect="1" noChangeShapeType="1"/>
            </p:cNvCxnSpPr>
            <p:nvPr/>
          </p:nvCxnSpPr>
          <p:spPr bwMode="auto">
            <a:xfrm rot="5400000">
              <a:off x="6994418" y="5903874"/>
              <a:ext cx="3013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29" name="Picture 264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483898" y="6016556"/>
              <a:ext cx="226262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" name="Picture 265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483898" y="5641171"/>
              <a:ext cx="226262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" name="Picture 262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033583" y="6016556"/>
              <a:ext cx="226261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" name="Picture 263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032088" y="5641171"/>
              <a:ext cx="226261" cy="187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3" name="Straight Connector 29"/>
            <p:cNvCxnSpPr>
              <a:cxnSpLocks noChangeAspect="1" noChangeShapeType="1"/>
            </p:cNvCxnSpPr>
            <p:nvPr/>
          </p:nvCxnSpPr>
          <p:spPr bwMode="auto">
            <a:xfrm>
              <a:off x="8183027" y="575319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" name="Straight Connector 52"/>
            <p:cNvCxnSpPr>
              <a:cxnSpLocks noChangeAspect="1" noChangeShapeType="1"/>
            </p:cNvCxnSpPr>
            <p:nvPr/>
          </p:nvCxnSpPr>
          <p:spPr bwMode="auto">
            <a:xfrm rot="10800000" flipV="1">
              <a:off x="8171131" y="5760131"/>
              <a:ext cx="338045" cy="3013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Connector 60"/>
            <p:cNvCxnSpPr>
              <a:cxnSpLocks noChangeAspect="1" noChangeShapeType="1"/>
            </p:cNvCxnSpPr>
            <p:nvPr/>
          </p:nvCxnSpPr>
          <p:spPr bwMode="auto">
            <a:xfrm rot="5400000">
              <a:off x="8439782" y="5903874"/>
              <a:ext cx="3013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" name="Straight Connector 67"/>
            <p:cNvCxnSpPr>
              <a:cxnSpLocks noChangeAspect="1" noChangeShapeType="1"/>
            </p:cNvCxnSpPr>
            <p:nvPr/>
          </p:nvCxnSpPr>
          <p:spPr bwMode="auto">
            <a:xfrm rot="5400000">
              <a:off x="7988230" y="5903378"/>
              <a:ext cx="301366" cy="9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7" name="Picture 36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477547" y="6016556"/>
              <a:ext cx="226924" cy="187693"/>
            </a:xfrm>
            <a:prstGeom prst="roundRect">
              <a:avLst/>
            </a:prstGeom>
            <a:ln>
              <a:noFill/>
            </a:ln>
          </p:spPr>
        </p:pic>
        <p:pic>
          <p:nvPicPr>
            <p:cNvPr id="38" name="Picture 37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477547" y="5641171"/>
              <a:ext cx="226924" cy="187693"/>
            </a:xfrm>
            <a:prstGeom prst="roundRect">
              <a:avLst/>
            </a:prstGeom>
            <a:ln>
              <a:noFill/>
            </a:ln>
          </p:spPr>
        </p:pic>
        <p:pic>
          <p:nvPicPr>
            <p:cNvPr id="39" name="Picture 38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025914" y="6016556"/>
              <a:ext cx="226924" cy="187693"/>
            </a:xfrm>
            <a:prstGeom prst="roundRect">
              <a:avLst/>
            </a:prstGeom>
            <a:ln>
              <a:noFill/>
            </a:ln>
          </p:spPr>
        </p:pic>
        <p:pic>
          <p:nvPicPr>
            <p:cNvPr id="40" name="Picture 39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024415" y="5641171"/>
              <a:ext cx="226924" cy="187693"/>
            </a:xfrm>
            <a:prstGeom prst="roundRect">
              <a:avLst/>
            </a:prstGeom>
            <a:ln>
              <a:noFill/>
            </a:ln>
          </p:spPr>
        </p:pic>
        <p:cxnSp>
          <p:nvCxnSpPr>
            <p:cNvPr id="41" name="Straight Connector 22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8570143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2" name="Straight Connector 20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8419956" y="6225066"/>
              <a:ext cx="206198" cy="91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3" name="Straight Connector 24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8102729" y="6225066"/>
              <a:ext cx="206198" cy="91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4" name="Straight Connector 27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7952542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45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8327761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6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8121564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7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7875713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8" name="Straight Connector 149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4903199" y="5267933"/>
              <a:ext cx="626523" cy="1695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9" name="Straight Connector 163"/>
            <p:cNvCxnSpPr>
              <a:cxnSpLocks noChangeAspect="1" noChangeShapeType="1"/>
            </p:cNvCxnSpPr>
            <p:nvPr/>
          </p:nvCxnSpPr>
          <p:spPr bwMode="auto">
            <a:xfrm flipV="1">
              <a:off x="5170363" y="5045378"/>
              <a:ext cx="1151930" cy="652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0" name="Straight Connector 166"/>
            <p:cNvCxnSpPr>
              <a:cxnSpLocks noChangeAspect="1" noChangeShapeType="1"/>
            </p:cNvCxnSpPr>
            <p:nvPr/>
          </p:nvCxnSpPr>
          <p:spPr bwMode="auto">
            <a:xfrm flipV="1">
              <a:off x="5639264" y="5083049"/>
              <a:ext cx="2669662" cy="6265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" name="Straight Connector 175"/>
            <p:cNvCxnSpPr>
              <a:cxnSpLocks noChangeAspect="1" noChangeShapeType="1"/>
            </p:cNvCxnSpPr>
            <p:nvPr/>
          </p:nvCxnSpPr>
          <p:spPr bwMode="auto">
            <a:xfrm flipV="1">
              <a:off x="5614481" y="5088997"/>
              <a:ext cx="1679320" cy="6027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2" name="Straight Connector 178"/>
            <p:cNvCxnSpPr>
              <a:cxnSpLocks noChangeAspect="1" noChangeShapeType="1"/>
            </p:cNvCxnSpPr>
            <p:nvPr/>
          </p:nvCxnSpPr>
          <p:spPr bwMode="auto">
            <a:xfrm rot="10800000">
              <a:off x="5320055" y="5064214"/>
              <a:ext cx="765310" cy="6017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3" name="Straight Connector 181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5945091" y="5289743"/>
              <a:ext cx="634454" cy="1695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4" name="Straight Connector 187"/>
            <p:cNvCxnSpPr>
              <a:cxnSpLocks noChangeAspect="1" noChangeShapeType="1"/>
            </p:cNvCxnSpPr>
            <p:nvPr/>
          </p:nvCxnSpPr>
          <p:spPr bwMode="auto">
            <a:xfrm flipV="1">
              <a:off x="6617711" y="5088997"/>
              <a:ext cx="719708" cy="6086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5" name="Straight Connector 190"/>
            <p:cNvCxnSpPr>
              <a:cxnSpLocks noChangeAspect="1" noChangeShapeType="1"/>
            </p:cNvCxnSpPr>
            <p:nvPr/>
          </p:nvCxnSpPr>
          <p:spPr bwMode="auto">
            <a:xfrm flipV="1">
              <a:off x="6699000" y="5095937"/>
              <a:ext cx="1640657" cy="6394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6" name="Straight Connector 196"/>
            <p:cNvCxnSpPr>
              <a:cxnSpLocks noChangeAspect="1" noChangeShapeType="1"/>
            </p:cNvCxnSpPr>
            <p:nvPr/>
          </p:nvCxnSpPr>
          <p:spPr bwMode="auto">
            <a:xfrm rot="10800000">
              <a:off x="5389448" y="5071153"/>
              <a:ext cx="1653545" cy="620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7" name="Straight Connector 199"/>
            <p:cNvCxnSpPr>
              <a:cxnSpLocks noChangeAspect="1" noChangeShapeType="1"/>
            </p:cNvCxnSpPr>
            <p:nvPr/>
          </p:nvCxnSpPr>
          <p:spPr bwMode="auto">
            <a:xfrm rot="10800000">
              <a:off x="6423409" y="5077101"/>
              <a:ext cx="638419" cy="5888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8" name="Straight Connector 203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7140640" y="5304612"/>
              <a:ext cx="581913" cy="1645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9" name="Straight Connector 205"/>
            <p:cNvCxnSpPr>
              <a:cxnSpLocks noChangeAspect="1" noChangeShapeType="1"/>
            </p:cNvCxnSpPr>
            <p:nvPr/>
          </p:nvCxnSpPr>
          <p:spPr bwMode="auto">
            <a:xfrm flipV="1">
              <a:off x="7613010" y="5102876"/>
              <a:ext cx="739535" cy="5888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0" name="Straight Connector 210"/>
            <p:cNvCxnSpPr>
              <a:cxnSpLocks noChangeAspect="1" noChangeShapeType="1"/>
            </p:cNvCxnSpPr>
            <p:nvPr/>
          </p:nvCxnSpPr>
          <p:spPr bwMode="auto">
            <a:xfrm rot="10800000">
              <a:off x="7419700" y="5114772"/>
              <a:ext cx="1101372" cy="5581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1" name="Straight Connector 213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8210784" y="5286273"/>
              <a:ext cx="545234" cy="214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2" name="Straight Connector 223"/>
            <p:cNvCxnSpPr>
              <a:cxnSpLocks noChangeAspect="1" noChangeShapeType="1"/>
            </p:cNvCxnSpPr>
            <p:nvPr/>
          </p:nvCxnSpPr>
          <p:spPr bwMode="auto">
            <a:xfrm rot="10800000">
              <a:off x="5408284" y="5057274"/>
              <a:ext cx="2661731" cy="620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3" name="Straight Connector 229"/>
            <p:cNvCxnSpPr>
              <a:cxnSpLocks noChangeAspect="1" noChangeShapeType="1"/>
            </p:cNvCxnSpPr>
            <p:nvPr/>
          </p:nvCxnSpPr>
          <p:spPr bwMode="auto">
            <a:xfrm rot="10800000">
              <a:off x="6460088" y="5071153"/>
              <a:ext cx="1623805" cy="6017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64" name="Picture 63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51708" y="4963833"/>
              <a:ext cx="226716" cy="188557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5" name="Picture 64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60090" y="4963833"/>
              <a:ext cx="226717" cy="188557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6" name="Picture 65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8FA6CD"/>
                </a:clrFrom>
                <a:clrTo>
                  <a:srgbClr val="8FA6CD">
                    <a:alpha val="0"/>
                  </a:srgbClr>
                </a:clrTo>
              </a:clrChange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36702" y="4963833"/>
              <a:ext cx="226717" cy="188557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67" name="Straight Connector 267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7576826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8" name="Straight Connector 268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7426639" y="6225066"/>
              <a:ext cx="206198" cy="91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69" name="Straight Connector 269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7108917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70" name="Straight Connector 270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6958234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71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7333454" y="6318252"/>
              <a:ext cx="242876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2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7129239" y="6318252"/>
              <a:ext cx="240894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3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6881406" y="6318252"/>
              <a:ext cx="242876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7595166" y="6318252"/>
              <a:ext cx="242876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5" name="Straight Connector 289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6578553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76" name="Straight Connector 290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6428366" y="6225066"/>
              <a:ext cx="206198" cy="91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77" name="Straight Connector 291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6110644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78" name="Straight Connector 292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5959961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79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6335180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6129975" y="6318252"/>
              <a:ext cx="242876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1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5885115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6597884" y="6318252"/>
              <a:ext cx="242876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83" name="Straight Connector 311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5563923" y="6225066"/>
              <a:ext cx="206198" cy="91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84" name="Straight Connector 312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5413736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85" name="Straight Connector 313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5095518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86" name="Straight Connector 314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4944835" y="6224571"/>
              <a:ext cx="206198" cy="92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87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5320055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8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5115840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4869989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3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732" r="-3732"/>
            <a:stretch>
              <a:fillRect/>
            </a:stretch>
          </p:blipFill>
          <p:spPr bwMode="auto">
            <a:xfrm>
              <a:off x="5583749" y="6318252"/>
              <a:ext cx="242877" cy="225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4" name="Picture 93" descr="switch.emf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8FA6CD"/>
                </a:clrFrom>
                <a:clrTo>
                  <a:srgbClr val="8FA6CD">
                    <a:alpha val="0"/>
                  </a:srgbClr>
                </a:clrTo>
              </a:clrChange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245489" y="4963833"/>
              <a:ext cx="226716" cy="188557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95" name="Content Placeholder 3" descr="host.emf"/>
            <p:cNvPicPr>
              <a:picLocks noChangeAspect="1"/>
            </p:cNvPicPr>
            <p:nvPr/>
          </p:nvPicPr>
          <p:blipFill>
            <a:blip r:embed="rId5"/>
            <a:srcRect l="-33124" r="-33124"/>
            <a:stretch>
              <a:fillRect/>
            </a:stretch>
          </p:blipFill>
          <p:spPr bwMode="auto">
            <a:xfrm>
              <a:off x="8514132" y="6318252"/>
              <a:ext cx="376707" cy="226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0" name="Content Placeholder 2"/>
          <p:cNvSpPr txBox="1">
            <a:spLocks/>
          </p:cNvSpPr>
          <p:nvPr/>
        </p:nvSpPr>
        <p:spPr>
          <a:xfrm>
            <a:off x="457200" y="2660805"/>
            <a:ext cx="8285163" cy="204217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Reality doesn’t always match the blueprint</a:t>
            </a:r>
          </a:p>
          <a:p>
            <a:pPr marL="621792" marR="0" lvl="1" indent="-228600" algn="l" defTabSz="914400" rtl="0" eaLnBrk="1" fontAlgn="auto" latinLnBrk="0" hangingPunct="1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Components and partitions are added/removed</a:t>
            </a:r>
          </a:p>
          <a:p>
            <a:pPr marL="621792" marR="0" lvl="1" indent="-228600" algn="l" defTabSz="914400" rtl="0" eaLnBrk="1" fontAlgn="auto" latinLnBrk="0" hangingPunct="1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Links/switches/hosts fail and recover</a:t>
            </a:r>
          </a:p>
          <a:p>
            <a:pPr marL="621792" marR="0" lvl="1" indent="-228600" algn="l" defTabSz="914400" rtl="0" eaLnBrk="1" fontAlgn="auto" latinLnBrk="0" hangingPunct="1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Verdana"/>
              <a:buChar char="◦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Cables are connected incorrectly</a:t>
            </a:r>
          </a:p>
        </p:txBody>
      </p:sp>
      <p:sp>
        <p:nvSpPr>
          <p:cNvPr id="96" name="Slide Number Placeholder 9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85163" cy="4154419"/>
          </a:xfrm>
        </p:spPr>
        <p:txBody>
          <a:bodyPr>
            <a:normAutofit/>
          </a:bodyPr>
          <a:lstStyle/>
          <a:p>
            <a:r>
              <a:rPr lang="en-US" dirty="0" smtClean="0"/>
              <a:t>What gets labeled in a data center network?</a:t>
            </a:r>
          </a:p>
          <a:p>
            <a:pPr lvl="1"/>
            <a:r>
              <a:rPr lang="en-US" dirty="0" smtClean="0"/>
              <a:t>Switch ports</a:t>
            </a:r>
          </a:p>
          <a:p>
            <a:pPr lvl="1"/>
            <a:r>
              <a:rPr lang="en-US" dirty="0" smtClean="0"/>
              <a:t>Host NICs</a:t>
            </a:r>
          </a:p>
          <a:p>
            <a:pPr lvl="1"/>
            <a:r>
              <a:rPr lang="en-US" dirty="0" smtClean="0"/>
              <a:t>Virtual machines at hosts</a:t>
            </a:r>
          </a:p>
          <a:p>
            <a:pPr lvl="1"/>
            <a:r>
              <a:rPr lang="en-US" dirty="0" smtClean="0"/>
              <a:t>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Labels in Data Center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686800" cy="3992857"/>
          </a:xfrm>
        </p:spPr>
        <p:txBody>
          <a:bodyPr>
            <a:normAutofit/>
          </a:bodyPr>
          <a:lstStyle/>
          <a:p>
            <a:r>
              <a:rPr lang="en-US" dirty="0" smtClean="0"/>
              <a:t>Flat Addressing</a:t>
            </a:r>
          </a:p>
          <a:p>
            <a:pPr lvl="1"/>
            <a:r>
              <a:rPr lang="en-US" dirty="0" smtClean="0"/>
              <a:t>E.g. MAC Addresses (Layer 2)</a:t>
            </a:r>
          </a:p>
          <a:p>
            <a:pPr lvl="1" indent="-255588" defTabSz="914400">
              <a:spcBef>
                <a:spcPts val="1600"/>
              </a:spcBef>
              <a:buClr>
                <a:srgbClr val="009E01"/>
              </a:buClr>
              <a:buSzPct val="150000"/>
              <a:buFont typeface="Wingdings" charset="2"/>
              <a:buChar char="ü"/>
            </a:pPr>
            <a:r>
              <a:rPr lang="en-US" dirty="0" smtClean="0"/>
              <a:t>Unique</a:t>
            </a:r>
          </a:p>
          <a:p>
            <a:pPr lvl="1" indent="-255588" defTabSz="914400">
              <a:spcBef>
                <a:spcPts val="400"/>
              </a:spcBef>
              <a:buClr>
                <a:srgbClr val="009E01"/>
              </a:buClr>
              <a:buSzPct val="150000"/>
              <a:buFont typeface="Wingdings" charset="2"/>
              <a:buChar char="ü"/>
            </a:pPr>
            <a:r>
              <a:rPr lang="en-US" dirty="0" smtClean="0"/>
              <a:t>Automatic</a:t>
            </a:r>
          </a:p>
          <a:p>
            <a:pPr lvl="1" indent="-255588" defTabSz="914400">
              <a:spcBef>
                <a:spcPts val="1600"/>
              </a:spcBef>
              <a:buClr>
                <a:srgbClr val="CF0202"/>
              </a:buClr>
              <a:buSzPct val="150000"/>
              <a:buFont typeface="Lucida Grande"/>
              <a:buChar char="✗"/>
            </a:pPr>
            <a:r>
              <a:rPr lang="en-US" dirty="0" smtClean="0"/>
              <a:t>Scalability:</a:t>
            </a:r>
          </a:p>
          <a:p>
            <a:pPr lvl="2"/>
            <a:r>
              <a:rPr lang="en-US" dirty="0" smtClean="0"/>
              <a:t>Switches have limited forwarding entries (say, 10k)</a:t>
            </a:r>
          </a:p>
          <a:p>
            <a:pPr lvl="2"/>
            <a:r>
              <a:rPr lang="en-US" dirty="0" smtClean="0"/>
              <a:t># Labels in forwarding tables = # Nodes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Data Center Labeling Techniques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85163" cy="3992857"/>
          </a:xfrm>
        </p:spPr>
        <p:txBody>
          <a:bodyPr>
            <a:normAutofit/>
          </a:bodyPr>
          <a:lstStyle/>
          <a:p>
            <a:r>
              <a:rPr lang="en-US" dirty="0" smtClean="0"/>
              <a:t>Hierarchical Addressing</a:t>
            </a:r>
          </a:p>
          <a:p>
            <a:pPr lvl="1"/>
            <a:r>
              <a:rPr lang="en-US" dirty="0" smtClean="0"/>
              <a:t>E.g. IP Addresses (Layer 3) with DHCP</a:t>
            </a:r>
          </a:p>
          <a:p>
            <a:pPr lvl="1" indent="-255588" defTabSz="914400">
              <a:spcBef>
                <a:spcPts val="1600"/>
              </a:spcBef>
              <a:buClr>
                <a:srgbClr val="009E01"/>
              </a:buClr>
              <a:buSzPct val="150000"/>
              <a:buFont typeface="Wingdings" charset="2"/>
              <a:buChar char="ü"/>
            </a:pPr>
            <a:r>
              <a:rPr lang="en-US" dirty="0" smtClean="0"/>
              <a:t>Scalable forwarding state </a:t>
            </a:r>
          </a:p>
          <a:p>
            <a:pPr lvl="2"/>
            <a:r>
              <a:rPr lang="en-US" dirty="0" smtClean="0"/>
              <a:t># Labels in forwarding tables &lt; # Nodes</a:t>
            </a:r>
          </a:p>
          <a:p>
            <a:pPr lvl="1" indent="-255588" defTabSz="914400">
              <a:spcBef>
                <a:spcPts val="1600"/>
              </a:spcBef>
              <a:buClr>
                <a:srgbClr val="CF0202"/>
              </a:buClr>
              <a:buSzPct val="150000"/>
              <a:buFont typeface="Lucida Grande"/>
              <a:buChar char="✗"/>
            </a:pPr>
            <a:r>
              <a:rPr lang="en-US" dirty="0" smtClean="0"/>
              <a:t>Relies on manual configuration:</a:t>
            </a:r>
          </a:p>
          <a:p>
            <a:pPr lvl="2"/>
            <a:r>
              <a:rPr lang="en-US" dirty="0" smtClean="0"/>
              <a:t>Unrealistic at scale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Data Center Labeling Techniques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85163" cy="3437157"/>
          </a:xfrm>
        </p:spPr>
        <p:txBody>
          <a:bodyPr/>
          <a:lstStyle/>
          <a:p>
            <a:r>
              <a:rPr lang="en-US" dirty="0" smtClean="0"/>
              <a:t>PortLand’s </a:t>
            </a:r>
            <a:r>
              <a:rPr lang="en-US" dirty="0" smtClean="0">
                <a:solidFill>
                  <a:schemeClr val="tx2"/>
                </a:solidFill>
              </a:rPr>
              <a:t>LDP</a:t>
            </a:r>
            <a:r>
              <a:rPr lang="en-US" dirty="0" smtClean="0"/>
              <a:t>: Location Discovery Protocol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DAC</a:t>
            </a:r>
            <a:r>
              <a:rPr lang="en-US" dirty="0" smtClean="0"/>
              <a:t>: Data center Address Configuration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Manual configuration via blueprints</a:t>
            </a:r>
          </a:p>
          <a:p>
            <a:r>
              <a:rPr lang="en-US" dirty="0" smtClean="0"/>
              <a:t>Rely on centralized control</a:t>
            </a:r>
          </a:p>
          <a:p>
            <a:pPr lvl="1"/>
            <a:r>
              <a:rPr lang="en-US" dirty="0" smtClean="0"/>
              <a:t>Cannot directly connect controller to all nodes</a:t>
            </a:r>
          </a:p>
          <a:p>
            <a:pPr lvl="1"/>
            <a:r>
              <a:rPr lang="en-US" dirty="0" smtClean="0"/>
              <a:t>Requires separate out-of-band control network or flooding techniques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Combining L2 and L3 Benefits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720129" y="5289988"/>
            <a:ext cx="8013069" cy="1483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PortLand: A Scalable</a:t>
            </a:r>
            <a:r>
              <a:rPr lang="en-US" sz="2000" b="1" dirty="0" smtClean="0">
                <a:solidFill>
                  <a:schemeClr val="tx2"/>
                </a:solidFill>
                <a:latin typeface="Lucida Sans Unicode" pitchFamily="34" charset="0"/>
              </a:rPr>
              <a:t> Fault-Tolerance Layer 2 Data Center Network Fabric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.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Niranjan Mysore et</a:t>
            </a:r>
            <a:r>
              <a:rPr kumimoji="0" lang="en-US" sz="2000" b="0" i="1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 al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.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SIGCOMM 2009</a:t>
            </a:r>
            <a:endParaRPr lang="en-US" sz="2000" b="1" dirty="0" smtClean="0">
              <a:solidFill>
                <a:schemeClr val="tx2"/>
              </a:solidFill>
              <a:latin typeface="Lucida Sans Unicode" pitchFamily="34" charset="0"/>
            </a:endParaRPr>
          </a:p>
          <a:p>
            <a:pPr marR="0" lvl="0" algn="l" defTabSz="914400" rtl="0" eaLnBrk="1" fontAlgn="base" latinLnBrk="0" hangingPunct="1"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lang="en-US" sz="2000" b="1" dirty="0" smtClean="0">
                <a:solidFill>
                  <a:schemeClr val="tx2"/>
                </a:solidFill>
                <a:latin typeface="Lucida Sans Unicode" pitchFamily="34" charset="0"/>
              </a:rPr>
              <a:t>Generic and Automatic Address Configuration for Data Center Networks. </a:t>
            </a:r>
            <a:r>
              <a:rPr lang="en-US" sz="2000" i="1" dirty="0" smtClean="0">
                <a:solidFill>
                  <a:schemeClr val="tx2"/>
                </a:solidFill>
                <a:latin typeface="Lucida Sans Unicode" pitchFamily="34" charset="0"/>
              </a:rPr>
              <a:t>Chen et al.  </a:t>
            </a:r>
            <a:r>
              <a:rPr lang="en-US" sz="2000" dirty="0" smtClean="0">
                <a:latin typeface="Lucida Sans Unicode" pitchFamily="34" charset="0"/>
              </a:rPr>
              <a:t>SIGCOMM 2010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Scalability vs. Management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2124156" y="2300926"/>
            <a:ext cx="4797667" cy="3397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A99BE"/>
              </a:gs>
            </a:gsLst>
            <a:lin ang="18900000" scaled="0"/>
          </a:gradFill>
          <a:ln>
            <a:gradFill flip="none" rotWithShape="1">
              <a:gsLst>
                <a:gs pos="0">
                  <a:schemeClr val="accent1"/>
                </a:gs>
                <a:gs pos="57000">
                  <a:srgbClr val="FFFFF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rot="5400000" flipH="1" flipV="1">
            <a:off x="424004" y="4000286"/>
            <a:ext cx="3400310" cy="1591"/>
          </a:xfrm>
          <a:prstGeom prst="straightConnector1">
            <a:avLst/>
          </a:prstGeom>
          <a:ln w="635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2123363" y="5698856"/>
            <a:ext cx="4798460" cy="2380"/>
          </a:xfrm>
          <a:prstGeom prst="straightConnector1">
            <a:avLst/>
          </a:prstGeom>
          <a:ln w="635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24953" y="5940744"/>
            <a:ext cx="479687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 smtClean="0"/>
              <a:t>Network Size</a:t>
            </a:r>
            <a:endParaRPr lang="en-US" sz="1900" dirty="0"/>
          </a:p>
        </p:txBody>
      </p:sp>
      <p:sp>
        <p:nvSpPr>
          <p:cNvPr id="32" name="TextBox 31"/>
          <p:cNvSpPr txBox="1"/>
          <p:nvPr/>
        </p:nvSpPr>
        <p:spPr>
          <a:xfrm rot="16200000">
            <a:off x="28262" y="3662527"/>
            <a:ext cx="34003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 smtClean="0"/>
              <a:t>Label Assignment Management Overhead</a:t>
            </a:r>
            <a:endParaRPr lang="en-US" sz="1900" dirty="0"/>
          </a:p>
        </p:txBody>
      </p:sp>
      <p:sp>
        <p:nvSpPr>
          <p:cNvPr id="40" name="Right Arrow 39"/>
          <p:cNvSpPr/>
          <p:nvPr/>
        </p:nvSpPr>
        <p:spPr>
          <a:xfrm rot="19837915">
            <a:off x="2139272" y="3905410"/>
            <a:ext cx="4948535" cy="61984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305256" y="3098702"/>
            <a:ext cx="3825780" cy="2307457"/>
            <a:chOff x="2100583" y="2713982"/>
            <a:chExt cx="3825780" cy="2307457"/>
          </a:xfrm>
        </p:grpSpPr>
        <p:grpSp>
          <p:nvGrpSpPr>
            <p:cNvPr id="48" name="Group 47"/>
            <p:cNvGrpSpPr/>
            <p:nvPr/>
          </p:nvGrpSpPr>
          <p:grpSpPr>
            <a:xfrm>
              <a:off x="2100583" y="2713982"/>
              <a:ext cx="3368580" cy="2307457"/>
              <a:chOff x="2100583" y="2713982"/>
              <a:chExt cx="3368580" cy="2307457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2100583" y="2713982"/>
                <a:ext cx="3368580" cy="1633379"/>
                <a:chOff x="3870452" y="3371544"/>
                <a:chExt cx="3368580" cy="1633379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3870452" y="4635591"/>
                  <a:ext cx="11192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 smtClean="0"/>
                    <a:t>Ethernet</a:t>
                  </a:r>
                  <a:endParaRPr lang="en-US" b="1" dirty="0"/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6744850" y="3371544"/>
                  <a:ext cx="4941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 smtClean="0"/>
                    <a:t>IP</a:t>
                  </a:r>
                  <a:endParaRPr lang="en-US" b="1" dirty="0"/>
                </a:p>
              </p:txBody>
            </p:sp>
          </p:grpSp>
          <p:sp>
            <p:nvSpPr>
              <p:cNvPr id="46" name="Oval 45"/>
              <p:cNvSpPr/>
              <p:nvPr/>
            </p:nvSpPr>
            <p:spPr>
              <a:xfrm>
                <a:off x="2514600" y="4564239"/>
                <a:ext cx="457200" cy="457200"/>
              </a:xfrm>
              <a:prstGeom prst="ellipse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</p:sp>
        </p:grpSp>
        <p:sp>
          <p:nvSpPr>
            <p:cNvPr id="49" name="Oval 48"/>
            <p:cNvSpPr/>
            <p:nvPr/>
          </p:nvSpPr>
          <p:spPr>
            <a:xfrm>
              <a:off x="5469163" y="2898648"/>
              <a:ext cx="457200" cy="457200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</p:sp>
      </p:grpSp>
      <p:grpSp>
        <p:nvGrpSpPr>
          <p:cNvPr id="59" name="Group 58"/>
          <p:cNvGrpSpPr/>
          <p:nvPr/>
        </p:nvGrpSpPr>
        <p:grpSpPr>
          <a:xfrm>
            <a:off x="5673836" y="4732081"/>
            <a:ext cx="2786520" cy="1769375"/>
            <a:chOff x="5469163" y="4347361"/>
            <a:chExt cx="2786520" cy="1769375"/>
          </a:xfrm>
        </p:grpSpPr>
        <p:sp>
          <p:nvSpPr>
            <p:cNvPr id="51" name="Oval 50"/>
            <p:cNvSpPr/>
            <p:nvPr/>
          </p:nvSpPr>
          <p:spPr>
            <a:xfrm>
              <a:off x="5469163" y="4347361"/>
              <a:ext cx="457200" cy="457200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</p:sp>
        <p:sp>
          <p:nvSpPr>
            <p:cNvPr id="52" name="TextBox 51"/>
            <p:cNvSpPr txBox="1"/>
            <p:nvPr/>
          </p:nvSpPr>
          <p:spPr>
            <a:xfrm>
              <a:off x="6898595" y="5316517"/>
              <a:ext cx="1357088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300" dirty="0" smtClean="0"/>
                <a:t>Target location</a:t>
              </a:r>
              <a:endParaRPr lang="en-US" sz="2300" dirty="0"/>
            </a:p>
          </p:txBody>
        </p:sp>
        <p:cxnSp>
          <p:nvCxnSpPr>
            <p:cNvPr id="54" name="Curved Connector 53"/>
            <p:cNvCxnSpPr>
              <a:stCxn id="52" idx="0"/>
              <a:endCxn id="51" idx="6"/>
            </p:cNvCxnSpPr>
            <p:nvPr/>
          </p:nvCxnSpPr>
          <p:spPr>
            <a:xfrm rot="16200000" flipV="1">
              <a:off x="6381473" y="4120851"/>
              <a:ext cx="740556" cy="1650776"/>
            </a:xfrm>
            <a:prstGeom prst="curvedConnector2">
              <a:avLst/>
            </a:prstGeom>
            <a:ln w="50800" cmpd="sng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032099" y="1417638"/>
            <a:ext cx="4889725" cy="4523109"/>
            <a:chOff x="2032099" y="1417638"/>
            <a:chExt cx="4889725" cy="4523109"/>
          </a:xfrm>
        </p:grpSpPr>
        <p:grpSp>
          <p:nvGrpSpPr>
            <p:cNvPr id="39" name="Group 38"/>
            <p:cNvGrpSpPr/>
            <p:nvPr/>
          </p:nvGrpSpPr>
          <p:grpSpPr>
            <a:xfrm>
              <a:off x="2591696" y="1417638"/>
              <a:ext cx="3480049" cy="4523109"/>
              <a:chOff x="4156892" y="1690480"/>
              <a:chExt cx="3480049" cy="4523109"/>
            </a:xfrm>
          </p:grpSpPr>
          <p:cxnSp>
            <p:nvCxnSpPr>
              <p:cNvPr id="33" name="Straight Arrow Connector 32"/>
              <p:cNvCxnSpPr>
                <a:endCxn id="38" idx="2"/>
              </p:cNvCxnSpPr>
              <p:nvPr/>
            </p:nvCxnSpPr>
            <p:spPr>
              <a:xfrm rot="5400000" flipH="1" flipV="1">
                <a:off x="4019290" y="4335962"/>
                <a:ext cx="3753667" cy="1587"/>
              </a:xfrm>
              <a:prstGeom prst="straightConnector1">
                <a:avLst/>
              </a:prstGeom>
              <a:ln w="63500" cmpd="sng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4156892" y="1690480"/>
                <a:ext cx="348004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/>
                  <a:t>Hardware Limit:</a:t>
                </a:r>
              </a:p>
              <a:p>
                <a:pPr algn="ctr"/>
                <a:r>
                  <a:rPr lang="en-US" sz="2200" dirty="0" smtClean="0"/>
                  <a:t>Need Labels &lt; Nodes</a:t>
                </a:r>
                <a:endParaRPr lang="en-US" sz="2200" dirty="0"/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2032099" y="2300925"/>
              <a:ext cx="22887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 smtClean="0"/>
                <a:t>Flat Labels</a:t>
              </a:r>
              <a:endParaRPr lang="en-US" sz="22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320846" y="2300925"/>
              <a:ext cx="26009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 smtClean="0"/>
                <a:t>Structured Labels</a:t>
              </a:r>
              <a:endParaRPr lang="en-US" sz="2200" dirty="0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6226657" y="3740568"/>
            <a:ext cx="2694319" cy="991513"/>
            <a:chOff x="6226657" y="3740568"/>
            <a:chExt cx="2694319" cy="991513"/>
          </a:xfrm>
        </p:grpSpPr>
        <p:sp>
          <p:nvSpPr>
            <p:cNvPr id="67" name="Curved Left Arrow 66"/>
            <p:cNvSpPr/>
            <p:nvPr/>
          </p:nvSpPr>
          <p:spPr>
            <a:xfrm>
              <a:off x="6226657" y="3740568"/>
              <a:ext cx="876611" cy="991513"/>
            </a:xfrm>
            <a:prstGeom prst="curvedLeft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348465" y="4081918"/>
              <a:ext cx="1572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Automation</a:t>
              </a:r>
              <a:endParaRPr lang="en-US" dirty="0"/>
            </a:p>
          </p:txBody>
        </p:sp>
      </p:grp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Cost of Automation</a:t>
            </a:r>
            <a:endParaRPr lang="en-US" dirty="0"/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85163" cy="1740560"/>
          </a:xfrm>
        </p:spPr>
        <p:txBody>
          <a:bodyPr>
            <a:normAutofit/>
          </a:bodyPr>
          <a:lstStyle/>
          <a:p>
            <a:r>
              <a:rPr lang="en-US" dirty="0" smtClean="0"/>
              <a:t>Less management means more automation</a:t>
            </a:r>
          </a:p>
          <a:p>
            <a:r>
              <a:rPr lang="en-US" dirty="0" smtClean="0"/>
              <a:t>Structured labels encode topology</a:t>
            </a:r>
          </a:p>
          <a:p>
            <a:pPr lvl="0">
              <a:buClrTx/>
              <a:buSzPct val="100000"/>
              <a:buFont typeface="Lucida Grande"/>
              <a:buChar char="∴"/>
            </a:pPr>
            <a:r>
              <a:rPr lang="en-US" dirty="0" smtClean="0"/>
              <a:t>Labels change with topology dynamics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grpSp>
        <p:nvGrpSpPr>
          <p:cNvPr id="72" name="Group 71"/>
          <p:cNvGrpSpPr>
            <a:grpSpLocks noChangeAspect="1"/>
          </p:cNvGrpSpPr>
          <p:nvPr/>
        </p:nvGrpSpPr>
        <p:grpSpPr>
          <a:xfrm>
            <a:off x="3850391" y="3040237"/>
            <a:ext cx="4768405" cy="3555119"/>
            <a:chOff x="1511884" y="2187079"/>
            <a:chExt cx="5591384" cy="4168693"/>
          </a:xfrm>
        </p:grpSpPr>
        <p:sp>
          <p:nvSpPr>
            <p:cNvPr id="37" name="Rectangle 36"/>
            <p:cNvSpPr/>
            <p:nvPr/>
          </p:nvSpPr>
          <p:spPr>
            <a:xfrm>
              <a:off x="2124156" y="2300926"/>
              <a:ext cx="4797667" cy="33979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0A99BE"/>
                </a:gs>
              </a:gsLst>
              <a:lin ang="18900000" scaled="0"/>
            </a:gradFill>
            <a:ln>
              <a:gradFill flip="none" rotWithShape="1">
                <a:gsLst>
                  <a:gs pos="0">
                    <a:schemeClr val="accent1"/>
                  </a:gs>
                  <a:gs pos="57000">
                    <a:srgbClr val="FFFFFF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rot="5400000" flipH="1" flipV="1">
              <a:off x="424004" y="4000286"/>
              <a:ext cx="3400310" cy="1591"/>
            </a:xfrm>
            <a:prstGeom prst="straightConnector1">
              <a:avLst/>
            </a:prstGeom>
            <a:ln w="63500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123363" y="5698856"/>
              <a:ext cx="4798460" cy="2380"/>
            </a:xfrm>
            <a:prstGeom prst="straightConnector1">
              <a:avLst/>
            </a:prstGeom>
            <a:ln w="63500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2124956" y="5940742"/>
              <a:ext cx="4796871" cy="415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 smtClean="0"/>
                <a:t>Network Size</a:t>
              </a:r>
              <a:endParaRPr lang="en-US" sz="1700" dirty="0"/>
            </a:p>
          </p:txBody>
        </p:sp>
        <p:sp>
          <p:nvSpPr>
            <p:cNvPr id="45" name="TextBox 44"/>
            <p:cNvSpPr txBox="1"/>
            <p:nvPr/>
          </p:nvSpPr>
          <p:spPr>
            <a:xfrm rot="16200000">
              <a:off x="19245" y="3793568"/>
              <a:ext cx="3400308" cy="415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 smtClean="0"/>
                <a:t>Management Overhead</a:t>
              </a:r>
              <a:endParaRPr lang="en-US" sz="1700" dirty="0"/>
            </a:p>
          </p:txBody>
        </p:sp>
        <p:sp>
          <p:nvSpPr>
            <p:cNvPr id="47" name="Right Arrow 46"/>
            <p:cNvSpPr/>
            <p:nvPr/>
          </p:nvSpPr>
          <p:spPr>
            <a:xfrm rot="19837915">
              <a:off x="2139272" y="3905410"/>
              <a:ext cx="4948535" cy="619847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2305258" y="3098702"/>
              <a:ext cx="3825778" cy="2307457"/>
              <a:chOff x="2100585" y="2713982"/>
              <a:chExt cx="3825778" cy="2307457"/>
            </a:xfrm>
          </p:grpSpPr>
          <p:grpSp>
            <p:nvGrpSpPr>
              <p:cNvPr id="50" name="Group 47"/>
              <p:cNvGrpSpPr/>
              <p:nvPr/>
            </p:nvGrpSpPr>
            <p:grpSpPr>
              <a:xfrm>
                <a:off x="2100585" y="2713982"/>
                <a:ext cx="3216180" cy="2307457"/>
                <a:chOff x="2100585" y="2713982"/>
                <a:chExt cx="3216180" cy="2307457"/>
              </a:xfrm>
            </p:grpSpPr>
            <p:grpSp>
              <p:nvGrpSpPr>
                <p:cNvPr id="55" name="Group 43"/>
                <p:cNvGrpSpPr/>
                <p:nvPr/>
              </p:nvGrpSpPr>
              <p:grpSpPr>
                <a:xfrm>
                  <a:off x="2100585" y="2713982"/>
                  <a:ext cx="3216180" cy="1624942"/>
                  <a:chOff x="3870454" y="3371544"/>
                  <a:chExt cx="3216180" cy="1624942"/>
                </a:xfrm>
              </p:grpSpPr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3870454" y="4635590"/>
                    <a:ext cx="1424948" cy="360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 smtClean="0"/>
                      <a:t>Ethernet</a:t>
                    </a:r>
                    <a:endParaRPr lang="en-US" sz="1400" b="1" dirty="0"/>
                  </a:p>
                </p:txBody>
              </p:sp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6592452" y="3371544"/>
                    <a:ext cx="494182" cy="360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 smtClean="0"/>
                      <a:t>IP</a:t>
                    </a:r>
                    <a:endParaRPr lang="en-US" sz="1400" b="1" dirty="0"/>
                  </a:p>
                </p:txBody>
              </p:sp>
            </p:grpSp>
            <p:sp>
              <p:nvSpPr>
                <p:cNvPr id="56" name="Oval 55"/>
                <p:cNvSpPr/>
                <p:nvPr/>
              </p:nvSpPr>
              <p:spPr>
                <a:xfrm>
                  <a:off x="2514600" y="4564239"/>
                  <a:ext cx="457200" cy="457200"/>
                </a:xfrm>
                <a:prstGeom prst="ellipse">
                  <a:avLst/>
                </a:prstGeom>
                <a:ln/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53" name="Oval 52"/>
              <p:cNvSpPr/>
              <p:nvPr/>
            </p:nvSpPr>
            <p:spPr>
              <a:xfrm>
                <a:off x="5469163" y="2898648"/>
                <a:ext cx="457200" cy="457200"/>
              </a:xfrm>
              <a:prstGeom prst="ellipse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</p:sp>
        </p:grpSp>
        <p:sp>
          <p:nvSpPr>
            <p:cNvPr id="60" name="Oval 59"/>
            <p:cNvSpPr/>
            <p:nvPr/>
          </p:nvSpPr>
          <p:spPr>
            <a:xfrm>
              <a:off x="5673836" y="4732081"/>
              <a:ext cx="457200" cy="457200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</p:sp>
        <p:cxnSp>
          <p:nvCxnSpPr>
            <p:cNvPr id="69" name="Straight Arrow Connector 68"/>
            <p:cNvCxnSpPr/>
            <p:nvPr/>
          </p:nvCxnSpPr>
          <p:spPr>
            <a:xfrm rot="5400000" flipH="1" flipV="1">
              <a:off x="2454094" y="4063120"/>
              <a:ext cx="3753667" cy="1586"/>
            </a:xfrm>
            <a:prstGeom prst="straightConnector1">
              <a:avLst/>
            </a:prstGeom>
            <a:ln w="63500" cmpd="sng"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Curved Left Arrow 70"/>
            <p:cNvSpPr/>
            <p:nvPr/>
          </p:nvSpPr>
          <p:spPr>
            <a:xfrm>
              <a:off x="6226657" y="3740568"/>
              <a:ext cx="876611" cy="991513"/>
            </a:xfrm>
            <a:prstGeom prst="curvedLeft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792151" y="5600556"/>
            <a:ext cx="1215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Target</a:t>
            </a:r>
            <a:endParaRPr lang="en-US" sz="1400" b="1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ALIAS Overview</a:t>
            </a:r>
            <a:endParaRPr lang="en-US" dirty="0"/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85163" cy="4482088"/>
          </a:xfrm>
        </p:spPr>
        <p:txBody>
          <a:bodyPr>
            <a:normAutofit/>
          </a:bodyPr>
          <a:lstStyle/>
          <a:p>
            <a:r>
              <a:rPr lang="en-US" dirty="0" smtClean="0"/>
              <a:t>ALIAS: topology discovery and label assignment in hierarchical networks</a:t>
            </a:r>
          </a:p>
          <a:p>
            <a:endParaRPr lang="en-US" dirty="0" smtClean="0"/>
          </a:p>
          <a:p>
            <a:r>
              <a:rPr lang="en-US" dirty="0" smtClean="0"/>
              <a:t>Approach: </a:t>
            </a:r>
            <a:r>
              <a:rPr lang="en-US" i="1" dirty="0" smtClean="0">
                <a:solidFill>
                  <a:schemeClr val="accent2">
                    <a:lumMod val="50000"/>
                  </a:schemeClr>
                </a:solidFill>
              </a:rPr>
              <a:t>Automatic</a:t>
            </a:r>
            <a:r>
              <a:rPr lang="en-US" i="1" dirty="0" smtClean="0"/>
              <a:t>, </a:t>
            </a:r>
            <a:r>
              <a:rPr lang="en-US" i="1" dirty="0" smtClean="0">
                <a:solidFill>
                  <a:srgbClr val="800000"/>
                </a:solidFill>
              </a:rPr>
              <a:t>decentralized </a:t>
            </a:r>
            <a:r>
              <a:rPr lang="en-US" dirty="0" smtClean="0"/>
              <a:t>assignment of </a:t>
            </a:r>
            <a:r>
              <a:rPr lang="en-US" i="1" dirty="0" smtClean="0">
                <a:solidFill>
                  <a:schemeClr val="accent2">
                    <a:lumMod val="50000"/>
                  </a:schemeClr>
                </a:solidFill>
              </a:rPr>
              <a:t>hierarchical </a:t>
            </a:r>
            <a:r>
              <a:rPr lang="en-US" dirty="0" smtClean="0"/>
              <a:t>labels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Benefits:</a:t>
            </a:r>
          </a:p>
          <a:p>
            <a:pPr lvl="1"/>
            <a:r>
              <a:rPr lang="en-US" dirty="0" smtClean="0"/>
              <a:t>Scalability (structured labels, shared label prefixes)</a:t>
            </a:r>
          </a:p>
          <a:p>
            <a:pPr lvl="1"/>
            <a:r>
              <a:rPr lang="en-US" dirty="0" smtClean="0"/>
              <a:t>Low management overhead (automation)</a:t>
            </a:r>
          </a:p>
          <a:p>
            <a:pPr lvl="1"/>
            <a:r>
              <a:rPr lang="en-US" dirty="0" smtClean="0"/>
              <a:t>No out-of-band control network (decentralized)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481138"/>
            <a:ext cx="8229600" cy="45739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Systems (Implementation/Evaluation)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ALIAS Evolution</a:t>
            </a:r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457200" y="3328416"/>
            <a:ext cx="8229600" cy="597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5125" marR="0" lvl="0" indent="-2555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Theory (Proof/</a:t>
            </a:r>
            <a:r>
              <a:rPr lang="en-US" sz="2700" dirty="0" smtClean="0">
                <a:latin typeface="+mn-lt"/>
              </a:rPr>
              <a:t>Protocol Derivation)</a:t>
            </a:r>
            <a:endParaRPr kumimoji="0" lang="en-US" sz="23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2555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365125" marR="0" lvl="0" indent="-2555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685800" y="2011678"/>
            <a:ext cx="8001000" cy="10515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ALIAS: Scalable, Decentralized Label Assignment for Data Centers.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M. Walraed-Sullivan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, R. Niranjan Mysore, M. Tewari,  Y. Zhang, K. Marzullo, A. Vahdat.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SOCC 2011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endParaRPr kumimoji="0" lang="en-US" sz="23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685800" y="3858768"/>
            <a:ext cx="8001000" cy="10515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Brief Announcement: A Randomized Algorithm for Label Assignment in Dynamic Networks. 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M. Walraed-Sullivan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, R. Niranjan Mysore, K. Marzullo, A. Vahdat.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DISC 2011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endParaRPr kumimoji="0" lang="en-US" sz="23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2286001" y="5274131"/>
            <a:ext cx="6578131" cy="1157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5125" marR="0" lvl="0" indent="-2555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ALIAS:</a:t>
            </a:r>
            <a:r>
              <a:rPr kumimoji="0" lang="en-US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700" dirty="0" smtClean="0">
                <a:latin typeface="+mn-lt"/>
              </a:rPr>
              <a:t>topology discovery and label assignment in hierarchical networks</a:t>
            </a:r>
            <a:endParaRPr kumimoji="0" lang="en-US" sz="23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5125" marR="0" lvl="0" indent="-2555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365125" marR="0" lvl="0" indent="-2555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1545961" y="5434024"/>
            <a:ext cx="740040" cy="419009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3085763"/>
          </a:xfrm>
        </p:spPr>
        <p:txBody>
          <a:bodyPr>
            <a:normAutofit/>
          </a:bodyPr>
          <a:lstStyle/>
          <a:p>
            <a:r>
              <a:rPr lang="en-US" dirty="0" smtClean="0"/>
              <a:t>Multi-rooted trees</a:t>
            </a:r>
          </a:p>
          <a:p>
            <a:pPr lvl="1"/>
            <a:r>
              <a:rPr lang="en-US" dirty="0" smtClean="0"/>
              <a:t>Multi-stage switch fabric connecting hosts</a:t>
            </a:r>
          </a:p>
          <a:p>
            <a:pPr lvl="1"/>
            <a:r>
              <a:rPr lang="en-US" dirty="0" smtClean="0"/>
              <a:t>Indirect hierarchy</a:t>
            </a:r>
          </a:p>
          <a:p>
            <a:pPr lvl="1"/>
            <a:r>
              <a:rPr lang="en-US" dirty="0" smtClean="0"/>
              <a:t>May allow peer links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Labels ultimately used for communication</a:t>
            </a:r>
          </a:p>
          <a:p>
            <a:pPr lvl="1"/>
            <a:r>
              <a:rPr lang="en-US" dirty="0" smtClean="0"/>
              <a:t>Multiple paths between nodes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798" y="582706"/>
            <a:ext cx="8340401" cy="788894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Data Center Network Topologies</a:t>
            </a:r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>
            <a:off x="3885319" y="4530128"/>
            <a:ext cx="4843641" cy="2139767"/>
            <a:chOff x="4905157" y="4292119"/>
            <a:chExt cx="4843641" cy="2139767"/>
          </a:xfrm>
        </p:grpSpPr>
        <p:cxnSp>
          <p:nvCxnSpPr>
            <p:cNvPr id="31748" name="Straight Connector 299"/>
            <p:cNvCxnSpPr>
              <a:cxnSpLocks noChangeAspect="1" noChangeShapeType="1"/>
            </p:cNvCxnSpPr>
            <p:nvPr/>
          </p:nvCxnSpPr>
          <p:spPr bwMode="auto">
            <a:xfrm>
              <a:off x="5275356" y="5360834"/>
              <a:ext cx="407219" cy="4080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49" name="Straight Connector 300"/>
            <p:cNvCxnSpPr>
              <a:cxnSpLocks noChangeAspect="1" noChangeShapeType="1"/>
              <a:stCxn id="31753" idx="2"/>
              <a:endCxn id="31762" idx="1"/>
            </p:cNvCxnSpPr>
            <p:nvPr/>
          </p:nvCxnSpPr>
          <p:spPr bwMode="auto">
            <a:xfrm rot="16200000" flipH="1">
              <a:off x="5846297" y="5381822"/>
              <a:ext cx="381176" cy="5441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50" name="Straight Connector 301"/>
            <p:cNvCxnSpPr>
              <a:cxnSpLocks noChangeAspect="1" noChangeShapeType="1"/>
            </p:cNvCxnSpPr>
            <p:nvPr/>
          </p:nvCxnSpPr>
          <p:spPr bwMode="auto">
            <a:xfrm rot="5400000">
              <a:off x="5562160" y="5564844"/>
              <a:ext cx="408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51" name="Straight Connector 302"/>
            <p:cNvCxnSpPr>
              <a:cxnSpLocks noChangeAspect="1" noChangeShapeType="1"/>
            </p:cNvCxnSpPr>
            <p:nvPr/>
          </p:nvCxnSpPr>
          <p:spPr bwMode="auto">
            <a:xfrm rot="5400000">
              <a:off x="5016414" y="5564844"/>
              <a:ext cx="408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752" name="Picture 308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628550" y="5717404"/>
              <a:ext cx="272563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53" name="Picture 309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628550" y="5209170"/>
              <a:ext cx="272563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54" name="Picture 306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086086" y="5717404"/>
              <a:ext cx="272561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55" name="Picture 307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084285" y="5209170"/>
              <a:ext cx="272561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756" name="Straight Connector 277"/>
            <p:cNvCxnSpPr>
              <a:cxnSpLocks noChangeAspect="1" noChangeShapeType="1"/>
            </p:cNvCxnSpPr>
            <p:nvPr/>
          </p:nvCxnSpPr>
          <p:spPr bwMode="auto">
            <a:xfrm>
              <a:off x="6497014" y="5360834"/>
              <a:ext cx="407219" cy="4080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57" name="Straight Connector 278"/>
            <p:cNvCxnSpPr>
              <a:cxnSpLocks noChangeAspect="1" noChangeShapeType="1"/>
            </p:cNvCxnSpPr>
            <p:nvPr/>
          </p:nvCxnSpPr>
          <p:spPr bwMode="auto">
            <a:xfrm rot="10800000" flipV="1">
              <a:off x="6480296" y="5370229"/>
              <a:ext cx="408413" cy="4080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58" name="Straight Connector 279"/>
            <p:cNvCxnSpPr>
              <a:cxnSpLocks noChangeAspect="1" noChangeShapeType="1"/>
            </p:cNvCxnSpPr>
            <p:nvPr/>
          </p:nvCxnSpPr>
          <p:spPr bwMode="auto">
            <a:xfrm rot="5400000">
              <a:off x="6785012" y="5564844"/>
              <a:ext cx="408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59" name="Straight Connector 280"/>
            <p:cNvCxnSpPr>
              <a:cxnSpLocks noChangeAspect="1" noChangeShapeType="1"/>
            </p:cNvCxnSpPr>
            <p:nvPr/>
          </p:nvCxnSpPr>
          <p:spPr bwMode="auto">
            <a:xfrm rot="5400000">
              <a:off x="6239266" y="5564844"/>
              <a:ext cx="408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760" name="Picture 286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850611" y="5717404"/>
              <a:ext cx="272163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61" name="Picture 287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850611" y="5209170"/>
              <a:ext cx="272163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62" name="Picture 284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308937" y="5717404"/>
              <a:ext cx="272165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63" name="Picture 285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307140" y="5209170"/>
              <a:ext cx="272165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764" name="Straight Connector 255"/>
            <p:cNvCxnSpPr>
              <a:cxnSpLocks noChangeAspect="1" noChangeShapeType="1"/>
              <a:stCxn id="31771" idx="1"/>
            </p:cNvCxnSpPr>
            <p:nvPr/>
          </p:nvCxnSpPr>
          <p:spPr bwMode="auto">
            <a:xfrm rot="10800000" flipH="1" flipV="1">
              <a:off x="7509688" y="5336229"/>
              <a:ext cx="595902" cy="432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65" name="Straight Connector 256"/>
            <p:cNvCxnSpPr>
              <a:cxnSpLocks noChangeAspect="1" noChangeShapeType="1"/>
            </p:cNvCxnSpPr>
            <p:nvPr/>
          </p:nvCxnSpPr>
          <p:spPr bwMode="auto">
            <a:xfrm rot="10800000" flipV="1">
              <a:off x="7684041" y="5370229"/>
              <a:ext cx="407219" cy="4080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66" name="Straight Connector 257"/>
            <p:cNvCxnSpPr>
              <a:cxnSpLocks noChangeAspect="1" noChangeShapeType="1"/>
            </p:cNvCxnSpPr>
            <p:nvPr/>
          </p:nvCxnSpPr>
          <p:spPr bwMode="auto">
            <a:xfrm rot="5400000">
              <a:off x="7986369" y="5563648"/>
              <a:ext cx="408020" cy="23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67" name="Straight Connector 258"/>
            <p:cNvCxnSpPr>
              <a:cxnSpLocks noChangeAspect="1" noChangeShapeType="1"/>
            </p:cNvCxnSpPr>
            <p:nvPr/>
          </p:nvCxnSpPr>
          <p:spPr bwMode="auto">
            <a:xfrm rot="5400000">
              <a:off x="7441817" y="5564844"/>
              <a:ext cx="408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768" name="Picture 264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053953" y="5717404"/>
              <a:ext cx="272563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69" name="Picture 265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053953" y="5209170"/>
              <a:ext cx="272563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70" name="Picture 262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11489" y="5717404"/>
              <a:ext cx="272561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71" name="Picture 263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09689" y="5209170"/>
              <a:ext cx="272561" cy="254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772" name="Straight Connector 29"/>
            <p:cNvCxnSpPr>
              <a:cxnSpLocks noChangeAspect="1" noChangeShapeType="1"/>
              <a:endCxn id="82" idx="1"/>
            </p:cNvCxnSpPr>
            <p:nvPr/>
          </p:nvCxnSpPr>
          <p:spPr bwMode="auto">
            <a:xfrm flipV="1">
              <a:off x="8896146" y="5336229"/>
              <a:ext cx="354788" cy="246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73" name="Straight Connector 52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9128314" y="5571738"/>
              <a:ext cx="1399" cy="5440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74" name="Straight Connector 60"/>
            <p:cNvCxnSpPr>
              <a:cxnSpLocks noChangeAspect="1" noChangeShapeType="1"/>
            </p:cNvCxnSpPr>
            <p:nvPr/>
          </p:nvCxnSpPr>
          <p:spPr bwMode="auto">
            <a:xfrm rot="5400000">
              <a:off x="9182948" y="5564844"/>
              <a:ext cx="408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75" name="Straight Connector 67"/>
            <p:cNvCxnSpPr>
              <a:cxnSpLocks noChangeAspect="1" noChangeShapeType="1"/>
            </p:cNvCxnSpPr>
            <p:nvPr/>
          </p:nvCxnSpPr>
          <p:spPr bwMode="auto">
            <a:xfrm rot="5400000">
              <a:off x="8638994" y="5564246"/>
              <a:ext cx="408020" cy="1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81" name="Picture 80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9250934" y="5717404"/>
              <a:ext cx="273360" cy="254118"/>
            </a:xfrm>
            <a:prstGeom prst="roundRect">
              <a:avLst/>
            </a:prstGeom>
            <a:ln>
              <a:noFill/>
            </a:ln>
          </p:spPr>
        </p:pic>
        <p:pic>
          <p:nvPicPr>
            <p:cNvPr id="82" name="Picture 81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9250934" y="5209170"/>
              <a:ext cx="273360" cy="254118"/>
            </a:xfrm>
            <a:prstGeom prst="roundRect">
              <a:avLst/>
            </a:prstGeom>
            <a:ln>
              <a:noFill/>
            </a:ln>
          </p:spPr>
        </p:pic>
        <p:pic>
          <p:nvPicPr>
            <p:cNvPr id="79" name="Picture 78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706883" y="5717404"/>
              <a:ext cx="273360" cy="254118"/>
            </a:xfrm>
            <a:prstGeom prst="roundRect">
              <a:avLst/>
            </a:prstGeom>
            <a:ln>
              <a:noFill/>
            </a:ln>
          </p:spPr>
        </p:pic>
        <p:pic>
          <p:nvPicPr>
            <p:cNvPr id="80" name="Picture 79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705077" y="5209170"/>
              <a:ext cx="273360" cy="254118"/>
            </a:xfrm>
            <a:prstGeom prst="roundRect">
              <a:avLst/>
            </a:prstGeom>
            <a:ln>
              <a:noFill/>
            </a:ln>
          </p:spPr>
        </p:pic>
        <p:cxnSp>
          <p:nvCxnSpPr>
            <p:cNvPr id="31780" name="Straight Connector 22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9347088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81" name="Straight Connector 20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9166168" y="6006513"/>
              <a:ext cx="279172" cy="1098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82" name="Straight Connector 24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8784027" y="6006513"/>
              <a:ext cx="279172" cy="1098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83" name="Straight Connector 27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8603107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784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9070496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85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8822106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86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8525946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787" name="Straight Connector 149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4898401" y="4716493"/>
              <a:ext cx="848252" cy="2042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88" name="Straight Connector 163"/>
            <p:cNvCxnSpPr>
              <a:cxnSpLocks noChangeAspect="1" noChangeShapeType="1"/>
            </p:cNvCxnSpPr>
            <p:nvPr/>
          </p:nvCxnSpPr>
          <p:spPr bwMode="auto">
            <a:xfrm flipV="1">
              <a:off x="5266997" y="4402523"/>
              <a:ext cx="1387650" cy="8831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89" name="Straight Connector 166"/>
            <p:cNvCxnSpPr>
              <a:cxnSpLocks noChangeAspect="1" noChangeShapeType="1"/>
            </p:cNvCxnSpPr>
            <p:nvPr/>
          </p:nvCxnSpPr>
          <p:spPr bwMode="auto">
            <a:xfrm flipV="1">
              <a:off x="5831849" y="4453526"/>
              <a:ext cx="3215958" cy="848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0" name="Straight Connector 175"/>
            <p:cNvCxnSpPr>
              <a:cxnSpLocks noChangeAspect="1" noChangeShapeType="1"/>
            </p:cNvCxnSpPr>
            <p:nvPr/>
          </p:nvCxnSpPr>
          <p:spPr bwMode="auto">
            <a:xfrm flipV="1">
              <a:off x="5801996" y="4461579"/>
              <a:ext cx="2022961" cy="8160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1" name="Straight Connector 178"/>
            <p:cNvCxnSpPr>
              <a:cxnSpLocks noChangeAspect="1" noChangeShapeType="1"/>
            </p:cNvCxnSpPr>
            <p:nvPr/>
          </p:nvCxnSpPr>
          <p:spPr bwMode="auto">
            <a:xfrm rot="10800000">
              <a:off x="5447320" y="4428025"/>
              <a:ext cx="921916" cy="8146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2" name="Straight Connector 181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6152905" y="4746022"/>
              <a:ext cx="858989" cy="2042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3" name="Straight Connector 187"/>
            <p:cNvCxnSpPr>
              <a:cxnSpLocks noChangeAspect="1" noChangeShapeType="1"/>
            </p:cNvCxnSpPr>
            <p:nvPr/>
          </p:nvCxnSpPr>
          <p:spPr bwMode="auto">
            <a:xfrm flipV="1">
              <a:off x="7010518" y="4461579"/>
              <a:ext cx="866983" cy="8240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4" name="Straight Connector 190"/>
            <p:cNvCxnSpPr>
              <a:cxnSpLocks noChangeAspect="1" noChangeShapeType="1"/>
            </p:cNvCxnSpPr>
            <p:nvPr/>
          </p:nvCxnSpPr>
          <p:spPr bwMode="auto">
            <a:xfrm flipV="1">
              <a:off x="7108441" y="4470975"/>
              <a:ext cx="1976386" cy="8656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5" name="Straight Connector 196"/>
            <p:cNvCxnSpPr>
              <a:cxnSpLocks noChangeAspect="1" noChangeShapeType="1"/>
            </p:cNvCxnSpPr>
            <p:nvPr/>
          </p:nvCxnSpPr>
          <p:spPr bwMode="auto">
            <a:xfrm rot="10800000">
              <a:off x="5530913" y="4437420"/>
              <a:ext cx="1991912" cy="8401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6" name="Straight Connector 199"/>
            <p:cNvCxnSpPr>
              <a:cxnSpLocks noChangeAspect="1" noChangeShapeType="1"/>
            </p:cNvCxnSpPr>
            <p:nvPr/>
          </p:nvCxnSpPr>
          <p:spPr bwMode="auto">
            <a:xfrm rot="10800000">
              <a:off x="6776455" y="4445473"/>
              <a:ext cx="769060" cy="797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7" name="Straight Connector 203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7597022" y="4765783"/>
              <a:ext cx="787854" cy="198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8" name="Straight Connector 205"/>
            <p:cNvCxnSpPr>
              <a:cxnSpLocks noChangeAspect="1" noChangeShapeType="1"/>
            </p:cNvCxnSpPr>
            <p:nvPr/>
          </p:nvCxnSpPr>
          <p:spPr bwMode="auto">
            <a:xfrm flipV="1">
              <a:off x="8209486" y="4480370"/>
              <a:ext cx="890867" cy="797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799" name="Straight Connector 210"/>
            <p:cNvCxnSpPr>
              <a:cxnSpLocks noChangeAspect="1" noChangeShapeType="1"/>
            </p:cNvCxnSpPr>
            <p:nvPr/>
          </p:nvCxnSpPr>
          <p:spPr bwMode="auto">
            <a:xfrm rot="10800000">
              <a:off x="7976618" y="4496476"/>
              <a:ext cx="1326747" cy="7556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00" name="Straight Connector 213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8888888" y="4744654"/>
              <a:ext cx="738194" cy="2579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01" name="Straight Connector 223"/>
            <p:cNvCxnSpPr>
              <a:cxnSpLocks noChangeAspect="1" noChangeShapeType="1"/>
            </p:cNvCxnSpPr>
            <p:nvPr/>
          </p:nvCxnSpPr>
          <p:spPr bwMode="auto">
            <a:xfrm rot="10800000">
              <a:off x="5553604" y="4418629"/>
              <a:ext cx="3206404" cy="8401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02" name="Straight Connector 229"/>
            <p:cNvCxnSpPr>
              <a:cxnSpLocks noChangeAspect="1" noChangeShapeType="1"/>
            </p:cNvCxnSpPr>
            <p:nvPr/>
          </p:nvCxnSpPr>
          <p:spPr bwMode="auto">
            <a:xfrm rot="10800000">
              <a:off x="6820640" y="4437420"/>
              <a:ext cx="1956086" cy="8146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48" name="Picture 47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8978880" y="4292119"/>
              <a:ext cx="273109" cy="255288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9" name="Picture 48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41474E"/>
                </a:clrFrom>
                <a:clrTo>
                  <a:srgbClr val="41474E">
                    <a:alpha val="0"/>
                  </a:srgbClr>
                </a:clrTo>
              </a:clrChange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6579716" y="4292119"/>
              <a:ext cx="273110" cy="255288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0" name="Picture 49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8FA6CD"/>
                </a:clrFrom>
                <a:clrTo>
                  <a:srgbClr val="8FA6CD">
                    <a:alpha val="0"/>
                  </a:srgbClr>
                </a:clrTo>
              </a:clrChange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7756173" y="4292119"/>
              <a:ext cx="273110" cy="255288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1806" name="Straight Connector 267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8150507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07" name="Straight Connector 268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7969588" y="6006513"/>
              <a:ext cx="279172" cy="1098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08" name="Straight Connector 269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7586849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09" name="Straight Connector 270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7405332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810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7872723" y="6125871"/>
              <a:ext cx="292576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11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7626720" y="6125871"/>
              <a:ext cx="290189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12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7328173" y="6125871"/>
              <a:ext cx="292576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13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8187990" y="6125871"/>
              <a:ext cx="292576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814" name="Straight Connector 289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6947956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15" name="Straight Connector 290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6767037" y="6006513"/>
              <a:ext cx="279172" cy="1098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16" name="Straight Connector 291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6384299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17" name="Straight Connector 292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6202782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818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6670171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19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6422975" y="6125871"/>
              <a:ext cx="292576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20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6128009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21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6986634" y="6125871"/>
              <a:ext cx="292576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822" name="Straight Connector 311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5725702" y="6006513"/>
              <a:ext cx="279172" cy="1098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23" name="Straight Connector 312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5544781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24" name="Straight Connector 313"/>
            <p:cNvCxnSpPr>
              <a:cxnSpLocks noChangeAspect="1" noChangeShapeType="1"/>
            </p:cNvCxnSpPr>
            <p:nvPr/>
          </p:nvCxnSpPr>
          <p:spPr bwMode="auto">
            <a:xfrm rot="16200000" flipV="1">
              <a:off x="5161446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825" name="Straight Connector 314"/>
            <p:cNvCxnSpPr>
              <a:cxnSpLocks noChangeAspect="1" noChangeShapeType="1"/>
            </p:cNvCxnSpPr>
            <p:nvPr/>
          </p:nvCxnSpPr>
          <p:spPr bwMode="auto">
            <a:xfrm rot="5400000" flipH="1" flipV="1">
              <a:off x="4979929" y="6005918"/>
              <a:ext cx="279172" cy="1110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31826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5447320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27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5201317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28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4905157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29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732" r="-3732"/>
            <a:stretch>
              <a:fillRect/>
            </a:stretch>
          </p:blipFill>
          <p:spPr bwMode="auto">
            <a:xfrm>
              <a:off x="5764974" y="6125871"/>
              <a:ext cx="292577" cy="304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5" name="Picture 74" descr="switch.emf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8FA6CD"/>
                </a:clrFrom>
                <a:clrTo>
                  <a:srgbClr val="8FA6CD">
                    <a:alpha val="0"/>
                  </a:srgbClr>
                </a:clrTo>
              </a:clrChange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5357496" y="4292119"/>
              <a:ext cx="273109" cy="255288"/>
            </a:xfrm>
            <a:prstGeom prst="rect">
              <a:avLst/>
            </a:prstGeom>
            <a:ln w="19050" cap="flat" cmpd="sng" algn="ctr">
              <a:noFill/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1831" name="Content Placeholder 3" descr="host.emf"/>
            <p:cNvPicPr>
              <a:picLocks noChangeAspect="1"/>
            </p:cNvPicPr>
            <p:nvPr/>
          </p:nvPicPr>
          <p:blipFill>
            <a:blip r:embed="rId4"/>
            <a:srcRect l="-33124" r="-33124"/>
            <a:stretch>
              <a:fillRect/>
            </a:stretch>
          </p:blipFill>
          <p:spPr bwMode="auto">
            <a:xfrm>
              <a:off x="9295005" y="6125871"/>
              <a:ext cx="453793" cy="306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" name="Slide Number Placeholder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190224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Switches and hosts have labels</a:t>
            </a:r>
          </a:p>
          <a:p>
            <a:pPr lvl="1"/>
            <a:r>
              <a:rPr lang="en-US" dirty="0" smtClean="0"/>
              <a:t>Labels encode (shortest physical) paths from the root of the hierarchy to a switch/host</a:t>
            </a:r>
          </a:p>
          <a:p>
            <a:pPr lvl="1"/>
            <a:r>
              <a:rPr lang="en-US" dirty="0" smtClean="0"/>
              <a:t>Each switch/host may have multiple labels</a:t>
            </a:r>
          </a:p>
          <a:p>
            <a:pPr lvl="1"/>
            <a:r>
              <a:rPr lang="en-US" dirty="0" smtClean="0"/>
              <a:t>Labels encode location and expose path multiplicity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ALIAS Labels</a:t>
            </a:r>
            <a:endParaRPr lang="en-US" dirty="0"/>
          </a:p>
        </p:txBody>
      </p:sp>
      <p:sp>
        <p:nvSpPr>
          <p:cNvPr id="37891" name="TextBox 62"/>
          <p:cNvSpPr txBox="1">
            <a:spLocks noChangeArrowheads="1"/>
          </p:cNvSpPr>
          <p:nvPr/>
        </p:nvSpPr>
        <p:spPr bwMode="auto">
          <a:xfrm>
            <a:off x="2618649" y="3709988"/>
            <a:ext cx="192470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Lucida Sans Unicode" pitchFamily="34" charset="0"/>
              </a:rPr>
              <a:t>h’s Labels</a:t>
            </a:r>
          </a:p>
        </p:txBody>
      </p:sp>
      <p:grpSp>
        <p:nvGrpSpPr>
          <p:cNvPr id="3" name="Group 83"/>
          <p:cNvGrpSpPr>
            <a:grpSpLocks noChangeAspect="1"/>
          </p:cNvGrpSpPr>
          <p:nvPr/>
        </p:nvGrpSpPr>
        <p:grpSpPr bwMode="auto">
          <a:xfrm>
            <a:off x="2889621" y="4140200"/>
            <a:ext cx="1456953" cy="1747838"/>
            <a:chOff x="6035040" y="3886200"/>
            <a:chExt cx="2155887" cy="2586435"/>
          </a:xfrm>
        </p:grpSpPr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2155887" cy="529035"/>
              <a:chOff x="6067258" y="4937760"/>
              <a:chExt cx="2155887" cy="529035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rgbClr val="35385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a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7689788" y="4937760"/>
                <a:ext cx="533357" cy="525896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  <p:grpSp>
          <p:nvGrpSpPr>
            <p:cNvPr id="5" name="Group 68"/>
            <p:cNvGrpSpPr>
              <a:grpSpLocks/>
            </p:cNvGrpSpPr>
            <p:nvPr/>
          </p:nvGrpSpPr>
          <p:grpSpPr bwMode="auto">
            <a:xfrm>
              <a:off x="6035040" y="4572000"/>
              <a:ext cx="2155887" cy="529035"/>
              <a:chOff x="6067258" y="4937760"/>
              <a:chExt cx="2155887" cy="529035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7689788" y="4936935"/>
                <a:ext cx="533357" cy="525896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  <p:grpSp>
          <p:nvGrpSpPr>
            <p:cNvPr id="6" name="Group 73"/>
            <p:cNvGrpSpPr>
              <a:grpSpLocks/>
            </p:cNvGrpSpPr>
            <p:nvPr/>
          </p:nvGrpSpPr>
          <p:grpSpPr bwMode="auto">
            <a:xfrm>
              <a:off x="6035040" y="5257800"/>
              <a:ext cx="2155887" cy="529035"/>
              <a:chOff x="6067258" y="4937760"/>
              <a:chExt cx="2155887" cy="529035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6067258" y="4941723"/>
                <a:ext cx="533358" cy="525897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6611845" y="4937980"/>
                <a:ext cx="531486" cy="525897"/>
              </a:xfrm>
              <a:prstGeom prst="rect">
                <a:avLst/>
              </a:prstGeom>
              <a:solidFill>
                <a:srgbClr val="7D3C4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7150816" y="4937980"/>
                <a:ext cx="533357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7689788" y="4937980"/>
                <a:ext cx="533357" cy="525897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  <p:grpSp>
          <p:nvGrpSpPr>
            <p:cNvPr id="7" name="Group 78"/>
            <p:cNvGrpSpPr>
              <a:grpSpLocks/>
            </p:cNvGrpSpPr>
            <p:nvPr/>
          </p:nvGrpSpPr>
          <p:grpSpPr bwMode="auto">
            <a:xfrm>
              <a:off x="6035040" y="5943600"/>
              <a:ext cx="2155887" cy="529035"/>
              <a:chOff x="6067258" y="4937760"/>
              <a:chExt cx="2155887" cy="529035"/>
            </a:xfrm>
          </p:grpSpPr>
          <p:sp>
            <p:nvSpPr>
              <p:cNvPr id="80" name="Rectangle 79"/>
              <p:cNvSpPr/>
              <p:nvPr/>
            </p:nvSpPr>
            <p:spPr>
              <a:xfrm>
                <a:off x="6067258" y="4940898"/>
                <a:ext cx="533358" cy="525897"/>
              </a:xfrm>
              <a:prstGeom prst="rect">
                <a:avLst/>
              </a:prstGeom>
              <a:solidFill>
                <a:srgbClr val="0032E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6611845" y="4937155"/>
                <a:ext cx="531486" cy="525897"/>
              </a:xfrm>
              <a:prstGeom prst="rect">
                <a:avLst/>
              </a:prstGeom>
              <a:solidFill>
                <a:srgbClr val="7D3C4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7150816" y="4937155"/>
                <a:ext cx="533357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7689788" y="4937155"/>
                <a:ext cx="533357" cy="525897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</p:grpSp>
      <p:grpSp>
        <p:nvGrpSpPr>
          <p:cNvPr id="8" name="Group 84"/>
          <p:cNvGrpSpPr>
            <a:grpSpLocks noChangeAspect="1"/>
          </p:cNvGrpSpPr>
          <p:nvPr/>
        </p:nvGrpSpPr>
        <p:grpSpPr bwMode="auto">
          <a:xfrm>
            <a:off x="1134547" y="4140200"/>
            <a:ext cx="1092715" cy="1747838"/>
            <a:chOff x="6035040" y="3886200"/>
            <a:chExt cx="1616391" cy="2586435"/>
          </a:xfrm>
        </p:grpSpPr>
        <p:grpSp>
          <p:nvGrpSpPr>
            <p:cNvPr id="9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391" cy="529035"/>
              <a:chOff x="6067258" y="4937760"/>
              <a:chExt cx="1616391" cy="529035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6067258" y="4941503"/>
                <a:ext cx="533184" cy="525896"/>
              </a:xfrm>
              <a:prstGeom prst="rect">
                <a:avLst/>
              </a:prstGeom>
              <a:solidFill>
                <a:srgbClr val="35385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a</a:t>
                </a:r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6611667" y="4937760"/>
                <a:ext cx="533185" cy="5258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7150464" y="4937760"/>
                <a:ext cx="533185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  <p:grpSp>
          <p:nvGrpSpPr>
            <p:cNvPr id="10" name="Group 68"/>
            <p:cNvGrpSpPr>
              <a:grpSpLocks/>
            </p:cNvGrpSpPr>
            <p:nvPr/>
          </p:nvGrpSpPr>
          <p:grpSpPr bwMode="auto">
            <a:xfrm>
              <a:off x="6035040" y="4572000"/>
              <a:ext cx="1616391" cy="529035"/>
              <a:chOff x="6067258" y="4937760"/>
              <a:chExt cx="1616391" cy="529035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6067258" y="4940678"/>
                <a:ext cx="533184" cy="525896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6611667" y="4936935"/>
                <a:ext cx="533185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7150464" y="4936935"/>
                <a:ext cx="533185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  <p:grpSp>
          <p:nvGrpSpPr>
            <p:cNvPr id="11" name="Group 73"/>
            <p:cNvGrpSpPr>
              <a:grpSpLocks/>
            </p:cNvGrpSpPr>
            <p:nvPr/>
          </p:nvGrpSpPr>
          <p:grpSpPr bwMode="auto">
            <a:xfrm>
              <a:off x="6035040" y="5257800"/>
              <a:ext cx="1616391" cy="529035"/>
              <a:chOff x="6067258" y="4937760"/>
              <a:chExt cx="1616391" cy="529035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6067258" y="4941723"/>
                <a:ext cx="533184" cy="525897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6611667" y="4937980"/>
                <a:ext cx="533185" cy="525897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150464" y="4937980"/>
                <a:ext cx="533185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  <p:grpSp>
          <p:nvGrpSpPr>
            <p:cNvPr id="12" name="Group 78"/>
            <p:cNvGrpSpPr>
              <a:grpSpLocks/>
            </p:cNvGrpSpPr>
            <p:nvPr/>
          </p:nvGrpSpPr>
          <p:grpSpPr bwMode="auto">
            <a:xfrm>
              <a:off x="6035040" y="5943600"/>
              <a:ext cx="1616391" cy="529035"/>
              <a:chOff x="6067258" y="4937760"/>
              <a:chExt cx="1616391" cy="529035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6067258" y="4940898"/>
                <a:ext cx="533184" cy="525897"/>
              </a:xfrm>
              <a:prstGeom prst="rect">
                <a:avLst/>
              </a:prstGeom>
              <a:solidFill>
                <a:srgbClr val="0032E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6611667" y="4937155"/>
                <a:ext cx="533185" cy="525897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7150464" y="4937155"/>
                <a:ext cx="533185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  <p:sp>
        <p:nvSpPr>
          <p:cNvPr id="37894" name="TextBox 105"/>
          <p:cNvSpPr txBox="1">
            <a:spLocks noChangeArrowheads="1"/>
          </p:cNvSpPr>
          <p:nvPr/>
        </p:nvSpPr>
        <p:spPr bwMode="auto">
          <a:xfrm>
            <a:off x="785595" y="3709988"/>
            <a:ext cx="183305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Lucida Sans Unicode" pitchFamily="34" charset="0"/>
              </a:rPr>
              <a:t>g’s Labels</a:t>
            </a:r>
          </a:p>
        </p:txBody>
      </p:sp>
      <p:grpSp>
        <p:nvGrpSpPr>
          <p:cNvPr id="13" name="Group 106"/>
          <p:cNvGrpSpPr>
            <a:grpSpLocks/>
          </p:cNvGrpSpPr>
          <p:nvPr/>
        </p:nvGrpSpPr>
        <p:grpSpPr bwMode="auto">
          <a:xfrm>
            <a:off x="4973638" y="4205288"/>
            <a:ext cx="3954462" cy="2460625"/>
            <a:chOff x="4659404" y="4020304"/>
            <a:chExt cx="3953415" cy="2461190"/>
          </a:xfrm>
        </p:grpSpPr>
        <p:sp>
          <p:nvSpPr>
            <p:cNvPr id="108" name="Oval 107"/>
            <p:cNvSpPr/>
            <p:nvPr/>
          </p:nvSpPr>
          <p:spPr>
            <a:xfrm>
              <a:off x="6368688" y="4020304"/>
              <a:ext cx="368202" cy="368385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4659404" y="4753897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5327564" y="4753897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4659404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5327564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13" name="Straight Connector 112"/>
            <p:cNvCxnSpPr>
              <a:stCxn id="110" idx="3"/>
              <a:endCxn id="111" idx="7"/>
            </p:cNvCxnSpPr>
            <p:nvPr/>
          </p:nvCxnSpPr>
          <p:spPr>
            <a:xfrm rot="5400000">
              <a:off x="4919558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>
              <a:stCxn id="109" idx="5"/>
              <a:endCxn id="112" idx="1"/>
            </p:cNvCxnSpPr>
            <p:nvPr/>
          </p:nvCxnSpPr>
          <p:spPr>
            <a:xfrm rot="16200000" flipH="1">
              <a:off x="4919558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110" idx="4"/>
              <a:endCxn id="112" idx="0"/>
            </p:cNvCxnSpPr>
            <p:nvPr/>
          </p:nvCxnSpPr>
          <p:spPr>
            <a:xfrm rot="5400000">
              <a:off x="5306037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5994138" y="4753897"/>
              <a:ext cx="369790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5994138" y="5530363"/>
              <a:ext cx="369790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18" name="Straight Connector 117"/>
            <p:cNvCxnSpPr>
              <a:stCxn id="116" idx="4"/>
              <a:endCxn id="117" idx="0"/>
            </p:cNvCxnSpPr>
            <p:nvPr/>
          </p:nvCxnSpPr>
          <p:spPr>
            <a:xfrm rot="5400000">
              <a:off x="5974198" y="5326323"/>
              <a:ext cx="409669" cy="15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stCxn id="116" idx="3"/>
              <a:endCxn id="112" idx="7"/>
            </p:cNvCxnSpPr>
            <p:nvPr/>
          </p:nvCxnSpPr>
          <p:spPr>
            <a:xfrm rot="5400000">
              <a:off x="5586924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10" idx="5"/>
              <a:endCxn id="117" idx="1"/>
            </p:cNvCxnSpPr>
            <p:nvPr/>
          </p:nvCxnSpPr>
          <p:spPr>
            <a:xfrm rot="16200000" flipH="1">
              <a:off x="5586924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16" idx="2"/>
              <a:endCxn id="111" idx="6"/>
            </p:cNvCxnSpPr>
            <p:nvPr/>
          </p:nvCxnSpPr>
          <p:spPr>
            <a:xfrm rot="10800000" flipV="1">
              <a:off x="5027606" y="4938090"/>
              <a:ext cx="966531" cy="7764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25" idx="1"/>
              <a:endCxn id="140" idx="5"/>
            </p:cNvCxnSpPr>
            <p:nvPr/>
          </p:nvCxnSpPr>
          <p:spPr>
            <a:xfrm rot="16200000" flipV="1">
              <a:off x="6093213" y="3938842"/>
              <a:ext cx="473184" cy="126490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108" idx="5"/>
              <a:endCxn id="126" idx="1"/>
            </p:cNvCxnSpPr>
            <p:nvPr/>
          </p:nvCxnSpPr>
          <p:spPr>
            <a:xfrm rot="16200000" flipH="1">
              <a:off x="6920081" y="4097550"/>
              <a:ext cx="473184" cy="9474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110" idx="7"/>
            </p:cNvCxnSpPr>
            <p:nvPr/>
          </p:nvCxnSpPr>
          <p:spPr>
            <a:xfrm rot="5400000">
              <a:off x="5795635" y="4180872"/>
              <a:ext cx="473184" cy="780843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124"/>
            <p:cNvSpPr/>
            <p:nvPr/>
          </p:nvSpPr>
          <p:spPr>
            <a:xfrm>
              <a:off x="6908295" y="4753897"/>
              <a:ext cx="369790" cy="368385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26" name="Oval 125"/>
            <p:cNvSpPr/>
            <p:nvPr/>
          </p:nvSpPr>
          <p:spPr>
            <a:xfrm>
              <a:off x="7576456" y="4753897"/>
              <a:ext cx="368202" cy="368385"/>
            </a:xfrm>
            <a:prstGeom prst="ellipse">
              <a:avLst/>
            </a:prstGeom>
            <a:solidFill>
              <a:srgbClr val="FFFF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e </a:t>
              </a:r>
            </a:p>
          </p:txBody>
        </p:sp>
        <p:sp>
          <p:nvSpPr>
            <p:cNvPr id="127" name="Oval 126"/>
            <p:cNvSpPr/>
            <p:nvPr/>
          </p:nvSpPr>
          <p:spPr>
            <a:xfrm>
              <a:off x="6908295" y="5530363"/>
              <a:ext cx="369790" cy="368385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28" name="Oval 127"/>
            <p:cNvSpPr/>
            <p:nvPr/>
          </p:nvSpPr>
          <p:spPr>
            <a:xfrm>
              <a:off x="7576456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9" name="Straight Connector 128"/>
            <p:cNvCxnSpPr>
              <a:stCxn id="125" idx="4"/>
              <a:endCxn id="127" idx="0"/>
            </p:cNvCxnSpPr>
            <p:nvPr/>
          </p:nvCxnSpPr>
          <p:spPr>
            <a:xfrm rot="5400000">
              <a:off x="6888355" y="5326323"/>
              <a:ext cx="409669" cy="15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26" idx="3"/>
              <a:endCxn id="127" idx="7"/>
            </p:cNvCxnSpPr>
            <p:nvPr/>
          </p:nvCxnSpPr>
          <p:spPr>
            <a:xfrm rot="5400000">
              <a:off x="7169243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25" idx="5"/>
              <a:endCxn id="128" idx="1"/>
            </p:cNvCxnSpPr>
            <p:nvPr/>
          </p:nvCxnSpPr>
          <p:spPr>
            <a:xfrm rot="16200000" flipH="1">
              <a:off x="7169243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26" idx="4"/>
              <a:endCxn id="128" idx="0"/>
            </p:cNvCxnSpPr>
            <p:nvPr/>
          </p:nvCxnSpPr>
          <p:spPr>
            <a:xfrm rot="5400000">
              <a:off x="7556516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8244617" y="4753897"/>
              <a:ext cx="368202" cy="368385"/>
            </a:xfrm>
            <a:prstGeom prst="ellipse">
              <a:avLst/>
            </a:prstGeom>
            <a:solidFill>
              <a:schemeClr val="accent6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134" name="Oval 133"/>
            <p:cNvSpPr/>
            <p:nvPr/>
          </p:nvSpPr>
          <p:spPr>
            <a:xfrm>
              <a:off x="8244617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35" name="Straight Connector 134"/>
            <p:cNvCxnSpPr>
              <a:stCxn id="133" idx="4"/>
              <a:endCxn id="134" idx="0"/>
            </p:cNvCxnSpPr>
            <p:nvPr/>
          </p:nvCxnSpPr>
          <p:spPr>
            <a:xfrm rot="5400000">
              <a:off x="8223090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33" idx="3"/>
              <a:endCxn id="128" idx="7"/>
            </p:cNvCxnSpPr>
            <p:nvPr/>
          </p:nvCxnSpPr>
          <p:spPr>
            <a:xfrm rot="5400000">
              <a:off x="7836610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26" idx="5"/>
              <a:endCxn id="134" idx="1"/>
            </p:cNvCxnSpPr>
            <p:nvPr/>
          </p:nvCxnSpPr>
          <p:spPr>
            <a:xfrm rot="16200000" flipH="1">
              <a:off x="7836610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27" idx="6"/>
              <a:endCxn id="133" idx="2"/>
            </p:cNvCxnSpPr>
            <p:nvPr/>
          </p:nvCxnSpPr>
          <p:spPr>
            <a:xfrm flipV="1">
              <a:off x="7278085" y="4938090"/>
              <a:ext cx="966531" cy="7764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Oval 138"/>
            <p:cNvSpPr/>
            <p:nvPr/>
          </p:nvSpPr>
          <p:spPr>
            <a:xfrm>
              <a:off x="7522496" y="4020304"/>
              <a:ext cx="369789" cy="368385"/>
            </a:xfrm>
            <a:prstGeom prst="ellipse">
              <a:avLst/>
            </a:prstGeom>
            <a:solidFill>
              <a:srgbClr val="0032E7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40" name="Oval 139"/>
            <p:cNvSpPr/>
            <p:nvPr/>
          </p:nvSpPr>
          <p:spPr>
            <a:xfrm>
              <a:off x="5383112" y="4020304"/>
              <a:ext cx="368202" cy="36838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a</a:t>
              </a:r>
            </a:p>
          </p:txBody>
        </p:sp>
        <p:cxnSp>
          <p:nvCxnSpPr>
            <p:cNvPr id="141" name="Straight Connector 140"/>
            <p:cNvCxnSpPr>
              <a:stCxn id="140" idx="3"/>
              <a:endCxn id="109" idx="7"/>
            </p:cNvCxnSpPr>
            <p:nvPr/>
          </p:nvCxnSpPr>
          <p:spPr>
            <a:xfrm rot="5400000">
              <a:off x="4968767" y="4339580"/>
              <a:ext cx="473184" cy="46342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139" idx="3"/>
              <a:endCxn id="116" idx="7"/>
            </p:cNvCxnSpPr>
            <p:nvPr/>
          </p:nvCxnSpPr>
          <p:spPr>
            <a:xfrm rot="5400000">
              <a:off x="6706620" y="3938048"/>
              <a:ext cx="473184" cy="126649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39" idx="5"/>
              <a:endCxn id="133" idx="0"/>
            </p:cNvCxnSpPr>
            <p:nvPr/>
          </p:nvCxnSpPr>
          <p:spPr>
            <a:xfrm rot="16200000" flipH="1">
              <a:off x="7923923" y="4249102"/>
              <a:ext cx="419196" cy="59039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25" idx="6"/>
              <a:endCxn id="134" idx="2"/>
            </p:cNvCxnSpPr>
            <p:nvPr/>
          </p:nvCxnSpPr>
          <p:spPr>
            <a:xfrm>
              <a:off x="7278085" y="4938090"/>
              <a:ext cx="966531" cy="7764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>
              <a:stCxn id="140" idx="4"/>
              <a:endCxn id="110" idx="0"/>
            </p:cNvCxnSpPr>
            <p:nvPr/>
          </p:nvCxnSpPr>
          <p:spPr>
            <a:xfrm rot="5400000">
              <a:off x="5356835" y="4543519"/>
              <a:ext cx="365209" cy="5554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139" idx="1"/>
              <a:endCxn id="110" idx="6"/>
            </p:cNvCxnSpPr>
            <p:nvPr/>
          </p:nvCxnSpPr>
          <p:spPr>
            <a:xfrm rot="16200000" flipH="1" flipV="1">
              <a:off x="6204212" y="3565846"/>
              <a:ext cx="863798" cy="188069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>
              <a:stCxn id="109" idx="4"/>
              <a:endCxn id="111" idx="0"/>
            </p:cNvCxnSpPr>
            <p:nvPr/>
          </p:nvCxnSpPr>
          <p:spPr>
            <a:xfrm rot="5400000">
              <a:off x="4639464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Rectangle 147"/>
            <p:cNvSpPr>
              <a:spLocks/>
            </p:cNvSpPr>
            <p:nvPr/>
          </p:nvSpPr>
          <p:spPr>
            <a:xfrm>
              <a:off x="6003660" y="6124224"/>
              <a:ext cx="355506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9" name="Rectangle 148"/>
            <p:cNvSpPr>
              <a:spLocks/>
            </p:cNvSpPr>
            <p:nvPr/>
          </p:nvSpPr>
          <p:spPr>
            <a:xfrm>
              <a:off x="5335500" y="6124224"/>
              <a:ext cx="357092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0" name="Rectangle 149"/>
            <p:cNvSpPr>
              <a:spLocks/>
            </p:cNvSpPr>
            <p:nvPr/>
          </p:nvSpPr>
          <p:spPr>
            <a:xfrm>
              <a:off x="7584391" y="6124224"/>
              <a:ext cx="355506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1" name="Rectangle 150"/>
            <p:cNvSpPr>
              <a:spLocks/>
            </p:cNvSpPr>
            <p:nvPr/>
          </p:nvSpPr>
          <p:spPr>
            <a:xfrm>
              <a:off x="6917818" y="6124224"/>
              <a:ext cx="355506" cy="357270"/>
            </a:xfrm>
            <a:prstGeom prst="rect">
              <a:avLst/>
            </a:prstGeom>
            <a:solidFill>
              <a:schemeClr val="accent3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152" name="Rectangle 151"/>
            <p:cNvSpPr>
              <a:spLocks/>
            </p:cNvSpPr>
            <p:nvPr/>
          </p:nvSpPr>
          <p:spPr>
            <a:xfrm>
              <a:off x="4668926" y="6124224"/>
              <a:ext cx="355506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3" name="Rectangle 152"/>
            <p:cNvSpPr>
              <a:spLocks/>
            </p:cNvSpPr>
            <p:nvPr/>
          </p:nvSpPr>
          <p:spPr>
            <a:xfrm>
              <a:off x="8252552" y="6124224"/>
              <a:ext cx="357092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54" name="Straight Connector 153"/>
            <p:cNvCxnSpPr>
              <a:stCxn id="152" idx="0"/>
              <a:endCxn id="111" idx="4"/>
            </p:cNvCxnSpPr>
            <p:nvPr/>
          </p:nvCxnSpPr>
          <p:spPr>
            <a:xfrm rot="16200000" flipV="1">
              <a:off x="4732354" y="6009899"/>
              <a:ext cx="225477" cy="31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>
              <a:stCxn id="149" idx="0"/>
              <a:endCxn id="112" idx="4"/>
            </p:cNvCxnSpPr>
            <p:nvPr/>
          </p:nvCxnSpPr>
          <p:spPr>
            <a:xfrm rot="16200000" flipV="1">
              <a:off x="5399720" y="6010692"/>
              <a:ext cx="225477" cy="15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>
              <a:stCxn id="148" idx="0"/>
              <a:endCxn id="117" idx="4"/>
            </p:cNvCxnSpPr>
            <p:nvPr/>
          </p:nvCxnSpPr>
          <p:spPr>
            <a:xfrm rot="16200000" flipV="1">
              <a:off x="6067087" y="6009899"/>
              <a:ext cx="225477" cy="31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151" idx="0"/>
              <a:endCxn id="127" idx="4"/>
            </p:cNvCxnSpPr>
            <p:nvPr/>
          </p:nvCxnSpPr>
          <p:spPr>
            <a:xfrm rot="16200000" flipV="1">
              <a:off x="6982039" y="6010692"/>
              <a:ext cx="225477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150" idx="0"/>
              <a:endCxn id="128" idx="4"/>
            </p:cNvCxnSpPr>
            <p:nvPr/>
          </p:nvCxnSpPr>
          <p:spPr>
            <a:xfrm rot="16200000" flipV="1">
              <a:off x="7648613" y="6010692"/>
              <a:ext cx="225477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>
              <a:stCxn id="153" idx="0"/>
              <a:endCxn id="134" idx="4"/>
            </p:cNvCxnSpPr>
            <p:nvPr/>
          </p:nvCxnSpPr>
          <p:spPr>
            <a:xfrm rot="16200000" flipV="1">
              <a:off x="8317566" y="6009899"/>
              <a:ext cx="225477" cy="31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133" idx="1"/>
              <a:endCxn id="108" idx="6"/>
            </p:cNvCxnSpPr>
            <p:nvPr/>
          </p:nvCxnSpPr>
          <p:spPr>
            <a:xfrm rot="16200000" flipV="1">
              <a:off x="7216040" y="3725347"/>
              <a:ext cx="603389" cy="156168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Slide Number Placeholder 10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2063750"/>
          </a:xfrm>
        </p:spPr>
        <p:txBody>
          <a:bodyPr/>
          <a:lstStyle/>
          <a:p>
            <a:r>
              <a:rPr lang="en-US" dirty="0" smtClean="0"/>
              <a:t>Hierarchical routing leverages this info</a:t>
            </a:r>
          </a:p>
          <a:p>
            <a:pPr lvl="1"/>
            <a:r>
              <a:rPr lang="en-US" dirty="0" smtClean="0"/>
              <a:t>Push packets upward, downward path is explicit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Communication over ALIAS Labels</a:t>
            </a:r>
            <a:endParaRPr lang="en-US" dirty="0"/>
          </a:p>
        </p:txBody>
      </p:sp>
      <p:sp>
        <p:nvSpPr>
          <p:cNvPr id="37891" name="TextBox 62"/>
          <p:cNvSpPr txBox="1">
            <a:spLocks noChangeArrowheads="1"/>
          </p:cNvSpPr>
          <p:nvPr/>
        </p:nvSpPr>
        <p:spPr bwMode="auto">
          <a:xfrm>
            <a:off x="2618649" y="3709988"/>
            <a:ext cx="192470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Lucida Sans Unicode" pitchFamily="34" charset="0"/>
              </a:rPr>
              <a:t>h’s Labels</a:t>
            </a:r>
          </a:p>
        </p:txBody>
      </p:sp>
      <p:grpSp>
        <p:nvGrpSpPr>
          <p:cNvPr id="3" name="Group 83"/>
          <p:cNvGrpSpPr>
            <a:grpSpLocks noChangeAspect="1"/>
          </p:cNvGrpSpPr>
          <p:nvPr/>
        </p:nvGrpSpPr>
        <p:grpSpPr bwMode="auto">
          <a:xfrm>
            <a:off x="2889621" y="4140200"/>
            <a:ext cx="1456953" cy="1747838"/>
            <a:chOff x="6035040" y="3886200"/>
            <a:chExt cx="2155887" cy="2586435"/>
          </a:xfrm>
        </p:grpSpPr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2155887" cy="529035"/>
              <a:chOff x="6067258" y="4937760"/>
              <a:chExt cx="2155887" cy="529035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rgbClr val="35385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a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7689788" y="4937760"/>
                <a:ext cx="533357" cy="525896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  <p:grpSp>
          <p:nvGrpSpPr>
            <p:cNvPr id="5" name="Group 68"/>
            <p:cNvGrpSpPr>
              <a:grpSpLocks/>
            </p:cNvGrpSpPr>
            <p:nvPr/>
          </p:nvGrpSpPr>
          <p:grpSpPr bwMode="auto">
            <a:xfrm>
              <a:off x="6035040" y="4572000"/>
              <a:ext cx="2155887" cy="529035"/>
              <a:chOff x="6067258" y="4937760"/>
              <a:chExt cx="2155887" cy="529035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7689788" y="4936935"/>
                <a:ext cx="533357" cy="525896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  <p:grpSp>
          <p:nvGrpSpPr>
            <p:cNvPr id="6" name="Group 73"/>
            <p:cNvGrpSpPr>
              <a:grpSpLocks/>
            </p:cNvGrpSpPr>
            <p:nvPr/>
          </p:nvGrpSpPr>
          <p:grpSpPr bwMode="auto">
            <a:xfrm>
              <a:off x="6035040" y="5257800"/>
              <a:ext cx="2155887" cy="529035"/>
              <a:chOff x="6067258" y="4937760"/>
              <a:chExt cx="2155887" cy="529035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6067258" y="4941723"/>
                <a:ext cx="533358" cy="525897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6611845" y="4937980"/>
                <a:ext cx="531486" cy="525897"/>
              </a:xfrm>
              <a:prstGeom prst="rect">
                <a:avLst/>
              </a:prstGeom>
              <a:solidFill>
                <a:srgbClr val="7D3C4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7150816" y="4937980"/>
                <a:ext cx="533357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7689788" y="4937980"/>
                <a:ext cx="533357" cy="525897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  <p:grpSp>
          <p:nvGrpSpPr>
            <p:cNvPr id="7" name="Group 78"/>
            <p:cNvGrpSpPr>
              <a:grpSpLocks/>
            </p:cNvGrpSpPr>
            <p:nvPr/>
          </p:nvGrpSpPr>
          <p:grpSpPr bwMode="auto">
            <a:xfrm>
              <a:off x="6035040" y="5943600"/>
              <a:ext cx="2155887" cy="529035"/>
              <a:chOff x="6067258" y="4937760"/>
              <a:chExt cx="2155887" cy="529035"/>
            </a:xfrm>
          </p:grpSpPr>
          <p:sp>
            <p:nvSpPr>
              <p:cNvPr id="80" name="Rectangle 79"/>
              <p:cNvSpPr/>
              <p:nvPr/>
            </p:nvSpPr>
            <p:spPr>
              <a:xfrm>
                <a:off x="6067258" y="4940898"/>
                <a:ext cx="533358" cy="525897"/>
              </a:xfrm>
              <a:prstGeom prst="rect">
                <a:avLst/>
              </a:prstGeom>
              <a:solidFill>
                <a:srgbClr val="0032E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6611845" y="4937155"/>
                <a:ext cx="531486" cy="525897"/>
              </a:xfrm>
              <a:prstGeom prst="rect">
                <a:avLst/>
              </a:prstGeom>
              <a:solidFill>
                <a:srgbClr val="7D3C4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7150816" y="4937155"/>
                <a:ext cx="533357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7689788" y="4937155"/>
                <a:ext cx="533357" cy="525897"/>
              </a:xfrm>
              <a:prstGeom prst="rect">
                <a:avLst/>
              </a:prstGeom>
              <a:solidFill>
                <a:srgbClr val="EB641B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h</a:t>
                </a:r>
              </a:p>
            </p:txBody>
          </p:sp>
        </p:grpSp>
      </p:grpSp>
      <p:grpSp>
        <p:nvGrpSpPr>
          <p:cNvPr id="8" name="Group 84"/>
          <p:cNvGrpSpPr>
            <a:grpSpLocks noChangeAspect="1"/>
          </p:cNvGrpSpPr>
          <p:nvPr/>
        </p:nvGrpSpPr>
        <p:grpSpPr bwMode="auto">
          <a:xfrm>
            <a:off x="1134547" y="4140200"/>
            <a:ext cx="1092715" cy="1747838"/>
            <a:chOff x="6035040" y="3886200"/>
            <a:chExt cx="1616391" cy="2586435"/>
          </a:xfrm>
        </p:grpSpPr>
        <p:grpSp>
          <p:nvGrpSpPr>
            <p:cNvPr id="9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391" cy="529035"/>
              <a:chOff x="6067258" y="4937760"/>
              <a:chExt cx="1616391" cy="529035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6067258" y="4941503"/>
                <a:ext cx="533184" cy="525896"/>
              </a:xfrm>
              <a:prstGeom prst="rect">
                <a:avLst/>
              </a:prstGeom>
              <a:solidFill>
                <a:srgbClr val="35385A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a</a:t>
                </a:r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6611667" y="4937760"/>
                <a:ext cx="533185" cy="5258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7150464" y="4937760"/>
                <a:ext cx="533185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  <p:grpSp>
          <p:nvGrpSpPr>
            <p:cNvPr id="10" name="Group 68"/>
            <p:cNvGrpSpPr>
              <a:grpSpLocks/>
            </p:cNvGrpSpPr>
            <p:nvPr/>
          </p:nvGrpSpPr>
          <p:grpSpPr bwMode="auto">
            <a:xfrm>
              <a:off x="6035040" y="4572000"/>
              <a:ext cx="1616391" cy="529035"/>
              <a:chOff x="6067258" y="4937760"/>
              <a:chExt cx="1616391" cy="529035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6067258" y="4940678"/>
                <a:ext cx="533184" cy="525896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6611667" y="4936935"/>
                <a:ext cx="533185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7150464" y="4936935"/>
                <a:ext cx="533185" cy="525896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  <p:grpSp>
          <p:nvGrpSpPr>
            <p:cNvPr id="11" name="Group 73"/>
            <p:cNvGrpSpPr>
              <a:grpSpLocks/>
            </p:cNvGrpSpPr>
            <p:nvPr/>
          </p:nvGrpSpPr>
          <p:grpSpPr bwMode="auto">
            <a:xfrm>
              <a:off x="6035040" y="5257800"/>
              <a:ext cx="1616391" cy="529035"/>
              <a:chOff x="6067258" y="4937760"/>
              <a:chExt cx="1616391" cy="529035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6067258" y="4941723"/>
                <a:ext cx="533184" cy="525897"/>
              </a:xfrm>
              <a:prstGeom prst="rect">
                <a:avLst/>
              </a:prstGeom>
              <a:solidFill>
                <a:srgbClr val="0080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6611667" y="4937980"/>
                <a:ext cx="533185" cy="525897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7150464" y="4937980"/>
                <a:ext cx="533185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  <p:grpSp>
          <p:nvGrpSpPr>
            <p:cNvPr id="12" name="Group 78"/>
            <p:cNvGrpSpPr>
              <a:grpSpLocks/>
            </p:cNvGrpSpPr>
            <p:nvPr/>
          </p:nvGrpSpPr>
          <p:grpSpPr bwMode="auto">
            <a:xfrm>
              <a:off x="6035040" y="5943600"/>
              <a:ext cx="1616391" cy="529035"/>
              <a:chOff x="6067258" y="4937760"/>
              <a:chExt cx="1616391" cy="529035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6067258" y="4940898"/>
                <a:ext cx="533184" cy="525897"/>
              </a:xfrm>
              <a:prstGeom prst="rect">
                <a:avLst/>
              </a:prstGeom>
              <a:solidFill>
                <a:srgbClr val="0032E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6611667" y="4937155"/>
                <a:ext cx="533185" cy="525897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7150464" y="4937155"/>
                <a:ext cx="533185" cy="525897"/>
              </a:xfrm>
              <a:prstGeom prst="rect">
                <a:avLst/>
              </a:prstGeom>
              <a:solidFill>
                <a:srgbClr val="2DA2BF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  <p:sp>
        <p:nvSpPr>
          <p:cNvPr id="37894" name="TextBox 105"/>
          <p:cNvSpPr txBox="1">
            <a:spLocks noChangeArrowheads="1"/>
          </p:cNvSpPr>
          <p:nvPr/>
        </p:nvSpPr>
        <p:spPr bwMode="auto">
          <a:xfrm>
            <a:off x="785595" y="3709988"/>
            <a:ext cx="183305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Lucida Sans Unicode" pitchFamily="34" charset="0"/>
              </a:rPr>
              <a:t>g’s Labels</a:t>
            </a:r>
          </a:p>
        </p:txBody>
      </p:sp>
      <p:grpSp>
        <p:nvGrpSpPr>
          <p:cNvPr id="13" name="Group 106"/>
          <p:cNvGrpSpPr>
            <a:grpSpLocks/>
          </p:cNvGrpSpPr>
          <p:nvPr/>
        </p:nvGrpSpPr>
        <p:grpSpPr bwMode="auto">
          <a:xfrm>
            <a:off x="4973638" y="4205288"/>
            <a:ext cx="3954462" cy="2460625"/>
            <a:chOff x="4659404" y="4020304"/>
            <a:chExt cx="3953415" cy="2461190"/>
          </a:xfrm>
        </p:grpSpPr>
        <p:sp>
          <p:nvSpPr>
            <p:cNvPr id="108" name="Oval 107"/>
            <p:cNvSpPr/>
            <p:nvPr/>
          </p:nvSpPr>
          <p:spPr>
            <a:xfrm>
              <a:off x="6368688" y="4020304"/>
              <a:ext cx="368202" cy="368385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4659404" y="4753897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5327564" y="4753897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4659404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5327564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13" name="Straight Connector 112"/>
            <p:cNvCxnSpPr>
              <a:stCxn id="110" idx="3"/>
              <a:endCxn id="111" idx="7"/>
            </p:cNvCxnSpPr>
            <p:nvPr/>
          </p:nvCxnSpPr>
          <p:spPr>
            <a:xfrm rot="5400000">
              <a:off x="4919558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>
              <a:stCxn id="109" idx="5"/>
              <a:endCxn id="112" idx="1"/>
            </p:cNvCxnSpPr>
            <p:nvPr/>
          </p:nvCxnSpPr>
          <p:spPr>
            <a:xfrm rot="16200000" flipH="1">
              <a:off x="4919558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110" idx="4"/>
              <a:endCxn id="112" idx="0"/>
            </p:cNvCxnSpPr>
            <p:nvPr/>
          </p:nvCxnSpPr>
          <p:spPr>
            <a:xfrm rot="5400000">
              <a:off x="5306037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5994138" y="4753897"/>
              <a:ext cx="369790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5994138" y="5530363"/>
              <a:ext cx="369790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18" name="Straight Connector 117"/>
            <p:cNvCxnSpPr>
              <a:stCxn id="116" idx="4"/>
              <a:endCxn id="117" idx="0"/>
            </p:cNvCxnSpPr>
            <p:nvPr/>
          </p:nvCxnSpPr>
          <p:spPr>
            <a:xfrm rot="5400000">
              <a:off x="5974198" y="5326323"/>
              <a:ext cx="409669" cy="15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stCxn id="116" idx="3"/>
              <a:endCxn id="112" idx="7"/>
            </p:cNvCxnSpPr>
            <p:nvPr/>
          </p:nvCxnSpPr>
          <p:spPr>
            <a:xfrm rot="5400000">
              <a:off x="5586924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10" idx="5"/>
              <a:endCxn id="117" idx="1"/>
            </p:cNvCxnSpPr>
            <p:nvPr/>
          </p:nvCxnSpPr>
          <p:spPr>
            <a:xfrm rot="16200000" flipH="1">
              <a:off x="5586924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16" idx="2"/>
              <a:endCxn id="111" idx="6"/>
            </p:cNvCxnSpPr>
            <p:nvPr/>
          </p:nvCxnSpPr>
          <p:spPr>
            <a:xfrm rot="10800000" flipV="1">
              <a:off x="5027606" y="4938090"/>
              <a:ext cx="966531" cy="7764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25" idx="1"/>
              <a:endCxn id="140" idx="5"/>
            </p:cNvCxnSpPr>
            <p:nvPr/>
          </p:nvCxnSpPr>
          <p:spPr>
            <a:xfrm rot="16200000" flipV="1">
              <a:off x="6093213" y="3938842"/>
              <a:ext cx="473184" cy="126490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108" idx="5"/>
              <a:endCxn id="126" idx="1"/>
            </p:cNvCxnSpPr>
            <p:nvPr/>
          </p:nvCxnSpPr>
          <p:spPr>
            <a:xfrm rot="16200000" flipH="1">
              <a:off x="6920081" y="4097550"/>
              <a:ext cx="473184" cy="9474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110" idx="7"/>
            </p:cNvCxnSpPr>
            <p:nvPr/>
          </p:nvCxnSpPr>
          <p:spPr>
            <a:xfrm rot="5400000">
              <a:off x="5795635" y="4180872"/>
              <a:ext cx="473184" cy="780843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124"/>
            <p:cNvSpPr/>
            <p:nvPr/>
          </p:nvSpPr>
          <p:spPr>
            <a:xfrm>
              <a:off x="6908295" y="4753897"/>
              <a:ext cx="369790" cy="368385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26" name="Oval 125"/>
            <p:cNvSpPr/>
            <p:nvPr/>
          </p:nvSpPr>
          <p:spPr>
            <a:xfrm>
              <a:off x="7576456" y="4753897"/>
              <a:ext cx="368202" cy="368385"/>
            </a:xfrm>
            <a:prstGeom prst="ellipse">
              <a:avLst/>
            </a:prstGeom>
            <a:solidFill>
              <a:srgbClr val="FFFF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e </a:t>
              </a:r>
            </a:p>
          </p:txBody>
        </p:sp>
        <p:sp>
          <p:nvSpPr>
            <p:cNvPr id="127" name="Oval 126"/>
            <p:cNvSpPr/>
            <p:nvPr/>
          </p:nvSpPr>
          <p:spPr>
            <a:xfrm>
              <a:off x="6908295" y="5530363"/>
              <a:ext cx="369790" cy="368385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28" name="Oval 127"/>
            <p:cNvSpPr/>
            <p:nvPr/>
          </p:nvSpPr>
          <p:spPr>
            <a:xfrm>
              <a:off x="7576456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9" name="Straight Connector 128"/>
            <p:cNvCxnSpPr>
              <a:stCxn id="125" idx="4"/>
              <a:endCxn id="127" idx="0"/>
            </p:cNvCxnSpPr>
            <p:nvPr/>
          </p:nvCxnSpPr>
          <p:spPr>
            <a:xfrm rot="5400000">
              <a:off x="6888355" y="5326323"/>
              <a:ext cx="409669" cy="15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26" idx="3"/>
              <a:endCxn id="127" idx="7"/>
            </p:cNvCxnSpPr>
            <p:nvPr/>
          </p:nvCxnSpPr>
          <p:spPr>
            <a:xfrm rot="5400000">
              <a:off x="7169243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25" idx="5"/>
              <a:endCxn id="128" idx="1"/>
            </p:cNvCxnSpPr>
            <p:nvPr/>
          </p:nvCxnSpPr>
          <p:spPr>
            <a:xfrm rot="16200000" flipH="1">
              <a:off x="7169243" y="5123177"/>
              <a:ext cx="516055" cy="40629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26" idx="4"/>
              <a:endCxn id="128" idx="0"/>
            </p:cNvCxnSpPr>
            <p:nvPr/>
          </p:nvCxnSpPr>
          <p:spPr>
            <a:xfrm rot="5400000">
              <a:off x="7556516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8244617" y="4753897"/>
              <a:ext cx="368202" cy="368385"/>
            </a:xfrm>
            <a:prstGeom prst="ellipse">
              <a:avLst/>
            </a:prstGeom>
            <a:solidFill>
              <a:schemeClr val="accent6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134" name="Oval 133"/>
            <p:cNvSpPr/>
            <p:nvPr/>
          </p:nvSpPr>
          <p:spPr>
            <a:xfrm>
              <a:off x="8244617" y="5530363"/>
              <a:ext cx="368202" cy="368385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35" name="Straight Connector 134"/>
            <p:cNvCxnSpPr>
              <a:stCxn id="133" idx="4"/>
              <a:endCxn id="134" idx="0"/>
            </p:cNvCxnSpPr>
            <p:nvPr/>
          </p:nvCxnSpPr>
          <p:spPr>
            <a:xfrm rot="5400000">
              <a:off x="8223090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33" idx="3"/>
              <a:endCxn id="128" idx="7"/>
            </p:cNvCxnSpPr>
            <p:nvPr/>
          </p:nvCxnSpPr>
          <p:spPr>
            <a:xfrm rot="5400000">
              <a:off x="7836610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26" idx="5"/>
              <a:endCxn id="134" idx="1"/>
            </p:cNvCxnSpPr>
            <p:nvPr/>
          </p:nvCxnSpPr>
          <p:spPr>
            <a:xfrm rot="16200000" flipH="1">
              <a:off x="7836610" y="5122383"/>
              <a:ext cx="516055" cy="40787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27" idx="6"/>
              <a:endCxn id="133" idx="2"/>
            </p:cNvCxnSpPr>
            <p:nvPr/>
          </p:nvCxnSpPr>
          <p:spPr>
            <a:xfrm flipV="1">
              <a:off x="7278085" y="4938090"/>
              <a:ext cx="966531" cy="7764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Oval 138"/>
            <p:cNvSpPr/>
            <p:nvPr/>
          </p:nvSpPr>
          <p:spPr>
            <a:xfrm>
              <a:off x="7522496" y="4020304"/>
              <a:ext cx="369789" cy="368385"/>
            </a:xfrm>
            <a:prstGeom prst="ellipse">
              <a:avLst/>
            </a:prstGeom>
            <a:solidFill>
              <a:srgbClr val="0032E7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40" name="Oval 139"/>
            <p:cNvSpPr/>
            <p:nvPr/>
          </p:nvSpPr>
          <p:spPr>
            <a:xfrm>
              <a:off x="5383112" y="4020304"/>
              <a:ext cx="368202" cy="36838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a</a:t>
              </a:r>
            </a:p>
          </p:txBody>
        </p:sp>
        <p:cxnSp>
          <p:nvCxnSpPr>
            <p:cNvPr id="141" name="Straight Connector 140"/>
            <p:cNvCxnSpPr>
              <a:stCxn id="140" idx="3"/>
              <a:endCxn id="109" idx="7"/>
            </p:cNvCxnSpPr>
            <p:nvPr/>
          </p:nvCxnSpPr>
          <p:spPr>
            <a:xfrm rot="5400000">
              <a:off x="4968767" y="4339580"/>
              <a:ext cx="473184" cy="46342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139" idx="3"/>
              <a:endCxn id="116" idx="7"/>
            </p:cNvCxnSpPr>
            <p:nvPr/>
          </p:nvCxnSpPr>
          <p:spPr>
            <a:xfrm rot="5400000">
              <a:off x="6706620" y="3938048"/>
              <a:ext cx="473184" cy="126649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39" idx="5"/>
              <a:endCxn id="133" idx="0"/>
            </p:cNvCxnSpPr>
            <p:nvPr/>
          </p:nvCxnSpPr>
          <p:spPr>
            <a:xfrm rot="16200000" flipH="1">
              <a:off x="7923923" y="4249102"/>
              <a:ext cx="419196" cy="59039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25" idx="6"/>
              <a:endCxn id="134" idx="2"/>
            </p:cNvCxnSpPr>
            <p:nvPr/>
          </p:nvCxnSpPr>
          <p:spPr>
            <a:xfrm>
              <a:off x="7278085" y="4938090"/>
              <a:ext cx="966531" cy="77646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>
              <a:stCxn id="140" idx="4"/>
              <a:endCxn id="110" idx="0"/>
            </p:cNvCxnSpPr>
            <p:nvPr/>
          </p:nvCxnSpPr>
          <p:spPr>
            <a:xfrm rot="5400000">
              <a:off x="5356835" y="4543519"/>
              <a:ext cx="365209" cy="5554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139" idx="1"/>
              <a:endCxn id="110" idx="6"/>
            </p:cNvCxnSpPr>
            <p:nvPr/>
          </p:nvCxnSpPr>
          <p:spPr>
            <a:xfrm rot="16200000" flipH="1" flipV="1">
              <a:off x="6204212" y="3565846"/>
              <a:ext cx="863798" cy="188069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>
              <a:stCxn id="109" idx="4"/>
              <a:endCxn id="111" idx="0"/>
            </p:cNvCxnSpPr>
            <p:nvPr/>
          </p:nvCxnSpPr>
          <p:spPr>
            <a:xfrm rot="5400000">
              <a:off x="4639464" y="5326323"/>
              <a:ext cx="409669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Rectangle 147"/>
            <p:cNvSpPr>
              <a:spLocks/>
            </p:cNvSpPr>
            <p:nvPr/>
          </p:nvSpPr>
          <p:spPr>
            <a:xfrm>
              <a:off x="6003660" y="6124224"/>
              <a:ext cx="355506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9" name="Rectangle 148"/>
            <p:cNvSpPr>
              <a:spLocks/>
            </p:cNvSpPr>
            <p:nvPr/>
          </p:nvSpPr>
          <p:spPr>
            <a:xfrm>
              <a:off x="5335500" y="6124224"/>
              <a:ext cx="357092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0" name="Rectangle 149"/>
            <p:cNvSpPr>
              <a:spLocks/>
            </p:cNvSpPr>
            <p:nvPr/>
          </p:nvSpPr>
          <p:spPr>
            <a:xfrm>
              <a:off x="7584391" y="6124224"/>
              <a:ext cx="355506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1" name="Rectangle 150"/>
            <p:cNvSpPr>
              <a:spLocks/>
            </p:cNvSpPr>
            <p:nvPr/>
          </p:nvSpPr>
          <p:spPr>
            <a:xfrm>
              <a:off x="6917818" y="6124224"/>
              <a:ext cx="355506" cy="357270"/>
            </a:xfrm>
            <a:prstGeom prst="rect">
              <a:avLst/>
            </a:prstGeom>
            <a:solidFill>
              <a:schemeClr val="accent3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152" name="Rectangle 151"/>
            <p:cNvSpPr>
              <a:spLocks/>
            </p:cNvSpPr>
            <p:nvPr/>
          </p:nvSpPr>
          <p:spPr>
            <a:xfrm>
              <a:off x="4668926" y="6124224"/>
              <a:ext cx="355506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3" name="Rectangle 152"/>
            <p:cNvSpPr>
              <a:spLocks/>
            </p:cNvSpPr>
            <p:nvPr/>
          </p:nvSpPr>
          <p:spPr>
            <a:xfrm>
              <a:off x="8252552" y="6124224"/>
              <a:ext cx="357092" cy="35727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54" name="Straight Connector 153"/>
            <p:cNvCxnSpPr>
              <a:stCxn id="152" idx="0"/>
              <a:endCxn id="111" idx="4"/>
            </p:cNvCxnSpPr>
            <p:nvPr/>
          </p:nvCxnSpPr>
          <p:spPr>
            <a:xfrm rot="16200000" flipV="1">
              <a:off x="4732354" y="6009899"/>
              <a:ext cx="225477" cy="31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>
              <a:stCxn id="149" idx="0"/>
              <a:endCxn id="112" idx="4"/>
            </p:cNvCxnSpPr>
            <p:nvPr/>
          </p:nvCxnSpPr>
          <p:spPr>
            <a:xfrm rot="16200000" flipV="1">
              <a:off x="5399720" y="6010692"/>
              <a:ext cx="225477" cy="15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>
              <a:stCxn id="148" idx="0"/>
              <a:endCxn id="117" idx="4"/>
            </p:cNvCxnSpPr>
            <p:nvPr/>
          </p:nvCxnSpPr>
          <p:spPr>
            <a:xfrm rot="16200000" flipV="1">
              <a:off x="6067087" y="6009899"/>
              <a:ext cx="225477" cy="31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151" idx="0"/>
              <a:endCxn id="127" idx="4"/>
            </p:cNvCxnSpPr>
            <p:nvPr/>
          </p:nvCxnSpPr>
          <p:spPr>
            <a:xfrm rot="16200000" flipV="1">
              <a:off x="6982039" y="6010692"/>
              <a:ext cx="225477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150" idx="0"/>
              <a:endCxn id="128" idx="4"/>
            </p:cNvCxnSpPr>
            <p:nvPr/>
          </p:nvCxnSpPr>
          <p:spPr>
            <a:xfrm rot="16200000" flipV="1">
              <a:off x="7648613" y="6010692"/>
              <a:ext cx="225477" cy="158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>
              <a:stCxn id="153" idx="0"/>
              <a:endCxn id="134" idx="4"/>
            </p:cNvCxnSpPr>
            <p:nvPr/>
          </p:nvCxnSpPr>
          <p:spPr>
            <a:xfrm rot="16200000" flipV="1">
              <a:off x="8317566" y="6009899"/>
              <a:ext cx="225477" cy="31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133" idx="1"/>
              <a:endCxn id="108" idx="6"/>
            </p:cNvCxnSpPr>
            <p:nvPr/>
          </p:nvCxnSpPr>
          <p:spPr>
            <a:xfrm rot="16200000" flipV="1">
              <a:off x="7216040" y="3725347"/>
              <a:ext cx="603389" cy="156168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Slide Number Placeholder 10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598987"/>
          </a:xfrm>
        </p:spPr>
        <p:txBody>
          <a:bodyPr/>
          <a:lstStyle/>
          <a:p>
            <a:r>
              <a:rPr lang="en-US" dirty="0" smtClean="0"/>
              <a:t>Continuously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Overlay appropriate hierarchy on network fabric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Group sets of related switches into </a:t>
            </a:r>
            <a:r>
              <a:rPr lang="en-US" i="1" dirty="0" smtClean="0"/>
              <a:t>hypernodes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Assign </a:t>
            </a:r>
            <a:r>
              <a:rPr lang="en-US" i="1" dirty="0" smtClean="0"/>
              <a:t>coordinates</a:t>
            </a:r>
            <a:r>
              <a:rPr lang="en-US" dirty="0" smtClean="0"/>
              <a:t> to switches</a:t>
            </a:r>
            <a:endParaRPr lang="en-US" i="1" dirty="0" smtClean="0"/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Combine coordinates to form </a:t>
            </a:r>
            <a:r>
              <a:rPr lang="en-US" i="1" dirty="0" smtClean="0"/>
              <a:t>labels</a:t>
            </a:r>
          </a:p>
          <a:p>
            <a:endParaRPr lang="en-US" dirty="0" smtClean="0"/>
          </a:p>
          <a:p>
            <a:r>
              <a:rPr lang="en-US" dirty="0" smtClean="0"/>
              <a:t>Periodic state exchange between immediate neighbors</a:t>
            </a:r>
          </a:p>
          <a:p>
            <a:pPr>
              <a:buFont typeface="Wingdings 3" pitchFamily="18" charset="2"/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Distributed Protocol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1160462"/>
          </a:xfrm>
        </p:spPr>
        <p:txBody>
          <a:bodyPr/>
          <a:lstStyle/>
          <a:p>
            <a:r>
              <a:rPr lang="en-US" dirty="0" smtClean="0"/>
              <a:t>Switches are at levels 1 through n</a:t>
            </a:r>
            <a:endParaRPr lang="en-US" dirty="0" smtClean="0">
              <a:latin typeface="Brush Script MT Italic" pitchFamily="66" charset="0"/>
            </a:endParaRPr>
          </a:p>
          <a:p>
            <a:r>
              <a:rPr lang="en-US" dirty="0" smtClean="0"/>
              <a:t>Hosts are at level 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1. Overlay Hierarchy</a:t>
            </a:r>
            <a:endParaRPr lang="en-US" dirty="0"/>
          </a:p>
        </p:txBody>
      </p:sp>
      <p:grpSp>
        <p:nvGrpSpPr>
          <p:cNvPr id="3" name="Group 574"/>
          <p:cNvGrpSpPr>
            <a:grpSpLocks/>
          </p:cNvGrpSpPr>
          <p:nvPr/>
        </p:nvGrpSpPr>
        <p:grpSpPr bwMode="auto">
          <a:xfrm>
            <a:off x="1219200" y="2752725"/>
            <a:ext cx="7702550" cy="3432175"/>
            <a:chOff x="1219308" y="2752670"/>
            <a:chExt cx="7702278" cy="3432472"/>
          </a:xfrm>
        </p:grpSpPr>
        <p:cxnSp>
          <p:nvCxnSpPr>
            <p:cNvPr id="80" name="Straight Connector 79"/>
            <p:cNvCxnSpPr>
              <a:stCxn id="76" idx="4"/>
              <a:endCxn id="78" idx="0"/>
            </p:cNvCxnSpPr>
            <p:nvPr/>
          </p:nvCxnSpPr>
          <p:spPr>
            <a:xfrm rot="5400000">
              <a:off x="5485536" y="2747187"/>
              <a:ext cx="452477" cy="120010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1" idx="3"/>
              <a:endCxn id="62" idx="7"/>
            </p:cNvCxnSpPr>
            <p:nvPr/>
          </p:nvCxnSpPr>
          <p:spPr>
            <a:xfrm rot="5400000" flipH="1">
              <a:off x="2192402" y="3036946"/>
              <a:ext cx="154001" cy="147156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0" idx="5"/>
              <a:endCxn id="63" idx="1"/>
            </p:cNvCxnSpPr>
            <p:nvPr/>
          </p:nvCxnSpPr>
          <p:spPr>
            <a:xfrm rot="5400000">
              <a:off x="1450196" y="4039459"/>
              <a:ext cx="1400296" cy="13493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61" idx="4"/>
              <a:endCxn id="63" idx="0"/>
            </p:cNvCxnSpPr>
            <p:nvPr/>
          </p:nvCxnSpPr>
          <p:spPr>
            <a:xfrm rot="5400000">
              <a:off x="2249508" y="3867248"/>
              <a:ext cx="849385" cy="92230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67" idx="4"/>
              <a:endCxn id="68" idx="0"/>
            </p:cNvCxnSpPr>
            <p:nvPr/>
          </p:nvCxnSpPr>
          <p:spPr>
            <a:xfrm rot="5400000" flipH="1">
              <a:off x="3132072" y="4803959"/>
              <a:ext cx="1752752" cy="100961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67" idx="3"/>
              <a:endCxn id="63" idx="7"/>
            </p:cNvCxnSpPr>
            <p:nvPr/>
          </p:nvCxnSpPr>
          <p:spPr>
            <a:xfrm rot="5400000" flipH="1">
              <a:off x="2700312" y="4449979"/>
              <a:ext cx="1324090" cy="203827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1" idx="5"/>
              <a:endCxn id="68" idx="1"/>
            </p:cNvCxnSpPr>
            <p:nvPr/>
          </p:nvCxnSpPr>
          <p:spPr>
            <a:xfrm rot="16200000" flipH="1">
              <a:off x="3001175" y="4114076"/>
              <a:ext cx="636642" cy="10794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7" idx="2"/>
              <a:endCxn id="62" idx="6"/>
            </p:cNvCxnSpPr>
            <p:nvPr/>
          </p:nvCxnSpPr>
          <p:spPr>
            <a:xfrm rot="10800000">
              <a:off x="1587595" y="3827501"/>
              <a:ext cx="2739928" cy="21734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76" idx="1"/>
              <a:endCxn id="91" idx="5"/>
            </p:cNvCxnSpPr>
            <p:nvPr/>
          </p:nvCxnSpPr>
          <p:spPr>
            <a:xfrm rot="16200000" flipH="1" flipV="1">
              <a:off x="5112478" y="2337597"/>
              <a:ext cx="600127" cy="153823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59" idx="5"/>
              <a:endCxn id="77" idx="1"/>
            </p:cNvCxnSpPr>
            <p:nvPr/>
          </p:nvCxnSpPr>
          <p:spPr>
            <a:xfrm rot="5400000" flipH="1" flipV="1">
              <a:off x="5086282" y="2571811"/>
              <a:ext cx="650931" cy="216844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59" idx="3"/>
              <a:endCxn id="61" idx="7"/>
            </p:cNvCxnSpPr>
            <p:nvPr/>
          </p:nvCxnSpPr>
          <p:spPr>
            <a:xfrm rot="5400000" flipH="1">
              <a:off x="3470281" y="3384599"/>
              <a:ext cx="392146" cy="80165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77" idx="3"/>
              <a:endCxn id="78" idx="7"/>
            </p:cNvCxnSpPr>
            <p:nvPr/>
          </p:nvCxnSpPr>
          <p:spPr>
            <a:xfrm rot="5400000">
              <a:off x="5850673" y="2982160"/>
              <a:ext cx="36516" cy="125408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76" idx="5"/>
              <a:endCxn id="79" idx="1"/>
            </p:cNvCxnSpPr>
            <p:nvPr/>
          </p:nvCxnSpPr>
          <p:spPr>
            <a:xfrm rot="16200000" flipH="1">
              <a:off x="7025323" y="2483698"/>
              <a:ext cx="998624" cy="216527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77" idx="4"/>
              <a:endCxn id="79" idx="0"/>
            </p:cNvCxnSpPr>
            <p:nvPr/>
          </p:nvCxnSpPr>
          <p:spPr>
            <a:xfrm rot="16200000" flipH="1">
              <a:off x="7498420" y="2772644"/>
              <a:ext cx="366745" cy="211130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84" idx="4"/>
              <a:endCxn id="85" idx="0"/>
            </p:cNvCxnSpPr>
            <p:nvPr/>
          </p:nvCxnSpPr>
          <p:spPr>
            <a:xfrm rot="5400000" flipH="1" flipV="1">
              <a:off x="6271162" y="3715648"/>
              <a:ext cx="3064140" cy="124614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84" idx="3"/>
              <a:endCxn id="79" idx="7"/>
            </p:cNvCxnSpPr>
            <p:nvPr/>
          </p:nvCxnSpPr>
          <p:spPr>
            <a:xfrm rot="5400000" flipH="1" flipV="1">
              <a:off x="7083220" y="4032416"/>
              <a:ext cx="1751164" cy="181762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77" idx="5"/>
              <a:endCxn id="85" idx="1"/>
            </p:cNvCxnSpPr>
            <p:nvPr/>
          </p:nvCxnSpPr>
          <p:spPr>
            <a:xfrm rot="5400000" flipH="1" flipV="1">
              <a:off x="7161861" y="2456669"/>
              <a:ext cx="730313" cy="153823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78" idx="6"/>
              <a:endCxn id="84" idx="2"/>
            </p:cNvCxnSpPr>
            <p:nvPr/>
          </p:nvCxnSpPr>
          <p:spPr>
            <a:xfrm>
              <a:off x="5295864" y="3757645"/>
              <a:ext cx="1700153" cy="192739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91" idx="3"/>
              <a:endCxn id="60" idx="7"/>
            </p:cNvCxnSpPr>
            <p:nvPr/>
          </p:nvCxnSpPr>
          <p:spPr>
            <a:xfrm rot="5400000" flipH="1">
              <a:off x="3169467" y="2194748"/>
              <a:ext cx="260373" cy="216368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90" idx="3"/>
              <a:endCxn id="67" idx="7"/>
            </p:cNvCxnSpPr>
            <p:nvPr/>
          </p:nvCxnSpPr>
          <p:spPr>
            <a:xfrm rot="5400000" flipH="1">
              <a:off x="5169649" y="5344566"/>
              <a:ext cx="225445" cy="127789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90" idx="5"/>
              <a:endCxn id="84" idx="0"/>
            </p:cNvCxnSpPr>
            <p:nvPr/>
          </p:nvCxnSpPr>
          <p:spPr>
            <a:xfrm rot="5400000" flipH="1" flipV="1">
              <a:off x="6383227" y="5299301"/>
              <a:ext cx="595364" cy="99850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76" idx="6"/>
              <a:endCxn id="85" idx="2"/>
            </p:cNvCxnSpPr>
            <p:nvPr/>
          </p:nvCxnSpPr>
          <p:spPr>
            <a:xfrm>
              <a:off x="6495972" y="2936836"/>
              <a:ext cx="1746188" cy="5398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stCxn id="91" idx="4"/>
              <a:endCxn id="61" idx="0"/>
            </p:cNvCxnSpPr>
            <p:nvPr/>
          </p:nvCxnSpPr>
          <p:spPr>
            <a:xfrm rot="5400000">
              <a:off x="3786994" y="2809116"/>
              <a:ext cx="74619" cy="137790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90" idx="1"/>
              <a:endCxn id="61" idx="6"/>
            </p:cNvCxnSpPr>
            <p:nvPr/>
          </p:nvCxnSpPr>
          <p:spPr>
            <a:xfrm rot="16200000" flipV="1">
              <a:off x="3563040" y="3475998"/>
              <a:ext cx="2114733" cy="260182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60" idx="4"/>
              <a:endCxn id="62" idx="0"/>
            </p:cNvCxnSpPr>
            <p:nvPr/>
          </p:nvCxnSpPr>
          <p:spPr>
            <a:xfrm rot="5400000">
              <a:off x="1655051" y="3209157"/>
              <a:ext cx="180991" cy="68418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03" idx="0"/>
              <a:endCxn id="62" idx="4"/>
            </p:cNvCxnSpPr>
            <p:nvPr/>
          </p:nvCxnSpPr>
          <p:spPr>
            <a:xfrm rot="16200000" flipV="1">
              <a:off x="1292317" y="4122802"/>
              <a:ext cx="225445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00" idx="0"/>
              <a:endCxn id="63" idx="4"/>
            </p:cNvCxnSpPr>
            <p:nvPr/>
          </p:nvCxnSpPr>
          <p:spPr>
            <a:xfrm rot="16200000" flipV="1">
              <a:off x="2101913" y="5234148"/>
              <a:ext cx="223856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99" idx="0"/>
              <a:endCxn id="68" idx="4"/>
            </p:cNvCxnSpPr>
            <p:nvPr/>
          </p:nvCxnSpPr>
          <p:spPr>
            <a:xfrm rot="16200000" flipV="1">
              <a:off x="3392506" y="4911857"/>
              <a:ext cx="225445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02" idx="0"/>
              <a:endCxn id="78" idx="4"/>
            </p:cNvCxnSpPr>
            <p:nvPr/>
          </p:nvCxnSpPr>
          <p:spPr>
            <a:xfrm rot="16200000" flipV="1">
              <a:off x="4999792" y="4053740"/>
              <a:ext cx="225445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101" idx="0"/>
              <a:endCxn id="79" idx="4"/>
            </p:cNvCxnSpPr>
            <p:nvPr/>
          </p:nvCxnSpPr>
          <p:spPr>
            <a:xfrm rot="16200000" flipV="1">
              <a:off x="8624720" y="4492722"/>
              <a:ext cx="225445" cy="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04" idx="0"/>
              <a:endCxn id="85" idx="4"/>
            </p:cNvCxnSpPr>
            <p:nvPr/>
          </p:nvCxnSpPr>
          <p:spPr>
            <a:xfrm rot="16200000" flipV="1">
              <a:off x="8315169" y="3286116"/>
              <a:ext cx="225445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stCxn id="84" idx="1"/>
              <a:endCxn id="59" idx="6"/>
            </p:cNvCxnSpPr>
            <p:nvPr/>
          </p:nvCxnSpPr>
          <p:spPr>
            <a:xfrm rot="16200000" flipV="1">
              <a:off x="4863976" y="3368836"/>
              <a:ext cx="1703535" cy="266849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4013209" y="3667149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1903497" y="3092424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2951210" y="3535376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1219308" y="3641747"/>
              <a:ext cx="368287" cy="3699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2028904" y="4753093"/>
              <a:ext cx="368287" cy="3699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4327523" y="5816810"/>
              <a:ext cx="369875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3319497" y="4432390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6127685" y="2752670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6441999" y="3276590"/>
              <a:ext cx="369875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8553299" y="4011667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6996017" y="5500871"/>
              <a:ext cx="368287" cy="3699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5867344" y="5780295"/>
              <a:ext cx="368287" cy="3699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4327523" y="3092424"/>
              <a:ext cx="369875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/>
            <p:cNvSpPr>
              <a:spLocks/>
            </p:cNvSpPr>
            <p:nvPr/>
          </p:nvSpPr>
          <p:spPr>
            <a:xfrm>
              <a:off x="3329021" y="5026167"/>
              <a:ext cx="355587" cy="35721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/>
            <p:cNvSpPr>
              <a:spLocks/>
            </p:cNvSpPr>
            <p:nvPr/>
          </p:nvSpPr>
          <p:spPr>
            <a:xfrm>
              <a:off x="2036842" y="5346869"/>
              <a:ext cx="357174" cy="35721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/>
            <p:cNvSpPr>
              <a:spLocks/>
            </p:cNvSpPr>
            <p:nvPr/>
          </p:nvSpPr>
          <p:spPr>
            <a:xfrm>
              <a:off x="8559649" y="4605443"/>
              <a:ext cx="355587" cy="35721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/>
            <p:cNvSpPr>
              <a:spLocks/>
            </p:cNvSpPr>
            <p:nvPr/>
          </p:nvSpPr>
          <p:spPr>
            <a:xfrm>
              <a:off x="4935515" y="4167255"/>
              <a:ext cx="355587" cy="35721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/>
            <p:cNvSpPr>
              <a:spLocks/>
            </p:cNvSpPr>
            <p:nvPr/>
          </p:nvSpPr>
          <p:spPr>
            <a:xfrm>
              <a:off x="1228833" y="4237111"/>
              <a:ext cx="355587" cy="35563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85" name="Oval 84"/>
            <p:cNvSpPr/>
            <p:nvPr/>
          </p:nvSpPr>
          <p:spPr>
            <a:xfrm>
              <a:off x="8242160" y="2806650"/>
              <a:ext cx="368287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/>
            <p:cNvSpPr>
              <a:spLocks/>
            </p:cNvSpPr>
            <p:nvPr/>
          </p:nvSpPr>
          <p:spPr>
            <a:xfrm>
              <a:off x="8250098" y="3400426"/>
              <a:ext cx="357174" cy="35721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4925990" y="3573479"/>
              <a:ext cx="369874" cy="368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575"/>
          <p:cNvGrpSpPr>
            <a:grpSpLocks/>
          </p:cNvGrpSpPr>
          <p:nvPr/>
        </p:nvGrpSpPr>
        <p:grpSpPr bwMode="auto">
          <a:xfrm>
            <a:off x="1219200" y="2752725"/>
            <a:ext cx="7702550" cy="3090863"/>
            <a:chOff x="1219308" y="2752670"/>
            <a:chExt cx="7702278" cy="3090346"/>
          </a:xfrm>
        </p:grpSpPr>
        <p:cxnSp>
          <p:nvCxnSpPr>
            <p:cNvPr id="577" name="Straight Connector 576"/>
            <p:cNvCxnSpPr>
              <a:stCxn id="616" idx="4"/>
              <a:endCxn id="629" idx="0"/>
            </p:cNvCxnSpPr>
            <p:nvPr/>
          </p:nvCxnSpPr>
          <p:spPr>
            <a:xfrm rot="5400000">
              <a:off x="5485593" y="2747036"/>
              <a:ext cx="452362" cy="120010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/>
            <p:cNvCxnSpPr>
              <a:stCxn id="611" idx="3"/>
              <a:endCxn id="612" idx="7"/>
            </p:cNvCxnSpPr>
            <p:nvPr/>
          </p:nvCxnSpPr>
          <p:spPr>
            <a:xfrm rot="5400000" flipH="1">
              <a:off x="2193216" y="3037481"/>
              <a:ext cx="152375" cy="147156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/>
            <p:cNvCxnSpPr>
              <a:stCxn id="610" idx="5"/>
              <a:endCxn id="613" idx="1"/>
            </p:cNvCxnSpPr>
            <p:nvPr/>
          </p:nvCxnSpPr>
          <p:spPr>
            <a:xfrm rot="5400000">
              <a:off x="1450373" y="4039115"/>
              <a:ext cx="1399941" cy="13493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/>
            <p:cNvCxnSpPr>
              <a:stCxn id="611" idx="4"/>
              <a:endCxn id="613" idx="0"/>
            </p:cNvCxnSpPr>
            <p:nvPr/>
          </p:nvCxnSpPr>
          <p:spPr>
            <a:xfrm rot="5400000">
              <a:off x="2249616" y="3866848"/>
              <a:ext cx="849170" cy="92230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/>
            <p:cNvCxnSpPr>
              <a:stCxn id="614" idx="4"/>
              <a:endCxn id="615" idx="0"/>
            </p:cNvCxnSpPr>
            <p:nvPr/>
          </p:nvCxnSpPr>
          <p:spPr>
            <a:xfrm rot="5400000" flipH="1">
              <a:off x="3469567" y="4286680"/>
              <a:ext cx="874567" cy="79689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/>
            <p:cNvCxnSpPr>
              <a:stCxn id="614" idx="3"/>
              <a:endCxn id="613" idx="7"/>
            </p:cNvCxnSpPr>
            <p:nvPr/>
          </p:nvCxnSpPr>
          <p:spPr>
            <a:xfrm rot="5400000" flipH="1">
              <a:off x="3128227" y="4021543"/>
              <a:ext cx="261894" cy="183191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/>
            <p:cNvCxnSpPr>
              <a:stCxn id="611" idx="5"/>
              <a:endCxn id="615" idx="1"/>
            </p:cNvCxnSpPr>
            <p:nvPr/>
          </p:nvCxnSpPr>
          <p:spPr>
            <a:xfrm rot="16200000" flipH="1">
              <a:off x="3094904" y="4020070"/>
              <a:ext cx="452361" cy="11112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/>
            <p:cNvCxnSpPr>
              <a:stCxn id="614" idx="2"/>
              <a:endCxn id="612" idx="6"/>
            </p:cNvCxnSpPr>
            <p:nvPr/>
          </p:nvCxnSpPr>
          <p:spPr>
            <a:xfrm rot="10800000">
              <a:off x="1587595" y="3827228"/>
              <a:ext cx="2533561" cy="111106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/>
            <p:cNvCxnSpPr>
              <a:stCxn id="616" idx="1"/>
              <a:endCxn id="621" idx="5"/>
            </p:cNvCxnSpPr>
            <p:nvPr/>
          </p:nvCxnSpPr>
          <p:spPr>
            <a:xfrm rot="16200000" flipH="1" flipV="1">
              <a:off x="5112554" y="2337507"/>
              <a:ext cx="599975" cy="153823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/>
            <p:cNvCxnSpPr>
              <a:stCxn id="609" idx="5"/>
              <a:endCxn id="617" idx="1"/>
            </p:cNvCxnSpPr>
            <p:nvPr/>
          </p:nvCxnSpPr>
          <p:spPr>
            <a:xfrm rot="5400000" flipH="1" flipV="1">
              <a:off x="5087158" y="2572376"/>
              <a:ext cx="650766" cy="216686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/>
            <p:cNvCxnSpPr>
              <a:stCxn id="609" idx="3"/>
              <a:endCxn id="611" idx="7"/>
            </p:cNvCxnSpPr>
            <p:nvPr/>
          </p:nvCxnSpPr>
          <p:spPr>
            <a:xfrm rot="5400000" flipH="1">
              <a:off x="3471124" y="3383542"/>
              <a:ext cx="392046" cy="80324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/>
            <p:cNvCxnSpPr>
              <a:stCxn id="617" idx="3"/>
              <a:endCxn id="629" idx="7"/>
            </p:cNvCxnSpPr>
            <p:nvPr/>
          </p:nvCxnSpPr>
          <p:spPr>
            <a:xfrm rot="5400000">
              <a:off x="5850678" y="2981943"/>
              <a:ext cx="36507" cy="125408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/>
            <p:cNvCxnSpPr>
              <a:stCxn id="616" idx="5"/>
              <a:endCxn id="618" idx="1"/>
            </p:cNvCxnSpPr>
            <p:nvPr/>
          </p:nvCxnSpPr>
          <p:spPr>
            <a:xfrm rot="16200000" flipH="1">
              <a:off x="7025450" y="2483491"/>
              <a:ext cx="998371" cy="216527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/>
            <p:cNvCxnSpPr>
              <a:stCxn id="617" idx="4"/>
              <a:endCxn id="618" idx="0"/>
            </p:cNvCxnSpPr>
            <p:nvPr/>
          </p:nvCxnSpPr>
          <p:spPr>
            <a:xfrm rot="16200000" flipH="1">
              <a:off x="7498466" y="2772371"/>
              <a:ext cx="366652" cy="211130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/>
            <p:cNvCxnSpPr>
              <a:stCxn id="619" idx="4"/>
              <a:endCxn id="627" idx="0"/>
            </p:cNvCxnSpPr>
            <p:nvPr/>
          </p:nvCxnSpPr>
          <p:spPr>
            <a:xfrm rot="5400000" flipH="1" flipV="1">
              <a:off x="6805627" y="2758910"/>
              <a:ext cx="1572950" cy="166840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/>
            <p:cNvCxnSpPr>
              <a:stCxn id="619" idx="3"/>
              <a:endCxn id="618" idx="7"/>
            </p:cNvCxnSpPr>
            <p:nvPr/>
          </p:nvCxnSpPr>
          <p:spPr>
            <a:xfrm rot="5400000" flipH="1" flipV="1">
              <a:off x="7616724" y="3074731"/>
              <a:ext cx="260306" cy="224147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/>
            <p:cNvCxnSpPr>
              <a:stCxn id="617" idx="5"/>
              <a:endCxn id="627" idx="1"/>
            </p:cNvCxnSpPr>
            <p:nvPr/>
          </p:nvCxnSpPr>
          <p:spPr>
            <a:xfrm rot="5400000" flipH="1" flipV="1">
              <a:off x="7161953" y="2456549"/>
              <a:ext cx="730128" cy="153823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/>
            <p:cNvCxnSpPr>
              <a:stCxn id="629" idx="6"/>
              <a:endCxn id="619" idx="2"/>
            </p:cNvCxnSpPr>
            <p:nvPr/>
          </p:nvCxnSpPr>
          <p:spPr>
            <a:xfrm>
              <a:off x="5295864" y="3757390"/>
              <a:ext cx="1276305" cy="43807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/>
            <p:cNvCxnSpPr>
              <a:stCxn id="621" idx="3"/>
              <a:endCxn id="610" idx="7"/>
            </p:cNvCxnSpPr>
            <p:nvPr/>
          </p:nvCxnSpPr>
          <p:spPr>
            <a:xfrm rot="5400000" flipH="1">
              <a:off x="3169500" y="2194615"/>
              <a:ext cx="260306" cy="216368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/>
            <p:cNvCxnSpPr>
              <a:stCxn id="620" idx="3"/>
              <a:endCxn id="614" idx="7"/>
            </p:cNvCxnSpPr>
            <p:nvPr/>
          </p:nvCxnSpPr>
          <p:spPr>
            <a:xfrm rot="5400000" flipH="1">
              <a:off x="4725195" y="4518413"/>
              <a:ext cx="261894" cy="83817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/>
            <p:cNvCxnSpPr>
              <a:stCxn id="620" idx="5"/>
              <a:endCxn id="619" idx="0"/>
            </p:cNvCxnSpPr>
            <p:nvPr/>
          </p:nvCxnSpPr>
          <p:spPr>
            <a:xfrm rot="5400000" flipH="1" flipV="1">
              <a:off x="5618185" y="3928731"/>
              <a:ext cx="1057098" cy="122233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/>
            <p:cNvCxnSpPr>
              <a:stCxn id="616" idx="6"/>
              <a:endCxn id="627" idx="2"/>
            </p:cNvCxnSpPr>
            <p:nvPr/>
          </p:nvCxnSpPr>
          <p:spPr>
            <a:xfrm>
              <a:off x="6495972" y="2936789"/>
              <a:ext cx="1746188" cy="5396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/>
            <p:cNvCxnSpPr>
              <a:stCxn id="621" idx="4"/>
              <a:endCxn id="611" idx="0"/>
            </p:cNvCxnSpPr>
            <p:nvPr/>
          </p:nvCxnSpPr>
          <p:spPr>
            <a:xfrm rot="5400000">
              <a:off x="3787003" y="2808927"/>
              <a:ext cx="74601" cy="137790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/>
            <p:cNvCxnSpPr>
              <a:stCxn id="620" idx="1"/>
              <a:endCxn id="611" idx="6"/>
            </p:cNvCxnSpPr>
            <p:nvPr/>
          </p:nvCxnSpPr>
          <p:spPr>
            <a:xfrm rot="16200000" flipV="1">
              <a:off x="3753734" y="3285059"/>
              <a:ext cx="1087255" cy="195573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/>
            <p:cNvCxnSpPr>
              <a:stCxn id="610" idx="4"/>
              <a:endCxn id="612" idx="0"/>
            </p:cNvCxnSpPr>
            <p:nvPr/>
          </p:nvCxnSpPr>
          <p:spPr>
            <a:xfrm rot="5400000">
              <a:off x="1654280" y="3209748"/>
              <a:ext cx="182532" cy="68418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/>
            <p:cNvCxnSpPr>
              <a:stCxn id="626" idx="0"/>
              <a:endCxn id="612" idx="4"/>
            </p:cNvCxnSpPr>
            <p:nvPr/>
          </p:nvCxnSpPr>
          <p:spPr>
            <a:xfrm rot="16200000" flipV="1">
              <a:off x="1360688" y="4054111"/>
              <a:ext cx="1474540" cy="138901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/>
            <p:cNvCxnSpPr>
              <a:stCxn id="623" idx="0"/>
              <a:endCxn id="613" idx="4"/>
            </p:cNvCxnSpPr>
            <p:nvPr/>
          </p:nvCxnSpPr>
          <p:spPr>
            <a:xfrm rot="16200000" flipV="1">
              <a:off x="2655175" y="4680284"/>
              <a:ext cx="363476" cy="124773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/>
            <p:cNvCxnSpPr>
              <a:stCxn id="622" idx="0"/>
              <a:endCxn id="615" idx="4"/>
            </p:cNvCxnSpPr>
            <p:nvPr/>
          </p:nvCxnSpPr>
          <p:spPr>
            <a:xfrm rot="16200000" flipV="1">
              <a:off x="3383052" y="4741433"/>
              <a:ext cx="869804" cy="61910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/>
            <p:cNvCxnSpPr>
              <a:stCxn id="625" idx="0"/>
              <a:endCxn id="629" idx="4"/>
            </p:cNvCxnSpPr>
            <p:nvPr/>
          </p:nvCxnSpPr>
          <p:spPr>
            <a:xfrm rot="5400000" flipH="1" flipV="1">
              <a:off x="4304607" y="4678775"/>
              <a:ext cx="1544379" cy="6984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605"/>
            <p:cNvCxnSpPr>
              <a:stCxn id="624" idx="0"/>
              <a:endCxn id="618" idx="4"/>
            </p:cNvCxnSpPr>
            <p:nvPr/>
          </p:nvCxnSpPr>
          <p:spPr>
            <a:xfrm rot="5400000" flipH="1" flipV="1">
              <a:off x="7004027" y="3752473"/>
              <a:ext cx="1106302" cy="236052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/>
            <p:cNvCxnSpPr>
              <a:stCxn id="628" idx="0"/>
              <a:endCxn id="627" idx="4"/>
            </p:cNvCxnSpPr>
            <p:nvPr/>
          </p:nvCxnSpPr>
          <p:spPr>
            <a:xfrm rot="5400000" flipH="1" flipV="1">
              <a:off x="5913533" y="2973117"/>
              <a:ext cx="2309426" cy="271611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/>
            <p:cNvCxnSpPr>
              <a:stCxn id="619" idx="1"/>
              <a:endCxn id="609" idx="6"/>
            </p:cNvCxnSpPr>
            <p:nvPr/>
          </p:nvCxnSpPr>
          <p:spPr>
            <a:xfrm rot="16200000" flipV="1">
              <a:off x="5396682" y="2835852"/>
              <a:ext cx="215864" cy="224305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9" name="Oval 608"/>
            <p:cNvSpPr/>
            <p:nvPr/>
          </p:nvSpPr>
          <p:spPr>
            <a:xfrm>
              <a:off x="4014797" y="3665330"/>
              <a:ext cx="368287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0" name="Oval 609"/>
            <p:cNvSpPr/>
            <p:nvPr/>
          </p:nvSpPr>
          <p:spPr>
            <a:xfrm>
              <a:off x="1903497" y="3092338"/>
              <a:ext cx="36828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1" name="Oval 610"/>
            <p:cNvSpPr/>
            <p:nvPr/>
          </p:nvSpPr>
          <p:spPr>
            <a:xfrm>
              <a:off x="2951210" y="3535177"/>
              <a:ext cx="36828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2" name="Oval 611"/>
            <p:cNvSpPr/>
            <p:nvPr/>
          </p:nvSpPr>
          <p:spPr>
            <a:xfrm>
              <a:off x="1219308" y="3643109"/>
              <a:ext cx="36828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3" name="Oval 612"/>
            <p:cNvSpPr/>
            <p:nvPr/>
          </p:nvSpPr>
          <p:spPr>
            <a:xfrm>
              <a:off x="2028904" y="4752585"/>
              <a:ext cx="368287" cy="3698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4" name="Oval 613"/>
            <p:cNvSpPr/>
            <p:nvPr/>
          </p:nvSpPr>
          <p:spPr>
            <a:xfrm>
              <a:off x="4121156" y="4752585"/>
              <a:ext cx="369875" cy="3698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5" name="Oval 614"/>
            <p:cNvSpPr/>
            <p:nvPr/>
          </p:nvSpPr>
          <p:spPr>
            <a:xfrm>
              <a:off x="3322672" y="4247845"/>
              <a:ext cx="369874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6" name="Oval 615"/>
            <p:cNvSpPr/>
            <p:nvPr/>
          </p:nvSpPr>
          <p:spPr>
            <a:xfrm>
              <a:off x="6127685" y="2752670"/>
              <a:ext cx="36828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17" name="Oval 616"/>
            <p:cNvSpPr/>
            <p:nvPr/>
          </p:nvSpPr>
          <p:spPr>
            <a:xfrm>
              <a:off x="6441999" y="3276457"/>
              <a:ext cx="369875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18" name="Oval 617"/>
            <p:cNvSpPr/>
            <p:nvPr/>
          </p:nvSpPr>
          <p:spPr>
            <a:xfrm>
              <a:off x="8553299" y="4011347"/>
              <a:ext cx="36828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9" name="Oval 618"/>
            <p:cNvSpPr/>
            <p:nvPr/>
          </p:nvSpPr>
          <p:spPr>
            <a:xfrm>
              <a:off x="6572169" y="4011347"/>
              <a:ext cx="369875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0" name="Oval 619"/>
            <p:cNvSpPr/>
            <p:nvPr/>
          </p:nvSpPr>
          <p:spPr>
            <a:xfrm>
              <a:off x="5221255" y="4752585"/>
              <a:ext cx="368287" cy="3698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1" name="Oval 620"/>
            <p:cNvSpPr/>
            <p:nvPr/>
          </p:nvSpPr>
          <p:spPr>
            <a:xfrm>
              <a:off x="4327523" y="3092338"/>
              <a:ext cx="369875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2" name="Rectangle 621"/>
            <p:cNvSpPr>
              <a:spLocks/>
            </p:cNvSpPr>
            <p:nvPr/>
          </p:nvSpPr>
          <p:spPr>
            <a:xfrm>
              <a:off x="3949712" y="5485888"/>
              <a:ext cx="355587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3" name="Rectangle 622"/>
            <p:cNvSpPr>
              <a:spLocks/>
            </p:cNvSpPr>
            <p:nvPr/>
          </p:nvSpPr>
          <p:spPr>
            <a:xfrm>
              <a:off x="3282985" y="5485888"/>
              <a:ext cx="355587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4" name="Rectangle 623"/>
            <p:cNvSpPr>
              <a:spLocks/>
            </p:cNvSpPr>
            <p:nvPr/>
          </p:nvSpPr>
          <p:spPr>
            <a:xfrm>
              <a:off x="6199120" y="5485888"/>
              <a:ext cx="357174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5" name="Rectangle 624"/>
            <p:cNvSpPr>
              <a:spLocks/>
            </p:cNvSpPr>
            <p:nvPr/>
          </p:nvSpPr>
          <p:spPr>
            <a:xfrm>
              <a:off x="4864079" y="5485888"/>
              <a:ext cx="357175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6" name="Rectangle 625"/>
            <p:cNvSpPr>
              <a:spLocks/>
            </p:cNvSpPr>
            <p:nvPr/>
          </p:nvSpPr>
          <p:spPr>
            <a:xfrm>
              <a:off x="2614672" y="5485888"/>
              <a:ext cx="357174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27" name="Oval 626"/>
            <p:cNvSpPr/>
            <p:nvPr/>
          </p:nvSpPr>
          <p:spPr>
            <a:xfrm>
              <a:off x="8242160" y="2806636"/>
              <a:ext cx="368287" cy="3698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8" name="Rectangle 627"/>
            <p:cNvSpPr>
              <a:spLocks/>
            </p:cNvSpPr>
            <p:nvPr/>
          </p:nvSpPr>
          <p:spPr>
            <a:xfrm>
              <a:off x="5532394" y="5485888"/>
              <a:ext cx="355587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29" name="Oval 628"/>
            <p:cNvSpPr/>
            <p:nvPr/>
          </p:nvSpPr>
          <p:spPr>
            <a:xfrm>
              <a:off x="4925990" y="3573271"/>
              <a:ext cx="369874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629"/>
          <p:cNvGrpSpPr>
            <a:grpSpLocks/>
          </p:cNvGrpSpPr>
          <p:nvPr/>
        </p:nvGrpSpPr>
        <p:grpSpPr bwMode="auto">
          <a:xfrm>
            <a:off x="1903413" y="2752725"/>
            <a:ext cx="6057900" cy="3090863"/>
            <a:chOff x="1903208" y="2752670"/>
            <a:chExt cx="6057398" cy="3090346"/>
          </a:xfrm>
        </p:grpSpPr>
        <p:cxnSp>
          <p:nvCxnSpPr>
            <p:cNvPr id="631" name="Straight Connector 630"/>
            <p:cNvCxnSpPr>
              <a:stCxn id="670" idx="4"/>
              <a:endCxn id="683" idx="0"/>
            </p:cNvCxnSpPr>
            <p:nvPr/>
          </p:nvCxnSpPr>
          <p:spPr>
            <a:xfrm rot="5400000">
              <a:off x="4744676" y="3416080"/>
              <a:ext cx="1861827" cy="127148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/>
            <p:cNvCxnSpPr>
              <a:stCxn id="665" idx="3"/>
              <a:endCxn id="666" idx="7"/>
            </p:cNvCxnSpPr>
            <p:nvPr/>
          </p:nvCxnSpPr>
          <p:spPr>
            <a:xfrm rot="5400000">
              <a:off x="2368357" y="4401804"/>
              <a:ext cx="1188838" cy="8413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/>
            <p:cNvCxnSpPr>
              <a:stCxn id="664" idx="5"/>
              <a:endCxn id="667" idx="1"/>
            </p:cNvCxnSpPr>
            <p:nvPr/>
          </p:nvCxnSpPr>
          <p:spPr>
            <a:xfrm rot="16200000" flipH="1">
              <a:off x="1956453" y="3667664"/>
              <a:ext cx="1631677" cy="110957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/>
            <p:cNvCxnSpPr>
              <a:stCxn id="665" idx="4"/>
              <a:endCxn id="667" idx="0"/>
            </p:cNvCxnSpPr>
            <p:nvPr/>
          </p:nvCxnSpPr>
          <p:spPr>
            <a:xfrm rot="16200000" flipH="1">
              <a:off x="2757258" y="4281164"/>
              <a:ext cx="1079319" cy="32382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/>
            <p:cNvCxnSpPr>
              <a:stCxn id="668" idx="4"/>
              <a:endCxn id="669" idx="0"/>
            </p:cNvCxnSpPr>
            <p:nvPr/>
          </p:nvCxnSpPr>
          <p:spPr>
            <a:xfrm rot="5400000">
              <a:off x="4007277" y="4813692"/>
              <a:ext cx="287290" cy="5079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/>
            <p:cNvCxnSpPr>
              <a:stCxn id="668" idx="3"/>
              <a:endCxn id="667" idx="7"/>
            </p:cNvCxnSpPr>
            <p:nvPr/>
          </p:nvCxnSpPr>
          <p:spPr>
            <a:xfrm rot="5400000">
              <a:off x="3618376" y="4612097"/>
              <a:ext cx="396809" cy="45557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/>
            <p:cNvCxnSpPr>
              <a:stCxn id="665" idx="5"/>
              <a:endCxn id="669" idx="1"/>
            </p:cNvCxnSpPr>
            <p:nvPr/>
          </p:nvCxnSpPr>
          <p:spPr>
            <a:xfrm rot="16200000" flipH="1">
              <a:off x="3035845" y="4078774"/>
              <a:ext cx="1188838" cy="73018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/>
            <p:cNvCxnSpPr>
              <a:stCxn id="668" idx="2"/>
              <a:endCxn id="666" idx="6"/>
            </p:cNvCxnSpPr>
            <p:nvPr/>
          </p:nvCxnSpPr>
          <p:spPr>
            <a:xfrm rot="10800000" flipV="1">
              <a:off x="2974681" y="4511326"/>
              <a:ext cx="1015916" cy="65711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/>
            <p:cNvCxnSpPr>
              <a:stCxn id="670" idx="1"/>
              <a:endCxn id="675" idx="5"/>
            </p:cNvCxnSpPr>
            <p:nvPr/>
          </p:nvCxnSpPr>
          <p:spPr>
            <a:xfrm rot="16200000" flipH="1" flipV="1">
              <a:off x="5112098" y="2337544"/>
              <a:ext cx="599975" cy="153816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/>
            <p:cNvCxnSpPr>
              <a:stCxn id="663" idx="5"/>
              <a:endCxn id="671" idx="1"/>
            </p:cNvCxnSpPr>
            <p:nvPr/>
          </p:nvCxnSpPr>
          <p:spPr>
            <a:xfrm rot="5400000" flipH="1" flipV="1">
              <a:off x="5231955" y="2217660"/>
              <a:ext cx="860281" cy="266677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/>
            <p:cNvCxnSpPr>
              <a:stCxn id="663" idx="3"/>
              <a:endCxn id="665" idx="7"/>
            </p:cNvCxnSpPr>
            <p:nvPr/>
          </p:nvCxnSpPr>
          <p:spPr>
            <a:xfrm rot="5400000" flipH="1">
              <a:off x="3470752" y="3383562"/>
              <a:ext cx="392046" cy="80320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/>
            <p:cNvCxnSpPr>
              <a:stCxn id="671" idx="3"/>
              <a:endCxn id="683" idx="7"/>
            </p:cNvCxnSpPr>
            <p:nvPr/>
          </p:nvCxnSpPr>
          <p:spPr>
            <a:xfrm rot="5400000">
              <a:off x="5255007" y="3297808"/>
              <a:ext cx="1655485" cy="182547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/>
            <p:cNvCxnSpPr>
              <a:stCxn id="670" idx="5"/>
              <a:endCxn id="672" idx="1"/>
            </p:cNvCxnSpPr>
            <p:nvPr/>
          </p:nvCxnSpPr>
          <p:spPr>
            <a:xfrm rot="5400000">
              <a:off x="5358198" y="3953405"/>
              <a:ext cx="1971345" cy="19842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/>
            <p:cNvCxnSpPr>
              <a:stCxn id="671" idx="4"/>
              <a:endCxn id="672" idx="0"/>
            </p:cNvCxnSpPr>
            <p:nvPr/>
          </p:nvCxnSpPr>
          <p:spPr>
            <a:xfrm rot="5400000">
              <a:off x="5977254" y="3834339"/>
              <a:ext cx="1545966" cy="75082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/>
            <p:cNvCxnSpPr>
              <a:stCxn id="673" idx="4"/>
              <a:endCxn id="681" idx="0"/>
            </p:cNvCxnSpPr>
            <p:nvPr/>
          </p:nvCxnSpPr>
          <p:spPr>
            <a:xfrm rot="5400000">
              <a:off x="6441519" y="3647783"/>
              <a:ext cx="601562" cy="206834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/>
            <p:cNvCxnSpPr>
              <a:stCxn id="673" idx="3"/>
              <a:endCxn id="672" idx="7"/>
            </p:cNvCxnSpPr>
            <p:nvPr/>
          </p:nvCxnSpPr>
          <p:spPr>
            <a:xfrm rot="5400000">
              <a:off x="6720108" y="4112087"/>
              <a:ext cx="711081" cy="114131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/>
            <p:cNvCxnSpPr>
              <a:stCxn id="671" idx="5"/>
              <a:endCxn id="681" idx="1"/>
            </p:cNvCxnSpPr>
            <p:nvPr/>
          </p:nvCxnSpPr>
          <p:spPr>
            <a:xfrm rot="5400000">
              <a:off x="5589147" y="3370034"/>
              <a:ext cx="1655485" cy="168102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/>
            <p:cNvCxnSpPr>
              <a:stCxn id="683" idx="6"/>
              <a:endCxn id="673" idx="2"/>
            </p:cNvCxnSpPr>
            <p:nvPr/>
          </p:nvCxnSpPr>
          <p:spPr>
            <a:xfrm flipV="1">
              <a:off x="5223983" y="4197053"/>
              <a:ext cx="2368354" cy="9713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/>
            <p:cNvCxnSpPr>
              <a:stCxn id="675" idx="3"/>
              <a:endCxn id="664" idx="7"/>
            </p:cNvCxnSpPr>
            <p:nvPr/>
          </p:nvCxnSpPr>
          <p:spPr>
            <a:xfrm rot="5400000" flipH="1">
              <a:off x="3169939" y="2193872"/>
              <a:ext cx="260306" cy="216517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/>
            <p:cNvCxnSpPr>
              <a:stCxn id="674" idx="3"/>
              <a:endCxn id="668" idx="7"/>
            </p:cNvCxnSpPr>
            <p:nvPr/>
          </p:nvCxnSpPr>
          <p:spPr>
            <a:xfrm rot="5400000">
              <a:off x="4632688" y="4053382"/>
              <a:ext cx="1587" cy="65399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/>
            <p:cNvCxnSpPr>
              <a:stCxn id="674" idx="5"/>
              <a:endCxn id="673" idx="0"/>
            </p:cNvCxnSpPr>
            <p:nvPr/>
          </p:nvCxnSpPr>
          <p:spPr>
            <a:xfrm rot="5400000" flipH="1" flipV="1">
              <a:off x="6314521" y="2917635"/>
              <a:ext cx="368238" cy="2555663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/>
            <p:cNvCxnSpPr>
              <a:stCxn id="670" idx="6"/>
              <a:endCxn id="681" idx="2"/>
            </p:cNvCxnSpPr>
            <p:nvPr/>
          </p:nvCxnSpPr>
          <p:spPr>
            <a:xfrm flipH="1">
              <a:off x="5522408" y="2936789"/>
              <a:ext cx="974644" cy="223165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/>
            <p:cNvCxnSpPr>
              <a:stCxn id="675" idx="4"/>
              <a:endCxn id="665" idx="0"/>
            </p:cNvCxnSpPr>
            <p:nvPr/>
          </p:nvCxnSpPr>
          <p:spPr>
            <a:xfrm rot="5400000">
              <a:off x="3786623" y="2808959"/>
              <a:ext cx="74601" cy="137783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/>
            <p:cNvCxnSpPr>
              <a:stCxn id="674" idx="1"/>
              <a:endCxn id="665" idx="6"/>
            </p:cNvCxnSpPr>
            <p:nvPr/>
          </p:nvCxnSpPr>
          <p:spPr>
            <a:xfrm rot="16200000" flipV="1">
              <a:off x="3939025" y="3099412"/>
              <a:ext cx="399983" cy="163975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/>
            <p:cNvCxnSpPr>
              <a:stCxn id="664" idx="4"/>
              <a:endCxn id="666" idx="0"/>
            </p:cNvCxnSpPr>
            <p:nvPr/>
          </p:nvCxnSpPr>
          <p:spPr>
            <a:xfrm rot="16200000" flipH="1">
              <a:off x="1677865" y="3870054"/>
              <a:ext cx="1522158" cy="70320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/>
            <p:cNvCxnSpPr>
              <a:stCxn id="680" idx="0"/>
              <a:endCxn id="666" idx="4"/>
            </p:cNvCxnSpPr>
            <p:nvPr/>
          </p:nvCxnSpPr>
          <p:spPr>
            <a:xfrm rot="16200000" flipV="1">
              <a:off x="2725470" y="5417636"/>
              <a:ext cx="13332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/>
            <p:cNvCxnSpPr>
              <a:stCxn id="677" idx="0"/>
              <a:endCxn id="667" idx="4"/>
            </p:cNvCxnSpPr>
            <p:nvPr/>
          </p:nvCxnSpPr>
          <p:spPr>
            <a:xfrm rot="16200000" flipV="1">
              <a:off x="3392959" y="5418430"/>
              <a:ext cx="133328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/>
            <p:cNvCxnSpPr>
              <a:stCxn id="676" idx="0"/>
              <a:endCxn id="669" idx="4"/>
            </p:cNvCxnSpPr>
            <p:nvPr/>
          </p:nvCxnSpPr>
          <p:spPr>
            <a:xfrm rot="16200000" flipV="1">
              <a:off x="4060448" y="5417636"/>
              <a:ext cx="13332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/>
            <p:cNvCxnSpPr>
              <a:stCxn id="679" idx="0"/>
              <a:endCxn id="683" idx="4"/>
            </p:cNvCxnSpPr>
            <p:nvPr/>
          </p:nvCxnSpPr>
          <p:spPr>
            <a:xfrm rot="16200000" flipV="1">
              <a:off x="4974772" y="5417636"/>
              <a:ext cx="13332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/>
            <p:cNvCxnSpPr>
              <a:stCxn id="678" idx="0"/>
              <a:endCxn id="672" idx="4"/>
            </p:cNvCxnSpPr>
            <p:nvPr/>
          </p:nvCxnSpPr>
          <p:spPr>
            <a:xfrm rot="16200000" flipV="1">
              <a:off x="6309748" y="5417636"/>
              <a:ext cx="13332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/>
            <p:cNvCxnSpPr>
              <a:stCxn id="682" idx="0"/>
              <a:endCxn id="681" idx="4"/>
            </p:cNvCxnSpPr>
            <p:nvPr/>
          </p:nvCxnSpPr>
          <p:spPr>
            <a:xfrm rot="16200000" flipV="1">
              <a:off x="5642260" y="5418430"/>
              <a:ext cx="133328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/>
            <p:cNvCxnSpPr>
              <a:stCxn id="673" idx="1"/>
              <a:endCxn id="663" idx="6"/>
            </p:cNvCxnSpPr>
            <p:nvPr/>
          </p:nvCxnSpPr>
          <p:spPr>
            <a:xfrm rot="16200000" flipV="1">
              <a:off x="5905766" y="2326361"/>
              <a:ext cx="217451" cy="326363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3" name="Oval 662"/>
            <p:cNvSpPr/>
            <p:nvPr/>
          </p:nvSpPr>
          <p:spPr>
            <a:xfrm>
              <a:off x="4014408" y="3665330"/>
              <a:ext cx="368269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4" name="Oval 663"/>
            <p:cNvSpPr/>
            <p:nvPr/>
          </p:nvSpPr>
          <p:spPr>
            <a:xfrm>
              <a:off x="1903208" y="3092338"/>
              <a:ext cx="368269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5" name="Oval 664"/>
            <p:cNvSpPr/>
            <p:nvPr/>
          </p:nvSpPr>
          <p:spPr>
            <a:xfrm>
              <a:off x="2950871" y="3535177"/>
              <a:ext cx="368269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6" name="Oval 665"/>
            <p:cNvSpPr/>
            <p:nvPr/>
          </p:nvSpPr>
          <p:spPr>
            <a:xfrm>
              <a:off x="2606412" y="4982735"/>
              <a:ext cx="368269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7" name="Oval 666"/>
            <p:cNvSpPr/>
            <p:nvPr/>
          </p:nvSpPr>
          <p:spPr>
            <a:xfrm>
              <a:off x="3273106" y="4982735"/>
              <a:ext cx="369857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8" name="Oval 667"/>
            <p:cNvSpPr/>
            <p:nvPr/>
          </p:nvSpPr>
          <p:spPr>
            <a:xfrm>
              <a:off x="3990597" y="4325620"/>
              <a:ext cx="369857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9" name="Oval 668"/>
            <p:cNvSpPr/>
            <p:nvPr/>
          </p:nvSpPr>
          <p:spPr>
            <a:xfrm>
              <a:off x="3941389" y="4982735"/>
              <a:ext cx="368269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0" name="Oval 669"/>
            <p:cNvSpPr/>
            <p:nvPr/>
          </p:nvSpPr>
          <p:spPr>
            <a:xfrm>
              <a:off x="6127195" y="2752670"/>
              <a:ext cx="36985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71" name="Oval 670"/>
            <p:cNvSpPr/>
            <p:nvPr/>
          </p:nvSpPr>
          <p:spPr>
            <a:xfrm>
              <a:off x="6941515" y="3066942"/>
              <a:ext cx="369856" cy="3698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72" name="Oval 671"/>
            <p:cNvSpPr/>
            <p:nvPr/>
          </p:nvSpPr>
          <p:spPr>
            <a:xfrm>
              <a:off x="6190690" y="4982735"/>
              <a:ext cx="368269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3" name="Oval 672"/>
            <p:cNvSpPr/>
            <p:nvPr/>
          </p:nvSpPr>
          <p:spPr>
            <a:xfrm>
              <a:off x="7592337" y="4011347"/>
              <a:ext cx="368269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4" name="Oval 673"/>
            <p:cNvSpPr/>
            <p:nvPr/>
          </p:nvSpPr>
          <p:spPr>
            <a:xfrm>
              <a:off x="4904921" y="4065313"/>
              <a:ext cx="369857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5" name="Oval 674"/>
            <p:cNvSpPr/>
            <p:nvPr/>
          </p:nvSpPr>
          <p:spPr>
            <a:xfrm>
              <a:off x="4328707" y="3092338"/>
              <a:ext cx="368269" cy="368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6" name="Rectangle 675"/>
            <p:cNvSpPr>
              <a:spLocks/>
            </p:cNvSpPr>
            <p:nvPr/>
          </p:nvSpPr>
          <p:spPr>
            <a:xfrm>
              <a:off x="3950913" y="5485888"/>
              <a:ext cx="355571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7" name="Rectangle 676"/>
            <p:cNvSpPr>
              <a:spLocks/>
            </p:cNvSpPr>
            <p:nvPr/>
          </p:nvSpPr>
          <p:spPr>
            <a:xfrm>
              <a:off x="3282631" y="5485888"/>
              <a:ext cx="355571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8" name="Rectangle 677"/>
            <p:cNvSpPr>
              <a:spLocks/>
            </p:cNvSpPr>
            <p:nvPr/>
          </p:nvSpPr>
          <p:spPr>
            <a:xfrm>
              <a:off x="6200214" y="5485888"/>
              <a:ext cx="355571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9" name="Rectangle 678"/>
            <p:cNvSpPr>
              <a:spLocks/>
            </p:cNvSpPr>
            <p:nvPr/>
          </p:nvSpPr>
          <p:spPr>
            <a:xfrm>
              <a:off x="4865238" y="5485888"/>
              <a:ext cx="355571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0" name="Rectangle 679"/>
            <p:cNvSpPr>
              <a:spLocks/>
            </p:cNvSpPr>
            <p:nvPr/>
          </p:nvSpPr>
          <p:spPr>
            <a:xfrm>
              <a:off x="2615936" y="5485888"/>
              <a:ext cx="355571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81" name="Oval 680"/>
            <p:cNvSpPr/>
            <p:nvPr/>
          </p:nvSpPr>
          <p:spPr>
            <a:xfrm>
              <a:off x="5522408" y="4982735"/>
              <a:ext cx="369856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2" name="Rectangle 681"/>
            <p:cNvSpPr>
              <a:spLocks/>
            </p:cNvSpPr>
            <p:nvPr/>
          </p:nvSpPr>
          <p:spPr>
            <a:xfrm>
              <a:off x="5531932" y="5485888"/>
              <a:ext cx="355571" cy="357128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3" name="Oval 682"/>
            <p:cNvSpPr/>
            <p:nvPr/>
          </p:nvSpPr>
          <p:spPr>
            <a:xfrm>
              <a:off x="4855713" y="4982735"/>
              <a:ext cx="368269" cy="36982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83"/>
          <p:cNvGrpSpPr>
            <a:grpSpLocks/>
          </p:cNvGrpSpPr>
          <p:nvPr/>
        </p:nvGrpSpPr>
        <p:grpSpPr bwMode="auto">
          <a:xfrm>
            <a:off x="2606675" y="3092450"/>
            <a:ext cx="3952875" cy="2751138"/>
            <a:chOff x="2606040" y="3091704"/>
            <a:chExt cx="3953415" cy="2751312"/>
          </a:xfrm>
        </p:grpSpPr>
        <p:cxnSp>
          <p:nvCxnSpPr>
            <p:cNvPr id="685" name="Straight Connector 684"/>
            <p:cNvCxnSpPr>
              <a:stCxn id="724" idx="4"/>
              <a:endCxn id="737" idx="0"/>
            </p:cNvCxnSpPr>
            <p:nvPr/>
          </p:nvCxnSpPr>
          <p:spPr>
            <a:xfrm rot="5400000">
              <a:off x="4789170" y="4733283"/>
              <a:ext cx="500094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/>
            <p:cNvCxnSpPr>
              <a:stCxn id="719" idx="3"/>
              <a:endCxn id="720" idx="7"/>
            </p:cNvCxnSpPr>
            <p:nvPr/>
          </p:nvCxnSpPr>
          <p:spPr>
            <a:xfrm rot="5400000">
              <a:off x="2819610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/>
            <p:cNvCxnSpPr>
              <a:stCxn id="718" idx="5"/>
              <a:endCxn id="721" idx="1"/>
            </p:cNvCxnSpPr>
            <p:nvPr/>
          </p:nvCxnSpPr>
          <p:spPr>
            <a:xfrm rot="16200000" flipH="1">
              <a:off x="2819610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/>
            <p:cNvCxnSpPr>
              <a:stCxn id="719" idx="4"/>
              <a:endCxn id="721" idx="0"/>
            </p:cNvCxnSpPr>
            <p:nvPr/>
          </p:nvCxnSpPr>
          <p:spPr>
            <a:xfrm rot="5400000">
              <a:off x="3207804" y="4733283"/>
              <a:ext cx="500094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688"/>
            <p:cNvCxnSpPr>
              <a:stCxn id="722" idx="4"/>
              <a:endCxn id="723" idx="0"/>
            </p:cNvCxnSpPr>
            <p:nvPr/>
          </p:nvCxnSpPr>
          <p:spPr>
            <a:xfrm rot="5400000">
              <a:off x="3876233" y="4733283"/>
              <a:ext cx="500094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/>
            <p:cNvCxnSpPr>
              <a:stCxn id="722" idx="3"/>
              <a:endCxn id="721" idx="7"/>
            </p:cNvCxnSpPr>
            <p:nvPr/>
          </p:nvCxnSpPr>
          <p:spPr>
            <a:xfrm rot="5400000">
              <a:off x="3488040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/>
            <p:cNvCxnSpPr>
              <a:stCxn id="719" idx="5"/>
              <a:endCxn id="723" idx="1"/>
            </p:cNvCxnSpPr>
            <p:nvPr/>
          </p:nvCxnSpPr>
          <p:spPr>
            <a:xfrm rot="16200000" flipH="1">
              <a:off x="3488040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691"/>
            <p:cNvCxnSpPr>
              <a:stCxn id="722" idx="2"/>
              <a:endCxn id="720" idx="6"/>
            </p:cNvCxnSpPr>
            <p:nvPr/>
          </p:nvCxnSpPr>
          <p:spPr>
            <a:xfrm rot="10800000" flipV="1">
              <a:off x="2974390" y="4299868"/>
              <a:ext cx="966920" cy="86841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/>
            <p:cNvCxnSpPr>
              <a:stCxn id="724" idx="1"/>
              <a:endCxn id="729" idx="5"/>
            </p:cNvCxnSpPr>
            <p:nvPr/>
          </p:nvCxnSpPr>
          <p:spPr>
            <a:xfrm rot="16200000" flipV="1">
              <a:off x="4395425" y="3653705"/>
              <a:ext cx="762048" cy="26673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693"/>
            <p:cNvCxnSpPr>
              <a:stCxn id="717" idx="5"/>
              <a:endCxn id="725" idx="1"/>
            </p:cNvCxnSpPr>
            <p:nvPr/>
          </p:nvCxnSpPr>
          <p:spPr>
            <a:xfrm rot="16200000" flipH="1">
              <a:off x="4174727" y="2766167"/>
              <a:ext cx="630277" cy="217358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/>
            <p:cNvCxnSpPr>
              <a:stCxn id="717" idx="3"/>
              <a:endCxn id="719" idx="7"/>
            </p:cNvCxnSpPr>
            <p:nvPr/>
          </p:nvCxnSpPr>
          <p:spPr>
            <a:xfrm rot="16200000" flipH="1">
              <a:off x="3050624" y="3629885"/>
              <a:ext cx="630277" cy="44614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695"/>
            <p:cNvCxnSpPr>
              <a:stCxn id="725" idx="3"/>
              <a:endCxn id="737" idx="7"/>
            </p:cNvCxnSpPr>
            <p:nvPr/>
          </p:nvCxnSpPr>
          <p:spPr>
            <a:xfrm rot="5400000">
              <a:off x="5069406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/>
            <p:cNvCxnSpPr>
              <a:stCxn id="724" idx="5"/>
              <a:endCxn id="726" idx="1"/>
            </p:cNvCxnSpPr>
            <p:nvPr/>
          </p:nvCxnSpPr>
          <p:spPr>
            <a:xfrm rot="16200000" flipH="1">
              <a:off x="5069406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/>
            <p:cNvCxnSpPr>
              <a:stCxn id="725" idx="4"/>
              <a:endCxn id="726" idx="0"/>
            </p:cNvCxnSpPr>
            <p:nvPr/>
          </p:nvCxnSpPr>
          <p:spPr>
            <a:xfrm rot="5400000">
              <a:off x="5457599" y="4733283"/>
              <a:ext cx="500094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/>
            <p:cNvCxnSpPr>
              <a:stCxn id="727" idx="4"/>
              <a:endCxn id="735" idx="0"/>
            </p:cNvCxnSpPr>
            <p:nvPr/>
          </p:nvCxnSpPr>
          <p:spPr>
            <a:xfrm rot="5400000">
              <a:off x="6124440" y="4733283"/>
              <a:ext cx="500094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/>
            <p:cNvCxnSpPr>
              <a:stCxn id="727" idx="3"/>
              <a:endCxn id="726" idx="7"/>
            </p:cNvCxnSpPr>
            <p:nvPr/>
          </p:nvCxnSpPr>
          <p:spPr>
            <a:xfrm rot="5400000">
              <a:off x="5737834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/>
            <p:cNvCxnSpPr>
              <a:stCxn id="725" idx="5"/>
              <a:endCxn id="735" idx="1"/>
            </p:cNvCxnSpPr>
            <p:nvPr/>
          </p:nvCxnSpPr>
          <p:spPr>
            <a:xfrm rot="16200000" flipH="1">
              <a:off x="5737834" y="4530849"/>
              <a:ext cx="608050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/>
            <p:cNvCxnSpPr>
              <a:stCxn id="737" idx="6"/>
              <a:endCxn id="727" idx="2"/>
            </p:cNvCxnSpPr>
            <p:nvPr/>
          </p:nvCxnSpPr>
          <p:spPr>
            <a:xfrm flipV="1">
              <a:off x="5224186" y="4299868"/>
              <a:ext cx="966919" cy="86841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/>
            <p:cNvCxnSpPr>
              <a:stCxn id="729" idx="3"/>
              <a:endCxn id="718" idx="7"/>
            </p:cNvCxnSpPr>
            <p:nvPr/>
          </p:nvCxnSpPr>
          <p:spPr>
            <a:xfrm rot="5400000">
              <a:off x="3270528" y="3055929"/>
              <a:ext cx="762048" cy="14622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/>
            <p:cNvCxnSpPr>
              <a:stCxn id="728" idx="3"/>
              <a:endCxn id="722" idx="7"/>
            </p:cNvCxnSpPr>
            <p:nvPr/>
          </p:nvCxnSpPr>
          <p:spPr>
            <a:xfrm rot="5400000">
              <a:off x="4411303" y="3250425"/>
              <a:ext cx="762048" cy="107329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/>
            <p:cNvCxnSpPr>
              <a:stCxn id="728" idx="5"/>
              <a:endCxn id="727" idx="0"/>
            </p:cNvCxnSpPr>
            <p:nvPr/>
          </p:nvCxnSpPr>
          <p:spPr>
            <a:xfrm rot="16200000" flipH="1">
              <a:off x="5628285" y="3367125"/>
              <a:ext cx="708070" cy="78591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/>
            <p:cNvCxnSpPr>
              <a:stCxn id="724" idx="6"/>
              <a:endCxn id="735" idx="2"/>
            </p:cNvCxnSpPr>
            <p:nvPr/>
          </p:nvCxnSpPr>
          <p:spPr>
            <a:xfrm>
              <a:off x="5224186" y="4299868"/>
              <a:ext cx="966919" cy="86841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/>
            <p:cNvCxnSpPr>
              <a:stCxn id="729" idx="4"/>
              <a:endCxn id="719" idx="0"/>
            </p:cNvCxnSpPr>
            <p:nvPr/>
          </p:nvCxnSpPr>
          <p:spPr>
            <a:xfrm rot="5400000">
              <a:off x="3658721" y="3259951"/>
              <a:ext cx="654091" cy="1054244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/>
            <p:cNvCxnSpPr>
              <a:stCxn id="728" idx="1"/>
              <a:endCxn id="719" idx="6"/>
            </p:cNvCxnSpPr>
            <p:nvPr/>
          </p:nvCxnSpPr>
          <p:spPr>
            <a:xfrm rot="16200000" flipH="1" flipV="1">
              <a:off x="3908804" y="2879698"/>
              <a:ext cx="1154186" cy="168615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/>
            <p:cNvCxnSpPr>
              <a:stCxn id="718" idx="4"/>
              <a:endCxn id="720" idx="0"/>
            </p:cNvCxnSpPr>
            <p:nvPr/>
          </p:nvCxnSpPr>
          <p:spPr>
            <a:xfrm rot="5400000">
              <a:off x="2540962" y="4733283"/>
              <a:ext cx="500094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709"/>
            <p:cNvCxnSpPr>
              <a:stCxn id="734" idx="0"/>
              <a:endCxn id="720" idx="4"/>
            </p:cNvCxnSpPr>
            <p:nvPr/>
          </p:nvCxnSpPr>
          <p:spPr>
            <a:xfrm rot="16200000" flipV="1">
              <a:off x="2725124" y="5417538"/>
              <a:ext cx="13335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/>
            <p:cNvCxnSpPr>
              <a:stCxn id="731" idx="0"/>
              <a:endCxn id="721" idx="4"/>
            </p:cNvCxnSpPr>
            <p:nvPr/>
          </p:nvCxnSpPr>
          <p:spPr>
            <a:xfrm rot="16200000" flipV="1">
              <a:off x="3392759" y="5418332"/>
              <a:ext cx="133358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/>
            <p:cNvCxnSpPr>
              <a:stCxn id="730" idx="0"/>
              <a:endCxn id="723" idx="4"/>
            </p:cNvCxnSpPr>
            <p:nvPr/>
          </p:nvCxnSpPr>
          <p:spPr>
            <a:xfrm rot="16200000" flipV="1">
              <a:off x="4060395" y="5417538"/>
              <a:ext cx="13335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/>
            <p:cNvCxnSpPr>
              <a:stCxn id="733" idx="0"/>
              <a:endCxn id="737" idx="4"/>
            </p:cNvCxnSpPr>
            <p:nvPr/>
          </p:nvCxnSpPr>
          <p:spPr>
            <a:xfrm rot="16200000" flipV="1">
              <a:off x="4974919" y="5417538"/>
              <a:ext cx="13335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713"/>
            <p:cNvCxnSpPr>
              <a:stCxn id="732" idx="0"/>
              <a:endCxn id="726" idx="4"/>
            </p:cNvCxnSpPr>
            <p:nvPr/>
          </p:nvCxnSpPr>
          <p:spPr>
            <a:xfrm rot="16200000" flipV="1">
              <a:off x="5641761" y="5417538"/>
              <a:ext cx="133358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/>
            <p:cNvCxnSpPr>
              <a:stCxn id="736" idx="0"/>
              <a:endCxn id="735" idx="4"/>
            </p:cNvCxnSpPr>
            <p:nvPr/>
          </p:nvCxnSpPr>
          <p:spPr>
            <a:xfrm rot="16200000" flipV="1">
              <a:off x="6309395" y="5418332"/>
              <a:ext cx="133358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/>
            <p:cNvCxnSpPr>
              <a:stCxn id="727" idx="1"/>
              <a:endCxn id="717" idx="6"/>
            </p:cNvCxnSpPr>
            <p:nvPr/>
          </p:nvCxnSpPr>
          <p:spPr>
            <a:xfrm rot="16200000" flipV="1">
              <a:off x="4470048" y="2393058"/>
              <a:ext cx="762048" cy="278803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" name="Oval 716"/>
            <p:cNvSpPr/>
            <p:nvPr/>
          </p:nvSpPr>
          <p:spPr>
            <a:xfrm>
              <a:off x="3088706" y="3221887"/>
              <a:ext cx="368350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18" name="Oval 717"/>
            <p:cNvSpPr/>
            <p:nvPr/>
          </p:nvSpPr>
          <p:spPr>
            <a:xfrm>
              <a:off x="2606040" y="4114119"/>
              <a:ext cx="368350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19" name="Oval 718"/>
            <p:cNvSpPr/>
            <p:nvPr/>
          </p:nvSpPr>
          <p:spPr>
            <a:xfrm>
              <a:off x="3272881" y="4114119"/>
              <a:ext cx="369939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0" name="Oval 719"/>
            <p:cNvSpPr/>
            <p:nvPr/>
          </p:nvSpPr>
          <p:spPr>
            <a:xfrm>
              <a:off x="2606040" y="4984124"/>
              <a:ext cx="368350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1" name="Oval 720"/>
            <p:cNvSpPr/>
            <p:nvPr/>
          </p:nvSpPr>
          <p:spPr>
            <a:xfrm>
              <a:off x="3272881" y="4984124"/>
              <a:ext cx="369939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2" name="Oval 721"/>
            <p:cNvSpPr/>
            <p:nvPr/>
          </p:nvSpPr>
          <p:spPr>
            <a:xfrm>
              <a:off x="3941310" y="4114119"/>
              <a:ext cx="368350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3" name="Oval 722"/>
            <p:cNvSpPr/>
            <p:nvPr/>
          </p:nvSpPr>
          <p:spPr>
            <a:xfrm>
              <a:off x="3941310" y="4984124"/>
              <a:ext cx="368350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4" name="Oval 723"/>
            <p:cNvSpPr/>
            <p:nvPr/>
          </p:nvSpPr>
          <p:spPr>
            <a:xfrm>
              <a:off x="4855835" y="4114119"/>
              <a:ext cx="368350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25" name="Oval 724"/>
            <p:cNvSpPr/>
            <p:nvPr/>
          </p:nvSpPr>
          <p:spPr>
            <a:xfrm>
              <a:off x="5522676" y="4114119"/>
              <a:ext cx="369938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26" name="Oval 725"/>
            <p:cNvSpPr/>
            <p:nvPr/>
          </p:nvSpPr>
          <p:spPr>
            <a:xfrm>
              <a:off x="5522676" y="4984124"/>
              <a:ext cx="369938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7" name="Oval 726"/>
            <p:cNvSpPr/>
            <p:nvPr/>
          </p:nvSpPr>
          <p:spPr>
            <a:xfrm>
              <a:off x="6191105" y="4114119"/>
              <a:ext cx="368350" cy="3699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8" name="Oval 727"/>
            <p:cNvSpPr/>
            <p:nvPr/>
          </p:nvSpPr>
          <p:spPr>
            <a:xfrm>
              <a:off x="5274993" y="3091704"/>
              <a:ext cx="368350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9" name="Oval 728"/>
            <p:cNvSpPr/>
            <p:nvPr/>
          </p:nvSpPr>
          <p:spPr>
            <a:xfrm>
              <a:off x="4328713" y="3091704"/>
              <a:ext cx="368350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0" name="Rectangle 729"/>
            <p:cNvSpPr>
              <a:spLocks/>
            </p:cNvSpPr>
            <p:nvPr/>
          </p:nvSpPr>
          <p:spPr>
            <a:xfrm>
              <a:off x="3950837" y="5485805"/>
              <a:ext cx="355649" cy="35721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1" name="Rectangle 730"/>
            <p:cNvSpPr>
              <a:spLocks/>
            </p:cNvSpPr>
            <p:nvPr/>
          </p:nvSpPr>
          <p:spPr>
            <a:xfrm>
              <a:off x="3282407" y="5485805"/>
              <a:ext cx="355649" cy="35721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2" name="Rectangle 731"/>
            <p:cNvSpPr>
              <a:spLocks/>
            </p:cNvSpPr>
            <p:nvPr/>
          </p:nvSpPr>
          <p:spPr>
            <a:xfrm>
              <a:off x="5532203" y="5485805"/>
              <a:ext cx="355649" cy="35721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3" name="Rectangle 732"/>
            <p:cNvSpPr>
              <a:spLocks/>
            </p:cNvSpPr>
            <p:nvPr/>
          </p:nvSpPr>
          <p:spPr>
            <a:xfrm>
              <a:off x="4865362" y="5485805"/>
              <a:ext cx="355649" cy="35721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4" name="Rectangle 733"/>
            <p:cNvSpPr>
              <a:spLocks/>
            </p:cNvSpPr>
            <p:nvPr/>
          </p:nvSpPr>
          <p:spPr>
            <a:xfrm>
              <a:off x="2615566" y="5485805"/>
              <a:ext cx="355649" cy="35721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35" name="Oval 734"/>
            <p:cNvSpPr/>
            <p:nvPr/>
          </p:nvSpPr>
          <p:spPr>
            <a:xfrm>
              <a:off x="6191105" y="4984124"/>
              <a:ext cx="368350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6" name="Rectangle 735"/>
            <p:cNvSpPr>
              <a:spLocks/>
            </p:cNvSpPr>
            <p:nvPr/>
          </p:nvSpPr>
          <p:spPr>
            <a:xfrm>
              <a:off x="6199044" y="5485805"/>
              <a:ext cx="357236" cy="357211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7" name="Oval 736"/>
            <p:cNvSpPr/>
            <p:nvPr/>
          </p:nvSpPr>
          <p:spPr>
            <a:xfrm>
              <a:off x="4855835" y="4984124"/>
              <a:ext cx="368350" cy="3683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37"/>
          <p:cNvGrpSpPr>
            <a:grpSpLocks/>
          </p:cNvGrpSpPr>
          <p:nvPr/>
        </p:nvGrpSpPr>
        <p:grpSpPr bwMode="auto">
          <a:xfrm>
            <a:off x="2606675" y="3382963"/>
            <a:ext cx="3952875" cy="2460625"/>
            <a:chOff x="2606040" y="3383280"/>
            <a:chExt cx="3953415" cy="2459736"/>
          </a:xfrm>
        </p:grpSpPr>
        <p:cxnSp>
          <p:nvCxnSpPr>
            <p:cNvPr id="739" name="Straight Connector 738"/>
            <p:cNvCxnSpPr>
              <a:stCxn id="778" idx="4"/>
              <a:endCxn id="791" idx="0"/>
            </p:cNvCxnSpPr>
            <p:nvPr/>
          </p:nvCxnSpPr>
          <p:spPr>
            <a:xfrm rot="5400000">
              <a:off x="4789276" y="4733754"/>
              <a:ext cx="499881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/>
            <p:cNvCxnSpPr>
              <a:stCxn id="773" idx="3"/>
              <a:endCxn id="774" idx="7"/>
            </p:cNvCxnSpPr>
            <p:nvPr/>
          </p:nvCxnSpPr>
          <p:spPr>
            <a:xfrm rot="5400000">
              <a:off x="2819739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/>
            <p:cNvCxnSpPr>
              <a:stCxn id="772" idx="5"/>
              <a:endCxn id="775" idx="1"/>
            </p:cNvCxnSpPr>
            <p:nvPr/>
          </p:nvCxnSpPr>
          <p:spPr>
            <a:xfrm rot="16200000" flipH="1">
              <a:off x="2819739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/>
            <p:cNvCxnSpPr>
              <a:stCxn id="773" idx="4"/>
              <a:endCxn id="775" idx="0"/>
            </p:cNvCxnSpPr>
            <p:nvPr/>
          </p:nvCxnSpPr>
          <p:spPr>
            <a:xfrm rot="5400000">
              <a:off x="3207910" y="4733754"/>
              <a:ext cx="499881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/>
            <p:cNvCxnSpPr>
              <a:stCxn id="776" idx="4"/>
              <a:endCxn id="777" idx="0"/>
            </p:cNvCxnSpPr>
            <p:nvPr/>
          </p:nvCxnSpPr>
          <p:spPr>
            <a:xfrm rot="5400000">
              <a:off x="3876339" y="4733754"/>
              <a:ext cx="499881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/>
            <p:cNvCxnSpPr>
              <a:stCxn id="776" idx="3"/>
              <a:endCxn id="775" idx="7"/>
            </p:cNvCxnSpPr>
            <p:nvPr/>
          </p:nvCxnSpPr>
          <p:spPr>
            <a:xfrm rot="5400000">
              <a:off x="3488168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/>
            <p:cNvCxnSpPr>
              <a:stCxn id="773" idx="5"/>
              <a:endCxn id="777" idx="1"/>
            </p:cNvCxnSpPr>
            <p:nvPr/>
          </p:nvCxnSpPr>
          <p:spPr>
            <a:xfrm rot="16200000" flipH="1">
              <a:off x="3488168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/>
            <p:cNvCxnSpPr>
              <a:stCxn id="776" idx="2"/>
              <a:endCxn id="774" idx="6"/>
            </p:cNvCxnSpPr>
            <p:nvPr/>
          </p:nvCxnSpPr>
          <p:spPr>
            <a:xfrm rot="10800000" flipV="1">
              <a:off x="2974390" y="4298936"/>
              <a:ext cx="966920" cy="86963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/>
            <p:cNvCxnSpPr>
              <a:stCxn id="778" idx="1"/>
              <a:endCxn id="783" idx="5"/>
            </p:cNvCxnSpPr>
            <p:nvPr/>
          </p:nvCxnSpPr>
          <p:spPr>
            <a:xfrm rot="16200000" flipV="1">
              <a:off x="4040660" y="3299651"/>
              <a:ext cx="471317" cy="126699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/>
            <p:cNvCxnSpPr>
              <a:stCxn id="771" idx="5"/>
              <a:endCxn id="779" idx="1"/>
            </p:cNvCxnSpPr>
            <p:nvPr/>
          </p:nvCxnSpPr>
          <p:spPr>
            <a:xfrm rot="16200000" flipH="1">
              <a:off x="4867860" y="3460011"/>
              <a:ext cx="471317" cy="94627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/>
            <p:cNvCxnSpPr>
              <a:stCxn id="771" idx="3"/>
              <a:endCxn id="773" idx="7"/>
            </p:cNvCxnSpPr>
            <p:nvPr/>
          </p:nvCxnSpPr>
          <p:spPr>
            <a:xfrm rot="5400000">
              <a:off x="3743757" y="3542572"/>
              <a:ext cx="471317" cy="78115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/>
            <p:cNvCxnSpPr>
              <a:stCxn id="779" idx="3"/>
              <a:endCxn id="791" idx="7"/>
            </p:cNvCxnSpPr>
            <p:nvPr/>
          </p:nvCxnSpPr>
          <p:spPr>
            <a:xfrm rot="5400000">
              <a:off x="5069534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/>
            <p:cNvCxnSpPr>
              <a:stCxn id="778" idx="5"/>
              <a:endCxn id="780" idx="1"/>
            </p:cNvCxnSpPr>
            <p:nvPr/>
          </p:nvCxnSpPr>
          <p:spPr>
            <a:xfrm rot="16200000" flipH="1">
              <a:off x="5069534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/>
            <p:cNvCxnSpPr>
              <a:stCxn id="779" idx="4"/>
              <a:endCxn id="780" idx="0"/>
            </p:cNvCxnSpPr>
            <p:nvPr/>
          </p:nvCxnSpPr>
          <p:spPr>
            <a:xfrm rot="5400000">
              <a:off x="5457705" y="4733754"/>
              <a:ext cx="499881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/>
            <p:cNvCxnSpPr>
              <a:stCxn id="781" idx="4"/>
              <a:endCxn id="789" idx="0"/>
            </p:cNvCxnSpPr>
            <p:nvPr/>
          </p:nvCxnSpPr>
          <p:spPr>
            <a:xfrm rot="5400000">
              <a:off x="6124546" y="4733754"/>
              <a:ext cx="499881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/>
            <p:cNvCxnSpPr>
              <a:stCxn id="781" idx="3"/>
              <a:endCxn id="780" idx="7"/>
            </p:cNvCxnSpPr>
            <p:nvPr/>
          </p:nvCxnSpPr>
          <p:spPr>
            <a:xfrm rot="5400000">
              <a:off x="5737962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754"/>
            <p:cNvCxnSpPr>
              <a:stCxn id="779" idx="5"/>
              <a:endCxn id="789" idx="1"/>
            </p:cNvCxnSpPr>
            <p:nvPr/>
          </p:nvCxnSpPr>
          <p:spPr>
            <a:xfrm rot="16200000" flipH="1">
              <a:off x="5737962" y="4529733"/>
              <a:ext cx="607793" cy="40645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755"/>
            <p:cNvCxnSpPr>
              <a:stCxn id="791" idx="6"/>
              <a:endCxn id="781" idx="2"/>
            </p:cNvCxnSpPr>
            <p:nvPr/>
          </p:nvCxnSpPr>
          <p:spPr>
            <a:xfrm flipV="1">
              <a:off x="5224186" y="4298936"/>
              <a:ext cx="966919" cy="86963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/>
            <p:cNvCxnSpPr>
              <a:stCxn id="783" idx="3"/>
              <a:endCxn id="772" idx="7"/>
            </p:cNvCxnSpPr>
            <p:nvPr/>
          </p:nvCxnSpPr>
          <p:spPr>
            <a:xfrm rot="5400000">
              <a:off x="2915763" y="3702137"/>
              <a:ext cx="471317" cy="46202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/>
            <p:cNvCxnSpPr>
              <a:stCxn id="782" idx="3"/>
              <a:endCxn id="776" idx="7"/>
            </p:cNvCxnSpPr>
            <p:nvPr/>
          </p:nvCxnSpPr>
          <p:spPr>
            <a:xfrm rot="5400000">
              <a:off x="4653519" y="3299651"/>
              <a:ext cx="471317" cy="126699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/>
            <p:cNvCxnSpPr>
              <a:stCxn id="782" idx="5"/>
              <a:endCxn id="781" idx="0"/>
            </p:cNvCxnSpPr>
            <p:nvPr/>
          </p:nvCxnSpPr>
          <p:spPr>
            <a:xfrm rot="16200000" flipH="1">
              <a:off x="5870491" y="3610063"/>
              <a:ext cx="417361" cy="59221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/>
            <p:cNvCxnSpPr>
              <a:stCxn id="778" idx="6"/>
              <a:endCxn id="789" idx="2"/>
            </p:cNvCxnSpPr>
            <p:nvPr/>
          </p:nvCxnSpPr>
          <p:spPr>
            <a:xfrm>
              <a:off x="5224186" y="4298936"/>
              <a:ext cx="966919" cy="869636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760"/>
            <p:cNvCxnSpPr>
              <a:stCxn id="783" idx="4"/>
              <a:endCxn id="773" idx="0"/>
            </p:cNvCxnSpPr>
            <p:nvPr/>
          </p:nvCxnSpPr>
          <p:spPr>
            <a:xfrm rot="5400000">
              <a:off x="3304727" y="3906951"/>
              <a:ext cx="361819" cy="53982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761"/>
            <p:cNvCxnSpPr>
              <a:stCxn id="782" idx="1"/>
              <a:endCxn id="773" idx="6"/>
            </p:cNvCxnSpPr>
            <p:nvPr/>
          </p:nvCxnSpPr>
          <p:spPr>
            <a:xfrm rot="16200000" flipH="1" flipV="1">
              <a:off x="4151898" y="2928157"/>
              <a:ext cx="861701" cy="187985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762"/>
            <p:cNvCxnSpPr>
              <a:stCxn id="772" idx="4"/>
              <a:endCxn id="774" idx="0"/>
            </p:cNvCxnSpPr>
            <p:nvPr/>
          </p:nvCxnSpPr>
          <p:spPr>
            <a:xfrm rot="5400000">
              <a:off x="2541069" y="4733754"/>
              <a:ext cx="499881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/>
            <p:cNvCxnSpPr>
              <a:stCxn id="788" idx="0"/>
              <a:endCxn id="774" idx="4"/>
            </p:cNvCxnSpPr>
            <p:nvPr/>
          </p:nvCxnSpPr>
          <p:spPr>
            <a:xfrm rot="16200000" flipV="1">
              <a:off x="2725152" y="5417718"/>
              <a:ext cx="133302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/>
            <p:cNvCxnSpPr>
              <a:stCxn id="785" idx="0"/>
              <a:endCxn id="775" idx="4"/>
            </p:cNvCxnSpPr>
            <p:nvPr/>
          </p:nvCxnSpPr>
          <p:spPr>
            <a:xfrm rot="16200000" flipV="1">
              <a:off x="3392788" y="5418512"/>
              <a:ext cx="133302" cy="15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765"/>
            <p:cNvCxnSpPr>
              <a:stCxn id="784" idx="0"/>
              <a:endCxn id="777" idx="4"/>
            </p:cNvCxnSpPr>
            <p:nvPr/>
          </p:nvCxnSpPr>
          <p:spPr>
            <a:xfrm rot="16200000" flipV="1">
              <a:off x="4060423" y="5417718"/>
              <a:ext cx="133302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/>
            <p:cNvCxnSpPr>
              <a:stCxn id="787" idx="0"/>
              <a:endCxn id="791" idx="4"/>
            </p:cNvCxnSpPr>
            <p:nvPr/>
          </p:nvCxnSpPr>
          <p:spPr>
            <a:xfrm rot="16200000" flipV="1">
              <a:off x="4974948" y="5417718"/>
              <a:ext cx="133302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/>
            <p:cNvCxnSpPr>
              <a:stCxn id="786" idx="0"/>
              <a:endCxn id="780" idx="4"/>
            </p:cNvCxnSpPr>
            <p:nvPr/>
          </p:nvCxnSpPr>
          <p:spPr>
            <a:xfrm rot="16200000" flipV="1">
              <a:off x="5641789" y="5417718"/>
              <a:ext cx="133302" cy="317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/>
            <p:cNvCxnSpPr>
              <a:stCxn id="790" idx="0"/>
              <a:endCxn id="789" idx="4"/>
            </p:cNvCxnSpPr>
            <p:nvPr/>
          </p:nvCxnSpPr>
          <p:spPr>
            <a:xfrm rot="16200000" flipV="1">
              <a:off x="6309423" y="5418512"/>
              <a:ext cx="133302" cy="1588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769"/>
            <p:cNvCxnSpPr>
              <a:stCxn id="781" idx="1"/>
              <a:endCxn id="771" idx="6"/>
            </p:cNvCxnSpPr>
            <p:nvPr/>
          </p:nvCxnSpPr>
          <p:spPr>
            <a:xfrm rot="16200000" flipV="1">
              <a:off x="5164002" y="3087723"/>
              <a:ext cx="601445" cy="156072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1" name="Oval 770"/>
            <p:cNvSpPr/>
            <p:nvPr/>
          </p:nvSpPr>
          <p:spPr>
            <a:xfrm>
              <a:off x="4316012" y="3383280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2" name="Oval 771"/>
            <p:cNvSpPr/>
            <p:nvPr/>
          </p:nvSpPr>
          <p:spPr>
            <a:xfrm>
              <a:off x="2606040" y="4114853"/>
              <a:ext cx="368350" cy="36816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3" name="Oval 772"/>
            <p:cNvSpPr/>
            <p:nvPr/>
          </p:nvSpPr>
          <p:spPr>
            <a:xfrm>
              <a:off x="3272881" y="4114853"/>
              <a:ext cx="369939" cy="36816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4" name="Oval 773"/>
            <p:cNvSpPr/>
            <p:nvPr/>
          </p:nvSpPr>
          <p:spPr>
            <a:xfrm>
              <a:off x="2606040" y="4982902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5" name="Oval 774"/>
            <p:cNvSpPr/>
            <p:nvPr/>
          </p:nvSpPr>
          <p:spPr>
            <a:xfrm>
              <a:off x="3272881" y="4982902"/>
              <a:ext cx="369939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6" name="Oval 775"/>
            <p:cNvSpPr/>
            <p:nvPr/>
          </p:nvSpPr>
          <p:spPr>
            <a:xfrm>
              <a:off x="3941310" y="4114853"/>
              <a:ext cx="368350" cy="36816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7" name="Oval 776"/>
            <p:cNvSpPr/>
            <p:nvPr/>
          </p:nvSpPr>
          <p:spPr>
            <a:xfrm>
              <a:off x="3941310" y="4982902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8" name="Oval 777"/>
            <p:cNvSpPr/>
            <p:nvPr/>
          </p:nvSpPr>
          <p:spPr>
            <a:xfrm>
              <a:off x="4855835" y="4114853"/>
              <a:ext cx="368350" cy="36816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79" name="Oval 778"/>
            <p:cNvSpPr/>
            <p:nvPr/>
          </p:nvSpPr>
          <p:spPr>
            <a:xfrm>
              <a:off x="5522676" y="4114853"/>
              <a:ext cx="369938" cy="36816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80" name="Oval 779"/>
            <p:cNvSpPr/>
            <p:nvPr/>
          </p:nvSpPr>
          <p:spPr>
            <a:xfrm>
              <a:off x="5522676" y="4982902"/>
              <a:ext cx="369938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1" name="Oval 780"/>
            <p:cNvSpPr/>
            <p:nvPr/>
          </p:nvSpPr>
          <p:spPr>
            <a:xfrm>
              <a:off x="6191105" y="4114853"/>
              <a:ext cx="368350" cy="36816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2" name="Oval 781"/>
            <p:cNvSpPr/>
            <p:nvPr/>
          </p:nvSpPr>
          <p:spPr>
            <a:xfrm>
              <a:off x="5468694" y="3383280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3" name="Oval 782"/>
            <p:cNvSpPr/>
            <p:nvPr/>
          </p:nvSpPr>
          <p:spPr>
            <a:xfrm>
              <a:off x="3328452" y="3383280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4" name="Rectangle 783"/>
            <p:cNvSpPr>
              <a:spLocks/>
            </p:cNvSpPr>
            <p:nvPr/>
          </p:nvSpPr>
          <p:spPr>
            <a:xfrm>
              <a:off x="3950837" y="5485957"/>
              <a:ext cx="355649" cy="35705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5" name="Rectangle 784"/>
            <p:cNvSpPr>
              <a:spLocks/>
            </p:cNvSpPr>
            <p:nvPr/>
          </p:nvSpPr>
          <p:spPr>
            <a:xfrm>
              <a:off x="3282407" y="5485957"/>
              <a:ext cx="355649" cy="35705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6" name="Rectangle 785"/>
            <p:cNvSpPr>
              <a:spLocks/>
            </p:cNvSpPr>
            <p:nvPr/>
          </p:nvSpPr>
          <p:spPr>
            <a:xfrm>
              <a:off x="5532203" y="5485957"/>
              <a:ext cx="355649" cy="35705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7" name="Rectangle 786"/>
            <p:cNvSpPr>
              <a:spLocks/>
            </p:cNvSpPr>
            <p:nvPr/>
          </p:nvSpPr>
          <p:spPr>
            <a:xfrm>
              <a:off x="4865362" y="5485957"/>
              <a:ext cx="355649" cy="35705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8" name="Rectangle 787"/>
            <p:cNvSpPr>
              <a:spLocks/>
            </p:cNvSpPr>
            <p:nvPr/>
          </p:nvSpPr>
          <p:spPr>
            <a:xfrm>
              <a:off x="2615566" y="5485957"/>
              <a:ext cx="355649" cy="35705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89" name="Oval 788"/>
            <p:cNvSpPr/>
            <p:nvPr/>
          </p:nvSpPr>
          <p:spPr>
            <a:xfrm>
              <a:off x="6191105" y="4982902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90" name="Rectangle 789"/>
            <p:cNvSpPr>
              <a:spLocks/>
            </p:cNvSpPr>
            <p:nvPr/>
          </p:nvSpPr>
          <p:spPr>
            <a:xfrm>
              <a:off x="6199044" y="5485957"/>
              <a:ext cx="357236" cy="35705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91" name="Oval 790"/>
            <p:cNvSpPr/>
            <p:nvPr/>
          </p:nvSpPr>
          <p:spPr>
            <a:xfrm>
              <a:off x="4855835" y="4982902"/>
              <a:ext cx="368350" cy="3697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92" name="Content Placeholder 2"/>
          <p:cNvSpPr txBox="1">
            <a:spLocks/>
          </p:cNvSpPr>
          <p:nvPr/>
        </p:nvSpPr>
        <p:spPr bwMode="auto">
          <a:xfrm>
            <a:off x="3684588" y="5870575"/>
            <a:ext cx="5237162" cy="97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defTabSz="914400">
              <a:buClr>
                <a:schemeClr val="accent1"/>
              </a:buClr>
              <a:buSzPct val="68000"/>
            </a:pPr>
            <a:r>
              <a:rPr lang="en-US" sz="2700" dirty="0">
                <a:latin typeface="Lucida Sans Unicode" pitchFamily="34" charset="0"/>
              </a:rPr>
              <a:t>Only requires 1 host to begin</a:t>
            </a:r>
          </a:p>
        </p:txBody>
      </p:sp>
      <p:sp>
        <p:nvSpPr>
          <p:cNvPr id="275" name="TextBox 274"/>
          <p:cNvSpPr txBox="1">
            <a:spLocks noChangeArrowheads="1"/>
          </p:cNvSpPr>
          <p:nvPr/>
        </p:nvSpPr>
        <p:spPr bwMode="auto">
          <a:xfrm>
            <a:off x="1279525" y="5497513"/>
            <a:ext cx="1198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0</a:t>
            </a:r>
          </a:p>
        </p:txBody>
      </p:sp>
      <p:sp>
        <p:nvSpPr>
          <p:cNvPr id="276" name="TextBox 275"/>
          <p:cNvSpPr txBox="1">
            <a:spLocks noChangeArrowheads="1"/>
          </p:cNvSpPr>
          <p:nvPr/>
        </p:nvSpPr>
        <p:spPr bwMode="auto">
          <a:xfrm>
            <a:off x="1279525" y="4984750"/>
            <a:ext cx="11985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1</a:t>
            </a:r>
          </a:p>
        </p:txBody>
      </p:sp>
      <p:sp>
        <p:nvSpPr>
          <p:cNvPr id="277" name="TextBox 276"/>
          <p:cNvSpPr txBox="1">
            <a:spLocks noChangeArrowheads="1"/>
          </p:cNvSpPr>
          <p:nvPr/>
        </p:nvSpPr>
        <p:spPr bwMode="auto">
          <a:xfrm>
            <a:off x="1279525" y="4114800"/>
            <a:ext cx="11985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2</a:t>
            </a:r>
          </a:p>
        </p:txBody>
      </p:sp>
      <p:sp>
        <p:nvSpPr>
          <p:cNvPr id="278" name="TextBox 277"/>
          <p:cNvSpPr txBox="1">
            <a:spLocks noChangeArrowheads="1"/>
          </p:cNvSpPr>
          <p:nvPr/>
        </p:nvSpPr>
        <p:spPr bwMode="auto">
          <a:xfrm>
            <a:off x="1279525" y="3405188"/>
            <a:ext cx="11985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3</a:t>
            </a:r>
          </a:p>
        </p:txBody>
      </p:sp>
      <p:sp>
        <p:nvSpPr>
          <p:cNvPr id="279" name="Slide Number Placeholder 2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" grpId="0"/>
      <p:bldP spid="275" grpId="0"/>
      <p:bldP spid="276" grpId="0"/>
      <p:bldP spid="277" grpId="0"/>
      <p:bldP spid="2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Content Placeholder 2"/>
          <p:cNvSpPr>
            <a:spLocks noGrp="1"/>
          </p:cNvSpPr>
          <p:nvPr>
            <p:ph idx="1"/>
          </p:nvPr>
        </p:nvSpPr>
        <p:spPr>
          <a:xfrm>
            <a:off x="457200" y="1646239"/>
            <a:ext cx="8229600" cy="2164126"/>
          </a:xfrm>
        </p:spPr>
        <p:txBody>
          <a:bodyPr/>
          <a:lstStyle/>
          <a:p>
            <a:r>
              <a:rPr lang="en-US" dirty="0" smtClean="0"/>
              <a:t>Continuously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Overlay appropriate hierarchy on network fabric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Group sets of related switches into </a:t>
            </a:r>
            <a:r>
              <a:rPr lang="en-US" i="1" dirty="0" smtClean="0"/>
              <a:t>hypernodes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Assign </a:t>
            </a:r>
            <a:r>
              <a:rPr lang="en-US" i="1" dirty="0" smtClean="0"/>
              <a:t>coordinates</a:t>
            </a:r>
            <a:r>
              <a:rPr lang="en-US" dirty="0" smtClean="0"/>
              <a:t> to switches</a:t>
            </a:r>
            <a:endParaRPr lang="en-US" i="1" dirty="0" smtClean="0"/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Combine coordinates to form </a:t>
            </a:r>
            <a:r>
              <a:rPr lang="en-US" i="1" dirty="0" smtClean="0"/>
              <a:t>labels</a:t>
            </a:r>
          </a:p>
          <a:p>
            <a:endParaRPr lang="en-US" dirty="0" smtClean="0"/>
          </a:p>
          <a:p>
            <a:pPr>
              <a:buFont typeface="Wingdings 3" pitchFamily="18" charset="2"/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Distributed Protocol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1760537"/>
          </a:xfrm>
        </p:spPr>
        <p:txBody>
          <a:bodyPr>
            <a:normAutofit/>
          </a:bodyPr>
          <a:lstStyle/>
          <a:p>
            <a:r>
              <a:rPr lang="en-US" dirty="0" smtClean="0"/>
              <a:t>Labels encode paths from a root to a host</a:t>
            </a:r>
          </a:p>
          <a:p>
            <a:pPr lvl="1"/>
            <a:r>
              <a:rPr lang="en-US" dirty="0" smtClean="0"/>
              <a:t>Multiple paths lead to multiple labels per host</a:t>
            </a:r>
          </a:p>
          <a:p>
            <a:r>
              <a:rPr lang="en-US" dirty="0" smtClean="0"/>
              <a:t>Aggregate for label compaction</a:t>
            </a:r>
          </a:p>
          <a:p>
            <a:pPr lvl="1"/>
            <a:r>
              <a:rPr lang="en-US" dirty="0" smtClean="0"/>
              <a:t>Locate switches that reach same hosts</a:t>
            </a:r>
          </a:p>
          <a:p>
            <a:pPr lvl="1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2. Discover Hypernodes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 bwMode="auto">
          <a:xfrm>
            <a:off x="7151688" y="4265614"/>
            <a:ext cx="506412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 bwMode="auto">
          <a:xfrm>
            <a:off x="6232525" y="5181601"/>
            <a:ext cx="506413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7146925" y="5181601"/>
            <a:ext cx="508000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 bwMode="auto">
          <a:xfrm>
            <a:off x="6227763" y="6107114"/>
            <a:ext cx="508000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 bwMode="auto">
          <a:xfrm>
            <a:off x="7143750" y="6108701"/>
            <a:ext cx="506413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>
            <a:stCxn id="47" idx="3"/>
            <a:endCxn id="48" idx="7"/>
          </p:cNvCxnSpPr>
          <p:nvPr/>
        </p:nvCxnSpPr>
        <p:spPr bwMode="auto">
          <a:xfrm rot="5400000">
            <a:off x="6657181" y="5617370"/>
            <a:ext cx="568325" cy="56038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6" idx="5"/>
            <a:endCxn id="49" idx="1"/>
          </p:cNvCxnSpPr>
          <p:nvPr/>
        </p:nvCxnSpPr>
        <p:spPr bwMode="auto">
          <a:xfrm rot="16200000" flipH="1">
            <a:off x="6656387" y="5621339"/>
            <a:ext cx="568325" cy="55245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7" idx="4"/>
            <a:endCxn id="49" idx="0"/>
          </p:cNvCxnSpPr>
          <p:nvPr/>
        </p:nvCxnSpPr>
        <p:spPr bwMode="auto">
          <a:xfrm rot="5400000">
            <a:off x="7188200" y="5895977"/>
            <a:ext cx="420687" cy="4762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 bwMode="auto">
          <a:xfrm>
            <a:off x="8067675" y="5207001"/>
            <a:ext cx="508000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 bwMode="auto">
          <a:xfrm>
            <a:off x="8064500" y="6108701"/>
            <a:ext cx="506413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55" name="Straight Connector 54"/>
          <p:cNvCxnSpPr>
            <a:stCxn id="53" idx="4"/>
            <a:endCxn id="54" idx="0"/>
          </p:cNvCxnSpPr>
          <p:nvPr/>
        </p:nvCxnSpPr>
        <p:spPr bwMode="auto">
          <a:xfrm rot="5400000">
            <a:off x="8122444" y="5909470"/>
            <a:ext cx="395287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3" idx="3"/>
            <a:endCxn id="49" idx="7"/>
          </p:cNvCxnSpPr>
          <p:nvPr/>
        </p:nvCxnSpPr>
        <p:spPr bwMode="auto">
          <a:xfrm rot="5400000">
            <a:off x="7587456" y="5626895"/>
            <a:ext cx="542925" cy="56673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7" idx="5"/>
            <a:endCxn id="54" idx="1"/>
          </p:cNvCxnSpPr>
          <p:nvPr/>
        </p:nvCxnSpPr>
        <p:spPr bwMode="auto">
          <a:xfrm rot="16200000" flipH="1">
            <a:off x="7575550" y="5618164"/>
            <a:ext cx="568325" cy="55880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3" idx="2"/>
            <a:endCxn id="48" idx="6"/>
          </p:cNvCxnSpPr>
          <p:nvPr/>
        </p:nvCxnSpPr>
        <p:spPr bwMode="auto">
          <a:xfrm rot="10800000" flipV="1">
            <a:off x="6735763" y="5459414"/>
            <a:ext cx="1331912" cy="90170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45" idx="5"/>
            <a:endCxn id="53" idx="1"/>
          </p:cNvCxnSpPr>
          <p:nvPr/>
        </p:nvCxnSpPr>
        <p:spPr bwMode="auto">
          <a:xfrm rot="16200000" flipH="1">
            <a:off x="7573169" y="4710907"/>
            <a:ext cx="581025" cy="55721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 bwMode="auto">
          <a:xfrm>
            <a:off x="8072438" y="4265614"/>
            <a:ext cx="508000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 bwMode="auto">
          <a:xfrm>
            <a:off x="6237288" y="4265614"/>
            <a:ext cx="506412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/>
          <p:cNvCxnSpPr>
            <a:stCxn id="61" idx="4"/>
            <a:endCxn id="46" idx="0"/>
          </p:cNvCxnSpPr>
          <p:nvPr/>
        </p:nvCxnSpPr>
        <p:spPr bwMode="auto">
          <a:xfrm rot="5400000">
            <a:off x="6283325" y="4975227"/>
            <a:ext cx="407987" cy="4762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0" idx="4"/>
            <a:endCxn id="53" idx="0"/>
          </p:cNvCxnSpPr>
          <p:nvPr/>
        </p:nvCxnSpPr>
        <p:spPr bwMode="auto">
          <a:xfrm rot="5400000">
            <a:off x="8107363" y="4987926"/>
            <a:ext cx="433387" cy="476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46" idx="4"/>
            <a:endCxn id="48" idx="0"/>
          </p:cNvCxnSpPr>
          <p:nvPr/>
        </p:nvCxnSpPr>
        <p:spPr bwMode="auto">
          <a:xfrm rot="5400000">
            <a:off x="6273801" y="5895976"/>
            <a:ext cx="419100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1" idx="5"/>
            <a:endCxn id="47" idx="1"/>
          </p:cNvCxnSpPr>
          <p:nvPr/>
        </p:nvCxnSpPr>
        <p:spPr bwMode="auto">
          <a:xfrm rot="16200000" flipH="1">
            <a:off x="6667500" y="4700589"/>
            <a:ext cx="555625" cy="55245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0" idx="3"/>
            <a:endCxn id="47" idx="7"/>
          </p:cNvCxnSpPr>
          <p:nvPr/>
        </p:nvCxnSpPr>
        <p:spPr bwMode="auto">
          <a:xfrm rot="5400000">
            <a:off x="7585869" y="4693445"/>
            <a:ext cx="555625" cy="56673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 bwMode="auto">
          <a:xfrm>
            <a:off x="7151688" y="3343276"/>
            <a:ext cx="506412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9" name="Straight Connector 68"/>
          <p:cNvCxnSpPr>
            <a:stCxn id="68" idx="3"/>
            <a:endCxn id="61" idx="0"/>
          </p:cNvCxnSpPr>
          <p:nvPr/>
        </p:nvCxnSpPr>
        <p:spPr bwMode="auto">
          <a:xfrm rot="5400000">
            <a:off x="6613525" y="3652839"/>
            <a:ext cx="488950" cy="73660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8" idx="4"/>
            <a:endCxn id="45" idx="0"/>
          </p:cNvCxnSpPr>
          <p:nvPr/>
        </p:nvCxnSpPr>
        <p:spPr bwMode="auto">
          <a:xfrm rot="5400000">
            <a:off x="7197725" y="4057652"/>
            <a:ext cx="415925" cy="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8" idx="5"/>
          </p:cNvCxnSpPr>
          <p:nvPr/>
        </p:nvCxnSpPr>
        <p:spPr bwMode="auto">
          <a:xfrm rot="16200000" flipH="1">
            <a:off x="7707313" y="3654426"/>
            <a:ext cx="488950" cy="733425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5" idx="3"/>
            <a:endCxn id="46" idx="7"/>
          </p:cNvCxnSpPr>
          <p:nvPr/>
        </p:nvCxnSpPr>
        <p:spPr bwMode="auto">
          <a:xfrm rot="5400000">
            <a:off x="6667500" y="4695826"/>
            <a:ext cx="555625" cy="561975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44" name="TextBox 61"/>
          <p:cNvSpPr txBox="1">
            <a:spLocks noChangeArrowheads="1"/>
          </p:cNvSpPr>
          <p:nvPr/>
        </p:nvSpPr>
        <p:spPr bwMode="auto">
          <a:xfrm>
            <a:off x="5024438" y="6183314"/>
            <a:ext cx="11985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1</a:t>
            </a:r>
          </a:p>
        </p:txBody>
      </p:sp>
      <p:sp>
        <p:nvSpPr>
          <p:cNvPr id="44045" name="TextBox 75"/>
          <p:cNvSpPr txBox="1">
            <a:spLocks noChangeArrowheads="1"/>
          </p:cNvSpPr>
          <p:nvPr/>
        </p:nvSpPr>
        <p:spPr bwMode="auto">
          <a:xfrm>
            <a:off x="5024438" y="5245101"/>
            <a:ext cx="11985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2</a:t>
            </a:r>
          </a:p>
        </p:txBody>
      </p:sp>
      <p:sp>
        <p:nvSpPr>
          <p:cNvPr id="44046" name="TextBox 76"/>
          <p:cNvSpPr txBox="1">
            <a:spLocks noChangeArrowheads="1"/>
          </p:cNvSpPr>
          <p:nvPr/>
        </p:nvSpPr>
        <p:spPr bwMode="auto">
          <a:xfrm>
            <a:off x="5024438" y="4330701"/>
            <a:ext cx="11985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3</a:t>
            </a:r>
          </a:p>
        </p:txBody>
      </p:sp>
      <p:sp>
        <p:nvSpPr>
          <p:cNvPr id="44047" name="TextBox 77"/>
          <p:cNvSpPr txBox="1">
            <a:spLocks noChangeArrowheads="1"/>
          </p:cNvSpPr>
          <p:nvPr/>
        </p:nvSpPr>
        <p:spPr bwMode="auto">
          <a:xfrm>
            <a:off x="5024438" y="3406776"/>
            <a:ext cx="11985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latin typeface="Lucida Sans Unicode" pitchFamily="34" charset="0"/>
              </a:rPr>
              <a:t>Level 4</a:t>
            </a: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1217257" y="5713413"/>
            <a:ext cx="3994506" cy="481012"/>
          </a:xfrm>
          <a:prstGeom prst="rect">
            <a:avLst/>
          </a:prstGeom>
        </p:spPr>
        <p:txBody>
          <a:bodyPr/>
          <a:lstStyle/>
          <a:p>
            <a:pPr marL="0" lvl="1" algn="ctr"/>
            <a:r>
              <a:rPr lang="en-US" dirty="0" smtClean="0">
                <a:latin typeface="+mn-lt"/>
              </a:rPr>
              <a:t>(hosts omitted for space)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2. Discover Hypernodes</a:t>
            </a:r>
            <a:endParaRPr lang="en-US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457200" y="1611313"/>
            <a:ext cx="4505016" cy="1731962"/>
          </a:xfrm>
          <a:prstGeom prst="rect">
            <a:avLst/>
          </a:prstGeom>
        </p:spPr>
        <p:txBody>
          <a:bodyPr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defRPr/>
            </a:pPr>
            <a:r>
              <a:rPr lang="en-US" sz="2300" dirty="0">
                <a:latin typeface="+mn-lt"/>
              </a:rPr>
              <a:t>Hypernode (HN):</a:t>
            </a:r>
            <a:endParaRPr lang="en-US" sz="2300" dirty="0" smtClean="0">
              <a:latin typeface="+mn-lt"/>
            </a:endParaRP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defRPr/>
            </a:pPr>
            <a:r>
              <a:rPr lang="en-US" sz="2300" dirty="0" smtClean="0">
                <a:latin typeface="+mn-lt"/>
              </a:rPr>
              <a:t>Maximal </a:t>
            </a:r>
            <a:r>
              <a:rPr lang="en-US" sz="2300" dirty="0">
                <a:latin typeface="+mn-lt"/>
              </a:rPr>
              <a:t>set of switches</a:t>
            </a:r>
            <a:r>
              <a:rPr lang="en-US" sz="2300" dirty="0" smtClean="0">
                <a:latin typeface="+mn-lt"/>
              </a:rPr>
              <a:t> that </a:t>
            </a:r>
            <a:r>
              <a:rPr lang="en-US" sz="2300" dirty="0">
                <a:latin typeface="+mn-lt"/>
              </a:rPr>
              <a:t>connect to same HNs below 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defRPr/>
            </a:pPr>
            <a:r>
              <a:rPr lang="en-US" sz="2300" dirty="0">
                <a:latin typeface="+mn-lt"/>
              </a:rPr>
              <a:t>(via any member)</a:t>
            </a:r>
            <a:endParaRPr lang="en-US" sz="2300" dirty="0" smtClean="0">
              <a:latin typeface="+mn-lt"/>
            </a:endParaRPr>
          </a:p>
          <a:p>
            <a:pPr marL="0" lvl="1"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90000"/>
              <a:buFont typeface="Wingdings 2" pitchFamily="18" charset="2"/>
              <a:buChar char="Ü"/>
              <a:defRPr/>
            </a:pPr>
            <a:endParaRPr lang="en-US" sz="2300" dirty="0">
              <a:latin typeface="+mn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96172" y="5138928"/>
            <a:ext cx="573088" cy="579437"/>
          </a:xfrm>
          <a:prstGeom prst="roundRect">
            <a:avLst/>
          </a:prstGeom>
          <a:solidFill>
            <a:schemeClr val="accent1">
              <a:alpha val="73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" name="Rounded Rectangle 40"/>
          <p:cNvSpPr/>
          <p:nvPr/>
        </p:nvSpPr>
        <p:spPr>
          <a:xfrm>
            <a:off x="7108985" y="5138928"/>
            <a:ext cx="1506537" cy="579437"/>
          </a:xfrm>
          <a:prstGeom prst="roundRect">
            <a:avLst/>
          </a:prstGeom>
          <a:solidFill>
            <a:srgbClr val="000090">
              <a:alpha val="73000"/>
            </a:srgb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2" name="Rounded Rectangle 41"/>
          <p:cNvSpPr/>
          <p:nvPr/>
        </p:nvSpPr>
        <p:spPr>
          <a:xfrm>
            <a:off x="8036085" y="4242816"/>
            <a:ext cx="571500" cy="579437"/>
          </a:xfrm>
          <a:prstGeom prst="roundRect">
            <a:avLst/>
          </a:prstGeom>
          <a:solidFill>
            <a:schemeClr val="accent3">
              <a:alpha val="73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3" name="Rounded Rectangle 42"/>
          <p:cNvSpPr/>
          <p:nvPr/>
        </p:nvSpPr>
        <p:spPr>
          <a:xfrm>
            <a:off x="6196172" y="4242816"/>
            <a:ext cx="1506538" cy="579437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3" name="Group 181"/>
          <p:cNvGrpSpPr>
            <a:grpSpLocks noChangeAspect="1"/>
          </p:cNvGrpSpPr>
          <p:nvPr/>
        </p:nvGrpSpPr>
        <p:grpSpPr bwMode="auto">
          <a:xfrm>
            <a:off x="6226335" y="3346704"/>
            <a:ext cx="2352675" cy="3271838"/>
            <a:chOff x="51915" y="2661997"/>
            <a:chExt cx="2993357" cy="4164863"/>
          </a:xfrm>
        </p:grpSpPr>
        <p:sp>
          <p:nvSpPr>
            <p:cNvPr id="45" name="Oval 44"/>
            <p:cNvSpPr/>
            <p:nvPr/>
          </p:nvSpPr>
          <p:spPr>
            <a:xfrm>
              <a:off x="122744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7974" y="5002080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1221384" y="5002080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51915" y="6180205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1217344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49"/>
            <p:cNvCxnSpPr>
              <a:stCxn id="47" idx="3"/>
              <a:endCxn id="48" idx="7"/>
            </p:cNvCxnSpPr>
            <p:nvPr/>
          </p:nvCxnSpPr>
          <p:spPr>
            <a:xfrm rot="5400000">
              <a:off x="598096" y="5556963"/>
              <a:ext cx="723445" cy="71299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46" idx="5"/>
              <a:endCxn id="49" idx="1"/>
            </p:cNvCxnSpPr>
            <p:nvPr/>
          </p:nvCxnSpPr>
          <p:spPr>
            <a:xfrm rot="16200000" flipH="1">
              <a:off x="597085" y="5562013"/>
              <a:ext cx="723445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7" idx="4"/>
              <a:endCxn id="49" idx="0"/>
            </p:cNvCxnSpPr>
            <p:nvPr/>
          </p:nvCxnSpPr>
          <p:spPr>
            <a:xfrm rot="5400000">
              <a:off x="1273768" y="5911441"/>
              <a:ext cx="535511" cy="6059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2392873" y="5034413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2388833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Straight Connector 54"/>
            <p:cNvCxnSpPr>
              <a:stCxn id="53" idx="4"/>
              <a:endCxn id="54" idx="0"/>
            </p:cNvCxnSpPr>
            <p:nvPr/>
          </p:nvCxnSpPr>
          <p:spPr>
            <a:xfrm rot="5400000">
              <a:off x="2462434" y="5928616"/>
              <a:ext cx="503178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53" idx="3"/>
              <a:endCxn id="49" idx="7"/>
            </p:cNvCxnSpPr>
            <p:nvPr/>
          </p:nvCxnSpPr>
          <p:spPr>
            <a:xfrm rot="5400000">
              <a:off x="1781712" y="5569090"/>
              <a:ext cx="691113" cy="72107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47" idx="5"/>
              <a:endCxn id="54" idx="1"/>
            </p:cNvCxnSpPr>
            <p:nvPr/>
          </p:nvCxnSpPr>
          <p:spPr>
            <a:xfrm rot="16200000" flipH="1">
              <a:off x="1766555" y="5557973"/>
              <a:ext cx="723445" cy="71097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53" idx="2"/>
              <a:endCxn id="48" idx="6"/>
            </p:cNvCxnSpPr>
            <p:nvPr/>
          </p:nvCxnSpPr>
          <p:spPr>
            <a:xfrm rot="10800000" flipV="1">
              <a:off x="698254" y="5355720"/>
              <a:ext cx="1694619" cy="114781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45" idx="5"/>
              <a:endCxn id="53" idx="1"/>
            </p:cNvCxnSpPr>
            <p:nvPr/>
          </p:nvCxnSpPr>
          <p:spPr>
            <a:xfrm rot="16200000" flipH="1">
              <a:off x="1763522" y="4403087"/>
              <a:ext cx="739612" cy="70895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/>
            <p:cNvSpPr/>
            <p:nvPr/>
          </p:nvSpPr>
          <p:spPr>
            <a:xfrm>
              <a:off x="2398933" y="3836081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6403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/>
            <p:cNvCxnSpPr>
              <a:stCxn id="61" idx="4"/>
              <a:endCxn id="46" idx="0"/>
            </p:cNvCxnSpPr>
            <p:nvPr/>
          </p:nvCxnSpPr>
          <p:spPr>
            <a:xfrm rot="5400000">
              <a:off x="122481" y="4739379"/>
              <a:ext cx="519344" cy="6059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0" idx="4"/>
              <a:endCxn id="53" idx="0"/>
            </p:cNvCxnSpPr>
            <p:nvPr/>
          </p:nvCxnSpPr>
          <p:spPr>
            <a:xfrm rot="5400000">
              <a:off x="2443234" y="4755544"/>
              <a:ext cx="551677" cy="606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46" idx="4"/>
              <a:endCxn id="48" idx="0"/>
            </p:cNvCxnSpPr>
            <p:nvPr/>
          </p:nvCxnSpPr>
          <p:spPr>
            <a:xfrm rot="5400000">
              <a:off x="110360" y="5911439"/>
              <a:ext cx="533490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61" idx="5"/>
              <a:endCxn id="47" idx="1"/>
            </p:cNvCxnSpPr>
            <p:nvPr/>
          </p:nvCxnSpPr>
          <p:spPr>
            <a:xfrm rot="16200000" flipH="1">
              <a:off x="611229" y="4389951"/>
              <a:ext cx="707279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60" idx="3"/>
              <a:endCxn id="47" idx="7"/>
            </p:cNvCxnSpPr>
            <p:nvPr/>
          </p:nvCxnSpPr>
          <p:spPr>
            <a:xfrm rot="5400000">
              <a:off x="1779688" y="4380861"/>
              <a:ext cx="707279" cy="72107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/>
            <p:cNvSpPr/>
            <p:nvPr/>
          </p:nvSpPr>
          <p:spPr>
            <a:xfrm>
              <a:off x="1227444" y="2661997"/>
              <a:ext cx="644318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Straight Connector 68"/>
            <p:cNvCxnSpPr>
              <a:stCxn id="68" idx="3"/>
              <a:endCxn id="61" idx="0"/>
            </p:cNvCxnSpPr>
            <p:nvPr/>
          </p:nvCxnSpPr>
          <p:spPr>
            <a:xfrm rot="5400000">
              <a:off x="542576" y="3056282"/>
              <a:ext cx="622405" cy="93719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68" idx="4"/>
              <a:endCxn id="45" idx="0"/>
            </p:cNvCxnSpPr>
            <p:nvPr/>
          </p:nvCxnSpPr>
          <p:spPr>
            <a:xfrm rot="5400000">
              <a:off x="1285888" y="3571357"/>
              <a:ext cx="529449" cy="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8" idx="5"/>
            </p:cNvCxnSpPr>
            <p:nvPr/>
          </p:nvCxnSpPr>
          <p:spPr>
            <a:xfrm rot="16200000" flipH="1">
              <a:off x="1934225" y="3058301"/>
              <a:ext cx="622405" cy="93315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45" idx="3"/>
              <a:endCxn id="46" idx="7"/>
            </p:cNvCxnSpPr>
            <p:nvPr/>
          </p:nvCxnSpPr>
          <p:spPr>
            <a:xfrm rot="5400000">
              <a:off x="611229" y="4383891"/>
              <a:ext cx="707279" cy="71501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ounded Rectangle 72"/>
          <p:cNvSpPr/>
          <p:nvPr/>
        </p:nvSpPr>
        <p:spPr>
          <a:xfrm>
            <a:off x="7107397" y="6080760"/>
            <a:ext cx="558800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4" name="Rounded Rectangle 73"/>
          <p:cNvSpPr/>
          <p:nvPr/>
        </p:nvSpPr>
        <p:spPr>
          <a:xfrm>
            <a:off x="80217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5" name="Rounded Rectangle 74"/>
          <p:cNvSpPr/>
          <p:nvPr/>
        </p:nvSpPr>
        <p:spPr>
          <a:xfrm>
            <a:off x="61929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80" name="Group 79"/>
          <p:cNvGrpSpPr/>
          <p:nvPr/>
        </p:nvGrpSpPr>
        <p:grpSpPr>
          <a:xfrm>
            <a:off x="5023010" y="3410712"/>
            <a:ext cx="1198562" cy="3144838"/>
            <a:chOff x="5023010" y="3405188"/>
            <a:chExt cx="1198562" cy="3144838"/>
          </a:xfrm>
        </p:grpSpPr>
        <p:sp>
          <p:nvSpPr>
            <p:cNvPr id="44044" name="TextBox 61"/>
            <p:cNvSpPr txBox="1">
              <a:spLocks noChangeArrowheads="1"/>
            </p:cNvSpPr>
            <p:nvPr/>
          </p:nvSpPr>
          <p:spPr bwMode="auto">
            <a:xfrm>
              <a:off x="5023010" y="6181726"/>
              <a:ext cx="1198562" cy="368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dirty="0">
                  <a:latin typeface="Lucida Sans Unicode" pitchFamily="34" charset="0"/>
                </a:rPr>
                <a:t>Level 1</a:t>
              </a:r>
            </a:p>
          </p:txBody>
        </p:sp>
        <p:sp>
          <p:nvSpPr>
            <p:cNvPr id="44045" name="TextBox 75"/>
            <p:cNvSpPr txBox="1">
              <a:spLocks noChangeArrowheads="1"/>
            </p:cNvSpPr>
            <p:nvPr/>
          </p:nvSpPr>
          <p:spPr bwMode="auto">
            <a:xfrm>
              <a:off x="5023010" y="5243513"/>
              <a:ext cx="1198562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dirty="0">
                  <a:latin typeface="Lucida Sans Unicode" pitchFamily="34" charset="0"/>
                </a:rPr>
                <a:t>Level 2</a:t>
              </a:r>
            </a:p>
          </p:txBody>
        </p:sp>
        <p:sp>
          <p:nvSpPr>
            <p:cNvPr id="44046" name="TextBox 76"/>
            <p:cNvSpPr txBox="1">
              <a:spLocks noChangeArrowheads="1"/>
            </p:cNvSpPr>
            <p:nvPr/>
          </p:nvSpPr>
          <p:spPr bwMode="auto">
            <a:xfrm>
              <a:off x="5023010" y="4329113"/>
              <a:ext cx="1198562" cy="368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dirty="0">
                  <a:latin typeface="Lucida Sans Unicode" pitchFamily="34" charset="0"/>
                </a:rPr>
                <a:t>Level 3</a:t>
              </a:r>
            </a:p>
          </p:txBody>
        </p:sp>
        <p:sp>
          <p:nvSpPr>
            <p:cNvPr id="44047" name="TextBox 77"/>
            <p:cNvSpPr txBox="1">
              <a:spLocks noChangeArrowheads="1"/>
            </p:cNvSpPr>
            <p:nvPr/>
          </p:nvSpPr>
          <p:spPr bwMode="auto">
            <a:xfrm>
              <a:off x="5023010" y="3405188"/>
              <a:ext cx="1198562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dirty="0">
                  <a:latin typeface="Lucida Sans Unicode" pitchFamily="34" charset="0"/>
                </a:rPr>
                <a:t>Level 4</a:t>
              </a:r>
            </a:p>
          </p:txBody>
        </p:sp>
      </p:grpSp>
      <p:sp>
        <p:nvSpPr>
          <p:cNvPr id="62" name="Content Placeholder 2"/>
          <p:cNvSpPr txBox="1">
            <a:spLocks/>
          </p:cNvSpPr>
          <p:nvPr/>
        </p:nvSpPr>
        <p:spPr>
          <a:xfrm>
            <a:off x="268447" y="3780600"/>
            <a:ext cx="4754563" cy="1609725"/>
          </a:xfrm>
          <a:prstGeom prst="rect">
            <a:avLst/>
          </a:prstGeom>
        </p:spPr>
        <p:txBody>
          <a:bodyPr/>
          <a:lstStyle/>
          <a:p>
            <a:pPr marL="0" lvl="1" algn="ctr"/>
            <a:r>
              <a:rPr lang="en-US" sz="2300" dirty="0" smtClean="0">
                <a:latin typeface="+mn-lt"/>
              </a:rPr>
              <a:t>Hypernode members are indistinguishable on downward path from root</a:t>
            </a:r>
          </a:p>
        </p:txBody>
      </p:sp>
      <p:sp>
        <p:nvSpPr>
          <p:cNvPr id="76" name="Content Placeholder 2"/>
          <p:cNvSpPr txBox="1">
            <a:spLocks/>
          </p:cNvSpPr>
          <p:nvPr/>
        </p:nvSpPr>
        <p:spPr>
          <a:xfrm>
            <a:off x="5211762" y="1611313"/>
            <a:ext cx="3475037" cy="1282468"/>
          </a:xfrm>
          <a:prstGeom prst="rect">
            <a:avLst/>
          </a:prstGeom>
        </p:spPr>
        <p:txBody>
          <a:bodyPr/>
          <a:lstStyle/>
          <a:p>
            <a:pPr marL="0" lvl="1"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90000"/>
              <a:defRPr/>
            </a:pPr>
            <a:r>
              <a:rPr lang="en-US" sz="2300" dirty="0" smtClean="0">
                <a:latin typeface="+mn-lt"/>
              </a:rPr>
              <a:t>Base Case: </a:t>
            </a:r>
          </a:p>
          <a:p>
            <a:pPr marL="0" lvl="1"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90000"/>
              <a:buFont typeface="Wingdings 2" pitchFamily="18" charset="2"/>
              <a:buChar char="Ü"/>
              <a:defRPr/>
            </a:pPr>
            <a:r>
              <a:rPr lang="en-US" sz="2300" dirty="0" smtClean="0">
                <a:latin typeface="+mn-lt"/>
              </a:rPr>
              <a:t>Each Level 1 switch is in its own hypernode</a:t>
            </a:r>
          </a:p>
          <a:p>
            <a:pPr marL="0" lvl="1" algn="ctr" defTabSz="914400" fontAlgn="auto"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90000"/>
              <a:buFont typeface="Wingdings 2" pitchFamily="18" charset="2"/>
              <a:buChar char="Ü"/>
              <a:defRPr/>
            </a:pPr>
            <a:endParaRPr lang="en-US" sz="2300" dirty="0">
              <a:latin typeface="+mn-lt"/>
            </a:endParaRPr>
          </a:p>
        </p:txBody>
      </p:sp>
      <p:sp>
        <p:nvSpPr>
          <p:cNvPr id="77" name="Slide Number Placeholder 7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73" grpId="0" animBg="1"/>
      <p:bldP spid="74" grpId="0" animBg="1"/>
      <p:bldP spid="75" grpId="0" animBg="1"/>
      <p:bldP spid="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Content Placeholder 2"/>
          <p:cNvSpPr>
            <a:spLocks noGrp="1"/>
          </p:cNvSpPr>
          <p:nvPr>
            <p:ph idx="1"/>
          </p:nvPr>
        </p:nvSpPr>
        <p:spPr>
          <a:xfrm>
            <a:off x="457200" y="1646239"/>
            <a:ext cx="8229600" cy="2137938"/>
          </a:xfrm>
        </p:spPr>
        <p:txBody>
          <a:bodyPr/>
          <a:lstStyle/>
          <a:p>
            <a:r>
              <a:rPr lang="en-US" dirty="0" smtClean="0"/>
              <a:t>Continuously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Overlay appropriate hierarchy on network fabric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Group sets of related switches into 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hypernodes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Assign </a:t>
            </a:r>
            <a:r>
              <a:rPr lang="en-US" i="1" dirty="0" smtClean="0"/>
              <a:t>coordinates</a:t>
            </a:r>
            <a:r>
              <a:rPr lang="en-US" dirty="0" smtClean="0"/>
              <a:t> to switches</a:t>
            </a:r>
            <a:endParaRPr lang="en-US" i="1" dirty="0" smtClean="0"/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Combine coordinates to form </a:t>
            </a:r>
            <a:r>
              <a:rPr lang="en-US" i="1" dirty="0" smtClean="0"/>
              <a:t>labels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Distributed Protocol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199" y="1646238"/>
            <a:ext cx="8229601" cy="1051134"/>
          </a:xfrm>
        </p:spPr>
        <p:txBody>
          <a:bodyPr>
            <a:normAutofit/>
          </a:bodyPr>
          <a:lstStyle/>
          <a:p>
            <a:r>
              <a:rPr lang="en-US" dirty="0" smtClean="0"/>
              <a:t>Coordinates combine to make up labels</a:t>
            </a:r>
          </a:p>
          <a:p>
            <a:r>
              <a:rPr lang="en-US" dirty="0" smtClean="0"/>
              <a:t>Labels used to route downwards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4" name="Content Placeholder 2"/>
          <p:cNvSpPr txBox="1">
            <a:spLocks/>
          </p:cNvSpPr>
          <p:nvPr/>
        </p:nvSpPr>
        <p:spPr>
          <a:xfrm>
            <a:off x="457200" y="3051175"/>
            <a:ext cx="5356204" cy="10341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Switches in a </a:t>
            </a:r>
            <a:r>
              <a:rPr lang="en-US" sz="2300" dirty="0" smtClean="0">
                <a:latin typeface="+mn-lt"/>
              </a:rPr>
              <a:t>HN share a coordinate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196172" y="5138928"/>
            <a:ext cx="573088" cy="579437"/>
          </a:xfrm>
          <a:prstGeom prst="roundRect">
            <a:avLst/>
          </a:prstGeom>
          <a:solidFill>
            <a:schemeClr val="accent1">
              <a:alpha val="73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6" name="Rounded Rectangle 75"/>
          <p:cNvSpPr/>
          <p:nvPr/>
        </p:nvSpPr>
        <p:spPr>
          <a:xfrm>
            <a:off x="7108985" y="5138928"/>
            <a:ext cx="1506537" cy="579437"/>
          </a:xfrm>
          <a:prstGeom prst="roundRect">
            <a:avLst/>
          </a:prstGeom>
          <a:solidFill>
            <a:srgbClr val="000090">
              <a:alpha val="73000"/>
            </a:srgb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7" name="Rounded Rectangle 76"/>
          <p:cNvSpPr/>
          <p:nvPr/>
        </p:nvSpPr>
        <p:spPr>
          <a:xfrm>
            <a:off x="8036085" y="4242816"/>
            <a:ext cx="571500" cy="579437"/>
          </a:xfrm>
          <a:prstGeom prst="roundRect">
            <a:avLst/>
          </a:prstGeom>
          <a:solidFill>
            <a:schemeClr val="accent3">
              <a:alpha val="73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8" name="Rounded Rectangle 77"/>
          <p:cNvSpPr/>
          <p:nvPr/>
        </p:nvSpPr>
        <p:spPr>
          <a:xfrm>
            <a:off x="6196172" y="4242816"/>
            <a:ext cx="1506538" cy="579437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79" name="Group 181"/>
          <p:cNvGrpSpPr>
            <a:grpSpLocks noChangeAspect="1"/>
          </p:cNvGrpSpPr>
          <p:nvPr/>
        </p:nvGrpSpPr>
        <p:grpSpPr bwMode="auto">
          <a:xfrm>
            <a:off x="6226335" y="3346704"/>
            <a:ext cx="2352675" cy="3271838"/>
            <a:chOff x="51915" y="2661997"/>
            <a:chExt cx="2993357" cy="4164863"/>
          </a:xfrm>
        </p:grpSpPr>
        <p:sp>
          <p:nvSpPr>
            <p:cNvPr id="80" name="Oval 79"/>
            <p:cNvSpPr/>
            <p:nvPr/>
          </p:nvSpPr>
          <p:spPr>
            <a:xfrm>
              <a:off x="122744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57974" y="5002080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221384" y="5002080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51915" y="6180205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217344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Straight Connector 84"/>
            <p:cNvCxnSpPr>
              <a:stCxn id="82" idx="3"/>
              <a:endCxn id="83" idx="7"/>
            </p:cNvCxnSpPr>
            <p:nvPr/>
          </p:nvCxnSpPr>
          <p:spPr>
            <a:xfrm rot="5400000">
              <a:off x="598096" y="5556963"/>
              <a:ext cx="723445" cy="71299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81" idx="5"/>
              <a:endCxn id="84" idx="1"/>
            </p:cNvCxnSpPr>
            <p:nvPr/>
          </p:nvCxnSpPr>
          <p:spPr>
            <a:xfrm rot="16200000" flipH="1">
              <a:off x="597085" y="5562013"/>
              <a:ext cx="723445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82" idx="4"/>
              <a:endCxn id="84" idx="0"/>
            </p:cNvCxnSpPr>
            <p:nvPr/>
          </p:nvCxnSpPr>
          <p:spPr>
            <a:xfrm rot="5400000">
              <a:off x="1273768" y="5911441"/>
              <a:ext cx="535511" cy="6059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/>
            <p:cNvSpPr/>
            <p:nvPr/>
          </p:nvSpPr>
          <p:spPr>
            <a:xfrm>
              <a:off x="2392873" y="5034413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2388833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Straight Connector 89"/>
            <p:cNvCxnSpPr>
              <a:stCxn id="88" idx="4"/>
              <a:endCxn id="89" idx="0"/>
            </p:cNvCxnSpPr>
            <p:nvPr/>
          </p:nvCxnSpPr>
          <p:spPr>
            <a:xfrm rot="5400000">
              <a:off x="2462434" y="5928616"/>
              <a:ext cx="503178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88" idx="3"/>
              <a:endCxn id="84" idx="7"/>
            </p:cNvCxnSpPr>
            <p:nvPr/>
          </p:nvCxnSpPr>
          <p:spPr>
            <a:xfrm rot="5400000">
              <a:off x="1781712" y="5569090"/>
              <a:ext cx="691113" cy="72107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82" idx="5"/>
              <a:endCxn id="89" idx="1"/>
            </p:cNvCxnSpPr>
            <p:nvPr/>
          </p:nvCxnSpPr>
          <p:spPr>
            <a:xfrm rot="16200000" flipH="1">
              <a:off x="1766555" y="5557973"/>
              <a:ext cx="723445" cy="71097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88" idx="2"/>
              <a:endCxn id="83" idx="6"/>
            </p:cNvCxnSpPr>
            <p:nvPr/>
          </p:nvCxnSpPr>
          <p:spPr>
            <a:xfrm rot="10800000" flipV="1">
              <a:off x="698254" y="5355720"/>
              <a:ext cx="1694619" cy="114781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80" idx="5"/>
              <a:endCxn id="88" idx="1"/>
            </p:cNvCxnSpPr>
            <p:nvPr/>
          </p:nvCxnSpPr>
          <p:spPr>
            <a:xfrm rot="16200000" flipH="1">
              <a:off x="1763522" y="4403087"/>
              <a:ext cx="739612" cy="70895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/>
            <p:cNvSpPr/>
            <p:nvPr/>
          </p:nvSpPr>
          <p:spPr>
            <a:xfrm>
              <a:off x="2398933" y="3836081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Oval 95"/>
            <p:cNvSpPr/>
            <p:nvPr/>
          </p:nvSpPr>
          <p:spPr>
            <a:xfrm>
              <a:off x="6403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7" name="Straight Connector 96"/>
            <p:cNvCxnSpPr>
              <a:stCxn id="96" idx="4"/>
              <a:endCxn id="81" idx="0"/>
            </p:cNvCxnSpPr>
            <p:nvPr/>
          </p:nvCxnSpPr>
          <p:spPr>
            <a:xfrm rot="5400000">
              <a:off x="122481" y="4739379"/>
              <a:ext cx="519344" cy="6059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95" idx="4"/>
              <a:endCxn id="88" idx="0"/>
            </p:cNvCxnSpPr>
            <p:nvPr/>
          </p:nvCxnSpPr>
          <p:spPr>
            <a:xfrm rot="5400000">
              <a:off x="2443234" y="4755544"/>
              <a:ext cx="551677" cy="606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81" idx="4"/>
              <a:endCxn id="83" idx="0"/>
            </p:cNvCxnSpPr>
            <p:nvPr/>
          </p:nvCxnSpPr>
          <p:spPr>
            <a:xfrm rot="5400000">
              <a:off x="110360" y="5911439"/>
              <a:ext cx="533490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96" idx="5"/>
              <a:endCxn id="82" idx="1"/>
            </p:cNvCxnSpPr>
            <p:nvPr/>
          </p:nvCxnSpPr>
          <p:spPr>
            <a:xfrm rot="16200000" flipH="1">
              <a:off x="611229" y="4389951"/>
              <a:ext cx="707279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95" idx="3"/>
              <a:endCxn id="82" idx="7"/>
            </p:cNvCxnSpPr>
            <p:nvPr/>
          </p:nvCxnSpPr>
          <p:spPr>
            <a:xfrm rot="5400000">
              <a:off x="1779688" y="4380861"/>
              <a:ext cx="707279" cy="72107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Oval 101"/>
            <p:cNvSpPr/>
            <p:nvPr/>
          </p:nvSpPr>
          <p:spPr>
            <a:xfrm>
              <a:off x="1227444" y="2661997"/>
              <a:ext cx="644318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Straight Connector 102"/>
            <p:cNvCxnSpPr>
              <a:stCxn id="102" idx="3"/>
              <a:endCxn id="96" idx="0"/>
            </p:cNvCxnSpPr>
            <p:nvPr/>
          </p:nvCxnSpPr>
          <p:spPr>
            <a:xfrm rot="5400000">
              <a:off x="542576" y="3056282"/>
              <a:ext cx="622405" cy="93719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02" idx="4"/>
              <a:endCxn id="80" idx="0"/>
            </p:cNvCxnSpPr>
            <p:nvPr/>
          </p:nvCxnSpPr>
          <p:spPr>
            <a:xfrm rot="5400000">
              <a:off x="1285888" y="3571357"/>
              <a:ext cx="529449" cy="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02" idx="5"/>
            </p:cNvCxnSpPr>
            <p:nvPr/>
          </p:nvCxnSpPr>
          <p:spPr>
            <a:xfrm rot="16200000" flipH="1">
              <a:off x="1934225" y="3058301"/>
              <a:ext cx="622405" cy="93315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80" idx="3"/>
              <a:endCxn id="81" idx="7"/>
            </p:cNvCxnSpPr>
            <p:nvPr/>
          </p:nvCxnSpPr>
          <p:spPr>
            <a:xfrm rot="5400000">
              <a:off x="611229" y="4383891"/>
              <a:ext cx="707279" cy="71501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ounded Rectangle 106"/>
          <p:cNvSpPr/>
          <p:nvPr/>
        </p:nvSpPr>
        <p:spPr>
          <a:xfrm>
            <a:off x="7107397" y="6080760"/>
            <a:ext cx="558800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8" name="Rounded Rectangle 107"/>
          <p:cNvSpPr/>
          <p:nvPr/>
        </p:nvSpPr>
        <p:spPr>
          <a:xfrm>
            <a:off x="80217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9" name="Rounded Rectangle 108"/>
          <p:cNvSpPr/>
          <p:nvPr/>
        </p:nvSpPr>
        <p:spPr>
          <a:xfrm>
            <a:off x="61929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5" name="Content Placeholder 2"/>
          <p:cNvSpPr txBox="1">
            <a:spLocks/>
          </p:cNvSpPr>
          <p:nvPr/>
        </p:nvSpPr>
        <p:spPr>
          <a:xfrm>
            <a:off x="457200" y="4242816"/>
            <a:ext cx="5356204" cy="10341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lang="en-US" sz="2300" dirty="0" smtClean="0">
                <a:latin typeface="+mn-lt"/>
              </a:rPr>
              <a:t>HN’s with a parent in common need distinct coordinates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120" name="Rounded Rectangle 119"/>
          <p:cNvSpPr/>
          <p:nvPr/>
        </p:nvSpPr>
        <p:spPr>
          <a:xfrm>
            <a:off x="6196172" y="5138928"/>
            <a:ext cx="573088" cy="579437"/>
          </a:xfrm>
          <a:prstGeom prst="roundRect">
            <a:avLst/>
          </a:prstGeom>
          <a:solidFill>
            <a:schemeClr val="accent1">
              <a:alpha val="73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1" name="Rounded Rectangle 120"/>
          <p:cNvSpPr/>
          <p:nvPr/>
        </p:nvSpPr>
        <p:spPr>
          <a:xfrm>
            <a:off x="7108985" y="5138928"/>
            <a:ext cx="1506537" cy="579437"/>
          </a:xfrm>
          <a:prstGeom prst="roundRect">
            <a:avLst/>
          </a:prstGeom>
          <a:solidFill>
            <a:srgbClr val="000090">
              <a:alpha val="73000"/>
            </a:srgb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2" name="Rounded Rectangle 121"/>
          <p:cNvSpPr/>
          <p:nvPr/>
        </p:nvSpPr>
        <p:spPr>
          <a:xfrm>
            <a:off x="8036085" y="4242816"/>
            <a:ext cx="571500" cy="579437"/>
          </a:xfrm>
          <a:prstGeom prst="roundRect">
            <a:avLst/>
          </a:prstGeom>
          <a:solidFill>
            <a:schemeClr val="accent3">
              <a:alpha val="73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3" name="Rounded Rectangle 122"/>
          <p:cNvSpPr/>
          <p:nvPr/>
        </p:nvSpPr>
        <p:spPr>
          <a:xfrm>
            <a:off x="6196172" y="4242816"/>
            <a:ext cx="1506538" cy="579437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24" name="Group 181"/>
          <p:cNvGrpSpPr>
            <a:grpSpLocks noChangeAspect="1"/>
          </p:cNvGrpSpPr>
          <p:nvPr/>
        </p:nvGrpSpPr>
        <p:grpSpPr bwMode="auto">
          <a:xfrm>
            <a:off x="6226335" y="3346704"/>
            <a:ext cx="2352675" cy="3271838"/>
            <a:chOff x="51915" y="2661997"/>
            <a:chExt cx="2993357" cy="4164863"/>
          </a:xfrm>
        </p:grpSpPr>
        <p:sp>
          <p:nvSpPr>
            <p:cNvPr id="125" name="Oval 124"/>
            <p:cNvSpPr/>
            <p:nvPr/>
          </p:nvSpPr>
          <p:spPr>
            <a:xfrm>
              <a:off x="122744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6" name="Oval 125"/>
            <p:cNvSpPr/>
            <p:nvPr/>
          </p:nvSpPr>
          <p:spPr>
            <a:xfrm>
              <a:off x="57974" y="5002080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7" name="Oval 126"/>
            <p:cNvSpPr/>
            <p:nvPr/>
          </p:nvSpPr>
          <p:spPr>
            <a:xfrm>
              <a:off x="1221384" y="5002080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51915" y="6180205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Oval 128"/>
            <p:cNvSpPr/>
            <p:nvPr/>
          </p:nvSpPr>
          <p:spPr>
            <a:xfrm>
              <a:off x="1217344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30" name="Straight Connector 129"/>
            <p:cNvCxnSpPr>
              <a:stCxn id="127" idx="3"/>
              <a:endCxn id="128" idx="7"/>
            </p:cNvCxnSpPr>
            <p:nvPr/>
          </p:nvCxnSpPr>
          <p:spPr>
            <a:xfrm rot="5400000">
              <a:off x="598096" y="5556963"/>
              <a:ext cx="723445" cy="71299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26" idx="5"/>
              <a:endCxn id="129" idx="1"/>
            </p:cNvCxnSpPr>
            <p:nvPr/>
          </p:nvCxnSpPr>
          <p:spPr>
            <a:xfrm rot="16200000" flipH="1">
              <a:off x="597085" y="5562013"/>
              <a:ext cx="723445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27" idx="4"/>
              <a:endCxn id="129" idx="0"/>
            </p:cNvCxnSpPr>
            <p:nvPr/>
          </p:nvCxnSpPr>
          <p:spPr>
            <a:xfrm rot="5400000">
              <a:off x="1273768" y="5911441"/>
              <a:ext cx="535511" cy="6059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2392873" y="5034413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2388833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35" name="Straight Connector 134"/>
            <p:cNvCxnSpPr>
              <a:stCxn id="133" idx="4"/>
              <a:endCxn id="134" idx="0"/>
            </p:cNvCxnSpPr>
            <p:nvPr/>
          </p:nvCxnSpPr>
          <p:spPr>
            <a:xfrm rot="5400000">
              <a:off x="2462434" y="5928616"/>
              <a:ext cx="503178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33" idx="3"/>
              <a:endCxn id="129" idx="7"/>
            </p:cNvCxnSpPr>
            <p:nvPr/>
          </p:nvCxnSpPr>
          <p:spPr>
            <a:xfrm rot="5400000">
              <a:off x="1781712" y="5569090"/>
              <a:ext cx="691113" cy="72107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27" idx="5"/>
              <a:endCxn id="134" idx="1"/>
            </p:cNvCxnSpPr>
            <p:nvPr/>
          </p:nvCxnSpPr>
          <p:spPr>
            <a:xfrm rot="16200000" flipH="1">
              <a:off x="1766555" y="5557973"/>
              <a:ext cx="723445" cy="71097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33" idx="2"/>
              <a:endCxn id="128" idx="6"/>
            </p:cNvCxnSpPr>
            <p:nvPr/>
          </p:nvCxnSpPr>
          <p:spPr>
            <a:xfrm rot="10800000" flipV="1">
              <a:off x="698254" y="5355720"/>
              <a:ext cx="1694619" cy="114781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25" idx="5"/>
              <a:endCxn id="133" idx="1"/>
            </p:cNvCxnSpPr>
            <p:nvPr/>
          </p:nvCxnSpPr>
          <p:spPr>
            <a:xfrm rot="16200000" flipH="1">
              <a:off x="1763522" y="4403087"/>
              <a:ext cx="739612" cy="70895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 139"/>
            <p:cNvSpPr/>
            <p:nvPr/>
          </p:nvSpPr>
          <p:spPr>
            <a:xfrm>
              <a:off x="2398933" y="3836081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1" name="Oval 140"/>
            <p:cNvSpPr/>
            <p:nvPr/>
          </p:nvSpPr>
          <p:spPr>
            <a:xfrm>
              <a:off x="6403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2" name="Straight Connector 141"/>
            <p:cNvCxnSpPr>
              <a:stCxn id="141" idx="4"/>
              <a:endCxn id="126" idx="0"/>
            </p:cNvCxnSpPr>
            <p:nvPr/>
          </p:nvCxnSpPr>
          <p:spPr>
            <a:xfrm rot="5400000">
              <a:off x="122481" y="4739379"/>
              <a:ext cx="519344" cy="6059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40" idx="4"/>
              <a:endCxn id="133" idx="0"/>
            </p:cNvCxnSpPr>
            <p:nvPr/>
          </p:nvCxnSpPr>
          <p:spPr>
            <a:xfrm rot="5400000">
              <a:off x="2443234" y="4755544"/>
              <a:ext cx="551677" cy="606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26" idx="4"/>
              <a:endCxn id="128" idx="0"/>
            </p:cNvCxnSpPr>
            <p:nvPr/>
          </p:nvCxnSpPr>
          <p:spPr>
            <a:xfrm rot="5400000">
              <a:off x="110360" y="5911439"/>
              <a:ext cx="533490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>
              <a:stCxn id="141" idx="5"/>
              <a:endCxn id="127" idx="1"/>
            </p:cNvCxnSpPr>
            <p:nvPr/>
          </p:nvCxnSpPr>
          <p:spPr>
            <a:xfrm rot="16200000" flipH="1">
              <a:off x="611229" y="4389951"/>
              <a:ext cx="707279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140" idx="3"/>
              <a:endCxn id="127" idx="7"/>
            </p:cNvCxnSpPr>
            <p:nvPr/>
          </p:nvCxnSpPr>
          <p:spPr>
            <a:xfrm rot="5400000">
              <a:off x="1779688" y="4380861"/>
              <a:ext cx="707279" cy="72107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/>
            <p:cNvSpPr/>
            <p:nvPr/>
          </p:nvSpPr>
          <p:spPr>
            <a:xfrm>
              <a:off x="1227444" y="2661997"/>
              <a:ext cx="644318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8" name="Straight Connector 147"/>
            <p:cNvCxnSpPr>
              <a:stCxn id="147" idx="3"/>
              <a:endCxn id="141" idx="0"/>
            </p:cNvCxnSpPr>
            <p:nvPr/>
          </p:nvCxnSpPr>
          <p:spPr>
            <a:xfrm rot="5400000">
              <a:off x="542576" y="3056282"/>
              <a:ext cx="622405" cy="93719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>
              <a:stCxn id="147" idx="4"/>
              <a:endCxn id="125" idx="0"/>
            </p:cNvCxnSpPr>
            <p:nvPr/>
          </p:nvCxnSpPr>
          <p:spPr>
            <a:xfrm rot="5400000">
              <a:off x="1285888" y="3571357"/>
              <a:ext cx="529449" cy="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>
              <a:stCxn id="147" idx="5"/>
            </p:cNvCxnSpPr>
            <p:nvPr/>
          </p:nvCxnSpPr>
          <p:spPr>
            <a:xfrm rot="16200000" flipH="1">
              <a:off x="1934225" y="3058301"/>
              <a:ext cx="622405" cy="93315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125" idx="3"/>
              <a:endCxn id="126" idx="7"/>
            </p:cNvCxnSpPr>
            <p:nvPr/>
          </p:nvCxnSpPr>
          <p:spPr>
            <a:xfrm rot="5400000">
              <a:off x="611229" y="4383891"/>
              <a:ext cx="707279" cy="71501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Rounded Rectangle 151"/>
          <p:cNvSpPr/>
          <p:nvPr/>
        </p:nvSpPr>
        <p:spPr>
          <a:xfrm>
            <a:off x="7107397" y="6080760"/>
            <a:ext cx="558800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3" name="Rounded Rectangle 152"/>
          <p:cNvSpPr/>
          <p:nvPr/>
        </p:nvSpPr>
        <p:spPr>
          <a:xfrm>
            <a:off x="80217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4" name="Rounded Rectangle 153"/>
          <p:cNvSpPr/>
          <p:nvPr/>
        </p:nvSpPr>
        <p:spPr>
          <a:xfrm>
            <a:off x="61929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5" name="TextBox 154"/>
          <p:cNvSpPr txBox="1"/>
          <p:nvPr/>
        </p:nvSpPr>
        <p:spPr>
          <a:xfrm>
            <a:off x="4582641" y="5195953"/>
            <a:ext cx="151881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008000"/>
                </a:solidFill>
              </a:rPr>
              <a:t>choosers</a:t>
            </a:r>
            <a:endParaRPr lang="en-US" sz="2300" dirty="0">
              <a:solidFill>
                <a:srgbClr val="008000"/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582641" y="4330766"/>
            <a:ext cx="151881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800000"/>
                </a:solidFill>
              </a:rPr>
              <a:t>deciders</a:t>
            </a:r>
            <a:endParaRPr lang="en-US" sz="2300" dirty="0">
              <a:solidFill>
                <a:srgbClr val="800000"/>
              </a:solidFill>
            </a:endParaRPr>
          </a:p>
        </p:txBody>
      </p:sp>
      <p:sp>
        <p:nvSpPr>
          <p:cNvPr id="43" name="Content Placeholder 2"/>
          <p:cNvSpPr>
            <a:spLocks noGrp="1"/>
          </p:cNvSpPr>
          <p:nvPr>
            <p:ph idx="1"/>
          </p:nvPr>
        </p:nvSpPr>
        <p:spPr>
          <a:xfrm>
            <a:off x="457199" y="1646238"/>
            <a:ext cx="8229601" cy="684500"/>
          </a:xfrm>
        </p:spPr>
        <p:txBody>
          <a:bodyPr>
            <a:normAutofit/>
          </a:bodyPr>
          <a:lstStyle/>
          <a:p>
            <a:r>
              <a:rPr lang="en-US" dirty="0" smtClean="0"/>
              <a:t>Can we make this problem simpler?</a:t>
            </a: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457200" y="2551238"/>
            <a:ext cx="5356204" cy="10341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Switches in a </a:t>
            </a:r>
            <a:r>
              <a:rPr lang="en-US" sz="2300" dirty="0" smtClean="0">
                <a:latin typeface="+mn-lt"/>
              </a:rPr>
              <a:t>HN share a coordinate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Content Placeholder 2"/>
          <p:cNvSpPr txBox="1">
            <a:spLocks/>
          </p:cNvSpPr>
          <p:nvPr/>
        </p:nvSpPr>
        <p:spPr>
          <a:xfrm>
            <a:off x="457200" y="3742879"/>
            <a:ext cx="5356204" cy="10341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lang="en-US" sz="2300" dirty="0" smtClean="0">
                <a:latin typeface="+mn-lt"/>
              </a:rPr>
              <a:t>HN’s with a parent in common need distinct coordinates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  <p:bldP spid="15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7564597" cy="3052761"/>
          </a:xfrm>
        </p:spPr>
        <p:txBody>
          <a:bodyPr/>
          <a:lstStyle/>
          <a:p>
            <a:pPr lvl="0">
              <a:defRPr/>
            </a:pPr>
            <a:r>
              <a:rPr lang="en-US" sz="2800" dirty="0" smtClean="0"/>
              <a:t>To assign coordinates to hypernodes:</a:t>
            </a:r>
          </a:p>
          <a:p>
            <a:pPr marL="566928" lvl="0" indent="-274320">
              <a:buFont typeface="+mj-lt"/>
              <a:buAutoNum type="alphaLcPeriod"/>
              <a:defRPr/>
            </a:pPr>
            <a:r>
              <a:rPr lang="en-US" sz="2800" dirty="0" smtClean="0"/>
              <a:t>Define abstraction (choosers/deciders)</a:t>
            </a:r>
          </a:p>
          <a:p>
            <a:pPr marL="566928" lvl="0" indent="-274320">
              <a:buFont typeface="+mj-lt"/>
              <a:buAutoNum type="alphaLcPeriod"/>
              <a:defRPr/>
            </a:pPr>
            <a:r>
              <a:rPr lang="en-US" sz="2800" dirty="0" smtClean="0"/>
              <a:t>Design solution for abstraction</a:t>
            </a:r>
          </a:p>
          <a:p>
            <a:pPr marL="566928" lvl="0" indent="-274320">
              <a:buFont typeface="+mj-lt"/>
              <a:buAutoNum type="alphaLcPeriod"/>
              <a:defRPr/>
            </a:pPr>
            <a:r>
              <a:rPr lang="en-US" sz="2800" dirty="0" smtClean="0"/>
              <a:t>Apply solution throughout multi-rooted tree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72" name="Slide Number Placeholder 7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3" name="Rounded Rectangle 72"/>
          <p:cNvSpPr/>
          <p:nvPr/>
        </p:nvSpPr>
        <p:spPr>
          <a:xfrm>
            <a:off x="6196172" y="5138928"/>
            <a:ext cx="573088" cy="579437"/>
          </a:xfrm>
          <a:prstGeom prst="roundRect">
            <a:avLst/>
          </a:prstGeom>
          <a:solidFill>
            <a:schemeClr val="accent1">
              <a:alpha val="73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4" name="Rounded Rectangle 73"/>
          <p:cNvSpPr/>
          <p:nvPr/>
        </p:nvSpPr>
        <p:spPr>
          <a:xfrm>
            <a:off x="7108985" y="5138928"/>
            <a:ext cx="1506537" cy="579437"/>
          </a:xfrm>
          <a:prstGeom prst="roundRect">
            <a:avLst/>
          </a:prstGeom>
          <a:solidFill>
            <a:srgbClr val="000090">
              <a:alpha val="73000"/>
            </a:srgb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5" name="Rounded Rectangle 74"/>
          <p:cNvSpPr/>
          <p:nvPr/>
        </p:nvSpPr>
        <p:spPr>
          <a:xfrm>
            <a:off x="8036085" y="4242816"/>
            <a:ext cx="571500" cy="579437"/>
          </a:xfrm>
          <a:prstGeom prst="roundRect">
            <a:avLst/>
          </a:prstGeom>
          <a:solidFill>
            <a:schemeClr val="accent3">
              <a:alpha val="73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6" name="Rounded Rectangle 75"/>
          <p:cNvSpPr/>
          <p:nvPr/>
        </p:nvSpPr>
        <p:spPr>
          <a:xfrm>
            <a:off x="6196172" y="4242816"/>
            <a:ext cx="1506538" cy="579437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77" name="Group 181"/>
          <p:cNvGrpSpPr>
            <a:grpSpLocks noChangeAspect="1"/>
          </p:cNvGrpSpPr>
          <p:nvPr/>
        </p:nvGrpSpPr>
        <p:grpSpPr bwMode="auto">
          <a:xfrm>
            <a:off x="6226335" y="3346704"/>
            <a:ext cx="2352675" cy="3271838"/>
            <a:chOff x="51915" y="2661997"/>
            <a:chExt cx="2993357" cy="4164863"/>
          </a:xfrm>
        </p:grpSpPr>
        <p:sp>
          <p:nvSpPr>
            <p:cNvPr id="78" name="Oval 77"/>
            <p:cNvSpPr/>
            <p:nvPr/>
          </p:nvSpPr>
          <p:spPr>
            <a:xfrm>
              <a:off x="122744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57974" y="5002080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221384" y="5002080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51915" y="6180205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217344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83" name="Straight Connector 82"/>
            <p:cNvCxnSpPr>
              <a:stCxn id="80" idx="3"/>
              <a:endCxn id="81" idx="7"/>
            </p:cNvCxnSpPr>
            <p:nvPr/>
          </p:nvCxnSpPr>
          <p:spPr>
            <a:xfrm rot="5400000">
              <a:off x="598096" y="5556963"/>
              <a:ext cx="723445" cy="71299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79" idx="5"/>
              <a:endCxn id="82" idx="1"/>
            </p:cNvCxnSpPr>
            <p:nvPr/>
          </p:nvCxnSpPr>
          <p:spPr>
            <a:xfrm rot="16200000" flipH="1">
              <a:off x="597085" y="5562013"/>
              <a:ext cx="723445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80" idx="4"/>
              <a:endCxn id="82" idx="0"/>
            </p:cNvCxnSpPr>
            <p:nvPr/>
          </p:nvCxnSpPr>
          <p:spPr>
            <a:xfrm rot="5400000">
              <a:off x="1273768" y="5911441"/>
              <a:ext cx="535511" cy="6059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85"/>
            <p:cNvSpPr/>
            <p:nvPr/>
          </p:nvSpPr>
          <p:spPr>
            <a:xfrm>
              <a:off x="2392873" y="5034413"/>
              <a:ext cx="646339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Oval 86"/>
            <p:cNvSpPr/>
            <p:nvPr/>
          </p:nvSpPr>
          <p:spPr>
            <a:xfrm>
              <a:off x="2388833" y="6182225"/>
              <a:ext cx="644320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Straight Connector 87"/>
            <p:cNvCxnSpPr>
              <a:stCxn id="86" idx="4"/>
              <a:endCxn id="87" idx="0"/>
            </p:cNvCxnSpPr>
            <p:nvPr/>
          </p:nvCxnSpPr>
          <p:spPr>
            <a:xfrm rot="5400000">
              <a:off x="2462434" y="5928616"/>
              <a:ext cx="503178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86" idx="3"/>
              <a:endCxn id="82" idx="7"/>
            </p:cNvCxnSpPr>
            <p:nvPr/>
          </p:nvCxnSpPr>
          <p:spPr>
            <a:xfrm rot="5400000">
              <a:off x="1781712" y="5569090"/>
              <a:ext cx="691113" cy="721072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80" idx="5"/>
              <a:endCxn id="87" idx="1"/>
            </p:cNvCxnSpPr>
            <p:nvPr/>
          </p:nvCxnSpPr>
          <p:spPr>
            <a:xfrm rot="16200000" flipH="1">
              <a:off x="1766555" y="5557973"/>
              <a:ext cx="723445" cy="71097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86" idx="2"/>
              <a:endCxn id="81" idx="6"/>
            </p:cNvCxnSpPr>
            <p:nvPr/>
          </p:nvCxnSpPr>
          <p:spPr>
            <a:xfrm rot="10800000" flipV="1">
              <a:off x="698254" y="5355720"/>
              <a:ext cx="1694619" cy="1147813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78" idx="5"/>
              <a:endCxn id="86" idx="1"/>
            </p:cNvCxnSpPr>
            <p:nvPr/>
          </p:nvCxnSpPr>
          <p:spPr>
            <a:xfrm rot="16200000" flipH="1">
              <a:off x="1763522" y="4403087"/>
              <a:ext cx="739612" cy="70895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/>
            <p:cNvSpPr/>
            <p:nvPr/>
          </p:nvSpPr>
          <p:spPr>
            <a:xfrm>
              <a:off x="2398933" y="3836081"/>
              <a:ext cx="646339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64034" y="3836081"/>
              <a:ext cx="644318" cy="64665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5" name="Straight Connector 94"/>
            <p:cNvCxnSpPr>
              <a:stCxn id="94" idx="4"/>
              <a:endCxn id="79" idx="0"/>
            </p:cNvCxnSpPr>
            <p:nvPr/>
          </p:nvCxnSpPr>
          <p:spPr>
            <a:xfrm rot="5400000">
              <a:off x="122481" y="4739379"/>
              <a:ext cx="519344" cy="6059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stCxn id="93" idx="4"/>
              <a:endCxn id="86" idx="0"/>
            </p:cNvCxnSpPr>
            <p:nvPr/>
          </p:nvCxnSpPr>
          <p:spPr>
            <a:xfrm rot="5400000">
              <a:off x="2443234" y="4755544"/>
              <a:ext cx="551677" cy="606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79" idx="4"/>
              <a:endCxn id="81" idx="0"/>
            </p:cNvCxnSpPr>
            <p:nvPr/>
          </p:nvCxnSpPr>
          <p:spPr>
            <a:xfrm rot="5400000">
              <a:off x="110360" y="5911439"/>
              <a:ext cx="533490" cy="4040"/>
            </a:xfrm>
            <a:prstGeom prst="line">
              <a:avLst/>
            </a:prstGeom>
            <a:ln w="25400" cmpd="sng">
              <a:solidFill>
                <a:schemeClr val="tx1"/>
              </a:solidFill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94" idx="5"/>
              <a:endCxn id="80" idx="1"/>
            </p:cNvCxnSpPr>
            <p:nvPr/>
          </p:nvCxnSpPr>
          <p:spPr>
            <a:xfrm rot="16200000" flipH="1">
              <a:off x="611229" y="4389951"/>
              <a:ext cx="707279" cy="702894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93" idx="3"/>
              <a:endCxn id="80" idx="7"/>
            </p:cNvCxnSpPr>
            <p:nvPr/>
          </p:nvCxnSpPr>
          <p:spPr>
            <a:xfrm rot="5400000">
              <a:off x="1779688" y="4380861"/>
              <a:ext cx="707279" cy="72107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1227444" y="2661997"/>
              <a:ext cx="644318" cy="644635"/>
            </a:xfrm>
            <a:prstGeom prst="ellipse">
              <a:avLst/>
            </a:prstGeom>
            <a:noFill/>
            <a:ln w="25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1" name="Straight Connector 100"/>
            <p:cNvCxnSpPr>
              <a:stCxn id="100" idx="3"/>
              <a:endCxn id="94" idx="0"/>
            </p:cNvCxnSpPr>
            <p:nvPr/>
          </p:nvCxnSpPr>
          <p:spPr>
            <a:xfrm rot="5400000">
              <a:off x="542576" y="3056282"/>
              <a:ext cx="622405" cy="937191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00" idx="4"/>
              <a:endCxn id="78" idx="0"/>
            </p:cNvCxnSpPr>
            <p:nvPr/>
          </p:nvCxnSpPr>
          <p:spPr>
            <a:xfrm rot="5400000">
              <a:off x="1285888" y="3571357"/>
              <a:ext cx="529449" cy="0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00" idx="5"/>
            </p:cNvCxnSpPr>
            <p:nvPr/>
          </p:nvCxnSpPr>
          <p:spPr>
            <a:xfrm rot="16200000" flipH="1">
              <a:off x="1934225" y="3058301"/>
              <a:ext cx="622405" cy="93315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78" idx="3"/>
              <a:endCxn id="79" idx="7"/>
            </p:cNvCxnSpPr>
            <p:nvPr/>
          </p:nvCxnSpPr>
          <p:spPr>
            <a:xfrm rot="5400000">
              <a:off x="611229" y="4383891"/>
              <a:ext cx="707279" cy="715012"/>
            </a:xfrm>
            <a:prstGeom prst="line">
              <a:avLst/>
            </a:prstGeom>
            <a:ln w="25400" cmpd="sng">
              <a:solidFill>
                <a:schemeClr val="tx1"/>
              </a:solidFill>
              <a:headEnd type="none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ounded Rectangle 104"/>
          <p:cNvSpPr/>
          <p:nvPr/>
        </p:nvSpPr>
        <p:spPr>
          <a:xfrm>
            <a:off x="7107397" y="6080760"/>
            <a:ext cx="558800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6" name="Rounded Rectangle 105"/>
          <p:cNvSpPr/>
          <p:nvPr/>
        </p:nvSpPr>
        <p:spPr>
          <a:xfrm>
            <a:off x="80217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7" name="Rounded Rectangle 106"/>
          <p:cNvSpPr/>
          <p:nvPr/>
        </p:nvSpPr>
        <p:spPr>
          <a:xfrm>
            <a:off x="6192997" y="6080760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4582641" y="5195953"/>
            <a:ext cx="151881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008000"/>
                </a:solidFill>
              </a:rPr>
              <a:t>choosers</a:t>
            </a:r>
            <a:endParaRPr lang="en-US" sz="2300" dirty="0">
              <a:solidFill>
                <a:srgbClr val="008000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582641" y="4330766"/>
            <a:ext cx="151881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800000"/>
                </a:solidFill>
              </a:rPr>
              <a:t>deciders</a:t>
            </a:r>
            <a:endParaRPr lang="en-US" sz="2300" dirty="0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2609323"/>
          </a:xfrm>
        </p:spPr>
        <p:txBody>
          <a:bodyPr/>
          <a:lstStyle/>
          <a:p>
            <a:r>
              <a:rPr lang="en-US" i="1" dirty="0" smtClean="0"/>
              <a:t>Label Selection Problem (LSP)</a:t>
            </a:r>
          </a:p>
          <a:p>
            <a:pPr lvl="1"/>
            <a:r>
              <a:rPr lang="en-US" sz="2300" b="1" dirty="0" smtClean="0">
                <a:solidFill>
                  <a:srgbClr val="008000"/>
                </a:solidFill>
              </a:rPr>
              <a:t>Chooser </a:t>
            </a:r>
            <a:r>
              <a:rPr lang="en-US" sz="2300" dirty="0" smtClean="0"/>
              <a:t>processes connected to </a:t>
            </a:r>
            <a:r>
              <a:rPr lang="en-US" b="1" dirty="0" smtClean="0">
                <a:solidFill>
                  <a:srgbClr val="800000"/>
                </a:solidFill>
              </a:rPr>
              <a:t>D</a:t>
            </a:r>
            <a:r>
              <a:rPr lang="en-US" sz="2300" b="1" dirty="0" smtClean="0">
                <a:solidFill>
                  <a:srgbClr val="800000"/>
                </a:solidFill>
              </a:rPr>
              <a:t>ecider </a:t>
            </a:r>
            <a:r>
              <a:rPr lang="en-US" sz="2300" dirty="0" smtClean="0"/>
              <a:t>processes</a:t>
            </a:r>
          </a:p>
          <a:p>
            <a:pPr lvl="1"/>
            <a:r>
              <a:rPr lang="en-US" dirty="0" smtClean="0"/>
              <a:t>In a bipartite graph</a:t>
            </a:r>
            <a:endParaRPr lang="en-US" sz="2300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sz="23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176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a. Decider/Chooser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abstraction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26" name="Straight Connector 25"/>
          <p:cNvCxnSpPr>
            <a:stCxn id="31" idx="5"/>
            <a:endCxn id="37" idx="0"/>
          </p:cNvCxnSpPr>
          <p:nvPr/>
        </p:nvCxnSpPr>
        <p:spPr bwMode="auto">
          <a:xfrm rot="5400000">
            <a:off x="3581892" y="4227975"/>
            <a:ext cx="863706" cy="73474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33" idx="3"/>
            <a:endCxn id="35" idx="0"/>
          </p:cNvCxnSpPr>
          <p:nvPr/>
        </p:nvCxnSpPr>
        <p:spPr bwMode="auto">
          <a:xfrm rot="5400000">
            <a:off x="1695003" y="3967532"/>
            <a:ext cx="863706" cy="59436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34" idx="3"/>
            <a:endCxn id="38" idx="7"/>
          </p:cNvCxnSpPr>
          <p:nvPr/>
        </p:nvCxnSpPr>
        <p:spPr bwMode="auto">
          <a:xfrm rot="5400000">
            <a:off x="5177000" y="3915273"/>
            <a:ext cx="950749" cy="78591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33" idx="4"/>
            <a:endCxn id="36" idx="0"/>
          </p:cNvCxnSpPr>
          <p:nvPr/>
        </p:nvCxnSpPr>
        <p:spPr bwMode="auto">
          <a:xfrm rot="16200000" flipH="1">
            <a:off x="2380499" y="4173255"/>
            <a:ext cx="776565" cy="27005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31" idx="3"/>
            <a:endCxn id="35" idx="7"/>
          </p:cNvCxnSpPr>
          <p:nvPr/>
        </p:nvCxnSpPr>
        <p:spPr bwMode="auto">
          <a:xfrm rot="5400000">
            <a:off x="2360055" y="3512618"/>
            <a:ext cx="950748" cy="159123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 bwMode="auto">
          <a:xfrm>
            <a:off x="3544176" y="3324966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2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4751184" y="3324966"/>
            <a:ext cx="595033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3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2337168" y="3324966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1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5958192" y="3324965"/>
            <a:ext cx="595033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4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 bwMode="auto">
          <a:xfrm>
            <a:off x="1532496" y="4696565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1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2605697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2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3678897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3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752098" y="4696565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4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5825299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5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6898500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6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>
            <a:stCxn id="33" idx="5"/>
            <a:endCxn id="37" idx="1"/>
          </p:cNvCxnSpPr>
          <p:nvPr/>
        </p:nvCxnSpPr>
        <p:spPr bwMode="auto">
          <a:xfrm rot="16200000" flipH="1">
            <a:off x="2829469" y="3846864"/>
            <a:ext cx="950748" cy="92273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1" idx="4"/>
            <a:endCxn id="36" idx="7"/>
          </p:cNvCxnSpPr>
          <p:nvPr/>
        </p:nvCxnSpPr>
        <p:spPr bwMode="auto">
          <a:xfrm rot="5400000">
            <a:off x="3045880" y="3988723"/>
            <a:ext cx="863607" cy="72616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2" idx="4"/>
            <a:endCxn id="38" idx="0"/>
          </p:cNvCxnSpPr>
          <p:nvPr/>
        </p:nvCxnSpPr>
        <p:spPr bwMode="auto">
          <a:xfrm rot="16200000" flipH="1">
            <a:off x="4660707" y="4307993"/>
            <a:ext cx="776565" cy="57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2" idx="5"/>
            <a:endCxn id="39" idx="1"/>
          </p:cNvCxnSpPr>
          <p:nvPr/>
        </p:nvCxnSpPr>
        <p:spPr bwMode="auto">
          <a:xfrm rot="16200000" flipH="1">
            <a:off x="5110471" y="3981464"/>
            <a:ext cx="950748" cy="65353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4" idx="4"/>
            <a:endCxn id="39" idx="0"/>
          </p:cNvCxnSpPr>
          <p:nvPr/>
        </p:nvCxnSpPr>
        <p:spPr bwMode="auto">
          <a:xfrm rot="5400000">
            <a:off x="5801277" y="4242133"/>
            <a:ext cx="776566" cy="132299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4" idx="5"/>
            <a:endCxn id="40" idx="1"/>
          </p:cNvCxnSpPr>
          <p:nvPr/>
        </p:nvCxnSpPr>
        <p:spPr bwMode="auto">
          <a:xfrm rot="16200000" flipH="1">
            <a:off x="6250575" y="4048366"/>
            <a:ext cx="950749" cy="51973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292941" y="4783608"/>
            <a:ext cx="18510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8000"/>
                </a:solidFill>
              </a:rPr>
              <a:t>Choosers</a:t>
            </a:r>
          </a:p>
          <a:p>
            <a:pPr algn="ctr"/>
            <a:r>
              <a:rPr lang="en-US" sz="2000" dirty="0" smtClean="0"/>
              <a:t>(hypernodes)</a:t>
            </a:r>
          </a:p>
          <a:p>
            <a:pPr algn="ctr"/>
            <a:endParaRPr lang="en-US" sz="2000" dirty="0">
              <a:solidFill>
                <a:srgbClr val="008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92941" y="3324965"/>
            <a:ext cx="1720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800000"/>
                </a:solidFill>
              </a:rPr>
              <a:t>deciders</a:t>
            </a:r>
          </a:p>
          <a:p>
            <a:pPr algn="ctr"/>
            <a:r>
              <a:rPr lang="en-US" sz="2000" dirty="0" smtClean="0"/>
              <a:t>(parent switches)</a:t>
            </a:r>
            <a:endParaRPr lang="en-US" sz="2000" dirty="0"/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490402" cy="1861188"/>
          </a:xfrm>
        </p:spPr>
        <p:txBody>
          <a:bodyPr/>
          <a:lstStyle/>
          <a:p>
            <a:r>
              <a:rPr lang="en-US" i="1" dirty="0" smtClean="0"/>
              <a:t>Label Selection Problem Goals:</a:t>
            </a:r>
          </a:p>
          <a:p>
            <a:pPr lvl="1"/>
            <a:r>
              <a:rPr lang="en-US" dirty="0" smtClean="0"/>
              <a:t>All choosers eventually select coordinates</a:t>
            </a:r>
          </a:p>
          <a:p>
            <a:pPr lvl="1"/>
            <a:r>
              <a:rPr lang="en-US" dirty="0" smtClean="0"/>
              <a:t>Choosers sharing a decider have distinct coordinates</a:t>
            </a:r>
          </a:p>
          <a:p>
            <a:endParaRPr lang="en-US" i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cxnSp>
        <p:nvCxnSpPr>
          <p:cNvPr id="113" name="Straight Connector 112"/>
          <p:cNvCxnSpPr>
            <a:stCxn id="123" idx="5"/>
            <a:endCxn id="131" idx="0"/>
          </p:cNvCxnSpPr>
          <p:nvPr/>
        </p:nvCxnSpPr>
        <p:spPr bwMode="auto">
          <a:xfrm rot="5400000">
            <a:off x="3581892" y="4227975"/>
            <a:ext cx="863706" cy="73474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26" idx="3"/>
            <a:endCxn id="129" idx="0"/>
          </p:cNvCxnSpPr>
          <p:nvPr/>
        </p:nvCxnSpPr>
        <p:spPr bwMode="auto">
          <a:xfrm rot="5400000">
            <a:off x="1695003" y="3967532"/>
            <a:ext cx="863706" cy="59436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27" idx="3"/>
            <a:endCxn id="132" idx="7"/>
          </p:cNvCxnSpPr>
          <p:nvPr/>
        </p:nvCxnSpPr>
        <p:spPr bwMode="auto">
          <a:xfrm rot="5400000">
            <a:off x="5177000" y="3915273"/>
            <a:ext cx="950749" cy="78591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26" idx="4"/>
            <a:endCxn id="130" idx="0"/>
          </p:cNvCxnSpPr>
          <p:nvPr/>
        </p:nvCxnSpPr>
        <p:spPr bwMode="auto">
          <a:xfrm rot="16200000" flipH="1">
            <a:off x="2380499" y="4173255"/>
            <a:ext cx="776565" cy="27005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23" idx="3"/>
            <a:endCxn id="129" idx="7"/>
          </p:cNvCxnSpPr>
          <p:nvPr/>
        </p:nvCxnSpPr>
        <p:spPr bwMode="auto">
          <a:xfrm rot="5400000">
            <a:off x="2360055" y="3512618"/>
            <a:ext cx="950748" cy="159123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 bwMode="auto">
          <a:xfrm>
            <a:off x="3544176" y="3324966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2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4" name="Oval 123"/>
          <p:cNvSpPr/>
          <p:nvPr/>
        </p:nvSpPr>
        <p:spPr bwMode="auto">
          <a:xfrm>
            <a:off x="4751184" y="3324966"/>
            <a:ext cx="595033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3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6" name="Oval 125"/>
          <p:cNvSpPr/>
          <p:nvPr/>
        </p:nvSpPr>
        <p:spPr bwMode="auto">
          <a:xfrm>
            <a:off x="2337168" y="3324966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1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7" name="Oval 126"/>
          <p:cNvSpPr/>
          <p:nvPr/>
        </p:nvSpPr>
        <p:spPr bwMode="auto">
          <a:xfrm>
            <a:off x="5958192" y="3324965"/>
            <a:ext cx="595033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4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9" name="Oval 128"/>
          <p:cNvSpPr/>
          <p:nvPr/>
        </p:nvSpPr>
        <p:spPr bwMode="auto">
          <a:xfrm>
            <a:off x="1532496" y="4696565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1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0" name="Oval 129"/>
          <p:cNvSpPr/>
          <p:nvPr/>
        </p:nvSpPr>
        <p:spPr bwMode="auto">
          <a:xfrm>
            <a:off x="2605697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2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1" name="Oval 130"/>
          <p:cNvSpPr/>
          <p:nvPr/>
        </p:nvSpPr>
        <p:spPr bwMode="auto">
          <a:xfrm>
            <a:off x="3678897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3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2" name="Oval 131"/>
          <p:cNvSpPr/>
          <p:nvPr/>
        </p:nvSpPr>
        <p:spPr bwMode="auto">
          <a:xfrm>
            <a:off x="4752098" y="4696565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4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3" name="Oval 132"/>
          <p:cNvSpPr/>
          <p:nvPr/>
        </p:nvSpPr>
        <p:spPr bwMode="auto">
          <a:xfrm>
            <a:off x="5825299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5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4" name="Oval 133"/>
          <p:cNvSpPr/>
          <p:nvPr/>
        </p:nvSpPr>
        <p:spPr bwMode="auto">
          <a:xfrm>
            <a:off x="6898500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6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136" name="Straight Connector 135"/>
          <p:cNvCxnSpPr>
            <a:stCxn id="126" idx="5"/>
            <a:endCxn id="131" idx="1"/>
          </p:cNvCxnSpPr>
          <p:nvPr/>
        </p:nvCxnSpPr>
        <p:spPr bwMode="auto">
          <a:xfrm rot="16200000" flipH="1">
            <a:off x="2829469" y="3846864"/>
            <a:ext cx="950748" cy="92273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23" idx="4"/>
            <a:endCxn id="130" idx="7"/>
          </p:cNvCxnSpPr>
          <p:nvPr/>
        </p:nvCxnSpPr>
        <p:spPr bwMode="auto">
          <a:xfrm rot="5400000">
            <a:off x="3045880" y="3988723"/>
            <a:ext cx="863607" cy="72616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24" idx="4"/>
            <a:endCxn id="132" idx="0"/>
          </p:cNvCxnSpPr>
          <p:nvPr/>
        </p:nvCxnSpPr>
        <p:spPr bwMode="auto">
          <a:xfrm rot="16200000" flipH="1">
            <a:off x="4660707" y="4307993"/>
            <a:ext cx="776565" cy="57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>
            <a:stCxn id="124" idx="5"/>
            <a:endCxn id="133" idx="1"/>
          </p:cNvCxnSpPr>
          <p:nvPr/>
        </p:nvCxnSpPr>
        <p:spPr bwMode="auto">
          <a:xfrm rot="16200000" flipH="1">
            <a:off x="5110471" y="3981464"/>
            <a:ext cx="950748" cy="65353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27" idx="4"/>
            <a:endCxn id="133" idx="0"/>
          </p:cNvCxnSpPr>
          <p:nvPr/>
        </p:nvCxnSpPr>
        <p:spPr bwMode="auto">
          <a:xfrm rot="5400000">
            <a:off x="5801277" y="4242133"/>
            <a:ext cx="776566" cy="132299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27" idx="5"/>
            <a:endCxn id="134" idx="1"/>
          </p:cNvCxnSpPr>
          <p:nvPr/>
        </p:nvCxnSpPr>
        <p:spPr bwMode="auto">
          <a:xfrm rot="16200000" flipH="1">
            <a:off x="6250575" y="4048366"/>
            <a:ext cx="950749" cy="51973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72647" y="4783606"/>
            <a:ext cx="1274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8000"/>
                </a:solidFill>
              </a:rPr>
              <a:t>choosers</a:t>
            </a:r>
            <a:endParaRPr lang="en-US" sz="2000" dirty="0">
              <a:solidFill>
                <a:srgbClr val="008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72647" y="3324965"/>
            <a:ext cx="1274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800000"/>
                </a:solidFill>
              </a:rPr>
              <a:t>deciders</a:t>
            </a:r>
            <a:endParaRPr lang="en-US" sz="2000" dirty="0">
              <a:solidFill>
                <a:srgbClr val="800000"/>
              </a:solidFill>
            </a:endParaRPr>
          </a:p>
        </p:txBody>
      </p:sp>
      <p:grpSp>
        <p:nvGrpSpPr>
          <p:cNvPr id="28" name="Group 65"/>
          <p:cNvGrpSpPr/>
          <p:nvPr/>
        </p:nvGrpSpPr>
        <p:grpSpPr>
          <a:xfrm>
            <a:off x="1313040" y="3187806"/>
            <a:ext cx="3063240" cy="2240280"/>
            <a:chOff x="5455645" y="933908"/>
            <a:chExt cx="3201988" cy="2197738"/>
          </a:xfrm>
          <a:effectLst>
            <a:glow rad="101600">
              <a:schemeClr val="accent4">
                <a:lumMod val="40000"/>
                <a:lumOff val="60000"/>
                <a:alpha val="75000"/>
              </a:schemeClr>
            </a:glow>
          </a:effectLst>
        </p:grpSpPr>
        <p:cxnSp>
          <p:nvCxnSpPr>
            <p:cNvPr id="29" name="Straight Connector 28"/>
            <p:cNvCxnSpPr/>
            <p:nvPr/>
          </p:nvCxnSpPr>
          <p:spPr>
            <a:xfrm flipV="1">
              <a:off x="5455645" y="933909"/>
              <a:ext cx="1082165" cy="1047266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6537810" y="933908"/>
              <a:ext cx="2119029" cy="794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7559162" y="2031585"/>
              <a:ext cx="2195354" cy="1588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457233" y="3128468"/>
              <a:ext cx="3198812" cy="1588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 flipH="1" flipV="1">
              <a:off x="4881204" y="2555617"/>
              <a:ext cx="1150471" cy="1588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71"/>
          <p:cNvGrpSpPr/>
          <p:nvPr/>
        </p:nvGrpSpPr>
        <p:grpSpPr>
          <a:xfrm>
            <a:off x="4687176" y="3187806"/>
            <a:ext cx="3017520" cy="2240280"/>
            <a:chOff x="5455645" y="933907"/>
            <a:chExt cx="3201988" cy="2197739"/>
          </a:xfrm>
          <a:effectLst>
            <a:glow rad="101600">
              <a:schemeClr val="accent3">
                <a:lumMod val="20000"/>
                <a:lumOff val="80000"/>
                <a:alpha val="75000"/>
              </a:schemeClr>
            </a:glow>
          </a:effectLst>
        </p:grpSpPr>
        <p:cxnSp>
          <p:nvCxnSpPr>
            <p:cNvPr id="35" name="Straight Connector 34"/>
            <p:cNvCxnSpPr/>
            <p:nvPr/>
          </p:nvCxnSpPr>
          <p:spPr>
            <a:xfrm rot="5400000" flipH="1" flipV="1">
              <a:off x="5417929" y="972420"/>
              <a:ext cx="1544920" cy="1469487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925132" y="933907"/>
              <a:ext cx="1731707" cy="1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7559162" y="2031585"/>
              <a:ext cx="2195354" cy="1588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457233" y="3128468"/>
              <a:ext cx="3198812" cy="1588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 flipH="1" flipV="1">
              <a:off x="5129633" y="2805632"/>
              <a:ext cx="652026" cy="1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56"/>
          <p:cNvGrpSpPr/>
          <p:nvPr/>
        </p:nvGrpSpPr>
        <p:grpSpPr>
          <a:xfrm flipH="1">
            <a:off x="4550015" y="3187805"/>
            <a:ext cx="2003210" cy="2423161"/>
            <a:chOff x="5455644" y="933906"/>
            <a:chExt cx="3201989" cy="2197740"/>
          </a:xfrm>
          <a:effectLst>
            <a:glow rad="101600">
              <a:schemeClr val="accent1">
                <a:lumMod val="40000"/>
                <a:lumOff val="60000"/>
                <a:alpha val="75000"/>
              </a:schemeClr>
            </a:glow>
          </a:effectLst>
        </p:grpSpPr>
        <p:cxnSp>
          <p:nvCxnSpPr>
            <p:cNvPr id="41" name="Straight Connector 40"/>
            <p:cNvCxnSpPr/>
            <p:nvPr/>
          </p:nvCxnSpPr>
          <p:spPr>
            <a:xfrm rot="5400000" flipH="1" flipV="1">
              <a:off x="5737292" y="654642"/>
              <a:ext cx="1367609" cy="1927728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10800000" flipH="1" flipV="1">
              <a:off x="7384575" y="933906"/>
              <a:ext cx="1272258" cy="1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559162" y="2031585"/>
              <a:ext cx="2195354" cy="1588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457233" y="3128468"/>
              <a:ext cx="3198812" cy="1588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 flipH="1" flipV="1">
              <a:off x="5072097" y="2746509"/>
              <a:ext cx="768684" cy="1589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1532495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x</a:t>
            </a:r>
            <a:endParaRPr lang="en-US" sz="2200" dirty="0"/>
          </a:p>
        </p:txBody>
      </p:sp>
      <p:sp>
        <p:nvSpPr>
          <p:cNvPr id="50" name="TextBox 49"/>
          <p:cNvSpPr txBox="1"/>
          <p:nvPr/>
        </p:nvSpPr>
        <p:spPr>
          <a:xfrm>
            <a:off x="2605697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y</a:t>
            </a:r>
            <a:endParaRPr lang="en-US" sz="2200" dirty="0"/>
          </a:p>
        </p:txBody>
      </p:sp>
      <p:sp>
        <p:nvSpPr>
          <p:cNvPr id="51" name="TextBox 50"/>
          <p:cNvSpPr txBox="1"/>
          <p:nvPr/>
        </p:nvSpPr>
        <p:spPr>
          <a:xfrm>
            <a:off x="3680758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z</a:t>
            </a:r>
            <a:endParaRPr lang="en-US" sz="2200" dirty="0"/>
          </a:p>
        </p:txBody>
      </p:sp>
      <p:sp>
        <p:nvSpPr>
          <p:cNvPr id="52" name="TextBox 51"/>
          <p:cNvSpPr txBox="1"/>
          <p:nvPr/>
        </p:nvSpPr>
        <p:spPr>
          <a:xfrm>
            <a:off x="4752098" y="5623560"/>
            <a:ext cx="59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200" dirty="0" smtClean="0"/>
              <a:t>y</a:t>
            </a:r>
          </a:p>
          <a:p>
            <a:pPr algn="ctr">
              <a:spcBef>
                <a:spcPts val="1200"/>
              </a:spcBef>
            </a:pPr>
            <a:r>
              <a:rPr lang="en-US" sz="2200" dirty="0" smtClean="0"/>
              <a:t>q</a:t>
            </a:r>
            <a:endParaRPr lang="en-US" sz="2200" dirty="0"/>
          </a:p>
        </p:txBody>
      </p:sp>
      <p:sp>
        <p:nvSpPr>
          <p:cNvPr id="53" name="TextBox 52"/>
          <p:cNvSpPr txBox="1"/>
          <p:nvPr/>
        </p:nvSpPr>
        <p:spPr>
          <a:xfrm>
            <a:off x="5827160" y="5623560"/>
            <a:ext cx="59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200" dirty="0" smtClean="0"/>
              <a:t>z</a:t>
            </a:r>
          </a:p>
          <a:p>
            <a:pPr algn="ctr">
              <a:spcBef>
                <a:spcPts val="1200"/>
              </a:spcBef>
            </a:pPr>
            <a:r>
              <a:rPr lang="en-US" sz="2200" dirty="0" smtClean="0"/>
              <a:t>z</a:t>
            </a:r>
            <a:endParaRPr lang="en-US" sz="2200" dirty="0"/>
          </a:p>
        </p:txBody>
      </p:sp>
      <p:sp>
        <p:nvSpPr>
          <p:cNvPr id="54" name="TextBox 53"/>
          <p:cNvSpPr txBox="1"/>
          <p:nvPr/>
        </p:nvSpPr>
        <p:spPr>
          <a:xfrm>
            <a:off x="6898500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lang="en-US" sz="2200" dirty="0" smtClean="0"/>
              <a:t>x</a:t>
            </a:r>
            <a:endParaRPr lang="en-US" sz="2200" dirty="0"/>
          </a:p>
        </p:txBody>
      </p:sp>
      <p:sp>
        <p:nvSpPr>
          <p:cNvPr id="55" name="Rectangle 54"/>
          <p:cNvSpPr/>
          <p:nvPr/>
        </p:nvSpPr>
        <p:spPr>
          <a:xfrm>
            <a:off x="1527048" y="5669280"/>
            <a:ext cx="2744142" cy="430887"/>
          </a:xfrm>
          <a:prstGeom prst="rect">
            <a:avLst/>
          </a:prstGeom>
          <a:noFill/>
          <a:ln w="38100">
            <a:solidFill>
              <a:srgbClr val="660066"/>
            </a:solidFill>
            <a:prstDash val="sysDot"/>
          </a:ln>
          <a:effectLst>
            <a:glow rad="101600">
              <a:schemeClr val="accent4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4673263" y="6181344"/>
            <a:ext cx="1828800" cy="365760"/>
          </a:xfrm>
          <a:prstGeom prst="rect">
            <a:avLst/>
          </a:prstGeom>
          <a:noFill/>
          <a:ln w="31750">
            <a:solidFill>
              <a:srgbClr val="3366FF"/>
            </a:solidFill>
            <a:prstDash val="dash"/>
          </a:ln>
          <a:effectLst>
            <a:glow rad="101600">
              <a:schemeClr val="accent1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4672584" y="5715000"/>
            <a:ext cx="2743200" cy="365760"/>
          </a:xfrm>
          <a:prstGeom prst="rect">
            <a:avLst/>
          </a:prstGeom>
          <a:noFill/>
          <a:ln w="38100">
            <a:solidFill>
              <a:srgbClr val="D7823B"/>
            </a:solidFill>
            <a:prstDash val="sysDash"/>
          </a:ln>
          <a:effectLst>
            <a:glow rad="101600">
              <a:schemeClr val="accent3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0" y="2971023"/>
            <a:ext cx="2148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Multiple instances of LSP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898500" y="6150114"/>
            <a:ext cx="2414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Per-instance coordinates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51184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200" dirty="0" smtClean="0"/>
              <a:t>y</a:t>
            </a:r>
            <a:endParaRPr lang="en-US" sz="2200" dirty="0"/>
          </a:p>
        </p:txBody>
      </p:sp>
      <p:sp>
        <p:nvSpPr>
          <p:cNvPr id="65" name="TextBox 64"/>
          <p:cNvSpPr txBox="1"/>
          <p:nvPr/>
        </p:nvSpPr>
        <p:spPr>
          <a:xfrm>
            <a:off x="5826246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200" dirty="0" smtClean="0"/>
              <a:t>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71494" y="149670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2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a. Decider/Chooser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abstraction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1"/>
      <p:bldP spid="52" grpId="0"/>
      <p:bldP spid="53" grpId="0"/>
      <p:bldP spid="54" grpId="0"/>
      <p:bldP spid="55" grpId="0" animBg="1"/>
      <p:bldP spid="56" grpId="0" animBg="1"/>
      <p:bldP spid="57" grpId="0" animBg="1"/>
      <p:bldP spid="59" grpId="0"/>
      <p:bldP spid="60" grpId="0"/>
      <p:bldP spid="64" grpId="1"/>
      <p:bldP spid="64" grpId="2"/>
      <p:bldP spid="65" grpId="1"/>
      <p:bldP spid="65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1325880"/>
          </a:xfrm>
        </p:spPr>
        <p:txBody>
          <a:bodyPr/>
          <a:lstStyle/>
          <a:p>
            <a:r>
              <a:rPr lang="en-US" i="1" dirty="0" smtClean="0"/>
              <a:t>Label Selection Problem (LSP)</a:t>
            </a:r>
          </a:p>
          <a:p>
            <a:pPr lvl="1"/>
            <a:r>
              <a:rPr lang="en-US" sz="2300" dirty="0" smtClean="0"/>
              <a:t>Difficulty: connections </a:t>
            </a:r>
            <a:r>
              <a:rPr lang="en-US" dirty="0" smtClean="0"/>
              <a:t>can change over time</a:t>
            </a:r>
            <a:endParaRPr lang="en-US" sz="23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cxnSp>
        <p:nvCxnSpPr>
          <p:cNvPr id="113" name="Straight Connector 112"/>
          <p:cNvCxnSpPr>
            <a:stCxn id="123" idx="5"/>
            <a:endCxn id="131" idx="0"/>
          </p:cNvCxnSpPr>
          <p:nvPr/>
        </p:nvCxnSpPr>
        <p:spPr bwMode="auto">
          <a:xfrm rot="5400000">
            <a:off x="3581892" y="4227975"/>
            <a:ext cx="863706" cy="73474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26" idx="3"/>
            <a:endCxn id="129" idx="0"/>
          </p:cNvCxnSpPr>
          <p:nvPr/>
        </p:nvCxnSpPr>
        <p:spPr bwMode="auto">
          <a:xfrm rot="5400000">
            <a:off x="1695003" y="3967532"/>
            <a:ext cx="863706" cy="59436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27" idx="3"/>
            <a:endCxn id="132" idx="7"/>
          </p:cNvCxnSpPr>
          <p:nvPr/>
        </p:nvCxnSpPr>
        <p:spPr bwMode="auto">
          <a:xfrm rot="5400000">
            <a:off x="5177000" y="3915273"/>
            <a:ext cx="950749" cy="78591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26" idx="4"/>
            <a:endCxn id="130" idx="0"/>
          </p:cNvCxnSpPr>
          <p:nvPr/>
        </p:nvCxnSpPr>
        <p:spPr bwMode="auto">
          <a:xfrm rot="16200000" flipH="1">
            <a:off x="2380499" y="4173255"/>
            <a:ext cx="776565" cy="27005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24" idx="3"/>
            <a:endCxn id="131" idx="7"/>
          </p:cNvCxnSpPr>
          <p:nvPr/>
        </p:nvCxnSpPr>
        <p:spPr bwMode="auto">
          <a:xfrm rot="5400000">
            <a:off x="4037690" y="3982972"/>
            <a:ext cx="950748" cy="650522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>
            <a:glow rad="101600">
              <a:srgbClr val="FFFF00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23" idx="3"/>
            <a:endCxn id="129" idx="7"/>
          </p:cNvCxnSpPr>
          <p:nvPr/>
        </p:nvCxnSpPr>
        <p:spPr bwMode="auto">
          <a:xfrm rot="5400000">
            <a:off x="2360055" y="3512618"/>
            <a:ext cx="950748" cy="159123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 bwMode="auto">
          <a:xfrm>
            <a:off x="3544176" y="3324966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2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4" name="Oval 123"/>
          <p:cNvSpPr/>
          <p:nvPr/>
        </p:nvSpPr>
        <p:spPr bwMode="auto">
          <a:xfrm>
            <a:off x="4751184" y="3324966"/>
            <a:ext cx="595033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3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6" name="Oval 125"/>
          <p:cNvSpPr/>
          <p:nvPr/>
        </p:nvSpPr>
        <p:spPr bwMode="auto">
          <a:xfrm>
            <a:off x="2337168" y="3324966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1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7" name="Oval 126"/>
          <p:cNvSpPr/>
          <p:nvPr/>
        </p:nvSpPr>
        <p:spPr bwMode="auto">
          <a:xfrm>
            <a:off x="5958192" y="3324965"/>
            <a:ext cx="595033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4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9" name="Oval 128"/>
          <p:cNvSpPr/>
          <p:nvPr/>
        </p:nvSpPr>
        <p:spPr bwMode="auto">
          <a:xfrm>
            <a:off x="1532496" y="4696565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1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0" name="Oval 129"/>
          <p:cNvSpPr/>
          <p:nvPr/>
        </p:nvSpPr>
        <p:spPr bwMode="auto">
          <a:xfrm>
            <a:off x="2605697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2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1" name="Oval 130"/>
          <p:cNvSpPr/>
          <p:nvPr/>
        </p:nvSpPr>
        <p:spPr bwMode="auto">
          <a:xfrm>
            <a:off x="3678897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3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2" name="Oval 131"/>
          <p:cNvSpPr/>
          <p:nvPr/>
        </p:nvSpPr>
        <p:spPr bwMode="auto">
          <a:xfrm>
            <a:off x="4752098" y="4696565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4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3" name="Oval 132"/>
          <p:cNvSpPr/>
          <p:nvPr/>
        </p:nvSpPr>
        <p:spPr bwMode="auto">
          <a:xfrm>
            <a:off x="5825299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5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4" name="Oval 133"/>
          <p:cNvSpPr/>
          <p:nvPr/>
        </p:nvSpPr>
        <p:spPr bwMode="auto">
          <a:xfrm>
            <a:off x="6898500" y="4696565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6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136" name="Straight Connector 135"/>
          <p:cNvCxnSpPr>
            <a:stCxn id="126" idx="5"/>
            <a:endCxn id="131" idx="1"/>
          </p:cNvCxnSpPr>
          <p:nvPr/>
        </p:nvCxnSpPr>
        <p:spPr bwMode="auto">
          <a:xfrm rot="16200000" flipH="1">
            <a:off x="2829469" y="3846864"/>
            <a:ext cx="950748" cy="92273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23" idx="4"/>
            <a:endCxn id="130" idx="7"/>
          </p:cNvCxnSpPr>
          <p:nvPr/>
        </p:nvCxnSpPr>
        <p:spPr bwMode="auto">
          <a:xfrm rot="5400000">
            <a:off x="3045880" y="3988723"/>
            <a:ext cx="863607" cy="72616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24" idx="4"/>
            <a:endCxn id="132" idx="0"/>
          </p:cNvCxnSpPr>
          <p:nvPr/>
        </p:nvCxnSpPr>
        <p:spPr bwMode="auto">
          <a:xfrm rot="16200000" flipH="1">
            <a:off x="4660707" y="4307993"/>
            <a:ext cx="776565" cy="57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>
            <a:stCxn id="124" idx="5"/>
            <a:endCxn id="133" idx="1"/>
          </p:cNvCxnSpPr>
          <p:nvPr/>
        </p:nvCxnSpPr>
        <p:spPr bwMode="auto">
          <a:xfrm rot="16200000" flipH="1">
            <a:off x="5110471" y="3981464"/>
            <a:ext cx="950748" cy="653538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27" idx="4"/>
            <a:endCxn id="133" idx="0"/>
          </p:cNvCxnSpPr>
          <p:nvPr/>
        </p:nvCxnSpPr>
        <p:spPr bwMode="auto">
          <a:xfrm rot="5400000">
            <a:off x="5801277" y="4242133"/>
            <a:ext cx="776566" cy="132299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27" idx="5"/>
            <a:endCxn id="134" idx="1"/>
          </p:cNvCxnSpPr>
          <p:nvPr/>
        </p:nvCxnSpPr>
        <p:spPr bwMode="auto">
          <a:xfrm rot="16200000" flipH="1">
            <a:off x="6250575" y="4048366"/>
            <a:ext cx="950749" cy="51973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/>
          <p:cNvGrpSpPr/>
          <p:nvPr/>
        </p:nvGrpSpPr>
        <p:grpSpPr>
          <a:xfrm>
            <a:off x="1313040" y="3187806"/>
            <a:ext cx="3063240" cy="2240280"/>
            <a:chOff x="5455645" y="933908"/>
            <a:chExt cx="3201988" cy="2197738"/>
          </a:xfrm>
          <a:effectLst>
            <a:glow rad="101600">
              <a:schemeClr val="accent4">
                <a:lumMod val="40000"/>
                <a:lumOff val="60000"/>
                <a:alpha val="75000"/>
              </a:schemeClr>
            </a:glow>
          </a:effectLst>
        </p:grpSpPr>
        <p:cxnSp>
          <p:nvCxnSpPr>
            <p:cNvPr id="145" name="Straight Connector 144"/>
            <p:cNvCxnSpPr/>
            <p:nvPr/>
          </p:nvCxnSpPr>
          <p:spPr>
            <a:xfrm flipV="1">
              <a:off x="5455645" y="933909"/>
              <a:ext cx="1082165" cy="1047266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6537810" y="933908"/>
              <a:ext cx="2119029" cy="794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 rot="5400000">
              <a:off x="7559162" y="2031585"/>
              <a:ext cx="2195354" cy="1588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5457233" y="3128468"/>
              <a:ext cx="3198812" cy="1588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 rot="5400000" flipH="1" flipV="1">
              <a:off x="4881204" y="2555617"/>
              <a:ext cx="1150471" cy="1588"/>
            </a:xfrm>
            <a:prstGeom prst="line">
              <a:avLst/>
            </a:prstGeom>
            <a:ln w="38100" cap="flat" cmpd="sng" algn="ctr">
              <a:solidFill>
                <a:srgbClr val="66006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/>
          <p:cNvGrpSpPr/>
          <p:nvPr/>
        </p:nvGrpSpPr>
        <p:grpSpPr>
          <a:xfrm>
            <a:off x="4687176" y="3187806"/>
            <a:ext cx="3017520" cy="2240280"/>
            <a:chOff x="5455645" y="933907"/>
            <a:chExt cx="3201988" cy="2197739"/>
          </a:xfrm>
          <a:effectLst>
            <a:glow rad="101600">
              <a:schemeClr val="accent3">
                <a:lumMod val="20000"/>
                <a:lumOff val="80000"/>
                <a:alpha val="75000"/>
              </a:schemeClr>
            </a:glow>
          </a:effectLst>
        </p:grpSpPr>
        <p:cxnSp>
          <p:nvCxnSpPr>
            <p:cNvPr id="152" name="Straight Connector 151"/>
            <p:cNvCxnSpPr/>
            <p:nvPr/>
          </p:nvCxnSpPr>
          <p:spPr>
            <a:xfrm rot="5400000" flipH="1" flipV="1">
              <a:off x="5417929" y="972420"/>
              <a:ext cx="1544920" cy="1469487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6925132" y="933907"/>
              <a:ext cx="1731707" cy="1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rot="5400000">
              <a:off x="7559162" y="2031585"/>
              <a:ext cx="2195354" cy="1588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5457233" y="3128468"/>
              <a:ext cx="3198812" cy="1588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rot="5400000" flipH="1" flipV="1">
              <a:off x="5129633" y="2805632"/>
              <a:ext cx="652026" cy="1"/>
            </a:xfrm>
            <a:prstGeom prst="line">
              <a:avLst/>
            </a:prstGeom>
            <a:ln w="38100" cap="flat" cmpd="sng" algn="ctr">
              <a:solidFill>
                <a:srgbClr val="D7823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56"/>
          <p:cNvGrpSpPr/>
          <p:nvPr/>
        </p:nvGrpSpPr>
        <p:grpSpPr>
          <a:xfrm flipH="1">
            <a:off x="4550015" y="3187805"/>
            <a:ext cx="2003210" cy="2423161"/>
            <a:chOff x="5455644" y="933906"/>
            <a:chExt cx="3201989" cy="2197740"/>
          </a:xfrm>
          <a:effectLst>
            <a:glow rad="101600">
              <a:schemeClr val="accent1">
                <a:lumMod val="40000"/>
                <a:lumOff val="60000"/>
                <a:alpha val="75000"/>
              </a:schemeClr>
            </a:glow>
          </a:effectLst>
        </p:grpSpPr>
        <p:cxnSp>
          <p:nvCxnSpPr>
            <p:cNvPr id="158" name="Straight Connector 157"/>
            <p:cNvCxnSpPr/>
            <p:nvPr/>
          </p:nvCxnSpPr>
          <p:spPr>
            <a:xfrm rot="5400000" flipH="1" flipV="1">
              <a:off x="5737292" y="654642"/>
              <a:ext cx="1367609" cy="1927728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 rot="10800000" flipH="1" flipV="1">
              <a:off x="7384575" y="933906"/>
              <a:ext cx="1272258" cy="1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 rot="5400000">
              <a:off x="7559162" y="2031585"/>
              <a:ext cx="2195354" cy="1588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5457233" y="3128468"/>
              <a:ext cx="3198812" cy="1588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5400000" flipH="1" flipV="1">
              <a:off x="5072097" y="2746509"/>
              <a:ext cx="768684" cy="1589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/>
          <p:cNvGrpSpPr/>
          <p:nvPr/>
        </p:nvGrpSpPr>
        <p:grpSpPr>
          <a:xfrm>
            <a:off x="3544175" y="3188825"/>
            <a:ext cx="3008056" cy="2423440"/>
            <a:chOff x="2540205" y="4431796"/>
            <a:chExt cx="3008056" cy="2288578"/>
          </a:xfrm>
          <a:effectLst>
            <a:glow rad="101600">
              <a:schemeClr val="accent1">
                <a:lumMod val="40000"/>
                <a:lumOff val="60000"/>
                <a:alpha val="75000"/>
              </a:schemeClr>
            </a:glow>
          </a:effectLst>
        </p:grpSpPr>
        <p:grpSp>
          <p:nvGrpSpPr>
            <p:cNvPr id="164" name="Group 129"/>
            <p:cNvGrpSpPr/>
            <p:nvPr/>
          </p:nvGrpSpPr>
          <p:grpSpPr>
            <a:xfrm>
              <a:off x="2540205" y="4431778"/>
              <a:ext cx="3008056" cy="2288532"/>
              <a:chOff x="4965496" y="1092865"/>
              <a:chExt cx="3008056" cy="2104380"/>
            </a:xfrm>
          </p:grpSpPr>
          <p:cxnSp>
            <p:nvCxnSpPr>
              <p:cNvPr id="166" name="Straight Connector 165"/>
              <p:cNvCxnSpPr/>
              <p:nvPr/>
            </p:nvCxnSpPr>
            <p:spPr>
              <a:xfrm>
                <a:off x="4965496" y="3193074"/>
                <a:ext cx="3007262" cy="4171"/>
              </a:xfrm>
              <a:prstGeom prst="line">
                <a:avLst/>
              </a:prstGeom>
              <a:ln w="31750" cap="flat" cmpd="sng" algn="ctr">
                <a:solidFill>
                  <a:srgbClr val="3366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 rot="5400000" flipH="1" flipV="1">
                <a:off x="7590148" y="2811162"/>
                <a:ext cx="765220" cy="1588"/>
              </a:xfrm>
              <a:prstGeom prst="line">
                <a:avLst/>
              </a:prstGeom>
              <a:ln w="31750" cap="flat" cmpd="sng" algn="ctr">
                <a:solidFill>
                  <a:srgbClr val="3366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 rot="5400000" flipH="1" flipV="1">
                <a:off x="4596281" y="2799535"/>
                <a:ext cx="738433" cy="1"/>
              </a:xfrm>
              <a:prstGeom prst="line">
                <a:avLst/>
              </a:prstGeom>
              <a:ln w="31750" cap="flat" cmpd="sng" algn="ctr">
                <a:solidFill>
                  <a:srgbClr val="3366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rot="5400000" flipH="1" flipV="1">
                <a:off x="4903462" y="1160367"/>
                <a:ext cx="1331994" cy="1207921"/>
              </a:xfrm>
              <a:prstGeom prst="line">
                <a:avLst/>
              </a:prstGeom>
              <a:ln w="31750" cap="flat" cmpd="sng" algn="ctr">
                <a:solidFill>
                  <a:srgbClr val="3366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>
                <a:off x="6140928" y="1092865"/>
                <a:ext cx="645516" cy="5465"/>
              </a:xfrm>
              <a:prstGeom prst="line">
                <a:avLst/>
              </a:prstGeom>
              <a:ln w="31750" cap="flat" cmpd="sng" algn="ctr">
                <a:solidFill>
                  <a:srgbClr val="3366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5" name="Straight Connector 164"/>
            <p:cNvCxnSpPr/>
            <p:nvPr/>
          </p:nvCxnSpPr>
          <p:spPr>
            <a:xfrm rot="16200000" flipH="1">
              <a:off x="4224862" y="4573895"/>
              <a:ext cx="1447353" cy="1174771"/>
            </a:xfrm>
            <a:prstGeom prst="line">
              <a:avLst/>
            </a:prstGeom>
            <a:ln w="31750" cap="flat" cmpd="sng" algn="ctr">
              <a:solidFill>
                <a:srgbClr val="3366F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/>
          <p:cNvSpPr txBox="1"/>
          <p:nvPr/>
        </p:nvSpPr>
        <p:spPr>
          <a:xfrm>
            <a:off x="1532495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x</a:t>
            </a:r>
            <a:endParaRPr lang="en-US" sz="2200" dirty="0"/>
          </a:p>
        </p:txBody>
      </p:sp>
      <p:sp>
        <p:nvSpPr>
          <p:cNvPr id="182" name="TextBox 181"/>
          <p:cNvSpPr txBox="1"/>
          <p:nvPr/>
        </p:nvSpPr>
        <p:spPr>
          <a:xfrm>
            <a:off x="2605697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y</a:t>
            </a:r>
            <a:endParaRPr lang="en-US" sz="2200" dirty="0"/>
          </a:p>
        </p:txBody>
      </p:sp>
      <p:sp>
        <p:nvSpPr>
          <p:cNvPr id="183" name="TextBox 182"/>
          <p:cNvSpPr txBox="1"/>
          <p:nvPr/>
        </p:nvSpPr>
        <p:spPr>
          <a:xfrm>
            <a:off x="3680758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z</a:t>
            </a:r>
            <a:endParaRPr lang="en-US" sz="2200" dirty="0"/>
          </a:p>
        </p:txBody>
      </p:sp>
      <p:sp>
        <p:nvSpPr>
          <p:cNvPr id="184" name="TextBox 183"/>
          <p:cNvSpPr txBox="1"/>
          <p:nvPr/>
        </p:nvSpPr>
        <p:spPr>
          <a:xfrm>
            <a:off x="4752098" y="5623560"/>
            <a:ext cx="59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200" dirty="0" smtClean="0"/>
              <a:t>y</a:t>
            </a:r>
          </a:p>
          <a:p>
            <a:pPr algn="ctr">
              <a:spcBef>
                <a:spcPts val="1200"/>
              </a:spcBef>
            </a:pPr>
            <a:r>
              <a:rPr lang="en-US" sz="2200" dirty="0" smtClean="0"/>
              <a:t>q</a:t>
            </a:r>
            <a:endParaRPr lang="en-US" sz="2200" dirty="0"/>
          </a:p>
        </p:txBody>
      </p:sp>
      <p:sp>
        <p:nvSpPr>
          <p:cNvPr id="185" name="TextBox 184"/>
          <p:cNvSpPr txBox="1"/>
          <p:nvPr/>
        </p:nvSpPr>
        <p:spPr>
          <a:xfrm>
            <a:off x="5827160" y="5623560"/>
            <a:ext cx="59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200" dirty="0" smtClean="0"/>
              <a:t>z</a:t>
            </a:r>
          </a:p>
          <a:p>
            <a:pPr algn="ctr">
              <a:spcBef>
                <a:spcPts val="1200"/>
              </a:spcBef>
            </a:pPr>
            <a:r>
              <a:rPr lang="en-US" sz="2200" dirty="0" smtClean="0"/>
              <a:t>z</a:t>
            </a:r>
            <a:endParaRPr lang="en-US" sz="2200" dirty="0"/>
          </a:p>
        </p:txBody>
      </p:sp>
      <p:sp>
        <p:nvSpPr>
          <p:cNvPr id="186" name="TextBox 185"/>
          <p:cNvSpPr txBox="1"/>
          <p:nvPr/>
        </p:nvSpPr>
        <p:spPr>
          <a:xfrm>
            <a:off x="6898500" y="5623560"/>
            <a:ext cx="594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lang="en-US" sz="2200" dirty="0" smtClean="0"/>
              <a:t>x</a:t>
            </a:r>
            <a:endParaRPr lang="en-US" sz="2200" dirty="0"/>
          </a:p>
        </p:txBody>
      </p:sp>
      <p:sp>
        <p:nvSpPr>
          <p:cNvPr id="187" name="Rectangle 186"/>
          <p:cNvSpPr/>
          <p:nvPr/>
        </p:nvSpPr>
        <p:spPr>
          <a:xfrm>
            <a:off x="1527048" y="5669280"/>
            <a:ext cx="2744142" cy="430887"/>
          </a:xfrm>
          <a:prstGeom prst="rect">
            <a:avLst/>
          </a:prstGeom>
          <a:noFill/>
          <a:ln w="38100">
            <a:solidFill>
              <a:srgbClr val="660066"/>
            </a:solidFill>
            <a:prstDash val="sysDot"/>
          </a:ln>
          <a:effectLst>
            <a:glow rad="101600">
              <a:schemeClr val="accent4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/>
          <p:cNvSpPr/>
          <p:nvPr/>
        </p:nvSpPr>
        <p:spPr>
          <a:xfrm>
            <a:off x="4673263" y="6181344"/>
            <a:ext cx="1828800" cy="365760"/>
          </a:xfrm>
          <a:prstGeom prst="rect">
            <a:avLst/>
          </a:prstGeom>
          <a:noFill/>
          <a:ln w="31750">
            <a:solidFill>
              <a:srgbClr val="3366FF"/>
            </a:solidFill>
            <a:prstDash val="dash"/>
          </a:ln>
          <a:effectLst>
            <a:glow rad="101600">
              <a:schemeClr val="accent1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/>
          <p:cNvSpPr/>
          <p:nvPr/>
        </p:nvSpPr>
        <p:spPr>
          <a:xfrm>
            <a:off x="4672584" y="5715000"/>
            <a:ext cx="2743200" cy="365760"/>
          </a:xfrm>
          <a:prstGeom prst="rect">
            <a:avLst/>
          </a:prstGeom>
          <a:noFill/>
          <a:ln w="38100">
            <a:solidFill>
              <a:srgbClr val="D7823B"/>
            </a:solidFill>
            <a:prstDash val="sysDash"/>
          </a:ln>
          <a:effectLst>
            <a:glow rad="101600">
              <a:schemeClr val="accent3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/>
          <p:cNvSpPr/>
          <p:nvPr/>
        </p:nvSpPr>
        <p:spPr>
          <a:xfrm>
            <a:off x="3758863" y="6181344"/>
            <a:ext cx="2743200" cy="365760"/>
          </a:xfrm>
          <a:prstGeom prst="rect">
            <a:avLst/>
          </a:prstGeom>
          <a:noFill/>
          <a:ln w="31750">
            <a:solidFill>
              <a:srgbClr val="3366FF"/>
            </a:solidFill>
            <a:prstDash val="dash"/>
          </a:ln>
          <a:effectLst>
            <a:glow rad="101600">
              <a:schemeClr val="accent1">
                <a:lumMod val="40000"/>
                <a:lumOff val="60000"/>
                <a:alpha val="75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TextBox 190"/>
          <p:cNvSpPr txBox="1"/>
          <p:nvPr/>
        </p:nvSpPr>
        <p:spPr>
          <a:xfrm>
            <a:off x="3685032" y="5623560"/>
            <a:ext cx="59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z</a:t>
            </a:r>
          </a:p>
          <a:p>
            <a:pPr algn="ctr">
              <a:spcBef>
                <a:spcPts val="1200"/>
              </a:spcBef>
            </a:pPr>
            <a:r>
              <a:rPr lang="en-US" sz="2200" dirty="0" smtClean="0"/>
              <a:t>r</a:t>
            </a:r>
            <a:endParaRPr lang="en-US" sz="2200" dirty="0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5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a. Decider/Chooser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abstraction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8" grpId="0" animBg="1"/>
      <p:bldP spid="190" grpId="0" animBg="1"/>
      <p:bldP spid="19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406932" cy="4337735"/>
          </a:xfrm>
        </p:spPr>
        <p:txBody>
          <a:bodyPr/>
          <a:lstStyle/>
          <a:p>
            <a:r>
              <a:rPr lang="en-US" i="1" dirty="0" smtClean="0"/>
              <a:t>Decider/Chooser Protocol (DCP)</a:t>
            </a:r>
          </a:p>
          <a:p>
            <a:pPr lvl="1"/>
            <a:r>
              <a:rPr lang="en-US" dirty="0" smtClean="0"/>
              <a:t>Distributed algorithm that implements LSP</a:t>
            </a:r>
          </a:p>
          <a:p>
            <a:pPr lvl="1"/>
            <a:r>
              <a:rPr lang="en-US" dirty="0" smtClean="0"/>
              <a:t>Las-Vegas style randomized algorithm</a:t>
            </a:r>
          </a:p>
          <a:p>
            <a:pPr lvl="2"/>
            <a:r>
              <a:rPr lang="en-US" dirty="0" smtClean="0"/>
              <a:t>Probabilistically fast, guaranteed to be correct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Practical: Low message overhead, quick convergence</a:t>
            </a:r>
          </a:p>
          <a:p>
            <a:pPr lvl="1"/>
            <a:r>
              <a:rPr lang="en-US" dirty="0" smtClean="0"/>
              <a:t>Reacts quickly and locally to topology dynamics</a:t>
            </a:r>
          </a:p>
          <a:p>
            <a:pPr lvl="2"/>
            <a:r>
              <a:rPr lang="en-US" dirty="0" smtClean="0"/>
              <a:t>Transient startup conditions</a:t>
            </a:r>
          </a:p>
          <a:p>
            <a:pPr lvl="2"/>
            <a:r>
              <a:rPr lang="en-US" dirty="0" smtClean="0"/>
              <a:t>Miswirings</a:t>
            </a:r>
          </a:p>
          <a:p>
            <a:pPr lvl="2"/>
            <a:r>
              <a:rPr lang="en-US" dirty="0" smtClean="0"/>
              <a:t>Failure/recovery, connectivity changes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. Design Solution for Abstraction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ounded Rectangle 87"/>
          <p:cNvSpPr/>
          <p:nvPr/>
        </p:nvSpPr>
        <p:spPr>
          <a:xfrm>
            <a:off x="6070777" y="5892362"/>
            <a:ext cx="822960" cy="3657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2</a:t>
            </a:r>
            <a:r>
              <a:rPr lang="en-US" dirty="0" smtClean="0">
                <a:solidFill>
                  <a:srgbClr val="000000"/>
                </a:solidFill>
              </a:rPr>
              <a:t>:y?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351873" y="5892362"/>
            <a:ext cx="822960" cy="3657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1</a:t>
            </a:r>
            <a:r>
              <a:rPr lang="en-US" dirty="0" smtClean="0">
                <a:solidFill>
                  <a:srgbClr val="000000"/>
                </a:solidFill>
              </a:rPr>
              <a:t>:x?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6070777" y="5892362"/>
            <a:ext cx="822960" cy="3657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2</a:t>
            </a:r>
            <a:r>
              <a:rPr lang="en-US" dirty="0" smtClean="0">
                <a:solidFill>
                  <a:srgbClr val="000000"/>
                </a:solidFill>
              </a:rPr>
              <a:t>:y?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350435" y="5892362"/>
            <a:ext cx="822960" cy="3657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1</a:t>
            </a:r>
            <a:r>
              <a:rPr lang="en-US" dirty="0" smtClean="0">
                <a:solidFill>
                  <a:srgbClr val="000000"/>
                </a:solidFill>
              </a:rPr>
              <a:t>:x?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608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2164126"/>
          </a:xfrm>
        </p:spPr>
        <p:txBody>
          <a:bodyPr/>
          <a:lstStyle/>
          <a:p>
            <a:r>
              <a:rPr lang="en-US" dirty="0" smtClean="0"/>
              <a:t>Algorithm:</a:t>
            </a:r>
          </a:p>
          <a:p>
            <a:pPr lvl="1"/>
            <a:r>
              <a:rPr lang="en-US" dirty="0" smtClean="0"/>
              <a:t>Choosers select coordinates randomly and send to deciders</a:t>
            </a:r>
          </a:p>
          <a:p>
            <a:pPr lvl="1"/>
            <a:r>
              <a:rPr lang="en-US" dirty="0" smtClean="0"/>
              <a:t>Deciders reply with [yes] or [no+hints]</a:t>
            </a:r>
          </a:p>
          <a:p>
            <a:pPr lvl="1"/>
            <a:r>
              <a:rPr lang="en-US" dirty="0" smtClean="0"/>
              <a:t>One no </a:t>
            </a:r>
            <a:r>
              <a:rPr lang="en-US" dirty="0" smtClean="0">
                <a:sym typeface="Wingdings"/>
              </a:rPr>
              <a:t> reselect, </a:t>
            </a:r>
            <a:r>
              <a:rPr lang="en-US" dirty="0" smtClean="0"/>
              <a:t>All yeses </a:t>
            </a:r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 finished</a:t>
            </a:r>
          </a:p>
          <a:p>
            <a:pPr lvl="1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. Design Solution for Abstraction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Straight Connector 5"/>
          <p:cNvCxnSpPr>
            <a:stCxn id="11" idx="4"/>
            <a:endCxn id="12" idx="0"/>
          </p:cNvCxnSpPr>
          <p:nvPr/>
        </p:nvCxnSpPr>
        <p:spPr bwMode="auto">
          <a:xfrm rot="5400000">
            <a:off x="4133889" y="5334033"/>
            <a:ext cx="776565" cy="925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11" idx="5"/>
            <a:endCxn id="13" idx="1"/>
          </p:cNvCxnSpPr>
          <p:nvPr/>
        </p:nvCxnSpPr>
        <p:spPr bwMode="auto">
          <a:xfrm rot="16200000" flipH="1">
            <a:off x="4650987" y="4940436"/>
            <a:ext cx="950747" cy="78801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0" idx="3"/>
            <a:endCxn id="12" idx="7"/>
          </p:cNvCxnSpPr>
          <p:nvPr/>
        </p:nvCxnSpPr>
        <p:spPr bwMode="auto">
          <a:xfrm rot="5400000">
            <a:off x="4650510" y="4940408"/>
            <a:ext cx="950748" cy="78807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 bwMode="auto">
          <a:xfrm>
            <a:off x="5433054" y="4351179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2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226046" y="4351179"/>
            <a:ext cx="593174" cy="59503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4925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</a:t>
            </a:r>
            <a:r>
              <a:rPr lang="en-US" baseline="-25000" dirty="0" smtClean="0">
                <a:solidFill>
                  <a:schemeClr val="tx1"/>
                </a:solidFill>
              </a:rPr>
              <a:t>1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224528" y="5722778"/>
            <a:ext cx="594359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1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433054" y="5722777"/>
            <a:ext cx="596221" cy="594360"/>
          </a:xfrm>
          <a:prstGeom prst="ellipse">
            <a:avLst/>
          </a:prstGeom>
          <a:solidFill>
            <a:srgbClr val="B1DCB5"/>
          </a:solidFill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</a:t>
            </a:r>
            <a:r>
              <a:rPr lang="en-US" sz="2000" baseline="-25000" dirty="0" smtClean="0">
                <a:solidFill>
                  <a:schemeClr val="tx1"/>
                </a:solidFill>
              </a:rPr>
              <a:t>2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49" name="Straight Connector 48"/>
          <p:cNvCxnSpPr>
            <a:stCxn id="10" idx="4"/>
            <a:endCxn id="13" idx="0"/>
          </p:cNvCxnSpPr>
          <p:nvPr/>
        </p:nvCxnSpPr>
        <p:spPr bwMode="auto">
          <a:xfrm rot="16200000" flipH="1">
            <a:off x="5342121" y="5333733"/>
            <a:ext cx="776564" cy="1524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2029454" y="4077083"/>
            <a:ext cx="1097280" cy="7819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1</a:t>
            </a:r>
            <a:r>
              <a:rPr lang="en-US" dirty="0" smtClean="0">
                <a:solidFill>
                  <a:srgbClr val="000000"/>
                </a:solidFill>
              </a:rPr>
              <a:t>: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2</a:t>
            </a:r>
            <a:r>
              <a:rPr lang="en-US" dirty="0" smtClean="0">
                <a:solidFill>
                  <a:srgbClr val="000000"/>
                </a:solidFill>
              </a:rPr>
              <a:t>: 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48056" y="4077083"/>
            <a:ext cx="1097280" cy="7819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1</a:t>
            </a:r>
            <a:r>
              <a:rPr lang="en-US" dirty="0" smtClean="0">
                <a:solidFill>
                  <a:srgbClr val="000000"/>
                </a:solidFill>
              </a:rPr>
              <a:t>: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2</a:t>
            </a:r>
            <a:r>
              <a:rPr lang="en-US" dirty="0" smtClean="0">
                <a:solidFill>
                  <a:srgbClr val="000000"/>
                </a:solidFill>
              </a:rPr>
              <a:t>: 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29454" y="4077085"/>
            <a:ext cx="1097280" cy="7819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1</a:t>
            </a:r>
            <a:r>
              <a:rPr lang="en-US" dirty="0" smtClean="0">
                <a:solidFill>
                  <a:srgbClr val="000000"/>
                </a:solidFill>
              </a:rPr>
              <a:t>: x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2</a:t>
            </a:r>
            <a:r>
              <a:rPr lang="en-US" dirty="0" smtClean="0">
                <a:solidFill>
                  <a:srgbClr val="000000"/>
                </a:solidFill>
              </a:rPr>
              <a:t>: 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48056" y="4077083"/>
            <a:ext cx="1097280" cy="7819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1</a:t>
            </a:r>
            <a:r>
              <a:rPr lang="en-US" dirty="0" smtClean="0">
                <a:solidFill>
                  <a:srgbClr val="000000"/>
                </a:solidFill>
              </a:rPr>
              <a:t>: x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c</a:t>
            </a:r>
            <a:r>
              <a:rPr lang="en-US" baseline="-25000" dirty="0" smtClean="0">
                <a:solidFill>
                  <a:srgbClr val="000000"/>
                </a:solidFill>
              </a:rPr>
              <a:t>2</a:t>
            </a:r>
            <a:r>
              <a:rPr lang="en-US" dirty="0" smtClean="0">
                <a:solidFill>
                  <a:srgbClr val="000000"/>
                </a:solidFill>
              </a:rPr>
              <a:t>: y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78319" y="3949090"/>
            <a:ext cx="681736" cy="2559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978319" y="3949090"/>
            <a:ext cx="681736" cy="2559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62258" y="3949090"/>
            <a:ext cx="681736" cy="2559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662258" y="3949090"/>
            <a:ext cx="681736" cy="2559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126734" y="5267395"/>
            <a:ext cx="1217260" cy="3870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00"/>
                </a:solidFill>
              </a:rPr>
              <a:t>Coord: 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70777" y="5267395"/>
            <a:ext cx="1216152" cy="38404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Coord: 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55359E-7 3.10042E-7 L 9.55359E-7 -0.2899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4622E-6 3.10042E-7 L 0.29755 -0.2253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" y="-11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5393E-6 3.10042E-7 L 0.00018 -0.2899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5393E-6 3.10042E-7 L -0.29737 -0.2253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" y="-1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9656E-6 1.42064E-6 L 0.25482 0.2302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" y="11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0.00811 L 0.00139 0.1905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377E-6 -1.2633E-6 L -0.25343 0.2304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" y="11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1817E-6 -1.1106E-6 L 0.00069 0.1927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  <p:bldP spid="88" grpId="2" animBg="1"/>
      <p:bldP spid="41" grpId="0" animBg="1"/>
      <p:bldP spid="41" grpId="1" animBg="1"/>
      <p:bldP spid="41" grpId="2" animBg="1"/>
      <p:bldP spid="87" grpId="0" animBg="1"/>
      <p:bldP spid="87" grpId="1" animBg="1"/>
      <p:bldP spid="87" grpId="2" animBg="1"/>
      <p:bldP spid="39" grpId="0" animBg="1"/>
      <p:bldP spid="39" grpId="1" animBg="1"/>
      <p:bldP spid="39" grpId="2" animBg="1"/>
      <p:bldP spid="76" grpId="0" animBg="1"/>
      <p:bldP spid="77" grpId="0" animBg="1"/>
      <p:bldP spid="78" grpId="0" animBg="1"/>
      <p:bldP spid="79" grpId="0" animBg="1"/>
      <p:bldP spid="45" grpId="0" animBg="1"/>
      <p:bldP spid="45" grpId="1" animBg="1"/>
      <p:bldP spid="45" grpId="2" animBg="1"/>
      <p:bldP spid="44" grpId="0" animBg="1"/>
      <p:bldP spid="44" grpId="1" animBg="1"/>
      <p:bldP spid="44" grpId="2" animBg="1"/>
      <p:bldP spid="46" grpId="0" animBg="1"/>
      <p:bldP spid="46" grpId="1" animBg="1"/>
      <p:bldP spid="46" grpId="2" animBg="1"/>
      <p:bldP spid="43" grpId="0" animBg="1"/>
      <p:bldP spid="43" grpId="1" animBg="1"/>
      <p:bldP spid="43" grpId="2" animBg="1"/>
      <p:bldP spid="97" grpId="0" animBg="1"/>
      <p:bldP spid="5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498584" cy="1096962"/>
          </a:xfrm>
        </p:spPr>
        <p:txBody>
          <a:bodyPr/>
          <a:lstStyle/>
          <a:p>
            <a:r>
              <a:rPr lang="en-US" dirty="0" smtClean="0"/>
              <a:t>Hypernodes are choosers for their coordinates</a:t>
            </a:r>
          </a:p>
          <a:p>
            <a:r>
              <a:rPr lang="en-US" dirty="0" smtClean="0"/>
              <a:t>Switches are deciders for neighbors below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. Apply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DCP through Hierarchy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3" name="Group 82"/>
          <p:cNvGrpSpPr/>
          <p:nvPr/>
        </p:nvGrpSpPr>
        <p:grpSpPr>
          <a:xfrm>
            <a:off x="3474275" y="2743200"/>
            <a:ext cx="2422525" cy="3308350"/>
            <a:chOff x="6381750" y="3343275"/>
            <a:chExt cx="2422525" cy="3308350"/>
          </a:xfrm>
        </p:grpSpPr>
        <p:sp>
          <p:nvSpPr>
            <p:cNvPr id="44" name="Rounded Rectangle 43"/>
            <p:cNvSpPr/>
            <p:nvPr/>
          </p:nvSpPr>
          <p:spPr>
            <a:xfrm>
              <a:off x="6384925" y="5135563"/>
              <a:ext cx="573088" cy="579437"/>
            </a:xfrm>
            <a:prstGeom prst="roundRect">
              <a:avLst/>
            </a:prstGeom>
            <a:solidFill>
              <a:schemeClr val="accent1">
                <a:alpha val="73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297738" y="5135563"/>
              <a:ext cx="1506537" cy="579437"/>
            </a:xfrm>
            <a:prstGeom prst="roundRect">
              <a:avLst/>
            </a:prstGeom>
            <a:solidFill>
              <a:srgbClr val="000090">
                <a:alpha val="73000"/>
              </a:srgbClr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8224838" y="4230688"/>
              <a:ext cx="571500" cy="579437"/>
            </a:xfrm>
            <a:prstGeom prst="roundRect">
              <a:avLst/>
            </a:prstGeom>
            <a:solidFill>
              <a:schemeClr val="accent3">
                <a:alpha val="73000"/>
              </a:schemeClr>
            </a:solidFill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384925" y="4230688"/>
              <a:ext cx="1506538" cy="579437"/>
            </a:xfrm>
            <a:prstGeom prst="roundRect">
              <a:avLst/>
            </a:prstGeom>
            <a:solidFill>
              <a:srgbClr val="FFFF00">
                <a:alpha val="73000"/>
              </a:srgbClr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48" name="Group 181"/>
            <p:cNvGrpSpPr>
              <a:grpSpLocks noChangeAspect="1"/>
            </p:cNvGrpSpPr>
            <p:nvPr/>
          </p:nvGrpSpPr>
          <p:grpSpPr bwMode="auto">
            <a:xfrm>
              <a:off x="6415088" y="3343275"/>
              <a:ext cx="2352675" cy="3271838"/>
              <a:chOff x="51915" y="2661997"/>
              <a:chExt cx="2993357" cy="4164863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1227444" y="3836081"/>
                <a:ext cx="644318" cy="64665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aseline="-25000" dirty="0">
                  <a:solidFill>
                    <a:schemeClr val="tx1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57974" y="5002080"/>
                <a:ext cx="644320" cy="64463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221384" y="5002080"/>
                <a:ext cx="646339" cy="64463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51915" y="6180205"/>
                <a:ext cx="646339" cy="64665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1217344" y="6182225"/>
                <a:ext cx="644320" cy="64463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Straight Connector 53"/>
              <p:cNvCxnSpPr>
                <a:stCxn id="51" idx="3"/>
                <a:endCxn id="52" idx="7"/>
              </p:cNvCxnSpPr>
              <p:nvPr/>
            </p:nvCxnSpPr>
            <p:spPr>
              <a:xfrm rot="5400000">
                <a:off x="598096" y="5556963"/>
                <a:ext cx="723445" cy="712993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50" idx="5"/>
                <a:endCxn id="53" idx="1"/>
              </p:cNvCxnSpPr>
              <p:nvPr/>
            </p:nvCxnSpPr>
            <p:spPr>
              <a:xfrm rot="16200000" flipH="1">
                <a:off x="597085" y="5562013"/>
                <a:ext cx="723445" cy="702894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stCxn id="51" idx="4"/>
                <a:endCxn id="53" idx="0"/>
              </p:cNvCxnSpPr>
              <p:nvPr/>
            </p:nvCxnSpPr>
            <p:spPr>
              <a:xfrm rot="5400000">
                <a:off x="1273768" y="5911441"/>
                <a:ext cx="535511" cy="6059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/>
              <p:cNvSpPr/>
              <p:nvPr/>
            </p:nvSpPr>
            <p:spPr>
              <a:xfrm>
                <a:off x="2392873" y="5034413"/>
                <a:ext cx="646339" cy="64463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2388833" y="6182225"/>
                <a:ext cx="644320" cy="64463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9" name="Straight Connector 58"/>
              <p:cNvCxnSpPr>
                <a:stCxn id="57" idx="4"/>
                <a:endCxn id="58" idx="0"/>
              </p:cNvCxnSpPr>
              <p:nvPr/>
            </p:nvCxnSpPr>
            <p:spPr>
              <a:xfrm rot="5400000">
                <a:off x="2462434" y="5928616"/>
                <a:ext cx="503178" cy="4040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>
                <a:stCxn id="57" idx="3"/>
                <a:endCxn id="53" idx="7"/>
              </p:cNvCxnSpPr>
              <p:nvPr/>
            </p:nvCxnSpPr>
            <p:spPr>
              <a:xfrm rot="5400000">
                <a:off x="1781712" y="5569090"/>
                <a:ext cx="691113" cy="721072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>
                <a:stCxn id="51" idx="5"/>
                <a:endCxn id="58" idx="1"/>
              </p:cNvCxnSpPr>
              <p:nvPr/>
            </p:nvCxnSpPr>
            <p:spPr>
              <a:xfrm rot="16200000" flipH="1">
                <a:off x="1766555" y="5557973"/>
                <a:ext cx="723445" cy="710973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stCxn id="57" idx="2"/>
                <a:endCxn id="52" idx="6"/>
              </p:cNvCxnSpPr>
              <p:nvPr/>
            </p:nvCxnSpPr>
            <p:spPr>
              <a:xfrm rot="10800000" flipV="1">
                <a:off x="698254" y="5355720"/>
                <a:ext cx="1694619" cy="1147813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49" idx="5"/>
                <a:endCxn id="57" idx="1"/>
              </p:cNvCxnSpPr>
              <p:nvPr/>
            </p:nvCxnSpPr>
            <p:spPr>
              <a:xfrm rot="16200000" flipH="1">
                <a:off x="1763522" y="4403087"/>
                <a:ext cx="739612" cy="708954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/>
              <p:cNvSpPr/>
              <p:nvPr/>
            </p:nvSpPr>
            <p:spPr>
              <a:xfrm>
                <a:off x="2398933" y="3836081"/>
                <a:ext cx="646339" cy="64665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64034" y="3836081"/>
                <a:ext cx="644318" cy="64665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Straight Connector 65"/>
              <p:cNvCxnSpPr>
                <a:stCxn id="65" idx="4"/>
                <a:endCxn id="50" idx="0"/>
              </p:cNvCxnSpPr>
              <p:nvPr/>
            </p:nvCxnSpPr>
            <p:spPr>
              <a:xfrm rot="5400000">
                <a:off x="122481" y="4739379"/>
                <a:ext cx="519344" cy="6059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4" idx="4"/>
                <a:endCxn id="57" idx="0"/>
              </p:cNvCxnSpPr>
              <p:nvPr/>
            </p:nvCxnSpPr>
            <p:spPr>
              <a:xfrm rot="5400000">
                <a:off x="2443234" y="4755544"/>
                <a:ext cx="551677" cy="6060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>
                <a:stCxn id="50" idx="4"/>
                <a:endCxn id="52" idx="0"/>
              </p:cNvCxnSpPr>
              <p:nvPr/>
            </p:nvCxnSpPr>
            <p:spPr>
              <a:xfrm rot="5400000">
                <a:off x="110360" y="5911439"/>
                <a:ext cx="533490" cy="4040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65" idx="5"/>
                <a:endCxn id="51" idx="1"/>
              </p:cNvCxnSpPr>
              <p:nvPr/>
            </p:nvCxnSpPr>
            <p:spPr>
              <a:xfrm rot="16200000" flipH="1">
                <a:off x="611229" y="4389951"/>
                <a:ext cx="707279" cy="702894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64" idx="3"/>
                <a:endCxn id="51" idx="7"/>
              </p:cNvCxnSpPr>
              <p:nvPr/>
            </p:nvCxnSpPr>
            <p:spPr>
              <a:xfrm rot="5400000">
                <a:off x="1779688" y="4380861"/>
                <a:ext cx="707279" cy="721071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1227444" y="2661997"/>
                <a:ext cx="644318" cy="644635"/>
              </a:xfrm>
              <a:prstGeom prst="ellipse">
                <a:avLst/>
              </a:prstGeom>
              <a:noFill/>
              <a:ln w="254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Straight Connector 71"/>
              <p:cNvCxnSpPr>
                <a:stCxn id="71" idx="3"/>
                <a:endCxn id="65" idx="0"/>
              </p:cNvCxnSpPr>
              <p:nvPr/>
            </p:nvCxnSpPr>
            <p:spPr>
              <a:xfrm rot="5400000">
                <a:off x="542576" y="3056282"/>
                <a:ext cx="622405" cy="937191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71" idx="4"/>
                <a:endCxn id="49" idx="0"/>
              </p:cNvCxnSpPr>
              <p:nvPr/>
            </p:nvCxnSpPr>
            <p:spPr>
              <a:xfrm rot="5400000">
                <a:off x="1285888" y="3571357"/>
                <a:ext cx="529449" cy="0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stCxn id="71" idx="5"/>
              </p:cNvCxnSpPr>
              <p:nvPr/>
            </p:nvCxnSpPr>
            <p:spPr>
              <a:xfrm rot="16200000" flipH="1">
                <a:off x="1934225" y="3058301"/>
                <a:ext cx="622405" cy="933152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>
                <a:stCxn id="49" idx="3"/>
                <a:endCxn id="50" idx="7"/>
              </p:cNvCxnSpPr>
              <p:nvPr/>
            </p:nvCxnSpPr>
            <p:spPr>
              <a:xfrm rot="5400000">
                <a:off x="611229" y="4383891"/>
                <a:ext cx="707279" cy="715012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headEnd type="none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Rounded Rectangle 75"/>
            <p:cNvSpPr/>
            <p:nvPr/>
          </p:nvSpPr>
          <p:spPr>
            <a:xfrm>
              <a:off x="7296150" y="6072188"/>
              <a:ext cx="558800" cy="579437"/>
            </a:xfrm>
            <a:prstGeom prst="roundRect">
              <a:avLst/>
            </a:prstGeom>
            <a:noFill/>
            <a:ln w="38100">
              <a:solidFill>
                <a:schemeClr val="accent4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8210550" y="6072188"/>
              <a:ext cx="573088" cy="579437"/>
            </a:xfrm>
            <a:prstGeom prst="roundRect">
              <a:avLst/>
            </a:prstGeom>
            <a:noFill/>
            <a:ln w="38100">
              <a:solidFill>
                <a:schemeClr val="accent4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381750" y="6072188"/>
              <a:ext cx="573088" cy="579437"/>
            </a:xfrm>
            <a:prstGeom prst="roundRect">
              <a:avLst/>
            </a:prstGeom>
            <a:noFill/>
            <a:ln w="38100">
              <a:solidFill>
                <a:schemeClr val="accent4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grpSp>
        <p:nvGrpSpPr>
          <p:cNvPr id="92" name="Group 91"/>
          <p:cNvGrpSpPr/>
          <p:nvPr/>
        </p:nvGrpSpPr>
        <p:grpSpPr>
          <a:xfrm>
            <a:off x="1581471" y="3624897"/>
            <a:ext cx="1631166" cy="1463040"/>
            <a:chOff x="6080760" y="3665539"/>
            <a:chExt cx="1631166" cy="1463040"/>
          </a:xfrm>
        </p:grpSpPr>
        <p:sp>
          <p:nvSpPr>
            <p:cNvPr id="86" name="TextBox 85"/>
            <p:cNvSpPr txBox="1"/>
            <p:nvPr/>
          </p:nvSpPr>
          <p:spPr>
            <a:xfrm>
              <a:off x="6097882" y="4615807"/>
              <a:ext cx="1614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dirty="0" smtClean="0">
                  <a:solidFill>
                    <a:srgbClr val="008000"/>
                  </a:solidFill>
                  <a:sym typeface="Wingdings"/>
                </a:rPr>
                <a:t>2 choosers</a:t>
              </a:r>
              <a:endParaRPr lang="en-US" sz="2300" dirty="0">
                <a:solidFill>
                  <a:srgbClr val="008000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097882" y="3711873"/>
              <a:ext cx="1614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dirty="0" smtClean="0">
                  <a:solidFill>
                    <a:srgbClr val="800000"/>
                  </a:solidFill>
                  <a:sym typeface="Wingdings"/>
                </a:rPr>
                <a:t>3 deciders</a:t>
              </a:r>
              <a:endParaRPr lang="en-US" sz="2300" dirty="0">
                <a:solidFill>
                  <a:srgbClr val="800000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080760" y="3665539"/>
              <a:ext cx="1631166" cy="14630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098416" y="2695903"/>
            <a:ext cx="1631166" cy="1463040"/>
            <a:chOff x="6080760" y="3665539"/>
            <a:chExt cx="1631166" cy="1463040"/>
          </a:xfrm>
        </p:grpSpPr>
        <p:sp>
          <p:nvSpPr>
            <p:cNvPr id="94" name="TextBox 93"/>
            <p:cNvSpPr txBox="1"/>
            <p:nvPr/>
          </p:nvSpPr>
          <p:spPr>
            <a:xfrm>
              <a:off x="6097882" y="4615807"/>
              <a:ext cx="1614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dirty="0" smtClean="0">
                  <a:solidFill>
                    <a:srgbClr val="008000"/>
                  </a:solidFill>
                  <a:sym typeface="Wingdings"/>
                </a:rPr>
                <a:t>2 choosers</a:t>
              </a:r>
              <a:endParaRPr lang="en-US" sz="2300" dirty="0">
                <a:solidFill>
                  <a:srgbClr val="008000"/>
                </a:solidFill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097882" y="3711873"/>
              <a:ext cx="1614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dirty="0" smtClean="0">
                  <a:solidFill>
                    <a:srgbClr val="800000"/>
                  </a:solidFill>
                  <a:sym typeface="Wingdings"/>
                </a:rPr>
                <a:t>1 decider</a:t>
              </a:r>
              <a:endParaRPr lang="en-US" sz="2300" dirty="0">
                <a:solidFill>
                  <a:srgbClr val="800000"/>
                </a:solidFill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080760" y="3665539"/>
              <a:ext cx="1631166" cy="14630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115538" y="4535488"/>
            <a:ext cx="1631166" cy="1463040"/>
            <a:chOff x="6080760" y="3665539"/>
            <a:chExt cx="1631166" cy="1463040"/>
          </a:xfrm>
        </p:grpSpPr>
        <p:sp>
          <p:nvSpPr>
            <p:cNvPr id="98" name="TextBox 97"/>
            <p:cNvSpPr txBox="1"/>
            <p:nvPr/>
          </p:nvSpPr>
          <p:spPr>
            <a:xfrm>
              <a:off x="6097882" y="4615807"/>
              <a:ext cx="1614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dirty="0" smtClean="0">
                  <a:solidFill>
                    <a:srgbClr val="008000"/>
                  </a:solidFill>
                  <a:sym typeface="Wingdings"/>
                </a:rPr>
                <a:t>3 choosers</a:t>
              </a:r>
              <a:endParaRPr lang="en-US" sz="2300" dirty="0">
                <a:solidFill>
                  <a:srgbClr val="008000"/>
                </a:solidFill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97882" y="3711873"/>
              <a:ext cx="1614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dirty="0" smtClean="0">
                  <a:solidFill>
                    <a:srgbClr val="800000"/>
                  </a:solidFill>
                  <a:sym typeface="Wingdings"/>
                </a:rPr>
                <a:t>3 deciders</a:t>
              </a:r>
              <a:endParaRPr lang="en-US" sz="2300" dirty="0">
                <a:solidFill>
                  <a:srgbClr val="800000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080760" y="3665539"/>
              <a:ext cx="1631166" cy="14630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3484002" y="5471320"/>
            <a:ext cx="573088" cy="579437"/>
          </a:xfrm>
          <a:prstGeom prst="roundRect">
            <a:avLst/>
          </a:prstGeom>
          <a:solidFill>
            <a:srgbClr val="7F7F7F"/>
          </a:solidFill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4398402" y="5471320"/>
            <a:ext cx="558800" cy="579437"/>
          </a:xfrm>
          <a:prstGeom prst="roundRect">
            <a:avLst/>
          </a:prstGeom>
          <a:solidFill>
            <a:srgbClr val="7F7F7F"/>
          </a:solidFill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9" name="Rounded Rectangle 38"/>
          <p:cNvSpPr/>
          <p:nvPr/>
        </p:nvSpPr>
        <p:spPr>
          <a:xfrm>
            <a:off x="5312802" y="5471320"/>
            <a:ext cx="573088" cy="57943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9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671406"/>
          </a:xfrm>
        </p:spPr>
        <p:txBody>
          <a:bodyPr/>
          <a:lstStyle/>
          <a:p>
            <a:r>
              <a:rPr lang="en-US" dirty="0" smtClean="0"/>
              <a:t>DCP assigns level 1 coordinates</a:t>
            </a:r>
            <a:endParaRPr lang="en-US" i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4397607" y="4531212"/>
            <a:ext cx="1506537" cy="579437"/>
          </a:xfrm>
          <a:prstGeom prst="roundRect">
            <a:avLst/>
          </a:prstGeom>
          <a:solidFill>
            <a:schemeClr val="tx1">
              <a:lumMod val="50000"/>
              <a:lumOff val="50000"/>
              <a:alpha val="73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ounded Rectangle 5"/>
          <p:cNvSpPr/>
          <p:nvPr/>
        </p:nvSpPr>
        <p:spPr bwMode="auto">
          <a:xfrm>
            <a:off x="3483207" y="4531212"/>
            <a:ext cx="571500" cy="579437"/>
          </a:xfrm>
          <a:prstGeom prst="roundRect">
            <a:avLst/>
          </a:prstGeom>
          <a:solidFill>
            <a:srgbClr val="7F7F7F">
              <a:alpha val="73000"/>
            </a:srgbClr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25" name="Straight Connector 24"/>
          <p:cNvCxnSpPr>
            <a:stCxn id="11" idx="5"/>
            <a:endCxn id="19" idx="1"/>
          </p:cNvCxnSpPr>
          <p:nvPr/>
        </p:nvCxnSpPr>
        <p:spPr bwMode="auto">
          <a:xfrm rot="16200000" flipH="1">
            <a:off x="4858775" y="4110831"/>
            <a:ext cx="581025" cy="557213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7" idx="4"/>
            <a:endCxn id="12" idx="0"/>
          </p:cNvCxnSpPr>
          <p:nvPr/>
        </p:nvCxnSpPr>
        <p:spPr bwMode="auto">
          <a:xfrm rot="5400000">
            <a:off x="3568932" y="4375151"/>
            <a:ext cx="407987" cy="4762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6" idx="4"/>
            <a:endCxn id="19" idx="0"/>
          </p:cNvCxnSpPr>
          <p:nvPr/>
        </p:nvCxnSpPr>
        <p:spPr bwMode="auto">
          <a:xfrm rot="5400000">
            <a:off x="5392969" y="4387850"/>
            <a:ext cx="433387" cy="4763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7" idx="5"/>
            <a:endCxn id="13" idx="1"/>
          </p:cNvCxnSpPr>
          <p:nvPr/>
        </p:nvCxnSpPr>
        <p:spPr bwMode="auto">
          <a:xfrm rot="16200000" flipH="1">
            <a:off x="3953106" y="4100513"/>
            <a:ext cx="555625" cy="552449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6" idx="3"/>
            <a:endCxn id="13" idx="7"/>
          </p:cNvCxnSpPr>
          <p:nvPr/>
        </p:nvCxnSpPr>
        <p:spPr bwMode="auto">
          <a:xfrm rot="5400000">
            <a:off x="4871475" y="4093369"/>
            <a:ext cx="555625" cy="566736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1" idx="3"/>
            <a:endCxn id="12" idx="7"/>
          </p:cNvCxnSpPr>
          <p:nvPr/>
        </p:nvCxnSpPr>
        <p:spPr bwMode="auto">
          <a:xfrm rot="5400000">
            <a:off x="3953106" y="4095750"/>
            <a:ext cx="555625" cy="561975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 bwMode="auto">
          <a:xfrm>
            <a:off x="4437294" y="3665538"/>
            <a:ext cx="506412" cy="508000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518132" y="4581525"/>
            <a:ext cx="506413" cy="506413"/>
          </a:xfrm>
          <a:prstGeom prst="ellipse">
            <a:avLst/>
          </a:prstGeom>
          <a:solidFill>
            <a:srgbClr val="8000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4432531" y="4581525"/>
            <a:ext cx="507999" cy="506413"/>
          </a:xfrm>
          <a:prstGeom prst="ellipse">
            <a:avLst/>
          </a:prstGeom>
          <a:solidFill>
            <a:srgbClr val="8000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513370" y="5507037"/>
            <a:ext cx="507999" cy="508000"/>
          </a:xfrm>
          <a:prstGeom prst="ellipse">
            <a:avLst/>
          </a:prstGeom>
          <a:solidFill>
            <a:srgbClr val="157D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429356" y="5508625"/>
            <a:ext cx="506413" cy="506413"/>
          </a:xfrm>
          <a:prstGeom prst="ellipse">
            <a:avLst/>
          </a:prstGeom>
          <a:solidFill>
            <a:srgbClr val="157D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3" idx="3"/>
            <a:endCxn id="14" idx="7"/>
          </p:cNvCxnSpPr>
          <p:nvPr/>
        </p:nvCxnSpPr>
        <p:spPr bwMode="auto">
          <a:xfrm rot="5400000">
            <a:off x="3942787" y="5017294"/>
            <a:ext cx="568325" cy="56038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5"/>
            <a:endCxn id="15" idx="1"/>
          </p:cNvCxnSpPr>
          <p:nvPr/>
        </p:nvCxnSpPr>
        <p:spPr bwMode="auto">
          <a:xfrm rot="16200000" flipH="1">
            <a:off x="3941994" y="5021263"/>
            <a:ext cx="568325" cy="552449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4"/>
            <a:endCxn id="15" idx="0"/>
          </p:cNvCxnSpPr>
          <p:nvPr/>
        </p:nvCxnSpPr>
        <p:spPr bwMode="auto">
          <a:xfrm rot="5400000">
            <a:off x="4473806" y="5295900"/>
            <a:ext cx="420687" cy="4762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 bwMode="auto">
          <a:xfrm>
            <a:off x="5353280" y="4606925"/>
            <a:ext cx="507999" cy="506413"/>
          </a:xfrm>
          <a:prstGeom prst="ellipse">
            <a:avLst/>
          </a:prstGeom>
          <a:solidFill>
            <a:srgbClr val="8000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5350106" y="5508625"/>
            <a:ext cx="506413" cy="506413"/>
          </a:xfrm>
          <a:prstGeom prst="ellipse">
            <a:avLst/>
          </a:prstGeom>
          <a:solidFill>
            <a:srgbClr val="157D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19" idx="4"/>
            <a:endCxn id="20" idx="0"/>
          </p:cNvCxnSpPr>
          <p:nvPr/>
        </p:nvCxnSpPr>
        <p:spPr bwMode="auto">
          <a:xfrm rot="5400000">
            <a:off x="5408050" y="5309394"/>
            <a:ext cx="395287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3"/>
            <a:endCxn id="15" idx="7"/>
          </p:cNvCxnSpPr>
          <p:nvPr/>
        </p:nvCxnSpPr>
        <p:spPr bwMode="auto">
          <a:xfrm rot="5400000">
            <a:off x="4873062" y="5026819"/>
            <a:ext cx="542925" cy="56673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5"/>
            <a:endCxn id="20" idx="1"/>
          </p:cNvCxnSpPr>
          <p:nvPr/>
        </p:nvCxnSpPr>
        <p:spPr bwMode="auto">
          <a:xfrm rot="16200000" flipH="1">
            <a:off x="4861156" y="5018088"/>
            <a:ext cx="568325" cy="558799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  <a:endCxn id="14" idx="6"/>
          </p:cNvCxnSpPr>
          <p:nvPr/>
        </p:nvCxnSpPr>
        <p:spPr bwMode="auto">
          <a:xfrm rot="10800000" flipV="1">
            <a:off x="4021369" y="4859338"/>
            <a:ext cx="1331911" cy="90170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 bwMode="auto">
          <a:xfrm>
            <a:off x="5358044" y="3665538"/>
            <a:ext cx="507999" cy="508000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3522895" y="3665538"/>
            <a:ext cx="506412" cy="508000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>
            <a:stCxn id="12" idx="4"/>
            <a:endCxn id="14" idx="0"/>
          </p:cNvCxnSpPr>
          <p:nvPr/>
        </p:nvCxnSpPr>
        <p:spPr bwMode="auto">
          <a:xfrm rot="5400000">
            <a:off x="3559408" y="5295900"/>
            <a:ext cx="419100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 bwMode="auto">
          <a:xfrm>
            <a:off x="4437294" y="2743200"/>
            <a:ext cx="506412" cy="506413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>
            <a:stCxn id="33" idx="3"/>
            <a:endCxn id="27" idx="0"/>
          </p:cNvCxnSpPr>
          <p:nvPr/>
        </p:nvCxnSpPr>
        <p:spPr bwMode="auto">
          <a:xfrm rot="5400000">
            <a:off x="3899132" y="3052763"/>
            <a:ext cx="488950" cy="736599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3" idx="4"/>
            <a:endCxn id="11" idx="0"/>
          </p:cNvCxnSpPr>
          <p:nvPr/>
        </p:nvCxnSpPr>
        <p:spPr bwMode="auto">
          <a:xfrm rot="5400000">
            <a:off x="4483331" y="3457576"/>
            <a:ext cx="415925" cy="0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5"/>
          </p:cNvCxnSpPr>
          <p:nvPr/>
        </p:nvCxnSpPr>
        <p:spPr bwMode="auto">
          <a:xfrm rot="16200000" flipH="1">
            <a:off x="4992919" y="3054350"/>
            <a:ext cx="488950" cy="733425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7882" y="5530206"/>
            <a:ext cx="2415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008000"/>
                </a:solidFill>
                <a:sym typeface="Wingdings"/>
              </a:rPr>
              <a:t> 3 choosers</a:t>
            </a:r>
            <a:endParaRPr lang="en-US" sz="2300" dirty="0">
              <a:solidFill>
                <a:srgbClr val="008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97882" y="4626272"/>
            <a:ext cx="2415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800000"/>
                </a:solidFill>
                <a:sym typeface="Wingdings"/>
              </a:rPr>
              <a:t> 3 deciders</a:t>
            </a:r>
            <a:endParaRPr lang="en-US" sz="2300" dirty="0">
              <a:solidFill>
                <a:srgbClr val="800000"/>
              </a:solidFill>
            </a:endParaRPr>
          </a:p>
        </p:txBody>
      </p:sp>
      <p:sp>
        <p:nvSpPr>
          <p:cNvPr id="57" name="Slide Number Placeholder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58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. Apply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DCP through Hierarchy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3429000" y="5083815"/>
            <a:ext cx="2034040" cy="1006969"/>
            <a:chOff x="3429000" y="5083815"/>
            <a:chExt cx="2034040" cy="1006969"/>
          </a:xfrm>
        </p:grpSpPr>
        <p:sp>
          <p:nvSpPr>
            <p:cNvPr id="159" name="Rounded Rectangle 158"/>
            <p:cNvSpPr/>
            <p:nvPr/>
          </p:nvSpPr>
          <p:spPr bwMode="auto">
            <a:xfrm rot="18924328">
              <a:off x="3704783" y="5083815"/>
              <a:ext cx="1097280" cy="393452"/>
            </a:xfrm>
            <a:prstGeom prst="roundRect">
              <a:avLst/>
            </a:prstGeom>
            <a:solidFill>
              <a:srgbClr val="008000">
                <a:alpha val="73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8" name="Rounded Rectangle 157"/>
            <p:cNvSpPr/>
            <p:nvPr/>
          </p:nvSpPr>
          <p:spPr bwMode="auto">
            <a:xfrm>
              <a:off x="3429000" y="5404984"/>
              <a:ext cx="685800" cy="685800"/>
            </a:xfrm>
            <a:prstGeom prst="roundRect">
              <a:avLst/>
            </a:prstGeom>
            <a:solidFill>
              <a:srgbClr val="008000">
                <a:alpha val="73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8" name="Rounded Rectangle 57"/>
            <p:cNvSpPr/>
            <p:nvPr/>
          </p:nvSpPr>
          <p:spPr bwMode="auto">
            <a:xfrm rot="19626930">
              <a:off x="3747937" y="5179278"/>
              <a:ext cx="1715103" cy="262480"/>
            </a:xfrm>
            <a:prstGeom prst="roundRect">
              <a:avLst/>
            </a:prstGeom>
            <a:solidFill>
              <a:srgbClr val="008000">
                <a:alpha val="73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52230" name="Content Placeholder 2"/>
          <p:cNvSpPr>
            <a:spLocks noGrp="1"/>
          </p:cNvSpPr>
          <p:nvPr>
            <p:ph idx="1"/>
          </p:nvPr>
        </p:nvSpPr>
        <p:spPr>
          <a:xfrm>
            <a:off x="457200" y="1646239"/>
            <a:ext cx="8555832" cy="1352296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Lucida Sans Unicode" pitchFamily="34" charset="0"/>
              </a:rPr>
              <a:t>DCP for upper levels:</a:t>
            </a:r>
          </a:p>
          <a:p>
            <a:pPr lvl="1"/>
            <a:r>
              <a:rPr lang="en-US" dirty="0" smtClean="0">
                <a:latin typeface="Lucida Sans Unicode" pitchFamily="34" charset="0"/>
              </a:rPr>
              <a:t>HN switches cooperate (per-parent restrictions)</a:t>
            </a:r>
          </a:p>
          <a:p>
            <a:pPr lvl="1"/>
            <a:r>
              <a:rPr lang="en-US" dirty="0" smtClean="0">
                <a:latin typeface="Lucida Sans Unicode" pitchFamily="34" charset="0"/>
              </a:rPr>
              <a:t>Not directly connected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3. Assign Coordinates</a:t>
            </a:r>
            <a:endParaRPr lang="en-US" dirty="0"/>
          </a:p>
        </p:txBody>
      </p:sp>
      <p:sp>
        <p:nvSpPr>
          <p:cNvPr id="63" name="Rounded Rectangle 62"/>
          <p:cNvSpPr/>
          <p:nvPr/>
        </p:nvSpPr>
        <p:spPr bwMode="auto">
          <a:xfrm>
            <a:off x="4407408" y="4531212"/>
            <a:ext cx="1506537" cy="579437"/>
          </a:xfrm>
          <a:prstGeom prst="roundRect">
            <a:avLst/>
          </a:prstGeom>
          <a:solidFill>
            <a:srgbClr val="008000">
              <a:alpha val="73000"/>
            </a:srgbClr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4" name="Rounded Rectangle 63"/>
          <p:cNvSpPr/>
          <p:nvPr/>
        </p:nvSpPr>
        <p:spPr bwMode="auto">
          <a:xfrm>
            <a:off x="3493008" y="4531212"/>
            <a:ext cx="571500" cy="579437"/>
          </a:xfrm>
          <a:prstGeom prst="roundRect">
            <a:avLst/>
          </a:prstGeom>
          <a:solidFill>
            <a:srgbClr val="008000">
              <a:alpha val="73000"/>
            </a:srgbClr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5" name="Rounded Rectangle 64"/>
          <p:cNvSpPr/>
          <p:nvPr/>
        </p:nvSpPr>
        <p:spPr bwMode="auto">
          <a:xfrm>
            <a:off x="5332922" y="3630613"/>
            <a:ext cx="571500" cy="579437"/>
          </a:xfrm>
          <a:prstGeom prst="roundRect">
            <a:avLst/>
          </a:prstGeom>
          <a:solidFill>
            <a:schemeClr val="tx1">
              <a:lumMod val="50000"/>
              <a:lumOff val="50000"/>
              <a:alpha val="73000"/>
            </a:schemeClr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6" name="Rounded Rectangle 65"/>
          <p:cNvSpPr/>
          <p:nvPr/>
        </p:nvSpPr>
        <p:spPr bwMode="auto">
          <a:xfrm>
            <a:off x="3493008" y="3630613"/>
            <a:ext cx="1506539" cy="579437"/>
          </a:xfrm>
          <a:prstGeom prst="roundRect">
            <a:avLst/>
          </a:prstGeom>
          <a:solidFill>
            <a:schemeClr val="tx1">
              <a:lumMod val="50000"/>
              <a:lumOff val="50000"/>
              <a:alpha val="73000"/>
            </a:schemeClr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67" name="Straight Connector 66"/>
          <p:cNvCxnSpPr>
            <a:stCxn id="73" idx="5"/>
            <a:endCxn id="97" idx="1"/>
          </p:cNvCxnSpPr>
          <p:nvPr/>
        </p:nvCxnSpPr>
        <p:spPr bwMode="auto">
          <a:xfrm rot="16200000" flipH="1">
            <a:off x="4868576" y="4110831"/>
            <a:ext cx="581025" cy="55721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127" idx="4"/>
            <a:endCxn id="74" idx="0"/>
          </p:cNvCxnSpPr>
          <p:nvPr/>
        </p:nvCxnSpPr>
        <p:spPr bwMode="auto">
          <a:xfrm rot="5400000">
            <a:off x="3578733" y="4375151"/>
            <a:ext cx="407987" cy="4762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26" idx="4"/>
            <a:endCxn id="97" idx="0"/>
          </p:cNvCxnSpPr>
          <p:nvPr/>
        </p:nvCxnSpPr>
        <p:spPr bwMode="auto">
          <a:xfrm rot="5400000">
            <a:off x="5402770" y="4387850"/>
            <a:ext cx="433387" cy="476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27" idx="5"/>
            <a:endCxn id="75" idx="1"/>
          </p:cNvCxnSpPr>
          <p:nvPr/>
        </p:nvCxnSpPr>
        <p:spPr bwMode="auto">
          <a:xfrm rot="16200000" flipH="1">
            <a:off x="3962907" y="4100513"/>
            <a:ext cx="555625" cy="552449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26" idx="3"/>
            <a:endCxn id="75" idx="7"/>
          </p:cNvCxnSpPr>
          <p:nvPr/>
        </p:nvCxnSpPr>
        <p:spPr bwMode="auto">
          <a:xfrm rot="5400000">
            <a:off x="4881276" y="4093369"/>
            <a:ext cx="555625" cy="566736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73" idx="3"/>
            <a:endCxn id="74" idx="7"/>
          </p:cNvCxnSpPr>
          <p:nvPr/>
        </p:nvCxnSpPr>
        <p:spPr bwMode="auto">
          <a:xfrm rot="5400000">
            <a:off x="3962907" y="4095750"/>
            <a:ext cx="555625" cy="561975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 bwMode="auto">
          <a:xfrm>
            <a:off x="4447095" y="3665538"/>
            <a:ext cx="506412" cy="508000"/>
          </a:xfrm>
          <a:prstGeom prst="ellipse">
            <a:avLst/>
          </a:prstGeom>
          <a:solidFill>
            <a:srgbClr val="8000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Oval 73"/>
          <p:cNvSpPr/>
          <p:nvPr/>
        </p:nvSpPr>
        <p:spPr bwMode="auto">
          <a:xfrm>
            <a:off x="3527933" y="4581525"/>
            <a:ext cx="506413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Oval 74"/>
          <p:cNvSpPr/>
          <p:nvPr/>
        </p:nvSpPr>
        <p:spPr bwMode="auto">
          <a:xfrm>
            <a:off x="4442332" y="4581525"/>
            <a:ext cx="507999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Oval 75"/>
          <p:cNvSpPr/>
          <p:nvPr/>
        </p:nvSpPr>
        <p:spPr bwMode="auto">
          <a:xfrm>
            <a:off x="3523171" y="5507037"/>
            <a:ext cx="507999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Oval 78"/>
          <p:cNvSpPr/>
          <p:nvPr/>
        </p:nvSpPr>
        <p:spPr bwMode="auto">
          <a:xfrm>
            <a:off x="4439157" y="5508625"/>
            <a:ext cx="506413" cy="506413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94" name="Straight Connector 93"/>
          <p:cNvCxnSpPr>
            <a:stCxn id="75" idx="3"/>
            <a:endCxn id="76" idx="7"/>
          </p:cNvCxnSpPr>
          <p:nvPr/>
        </p:nvCxnSpPr>
        <p:spPr bwMode="auto">
          <a:xfrm rot="5400000">
            <a:off x="3952588" y="5017294"/>
            <a:ext cx="568325" cy="56038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74" idx="5"/>
            <a:endCxn id="79" idx="1"/>
          </p:cNvCxnSpPr>
          <p:nvPr/>
        </p:nvCxnSpPr>
        <p:spPr bwMode="auto">
          <a:xfrm rot="16200000" flipH="1">
            <a:off x="3951795" y="5021263"/>
            <a:ext cx="568325" cy="552449"/>
          </a:xfrm>
          <a:prstGeom prst="line">
            <a:avLst/>
          </a:prstGeom>
          <a:ln w="25400" cmpd="sng">
            <a:solidFill>
              <a:srgbClr val="7F7F7F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75" idx="4"/>
            <a:endCxn id="79" idx="0"/>
          </p:cNvCxnSpPr>
          <p:nvPr/>
        </p:nvCxnSpPr>
        <p:spPr bwMode="auto">
          <a:xfrm rot="5400000">
            <a:off x="4483607" y="5295900"/>
            <a:ext cx="420687" cy="4762"/>
          </a:xfrm>
          <a:prstGeom prst="line">
            <a:avLst/>
          </a:prstGeom>
          <a:ln w="25400" cmpd="sng">
            <a:solidFill>
              <a:srgbClr val="7F7F7F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 bwMode="auto">
          <a:xfrm>
            <a:off x="5363081" y="4606925"/>
            <a:ext cx="507999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5359907" y="5508625"/>
            <a:ext cx="506413" cy="506413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01" name="Straight Connector 100"/>
          <p:cNvCxnSpPr>
            <a:stCxn id="97" idx="4"/>
            <a:endCxn id="100" idx="0"/>
          </p:cNvCxnSpPr>
          <p:nvPr/>
        </p:nvCxnSpPr>
        <p:spPr bwMode="auto">
          <a:xfrm rot="5400000">
            <a:off x="5417851" y="5309394"/>
            <a:ext cx="395287" cy="3175"/>
          </a:xfrm>
          <a:prstGeom prst="line">
            <a:avLst/>
          </a:prstGeom>
          <a:ln w="25400" cmpd="sng">
            <a:solidFill>
              <a:srgbClr val="7F7F7F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97" idx="3"/>
            <a:endCxn id="79" idx="7"/>
          </p:cNvCxnSpPr>
          <p:nvPr/>
        </p:nvCxnSpPr>
        <p:spPr bwMode="auto">
          <a:xfrm rot="5400000">
            <a:off x="4882863" y="5026819"/>
            <a:ext cx="542925" cy="566738"/>
          </a:xfrm>
          <a:prstGeom prst="line">
            <a:avLst/>
          </a:prstGeom>
          <a:ln w="25400" cmpd="sng">
            <a:solidFill>
              <a:srgbClr val="7F7F7F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75" idx="5"/>
            <a:endCxn id="100" idx="1"/>
          </p:cNvCxnSpPr>
          <p:nvPr/>
        </p:nvCxnSpPr>
        <p:spPr bwMode="auto">
          <a:xfrm rot="16200000" flipH="1">
            <a:off x="4870957" y="5018088"/>
            <a:ext cx="568325" cy="558799"/>
          </a:xfrm>
          <a:prstGeom prst="line">
            <a:avLst/>
          </a:prstGeom>
          <a:ln w="25400" cmpd="sng">
            <a:solidFill>
              <a:srgbClr val="7F7F7F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97" idx="2"/>
            <a:endCxn id="76" idx="6"/>
          </p:cNvCxnSpPr>
          <p:nvPr/>
        </p:nvCxnSpPr>
        <p:spPr bwMode="auto">
          <a:xfrm rot="10800000" flipV="1">
            <a:off x="4031170" y="4859338"/>
            <a:ext cx="1331911" cy="90170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 bwMode="auto">
          <a:xfrm>
            <a:off x="5367845" y="3665538"/>
            <a:ext cx="507999" cy="508000"/>
          </a:xfrm>
          <a:prstGeom prst="ellipse">
            <a:avLst/>
          </a:prstGeom>
          <a:solidFill>
            <a:srgbClr val="8000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Oval 126"/>
          <p:cNvSpPr/>
          <p:nvPr/>
        </p:nvSpPr>
        <p:spPr bwMode="auto">
          <a:xfrm>
            <a:off x="3532696" y="3665538"/>
            <a:ext cx="506412" cy="508000"/>
          </a:xfrm>
          <a:prstGeom prst="ellipse">
            <a:avLst/>
          </a:prstGeom>
          <a:solidFill>
            <a:srgbClr val="800000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8" name="Straight Connector 127"/>
          <p:cNvCxnSpPr>
            <a:stCxn id="74" idx="4"/>
            <a:endCxn id="76" idx="0"/>
          </p:cNvCxnSpPr>
          <p:nvPr/>
        </p:nvCxnSpPr>
        <p:spPr bwMode="auto">
          <a:xfrm rot="5400000">
            <a:off x="3569209" y="5295900"/>
            <a:ext cx="419100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 bwMode="auto">
          <a:xfrm>
            <a:off x="4447095" y="2743200"/>
            <a:ext cx="506412" cy="506413"/>
          </a:xfrm>
          <a:prstGeom prst="ellipse">
            <a:avLst/>
          </a:prstGeom>
          <a:noFill/>
          <a:ln w="25400" cmpd="sng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0" name="Straight Connector 129"/>
          <p:cNvCxnSpPr>
            <a:stCxn id="129" idx="3"/>
            <a:endCxn id="127" idx="0"/>
          </p:cNvCxnSpPr>
          <p:nvPr/>
        </p:nvCxnSpPr>
        <p:spPr bwMode="auto">
          <a:xfrm rot="5400000">
            <a:off x="3908933" y="3052763"/>
            <a:ext cx="488950" cy="736599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>
            <a:stCxn id="129" idx="4"/>
            <a:endCxn id="73" idx="0"/>
          </p:cNvCxnSpPr>
          <p:nvPr/>
        </p:nvCxnSpPr>
        <p:spPr bwMode="auto">
          <a:xfrm rot="5400000">
            <a:off x="4493132" y="3457576"/>
            <a:ext cx="415925" cy="0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129" idx="5"/>
          </p:cNvCxnSpPr>
          <p:nvPr/>
        </p:nvCxnSpPr>
        <p:spPr bwMode="auto">
          <a:xfrm rot="16200000" flipH="1">
            <a:off x="5002720" y="3054350"/>
            <a:ext cx="488950" cy="733425"/>
          </a:xfrm>
          <a:prstGeom prst="line">
            <a:avLst/>
          </a:prstGeom>
          <a:ln w="25400" cmpd="sng">
            <a:solidFill>
              <a:srgbClr val="7F7F7F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190488" y="4648984"/>
            <a:ext cx="2415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008000"/>
                </a:solidFill>
                <a:sym typeface="Wingdings"/>
              </a:rPr>
              <a:t> 2 choosers</a:t>
            </a:r>
            <a:endParaRPr lang="en-US" sz="2300" dirty="0">
              <a:solidFill>
                <a:srgbClr val="008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190488" y="3711873"/>
            <a:ext cx="2415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800000"/>
                </a:solidFill>
                <a:sym typeface="Wingdings"/>
              </a:rPr>
              <a:t> 3 deciders</a:t>
            </a:r>
            <a:endParaRPr lang="en-US" sz="2300" dirty="0">
              <a:solidFill>
                <a:srgbClr val="800000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56" name="Title 1"/>
          <p:cNvSpPr txBox="1">
            <a:spLocks/>
          </p:cNvSpPr>
          <p:nvPr/>
        </p:nvSpPr>
        <p:spPr>
          <a:xfrm>
            <a:off x="1371600" y="914400"/>
            <a:ext cx="7315200" cy="731838"/>
          </a:xfrm>
          <a:prstGeom prst="rect">
            <a:avLst/>
          </a:prstGeom>
        </p:spPr>
        <p:txBody>
          <a:bodyPr vert="horz" lIns="0" tIns="0" rIns="91440" bIns="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. Apply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DCP through Hierarchy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>
          <a:xfrm>
            <a:off x="162448" y="3422777"/>
            <a:ext cx="3056240" cy="135229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1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Communicate via shared L1 switch	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itchFamily="34" charset="0"/>
              <a:ea typeface="+mn-ea"/>
              <a:cs typeface="+mn-cs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>
          <a:xfrm>
            <a:off x="5913944" y="5761038"/>
            <a:ext cx="2759377" cy="93014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1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itchFamily="34" charset="0"/>
                <a:ea typeface="+mn-ea"/>
                <a:cs typeface="+mn-cs"/>
              </a:rPr>
              <a:t>“Distributed</a:t>
            </a:r>
            <a:r>
              <a:rPr lang="en-US" sz="2300" dirty="0" smtClean="0">
                <a:latin typeface="Lucida Sans Unicode" pitchFamily="34" charset="0"/>
              </a:rPr>
              <a:t>-Chooser DCP”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Content Placeholder 2"/>
          <p:cNvSpPr>
            <a:spLocks noGrp="1"/>
          </p:cNvSpPr>
          <p:nvPr>
            <p:ph idx="1"/>
          </p:nvPr>
        </p:nvSpPr>
        <p:spPr>
          <a:xfrm>
            <a:off x="457200" y="1646239"/>
            <a:ext cx="8229600" cy="2177220"/>
          </a:xfrm>
        </p:spPr>
        <p:txBody>
          <a:bodyPr/>
          <a:lstStyle/>
          <a:p>
            <a:r>
              <a:rPr lang="en-US" dirty="0" smtClean="0"/>
              <a:t>Continuously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Overlay appropriate hierarchy on network fabric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Group related switches into </a:t>
            </a:r>
            <a:r>
              <a:rPr 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hypernodes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Assign per-hypernode </a:t>
            </a:r>
            <a:r>
              <a:rPr 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coordinates</a:t>
            </a:r>
          </a:p>
          <a:p>
            <a:pPr marL="806450" lvl="1" indent="-457200">
              <a:buFont typeface="Wingdings" pitchFamily="2" charset="2"/>
              <a:buAutoNum type="arabicPlain"/>
            </a:pPr>
            <a:r>
              <a:rPr lang="en-US" dirty="0" smtClean="0"/>
              <a:t>Combine coordinates to form </a:t>
            </a:r>
            <a:r>
              <a:rPr lang="en-US" i="1" dirty="0" smtClean="0"/>
              <a:t>labels</a:t>
            </a:r>
          </a:p>
          <a:p>
            <a:endParaRPr lang="en-US" dirty="0" smtClean="0"/>
          </a:p>
          <a:p>
            <a:pPr>
              <a:buFont typeface="Wingdings 3" pitchFamily="18" charset="2"/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Distributed Protocol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998757"/>
          </a:xfrm>
        </p:spPr>
        <p:txBody>
          <a:bodyPr/>
          <a:lstStyle/>
          <a:p>
            <a:r>
              <a:rPr lang="en-US" dirty="0" smtClean="0"/>
              <a:t>Concatenate coordinates from root downward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4. Assign Labels</a:t>
            </a:r>
            <a:endParaRPr lang="en-US" dirty="0"/>
          </a:p>
        </p:txBody>
      </p:sp>
      <p:sp>
        <p:nvSpPr>
          <p:cNvPr id="70" name="Rounded Rectangle 69"/>
          <p:cNvSpPr/>
          <p:nvPr/>
        </p:nvSpPr>
        <p:spPr>
          <a:xfrm>
            <a:off x="3477450" y="4535488"/>
            <a:ext cx="573088" cy="579437"/>
          </a:xfrm>
          <a:prstGeom prst="roundRect">
            <a:avLst/>
          </a:prstGeom>
          <a:solidFill>
            <a:schemeClr val="accent1">
              <a:alpha val="73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1" name="Rounded Rectangle 70"/>
          <p:cNvSpPr/>
          <p:nvPr/>
        </p:nvSpPr>
        <p:spPr>
          <a:xfrm>
            <a:off x="4390263" y="4535488"/>
            <a:ext cx="1506537" cy="579437"/>
          </a:xfrm>
          <a:prstGeom prst="roundRect">
            <a:avLst/>
          </a:prstGeom>
          <a:solidFill>
            <a:srgbClr val="000090">
              <a:alpha val="73000"/>
            </a:srgb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>
            <a:off x="5317363" y="3630613"/>
            <a:ext cx="571500" cy="579437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3" name="Rounded Rectangle 72"/>
          <p:cNvSpPr/>
          <p:nvPr/>
        </p:nvSpPr>
        <p:spPr>
          <a:xfrm>
            <a:off x="3477450" y="3630613"/>
            <a:ext cx="1506538" cy="579437"/>
          </a:xfrm>
          <a:prstGeom prst="roundRect">
            <a:avLst/>
          </a:prstGeom>
          <a:solidFill>
            <a:schemeClr val="accent3">
              <a:alpha val="73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" name="Oval 81"/>
          <p:cNvSpPr/>
          <p:nvPr/>
        </p:nvSpPr>
        <p:spPr bwMode="auto">
          <a:xfrm>
            <a:off x="4431539" y="3665536"/>
            <a:ext cx="506412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Oval 82"/>
          <p:cNvSpPr/>
          <p:nvPr/>
        </p:nvSpPr>
        <p:spPr bwMode="auto">
          <a:xfrm>
            <a:off x="3512375" y="4581523"/>
            <a:ext cx="506414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Oval 83"/>
          <p:cNvSpPr/>
          <p:nvPr/>
        </p:nvSpPr>
        <p:spPr bwMode="auto">
          <a:xfrm>
            <a:off x="4426776" y="4581523"/>
            <a:ext cx="508001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Oval 84"/>
          <p:cNvSpPr/>
          <p:nvPr/>
        </p:nvSpPr>
        <p:spPr bwMode="auto">
          <a:xfrm>
            <a:off x="3507613" y="5507036"/>
            <a:ext cx="508001" cy="50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" name="Oval 85"/>
          <p:cNvSpPr/>
          <p:nvPr/>
        </p:nvSpPr>
        <p:spPr bwMode="auto">
          <a:xfrm>
            <a:off x="4423601" y="5508623"/>
            <a:ext cx="506414" cy="506413"/>
          </a:xfrm>
          <a:prstGeom prst="ellipse">
            <a:avLst/>
          </a:prstGeom>
          <a:solidFill>
            <a:schemeClr val="tx2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87" name="Straight Connector 86"/>
          <p:cNvCxnSpPr>
            <a:stCxn id="84" idx="3"/>
            <a:endCxn id="85" idx="7"/>
          </p:cNvCxnSpPr>
          <p:nvPr/>
        </p:nvCxnSpPr>
        <p:spPr bwMode="auto">
          <a:xfrm rot="5400000">
            <a:off x="3937032" y="5017292"/>
            <a:ext cx="568325" cy="56038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83" idx="5"/>
            <a:endCxn id="86" idx="1"/>
          </p:cNvCxnSpPr>
          <p:nvPr/>
        </p:nvCxnSpPr>
        <p:spPr bwMode="auto">
          <a:xfrm rot="16200000" flipH="1">
            <a:off x="3936237" y="5021261"/>
            <a:ext cx="568325" cy="552451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84" idx="4"/>
            <a:endCxn id="86" idx="0"/>
          </p:cNvCxnSpPr>
          <p:nvPr/>
        </p:nvCxnSpPr>
        <p:spPr bwMode="auto">
          <a:xfrm rot="5400000">
            <a:off x="4468051" y="5295899"/>
            <a:ext cx="420687" cy="4762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 bwMode="auto">
          <a:xfrm>
            <a:off x="5347527" y="4606923"/>
            <a:ext cx="508001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1" name="Oval 90"/>
          <p:cNvSpPr/>
          <p:nvPr/>
        </p:nvSpPr>
        <p:spPr bwMode="auto">
          <a:xfrm>
            <a:off x="5344351" y="5508623"/>
            <a:ext cx="506414" cy="50641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92" name="Straight Connector 91"/>
          <p:cNvCxnSpPr>
            <a:stCxn id="90" idx="4"/>
            <a:endCxn id="91" idx="0"/>
          </p:cNvCxnSpPr>
          <p:nvPr/>
        </p:nvCxnSpPr>
        <p:spPr bwMode="auto">
          <a:xfrm rot="5400000">
            <a:off x="5402296" y="5309392"/>
            <a:ext cx="395287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90" idx="3"/>
            <a:endCxn id="86" idx="7"/>
          </p:cNvCxnSpPr>
          <p:nvPr/>
        </p:nvCxnSpPr>
        <p:spPr bwMode="auto">
          <a:xfrm rot="5400000">
            <a:off x="4867308" y="5026817"/>
            <a:ext cx="542925" cy="56673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84" idx="5"/>
            <a:endCxn id="91" idx="1"/>
          </p:cNvCxnSpPr>
          <p:nvPr/>
        </p:nvCxnSpPr>
        <p:spPr bwMode="auto">
          <a:xfrm rot="16200000" flipH="1">
            <a:off x="4855401" y="5018085"/>
            <a:ext cx="568325" cy="558801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0" idx="2"/>
            <a:endCxn id="85" idx="6"/>
          </p:cNvCxnSpPr>
          <p:nvPr/>
        </p:nvCxnSpPr>
        <p:spPr bwMode="auto">
          <a:xfrm rot="10800000" flipV="1">
            <a:off x="4015614" y="4859336"/>
            <a:ext cx="1331913" cy="90170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82" idx="5"/>
            <a:endCxn id="90" idx="1"/>
          </p:cNvCxnSpPr>
          <p:nvPr/>
        </p:nvCxnSpPr>
        <p:spPr bwMode="auto">
          <a:xfrm rot="16200000" flipH="1">
            <a:off x="4853020" y="4110829"/>
            <a:ext cx="581025" cy="557214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 bwMode="auto">
          <a:xfrm>
            <a:off x="5352289" y="3665536"/>
            <a:ext cx="508001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Oval 97"/>
          <p:cNvSpPr/>
          <p:nvPr/>
        </p:nvSpPr>
        <p:spPr bwMode="auto">
          <a:xfrm>
            <a:off x="3517138" y="3665536"/>
            <a:ext cx="506412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9" name="Straight Connector 98"/>
          <p:cNvCxnSpPr>
            <a:stCxn id="98" idx="4"/>
            <a:endCxn id="83" idx="0"/>
          </p:cNvCxnSpPr>
          <p:nvPr/>
        </p:nvCxnSpPr>
        <p:spPr bwMode="auto">
          <a:xfrm rot="5400000">
            <a:off x="3563175" y="4375149"/>
            <a:ext cx="407987" cy="4762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97" idx="4"/>
            <a:endCxn id="90" idx="0"/>
          </p:cNvCxnSpPr>
          <p:nvPr/>
        </p:nvCxnSpPr>
        <p:spPr bwMode="auto">
          <a:xfrm rot="5400000">
            <a:off x="5387215" y="4387848"/>
            <a:ext cx="433387" cy="476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3" idx="4"/>
            <a:endCxn id="85" idx="0"/>
          </p:cNvCxnSpPr>
          <p:nvPr/>
        </p:nvCxnSpPr>
        <p:spPr bwMode="auto">
          <a:xfrm rot="5400000">
            <a:off x="3553651" y="5295898"/>
            <a:ext cx="419100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98" idx="5"/>
            <a:endCxn id="84" idx="1"/>
          </p:cNvCxnSpPr>
          <p:nvPr/>
        </p:nvCxnSpPr>
        <p:spPr bwMode="auto">
          <a:xfrm rot="16200000" flipH="1">
            <a:off x="3947351" y="4100511"/>
            <a:ext cx="555625" cy="55245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97" idx="3"/>
            <a:endCxn id="84" idx="7"/>
          </p:cNvCxnSpPr>
          <p:nvPr/>
        </p:nvCxnSpPr>
        <p:spPr bwMode="auto">
          <a:xfrm rot="5400000">
            <a:off x="4865720" y="4093366"/>
            <a:ext cx="555625" cy="56673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 bwMode="auto">
          <a:xfrm>
            <a:off x="4431539" y="2743198"/>
            <a:ext cx="506412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5" name="Straight Connector 104"/>
          <p:cNvCxnSpPr>
            <a:stCxn id="104" idx="3"/>
            <a:endCxn id="98" idx="0"/>
          </p:cNvCxnSpPr>
          <p:nvPr/>
        </p:nvCxnSpPr>
        <p:spPr bwMode="auto">
          <a:xfrm rot="5400000">
            <a:off x="3893376" y="3052761"/>
            <a:ext cx="488950" cy="73660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104" idx="4"/>
            <a:endCxn id="82" idx="0"/>
          </p:cNvCxnSpPr>
          <p:nvPr/>
        </p:nvCxnSpPr>
        <p:spPr bwMode="auto">
          <a:xfrm rot="5400000">
            <a:off x="4477576" y="3457574"/>
            <a:ext cx="415925" cy="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04" idx="5"/>
          </p:cNvCxnSpPr>
          <p:nvPr/>
        </p:nvCxnSpPr>
        <p:spPr bwMode="auto">
          <a:xfrm rot="16200000" flipH="1">
            <a:off x="4987165" y="3054347"/>
            <a:ext cx="488950" cy="733426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82" idx="3"/>
            <a:endCxn id="83" idx="7"/>
          </p:cNvCxnSpPr>
          <p:nvPr/>
        </p:nvCxnSpPr>
        <p:spPr bwMode="auto">
          <a:xfrm rot="5400000">
            <a:off x="3947351" y="4095748"/>
            <a:ext cx="555625" cy="561975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388675" y="5472113"/>
            <a:ext cx="558800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6" name="Rounded Rectangle 75"/>
          <p:cNvSpPr/>
          <p:nvPr/>
        </p:nvSpPr>
        <p:spPr>
          <a:xfrm>
            <a:off x="5303075" y="5472113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7" name="Rounded Rectangle 76"/>
          <p:cNvSpPr/>
          <p:nvPr/>
        </p:nvSpPr>
        <p:spPr>
          <a:xfrm>
            <a:off x="3474275" y="5472113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09" name="Group 83"/>
          <p:cNvGrpSpPr>
            <a:grpSpLocks noChangeAspect="1"/>
          </p:cNvGrpSpPr>
          <p:nvPr/>
        </p:nvGrpSpPr>
        <p:grpSpPr bwMode="auto">
          <a:xfrm>
            <a:off x="6244208" y="5270500"/>
            <a:ext cx="914400" cy="686859"/>
            <a:chOff x="6035040" y="3886200"/>
            <a:chExt cx="1616915" cy="1214614"/>
          </a:xfrm>
        </p:grpSpPr>
        <p:grpSp>
          <p:nvGrpSpPr>
            <p:cNvPr id="110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915" cy="529639"/>
              <a:chOff x="6067258" y="4937760"/>
              <a:chExt cx="1616915" cy="529639"/>
            </a:xfrm>
          </p:grpSpPr>
          <p:sp>
            <p:nvSpPr>
              <p:cNvPr id="126" name="Rectangle 125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1" name="Group 68"/>
            <p:cNvGrpSpPr>
              <a:grpSpLocks/>
            </p:cNvGrpSpPr>
            <p:nvPr/>
          </p:nvGrpSpPr>
          <p:grpSpPr bwMode="auto">
            <a:xfrm>
              <a:off x="6035040" y="4571175"/>
              <a:ext cx="1616915" cy="529639"/>
              <a:chOff x="6067258" y="4936935"/>
              <a:chExt cx="1616915" cy="529639"/>
            </a:xfrm>
          </p:grpSpPr>
          <p:sp>
            <p:nvSpPr>
              <p:cNvPr id="122" name="Rectangle 121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rgbClr val="7D3C4A"/>
                  </a:solidFill>
                </a:endParaRPr>
              </a:p>
            </p:txBody>
          </p:sp>
        </p:grpSp>
      </p:grpSp>
      <p:grpSp>
        <p:nvGrpSpPr>
          <p:cNvPr id="130" name="Group 83"/>
          <p:cNvGrpSpPr>
            <a:grpSpLocks noChangeAspect="1"/>
          </p:cNvGrpSpPr>
          <p:nvPr/>
        </p:nvGrpSpPr>
        <p:grpSpPr bwMode="auto">
          <a:xfrm>
            <a:off x="7772400" y="4883150"/>
            <a:ext cx="914400" cy="1075267"/>
            <a:chOff x="6035040" y="3886200"/>
            <a:chExt cx="1616915" cy="1901460"/>
          </a:xfrm>
        </p:grpSpPr>
        <p:grpSp>
          <p:nvGrpSpPr>
            <p:cNvPr id="131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915" cy="529639"/>
              <a:chOff x="6067258" y="4937760"/>
              <a:chExt cx="1616915" cy="529639"/>
            </a:xfrm>
          </p:grpSpPr>
          <p:sp>
            <p:nvSpPr>
              <p:cNvPr id="144" name="Rectangle 143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2" name="Group 68"/>
            <p:cNvGrpSpPr>
              <a:grpSpLocks/>
            </p:cNvGrpSpPr>
            <p:nvPr/>
          </p:nvGrpSpPr>
          <p:grpSpPr bwMode="auto">
            <a:xfrm>
              <a:off x="6035040" y="4571175"/>
              <a:ext cx="1616915" cy="529639"/>
              <a:chOff x="6067258" y="4936935"/>
              <a:chExt cx="1616915" cy="529639"/>
            </a:xfrm>
          </p:grpSpPr>
          <p:sp>
            <p:nvSpPr>
              <p:cNvPr id="141" name="Rectangle 140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rgbClr val="7D3C4A"/>
                  </a:solidFill>
                </a:endParaRPr>
              </a:p>
            </p:txBody>
          </p:sp>
        </p:grpSp>
        <p:grpSp>
          <p:nvGrpSpPr>
            <p:cNvPr id="133" name="Group 73"/>
            <p:cNvGrpSpPr>
              <a:grpSpLocks/>
            </p:cNvGrpSpPr>
            <p:nvPr/>
          </p:nvGrpSpPr>
          <p:grpSpPr bwMode="auto">
            <a:xfrm>
              <a:off x="6035040" y="5258020"/>
              <a:ext cx="1616915" cy="529640"/>
              <a:chOff x="6067258" y="4937980"/>
              <a:chExt cx="1616915" cy="529640"/>
            </a:xfrm>
          </p:grpSpPr>
          <p:sp>
            <p:nvSpPr>
              <p:cNvPr id="138" name="Rectangle 137"/>
              <p:cNvSpPr/>
              <p:nvPr/>
            </p:nvSpPr>
            <p:spPr>
              <a:xfrm>
                <a:off x="6067258" y="4941723"/>
                <a:ext cx="533358" cy="525897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6611845" y="4937980"/>
                <a:ext cx="531486" cy="525897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7150816" y="4937980"/>
                <a:ext cx="533357" cy="52589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7" name="Group 83"/>
          <p:cNvGrpSpPr>
            <a:grpSpLocks noChangeAspect="1"/>
          </p:cNvGrpSpPr>
          <p:nvPr/>
        </p:nvGrpSpPr>
        <p:grpSpPr bwMode="auto">
          <a:xfrm>
            <a:off x="2013273" y="4881033"/>
            <a:ext cx="914400" cy="1075267"/>
            <a:chOff x="6035040" y="3886200"/>
            <a:chExt cx="1616915" cy="1901460"/>
          </a:xfrm>
        </p:grpSpPr>
        <p:grpSp>
          <p:nvGrpSpPr>
            <p:cNvPr id="148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915" cy="529639"/>
              <a:chOff x="6067258" y="4937760"/>
              <a:chExt cx="1616915" cy="529639"/>
            </a:xfrm>
          </p:grpSpPr>
          <p:sp>
            <p:nvSpPr>
              <p:cNvPr id="161" name="Rectangle 160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9" name="Group 68"/>
            <p:cNvGrpSpPr>
              <a:grpSpLocks/>
            </p:cNvGrpSpPr>
            <p:nvPr/>
          </p:nvGrpSpPr>
          <p:grpSpPr bwMode="auto">
            <a:xfrm>
              <a:off x="6035040" y="4571175"/>
              <a:ext cx="1616915" cy="529639"/>
              <a:chOff x="6067258" y="4936935"/>
              <a:chExt cx="1616915" cy="529639"/>
            </a:xfrm>
          </p:grpSpPr>
          <p:sp>
            <p:nvSpPr>
              <p:cNvPr id="158" name="Rectangle 157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rgbClr val="7D3C4A"/>
                  </a:solidFill>
                </a:endParaRPr>
              </a:p>
            </p:txBody>
          </p:sp>
        </p:grpSp>
        <p:grpSp>
          <p:nvGrpSpPr>
            <p:cNvPr id="150" name="Group 73"/>
            <p:cNvGrpSpPr>
              <a:grpSpLocks/>
            </p:cNvGrpSpPr>
            <p:nvPr/>
          </p:nvGrpSpPr>
          <p:grpSpPr bwMode="auto">
            <a:xfrm>
              <a:off x="6035040" y="5258020"/>
              <a:ext cx="1616915" cy="529640"/>
              <a:chOff x="6067258" y="4937980"/>
              <a:chExt cx="1616915" cy="529640"/>
            </a:xfrm>
          </p:grpSpPr>
          <p:sp>
            <p:nvSpPr>
              <p:cNvPr id="155" name="Rectangle 154"/>
              <p:cNvSpPr/>
              <p:nvPr/>
            </p:nvSpPr>
            <p:spPr>
              <a:xfrm>
                <a:off x="6067258" y="4941723"/>
                <a:ext cx="533358" cy="525897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>
              <a:xfrm>
                <a:off x="6611845" y="4937980"/>
                <a:ext cx="531486" cy="525897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7150816" y="4937980"/>
                <a:ext cx="533357" cy="525897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4" name="Content Placeholder 2"/>
          <p:cNvSpPr txBox="1">
            <a:spLocks/>
          </p:cNvSpPr>
          <p:nvPr/>
        </p:nvSpPr>
        <p:spPr>
          <a:xfrm>
            <a:off x="457201" y="2593972"/>
            <a:ext cx="3593338" cy="868362"/>
          </a:xfrm>
          <a:prstGeom prst="rect">
            <a:avLst/>
          </a:prstGeom>
        </p:spPr>
        <p:txBody>
          <a:bodyPr/>
          <a:lstStyle/>
          <a:p>
            <a:pPr marL="0" lvl="1" algn="ctr"/>
            <a:r>
              <a:rPr lang="en-US" dirty="0" smtClean="0">
                <a:latin typeface="+mn-lt"/>
              </a:rPr>
              <a:t>(For clarity, assume labels same across instances of LSP)</a:t>
            </a:r>
          </a:p>
        </p:txBody>
      </p:sp>
      <p:sp>
        <p:nvSpPr>
          <p:cNvPr id="78" name="Slide Number Placeholder 7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998757"/>
          </a:xfrm>
        </p:spPr>
        <p:txBody>
          <a:bodyPr>
            <a:normAutofit/>
          </a:bodyPr>
          <a:lstStyle/>
          <a:p>
            <a:r>
              <a:rPr lang="en-US" dirty="0" smtClean="0"/>
              <a:t>Hypernodes create clusters of hosts that share label prefixes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Step 4. Assign Labels</a:t>
            </a:r>
            <a:endParaRPr lang="en-US" dirty="0"/>
          </a:p>
        </p:txBody>
      </p:sp>
      <p:sp>
        <p:nvSpPr>
          <p:cNvPr id="74" name="Slide Number Placeholder 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8" name="Rounded Rectangle 77"/>
          <p:cNvSpPr/>
          <p:nvPr/>
        </p:nvSpPr>
        <p:spPr>
          <a:xfrm>
            <a:off x="3477450" y="4535488"/>
            <a:ext cx="573088" cy="579437"/>
          </a:xfrm>
          <a:prstGeom prst="roundRect">
            <a:avLst/>
          </a:prstGeom>
          <a:solidFill>
            <a:schemeClr val="accent1">
              <a:alpha val="73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9" name="Rounded Rectangle 78"/>
          <p:cNvSpPr/>
          <p:nvPr/>
        </p:nvSpPr>
        <p:spPr>
          <a:xfrm>
            <a:off x="4390263" y="4535488"/>
            <a:ext cx="1506537" cy="579437"/>
          </a:xfrm>
          <a:prstGeom prst="roundRect">
            <a:avLst/>
          </a:prstGeom>
          <a:solidFill>
            <a:srgbClr val="000090">
              <a:alpha val="73000"/>
            </a:srgbClr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0" name="Rounded Rectangle 79"/>
          <p:cNvSpPr/>
          <p:nvPr/>
        </p:nvSpPr>
        <p:spPr>
          <a:xfrm>
            <a:off x="5317363" y="3630613"/>
            <a:ext cx="571500" cy="579437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1" name="Rounded Rectangle 80"/>
          <p:cNvSpPr/>
          <p:nvPr/>
        </p:nvSpPr>
        <p:spPr>
          <a:xfrm>
            <a:off x="3477450" y="3630613"/>
            <a:ext cx="1506538" cy="579437"/>
          </a:xfrm>
          <a:prstGeom prst="roundRect">
            <a:avLst/>
          </a:prstGeom>
          <a:solidFill>
            <a:schemeClr val="accent3">
              <a:alpha val="73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9" name="Oval 108"/>
          <p:cNvSpPr/>
          <p:nvPr/>
        </p:nvSpPr>
        <p:spPr bwMode="auto">
          <a:xfrm>
            <a:off x="4431539" y="3665536"/>
            <a:ext cx="506412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Oval 109"/>
          <p:cNvSpPr/>
          <p:nvPr/>
        </p:nvSpPr>
        <p:spPr bwMode="auto">
          <a:xfrm>
            <a:off x="3512375" y="4581523"/>
            <a:ext cx="506414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Oval 110"/>
          <p:cNvSpPr/>
          <p:nvPr/>
        </p:nvSpPr>
        <p:spPr bwMode="auto">
          <a:xfrm>
            <a:off x="4426776" y="4581523"/>
            <a:ext cx="508001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Oval 111"/>
          <p:cNvSpPr/>
          <p:nvPr/>
        </p:nvSpPr>
        <p:spPr bwMode="auto">
          <a:xfrm>
            <a:off x="3507613" y="5507036"/>
            <a:ext cx="508001" cy="50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Oval 112"/>
          <p:cNvSpPr/>
          <p:nvPr/>
        </p:nvSpPr>
        <p:spPr bwMode="auto">
          <a:xfrm>
            <a:off x="4423601" y="5508623"/>
            <a:ext cx="506414" cy="506413"/>
          </a:xfrm>
          <a:prstGeom prst="ellipse">
            <a:avLst/>
          </a:prstGeom>
          <a:solidFill>
            <a:schemeClr val="tx2"/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14" name="Straight Connector 113"/>
          <p:cNvCxnSpPr>
            <a:stCxn id="111" idx="3"/>
            <a:endCxn id="112" idx="7"/>
          </p:cNvCxnSpPr>
          <p:nvPr/>
        </p:nvCxnSpPr>
        <p:spPr bwMode="auto">
          <a:xfrm rot="5400000">
            <a:off x="3937032" y="5017292"/>
            <a:ext cx="568325" cy="56038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10" idx="5"/>
            <a:endCxn id="113" idx="1"/>
          </p:cNvCxnSpPr>
          <p:nvPr/>
        </p:nvCxnSpPr>
        <p:spPr bwMode="auto">
          <a:xfrm rot="16200000" flipH="1">
            <a:off x="3936237" y="5021261"/>
            <a:ext cx="568325" cy="552451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11" idx="4"/>
            <a:endCxn id="113" idx="0"/>
          </p:cNvCxnSpPr>
          <p:nvPr/>
        </p:nvCxnSpPr>
        <p:spPr bwMode="auto">
          <a:xfrm rot="5400000">
            <a:off x="4468051" y="5295899"/>
            <a:ext cx="420687" cy="4762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 bwMode="auto">
          <a:xfrm>
            <a:off x="5347527" y="4606923"/>
            <a:ext cx="508001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Oval 117"/>
          <p:cNvSpPr/>
          <p:nvPr/>
        </p:nvSpPr>
        <p:spPr bwMode="auto">
          <a:xfrm>
            <a:off x="5344351" y="5508623"/>
            <a:ext cx="506414" cy="50641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19" name="Straight Connector 118"/>
          <p:cNvCxnSpPr>
            <a:stCxn id="117" idx="4"/>
            <a:endCxn id="118" idx="0"/>
          </p:cNvCxnSpPr>
          <p:nvPr/>
        </p:nvCxnSpPr>
        <p:spPr bwMode="auto">
          <a:xfrm rot="5400000">
            <a:off x="5402296" y="5309392"/>
            <a:ext cx="395287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17" idx="3"/>
            <a:endCxn id="113" idx="7"/>
          </p:cNvCxnSpPr>
          <p:nvPr/>
        </p:nvCxnSpPr>
        <p:spPr bwMode="auto">
          <a:xfrm rot="5400000">
            <a:off x="4867308" y="5026817"/>
            <a:ext cx="542925" cy="566738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11" idx="5"/>
            <a:endCxn id="118" idx="1"/>
          </p:cNvCxnSpPr>
          <p:nvPr/>
        </p:nvCxnSpPr>
        <p:spPr bwMode="auto">
          <a:xfrm rot="16200000" flipH="1">
            <a:off x="4855401" y="5018085"/>
            <a:ext cx="568325" cy="558801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17" idx="2"/>
            <a:endCxn id="112" idx="6"/>
          </p:cNvCxnSpPr>
          <p:nvPr/>
        </p:nvCxnSpPr>
        <p:spPr bwMode="auto">
          <a:xfrm rot="10800000" flipV="1">
            <a:off x="4015614" y="4859336"/>
            <a:ext cx="1331913" cy="901700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109" idx="5"/>
            <a:endCxn id="117" idx="1"/>
          </p:cNvCxnSpPr>
          <p:nvPr/>
        </p:nvCxnSpPr>
        <p:spPr bwMode="auto">
          <a:xfrm rot="16200000" flipH="1">
            <a:off x="4853020" y="4110829"/>
            <a:ext cx="581025" cy="557214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 bwMode="auto">
          <a:xfrm>
            <a:off x="5352289" y="3665536"/>
            <a:ext cx="508001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Oval 130"/>
          <p:cNvSpPr/>
          <p:nvPr/>
        </p:nvSpPr>
        <p:spPr bwMode="auto">
          <a:xfrm>
            <a:off x="3517138" y="3665536"/>
            <a:ext cx="506412" cy="508000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2" name="Straight Connector 131"/>
          <p:cNvCxnSpPr>
            <a:stCxn id="131" idx="4"/>
            <a:endCxn id="110" idx="0"/>
          </p:cNvCxnSpPr>
          <p:nvPr/>
        </p:nvCxnSpPr>
        <p:spPr bwMode="auto">
          <a:xfrm rot="5400000">
            <a:off x="3563175" y="4375149"/>
            <a:ext cx="407987" cy="4762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>
            <a:stCxn id="130" idx="4"/>
            <a:endCxn id="117" idx="0"/>
          </p:cNvCxnSpPr>
          <p:nvPr/>
        </p:nvCxnSpPr>
        <p:spPr bwMode="auto">
          <a:xfrm rot="5400000">
            <a:off x="5387215" y="4387848"/>
            <a:ext cx="433387" cy="4763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110" idx="4"/>
            <a:endCxn id="112" idx="0"/>
          </p:cNvCxnSpPr>
          <p:nvPr/>
        </p:nvCxnSpPr>
        <p:spPr bwMode="auto">
          <a:xfrm rot="5400000">
            <a:off x="3553651" y="5295898"/>
            <a:ext cx="419100" cy="3175"/>
          </a:xfrm>
          <a:prstGeom prst="line">
            <a:avLst/>
          </a:prstGeom>
          <a:ln w="25400" cmpd="sng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31" idx="5"/>
            <a:endCxn id="111" idx="1"/>
          </p:cNvCxnSpPr>
          <p:nvPr/>
        </p:nvCxnSpPr>
        <p:spPr bwMode="auto">
          <a:xfrm rot="16200000" flipH="1">
            <a:off x="3947351" y="4100511"/>
            <a:ext cx="555625" cy="552451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30" idx="3"/>
            <a:endCxn id="111" idx="7"/>
          </p:cNvCxnSpPr>
          <p:nvPr/>
        </p:nvCxnSpPr>
        <p:spPr bwMode="auto">
          <a:xfrm rot="5400000">
            <a:off x="4865720" y="4093366"/>
            <a:ext cx="555625" cy="566737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 bwMode="auto">
          <a:xfrm>
            <a:off x="4431539" y="2743198"/>
            <a:ext cx="506412" cy="506413"/>
          </a:xfrm>
          <a:prstGeom prst="ellipse">
            <a:avLst/>
          </a:prstGeom>
          <a:noFill/>
          <a:ln w="25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7" name="Straight Connector 146"/>
          <p:cNvCxnSpPr>
            <a:stCxn id="137" idx="3"/>
            <a:endCxn id="131" idx="0"/>
          </p:cNvCxnSpPr>
          <p:nvPr/>
        </p:nvCxnSpPr>
        <p:spPr bwMode="auto">
          <a:xfrm rot="5400000">
            <a:off x="3893376" y="3052761"/>
            <a:ext cx="488950" cy="73660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37" idx="4"/>
            <a:endCxn id="109" idx="0"/>
          </p:cNvCxnSpPr>
          <p:nvPr/>
        </p:nvCxnSpPr>
        <p:spPr bwMode="auto">
          <a:xfrm rot="5400000">
            <a:off x="4477576" y="3457574"/>
            <a:ext cx="415925" cy="0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37" idx="5"/>
          </p:cNvCxnSpPr>
          <p:nvPr/>
        </p:nvCxnSpPr>
        <p:spPr bwMode="auto">
          <a:xfrm rot="16200000" flipH="1">
            <a:off x="4987165" y="3054347"/>
            <a:ext cx="488950" cy="733426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09" idx="3"/>
            <a:endCxn id="110" idx="7"/>
          </p:cNvCxnSpPr>
          <p:nvPr/>
        </p:nvCxnSpPr>
        <p:spPr bwMode="auto">
          <a:xfrm rot="5400000">
            <a:off x="3947351" y="4095748"/>
            <a:ext cx="555625" cy="561975"/>
          </a:xfrm>
          <a:prstGeom prst="line">
            <a:avLst/>
          </a:prstGeom>
          <a:ln w="25400" cmpd="sng">
            <a:solidFill>
              <a:schemeClr val="tx1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4388675" y="5472113"/>
            <a:ext cx="558800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2" name="Rounded Rectangle 151"/>
          <p:cNvSpPr/>
          <p:nvPr/>
        </p:nvSpPr>
        <p:spPr>
          <a:xfrm>
            <a:off x="5303075" y="5472113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3" name="Rounded Rectangle 152"/>
          <p:cNvSpPr/>
          <p:nvPr/>
        </p:nvSpPr>
        <p:spPr>
          <a:xfrm>
            <a:off x="3474275" y="5472113"/>
            <a:ext cx="573088" cy="579437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99" name="Group 83"/>
          <p:cNvGrpSpPr>
            <a:grpSpLocks noChangeAspect="1"/>
          </p:cNvGrpSpPr>
          <p:nvPr/>
        </p:nvGrpSpPr>
        <p:grpSpPr bwMode="auto">
          <a:xfrm>
            <a:off x="6244208" y="5270500"/>
            <a:ext cx="914400" cy="686859"/>
            <a:chOff x="6035040" y="3886200"/>
            <a:chExt cx="1616915" cy="1214614"/>
          </a:xfrm>
        </p:grpSpPr>
        <p:grpSp>
          <p:nvGrpSpPr>
            <p:cNvPr id="200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915" cy="529639"/>
              <a:chOff x="6067258" y="4937760"/>
              <a:chExt cx="1616915" cy="52963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1" name="Group 68"/>
            <p:cNvGrpSpPr>
              <a:grpSpLocks/>
            </p:cNvGrpSpPr>
            <p:nvPr/>
          </p:nvGrpSpPr>
          <p:grpSpPr bwMode="auto">
            <a:xfrm>
              <a:off x="6035040" y="4571175"/>
              <a:ext cx="1616915" cy="529639"/>
              <a:chOff x="6067258" y="4936935"/>
              <a:chExt cx="1616915" cy="529639"/>
            </a:xfrm>
          </p:grpSpPr>
          <p:sp>
            <p:nvSpPr>
              <p:cNvPr id="202" name="Rectangle 201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rgbClr val="7D3C4A"/>
                  </a:solidFill>
                </a:endParaRPr>
              </a:p>
            </p:txBody>
          </p:sp>
        </p:grpSp>
      </p:grpSp>
      <p:grpSp>
        <p:nvGrpSpPr>
          <p:cNvPr id="208" name="Group 83"/>
          <p:cNvGrpSpPr>
            <a:grpSpLocks noChangeAspect="1"/>
          </p:cNvGrpSpPr>
          <p:nvPr/>
        </p:nvGrpSpPr>
        <p:grpSpPr bwMode="auto">
          <a:xfrm>
            <a:off x="7772400" y="4883150"/>
            <a:ext cx="914400" cy="1075267"/>
            <a:chOff x="6035040" y="3886200"/>
            <a:chExt cx="1616915" cy="1901460"/>
          </a:xfrm>
        </p:grpSpPr>
        <p:grpSp>
          <p:nvGrpSpPr>
            <p:cNvPr id="209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915" cy="529639"/>
              <a:chOff x="6067258" y="4937760"/>
              <a:chExt cx="1616915" cy="529639"/>
            </a:xfrm>
          </p:grpSpPr>
          <p:sp>
            <p:nvSpPr>
              <p:cNvPr id="218" name="Rectangle 217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0" name="Group 68"/>
            <p:cNvGrpSpPr>
              <a:grpSpLocks/>
            </p:cNvGrpSpPr>
            <p:nvPr/>
          </p:nvGrpSpPr>
          <p:grpSpPr bwMode="auto">
            <a:xfrm>
              <a:off x="6035040" y="4571175"/>
              <a:ext cx="1616915" cy="529639"/>
              <a:chOff x="6067258" y="4936935"/>
              <a:chExt cx="1616915" cy="529639"/>
            </a:xfrm>
          </p:grpSpPr>
          <p:sp>
            <p:nvSpPr>
              <p:cNvPr id="215" name="Rectangle 214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rgbClr val="7D3C4A"/>
                  </a:solidFill>
                </a:endParaRPr>
              </a:p>
            </p:txBody>
          </p:sp>
        </p:grpSp>
        <p:grpSp>
          <p:nvGrpSpPr>
            <p:cNvPr id="211" name="Group 73"/>
            <p:cNvGrpSpPr>
              <a:grpSpLocks/>
            </p:cNvGrpSpPr>
            <p:nvPr/>
          </p:nvGrpSpPr>
          <p:grpSpPr bwMode="auto">
            <a:xfrm>
              <a:off x="6035040" y="5258020"/>
              <a:ext cx="1616915" cy="529640"/>
              <a:chOff x="6067258" y="4937980"/>
              <a:chExt cx="1616915" cy="529640"/>
            </a:xfrm>
          </p:grpSpPr>
          <p:sp>
            <p:nvSpPr>
              <p:cNvPr id="212" name="Rectangle 211"/>
              <p:cNvSpPr/>
              <p:nvPr/>
            </p:nvSpPr>
            <p:spPr>
              <a:xfrm>
                <a:off x="6067258" y="4941723"/>
                <a:ext cx="533358" cy="525897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6611845" y="4937980"/>
                <a:ext cx="531486" cy="525897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7150816" y="4937980"/>
                <a:ext cx="533357" cy="52589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1" name="Group 83"/>
          <p:cNvGrpSpPr>
            <a:grpSpLocks noChangeAspect="1"/>
          </p:cNvGrpSpPr>
          <p:nvPr/>
        </p:nvGrpSpPr>
        <p:grpSpPr bwMode="auto">
          <a:xfrm>
            <a:off x="2013273" y="4881033"/>
            <a:ext cx="914400" cy="1075267"/>
            <a:chOff x="6035040" y="3886200"/>
            <a:chExt cx="1616915" cy="1901460"/>
          </a:xfrm>
        </p:grpSpPr>
        <p:grpSp>
          <p:nvGrpSpPr>
            <p:cNvPr id="222" name="Group 67"/>
            <p:cNvGrpSpPr>
              <a:grpSpLocks/>
            </p:cNvGrpSpPr>
            <p:nvPr/>
          </p:nvGrpSpPr>
          <p:grpSpPr bwMode="auto">
            <a:xfrm>
              <a:off x="6035040" y="3886200"/>
              <a:ext cx="1616915" cy="529639"/>
              <a:chOff x="6067258" y="4937760"/>
              <a:chExt cx="1616915" cy="529639"/>
            </a:xfrm>
          </p:grpSpPr>
          <p:sp>
            <p:nvSpPr>
              <p:cNvPr id="231" name="Rectangle 230"/>
              <p:cNvSpPr/>
              <p:nvPr/>
            </p:nvSpPr>
            <p:spPr>
              <a:xfrm>
                <a:off x="6067258" y="4941503"/>
                <a:ext cx="533358" cy="525896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32" name="Rectangle 231"/>
              <p:cNvSpPr/>
              <p:nvPr/>
            </p:nvSpPr>
            <p:spPr>
              <a:xfrm>
                <a:off x="6611845" y="4937760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/>
              <p:cNvSpPr/>
              <p:nvPr/>
            </p:nvSpPr>
            <p:spPr>
              <a:xfrm>
                <a:off x="7150816" y="4937760"/>
                <a:ext cx="533357" cy="52589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3" name="Group 68"/>
            <p:cNvGrpSpPr>
              <a:grpSpLocks/>
            </p:cNvGrpSpPr>
            <p:nvPr/>
          </p:nvGrpSpPr>
          <p:grpSpPr bwMode="auto">
            <a:xfrm>
              <a:off x="6035040" y="4571175"/>
              <a:ext cx="1616915" cy="529639"/>
              <a:chOff x="6067258" y="4936935"/>
              <a:chExt cx="1616915" cy="529639"/>
            </a:xfrm>
          </p:grpSpPr>
          <p:sp>
            <p:nvSpPr>
              <p:cNvPr id="228" name="Rectangle 227"/>
              <p:cNvSpPr/>
              <p:nvPr/>
            </p:nvSpPr>
            <p:spPr>
              <a:xfrm>
                <a:off x="6067258" y="4940678"/>
                <a:ext cx="533358" cy="52589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/>
              <p:cNvSpPr/>
              <p:nvPr/>
            </p:nvSpPr>
            <p:spPr>
              <a:xfrm>
                <a:off x="6611845" y="4936935"/>
                <a:ext cx="531486" cy="525896"/>
              </a:xfrm>
              <a:prstGeom prst="rect">
                <a:avLst/>
              </a:prstGeom>
              <a:solidFill>
                <a:srgbClr val="000090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ectangle 229"/>
              <p:cNvSpPr/>
              <p:nvPr/>
            </p:nvSpPr>
            <p:spPr>
              <a:xfrm>
                <a:off x="7150816" y="4936935"/>
                <a:ext cx="533357" cy="52589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rgbClr val="7D3C4A"/>
                  </a:solidFill>
                </a:endParaRPr>
              </a:p>
            </p:txBody>
          </p:sp>
        </p:grpSp>
        <p:grpSp>
          <p:nvGrpSpPr>
            <p:cNvPr id="224" name="Group 73"/>
            <p:cNvGrpSpPr>
              <a:grpSpLocks/>
            </p:cNvGrpSpPr>
            <p:nvPr/>
          </p:nvGrpSpPr>
          <p:grpSpPr bwMode="auto">
            <a:xfrm>
              <a:off x="6035040" y="5258020"/>
              <a:ext cx="1616915" cy="529640"/>
              <a:chOff x="6067258" y="4937980"/>
              <a:chExt cx="1616915" cy="529640"/>
            </a:xfrm>
          </p:grpSpPr>
          <p:sp>
            <p:nvSpPr>
              <p:cNvPr id="225" name="Rectangle 224"/>
              <p:cNvSpPr/>
              <p:nvPr/>
            </p:nvSpPr>
            <p:spPr>
              <a:xfrm>
                <a:off x="6067258" y="4941723"/>
                <a:ext cx="533358" cy="525897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6611845" y="4937980"/>
                <a:ext cx="531486" cy="525897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7150816" y="4937980"/>
                <a:ext cx="533357" cy="525897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119813" y="4327525"/>
            <a:ext cx="1746250" cy="43180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3" name="Group 65"/>
          <p:cNvGrpSpPr>
            <a:grpSpLocks noChangeAspect="1"/>
          </p:cNvGrpSpPr>
          <p:nvPr/>
        </p:nvGrpSpPr>
        <p:grpSpPr bwMode="auto">
          <a:xfrm rot="10800000">
            <a:off x="6119813" y="4327525"/>
            <a:ext cx="1779587" cy="431800"/>
            <a:chOff x="1305439" y="4099515"/>
            <a:chExt cx="2388709" cy="579507"/>
          </a:xfrm>
        </p:grpSpPr>
        <p:sp>
          <p:nvSpPr>
            <p:cNvPr id="67" name="Rounded Rectangle 66"/>
            <p:cNvSpPr/>
            <p:nvPr/>
          </p:nvSpPr>
          <p:spPr>
            <a:xfrm>
              <a:off x="1303307" y="4099515"/>
              <a:ext cx="571074" cy="579507"/>
            </a:xfrm>
            <a:prstGeom prst="roundRect">
              <a:avLst/>
            </a:prstGeom>
            <a:solidFill>
              <a:srgbClr val="FFFF00">
                <a:alpha val="73000"/>
              </a:srgbClr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2187621" y="4099515"/>
              <a:ext cx="1506527" cy="579507"/>
            </a:xfrm>
            <a:prstGeom prst="roundRect">
              <a:avLst/>
            </a:prstGeom>
            <a:solidFill>
              <a:srgbClr val="008000">
                <a:alpha val="73000"/>
              </a:srgbClr>
            </a:solidFill>
            <a:ln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Topology changes may cause paths to change</a:t>
            </a:r>
          </a:p>
          <a:p>
            <a:r>
              <a:rPr lang="en-US" dirty="0" smtClean="0"/>
              <a:t>Which causes labels to change</a:t>
            </a:r>
            <a:endParaRPr lang="en-US" i="1" dirty="0" smtClean="0"/>
          </a:p>
          <a:p>
            <a:r>
              <a:rPr lang="en-US" dirty="0" smtClean="0"/>
              <a:t>Evaluation: </a:t>
            </a:r>
          </a:p>
          <a:p>
            <a:pPr marL="905256" lvl="1"/>
            <a:r>
              <a:rPr lang="en-US" dirty="0" smtClean="0"/>
              <a:t>Quick convergence </a:t>
            </a:r>
          </a:p>
          <a:p>
            <a:pPr marL="905256" lvl="1"/>
            <a:r>
              <a:rPr lang="en-US" dirty="0" smtClean="0"/>
              <a:t>Localized effects</a:t>
            </a:r>
          </a:p>
          <a:p>
            <a:pPr lvl="1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Relabeling</a:t>
            </a:r>
            <a:endParaRPr lang="en-US" dirty="0"/>
          </a:p>
        </p:txBody>
      </p:sp>
      <p:grpSp>
        <p:nvGrpSpPr>
          <p:cNvPr id="4" name="Group 7"/>
          <p:cNvGrpSpPr>
            <a:grpSpLocks noChangeAspect="1"/>
          </p:cNvGrpSpPr>
          <p:nvPr/>
        </p:nvGrpSpPr>
        <p:grpSpPr bwMode="auto">
          <a:xfrm>
            <a:off x="3870325" y="4327525"/>
            <a:ext cx="1801813" cy="431800"/>
            <a:chOff x="1275670" y="4099515"/>
            <a:chExt cx="2418478" cy="579507"/>
          </a:xfrm>
        </p:grpSpPr>
        <p:sp>
          <p:nvSpPr>
            <p:cNvPr id="9" name="Rounded Rectangle 8"/>
            <p:cNvSpPr/>
            <p:nvPr/>
          </p:nvSpPr>
          <p:spPr>
            <a:xfrm>
              <a:off x="1275670" y="4099515"/>
              <a:ext cx="571059" cy="579507"/>
            </a:xfrm>
            <a:prstGeom prst="roundRect">
              <a:avLst/>
            </a:prstGeom>
            <a:solidFill>
              <a:schemeClr val="accent1">
                <a:alpha val="73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187660" y="4099515"/>
              <a:ext cx="1506488" cy="579507"/>
            </a:xfrm>
            <a:prstGeom prst="roundRect">
              <a:avLst/>
            </a:prstGeom>
            <a:solidFill>
              <a:srgbClr val="000090">
                <a:alpha val="73000"/>
              </a:srgbClr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1" name="Oval 10"/>
          <p:cNvSpPr/>
          <p:nvPr/>
        </p:nvSpPr>
        <p:spPr>
          <a:xfrm>
            <a:off x="5607050" y="3622675"/>
            <a:ext cx="368300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897313" y="4354512"/>
            <a:ext cx="369887" cy="36988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565650" y="4354512"/>
            <a:ext cx="368300" cy="36988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897313" y="5132387"/>
            <a:ext cx="369887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565650" y="5132387"/>
            <a:ext cx="368300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3" idx="3"/>
            <a:endCxn id="14" idx="7"/>
          </p:cNvCxnSpPr>
          <p:nvPr/>
        </p:nvCxnSpPr>
        <p:spPr>
          <a:xfrm rot="5400000">
            <a:off x="4158456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5"/>
            <a:endCxn id="15" idx="1"/>
          </p:cNvCxnSpPr>
          <p:nvPr/>
        </p:nvCxnSpPr>
        <p:spPr>
          <a:xfrm rot="16200000" flipH="1">
            <a:off x="4158456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4"/>
            <a:endCxn id="15" idx="0"/>
          </p:cNvCxnSpPr>
          <p:nvPr/>
        </p:nvCxnSpPr>
        <p:spPr>
          <a:xfrm rot="5400000">
            <a:off x="4546600" y="4927600"/>
            <a:ext cx="407987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232400" y="4354512"/>
            <a:ext cx="369888" cy="36988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232400" y="5132387"/>
            <a:ext cx="369888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19" idx="4"/>
            <a:endCxn id="20" idx="0"/>
          </p:cNvCxnSpPr>
          <p:nvPr/>
        </p:nvCxnSpPr>
        <p:spPr>
          <a:xfrm rot="5400000">
            <a:off x="5213350" y="4927600"/>
            <a:ext cx="407987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3"/>
            <a:endCxn id="15" idx="7"/>
          </p:cNvCxnSpPr>
          <p:nvPr/>
        </p:nvCxnSpPr>
        <p:spPr>
          <a:xfrm rot="5400000">
            <a:off x="4825206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3" idx="5"/>
            <a:endCxn id="20" idx="1"/>
          </p:cNvCxnSpPr>
          <p:nvPr/>
        </p:nvCxnSpPr>
        <p:spPr>
          <a:xfrm rot="16200000" flipH="1">
            <a:off x="4825206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  <a:endCxn id="14" idx="6"/>
          </p:cNvCxnSpPr>
          <p:nvPr/>
        </p:nvCxnSpPr>
        <p:spPr>
          <a:xfrm rot="10800000" flipV="1">
            <a:off x="4267200" y="4540250"/>
            <a:ext cx="965200" cy="7762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8" idx="1"/>
            <a:endCxn id="43" idx="5"/>
          </p:cNvCxnSpPr>
          <p:nvPr/>
        </p:nvCxnSpPr>
        <p:spPr>
          <a:xfrm rot="16200000" flipV="1">
            <a:off x="5332413" y="3540125"/>
            <a:ext cx="471487" cy="126523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1" idx="5"/>
            <a:endCxn id="29" idx="1"/>
          </p:cNvCxnSpPr>
          <p:nvPr/>
        </p:nvCxnSpPr>
        <p:spPr>
          <a:xfrm rot="16200000" flipH="1">
            <a:off x="6159500" y="3698875"/>
            <a:ext cx="471487" cy="94773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1" idx="3"/>
            <a:endCxn id="13" idx="7"/>
          </p:cNvCxnSpPr>
          <p:nvPr/>
        </p:nvCxnSpPr>
        <p:spPr>
          <a:xfrm rot="5400000">
            <a:off x="5034756" y="3782219"/>
            <a:ext cx="471487" cy="78105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146800" y="4354512"/>
            <a:ext cx="369888" cy="36988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9" name="Oval 28"/>
          <p:cNvSpPr/>
          <p:nvPr/>
        </p:nvSpPr>
        <p:spPr>
          <a:xfrm>
            <a:off x="6815138" y="4354512"/>
            <a:ext cx="368300" cy="36988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0" name="Oval 29"/>
          <p:cNvSpPr/>
          <p:nvPr/>
        </p:nvSpPr>
        <p:spPr>
          <a:xfrm>
            <a:off x="6146800" y="5132387"/>
            <a:ext cx="369888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815138" y="5132387"/>
            <a:ext cx="368300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/>
          <p:cNvCxnSpPr>
            <a:stCxn id="28" idx="4"/>
            <a:endCxn id="30" idx="0"/>
          </p:cNvCxnSpPr>
          <p:nvPr/>
        </p:nvCxnSpPr>
        <p:spPr>
          <a:xfrm rot="5400000">
            <a:off x="6127750" y="4927600"/>
            <a:ext cx="407987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9" idx="3"/>
            <a:endCxn id="30" idx="7"/>
          </p:cNvCxnSpPr>
          <p:nvPr/>
        </p:nvCxnSpPr>
        <p:spPr>
          <a:xfrm rot="5400000">
            <a:off x="6407944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8" idx="5"/>
            <a:endCxn id="31" idx="1"/>
          </p:cNvCxnSpPr>
          <p:nvPr/>
        </p:nvCxnSpPr>
        <p:spPr>
          <a:xfrm rot="16200000" flipH="1">
            <a:off x="6407944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9" idx="4"/>
            <a:endCxn id="31" idx="0"/>
          </p:cNvCxnSpPr>
          <p:nvPr/>
        </p:nvCxnSpPr>
        <p:spPr>
          <a:xfrm rot="5400000">
            <a:off x="6796088" y="4927600"/>
            <a:ext cx="407987" cy="15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481888" y="4354512"/>
            <a:ext cx="369887" cy="36988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7481888" y="5132387"/>
            <a:ext cx="369887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Straight Connector 37"/>
          <p:cNvCxnSpPr>
            <a:stCxn id="36" idx="4"/>
            <a:endCxn id="37" idx="0"/>
          </p:cNvCxnSpPr>
          <p:nvPr/>
        </p:nvCxnSpPr>
        <p:spPr>
          <a:xfrm rot="5400000">
            <a:off x="7462838" y="4927600"/>
            <a:ext cx="407987" cy="15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6" idx="3"/>
            <a:endCxn id="31" idx="7"/>
          </p:cNvCxnSpPr>
          <p:nvPr/>
        </p:nvCxnSpPr>
        <p:spPr>
          <a:xfrm rot="5400000">
            <a:off x="7074694" y="4725194"/>
            <a:ext cx="515937" cy="406400"/>
          </a:xfrm>
          <a:prstGeom prst="line">
            <a:avLst/>
          </a:prstGeom>
          <a:noFill/>
          <a:ln w="50800" cap="flat" cmpd="sng" algn="ctr">
            <a:solidFill>
              <a:srgbClr val="FF0000"/>
            </a:solidFill>
            <a:prstDash val="sysDash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9" idx="5"/>
            <a:endCxn id="37" idx="1"/>
          </p:cNvCxnSpPr>
          <p:nvPr/>
        </p:nvCxnSpPr>
        <p:spPr>
          <a:xfrm rot="16200000" flipH="1">
            <a:off x="7074694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0" idx="6"/>
            <a:endCxn id="36" idx="2"/>
          </p:cNvCxnSpPr>
          <p:nvPr/>
        </p:nvCxnSpPr>
        <p:spPr>
          <a:xfrm flipV="1">
            <a:off x="6516688" y="4540250"/>
            <a:ext cx="965200" cy="7762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761163" y="3622675"/>
            <a:ext cx="369887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4621213" y="3622675"/>
            <a:ext cx="368300" cy="3683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4" name="Straight Connector 43"/>
          <p:cNvCxnSpPr>
            <a:stCxn id="43" idx="3"/>
            <a:endCxn id="12" idx="7"/>
          </p:cNvCxnSpPr>
          <p:nvPr/>
        </p:nvCxnSpPr>
        <p:spPr>
          <a:xfrm rot="5400000">
            <a:off x="4208463" y="3941762"/>
            <a:ext cx="471487" cy="46196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3"/>
            <a:endCxn id="19" idx="7"/>
          </p:cNvCxnSpPr>
          <p:nvPr/>
        </p:nvCxnSpPr>
        <p:spPr>
          <a:xfrm rot="5400000">
            <a:off x="5945982" y="3539331"/>
            <a:ext cx="471487" cy="12668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42" idx="5"/>
            <a:endCxn id="36" idx="0"/>
          </p:cNvCxnSpPr>
          <p:nvPr/>
        </p:nvCxnSpPr>
        <p:spPr>
          <a:xfrm rot="16200000" flipH="1">
            <a:off x="7163594" y="3850481"/>
            <a:ext cx="417512" cy="59055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8" idx="6"/>
            <a:endCxn id="37" idx="2"/>
          </p:cNvCxnSpPr>
          <p:nvPr/>
        </p:nvCxnSpPr>
        <p:spPr>
          <a:xfrm>
            <a:off x="6516688" y="4540250"/>
            <a:ext cx="965200" cy="7762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43" idx="4"/>
            <a:endCxn id="13" idx="0"/>
          </p:cNvCxnSpPr>
          <p:nvPr/>
        </p:nvCxnSpPr>
        <p:spPr>
          <a:xfrm rot="5400000">
            <a:off x="4595813" y="4144962"/>
            <a:ext cx="363537" cy="5556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2" idx="1"/>
            <a:endCxn id="13" idx="6"/>
          </p:cNvCxnSpPr>
          <p:nvPr/>
        </p:nvCxnSpPr>
        <p:spPr>
          <a:xfrm rot="16200000" flipH="1" flipV="1">
            <a:off x="5442744" y="3167856"/>
            <a:ext cx="863600" cy="18811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2" idx="4"/>
            <a:endCxn id="14" idx="0"/>
          </p:cNvCxnSpPr>
          <p:nvPr/>
        </p:nvCxnSpPr>
        <p:spPr>
          <a:xfrm rot="5400000">
            <a:off x="3878263" y="4927600"/>
            <a:ext cx="407987" cy="15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>
            <a:spLocks/>
          </p:cNvSpPr>
          <p:nvPr/>
        </p:nvSpPr>
        <p:spPr>
          <a:xfrm>
            <a:off x="5241925" y="5726112"/>
            <a:ext cx="355600" cy="3571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>
            <a:spLocks/>
          </p:cNvSpPr>
          <p:nvPr/>
        </p:nvSpPr>
        <p:spPr>
          <a:xfrm>
            <a:off x="4575175" y="5726112"/>
            <a:ext cx="355600" cy="3571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>
            <a:spLocks/>
          </p:cNvSpPr>
          <p:nvPr/>
        </p:nvSpPr>
        <p:spPr>
          <a:xfrm>
            <a:off x="6823075" y="5726112"/>
            <a:ext cx="355600" cy="3571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>
            <a:spLocks/>
          </p:cNvSpPr>
          <p:nvPr/>
        </p:nvSpPr>
        <p:spPr>
          <a:xfrm>
            <a:off x="6156325" y="5726112"/>
            <a:ext cx="355600" cy="3571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>
            <a:spLocks/>
          </p:cNvSpPr>
          <p:nvPr/>
        </p:nvSpPr>
        <p:spPr>
          <a:xfrm>
            <a:off x="3906838" y="5726112"/>
            <a:ext cx="355600" cy="3571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>
            <a:spLocks/>
          </p:cNvSpPr>
          <p:nvPr/>
        </p:nvSpPr>
        <p:spPr>
          <a:xfrm>
            <a:off x="7491413" y="5726112"/>
            <a:ext cx="355600" cy="3571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7" name="Straight Connector 56"/>
          <p:cNvCxnSpPr>
            <a:stCxn id="55" idx="0"/>
            <a:endCxn id="14" idx="4"/>
          </p:cNvCxnSpPr>
          <p:nvPr/>
        </p:nvCxnSpPr>
        <p:spPr>
          <a:xfrm rot="16200000" flipV="1">
            <a:off x="3971131" y="5612606"/>
            <a:ext cx="225425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2" idx="0"/>
            <a:endCxn id="15" idx="4"/>
          </p:cNvCxnSpPr>
          <p:nvPr/>
        </p:nvCxnSpPr>
        <p:spPr>
          <a:xfrm rot="16200000" flipV="1">
            <a:off x="4638675" y="5611812"/>
            <a:ext cx="225425" cy="317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1" idx="0"/>
            <a:endCxn id="20" idx="4"/>
          </p:cNvCxnSpPr>
          <p:nvPr/>
        </p:nvCxnSpPr>
        <p:spPr>
          <a:xfrm rot="16200000" flipV="1">
            <a:off x="5306219" y="5612606"/>
            <a:ext cx="225425" cy="15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4" idx="0"/>
            <a:endCxn id="30" idx="4"/>
          </p:cNvCxnSpPr>
          <p:nvPr/>
        </p:nvCxnSpPr>
        <p:spPr>
          <a:xfrm rot="16200000" flipV="1">
            <a:off x="6220619" y="5612606"/>
            <a:ext cx="225425" cy="15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3" idx="0"/>
            <a:endCxn id="31" idx="4"/>
          </p:cNvCxnSpPr>
          <p:nvPr/>
        </p:nvCxnSpPr>
        <p:spPr>
          <a:xfrm rot="16200000" flipV="1">
            <a:off x="6887369" y="5612606"/>
            <a:ext cx="225425" cy="158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6" idx="0"/>
            <a:endCxn id="37" idx="4"/>
          </p:cNvCxnSpPr>
          <p:nvPr/>
        </p:nvCxnSpPr>
        <p:spPr>
          <a:xfrm rot="16200000" flipV="1">
            <a:off x="7555706" y="5612606"/>
            <a:ext cx="225425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6" idx="1"/>
            <a:endCxn id="11" idx="6"/>
          </p:cNvCxnSpPr>
          <p:nvPr/>
        </p:nvCxnSpPr>
        <p:spPr>
          <a:xfrm rot="16200000" flipV="1">
            <a:off x="6454776" y="3327399"/>
            <a:ext cx="601662" cy="156051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36" idx="3"/>
            <a:endCxn id="31" idx="7"/>
          </p:cNvCxnSpPr>
          <p:nvPr/>
        </p:nvCxnSpPr>
        <p:spPr>
          <a:xfrm rot="5400000">
            <a:off x="7074694" y="4725194"/>
            <a:ext cx="515937" cy="4064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Slide Number Placeholder 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433118" cy="4638675"/>
          </a:xfrm>
        </p:spPr>
        <p:txBody>
          <a:bodyPr/>
          <a:lstStyle/>
          <a:p>
            <a:r>
              <a:rPr lang="en-US" dirty="0" smtClean="0"/>
              <a:t>Many overlying communication protocols</a:t>
            </a:r>
          </a:p>
          <a:p>
            <a:pPr lvl="1"/>
            <a:r>
              <a:rPr lang="en-US" dirty="0" smtClean="0"/>
              <a:t>Hierarchical-style forwarding makes most sense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E.g. MAC address rewriting</a:t>
            </a:r>
          </a:p>
          <a:p>
            <a:pPr lvl="1"/>
            <a:r>
              <a:rPr lang="en-US" dirty="0" smtClean="0"/>
              <a:t>At sender’s ingress switch: dest. MAC </a:t>
            </a:r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 ALIAS label</a:t>
            </a:r>
          </a:p>
          <a:p>
            <a:pPr lvl="1"/>
            <a:r>
              <a:rPr lang="en-US" dirty="0" smtClean="0"/>
              <a:t>At recipient’s egress switch: ALIAS label</a:t>
            </a:r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dest. MAC</a:t>
            </a:r>
          </a:p>
          <a:p>
            <a:pPr lvl="1"/>
            <a:r>
              <a:rPr lang="en-US" dirty="0" smtClean="0"/>
              <a:t>Up*/down* forwarding (AutoNet, SOSP91)</a:t>
            </a:r>
          </a:p>
          <a:p>
            <a:pPr lvl="1"/>
            <a:r>
              <a:rPr lang="en-US" dirty="0" smtClean="0"/>
              <a:t>Proxy ARP for resolution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E.g. encapsulation, tunneling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Using ALIAS labels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“Standard” systems approach</a:t>
            </a:r>
          </a:p>
          <a:p>
            <a:pPr lvl="1"/>
            <a:r>
              <a:rPr lang="en-US" dirty="0" smtClean="0"/>
              <a:t>Implementation, experimentation, deployment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Theoretical approach</a:t>
            </a:r>
          </a:p>
          <a:p>
            <a:pPr lvl="1"/>
            <a:r>
              <a:rPr lang="en-US" dirty="0" smtClean="0"/>
              <a:t>Proof, formalization, verification via model checking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Goal: </a:t>
            </a:r>
          </a:p>
          <a:p>
            <a:pPr lvl="1"/>
            <a:r>
              <a:rPr lang="en-US" dirty="0" smtClean="0"/>
              <a:t>Verify correctness, feasibility</a:t>
            </a:r>
          </a:p>
          <a:p>
            <a:pPr lvl="1"/>
            <a:r>
              <a:rPr lang="en-US" dirty="0" smtClean="0"/>
              <a:t>Assess scalability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Evaluation Methodology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Does ALIAS assign labels correctly?</a:t>
            </a:r>
          </a:p>
          <a:p>
            <a:r>
              <a:rPr lang="en-US" dirty="0" smtClean="0"/>
              <a:t>Do labels enable scalable communication?</a:t>
            </a:r>
          </a:p>
          <a:p>
            <a:pPr lvl="1"/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Implemented in Mace (</a:t>
            </a:r>
            <a:r>
              <a:rPr lang="en-US" dirty="0" smtClean="0">
                <a:hlinkClick r:id="rId3"/>
              </a:rPr>
              <a:t>www.macesystems.org</a:t>
            </a:r>
            <a:r>
              <a:rPr lang="en-US" dirty="0" smtClean="0"/>
              <a:t>)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Used Mace Model Checker to verify</a:t>
            </a:r>
          </a:p>
          <a:p>
            <a:pPr lvl="2"/>
            <a:r>
              <a:rPr lang="en-US" dirty="0" smtClean="0"/>
              <a:t>Label assignment: levels, hypernodes, coordinates</a:t>
            </a:r>
          </a:p>
          <a:p>
            <a:pPr lvl="2"/>
            <a:r>
              <a:rPr lang="en-US" dirty="0" smtClean="0"/>
              <a:t>Sample overlying communication: pairs of nodes can communicate when physically connected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Ported to small testbed with existing communication protocol for realistic evaluation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Evaluation: Correctness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Does DCP solve the Label Selection Problem?</a:t>
            </a:r>
          </a:p>
          <a:p>
            <a:pPr lvl="1"/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Proof that DCP implements LSP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Implemented in Mace and model checked all versions of DCP</a:t>
            </a:r>
          </a:p>
          <a:p>
            <a:endParaRPr lang="en-US" dirty="0" smtClean="0"/>
          </a:p>
          <a:p>
            <a:pPr marL="365125" lvl="1" indent="-255588">
              <a:spcBef>
                <a:spcPts val="400"/>
              </a:spcBef>
              <a:buSzPct val="68000"/>
              <a:buFont typeface="Wingdings 3" pitchFamily="18" charset="2"/>
              <a:buChar char=""/>
            </a:pPr>
            <a:r>
              <a:rPr lang="en-US" sz="2700" dirty="0" smtClean="0"/>
              <a:t>Is LSP a reasonable abstraction?</a:t>
            </a:r>
          </a:p>
          <a:p>
            <a:pPr lvl="1">
              <a:buClr>
                <a:srgbClr val="008000"/>
              </a:buClr>
              <a:buNone/>
            </a:pPr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Formal protocol derivation from basic DCP</a:t>
            </a:r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ALIAS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Evaluation: Correctness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Is overhead (storage, control) acceptable?</a:t>
            </a:r>
          </a:p>
          <a:p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Resource requirements of algorithm</a:t>
            </a:r>
          </a:p>
          <a:p>
            <a:pPr lvl="2"/>
            <a:r>
              <a:rPr lang="en-US" dirty="0" smtClean="0"/>
              <a:t>Memory: ~KBs for 10k host network </a:t>
            </a:r>
          </a:p>
          <a:p>
            <a:pPr lvl="2"/>
            <a:r>
              <a:rPr lang="en-US" dirty="0" smtClean="0"/>
              <a:t>Control overhead: agility/overhead tradeoff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Memory usage on testbed deployment (&lt;150B)</a:t>
            </a:r>
          </a:p>
          <a:p>
            <a:pPr lvl="2"/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Evaluation: Feasibility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7672" y="3771082"/>
          <a:ext cx="7429599" cy="168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818"/>
                <a:gridCol w="785595"/>
                <a:gridCol w="1191486"/>
                <a:gridCol w="3933700"/>
              </a:tblGrid>
              <a:tr h="467673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Ports/Switch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Hosts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Cycle (ms)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Control Overhead (Mbps, %10G link)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/>
                    </a:solidFill>
                  </a:tcPr>
                </a:tc>
              </a:tr>
              <a:tr h="226800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64</a:t>
                      </a:r>
                      <a:endParaRPr lang="en-US" sz="1400" dirty="0"/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65k</a:t>
                      </a: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</a:t>
                      </a: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31.5 (0.3%)</a:t>
                      </a:r>
                      <a:endParaRPr lang="en-US" sz="1400" dirty="0"/>
                    </a:p>
                  </a:txBody>
                  <a:tcPr anchor="ctr" anchorCtr="1"/>
                </a:tc>
              </a:tr>
              <a:tr h="22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6.29 (0.06%)</a:t>
                      </a:r>
                      <a:endParaRPr lang="en-US" sz="1400" dirty="0"/>
                    </a:p>
                  </a:txBody>
                  <a:tcPr anchor="ctr" anchorCtr="1"/>
                </a:tc>
              </a:tr>
              <a:tr h="226800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128</a:t>
                      </a:r>
                      <a:endParaRPr lang="en-US" sz="1400" dirty="0"/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524k</a:t>
                      </a: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1000</a:t>
                      </a: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25.16 (0.25%)</a:t>
                      </a:r>
                      <a:endParaRPr lang="en-US" sz="1400" dirty="0"/>
                    </a:p>
                  </a:txBody>
                  <a:tcPr anchor="ctr" anchorCtr="1"/>
                </a:tc>
              </a:tr>
              <a:tr h="22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2000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12.58 (0.12%)</a:t>
                      </a:r>
                      <a:endParaRPr lang="en-US" sz="1400" dirty="0"/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Is the protocol practical in convergence time?</a:t>
            </a:r>
          </a:p>
          <a:p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DCP: Used Mace simulator to verify that “probabilistically fast” is quite fast in practice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Measured convergence on tested deployment</a:t>
            </a:r>
          </a:p>
          <a:p>
            <a:pPr lvl="2"/>
            <a:r>
              <a:rPr lang="en-US" dirty="0" smtClean="0"/>
              <a:t>On startup</a:t>
            </a:r>
          </a:p>
          <a:p>
            <a:pPr lvl="2"/>
            <a:r>
              <a:rPr lang="en-US" dirty="0" smtClean="0"/>
              <a:t>After failure (speed and locality) 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Used Mace model checker to verify locality of failure reactions for larger networks</a:t>
            </a:r>
          </a:p>
          <a:p>
            <a:pPr lvl="2"/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Evaluation: Feasibility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638675"/>
          </a:xfrm>
        </p:spPr>
        <p:txBody>
          <a:bodyPr/>
          <a:lstStyle/>
          <a:p>
            <a:r>
              <a:rPr lang="en-US" dirty="0" smtClean="0"/>
              <a:t>Does ALIAS scale to data center sizes?</a:t>
            </a:r>
          </a:p>
          <a:p>
            <a:pPr lvl="1"/>
            <a:endParaRPr lang="en-US" dirty="0" smtClean="0"/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Used Mace model checker to verify labels and communication for larger networks than testbed</a:t>
            </a:r>
          </a:p>
          <a:p>
            <a:pPr lvl="1">
              <a:buClr>
                <a:srgbClr val="008000"/>
              </a:buClr>
              <a:buFont typeface="Verdana"/>
              <a:buChar char="✓"/>
            </a:pPr>
            <a:r>
              <a:rPr lang="en-US" dirty="0" smtClean="0"/>
              <a:t>Wrote simulation code to analyze network behavior for enormous networks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Evaluation: Scalability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Result: Small Forwarding State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8885" y="1257027"/>
          <a:ext cx="7645329" cy="45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746"/>
                <a:gridCol w="890341"/>
                <a:gridCol w="2448438"/>
                <a:gridCol w="1479538"/>
                <a:gridCol w="2003266"/>
              </a:tblGrid>
              <a:tr h="297537">
                <a:tc gridSpan="4">
                  <a:txBody>
                    <a:bodyPr/>
                    <a:lstStyle/>
                    <a:p>
                      <a:r>
                        <a:rPr lang="en-US" sz="1600" dirty="0" smtClean="0"/>
                        <a:t>Topology</a:t>
                      </a:r>
                      <a:endParaRPr lang="en-US" sz="1600" b="1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ALIAS Forwarding Table Entries</a:t>
                      </a:r>
                      <a:endParaRPr lang="en-US" sz="1600" b="1" dirty="0"/>
                    </a:p>
                  </a:txBody>
                  <a:tcPr anchor="ctr" anchorCtr="1"/>
                </a:tc>
              </a:tr>
              <a:tr h="29753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Levels</a:t>
                      </a:r>
                      <a:endParaRPr lang="en-US" sz="1600" b="1" dirty="0"/>
                    </a:p>
                  </a:txBody>
                  <a:tcPr anchor="ctr" anchorCt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Ports</a:t>
                      </a:r>
                      <a:endParaRPr lang="en-US" sz="1600" b="1" dirty="0"/>
                    </a:p>
                  </a:txBody>
                  <a:tcPr anchor="ctr" anchorCt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% Fully Provisioned</a:t>
                      </a:r>
                      <a:endParaRPr lang="en-US" sz="1600" b="1" dirty="0"/>
                    </a:p>
                  </a:txBody>
                  <a:tcPr anchor="ctr" anchorCt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Servers</a:t>
                      </a:r>
                      <a:endParaRPr lang="en-US" sz="1600" b="1" dirty="0"/>
                    </a:p>
                  </a:txBody>
                  <a:tcPr anchor="ctr" anchorCt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43440">
                <a:tc rowSpan="8"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32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</a:t>
                      </a:r>
                    </a:p>
                  </a:txBody>
                  <a:tcPr marL="0" marR="0" marT="0" marB="0" anchor="ctr" anchorCtr="1"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8,192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45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80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262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173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86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64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</a:t>
                      </a:r>
                    </a:p>
                  </a:txBody>
                  <a:tcPr marL="0" marR="0" marT="0" marB="0" anchor="ctr" anchorCtr="1"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65,653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90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80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1028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653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291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32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</a:t>
                      </a:r>
                    </a:p>
                  </a:txBody>
                  <a:tcPr marL="0" marR="0" marT="0" marB="0" anchor="ctr" anchorCtr="1"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131,072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46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80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1278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2079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2415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</a:t>
                      </a:r>
                    </a:p>
                  </a:txBody>
                  <a:tcPr marL="0" marR="0" marT="0" marB="0" anchor="ctr" anchorCtr="1"/>
                </a:tc>
                <a:tc rowSpan="4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65,653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23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80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492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886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  <a:tr h="243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</a:t>
                      </a:r>
                      <a:endParaRPr lang="en-US" sz="1400" dirty="0"/>
                    </a:p>
                  </a:txBody>
                  <a:tcPr marL="0" marR="0" marT="0" marB="0"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1108</a:t>
                      </a:r>
                      <a:endParaRPr lang="en-US" sz="1400" dirty="0"/>
                    </a:p>
                  </a:txBody>
                  <a:tcPr marT="0" marB="0" anchor="ctr" anchorCtr="1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993441" y="5643530"/>
            <a:ext cx="1795891" cy="860527"/>
            <a:chOff x="3788768" y="5258810"/>
            <a:chExt cx="1795891" cy="860527"/>
          </a:xfrm>
        </p:grpSpPr>
        <p:sp>
          <p:nvSpPr>
            <p:cNvPr id="10" name="TextBox 9"/>
            <p:cNvSpPr txBox="1"/>
            <p:nvPr/>
          </p:nvSpPr>
          <p:spPr>
            <a:xfrm>
              <a:off x="3788768" y="5673061"/>
              <a:ext cx="1795891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300" dirty="0" smtClean="0"/>
                <a:t>e.g. MAC</a:t>
              </a:r>
              <a:endParaRPr lang="en-US" sz="2300" dirty="0"/>
            </a:p>
          </p:txBody>
        </p:sp>
        <p:cxnSp>
          <p:nvCxnSpPr>
            <p:cNvPr id="11" name="Curved Connector 53"/>
            <p:cNvCxnSpPr>
              <a:stCxn id="10" idx="0"/>
            </p:cNvCxnSpPr>
            <p:nvPr/>
          </p:nvCxnSpPr>
          <p:spPr>
            <a:xfrm rot="5400000" flipH="1" flipV="1">
              <a:off x="4704918" y="5240605"/>
              <a:ext cx="414252" cy="450661"/>
            </a:xfrm>
            <a:prstGeom prst="curvedConnector2">
              <a:avLst/>
            </a:prstGeom>
            <a:ln w="50800" cmpd="sng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7177613" y="5400369"/>
            <a:ext cx="1469659" cy="1198458"/>
            <a:chOff x="4115000" y="5274822"/>
            <a:chExt cx="1469659" cy="1198458"/>
          </a:xfrm>
        </p:grpSpPr>
        <p:sp>
          <p:nvSpPr>
            <p:cNvPr id="15" name="TextBox 14"/>
            <p:cNvSpPr txBox="1"/>
            <p:nvPr/>
          </p:nvSpPr>
          <p:spPr>
            <a:xfrm>
              <a:off x="4115000" y="5673061"/>
              <a:ext cx="146965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300" dirty="0" smtClean="0"/>
                <a:t>e.g. IP, LDP/DAC</a:t>
              </a:r>
              <a:endParaRPr lang="en-US" sz="2300" dirty="0"/>
            </a:p>
          </p:txBody>
        </p:sp>
        <p:cxnSp>
          <p:nvCxnSpPr>
            <p:cNvPr id="16" name="Curved Connector 53"/>
            <p:cNvCxnSpPr/>
            <p:nvPr/>
          </p:nvCxnSpPr>
          <p:spPr>
            <a:xfrm rot="16200000" flipV="1">
              <a:off x="4704919" y="5256618"/>
              <a:ext cx="414252" cy="450660"/>
            </a:xfrm>
            <a:prstGeom prst="curvedConnector2">
              <a:avLst/>
            </a:prstGeom>
            <a:ln w="50800" cmpd="sng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457200" y="1646239"/>
            <a:ext cx="8229600" cy="4358116"/>
          </a:xfrm>
        </p:spPr>
        <p:txBody>
          <a:bodyPr>
            <a:normAutofit/>
          </a:bodyPr>
          <a:lstStyle/>
          <a:p>
            <a:r>
              <a:rPr lang="en-US" dirty="0" smtClean="0"/>
              <a:t>Scale and complexity of data center networks make labeling problem unique</a:t>
            </a:r>
          </a:p>
          <a:p>
            <a:endParaRPr lang="en-US" dirty="0" smtClean="0"/>
          </a:p>
          <a:p>
            <a:r>
              <a:rPr lang="en-US" dirty="0" smtClean="0"/>
              <a:t>ALIAS enables scalable data center communication by:</a:t>
            </a:r>
          </a:p>
          <a:p>
            <a:pPr lvl="1"/>
            <a:r>
              <a:rPr lang="en-US" dirty="0" smtClean="0"/>
              <a:t>Using a distributed approach</a:t>
            </a:r>
          </a:p>
          <a:p>
            <a:pPr lvl="1"/>
            <a:r>
              <a:rPr lang="en-US" dirty="0" smtClean="0"/>
              <a:t>Leveraging hierarchy to form topologically significant labels</a:t>
            </a:r>
          </a:p>
          <a:p>
            <a:pPr lvl="1"/>
            <a:r>
              <a:rPr lang="en-US" dirty="0" smtClean="0"/>
              <a:t>Eliminating manual configuration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Convergence of DCP</a:t>
            </a:r>
            <a:endParaRPr lang="en-US" dirty="0"/>
          </a:p>
        </p:txBody>
      </p:sp>
      <p:pic>
        <p:nvPicPr>
          <p:cNvPr id="5" name="Picture 4" descr="performance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68941" y="720172"/>
            <a:ext cx="887505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Convergence vs. Coord. Domain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2477112" y="1178463"/>
          <a:ext cx="5499100" cy="5346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Convergence vs. Coord. Domain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2498129" y="968958"/>
          <a:ext cx="5588000" cy="568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Convergence vs. Coord. Domain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 noChangeAspect="1"/>
          </p:cNvGraphicFramePr>
          <p:nvPr/>
        </p:nvGraphicFramePr>
        <p:xfrm>
          <a:off x="2788862" y="775931"/>
          <a:ext cx="5082211" cy="6355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Convergence vs. Coord. Domain</a:t>
            </a:r>
            <a:endParaRPr lang="en-US" dirty="0"/>
          </a:p>
        </p:txBody>
      </p:sp>
      <p:pic>
        <p:nvPicPr>
          <p:cNvPr id="8" name="Picture 7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44" y="1249982"/>
            <a:ext cx="5741212" cy="500737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19A07-74F5-47A8-AA08-83C821B83B8B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23215</TotalTime>
  <Words>2590</Words>
  <Application>Microsoft Macintosh PowerPoint</Application>
  <PresentationFormat>On-screen Show (4:3)</PresentationFormat>
  <Paragraphs>717</Paragraphs>
  <Slides>50</Slides>
  <Notes>45</Notes>
  <HiddenSlides>0</HiddenSlides>
  <MMClips>0</MMClips>
  <ScaleCrop>false</ScaleCrop>
  <HeadingPairs>
    <vt:vector size="4" baseType="variant">
      <vt:variant>
        <vt:lpstr>Design Template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Office Theme</vt:lpstr>
      <vt:lpstr>Concourse</vt:lpstr>
      <vt:lpstr>Slide 1</vt:lpstr>
      <vt:lpstr>Labeling in Distributed Networks</vt:lpstr>
      <vt:lpstr>Data Center Network Size</vt:lpstr>
      <vt:lpstr>Data Center Network Structure</vt:lpstr>
      <vt:lpstr>Labels in Data Center Networks</vt:lpstr>
      <vt:lpstr>Data Center Labeling Techniques</vt:lpstr>
      <vt:lpstr>Data Center Labeling Techniques</vt:lpstr>
      <vt:lpstr>Combining L2 and L3 Benefits</vt:lpstr>
      <vt:lpstr>Scalability vs. Management</vt:lpstr>
      <vt:lpstr>Cost of Automation</vt:lpstr>
      <vt:lpstr>ALIAS Overview</vt:lpstr>
      <vt:lpstr>ALIAS Evolution</vt:lpstr>
      <vt:lpstr>Data Center Network Topologies</vt:lpstr>
      <vt:lpstr>ALIAS Labels</vt:lpstr>
      <vt:lpstr>Communication over ALIAS Labels</vt:lpstr>
      <vt:lpstr>Distributed Protocol Overview</vt:lpstr>
      <vt:lpstr>Step 1. Overlay Hierarchy</vt:lpstr>
      <vt:lpstr>Distributed Protocol Overview</vt:lpstr>
      <vt:lpstr>Step 2. Discover Hypernodes</vt:lpstr>
      <vt:lpstr>Step 2. Discover Hypernodes</vt:lpstr>
      <vt:lpstr>Distributed Protocol Overview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Step 3. Assign Coordinates</vt:lpstr>
      <vt:lpstr>Distributed Protocol Overview</vt:lpstr>
      <vt:lpstr>Step 4. Assign Labels</vt:lpstr>
      <vt:lpstr>Step 4. Assign Labels</vt:lpstr>
      <vt:lpstr>Relabeling</vt:lpstr>
      <vt:lpstr>Using ALIAS labels</vt:lpstr>
      <vt:lpstr>Evaluation Methodology</vt:lpstr>
      <vt:lpstr>Evaluation: Correctness</vt:lpstr>
      <vt:lpstr>Evaluation: Correctness</vt:lpstr>
      <vt:lpstr>Evaluation: Feasibility</vt:lpstr>
      <vt:lpstr>Evaluation: Feasibility</vt:lpstr>
      <vt:lpstr>Evaluation: Scalability</vt:lpstr>
      <vt:lpstr>Result: Small Forwarding State</vt:lpstr>
      <vt:lpstr>Conclusion</vt:lpstr>
      <vt:lpstr>Convergence of DCP</vt:lpstr>
      <vt:lpstr>Convergence vs. Coord. Domain</vt:lpstr>
      <vt:lpstr>Convergence vs. Coord. Domain</vt:lpstr>
      <vt:lpstr>Convergence vs. Coord. Domain</vt:lpstr>
      <vt:lpstr>Convergence vs. Coord. Domain</vt:lpstr>
    </vt:vector>
  </TitlesOfParts>
  <Manager/>
  <Company>UC San Diego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Center Switch Architecture</dc:title>
  <dc:subject/>
  <dc:creator>George Porter</dc:creator>
  <cp:keywords/>
  <dc:description/>
  <cp:lastModifiedBy>meg walraed-sullivan</cp:lastModifiedBy>
  <cp:revision>161</cp:revision>
  <cp:lastPrinted>2012-03-19T21:53:07Z</cp:lastPrinted>
  <dcterms:created xsi:type="dcterms:W3CDTF">2012-04-06T19:40:19Z</dcterms:created>
  <dcterms:modified xsi:type="dcterms:W3CDTF">2012-04-06T19:44:18Z</dcterms:modified>
  <cp:category/>
</cp:coreProperties>
</file>