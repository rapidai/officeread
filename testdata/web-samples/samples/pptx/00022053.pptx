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64"/>
  </p:notesMasterIdLst>
  <p:handoutMasterIdLst>
    <p:handoutMasterId r:id="rId65"/>
  </p:handoutMasterIdLst>
  <p:sldIdLst>
    <p:sldId id="257" r:id="rId2"/>
    <p:sldId id="381" r:id="rId3"/>
    <p:sldId id="333" r:id="rId4"/>
    <p:sldId id="334" r:id="rId5"/>
    <p:sldId id="335" r:id="rId6"/>
    <p:sldId id="361" r:id="rId7"/>
    <p:sldId id="337" r:id="rId8"/>
    <p:sldId id="338" r:id="rId9"/>
    <p:sldId id="339" r:id="rId10"/>
    <p:sldId id="340" r:id="rId11"/>
    <p:sldId id="343" r:id="rId12"/>
    <p:sldId id="341" r:id="rId13"/>
    <p:sldId id="368" r:id="rId14"/>
    <p:sldId id="342" r:id="rId15"/>
    <p:sldId id="370" r:id="rId16"/>
    <p:sldId id="369" r:id="rId17"/>
    <p:sldId id="371" r:id="rId18"/>
    <p:sldId id="372" r:id="rId19"/>
    <p:sldId id="373" r:id="rId20"/>
    <p:sldId id="346" r:id="rId21"/>
    <p:sldId id="444" r:id="rId22"/>
    <p:sldId id="382" r:id="rId23"/>
    <p:sldId id="411" r:id="rId24"/>
    <p:sldId id="383" r:id="rId25"/>
    <p:sldId id="384" r:id="rId26"/>
    <p:sldId id="385" r:id="rId27"/>
    <p:sldId id="387" r:id="rId28"/>
    <p:sldId id="388" r:id="rId29"/>
    <p:sldId id="389" r:id="rId30"/>
    <p:sldId id="390" r:id="rId31"/>
    <p:sldId id="433" r:id="rId32"/>
    <p:sldId id="434" r:id="rId33"/>
    <p:sldId id="391" r:id="rId34"/>
    <p:sldId id="438" r:id="rId35"/>
    <p:sldId id="436" r:id="rId36"/>
    <p:sldId id="393" r:id="rId37"/>
    <p:sldId id="435" r:id="rId38"/>
    <p:sldId id="408" r:id="rId39"/>
    <p:sldId id="394" r:id="rId40"/>
    <p:sldId id="432" r:id="rId41"/>
    <p:sldId id="395" r:id="rId42"/>
    <p:sldId id="396" r:id="rId43"/>
    <p:sldId id="397" r:id="rId44"/>
    <p:sldId id="412" r:id="rId45"/>
    <p:sldId id="398" r:id="rId46"/>
    <p:sldId id="399" r:id="rId47"/>
    <p:sldId id="400" r:id="rId48"/>
    <p:sldId id="402" r:id="rId49"/>
    <p:sldId id="416" r:id="rId50"/>
    <p:sldId id="418" r:id="rId51"/>
    <p:sldId id="417" r:id="rId52"/>
    <p:sldId id="428" r:id="rId53"/>
    <p:sldId id="430" r:id="rId54"/>
    <p:sldId id="404" r:id="rId55"/>
    <p:sldId id="406" r:id="rId56"/>
    <p:sldId id="439" r:id="rId57"/>
    <p:sldId id="441" r:id="rId58"/>
    <p:sldId id="440" r:id="rId59"/>
    <p:sldId id="443" r:id="rId60"/>
    <p:sldId id="410" r:id="rId61"/>
    <p:sldId id="437" r:id="rId62"/>
    <p:sldId id="409" r:id="rId6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3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9" autoAdjust="0"/>
    <p:restoredTop sz="83333" autoAdjust="0"/>
  </p:normalViewPr>
  <p:slideViewPr>
    <p:cSldViewPr>
      <p:cViewPr varScale="1">
        <p:scale>
          <a:sx n="137" d="100"/>
          <a:sy n="137" d="100"/>
        </p:scale>
        <p:origin x="-8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handoutMaster" Target="handoutMasters/handoutMaster1.xml"/><Relationship Id="rId66" Type="http://schemas.openxmlformats.org/officeDocument/2006/relationships/printerSettings" Target="printerSettings/printerSettings1.bin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70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tkung:Dropbox:To%20Transfer%20to%20Desktop:NSF%20Data:US%20graduation%20numbers%20by%20race%20gender%20field%20through%202009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tkung:Dropbox:To%20Transfer%20to%20Desktop:NSF%20Data:US%20graduation%20numbers%20by%20race%20gender%20field%20through%202009.xls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tkung:Dropbox:To%20Transfer%20to%20Desktop:NSF%20Data:US%20graduation%20numbers%20by%20race%20gender%20field%20through%202009.xls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dtkung:Dropbox:To%20Transfer%20to%20Desktop:NSF%20Data:US%20graduation%20numbers%20by%20race%20gender%20field%20through%202009.xls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5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Science Degrees as Proportion of All Undergraduate Degrees</a:t>
            </a:r>
          </a:p>
        </c:rich>
      </c:tx>
      <c:layout>
        <c:manualLayout>
          <c:xMode val="edge"/>
          <c:yMode val="edge"/>
          <c:x val="0.120071684587814"/>
          <c:y val="0.0346020761245675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29032314519767"/>
          <c:y val="0.173010672933798"/>
          <c:w val="0.517921373558509"/>
          <c:h val="0.567475007222858"/>
        </c:manualLayout>
      </c:layout>
      <c:lineChart>
        <c:grouping val="standard"/>
        <c:varyColors val="0"/>
        <c:ser>
          <c:idx val="0"/>
          <c:order val="0"/>
          <c:tx>
            <c:strRef>
              <c:f>'Percent of All Degrees'!$A$6</c:f>
              <c:strCache>
                <c:ptCount val="1"/>
                <c:pt idx="0">
                  <c:v>Biology</c:v>
                </c:pt>
              </c:strCache>
            </c:strRef>
          </c:tx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numRef>
              <c:f>'Percent of All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All Degrees'!$B$6:$V$6</c:f>
              <c:numCache>
                <c:formatCode>0.0%</c:formatCode>
                <c:ptCount val="21"/>
                <c:pt idx="0">
                  <c:v>0.038909571393837</c:v>
                </c:pt>
                <c:pt idx="1">
                  <c:v>0.0358668609386209</c:v>
                </c:pt>
                <c:pt idx="2">
                  <c:v>0.0358141168251972</c:v>
                </c:pt>
                <c:pt idx="3">
                  <c:v>0.0364179686407093</c:v>
                </c:pt>
                <c:pt idx="4">
                  <c:v>0.0381150049736016</c:v>
                </c:pt>
                <c:pt idx="5">
                  <c:v>0.0405985696332841</c:v>
                </c:pt>
                <c:pt idx="6">
                  <c:v>0.0441308347863864</c:v>
                </c:pt>
                <c:pt idx="7">
                  <c:v>0.0484402726074473</c:v>
                </c:pt>
                <c:pt idx="8">
                  <c:v>0.0526192665799299</c:v>
                </c:pt>
                <c:pt idx="9">
                  <c:v>0.0548960086432623</c:v>
                </c:pt>
                <c:pt idx="10">
                  <c:v>0.0559462944916508</c:v>
                </c:pt>
                <c:pt idx="11">
                  <c:v>0.0517938810378247</c:v>
                </c:pt>
                <c:pt idx="12">
                  <c:v>0.0492022584955424</c:v>
                </c:pt>
                <c:pt idx="13">
                  <c:v>0.0471171990190761</c:v>
                </c:pt>
                <c:pt idx="14">
                  <c:v>0.0465089544217079</c:v>
                </c:pt>
                <c:pt idx="15">
                  <c:v>0.0456815582667394</c:v>
                </c:pt>
                <c:pt idx="16">
                  <c:v>0.0466712121180911</c:v>
                </c:pt>
                <c:pt idx="17">
                  <c:v>0.0485534179418493</c:v>
                </c:pt>
                <c:pt idx="18">
                  <c:v>0.051467726619377</c:v>
                </c:pt>
                <c:pt idx="19">
                  <c:v>0.0521370046943425</c:v>
                </c:pt>
                <c:pt idx="20">
                  <c:v>0.0528551698920587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'Percent of All Degrees'!$A$7</c:f>
              <c:strCache>
                <c:ptCount val="1"/>
                <c:pt idx="0">
                  <c:v>Chemistry</c:v>
                </c:pt>
              </c:strCache>
            </c:strRef>
          </c:tx>
          <c:spPr>
            <a:ln w="12700">
              <a:solidFill>
                <a:srgbClr val="FF00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'Percent of All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All Degrees'!$B$7:$V$7</c:f>
              <c:numCache>
                <c:formatCode>General</c:formatCode>
                <c:ptCount val="21"/>
                <c:pt idx="7" formatCode="0.0%">
                  <c:v>0.00852834892663372</c:v>
                </c:pt>
                <c:pt idx="8" formatCode="0.0%">
                  <c:v>0.00908023715582527</c:v>
                </c:pt>
                <c:pt idx="9" formatCode="0.0%">
                  <c:v>0.00920790602306274</c:v>
                </c:pt>
                <c:pt idx="10" formatCode="0.0%">
                  <c:v>0.00906401329132971</c:v>
                </c:pt>
                <c:pt idx="11" formatCode="0.0%">
                  <c:v>0.00829129828643842</c:v>
                </c:pt>
                <c:pt idx="12" formatCode="0.0%">
                  <c:v>0.00778777886040555</c:v>
                </c:pt>
                <c:pt idx="13" formatCode="0.0%">
                  <c:v>0.00721101323941725</c:v>
                </c:pt>
                <c:pt idx="14" formatCode="0.0%">
                  <c:v>0.00683095920462417</c:v>
                </c:pt>
                <c:pt idx="15" formatCode="0.0%">
                  <c:v>0.00656121222981739</c:v>
                </c:pt>
                <c:pt idx="16" formatCode="0.0%">
                  <c:v>0.0068133707680783</c:v>
                </c:pt>
                <c:pt idx="17" formatCode="0.0%">
                  <c:v>0.0072438889044142</c:v>
                </c:pt>
                <c:pt idx="18" formatCode="0.0%">
                  <c:v>0.00729712058864736</c:v>
                </c:pt>
                <c:pt idx="19" formatCode="0.0%">
                  <c:v>0.0074866506413197</c:v>
                </c:pt>
                <c:pt idx="20" formatCode="0.0%">
                  <c:v>0.00750079677436091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'Percent of All Degrees'!$A$8</c:f>
              <c:strCache>
                <c:ptCount val="1"/>
                <c:pt idx="0">
                  <c:v>Comp. Sci.</c:v>
                </c:pt>
              </c:strCache>
            </c:strRef>
          </c:tx>
          <c:spPr>
            <a:ln w="12700">
              <a:solidFill>
                <a:srgbClr val="FFFF00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FFFF00"/>
              </a:solidFill>
              <a:ln>
                <a:solidFill>
                  <a:srgbClr val="FFFF00"/>
                </a:solidFill>
                <a:prstDash val="solid"/>
              </a:ln>
            </c:spPr>
          </c:marker>
          <c:cat>
            <c:numRef>
              <c:f>'Percent of All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All Degrees'!$B$8:$V$8</c:f>
              <c:numCache>
                <c:formatCode>0.0%</c:formatCode>
                <c:ptCount val="21"/>
                <c:pt idx="0">
                  <c:v>0.0397864741732202</c:v>
                </c:pt>
                <c:pt idx="1">
                  <c:v>0.0300561751398554</c:v>
                </c:pt>
                <c:pt idx="2">
                  <c:v>0.0260744470418989</c:v>
                </c:pt>
                <c:pt idx="3">
                  <c:v>0.022933275090095</c:v>
                </c:pt>
                <c:pt idx="4">
                  <c:v>0.0216108208877357</c:v>
                </c:pt>
                <c:pt idx="5">
                  <c:v>0.0207559201477514</c:v>
                </c:pt>
                <c:pt idx="6">
                  <c:v>0.0206720923372616</c:v>
                </c:pt>
                <c:pt idx="7">
                  <c:v>0.0210901232591644</c:v>
                </c:pt>
                <c:pt idx="8">
                  <c:v>0.0208041091188025</c:v>
                </c:pt>
                <c:pt idx="9">
                  <c:v>0.0213999961233418</c:v>
                </c:pt>
                <c:pt idx="10">
                  <c:v>0.0230697603075746</c:v>
                </c:pt>
                <c:pt idx="11">
                  <c:v>0.0298359057106217</c:v>
                </c:pt>
                <c:pt idx="12">
                  <c:v>0.0345923377460113</c:v>
                </c:pt>
                <c:pt idx="13">
                  <c:v>0.0379733683736067</c:v>
                </c:pt>
                <c:pt idx="14">
                  <c:v>0.0424150651610097</c:v>
                </c:pt>
                <c:pt idx="15">
                  <c:v>0.0423078252685687</c:v>
                </c:pt>
                <c:pt idx="16">
                  <c:v>0.0374814354013764</c:v>
                </c:pt>
                <c:pt idx="17">
                  <c:v>0.0319377851944412</c:v>
                </c:pt>
                <c:pt idx="18">
                  <c:v>0.0276291687639132</c:v>
                </c:pt>
                <c:pt idx="19">
                  <c:v>0.0246277397110755</c:v>
                </c:pt>
                <c:pt idx="20">
                  <c:v>0.0237772293005433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'Percent of All Degrees'!$A$9</c:f>
              <c:strCache>
                <c:ptCount val="1"/>
                <c:pt idx="0">
                  <c:v>Math</c:v>
                </c:pt>
              </c:strCache>
            </c:strRef>
          </c:tx>
          <c:spPr>
            <a:ln w="50800">
              <a:solidFill>
                <a:schemeClr val="tx1"/>
              </a:solidFill>
              <a:prstDash val="solid"/>
            </a:ln>
          </c:spPr>
          <c:marker>
            <c:symbol val="circle"/>
            <c:size val="5"/>
            <c:spPr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c:spPr>
          </c:marker>
          <c:cat>
            <c:numRef>
              <c:f>'Percent of All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All Degrees'!$B$9:$V$9</c:f>
              <c:numCache>
                <c:formatCode>0.0%</c:formatCode>
                <c:ptCount val="21"/>
                <c:pt idx="0">
                  <c:v>0.0164568743199021</c:v>
                </c:pt>
                <c:pt idx="1">
                  <c:v>0.0148654932045262</c:v>
                </c:pt>
                <c:pt idx="2">
                  <c:v>0.0138153614693203</c:v>
                </c:pt>
                <c:pt idx="3">
                  <c:v>0.0133429964160553</c:v>
                </c:pt>
                <c:pt idx="4">
                  <c:v>0.0129131045708443</c:v>
                </c:pt>
                <c:pt idx="5">
                  <c:v>0.0126094101645244</c:v>
                </c:pt>
                <c:pt idx="6">
                  <c:v>0.0121971937410672</c:v>
                </c:pt>
                <c:pt idx="7">
                  <c:v>0.0117937461045131</c:v>
                </c:pt>
                <c:pt idx="8">
                  <c:v>0.011083093535851</c:v>
                </c:pt>
                <c:pt idx="9">
                  <c:v>0.0107223309840223</c:v>
                </c:pt>
                <c:pt idx="10">
                  <c:v>0.0100818703895283</c:v>
                </c:pt>
                <c:pt idx="11">
                  <c:v>0.00936461842072713</c:v>
                </c:pt>
                <c:pt idx="12">
                  <c:v>0.00907476585088724</c:v>
                </c:pt>
                <c:pt idx="13">
                  <c:v>0.00936155908844358</c:v>
                </c:pt>
                <c:pt idx="14">
                  <c:v>0.00941865454486876</c:v>
                </c:pt>
                <c:pt idx="15">
                  <c:v>0.00969013440607977</c:v>
                </c:pt>
                <c:pt idx="16">
                  <c:v>0.0101730224024839</c:v>
                </c:pt>
                <c:pt idx="17">
                  <c:v>0.010186822735977</c:v>
                </c:pt>
                <c:pt idx="18">
                  <c:v>0.0100868908688049</c:v>
                </c:pt>
                <c:pt idx="19">
                  <c:v>0.0100233293449244</c:v>
                </c:pt>
                <c:pt idx="20">
                  <c:v>0.010010944838508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'Percent of All Degrees'!$A$10</c:f>
              <c:strCache>
                <c:ptCount val="1"/>
                <c:pt idx="0">
                  <c:v>Physics</c:v>
                </c:pt>
              </c:strCache>
            </c:strRef>
          </c:tx>
          <c:spPr>
            <a:ln w="12700">
              <a:solidFill>
                <a:srgbClr val="800080"/>
              </a:solidFill>
              <a:prstDash val="solid"/>
            </a:ln>
          </c:spPr>
          <c:marker>
            <c:symbol val="star"/>
            <c:size val="5"/>
            <c:spPr>
              <a:noFill/>
              <a:ln>
                <a:solidFill>
                  <a:srgbClr val="800080"/>
                </a:solidFill>
                <a:prstDash val="solid"/>
              </a:ln>
            </c:spPr>
          </c:marker>
          <c:cat>
            <c:numRef>
              <c:f>'Percent of All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All Degrees'!$B$10:$V$10</c:f>
              <c:numCache>
                <c:formatCode>General</c:formatCode>
                <c:ptCount val="21"/>
                <c:pt idx="7" formatCode="0.0%">
                  <c:v>0.00326624865041603</c:v>
                </c:pt>
                <c:pt idx="8" formatCode="0.0%">
                  <c:v>0.0031386276662019</c:v>
                </c:pt>
                <c:pt idx="9" formatCode="0.0%">
                  <c:v>0.00285945681276331</c:v>
                </c:pt>
                <c:pt idx="10" formatCode="0.0%">
                  <c:v>0.00288017712880936</c:v>
                </c:pt>
                <c:pt idx="11" formatCode="0.0%">
                  <c:v>0.00268290133195438</c:v>
                </c:pt>
                <c:pt idx="12" formatCode="0.0%">
                  <c:v>0.00273504571898298</c:v>
                </c:pt>
                <c:pt idx="13" formatCode="0.0%">
                  <c:v>0.00278157635392713</c:v>
                </c:pt>
                <c:pt idx="14" formatCode="0.0%">
                  <c:v>0.00286520992257416</c:v>
                </c:pt>
                <c:pt idx="15" formatCode="0.0%">
                  <c:v>0.00292079770230581</c:v>
                </c:pt>
                <c:pt idx="16" formatCode="0.0%">
                  <c:v>0.00288313452133032</c:v>
                </c:pt>
                <c:pt idx="17" formatCode="0.0%">
                  <c:v>0.00303808181662122</c:v>
                </c:pt>
                <c:pt idx="18" formatCode="0.0%">
                  <c:v>0.00315884242370779</c:v>
                </c:pt>
                <c:pt idx="19" formatCode="0.0%">
                  <c:v>0.00308526948335656</c:v>
                </c:pt>
                <c:pt idx="20" formatCode="0.0%">
                  <c:v>0.00299068329886821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'Percent of All Degrees'!$A$11</c:f>
              <c:strCache>
                <c:ptCount val="1"/>
                <c:pt idx="0">
                  <c:v>Engineering</c:v>
                </c:pt>
              </c:strCache>
            </c:strRef>
          </c:tx>
          <c:spPr>
            <a:ln w="12700">
              <a:solidFill>
                <a:srgbClr val="80000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800000"/>
              </a:solidFill>
              <a:ln>
                <a:solidFill>
                  <a:srgbClr val="800000"/>
                </a:solidFill>
                <a:prstDash val="solid"/>
              </a:ln>
            </c:spPr>
          </c:marker>
          <c:cat>
            <c:numRef>
              <c:f>'Percent of All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All Degrees'!$B$11:$V$11</c:f>
              <c:numCache>
                <c:formatCode>0.0%</c:formatCode>
                <c:ptCount val="21"/>
                <c:pt idx="0">
                  <c:v>0.0741610631250423</c:v>
                </c:pt>
                <c:pt idx="1">
                  <c:v>0.0649862983912379</c:v>
                </c:pt>
                <c:pt idx="2">
                  <c:v>0.0609169506030687</c:v>
                </c:pt>
                <c:pt idx="3">
                  <c:v>0.0561247006986481</c:v>
                </c:pt>
                <c:pt idx="4">
                  <c:v>0.0538209781648453</c:v>
                </c:pt>
                <c:pt idx="5">
                  <c:v>0.0531426856093304</c:v>
                </c:pt>
                <c:pt idx="6">
                  <c:v>0.0532159734131435</c:v>
                </c:pt>
                <c:pt idx="7">
                  <c:v>0.053958666117183</c:v>
                </c:pt>
                <c:pt idx="8">
                  <c:v>0.0534948275789001</c:v>
                </c:pt>
                <c:pt idx="9">
                  <c:v>0.0525472594133268</c:v>
                </c:pt>
                <c:pt idx="10">
                  <c:v>0.050779481801532</c:v>
                </c:pt>
                <c:pt idx="11">
                  <c:v>0.0475101765910874</c:v>
                </c:pt>
                <c:pt idx="12">
                  <c:v>0.0469837531777946</c:v>
                </c:pt>
                <c:pt idx="13">
                  <c:v>0.0462997624086113</c:v>
                </c:pt>
                <c:pt idx="14">
                  <c:v>0.0467081205599497</c:v>
                </c:pt>
                <c:pt idx="15">
                  <c:v>0.0456321727983429</c:v>
                </c:pt>
                <c:pt idx="16">
                  <c:v>0.0454215562884123</c:v>
                </c:pt>
                <c:pt idx="17">
                  <c:v>0.0453962348012738</c:v>
                </c:pt>
                <c:pt idx="18">
                  <c:v>0.0442847654283831</c:v>
                </c:pt>
                <c:pt idx="19">
                  <c:v>0.044234007186729</c:v>
                </c:pt>
                <c:pt idx="20">
                  <c:v>0.0436064107600363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5817768"/>
        <c:axId val="565826136"/>
      </c:lineChart>
      <c:catAx>
        <c:axId val="5658177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Year </a:t>
                </a:r>
              </a:p>
            </c:rich>
          </c:tx>
          <c:layout>
            <c:manualLayout>
              <c:xMode val="edge"/>
              <c:yMode val="edge"/>
              <c:x val="0.360215194874834"/>
              <c:y val="0.885814511075389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5826136"/>
        <c:crossesAt val="0.0"/>
        <c:auto val="1"/>
        <c:lblAlgn val="ctr"/>
        <c:lblOffset val="100"/>
        <c:tickLblSkip val="2"/>
        <c:tickMarkSkip val="1"/>
        <c:noMultiLvlLbl val="0"/>
      </c:catAx>
      <c:valAx>
        <c:axId val="565826136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Percent of All Degrees</a:t>
                </a:r>
              </a:p>
            </c:rich>
          </c:tx>
          <c:layout>
            <c:manualLayout>
              <c:xMode val="edge"/>
              <c:yMode val="edge"/>
              <c:x val="0.0232974910394265"/>
              <c:y val="0.228373974879438"/>
            </c:manualLayout>
          </c:layout>
          <c:overlay val="0"/>
          <c:spPr>
            <a:noFill/>
            <a:ln w="25400">
              <a:noFill/>
            </a:ln>
          </c:spPr>
        </c:title>
        <c:numFmt formatCode="0.0%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5817768"/>
        <c:crosses val="autoZero"/>
        <c:crossBetween val="between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677419637061496"/>
          <c:y val="0.166090237855216"/>
          <c:w val="0.195340642903508"/>
          <c:h val="0.442907391766341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920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tx1"/>
    </a:solidFill>
    <a:ln w="3175">
      <a:solidFill>
        <a:srgbClr val="000000"/>
      </a:solidFill>
      <a:prstDash val="solid"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55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Gender of Undergraduate Majors - by Field</a:t>
            </a:r>
          </a:p>
        </c:rich>
      </c:tx>
      <c:layout>
        <c:manualLayout>
          <c:xMode val="edge"/>
          <c:yMode val="edge"/>
          <c:x val="0.232053553823301"/>
          <c:y val="0.0324675324675325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30217107991535"/>
          <c:y val="0.188311464410007"/>
          <c:w val="0.652754990060128"/>
          <c:h val="0.584414889548297"/>
        </c:manualLayout>
      </c:layout>
      <c:lineChart>
        <c:grouping val="standard"/>
        <c:varyColors val="0"/>
        <c:ser>
          <c:idx val="0"/>
          <c:order val="0"/>
          <c:tx>
            <c:strRef>
              <c:f>'Percent of Science Degrees'!$A$13</c:f>
              <c:strCache>
                <c:ptCount val="1"/>
                <c:pt idx="0">
                  <c:v>All Fields</c:v>
                </c:pt>
              </c:strCache>
            </c:strRef>
          </c:tx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Degrees'!$B$13:$V$13</c:f>
              <c:numCache>
                <c:formatCode>0.0%</c:formatCode>
                <c:ptCount val="21"/>
                <c:pt idx="0">
                  <c:v>0.516704001466819</c:v>
                </c:pt>
                <c:pt idx="1">
                  <c:v>0.52671352620099</c:v>
                </c:pt>
                <c:pt idx="2">
                  <c:v>0.533148300006308</c:v>
                </c:pt>
                <c:pt idx="3">
                  <c:v>0.540655795999448</c:v>
                </c:pt>
                <c:pt idx="4">
                  <c:v>0.543163384553315</c:v>
                </c:pt>
                <c:pt idx="5">
                  <c:v>0.544182118211312</c:v>
                </c:pt>
                <c:pt idx="6">
                  <c:v>0.546071854495787</c:v>
                </c:pt>
                <c:pt idx="7">
                  <c:v>0.547743768072505</c:v>
                </c:pt>
                <c:pt idx="8">
                  <c:v>0.552472209626085</c:v>
                </c:pt>
                <c:pt idx="9">
                  <c:v>0.55731765590276</c:v>
                </c:pt>
                <c:pt idx="10">
                  <c:v>0.561751247729412</c:v>
                </c:pt>
                <c:pt idx="11">
                  <c:v>0.572141876163595</c:v>
                </c:pt>
                <c:pt idx="12">
                  <c:v>0.57257829038616</c:v>
                </c:pt>
                <c:pt idx="13">
                  <c:v>0.574324086877468</c:v>
                </c:pt>
                <c:pt idx="14">
                  <c:v>0.573968985731796</c:v>
                </c:pt>
                <c:pt idx="15">
                  <c:v>0.57203681898321</c:v>
                </c:pt>
                <c:pt idx="16">
                  <c:v>0.569168793484761</c:v>
                </c:pt>
                <c:pt idx="17">
                  <c:v>0.566778581988952</c:v>
                </c:pt>
                <c:pt idx="18">
                  <c:v>0.574890510759523</c:v>
                </c:pt>
                <c:pt idx="19">
                  <c:v>0.573663339899128</c:v>
                </c:pt>
                <c:pt idx="20">
                  <c:v>0.572936354405236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'Percent of Science Degrees'!$A$14</c:f>
              <c:strCache>
                <c:ptCount val="1"/>
                <c:pt idx="0">
                  <c:v>Science &amp; Eng.</c:v>
                </c:pt>
              </c:strCache>
            </c:strRef>
          </c:tx>
          <c:spPr>
            <a:ln w="12700">
              <a:solidFill>
                <a:srgbClr val="FF00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Degrees'!$B$14:$V$14</c:f>
              <c:numCache>
                <c:formatCode>0.0%</c:formatCode>
                <c:ptCount val="21"/>
                <c:pt idx="0">
                  <c:v>0.395298335616638</c:v>
                </c:pt>
                <c:pt idx="1">
                  <c:v>0.411055889944907</c:v>
                </c:pt>
                <c:pt idx="2">
                  <c:v>0.421862212364044</c:v>
                </c:pt>
                <c:pt idx="3">
                  <c:v>0.435236907381196</c:v>
                </c:pt>
                <c:pt idx="4">
                  <c:v>0.444808493817204</c:v>
                </c:pt>
                <c:pt idx="5">
                  <c:v>0.448072393064477</c:v>
                </c:pt>
                <c:pt idx="6">
                  <c:v>0.45244574839395</c:v>
                </c:pt>
                <c:pt idx="7">
                  <c:v>0.465243766990702</c:v>
                </c:pt>
                <c:pt idx="8">
                  <c:v>0.471393959560563</c:v>
                </c:pt>
                <c:pt idx="9">
                  <c:v>0.481389099108839</c:v>
                </c:pt>
                <c:pt idx="10">
                  <c:v>0.487425054656979</c:v>
                </c:pt>
                <c:pt idx="11">
                  <c:v>0.504119190611657</c:v>
                </c:pt>
                <c:pt idx="12">
                  <c:v>0.505907325783211</c:v>
                </c:pt>
                <c:pt idx="13">
                  <c:v>0.507720267414774</c:v>
                </c:pt>
                <c:pt idx="14">
                  <c:v>0.502284559180585</c:v>
                </c:pt>
                <c:pt idx="15">
                  <c:v>0.501329966990655</c:v>
                </c:pt>
                <c:pt idx="16">
                  <c:v>0.50019140221261</c:v>
                </c:pt>
                <c:pt idx="17">
                  <c:v>0.499674224926805</c:v>
                </c:pt>
                <c:pt idx="18">
                  <c:v>0.502447650338019</c:v>
                </c:pt>
                <c:pt idx="19">
                  <c:v>0.502751084310153</c:v>
                </c:pt>
                <c:pt idx="20">
                  <c:v>0.503908514447951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'Percent of Science Degrees'!$A$15</c:f>
              <c:strCache>
                <c:ptCount val="1"/>
                <c:pt idx="0">
                  <c:v>Biology</c:v>
                </c:pt>
              </c:strCache>
            </c:strRef>
          </c:tx>
          <c:spPr>
            <a:ln w="12700">
              <a:solidFill>
                <a:srgbClr val="FFFF00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FFFF00"/>
              </a:solidFill>
              <a:ln>
                <a:solidFill>
                  <a:srgbClr val="FFFF0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Degrees'!$B$15:$V$15</c:f>
              <c:numCache>
                <c:formatCode>0.0%</c:formatCode>
                <c:ptCount val="21"/>
                <c:pt idx="0">
                  <c:v>0.486797961431096</c:v>
                </c:pt>
                <c:pt idx="1">
                  <c:v>0.504858047579095</c:v>
                </c:pt>
                <c:pt idx="2">
                  <c:v>0.510226077812829</c:v>
                </c:pt>
                <c:pt idx="3">
                  <c:v>0.511412356571089</c:v>
                </c:pt>
                <c:pt idx="4">
                  <c:v>0.51848979126269</c:v>
                </c:pt>
                <c:pt idx="5">
                  <c:v>0.517283873258558</c:v>
                </c:pt>
                <c:pt idx="6">
                  <c:v>0.515178212322602</c:v>
                </c:pt>
                <c:pt idx="7">
                  <c:v>0.525892072420461</c:v>
                </c:pt>
                <c:pt idx="8">
                  <c:v>0.52938902401701</c:v>
                </c:pt>
                <c:pt idx="9">
                  <c:v>0.541396091435238</c:v>
                </c:pt>
                <c:pt idx="10">
                  <c:v>0.552822148051019</c:v>
                </c:pt>
                <c:pt idx="11">
                  <c:v>0.584832984099593</c:v>
                </c:pt>
                <c:pt idx="12">
                  <c:v>0.598032575391066</c:v>
                </c:pt>
                <c:pt idx="13">
                  <c:v>0.6111876773409</c:v>
                </c:pt>
                <c:pt idx="14">
                  <c:v>0.622400302281279</c:v>
                </c:pt>
                <c:pt idx="15">
                  <c:v>0.624555984555985</c:v>
                </c:pt>
                <c:pt idx="16">
                  <c:v>0.62206496792797</c:v>
                </c:pt>
                <c:pt idx="17">
                  <c:v>0.61711341336403</c:v>
                </c:pt>
                <c:pt idx="18">
                  <c:v>0.604942783687049</c:v>
                </c:pt>
                <c:pt idx="19">
                  <c:v>0.597854316852351</c:v>
                </c:pt>
                <c:pt idx="20">
                  <c:v>0.597108934956879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'Percent of Science Degrees'!$A$16</c:f>
              <c:strCache>
                <c:ptCount val="1"/>
                <c:pt idx="0">
                  <c:v>Chemistry</c:v>
                </c:pt>
              </c:strCache>
            </c:strRef>
          </c:tx>
          <c:spPr>
            <a:ln w="12700">
              <a:solidFill>
                <a:srgbClr val="00FFFF"/>
              </a:solidFill>
              <a:prstDash val="solid"/>
            </a:ln>
          </c:spPr>
          <c:marker>
            <c:symbol val="x"/>
            <c:size val="5"/>
            <c:spPr>
              <a:noFill/>
              <a:ln>
                <a:solidFill>
                  <a:srgbClr val="00FFFF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Degrees'!$B$16:$V$16</c:f>
              <c:numCache>
                <c:formatCode>General</c:formatCode>
                <c:ptCount val="21"/>
                <c:pt idx="7" formatCode="0.0%">
                  <c:v>0.422623801916933</c:v>
                </c:pt>
                <c:pt idx="8" formatCode="0.0%">
                  <c:v>0.43143843927938</c:v>
                </c:pt>
                <c:pt idx="9" formatCode="0.0%">
                  <c:v>0.44691561413143</c:v>
                </c:pt>
                <c:pt idx="10" formatCode="0.0%">
                  <c:v>0.457371470615286</c:v>
                </c:pt>
                <c:pt idx="11" formatCode="0.0%">
                  <c:v>0.47228103946102</c:v>
                </c:pt>
                <c:pt idx="12" formatCode="0.0%">
                  <c:v>0.486500254712175</c:v>
                </c:pt>
                <c:pt idx="13" formatCode="0.0%">
                  <c:v>0.501006462548999</c:v>
                </c:pt>
                <c:pt idx="14" formatCode="0.0%">
                  <c:v>0.501875870940079</c:v>
                </c:pt>
                <c:pt idx="15" formatCode="0.0%">
                  <c:v>0.511290322580645</c:v>
                </c:pt>
                <c:pt idx="16" formatCode="0.0%">
                  <c:v>0.518593167388894</c:v>
                </c:pt>
                <c:pt idx="17" formatCode="0.0%">
                  <c:v>0.517773491319923</c:v>
                </c:pt>
                <c:pt idx="18" formatCode="0.0%">
                  <c:v>0.499022222222222</c:v>
                </c:pt>
                <c:pt idx="19" formatCode="0.0%">
                  <c:v>0.499408384043272</c:v>
                </c:pt>
                <c:pt idx="20" formatCode="0.0%">
                  <c:v>0.613554018445323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'Percent of Science Degrees'!$A$17</c:f>
              <c:strCache>
                <c:ptCount val="1"/>
                <c:pt idx="0">
                  <c:v>Comp. Sci.</c:v>
                </c:pt>
              </c:strCache>
            </c:strRef>
          </c:tx>
          <c:spPr>
            <a:ln w="12700">
              <a:solidFill>
                <a:srgbClr val="800080"/>
              </a:solidFill>
              <a:prstDash val="solid"/>
            </a:ln>
          </c:spPr>
          <c:marker>
            <c:symbol val="star"/>
            <c:size val="5"/>
            <c:spPr>
              <a:noFill/>
              <a:ln>
                <a:solidFill>
                  <a:srgbClr val="80008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Degrees'!$B$17:$V$17</c:f>
              <c:numCache>
                <c:formatCode>0.0%</c:formatCode>
                <c:ptCount val="21"/>
                <c:pt idx="0">
                  <c:v>0.347859844215694</c:v>
                </c:pt>
                <c:pt idx="1">
                  <c:v>0.308271162355069</c:v>
                </c:pt>
                <c:pt idx="2">
                  <c:v>0.302365047842571</c:v>
                </c:pt>
                <c:pt idx="3">
                  <c:v>0.295710350255805</c:v>
                </c:pt>
                <c:pt idx="4">
                  <c:v>0.289048040556852</c:v>
                </c:pt>
                <c:pt idx="5">
                  <c:v>0.282387547493565</c:v>
                </c:pt>
                <c:pt idx="6">
                  <c:v>0.285877831384414</c:v>
                </c:pt>
                <c:pt idx="7">
                  <c:v>0.285154830635068</c:v>
                </c:pt>
                <c:pt idx="8">
                  <c:v>0.275901405581585</c:v>
                </c:pt>
                <c:pt idx="9">
                  <c:v>0.271846571889891</c:v>
                </c:pt>
                <c:pt idx="10">
                  <c:v>0.268808267688083</c:v>
                </c:pt>
                <c:pt idx="11">
                  <c:v>0.280143361506366</c:v>
                </c:pt>
                <c:pt idx="12">
                  <c:v>0.272954561093653</c:v>
                </c:pt>
                <c:pt idx="13">
                  <c:v>0.271677463485294</c:v>
                </c:pt>
                <c:pt idx="14">
                  <c:v>0.262231122466595</c:v>
                </c:pt>
                <c:pt idx="15">
                  <c:v>0.240228121664888</c:v>
                </c:pt>
                <c:pt idx="16">
                  <c:v>0.20581446471752</c:v>
                </c:pt>
                <c:pt idx="17">
                  <c:v>0.184416666666667</c:v>
                </c:pt>
                <c:pt idx="18">
                  <c:v>0.186496384637055</c:v>
                </c:pt>
                <c:pt idx="19">
                  <c:v>0.176866553620061</c:v>
                </c:pt>
                <c:pt idx="20">
                  <c:v>0.179083541147132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'Percent of Science Degrees'!$A$18</c:f>
              <c:strCache>
                <c:ptCount val="1"/>
                <c:pt idx="0">
                  <c:v>Math</c:v>
                </c:pt>
              </c:strCache>
            </c:strRef>
          </c:tx>
          <c:spPr>
            <a:ln w="50800">
              <a:solidFill>
                <a:schemeClr val="tx1"/>
              </a:solidFill>
              <a:prstDash val="solid"/>
            </a:ln>
          </c:spPr>
          <c:marker>
            <c:symbol val="circle"/>
            <c:size val="5"/>
            <c:spPr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Degrees'!$B$18:$V$18</c:f>
              <c:numCache>
                <c:formatCode>0.0%</c:formatCode>
                <c:ptCount val="21"/>
                <c:pt idx="0">
                  <c:v>0.465152891310929</c:v>
                </c:pt>
                <c:pt idx="1">
                  <c:v>0.460363066475121</c:v>
                </c:pt>
                <c:pt idx="2">
                  <c:v>0.464154286493117</c:v>
                </c:pt>
                <c:pt idx="3">
                  <c:v>0.472132034632035</c:v>
                </c:pt>
                <c:pt idx="4">
                  <c:v>0.46650057235203</c:v>
                </c:pt>
                <c:pt idx="5">
                  <c:v>0.471486213853396</c:v>
                </c:pt>
                <c:pt idx="6">
                  <c:v>0.462684498648742</c:v>
                </c:pt>
                <c:pt idx="7">
                  <c:v>0.468630423796116</c:v>
                </c:pt>
                <c:pt idx="8">
                  <c:v>0.458244111349036</c:v>
                </c:pt>
                <c:pt idx="9">
                  <c:v>0.462862532421599</c:v>
                </c:pt>
                <c:pt idx="10">
                  <c:v>0.467917975855796</c:v>
                </c:pt>
                <c:pt idx="11">
                  <c:v>0.477545803152961</c:v>
                </c:pt>
                <c:pt idx="12">
                  <c:v>0.480633033138061</c:v>
                </c:pt>
                <c:pt idx="13">
                  <c:v>0.470213807736249</c:v>
                </c:pt>
                <c:pt idx="14">
                  <c:v>0.457047345098344</c:v>
                </c:pt>
                <c:pt idx="15">
                  <c:v>0.459992719330178</c:v>
                </c:pt>
                <c:pt idx="16">
                  <c:v>0.447151727861771</c:v>
                </c:pt>
                <c:pt idx="17">
                  <c:v>0.449248856956238</c:v>
                </c:pt>
                <c:pt idx="18">
                  <c:v>0.439007137804643</c:v>
                </c:pt>
                <c:pt idx="19">
                  <c:v>0.439176819645224</c:v>
                </c:pt>
                <c:pt idx="20">
                  <c:v>0.430096248766041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'Percent of Science Degrees'!$A$19</c:f>
              <c:strCache>
                <c:ptCount val="1"/>
                <c:pt idx="0">
                  <c:v>Physics</c:v>
                </c:pt>
              </c:strCache>
            </c:strRef>
          </c:tx>
          <c:spPr>
            <a:ln w="12700">
              <a:solidFill>
                <a:srgbClr val="008080"/>
              </a:solidFill>
              <a:prstDash val="solid"/>
            </a:ln>
          </c:spPr>
          <c:marker>
            <c:symbol val="plus"/>
            <c:size val="5"/>
            <c:spPr>
              <a:noFill/>
              <a:ln>
                <a:solidFill>
                  <a:srgbClr val="00808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Degrees'!$B$19:$V$19</c:f>
              <c:numCache>
                <c:formatCode>General</c:formatCode>
                <c:ptCount val="21"/>
                <c:pt idx="7" formatCode="0.0%">
                  <c:v>0.175964546402503</c:v>
                </c:pt>
                <c:pt idx="8" formatCode="0.0%">
                  <c:v>0.184715095868215</c:v>
                </c:pt>
                <c:pt idx="9" formatCode="0.0%">
                  <c:v>0.192160330091365</c:v>
                </c:pt>
                <c:pt idx="10" formatCode="0.0%">
                  <c:v>0.192764109985528</c:v>
                </c:pt>
                <c:pt idx="11" formatCode="0.0%">
                  <c:v>0.215348007138608</c:v>
                </c:pt>
                <c:pt idx="12" formatCode="0.0%">
                  <c:v>0.219321148825065</c:v>
                </c:pt>
                <c:pt idx="13" formatCode="0.0%">
                  <c:v>0.226860752540511</c:v>
                </c:pt>
                <c:pt idx="14" formatCode="0.0%">
                  <c:v>0.214669051878354</c:v>
                </c:pt>
                <c:pt idx="15" formatCode="0.0%">
                  <c:v>0.219323671497585</c:v>
                </c:pt>
                <c:pt idx="16" formatCode="0.0%">
                  <c:v>0.215051202667302</c:v>
                </c:pt>
                <c:pt idx="17" formatCode="0.0%">
                  <c:v>0.2071835304424</c:v>
                </c:pt>
                <c:pt idx="18" formatCode="0.0%">
                  <c:v>0.210266940451745</c:v>
                </c:pt>
                <c:pt idx="19" formatCode="0.0%">
                  <c:v>0.202625102543068</c:v>
                </c:pt>
                <c:pt idx="20" formatCode="0.0%">
                  <c:v>0.191036761668732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'Percent of Science Degrees'!$A$20</c:f>
              <c:strCache>
                <c:ptCount val="1"/>
                <c:pt idx="0">
                  <c:v>Engineering</c:v>
                </c:pt>
              </c:strCache>
            </c:strRef>
          </c:tx>
          <c:spPr>
            <a:ln w="12700">
              <a:solidFill>
                <a:srgbClr val="0000FF"/>
              </a:solidFill>
              <a:prstDash val="solid"/>
            </a:ln>
          </c:spPr>
          <c:marker>
            <c:symbol val="dot"/>
            <c:size val="5"/>
            <c:spPr>
              <a:noFill/>
              <a:ln>
                <a:solidFill>
                  <a:srgbClr val="0000FF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Degrees'!$B$20:$V$20</c:f>
              <c:numCache>
                <c:formatCode>0.0%</c:formatCode>
                <c:ptCount val="21"/>
                <c:pt idx="0">
                  <c:v>0.153218763016809</c:v>
                </c:pt>
                <c:pt idx="1">
                  <c:v>0.152180082752028</c:v>
                </c:pt>
                <c:pt idx="2">
                  <c:v>0.154135047833949</c:v>
                </c:pt>
                <c:pt idx="3">
                  <c:v>0.155404753481491</c:v>
                </c:pt>
                <c:pt idx="4">
                  <c:v>0.155546221202624</c:v>
                </c:pt>
                <c:pt idx="5">
                  <c:v>0.159151108983565</c:v>
                </c:pt>
                <c:pt idx="6">
                  <c:v>0.165067818684286</c:v>
                </c:pt>
                <c:pt idx="7">
                  <c:v>0.172791971090878</c:v>
                </c:pt>
                <c:pt idx="8">
                  <c:v>0.179294609753779</c:v>
                </c:pt>
                <c:pt idx="9">
                  <c:v>0.183955606877085</c:v>
                </c:pt>
                <c:pt idx="10">
                  <c:v>0.186147683619529</c:v>
                </c:pt>
                <c:pt idx="11">
                  <c:v>0.205186777747917</c:v>
                </c:pt>
                <c:pt idx="12">
                  <c:v>0.201202418347013</c:v>
                </c:pt>
                <c:pt idx="13">
                  <c:v>0.20933916343536</c:v>
                </c:pt>
                <c:pt idx="14">
                  <c:v>0.203326592359184</c:v>
                </c:pt>
                <c:pt idx="15">
                  <c:v>0.204962894248609</c:v>
                </c:pt>
                <c:pt idx="16">
                  <c:v>0.199495102188898</c:v>
                </c:pt>
                <c:pt idx="17">
                  <c:v>0.194937488091225</c:v>
                </c:pt>
                <c:pt idx="18">
                  <c:v>0.185326771538214</c:v>
                </c:pt>
                <c:pt idx="19">
                  <c:v>0.184828631916233</c:v>
                </c:pt>
                <c:pt idx="20">
                  <c:v>0.180594900849858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594776"/>
        <c:axId val="566602824"/>
      </c:lineChart>
      <c:catAx>
        <c:axId val="5665947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Year</a:t>
                </a:r>
              </a:p>
            </c:rich>
          </c:tx>
          <c:layout>
            <c:manualLayout>
              <c:xMode val="edge"/>
              <c:yMode val="edge"/>
              <c:x val="0.430718126010542"/>
              <c:y val="0.89285612025769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540000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660282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566602824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Percentage of Women</a:t>
                </a:r>
              </a:p>
            </c:rich>
          </c:tx>
          <c:layout>
            <c:manualLayout>
              <c:xMode val="edge"/>
              <c:yMode val="edge"/>
              <c:x val="0.0217028380634391"/>
              <c:y val="0.269480263830658"/>
            </c:manualLayout>
          </c:layout>
          <c:overlay val="0"/>
          <c:spPr>
            <a:noFill/>
            <a:ln w="25400">
              <a:noFill/>
            </a:ln>
          </c:spPr>
        </c:title>
        <c:numFmt formatCode="0.0%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6594776"/>
        <c:crosses val="autoZero"/>
        <c:crossBetween val="between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96327737830768"/>
          <c:y val="0.246752991103385"/>
          <c:w val="0.191986775860029"/>
          <c:h val="0.470778709479497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1100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Underrepresented Majors - by Field</a:t>
            </a:r>
          </a:p>
        </c:rich>
      </c:tx>
      <c:layout>
        <c:manualLayout>
          <c:xMode val="edge"/>
          <c:yMode val="edge"/>
          <c:x val="0.286868825131798"/>
          <c:y val="0.0316902615152381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71717256410421"/>
          <c:y val="0.161972039844833"/>
          <c:w val="0.583838671795431"/>
          <c:h val="0.602113452466662"/>
        </c:manualLayout>
      </c:layout>
      <c:lineChart>
        <c:grouping val="standard"/>
        <c:varyColors val="0"/>
        <c:ser>
          <c:idx val="0"/>
          <c:order val="0"/>
          <c:tx>
            <c:strRef>
              <c:f>'Percent of Science Degrees'!$A$22</c:f>
              <c:strCache>
                <c:ptCount val="1"/>
                <c:pt idx="0">
                  <c:v>All Fields</c:v>
                </c:pt>
              </c:strCache>
            </c:strRef>
          </c:tx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Degrees'!$B$22:$V$22</c:f>
              <c:numCache>
                <c:formatCode>0.0%</c:formatCode>
                <c:ptCount val="21"/>
                <c:pt idx="0">
                  <c:v>0.0968230210895118</c:v>
                </c:pt>
                <c:pt idx="1">
                  <c:v>0.0991728557686054</c:v>
                </c:pt>
                <c:pt idx="2">
                  <c:v>0.10109391225918</c:v>
                </c:pt>
                <c:pt idx="3">
                  <c:v>0.106969603708313</c:v>
                </c:pt>
                <c:pt idx="4">
                  <c:v>0.112556431249522</c:v>
                </c:pt>
                <c:pt idx="5">
                  <c:v>0.118789632300441</c:v>
                </c:pt>
                <c:pt idx="6">
                  <c:v>0.12767962567437</c:v>
                </c:pt>
                <c:pt idx="7">
                  <c:v>0.134900496919372</c:v>
                </c:pt>
                <c:pt idx="8">
                  <c:v>0.141871395091603</c:v>
                </c:pt>
                <c:pt idx="9">
                  <c:v>0.146843599595142</c:v>
                </c:pt>
                <c:pt idx="10">
                  <c:v>0.151477309956243</c:v>
                </c:pt>
                <c:pt idx="11">
                  <c:v>0.160373180243568</c:v>
                </c:pt>
                <c:pt idx="12">
                  <c:v>0.162883993436525</c:v>
                </c:pt>
                <c:pt idx="13">
                  <c:v>0.164101545489965</c:v>
                </c:pt>
                <c:pt idx="14">
                  <c:v>0.166106755979011</c:v>
                </c:pt>
                <c:pt idx="15">
                  <c:v>0.167696824020527</c:v>
                </c:pt>
                <c:pt idx="16">
                  <c:v>0.16813844538695</c:v>
                </c:pt>
                <c:pt idx="17">
                  <c:v>0.169768624053677</c:v>
                </c:pt>
                <c:pt idx="18">
                  <c:v>0.177144250777062</c:v>
                </c:pt>
                <c:pt idx="19">
                  <c:v>0.180357286354896</c:v>
                </c:pt>
                <c:pt idx="20">
                  <c:v>0.182295179576882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'Percent of Science Degrees'!$A$23</c:f>
              <c:strCache>
                <c:ptCount val="1"/>
                <c:pt idx="0">
                  <c:v>Science &amp; Eng.</c:v>
                </c:pt>
              </c:strCache>
            </c:strRef>
          </c:tx>
          <c:spPr>
            <a:ln w="12700">
              <a:solidFill>
                <a:srgbClr val="FF00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Degrees'!$B$23:$V$23</c:f>
              <c:numCache>
                <c:formatCode>0.0%</c:formatCode>
                <c:ptCount val="21"/>
                <c:pt idx="0">
                  <c:v>0.0901827615355467</c:v>
                </c:pt>
                <c:pt idx="1">
                  <c:v>0.0946860246983828</c:v>
                </c:pt>
                <c:pt idx="2">
                  <c:v>0.0966445243252466</c:v>
                </c:pt>
                <c:pt idx="3">
                  <c:v>0.10281261824348</c:v>
                </c:pt>
                <c:pt idx="4">
                  <c:v>0.109788742296376</c:v>
                </c:pt>
                <c:pt idx="5">
                  <c:v>0.115030828838802</c:v>
                </c:pt>
                <c:pt idx="6">
                  <c:v>0.123481207951844</c:v>
                </c:pt>
                <c:pt idx="7">
                  <c:v>0.132924146101526</c:v>
                </c:pt>
                <c:pt idx="8">
                  <c:v>0.138902031330425</c:v>
                </c:pt>
                <c:pt idx="9">
                  <c:v>0.145612924150926</c:v>
                </c:pt>
                <c:pt idx="10">
                  <c:v>0.150671500033281</c:v>
                </c:pt>
                <c:pt idx="11">
                  <c:v>0.159346448515135</c:v>
                </c:pt>
                <c:pt idx="12">
                  <c:v>0.161192203478717</c:v>
                </c:pt>
                <c:pt idx="13">
                  <c:v>0.162225379402524</c:v>
                </c:pt>
                <c:pt idx="14">
                  <c:v>0.163528362186762</c:v>
                </c:pt>
                <c:pt idx="15">
                  <c:v>0.165153556680577</c:v>
                </c:pt>
                <c:pt idx="16">
                  <c:v>0.16740675522209</c:v>
                </c:pt>
                <c:pt idx="17">
                  <c:v>0.16810411437211</c:v>
                </c:pt>
                <c:pt idx="18">
                  <c:v>0.169351053580692</c:v>
                </c:pt>
                <c:pt idx="19">
                  <c:v>0.172385159865207</c:v>
                </c:pt>
                <c:pt idx="20">
                  <c:v>0.174906763480962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'Percent of Science Degrees'!$A$24</c:f>
              <c:strCache>
                <c:ptCount val="1"/>
                <c:pt idx="0">
                  <c:v>Biology</c:v>
                </c:pt>
              </c:strCache>
            </c:strRef>
          </c:tx>
          <c:spPr>
            <a:ln w="12700">
              <a:solidFill>
                <a:srgbClr val="FFFF00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FFFF00"/>
              </a:solidFill>
              <a:ln>
                <a:solidFill>
                  <a:srgbClr val="FFFF0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Degrees'!$B$24:$V$24</c:f>
              <c:numCache>
                <c:formatCode>0.0%</c:formatCode>
                <c:ptCount val="21"/>
                <c:pt idx="0">
                  <c:v>0.107050477629523</c:v>
                </c:pt>
                <c:pt idx="1">
                  <c:v>0.112344041787328</c:v>
                </c:pt>
                <c:pt idx="2">
                  <c:v>0.111540483701367</c:v>
                </c:pt>
                <c:pt idx="3">
                  <c:v>0.112785308914277</c:v>
                </c:pt>
                <c:pt idx="4">
                  <c:v>0.11504505532109</c:v>
                </c:pt>
                <c:pt idx="5">
                  <c:v>0.117008166760658</c:v>
                </c:pt>
                <c:pt idx="6">
                  <c:v>0.117346254764139</c:v>
                </c:pt>
                <c:pt idx="7">
                  <c:v>0.116329759184391</c:v>
                </c:pt>
                <c:pt idx="8">
                  <c:v>0.123387187706384</c:v>
                </c:pt>
                <c:pt idx="9">
                  <c:v>0.12680575384946</c:v>
                </c:pt>
                <c:pt idx="10">
                  <c:v>0.137605793300751</c:v>
                </c:pt>
                <c:pt idx="11">
                  <c:v>0.147356095155923</c:v>
                </c:pt>
                <c:pt idx="12">
                  <c:v>0.155958716336075</c:v>
                </c:pt>
                <c:pt idx="13">
                  <c:v>0.152557762464532</c:v>
                </c:pt>
                <c:pt idx="14">
                  <c:v>0.158949572555379</c:v>
                </c:pt>
                <c:pt idx="15">
                  <c:v>0.155474903474903</c:v>
                </c:pt>
                <c:pt idx="16">
                  <c:v>0.1525628199847</c:v>
                </c:pt>
                <c:pt idx="17">
                  <c:v>0.149769774708107</c:v>
                </c:pt>
                <c:pt idx="18">
                  <c:v>0.149228714019257</c:v>
                </c:pt>
                <c:pt idx="19">
                  <c:v>0.151775528532246</c:v>
                </c:pt>
                <c:pt idx="20">
                  <c:v>0.154416060953093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'Percent of Science Degrees'!$A$25</c:f>
              <c:strCache>
                <c:ptCount val="1"/>
                <c:pt idx="0">
                  <c:v>Chemistry</c:v>
                </c:pt>
              </c:strCache>
            </c:strRef>
          </c:tx>
          <c:spPr>
            <a:ln w="12700">
              <a:solidFill>
                <a:srgbClr val="00FFFF"/>
              </a:solidFill>
              <a:prstDash val="solid"/>
            </a:ln>
          </c:spPr>
          <c:marker>
            <c:symbol val="x"/>
            <c:size val="5"/>
            <c:spPr>
              <a:noFill/>
              <a:ln>
                <a:solidFill>
                  <a:srgbClr val="00FFFF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Degrees'!$B$25:$V$25</c:f>
              <c:numCache>
                <c:formatCode>General</c:formatCode>
                <c:ptCount val="21"/>
                <c:pt idx="7" formatCode="0.0%">
                  <c:v>0.134584664536741</c:v>
                </c:pt>
                <c:pt idx="8" formatCode="0.0%">
                  <c:v>0.136469709698497</c:v>
                </c:pt>
                <c:pt idx="9" formatCode="0.0%">
                  <c:v>0.138019403258283</c:v>
                </c:pt>
                <c:pt idx="10" formatCode="0.0%">
                  <c:v>0.140531592016923</c:v>
                </c:pt>
                <c:pt idx="11" formatCode="0.0%">
                  <c:v>0.159384023099134</c:v>
                </c:pt>
                <c:pt idx="12" formatCode="0.0%">
                  <c:v>0.157208354559348</c:v>
                </c:pt>
                <c:pt idx="13" formatCode="0.0%">
                  <c:v>0.160928064413603</c:v>
                </c:pt>
                <c:pt idx="14" formatCode="0.0%">
                  <c:v>0.159073855718727</c:v>
                </c:pt>
                <c:pt idx="15" formatCode="0.0%">
                  <c:v>0.156666666666667</c:v>
                </c:pt>
                <c:pt idx="16" formatCode="0.0%">
                  <c:v>0.154086465786556</c:v>
                </c:pt>
                <c:pt idx="17" formatCode="0.0%">
                  <c:v>0.150546523376504</c:v>
                </c:pt>
                <c:pt idx="18" formatCode="0.0%">
                  <c:v>0.150222222222222</c:v>
                </c:pt>
                <c:pt idx="19" formatCode="0.0%">
                  <c:v>0.153820148749155</c:v>
                </c:pt>
                <c:pt idx="20" formatCode="0.0%">
                  <c:v>0.157114624505929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'Percent of Science Degrees'!$A$26</c:f>
              <c:strCache>
                <c:ptCount val="1"/>
                <c:pt idx="0">
                  <c:v>Comp. Sci.</c:v>
                </c:pt>
              </c:strCache>
            </c:strRef>
          </c:tx>
          <c:spPr>
            <a:ln w="12700">
              <a:solidFill>
                <a:srgbClr val="800080"/>
              </a:solidFill>
              <a:prstDash val="solid"/>
            </a:ln>
          </c:spPr>
          <c:marker>
            <c:symbol val="star"/>
            <c:size val="5"/>
            <c:spPr>
              <a:noFill/>
              <a:ln>
                <a:solidFill>
                  <a:srgbClr val="80008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Degrees'!$B$26:$V$26</c:f>
              <c:numCache>
                <c:formatCode>0.0%</c:formatCode>
                <c:ptCount val="21"/>
                <c:pt idx="0">
                  <c:v>0.107871866155734</c:v>
                </c:pt>
                <c:pt idx="1">
                  <c:v>0.120853922423538</c:v>
                </c:pt>
                <c:pt idx="2">
                  <c:v>0.123343563820184</c:v>
                </c:pt>
                <c:pt idx="3">
                  <c:v>0.129555293191657</c:v>
                </c:pt>
                <c:pt idx="4">
                  <c:v>0.134465277218959</c:v>
                </c:pt>
                <c:pt idx="5">
                  <c:v>0.138497364873146</c:v>
                </c:pt>
                <c:pt idx="6">
                  <c:v>0.147640853708398</c:v>
                </c:pt>
                <c:pt idx="7">
                  <c:v>0.159110178045137</c:v>
                </c:pt>
                <c:pt idx="8">
                  <c:v>0.154817681808922</c:v>
                </c:pt>
                <c:pt idx="9">
                  <c:v>0.151931634702477</c:v>
                </c:pt>
                <c:pt idx="10">
                  <c:v>0.153609886536099</c:v>
                </c:pt>
                <c:pt idx="11">
                  <c:v>0.1557719054242</c:v>
                </c:pt>
                <c:pt idx="12">
                  <c:v>0.161685437071358</c:v>
                </c:pt>
                <c:pt idx="13">
                  <c:v>0.162274172132137</c:v>
                </c:pt>
                <c:pt idx="14">
                  <c:v>0.171788143493423</c:v>
                </c:pt>
                <c:pt idx="15">
                  <c:v>0.174459711846318</c:v>
                </c:pt>
                <c:pt idx="16">
                  <c:v>0.17632080310691</c:v>
                </c:pt>
                <c:pt idx="17">
                  <c:v>0.185416666666667</c:v>
                </c:pt>
                <c:pt idx="18">
                  <c:v>0.18328012019908</c:v>
                </c:pt>
                <c:pt idx="19">
                  <c:v>0.183829196855249</c:v>
                </c:pt>
                <c:pt idx="20">
                  <c:v>0.183915211970075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'Percent of Science Degrees'!$A$27</c:f>
              <c:strCache>
                <c:ptCount val="1"/>
                <c:pt idx="0">
                  <c:v>Math</c:v>
                </c:pt>
              </c:strCache>
            </c:strRef>
          </c:tx>
          <c:spPr>
            <a:ln w="50800">
              <a:solidFill>
                <a:schemeClr val="tx1"/>
              </a:solidFill>
              <a:prstDash val="solid"/>
            </a:ln>
          </c:spPr>
          <c:marker>
            <c:symbol val="circle"/>
            <c:size val="5"/>
            <c:spPr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Degrees'!$B$27:$V$27</c:f>
              <c:numCache>
                <c:formatCode>0.0%</c:formatCode>
                <c:ptCount val="21"/>
                <c:pt idx="0">
                  <c:v>0.0730850741749924</c:v>
                </c:pt>
                <c:pt idx="1">
                  <c:v>0.079535065952723</c:v>
                </c:pt>
                <c:pt idx="2">
                  <c:v>0.0802780427967834</c:v>
                </c:pt>
                <c:pt idx="3">
                  <c:v>0.090232683982684</c:v>
                </c:pt>
                <c:pt idx="4">
                  <c:v>0.0964244831997845</c:v>
                </c:pt>
                <c:pt idx="5">
                  <c:v>0.100201748486886</c:v>
                </c:pt>
                <c:pt idx="6">
                  <c:v>0.110456655810408</c:v>
                </c:pt>
                <c:pt idx="7">
                  <c:v>0.111038914157823</c:v>
                </c:pt>
                <c:pt idx="8">
                  <c:v>0.118614255123891</c:v>
                </c:pt>
                <c:pt idx="9">
                  <c:v>0.128350231863554</c:v>
                </c:pt>
                <c:pt idx="10">
                  <c:v>0.135191003803539</c:v>
                </c:pt>
                <c:pt idx="11">
                  <c:v>0.134043459735833</c:v>
                </c:pt>
                <c:pt idx="12">
                  <c:v>0.129754306199178</c:v>
                </c:pt>
                <c:pt idx="13">
                  <c:v>0.128284641749633</c:v>
                </c:pt>
                <c:pt idx="14">
                  <c:v>0.118634844126565</c:v>
                </c:pt>
                <c:pt idx="15">
                  <c:v>0.110666181288679</c:v>
                </c:pt>
                <c:pt idx="16">
                  <c:v>0.118250539956803</c:v>
                </c:pt>
                <c:pt idx="17">
                  <c:v>0.117047681254082</c:v>
                </c:pt>
                <c:pt idx="18">
                  <c:v>0.118384669796155</c:v>
                </c:pt>
                <c:pt idx="19">
                  <c:v>0.113187298781643</c:v>
                </c:pt>
                <c:pt idx="20">
                  <c:v>0.116670779861797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'Percent of Science Degrees'!$A$28</c:f>
              <c:strCache>
                <c:ptCount val="1"/>
                <c:pt idx="0">
                  <c:v>Physics</c:v>
                </c:pt>
              </c:strCache>
            </c:strRef>
          </c:tx>
          <c:spPr>
            <a:ln w="12700">
              <a:solidFill>
                <a:srgbClr val="008080"/>
              </a:solidFill>
              <a:prstDash val="solid"/>
            </a:ln>
          </c:spPr>
          <c:marker>
            <c:symbol val="plus"/>
            <c:size val="5"/>
            <c:spPr>
              <a:noFill/>
              <a:ln>
                <a:solidFill>
                  <a:srgbClr val="008080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Degrees'!$B$28:$V$28</c:f>
              <c:numCache>
                <c:formatCode>General</c:formatCode>
                <c:ptCount val="21"/>
                <c:pt idx="7" formatCode="0.0%">
                  <c:v>0.075599582898853</c:v>
                </c:pt>
                <c:pt idx="8" formatCode="0.0%">
                  <c:v>0.0837159060221442</c:v>
                </c:pt>
                <c:pt idx="9" formatCode="0.0%">
                  <c:v>0.0819333922782198</c:v>
                </c:pt>
                <c:pt idx="10" formatCode="0.0%">
                  <c:v>0.0897250361794501</c:v>
                </c:pt>
                <c:pt idx="11" formatCode="0.0%">
                  <c:v>0.085960737656157</c:v>
                </c:pt>
                <c:pt idx="12" formatCode="0.0%">
                  <c:v>0.0879025239338555</c:v>
                </c:pt>
                <c:pt idx="13" formatCode="0.0%">
                  <c:v>0.0985992859104641</c:v>
                </c:pt>
                <c:pt idx="14" formatCode="0.0%">
                  <c:v>0.0838231535905954</c:v>
                </c:pt>
                <c:pt idx="15" formatCode="0.0%">
                  <c:v>0.0900966183574879</c:v>
                </c:pt>
                <c:pt idx="16" formatCode="0.0%">
                  <c:v>0.0909740414384377</c:v>
                </c:pt>
                <c:pt idx="17" formatCode="0.0%">
                  <c:v>0.0878230398598335</c:v>
                </c:pt>
                <c:pt idx="18" formatCode="0.0%">
                  <c:v>0.0885010266940452</c:v>
                </c:pt>
                <c:pt idx="19" formatCode="0.0%">
                  <c:v>0.0810090237899918</c:v>
                </c:pt>
                <c:pt idx="20" formatCode="0.0%">
                  <c:v>0.0859149111937216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'Percent of Science Degrees'!$A$29</c:f>
              <c:strCache>
                <c:ptCount val="1"/>
                <c:pt idx="0">
                  <c:v>Engineering</c:v>
                </c:pt>
              </c:strCache>
            </c:strRef>
          </c:tx>
          <c:spPr>
            <a:ln w="12700">
              <a:solidFill>
                <a:srgbClr val="0000FF"/>
              </a:solidFill>
              <a:prstDash val="solid"/>
            </a:ln>
          </c:spPr>
          <c:marker>
            <c:symbol val="dot"/>
            <c:size val="5"/>
            <c:spPr>
              <a:noFill/>
              <a:ln>
                <a:solidFill>
                  <a:srgbClr val="0000FF"/>
                </a:solidFill>
                <a:prstDash val="solid"/>
              </a:ln>
            </c:spPr>
          </c:marker>
          <c:cat>
            <c:numRef>
              <c:f>'Percent of Science Degrees'!$B$3:$V$3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Science Degrees'!$B$29:$V$29</c:f>
              <c:numCache>
                <c:formatCode>0.0%</c:formatCode>
                <c:ptCount val="21"/>
                <c:pt idx="0">
                  <c:v>0.0682450317778106</c:v>
                </c:pt>
                <c:pt idx="1">
                  <c:v>0.0717731937204057</c:v>
                </c:pt>
                <c:pt idx="2">
                  <c:v>0.0730878011838709</c:v>
                </c:pt>
                <c:pt idx="3">
                  <c:v>0.0796481523172418</c:v>
                </c:pt>
                <c:pt idx="4">
                  <c:v>0.0852531584219199</c:v>
                </c:pt>
                <c:pt idx="5">
                  <c:v>0.0911760012765278</c:v>
                </c:pt>
                <c:pt idx="6">
                  <c:v>0.0956132270258251</c:v>
                </c:pt>
                <c:pt idx="7">
                  <c:v>0.105994855691089</c:v>
                </c:pt>
                <c:pt idx="8">
                  <c:v>0.11049846309852</c:v>
                </c:pt>
                <c:pt idx="9">
                  <c:v>0.119723505260457</c:v>
                </c:pt>
                <c:pt idx="10">
                  <c:v>0.121449912992087</c:v>
                </c:pt>
                <c:pt idx="11">
                  <c:v>0.125403117441548</c:v>
                </c:pt>
                <c:pt idx="12">
                  <c:v>0.120968014320938</c:v>
                </c:pt>
                <c:pt idx="13">
                  <c:v>0.122531144295025</c:v>
                </c:pt>
                <c:pt idx="14">
                  <c:v>0.121807835206697</c:v>
                </c:pt>
                <c:pt idx="15">
                  <c:v>0.124350649350649</c:v>
                </c:pt>
                <c:pt idx="16">
                  <c:v>0.123699963719918</c:v>
                </c:pt>
                <c:pt idx="17">
                  <c:v>0.124437539390564</c:v>
                </c:pt>
                <c:pt idx="18">
                  <c:v>0.123487711281015</c:v>
                </c:pt>
                <c:pt idx="19">
                  <c:v>0.124148881386966</c:v>
                </c:pt>
                <c:pt idx="20">
                  <c:v>0.127762039660057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686664"/>
        <c:axId val="566695048"/>
      </c:lineChart>
      <c:catAx>
        <c:axId val="56668666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75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Year</a:t>
                </a:r>
              </a:p>
            </c:rich>
          </c:tx>
          <c:layout>
            <c:manualLayout>
              <c:xMode val="edge"/>
              <c:yMode val="edge"/>
              <c:x val="0.434343583558079"/>
              <c:y val="0.894367426869569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075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6695048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566695048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075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Percentage of Underrepresented Students </a:t>
                </a:r>
              </a:p>
            </c:rich>
          </c:tx>
          <c:layout>
            <c:manualLayout>
              <c:xMode val="edge"/>
              <c:yMode val="edge"/>
              <c:x val="0.0282828953609714"/>
              <c:y val="0.1584508995961"/>
            </c:manualLayout>
          </c:layout>
          <c:overlay val="0"/>
          <c:spPr>
            <a:noFill/>
            <a:ln w="25400">
              <a:noFill/>
            </a:ln>
          </c:spPr>
        </c:title>
        <c:numFmt formatCode="0.0%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75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6686664"/>
        <c:crosses val="autoZero"/>
        <c:crossBetween val="between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73737785788824"/>
          <c:y val="0.264084900656848"/>
          <c:w val="0.2141415154431"/>
          <c:h val="0.397887887071111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985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7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/>
              <a:t>Demographics of Mathematics Majors</a:t>
            </a:r>
          </a:p>
        </c:rich>
      </c:tx>
      <c:layout>
        <c:manualLayout>
          <c:xMode val="edge"/>
          <c:yMode val="edge"/>
          <c:x val="0.221579809749215"/>
          <c:y val="0.0419847328244275"/>
        </c:manualLayout>
      </c:layout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40654973643186"/>
          <c:y val="0.167939244280855"/>
          <c:w val="0.56454667503361"/>
          <c:h val="0.580153752970228"/>
        </c:manualLayout>
      </c:layout>
      <c:lineChart>
        <c:grouping val="standard"/>
        <c:varyColors val="0"/>
        <c:ser>
          <c:idx val="0"/>
          <c:order val="0"/>
          <c:tx>
            <c:strRef>
              <c:f>'Percent of Math Degrees'!$A$14</c:f>
              <c:strCache>
                <c:ptCount val="1"/>
                <c:pt idx="0">
                  <c:v>All Underrepresented Minorities</c:v>
                </c:pt>
              </c:strCache>
            </c:strRef>
          </c:tx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numRef>
              <c:f>'Percent of Math Degrees'!$B$11:$V$11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Math Degrees'!$B$14:$V$14</c:f>
              <c:numCache>
                <c:formatCode>0.0%</c:formatCode>
                <c:ptCount val="21"/>
                <c:pt idx="0">
                  <c:v>0.0730850741749924</c:v>
                </c:pt>
                <c:pt idx="1">
                  <c:v>0.079535065952723</c:v>
                </c:pt>
                <c:pt idx="2">
                  <c:v>0.0802780427967834</c:v>
                </c:pt>
                <c:pt idx="3">
                  <c:v>0.090232683982684</c:v>
                </c:pt>
                <c:pt idx="4">
                  <c:v>0.0964244831997845</c:v>
                </c:pt>
                <c:pt idx="5">
                  <c:v>0.100201748486886</c:v>
                </c:pt>
                <c:pt idx="6">
                  <c:v>0.110456655810408</c:v>
                </c:pt>
                <c:pt idx="7">
                  <c:v>0.111038914157823</c:v>
                </c:pt>
                <c:pt idx="8">
                  <c:v>0.118614255123891</c:v>
                </c:pt>
                <c:pt idx="9">
                  <c:v>0.128350231863554</c:v>
                </c:pt>
                <c:pt idx="10">
                  <c:v>0.135191003803539</c:v>
                </c:pt>
                <c:pt idx="11">
                  <c:v>0.134043459735833</c:v>
                </c:pt>
                <c:pt idx="12">
                  <c:v>0.129754306199178</c:v>
                </c:pt>
                <c:pt idx="13">
                  <c:v>0.128284641749633</c:v>
                </c:pt>
                <c:pt idx="14">
                  <c:v>0.118634844126565</c:v>
                </c:pt>
                <c:pt idx="15">
                  <c:v>0.110666181288679</c:v>
                </c:pt>
                <c:pt idx="16">
                  <c:v>0.118250539956803</c:v>
                </c:pt>
                <c:pt idx="17">
                  <c:v>0.117047681254082</c:v>
                </c:pt>
                <c:pt idx="18">
                  <c:v>0.118384669796155</c:v>
                </c:pt>
                <c:pt idx="19">
                  <c:v>0.113187298781643</c:v>
                </c:pt>
                <c:pt idx="20">
                  <c:v>0.116670779861797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'Percent of Math Degrees'!$A$15</c:f>
              <c:strCache>
                <c:ptCount val="1"/>
                <c:pt idx="0">
                  <c:v>Black, non-Hispanic</c:v>
                </c:pt>
              </c:strCache>
            </c:strRef>
          </c:tx>
          <c:spPr>
            <a:ln w="12700">
              <a:solidFill>
                <a:srgbClr val="FF00FF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FF00FF"/>
              </a:solidFill>
              <a:ln>
                <a:solidFill>
                  <a:srgbClr val="FF00FF"/>
                </a:solidFill>
                <a:prstDash val="solid"/>
              </a:ln>
            </c:spPr>
          </c:marker>
          <c:cat>
            <c:numRef>
              <c:f>'Percent of Math Degrees'!$B$11:$V$11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Math Degrees'!$B$15:$V$15</c:f>
              <c:numCache>
                <c:formatCode>0.0%</c:formatCode>
                <c:ptCount val="21"/>
                <c:pt idx="0">
                  <c:v>0.0504995458673933</c:v>
                </c:pt>
                <c:pt idx="1">
                  <c:v>0.0517173827869923</c:v>
                </c:pt>
                <c:pt idx="2">
                  <c:v>0.0490663759029576</c:v>
                </c:pt>
                <c:pt idx="3">
                  <c:v>0.0548566017316017</c:v>
                </c:pt>
                <c:pt idx="4">
                  <c:v>0.060871321796512</c:v>
                </c:pt>
                <c:pt idx="5">
                  <c:v>0.0648957632817754</c:v>
                </c:pt>
                <c:pt idx="6">
                  <c:v>0.0687409049961887</c:v>
                </c:pt>
                <c:pt idx="7">
                  <c:v>0.0691646812504512</c:v>
                </c:pt>
                <c:pt idx="8">
                  <c:v>0.0720403793208932</c:v>
                </c:pt>
                <c:pt idx="9">
                  <c:v>0.0798553800204354</c:v>
                </c:pt>
                <c:pt idx="10">
                  <c:v>0.0798743178435588</c:v>
                </c:pt>
                <c:pt idx="11">
                  <c:v>0.0771197273114614</c:v>
                </c:pt>
                <c:pt idx="12">
                  <c:v>0.0706478971758328</c:v>
                </c:pt>
                <c:pt idx="13">
                  <c:v>0.0687938632283336</c:v>
                </c:pt>
                <c:pt idx="14">
                  <c:v>0.061416465832232</c:v>
                </c:pt>
                <c:pt idx="15">
                  <c:v>0.0570076447033127</c:v>
                </c:pt>
                <c:pt idx="16">
                  <c:v>0.0577078833693304</c:v>
                </c:pt>
                <c:pt idx="17">
                  <c:v>0.0553233180927498</c:v>
                </c:pt>
                <c:pt idx="18">
                  <c:v>0.0535013825477461</c:v>
                </c:pt>
                <c:pt idx="19">
                  <c:v>0.0502493529448898</c:v>
                </c:pt>
                <c:pt idx="20">
                  <c:v>0.0519496544916091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'Percent of Math Degrees'!$A$16</c:f>
              <c:strCache>
                <c:ptCount val="1"/>
                <c:pt idx="0">
                  <c:v>Hispanic</c:v>
                </c:pt>
              </c:strCache>
            </c:strRef>
          </c:tx>
          <c:spPr>
            <a:ln w="12700">
              <a:solidFill>
                <a:srgbClr val="FFFF00"/>
              </a:solidFill>
              <a:prstDash val="solid"/>
            </a:ln>
          </c:spPr>
          <c:marker>
            <c:symbol val="triangle"/>
            <c:size val="5"/>
            <c:spPr>
              <a:solidFill>
                <a:srgbClr val="FFFF00"/>
              </a:solidFill>
              <a:ln>
                <a:solidFill>
                  <a:srgbClr val="FFFF00"/>
                </a:solidFill>
                <a:prstDash val="solid"/>
              </a:ln>
            </c:spPr>
          </c:marker>
          <c:cat>
            <c:numRef>
              <c:f>'Percent of Math Degrees'!$B$11:$V$11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Math Degrees'!$B$16:$V$16</c:f>
              <c:numCache>
                <c:formatCode>General</c:formatCode>
                <c:ptCount val="21"/>
                <c:pt idx="7" formatCode="0.0%">
                  <c:v>0.0376868096166342</c:v>
                </c:pt>
                <c:pt idx="8" formatCode="0.0%">
                  <c:v>0.0425206485163659</c:v>
                </c:pt>
                <c:pt idx="9" formatCode="0.0%">
                  <c:v>0.0440147763892164</c:v>
                </c:pt>
                <c:pt idx="10" formatCode="0.0%">
                  <c:v>0.0499421200595336</c:v>
                </c:pt>
                <c:pt idx="11" formatCode="0.0%">
                  <c:v>0.0510438858116745</c:v>
                </c:pt>
                <c:pt idx="12" formatCode="0.0%">
                  <c:v>0.0546471976917024</c:v>
                </c:pt>
                <c:pt idx="13" formatCode="0.0%">
                  <c:v>0.0548392361677819</c:v>
                </c:pt>
                <c:pt idx="14" formatCode="0.0%">
                  <c:v>0.0521651247764907</c:v>
                </c:pt>
                <c:pt idx="15" formatCode="0.0%">
                  <c:v>0.0493629413906079</c:v>
                </c:pt>
                <c:pt idx="16" formatCode="0.0%">
                  <c:v>0.0554130669546436</c:v>
                </c:pt>
                <c:pt idx="17" formatCode="0.0%">
                  <c:v>0.0575440888308295</c:v>
                </c:pt>
                <c:pt idx="18" formatCode="0.0%">
                  <c:v>0.0608321008295286</c:v>
                </c:pt>
                <c:pt idx="19" formatCode="0.0%">
                  <c:v>0.0583296509058771</c:v>
                </c:pt>
                <c:pt idx="20" formatCode="0.0%">
                  <c:v>0.0603405725567621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'Percent of Math Degrees'!$A$17</c:f>
              <c:strCache>
                <c:ptCount val="1"/>
                <c:pt idx="0">
                  <c:v>HBCU</c:v>
                </c:pt>
              </c:strCache>
            </c:strRef>
          </c:tx>
          <c:spPr>
            <a:ln w="12700">
              <a:solidFill>
                <a:srgbClr val="00FFFF"/>
              </a:solidFill>
              <a:prstDash val="solid"/>
            </a:ln>
          </c:spPr>
          <c:marker>
            <c:symbol val="x"/>
            <c:size val="5"/>
            <c:spPr>
              <a:noFill/>
              <a:ln>
                <a:solidFill>
                  <a:srgbClr val="00FFFF"/>
                </a:solidFill>
                <a:prstDash val="solid"/>
              </a:ln>
            </c:spPr>
          </c:marker>
          <c:cat>
            <c:numRef>
              <c:f>'Percent of Math Degrees'!$B$11:$V$11</c:f>
              <c:numCache>
                <c:formatCode>General</c:formatCode>
                <c:ptCount val="21"/>
                <c:pt idx="0">
                  <c:v>1987.0</c:v>
                </c:pt>
                <c:pt idx="1">
                  <c:v>1989.0</c:v>
                </c:pt>
                <c:pt idx="2">
                  <c:v>1990.0</c:v>
                </c:pt>
                <c:pt idx="3">
                  <c:v>1991.0</c:v>
                </c:pt>
                <c:pt idx="4">
                  <c:v>1992.0</c:v>
                </c:pt>
                <c:pt idx="5">
                  <c:v>1993.0</c:v>
                </c:pt>
                <c:pt idx="6">
                  <c:v>1994.0</c:v>
                </c:pt>
                <c:pt idx="7">
                  <c:v>1995.0</c:v>
                </c:pt>
                <c:pt idx="8">
                  <c:v>1996.0</c:v>
                </c:pt>
                <c:pt idx="9">
                  <c:v>1997.0</c:v>
                </c:pt>
                <c:pt idx="10">
                  <c:v>1998.0</c:v>
                </c:pt>
                <c:pt idx="11">
                  <c:v>2000.0</c:v>
                </c:pt>
                <c:pt idx="12">
                  <c:v>2001.0</c:v>
                </c:pt>
                <c:pt idx="13">
                  <c:v>2002.0</c:v>
                </c:pt>
                <c:pt idx="14">
                  <c:v>2003.0</c:v>
                </c:pt>
                <c:pt idx="15">
                  <c:v>2004.0</c:v>
                </c:pt>
                <c:pt idx="16">
                  <c:v>2005.0</c:v>
                </c:pt>
                <c:pt idx="17">
                  <c:v>2006.0</c:v>
                </c:pt>
                <c:pt idx="18">
                  <c:v>2007.0</c:v>
                </c:pt>
                <c:pt idx="19">
                  <c:v>2008.0</c:v>
                </c:pt>
                <c:pt idx="20">
                  <c:v>2009.0</c:v>
                </c:pt>
              </c:numCache>
            </c:numRef>
          </c:cat>
          <c:val>
            <c:numRef>
              <c:f>'Percent of Math Degrees'!$B$17:$V$17</c:f>
              <c:numCache>
                <c:formatCode>0.0%</c:formatCode>
                <c:ptCount val="21"/>
                <c:pt idx="0">
                  <c:v>0.0257341810475325</c:v>
                </c:pt>
                <c:pt idx="1">
                  <c:v>0.0248791955073789</c:v>
                </c:pt>
                <c:pt idx="2">
                  <c:v>0.0209213575030666</c:v>
                </c:pt>
                <c:pt idx="3">
                  <c:v>0.0249594155844156</c:v>
                </c:pt>
                <c:pt idx="4">
                  <c:v>0.0282809238435122</c:v>
                </c:pt>
                <c:pt idx="5">
                  <c:v>0.0311365164761264</c:v>
                </c:pt>
                <c:pt idx="6">
                  <c:v>0.0311135749428314</c:v>
                </c:pt>
                <c:pt idx="7">
                  <c:v>0.0337881741390513</c:v>
                </c:pt>
                <c:pt idx="8">
                  <c:v>0.0338788620373203</c:v>
                </c:pt>
                <c:pt idx="9">
                  <c:v>0.0375697555607954</c:v>
                </c:pt>
                <c:pt idx="10">
                  <c:v>0.0367124193815115</c:v>
                </c:pt>
                <c:pt idx="11">
                  <c:v>0.0363868768640818</c:v>
                </c:pt>
                <c:pt idx="12">
                  <c:v>0.0301652531258197</c:v>
                </c:pt>
                <c:pt idx="13">
                  <c:v>0.0276644361024971</c:v>
                </c:pt>
                <c:pt idx="14">
                  <c:v>0.0234781932675115</c:v>
                </c:pt>
                <c:pt idx="15">
                  <c:v>0.0211139424827084</c:v>
                </c:pt>
                <c:pt idx="16">
                  <c:v>0.0186960043196544</c:v>
                </c:pt>
                <c:pt idx="17">
                  <c:v>0.0181580666231221</c:v>
                </c:pt>
                <c:pt idx="18">
                  <c:v>0.0180695775191306</c:v>
                </c:pt>
                <c:pt idx="19">
                  <c:v>0.0154030679881321</c:v>
                </c:pt>
                <c:pt idx="20">
                  <c:v>0.0153010858835143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6750840"/>
        <c:axId val="566759496"/>
      </c:lineChart>
      <c:catAx>
        <c:axId val="56675084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25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Year</a:t>
                </a:r>
              </a:p>
            </c:rich>
          </c:tx>
          <c:layout>
            <c:manualLayout>
              <c:xMode val="edge"/>
              <c:yMode val="edge"/>
              <c:x val="0.394990062658353"/>
              <c:y val="0.8893147803089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125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6759496"/>
        <c:crosses val="autoZero"/>
        <c:auto val="1"/>
        <c:lblAlgn val="ctr"/>
        <c:lblOffset val="100"/>
        <c:tickLblSkip val="2"/>
        <c:tickMarkSkip val="1"/>
        <c:noMultiLvlLbl val="0"/>
      </c:catAx>
      <c:valAx>
        <c:axId val="566759496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125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Percentage of all Math Majors</a:t>
                </a:r>
              </a:p>
            </c:rich>
          </c:tx>
          <c:layout>
            <c:manualLayout>
              <c:xMode val="edge"/>
              <c:yMode val="edge"/>
              <c:x val="0.0269749518304432"/>
              <c:y val="0.145038468473883"/>
            </c:manualLayout>
          </c:layout>
          <c:overlay val="0"/>
          <c:spPr>
            <a:noFill/>
            <a:ln w="25400">
              <a:noFill/>
            </a:ln>
          </c:spPr>
        </c:title>
        <c:numFmt formatCode="0.0%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125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566750840"/>
        <c:crosses val="autoZero"/>
        <c:crossBetween val="between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20615963466994"/>
          <c:y val="0.255725791909599"/>
          <c:w val="0.267822432600549"/>
          <c:h val="0.40076395984853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1035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125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 of Wealth</c:v>
                </c:pt>
              </c:strCache>
            </c:strRef>
          </c:tx>
          <c:xVal>
            <c:numRef>
              <c:f>Sheet1!$A$2:$A$6</c:f>
              <c:numCache>
                <c:formatCode>General</c:formatCode>
                <c:ptCount val="5"/>
                <c:pt idx="0">
                  <c:v>0.0</c:v>
                </c:pt>
                <c:pt idx="1">
                  <c:v>40.0</c:v>
                </c:pt>
                <c:pt idx="2">
                  <c:v>90.0</c:v>
                </c:pt>
                <c:pt idx="3">
                  <c:v>99.0</c:v>
                </c:pt>
                <c:pt idx="4">
                  <c:v>100.0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1.0</c:v>
                </c:pt>
                <c:pt idx="2">
                  <c:v>29.0</c:v>
                </c:pt>
                <c:pt idx="3">
                  <c:v>62.0</c:v>
                </c:pt>
                <c:pt idx="4">
                  <c:v>100.0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Equal Distr.</c:v>
                </c:pt>
              </c:strCache>
            </c:strRef>
          </c:tx>
          <c:marker>
            <c:symbol val="none"/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0.0</c:v>
                </c:pt>
                <c:pt idx="1">
                  <c:v>40.0</c:v>
                </c:pt>
                <c:pt idx="2">
                  <c:v>90.0</c:v>
                </c:pt>
                <c:pt idx="3">
                  <c:v>99.0</c:v>
                </c:pt>
                <c:pt idx="4">
                  <c:v>100.0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0.0</c:v>
                </c:pt>
                <c:pt idx="1">
                  <c:v>40.0</c:v>
                </c:pt>
                <c:pt idx="2">
                  <c:v>90.0</c:v>
                </c:pt>
                <c:pt idx="3">
                  <c:v>99.0</c:v>
                </c:pt>
                <c:pt idx="4">
                  <c:v>100.0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86466296"/>
        <c:axId val="586469288"/>
      </c:scatterChart>
      <c:valAx>
        <c:axId val="5864662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586469288"/>
        <c:crosses val="autoZero"/>
        <c:crossBetween val="midCat"/>
      </c:valAx>
      <c:valAx>
        <c:axId val="5864692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86466296"/>
        <c:crosses val="autoZero"/>
        <c:crossBetween val="midCat"/>
      </c:valAx>
    </c:plotArea>
    <c:plotVisOnly val="1"/>
    <c:dispBlanksAs val="gap"/>
    <c:showDLblsOverMax val="0"/>
  </c:chart>
  <c:spPr>
    <a:solidFill>
      <a:schemeClr val="bg2"/>
    </a:solidFill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60879-6C41-4D4D-9AC7-23BE6073F449}" type="datetimeFigureOut">
              <a:rPr lang="en-US" smtClean="0"/>
              <a:t>8/21/12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FC070-C185-1945-AB45-75EAC53E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919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C8EB4EF7-BE45-425B-928D-93ADCE809EA3}" type="datetimeFigureOut">
              <a:rPr lang="en-US" smtClean="0"/>
              <a:pPr/>
              <a:t>8/21/12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458AA5B5-186C-4AEB-81DA-8F11DA901F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7970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8AA5B5-186C-4AEB-81DA-8F11DA901F1D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Math of the 19</a:t>
            </a:r>
            <a:r>
              <a:rPr lang="en-US" baseline="30000" dirty="0" smtClean="0"/>
              <a:t>th</a:t>
            </a:r>
            <a:r>
              <a:rPr lang="en-US" dirty="0" smtClean="0"/>
              <a:t> century</a:t>
            </a:r>
            <a:r>
              <a:rPr lang="en-US" baseline="0" dirty="0" smtClean="0"/>
              <a:t> – or before!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8AA5B5-186C-4AEB-81DA-8F11DA901F1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38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Algebra has a death grip on mathematics!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8AA5B5-186C-4AEB-81DA-8F11DA901F1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43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Taking</a:t>
            </a:r>
            <a:r>
              <a:rPr lang="en-US" baseline="0" dirty="0" smtClean="0"/>
              <a:t> a derivative? Why not have the function be meaningful?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8AA5B5-186C-4AEB-81DA-8F11DA901F1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6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Today: </a:t>
            </a:r>
            <a:r>
              <a:rPr lang="en-US" dirty="0" err="1" smtClean="0"/>
              <a:t>Gini</a:t>
            </a:r>
            <a:r>
              <a:rPr lang="en-US" dirty="0" smtClean="0"/>
              <a:t> Coefficients – explained!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8AA5B5-186C-4AEB-81DA-8F11DA901F1D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05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8195" name="Group 3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8196" name="Freeform 4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8197" name="Freeform 5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8198" name="Freeform 6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8199" name="Freeform 7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8200" name="Freeform 8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</p:grpSp>
        <p:sp>
          <p:nvSpPr>
            <p:cNvPr id="8201" name="Freeform 9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8202" name="Freeform 10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36725"/>
            <a:ext cx="7772400" cy="1920875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206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5157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  <p:sp>
        <p:nvSpPr>
          <p:cNvPr id="8207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5475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7258C0B-3E9E-4B32-8DEE-9CF33EDE0E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3D6675E-7DB6-4D9F-B29A-3B12934C49E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6F8A7A-2E4B-4EF5-AEC1-BCC7006E9E7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D046BD-97AF-4E0A-AA7E-389956FFD7A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B9B817-48F3-4C4B-92D9-C0B0DB55A8C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831C342-095C-40C6-8941-2BF4BD93498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F0E636-2517-4405-9D74-6122D191276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89EBA38-A3A9-42F4-949E-00E8F49E610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658876-7819-4768-845A-6AD31D563AF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B9421FA-954C-4677-A86F-34F4C60748E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8FCF999-6B3A-4B1B-B72A-E0D604A91BF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ED86407-8205-4CC8-A499-F212796CFAA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060C855C-B392-463C-A2A4-2261C38F78D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2E1ADE1-7DBE-4FF0-8BBE-0767D65A181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5157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30FFDE3E-4A98-43EB-9BA5-D394AFD6515A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7173" name="Group 5"/>
            <p:cNvGrpSpPr>
              <a:grpSpLocks/>
            </p:cNvGrpSpPr>
            <p:nvPr userDrawn="1"/>
          </p:nvGrpSpPr>
          <p:grpSpPr bwMode="auto"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7174" name="Freeform 6"/>
              <p:cNvSpPr>
                <a:spLocks/>
              </p:cNvSpPr>
              <p:nvPr/>
            </p:nvSpPr>
            <p:spPr bwMode="hidden">
              <a:xfrm>
                <a:off x="1728" y="2644"/>
                <a:ext cx="2882" cy="1671"/>
              </a:xfrm>
              <a:custGeom>
                <a:avLst/>
                <a:gdLst/>
                <a:ahLst/>
                <a:cxnLst>
                  <a:cxn ang="0">
                    <a:pos x="2740" y="528"/>
                  </a:cxn>
                  <a:cxn ang="0">
                    <a:pos x="2632" y="484"/>
                  </a:cxn>
                  <a:cxn ang="0">
                    <a:pos x="2480" y="424"/>
                  </a:cxn>
                  <a:cxn ang="0">
                    <a:pos x="2203" y="343"/>
                  </a:cxn>
                  <a:cxn ang="0">
                    <a:pos x="1970" y="277"/>
                  </a:cxn>
                  <a:cxn ang="0">
                    <a:pos x="1807" y="212"/>
                  </a:cxn>
                  <a:cxn ang="0">
                    <a:pos x="1693" y="152"/>
                  </a:cxn>
                  <a:cxn ang="0">
                    <a:pos x="1628" y="103"/>
                  </a:cxn>
                  <a:cxn ang="0">
                    <a:pos x="1590" y="60"/>
                  </a:cxn>
                  <a:cxn ang="0">
                    <a:pos x="1579" y="27"/>
                  </a:cxn>
                  <a:cxn ang="0">
                    <a:pos x="1585" y="0"/>
                  </a:cxn>
                  <a:cxn ang="0">
                    <a:pos x="1557" y="49"/>
                  </a:cxn>
                  <a:cxn ang="0">
                    <a:pos x="1568" y="98"/>
                  </a:cxn>
                  <a:cxn ang="0">
                    <a:pos x="1617" y="141"/>
                  </a:cxn>
                  <a:cxn ang="0">
                    <a:pos x="1688" y="185"/>
                  </a:cxn>
                  <a:cxn ang="0">
                    <a:pos x="1791" y="228"/>
                  </a:cxn>
                  <a:cxn ang="0">
                    <a:pos x="2040" y="310"/>
                  </a:cxn>
                  <a:cxn ang="0">
                    <a:pos x="2285" y="381"/>
                  </a:cxn>
                  <a:cxn ang="0">
                    <a:pos x="2464" y="435"/>
                  </a:cxn>
                  <a:cxn ang="0">
                    <a:pos x="2605" y="484"/>
                  </a:cxn>
                  <a:cxn ang="0">
                    <a:pos x="2708" y="528"/>
                  </a:cxn>
                  <a:cxn ang="0">
                    <a:pos x="2768" y="560"/>
                  </a:cxn>
                  <a:cxn ang="0">
                    <a:pos x="2795" y="593"/>
                  </a:cxn>
                  <a:cxn ang="0">
                    <a:pos x="2795" y="642"/>
                  </a:cxn>
                  <a:cxn ang="0">
                    <a:pos x="2762" y="691"/>
                  </a:cxn>
                  <a:cxn ang="0">
                    <a:pos x="2692" y="735"/>
                  </a:cxn>
                  <a:cxn ang="0">
                    <a:pos x="2589" y="778"/>
                  </a:cxn>
                  <a:cxn ang="0">
                    <a:pos x="2458" y="822"/>
                  </a:cxn>
                  <a:cxn ang="0">
                    <a:pos x="2301" y="865"/>
                  </a:cxn>
                  <a:cxn ang="0">
                    <a:pos x="2030" y="930"/>
                  </a:cxn>
                  <a:cxn ang="0">
                    <a:pos x="1606" y="1034"/>
                  </a:cxn>
                  <a:cxn ang="0">
                    <a:pos x="1145" y="1164"/>
                  </a:cxn>
                  <a:cxn ang="0">
                    <a:pos x="673" y="1328"/>
                  </a:cxn>
                  <a:cxn ang="0">
                    <a:pos x="217" y="1545"/>
                  </a:cxn>
                  <a:cxn ang="0">
                    <a:pos x="353" y="1671"/>
                  </a:cxn>
                  <a:cxn ang="0">
                    <a:pos x="754" y="1469"/>
                  </a:cxn>
                  <a:cxn ang="0">
                    <a:pos x="1145" y="1311"/>
                  </a:cxn>
                  <a:cxn ang="0">
                    <a:pos x="1519" y="1186"/>
                  </a:cxn>
                  <a:cxn ang="0">
                    <a:pos x="1861" y="1083"/>
                  </a:cxn>
                  <a:cxn ang="0">
                    <a:pos x="2165" y="1007"/>
                  </a:cxn>
                  <a:cxn ang="0">
                    <a:pos x="2426" y="947"/>
                  </a:cxn>
                  <a:cxn ang="0">
                    <a:pos x="2626" y="892"/>
                  </a:cxn>
                  <a:cxn ang="0">
                    <a:pos x="2762" y="838"/>
                  </a:cxn>
                  <a:cxn ang="0">
                    <a:pos x="2827" y="794"/>
                  </a:cxn>
                  <a:cxn ang="0">
                    <a:pos x="2865" y="745"/>
                  </a:cxn>
                  <a:cxn ang="0">
                    <a:pos x="2882" y="702"/>
                  </a:cxn>
                  <a:cxn ang="0">
                    <a:pos x="2854" y="620"/>
                  </a:cxn>
                  <a:cxn ang="0">
                    <a:pos x="2800" y="560"/>
                  </a:cxn>
                  <a:cxn ang="0">
                    <a:pos x="2773" y="544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7175" name="Freeform 7"/>
              <p:cNvSpPr>
                <a:spLocks/>
              </p:cNvSpPr>
              <p:nvPr/>
            </p:nvSpPr>
            <p:spPr bwMode="hidden">
              <a:xfrm>
                <a:off x="4170" y="2671"/>
                <a:ext cx="1259" cy="811"/>
              </a:xfrm>
              <a:custGeom>
                <a:avLst/>
                <a:gdLst/>
                <a:ahLst/>
                <a:cxnLst>
                  <a:cxn ang="0">
                    <a:pos x="1259" y="615"/>
                  </a:cxn>
                  <a:cxn ang="0">
                    <a:pos x="1248" y="588"/>
                  </a:cxn>
                  <a:cxn ang="0">
                    <a:pos x="1237" y="566"/>
                  </a:cxn>
                  <a:cxn ang="0">
                    <a:pos x="1216" y="539"/>
                  </a:cxn>
                  <a:cxn ang="0">
                    <a:pos x="1188" y="517"/>
                  </a:cxn>
                  <a:cxn ang="0">
                    <a:pos x="1123" y="479"/>
                  </a:cxn>
                  <a:cxn ang="0">
                    <a:pos x="1042" y="441"/>
                  </a:cxn>
                  <a:cxn ang="0">
                    <a:pos x="944" y="408"/>
                  </a:cxn>
                  <a:cxn ang="0">
                    <a:pos x="841" y="381"/>
                  </a:cxn>
                  <a:cxn ang="0">
                    <a:pos x="727" y="348"/>
                  </a:cxn>
                  <a:cxn ang="0">
                    <a:pos x="613" y="321"/>
                  </a:cxn>
                  <a:cxn ang="0">
                    <a:pos x="499" y="294"/>
                  </a:cxn>
                  <a:cxn ang="0">
                    <a:pos x="391" y="261"/>
                  </a:cxn>
                  <a:cxn ang="0">
                    <a:pos x="288" y="229"/>
                  </a:cxn>
                  <a:cxn ang="0">
                    <a:pos x="195" y="196"/>
                  </a:cxn>
                  <a:cxn ang="0">
                    <a:pos x="119" y="152"/>
                  </a:cxn>
                  <a:cxn ang="0">
                    <a:pos x="54" y="109"/>
                  </a:cxn>
                  <a:cxn ang="0">
                    <a:pos x="33" y="87"/>
                  </a:cxn>
                  <a:cxn ang="0">
                    <a:pos x="16" y="60"/>
                  </a:cxn>
                  <a:cxn ang="0">
                    <a:pos x="5" y="33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11"/>
                  </a:cxn>
                  <a:cxn ang="0">
                    <a:pos x="0" y="38"/>
                  </a:cxn>
                  <a:cxn ang="0">
                    <a:pos x="5" y="60"/>
                  </a:cxn>
                  <a:cxn ang="0">
                    <a:pos x="16" y="87"/>
                  </a:cxn>
                  <a:cxn ang="0">
                    <a:pos x="33" y="114"/>
                  </a:cxn>
                  <a:cxn ang="0">
                    <a:pos x="54" y="142"/>
                  </a:cxn>
                  <a:cxn ang="0">
                    <a:pos x="87" y="174"/>
                  </a:cxn>
                  <a:cxn ang="0">
                    <a:pos x="125" y="207"/>
                  </a:cxn>
                  <a:cxn ang="0">
                    <a:pos x="179" y="240"/>
                  </a:cxn>
                  <a:cxn ang="0">
                    <a:pos x="244" y="278"/>
                  </a:cxn>
                  <a:cxn ang="0">
                    <a:pos x="326" y="310"/>
                  </a:cxn>
                  <a:cxn ang="0">
                    <a:pos x="418" y="348"/>
                  </a:cxn>
                  <a:cxn ang="0">
                    <a:pos x="526" y="381"/>
                  </a:cxn>
                  <a:cxn ang="0">
                    <a:pos x="657" y="414"/>
                  </a:cxn>
                  <a:cxn ang="0">
                    <a:pos x="749" y="435"/>
                  </a:cxn>
                  <a:cxn ang="0">
                    <a:pos x="830" y="463"/>
                  </a:cxn>
                  <a:cxn ang="0">
                    <a:pos x="901" y="490"/>
                  </a:cxn>
                  <a:cxn ang="0">
                    <a:pos x="966" y="512"/>
                  </a:cxn>
                  <a:cxn ang="0">
                    <a:pos x="1015" y="539"/>
                  </a:cxn>
                  <a:cxn ang="0">
                    <a:pos x="1053" y="566"/>
                  </a:cxn>
                  <a:cxn ang="0">
                    <a:pos x="1080" y="593"/>
                  </a:cxn>
                  <a:cxn ang="0">
                    <a:pos x="1102" y="620"/>
                  </a:cxn>
                  <a:cxn ang="0">
                    <a:pos x="1112" y="648"/>
                  </a:cxn>
                  <a:cxn ang="0">
                    <a:pos x="1118" y="675"/>
                  </a:cxn>
                  <a:cxn ang="0">
                    <a:pos x="1112" y="697"/>
                  </a:cxn>
                  <a:cxn ang="0">
                    <a:pos x="1096" y="724"/>
                  </a:cxn>
                  <a:cxn ang="0">
                    <a:pos x="1080" y="746"/>
                  </a:cxn>
                  <a:cxn ang="0">
                    <a:pos x="1053" y="767"/>
                  </a:cxn>
                  <a:cxn ang="0">
                    <a:pos x="1015" y="789"/>
                  </a:cxn>
                  <a:cxn ang="0">
                    <a:pos x="977" y="811"/>
                  </a:cxn>
                  <a:cxn ang="0">
                    <a:pos x="1047" y="789"/>
                  </a:cxn>
                  <a:cxn ang="0">
                    <a:pos x="1107" y="767"/>
                  </a:cxn>
                  <a:cxn ang="0">
                    <a:pos x="1156" y="746"/>
                  </a:cxn>
                  <a:cxn ang="0">
                    <a:pos x="1199" y="724"/>
                  </a:cxn>
                  <a:cxn ang="0">
                    <a:pos x="1226" y="702"/>
                  </a:cxn>
                  <a:cxn ang="0">
                    <a:pos x="1248" y="675"/>
                  </a:cxn>
                  <a:cxn ang="0">
                    <a:pos x="1259" y="648"/>
                  </a:cxn>
                  <a:cxn ang="0">
                    <a:pos x="1259" y="615"/>
                  </a:cxn>
                  <a:cxn ang="0">
                    <a:pos x="1259" y="615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7176" name="Freeform 8"/>
              <p:cNvSpPr>
                <a:spLocks/>
              </p:cNvSpPr>
              <p:nvPr/>
            </p:nvSpPr>
            <p:spPr bwMode="hidden">
              <a:xfrm>
                <a:off x="2900" y="3346"/>
                <a:ext cx="2849" cy="969"/>
              </a:xfrm>
              <a:custGeom>
                <a:avLst/>
                <a:gdLst/>
                <a:ahLst/>
                <a:cxnLst>
                  <a:cxn ang="0">
                    <a:pos x="92" y="958"/>
                  </a:cxn>
                  <a:cxn ang="0">
                    <a:pos x="0" y="969"/>
                  </a:cxn>
                  <a:cxn ang="0">
                    <a:pos x="391" y="969"/>
                  </a:cxn>
                  <a:cxn ang="0">
                    <a:pos x="434" y="947"/>
                  </a:cxn>
                  <a:cxn ang="0">
                    <a:pos x="483" y="914"/>
                  </a:cxn>
                  <a:cxn ang="0">
                    <a:pos x="554" y="876"/>
                  </a:cxn>
                  <a:cxn ang="0">
                    <a:pos x="635" y="838"/>
                  </a:cxn>
                  <a:cxn ang="0">
                    <a:pos x="727" y="794"/>
                  </a:cxn>
                  <a:cxn ang="0">
                    <a:pos x="836" y="745"/>
                  </a:cxn>
                  <a:cxn ang="0">
                    <a:pos x="961" y="696"/>
                  </a:cxn>
                  <a:cxn ang="0">
                    <a:pos x="1102" y="642"/>
                  </a:cxn>
                  <a:cxn ang="0">
                    <a:pos x="1259" y="582"/>
                  </a:cxn>
                  <a:cxn ang="0">
                    <a:pos x="1433" y="522"/>
                  </a:cxn>
                  <a:cxn ang="0">
                    <a:pos x="1623" y="462"/>
                  </a:cxn>
                  <a:cxn ang="0">
                    <a:pos x="1829" y="403"/>
                  </a:cxn>
                  <a:cxn ang="0">
                    <a:pos x="2057" y="343"/>
                  </a:cxn>
                  <a:cxn ang="0">
                    <a:pos x="2301" y="283"/>
                  </a:cxn>
                  <a:cxn ang="0">
                    <a:pos x="2567" y="223"/>
                  </a:cxn>
                  <a:cxn ang="0">
                    <a:pos x="2849" y="163"/>
                  </a:cxn>
                  <a:cxn ang="0">
                    <a:pos x="2849" y="0"/>
                  </a:cxn>
                  <a:cxn ang="0">
                    <a:pos x="2817" y="16"/>
                  </a:cxn>
                  <a:cxn ang="0">
                    <a:pos x="2773" y="33"/>
                  </a:cxn>
                  <a:cxn ang="0">
                    <a:pos x="2719" y="54"/>
                  </a:cxn>
                  <a:cxn ang="0">
                    <a:pos x="2648" y="76"/>
                  </a:cxn>
                  <a:cxn ang="0">
                    <a:pos x="2572" y="98"/>
                  </a:cxn>
                  <a:cxn ang="0">
                    <a:pos x="2491" y="120"/>
                  </a:cxn>
                  <a:cxn ang="0">
                    <a:pos x="2399" y="147"/>
                  </a:cxn>
                  <a:cxn ang="0">
                    <a:pos x="2301" y="169"/>
                  </a:cxn>
                  <a:cxn ang="0">
                    <a:pos x="2095" y="223"/>
                  </a:cxn>
                  <a:cxn ang="0">
                    <a:pos x="1889" y="277"/>
                  </a:cxn>
                  <a:cxn ang="0">
                    <a:pos x="1688" y="326"/>
                  </a:cxn>
                  <a:cxn ang="0">
                    <a:pos x="1590" y="354"/>
                  </a:cxn>
                  <a:cxn ang="0">
                    <a:pos x="1503" y="381"/>
                  </a:cxn>
                  <a:cxn ang="0">
                    <a:pos x="1107" y="506"/>
                  </a:cxn>
                  <a:cxn ang="0">
                    <a:pos x="912" y="577"/>
                  </a:cxn>
                  <a:cxn ang="0">
                    <a:pos x="727" y="647"/>
                  </a:cxn>
                  <a:cxn ang="0">
                    <a:pos x="548" y="718"/>
                  </a:cxn>
                  <a:cxn ang="0">
                    <a:pos x="380" y="794"/>
                  </a:cxn>
                  <a:cxn ang="0">
                    <a:pos x="228" y="876"/>
                  </a:cxn>
                  <a:cxn ang="0">
                    <a:pos x="92" y="958"/>
                  </a:cxn>
                  <a:cxn ang="0">
                    <a:pos x="92" y="958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1961"/>
                      <a:invGamma/>
                    </a:schemeClr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7177" name="Freeform 9"/>
              <p:cNvSpPr>
                <a:spLocks/>
              </p:cNvSpPr>
              <p:nvPr/>
            </p:nvSpPr>
            <p:spPr bwMode="hidden">
              <a:xfrm>
                <a:off x="2748" y="2230"/>
                <a:ext cx="3007" cy="2085"/>
              </a:xfrm>
              <a:custGeom>
                <a:avLst/>
                <a:gdLst/>
                <a:ahLst/>
                <a:cxnLst>
                  <a:cxn ang="0">
                    <a:pos x="1433" y="474"/>
                  </a:cxn>
                  <a:cxn ang="0">
                    <a:pos x="1460" y="528"/>
                  </a:cxn>
                  <a:cxn ang="0">
                    <a:pos x="1541" y="593"/>
                  </a:cxn>
                  <a:cxn ang="0">
                    <a:pos x="1715" y="670"/>
                  </a:cxn>
                  <a:cxn ang="0">
                    <a:pos x="1927" y="735"/>
                  </a:cxn>
                  <a:cxn ang="0">
                    <a:pos x="2155" y="789"/>
                  </a:cxn>
                  <a:cxn ang="0">
                    <a:pos x="2372" y="849"/>
                  </a:cxn>
                  <a:cxn ang="0">
                    <a:pos x="2551" y="920"/>
                  </a:cxn>
                  <a:cxn ang="0">
                    <a:pos x="2638" y="980"/>
                  </a:cxn>
                  <a:cxn ang="0">
                    <a:pos x="2676" y="1029"/>
                  </a:cxn>
                  <a:cxn ang="0">
                    <a:pos x="2681" y="1083"/>
                  </a:cxn>
                  <a:cxn ang="0">
                    <a:pos x="2665" y="1127"/>
                  </a:cxn>
                  <a:cxn ang="0">
                    <a:pos x="2616" y="1170"/>
                  </a:cxn>
                  <a:cxn ang="0">
                    <a:pos x="2545" y="1208"/>
                  </a:cxn>
                  <a:cxn ang="0">
                    <a:pos x="2448" y="1241"/>
                  </a:cxn>
                  <a:cxn ang="0">
                    <a:pos x="2328" y="1274"/>
                  </a:cxn>
                  <a:cxn ang="0">
                    <a:pos x="2106" y="1328"/>
                  </a:cxn>
                  <a:cxn ang="0">
                    <a:pos x="1742" y="1421"/>
                  </a:cxn>
                  <a:cxn ang="0">
                    <a:pos x="1308" y="1540"/>
                  </a:cxn>
                  <a:cxn ang="0">
                    <a:pos x="820" y="1709"/>
                  </a:cxn>
                  <a:cxn ang="0">
                    <a:pos x="282" y="1943"/>
                  </a:cxn>
                  <a:cxn ang="0">
                    <a:pos x="152" y="2085"/>
                  </a:cxn>
                  <a:cxn ang="0">
                    <a:pos x="386" y="1992"/>
                  </a:cxn>
                  <a:cxn ang="0">
                    <a:pos x="700" y="1834"/>
                  </a:cxn>
                  <a:cxn ang="0">
                    <a:pos x="1064" y="1693"/>
                  </a:cxn>
                  <a:cxn ang="0">
                    <a:pos x="1661" y="1497"/>
                  </a:cxn>
                  <a:cxn ang="0">
                    <a:pos x="1845" y="1442"/>
                  </a:cxn>
                  <a:cxn ang="0">
                    <a:pos x="2252" y="1339"/>
                  </a:cxn>
                  <a:cxn ang="0">
                    <a:pos x="2551" y="1263"/>
                  </a:cxn>
                  <a:cxn ang="0">
                    <a:pos x="2730" y="1214"/>
                  </a:cxn>
                  <a:cxn ang="0">
                    <a:pos x="2876" y="1170"/>
                  </a:cxn>
                  <a:cxn ang="0">
                    <a:pos x="2974" y="1132"/>
                  </a:cxn>
                  <a:cxn ang="0">
                    <a:pos x="3007" y="871"/>
                  </a:cxn>
                  <a:cxn ang="0">
                    <a:pos x="2860" y="844"/>
                  </a:cxn>
                  <a:cxn ang="0">
                    <a:pos x="2670" y="806"/>
                  </a:cxn>
                  <a:cxn ang="0">
                    <a:pos x="2458" y="757"/>
                  </a:cxn>
                  <a:cxn ang="0">
                    <a:pos x="2138" y="670"/>
                  </a:cxn>
                  <a:cxn ang="0">
                    <a:pos x="1959" y="604"/>
                  </a:cxn>
                  <a:cxn ang="0">
                    <a:pos x="1824" y="534"/>
                  </a:cxn>
                  <a:cxn ang="0">
                    <a:pos x="1769" y="474"/>
                  </a:cxn>
                  <a:cxn ang="0">
                    <a:pos x="1753" y="436"/>
                  </a:cxn>
                  <a:cxn ang="0">
                    <a:pos x="1780" y="381"/>
                  </a:cxn>
                  <a:cxn ang="0">
                    <a:pos x="1862" y="316"/>
                  </a:cxn>
                  <a:cxn ang="0">
                    <a:pos x="1986" y="267"/>
                  </a:cxn>
                  <a:cxn ang="0">
                    <a:pos x="2149" y="229"/>
                  </a:cxn>
                  <a:cxn ang="0">
                    <a:pos x="2431" y="180"/>
                  </a:cxn>
                  <a:cxn ang="0">
                    <a:pos x="2827" y="125"/>
                  </a:cxn>
                  <a:cxn ang="0">
                    <a:pos x="3007" y="87"/>
                  </a:cxn>
                  <a:cxn ang="0">
                    <a:pos x="2909" y="22"/>
                  </a:cxn>
                  <a:cxn ang="0">
                    <a:pos x="2676" y="66"/>
                  </a:cxn>
                  <a:cxn ang="0">
                    <a:pos x="2285" y="120"/>
                  </a:cxn>
                  <a:cxn ang="0">
                    <a:pos x="2030" y="158"/>
                  </a:cxn>
                  <a:cxn ang="0">
                    <a:pos x="1791" y="202"/>
                  </a:cxn>
                  <a:cxn ang="0">
                    <a:pos x="1601" y="261"/>
                  </a:cxn>
                  <a:cxn ang="0">
                    <a:pos x="1471" y="338"/>
                  </a:cxn>
                  <a:cxn ang="0">
                    <a:pos x="1438" y="387"/>
                  </a:cxn>
                  <a:cxn ang="0">
                    <a:pos x="1427" y="441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  <p:sp>
            <p:nvSpPr>
              <p:cNvPr id="7178" name="Freeform 10"/>
              <p:cNvSpPr>
                <a:spLocks/>
              </p:cNvSpPr>
              <p:nvPr/>
            </p:nvSpPr>
            <p:spPr bwMode="hidden">
              <a:xfrm>
                <a:off x="4501" y="2317"/>
                <a:ext cx="1248" cy="539"/>
              </a:xfrm>
              <a:custGeom>
                <a:avLst/>
                <a:gdLst/>
                <a:ahLst/>
                <a:cxnLst>
                  <a:cxn ang="0">
                    <a:pos x="0" y="332"/>
                  </a:cxn>
                  <a:cxn ang="0">
                    <a:pos x="0" y="360"/>
                  </a:cxn>
                  <a:cxn ang="0">
                    <a:pos x="5" y="387"/>
                  </a:cxn>
                  <a:cxn ang="0">
                    <a:pos x="27" y="414"/>
                  </a:cxn>
                  <a:cxn ang="0">
                    <a:pos x="54" y="436"/>
                  </a:cxn>
                  <a:cxn ang="0">
                    <a:pos x="92" y="463"/>
                  </a:cxn>
                  <a:cxn ang="0">
                    <a:pos x="141" y="490"/>
                  </a:cxn>
                  <a:cxn ang="0">
                    <a:pos x="195" y="512"/>
                  </a:cxn>
                  <a:cxn ang="0">
                    <a:pos x="255" y="539"/>
                  </a:cxn>
                  <a:cxn ang="0">
                    <a:pos x="212" y="517"/>
                  </a:cxn>
                  <a:cxn ang="0">
                    <a:pos x="179" y="490"/>
                  </a:cxn>
                  <a:cxn ang="0">
                    <a:pos x="157" y="468"/>
                  </a:cxn>
                  <a:cxn ang="0">
                    <a:pos x="141" y="447"/>
                  </a:cxn>
                  <a:cxn ang="0">
                    <a:pos x="136" y="425"/>
                  </a:cxn>
                  <a:cxn ang="0">
                    <a:pos x="136" y="403"/>
                  </a:cxn>
                  <a:cxn ang="0">
                    <a:pos x="141" y="381"/>
                  </a:cxn>
                  <a:cxn ang="0">
                    <a:pos x="157" y="365"/>
                  </a:cxn>
                  <a:cxn ang="0">
                    <a:pos x="179" y="343"/>
                  </a:cxn>
                  <a:cxn ang="0">
                    <a:pos x="201" y="327"/>
                  </a:cxn>
                  <a:cxn ang="0">
                    <a:pos x="266" y="294"/>
                  </a:cxn>
                  <a:cxn ang="0">
                    <a:pos x="353" y="262"/>
                  </a:cxn>
                  <a:cxn ang="0">
                    <a:pos x="445" y="234"/>
                  </a:cxn>
                  <a:cxn ang="0">
                    <a:pos x="554" y="213"/>
                  </a:cxn>
                  <a:cxn ang="0">
                    <a:pos x="662" y="191"/>
                  </a:cxn>
                  <a:cxn ang="0">
                    <a:pos x="890" y="153"/>
                  </a:cxn>
                  <a:cxn ang="0">
                    <a:pos x="993" y="136"/>
                  </a:cxn>
                  <a:cxn ang="0">
                    <a:pos x="1091" y="120"/>
                  </a:cxn>
                  <a:cxn ang="0">
                    <a:pos x="1178" y="115"/>
                  </a:cxn>
                  <a:cxn ang="0">
                    <a:pos x="1248" y="104"/>
                  </a:cxn>
                  <a:cxn ang="0">
                    <a:pos x="1248" y="0"/>
                  </a:cxn>
                  <a:cxn ang="0">
                    <a:pos x="1161" y="22"/>
                  </a:cxn>
                  <a:cxn ang="0">
                    <a:pos x="1069" y="38"/>
                  </a:cxn>
                  <a:cxn ang="0">
                    <a:pos x="874" y="71"/>
                  </a:cxn>
                  <a:cxn ang="0">
                    <a:pos x="673" y="93"/>
                  </a:cxn>
                  <a:cxn ang="0">
                    <a:pos x="483" y="126"/>
                  </a:cxn>
                  <a:cxn ang="0">
                    <a:pos x="391" y="142"/>
                  </a:cxn>
                  <a:cxn ang="0">
                    <a:pos x="309" y="158"/>
                  </a:cxn>
                  <a:cxn ang="0">
                    <a:pos x="228" y="180"/>
                  </a:cxn>
                  <a:cxn ang="0">
                    <a:pos x="163" y="202"/>
                  </a:cxn>
                  <a:cxn ang="0">
                    <a:pos x="103" y="229"/>
                  </a:cxn>
                  <a:cxn ang="0">
                    <a:pos x="54" y="256"/>
                  </a:cxn>
                  <a:cxn ang="0">
                    <a:pos x="22" y="294"/>
                  </a:cxn>
                  <a:cxn ang="0">
                    <a:pos x="0" y="332"/>
                  </a:cxn>
                  <a:cxn ang="0">
                    <a:pos x="0" y="332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87843"/>
                      <a:invGamma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Arial"/>
                </a:endParaRPr>
              </a:p>
            </p:txBody>
          </p:sp>
        </p:grpSp>
        <p:sp>
          <p:nvSpPr>
            <p:cNvPr id="7179" name="Freeform 11"/>
            <p:cNvSpPr>
              <a:spLocks/>
            </p:cNvSpPr>
            <p:nvPr/>
          </p:nvSpPr>
          <p:spPr bwMode="hidden">
            <a:xfrm>
              <a:off x="3322" y="1341"/>
              <a:ext cx="1825" cy="1537"/>
            </a:xfrm>
            <a:custGeom>
              <a:avLst/>
              <a:gdLst/>
              <a:ahLst/>
              <a:cxnLst>
                <a:cxn ang="0">
                  <a:pos x="982" y="1061"/>
                </a:cxn>
                <a:cxn ang="0">
                  <a:pos x="1357" y="1012"/>
                </a:cxn>
                <a:cxn ang="0">
                  <a:pos x="1666" y="957"/>
                </a:cxn>
                <a:cxn ang="0">
                  <a:pos x="1916" y="897"/>
                </a:cxn>
                <a:cxn ang="0">
                  <a:pos x="2100" y="832"/>
                </a:cxn>
                <a:cxn ang="0">
                  <a:pos x="2220" y="756"/>
                </a:cxn>
                <a:cxn ang="0">
                  <a:pos x="2285" y="669"/>
                </a:cxn>
                <a:cxn ang="0">
                  <a:pos x="2290" y="560"/>
                </a:cxn>
                <a:cxn ang="0">
                  <a:pos x="2241" y="457"/>
                </a:cxn>
                <a:cxn ang="0">
                  <a:pos x="2144" y="364"/>
                </a:cxn>
                <a:cxn ang="0">
                  <a:pos x="2008" y="277"/>
                </a:cxn>
                <a:cxn ang="0">
                  <a:pos x="1769" y="157"/>
                </a:cxn>
                <a:cxn ang="0">
                  <a:pos x="1612" y="92"/>
                </a:cxn>
                <a:cxn ang="0">
                  <a:pos x="1476" y="43"/>
                </a:cxn>
                <a:cxn ang="0">
                  <a:pos x="1384" y="10"/>
                </a:cxn>
                <a:cxn ang="0">
                  <a:pos x="1346" y="0"/>
                </a:cxn>
                <a:cxn ang="0">
                  <a:pos x="1655" y="119"/>
                </a:cxn>
                <a:cxn ang="0">
                  <a:pos x="1948" y="255"/>
                </a:cxn>
                <a:cxn ang="0">
                  <a:pos x="2068" y="326"/>
                </a:cxn>
                <a:cxn ang="0">
                  <a:pos x="2171" y="402"/>
                </a:cxn>
                <a:cxn ang="0">
                  <a:pos x="2236" y="478"/>
                </a:cxn>
                <a:cxn ang="0">
                  <a:pos x="2263" y="560"/>
                </a:cxn>
                <a:cxn ang="0">
                  <a:pos x="2241" y="636"/>
                </a:cxn>
                <a:cxn ang="0">
                  <a:pos x="2171" y="702"/>
                </a:cxn>
                <a:cxn ang="0">
                  <a:pos x="2062" y="756"/>
                </a:cxn>
                <a:cxn ang="0">
                  <a:pos x="1921" y="800"/>
                </a:cxn>
                <a:cxn ang="0">
                  <a:pos x="1748" y="843"/>
                </a:cxn>
                <a:cxn ang="0">
                  <a:pos x="1351" y="908"/>
                </a:cxn>
                <a:cxn ang="0">
                  <a:pos x="923" y="968"/>
                </a:cxn>
                <a:cxn ang="0">
                  <a:pos x="521" y="1028"/>
                </a:cxn>
                <a:cxn ang="0">
                  <a:pos x="353" y="1066"/>
                </a:cxn>
                <a:cxn ang="0">
                  <a:pos x="206" y="1104"/>
                </a:cxn>
                <a:cxn ang="0">
                  <a:pos x="92" y="1148"/>
                </a:cxn>
                <a:cxn ang="0">
                  <a:pos x="22" y="1202"/>
                </a:cxn>
                <a:cxn ang="0">
                  <a:pos x="0" y="1262"/>
                </a:cxn>
                <a:cxn ang="0">
                  <a:pos x="27" y="1327"/>
                </a:cxn>
                <a:cxn ang="0">
                  <a:pos x="98" y="1382"/>
                </a:cxn>
                <a:cxn ang="0">
                  <a:pos x="196" y="1425"/>
                </a:cxn>
                <a:cxn ang="0">
                  <a:pos x="326" y="1469"/>
                </a:cxn>
                <a:cxn ang="0">
                  <a:pos x="217" y="1414"/>
                </a:cxn>
                <a:cxn ang="0">
                  <a:pos x="147" y="1360"/>
                </a:cxn>
                <a:cxn ang="0">
                  <a:pos x="120" y="1306"/>
                </a:cxn>
                <a:cxn ang="0">
                  <a:pos x="141" y="1257"/>
                </a:cxn>
                <a:cxn ang="0">
                  <a:pos x="212" y="1208"/>
                </a:cxn>
                <a:cxn ang="0">
                  <a:pos x="342" y="1164"/>
                </a:cxn>
                <a:cxn ang="0">
                  <a:pos x="527" y="1121"/>
                </a:cxn>
                <a:cxn ang="0">
                  <a:pos x="771" y="1088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Arial"/>
              </a:endParaRPr>
            </a:p>
          </p:txBody>
        </p:sp>
        <p:sp>
          <p:nvSpPr>
            <p:cNvPr id="7180" name="Freeform 12"/>
            <p:cNvSpPr>
              <a:spLocks/>
            </p:cNvSpPr>
            <p:nvPr/>
          </p:nvSpPr>
          <p:spPr bwMode="hidden">
            <a:xfrm>
              <a:off x="0" y="0"/>
              <a:ext cx="5758" cy="17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906"/>
                </a:cxn>
                <a:cxn ang="0">
                  <a:pos x="5740" y="1906"/>
                </a:cxn>
                <a:cxn ang="0">
                  <a:pos x="574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>
                <a:latin typeface="Arial"/>
              </a:endParaRPr>
            </a:p>
          </p:txBody>
        </p:sp>
      </p:grpSp>
      <p:sp>
        <p:nvSpPr>
          <p:cNvPr id="7181" name="Rectangle 13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8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  <p:sp>
        <p:nvSpPr>
          <p:cNvPr id="7183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kepticalscience.com/" TargetMode="External"/><Relationship Id="rId3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3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4" Type="http://schemas.openxmlformats.org/officeDocument/2006/relationships/image" Target="../media/image9.png"/><Relationship Id="rId5" Type="http://schemas.openxmlformats.org/officeDocument/2006/relationships/image" Target="../media/image10.jpeg"/><Relationship Id="rId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hyperlink" Target="http://www.thedailyshow.com/watch/thu-august-18-2011/world-of-class-warfare---warren-buffett-vs--wealthy-conservatives" TargetMode="Externa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://www.census.gov" TargetMode="Externa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apminder.org/" TargetMode="External"/><Relationship Id="rId3" Type="http://schemas.openxmlformats.org/officeDocument/2006/relationships/image" Target="../media/image26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0" y="333375"/>
            <a:ext cx="9144000" cy="6048375"/>
          </a:xfrm>
        </p:spPr>
        <p:txBody>
          <a:bodyPr/>
          <a:lstStyle/>
          <a:p>
            <a:r>
              <a:rPr lang="en-US" sz="4400" b="1" dirty="0" smtClean="0">
                <a:latin typeface="+mj-lt"/>
              </a:rPr>
              <a:t>Closer </a:t>
            </a:r>
            <a:r>
              <a:rPr lang="en-US" sz="4400" b="1" dirty="0">
                <a:latin typeface="+mj-lt"/>
              </a:rPr>
              <a:t>to </a:t>
            </a:r>
            <a:r>
              <a:rPr lang="en-US" sz="4400" b="1" dirty="0" smtClean="0">
                <a:latin typeface="+mj-lt"/>
              </a:rPr>
              <a:t>Fair: </a:t>
            </a:r>
          </a:p>
          <a:p>
            <a:r>
              <a:rPr lang="en-US" sz="4400" b="1" dirty="0" smtClean="0">
                <a:latin typeface="+mj-lt"/>
              </a:rPr>
              <a:t>Social Justice in Mathematics</a:t>
            </a:r>
          </a:p>
          <a:p>
            <a:r>
              <a:rPr lang="en-US" sz="4400" b="1" dirty="0" smtClean="0">
                <a:latin typeface="+mj-lt"/>
              </a:rPr>
              <a:t>Math for Social Justice</a:t>
            </a:r>
            <a:endParaRPr lang="en-US" sz="2400" dirty="0" smtClean="0">
              <a:latin typeface="+mj-lt"/>
            </a:endParaRPr>
          </a:p>
          <a:p>
            <a:r>
              <a:rPr lang="en-US" dirty="0">
                <a:latin typeface="+mj-lt"/>
              </a:rPr>
              <a:t>Dr. David </a:t>
            </a:r>
            <a:r>
              <a:rPr lang="en-US" dirty="0" smtClean="0">
                <a:latin typeface="+mj-lt"/>
              </a:rPr>
              <a:t>Kung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St. Mary's College of </a:t>
            </a:r>
            <a:r>
              <a:rPr lang="en-US" dirty="0" smtClean="0">
                <a:latin typeface="+mj-lt"/>
              </a:rPr>
              <a:t>Maryland</a:t>
            </a:r>
          </a:p>
          <a:p>
            <a:endParaRPr lang="en-US" dirty="0">
              <a:latin typeface="+mj-lt"/>
            </a:endParaRPr>
          </a:p>
          <a:p>
            <a:endParaRPr lang="en-US" dirty="0" smtClean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 smtClean="0">
              <a:latin typeface="+mj-lt"/>
            </a:endParaRPr>
          </a:p>
          <a:p>
            <a:r>
              <a:rPr lang="en-US" dirty="0" smtClean="0">
                <a:latin typeface="+mj-lt"/>
              </a:rPr>
              <a:t>(Notes/slides/</a:t>
            </a:r>
            <a:r>
              <a:rPr lang="en-US" dirty="0" err="1" smtClean="0">
                <a:latin typeface="+mj-lt"/>
              </a:rPr>
              <a:t>activites</a:t>
            </a:r>
            <a:r>
              <a:rPr lang="en-US" dirty="0" smtClean="0">
                <a:latin typeface="+mj-lt"/>
              </a:rPr>
              <a:t> – on my webpage soon!)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752" y="3933056"/>
            <a:ext cx="4286250" cy="228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0" y="333375"/>
            <a:ext cx="9144000" cy="6048375"/>
          </a:xfrm>
        </p:spPr>
        <p:txBody>
          <a:bodyPr/>
          <a:lstStyle/>
          <a:p>
            <a:endParaRPr lang="en-US" dirty="0">
              <a:latin typeface="+mj-lt"/>
            </a:endParaRPr>
          </a:p>
          <a:p>
            <a:r>
              <a:rPr lang="en-US" sz="4400" b="1" dirty="0" smtClean="0">
                <a:latin typeface="+mj-lt"/>
              </a:rPr>
              <a:t>A Talk in Two Acts:</a:t>
            </a:r>
          </a:p>
          <a:p>
            <a:endParaRPr lang="en-US" sz="2400" dirty="0" smtClean="0">
              <a:latin typeface="+mj-lt"/>
            </a:endParaRPr>
          </a:p>
          <a:p>
            <a:pPr marL="514350" indent="-514350" algn="l">
              <a:buAutoNum type="arabicPeriod"/>
            </a:pPr>
            <a:r>
              <a:rPr lang="en-US" dirty="0" smtClean="0">
                <a:latin typeface="+mj-lt"/>
              </a:rPr>
              <a:t>Social Justice in Mathematics</a:t>
            </a:r>
          </a:p>
          <a:p>
            <a:pPr marL="514350" indent="-514350" algn="l">
              <a:buAutoNum type="arabicPeriod"/>
            </a:pPr>
            <a:r>
              <a:rPr lang="en-US" dirty="0" smtClean="0">
                <a:latin typeface="+mj-lt"/>
              </a:rPr>
              <a:t>Mathematics for Social Justice</a:t>
            </a:r>
          </a:p>
        </p:txBody>
      </p:sp>
    </p:spTree>
    <p:extLst>
      <p:ext uri="{BB962C8B-B14F-4D97-AF65-F5344CB8AC3E}">
        <p14:creationId xmlns:p14="http://schemas.microsoft.com/office/powerpoint/2010/main" val="351332448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476672"/>
            <a:ext cx="8675688" cy="2392362"/>
          </a:xfrm>
        </p:spPr>
        <p:txBody>
          <a:bodyPr/>
          <a:lstStyle/>
          <a:p>
            <a:pPr>
              <a:buFont typeface="Wingdings" charset="2"/>
              <a:buNone/>
            </a:pPr>
            <a:r>
              <a:rPr lang="en-US" dirty="0" smtClean="0"/>
              <a:t>Imagine this is the first day of Calculus. The students wander in talking/laughing, and then sit down</a:t>
            </a:r>
            <a:r>
              <a:rPr lang="en-US" dirty="0"/>
              <a:t>. You start </a:t>
            </a:r>
            <a:r>
              <a:rPr lang="en-US" dirty="0" smtClean="0"/>
              <a:t>class.</a:t>
            </a:r>
            <a:endParaRPr lang="en-US" dirty="0"/>
          </a:p>
          <a:p>
            <a:pPr>
              <a:buFont typeface="Wingdings" charset="2"/>
              <a:buNone/>
            </a:pPr>
            <a:r>
              <a:rPr lang="en-US" dirty="0" smtClean="0"/>
              <a:t>Five minutes later, a </a:t>
            </a:r>
            <a:r>
              <a:rPr lang="en-US" dirty="0"/>
              <a:t>student </a:t>
            </a:r>
            <a:r>
              <a:rPr lang="en-US" dirty="0" smtClean="0"/>
              <a:t>walks.</a:t>
            </a:r>
            <a:endParaRPr lang="en-US" dirty="0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907704" y="2852936"/>
            <a:ext cx="5328592" cy="584776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Where 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does the student sit?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686800" cy="5257800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/>
              <a:t>… the student is:</a:t>
            </a:r>
          </a:p>
          <a:p>
            <a:pPr marL="990600" lvl="1" indent="-533400"/>
            <a:r>
              <a:rPr lang="en-US" dirty="0"/>
              <a:t>your strongest </a:t>
            </a:r>
            <a:r>
              <a:rPr lang="en-US" dirty="0" smtClean="0"/>
              <a:t>student – everyone knows it?</a:t>
            </a:r>
            <a:endParaRPr lang="en-US" dirty="0"/>
          </a:p>
          <a:p>
            <a:pPr marL="990600" lvl="1" indent="-533400"/>
            <a:r>
              <a:rPr lang="en-US" dirty="0"/>
              <a:t>an African-American </a:t>
            </a:r>
            <a:r>
              <a:rPr lang="en-US" dirty="0" smtClean="0"/>
              <a:t>male, </a:t>
            </a:r>
            <a:r>
              <a:rPr lang="en-US" dirty="0"/>
              <a:t>the only </a:t>
            </a:r>
            <a:r>
              <a:rPr lang="en-US" dirty="0" smtClean="0"/>
              <a:t>black </a:t>
            </a:r>
            <a:r>
              <a:rPr lang="en-US" dirty="0"/>
              <a:t>student in the class?</a:t>
            </a:r>
          </a:p>
          <a:p>
            <a:pPr marL="990600" lvl="1" indent="-533400"/>
            <a:r>
              <a:rPr lang="en-US" dirty="0"/>
              <a:t>female President of the Math Club?</a:t>
            </a:r>
          </a:p>
          <a:p>
            <a:pPr marL="990600" lvl="1" indent="-533400"/>
            <a:r>
              <a:rPr lang="en-US" dirty="0"/>
              <a:t>a female Mexican immigrant with a strong accent?</a:t>
            </a:r>
          </a:p>
          <a:p>
            <a:pPr marL="990600" lvl="1" indent="-533400"/>
            <a:r>
              <a:rPr lang="en-US" dirty="0"/>
              <a:t>a female 35-year old returning student?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3635896" y="332656"/>
            <a:ext cx="2171328" cy="588962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What </a:t>
            </a:r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if…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404664"/>
            <a:ext cx="8675688" cy="5184775"/>
          </a:xfrm>
        </p:spPr>
        <p:txBody>
          <a:bodyPr/>
          <a:lstStyle/>
          <a:p>
            <a:pPr marL="609600" indent="-609600" algn="ctr">
              <a:buFont typeface="Wingdings" charset="2"/>
              <a:buNone/>
            </a:pPr>
            <a:r>
              <a:rPr lang="en-US" dirty="0"/>
              <a:t>Equal treatment </a:t>
            </a:r>
            <a:r>
              <a:rPr lang="en-US" b="1" u="sng" dirty="0"/>
              <a:t>of</a:t>
            </a:r>
            <a:r>
              <a:rPr lang="en-US" dirty="0"/>
              <a:t> students</a:t>
            </a:r>
          </a:p>
          <a:p>
            <a:pPr marL="609600" indent="-609600" algn="ctr">
              <a:buFont typeface="Wingdings" charset="2"/>
              <a:buNone/>
            </a:pPr>
            <a:r>
              <a:rPr lang="en-US" dirty="0"/>
              <a:t>≠ </a:t>
            </a:r>
          </a:p>
          <a:p>
            <a:pPr marL="609600" indent="-609600" algn="ctr">
              <a:buFont typeface="Wingdings" charset="2"/>
              <a:buNone/>
            </a:pPr>
            <a:r>
              <a:rPr lang="en-US" dirty="0"/>
              <a:t>Equal Experience </a:t>
            </a:r>
            <a:r>
              <a:rPr lang="en-US" b="1" u="sng" dirty="0"/>
              <a:t>for</a:t>
            </a:r>
            <a:r>
              <a:rPr lang="en-US" dirty="0"/>
              <a:t> students</a:t>
            </a:r>
          </a:p>
          <a:p>
            <a:pPr marL="609600" indent="-609600">
              <a:buFont typeface="Wingdings" charset="2"/>
              <a:buNone/>
            </a:pPr>
            <a:endParaRPr lang="en-US" dirty="0" smtClean="0"/>
          </a:p>
          <a:p>
            <a:pPr marL="609600" indent="-609600" algn="ctr">
              <a:buFont typeface="Wingdings" charset="2"/>
              <a:buNone/>
            </a:pPr>
            <a:endParaRPr lang="en-US" dirty="0" smtClean="0"/>
          </a:p>
          <a:p>
            <a:pPr marL="609600" indent="-609600" algn="ctr">
              <a:buFont typeface="Wingdings" charset="2"/>
              <a:buNone/>
            </a:pPr>
            <a:r>
              <a:rPr lang="en-US" dirty="0" smtClean="0"/>
              <a:t>“He doesn’t </a:t>
            </a:r>
            <a:r>
              <a:rPr lang="en-US" dirty="0"/>
              <a:t>treat his students equally, he treats them fairly.”</a:t>
            </a:r>
          </a:p>
          <a:p>
            <a:pPr marL="609600" indent="-609600">
              <a:buFont typeface="Wingdings" charset="2"/>
              <a:buNone/>
            </a:pPr>
            <a:r>
              <a:rPr lang="en-US" dirty="0"/>
              <a:t>					        - anonymous </a:t>
            </a:r>
            <a:r>
              <a:rPr lang="en-US" dirty="0" smtClean="0"/>
              <a:t>student</a:t>
            </a:r>
          </a:p>
          <a:p>
            <a:pPr marL="609600" indent="-609600">
              <a:buFont typeface="Wingdings" charset="2"/>
              <a:buNone/>
            </a:pPr>
            <a:endParaRPr lang="en-US" dirty="0"/>
          </a:p>
          <a:p>
            <a:pPr marL="609600" indent="-609600" algn="ctr">
              <a:buFont typeface="Wingdings" charset="2"/>
              <a:buNone/>
            </a:pPr>
            <a:r>
              <a:rPr lang="en-US" dirty="0" smtClean="0"/>
              <a:t>Our goal should be </a:t>
            </a:r>
            <a:r>
              <a:rPr lang="en-US" b="1" u="sng" dirty="0" smtClean="0"/>
              <a:t>equal opportunity!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3131840" y="2492896"/>
            <a:ext cx="2747962" cy="588963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Equal vs. Fair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/>
      <p:bldP spid="11268" grpId="0" uiExpan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3200" dirty="0" smtClean="0"/>
              <a:t>Act I (Social Justice in Math) - Outline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229600" cy="5257800"/>
          </a:xfrm>
        </p:spPr>
        <p:txBody>
          <a:bodyPr/>
          <a:lstStyle/>
          <a:p>
            <a:r>
              <a:rPr lang="en-US" dirty="0" smtClean="0"/>
              <a:t>Activity: walking into class late</a:t>
            </a:r>
          </a:p>
          <a:p>
            <a:r>
              <a:rPr lang="en-US" dirty="0" smtClean="0"/>
              <a:t>Statistics: the state of women and minorities in STEM (college-level)</a:t>
            </a:r>
          </a:p>
          <a:p>
            <a:r>
              <a:rPr lang="en-US" dirty="0" smtClean="0"/>
              <a:t>Arguments for change</a:t>
            </a:r>
          </a:p>
          <a:p>
            <a:r>
              <a:rPr lang="en-US" dirty="0" smtClean="0"/>
              <a:t>The Story of Emerging Scholars (ESP)</a:t>
            </a:r>
          </a:p>
          <a:p>
            <a:pPr lvl="1"/>
            <a:r>
              <a:rPr lang="en-US" dirty="0" smtClean="0"/>
              <a:t>Reasons for poor performance</a:t>
            </a:r>
          </a:p>
          <a:p>
            <a:pPr lvl="1"/>
            <a:r>
              <a:rPr lang="en-US" dirty="0" smtClean="0"/>
              <a:t>Ways to improve performance</a:t>
            </a:r>
          </a:p>
          <a:p>
            <a:r>
              <a:rPr lang="en-US" dirty="0" smtClean="0"/>
              <a:t>What You Can Do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Rot="1" noChangeArrowheads="1"/>
          </p:cNvSpPr>
          <p:nvPr/>
        </p:nvSpPr>
        <p:spPr bwMode="auto">
          <a:xfrm>
            <a:off x="762000" y="152400"/>
            <a:ext cx="75755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Statistics: Women and Minorities in STEM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468313" y="765175"/>
            <a:ext cx="8351837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Q: How are we doing </a:t>
            </a:r>
            <a:r>
              <a:rPr lang="en-US" sz="2800" u="sng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graduating</a:t>
            </a:r>
            <a:r>
              <a:rPr lang="en-US" sz="28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 STEM majors?</a:t>
            </a:r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endParaRPr lang="en-US" sz="2800" dirty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  <a:p>
            <a:r>
              <a:rPr lang="en-US" sz="28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Source: NSF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Bachelor's degrees awarded, by field, citizenship, and race/ethnicity of recipients: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 </a:t>
            </a:r>
          </a:p>
          <a:p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http://</a:t>
            </a:r>
            <a:r>
              <a:rPr lang="en-US" sz="2400" dirty="0" err="1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www.nsf.gov</a:t>
            </a:r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/statistics/degrees/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0848931"/>
              </p:ext>
            </p:extLst>
          </p:nvPr>
        </p:nvGraphicFramePr>
        <p:xfrm>
          <a:off x="395536" y="1484784"/>
          <a:ext cx="8223820" cy="5003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836613"/>
            <a:ext cx="8147050" cy="604837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sz="2800" dirty="0"/>
              <a:t>Q: How are we doing with women in</a:t>
            </a:r>
            <a:r>
              <a:rPr lang="en-US" sz="2800" dirty="0" smtClean="0"/>
              <a:t> STEM?</a:t>
            </a:r>
            <a:endParaRPr lang="en-US" sz="2800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762000" y="152400"/>
            <a:ext cx="75755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Statistics: Women and Minorities in STEM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5168043"/>
              </p:ext>
            </p:extLst>
          </p:nvPr>
        </p:nvGraphicFramePr>
        <p:xfrm>
          <a:off x="179512" y="1412776"/>
          <a:ext cx="8700194" cy="51241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836613"/>
            <a:ext cx="8291512" cy="749300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sz="2800" dirty="0"/>
              <a:t>Q: How are we doing with minorities in</a:t>
            </a:r>
            <a:r>
              <a:rPr lang="en-US" sz="2800" dirty="0" smtClean="0"/>
              <a:t> STEM?</a:t>
            </a:r>
            <a:endParaRPr lang="en-US" sz="2800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762000" y="152400"/>
            <a:ext cx="75755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Statistics: Women and Minorities in STEM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3608" y="6488668"/>
            <a:ext cx="6924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NSF: Minorities = African-Amer., Hispanic, Native Amer., SE Asian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9542760"/>
              </p:ext>
            </p:extLst>
          </p:nvPr>
        </p:nvGraphicFramePr>
        <p:xfrm>
          <a:off x="611560" y="1484784"/>
          <a:ext cx="7793806" cy="482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Graphic spid="9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908050"/>
            <a:ext cx="8064500" cy="676275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sz="2800" dirty="0"/>
              <a:t>Q: How are we doing with</a:t>
            </a:r>
            <a:r>
              <a:rPr lang="en-US" sz="2800" dirty="0" smtClean="0"/>
              <a:t> minorities in math?</a:t>
            </a:r>
            <a:endParaRPr lang="en-US" sz="2800" dirty="0"/>
          </a:p>
        </p:txBody>
      </p:sp>
      <p:sp>
        <p:nvSpPr>
          <p:cNvPr id="12" name="Rectangle 3"/>
          <p:cNvSpPr>
            <a:spLocks noRot="1" noChangeArrowheads="1"/>
          </p:cNvSpPr>
          <p:nvPr/>
        </p:nvSpPr>
        <p:spPr bwMode="auto">
          <a:xfrm>
            <a:off x="762000" y="152400"/>
            <a:ext cx="75755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Statistics: Women and Minorities in STEM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1143818"/>
              </p:ext>
            </p:extLst>
          </p:nvPr>
        </p:nvGraphicFramePr>
        <p:xfrm>
          <a:off x="467544" y="1700808"/>
          <a:ext cx="7976170" cy="48320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7596336" y="4077072"/>
            <a:ext cx="1057351" cy="461665"/>
          </a:xfrm>
          <a:prstGeom prst="rect">
            <a:avLst/>
          </a:prstGeom>
          <a:solidFill>
            <a:srgbClr val="FFFF00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Arial"/>
              </a:rPr>
              <a:t>14.8%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8028384" y="3212976"/>
            <a:ext cx="1057351" cy="461665"/>
          </a:xfrm>
          <a:prstGeom prst="rect">
            <a:avLst/>
          </a:prstGeom>
          <a:solidFill>
            <a:srgbClr val="F930FF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  <a:latin typeface="Arial"/>
              </a:rPr>
              <a:t>13.4%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8100392" y="2420888"/>
            <a:ext cx="783237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solidFill>
                  <a:schemeClr val="bg2"/>
                </a:solidFill>
                <a:latin typeface="Arial"/>
              </a:rPr>
              <a:t>U.S.</a:t>
            </a:r>
            <a:endParaRPr lang="en-US" sz="2400" dirty="0">
              <a:solidFill>
                <a:schemeClr val="bg2"/>
              </a:solidFill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39946" grpId="0" animBg="1"/>
      <p:bldP spid="39945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81075"/>
            <a:ext cx="8229600" cy="3816350"/>
          </a:xfrm>
        </p:spPr>
        <p:txBody>
          <a:bodyPr/>
          <a:lstStyle/>
          <a:p>
            <a:pPr>
              <a:buFont typeface="Wingdings" charset="2"/>
              <a:buNone/>
            </a:pPr>
            <a:r>
              <a:rPr lang="en-US" dirty="0"/>
              <a:t>What do the </a:t>
            </a:r>
            <a:r>
              <a:rPr lang="en-US" dirty="0" smtClean="0"/>
              <a:t>national data </a:t>
            </a:r>
            <a:r>
              <a:rPr lang="en-US" dirty="0"/>
              <a:t>say?</a:t>
            </a:r>
          </a:p>
          <a:p>
            <a:pPr>
              <a:buFont typeface="Wingdings" charset="2"/>
              <a:buNone/>
            </a:pPr>
            <a:r>
              <a:rPr lang="en-US" dirty="0"/>
              <a:t>We lose women and minorities in math and the science at </a:t>
            </a:r>
            <a:r>
              <a:rPr lang="en-US" u="sng" dirty="0"/>
              <a:t>every step of the pipeline</a:t>
            </a:r>
            <a:r>
              <a:rPr lang="en-US" dirty="0"/>
              <a:t> from middle school through professorships, even when controlling for:</a:t>
            </a:r>
          </a:p>
          <a:p>
            <a:pPr lvl="1"/>
            <a:r>
              <a:rPr lang="en-US" dirty="0"/>
              <a:t>preparation</a:t>
            </a:r>
          </a:p>
          <a:p>
            <a:pPr lvl="1"/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683568" y="4953000"/>
            <a:ext cx="7272808" cy="107721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dirty="0">
                <a:latin typeface="+mn-lt"/>
              </a:rPr>
              <a:t>The problem isn’t </a:t>
            </a:r>
            <a:r>
              <a:rPr lang="en-US" sz="3200" dirty="0" smtClean="0">
                <a:latin typeface="+mn-lt"/>
              </a:rPr>
              <a:t>the students, </a:t>
            </a:r>
          </a:p>
          <a:p>
            <a:pPr algn="ctr"/>
            <a:r>
              <a:rPr lang="en-US" sz="3200" dirty="0" smtClean="0">
                <a:latin typeface="+mn-lt"/>
              </a:rPr>
              <a:t>it’s us (STEM communities).</a:t>
            </a:r>
            <a:endParaRPr lang="en-US" sz="3200" dirty="0">
              <a:latin typeface="+mn-lt"/>
            </a:endParaRPr>
          </a:p>
        </p:txBody>
      </p:sp>
      <p:sp>
        <p:nvSpPr>
          <p:cNvPr id="5" name="Rectangle 3"/>
          <p:cNvSpPr>
            <a:spLocks noRot="1" noChangeArrowheads="1"/>
          </p:cNvSpPr>
          <p:nvPr/>
        </p:nvSpPr>
        <p:spPr bwMode="auto">
          <a:xfrm>
            <a:off x="762000" y="152400"/>
            <a:ext cx="757555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Statistics: Big Picture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675688" cy="5040313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 smtClean="0"/>
              <a:t>Why should we want to improve things?</a:t>
            </a:r>
            <a:endParaRPr lang="en-US" dirty="0"/>
          </a:p>
          <a:p>
            <a:pPr marL="990600" lvl="1" indent="-533400"/>
            <a:r>
              <a:rPr lang="en-US" dirty="0" smtClean="0"/>
              <a:t>Equity: </a:t>
            </a:r>
            <a:r>
              <a:rPr lang="en-US" dirty="0"/>
              <a:t>M</a:t>
            </a:r>
            <a:r>
              <a:rPr lang="en-US" dirty="0" smtClean="0"/>
              <a:t>ath (and STEM) should look like our communities/states/country/world</a:t>
            </a:r>
          </a:p>
          <a:p>
            <a:pPr marL="990600" lvl="1" indent="-533400"/>
            <a:r>
              <a:rPr lang="en-US" dirty="0" smtClean="0"/>
              <a:t>Access: everyone accepted should have the opportunity to study any subject</a:t>
            </a:r>
          </a:p>
          <a:p>
            <a:pPr marL="990600" lvl="1" indent="-533400"/>
            <a:r>
              <a:rPr lang="en-US" dirty="0"/>
              <a:t>Role models: we produce teachers/profs</a:t>
            </a:r>
          </a:p>
          <a:p>
            <a:pPr marL="990600" lvl="1" indent="-533400"/>
            <a:r>
              <a:rPr lang="en-US" dirty="0"/>
              <a:t>STEM progress: equal abilities means we are missing out on great </a:t>
            </a:r>
            <a:r>
              <a:rPr lang="en-US" dirty="0" smtClean="0"/>
              <a:t>discoveries</a:t>
            </a:r>
          </a:p>
          <a:p>
            <a:pPr marL="990600" lvl="1" indent="-533400"/>
            <a:endParaRPr lang="en-US" dirty="0"/>
          </a:p>
          <a:p>
            <a:pPr marL="4763" lvl="1" indent="0">
              <a:buNone/>
            </a:pPr>
            <a:r>
              <a:rPr lang="en-US" dirty="0" smtClean="0"/>
              <a:t>Today:    What can you do to help?</a:t>
            </a:r>
            <a:endParaRPr lang="en-US" dirty="0"/>
          </a:p>
          <a:p>
            <a:pPr marL="990600" lvl="1" indent="-533400"/>
            <a:endParaRPr lang="en-US" dirty="0"/>
          </a:p>
        </p:txBody>
      </p:sp>
      <p:sp>
        <p:nvSpPr>
          <p:cNvPr id="12293" name="Rectangle 5"/>
          <p:cNvSpPr>
            <a:spLocks noRot="1" noChangeArrowheads="1"/>
          </p:cNvSpPr>
          <p:nvPr/>
        </p:nvSpPr>
        <p:spPr bwMode="auto">
          <a:xfrm>
            <a:off x="1187450" y="260350"/>
            <a:ext cx="6697663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Arguments for Change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81075"/>
            <a:ext cx="8675688" cy="4536157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/>
              <a:t>Why do </a:t>
            </a:r>
            <a:r>
              <a:rPr lang="en-US" dirty="0" smtClean="0"/>
              <a:t>(college) minority </a:t>
            </a:r>
            <a:r>
              <a:rPr lang="en-US" dirty="0"/>
              <a:t>students fail in Calculus?</a:t>
            </a:r>
          </a:p>
          <a:p>
            <a:pPr marL="609600" indent="-609600">
              <a:buFont typeface="Wingdings" charset="2"/>
              <a:buNone/>
            </a:pPr>
            <a:r>
              <a:rPr lang="en-US" dirty="0"/>
              <a:t>(Uri </a:t>
            </a:r>
            <a:r>
              <a:rPr lang="en-US" dirty="0" err="1"/>
              <a:t>Treisman</a:t>
            </a:r>
            <a:r>
              <a:rPr lang="en-US" dirty="0"/>
              <a:t>, UC-Berkeley, 1970’s</a:t>
            </a:r>
            <a:r>
              <a:rPr lang="en-US" dirty="0" smtClean="0"/>
              <a:t>)</a:t>
            </a:r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Common guesses:</a:t>
            </a:r>
          </a:p>
          <a:p>
            <a:pPr marL="990600" lvl="1" indent="-533400"/>
            <a:r>
              <a:rPr lang="en-US" dirty="0"/>
              <a:t>Poor preparation</a:t>
            </a:r>
          </a:p>
          <a:p>
            <a:pPr marL="990600" lvl="1" indent="-533400"/>
            <a:r>
              <a:rPr lang="en-US" dirty="0"/>
              <a:t>Lack of motivation</a:t>
            </a:r>
          </a:p>
          <a:p>
            <a:pPr marL="990600" lvl="1" indent="-533400"/>
            <a:r>
              <a:rPr lang="en-US" dirty="0"/>
              <a:t>Lack of family support</a:t>
            </a:r>
          </a:p>
          <a:p>
            <a:pPr marL="990600" lvl="1" indent="-533400"/>
            <a:r>
              <a:rPr lang="en-US" dirty="0"/>
              <a:t>Socio-economic </a:t>
            </a:r>
            <a:r>
              <a:rPr lang="en-US" dirty="0" smtClean="0"/>
              <a:t>forces</a:t>
            </a:r>
          </a:p>
        </p:txBody>
      </p:sp>
      <p:sp>
        <p:nvSpPr>
          <p:cNvPr id="12293" name="Rectangle 5"/>
          <p:cNvSpPr>
            <a:spLocks noRot="1" noChangeArrowheads="1"/>
          </p:cNvSpPr>
          <p:nvPr/>
        </p:nvSpPr>
        <p:spPr bwMode="auto">
          <a:xfrm>
            <a:off x="179512" y="260350"/>
            <a:ext cx="87849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The Story of Emerging Scholars Programs (ESP)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5661248"/>
            <a:ext cx="6015940" cy="1040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90600" lvl="1" indent="-990600" eaLnBrk="1" hangingPunct="1">
              <a:spcBef>
                <a:spcPct val="20000"/>
              </a:spcBef>
              <a:buClr>
                <a:srgbClr val="339966"/>
              </a:buClr>
              <a:buSzPct val="70000"/>
            </a:pPr>
            <a:r>
              <a:rPr lang="en-US" sz="2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Data: These guesses are all wrong!</a:t>
            </a:r>
          </a:p>
          <a:p>
            <a:pPr marL="990600" lvl="1" indent="-990600" eaLnBrk="1" hangingPunct="1">
              <a:spcBef>
                <a:spcPct val="20000"/>
              </a:spcBef>
              <a:buClr>
                <a:srgbClr val="339966"/>
              </a:buClr>
              <a:buSzPct val="70000"/>
            </a:pPr>
            <a:r>
              <a:rPr lang="en-US" sz="2800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	</a:t>
            </a:r>
            <a:r>
              <a:rPr lang="en-US" sz="2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(and all about </a:t>
            </a:r>
            <a:r>
              <a:rPr lang="en-US" sz="2800" i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the students.</a:t>
            </a:r>
            <a:r>
              <a:rPr lang="en-US" sz="2800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2708920"/>
            <a:ext cx="3863805" cy="2529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8964613" cy="2519363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 err="1" smtClean="0"/>
              <a:t>Treisman’s</a:t>
            </a:r>
            <a:r>
              <a:rPr lang="en-US" dirty="0" smtClean="0"/>
              <a:t> observations:</a:t>
            </a:r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	Successful Chinese-Amer. Students:</a:t>
            </a:r>
          </a:p>
          <a:p>
            <a:pPr marL="1009650" lvl="1" indent="-609600"/>
            <a:r>
              <a:rPr lang="en-US" sz="2400" dirty="0"/>
              <a:t>Worked alone, got stuck</a:t>
            </a:r>
          </a:p>
          <a:p>
            <a:pPr marL="1009650" lvl="1" indent="-609600"/>
            <a:r>
              <a:rPr lang="en-US" sz="2400" dirty="0"/>
              <a:t>Studied together</a:t>
            </a:r>
          </a:p>
          <a:p>
            <a:pPr marL="1009650" lvl="1" indent="-609600"/>
            <a:r>
              <a:rPr lang="en-US" sz="2400" dirty="0"/>
              <a:t>Helped each other</a:t>
            </a:r>
          </a:p>
          <a:p>
            <a:pPr marL="1009650" lvl="1" indent="-609600"/>
            <a:r>
              <a:rPr lang="en-US" sz="2400" dirty="0"/>
              <a:t>Formed social bonds that supported their STEM interests</a:t>
            </a:r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	Unsuccessful Black Students:</a:t>
            </a:r>
          </a:p>
          <a:p>
            <a:pPr marL="1009650" lvl="1" indent="-609600"/>
            <a:r>
              <a:rPr lang="en-US" sz="2400" dirty="0" smtClean="0"/>
              <a:t>High motivation, solid preparation</a:t>
            </a:r>
          </a:p>
          <a:p>
            <a:pPr marL="1009650" lvl="1" indent="-609600"/>
            <a:r>
              <a:rPr lang="en-US" sz="2400" dirty="0" smtClean="0"/>
              <a:t>Excellent family support</a:t>
            </a:r>
          </a:p>
          <a:p>
            <a:pPr marL="1009650" lvl="1" indent="-609600"/>
            <a:r>
              <a:rPr lang="en-US" sz="2400" dirty="0" smtClean="0"/>
              <a:t>Worked alone</a:t>
            </a:r>
          </a:p>
          <a:p>
            <a:pPr marL="1009650" lvl="1" indent="-609600"/>
            <a:r>
              <a:rPr lang="en-US" sz="2400" dirty="0" smtClean="0"/>
              <a:t>Formed social bonds separate from STEM interests</a:t>
            </a:r>
          </a:p>
          <a:p>
            <a:pPr marL="1009650" lvl="1" indent="-609600"/>
            <a:endParaRPr lang="en-US" dirty="0" smtClean="0"/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Rectangle 5"/>
          <p:cNvSpPr>
            <a:spLocks noRot="1" noChangeArrowheads="1"/>
          </p:cNvSpPr>
          <p:nvPr/>
        </p:nvSpPr>
        <p:spPr bwMode="auto">
          <a:xfrm>
            <a:off x="179512" y="260350"/>
            <a:ext cx="87849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The Story of Emerging Scholars Programs (ESP)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96975"/>
            <a:ext cx="8713093" cy="5328369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 err="1" smtClean="0"/>
              <a:t>Treisman’s</a:t>
            </a:r>
            <a:r>
              <a:rPr lang="en-US" dirty="0" smtClean="0"/>
              <a:t> idea:</a:t>
            </a:r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	</a:t>
            </a:r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Put students in positions where</a:t>
            </a:r>
          </a:p>
          <a:p>
            <a:pPr marL="609600" indent="-609600"/>
            <a:r>
              <a:rPr lang="en-US" dirty="0" smtClean="0"/>
              <a:t>they are challenged (not remediated)</a:t>
            </a:r>
          </a:p>
          <a:p>
            <a:pPr marL="609600" indent="-609600"/>
            <a:r>
              <a:rPr lang="en-US" dirty="0" smtClean="0"/>
              <a:t>they build social networks that support their interests in mathematics</a:t>
            </a:r>
          </a:p>
          <a:p>
            <a:pPr marL="609600" indent="-609600"/>
            <a:r>
              <a:rPr lang="en-US" dirty="0" smtClean="0"/>
              <a:t>they get “the good stuff” </a:t>
            </a:r>
            <a:endParaRPr lang="en-US" dirty="0"/>
          </a:p>
        </p:txBody>
      </p:sp>
      <p:sp>
        <p:nvSpPr>
          <p:cNvPr id="4" name="Rectangle 5"/>
          <p:cNvSpPr>
            <a:spLocks noRot="1" noChangeArrowheads="1"/>
          </p:cNvSpPr>
          <p:nvPr/>
        </p:nvSpPr>
        <p:spPr bwMode="auto">
          <a:xfrm>
            <a:off x="179512" y="260350"/>
            <a:ext cx="87849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The Story of Emerging Scholars Programs (ESP)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975"/>
            <a:ext cx="8964613" cy="4824313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/>
              <a:t>Stereotype Threat </a:t>
            </a:r>
            <a:r>
              <a:rPr lang="en-US" dirty="0" smtClean="0"/>
              <a:t>(Steele &amp; </a:t>
            </a:r>
            <a:r>
              <a:rPr lang="en-US" dirty="0"/>
              <a:t>Aronson)</a:t>
            </a:r>
          </a:p>
          <a:p>
            <a:pPr marL="609600" indent="-609600">
              <a:buFont typeface="Wingdings" charset="2"/>
              <a:buNone/>
            </a:pPr>
            <a:r>
              <a:rPr lang="en-US" dirty="0"/>
              <a:t>Q: What affects underrepresented students’ performance?</a:t>
            </a:r>
          </a:p>
          <a:p>
            <a:pPr marL="609600" indent="-609600">
              <a:buFont typeface="Wingdings" charset="2"/>
              <a:buNone/>
            </a:pPr>
            <a:r>
              <a:rPr lang="en-US" dirty="0"/>
              <a:t>A: The thought that they are underrepresented</a:t>
            </a:r>
            <a:r>
              <a:rPr lang="en-US" dirty="0" smtClean="0"/>
              <a:t>.</a:t>
            </a:r>
          </a:p>
          <a:p>
            <a:pPr marL="609600" indent="-609600">
              <a:buFont typeface="Wingdings" charset="2"/>
              <a:buNone/>
            </a:pPr>
            <a:endParaRPr lang="en-US" dirty="0" smtClean="0"/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Replicated in sciences, math for minorities, women…</a:t>
            </a:r>
          </a:p>
          <a:p>
            <a:pPr marL="609600" indent="-609600">
              <a:buFont typeface="Wingdings" charset="2"/>
              <a:buNone/>
            </a:pPr>
            <a:r>
              <a:rPr lang="en-US" dirty="0" smtClean="0"/>
              <a:t>Antidote: “This test doesn’t differentiate by race, gender, etc.”</a:t>
            </a:r>
            <a:endParaRPr lang="en-US" dirty="0"/>
          </a:p>
        </p:txBody>
      </p:sp>
      <p:sp>
        <p:nvSpPr>
          <p:cNvPr id="4" name="Rectangle 5"/>
          <p:cNvSpPr>
            <a:spLocks noRot="1" noChangeArrowheads="1"/>
          </p:cNvSpPr>
          <p:nvPr/>
        </p:nvSpPr>
        <p:spPr bwMode="auto">
          <a:xfrm>
            <a:off x="179512" y="260350"/>
            <a:ext cx="87849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Research supporting ESPs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96975"/>
            <a:ext cx="8713093" cy="5328369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 smtClean="0"/>
              <a:t>Workshop Model</a:t>
            </a:r>
          </a:p>
          <a:p>
            <a:pPr marL="609600" indent="-609600"/>
            <a:r>
              <a:rPr lang="en-US" dirty="0" smtClean="0"/>
              <a:t>students attend regular lectures</a:t>
            </a:r>
          </a:p>
          <a:p>
            <a:pPr marL="609600" indent="-609600"/>
            <a:r>
              <a:rPr lang="en-US" dirty="0" smtClean="0"/>
              <a:t>ESP workshops 4-6 hrs/wk</a:t>
            </a:r>
          </a:p>
          <a:p>
            <a:pPr marL="609600" indent="-609600"/>
            <a:r>
              <a:rPr lang="en-US" dirty="0" smtClean="0"/>
              <a:t>collaborative work on challenging problems</a:t>
            </a:r>
          </a:p>
          <a:p>
            <a:pPr marL="609600" indent="-609600"/>
            <a:r>
              <a:rPr lang="en-US" dirty="0" smtClean="0"/>
              <a:t>social events to create cohesion</a:t>
            </a:r>
          </a:p>
          <a:p>
            <a:pPr marL="609600" indent="-609600"/>
            <a:r>
              <a:rPr lang="en-US" dirty="0" smtClean="0"/>
              <a:t>helped by graduate TA and undergrad assistant</a:t>
            </a:r>
          </a:p>
          <a:p>
            <a:pPr marL="0" indent="0" algn="ctr">
              <a:buNone/>
            </a:pPr>
            <a:r>
              <a:rPr lang="en-US" dirty="0" smtClean="0"/>
              <a:t>Help students build social support networks related to STEM classes!</a:t>
            </a:r>
            <a:endParaRPr lang="en-US" dirty="0"/>
          </a:p>
        </p:txBody>
      </p:sp>
      <p:sp>
        <p:nvSpPr>
          <p:cNvPr id="4" name="Rectangle 5"/>
          <p:cNvSpPr>
            <a:spLocks noRot="1" noChangeArrowheads="1"/>
          </p:cNvSpPr>
          <p:nvPr/>
        </p:nvSpPr>
        <p:spPr bwMode="auto">
          <a:xfrm>
            <a:off x="179512" y="260350"/>
            <a:ext cx="87849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The Story of Emerging Scholars Programs (ESP)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96975"/>
            <a:ext cx="8713093" cy="5328369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 smtClean="0"/>
              <a:t>ESP Results:</a:t>
            </a:r>
          </a:p>
          <a:p>
            <a:pPr marL="609600" indent="-609600"/>
            <a:r>
              <a:rPr lang="en-US" dirty="0" smtClean="0"/>
              <a:t>higher grades (0.5 to 1.0 higher GPA) compared with</a:t>
            </a:r>
          </a:p>
          <a:p>
            <a:pPr marL="1009650" lvl="1" indent="-609600"/>
            <a:r>
              <a:rPr lang="en-US" dirty="0" smtClean="0"/>
              <a:t>historically matched groups</a:t>
            </a:r>
          </a:p>
          <a:p>
            <a:pPr marL="1009650" lvl="1" indent="-609600"/>
            <a:r>
              <a:rPr lang="en-US" dirty="0" smtClean="0"/>
              <a:t>students who turn down ESP invite</a:t>
            </a:r>
          </a:p>
          <a:p>
            <a:pPr marL="1009650" lvl="1" indent="-609600"/>
            <a:r>
              <a:rPr lang="en-US" dirty="0" smtClean="0"/>
              <a:t>other students in same lecture</a:t>
            </a:r>
          </a:p>
          <a:p>
            <a:pPr marL="609600" indent="-609600"/>
            <a:r>
              <a:rPr lang="en-US" dirty="0" smtClean="0"/>
              <a:t>lower drop-out rates </a:t>
            </a:r>
          </a:p>
          <a:p>
            <a:pPr marL="609600" indent="-609600"/>
            <a:r>
              <a:rPr lang="en-US" dirty="0" smtClean="0"/>
              <a:t>higher retention in STEM majors</a:t>
            </a:r>
          </a:p>
          <a:p>
            <a:pPr marL="609600" indent="-609600"/>
            <a:r>
              <a:rPr lang="en-US" dirty="0" smtClean="0"/>
              <a:t>more minority math majors </a:t>
            </a:r>
          </a:p>
        </p:txBody>
      </p:sp>
      <p:sp>
        <p:nvSpPr>
          <p:cNvPr id="4" name="Rectangle 5"/>
          <p:cNvSpPr>
            <a:spLocks noRot="1" noChangeArrowheads="1"/>
          </p:cNvSpPr>
          <p:nvPr/>
        </p:nvSpPr>
        <p:spPr bwMode="auto">
          <a:xfrm>
            <a:off x="179512" y="260350"/>
            <a:ext cx="87849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The Story of Emerging Scholars Programs (ESP)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80728"/>
            <a:ext cx="9144000" cy="5328369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/>
              <a:t>SMCM (public liberal arts college, 2000 students)</a:t>
            </a:r>
          </a:p>
          <a:p>
            <a:pPr marL="609600" indent="-609600"/>
            <a:r>
              <a:rPr lang="en-US" dirty="0" smtClean="0"/>
              <a:t>Fall 2003: 10 African-Americans start Calc I</a:t>
            </a:r>
          </a:p>
          <a:p>
            <a:pPr marL="1009650" lvl="1" indent="-609600"/>
            <a:r>
              <a:rPr lang="en-US" dirty="0" smtClean="0"/>
              <a:t>5 drop, 3 C’s, 2 D’s</a:t>
            </a:r>
          </a:p>
          <a:p>
            <a:pPr marL="1009650" lvl="1" indent="-609600"/>
            <a:r>
              <a:rPr lang="en-US" dirty="0" smtClean="0"/>
              <a:t>no </a:t>
            </a:r>
            <a:r>
              <a:rPr lang="en-US" dirty="0" err="1" smtClean="0"/>
              <a:t>Afr</a:t>
            </a:r>
            <a:r>
              <a:rPr lang="en-US" dirty="0" smtClean="0"/>
              <a:t>-Amer. or Latino/a math majors</a:t>
            </a:r>
          </a:p>
          <a:p>
            <a:pPr marL="609600" indent="-609600"/>
            <a:r>
              <a:rPr lang="en-US" dirty="0" smtClean="0"/>
              <a:t>Now: </a:t>
            </a:r>
          </a:p>
          <a:p>
            <a:pPr marL="1009650" lvl="1" indent="-609600"/>
            <a:r>
              <a:rPr lang="en-US" dirty="0" smtClean="0"/>
              <a:t>&gt; 50% of </a:t>
            </a:r>
            <a:r>
              <a:rPr lang="en-US" dirty="0" err="1" smtClean="0"/>
              <a:t>Afr</a:t>
            </a:r>
            <a:r>
              <a:rPr lang="en-US" dirty="0" smtClean="0"/>
              <a:t>-Amer. and Latino/a students get B or better in </a:t>
            </a:r>
            <a:r>
              <a:rPr lang="en-US" dirty="0" err="1" smtClean="0"/>
              <a:t>Calc</a:t>
            </a:r>
            <a:r>
              <a:rPr lang="en-US" dirty="0" smtClean="0"/>
              <a:t> I</a:t>
            </a:r>
          </a:p>
          <a:p>
            <a:pPr marL="1009650" lvl="1" indent="-609600"/>
            <a:r>
              <a:rPr lang="en-US" dirty="0" smtClean="0"/>
              <a:t>1-2 </a:t>
            </a:r>
            <a:r>
              <a:rPr lang="en-US" dirty="0" err="1" smtClean="0"/>
              <a:t>Afr</a:t>
            </a:r>
            <a:r>
              <a:rPr lang="en-US" dirty="0" smtClean="0"/>
              <a:t>-Amer. or Latino/a math majors each year!</a:t>
            </a:r>
          </a:p>
          <a:p>
            <a:pPr marL="0" indent="0">
              <a:buNone/>
            </a:pPr>
            <a:endParaRPr lang="en-US" dirty="0" smtClean="0"/>
          </a:p>
          <a:p>
            <a:pPr marL="609600" indent="-609600">
              <a:buNone/>
            </a:pPr>
            <a:endParaRPr lang="en-US" dirty="0"/>
          </a:p>
        </p:txBody>
      </p:sp>
      <p:sp>
        <p:nvSpPr>
          <p:cNvPr id="4" name="Rectangle 5"/>
          <p:cNvSpPr>
            <a:spLocks noRot="1" noChangeArrowheads="1"/>
          </p:cNvSpPr>
          <p:nvPr/>
        </p:nvSpPr>
        <p:spPr bwMode="auto">
          <a:xfrm>
            <a:off x="179512" y="260350"/>
            <a:ext cx="8784976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eaLnBrk="1" hangingPunct="1"/>
            <a:r>
              <a:rPr lang="en-US" sz="28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</a:rPr>
              <a:t>ESP at SMCM (small liberal arts college)</a:t>
            </a:r>
            <a:endParaRPr lang="en-US" sz="28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675687" cy="3384550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/>
              <a:t>Lessons of </a:t>
            </a:r>
            <a:r>
              <a:rPr lang="en-US" dirty="0" smtClean="0"/>
              <a:t>ESPs and SMCM </a:t>
            </a:r>
          </a:p>
          <a:p>
            <a:pPr marL="990600" lvl="1" indent="-533400"/>
            <a:r>
              <a:rPr lang="en-US" dirty="0" smtClean="0"/>
              <a:t>It’s not them, it’s us</a:t>
            </a:r>
          </a:p>
          <a:p>
            <a:pPr marL="990600" lvl="1" indent="-533400"/>
            <a:r>
              <a:rPr lang="en-US" dirty="0" smtClean="0"/>
              <a:t>Avoid remediation – psychologically damaging</a:t>
            </a:r>
          </a:p>
          <a:p>
            <a:pPr marL="990600" lvl="1" indent="-533400"/>
            <a:r>
              <a:rPr lang="en-US" dirty="0" smtClean="0"/>
              <a:t>Students </a:t>
            </a:r>
            <a:r>
              <a:rPr lang="en-US" dirty="0"/>
              <a:t>rise to</a:t>
            </a:r>
            <a:r>
              <a:rPr lang="en-US" dirty="0" smtClean="0"/>
              <a:t> meet academic challenges – fill in holes when necessary</a:t>
            </a:r>
            <a:endParaRPr lang="en-US" dirty="0"/>
          </a:p>
          <a:p>
            <a:pPr marL="990600" lvl="1" indent="-533400"/>
            <a:r>
              <a:rPr lang="en-US" dirty="0" smtClean="0"/>
              <a:t>Use students’ social </a:t>
            </a:r>
            <a:r>
              <a:rPr lang="en-US" dirty="0"/>
              <a:t>interactions </a:t>
            </a:r>
            <a:r>
              <a:rPr lang="en-US" dirty="0" smtClean="0"/>
              <a:t>to leverage better academic performance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Guiding Philosophy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892480" cy="3384550"/>
          </a:xfrm>
        </p:spPr>
        <p:txBody>
          <a:bodyPr/>
          <a:lstStyle/>
          <a:p>
            <a:pPr marL="609600" indent="-609600">
              <a:buFont typeface="Wingdings" charset="2"/>
              <a:buNone/>
            </a:pPr>
            <a:r>
              <a:rPr lang="en-US" dirty="0" smtClean="0"/>
              <a:t>Work to level the playing field by ….</a:t>
            </a:r>
          </a:p>
          <a:p>
            <a:pPr marL="990600" lvl="1" indent="-533400"/>
            <a:r>
              <a:rPr lang="en-US" dirty="0"/>
              <a:t>P</a:t>
            </a:r>
            <a:r>
              <a:rPr lang="en-US" dirty="0" smtClean="0"/>
              <a:t>roviding support to underrepresented students</a:t>
            </a:r>
          </a:p>
          <a:p>
            <a:pPr marL="990600" lvl="1" indent="-533400"/>
            <a:r>
              <a:rPr lang="en-US" dirty="0" smtClean="0"/>
              <a:t>Structuring social interactions (in and out of class) to help </a:t>
            </a:r>
            <a:r>
              <a:rPr lang="en-US" b="1" u="sng" dirty="0" smtClean="0"/>
              <a:t>all</a:t>
            </a:r>
            <a:r>
              <a:rPr lang="en-US" dirty="0" smtClean="0"/>
              <a:t> students build supportive social networks</a:t>
            </a:r>
          </a:p>
          <a:p>
            <a:pPr marL="990600" lvl="1" indent="-533400"/>
            <a:r>
              <a:rPr lang="en-US" dirty="0" smtClean="0"/>
              <a:t>Find opportunities for your (underrepresented) students (like the ESP-REU @ SMCM)</a:t>
            </a:r>
          </a:p>
          <a:p>
            <a:pPr marL="990600" lvl="1" indent="-533400"/>
            <a:endParaRPr lang="en-US" dirty="0" smtClean="0"/>
          </a:p>
          <a:p>
            <a:pPr marL="0" lvl="1" indent="0">
              <a:buNone/>
            </a:pPr>
            <a:r>
              <a:rPr lang="en-US" dirty="0" smtClean="0"/>
              <a:t>What’s the goal? </a:t>
            </a:r>
            <a:endParaRPr lang="en-US" sz="4000" u="sng" dirty="0"/>
          </a:p>
          <a:p>
            <a:pPr marL="0" lvl="1" indent="0" algn="ctr">
              <a:buNone/>
            </a:pPr>
            <a:r>
              <a:rPr lang="en-US" sz="4000" u="sng" dirty="0" smtClean="0"/>
              <a:t>Closer to fair!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You Can Do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49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0" y="333375"/>
            <a:ext cx="9144000" cy="6048375"/>
          </a:xfrm>
        </p:spPr>
        <p:txBody>
          <a:bodyPr/>
          <a:lstStyle/>
          <a:p>
            <a:r>
              <a:rPr lang="en-US" sz="4400" b="1" dirty="0" smtClean="0">
                <a:latin typeface="Arial"/>
              </a:rPr>
              <a:t>End of Act I</a:t>
            </a:r>
          </a:p>
          <a:p>
            <a:r>
              <a:rPr lang="en-US" b="1" dirty="0" smtClean="0">
                <a:latin typeface="Arial"/>
              </a:rPr>
              <a:t>(Social Justice in Mathematics)</a:t>
            </a:r>
          </a:p>
          <a:p>
            <a:pPr algn="l"/>
            <a:r>
              <a:rPr lang="en-US" b="1" dirty="0" smtClean="0">
                <a:latin typeface="Arial"/>
              </a:rPr>
              <a:t>You: (applause)</a:t>
            </a:r>
          </a:p>
          <a:p>
            <a:pPr algn="l"/>
            <a:r>
              <a:rPr lang="en-US" b="1" dirty="0" smtClean="0">
                <a:latin typeface="Arial"/>
              </a:rPr>
              <a:t>Dave: Thanks, we’re going to take a short intermission, but before we go to Act II, are there any questions on Act I?</a:t>
            </a:r>
          </a:p>
          <a:p>
            <a:pPr algn="l"/>
            <a:r>
              <a:rPr lang="en-US" b="1" dirty="0" smtClean="0">
                <a:latin typeface="Arial"/>
              </a:rPr>
              <a:t>You: Dave, this is interesting, but I have a question … (ad lib)</a:t>
            </a:r>
            <a:endParaRPr lang="en-US" dirty="0" smtClean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1393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Intermission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427984" y="1772816"/>
            <a:ext cx="4629200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9pPr>
          </a:lstStyle>
          <a:p>
            <a:r>
              <a:rPr lang="en-US" dirty="0" smtClean="0"/>
              <a:t>Ellie</a:t>
            </a:r>
          </a:p>
          <a:p>
            <a:r>
              <a:rPr lang="en-US" dirty="0" smtClean="0"/>
              <a:t>(now </a:t>
            </a:r>
          </a:p>
          <a:p>
            <a:r>
              <a:rPr lang="en-US" dirty="0" smtClean="0"/>
              <a:t>15 months)</a:t>
            </a:r>
            <a:endParaRPr lang="en-US" dirty="0"/>
          </a:p>
        </p:txBody>
      </p:sp>
      <p:pic>
        <p:nvPicPr>
          <p:cNvPr id="4" name="Picture 3" descr="Screen shot 2012-07-30 at 12.00.4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412776"/>
            <a:ext cx="4610100" cy="48768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38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692696"/>
            <a:ext cx="8675687" cy="561657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Act II: Mathematics for Social Justice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Sample Activity: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Annual Hospital Report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Administrator: 90% of patients who spend the night check out within a week.</a:t>
            </a:r>
          </a:p>
          <a:p>
            <a:pPr marL="609600" indent="-609600">
              <a:buFont typeface="Wingdings" pitchFamily="2" charset="2"/>
              <a:buNone/>
            </a:pPr>
            <a:endParaRPr lang="en-US" dirty="0" smtClean="0"/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Nurses: 80% of the patients who stayed last night have been here over a year!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Q: Can they both be right?</a:t>
            </a:r>
          </a:p>
          <a:p>
            <a:pPr marL="609600" indent="-609600"/>
            <a:endParaRPr lang="en-US" b="1" dirty="0" smtClean="0"/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3379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113666" name="Picture 2" descr="http://t0.gstatic.com/images?q=tbn:17xMupqyWd1ZaM:http://blog.camera.org/archives/hospita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0272" y="1171437"/>
            <a:ext cx="1867272" cy="1210810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045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 bwMode="auto">
          <a:xfrm>
            <a:off x="5868144" y="2276872"/>
            <a:ext cx="432048" cy="648072"/>
          </a:xfrm>
          <a:prstGeom prst="round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5868144" y="2276872"/>
            <a:ext cx="432048" cy="648072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 bwMode="auto">
          <a:xfrm>
            <a:off x="5868144" y="2276872"/>
            <a:ext cx="432048" cy="648072"/>
          </a:xfrm>
          <a:prstGeom prst="roundRect">
            <a:avLst/>
          </a:prstGeom>
          <a:solidFill>
            <a:schemeClr val="bg2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 bwMode="auto">
          <a:xfrm>
            <a:off x="5868144" y="2276872"/>
            <a:ext cx="432048" cy="648072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1052737"/>
            <a:ext cx="8675687" cy="720080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Both can be right!</a:t>
            </a:r>
          </a:p>
          <a:p>
            <a:pPr marL="609600" indent="-609600">
              <a:buFont typeface="Wingdings" pitchFamily="2" charset="2"/>
              <a:buNone/>
            </a:pPr>
            <a:endParaRPr lang="en-US" dirty="0" smtClean="0"/>
          </a:p>
          <a:p>
            <a:pPr marL="609600" indent="-609600"/>
            <a:endParaRPr lang="en-US" b="1" dirty="0" smtClean="0"/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3379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467544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1115616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763688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2411760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3059832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3707904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5148064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4427984" y="2276872"/>
            <a:ext cx="432048" cy="648072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6516216" y="2276872"/>
            <a:ext cx="432048" cy="648072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6516216" y="2276872"/>
            <a:ext cx="432048" cy="648072"/>
          </a:xfrm>
          <a:prstGeom prst="round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6516216" y="2276872"/>
            <a:ext cx="432048" cy="648072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 bwMode="auto">
          <a:xfrm>
            <a:off x="6516216" y="2276872"/>
            <a:ext cx="432048" cy="648072"/>
          </a:xfrm>
          <a:prstGeom prst="roundRect">
            <a:avLst/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6516216" y="2276872"/>
            <a:ext cx="432048" cy="648072"/>
          </a:xfrm>
          <a:prstGeom prst="round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 smtClean="0"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0282" y="3284984"/>
            <a:ext cx="8663718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Similar statistics hold for people:</a:t>
            </a:r>
          </a:p>
          <a:p>
            <a:pPr marL="269875">
              <a:buFont typeface="Arial" pitchFamily="34" charset="0"/>
              <a:buChar char="•"/>
            </a:pP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welfare</a:t>
            </a:r>
          </a:p>
          <a:p>
            <a:pPr marL="269875">
              <a:buFont typeface="Arial" pitchFamily="34" charset="0"/>
              <a:buChar char="•"/>
            </a:pP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unemployed</a:t>
            </a:r>
          </a:p>
          <a:p>
            <a:pPr marL="269875">
              <a:buFont typeface="Arial" pitchFamily="34" charset="0"/>
              <a:buChar char="•"/>
            </a:pPr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without health insurance</a:t>
            </a:r>
          </a:p>
          <a:p>
            <a:pPr marL="269875">
              <a:buFont typeface="Arial" pitchFamily="34" charset="0"/>
              <a:buChar char="•"/>
            </a:pPr>
            <a:endParaRPr lang="en-US" sz="3200" dirty="0" smtClean="0"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  <a:p>
            <a:r>
              <a:rPr lang="en-US" sz="32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Your agenda determines the statistics you use!</a:t>
            </a:r>
          </a:p>
          <a:p>
            <a:endParaRPr lang="en-US" dirty="0">
              <a:latin typeface="Eras Medium ITC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6612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9" grpId="0" animBg="1"/>
      <p:bldP spid="16" grpId="0" animBg="1"/>
      <p:bldP spid="18" grpId="0" animBg="1"/>
      <p:bldP spid="20" grpId="0" animBg="1"/>
      <p:bldP spid="22" grpId="0" animBg="1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620688"/>
            <a:ext cx="9144000" cy="561657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Act II – Outline</a:t>
            </a:r>
          </a:p>
          <a:p>
            <a:pPr marL="1076325" indent="-449263"/>
            <a:r>
              <a:rPr lang="en-US" dirty="0" smtClean="0"/>
              <a:t>Sample Activity: Hospital Admin.</a:t>
            </a:r>
          </a:p>
          <a:p>
            <a:pPr marL="1076325" indent="-449263"/>
            <a:r>
              <a:rPr lang="en-US" dirty="0" smtClean="0"/>
              <a:t>What our students need vs.</a:t>
            </a:r>
          </a:p>
          <a:p>
            <a:pPr marL="1076325" indent="-449263">
              <a:buNone/>
            </a:pPr>
            <a:r>
              <a:rPr lang="en-US" dirty="0" smtClean="0"/>
              <a:t>					What we give them</a:t>
            </a:r>
          </a:p>
          <a:p>
            <a:pPr marL="1076325" indent="-449263"/>
            <a:r>
              <a:rPr lang="en-US" dirty="0" smtClean="0"/>
              <a:t>Description of Math for Social Justice courses (mine and others)</a:t>
            </a:r>
          </a:p>
          <a:p>
            <a:pPr marL="0" indent="0">
              <a:buNone/>
            </a:pPr>
            <a:r>
              <a:rPr lang="en-US" dirty="0" smtClean="0"/>
              <a:t>Example Activities: </a:t>
            </a:r>
          </a:p>
          <a:p>
            <a:pPr marL="633413" indent="452438">
              <a:tabLst>
                <a:tab pos="795338" algn="l"/>
              </a:tabLst>
            </a:pPr>
            <a:r>
              <a:rPr lang="en-US" dirty="0" smtClean="0"/>
              <a:t>Occupy Math (inequality &amp; </a:t>
            </a:r>
            <a:r>
              <a:rPr lang="en-US" dirty="0" err="1" smtClean="0"/>
              <a:t>Gini</a:t>
            </a:r>
            <a:r>
              <a:rPr lang="en-US" dirty="0" smtClean="0"/>
              <a:t> </a:t>
            </a:r>
            <a:r>
              <a:rPr lang="en-US" dirty="0" err="1"/>
              <a:t>c</a:t>
            </a:r>
            <a:r>
              <a:rPr lang="en-US" dirty="0" err="1" smtClean="0"/>
              <a:t>oeffs</a:t>
            </a:r>
            <a:r>
              <a:rPr lang="en-US" dirty="0" smtClean="0"/>
              <a:t>.)</a:t>
            </a:r>
            <a:endParaRPr lang="en-US" dirty="0" smtClean="0">
              <a:ea typeface="+mn-ea"/>
              <a:cs typeface="+mn-cs"/>
            </a:endParaRPr>
          </a:p>
          <a:p>
            <a:pPr marL="633413" indent="452438">
              <a:tabLst>
                <a:tab pos="795338" algn="l"/>
              </a:tabLst>
            </a:pPr>
            <a:r>
              <a:rPr lang="en-US" dirty="0" smtClean="0"/>
              <a:t>Critical Thinking (wind energy/percentages)</a:t>
            </a:r>
          </a:p>
          <a:p>
            <a:pPr marL="633413" indent="452438">
              <a:tabLst>
                <a:tab pos="795338" algn="l"/>
              </a:tabLst>
            </a:pPr>
            <a:r>
              <a:rPr lang="en-US" dirty="0" smtClean="0"/>
              <a:t>Obesity in Schools (correlations)</a:t>
            </a:r>
          </a:p>
          <a:p>
            <a:pPr marL="633413" indent="452438">
              <a:tabLst>
                <a:tab pos="795338" algn="l"/>
              </a:tabLst>
            </a:pPr>
            <a:endParaRPr lang="en-US" dirty="0">
              <a:ea typeface="+mn-ea"/>
              <a:cs typeface="+mn-cs"/>
            </a:endParaRPr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3379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04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675687" cy="561657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What </a:t>
            </a:r>
            <a:r>
              <a:rPr lang="en-US" sz="2800" strike="sngStrike" dirty="0" smtClean="0"/>
              <a:t>students</a:t>
            </a:r>
            <a:r>
              <a:rPr lang="en-US" sz="2800" dirty="0" smtClean="0"/>
              <a:t> citizens </a:t>
            </a:r>
            <a:r>
              <a:rPr lang="en-US" sz="2800" b="1" u="sng" dirty="0" smtClean="0"/>
              <a:t>need</a:t>
            </a:r>
            <a:r>
              <a:rPr lang="en-US" sz="2800" dirty="0" smtClean="0"/>
              <a:t>: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 smtClean="0"/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Global Temps and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CO2 emissions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positively correlated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(corr. </a:t>
            </a:r>
            <a:r>
              <a:rPr lang="en-US" sz="2800" dirty="0" err="1" smtClean="0"/>
              <a:t>coeff</a:t>
            </a:r>
            <a:r>
              <a:rPr lang="en-US" sz="2800" dirty="0" smtClean="0"/>
              <a:t>. </a:t>
            </a:r>
            <a:r>
              <a:rPr lang="en-US" sz="2800" dirty="0"/>
              <a:t>=</a:t>
            </a:r>
            <a:r>
              <a:rPr lang="en-US" sz="2800" dirty="0" smtClean="0"/>
              <a:t> 0.86)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/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What does this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800" dirty="0"/>
              <a:t>	</a:t>
            </a:r>
            <a:r>
              <a:rPr lang="en-US" sz="2800" dirty="0" smtClean="0"/>
              <a:t>mean? 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/>
          </a:p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                                     (</a:t>
            </a:r>
            <a:r>
              <a:rPr lang="en-US" sz="2800" dirty="0" smtClean="0">
                <a:hlinkClick r:id="rId2"/>
              </a:rPr>
              <a:t>www.skepticalscience.com</a:t>
            </a:r>
            <a:r>
              <a:rPr lang="en-US" sz="2800" dirty="0" smtClean="0"/>
              <a:t>)</a:t>
            </a:r>
          </a:p>
          <a:p>
            <a:pPr marL="609600" indent="-609600">
              <a:buFont typeface="Wingdings" pitchFamily="2" charset="2"/>
              <a:buNone/>
            </a:pPr>
            <a:endParaRPr lang="en-US" sz="2800" dirty="0"/>
          </a:p>
        </p:txBody>
      </p:sp>
      <p:pic>
        <p:nvPicPr>
          <p:cNvPr id="4" name="Picture 3" descr="temp vs co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91880" y="1628800"/>
            <a:ext cx="4944508" cy="3834619"/>
          </a:xfrm>
          <a:prstGeom prst="rect">
            <a:avLst/>
          </a:prstGeom>
        </p:spPr>
      </p:pic>
      <p:sp>
        <p:nvSpPr>
          <p:cNvPr id="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998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675687" cy="561657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What we give them:</a:t>
            </a:r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4" name="Picture 3" descr="bad algebra pro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20849767">
            <a:off x="479069" y="3550995"/>
            <a:ext cx="8604448" cy="1464915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sp>
        <p:nvSpPr>
          <p:cNvPr id="6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5" name="Picture 4" descr="Screen shot 2012-01-26 at 9.28.2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6891">
            <a:off x="2720698" y="2341835"/>
            <a:ext cx="2832100" cy="1079500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815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675687" cy="561657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sz="2800" dirty="0" smtClean="0"/>
              <a:t>What our students </a:t>
            </a:r>
            <a:r>
              <a:rPr lang="en-US" sz="2800" b="1" u="sng" dirty="0" smtClean="0"/>
              <a:t>need</a:t>
            </a:r>
            <a:r>
              <a:rPr lang="en-US" sz="2800" dirty="0" smtClean="0"/>
              <a:t>: Presidential Debate</a:t>
            </a:r>
          </a:p>
          <a:p>
            <a:pPr marL="609600" indent="-609600">
              <a:buNone/>
            </a:pPr>
            <a:r>
              <a:rPr lang="en-US" sz="2800" dirty="0"/>
              <a:t>McCain: </a:t>
            </a:r>
            <a:r>
              <a:rPr lang="en-US" sz="2800" dirty="0" smtClean="0"/>
              <a:t>"Sen</a:t>
            </a:r>
            <a:r>
              <a:rPr lang="en-US" sz="2800" dirty="0"/>
              <a:t>. Obama's secret that you don't know is that his tax increases will increase taxes on </a:t>
            </a:r>
            <a:r>
              <a:rPr lang="en-US" sz="2800" b="1" u="sng" dirty="0" smtClean="0"/>
              <a:t>50%</a:t>
            </a:r>
            <a:r>
              <a:rPr lang="en-US" sz="2800" dirty="0" smtClean="0"/>
              <a:t> of </a:t>
            </a:r>
            <a:r>
              <a:rPr lang="en-US" sz="2800" dirty="0"/>
              <a:t>small business revenue</a:t>
            </a:r>
            <a:r>
              <a:rPr lang="en-US" sz="2800" dirty="0" smtClean="0"/>
              <a:t>.“</a:t>
            </a:r>
          </a:p>
          <a:p>
            <a:pPr marL="609600" indent="-609600">
              <a:buNone/>
            </a:pPr>
            <a:r>
              <a:rPr lang="en-US" sz="2800" dirty="0" smtClean="0"/>
              <a:t>Obama</a:t>
            </a:r>
            <a:r>
              <a:rPr lang="en-US" sz="2800" dirty="0"/>
              <a:t>: </a:t>
            </a:r>
            <a:r>
              <a:rPr lang="en-US" sz="2800" dirty="0" smtClean="0"/>
              <a:t>"Only </a:t>
            </a:r>
            <a:r>
              <a:rPr lang="en-US" sz="2800" dirty="0"/>
              <a:t>a few percent of small businesses make more than $250,000 a year. So the vast majority of small businesses would get a tax cut under my plan." </a:t>
            </a:r>
            <a:r>
              <a:rPr lang="en-US" sz="2800" dirty="0" smtClean="0"/>
              <a:t>"</a:t>
            </a:r>
            <a:r>
              <a:rPr lang="en-US" sz="2800" b="1" u="sng" dirty="0" smtClean="0"/>
              <a:t>98% </a:t>
            </a:r>
            <a:r>
              <a:rPr lang="en-US" sz="2800" b="1" u="sng" dirty="0"/>
              <a:t>percent </a:t>
            </a:r>
            <a:r>
              <a:rPr lang="en-US" sz="2800" dirty="0"/>
              <a:t>of small businesses make less than $250,000"  </a:t>
            </a:r>
            <a:endParaRPr lang="en-US" sz="2800" dirty="0" smtClean="0"/>
          </a:p>
          <a:p>
            <a:pPr marL="609600" indent="-609600">
              <a:buNone/>
            </a:pPr>
            <a:r>
              <a:rPr lang="en-US" sz="2800" dirty="0" smtClean="0"/>
              <a:t>Can </a:t>
            </a:r>
            <a:r>
              <a:rPr lang="en-US" sz="2800" dirty="0"/>
              <a:t>you reconcile these statements or is one of them lying?</a:t>
            </a:r>
            <a:endParaRPr lang="en-US" sz="2800" dirty="0" smtClean="0"/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4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883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d algebra prob 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039849">
            <a:off x="5437812" y="2138866"/>
            <a:ext cx="3507773" cy="546120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pic>
        <p:nvPicPr>
          <p:cNvPr id="3" name="Picture 2" descr="Screen shot 2012-01-26 at 9.27.48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02197">
            <a:off x="287896" y="1688048"/>
            <a:ext cx="5164002" cy="1512168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8" name="Picture 7" descr="bad trig prob 1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 rot="486521">
            <a:off x="-127482" y="4623351"/>
            <a:ext cx="3733800" cy="1016793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pic>
        <p:nvPicPr>
          <p:cNvPr id="4" name="Picture 3" descr="Screen shot 2012-01-26 at 9.26.30 A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0368">
            <a:off x="3436033" y="3260183"/>
            <a:ext cx="5824488" cy="2836461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692696"/>
            <a:ext cx="8675687" cy="561657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Here’s the math we give them:</a:t>
            </a:r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870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1241425"/>
            <a:ext cx="8675687" cy="891431"/>
          </a:xfrm>
          <a:ln w="19050" cap="rnd">
            <a:noFill/>
          </a:ln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Critical Thinking?</a:t>
            </a:r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2" name="Picture 1" descr="Screen shot 2012-01-26 at 9.25.4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3277">
            <a:off x="495734" y="2681907"/>
            <a:ext cx="8280920" cy="2198474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79512" y="548681"/>
            <a:ext cx="8675687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Here’s the math we give them: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543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764704"/>
            <a:ext cx="8675687" cy="5616575"/>
          </a:xfrm>
          <a:ln w="19050" cap="rnd">
            <a:noFill/>
          </a:ln>
        </p:spPr>
        <p:txBody>
          <a:bodyPr/>
          <a:lstStyle/>
          <a:p>
            <a:pPr marL="609600" indent="-609600">
              <a:buNone/>
            </a:pPr>
            <a:r>
              <a:rPr lang="en-US" dirty="0"/>
              <a:t>Here’s the math we give them: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Applications? (Discriminant)</a:t>
            </a:r>
          </a:p>
          <a:p>
            <a:pPr marL="609600" indent="-6096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3" name="Picture 2" descr="Screen shot 2012-01-26 at 9.27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86853">
            <a:off x="107504" y="2204864"/>
            <a:ext cx="8868191" cy="3683710"/>
          </a:xfrm>
          <a:prstGeom prst="rect">
            <a:avLst/>
          </a:prstGeom>
          <a:ln w="19050" cap="rnd">
            <a:solidFill>
              <a:schemeClr val="bg2"/>
            </a:solidFill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95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764704"/>
            <a:ext cx="8675687" cy="5616575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/>
              <a:t>Where is our HS math curriculum from?</a:t>
            </a:r>
            <a:endParaRPr lang="en-US" dirty="0"/>
          </a:p>
          <a:p>
            <a:pPr marL="609600" indent="-609600">
              <a:buNone/>
            </a:pPr>
            <a:r>
              <a:rPr lang="en-US" dirty="0" smtClean="0"/>
              <a:t>1892 – National Education Association</a:t>
            </a:r>
          </a:p>
          <a:p>
            <a:pPr lvl="1"/>
            <a:r>
              <a:rPr lang="en-US" dirty="0" smtClean="0"/>
              <a:t>Science: biology, chemistry, then physics</a:t>
            </a:r>
          </a:p>
          <a:p>
            <a:pPr lvl="1"/>
            <a:r>
              <a:rPr lang="en-US" dirty="0" smtClean="0"/>
              <a:t>Math: Algebra, Geometry, Trig</a:t>
            </a:r>
          </a:p>
          <a:p>
            <a:pPr lvl="1"/>
            <a:r>
              <a:rPr lang="en-US" dirty="0" smtClean="0"/>
              <a:t>Everyone gets a “college prep” curriculum (aimed at Calculus)</a:t>
            </a:r>
          </a:p>
          <a:p>
            <a:pPr marL="0" indent="0">
              <a:buNone/>
            </a:pPr>
            <a:r>
              <a:rPr lang="en-US" dirty="0" smtClean="0"/>
              <a:t>(See Nils </a:t>
            </a:r>
            <a:r>
              <a:rPr lang="en-US" dirty="0" err="1" smtClean="0"/>
              <a:t>Ahbel</a:t>
            </a:r>
            <a:r>
              <a:rPr lang="en-US" dirty="0" smtClean="0"/>
              <a:t> “Reflections on a 119-Year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Old Curriculum”)</a:t>
            </a:r>
            <a:endParaRPr lang="en-US" dirty="0"/>
          </a:p>
        </p:txBody>
      </p:sp>
      <p:sp>
        <p:nvSpPr>
          <p:cNvPr id="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811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620688"/>
            <a:ext cx="8675687" cy="6048672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/>
              <a:t>College? Students’ Last Math Class:</a:t>
            </a:r>
          </a:p>
          <a:p>
            <a:r>
              <a:rPr lang="en-US" dirty="0" smtClean="0"/>
              <a:t>Pre-Calculus</a:t>
            </a:r>
          </a:p>
          <a:p>
            <a:r>
              <a:rPr lang="en-US" dirty="0" smtClean="0"/>
              <a:t>Consumer Math (student = consumer?)</a:t>
            </a:r>
          </a:p>
          <a:p>
            <a:r>
              <a:rPr lang="en-US" dirty="0" smtClean="0"/>
              <a:t>Watered-down Hard Math (4</a:t>
            </a:r>
            <a:r>
              <a:rPr lang="en-US" baseline="30000" dirty="0" smtClean="0"/>
              <a:t>th</a:t>
            </a:r>
            <a:r>
              <a:rPr lang="en-US" dirty="0" smtClean="0"/>
              <a:t> Dim., ∞)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dirty="0" smtClean="0"/>
              <a:t>We can (and must!) do better!</a:t>
            </a:r>
          </a:p>
          <a:p>
            <a:pPr marL="531812" indent="0">
              <a:buNone/>
            </a:pPr>
            <a:r>
              <a:rPr lang="en-US" dirty="0" smtClean="0"/>
              <a:t>* esp. for non-science students</a:t>
            </a:r>
          </a:p>
        </p:txBody>
      </p:sp>
      <p:sp>
        <p:nvSpPr>
          <p:cNvPr id="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2000" r="12000"/>
          <a:stretch>
            <a:fillRect/>
          </a:stretch>
        </p:blipFill>
        <p:spPr>
          <a:xfrm>
            <a:off x="899592" y="2924944"/>
            <a:ext cx="1942955" cy="25565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164" y="2908198"/>
            <a:ext cx="1996111" cy="24970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466" y="2919362"/>
            <a:ext cx="1948187" cy="253670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918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675687" cy="5616575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/>
              <a:t>Math for Social Justice – different models</a:t>
            </a:r>
          </a:p>
          <a:p>
            <a:pPr marL="609600" indent="-609600">
              <a:buNone/>
            </a:pPr>
            <a:r>
              <a:rPr lang="en-US" dirty="0" smtClean="0"/>
              <a:t>Service learning, First Year Seminar</a:t>
            </a:r>
          </a:p>
          <a:p>
            <a:pPr marL="609600" indent="-609600">
              <a:buNone/>
            </a:pPr>
            <a:r>
              <a:rPr lang="en-US" dirty="0" smtClean="0"/>
              <a:t>Rob Root, Lafayette College</a:t>
            </a:r>
          </a:p>
          <a:p>
            <a:pPr marL="977900" indent="-446088"/>
            <a:r>
              <a:rPr lang="en-US" dirty="0"/>
              <a:t>Focus on education</a:t>
            </a:r>
          </a:p>
          <a:p>
            <a:pPr marL="977900" indent="-446088"/>
            <a:r>
              <a:rPr lang="en-US" dirty="0" smtClean="0"/>
              <a:t>Readings: </a:t>
            </a:r>
            <a:r>
              <a:rPr lang="en-US" i="1" dirty="0" smtClean="0"/>
              <a:t>What the Numbers Say, Algebra Project </a:t>
            </a:r>
            <a:r>
              <a:rPr lang="en-US" dirty="0" smtClean="0"/>
              <a:t>(Bob Moses)</a:t>
            </a:r>
          </a:p>
          <a:p>
            <a:pPr marL="977900" indent="-446088"/>
            <a:r>
              <a:rPr lang="en-US" dirty="0" smtClean="0"/>
              <a:t>Service learning (tutoring middle school students</a:t>
            </a:r>
          </a:p>
        </p:txBody>
      </p:sp>
      <p:sp>
        <p:nvSpPr>
          <p:cNvPr id="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342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675687" cy="5616575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/>
              <a:t>Math for Social Justice – different models</a:t>
            </a:r>
          </a:p>
          <a:p>
            <a:pPr marL="609600" indent="-609600">
              <a:buNone/>
            </a:pPr>
            <a:r>
              <a:rPr lang="en-US" dirty="0" smtClean="0"/>
              <a:t>Statistics </a:t>
            </a:r>
          </a:p>
          <a:p>
            <a:pPr marL="609600" indent="-609600">
              <a:buNone/>
            </a:pPr>
            <a:r>
              <a:rPr lang="en-US" dirty="0" smtClean="0"/>
              <a:t>Lily Khadjavi, Loyola Marymount Univ. </a:t>
            </a:r>
          </a:p>
          <a:p>
            <a:pPr marL="920750" indent="-609600"/>
            <a:r>
              <a:rPr lang="en-US" dirty="0" smtClean="0"/>
              <a:t>Structure course around meaningful data</a:t>
            </a:r>
          </a:p>
          <a:p>
            <a:pPr marL="920750" indent="-609600"/>
            <a:r>
              <a:rPr lang="en-US" dirty="0" smtClean="0"/>
              <a:t>LAPD traffic stop data (over 900,000 traffic stops)</a:t>
            </a:r>
          </a:p>
          <a:p>
            <a:pPr marL="920750" indent="-609600"/>
            <a:r>
              <a:rPr lang="en-US" dirty="0" smtClean="0"/>
              <a:t>Main question: does the LAPD have racially biased practices?</a:t>
            </a:r>
          </a:p>
          <a:p>
            <a:pPr marL="920750" indent="-609600"/>
            <a:r>
              <a:rPr lang="en-US" i="1" dirty="0" smtClean="0"/>
              <a:t>Driving While Black in the City of Angels</a:t>
            </a:r>
          </a:p>
          <a:p>
            <a:pPr marL="609600" indent="-609600"/>
            <a:endParaRPr lang="en-US" dirty="0" smtClean="0"/>
          </a:p>
        </p:txBody>
      </p:sp>
      <p:sp>
        <p:nvSpPr>
          <p:cNvPr id="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68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512" y="908720"/>
            <a:ext cx="8675687" cy="5616575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/>
              <a:t>Math for Social Justice – different models</a:t>
            </a:r>
          </a:p>
          <a:p>
            <a:pPr marL="609600" indent="-609600">
              <a:buNone/>
            </a:pPr>
            <a:r>
              <a:rPr lang="en-US" dirty="0" smtClean="0"/>
              <a:t>Sustainability</a:t>
            </a:r>
          </a:p>
          <a:p>
            <a:pPr marL="609600" indent="-609600">
              <a:buNone/>
            </a:pPr>
            <a:r>
              <a:rPr lang="en-US" dirty="0" smtClean="0"/>
              <a:t>Tom Pfaff, Ithaca College</a:t>
            </a:r>
          </a:p>
          <a:p>
            <a:pPr marL="1258888" indent="-609600"/>
            <a:r>
              <a:rPr lang="en-US" dirty="0" smtClean="0"/>
              <a:t>adding sustainability issues in</a:t>
            </a:r>
          </a:p>
          <a:p>
            <a:pPr marL="1658938" lvl="1" indent="-609600"/>
            <a:r>
              <a:rPr lang="en-US" dirty="0" smtClean="0"/>
              <a:t>Calculus</a:t>
            </a:r>
          </a:p>
          <a:p>
            <a:pPr marL="1658938" lvl="1" indent="-609600"/>
            <a:r>
              <a:rPr lang="en-US" dirty="0" smtClean="0"/>
              <a:t>Statistics</a:t>
            </a:r>
            <a:endParaRPr lang="en-US" dirty="0"/>
          </a:p>
          <a:p>
            <a:pPr marL="0" lvl="1" indent="0">
              <a:buNone/>
            </a:pPr>
            <a:r>
              <a:rPr lang="en-US" dirty="0" smtClean="0"/>
              <a:t>(Google “Pfaff Sustainability”)</a:t>
            </a:r>
          </a:p>
          <a:p>
            <a:pPr marL="0" lvl="1" indent="0">
              <a:buNone/>
            </a:pPr>
            <a:endParaRPr lang="en-US" dirty="0"/>
          </a:p>
          <a:p>
            <a:pPr marL="0" lvl="1" indent="0">
              <a:buNone/>
            </a:pPr>
            <a:endParaRPr lang="en-US" dirty="0" smtClean="0"/>
          </a:p>
        </p:txBody>
      </p:sp>
      <p:sp>
        <p:nvSpPr>
          <p:cNvPr id="5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459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713663" cy="547238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Other efforts to loosen Algebra’s grip:</a:t>
            </a:r>
            <a:endParaRPr lang="en-US" dirty="0"/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Carnegie Foundation: </a:t>
            </a:r>
            <a:endParaRPr lang="en-US" dirty="0"/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Goal: Improve Community College completion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Tactic: Replace Algebra requirement with: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dirty="0" err="1" smtClean="0"/>
              <a:t>Statway</a:t>
            </a:r>
            <a:r>
              <a:rPr lang="en-US" dirty="0" smtClean="0"/>
              <a:t> (stats-based)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dirty="0" err="1" smtClean="0"/>
              <a:t>Quantway</a:t>
            </a:r>
            <a:r>
              <a:rPr lang="en-US" dirty="0" smtClean="0"/>
              <a:t> (QR-based)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(not necessarily w/ Soc. Just. bent)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“students will have greater motivation to succeed and persist if their math is engaging, meaningful, relevant and useful.”</a:t>
            </a:r>
            <a:endParaRPr lang="en-US" dirty="0"/>
          </a:p>
          <a:p>
            <a:pPr marL="609600" indent="-609600">
              <a:buFont typeface="Wingdings" pitchFamily="2" charset="2"/>
              <a:buNone/>
            </a:pPr>
            <a:endParaRPr lang="en-US" dirty="0" smtClean="0"/>
          </a:p>
          <a:p>
            <a:pPr marL="609600" indent="-609600"/>
            <a:endParaRPr lang="en-US" dirty="0" smtClean="0"/>
          </a:p>
          <a:p>
            <a:pPr marL="609600" indent="-609600"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3068960"/>
            <a:ext cx="3047380" cy="581346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3789040"/>
            <a:ext cx="3019688" cy="57606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6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692696"/>
            <a:ext cx="8675688" cy="4392265"/>
          </a:xfrm>
          <a:noFill/>
          <a:ln w="19050">
            <a:noFill/>
          </a:ln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b="1" dirty="0"/>
              <a:t>Math 131 - Survey of </a:t>
            </a:r>
            <a:r>
              <a:rPr lang="en-US" b="1" dirty="0" smtClean="0"/>
              <a:t>Mathematics</a:t>
            </a:r>
            <a:r>
              <a:rPr lang="en-US" dirty="0" smtClean="0"/>
              <a:t>: </a:t>
            </a:r>
            <a:r>
              <a:rPr lang="en-US" dirty="0"/>
              <a:t>Mathematics for Social Justice </a:t>
            </a:r>
            <a:endParaRPr lang="en-US" dirty="0" smtClean="0"/>
          </a:p>
          <a:p>
            <a:pPr marL="609600" indent="-609600"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en-US" dirty="0"/>
              <a:t>TR, </a:t>
            </a:r>
            <a:r>
              <a:rPr lang="en-US" dirty="0" smtClean="0"/>
              <a:t>10am, </a:t>
            </a:r>
            <a:r>
              <a:rPr lang="en-US" dirty="0"/>
              <a:t>Kung)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/>
              <a:t>In this section of Survey we will use mathematics to better understand justice, fairness, and equality.  Then we will use that new knowledge to </a:t>
            </a:r>
            <a:r>
              <a:rPr lang="en-US" b="1" dirty="0"/>
              <a:t>improve the world</a:t>
            </a:r>
            <a:r>
              <a:rPr lang="en-US" dirty="0" smtClean="0"/>
              <a:t>.</a:t>
            </a:r>
          </a:p>
          <a:p>
            <a:pPr marL="609600" indent="-609600">
              <a:buFont typeface="Wingdings" pitchFamily="2" charset="2"/>
              <a:buNone/>
            </a:pPr>
            <a:endParaRPr lang="en-US" sz="1400" dirty="0" smtClean="0"/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Audience: non-science majors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	in their last math class…ever.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			 </a:t>
            </a:r>
            <a:r>
              <a:rPr lang="en-US" dirty="0"/>
              <a:t> </a:t>
            </a:r>
          </a:p>
        </p:txBody>
      </p:sp>
      <p:sp>
        <p:nvSpPr>
          <p:cNvPr id="6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303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675688" cy="3311525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/>
              <a:t>Email to class:</a:t>
            </a:r>
          </a:p>
          <a:p>
            <a:pPr marL="609600" indent="-609600">
              <a:buNone/>
            </a:pPr>
            <a:r>
              <a:rPr lang="en-US" dirty="0" smtClean="0"/>
              <a:t>In </a:t>
            </a:r>
            <a:r>
              <a:rPr lang="en-US" dirty="0"/>
              <a:t>this class, you will be expected to change the world. If you aren't interested in doing any world-changing, I believe that the other section of Survey will involve much </a:t>
            </a:r>
            <a:r>
              <a:rPr lang="en-US" dirty="0" smtClean="0"/>
              <a:t>less.</a:t>
            </a:r>
            <a:endParaRPr lang="en-US" dirty="0"/>
          </a:p>
          <a:p>
            <a:pPr marL="609600" indent="-609600">
              <a:buNone/>
            </a:pPr>
            <a:r>
              <a:rPr lang="en-US" dirty="0" smtClean="0"/>
              <a:t>Happy </a:t>
            </a:r>
            <a:r>
              <a:rPr lang="en-US" dirty="0"/>
              <a:t>with the world as it is (seriously?</a:t>
            </a:r>
            <a:r>
              <a:rPr lang="en-US" dirty="0" smtClean="0"/>
              <a:t>) or signed </a:t>
            </a:r>
            <a:r>
              <a:rPr lang="en-US" dirty="0"/>
              <a:t>up for this section only because it fit your </a:t>
            </a:r>
            <a:r>
              <a:rPr lang="en-US" dirty="0" smtClean="0"/>
              <a:t>schedule? </a:t>
            </a:r>
            <a:r>
              <a:rPr lang="en-US" dirty="0"/>
              <a:t>Y</a:t>
            </a:r>
            <a:r>
              <a:rPr lang="en-US" dirty="0" smtClean="0"/>
              <a:t>ou </a:t>
            </a:r>
            <a:r>
              <a:rPr lang="en-US" dirty="0"/>
              <a:t>might want to consider switching </a:t>
            </a:r>
            <a:r>
              <a:rPr lang="en-US" dirty="0" smtClean="0"/>
              <a:t>classes.</a:t>
            </a: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73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196975"/>
            <a:ext cx="8675688" cy="331152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Math for Social Justice goals:</a:t>
            </a:r>
          </a:p>
          <a:p>
            <a:pPr marL="990600" lvl="1" indent="-533400"/>
            <a:r>
              <a:rPr lang="en-US" dirty="0" smtClean="0"/>
              <a:t>Develop the </a:t>
            </a:r>
            <a:r>
              <a:rPr lang="en-US" u="sng" dirty="0" smtClean="0"/>
              <a:t>ability</a:t>
            </a:r>
            <a:r>
              <a:rPr lang="en-US" dirty="0" smtClean="0"/>
              <a:t> to question numbers</a:t>
            </a:r>
          </a:p>
          <a:p>
            <a:pPr marL="990600" lvl="1" indent="-533400"/>
            <a:r>
              <a:rPr lang="en-US" dirty="0" smtClean="0"/>
              <a:t>Develop the </a:t>
            </a:r>
            <a:r>
              <a:rPr lang="en-US" u="sng" dirty="0" smtClean="0"/>
              <a:t>inclination</a:t>
            </a:r>
            <a:r>
              <a:rPr lang="en-US" dirty="0" smtClean="0"/>
              <a:t> to question numbers</a:t>
            </a:r>
            <a:endParaRPr lang="en-US" dirty="0"/>
          </a:p>
          <a:p>
            <a:pPr marL="990600" lvl="1" indent="-533400"/>
            <a:r>
              <a:rPr lang="en-US" dirty="0" smtClean="0"/>
              <a:t>Knowledgably participate </a:t>
            </a:r>
            <a:r>
              <a:rPr lang="en-US" dirty="0"/>
              <a:t>in </a:t>
            </a:r>
            <a:r>
              <a:rPr lang="en-US" dirty="0" smtClean="0"/>
              <a:t>our democracy</a:t>
            </a:r>
            <a:endParaRPr lang="en-US" dirty="0"/>
          </a:p>
          <a:p>
            <a:pPr marL="990600" lvl="1" indent="-533400"/>
            <a:r>
              <a:rPr lang="en-US" dirty="0"/>
              <a:t>Be </a:t>
            </a:r>
            <a:r>
              <a:rPr lang="en-US" dirty="0" smtClean="0"/>
              <a:t>an effective activist</a:t>
            </a:r>
          </a:p>
          <a:p>
            <a:pPr marL="990600" lvl="1" indent="-533400"/>
            <a:r>
              <a:rPr lang="en-US" dirty="0" smtClean="0"/>
              <a:t>Positive last math course</a:t>
            </a:r>
            <a:endParaRPr lang="en-US" dirty="0"/>
          </a:p>
          <a:p>
            <a:pPr marL="990600" lvl="1" indent="-5334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008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4" y="1196975"/>
            <a:ext cx="8893175" cy="4680297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Math for Social Justice course topics:</a:t>
            </a:r>
          </a:p>
          <a:p>
            <a:pPr marL="990600" lvl="1" indent="-533400"/>
            <a:r>
              <a:rPr lang="en-US" dirty="0" smtClean="0"/>
              <a:t>Quantitative literacy</a:t>
            </a:r>
          </a:p>
          <a:p>
            <a:pPr marL="990600" lvl="1" indent="-533400"/>
            <a:r>
              <a:rPr lang="en-US" dirty="0" smtClean="0"/>
              <a:t>Large Numbers &amp; Estimation</a:t>
            </a:r>
          </a:p>
          <a:p>
            <a:pPr marL="990600" lvl="1" indent="-533400"/>
            <a:r>
              <a:rPr lang="en-US" dirty="0" smtClean="0"/>
              <a:t>Percentages</a:t>
            </a:r>
          </a:p>
          <a:p>
            <a:pPr marL="990600" lvl="1" indent="-533400"/>
            <a:r>
              <a:rPr lang="en-US" dirty="0" smtClean="0"/>
              <a:t>Statistics</a:t>
            </a:r>
          </a:p>
          <a:p>
            <a:pPr marL="990600" lvl="1" indent="-533400"/>
            <a:r>
              <a:rPr lang="en-US" dirty="0"/>
              <a:t>Distributions (wealth, health care spending, etc.)</a:t>
            </a:r>
          </a:p>
          <a:p>
            <a:pPr marL="990600" lvl="1" indent="-533400"/>
            <a:r>
              <a:rPr lang="en-US" dirty="0"/>
              <a:t>Surveys</a:t>
            </a:r>
          </a:p>
          <a:p>
            <a:pPr marL="990600" lvl="1" indent="-533400"/>
            <a:r>
              <a:rPr lang="en-US" dirty="0" smtClean="0"/>
              <a:t>Voting</a:t>
            </a:r>
          </a:p>
          <a:p>
            <a:pPr marL="990600" lvl="1" indent="-533400"/>
            <a:r>
              <a:rPr lang="en-US" dirty="0" smtClean="0"/>
              <a:t>Financial mathematics </a:t>
            </a:r>
            <a:endParaRPr lang="en-US" dirty="0"/>
          </a:p>
          <a:p>
            <a:pPr marL="990600" lvl="1" indent="-533400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778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4" y="1196975"/>
            <a:ext cx="8893175" cy="4680297"/>
          </a:xfrm>
        </p:spPr>
        <p:txBody>
          <a:bodyPr/>
          <a:lstStyle/>
          <a:p>
            <a:pPr marL="984250" lvl="1" indent="-609600">
              <a:buClr>
                <a:schemeClr val="hlink"/>
              </a:buClr>
              <a:buNone/>
            </a:pPr>
            <a:r>
              <a:rPr lang="en-US" i="1" dirty="0" smtClean="0"/>
              <a:t>What the Numbers Say</a:t>
            </a:r>
            <a:r>
              <a:rPr lang="en-US" dirty="0" smtClean="0"/>
              <a:t>, </a:t>
            </a:r>
            <a:r>
              <a:rPr lang="en-US" dirty="0" err="1" smtClean="0"/>
              <a:t>Niederman</a:t>
            </a:r>
            <a:r>
              <a:rPr lang="en-US" dirty="0" smtClean="0"/>
              <a:t> &amp; </a:t>
            </a:r>
            <a:r>
              <a:rPr lang="en-US" dirty="0" err="1" smtClean="0"/>
              <a:t>Boyum</a:t>
            </a:r>
            <a:endParaRPr lang="en-US" dirty="0" smtClean="0"/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10 Habits of Highly Effective Quantitative Thinkers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	1. Only Trust Numbers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	2. Never Trust Numbers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	3. Play Jeopardy (what 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	question does the # answer?)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	4. Pareto’s Law (80/20)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		…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Great for HS or college!</a:t>
            </a: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4" name="Picture 3" descr="WTN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56176" y="2492896"/>
            <a:ext cx="2600325" cy="38862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053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4" y="1196975"/>
            <a:ext cx="8893175" cy="4680297"/>
          </a:xfrm>
        </p:spPr>
        <p:txBody>
          <a:bodyPr/>
          <a:lstStyle/>
          <a:p>
            <a:pPr marL="984250" lvl="1" indent="-609600">
              <a:buClr>
                <a:schemeClr val="hlink"/>
              </a:buClr>
              <a:buNone/>
            </a:pPr>
            <a:r>
              <a:rPr lang="en-US" i="1" dirty="0" err="1" smtClean="0"/>
              <a:t>Proofiness</a:t>
            </a:r>
            <a:r>
              <a:rPr lang="en-US" dirty="0" smtClean="0"/>
              <a:t>, Charles </a:t>
            </a:r>
            <a:r>
              <a:rPr lang="en-US" dirty="0" err="1" smtClean="0"/>
              <a:t>Seife</a:t>
            </a:r>
            <a:r>
              <a:rPr lang="en-US" dirty="0" smtClean="0"/>
              <a:t> (author of </a:t>
            </a:r>
            <a:r>
              <a:rPr lang="en-US" i="1" dirty="0" smtClean="0"/>
              <a:t>Zero)</a:t>
            </a:r>
            <a:endParaRPr lang="en-US" dirty="0"/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i="1" dirty="0" smtClean="0"/>
              <a:t>How you’re being fooled by the numbers</a:t>
            </a:r>
            <a:endParaRPr lang="en-US" i="1" dirty="0"/>
          </a:p>
          <a:p>
            <a:pPr marL="984250" lvl="1" indent="-609600">
              <a:buClr>
                <a:schemeClr val="hlink"/>
              </a:buClr>
            </a:pPr>
            <a:r>
              <a:rPr lang="en-US" dirty="0" smtClean="0"/>
              <a:t>risk – financial meltdown</a:t>
            </a:r>
          </a:p>
          <a:p>
            <a:pPr marL="984250" lvl="1" indent="-609600">
              <a:buClr>
                <a:schemeClr val="hlink"/>
              </a:buClr>
            </a:pPr>
            <a:r>
              <a:rPr lang="en-US" dirty="0" smtClean="0"/>
              <a:t>polls – statistical &amp; systemic </a:t>
            </a:r>
          </a:p>
          <a:p>
            <a:pPr marL="374650" lvl="1" indent="0">
              <a:buClr>
                <a:schemeClr val="hlink"/>
              </a:buClr>
              <a:buNone/>
            </a:pPr>
            <a:r>
              <a:rPr lang="en-US" dirty="0"/>
              <a:t>	</a:t>
            </a:r>
            <a:r>
              <a:rPr lang="en-US" dirty="0" smtClean="0"/>
              <a:t>	errors</a:t>
            </a:r>
          </a:p>
          <a:p>
            <a:pPr marL="984250" lvl="1" indent="-609600">
              <a:buClr>
                <a:schemeClr val="hlink"/>
              </a:buClr>
            </a:pPr>
            <a:r>
              <a:rPr lang="en-US" dirty="0" smtClean="0"/>
              <a:t>gerrymandering</a:t>
            </a:r>
          </a:p>
          <a:p>
            <a:pPr marL="984250" lvl="1" indent="-609600">
              <a:buClr>
                <a:schemeClr val="hlink"/>
              </a:buClr>
            </a:pPr>
            <a:r>
              <a:rPr lang="en-US" dirty="0" smtClean="0"/>
              <a:t>voting – different systems &amp;</a:t>
            </a:r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/>
              <a:t>	</a:t>
            </a:r>
            <a:r>
              <a:rPr lang="en-US" dirty="0" smtClean="0"/>
              <a:t>counting ballots</a:t>
            </a:r>
          </a:p>
          <a:p>
            <a:pPr marL="984250" lvl="1" indent="-609600">
              <a:buClr>
                <a:schemeClr val="hlink"/>
              </a:buClr>
              <a:buNone/>
            </a:pPr>
            <a:endParaRPr lang="en-US" dirty="0" smtClean="0"/>
          </a:p>
          <a:p>
            <a:pPr marL="984250" lvl="1" indent="-609600">
              <a:buClr>
                <a:schemeClr val="hlink"/>
              </a:buClr>
              <a:buNone/>
            </a:pPr>
            <a:r>
              <a:rPr lang="en-US" dirty="0" smtClean="0"/>
              <a:t>Great read!</a:t>
            </a: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7106" r="16920"/>
          <a:stretch/>
        </p:blipFill>
        <p:spPr>
          <a:xfrm>
            <a:off x="6228184" y="2283680"/>
            <a:ext cx="2660245" cy="403228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060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5264" y="692696"/>
            <a:ext cx="8893175" cy="4680297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Reading the News – discussion boards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Idea: practice questioning numbers (inclination)</a:t>
            </a:r>
          </a:p>
          <a:p>
            <a:pPr marL="609600" indent="-609600">
              <a:buNone/>
            </a:pPr>
            <a:r>
              <a:rPr lang="en-US" dirty="0" smtClean="0"/>
              <a:t>Early in Semester:</a:t>
            </a:r>
          </a:p>
          <a:p>
            <a:pPr marL="609600" indent="-609600"/>
            <a:r>
              <a:rPr lang="en-US" dirty="0" smtClean="0"/>
              <a:t>A’s: post article, highlight numbers</a:t>
            </a:r>
          </a:p>
          <a:p>
            <a:pPr marL="609600" indent="-609600"/>
            <a:r>
              <a:rPr lang="en-US" dirty="0" smtClean="0"/>
              <a:t>B’s: post questions about the numbers</a:t>
            </a:r>
          </a:p>
          <a:p>
            <a:pPr marL="609600" indent="-609600">
              <a:buNone/>
            </a:pPr>
            <a:r>
              <a:rPr lang="en-US" dirty="0" smtClean="0"/>
              <a:t>End of the Semester:</a:t>
            </a:r>
          </a:p>
          <a:p>
            <a:pPr marL="609600" indent="-609600"/>
            <a:r>
              <a:rPr lang="en-US" dirty="0" smtClean="0"/>
              <a:t>A’s: post article, questions</a:t>
            </a:r>
          </a:p>
          <a:p>
            <a:pPr marL="609600" indent="-609600"/>
            <a:r>
              <a:rPr lang="en-US" dirty="0" smtClean="0"/>
              <a:t>B’s: use outside resources to answer those questions</a:t>
            </a:r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703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713663" cy="547238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Semester Projects: Use Math to Improve the World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Proposal: each student proposes a project, pitches it to the class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Voting: students rank top 10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Groups of 2-4 carry out project, write paper, present work.</a:t>
            </a:r>
          </a:p>
          <a:p>
            <a:pPr marL="609600" indent="-609600">
              <a:buFont typeface="Wingdings" pitchFamily="2" charset="2"/>
              <a:buNone/>
            </a:pPr>
            <a:endParaRPr lang="en-US" dirty="0" smtClean="0"/>
          </a:p>
          <a:p>
            <a:pPr marL="609600" indent="-609600"/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863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918" y="764704"/>
            <a:ext cx="8893175" cy="547238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Semester Project Examples:</a:t>
            </a:r>
          </a:p>
          <a:p>
            <a:pPr marL="609600" indent="-609600"/>
            <a:r>
              <a:rPr lang="en-US" dirty="0" smtClean="0"/>
              <a:t>solar water heating on dorms </a:t>
            </a:r>
          </a:p>
          <a:p>
            <a:pPr marL="400050" lvl="1" indent="0">
              <a:buNone/>
            </a:pPr>
            <a:r>
              <a:rPr lang="en-US" dirty="0"/>
              <a:t> </a:t>
            </a:r>
            <a:r>
              <a:rPr lang="en-US" dirty="0" smtClean="0"/>
              <a:t>  (solving linear equations)</a:t>
            </a:r>
          </a:p>
          <a:p>
            <a:pPr marL="609600" indent="-609600"/>
            <a:r>
              <a:rPr lang="en-US" dirty="0" smtClean="0"/>
              <a:t>accessible student housing</a:t>
            </a:r>
          </a:p>
          <a:p>
            <a:pPr marL="609600" indent="-609600"/>
            <a:r>
              <a:rPr lang="en-US" dirty="0" smtClean="0"/>
              <a:t>free trade products in coffee shop</a:t>
            </a:r>
          </a:p>
          <a:p>
            <a:pPr marL="609600" indent="-609600"/>
            <a:r>
              <a:rPr lang="en-US" dirty="0" smtClean="0"/>
              <a:t>campus composting program</a:t>
            </a:r>
          </a:p>
          <a:p>
            <a:pPr marL="609600" indent="-609600"/>
            <a:r>
              <a:rPr lang="en-US" dirty="0" smtClean="0"/>
              <a:t>fair funding of public schools</a:t>
            </a:r>
          </a:p>
          <a:p>
            <a:pPr marL="609600" indent="-609600"/>
            <a:r>
              <a:rPr lang="en-US" dirty="0" smtClean="0"/>
              <a:t>video game about credit cards</a:t>
            </a:r>
          </a:p>
          <a:p>
            <a:pPr marL="609600" indent="-609600"/>
            <a:r>
              <a:rPr lang="en-US" dirty="0" smtClean="0"/>
              <a:t>shortening student shower times</a:t>
            </a:r>
          </a:p>
          <a:p>
            <a:pPr marL="609600" indent="-609600"/>
            <a:endParaRPr lang="en-US" dirty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1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713663" cy="547238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smtClean="0"/>
              <a:t>Sample Activities</a:t>
            </a:r>
          </a:p>
          <a:p>
            <a:pPr marL="396875" indent="-352425">
              <a:tabLst>
                <a:tab pos="795338" algn="l"/>
              </a:tabLst>
            </a:pPr>
            <a:r>
              <a:rPr lang="en-US" dirty="0" smtClean="0"/>
              <a:t>Occupy </a:t>
            </a:r>
            <a:r>
              <a:rPr lang="en-US" dirty="0"/>
              <a:t>Math </a:t>
            </a:r>
            <a:endParaRPr lang="en-US" dirty="0" smtClean="0"/>
          </a:p>
          <a:p>
            <a:pPr marL="44450" indent="0">
              <a:buNone/>
              <a:tabLst>
                <a:tab pos="795338" algn="l"/>
              </a:tabLst>
            </a:pPr>
            <a:r>
              <a:rPr lang="en-US" dirty="0"/>
              <a:t> </a:t>
            </a:r>
            <a:r>
              <a:rPr lang="en-US" dirty="0" smtClean="0"/>
              <a:t>    (Inequality: Lorenz  Curves &amp; </a:t>
            </a:r>
            <a:r>
              <a:rPr lang="en-US" dirty="0" err="1"/>
              <a:t>Gini</a:t>
            </a:r>
            <a:r>
              <a:rPr lang="en-US" dirty="0"/>
              <a:t> </a:t>
            </a:r>
            <a:r>
              <a:rPr lang="en-US" dirty="0" err="1"/>
              <a:t>coeffs</a:t>
            </a:r>
            <a:r>
              <a:rPr lang="en-US" dirty="0"/>
              <a:t>.)</a:t>
            </a:r>
          </a:p>
          <a:p>
            <a:pPr marL="396875" indent="-352425">
              <a:tabLst>
                <a:tab pos="795338" algn="l"/>
              </a:tabLst>
            </a:pPr>
            <a:r>
              <a:rPr lang="en-US" dirty="0"/>
              <a:t>Critical Thinking </a:t>
            </a:r>
            <a:r>
              <a:rPr lang="en-US" dirty="0" smtClean="0"/>
              <a:t>(wind energy/percentages)</a:t>
            </a:r>
            <a:endParaRPr lang="en-US" dirty="0"/>
          </a:p>
          <a:p>
            <a:pPr marL="396875" indent="-352425">
              <a:tabLst>
                <a:tab pos="795338" algn="l"/>
              </a:tabLst>
            </a:pPr>
            <a:r>
              <a:rPr lang="en-US" dirty="0"/>
              <a:t>Obesity in Schools (correlations)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0061" r="24586" b="8950"/>
          <a:stretch/>
        </p:blipFill>
        <p:spPr>
          <a:xfrm>
            <a:off x="3851920" y="3861048"/>
            <a:ext cx="3367015" cy="271196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8804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13614" y="1353435"/>
            <a:ext cx="6096000" cy="3657599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en-US" sz="3200" dirty="0" smtClean="0"/>
              <a:t>Tools to Measure Inequality:</a:t>
            </a:r>
          </a:p>
          <a:p>
            <a:r>
              <a:rPr lang="en-US" sz="3200" dirty="0" smtClean="0"/>
              <a:t>Lorenz Curve</a:t>
            </a:r>
          </a:p>
          <a:p>
            <a:r>
              <a:rPr lang="en-US" sz="3200" dirty="0" err="1" smtClean="0"/>
              <a:t>Gini</a:t>
            </a:r>
            <a:r>
              <a:rPr lang="en-US" sz="3200" dirty="0" smtClean="0"/>
              <a:t> Coefficient (</a:t>
            </a:r>
            <a:r>
              <a:rPr lang="en-US" sz="3200" dirty="0" err="1" smtClean="0"/>
              <a:t>Gini</a:t>
            </a:r>
            <a:r>
              <a:rPr lang="en-US" sz="3200" dirty="0" smtClean="0"/>
              <a:t> Index)</a:t>
            </a:r>
            <a:endParaRPr 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Sample Activity: Occupy Math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0061" r="24586" b="8950"/>
          <a:stretch/>
        </p:blipFill>
        <p:spPr>
          <a:xfrm>
            <a:off x="5724128" y="4221088"/>
            <a:ext cx="2830611" cy="2279921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623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1-11-09 at 2.24.47 P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2" b="4062"/>
          <a:stretch>
            <a:fillRect/>
          </a:stretch>
        </p:blipFill>
        <p:spPr>
          <a:xfrm>
            <a:off x="2133600" y="1689100"/>
            <a:ext cx="6096000" cy="3657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0623" y="107580"/>
            <a:ext cx="7543800" cy="914400"/>
          </a:xfrm>
        </p:spPr>
        <p:txBody>
          <a:bodyPr/>
          <a:lstStyle/>
          <a:p>
            <a:r>
              <a:rPr lang="en-US" dirty="0" err="1" smtClean="0"/>
              <a:t>Gini</a:t>
            </a:r>
            <a:r>
              <a:rPr lang="en-US" dirty="0" smtClean="0"/>
              <a:t> in the News</a:t>
            </a:r>
            <a:endParaRPr lang="en-US" dirty="0"/>
          </a:p>
        </p:txBody>
      </p:sp>
      <p:pic>
        <p:nvPicPr>
          <p:cNvPr id="6" name="Picture 5" descr="Screen shot 2011-11-09 at 2.25.31 PM.p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" b="1414"/>
          <a:stretch/>
        </p:blipFill>
        <p:spPr>
          <a:xfrm>
            <a:off x="1732568" y="1264400"/>
            <a:ext cx="6718601" cy="43026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5573494"/>
            <a:ext cx="8036725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Arial"/>
              </a:rPr>
              <a:t>“…income inequality where [the US] ranks worse than the </a:t>
            </a:r>
          </a:p>
          <a:p>
            <a:pPr algn="ctr"/>
            <a:r>
              <a:rPr lang="en-US" sz="2400" dirty="0" smtClean="0">
                <a:latin typeface="Arial"/>
              </a:rPr>
              <a:t>Ivory Coast, worse than Cameroon. </a:t>
            </a:r>
          </a:p>
          <a:p>
            <a:pPr algn="ctr"/>
            <a:r>
              <a:rPr lang="en-US" sz="2400" dirty="0" smtClean="0">
                <a:latin typeface="Arial"/>
              </a:rPr>
              <a:t>64</a:t>
            </a:r>
            <a:r>
              <a:rPr lang="en-US" sz="2400" baseline="30000" dirty="0" smtClean="0">
                <a:latin typeface="Arial"/>
              </a:rPr>
              <a:t>th</a:t>
            </a:r>
            <a:r>
              <a:rPr lang="en-US" sz="2400" dirty="0" smtClean="0">
                <a:latin typeface="Arial"/>
              </a:rPr>
              <a:t> – In your face, Uruguay, Jamaica &amp; Uganda!” </a:t>
            </a:r>
            <a:endParaRPr lang="en-US" sz="2400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85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1-11-09 at 2.24.47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2" b="4062"/>
          <a:stretch>
            <a:fillRect/>
          </a:stretch>
        </p:blipFill>
        <p:spPr>
          <a:xfrm>
            <a:off x="1718098" y="1289261"/>
            <a:ext cx="6854112" cy="4112467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0623" y="107580"/>
            <a:ext cx="7543800" cy="914400"/>
          </a:xfrm>
        </p:spPr>
        <p:txBody>
          <a:bodyPr/>
          <a:lstStyle/>
          <a:p>
            <a:r>
              <a:rPr lang="en-US" dirty="0" err="1" smtClean="0"/>
              <a:t>Gini</a:t>
            </a:r>
            <a:r>
              <a:rPr lang="en-US" dirty="0" smtClean="0"/>
              <a:t> in the News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02921" y="5749994"/>
            <a:ext cx="4571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hlinkClick r:id="rId3"/>
              </a:rPr>
              <a:t>August 18</a:t>
            </a:r>
            <a:r>
              <a:rPr lang="en-US" baseline="30000" dirty="0" smtClean="0">
                <a:latin typeface="Arial"/>
                <a:hlinkClick r:id="rId3"/>
              </a:rPr>
              <a:t>th</a:t>
            </a:r>
            <a:r>
              <a:rPr lang="en-US" dirty="0" smtClean="0">
                <a:latin typeface="Arial"/>
                <a:hlinkClick r:id="rId3"/>
              </a:rPr>
              <a:t>, 2011 </a:t>
            </a:r>
            <a:r>
              <a:rPr lang="en-US" dirty="0" smtClean="0">
                <a:latin typeface="Arial"/>
              </a:rPr>
              <a:t>(</a:t>
            </a:r>
            <a:r>
              <a:rPr lang="en-US" dirty="0" err="1" smtClean="0">
                <a:latin typeface="Arial"/>
              </a:rPr>
              <a:t>www.thedailyshow.com</a:t>
            </a:r>
            <a:r>
              <a:rPr lang="en-US" dirty="0" smtClean="0">
                <a:latin typeface="Arial"/>
              </a:rPr>
              <a:t>)</a:t>
            </a:r>
            <a:endParaRPr lang="en-US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7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 txBox="1">
            <a:spLocks noChangeArrowheads="1"/>
          </p:cNvSpPr>
          <p:nvPr/>
        </p:nvSpPr>
        <p:spPr>
          <a:xfrm>
            <a:off x="457200" y="-552293"/>
            <a:ext cx="8229600" cy="1312863"/>
          </a:xfrm>
          <a:prstGeom prst="rect">
            <a:avLst/>
          </a:prstGeom>
          <a:ln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000" dirty="0" err="1" smtClean="0"/>
              <a:t>Gini</a:t>
            </a:r>
            <a:r>
              <a:rPr lang="en-US" sz="4000" dirty="0" smtClean="0"/>
              <a:t> </a:t>
            </a:r>
            <a:r>
              <a:rPr lang="en-US" sz="4000" dirty="0" err="1" smtClean="0"/>
              <a:t>Coeff’s</a:t>
            </a:r>
            <a:r>
              <a:rPr lang="en-US" sz="4000" dirty="0" smtClean="0"/>
              <a:t> in the US </a:t>
            </a:r>
            <a:endParaRPr lang="en-US" sz="4000" dirty="0"/>
          </a:p>
        </p:txBody>
      </p:sp>
      <p:sp>
        <p:nvSpPr>
          <p:cNvPr id="7" name="Rectangle 1"/>
          <p:cNvSpPr txBox="1">
            <a:spLocks noChangeArrowheads="1"/>
          </p:cNvSpPr>
          <p:nvPr/>
        </p:nvSpPr>
        <p:spPr>
          <a:xfrm>
            <a:off x="251190" y="980728"/>
            <a:ext cx="8892810" cy="5262979"/>
          </a:xfrm>
          <a:prstGeom prst="rect">
            <a:avLst/>
          </a:prstGeom>
          <a:ln/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(0=equal distribution, 1=complete concentration)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US Income: 0.469</a:t>
            </a:r>
            <a:r>
              <a:rPr lang="en-US" sz="4000" dirty="0" smtClean="0"/>
              <a:t>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MD Income: 0.443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VA Income: 0.459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DC Income: 0.532 (highest in US)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(</a:t>
            </a:r>
            <a:r>
              <a:rPr lang="en-US" sz="3200" dirty="0">
                <a:hlinkClick r:id="rId2"/>
              </a:rPr>
              <a:t>www.census.gov</a:t>
            </a:r>
            <a:r>
              <a:rPr lang="en-US" sz="3200" dirty="0"/>
              <a:t>, 2010</a:t>
            </a:r>
            <a:r>
              <a:rPr lang="en-US" sz="3200" dirty="0" smtClean="0"/>
              <a:t>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dirty="0"/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US Wealth (</a:t>
            </a:r>
            <a:r>
              <a:rPr lang="en-US" sz="3200" b="1" dirty="0" smtClean="0"/>
              <a:t>not</a:t>
            </a:r>
            <a:r>
              <a:rPr lang="en-US" sz="3200" dirty="0" smtClean="0"/>
              <a:t> Income)</a:t>
            </a:r>
            <a:endParaRPr lang="en-US" sz="3200" dirty="0"/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dirty="0" smtClean="0"/>
              <a:t>	0.82 (2003 – Edward Wolff, NYU)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0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64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51221"/>
            <a:ext cx="9419611" cy="1141412"/>
          </a:xfrm>
        </p:spPr>
        <p:txBody>
          <a:bodyPr/>
          <a:lstStyle/>
          <a:p>
            <a:r>
              <a:rPr lang="en-US" dirty="0" smtClean="0"/>
              <a:t>Lorenz</a:t>
            </a:r>
            <a:r>
              <a:rPr lang="en-US" dirty="0"/>
              <a:t> </a:t>
            </a:r>
            <a:r>
              <a:rPr lang="en-US" dirty="0" smtClean="0"/>
              <a:t>Curve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941191"/>
            <a:ext cx="8418167" cy="4524375"/>
          </a:xfrm>
        </p:spPr>
        <p:txBody>
          <a:bodyPr>
            <a:normAutofit/>
          </a:bodyPr>
          <a:lstStyle/>
          <a:p>
            <a:pPr marL="18288" indent="0">
              <a:buNone/>
            </a:pPr>
            <a:r>
              <a:rPr lang="en-US" sz="3200" dirty="0" smtClean="0"/>
              <a:t>Top 1% control 38% of wealth</a:t>
            </a:r>
          </a:p>
          <a:p>
            <a:pPr marL="18288" indent="0">
              <a:buNone/>
            </a:pPr>
            <a:r>
              <a:rPr lang="en-US" sz="3200" dirty="0" smtClean="0"/>
              <a:t>Top 10% control 70% of wealth</a:t>
            </a:r>
          </a:p>
          <a:p>
            <a:pPr marL="18288" indent="0">
              <a:buNone/>
            </a:pPr>
            <a:r>
              <a:rPr lang="en-US" sz="3200" dirty="0" smtClean="0"/>
              <a:t>Bottom 40% control 1% of wealth</a:t>
            </a:r>
          </a:p>
          <a:p>
            <a:pPr marL="18288" indent="0">
              <a:buNone/>
            </a:pPr>
            <a:endParaRPr lang="en-US" sz="3200" dirty="0"/>
          </a:p>
          <a:p>
            <a:pPr marL="18288" indent="0">
              <a:buNone/>
            </a:pPr>
            <a:endParaRPr lang="en-US" sz="3200" dirty="0" smtClean="0"/>
          </a:p>
          <a:p>
            <a:pPr marL="18288" indent="0">
              <a:buNone/>
            </a:pPr>
            <a:endParaRPr lang="en-US" sz="3200" dirty="0"/>
          </a:p>
          <a:p>
            <a:pPr marL="18288" indent="0">
              <a:buNone/>
            </a:pPr>
            <a:endParaRPr lang="en-US" sz="3200" dirty="0"/>
          </a:p>
        </p:txBody>
      </p:sp>
      <p:graphicFrame>
        <p:nvGraphicFramePr>
          <p:cNvPr id="6" name="Chart 5" title="US Distribution of Wealth (2003)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7675559"/>
              </p:ext>
            </p:extLst>
          </p:nvPr>
        </p:nvGraphicFramePr>
        <p:xfrm>
          <a:off x="1632733" y="2861135"/>
          <a:ext cx="6796074" cy="3794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046944" y="6017282"/>
            <a:ext cx="1122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</a:rPr>
              <a:t>(40,1)</a:t>
            </a:r>
            <a:endParaRPr lang="en-US" sz="2800" dirty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53169" y="4018420"/>
            <a:ext cx="1322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</a:rPr>
              <a:t>(99,62)</a:t>
            </a:r>
            <a:endParaRPr lang="en-US" sz="2800" dirty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27335" y="4942346"/>
            <a:ext cx="1322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/>
              </a:rPr>
              <a:t>(90,30)</a:t>
            </a:r>
            <a:endParaRPr lang="en-US" sz="2800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/>
      <p:bldP spid="8" grpId="0"/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219200"/>
          </a:xfrm>
        </p:spPr>
        <p:txBody>
          <a:bodyPr/>
          <a:lstStyle/>
          <a:p>
            <a:r>
              <a:rPr lang="en-US" dirty="0" err="1" smtClean="0"/>
              <a:t>Gini</a:t>
            </a:r>
            <a:r>
              <a:rPr lang="en-US" dirty="0" smtClean="0"/>
              <a:t> Coefficients Across the World (income)</a:t>
            </a:r>
            <a:endParaRPr lang="en-US" dirty="0"/>
          </a:p>
        </p:txBody>
      </p:sp>
      <p:pic>
        <p:nvPicPr>
          <p:cNvPr id="5" name="Picture 4" descr="US Gini Coefficien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5720" y="1524000"/>
            <a:ext cx="8143932" cy="4982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14612" y="6488668"/>
            <a:ext cx="2044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</a:rPr>
              <a:t>Source: Wikipedia</a:t>
            </a:r>
            <a:endParaRPr lang="en-US" dirty="0">
              <a:latin typeface="Arial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7261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5638800"/>
            <a:ext cx="8229600" cy="1219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National Center for Policy Analysis http://www.ncpa.org/pub/st261?pg=7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14289"/>
            <a:ext cx="5857916" cy="5617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4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2423"/>
            <a:ext cx="8229600" cy="1143000"/>
          </a:xfrm>
        </p:spPr>
        <p:txBody>
          <a:bodyPr/>
          <a:lstStyle/>
          <a:p>
            <a:r>
              <a:rPr lang="en-US" sz="3200" dirty="0" smtClean="0"/>
              <a:t>Sample Activity: Critical Thinking (%)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8720"/>
            <a:ext cx="9036496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effectLst/>
              </a:rPr>
              <a:t>Goal: Critical Thinking &amp; Facility with Percentages</a:t>
            </a:r>
          </a:p>
          <a:p>
            <a:pPr marL="0" indent="0">
              <a:buNone/>
            </a:pPr>
            <a:endParaRPr lang="en-US" sz="2800" dirty="0" smtClean="0">
              <a:effectLst/>
            </a:endParaRPr>
          </a:p>
          <a:p>
            <a:pPr marL="0" indent="0">
              <a:buNone/>
            </a:pPr>
            <a:r>
              <a:rPr lang="en-US" sz="2800" dirty="0" smtClean="0">
                <a:effectLst/>
              </a:rPr>
              <a:t>US Wind Energy Production</a:t>
            </a:r>
          </a:p>
          <a:p>
            <a:pPr marL="0" indent="0">
              <a:buNone/>
            </a:pPr>
            <a:r>
              <a:rPr lang="en-US" sz="2800" dirty="0" smtClean="0">
                <a:effectLst/>
              </a:rPr>
              <a:t>	(see handout)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547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-2423"/>
            <a:ext cx="8229600" cy="1143000"/>
          </a:xfrm>
        </p:spPr>
        <p:txBody>
          <a:bodyPr/>
          <a:lstStyle/>
          <a:p>
            <a:r>
              <a:rPr lang="en-US" sz="3200" dirty="0" smtClean="0"/>
              <a:t>Sample Activity: Critical Thinking (%)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8720"/>
            <a:ext cx="9036496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effectLst/>
              </a:rPr>
              <a:t>May </a:t>
            </a:r>
            <a:r>
              <a:rPr lang="en-US" sz="2800" dirty="0">
                <a:effectLst/>
              </a:rPr>
              <a:t>2007 press </a:t>
            </a:r>
            <a:r>
              <a:rPr lang="en-US" sz="2800" dirty="0" smtClean="0">
                <a:effectLst/>
              </a:rPr>
              <a:t>release: </a:t>
            </a:r>
          </a:p>
          <a:p>
            <a:pPr marL="0" indent="0">
              <a:buNone/>
            </a:pPr>
            <a:endParaRPr lang="en-US" sz="2800" dirty="0">
              <a:effectLst/>
            </a:endParaRPr>
          </a:p>
          <a:p>
            <a:pPr marL="0" indent="0">
              <a:buNone/>
            </a:pPr>
            <a:r>
              <a:rPr lang="en-US" sz="2800" dirty="0" smtClean="0">
                <a:effectLst/>
              </a:rPr>
              <a:t>“</a:t>
            </a:r>
            <a:r>
              <a:rPr lang="en-US" sz="2800" b="1" dirty="0">
                <a:effectLst/>
              </a:rPr>
              <a:t>U.S. Continues to Lead the World in Wind Power Growth</a:t>
            </a:r>
            <a:r>
              <a:rPr lang="en-US" sz="2800" dirty="0">
                <a:effectLst/>
              </a:rPr>
              <a:t>,” </a:t>
            </a:r>
            <a:r>
              <a:rPr lang="en-US" sz="2800" dirty="0" smtClean="0">
                <a:effectLst/>
              </a:rPr>
              <a:t>“</a:t>
            </a:r>
            <a:r>
              <a:rPr lang="en-US" sz="2800" b="1" dirty="0">
                <a:effectLst/>
              </a:rPr>
              <a:t>U.S. wind power capacity increased by 27 percent in 2006</a:t>
            </a:r>
            <a:r>
              <a:rPr lang="en-US" sz="2800" dirty="0">
                <a:effectLst/>
              </a:rPr>
              <a:t>” and that “</a:t>
            </a:r>
            <a:r>
              <a:rPr lang="en-US" sz="2800" b="1" dirty="0">
                <a:effectLst/>
              </a:rPr>
              <a:t>the U.S. had the fastest growing wind power capacity in the world in 2005 and 2006.</a:t>
            </a:r>
            <a:r>
              <a:rPr lang="en-US" sz="2800" dirty="0">
                <a:effectLst/>
              </a:rPr>
              <a:t>” “</a:t>
            </a:r>
            <a:r>
              <a:rPr lang="en-US" sz="2800" b="1" dirty="0">
                <a:effectLst/>
              </a:rPr>
              <a:t>As we work to implement President Bush's Advanced Energy Initiative by increasing the use of home-grown, clean, affordable and renewable energy, we are eager to continue the trend of increasing the use of wind power at unprecedented rates</a:t>
            </a:r>
            <a:r>
              <a:rPr lang="en-US" sz="2800" dirty="0">
                <a:effectLst/>
              </a:rPr>
              <a:t>,</a:t>
            </a:r>
            <a:r>
              <a:rPr lang="en-US" sz="2800" dirty="0" smtClean="0">
                <a:effectLst/>
              </a:rPr>
              <a:t>”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23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4744"/>
            <a:ext cx="9036496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effectLst/>
              </a:rPr>
              <a:t>“</a:t>
            </a:r>
            <a:r>
              <a:rPr lang="en-US" sz="2800" b="1" dirty="0">
                <a:effectLst/>
              </a:rPr>
              <a:t>Another record-breaking year of the United States installing more wind generating capacity than any other nation is indicative of the President's durable, pro-growth energy policy. In 2006, for the second straight year, the U.S. led the world by installing 2,454 MW of wind power capacity, enough to power the homes in a city the size of Philadelphia. The U.S. produced roughly 16 percent of the worldwide wind market, followed by Germany, India, Spain, and China</a:t>
            </a:r>
            <a:r>
              <a:rPr lang="en-US" sz="2800" dirty="0">
                <a:effectLst/>
              </a:rPr>
              <a:t>.”</a:t>
            </a:r>
          </a:p>
          <a:p>
            <a:endParaRPr lang="en-US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67544" y="-242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9pPr>
          </a:lstStyle>
          <a:p>
            <a:r>
              <a:rPr lang="en-US" sz="3200" smtClean="0"/>
              <a:t>Sample Activity: Critical Thinking (%)</a:t>
            </a:r>
            <a:endParaRPr 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981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4744"/>
            <a:ext cx="9036496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effectLst/>
              </a:rPr>
              <a:t>Goal: Critical Thinking &amp; Understanding Correlation</a:t>
            </a:r>
            <a:endParaRPr lang="en-US" sz="2800" dirty="0">
              <a:effectLst/>
            </a:endParaRPr>
          </a:p>
          <a:p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(see handout)</a:t>
            </a:r>
            <a:endParaRPr lang="en-US" sz="24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67544" y="-242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defRPr>
            </a:lvl9pPr>
          </a:lstStyle>
          <a:p>
            <a:r>
              <a:rPr lang="en-US" sz="3200" dirty="0" smtClean="0"/>
              <a:t>Sample Activity: Fast Food &amp; Obesity</a:t>
            </a:r>
            <a:endParaRPr lang="en-US" sz="3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05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713663" cy="5472385"/>
          </a:xfrm>
        </p:spPr>
        <p:txBody>
          <a:bodyPr/>
          <a:lstStyle/>
          <a:p>
            <a:pPr marL="609600" indent="-609600"/>
            <a:r>
              <a:rPr lang="en-US" dirty="0" err="1" smtClean="0"/>
              <a:t>Gapminder</a:t>
            </a:r>
            <a:r>
              <a:rPr lang="en-US" dirty="0" smtClean="0"/>
              <a:t> (</a:t>
            </a:r>
            <a:r>
              <a:rPr lang="en-US" dirty="0" smtClean="0">
                <a:hlinkClick r:id="rId2"/>
              </a:rPr>
              <a:t>www.gapminder.org/</a:t>
            </a:r>
            <a:r>
              <a:rPr lang="en-US" dirty="0" smtClean="0"/>
              <a:t>)</a:t>
            </a:r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pic>
        <p:nvPicPr>
          <p:cNvPr id="5" name="Picture 4" descr="gapminder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3568" y="1484784"/>
            <a:ext cx="6306608" cy="5162922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12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713663" cy="5472385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dirty="0" err="1" smtClean="0"/>
              <a:t>Takehome</a:t>
            </a:r>
            <a:r>
              <a:rPr lang="en-US" dirty="0" smtClean="0"/>
              <a:t> message:</a:t>
            </a:r>
          </a:p>
          <a:p>
            <a:pPr marL="0" indent="0">
              <a:buNone/>
            </a:pPr>
            <a:r>
              <a:rPr lang="en-US" dirty="0" smtClean="0"/>
              <a:t>Move away from Calculus to math students can – and will – use as citizens.</a:t>
            </a:r>
            <a:endParaRPr lang="en-US" dirty="0"/>
          </a:p>
          <a:p>
            <a:pPr marL="609600" indent="-609600"/>
            <a:r>
              <a:rPr lang="en-US" dirty="0" smtClean="0"/>
              <a:t>engaging!</a:t>
            </a:r>
          </a:p>
          <a:p>
            <a:pPr marL="609600" indent="-609600"/>
            <a:r>
              <a:rPr lang="en-US" dirty="0" smtClean="0"/>
              <a:t>interesting!</a:t>
            </a:r>
          </a:p>
          <a:p>
            <a:pPr marL="609600" indent="-609600"/>
            <a:r>
              <a:rPr lang="en-US" dirty="0" smtClean="0"/>
              <a:t>sparks critical thinking!</a:t>
            </a:r>
          </a:p>
          <a:p>
            <a:pPr marL="609600" indent="-609600"/>
            <a:r>
              <a:rPr lang="en-US" dirty="0" smtClean="0"/>
              <a:t>ties math together with other subjects!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Make the world a better, more just place.</a:t>
            </a:r>
          </a:p>
          <a:p>
            <a:pPr marL="0" indent="0" algn="ctr">
              <a:buNone/>
            </a:pPr>
            <a:r>
              <a:rPr lang="en-US" dirty="0" smtClean="0"/>
              <a:t>Closer to Fair</a:t>
            </a:r>
          </a:p>
          <a:p>
            <a:pPr marL="609600" indent="-609600"/>
            <a:endParaRPr lang="en-US" dirty="0" smtClean="0"/>
          </a:p>
        </p:txBody>
      </p:sp>
      <p:sp>
        <p:nvSpPr>
          <p:cNvPr id="7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Teaching Mathematics for Social Justice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73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4" y="1196975"/>
            <a:ext cx="8893175" cy="3744193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(curtains close – End of Act II)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You: (applause)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Dave: Thanks, really you’ve been a great group. Thanks for all of your fantastic questions and comments.  Drop me a note anytime.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You: [ad lib as needed]</a:t>
            </a:r>
            <a:endParaRPr lang="en-US" dirty="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dirty="0" smtClean="0"/>
              <a:t>Contact:  </a:t>
            </a:r>
            <a:r>
              <a:rPr lang="en-US" dirty="0" err="1"/>
              <a:t>dtkung@</a:t>
            </a:r>
            <a:r>
              <a:rPr lang="en-US" dirty="0" err="1" smtClean="0"/>
              <a:t>smcm.edu</a:t>
            </a:r>
            <a:endParaRPr lang="en-US" dirty="0"/>
          </a:p>
        </p:txBody>
      </p:sp>
      <p:sp>
        <p:nvSpPr>
          <p:cNvPr id="6" name="Rectangle 3"/>
          <p:cNvSpPr>
            <a:spLocks noRot="1" noChangeArrowheads="1"/>
          </p:cNvSpPr>
          <p:nvPr/>
        </p:nvSpPr>
        <p:spPr bwMode="auto">
          <a:xfrm>
            <a:off x="1475656" y="188640"/>
            <a:ext cx="633670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/>
            <a:r>
              <a:rPr lang="en-US" sz="2400" dirty="0" smtClean="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Closer to Fair: Mathematics &amp; Social Justice</a:t>
            </a:r>
            <a:endParaRPr lang="en-US" sz="2400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Copyright David Kung, 2012. Do not use without permission.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0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Stream">
  <a:themeElements>
    <a:clrScheme name="Stream 4">
      <a:dk1>
        <a:srgbClr val="000000"/>
      </a:dk1>
      <a:lt1>
        <a:srgbClr val="FFFFFF"/>
      </a:lt1>
      <a:dk2>
        <a:srgbClr val="51596D"/>
      </a:dk2>
      <a:lt2>
        <a:srgbClr val="DDDDDD"/>
      </a:lt2>
      <a:accent1>
        <a:srgbClr val="787E8A"/>
      </a:accent1>
      <a:accent2>
        <a:srgbClr val="339966"/>
      </a:accent2>
      <a:accent3>
        <a:srgbClr val="B3B5BA"/>
      </a:accent3>
      <a:accent4>
        <a:srgbClr val="DADADA"/>
      </a:accent4>
      <a:accent5>
        <a:srgbClr val="BEC0C4"/>
      </a:accent5>
      <a:accent6>
        <a:srgbClr val="2D8A5C"/>
      </a:accent6>
      <a:hlink>
        <a:srgbClr val="00FFFF"/>
      </a:hlink>
      <a:folHlink>
        <a:srgbClr val="74B6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Stream 1">
        <a:dk1>
          <a:srgbClr val="000514"/>
        </a:dk1>
        <a:lt1>
          <a:srgbClr val="FFFFFF"/>
        </a:lt1>
        <a:dk2>
          <a:srgbClr val="003399"/>
        </a:dk2>
        <a:lt2>
          <a:srgbClr val="E5E5FF"/>
        </a:lt2>
        <a:accent1>
          <a:srgbClr val="0099CC"/>
        </a:accent1>
        <a:accent2>
          <a:srgbClr val="A886E0"/>
        </a:accent2>
        <a:accent3>
          <a:srgbClr val="AAADCA"/>
        </a:accent3>
        <a:accent4>
          <a:srgbClr val="DADADA"/>
        </a:accent4>
        <a:accent5>
          <a:srgbClr val="AACAE2"/>
        </a:accent5>
        <a:accent6>
          <a:srgbClr val="9879CB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2">
        <a:dk1>
          <a:srgbClr val="3E3E5C"/>
        </a:dk1>
        <a:lt1>
          <a:srgbClr val="FFFFFF"/>
        </a:lt1>
        <a:dk2>
          <a:srgbClr val="666699"/>
        </a:dk2>
        <a:lt2>
          <a:srgbClr val="DFDFE9"/>
        </a:lt2>
        <a:accent1>
          <a:srgbClr val="CC66FF"/>
        </a:accent1>
        <a:accent2>
          <a:srgbClr val="679ACD"/>
        </a:accent2>
        <a:accent3>
          <a:srgbClr val="B8B8CA"/>
        </a:accent3>
        <a:accent4>
          <a:srgbClr val="DADADA"/>
        </a:accent4>
        <a:accent5>
          <a:srgbClr val="E2B8FF"/>
        </a:accent5>
        <a:accent6>
          <a:srgbClr val="5D8BBA"/>
        </a:accent6>
        <a:hlink>
          <a:srgbClr val="CCE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3">
        <a:dk1>
          <a:srgbClr val="2A5400"/>
        </a:dk1>
        <a:lt1>
          <a:srgbClr val="FFFFFF"/>
        </a:lt1>
        <a:dk2>
          <a:srgbClr val="4A9400"/>
        </a:dk2>
        <a:lt2>
          <a:srgbClr val="BAE8BA"/>
        </a:lt2>
        <a:accent1>
          <a:srgbClr val="33CC33"/>
        </a:accent1>
        <a:accent2>
          <a:srgbClr val="99CC00"/>
        </a:accent2>
        <a:accent3>
          <a:srgbClr val="B1C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99FF33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4">
        <a:dk1>
          <a:srgbClr val="000000"/>
        </a:dk1>
        <a:lt1>
          <a:srgbClr val="FFFFFF"/>
        </a:lt1>
        <a:dk2>
          <a:srgbClr val="51596D"/>
        </a:dk2>
        <a:lt2>
          <a:srgbClr val="DDDDDD"/>
        </a:lt2>
        <a:accent1>
          <a:srgbClr val="787E8A"/>
        </a:accent1>
        <a:accent2>
          <a:srgbClr val="339966"/>
        </a:accent2>
        <a:accent3>
          <a:srgbClr val="B3B5BA"/>
        </a:accent3>
        <a:accent4>
          <a:srgbClr val="DADADA"/>
        </a:accent4>
        <a:accent5>
          <a:srgbClr val="BEC0C4"/>
        </a:accent5>
        <a:accent6>
          <a:srgbClr val="2D8A5C"/>
        </a:accent6>
        <a:hlink>
          <a:srgbClr val="00FFFF"/>
        </a:hlink>
        <a:folHlink>
          <a:srgbClr val="74B6D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5">
        <a:dk1>
          <a:srgbClr val="5C1F00"/>
        </a:dk1>
        <a:lt1>
          <a:srgbClr val="FFFFFF"/>
        </a:lt1>
        <a:dk2>
          <a:srgbClr val="8C0000"/>
        </a:dk2>
        <a:lt2>
          <a:srgbClr val="DFD293"/>
        </a:lt2>
        <a:accent1>
          <a:srgbClr val="FF6845"/>
        </a:accent1>
        <a:accent2>
          <a:srgbClr val="BE7960"/>
        </a:accent2>
        <a:accent3>
          <a:srgbClr val="C5AAAA"/>
        </a:accent3>
        <a:accent4>
          <a:srgbClr val="DADADA"/>
        </a:accent4>
        <a:accent5>
          <a:srgbClr val="FFB9B0"/>
        </a:accent5>
        <a:accent6>
          <a:srgbClr val="AC6D56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6">
        <a:dk1>
          <a:srgbClr val="5E4444"/>
        </a:dk1>
        <a:lt1>
          <a:srgbClr val="F7F3F3"/>
        </a:lt1>
        <a:dk2>
          <a:srgbClr val="8A6362"/>
        </a:dk2>
        <a:lt2>
          <a:srgbClr val="D8C1BA"/>
        </a:lt2>
        <a:accent1>
          <a:srgbClr val="CC6600"/>
        </a:accent1>
        <a:accent2>
          <a:srgbClr val="C16059"/>
        </a:accent2>
        <a:accent3>
          <a:srgbClr val="C4B7B7"/>
        </a:accent3>
        <a:accent4>
          <a:srgbClr val="D3D0D0"/>
        </a:accent4>
        <a:accent5>
          <a:srgbClr val="E2B8AA"/>
        </a:accent5>
        <a:accent6>
          <a:srgbClr val="AF5650"/>
        </a:accent6>
        <a:hlink>
          <a:srgbClr val="FFCC00"/>
        </a:hlink>
        <a:folHlink>
          <a:srgbClr val="CBB55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7">
        <a:dk1>
          <a:srgbClr val="7F6737"/>
        </a:dk1>
        <a:lt1>
          <a:srgbClr val="FFFFFF"/>
        </a:lt1>
        <a:dk2>
          <a:srgbClr val="BFA673"/>
        </a:dk2>
        <a:lt2>
          <a:srgbClr val="E6E3AA"/>
        </a:lt2>
        <a:accent1>
          <a:srgbClr val="FFCC00"/>
        </a:accent1>
        <a:accent2>
          <a:srgbClr val="808000"/>
        </a:accent2>
        <a:accent3>
          <a:srgbClr val="DCD0BC"/>
        </a:accent3>
        <a:accent4>
          <a:srgbClr val="DADADA"/>
        </a:accent4>
        <a:accent5>
          <a:srgbClr val="FFE2AA"/>
        </a:accent5>
        <a:accent6>
          <a:srgbClr val="737300"/>
        </a:accent6>
        <a:hlink>
          <a:srgbClr val="784700"/>
        </a:hlink>
        <a:folHlink>
          <a:srgbClr val="9A7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eam 8">
        <a:dk1>
          <a:srgbClr val="4B2500"/>
        </a:dk1>
        <a:lt1>
          <a:srgbClr val="F9F0D3"/>
        </a:lt1>
        <a:dk2>
          <a:srgbClr val="A69564"/>
        </a:dk2>
        <a:lt2>
          <a:srgbClr val="EFDEAF"/>
        </a:lt2>
        <a:accent1>
          <a:srgbClr val="FFFFE3"/>
        </a:accent1>
        <a:accent2>
          <a:srgbClr val="BFBFA7"/>
        </a:accent2>
        <a:accent3>
          <a:srgbClr val="FBF6E6"/>
        </a:accent3>
        <a:accent4>
          <a:srgbClr val="3F1E00"/>
        </a:accent4>
        <a:accent5>
          <a:srgbClr val="FFFFEF"/>
        </a:accent5>
        <a:accent6>
          <a:srgbClr val="ADAD97"/>
        </a:accent6>
        <a:hlink>
          <a:srgbClr val="7B6D47"/>
        </a:hlink>
        <a:folHlink>
          <a:srgbClr val="A99D2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eam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ECFF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2D2D8A"/>
        </a:accent6>
        <a:hlink>
          <a:srgbClr val="66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17098</TotalTime>
  <Words>3258</Words>
  <Application>Microsoft Macintosh PowerPoint</Application>
  <PresentationFormat>On-screen Show (4:3)</PresentationFormat>
  <Paragraphs>493</Paragraphs>
  <Slides>62</Slides>
  <Notes>5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Stream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 I (Social Justice in Math) -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Guiding Philosophy</vt:lpstr>
      <vt:lpstr>What You Can Do</vt:lpstr>
      <vt:lpstr>PowerPoint Presentation</vt:lpstr>
      <vt:lpstr>Intermission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Activity: Occupy Math</vt:lpstr>
      <vt:lpstr>Gini in the News</vt:lpstr>
      <vt:lpstr>Gini in the News</vt:lpstr>
      <vt:lpstr>PowerPoint Presentation</vt:lpstr>
      <vt:lpstr>Lorenz Curve</vt:lpstr>
      <vt:lpstr>Gini Coefficients Across the World (income)</vt:lpstr>
      <vt:lpstr>National Center for Policy Analysis http://www.ncpa.org/pub/st261?pg=7</vt:lpstr>
      <vt:lpstr>Sample Activity: Critical Thinking (%)</vt:lpstr>
      <vt:lpstr>Sample Activity: Critical Thinking (%)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St. Mary's College of Maryland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David Kung</cp:lastModifiedBy>
  <cp:revision>95</cp:revision>
  <dcterms:created xsi:type="dcterms:W3CDTF">2011-02-02T18:11:50Z</dcterms:created>
  <dcterms:modified xsi:type="dcterms:W3CDTF">2012-08-21T19:26:44Z</dcterms:modified>
</cp:coreProperties>
</file>