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rawings/drawing2.xml" ContentType="application/vnd.openxmlformats-officedocument.drawingml.chartshapes+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charts/chart17.xml" ContentType="application/vnd.openxmlformats-officedocument.drawingml.char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charts/chart13.xml" ContentType="application/vnd.openxmlformats-officedocument.drawingml.chart+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Default Extension="xlsx" ContentType="application/vnd.openxmlformats-officedocument.spreadsheetml.sheet"/>
  <Override PartName="/ppt/notesSlides/notesSlide7.xml" ContentType="application/vnd.openxmlformats-officedocument.presentationml.notesSlide+xml"/>
  <Override PartName="/ppt/diagrams/layout1.xml" ContentType="application/vnd.openxmlformats-officedocument.drawingml.diagramLayout+xml"/>
  <Override PartName="/ppt/slides/slide9.xml" ContentType="application/vnd.openxmlformats-officedocument.presentationml.slide+xml"/>
  <Override PartName="/ppt/viewProps.xml" ContentType="application/vnd.openxmlformats-officedocument.presentationml.viewProp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diagrams/drawing1.xml" ContentType="application/vnd.ms-office.drawingml.diagramDrawing+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diagrams/quickStyle1.xml" ContentType="application/vnd.openxmlformats-officedocument.drawingml.diagramStyle+xml"/>
  <Default Extension="emf" ContentType="image/x-emf"/>
  <Override PartName="/ppt/charts/chart16.xml" ContentType="application/vnd.openxmlformats-officedocument.drawingml.chart+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charts/chart14.xml" ContentType="application/vnd.openxmlformats-officedocument.drawingml.chart+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charts/chart8.xml" ContentType="application/vnd.openxmlformats-officedocument.drawingml.chart+xml"/>
  <Override PartName="/ppt/notesSlides/notesSlide13.xml" ContentType="application/vnd.openxmlformats-officedocument.presentationml.notesSlide+xml"/>
  <Override PartName="/ppt/charts/chart12.xml" ContentType="application/vnd.openxmlformats-officedocument.drawingml.char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8.xml" ContentType="application/vnd.openxmlformats-officedocument.presentationml.notesSlide+xml"/>
  <Default Extension="gif" ContentType="image/gif"/>
  <Override PartName="/ppt/charts/chart6.xml" ContentType="application/vnd.openxmlformats-officedocument.drawingml.chart+xml"/>
  <Override PartName="/ppt/notesSlides/notesSlide11.xml" ContentType="application/vnd.openxmlformats-officedocument.presentationml.notesSlide+xml"/>
  <Override PartName="/ppt/charts/chart10.xml" ContentType="application/vnd.openxmlformats-officedocument.drawingml.chart+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charts/chart4.xml" ContentType="application/vnd.openxmlformats-officedocument.drawingml.chart+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charts/chart2.xml" ContentType="application/vnd.openxmlformats-officedocument.drawingml.chart+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Default Extension="xls" ContentType="application/vnd.ms-exce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charts/chart15.xml" ContentType="application/vnd.openxmlformats-officedocument.drawingml.char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charts/chart9.xml" ContentType="application/vnd.openxmlformats-officedocument.drawingml.chart+xml"/>
  <Override PartName="/ppt/notesSlides/notesSlide14.xml" ContentType="application/vnd.openxmlformats-officedocument.presentationml.notesSlide+xml"/>
  <Override PartName="/ppt/charts/chart11.xml" ContentType="application/vnd.openxmlformats-officedocument.drawingml.chart+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slides/slide7.xml" ContentType="application/vnd.openxmlformats-officedocument.presentationml.slide+xml"/>
  <Override PartName="/ppt/charts/chart1.xml" ContentType="application/vnd.openxmlformats-officedocument.drawingml.char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Lst>
  <p:notesMasterIdLst>
    <p:notesMasterId r:id="rId50"/>
  </p:notesMasterIdLst>
  <p:handoutMasterIdLst>
    <p:handoutMasterId r:id="rId51"/>
  </p:handoutMasterIdLst>
  <p:sldIdLst>
    <p:sldId id="314" r:id="rId3"/>
    <p:sldId id="298" r:id="rId4"/>
    <p:sldId id="312" r:id="rId5"/>
    <p:sldId id="315" r:id="rId6"/>
    <p:sldId id="279" r:id="rId7"/>
    <p:sldId id="282" r:id="rId8"/>
    <p:sldId id="317" r:id="rId9"/>
    <p:sldId id="278" r:id="rId10"/>
    <p:sldId id="274" r:id="rId11"/>
    <p:sldId id="275" r:id="rId12"/>
    <p:sldId id="277" r:id="rId13"/>
    <p:sldId id="301" r:id="rId14"/>
    <p:sldId id="302" r:id="rId15"/>
    <p:sldId id="303" r:id="rId16"/>
    <p:sldId id="304" r:id="rId17"/>
    <p:sldId id="307" r:id="rId18"/>
    <p:sldId id="318" r:id="rId19"/>
    <p:sldId id="269" r:id="rId20"/>
    <p:sldId id="296" r:id="rId21"/>
    <p:sldId id="322" r:id="rId22"/>
    <p:sldId id="276" r:id="rId23"/>
    <p:sldId id="320" r:id="rId24"/>
    <p:sldId id="321" r:id="rId25"/>
    <p:sldId id="324" r:id="rId26"/>
    <p:sldId id="323" r:id="rId27"/>
    <p:sldId id="300" r:id="rId28"/>
    <p:sldId id="306" r:id="rId29"/>
    <p:sldId id="283" r:id="rId30"/>
    <p:sldId id="280" r:id="rId31"/>
    <p:sldId id="319" r:id="rId32"/>
    <p:sldId id="284" r:id="rId33"/>
    <p:sldId id="286" r:id="rId34"/>
    <p:sldId id="313" r:id="rId35"/>
    <p:sldId id="285" r:id="rId36"/>
    <p:sldId id="287" r:id="rId37"/>
    <p:sldId id="310" r:id="rId38"/>
    <p:sldId id="288" r:id="rId39"/>
    <p:sldId id="289" r:id="rId40"/>
    <p:sldId id="290" r:id="rId41"/>
    <p:sldId id="291" r:id="rId42"/>
    <p:sldId id="292" r:id="rId43"/>
    <p:sldId id="293" r:id="rId44"/>
    <p:sldId id="294" r:id="rId45"/>
    <p:sldId id="295" r:id="rId46"/>
    <p:sldId id="266" r:id="rId47"/>
    <p:sldId id="308" r:id="rId48"/>
    <p:sldId id="267" r:id="rId49"/>
  </p:sldIdLst>
  <p:sldSz cx="9144000" cy="6858000" type="screen4x3"/>
  <p:notesSz cx="6858000" cy="9144000"/>
  <p:custShowLst>
    <p:custShow name="p20council" id="0">
      <p:sldLst>
        <p:sld r:id="rId5"/>
        <p:sld r:id="rId4"/>
        <p:sld r:id="rId48"/>
        <p:sld r:id="rId20"/>
        <p:sld r:id="rId21"/>
        <p:sld r:id="rId23"/>
        <p:sld r:id="rId11"/>
        <p:sld r:id="rId12"/>
        <p:sld r:id="rId13"/>
        <p:sld r:id="rId29"/>
        <p:sld r:id="rId30"/>
        <p:sld r:id="rId34"/>
        <p:sld r:id="rId36"/>
        <p:sld r:id="rId39"/>
        <p:sld r:id="rId40"/>
        <p:sld r:id="rId42"/>
        <p:sld r:id="rId43"/>
        <p:sld r:id="rId44"/>
        <p:sld r:id="rId46"/>
        <p:sld r:id="rId49"/>
      </p:sldLst>
    </p:custShow>
    <p:custShow name="Area Offices" id="1">
      <p:sldLst>
        <p:sld r:id="rId4"/>
        <p:sld r:id="rId5"/>
        <p:sld r:id="rId20"/>
        <p:sld r:id="rId21"/>
        <p:sld r:id="rId23"/>
        <p:sld r:id="rId11"/>
        <p:sld r:id="rId12"/>
        <p:sld r:id="rId18"/>
        <p:sld r:id="rId13"/>
        <p:sld r:id="rId14"/>
        <p:sld r:id="rId15"/>
        <p:sld r:id="rId16"/>
        <p:sld r:id="rId17"/>
        <p:sld r:id="rId10"/>
        <p:sld r:id="rId7"/>
        <p:sld r:id="rId8"/>
        <p:sld r:id="rId28"/>
        <p:sld r:id="rId29"/>
        <p:sld r:id="rId30"/>
        <p:sld r:id="rId31"/>
        <p:sld r:id="rId33"/>
        <p:sld r:id="rId34"/>
        <p:sld r:id="rId36"/>
        <p:sld r:id="rId37"/>
        <p:sld r:id="rId38"/>
        <p:sld r:id="rId39"/>
        <p:sld r:id="rId40"/>
        <p:sld r:id="rId41"/>
        <p:sld r:id="rId42"/>
        <p:sld r:id="rId43"/>
        <p:sld r:id="rId44"/>
        <p:sld r:id="rId45"/>
        <p:sld r:id="rId46"/>
        <p:sld r:id="rId47"/>
        <p:sld r:id="rId48"/>
        <p:sld r:id="rId49"/>
      </p:sldLst>
    </p:custShow>
    <p:custShow name="Recession Story" id="2">
      <p:sldLst>
        <p:sld r:id="rId3"/>
        <p:sld r:id="rId4"/>
        <p:sld r:id="rId6"/>
        <p:sld r:id="rId7"/>
        <p:sld r:id="rId8"/>
        <p:sld r:id="rId10"/>
        <p:sld r:id="rId11"/>
        <p:sld r:id="rId12"/>
        <p:sld r:id="rId13"/>
        <p:sld r:id="rId14"/>
        <p:sld r:id="rId15"/>
        <p:sld r:id="rId16"/>
        <p:sld r:id="rId17"/>
        <p:sld r:id="rId18"/>
        <p:sld r:id="rId19"/>
        <p:sld r:id="rId20"/>
        <p:sld r:id="rId21"/>
        <p:sld r:id="rId23"/>
        <p:sld r:id="rId24"/>
        <p:sld r:id="rId28"/>
        <p:sld r:id="rId29"/>
        <p:sld r:id="rId25"/>
        <p:sld r:id="rId30"/>
        <p:sld r:id="rId31"/>
        <p:sld r:id="rId33"/>
        <p:sld r:id="rId34"/>
        <p:sld r:id="rId35"/>
        <p:sld r:id="rId36"/>
        <p:sld r:id="rId37"/>
        <p:sld r:id="rId38"/>
        <p:sld r:id="rId39"/>
        <p:sld r:id="rId40"/>
        <p:sld r:id="rId41"/>
        <p:sld r:id="rId42"/>
        <p:sld r:id="rId43"/>
        <p:sld r:id="rId44"/>
        <p:sld r:id="rId45"/>
        <p:sld r:id="rId46"/>
        <p:sld r:id="rId47"/>
        <p:sld r:id="rId48"/>
        <p:sld r:id="rId49"/>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009999"/>
    <a:srgbClr val="D45C26"/>
    <a:srgbClr val="FFCC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402" y="-6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sreagan\Documents\My%20PowerPoints\NM%20Bldg%20Permits.xls"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sreagan\Documents\My%20PowerPoints\rig%20count.xls"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4.xml.rels><?xml version="1.0" encoding="UTF-8" standalone="yes"?>
<Relationships xmlns="http://schemas.openxmlformats.org/package/2006/relationships"><Relationship Id="rId1" Type="http://schemas.openxmlformats.org/officeDocument/2006/relationships/oleObject" Target="file:///C:\Users\sreagan\Documents\My%20PowerPoints\retail%20sales.xls"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sreagan\Documents\My%20PowerPoints\cesSeries.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Documents%20and%20Settings\SReagan\My%20Documents\excel\RecesionCES07-10.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Documents%20and%20Settings\SReagan\My%20Documents\excel\RecesionCES07-10.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Documents%20and%20Settings\SReagan\My%20Documents\excel\RecesionCES07-10.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Documents%20and%20Settings\SReagan\My%20Documents\excel\RecesionCES07-10.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Documents%20and%20Settings\SReagan\My%20Documents\excel\RecesionCES07-10.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sreagan\Documents\My%20PowerPoints\IndustryProj.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sreagan\Documents\My%20PowerPoints\demecon%20by%20quarter%202005-2011.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sreagan\Documents\My%20PowerPoints\URdemographics.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sreagan\Documents\My%20PowerPoints\UIbyAge2011.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C:\Users\sreagan\Documents\My%20PowerPoints\ACS_10_1YR_S2301urByRace.xlsx" TargetMode="External"/></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Users\sreagan\Documents\My%20PowerPoints\cesSeries.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http://laser.state.nm.us/admin/gsipub/htmlarea/uploads/NM_EDUC-Clean.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New Mexico Private Housing Building Permits, 1988 - Present</a:t>
            </a:r>
          </a:p>
        </c:rich>
      </c:tx>
      <c:layout/>
      <c:overlay val="1"/>
    </c:title>
    <c:plotArea>
      <c:layout/>
      <c:barChart>
        <c:barDir val="col"/>
        <c:grouping val="clustered"/>
        <c:ser>
          <c:idx val="0"/>
          <c:order val="0"/>
          <c:spPr>
            <a:solidFill>
              <a:schemeClr val="tx1"/>
            </a:solidFill>
          </c:spPr>
          <c:dLbls>
            <c:txPr>
              <a:bodyPr rot="-1800000" vert="horz"/>
              <a:lstStyle/>
              <a:p>
                <a:pPr>
                  <a:defRPr/>
                </a:pPr>
                <a:endParaRPr lang="en-US"/>
              </a:p>
            </c:txPr>
            <c:showVal val="1"/>
          </c:dLbls>
          <c:cat>
            <c:numRef>
              <c:f>NMBPPRIV!$D$16:$D$40</c:f>
              <c:numCache>
                <c:formatCode>General</c:formatCode>
                <c:ptCount val="25"/>
                <c:pt idx="0">
                  <c:v>1988</c:v>
                </c:pt>
                <c:pt idx="1">
                  <c:v>1989</c:v>
                </c:pt>
                <c:pt idx="2">
                  <c:v>1990</c:v>
                </c:pt>
                <c:pt idx="3">
                  <c:v>1991</c:v>
                </c:pt>
                <c:pt idx="4">
                  <c:v>1992</c:v>
                </c:pt>
                <c:pt idx="5">
                  <c:v>1993</c:v>
                </c:pt>
                <c:pt idx="6">
                  <c:v>1994</c:v>
                </c:pt>
                <c:pt idx="7">
                  <c:v>1995</c:v>
                </c:pt>
                <c:pt idx="8">
                  <c:v>1996</c:v>
                </c:pt>
                <c:pt idx="9">
                  <c:v>1997</c:v>
                </c:pt>
                <c:pt idx="10">
                  <c:v>1998</c:v>
                </c:pt>
                <c:pt idx="11">
                  <c:v>1999</c:v>
                </c:pt>
                <c:pt idx="12">
                  <c:v>2000</c:v>
                </c:pt>
                <c:pt idx="13">
                  <c:v>2001</c:v>
                </c:pt>
                <c:pt idx="14">
                  <c:v>2002</c:v>
                </c:pt>
                <c:pt idx="15">
                  <c:v>2003</c:v>
                </c:pt>
                <c:pt idx="16">
                  <c:v>2004</c:v>
                </c:pt>
                <c:pt idx="17">
                  <c:v>2005</c:v>
                </c:pt>
                <c:pt idx="18">
                  <c:v>2006</c:v>
                </c:pt>
                <c:pt idx="19">
                  <c:v>2007</c:v>
                </c:pt>
                <c:pt idx="20">
                  <c:v>2008</c:v>
                </c:pt>
                <c:pt idx="21">
                  <c:v>2009</c:v>
                </c:pt>
                <c:pt idx="22">
                  <c:v>2010</c:v>
                </c:pt>
                <c:pt idx="23">
                  <c:v>2011</c:v>
                </c:pt>
                <c:pt idx="24">
                  <c:v>2012</c:v>
                </c:pt>
              </c:numCache>
            </c:numRef>
          </c:cat>
          <c:val>
            <c:numRef>
              <c:f>NMBPPRIV!$E$16:$E$40</c:f>
              <c:numCache>
                <c:formatCode>General</c:formatCode>
                <c:ptCount val="25"/>
                <c:pt idx="0">
                  <c:v>6384</c:v>
                </c:pt>
                <c:pt idx="1">
                  <c:v>6312</c:v>
                </c:pt>
                <c:pt idx="2">
                  <c:v>5892</c:v>
                </c:pt>
                <c:pt idx="3">
                  <c:v>5532</c:v>
                </c:pt>
                <c:pt idx="4">
                  <c:v>6900</c:v>
                </c:pt>
                <c:pt idx="5">
                  <c:v>8292</c:v>
                </c:pt>
                <c:pt idx="6">
                  <c:v>11568</c:v>
                </c:pt>
                <c:pt idx="7">
                  <c:v>11352</c:v>
                </c:pt>
                <c:pt idx="8">
                  <c:v>10560</c:v>
                </c:pt>
                <c:pt idx="9">
                  <c:v>10428</c:v>
                </c:pt>
                <c:pt idx="10">
                  <c:v>10800</c:v>
                </c:pt>
                <c:pt idx="11">
                  <c:v>9804</c:v>
                </c:pt>
                <c:pt idx="12">
                  <c:v>9084</c:v>
                </c:pt>
                <c:pt idx="13">
                  <c:v>9624</c:v>
                </c:pt>
                <c:pt idx="14">
                  <c:v>11268</c:v>
                </c:pt>
                <c:pt idx="15">
                  <c:v>13188</c:v>
                </c:pt>
                <c:pt idx="16">
                  <c:v>13908</c:v>
                </c:pt>
                <c:pt idx="17">
                  <c:v>14112</c:v>
                </c:pt>
                <c:pt idx="18">
                  <c:v>12516</c:v>
                </c:pt>
                <c:pt idx="19">
                  <c:v>9120</c:v>
                </c:pt>
                <c:pt idx="20">
                  <c:v>5808</c:v>
                </c:pt>
                <c:pt idx="21">
                  <c:v>4560</c:v>
                </c:pt>
                <c:pt idx="22">
                  <c:v>4562</c:v>
                </c:pt>
                <c:pt idx="23" formatCode="0">
                  <c:v>4029</c:v>
                </c:pt>
                <c:pt idx="24">
                  <c:v>282</c:v>
                </c:pt>
              </c:numCache>
            </c:numRef>
          </c:val>
        </c:ser>
        <c:axId val="92238592"/>
        <c:axId val="92240128"/>
      </c:barChart>
      <c:catAx>
        <c:axId val="92238592"/>
        <c:scaling>
          <c:orientation val="minMax"/>
        </c:scaling>
        <c:axPos val="b"/>
        <c:numFmt formatCode="General" sourceLinked="1"/>
        <c:tickLblPos val="nextTo"/>
        <c:crossAx val="92240128"/>
        <c:crosses val="autoZero"/>
        <c:auto val="1"/>
        <c:lblAlgn val="ctr"/>
        <c:lblOffset val="100"/>
      </c:catAx>
      <c:valAx>
        <c:axId val="92240128"/>
        <c:scaling>
          <c:orientation val="minMax"/>
        </c:scaling>
        <c:axPos val="l"/>
        <c:majorGridlines/>
        <c:numFmt formatCode="General" sourceLinked="1"/>
        <c:tickLblPos val="nextTo"/>
        <c:crossAx val="92238592"/>
        <c:crosses val="autoZero"/>
        <c:crossBetween val="between"/>
      </c:valAx>
    </c:plotArea>
    <c:plotVisOnly val="1"/>
    <c:dispBlanksAs val="gap"/>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sz="1800" b="1" i="0" u="none" strike="noStrike" baseline="0">
                <a:solidFill>
                  <a:srgbClr val="000000"/>
                </a:solidFill>
                <a:latin typeface="Calibri"/>
                <a:ea typeface="Calibri"/>
                <a:cs typeface="Calibri"/>
              </a:defRPr>
            </a:pPr>
            <a:r>
              <a:rPr lang="en-US" dirty="0"/>
              <a:t>NM Oil Rig Count</a:t>
            </a:r>
          </a:p>
        </c:rich>
      </c:tx>
      <c:layout/>
      <c:overlay val="1"/>
    </c:title>
    <c:plotArea>
      <c:layout>
        <c:manualLayout>
          <c:layoutTarget val="inner"/>
          <c:xMode val="edge"/>
          <c:yMode val="edge"/>
          <c:x val="5.2796107352778447E-2"/>
          <c:y val="1.303957197657985E-2"/>
          <c:w val="0.92916054397249637"/>
          <c:h val="0.88953894432697656"/>
        </c:manualLayout>
      </c:layout>
      <c:barChart>
        <c:barDir val="col"/>
        <c:grouping val="clustered"/>
        <c:ser>
          <c:idx val="0"/>
          <c:order val="0"/>
          <c:cat>
            <c:numRef>
              <c:f>Current!$A$2:$A$88</c:f>
              <c:numCache>
                <c:formatCode>mmm\-yy</c:formatCode>
                <c:ptCount val="87"/>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numCache>
            </c:numRef>
          </c:cat>
          <c:val>
            <c:numRef>
              <c:f>Current!$B$2:$B$88</c:f>
              <c:numCache>
                <c:formatCode>General</c:formatCode>
                <c:ptCount val="87"/>
                <c:pt idx="0">
                  <c:v>73</c:v>
                </c:pt>
                <c:pt idx="1">
                  <c:v>70</c:v>
                </c:pt>
                <c:pt idx="2">
                  <c:v>72</c:v>
                </c:pt>
                <c:pt idx="3">
                  <c:v>80</c:v>
                </c:pt>
                <c:pt idx="4">
                  <c:v>83</c:v>
                </c:pt>
                <c:pt idx="5">
                  <c:v>77</c:v>
                </c:pt>
                <c:pt idx="6">
                  <c:v>83</c:v>
                </c:pt>
                <c:pt idx="7">
                  <c:v>81</c:v>
                </c:pt>
                <c:pt idx="8">
                  <c:v>91</c:v>
                </c:pt>
                <c:pt idx="9">
                  <c:v>95</c:v>
                </c:pt>
                <c:pt idx="10">
                  <c:v>88</c:v>
                </c:pt>
                <c:pt idx="11">
                  <c:v>92</c:v>
                </c:pt>
                <c:pt idx="12">
                  <c:v>90</c:v>
                </c:pt>
                <c:pt idx="13">
                  <c:v>97</c:v>
                </c:pt>
                <c:pt idx="14">
                  <c:v>98</c:v>
                </c:pt>
                <c:pt idx="15">
                  <c:v>95</c:v>
                </c:pt>
                <c:pt idx="16">
                  <c:v>98</c:v>
                </c:pt>
                <c:pt idx="17">
                  <c:v>98</c:v>
                </c:pt>
                <c:pt idx="18">
                  <c:v>91</c:v>
                </c:pt>
                <c:pt idx="19">
                  <c:v>93</c:v>
                </c:pt>
                <c:pt idx="20">
                  <c:v>90</c:v>
                </c:pt>
                <c:pt idx="21">
                  <c:v>89</c:v>
                </c:pt>
                <c:pt idx="22">
                  <c:v>91</c:v>
                </c:pt>
                <c:pt idx="23">
                  <c:v>92</c:v>
                </c:pt>
                <c:pt idx="24">
                  <c:v>88</c:v>
                </c:pt>
                <c:pt idx="25">
                  <c:v>84</c:v>
                </c:pt>
                <c:pt idx="26">
                  <c:v>73</c:v>
                </c:pt>
                <c:pt idx="27">
                  <c:v>75</c:v>
                </c:pt>
                <c:pt idx="28">
                  <c:v>77</c:v>
                </c:pt>
                <c:pt idx="29">
                  <c:v>81</c:v>
                </c:pt>
                <c:pt idx="30">
                  <c:v>83</c:v>
                </c:pt>
                <c:pt idx="31">
                  <c:v>85</c:v>
                </c:pt>
                <c:pt idx="32">
                  <c:v>73</c:v>
                </c:pt>
                <c:pt idx="33">
                  <c:v>69</c:v>
                </c:pt>
                <c:pt idx="34">
                  <c:v>71</c:v>
                </c:pt>
                <c:pt idx="35">
                  <c:v>74</c:v>
                </c:pt>
                <c:pt idx="36">
                  <c:v>69</c:v>
                </c:pt>
                <c:pt idx="37">
                  <c:v>68</c:v>
                </c:pt>
                <c:pt idx="38">
                  <c:v>72</c:v>
                </c:pt>
                <c:pt idx="39">
                  <c:v>78</c:v>
                </c:pt>
                <c:pt idx="40">
                  <c:v>76</c:v>
                </c:pt>
                <c:pt idx="41">
                  <c:v>78</c:v>
                </c:pt>
                <c:pt idx="42">
                  <c:v>82</c:v>
                </c:pt>
                <c:pt idx="43">
                  <c:v>84</c:v>
                </c:pt>
                <c:pt idx="44">
                  <c:v>91</c:v>
                </c:pt>
                <c:pt idx="45">
                  <c:v>93</c:v>
                </c:pt>
                <c:pt idx="46">
                  <c:v>78</c:v>
                </c:pt>
                <c:pt idx="47">
                  <c:v>66</c:v>
                </c:pt>
                <c:pt idx="48">
                  <c:v>57</c:v>
                </c:pt>
                <c:pt idx="49">
                  <c:v>47</c:v>
                </c:pt>
                <c:pt idx="50">
                  <c:v>40</c:v>
                </c:pt>
                <c:pt idx="51">
                  <c:v>32</c:v>
                </c:pt>
                <c:pt idx="52">
                  <c:v>33</c:v>
                </c:pt>
                <c:pt idx="53">
                  <c:v>36</c:v>
                </c:pt>
                <c:pt idx="54">
                  <c:v>41</c:v>
                </c:pt>
                <c:pt idx="55">
                  <c:v>42</c:v>
                </c:pt>
                <c:pt idx="56">
                  <c:v>47</c:v>
                </c:pt>
                <c:pt idx="57">
                  <c:v>46</c:v>
                </c:pt>
                <c:pt idx="58">
                  <c:v>48</c:v>
                </c:pt>
                <c:pt idx="59">
                  <c:v>48</c:v>
                </c:pt>
                <c:pt idx="60">
                  <c:v>51</c:v>
                </c:pt>
                <c:pt idx="61">
                  <c:v>54</c:v>
                </c:pt>
                <c:pt idx="62">
                  <c:v>56</c:v>
                </c:pt>
                <c:pt idx="63">
                  <c:v>48</c:v>
                </c:pt>
                <c:pt idx="64">
                  <c:v>59</c:v>
                </c:pt>
                <c:pt idx="65">
                  <c:v>65</c:v>
                </c:pt>
                <c:pt idx="66">
                  <c:v>69</c:v>
                </c:pt>
                <c:pt idx="67">
                  <c:v>66</c:v>
                </c:pt>
                <c:pt idx="68">
                  <c:v>69</c:v>
                </c:pt>
                <c:pt idx="69">
                  <c:v>69</c:v>
                </c:pt>
                <c:pt idx="70">
                  <c:v>70</c:v>
                </c:pt>
                <c:pt idx="71">
                  <c:v>65</c:v>
                </c:pt>
                <c:pt idx="72">
                  <c:v>72</c:v>
                </c:pt>
                <c:pt idx="73">
                  <c:v>77</c:v>
                </c:pt>
                <c:pt idx="74">
                  <c:v>77</c:v>
                </c:pt>
                <c:pt idx="75">
                  <c:v>77</c:v>
                </c:pt>
                <c:pt idx="76">
                  <c:v>74</c:v>
                </c:pt>
                <c:pt idx="77">
                  <c:v>81</c:v>
                </c:pt>
                <c:pt idx="78">
                  <c:v>81</c:v>
                </c:pt>
                <c:pt idx="79">
                  <c:v>86</c:v>
                </c:pt>
                <c:pt idx="80">
                  <c:v>84</c:v>
                </c:pt>
                <c:pt idx="81">
                  <c:v>82</c:v>
                </c:pt>
                <c:pt idx="82">
                  <c:v>80</c:v>
                </c:pt>
                <c:pt idx="83">
                  <c:v>76</c:v>
                </c:pt>
                <c:pt idx="84">
                  <c:v>80</c:v>
                </c:pt>
                <c:pt idx="85">
                  <c:v>82</c:v>
                </c:pt>
                <c:pt idx="86">
                  <c:v>81</c:v>
                </c:pt>
              </c:numCache>
            </c:numRef>
          </c:val>
        </c:ser>
        <c:axId val="92294144"/>
        <c:axId val="92300032"/>
      </c:barChart>
      <c:dateAx>
        <c:axId val="92294144"/>
        <c:scaling>
          <c:orientation val="minMax"/>
        </c:scaling>
        <c:axPos val="b"/>
        <c:numFmt formatCode="mmm\-yy" sourceLinked="0"/>
        <c:tickLblPos val="nextTo"/>
        <c:txPr>
          <a:bodyPr rot="-2700000" vert="horz"/>
          <a:lstStyle/>
          <a:p>
            <a:pPr>
              <a:defRPr sz="1000" b="0" i="0" u="none" strike="noStrike" baseline="0">
                <a:solidFill>
                  <a:srgbClr val="000000"/>
                </a:solidFill>
                <a:latin typeface="Calibri"/>
                <a:ea typeface="Calibri"/>
                <a:cs typeface="Calibri"/>
              </a:defRPr>
            </a:pPr>
            <a:endParaRPr lang="en-US"/>
          </a:p>
        </c:txPr>
        <c:crossAx val="92300032"/>
        <c:crosses val="autoZero"/>
        <c:auto val="1"/>
        <c:lblOffset val="100"/>
      </c:dateAx>
      <c:valAx>
        <c:axId val="92300032"/>
        <c:scaling>
          <c:orientation val="minMax"/>
        </c:scaling>
        <c:axPos val="l"/>
        <c:majorGridlines/>
        <c:numFmt formatCode="General" sourceLinked="1"/>
        <c:tickLblPos val="nextTo"/>
        <c:txPr>
          <a:bodyPr rot="0" vert="horz"/>
          <a:lstStyle/>
          <a:p>
            <a:pPr>
              <a:defRPr sz="1000" b="0" i="0" u="none" strike="noStrike" baseline="0">
                <a:solidFill>
                  <a:srgbClr val="000000"/>
                </a:solidFill>
                <a:latin typeface="Calibri"/>
                <a:ea typeface="Calibri"/>
                <a:cs typeface="Calibri"/>
              </a:defRPr>
            </a:pPr>
            <a:endParaRPr lang="en-US"/>
          </a:p>
        </c:txPr>
        <c:crossAx val="92294144"/>
        <c:crosses val="autoZero"/>
        <c:crossBetween val="between"/>
      </c:valAx>
    </c:plotArea>
    <c:plotVisOnly val="1"/>
    <c:dispBlanksAs val="gap"/>
  </c:chart>
  <c:txPr>
    <a:bodyPr/>
    <a:lstStyle/>
    <a:p>
      <a:pPr>
        <a:defRPr sz="1000" b="0" i="0" u="none" strike="noStrike" baseline="0">
          <a:solidFill>
            <a:srgbClr val="000000"/>
          </a:solidFill>
          <a:latin typeface="Calibri"/>
          <a:ea typeface="Calibri"/>
          <a:cs typeface="Calibri"/>
        </a:defRPr>
      </a:pPr>
      <a:endParaRPr lang="en-US"/>
    </a:p>
  </c:txPr>
  <c:externalData r:id="rId1"/>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7"/>
  <c:chart>
    <c:title>
      <c:tx>
        <c:rich>
          <a:bodyPr/>
          <a:lstStyle/>
          <a:p>
            <a:pPr>
              <a:defRPr/>
            </a:pPr>
            <a:r>
              <a:rPr lang="en-US"/>
              <a:t>ISM Manufacturing</a:t>
            </a:r>
          </a:p>
        </c:rich>
      </c:tx>
      <c:layout/>
    </c:title>
    <c:plotArea>
      <c:layout>
        <c:manualLayout>
          <c:layoutTarget val="inner"/>
          <c:xMode val="edge"/>
          <c:yMode val="edge"/>
          <c:x val="5.8546309889229951E-2"/>
          <c:y val="9.9490781244936932E-2"/>
          <c:w val="0.9259169669469246"/>
          <c:h val="0.73345857230809552"/>
        </c:manualLayout>
      </c:layout>
      <c:barChart>
        <c:barDir val="col"/>
        <c:grouping val="clustered"/>
        <c:ser>
          <c:idx val="0"/>
          <c:order val="0"/>
          <c:tx>
            <c:strRef>
              <c:f>Sheet1!$B$1</c:f>
              <c:strCache>
                <c:ptCount val="1"/>
                <c:pt idx="0">
                  <c:v>Value</c:v>
                </c:pt>
              </c:strCache>
            </c:strRef>
          </c:tx>
          <c:cat>
            <c:strRef>
              <c:f>Sheet1!$A$2:$A$505</c:f>
              <c:strCache>
                <c:ptCount val="504"/>
                <c:pt idx="0">
                  <c:v>1970-01</c:v>
                </c:pt>
                <c:pt idx="1">
                  <c:v>1970-02</c:v>
                </c:pt>
                <c:pt idx="2">
                  <c:v>1970-03</c:v>
                </c:pt>
                <c:pt idx="3">
                  <c:v>1970-04</c:v>
                </c:pt>
                <c:pt idx="4">
                  <c:v>1970-05</c:v>
                </c:pt>
                <c:pt idx="5">
                  <c:v>1970-06</c:v>
                </c:pt>
                <c:pt idx="6">
                  <c:v>1970-07</c:v>
                </c:pt>
                <c:pt idx="7">
                  <c:v>1970-08</c:v>
                </c:pt>
                <c:pt idx="8">
                  <c:v>1970-09</c:v>
                </c:pt>
                <c:pt idx="9">
                  <c:v>1970-10</c:v>
                </c:pt>
                <c:pt idx="10">
                  <c:v>1970-11</c:v>
                </c:pt>
                <c:pt idx="11">
                  <c:v>1970-12</c:v>
                </c:pt>
                <c:pt idx="12">
                  <c:v>1971-01</c:v>
                </c:pt>
                <c:pt idx="13">
                  <c:v>1971-02</c:v>
                </c:pt>
                <c:pt idx="14">
                  <c:v>1971-03</c:v>
                </c:pt>
                <c:pt idx="15">
                  <c:v>1971-04</c:v>
                </c:pt>
                <c:pt idx="16">
                  <c:v>1971-05</c:v>
                </c:pt>
                <c:pt idx="17">
                  <c:v>1971-06</c:v>
                </c:pt>
                <c:pt idx="18">
                  <c:v>1971-07</c:v>
                </c:pt>
                <c:pt idx="19">
                  <c:v>1971-08</c:v>
                </c:pt>
                <c:pt idx="20">
                  <c:v>1971-09</c:v>
                </c:pt>
                <c:pt idx="21">
                  <c:v>1971-10</c:v>
                </c:pt>
                <c:pt idx="22">
                  <c:v>1971-11</c:v>
                </c:pt>
                <c:pt idx="23">
                  <c:v>1971-12</c:v>
                </c:pt>
                <c:pt idx="24">
                  <c:v>1972-01</c:v>
                </c:pt>
                <c:pt idx="25">
                  <c:v>1972-02</c:v>
                </c:pt>
                <c:pt idx="26">
                  <c:v>1972-03</c:v>
                </c:pt>
                <c:pt idx="27">
                  <c:v>1972-04</c:v>
                </c:pt>
                <c:pt idx="28">
                  <c:v>1972-05</c:v>
                </c:pt>
                <c:pt idx="29">
                  <c:v>1972-06</c:v>
                </c:pt>
                <c:pt idx="30">
                  <c:v>1972-07</c:v>
                </c:pt>
                <c:pt idx="31">
                  <c:v>1972-08</c:v>
                </c:pt>
                <c:pt idx="32">
                  <c:v>1972-09</c:v>
                </c:pt>
                <c:pt idx="33">
                  <c:v>1972-10</c:v>
                </c:pt>
                <c:pt idx="34">
                  <c:v>1972-11</c:v>
                </c:pt>
                <c:pt idx="35">
                  <c:v>1972-12</c:v>
                </c:pt>
                <c:pt idx="36">
                  <c:v>1973-01</c:v>
                </c:pt>
                <c:pt idx="37">
                  <c:v>1973-02</c:v>
                </c:pt>
                <c:pt idx="38">
                  <c:v>1973-03</c:v>
                </c:pt>
                <c:pt idx="39">
                  <c:v>1973-04</c:v>
                </c:pt>
                <c:pt idx="40">
                  <c:v>1973-05</c:v>
                </c:pt>
                <c:pt idx="41">
                  <c:v>1973-06</c:v>
                </c:pt>
                <c:pt idx="42">
                  <c:v>1973-07</c:v>
                </c:pt>
                <c:pt idx="43">
                  <c:v>1973-08</c:v>
                </c:pt>
                <c:pt idx="44">
                  <c:v>1973-09</c:v>
                </c:pt>
                <c:pt idx="45">
                  <c:v>1973-10</c:v>
                </c:pt>
                <c:pt idx="46">
                  <c:v>1973-11</c:v>
                </c:pt>
                <c:pt idx="47">
                  <c:v>1973-12</c:v>
                </c:pt>
                <c:pt idx="48">
                  <c:v>1974-01</c:v>
                </c:pt>
                <c:pt idx="49">
                  <c:v>1974-02</c:v>
                </c:pt>
                <c:pt idx="50">
                  <c:v>1974-03</c:v>
                </c:pt>
                <c:pt idx="51">
                  <c:v>1974-04</c:v>
                </c:pt>
                <c:pt idx="52">
                  <c:v>1974-05</c:v>
                </c:pt>
                <c:pt idx="53">
                  <c:v>1974-05</c:v>
                </c:pt>
                <c:pt idx="54">
                  <c:v>1974-07</c:v>
                </c:pt>
                <c:pt idx="55">
                  <c:v>1974-08</c:v>
                </c:pt>
                <c:pt idx="56">
                  <c:v>1974-09</c:v>
                </c:pt>
                <c:pt idx="57">
                  <c:v>1974-10</c:v>
                </c:pt>
                <c:pt idx="58">
                  <c:v>1974-11</c:v>
                </c:pt>
                <c:pt idx="59">
                  <c:v>1974-12</c:v>
                </c:pt>
                <c:pt idx="60">
                  <c:v>1975-01</c:v>
                </c:pt>
                <c:pt idx="61">
                  <c:v>1975-02</c:v>
                </c:pt>
                <c:pt idx="62">
                  <c:v>1975-03</c:v>
                </c:pt>
                <c:pt idx="63">
                  <c:v>1975-04</c:v>
                </c:pt>
                <c:pt idx="64">
                  <c:v>1975-05</c:v>
                </c:pt>
                <c:pt idx="65">
                  <c:v>1975-06</c:v>
                </c:pt>
                <c:pt idx="66">
                  <c:v>1975-07</c:v>
                </c:pt>
                <c:pt idx="67">
                  <c:v>1975-08</c:v>
                </c:pt>
                <c:pt idx="68">
                  <c:v>1975-09</c:v>
                </c:pt>
                <c:pt idx="69">
                  <c:v>1975-10</c:v>
                </c:pt>
                <c:pt idx="70">
                  <c:v>1975-11</c:v>
                </c:pt>
                <c:pt idx="71">
                  <c:v>1975-12</c:v>
                </c:pt>
                <c:pt idx="72">
                  <c:v>1976-01</c:v>
                </c:pt>
                <c:pt idx="73">
                  <c:v>1976-02</c:v>
                </c:pt>
                <c:pt idx="74">
                  <c:v>1976-03</c:v>
                </c:pt>
                <c:pt idx="75">
                  <c:v>1976-04</c:v>
                </c:pt>
                <c:pt idx="76">
                  <c:v>1976-05</c:v>
                </c:pt>
                <c:pt idx="77">
                  <c:v>1976-06</c:v>
                </c:pt>
                <c:pt idx="78">
                  <c:v>1976-07</c:v>
                </c:pt>
                <c:pt idx="79">
                  <c:v>1976-08</c:v>
                </c:pt>
                <c:pt idx="80">
                  <c:v>1976-09</c:v>
                </c:pt>
                <c:pt idx="81">
                  <c:v>1976-10</c:v>
                </c:pt>
                <c:pt idx="82">
                  <c:v>1976-11</c:v>
                </c:pt>
                <c:pt idx="83">
                  <c:v>1976-12</c:v>
                </c:pt>
                <c:pt idx="84">
                  <c:v>1977-01</c:v>
                </c:pt>
                <c:pt idx="85">
                  <c:v>1977-02</c:v>
                </c:pt>
                <c:pt idx="86">
                  <c:v>1977-03</c:v>
                </c:pt>
                <c:pt idx="87">
                  <c:v>1977-04</c:v>
                </c:pt>
                <c:pt idx="88">
                  <c:v>1977-05</c:v>
                </c:pt>
                <c:pt idx="89">
                  <c:v>1977-06</c:v>
                </c:pt>
                <c:pt idx="90">
                  <c:v>1977-07</c:v>
                </c:pt>
                <c:pt idx="91">
                  <c:v>1977-08</c:v>
                </c:pt>
                <c:pt idx="92">
                  <c:v>1977-09</c:v>
                </c:pt>
                <c:pt idx="93">
                  <c:v>1977-10</c:v>
                </c:pt>
                <c:pt idx="94">
                  <c:v>1977-11</c:v>
                </c:pt>
                <c:pt idx="95">
                  <c:v>1977-12</c:v>
                </c:pt>
                <c:pt idx="96">
                  <c:v>1978-01</c:v>
                </c:pt>
                <c:pt idx="97">
                  <c:v>1978-02</c:v>
                </c:pt>
                <c:pt idx="98">
                  <c:v>1978-03</c:v>
                </c:pt>
                <c:pt idx="99">
                  <c:v>1978-04</c:v>
                </c:pt>
                <c:pt idx="100">
                  <c:v>1978-05</c:v>
                </c:pt>
                <c:pt idx="101">
                  <c:v>1978-06</c:v>
                </c:pt>
                <c:pt idx="102">
                  <c:v>1978-07</c:v>
                </c:pt>
                <c:pt idx="103">
                  <c:v>1978-08</c:v>
                </c:pt>
                <c:pt idx="104">
                  <c:v>1978-09</c:v>
                </c:pt>
                <c:pt idx="105">
                  <c:v>1978-10</c:v>
                </c:pt>
                <c:pt idx="106">
                  <c:v>1978-11</c:v>
                </c:pt>
                <c:pt idx="107">
                  <c:v>1978-12</c:v>
                </c:pt>
                <c:pt idx="108">
                  <c:v>1979-01</c:v>
                </c:pt>
                <c:pt idx="109">
                  <c:v>1979-02</c:v>
                </c:pt>
                <c:pt idx="110">
                  <c:v>1979-03</c:v>
                </c:pt>
                <c:pt idx="111">
                  <c:v>1979-04</c:v>
                </c:pt>
                <c:pt idx="112">
                  <c:v>1979-05</c:v>
                </c:pt>
                <c:pt idx="113">
                  <c:v>1979-06</c:v>
                </c:pt>
                <c:pt idx="114">
                  <c:v>1979-07</c:v>
                </c:pt>
                <c:pt idx="115">
                  <c:v>1979-08</c:v>
                </c:pt>
                <c:pt idx="116">
                  <c:v>1979-09</c:v>
                </c:pt>
                <c:pt idx="117">
                  <c:v>1979-10</c:v>
                </c:pt>
                <c:pt idx="118">
                  <c:v>1979-11</c:v>
                </c:pt>
                <c:pt idx="119">
                  <c:v>1979-12</c:v>
                </c:pt>
                <c:pt idx="120">
                  <c:v>1980-01</c:v>
                </c:pt>
                <c:pt idx="121">
                  <c:v>1980-02</c:v>
                </c:pt>
                <c:pt idx="122">
                  <c:v>1980-03</c:v>
                </c:pt>
                <c:pt idx="123">
                  <c:v>1980-04</c:v>
                </c:pt>
                <c:pt idx="124">
                  <c:v>1980-05</c:v>
                </c:pt>
                <c:pt idx="125">
                  <c:v>1980-06</c:v>
                </c:pt>
                <c:pt idx="126">
                  <c:v>1980-07</c:v>
                </c:pt>
                <c:pt idx="127">
                  <c:v>1980-08</c:v>
                </c:pt>
                <c:pt idx="128">
                  <c:v>1980-09</c:v>
                </c:pt>
                <c:pt idx="129">
                  <c:v>1980-10</c:v>
                </c:pt>
                <c:pt idx="130">
                  <c:v>1980-11</c:v>
                </c:pt>
                <c:pt idx="131">
                  <c:v>1980-12</c:v>
                </c:pt>
                <c:pt idx="132">
                  <c:v>1981-01</c:v>
                </c:pt>
                <c:pt idx="133">
                  <c:v>1981-02</c:v>
                </c:pt>
                <c:pt idx="134">
                  <c:v>1981-03</c:v>
                </c:pt>
                <c:pt idx="135">
                  <c:v>1981-04</c:v>
                </c:pt>
                <c:pt idx="136">
                  <c:v>1981-05</c:v>
                </c:pt>
                <c:pt idx="137">
                  <c:v>1981-06</c:v>
                </c:pt>
                <c:pt idx="138">
                  <c:v>1981-07</c:v>
                </c:pt>
                <c:pt idx="139">
                  <c:v>1981-08</c:v>
                </c:pt>
                <c:pt idx="140">
                  <c:v>1981-09</c:v>
                </c:pt>
                <c:pt idx="141">
                  <c:v>1981-10</c:v>
                </c:pt>
                <c:pt idx="142">
                  <c:v>1981-11</c:v>
                </c:pt>
                <c:pt idx="143">
                  <c:v>1981-12</c:v>
                </c:pt>
                <c:pt idx="144">
                  <c:v>1982-01</c:v>
                </c:pt>
                <c:pt idx="145">
                  <c:v>1982-02</c:v>
                </c:pt>
                <c:pt idx="146">
                  <c:v>1982-03</c:v>
                </c:pt>
                <c:pt idx="147">
                  <c:v>1982-04</c:v>
                </c:pt>
                <c:pt idx="148">
                  <c:v>1982-05</c:v>
                </c:pt>
                <c:pt idx="149">
                  <c:v>1982-06</c:v>
                </c:pt>
                <c:pt idx="150">
                  <c:v>1982-07</c:v>
                </c:pt>
                <c:pt idx="151">
                  <c:v>1982-08</c:v>
                </c:pt>
                <c:pt idx="152">
                  <c:v>1982-09</c:v>
                </c:pt>
                <c:pt idx="153">
                  <c:v>1982-10</c:v>
                </c:pt>
                <c:pt idx="154">
                  <c:v>1982-11</c:v>
                </c:pt>
                <c:pt idx="155">
                  <c:v>1982-12</c:v>
                </c:pt>
                <c:pt idx="156">
                  <c:v>1983-01</c:v>
                </c:pt>
                <c:pt idx="157">
                  <c:v>1983-02</c:v>
                </c:pt>
                <c:pt idx="158">
                  <c:v>1983-03</c:v>
                </c:pt>
                <c:pt idx="159">
                  <c:v>1983-04</c:v>
                </c:pt>
                <c:pt idx="160">
                  <c:v>1983-05</c:v>
                </c:pt>
                <c:pt idx="161">
                  <c:v>1983-06</c:v>
                </c:pt>
                <c:pt idx="162">
                  <c:v>1983-07</c:v>
                </c:pt>
                <c:pt idx="163">
                  <c:v>1983-08</c:v>
                </c:pt>
                <c:pt idx="164">
                  <c:v>1983-09</c:v>
                </c:pt>
                <c:pt idx="165">
                  <c:v>1983-10</c:v>
                </c:pt>
                <c:pt idx="166">
                  <c:v>1983-11</c:v>
                </c:pt>
                <c:pt idx="167">
                  <c:v>1983-12</c:v>
                </c:pt>
                <c:pt idx="168">
                  <c:v>1984-01</c:v>
                </c:pt>
                <c:pt idx="169">
                  <c:v>1984-02</c:v>
                </c:pt>
                <c:pt idx="170">
                  <c:v>1984-03</c:v>
                </c:pt>
                <c:pt idx="171">
                  <c:v>1984-04</c:v>
                </c:pt>
                <c:pt idx="172">
                  <c:v>1984-05</c:v>
                </c:pt>
                <c:pt idx="173">
                  <c:v>1984-06</c:v>
                </c:pt>
                <c:pt idx="174">
                  <c:v>1984-07</c:v>
                </c:pt>
                <c:pt idx="175">
                  <c:v>1984-08</c:v>
                </c:pt>
                <c:pt idx="176">
                  <c:v>1984-09</c:v>
                </c:pt>
                <c:pt idx="177">
                  <c:v>1984-10</c:v>
                </c:pt>
                <c:pt idx="178">
                  <c:v>1984-11</c:v>
                </c:pt>
                <c:pt idx="179">
                  <c:v>1984-12</c:v>
                </c:pt>
                <c:pt idx="180">
                  <c:v>1985-01</c:v>
                </c:pt>
                <c:pt idx="181">
                  <c:v>1985-02</c:v>
                </c:pt>
                <c:pt idx="182">
                  <c:v>1985-03</c:v>
                </c:pt>
                <c:pt idx="183">
                  <c:v>1985-04</c:v>
                </c:pt>
                <c:pt idx="184">
                  <c:v>1985-05</c:v>
                </c:pt>
                <c:pt idx="185">
                  <c:v>1985-06</c:v>
                </c:pt>
                <c:pt idx="186">
                  <c:v>1985-07</c:v>
                </c:pt>
                <c:pt idx="187">
                  <c:v>1985-08</c:v>
                </c:pt>
                <c:pt idx="188">
                  <c:v>1985-09</c:v>
                </c:pt>
                <c:pt idx="189">
                  <c:v>1985-10</c:v>
                </c:pt>
                <c:pt idx="190">
                  <c:v>1985-11</c:v>
                </c:pt>
                <c:pt idx="191">
                  <c:v>1985-12</c:v>
                </c:pt>
                <c:pt idx="192">
                  <c:v>1986-01</c:v>
                </c:pt>
                <c:pt idx="193">
                  <c:v>1986-02</c:v>
                </c:pt>
                <c:pt idx="194">
                  <c:v>1986-03</c:v>
                </c:pt>
                <c:pt idx="195">
                  <c:v>1986-04</c:v>
                </c:pt>
                <c:pt idx="196">
                  <c:v>1986-05</c:v>
                </c:pt>
                <c:pt idx="197">
                  <c:v>1986-06</c:v>
                </c:pt>
                <c:pt idx="198">
                  <c:v>1986-07</c:v>
                </c:pt>
                <c:pt idx="199">
                  <c:v>1986-08</c:v>
                </c:pt>
                <c:pt idx="200">
                  <c:v>1986-09</c:v>
                </c:pt>
                <c:pt idx="201">
                  <c:v>1986-10</c:v>
                </c:pt>
                <c:pt idx="202">
                  <c:v>1986-11</c:v>
                </c:pt>
                <c:pt idx="203">
                  <c:v>1986-12</c:v>
                </c:pt>
                <c:pt idx="204">
                  <c:v>1987-01</c:v>
                </c:pt>
                <c:pt idx="205">
                  <c:v>1987-02</c:v>
                </c:pt>
                <c:pt idx="206">
                  <c:v>1987-03</c:v>
                </c:pt>
                <c:pt idx="207">
                  <c:v>1987-04</c:v>
                </c:pt>
                <c:pt idx="208">
                  <c:v>1987-05</c:v>
                </c:pt>
                <c:pt idx="209">
                  <c:v>1987-06</c:v>
                </c:pt>
                <c:pt idx="210">
                  <c:v>1987-07</c:v>
                </c:pt>
                <c:pt idx="211">
                  <c:v>1987-08</c:v>
                </c:pt>
                <c:pt idx="212">
                  <c:v>1987-09</c:v>
                </c:pt>
                <c:pt idx="213">
                  <c:v>1987-10</c:v>
                </c:pt>
                <c:pt idx="214">
                  <c:v>1987-11</c:v>
                </c:pt>
                <c:pt idx="215">
                  <c:v>1987-12</c:v>
                </c:pt>
                <c:pt idx="216">
                  <c:v>1988-01</c:v>
                </c:pt>
                <c:pt idx="217">
                  <c:v>1988-02</c:v>
                </c:pt>
                <c:pt idx="218">
                  <c:v>1988-03</c:v>
                </c:pt>
                <c:pt idx="219">
                  <c:v>1988-04</c:v>
                </c:pt>
                <c:pt idx="220">
                  <c:v>1988-05</c:v>
                </c:pt>
                <c:pt idx="221">
                  <c:v>1988-06</c:v>
                </c:pt>
                <c:pt idx="222">
                  <c:v>1988-07</c:v>
                </c:pt>
                <c:pt idx="223">
                  <c:v>1988-08</c:v>
                </c:pt>
                <c:pt idx="224">
                  <c:v>1988-09</c:v>
                </c:pt>
                <c:pt idx="225">
                  <c:v>1988-10</c:v>
                </c:pt>
                <c:pt idx="226">
                  <c:v>1988-11</c:v>
                </c:pt>
                <c:pt idx="227">
                  <c:v>1988-12</c:v>
                </c:pt>
                <c:pt idx="228">
                  <c:v>1989-01</c:v>
                </c:pt>
                <c:pt idx="229">
                  <c:v>1989-02</c:v>
                </c:pt>
                <c:pt idx="230">
                  <c:v>1989-03</c:v>
                </c:pt>
                <c:pt idx="231">
                  <c:v>1989-04</c:v>
                </c:pt>
                <c:pt idx="232">
                  <c:v>1989-05</c:v>
                </c:pt>
                <c:pt idx="233">
                  <c:v>1989-06</c:v>
                </c:pt>
                <c:pt idx="234">
                  <c:v>1989-07</c:v>
                </c:pt>
                <c:pt idx="235">
                  <c:v>1989-08</c:v>
                </c:pt>
                <c:pt idx="236">
                  <c:v>1989-09</c:v>
                </c:pt>
                <c:pt idx="237">
                  <c:v>1989-10</c:v>
                </c:pt>
                <c:pt idx="238">
                  <c:v>1989-11</c:v>
                </c:pt>
                <c:pt idx="239">
                  <c:v>1989-12</c:v>
                </c:pt>
                <c:pt idx="240">
                  <c:v>1990-01</c:v>
                </c:pt>
                <c:pt idx="241">
                  <c:v>1990-02</c:v>
                </c:pt>
                <c:pt idx="242">
                  <c:v>1990-03</c:v>
                </c:pt>
                <c:pt idx="243">
                  <c:v>1990-04</c:v>
                </c:pt>
                <c:pt idx="244">
                  <c:v>1990-05</c:v>
                </c:pt>
                <c:pt idx="245">
                  <c:v>1990-06</c:v>
                </c:pt>
                <c:pt idx="246">
                  <c:v>1990-07</c:v>
                </c:pt>
                <c:pt idx="247">
                  <c:v>1990-08</c:v>
                </c:pt>
                <c:pt idx="248">
                  <c:v>1990-09</c:v>
                </c:pt>
                <c:pt idx="249">
                  <c:v>1990-10</c:v>
                </c:pt>
                <c:pt idx="250">
                  <c:v>1990-11</c:v>
                </c:pt>
                <c:pt idx="251">
                  <c:v>1990-12</c:v>
                </c:pt>
                <c:pt idx="252">
                  <c:v>1991-01</c:v>
                </c:pt>
                <c:pt idx="253">
                  <c:v>1991-02</c:v>
                </c:pt>
                <c:pt idx="254">
                  <c:v>1991-03</c:v>
                </c:pt>
                <c:pt idx="255">
                  <c:v>1991-04</c:v>
                </c:pt>
                <c:pt idx="256">
                  <c:v>1991-05</c:v>
                </c:pt>
                <c:pt idx="257">
                  <c:v>1991-06</c:v>
                </c:pt>
                <c:pt idx="258">
                  <c:v>1991-07</c:v>
                </c:pt>
                <c:pt idx="259">
                  <c:v>1991-08</c:v>
                </c:pt>
                <c:pt idx="260">
                  <c:v>1991-09</c:v>
                </c:pt>
                <c:pt idx="261">
                  <c:v>1991-10</c:v>
                </c:pt>
                <c:pt idx="262">
                  <c:v>1991-11</c:v>
                </c:pt>
                <c:pt idx="263">
                  <c:v>1991-12</c:v>
                </c:pt>
                <c:pt idx="264">
                  <c:v>1992-01</c:v>
                </c:pt>
                <c:pt idx="265">
                  <c:v>1992-02</c:v>
                </c:pt>
                <c:pt idx="266">
                  <c:v>1992-03</c:v>
                </c:pt>
                <c:pt idx="267">
                  <c:v>1992-04</c:v>
                </c:pt>
                <c:pt idx="268">
                  <c:v>1992-05</c:v>
                </c:pt>
                <c:pt idx="269">
                  <c:v>1992-06</c:v>
                </c:pt>
                <c:pt idx="270">
                  <c:v>1992-07</c:v>
                </c:pt>
                <c:pt idx="271">
                  <c:v>1992-08</c:v>
                </c:pt>
                <c:pt idx="272">
                  <c:v>1992-09</c:v>
                </c:pt>
                <c:pt idx="273">
                  <c:v>1992-10</c:v>
                </c:pt>
                <c:pt idx="274">
                  <c:v>1992-11</c:v>
                </c:pt>
                <c:pt idx="275">
                  <c:v>1992-12</c:v>
                </c:pt>
                <c:pt idx="276">
                  <c:v>1993-01</c:v>
                </c:pt>
                <c:pt idx="277">
                  <c:v>1993-02</c:v>
                </c:pt>
                <c:pt idx="278">
                  <c:v>1993-03</c:v>
                </c:pt>
                <c:pt idx="279">
                  <c:v>1993-04</c:v>
                </c:pt>
                <c:pt idx="280">
                  <c:v>1993-05</c:v>
                </c:pt>
                <c:pt idx="281">
                  <c:v>1993-06</c:v>
                </c:pt>
                <c:pt idx="282">
                  <c:v>1993-07</c:v>
                </c:pt>
                <c:pt idx="283">
                  <c:v>1993-08</c:v>
                </c:pt>
                <c:pt idx="284">
                  <c:v>1993-09</c:v>
                </c:pt>
                <c:pt idx="285">
                  <c:v>1993-10</c:v>
                </c:pt>
                <c:pt idx="286">
                  <c:v>1993-11</c:v>
                </c:pt>
                <c:pt idx="287">
                  <c:v>1993-12</c:v>
                </c:pt>
                <c:pt idx="288">
                  <c:v>1994-01</c:v>
                </c:pt>
                <c:pt idx="289">
                  <c:v>1994-02</c:v>
                </c:pt>
                <c:pt idx="290">
                  <c:v>1994-03</c:v>
                </c:pt>
                <c:pt idx="291">
                  <c:v>1994-04</c:v>
                </c:pt>
                <c:pt idx="292">
                  <c:v>1994-05</c:v>
                </c:pt>
                <c:pt idx="293">
                  <c:v>1994-06</c:v>
                </c:pt>
                <c:pt idx="294">
                  <c:v>1994-07</c:v>
                </c:pt>
                <c:pt idx="295">
                  <c:v>1994-08</c:v>
                </c:pt>
                <c:pt idx="296">
                  <c:v>1994-09</c:v>
                </c:pt>
                <c:pt idx="297">
                  <c:v>1994-10</c:v>
                </c:pt>
                <c:pt idx="298">
                  <c:v>1994-11</c:v>
                </c:pt>
                <c:pt idx="299">
                  <c:v>1994-12</c:v>
                </c:pt>
                <c:pt idx="300">
                  <c:v>1995-01</c:v>
                </c:pt>
                <c:pt idx="301">
                  <c:v>1995-02</c:v>
                </c:pt>
                <c:pt idx="302">
                  <c:v>1995-03</c:v>
                </c:pt>
                <c:pt idx="303">
                  <c:v>1995-04</c:v>
                </c:pt>
                <c:pt idx="304">
                  <c:v>1995-05</c:v>
                </c:pt>
                <c:pt idx="305">
                  <c:v>1995-06</c:v>
                </c:pt>
                <c:pt idx="306">
                  <c:v>1995-07</c:v>
                </c:pt>
                <c:pt idx="307">
                  <c:v>1995-08</c:v>
                </c:pt>
                <c:pt idx="308">
                  <c:v>1995-09</c:v>
                </c:pt>
                <c:pt idx="309">
                  <c:v>1995-10</c:v>
                </c:pt>
                <c:pt idx="310">
                  <c:v>1995-11</c:v>
                </c:pt>
                <c:pt idx="311">
                  <c:v>1995-12</c:v>
                </c:pt>
                <c:pt idx="312">
                  <c:v>1996-01</c:v>
                </c:pt>
                <c:pt idx="313">
                  <c:v>1996-02</c:v>
                </c:pt>
                <c:pt idx="314">
                  <c:v>1996-03</c:v>
                </c:pt>
                <c:pt idx="315">
                  <c:v>1996-04</c:v>
                </c:pt>
                <c:pt idx="316">
                  <c:v>1996-05</c:v>
                </c:pt>
                <c:pt idx="317">
                  <c:v>1996-06</c:v>
                </c:pt>
                <c:pt idx="318">
                  <c:v>1996-07</c:v>
                </c:pt>
                <c:pt idx="319">
                  <c:v>1996-08</c:v>
                </c:pt>
                <c:pt idx="320">
                  <c:v>1996-09</c:v>
                </c:pt>
                <c:pt idx="321">
                  <c:v>1996-10</c:v>
                </c:pt>
                <c:pt idx="322">
                  <c:v>1996-11</c:v>
                </c:pt>
                <c:pt idx="323">
                  <c:v>1996-12</c:v>
                </c:pt>
                <c:pt idx="324">
                  <c:v>1997-01</c:v>
                </c:pt>
                <c:pt idx="325">
                  <c:v>1997-02</c:v>
                </c:pt>
                <c:pt idx="326">
                  <c:v>1997-03</c:v>
                </c:pt>
                <c:pt idx="327">
                  <c:v>1997-04</c:v>
                </c:pt>
                <c:pt idx="328">
                  <c:v>1997-05</c:v>
                </c:pt>
                <c:pt idx="329">
                  <c:v>1997-06</c:v>
                </c:pt>
                <c:pt idx="330">
                  <c:v>1997-07</c:v>
                </c:pt>
                <c:pt idx="331">
                  <c:v>1997-08</c:v>
                </c:pt>
                <c:pt idx="332">
                  <c:v>1997-09</c:v>
                </c:pt>
                <c:pt idx="333">
                  <c:v>1997-10</c:v>
                </c:pt>
                <c:pt idx="334">
                  <c:v>1997-11</c:v>
                </c:pt>
                <c:pt idx="335">
                  <c:v>1997-12</c:v>
                </c:pt>
                <c:pt idx="336">
                  <c:v>1998-01</c:v>
                </c:pt>
                <c:pt idx="337">
                  <c:v>1998-02</c:v>
                </c:pt>
                <c:pt idx="338">
                  <c:v>1998-03</c:v>
                </c:pt>
                <c:pt idx="339">
                  <c:v>1998-04</c:v>
                </c:pt>
                <c:pt idx="340">
                  <c:v>1998-05</c:v>
                </c:pt>
                <c:pt idx="341">
                  <c:v>1998-06</c:v>
                </c:pt>
                <c:pt idx="342">
                  <c:v>1998-07</c:v>
                </c:pt>
                <c:pt idx="343">
                  <c:v>1998-08</c:v>
                </c:pt>
                <c:pt idx="344">
                  <c:v>1998-09</c:v>
                </c:pt>
                <c:pt idx="345">
                  <c:v>1998-10</c:v>
                </c:pt>
                <c:pt idx="346">
                  <c:v>1998-11</c:v>
                </c:pt>
                <c:pt idx="347">
                  <c:v>1998-12</c:v>
                </c:pt>
                <c:pt idx="348">
                  <c:v>1999-01</c:v>
                </c:pt>
                <c:pt idx="349">
                  <c:v>1999-02</c:v>
                </c:pt>
                <c:pt idx="350">
                  <c:v>1999-03</c:v>
                </c:pt>
                <c:pt idx="351">
                  <c:v>1999-04</c:v>
                </c:pt>
                <c:pt idx="352">
                  <c:v>1999-05</c:v>
                </c:pt>
                <c:pt idx="353">
                  <c:v>1999-06</c:v>
                </c:pt>
                <c:pt idx="354">
                  <c:v>1999-07</c:v>
                </c:pt>
                <c:pt idx="355">
                  <c:v>1999-08</c:v>
                </c:pt>
                <c:pt idx="356">
                  <c:v>1999-09</c:v>
                </c:pt>
                <c:pt idx="357">
                  <c:v>1999-10</c:v>
                </c:pt>
                <c:pt idx="358">
                  <c:v>1999-11</c:v>
                </c:pt>
                <c:pt idx="359">
                  <c:v>1999-12</c:v>
                </c:pt>
                <c:pt idx="360">
                  <c:v>2000-01</c:v>
                </c:pt>
                <c:pt idx="361">
                  <c:v>2000-02</c:v>
                </c:pt>
                <c:pt idx="362">
                  <c:v>2000-03</c:v>
                </c:pt>
                <c:pt idx="363">
                  <c:v>2000-04</c:v>
                </c:pt>
                <c:pt idx="364">
                  <c:v>2000-05</c:v>
                </c:pt>
                <c:pt idx="365">
                  <c:v>2000-06</c:v>
                </c:pt>
                <c:pt idx="366">
                  <c:v>2000-07</c:v>
                </c:pt>
                <c:pt idx="367">
                  <c:v>2000-08</c:v>
                </c:pt>
                <c:pt idx="368">
                  <c:v>2000-09</c:v>
                </c:pt>
                <c:pt idx="369">
                  <c:v>2000-10</c:v>
                </c:pt>
                <c:pt idx="370">
                  <c:v>2000-11</c:v>
                </c:pt>
                <c:pt idx="371">
                  <c:v>2000-12</c:v>
                </c:pt>
                <c:pt idx="372">
                  <c:v>2001-01</c:v>
                </c:pt>
                <c:pt idx="373">
                  <c:v>2001-02</c:v>
                </c:pt>
                <c:pt idx="374">
                  <c:v>2001-03</c:v>
                </c:pt>
                <c:pt idx="375">
                  <c:v>2001-04</c:v>
                </c:pt>
                <c:pt idx="376">
                  <c:v>2001-05</c:v>
                </c:pt>
                <c:pt idx="377">
                  <c:v>2001-06</c:v>
                </c:pt>
                <c:pt idx="378">
                  <c:v>2001-07</c:v>
                </c:pt>
                <c:pt idx="379">
                  <c:v>2001-08</c:v>
                </c:pt>
                <c:pt idx="380">
                  <c:v>2001-09</c:v>
                </c:pt>
                <c:pt idx="381">
                  <c:v>2001-10</c:v>
                </c:pt>
                <c:pt idx="382">
                  <c:v>2001-11</c:v>
                </c:pt>
                <c:pt idx="383">
                  <c:v>2001-12</c:v>
                </c:pt>
                <c:pt idx="384">
                  <c:v>2002-01</c:v>
                </c:pt>
                <c:pt idx="385">
                  <c:v>2002-02</c:v>
                </c:pt>
                <c:pt idx="386">
                  <c:v>2002-03</c:v>
                </c:pt>
                <c:pt idx="387">
                  <c:v>2002-04</c:v>
                </c:pt>
                <c:pt idx="388">
                  <c:v>2002-05</c:v>
                </c:pt>
                <c:pt idx="389">
                  <c:v>2002-06</c:v>
                </c:pt>
                <c:pt idx="390">
                  <c:v>2002-07</c:v>
                </c:pt>
                <c:pt idx="391">
                  <c:v>2002-08</c:v>
                </c:pt>
                <c:pt idx="392">
                  <c:v>2002-09</c:v>
                </c:pt>
                <c:pt idx="393">
                  <c:v>2002-10</c:v>
                </c:pt>
                <c:pt idx="394">
                  <c:v>2002-11</c:v>
                </c:pt>
                <c:pt idx="395">
                  <c:v>2002-12</c:v>
                </c:pt>
                <c:pt idx="396">
                  <c:v>2003-01</c:v>
                </c:pt>
                <c:pt idx="397">
                  <c:v>2003-02</c:v>
                </c:pt>
                <c:pt idx="398">
                  <c:v>2003-03</c:v>
                </c:pt>
                <c:pt idx="399">
                  <c:v>2003-04</c:v>
                </c:pt>
                <c:pt idx="400">
                  <c:v>2003-05</c:v>
                </c:pt>
                <c:pt idx="401">
                  <c:v>2003-06</c:v>
                </c:pt>
                <c:pt idx="402">
                  <c:v>2003-07</c:v>
                </c:pt>
                <c:pt idx="403">
                  <c:v>2003-08</c:v>
                </c:pt>
                <c:pt idx="404">
                  <c:v>2003-09</c:v>
                </c:pt>
                <c:pt idx="405">
                  <c:v>2003-10</c:v>
                </c:pt>
                <c:pt idx="406">
                  <c:v>2003-11</c:v>
                </c:pt>
                <c:pt idx="407">
                  <c:v>2003-12</c:v>
                </c:pt>
                <c:pt idx="408">
                  <c:v>2004-01</c:v>
                </c:pt>
                <c:pt idx="409">
                  <c:v>2004-02</c:v>
                </c:pt>
                <c:pt idx="410">
                  <c:v>2004-03</c:v>
                </c:pt>
                <c:pt idx="411">
                  <c:v>2004-04</c:v>
                </c:pt>
                <c:pt idx="412">
                  <c:v>2004-05</c:v>
                </c:pt>
                <c:pt idx="413">
                  <c:v>2004-06</c:v>
                </c:pt>
                <c:pt idx="414">
                  <c:v>2004-07</c:v>
                </c:pt>
                <c:pt idx="415">
                  <c:v>2004-08</c:v>
                </c:pt>
                <c:pt idx="416">
                  <c:v>2004-09</c:v>
                </c:pt>
                <c:pt idx="417">
                  <c:v>2004-10</c:v>
                </c:pt>
                <c:pt idx="418">
                  <c:v>2004-11</c:v>
                </c:pt>
                <c:pt idx="419">
                  <c:v>2004-12</c:v>
                </c:pt>
                <c:pt idx="420">
                  <c:v>2005-01</c:v>
                </c:pt>
                <c:pt idx="421">
                  <c:v>2005-02</c:v>
                </c:pt>
                <c:pt idx="422">
                  <c:v>2005-03</c:v>
                </c:pt>
                <c:pt idx="423">
                  <c:v>2005-04</c:v>
                </c:pt>
                <c:pt idx="424">
                  <c:v>2005-05</c:v>
                </c:pt>
                <c:pt idx="425">
                  <c:v>2005-06</c:v>
                </c:pt>
                <c:pt idx="426">
                  <c:v>2005-07</c:v>
                </c:pt>
                <c:pt idx="427">
                  <c:v>2005-08</c:v>
                </c:pt>
                <c:pt idx="428">
                  <c:v>2005-09</c:v>
                </c:pt>
                <c:pt idx="429">
                  <c:v>2005-10</c:v>
                </c:pt>
                <c:pt idx="430">
                  <c:v>2005-11</c:v>
                </c:pt>
                <c:pt idx="431">
                  <c:v>2005-12</c:v>
                </c:pt>
                <c:pt idx="432">
                  <c:v>2006-01</c:v>
                </c:pt>
                <c:pt idx="433">
                  <c:v>2006-02</c:v>
                </c:pt>
                <c:pt idx="434">
                  <c:v>2006-03</c:v>
                </c:pt>
                <c:pt idx="435">
                  <c:v>2006-04</c:v>
                </c:pt>
                <c:pt idx="436">
                  <c:v>2006-05</c:v>
                </c:pt>
                <c:pt idx="437">
                  <c:v>2006-06</c:v>
                </c:pt>
                <c:pt idx="438">
                  <c:v>2006-07</c:v>
                </c:pt>
                <c:pt idx="439">
                  <c:v>2006-08</c:v>
                </c:pt>
                <c:pt idx="440">
                  <c:v>2006-09</c:v>
                </c:pt>
                <c:pt idx="441">
                  <c:v>2006-10</c:v>
                </c:pt>
                <c:pt idx="442">
                  <c:v>2006-11</c:v>
                </c:pt>
                <c:pt idx="443">
                  <c:v>2006-12</c:v>
                </c:pt>
                <c:pt idx="444">
                  <c:v>2007-01</c:v>
                </c:pt>
                <c:pt idx="445">
                  <c:v>2007-02</c:v>
                </c:pt>
                <c:pt idx="446">
                  <c:v>2007-03</c:v>
                </c:pt>
                <c:pt idx="447">
                  <c:v>2007-04</c:v>
                </c:pt>
                <c:pt idx="448">
                  <c:v>2007-05</c:v>
                </c:pt>
                <c:pt idx="449">
                  <c:v>2007-06</c:v>
                </c:pt>
                <c:pt idx="450">
                  <c:v>2007-07</c:v>
                </c:pt>
                <c:pt idx="451">
                  <c:v>2007-08</c:v>
                </c:pt>
                <c:pt idx="452">
                  <c:v>2007-09</c:v>
                </c:pt>
                <c:pt idx="453">
                  <c:v>2007-10</c:v>
                </c:pt>
                <c:pt idx="454">
                  <c:v>2007-11</c:v>
                </c:pt>
                <c:pt idx="455">
                  <c:v>2007-12</c:v>
                </c:pt>
                <c:pt idx="456">
                  <c:v>2008-01</c:v>
                </c:pt>
                <c:pt idx="457">
                  <c:v>2008-02</c:v>
                </c:pt>
                <c:pt idx="458">
                  <c:v>2008-03</c:v>
                </c:pt>
                <c:pt idx="459">
                  <c:v>2008-04</c:v>
                </c:pt>
                <c:pt idx="460">
                  <c:v>2008-05</c:v>
                </c:pt>
                <c:pt idx="461">
                  <c:v>2008-06</c:v>
                </c:pt>
                <c:pt idx="462">
                  <c:v>2008-07</c:v>
                </c:pt>
                <c:pt idx="463">
                  <c:v>2008-08</c:v>
                </c:pt>
                <c:pt idx="464">
                  <c:v>2008-09</c:v>
                </c:pt>
                <c:pt idx="465">
                  <c:v>2008-10</c:v>
                </c:pt>
                <c:pt idx="466">
                  <c:v>2008-11</c:v>
                </c:pt>
                <c:pt idx="467">
                  <c:v>2008-12</c:v>
                </c:pt>
                <c:pt idx="468">
                  <c:v>2009-01</c:v>
                </c:pt>
                <c:pt idx="469">
                  <c:v>2009-02</c:v>
                </c:pt>
                <c:pt idx="470">
                  <c:v>2009-03</c:v>
                </c:pt>
                <c:pt idx="471">
                  <c:v>2009-04</c:v>
                </c:pt>
                <c:pt idx="472">
                  <c:v>2009-05</c:v>
                </c:pt>
                <c:pt idx="473">
                  <c:v>2009-06</c:v>
                </c:pt>
                <c:pt idx="474">
                  <c:v>2009-07</c:v>
                </c:pt>
                <c:pt idx="475">
                  <c:v>2009-08</c:v>
                </c:pt>
                <c:pt idx="476">
                  <c:v>2009-09</c:v>
                </c:pt>
                <c:pt idx="477">
                  <c:v>2009-10</c:v>
                </c:pt>
                <c:pt idx="478">
                  <c:v>2009-11</c:v>
                </c:pt>
                <c:pt idx="479">
                  <c:v>2009-12</c:v>
                </c:pt>
                <c:pt idx="480">
                  <c:v>2010-01</c:v>
                </c:pt>
                <c:pt idx="481">
                  <c:v>2010-02</c:v>
                </c:pt>
                <c:pt idx="482">
                  <c:v>2010-03</c:v>
                </c:pt>
                <c:pt idx="483">
                  <c:v>2010-04</c:v>
                </c:pt>
                <c:pt idx="484">
                  <c:v>2010-05</c:v>
                </c:pt>
                <c:pt idx="485">
                  <c:v>2010-06</c:v>
                </c:pt>
                <c:pt idx="486">
                  <c:v>2010-07</c:v>
                </c:pt>
                <c:pt idx="487">
                  <c:v>2010-08</c:v>
                </c:pt>
                <c:pt idx="488">
                  <c:v>2010-09</c:v>
                </c:pt>
                <c:pt idx="489">
                  <c:v>2010-10</c:v>
                </c:pt>
                <c:pt idx="490">
                  <c:v>2010-11</c:v>
                </c:pt>
                <c:pt idx="491">
                  <c:v>2010-12</c:v>
                </c:pt>
                <c:pt idx="492">
                  <c:v>2011-01</c:v>
                </c:pt>
                <c:pt idx="493">
                  <c:v>2011-02</c:v>
                </c:pt>
                <c:pt idx="494">
                  <c:v>2011-03</c:v>
                </c:pt>
                <c:pt idx="495">
                  <c:v>2011-04</c:v>
                </c:pt>
                <c:pt idx="496">
                  <c:v>2011-05</c:v>
                </c:pt>
                <c:pt idx="497">
                  <c:v>2011-06</c:v>
                </c:pt>
                <c:pt idx="498">
                  <c:v>2011-07</c:v>
                </c:pt>
                <c:pt idx="499">
                  <c:v>2011-08</c:v>
                </c:pt>
                <c:pt idx="500">
                  <c:v>2011-09</c:v>
                </c:pt>
                <c:pt idx="501">
                  <c:v>2011-10</c:v>
                </c:pt>
                <c:pt idx="502">
                  <c:v>2011-11</c:v>
                </c:pt>
                <c:pt idx="503">
                  <c:v>2011-12</c:v>
                </c:pt>
              </c:strCache>
            </c:strRef>
          </c:cat>
          <c:val>
            <c:numRef>
              <c:f>Sheet1!$B$2:$B$505</c:f>
              <c:numCache>
                <c:formatCode>General</c:formatCode>
                <c:ptCount val="504"/>
                <c:pt idx="0">
                  <c:v>48.7</c:v>
                </c:pt>
                <c:pt idx="1">
                  <c:v>47.4</c:v>
                </c:pt>
                <c:pt idx="2">
                  <c:v>46.9</c:v>
                </c:pt>
                <c:pt idx="3">
                  <c:v>45</c:v>
                </c:pt>
                <c:pt idx="4">
                  <c:v>47.2</c:v>
                </c:pt>
                <c:pt idx="5">
                  <c:v>51.1</c:v>
                </c:pt>
                <c:pt idx="6">
                  <c:v>49.5</c:v>
                </c:pt>
                <c:pt idx="7">
                  <c:v>47.3</c:v>
                </c:pt>
                <c:pt idx="8">
                  <c:v>44.1</c:v>
                </c:pt>
                <c:pt idx="9">
                  <c:v>42.4</c:v>
                </c:pt>
                <c:pt idx="10">
                  <c:v>39.700000000000003</c:v>
                </c:pt>
                <c:pt idx="11">
                  <c:v>45.4</c:v>
                </c:pt>
                <c:pt idx="12">
                  <c:v>47.9</c:v>
                </c:pt>
                <c:pt idx="13">
                  <c:v>54.8</c:v>
                </c:pt>
                <c:pt idx="14">
                  <c:v>51.2</c:v>
                </c:pt>
                <c:pt idx="15">
                  <c:v>54.5</c:v>
                </c:pt>
                <c:pt idx="16">
                  <c:v>54.2</c:v>
                </c:pt>
                <c:pt idx="17">
                  <c:v>53.8</c:v>
                </c:pt>
                <c:pt idx="18">
                  <c:v>54.4</c:v>
                </c:pt>
                <c:pt idx="19">
                  <c:v>53.6</c:v>
                </c:pt>
                <c:pt idx="20">
                  <c:v>55.1</c:v>
                </c:pt>
                <c:pt idx="21">
                  <c:v>55</c:v>
                </c:pt>
                <c:pt idx="22">
                  <c:v>52.3</c:v>
                </c:pt>
                <c:pt idx="23">
                  <c:v>57.6</c:v>
                </c:pt>
                <c:pt idx="24">
                  <c:v>59.6</c:v>
                </c:pt>
                <c:pt idx="25">
                  <c:v>60.6</c:v>
                </c:pt>
                <c:pt idx="26">
                  <c:v>59.8</c:v>
                </c:pt>
                <c:pt idx="27">
                  <c:v>59.3</c:v>
                </c:pt>
                <c:pt idx="28">
                  <c:v>61.4</c:v>
                </c:pt>
                <c:pt idx="29">
                  <c:v>58.6</c:v>
                </c:pt>
                <c:pt idx="30">
                  <c:v>60.1</c:v>
                </c:pt>
                <c:pt idx="31">
                  <c:v>61.7</c:v>
                </c:pt>
                <c:pt idx="32">
                  <c:v>65.099999999999994</c:v>
                </c:pt>
                <c:pt idx="33">
                  <c:v>67</c:v>
                </c:pt>
                <c:pt idx="34">
                  <c:v>69.900000000000006</c:v>
                </c:pt>
                <c:pt idx="35">
                  <c:v>70.5</c:v>
                </c:pt>
                <c:pt idx="36">
                  <c:v>72.099999999999994</c:v>
                </c:pt>
                <c:pt idx="37">
                  <c:v>69.599999999999994</c:v>
                </c:pt>
                <c:pt idx="38">
                  <c:v>69.599999999999994</c:v>
                </c:pt>
                <c:pt idx="39">
                  <c:v>67.7</c:v>
                </c:pt>
                <c:pt idx="40">
                  <c:v>64.8</c:v>
                </c:pt>
                <c:pt idx="41">
                  <c:v>65</c:v>
                </c:pt>
                <c:pt idx="42">
                  <c:v>57.8</c:v>
                </c:pt>
                <c:pt idx="43">
                  <c:v>62.7</c:v>
                </c:pt>
                <c:pt idx="44">
                  <c:v>63.5</c:v>
                </c:pt>
                <c:pt idx="45">
                  <c:v>66.2</c:v>
                </c:pt>
                <c:pt idx="46">
                  <c:v>68.099999999999994</c:v>
                </c:pt>
                <c:pt idx="47">
                  <c:v>63.6</c:v>
                </c:pt>
                <c:pt idx="48">
                  <c:v>62.1</c:v>
                </c:pt>
                <c:pt idx="49">
                  <c:v>58.6</c:v>
                </c:pt>
                <c:pt idx="50">
                  <c:v>61.8</c:v>
                </c:pt>
                <c:pt idx="51">
                  <c:v>59.9</c:v>
                </c:pt>
                <c:pt idx="52">
                  <c:v>55.7</c:v>
                </c:pt>
                <c:pt idx="53">
                  <c:v>54.7</c:v>
                </c:pt>
                <c:pt idx="54">
                  <c:v>54.8</c:v>
                </c:pt>
                <c:pt idx="55">
                  <c:v>52.9</c:v>
                </c:pt>
                <c:pt idx="56">
                  <c:v>46.2</c:v>
                </c:pt>
                <c:pt idx="57">
                  <c:v>42.7</c:v>
                </c:pt>
                <c:pt idx="58">
                  <c:v>37.9</c:v>
                </c:pt>
                <c:pt idx="59">
                  <c:v>30.9</c:v>
                </c:pt>
                <c:pt idx="60">
                  <c:v>30.7</c:v>
                </c:pt>
                <c:pt idx="61">
                  <c:v>34.4</c:v>
                </c:pt>
                <c:pt idx="62">
                  <c:v>31.6</c:v>
                </c:pt>
                <c:pt idx="63">
                  <c:v>37.5</c:v>
                </c:pt>
                <c:pt idx="64">
                  <c:v>41.2</c:v>
                </c:pt>
                <c:pt idx="65">
                  <c:v>45.1</c:v>
                </c:pt>
                <c:pt idx="66">
                  <c:v>47.2</c:v>
                </c:pt>
                <c:pt idx="67">
                  <c:v>51.4</c:v>
                </c:pt>
                <c:pt idx="68">
                  <c:v>54.4</c:v>
                </c:pt>
                <c:pt idx="69">
                  <c:v>55.5</c:v>
                </c:pt>
                <c:pt idx="70">
                  <c:v>54.5</c:v>
                </c:pt>
                <c:pt idx="71">
                  <c:v>54.9</c:v>
                </c:pt>
                <c:pt idx="72">
                  <c:v>58.8</c:v>
                </c:pt>
                <c:pt idx="73">
                  <c:v>61.5</c:v>
                </c:pt>
                <c:pt idx="74">
                  <c:v>58.4</c:v>
                </c:pt>
                <c:pt idx="75">
                  <c:v>60.6</c:v>
                </c:pt>
                <c:pt idx="76">
                  <c:v>58.8</c:v>
                </c:pt>
                <c:pt idx="77">
                  <c:v>58.2</c:v>
                </c:pt>
                <c:pt idx="78">
                  <c:v>55.9</c:v>
                </c:pt>
                <c:pt idx="79">
                  <c:v>54.5</c:v>
                </c:pt>
                <c:pt idx="80">
                  <c:v>53.6</c:v>
                </c:pt>
                <c:pt idx="81">
                  <c:v>53.5</c:v>
                </c:pt>
                <c:pt idx="82">
                  <c:v>51.7</c:v>
                </c:pt>
                <c:pt idx="83">
                  <c:v>56.6</c:v>
                </c:pt>
                <c:pt idx="84">
                  <c:v>54.8</c:v>
                </c:pt>
                <c:pt idx="85">
                  <c:v>55</c:v>
                </c:pt>
                <c:pt idx="86">
                  <c:v>58.4</c:v>
                </c:pt>
                <c:pt idx="87">
                  <c:v>56.9</c:v>
                </c:pt>
                <c:pt idx="88">
                  <c:v>59.7</c:v>
                </c:pt>
                <c:pt idx="89">
                  <c:v>56.8</c:v>
                </c:pt>
                <c:pt idx="90">
                  <c:v>57.7</c:v>
                </c:pt>
                <c:pt idx="91">
                  <c:v>54.9</c:v>
                </c:pt>
                <c:pt idx="92">
                  <c:v>53.9</c:v>
                </c:pt>
                <c:pt idx="93">
                  <c:v>55.4</c:v>
                </c:pt>
                <c:pt idx="94">
                  <c:v>56.1</c:v>
                </c:pt>
                <c:pt idx="95">
                  <c:v>59.8</c:v>
                </c:pt>
                <c:pt idx="96">
                  <c:v>57.4</c:v>
                </c:pt>
                <c:pt idx="97">
                  <c:v>55.9</c:v>
                </c:pt>
                <c:pt idx="98">
                  <c:v>55</c:v>
                </c:pt>
                <c:pt idx="99">
                  <c:v>57.7</c:v>
                </c:pt>
                <c:pt idx="100">
                  <c:v>60.2</c:v>
                </c:pt>
                <c:pt idx="101">
                  <c:v>60.5</c:v>
                </c:pt>
                <c:pt idx="102">
                  <c:v>62.2</c:v>
                </c:pt>
                <c:pt idx="103">
                  <c:v>60.3</c:v>
                </c:pt>
                <c:pt idx="104">
                  <c:v>60.5</c:v>
                </c:pt>
                <c:pt idx="105">
                  <c:v>60.1</c:v>
                </c:pt>
                <c:pt idx="106">
                  <c:v>61.3</c:v>
                </c:pt>
                <c:pt idx="107">
                  <c:v>59.4</c:v>
                </c:pt>
                <c:pt idx="108">
                  <c:v>58.5</c:v>
                </c:pt>
                <c:pt idx="109">
                  <c:v>58.2</c:v>
                </c:pt>
                <c:pt idx="110">
                  <c:v>57.7</c:v>
                </c:pt>
                <c:pt idx="111">
                  <c:v>56.2</c:v>
                </c:pt>
                <c:pt idx="112">
                  <c:v>54.4</c:v>
                </c:pt>
                <c:pt idx="113">
                  <c:v>52.7</c:v>
                </c:pt>
                <c:pt idx="114">
                  <c:v>51.3</c:v>
                </c:pt>
                <c:pt idx="115">
                  <c:v>49.5</c:v>
                </c:pt>
                <c:pt idx="116">
                  <c:v>49.6</c:v>
                </c:pt>
                <c:pt idx="117">
                  <c:v>49</c:v>
                </c:pt>
                <c:pt idx="118">
                  <c:v>48</c:v>
                </c:pt>
                <c:pt idx="119">
                  <c:v>44.8</c:v>
                </c:pt>
                <c:pt idx="120">
                  <c:v>46.2</c:v>
                </c:pt>
                <c:pt idx="121">
                  <c:v>50.2</c:v>
                </c:pt>
                <c:pt idx="122">
                  <c:v>43.6</c:v>
                </c:pt>
                <c:pt idx="123">
                  <c:v>37.4</c:v>
                </c:pt>
                <c:pt idx="124">
                  <c:v>29.4</c:v>
                </c:pt>
                <c:pt idx="125">
                  <c:v>30.3</c:v>
                </c:pt>
                <c:pt idx="126">
                  <c:v>35</c:v>
                </c:pt>
                <c:pt idx="127">
                  <c:v>45.5</c:v>
                </c:pt>
                <c:pt idx="128">
                  <c:v>50.1</c:v>
                </c:pt>
                <c:pt idx="129">
                  <c:v>55.5</c:v>
                </c:pt>
                <c:pt idx="130">
                  <c:v>58.2</c:v>
                </c:pt>
                <c:pt idx="131">
                  <c:v>53</c:v>
                </c:pt>
                <c:pt idx="132">
                  <c:v>49.2</c:v>
                </c:pt>
                <c:pt idx="133">
                  <c:v>48.8</c:v>
                </c:pt>
                <c:pt idx="134">
                  <c:v>49.6</c:v>
                </c:pt>
                <c:pt idx="135">
                  <c:v>51.6</c:v>
                </c:pt>
                <c:pt idx="136">
                  <c:v>53.5</c:v>
                </c:pt>
                <c:pt idx="137">
                  <c:v>50.7</c:v>
                </c:pt>
                <c:pt idx="138">
                  <c:v>46.7</c:v>
                </c:pt>
                <c:pt idx="139">
                  <c:v>48.3</c:v>
                </c:pt>
                <c:pt idx="140">
                  <c:v>42.5</c:v>
                </c:pt>
                <c:pt idx="141">
                  <c:v>40</c:v>
                </c:pt>
                <c:pt idx="142">
                  <c:v>36.1</c:v>
                </c:pt>
                <c:pt idx="143">
                  <c:v>37.800000000000004</c:v>
                </c:pt>
                <c:pt idx="144">
                  <c:v>38.200000000000003</c:v>
                </c:pt>
                <c:pt idx="145">
                  <c:v>38.300000000000004</c:v>
                </c:pt>
                <c:pt idx="146">
                  <c:v>36.800000000000004</c:v>
                </c:pt>
                <c:pt idx="147">
                  <c:v>37.800000000000004</c:v>
                </c:pt>
                <c:pt idx="148">
                  <c:v>35.5</c:v>
                </c:pt>
                <c:pt idx="149">
                  <c:v>38.300000000000004</c:v>
                </c:pt>
                <c:pt idx="150">
                  <c:v>38.4</c:v>
                </c:pt>
                <c:pt idx="151">
                  <c:v>38.300000000000004</c:v>
                </c:pt>
                <c:pt idx="152">
                  <c:v>38.800000000000004</c:v>
                </c:pt>
                <c:pt idx="153">
                  <c:v>39.4</c:v>
                </c:pt>
                <c:pt idx="154">
                  <c:v>39.200000000000003</c:v>
                </c:pt>
                <c:pt idx="155">
                  <c:v>42.8</c:v>
                </c:pt>
                <c:pt idx="156">
                  <c:v>46</c:v>
                </c:pt>
                <c:pt idx="157">
                  <c:v>54.4</c:v>
                </c:pt>
                <c:pt idx="158">
                  <c:v>53.9</c:v>
                </c:pt>
                <c:pt idx="159">
                  <c:v>54.2</c:v>
                </c:pt>
                <c:pt idx="160">
                  <c:v>56.1</c:v>
                </c:pt>
                <c:pt idx="161">
                  <c:v>57.5</c:v>
                </c:pt>
                <c:pt idx="162">
                  <c:v>63.6</c:v>
                </c:pt>
                <c:pt idx="163">
                  <c:v>63.1</c:v>
                </c:pt>
                <c:pt idx="164">
                  <c:v>62.5</c:v>
                </c:pt>
                <c:pt idx="165">
                  <c:v>64.400000000000006</c:v>
                </c:pt>
                <c:pt idx="166">
                  <c:v>66</c:v>
                </c:pt>
                <c:pt idx="167">
                  <c:v>69.900000000000006</c:v>
                </c:pt>
                <c:pt idx="168">
                  <c:v>60.5</c:v>
                </c:pt>
                <c:pt idx="169">
                  <c:v>61.3</c:v>
                </c:pt>
                <c:pt idx="170">
                  <c:v>58.9</c:v>
                </c:pt>
                <c:pt idx="171">
                  <c:v>61</c:v>
                </c:pt>
                <c:pt idx="172">
                  <c:v>58.6</c:v>
                </c:pt>
                <c:pt idx="173">
                  <c:v>58.1</c:v>
                </c:pt>
                <c:pt idx="174">
                  <c:v>56.1</c:v>
                </c:pt>
                <c:pt idx="175">
                  <c:v>53</c:v>
                </c:pt>
                <c:pt idx="176">
                  <c:v>50</c:v>
                </c:pt>
                <c:pt idx="177">
                  <c:v>50.8</c:v>
                </c:pt>
                <c:pt idx="178">
                  <c:v>50.3</c:v>
                </c:pt>
                <c:pt idx="179">
                  <c:v>50.6</c:v>
                </c:pt>
                <c:pt idx="180">
                  <c:v>50.3</c:v>
                </c:pt>
                <c:pt idx="181">
                  <c:v>49.9</c:v>
                </c:pt>
                <c:pt idx="182">
                  <c:v>47.8</c:v>
                </c:pt>
                <c:pt idx="183">
                  <c:v>48.2</c:v>
                </c:pt>
                <c:pt idx="184">
                  <c:v>47.1</c:v>
                </c:pt>
                <c:pt idx="185">
                  <c:v>47.8</c:v>
                </c:pt>
                <c:pt idx="186">
                  <c:v>47.9</c:v>
                </c:pt>
                <c:pt idx="187">
                  <c:v>47.7</c:v>
                </c:pt>
                <c:pt idx="188">
                  <c:v>49.9</c:v>
                </c:pt>
                <c:pt idx="189">
                  <c:v>50.9</c:v>
                </c:pt>
                <c:pt idx="190">
                  <c:v>52</c:v>
                </c:pt>
                <c:pt idx="191">
                  <c:v>50.7</c:v>
                </c:pt>
                <c:pt idx="192">
                  <c:v>51.2</c:v>
                </c:pt>
                <c:pt idx="193">
                  <c:v>51</c:v>
                </c:pt>
                <c:pt idx="194">
                  <c:v>51</c:v>
                </c:pt>
                <c:pt idx="195">
                  <c:v>49.7</c:v>
                </c:pt>
                <c:pt idx="196">
                  <c:v>53.4</c:v>
                </c:pt>
                <c:pt idx="197">
                  <c:v>50.5</c:v>
                </c:pt>
                <c:pt idx="198">
                  <c:v>48</c:v>
                </c:pt>
                <c:pt idx="199">
                  <c:v>52.6</c:v>
                </c:pt>
                <c:pt idx="200">
                  <c:v>52.4</c:v>
                </c:pt>
                <c:pt idx="201">
                  <c:v>51.2</c:v>
                </c:pt>
                <c:pt idx="202">
                  <c:v>51.2</c:v>
                </c:pt>
                <c:pt idx="203">
                  <c:v>50.5</c:v>
                </c:pt>
                <c:pt idx="204">
                  <c:v>54.9</c:v>
                </c:pt>
                <c:pt idx="205">
                  <c:v>52.6</c:v>
                </c:pt>
                <c:pt idx="206">
                  <c:v>55</c:v>
                </c:pt>
                <c:pt idx="207">
                  <c:v>55.5</c:v>
                </c:pt>
                <c:pt idx="208">
                  <c:v>57.2</c:v>
                </c:pt>
                <c:pt idx="209">
                  <c:v>57.4</c:v>
                </c:pt>
                <c:pt idx="210">
                  <c:v>57.5</c:v>
                </c:pt>
                <c:pt idx="211">
                  <c:v>59.3</c:v>
                </c:pt>
                <c:pt idx="212">
                  <c:v>60</c:v>
                </c:pt>
                <c:pt idx="213">
                  <c:v>60.7</c:v>
                </c:pt>
                <c:pt idx="214">
                  <c:v>58.8</c:v>
                </c:pt>
                <c:pt idx="215">
                  <c:v>61</c:v>
                </c:pt>
                <c:pt idx="216">
                  <c:v>57.5</c:v>
                </c:pt>
                <c:pt idx="217">
                  <c:v>56.2</c:v>
                </c:pt>
                <c:pt idx="218">
                  <c:v>54.6</c:v>
                </c:pt>
                <c:pt idx="219">
                  <c:v>55.8</c:v>
                </c:pt>
                <c:pt idx="220">
                  <c:v>55.5</c:v>
                </c:pt>
                <c:pt idx="221">
                  <c:v>59.3</c:v>
                </c:pt>
                <c:pt idx="222">
                  <c:v>58.2</c:v>
                </c:pt>
                <c:pt idx="223">
                  <c:v>56</c:v>
                </c:pt>
                <c:pt idx="224">
                  <c:v>54.5</c:v>
                </c:pt>
                <c:pt idx="225">
                  <c:v>55.4</c:v>
                </c:pt>
                <c:pt idx="226">
                  <c:v>55.6</c:v>
                </c:pt>
                <c:pt idx="227">
                  <c:v>56</c:v>
                </c:pt>
                <c:pt idx="228">
                  <c:v>54.7</c:v>
                </c:pt>
                <c:pt idx="229">
                  <c:v>54.1</c:v>
                </c:pt>
                <c:pt idx="230">
                  <c:v>51.5</c:v>
                </c:pt>
                <c:pt idx="231">
                  <c:v>52.2</c:v>
                </c:pt>
                <c:pt idx="232">
                  <c:v>49.3</c:v>
                </c:pt>
                <c:pt idx="233">
                  <c:v>47.3</c:v>
                </c:pt>
                <c:pt idx="234">
                  <c:v>45.9</c:v>
                </c:pt>
                <c:pt idx="235">
                  <c:v>45.1</c:v>
                </c:pt>
                <c:pt idx="236">
                  <c:v>46</c:v>
                </c:pt>
                <c:pt idx="237">
                  <c:v>46.8</c:v>
                </c:pt>
                <c:pt idx="238">
                  <c:v>46.8</c:v>
                </c:pt>
                <c:pt idx="239">
                  <c:v>47.4</c:v>
                </c:pt>
                <c:pt idx="240">
                  <c:v>47.2</c:v>
                </c:pt>
                <c:pt idx="241">
                  <c:v>49.1</c:v>
                </c:pt>
                <c:pt idx="242">
                  <c:v>49.9</c:v>
                </c:pt>
                <c:pt idx="243">
                  <c:v>50</c:v>
                </c:pt>
                <c:pt idx="244">
                  <c:v>49.5</c:v>
                </c:pt>
                <c:pt idx="245">
                  <c:v>49.2</c:v>
                </c:pt>
                <c:pt idx="246">
                  <c:v>46.6</c:v>
                </c:pt>
                <c:pt idx="247">
                  <c:v>46.1</c:v>
                </c:pt>
                <c:pt idx="248">
                  <c:v>44.5</c:v>
                </c:pt>
                <c:pt idx="249">
                  <c:v>43.2</c:v>
                </c:pt>
                <c:pt idx="250">
                  <c:v>41.3</c:v>
                </c:pt>
                <c:pt idx="251">
                  <c:v>40.800000000000004</c:v>
                </c:pt>
                <c:pt idx="252">
                  <c:v>39.200000000000003</c:v>
                </c:pt>
                <c:pt idx="253">
                  <c:v>39.4</c:v>
                </c:pt>
                <c:pt idx="254">
                  <c:v>40.700000000000003</c:v>
                </c:pt>
                <c:pt idx="255">
                  <c:v>42.8</c:v>
                </c:pt>
                <c:pt idx="256">
                  <c:v>44.5</c:v>
                </c:pt>
                <c:pt idx="257">
                  <c:v>50.3</c:v>
                </c:pt>
                <c:pt idx="258">
                  <c:v>50.6</c:v>
                </c:pt>
                <c:pt idx="259">
                  <c:v>52.9</c:v>
                </c:pt>
                <c:pt idx="260">
                  <c:v>54.9</c:v>
                </c:pt>
                <c:pt idx="261">
                  <c:v>53.1</c:v>
                </c:pt>
                <c:pt idx="262">
                  <c:v>49.5</c:v>
                </c:pt>
                <c:pt idx="263">
                  <c:v>46.8</c:v>
                </c:pt>
                <c:pt idx="264">
                  <c:v>47.3</c:v>
                </c:pt>
                <c:pt idx="265">
                  <c:v>52.7</c:v>
                </c:pt>
                <c:pt idx="266">
                  <c:v>54.6</c:v>
                </c:pt>
                <c:pt idx="267">
                  <c:v>52.6</c:v>
                </c:pt>
                <c:pt idx="268">
                  <c:v>55.7</c:v>
                </c:pt>
                <c:pt idx="269">
                  <c:v>53.6</c:v>
                </c:pt>
                <c:pt idx="270">
                  <c:v>53.9</c:v>
                </c:pt>
                <c:pt idx="271">
                  <c:v>53.4</c:v>
                </c:pt>
                <c:pt idx="272">
                  <c:v>49.7</c:v>
                </c:pt>
                <c:pt idx="273">
                  <c:v>50.3</c:v>
                </c:pt>
                <c:pt idx="274">
                  <c:v>53.6</c:v>
                </c:pt>
                <c:pt idx="275">
                  <c:v>54.2</c:v>
                </c:pt>
                <c:pt idx="276">
                  <c:v>55.8</c:v>
                </c:pt>
                <c:pt idx="277">
                  <c:v>55.2</c:v>
                </c:pt>
                <c:pt idx="278">
                  <c:v>53.5</c:v>
                </c:pt>
                <c:pt idx="279">
                  <c:v>50.2</c:v>
                </c:pt>
                <c:pt idx="280">
                  <c:v>51.2</c:v>
                </c:pt>
                <c:pt idx="281">
                  <c:v>49.6</c:v>
                </c:pt>
                <c:pt idx="282">
                  <c:v>50.2</c:v>
                </c:pt>
                <c:pt idx="283">
                  <c:v>50.7</c:v>
                </c:pt>
                <c:pt idx="284">
                  <c:v>50.8</c:v>
                </c:pt>
                <c:pt idx="285">
                  <c:v>53.4</c:v>
                </c:pt>
                <c:pt idx="286">
                  <c:v>53.8</c:v>
                </c:pt>
                <c:pt idx="287">
                  <c:v>55.6</c:v>
                </c:pt>
                <c:pt idx="288">
                  <c:v>56</c:v>
                </c:pt>
                <c:pt idx="289">
                  <c:v>56.5</c:v>
                </c:pt>
                <c:pt idx="290">
                  <c:v>56.9</c:v>
                </c:pt>
                <c:pt idx="291">
                  <c:v>57.4</c:v>
                </c:pt>
                <c:pt idx="292">
                  <c:v>58.2</c:v>
                </c:pt>
                <c:pt idx="293">
                  <c:v>58.8</c:v>
                </c:pt>
                <c:pt idx="294">
                  <c:v>58.5</c:v>
                </c:pt>
                <c:pt idx="295">
                  <c:v>58</c:v>
                </c:pt>
                <c:pt idx="296">
                  <c:v>59</c:v>
                </c:pt>
                <c:pt idx="297">
                  <c:v>59.4</c:v>
                </c:pt>
                <c:pt idx="298">
                  <c:v>59.2</c:v>
                </c:pt>
                <c:pt idx="299">
                  <c:v>56.1</c:v>
                </c:pt>
                <c:pt idx="300">
                  <c:v>57.4</c:v>
                </c:pt>
                <c:pt idx="301">
                  <c:v>55.1</c:v>
                </c:pt>
                <c:pt idx="302">
                  <c:v>52.1</c:v>
                </c:pt>
                <c:pt idx="303">
                  <c:v>51.5</c:v>
                </c:pt>
                <c:pt idx="304">
                  <c:v>46.7</c:v>
                </c:pt>
                <c:pt idx="305">
                  <c:v>45.9</c:v>
                </c:pt>
                <c:pt idx="306">
                  <c:v>50.7</c:v>
                </c:pt>
                <c:pt idx="307">
                  <c:v>47.1</c:v>
                </c:pt>
                <c:pt idx="308">
                  <c:v>48.1</c:v>
                </c:pt>
                <c:pt idx="309">
                  <c:v>46.7</c:v>
                </c:pt>
                <c:pt idx="310">
                  <c:v>45.9</c:v>
                </c:pt>
                <c:pt idx="311">
                  <c:v>46.2</c:v>
                </c:pt>
                <c:pt idx="312">
                  <c:v>45.5</c:v>
                </c:pt>
                <c:pt idx="313">
                  <c:v>45.9</c:v>
                </c:pt>
                <c:pt idx="314">
                  <c:v>46.9</c:v>
                </c:pt>
                <c:pt idx="315">
                  <c:v>49.3</c:v>
                </c:pt>
                <c:pt idx="316">
                  <c:v>49.1</c:v>
                </c:pt>
                <c:pt idx="317">
                  <c:v>53.6</c:v>
                </c:pt>
                <c:pt idx="318">
                  <c:v>49.7</c:v>
                </c:pt>
                <c:pt idx="319">
                  <c:v>51.6</c:v>
                </c:pt>
                <c:pt idx="320">
                  <c:v>51.1</c:v>
                </c:pt>
                <c:pt idx="321">
                  <c:v>50.5</c:v>
                </c:pt>
                <c:pt idx="322">
                  <c:v>53</c:v>
                </c:pt>
                <c:pt idx="323">
                  <c:v>55.2</c:v>
                </c:pt>
                <c:pt idx="324">
                  <c:v>53.8</c:v>
                </c:pt>
                <c:pt idx="325">
                  <c:v>53.1</c:v>
                </c:pt>
                <c:pt idx="326">
                  <c:v>53.8</c:v>
                </c:pt>
                <c:pt idx="327">
                  <c:v>53.7</c:v>
                </c:pt>
                <c:pt idx="328">
                  <c:v>56.1</c:v>
                </c:pt>
                <c:pt idx="329">
                  <c:v>54.9</c:v>
                </c:pt>
                <c:pt idx="330">
                  <c:v>57.7</c:v>
                </c:pt>
                <c:pt idx="331">
                  <c:v>56.3</c:v>
                </c:pt>
                <c:pt idx="332">
                  <c:v>53.9</c:v>
                </c:pt>
                <c:pt idx="333">
                  <c:v>56.4</c:v>
                </c:pt>
                <c:pt idx="334">
                  <c:v>55.7</c:v>
                </c:pt>
                <c:pt idx="335">
                  <c:v>54.5</c:v>
                </c:pt>
                <c:pt idx="336">
                  <c:v>53.8</c:v>
                </c:pt>
                <c:pt idx="337">
                  <c:v>52.9</c:v>
                </c:pt>
                <c:pt idx="338">
                  <c:v>52.9</c:v>
                </c:pt>
                <c:pt idx="339">
                  <c:v>52.2</c:v>
                </c:pt>
                <c:pt idx="340">
                  <c:v>50.9</c:v>
                </c:pt>
                <c:pt idx="341">
                  <c:v>48.9</c:v>
                </c:pt>
                <c:pt idx="342">
                  <c:v>49.2</c:v>
                </c:pt>
                <c:pt idx="343">
                  <c:v>49.3</c:v>
                </c:pt>
                <c:pt idx="344">
                  <c:v>48.7</c:v>
                </c:pt>
                <c:pt idx="345">
                  <c:v>48.7</c:v>
                </c:pt>
                <c:pt idx="346">
                  <c:v>48.2</c:v>
                </c:pt>
                <c:pt idx="347">
                  <c:v>46.8</c:v>
                </c:pt>
                <c:pt idx="348">
                  <c:v>50.6</c:v>
                </c:pt>
                <c:pt idx="349">
                  <c:v>51.7</c:v>
                </c:pt>
                <c:pt idx="350">
                  <c:v>52.4</c:v>
                </c:pt>
                <c:pt idx="351">
                  <c:v>52.3</c:v>
                </c:pt>
                <c:pt idx="352">
                  <c:v>54.3</c:v>
                </c:pt>
                <c:pt idx="353">
                  <c:v>55.8</c:v>
                </c:pt>
                <c:pt idx="354">
                  <c:v>53.6</c:v>
                </c:pt>
                <c:pt idx="355">
                  <c:v>54.8</c:v>
                </c:pt>
                <c:pt idx="356">
                  <c:v>57</c:v>
                </c:pt>
                <c:pt idx="357">
                  <c:v>57.2</c:v>
                </c:pt>
                <c:pt idx="358">
                  <c:v>58.1</c:v>
                </c:pt>
                <c:pt idx="359">
                  <c:v>57.8</c:v>
                </c:pt>
                <c:pt idx="360">
                  <c:v>56.7</c:v>
                </c:pt>
                <c:pt idx="361">
                  <c:v>55.8</c:v>
                </c:pt>
                <c:pt idx="362">
                  <c:v>54.9</c:v>
                </c:pt>
                <c:pt idx="363">
                  <c:v>54.7</c:v>
                </c:pt>
                <c:pt idx="364">
                  <c:v>53.2</c:v>
                </c:pt>
                <c:pt idx="365">
                  <c:v>51.4</c:v>
                </c:pt>
                <c:pt idx="366">
                  <c:v>52.5</c:v>
                </c:pt>
                <c:pt idx="367">
                  <c:v>49.9</c:v>
                </c:pt>
                <c:pt idx="368">
                  <c:v>49.7</c:v>
                </c:pt>
                <c:pt idx="369">
                  <c:v>48.7</c:v>
                </c:pt>
                <c:pt idx="370">
                  <c:v>48.5</c:v>
                </c:pt>
                <c:pt idx="371">
                  <c:v>43.9</c:v>
                </c:pt>
                <c:pt idx="372">
                  <c:v>42.3</c:v>
                </c:pt>
                <c:pt idx="373">
                  <c:v>42.1</c:v>
                </c:pt>
                <c:pt idx="374">
                  <c:v>43.1</c:v>
                </c:pt>
                <c:pt idx="375">
                  <c:v>42.7</c:v>
                </c:pt>
                <c:pt idx="376">
                  <c:v>41.3</c:v>
                </c:pt>
                <c:pt idx="377">
                  <c:v>43.2</c:v>
                </c:pt>
                <c:pt idx="378">
                  <c:v>43.5</c:v>
                </c:pt>
                <c:pt idx="379">
                  <c:v>46.3</c:v>
                </c:pt>
                <c:pt idx="380">
                  <c:v>46.2</c:v>
                </c:pt>
                <c:pt idx="381">
                  <c:v>40.800000000000004</c:v>
                </c:pt>
                <c:pt idx="382">
                  <c:v>44.1</c:v>
                </c:pt>
                <c:pt idx="383">
                  <c:v>45.3</c:v>
                </c:pt>
                <c:pt idx="384">
                  <c:v>47.5</c:v>
                </c:pt>
                <c:pt idx="385">
                  <c:v>50.7</c:v>
                </c:pt>
                <c:pt idx="386">
                  <c:v>52.4</c:v>
                </c:pt>
                <c:pt idx="387">
                  <c:v>52.4</c:v>
                </c:pt>
                <c:pt idx="388">
                  <c:v>53.1</c:v>
                </c:pt>
                <c:pt idx="389">
                  <c:v>53.6</c:v>
                </c:pt>
                <c:pt idx="390">
                  <c:v>50.2</c:v>
                </c:pt>
                <c:pt idx="391">
                  <c:v>50.3</c:v>
                </c:pt>
                <c:pt idx="392">
                  <c:v>50.5</c:v>
                </c:pt>
                <c:pt idx="393">
                  <c:v>49</c:v>
                </c:pt>
                <c:pt idx="394">
                  <c:v>48.5</c:v>
                </c:pt>
                <c:pt idx="395">
                  <c:v>51.6</c:v>
                </c:pt>
                <c:pt idx="396">
                  <c:v>51.3</c:v>
                </c:pt>
                <c:pt idx="397">
                  <c:v>48.8</c:v>
                </c:pt>
                <c:pt idx="398">
                  <c:v>46.3</c:v>
                </c:pt>
                <c:pt idx="399">
                  <c:v>46.1</c:v>
                </c:pt>
                <c:pt idx="400">
                  <c:v>49</c:v>
                </c:pt>
                <c:pt idx="401">
                  <c:v>49</c:v>
                </c:pt>
                <c:pt idx="402">
                  <c:v>51</c:v>
                </c:pt>
                <c:pt idx="403">
                  <c:v>53.2</c:v>
                </c:pt>
                <c:pt idx="404">
                  <c:v>52.4</c:v>
                </c:pt>
                <c:pt idx="405">
                  <c:v>55.2</c:v>
                </c:pt>
                <c:pt idx="406">
                  <c:v>58.4</c:v>
                </c:pt>
                <c:pt idx="407">
                  <c:v>60.1</c:v>
                </c:pt>
                <c:pt idx="408">
                  <c:v>60.8</c:v>
                </c:pt>
                <c:pt idx="409">
                  <c:v>59.9</c:v>
                </c:pt>
                <c:pt idx="410">
                  <c:v>60.6</c:v>
                </c:pt>
                <c:pt idx="411">
                  <c:v>60.6</c:v>
                </c:pt>
                <c:pt idx="412">
                  <c:v>61.4</c:v>
                </c:pt>
                <c:pt idx="413">
                  <c:v>60.5</c:v>
                </c:pt>
                <c:pt idx="414">
                  <c:v>59.9</c:v>
                </c:pt>
                <c:pt idx="415">
                  <c:v>58.5</c:v>
                </c:pt>
                <c:pt idx="416">
                  <c:v>57.4</c:v>
                </c:pt>
                <c:pt idx="417">
                  <c:v>56.3</c:v>
                </c:pt>
                <c:pt idx="418">
                  <c:v>56.2</c:v>
                </c:pt>
                <c:pt idx="419">
                  <c:v>57.2</c:v>
                </c:pt>
                <c:pt idx="420">
                  <c:v>56.6</c:v>
                </c:pt>
                <c:pt idx="421">
                  <c:v>54.8</c:v>
                </c:pt>
                <c:pt idx="422">
                  <c:v>54.9</c:v>
                </c:pt>
                <c:pt idx="423">
                  <c:v>52.5</c:v>
                </c:pt>
                <c:pt idx="424">
                  <c:v>51</c:v>
                </c:pt>
                <c:pt idx="425">
                  <c:v>52.6</c:v>
                </c:pt>
                <c:pt idx="426">
                  <c:v>54</c:v>
                </c:pt>
                <c:pt idx="427">
                  <c:v>51.6</c:v>
                </c:pt>
                <c:pt idx="428">
                  <c:v>56.5</c:v>
                </c:pt>
                <c:pt idx="429">
                  <c:v>57.2</c:v>
                </c:pt>
                <c:pt idx="430">
                  <c:v>56.5</c:v>
                </c:pt>
                <c:pt idx="431">
                  <c:v>54.9</c:v>
                </c:pt>
                <c:pt idx="432">
                  <c:v>55</c:v>
                </c:pt>
                <c:pt idx="433">
                  <c:v>55.5</c:v>
                </c:pt>
                <c:pt idx="434">
                  <c:v>54.7</c:v>
                </c:pt>
                <c:pt idx="435">
                  <c:v>55.8</c:v>
                </c:pt>
                <c:pt idx="436">
                  <c:v>53.5</c:v>
                </c:pt>
                <c:pt idx="437">
                  <c:v>52.4</c:v>
                </c:pt>
                <c:pt idx="438">
                  <c:v>53.2</c:v>
                </c:pt>
                <c:pt idx="439">
                  <c:v>52.8</c:v>
                </c:pt>
                <c:pt idx="440">
                  <c:v>51.8</c:v>
                </c:pt>
                <c:pt idx="441">
                  <c:v>50.5</c:v>
                </c:pt>
                <c:pt idx="442">
                  <c:v>50.4</c:v>
                </c:pt>
                <c:pt idx="443">
                  <c:v>52</c:v>
                </c:pt>
                <c:pt idx="444">
                  <c:v>49.9</c:v>
                </c:pt>
                <c:pt idx="445">
                  <c:v>52</c:v>
                </c:pt>
                <c:pt idx="446">
                  <c:v>51.3</c:v>
                </c:pt>
                <c:pt idx="447">
                  <c:v>52.6</c:v>
                </c:pt>
                <c:pt idx="448">
                  <c:v>52.3</c:v>
                </c:pt>
                <c:pt idx="449">
                  <c:v>52.4</c:v>
                </c:pt>
                <c:pt idx="450">
                  <c:v>51.7</c:v>
                </c:pt>
                <c:pt idx="451">
                  <c:v>50.2</c:v>
                </c:pt>
                <c:pt idx="452">
                  <c:v>50</c:v>
                </c:pt>
                <c:pt idx="453">
                  <c:v>50.9</c:v>
                </c:pt>
                <c:pt idx="454">
                  <c:v>51.5</c:v>
                </c:pt>
                <c:pt idx="455">
                  <c:v>49</c:v>
                </c:pt>
                <c:pt idx="456">
                  <c:v>51.1</c:v>
                </c:pt>
                <c:pt idx="457">
                  <c:v>48.9</c:v>
                </c:pt>
                <c:pt idx="458">
                  <c:v>49</c:v>
                </c:pt>
                <c:pt idx="459">
                  <c:v>48.8</c:v>
                </c:pt>
                <c:pt idx="460">
                  <c:v>48.8</c:v>
                </c:pt>
                <c:pt idx="461">
                  <c:v>49</c:v>
                </c:pt>
                <c:pt idx="462">
                  <c:v>49.6</c:v>
                </c:pt>
                <c:pt idx="463">
                  <c:v>48</c:v>
                </c:pt>
                <c:pt idx="464">
                  <c:v>43.8</c:v>
                </c:pt>
                <c:pt idx="465">
                  <c:v>39</c:v>
                </c:pt>
                <c:pt idx="466">
                  <c:v>36.9</c:v>
                </c:pt>
                <c:pt idx="467">
                  <c:v>33.300000000000004</c:v>
                </c:pt>
                <c:pt idx="468">
                  <c:v>35.700000000000003</c:v>
                </c:pt>
                <c:pt idx="469">
                  <c:v>36</c:v>
                </c:pt>
                <c:pt idx="470">
                  <c:v>36.6</c:v>
                </c:pt>
                <c:pt idx="471">
                  <c:v>39.9</c:v>
                </c:pt>
                <c:pt idx="472">
                  <c:v>41.9</c:v>
                </c:pt>
                <c:pt idx="473">
                  <c:v>44.7</c:v>
                </c:pt>
                <c:pt idx="474">
                  <c:v>49</c:v>
                </c:pt>
                <c:pt idx="475">
                  <c:v>51.4</c:v>
                </c:pt>
                <c:pt idx="476">
                  <c:v>53.2</c:v>
                </c:pt>
                <c:pt idx="477">
                  <c:v>55.8</c:v>
                </c:pt>
                <c:pt idx="478">
                  <c:v>54.7</c:v>
                </c:pt>
                <c:pt idx="479">
                  <c:v>56.4</c:v>
                </c:pt>
                <c:pt idx="480">
                  <c:v>58.3</c:v>
                </c:pt>
                <c:pt idx="481">
                  <c:v>57.1</c:v>
                </c:pt>
                <c:pt idx="482">
                  <c:v>60.4</c:v>
                </c:pt>
                <c:pt idx="483">
                  <c:v>59.6</c:v>
                </c:pt>
                <c:pt idx="484">
                  <c:v>57.8</c:v>
                </c:pt>
                <c:pt idx="485">
                  <c:v>55.3</c:v>
                </c:pt>
                <c:pt idx="486">
                  <c:v>55.1</c:v>
                </c:pt>
                <c:pt idx="487">
                  <c:v>55.2</c:v>
                </c:pt>
                <c:pt idx="488">
                  <c:v>55.3</c:v>
                </c:pt>
                <c:pt idx="489">
                  <c:v>56.9</c:v>
                </c:pt>
                <c:pt idx="490">
                  <c:v>58.2</c:v>
                </c:pt>
                <c:pt idx="491">
                  <c:v>58.5</c:v>
                </c:pt>
                <c:pt idx="492">
                  <c:v>60.8</c:v>
                </c:pt>
                <c:pt idx="493">
                  <c:v>61.4</c:v>
                </c:pt>
                <c:pt idx="494">
                  <c:v>61.2</c:v>
                </c:pt>
                <c:pt idx="495">
                  <c:v>60.4</c:v>
                </c:pt>
                <c:pt idx="496">
                  <c:v>53.5</c:v>
                </c:pt>
                <c:pt idx="497">
                  <c:v>55.3</c:v>
                </c:pt>
                <c:pt idx="498">
                  <c:v>50.9</c:v>
                </c:pt>
                <c:pt idx="499">
                  <c:v>50.6</c:v>
                </c:pt>
                <c:pt idx="500">
                  <c:v>51.6</c:v>
                </c:pt>
                <c:pt idx="501">
                  <c:v>50.8</c:v>
                </c:pt>
                <c:pt idx="502">
                  <c:v>52.7</c:v>
                </c:pt>
                <c:pt idx="503">
                  <c:v>53.9</c:v>
                </c:pt>
              </c:numCache>
            </c:numRef>
          </c:val>
        </c:ser>
        <c:axId val="79888768"/>
        <c:axId val="79890304"/>
      </c:barChart>
      <c:catAx>
        <c:axId val="79888768"/>
        <c:scaling>
          <c:orientation val="minMax"/>
        </c:scaling>
        <c:axPos val="b"/>
        <c:numFmt formatCode="yyyy;@" sourceLinked="0"/>
        <c:tickLblPos val="nextTo"/>
        <c:txPr>
          <a:bodyPr/>
          <a:lstStyle/>
          <a:p>
            <a:pPr>
              <a:defRPr sz="1400">
                <a:latin typeface="Arial Narrow" pitchFamily="34" charset="0"/>
              </a:defRPr>
            </a:pPr>
            <a:endParaRPr lang="en-US"/>
          </a:p>
        </c:txPr>
        <c:crossAx val="79890304"/>
        <c:crosses val="autoZero"/>
        <c:auto val="1"/>
        <c:lblAlgn val="ctr"/>
        <c:lblOffset val="100"/>
        <c:tickLblSkip val="12"/>
      </c:catAx>
      <c:valAx>
        <c:axId val="79890304"/>
        <c:scaling>
          <c:orientation val="minMax"/>
        </c:scaling>
        <c:axPos val="l"/>
        <c:majorGridlines/>
        <c:numFmt formatCode="General" sourceLinked="1"/>
        <c:tickLblPos val="nextTo"/>
        <c:crossAx val="79888768"/>
        <c:crosses val="autoZero"/>
        <c:crossBetween val="between"/>
      </c:valAx>
    </c:plotArea>
    <c:plotVisOnly val="1"/>
  </c:chart>
  <c:txPr>
    <a:bodyPr/>
    <a:lstStyle/>
    <a:p>
      <a:pPr>
        <a:defRPr sz="1800"/>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US Retail Sales, 1992</a:t>
            </a:r>
            <a:r>
              <a:rPr lang="en-US" baseline="0"/>
              <a:t> to present</a:t>
            </a:r>
            <a:endParaRPr lang="en-US"/>
          </a:p>
        </c:rich>
      </c:tx>
      <c:layout/>
      <c:overlay val="1"/>
    </c:title>
    <c:plotArea>
      <c:layout>
        <c:manualLayout>
          <c:layoutTarget val="inner"/>
          <c:xMode val="edge"/>
          <c:yMode val="edge"/>
          <c:x val="8.0385660419208152E-2"/>
          <c:y val="2.4508950354474219E-2"/>
          <c:w val="0.9049429780784447"/>
          <c:h val="0.92678377232007825"/>
        </c:manualLayout>
      </c:layout>
      <c:barChart>
        <c:barDir val="col"/>
        <c:grouping val="clustered"/>
        <c:ser>
          <c:idx val="0"/>
          <c:order val="0"/>
          <c:tx>
            <c:strRef>
              <c:f>data!$B$1</c:f>
              <c:strCache>
                <c:ptCount val="1"/>
                <c:pt idx="0">
                  <c:v>Jan</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data!$B$2:$B$22</c:f>
              <c:numCache>
                <c:formatCode>0.0</c:formatCode>
                <c:ptCount val="21"/>
                <c:pt idx="0">
                  <c:v>130770</c:v>
                </c:pt>
                <c:pt idx="1">
                  <c:v>137819</c:v>
                </c:pt>
                <c:pt idx="2">
                  <c:v>142904</c:v>
                </c:pt>
                <c:pt idx="3">
                  <c:v>154864</c:v>
                </c:pt>
                <c:pt idx="4">
                  <c:v>158678</c:v>
                </c:pt>
                <c:pt idx="5">
                  <c:v>169765</c:v>
                </c:pt>
                <c:pt idx="6">
                  <c:v>176579</c:v>
                </c:pt>
                <c:pt idx="7">
                  <c:v>186685</c:v>
                </c:pt>
                <c:pt idx="8">
                  <c:v>200882</c:v>
                </c:pt>
                <c:pt idx="9">
                  <c:v>213263</c:v>
                </c:pt>
                <c:pt idx="10">
                  <c:v>216549</c:v>
                </c:pt>
                <c:pt idx="11">
                  <c:v>225980</c:v>
                </c:pt>
                <c:pt idx="12">
                  <c:v>240342</c:v>
                </c:pt>
                <c:pt idx="13">
                  <c:v>257377</c:v>
                </c:pt>
                <c:pt idx="14">
                  <c:v>281403</c:v>
                </c:pt>
                <c:pt idx="15">
                  <c:v>288869</c:v>
                </c:pt>
                <c:pt idx="16">
                  <c:v>302648</c:v>
                </c:pt>
                <c:pt idx="17">
                  <c:v>281966</c:v>
                </c:pt>
                <c:pt idx="18">
                  <c:v>293089</c:v>
                </c:pt>
                <c:pt idx="19">
                  <c:v>311844</c:v>
                </c:pt>
                <c:pt idx="20">
                  <c:v>329732</c:v>
                </c:pt>
              </c:numCache>
            </c:numRef>
          </c:val>
        </c:ser>
        <c:ser>
          <c:idx val="1"/>
          <c:order val="1"/>
          <c:tx>
            <c:strRef>
              <c:f>data!$C$1</c:f>
              <c:strCache>
                <c:ptCount val="1"/>
                <c:pt idx="0">
                  <c:v>Feb</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data!$C$2:$C$22</c:f>
              <c:numCache>
                <c:formatCode>0.0</c:formatCode>
                <c:ptCount val="21"/>
                <c:pt idx="0">
                  <c:v>130835</c:v>
                </c:pt>
                <c:pt idx="1">
                  <c:v>137379</c:v>
                </c:pt>
                <c:pt idx="2">
                  <c:v>144867</c:v>
                </c:pt>
                <c:pt idx="3">
                  <c:v>152850</c:v>
                </c:pt>
                <c:pt idx="4">
                  <c:v>160301</c:v>
                </c:pt>
                <c:pt idx="5">
                  <c:v>171161</c:v>
                </c:pt>
                <c:pt idx="6">
                  <c:v>177401</c:v>
                </c:pt>
                <c:pt idx="7">
                  <c:v>188705</c:v>
                </c:pt>
                <c:pt idx="8">
                  <c:v>203536</c:v>
                </c:pt>
                <c:pt idx="9">
                  <c:v>212932</c:v>
                </c:pt>
                <c:pt idx="10">
                  <c:v>217551</c:v>
                </c:pt>
                <c:pt idx="11">
                  <c:v>225027</c:v>
                </c:pt>
                <c:pt idx="12">
                  <c:v>240870</c:v>
                </c:pt>
                <c:pt idx="13">
                  <c:v>259650</c:v>
                </c:pt>
                <c:pt idx="14">
                  <c:v>281157</c:v>
                </c:pt>
                <c:pt idx="15">
                  <c:v>289309</c:v>
                </c:pt>
                <c:pt idx="16">
                  <c:v>300286</c:v>
                </c:pt>
                <c:pt idx="17">
                  <c:v>283015</c:v>
                </c:pt>
                <c:pt idx="18">
                  <c:v>295774</c:v>
                </c:pt>
                <c:pt idx="19">
                  <c:v>315499</c:v>
                </c:pt>
              </c:numCache>
            </c:numRef>
          </c:val>
        </c:ser>
        <c:ser>
          <c:idx val="2"/>
          <c:order val="2"/>
          <c:tx>
            <c:strRef>
              <c:f>data!$D$1</c:f>
              <c:strCache>
                <c:ptCount val="1"/>
                <c:pt idx="0">
                  <c:v>Mar</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data!$D$2:$D$22</c:f>
              <c:numCache>
                <c:formatCode>0.0</c:formatCode>
                <c:ptCount val="21"/>
                <c:pt idx="0">
                  <c:v>130824</c:v>
                </c:pt>
                <c:pt idx="1">
                  <c:v>136646</c:v>
                </c:pt>
                <c:pt idx="2">
                  <c:v>147163</c:v>
                </c:pt>
                <c:pt idx="3">
                  <c:v>153871</c:v>
                </c:pt>
                <c:pt idx="4">
                  <c:v>161849</c:v>
                </c:pt>
                <c:pt idx="5">
                  <c:v>172294</c:v>
                </c:pt>
                <c:pt idx="6">
                  <c:v>177670</c:v>
                </c:pt>
                <c:pt idx="7">
                  <c:v>189574</c:v>
                </c:pt>
                <c:pt idx="8">
                  <c:v>207366</c:v>
                </c:pt>
                <c:pt idx="9">
                  <c:v>210976</c:v>
                </c:pt>
                <c:pt idx="10">
                  <c:v>218063</c:v>
                </c:pt>
                <c:pt idx="11">
                  <c:v>228099</c:v>
                </c:pt>
                <c:pt idx="12">
                  <c:v>245287</c:v>
                </c:pt>
                <c:pt idx="13">
                  <c:v>259751</c:v>
                </c:pt>
                <c:pt idx="14">
                  <c:v>281938</c:v>
                </c:pt>
                <c:pt idx="15">
                  <c:v>292585</c:v>
                </c:pt>
                <c:pt idx="16">
                  <c:v>301733</c:v>
                </c:pt>
                <c:pt idx="17">
                  <c:v>278850</c:v>
                </c:pt>
                <c:pt idx="18">
                  <c:v>298914</c:v>
                </c:pt>
                <c:pt idx="19">
                  <c:v>319392</c:v>
                </c:pt>
              </c:numCache>
            </c:numRef>
          </c:val>
        </c:ser>
        <c:ser>
          <c:idx val="3"/>
          <c:order val="3"/>
          <c:tx>
            <c:strRef>
              <c:f>data!$E$1</c:f>
              <c:strCache>
                <c:ptCount val="1"/>
                <c:pt idx="0">
                  <c:v>Apr</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data!$E$2:$E$22</c:f>
              <c:numCache>
                <c:formatCode>0.0</c:formatCode>
                <c:ptCount val="21"/>
                <c:pt idx="0">
                  <c:v>131165</c:v>
                </c:pt>
                <c:pt idx="1">
                  <c:v>138394</c:v>
                </c:pt>
                <c:pt idx="2">
                  <c:v>147040</c:v>
                </c:pt>
                <c:pt idx="3">
                  <c:v>154309</c:v>
                </c:pt>
                <c:pt idx="4">
                  <c:v>163578</c:v>
                </c:pt>
                <c:pt idx="5">
                  <c:v>171061</c:v>
                </c:pt>
                <c:pt idx="6">
                  <c:v>178895</c:v>
                </c:pt>
                <c:pt idx="7">
                  <c:v>190635</c:v>
                </c:pt>
                <c:pt idx="8">
                  <c:v>205617</c:v>
                </c:pt>
                <c:pt idx="9">
                  <c:v>213981</c:v>
                </c:pt>
                <c:pt idx="10">
                  <c:v>220676</c:v>
                </c:pt>
                <c:pt idx="11">
                  <c:v>226326</c:v>
                </c:pt>
                <c:pt idx="12">
                  <c:v>244111</c:v>
                </c:pt>
                <c:pt idx="13">
                  <c:v>263914</c:v>
                </c:pt>
                <c:pt idx="14">
                  <c:v>283706</c:v>
                </c:pt>
                <c:pt idx="15">
                  <c:v>291225</c:v>
                </c:pt>
                <c:pt idx="16">
                  <c:v>305207</c:v>
                </c:pt>
                <c:pt idx="17">
                  <c:v>279624</c:v>
                </c:pt>
                <c:pt idx="18">
                  <c:v>300450</c:v>
                </c:pt>
                <c:pt idx="19">
                  <c:v>320500</c:v>
                </c:pt>
              </c:numCache>
            </c:numRef>
          </c:val>
        </c:ser>
        <c:ser>
          <c:idx val="4"/>
          <c:order val="4"/>
          <c:tx>
            <c:strRef>
              <c:f>data!$F$1</c:f>
              <c:strCache>
                <c:ptCount val="1"/>
                <c:pt idx="0">
                  <c:v>May</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data!$F$2:$F$22</c:f>
              <c:numCache>
                <c:formatCode>0.0</c:formatCode>
                <c:ptCount val="21"/>
                <c:pt idx="0">
                  <c:v>131512</c:v>
                </c:pt>
                <c:pt idx="1">
                  <c:v>139753</c:v>
                </c:pt>
                <c:pt idx="2">
                  <c:v>147262</c:v>
                </c:pt>
                <c:pt idx="3">
                  <c:v>155601</c:v>
                </c:pt>
                <c:pt idx="4">
                  <c:v>164448</c:v>
                </c:pt>
                <c:pt idx="5">
                  <c:v>171049</c:v>
                </c:pt>
                <c:pt idx="6">
                  <c:v>179594</c:v>
                </c:pt>
                <c:pt idx="7">
                  <c:v>191943</c:v>
                </c:pt>
                <c:pt idx="8">
                  <c:v>206160</c:v>
                </c:pt>
                <c:pt idx="9">
                  <c:v>214839</c:v>
                </c:pt>
                <c:pt idx="10">
                  <c:v>220250</c:v>
                </c:pt>
                <c:pt idx="11">
                  <c:v>227064</c:v>
                </c:pt>
                <c:pt idx="12">
                  <c:v>246627</c:v>
                </c:pt>
                <c:pt idx="13">
                  <c:v>262011</c:v>
                </c:pt>
                <c:pt idx="14">
                  <c:v>283085</c:v>
                </c:pt>
                <c:pt idx="15">
                  <c:v>294913</c:v>
                </c:pt>
                <c:pt idx="16">
                  <c:v>307613</c:v>
                </c:pt>
                <c:pt idx="17">
                  <c:v>281724</c:v>
                </c:pt>
                <c:pt idx="18">
                  <c:v>297419</c:v>
                </c:pt>
                <c:pt idx="19">
                  <c:v>321398</c:v>
                </c:pt>
              </c:numCache>
            </c:numRef>
          </c:val>
        </c:ser>
        <c:ser>
          <c:idx val="5"/>
          <c:order val="5"/>
          <c:tx>
            <c:strRef>
              <c:f>data!$G$1</c:f>
              <c:strCache>
                <c:ptCount val="1"/>
                <c:pt idx="0">
                  <c:v>Jun</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data!$G$2:$G$22</c:f>
              <c:numCache>
                <c:formatCode>0.0</c:formatCode>
                <c:ptCount val="21"/>
                <c:pt idx="0">
                  <c:v>131755</c:v>
                </c:pt>
                <c:pt idx="1">
                  <c:v>139741</c:v>
                </c:pt>
                <c:pt idx="2">
                  <c:v>148987</c:v>
                </c:pt>
                <c:pt idx="3">
                  <c:v>156278</c:v>
                </c:pt>
                <c:pt idx="4">
                  <c:v>164692</c:v>
                </c:pt>
                <c:pt idx="5">
                  <c:v>172374</c:v>
                </c:pt>
                <c:pt idx="6">
                  <c:v>180168</c:v>
                </c:pt>
                <c:pt idx="7">
                  <c:v>192445</c:v>
                </c:pt>
                <c:pt idx="8">
                  <c:v>207252</c:v>
                </c:pt>
                <c:pt idx="9">
                  <c:v>213999</c:v>
                </c:pt>
                <c:pt idx="10">
                  <c:v>220385</c:v>
                </c:pt>
                <c:pt idx="11">
                  <c:v>229730</c:v>
                </c:pt>
                <c:pt idx="12">
                  <c:v>246569</c:v>
                </c:pt>
                <c:pt idx="13">
                  <c:v>265141</c:v>
                </c:pt>
                <c:pt idx="14">
                  <c:v>282860</c:v>
                </c:pt>
                <c:pt idx="15">
                  <c:v>293810</c:v>
                </c:pt>
                <c:pt idx="16">
                  <c:v>310548</c:v>
                </c:pt>
                <c:pt idx="17">
                  <c:v>284277</c:v>
                </c:pt>
                <c:pt idx="18">
                  <c:v>297630</c:v>
                </c:pt>
                <c:pt idx="19">
                  <c:v>321826</c:v>
                </c:pt>
              </c:numCache>
            </c:numRef>
          </c:val>
        </c:ser>
        <c:ser>
          <c:idx val="6"/>
          <c:order val="6"/>
          <c:tx>
            <c:strRef>
              <c:f>data!$H$1</c:f>
              <c:strCache>
                <c:ptCount val="1"/>
                <c:pt idx="0">
                  <c:v>Jul</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data!$H$2:$H$22</c:f>
              <c:numCache>
                <c:formatCode>0.0</c:formatCode>
                <c:ptCount val="21"/>
                <c:pt idx="0">
                  <c:v>132142</c:v>
                </c:pt>
                <c:pt idx="1">
                  <c:v>140654</c:v>
                </c:pt>
                <c:pt idx="2">
                  <c:v>149654</c:v>
                </c:pt>
                <c:pt idx="3">
                  <c:v>156487</c:v>
                </c:pt>
                <c:pt idx="4">
                  <c:v>164778</c:v>
                </c:pt>
                <c:pt idx="5">
                  <c:v>173995</c:v>
                </c:pt>
                <c:pt idx="6">
                  <c:v>181362</c:v>
                </c:pt>
                <c:pt idx="7">
                  <c:v>193208</c:v>
                </c:pt>
                <c:pt idx="8">
                  <c:v>207762</c:v>
                </c:pt>
                <c:pt idx="9">
                  <c:v>214015</c:v>
                </c:pt>
                <c:pt idx="10">
                  <c:v>220897</c:v>
                </c:pt>
                <c:pt idx="11">
                  <c:v>232160</c:v>
                </c:pt>
                <c:pt idx="12">
                  <c:v>247777</c:v>
                </c:pt>
                <c:pt idx="13">
                  <c:v>265523</c:v>
                </c:pt>
                <c:pt idx="14">
                  <c:v>283934</c:v>
                </c:pt>
                <c:pt idx="15">
                  <c:v>295636</c:v>
                </c:pt>
                <c:pt idx="16">
                  <c:v>311861</c:v>
                </c:pt>
                <c:pt idx="17">
                  <c:v>283868</c:v>
                </c:pt>
                <c:pt idx="18">
                  <c:v>297640</c:v>
                </c:pt>
                <c:pt idx="19">
                  <c:v>323028</c:v>
                </c:pt>
              </c:numCache>
            </c:numRef>
          </c:val>
        </c:ser>
        <c:ser>
          <c:idx val="7"/>
          <c:order val="7"/>
          <c:tx>
            <c:strRef>
              <c:f>data!$I$1</c:f>
              <c:strCache>
                <c:ptCount val="1"/>
                <c:pt idx="0">
                  <c:v>Aug</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data!$I$2:$I$22</c:f>
              <c:numCache>
                <c:formatCode>0.0</c:formatCode>
                <c:ptCount val="21"/>
                <c:pt idx="0">
                  <c:v>133410</c:v>
                </c:pt>
                <c:pt idx="1">
                  <c:v>140558</c:v>
                </c:pt>
                <c:pt idx="2">
                  <c:v>151196</c:v>
                </c:pt>
                <c:pt idx="3">
                  <c:v>157175</c:v>
                </c:pt>
                <c:pt idx="4">
                  <c:v>165284</c:v>
                </c:pt>
                <c:pt idx="5">
                  <c:v>174328</c:v>
                </c:pt>
                <c:pt idx="6">
                  <c:v>181539</c:v>
                </c:pt>
                <c:pt idx="7">
                  <c:v>194978</c:v>
                </c:pt>
                <c:pt idx="8">
                  <c:v>208073</c:v>
                </c:pt>
                <c:pt idx="9">
                  <c:v>215680</c:v>
                </c:pt>
                <c:pt idx="10">
                  <c:v>220883</c:v>
                </c:pt>
                <c:pt idx="11">
                  <c:v>235158</c:v>
                </c:pt>
                <c:pt idx="12">
                  <c:v>248121</c:v>
                </c:pt>
                <c:pt idx="13">
                  <c:v>269710</c:v>
                </c:pt>
                <c:pt idx="14">
                  <c:v>286346</c:v>
                </c:pt>
                <c:pt idx="15">
                  <c:v>295090</c:v>
                </c:pt>
                <c:pt idx="16">
                  <c:v>308345</c:v>
                </c:pt>
                <c:pt idx="17">
                  <c:v>286334</c:v>
                </c:pt>
                <c:pt idx="18">
                  <c:v>301078</c:v>
                </c:pt>
                <c:pt idx="19">
                  <c:v>324729</c:v>
                </c:pt>
              </c:numCache>
            </c:numRef>
          </c:val>
        </c:ser>
        <c:ser>
          <c:idx val="8"/>
          <c:order val="8"/>
          <c:tx>
            <c:strRef>
              <c:f>data!$J$1</c:f>
              <c:strCache>
                <c:ptCount val="1"/>
                <c:pt idx="0">
                  <c:v>Sep</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data!$J$2:$J$22</c:f>
              <c:numCache>
                <c:formatCode>0.0</c:formatCode>
                <c:ptCount val="21"/>
                <c:pt idx="0">
                  <c:v>134053</c:v>
                </c:pt>
                <c:pt idx="1">
                  <c:v>141908</c:v>
                </c:pt>
                <c:pt idx="2">
                  <c:v>151767</c:v>
                </c:pt>
                <c:pt idx="3">
                  <c:v>158096</c:v>
                </c:pt>
                <c:pt idx="4">
                  <c:v>166455</c:v>
                </c:pt>
                <c:pt idx="5">
                  <c:v>175350</c:v>
                </c:pt>
                <c:pt idx="6">
                  <c:v>181983</c:v>
                </c:pt>
                <c:pt idx="7">
                  <c:v>196730</c:v>
                </c:pt>
                <c:pt idx="8">
                  <c:v>210941</c:v>
                </c:pt>
                <c:pt idx="9">
                  <c:v>212745</c:v>
                </c:pt>
                <c:pt idx="10">
                  <c:v>220861</c:v>
                </c:pt>
                <c:pt idx="11">
                  <c:v>235101</c:v>
                </c:pt>
                <c:pt idx="12">
                  <c:v>250556</c:v>
                </c:pt>
                <c:pt idx="13">
                  <c:v>273336</c:v>
                </c:pt>
                <c:pt idx="14">
                  <c:v>284267</c:v>
                </c:pt>
                <c:pt idx="15">
                  <c:v>296948</c:v>
                </c:pt>
                <c:pt idx="16">
                  <c:v>305098</c:v>
                </c:pt>
                <c:pt idx="17">
                  <c:v>287233</c:v>
                </c:pt>
                <c:pt idx="18">
                  <c:v>303000</c:v>
                </c:pt>
                <c:pt idx="19">
                  <c:v>326758</c:v>
                </c:pt>
              </c:numCache>
            </c:numRef>
          </c:val>
        </c:ser>
        <c:ser>
          <c:idx val="9"/>
          <c:order val="9"/>
          <c:tx>
            <c:strRef>
              <c:f>data!$K$1</c:f>
              <c:strCache>
                <c:ptCount val="1"/>
                <c:pt idx="0">
                  <c:v>Oct</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data!$K$2:$K$22</c:f>
              <c:numCache>
                <c:formatCode>0.0</c:formatCode>
                <c:ptCount val="21"/>
                <c:pt idx="0">
                  <c:v>134853</c:v>
                </c:pt>
                <c:pt idx="1">
                  <c:v>142291</c:v>
                </c:pt>
                <c:pt idx="2">
                  <c:v>152920</c:v>
                </c:pt>
                <c:pt idx="3">
                  <c:v>157365</c:v>
                </c:pt>
                <c:pt idx="4">
                  <c:v>168032</c:v>
                </c:pt>
                <c:pt idx="5">
                  <c:v>175344</c:v>
                </c:pt>
                <c:pt idx="6">
                  <c:v>183530</c:v>
                </c:pt>
                <c:pt idx="7">
                  <c:v>197619</c:v>
                </c:pt>
                <c:pt idx="8">
                  <c:v>211153</c:v>
                </c:pt>
                <c:pt idx="9">
                  <c:v>214819</c:v>
                </c:pt>
                <c:pt idx="10">
                  <c:v>222625</c:v>
                </c:pt>
                <c:pt idx="11">
                  <c:v>235500</c:v>
                </c:pt>
                <c:pt idx="12">
                  <c:v>253305</c:v>
                </c:pt>
                <c:pt idx="13">
                  <c:v>276629</c:v>
                </c:pt>
                <c:pt idx="14">
                  <c:v>283584</c:v>
                </c:pt>
                <c:pt idx="15">
                  <c:v>297979</c:v>
                </c:pt>
                <c:pt idx="16">
                  <c:v>297289</c:v>
                </c:pt>
                <c:pt idx="17">
                  <c:v>287071</c:v>
                </c:pt>
                <c:pt idx="18">
                  <c:v>306100</c:v>
                </c:pt>
                <c:pt idx="19">
                  <c:v>328451</c:v>
                </c:pt>
              </c:numCache>
            </c:numRef>
          </c:val>
        </c:ser>
        <c:ser>
          <c:idx val="10"/>
          <c:order val="10"/>
          <c:tx>
            <c:strRef>
              <c:f>data!$L$1</c:f>
              <c:strCache>
                <c:ptCount val="1"/>
                <c:pt idx="0">
                  <c:v>Nov</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data!$L$2:$L$22</c:f>
              <c:numCache>
                <c:formatCode>0.0</c:formatCode>
                <c:ptCount val="21"/>
                <c:pt idx="0">
                  <c:v>135581</c:v>
                </c:pt>
                <c:pt idx="1">
                  <c:v>143182</c:v>
                </c:pt>
                <c:pt idx="2">
                  <c:v>152915</c:v>
                </c:pt>
                <c:pt idx="3">
                  <c:v>159073</c:v>
                </c:pt>
                <c:pt idx="4">
                  <c:v>168494</c:v>
                </c:pt>
                <c:pt idx="5">
                  <c:v>175575</c:v>
                </c:pt>
                <c:pt idx="6">
                  <c:v>184805</c:v>
                </c:pt>
                <c:pt idx="7">
                  <c:v>199177</c:v>
                </c:pt>
                <c:pt idx="8">
                  <c:v>211598</c:v>
                </c:pt>
                <c:pt idx="9">
                  <c:v>214998</c:v>
                </c:pt>
                <c:pt idx="10">
                  <c:v>224108</c:v>
                </c:pt>
                <c:pt idx="11">
                  <c:v>237480</c:v>
                </c:pt>
                <c:pt idx="12">
                  <c:v>255028</c:v>
                </c:pt>
                <c:pt idx="13">
                  <c:v>274669</c:v>
                </c:pt>
                <c:pt idx="14">
                  <c:v>284019</c:v>
                </c:pt>
                <c:pt idx="15">
                  <c:v>303134</c:v>
                </c:pt>
                <c:pt idx="16">
                  <c:v>286908</c:v>
                </c:pt>
                <c:pt idx="17">
                  <c:v>290262</c:v>
                </c:pt>
                <c:pt idx="18">
                  <c:v>308492</c:v>
                </c:pt>
                <c:pt idx="19">
                  <c:v>329445</c:v>
                </c:pt>
              </c:numCache>
            </c:numRef>
          </c:val>
        </c:ser>
        <c:ser>
          <c:idx val="11"/>
          <c:order val="11"/>
          <c:tx>
            <c:strRef>
              <c:f>data!$M$1</c:f>
              <c:strCache>
                <c:ptCount val="1"/>
                <c:pt idx="0">
                  <c:v>Dec</c:v>
                </c:pt>
              </c:strCache>
            </c:strRef>
          </c:tx>
          <c:cat>
            <c:strRef>
              <c:f>data!$A$2:$A$22</c:f>
              <c:strCache>
                <c:ptCount val="21"/>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strCache>
            </c:strRef>
          </c:cat>
          <c:val>
            <c:numRef>
              <c:f>data!$M$2:$M$22</c:f>
              <c:numCache>
                <c:formatCode>0.0</c:formatCode>
                <c:ptCount val="21"/>
                <c:pt idx="0">
                  <c:v>137218</c:v>
                </c:pt>
                <c:pt idx="1">
                  <c:v>143797</c:v>
                </c:pt>
                <c:pt idx="2">
                  <c:v>154088</c:v>
                </c:pt>
                <c:pt idx="3">
                  <c:v>160572</c:v>
                </c:pt>
                <c:pt idx="4">
                  <c:v>169353</c:v>
                </c:pt>
                <c:pt idx="5">
                  <c:v>175829</c:v>
                </c:pt>
                <c:pt idx="6">
                  <c:v>186514</c:v>
                </c:pt>
                <c:pt idx="7">
                  <c:v>204237</c:v>
                </c:pt>
                <c:pt idx="8">
                  <c:v>212674</c:v>
                </c:pt>
                <c:pt idx="9">
                  <c:v>216313</c:v>
                </c:pt>
                <c:pt idx="10">
                  <c:v>224328</c:v>
                </c:pt>
                <c:pt idx="11">
                  <c:v>237793</c:v>
                </c:pt>
                <c:pt idx="12">
                  <c:v>257103</c:v>
                </c:pt>
                <c:pt idx="13">
                  <c:v>274648</c:v>
                </c:pt>
                <c:pt idx="14">
                  <c:v>289729</c:v>
                </c:pt>
                <c:pt idx="15">
                  <c:v>302785</c:v>
                </c:pt>
                <c:pt idx="16">
                  <c:v>279007</c:v>
                </c:pt>
                <c:pt idx="17">
                  <c:v>291806</c:v>
                </c:pt>
                <c:pt idx="18">
                  <c:v>309692</c:v>
                </c:pt>
                <c:pt idx="19">
                  <c:v>328741</c:v>
                </c:pt>
              </c:numCache>
            </c:numRef>
          </c:val>
        </c:ser>
        <c:axId val="92645248"/>
        <c:axId val="92646784"/>
      </c:barChart>
      <c:catAx>
        <c:axId val="92645248"/>
        <c:scaling>
          <c:orientation val="minMax"/>
        </c:scaling>
        <c:axPos val="b"/>
        <c:numFmt formatCode="@" sourceLinked="1"/>
        <c:tickLblPos val="nextTo"/>
        <c:crossAx val="92646784"/>
        <c:crosses val="autoZero"/>
        <c:auto val="1"/>
        <c:lblAlgn val="ctr"/>
        <c:lblOffset val="100"/>
        <c:tickLblSkip val="1"/>
      </c:catAx>
      <c:valAx>
        <c:axId val="92646784"/>
        <c:scaling>
          <c:orientation val="minMax"/>
        </c:scaling>
        <c:axPos val="l"/>
        <c:majorGridlines/>
        <c:numFmt formatCode="#,###" sourceLinked="0"/>
        <c:tickLblPos val="nextTo"/>
        <c:crossAx val="92645248"/>
        <c:crosses val="autoZero"/>
        <c:crossBetween val="between"/>
      </c:valAx>
    </c:plotArea>
    <c:plotVisOnly val="1"/>
    <c:dispBlanksAs val="gap"/>
  </c:chart>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9.3352396739881952E-2"/>
          <c:y val="2.9048978767764119E-2"/>
          <c:w val="0.79398811990606177"/>
          <c:h val="0.80002843051212313"/>
        </c:manualLayout>
      </c:layout>
      <c:lineChart>
        <c:grouping val="standard"/>
        <c:ser>
          <c:idx val="0"/>
          <c:order val="0"/>
          <c:tx>
            <c:strRef>
              <c:f>'NM&amp;US'!$B$1</c:f>
              <c:strCache>
                <c:ptCount val="1"/>
                <c:pt idx="0">
                  <c:v>NM</c:v>
                </c:pt>
              </c:strCache>
            </c:strRef>
          </c:tx>
          <c:marker>
            <c:symbol val="none"/>
          </c:marker>
          <c:cat>
            <c:strRef>
              <c:f>'NM&amp;US'!$A$2:$A$266</c:f>
              <c:strCache>
                <c:ptCount val="265"/>
                <c:pt idx="0">
                  <c:v>1990-01</c:v>
                </c:pt>
                <c:pt idx="1">
                  <c:v>1990-02</c:v>
                </c:pt>
                <c:pt idx="2">
                  <c:v>1990-03</c:v>
                </c:pt>
                <c:pt idx="3">
                  <c:v>1990-04</c:v>
                </c:pt>
                <c:pt idx="4">
                  <c:v>1990-05</c:v>
                </c:pt>
                <c:pt idx="5">
                  <c:v>1990-06</c:v>
                </c:pt>
                <c:pt idx="6">
                  <c:v>1990-07</c:v>
                </c:pt>
                <c:pt idx="7">
                  <c:v>1990-08</c:v>
                </c:pt>
                <c:pt idx="8">
                  <c:v>1990-09</c:v>
                </c:pt>
                <c:pt idx="9">
                  <c:v>1990-10</c:v>
                </c:pt>
                <c:pt idx="10">
                  <c:v>1990-11</c:v>
                </c:pt>
                <c:pt idx="11">
                  <c:v>1990-12</c:v>
                </c:pt>
                <c:pt idx="12">
                  <c:v>1991-01</c:v>
                </c:pt>
                <c:pt idx="13">
                  <c:v>1991-02</c:v>
                </c:pt>
                <c:pt idx="14">
                  <c:v>1991-03</c:v>
                </c:pt>
                <c:pt idx="15">
                  <c:v>1991-04</c:v>
                </c:pt>
                <c:pt idx="16">
                  <c:v>1991-05</c:v>
                </c:pt>
                <c:pt idx="17">
                  <c:v>1991-06</c:v>
                </c:pt>
                <c:pt idx="18">
                  <c:v>1991-07</c:v>
                </c:pt>
                <c:pt idx="19">
                  <c:v>1991-08</c:v>
                </c:pt>
                <c:pt idx="20">
                  <c:v>1991-09</c:v>
                </c:pt>
                <c:pt idx="21">
                  <c:v>1991-10</c:v>
                </c:pt>
                <c:pt idx="22">
                  <c:v>1991-11</c:v>
                </c:pt>
                <c:pt idx="23">
                  <c:v>1991-12</c:v>
                </c:pt>
                <c:pt idx="24">
                  <c:v>1992-01</c:v>
                </c:pt>
                <c:pt idx="25">
                  <c:v>1992-02</c:v>
                </c:pt>
                <c:pt idx="26">
                  <c:v>1992-03</c:v>
                </c:pt>
                <c:pt idx="27">
                  <c:v>1992-04</c:v>
                </c:pt>
                <c:pt idx="28">
                  <c:v>1992-05</c:v>
                </c:pt>
                <c:pt idx="29">
                  <c:v>1992-06</c:v>
                </c:pt>
                <c:pt idx="30">
                  <c:v>1992-07</c:v>
                </c:pt>
                <c:pt idx="31">
                  <c:v>1992-08</c:v>
                </c:pt>
                <c:pt idx="32">
                  <c:v>1992-09</c:v>
                </c:pt>
                <c:pt idx="33">
                  <c:v>1992-10</c:v>
                </c:pt>
                <c:pt idx="34">
                  <c:v>1992-11</c:v>
                </c:pt>
                <c:pt idx="35">
                  <c:v>1992-12</c:v>
                </c:pt>
                <c:pt idx="36">
                  <c:v>1993-01</c:v>
                </c:pt>
                <c:pt idx="37">
                  <c:v>1993-02</c:v>
                </c:pt>
                <c:pt idx="38">
                  <c:v>1993-03</c:v>
                </c:pt>
                <c:pt idx="39">
                  <c:v>1993-04</c:v>
                </c:pt>
                <c:pt idx="40">
                  <c:v>1993-05</c:v>
                </c:pt>
                <c:pt idx="41">
                  <c:v>1993-06</c:v>
                </c:pt>
                <c:pt idx="42">
                  <c:v>1993-07</c:v>
                </c:pt>
                <c:pt idx="43">
                  <c:v>1993-08</c:v>
                </c:pt>
                <c:pt idx="44">
                  <c:v>1993-09</c:v>
                </c:pt>
                <c:pt idx="45">
                  <c:v>1993-10</c:v>
                </c:pt>
                <c:pt idx="46">
                  <c:v>1993-11</c:v>
                </c:pt>
                <c:pt idx="47">
                  <c:v>1993-12</c:v>
                </c:pt>
                <c:pt idx="48">
                  <c:v>1994-01</c:v>
                </c:pt>
                <c:pt idx="49">
                  <c:v>1994-02</c:v>
                </c:pt>
                <c:pt idx="50">
                  <c:v>1994-03</c:v>
                </c:pt>
                <c:pt idx="51">
                  <c:v>1994-04</c:v>
                </c:pt>
                <c:pt idx="52">
                  <c:v>1994-05</c:v>
                </c:pt>
                <c:pt idx="53">
                  <c:v>1994-06</c:v>
                </c:pt>
                <c:pt idx="54">
                  <c:v>1994-07</c:v>
                </c:pt>
                <c:pt idx="55">
                  <c:v>1994-08</c:v>
                </c:pt>
                <c:pt idx="56">
                  <c:v>1994-09</c:v>
                </c:pt>
                <c:pt idx="57">
                  <c:v>1994-10</c:v>
                </c:pt>
                <c:pt idx="58">
                  <c:v>1994-11</c:v>
                </c:pt>
                <c:pt idx="59">
                  <c:v>1994-12</c:v>
                </c:pt>
                <c:pt idx="60">
                  <c:v>1995-01</c:v>
                </c:pt>
                <c:pt idx="61">
                  <c:v>1995-02</c:v>
                </c:pt>
                <c:pt idx="62">
                  <c:v>1995-03</c:v>
                </c:pt>
                <c:pt idx="63">
                  <c:v>1995-04</c:v>
                </c:pt>
                <c:pt idx="64">
                  <c:v>1995-05</c:v>
                </c:pt>
                <c:pt idx="65">
                  <c:v>1995-06</c:v>
                </c:pt>
                <c:pt idx="66">
                  <c:v>1995-07</c:v>
                </c:pt>
                <c:pt idx="67">
                  <c:v>1995-08</c:v>
                </c:pt>
                <c:pt idx="68">
                  <c:v>1995-09</c:v>
                </c:pt>
                <c:pt idx="69">
                  <c:v>1995-10</c:v>
                </c:pt>
                <c:pt idx="70">
                  <c:v>1995-11</c:v>
                </c:pt>
                <c:pt idx="71">
                  <c:v>1995-12</c:v>
                </c:pt>
                <c:pt idx="72">
                  <c:v>1996-01</c:v>
                </c:pt>
                <c:pt idx="73">
                  <c:v>1996-02</c:v>
                </c:pt>
                <c:pt idx="74">
                  <c:v>1996-03</c:v>
                </c:pt>
                <c:pt idx="75">
                  <c:v>1996-04</c:v>
                </c:pt>
                <c:pt idx="76">
                  <c:v>1996-05</c:v>
                </c:pt>
                <c:pt idx="77">
                  <c:v>1996-06</c:v>
                </c:pt>
                <c:pt idx="78">
                  <c:v>1996-07</c:v>
                </c:pt>
                <c:pt idx="79">
                  <c:v>1996-08</c:v>
                </c:pt>
                <c:pt idx="80">
                  <c:v>1996-09</c:v>
                </c:pt>
                <c:pt idx="81">
                  <c:v>1996-10</c:v>
                </c:pt>
                <c:pt idx="82">
                  <c:v>1996-11</c:v>
                </c:pt>
                <c:pt idx="83">
                  <c:v>1996-12</c:v>
                </c:pt>
                <c:pt idx="84">
                  <c:v>1997-01</c:v>
                </c:pt>
                <c:pt idx="85">
                  <c:v>1997-02</c:v>
                </c:pt>
                <c:pt idx="86">
                  <c:v>1997-03</c:v>
                </c:pt>
                <c:pt idx="87">
                  <c:v>1997-04</c:v>
                </c:pt>
                <c:pt idx="88">
                  <c:v>1997-05</c:v>
                </c:pt>
                <c:pt idx="89">
                  <c:v>1997-06</c:v>
                </c:pt>
                <c:pt idx="90">
                  <c:v>1997-07</c:v>
                </c:pt>
                <c:pt idx="91">
                  <c:v>1997-08</c:v>
                </c:pt>
                <c:pt idx="92">
                  <c:v>1997-09</c:v>
                </c:pt>
                <c:pt idx="93">
                  <c:v>1997-10</c:v>
                </c:pt>
                <c:pt idx="94">
                  <c:v>1997-11</c:v>
                </c:pt>
                <c:pt idx="95">
                  <c:v>1997-12</c:v>
                </c:pt>
                <c:pt idx="96">
                  <c:v>1998-01</c:v>
                </c:pt>
                <c:pt idx="97">
                  <c:v>1998-02</c:v>
                </c:pt>
                <c:pt idx="98">
                  <c:v>1998-03</c:v>
                </c:pt>
                <c:pt idx="99">
                  <c:v>1998-04</c:v>
                </c:pt>
                <c:pt idx="100">
                  <c:v>1998-05</c:v>
                </c:pt>
                <c:pt idx="101">
                  <c:v>1998-06</c:v>
                </c:pt>
                <c:pt idx="102">
                  <c:v>1998-07</c:v>
                </c:pt>
                <c:pt idx="103">
                  <c:v>1998-08</c:v>
                </c:pt>
                <c:pt idx="104">
                  <c:v>1998-09</c:v>
                </c:pt>
                <c:pt idx="105">
                  <c:v>1998-10</c:v>
                </c:pt>
                <c:pt idx="106">
                  <c:v>1998-11</c:v>
                </c:pt>
                <c:pt idx="107">
                  <c:v>1998-12</c:v>
                </c:pt>
                <c:pt idx="108">
                  <c:v>1999-01</c:v>
                </c:pt>
                <c:pt idx="109">
                  <c:v>1999-02</c:v>
                </c:pt>
                <c:pt idx="110">
                  <c:v>1999-03</c:v>
                </c:pt>
                <c:pt idx="111">
                  <c:v>1999-04</c:v>
                </c:pt>
                <c:pt idx="112">
                  <c:v>1999-05</c:v>
                </c:pt>
                <c:pt idx="113">
                  <c:v>1999-06</c:v>
                </c:pt>
                <c:pt idx="114">
                  <c:v>1999-07</c:v>
                </c:pt>
                <c:pt idx="115">
                  <c:v>1999-08</c:v>
                </c:pt>
                <c:pt idx="116">
                  <c:v>1999-09</c:v>
                </c:pt>
                <c:pt idx="117">
                  <c:v>1999-10</c:v>
                </c:pt>
                <c:pt idx="118">
                  <c:v>1999-11</c:v>
                </c:pt>
                <c:pt idx="119">
                  <c:v>1999-12</c:v>
                </c:pt>
                <c:pt idx="120">
                  <c:v>2000-01</c:v>
                </c:pt>
                <c:pt idx="121">
                  <c:v>2000-02</c:v>
                </c:pt>
                <c:pt idx="122">
                  <c:v>2000-03</c:v>
                </c:pt>
                <c:pt idx="123">
                  <c:v>2000-04</c:v>
                </c:pt>
                <c:pt idx="124">
                  <c:v>2000-05</c:v>
                </c:pt>
                <c:pt idx="125">
                  <c:v>2000-06</c:v>
                </c:pt>
                <c:pt idx="126">
                  <c:v>2000-07</c:v>
                </c:pt>
                <c:pt idx="127">
                  <c:v>2000-08</c:v>
                </c:pt>
                <c:pt idx="128">
                  <c:v>2000-09</c:v>
                </c:pt>
                <c:pt idx="129">
                  <c:v>2000-10</c:v>
                </c:pt>
                <c:pt idx="130">
                  <c:v>2000-11</c:v>
                </c:pt>
                <c:pt idx="131">
                  <c:v>2000-12</c:v>
                </c:pt>
                <c:pt idx="132">
                  <c:v>2001-01</c:v>
                </c:pt>
                <c:pt idx="133">
                  <c:v>2001-02</c:v>
                </c:pt>
                <c:pt idx="134">
                  <c:v>2001-03</c:v>
                </c:pt>
                <c:pt idx="135">
                  <c:v>2001-04</c:v>
                </c:pt>
                <c:pt idx="136">
                  <c:v>2001-05</c:v>
                </c:pt>
                <c:pt idx="137">
                  <c:v>2001-06</c:v>
                </c:pt>
                <c:pt idx="138">
                  <c:v>2001-07</c:v>
                </c:pt>
                <c:pt idx="139">
                  <c:v>2001-08</c:v>
                </c:pt>
                <c:pt idx="140">
                  <c:v>2001-09</c:v>
                </c:pt>
                <c:pt idx="141">
                  <c:v>2001-10</c:v>
                </c:pt>
                <c:pt idx="142">
                  <c:v>2001-11</c:v>
                </c:pt>
                <c:pt idx="143">
                  <c:v>2001-12</c:v>
                </c:pt>
                <c:pt idx="144">
                  <c:v>2002-01</c:v>
                </c:pt>
                <c:pt idx="145">
                  <c:v>2002-02</c:v>
                </c:pt>
                <c:pt idx="146">
                  <c:v>2002-03</c:v>
                </c:pt>
                <c:pt idx="147">
                  <c:v>2002-04</c:v>
                </c:pt>
                <c:pt idx="148">
                  <c:v>2002-05</c:v>
                </c:pt>
                <c:pt idx="149">
                  <c:v>2002-06</c:v>
                </c:pt>
                <c:pt idx="150">
                  <c:v>2002-07</c:v>
                </c:pt>
                <c:pt idx="151">
                  <c:v>2002-08</c:v>
                </c:pt>
                <c:pt idx="152">
                  <c:v>2002-09</c:v>
                </c:pt>
                <c:pt idx="153">
                  <c:v>2002-10</c:v>
                </c:pt>
                <c:pt idx="154">
                  <c:v>2002-11</c:v>
                </c:pt>
                <c:pt idx="155">
                  <c:v>2002-12</c:v>
                </c:pt>
                <c:pt idx="156">
                  <c:v>2003-01</c:v>
                </c:pt>
                <c:pt idx="157">
                  <c:v>2003-02</c:v>
                </c:pt>
                <c:pt idx="158">
                  <c:v>2003-03</c:v>
                </c:pt>
                <c:pt idx="159">
                  <c:v>2003-04</c:v>
                </c:pt>
                <c:pt idx="160">
                  <c:v>2003-05</c:v>
                </c:pt>
                <c:pt idx="161">
                  <c:v>2003-06</c:v>
                </c:pt>
                <c:pt idx="162">
                  <c:v>2003-07</c:v>
                </c:pt>
                <c:pt idx="163">
                  <c:v>2003-08</c:v>
                </c:pt>
                <c:pt idx="164">
                  <c:v>2003-09</c:v>
                </c:pt>
                <c:pt idx="165">
                  <c:v>2003-10</c:v>
                </c:pt>
                <c:pt idx="166">
                  <c:v>2003-11</c:v>
                </c:pt>
                <c:pt idx="167">
                  <c:v>2003-12</c:v>
                </c:pt>
                <c:pt idx="168">
                  <c:v>2004-01</c:v>
                </c:pt>
                <c:pt idx="169">
                  <c:v>2004-02</c:v>
                </c:pt>
                <c:pt idx="170">
                  <c:v>2004-03</c:v>
                </c:pt>
                <c:pt idx="171">
                  <c:v>2004-04</c:v>
                </c:pt>
                <c:pt idx="172">
                  <c:v>2004-05</c:v>
                </c:pt>
                <c:pt idx="173">
                  <c:v>2004-06</c:v>
                </c:pt>
                <c:pt idx="174">
                  <c:v>2004-07</c:v>
                </c:pt>
                <c:pt idx="175">
                  <c:v>2004-08</c:v>
                </c:pt>
                <c:pt idx="176">
                  <c:v>2004-09</c:v>
                </c:pt>
                <c:pt idx="177">
                  <c:v>2004-10</c:v>
                </c:pt>
                <c:pt idx="178">
                  <c:v>2004-11</c:v>
                </c:pt>
                <c:pt idx="179">
                  <c:v>2004-12</c:v>
                </c:pt>
                <c:pt idx="180">
                  <c:v>2005-01</c:v>
                </c:pt>
                <c:pt idx="181">
                  <c:v>2005-02</c:v>
                </c:pt>
                <c:pt idx="182">
                  <c:v>2005-03</c:v>
                </c:pt>
                <c:pt idx="183">
                  <c:v>2005-04</c:v>
                </c:pt>
                <c:pt idx="184">
                  <c:v>2005-05</c:v>
                </c:pt>
                <c:pt idx="185">
                  <c:v>2005-06</c:v>
                </c:pt>
                <c:pt idx="186">
                  <c:v>2005-07</c:v>
                </c:pt>
                <c:pt idx="187">
                  <c:v>2005-08</c:v>
                </c:pt>
                <c:pt idx="188">
                  <c:v>2005-09</c:v>
                </c:pt>
                <c:pt idx="189">
                  <c:v>2005-10</c:v>
                </c:pt>
                <c:pt idx="190">
                  <c:v>2005-11</c:v>
                </c:pt>
                <c:pt idx="191">
                  <c:v>2005-12</c:v>
                </c:pt>
                <c:pt idx="192">
                  <c:v>2006-01</c:v>
                </c:pt>
                <c:pt idx="193">
                  <c:v>2006-02</c:v>
                </c:pt>
                <c:pt idx="194">
                  <c:v>2006-03</c:v>
                </c:pt>
                <c:pt idx="195">
                  <c:v>2006-04</c:v>
                </c:pt>
                <c:pt idx="196">
                  <c:v>2006-05</c:v>
                </c:pt>
                <c:pt idx="197">
                  <c:v>2006-06</c:v>
                </c:pt>
                <c:pt idx="198">
                  <c:v>2006-07</c:v>
                </c:pt>
                <c:pt idx="199">
                  <c:v>2006-08</c:v>
                </c:pt>
                <c:pt idx="200">
                  <c:v>2006-09</c:v>
                </c:pt>
                <c:pt idx="201">
                  <c:v>2006-10</c:v>
                </c:pt>
                <c:pt idx="202">
                  <c:v>2006-11</c:v>
                </c:pt>
                <c:pt idx="203">
                  <c:v>2006-12</c:v>
                </c:pt>
                <c:pt idx="204">
                  <c:v>2007-01</c:v>
                </c:pt>
                <c:pt idx="205">
                  <c:v>2007-02</c:v>
                </c:pt>
                <c:pt idx="206">
                  <c:v>2007-03</c:v>
                </c:pt>
                <c:pt idx="207">
                  <c:v>2007-04</c:v>
                </c:pt>
                <c:pt idx="208">
                  <c:v>2007-05</c:v>
                </c:pt>
                <c:pt idx="209">
                  <c:v>2007-06</c:v>
                </c:pt>
                <c:pt idx="210">
                  <c:v>2007-07</c:v>
                </c:pt>
                <c:pt idx="211">
                  <c:v>2007-08</c:v>
                </c:pt>
                <c:pt idx="212">
                  <c:v>2007-09</c:v>
                </c:pt>
                <c:pt idx="213">
                  <c:v>2007-10</c:v>
                </c:pt>
                <c:pt idx="214">
                  <c:v>2007-11</c:v>
                </c:pt>
                <c:pt idx="215">
                  <c:v>2007-12</c:v>
                </c:pt>
                <c:pt idx="216">
                  <c:v>2008-01</c:v>
                </c:pt>
                <c:pt idx="217">
                  <c:v>2008-02</c:v>
                </c:pt>
                <c:pt idx="218">
                  <c:v>2008-03</c:v>
                </c:pt>
                <c:pt idx="219">
                  <c:v>2008-04</c:v>
                </c:pt>
                <c:pt idx="220">
                  <c:v>2008-05</c:v>
                </c:pt>
                <c:pt idx="221">
                  <c:v>2008-06</c:v>
                </c:pt>
                <c:pt idx="222">
                  <c:v>2008-07</c:v>
                </c:pt>
                <c:pt idx="223">
                  <c:v>2008-08</c:v>
                </c:pt>
                <c:pt idx="224">
                  <c:v>2008-09</c:v>
                </c:pt>
                <c:pt idx="225">
                  <c:v>2008-10</c:v>
                </c:pt>
                <c:pt idx="226">
                  <c:v>2008-11</c:v>
                </c:pt>
                <c:pt idx="227">
                  <c:v>2008-12</c:v>
                </c:pt>
                <c:pt idx="228">
                  <c:v>2009-01</c:v>
                </c:pt>
                <c:pt idx="229">
                  <c:v>2009-02</c:v>
                </c:pt>
                <c:pt idx="230">
                  <c:v>2009-03</c:v>
                </c:pt>
                <c:pt idx="231">
                  <c:v>2009-04</c:v>
                </c:pt>
                <c:pt idx="232">
                  <c:v>2009-05</c:v>
                </c:pt>
                <c:pt idx="233">
                  <c:v>2009-06</c:v>
                </c:pt>
                <c:pt idx="234">
                  <c:v>2009-07</c:v>
                </c:pt>
                <c:pt idx="235">
                  <c:v>2009-08</c:v>
                </c:pt>
                <c:pt idx="236">
                  <c:v>2009-09</c:v>
                </c:pt>
                <c:pt idx="237">
                  <c:v>2009-10</c:v>
                </c:pt>
                <c:pt idx="238">
                  <c:v>2009-11</c:v>
                </c:pt>
                <c:pt idx="239">
                  <c:v>2009-12</c:v>
                </c:pt>
                <c:pt idx="240">
                  <c:v>2010-01</c:v>
                </c:pt>
                <c:pt idx="241">
                  <c:v>2010-02</c:v>
                </c:pt>
                <c:pt idx="242">
                  <c:v>2010-03</c:v>
                </c:pt>
                <c:pt idx="243">
                  <c:v>2010-04</c:v>
                </c:pt>
                <c:pt idx="244">
                  <c:v>2010-05</c:v>
                </c:pt>
                <c:pt idx="245">
                  <c:v>2010-06</c:v>
                </c:pt>
                <c:pt idx="246">
                  <c:v>2010-07</c:v>
                </c:pt>
                <c:pt idx="247">
                  <c:v>2010-08</c:v>
                </c:pt>
                <c:pt idx="248">
                  <c:v>2010-09</c:v>
                </c:pt>
                <c:pt idx="249">
                  <c:v>2010-10</c:v>
                </c:pt>
                <c:pt idx="250">
                  <c:v>2010-11</c:v>
                </c:pt>
                <c:pt idx="251">
                  <c:v>2010-12</c:v>
                </c:pt>
                <c:pt idx="252">
                  <c:v>2011-01</c:v>
                </c:pt>
                <c:pt idx="253">
                  <c:v>2011-02</c:v>
                </c:pt>
                <c:pt idx="254">
                  <c:v>2011-03</c:v>
                </c:pt>
                <c:pt idx="255">
                  <c:v>2011-04</c:v>
                </c:pt>
                <c:pt idx="256">
                  <c:v>2011-05</c:v>
                </c:pt>
                <c:pt idx="257">
                  <c:v>2011-06</c:v>
                </c:pt>
                <c:pt idx="258">
                  <c:v>2011-07</c:v>
                </c:pt>
                <c:pt idx="259">
                  <c:v>2011-08</c:v>
                </c:pt>
                <c:pt idx="260">
                  <c:v>2011-09</c:v>
                </c:pt>
                <c:pt idx="261">
                  <c:v>2011-10</c:v>
                </c:pt>
                <c:pt idx="262">
                  <c:v>2011-11</c:v>
                </c:pt>
                <c:pt idx="263">
                  <c:v>2011-12</c:v>
                </c:pt>
                <c:pt idx="264">
                  <c:v>2012-1</c:v>
                </c:pt>
              </c:strCache>
            </c:strRef>
          </c:cat>
          <c:val>
            <c:numRef>
              <c:f>'NM&amp;US'!$B$2:$B$266</c:f>
              <c:numCache>
                <c:formatCode>_(* #,##0_);_(* \(#,##0\);_(* "-"??_);_(@_)</c:formatCode>
                <c:ptCount val="265"/>
                <c:pt idx="0">
                  <c:v>572500</c:v>
                </c:pt>
                <c:pt idx="1">
                  <c:v>573300</c:v>
                </c:pt>
                <c:pt idx="2">
                  <c:v>575400</c:v>
                </c:pt>
                <c:pt idx="3">
                  <c:v>580100</c:v>
                </c:pt>
                <c:pt idx="4">
                  <c:v>581800</c:v>
                </c:pt>
                <c:pt idx="5">
                  <c:v>585800</c:v>
                </c:pt>
                <c:pt idx="6">
                  <c:v>581700</c:v>
                </c:pt>
                <c:pt idx="7">
                  <c:v>582000</c:v>
                </c:pt>
                <c:pt idx="8">
                  <c:v>581400</c:v>
                </c:pt>
                <c:pt idx="9">
                  <c:v>581600</c:v>
                </c:pt>
                <c:pt idx="10">
                  <c:v>586200</c:v>
                </c:pt>
                <c:pt idx="11">
                  <c:v>582500</c:v>
                </c:pt>
                <c:pt idx="12">
                  <c:v>582300</c:v>
                </c:pt>
                <c:pt idx="13">
                  <c:v>583100</c:v>
                </c:pt>
                <c:pt idx="14">
                  <c:v>582000</c:v>
                </c:pt>
                <c:pt idx="15">
                  <c:v>583300</c:v>
                </c:pt>
                <c:pt idx="16">
                  <c:v>583700</c:v>
                </c:pt>
                <c:pt idx="17">
                  <c:v>584300</c:v>
                </c:pt>
                <c:pt idx="18">
                  <c:v>587300</c:v>
                </c:pt>
                <c:pt idx="19">
                  <c:v>587500</c:v>
                </c:pt>
                <c:pt idx="20">
                  <c:v>589000</c:v>
                </c:pt>
                <c:pt idx="21">
                  <c:v>586300</c:v>
                </c:pt>
                <c:pt idx="22">
                  <c:v>587300</c:v>
                </c:pt>
                <c:pt idx="23">
                  <c:v>589200</c:v>
                </c:pt>
                <c:pt idx="24">
                  <c:v>591000</c:v>
                </c:pt>
                <c:pt idx="25">
                  <c:v>592000</c:v>
                </c:pt>
                <c:pt idx="26">
                  <c:v>593600</c:v>
                </c:pt>
                <c:pt idx="27">
                  <c:v>595700</c:v>
                </c:pt>
                <c:pt idx="28">
                  <c:v>597900</c:v>
                </c:pt>
                <c:pt idx="29">
                  <c:v>602200</c:v>
                </c:pt>
                <c:pt idx="30">
                  <c:v>603300</c:v>
                </c:pt>
                <c:pt idx="31">
                  <c:v>603900</c:v>
                </c:pt>
                <c:pt idx="32">
                  <c:v>605600</c:v>
                </c:pt>
                <c:pt idx="33">
                  <c:v>607700</c:v>
                </c:pt>
                <c:pt idx="34">
                  <c:v>613700</c:v>
                </c:pt>
                <c:pt idx="35">
                  <c:v>610600</c:v>
                </c:pt>
                <c:pt idx="36">
                  <c:v>611400</c:v>
                </c:pt>
                <c:pt idx="37">
                  <c:v>614200</c:v>
                </c:pt>
                <c:pt idx="38">
                  <c:v>616700</c:v>
                </c:pt>
                <c:pt idx="39">
                  <c:v>621200</c:v>
                </c:pt>
                <c:pt idx="40">
                  <c:v>621200</c:v>
                </c:pt>
                <c:pt idx="41">
                  <c:v>624300</c:v>
                </c:pt>
                <c:pt idx="42">
                  <c:v>625400</c:v>
                </c:pt>
                <c:pt idx="43">
                  <c:v>627700</c:v>
                </c:pt>
                <c:pt idx="44">
                  <c:v>632900</c:v>
                </c:pt>
                <c:pt idx="45">
                  <c:v>637700</c:v>
                </c:pt>
                <c:pt idx="46">
                  <c:v>638700</c:v>
                </c:pt>
                <c:pt idx="47">
                  <c:v>642300</c:v>
                </c:pt>
                <c:pt idx="48">
                  <c:v>642500</c:v>
                </c:pt>
                <c:pt idx="49">
                  <c:v>645200</c:v>
                </c:pt>
                <c:pt idx="50">
                  <c:v>647200</c:v>
                </c:pt>
                <c:pt idx="51">
                  <c:v>648900</c:v>
                </c:pt>
                <c:pt idx="52">
                  <c:v>650900</c:v>
                </c:pt>
                <c:pt idx="53">
                  <c:v>656200</c:v>
                </c:pt>
                <c:pt idx="54">
                  <c:v>661000</c:v>
                </c:pt>
                <c:pt idx="55">
                  <c:v>660400</c:v>
                </c:pt>
                <c:pt idx="56">
                  <c:v>663300</c:v>
                </c:pt>
                <c:pt idx="57">
                  <c:v>664700</c:v>
                </c:pt>
                <c:pt idx="58">
                  <c:v>671800</c:v>
                </c:pt>
                <c:pt idx="59">
                  <c:v>674300</c:v>
                </c:pt>
                <c:pt idx="60">
                  <c:v>677700</c:v>
                </c:pt>
                <c:pt idx="61">
                  <c:v>679500</c:v>
                </c:pt>
                <c:pt idx="62">
                  <c:v>679600</c:v>
                </c:pt>
                <c:pt idx="63">
                  <c:v>678500</c:v>
                </c:pt>
                <c:pt idx="64">
                  <c:v>680300</c:v>
                </c:pt>
                <c:pt idx="65">
                  <c:v>683500</c:v>
                </c:pt>
                <c:pt idx="66">
                  <c:v>681700</c:v>
                </c:pt>
                <c:pt idx="67">
                  <c:v>683800</c:v>
                </c:pt>
                <c:pt idx="68">
                  <c:v>685500</c:v>
                </c:pt>
                <c:pt idx="69">
                  <c:v>684700</c:v>
                </c:pt>
                <c:pt idx="70">
                  <c:v>686700</c:v>
                </c:pt>
                <c:pt idx="71">
                  <c:v>687600</c:v>
                </c:pt>
                <c:pt idx="72">
                  <c:v>688400</c:v>
                </c:pt>
                <c:pt idx="73">
                  <c:v>690000</c:v>
                </c:pt>
                <c:pt idx="74">
                  <c:v>689900</c:v>
                </c:pt>
                <c:pt idx="75">
                  <c:v>692500</c:v>
                </c:pt>
                <c:pt idx="76">
                  <c:v>693500</c:v>
                </c:pt>
                <c:pt idx="77">
                  <c:v>694400</c:v>
                </c:pt>
                <c:pt idx="78">
                  <c:v>695200</c:v>
                </c:pt>
                <c:pt idx="79">
                  <c:v>694400</c:v>
                </c:pt>
                <c:pt idx="80">
                  <c:v>696100</c:v>
                </c:pt>
                <c:pt idx="81">
                  <c:v>698400</c:v>
                </c:pt>
                <c:pt idx="82">
                  <c:v>700200</c:v>
                </c:pt>
                <c:pt idx="83">
                  <c:v>701800</c:v>
                </c:pt>
                <c:pt idx="84">
                  <c:v>699800</c:v>
                </c:pt>
                <c:pt idx="85">
                  <c:v>701600</c:v>
                </c:pt>
                <c:pt idx="86">
                  <c:v>701400</c:v>
                </c:pt>
                <c:pt idx="87">
                  <c:v>704300</c:v>
                </c:pt>
                <c:pt idx="88">
                  <c:v>706600</c:v>
                </c:pt>
                <c:pt idx="89">
                  <c:v>707800</c:v>
                </c:pt>
                <c:pt idx="90">
                  <c:v>710900</c:v>
                </c:pt>
                <c:pt idx="91">
                  <c:v>710700</c:v>
                </c:pt>
                <c:pt idx="92">
                  <c:v>711900</c:v>
                </c:pt>
                <c:pt idx="93">
                  <c:v>714100</c:v>
                </c:pt>
                <c:pt idx="94">
                  <c:v>716100</c:v>
                </c:pt>
                <c:pt idx="95">
                  <c:v>718000</c:v>
                </c:pt>
                <c:pt idx="96">
                  <c:v>716100</c:v>
                </c:pt>
                <c:pt idx="97">
                  <c:v>718300</c:v>
                </c:pt>
                <c:pt idx="98">
                  <c:v>718800</c:v>
                </c:pt>
                <c:pt idx="99">
                  <c:v>718700</c:v>
                </c:pt>
                <c:pt idx="100">
                  <c:v>720100</c:v>
                </c:pt>
                <c:pt idx="101">
                  <c:v>720800</c:v>
                </c:pt>
                <c:pt idx="102">
                  <c:v>720700</c:v>
                </c:pt>
                <c:pt idx="103">
                  <c:v>720300</c:v>
                </c:pt>
                <c:pt idx="104">
                  <c:v>721200</c:v>
                </c:pt>
                <c:pt idx="105">
                  <c:v>719400</c:v>
                </c:pt>
                <c:pt idx="106">
                  <c:v>721700</c:v>
                </c:pt>
                <c:pt idx="107">
                  <c:v>723300</c:v>
                </c:pt>
                <c:pt idx="108">
                  <c:v>724200</c:v>
                </c:pt>
                <c:pt idx="109">
                  <c:v>723600</c:v>
                </c:pt>
                <c:pt idx="110">
                  <c:v>724900</c:v>
                </c:pt>
                <c:pt idx="111">
                  <c:v>725800</c:v>
                </c:pt>
                <c:pt idx="112">
                  <c:v>727000</c:v>
                </c:pt>
                <c:pt idx="113">
                  <c:v>729500</c:v>
                </c:pt>
                <c:pt idx="114">
                  <c:v>730100</c:v>
                </c:pt>
                <c:pt idx="115">
                  <c:v>732700</c:v>
                </c:pt>
                <c:pt idx="116">
                  <c:v>734000</c:v>
                </c:pt>
                <c:pt idx="117">
                  <c:v>734600</c:v>
                </c:pt>
                <c:pt idx="118">
                  <c:v>735200</c:v>
                </c:pt>
                <c:pt idx="119">
                  <c:v>735200</c:v>
                </c:pt>
                <c:pt idx="120">
                  <c:v>735700</c:v>
                </c:pt>
                <c:pt idx="121">
                  <c:v>737500</c:v>
                </c:pt>
                <c:pt idx="122">
                  <c:v>740300</c:v>
                </c:pt>
                <c:pt idx="123">
                  <c:v>741600</c:v>
                </c:pt>
                <c:pt idx="124">
                  <c:v>743700</c:v>
                </c:pt>
                <c:pt idx="125">
                  <c:v>742600</c:v>
                </c:pt>
                <c:pt idx="126">
                  <c:v>745600</c:v>
                </c:pt>
                <c:pt idx="127">
                  <c:v>747400</c:v>
                </c:pt>
                <c:pt idx="128">
                  <c:v>748600</c:v>
                </c:pt>
                <c:pt idx="129">
                  <c:v>749000</c:v>
                </c:pt>
                <c:pt idx="130">
                  <c:v>752100</c:v>
                </c:pt>
                <c:pt idx="131">
                  <c:v>753900</c:v>
                </c:pt>
                <c:pt idx="132">
                  <c:v>752700</c:v>
                </c:pt>
                <c:pt idx="133">
                  <c:v>755000</c:v>
                </c:pt>
                <c:pt idx="134">
                  <c:v>757000</c:v>
                </c:pt>
                <c:pt idx="135">
                  <c:v>756600</c:v>
                </c:pt>
                <c:pt idx="136">
                  <c:v>758200</c:v>
                </c:pt>
                <c:pt idx="137">
                  <c:v>759300</c:v>
                </c:pt>
                <c:pt idx="138">
                  <c:v>758200</c:v>
                </c:pt>
                <c:pt idx="139">
                  <c:v>758900</c:v>
                </c:pt>
                <c:pt idx="140">
                  <c:v>759000</c:v>
                </c:pt>
                <c:pt idx="141">
                  <c:v>756600</c:v>
                </c:pt>
                <c:pt idx="142">
                  <c:v>757600</c:v>
                </c:pt>
                <c:pt idx="143">
                  <c:v>757600</c:v>
                </c:pt>
                <c:pt idx="144">
                  <c:v>760800</c:v>
                </c:pt>
                <c:pt idx="145">
                  <c:v>760500</c:v>
                </c:pt>
                <c:pt idx="146">
                  <c:v>762500</c:v>
                </c:pt>
                <c:pt idx="147">
                  <c:v>764400</c:v>
                </c:pt>
                <c:pt idx="148">
                  <c:v>765700</c:v>
                </c:pt>
                <c:pt idx="149">
                  <c:v>767200</c:v>
                </c:pt>
                <c:pt idx="150">
                  <c:v>767500</c:v>
                </c:pt>
                <c:pt idx="151">
                  <c:v>767900</c:v>
                </c:pt>
                <c:pt idx="152">
                  <c:v>769400</c:v>
                </c:pt>
                <c:pt idx="153">
                  <c:v>767400</c:v>
                </c:pt>
                <c:pt idx="154">
                  <c:v>769700</c:v>
                </c:pt>
                <c:pt idx="155">
                  <c:v>770800</c:v>
                </c:pt>
                <c:pt idx="156">
                  <c:v>771800</c:v>
                </c:pt>
                <c:pt idx="157">
                  <c:v>771800</c:v>
                </c:pt>
                <c:pt idx="158">
                  <c:v>771500</c:v>
                </c:pt>
                <c:pt idx="159">
                  <c:v>772500</c:v>
                </c:pt>
                <c:pt idx="160">
                  <c:v>773100</c:v>
                </c:pt>
                <c:pt idx="161">
                  <c:v>774700</c:v>
                </c:pt>
                <c:pt idx="162">
                  <c:v>776400</c:v>
                </c:pt>
                <c:pt idx="163">
                  <c:v>777500</c:v>
                </c:pt>
                <c:pt idx="164">
                  <c:v>777400</c:v>
                </c:pt>
                <c:pt idx="165">
                  <c:v>779100</c:v>
                </c:pt>
                <c:pt idx="166">
                  <c:v>780900</c:v>
                </c:pt>
                <c:pt idx="167">
                  <c:v>781700</c:v>
                </c:pt>
                <c:pt idx="168">
                  <c:v>782200</c:v>
                </c:pt>
                <c:pt idx="169">
                  <c:v>784200</c:v>
                </c:pt>
                <c:pt idx="170">
                  <c:v>785400</c:v>
                </c:pt>
                <c:pt idx="171">
                  <c:v>786400</c:v>
                </c:pt>
                <c:pt idx="172">
                  <c:v>788300</c:v>
                </c:pt>
                <c:pt idx="173">
                  <c:v>789500</c:v>
                </c:pt>
                <c:pt idx="174">
                  <c:v>791200</c:v>
                </c:pt>
                <c:pt idx="175">
                  <c:v>791300</c:v>
                </c:pt>
                <c:pt idx="176">
                  <c:v>790300</c:v>
                </c:pt>
                <c:pt idx="177">
                  <c:v>797200</c:v>
                </c:pt>
                <c:pt idx="178">
                  <c:v>798300</c:v>
                </c:pt>
                <c:pt idx="179">
                  <c:v>799900</c:v>
                </c:pt>
                <c:pt idx="180">
                  <c:v>798800</c:v>
                </c:pt>
                <c:pt idx="181">
                  <c:v>799800</c:v>
                </c:pt>
                <c:pt idx="182">
                  <c:v>800400</c:v>
                </c:pt>
                <c:pt idx="183">
                  <c:v>804800</c:v>
                </c:pt>
                <c:pt idx="184">
                  <c:v>805900</c:v>
                </c:pt>
                <c:pt idx="185">
                  <c:v>806500</c:v>
                </c:pt>
                <c:pt idx="186">
                  <c:v>809900</c:v>
                </c:pt>
                <c:pt idx="187">
                  <c:v>811700</c:v>
                </c:pt>
                <c:pt idx="188">
                  <c:v>813200</c:v>
                </c:pt>
                <c:pt idx="189">
                  <c:v>813700</c:v>
                </c:pt>
                <c:pt idx="190">
                  <c:v>817700</c:v>
                </c:pt>
                <c:pt idx="191">
                  <c:v>819000</c:v>
                </c:pt>
                <c:pt idx="192">
                  <c:v>821400</c:v>
                </c:pt>
                <c:pt idx="193">
                  <c:v>825600</c:v>
                </c:pt>
                <c:pt idx="194">
                  <c:v>828700</c:v>
                </c:pt>
                <c:pt idx="195">
                  <c:v>829100</c:v>
                </c:pt>
                <c:pt idx="196">
                  <c:v>831100</c:v>
                </c:pt>
                <c:pt idx="197">
                  <c:v>835300</c:v>
                </c:pt>
                <c:pt idx="198">
                  <c:v>833000</c:v>
                </c:pt>
                <c:pt idx="199">
                  <c:v>833900</c:v>
                </c:pt>
                <c:pt idx="200">
                  <c:v>836700</c:v>
                </c:pt>
                <c:pt idx="201">
                  <c:v>834700</c:v>
                </c:pt>
                <c:pt idx="202">
                  <c:v>837200</c:v>
                </c:pt>
                <c:pt idx="203">
                  <c:v>838500</c:v>
                </c:pt>
                <c:pt idx="204">
                  <c:v>837000</c:v>
                </c:pt>
                <c:pt idx="205">
                  <c:v>839900</c:v>
                </c:pt>
                <c:pt idx="206">
                  <c:v>844200</c:v>
                </c:pt>
                <c:pt idx="207">
                  <c:v>841000</c:v>
                </c:pt>
                <c:pt idx="208">
                  <c:v>841700</c:v>
                </c:pt>
                <c:pt idx="209">
                  <c:v>844100</c:v>
                </c:pt>
                <c:pt idx="210">
                  <c:v>843300</c:v>
                </c:pt>
                <c:pt idx="211">
                  <c:v>844400</c:v>
                </c:pt>
                <c:pt idx="212">
                  <c:v>845000</c:v>
                </c:pt>
                <c:pt idx="213">
                  <c:v>846400</c:v>
                </c:pt>
                <c:pt idx="214">
                  <c:v>847900</c:v>
                </c:pt>
                <c:pt idx="215">
                  <c:v>849300</c:v>
                </c:pt>
                <c:pt idx="216">
                  <c:v>841900</c:v>
                </c:pt>
                <c:pt idx="217">
                  <c:v>846300</c:v>
                </c:pt>
                <c:pt idx="218">
                  <c:v>847800</c:v>
                </c:pt>
                <c:pt idx="219">
                  <c:v>849700</c:v>
                </c:pt>
                <c:pt idx="220">
                  <c:v>851100</c:v>
                </c:pt>
                <c:pt idx="221">
                  <c:v>849600</c:v>
                </c:pt>
                <c:pt idx="222">
                  <c:v>847500</c:v>
                </c:pt>
                <c:pt idx="223">
                  <c:v>850300</c:v>
                </c:pt>
                <c:pt idx="224">
                  <c:v>852900</c:v>
                </c:pt>
                <c:pt idx="225">
                  <c:v>847200</c:v>
                </c:pt>
                <c:pt idx="226">
                  <c:v>841600</c:v>
                </c:pt>
                <c:pt idx="227">
                  <c:v>836600</c:v>
                </c:pt>
                <c:pt idx="228">
                  <c:v>824200</c:v>
                </c:pt>
                <c:pt idx="229">
                  <c:v>821000</c:v>
                </c:pt>
                <c:pt idx="230">
                  <c:v>816900</c:v>
                </c:pt>
                <c:pt idx="231">
                  <c:v>814900</c:v>
                </c:pt>
                <c:pt idx="232">
                  <c:v>814900</c:v>
                </c:pt>
                <c:pt idx="233">
                  <c:v>811000</c:v>
                </c:pt>
                <c:pt idx="234">
                  <c:v>808400</c:v>
                </c:pt>
                <c:pt idx="235">
                  <c:v>811100</c:v>
                </c:pt>
                <c:pt idx="236">
                  <c:v>810800</c:v>
                </c:pt>
                <c:pt idx="237">
                  <c:v>806400</c:v>
                </c:pt>
                <c:pt idx="238">
                  <c:v>803400</c:v>
                </c:pt>
                <c:pt idx="239">
                  <c:v>802900</c:v>
                </c:pt>
                <c:pt idx="240">
                  <c:v>796700</c:v>
                </c:pt>
                <c:pt idx="241">
                  <c:v>798800</c:v>
                </c:pt>
                <c:pt idx="242">
                  <c:v>801400</c:v>
                </c:pt>
                <c:pt idx="243">
                  <c:v>805800</c:v>
                </c:pt>
                <c:pt idx="244">
                  <c:v>808300</c:v>
                </c:pt>
                <c:pt idx="245">
                  <c:v>806600</c:v>
                </c:pt>
                <c:pt idx="246">
                  <c:v>804700</c:v>
                </c:pt>
                <c:pt idx="247">
                  <c:v>805000</c:v>
                </c:pt>
                <c:pt idx="248">
                  <c:v>803100</c:v>
                </c:pt>
                <c:pt idx="249">
                  <c:v>803500</c:v>
                </c:pt>
                <c:pt idx="250">
                  <c:v>800800</c:v>
                </c:pt>
                <c:pt idx="251">
                  <c:v>801400</c:v>
                </c:pt>
                <c:pt idx="252">
                  <c:v>795700</c:v>
                </c:pt>
                <c:pt idx="253">
                  <c:v>798700</c:v>
                </c:pt>
                <c:pt idx="254">
                  <c:v>800600</c:v>
                </c:pt>
                <c:pt idx="255">
                  <c:v>806000</c:v>
                </c:pt>
                <c:pt idx="256">
                  <c:v>806700</c:v>
                </c:pt>
                <c:pt idx="257">
                  <c:v>805900</c:v>
                </c:pt>
                <c:pt idx="258">
                  <c:v>803900</c:v>
                </c:pt>
                <c:pt idx="259">
                  <c:v>807700</c:v>
                </c:pt>
                <c:pt idx="260">
                  <c:v>808400</c:v>
                </c:pt>
                <c:pt idx="261">
                  <c:v>807000</c:v>
                </c:pt>
                <c:pt idx="262">
                  <c:v>803500</c:v>
                </c:pt>
                <c:pt idx="263">
                  <c:v>802900</c:v>
                </c:pt>
                <c:pt idx="264" formatCode="General">
                  <c:v>802100</c:v>
                </c:pt>
              </c:numCache>
            </c:numRef>
          </c:val>
        </c:ser>
        <c:marker val="1"/>
        <c:axId val="92829184"/>
        <c:axId val="92830720"/>
      </c:lineChart>
      <c:lineChart>
        <c:grouping val="standard"/>
        <c:ser>
          <c:idx val="1"/>
          <c:order val="1"/>
          <c:tx>
            <c:strRef>
              <c:f>'NM&amp;US'!$C$1</c:f>
              <c:strCache>
                <c:ptCount val="1"/>
                <c:pt idx="0">
                  <c:v>US</c:v>
                </c:pt>
              </c:strCache>
            </c:strRef>
          </c:tx>
          <c:marker>
            <c:symbol val="none"/>
          </c:marker>
          <c:cat>
            <c:strRef>
              <c:f>'NM&amp;US'!$A$2:$A$266</c:f>
              <c:strCache>
                <c:ptCount val="265"/>
                <c:pt idx="0">
                  <c:v>1990-01</c:v>
                </c:pt>
                <c:pt idx="1">
                  <c:v>1990-02</c:v>
                </c:pt>
                <c:pt idx="2">
                  <c:v>1990-03</c:v>
                </c:pt>
                <c:pt idx="3">
                  <c:v>1990-04</c:v>
                </c:pt>
                <c:pt idx="4">
                  <c:v>1990-05</c:v>
                </c:pt>
                <c:pt idx="5">
                  <c:v>1990-06</c:v>
                </c:pt>
                <c:pt idx="6">
                  <c:v>1990-07</c:v>
                </c:pt>
                <c:pt idx="7">
                  <c:v>1990-08</c:v>
                </c:pt>
                <c:pt idx="8">
                  <c:v>1990-09</c:v>
                </c:pt>
                <c:pt idx="9">
                  <c:v>1990-10</c:v>
                </c:pt>
                <c:pt idx="10">
                  <c:v>1990-11</c:v>
                </c:pt>
                <c:pt idx="11">
                  <c:v>1990-12</c:v>
                </c:pt>
                <c:pt idx="12">
                  <c:v>1991-01</c:v>
                </c:pt>
                <c:pt idx="13">
                  <c:v>1991-02</c:v>
                </c:pt>
                <c:pt idx="14">
                  <c:v>1991-03</c:v>
                </c:pt>
                <c:pt idx="15">
                  <c:v>1991-04</c:v>
                </c:pt>
                <c:pt idx="16">
                  <c:v>1991-05</c:v>
                </c:pt>
                <c:pt idx="17">
                  <c:v>1991-06</c:v>
                </c:pt>
                <c:pt idx="18">
                  <c:v>1991-07</c:v>
                </c:pt>
                <c:pt idx="19">
                  <c:v>1991-08</c:v>
                </c:pt>
                <c:pt idx="20">
                  <c:v>1991-09</c:v>
                </c:pt>
                <c:pt idx="21">
                  <c:v>1991-10</c:v>
                </c:pt>
                <c:pt idx="22">
                  <c:v>1991-11</c:v>
                </c:pt>
                <c:pt idx="23">
                  <c:v>1991-12</c:v>
                </c:pt>
                <c:pt idx="24">
                  <c:v>1992-01</c:v>
                </c:pt>
                <c:pt idx="25">
                  <c:v>1992-02</c:v>
                </c:pt>
                <c:pt idx="26">
                  <c:v>1992-03</c:v>
                </c:pt>
                <c:pt idx="27">
                  <c:v>1992-04</c:v>
                </c:pt>
                <c:pt idx="28">
                  <c:v>1992-05</c:v>
                </c:pt>
                <c:pt idx="29">
                  <c:v>1992-06</c:v>
                </c:pt>
                <c:pt idx="30">
                  <c:v>1992-07</c:v>
                </c:pt>
                <c:pt idx="31">
                  <c:v>1992-08</c:v>
                </c:pt>
                <c:pt idx="32">
                  <c:v>1992-09</c:v>
                </c:pt>
                <c:pt idx="33">
                  <c:v>1992-10</c:v>
                </c:pt>
                <c:pt idx="34">
                  <c:v>1992-11</c:v>
                </c:pt>
                <c:pt idx="35">
                  <c:v>1992-12</c:v>
                </c:pt>
                <c:pt idx="36">
                  <c:v>1993-01</c:v>
                </c:pt>
                <c:pt idx="37">
                  <c:v>1993-02</c:v>
                </c:pt>
                <c:pt idx="38">
                  <c:v>1993-03</c:v>
                </c:pt>
                <c:pt idx="39">
                  <c:v>1993-04</c:v>
                </c:pt>
                <c:pt idx="40">
                  <c:v>1993-05</c:v>
                </c:pt>
                <c:pt idx="41">
                  <c:v>1993-06</c:v>
                </c:pt>
                <c:pt idx="42">
                  <c:v>1993-07</c:v>
                </c:pt>
                <c:pt idx="43">
                  <c:v>1993-08</c:v>
                </c:pt>
                <c:pt idx="44">
                  <c:v>1993-09</c:v>
                </c:pt>
                <c:pt idx="45">
                  <c:v>1993-10</c:v>
                </c:pt>
                <c:pt idx="46">
                  <c:v>1993-11</c:v>
                </c:pt>
                <c:pt idx="47">
                  <c:v>1993-12</c:v>
                </c:pt>
                <c:pt idx="48">
                  <c:v>1994-01</c:v>
                </c:pt>
                <c:pt idx="49">
                  <c:v>1994-02</c:v>
                </c:pt>
                <c:pt idx="50">
                  <c:v>1994-03</c:v>
                </c:pt>
                <c:pt idx="51">
                  <c:v>1994-04</c:v>
                </c:pt>
                <c:pt idx="52">
                  <c:v>1994-05</c:v>
                </c:pt>
                <c:pt idx="53">
                  <c:v>1994-06</c:v>
                </c:pt>
                <c:pt idx="54">
                  <c:v>1994-07</c:v>
                </c:pt>
                <c:pt idx="55">
                  <c:v>1994-08</c:v>
                </c:pt>
                <c:pt idx="56">
                  <c:v>1994-09</c:v>
                </c:pt>
                <c:pt idx="57">
                  <c:v>1994-10</c:v>
                </c:pt>
                <c:pt idx="58">
                  <c:v>1994-11</c:v>
                </c:pt>
                <c:pt idx="59">
                  <c:v>1994-12</c:v>
                </c:pt>
                <c:pt idx="60">
                  <c:v>1995-01</c:v>
                </c:pt>
                <c:pt idx="61">
                  <c:v>1995-02</c:v>
                </c:pt>
                <c:pt idx="62">
                  <c:v>1995-03</c:v>
                </c:pt>
                <c:pt idx="63">
                  <c:v>1995-04</c:v>
                </c:pt>
                <c:pt idx="64">
                  <c:v>1995-05</c:v>
                </c:pt>
                <c:pt idx="65">
                  <c:v>1995-06</c:v>
                </c:pt>
                <c:pt idx="66">
                  <c:v>1995-07</c:v>
                </c:pt>
                <c:pt idx="67">
                  <c:v>1995-08</c:v>
                </c:pt>
                <c:pt idx="68">
                  <c:v>1995-09</c:v>
                </c:pt>
                <c:pt idx="69">
                  <c:v>1995-10</c:v>
                </c:pt>
                <c:pt idx="70">
                  <c:v>1995-11</c:v>
                </c:pt>
                <c:pt idx="71">
                  <c:v>1995-12</c:v>
                </c:pt>
                <c:pt idx="72">
                  <c:v>1996-01</c:v>
                </c:pt>
                <c:pt idx="73">
                  <c:v>1996-02</c:v>
                </c:pt>
                <c:pt idx="74">
                  <c:v>1996-03</c:v>
                </c:pt>
                <c:pt idx="75">
                  <c:v>1996-04</c:v>
                </c:pt>
                <c:pt idx="76">
                  <c:v>1996-05</c:v>
                </c:pt>
                <c:pt idx="77">
                  <c:v>1996-06</c:v>
                </c:pt>
                <c:pt idx="78">
                  <c:v>1996-07</c:v>
                </c:pt>
                <c:pt idx="79">
                  <c:v>1996-08</c:v>
                </c:pt>
                <c:pt idx="80">
                  <c:v>1996-09</c:v>
                </c:pt>
                <c:pt idx="81">
                  <c:v>1996-10</c:v>
                </c:pt>
                <c:pt idx="82">
                  <c:v>1996-11</c:v>
                </c:pt>
                <c:pt idx="83">
                  <c:v>1996-12</c:v>
                </c:pt>
                <c:pt idx="84">
                  <c:v>1997-01</c:v>
                </c:pt>
                <c:pt idx="85">
                  <c:v>1997-02</c:v>
                </c:pt>
                <c:pt idx="86">
                  <c:v>1997-03</c:v>
                </c:pt>
                <c:pt idx="87">
                  <c:v>1997-04</c:v>
                </c:pt>
                <c:pt idx="88">
                  <c:v>1997-05</c:v>
                </c:pt>
                <c:pt idx="89">
                  <c:v>1997-06</c:v>
                </c:pt>
                <c:pt idx="90">
                  <c:v>1997-07</c:v>
                </c:pt>
                <c:pt idx="91">
                  <c:v>1997-08</c:v>
                </c:pt>
                <c:pt idx="92">
                  <c:v>1997-09</c:v>
                </c:pt>
                <c:pt idx="93">
                  <c:v>1997-10</c:v>
                </c:pt>
                <c:pt idx="94">
                  <c:v>1997-11</c:v>
                </c:pt>
                <c:pt idx="95">
                  <c:v>1997-12</c:v>
                </c:pt>
                <c:pt idx="96">
                  <c:v>1998-01</c:v>
                </c:pt>
                <c:pt idx="97">
                  <c:v>1998-02</c:v>
                </c:pt>
                <c:pt idx="98">
                  <c:v>1998-03</c:v>
                </c:pt>
                <c:pt idx="99">
                  <c:v>1998-04</c:v>
                </c:pt>
                <c:pt idx="100">
                  <c:v>1998-05</c:v>
                </c:pt>
                <c:pt idx="101">
                  <c:v>1998-06</c:v>
                </c:pt>
                <c:pt idx="102">
                  <c:v>1998-07</c:v>
                </c:pt>
                <c:pt idx="103">
                  <c:v>1998-08</c:v>
                </c:pt>
                <c:pt idx="104">
                  <c:v>1998-09</c:v>
                </c:pt>
                <c:pt idx="105">
                  <c:v>1998-10</c:v>
                </c:pt>
                <c:pt idx="106">
                  <c:v>1998-11</c:v>
                </c:pt>
                <c:pt idx="107">
                  <c:v>1998-12</c:v>
                </c:pt>
                <c:pt idx="108">
                  <c:v>1999-01</c:v>
                </c:pt>
                <c:pt idx="109">
                  <c:v>1999-02</c:v>
                </c:pt>
                <c:pt idx="110">
                  <c:v>1999-03</c:v>
                </c:pt>
                <c:pt idx="111">
                  <c:v>1999-04</c:v>
                </c:pt>
                <c:pt idx="112">
                  <c:v>1999-05</c:v>
                </c:pt>
                <c:pt idx="113">
                  <c:v>1999-06</c:v>
                </c:pt>
                <c:pt idx="114">
                  <c:v>1999-07</c:v>
                </c:pt>
                <c:pt idx="115">
                  <c:v>1999-08</c:v>
                </c:pt>
                <c:pt idx="116">
                  <c:v>1999-09</c:v>
                </c:pt>
                <c:pt idx="117">
                  <c:v>1999-10</c:v>
                </c:pt>
                <c:pt idx="118">
                  <c:v>1999-11</c:v>
                </c:pt>
                <c:pt idx="119">
                  <c:v>1999-12</c:v>
                </c:pt>
                <c:pt idx="120">
                  <c:v>2000-01</c:v>
                </c:pt>
                <c:pt idx="121">
                  <c:v>2000-02</c:v>
                </c:pt>
                <c:pt idx="122">
                  <c:v>2000-03</c:v>
                </c:pt>
                <c:pt idx="123">
                  <c:v>2000-04</c:v>
                </c:pt>
                <c:pt idx="124">
                  <c:v>2000-05</c:v>
                </c:pt>
                <c:pt idx="125">
                  <c:v>2000-06</c:v>
                </c:pt>
                <c:pt idx="126">
                  <c:v>2000-07</c:v>
                </c:pt>
                <c:pt idx="127">
                  <c:v>2000-08</c:v>
                </c:pt>
                <c:pt idx="128">
                  <c:v>2000-09</c:v>
                </c:pt>
                <c:pt idx="129">
                  <c:v>2000-10</c:v>
                </c:pt>
                <c:pt idx="130">
                  <c:v>2000-11</c:v>
                </c:pt>
                <c:pt idx="131">
                  <c:v>2000-12</c:v>
                </c:pt>
                <c:pt idx="132">
                  <c:v>2001-01</c:v>
                </c:pt>
                <c:pt idx="133">
                  <c:v>2001-02</c:v>
                </c:pt>
                <c:pt idx="134">
                  <c:v>2001-03</c:v>
                </c:pt>
                <c:pt idx="135">
                  <c:v>2001-04</c:v>
                </c:pt>
                <c:pt idx="136">
                  <c:v>2001-05</c:v>
                </c:pt>
                <c:pt idx="137">
                  <c:v>2001-06</c:v>
                </c:pt>
                <c:pt idx="138">
                  <c:v>2001-07</c:v>
                </c:pt>
                <c:pt idx="139">
                  <c:v>2001-08</c:v>
                </c:pt>
                <c:pt idx="140">
                  <c:v>2001-09</c:v>
                </c:pt>
                <c:pt idx="141">
                  <c:v>2001-10</c:v>
                </c:pt>
                <c:pt idx="142">
                  <c:v>2001-11</c:v>
                </c:pt>
                <c:pt idx="143">
                  <c:v>2001-12</c:v>
                </c:pt>
                <c:pt idx="144">
                  <c:v>2002-01</c:v>
                </c:pt>
                <c:pt idx="145">
                  <c:v>2002-02</c:v>
                </c:pt>
                <c:pt idx="146">
                  <c:v>2002-03</c:v>
                </c:pt>
                <c:pt idx="147">
                  <c:v>2002-04</c:v>
                </c:pt>
                <c:pt idx="148">
                  <c:v>2002-05</c:v>
                </c:pt>
                <c:pt idx="149">
                  <c:v>2002-06</c:v>
                </c:pt>
                <c:pt idx="150">
                  <c:v>2002-07</c:v>
                </c:pt>
                <c:pt idx="151">
                  <c:v>2002-08</c:v>
                </c:pt>
                <c:pt idx="152">
                  <c:v>2002-09</c:v>
                </c:pt>
                <c:pt idx="153">
                  <c:v>2002-10</c:v>
                </c:pt>
                <c:pt idx="154">
                  <c:v>2002-11</c:v>
                </c:pt>
                <c:pt idx="155">
                  <c:v>2002-12</c:v>
                </c:pt>
                <c:pt idx="156">
                  <c:v>2003-01</c:v>
                </c:pt>
                <c:pt idx="157">
                  <c:v>2003-02</c:v>
                </c:pt>
                <c:pt idx="158">
                  <c:v>2003-03</c:v>
                </c:pt>
                <c:pt idx="159">
                  <c:v>2003-04</c:v>
                </c:pt>
                <c:pt idx="160">
                  <c:v>2003-05</c:v>
                </c:pt>
                <c:pt idx="161">
                  <c:v>2003-06</c:v>
                </c:pt>
                <c:pt idx="162">
                  <c:v>2003-07</c:v>
                </c:pt>
                <c:pt idx="163">
                  <c:v>2003-08</c:v>
                </c:pt>
                <c:pt idx="164">
                  <c:v>2003-09</c:v>
                </c:pt>
                <c:pt idx="165">
                  <c:v>2003-10</c:v>
                </c:pt>
                <c:pt idx="166">
                  <c:v>2003-11</c:v>
                </c:pt>
                <c:pt idx="167">
                  <c:v>2003-12</c:v>
                </c:pt>
                <c:pt idx="168">
                  <c:v>2004-01</c:v>
                </c:pt>
                <c:pt idx="169">
                  <c:v>2004-02</c:v>
                </c:pt>
                <c:pt idx="170">
                  <c:v>2004-03</c:v>
                </c:pt>
                <c:pt idx="171">
                  <c:v>2004-04</c:v>
                </c:pt>
                <c:pt idx="172">
                  <c:v>2004-05</c:v>
                </c:pt>
                <c:pt idx="173">
                  <c:v>2004-06</c:v>
                </c:pt>
                <c:pt idx="174">
                  <c:v>2004-07</c:v>
                </c:pt>
                <c:pt idx="175">
                  <c:v>2004-08</c:v>
                </c:pt>
                <c:pt idx="176">
                  <c:v>2004-09</c:v>
                </c:pt>
                <c:pt idx="177">
                  <c:v>2004-10</c:v>
                </c:pt>
                <c:pt idx="178">
                  <c:v>2004-11</c:v>
                </c:pt>
                <c:pt idx="179">
                  <c:v>2004-12</c:v>
                </c:pt>
                <c:pt idx="180">
                  <c:v>2005-01</c:v>
                </c:pt>
                <c:pt idx="181">
                  <c:v>2005-02</c:v>
                </c:pt>
                <c:pt idx="182">
                  <c:v>2005-03</c:v>
                </c:pt>
                <c:pt idx="183">
                  <c:v>2005-04</c:v>
                </c:pt>
                <c:pt idx="184">
                  <c:v>2005-05</c:v>
                </c:pt>
                <c:pt idx="185">
                  <c:v>2005-06</c:v>
                </c:pt>
                <c:pt idx="186">
                  <c:v>2005-07</c:v>
                </c:pt>
                <c:pt idx="187">
                  <c:v>2005-08</c:v>
                </c:pt>
                <c:pt idx="188">
                  <c:v>2005-09</c:v>
                </c:pt>
                <c:pt idx="189">
                  <c:v>2005-10</c:v>
                </c:pt>
                <c:pt idx="190">
                  <c:v>2005-11</c:v>
                </c:pt>
                <c:pt idx="191">
                  <c:v>2005-12</c:v>
                </c:pt>
                <c:pt idx="192">
                  <c:v>2006-01</c:v>
                </c:pt>
                <c:pt idx="193">
                  <c:v>2006-02</c:v>
                </c:pt>
                <c:pt idx="194">
                  <c:v>2006-03</c:v>
                </c:pt>
                <c:pt idx="195">
                  <c:v>2006-04</c:v>
                </c:pt>
                <c:pt idx="196">
                  <c:v>2006-05</c:v>
                </c:pt>
                <c:pt idx="197">
                  <c:v>2006-06</c:v>
                </c:pt>
                <c:pt idx="198">
                  <c:v>2006-07</c:v>
                </c:pt>
                <c:pt idx="199">
                  <c:v>2006-08</c:v>
                </c:pt>
                <c:pt idx="200">
                  <c:v>2006-09</c:v>
                </c:pt>
                <c:pt idx="201">
                  <c:v>2006-10</c:v>
                </c:pt>
                <c:pt idx="202">
                  <c:v>2006-11</c:v>
                </c:pt>
                <c:pt idx="203">
                  <c:v>2006-12</c:v>
                </c:pt>
                <c:pt idx="204">
                  <c:v>2007-01</c:v>
                </c:pt>
                <c:pt idx="205">
                  <c:v>2007-02</c:v>
                </c:pt>
                <c:pt idx="206">
                  <c:v>2007-03</c:v>
                </c:pt>
                <c:pt idx="207">
                  <c:v>2007-04</c:v>
                </c:pt>
                <c:pt idx="208">
                  <c:v>2007-05</c:v>
                </c:pt>
                <c:pt idx="209">
                  <c:v>2007-06</c:v>
                </c:pt>
                <c:pt idx="210">
                  <c:v>2007-07</c:v>
                </c:pt>
                <c:pt idx="211">
                  <c:v>2007-08</c:v>
                </c:pt>
                <c:pt idx="212">
                  <c:v>2007-09</c:v>
                </c:pt>
                <c:pt idx="213">
                  <c:v>2007-10</c:v>
                </c:pt>
                <c:pt idx="214">
                  <c:v>2007-11</c:v>
                </c:pt>
                <c:pt idx="215">
                  <c:v>2007-12</c:v>
                </c:pt>
                <c:pt idx="216">
                  <c:v>2008-01</c:v>
                </c:pt>
                <c:pt idx="217">
                  <c:v>2008-02</c:v>
                </c:pt>
                <c:pt idx="218">
                  <c:v>2008-03</c:v>
                </c:pt>
                <c:pt idx="219">
                  <c:v>2008-04</c:v>
                </c:pt>
                <c:pt idx="220">
                  <c:v>2008-05</c:v>
                </c:pt>
                <c:pt idx="221">
                  <c:v>2008-06</c:v>
                </c:pt>
                <c:pt idx="222">
                  <c:v>2008-07</c:v>
                </c:pt>
                <c:pt idx="223">
                  <c:v>2008-08</c:v>
                </c:pt>
                <c:pt idx="224">
                  <c:v>2008-09</c:v>
                </c:pt>
                <c:pt idx="225">
                  <c:v>2008-10</c:v>
                </c:pt>
                <c:pt idx="226">
                  <c:v>2008-11</c:v>
                </c:pt>
                <c:pt idx="227">
                  <c:v>2008-12</c:v>
                </c:pt>
                <c:pt idx="228">
                  <c:v>2009-01</c:v>
                </c:pt>
                <c:pt idx="229">
                  <c:v>2009-02</c:v>
                </c:pt>
                <c:pt idx="230">
                  <c:v>2009-03</c:v>
                </c:pt>
                <c:pt idx="231">
                  <c:v>2009-04</c:v>
                </c:pt>
                <c:pt idx="232">
                  <c:v>2009-05</c:v>
                </c:pt>
                <c:pt idx="233">
                  <c:v>2009-06</c:v>
                </c:pt>
                <c:pt idx="234">
                  <c:v>2009-07</c:v>
                </c:pt>
                <c:pt idx="235">
                  <c:v>2009-08</c:v>
                </c:pt>
                <c:pt idx="236">
                  <c:v>2009-09</c:v>
                </c:pt>
                <c:pt idx="237">
                  <c:v>2009-10</c:v>
                </c:pt>
                <c:pt idx="238">
                  <c:v>2009-11</c:v>
                </c:pt>
                <c:pt idx="239">
                  <c:v>2009-12</c:v>
                </c:pt>
                <c:pt idx="240">
                  <c:v>2010-01</c:v>
                </c:pt>
                <c:pt idx="241">
                  <c:v>2010-02</c:v>
                </c:pt>
                <c:pt idx="242">
                  <c:v>2010-03</c:v>
                </c:pt>
                <c:pt idx="243">
                  <c:v>2010-04</c:v>
                </c:pt>
                <c:pt idx="244">
                  <c:v>2010-05</c:v>
                </c:pt>
                <c:pt idx="245">
                  <c:v>2010-06</c:v>
                </c:pt>
                <c:pt idx="246">
                  <c:v>2010-07</c:v>
                </c:pt>
                <c:pt idx="247">
                  <c:v>2010-08</c:v>
                </c:pt>
                <c:pt idx="248">
                  <c:v>2010-09</c:v>
                </c:pt>
                <c:pt idx="249">
                  <c:v>2010-10</c:v>
                </c:pt>
                <c:pt idx="250">
                  <c:v>2010-11</c:v>
                </c:pt>
                <c:pt idx="251">
                  <c:v>2010-12</c:v>
                </c:pt>
                <c:pt idx="252">
                  <c:v>2011-01</c:v>
                </c:pt>
                <c:pt idx="253">
                  <c:v>2011-02</c:v>
                </c:pt>
                <c:pt idx="254">
                  <c:v>2011-03</c:v>
                </c:pt>
                <c:pt idx="255">
                  <c:v>2011-04</c:v>
                </c:pt>
                <c:pt idx="256">
                  <c:v>2011-05</c:v>
                </c:pt>
                <c:pt idx="257">
                  <c:v>2011-06</c:v>
                </c:pt>
                <c:pt idx="258">
                  <c:v>2011-07</c:v>
                </c:pt>
                <c:pt idx="259">
                  <c:v>2011-08</c:v>
                </c:pt>
                <c:pt idx="260">
                  <c:v>2011-09</c:v>
                </c:pt>
                <c:pt idx="261">
                  <c:v>2011-10</c:v>
                </c:pt>
                <c:pt idx="262">
                  <c:v>2011-11</c:v>
                </c:pt>
                <c:pt idx="263">
                  <c:v>2011-12</c:v>
                </c:pt>
                <c:pt idx="264">
                  <c:v>2012-1</c:v>
                </c:pt>
              </c:strCache>
            </c:strRef>
          </c:cat>
          <c:val>
            <c:numRef>
              <c:f>'NM&amp;US'!$C$2:$C$266</c:f>
              <c:numCache>
                <c:formatCode>_(* #,##0_);_(* \(#,##0\);_(* "-"??_);_(@_)</c:formatCode>
                <c:ptCount val="265"/>
                <c:pt idx="0">
                  <c:v>109151</c:v>
                </c:pt>
                <c:pt idx="1">
                  <c:v>109396</c:v>
                </c:pt>
                <c:pt idx="2">
                  <c:v>109611</c:v>
                </c:pt>
                <c:pt idx="3">
                  <c:v>109651</c:v>
                </c:pt>
                <c:pt idx="4">
                  <c:v>109800</c:v>
                </c:pt>
                <c:pt idx="5">
                  <c:v>109817</c:v>
                </c:pt>
                <c:pt idx="6">
                  <c:v>109775</c:v>
                </c:pt>
                <c:pt idx="7">
                  <c:v>109567</c:v>
                </c:pt>
                <c:pt idx="8">
                  <c:v>109485</c:v>
                </c:pt>
                <c:pt idx="9">
                  <c:v>109324</c:v>
                </c:pt>
                <c:pt idx="10">
                  <c:v>109180</c:v>
                </c:pt>
                <c:pt idx="11">
                  <c:v>109120</c:v>
                </c:pt>
                <c:pt idx="12">
                  <c:v>109001</c:v>
                </c:pt>
                <c:pt idx="13">
                  <c:v>108695</c:v>
                </c:pt>
                <c:pt idx="14">
                  <c:v>108535</c:v>
                </c:pt>
                <c:pt idx="15">
                  <c:v>108324</c:v>
                </c:pt>
                <c:pt idx="16">
                  <c:v>108196</c:v>
                </c:pt>
                <c:pt idx="17">
                  <c:v>108283</c:v>
                </c:pt>
                <c:pt idx="18">
                  <c:v>108236</c:v>
                </c:pt>
                <c:pt idx="19">
                  <c:v>108251</c:v>
                </c:pt>
                <c:pt idx="20">
                  <c:v>108286</c:v>
                </c:pt>
                <c:pt idx="21">
                  <c:v>108298</c:v>
                </c:pt>
                <c:pt idx="22">
                  <c:v>108240</c:v>
                </c:pt>
                <c:pt idx="23">
                  <c:v>108263</c:v>
                </c:pt>
                <c:pt idx="24">
                  <c:v>108312</c:v>
                </c:pt>
                <c:pt idx="25">
                  <c:v>108246</c:v>
                </c:pt>
                <c:pt idx="26">
                  <c:v>108296</c:v>
                </c:pt>
                <c:pt idx="27">
                  <c:v>108454</c:v>
                </c:pt>
                <c:pt idx="28">
                  <c:v>108580</c:v>
                </c:pt>
                <c:pt idx="29">
                  <c:v>108640</c:v>
                </c:pt>
                <c:pt idx="30">
                  <c:v>108711</c:v>
                </c:pt>
                <c:pt idx="31">
                  <c:v>108852</c:v>
                </c:pt>
                <c:pt idx="32">
                  <c:v>108887</c:v>
                </c:pt>
                <c:pt idx="33">
                  <c:v>109064</c:v>
                </c:pt>
                <c:pt idx="34">
                  <c:v>109204</c:v>
                </c:pt>
                <c:pt idx="35">
                  <c:v>109415</c:v>
                </c:pt>
                <c:pt idx="36">
                  <c:v>109725</c:v>
                </c:pt>
                <c:pt idx="37">
                  <c:v>109967</c:v>
                </c:pt>
                <c:pt idx="38">
                  <c:v>109916</c:v>
                </c:pt>
                <c:pt idx="39">
                  <c:v>110225</c:v>
                </c:pt>
                <c:pt idx="40">
                  <c:v>110490</c:v>
                </c:pt>
                <c:pt idx="41">
                  <c:v>110663</c:v>
                </c:pt>
                <c:pt idx="42">
                  <c:v>110958</c:v>
                </c:pt>
                <c:pt idx="43">
                  <c:v>111119</c:v>
                </c:pt>
                <c:pt idx="44">
                  <c:v>111360</c:v>
                </c:pt>
                <c:pt idx="45">
                  <c:v>111637</c:v>
                </c:pt>
                <c:pt idx="46">
                  <c:v>111898</c:v>
                </c:pt>
                <c:pt idx="47">
                  <c:v>112206</c:v>
                </c:pt>
                <c:pt idx="48">
                  <c:v>112474</c:v>
                </c:pt>
                <c:pt idx="49">
                  <c:v>112675</c:v>
                </c:pt>
                <c:pt idx="50">
                  <c:v>113137</c:v>
                </c:pt>
                <c:pt idx="51">
                  <c:v>113490</c:v>
                </c:pt>
                <c:pt idx="52">
                  <c:v>113821</c:v>
                </c:pt>
                <c:pt idx="53">
                  <c:v>114136</c:v>
                </c:pt>
                <c:pt idx="54">
                  <c:v>114499</c:v>
                </c:pt>
                <c:pt idx="55">
                  <c:v>114799</c:v>
                </c:pt>
                <c:pt idx="56">
                  <c:v>115153</c:v>
                </c:pt>
                <c:pt idx="57">
                  <c:v>115360</c:v>
                </c:pt>
                <c:pt idx="58">
                  <c:v>115783</c:v>
                </c:pt>
                <c:pt idx="59">
                  <c:v>116057</c:v>
                </c:pt>
                <c:pt idx="60">
                  <c:v>116378</c:v>
                </c:pt>
                <c:pt idx="61">
                  <c:v>116587</c:v>
                </c:pt>
                <c:pt idx="62">
                  <c:v>116809</c:v>
                </c:pt>
                <c:pt idx="63">
                  <c:v>116971</c:v>
                </c:pt>
                <c:pt idx="64">
                  <c:v>116955</c:v>
                </c:pt>
                <c:pt idx="65">
                  <c:v>117186</c:v>
                </c:pt>
                <c:pt idx="66">
                  <c:v>117265</c:v>
                </c:pt>
                <c:pt idx="67">
                  <c:v>117536</c:v>
                </c:pt>
                <c:pt idx="68">
                  <c:v>117781</c:v>
                </c:pt>
                <c:pt idx="69">
                  <c:v>117928</c:v>
                </c:pt>
                <c:pt idx="70">
                  <c:v>118076</c:v>
                </c:pt>
                <c:pt idx="71">
                  <c:v>118207</c:v>
                </c:pt>
                <c:pt idx="72">
                  <c:v>118188</c:v>
                </c:pt>
                <c:pt idx="73">
                  <c:v>118622</c:v>
                </c:pt>
                <c:pt idx="74">
                  <c:v>118885</c:v>
                </c:pt>
                <c:pt idx="75">
                  <c:v>119046</c:v>
                </c:pt>
                <c:pt idx="76">
                  <c:v>119369</c:v>
                </c:pt>
                <c:pt idx="77">
                  <c:v>119647</c:v>
                </c:pt>
                <c:pt idx="78">
                  <c:v>119879</c:v>
                </c:pt>
                <c:pt idx="79">
                  <c:v>120075</c:v>
                </c:pt>
                <c:pt idx="80">
                  <c:v>120295</c:v>
                </c:pt>
                <c:pt idx="81">
                  <c:v>120538</c:v>
                </c:pt>
                <c:pt idx="82">
                  <c:v>120834</c:v>
                </c:pt>
                <c:pt idx="83">
                  <c:v>121001</c:v>
                </c:pt>
                <c:pt idx="84">
                  <c:v>121231</c:v>
                </c:pt>
                <c:pt idx="85">
                  <c:v>121532</c:v>
                </c:pt>
                <c:pt idx="86">
                  <c:v>121844</c:v>
                </c:pt>
                <c:pt idx="87">
                  <c:v>122135</c:v>
                </c:pt>
                <c:pt idx="88">
                  <c:v>122391</c:v>
                </c:pt>
                <c:pt idx="89">
                  <c:v>122644</c:v>
                </c:pt>
                <c:pt idx="90">
                  <c:v>122927</c:v>
                </c:pt>
                <c:pt idx="91">
                  <c:v>122909</c:v>
                </c:pt>
                <c:pt idx="92">
                  <c:v>123417</c:v>
                </c:pt>
                <c:pt idx="93">
                  <c:v>123756</c:v>
                </c:pt>
                <c:pt idx="94">
                  <c:v>124059</c:v>
                </c:pt>
                <c:pt idx="95">
                  <c:v>124358</c:v>
                </c:pt>
                <c:pt idx="96">
                  <c:v>124628</c:v>
                </c:pt>
                <c:pt idx="97">
                  <c:v>124817</c:v>
                </c:pt>
                <c:pt idx="98">
                  <c:v>124961</c:v>
                </c:pt>
                <c:pt idx="99">
                  <c:v>125238</c:v>
                </c:pt>
                <c:pt idx="100">
                  <c:v>125639</c:v>
                </c:pt>
                <c:pt idx="101">
                  <c:v>125851</c:v>
                </c:pt>
                <c:pt idx="102">
                  <c:v>125970</c:v>
                </c:pt>
                <c:pt idx="103">
                  <c:v>126322</c:v>
                </c:pt>
                <c:pt idx="104">
                  <c:v>126540</c:v>
                </c:pt>
                <c:pt idx="105">
                  <c:v>126733</c:v>
                </c:pt>
                <c:pt idx="106">
                  <c:v>127017</c:v>
                </c:pt>
                <c:pt idx="107">
                  <c:v>127359</c:v>
                </c:pt>
                <c:pt idx="108">
                  <c:v>127480</c:v>
                </c:pt>
                <c:pt idx="109">
                  <c:v>127890</c:v>
                </c:pt>
                <c:pt idx="110">
                  <c:v>127996</c:v>
                </c:pt>
                <c:pt idx="111">
                  <c:v>128372</c:v>
                </c:pt>
                <c:pt idx="112">
                  <c:v>128585</c:v>
                </c:pt>
                <c:pt idx="113">
                  <c:v>128851</c:v>
                </c:pt>
                <c:pt idx="114">
                  <c:v>129142</c:v>
                </c:pt>
                <c:pt idx="115">
                  <c:v>129334</c:v>
                </c:pt>
                <c:pt idx="116">
                  <c:v>129536</c:v>
                </c:pt>
                <c:pt idx="117">
                  <c:v>129944</c:v>
                </c:pt>
                <c:pt idx="118">
                  <c:v>130238</c:v>
                </c:pt>
                <c:pt idx="119">
                  <c:v>130532</c:v>
                </c:pt>
                <c:pt idx="120">
                  <c:v>130781</c:v>
                </c:pt>
                <c:pt idx="121">
                  <c:v>130902</c:v>
                </c:pt>
                <c:pt idx="122">
                  <c:v>131374</c:v>
                </c:pt>
                <c:pt idx="123">
                  <c:v>131660</c:v>
                </c:pt>
                <c:pt idx="124">
                  <c:v>131885</c:v>
                </c:pt>
                <c:pt idx="125">
                  <c:v>131839</c:v>
                </c:pt>
                <c:pt idx="126">
                  <c:v>132002</c:v>
                </c:pt>
                <c:pt idx="127">
                  <c:v>132005</c:v>
                </c:pt>
                <c:pt idx="128">
                  <c:v>132127</c:v>
                </c:pt>
                <c:pt idx="129">
                  <c:v>132116</c:v>
                </c:pt>
                <c:pt idx="130">
                  <c:v>132347</c:v>
                </c:pt>
                <c:pt idx="131">
                  <c:v>132485</c:v>
                </c:pt>
                <c:pt idx="132">
                  <c:v>132469</c:v>
                </c:pt>
                <c:pt idx="133">
                  <c:v>132530</c:v>
                </c:pt>
                <c:pt idx="134">
                  <c:v>132500</c:v>
                </c:pt>
                <c:pt idx="135">
                  <c:v>132219</c:v>
                </c:pt>
                <c:pt idx="136">
                  <c:v>132175</c:v>
                </c:pt>
                <c:pt idx="137">
                  <c:v>132047</c:v>
                </c:pt>
                <c:pt idx="138">
                  <c:v>131922</c:v>
                </c:pt>
                <c:pt idx="139">
                  <c:v>131762</c:v>
                </c:pt>
                <c:pt idx="140">
                  <c:v>131518</c:v>
                </c:pt>
                <c:pt idx="141">
                  <c:v>131193</c:v>
                </c:pt>
                <c:pt idx="142">
                  <c:v>130901</c:v>
                </c:pt>
                <c:pt idx="143">
                  <c:v>130723</c:v>
                </c:pt>
                <c:pt idx="144" formatCode="#0">
                  <c:v>130591</c:v>
                </c:pt>
                <c:pt idx="145" formatCode="#0">
                  <c:v>130445</c:v>
                </c:pt>
                <c:pt idx="146" formatCode="#0">
                  <c:v>130421</c:v>
                </c:pt>
                <c:pt idx="147" formatCode="#0">
                  <c:v>130337</c:v>
                </c:pt>
                <c:pt idx="148" formatCode="#0">
                  <c:v>130328</c:v>
                </c:pt>
                <c:pt idx="149" formatCode="#0">
                  <c:v>130375</c:v>
                </c:pt>
                <c:pt idx="150" formatCode="#0">
                  <c:v>130275</c:v>
                </c:pt>
                <c:pt idx="151" formatCode="#0">
                  <c:v>130264</c:v>
                </c:pt>
                <c:pt idx="152" formatCode="#0">
                  <c:v>130209</c:v>
                </c:pt>
                <c:pt idx="153" formatCode="#0">
                  <c:v>130330</c:v>
                </c:pt>
                <c:pt idx="154" formatCode="#0">
                  <c:v>130338</c:v>
                </c:pt>
                <c:pt idx="155" formatCode="#0">
                  <c:v>130175</c:v>
                </c:pt>
                <c:pt idx="156" formatCode="#0">
                  <c:v>130270</c:v>
                </c:pt>
                <c:pt idx="157" formatCode="#0">
                  <c:v>130111</c:v>
                </c:pt>
                <c:pt idx="158" formatCode="#0">
                  <c:v>129898</c:v>
                </c:pt>
                <c:pt idx="159" formatCode="#0">
                  <c:v>129849</c:v>
                </c:pt>
                <c:pt idx="160" formatCode="#0">
                  <c:v>129840</c:v>
                </c:pt>
                <c:pt idx="161" formatCode="#0">
                  <c:v>129840</c:v>
                </c:pt>
                <c:pt idx="162" formatCode="#0">
                  <c:v>129865</c:v>
                </c:pt>
                <c:pt idx="163" formatCode="#0">
                  <c:v>129820</c:v>
                </c:pt>
                <c:pt idx="164" formatCode="#0">
                  <c:v>129929</c:v>
                </c:pt>
                <c:pt idx="165" formatCode="#0">
                  <c:v>130126</c:v>
                </c:pt>
                <c:pt idx="166" formatCode="#0">
                  <c:v>130140</c:v>
                </c:pt>
                <c:pt idx="167" formatCode="#0">
                  <c:v>130259</c:v>
                </c:pt>
                <c:pt idx="168" formatCode="#0">
                  <c:v>130421</c:v>
                </c:pt>
                <c:pt idx="169" formatCode="#0">
                  <c:v>130465</c:v>
                </c:pt>
                <c:pt idx="170" formatCode="#0">
                  <c:v>130802</c:v>
                </c:pt>
                <c:pt idx="171" formatCode="#0">
                  <c:v>131051</c:v>
                </c:pt>
                <c:pt idx="172" formatCode="#0">
                  <c:v>131361</c:v>
                </c:pt>
                <c:pt idx="173" formatCode="#0">
                  <c:v>131442</c:v>
                </c:pt>
                <c:pt idx="174" formatCode="#0">
                  <c:v>131488</c:v>
                </c:pt>
                <c:pt idx="175" formatCode="#0">
                  <c:v>131610</c:v>
                </c:pt>
                <c:pt idx="176" formatCode="#0">
                  <c:v>131771</c:v>
                </c:pt>
                <c:pt idx="177" formatCode="#0">
                  <c:v>132119</c:v>
                </c:pt>
                <c:pt idx="178" formatCode="#0">
                  <c:v>132182</c:v>
                </c:pt>
                <c:pt idx="179" formatCode="#0">
                  <c:v>132316</c:v>
                </c:pt>
                <c:pt idx="180" formatCode="#0">
                  <c:v>132453</c:v>
                </c:pt>
                <c:pt idx="181" formatCode="#0">
                  <c:v>132693</c:v>
                </c:pt>
                <c:pt idx="182" formatCode="#0">
                  <c:v>132834</c:v>
                </c:pt>
                <c:pt idx="183" formatCode="#0">
                  <c:v>133194</c:v>
                </c:pt>
                <c:pt idx="184" formatCode="#0">
                  <c:v>133364</c:v>
                </c:pt>
                <c:pt idx="185" formatCode="#0">
                  <c:v>133607</c:v>
                </c:pt>
                <c:pt idx="186" formatCode="#0">
                  <c:v>133981</c:v>
                </c:pt>
                <c:pt idx="187" formatCode="#0">
                  <c:v>134174</c:v>
                </c:pt>
                <c:pt idx="188" formatCode="#0">
                  <c:v>134240</c:v>
                </c:pt>
                <c:pt idx="189" formatCode="#0">
                  <c:v>134320</c:v>
                </c:pt>
                <c:pt idx="190" formatCode="#0">
                  <c:v>134654</c:v>
                </c:pt>
                <c:pt idx="191" formatCode="#0">
                  <c:v>134814</c:v>
                </c:pt>
                <c:pt idx="192" formatCode="#0">
                  <c:v>135097</c:v>
                </c:pt>
                <c:pt idx="193" formatCode="#0">
                  <c:v>135413</c:v>
                </c:pt>
                <c:pt idx="194" formatCode="#0">
                  <c:v>135696</c:v>
                </c:pt>
                <c:pt idx="195" formatCode="#0">
                  <c:v>135877</c:v>
                </c:pt>
                <c:pt idx="196" formatCode="#0">
                  <c:v>135891</c:v>
                </c:pt>
                <c:pt idx="197" formatCode="#0">
                  <c:v>135967</c:v>
                </c:pt>
                <c:pt idx="198" formatCode="#0">
                  <c:v>136176</c:v>
                </c:pt>
                <c:pt idx="199" formatCode="#0">
                  <c:v>136359</c:v>
                </c:pt>
                <c:pt idx="200" formatCode="#0">
                  <c:v>136516</c:v>
                </c:pt>
                <c:pt idx="201" formatCode="#0">
                  <c:v>136507</c:v>
                </c:pt>
                <c:pt idx="202" formatCode="#0">
                  <c:v>136711</c:v>
                </c:pt>
                <c:pt idx="203" formatCode="#0">
                  <c:v>136882</c:v>
                </c:pt>
                <c:pt idx="204" formatCode="#0">
                  <c:v>137118</c:v>
                </c:pt>
                <c:pt idx="205" formatCode="#0">
                  <c:v>137211</c:v>
                </c:pt>
                <c:pt idx="206" formatCode="#0">
                  <c:v>137401</c:v>
                </c:pt>
                <c:pt idx="207" formatCode="#0">
                  <c:v>137473</c:v>
                </c:pt>
                <c:pt idx="208" formatCode="#0">
                  <c:v>137612</c:v>
                </c:pt>
                <c:pt idx="209" formatCode="#0">
                  <c:v>137687</c:v>
                </c:pt>
                <c:pt idx="210" formatCode="#0">
                  <c:v>137647</c:v>
                </c:pt>
                <c:pt idx="211" formatCode="#0">
                  <c:v>137629</c:v>
                </c:pt>
                <c:pt idx="212" formatCode="#0">
                  <c:v>137702</c:v>
                </c:pt>
                <c:pt idx="213" formatCode="#0">
                  <c:v>137781</c:v>
                </c:pt>
                <c:pt idx="214" formatCode="#0">
                  <c:v>137893</c:v>
                </c:pt>
                <c:pt idx="215" formatCode="#0">
                  <c:v>137982</c:v>
                </c:pt>
                <c:pt idx="216" formatCode="#0">
                  <c:v>138023</c:v>
                </c:pt>
                <c:pt idx="217" formatCode="#0">
                  <c:v>137939</c:v>
                </c:pt>
                <c:pt idx="218" formatCode="#0">
                  <c:v>137844</c:v>
                </c:pt>
                <c:pt idx="219" formatCode="#0">
                  <c:v>137636</c:v>
                </c:pt>
                <c:pt idx="220" formatCode="#0">
                  <c:v>137446</c:v>
                </c:pt>
                <c:pt idx="221" formatCode="#0">
                  <c:v>137248</c:v>
                </c:pt>
                <c:pt idx="222" formatCode="#0">
                  <c:v>137038</c:v>
                </c:pt>
                <c:pt idx="223" formatCode="#0">
                  <c:v>136764</c:v>
                </c:pt>
                <c:pt idx="224" formatCode="#0">
                  <c:v>136332</c:v>
                </c:pt>
                <c:pt idx="225" formatCode="#0">
                  <c:v>135843</c:v>
                </c:pt>
                <c:pt idx="226" formatCode="#0">
                  <c:v>135040</c:v>
                </c:pt>
                <c:pt idx="227" formatCode="#0">
                  <c:v>134379</c:v>
                </c:pt>
                <c:pt idx="228" formatCode="#0">
                  <c:v>133561</c:v>
                </c:pt>
                <c:pt idx="229" formatCode="#0">
                  <c:v>132837</c:v>
                </c:pt>
                <c:pt idx="230" formatCode="#0">
                  <c:v>132038</c:v>
                </c:pt>
                <c:pt idx="231" formatCode="#0">
                  <c:v>131346</c:v>
                </c:pt>
                <c:pt idx="232" formatCode="#0">
                  <c:v>130985</c:v>
                </c:pt>
                <c:pt idx="233" formatCode="#0">
                  <c:v>130503</c:v>
                </c:pt>
                <c:pt idx="234" formatCode="#0">
                  <c:v>130164</c:v>
                </c:pt>
                <c:pt idx="235" formatCode="#0">
                  <c:v>129933</c:v>
                </c:pt>
                <c:pt idx="236" formatCode="#0">
                  <c:v>129734</c:v>
                </c:pt>
                <c:pt idx="237" formatCode="#0">
                  <c:v>129532</c:v>
                </c:pt>
                <c:pt idx="238" formatCode="#0">
                  <c:v>129490</c:v>
                </c:pt>
                <c:pt idx="239" formatCode="#0">
                  <c:v>129319</c:v>
                </c:pt>
                <c:pt idx="240" formatCode="#0">
                  <c:v>129279</c:v>
                </c:pt>
                <c:pt idx="241" formatCode="#0">
                  <c:v>129244</c:v>
                </c:pt>
                <c:pt idx="242" formatCode="#0">
                  <c:v>129433</c:v>
                </c:pt>
                <c:pt idx="243" formatCode="#0">
                  <c:v>129672</c:v>
                </c:pt>
                <c:pt idx="244" formatCode="#0">
                  <c:v>130188</c:v>
                </c:pt>
                <c:pt idx="245" formatCode="#0">
                  <c:v>130021</c:v>
                </c:pt>
                <c:pt idx="246" formatCode="#0">
                  <c:v>129963</c:v>
                </c:pt>
                <c:pt idx="247" formatCode="#0">
                  <c:v>129912</c:v>
                </c:pt>
                <c:pt idx="248" formatCode="#0">
                  <c:v>129885</c:v>
                </c:pt>
                <c:pt idx="249" formatCode="#0">
                  <c:v>130105</c:v>
                </c:pt>
                <c:pt idx="250" formatCode="#0">
                  <c:v>130226</c:v>
                </c:pt>
                <c:pt idx="251" formatCode="#0">
                  <c:v>130346</c:v>
                </c:pt>
                <c:pt idx="252" formatCode="#0">
                  <c:v>130456</c:v>
                </c:pt>
                <c:pt idx="253" formatCode="#0">
                  <c:v>130676</c:v>
                </c:pt>
                <c:pt idx="254" formatCode="#0">
                  <c:v>130922</c:v>
                </c:pt>
                <c:pt idx="255" formatCode="#0">
                  <c:v>131173</c:v>
                </c:pt>
                <c:pt idx="256" formatCode="#0">
                  <c:v>131227</c:v>
                </c:pt>
                <c:pt idx="257" formatCode="#0">
                  <c:v>131311</c:v>
                </c:pt>
                <c:pt idx="258" formatCode="#0">
                  <c:v>131407</c:v>
                </c:pt>
                <c:pt idx="259" formatCode="#0">
                  <c:v>131492</c:v>
                </c:pt>
                <c:pt idx="260" formatCode="#0">
                  <c:v>131694</c:v>
                </c:pt>
                <c:pt idx="261" formatCode="#0">
                  <c:v>131806</c:v>
                </c:pt>
                <c:pt idx="262" formatCode="#0">
                  <c:v>131963</c:v>
                </c:pt>
                <c:pt idx="263" formatCode="#0">
                  <c:v>132186</c:v>
                </c:pt>
                <c:pt idx="264" formatCode="#0">
                  <c:v>132470</c:v>
                </c:pt>
              </c:numCache>
            </c:numRef>
          </c:val>
        </c:ser>
        <c:marker val="1"/>
        <c:axId val="92846336"/>
        <c:axId val="92844800"/>
      </c:lineChart>
      <c:dateAx>
        <c:axId val="92829184"/>
        <c:scaling>
          <c:orientation val="minMax"/>
        </c:scaling>
        <c:axPos val="b"/>
        <c:numFmt formatCode="mmm\-yy" sourceLinked="1"/>
        <c:tickLblPos val="nextTo"/>
        <c:txPr>
          <a:bodyPr/>
          <a:lstStyle/>
          <a:p>
            <a:pPr>
              <a:defRPr baseline="0">
                <a:latin typeface="Arial Narrow" pitchFamily="34" charset="0"/>
              </a:defRPr>
            </a:pPr>
            <a:endParaRPr lang="en-US"/>
          </a:p>
        </c:txPr>
        <c:crossAx val="92830720"/>
        <c:crosses val="autoZero"/>
        <c:lblOffset val="100"/>
        <c:baseTimeUnit val="months"/>
        <c:majorUnit val="6"/>
        <c:majorTimeUnit val="months"/>
      </c:dateAx>
      <c:valAx>
        <c:axId val="92830720"/>
        <c:scaling>
          <c:orientation val="minMax"/>
          <c:min val="500000"/>
        </c:scaling>
        <c:axPos val="l"/>
        <c:majorGridlines/>
        <c:numFmt formatCode="_(* #,##0_);_(* \(#,##0\);_(* &quot;-&quot;??_);_(@_)" sourceLinked="1"/>
        <c:tickLblPos val="nextTo"/>
        <c:crossAx val="92829184"/>
        <c:crosses val="autoZero"/>
        <c:crossBetween val="between"/>
      </c:valAx>
      <c:valAx>
        <c:axId val="92844800"/>
        <c:scaling>
          <c:orientation val="minMax"/>
          <c:max val="145000"/>
          <c:min val="100000"/>
        </c:scaling>
        <c:axPos val="r"/>
        <c:numFmt formatCode="_(* #,##0_);_(* \(#,##0\);_(* &quot;-&quot;??_);_(@_)" sourceLinked="1"/>
        <c:tickLblPos val="nextTo"/>
        <c:crossAx val="92846336"/>
        <c:crosses val="max"/>
        <c:crossBetween val="between"/>
      </c:valAx>
      <c:catAx>
        <c:axId val="92846336"/>
        <c:scaling>
          <c:orientation val="minMax"/>
        </c:scaling>
        <c:delete val="1"/>
        <c:axPos val="b"/>
        <c:numFmt formatCode="mmm\-yy" sourceLinked="1"/>
        <c:tickLblPos val="none"/>
        <c:crossAx val="92844800"/>
        <c:crosses val="autoZero"/>
        <c:auto val="1"/>
        <c:lblAlgn val="ctr"/>
        <c:lblOffset val="100"/>
      </c:catAx>
      <c:spPr>
        <a:solidFill>
          <a:schemeClr val="accent6">
            <a:lumMod val="20000"/>
            <a:lumOff val="80000"/>
          </a:schemeClr>
        </a:solidFill>
      </c:spPr>
    </c:plotArea>
    <c:legend>
      <c:legendPos val="r"/>
      <c:layout>
        <c:manualLayout>
          <c:xMode val="edge"/>
          <c:yMode val="edge"/>
          <c:x val="0.37950353663419195"/>
          <c:y val="0.64192711487987486"/>
          <c:w val="0.17720182345627891"/>
          <c:h val="6.0611791657911196E-2"/>
        </c:manualLayout>
      </c:layout>
    </c:legend>
    <c:plotVisOnly val="1"/>
  </c:chart>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400"/>
              <a:t>Difference from 1st Quarter 2007 to 1st Quarter 2011</a:t>
            </a:r>
          </a:p>
        </c:rich>
      </c:tx>
    </c:title>
    <c:plotArea>
      <c:layout/>
      <c:barChart>
        <c:barDir val="bar"/>
        <c:grouping val="clustered"/>
        <c:ser>
          <c:idx val="0"/>
          <c:order val="0"/>
          <c:tx>
            <c:strRef>
              <c:f>Industryloss!$B$3</c:f>
              <c:strCache>
                <c:ptCount val="1"/>
                <c:pt idx="0">
                  <c:v>Difference from 1st Quarter 2007 to 1st Quarter 2011 (QCEW)</c:v>
                </c:pt>
              </c:strCache>
            </c:strRef>
          </c:tx>
          <c:spPr>
            <a:solidFill>
              <a:srgbClr val="D45C26"/>
            </a:solidFill>
          </c:spPr>
          <c:dPt>
            <c:idx val="14"/>
            <c:spPr>
              <a:solidFill>
                <a:schemeClr val="accent3">
                  <a:lumMod val="75000"/>
                </a:schemeClr>
              </a:solidFill>
            </c:spPr>
          </c:dPt>
          <c:dPt>
            <c:idx val="15"/>
            <c:spPr>
              <a:solidFill>
                <a:schemeClr val="accent3">
                  <a:lumMod val="75000"/>
                </a:schemeClr>
              </a:solidFill>
            </c:spPr>
          </c:dPt>
          <c:dPt>
            <c:idx val="19"/>
            <c:spPr>
              <a:solidFill>
                <a:schemeClr val="accent3">
                  <a:lumMod val="75000"/>
                </a:schemeClr>
              </a:solidFill>
            </c:spPr>
          </c:dPt>
          <c:cat>
            <c:strRef>
              <c:f>Industryloss!$A$4:$A$24</c:f>
              <c:strCache>
                <c:ptCount val="20"/>
                <c:pt idx="0">
                  <c:v>Agriculture</c:v>
                </c:pt>
                <c:pt idx="1">
                  <c:v>Mining</c:v>
                </c:pt>
                <c:pt idx="2">
                  <c:v>Utilities</c:v>
                </c:pt>
                <c:pt idx="3">
                  <c:v>Construction</c:v>
                </c:pt>
                <c:pt idx="4">
                  <c:v>Manufacturing</c:v>
                </c:pt>
                <c:pt idx="5">
                  <c:v>Wholesale Trade</c:v>
                </c:pt>
                <c:pt idx="6">
                  <c:v>Retail Trade</c:v>
                </c:pt>
                <c:pt idx="7">
                  <c:v>Transportation &amp; Warehousing</c:v>
                </c:pt>
                <c:pt idx="8">
                  <c:v>Information</c:v>
                </c:pt>
                <c:pt idx="9">
                  <c:v>Finance and Insurance</c:v>
                </c:pt>
                <c:pt idx="10">
                  <c:v>Real Estate</c:v>
                </c:pt>
                <c:pt idx="11">
                  <c:v>Professional &amp; Technical Services</c:v>
                </c:pt>
                <c:pt idx="12">
                  <c:v>Management Companies &amp;  Enterprises</c:v>
                </c:pt>
                <c:pt idx="13">
                  <c:v>Administrative &amp; Waste Services</c:v>
                </c:pt>
                <c:pt idx="14">
                  <c:v>Educational Services</c:v>
                </c:pt>
                <c:pt idx="15">
                  <c:v>Health Care and Social Assistance</c:v>
                </c:pt>
                <c:pt idx="16">
                  <c:v>Arts, Entertainment, &amp; Recreation</c:v>
                </c:pt>
                <c:pt idx="17">
                  <c:v>Accommodation &amp; Food Services</c:v>
                </c:pt>
                <c:pt idx="18">
                  <c:v>Other Services, Ex. Public Admin</c:v>
                </c:pt>
                <c:pt idx="19">
                  <c:v>Public Administration</c:v>
                </c:pt>
              </c:strCache>
            </c:strRef>
          </c:cat>
          <c:val>
            <c:numRef>
              <c:f>Industryloss!$B$4:$B$24</c:f>
              <c:numCache>
                <c:formatCode>General</c:formatCode>
                <c:ptCount val="21"/>
                <c:pt idx="0">
                  <c:v>-267</c:v>
                </c:pt>
                <c:pt idx="1">
                  <c:v>-742</c:v>
                </c:pt>
                <c:pt idx="2">
                  <c:v>-348</c:v>
                </c:pt>
                <c:pt idx="3">
                  <c:v>-15958</c:v>
                </c:pt>
                <c:pt idx="4">
                  <c:v>-8520</c:v>
                </c:pt>
                <c:pt idx="5">
                  <c:v>-2827</c:v>
                </c:pt>
                <c:pt idx="6">
                  <c:v>-6419</c:v>
                </c:pt>
                <c:pt idx="7">
                  <c:v>-3665</c:v>
                </c:pt>
                <c:pt idx="8">
                  <c:v>-1848</c:v>
                </c:pt>
                <c:pt idx="9">
                  <c:v>-1605</c:v>
                </c:pt>
                <c:pt idx="10">
                  <c:v>-1926</c:v>
                </c:pt>
                <c:pt idx="11">
                  <c:v>-1177</c:v>
                </c:pt>
                <c:pt idx="12">
                  <c:v>-1041</c:v>
                </c:pt>
                <c:pt idx="13">
                  <c:v>-5066</c:v>
                </c:pt>
                <c:pt idx="14">
                  <c:v>652</c:v>
                </c:pt>
                <c:pt idx="15">
                  <c:v>12897</c:v>
                </c:pt>
                <c:pt idx="16">
                  <c:v>-2685</c:v>
                </c:pt>
                <c:pt idx="17">
                  <c:v>-609</c:v>
                </c:pt>
                <c:pt idx="18">
                  <c:v>-1427</c:v>
                </c:pt>
                <c:pt idx="19">
                  <c:v>2183</c:v>
                </c:pt>
              </c:numCache>
            </c:numRef>
          </c:val>
        </c:ser>
        <c:gapWidth val="44"/>
        <c:axId val="92888448"/>
        <c:axId val="92914816"/>
      </c:barChart>
      <c:catAx>
        <c:axId val="92888448"/>
        <c:scaling>
          <c:orientation val="maxMin"/>
        </c:scaling>
        <c:axPos val="l"/>
        <c:majorTickMark val="cross"/>
        <c:tickLblPos val="nextTo"/>
        <c:txPr>
          <a:bodyPr/>
          <a:lstStyle/>
          <a:p>
            <a:pPr>
              <a:defRPr sz="1250" baseline="0"/>
            </a:pPr>
            <a:endParaRPr lang="en-US"/>
          </a:p>
        </c:txPr>
        <c:crossAx val="92914816"/>
        <c:crosses val="autoZero"/>
        <c:auto val="1"/>
        <c:lblAlgn val="ctr"/>
        <c:lblOffset val="300"/>
      </c:catAx>
      <c:valAx>
        <c:axId val="92914816"/>
        <c:scaling>
          <c:orientation val="minMax"/>
        </c:scaling>
        <c:axPos val="t"/>
        <c:majorGridlines/>
        <c:numFmt formatCode="General" sourceLinked="1"/>
        <c:majorTickMark val="none"/>
        <c:tickLblPos val="nextTo"/>
        <c:crossAx val="92888448"/>
        <c:crossesAt val="1"/>
        <c:crossBetween val="midCat"/>
      </c:valAx>
    </c:plotArea>
    <c:plotVisOnly val="1"/>
  </c:chart>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title/>
    <c:plotArea>
      <c:layout>
        <c:manualLayout>
          <c:layoutTarget val="inner"/>
          <c:xMode val="edge"/>
          <c:yMode val="edge"/>
          <c:x val="0.37014399241761448"/>
          <c:y val="0.13049925824489444"/>
          <c:w val="0.59641464955768841"/>
          <c:h val="0.83809977557153892"/>
        </c:manualLayout>
      </c:layout>
      <c:barChart>
        <c:barDir val="bar"/>
        <c:grouping val="clustered"/>
        <c:ser>
          <c:idx val="0"/>
          <c:order val="0"/>
          <c:tx>
            <c:strRef>
              <c:f>Industryloss!$B$43</c:f>
              <c:strCache>
                <c:ptCount val="1"/>
                <c:pt idx="0">
                  <c:v>Difference from 1st Quarter 2007 to 1st Quarter 2011 (QCEW)</c:v>
                </c:pt>
              </c:strCache>
            </c:strRef>
          </c:tx>
          <c:spPr>
            <a:solidFill>
              <a:srgbClr val="D45C26"/>
            </a:solidFill>
          </c:spPr>
          <c:dPt>
            <c:idx val="14"/>
            <c:spPr>
              <a:solidFill>
                <a:schemeClr val="accent3">
                  <a:lumMod val="75000"/>
                </a:schemeClr>
              </a:solidFill>
            </c:spPr>
          </c:dPt>
          <c:dPt>
            <c:idx val="15"/>
            <c:spPr>
              <a:solidFill>
                <a:schemeClr val="accent3">
                  <a:lumMod val="75000"/>
                </a:schemeClr>
              </a:solidFill>
            </c:spPr>
          </c:dPt>
          <c:dPt>
            <c:idx val="17"/>
            <c:spPr>
              <a:solidFill>
                <a:schemeClr val="accent3">
                  <a:lumMod val="75000"/>
                </a:schemeClr>
              </a:solidFill>
            </c:spPr>
          </c:dPt>
          <c:dPt>
            <c:idx val="19"/>
            <c:spPr>
              <a:solidFill>
                <a:schemeClr val="accent3">
                  <a:lumMod val="75000"/>
                </a:schemeClr>
              </a:solidFill>
            </c:spPr>
          </c:dPt>
          <c:cat>
            <c:strRef>
              <c:f>Industryloss!$A$44:$A$63</c:f>
              <c:strCache>
                <c:ptCount val="20"/>
                <c:pt idx="0">
                  <c:v>Agriculture</c:v>
                </c:pt>
                <c:pt idx="1">
                  <c:v>Mining*</c:v>
                </c:pt>
                <c:pt idx="2">
                  <c:v>Utilities</c:v>
                </c:pt>
                <c:pt idx="3">
                  <c:v>Construction</c:v>
                </c:pt>
                <c:pt idx="4">
                  <c:v>Manufacturing</c:v>
                </c:pt>
                <c:pt idx="5">
                  <c:v>Wholesale Trade</c:v>
                </c:pt>
                <c:pt idx="6">
                  <c:v>Retail Trade</c:v>
                </c:pt>
                <c:pt idx="7">
                  <c:v>Transportation &amp; Warehousing</c:v>
                </c:pt>
                <c:pt idx="8">
                  <c:v>Information</c:v>
                </c:pt>
                <c:pt idx="9">
                  <c:v>Finance and Insurance</c:v>
                </c:pt>
                <c:pt idx="10">
                  <c:v>Real Estate</c:v>
                </c:pt>
                <c:pt idx="11">
                  <c:v>Professional &amp; Technical Services</c:v>
                </c:pt>
                <c:pt idx="12">
                  <c:v>Management Companies &amp;  Enterprises</c:v>
                </c:pt>
                <c:pt idx="13">
                  <c:v>Administrative &amp; Waste Services</c:v>
                </c:pt>
                <c:pt idx="14">
                  <c:v>Educational Services</c:v>
                </c:pt>
                <c:pt idx="15">
                  <c:v>Health Care and Social Assistance</c:v>
                </c:pt>
                <c:pt idx="16">
                  <c:v>Arts, Entertainment, &amp; Recreation</c:v>
                </c:pt>
                <c:pt idx="17">
                  <c:v>Accommodation &amp; Food Services</c:v>
                </c:pt>
                <c:pt idx="18">
                  <c:v>Other Services, Ex. Public Admin</c:v>
                </c:pt>
                <c:pt idx="19">
                  <c:v>Public Administration</c:v>
                </c:pt>
              </c:strCache>
            </c:strRef>
          </c:cat>
          <c:val>
            <c:numRef>
              <c:f>Industryloss!$B$44:$B$63</c:f>
              <c:numCache>
                <c:formatCode>General</c:formatCode>
                <c:ptCount val="20"/>
                <c:pt idx="0">
                  <c:v>-46</c:v>
                </c:pt>
                <c:pt idx="1">
                  <c:v>-10</c:v>
                </c:pt>
                <c:pt idx="2">
                  <c:v>10</c:v>
                </c:pt>
                <c:pt idx="3">
                  <c:v>-10365</c:v>
                </c:pt>
                <c:pt idx="4">
                  <c:v>-6487</c:v>
                </c:pt>
                <c:pt idx="5">
                  <c:v>-1880</c:v>
                </c:pt>
                <c:pt idx="6">
                  <c:v>-3492</c:v>
                </c:pt>
                <c:pt idx="7">
                  <c:v>-2235</c:v>
                </c:pt>
                <c:pt idx="8">
                  <c:v>-358</c:v>
                </c:pt>
                <c:pt idx="9">
                  <c:v>-1156</c:v>
                </c:pt>
                <c:pt idx="10">
                  <c:v>-965</c:v>
                </c:pt>
                <c:pt idx="11">
                  <c:v>-1657</c:v>
                </c:pt>
                <c:pt idx="12">
                  <c:v>-732</c:v>
                </c:pt>
                <c:pt idx="13">
                  <c:v>-100</c:v>
                </c:pt>
                <c:pt idx="14">
                  <c:v>2513</c:v>
                </c:pt>
                <c:pt idx="15">
                  <c:v>7503</c:v>
                </c:pt>
                <c:pt idx="16">
                  <c:v>-1000</c:v>
                </c:pt>
                <c:pt idx="17">
                  <c:v>571</c:v>
                </c:pt>
                <c:pt idx="18">
                  <c:v>-344</c:v>
                </c:pt>
                <c:pt idx="19">
                  <c:v>1967</c:v>
                </c:pt>
              </c:numCache>
            </c:numRef>
          </c:val>
        </c:ser>
        <c:gapWidth val="28"/>
        <c:axId val="94058752"/>
        <c:axId val="94064640"/>
      </c:barChart>
      <c:catAx>
        <c:axId val="94058752"/>
        <c:scaling>
          <c:orientation val="maxMin"/>
        </c:scaling>
        <c:axPos val="l"/>
        <c:tickLblPos val="low"/>
        <c:spPr>
          <a:ln w="12700"/>
        </c:spPr>
        <c:txPr>
          <a:bodyPr/>
          <a:lstStyle/>
          <a:p>
            <a:pPr>
              <a:defRPr sz="1400"/>
            </a:pPr>
            <a:endParaRPr lang="en-US"/>
          </a:p>
        </c:txPr>
        <c:crossAx val="94064640"/>
        <c:crosses val="autoZero"/>
        <c:auto val="1"/>
        <c:lblAlgn val="ctr"/>
        <c:lblOffset val="100"/>
      </c:catAx>
      <c:valAx>
        <c:axId val="94064640"/>
        <c:scaling>
          <c:orientation val="minMax"/>
        </c:scaling>
        <c:axPos val="t"/>
        <c:majorGridlines/>
        <c:numFmt formatCode="General" sourceLinked="1"/>
        <c:tickLblPos val="nextTo"/>
        <c:crossAx val="94058752"/>
        <c:crossesAt val="1"/>
        <c:crossBetween val="between"/>
      </c:valAx>
    </c:plotArea>
    <c:plotVisOnly val="1"/>
  </c:chart>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chart>
    <c:title/>
    <c:plotArea>
      <c:layout/>
      <c:barChart>
        <c:barDir val="bar"/>
        <c:grouping val="clustered"/>
        <c:ser>
          <c:idx val="0"/>
          <c:order val="0"/>
          <c:tx>
            <c:strRef>
              <c:f>Industryloss!$B$71</c:f>
              <c:strCache>
                <c:ptCount val="1"/>
                <c:pt idx="0">
                  <c:v>Difference from 1st Quarter 2007 to 1st Quarter 2011 (QCEW)</c:v>
                </c:pt>
              </c:strCache>
            </c:strRef>
          </c:tx>
          <c:dPt>
            <c:idx val="1"/>
            <c:spPr>
              <a:solidFill>
                <a:srgbClr val="D45C26"/>
              </a:solidFill>
            </c:spPr>
          </c:dPt>
          <c:dPt>
            <c:idx val="2"/>
            <c:spPr>
              <a:solidFill>
                <a:srgbClr val="D45C26"/>
              </a:solidFill>
            </c:spPr>
          </c:dPt>
          <c:dPt>
            <c:idx val="3"/>
            <c:spPr>
              <a:solidFill>
                <a:schemeClr val="accent3"/>
              </a:solidFill>
            </c:spPr>
          </c:dPt>
          <c:dPt>
            <c:idx val="4"/>
            <c:spPr>
              <a:solidFill>
                <a:schemeClr val="accent3"/>
              </a:solidFill>
            </c:spPr>
          </c:dPt>
          <c:dPt>
            <c:idx val="5"/>
            <c:spPr>
              <a:solidFill>
                <a:srgbClr val="D45C26"/>
              </a:solidFill>
            </c:spPr>
          </c:dPt>
          <c:dPt>
            <c:idx val="6"/>
            <c:spPr>
              <a:solidFill>
                <a:schemeClr val="accent3"/>
              </a:solidFill>
            </c:spPr>
          </c:dPt>
          <c:dPt>
            <c:idx val="7"/>
            <c:spPr>
              <a:solidFill>
                <a:srgbClr val="D45C26"/>
              </a:solidFill>
            </c:spPr>
          </c:dPt>
          <c:dPt>
            <c:idx val="8"/>
            <c:spPr>
              <a:solidFill>
                <a:srgbClr val="D45C26"/>
              </a:solidFill>
            </c:spPr>
          </c:dPt>
          <c:dPt>
            <c:idx val="9"/>
            <c:spPr>
              <a:solidFill>
                <a:srgbClr val="D45C26"/>
              </a:solidFill>
            </c:spPr>
          </c:dPt>
          <c:dPt>
            <c:idx val="10"/>
            <c:spPr>
              <a:solidFill>
                <a:srgbClr val="D45C26"/>
              </a:solidFill>
            </c:spPr>
          </c:dPt>
          <c:dPt>
            <c:idx val="11"/>
            <c:spPr>
              <a:solidFill>
                <a:srgbClr val="D45C26"/>
              </a:solidFill>
            </c:spPr>
          </c:dPt>
          <c:dPt>
            <c:idx val="13"/>
            <c:spPr>
              <a:solidFill>
                <a:srgbClr val="D45C26"/>
              </a:solidFill>
            </c:spPr>
          </c:dPt>
          <c:dPt>
            <c:idx val="14"/>
            <c:spPr>
              <a:solidFill>
                <a:schemeClr val="accent3"/>
              </a:solidFill>
            </c:spPr>
          </c:dPt>
          <c:dPt>
            <c:idx val="15"/>
            <c:spPr>
              <a:solidFill>
                <a:schemeClr val="accent3"/>
              </a:solidFill>
            </c:spPr>
          </c:dPt>
          <c:dPt>
            <c:idx val="16"/>
            <c:spPr>
              <a:solidFill>
                <a:schemeClr val="accent3"/>
              </a:solidFill>
            </c:spPr>
          </c:dPt>
          <c:dPt>
            <c:idx val="17"/>
            <c:spPr>
              <a:solidFill>
                <a:schemeClr val="accent3"/>
              </a:solidFill>
            </c:spPr>
          </c:dPt>
          <c:dPt>
            <c:idx val="18"/>
            <c:spPr>
              <a:solidFill>
                <a:srgbClr val="D45C26"/>
              </a:solidFill>
            </c:spPr>
          </c:dPt>
          <c:dPt>
            <c:idx val="19"/>
            <c:spPr>
              <a:solidFill>
                <a:schemeClr val="accent3"/>
              </a:solidFill>
            </c:spPr>
          </c:dPt>
          <c:cat>
            <c:strRef>
              <c:f>Industryloss!$A$72:$A$91</c:f>
              <c:strCache>
                <c:ptCount val="20"/>
                <c:pt idx="0">
                  <c:v>Agriculture*</c:v>
                </c:pt>
                <c:pt idx="1">
                  <c:v>Mining*</c:v>
                </c:pt>
                <c:pt idx="2">
                  <c:v>Utilities*</c:v>
                </c:pt>
                <c:pt idx="3">
                  <c:v>Construction*</c:v>
                </c:pt>
                <c:pt idx="4">
                  <c:v>Manufacturing*</c:v>
                </c:pt>
                <c:pt idx="5">
                  <c:v>Wholesale Trade</c:v>
                </c:pt>
                <c:pt idx="6">
                  <c:v>Retail Trade</c:v>
                </c:pt>
                <c:pt idx="7">
                  <c:v>Transportation &amp; Warehousing</c:v>
                </c:pt>
                <c:pt idx="8">
                  <c:v>Information</c:v>
                </c:pt>
                <c:pt idx="9">
                  <c:v>Finance and Insurance</c:v>
                </c:pt>
                <c:pt idx="10">
                  <c:v>Real Estate*</c:v>
                </c:pt>
                <c:pt idx="11">
                  <c:v>Professional &amp; Technical Services</c:v>
                </c:pt>
                <c:pt idx="12">
                  <c:v>Management Companies &amp;  Enterprises*</c:v>
                </c:pt>
                <c:pt idx="13">
                  <c:v>Administrative &amp; Waste Services*</c:v>
                </c:pt>
                <c:pt idx="14">
                  <c:v>Educational Services*</c:v>
                </c:pt>
                <c:pt idx="15">
                  <c:v>Health Care and Social Assistance</c:v>
                </c:pt>
                <c:pt idx="16">
                  <c:v>Arts, Entertainment, &amp; Recreation</c:v>
                </c:pt>
                <c:pt idx="17">
                  <c:v>Accommodation &amp; Food Services</c:v>
                </c:pt>
                <c:pt idx="18">
                  <c:v>Other Services, Ex. Public Admin*</c:v>
                </c:pt>
                <c:pt idx="19">
                  <c:v>Public Administration</c:v>
                </c:pt>
              </c:strCache>
            </c:strRef>
          </c:cat>
          <c:val>
            <c:numRef>
              <c:f>Industryloss!$B$72:$B$91</c:f>
              <c:numCache>
                <c:formatCode>General</c:formatCode>
                <c:ptCount val="20"/>
                <c:pt idx="1">
                  <c:v>-1152</c:v>
                </c:pt>
                <c:pt idx="2">
                  <c:v>-300</c:v>
                </c:pt>
                <c:pt idx="3">
                  <c:v>1000</c:v>
                </c:pt>
                <c:pt idx="4">
                  <c:v>400</c:v>
                </c:pt>
                <c:pt idx="5">
                  <c:v>-91</c:v>
                </c:pt>
                <c:pt idx="6">
                  <c:v>300</c:v>
                </c:pt>
                <c:pt idx="7">
                  <c:v>-648</c:v>
                </c:pt>
                <c:pt idx="8">
                  <c:v>-80</c:v>
                </c:pt>
                <c:pt idx="9">
                  <c:v>-181</c:v>
                </c:pt>
                <c:pt idx="10">
                  <c:v>-300</c:v>
                </c:pt>
                <c:pt idx="11">
                  <c:v>-106</c:v>
                </c:pt>
                <c:pt idx="12">
                  <c:v>-10</c:v>
                </c:pt>
                <c:pt idx="13">
                  <c:v>-100</c:v>
                </c:pt>
                <c:pt idx="14">
                  <c:v>263</c:v>
                </c:pt>
                <c:pt idx="15">
                  <c:v>776</c:v>
                </c:pt>
                <c:pt idx="16">
                  <c:v>51</c:v>
                </c:pt>
                <c:pt idx="17">
                  <c:v>22</c:v>
                </c:pt>
                <c:pt idx="18">
                  <c:v>-200</c:v>
                </c:pt>
                <c:pt idx="19">
                  <c:v>231</c:v>
                </c:pt>
              </c:numCache>
            </c:numRef>
          </c:val>
        </c:ser>
        <c:gapWidth val="28"/>
        <c:axId val="92933120"/>
        <c:axId val="92934912"/>
      </c:barChart>
      <c:catAx>
        <c:axId val="92933120"/>
        <c:scaling>
          <c:orientation val="maxMin"/>
        </c:scaling>
        <c:axPos val="l"/>
        <c:tickLblPos val="low"/>
        <c:txPr>
          <a:bodyPr/>
          <a:lstStyle/>
          <a:p>
            <a:pPr>
              <a:defRPr sz="1200"/>
            </a:pPr>
            <a:endParaRPr lang="en-US"/>
          </a:p>
        </c:txPr>
        <c:crossAx val="92934912"/>
        <c:crosses val="autoZero"/>
        <c:auto val="1"/>
        <c:lblAlgn val="ctr"/>
        <c:lblOffset val="100"/>
        <c:tickLblSkip val="1"/>
      </c:catAx>
      <c:valAx>
        <c:axId val="92934912"/>
        <c:scaling>
          <c:orientation val="minMax"/>
        </c:scaling>
        <c:axPos val="t"/>
        <c:majorGridlines/>
        <c:numFmt formatCode="General" sourceLinked="1"/>
        <c:tickLblPos val="nextTo"/>
        <c:crossAx val="92933120"/>
        <c:crossesAt val="1"/>
        <c:crossBetween val="between"/>
      </c:valAx>
    </c:plotArea>
    <c:plotVisOnly val="1"/>
  </c:chart>
  <c:externalData r:id="rId1"/>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n-US"/>
  <c:chart>
    <c:title/>
    <c:plotArea>
      <c:layout>
        <c:manualLayout>
          <c:layoutTarget val="inner"/>
          <c:xMode val="edge"/>
          <c:yMode val="edge"/>
          <c:x val="0.41148409757603832"/>
          <c:y val="0.13406722400905918"/>
          <c:w val="0.56265457803352148"/>
          <c:h val="0.83961068936734651"/>
        </c:manualLayout>
      </c:layout>
      <c:barChart>
        <c:barDir val="bar"/>
        <c:grouping val="clustered"/>
        <c:ser>
          <c:idx val="0"/>
          <c:order val="0"/>
          <c:tx>
            <c:strRef>
              <c:f>Industryloss!$B$100</c:f>
              <c:strCache>
                <c:ptCount val="1"/>
                <c:pt idx="0">
                  <c:v>Difference from 1st Quarter 2007 to 1st Quarter 2011 (QCEW)</c:v>
                </c:pt>
              </c:strCache>
            </c:strRef>
          </c:tx>
          <c:spPr>
            <a:solidFill>
              <a:srgbClr val="D45C26"/>
            </a:solidFill>
          </c:spPr>
          <c:dPt>
            <c:idx val="2"/>
            <c:spPr>
              <a:solidFill>
                <a:schemeClr val="accent3">
                  <a:lumMod val="75000"/>
                </a:schemeClr>
              </a:solidFill>
            </c:spPr>
          </c:dPt>
          <c:dPt>
            <c:idx val="7"/>
            <c:spPr>
              <a:solidFill>
                <a:schemeClr val="accent3">
                  <a:lumMod val="75000"/>
                </a:schemeClr>
              </a:solidFill>
            </c:spPr>
          </c:dPt>
          <c:dPt>
            <c:idx val="15"/>
            <c:spPr>
              <a:solidFill>
                <a:schemeClr val="accent3">
                  <a:lumMod val="75000"/>
                </a:schemeClr>
              </a:solidFill>
            </c:spPr>
          </c:dPt>
          <c:cat>
            <c:strRef>
              <c:f>Industryloss!$A$101:$A$120</c:f>
              <c:strCache>
                <c:ptCount val="20"/>
                <c:pt idx="0">
                  <c:v>Agriculture</c:v>
                </c:pt>
                <c:pt idx="1">
                  <c:v>Mining</c:v>
                </c:pt>
                <c:pt idx="2">
                  <c:v>Utilities*</c:v>
                </c:pt>
                <c:pt idx="3">
                  <c:v>Construction</c:v>
                </c:pt>
                <c:pt idx="4">
                  <c:v>Manufacturing*</c:v>
                </c:pt>
                <c:pt idx="5">
                  <c:v>Wholesale Trade*</c:v>
                </c:pt>
                <c:pt idx="6">
                  <c:v>Retail Trade</c:v>
                </c:pt>
                <c:pt idx="7">
                  <c:v>Transportation &amp; Warehousing*</c:v>
                </c:pt>
                <c:pt idx="8">
                  <c:v>Information*</c:v>
                </c:pt>
                <c:pt idx="9">
                  <c:v>Finance and Insurance</c:v>
                </c:pt>
                <c:pt idx="10">
                  <c:v>Real Estate*</c:v>
                </c:pt>
                <c:pt idx="11">
                  <c:v>Professional &amp; Technical Services</c:v>
                </c:pt>
                <c:pt idx="12">
                  <c:v>Management Companies &amp;  Enterprises*</c:v>
                </c:pt>
                <c:pt idx="13">
                  <c:v>Administrative &amp; Waste Services*</c:v>
                </c:pt>
                <c:pt idx="14">
                  <c:v>Educational Services</c:v>
                </c:pt>
                <c:pt idx="15">
                  <c:v>Health Care and Social Assistance</c:v>
                </c:pt>
                <c:pt idx="16">
                  <c:v>Arts, Entertainment, &amp; Recreation*</c:v>
                </c:pt>
                <c:pt idx="17">
                  <c:v>Accommodation &amp; Food Services</c:v>
                </c:pt>
                <c:pt idx="18">
                  <c:v>Other Services, Ex. Public Admin</c:v>
                </c:pt>
                <c:pt idx="19">
                  <c:v>Public Administration</c:v>
                </c:pt>
              </c:strCache>
            </c:strRef>
          </c:cat>
          <c:val>
            <c:numRef>
              <c:f>Industryloss!$B$101:$B$120</c:f>
              <c:numCache>
                <c:formatCode>General</c:formatCode>
                <c:ptCount val="20"/>
                <c:pt idx="0">
                  <c:v>-5</c:v>
                </c:pt>
                <c:pt idx="1">
                  <c:v>10</c:v>
                </c:pt>
                <c:pt idx="2">
                  <c:v>100</c:v>
                </c:pt>
                <c:pt idx="3">
                  <c:v>-4988</c:v>
                </c:pt>
                <c:pt idx="4">
                  <c:v>-800</c:v>
                </c:pt>
                <c:pt idx="5">
                  <c:v>-1000</c:v>
                </c:pt>
                <c:pt idx="6">
                  <c:v>-1585</c:v>
                </c:pt>
                <c:pt idx="7">
                  <c:v>380</c:v>
                </c:pt>
                <c:pt idx="8">
                  <c:v>-5</c:v>
                </c:pt>
                <c:pt idx="9">
                  <c:v>-324</c:v>
                </c:pt>
                <c:pt idx="10">
                  <c:v>-200</c:v>
                </c:pt>
                <c:pt idx="11">
                  <c:v>-458</c:v>
                </c:pt>
                <c:pt idx="12">
                  <c:v>-100</c:v>
                </c:pt>
                <c:pt idx="13">
                  <c:v>-1581</c:v>
                </c:pt>
                <c:pt idx="14">
                  <c:v>-1853</c:v>
                </c:pt>
                <c:pt idx="15">
                  <c:v>2884</c:v>
                </c:pt>
                <c:pt idx="16">
                  <c:v>-1466</c:v>
                </c:pt>
                <c:pt idx="17">
                  <c:v>-702</c:v>
                </c:pt>
                <c:pt idx="18">
                  <c:v>-695</c:v>
                </c:pt>
                <c:pt idx="19">
                  <c:v>-902</c:v>
                </c:pt>
              </c:numCache>
            </c:numRef>
          </c:val>
        </c:ser>
        <c:gapWidth val="28"/>
        <c:axId val="92975872"/>
        <c:axId val="92977408"/>
      </c:barChart>
      <c:catAx>
        <c:axId val="92975872"/>
        <c:scaling>
          <c:orientation val="maxMin"/>
        </c:scaling>
        <c:axPos val="l"/>
        <c:tickLblPos val="low"/>
        <c:txPr>
          <a:bodyPr/>
          <a:lstStyle/>
          <a:p>
            <a:pPr>
              <a:defRPr sz="1400"/>
            </a:pPr>
            <a:endParaRPr lang="en-US"/>
          </a:p>
        </c:txPr>
        <c:crossAx val="92977408"/>
        <c:crosses val="autoZero"/>
        <c:auto val="1"/>
        <c:lblAlgn val="ctr"/>
        <c:lblOffset val="100"/>
        <c:tickLblSkip val="1"/>
      </c:catAx>
      <c:valAx>
        <c:axId val="92977408"/>
        <c:scaling>
          <c:orientation val="minMax"/>
        </c:scaling>
        <c:axPos val="t"/>
        <c:majorGridlines/>
        <c:numFmt formatCode="General" sourceLinked="1"/>
        <c:tickLblPos val="nextTo"/>
        <c:crossAx val="92975872"/>
        <c:crossesAt val="1"/>
        <c:crossBetween val="between"/>
      </c:valAx>
    </c:plotArea>
    <c:plotVisOnly val="1"/>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chart>
    <c:title/>
    <c:plotArea>
      <c:layout/>
      <c:barChart>
        <c:barDir val="bar"/>
        <c:grouping val="clustered"/>
        <c:ser>
          <c:idx val="0"/>
          <c:order val="0"/>
          <c:tx>
            <c:strRef>
              <c:f>Industryloss!$B$129</c:f>
              <c:strCache>
                <c:ptCount val="1"/>
                <c:pt idx="0">
                  <c:v>Difference from 1st Quarter 2007 to 1st Quarter 2011 (QCEW)</c:v>
                </c:pt>
              </c:strCache>
            </c:strRef>
          </c:tx>
          <c:spPr>
            <a:solidFill>
              <a:srgbClr val="D45C26"/>
            </a:solidFill>
          </c:spPr>
          <c:dPt>
            <c:idx val="1"/>
            <c:spPr>
              <a:solidFill>
                <a:schemeClr val="accent3">
                  <a:lumMod val="75000"/>
                </a:schemeClr>
              </a:solidFill>
            </c:spPr>
          </c:dPt>
          <c:dPt>
            <c:idx val="2"/>
            <c:spPr>
              <a:solidFill>
                <a:schemeClr val="accent3">
                  <a:lumMod val="75000"/>
                </a:schemeClr>
              </a:solidFill>
            </c:spPr>
          </c:dPt>
          <c:dPt>
            <c:idx val="11"/>
            <c:spPr>
              <a:solidFill>
                <a:schemeClr val="accent3">
                  <a:lumMod val="75000"/>
                </a:schemeClr>
              </a:solidFill>
            </c:spPr>
          </c:dPt>
          <c:dPt>
            <c:idx val="13"/>
            <c:spPr>
              <a:solidFill>
                <a:schemeClr val="accent3">
                  <a:lumMod val="75000"/>
                </a:schemeClr>
              </a:solidFill>
            </c:spPr>
          </c:dPt>
          <c:dPt>
            <c:idx val="15"/>
            <c:spPr>
              <a:solidFill>
                <a:schemeClr val="accent3">
                  <a:lumMod val="75000"/>
                </a:schemeClr>
              </a:solidFill>
            </c:spPr>
          </c:dPt>
          <c:dPt>
            <c:idx val="19"/>
            <c:spPr>
              <a:solidFill>
                <a:schemeClr val="accent3">
                  <a:lumMod val="75000"/>
                </a:schemeClr>
              </a:solidFill>
            </c:spPr>
          </c:dPt>
          <c:cat>
            <c:strRef>
              <c:f>Industryloss!$A$130:$A$149</c:f>
              <c:strCache>
                <c:ptCount val="20"/>
                <c:pt idx="0">
                  <c:v>Agriculture</c:v>
                </c:pt>
                <c:pt idx="1">
                  <c:v>Mining*</c:v>
                </c:pt>
                <c:pt idx="2">
                  <c:v>Utilities</c:v>
                </c:pt>
                <c:pt idx="3">
                  <c:v>Construction*</c:v>
                </c:pt>
                <c:pt idx="4">
                  <c:v>Manufacturing*</c:v>
                </c:pt>
                <c:pt idx="5">
                  <c:v>Wholesale Trade*</c:v>
                </c:pt>
                <c:pt idx="6">
                  <c:v>Retail Trade</c:v>
                </c:pt>
                <c:pt idx="7">
                  <c:v>Transportation &amp; Warehousing</c:v>
                </c:pt>
                <c:pt idx="8">
                  <c:v>Information*</c:v>
                </c:pt>
                <c:pt idx="9">
                  <c:v>Finance and Insurance</c:v>
                </c:pt>
                <c:pt idx="10">
                  <c:v>Real Estate</c:v>
                </c:pt>
                <c:pt idx="11">
                  <c:v>Professional &amp; Technical Services</c:v>
                </c:pt>
                <c:pt idx="12">
                  <c:v>Management Companies &amp;  Enterprises*</c:v>
                </c:pt>
                <c:pt idx="13">
                  <c:v>Administrative &amp; Waste Services</c:v>
                </c:pt>
                <c:pt idx="14">
                  <c:v>Educational Services*</c:v>
                </c:pt>
                <c:pt idx="15">
                  <c:v>Health Care and Social Assistance</c:v>
                </c:pt>
                <c:pt idx="16">
                  <c:v>Arts, Entertainment, &amp; Recreation*</c:v>
                </c:pt>
                <c:pt idx="17">
                  <c:v>Accommodation &amp; Food Services</c:v>
                </c:pt>
                <c:pt idx="18">
                  <c:v>Other Services, Ex. Public Admin*</c:v>
                </c:pt>
                <c:pt idx="19">
                  <c:v>Public Administration</c:v>
                </c:pt>
              </c:strCache>
            </c:strRef>
          </c:cat>
          <c:val>
            <c:numRef>
              <c:f>Industryloss!$B$130:$B$149</c:f>
              <c:numCache>
                <c:formatCode>General</c:formatCode>
                <c:ptCount val="20"/>
                <c:pt idx="0">
                  <c:v>0</c:v>
                </c:pt>
                <c:pt idx="1">
                  <c:v>100</c:v>
                </c:pt>
                <c:pt idx="2">
                  <c:v>76</c:v>
                </c:pt>
                <c:pt idx="3">
                  <c:v>-1600</c:v>
                </c:pt>
                <c:pt idx="4">
                  <c:v>-200</c:v>
                </c:pt>
                <c:pt idx="5">
                  <c:v>-100</c:v>
                </c:pt>
                <c:pt idx="6">
                  <c:v>-390</c:v>
                </c:pt>
                <c:pt idx="7">
                  <c:v>-500</c:v>
                </c:pt>
                <c:pt idx="8">
                  <c:v>-357</c:v>
                </c:pt>
                <c:pt idx="9">
                  <c:v>-4</c:v>
                </c:pt>
                <c:pt idx="10">
                  <c:v>-126</c:v>
                </c:pt>
                <c:pt idx="11">
                  <c:v>600</c:v>
                </c:pt>
                <c:pt idx="12">
                  <c:v>-50</c:v>
                </c:pt>
                <c:pt idx="13">
                  <c:v>406</c:v>
                </c:pt>
                <c:pt idx="14">
                  <c:v>-300</c:v>
                </c:pt>
                <c:pt idx="15">
                  <c:v>2341</c:v>
                </c:pt>
                <c:pt idx="16">
                  <c:v>-300</c:v>
                </c:pt>
                <c:pt idx="17">
                  <c:v>-213</c:v>
                </c:pt>
                <c:pt idx="18">
                  <c:v>-123</c:v>
                </c:pt>
                <c:pt idx="19">
                  <c:v>894</c:v>
                </c:pt>
              </c:numCache>
            </c:numRef>
          </c:val>
        </c:ser>
        <c:gapWidth val="28"/>
        <c:axId val="99465088"/>
        <c:axId val="99466624"/>
      </c:barChart>
      <c:catAx>
        <c:axId val="99465088"/>
        <c:scaling>
          <c:orientation val="maxMin"/>
        </c:scaling>
        <c:axPos val="l"/>
        <c:tickLblPos val="low"/>
        <c:txPr>
          <a:bodyPr/>
          <a:lstStyle/>
          <a:p>
            <a:pPr>
              <a:defRPr sz="1400"/>
            </a:pPr>
            <a:endParaRPr lang="en-US"/>
          </a:p>
        </c:txPr>
        <c:crossAx val="99466624"/>
        <c:crosses val="autoZero"/>
        <c:auto val="1"/>
        <c:lblAlgn val="ctr"/>
        <c:lblOffset val="100"/>
        <c:tickLblSkip val="1"/>
      </c:catAx>
      <c:valAx>
        <c:axId val="99466624"/>
        <c:scaling>
          <c:orientation val="minMax"/>
        </c:scaling>
        <c:axPos val="t"/>
        <c:majorGridlines/>
        <c:numFmt formatCode="General" sourceLinked="1"/>
        <c:tickLblPos val="nextTo"/>
        <c:crossAx val="99465088"/>
        <c:crossesAt val="1"/>
        <c:crossBetween val="between"/>
      </c:valAx>
    </c:plotArea>
    <c:plotVisOnly val="1"/>
  </c:chart>
  <c:externalData r:id="rId1"/>
</c:chartSpace>
</file>

<file path=ppt/charts/chart11.xml><?xml version="1.0" encoding="utf-8"?>
<c:chartSpace xmlns:c="http://schemas.openxmlformats.org/drawingml/2006/chart" xmlns:a="http://schemas.openxmlformats.org/drawingml/2006/main" xmlns:r="http://schemas.openxmlformats.org/officeDocument/2006/relationships">
  <c:date1904 val="1"/>
  <c:lang val="en-US"/>
  <c:style val="31"/>
  <c:chart>
    <c:autoTitleDeleted val="1"/>
    <c:plotArea>
      <c:layout/>
      <c:pieChart>
        <c:varyColors val="1"/>
        <c:ser>
          <c:idx val="0"/>
          <c:order val="0"/>
          <c:tx>
            <c:strRef>
              <c:f>'Industry Mix'!$B$33</c:f>
              <c:strCache>
                <c:ptCount val="1"/>
                <c:pt idx="0">
                  <c:v>2009 Estimated Employment</c:v>
                </c:pt>
              </c:strCache>
            </c:strRef>
          </c:tx>
          <c:spPr>
            <a:gradFill flip="none" rotWithShape="1">
              <a:gsLst>
                <a:gs pos="0">
                  <a:srgbClr val="009999">
                    <a:shade val="30000"/>
                    <a:satMod val="115000"/>
                  </a:srgbClr>
                </a:gs>
                <a:gs pos="50000">
                  <a:srgbClr val="009999">
                    <a:shade val="67500"/>
                    <a:satMod val="115000"/>
                  </a:srgbClr>
                </a:gs>
                <a:gs pos="100000">
                  <a:srgbClr val="009999">
                    <a:shade val="100000"/>
                    <a:satMod val="115000"/>
                  </a:srgbClr>
                </a:gs>
              </a:gsLst>
              <a:path path="circle">
                <a:fillToRect l="100000" t="100000"/>
              </a:path>
              <a:tileRect r="-100000" b="-100000"/>
            </a:gradFill>
          </c:spPr>
          <c:dLbls>
            <c:dLbl>
              <c:idx val="1"/>
              <c:tx>
                <c:rich>
                  <a:bodyPr/>
                  <a:lstStyle/>
                  <a:p>
                    <a:r>
                      <a:rPr lang="en-US" smtClean="0"/>
                      <a:t>Mgt </a:t>
                    </a:r>
                    <a:r>
                      <a:rPr lang="en-US"/>
                      <a:t>of Companies </a:t>
                    </a:r>
                  </a:p>
                </c:rich>
              </c:tx>
              <c:showCatName val="1"/>
            </c:dLbl>
            <c:dLbl>
              <c:idx val="2"/>
              <c:tx>
                <c:rich>
                  <a:bodyPr/>
                  <a:lstStyle/>
                  <a:p>
                    <a:r>
                      <a:rPr lang="en-US"/>
                      <a:t>Real Estate </a:t>
                    </a:r>
                  </a:p>
                </c:rich>
              </c:tx>
              <c:showCatName val="1"/>
            </c:dLbl>
            <c:dLbl>
              <c:idx val="3"/>
              <c:tx>
                <c:rich>
                  <a:bodyPr/>
                  <a:lstStyle/>
                  <a:p>
                    <a:r>
                      <a:rPr lang="en-US" smtClean="0"/>
                      <a:t>Agriculture</a:t>
                    </a:r>
                    <a:endParaRPr lang="en-US"/>
                  </a:p>
                </c:rich>
              </c:tx>
              <c:showCatName val="1"/>
            </c:dLbl>
            <c:dLbl>
              <c:idx val="4"/>
              <c:layout>
                <c:manualLayout>
                  <c:x val="0.12645704132116367"/>
                  <c:y val="5.0813008130081989E-4"/>
                </c:manualLayout>
              </c:layout>
              <c:tx>
                <c:rich>
                  <a:bodyPr/>
                  <a:lstStyle/>
                  <a:p>
                    <a:r>
                      <a:rPr lang="en-US" dirty="0" smtClean="0"/>
                      <a:t>Arts</a:t>
                    </a:r>
                    <a:r>
                      <a:rPr lang="en-US" baseline="0" dirty="0" smtClean="0"/>
                      <a:t> &amp;</a:t>
                    </a:r>
                    <a:r>
                      <a:rPr lang="en-US" dirty="0" smtClean="0"/>
                      <a:t> Entertainment</a:t>
                    </a:r>
                    <a:endParaRPr lang="en-US" dirty="0"/>
                  </a:p>
                </c:rich>
              </c:tx>
              <c:showCatName val="1"/>
            </c:dLbl>
            <c:dLbl>
              <c:idx val="5"/>
              <c:layout>
                <c:manualLayout>
                  <c:x val="0.25019882470443416"/>
                  <c:y val="4.1876320338006534E-3"/>
                </c:manualLayout>
              </c:layout>
              <c:showCatName val="1"/>
            </c:dLbl>
            <c:dLbl>
              <c:idx val="6"/>
              <c:tx>
                <c:rich>
                  <a:bodyPr/>
                  <a:lstStyle/>
                  <a:p>
                    <a:r>
                      <a:rPr lang="en-US"/>
                      <a:t>Transportation </a:t>
                    </a:r>
                  </a:p>
                </c:rich>
              </c:tx>
              <c:showCatName val="1"/>
            </c:dLbl>
            <c:dLbl>
              <c:idx val="8"/>
              <c:tx>
                <c:rich>
                  <a:bodyPr/>
                  <a:lstStyle/>
                  <a:p>
                    <a:r>
                      <a:rPr lang="en-US" dirty="0"/>
                      <a:t>Other Services </a:t>
                    </a:r>
                  </a:p>
                </c:rich>
              </c:tx>
              <c:showCatName val="1"/>
            </c:dLbl>
            <c:dLbl>
              <c:idx val="9"/>
              <c:tx>
                <c:rich>
                  <a:bodyPr/>
                  <a:lstStyle/>
                  <a:p>
                    <a:r>
                      <a:rPr lang="en-US"/>
                      <a:t>Finance </a:t>
                    </a:r>
                  </a:p>
                </c:rich>
              </c:tx>
              <c:showCatName val="1"/>
            </c:dLbl>
            <c:dLbl>
              <c:idx val="10"/>
              <c:tx>
                <c:rich>
                  <a:bodyPr/>
                  <a:lstStyle/>
                  <a:p>
                    <a:r>
                      <a:rPr lang="en-US"/>
                      <a:t>Wholesale </a:t>
                    </a:r>
                  </a:p>
                </c:rich>
              </c:tx>
              <c:showCatName val="1"/>
            </c:dLbl>
            <c:dLbl>
              <c:idx val="12"/>
              <c:tx>
                <c:rich>
                  <a:bodyPr/>
                  <a:lstStyle/>
                  <a:p>
                    <a:r>
                      <a:rPr lang="en-US" smtClean="0"/>
                      <a:t>Admin, Support &amp;</a:t>
                    </a:r>
                    <a:r>
                      <a:rPr lang="en-US" baseline="0" smtClean="0"/>
                      <a:t> </a:t>
                    </a:r>
                    <a:r>
                      <a:rPr lang="en-US" smtClean="0"/>
                      <a:t>Waste Mgt</a:t>
                    </a:r>
                    <a:endParaRPr lang="en-US" dirty="0"/>
                  </a:p>
                </c:rich>
              </c:tx>
              <c:showCatName val="1"/>
            </c:dLbl>
            <c:dLbl>
              <c:idx val="14"/>
              <c:tx>
                <c:rich>
                  <a:bodyPr/>
                  <a:lstStyle/>
                  <a:p>
                    <a:r>
                      <a:rPr lang="en-US"/>
                      <a:t>Professional, </a:t>
                    </a:r>
                    <a:r>
                      <a:rPr lang="en-US" smtClean="0"/>
                      <a:t>Scientific &amp; Tech Svc</a:t>
                    </a:r>
                    <a:endParaRPr lang="en-US"/>
                  </a:p>
                </c:rich>
              </c:tx>
              <c:showCatName val="1"/>
            </c:dLbl>
            <c:dLbl>
              <c:idx val="16"/>
              <c:tx>
                <c:rich>
                  <a:bodyPr/>
                  <a:lstStyle/>
                  <a:p>
                    <a:r>
                      <a:rPr lang="en-US" smtClean="0"/>
                      <a:t>Accommodation &amp;  </a:t>
                    </a:r>
                    <a:r>
                      <a:rPr lang="en-US"/>
                      <a:t>Food </a:t>
                    </a:r>
                    <a:r>
                      <a:rPr lang="en-US" smtClean="0"/>
                      <a:t>Svcs</a:t>
                    </a:r>
                    <a:endParaRPr lang="en-US"/>
                  </a:p>
                </c:rich>
              </c:tx>
              <c:showCatName val="1"/>
            </c:dLbl>
            <c:dLbl>
              <c:idx val="18"/>
              <c:tx>
                <c:rich>
                  <a:bodyPr/>
                  <a:lstStyle/>
                  <a:p>
                    <a:r>
                      <a:rPr lang="en-US"/>
                      <a:t>Government </a:t>
                    </a:r>
                    <a:r>
                      <a:rPr lang="en-US" smtClean="0"/>
                      <a:t>(EX. Health &amp; ED.)</a:t>
                    </a:r>
                    <a:endParaRPr lang="en-US" dirty="0"/>
                  </a:p>
                </c:rich>
              </c:tx>
              <c:showCatName val="1"/>
            </c:dLbl>
            <c:dLbl>
              <c:idx val="19"/>
              <c:tx>
                <c:rich>
                  <a:bodyPr/>
                  <a:lstStyle/>
                  <a:p>
                    <a:r>
                      <a:rPr lang="en-US"/>
                      <a:t>Health Care </a:t>
                    </a:r>
                    <a:r>
                      <a:rPr lang="en-US" smtClean="0"/>
                      <a:t>&amp; Social </a:t>
                    </a:r>
                    <a:r>
                      <a:rPr lang="en-US"/>
                      <a:t>Assistance</a:t>
                    </a:r>
                  </a:p>
                </c:rich>
              </c:tx>
              <c:showCatName val="1"/>
            </c:dLbl>
            <c:txPr>
              <a:bodyPr/>
              <a:lstStyle/>
              <a:p>
                <a:pPr>
                  <a:defRPr sz="1600"/>
                </a:pPr>
                <a:endParaRPr lang="en-US"/>
              </a:p>
            </c:txPr>
            <c:showCatName val="1"/>
            <c:showLeaderLines val="1"/>
          </c:dLbls>
          <c:cat>
            <c:strRef>
              <c:f>'Industry Mix'!$A$34:$A$53</c:f>
              <c:strCache>
                <c:ptCount val="20"/>
                <c:pt idx="0">
                  <c:v>Utilities</c:v>
                </c:pt>
                <c:pt idx="1">
                  <c:v>Mgmt of Companies</c:v>
                </c:pt>
                <c:pt idx="2">
                  <c:v>Real Estate</c:v>
                </c:pt>
                <c:pt idx="3">
                  <c:v>Agriculture</c:v>
                </c:pt>
                <c:pt idx="4">
                  <c:v>Arts &amp; Entertainment</c:v>
                </c:pt>
                <c:pt idx="5">
                  <c:v>Information</c:v>
                </c:pt>
                <c:pt idx="6">
                  <c:v>Transportation</c:v>
                </c:pt>
                <c:pt idx="7">
                  <c:v>Mining</c:v>
                </c:pt>
                <c:pt idx="8">
                  <c:v>Other Svcs</c:v>
                </c:pt>
                <c:pt idx="9">
                  <c:v>Finance</c:v>
                </c:pt>
                <c:pt idx="10">
                  <c:v>Wholesale</c:v>
                </c:pt>
                <c:pt idx="11">
                  <c:v>Manufacturing</c:v>
                </c:pt>
                <c:pt idx="12">
                  <c:v>Admin/Support &amp; Waste Mgmt</c:v>
                </c:pt>
                <c:pt idx="13">
                  <c:v>Construction</c:v>
                </c:pt>
                <c:pt idx="14">
                  <c:v>Professional, Scientific, &amp; Tech Svc</c:v>
                </c:pt>
                <c:pt idx="15">
                  <c:v>Educational Svcs</c:v>
                </c:pt>
                <c:pt idx="16">
                  <c:v>Accommodation &amp; Food Svcs</c:v>
                </c:pt>
                <c:pt idx="17">
                  <c:v>Retail Trade</c:v>
                </c:pt>
                <c:pt idx="18">
                  <c:v>Government (Admin. Only)</c:v>
                </c:pt>
                <c:pt idx="19">
                  <c:v>Health Care &amp; Social Assistance</c:v>
                </c:pt>
              </c:strCache>
            </c:strRef>
          </c:cat>
          <c:val>
            <c:numRef>
              <c:f>'Industry Mix'!$B$34:$B$53</c:f>
              <c:numCache>
                <c:formatCode>#,##0</c:formatCode>
                <c:ptCount val="20"/>
                <c:pt idx="0">
                  <c:v>4613</c:v>
                </c:pt>
                <c:pt idx="1">
                  <c:v>5080</c:v>
                </c:pt>
                <c:pt idx="2">
                  <c:v>9950</c:v>
                </c:pt>
                <c:pt idx="3">
                  <c:v>10704</c:v>
                </c:pt>
                <c:pt idx="4">
                  <c:v>13970</c:v>
                </c:pt>
                <c:pt idx="5">
                  <c:v>14721</c:v>
                </c:pt>
                <c:pt idx="6">
                  <c:v>17756</c:v>
                </c:pt>
                <c:pt idx="7">
                  <c:v>19453</c:v>
                </c:pt>
                <c:pt idx="8">
                  <c:v>21413</c:v>
                </c:pt>
                <c:pt idx="9">
                  <c:v>22142</c:v>
                </c:pt>
                <c:pt idx="10">
                  <c:v>22475</c:v>
                </c:pt>
                <c:pt idx="11">
                  <c:v>30876</c:v>
                </c:pt>
                <c:pt idx="12">
                  <c:v>45812</c:v>
                </c:pt>
                <c:pt idx="13">
                  <c:v>51696</c:v>
                </c:pt>
                <c:pt idx="14">
                  <c:v>56147</c:v>
                </c:pt>
                <c:pt idx="15">
                  <c:v>81104</c:v>
                </c:pt>
                <c:pt idx="16">
                  <c:v>81637</c:v>
                </c:pt>
                <c:pt idx="17">
                  <c:v>92471</c:v>
                </c:pt>
                <c:pt idx="18">
                  <c:v>93680</c:v>
                </c:pt>
                <c:pt idx="19">
                  <c:v>113083</c:v>
                </c:pt>
              </c:numCache>
            </c:numRef>
          </c:val>
        </c:ser>
        <c:dLbls>
          <c:showCatName val="1"/>
        </c:dLbls>
        <c:firstSliceAng val="0"/>
      </c:pieChart>
    </c:plotArea>
    <c:plotVisOnly val="1"/>
  </c:chart>
  <c:txPr>
    <a:bodyPr/>
    <a:lstStyle/>
    <a:p>
      <a:pPr>
        <a:defRPr sz="1800"/>
      </a:pPr>
      <a:endParaRPr lang="en-US"/>
    </a:p>
  </c:txPr>
  <c:externalData r:id="rId1"/>
</c:chartSpace>
</file>

<file path=ppt/charts/chart1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100" b="1" i="0" baseline="0"/>
              <a:t>Chart 1: Number of Statewide Unemployed by Duration (in Weeks of Unemployment) </a:t>
            </a:r>
            <a:endParaRPr lang="en-US" sz="1100"/>
          </a:p>
        </c:rich>
      </c:tx>
      <c:layout>
        <c:manualLayout>
          <c:xMode val="edge"/>
          <c:yMode val="edge"/>
          <c:x val="4.6998421209339114E-2"/>
          <c:y val="3.6302522930061434E-2"/>
        </c:manualLayout>
      </c:layout>
    </c:title>
    <c:plotArea>
      <c:layout>
        <c:manualLayout>
          <c:layoutTarget val="inner"/>
          <c:xMode val="edge"/>
          <c:yMode val="edge"/>
          <c:x val="5.7388790336100497E-2"/>
          <c:y val="8.3763069344965746E-2"/>
          <c:w val="0.89966018875300158"/>
          <c:h val="0.83908057111522849"/>
        </c:manualLayout>
      </c:layout>
      <c:barChart>
        <c:barDir val="col"/>
        <c:grouping val="stacked"/>
        <c:ser>
          <c:idx val="0"/>
          <c:order val="0"/>
          <c:tx>
            <c:strRef>
              <c:f>duration!$H$61</c:f>
              <c:strCache>
                <c:ptCount val="1"/>
                <c:pt idx="0">
                  <c:v>&lt;5</c:v>
                </c:pt>
              </c:strCache>
            </c:strRef>
          </c:tx>
          <c:cat>
            <c:strRef>
              <c:f>duration!$Q$60:$AD$60</c:f>
              <c:strCache>
                <c:ptCount val="14"/>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strCache>
            </c:strRef>
          </c:cat>
          <c:val>
            <c:numRef>
              <c:f>duration!$Q$61:$AD$61</c:f>
              <c:numCache>
                <c:formatCode>0.0</c:formatCode>
                <c:ptCount val="14"/>
                <c:pt idx="0">
                  <c:v>15.175000000000002</c:v>
                </c:pt>
                <c:pt idx="1">
                  <c:v>15.925000000000004</c:v>
                </c:pt>
                <c:pt idx="2">
                  <c:v>16.424999999999986</c:v>
                </c:pt>
                <c:pt idx="3">
                  <c:v>17.024999999999999</c:v>
                </c:pt>
                <c:pt idx="4">
                  <c:v>18.849999999999987</c:v>
                </c:pt>
                <c:pt idx="5">
                  <c:v>19.624999999999996</c:v>
                </c:pt>
                <c:pt idx="6">
                  <c:v>20.824999999999996</c:v>
                </c:pt>
                <c:pt idx="7">
                  <c:v>21.75</c:v>
                </c:pt>
                <c:pt idx="8">
                  <c:v>21.050000000000004</c:v>
                </c:pt>
                <c:pt idx="9">
                  <c:v>20.400000000000006</c:v>
                </c:pt>
                <c:pt idx="10">
                  <c:v>18.074999999999992</c:v>
                </c:pt>
                <c:pt idx="11">
                  <c:v>17.424999999999986</c:v>
                </c:pt>
                <c:pt idx="12">
                  <c:v>16.024999999999999</c:v>
                </c:pt>
                <c:pt idx="13">
                  <c:v>13.950000000000006</c:v>
                </c:pt>
              </c:numCache>
            </c:numRef>
          </c:val>
        </c:ser>
        <c:ser>
          <c:idx val="1"/>
          <c:order val="1"/>
          <c:tx>
            <c:strRef>
              <c:f>duration!$H$62</c:f>
              <c:strCache>
                <c:ptCount val="1"/>
                <c:pt idx="0">
                  <c:v>5-14</c:v>
                </c:pt>
              </c:strCache>
            </c:strRef>
          </c:tx>
          <c:cat>
            <c:strRef>
              <c:f>duration!$Q$60:$AD$60</c:f>
              <c:strCache>
                <c:ptCount val="14"/>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strCache>
            </c:strRef>
          </c:cat>
          <c:val>
            <c:numRef>
              <c:f>duration!$Q$62:$AD$62</c:f>
              <c:numCache>
                <c:formatCode>0.0</c:formatCode>
                <c:ptCount val="14"/>
                <c:pt idx="0">
                  <c:v>9.9750000000000068</c:v>
                </c:pt>
                <c:pt idx="1">
                  <c:v>10.6</c:v>
                </c:pt>
                <c:pt idx="2">
                  <c:v>12.100000000000001</c:v>
                </c:pt>
                <c:pt idx="3">
                  <c:v>12.625</c:v>
                </c:pt>
                <c:pt idx="4">
                  <c:v>14.625</c:v>
                </c:pt>
                <c:pt idx="5">
                  <c:v>17.25</c:v>
                </c:pt>
                <c:pt idx="6">
                  <c:v>19.350000000000001</c:v>
                </c:pt>
                <c:pt idx="7">
                  <c:v>19.824999999999999</c:v>
                </c:pt>
                <c:pt idx="8">
                  <c:v>19.774999999999999</c:v>
                </c:pt>
                <c:pt idx="9">
                  <c:v>19.774999999999999</c:v>
                </c:pt>
                <c:pt idx="10">
                  <c:v>18.05</c:v>
                </c:pt>
                <c:pt idx="11">
                  <c:v>17.099999999999987</c:v>
                </c:pt>
                <c:pt idx="12">
                  <c:v>17</c:v>
                </c:pt>
                <c:pt idx="13">
                  <c:v>15.55</c:v>
                </c:pt>
              </c:numCache>
            </c:numRef>
          </c:val>
        </c:ser>
        <c:ser>
          <c:idx val="2"/>
          <c:order val="2"/>
          <c:tx>
            <c:strRef>
              <c:f>duration!$H$63</c:f>
              <c:strCache>
                <c:ptCount val="1"/>
                <c:pt idx="0">
                  <c:v>15-26</c:v>
                </c:pt>
              </c:strCache>
            </c:strRef>
          </c:tx>
          <c:cat>
            <c:strRef>
              <c:f>duration!$Q$60:$AD$60</c:f>
              <c:strCache>
                <c:ptCount val="14"/>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strCache>
            </c:strRef>
          </c:cat>
          <c:val>
            <c:numRef>
              <c:f>duration!$Q$63:$AD$63</c:f>
              <c:numCache>
                <c:formatCode>0.0</c:formatCode>
                <c:ptCount val="14"/>
                <c:pt idx="0">
                  <c:v>5.4</c:v>
                </c:pt>
                <c:pt idx="1">
                  <c:v>5.3249999999999771</c:v>
                </c:pt>
                <c:pt idx="2">
                  <c:v>4.6499999999999995</c:v>
                </c:pt>
                <c:pt idx="3">
                  <c:v>4.0750000000000002</c:v>
                </c:pt>
                <c:pt idx="4">
                  <c:v>4.1999999999999975</c:v>
                </c:pt>
                <c:pt idx="5">
                  <c:v>5.4749999999999996</c:v>
                </c:pt>
                <c:pt idx="6">
                  <c:v>8.3750000000000266</c:v>
                </c:pt>
                <c:pt idx="7">
                  <c:v>11.400000000000002</c:v>
                </c:pt>
                <c:pt idx="8">
                  <c:v>13.625</c:v>
                </c:pt>
                <c:pt idx="9">
                  <c:v>15.425000000000002</c:v>
                </c:pt>
                <c:pt idx="10">
                  <c:v>14.65</c:v>
                </c:pt>
                <c:pt idx="11">
                  <c:v>14.05</c:v>
                </c:pt>
                <c:pt idx="12">
                  <c:v>13.575000000000006</c:v>
                </c:pt>
                <c:pt idx="13">
                  <c:v>12.875000000000044</c:v>
                </c:pt>
              </c:numCache>
            </c:numRef>
          </c:val>
        </c:ser>
        <c:ser>
          <c:idx val="3"/>
          <c:order val="3"/>
          <c:tx>
            <c:strRef>
              <c:f>duration!$H$64</c:f>
              <c:strCache>
                <c:ptCount val="1"/>
                <c:pt idx="0">
                  <c:v>27-51</c:v>
                </c:pt>
              </c:strCache>
            </c:strRef>
          </c:tx>
          <c:cat>
            <c:strRef>
              <c:f>duration!$Q$60:$AD$60</c:f>
              <c:strCache>
                <c:ptCount val="14"/>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strCache>
            </c:strRef>
          </c:cat>
          <c:val>
            <c:numRef>
              <c:f>duration!$Q$64:$AD$64</c:f>
              <c:numCache>
                <c:formatCode>0.0</c:formatCode>
                <c:ptCount val="14"/>
                <c:pt idx="0">
                  <c:v>1.35</c:v>
                </c:pt>
                <c:pt idx="1">
                  <c:v>1.2749999999999946</c:v>
                </c:pt>
                <c:pt idx="2">
                  <c:v>1.5249999999999946</c:v>
                </c:pt>
                <c:pt idx="3">
                  <c:v>1.9750000000000001</c:v>
                </c:pt>
                <c:pt idx="4">
                  <c:v>1.9750000000000001</c:v>
                </c:pt>
                <c:pt idx="5">
                  <c:v>2.0249999999999999</c:v>
                </c:pt>
                <c:pt idx="6">
                  <c:v>3.05</c:v>
                </c:pt>
                <c:pt idx="7">
                  <c:v>6.1</c:v>
                </c:pt>
                <c:pt idx="8">
                  <c:v>10.225</c:v>
                </c:pt>
                <c:pt idx="9">
                  <c:v>13.15</c:v>
                </c:pt>
                <c:pt idx="10">
                  <c:v>13.925000000000002</c:v>
                </c:pt>
                <c:pt idx="11">
                  <c:v>13.975000000000026</c:v>
                </c:pt>
                <c:pt idx="12">
                  <c:v>13.075000000000006</c:v>
                </c:pt>
                <c:pt idx="13">
                  <c:v>12.125</c:v>
                </c:pt>
              </c:numCache>
            </c:numRef>
          </c:val>
        </c:ser>
        <c:ser>
          <c:idx val="4"/>
          <c:order val="4"/>
          <c:tx>
            <c:strRef>
              <c:f>duration!$H$65</c:f>
              <c:strCache>
                <c:ptCount val="1"/>
                <c:pt idx="0">
                  <c:v>52+</c:v>
                </c:pt>
              </c:strCache>
            </c:strRef>
          </c:tx>
          <c:spPr>
            <a:solidFill>
              <a:schemeClr val="bg2">
                <a:lumMod val="50000"/>
              </a:schemeClr>
            </a:solidFill>
          </c:spPr>
          <c:cat>
            <c:strRef>
              <c:f>duration!$Q$60:$AD$60</c:f>
              <c:strCache>
                <c:ptCount val="14"/>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strCache>
            </c:strRef>
          </c:cat>
          <c:val>
            <c:numRef>
              <c:f>duration!$Q$65:$AD$65</c:f>
              <c:numCache>
                <c:formatCode>0.0</c:formatCode>
                <c:ptCount val="14"/>
                <c:pt idx="0">
                  <c:v>3.0500000000000003</c:v>
                </c:pt>
                <c:pt idx="1">
                  <c:v>2.8</c:v>
                </c:pt>
                <c:pt idx="2">
                  <c:v>2.8749999999999987</c:v>
                </c:pt>
                <c:pt idx="3">
                  <c:v>2.6500000000000004</c:v>
                </c:pt>
                <c:pt idx="4">
                  <c:v>3.4</c:v>
                </c:pt>
                <c:pt idx="5">
                  <c:v>4.6749999999999945</c:v>
                </c:pt>
                <c:pt idx="6">
                  <c:v>5.2999999999999989</c:v>
                </c:pt>
                <c:pt idx="7">
                  <c:v>6.024999999999979</c:v>
                </c:pt>
                <c:pt idx="8">
                  <c:v>7.4</c:v>
                </c:pt>
                <c:pt idx="9">
                  <c:v>9.625</c:v>
                </c:pt>
                <c:pt idx="10">
                  <c:v>12.400000000000002</c:v>
                </c:pt>
                <c:pt idx="11">
                  <c:v>14.8</c:v>
                </c:pt>
                <c:pt idx="12">
                  <c:v>19.024999999999999</c:v>
                </c:pt>
                <c:pt idx="13">
                  <c:v>19.125</c:v>
                </c:pt>
              </c:numCache>
            </c:numRef>
          </c:val>
        </c:ser>
        <c:overlap val="100"/>
        <c:axId val="99595392"/>
        <c:axId val="99597312"/>
      </c:barChart>
      <c:catAx>
        <c:axId val="99595392"/>
        <c:scaling>
          <c:orientation val="minMax"/>
        </c:scaling>
        <c:axPos val="b"/>
        <c:title>
          <c:tx>
            <c:rich>
              <a:bodyPr/>
              <a:lstStyle/>
              <a:p>
                <a:pPr>
                  <a:defRPr/>
                </a:pPr>
                <a:r>
                  <a:rPr lang="en-US"/>
                  <a:t>Four-Quarter Period</a:t>
                </a:r>
              </a:p>
            </c:rich>
          </c:tx>
        </c:title>
        <c:tickLblPos val="nextTo"/>
        <c:crossAx val="99597312"/>
        <c:crosses val="autoZero"/>
        <c:auto val="1"/>
        <c:lblAlgn val="ctr"/>
        <c:lblOffset val="100"/>
      </c:catAx>
      <c:valAx>
        <c:axId val="99597312"/>
        <c:scaling>
          <c:orientation val="minMax"/>
        </c:scaling>
        <c:axPos val="l"/>
        <c:majorGridlines/>
        <c:title>
          <c:tx>
            <c:rich>
              <a:bodyPr rot="-5400000" vert="horz"/>
              <a:lstStyle/>
              <a:p>
                <a:pPr>
                  <a:defRPr/>
                </a:pPr>
                <a:r>
                  <a:rPr lang="en-US"/>
                  <a:t>Total Unemployed (Thousands)</a:t>
                </a:r>
              </a:p>
            </c:rich>
          </c:tx>
        </c:title>
        <c:numFmt formatCode="0" sourceLinked="0"/>
        <c:tickLblPos val="nextTo"/>
        <c:crossAx val="99595392"/>
        <c:crosses val="autoZero"/>
        <c:crossBetween val="between"/>
      </c:valAx>
      <c:spPr>
        <a:ln w="19050">
          <a:solidFill>
            <a:schemeClr val="tx1"/>
          </a:solidFill>
        </a:ln>
      </c:spPr>
    </c:plotArea>
    <c:legend>
      <c:legendPos val="r"/>
      <c:layout>
        <c:manualLayout>
          <c:xMode val="edge"/>
          <c:yMode val="edge"/>
          <c:x val="0.21182638074496199"/>
          <c:y val="8.0519662834363265E-2"/>
          <c:w val="0.4630476908471548"/>
          <c:h val="0.11377728386302077"/>
        </c:manualLayout>
      </c:layout>
      <c:txPr>
        <a:bodyPr/>
        <a:lstStyle/>
        <a:p>
          <a:pPr>
            <a:defRPr sz="1600" baseline="0"/>
          </a:pPr>
          <a:endParaRPr lang="en-US"/>
        </a:p>
      </c:txPr>
    </c:legend>
    <c:plotVisOnly val="1"/>
  </c:chart>
  <c:spPr>
    <a:ln>
      <a:noFill/>
    </a:ln>
  </c:spPr>
  <c:externalData r:id="rId1"/>
</c:chartSpace>
</file>

<file path=ppt/charts/chart13.xml><?xml version="1.0" encoding="utf-8"?>
<c:chartSpace xmlns:c="http://schemas.openxmlformats.org/drawingml/2006/chart" xmlns:a="http://schemas.openxmlformats.org/drawingml/2006/main" xmlns:r="http://schemas.openxmlformats.org/officeDocument/2006/relationships">
  <c:date1904 val="1"/>
  <c:lang val="en-US"/>
  <c:chart>
    <c:plotArea>
      <c:layout/>
      <c:lineChart>
        <c:grouping val="standard"/>
        <c:ser>
          <c:idx val="3"/>
          <c:order val="0"/>
          <c:tx>
            <c:strRef>
              <c:f>Data!$E$3</c:f>
              <c:strCache>
                <c:ptCount val="1"/>
                <c:pt idx="0">
                  <c:v>   Men   </c:v>
                </c:pt>
              </c:strCache>
            </c:strRef>
          </c:tx>
          <c:marker>
            <c:symbol val="none"/>
          </c:marker>
          <c:cat>
            <c:numRef>
              <c:f>Data!$A$4:$A$772</c:f>
              <c:numCache>
                <c:formatCode>mmm\-yy</c:formatCode>
                <c:ptCount val="769"/>
                <c:pt idx="1">
                  <c:v>17533</c:v>
                </c:pt>
                <c:pt idx="2">
                  <c:v>17564</c:v>
                </c:pt>
                <c:pt idx="3">
                  <c:v>17593</c:v>
                </c:pt>
                <c:pt idx="4">
                  <c:v>17624</c:v>
                </c:pt>
                <c:pt idx="5">
                  <c:v>17654</c:v>
                </c:pt>
                <c:pt idx="6">
                  <c:v>17685</c:v>
                </c:pt>
                <c:pt idx="7">
                  <c:v>17715</c:v>
                </c:pt>
                <c:pt idx="8">
                  <c:v>17746</c:v>
                </c:pt>
                <c:pt idx="9">
                  <c:v>17777</c:v>
                </c:pt>
                <c:pt idx="10">
                  <c:v>17807</c:v>
                </c:pt>
                <c:pt idx="11">
                  <c:v>17838</c:v>
                </c:pt>
                <c:pt idx="12">
                  <c:v>17868</c:v>
                </c:pt>
                <c:pt idx="13">
                  <c:v>17899</c:v>
                </c:pt>
                <c:pt idx="14">
                  <c:v>17930</c:v>
                </c:pt>
                <c:pt idx="15">
                  <c:v>17958</c:v>
                </c:pt>
                <c:pt idx="16">
                  <c:v>17989</c:v>
                </c:pt>
                <c:pt idx="17">
                  <c:v>18019</c:v>
                </c:pt>
                <c:pt idx="18">
                  <c:v>18050</c:v>
                </c:pt>
                <c:pt idx="19">
                  <c:v>18080</c:v>
                </c:pt>
                <c:pt idx="20">
                  <c:v>18111</c:v>
                </c:pt>
                <c:pt idx="21">
                  <c:v>18142</c:v>
                </c:pt>
                <c:pt idx="22">
                  <c:v>18172</c:v>
                </c:pt>
                <c:pt idx="23">
                  <c:v>18203</c:v>
                </c:pt>
                <c:pt idx="24">
                  <c:v>18233</c:v>
                </c:pt>
                <c:pt idx="25">
                  <c:v>18264</c:v>
                </c:pt>
                <c:pt idx="26">
                  <c:v>18295</c:v>
                </c:pt>
                <c:pt idx="27">
                  <c:v>18323</c:v>
                </c:pt>
                <c:pt idx="28">
                  <c:v>18354</c:v>
                </c:pt>
                <c:pt idx="29">
                  <c:v>18384</c:v>
                </c:pt>
                <c:pt idx="30">
                  <c:v>18415</c:v>
                </c:pt>
                <c:pt idx="31">
                  <c:v>18445</c:v>
                </c:pt>
                <c:pt idx="32">
                  <c:v>18476</c:v>
                </c:pt>
                <c:pt idx="33">
                  <c:v>18507</c:v>
                </c:pt>
                <c:pt idx="34">
                  <c:v>18537</c:v>
                </c:pt>
                <c:pt idx="35">
                  <c:v>18568</c:v>
                </c:pt>
                <c:pt idx="36">
                  <c:v>18598</c:v>
                </c:pt>
                <c:pt idx="37">
                  <c:v>18629</c:v>
                </c:pt>
                <c:pt idx="38">
                  <c:v>18660</c:v>
                </c:pt>
                <c:pt idx="39">
                  <c:v>18688</c:v>
                </c:pt>
                <c:pt idx="40">
                  <c:v>18719</c:v>
                </c:pt>
                <c:pt idx="41">
                  <c:v>18749</c:v>
                </c:pt>
                <c:pt idx="42">
                  <c:v>18780</c:v>
                </c:pt>
                <c:pt idx="43">
                  <c:v>18810</c:v>
                </c:pt>
                <c:pt idx="44">
                  <c:v>18841</c:v>
                </c:pt>
                <c:pt idx="45">
                  <c:v>18872</c:v>
                </c:pt>
                <c:pt idx="46">
                  <c:v>18902</c:v>
                </c:pt>
                <c:pt idx="47">
                  <c:v>18933</c:v>
                </c:pt>
                <c:pt idx="48">
                  <c:v>18963</c:v>
                </c:pt>
                <c:pt idx="49">
                  <c:v>18994</c:v>
                </c:pt>
                <c:pt idx="50">
                  <c:v>19025</c:v>
                </c:pt>
                <c:pt idx="51">
                  <c:v>19054</c:v>
                </c:pt>
                <c:pt idx="52">
                  <c:v>19085</c:v>
                </c:pt>
                <c:pt idx="53">
                  <c:v>19115</c:v>
                </c:pt>
                <c:pt idx="54">
                  <c:v>19146</c:v>
                </c:pt>
                <c:pt idx="55">
                  <c:v>19176</c:v>
                </c:pt>
                <c:pt idx="56">
                  <c:v>19207</c:v>
                </c:pt>
                <c:pt idx="57">
                  <c:v>19238</c:v>
                </c:pt>
                <c:pt idx="58">
                  <c:v>19268</c:v>
                </c:pt>
                <c:pt idx="59">
                  <c:v>19299</c:v>
                </c:pt>
                <c:pt idx="60">
                  <c:v>19329</c:v>
                </c:pt>
                <c:pt idx="61">
                  <c:v>19360</c:v>
                </c:pt>
                <c:pt idx="62">
                  <c:v>19391</c:v>
                </c:pt>
                <c:pt idx="63">
                  <c:v>19419</c:v>
                </c:pt>
                <c:pt idx="64">
                  <c:v>19450</c:v>
                </c:pt>
                <c:pt idx="65">
                  <c:v>19480</c:v>
                </c:pt>
                <c:pt idx="66">
                  <c:v>19511</c:v>
                </c:pt>
                <c:pt idx="67">
                  <c:v>19541</c:v>
                </c:pt>
                <c:pt idx="68">
                  <c:v>19572</c:v>
                </c:pt>
                <c:pt idx="69">
                  <c:v>19603</c:v>
                </c:pt>
                <c:pt idx="70">
                  <c:v>19633</c:v>
                </c:pt>
                <c:pt idx="71">
                  <c:v>19664</c:v>
                </c:pt>
                <c:pt idx="72">
                  <c:v>19694</c:v>
                </c:pt>
                <c:pt idx="73">
                  <c:v>19725</c:v>
                </c:pt>
                <c:pt idx="74">
                  <c:v>19756</c:v>
                </c:pt>
                <c:pt idx="75">
                  <c:v>19784</c:v>
                </c:pt>
                <c:pt idx="76">
                  <c:v>19815</c:v>
                </c:pt>
                <c:pt idx="77">
                  <c:v>19845</c:v>
                </c:pt>
                <c:pt idx="78">
                  <c:v>19876</c:v>
                </c:pt>
                <c:pt idx="79">
                  <c:v>19906</c:v>
                </c:pt>
                <c:pt idx="80">
                  <c:v>19937</c:v>
                </c:pt>
                <c:pt idx="81">
                  <c:v>19968</c:v>
                </c:pt>
                <c:pt idx="82">
                  <c:v>19998</c:v>
                </c:pt>
                <c:pt idx="83">
                  <c:v>20029</c:v>
                </c:pt>
                <c:pt idx="84">
                  <c:v>20059</c:v>
                </c:pt>
                <c:pt idx="85">
                  <c:v>20090</c:v>
                </c:pt>
                <c:pt idx="86">
                  <c:v>20121</c:v>
                </c:pt>
                <c:pt idx="87">
                  <c:v>20149</c:v>
                </c:pt>
                <c:pt idx="88">
                  <c:v>20180</c:v>
                </c:pt>
                <c:pt idx="89">
                  <c:v>20210</c:v>
                </c:pt>
                <c:pt idx="90">
                  <c:v>20241</c:v>
                </c:pt>
                <c:pt idx="91">
                  <c:v>20271</c:v>
                </c:pt>
                <c:pt idx="92">
                  <c:v>20302</c:v>
                </c:pt>
                <c:pt idx="93">
                  <c:v>20333</c:v>
                </c:pt>
                <c:pt idx="94">
                  <c:v>20363</c:v>
                </c:pt>
                <c:pt idx="95">
                  <c:v>20394</c:v>
                </c:pt>
                <c:pt idx="96">
                  <c:v>20424</c:v>
                </c:pt>
                <c:pt idx="97">
                  <c:v>20455</c:v>
                </c:pt>
                <c:pt idx="98">
                  <c:v>20486</c:v>
                </c:pt>
                <c:pt idx="99">
                  <c:v>20515</c:v>
                </c:pt>
                <c:pt idx="100">
                  <c:v>20546</c:v>
                </c:pt>
                <c:pt idx="101">
                  <c:v>20576</c:v>
                </c:pt>
                <c:pt idx="102">
                  <c:v>20607</c:v>
                </c:pt>
                <c:pt idx="103">
                  <c:v>20637</c:v>
                </c:pt>
                <c:pt idx="104">
                  <c:v>20668</c:v>
                </c:pt>
                <c:pt idx="105">
                  <c:v>20699</c:v>
                </c:pt>
                <c:pt idx="106">
                  <c:v>20729</c:v>
                </c:pt>
                <c:pt idx="107">
                  <c:v>20760</c:v>
                </c:pt>
                <c:pt idx="108">
                  <c:v>20790</c:v>
                </c:pt>
                <c:pt idx="109">
                  <c:v>20821</c:v>
                </c:pt>
                <c:pt idx="110">
                  <c:v>20852</c:v>
                </c:pt>
                <c:pt idx="111">
                  <c:v>20880</c:v>
                </c:pt>
                <c:pt idx="112">
                  <c:v>20911</c:v>
                </c:pt>
                <c:pt idx="113">
                  <c:v>20941</c:v>
                </c:pt>
                <c:pt idx="114">
                  <c:v>20972</c:v>
                </c:pt>
                <c:pt idx="115">
                  <c:v>21002</c:v>
                </c:pt>
                <c:pt idx="116">
                  <c:v>21033</c:v>
                </c:pt>
                <c:pt idx="117">
                  <c:v>21064</c:v>
                </c:pt>
                <c:pt idx="118">
                  <c:v>21094</c:v>
                </c:pt>
                <c:pt idx="119">
                  <c:v>21125</c:v>
                </c:pt>
                <c:pt idx="120">
                  <c:v>21155</c:v>
                </c:pt>
                <c:pt idx="121">
                  <c:v>21186</c:v>
                </c:pt>
                <c:pt idx="122">
                  <c:v>21217</c:v>
                </c:pt>
                <c:pt idx="123">
                  <c:v>21245</c:v>
                </c:pt>
                <c:pt idx="124">
                  <c:v>21276</c:v>
                </c:pt>
                <c:pt idx="125">
                  <c:v>21306</c:v>
                </c:pt>
                <c:pt idx="126">
                  <c:v>21337</c:v>
                </c:pt>
                <c:pt idx="127">
                  <c:v>21367</c:v>
                </c:pt>
                <c:pt idx="128">
                  <c:v>21398</c:v>
                </c:pt>
                <c:pt idx="129">
                  <c:v>21429</c:v>
                </c:pt>
                <c:pt idx="130">
                  <c:v>21459</c:v>
                </c:pt>
                <c:pt idx="131">
                  <c:v>21490</c:v>
                </c:pt>
                <c:pt idx="132">
                  <c:v>21520</c:v>
                </c:pt>
                <c:pt idx="133">
                  <c:v>21551</c:v>
                </c:pt>
                <c:pt idx="134">
                  <c:v>21582</c:v>
                </c:pt>
                <c:pt idx="135">
                  <c:v>21610</c:v>
                </c:pt>
                <c:pt idx="136">
                  <c:v>21641</c:v>
                </c:pt>
                <c:pt idx="137">
                  <c:v>21671</c:v>
                </c:pt>
                <c:pt idx="138">
                  <c:v>21702</c:v>
                </c:pt>
                <c:pt idx="139">
                  <c:v>21732</c:v>
                </c:pt>
                <c:pt idx="140">
                  <c:v>21763</c:v>
                </c:pt>
                <c:pt idx="141">
                  <c:v>21794</c:v>
                </c:pt>
                <c:pt idx="142">
                  <c:v>21824</c:v>
                </c:pt>
                <c:pt idx="143">
                  <c:v>21855</c:v>
                </c:pt>
                <c:pt idx="144">
                  <c:v>21885</c:v>
                </c:pt>
                <c:pt idx="145">
                  <c:v>21916</c:v>
                </c:pt>
                <c:pt idx="146">
                  <c:v>21947</c:v>
                </c:pt>
                <c:pt idx="147">
                  <c:v>21976</c:v>
                </c:pt>
                <c:pt idx="148">
                  <c:v>22007</c:v>
                </c:pt>
                <c:pt idx="149">
                  <c:v>22037</c:v>
                </c:pt>
                <c:pt idx="150">
                  <c:v>22068</c:v>
                </c:pt>
                <c:pt idx="151">
                  <c:v>22098</c:v>
                </c:pt>
                <c:pt idx="152">
                  <c:v>22129</c:v>
                </c:pt>
                <c:pt idx="153">
                  <c:v>22160</c:v>
                </c:pt>
                <c:pt idx="154">
                  <c:v>22190</c:v>
                </c:pt>
                <c:pt idx="155">
                  <c:v>22221</c:v>
                </c:pt>
                <c:pt idx="156">
                  <c:v>22251</c:v>
                </c:pt>
                <c:pt idx="157">
                  <c:v>22282</c:v>
                </c:pt>
                <c:pt idx="158">
                  <c:v>22313</c:v>
                </c:pt>
                <c:pt idx="159">
                  <c:v>22341</c:v>
                </c:pt>
                <c:pt idx="160">
                  <c:v>22372</c:v>
                </c:pt>
                <c:pt idx="161">
                  <c:v>22402</c:v>
                </c:pt>
                <c:pt idx="162">
                  <c:v>22433</c:v>
                </c:pt>
                <c:pt idx="163">
                  <c:v>22463</c:v>
                </c:pt>
                <c:pt idx="164">
                  <c:v>22494</c:v>
                </c:pt>
                <c:pt idx="165">
                  <c:v>22525</c:v>
                </c:pt>
                <c:pt idx="166">
                  <c:v>22555</c:v>
                </c:pt>
                <c:pt idx="167">
                  <c:v>22586</c:v>
                </c:pt>
                <c:pt idx="168">
                  <c:v>22616</c:v>
                </c:pt>
                <c:pt idx="169">
                  <c:v>22647</c:v>
                </c:pt>
                <c:pt idx="170">
                  <c:v>22678</c:v>
                </c:pt>
                <c:pt idx="171">
                  <c:v>22706</c:v>
                </c:pt>
                <c:pt idx="172">
                  <c:v>22737</c:v>
                </c:pt>
                <c:pt idx="173">
                  <c:v>22767</c:v>
                </c:pt>
                <c:pt idx="174">
                  <c:v>22798</c:v>
                </c:pt>
                <c:pt idx="175">
                  <c:v>22828</c:v>
                </c:pt>
                <c:pt idx="176">
                  <c:v>22859</c:v>
                </c:pt>
                <c:pt idx="177">
                  <c:v>22890</c:v>
                </c:pt>
                <c:pt idx="178">
                  <c:v>22920</c:v>
                </c:pt>
                <c:pt idx="179">
                  <c:v>22951</c:v>
                </c:pt>
                <c:pt idx="180">
                  <c:v>22981</c:v>
                </c:pt>
                <c:pt idx="181">
                  <c:v>23012</c:v>
                </c:pt>
                <c:pt idx="182">
                  <c:v>23043</c:v>
                </c:pt>
                <c:pt idx="183">
                  <c:v>23071</c:v>
                </c:pt>
                <c:pt idx="184">
                  <c:v>23102</c:v>
                </c:pt>
                <c:pt idx="185">
                  <c:v>23132</c:v>
                </c:pt>
                <c:pt idx="186">
                  <c:v>23163</c:v>
                </c:pt>
                <c:pt idx="187">
                  <c:v>23193</c:v>
                </c:pt>
                <c:pt idx="188">
                  <c:v>23224</c:v>
                </c:pt>
                <c:pt idx="189">
                  <c:v>23255</c:v>
                </c:pt>
                <c:pt idx="190">
                  <c:v>23285</c:v>
                </c:pt>
                <c:pt idx="191">
                  <c:v>23316</c:v>
                </c:pt>
                <c:pt idx="192">
                  <c:v>23346</c:v>
                </c:pt>
                <c:pt idx="193">
                  <c:v>23377</c:v>
                </c:pt>
                <c:pt idx="194">
                  <c:v>23408</c:v>
                </c:pt>
                <c:pt idx="195">
                  <c:v>23437</c:v>
                </c:pt>
                <c:pt idx="196">
                  <c:v>23468</c:v>
                </c:pt>
                <c:pt idx="197">
                  <c:v>23498</c:v>
                </c:pt>
                <c:pt idx="198">
                  <c:v>23529</c:v>
                </c:pt>
                <c:pt idx="199">
                  <c:v>23559</c:v>
                </c:pt>
                <c:pt idx="200">
                  <c:v>23590</c:v>
                </c:pt>
                <c:pt idx="201">
                  <c:v>23621</c:v>
                </c:pt>
                <c:pt idx="202">
                  <c:v>23651</c:v>
                </c:pt>
                <c:pt idx="203">
                  <c:v>23682</c:v>
                </c:pt>
                <c:pt idx="204">
                  <c:v>23712</c:v>
                </c:pt>
                <c:pt idx="205">
                  <c:v>23743</c:v>
                </c:pt>
                <c:pt idx="206">
                  <c:v>23774</c:v>
                </c:pt>
                <c:pt idx="207">
                  <c:v>23802</c:v>
                </c:pt>
                <c:pt idx="208">
                  <c:v>23833</c:v>
                </c:pt>
                <c:pt idx="209">
                  <c:v>23863</c:v>
                </c:pt>
                <c:pt idx="210">
                  <c:v>23894</c:v>
                </c:pt>
                <c:pt idx="211">
                  <c:v>23924</c:v>
                </c:pt>
                <c:pt idx="212">
                  <c:v>23955</c:v>
                </c:pt>
                <c:pt idx="213">
                  <c:v>23986</c:v>
                </c:pt>
                <c:pt idx="214">
                  <c:v>24016</c:v>
                </c:pt>
                <c:pt idx="215">
                  <c:v>24047</c:v>
                </c:pt>
                <c:pt idx="216">
                  <c:v>24077</c:v>
                </c:pt>
                <c:pt idx="217">
                  <c:v>24108</c:v>
                </c:pt>
                <c:pt idx="218">
                  <c:v>24139</c:v>
                </c:pt>
                <c:pt idx="219">
                  <c:v>24167</c:v>
                </c:pt>
                <c:pt idx="220">
                  <c:v>24198</c:v>
                </c:pt>
                <c:pt idx="221">
                  <c:v>24228</c:v>
                </c:pt>
                <c:pt idx="222">
                  <c:v>24259</c:v>
                </c:pt>
                <c:pt idx="223">
                  <c:v>24289</c:v>
                </c:pt>
                <c:pt idx="224">
                  <c:v>24320</c:v>
                </c:pt>
                <c:pt idx="225">
                  <c:v>24351</c:v>
                </c:pt>
                <c:pt idx="226">
                  <c:v>24381</c:v>
                </c:pt>
                <c:pt idx="227">
                  <c:v>24412</c:v>
                </c:pt>
                <c:pt idx="228">
                  <c:v>24442</c:v>
                </c:pt>
                <c:pt idx="229">
                  <c:v>24473</c:v>
                </c:pt>
                <c:pt idx="230">
                  <c:v>24504</c:v>
                </c:pt>
                <c:pt idx="231">
                  <c:v>24532</c:v>
                </c:pt>
                <c:pt idx="232">
                  <c:v>24563</c:v>
                </c:pt>
                <c:pt idx="233">
                  <c:v>24593</c:v>
                </c:pt>
                <c:pt idx="234">
                  <c:v>24624</c:v>
                </c:pt>
                <c:pt idx="235">
                  <c:v>24654</c:v>
                </c:pt>
                <c:pt idx="236">
                  <c:v>24685</c:v>
                </c:pt>
                <c:pt idx="237">
                  <c:v>24716</c:v>
                </c:pt>
                <c:pt idx="238">
                  <c:v>24746</c:v>
                </c:pt>
                <c:pt idx="239">
                  <c:v>24777</c:v>
                </c:pt>
                <c:pt idx="240">
                  <c:v>24807</c:v>
                </c:pt>
                <c:pt idx="241">
                  <c:v>24838</c:v>
                </c:pt>
                <c:pt idx="242">
                  <c:v>24869</c:v>
                </c:pt>
                <c:pt idx="243">
                  <c:v>24898</c:v>
                </c:pt>
                <c:pt idx="244">
                  <c:v>24929</c:v>
                </c:pt>
                <c:pt idx="245">
                  <c:v>24959</c:v>
                </c:pt>
                <c:pt idx="246">
                  <c:v>24990</c:v>
                </c:pt>
                <c:pt idx="247">
                  <c:v>25020</c:v>
                </c:pt>
                <c:pt idx="248">
                  <c:v>25051</c:v>
                </c:pt>
                <c:pt idx="249">
                  <c:v>25082</c:v>
                </c:pt>
                <c:pt idx="250">
                  <c:v>25112</c:v>
                </c:pt>
                <c:pt idx="251">
                  <c:v>25143</c:v>
                </c:pt>
                <c:pt idx="252">
                  <c:v>25173</c:v>
                </c:pt>
                <c:pt idx="253">
                  <c:v>25204</c:v>
                </c:pt>
                <c:pt idx="254">
                  <c:v>25235</c:v>
                </c:pt>
                <c:pt idx="255">
                  <c:v>25263</c:v>
                </c:pt>
                <c:pt idx="256">
                  <c:v>25294</c:v>
                </c:pt>
                <c:pt idx="257">
                  <c:v>25324</c:v>
                </c:pt>
                <c:pt idx="258">
                  <c:v>25355</c:v>
                </c:pt>
                <c:pt idx="259">
                  <c:v>25385</c:v>
                </c:pt>
                <c:pt idx="260">
                  <c:v>25416</c:v>
                </c:pt>
                <c:pt idx="261">
                  <c:v>25447</c:v>
                </c:pt>
                <c:pt idx="262">
                  <c:v>25477</c:v>
                </c:pt>
                <c:pt idx="263">
                  <c:v>25508</c:v>
                </c:pt>
                <c:pt idx="264">
                  <c:v>25538</c:v>
                </c:pt>
                <c:pt idx="265">
                  <c:v>25569</c:v>
                </c:pt>
                <c:pt idx="266">
                  <c:v>25600</c:v>
                </c:pt>
                <c:pt idx="267">
                  <c:v>25628</c:v>
                </c:pt>
                <c:pt idx="268">
                  <c:v>25659</c:v>
                </c:pt>
                <c:pt idx="269">
                  <c:v>25689</c:v>
                </c:pt>
                <c:pt idx="270">
                  <c:v>25720</c:v>
                </c:pt>
                <c:pt idx="271">
                  <c:v>25750</c:v>
                </c:pt>
                <c:pt idx="272">
                  <c:v>25781</c:v>
                </c:pt>
                <c:pt idx="273">
                  <c:v>25812</c:v>
                </c:pt>
                <c:pt idx="274">
                  <c:v>25842</c:v>
                </c:pt>
                <c:pt idx="275">
                  <c:v>25873</c:v>
                </c:pt>
                <c:pt idx="276">
                  <c:v>25903</c:v>
                </c:pt>
                <c:pt idx="277">
                  <c:v>25934</c:v>
                </c:pt>
                <c:pt idx="278">
                  <c:v>25965</c:v>
                </c:pt>
                <c:pt idx="279">
                  <c:v>25993</c:v>
                </c:pt>
                <c:pt idx="280">
                  <c:v>26024</c:v>
                </c:pt>
                <c:pt idx="281">
                  <c:v>26054</c:v>
                </c:pt>
                <c:pt idx="282">
                  <c:v>26085</c:v>
                </c:pt>
                <c:pt idx="283">
                  <c:v>26115</c:v>
                </c:pt>
                <c:pt idx="284">
                  <c:v>26146</c:v>
                </c:pt>
                <c:pt idx="285">
                  <c:v>26177</c:v>
                </c:pt>
                <c:pt idx="286">
                  <c:v>26207</c:v>
                </c:pt>
                <c:pt idx="287">
                  <c:v>26238</c:v>
                </c:pt>
                <c:pt idx="288">
                  <c:v>26268</c:v>
                </c:pt>
                <c:pt idx="289">
                  <c:v>26299</c:v>
                </c:pt>
                <c:pt idx="290">
                  <c:v>26330</c:v>
                </c:pt>
                <c:pt idx="291">
                  <c:v>26359</c:v>
                </c:pt>
                <c:pt idx="292">
                  <c:v>26390</c:v>
                </c:pt>
                <c:pt idx="293">
                  <c:v>26420</c:v>
                </c:pt>
                <c:pt idx="294">
                  <c:v>26451</c:v>
                </c:pt>
                <c:pt idx="295">
                  <c:v>26481</c:v>
                </c:pt>
                <c:pt idx="296">
                  <c:v>26512</c:v>
                </c:pt>
                <c:pt idx="297">
                  <c:v>26543</c:v>
                </c:pt>
                <c:pt idx="298">
                  <c:v>26573</c:v>
                </c:pt>
                <c:pt idx="299">
                  <c:v>26604</c:v>
                </c:pt>
                <c:pt idx="300">
                  <c:v>26634</c:v>
                </c:pt>
                <c:pt idx="301">
                  <c:v>26665</c:v>
                </c:pt>
                <c:pt idx="302">
                  <c:v>26696</c:v>
                </c:pt>
                <c:pt idx="303">
                  <c:v>26724</c:v>
                </c:pt>
                <c:pt idx="304">
                  <c:v>26755</c:v>
                </c:pt>
                <c:pt idx="305">
                  <c:v>26785</c:v>
                </c:pt>
                <c:pt idx="306">
                  <c:v>26816</c:v>
                </c:pt>
                <c:pt idx="307">
                  <c:v>26846</c:v>
                </c:pt>
                <c:pt idx="308">
                  <c:v>26877</c:v>
                </c:pt>
                <c:pt idx="309">
                  <c:v>26908</c:v>
                </c:pt>
                <c:pt idx="310">
                  <c:v>26938</c:v>
                </c:pt>
                <c:pt idx="311">
                  <c:v>26969</c:v>
                </c:pt>
                <c:pt idx="312">
                  <c:v>26999</c:v>
                </c:pt>
                <c:pt idx="313">
                  <c:v>27030</c:v>
                </c:pt>
                <c:pt idx="314">
                  <c:v>27061</c:v>
                </c:pt>
                <c:pt idx="315">
                  <c:v>27089</c:v>
                </c:pt>
                <c:pt idx="316">
                  <c:v>27120</c:v>
                </c:pt>
                <c:pt idx="317">
                  <c:v>27150</c:v>
                </c:pt>
                <c:pt idx="318">
                  <c:v>27181</c:v>
                </c:pt>
                <c:pt idx="319">
                  <c:v>27211</c:v>
                </c:pt>
                <c:pt idx="320">
                  <c:v>27242</c:v>
                </c:pt>
                <c:pt idx="321">
                  <c:v>27273</c:v>
                </c:pt>
                <c:pt idx="322">
                  <c:v>27303</c:v>
                </c:pt>
                <c:pt idx="323">
                  <c:v>27334</c:v>
                </c:pt>
                <c:pt idx="324">
                  <c:v>27364</c:v>
                </c:pt>
                <c:pt idx="325">
                  <c:v>27395</c:v>
                </c:pt>
                <c:pt idx="326">
                  <c:v>27426</c:v>
                </c:pt>
                <c:pt idx="327">
                  <c:v>27454</c:v>
                </c:pt>
                <c:pt idx="328">
                  <c:v>27485</c:v>
                </c:pt>
                <c:pt idx="329">
                  <c:v>27515</c:v>
                </c:pt>
                <c:pt idx="330">
                  <c:v>27546</c:v>
                </c:pt>
                <c:pt idx="331">
                  <c:v>27576</c:v>
                </c:pt>
                <c:pt idx="332">
                  <c:v>27607</c:v>
                </c:pt>
                <c:pt idx="333">
                  <c:v>27638</c:v>
                </c:pt>
                <c:pt idx="334">
                  <c:v>27668</c:v>
                </c:pt>
                <c:pt idx="335">
                  <c:v>27699</c:v>
                </c:pt>
                <c:pt idx="336">
                  <c:v>27729</c:v>
                </c:pt>
                <c:pt idx="337">
                  <c:v>27760</c:v>
                </c:pt>
                <c:pt idx="338">
                  <c:v>27791</c:v>
                </c:pt>
                <c:pt idx="339">
                  <c:v>27820</c:v>
                </c:pt>
                <c:pt idx="340">
                  <c:v>27851</c:v>
                </c:pt>
                <c:pt idx="341">
                  <c:v>27881</c:v>
                </c:pt>
                <c:pt idx="342">
                  <c:v>27912</c:v>
                </c:pt>
                <c:pt idx="343">
                  <c:v>27942</c:v>
                </c:pt>
                <c:pt idx="344">
                  <c:v>27973</c:v>
                </c:pt>
                <c:pt idx="345">
                  <c:v>28004</c:v>
                </c:pt>
                <c:pt idx="346">
                  <c:v>28034</c:v>
                </c:pt>
                <c:pt idx="347">
                  <c:v>28065</c:v>
                </c:pt>
                <c:pt idx="348">
                  <c:v>28095</c:v>
                </c:pt>
                <c:pt idx="349">
                  <c:v>28126</c:v>
                </c:pt>
                <c:pt idx="350">
                  <c:v>28157</c:v>
                </c:pt>
                <c:pt idx="351">
                  <c:v>28185</c:v>
                </c:pt>
                <c:pt idx="352">
                  <c:v>28216</c:v>
                </c:pt>
                <c:pt idx="353">
                  <c:v>28246</c:v>
                </c:pt>
                <c:pt idx="354">
                  <c:v>28277</c:v>
                </c:pt>
                <c:pt idx="355">
                  <c:v>28307</c:v>
                </c:pt>
                <c:pt idx="356">
                  <c:v>28338</c:v>
                </c:pt>
                <c:pt idx="357">
                  <c:v>28369</c:v>
                </c:pt>
                <c:pt idx="358">
                  <c:v>28399</c:v>
                </c:pt>
                <c:pt idx="359">
                  <c:v>28430</c:v>
                </c:pt>
                <c:pt idx="360">
                  <c:v>28460</c:v>
                </c:pt>
                <c:pt idx="361">
                  <c:v>28491</c:v>
                </c:pt>
                <c:pt idx="362">
                  <c:v>28522</c:v>
                </c:pt>
                <c:pt idx="363">
                  <c:v>28550</c:v>
                </c:pt>
                <c:pt idx="364">
                  <c:v>28581</c:v>
                </c:pt>
                <c:pt idx="365">
                  <c:v>28611</c:v>
                </c:pt>
                <c:pt idx="366">
                  <c:v>28642</c:v>
                </c:pt>
                <c:pt idx="367">
                  <c:v>28672</c:v>
                </c:pt>
                <c:pt idx="368">
                  <c:v>28703</c:v>
                </c:pt>
                <c:pt idx="369">
                  <c:v>28734</c:v>
                </c:pt>
                <c:pt idx="370">
                  <c:v>28764</c:v>
                </c:pt>
                <c:pt idx="371">
                  <c:v>28795</c:v>
                </c:pt>
                <c:pt idx="372">
                  <c:v>28825</c:v>
                </c:pt>
                <c:pt idx="373">
                  <c:v>28856</c:v>
                </c:pt>
                <c:pt idx="374">
                  <c:v>28887</c:v>
                </c:pt>
                <c:pt idx="375">
                  <c:v>28915</c:v>
                </c:pt>
                <c:pt idx="376">
                  <c:v>28946</c:v>
                </c:pt>
                <c:pt idx="377">
                  <c:v>28976</c:v>
                </c:pt>
                <c:pt idx="378">
                  <c:v>29007</c:v>
                </c:pt>
                <c:pt idx="379">
                  <c:v>29037</c:v>
                </c:pt>
                <c:pt idx="380">
                  <c:v>29068</c:v>
                </c:pt>
                <c:pt idx="381">
                  <c:v>29099</c:v>
                </c:pt>
                <c:pt idx="382">
                  <c:v>29129</c:v>
                </c:pt>
                <c:pt idx="383">
                  <c:v>29160</c:v>
                </c:pt>
                <c:pt idx="384">
                  <c:v>29190</c:v>
                </c:pt>
                <c:pt idx="385">
                  <c:v>29221</c:v>
                </c:pt>
                <c:pt idx="386">
                  <c:v>29252</c:v>
                </c:pt>
                <c:pt idx="387">
                  <c:v>29281</c:v>
                </c:pt>
                <c:pt idx="388">
                  <c:v>29312</c:v>
                </c:pt>
                <c:pt idx="389">
                  <c:v>29342</c:v>
                </c:pt>
                <c:pt idx="390">
                  <c:v>29373</c:v>
                </c:pt>
                <c:pt idx="391">
                  <c:v>29403</c:v>
                </c:pt>
                <c:pt idx="392">
                  <c:v>29434</c:v>
                </c:pt>
                <c:pt idx="393">
                  <c:v>29465</c:v>
                </c:pt>
                <c:pt idx="394">
                  <c:v>29495</c:v>
                </c:pt>
                <c:pt idx="395">
                  <c:v>29526</c:v>
                </c:pt>
                <c:pt idx="396">
                  <c:v>29556</c:v>
                </c:pt>
                <c:pt idx="397">
                  <c:v>29587</c:v>
                </c:pt>
                <c:pt idx="398">
                  <c:v>29618</c:v>
                </c:pt>
                <c:pt idx="399">
                  <c:v>29646</c:v>
                </c:pt>
                <c:pt idx="400">
                  <c:v>29677</c:v>
                </c:pt>
                <c:pt idx="401">
                  <c:v>29707</c:v>
                </c:pt>
                <c:pt idx="402">
                  <c:v>29738</c:v>
                </c:pt>
                <c:pt idx="403">
                  <c:v>29768</c:v>
                </c:pt>
                <c:pt idx="404">
                  <c:v>29799</c:v>
                </c:pt>
                <c:pt idx="405">
                  <c:v>29830</c:v>
                </c:pt>
                <c:pt idx="406">
                  <c:v>29860</c:v>
                </c:pt>
                <c:pt idx="407">
                  <c:v>29891</c:v>
                </c:pt>
                <c:pt idx="408">
                  <c:v>29921</c:v>
                </c:pt>
                <c:pt idx="409">
                  <c:v>29952</c:v>
                </c:pt>
                <c:pt idx="410">
                  <c:v>29983</c:v>
                </c:pt>
                <c:pt idx="411">
                  <c:v>30011</c:v>
                </c:pt>
                <c:pt idx="412">
                  <c:v>30042</c:v>
                </c:pt>
                <c:pt idx="413">
                  <c:v>30072</c:v>
                </c:pt>
                <c:pt idx="414">
                  <c:v>30103</c:v>
                </c:pt>
                <c:pt idx="415">
                  <c:v>30133</c:v>
                </c:pt>
                <c:pt idx="416">
                  <c:v>30164</c:v>
                </c:pt>
                <c:pt idx="417">
                  <c:v>30195</c:v>
                </c:pt>
                <c:pt idx="418">
                  <c:v>30225</c:v>
                </c:pt>
                <c:pt idx="419">
                  <c:v>30256</c:v>
                </c:pt>
                <c:pt idx="420">
                  <c:v>30286</c:v>
                </c:pt>
                <c:pt idx="421">
                  <c:v>30317</c:v>
                </c:pt>
                <c:pt idx="422">
                  <c:v>30348</c:v>
                </c:pt>
                <c:pt idx="423">
                  <c:v>30376</c:v>
                </c:pt>
                <c:pt idx="424">
                  <c:v>30407</c:v>
                </c:pt>
                <c:pt idx="425">
                  <c:v>30437</c:v>
                </c:pt>
                <c:pt idx="426">
                  <c:v>30468</c:v>
                </c:pt>
                <c:pt idx="427">
                  <c:v>30498</c:v>
                </c:pt>
                <c:pt idx="428">
                  <c:v>30529</c:v>
                </c:pt>
                <c:pt idx="429">
                  <c:v>30560</c:v>
                </c:pt>
                <c:pt idx="430">
                  <c:v>30590</c:v>
                </c:pt>
                <c:pt idx="431">
                  <c:v>30621</c:v>
                </c:pt>
                <c:pt idx="432">
                  <c:v>30651</c:v>
                </c:pt>
                <c:pt idx="433">
                  <c:v>30682</c:v>
                </c:pt>
                <c:pt idx="434">
                  <c:v>30713</c:v>
                </c:pt>
                <c:pt idx="435">
                  <c:v>30742</c:v>
                </c:pt>
                <c:pt idx="436">
                  <c:v>30773</c:v>
                </c:pt>
                <c:pt idx="437">
                  <c:v>30803</c:v>
                </c:pt>
                <c:pt idx="438">
                  <c:v>30834</c:v>
                </c:pt>
                <c:pt idx="439">
                  <c:v>30864</c:v>
                </c:pt>
                <c:pt idx="440">
                  <c:v>30895</c:v>
                </c:pt>
                <c:pt idx="441">
                  <c:v>30926</c:v>
                </c:pt>
                <c:pt idx="442">
                  <c:v>30956</c:v>
                </c:pt>
                <c:pt idx="443">
                  <c:v>30987</c:v>
                </c:pt>
                <c:pt idx="444">
                  <c:v>31017</c:v>
                </c:pt>
                <c:pt idx="445">
                  <c:v>31048</c:v>
                </c:pt>
                <c:pt idx="446">
                  <c:v>31079</c:v>
                </c:pt>
                <c:pt idx="447">
                  <c:v>31107</c:v>
                </c:pt>
                <c:pt idx="448">
                  <c:v>31138</c:v>
                </c:pt>
                <c:pt idx="449">
                  <c:v>31168</c:v>
                </c:pt>
                <c:pt idx="450">
                  <c:v>31199</c:v>
                </c:pt>
                <c:pt idx="451">
                  <c:v>31229</c:v>
                </c:pt>
                <c:pt idx="452">
                  <c:v>31260</c:v>
                </c:pt>
                <c:pt idx="453">
                  <c:v>31291</c:v>
                </c:pt>
                <c:pt idx="454">
                  <c:v>31321</c:v>
                </c:pt>
                <c:pt idx="455">
                  <c:v>31352</c:v>
                </c:pt>
                <c:pt idx="456">
                  <c:v>31382</c:v>
                </c:pt>
                <c:pt idx="457">
                  <c:v>31413</c:v>
                </c:pt>
                <c:pt idx="458">
                  <c:v>31444</c:v>
                </c:pt>
                <c:pt idx="459">
                  <c:v>31472</c:v>
                </c:pt>
                <c:pt idx="460">
                  <c:v>31503</c:v>
                </c:pt>
                <c:pt idx="461">
                  <c:v>31533</c:v>
                </c:pt>
                <c:pt idx="462">
                  <c:v>31564</c:v>
                </c:pt>
                <c:pt idx="463">
                  <c:v>31594</c:v>
                </c:pt>
                <c:pt idx="464">
                  <c:v>31625</c:v>
                </c:pt>
                <c:pt idx="465">
                  <c:v>31656</c:v>
                </c:pt>
                <c:pt idx="466">
                  <c:v>31686</c:v>
                </c:pt>
                <c:pt idx="467">
                  <c:v>31717</c:v>
                </c:pt>
                <c:pt idx="468">
                  <c:v>31747</c:v>
                </c:pt>
                <c:pt idx="469">
                  <c:v>31778</c:v>
                </c:pt>
                <c:pt idx="470">
                  <c:v>31809</c:v>
                </c:pt>
                <c:pt idx="471">
                  <c:v>31837</c:v>
                </c:pt>
                <c:pt idx="472">
                  <c:v>31868</c:v>
                </c:pt>
                <c:pt idx="473">
                  <c:v>31898</c:v>
                </c:pt>
                <c:pt idx="474">
                  <c:v>31929</c:v>
                </c:pt>
                <c:pt idx="475">
                  <c:v>31959</c:v>
                </c:pt>
                <c:pt idx="476">
                  <c:v>31990</c:v>
                </c:pt>
                <c:pt idx="477">
                  <c:v>32021</c:v>
                </c:pt>
                <c:pt idx="478">
                  <c:v>32051</c:v>
                </c:pt>
                <c:pt idx="479">
                  <c:v>32082</c:v>
                </c:pt>
                <c:pt idx="480">
                  <c:v>32112</c:v>
                </c:pt>
                <c:pt idx="481">
                  <c:v>32143</c:v>
                </c:pt>
                <c:pt idx="482">
                  <c:v>32174</c:v>
                </c:pt>
                <c:pt idx="483">
                  <c:v>32203</c:v>
                </c:pt>
                <c:pt idx="484">
                  <c:v>32234</c:v>
                </c:pt>
                <c:pt idx="485">
                  <c:v>32264</c:v>
                </c:pt>
                <c:pt idx="486">
                  <c:v>32295</c:v>
                </c:pt>
                <c:pt idx="487">
                  <c:v>32325</c:v>
                </c:pt>
                <c:pt idx="488">
                  <c:v>32356</c:v>
                </c:pt>
                <c:pt idx="489">
                  <c:v>32387</c:v>
                </c:pt>
                <c:pt idx="490">
                  <c:v>32417</c:v>
                </c:pt>
                <c:pt idx="491">
                  <c:v>32448</c:v>
                </c:pt>
                <c:pt idx="492">
                  <c:v>32478</c:v>
                </c:pt>
                <c:pt idx="493">
                  <c:v>32509</c:v>
                </c:pt>
                <c:pt idx="494">
                  <c:v>32540</c:v>
                </c:pt>
                <c:pt idx="495">
                  <c:v>32568</c:v>
                </c:pt>
                <c:pt idx="496">
                  <c:v>32599</c:v>
                </c:pt>
                <c:pt idx="497">
                  <c:v>32629</c:v>
                </c:pt>
                <c:pt idx="498">
                  <c:v>32660</c:v>
                </c:pt>
                <c:pt idx="499">
                  <c:v>32690</c:v>
                </c:pt>
                <c:pt idx="500">
                  <c:v>32721</c:v>
                </c:pt>
                <c:pt idx="501">
                  <c:v>32752</c:v>
                </c:pt>
                <c:pt idx="502">
                  <c:v>32782</c:v>
                </c:pt>
                <c:pt idx="503">
                  <c:v>32813</c:v>
                </c:pt>
                <c:pt idx="504">
                  <c:v>32843</c:v>
                </c:pt>
                <c:pt idx="505">
                  <c:v>32874</c:v>
                </c:pt>
                <c:pt idx="506">
                  <c:v>32905</c:v>
                </c:pt>
                <c:pt idx="507">
                  <c:v>32933</c:v>
                </c:pt>
                <c:pt idx="508">
                  <c:v>32964</c:v>
                </c:pt>
                <c:pt idx="509">
                  <c:v>32994</c:v>
                </c:pt>
                <c:pt idx="510">
                  <c:v>33025</c:v>
                </c:pt>
                <c:pt idx="511">
                  <c:v>33055</c:v>
                </c:pt>
                <c:pt idx="512">
                  <c:v>33086</c:v>
                </c:pt>
                <c:pt idx="513">
                  <c:v>33117</c:v>
                </c:pt>
                <c:pt idx="514">
                  <c:v>33147</c:v>
                </c:pt>
                <c:pt idx="515">
                  <c:v>33178</c:v>
                </c:pt>
                <c:pt idx="516">
                  <c:v>33208</c:v>
                </c:pt>
                <c:pt idx="517">
                  <c:v>33239</c:v>
                </c:pt>
                <c:pt idx="518">
                  <c:v>33270</c:v>
                </c:pt>
                <c:pt idx="519">
                  <c:v>33298</c:v>
                </c:pt>
                <c:pt idx="520">
                  <c:v>33329</c:v>
                </c:pt>
                <c:pt idx="521">
                  <c:v>33359</c:v>
                </c:pt>
                <c:pt idx="522">
                  <c:v>33390</c:v>
                </c:pt>
                <c:pt idx="523">
                  <c:v>33420</c:v>
                </c:pt>
                <c:pt idx="524">
                  <c:v>33451</c:v>
                </c:pt>
                <c:pt idx="525">
                  <c:v>33482</c:v>
                </c:pt>
                <c:pt idx="526">
                  <c:v>33512</c:v>
                </c:pt>
                <c:pt idx="527">
                  <c:v>33543</c:v>
                </c:pt>
                <c:pt idx="528">
                  <c:v>33573</c:v>
                </c:pt>
                <c:pt idx="529">
                  <c:v>33604</c:v>
                </c:pt>
                <c:pt idx="530">
                  <c:v>33635</c:v>
                </c:pt>
                <c:pt idx="531">
                  <c:v>33664</c:v>
                </c:pt>
                <c:pt idx="532">
                  <c:v>33695</c:v>
                </c:pt>
                <c:pt idx="533">
                  <c:v>33725</c:v>
                </c:pt>
                <c:pt idx="534">
                  <c:v>33756</c:v>
                </c:pt>
                <c:pt idx="535">
                  <c:v>33786</c:v>
                </c:pt>
                <c:pt idx="536">
                  <c:v>33817</c:v>
                </c:pt>
                <c:pt idx="537">
                  <c:v>33848</c:v>
                </c:pt>
                <c:pt idx="538">
                  <c:v>33878</c:v>
                </c:pt>
                <c:pt idx="539">
                  <c:v>33909</c:v>
                </c:pt>
                <c:pt idx="540">
                  <c:v>33939</c:v>
                </c:pt>
                <c:pt idx="541">
                  <c:v>33970</c:v>
                </c:pt>
                <c:pt idx="542">
                  <c:v>34001</c:v>
                </c:pt>
                <c:pt idx="543">
                  <c:v>34029</c:v>
                </c:pt>
                <c:pt idx="544">
                  <c:v>34060</c:v>
                </c:pt>
                <c:pt idx="545">
                  <c:v>34090</c:v>
                </c:pt>
                <c:pt idx="546">
                  <c:v>34121</c:v>
                </c:pt>
                <c:pt idx="547">
                  <c:v>34151</c:v>
                </c:pt>
                <c:pt idx="548">
                  <c:v>34182</c:v>
                </c:pt>
                <c:pt idx="549">
                  <c:v>34213</c:v>
                </c:pt>
                <c:pt idx="550">
                  <c:v>34243</c:v>
                </c:pt>
                <c:pt idx="551">
                  <c:v>34274</c:v>
                </c:pt>
                <c:pt idx="552">
                  <c:v>34304</c:v>
                </c:pt>
                <c:pt idx="553">
                  <c:v>34335</c:v>
                </c:pt>
                <c:pt idx="554">
                  <c:v>34366</c:v>
                </c:pt>
                <c:pt idx="555">
                  <c:v>34394</c:v>
                </c:pt>
                <c:pt idx="556">
                  <c:v>34425</c:v>
                </c:pt>
                <c:pt idx="557">
                  <c:v>34455</c:v>
                </c:pt>
                <c:pt idx="558">
                  <c:v>34486</c:v>
                </c:pt>
                <c:pt idx="559">
                  <c:v>34516</c:v>
                </c:pt>
                <c:pt idx="560">
                  <c:v>34547</c:v>
                </c:pt>
                <c:pt idx="561">
                  <c:v>34578</c:v>
                </c:pt>
                <c:pt idx="562">
                  <c:v>34608</c:v>
                </c:pt>
                <c:pt idx="563">
                  <c:v>34639</c:v>
                </c:pt>
                <c:pt idx="564">
                  <c:v>34669</c:v>
                </c:pt>
                <c:pt idx="565">
                  <c:v>34700</c:v>
                </c:pt>
                <c:pt idx="566">
                  <c:v>34731</c:v>
                </c:pt>
                <c:pt idx="567">
                  <c:v>34759</c:v>
                </c:pt>
                <c:pt idx="568">
                  <c:v>34790</c:v>
                </c:pt>
                <c:pt idx="569">
                  <c:v>34820</c:v>
                </c:pt>
                <c:pt idx="570">
                  <c:v>34851</c:v>
                </c:pt>
                <c:pt idx="571">
                  <c:v>34881</c:v>
                </c:pt>
                <c:pt idx="572">
                  <c:v>34912</c:v>
                </c:pt>
                <c:pt idx="573">
                  <c:v>34943</c:v>
                </c:pt>
                <c:pt idx="574">
                  <c:v>34973</c:v>
                </c:pt>
                <c:pt idx="575">
                  <c:v>35004</c:v>
                </c:pt>
                <c:pt idx="576">
                  <c:v>35034</c:v>
                </c:pt>
                <c:pt idx="577">
                  <c:v>35065</c:v>
                </c:pt>
                <c:pt idx="578">
                  <c:v>35096</c:v>
                </c:pt>
                <c:pt idx="579">
                  <c:v>35125</c:v>
                </c:pt>
                <c:pt idx="580">
                  <c:v>35156</c:v>
                </c:pt>
                <c:pt idx="581">
                  <c:v>35186</c:v>
                </c:pt>
                <c:pt idx="582">
                  <c:v>35217</c:v>
                </c:pt>
                <c:pt idx="583">
                  <c:v>35247</c:v>
                </c:pt>
                <c:pt idx="584">
                  <c:v>35278</c:v>
                </c:pt>
                <c:pt idx="585">
                  <c:v>35309</c:v>
                </c:pt>
                <c:pt idx="586">
                  <c:v>35339</c:v>
                </c:pt>
                <c:pt idx="587">
                  <c:v>35370</c:v>
                </c:pt>
                <c:pt idx="588">
                  <c:v>35400</c:v>
                </c:pt>
                <c:pt idx="589">
                  <c:v>35431</c:v>
                </c:pt>
                <c:pt idx="590">
                  <c:v>35462</c:v>
                </c:pt>
                <c:pt idx="591">
                  <c:v>35490</c:v>
                </c:pt>
                <c:pt idx="592">
                  <c:v>35521</c:v>
                </c:pt>
                <c:pt idx="593">
                  <c:v>35551</c:v>
                </c:pt>
                <c:pt idx="594">
                  <c:v>35582</c:v>
                </c:pt>
                <c:pt idx="595">
                  <c:v>35612</c:v>
                </c:pt>
                <c:pt idx="596">
                  <c:v>35643</c:v>
                </c:pt>
                <c:pt idx="597">
                  <c:v>35674</c:v>
                </c:pt>
                <c:pt idx="598">
                  <c:v>35704</c:v>
                </c:pt>
                <c:pt idx="599">
                  <c:v>35735</c:v>
                </c:pt>
                <c:pt idx="600">
                  <c:v>35765</c:v>
                </c:pt>
                <c:pt idx="601">
                  <c:v>35796</c:v>
                </c:pt>
                <c:pt idx="602">
                  <c:v>35827</c:v>
                </c:pt>
                <c:pt idx="603">
                  <c:v>35855</c:v>
                </c:pt>
                <c:pt idx="604">
                  <c:v>35886</c:v>
                </c:pt>
                <c:pt idx="605">
                  <c:v>35916</c:v>
                </c:pt>
                <c:pt idx="606">
                  <c:v>35947</c:v>
                </c:pt>
                <c:pt idx="607">
                  <c:v>35977</c:v>
                </c:pt>
                <c:pt idx="608">
                  <c:v>36008</c:v>
                </c:pt>
                <c:pt idx="609">
                  <c:v>36039</c:v>
                </c:pt>
                <c:pt idx="610">
                  <c:v>36069</c:v>
                </c:pt>
                <c:pt idx="611">
                  <c:v>36100</c:v>
                </c:pt>
                <c:pt idx="612">
                  <c:v>36130</c:v>
                </c:pt>
                <c:pt idx="613">
                  <c:v>36161</c:v>
                </c:pt>
                <c:pt idx="614">
                  <c:v>36192</c:v>
                </c:pt>
                <c:pt idx="615">
                  <c:v>36220</c:v>
                </c:pt>
                <c:pt idx="616">
                  <c:v>36251</c:v>
                </c:pt>
                <c:pt idx="617">
                  <c:v>36281</c:v>
                </c:pt>
                <c:pt idx="618">
                  <c:v>36312</c:v>
                </c:pt>
                <c:pt idx="619">
                  <c:v>36342</c:v>
                </c:pt>
                <c:pt idx="620">
                  <c:v>36373</c:v>
                </c:pt>
                <c:pt idx="621">
                  <c:v>36404</c:v>
                </c:pt>
                <c:pt idx="622">
                  <c:v>36434</c:v>
                </c:pt>
                <c:pt idx="623">
                  <c:v>36465</c:v>
                </c:pt>
                <c:pt idx="624">
                  <c:v>36495</c:v>
                </c:pt>
                <c:pt idx="625">
                  <c:v>36526</c:v>
                </c:pt>
                <c:pt idx="626">
                  <c:v>36557</c:v>
                </c:pt>
                <c:pt idx="627">
                  <c:v>36586</c:v>
                </c:pt>
                <c:pt idx="628">
                  <c:v>36617</c:v>
                </c:pt>
                <c:pt idx="629">
                  <c:v>36647</c:v>
                </c:pt>
                <c:pt idx="630">
                  <c:v>36678</c:v>
                </c:pt>
                <c:pt idx="631">
                  <c:v>36708</c:v>
                </c:pt>
                <c:pt idx="632">
                  <c:v>36739</c:v>
                </c:pt>
                <c:pt idx="633">
                  <c:v>36770</c:v>
                </c:pt>
                <c:pt idx="634">
                  <c:v>36800</c:v>
                </c:pt>
                <c:pt idx="635">
                  <c:v>36831</c:v>
                </c:pt>
                <c:pt idx="636">
                  <c:v>36861</c:v>
                </c:pt>
                <c:pt idx="637">
                  <c:v>36892</c:v>
                </c:pt>
                <c:pt idx="638">
                  <c:v>36923</c:v>
                </c:pt>
                <c:pt idx="639">
                  <c:v>36951</c:v>
                </c:pt>
                <c:pt idx="640">
                  <c:v>36982</c:v>
                </c:pt>
                <c:pt idx="641">
                  <c:v>37012</c:v>
                </c:pt>
                <c:pt idx="642">
                  <c:v>37043</c:v>
                </c:pt>
                <c:pt idx="643">
                  <c:v>37073</c:v>
                </c:pt>
                <c:pt idx="644">
                  <c:v>37104</c:v>
                </c:pt>
                <c:pt idx="645">
                  <c:v>37135</c:v>
                </c:pt>
                <c:pt idx="646">
                  <c:v>37165</c:v>
                </c:pt>
                <c:pt idx="647">
                  <c:v>37196</c:v>
                </c:pt>
                <c:pt idx="648">
                  <c:v>37226</c:v>
                </c:pt>
                <c:pt idx="649">
                  <c:v>37257</c:v>
                </c:pt>
                <c:pt idx="650">
                  <c:v>37288</c:v>
                </c:pt>
                <c:pt idx="651">
                  <c:v>37316</c:v>
                </c:pt>
                <c:pt idx="652">
                  <c:v>37347</c:v>
                </c:pt>
                <c:pt idx="653">
                  <c:v>37377</c:v>
                </c:pt>
                <c:pt idx="654">
                  <c:v>37408</c:v>
                </c:pt>
                <c:pt idx="655">
                  <c:v>37438</c:v>
                </c:pt>
                <c:pt idx="656">
                  <c:v>37469</c:v>
                </c:pt>
                <c:pt idx="657">
                  <c:v>37500</c:v>
                </c:pt>
                <c:pt idx="658">
                  <c:v>37530</c:v>
                </c:pt>
                <c:pt idx="659">
                  <c:v>37561</c:v>
                </c:pt>
                <c:pt idx="660">
                  <c:v>37591</c:v>
                </c:pt>
                <c:pt idx="661">
                  <c:v>37622</c:v>
                </c:pt>
                <c:pt idx="662">
                  <c:v>37653</c:v>
                </c:pt>
                <c:pt idx="663">
                  <c:v>37681</c:v>
                </c:pt>
                <c:pt idx="664">
                  <c:v>37712</c:v>
                </c:pt>
                <c:pt idx="665">
                  <c:v>37742</c:v>
                </c:pt>
                <c:pt idx="666">
                  <c:v>37773</c:v>
                </c:pt>
                <c:pt idx="667">
                  <c:v>37803</c:v>
                </c:pt>
                <c:pt idx="668">
                  <c:v>37834</c:v>
                </c:pt>
                <c:pt idx="669">
                  <c:v>37865</c:v>
                </c:pt>
                <c:pt idx="670">
                  <c:v>37895</c:v>
                </c:pt>
                <c:pt idx="671">
                  <c:v>37926</c:v>
                </c:pt>
                <c:pt idx="672">
                  <c:v>37956</c:v>
                </c:pt>
                <c:pt idx="673">
                  <c:v>37987</c:v>
                </c:pt>
                <c:pt idx="674">
                  <c:v>38018</c:v>
                </c:pt>
                <c:pt idx="675">
                  <c:v>38047</c:v>
                </c:pt>
                <c:pt idx="676">
                  <c:v>38078</c:v>
                </c:pt>
                <c:pt idx="677">
                  <c:v>38108</c:v>
                </c:pt>
                <c:pt idx="678">
                  <c:v>38139</c:v>
                </c:pt>
                <c:pt idx="679">
                  <c:v>38169</c:v>
                </c:pt>
                <c:pt idx="680">
                  <c:v>38200</c:v>
                </c:pt>
                <c:pt idx="681">
                  <c:v>38231</c:v>
                </c:pt>
                <c:pt idx="682">
                  <c:v>38261</c:v>
                </c:pt>
                <c:pt idx="683">
                  <c:v>38292</c:v>
                </c:pt>
                <c:pt idx="684">
                  <c:v>38322</c:v>
                </c:pt>
                <c:pt idx="685">
                  <c:v>38353</c:v>
                </c:pt>
                <c:pt idx="686">
                  <c:v>38384</c:v>
                </c:pt>
                <c:pt idx="687">
                  <c:v>38412</c:v>
                </c:pt>
                <c:pt idx="688">
                  <c:v>38443</c:v>
                </c:pt>
                <c:pt idx="689">
                  <c:v>38473</c:v>
                </c:pt>
                <c:pt idx="690">
                  <c:v>38504</c:v>
                </c:pt>
                <c:pt idx="691">
                  <c:v>38534</c:v>
                </c:pt>
                <c:pt idx="692">
                  <c:v>38565</c:v>
                </c:pt>
                <c:pt idx="693">
                  <c:v>38596</c:v>
                </c:pt>
                <c:pt idx="694">
                  <c:v>38626</c:v>
                </c:pt>
                <c:pt idx="695">
                  <c:v>38657</c:v>
                </c:pt>
                <c:pt idx="696">
                  <c:v>38687</c:v>
                </c:pt>
                <c:pt idx="697">
                  <c:v>38718</c:v>
                </c:pt>
                <c:pt idx="698">
                  <c:v>38749</c:v>
                </c:pt>
                <c:pt idx="699">
                  <c:v>38777</c:v>
                </c:pt>
                <c:pt idx="700">
                  <c:v>38808</c:v>
                </c:pt>
                <c:pt idx="701">
                  <c:v>38838</c:v>
                </c:pt>
                <c:pt idx="702">
                  <c:v>38869</c:v>
                </c:pt>
                <c:pt idx="703">
                  <c:v>38899</c:v>
                </c:pt>
                <c:pt idx="704">
                  <c:v>38930</c:v>
                </c:pt>
                <c:pt idx="705">
                  <c:v>38961</c:v>
                </c:pt>
                <c:pt idx="706">
                  <c:v>38991</c:v>
                </c:pt>
                <c:pt idx="707">
                  <c:v>39022</c:v>
                </c:pt>
                <c:pt idx="708">
                  <c:v>39052</c:v>
                </c:pt>
                <c:pt idx="709">
                  <c:v>39083</c:v>
                </c:pt>
                <c:pt idx="710">
                  <c:v>39114</c:v>
                </c:pt>
                <c:pt idx="711">
                  <c:v>39142</c:v>
                </c:pt>
                <c:pt idx="712">
                  <c:v>39173</c:v>
                </c:pt>
                <c:pt idx="713">
                  <c:v>39203</c:v>
                </c:pt>
                <c:pt idx="714">
                  <c:v>39234</c:v>
                </c:pt>
                <c:pt idx="715">
                  <c:v>39264</c:v>
                </c:pt>
                <c:pt idx="716">
                  <c:v>39295</c:v>
                </c:pt>
                <c:pt idx="717">
                  <c:v>39326</c:v>
                </c:pt>
                <c:pt idx="718">
                  <c:v>39356</c:v>
                </c:pt>
                <c:pt idx="719">
                  <c:v>39387</c:v>
                </c:pt>
                <c:pt idx="720">
                  <c:v>39417</c:v>
                </c:pt>
                <c:pt idx="721">
                  <c:v>39448</c:v>
                </c:pt>
                <c:pt idx="722">
                  <c:v>39479</c:v>
                </c:pt>
                <c:pt idx="723">
                  <c:v>39508</c:v>
                </c:pt>
                <c:pt idx="724">
                  <c:v>39539</c:v>
                </c:pt>
                <c:pt idx="725">
                  <c:v>39569</c:v>
                </c:pt>
                <c:pt idx="726">
                  <c:v>39600</c:v>
                </c:pt>
                <c:pt idx="727">
                  <c:v>39630</c:v>
                </c:pt>
                <c:pt idx="728">
                  <c:v>39661</c:v>
                </c:pt>
                <c:pt idx="729">
                  <c:v>39692</c:v>
                </c:pt>
                <c:pt idx="730">
                  <c:v>39722</c:v>
                </c:pt>
                <c:pt idx="731">
                  <c:v>39753</c:v>
                </c:pt>
                <c:pt idx="732">
                  <c:v>39783</c:v>
                </c:pt>
                <c:pt idx="733">
                  <c:v>39814</c:v>
                </c:pt>
                <c:pt idx="734">
                  <c:v>39845</c:v>
                </c:pt>
                <c:pt idx="735">
                  <c:v>39873</c:v>
                </c:pt>
                <c:pt idx="736">
                  <c:v>39904</c:v>
                </c:pt>
                <c:pt idx="737">
                  <c:v>39934</c:v>
                </c:pt>
                <c:pt idx="738">
                  <c:v>39965</c:v>
                </c:pt>
                <c:pt idx="739">
                  <c:v>39995</c:v>
                </c:pt>
                <c:pt idx="740">
                  <c:v>40026</c:v>
                </c:pt>
                <c:pt idx="741">
                  <c:v>40057</c:v>
                </c:pt>
                <c:pt idx="742">
                  <c:v>40087</c:v>
                </c:pt>
                <c:pt idx="743">
                  <c:v>40118</c:v>
                </c:pt>
                <c:pt idx="744">
                  <c:v>40148</c:v>
                </c:pt>
                <c:pt idx="745">
                  <c:v>40179</c:v>
                </c:pt>
                <c:pt idx="746">
                  <c:v>40210</c:v>
                </c:pt>
                <c:pt idx="747">
                  <c:v>40238</c:v>
                </c:pt>
                <c:pt idx="748">
                  <c:v>40269</c:v>
                </c:pt>
                <c:pt idx="749">
                  <c:v>40299</c:v>
                </c:pt>
                <c:pt idx="750">
                  <c:v>40330</c:v>
                </c:pt>
                <c:pt idx="751">
                  <c:v>40360</c:v>
                </c:pt>
                <c:pt idx="752">
                  <c:v>40391</c:v>
                </c:pt>
                <c:pt idx="753">
                  <c:v>40422</c:v>
                </c:pt>
                <c:pt idx="754">
                  <c:v>40452</c:v>
                </c:pt>
                <c:pt idx="755">
                  <c:v>40483</c:v>
                </c:pt>
                <c:pt idx="756">
                  <c:v>40513</c:v>
                </c:pt>
                <c:pt idx="757">
                  <c:v>40544</c:v>
                </c:pt>
                <c:pt idx="758">
                  <c:v>40575</c:v>
                </c:pt>
                <c:pt idx="759">
                  <c:v>40603</c:v>
                </c:pt>
                <c:pt idx="760">
                  <c:v>40634</c:v>
                </c:pt>
                <c:pt idx="761">
                  <c:v>40664</c:v>
                </c:pt>
                <c:pt idx="762">
                  <c:v>40695</c:v>
                </c:pt>
                <c:pt idx="763">
                  <c:v>40725</c:v>
                </c:pt>
                <c:pt idx="764">
                  <c:v>40756</c:v>
                </c:pt>
                <c:pt idx="765">
                  <c:v>40787</c:v>
                </c:pt>
                <c:pt idx="766">
                  <c:v>40817</c:v>
                </c:pt>
                <c:pt idx="767">
                  <c:v>40848</c:v>
                </c:pt>
                <c:pt idx="768">
                  <c:v>40878</c:v>
                </c:pt>
              </c:numCache>
            </c:numRef>
          </c:cat>
          <c:val>
            <c:numRef>
              <c:f>Data!$E$4:$E$772</c:f>
              <c:numCache>
                <c:formatCode>General</c:formatCode>
                <c:ptCount val="769"/>
                <c:pt idx="1">
                  <c:v>3.4</c:v>
                </c:pt>
                <c:pt idx="2">
                  <c:v>3.6</c:v>
                </c:pt>
                <c:pt idx="3">
                  <c:v>3.8</c:v>
                </c:pt>
                <c:pt idx="4">
                  <c:v>3.8</c:v>
                </c:pt>
                <c:pt idx="5">
                  <c:v>3.5</c:v>
                </c:pt>
                <c:pt idx="6">
                  <c:v>3.3</c:v>
                </c:pt>
                <c:pt idx="7">
                  <c:v>3.4</c:v>
                </c:pt>
                <c:pt idx="8">
                  <c:v>3.6</c:v>
                </c:pt>
                <c:pt idx="9">
                  <c:v>3.7</c:v>
                </c:pt>
                <c:pt idx="10">
                  <c:v>3.6</c:v>
                </c:pt>
                <c:pt idx="11">
                  <c:v>3.7</c:v>
                </c:pt>
                <c:pt idx="12">
                  <c:v>3.9</c:v>
                </c:pt>
                <c:pt idx="13">
                  <c:v>4.2</c:v>
                </c:pt>
                <c:pt idx="14">
                  <c:v>4.5999999999999996</c:v>
                </c:pt>
                <c:pt idx="15">
                  <c:v>5.0999999999999996</c:v>
                </c:pt>
                <c:pt idx="16">
                  <c:v>5.3</c:v>
                </c:pt>
                <c:pt idx="17">
                  <c:v>6.1</c:v>
                </c:pt>
                <c:pt idx="18">
                  <c:v>6.2</c:v>
                </c:pt>
                <c:pt idx="19">
                  <c:v>6.7</c:v>
                </c:pt>
                <c:pt idx="20">
                  <c:v>6.8</c:v>
                </c:pt>
                <c:pt idx="21">
                  <c:v>6.5</c:v>
                </c:pt>
                <c:pt idx="22">
                  <c:v>8.4</c:v>
                </c:pt>
                <c:pt idx="23">
                  <c:v>6.5</c:v>
                </c:pt>
                <c:pt idx="24">
                  <c:v>6.5</c:v>
                </c:pt>
                <c:pt idx="25">
                  <c:v>6.4</c:v>
                </c:pt>
                <c:pt idx="26">
                  <c:v>6.2</c:v>
                </c:pt>
                <c:pt idx="27">
                  <c:v>6.1</c:v>
                </c:pt>
                <c:pt idx="28">
                  <c:v>5.9</c:v>
                </c:pt>
                <c:pt idx="29">
                  <c:v>5.4</c:v>
                </c:pt>
                <c:pt idx="30">
                  <c:v>5.0999999999999996</c:v>
                </c:pt>
                <c:pt idx="31">
                  <c:v>4.8</c:v>
                </c:pt>
                <c:pt idx="32">
                  <c:v>4.3</c:v>
                </c:pt>
                <c:pt idx="33">
                  <c:v>4.2</c:v>
                </c:pt>
                <c:pt idx="34">
                  <c:v>3.9</c:v>
                </c:pt>
                <c:pt idx="35">
                  <c:v>3.7</c:v>
                </c:pt>
                <c:pt idx="36">
                  <c:v>3.8</c:v>
                </c:pt>
                <c:pt idx="37">
                  <c:v>3.3</c:v>
                </c:pt>
                <c:pt idx="38">
                  <c:v>3</c:v>
                </c:pt>
                <c:pt idx="39">
                  <c:v>2.7</c:v>
                </c:pt>
                <c:pt idx="40">
                  <c:v>2.5</c:v>
                </c:pt>
                <c:pt idx="41">
                  <c:v>2.5</c:v>
                </c:pt>
                <c:pt idx="42">
                  <c:v>2.8</c:v>
                </c:pt>
                <c:pt idx="43">
                  <c:v>2.7</c:v>
                </c:pt>
                <c:pt idx="44">
                  <c:v>2.8</c:v>
                </c:pt>
                <c:pt idx="45">
                  <c:v>2.8</c:v>
                </c:pt>
                <c:pt idx="46">
                  <c:v>3.1</c:v>
                </c:pt>
                <c:pt idx="47">
                  <c:v>3.1</c:v>
                </c:pt>
                <c:pt idx="48">
                  <c:v>2.7</c:v>
                </c:pt>
                <c:pt idx="49">
                  <c:v>2.8</c:v>
                </c:pt>
                <c:pt idx="50">
                  <c:v>2.8</c:v>
                </c:pt>
                <c:pt idx="51">
                  <c:v>2.7</c:v>
                </c:pt>
                <c:pt idx="52">
                  <c:v>2.7</c:v>
                </c:pt>
                <c:pt idx="53">
                  <c:v>2.6</c:v>
                </c:pt>
                <c:pt idx="54">
                  <c:v>2.8</c:v>
                </c:pt>
                <c:pt idx="55">
                  <c:v>3</c:v>
                </c:pt>
                <c:pt idx="56">
                  <c:v>3.2</c:v>
                </c:pt>
                <c:pt idx="57">
                  <c:v>3</c:v>
                </c:pt>
                <c:pt idx="58">
                  <c:v>2.6</c:v>
                </c:pt>
                <c:pt idx="59">
                  <c:v>2.5</c:v>
                </c:pt>
                <c:pt idx="60">
                  <c:v>2.5</c:v>
                </c:pt>
                <c:pt idx="61">
                  <c:v>2.8</c:v>
                </c:pt>
                <c:pt idx="62">
                  <c:v>2.4</c:v>
                </c:pt>
                <c:pt idx="63">
                  <c:v>2.2999999999999998</c:v>
                </c:pt>
                <c:pt idx="64">
                  <c:v>2.6</c:v>
                </c:pt>
                <c:pt idx="65">
                  <c:v>2.5</c:v>
                </c:pt>
                <c:pt idx="66">
                  <c:v>2.4</c:v>
                </c:pt>
                <c:pt idx="67">
                  <c:v>2.5</c:v>
                </c:pt>
                <c:pt idx="68">
                  <c:v>2.5</c:v>
                </c:pt>
                <c:pt idx="69">
                  <c:v>2.7</c:v>
                </c:pt>
                <c:pt idx="70">
                  <c:v>2.9</c:v>
                </c:pt>
                <c:pt idx="71">
                  <c:v>3.4</c:v>
                </c:pt>
                <c:pt idx="72">
                  <c:v>4.2</c:v>
                </c:pt>
                <c:pt idx="73">
                  <c:v>4.4000000000000004</c:v>
                </c:pt>
                <c:pt idx="74">
                  <c:v>4.9000000000000004</c:v>
                </c:pt>
                <c:pt idx="75">
                  <c:v>5.3</c:v>
                </c:pt>
                <c:pt idx="76">
                  <c:v>5.6</c:v>
                </c:pt>
                <c:pt idx="77">
                  <c:v>5.7</c:v>
                </c:pt>
                <c:pt idx="78">
                  <c:v>5.3</c:v>
                </c:pt>
                <c:pt idx="79">
                  <c:v>5.6</c:v>
                </c:pt>
                <c:pt idx="80">
                  <c:v>6</c:v>
                </c:pt>
                <c:pt idx="81">
                  <c:v>6</c:v>
                </c:pt>
                <c:pt idx="82">
                  <c:v>5.7</c:v>
                </c:pt>
                <c:pt idx="83">
                  <c:v>5.2</c:v>
                </c:pt>
                <c:pt idx="84">
                  <c:v>5</c:v>
                </c:pt>
                <c:pt idx="85">
                  <c:v>4.8</c:v>
                </c:pt>
                <c:pt idx="86">
                  <c:v>4.5</c:v>
                </c:pt>
                <c:pt idx="87">
                  <c:v>4.5</c:v>
                </c:pt>
                <c:pt idx="88">
                  <c:v>4.7</c:v>
                </c:pt>
                <c:pt idx="89">
                  <c:v>4</c:v>
                </c:pt>
                <c:pt idx="90">
                  <c:v>3.9</c:v>
                </c:pt>
                <c:pt idx="91">
                  <c:v>3.8</c:v>
                </c:pt>
                <c:pt idx="92">
                  <c:v>3.9</c:v>
                </c:pt>
                <c:pt idx="93">
                  <c:v>3.7</c:v>
                </c:pt>
                <c:pt idx="94">
                  <c:v>3.9</c:v>
                </c:pt>
                <c:pt idx="95">
                  <c:v>3.9</c:v>
                </c:pt>
                <c:pt idx="96">
                  <c:v>3.8</c:v>
                </c:pt>
                <c:pt idx="97">
                  <c:v>3.8</c:v>
                </c:pt>
                <c:pt idx="98">
                  <c:v>3.8</c:v>
                </c:pt>
                <c:pt idx="99">
                  <c:v>3.8</c:v>
                </c:pt>
                <c:pt idx="100">
                  <c:v>3.6</c:v>
                </c:pt>
                <c:pt idx="101">
                  <c:v>3.9</c:v>
                </c:pt>
                <c:pt idx="102">
                  <c:v>4</c:v>
                </c:pt>
                <c:pt idx="103">
                  <c:v>3.8</c:v>
                </c:pt>
                <c:pt idx="104">
                  <c:v>3.7</c:v>
                </c:pt>
                <c:pt idx="105">
                  <c:v>3.6</c:v>
                </c:pt>
                <c:pt idx="106">
                  <c:v>3.5</c:v>
                </c:pt>
                <c:pt idx="107">
                  <c:v>4</c:v>
                </c:pt>
                <c:pt idx="108">
                  <c:v>3.9</c:v>
                </c:pt>
                <c:pt idx="109">
                  <c:v>3.9</c:v>
                </c:pt>
                <c:pt idx="110">
                  <c:v>3.6</c:v>
                </c:pt>
                <c:pt idx="111">
                  <c:v>3.5</c:v>
                </c:pt>
                <c:pt idx="112">
                  <c:v>3.8</c:v>
                </c:pt>
                <c:pt idx="113">
                  <c:v>3.8</c:v>
                </c:pt>
                <c:pt idx="114">
                  <c:v>4</c:v>
                </c:pt>
                <c:pt idx="115">
                  <c:v>3.8</c:v>
                </c:pt>
                <c:pt idx="116">
                  <c:v>3.9</c:v>
                </c:pt>
                <c:pt idx="117">
                  <c:v>4.3</c:v>
                </c:pt>
                <c:pt idx="118">
                  <c:v>4.4000000000000004</c:v>
                </c:pt>
                <c:pt idx="119">
                  <c:v>5.2</c:v>
                </c:pt>
                <c:pt idx="120">
                  <c:v>5.2</c:v>
                </c:pt>
                <c:pt idx="121">
                  <c:v>5.7</c:v>
                </c:pt>
                <c:pt idx="122">
                  <c:v>6.3</c:v>
                </c:pt>
                <c:pt idx="123">
                  <c:v>6.7</c:v>
                </c:pt>
                <c:pt idx="124">
                  <c:v>7.3</c:v>
                </c:pt>
                <c:pt idx="125">
                  <c:v>7.5</c:v>
                </c:pt>
                <c:pt idx="126">
                  <c:v>7.4</c:v>
                </c:pt>
                <c:pt idx="127">
                  <c:v>7.6</c:v>
                </c:pt>
                <c:pt idx="128">
                  <c:v>7.5</c:v>
                </c:pt>
                <c:pt idx="129">
                  <c:v>7.1</c:v>
                </c:pt>
                <c:pt idx="130">
                  <c:v>6.7</c:v>
                </c:pt>
                <c:pt idx="131">
                  <c:v>6.3</c:v>
                </c:pt>
                <c:pt idx="132">
                  <c:v>6.2</c:v>
                </c:pt>
                <c:pt idx="133">
                  <c:v>5.9</c:v>
                </c:pt>
                <c:pt idx="134">
                  <c:v>5.8</c:v>
                </c:pt>
                <c:pt idx="135">
                  <c:v>5.3</c:v>
                </c:pt>
                <c:pt idx="136">
                  <c:v>4.8</c:v>
                </c:pt>
                <c:pt idx="137">
                  <c:v>4.8</c:v>
                </c:pt>
                <c:pt idx="138">
                  <c:v>4.7</c:v>
                </c:pt>
                <c:pt idx="139">
                  <c:v>4.9000000000000004</c:v>
                </c:pt>
                <c:pt idx="140">
                  <c:v>5.0999999999999996</c:v>
                </c:pt>
                <c:pt idx="141">
                  <c:v>5.5</c:v>
                </c:pt>
                <c:pt idx="142">
                  <c:v>5.5</c:v>
                </c:pt>
                <c:pt idx="143">
                  <c:v>5.9</c:v>
                </c:pt>
                <c:pt idx="144">
                  <c:v>5</c:v>
                </c:pt>
                <c:pt idx="145">
                  <c:v>5</c:v>
                </c:pt>
                <c:pt idx="146">
                  <c:v>4.5999999999999996</c:v>
                </c:pt>
                <c:pt idx="147">
                  <c:v>5.3</c:v>
                </c:pt>
                <c:pt idx="148">
                  <c:v>5</c:v>
                </c:pt>
                <c:pt idx="149">
                  <c:v>5</c:v>
                </c:pt>
                <c:pt idx="150">
                  <c:v>5.2</c:v>
                </c:pt>
                <c:pt idx="151">
                  <c:v>5.3</c:v>
                </c:pt>
                <c:pt idx="152">
                  <c:v>5.6</c:v>
                </c:pt>
                <c:pt idx="153">
                  <c:v>5.5</c:v>
                </c:pt>
                <c:pt idx="154">
                  <c:v>5.9</c:v>
                </c:pt>
                <c:pt idx="155">
                  <c:v>6</c:v>
                </c:pt>
                <c:pt idx="156">
                  <c:v>6.3</c:v>
                </c:pt>
                <c:pt idx="157">
                  <c:v>6.5</c:v>
                </c:pt>
                <c:pt idx="158">
                  <c:v>6.6</c:v>
                </c:pt>
                <c:pt idx="159">
                  <c:v>6.6</c:v>
                </c:pt>
                <c:pt idx="160">
                  <c:v>6.8</c:v>
                </c:pt>
                <c:pt idx="161">
                  <c:v>6.9</c:v>
                </c:pt>
                <c:pt idx="162">
                  <c:v>6.5</c:v>
                </c:pt>
                <c:pt idx="163">
                  <c:v>6.6</c:v>
                </c:pt>
                <c:pt idx="164">
                  <c:v>6.4</c:v>
                </c:pt>
                <c:pt idx="165">
                  <c:v>6.3</c:v>
                </c:pt>
                <c:pt idx="166">
                  <c:v>6.1</c:v>
                </c:pt>
                <c:pt idx="167">
                  <c:v>5.8</c:v>
                </c:pt>
                <c:pt idx="168">
                  <c:v>5.7</c:v>
                </c:pt>
                <c:pt idx="169">
                  <c:v>5.4</c:v>
                </c:pt>
                <c:pt idx="170">
                  <c:v>5.2</c:v>
                </c:pt>
                <c:pt idx="171">
                  <c:v>5.2</c:v>
                </c:pt>
                <c:pt idx="172">
                  <c:v>5.2</c:v>
                </c:pt>
                <c:pt idx="173">
                  <c:v>5.2</c:v>
                </c:pt>
                <c:pt idx="174">
                  <c:v>5.3</c:v>
                </c:pt>
                <c:pt idx="175">
                  <c:v>5.0999999999999996</c:v>
                </c:pt>
                <c:pt idx="176">
                  <c:v>5.3</c:v>
                </c:pt>
                <c:pt idx="177">
                  <c:v>5.2</c:v>
                </c:pt>
                <c:pt idx="178">
                  <c:v>5</c:v>
                </c:pt>
                <c:pt idx="179">
                  <c:v>5.3</c:v>
                </c:pt>
                <c:pt idx="180">
                  <c:v>5.0999999999999996</c:v>
                </c:pt>
                <c:pt idx="181">
                  <c:v>5.4</c:v>
                </c:pt>
                <c:pt idx="182">
                  <c:v>5.7</c:v>
                </c:pt>
                <c:pt idx="183">
                  <c:v>5.4</c:v>
                </c:pt>
                <c:pt idx="184">
                  <c:v>5.4</c:v>
                </c:pt>
                <c:pt idx="185">
                  <c:v>5.4</c:v>
                </c:pt>
                <c:pt idx="186">
                  <c:v>5.0999999999999996</c:v>
                </c:pt>
                <c:pt idx="187">
                  <c:v>5.0999999999999996</c:v>
                </c:pt>
                <c:pt idx="188">
                  <c:v>4.9000000000000004</c:v>
                </c:pt>
                <c:pt idx="189">
                  <c:v>4.9000000000000004</c:v>
                </c:pt>
                <c:pt idx="190">
                  <c:v>5</c:v>
                </c:pt>
                <c:pt idx="191">
                  <c:v>5.3</c:v>
                </c:pt>
                <c:pt idx="192">
                  <c:v>5</c:v>
                </c:pt>
                <c:pt idx="193">
                  <c:v>5</c:v>
                </c:pt>
                <c:pt idx="194">
                  <c:v>4.8</c:v>
                </c:pt>
                <c:pt idx="195">
                  <c:v>4.8</c:v>
                </c:pt>
                <c:pt idx="196">
                  <c:v>4.8</c:v>
                </c:pt>
                <c:pt idx="197">
                  <c:v>4.5</c:v>
                </c:pt>
                <c:pt idx="198">
                  <c:v>4.7</c:v>
                </c:pt>
                <c:pt idx="199">
                  <c:v>4.4000000000000004</c:v>
                </c:pt>
                <c:pt idx="200">
                  <c:v>4.5</c:v>
                </c:pt>
                <c:pt idx="201">
                  <c:v>4.5999999999999996</c:v>
                </c:pt>
                <c:pt idx="202">
                  <c:v>4.5</c:v>
                </c:pt>
                <c:pt idx="203">
                  <c:v>4.3</c:v>
                </c:pt>
                <c:pt idx="204">
                  <c:v>4.3</c:v>
                </c:pt>
                <c:pt idx="205">
                  <c:v>4.3</c:v>
                </c:pt>
                <c:pt idx="206">
                  <c:v>4.3</c:v>
                </c:pt>
                <c:pt idx="207">
                  <c:v>4.0999999999999996</c:v>
                </c:pt>
                <c:pt idx="208">
                  <c:v>4.3</c:v>
                </c:pt>
                <c:pt idx="209">
                  <c:v>4.0999999999999996</c:v>
                </c:pt>
                <c:pt idx="210">
                  <c:v>3.9</c:v>
                </c:pt>
                <c:pt idx="211">
                  <c:v>3.9</c:v>
                </c:pt>
                <c:pt idx="212">
                  <c:v>3.9</c:v>
                </c:pt>
                <c:pt idx="213">
                  <c:v>3.7</c:v>
                </c:pt>
                <c:pt idx="214">
                  <c:v>3.7</c:v>
                </c:pt>
                <c:pt idx="215">
                  <c:v>3.4</c:v>
                </c:pt>
                <c:pt idx="216">
                  <c:v>3.4</c:v>
                </c:pt>
                <c:pt idx="217">
                  <c:v>3.4</c:v>
                </c:pt>
                <c:pt idx="218">
                  <c:v>3.3</c:v>
                </c:pt>
                <c:pt idx="219">
                  <c:v>3.3</c:v>
                </c:pt>
                <c:pt idx="220">
                  <c:v>3.1</c:v>
                </c:pt>
                <c:pt idx="221">
                  <c:v>3.2</c:v>
                </c:pt>
                <c:pt idx="222">
                  <c:v>3.2</c:v>
                </c:pt>
                <c:pt idx="223">
                  <c:v>3.2</c:v>
                </c:pt>
                <c:pt idx="224">
                  <c:v>3.2</c:v>
                </c:pt>
                <c:pt idx="225">
                  <c:v>3.1</c:v>
                </c:pt>
                <c:pt idx="226">
                  <c:v>3</c:v>
                </c:pt>
                <c:pt idx="227">
                  <c:v>3.1</c:v>
                </c:pt>
                <c:pt idx="228">
                  <c:v>3.2</c:v>
                </c:pt>
                <c:pt idx="229">
                  <c:v>3</c:v>
                </c:pt>
                <c:pt idx="230">
                  <c:v>3</c:v>
                </c:pt>
                <c:pt idx="231">
                  <c:v>3</c:v>
                </c:pt>
                <c:pt idx="232">
                  <c:v>3.1</c:v>
                </c:pt>
                <c:pt idx="233">
                  <c:v>3.2</c:v>
                </c:pt>
                <c:pt idx="234">
                  <c:v>3.2</c:v>
                </c:pt>
                <c:pt idx="235">
                  <c:v>3</c:v>
                </c:pt>
                <c:pt idx="236">
                  <c:v>3.1</c:v>
                </c:pt>
                <c:pt idx="237">
                  <c:v>2.9</c:v>
                </c:pt>
                <c:pt idx="238">
                  <c:v>3.1</c:v>
                </c:pt>
                <c:pt idx="239">
                  <c:v>3.1</c:v>
                </c:pt>
                <c:pt idx="240">
                  <c:v>3.1</c:v>
                </c:pt>
                <c:pt idx="241">
                  <c:v>3</c:v>
                </c:pt>
                <c:pt idx="242">
                  <c:v>3.1</c:v>
                </c:pt>
                <c:pt idx="243">
                  <c:v>3</c:v>
                </c:pt>
                <c:pt idx="244">
                  <c:v>2.8</c:v>
                </c:pt>
                <c:pt idx="245">
                  <c:v>2.7</c:v>
                </c:pt>
                <c:pt idx="246">
                  <c:v>3</c:v>
                </c:pt>
                <c:pt idx="247">
                  <c:v>2.9</c:v>
                </c:pt>
                <c:pt idx="248">
                  <c:v>2.8</c:v>
                </c:pt>
                <c:pt idx="249">
                  <c:v>2.7</c:v>
                </c:pt>
                <c:pt idx="250">
                  <c:v>2.7</c:v>
                </c:pt>
                <c:pt idx="251">
                  <c:v>2.7</c:v>
                </c:pt>
                <c:pt idx="252">
                  <c:v>2.7</c:v>
                </c:pt>
                <c:pt idx="253">
                  <c:v>2.7</c:v>
                </c:pt>
                <c:pt idx="254">
                  <c:v>2.6</c:v>
                </c:pt>
                <c:pt idx="255">
                  <c:v>2.7</c:v>
                </c:pt>
                <c:pt idx="256">
                  <c:v>2.6</c:v>
                </c:pt>
                <c:pt idx="257">
                  <c:v>2.6</c:v>
                </c:pt>
                <c:pt idx="258">
                  <c:v>2.7</c:v>
                </c:pt>
                <c:pt idx="259">
                  <c:v>2.9</c:v>
                </c:pt>
                <c:pt idx="260">
                  <c:v>2.8</c:v>
                </c:pt>
                <c:pt idx="261">
                  <c:v>3.1</c:v>
                </c:pt>
                <c:pt idx="262">
                  <c:v>3</c:v>
                </c:pt>
                <c:pt idx="263">
                  <c:v>2.9</c:v>
                </c:pt>
                <c:pt idx="264">
                  <c:v>3</c:v>
                </c:pt>
                <c:pt idx="265">
                  <c:v>3.3</c:v>
                </c:pt>
                <c:pt idx="266">
                  <c:v>3.6</c:v>
                </c:pt>
                <c:pt idx="267">
                  <c:v>3.7</c:v>
                </c:pt>
                <c:pt idx="268">
                  <c:v>4</c:v>
                </c:pt>
                <c:pt idx="269">
                  <c:v>4.2</c:v>
                </c:pt>
                <c:pt idx="270">
                  <c:v>4.5</c:v>
                </c:pt>
                <c:pt idx="271">
                  <c:v>4.5999999999999996</c:v>
                </c:pt>
                <c:pt idx="272">
                  <c:v>4.5999999999999996</c:v>
                </c:pt>
                <c:pt idx="273">
                  <c:v>4.8</c:v>
                </c:pt>
                <c:pt idx="274">
                  <c:v>5</c:v>
                </c:pt>
                <c:pt idx="275">
                  <c:v>5.2</c:v>
                </c:pt>
                <c:pt idx="276">
                  <c:v>5.6</c:v>
                </c:pt>
                <c:pt idx="277">
                  <c:v>5.4</c:v>
                </c:pt>
                <c:pt idx="278">
                  <c:v>5.3</c:v>
                </c:pt>
                <c:pt idx="279">
                  <c:v>5.3</c:v>
                </c:pt>
                <c:pt idx="280">
                  <c:v>5.2</c:v>
                </c:pt>
                <c:pt idx="281">
                  <c:v>5.3</c:v>
                </c:pt>
                <c:pt idx="282">
                  <c:v>5.3</c:v>
                </c:pt>
                <c:pt idx="283">
                  <c:v>5.4</c:v>
                </c:pt>
                <c:pt idx="284">
                  <c:v>5.5</c:v>
                </c:pt>
                <c:pt idx="285">
                  <c:v>5.4</c:v>
                </c:pt>
                <c:pt idx="286">
                  <c:v>5.2</c:v>
                </c:pt>
                <c:pt idx="287">
                  <c:v>5.4</c:v>
                </c:pt>
                <c:pt idx="288">
                  <c:v>5.5</c:v>
                </c:pt>
                <c:pt idx="289">
                  <c:v>5.3</c:v>
                </c:pt>
                <c:pt idx="290">
                  <c:v>5.3</c:v>
                </c:pt>
                <c:pt idx="291">
                  <c:v>5.3</c:v>
                </c:pt>
                <c:pt idx="292">
                  <c:v>5.0999999999999996</c:v>
                </c:pt>
                <c:pt idx="293">
                  <c:v>5.0999999999999996</c:v>
                </c:pt>
                <c:pt idx="294">
                  <c:v>4.9000000000000004</c:v>
                </c:pt>
                <c:pt idx="295">
                  <c:v>4.8</c:v>
                </c:pt>
                <c:pt idx="296">
                  <c:v>4.9000000000000004</c:v>
                </c:pt>
                <c:pt idx="297">
                  <c:v>4.8</c:v>
                </c:pt>
                <c:pt idx="298">
                  <c:v>4.8</c:v>
                </c:pt>
                <c:pt idx="299">
                  <c:v>4.5999999999999996</c:v>
                </c:pt>
                <c:pt idx="300">
                  <c:v>4.5</c:v>
                </c:pt>
                <c:pt idx="301">
                  <c:v>4.2</c:v>
                </c:pt>
                <c:pt idx="302">
                  <c:v>4.3</c:v>
                </c:pt>
                <c:pt idx="303">
                  <c:v>4.3</c:v>
                </c:pt>
                <c:pt idx="304">
                  <c:v>4.3</c:v>
                </c:pt>
                <c:pt idx="305">
                  <c:v>4.3</c:v>
                </c:pt>
                <c:pt idx="306">
                  <c:v>4.0999999999999996</c:v>
                </c:pt>
                <c:pt idx="307">
                  <c:v>4</c:v>
                </c:pt>
                <c:pt idx="308">
                  <c:v>4.0999999999999996</c:v>
                </c:pt>
                <c:pt idx="309">
                  <c:v>4</c:v>
                </c:pt>
                <c:pt idx="310">
                  <c:v>3.9</c:v>
                </c:pt>
                <c:pt idx="311">
                  <c:v>4.0999999999999996</c:v>
                </c:pt>
                <c:pt idx="312">
                  <c:v>4.2</c:v>
                </c:pt>
                <c:pt idx="313">
                  <c:v>4.4000000000000004</c:v>
                </c:pt>
                <c:pt idx="314">
                  <c:v>4.5</c:v>
                </c:pt>
                <c:pt idx="315">
                  <c:v>4.4000000000000004</c:v>
                </c:pt>
                <c:pt idx="316">
                  <c:v>4.5</c:v>
                </c:pt>
                <c:pt idx="317">
                  <c:v>4.4000000000000004</c:v>
                </c:pt>
                <c:pt idx="318">
                  <c:v>4.5999999999999996</c:v>
                </c:pt>
                <c:pt idx="319">
                  <c:v>4.7</c:v>
                </c:pt>
                <c:pt idx="320">
                  <c:v>4.8</c:v>
                </c:pt>
                <c:pt idx="321">
                  <c:v>5</c:v>
                </c:pt>
                <c:pt idx="322">
                  <c:v>5.3</c:v>
                </c:pt>
                <c:pt idx="323">
                  <c:v>5.8</c:v>
                </c:pt>
                <c:pt idx="324">
                  <c:v>6.4</c:v>
                </c:pt>
                <c:pt idx="325">
                  <c:v>7.3</c:v>
                </c:pt>
                <c:pt idx="326">
                  <c:v>7.4</c:v>
                </c:pt>
                <c:pt idx="327">
                  <c:v>7.9</c:v>
                </c:pt>
                <c:pt idx="328">
                  <c:v>8.2000000000000011</c:v>
                </c:pt>
                <c:pt idx="329">
                  <c:v>8.4</c:v>
                </c:pt>
                <c:pt idx="330">
                  <c:v>8.3000000000000007</c:v>
                </c:pt>
                <c:pt idx="331">
                  <c:v>8.2000000000000011</c:v>
                </c:pt>
                <c:pt idx="332">
                  <c:v>7.9</c:v>
                </c:pt>
                <c:pt idx="333">
                  <c:v>8</c:v>
                </c:pt>
                <c:pt idx="334">
                  <c:v>7.8</c:v>
                </c:pt>
                <c:pt idx="335">
                  <c:v>7.8</c:v>
                </c:pt>
                <c:pt idx="336">
                  <c:v>7.6</c:v>
                </c:pt>
                <c:pt idx="337">
                  <c:v>7.3</c:v>
                </c:pt>
                <c:pt idx="338">
                  <c:v>7</c:v>
                </c:pt>
                <c:pt idx="339">
                  <c:v>6.9</c:v>
                </c:pt>
                <c:pt idx="340">
                  <c:v>7</c:v>
                </c:pt>
                <c:pt idx="341">
                  <c:v>6.9</c:v>
                </c:pt>
                <c:pt idx="342">
                  <c:v>7.1</c:v>
                </c:pt>
                <c:pt idx="343">
                  <c:v>7.1</c:v>
                </c:pt>
                <c:pt idx="344">
                  <c:v>6.9</c:v>
                </c:pt>
                <c:pt idx="345">
                  <c:v>7</c:v>
                </c:pt>
                <c:pt idx="346">
                  <c:v>7</c:v>
                </c:pt>
                <c:pt idx="347">
                  <c:v>7.3</c:v>
                </c:pt>
                <c:pt idx="348">
                  <c:v>7.2</c:v>
                </c:pt>
                <c:pt idx="349">
                  <c:v>6.8</c:v>
                </c:pt>
                <c:pt idx="350">
                  <c:v>7</c:v>
                </c:pt>
                <c:pt idx="351">
                  <c:v>6.6</c:v>
                </c:pt>
                <c:pt idx="352">
                  <c:v>6.4</c:v>
                </c:pt>
                <c:pt idx="353">
                  <c:v>6.4</c:v>
                </c:pt>
                <c:pt idx="354">
                  <c:v>6.4</c:v>
                </c:pt>
                <c:pt idx="355">
                  <c:v>6.1</c:v>
                </c:pt>
                <c:pt idx="356">
                  <c:v>6.2</c:v>
                </c:pt>
                <c:pt idx="357">
                  <c:v>5.8</c:v>
                </c:pt>
                <c:pt idx="358">
                  <c:v>6</c:v>
                </c:pt>
                <c:pt idx="359">
                  <c:v>5.8</c:v>
                </c:pt>
                <c:pt idx="360">
                  <c:v>5.5</c:v>
                </c:pt>
                <c:pt idx="361">
                  <c:v>5.6</c:v>
                </c:pt>
                <c:pt idx="362">
                  <c:v>5.6</c:v>
                </c:pt>
                <c:pt idx="363">
                  <c:v>5.6</c:v>
                </c:pt>
                <c:pt idx="364">
                  <c:v>5.3</c:v>
                </c:pt>
                <c:pt idx="365">
                  <c:v>5.2</c:v>
                </c:pt>
                <c:pt idx="366">
                  <c:v>4.9000000000000004</c:v>
                </c:pt>
                <c:pt idx="367">
                  <c:v>5.0999999999999996</c:v>
                </c:pt>
                <c:pt idx="368">
                  <c:v>5</c:v>
                </c:pt>
                <c:pt idx="369">
                  <c:v>5.0999999999999996</c:v>
                </c:pt>
                <c:pt idx="370">
                  <c:v>5.0999999999999996</c:v>
                </c:pt>
                <c:pt idx="371">
                  <c:v>5</c:v>
                </c:pt>
                <c:pt idx="372">
                  <c:v>5.3</c:v>
                </c:pt>
                <c:pt idx="373">
                  <c:v>5.0999999999999996</c:v>
                </c:pt>
                <c:pt idx="374">
                  <c:v>5.2</c:v>
                </c:pt>
                <c:pt idx="375">
                  <c:v>5.0999999999999996</c:v>
                </c:pt>
                <c:pt idx="376">
                  <c:v>5.0999999999999996</c:v>
                </c:pt>
                <c:pt idx="377">
                  <c:v>4.8</c:v>
                </c:pt>
                <c:pt idx="378">
                  <c:v>4.9000000000000004</c:v>
                </c:pt>
                <c:pt idx="379">
                  <c:v>5.0999999999999996</c:v>
                </c:pt>
                <c:pt idx="380">
                  <c:v>5.2</c:v>
                </c:pt>
                <c:pt idx="381">
                  <c:v>5.2</c:v>
                </c:pt>
                <c:pt idx="382">
                  <c:v>5.3</c:v>
                </c:pt>
                <c:pt idx="383">
                  <c:v>5.3</c:v>
                </c:pt>
                <c:pt idx="384">
                  <c:v>5.3</c:v>
                </c:pt>
                <c:pt idx="385">
                  <c:v>5.8</c:v>
                </c:pt>
                <c:pt idx="386">
                  <c:v>5.8</c:v>
                </c:pt>
                <c:pt idx="387">
                  <c:v>5.9</c:v>
                </c:pt>
                <c:pt idx="388">
                  <c:v>6.7</c:v>
                </c:pt>
                <c:pt idx="389">
                  <c:v>7.4</c:v>
                </c:pt>
                <c:pt idx="390">
                  <c:v>7.6</c:v>
                </c:pt>
                <c:pt idx="391">
                  <c:v>7.8</c:v>
                </c:pt>
                <c:pt idx="392">
                  <c:v>7.7</c:v>
                </c:pt>
                <c:pt idx="393">
                  <c:v>7.6</c:v>
                </c:pt>
                <c:pt idx="394">
                  <c:v>7.4</c:v>
                </c:pt>
                <c:pt idx="395">
                  <c:v>7.3</c:v>
                </c:pt>
                <c:pt idx="396">
                  <c:v>6.9</c:v>
                </c:pt>
                <c:pt idx="397">
                  <c:v>7.2</c:v>
                </c:pt>
                <c:pt idx="398">
                  <c:v>7.3</c:v>
                </c:pt>
                <c:pt idx="399">
                  <c:v>7.1</c:v>
                </c:pt>
                <c:pt idx="400">
                  <c:v>6.9</c:v>
                </c:pt>
                <c:pt idx="401">
                  <c:v>7.3</c:v>
                </c:pt>
                <c:pt idx="402">
                  <c:v>7.3</c:v>
                </c:pt>
                <c:pt idx="403">
                  <c:v>6.9</c:v>
                </c:pt>
                <c:pt idx="404">
                  <c:v>7.2</c:v>
                </c:pt>
                <c:pt idx="405">
                  <c:v>7.2</c:v>
                </c:pt>
                <c:pt idx="406">
                  <c:v>7.7</c:v>
                </c:pt>
                <c:pt idx="407">
                  <c:v>8.1</c:v>
                </c:pt>
                <c:pt idx="408">
                  <c:v>8.5</c:v>
                </c:pt>
                <c:pt idx="409">
                  <c:v>8.7000000000000011</c:v>
                </c:pt>
                <c:pt idx="410">
                  <c:v>8.8000000000000007</c:v>
                </c:pt>
                <c:pt idx="411">
                  <c:v>9.1</c:v>
                </c:pt>
                <c:pt idx="412">
                  <c:v>9.4</c:v>
                </c:pt>
                <c:pt idx="413">
                  <c:v>9.4</c:v>
                </c:pt>
                <c:pt idx="414">
                  <c:v>9.8000000000000007</c:v>
                </c:pt>
                <c:pt idx="415">
                  <c:v>10</c:v>
                </c:pt>
                <c:pt idx="416">
                  <c:v>10.200000000000001</c:v>
                </c:pt>
                <c:pt idx="417">
                  <c:v>10.6</c:v>
                </c:pt>
                <c:pt idx="418">
                  <c:v>10.9</c:v>
                </c:pt>
                <c:pt idx="419">
                  <c:v>11.1</c:v>
                </c:pt>
                <c:pt idx="420">
                  <c:v>11.2</c:v>
                </c:pt>
                <c:pt idx="421">
                  <c:v>10.7</c:v>
                </c:pt>
                <c:pt idx="422">
                  <c:v>10.9</c:v>
                </c:pt>
                <c:pt idx="423">
                  <c:v>10.7</c:v>
                </c:pt>
                <c:pt idx="424">
                  <c:v>10.7</c:v>
                </c:pt>
                <c:pt idx="425">
                  <c:v>10.5</c:v>
                </c:pt>
                <c:pt idx="426">
                  <c:v>10.1</c:v>
                </c:pt>
                <c:pt idx="427">
                  <c:v>9.8000000000000007</c:v>
                </c:pt>
                <c:pt idx="428">
                  <c:v>9.8000000000000007</c:v>
                </c:pt>
                <c:pt idx="429">
                  <c:v>9.5</c:v>
                </c:pt>
                <c:pt idx="430">
                  <c:v>9.1</c:v>
                </c:pt>
                <c:pt idx="431">
                  <c:v>8.6</c:v>
                </c:pt>
                <c:pt idx="432">
                  <c:v>8.3000000000000007</c:v>
                </c:pt>
                <c:pt idx="433">
                  <c:v>8.1</c:v>
                </c:pt>
                <c:pt idx="434">
                  <c:v>7.8</c:v>
                </c:pt>
                <c:pt idx="435">
                  <c:v>7.7</c:v>
                </c:pt>
                <c:pt idx="436">
                  <c:v>7.7</c:v>
                </c:pt>
                <c:pt idx="437">
                  <c:v>7.3</c:v>
                </c:pt>
                <c:pt idx="438">
                  <c:v>7.1</c:v>
                </c:pt>
                <c:pt idx="439">
                  <c:v>7.4</c:v>
                </c:pt>
                <c:pt idx="440">
                  <c:v>7.3</c:v>
                </c:pt>
                <c:pt idx="441">
                  <c:v>7.3</c:v>
                </c:pt>
                <c:pt idx="442">
                  <c:v>7.1</c:v>
                </c:pt>
                <c:pt idx="443">
                  <c:v>7</c:v>
                </c:pt>
                <c:pt idx="444">
                  <c:v>7.2</c:v>
                </c:pt>
                <c:pt idx="445">
                  <c:v>7.1</c:v>
                </c:pt>
                <c:pt idx="446">
                  <c:v>7.1</c:v>
                </c:pt>
                <c:pt idx="447">
                  <c:v>7</c:v>
                </c:pt>
                <c:pt idx="448">
                  <c:v>7.1</c:v>
                </c:pt>
                <c:pt idx="449">
                  <c:v>6.9</c:v>
                </c:pt>
                <c:pt idx="450">
                  <c:v>7.2</c:v>
                </c:pt>
                <c:pt idx="451">
                  <c:v>7.2</c:v>
                </c:pt>
                <c:pt idx="452">
                  <c:v>6.9</c:v>
                </c:pt>
                <c:pt idx="453">
                  <c:v>6.9</c:v>
                </c:pt>
                <c:pt idx="454">
                  <c:v>7.1</c:v>
                </c:pt>
                <c:pt idx="455">
                  <c:v>6.9</c:v>
                </c:pt>
                <c:pt idx="456">
                  <c:v>6.8</c:v>
                </c:pt>
                <c:pt idx="457">
                  <c:v>6.5</c:v>
                </c:pt>
                <c:pt idx="458">
                  <c:v>7</c:v>
                </c:pt>
                <c:pt idx="459">
                  <c:v>7</c:v>
                </c:pt>
                <c:pt idx="460">
                  <c:v>6.9</c:v>
                </c:pt>
                <c:pt idx="461">
                  <c:v>7.1</c:v>
                </c:pt>
                <c:pt idx="462">
                  <c:v>7.1</c:v>
                </c:pt>
                <c:pt idx="463">
                  <c:v>7.1</c:v>
                </c:pt>
                <c:pt idx="464">
                  <c:v>6.9</c:v>
                </c:pt>
                <c:pt idx="465">
                  <c:v>7.1</c:v>
                </c:pt>
                <c:pt idx="466">
                  <c:v>7</c:v>
                </c:pt>
                <c:pt idx="467">
                  <c:v>6.9</c:v>
                </c:pt>
                <c:pt idx="468">
                  <c:v>6.7</c:v>
                </c:pt>
                <c:pt idx="469">
                  <c:v>6.7</c:v>
                </c:pt>
                <c:pt idx="470">
                  <c:v>6.6</c:v>
                </c:pt>
                <c:pt idx="471">
                  <c:v>6.5</c:v>
                </c:pt>
                <c:pt idx="472">
                  <c:v>6.3</c:v>
                </c:pt>
                <c:pt idx="473">
                  <c:v>6.4</c:v>
                </c:pt>
                <c:pt idx="474">
                  <c:v>6.3</c:v>
                </c:pt>
                <c:pt idx="475">
                  <c:v>6.1</c:v>
                </c:pt>
                <c:pt idx="476">
                  <c:v>6.1</c:v>
                </c:pt>
                <c:pt idx="477">
                  <c:v>5.8</c:v>
                </c:pt>
                <c:pt idx="478">
                  <c:v>5.9</c:v>
                </c:pt>
                <c:pt idx="479">
                  <c:v>5.7</c:v>
                </c:pt>
                <c:pt idx="480">
                  <c:v>5.7</c:v>
                </c:pt>
                <c:pt idx="481">
                  <c:v>5.7</c:v>
                </c:pt>
                <c:pt idx="482">
                  <c:v>5.6</c:v>
                </c:pt>
                <c:pt idx="483">
                  <c:v>5.7</c:v>
                </c:pt>
                <c:pt idx="484">
                  <c:v>5.3</c:v>
                </c:pt>
                <c:pt idx="485">
                  <c:v>5.6</c:v>
                </c:pt>
                <c:pt idx="486">
                  <c:v>5.4</c:v>
                </c:pt>
                <c:pt idx="487">
                  <c:v>5.3</c:v>
                </c:pt>
                <c:pt idx="488">
                  <c:v>5.6</c:v>
                </c:pt>
                <c:pt idx="489">
                  <c:v>5.3</c:v>
                </c:pt>
                <c:pt idx="490">
                  <c:v>5.4</c:v>
                </c:pt>
                <c:pt idx="491">
                  <c:v>5.3</c:v>
                </c:pt>
                <c:pt idx="492">
                  <c:v>5.3</c:v>
                </c:pt>
                <c:pt idx="493">
                  <c:v>5.4</c:v>
                </c:pt>
                <c:pt idx="494">
                  <c:v>5.2</c:v>
                </c:pt>
                <c:pt idx="495">
                  <c:v>4.9000000000000004</c:v>
                </c:pt>
                <c:pt idx="496">
                  <c:v>5.2</c:v>
                </c:pt>
                <c:pt idx="497">
                  <c:v>5</c:v>
                </c:pt>
                <c:pt idx="498">
                  <c:v>5.0999999999999996</c:v>
                </c:pt>
                <c:pt idx="499">
                  <c:v>5</c:v>
                </c:pt>
                <c:pt idx="500">
                  <c:v>5.0999999999999996</c:v>
                </c:pt>
                <c:pt idx="501">
                  <c:v>5.4</c:v>
                </c:pt>
                <c:pt idx="502">
                  <c:v>5.3</c:v>
                </c:pt>
                <c:pt idx="503">
                  <c:v>5.4</c:v>
                </c:pt>
                <c:pt idx="504">
                  <c:v>5.3</c:v>
                </c:pt>
                <c:pt idx="505">
                  <c:v>5.4</c:v>
                </c:pt>
                <c:pt idx="506">
                  <c:v>5.2</c:v>
                </c:pt>
                <c:pt idx="507">
                  <c:v>5.2</c:v>
                </c:pt>
                <c:pt idx="508">
                  <c:v>5.4</c:v>
                </c:pt>
                <c:pt idx="509">
                  <c:v>5.3</c:v>
                </c:pt>
                <c:pt idx="510">
                  <c:v>5.3</c:v>
                </c:pt>
                <c:pt idx="511">
                  <c:v>5.6</c:v>
                </c:pt>
                <c:pt idx="512">
                  <c:v>5.8</c:v>
                </c:pt>
                <c:pt idx="513">
                  <c:v>5.9</c:v>
                </c:pt>
                <c:pt idx="514">
                  <c:v>6.1</c:v>
                </c:pt>
                <c:pt idx="515">
                  <c:v>6.4</c:v>
                </c:pt>
                <c:pt idx="516">
                  <c:v>6.5</c:v>
                </c:pt>
                <c:pt idx="517">
                  <c:v>6.5</c:v>
                </c:pt>
                <c:pt idx="518">
                  <c:v>6.9</c:v>
                </c:pt>
                <c:pt idx="519">
                  <c:v>7.2</c:v>
                </c:pt>
                <c:pt idx="520">
                  <c:v>7.1</c:v>
                </c:pt>
                <c:pt idx="521">
                  <c:v>7.2</c:v>
                </c:pt>
                <c:pt idx="522">
                  <c:v>7.2</c:v>
                </c:pt>
                <c:pt idx="523">
                  <c:v>7.2</c:v>
                </c:pt>
                <c:pt idx="524">
                  <c:v>7.2</c:v>
                </c:pt>
                <c:pt idx="525">
                  <c:v>7.3</c:v>
                </c:pt>
                <c:pt idx="526">
                  <c:v>7.3</c:v>
                </c:pt>
                <c:pt idx="527">
                  <c:v>7.4</c:v>
                </c:pt>
                <c:pt idx="528">
                  <c:v>7.6</c:v>
                </c:pt>
                <c:pt idx="529">
                  <c:v>7.8</c:v>
                </c:pt>
                <c:pt idx="530">
                  <c:v>7.9</c:v>
                </c:pt>
                <c:pt idx="531">
                  <c:v>7.9</c:v>
                </c:pt>
                <c:pt idx="532">
                  <c:v>7.7</c:v>
                </c:pt>
                <c:pt idx="533">
                  <c:v>8.1</c:v>
                </c:pt>
                <c:pt idx="534">
                  <c:v>8.3000000000000007</c:v>
                </c:pt>
                <c:pt idx="535">
                  <c:v>8</c:v>
                </c:pt>
                <c:pt idx="536">
                  <c:v>8</c:v>
                </c:pt>
                <c:pt idx="537">
                  <c:v>8</c:v>
                </c:pt>
                <c:pt idx="538">
                  <c:v>7.8</c:v>
                </c:pt>
                <c:pt idx="539">
                  <c:v>7.8</c:v>
                </c:pt>
                <c:pt idx="540">
                  <c:v>7.6</c:v>
                </c:pt>
                <c:pt idx="541">
                  <c:v>7.4</c:v>
                </c:pt>
                <c:pt idx="542">
                  <c:v>7.4</c:v>
                </c:pt>
                <c:pt idx="543">
                  <c:v>7.5</c:v>
                </c:pt>
                <c:pt idx="544">
                  <c:v>7.4</c:v>
                </c:pt>
                <c:pt idx="545">
                  <c:v>7.3</c:v>
                </c:pt>
                <c:pt idx="546">
                  <c:v>7.4</c:v>
                </c:pt>
                <c:pt idx="547">
                  <c:v>7.2</c:v>
                </c:pt>
                <c:pt idx="548">
                  <c:v>7.1</c:v>
                </c:pt>
                <c:pt idx="549">
                  <c:v>7</c:v>
                </c:pt>
                <c:pt idx="550">
                  <c:v>6.9</c:v>
                </c:pt>
                <c:pt idx="551">
                  <c:v>6.7</c:v>
                </c:pt>
                <c:pt idx="552">
                  <c:v>6.6</c:v>
                </c:pt>
                <c:pt idx="553">
                  <c:v>6.8</c:v>
                </c:pt>
                <c:pt idx="554">
                  <c:v>6.7</c:v>
                </c:pt>
                <c:pt idx="555">
                  <c:v>6.5</c:v>
                </c:pt>
                <c:pt idx="556">
                  <c:v>6.4</c:v>
                </c:pt>
                <c:pt idx="557">
                  <c:v>6.1</c:v>
                </c:pt>
                <c:pt idx="558">
                  <c:v>6.1</c:v>
                </c:pt>
                <c:pt idx="559">
                  <c:v>6.3</c:v>
                </c:pt>
                <c:pt idx="560">
                  <c:v>6.1</c:v>
                </c:pt>
                <c:pt idx="561">
                  <c:v>5.8</c:v>
                </c:pt>
                <c:pt idx="562">
                  <c:v>5.8</c:v>
                </c:pt>
                <c:pt idx="563">
                  <c:v>5.6</c:v>
                </c:pt>
                <c:pt idx="564">
                  <c:v>5.5</c:v>
                </c:pt>
                <c:pt idx="565">
                  <c:v>5.6</c:v>
                </c:pt>
                <c:pt idx="566">
                  <c:v>5.4</c:v>
                </c:pt>
                <c:pt idx="567">
                  <c:v>5.3</c:v>
                </c:pt>
                <c:pt idx="568">
                  <c:v>5.6</c:v>
                </c:pt>
                <c:pt idx="569">
                  <c:v>5.8</c:v>
                </c:pt>
                <c:pt idx="570">
                  <c:v>5.6</c:v>
                </c:pt>
                <c:pt idx="571">
                  <c:v>5.6</c:v>
                </c:pt>
                <c:pt idx="572">
                  <c:v>5.7</c:v>
                </c:pt>
                <c:pt idx="573">
                  <c:v>5.6</c:v>
                </c:pt>
                <c:pt idx="574">
                  <c:v>5.4</c:v>
                </c:pt>
                <c:pt idx="575">
                  <c:v>5.7</c:v>
                </c:pt>
                <c:pt idx="576">
                  <c:v>5.7</c:v>
                </c:pt>
                <c:pt idx="577">
                  <c:v>5.6</c:v>
                </c:pt>
                <c:pt idx="578">
                  <c:v>5.6</c:v>
                </c:pt>
                <c:pt idx="579">
                  <c:v>5.6</c:v>
                </c:pt>
                <c:pt idx="580">
                  <c:v>5.6</c:v>
                </c:pt>
                <c:pt idx="581">
                  <c:v>5.6</c:v>
                </c:pt>
                <c:pt idx="582">
                  <c:v>5.3</c:v>
                </c:pt>
                <c:pt idx="583">
                  <c:v>5.5</c:v>
                </c:pt>
                <c:pt idx="584">
                  <c:v>5</c:v>
                </c:pt>
                <c:pt idx="585">
                  <c:v>5.2</c:v>
                </c:pt>
                <c:pt idx="586">
                  <c:v>5.0999999999999996</c:v>
                </c:pt>
                <c:pt idx="587">
                  <c:v>5.3</c:v>
                </c:pt>
                <c:pt idx="588">
                  <c:v>5</c:v>
                </c:pt>
                <c:pt idx="589">
                  <c:v>5.3</c:v>
                </c:pt>
                <c:pt idx="590">
                  <c:v>5.0999999999999996</c:v>
                </c:pt>
                <c:pt idx="591">
                  <c:v>5.0999999999999996</c:v>
                </c:pt>
                <c:pt idx="592">
                  <c:v>5.0999999999999996</c:v>
                </c:pt>
                <c:pt idx="593">
                  <c:v>4.5999999999999996</c:v>
                </c:pt>
                <c:pt idx="594">
                  <c:v>5</c:v>
                </c:pt>
                <c:pt idx="595">
                  <c:v>4.8</c:v>
                </c:pt>
                <c:pt idx="596">
                  <c:v>4.8</c:v>
                </c:pt>
                <c:pt idx="597">
                  <c:v>4.7</c:v>
                </c:pt>
                <c:pt idx="598">
                  <c:v>4.7</c:v>
                </c:pt>
                <c:pt idx="599">
                  <c:v>4.5999999999999996</c:v>
                </c:pt>
                <c:pt idx="600">
                  <c:v>4.7</c:v>
                </c:pt>
                <c:pt idx="601">
                  <c:v>4.5</c:v>
                </c:pt>
                <c:pt idx="602">
                  <c:v>4.5</c:v>
                </c:pt>
                <c:pt idx="603">
                  <c:v>4.5999999999999996</c:v>
                </c:pt>
                <c:pt idx="604">
                  <c:v>4.0999999999999996</c:v>
                </c:pt>
                <c:pt idx="605">
                  <c:v>4.3</c:v>
                </c:pt>
                <c:pt idx="606">
                  <c:v>4.4000000000000004</c:v>
                </c:pt>
                <c:pt idx="607">
                  <c:v>4.5999999999999996</c:v>
                </c:pt>
                <c:pt idx="608">
                  <c:v>4.4000000000000004</c:v>
                </c:pt>
                <c:pt idx="609">
                  <c:v>4.5999999999999996</c:v>
                </c:pt>
                <c:pt idx="610">
                  <c:v>4.4000000000000004</c:v>
                </c:pt>
                <c:pt idx="611">
                  <c:v>4.3</c:v>
                </c:pt>
                <c:pt idx="612">
                  <c:v>4.3</c:v>
                </c:pt>
                <c:pt idx="613">
                  <c:v>4.2</c:v>
                </c:pt>
                <c:pt idx="614">
                  <c:v>4.3</c:v>
                </c:pt>
                <c:pt idx="615">
                  <c:v>3.9</c:v>
                </c:pt>
                <c:pt idx="616">
                  <c:v>4.0999999999999996</c:v>
                </c:pt>
                <c:pt idx="617">
                  <c:v>4.2</c:v>
                </c:pt>
                <c:pt idx="618">
                  <c:v>4.2</c:v>
                </c:pt>
                <c:pt idx="619">
                  <c:v>4.2</c:v>
                </c:pt>
                <c:pt idx="620">
                  <c:v>4.0999999999999996</c:v>
                </c:pt>
                <c:pt idx="621">
                  <c:v>4.0999999999999996</c:v>
                </c:pt>
                <c:pt idx="622">
                  <c:v>4.0999999999999996</c:v>
                </c:pt>
                <c:pt idx="623">
                  <c:v>4</c:v>
                </c:pt>
                <c:pt idx="624">
                  <c:v>4</c:v>
                </c:pt>
                <c:pt idx="625">
                  <c:v>3.9</c:v>
                </c:pt>
                <c:pt idx="626">
                  <c:v>4.0999999999999996</c:v>
                </c:pt>
                <c:pt idx="627">
                  <c:v>3.8</c:v>
                </c:pt>
                <c:pt idx="628">
                  <c:v>3.7</c:v>
                </c:pt>
                <c:pt idx="629">
                  <c:v>3.9</c:v>
                </c:pt>
                <c:pt idx="630">
                  <c:v>3.8</c:v>
                </c:pt>
                <c:pt idx="631">
                  <c:v>3.9</c:v>
                </c:pt>
                <c:pt idx="632">
                  <c:v>3.9</c:v>
                </c:pt>
                <c:pt idx="633">
                  <c:v>3.9</c:v>
                </c:pt>
                <c:pt idx="634">
                  <c:v>3.9</c:v>
                </c:pt>
                <c:pt idx="635">
                  <c:v>3.9</c:v>
                </c:pt>
                <c:pt idx="636">
                  <c:v>4</c:v>
                </c:pt>
                <c:pt idx="637">
                  <c:v>4.2</c:v>
                </c:pt>
                <c:pt idx="638">
                  <c:v>4.3</c:v>
                </c:pt>
                <c:pt idx="639">
                  <c:v>4.3</c:v>
                </c:pt>
                <c:pt idx="640">
                  <c:v>4.5</c:v>
                </c:pt>
                <c:pt idx="641">
                  <c:v>4.4000000000000004</c:v>
                </c:pt>
                <c:pt idx="642">
                  <c:v>4.5999999999999996</c:v>
                </c:pt>
                <c:pt idx="643">
                  <c:v>4.5999999999999996</c:v>
                </c:pt>
                <c:pt idx="644">
                  <c:v>5</c:v>
                </c:pt>
                <c:pt idx="645">
                  <c:v>4.9000000000000004</c:v>
                </c:pt>
                <c:pt idx="646">
                  <c:v>5.4</c:v>
                </c:pt>
                <c:pt idx="647">
                  <c:v>5.7</c:v>
                </c:pt>
                <c:pt idx="648">
                  <c:v>5.8</c:v>
                </c:pt>
                <c:pt idx="649">
                  <c:v>5.8</c:v>
                </c:pt>
                <c:pt idx="650">
                  <c:v>5.8</c:v>
                </c:pt>
                <c:pt idx="651">
                  <c:v>5.9</c:v>
                </c:pt>
                <c:pt idx="652">
                  <c:v>6</c:v>
                </c:pt>
                <c:pt idx="653">
                  <c:v>5.8</c:v>
                </c:pt>
                <c:pt idx="654">
                  <c:v>6</c:v>
                </c:pt>
                <c:pt idx="655">
                  <c:v>5.9</c:v>
                </c:pt>
                <c:pt idx="656">
                  <c:v>5.9</c:v>
                </c:pt>
                <c:pt idx="657">
                  <c:v>5.9</c:v>
                </c:pt>
                <c:pt idx="658">
                  <c:v>5.8</c:v>
                </c:pt>
                <c:pt idx="659">
                  <c:v>6.1</c:v>
                </c:pt>
                <c:pt idx="660">
                  <c:v>6.2</c:v>
                </c:pt>
                <c:pt idx="661">
                  <c:v>6.2</c:v>
                </c:pt>
                <c:pt idx="662">
                  <c:v>6.1</c:v>
                </c:pt>
                <c:pt idx="663">
                  <c:v>6.1</c:v>
                </c:pt>
                <c:pt idx="664">
                  <c:v>6.4</c:v>
                </c:pt>
                <c:pt idx="665">
                  <c:v>6.4</c:v>
                </c:pt>
                <c:pt idx="666">
                  <c:v>6.7</c:v>
                </c:pt>
                <c:pt idx="667">
                  <c:v>6.6</c:v>
                </c:pt>
                <c:pt idx="668">
                  <c:v>6.3</c:v>
                </c:pt>
                <c:pt idx="669">
                  <c:v>6.4</c:v>
                </c:pt>
                <c:pt idx="670">
                  <c:v>6.2</c:v>
                </c:pt>
                <c:pt idx="671">
                  <c:v>6.2</c:v>
                </c:pt>
                <c:pt idx="672">
                  <c:v>5.8</c:v>
                </c:pt>
                <c:pt idx="673">
                  <c:v>5.7</c:v>
                </c:pt>
                <c:pt idx="674">
                  <c:v>5.6</c:v>
                </c:pt>
                <c:pt idx="675">
                  <c:v>5.8</c:v>
                </c:pt>
                <c:pt idx="676">
                  <c:v>5.7</c:v>
                </c:pt>
                <c:pt idx="677">
                  <c:v>5.8</c:v>
                </c:pt>
                <c:pt idx="678">
                  <c:v>5.7</c:v>
                </c:pt>
                <c:pt idx="679">
                  <c:v>5.5</c:v>
                </c:pt>
                <c:pt idx="680">
                  <c:v>5.6</c:v>
                </c:pt>
                <c:pt idx="681">
                  <c:v>5.6</c:v>
                </c:pt>
                <c:pt idx="682">
                  <c:v>5.6</c:v>
                </c:pt>
                <c:pt idx="683">
                  <c:v>5.5</c:v>
                </c:pt>
                <c:pt idx="684">
                  <c:v>5.5</c:v>
                </c:pt>
                <c:pt idx="685">
                  <c:v>5.4</c:v>
                </c:pt>
                <c:pt idx="686">
                  <c:v>5.5</c:v>
                </c:pt>
                <c:pt idx="687">
                  <c:v>5.3</c:v>
                </c:pt>
                <c:pt idx="688">
                  <c:v>5.0999999999999996</c:v>
                </c:pt>
                <c:pt idx="689">
                  <c:v>5</c:v>
                </c:pt>
                <c:pt idx="690">
                  <c:v>5</c:v>
                </c:pt>
                <c:pt idx="691">
                  <c:v>4.9000000000000004</c:v>
                </c:pt>
                <c:pt idx="692">
                  <c:v>4.9000000000000004</c:v>
                </c:pt>
                <c:pt idx="693">
                  <c:v>5</c:v>
                </c:pt>
                <c:pt idx="694">
                  <c:v>4.8</c:v>
                </c:pt>
                <c:pt idx="695">
                  <c:v>5</c:v>
                </c:pt>
                <c:pt idx="696">
                  <c:v>4.8</c:v>
                </c:pt>
                <c:pt idx="697">
                  <c:v>4.5999999999999996</c:v>
                </c:pt>
                <c:pt idx="698">
                  <c:v>4.8</c:v>
                </c:pt>
                <c:pt idx="699">
                  <c:v>4.7</c:v>
                </c:pt>
                <c:pt idx="700">
                  <c:v>4.7</c:v>
                </c:pt>
                <c:pt idx="701">
                  <c:v>4.7</c:v>
                </c:pt>
                <c:pt idx="702">
                  <c:v>4.5999999999999996</c:v>
                </c:pt>
                <c:pt idx="703">
                  <c:v>4.7</c:v>
                </c:pt>
                <c:pt idx="704">
                  <c:v>4.7</c:v>
                </c:pt>
                <c:pt idx="705">
                  <c:v>4.4000000000000004</c:v>
                </c:pt>
                <c:pt idx="706">
                  <c:v>4.4000000000000004</c:v>
                </c:pt>
                <c:pt idx="707">
                  <c:v>4.5</c:v>
                </c:pt>
                <c:pt idx="708">
                  <c:v>4.5</c:v>
                </c:pt>
                <c:pt idx="709">
                  <c:v>4.7</c:v>
                </c:pt>
                <c:pt idx="710">
                  <c:v>4.7</c:v>
                </c:pt>
                <c:pt idx="711">
                  <c:v>4.5</c:v>
                </c:pt>
                <c:pt idx="712">
                  <c:v>4.5999999999999996</c:v>
                </c:pt>
                <c:pt idx="713">
                  <c:v>4.5999999999999996</c:v>
                </c:pt>
                <c:pt idx="714">
                  <c:v>4.7</c:v>
                </c:pt>
                <c:pt idx="715">
                  <c:v>4.7</c:v>
                </c:pt>
                <c:pt idx="716">
                  <c:v>4.7</c:v>
                </c:pt>
                <c:pt idx="717">
                  <c:v>4.8</c:v>
                </c:pt>
                <c:pt idx="718">
                  <c:v>4.8</c:v>
                </c:pt>
                <c:pt idx="719">
                  <c:v>4.8</c:v>
                </c:pt>
                <c:pt idx="720">
                  <c:v>5.0999999999999996</c:v>
                </c:pt>
                <c:pt idx="721">
                  <c:v>5.2</c:v>
                </c:pt>
                <c:pt idx="722">
                  <c:v>5</c:v>
                </c:pt>
                <c:pt idx="723">
                  <c:v>5.2</c:v>
                </c:pt>
                <c:pt idx="724">
                  <c:v>5.0999999999999996</c:v>
                </c:pt>
                <c:pt idx="725">
                  <c:v>5.6</c:v>
                </c:pt>
                <c:pt idx="726">
                  <c:v>5.8</c:v>
                </c:pt>
                <c:pt idx="727">
                  <c:v>6.2</c:v>
                </c:pt>
                <c:pt idx="728">
                  <c:v>6.3</c:v>
                </c:pt>
                <c:pt idx="729">
                  <c:v>6.7</c:v>
                </c:pt>
                <c:pt idx="730">
                  <c:v>7.1</c:v>
                </c:pt>
                <c:pt idx="731">
                  <c:v>7.4</c:v>
                </c:pt>
                <c:pt idx="732">
                  <c:v>8</c:v>
                </c:pt>
                <c:pt idx="733">
                  <c:v>8.6</c:v>
                </c:pt>
                <c:pt idx="734">
                  <c:v>9.2000000000000011</c:v>
                </c:pt>
                <c:pt idx="735">
                  <c:v>9.7000000000000011</c:v>
                </c:pt>
                <c:pt idx="736">
                  <c:v>10.1</c:v>
                </c:pt>
                <c:pt idx="737">
                  <c:v>10.6</c:v>
                </c:pt>
                <c:pt idx="738">
                  <c:v>10.6</c:v>
                </c:pt>
                <c:pt idx="739">
                  <c:v>10.5</c:v>
                </c:pt>
                <c:pt idx="740">
                  <c:v>10.8</c:v>
                </c:pt>
                <c:pt idx="741">
                  <c:v>10.9</c:v>
                </c:pt>
                <c:pt idx="742">
                  <c:v>11.2</c:v>
                </c:pt>
                <c:pt idx="743">
                  <c:v>11.1</c:v>
                </c:pt>
                <c:pt idx="744">
                  <c:v>10.9</c:v>
                </c:pt>
                <c:pt idx="745">
                  <c:v>10.9</c:v>
                </c:pt>
                <c:pt idx="746">
                  <c:v>10.8</c:v>
                </c:pt>
                <c:pt idx="747">
                  <c:v>10.9</c:v>
                </c:pt>
                <c:pt idx="748">
                  <c:v>10.8</c:v>
                </c:pt>
                <c:pt idx="749">
                  <c:v>10.4</c:v>
                </c:pt>
                <c:pt idx="750">
                  <c:v>10.4</c:v>
                </c:pt>
                <c:pt idx="751">
                  <c:v>10.4</c:v>
                </c:pt>
                <c:pt idx="752">
                  <c:v>10.4</c:v>
                </c:pt>
                <c:pt idx="753">
                  <c:v>10.3</c:v>
                </c:pt>
                <c:pt idx="754">
                  <c:v>10.200000000000001</c:v>
                </c:pt>
                <c:pt idx="755">
                  <c:v>10.5</c:v>
                </c:pt>
                <c:pt idx="756">
                  <c:v>10</c:v>
                </c:pt>
                <c:pt idx="757">
                  <c:v>9.6</c:v>
                </c:pt>
                <c:pt idx="758">
                  <c:v>9.4</c:v>
                </c:pt>
                <c:pt idx="759">
                  <c:v>9.4</c:v>
                </c:pt>
                <c:pt idx="760">
                  <c:v>9.5</c:v>
                </c:pt>
                <c:pt idx="761">
                  <c:v>9.5</c:v>
                </c:pt>
                <c:pt idx="762">
                  <c:v>9.7000000000000011</c:v>
                </c:pt>
                <c:pt idx="763">
                  <c:v>9.6</c:v>
                </c:pt>
                <c:pt idx="764">
                  <c:v>9.5</c:v>
                </c:pt>
                <c:pt idx="765">
                  <c:v>9.4</c:v>
                </c:pt>
                <c:pt idx="766">
                  <c:v>9.4</c:v>
                </c:pt>
                <c:pt idx="767">
                  <c:v>8.9</c:v>
                </c:pt>
                <c:pt idx="768">
                  <c:v>8.7000000000000011</c:v>
                </c:pt>
              </c:numCache>
            </c:numRef>
          </c:val>
        </c:ser>
        <c:ser>
          <c:idx val="4"/>
          <c:order val="1"/>
          <c:tx>
            <c:strRef>
              <c:f>Data!$F$3</c:f>
              <c:strCache>
                <c:ptCount val="1"/>
                <c:pt idx="0">
                  <c:v>Women</c:v>
                </c:pt>
              </c:strCache>
            </c:strRef>
          </c:tx>
          <c:marker>
            <c:symbol val="none"/>
          </c:marker>
          <c:cat>
            <c:numRef>
              <c:f>Data!$A$4:$A$772</c:f>
              <c:numCache>
                <c:formatCode>mmm\-yy</c:formatCode>
                <c:ptCount val="769"/>
                <c:pt idx="1">
                  <c:v>17533</c:v>
                </c:pt>
                <c:pt idx="2">
                  <c:v>17564</c:v>
                </c:pt>
                <c:pt idx="3">
                  <c:v>17593</c:v>
                </c:pt>
                <c:pt idx="4">
                  <c:v>17624</c:v>
                </c:pt>
                <c:pt idx="5">
                  <c:v>17654</c:v>
                </c:pt>
                <c:pt idx="6">
                  <c:v>17685</c:v>
                </c:pt>
                <c:pt idx="7">
                  <c:v>17715</c:v>
                </c:pt>
                <c:pt idx="8">
                  <c:v>17746</c:v>
                </c:pt>
                <c:pt idx="9">
                  <c:v>17777</c:v>
                </c:pt>
                <c:pt idx="10">
                  <c:v>17807</c:v>
                </c:pt>
                <c:pt idx="11">
                  <c:v>17838</c:v>
                </c:pt>
                <c:pt idx="12">
                  <c:v>17868</c:v>
                </c:pt>
                <c:pt idx="13">
                  <c:v>17899</c:v>
                </c:pt>
                <c:pt idx="14">
                  <c:v>17930</c:v>
                </c:pt>
                <c:pt idx="15">
                  <c:v>17958</c:v>
                </c:pt>
                <c:pt idx="16">
                  <c:v>17989</c:v>
                </c:pt>
                <c:pt idx="17">
                  <c:v>18019</c:v>
                </c:pt>
                <c:pt idx="18">
                  <c:v>18050</c:v>
                </c:pt>
                <c:pt idx="19">
                  <c:v>18080</c:v>
                </c:pt>
                <c:pt idx="20">
                  <c:v>18111</c:v>
                </c:pt>
                <c:pt idx="21">
                  <c:v>18142</c:v>
                </c:pt>
                <c:pt idx="22">
                  <c:v>18172</c:v>
                </c:pt>
                <c:pt idx="23">
                  <c:v>18203</c:v>
                </c:pt>
                <c:pt idx="24">
                  <c:v>18233</c:v>
                </c:pt>
                <c:pt idx="25">
                  <c:v>18264</c:v>
                </c:pt>
                <c:pt idx="26">
                  <c:v>18295</c:v>
                </c:pt>
                <c:pt idx="27">
                  <c:v>18323</c:v>
                </c:pt>
                <c:pt idx="28">
                  <c:v>18354</c:v>
                </c:pt>
                <c:pt idx="29">
                  <c:v>18384</c:v>
                </c:pt>
                <c:pt idx="30">
                  <c:v>18415</c:v>
                </c:pt>
                <c:pt idx="31">
                  <c:v>18445</c:v>
                </c:pt>
                <c:pt idx="32">
                  <c:v>18476</c:v>
                </c:pt>
                <c:pt idx="33">
                  <c:v>18507</c:v>
                </c:pt>
                <c:pt idx="34">
                  <c:v>18537</c:v>
                </c:pt>
                <c:pt idx="35">
                  <c:v>18568</c:v>
                </c:pt>
                <c:pt idx="36">
                  <c:v>18598</c:v>
                </c:pt>
                <c:pt idx="37">
                  <c:v>18629</c:v>
                </c:pt>
                <c:pt idx="38">
                  <c:v>18660</c:v>
                </c:pt>
                <c:pt idx="39">
                  <c:v>18688</c:v>
                </c:pt>
                <c:pt idx="40">
                  <c:v>18719</c:v>
                </c:pt>
                <c:pt idx="41">
                  <c:v>18749</c:v>
                </c:pt>
                <c:pt idx="42">
                  <c:v>18780</c:v>
                </c:pt>
                <c:pt idx="43">
                  <c:v>18810</c:v>
                </c:pt>
                <c:pt idx="44">
                  <c:v>18841</c:v>
                </c:pt>
                <c:pt idx="45">
                  <c:v>18872</c:v>
                </c:pt>
                <c:pt idx="46">
                  <c:v>18902</c:v>
                </c:pt>
                <c:pt idx="47">
                  <c:v>18933</c:v>
                </c:pt>
                <c:pt idx="48">
                  <c:v>18963</c:v>
                </c:pt>
                <c:pt idx="49">
                  <c:v>18994</c:v>
                </c:pt>
                <c:pt idx="50">
                  <c:v>19025</c:v>
                </c:pt>
                <c:pt idx="51">
                  <c:v>19054</c:v>
                </c:pt>
                <c:pt idx="52">
                  <c:v>19085</c:v>
                </c:pt>
                <c:pt idx="53">
                  <c:v>19115</c:v>
                </c:pt>
                <c:pt idx="54">
                  <c:v>19146</c:v>
                </c:pt>
                <c:pt idx="55">
                  <c:v>19176</c:v>
                </c:pt>
                <c:pt idx="56">
                  <c:v>19207</c:v>
                </c:pt>
                <c:pt idx="57">
                  <c:v>19238</c:v>
                </c:pt>
                <c:pt idx="58">
                  <c:v>19268</c:v>
                </c:pt>
                <c:pt idx="59">
                  <c:v>19299</c:v>
                </c:pt>
                <c:pt idx="60">
                  <c:v>19329</c:v>
                </c:pt>
                <c:pt idx="61">
                  <c:v>19360</c:v>
                </c:pt>
                <c:pt idx="62">
                  <c:v>19391</c:v>
                </c:pt>
                <c:pt idx="63">
                  <c:v>19419</c:v>
                </c:pt>
                <c:pt idx="64">
                  <c:v>19450</c:v>
                </c:pt>
                <c:pt idx="65">
                  <c:v>19480</c:v>
                </c:pt>
                <c:pt idx="66">
                  <c:v>19511</c:v>
                </c:pt>
                <c:pt idx="67">
                  <c:v>19541</c:v>
                </c:pt>
                <c:pt idx="68">
                  <c:v>19572</c:v>
                </c:pt>
                <c:pt idx="69">
                  <c:v>19603</c:v>
                </c:pt>
                <c:pt idx="70">
                  <c:v>19633</c:v>
                </c:pt>
                <c:pt idx="71">
                  <c:v>19664</c:v>
                </c:pt>
                <c:pt idx="72">
                  <c:v>19694</c:v>
                </c:pt>
                <c:pt idx="73">
                  <c:v>19725</c:v>
                </c:pt>
                <c:pt idx="74">
                  <c:v>19756</c:v>
                </c:pt>
                <c:pt idx="75">
                  <c:v>19784</c:v>
                </c:pt>
                <c:pt idx="76">
                  <c:v>19815</c:v>
                </c:pt>
                <c:pt idx="77">
                  <c:v>19845</c:v>
                </c:pt>
                <c:pt idx="78">
                  <c:v>19876</c:v>
                </c:pt>
                <c:pt idx="79">
                  <c:v>19906</c:v>
                </c:pt>
                <c:pt idx="80">
                  <c:v>19937</c:v>
                </c:pt>
                <c:pt idx="81">
                  <c:v>19968</c:v>
                </c:pt>
                <c:pt idx="82">
                  <c:v>19998</c:v>
                </c:pt>
                <c:pt idx="83">
                  <c:v>20029</c:v>
                </c:pt>
                <c:pt idx="84">
                  <c:v>20059</c:v>
                </c:pt>
                <c:pt idx="85">
                  <c:v>20090</c:v>
                </c:pt>
                <c:pt idx="86">
                  <c:v>20121</c:v>
                </c:pt>
                <c:pt idx="87">
                  <c:v>20149</c:v>
                </c:pt>
                <c:pt idx="88">
                  <c:v>20180</c:v>
                </c:pt>
                <c:pt idx="89">
                  <c:v>20210</c:v>
                </c:pt>
                <c:pt idx="90">
                  <c:v>20241</c:v>
                </c:pt>
                <c:pt idx="91">
                  <c:v>20271</c:v>
                </c:pt>
                <c:pt idx="92">
                  <c:v>20302</c:v>
                </c:pt>
                <c:pt idx="93">
                  <c:v>20333</c:v>
                </c:pt>
                <c:pt idx="94">
                  <c:v>20363</c:v>
                </c:pt>
                <c:pt idx="95">
                  <c:v>20394</c:v>
                </c:pt>
                <c:pt idx="96">
                  <c:v>20424</c:v>
                </c:pt>
                <c:pt idx="97">
                  <c:v>20455</c:v>
                </c:pt>
                <c:pt idx="98">
                  <c:v>20486</c:v>
                </c:pt>
                <c:pt idx="99">
                  <c:v>20515</c:v>
                </c:pt>
                <c:pt idx="100">
                  <c:v>20546</c:v>
                </c:pt>
                <c:pt idx="101">
                  <c:v>20576</c:v>
                </c:pt>
                <c:pt idx="102">
                  <c:v>20607</c:v>
                </c:pt>
                <c:pt idx="103">
                  <c:v>20637</c:v>
                </c:pt>
                <c:pt idx="104">
                  <c:v>20668</c:v>
                </c:pt>
                <c:pt idx="105">
                  <c:v>20699</c:v>
                </c:pt>
                <c:pt idx="106">
                  <c:v>20729</c:v>
                </c:pt>
                <c:pt idx="107">
                  <c:v>20760</c:v>
                </c:pt>
                <c:pt idx="108">
                  <c:v>20790</c:v>
                </c:pt>
                <c:pt idx="109">
                  <c:v>20821</c:v>
                </c:pt>
                <c:pt idx="110">
                  <c:v>20852</c:v>
                </c:pt>
                <c:pt idx="111">
                  <c:v>20880</c:v>
                </c:pt>
                <c:pt idx="112">
                  <c:v>20911</c:v>
                </c:pt>
                <c:pt idx="113">
                  <c:v>20941</c:v>
                </c:pt>
                <c:pt idx="114">
                  <c:v>20972</c:v>
                </c:pt>
                <c:pt idx="115">
                  <c:v>21002</c:v>
                </c:pt>
                <c:pt idx="116">
                  <c:v>21033</c:v>
                </c:pt>
                <c:pt idx="117">
                  <c:v>21064</c:v>
                </c:pt>
                <c:pt idx="118">
                  <c:v>21094</c:v>
                </c:pt>
                <c:pt idx="119">
                  <c:v>21125</c:v>
                </c:pt>
                <c:pt idx="120">
                  <c:v>21155</c:v>
                </c:pt>
                <c:pt idx="121">
                  <c:v>21186</c:v>
                </c:pt>
                <c:pt idx="122">
                  <c:v>21217</c:v>
                </c:pt>
                <c:pt idx="123">
                  <c:v>21245</c:v>
                </c:pt>
                <c:pt idx="124">
                  <c:v>21276</c:v>
                </c:pt>
                <c:pt idx="125">
                  <c:v>21306</c:v>
                </c:pt>
                <c:pt idx="126">
                  <c:v>21337</c:v>
                </c:pt>
                <c:pt idx="127">
                  <c:v>21367</c:v>
                </c:pt>
                <c:pt idx="128">
                  <c:v>21398</c:v>
                </c:pt>
                <c:pt idx="129">
                  <c:v>21429</c:v>
                </c:pt>
                <c:pt idx="130">
                  <c:v>21459</c:v>
                </c:pt>
                <c:pt idx="131">
                  <c:v>21490</c:v>
                </c:pt>
                <c:pt idx="132">
                  <c:v>21520</c:v>
                </c:pt>
                <c:pt idx="133">
                  <c:v>21551</c:v>
                </c:pt>
                <c:pt idx="134">
                  <c:v>21582</c:v>
                </c:pt>
                <c:pt idx="135">
                  <c:v>21610</c:v>
                </c:pt>
                <c:pt idx="136">
                  <c:v>21641</c:v>
                </c:pt>
                <c:pt idx="137">
                  <c:v>21671</c:v>
                </c:pt>
                <c:pt idx="138">
                  <c:v>21702</c:v>
                </c:pt>
                <c:pt idx="139">
                  <c:v>21732</c:v>
                </c:pt>
                <c:pt idx="140">
                  <c:v>21763</c:v>
                </c:pt>
                <c:pt idx="141">
                  <c:v>21794</c:v>
                </c:pt>
                <c:pt idx="142">
                  <c:v>21824</c:v>
                </c:pt>
                <c:pt idx="143">
                  <c:v>21855</c:v>
                </c:pt>
                <c:pt idx="144">
                  <c:v>21885</c:v>
                </c:pt>
                <c:pt idx="145">
                  <c:v>21916</c:v>
                </c:pt>
                <c:pt idx="146">
                  <c:v>21947</c:v>
                </c:pt>
                <c:pt idx="147">
                  <c:v>21976</c:v>
                </c:pt>
                <c:pt idx="148">
                  <c:v>22007</c:v>
                </c:pt>
                <c:pt idx="149">
                  <c:v>22037</c:v>
                </c:pt>
                <c:pt idx="150">
                  <c:v>22068</c:v>
                </c:pt>
                <c:pt idx="151">
                  <c:v>22098</c:v>
                </c:pt>
                <c:pt idx="152">
                  <c:v>22129</c:v>
                </c:pt>
                <c:pt idx="153">
                  <c:v>22160</c:v>
                </c:pt>
                <c:pt idx="154">
                  <c:v>22190</c:v>
                </c:pt>
                <c:pt idx="155">
                  <c:v>22221</c:v>
                </c:pt>
                <c:pt idx="156">
                  <c:v>22251</c:v>
                </c:pt>
                <c:pt idx="157">
                  <c:v>22282</c:v>
                </c:pt>
                <c:pt idx="158">
                  <c:v>22313</c:v>
                </c:pt>
                <c:pt idx="159">
                  <c:v>22341</c:v>
                </c:pt>
                <c:pt idx="160">
                  <c:v>22372</c:v>
                </c:pt>
                <c:pt idx="161">
                  <c:v>22402</c:v>
                </c:pt>
                <c:pt idx="162">
                  <c:v>22433</c:v>
                </c:pt>
                <c:pt idx="163">
                  <c:v>22463</c:v>
                </c:pt>
                <c:pt idx="164">
                  <c:v>22494</c:v>
                </c:pt>
                <c:pt idx="165">
                  <c:v>22525</c:v>
                </c:pt>
                <c:pt idx="166">
                  <c:v>22555</c:v>
                </c:pt>
                <c:pt idx="167">
                  <c:v>22586</c:v>
                </c:pt>
                <c:pt idx="168">
                  <c:v>22616</c:v>
                </c:pt>
                <c:pt idx="169">
                  <c:v>22647</c:v>
                </c:pt>
                <c:pt idx="170">
                  <c:v>22678</c:v>
                </c:pt>
                <c:pt idx="171">
                  <c:v>22706</c:v>
                </c:pt>
                <c:pt idx="172">
                  <c:v>22737</c:v>
                </c:pt>
                <c:pt idx="173">
                  <c:v>22767</c:v>
                </c:pt>
                <c:pt idx="174">
                  <c:v>22798</c:v>
                </c:pt>
                <c:pt idx="175">
                  <c:v>22828</c:v>
                </c:pt>
                <c:pt idx="176">
                  <c:v>22859</c:v>
                </c:pt>
                <c:pt idx="177">
                  <c:v>22890</c:v>
                </c:pt>
                <c:pt idx="178">
                  <c:v>22920</c:v>
                </c:pt>
                <c:pt idx="179">
                  <c:v>22951</c:v>
                </c:pt>
                <c:pt idx="180">
                  <c:v>22981</c:v>
                </c:pt>
                <c:pt idx="181">
                  <c:v>23012</c:v>
                </c:pt>
                <c:pt idx="182">
                  <c:v>23043</c:v>
                </c:pt>
                <c:pt idx="183">
                  <c:v>23071</c:v>
                </c:pt>
                <c:pt idx="184">
                  <c:v>23102</c:v>
                </c:pt>
                <c:pt idx="185">
                  <c:v>23132</c:v>
                </c:pt>
                <c:pt idx="186">
                  <c:v>23163</c:v>
                </c:pt>
                <c:pt idx="187">
                  <c:v>23193</c:v>
                </c:pt>
                <c:pt idx="188">
                  <c:v>23224</c:v>
                </c:pt>
                <c:pt idx="189">
                  <c:v>23255</c:v>
                </c:pt>
                <c:pt idx="190">
                  <c:v>23285</c:v>
                </c:pt>
                <c:pt idx="191">
                  <c:v>23316</c:v>
                </c:pt>
                <c:pt idx="192">
                  <c:v>23346</c:v>
                </c:pt>
                <c:pt idx="193">
                  <c:v>23377</c:v>
                </c:pt>
                <c:pt idx="194">
                  <c:v>23408</c:v>
                </c:pt>
                <c:pt idx="195">
                  <c:v>23437</c:v>
                </c:pt>
                <c:pt idx="196">
                  <c:v>23468</c:v>
                </c:pt>
                <c:pt idx="197">
                  <c:v>23498</c:v>
                </c:pt>
                <c:pt idx="198">
                  <c:v>23529</c:v>
                </c:pt>
                <c:pt idx="199">
                  <c:v>23559</c:v>
                </c:pt>
                <c:pt idx="200">
                  <c:v>23590</c:v>
                </c:pt>
                <c:pt idx="201">
                  <c:v>23621</c:v>
                </c:pt>
                <c:pt idx="202">
                  <c:v>23651</c:v>
                </c:pt>
                <c:pt idx="203">
                  <c:v>23682</c:v>
                </c:pt>
                <c:pt idx="204">
                  <c:v>23712</c:v>
                </c:pt>
                <c:pt idx="205">
                  <c:v>23743</c:v>
                </c:pt>
                <c:pt idx="206">
                  <c:v>23774</c:v>
                </c:pt>
                <c:pt idx="207">
                  <c:v>23802</c:v>
                </c:pt>
                <c:pt idx="208">
                  <c:v>23833</c:v>
                </c:pt>
                <c:pt idx="209">
                  <c:v>23863</c:v>
                </c:pt>
                <c:pt idx="210">
                  <c:v>23894</c:v>
                </c:pt>
                <c:pt idx="211">
                  <c:v>23924</c:v>
                </c:pt>
                <c:pt idx="212">
                  <c:v>23955</c:v>
                </c:pt>
                <c:pt idx="213">
                  <c:v>23986</c:v>
                </c:pt>
                <c:pt idx="214">
                  <c:v>24016</c:v>
                </c:pt>
                <c:pt idx="215">
                  <c:v>24047</c:v>
                </c:pt>
                <c:pt idx="216">
                  <c:v>24077</c:v>
                </c:pt>
                <c:pt idx="217">
                  <c:v>24108</c:v>
                </c:pt>
                <c:pt idx="218">
                  <c:v>24139</c:v>
                </c:pt>
                <c:pt idx="219">
                  <c:v>24167</c:v>
                </c:pt>
                <c:pt idx="220">
                  <c:v>24198</c:v>
                </c:pt>
                <c:pt idx="221">
                  <c:v>24228</c:v>
                </c:pt>
                <c:pt idx="222">
                  <c:v>24259</c:v>
                </c:pt>
                <c:pt idx="223">
                  <c:v>24289</c:v>
                </c:pt>
                <c:pt idx="224">
                  <c:v>24320</c:v>
                </c:pt>
                <c:pt idx="225">
                  <c:v>24351</c:v>
                </c:pt>
                <c:pt idx="226">
                  <c:v>24381</c:v>
                </c:pt>
                <c:pt idx="227">
                  <c:v>24412</c:v>
                </c:pt>
                <c:pt idx="228">
                  <c:v>24442</c:v>
                </c:pt>
                <c:pt idx="229">
                  <c:v>24473</c:v>
                </c:pt>
                <c:pt idx="230">
                  <c:v>24504</c:v>
                </c:pt>
                <c:pt idx="231">
                  <c:v>24532</c:v>
                </c:pt>
                <c:pt idx="232">
                  <c:v>24563</c:v>
                </c:pt>
                <c:pt idx="233">
                  <c:v>24593</c:v>
                </c:pt>
                <c:pt idx="234">
                  <c:v>24624</c:v>
                </c:pt>
                <c:pt idx="235">
                  <c:v>24654</c:v>
                </c:pt>
                <c:pt idx="236">
                  <c:v>24685</c:v>
                </c:pt>
                <c:pt idx="237">
                  <c:v>24716</c:v>
                </c:pt>
                <c:pt idx="238">
                  <c:v>24746</c:v>
                </c:pt>
                <c:pt idx="239">
                  <c:v>24777</c:v>
                </c:pt>
                <c:pt idx="240">
                  <c:v>24807</c:v>
                </c:pt>
                <c:pt idx="241">
                  <c:v>24838</c:v>
                </c:pt>
                <c:pt idx="242">
                  <c:v>24869</c:v>
                </c:pt>
                <c:pt idx="243">
                  <c:v>24898</c:v>
                </c:pt>
                <c:pt idx="244">
                  <c:v>24929</c:v>
                </c:pt>
                <c:pt idx="245">
                  <c:v>24959</c:v>
                </c:pt>
                <c:pt idx="246">
                  <c:v>24990</c:v>
                </c:pt>
                <c:pt idx="247">
                  <c:v>25020</c:v>
                </c:pt>
                <c:pt idx="248">
                  <c:v>25051</c:v>
                </c:pt>
                <c:pt idx="249">
                  <c:v>25082</c:v>
                </c:pt>
                <c:pt idx="250">
                  <c:v>25112</c:v>
                </c:pt>
                <c:pt idx="251">
                  <c:v>25143</c:v>
                </c:pt>
                <c:pt idx="252">
                  <c:v>25173</c:v>
                </c:pt>
                <c:pt idx="253">
                  <c:v>25204</c:v>
                </c:pt>
                <c:pt idx="254">
                  <c:v>25235</c:v>
                </c:pt>
                <c:pt idx="255">
                  <c:v>25263</c:v>
                </c:pt>
                <c:pt idx="256">
                  <c:v>25294</c:v>
                </c:pt>
                <c:pt idx="257">
                  <c:v>25324</c:v>
                </c:pt>
                <c:pt idx="258">
                  <c:v>25355</c:v>
                </c:pt>
                <c:pt idx="259">
                  <c:v>25385</c:v>
                </c:pt>
                <c:pt idx="260">
                  <c:v>25416</c:v>
                </c:pt>
                <c:pt idx="261">
                  <c:v>25447</c:v>
                </c:pt>
                <c:pt idx="262">
                  <c:v>25477</c:v>
                </c:pt>
                <c:pt idx="263">
                  <c:v>25508</c:v>
                </c:pt>
                <c:pt idx="264">
                  <c:v>25538</c:v>
                </c:pt>
                <c:pt idx="265">
                  <c:v>25569</c:v>
                </c:pt>
                <c:pt idx="266">
                  <c:v>25600</c:v>
                </c:pt>
                <c:pt idx="267">
                  <c:v>25628</c:v>
                </c:pt>
                <c:pt idx="268">
                  <c:v>25659</c:v>
                </c:pt>
                <c:pt idx="269">
                  <c:v>25689</c:v>
                </c:pt>
                <c:pt idx="270">
                  <c:v>25720</c:v>
                </c:pt>
                <c:pt idx="271">
                  <c:v>25750</c:v>
                </c:pt>
                <c:pt idx="272">
                  <c:v>25781</c:v>
                </c:pt>
                <c:pt idx="273">
                  <c:v>25812</c:v>
                </c:pt>
                <c:pt idx="274">
                  <c:v>25842</c:v>
                </c:pt>
                <c:pt idx="275">
                  <c:v>25873</c:v>
                </c:pt>
                <c:pt idx="276">
                  <c:v>25903</c:v>
                </c:pt>
                <c:pt idx="277">
                  <c:v>25934</c:v>
                </c:pt>
                <c:pt idx="278">
                  <c:v>25965</c:v>
                </c:pt>
                <c:pt idx="279">
                  <c:v>25993</c:v>
                </c:pt>
                <c:pt idx="280">
                  <c:v>26024</c:v>
                </c:pt>
                <c:pt idx="281">
                  <c:v>26054</c:v>
                </c:pt>
                <c:pt idx="282">
                  <c:v>26085</c:v>
                </c:pt>
                <c:pt idx="283">
                  <c:v>26115</c:v>
                </c:pt>
                <c:pt idx="284">
                  <c:v>26146</c:v>
                </c:pt>
                <c:pt idx="285">
                  <c:v>26177</c:v>
                </c:pt>
                <c:pt idx="286">
                  <c:v>26207</c:v>
                </c:pt>
                <c:pt idx="287">
                  <c:v>26238</c:v>
                </c:pt>
                <c:pt idx="288">
                  <c:v>26268</c:v>
                </c:pt>
                <c:pt idx="289">
                  <c:v>26299</c:v>
                </c:pt>
                <c:pt idx="290">
                  <c:v>26330</c:v>
                </c:pt>
                <c:pt idx="291">
                  <c:v>26359</c:v>
                </c:pt>
                <c:pt idx="292">
                  <c:v>26390</c:v>
                </c:pt>
                <c:pt idx="293">
                  <c:v>26420</c:v>
                </c:pt>
                <c:pt idx="294">
                  <c:v>26451</c:v>
                </c:pt>
                <c:pt idx="295">
                  <c:v>26481</c:v>
                </c:pt>
                <c:pt idx="296">
                  <c:v>26512</c:v>
                </c:pt>
                <c:pt idx="297">
                  <c:v>26543</c:v>
                </c:pt>
                <c:pt idx="298">
                  <c:v>26573</c:v>
                </c:pt>
                <c:pt idx="299">
                  <c:v>26604</c:v>
                </c:pt>
                <c:pt idx="300">
                  <c:v>26634</c:v>
                </c:pt>
                <c:pt idx="301">
                  <c:v>26665</c:v>
                </c:pt>
                <c:pt idx="302">
                  <c:v>26696</c:v>
                </c:pt>
                <c:pt idx="303">
                  <c:v>26724</c:v>
                </c:pt>
                <c:pt idx="304">
                  <c:v>26755</c:v>
                </c:pt>
                <c:pt idx="305">
                  <c:v>26785</c:v>
                </c:pt>
                <c:pt idx="306">
                  <c:v>26816</c:v>
                </c:pt>
                <c:pt idx="307">
                  <c:v>26846</c:v>
                </c:pt>
                <c:pt idx="308">
                  <c:v>26877</c:v>
                </c:pt>
                <c:pt idx="309">
                  <c:v>26908</c:v>
                </c:pt>
                <c:pt idx="310">
                  <c:v>26938</c:v>
                </c:pt>
                <c:pt idx="311">
                  <c:v>26969</c:v>
                </c:pt>
                <c:pt idx="312">
                  <c:v>26999</c:v>
                </c:pt>
                <c:pt idx="313">
                  <c:v>27030</c:v>
                </c:pt>
                <c:pt idx="314">
                  <c:v>27061</c:v>
                </c:pt>
                <c:pt idx="315">
                  <c:v>27089</c:v>
                </c:pt>
                <c:pt idx="316">
                  <c:v>27120</c:v>
                </c:pt>
                <c:pt idx="317">
                  <c:v>27150</c:v>
                </c:pt>
                <c:pt idx="318">
                  <c:v>27181</c:v>
                </c:pt>
                <c:pt idx="319">
                  <c:v>27211</c:v>
                </c:pt>
                <c:pt idx="320">
                  <c:v>27242</c:v>
                </c:pt>
                <c:pt idx="321">
                  <c:v>27273</c:v>
                </c:pt>
                <c:pt idx="322">
                  <c:v>27303</c:v>
                </c:pt>
                <c:pt idx="323">
                  <c:v>27334</c:v>
                </c:pt>
                <c:pt idx="324">
                  <c:v>27364</c:v>
                </c:pt>
                <c:pt idx="325">
                  <c:v>27395</c:v>
                </c:pt>
                <c:pt idx="326">
                  <c:v>27426</c:v>
                </c:pt>
                <c:pt idx="327">
                  <c:v>27454</c:v>
                </c:pt>
                <c:pt idx="328">
                  <c:v>27485</c:v>
                </c:pt>
                <c:pt idx="329">
                  <c:v>27515</c:v>
                </c:pt>
                <c:pt idx="330">
                  <c:v>27546</c:v>
                </c:pt>
                <c:pt idx="331">
                  <c:v>27576</c:v>
                </c:pt>
                <c:pt idx="332">
                  <c:v>27607</c:v>
                </c:pt>
                <c:pt idx="333">
                  <c:v>27638</c:v>
                </c:pt>
                <c:pt idx="334">
                  <c:v>27668</c:v>
                </c:pt>
                <c:pt idx="335">
                  <c:v>27699</c:v>
                </c:pt>
                <c:pt idx="336">
                  <c:v>27729</c:v>
                </c:pt>
                <c:pt idx="337">
                  <c:v>27760</c:v>
                </c:pt>
                <c:pt idx="338">
                  <c:v>27791</c:v>
                </c:pt>
                <c:pt idx="339">
                  <c:v>27820</c:v>
                </c:pt>
                <c:pt idx="340">
                  <c:v>27851</c:v>
                </c:pt>
                <c:pt idx="341">
                  <c:v>27881</c:v>
                </c:pt>
                <c:pt idx="342">
                  <c:v>27912</c:v>
                </c:pt>
                <c:pt idx="343">
                  <c:v>27942</c:v>
                </c:pt>
                <c:pt idx="344">
                  <c:v>27973</c:v>
                </c:pt>
                <c:pt idx="345">
                  <c:v>28004</c:v>
                </c:pt>
                <c:pt idx="346">
                  <c:v>28034</c:v>
                </c:pt>
                <c:pt idx="347">
                  <c:v>28065</c:v>
                </c:pt>
                <c:pt idx="348">
                  <c:v>28095</c:v>
                </c:pt>
                <c:pt idx="349">
                  <c:v>28126</c:v>
                </c:pt>
                <c:pt idx="350">
                  <c:v>28157</c:v>
                </c:pt>
                <c:pt idx="351">
                  <c:v>28185</c:v>
                </c:pt>
                <c:pt idx="352">
                  <c:v>28216</c:v>
                </c:pt>
                <c:pt idx="353">
                  <c:v>28246</c:v>
                </c:pt>
                <c:pt idx="354">
                  <c:v>28277</c:v>
                </c:pt>
                <c:pt idx="355">
                  <c:v>28307</c:v>
                </c:pt>
                <c:pt idx="356">
                  <c:v>28338</c:v>
                </c:pt>
                <c:pt idx="357">
                  <c:v>28369</c:v>
                </c:pt>
                <c:pt idx="358">
                  <c:v>28399</c:v>
                </c:pt>
                <c:pt idx="359">
                  <c:v>28430</c:v>
                </c:pt>
                <c:pt idx="360">
                  <c:v>28460</c:v>
                </c:pt>
                <c:pt idx="361">
                  <c:v>28491</c:v>
                </c:pt>
                <c:pt idx="362">
                  <c:v>28522</c:v>
                </c:pt>
                <c:pt idx="363">
                  <c:v>28550</c:v>
                </c:pt>
                <c:pt idx="364">
                  <c:v>28581</c:v>
                </c:pt>
                <c:pt idx="365">
                  <c:v>28611</c:v>
                </c:pt>
                <c:pt idx="366">
                  <c:v>28642</c:v>
                </c:pt>
                <c:pt idx="367">
                  <c:v>28672</c:v>
                </c:pt>
                <c:pt idx="368">
                  <c:v>28703</c:v>
                </c:pt>
                <c:pt idx="369">
                  <c:v>28734</c:v>
                </c:pt>
                <c:pt idx="370">
                  <c:v>28764</c:v>
                </c:pt>
                <c:pt idx="371">
                  <c:v>28795</c:v>
                </c:pt>
                <c:pt idx="372">
                  <c:v>28825</c:v>
                </c:pt>
                <c:pt idx="373">
                  <c:v>28856</c:v>
                </c:pt>
                <c:pt idx="374">
                  <c:v>28887</c:v>
                </c:pt>
                <c:pt idx="375">
                  <c:v>28915</c:v>
                </c:pt>
                <c:pt idx="376">
                  <c:v>28946</c:v>
                </c:pt>
                <c:pt idx="377">
                  <c:v>28976</c:v>
                </c:pt>
                <c:pt idx="378">
                  <c:v>29007</c:v>
                </c:pt>
                <c:pt idx="379">
                  <c:v>29037</c:v>
                </c:pt>
                <c:pt idx="380">
                  <c:v>29068</c:v>
                </c:pt>
                <c:pt idx="381">
                  <c:v>29099</c:v>
                </c:pt>
                <c:pt idx="382">
                  <c:v>29129</c:v>
                </c:pt>
                <c:pt idx="383">
                  <c:v>29160</c:v>
                </c:pt>
                <c:pt idx="384">
                  <c:v>29190</c:v>
                </c:pt>
                <c:pt idx="385">
                  <c:v>29221</c:v>
                </c:pt>
                <c:pt idx="386">
                  <c:v>29252</c:v>
                </c:pt>
                <c:pt idx="387">
                  <c:v>29281</c:v>
                </c:pt>
                <c:pt idx="388">
                  <c:v>29312</c:v>
                </c:pt>
                <c:pt idx="389">
                  <c:v>29342</c:v>
                </c:pt>
                <c:pt idx="390">
                  <c:v>29373</c:v>
                </c:pt>
                <c:pt idx="391">
                  <c:v>29403</c:v>
                </c:pt>
                <c:pt idx="392">
                  <c:v>29434</c:v>
                </c:pt>
                <c:pt idx="393">
                  <c:v>29465</c:v>
                </c:pt>
                <c:pt idx="394">
                  <c:v>29495</c:v>
                </c:pt>
                <c:pt idx="395">
                  <c:v>29526</c:v>
                </c:pt>
                <c:pt idx="396">
                  <c:v>29556</c:v>
                </c:pt>
                <c:pt idx="397">
                  <c:v>29587</c:v>
                </c:pt>
                <c:pt idx="398">
                  <c:v>29618</c:v>
                </c:pt>
                <c:pt idx="399">
                  <c:v>29646</c:v>
                </c:pt>
                <c:pt idx="400">
                  <c:v>29677</c:v>
                </c:pt>
                <c:pt idx="401">
                  <c:v>29707</c:v>
                </c:pt>
                <c:pt idx="402">
                  <c:v>29738</c:v>
                </c:pt>
                <c:pt idx="403">
                  <c:v>29768</c:v>
                </c:pt>
                <c:pt idx="404">
                  <c:v>29799</c:v>
                </c:pt>
                <c:pt idx="405">
                  <c:v>29830</c:v>
                </c:pt>
                <c:pt idx="406">
                  <c:v>29860</c:v>
                </c:pt>
                <c:pt idx="407">
                  <c:v>29891</c:v>
                </c:pt>
                <c:pt idx="408">
                  <c:v>29921</c:v>
                </c:pt>
                <c:pt idx="409">
                  <c:v>29952</c:v>
                </c:pt>
                <c:pt idx="410">
                  <c:v>29983</c:v>
                </c:pt>
                <c:pt idx="411">
                  <c:v>30011</c:v>
                </c:pt>
                <c:pt idx="412">
                  <c:v>30042</c:v>
                </c:pt>
                <c:pt idx="413">
                  <c:v>30072</c:v>
                </c:pt>
                <c:pt idx="414">
                  <c:v>30103</c:v>
                </c:pt>
                <c:pt idx="415">
                  <c:v>30133</c:v>
                </c:pt>
                <c:pt idx="416">
                  <c:v>30164</c:v>
                </c:pt>
                <c:pt idx="417">
                  <c:v>30195</c:v>
                </c:pt>
                <c:pt idx="418">
                  <c:v>30225</c:v>
                </c:pt>
                <c:pt idx="419">
                  <c:v>30256</c:v>
                </c:pt>
                <c:pt idx="420">
                  <c:v>30286</c:v>
                </c:pt>
                <c:pt idx="421">
                  <c:v>30317</c:v>
                </c:pt>
                <c:pt idx="422">
                  <c:v>30348</c:v>
                </c:pt>
                <c:pt idx="423">
                  <c:v>30376</c:v>
                </c:pt>
                <c:pt idx="424">
                  <c:v>30407</c:v>
                </c:pt>
                <c:pt idx="425">
                  <c:v>30437</c:v>
                </c:pt>
                <c:pt idx="426">
                  <c:v>30468</c:v>
                </c:pt>
                <c:pt idx="427">
                  <c:v>30498</c:v>
                </c:pt>
                <c:pt idx="428">
                  <c:v>30529</c:v>
                </c:pt>
                <c:pt idx="429">
                  <c:v>30560</c:v>
                </c:pt>
                <c:pt idx="430">
                  <c:v>30590</c:v>
                </c:pt>
                <c:pt idx="431">
                  <c:v>30621</c:v>
                </c:pt>
                <c:pt idx="432">
                  <c:v>30651</c:v>
                </c:pt>
                <c:pt idx="433">
                  <c:v>30682</c:v>
                </c:pt>
                <c:pt idx="434">
                  <c:v>30713</c:v>
                </c:pt>
                <c:pt idx="435">
                  <c:v>30742</c:v>
                </c:pt>
                <c:pt idx="436">
                  <c:v>30773</c:v>
                </c:pt>
                <c:pt idx="437">
                  <c:v>30803</c:v>
                </c:pt>
                <c:pt idx="438">
                  <c:v>30834</c:v>
                </c:pt>
                <c:pt idx="439">
                  <c:v>30864</c:v>
                </c:pt>
                <c:pt idx="440">
                  <c:v>30895</c:v>
                </c:pt>
                <c:pt idx="441">
                  <c:v>30926</c:v>
                </c:pt>
                <c:pt idx="442">
                  <c:v>30956</c:v>
                </c:pt>
                <c:pt idx="443">
                  <c:v>30987</c:v>
                </c:pt>
                <c:pt idx="444">
                  <c:v>31017</c:v>
                </c:pt>
                <c:pt idx="445">
                  <c:v>31048</c:v>
                </c:pt>
                <c:pt idx="446">
                  <c:v>31079</c:v>
                </c:pt>
                <c:pt idx="447">
                  <c:v>31107</c:v>
                </c:pt>
                <c:pt idx="448">
                  <c:v>31138</c:v>
                </c:pt>
                <c:pt idx="449">
                  <c:v>31168</c:v>
                </c:pt>
                <c:pt idx="450">
                  <c:v>31199</c:v>
                </c:pt>
                <c:pt idx="451">
                  <c:v>31229</c:v>
                </c:pt>
                <c:pt idx="452">
                  <c:v>31260</c:v>
                </c:pt>
                <c:pt idx="453">
                  <c:v>31291</c:v>
                </c:pt>
                <c:pt idx="454">
                  <c:v>31321</c:v>
                </c:pt>
                <c:pt idx="455">
                  <c:v>31352</c:v>
                </c:pt>
                <c:pt idx="456">
                  <c:v>31382</c:v>
                </c:pt>
                <c:pt idx="457">
                  <c:v>31413</c:v>
                </c:pt>
                <c:pt idx="458">
                  <c:v>31444</c:v>
                </c:pt>
                <c:pt idx="459">
                  <c:v>31472</c:v>
                </c:pt>
                <c:pt idx="460">
                  <c:v>31503</c:v>
                </c:pt>
                <c:pt idx="461">
                  <c:v>31533</c:v>
                </c:pt>
                <c:pt idx="462">
                  <c:v>31564</c:v>
                </c:pt>
                <c:pt idx="463">
                  <c:v>31594</c:v>
                </c:pt>
                <c:pt idx="464">
                  <c:v>31625</c:v>
                </c:pt>
                <c:pt idx="465">
                  <c:v>31656</c:v>
                </c:pt>
                <c:pt idx="466">
                  <c:v>31686</c:v>
                </c:pt>
                <c:pt idx="467">
                  <c:v>31717</c:v>
                </c:pt>
                <c:pt idx="468">
                  <c:v>31747</c:v>
                </c:pt>
                <c:pt idx="469">
                  <c:v>31778</c:v>
                </c:pt>
                <c:pt idx="470">
                  <c:v>31809</c:v>
                </c:pt>
                <c:pt idx="471">
                  <c:v>31837</c:v>
                </c:pt>
                <c:pt idx="472">
                  <c:v>31868</c:v>
                </c:pt>
                <c:pt idx="473">
                  <c:v>31898</c:v>
                </c:pt>
                <c:pt idx="474">
                  <c:v>31929</c:v>
                </c:pt>
                <c:pt idx="475">
                  <c:v>31959</c:v>
                </c:pt>
                <c:pt idx="476">
                  <c:v>31990</c:v>
                </c:pt>
                <c:pt idx="477">
                  <c:v>32021</c:v>
                </c:pt>
                <c:pt idx="478">
                  <c:v>32051</c:v>
                </c:pt>
                <c:pt idx="479">
                  <c:v>32082</c:v>
                </c:pt>
                <c:pt idx="480">
                  <c:v>32112</c:v>
                </c:pt>
                <c:pt idx="481">
                  <c:v>32143</c:v>
                </c:pt>
                <c:pt idx="482">
                  <c:v>32174</c:v>
                </c:pt>
                <c:pt idx="483">
                  <c:v>32203</c:v>
                </c:pt>
                <c:pt idx="484">
                  <c:v>32234</c:v>
                </c:pt>
                <c:pt idx="485">
                  <c:v>32264</c:v>
                </c:pt>
                <c:pt idx="486">
                  <c:v>32295</c:v>
                </c:pt>
                <c:pt idx="487">
                  <c:v>32325</c:v>
                </c:pt>
                <c:pt idx="488">
                  <c:v>32356</c:v>
                </c:pt>
                <c:pt idx="489">
                  <c:v>32387</c:v>
                </c:pt>
                <c:pt idx="490">
                  <c:v>32417</c:v>
                </c:pt>
                <c:pt idx="491">
                  <c:v>32448</c:v>
                </c:pt>
                <c:pt idx="492">
                  <c:v>32478</c:v>
                </c:pt>
                <c:pt idx="493">
                  <c:v>32509</c:v>
                </c:pt>
                <c:pt idx="494">
                  <c:v>32540</c:v>
                </c:pt>
                <c:pt idx="495">
                  <c:v>32568</c:v>
                </c:pt>
                <c:pt idx="496">
                  <c:v>32599</c:v>
                </c:pt>
                <c:pt idx="497">
                  <c:v>32629</c:v>
                </c:pt>
                <c:pt idx="498">
                  <c:v>32660</c:v>
                </c:pt>
                <c:pt idx="499">
                  <c:v>32690</c:v>
                </c:pt>
                <c:pt idx="500">
                  <c:v>32721</c:v>
                </c:pt>
                <c:pt idx="501">
                  <c:v>32752</c:v>
                </c:pt>
                <c:pt idx="502">
                  <c:v>32782</c:v>
                </c:pt>
                <c:pt idx="503">
                  <c:v>32813</c:v>
                </c:pt>
                <c:pt idx="504">
                  <c:v>32843</c:v>
                </c:pt>
                <c:pt idx="505">
                  <c:v>32874</c:v>
                </c:pt>
                <c:pt idx="506">
                  <c:v>32905</c:v>
                </c:pt>
                <c:pt idx="507">
                  <c:v>32933</c:v>
                </c:pt>
                <c:pt idx="508">
                  <c:v>32964</c:v>
                </c:pt>
                <c:pt idx="509">
                  <c:v>32994</c:v>
                </c:pt>
                <c:pt idx="510">
                  <c:v>33025</c:v>
                </c:pt>
                <c:pt idx="511">
                  <c:v>33055</c:v>
                </c:pt>
                <c:pt idx="512">
                  <c:v>33086</c:v>
                </c:pt>
                <c:pt idx="513">
                  <c:v>33117</c:v>
                </c:pt>
                <c:pt idx="514">
                  <c:v>33147</c:v>
                </c:pt>
                <c:pt idx="515">
                  <c:v>33178</c:v>
                </c:pt>
                <c:pt idx="516">
                  <c:v>33208</c:v>
                </c:pt>
                <c:pt idx="517">
                  <c:v>33239</c:v>
                </c:pt>
                <c:pt idx="518">
                  <c:v>33270</c:v>
                </c:pt>
                <c:pt idx="519">
                  <c:v>33298</c:v>
                </c:pt>
                <c:pt idx="520">
                  <c:v>33329</c:v>
                </c:pt>
                <c:pt idx="521">
                  <c:v>33359</c:v>
                </c:pt>
                <c:pt idx="522">
                  <c:v>33390</c:v>
                </c:pt>
                <c:pt idx="523">
                  <c:v>33420</c:v>
                </c:pt>
                <c:pt idx="524">
                  <c:v>33451</c:v>
                </c:pt>
                <c:pt idx="525">
                  <c:v>33482</c:v>
                </c:pt>
                <c:pt idx="526">
                  <c:v>33512</c:v>
                </c:pt>
                <c:pt idx="527">
                  <c:v>33543</c:v>
                </c:pt>
                <c:pt idx="528">
                  <c:v>33573</c:v>
                </c:pt>
                <c:pt idx="529">
                  <c:v>33604</c:v>
                </c:pt>
                <c:pt idx="530">
                  <c:v>33635</c:v>
                </c:pt>
                <c:pt idx="531">
                  <c:v>33664</c:v>
                </c:pt>
                <c:pt idx="532">
                  <c:v>33695</c:v>
                </c:pt>
                <c:pt idx="533">
                  <c:v>33725</c:v>
                </c:pt>
                <c:pt idx="534">
                  <c:v>33756</c:v>
                </c:pt>
                <c:pt idx="535">
                  <c:v>33786</c:v>
                </c:pt>
                <c:pt idx="536">
                  <c:v>33817</c:v>
                </c:pt>
                <c:pt idx="537">
                  <c:v>33848</c:v>
                </c:pt>
                <c:pt idx="538">
                  <c:v>33878</c:v>
                </c:pt>
                <c:pt idx="539">
                  <c:v>33909</c:v>
                </c:pt>
                <c:pt idx="540">
                  <c:v>33939</c:v>
                </c:pt>
                <c:pt idx="541">
                  <c:v>33970</c:v>
                </c:pt>
                <c:pt idx="542">
                  <c:v>34001</c:v>
                </c:pt>
                <c:pt idx="543">
                  <c:v>34029</c:v>
                </c:pt>
                <c:pt idx="544">
                  <c:v>34060</c:v>
                </c:pt>
                <c:pt idx="545">
                  <c:v>34090</c:v>
                </c:pt>
                <c:pt idx="546">
                  <c:v>34121</c:v>
                </c:pt>
                <c:pt idx="547">
                  <c:v>34151</c:v>
                </c:pt>
                <c:pt idx="548">
                  <c:v>34182</c:v>
                </c:pt>
                <c:pt idx="549">
                  <c:v>34213</c:v>
                </c:pt>
                <c:pt idx="550">
                  <c:v>34243</c:v>
                </c:pt>
                <c:pt idx="551">
                  <c:v>34274</c:v>
                </c:pt>
                <c:pt idx="552">
                  <c:v>34304</c:v>
                </c:pt>
                <c:pt idx="553">
                  <c:v>34335</c:v>
                </c:pt>
                <c:pt idx="554">
                  <c:v>34366</c:v>
                </c:pt>
                <c:pt idx="555">
                  <c:v>34394</c:v>
                </c:pt>
                <c:pt idx="556">
                  <c:v>34425</c:v>
                </c:pt>
                <c:pt idx="557">
                  <c:v>34455</c:v>
                </c:pt>
                <c:pt idx="558">
                  <c:v>34486</c:v>
                </c:pt>
                <c:pt idx="559">
                  <c:v>34516</c:v>
                </c:pt>
                <c:pt idx="560">
                  <c:v>34547</c:v>
                </c:pt>
                <c:pt idx="561">
                  <c:v>34578</c:v>
                </c:pt>
                <c:pt idx="562">
                  <c:v>34608</c:v>
                </c:pt>
                <c:pt idx="563">
                  <c:v>34639</c:v>
                </c:pt>
                <c:pt idx="564">
                  <c:v>34669</c:v>
                </c:pt>
                <c:pt idx="565">
                  <c:v>34700</c:v>
                </c:pt>
                <c:pt idx="566">
                  <c:v>34731</c:v>
                </c:pt>
                <c:pt idx="567">
                  <c:v>34759</c:v>
                </c:pt>
                <c:pt idx="568">
                  <c:v>34790</c:v>
                </c:pt>
                <c:pt idx="569">
                  <c:v>34820</c:v>
                </c:pt>
                <c:pt idx="570">
                  <c:v>34851</c:v>
                </c:pt>
                <c:pt idx="571">
                  <c:v>34881</c:v>
                </c:pt>
                <c:pt idx="572">
                  <c:v>34912</c:v>
                </c:pt>
                <c:pt idx="573">
                  <c:v>34943</c:v>
                </c:pt>
                <c:pt idx="574">
                  <c:v>34973</c:v>
                </c:pt>
                <c:pt idx="575">
                  <c:v>35004</c:v>
                </c:pt>
                <c:pt idx="576">
                  <c:v>35034</c:v>
                </c:pt>
                <c:pt idx="577">
                  <c:v>35065</c:v>
                </c:pt>
                <c:pt idx="578">
                  <c:v>35096</c:v>
                </c:pt>
                <c:pt idx="579">
                  <c:v>35125</c:v>
                </c:pt>
                <c:pt idx="580">
                  <c:v>35156</c:v>
                </c:pt>
                <c:pt idx="581">
                  <c:v>35186</c:v>
                </c:pt>
                <c:pt idx="582">
                  <c:v>35217</c:v>
                </c:pt>
                <c:pt idx="583">
                  <c:v>35247</c:v>
                </c:pt>
                <c:pt idx="584">
                  <c:v>35278</c:v>
                </c:pt>
                <c:pt idx="585">
                  <c:v>35309</c:v>
                </c:pt>
                <c:pt idx="586">
                  <c:v>35339</c:v>
                </c:pt>
                <c:pt idx="587">
                  <c:v>35370</c:v>
                </c:pt>
                <c:pt idx="588">
                  <c:v>35400</c:v>
                </c:pt>
                <c:pt idx="589">
                  <c:v>35431</c:v>
                </c:pt>
                <c:pt idx="590">
                  <c:v>35462</c:v>
                </c:pt>
                <c:pt idx="591">
                  <c:v>35490</c:v>
                </c:pt>
                <c:pt idx="592">
                  <c:v>35521</c:v>
                </c:pt>
                <c:pt idx="593">
                  <c:v>35551</c:v>
                </c:pt>
                <c:pt idx="594">
                  <c:v>35582</c:v>
                </c:pt>
                <c:pt idx="595">
                  <c:v>35612</c:v>
                </c:pt>
                <c:pt idx="596">
                  <c:v>35643</c:v>
                </c:pt>
                <c:pt idx="597">
                  <c:v>35674</c:v>
                </c:pt>
                <c:pt idx="598">
                  <c:v>35704</c:v>
                </c:pt>
                <c:pt idx="599">
                  <c:v>35735</c:v>
                </c:pt>
                <c:pt idx="600">
                  <c:v>35765</c:v>
                </c:pt>
                <c:pt idx="601">
                  <c:v>35796</c:v>
                </c:pt>
                <c:pt idx="602">
                  <c:v>35827</c:v>
                </c:pt>
                <c:pt idx="603">
                  <c:v>35855</c:v>
                </c:pt>
                <c:pt idx="604">
                  <c:v>35886</c:v>
                </c:pt>
                <c:pt idx="605">
                  <c:v>35916</c:v>
                </c:pt>
                <c:pt idx="606">
                  <c:v>35947</c:v>
                </c:pt>
                <c:pt idx="607">
                  <c:v>35977</c:v>
                </c:pt>
                <c:pt idx="608">
                  <c:v>36008</c:v>
                </c:pt>
                <c:pt idx="609">
                  <c:v>36039</c:v>
                </c:pt>
                <c:pt idx="610">
                  <c:v>36069</c:v>
                </c:pt>
                <c:pt idx="611">
                  <c:v>36100</c:v>
                </c:pt>
                <c:pt idx="612">
                  <c:v>36130</c:v>
                </c:pt>
                <c:pt idx="613">
                  <c:v>36161</c:v>
                </c:pt>
                <c:pt idx="614">
                  <c:v>36192</c:v>
                </c:pt>
                <c:pt idx="615">
                  <c:v>36220</c:v>
                </c:pt>
                <c:pt idx="616">
                  <c:v>36251</c:v>
                </c:pt>
                <c:pt idx="617">
                  <c:v>36281</c:v>
                </c:pt>
                <c:pt idx="618">
                  <c:v>36312</c:v>
                </c:pt>
                <c:pt idx="619">
                  <c:v>36342</c:v>
                </c:pt>
                <c:pt idx="620">
                  <c:v>36373</c:v>
                </c:pt>
                <c:pt idx="621">
                  <c:v>36404</c:v>
                </c:pt>
                <c:pt idx="622">
                  <c:v>36434</c:v>
                </c:pt>
                <c:pt idx="623">
                  <c:v>36465</c:v>
                </c:pt>
                <c:pt idx="624">
                  <c:v>36495</c:v>
                </c:pt>
                <c:pt idx="625">
                  <c:v>36526</c:v>
                </c:pt>
                <c:pt idx="626">
                  <c:v>36557</c:v>
                </c:pt>
                <c:pt idx="627">
                  <c:v>36586</c:v>
                </c:pt>
                <c:pt idx="628">
                  <c:v>36617</c:v>
                </c:pt>
                <c:pt idx="629">
                  <c:v>36647</c:v>
                </c:pt>
                <c:pt idx="630">
                  <c:v>36678</c:v>
                </c:pt>
                <c:pt idx="631">
                  <c:v>36708</c:v>
                </c:pt>
                <c:pt idx="632">
                  <c:v>36739</c:v>
                </c:pt>
                <c:pt idx="633">
                  <c:v>36770</c:v>
                </c:pt>
                <c:pt idx="634">
                  <c:v>36800</c:v>
                </c:pt>
                <c:pt idx="635">
                  <c:v>36831</c:v>
                </c:pt>
                <c:pt idx="636">
                  <c:v>36861</c:v>
                </c:pt>
                <c:pt idx="637">
                  <c:v>36892</c:v>
                </c:pt>
                <c:pt idx="638">
                  <c:v>36923</c:v>
                </c:pt>
                <c:pt idx="639">
                  <c:v>36951</c:v>
                </c:pt>
                <c:pt idx="640">
                  <c:v>36982</c:v>
                </c:pt>
                <c:pt idx="641">
                  <c:v>37012</c:v>
                </c:pt>
                <c:pt idx="642">
                  <c:v>37043</c:v>
                </c:pt>
                <c:pt idx="643">
                  <c:v>37073</c:v>
                </c:pt>
                <c:pt idx="644">
                  <c:v>37104</c:v>
                </c:pt>
                <c:pt idx="645">
                  <c:v>37135</c:v>
                </c:pt>
                <c:pt idx="646">
                  <c:v>37165</c:v>
                </c:pt>
                <c:pt idx="647">
                  <c:v>37196</c:v>
                </c:pt>
                <c:pt idx="648">
                  <c:v>37226</c:v>
                </c:pt>
                <c:pt idx="649">
                  <c:v>37257</c:v>
                </c:pt>
                <c:pt idx="650">
                  <c:v>37288</c:v>
                </c:pt>
                <c:pt idx="651">
                  <c:v>37316</c:v>
                </c:pt>
                <c:pt idx="652">
                  <c:v>37347</c:v>
                </c:pt>
                <c:pt idx="653">
                  <c:v>37377</c:v>
                </c:pt>
                <c:pt idx="654">
                  <c:v>37408</c:v>
                </c:pt>
                <c:pt idx="655">
                  <c:v>37438</c:v>
                </c:pt>
                <c:pt idx="656">
                  <c:v>37469</c:v>
                </c:pt>
                <c:pt idx="657">
                  <c:v>37500</c:v>
                </c:pt>
                <c:pt idx="658">
                  <c:v>37530</c:v>
                </c:pt>
                <c:pt idx="659">
                  <c:v>37561</c:v>
                </c:pt>
                <c:pt idx="660">
                  <c:v>37591</c:v>
                </c:pt>
                <c:pt idx="661">
                  <c:v>37622</c:v>
                </c:pt>
                <c:pt idx="662">
                  <c:v>37653</c:v>
                </c:pt>
                <c:pt idx="663">
                  <c:v>37681</c:v>
                </c:pt>
                <c:pt idx="664">
                  <c:v>37712</c:v>
                </c:pt>
                <c:pt idx="665">
                  <c:v>37742</c:v>
                </c:pt>
                <c:pt idx="666">
                  <c:v>37773</c:v>
                </c:pt>
                <c:pt idx="667">
                  <c:v>37803</c:v>
                </c:pt>
                <c:pt idx="668">
                  <c:v>37834</c:v>
                </c:pt>
                <c:pt idx="669">
                  <c:v>37865</c:v>
                </c:pt>
                <c:pt idx="670">
                  <c:v>37895</c:v>
                </c:pt>
                <c:pt idx="671">
                  <c:v>37926</c:v>
                </c:pt>
                <c:pt idx="672">
                  <c:v>37956</c:v>
                </c:pt>
                <c:pt idx="673">
                  <c:v>37987</c:v>
                </c:pt>
                <c:pt idx="674">
                  <c:v>38018</c:v>
                </c:pt>
                <c:pt idx="675">
                  <c:v>38047</c:v>
                </c:pt>
                <c:pt idx="676">
                  <c:v>38078</c:v>
                </c:pt>
                <c:pt idx="677">
                  <c:v>38108</c:v>
                </c:pt>
                <c:pt idx="678">
                  <c:v>38139</c:v>
                </c:pt>
                <c:pt idx="679">
                  <c:v>38169</c:v>
                </c:pt>
                <c:pt idx="680">
                  <c:v>38200</c:v>
                </c:pt>
                <c:pt idx="681">
                  <c:v>38231</c:v>
                </c:pt>
                <c:pt idx="682">
                  <c:v>38261</c:v>
                </c:pt>
                <c:pt idx="683">
                  <c:v>38292</c:v>
                </c:pt>
                <c:pt idx="684">
                  <c:v>38322</c:v>
                </c:pt>
                <c:pt idx="685">
                  <c:v>38353</c:v>
                </c:pt>
                <c:pt idx="686">
                  <c:v>38384</c:v>
                </c:pt>
                <c:pt idx="687">
                  <c:v>38412</c:v>
                </c:pt>
                <c:pt idx="688">
                  <c:v>38443</c:v>
                </c:pt>
                <c:pt idx="689">
                  <c:v>38473</c:v>
                </c:pt>
                <c:pt idx="690">
                  <c:v>38504</c:v>
                </c:pt>
                <c:pt idx="691">
                  <c:v>38534</c:v>
                </c:pt>
                <c:pt idx="692">
                  <c:v>38565</c:v>
                </c:pt>
                <c:pt idx="693">
                  <c:v>38596</c:v>
                </c:pt>
                <c:pt idx="694">
                  <c:v>38626</c:v>
                </c:pt>
                <c:pt idx="695">
                  <c:v>38657</c:v>
                </c:pt>
                <c:pt idx="696">
                  <c:v>38687</c:v>
                </c:pt>
                <c:pt idx="697">
                  <c:v>38718</c:v>
                </c:pt>
                <c:pt idx="698">
                  <c:v>38749</c:v>
                </c:pt>
                <c:pt idx="699">
                  <c:v>38777</c:v>
                </c:pt>
                <c:pt idx="700">
                  <c:v>38808</c:v>
                </c:pt>
                <c:pt idx="701">
                  <c:v>38838</c:v>
                </c:pt>
                <c:pt idx="702">
                  <c:v>38869</c:v>
                </c:pt>
                <c:pt idx="703">
                  <c:v>38899</c:v>
                </c:pt>
                <c:pt idx="704">
                  <c:v>38930</c:v>
                </c:pt>
                <c:pt idx="705">
                  <c:v>38961</c:v>
                </c:pt>
                <c:pt idx="706">
                  <c:v>38991</c:v>
                </c:pt>
                <c:pt idx="707">
                  <c:v>39022</c:v>
                </c:pt>
                <c:pt idx="708">
                  <c:v>39052</c:v>
                </c:pt>
                <c:pt idx="709">
                  <c:v>39083</c:v>
                </c:pt>
                <c:pt idx="710">
                  <c:v>39114</c:v>
                </c:pt>
                <c:pt idx="711">
                  <c:v>39142</c:v>
                </c:pt>
                <c:pt idx="712">
                  <c:v>39173</c:v>
                </c:pt>
                <c:pt idx="713">
                  <c:v>39203</c:v>
                </c:pt>
                <c:pt idx="714">
                  <c:v>39234</c:v>
                </c:pt>
                <c:pt idx="715">
                  <c:v>39264</c:v>
                </c:pt>
                <c:pt idx="716">
                  <c:v>39295</c:v>
                </c:pt>
                <c:pt idx="717">
                  <c:v>39326</c:v>
                </c:pt>
                <c:pt idx="718">
                  <c:v>39356</c:v>
                </c:pt>
                <c:pt idx="719">
                  <c:v>39387</c:v>
                </c:pt>
                <c:pt idx="720">
                  <c:v>39417</c:v>
                </c:pt>
                <c:pt idx="721">
                  <c:v>39448</c:v>
                </c:pt>
                <c:pt idx="722">
                  <c:v>39479</c:v>
                </c:pt>
                <c:pt idx="723">
                  <c:v>39508</c:v>
                </c:pt>
                <c:pt idx="724">
                  <c:v>39539</c:v>
                </c:pt>
                <c:pt idx="725">
                  <c:v>39569</c:v>
                </c:pt>
                <c:pt idx="726">
                  <c:v>39600</c:v>
                </c:pt>
                <c:pt idx="727">
                  <c:v>39630</c:v>
                </c:pt>
                <c:pt idx="728">
                  <c:v>39661</c:v>
                </c:pt>
                <c:pt idx="729">
                  <c:v>39692</c:v>
                </c:pt>
                <c:pt idx="730">
                  <c:v>39722</c:v>
                </c:pt>
                <c:pt idx="731">
                  <c:v>39753</c:v>
                </c:pt>
                <c:pt idx="732">
                  <c:v>39783</c:v>
                </c:pt>
                <c:pt idx="733">
                  <c:v>39814</c:v>
                </c:pt>
                <c:pt idx="734">
                  <c:v>39845</c:v>
                </c:pt>
                <c:pt idx="735">
                  <c:v>39873</c:v>
                </c:pt>
                <c:pt idx="736">
                  <c:v>39904</c:v>
                </c:pt>
                <c:pt idx="737">
                  <c:v>39934</c:v>
                </c:pt>
                <c:pt idx="738">
                  <c:v>39965</c:v>
                </c:pt>
                <c:pt idx="739">
                  <c:v>39995</c:v>
                </c:pt>
                <c:pt idx="740">
                  <c:v>40026</c:v>
                </c:pt>
                <c:pt idx="741">
                  <c:v>40057</c:v>
                </c:pt>
                <c:pt idx="742">
                  <c:v>40087</c:v>
                </c:pt>
                <c:pt idx="743">
                  <c:v>40118</c:v>
                </c:pt>
                <c:pt idx="744">
                  <c:v>40148</c:v>
                </c:pt>
                <c:pt idx="745">
                  <c:v>40179</c:v>
                </c:pt>
                <c:pt idx="746">
                  <c:v>40210</c:v>
                </c:pt>
                <c:pt idx="747">
                  <c:v>40238</c:v>
                </c:pt>
                <c:pt idx="748">
                  <c:v>40269</c:v>
                </c:pt>
                <c:pt idx="749">
                  <c:v>40299</c:v>
                </c:pt>
                <c:pt idx="750">
                  <c:v>40330</c:v>
                </c:pt>
                <c:pt idx="751">
                  <c:v>40360</c:v>
                </c:pt>
                <c:pt idx="752">
                  <c:v>40391</c:v>
                </c:pt>
                <c:pt idx="753">
                  <c:v>40422</c:v>
                </c:pt>
                <c:pt idx="754">
                  <c:v>40452</c:v>
                </c:pt>
                <c:pt idx="755">
                  <c:v>40483</c:v>
                </c:pt>
                <c:pt idx="756">
                  <c:v>40513</c:v>
                </c:pt>
                <c:pt idx="757">
                  <c:v>40544</c:v>
                </c:pt>
                <c:pt idx="758">
                  <c:v>40575</c:v>
                </c:pt>
                <c:pt idx="759">
                  <c:v>40603</c:v>
                </c:pt>
                <c:pt idx="760">
                  <c:v>40634</c:v>
                </c:pt>
                <c:pt idx="761">
                  <c:v>40664</c:v>
                </c:pt>
                <c:pt idx="762">
                  <c:v>40695</c:v>
                </c:pt>
                <c:pt idx="763">
                  <c:v>40725</c:v>
                </c:pt>
                <c:pt idx="764">
                  <c:v>40756</c:v>
                </c:pt>
                <c:pt idx="765">
                  <c:v>40787</c:v>
                </c:pt>
                <c:pt idx="766">
                  <c:v>40817</c:v>
                </c:pt>
                <c:pt idx="767">
                  <c:v>40848</c:v>
                </c:pt>
                <c:pt idx="768">
                  <c:v>40878</c:v>
                </c:pt>
              </c:numCache>
            </c:numRef>
          </c:cat>
          <c:val>
            <c:numRef>
              <c:f>Data!$F$4:$F$772</c:f>
              <c:numCache>
                <c:formatCode>General</c:formatCode>
                <c:ptCount val="769"/>
                <c:pt idx="1">
                  <c:v>3.3</c:v>
                </c:pt>
                <c:pt idx="2">
                  <c:v>4.5</c:v>
                </c:pt>
                <c:pt idx="3">
                  <c:v>4.4000000000000004</c:v>
                </c:pt>
                <c:pt idx="4">
                  <c:v>4.3</c:v>
                </c:pt>
                <c:pt idx="5">
                  <c:v>3.7</c:v>
                </c:pt>
                <c:pt idx="6">
                  <c:v>4.3</c:v>
                </c:pt>
                <c:pt idx="7">
                  <c:v>4.2</c:v>
                </c:pt>
                <c:pt idx="8">
                  <c:v>4.4000000000000004</c:v>
                </c:pt>
                <c:pt idx="9">
                  <c:v>4.0999999999999996</c:v>
                </c:pt>
                <c:pt idx="10">
                  <c:v>4</c:v>
                </c:pt>
                <c:pt idx="11">
                  <c:v>3.9</c:v>
                </c:pt>
                <c:pt idx="12">
                  <c:v>4.2</c:v>
                </c:pt>
                <c:pt idx="13">
                  <c:v>4.4000000000000004</c:v>
                </c:pt>
                <c:pt idx="14">
                  <c:v>4.8</c:v>
                </c:pt>
                <c:pt idx="15">
                  <c:v>4.5999999999999996</c:v>
                </c:pt>
                <c:pt idx="16">
                  <c:v>5.5</c:v>
                </c:pt>
                <c:pt idx="17">
                  <c:v>6</c:v>
                </c:pt>
                <c:pt idx="18">
                  <c:v>6.2</c:v>
                </c:pt>
                <c:pt idx="19">
                  <c:v>6.8</c:v>
                </c:pt>
                <c:pt idx="20">
                  <c:v>6.8</c:v>
                </c:pt>
                <c:pt idx="21">
                  <c:v>6.8</c:v>
                </c:pt>
                <c:pt idx="22">
                  <c:v>6.8</c:v>
                </c:pt>
                <c:pt idx="23">
                  <c:v>6.3</c:v>
                </c:pt>
                <c:pt idx="24">
                  <c:v>6.8</c:v>
                </c:pt>
                <c:pt idx="25">
                  <c:v>6.9</c:v>
                </c:pt>
                <c:pt idx="26">
                  <c:v>6.8</c:v>
                </c:pt>
                <c:pt idx="27">
                  <c:v>6.7</c:v>
                </c:pt>
                <c:pt idx="28">
                  <c:v>5.4</c:v>
                </c:pt>
                <c:pt idx="29">
                  <c:v>5.8</c:v>
                </c:pt>
                <c:pt idx="30">
                  <c:v>6.1</c:v>
                </c:pt>
                <c:pt idx="31">
                  <c:v>5.6</c:v>
                </c:pt>
                <c:pt idx="32">
                  <c:v>4.8</c:v>
                </c:pt>
                <c:pt idx="33">
                  <c:v>5.0999999999999996</c:v>
                </c:pt>
                <c:pt idx="34">
                  <c:v>4.8</c:v>
                </c:pt>
                <c:pt idx="35">
                  <c:v>5.2</c:v>
                </c:pt>
                <c:pt idx="36">
                  <c:v>5.2</c:v>
                </c:pt>
                <c:pt idx="37">
                  <c:v>4.5999999999999996</c:v>
                </c:pt>
                <c:pt idx="38">
                  <c:v>4.5</c:v>
                </c:pt>
                <c:pt idx="39">
                  <c:v>4.9000000000000004</c:v>
                </c:pt>
                <c:pt idx="40">
                  <c:v>4.4000000000000004</c:v>
                </c:pt>
                <c:pt idx="41">
                  <c:v>4.2</c:v>
                </c:pt>
                <c:pt idx="42">
                  <c:v>4.3</c:v>
                </c:pt>
                <c:pt idx="43">
                  <c:v>4</c:v>
                </c:pt>
                <c:pt idx="44">
                  <c:v>3.9</c:v>
                </c:pt>
                <c:pt idx="45">
                  <c:v>4.5999999999999996</c:v>
                </c:pt>
                <c:pt idx="46">
                  <c:v>4.5</c:v>
                </c:pt>
                <c:pt idx="47">
                  <c:v>4.5</c:v>
                </c:pt>
                <c:pt idx="48">
                  <c:v>4.2</c:v>
                </c:pt>
                <c:pt idx="49">
                  <c:v>3.9</c:v>
                </c:pt>
                <c:pt idx="50">
                  <c:v>3.8</c:v>
                </c:pt>
                <c:pt idx="51">
                  <c:v>3.5</c:v>
                </c:pt>
                <c:pt idx="52">
                  <c:v>3.5</c:v>
                </c:pt>
                <c:pt idx="53">
                  <c:v>3.9</c:v>
                </c:pt>
                <c:pt idx="54">
                  <c:v>3.5</c:v>
                </c:pt>
                <c:pt idx="55">
                  <c:v>3.7</c:v>
                </c:pt>
                <c:pt idx="56">
                  <c:v>3.8</c:v>
                </c:pt>
                <c:pt idx="57">
                  <c:v>3.3</c:v>
                </c:pt>
                <c:pt idx="58">
                  <c:v>3.8</c:v>
                </c:pt>
                <c:pt idx="59">
                  <c:v>3.4</c:v>
                </c:pt>
                <c:pt idx="60">
                  <c:v>3.1</c:v>
                </c:pt>
                <c:pt idx="61">
                  <c:v>3.1</c:v>
                </c:pt>
                <c:pt idx="62">
                  <c:v>2.9</c:v>
                </c:pt>
                <c:pt idx="63">
                  <c:v>3.2</c:v>
                </c:pt>
                <c:pt idx="64">
                  <c:v>3</c:v>
                </c:pt>
                <c:pt idx="65">
                  <c:v>2.7</c:v>
                </c:pt>
                <c:pt idx="66">
                  <c:v>2.8</c:v>
                </c:pt>
                <c:pt idx="67">
                  <c:v>2.9</c:v>
                </c:pt>
                <c:pt idx="68">
                  <c:v>3</c:v>
                </c:pt>
                <c:pt idx="69">
                  <c:v>3.4</c:v>
                </c:pt>
                <c:pt idx="70">
                  <c:v>3.6</c:v>
                </c:pt>
                <c:pt idx="71">
                  <c:v>3.7</c:v>
                </c:pt>
                <c:pt idx="72">
                  <c:v>5.0999999999999996</c:v>
                </c:pt>
                <c:pt idx="73">
                  <c:v>5.9</c:v>
                </c:pt>
                <c:pt idx="74">
                  <c:v>5.9</c:v>
                </c:pt>
                <c:pt idx="75">
                  <c:v>6.4</c:v>
                </c:pt>
                <c:pt idx="76">
                  <c:v>6.4</c:v>
                </c:pt>
                <c:pt idx="77">
                  <c:v>6.3</c:v>
                </c:pt>
                <c:pt idx="78">
                  <c:v>6.2</c:v>
                </c:pt>
                <c:pt idx="79">
                  <c:v>6.3</c:v>
                </c:pt>
                <c:pt idx="80">
                  <c:v>6.2</c:v>
                </c:pt>
                <c:pt idx="81">
                  <c:v>6.4</c:v>
                </c:pt>
                <c:pt idx="82">
                  <c:v>5.8</c:v>
                </c:pt>
                <c:pt idx="83">
                  <c:v>5.6</c:v>
                </c:pt>
                <c:pt idx="84">
                  <c:v>5.2</c:v>
                </c:pt>
                <c:pt idx="85">
                  <c:v>5.3</c:v>
                </c:pt>
                <c:pt idx="86">
                  <c:v>5</c:v>
                </c:pt>
                <c:pt idx="87">
                  <c:v>4.8</c:v>
                </c:pt>
                <c:pt idx="88">
                  <c:v>4.7</c:v>
                </c:pt>
                <c:pt idx="89">
                  <c:v>4.7</c:v>
                </c:pt>
                <c:pt idx="90">
                  <c:v>4.7</c:v>
                </c:pt>
                <c:pt idx="91">
                  <c:v>4.5999999999999996</c:v>
                </c:pt>
                <c:pt idx="92">
                  <c:v>4.9000000000000004</c:v>
                </c:pt>
                <c:pt idx="93">
                  <c:v>5</c:v>
                </c:pt>
                <c:pt idx="94">
                  <c:v>5.0999999999999996</c:v>
                </c:pt>
                <c:pt idx="95">
                  <c:v>4.9000000000000004</c:v>
                </c:pt>
                <c:pt idx="96">
                  <c:v>4.9000000000000004</c:v>
                </c:pt>
                <c:pt idx="97">
                  <c:v>4.5</c:v>
                </c:pt>
                <c:pt idx="98">
                  <c:v>4.3</c:v>
                </c:pt>
                <c:pt idx="99">
                  <c:v>5.0999999999999996</c:v>
                </c:pt>
                <c:pt idx="100">
                  <c:v>4.8</c:v>
                </c:pt>
                <c:pt idx="101">
                  <c:v>5</c:v>
                </c:pt>
                <c:pt idx="102">
                  <c:v>5.0999999999999996</c:v>
                </c:pt>
                <c:pt idx="103">
                  <c:v>5.7</c:v>
                </c:pt>
                <c:pt idx="104">
                  <c:v>4.8</c:v>
                </c:pt>
                <c:pt idx="105">
                  <c:v>4.5999999999999996</c:v>
                </c:pt>
                <c:pt idx="106">
                  <c:v>4.7</c:v>
                </c:pt>
                <c:pt idx="107">
                  <c:v>4.9000000000000004</c:v>
                </c:pt>
                <c:pt idx="108">
                  <c:v>4.7</c:v>
                </c:pt>
                <c:pt idx="109">
                  <c:v>4.8</c:v>
                </c:pt>
                <c:pt idx="110">
                  <c:v>4.5</c:v>
                </c:pt>
                <c:pt idx="111">
                  <c:v>4.3</c:v>
                </c:pt>
                <c:pt idx="112">
                  <c:v>4.2</c:v>
                </c:pt>
                <c:pt idx="113">
                  <c:v>4.7</c:v>
                </c:pt>
                <c:pt idx="114">
                  <c:v>4.8</c:v>
                </c:pt>
                <c:pt idx="115">
                  <c:v>4.8</c:v>
                </c:pt>
                <c:pt idx="116">
                  <c:v>4.7</c:v>
                </c:pt>
                <c:pt idx="117">
                  <c:v>4.5999999999999996</c:v>
                </c:pt>
                <c:pt idx="118">
                  <c:v>4.5999999999999996</c:v>
                </c:pt>
                <c:pt idx="119">
                  <c:v>5.0999999999999996</c:v>
                </c:pt>
                <c:pt idx="120">
                  <c:v>5.0999999999999996</c:v>
                </c:pt>
                <c:pt idx="121">
                  <c:v>5.9</c:v>
                </c:pt>
                <c:pt idx="122">
                  <c:v>6.6</c:v>
                </c:pt>
                <c:pt idx="123">
                  <c:v>6.6</c:v>
                </c:pt>
                <c:pt idx="124">
                  <c:v>7.6</c:v>
                </c:pt>
                <c:pt idx="125">
                  <c:v>7.3</c:v>
                </c:pt>
                <c:pt idx="126">
                  <c:v>7.1</c:v>
                </c:pt>
                <c:pt idx="127">
                  <c:v>7.3</c:v>
                </c:pt>
                <c:pt idx="128">
                  <c:v>7.2</c:v>
                </c:pt>
                <c:pt idx="129">
                  <c:v>7</c:v>
                </c:pt>
                <c:pt idx="130">
                  <c:v>6.7</c:v>
                </c:pt>
                <c:pt idx="131">
                  <c:v>6</c:v>
                </c:pt>
                <c:pt idx="132">
                  <c:v>6.2</c:v>
                </c:pt>
                <c:pt idx="133">
                  <c:v>6.2</c:v>
                </c:pt>
                <c:pt idx="134">
                  <c:v>6</c:v>
                </c:pt>
                <c:pt idx="135">
                  <c:v>6.2</c:v>
                </c:pt>
                <c:pt idx="136">
                  <c:v>6.1</c:v>
                </c:pt>
                <c:pt idx="137">
                  <c:v>5.8</c:v>
                </c:pt>
                <c:pt idx="138">
                  <c:v>5.6</c:v>
                </c:pt>
                <c:pt idx="139">
                  <c:v>5.7</c:v>
                </c:pt>
                <c:pt idx="140">
                  <c:v>5.6</c:v>
                </c:pt>
                <c:pt idx="141">
                  <c:v>5.6</c:v>
                </c:pt>
                <c:pt idx="142">
                  <c:v>6.1</c:v>
                </c:pt>
                <c:pt idx="143">
                  <c:v>5.8</c:v>
                </c:pt>
                <c:pt idx="144">
                  <c:v>5.8</c:v>
                </c:pt>
                <c:pt idx="145">
                  <c:v>5.7</c:v>
                </c:pt>
                <c:pt idx="146">
                  <c:v>5.4</c:v>
                </c:pt>
                <c:pt idx="147">
                  <c:v>5.8</c:v>
                </c:pt>
                <c:pt idx="148">
                  <c:v>5.5</c:v>
                </c:pt>
                <c:pt idx="149">
                  <c:v>5.5</c:v>
                </c:pt>
                <c:pt idx="150">
                  <c:v>5.7</c:v>
                </c:pt>
                <c:pt idx="151">
                  <c:v>5.8</c:v>
                </c:pt>
                <c:pt idx="152">
                  <c:v>5.8</c:v>
                </c:pt>
                <c:pt idx="153">
                  <c:v>5.7</c:v>
                </c:pt>
                <c:pt idx="154">
                  <c:v>6.4</c:v>
                </c:pt>
                <c:pt idx="155">
                  <c:v>6.5</c:v>
                </c:pt>
                <c:pt idx="156">
                  <c:v>7</c:v>
                </c:pt>
                <c:pt idx="157">
                  <c:v>6.9</c:v>
                </c:pt>
                <c:pt idx="158">
                  <c:v>7.3</c:v>
                </c:pt>
                <c:pt idx="159">
                  <c:v>7.4</c:v>
                </c:pt>
                <c:pt idx="160">
                  <c:v>7.4</c:v>
                </c:pt>
                <c:pt idx="161">
                  <c:v>7.4</c:v>
                </c:pt>
                <c:pt idx="162">
                  <c:v>7.6</c:v>
                </c:pt>
                <c:pt idx="163">
                  <c:v>7.7</c:v>
                </c:pt>
                <c:pt idx="164">
                  <c:v>7</c:v>
                </c:pt>
                <c:pt idx="165">
                  <c:v>7.3</c:v>
                </c:pt>
                <c:pt idx="166">
                  <c:v>7.2</c:v>
                </c:pt>
                <c:pt idx="167">
                  <c:v>6.6</c:v>
                </c:pt>
                <c:pt idx="168">
                  <c:v>6.4</c:v>
                </c:pt>
                <c:pt idx="169">
                  <c:v>6.7</c:v>
                </c:pt>
                <c:pt idx="170">
                  <c:v>6.2</c:v>
                </c:pt>
                <c:pt idx="171">
                  <c:v>6.3</c:v>
                </c:pt>
                <c:pt idx="172">
                  <c:v>6.2</c:v>
                </c:pt>
                <c:pt idx="173">
                  <c:v>6</c:v>
                </c:pt>
                <c:pt idx="174">
                  <c:v>5.8</c:v>
                </c:pt>
                <c:pt idx="175">
                  <c:v>6.1</c:v>
                </c:pt>
                <c:pt idx="176">
                  <c:v>6.4</c:v>
                </c:pt>
                <c:pt idx="177">
                  <c:v>6.3</c:v>
                </c:pt>
                <c:pt idx="178">
                  <c:v>6.1</c:v>
                </c:pt>
                <c:pt idx="179">
                  <c:v>6.3</c:v>
                </c:pt>
                <c:pt idx="180">
                  <c:v>6.2</c:v>
                </c:pt>
                <c:pt idx="181">
                  <c:v>6.4</c:v>
                </c:pt>
                <c:pt idx="182">
                  <c:v>6.5</c:v>
                </c:pt>
                <c:pt idx="183">
                  <c:v>6.2</c:v>
                </c:pt>
                <c:pt idx="184">
                  <c:v>6.2</c:v>
                </c:pt>
                <c:pt idx="185">
                  <c:v>6.7</c:v>
                </c:pt>
                <c:pt idx="186">
                  <c:v>6.4</c:v>
                </c:pt>
                <c:pt idx="187">
                  <c:v>6.6</c:v>
                </c:pt>
                <c:pt idx="188">
                  <c:v>6.3</c:v>
                </c:pt>
                <c:pt idx="189">
                  <c:v>6.6</c:v>
                </c:pt>
                <c:pt idx="190">
                  <c:v>6.6</c:v>
                </c:pt>
                <c:pt idx="191">
                  <c:v>6.6</c:v>
                </c:pt>
                <c:pt idx="192">
                  <c:v>6.4</c:v>
                </c:pt>
                <c:pt idx="193">
                  <c:v>6.6</c:v>
                </c:pt>
                <c:pt idx="194">
                  <c:v>6.5</c:v>
                </c:pt>
                <c:pt idx="195">
                  <c:v>6.6</c:v>
                </c:pt>
                <c:pt idx="196">
                  <c:v>6.4</c:v>
                </c:pt>
                <c:pt idx="197">
                  <c:v>6.3</c:v>
                </c:pt>
                <c:pt idx="198">
                  <c:v>6.2</c:v>
                </c:pt>
                <c:pt idx="199">
                  <c:v>6</c:v>
                </c:pt>
                <c:pt idx="200">
                  <c:v>5.9</c:v>
                </c:pt>
                <c:pt idx="201">
                  <c:v>6</c:v>
                </c:pt>
                <c:pt idx="202">
                  <c:v>6.1</c:v>
                </c:pt>
                <c:pt idx="203">
                  <c:v>5.9</c:v>
                </c:pt>
                <c:pt idx="204">
                  <c:v>6.2</c:v>
                </c:pt>
                <c:pt idx="205">
                  <c:v>5.9</c:v>
                </c:pt>
                <c:pt idx="206">
                  <c:v>6.4</c:v>
                </c:pt>
                <c:pt idx="207">
                  <c:v>5.9</c:v>
                </c:pt>
                <c:pt idx="208">
                  <c:v>5.9</c:v>
                </c:pt>
                <c:pt idx="209">
                  <c:v>5.5</c:v>
                </c:pt>
                <c:pt idx="210">
                  <c:v>5.7</c:v>
                </c:pt>
                <c:pt idx="211">
                  <c:v>5.3</c:v>
                </c:pt>
                <c:pt idx="212">
                  <c:v>5.2</c:v>
                </c:pt>
                <c:pt idx="213">
                  <c:v>5.4</c:v>
                </c:pt>
                <c:pt idx="214">
                  <c:v>5.0999999999999996</c:v>
                </c:pt>
                <c:pt idx="215">
                  <c:v>5.4</c:v>
                </c:pt>
                <c:pt idx="216">
                  <c:v>5.0999999999999996</c:v>
                </c:pt>
                <c:pt idx="217">
                  <c:v>5</c:v>
                </c:pt>
                <c:pt idx="218">
                  <c:v>4.7</c:v>
                </c:pt>
                <c:pt idx="219">
                  <c:v>4.8</c:v>
                </c:pt>
                <c:pt idx="220">
                  <c:v>4.8</c:v>
                </c:pt>
                <c:pt idx="221">
                  <c:v>5.2</c:v>
                </c:pt>
                <c:pt idx="222">
                  <c:v>4.9000000000000004</c:v>
                </c:pt>
                <c:pt idx="223">
                  <c:v>4.8</c:v>
                </c:pt>
                <c:pt idx="224">
                  <c:v>4.9000000000000004</c:v>
                </c:pt>
                <c:pt idx="225">
                  <c:v>4.7</c:v>
                </c:pt>
                <c:pt idx="226">
                  <c:v>4.9000000000000004</c:v>
                </c:pt>
                <c:pt idx="227">
                  <c:v>4.5999999999999996</c:v>
                </c:pt>
                <c:pt idx="228">
                  <c:v>4.8</c:v>
                </c:pt>
                <c:pt idx="229">
                  <c:v>5.4</c:v>
                </c:pt>
                <c:pt idx="230">
                  <c:v>5.2</c:v>
                </c:pt>
                <c:pt idx="231">
                  <c:v>5.0999999999999996</c:v>
                </c:pt>
                <c:pt idx="232">
                  <c:v>4.9000000000000004</c:v>
                </c:pt>
                <c:pt idx="233">
                  <c:v>5</c:v>
                </c:pt>
                <c:pt idx="234">
                  <c:v>5.0999999999999996</c:v>
                </c:pt>
                <c:pt idx="235">
                  <c:v>5.0999999999999996</c:v>
                </c:pt>
                <c:pt idx="236">
                  <c:v>4.9000000000000004</c:v>
                </c:pt>
                <c:pt idx="237">
                  <c:v>5.3</c:v>
                </c:pt>
                <c:pt idx="238">
                  <c:v>5.6</c:v>
                </c:pt>
                <c:pt idx="239">
                  <c:v>5.2</c:v>
                </c:pt>
                <c:pt idx="240">
                  <c:v>5.0999999999999996</c:v>
                </c:pt>
                <c:pt idx="241">
                  <c:v>5</c:v>
                </c:pt>
                <c:pt idx="242">
                  <c:v>5.0999999999999996</c:v>
                </c:pt>
                <c:pt idx="243">
                  <c:v>4.8</c:v>
                </c:pt>
                <c:pt idx="244">
                  <c:v>4.7</c:v>
                </c:pt>
                <c:pt idx="245">
                  <c:v>4.7</c:v>
                </c:pt>
                <c:pt idx="246">
                  <c:v>4.9000000000000004</c:v>
                </c:pt>
                <c:pt idx="247">
                  <c:v>5</c:v>
                </c:pt>
                <c:pt idx="248">
                  <c:v>4.7</c:v>
                </c:pt>
                <c:pt idx="249">
                  <c:v>4.5</c:v>
                </c:pt>
                <c:pt idx="250">
                  <c:v>4.5</c:v>
                </c:pt>
                <c:pt idx="251">
                  <c:v>4.5999999999999996</c:v>
                </c:pt>
                <c:pt idx="252">
                  <c:v>4.5999999999999996</c:v>
                </c:pt>
                <c:pt idx="253">
                  <c:v>4.5999999999999996</c:v>
                </c:pt>
                <c:pt idx="254">
                  <c:v>4.5999999999999996</c:v>
                </c:pt>
                <c:pt idx="255">
                  <c:v>4.5999999999999996</c:v>
                </c:pt>
                <c:pt idx="256">
                  <c:v>4.7</c:v>
                </c:pt>
                <c:pt idx="257">
                  <c:v>4.5999999999999996</c:v>
                </c:pt>
                <c:pt idx="258">
                  <c:v>4.8</c:v>
                </c:pt>
                <c:pt idx="259">
                  <c:v>4.5999999999999996</c:v>
                </c:pt>
                <c:pt idx="260">
                  <c:v>4.8</c:v>
                </c:pt>
                <c:pt idx="261">
                  <c:v>4.9000000000000004</c:v>
                </c:pt>
                <c:pt idx="262">
                  <c:v>5</c:v>
                </c:pt>
                <c:pt idx="263">
                  <c:v>4.5</c:v>
                </c:pt>
                <c:pt idx="264">
                  <c:v>4.5</c:v>
                </c:pt>
                <c:pt idx="265">
                  <c:v>4.9000000000000004</c:v>
                </c:pt>
                <c:pt idx="266">
                  <c:v>5.0999999999999996</c:v>
                </c:pt>
                <c:pt idx="267">
                  <c:v>5.6</c:v>
                </c:pt>
                <c:pt idx="268">
                  <c:v>5.5</c:v>
                </c:pt>
                <c:pt idx="269">
                  <c:v>5.7</c:v>
                </c:pt>
                <c:pt idx="270">
                  <c:v>5.7</c:v>
                </c:pt>
                <c:pt idx="271">
                  <c:v>5.8</c:v>
                </c:pt>
                <c:pt idx="272">
                  <c:v>6</c:v>
                </c:pt>
                <c:pt idx="273">
                  <c:v>6.3</c:v>
                </c:pt>
                <c:pt idx="274">
                  <c:v>6.4</c:v>
                </c:pt>
                <c:pt idx="275">
                  <c:v>6.9</c:v>
                </c:pt>
                <c:pt idx="276">
                  <c:v>6.9</c:v>
                </c:pt>
                <c:pt idx="277">
                  <c:v>6.8</c:v>
                </c:pt>
                <c:pt idx="278">
                  <c:v>6.8</c:v>
                </c:pt>
                <c:pt idx="279">
                  <c:v>7.1</c:v>
                </c:pt>
                <c:pt idx="280">
                  <c:v>7</c:v>
                </c:pt>
                <c:pt idx="281">
                  <c:v>6.9</c:v>
                </c:pt>
                <c:pt idx="282">
                  <c:v>6.9</c:v>
                </c:pt>
                <c:pt idx="283">
                  <c:v>7</c:v>
                </c:pt>
                <c:pt idx="284">
                  <c:v>7</c:v>
                </c:pt>
                <c:pt idx="285">
                  <c:v>6.9</c:v>
                </c:pt>
                <c:pt idx="286">
                  <c:v>6.8</c:v>
                </c:pt>
                <c:pt idx="287">
                  <c:v>7</c:v>
                </c:pt>
                <c:pt idx="288">
                  <c:v>6.8</c:v>
                </c:pt>
                <c:pt idx="289">
                  <c:v>6.7</c:v>
                </c:pt>
                <c:pt idx="290">
                  <c:v>6.4</c:v>
                </c:pt>
                <c:pt idx="291">
                  <c:v>6.7</c:v>
                </c:pt>
                <c:pt idx="292">
                  <c:v>6.7</c:v>
                </c:pt>
                <c:pt idx="293">
                  <c:v>6.6</c:v>
                </c:pt>
                <c:pt idx="294">
                  <c:v>6.8</c:v>
                </c:pt>
                <c:pt idx="295">
                  <c:v>7</c:v>
                </c:pt>
                <c:pt idx="296">
                  <c:v>6.9</c:v>
                </c:pt>
                <c:pt idx="297">
                  <c:v>6.7</c:v>
                </c:pt>
                <c:pt idx="298">
                  <c:v>6.8</c:v>
                </c:pt>
                <c:pt idx="299">
                  <c:v>6.2</c:v>
                </c:pt>
                <c:pt idx="300">
                  <c:v>6.2</c:v>
                </c:pt>
                <c:pt idx="301">
                  <c:v>6.1</c:v>
                </c:pt>
                <c:pt idx="302">
                  <c:v>6.2</c:v>
                </c:pt>
                <c:pt idx="303">
                  <c:v>6</c:v>
                </c:pt>
                <c:pt idx="304">
                  <c:v>6.1</c:v>
                </c:pt>
                <c:pt idx="305">
                  <c:v>5.7</c:v>
                </c:pt>
                <c:pt idx="306">
                  <c:v>6</c:v>
                </c:pt>
                <c:pt idx="307">
                  <c:v>6</c:v>
                </c:pt>
                <c:pt idx="308">
                  <c:v>6</c:v>
                </c:pt>
                <c:pt idx="309">
                  <c:v>6.1</c:v>
                </c:pt>
                <c:pt idx="310">
                  <c:v>5.7</c:v>
                </c:pt>
                <c:pt idx="311">
                  <c:v>6</c:v>
                </c:pt>
                <c:pt idx="312">
                  <c:v>6.1</c:v>
                </c:pt>
                <c:pt idx="313">
                  <c:v>6.2</c:v>
                </c:pt>
                <c:pt idx="314">
                  <c:v>6.2</c:v>
                </c:pt>
                <c:pt idx="315">
                  <c:v>6.1</c:v>
                </c:pt>
                <c:pt idx="316">
                  <c:v>6</c:v>
                </c:pt>
                <c:pt idx="317">
                  <c:v>6.3</c:v>
                </c:pt>
                <c:pt idx="318">
                  <c:v>6.5</c:v>
                </c:pt>
                <c:pt idx="319">
                  <c:v>6.8</c:v>
                </c:pt>
                <c:pt idx="320">
                  <c:v>6.5</c:v>
                </c:pt>
                <c:pt idx="321">
                  <c:v>7.1</c:v>
                </c:pt>
                <c:pt idx="322">
                  <c:v>7.1</c:v>
                </c:pt>
                <c:pt idx="323">
                  <c:v>7.9</c:v>
                </c:pt>
                <c:pt idx="324">
                  <c:v>8.3000000000000007</c:v>
                </c:pt>
                <c:pt idx="325">
                  <c:v>9.2000000000000011</c:v>
                </c:pt>
                <c:pt idx="326">
                  <c:v>9.1</c:v>
                </c:pt>
                <c:pt idx="327">
                  <c:v>9.6</c:v>
                </c:pt>
                <c:pt idx="328">
                  <c:v>9.6</c:v>
                </c:pt>
                <c:pt idx="329">
                  <c:v>9.8000000000000007</c:v>
                </c:pt>
                <c:pt idx="330">
                  <c:v>9.4</c:v>
                </c:pt>
                <c:pt idx="331">
                  <c:v>9.3000000000000007</c:v>
                </c:pt>
                <c:pt idx="332">
                  <c:v>9.2000000000000011</c:v>
                </c:pt>
                <c:pt idx="333">
                  <c:v>9</c:v>
                </c:pt>
                <c:pt idx="334">
                  <c:v>9.2000000000000011</c:v>
                </c:pt>
                <c:pt idx="335">
                  <c:v>9</c:v>
                </c:pt>
                <c:pt idx="336">
                  <c:v>9.1</c:v>
                </c:pt>
                <c:pt idx="337">
                  <c:v>8.9</c:v>
                </c:pt>
                <c:pt idx="338">
                  <c:v>8.8000000000000007</c:v>
                </c:pt>
                <c:pt idx="339">
                  <c:v>8.6</c:v>
                </c:pt>
                <c:pt idx="340">
                  <c:v>8.6</c:v>
                </c:pt>
                <c:pt idx="341">
                  <c:v>8.1</c:v>
                </c:pt>
                <c:pt idx="342">
                  <c:v>8.4</c:v>
                </c:pt>
                <c:pt idx="343">
                  <c:v>8.8000000000000007</c:v>
                </c:pt>
                <c:pt idx="344">
                  <c:v>9</c:v>
                </c:pt>
                <c:pt idx="345">
                  <c:v>8.7000000000000011</c:v>
                </c:pt>
                <c:pt idx="346">
                  <c:v>8.7000000000000011</c:v>
                </c:pt>
                <c:pt idx="347">
                  <c:v>8.7000000000000011</c:v>
                </c:pt>
                <c:pt idx="348">
                  <c:v>8.5</c:v>
                </c:pt>
                <c:pt idx="349">
                  <c:v>8.5</c:v>
                </c:pt>
                <c:pt idx="350">
                  <c:v>8.6</c:v>
                </c:pt>
                <c:pt idx="351">
                  <c:v>8.6</c:v>
                </c:pt>
                <c:pt idx="352">
                  <c:v>8.4</c:v>
                </c:pt>
                <c:pt idx="353">
                  <c:v>7.9</c:v>
                </c:pt>
                <c:pt idx="354">
                  <c:v>8.4</c:v>
                </c:pt>
                <c:pt idx="355">
                  <c:v>8</c:v>
                </c:pt>
                <c:pt idx="356">
                  <c:v>8.1</c:v>
                </c:pt>
                <c:pt idx="357">
                  <c:v>8.1</c:v>
                </c:pt>
                <c:pt idx="358">
                  <c:v>7.9</c:v>
                </c:pt>
                <c:pt idx="359">
                  <c:v>8.1</c:v>
                </c:pt>
                <c:pt idx="360">
                  <c:v>7.5</c:v>
                </c:pt>
                <c:pt idx="361">
                  <c:v>7.6</c:v>
                </c:pt>
                <c:pt idx="362">
                  <c:v>7.2</c:v>
                </c:pt>
                <c:pt idx="363">
                  <c:v>7.2</c:v>
                </c:pt>
                <c:pt idx="364">
                  <c:v>7.1</c:v>
                </c:pt>
                <c:pt idx="365">
                  <c:v>7.2</c:v>
                </c:pt>
                <c:pt idx="366">
                  <c:v>7.2</c:v>
                </c:pt>
                <c:pt idx="367">
                  <c:v>7.6</c:v>
                </c:pt>
                <c:pt idx="368">
                  <c:v>7.2</c:v>
                </c:pt>
                <c:pt idx="369">
                  <c:v>7.2</c:v>
                </c:pt>
                <c:pt idx="370">
                  <c:v>6.7</c:v>
                </c:pt>
                <c:pt idx="371">
                  <c:v>7</c:v>
                </c:pt>
                <c:pt idx="372">
                  <c:v>7</c:v>
                </c:pt>
                <c:pt idx="373">
                  <c:v>6.9</c:v>
                </c:pt>
                <c:pt idx="374">
                  <c:v>6.9</c:v>
                </c:pt>
                <c:pt idx="375">
                  <c:v>6.8</c:v>
                </c:pt>
                <c:pt idx="376">
                  <c:v>6.8</c:v>
                </c:pt>
                <c:pt idx="377">
                  <c:v>6.7</c:v>
                </c:pt>
                <c:pt idx="378">
                  <c:v>6.8</c:v>
                </c:pt>
                <c:pt idx="379">
                  <c:v>6.6</c:v>
                </c:pt>
                <c:pt idx="380">
                  <c:v>7.1</c:v>
                </c:pt>
                <c:pt idx="381">
                  <c:v>6.7</c:v>
                </c:pt>
                <c:pt idx="382">
                  <c:v>6.9</c:v>
                </c:pt>
                <c:pt idx="383">
                  <c:v>6.7</c:v>
                </c:pt>
                <c:pt idx="384">
                  <c:v>6.8</c:v>
                </c:pt>
                <c:pt idx="385">
                  <c:v>6.9</c:v>
                </c:pt>
                <c:pt idx="386">
                  <c:v>7</c:v>
                </c:pt>
                <c:pt idx="387">
                  <c:v>6.9</c:v>
                </c:pt>
                <c:pt idx="388">
                  <c:v>7.2</c:v>
                </c:pt>
                <c:pt idx="389">
                  <c:v>7.5</c:v>
                </c:pt>
                <c:pt idx="390">
                  <c:v>7.6</c:v>
                </c:pt>
                <c:pt idx="391">
                  <c:v>7.8</c:v>
                </c:pt>
                <c:pt idx="392">
                  <c:v>7.8</c:v>
                </c:pt>
                <c:pt idx="393">
                  <c:v>7.3</c:v>
                </c:pt>
                <c:pt idx="394">
                  <c:v>7.7</c:v>
                </c:pt>
                <c:pt idx="395">
                  <c:v>7.6</c:v>
                </c:pt>
                <c:pt idx="396">
                  <c:v>7.6</c:v>
                </c:pt>
                <c:pt idx="397">
                  <c:v>7.8</c:v>
                </c:pt>
                <c:pt idx="398">
                  <c:v>7.7</c:v>
                </c:pt>
                <c:pt idx="399">
                  <c:v>7.7</c:v>
                </c:pt>
                <c:pt idx="400">
                  <c:v>7.6</c:v>
                </c:pt>
                <c:pt idx="401">
                  <c:v>7.8</c:v>
                </c:pt>
                <c:pt idx="402">
                  <c:v>7.8</c:v>
                </c:pt>
                <c:pt idx="403">
                  <c:v>7.7</c:v>
                </c:pt>
                <c:pt idx="404">
                  <c:v>7.7</c:v>
                </c:pt>
                <c:pt idx="405">
                  <c:v>8.1</c:v>
                </c:pt>
                <c:pt idx="406">
                  <c:v>8.3000000000000007</c:v>
                </c:pt>
                <c:pt idx="407">
                  <c:v>8.4</c:v>
                </c:pt>
                <c:pt idx="408">
                  <c:v>8.5</c:v>
                </c:pt>
                <c:pt idx="409">
                  <c:v>8.5</c:v>
                </c:pt>
                <c:pt idx="410">
                  <c:v>8.9</c:v>
                </c:pt>
                <c:pt idx="411">
                  <c:v>8.9</c:v>
                </c:pt>
                <c:pt idx="412">
                  <c:v>9.3000000000000007</c:v>
                </c:pt>
                <c:pt idx="413">
                  <c:v>9.3000000000000007</c:v>
                </c:pt>
                <c:pt idx="414">
                  <c:v>9.2000000000000011</c:v>
                </c:pt>
                <c:pt idx="415">
                  <c:v>9.6</c:v>
                </c:pt>
                <c:pt idx="416">
                  <c:v>9.4</c:v>
                </c:pt>
                <c:pt idx="417">
                  <c:v>9.5</c:v>
                </c:pt>
                <c:pt idx="418">
                  <c:v>9.8000000000000007</c:v>
                </c:pt>
                <c:pt idx="419">
                  <c:v>10.200000000000001</c:v>
                </c:pt>
                <c:pt idx="420">
                  <c:v>10.4</c:v>
                </c:pt>
                <c:pt idx="421">
                  <c:v>10.1</c:v>
                </c:pt>
                <c:pt idx="422">
                  <c:v>9.9</c:v>
                </c:pt>
                <c:pt idx="423">
                  <c:v>9.8000000000000007</c:v>
                </c:pt>
                <c:pt idx="424">
                  <c:v>9.5</c:v>
                </c:pt>
                <c:pt idx="425">
                  <c:v>9.5</c:v>
                </c:pt>
                <c:pt idx="426">
                  <c:v>9.9</c:v>
                </c:pt>
                <c:pt idx="427">
                  <c:v>9</c:v>
                </c:pt>
                <c:pt idx="428">
                  <c:v>9</c:v>
                </c:pt>
                <c:pt idx="429">
                  <c:v>8.7000000000000011</c:v>
                </c:pt>
                <c:pt idx="430">
                  <c:v>8.5</c:v>
                </c:pt>
                <c:pt idx="431">
                  <c:v>8.2000000000000011</c:v>
                </c:pt>
                <c:pt idx="432">
                  <c:v>8.3000000000000007</c:v>
                </c:pt>
                <c:pt idx="433">
                  <c:v>7.9</c:v>
                </c:pt>
                <c:pt idx="434">
                  <c:v>7.8</c:v>
                </c:pt>
                <c:pt idx="435">
                  <c:v>7.8</c:v>
                </c:pt>
                <c:pt idx="436">
                  <c:v>7.8</c:v>
                </c:pt>
                <c:pt idx="437">
                  <c:v>7.6</c:v>
                </c:pt>
                <c:pt idx="438">
                  <c:v>7.4</c:v>
                </c:pt>
                <c:pt idx="439">
                  <c:v>7.6</c:v>
                </c:pt>
                <c:pt idx="440">
                  <c:v>7.8</c:v>
                </c:pt>
                <c:pt idx="441">
                  <c:v>7.4</c:v>
                </c:pt>
                <c:pt idx="442">
                  <c:v>7.7</c:v>
                </c:pt>
                <c:pt idx="443">
                  <c:v>7.4</c:v>
                </c:pt>
                <c:pt idx="444">
                  <c:v>7.4</c:v>
                </c:pt>
                <c:pt idx="445">
                  <c:v>7.6</c:v>
                </c:pt>
                <c:pt idx="446">
                  <c:v>7.4</c:v>
                </c:pt>
                <c:pt idx="447">
                  <c:v>7.5</c:v>
                </c:pt>
                <c:pt idx="448">
                  <c:v>7.5</c:v>
                </c:pt>
                <c:pt idx="449">
                  <c:v>7.6</c:v>
                </c:pt>
                <c:pt idx="450">
                  <c:v>7.5</c:v>
                </c:pt>
                <c:pt idx="451">
                  <c:v>7.6</c:v>
                </c:pt>
                <c:pt idx="452">
                  <c:v>7.3</c:v>
                </c:pt>
                <c:pt idx="453">
                  <c:v>7.4</c:v>
                </c:pt>
                <c:pt idx="454">
                  <c:v>7.3</c:v>
                </c:pt>
                <c:pt idx="455">
                  <c:v>7.2</c:v>
                </c:pt>
                <c:pt idx="456">
                  <c:v>7.2</c:v>
                </c:pt>
                <c:pt idx="457">
                  <c:v>6.9</c:v>
                </c:pt>
                <c:pt idx="458">
                  <c:v>7.4</c:v>
                </c:pt>
                <c:pt idx="459">
                  <c:v>7.4</c:v>
                </c:pt>
                <c:pt idx="460">
                  <c:v>7.4</c:v>
                </c:pt>
                <c:pt idx="461">
                  <c:v>7.3</c:v>
                </c:pt>
                <c:pt idx="462">
                  <c:v>7.3</c:v>
                </c:pt>
                <c:pt idx="463">
                  <c:v>7</c:v>
                </c:pt>
                <c:pt idx="464">
                  <c:v>6.9</c:v>
                </c:pt>
                <c:pt idx="465">
                  <c:v>6.9</c:v>
                </c:pt>
                <c:pt idx="466">
                  <c:v>6.9</c:v>
                </c:pt>
                <c:pt idx="467">
                  <c:v>6.9</c:v>
                </c:pt>
                <c:pt idx="468">
                  <c:v>6.5</c:v>
                </c:pt>
                <c:pt idx="469">
                  <c:v>6.6</c:v>
                </c:pt>
                <c:pt idx="470">
                  <c:v>6.6</c:v>
                </c:pt>
                <c:pt idx="471">
                  <c:v>6.7</c:v>
                </c:pt>
                <c:pt idx="472">
                  <c:v>6.3</c:v>
                </c:pt>
                <c:pt idx="473">
                  <c:v>6.2</c:v>
                </c:pt>
                <c:pt idx="474">
                  <c:v>6</c:v>
                </c:pt>
                <c:pt idx="475">
                  <c:v>6</c:v>
                </c:pt>
                <c:pt idx="476">
                  <c:v>6</c:v>
                </c:pt>
                <c:pt idx="477">
                  <c:v>6</c:v>
                </c:pt>
                <c:pt idx="478">
                  <c:v>6.1</c:v>
                </c:pt>
                <c:pt idx="479">
                  <c:v>6</c:v>
                </c:pt>
                <c:pt idx="480">
                  <c:v>5.8</c:v>
                </c:pt>
                <c:pt idx="481">
                  <c:v>5.8</c:v>
                </c:pt>
                <c:pt idx="482">
                  <c:v>5.9</c:v>
                </c:pt>
                <c:pt idx="483">
                  <c:v>5.7</c:v>
                </c:pt>
                <c:pt idx="484">
                  <c:v>5.6</c:v>
                </c:pt>
                <c:pt idx="485">
                  <c:v>5.6</c:v>
                </c:pt>
                <c:pt idx="486">
                  <c:v>5.4</c:v>
                </c:pt>
                <c:pt idx="487">
                  <c:v>5.5</c:v>
                </c:pt>
                <c:pt idx="488">
                  <c:v>5.6</c:v>
                </c:pt>
                <c:pt idx="489">
                  <c:v>5.5</c:v>
                </c:pt>
                <c:pt idx="490">
                  <c:v>5.4</c:v>
                </c:pt>
                <c:pt idx="491">
                  <c:v>5.3</c:v>
                </c:pt>
                <c:pt idx="492">
                  <c:v>5.3</c:v>
                </c:pt>
                <c:pt idx="493">
                  <c:v>5.4</c:v>
                </c:pt>
                <c:pt idx="494">
                  <c:v>5.0999999999999996</c:v>
                </c:pt>
                <c:pt idx="495">
                  <c:v>5.2</c:v>
                </c:pt>
                <c:pt idx="496">
                  <c:v>5.3</c:v>
                </c:pt>
                <c:pt idx="497">
                  <c:v>5.4</c:v>
                </c:pt>
                <c:pt idx="498">
                  <c:v>5.6</c:v>
                </c:pt>
                <c:pt idx="499">
                  <c:v>5.6</c:v>
                </c:pt>
                <c:pt idx="500">
                  <c:v>5.4</c:v>
                </c:pt>
                <c:pt idx="501">
                  <c:v>5.2</c:v>
                </c:pt>
                <c:pt idx="502">
                  <c:v>5.4</c:v>
                </c:pt>
                <c:pt idx="503">
                  <c:v>5.4</c:v>
                </c:pt>
                <c:pt idx="504">
                  <c:v>5.4</c:v>
                </c:pt>
                <c:pt idx="505">
                  <c:v>5.3</c:v>
                </c:pt>
                <c:pt idx="506">
                  <c:v>5.4</c:v>
                </c:pt>
                <c:pt idx="507">
                  <c:v>5.3</c:v>
                </c:pt>
                <c:pt idx="508">
                  <c:v>5.4</c:v>
                </c:pt>
                <c:pt idx="509">
                  <c:v>5.4</c:v>
                </c:pt>
                <c:pt idx="510">
                  <c:v>5.2</c:v>
                </c:pt>
                <c:pt idx="511">
                  <c:v>5.4</c:v>
                </c:pt>
                <c:pt idx="512">
                  <c:v>5.6</c:v>
                </c:pt>
                <c:pt idx="513">
                  <c:v>5.8</c:v>
                </c:pt>
                <c:pt idx="514">
                  <c:v>5.7</c:v>
                </c:pt>
                <c:pt idx="515">
                  <c:v>5.9</c:v>
                </c:pt>
                <c:pt idx="516">
                  <c:v>5.9</c:v>
                </c:pt>
                <c:pt idx="517">
                  <c:v>6.2</c:v>
                </c:pt>
                <c:pt idx="518">
                  <c:v>6.1</c:v>
                </c:pt>
                <c:pt idx="519">
                  <c:v>6.3</c:v>
                </c:pt>
                <c:pt idx="520">
                  <c:v>6.2</c:v>
                </c:pt>
                <c:pt idx="521">
                  <c:v>6.6</c:v>
                </c:pt>
                <c:pt idx="522">
                  <c:v>6.5</c:v>
                </c:pt>
                <c:pt idx="523">
                  <c:v>6.3</c:v>
                </c:pt>
                <c:pt idx="524">
                  <c:v>6.5</c:v>
                </c:pt>
                <c:pt idx="525">
                  <c:v>6.4</c:v>
                </c:pt>
                <c:pt idx="526">
                  <c:v>6.6</c:v>
                </c:pt>
                <c:pt idx="527">
                  <c:v>6.7</c:v>
                </c:pt>
                <c:pt idx="528">
                  <c:v>6.9</c:v>
                </c:pt>
                <c:pt idx="529">
                  <c:v>6.7</c:v>
                </c:pt>
                <c:pt idx="530">
                  <c:v>6.9</c:v>
                </c:pt>
                <c:pt idx="531">
                  <c:v>6.9</c:v>
                </c:pt>
                <c:pt idx="532">
                  <c:v>6.9</c:v>
                </c:pt>
                <c:pt idx="533">
                  <c:v>7.1</c:v>
                </c:pt>
                <c:pt idx="534">
                  <c:v>7.3</c:v>
                </c:pt>
                <c:pt idx="535">
                  <c:v>7.3</c:v>
                </c:pt>
                <c:pt idx="536">
                  <c:v>7.2</c:v>
                </c:pt>
                <c:pt idx="537">
                  <c:v>7.2</c:v>
                </c:pt>
                <c:pt idx="538">
                  <c:v>6.8</c:v>
                </c:pt>
                <c:pt idx="539">
                  <c:v>7</c:v>
                </c:pt>
                <c:pt idx="540">
                  <c:v>7.2</c:v>
                </c:pt>
                <c:pt idx="541">
                  <c:v>7</c:v>
                </c:pt>
                <c:pt idx="542">
                  <c:v>6.9</c:v>
                </c:pt>
                <c:pt idx="543">
                  <c:v>6.5</c:v>
                </c:pt>
                <c:pt idx="544">
                  <c:v>6.7</c:v>
                </c:pt>
                <c:pt idx="545">
                  <c:v>6.8</c:v>
                </c:pt>
                <c:pt idx="546">
                  <c:v>6.7</c:v>
                </c:pt>
                <c:pt idx="547">
                  <c:v>6.5</c:v>
                </c:pt>
                <c:pt idx="548">
                  <c:v>6.4</c:v>
                </c:pt>
                <c:pt idx="549">
                  <c:v>6.4</c:v>
                </c:pt>
                <c:pt idx="550">
                  <c:v>6.5</c:v>
                </c:pt>
                <c:pt idx="551">
                  <c:v>6.5</c:v>
                </c:pt>
                <c:pt idx="552">
                  <c:v>6.4</c:v>
                </c:pt>
                <c:pt idx="553">
                  <c:v>6.4</c:v>
                </c:pt>
                <c:pt idx="554">
                  <c:v>6.4</c:v>
                </c:pt>
                <c:pt idx="555">
                  <c:v>6.5</c:v>
                </c:pt>
                <c:pt idx="556">
                  <c:v>6.3</c:v>
                </c:pt>
                <c:pt idx="557">
                  <c:v>6</c:v>
                </c:pt>
                <c:pt idx="558">
                  <c:v>6.1</c:v>
                </c:pt>
                <c:pt idx="559">
                  <c:v>5.9</c:v>
                </c:pt>
                <c:pt idx="560">
                  <c:v>6</c:v>
                </c:pt>
                <c:pt idx="561">
                  <c:v>5.9</c:v>
                </c:pt>
                <c:pt idx="562">
                  <c:v>5.7</c:v>
                </c:pt>
                <c:pt idx="563">
                  <c:v>5.6</c:v>
                </c:pt>
                <c:pt idx="564">
                  <c:v>5.5</c:v>
                </c:pt>
                <c:pt idx="565">
                  <c:v>5.6</c:v>
                </c:pt>
                <c:pt idx="566">
                  <c:v>5.5</c:v>
                </c:pt>
                <c:pt idx="567">
                  <c:v>5.5</c:v>
                </c:pt>
                <c:pt idx="568">
                  <c:v>5.9</c:v>
                </c:pt>
                <c:pt idx="569">
                  <c:v>5.5</c:v>
                </c:pt>
                <c:pt idx="570">
                  <c:v>5.7</c:v>
                </c:pt>
                <c:pt idx="571">
                  <c:v>5.8</c:v>
                </c:pt>
                <c:pt idx="572">
                  <c:v>5.6</c:v>
                </c:pt>
                <c:pt idx="573">
                  <c:v>5.7</c:v>
                </c:pt>
                <c:pt idx="574">
                  <c:v>5.7</c:v>
                </c:pt>
                <c:pt idx="575">
                  <c:v>5.5</c:v>
                </c:pt>
                <c:pt idx="576">
                  <c:v>5.5</c:v>
                </c:pt>
                <c:pt idx="577">
                  <c:v>5.8</c:v>
                </c:pt>
                <c:pt idx="578">
                  <c:v>5.4</c:v>
                </c:pt>
                <c:pt idx="579">
                  <c:v>5.3</c:v>
                </c:pt>
                <c:pt idx="580">
                  <c:v>5.5</c:v>
                </c:pt>
                <c:pt idx="581">
                  <c:v>5.5</c:v>
                </c:pt>
                <c:pt idx="582">
                  <c:v>5.3</c:v>
                </c:pt>
                <c:pt idx="583">
                  <c:v>5.4</c:v>
                </c:pt>
                <c:pt idx="584">
                  <c:v>5.3</c:v>
                </c:pt>
                <c:pt idx="585">
                  <c:v>5.2</c:v>
                </c:pt>
                <c:pt idx="586">
                  <c:v>5.4</c:v>
                </c:pt>
                <c:pt idx="587">
                  <c:v>5.4</c:v>
                </c:pt>
                <c:pt idx="588">
                  <c:v>5.7</c:v>
                </c:pt>
                <c:pt idx="589">
                  <c:v>5.3</c:v>
                </c:pt>
                <c:pt idx="590">
                  <c:v>5.4</c:v>
                </c:pt>
                <c:pt idx="591">
                  <c:v>5.2</c:v>
                </c:pt>
                <c:pt idx="592">
                  <c:v>5</c:v>
                </c:pt>
                <c:pt idx="593">
                  <c:v>5.2</c:v>
                </c:pt>
                <c:pt idx="594">
                  <c:v>5</c:v>
                </c:pt>
                <c:pt idx="595">
                  <c:v>5</c:v>
                </c:pt>
                <c:pt idx="596">
                  <c:v>4.9000000000000004</c:v>
                </c:pt>
                <c:pt idx="597">
                  <c:v>5</c:v>
                </c:pt>
                <c:pt idx="598">
                  <c:v>4.7</c:v>
                </c:pt>
                <c:pt idx="599">
                  <c:v>4.7</c:v>
                </c:pt>
                <c:pt idx="600">
                  <c:v>4.8</c:v>
                </c:pt>
                <c:pt idx="601">
                  <c:v>4.8</c:v>
                </c:pt>
                <c:pt idx="602">
                  <c:v>4.8</c:v>
                </c:pt>
                <c:pt idx="603">
                  <c:v>4.8</c:v>
                </c:pt>
                <c:pt idx="604">
                  <c:v>4.5999999999999996</c:v>
                </c:pt>
                <c:pt idx="605">
                  <c:v>4.5</c:v>
                </c:pt>
                <c:pt idx="606">
                  <c:v>4.5999999999999996</c:v>
                </c:pt>
                <c:pt idx="607">
                  <c:v>4.5</c:v>
                </c:pt>
                <c:pt idx="608">
                  <c:v>4.5999999999999996</c:v>
                </c:pt>
                <c:pt idx="609">
                  <c:v>4.5999999999999996</c:v>
                </c:pt>
                <c:pt idx="610">
                  <c:v>4.7</c:v>
                </c:pt>
                <c:pt idx="611">
                  <c:v>4.5999999999999996</c:v>
                </c:pt>
                <c:pt idx="612">
                  <c:v>4.4000000000000004</c:v>
                </c:pt>
                <c:pt idx="613">
                  <c:v>4.4000000000000004</c:v>
                </c:pt>
                <c:pt idx="614">
                  <c:v>4.5</c:v>
                </c:pt>
                <c:pt idx="615">
                  <c:v>4.4000000000000004</c:v>
                </c:pt>
                <c:pt idx="616">
                  <c:v>4.5999999999999996</c:v>
                </c:pt>
                <c:pt idx="617">
                  <c:v>4.2</c:v>
                </c:pt>
                <c:pt idx="618">
                  <c:v>4.4000000000000004</c:v>
                </c:pt>
                <c:pt idx="619">
                  <c:v>4.5</c:v>
                </c:pt>
                <c:pt idx="620">
                  <c:v>4.3</c:v>
                </c:pt>
                <c:pt idx="621">
                  <c:v>4.4000000000000004</c:v>
                </c:pt>
                <c:pt idx="622">
                  <c:v>4.0999999999999996</c:v>
                </c:pt>
                <c:pt idx="623">
                  <c:v>4.2</c:v>
                </c:pt>
                <c:pt idx="624">
                  <c:v>4.0999999999999996</c:v>
                </c:pt>
                <c:pt idx="625">
                  <c:v>4.0999999999999996</c:v>
                </c:pt>
                <c:pt idx="626">
                  <c:v>4.0999999999999996</c:v>
                </c:pt>
                <c:pt idx="627">
                  <c:v>4.3</c:v>
                </c:pt>
                <c:pt idx="628">
                  <c:v>4</c:v>
                </c:pt>
                <c:pt idx="629">
                  <c:v>4.2</c:v>
                </c:pt>
                <c:pt idx="630">
                  <c:v>4.0999999999999996</c:v>
                </c:pt>
                <c:pt idx="631">
                  <c:v>4.2</c:v>
                </c:pt>
                <c:pt idx="632">
                  <c:v>4.3</c:v>
                </c:pt>
                <c:pt idx="633">
                  <c:v>4</c:v>
                </c:pt>
                <c:pt idx="634">
                  <c:v>3.9</c:v>
                </c:pt>
                <c:pt idx="635">
                  <c:v>4</c:v>
                </c:pt>
                <c:pt idx="636">
                  <c:v>3.8</c:v>
                </c:pt>
                <c:pt idx="637">
                  <c:v>4.0999999999999996</c:v>
                </c:pt>
                <c:pt idx="638">
                  <c:v>4.2</c:v>
                </c:pt>
                <c:pt idx="639">
                  <c:v>4.2</c:v>
                </c:pt>
                <c:pt idx="640">
                  <c:v>4.3</c:v>
                </c:pt>
                <c:pt idx="641">
                  <c:v>4.2</c:v>
                </c:pt>
                <c:pt idx="642">
                  <c:v>4.4000000000000004</c:v>
                </c:pt>
                <c:pt idx="643">
                  <c:v>4.5</c:v>
                </c:pt>
                <c:pt idx="644">
                  <c:v>4.8</c:v>
                </c:pt>
                <c:pt idx="645">
                  <c:v>5</c:v>
                </c:pt>
                <c:pt idx="646">
                  <c:v>5.2</c:v>
                </c:pt>
                <c:pt idx="647">
                  <c:v>5.4</c:v>
                </c:pt>
                <c:pt idx="648">
                  <c:v>5.7</c:v>
                </c:pt>
                <c:pt idx="649">
                  <c:v>5.5</c:v>
                </c:pt>
                <c:pt idx="650">
                  <c:v>5.5</c:v>
                </c:pt>
                <c:pt idx="651">
                  <c:v>5.6</c:v>
                </c:pt>
                <c:pt idx="652">
                  <c:v>5.9</c:v>
                </c:pt>
                <c:pt idx="653">
                  <c:v>5.7</c:v>
                </c:pt>
                <c:pt idx="654">
                  <c:v>5.6</c:v>
                </c:pt>
                <c:pt idx="655">
                  <c:v>5.7</c:v>
                </c:pt>
                <c:pt idx="656">
                  <c:v>5.5</c:v>
                </c:pt>
                <c:pt idx="657">
                  <c:v>5.5</c:v>
                </c:pt>
                <c:pt idx="658">
                  <c:v>5.6</c:v>
                </c:pt>
                <c:pt idx="659">
                  <c:v>5.6</c:v>
                </c:pt>
                <c:pt idx="660">
                  <c:v>5.7</c:v>
                </c:pt>
                <c:pt idx="661">
                  <c:v>5.4</c:v>
                </c:pt>
                <c:pt idx="662">
                  <c:v>5.6</c:v>
                </c:pt>
                <c:pt idx="663">
                  <c:v>5.7</c:v>
                </c:pt>
                <c:pt idx="664">
                  <c:v>5.7</c:v>
                </c:pt>
                <c:pt idx="665">
                  <c:v>5.7</c:v>
                </c:pt>
                <c:pt idx="666">
                  <c:v>5.9</c:v>
                </c:pt>
                <c:pt idx="667">
                  <c:v>5.7</c:v>
                </c:pt>
                <c:pt idx="668">
                  <c:v>5.8</c:v>
                </c:pt>
                <c:pt idx="669">
                  <c:v>5.8</c:v>
                </c:pt>
                <c:pt idx="670">
                  <c:v>5.7</c:v>
                </c:pt>
                <c:pt idx="671">
                  <c:v>5.4</c:v>
                </c:pt>
                <c:pt idx="672">
                  <c:v>5.6</c:v>
                </c:pt>
                <c:pt idx="673">
                  <c:v>5.7</c:v>
                </c:pt>
                <c:pt idx="674">
                  <c:v>5.5</c:v>
                </c:pt>
                <c:pt idx="675">
                  <c:v>5.8</c:v>
                </c:pt>
                <c:pt idx="676">
                  <c:v>5.4</c:v>
                </c:pt>
                <c:pt idx="677">
                  <c:v>5.4</c:v>
                </c:pt>
                <c:pt idx="678">
                  <c:v>5.6</c:v>
                </c:pt>
                <c:pt idx="679">
                  <c:v>5.5</c:v>
                </c:pt>
                <c:pt idx="680">
                  <c:v>5.2</c:v>
                </c:pt>
                <c:pt idx="681">
                  <c:v>5.2</c:v>
                </c:pt>
                <c:pt idx="682">
                  <c:v>5.3</c:v>
                </c:pt>
                <c:pt idx="683">
                  <c:v>5.2</c:v>
                </c:pt>
                <c:pt idx="684">
                  <c:v>5.0999999999999996</c:v>
                </c:pt>
                <c:pt idx="685">
                  <c:v>5.0999999999999996</c:v>
                </c:pt>
                <c:pt idx="686">
                  <c:v>5.3</c:v>
                </c:pt>
                <c:pt idx="687">
                  <c:v>5.0999999999999996</c:v>
                </c:pt>
                <c:pt idx="688">
                  <c:v>5.2</c:v>
                </c:pt>
                <c:pt idx="689">
                  <c:v>5.2</c:v>
                </c:pt>
                <c:pt idx="690">
                  <c:v>5.0999999999999996</c:v>
                </c:pt>
                <c:pt idx="691">
                  <c:v>5.0999999999999996</c:v>
                </c:pt>
                <c:pt idx="692">
                  <c:v>4.9000000000000004</c:v>
                </c:pt>
                <c:pt idx="693">
                  <c:v>5.0999999999999996</c:v>
                </c:pt>
                <c:pt idx="694">
                  <c:v>5.0999999999999996</c:v>
                </c:pt>
                <c:pt idx="695">
                  <c:v>5.0999999999999996</c:v>
                </c:pt>
                <c:pt idx="696">
                  <c:v>4.9000000000000004</c:v>
                </c:pt>
                <c:pt idx="697">
                  <c:v>4.8</c:v>
                </c:pt>
                <c:pt idx="698">
                  <c:v>4.8</c:v>
                </c:pt>
                <c:pt idx="699">
                  <c:v>4.7</c:v>
                </c:pt>
                <c:pt idx="700">
                  <c:v>4.7</c:v>
                </c:pt>
                <c:pt idx="701">
                  <c:v>4.5</c:v>
                </c:pt>
                <c:pt idx="702">
                  <c:v>4.5999999999999996</c:v>
                </c:pt>
                <c:pt idx="703">
                  <c:v>4.7</c:v>
                </c:pt>
                <c:pt idx="704">
                  <c:v>4.5999999999999996</c:v>
                </c:pt>
                <c:pt idx="705">
                  <c:v>4.7</c:v>
                </c:pt>
                <c:pt idx="706">
                  <c:v>4.4000000000000004</c:v>
                </c:pt>
                <c:pt idx="707">
                  <c:v>4.5</c:v>
                </c:pt>
                <c:pt idx="708">
                  <c:v>4.4000000000000004</c:v>
                </c:pt>
                <c:pt idx="709">
                  <c:v>4.5</c:v>
                </c:pt>
                <c:pt idx="710">
                  <c:v>4.3</c:v>
                </c:pt>
                <c:pt idx="711">
                  <c:v>4.3</c:v>
                </c:pt>
                <c:pt idx="712">
                  <c:v>4.4000000000000004</c:v>
                </c:pt>
                <c:pt idx="713">
                  <c:v>4.3</c:v>
                </c:pt>
                <c:pt idx="714">
                  <c:v>4.4000000000000004</c:v>
                </c:pt>
                <c:pt idx="715">
                  <c:v>4.5999999999999996</c:v>
                </c:pt>
                <c:pt idx="716">
                  <c:v>4.5999999999999996</c:v>
                </c:pt>
                <c:pt idx="717">
                  <c:v>4.5</c:v>
                </c:pt>
                <c:pt idx="718">
                  <c:v>4.5999999999999996</c:v>
                </c:pt>
                <c:pt idx="719">
                  <c:v>4.5999999999999996</c:v>
                </c:pt>
                <c:pt idx="720">
                  <c:v>4.9000000000000004</c:v>
                </c:pt>
                <c:pt idx="721">
                  <c:v>4.8</c:v>
                </c:pt>
                <c:pt idx="722">
                  <c:v>4.7</c:v>
                </c:pt>
                <c:pt idx="723">
                  <c:v>5</c:v>
                </c:pt>
                <c:pt idx="724">
                  <c:v>4.8</c:v>
                </c:pt>
                <c:pt idx="725">
                  <c:v>5.2</c:v>
                </c:pt>
                <c:pt idx="726">
                  <c:v>5.3</c:v>
                </c:pt>
                <c:pt idx="727">
                  <c:v>5.3</c:v>
                </c:pt>
                <c:pt idx="728">
                  <c:v>5.9</c:v>
                </c:pt>
                <c:pt idx="729">
                  <c:v>5.5</c:v>
                </c:pt>
                <c:pt idx="730">
                  <c:v>5.9</c:v>
                </c:pt>
                <c:pt idx="731">
                  <c:v>6.2</c:v>
                </c:pt>
                <c:pt idx="732">
                  <c:v>6.5</c:v>
                </c:pt>
                <c:pt idx="733">
                  <c:v>7</c:v>
                </c:pt>
                <c:pt idx="734">
                  <c:v>7.3</c:v>
                </c:pt>
                <c:pt idx="735">
                  <c:v>7.6</c:v>
                </c:pt>
                <c:pt idx="736">
                  <c:v>7.6</c:v>
                </c:pt>
                <c:pt idx="737">
                  <c:v>8</c:v>
                </c:pt>
                <c:pt idx="738">
                  <c:v>8.3000000000000007</c:v>
                </c:pt>
                <c:pt idx="739">
                  <c:v>8.3000000000000007</c:v>
                </c:pt>
                <c:pt idx="740">
                  <c:v>8.3000000000000007</c:v>
                </c:pt>
                <c:pt idx="741">
                  <c:v>8.4</c:v>
                </c:pt>
                <c:pt idx="742">
                  <c:v>8.7000000000000011</c:v>
                </c:pt>
                <c:pt idx="743">
                  <c:v>8.6</c:v>
                </c:pt>
                <c:pt idx="744">
                  <c:v>8.7000000000000011</c:v>
                </c:pt>
                <c:pt idx="745">
                  <c:v>8.4</c:v>
                </c:pt>
                <c:pt idx="746">
                  <c:v>8.6</c:v>
                </c:pt>
                <c:pt idx="747">
                  <c:v>8.6</c:v>
                </c:pt>
                <c:pt idx="748">
                  <c:v>8.8000000000000007</c:v>
                </c:pt>
                <c:pt idx="749">
                  <c:v>8.8000000000000007</c:v>
                </c:pt>
                <c:pt idx="750">
                  <c:v>8.3000000000000007</c:v>
                </c:pt>
                <c:pt idx="751">
                  <c:v>8.5</c:v>
                </c:pt>
                <c:pt idx="752">
                  <c:v>8.6</c:v>
                </c:pt>
                <c:pt idx="753">
                  <c:v>8.5</c:v>
                </c:pt>
                <c:pt idx="754">
                  <c:v>8.8000000000000007</c:v>
                </c:pt>
                <c:pt idx="755">
                  <c:v>9</c:v>
                </c:pt>
                <c:pt idx="756">
                  <c:v>8.6</c:v>
                </c:pt>
                <c:pt idx="757">
                  <c:v>8.5</c:v>
                </c:pt>
                <c:pt idx="758">
                  <c:v>8.5</c:v>
                </c:pt>
                <c:pt idx="759">
                  <c:v>8.3000000000000007</c:v>
                </c:pt>
                <c:pt idx="760">
                  <c:v>8.4</c:v>
                </c:pt>
                <c:pt idx="761">
                  <c:v>8.5</c:v>
                </c:pt>
                <c:pt idx="762">
                  <c:v>8.5</c:v>
                </c:pt>
                <c:pt idx="763">
                  <c:v>8.5</c:v>
                </c:pt>
                <c:pt idx="764">
                  <c:v>8.5</c:v>
                </c:pt>
                <c:pt idx="765">
                  <c:v>8.6</c:v>
                </c:pt>
                <c:pt idx="766">
                  <c:v>8.4</c:v>
                </c:pt>
                <c:pt idx="767">
                  <c:v>8.3000000000000007</c:v>
                </c:pt>
                <c:pt idx="768">
                  <c:v>8.3000000000000007</c:v>
                </c:pt>
              </c:numCache>
            </c:numRef>
          </c:val>
        </c:ser>
        <c:marker val="1"/>
        <c:axId val="99644544"/>
        <c:axId val="99646080"/>
      </c:lineChart>
      <c:dateAx>
        <c:axId val="99644544"/>
        <c:scaling>
          <c:orientation val="minMax"/>
          <c:max val="40878"/>
          <c:min val="17533"/>
        </c:scaling>
        <c:axPos val="b"/>
        <c:numFmt formatCode="yyyy;@" sourceLinked="0"/>
        <c:tickLblPos val="nextTo"/>
        <c:txPr>
          <a:bodyPr/>
          <a:lstStyle/>
          <a:p>
            <a:pPr>
              <a:defRPr>
                <a:latin typeface="Arial" pitchFamily="34" charset="0"/>
                <a:cs typeface="Arial" pitchFamily="34" charset="0"/>
              </a:defRPr>
            </a:pPr>
            <a:endParaRPr lang="en-US"/>
          </a:p>
        </c:txPr>
        <c:crossAx val="99646080"/>
        <c:crosses val="autoZero"/>
        <c:lblOffset val="100"/>
        <c:baseTimeUnit val="months"/>
        <c:majorUnit val="12"/>
        <c:majorTimeUnit val="months"/>
      </c:dateAx>
      <c:valAx>
        <c:axId val="99646080"/>
        <c:scaling>
          <c:orientation val="minMax"/>
        </c:scaling>
        <c:axPos val="l"/>
        <c:majorGridlines/>
        <c:numFmt formatCode="#,##0.0" sourceLinked="0"/>
        <c:tickLblPos val="nextTo"/>
        <c:crossAx val="99644544"/>
        <c:crosses val="autoZero"/>
        <c:crossBetween val="between"/>
      </c:valAx>
    </c:plotArea>
    <c:legend>
      <c:legendPos val="b"/>
      <c:layout>
        <c:manualLayout>
          <c:xMode val="edge"/>
          <c:yMode val="edge"/>
          <c:x val="0.39546494188226766"/>
          <c:y val="0.90715150189559635"/>
          <c:w val="0.22587672864421288"/>
          <c:h val="9.2848498104403765E-2"/>
        </c:manualLayout>
      </c:layout>
    </c:legend>
    <c:plotVisOnly val="1"/>
  </c:chart>
  <c:externalData r:id="rId1"/>
</c:chartSpace>
</file>

<file path=ppt/charts/chart14.xml><?xml version="1.0" encoding="utf-8"?>
<c:chartSpace xmlns:c="http://schemas.openxmlformats.org/drawingml/2006/chart" xmlns:a="http://schemas.openxmlformats.org/drawingml/2006/main" xmlns:r="http://schemas.openxmlformats.org/officeDocument/2006/relationships">
  <c:date1904 val="1"/>
  <c:lang val="en-US"/>
  <c:style val="8"/>
  <c:chart>
    <c:autoTitleDeleted val="1"/>
    <c:plotArea>
      <c:layout>
        <c:manualLayout>
          <c:layoutTarget val="inner"/>
          <c:xMode val="edge"/>
          <c:yMode val="edge"/>
          <c:x val="6.3380408870909483E-2"/>
          <c:y val="5.2998687664042178E-2"/>
          <c:w val="0.91980001926364763"/>
          <c:h val="0.80337349876719955"/>
        </c:manualLayout>
      </c:layout>
      <c:barChart>
        <c:barDir val="col"/>
        <c:grouping val="clustered"/>
        <c:ser>
          <c:idx val="0"/>
          <c:order val="0"/>
          <c:tx>
            <c:strRef>
              <c:f>Data!$B$2</c:f>
              <c:strCache>
                <c:ptCount val="1"/>
                <c:pt idx="0">
                  <c:v>Unemployment Rate</c:v>
                </c:pt>
              </c:strCache>
            </c:strRef>
          </c:tx>
          <c:cat>
            <c:strRef>
              <c:f>Data!$A$3:$A$9</c:f>
              <c:strCache>
                <c:ptCount val="7"/>
                <c:pt idx="0">
                  <c:v>16 to 19 yrs</c:v>
                </c:pt>
                <c:pt idx="1">
                  <c:v>20 to 24 yrs</c:v>
                </c:pt>
                <c:pt idx="2">
                  <c:v>25 to 34 yrs</c:v>
                </c:pt>
                <c:pt idx="3">
                  <c:v>35 to 44 yrs</c:v>
                </c:pt>
                <c:pt idx="4">
                  <c:v>45 to 54 yrs</c:v>
                </c:pt>
                <c:pt idx="5">
                  <c:v>55 to 64 yrs</c:v>
                </c:pt>
                <c:pt idx="6">
                  <c:v>65 years and over</c:v>
                </c:pt>
              </c:strCache>
            </c:strRef>
          </c:cat>
          <c:val>
            <c:numRef>
              <c:f>Data!$B$3:$B$9</c:f>
              <c:numCache>
                <c:formatCode>General</c:formatCode>
                <c:ptCount val="7"/>
                <c:pt idx="0">
                  <c:v>22.9</c:v>
                </c:pt>
                <c:pt idx="1">
                  <c:v>12.5</c:v>
                </c:pt>
                <c:pt idx="2">
                  <c:v>8.7000000000000011</c:v>
                </c:pt>
                <c:pt idx="3">
                  <c:v>6.5</c:v>
                </c:pt>
                <c:pt idx="4">
                  <c:v>5.5</c:v>
                </c:pt>
                <c:pt idx="5">
                  <c:v>3.9</c:v>
                </c:pt>
                <c:pt idx="6">
                  <c:v>4.4000000000000004</c:v>
                </c:pt>
              </c:numCache>
            </c:numRef>
          </c:val>
        </c:ser>
        <c:dLbls>
          <c:showVal val="1"/>
        </c:dLbls>
        <c:gapWidth val="75"/>
        <c:axId val="99686656"/>
        <c:axId val="99696640"/>
      </c:barChart>
      <c:catAx>
        <c:axId val="99686656"/>
        <c:scaling>
          <c:orientation val="minMax"/>
        </c:scaling>
        <c:axPos val="b"/>
        <c:numFmt formatCode="@" sourceLinked="0"/>
        <c:majorTickMark val="none"/>
        <c:tickLblPos val="nextTo"/>
        <c:txPr>
          <a:bodyPr rot="0" vert="horz"/>
          <a:lstStyle/>
          <a:p>
            <a:pPr>
              <a:defRPr sz="1600"/>
            </a:pPr>
            <a:endParaRPr lang="en-US"/>
          </a:p>
        </c:txPr>
        <c:crossAx val="99696640"/>
        <c:crosses val="autoZero"/>
        <c:auto val="1"/>
        <c:lblAlgn val="ctr"/>
        <c:lblOffset val="100"/>
      </c:catAx>
      <c:valAx>
        <c:axId val="99696640"/>
        <c:scaling>
          <c:orientation val="minMax"/>
        </c:scaling>
        <c:axPos val="l"/>
        <c:numFmt formatCode="General" sourceLinked="1"/>
        <c:majorTickMark val="none"/>
        <c:tickLblPos val="nextTo"/>
        <c:crossAx val="99686656"/>
        <c:crosses val="autoZero"/>
        <c:crossBetween val="between"/>
      </c:valAx>
    </c:plotArea>
    <c:plotVisOnly val="1"/>
  </c:chart>
  <c:txPr>
    <a:bodyPr/>
    <a:lstStyle/>
    <a:p>
      <a:pPr>
        <a:defRPr sz="1800"/>
      </a:pPr>
      <a:endParaRPr lang="en-US"/>
    </a:p>
  </c:txPr>
  <c:externalData r:id="rId1"/>
</c:chartSpace>
</file>

<file path=ppt/charts/chart15.xml><?xml version="1.0" encoding="utf-8"?>
<c:chartSpace xmlns:c="http://schemas.openxmlformats.org/drawingml/2006/chart" xmlns:a="http://schemas.openxmlformats.org/drawingml/2006/main" xmlns:r="http://schemas.openxmlformats.org/officeDocument/2006/relationships">
  <c:date1904 val="1"/>
  <c:lang val="en-US"/>
  <c:style val="7"/>
  <c:chart>
    <c:title>
      <c:tx>
        <c:rich>
          <a:bodyPr/>
          <a:lstStyle/>
          <a:p>
            <a:pPr>
              <a:defRPr/>
            </a:pPr>
            <a:r>
              <a:rPr lang="en-US" dirty="0"/>
              <a:t> Race and Hispanic or </a:t>
            </a:r>
            <a:r>
              <a:rPr lang="en-US" dirty="0" smtClean="0"/>
              <a:t>Latino </a:t>
            </a:r>
            <a:r>
              <a:rPr lang="en-US" dirty="0"/>
              <a:t>Origin</a:t>
            </a:r>
          </a:p>
        </c:rich>
      </c:tx>
    </c:title>
    <c:plotArea>
      <c:layout/>
      <c:barChart>
        <c:barDir val="bar"/>
        <c:grouping val="clustered"/>
        <c:ser>
          <c:idx val="0"/>
          <c:order val="0"/>
          <c:tx>
            <c:strRef>
              <c:f>Chart!$A$1</c:f>
              <c:strCache>
                <c:ptCount val="1"/>
                <c:pt idx="0">
                  <c:v>Race and Hispanic or Lationo Origin</c:v>
                </c:pt>
              </c:strCache>
            </c:strRef>
          </c:tx>
          <c:spPr>
            <a:solidFill>
              <a:srgbClr val="009999"/>
            </a:solidFill>
          </c:spPr>
          <c:dLbls>
            <c:numFmt formatCode="0.0%" sourceLinked="0"/>
            <c:txPr>
              <a:bodyPr/>
              <a:lstStyle/>
              <a:p>
                <a:pPr>
                  <a:defRPr sz="1200" baseline="0"/>
                </a:pPr>
                <a:endParaRPr lang="en-US"/>
              </a:p>
            </c:txPr>
            <c:showVal val="1"/>
          </c:dLbls>
          <c:cat>
            <c:strRef>
              <c:f>Chart!$A$2:$A$10</c:f>
              <c:strCache>
                <c:ptCount val="9"/>
                <c:pt idx="0">
                  <c:v>White, one race</c:v>
                </c:pt>
                <c:pt idx="1">
                  <c:v>Black or African American, one race</c:v>
                </c:pt>
                <c:pt idx="2">
                  <c:v>American Indian and Alaska Native, one race</c:v>
                </c:pt>
                <c:pt idx="3">
                  <c:v>Asian, one race</c:v>
                </c:pt>
                <c:pt idx="4">
                  <c:v>Some other race</c:v>
                </c:pt>
                <c:pt idx="5">
                  <c:v>Two or more races</c:v>
                </c:pt>
                <c:pt idx="6">
                  <c:v>Hispanic or Latino origin (of any race)</c:v>
                </c:pt>
                <c:pt idx="7">
                  <c:v>White alone, not Hispanic or Latino</c:v>
                </c:pt>
                <c:pt idx="8">
                  <c:v>Population 20 to 64 years</c:v>
                </c:pt>
              </c:strCache>
            </c:strRef>
          </c:cat>
          <c:val>
            <c:numRef>
              <c:f>Chart!$B$2:$B$10</c:f>
              <c:numCache>
                <c:formatCode>0.0%</c:formatCode>
                <c:ptCount val="9"/>
                <c:pt idx="0">
                  <c:v>8.6000000000000021E-2</c:v>
                </c:pt>
                <c:pt idx="1">
                  <c:v>9.2000000000000026E-2</c:v>
                </c:pt>
                <c:pt idx="2">
                  <c:v>0.14400000000000004</c:v>
                </c:pt>
                <c:pt idx="3">
                  <c:v>8.8000000000000064E-2</c:v>
                </c:pt>
                <c:pt idx="4">
                  <c:v>0.11600000000000002</c:v>
                </c:pt>
                <c:pt idx="5">
                  <c:v>0.111</c:v>
                </c:pt>
                <c:pt idx="6">
                  <c:v>0.113</c:v>
                </c:pt>
                <c:pt idx="7">
                  <c:v>7.1999999999999995E-2</c:v>
                </c:pt>
                <c:pt idx="8">
                  <c:v>9.0000000000000024E-2</c:v>
                </c:pt>
              </c:numCache>
            </c:numRef>
          </c:val>
        </c:ser>
        <c:dLbls>
          <c:showVal val="1"/>
        </c:dLbls>
        <c:gapWidth val="75"/>
        <c:axId val="99819904"/>
        <c:axId val="99821440"/>
      </c:barChart>
      <c:catAx>
        <c:axId val="99819904"/>
        <c:scaling>
          <c:orientation val="maxMin"/>
        </c:scaling>
        <c:axPos val="l"/>
        <c:majorTickMark val="none"/>
        <c:tickLblPos val="nextTo"/>
        <c:txPr>
          <a:bodyPr/>
          <a:lstStyle/>
          <a:p>
            <a:pPr>
              <a:defRPr sz="1200"/>
            </a:pPr>
            <a:endParaRPr lang="en-US"/>
          </a:p>
        </c:txPr>
        <c:crossAx val="99821440"/>
        <c:crosses val="autoZero"/>
        <c:auto val="1"/>
        <c:lblAlgn val="ctr"/>
        <c:lblOffset val="100"/>
        <c:tickLblSkip val="1"/>
      </c:catAx>
      <c:valAx>
        <c:axId val="99821440"/>
        <c:scaling>
          <c:orientation val="minMax"/>
        </c:scaling>
        <c:delete val="1"/>
        <c:axPos val="t"/>
        <c:numFmt formatCode="0.0%" sourceLinked="1"/>
        <c:majorTickMark val="none"/>
        <c:tickLblPos val="none"/>
        <c:crossAx val="99819904"/>
        <c:crossesAt val="1"/>
        <c:crossBetween val="between"/>
      </c:valAx>
    </c:plotArea>
    <c:plotVisOnly val="1"/>
  </c:chart>
  <c:externalData r:id="rId1"/>
</c:chartSpace>
</file>

<file path=ppt/charts/chart16.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7.0731904550663624E-2"/>
          <c:y val="8.0933668121206268E-2"/>
          <c:w val="0.89319248826290876"/>
          <c:h val="0.84089979550102434"/>
        </c:manualLayout>
      </c:layout>
      <c:lineChart>
        <c:grouping val="standard"/>
        <c:ser>
          <c:idx val="0"/>
          <c:order val="0"/>
          <c:tx>
            <c:v>Employment Recovery</c:v>
          </c:tx>
          <c:marker>
            <c:symbol val="none"/>
          </c:marker>
          <c:cat>
            <c:numRef>
              <c:f>'ces and projected'!$A$1:$A$122</c:f>
              <c:numCache>
                <c:formatCode>mmm\-yy</c:formatCode>
                <c:ptCount val="122"/>
                <c:pt idx="0">
                  <c:v>39417</c:v>
                </c:pt>
                <c:pt idx="1">
                  <c:v>39448</c:v>
                </c:pt>
                <c:pt idx="2">
                  <c:v>39479</c:v>
                </c:pt>
                <c:pt idx="3">
                  <c:v>39508</c:v>
                </c:pt>
                <c:pt idx="4">
                  <c:v>39539</c:v>
                </c:pt>
                <c:pt idx="5">
                  <c:v>39569</c:v>
                </c:pt>
                <c:pt idx="6">
                  <c:v>39600</c:v>
                </c:pt>
                <c:pt idx="7">
                  <c:v>39630</c:v>
                </c:pt>
                <c:pt idx="8">
                  <c:v>39661</c:v>
                </c:pt>
                <c:pt idx="9">
                  <c:v>39692</c:v>
                </c:pt>
                <c:pt idx="10">
                  <c:v>39722</c:v>
                </c:pt>
                <c:pt idx="11">
                  <c:v>39753</c:v>
                </c:pt>
                <c:pt idx="12">
                  <c:v>39783</c:v>
                </c:pt>
                <c:pt idx="13">
                  <c:v>39814</c:v>
                </c:pt>
                <c:pt idx="14">
                  <c:v>39845</c:v>
                </c:pt>
                <c:pt idx="15">
                  <c:v>39873</c:v>
                </c:pt>
                <c:pt idx="16">
                  <c:v>39904</c:v>
                </c:pt>
                <c:pt idx="17">
                  <c:v>39934</c:v>
                </c:pt>
                <c:pt idx="18">
                  <c:v>39965</c:v>
                </c:pt>
                <c:pt idx="19">
                  <c:v>39995</c:v>
                </c:pt>
                <c:pt idx="20">
                  <c:v>40026</c:v>
                </c:pt>
                <c:pt idx="21">
                  <c:v>40057</c:v>
                </c:pt>
                <c:pt idx="22">
                  <c:v>40087</c:v>
                </c:pt>
                <c:pt idx="23">
                  <c:v>40118</c:v>
                </c:pt>
                <c:pt idx="24">
                  <c:v>40148</c:v>
                </c:pt>
                <c:pt idx="25">
                  <c:v>40179</c:v>
                </c:pt>
                <c:pt idx="26">
                  <c:v>40210</c:v>
                </c:pt>
                <c:pt idx="27">
                  <c:v>40238</c:v>
                </c:pt>
                <c:pt idx="28">
                  <c:v>40269</c:v>
                </c:pt>
                <c:pt idx="29">
                  <c:v>40299</c:v>
                </c:pt>
                <c:pt idx="30">
                  <c:v>40330</c:v>
                </c:pt>
                <c:pt idx="31">
                  <c:v>40360</c:v>
                </c:pt>
                <c:pt idx="32">
                  <c:v>40391</c:v>
                </c:pt>
                <c:pt idx="33">
                  <c:v>40422</c:v>
                </c:pt>
                <c:pt idx="34">
                  <c:v>40452</c:v>
                </c:pt>
                <c:pt idx="35">
                  <c:v>40483</c:v>
                </c:pt>
                <c:pt idx="36">
                  <c:v>40513</c:v>
                </c:pt>
                <c:pt idx="37">
                  <c:v>40544</c:v>
                </c:pt>
                <c:pt idx="38">
                  <c:v>40575</c:v>
                </c:pt>
                <c:pt idx="39">
                  <c:v>40603</c:v>
                </c:pt>
                <c:pt idx="40">
                  <c:v>40634</c:v>
                </c:pt>
                <c:pt idx="41">
                  <c:v>40664</c:v>
                </c:pt>
                <c:pt idx="42">
                  <c:v>40695</c:v>
                </c:pt>
                <c:pt idx="43">
                  <c:v>40725</c:v>
                </c:pt>
                <c:pt idx="44">
                  <c:v>40756</c:v>
                </c:pt>
                <c:pt idx="45">
                  <c:v>40787</c:v>
                </c:pt>
                <c:pt idx="46">
                  <c:v>40817</c:v>
                </c:pt>
                <c:pt idx="47">
                  <c:v>40848</c:v>
                </c:pt>
                <c:pt idx="48">
                  <c:v>40878</c:v>
                </c:pt>
                <c:pt idx="49">
                  <c:v>40909</c:v>
                </c:pt>
                <c:pt idx="50">
                  <c:v>40940</c:v>
                </c:pt>
                <c:pt idx="51">
                  <c:v>40969</c:v>
                </c:pt>
                <c:pt idx="52">
                  <c:v>41000</c:v>
                </c:pt>
                <c:pt idx="53">
                  <c:v>41030</c:v>
                </c:pt>
                <c:pt idx="54">
                  <c:v>41061</c:v>
                </c:pt>
                <c:pt idx="55">
                  <c:v>41091</c:v>
                </c:pt>
                <c:pt idx="56">
                  <c:v>41122</c:v>
                </c:pt>
                <c:pt idx="57">
                  <c:v>41153</c:v>
                </c:pt>
                <c:pt idx="58">
                  <c:v>41183</c:v>
                </c:pt>
                <c:pt idx="59">
                  <c:v>41214</c:v>
                </c:pt>
                <c:pt idx="60">
                  <c:v>41244</c:v>
                </c:pt>
                <c:pt idx="61">
                  <c:v>41275</c:v>
                </c:pt>
                <c:pt idx="62">
                  <c:v>41306</c:v>
                </c:pt>
                <c:pt idx="63">
                  <c:v>41334</c:v>
                </c:pt>
                <c:pt idx="64">
                  <c:v>41365</c:v>
                </c:pt>
                <c:pt idx="65">
                  <c:v>41395</c:v>
                </c:pt>
                <c:pt idx="66">
                  <c:v>41426</c:v>
                </c:pt>
                <c:pt idx="67">
                  <c:v>41456</c:v>
                </c:pt>
                <c:pt idx="68">
                  <c:v>41487</c:v>
                </c:pt>
                <c:pt idx="69">
                  <c:v>41518</c:v>
                </c:pt>
                <c:pt idx="70">
                  <c:v>41548</c:v>
                </c:pt>
                <c:pt idx="71">
                  <c:v>41579</c:v>
                </c:pt>
                <c:pt idx="72">
                  <c:v>41609</c:v>
                </c:pt>
                <c:pt idx="73">
                  <c:v>41640</c:v>
                </c:pt>
                <c:pt idx="74">
                  <c:v>41671</c:v>
                </c:pt>
                <c:pt idx="75">
                  <c:v>41699</c:v>
                </c:pt>
                <c:pt idx="76">
                  <c:v>41730</c:v>
                </c:pt>
                <c:pt idx="77">
                  <c:v>41760</c:v>
                </c:pt>
                <c:pt idx="78">
                  <c:v>41791</c:v>
                </c:pt>
                <c:pt idx="79">
                  <c:v>41821</c:v>
                </c:pt>
                <c:pt idx="80">
                  <c:v>41852</c:v>
                </c:pt>
                <c:pt idx="81">
                  <c:v>41883</c:v>
                </c:pt>
                <c:pt idx="82">
                  <c:v>41913</c:v>
                </c:pt>
                <c:pt idx="83">
                  <c:v>41944</c:v>
                </c:pt>
                <c:pt idx="84">
                  <c:v>41974</c:v>
                </c:pt>
                <c:pt idx="85">
                  <c:v>42005</c:v>
                </c:pt>
                <c:pt idx="86">
                  <c:v>42036</c:v>
                </c:pt>
                <c:pt idx="87">
                  <c:v>42064</c:v>
                </c:pt>
                <c:pt idx="88">
                  <c:v>42095</c:v>
                </c:pt>
                <c:pt idx="89">
                  <c:v>42125</c:v>
                </c:pt>
                <c:pt idx="90">
                  <c:v>42156</c:v>
                </c:pt>
                <c:pt idx="91">
                  <c:v>42186</c:v>
                </c:pt>
                <c:pt idx="92">
                  <c:v>42217</c:v>
                </c:pt>
                <c:pt idx="93">
                  <c:v>42248</c:v>
                </c:pt>
                <c:pt idx="94">
                  <c:v>42278</c:v>
                </c:pt>
                <c:pt idx="95">
                  <c:v>42309</c:v>
                </c:pt>
                <c:pt idx="96">
                  <c:v>42339</c:v>
                </c:pt>
                <c:pt idx="97">
                  <c:v>42370</c:v>
                </c:pt>
                <c:pt idx="98">
                  <c:v>42401</c:v>
                </c:pt>
                <c:pt idx="99">
                  <c:v>42430</c:v>
                </c:pt>
                <c:pt idx="100">
                  <c:v>42461</c:v>
                </c:pt>
                <c:pt idx="101">
                  <c:v>42491</c:v>
                </c:pt>
                <c:pt idx="102">
                  <c:v>42522</c:v>
                </c:pt>
                <c:pt idx="103">
                  <c:v>42552</c:v>
                </c:pt>
                <c:pt idx="104">
                  <c:v>42583</c:v>
                </c:pt>
                <c:pt idx="105">
                  <c:v>42614</c:v>
                </c:pt>
                <c:pt idx="106">
                  <c:v>42644</c:v>
                </c:pt>
                <c:pt idx="107">
                  <c:v>42675</c:v>
                </c:pt>
                <c:pt idx="108">
                  <c:v>42705</c:v>
                </c:pt>
                <c:pt idx="109">
                  <c:v>42736</c:v>
                </c:pt>
                <c:pt idx="110">
                  <c:v>42767</c:v>
                </c:pt>
                <c:pt idx="111">
                  <c:v>42795</c:v>
                </c:pt>
                <c:pt idx="112">
                  <c:v>42826</c:v>
                </c:pt>
                <c:pt idx="113">
                  <c:v>42856</c:v>
                </c:pt>
                <c:pt idx="114">
                  <c:v>42887</c:v>
                </c:pt>
                <c:pt idx="115">
                  <c:v>42917</c:v>
                </c:pt>
                <c:pt idx="116">
                  <c:v>42948</c:v>
                </c:pt>
                <c:pt idx="117">
                  <c:v>42979</c:v>
                </c:pt>
                <c:pt idx="118">
                  <c:v>43009</c:v>
                </c:pt>
                <c:pt idx="119">
                  <c:v>43040</c:v>
                </c:pt>
                <c:pt idx="120">
                  <c:v>43070</c:v>
                </c:pt>
                <c:pt idx="121">
                  <c:v>43101</c:v>
                </c:pt>
              </c:numCache>
            </c:numRef>
          </c:cat>
          <c:val>
            <c:numRef>
              <c:f>'ces and projected'!$B$1:$B$122</c:f>
              <c:numCache>
                <c:formatCode>_(* #,##0_);_(* \(#,##0\);_(* "-"??_);_(@_)</c:formatCode>
                <c:ptCount val="122"/>
                <c:pt idx="0">
                  <c:v>849300</c:v>
                </c:pt>
                <c:pt idx="1">
                  <c:v>841900</c:v>
                </c:pt>
                <c:pt idx="2">
                  <c:v>846300</c:v>
                </c:pt>
                <c:pt idx="3">
                  <c:v>847800</c:v>
                </c:pt>
                <c:pt idx="4">
                  <c:v>849700</c:v>
                </c:pt>
                <c:pt idx="5">
                  <c:v>851100</c:v>
                </c:pt>
                <c:pt idx="6">
                  <c:v>849600</c:v>
                </c:pt>
                <c:pt idx="7">
                  <c:v>847500</c:v>
                </c:pt>
                <c:pt idx="8">
                  <c:v>850300</c:v>
                </c:pt>
                <c:pt idx="9">
                  <c:v>852900</c:v>
                </c:pt>
                <c:pt idx="10">
                  <c:v>847200</c:v>
                </c:pt>
                <c:pt idx="11">
                  <c:v>841600</c:v>
                </c:pt>
                <c:pt idx="12">
                  <c:v>836600</c:v>
                </c:pt>
                <c:pt idx="13">
                  <c:v>824200</c:v>
                </c:pt>
                <c:pt idx="14">
                  <c:v>821000</c:v>
                </c:pt>
                <c:pt idx="15">
                  <c:v>816900</c:v>
                </c:pt>
                <c:pt idx="16">
                  <c:v>814900</c:v>
                </c:pt>
                <c:pt idx="17">
                  <c:v>814900</c:v>
                </c:pt>
                <c:pt idx="18">
                  <c:v>811000</c:v>
                </c:pt>
                <c:pt idx="19">
                  <c:v>808400</c:v>
                </c:pt>
                <c:pt idx="20">
                  <c:v>811100</c:v>
                </c:pt>
                <c:pt idx="21">
                  <c:v>810800</c:v>
                </c:pt>
                <c:pt idx="22">
                  <c:v>806400</c:v>
                </c:pt>
                <c:pt idx="23">
                  <c:v>803400</c:v>
                </c:pt>
                <c:pt idx="24">
                  <c:v>802900</c:v>
                </c:pt>
                <c:pt idx="25">
                  <c:v>796700</c:v>
                </c:pt>
                <c:pt idx="26">
                  <c:v>798800</c:v>
                </c:pt>
                <c:pt idx="27">
                  <c:v>801400</c:v>
                </c:pt>
                <c:pt idx="28">
                  <c:v>805800</c:v>
                </c:pt>
                <c:pt idx="29">
                  <c:v>808300</c:v>
                </c:pt>
                <c:pt idx="30">
                  <c:v>806600</c:v>
                </c:pt>
                <c:pt idx="31">
                  <c:v>804700</c:v>
                </c:pt>
                <c:pt idx="32">
                  <c:v>805000</c:v>
                </c:pt>
                <c:pt idx="33">
                  <c:v>803100</c:v>
                </c:pt>
                <c:pt idx="34">
                  <c:v>803500</c:v>
                </c:pt>
                <c:pt idx="35">
                  <c:v>800800</c:v>
                </c:pt>
                <c:pt idx="36">
                  <c:v>801400</c:v>
                </c:pt>
                <c:pt idx="37">
                  <c:v>795700</c:v>
                </c:pt>
                <c:pt idx="38">
                  <c:v>798700</c:v>
                </c:pt>
                <c:pt idx="39">
                  <c:v>800600</c:v>
                </c:pt>
                <c:pt idx="40">
                  <c:v>806000</c:v>
                </c:pt>
                <c:pt idx="41">
                  <c:v>806700</c:v>
                </c:pt>
                <c:pt idx="42">
                  <c:v>805900</c:v>
                </c:pt>
                <c:pt idx="43">
                  <c:v>803900</c:v>
                </c:pt>
                <c:pt idx="44">
                  <c:v>807700</c:v>
                </c:pt>
                <c:pt idx="45">
                  <c:v>808400</c:v>
                </c:pt>
                <c:pt idx="46">
                  <c:v>807000</c:v>
                </c:pt>
                <c:pt idx="47">
                  <c:v>803500</c:v>
                </c:pt>
                <c:pt idx="48">
                  <c:v>802900</c:v>
                </c:pt>
                <c:pt idx="49" formatCode="General">
                  <c:v>802100</c:v>
                </c:pt>
                <c:pt idx="50" formatCode="0">
                  <c:v>802976.1575761385</c:v>
                </c:pt>
                <c:pt idx="51" formatCode="0">
                  <c:v>803853.27220513579</c:v>
                </c:pt>
                <c:pt idx="52" formatCode="0">
                  <c:v>804731.34493240947</c:v>
                </c:pt>
                <c:pt idx="53" formatCode="0">
                  <c:v>805610.3768045191</c:v>
                </c:pt>
                <c:pt idx="54" formatCode="0">
                  <c:v>806490.36886916542</c:v>
                </c:pt>
                <c:pt idx="55" formatCode="0">
                  <c:v>807371.32217519591</c:v>
                </c:pt>
                <c:pt idx="56" formatCode="0">
                  <c:v>808253.23777260329</c:v>
                </c:pt>
                <c:pt idx="57" formatCode="0">
                  <c:v>809136.11671252735</c:v>
                </c:pt>
                <c:pt idx="58" formatCode="0">
                  <c:v>810019.9600472548</c:v>
                </c:pt>
                <c:pt idx="59" formatCode="0">
                  <c:v>810904.76883022359</c:v>
                </c:pt>
                <c:pt idx="60" formatCode="0">
                  <c:v>811790.54411601939</c:v>
                </c:pt>
                <c:pt idx="61" formatCode="0">
                  <c:v>812677.28696038388</c:v>
                </c:pt>
                <c:pt idx="62" formatCode="0">
                  <c:v>813564.99842020951</c:v>
                </c:pt>
                <c:pt idx="63" formatCode="0">
                  <c:v>814453.67955354287</c:v>
                </c:pt>
                <c:pt idx="64" formatCode="0">
                  <c:v>815343.33141958783</c:v>
                </c:pt>
                <c:pt idx="65" formatCode="0">
                  <c:v>816233.95507870417</c:v>
                </c:pt>
                <c:pt idx="66" formatCode="0">
                  <c:v>817125.55159241043</c:v>
                </c:pt>
                <c:pt idx="67" formatCode="0">
                  <c:v>818018.12202338385</c:v>
                </c:pt>
                <c:pt idx="68" formatCode="0">
                  <c:v>818911.66743546375</c:v>
                </c:pt>
                <c:pt idx="69" formatCode="0">
                  <c:v>819806.18889365066</c:v>
                </c:pt>
                <c:pt idx="70" formatCode="0">
                  <c:v>820701.68746410857</c:v>
                </c:pt>
                <c:pt idx="71" formatCode="0">
                  <c:v>821598.16421416623</c:v>
                </c:pt>
                <c:pt idx="72" formatCode="0">
                  <c:v>822495.62021231814</c:v>
                </c:pt>
                <c:pt idx="73" formatCode="0">
                  <c:v>823394.05652822671</c:v>
                </c:pt>
                <c:pt idx="74" formatCode="0">
                  <c:v>824293.47423271986</c:v>
                </c:pt>
                <c:pt idx="75" formatCode="0">
                  <c:v>825193.87439779937</c:v>
                </c:pt>
                <c:pt idx="76" formatCode="0">
                  <c:v>826095.25809663674</c:v>
                </c:pt>
                <c:pt idx="77" formatCode="0">
                  <c:v>826997.62640357204</c:v>
                </c:pt>
                <c:pt idx="78" formatCode="0">
                  <c:v>827900.98039412417</c:v>
                </c:pt>
                <c:pt idx="79" formatCode="0">
                  <c:v>828805.3211449841</c:v>
                </c:pt>
                <c:pt idx="80" formatCode="0">
                  <c:v>829710.64973401919</c:v>
                </c:pt>
                <c:pt idx="81" formatCode="0">
                  <c:v>830616.9672402743</c:v>
                </c:pt>
                <c:pt idx="82" formatCode="0">
                  <c:v>831524.27474397176</c:v>
                </c:pt>
                <c:pt idx="83" formatCode="0">
                  <c:v>832432.57332651864</c:v>
                </c:pt>
                <c:pt idx="84" formatCode="0">
                  <c:v>833341.86407049641</c:v>
                </c:pt>
                <c:pt idx="85" formatCode="0">
                  <c:v>834252.14805967291</c:v>
                </c:pt>
                <c:pt idx="86" formatCode="0">
                  <c:v>835163.42637899937</c:v>
                </c:pt>
                <c:pt idx="87" formatCode="0">
                  <c:v>836075.70011461328</c:v>
                </c:pt>
                <c:pt idx="88" formatCode="0">
                  <c:v>836988.97035383643</c:v>
                </c:pt>
                <c:pt idx="89" formatCode="0">
                  <c:v>837903.23818517884</c:v>
                </c:pt>
                <c:pt idx="90" formatCode="0">
                  <c:v>838818.50469834032</c:v>
                </c:pt>
                <c:pt idx="91" formatCode="0">
                  <c:v>839734.77098421031</c:v>
                </c:pt>
                <c:pt idx="92" formatCode="0">
                  <c:v>840652.03813487093</c:v>
                </c:pt>
                <c:pt idx="93" formatCode="0">
                  <c:v>841570.3072435956</c:v>
                </c:pt>
                <c:pt idx="94" formatCode="0">
                  <c:v>842489.57940485247</c:v>
                </c:pt>
                <c:pt idx="95" formatCode="0">
                  <c:v>843409.8557143074</c:v>
                </c:pt>
                <c:pt idx="96" formatCode="0">
                  <c:v>844331.13726881891</c:v>
                </c:pt>
                <c:pt idx="97" formatCode="0">
                  <c:v>845253.42516644741</c:v>
                </c:pt>
                <c:pt idx="98" formatCode="0">
                  <c:v>846176.72050645039</c:v>
                </c:pt>
                <c:pt idx="99" formatCode="0">
                  <c:v>847101.02438928699</c:v>
                </c:pt>
                <c:pt idx="100" formatCode="0">
                  <c:v>848026.33791662042</c:v>
                </c:pt>
                <c:pt idx="101" formatCode="0">
                  <c:v>848952.66219131206</c:v>
                </c:pt>
                <c:pt idx="102" formatCode="0">
                  <c:v>849879.9983174334</c:v>
                </c:pt>
                <c:pt idx="103" formatCode="0">
                  <c:v>850808.34740025911</c:v>
                </c:pt>
                <c:pt idx="104" formatCode="0">
                  <c:v>851737.71054627118</c:v>
                </c:pt>
                <c:pt idx="105" formatCode="0">
                  <c:v>852668.08886316174</c:v>
                </c:pt>
                <c:pt idx="106" formatCode="0">
                  <c:v>853599.48345983203</c:v>
                </c:pt>
                <c:pt idx="107" formatCode="0">
                  <c:v>854531.89544639341</c:v>
                </c:pt>
                <c:pt idx="108" formatCode="0">
                  <c:v>855465.32593417203</c:v>
                </c:pt>
                <c:pt idx="109" formatCode="0">
                  <c:v>856399.77603570663</c:v>
                </c:pt>
                <c:pt idx="110" formatCode="0">
                  <c:v>857335.24686475203</c:v>
                </c:pt>
                <c:pt idx="111" formatCode="0">
                  <c:v>858271.73953627737</c:v>
                </c:pt>
                <c:pt idx="112" formatCode="0">
                  <c:v>859209.25516647357</c:v>
                </c:pt>
                <c:pt idx="113" formatCode="0">
                  <c:v>860147.79487274738</c:v>
                </c:pt>
                <c:pt idx="114" formatCode="0">
                  <c:v>861087.35977372841</c:v>
                </c:pt>
                <c:pt idx="115" formatCode="0">
                  <c:v>862027.95098926569</c:v>
                </c:pt>
                <c:pt idx="116" formatCode="0">
                  <c:v>862969.56964043423</c:v>
                </c:pt>
                <c:pt idx="117" formatCode="0">
                  <c:v>863912.21684953209</c:v>
                </c:pt>
                <c:pt idx="118" formatCode="0">
                  <c:v>864855.89374008332</c:v>
                </c:pt>
                <c:pt idx="119" formatCode="0">
                  <c:v>865800.6014368406</c:v>
                </c:pt>
                <c:pt idx="120" formatCode="0">
                  <c:v>866746.34106578236</c:v>
                </c:pt>
                <c:pt idx="121" formatCode="0">
                  <c:v>867693.11375411844</c:v>
                </c:pt>
              </c:numCache>
            </c:numRef>
          </c:val>
        </c:ser>
        <c:ser>
          <c:idx val="1"/>
          <c:order val="1"/>
          <c:tx>
            <c:v>Employment Pre-Recession</c:v>
          </c:tx>
          <c:marker>
            <c:symbol val="none"/>
          </c:marker>
          <c:cat>
            <c:numRef>
              <c:f>'ces and projected'!$A$1:$A$122</c:f>
              <c:numCache>
                <c:formatCode>mmm\-yy</c:formatCode>
                <c:ptCount val="122"/>
                <c:pt idx="0">
                  <c:v>39417</c:v>
                </c:pt>
                <c:pt idx="1">
                  <c:v>39448</c:v>
                </c:pt>
                <c:pt idx="2">
                  <c:v>39479</c:v>
                </c:pt>
                <c:pt idx="3">
                  <c:v>39508</c:v>
                </c:pt>
                <c:pt idx="4">
                  <c:v>39539</c:v>
                </c:pt>
                <c:pt idx="5">
                  <c:v>39569</c:v>
                </c:pt>
                <c:pt idx="6">
                  <c:v>39600</c:v>
                </c:pt>
                <c:pt idx="7">
                  <c:v>39630</c:v>
                </c:pt>
                <c:pt idx="8">
                  <c:v>39661</c:v>
                </c:pt>
                <c:pt idx="9">
                  <c:v>39692</c:v>
                </c:pt>
                <c:pt idx="10">
                  <c:v>39722</c:v>
                </c:pt>
                <c:pt idx="11">
                  <c:v>39753</c:v>
                </c:pt>
                <c:pt idx="12">
                  <c:v>39783</c:v>
                </c:pt>
                <c:pt idx="13">
                  <c:v>39814</c:v>
                </c:pt>
                <c:pt idx="14">
                  <c:v>39845</c:v>
                </c:pt>
                <c:pt idx="15">
                  <c:v>39873</c:v>
                </c:pt>
                <c:pt idx="16">
                  <c:v>39904</c:v>
                </c:pt>
                <c:pt idx="17">
                  <c:v>39934</c:v>
                </c:pt>
                <c:pt idx="18">
                  <c:v>39965</c:v>
                </c:pt>
                <c:pt idx="19">
                  <c:v>39995</c:v>
                </c:pt>
                <c:pt idx="20">
                  <c:v>40026</c:v>
                </c:pt>
                <c:pt idx="21">
                  <c:v>40057</c:v>
                </c:pt>
                <c:pt idx="22">
                  <c:v>40087</c:v>
                </c:pt>
                <c:pt idx="23">
                  <c:v>40118</c:v>
                </c:pt>
                <c:pt idx="24">
                  <c:v>40148</c:v>
                </c:pt>
                <c:pt idx="25">
                  <c:v>40179</c:v>
                </c:pt>
                <c:pt idx="26">
                  <c:v>40210</c:v>
                </c:pt>
                <c:pt idx="27">
                  <c:v>40238</c:v>
                </c:pt>
                <c:pt idx="28">
                  <c:v>40269</c:v>
                </c:pt>
                <c:pt idx="29">
                  <c:v>40299</c:v>
                </c:pt>
                <c:pt idx="30">
                  <c:v>40330</c:v>
                </c:pt>
                <c:pt idx="31">
                  <c:v>40360</c:v>
                </c:pt>
                <c:pt idx="32">
                  <c:v>40391</c:v>
                </c:pt>
                <c:pt idx="33">
                  <c:v>40422</c:v>
                </c:pt>
                <c:pt idx="34">
                  <c:v>40452</c:v>
                </c:pt>
                <c:pt idx="35">
                  <c:v>40483</c:v>
                </c:pt>
                <c:pt idx="36">
                  <c:v>40513</c:v>
                </c:pt>
                <c:pt idx="37">
                  <c:v>40544</c:v>
                </c:pt>
                <c:pt idx="38">
                  <c:v>40575</c:v>
                </c:pt>
                <c:pt idx="39">
                  <c:v>40603</c:v>
                </c:pt>
                <c:pt idx="40">
                  <c:v>40634</c:v>
                </c:pt>
                <c:pt idx="41">
                  <c:v>40664</c:v>
                </c:pt>
                <c:pt idx="42">
                  <c:v>40695</c:v>
                </c:pt>
                <c:pt idx="43">
                  <c:v>40725</c:v>
                </c:pt>
                <c:pt idx="44">
                  <c:v>40756</c:v>
                </c:pt>
                <c:pt idx="45">
                  <c:v>40787</c:v>
                </c:pt>
                <c:pt idx="46">
                  <c:v>40817</c:v>
                </c:pt>
                <c:pt idx="47">
                  <c:v>40848</c:v>
                </c:pt>
                <c:pt idx="48">
                  <c:v>40878</c:v>
                </c:pt>
                <c:pt idx="49">
                  <c:v>40909</c:v>
                </c:pt>
                <c:pt idx="50">
                  <c:v>40940</c:v>
                </c:pt>
                <c:pt idx="51">
                  <c:v>40969</c:v>
                </c:pt>
                <c:pt idx="52">
                  <c:v>41000</c:v>
                </c:pt>
                <c:pt idx="53">
                  <c:v>41030</c:v>
                </c:pt>
                <c:pt idx="54">
                  <c:v>41061</c:v>
                </c:pt>
                <c:pt idx="55">
                  <c:v>41091</c:v>
                </c:pt>
                <c:pt idx="56">
                  <c:v>41122</c:v>
                </c:pt>
                <c:pt idx="57">
                  <c:v>41153</c:v>
                </c:pt>
                <c:pt idx="58">
                  <c:v>41183</c:v>
                </c:pt>
                <c:pt idx="59">
                  <c:v>41214</c:v>
                </c:pt>
                <c:pt idx="60">
                  <c:v>41244</c:v>
                </c:pt>
                <c:pt idx="61">
                  <c:v>41275</c:v>
                </c:pt>
                <c:pt idx="62">
                  <c:v>41306</c:v>
                </c:pt>
                <c:pt idx="63">
                  <c:v>41334</c:v>
                </c:pt>
                <c:pt idx="64">
                  <c:v>41365</c:v>
                </c:pt>
                <c:pt idx="65">
                  <c:v>41395</c:v>
                </c:pt>
                <c:pt idx="66">
                  <c:v>41426</c:v>
                </c:pt>
                <c:pt idx="67">
                  <c:v>41456</c:v>
                </c:pt>
                <c:pt idx="68">
                  <c:v>41487</c:v>
                </c:pt>
                <c:pt idx="69">
                  <c:v>41518</c:v>
                </c:pt>
                <c:pt idx="70">
                  <c:v>41548</c:v>
                </c:pt>
                <c:pt idx="71">
                  <c:v>41579</c:v>
                </c:pt>
                <c:pt idx="72">
                  <c:v>41609</c:v>
                </c:pt>
                <c:pt idx="73">
                  <c:v>41640</c:v>
                </c:pt>
                <c:pt idx="74">
                  <c:v>41671</c:v>
                </c:pt>
                <c:pt idx="75">
                  <c:v>41699</c:v>
                </c:pt>
                <c:pt idx="76">
                  <c:v>41730</c:v>
                </c:pt>
                <c:pt idx="77">
                  <c:v>41760</c:v>
                </c:pt>
                <c:pt idx="78">
                  <c:v>41791</c:v>
                </c:pt>
                <c:pt idx="79">
                  <c:v>41821</c:v>
                </c:pt>
                <c:pt idx="80">
                  <c:v>41852</c:v>
                </c:pt>
                <c:pt idx="81">
                  <c:v>41883</c:v>
                </c:pt>
                <c:pt idx="82">
                  <c:v>41913</c:v>
                </c:pt>
                <c:pt idx="83">
                  <c:v>41944</c:v>
                </c:pt>
                <c:pt idx="84">
                  <c:v>41974</c:v>
                </c:pt>
                <c:pt idx="85">
                  <c:v>42005</c:v>
                </c:pt>
                <c:pt idx="86">
                  <c:v>42036</c:v>
                </c:pt>
                <c:pt idx="87">
                  <c:v>42064</c:v>
                </c:pt>
                <c:pt idx="88">
                  <c:v>42095</c:v>
                </c:pt>
                <c:pt idx="89">
                  <c:v>42125</c:v>
                </c:pt>
                <c:pt idx="90">
                  <c:v>42156</c:v>
                </c:pt>
                <c:pt idx="91">
                  <c:v>42186</c:v>
                </c:pt>
                <c:pt idx="92">
                  <c:v>42217</c:v>
                </c:pt>
                <c:pt idx="93">
                  <c:v>42248</c:v>
                </c:pt>
                <c:pt idx="94">
                  <c:v>42278</c:v>
                </c:pt>
                <c:pt idx="95">
                  <c:v>42309</c:v>
                </c:pt>
                <c:pt idx="96">
                  <c:v>42339</c:v>
                </c:pt>
                <c:pt idx="97">
                  <c:v>42370</c:v>
                </c:pt>
                <c:pt idx="98">
                  <c:v>42401</c:v>
                </c:pt>
                <c:pt idx="99">
                  <c:v>42430</c:v>
                </c:pt>
                <c:pt idx="100">
                  <c:v>42461</c:v>
                </c:pt>
                <c:pt idx="101">
                  <c:v>42491</c:v>
                </c:pt>
                <c:pt idx="102">
                  <c:v>42522</c:v>
                </c:pt>
                <c:pt idx="103">
                  <c:v>42552</c:v>
                </c:pt>
                <c:pt idx="104">
                  <c:v>42583</c:v>
                </c:pt>
                <c:pt idx="105">
                  <c:v>42614</c:v>
                </c:pt>
                <c:pt idx="106">
                  <c:v>42644</c:v>
                </c:pt>
                <c:pt idx="107">
                  <c:v>42675</c:v>
                </c:pt>
                <c:pt idx="108">
                  <c:v>42705</c:v>
                </c:pt>
                <c:pt idx="109">
                  <c:v>42736</c:v>
                </c:pt>
                <c:pt idx="110">
                  <c:v>42767</c:v>
                </c:pt>
                <c:pt idx="111">
                  <c:v>42795</c:v>
                </c:pt>
                <c:pt idx="112">
                  <c:v>42826</c:v>
                </c:pt>
                <c:pt idx="113">
                  <c:v>42856</c:v>
                </c:pt>
                <c:pt idx="114">
                  <c:v>42887</c:v>
                </c:pt>
                <c:pt idx="115">
                  <c:v>42917</c:v>
                </c:pt>
                <c:pt idx="116">
                  <c:v>42948</c:v>
                </c:pt>
                <c:pt idx="117">
                  <c:v>42979</c:v>
                </c:pt>
                <c:pt idx="118">
                  <c:v>43009</c:v>
                </c:pt>
                <c:pt idx="119">
                  <c:v>43040</c:v>
                </c:pt>
                <c:pt idx="120">
                  <c:v>43070</c:v>
                </c:pt>
                <c:pt idx="121">
                  <c:v>43101</c:v>
                </c:pt>
              </c:numCache>
            </c:numRef>
          </c:cat>
          <c:val>
            <c:numRef>
              <c:f>'ces and projected'!$C$1:$C$122</c:f>
              <c:numCache>
                <c:formatCode>#,##0</c:formatCode>
                <c:ptCount val="122"/>
                <c:pt idx="0">
                  <c:v>852900</c:v>
                </c:pt>
                <c:pt idx="1">
                  <c:v>852900</c:v>
                </c:pt>
                <c:pt idx="2">
                  <c:v>852900</c:v>
                </c:pt>
                <c:pt idx="3">
                  <c:v>852900</c:v>
                </c:pt>
                <c:pt idx="4">
                  <c:v>852900</c:v>
                </c:pt>
                <c:pt idx="5">
                  <c:v>852900</c:v>
                </c:pt>
                <c:pt idx="6">
                  <c:v>852900</c:v>
                </c:pt>
                <c:pt idx="7">
                  <c:v>852900</c:v>
                </c:pt>
                <c:pt idx="8">
                  <c:v>852900</c:v>
                </c:pt>
                <c:pt idx="9">
                  <c:v>852900</c:v>
                </c:pt>
                <c:pt idx="10">
                  <c:v>852900</c:v>
                </c:pt>
                <c:pt idx="11">
                  <c:v>852900</c:v>
                </c:pt>
                <c:pt idx="12">
                  <c:v>852900</c:v>
                </c:pt>
                <c:pt idx="13">
                  <c:v>852900</c:v>
                </c:pt>
                <c:pt idx="14">
                  <c:v>852900</c:v>
                </c:pt>
                <c:pt idx="15">
                  <c:v>852900</c:v>
                </c:pt>
                <c:pt idx="16">
                  <c:v>852900</c:v>
                </c:pt>
                <c:pt idx="17">
                  <c:v>852900</c:v>
                </c:pt>
                <c:pt idx="18">
                  <c:v>852900</c:v>
                </c:pt>
                <c:pt idx="19">
                  <c:v>852900</c:v>
                </c:pt>
                <c:pt idx="20">
                  <c:v>852900</c:v>
                </c:pt>
                <c:pt idx="21">
                  <c:v>852900</c:v>
                </c:pt>
                <c:pt idx="22">
                  <c:v>852900</c:v>
                </c:pt>
                <c:pt idx="23">
                  <c:v>852900</c:v>
                </c:pt>
                <c:pt idx="24">
                  <c:v>852900</c:v>
                </c:pt>
                <c:pt idx="25">
                  <c:v>852900</c:v>
                </c:pt>
                <c:pt idx="26">
                  <c:v>852900</c:v>
                </c:pt>
                <c:pt idx="27">
                  <c:v>852900</c:v>
                </c:pt>
                <c:pt idx="28">
                  <c:v>852900</c:v>
                </c:pt>
                <c:pt idx="29">
                  <c:v>852900</c:v>
                </c:pt>
                <c:pt idx="30">
                  <c:v>852900</c:v>
                </c:pt>
                <c:pt idx="31">
                  <c:v>852900</c:v>
                </c:pt>
                <c:pt idx="32">
                  <c:v>852900</c:v>
                </c:pt>
                <c:pt idx="33">
                  <c:v>852900</c:v>
                </c:pt>
                <c:pt idx="34">
                  <c:v>852900</c:v>
                </c:pt>
                <c:pt idx="35">
                  <c:v>852900</c:v>
                </c:pt>
                <c:pt idx="36">
                  <c:v>852900</c:v>
                </c:pt>
                <c:pt idx="37">
                  <c:v>852900</c:v>
                </c:pt>
                <c:pt idx="38">
                  <c:v>852900</c:v>
                </c:pt>
                <c:pt idx="39">
                  <c:v>852900</c:v>
                </c:pt>
                <c:pt idx="40">
                  <c:v>852900</c:v>
                </c:pt>
                <c:pt idx="41">
                  <c:v>852900</c:v>
                </c:pt>
                <c:pt idx="42">
                  <c:v>852900</c:v>
                </c:pt>
                <c:pt idx="43">
                  <c:v>852900</c:v>
                </c:pt>
                <c:pt idx="44">
                  <c:v>852900</c:v>
                </c:pt>
                <c:pt idx="45">
                  <c:v>852900</c:v>
                </c:pt>
                <c:pt idx="46">
                  <c:v>852900</c:v>
                </c:pt>
                <c:pt idx="47">
                  <c:v>852900</c:v>
                </c:pt>
                <c:pt idx="48">
                  <c:v>852900</c:v>
                </c:pt>
                <c:pt idx="49">
                  <c:v>852900</c:v>
                </c:pt>
                <c:pt idx="50">
                  <c:v>852900</c:v>
                </c:pt>
                <c:pt idx="51">
                  <c:v>852900</c:v>
                </c:pt>
                <c:pt idx="52">
                  <c:v>852900</c:v>
                </c:pt>
                <c:pt idx="53">
                  <c:v>852900</c:v>
                </c:pt>
                <c:pt idx="54">
                  <c:v>852900</c:v>
                </c:pt>
                <c:pt idx="55">
                  <c:v>852900</c:v>
                </c:pt>
                <c:pt idx="56">
                  <c:v>852900</c:v>
                </c:pt>
                <c:pt idx="57">
                  <c:v>852900</c:v>
                </c:pt>
                <c:pt idx="58">
                  <c:v>852900</c:v>
                </c:pt>
                <c:pt idx="59">
                  <c:v>852900</c:v>
                </c:pt>
                <c:pt idx="60">
                  <c:v>852900</c:v>
                </c:pt>
                <c:pt idx="61">
                  <c:v>852900</c:v>
                </c:pt>
                <c:pt idx="62">
                  <c:v>852900</c:v>
                </c:pt>
                <c:pt idx="63">
                  <c:v>852900</c:v>
                </c:pt>
                <c:pt idx="64">
                  <c:v>852900</c:v>
                </c:pt>
                <c:pt idx="65">
                  <c:v>852900</c:v>
                </c:pt>
                <c:pt idx="66">
                  <c:v>852900</c:v>
                </c:pt>
                <c:pt idx="67">
                  <c:v>852900</c:v>
                </c:pt>
                <c:pt idx="68">
                  <c:v>852900</c:v>
                </c:pt>
                <c:pt idx="69">
                  <c:v>852900</c:v>
                </c:pt>
                <c:pt idx="70">
                  <c:v>852900</c:v>
                </c:pt>
                <c:pt idx="71">
                  <c:v>852900</c:v>
                </c:pt>
                <c:pt idx="72">
                  <c:v>852900</c:v>
                </c:pt>
                <c:pt idx="73">
                  <c:v>852900</c:v>
                </c:pt>
                <c:pt idx="74">
                  <c:v>852900</c:v>
                </c:pt>
                <c:pt idx="75">
                  <c:v>852900</c:v>
                </c:pt>
                <c:pt idx="76">
                  <c:v>852900</c:v>
                </c:pt>
                <c:pt idx="77">
                  <c:v>852900</c:v>
                </c:pt>
                <c:pt idx="78">
                  <c:v>852900</c:v>
                </c:pt>
                <c:pt idx="79">
                  <c:v>852900</c:v>
                </c:pt>
                <c:pt idx="80">
                  <c:v>852900</c:v>
                </c:pt>
                <c:pt idx="81">
                  <c:v>852900</c:v>
                </c:pt>
                <c:pt idx="82">
                  <c:v>852900</c:v>
                </c:pt>
                <c:pt idx="83">
                  <c:v>852900</c:v>
                </c:pt>
                <c:pt idx="84">
                  <c:v>852900</c:v>
                </c:pt>
                <c:pt idx="85">
                  <c:v>852900</c:v>
                </c:pt>
                <c:pt idx="86">
                  <c:v>852900</c:v>
                </c:pt>
                <c:pt idx="87">
                  <c:v>852900</c:v>
                </c:pt>
                <c:pt idx="88">
                  <c:v>852900</c:v>
                </c:pt>
                <c:pt idx="89">
                  <c:v>852900</c:v>
                </c:pt>
                <c:pt idx="90">
                  <c:v>852900</c:v>
                </c:pt>
                <c:pt idx="91">
                  <c:v>852900</c:v>
                </c:pt>
                <c:pt idx="92">
                  <c:v>852900</c:v>
                </c:pt>
                <c:pt idx="93">
                  <c:v>852900</c:v>
                </c:pt>
                <c:pt idx="94">
                  <c:v>852900</c:v>
                </c:pt>
                <c:pt idx="95">
                  <c:v>852900</c:v>
                </c:pt>
                <c:pt idx="96">
                  <c:v>852900</c:v>
                </c:pt>
                <c:pt idx="97">
                  <c:v>852900</c:v>
                </c:pt>
                <c:pt idx="98">
                  <c:v>852900</c:v>
                </c:pt>
                <c:pt idx="99">
                  <c:v>852900</c:v>
                </c:pt>
                <c:pt idx="100">
                  <c:v>852900</c:v>
                </c:pt>
                <c:pt idx="101">
                  <c:v>852900</c:v>
                </c:pt>
                <c:pt idx="102">
                  <c:v>852900</c:v>
                </c:pt>
                <c:pt idx="103">
                  <c:v>852900</c:v>
                </c:pt>
                <c:pt idx="104">
                  <c:v>852900</c:v>
                </c:pt>
                <c:pt idx="105">
                  <c:v>852900</c:v>
                </c:pt>
                <c:pt idx="106">
                  <c:v>852900</c:v>
                </c:pt>
                <c:pt idx="107">
                  <c:v>852900</c:v>
                </c:pt>
                <c:pt idx="108">
                  <c:v>852900</c:v>
                </c:pt>
                <c:pt idx="109">
                  <c:v>852900</c:v>
                </c:pt>
                <c:pt idx="110">
                  <c:v>852900</c:v>
                </c:pt>
                <c:pt idx="111">
                  <c:v>852900</c:v>
                </c:pt>
                <c:pt idx="112">
                  <c:v>852900</c:v>
                </c:pt>
                <c:pt idx="113">
                  <c:v>852900</c:v>
                </c:pt>
                <c:pt idx="114">
                  <c:v>852900</c:v>
                </c:pt>
                <c:pt idx="115">
                  <c:v>852900</c:v>
                </c:pt>
                <c:pt idx="116">
                  <c:v>852900</c:v>
                </c:pt>
                <c:pt idx="117">
                  <c:v>852900</c:v>
                </c:pt>
                <c:pt idx="118">
                  <c:v>852900</c:v>
                </c:pt>
                <c:pt idx="119">
                  <c:v>852900</c:v>
                </c:pt>
                <c:pt idx="120">
                  <c:v>852900</c:v>
                </c:pt>
                <c:pt idx="121">
                  <c:v>852900</c:v>
                </c:pt>
              </c:numCache>
            </c:numRef>
          </c:val>
        </c:ser>
        <c:marker val="1"/>
        <c:axId val="99874304"/>
        <c:axId val="99875840"/>
      </c:lineChart>
      <c:dateAx>
        <c:axId val="99874304"/>
        <c:scaling>
          <c:orientation val="minMax"/>
        </c:scaling>
        <c:axPos val="b"/>
        <c:numFmt formatCode="mmm\-yy" sourceLinked="0"/>
        <c:tickLblPos val="nextTo"/>
        <c:crossAx val="99875840"/>
        <c:crosses val="autoZero"/>
        <c:auto val="1"/>
        <c:lblOffset val="100"/>
      </c:dateAx>
      <c:valAx>
        <c:axId val="99875840"/>
        <c:scaling>
          <c:orientation val="minMax"/>
        </c:scaling>
        <c:axPos val="l"/>
        <c:majorGridlines/>
        <c:numFmt formatCode="_(* #,##0_);_(* \(#,##0\);_(* &quot;-&quot;??_);_(@_)" sourceLinked="1"/>
        <c:tickLblPos val="nextTo"/>
        <c:crossAx val="99874304"/>
        <c:crosses val="autoZero"/>
        <c:crossBetween val="between"/>
      </c:valAx>
    </c:plotArea>
    <c:legend>
      <c:legendPos val="r"/>
      <c:layout>
        <c:manualLayout>
          <c:xMode val="edge"/>
          <c:yMode val="edge"/>
          <c:x val="0.7720070422535249"/>
          <c:y val="0.43680981595092189"/>
          <c:w val="0.20685891926361261"/>
          <c:h val="7.3958745954301713E-2"/>
        </c:manualLayout>
      </c:layout>
    </c:legend>
    <c:plotVisOnly val="1"/>
    <c:dispBlanksAs val="gap"/>
  </c:chart>
  <c:externalData r:id="rId1"/>
  <c:userShapes r:id="rId2"/>
</c:chartSpace>
</file>

<file path=ppt/charts/chart17.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pieChart>
        <c:varyColors val="1"/>
        <c:ser>
          <c:idx val="0"/>
          <c:order val="0"/>
          <c:dLbls>
            <c:txPr>
              <a:bodyPr/>
              <a:lstStyle/>
              <a:p>
                <a:pPr>
                  <a:defRPr sz="1600"/>
                </a:pPr>
                <a:endParaRPr lang="en-US"/>
              </a:p>
            </c:txPr>
            <c:showCatName val="1"/>
            <c:showPercent val="1"/>
            <c:showLeaderLines val="1"/>
          </c:dLbls>
          <c:cat>
            <c:strRef>
              <c:f>charts!$A$3:$A$13</c:f>
              <c:strCache>
                <c:ptCount val="11"/>
                <c:pt idx="0">
                  <c:v>First professional degree</c:v>
                </c:pt>
                <c:pt idx="1">
                  <c:v>Doctoral degree</c:v>
                </c:pt>
                <c:pt idx="2">
                  <c:v>Master's degree</c:v>
                </c:pt>
                <c:pt idx="3">
                  <c:v>Bachelor's or higher degree, plus work experience</c:v>
                </c:pt>
                <c:pt idx="4">
                  <c:v>Bachelor's degree</c:v>
                </c:pt>
                <c:pt idx="5">
                  <c:v>Associate degree</c:v>
                </c:pt>
                <c:pt idx="6">
                  <c:v>Postsecondary vocational training</c:v>
                </c:pt>
                <c:pt idx="7">
                  <c:v>Work experience in a related occupation</c:v>
                </c:pt>
                <c:pt idx="8">
                  <c:v>Long-term on-the-job training</c:v>
                </c:pt>
                <c:pt idx="9">
                  <c:v>Moderate-term on-the-job training</c:v>
                </c:pt>
                <c:pt idx="10">
                  <c:v>Short-term on-the-job training</c:v>
                </c:pt>
              </c:strCache>
            </c:strRef>
          </c:cat>
          <c:val>
            <c:numRef>
              <c:f>charts!$B$3:$B$13</c:f>
              <c:numCache>
                <c:formatCode>General</c:formatCode>
                <c:ptCount val="11"/>
                <c:pt idx="0">
                  <c:v>11182</c:v>
                </c:pt>
                <c:pt idx="1">
                  <c:v>15274</c:v>
                </c:pt>
                <c:pt idx="2">
                  <c:v>12798</c:v>
                </c:pt>
                <c:pt idx="3">
                  <c:v>38836</c:v>
                </c:pt>
                <c:pt idx="4">
                  <c:v>109436</c:v>
                </c:pt>
                <c:pt idx="5">
                  <c:v>23605</c:v>
                </c:pt>
                <c:pt idx="6">
                  <c:v>51198</c:v>
                </c:pt>
                <c:pt idx="7">
                  <c:v>81051</c:v>
                </c:pt>
                <c:pt idx="8">
                  <c:v>55391</c:v>
                </c:pt>
                <c:pt idx="9">
                  <c:v>144681</c:v>
                </c:pt>
                <c:pt idx="10">
                  <c:v>326349</c:v>
                </c:pt>
              </c:numCache>
            </c:numRef>
          </c:val>
        </c:ser>
        <c:dLbls>
          <c:showCatName val="1"/>
          <c:showPercent val="1"/>
        </c:dLbls>
        <c:firstSliceAng val="0"/>
      </c:pieChart>
      <c:spPr>
        <a:noFill/>
        <a:ln w="25400">
          <a:noFill/>
        </a:ln>
      </c:spPr>
    </c:plotArea>
    <c:plotVisOnly val="1"/>
    <c:dispBlanksAs val="zero"/>
  </c:chart>
  <c:externalData r:id="rId1"/>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A93ACF-D32D-4471-920F-FCB1A5CDF0AB}" type="doc">
      <dgm:prSet loTypeId="urn:microsoft.com/office/officeart/2005/8/layout/venn1" loCatId="relationship" qsTypeId="urn:microsoft.com/office/officeart/2005/8/quickstyle/simple1" qsCatId="simple" csTypeId="urn:microsoft.com/office/officeart/2005/8/colors/accent1_2" csCatId="accent1" phldr="1"/>
      <dgm:spPr/>
    </dgm:pt>
    <dgm:pt modelId="{725192D8-DC54-462E-926C-F3264D3AC2FB}">
      <dgm:prSet phldrT="[Text]"/>
      <dgm:spPr>
        <a:solidFill>
          <a:schemeClr val="accent5">
            <a:lumMod val="60000"/>
            <a:lumOff val="40000"/>
            <a:alpha val="50000"/>
          </a:schemeClr>
        </a:solidFill>
      </dgm:spPr>
      <dgm:t>
        <a:bodyPr/>
        <a:lstStyle/>
        <a:p>
          <a:pPr algn="r"/>
          <a:r>
            <a:rPr lang="en-US" dirty="0" smtClean="0"/>
            <a:t>Part time but would work full time</a:t>
          </a:r>
          <a:endParaRPr lang="en-US" dirty="0"/>
        </a:p>
      </dgm:t>
    </dgm:pt>
    <dgm:pt modelId="{311CDB25-8C62-49E1-8F13-CD09C0B6E094}" type="parTrans" cxnId="{A3290CF0-19E3-412B-8480-72EA84F2CC89}">
      <dgm:prSet/>
      <dgm:spPr/>
      <dgm:t>
        <a:bodyPr/>
        <a:lstStyle/>
        <a:p>
          <a:endParaRPr lang="en-US"/>
        </a:p>
      </dgm:t>
    </dgm:pt>
    <dgm:pt modelId="{65D5F6FD-2043-4752-9937-852F5942AAC4}" type="sibTrans" cxnId="{A3290CF0-19E3-412B-8480-72EA84F2CC89}">
      <dgm:prSet/>
      <dgm:spPr/>
      <dgm:t>
        <a:bodyPr/>
        <a:lstStyle/>
        <a:p>
          <a:endParaRPr lang="en-US"/>
        </a:p>
      </dgm:t>
    </dgm:pt>
    <dgm:pt modelId="{9C80EB23-12FF-4219-8F05-F570B7CD05D8}">
      <dgm:prSet phldrT="[Text]"/>
      <dgm:spPr>
        <a:solidFill>
          <a:schemeClr val="accent5">
            <a:lumMod val="50000"/>
            <a:alpha val="50000"/>
          </a:schemeClr>
        </a:solidFill>
      </dgm:spPr>
      <dgm:t>
        <a:bodyPr anchor="t"/>
        <a:lstStyle/>
        <a:p>
          <a:pPr algn="l"/>
          <a:r>
            <a:rPr lang="en-US" dirty="0" smtClean="0"/>
            <a:t>Discouraged unemployed workers</a:t>
          </a:r>
          <a:endParaRPr lang="en-US" dirty="0"/>
        </a:p>
      </dgm:t>
    </dgm:pt>
    <dgm:pt modelId="{ABBC24C8-A895-43B6-9E38-BF9EBAA87747}" type="parTrans" cxnId="{0304A749-8F65-478D-B85B-2EE6874F4A05}">
      <dgm:prSet/>
      <dgm:spPr/>
      <dgm:t>
        <a:bodyPr/>
        <a:lstStyle/>
        <a:p>
          <a:endParaRPr lang="en-US"/>
        </a:p>
      </dgm:t>
    </dgm:pt>
    <dgm:pt modelId="{EC1A0598-A7B4-49EA-BFE4-4116D0B3BF07}" type="sibTrans" cxnId="{0304A749-8F65-478D-B85B-2EE6874F4A05}">
      <dgm:prSet/>
      <dgm:spPr/>
      <dgm:t>
        <a:bodyPr/>
        <a:lstStyle/>
        <a:p>
          <a:endParaRPr lang="en-US"/>
        </a:p>
      </dgm:t>
    </dgm:pt>
    <dgm:pt modelId="{F3399D2B-2A06-4F3F-9838-08A8DB8A4761}">
      <dgm:prSet phldrT="[Text]"/>
      <dgm:spPr>
        <a:solidFill>
          <a:schemeClr val="accent5">
            <a:lumMod val="75000"/>
            <a:alpha val="50000"/>
          </a:schemeClr>
        </a:solidFill>
      </dgm:spPr>
      <dgm:t>
        <a:bodyPr/>
        <a:lstStyle/>
        <a:p>
          <a:pPr algn="r"/>
          <a:r>
            <a:rPr lang="en-US" dirty="0" smtClean="0"/>
            <a:t>Multiple job holders</a:t>
          </a:r>
          <a:endParaRPr lang="en-US" dirty="0"/>
        </a:p>
      </dgm:t>
    </dgm:pt>
    <dgm:pt modelId="{64F5CA80-7EEC-44B2-838F-DFEA2AAB13BD}" type="parTrans" cxnId="{277C0B1C-65F5-4B1F-88B2-3881FAB2E003}">
      <dgm:prSet/>
      <dgm:spPr/>
      <dgm:t>
        <a:bodyPr/>
        <a:lstStyle/>
        <a:p>
          <a:endParaRPr lang="en-US"/>
        </a:p>
      </dgm:t>
    </dgm:pt>
    <dgm:pt modelId="{1AFEF156-2752-4DB1-8431-2665BB1A76F5}" type="sibTrans" cxnId="{277C0B1C-65F5-4B1F-88B2-3881FAB2E003}">
      <dgm:prSet/>
      <dgm:spPr/>
      <dgm:t>
        <a:bodyPr/>
        <a:lstStyle/>
        <a:p>
          <a:endParaRPr lang="en-US"/>
        </a:p>
      </dgm:t>
    </dgm:pt>
    <dgm:pt modelId="{226E3DA3-FDA8-4732-B764-B1B03473C422}" type="pres">
      <dgm:prSet presAssocID="{14A93ACF-D32D-4471-920F-FCB1A5CDF0AB}" presName="compositeShape" presStyleCnt="0">
        <dgm:presLayoutVars>
          <dgm:chMax val="7"/>
          <dgm:dir/>
          <dgm:resizeHandles val="exact"/>
        </dgm:presLayoutVars>
      </dgm:prSet>
      <dgm:spPr/>
    </dgm:pt>
    <dgm:pt modelId="{1A9FEF2B-0B32-4B49-838E-207A07782579}" type="pres">
      <dgm:prSet presAssocID="{725192D8-DC54-462E-926C-F3264D3AC2FB}" presName="circ1" presStyleLbl="vennNode1" presStyleIdx="0" presStyleCnt="3" custLinFactNeighborX="34013" custLinFactNeighborY="-2083"/>
      <dgm:spPr/>
      <dgm:t>
        <a:bodyPr/>
        <a:lstStyle/>
        <a:p>
          <a:endParaRPr lang="en-US"/>
        </a:p>
      </dgm:t>
    </dgm:pt>
    <dgm:pt modelId="{74405372-A767-4B37-AAA8-AFA7D12BA521}" type="pres">
      <dgm:prSet presAssocID="{725192D8-DC54-462E-926C-F3264D3AC2FB}" presName="circ1Tx" presStyleLbl="revTx" presStyleIdx="0" presStyleCnt="0">
        <dgm:presLayoutVars>
          <dgm:chMax val="0"/>
          <dgm:chPref val="0"/>
          <dgm:bulletEnabled val="1"/>
        </dgm:presLayoutVars>
      </dgm:prSet>
      <dgm:spPr/>
      <dgm:t>
        <a:bodyPr/>
        <a:lstStyle/>
        <a:p>
          <a:endParaRPr lang="en-US"/>
        </a:p>
      </dgm:t>
    </dgm:pt>
    <dgm:pt modelId="{7CFC3FAB-DA08-4EEE-83BD-D925F32E956E}" type="pres">
      <dgm:prSet presAssocID="{9C80EB23-12FF-4219-8F05-F570B7CD05D8}" presName="circ2" presStyleLbl="vennNode1" presStyleIdx="1" presStyleCnt="3" custScaleX="117686" custLinFactX="-2071" custLinFactNeighborX="-100000" custLinFactNeighborY="-50978"/>
      <dgm:spPr/>
      <dgm:t>
        <a:bodyPr/>
        <a:lstStyle/>
        <a:p>
          <a:endParaRPr lang="en-US"/>
        </a:p>
      </dgm:t>
    </dgm:pt>
    <dgm:pt modelId="{B1A50F44-2DC5-4B25-9A0D-F2BF4F5B8204}" type="pres">
      <dgm:prSet presAssocID="{9C80EB23-12FF-4219-8F05-F570B7CD05D8}" presName="circ2Tx" presStyleLbl="revTx" presStyleIdx="0" presStyleCnt="0">
        <dgm:presLayoutVars>
          <dgm:chMax val="0"/>
          <dgm:chPref val="0"/>
          <dgm:bulletEnabled val="1"/>
        </dgm:presLayoutVars>
      </dgm:prSet>
      <dgm:spPr/>
      <dgm:t>
        <a:bodyPr/>
        <a:lstStyle/>
        <a:p>
          <a:endParaRPr lang="en-US"/>
        </a:p>
      </dgm:t>
    </dgm:pt>
    <dgm:pt modelId="{F1C3FE10-930B-4B01-B09E-C1C5D1FAD693}" type="pres">
      <dgm:prSet presAssocID="{F3399D2B-2A06-4F3F-9838-08A8DB8A4761}" presName="circ3" presStyleLbl="vennNode1" presStyleIdx="2" presStyleCnt="3" custLinFactNeighborX="39484" custLinFactNeighborY="6845"/>
      <dgm:spPr/>
      <dgm:t>
        <a:bodyPr/>
        <a:lstStyle/>
        <a:p>
          <a:endParaRPr lang="en-US"/>
        </a:p>
      </dgm:t>
    </dgm:pt>
    <dgm:pt modelId="{26915C0F-1E39-4871-BC15-7B6BD95A152E}" type="pres">
      <dgm:prSet presAssocID="{F3399D2B-2A06-4F3F-9838-08A8DB8A4761}" presName="circ3Tx" presStyleLbl="revTx" presStyleIdx="0" presStyleCnt="0">
        <dgm:presLayoutVars>
          <dgm:chMax val="0"/>
          <dgm:chPref val="0"/>
          <dgm:bulletEnabled val="1"/>
        </dgm:presLayoutVars>
      </dgm:prSet>
      <dgm:spPr/>
      <dgm:t>
        <a:bodyPr/>
        <a:lstStyle/>
        <a:p>
          <a:endParaRPr lang="en-US"/>
        </a:p>
      </dgm:t>
    </dgm:pt>
  </dgm:ptLst>
  <dgm:cxnLst>
    <dgm:cxn modelId="{B2AA39BA-FFEA-4404-B97A-4AEAA352584E}" type="presOf" srcId="{9C80EB23-12FF-4219-8F05-F570B7CD05D8}" destId="{7CFC3FAB-DA08-4EEE-83BD-D925F32E956E}" srcOrd="0" destOrd="0" presId="urn:microsoft.com/office/officeart/2005/8/layout/venn1"/>
    <dgm:cxn modelId="{29570926-CDC4-4C3F-A91C-5AFDD6DA276B}" type="presOf" srcId="{725192D8-DC54-462E-926C-F3264D3AC2FB}" destId="{1A9FEF2B-0B32-4B49-838E-207A07782579}" srcOrd="0" destOrd="0" presId="urn:microsoft.com/office/officeart/2005/8/layout/venn1"/>
    <dgm:cxn modelId="{0304A749-8F65-478D-B85B-2EE6874F4A05}" srcId="{14A93ACF-D32D-4471-920F-FCB1A5CDF0AB}" destId="{9C80EB23-12FF-4219-8F05-F570B7CD05D8}" srcOrd="1" destOrd="0" parTransId="{ABBC24C8-A895-43B6-9E38-BF9EBAA87747}" sibTransId="{EC1A0598-A7B4-49EA-BFE4-4116D0B3BF07}"/>
    <dgm:cxn modelId="{5D589FCD-A5AC-4EBD-952B-F0D2DDACB72E}" type="presOf" srcId="{9C80EB23-12FF-4219-8F05-F570B7CD05D8}" destId="{B1A50F44-2DC5-4B25-9A0D-F2BF4F5B8204}" srcOrd="1" destOrd="0" presId="urn:microsoft.com/office/officeart/2005/8/layout/venn1"/>
    <dgm:cxn modelId="{A3290CF0-19E3-412B-8480-72EA84F2CC89}" srcId="{14A93ACF-D32D-4471-920F-FCB1A5CDF0AB}" destId="{725192D8-DC54-462E-926C-F3264D3AC2FB}" srcOrd="0" destOrd="0" parTransId="{311CDB25-8C62-49E1-8F13-CD09C0B6E094}" sibTransId="{65D5F6FD-2043-4752-9937-852F5942AAC4}"/>
    <dgm:cxn modelId="{954F08DB-1C87-4076-BF63-220C8B5894AF}" type="presOf" srcId="{F3399D2B-2A06-4F3F-9838-08A8DB8A4761}" destId="{F1C3FE10-930B-4B01-B09E-C1C5D1FAD693}" srcOrd="0" destOrd="0" presId="urn:microsoft.com/office/officeart/2005/8/layout/venn1"/>
    <dgm:cxn modelId="{60B7D846-45EB-4E34-81A3-242884D2A571}" type="presOf" srcId="{F3399D2B-2A06-4F3F-9838-08A8DB8A4761}" destId="{26915C0F-1E39-4871-BC15-7B6BD95A152E}" srcOrd="1" destOrd="0" presId="urn:microsoft.com/office/officeart/2005/8/layout/venn1"/>
    <dgm:cxn modelId="{493C08E0-80A3-479E-8F8E-8CDBA17EDF4E}" type="presOf" srcId="{725192D8-DC54-462E-926C-F3264D3AC2FB}" destId="{74405372-A767-4B37-AAA8-AFA7D12BA521}" srcOrd="1" destOrd="0" presId="urn:microsoft.com/office/officeart/2005/8/layout/venn1"/>
    <dgm:cxn modelId="{0B1D78A2-6062-40B7-B5D6-010178AB733A}" type="presOf" srcId="{14A93ACF-D32D-4471-920F-FCB1A5CDF0AB}" destId="{226E3DA3-FDA8-4732-B764-B1B03473C422}" srcOrd="0" destOrd="0" presId="urn:microsoft.com/office/officeart/2005/8/layout/venn1"/>
    <dgm:cxn modelId="{277C0B1C-65F5-4B1F-88B2-3881FAB2E003}" srcId="{14A93ACF-D32D-4471-920F-FCB1A5CDF0AB}" destId="{F3399D2B-2A06-4F3F-9838-08A8DB8A4761}" srcOrd="2" destOrd="0" parTransId="{64F5CA80-7EEC-44B2-838F-DFEA2AAB13BD}" sibTransId="{1AFEF156-2752-4DB1-8431-2665BB1A76F5}"/>
    <dgm:cxn modelId="{55BB4F51-8438-49ED-AC3F-E93136B7CACC}" type="presParOf" srcId="{226E3DA3-FDA8-4732-B764-B1B03473C422}" destId="{1A9FEF2B-0B32-4B49-838E-207A07782579}" srcOrd="0" destOrd="0" presId="urn:microsoft.com/office/officeart/2005/8/layout/venn1"/>
    <dgm:cxn modelId="{B8A18EBE-1F21-4F24-A656-DAF51F173D28}" type="presParOf" srcId="{226E3DA3-FDA8-4732-B764-B1B03473C422}" destId="{74405372-A767-4B37-AAA8-AFA7D12BA521}" srcOrd="1" destOrd="0" presId="urn:microsoft.com/office/officeart/2005/8/layout/venn1"/>
    <dgm:cxn modelId="{6C0AC06E-30A0-4D52-AF51-6B5CC7FAA287}" type="presParOf" srcId="{226E3DA3-FDA8-4732-B764-B1B03473C422}" destId="{7CFC3FAB-DA08-4EEE-83BD-D925F32E956E}" srcOrd="2" destOrd="0" presId="urn:microsoft.com/office/officeart/2005/8/layout/venn1"/>
    <dgm:cxn modelId="{25DB98EC-196A-4DC3-9FCD-C9B4EE14CC16}" type="presParOf" srcId="{226E3DA3-FDA8-4732-B764-B1B03473C422}" destId="{B1A50F44-2DC5-4B25-9A0D-F2BF4F5B8204}" srcOrd="3" destOrd="0" presId="urn:microsoft.com/office/officeart/2005/8/layout/venn1"/>
    <dgm:cxn modelId="{00C528F3-0D99-4353-A37E-FE1A7EB3D15A}" type="presParOf" srcId="{226E3DA3-FDA8-4732-B764-B1B03473C422}" destId="{F1C3FE10-930B-4B01-B09E-C1C5D1FAD693}" srcOrd="4" destOrd="0" presId="urn:microsoft.com/office/officeart/2005/8/layout/venn1"/>
    <dgm:cxn modelId="{B14A4F37-6EE7-46A8-A724-44763D12DBCD}" type="presParOf" srcId="{226E3DA3-FDA8-4732-B764-B1B03473C422}" destId="{26915C0F-1E39-4871-BC15-7B6BD95A152E}" srcOrd="5" destOrd="0" presId="urn:microsoft.com/office/officeart/2005/8/layout/venn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drawing1.xml><?xml version="1.0" encoding="utf-8"?>
<c:userShapes xmlns:c="http://schemas.openxmlformats.org/drawingml/2006/chart">
  <cdr:relSizeAnchor xmlns:cdr="http://schemas.openxmlformats.org/drawingml/2006/chartDrawing">
    <cdr:from>
      <cdr:x>0.2993</cdr:x>
      <cdr:y>0.08974</cdr:y>
    </cdr:from>
    <cdr:to>
      <cdr:x>0.53645</cdr:x>
      <cdr:y>0.18845</cdr:y>
    </cdr:to>
    <cdr:sp macro="" textlink="">
      <cdr:nvSpPr>
        <cdr:cNvPr id="2" name="TextBox 1"/>
        <cdr:cNvSpPr txBox="1"/>
      </cdr:nvSpPr>
      <cdr:spPr>
        <a:xfrm xmlns:a="http://schemas.openxmlformats.org/drawingml/2006/main">
          <a:off x="2590800" y="533400"/>
          <a:ext cx="2052846" cy="586693"/>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a:t>Average price per barrel</a:t>
          </a:r>
        </a:p>
        <a:p xmlns:a="http://schemas.openxmlformats.org/drawingml/2006/main">
          <a:r>
            <a:rPr lang="en-US" sz="1100" dirty="0"/>
            <a:t>in 2006 was</a:t>
          </a:r>
          <a:r>
            <a:rPr lang="en-US" sz="1100" baseline="0" dirty="0"/>
            <a:t> $62.65</a:t>
          </a:r>
        </a:p>
      </cdr:txBody>
    </cdr:sp>
  </cdr:relSizeAnchor>
  <cdr:relSizeAnchor xmlns:cdr="http://schemas.openxmlformats.org/drawingml/2006/chartDrawing">
    <cdr:from>
      <cdr:x>0.04401</cdr:x>
      <cdr:y>0.0641</cdr:y>
    </cdr:from>
    <cdr:to>
      <cdr:x>0.21387</cdr:x>
      <cdr:y>0.16102</cdr:y>
    </cdr:to>
    <cdr:sp macro="" textlink="">
      <cdr:nvSpPr>
        <cdr:cNvPr id="3" name="TextBox 2"/>
        <cdr:cNvSpPr txBox="1"/>
      </cdr:nvSpPr>
      <cdr:spPr>
        <a:xfrm xmlns:a="http://schemas.openxmlformats.org/drawingml/2006/main">
          <a:off x="381000" y="381000"/>
          <a:ext cx="1470314" cy="576017"/>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a:t>Average price</a:t>
          </a:r>
          <a:r>
            <a:rPr lang="en-US" sz="1100" baseline="0" dirty="0"/>
            <a:t> per Barrel</a:t>
          </a:r>
        </a:p>
        <a:p xmlns:a="http://schemas.openxmlformats.org/drawingml/2006/main">
          <a:r>
            <a:rPr lang="en-US" sz="1100" baseline="0" dirty="0"/>
            <a:t>in 2002 was $27.46</a:t>
          </a:r>
          <a:endParaRPr lang="en-US" sz="1100" dirty="0"/>
        </a:p>
      </cdr:txBody>
    </cdr:sp>
  </cdr:relSizeAnchor>
  <cdr:relSizeAnchor xmlns:cdr="http://schemas.openxmlformats.org/drawingml/2006/chartDrawing">
    <cdr:from>
      <cdr:x>0.50176</cdr:x>
      <cdr:y>0.11538</cdr:y>
    </cdr:from>
    <cdr:to>
      <cdr:x>0.65691</cdr:x>
      <cdr:y>0.1984</cdr:y>
    </cdr:to>
    <cdr:sp macro="" textlink="">
      <cdr:nvSpPr>
        <cdr:cNvPr id="4" name="TextBox 3"/>
        <cdr:cNvSpPr txBox="1"/>
      </cdr:nvSpPr>
      <cdr:spPr>
        <a:xfrm xmlns:a="http://schemas.openxmlformats.org/drawingml/2006/main">
          <a:off x="4343400" y="685800"/>
          <a:ext cx="1343055" cy="493438"/>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a:t>Oil prices </a:t>
          </a:r>
          <a:r>
            <a:rPr lang="en-US" sz="1100" baseline="0" dirty="0"/>
            <a:t> averaged</a:t>
          </a:r>
        </a:p>
        <a:p xmlns:a="http://schemas.openxmlformats.org/drawingml/2006/main">
          <a:r>
            <a:rPr lang="en-US" sz="1100" baseline="0" dirty="0"/>
            <a:t>$91.77 in 2008</a:t>
          </a:r>
          <a:endParaRPr lang="en-US" sz="1100" dirty="0"/>
        </a:p>
        <a:p xmlns:a="http://schemas.openxmlformats.org/drawingml/2006/main">
          <a:endParaRPr lang="en-US" sz="1100" dirty="0"/>
        </a:p>
      </cdr:txBody>
    </cdr:sp>
  </cdr:relSizeAnchor>
  <cdr:relSizeAnchor xmlns:cdr="http://schemas.openxmlformats.org/drawingml/2006/chartDrawing">
    <cdr:from>
      <cdr:x>0.82894</cdr:x>
      <cdr:y>0.15385</cdr:y>
    </cdr:from>
    <cdr:to>
      <cdr:x>1</cdr:x>
      <cdr:y>0.26321</cdr:y>
    </cdr:to>
    <cdr:sp macro="" textlink="">
      <cdr:nvSpPr>
        <cdr:cNvPr id="5" name="TextBox 4"/>
        <cdr:cNvSpPr txBox="1"/>
      </cdr:nvSpPr>
      <cdr:spPr>
        <a:xfrm xmlns:a="http://schemas.openxmlformats.org/drawingml/2006/main">
          <a:off x="7358450" y="914400"/>
          <a:ext cx="1480750" cy="649992"/>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a:t>Current  price per</a:t>
          </a:r>
        </a:p>
        <a:p xmlns:a="http://schemas.openxmlformats.org/drawingml/2006/main">
          <a:r>
            <a:rPr lang="en-US" sz="1100" dirty="0"/>
            <a:t>Barrel is about</a:t>
          </a:r>
        </a:p>
        <a:p xmlns:a="http://schemas.openxmlformats.org/drawingml/2006/main">
          <a:r>
            <a:rPr lang="en-US" sz="1100" dirty="0" smtClean="0"/>
            <a:t>$106.25</a:t>
          </a:r>
          <a:endParaRPr lang="en-US" sz="1100" dirty="0"/>
        </a:p>
      </cdr:txBody>
    </cdr:sp>
  </cdr:relSizeAnchor>
  <cdr:relSizeAnchor xmlns:cdr="http://schemas.openxmlformats.org/drawingml/2006/chartDrawing">
    <cdr:from>
      <cdr:x>0.72183</cdr:x>
      <cdr:y>0.01282</cdr:y>
    </cdr:from>
    <cdr:to>
      <cdr:x>1</cdr:x>
      <cdr:y>0.12821</cdr:y>
    </cdr:to>
    <cdr:sp macro="" textlink="">
      <cdr:nvSpPr>
        <cdr:cNvPr id="6" name="TextBox 5"/>
        <cdr:cNvSpPr txBox="1"/>
      </cdr:nvSpPr>
      <cdr:spPr>
        <a:xfrm xmlns:a="http://schemas.openxmlformats.org/drawingml/2006/main">
          <a:off x="6248400" y="76200"/>
          <a:ext cx="2407920" cy="6858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smtClean="0"/>
            <a:t>2011 summer hovered around  $100.00</a:t>
          </a:r>
        </a:p>
        <a:p xmlns:a="http://schemas.openxmlformats.org/drawingml/2006/main">
          <a:r>
            <a:rPr lang="en-US" sz="1100" dirty="0" smtClean="0"/>
            <a:t>In September fell to $79.85</a:t>
          </a:r>
        </a:p>
        <a:p xmlns:a="http://schemas.openxmlformats.org/drawingml/2006/main">
          <a:r>
            <a:rPr lang="en-US" dirty="0" smtClean="0"/>
            <a:t>Finishing in December around $100.00</a:t>
          </a:r>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0.10389</cdr:x>
      <cdr:y>0.15974</cdr:y>
    </cdr:from>
    <cdr:to>
      <cdr:x>0.31005</cdr:x>
      <cdr:y>0.25923</cdr:y>
    </cdr:to>
    <cdr:sp macro="" textlink="">
      <cdr:nvSpPr>
        <cdr:cNvPr id="2" name="TextBox 1"/>
        <cdr:cNvSpPr txBox="1"/>
      </cdr:nvSpPr>
      <cdr:spPr>
        <a:xfrm xmlns:a="http://schemas.openxmlformats.org/drawingml/2006/main">
          <a:off x="899305" y="992033"/>
          <a:ext cx="1784628" cy="617863"/>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0.57923</cdr:x>
      <cdr:y>0.46749</cdr:y>
    </cdr:from>
    <cdr:to>
      <cdr:x>0.68296</cdr:x>
      <cdr:y>0.61078</cdr:y>
    </cdr:to>
    <cdr:sp macro="" textlink="">
      <cdr:nvSpPr>
        <cdr:cNvPr id="3" name="TextBox 2"/>
        <cdr:cNvSpPr txBox="1"/>
      </cdr:nvSpPr>
      <cdr:spPr>
        <a:xfrm xmlns:a="http://schemas.openxmlformats.org/drawingml/2006/main">
          <a:off x="5013960" y="2876550"/>
          <a:ext cx="897920" cy="88168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err="1"/>
            <a:t>Trendline</a:t>
          </a:r>
          <a:r>
            <a:rPr lang="en-US" sz="1100" baseline="0" dirty="0"/>
            <a:t> according to </a:t>
          </a:r>
        </a:p>
        <a:p xmlns:a="http://schemas.openxmlformats.org/drawingml/2006/main">
          <a:r>
            <a:rPr lang="en-US" sz="1100" baseline="0" dirty="0"/>
            <a:t>2009-2019 Industry</a:t>
          </a:r>
        </a:p>
        <a:p xmlns:a="http://schemas.openxmlformats.org/drawingml/2006/main">
          <a:r>
            <a:rPr lang="en-US" sz="1100" baseline="0" dirty="0"/>
            <a:t>Projections.</a:t>
          </a:r>
          <a:endParaRPr lang="en-US" sz="1100" dirty="0"/>
        </a:p>
      </cdr:txBody>
    </cdr:sp>
  </cdr:relSizeAnchor>
  <cdr:relSizeAnchor xmlns:cdr="http://schemas.openxmlformats.org/drawingml/2006/chartDrawing">
    <cdr:from>
      <cdr:x>0.7052</cdr:x>
      <cdr:y>0.21268</cdr:y>
    </cdr:from>
    <cdr:to>
      <cdr:x>0.88513</cdr:x>
      <cdr:y>0.25423</cdr:y>
    </cdr:to>
    <cdr:sp macro="" textlink="">
      <cdr:nvSpPr>
        <cdr:cNvPr id="4" name="TextBox 3"/>
        <cdr:cNvSpPr txBox="1"/>
      </cdr:nvSpPr>
      <cdr:spPr>
        <a:xfrm xmlns:a="http://schemas.openxmlformats.org/drawingml/2006/main">
          <a:off x="6104467" y="1320800"/>
          <a:ext cx="1557496" cy="25807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a:t>Intersect in  </a:t>
          </a:r>
          <a:r>
            <a:rPr lang="en-US" sz="1100" baseline="0"/>
            <a:t>2016.</a:t>
          </a:r>
          <a:endParaRPr lang="en-US" sz="11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B62F85-FF66-44D1-82D7-559506E0E185}" type="datetimeFigureOut">
              <a:rPr lang="en-US" smtClean="0"/>
              <a:pPr/>
              <a:t>03/22/2012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4A1AD-A4FD-4EBB-8741-6B8D1E67573F}" type="slidenum">
              <a:rPr lang="en-US" smtClean="0"/>
              <a:pPr/>
              <a:t>‹#›</a:t>
            </a:fld>
            <a:endParaRPr 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2EAC50-3C0D-4845-9B0E-EDD316AC15E4}" type="datetimeFigureOut">
              <a:rPr lang="en-US" smtClean="0"/>
              <a:pPr/>
              <a:t>03/22/2012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D0FF3-EC67-4475-B578-C8903820EFDA}" type="slidenum">
              <a:rPr lang="en-US" smtClean="0"/>
              <a:pPr/>
              <a:t>‹#›</a:t>
            </a:fld>
            <a:endParaRPr 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research.stlouisfed.org/fred2/data/NAPM.txt"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census.gov/retail/marts/www/download/text/adv44y72.txt"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bls.gov/lau/stalt.ht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blogs.wsj.com/economics/2011/11/14/a-state-by-state-look-at-long-road-to-jobs-recovery/tab/interactiv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Labor Market is like the Stock Market. In the stock market people buy,</a:t>
            </a:r>
            <a:r>
              <a:rPr lang="en-US" baseline="0" dirty="0" smtClean="0"/>
              <a:t> sale and trade stocks. In the Labor Market anyone with a job participates and trades time, skills and work for income. LMI is anything that is related to work.</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Agenda</a:t>
            </a:r>
            <a:endParaRPr lang="en-US" dirty="0"/>
          </a:p>
        </p:txBody>
      </p:sp>
      <p:sp>
        <p:nvSpPr>
          <p:cNvPr id="4" name="Slide Number Placeholder 3"/>
          <p:cNvSpPr>
            <a:spLocks noGrp="1"/>
          </p:cNvSpPr>
          <p:nvPr>
            <p:ph type="sldNum" sz="quarter" idx="10"/>
          </p:nvPr>
        </p:nvSpPr>
        <p:spPr/>
        <p:txBody>
          <a:bodyPr/>
          <a:lstStyle/>
          <a:p>
            <a:fld id="{614D0FF3-EC67-4475-B578-C8903820EFDA}"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One of the agreed</a:t>
            </a:r>
            <a:r>
              <a:rPr lang="en-US" baseline="0" dirty="0" smtClean="0"/>
              <a:t> upon indications of a recession is two or more consecutive quarters of GDP decline which occurred Dec. 2007. The primary </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This is why we lost over 11,000 jobs in construction. Last year we just</a:t>
            </a:r>
            <a:r>
              <a:rPr lang="en-US" baseline="0" dirty="0" smtClean="0"/>
              <a:t> went over 4000</a:t>
            </a:r>
            <a:r>
              <a:rPr lang="en-US" dirty="0" smtClean="0"/>
              <a:t>. No recovery in sight for new housing. http://research.stlouisfed.org/fred2/series/NMBPPRIV/downloaddata?rid=148&amp;soid=19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State Revenue depends in part on oil &amp; gas taxes. </a:t>
            </a:r>
            <a:r>
              <a:rPr lang="en-US" sz="1200" b="0" i="0" u="sng" strike="noStrike" kern="1200" dirty="0" smtClean="0">
                <a:solidFill>
                  <a:schemeClr val="tx1"/>
                </a:solidFill>
                <a:latin typeface="+mn-lt"/>
                <a:ea typeface="+mn-ea"/>
                <a:cs typeface="+mn-cs"/>
              </a:rPr>
              <a:t>http://octane.nmt.edu/gotech/Rigcount/monthlyavg_rigcount.aspx?year=2012</a:t>
            </a:r>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the mid</a:t>
            </a:r>
            <a:r>
              <a:rPr lang="en-US" baseline="0" dirty="0" smtClean="0"/>
              <a:t> 70’s and 80’ high inflation and energy costs effected manufacturing. </a:t>
            </a:r>
            <a:r>
              <a:rPr lang="en-US" dirty="0" smtClean="0">
                <a:hlinkClick r:id="rId3"/>
              </a:rPr>
              <a:t>http://research.stlouisfed.org/fred2/data/NAPM.txt</a:t>
            </a:r>
            <a:r>
              <a:rPr lang="en-US" dirty="0" smtClean="0"/>
              <a:t> </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A combination of the financial market meltdown and consumer fear had a major impact on consumer spending. Consumer spending accounts for about 70 percent of U.S. gross domestic product. </a:t>
            </a:r>
            <a:r>
              <a:rPr lang="en-US" dirty="0" smtClean="0">
                <a:hlinkClick r:id="rId3"/>
              </a:rPr>
              <a:t>http://www.census.gov/retail/marts/www/download/text/adv44y72.txt</a:t>
            </a:r>
            <a:r>
              <a:rPr lang="en-US" dirty="0" smtClean="0"/>
              <a:t> </a:t>
            </a:r>
          </a:p>
          <a:p>
            <a:pPr eaLnBrk="1" hangingPunct="1">
              <a:spcBef>
                <a:spcPct val="0"/>
              </a:spcBef>
            </a:pPr>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You can see the dips the US took thru previous recessions…Because we have gov’t and energy jobs, NM did better until this one.</a:t>
            </a:r>
          </a:p>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New Mexico lost about 57,000 jobs. We currently are doing better but still</a:t>
            </a:r>
            <a:r>
              <a:rPr lang="en-US" baseline="0" dirty="0" smtClean="0"/>
              <a:t> have a lot of ground to make up. This is the job supply and a consequence of increase demand with decreasing supply is for wages to decline.</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The reason health care</a:t>
            </a:r>
            <a:r>
              <a:rPr lang="en-US" baseline="0" dirty="0" smtClean="0"/>
              <a:t> is given so much focus is because they have significantly added jobs during this recession. </a:t>
            </a:r>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charset="0"/>
              <a:buNone/>
            </a:pPr>
            <a:r>
              <a:rPr lang="en-US" dirty="0" smtClean="0"/>
              <a:t>Central area is very similar</a:t>
            </a:r>
            <a:r>
              <a:rPr lang="en-US" baseline="0" dirty="0" smtClean="0"/>
              <a:t> to the statewide. </a:t>
            </a:r>
            <a:r>
              <a:rPr lang="en-US" dirty="0" smtClean="0"/>
              <a:t>The industries with 0 didn’t change and/or had little employment to start with. *Some of the counties in this region had suppressed data for this industry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Eastern Area is very different from statewide. Growth in Construction &amp; Manufacturing is related</a:t>
            </a:r>
            <a:r>
              <a:rPr lang="en-US" baseline="0" dirty="0" smtClean="0"/>
              <a:t> to the uranium enrichment plant and other energy generation projects. </a:t>
            </a:r>
            <a:r>
              <a:rPr lang="en-US" dirty="0" smtClean="0"/>
              <a:t>*Some of the counties in this region had suppressed data for this industry</a:t>
            </a: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charset="0"/>
              <a:buNone/>
            </a:pPr>
            <a:r>
              <a:rPr lang="en-US" dirty="0" smtClean="0"/>
              <a:t>Northern area</a:t>
            </a:r>
            <a:r>
              <a:rPr lang="en-US" baseline="0" dirty="0" smtClean="0"/>
              <a:t> was especially hit hard by the recession. </a:t>
            </a:r>
            <a:r>
              <a:rPr lang="en-US" dirty="0" smtClean="0"/>
              <a:t>*Some of the counties in this region had suppressed data for this industry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charset="0"/>
              <a:buNone/>
            </a:pPr>
            <a:r>
              <a:rPr lang="en-US" dirty="0" smtClean="0"/>
              <a:t>Grants</a:t>
            </a:r>
            <a:r>
              <a:rPr lang="en-US" baseline="0" dirty="0" smtClean="0"/>
              <a:t> county had the mine re-open, </a:t>
            </a:r>
            <a:r>
              <a:rPr lang="en-US" dirty="0" smtClean="0"/>
              <a:t>Las</a:t>
            </a:r>
            <a:r>
              <a:rPr lang="en-US" baseline="0" dirty="0" smtClean="0"/>
              <a:t> Cruces continues to show some signs of growth during this recession. </a:t>
            </a:r>
            <a:r>
              <a:rPr lang="en-US" dirty="0" smtClean="0"/>
              <a:t>*Some of the counties in this region had suppressed data for this industry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Gov employment in Health and Ed. – Healthcare is the largest sector</a:t>
            </a:r>
            <a:r>
              <a:rPr lang="en-US" baseline="0" dirty="0" smtClean="0"/>
              <a:t> by employment. Small slices by employment Utilities, Real Estate &amp; Agriculture, still have large monetary impact on the economy.</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US economy stopped</a:t>
            </a:r>
            <a:r>
              <a:rPr lang="en-US" baseline="0" dirty="0" smtClean="0"/>
              <a:t> contracting June 2009 and showed an increase in July 2009. </a:t>
            </a:r>
            <a:r>
              <a:rPr lang="en-US" dirty="0" smtClean="0"/>
              <a:t>Employment</a:t>
            </a:r>
            <a:r>
              <a:rPr lang="en-US" baseline="0" dirty="0" smtClean="0"/>
              <a:t> will be slower to recover which is a characteristic that makes this recession different from other recent ones.</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Unemployed and actively</a:t>
            </a:r>
            <a:r>
              <a:rPr lang="en-US" baseline="0" dirty="0" smtClean="0"/>
              <a:t> seeking employment in the last month. A very narrow definition of economic hardship. We expect a spike in unemployment as employers begin advertise job openings and add more jobs again.</a:t>
            </a:r>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http://www.bls.gov/lau/stalt.htm</a:t>
            </a:r>
            <a:r>
              <a:rPr lang="en-US" dirty="0" smtClean="0"/>
              <a:t> broader</a:t>
            </a:r>
            <a:r>
              <a:rPr lang="en-US" baseline="0" dirty="0" smtClean="0"/>
              <a:t> measure of “unemployment” that fits closer with perceptions of the difficult economy and the hardships experienced by workers.</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Source is the Mapping</a:t>
            </a:r>
            <a:r>
              <a:rPr lang="en-US" baseline="0" dirty="0" smtClean="0"/>
              <a:t> tool at http://data.bls.gov/map/</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Prior to this recession duration of claims in</a:t>
            </a:r>
            <a:r>
              <a:rPr lang="en-US" baseline="0" dirty="0" smtClean="0"/>
              <a:t> the 52+ was a very small percentage. </a:t>
            </a:r>
            <a:r>
              <a:rPr lang="en-US" dirty="0" smtClean="0"/>
              <a:t>Workers</a:t>
            </a:r>
            <a:r>
              <a:rPr lang="en-US" baseline="0" dirty="0" smtClean="0"/>
              <a:t> who have been out of the workforce for big blocks of time have to overcome employers questions on work skills being current.</a:t>
            </a: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fontAlgn="t"/>
            <a:r>
              <a:rPr lang="en-US" sz="1200" kern="1200" dirty="0" smtClean="0">
                <a:solidFill>
                  <a:schemeClr val="tx1"/>
                </a:solidFill>
                <a:latin typeface="+mn-lt"/>
                <a:ea typeface="+mn-ea"/>
                <a:cs typeface="+mn-cs"/>
              </a:rPr>
              <a:t>For many years, men's unemployment rates were generally lower than women's both during and between recessions. However, since the early 1980s when labor force participation rates evened out between men and women, men's unemployment rates have been higher than women's during or immediately after recessions, and the rates for men and women have been quite similar in other periods. Higher unemployment among men was especially notable during and immediately after the recent recession. </a:t>
            </a:r>
            <a:endParaRPr lang="en-US" sz="1200" kern="1200" dirty="0">
              <a:solidFill>
                <a:schemeClr val="tx1"/>
              </a:solidFill>
              <a:latin typeface="+mn-lt"/>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During recessions youth tend to have higher</a:t>
            </a:r>
            <a:r>
              <a:rPr lang="en-US" baseline="0" dirty="0" smtClean="0"/>
              <a:t> unemployment rates and this one has not been an exception. Mom and Dad they really can’t find a job. Annual Average UR was 7.4%</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Unemployment rates very by race</a:t>
            </a:r>
            <a:r>
              <a:rPr lang="en-US" baseline="0" dirty="0" smtClean="0"/>
              <a:t> in which minority groups tending to have higher unemployment.</a:t>
            </a: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From the US Census</a:t>
            </a:r>
            <a:r>
              <a:rPr lang="en-US" baseline="0" dirty="0" smtClean="0"/>
              <a:t> Mapping tool at http://2010.census.gov/2010census/popmap/ full release of data will happen May 4</a:t>
            </a:r>
            <a:r>
              <a:rPr lang="en-US" baseline="30000" dirty="0" smtClean="0"/>
              <a:t>th</a:t>
            </a:r>
            <a:r>
              <a:rPr lang="en-US" baseline="0" dirty="0" smtClean="0"/>
              <a:t> and map will also show  Race, Ethnicity, Age/Sex and Household data.</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demographic shift is 65 and over nationwide.</a:t>
            </a:r>
            <a:r>
              <a:rPr lang="en-US" baseline="0" dirty="0" smtClean="0"/>
              <a:t> Only marginal changes in 25-64 with little to no change in 18-24.</a:t>
            </a:r>
            <a:r>
              <a:rPr lang="en-US" sz="1200" b="0" i="0" kern="1200" dirty="0" smtClean="0">
                <a:solidFill>
                  <a:schemeClr val="tx1"/>
                </a:solidFill>
                <a:latin typeface="+mn-lt"/>
                <a:ea typeface="+mn-ea"/>
                <a:cs typeface="+mn-cs"/>
              </a:rPr>
              <a:t> According to the 2010 Census, there were 40.3 million people 65 and older on April 1, 2010, increasing by 5.3 million since the 2000 Census when this population numbered 35.0 million. The percentage of the population 65 and older also increased during the previous decade. In 2010, the older population represented 13.0 percent of the total population, an increase from 12.4 percent in 2000.</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NM</a:t>
            </a:r>
            <a:r>
              <a:rPr lang="en-US" baseline="0" dirty="0" smtClean="0"/>
              <a:t> has an out-migration during the 25-44 working years but then it reverses to in-migration 45-64.</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We may have seen the bottom in jobs losses.</a:t>
            </a:r>
            <a:r>
              <a:rPr lang="en-US" baseline="0" dirty="0" smtClean="0"/>
              <a:t> W</a:t>
            </a:r>
            <a:r>
              <a:rPr lang="en-US" dirty="0" smtClean="0"/>
              <a:t>hen we do, we’ll be talking in terms of job recovery more so than job growth. The new term for this is growth recession. National based estimates are at 2014-2015 with some states</a:t>
            </a:r>
            <a:r>
              <a:rPr lang="en-US" baseline="0" dirty="0" smtClean="0"/>
              <a:t> lagging such as Michigan being as late as 2019.</a:t>
            </a:r>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http://blogs.wsj.com/economics/2011/11/14/a-state-by-state-look-at-long-road-to-jobs-recovery/tab/interactive/</a:t>
            </a:r>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Tigger Economics beats all the others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Given the industry data and the</a:t>
            </a:r>
            <a:r>
              <a:rPr lang="en-US" baseline="0" dirty="0" smtClean="0"/>
              <a:t> current economic situation how do we direct students and others on career choices?</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Occupations</a:t>
            </a:r>
            <a:r>
              <a:rPr lang="en-US" baseline="0" dirty="0" smtClean="0"/>
              <a:t> groups as only an economist would organize them. </a:t>
            </a:r>
            <a:r>
              <a:rPr lang="en-US" baseline="0" dirty="0" err="1" smtClean="0"/>
              <a:t>O*net</a:t>
            </a:r>
            <a:r>
              <a:rPr lang="en-US" baseline="0" dirty="0" smtClean="0"/>
              <a:t> is the coding system that determines how data is collected for occupations. </a:t>
            </a:r>
            <a:r>
              <a:rPr lang="en-US" baseline="0" dirty="0" err="1" smtClean="0"/>
              <a:t>O*net</a:t>
            </a:r>
            <a:r>
              <a:rPr lang="en-US" baseline="0" dirty="0" smtClean="0"/>
              <a:t> is based on Knowledge, Skills, Abilities and Tasks.</a:t>
            </a:r>
            <a:endParaRPr lang="en-US" dirty="0"/>
          </a:p>
        </p:txBody>
      </p:sp>
      <p:sp>
        <p:nvSpPr>
          <p:cNvPr id="4" name="Slide Number Placeholder 3"/>
          <p:cNvSpPr>
            <a:spLocks noGrp="1"/>
          </p:cNvSpPr>
          <p:nvPr>
            <p:ph type="sldNum" sz="quarter" idx="10"/>
          </p:nvPr>
        </p:nvSpPr>
        <p:spPr/>
        <p:txBody>
          <a:bodyPr/>
          <a:lstStyle/>
          <a:p>
            <a:fld id="{614D0FF3-EC67-4475-B578-C8903820EFDA}" type="slidenum">
              <a:rPr lang="en-US" smtClean="0"/>
              <a:pPr/>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The order of the occupations did not change from 2008 despite the large losses in construction &amp; mining. Education gains didn’t catch them up.</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declining occupations are Ag and Manuf.</a:t>
            </a:r>
            <a:r>
              <a:rPr lang="en-US" baseline="0" dirty="0" smtClean="0"/>
              <a:t> Healthcare jobs are in two of the areas of high growth. Construction should turn around and show modest increases.</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Short-term on-the-job</a:t>
            </a:r>
            <a:r>
              <a:rPr lang="en-US" baseline="0" dirty="0" smtClean="0"/>
              <a:t> training occupations are Retail Sales clerk, Cashiers, Food Preparation workers, Waiters &amp; Waitresses, Personal and Home Care Aides, Janitors and Cleaners, Office Clerks etc.</a:t>
            </a:r>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More informative to look at detailed occupations. These are all entry level positions.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Most of these are entry level positions. </a:t>
            </a:r>
            <a:r>
              <a:rPr lang="en-US" dirty="0" smtClean="0"/>
              <a:t>Bright spots for wages are 7 and 11. Home Health Aides can be an</a:t>
            </a:r>
            <a:r>
              <a:rPr lang="en-US" baseline="0" dirty="0" smtClean="0"/>
              <a:t> entry level to healthcare jobs if paired with education. </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the number of healthcare</a:t>
            </a:r>
            <a:r>
              <a:rPr lang="en-US" baseline="0" dirty="0" smtClean="0"/>
              <a:t> jobs on this list. Actuaries are small numbers.</a:t>
            </a:r>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healthcare</a:t>
            </a:r>
            <a:r>
              <a:rPr lang="en-US" baseline="0" dirty="0" smtClean="0"/>
              <a:t> and technology fields.</a:t>
            </a:r>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Family and General Practitioners</a:t>
            </a:r>
            <a:r>
              <a:rPr lang="en-US" baseline="0" dirty="0" smtClean="0"/>
              <a:t> are Doctors. All these occupations involve specialized training. </a:t>
            </a:r>
            <a:r>
              <a:rPr lang="en-US" dirty="0" smtClean="0"/>
              <a:t>Any surprises? </a:t>
            </a: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One can argue</a:t>
            </a:r>
            <a:r>
              <a:rPr lang="en-US" baseline="0" dirty="0" smtClean="0"/>
              <a:t> that tipped occupations shouldn’t be on this list. I would argue that tipped occupations might not involve a 40 hour work week.</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Most of these are declining because manufacturing</a:t>
            </a:r>
            <a:r>
              <a:rPr lang="en-US" baseline="0" dirty="0" smtClean="0"/>
              <a:t> continues to decline. Even Intel has retooled it’s manufacturing site to use less semiconductor processors</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 occupation</a:t>
            </a:r>
            <a:r>
              <a:rPr lang="en-US" baseline="0" dirty="0" smtClean="0"/>
              <a:t> </a:t>
            </a:r>
            <a:r>
              <a:rPr lang="en-US" dirty="0" smtClean="0"/>
              <a:t>county data for</a:t>
            </a:r>
            <a:r>
              <a:rPr lang="en-US" baseline="0" dirty="0" smtClean="0"/>
              <a:t> wages or projections because of confidentiality. </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Statistics that support why career exploration is so important</a:t>
            </a:r>
            <a:r>
              <a:rPr lang="en-US" baseline="0" dirty="0" smtClean="0"/>
              <a:t> to ones current and future financial security. http://www.bls.gov/emp/ep_chart_001.htm</a:t>
            </a:r>
          </a:p>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Text Placeholder 8"/>
          <p:cNvSpPr>
            <a:spLocks noGrp="1"/>
          </p:cNvSpPr>
          <p:nvPr>
            <p:ph type="body" sz="quarter" idx="10"/>
          </p:nvPr>
        </p:nvSpPr>
        <p:spPr>
          <a:xfrm>
            <a:off x="3200400" y="4648200"/>
            <a:ext cx="4495800" cy="1600200"/>
          </a:xfrm>
          <a:prstGeom prst="rect">
            <a:avLst/>
          </a:prstGeom>
        </p:spPr>
        <p:txBody>
          <a:bodyPr/>
          <a:lstStyle>
            <a:lvl1pPr>
              <a:defRPr/>
            </a:lvl1pPr>
          </a:lstStyle>
          <a:p>
            <a:pPr lvl="0"/>
            <a:r>
              <a:rPr lang="en-US" smtClean="0"/>
              <a:t>Click to edit Master text styles</a:t>
            </a:r>
          </a:p>
          <a:p>
            <a:pPr lvl="1"/>
            <a:r>
              <a:rPr lang="en-US" smtClean="0"/>
              <a:t>Second level</a:t>
            </a:r>
          </a:p>
          <a:p>
            <a:pPr lvl="2"/>
            <a:r>
              <a:rPr lang="en-US" smtClean="0"/>
              <a:t>Third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0668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65238"/>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905000"/>
            <a:ext cx="4040188" cy="4191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265238"/>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1905000"/>
            <a:ext cx="4041775" cy="4191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 No Footer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pic>
        <p:nvPicPr>
          <p:cNvPr id="2" name="Picture 13" descr="ERA-logo150.jpg"/>
          <p:cNvPicPr>
            <a:picLocks noChangeAspect="1"/>
          </p:cNvPicPr>
          <p:nvPr userDrawn="1"/>
        </p:nvPicPr>
        <p:blipFill>
          <a:blip r:embed="rId2" cstate="print"/>
          <a:srcRect/>
          <a:stretch>
            <a:fillRect/>
          </a:stretch>
        </p:blipFill>
        <p:spPr bwMode="auto">
          <a:xfrm>
            <a:off x="381000" y="6235700"/>
            <a:ext cx="1303338" cy="469900"/>
          </a:xfrm>
          <a:prstGeom prst="rect">
            <a:avLst/>
          </a:prstGeom>
          <a:noFill/>
          <a:ln w="9525">
            <a:noFill/>
            <a:miter lim="800000"/>
            <a:headEnd/>
            <a:tailEnd/>
          </a:ln>
        </p:spPr>
      </p:pic>
      <p:sp>
        <p:nvSpPr>
          <p:cNvPr id="6" name="Title 1"/>
          <p:cNvSpPr>
            <a:spLocks noGrp="1"/>
          </p:cNvSpPr>
          <p:nvPr>
            <p:ph type="title"/>
          </p:nvPr>
        </p:nvSpPr>
        <p:spPr>
          <a:xfrm>
            <a:off x="457200" y="274638"/>
            <a:ext cx="8229600" cy="792162"/>
          </a:xfr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7" descr="LFCPresentation3.jpg"/>
          <p:cNvPicPr>
            <a:picLocks noChangeAspect="1"/>
          </p:cNvPicPr>
          <p:nvPr/>
        </p:nvPicPr>
        <p:blipFill>
          <a:blip r:embed="rId3" cstate="print"/>
          <a:srcRect/>
          <a:stretch>
            <a:fillRect/>
          </a:stretch>
        </p:blipFill>
        <p:spPr bwMode="auto">
          <a:xfrm>
            <a:off x="222250" y="1414463"/>
            <a:ext cx="8921750" cy="5062537"/>
          </a:xfrm>
          <a:prstGeom prst="rect">
            <a:avLst/>
          </a:prstGeom>
          <a:noFill/>
          <a:ln w="9525">
            <a:noFill/>
            <a:miter lim="800000"/>
            <a:headEnd/>
            <a:tailEnd/>
          </a:ln>
        </p:spPr>
      </p:pic>
      <p:sp>
        <p:nvSpPr>
          <p:cNvPr id="2051" name="Title Placeholder 1"/>
          <p:cNvSpPr>
            <a:spLocks noGrp="1"/>
          </p:cNvSpPr>
          <p:nvPr>
            <p:ph type="title"/>
          </p:nvPr>
        </p:nvSpPr>
        <p:spPr bwMode="auto">
          <a:xfrm>
            <a:off x="914400" y="1905000"/>
            <a:ext cx="7924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Name of Presentation Here</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ctr" rtl="0" eaLnBrk="1" fontAlgn="base" hangingPunct="1">
        <a:spcBef>
          <a:spcPct val="0"/>
        </a:spcBef>
        <a:spcAft>
          <a:spcPct val="0"/>
        </a:spcAft>
        <a:defRPr sz="4400" b="1" kern="1200">
          <a:solidFill>
            <a:srgbClr val="31859C"/>
          </a:solidFill>
          <a:latin typeface="Times New Roman" pitchFamily="18" charset="0"/>
          <a:ea typeface="+mj-ea"/>
          <a:cs typeface="Times New Roman" pitchFamily="18" charset="0"/>
        </a:defRPr>
      </a:lvl1pPr>
      <a:lvl2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2pPr>
      <a:lvl3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3pPr>
      <a:lvl4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4pPr>
      <a:lvl5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5pPr>
      <a:lvl6pPr marL="4572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6pPr>
      <a:lvl7pPr marL="9144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7pPr>
      <a:lvl8pPr marL="13716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8pPr>
      <a:lvl9pPr marL="18288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9pPr>
    </p:titleStyle>
    <p:bodyStyle>
      <a:lvl1pPr marL="342900" indent="-342900" algn="l" rtl="0" eaLnBrk="1" fontAlgn="base" hangingPunct="1">
        <a:spcBef>
          <a:spcPct val="20000"/>
        </a:spcBef>
        <a:spcAft>
          <a:spcPct val="0"/>
        </a:spcAft>
        <a:buFont typeface="Arial" charset="0"/>
        <a:buChar char="•"/>
        <a:defRPr sz="1600" b="1" kern="12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2pPr>
      <a:lvl3pPr marL="1143000" indent="-22860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5" descr="bottom.jpg"/>
          <p:cNvPicPr>
            <a:picLocks noChangeAspect="1"/>
          </p:cNvPicPr>
          <p:nvPr/>
        </p:nvPicPr>
        <p:blipFill>
          <a:blip r:embed="rId8" cstate="print"/>
          <a:srcRect/>
          <a:stretch>
            <a:fillRect/>
          </a:stretch>
        </p:blipFill>
        <p:spPr bwMode="auto">
          <a:xfrm>
            <a:off x="152400" y="6049963"/>
            <a:ext cx="8763000" cy="700087"/>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0668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1" r:id="rId5"/>
    <p:sldLayoutId id="2147483680" r:id="rId6"/>
  </p:sldLayoutIdLst>
  <p:hf hdr="0" ftr="0" dt="0"/>
  <p:txStyles>
    <p:titleStyle>
      <a:lvl1pPr algn="l" rtl="0" eaLnBrk="1" fontAlgn="base" hangingPunct="1">
        <a:spcBef>
          <a:spcPct val="0"/>
        </a:spcBef>
        <a:spcAft>
          <a:spcPct val="0"/>
        </a:spcAft>
        <a:defRPr sz="3600" b="1" kern="1200">
          <a:solidFill>
            <a:srgbClr val="31859C"/>
          </a:solidFill>
          <a:latin typeface="Times New Roman" pitchFamily="18" charset="0"/>
          <a:ea typeface="+mj-ea"/>
          <a:cs typeface="Times New Roman" pitchFamily="18" charset="0"/>
        </a:defRPr>
      </a:lvl1pPr>
      <a:lvl2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2pPr>
      <a:lvl3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3pPr>
      <a:lvl4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4pPr>
      <a:lvl5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5pPr>
      <a:lvl6pPr marL="4572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6pPr>
      <a:lvl7pPr marL="9144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7pPr>
      <a:lvl8pPr marL="13716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8pPr>
      <a:lvl9pPr marL="18288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www.bls.gov/lau/stalt.htm" TargetMode="External"/><Relationship Id="rId7" Type="http://schemas.openxmlformats.org/officeDocument/2006/relationships/diagramColors" Target="../diagrams/colors1.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chart" Target="../charts/chart12.xml"/></Relationships>
</file>

<file path=ppt/slides/_rels/slide2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oleObject" Target="../embeddings/Microsoft_Office_Excel_97-2003_Worksheet2.xls"/></Relationships>
</file>

<file path=ppt/slides/_rels/slide28.xml.rels><?xml version="1.0" encoding="UTF-8" standalone="yes"?>
<Relationships xmlns="http://schemas.openxmlformats.org/package/2006/relationships"><Relationship Id="rId3" Type="http://schemas.openxmlformats.org/officeDocument/2006/relationships/oleObject" Target="../embeddings/Microsoft_Office_Excel_97-2003_Worksheet3.xls"/><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29.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Microsoft_Office_Excel_97-2003_Worksheet4.xls"/></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Microsoft_Office_Excel_97-2003_Worksheet5.xls"/></Relationships>
</file>

<file path=ppt/slides/_rels/slide36.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hyperlink" Target="http://www.onetacademy.org/" TargetMode="External"/><Relationship Id="rId3" Type="http://schemas.openxmlformats.org/officeDocument/2006/relationships/hyperlink" Target="http://laser.state.nm.us/" TargetMode="External"/><Relationship Id="rId7" Type="http://schemas.openxmlformats.org/officeDocument/2006/relationships/hyperlink" Target="http://www.onetonline.org/" TargetMode="External"/><Relationship Id="rId2" Type="http://schemas.openxmlformats.org/officeDocument/2006/relationships/hyperlink" Target="http://www.dws.state.nm.us/careersolutions/" TargetMode="External"/><Relationship Id="rId1" Type="http://schemas.openxmlformats.org/officeDocument/2006/relationships/slideLayout" Target="../slideLayouts/slideLayout5.xml"/><Relationship Id="rId6" Type="http://schemas.openxmlformats.org/officeDocument/2006/relationships/hyperlink" Target="http://careeronestop.org/" TargetMode="External"/><Relationship Id="rId5" Type="http://schemas.openxmlformats.org/officeDocument/2006/relationships/hyperlink" Target="http://www.greenjobs.state.nm.us/" TargetMode="External"/><Relationship Id="rId4" Type="http://schemas.openxmlformats.org/officeDocument/2006/relationships/hyperlink" Target="https://www.jobs.state.nm.us/" TargetMode="External"/><Relationship Id="rId9" Type="http://schemas.openxmlformats.org/officeDocument/2006/relationships/image" Target="../media/image30.jpeg"/></Relationships>
</file>

<file path=ppt/slides/_rels/slide4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hyperlink" Target="mailto:suzan.reagan@state.nm.u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smtClean="0"/>
              <a:t>The Great Recession</a:t>
            </a:r>
            <a:endParaRPr lang="en-US" sz="5400" dirty="0"/>
          </a:p>
        </p:txBody>
      </p:sp>
      <p:sp>
        <p:nvSpPr>
          <p:cNvPr id="3" name="Text Placeholder 2"/>
          <p:cNvSpPr>
            <a:spLocks noGrp="1"/>
          </p:cNvSpPr>
          <p:nvPr>
            <p:ph type="body" sz="quarter" idx="10"/>
          </p:nvPr>
        </p:nvSpPr>
        <p:spPr>
          <a:xfrm>
            <a:off x="3200400" y="4648200"/>
            <a:ext cx="4495800" cy="685800"/>
          </a:xfrm>
        </p:spPr>
        <p:txBody>
          <a:bodyPr/>
          <a:lstStyle/>
          <a:p>
            <a:pPr algn="ctr">
              <a:buNone/>
            </a:pPr>
            <a:r>
              <a:rPr lang="en-US" dirty="0" smtClean="0">
                <a:latin typeface="+mj-lt"/>
              </a:rPr>
              <a:t>March 2012</a:t>
            </a:r>
          </a:p>
          <a:p>
            <a:pPr algn="ctr">
              <a:buNone/>
            </a:pPr>
            <a:r>
              <a:rPr lang="en-US" dirty="0" smtClean="0">
                <a:latin typeface="+mj-lt"/>
              </a:rPr>
              <a:t>Suzan Reagan, Labor Economist</a:t>
            </a:r>
          </a:p>
          <a:p>
            <a:endParaRPr lang="en-US" dirty="0"/>
          </a:p>
        </p:txBody>
      </p:sp>
      <p:sp>
        <p:nvSpPr>
          <p:cNvPr id="4" name="TextBox 3"/>
          <p:cNvSpPr txBox="1"/>
          <p:nvPr/>
        </p:nvSpPr>
        <p:spPr>
          <a:xfrm>
            <a:off x="2890865" y="2971800"/>
            <a:ext cx="4175695" cy="1015663"/>
          </a:xfrm>
          <a:prstGeom prst="rect">
            <a:avLst/>
          </a:prstGeom>
          <a:noFill/>
        </p:spPr>
        <p:txBody>
          <a:bodyPr wrap="none" rtlCol="0">
            <a:spAutoFit/>
          </a:bodyPr>
          <a:lstStyle/>
          <a:p>
            <a:pPr algn="ctr"/>
            <a:r>
              <a:rPr lang="en-US" dirty="0" smtClean="0"/>
              <a:t>2007-2009</a:t>
            </a:r>
          </a:p>
          <a:p>
            <a:pPr algn="ctr"/>
            <a:endParaRPr lang="en-US" dirty="0" smtClean="0"/>
          </a:p>
          <a:p>
            <a:pPr algn="ctr"/>
            <a:r>
              <a:rPr lang="en-US" sz="2400" i="1" dirty="0" smtClean="0"/>
              <a:t>The recovery has started, really.</a:t>
            </a:r>
            <a:endParaRPr lang="en-US" sz="2400" i="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Labor Market Information</a:t>
            </a:r>
            <a:endParaRPr lang="en-US" dirty="0"/>
          </a:p>
        </p:txBody>
      </p:sp>
      <p:pic>
        <p:nvPicPr>
          <p:cNvPr id="4" name="Picture 2" descr="http://www.mclellan.info/images/stock_market.jpg"/>
          <p:cNvPicPr>
            <a:picLocks noChangeAspect="1" noChangeArrowheads="1"/>
          </p:cNvPicPr>
          <p:nvPr/>
        </p:nvPicPr>
        <p:blipFill>
          <a:blip r:embed="rId3" cstate="print"/>
          <a:srcRect/>
          <a:stretch>
            <a:fillRect/>
          </a:stretch>
        </p:blipFill>
        <p:spPr bwMode="auto">
          <a:xfrm>
            <a:off x="-3523" y="1143000"/>
            <a:ext cx="9147523" cy="4876800"/>
          </a:xfrm>
          <a:prstGeom prst="rect">
            <a:avLst/>
          </a:prstGeom>
          <a:noFill/>
        </p:spPr>
      </p:pic>
      <p:sp>
        <p:nvSpPr>
          <p:cNvPr id="5" name="TextBox 4"/>
          <p:cNvSpPr txBox="1"/>
          <p:nvPr/>
        </p:nvSpPr>
        <p:spPr>
          <a:xfrm>
            <a:off x="1752600" y="990600"/>
            <a:ext cx="2037417" cy="1754326"/>
          </a:xfrm>
          <a:prstGeom prst="rect">
            <a:avLst/>
          </a:prstGeom>
          <a:noFill/>
        </p:spPr>
        <p:txBody>
          <a:bodyPr wrap="none" rtlCol="0">
            <a:spAutoFit/>
          </a:bodyPr>
          <a:lstStyle/>
          <a:p>
            <a:pPr>
              <a:buFont typeface="Arial" pitchFamily="34" charset="0"/>
              <a:buChar char="•"/>
            </a:pPr>
            <a:r>
              <a:rPr lang="en-US" dirty="0" smtClean="0"/>
              <a:t>Job Descriptions</a:t>
            </a:r>
          </a:p>
          <a:p>
            <a:pPr>
              <a:buFont typeface="Arial" pitchFamily="34" charset="0"/>
              <a:buChar char="•"/>
            </a:pPr>
            <a:r>
              <a:rPr lang="en-US" dirty="0" smtClean="0"/>
              <a:t>Education</a:t>
            </a:r>
          </a:p>
          <a:p>
            <a:pPr>
              <a:buFont typeface="Arial" pitchFamily="34" charset="0"/>
              <a:buChar char="•"/>
            </a:pPr>
            <a:r>
              <a:rPr lang="en-US" dirty="0" smtClean="0"/>
              <a:t>Wages</a:t>
            </a:r>
          </a:p>
          <a:p>
            <a:pPr>
              <a:buFont typeface="Arial" pitchFamily="34" charset="0"/>
              <a:buChar char="•"/>
            </a:pPr>
            <a:r>
              <a:rPr lang="en-US" dirty="0" smtClean="0"/>
              <a:t>Employment levels</a:t>
            </a:r>
          </a:p>
          <a:p>
            <a:pPr>
              <a:buFont typeface="Arial" pitchFamily="34" charset="0"/>
              <a:buChar char="•"/>
            </a:pPr>
            <a:r>
              <a:rPr lang="en-US" dirty="0" smtClean="0"/>
              <a:t>Future Growth</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20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idx="1"/>
          </p:nvPr>
        </p:nvSpPr>
        <p:spPr>
          <a:xfrm>
            <a:off x="1295400" y="1524000"/>
            <a:ext cx="7620000" cy="4495800"/>
          </a:xfrm>
        </p:spPr>
        <p:txBody>
          <a:bodyPr/>
          <a:lstStyle/>
          <a:p>
            <a:pPr eaLnBrk="1" hangingPunct="1"/>
            <a:r>
              <a:rPr lang="en-US" dirty="0" smtClean="0">
                <a:latin typeface="Arial" charset="0"/>
                <a:cs typeface="Arial" charset="0"/>
              </a:rPr>
              <a:t>NM Economic Situation</a:t>
            </a:r>
          </a:p>
          <a:p>
            <a:pPr lvl="1"/>
            <a:r>
              <a:rPr lang="en-US" dirty="0" smtClean="0">
                <a:latin typeface="Arial" charset="0"/>
                <a:cs typeface="Arial" charset="0"/>
              </a:rPr>
              <a:t>Industry </a:t>
            </a:r>
          </a:p>
          <a:p>
            <a:pPr lvl="2"/>
            <a:r>
              <a:rPr lang="en-US" dirty="0" smtClean="0">
                <a:latin typeface="Arial" charset="0"/>
                <a:cs typeface="Arial" charset="0"/>
              </a:rPr>
              <a:t>Recession History/impact of </a:t>
            </a:r>
          </a:p>
          <a:p>
            <a:pPr lvl="2"/>
            <a:r>
              <a:rPr lang="en-US" dirty="0" smtClean="0">
                <a:latin typeface="Arial" charset="0"/>
                <a:cs typeface="Arial" charset="0"/>
              </a:rPr>
              <a:t>Current Situation</a:t>
            </a:r>
          </a:p>
          <a:p>
            <a:pPr lvl="2"/>
            <a:r>
              <a:rPr lang="en-US" dirty="0" smtClean="0">
                <a:latin typeface="Arial" charset="0"/>
                <a:cs typeface="Arial" charset="0"/>
              </a:rPr>
              <a:t>What’s Next</a:t>
            </a:r>
          </a:p>
          <a:p>
            <a:pPr lvl="1"/>
            <a:r>
              <a:rPr lang="en-US" dirty="0" smtClean="0">
                <a:latin typeface="Arial" charset="0"/>
                <a:cs typeface="Arial" charset="0"/>
              </a:rPr>
              <a:t>Occupations</a:t>
            </a:r>
          </a:p>
          <a:p>
            <a:r>
              <a:rPr lang="en-US" dirty="0" smtClean="0">
                <a:latin typeface="Arial" charset="0"/>
                <a:cs typeface="Arial" charset="0"/>
              </a:rPr>
              <a:t>Sources of Data</a:t>
            </a:r>
          </a:p>
          <a:p>
            <a:pPr lvl="1"/>
            <a:r>
              <a:rPr lang="en-US" dirty="0" smtClean="0">
                <a:latin typeface="Arial" charset="0"/>
                <a:cs typeface="Arial" charset="0"/>
              </a:rPr>
              <a:t>Career Solutions </a:t>
            </a:r>
          </a:p>
          <a:p>
            <a:pPr lvl="1"/>
            <a:r>
              <a:rPr lang="en-US" dirty="0" smtClean="0">
                <a:latin typeface="Arial" charset="0"/>
                <a:cs typeface="Arial" charset="0"/>
              </a:rPr>
              <a:t>LASER</a:t>
            </a:r>
          </a:p>
          <a:p>
            <a:pPr lvl="1" eaLnBrk="1" hangingPunct="1">
              <a:lnSpc>
                <a:spcPct val="150000"/>
              </a:lnSpc>
              <a:buNone/>
            </a:pPr>
            <a:endParaRPr lang="en-US" sz="2400" dirty="0" smtClean="0">
              <a:latin typeface="Arial" charset="0"/>
              <a:cs typeface="Arial" charset="0"/>
            </a:endParaRPr>
          </a:p>
        </p:txBody>
      </p:sp>
      <p:sp>
        <p:nvSpPr>
          <p:cNvPr id="24578" name="Title 1"/>
          <p:cNvSpPr>
            <a:spLocks noGrp="1"/>
          </p:cNvSpPr>
          <p:nvPr>
            <p:ph type="title"/>
          </p:nvPr>
        </p:nvSpPr>
        <p:spPr>
          <a:xfrm>
            <a:off x="304800" y="304800"/>
            <a:ext cx="8458200" cy="792162"/>
          </a:xfrm>
          <a:solidFill>
            <a:schemeClr val="bg1"/>
          </a:solidFill>
          <a:ln w="3175">
            <a:solidFill>
              <a:srgbClr val="FFCC00"/>
            </a:solidFill>
          </a:ln>
          <a:effectLst>
            <a:innerShdw blurRad="63500" dist="50800" dir="13500000">
              <a:srgbClr val="FFCC00">
                <a:alpha val="50000"/>
              </a:srgbClr>
            </a:innerShdw>
            <a:softEdge rad="12700"/>
          </a:effectLst>
        </p:spPr>
        <p:style>
          <a:lnRef idx="0">
            <a:scrgbClr r="0" g="0" b="0"/>
          </a:lnRef>
          <a:fillRef idx="1002">
            <a:schemeClr val="lt2"/>
          </a:fillRef>
          <a:effectRef idx="0">
            <a:scrgbClr r="0" g="0" b="0"/>
          </a:effectRef>
          <a:fontRef idx="major"/>
        </p:style>
        <p:txBody>
          <a:bodyPr/>
          <a:lstStyle/>
          <a:p>
            <a:pPr algn="ctr" eaLnBrk="1" hangingPunct="1"/>
            <a:r>
              <a:rPr lang="en-US" dirty="0" smtClean="0"/>
              <a:t>Agenda</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305800" cy="792162"/>
          </a:xfrm>
        </p:spPr>
        <p:txBody>
          <a:bodyPr/>
          <a:lstStyle/>
          <a:p>
            <a:r>
              <a:rPr lang="en-US" sz="4000" dirty="0" smtClean="0"/>
              <a:t>The Great Recession</a:t>
            </a:r>
            <a:endParaRPr lang="en-US" sz="4000" dirty="0"/>
          </a:p>
        </p:txBody>
      </p:sp>
      <p:pic>
        <p:nvPicPr>
          <p:cNvPr id="3" name="Picture 2" descr="failure-recession.jpg"/>
          <p:cNvPicPr>
            <a:picLocks noChangeAspect="1"/>
          </p:cNvPicPr>
          <p:nvPr/>
        </p:nvPicPr>
        <p:blipFill>
          <a:blip r:embed="rId3" cstate="print"/>
          <a:stretch>
            <a:fillRect/>
          </a:stretch>
        </p:blipFill>
        <p:spPr>
          <a:xfrm>
            <a:off x="438150" y="914400"/>
            <a:ext cx="4210050" cy="5613400"/>
          </a:xfrm>
          <a:prstGeom prst="rect">
            <a:avLst/>
          </a:prstGeom>
        </p:spPr>
      </p:pic>
      <p:sp>
        <p:nvSpPr>
          <p:cNvPr id="4" name="TextBox 3"/>
          <p:cNvSpPr txBox="1"/>
          <p:nvPr/>
        </p:nvSpPr>
        <p:spPr>
          <a:xfrm>
            <a:off x="4343400" y="1600200"/>
            <a:ext cx="4419600" cy="1938992"/>
          </a:xfrm>
          <a:prstGeom prst="rect">
            <a:avLst/>
          </a:prstGeom>
          <a:noFill/>
        </p:spPr>
        <p:txBody>
          <a:bodyPr wrap="square" rtlCol="0">
            <a:spAutoFit/>
          </a:bodyPr>
          <a:lstStyle/>
          <a:p>
            <a:pPr>
              <a:lnSpc>
                <a:spcPct val="150000"/>
              </a:lnSpc>
              <a:buFont typeface="Arial" pitchFamily="34" charset="0"/>
              <a:buChar char="•"/>
            </a:pPr>
            <a:r>
              <a:rPr lang="en-US" sz="2000" dirty="0" smtClean="0"/>
              <a:t>Started December 2007</a:t>
            </a:r>
          </a:p>
          <a:p>
            <a:pPr lvl="1">
              <a:lnSpc>
                <a:spcPct val="150000"/>
              </a:lnSpc>
              <a:buFont typeface="Arial" pitchFamily="34" charset="0"/>
              <a:buChar char="•"/>
            </a:pPr>
            <a:r>
              <a:rPr lang="en-US" sz="2000" dirty="0" smtClean="0"/>
              <a:t>Housing Peaked on 2006 </a:t>
            </a:r>
          </a:p>
          <a:p>
            <a:pPr lvl="1">
              <a:lnSpc>
                <a:spcPct val="150000"/>
              </a:lnSpc>
              <a:buFont typeface="Arial" pitchFamily="34" charset="0"/>
              <a:buChar char="•"/>
            </a:pPr>
            <a:r>
              <a:rPr lang="en-US" sz="2000" dirty="0" smtClean="0"/>
              <a:t>High Oil and Gas prices early 2007</a:t>
            </a:r>
          </a:p>
          <a:p>
            <a:pPr lvl="1">
              <a:lnSpc>
                <a:spcPct val="150000"/>
              </a:lnSpc>
              <a:buFont typeface="Arial" pitchFamily="34" charset="0"/>
              <a:buChar char="•"/>
            </a:pPr>
            <a:r>
              <a:rPr lang="en-US" sz="2000" dirty="0" smtClean="0"/>
              <a:t>Financial Markets in August 2007</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a:graphicFrameLocks noGrp="1"/>
          </p:cNvGraphicFramePr>
          <p:nvPr/>
        </p:nvGraphicFramePr>
        <p:xfrm>
          <a:off x="243840" y="293370"/>
          <a:ext cx="8656320" cy="5802630"/>
        </p:xfrm>
        <a:graphic>
          <a:graphicData uri="http://schemas.openxmlformats.org/drawingml/2006/chart">
            <c:chart xmlns:c="http://schemas.openxmlformats.org/drawingml/2006/chart" xmlns:r="http://schemas.openxmlformats.org/officeDocument/2006/relationships" r:id="rId3"/>
          </a:graphicData>
        </a:graphic>
      </p:graphicFrame>
      <p:pic>
        <p:nvPicPr>
          <p:cNvPr id="17411" name="Picture 4" descr="http://media.sacbee.com/static/weblogs/real_estate/archives/NEW_HOME_2_HR_LG.gif"/>
          <p:cNvPicPr>
            <a:picLocks noChangeAspect="1" noChangeArrowheads="1"/>
          </p:cNvPicPr>
          <p:nvPr/>
        </p:nvPicPr>
        <p:blipFill>
          <a:blip r:embed="rId4" cstate="print"/>
          <a:srcRect/>
          <a:stretch>
            <a:fillRect/>
          </a:stretch>
        </p:blipFill>
        <p:spPr bwMode="auto">
          <a:xfrm>
            <a:off x="4114800" y="3505200"/>
            <a:ext cx="2435225" cy="2286000"/>
          </a:xfrm>
          <a:prstGeom prst="rect">
            <a:avLst/>
          </a:prstGeom>
          <a:noFill/>
          <a:ln w="9525">
            <a:noFill/>
            <a:miter lim="800000"/>
            <a:headEnd/>
            <a:tailEnd/>
          </a:ln>
        </p:spPr>
      </p:pic>
      <p:sp>
        <p:nvSpPr>
          <p:cNvPr id="4" name="Title 3"/>
          <p:cNvSpPr>
            <a:spLocks noGrp="1"/>
          </p:cNvSpPr>
          <p:nvPr>
            <p:ph type="title"/>
          </p:nvPr>
        </p:nvSpPr>
        <p:spPr>
          <a:xfrm>
            <a:off x="9144000" y="152400"/>
            <a:ext cx="8229600" cy="792162"/>
          </a:xfrm>
        </p:spPr>
        <p:txBody>
          <a:bodyPr/>
          <a:lstStyle/>
          <a:p>
            <a:r>
              <a:rPr lang="en-US" dirty="0" smtClean="0"/>
              <a:t>Housing</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p:cNvGraphicFramePr>
            <a:graphicFrameLocks noGrp="1"/>
          </p:cNvGraphicFramePr>
          <p:nvPr/>
        </p:nvGraphicFramePr>
        <p:xfrm>
          <a:off x="304800" y="457200"/>
          <a:ext cx="8656320" cy="5943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itle 4"/>
          <p:cNvSpPr>
            <a:spLocks noGrp="1"/>
          </p:cNvSpPr>
          <p:nvPr>
            <p:ph type="title"/>
          </p:nvPr>
        </p:nvSpPr>
        <p:spPr>
          <a:xfrm>
            <a:off x="9144000" y="0"/>
            <a:ext cx="8229600" cy="792162"/>
          </a:xfrm>
        </p:spPr>
        <p:txBody>
          <a:bodyPr/>
          <a:lstStyle/>
          <a:p>
            <a:r>
              <a:rPr lang="en-US" dirty="0" smtClean="0"/>
              <a:t>Oil Rig</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2286000"/>
            <a:ext cx="609600" cy="381000"/>
          </a:xfrm>
          <a:prstGeom prst="rect">
            <a:avLst/>
          </a:prstGeom>
          <a:solidFill>
            <a:schemeClr val="accent6">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p:cNvGraphicFramePr/>
          <p:nvPr/>
        </p:nvGraphicFramePr>
        <p:xfrm>
          <a:off x="0" y="0"/>
          <a:ext cx="8991600" cy="6629400"/>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4" descr="http://www.havenscandies.com/images/factory_tour.jpg"/>
          <p:cNvPicPr>
            <a:picLocks noChangeAspect="1" noChangeArrowheads="1"/>
          </p:cNvPicPr>
          <p:nvPr/>
        </p:nvPicPr>
        <p:blipFill>
          <a:blip r:embed="rId4" cstate="print"/>
          <a:srcRect/>
          <a:stretch>
            <a:fillRect/>
          </a:stretch>
        </p:blipFill>
        <p:spPr bwMode="auto">
          <a:xfrm>
            <a:off x="3581400" y="3372852"/>
            <a:ext cx="2590800" cy="2113547"/>
          </a:xfrm>
          <a:prstGeom prst="rect">
            <a:avLst/>
          </a:prstGeom>
          <a:noFill/>
          <a:ln w="9525">
            <a:noFill/>
            <a:miter lim="800000"/>
            <a:headEnd/>
            <a:tailEnd/>
          </a:ln>
        </p:spPr>
      </p:pic>
      <p:sp>
        <p:nvSpPr>
          <p:cNvPr id="6" name="TextBox 1"/>
          <p:cNvSpPr txBox="1"/>
          <p:nvPr/>
        </p:nvSpPr>
        <p:spPr>
          <a:xfrm>
            <a:off x="533400" y="990600"/>
            <a:ext cx="3048000" cy="5334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100" dirty="0" smtClean="0"/>
              <a:t>.</a:t>
            </a:r>
            <a:endParaRPr lang="en-US" sz="1100" dirty="0"/>
          </a:p>
        </p:txBody>
      </p:sp>
      <p:sp>
        <p:nvSpPr>
          <p:cNvPr id="7" name="TextBox 1"/>
          <p:cNvSpPr txBox="1"/>
          <p:nvPr/>
        </p:nvSpPr>
        <p:spPr>
          <a:xfrm>
            <a:off x="3886200" y="685801"/>
            <a:ext cx="2286000" cy="838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800" dirty="0"/>
              <a:t>Values above 50</a:t>
            </a:r>
          </a:p>
          <a:p>
            <a:r>
              <a:rPr lang="en-US" sz="1800" dirty="0"/>
              <a:t>represent expansion</a:t>
            </a:r>
            <a:r>
              <a:rPr lang="en-US" sz="1100" dirty="0"/>
              <a:t>.</a:t>
            </a:r>
          </a:p>
        </p:txBody>
      </p:sp>
      <p:sp>
        <p:nvSpPr>
          <p:cNvPr id="9" name="Title 8"/>
          <p:cNvSpPr>
            <a:spLocks noGrp="1"/>
          </p:cNvSpPr>
          <p:nvPr>
            <p:ph type="title"/>
          </p:nvPr>
        </p:nvSpPr>
        <p:spPr>
          <a:xfrm>
            <a:off x="9601200" y="152400"/>
            <a:ext cx="8229600" cy="792162"/>
          </a:xfrm>
        </p:spPr>
        <p:txBody>
          <a:bodyPr/>
          <a:lstStyle/>
          <a:p>
            <a:r>
              <a:rPr lang="en-US" dirty="0" smtClean="0"/>
              <a:t>Manufacturing</a:t>
            </a:r>
            <a:endParaRPr lang="en-US" dirty="0"/>
          </a:p>
        </p:txBody>
      </p:sp>
      <p:cxnSp>
        <p:nvCxnSpPr>
          <p:cNvPr id="11" name="Straight Connector 10"/>
          <p:cNvCxnSpPr/>
          <p:nvPr/>
        </p:nvCxnSpPr>
        <p:spPr>
          <a:xfrm>
            <a:off x="381000" y="2514600"/>
            <a:ext cx="8763000" cy="0"/>
          </a:xfrm>
          <a:prstGeom prst="line">
            <a:avLst/>
          </a:prstGeom>
        </p:spPr>
        <p:style>
          <a:lnRef idx="1">
            <a:schemeClr val="accent6"/>
          </a:lnRef>
          <a:fillRef idx="0">
            <a:schemeClr val="accent6"/>
          </a:fillRef>
          <a:effectRef idx="0">
            <a:schemeClr val="accent6"/>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0" y="0"/>
            <a:ext cx="8229600" cy="792162"/>
          </a:xfrm>
        </p:spPr>
        <p:txBody>
          <a:bodyPr/>
          <a:lstStyle/>
          <a:p>
            <a:r>
              <a:rPr lang="en-US" dirty="0" smtClean="0"/>
              <a:t>US Retail Sales</a:t>
            </a:r>
            <a:endParaRPr lang="en-US" dirty="0"/>
          </a:p>
        </p:txBody>
      </p:sp>
      <p:graphicFrame>
        <p:nvGraphicFramePr>
          <p:cNvPr id="5" name="Chart 4"/>
          <p:cNvGraphicFramePr>
            <a:graphicFrameLocks noGrp="1"/>
          </p:cNvGraphicFramePr>
          <p:nvPr/>
        </p:nvGraphicFramePr>
        <p:xfrm>
          <a:off x="228600" y="0"/>
          <a:ext cx="8656320" cy="62712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05800" y="0"/>
            <a:ext cx="917239" cy="538609"/>
          </a:xfrm>
          <a:prstGeom prst="rect">
            <a:avLst/>
          </a:prstGeom>
          <a:noFill/>
        </p:spPr>
        <p:txBody>
          <a:bodyPr wrap="none" rtlCol="0">
            <a:spAutoFit/>
          </a:bodyPr>
          <a:lstStyle/>
          <a:p>
            <a:r>
              <a:rPr lang="en-US" dirty="0" smtClean="0">
                <a:solidFill>
                  <a:schemeClr val="accent2">
                    <a:lumMod val="75000"/>
                  </a:schemeClr>
                </a:solidFill>
              </a:rPr>
              <a:t>US</a:t>
            </a:r>
          </a:p>
          <a:p>
            <a:r>
              <a:rPr lang="en-US" sz="1100" dirty="0" smtClean="0">
                <a:solidFill>
                  <a:schemeClr val="accent2">
                    <a:lumMod val="75000"/>
                  </a:schemeClr>
                </a:solidFill>
              </a:rPr>
              <a:t>In thousands</a:t>
            </a:r>
            <a:endParaRPr lang="en-US" sz="1100" dirty="0">
              <a:solidFill>
                <a:schemeClr val="accent2">
                  <a:lumMod val="75000"/>
                </a:schemeClr>
              </a:solidFill>
            </a:endParaRPr>
          </a:p>
        </p:txBody>
      </p:sp>
      <p:sp>
        <p:nvSpPr>
          <p:cNvPr id="5" name="TextBox 4"/>
          <p:cNvSpPr txBox="1"/>
          <p:nvPr/>
        </p:nvSpPr>
        <p:spPr>
          <a:xfrm>
            <a:off x="228600" y="76200"/>
            <a:ext cx="530915" cy="369332"/>
          </a:xfrm>
          <a:prstGeom prst="rect">
            <a:avLst/>
          </a:prstGeom>
          <a:noFill/>
        </p:spPr>
        <p:txBody>
          <a:bodyPr wrap="none" rtlCol="0">
            <a:spAutoFit/>
          </a:bodyPr>
          <a:lstStyle/>
          <a:p>
            <a:r>
              <a:rPr lang="en-US" dirty="0" smtClean="0">
                <a:solidFill>
                  <a:schemeClr val="accent1">
                    <a:lumMod val="75000"/>
                  </a:schemeClr>
                </a:solidFill>
              </a:rPr>
              <a:t>NM</a:t>
            </a:r>
            <a:endParaRPr lang="en-US" dirty="0">
              <a:solidFill>
                <a:schemeClr val="accent1">
                  <a:lumMod val="75000"/>
                </a:schemeClr>
              </a:solidFill>
            </a:endParaRPr>
          </a:p>
        </p:txBody>
      </p:sp>
      <p:sp>
        <p:nvSpPr>
          <p:cNvPr id="6" name="TextBox 5"/>
          <p:cNvSpPr txBox="1"/>
          <p:nvPr/>
        </p:nvSpPr>
        <p:spPr>
          <a:xfrm>
            <a:off x="2438400" y="6248400"/>
            <a:ext cx="5555813" cy="369332"/>
          </a:xfrm>
          <a:prstGeom prst="rect">
            <a:avLst/>
          </a:prstGeom>
          <a:noFill/>
        </p:spPr>
        <p:txBody>
          <a:bodyPr wrap="square" rtlCol="0">
            <a:spAutoFit/>
          </a:bodyPr>
          <a:lstStyle/>
          <a:p>
            <a:r>
              <a:rPr lang="en-US" dirty="0" smtClean="0"/>
              <a:t>Total Non-Farm Employment Seasonally Adjusted</a:t>
            </a:r>
            <a:endParaRPr lang="en-US" dirty="0"/>
          </a:p>
        </p:txBody>
      </p:sp>
      <p:sp>
        <p:nvSpPr>
          <p:cNvPr id="7" name="Title 6"/>
          <p:cNvSpPr>
            <a:spLocks noGrp="1"/>
          </p:cNvSpPr>
          <p:nvPr>
            <p:ph type="title"/>
          </p:nvPr>
        </p:nvSpPr>
        <p:spPr>
          <a:xfrm>
            <a:off x="9372600" y="152400"/>
            <a:ext cx="8229600" cy="792162"/>
          </a:xfrm>
        </p:spPr>
        <p:txBody>
          <a:bodyPr/>
          <a:lstStyle/>
          <a:p>
            <a:r>
              <a:rPr lang="en-US" dirty="0" smtClean="0"/>
              <a:t>NM vs. US Employment</a:t>
            </a:r>
            <a:endParaRPr lang="en-US" dirty="0"/>
          </a:p>
        </p:txBody>
      </p:sp>
      <p:graphicFrame>
        <p:nvGraphicFramePr>
          <p:cNvPr id="8" name="Chart 7"/>
          <p:cNvGraphicFramePr/>
          <p:nvPr/>
        </p:nvGraphicFramePr>
        <p:xfrm>
          <a:off x="0" y="533400"/>
          <a:ext cx="9144000" cy="60960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2362200" y="152400"/>
            <a:ext cx="4428392" cy="369332"/>
          </a:xfrm>
          <a:prstGeom prst="rect">
            <a:avLst/>
          </a:prstGeom>
          <a:noFill/>
        </p:spPr>
        <p:txBody>
          <a:bodyPr wrap="none" rtlCol="0">
            <a:spAutoFit/>
          </a:bodyPr>
          <a:lstStyle/>
          <a:p>
            <a:r>
              <a:rPr lang="en-US" dirty="0" smtClean="0"/>
              <a:t>NM vs. US Employment from 1990 to Present</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How BAD?</a:t>
            </a:r>
          </a:p>
        </p:txBody>
      </p:sp>
      <p:sp>
        <p:nvSpPr>
          <p:cNvPr id="30723" name="Content Placeholder 2"/>
          <p:cNvSpPr>
            <a:spLocks noGrp="1"/>
          </p:cNvSpPr>
          <p:nvPr>
            <p:ph idx="1"/>
          </p:nvPr>
        </p:nvSpPr>
        <p:spPr>
          <a:xfrm>
            <a:off x="457200" y="1676400"/>
            <a:ext cx="8229600" cy="4343400"/>
          </a:xfrm>
        </p:spPr>
        <p:txBody>
          <a:bodyPr/>
          <a:lstStyle/>
          <a:p>
            <a:pPr eaLnBrk="1" hangingPunct="1"/>
            <a:r>
              <a:rPr lang="en-US" sz="2800" dirty="0" smtClean="0">
                <a:latin typeface="Arial" charset="0"/>
                <a:cs typeface="Arial" charset="0"/>
              </a:rPr>
              <a:t>Max September 2008:  852,900</a:t>
            </a:r>
          </a:p>
          <a:p>
            <a:pPr eaLnBrk="1" hangingPunct="1"/>
            <a:r>
              <a:rPr lang="en-US" sz="2800" dirty="0" smtClean="0">
                <a:latin typeface="Arial" charset="0"/>
                <a:cs typeface="Arial" charset="0"/>
              </a:rPr>
              <a:t>Min January 2011:        795,700</a:t>
            </a:r>
          </a:p>
          <a:p>
            <a:pPr eaLnBrk="1" hangingPunct="1"/>
            <a:r>
              <a:rPr lang="en-US" sz="2800" dirty="0" smtClean="0">
                <a:latin typeface="Arial" charset="0"/>
                <a:cs typeface="Arial" charset="0"/>
              </a:rPr>
              <a:t>Difference:                    -57,200</a:t>
            </a:r>
          </a:p>
          <a:p>
            <a:pPr eaLnBrk="1" hangingPunct="1"/>
            <a:endParaRPr lang="en-US" sz="2800" dirty="0" smtClean="0">
              <a:latin typeface="Arial" charset="0"/>
              <a:cs typeface="Arial" charset="0"/>
            </a:endParaRPr>
          </a:p>
          <a:p>
            <a:pPr eaLnBrk="1" hangingPunct="1">
              <a:buNone/>
            </a:pPr>
            <a:r>
              <a:rPr lang="en-US" sz="2800" dirty="0" smtClean="0">
                <a:latin typeface="Arial" charset="0"/>
                <a:cs typeface="Arial" charset="0"/>
              </a:rPr>
              <a:t>January 2008: 841,900</a:t>
            </a:r>
          </a:p>
          <a:p>
            <a:pPr eaLnBrk="1" hangingPunct="1">
              <a:buNone/>
            </a:pPr>
            <a:r>
              <a:rPr lang="en-US" sz="2800" dirty="0" smtClean="0">
                <a:latin typeface="Arial" charset="0"/>
                <a:cs typeface="Arial" charset="0"/>
              </a:rPr>
              <a:t>January 2012: 802,100</a:t>
            </a:r>
          </a:p>
          <a:p>
            <a:pPr eaLnBrk="1" hangingPunct="1">
              <a:buFont typeface="Arial" charset="0"/>
              <a:buNone/>
            </a:pPr>
            <a:r>
              <a:rPr lang="en-US" sz="2800" dirty="0" smtClean="0">
                <a:latin typeface="Arial" charset="0"/>
                <a:cs typeface="Arial" charset="0"/>
              </a:rPr>
              <a:t>Difference:        -39,800</a:t>
            </a:r>
          </a:p>
        </p:txBody>
      </p:sp>
      <p:sp>
        <p:nvSpPr>
          <p:cNvPr id="4" name="TextBox 3"/>
          <p:cNvSpPr txBox="1">
            <a:spLocks noChangeArrowheads="1"/>
          </p:cNvSpPr>
          <p:nvPr/>
        </p:nvSpPr>
        <p:spPr bwMode="auto">
          <a:xfrm>
            <a:off x="1143000" y="5715000"/>
            <a:ext cx="3657600" cy="369888"/>
          </a:xfrm>
          <a:prstGeom prst="rect">
            <a:avLst/>
          </a:prstGeom>
          <a:noFill/>
          <a:ln w="9525">
            <a:noFill/>
            <a:miter lim="800000"/>
            <a:headEnd/>
            <a:tailEnd/>
          </a:ln>
        </p:spPr>
        <p:txBody>
          <a:bodyPr>
            <a:spAutoFit/>
          </a:bodyPr>
          <a:lstStyle/>
          <a:p>
            <a:r>
              <a:rPr lang="en-US" dirty="0">
                <a:latin typeface="Calibri" pitchFamily="34" charset="0"/>
              </a:rPr>
              <a:t>Labor Market Supply and Demand!</a:t>
            </a:r>
          </a:p>
        </p:txBody>
      </p:sp>
      <p:pic>
        <p:nvPicPr>
          <p:cNvPr id="6" name="Picture 5" descr="030702_HelpWanted.gif"/>
          <p:cNvPicPr>
            <a:picLocks noChangeAspect="1"/>
          </p:cNvPicPr>
          <p:nvPr/>
        </p:nvPicPr>
        <p:blipFill>
          <a:blip r:embed="rId3" cstate="print"/>
          <a:stretch>
            <a:fillRect/>
          </a:stretch>
        </p:blipFill>
        <p:spPr>
          <a:xfrm>
            <a:off x="5372100" y="3276600"/>
            <a:ext cx="3555124" cy="2514600"/>
          </a:xfrm>
          <a:prstGeom prst="rect">
            <a:avLst/>
          </a:prstGeom>
        </p:spPr>
      </p:pic>
      <p:sp>
        <p:nvSpPr>
          <p:cNvPr id="7" name="TextBox 6"/>
          <p:cNvSpPr txBox="1"/>
          <p:nvPr/>
        </p:nvSpPr>
        <p:spPr>
          <a:xfrm>
            <a:off x="609600" y="1143000"/>
            <a:ext cx="5308376" cy="369332"/>
          </a:xfrm>
          <a:prstGeom prst="rect">
            <a:avLst/>
          </a:prstGeom>
          <a:noFill/>
        </p:spPr>
        <p:txBody>
          <a:bodyPr wrap="none" rtlCol="0">
            <a:spAutoFit/>
          </a:bodyPr>
          <a:lstStyle/>
          <a:p>
            <a:r>
              <a:rPr lang="en-US" dirty="0" smtClean="0"/>
              <a:t>NM Total Non-Farm Employment  Seasonally Adjusted: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0"/>
            <a:ext cx="8229600" cy="792162"/>
          </a:xfrm>
        </p:spPr>
        <p:txBody>
          <a:bodyPr/>
          <a:lstStyle/>
          <a:p>
            <a:pPr algn="ctr" eaLnBrk="1" hangingPunct="1"/>
            <a:r>
              <a:rPr lang="en-US" dirty="0" smtClean="0"/>
              <a:t>NM Industries Change</a:t>
            </a:r>
          </a:p>
        </p:txBody>
      </p:sp>
      <p:sp>
        <p:nvSpPr>
          <p:cNvPr id="4" name="TextBox 3"/>
          <p:cNvSpPr txBox="1"/>
          <p:nvPr/>
        </p:nvSpPr>
        <p:spPr>
          <a:xfrm>
            <a:off x="0" y="1371601"/>
            <a:ext cx="3581400" cy="1292662"/>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2000" b="1" cap="all" dirty="0" smtClean="0">
                <a:ln w="0"/>
                <a:solidFill>
                  <a:schemeClr val="accent5">
                    <a:lumMod val="75000"/>
                  </a:schemeClr>
                </a:solidFill>
                <a:effectLst>
                  <a:reflection blurRad="12700" stA="50000" endPos="50000" dist="5000" dir="5400000" sy="-100000" rotWithShape="0"/>
                </a:effectLst>
              </a:rPr>
              <a:t>How Has New Mexico Handled the Recession?</a:t>
            </a:r>
          </a:p>
          <a:p>
            <a:endPar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7" name="TextBox 6"/>
          <p:cNvSpPr txBox="1"/>
          <p:nvPr/>
        </p:nvSpPr>
        <p:spPr>
          <a:xfrm>
            <a:off x="0" y="2362200"/>
            <a:ext cx="3866134" cy="3831818"/>
          </a:xfrm>
          <a:prstGeom prst="rect">
            <a:avLst/>
          </a:prstGeom>
          <a:noFill/>
        </p:spPr>
        <p:txBody>
          <a:bodyPr wrap="square" rtlCol="0">
            <a:spAutoFit/>
          </a:bodyPr>
          <a:lstStyle/>
          <a:p>
            <a:pPr>
              <a:lnSpc>
                <a:spcPct val="150000"/>
              </a:lnSpc>
              <a:buFont typeface="Arial" pitchFamily="34" charset="0"/>
              <a:buChar char="•"/>
            </a:pPr>
            <a:r>
              <a:rPr lang="en-US" dirty="0" smtClean="0"/>
              <a:t>Mining lost over 500</a:t>
            </a:r>
          </a:p>
          <a:p>
            <a:pPr>
              <a:lnSpc>
                <a:spcPct val="150000"/>
              </a:lnSpc>
              <a:buFont typeface="Arial" pitchFamily="34" charset="0"/>
              <a:buChar char="•"/>
            </a:pPr>
            <a:r>
              <a:rPr lang="en-US" dirty="0" smtClean="0"/>
              <a:t>Construction shed about 16,000</a:t>
            </a:r>
          </a:p>
          <a:p>
            <a:pPr>
              <a:lnSpc>
                <a:spcPct val="150000"/>
              </a:lnSpc>
              <a:buFont typeface="Arial" pitchFamily="34" charset="0"/>
              <a:buChar char="•"/>
            </a:pPr>
            <a:r>
              <a:rPr lang="en-US" dirty="0" smtClean="0"/>
              <a:t>Manufacturing lost another 8,000</a:t>
            </a:r>
          </a:p>
          <a:p>
            <a:pPr>
              <a:lnSpc>
                <a:spcPct val="150000"/>
              </a:lnSpc>
              <a:buFont typeface="Arial" pitchFamily="34" charset="0"/>
              <a:buChar char="•"/>
            </a:pPr>
            <a:r>
              <a:rPr lang="en-US" dirty="0" smtClean="0"/>
              <a:t>Retail took a hit with 6,000</a:t>
            </a:r>
          </a:p>
          <a:p>
            <a:pPr>
              <a:lnSpc>
                <a:spcPct val="150000"/>
              </a:lnSpc>
              <a:buFont typeface="Arial" pitchFamily="34" charset="0"/>
              <a:buChar char="•"/>
            </a:pPr>
            <a:r>
              <a:rPr lang="en-US" dirty="0" smtClean="0"/>
              <a:t>Admin &amp; Waste </a:t>
            </a:r>
            <a:r>
              <a:rPr lang="en-US" dirty="0" err="1" smtClean="0"/>
              <a:t>Svs</a:t>
            </a:r>
            <a:r>
              <a:rPr lang="en-US" dirty="0" smtClean="0"/>
              <a:t> 5,000</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r>
              <a:rPr lang="en-US" dirty="0" smtClean="0"/>
              <a:t>Bright spot Health Care +12,000</a:t>
            </a:r>
          </a:p>
          <a:p>
            <a:pPr>
              <a:buFont typeface="Arial" pitchFamily="34" charset="0"/>
              <a:buChar char="•"/>
            </a:pPr>
            <a:endParaRPr lang="en-US" dirty="0" smtClean="0"/>
          </a:p>
          <a:p>
            <a:endParaRPr lang="en-US" dirty="0" smtClean="0"/>
          </a:p>
          <a:p>
            <a:endParaRPr lang="en-US" dirty="0"/>
          </a:p>
        </p:txBody>
      </p:sp>
      <p:graphicFrame>
        <p:nvGraphicFramePr>
          <p:cNvPr id="9" name="Chart 8"/>
          <p:cNvGraphicFramePr/>
          <p:nvPr/>
        </p:nvGraphicFramePr>
        <p:xfrm>
          <a:off x="2971800" y="533400"/>
          <a:ext cx="6019800" cy="58750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828800" y="6477000"/>
            <a:ext cx="5153975" cy="261610"/>
          </a:xfrm>
          <a:prstGeom prst="rect">
            <a:avLst/>
          </a:prstGeom>
          <a:noFill/>
        </p:spPr>
        <p:txBody>
          <a:bodyPr wrap="none" rtlCol="0">
            <a:spAutoFit/>
          </a:bodyPr>
          <a:lstStyle/>
          <a:p>
            <a:r>
              <a:rPr lang="en-US" sz="1100" dirty="0" smtClean="0"/>
              <a:t>Source: Quarterly Census of Employment and Wages NM Dept. of Workforce Solutions</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5">
                    <a:lumMod val="75000"/>
                  </a:schemeClr>
                </a:solidFill>
              </a:rPr>
              <a:t>Central  Area Industry Change</a:t>
            </a:r>
            <a:endParaRPr lang="en-US" dirty="0"/>
          </a:p>
        </p:txBody>
      </p:sp>
      <p:graphicFrame>
        <p:nvGraphicFramePr>
          <p:cNvPr id="4" name="Chart 3"/>
          <p:cNvGraphicFramePr/>
          <p:nvPr/>
        </p:nvGraphicFramePr>
        <p:xfrm>
          <a:off x="381000" y="1143000"/>
          <a:ext cx="8534400" cy="52578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Picture 1"/>
          <p:cNvPicPr>
            <a:picLocks noChangeAspect="1" noChangeArrowheads="1"/>
          </p:cNvPicPr>
          <p:nvPr/>
        </p:nvPicPr>
        <p:blipFill>
          <a:blip r:embed="rId4" cstate="print"/>
          <a:srcRect/>
          <a:stretch>
            <a:fillRect/>
          </a:stretch>
        </p:blipFill>
        <p:spPr bwMode="auto">
          <a:xfrm>
            <a:off x="7706954" y="1"/>
            <a:ext cx="1437045" cy="1523999"/>
          </a:xfrm>
          <a:prstGeom prst="rect">
            <a:avLst/>
          </a:prstGeom>
          <a:noFill/>
          <a:ln w="9525">
            <a:noFill/>
            <a:miter lim="800000"/>
            <a:headEnd/>
            <a:tailEnd/>
          </a:ln>
        </p:spPr>
      </p:pic>
      <p:sp>
        <p:nvSpPr>
          <p:cNvPr id="6" name="TextBox 5"/>
          <p:cNvSpPr txBox="1"/>
          <p:nvPr/>
        </p:nvSpPr>
        <p:spPr>
          <a:xfrm>
            <a:off x="1828800" y="6477000"/>
            <a:ext cx="5153975" cy="261610"/>
          </a:xfrm>
          <a:prstGeom prst="rect">
            <a:avLst/>
          </a:prstGeom>
          <a:noFill/>
        </p:spPr>
        <p:txBody>
          <a:bodyPr wrap="none" rtlCol="0">
            <a:spAutoFit/>
          </a:bodyPr>
          <a:lstStyle/>
          <a:p>
            <a:r>
              <a:rPr lang="en-US" sz="1100" dirty="0" smtClean="0"/>
              <a:t>Source: Quarterly Census of Employment and Wages NM Dept. of Workforce Solutions</a:t>
            </a:r>
            <a:endParaRPr lang="en-US" sz="11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solidFill>
                  <a:schemeClr val="accent5">
                    <a:lumMod val="75000"/>
                  </a:schemeClr>
                </a:solidFill>
              </a:rPr>
              <a:t>Eastern  Area Industry Change</a:t>
            </a:r>
            <a:endParaRPr lang="en-US" dirty="0"/>
          </a:p>
        </p:txBody>
      </p:sp>
      <p:graphicFrame>
        <p:nvGraphicFramePr>
          <p:cNvPr id="4" name="Chart 3"/>
          <p:cNvGraphicFramePr/>
          <p:nvPr/>
        </p:nvGraphicFramePr>
        <p:xfrm>
          <a:off x="609600" y="1295400"/>
          <a:ext cx="7924800" cy="4933950"/>
        </p:xfrm>
        <a:graphic>
          <a:graphicData uri="http://schemas.openxmlformats.org/drawingml/2006/chart">
            <c:chart xmlns:c="http://schemas.openxmlformats.org/drawingml/2006/chart" xmlns:r="http://schemas.openxmlformats.org/officeDocument/2006/relationships" r:id="rId3"/>
          </a:graphicData>
        </a:graphic>
      </p:graphicFrame>
      <p:pic>
        <p:nvPicPr>
          <p:cNvPr id="70657" name="Picture 1"/>
          <p:cNvPicPr>
            <a:picLocks noChangeAspect="1" noChangeArrowheads="1"/>
          </p:cNvPicPr>
          <p:nvPr/>
        </p:nvPicPr>
        <p:blipFill>
          <a:blip r:embed="rId4" cstate="print"/>
          <a:srcRect/>
          <a:stretch>
            <a:fillRect/>
          </a:stretch>
        </p:blipFill>
        <p:spPr bwMode="auto">
          <a:xfrm>
            <a:off x="7543801" y="1"/>
            <a:ext cx="1439919" cy="1527048"/>
          </a:xfrm>
          <a:prstGeom prst="rect">
            <a:avLst/>
          </a:prstGeom>
          <a:noFill/>
          <a:ln w="9525">
            <a:noFill/>
            <a:miter lim="800000"/>
            <a:headEnd/>
            <a:tailEnd/>
          </a:ln>
        </p:spPr>
      </p:pic>
      <p:sp>
        <p:nvSpPr>
          <p:cNvPr id="6" name="TextBox 5"/>
          <p:cNvSpPr txBox="1"/>
          <p:nvPr/>
        </p:nvSpPr>
        <p:spPr>
          <a:xfrm>
            <a:off x="1828800" y="6477000"/>
            <a:ext cx="5153975" cy="261610"/>
          </a:xfrm>
          <a:prstGeom prst="rect">
            <a:avLst/>
          </a:prstGeom>
          <a:noFill/>
        </p:spPr>
        <p:txBody>
          <a:bodyPr wrap="none" rtlCol="0">
            <a:spAutoFit/>
          </a:bodyPr>
          <a:lstStyle/>
          <a:p>
            <a:r>
              <a:rPr lang="en-US" sz="1100" dirty="0" smtClean="0"/>
              <a:t>Source: Quarterly Census of Employment and Wages NM Dept. of Workforce Solutions</a:t>
            </a:r>
            <a:endParaRPr lang="en-US" sz="11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nvGraphicFramePr>
        <p:xfrm>
          <a:off x="533400" y="1066800"/>
          <a:ext cx="7924800" cy="5307330"/>
        </p:xfrm>
        <a:graphic>
          <a:graphicData uri="http://schemas.openxmlformats.org/drawingml/2006/chart">
            <c:chart xmlns:c="http://schemas.openxmlformats.org/drawingml/2006/chart" xmlns:r="http://schemas.openxmlformats.org/officeDocument/2006/relationships" r:id="rId3"/>
          </a:graphicData>
        </a:graphic>
      </p:graphicFrame>
      <p:pic>
        <p:nvPicPr>
          <p:cNvPr id="5" name="Picture 1"/>
          <p:cNvPicPr>
            <a:picLocks noChangeAspect="1" noChangeArrowheads="1"/>
          </p:cNvPicPr>
          <p:nvPr/>
        </p:nvPicPr>
        <p:blipFill>
          <a:blip r:embed="rId4" cstate="print"/>
          <a:srcRect/>
          <a:stretch>
            <a:fillRect/>
          </a:stretch>
        </p:blipFill>
        <p:spPr bwMode="auto">
          <a:xfrm>
            <a:off x="7620000" y="2"/>
            <a:ext cx="1439920" cy="1527048"/>
          </a:xfrm>
          <a:prstGeom prst="rect">
            <a:avLst/>
          </a:prstGeom>
          <a:noFill/>
          <a:ln w="9525">
            <a:noFill/>
            <a:miter lim="800000"/>
            <a:headEnd/>
            <a:tailEnd/>
          </a:ln>
        </p:spPr>
      </p:pic>
      <p:sp>
        <p:nvSpPr>
          <p:cNvPr id="6" name="TextBox 5"/>
          <p:cNvSpPr txBox="1"/>
          <p:nvPr/>
        </p:nvSpPr>
        <p:spPr>
          <a:xfrm>
            <a:off x="1828800" y="6477000"/>
            <a:ext cx="5153975" cy="261610"/>
          </a:xfrm>
          <a:prstGeom prst="rect">
            <a:avLst/>
          </a:prstGeom>
          <a:noFill/>
        </p:spPr>
        <p:txBody>
          <a:bodyPr wrap="none" rtlCol="0">
            <a:spAutoFit/>
          </a:bodyPr>
          <a:lstStyle/>
          <a:p>
            <a:r>
              <a:rPr lang="en-US" sz="1100" dirty="0" smtClean="0"/>
              <a:t>Source: Quarterly Census of Employment and Wages NM Dept. of Workforce Solutions</a:t>
            </a:r>
            <a:endParaRPr lang="en-US" sz="1100" dirty="0"/>
          </a:p>
        </p:txBody>
      </p:sp>
      <p:sp>
        <p:nvSpPr>
          <p:cNvPr id="8" name="Title 1"/>
          <p:cNvSpPr>
            <a:spLocks noGrp="1"/>
          </p:cNvSpPr>
          <p:nvPr>
            <p:ph type="title"/>
          </p:nvPr>
        </p:nvSpPr>
        <p:spPr/>
        <p:txBody>
          <a:bodyPr/>
          <a:lstStyle/>
          <a:p>
            <a:r>
              <a:rPr lang="en-US" dirty="0" smtClean="0"/>
              <a:t>Northern Area Industry Change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228600"/>
            <a:ext cx="8229600" cy="792162"/>
          </a:xfrm>
        </p:spPr>
        <p:txBody>
          <a:bodyPr/>
          <a:lstStyle/>
          <a:p>
            <a:r>
              <a:rPr lang="en-US" dirty="0" smtClean="0">
                <a:solidFill>
                  <a:schemeClr val="accent5">
                    <a:lumMod val="75000"/>
                  </a:schemeClr>
                </a:solidFill>
              </a:rPr>
              <a:t>Southwestern  Area Industry Change</a:t>
            </a:r>
            <a:endParaRPr lang="en-US" dirty="0"/>
          </a:p>
        </p:txBody>
      </p:sp>
      <p:graphicFrame>
        <p:nvGraphicFramePr>
          <p:cNvPr id="4" name="Chart 3"/>
          <p:cNvGraphicFramePr/>
          <p:nvPr/>
        </p:nvGraphicFramePr>
        <p:xfrm>
          <a:off x="533400" y="1066800"/>
          <a:ext cx="7848600" cy="52578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Picture 1"/>
          <p:cNvPicPr>
            <a:picLocks noChangeAspect="1" noChangeArrowheads="1"/>
          </p:cNvPicPr>
          <p:nvPr/>
        </p:nvPicPr>
        <p:blipFill>
          <a:blip r:embed="rId4" cstate="print"/>
          <a:srcRect/>
          <a:stretch>
            <a:fillRect/>
          </a:stretch>
        </p:blipFill>
        <p:spPr bwMode="auto">
          <a:xfrm>
            <a:off x="7543801" y="1"/>
            <a:ext cx="1439919" cy="1527048"/>
          </a:xfrm>
          <a:prstGeom prst="rect">
            <a:avLst/>
          </a:prstGeom>
          <a:noFill/>
          <a:ln w="9525">
            <a:noFill/>
            <a:miter lim="800000"/>
            <a:headEnd/>
            <a:tailEnd/>
          </a:ln>
        </p:spPr>
      </p:pic>
      <p:sp>
        <p:nvSpPr>
          <p:cNvPr id="6" name="TextBox 5"/>
          <p:cNvSpPr txBox="1"/>
          <p:nvPr/>
        </p:nvSpPr>
        <p:spPr>
          <a:xfrm>
            <a:off x="1828800" y="6477000"/>
            <a:ext cx="5153975" cy="261610"/>
          </a:xfrm>
          <a:prstGeom prst="rect">
            <a:avLst/>
          </a:prstGeom>
          <a:noFill/>
        </p:spPr>
        <p:txBody>
          <a:bodyPr wrap="none" rtlCol="0">
            <a:spAutoFit/>
          </a:bodyPr>
          <a:lstStyle/>
          <a:p>
            <a:r>
              <a:rPr lang="en-US" sz="1100" dirty="0" smtClean="0"/>
              <a:t>Source: Quarterly Census of Employment and Wages NM Dept. of Workforce Solutions</a:t>
            </a:r>
            <a:endParaRPr lang="en-US" sz="11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792162"/>
          </a:xfrm>
        </p:spPr>
        <p:txBody>
          <a:bodyPr/>
          <a:lstStyle/>
          <a:p>
            <a:pPr algn="ctr"/>
            <a:r>
              <a:rPr lang="en-US" dirty="0" smtClean="0"/>
              <a:t>NM Employment Industry Mix</a:t>
            </a:r>
            <a:endParaRPr lang="en-US" dirty="0"/>
          </a:p>
        </p:txBody>
      </p:sp>
      <p:graphicFrame>
        <p:nvGraphicFramePr>
          <p:cNvPr id="4" name="Chart 3"/>
          <p:cNvGraphicFramePr/>
          <p:nvPr/>
        </p:nvGraphicFramePr>
        <p:xfrm>
          <a:off x="228600" y="533400"/>
          <a:ext cx="8839200" cy="632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3505200" y="6596390"/>
            <a:ext cx="4343400" cy="261610"/>
          </a:xfrm>
          <a:prstGeom prst="rect">
            <a:avLst/>
          </a:prstGeom>
          <a:noFill/>
        </p:spPr>
        <p:txBody>
          <a:bodyPr wrap="square" rtlCol="0">
            <a:spAutoFit/>
          </a:bodyPr>
          <a:lstStyle/>
          <a:p>
            <a:r>
              <a:rPr lang="en-US" sz="1100" dirty="0" smtClean="0"/>
              <a:t>Source:  Projections unit 2009-2019, NM Dept. of Workforce Solutions</a:t>
            </a:r>
            <a:endParaRPr lang="en-US" sz="11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Great Recession Ended July 2009?</a:t>
            </a:r>
            <a:endParaRPr lang="en-US"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C915C977-463E-4808-8AA9-59432EEEA65E}" type="slidenum">
              <a:rPr lang="en-US" smtClean="0"/>
              <a:pPr>
                <a:defRPr/>
              </a:pPr>
              <a:t>17</a:t>
            </a:fld>
            <a:endParaRPr lang="en-US" dirty="0"/>
          </a:p>
        </p:txBody>
      </p:sp>
      <p:pic>
        <p:nvPicPr>
          <p:cNvPr id="110594" name="Picture 2" descr="C:\Users\sreagan\Pictures\recessionCartoon.jpg"/>
          <p:cNvPicPr>
            <a:picLocks noChangeAspect="1" noChangeArrowheads="1"/>
          </p:cNvPicPr>
          <p:nvPr/>
        </p:nvPicPr>
        <p:blipFill>
          <a:blip r:embed="rId3" cstate="print"/>
          <a:srcRect/>
          <a:stretch>
            <a:fillRect/>
          </a:stretch>
        </p:blipFill>
        <p:spPr bwMode="auto">
          <a:xfrm>
            <a:off x="0" y="1295400"/>
            <a:ext cx="9144000" cy="55626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Employment Situation</a:t>
            </a:r>
            <a:endParaRPr lang="en-US" dirty="0"/>
          </a:p>
        </p:txBody>
      </p:sp>
      <p:sp>
        <p:nvSpPr>
          <p:cNvPr id="5" name="TextBox 4"/>
          <p:cNvSpPr txBox="1"/>
          <p:nvPr/>
        </p:nvSpPr>
        <p:spPr>
          <a:xfrm>
            <a:off x="228600" y="1143000"/>
            <a:ext cx="4335869" cy="5139869"/>
          </a:xfrm>
          <a:prstGeom prst="rect">
            <a:avLst/>
          </a:prstGeom>
          <a:noFill/>
        </p:spPr>
        <p:txBody>
          <a:bodyPr wrap="square" rtlCol="0">
            <a:spAutoFit/>
          </a:bodyPr>
          <a:lstStyle/>
          <a:p>
            <a:pPr algn="ctr"/>
            <a:r>
              <a:rPr lang="en-US" sz="2000" dirty="0" smtClean="0"/>
              <a:t>The unemployment rate for:</a:t>
            </a:r>
          </a:p>
          <a:p>
            <a:pPr algn="ctr"/>
            <a:endParaRPr lang="en-US" sz="2000" dirty="0" smtClean="0"/>
          </a:p>
          <a:p>
            <a:pPr algn="ctr"/>
            <a:r>
              <a:rPr lang="en-US" dirty="0" smtClean="0"/>
              <a:t>              January 2012       January  2011</a:t>
            </a:r>
          </a:p>
          <a:p>
            <a:pPr algn="ctr"/>
            <a:endParaRPr lang="en-US" dirty="0" smtClean="0"/>
          </a:p>
          <a:p>
            <a:pPr algn="ctr"/>
            <a:r>
              <a:rPr lang="en-US" dirty="0" smtClean="0"/>
              <a:t>The US is at    8.3%        9.1%</a:t>
            </a:r>
          </a:p>
          <a:p>
            <a:pPr algn="ctr"/>
            <a:endParaRPr lang="en-US" dirty="0" smtClean="0"/>
          </a:p>
          <a:p>
            <a:pPr algn="ctr"/>
            <a:r>
              <a:rPr lang="en-US" dirty="0" smtClean="0"/>
              <a:t>New Mexico    7.0%         8.7% </a:t>
            </a:r>
          </a:p>
          <a:p>
            <a:pPr algn="ctr"/>
            <a:endParaRPr lang="en-US" dirty="0" smtClean="0"/>
          </a:p>
          <a:p>
            <a:pPr algn="ctr"/>
            <a:r>
              <a:rPr lang="en-US" dirty="0" smtClean="0"/>
              <a:t>Albuquerque   7.1%        9.0 %</a:t>
            </a:r>
          </a:p>
          <a:p>
            <a:pPr algn="ctr"/>
            <a:endParaRPr lang="en-US" dirty="0" smtClean="0"/>
          </a:p>
          <a:p>
            <a:pPr algn="ctr"/>
            <a:r>
              <a:rPr lang="en-US" dirty="0" smtClean="0"/>
              <a:t>Las Cruces     6.7%       8.6 %</a:t>
            </a:r>
          </a:p>
          <a:p>
            <a:pPr algn="ctr"/>
            <a:endParaRPr lang="en-US" dirty="0" smtClean="0"/>
          </a:p>
          <a:p>
            <a:pPr algn="ctr"/>
            <a:r>
              <a:rPr lang="en-US" dirty="0" smtClean="0"/>
              <a:t>Santa Fe        5.1%       7.3 %</a:t>
            </a:r>
          </a:p>
          <a:p>
            <a:pPr algn="ctr"/>
            <a:endParaRPr lang="en-US" dirty="0" smtClean="0"/>
          </a:p>
          <a:p>
            <a:pPr algn="ctr"/>
            <a:r>
              <a:rPr lang="en-US" dirty="0" smtClean="0"/>
              <a:t>Farmington     6.7%        9.4 %</a:t>
            </a:r>
          </a:p>
          <a:p>
            <a:pPr algn="ctr"/>
            <a:endParaRPr lang="en-US" dirty="0" smtClean="0"/>
          </a:p>
          <a:p>
            <a:pPr algn="ctr"/>
            <a:r>
              <a:rPr lang="en-US" dirty="0" smtClean="0"/>
              <a:t>                </a:t>
            </a:r>
          </a:p>
          <a:p>
            <a:endParaRPr lang="en-US" dirty="0"/>
          </a:p>
        </p:txBody>
      </p:sp>
      <p:sp>
        <p:nvSpPr>
          <p:cNvPr id="6" name="Right Arrow 5"/>
          <p:cNvSpPr/>
          <p:nvPr/>
        </p:nvSpPr>
        <p:spPr>
          <a:xfrm flipH="1">
            <a:off x="2667000" y="18288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flipH="1">
            <a:off x="2895600" y="51054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flipH="1">
            <a:off x="2895600" y="40386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flipH="1">
            <a:off x="2971800" y="34290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flipH="1">
            <a:off x="2971800" y="28956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flipH="1">
            <a:off x="2971800" y="23622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flipH="1">
            <a:off x="2895600" y="45720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waitingforinterview_660x480.jpg"/>
          <p:cNvPicPr>
            <a:picLocks noChangeAspect="1"/>
          </p:cNvPicPr>
          <p:nvPr/>
        </p:nvPicPr>
        <p:blipFill>
          <a:blip r:embed="rId3" cstate="print"/>
          <a:stretch>
            <a:fillRect/>
          </a:stretch>
        </p:blipFill>
        <p:spPr>
          <a:xfrm>
            <a:off x="4219575" y="2438400"/>
            <a:ext cx="4924425" cy="3581400"/>
          </a:xfrm>
          <a:prstGeom prst="rect">
            <a:avLst/>
          </a:prstGeom>
        </p:spPr>
      </p:pic>
      <p:sp>
        <p:nvSpPr>
          <p:cNvPr id="16" name="TextBox 15"/>
          <p:cNvSpPr txBox="1"/>
          <p:nvPr/>
        </p:nvSpPr>
        <p:spPr>
          <a:xfrm>
            <a:off x="5791200" y="1447800"/>
            <a:ext cx="1837362" cy="646331"/>
          </a:xfrm>
          <a:prstGeom prst="rect">
            <a:avLst/>
          </a:prstGeom>
          <a:noFill/>
        </p:spPr>
        <p:txBody>
          <a:bodyPr wrap="none" rtlCol="0">
            <a:spAutoFit/>
          </a:bodyPr>
          <a:lstStyle/>
          <a:p>
            <a:r>
              <a:rPr lang="en-US" dirty="0" smtClean="0">
                <a:solidFill>
                  <a:schemeClr val="accent6">
                    <a:lumMod val="50000"/>
                  </a:schemeClr>
                </a:solidFill>
              </a:rPr>
              <a:t>The bad news is…</a:t>
            </a:r>
          </a:p>
          <a:p>
            <a:endParaRPr lang="en-US" dirty="0"/>
          </a:p>
        </p:txBody>
      </p:sp>
      <p:sp>
        <p:nvSpPr>
          <p:cNvPr id="14" name="TextBox 13"/>
          <p:cNvSpPr txBox="1"/>
          <p:nvPr/>
        </p:nvSpPr>
        <p:spPr>
          <a:xfrm>
            <a:off x="1905000" y="6324600"/>
            <a:ext cx="1642694" cy="307777"/>
          </a:xfrm>
          <a:prstGeom prst="rect">
            <a:avLst/>
          </a:prstGeom>
          <a:noFill/>
        </p:spPr>
        <p:txBody>
          <a:bodyPr wrap="none" rtlCol="0">
            <a:spAutoFit/>
          </a:bodyPr>
          <a:lstStyle/>
          <a:p>
            <a:r>
              <a:rPr lang="en-US" sz="1400" dirty="0" smtClean="0"/>
              <a:t>Seasonally Adjusted</a:t>
            </a:r>
            <a:endParaRPr lang="en-US" sz="1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t>What about… </a:t>
            </a:r>
            <a:endParaRPr lang="en-US"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a:defRPr/>
            </a:pPr>
            <a:fld id="{7E8DF409-D00C-42D6-B5A6-E7A8C04ACE0B}" type="slidenum">
              <a:rPr lang="en-US" smtClean="0"/>
              <a:pPr>
                <a:defRPr/>
              </a:pPr>
              <a:t>19</a:t>
            </a:fld>
            <a:endParaRPr lang="en-US" dirty="0"/>
          </a:p>
        </p:txBody>
      </p:sp>
      <p:sp>
        <p:nvSpPr>
          <p:cNvPr id="5" name="TextBox 4"/>
          <p:cNvSpPr txBox="1"/>
          <p:nvPr/>
        </p:nvSpPr>
        <p:spPr>
          <a:xfrm>
            <a:off x="0" y="4419600"/>
            <a:ext cx="6705600" cy="1523494"/>
          </a:xfrm>
          <a:prstGeom prst="rect">
            <a:avLst/>
          </a:prstGeom>
          <a:noFill/>
        </p:spPr>
        <p:txBody>
          <a:bodyPr wrap="square" rtlCol="0">
            <a:spAutoFit/>
          </a:bodyPr>
          <a:lstStyle/>
          <a:p>
            <a:r>
              <a:rPr lang="en-US" sz="2400" b="1" dirty="0" smtClean="0"/>
              <a:t>Alternative Measures of Labor Underutilization U-6</a:t>
            </a:r>
          </a:p>
          <a:p>
            <a:pPr algn="ctr"/>
            <a:endParaRPr lang="en-US" dirty="0" smtClean="0"/>
          </a:p>
          <a:p>
            <a:pPr algn="ctr"/>
            <a:r>
              <a:rPr lang="en-US" sz="4000" dirty="0" smtClean="0"/>
              <a:t>NM      14.8%</a:t>
            </a:r>
          </a:p>
          <a:p>
            <a:pPr algn="ctr"/>
            <a:r>
              <a:rPr lang="en-US" sz="1100" dirty="0" smtClean="0"/>
              <a:t>Fourth Quarter of 2010 through Third Quarter of 2011 Averages.</a:t>
            </a:r>
            <a:endParaRPr lang="en-US" sz="1100" dirty="0"/>
          </a:p>
        </p:txBody>
      </p:sp>
      <p:sp>
        <p:nvSpPr>
          <p:cNvPr id="6" name="Rounded Rectangle 5"/>
          <p:cNvSpPr/>
          <p:nvPr/>
        </p:nvSpPr>
        <p:spPr>
          <a:xfrm>
            <a:off x="6400800" y="4648200"/>
            <a:ext cx="2743200" cy="2209800"/>
          </a:xfrm>
          <a:prstGeom prst="roundRect">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nSpc>
                <a:spcPct val="150000"/>
              </a:lnSpc>
              <a:buFont typeface="Arial" pitchFamily="34" charset="0"/>
              <a:buChar char="•"/>
            </a:pPr>
            <a:r>
              <a:rPr lang="en-US" sz="1200" dirty="0" smtClean="0"/>
              <a:t> Unemployed </a:t>
            </a:r>
          </a:p>
          <a:p>
            <a:pPr>
              <a:lnSpc>
                <a:spcPct val="150000"/>
              </a:lnSpc>
              <a:buFont typeface="Arial" pitchFamily="34" charset="0"/>
              <a:buChar char="•"/>
            </a:pPr>
            <a:r>
              <a:rPr lang="en-US" sz="1200" dirty="0" smtClean="0"/>
              <a:t> Part time for economic reasons</a:t>
            </a:r>
          </a:p>
          <a:p>
            <a:pPr>
              <a:lnSpc>
                <a:spcPct val="150000"/>
              </a:lnSpc>
              <a:buFont typeface="Arial" pitchFamily="34" charset="0"/>
              <a:buChar char="•"/>
            </a:pPr>
            <a:r>
              <a:rPr lang="en-US" sz="1200" dirty="0" smtClean="0"/>
              <a:t> Multiple Jobs holders</a:t>
            </a:r>
          </a:p>
          <a:p>
            <a:pPr>
              <a:lnSpc>
                <a:spcPct val="150000"/>
              </a:lnSpc>
              <a:buFont typeface="Arial" pitchFamily="34" charset="0"/>
              <a:buChar char="•"/>
            </a:pPr>
            <a:r>
              <a:rPr lang="en-US" sz="1200" dirty="0" smtClean="0"/>
              <a:t>Marginally attached workers</a:t>
            </a:r>
          </a:p>
          <a:p>
            <a:pPr>
              <a:lnSpc>
                <a:spcPct val="150000"/>
              </a:lnSpc>
              <a:buFont typeface="Arial" pitchFamily="34" charset="0"/>
              <a:buChar char="•"/>
            </a:pPr>
            <a:r>
              <a:rPr lang="en-US" sz="1200" dirty="0" smtClean="0"/>
              <a:t>Bureau of Labor Statistics</a:t>
            </a:r>
          </a:p>
          <a:p>
            <a:pPr>
              <a:lnSpc>
                <a:spcPct val="150000"/>
              </a:lnSpc>
              <a:buFont typeface="Arial" pitchFamily="34" charset="0"/>
              <a:buChar char="•"/>
            </a:pPr>
            <a:r>
              <a:rPr lang="en-US" sz="1200" dirty="0" smtClean="0"/>
              <a:t>4 QTR Moving Average </a:t>
            </a:r>
          </a:p>
          <a:p>
            <a:pPr>
              <a:lnSpc>
                <a:spcPct val="150000"/>
              </a:lnSpc>
              <a:buFont typeface="Arial" pitchFamily="34" charset="0"/>
              <a:buChar char="•"/>
            </a:pPr>
            <a:r>
              <a:rPr lang="en-US" sz="1200" dirty="0" smtClean="0">
                <a:hlinkClick r:id="rId3"/>
              </a:rPr>
              <a:t>http://www.bls.gov/lau/stalt.htm</a:t>
            </a:r>
            <a:endParaRPr lang="en-US" sz="1200" dirty="0" smtClean="0"/>
          </a:p>
          <a:p>
            <a:pPr algn="ctr"/>
            <a:endParaRPr lang="en-US" dirty="0"/>
          </a:p>
        </p:txBody>
      </p:sp>
      <p:graphicFrame>
        <p:nvGraphicFramePr>
          <p:cNvPr id="7" name="Diagram 6"/>
          <p:cNvGraphicFramePr/>
          <p:nvPr/>
        </p:nvGraphicFramePr>
        <p:xfrm>
          <a:off x="838200" y="609600"/>
          <a:ext cx="7010400" cy="3733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0"/>
                                        <p:tgtEl>
                                          <p:spTgt spid="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5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696200" cy="792162"/>
          </a:xfrm>
        </p:spPr>
        <p:txBody>
          <a:bodyPr/>
          <a:lstStyle/>
          <a:p>
            <a:r>
              <a:rPr lang="en-US" dirty="0" smtClean="0"/>
              <a:t>County Unemployment Rates</a:t>
            </a:r>
            <a:endParaRPr lang="en-US" dirty="0"/>
          </a:p>
        </p:txBody>
      </p:sp>
      <p:pic>
        <p:nvPicPr>
          <p:cNvPr id="3" name="Picture 2" descr="NMUR12-11NSA.png"/>
          <p:cNvPicPr>
            <a:picLocks noChangeAspect="1"/>
          </p:cNvPicPr>
          <p:nvPr/>
        </p:nvPicPr>
        <p:blipFill>
          <a:blip r:embed="rId3" cstate="print"/>
          <a:stretch>
            <a:fillRect/>
          </a:stretch>
        </p:blipFill>
        <p:spPr>
          <a:xfrm>
            <a:off x="533400" y="985077"/>
            <a:ext cx="8497678" cy="5263323"/>
          </a:xfrm>
          <a:prstGeom prst="rect">
            <a:avLst/>
          </a:prstGeom>
        </p:spPr>
      </p:pic>
      <p:sp>
        <p:nvSpPr>
          <p:cNvPr id="4" name="TextBox 3"/>
          <p:cNvSpPr txBox="1"/>
          <p:nvPr/>
        </p:nvSpPr>
        <p:spPr>
          <a:xfrm>
            <a:off x="3429000" y="2819400"/>
            <a:ext cx="476412" cy="369332"/>
          </a:xfrm>
          <a:prstGeom prst="rect">
            <a:avLst/>
          </a:prstGeom>
          <a:noFill/>
        </p:spPr>
        <p:txBody>
          <a:bodyPr wrap="none" rtlCol="0">
            <a:spAutoFit/>
          </a:bodyPr>
          <a:lstStyle/>
          <a:p>
            <a:r>
              <a:rPr lang="en-US" dirty="0" smtClean="0">
                <a:solidFill>
                  <a:schemeClr val="bg1"/>
                </a:solidFill>
              </a:rPr>
              <a:t>6.5</a:t>
            </a:r>
            <a:endParaRPr lang="en-US" dirty="0">
              <a:solidFill>
                <a:schemeClr val="bg1"/>
              </a:solidFill>
            </a:endParaRPr>
          </a:p>
        </p:txBody>
      </p:sp>
      <p:sp>
        <p:nvSpPr>
          <p:cNvPr id="5" name="TextBox 4"/>
          <p:cNvSpPr txBox="1"/>
          <p:nvPr/>
        </p:nvSpPr>
        <p:spPr>
          <a:xfrm>
            <a:off x="2590800" y="2895600"/>
            <a:ext cx="476412" cy="369332"/>
          </a:xfrm>
          <a:prstGeom prst="rect">
            <a:avLst/>
          </a:prstGeom>
          <a:noFill/>
        </p:spPr>
        <p:txBody>
          <a:bodyPr wrap="none" rtlCol="0">
            <a:spAutoFit/>
          </a:bodyPr>
          <a:lstStyle/>
          <a:p>
            <a:r>
              <a:rPr lang="en-US" dirty="0" smtClean="0">
                <a:solidFill>
                  <a:schemeClr val="bg1"/>
                </a:solidFill>
              </a:rPr>
              <a:t>7.8</a:t>
            </a:r>
            <a:endParaRPr lang="en-US" dirty="0">
              <a:solidFill>
                <a:schemeClr val="bg1"/>
              </a:solidFill>
            </a:endParaRPr>
          </a:p>
        </p:txBody>
      </p:sp>
      <p:sp>
        <p:nvSpPr>
          <p:cNvPr id="6" name="TextBox 5"/>
          <p:cNvSpPr txBox="1"/>
          <p:nvPr/>
        </p:nvSpPr>
        <p:spPr>
          <a:xfrm>
            <a:off x="5029200" y="4267200"/>
            <a:ext cx="476412" cy="369332"/>
          </a:xfrm>
          <a:prstGeom prst="rect">
            <a:avLst/>
          </a:prstGeom>
          <a:noFill/>
        </p:spPr>
        <p:txBody>
          <a:bodyPr wrap="none" rtlCol="0">
            <a:spAutoFit/>
          </a:bodyPr>
          <a:lstStyle/>
          <a:p>
            <a:r>
              <a:rPr lang="en-US" dirty="0" smtClean="0">
                <a:solidFill>
                  <a:schemeClr val="bg1"/>
                </a:solidFill>
              </a:rPr>
              <a:t>6.2</a:t>
            </a:r>
            <a:endParaRPr lang="en-US" dirty="0">
              <a:solidFill>
                <a:schemeClr val="bg1"/>
              </a:solidFill>
            </a:endParaRPr>
          </a:p>
        </p:txBody>
      </p:sp>
      <p:sp>
        <p:nvSpPr>
          <p:cNvPr id="7" name="TextBox 6"/>
          <p:cNvSpPr txBox="1"/>
          <p:nvPr/>
        </p:nvSpPr>
        <p:spPr>
          <a:xfrm>
            <a:off x="2133600" y="3733800"/>
            <a:ext cx="476412" cy="369332"/>
          </a:xfrm>
          <a:prstGeom prst="rect">
            <a:avLst/>
          </a:prstGeom>
          <a:noFill/>
        </p:spPr>
        <p:txBody>
          <a:bodyPr wrap="none" rtlCol="0">
            <a:spAutoFit/>
          </a:bodyPr>
          <a:lstStyle/>
          <a:p>
            <a:r>
              <a:rPr lang="en-US" dirty="0" smtClean="0">
                <a:solidFill>
                  <a:schemeClr val="bg1"/>
                </a:solidFill>
              </a:rPr>
              <a:t>6.0</a:t>
            </a:r>
            <a:endParaRPr lang="en-US" dirty="0">
              <a:solidFill>
                <a:schemeClr val="bg1"/>
              </a:solidFill>
            </a:endParaRPr>
          </a:p>
        </p:txBody>
      </p:sp>
      <p:sp>
        <p:nvSpPr>
          <p:cNvPr id="8" name="TextBox 7"/>
          <p:cNvSpPr txBox="1"/>
          <p:nvPr/>
        </p:nvSpPr>
        <p:spPr>
          <a:xfrm>
            <a:off x="4724400" y="1447800"/>
            <a:ext cx="476412" cy="369332"/>
          </a:xfrm>
          <a:prstGeom prst="rect">
            <a:avLst/>
          </a:prstGeom>
          <a:noFill/>
        </p:spPr>
        <p:txBody>
          <a:bodyPr wrap="none" rtlCol="0">
            <a:spAutoFit/>
          </a:bodyPr>
          <a:lstStyle/>
          <a:p>
            <a:r>
              <a:rPr lang="en-US" dirty="0" smtClean="0">
                <a:solidFill>
                  <a:schemeClr val="bg1"/>
                </a:solidFill>
              </a:rPr>
              <a:t>7.4</a:t>
            </a:r>
            <a:endParaRPr lang="en-US" dirty="0">
              <a:solidFill>
                <a:schemeClr val="bg1"/>
              </a:solidFill>
            </a:endParaRPr>
          </a:p>
        </p:txBody>
      </p:sp>
      <p:sp>
        <p:nvSpPr>
          <p:cNvPr id="9" name="TextBox 8"/>
          <p:cNvSpPr txBox="1"/>
          <p:nvPr/>
        </p:nvSpPr>
        <p:spPr>
          <a:xfrm>
            <a:off x="5562600" y="3200400"/>
            <a:ext cx="476412" cy="369332"/>
          </a:xfrm>
          <a:prstGeom prst="rect">
            <a:avLst/>
          </a:prstGeom>
          <a:noFill/>
        </p:spPr>
        <p:txBody>
          <a:bodyPr wrap="none" rtlCol="0">
            <a:spAutoFit/>
          </a:bodyPr>
          <a:lstStyle/>
          <a:p>
            <a:r>
              <a:rPr lang="en-US" dirty="0" smtClean="0">
                <a:solidFill>
                  <a:schemeClr val="bg1"/>
                </a:solidFill>
              </a:rPr>
              <a:t>4.4</a:t>
            </a:r>
            <a:endParaRPr lang="en-US" dirty="0">
              <a:solidFill>
                <a:schemeClr val="bg1"/>
              </a:solidFill>
            </a:endParaRPr>
          </a:p>
        </p:txBody>
      </p:sp>
      <p:sp>
        <p:nvSpPr>
          <p:cNvPr id="10" name="TextBox 9"/>
          <p:cNvSpPr txBox="1"/>
          <p:nvPr/>
        </p:nvSpPr>
        <p:spPr>
          <a:xfrm>
            <a:off x="4876800" y="3429000"/>
            <a:ext cx="476412" cy="369332"/>
          </a:xfrm>
          <a:prstGeom prst="rect">
            <a:avLst/>
          </a:prstGeom>
          <a:noFill/>
        </p:spPr>
        <p:txBody>
          <a:bodyPr wrap="none" rtlCol="0">
            <a:spAutoFit/>
          </a:bodyPr>
          <a:lstStyle/>
          <a:p>
            <a:r>
              <a:rPr lang="en-US" dirty="0" smtClean="0">
                <a:solidFill>
                  <a:schemeClr val="bg1"/>
                </a:solidFill>
              </a:rPr>
              <a:t>4.2</a:t>
            </a:r>
            <a:endParaRPr lang="en-US" dirty="0">
              <a:solidFill>
                <a:schemeClr val="bg1"/>
              </a:solidFill>
            </a:endParaRPr>
          </a:p>
        </p:txBody>
      </p:sp>
      <p:sp>
        <p:nvSpPr>
          <p:cNvPr id="11" name="TextBox 10"/>
          <p:cNvSpPr txBox="1"/>
          <p:nvPr/>
        </p:nvSpPr>
        <p:spPr>
          <a:xfrm>
            <a:off x="3200400" y="5105400"/>
            <a:ext cx="476412" cy="369332"/>
          </a:xfrm>
          <a:prstGeom prst="rect">
            <a:avLst/>
          </a:prstGeom>
          <a:noFill/>
        </p:spPr>
        <p:txBody>
          <a:bodyPr wrap="none" rtlCol="0">
            <a:spAutoFit/>
          </a:bodyPr>
          <a:lstStyle/>
          <a:p>
            <a:r>
              <a:rPr lang="en-US" dirty="0" smtClean="0">
                <a:solidFill>
                  <a:schemeClr val="bg1"/>
                </a:solidFill>
              </a:rPr>
              <a:t>6.6</a:t>
            </a:r>
            <a:endParaRPr lang="en-US" dirty="0">
              <a:solidFill>
                <a:schemeClr val="bg1"/>
              </a:solidFill>
            </a:endParaRPr>
          </a:p>
        </p:txBody>
      </p:sp>
      <p:sp>
        <p:nvSpPr>
          <p:cNvPr id="12" name="TextBox 11"/>
          <p:cNvSpPr txBox="1"/>
          <p:nvPr/>
        </p:nvSpPr>
        <p:spPr>
          <a:xfrm>
            <a:off x="5029200" y="5181600"/>
            <a:ext cx="476412" cy="369332"/>
          </a:xfrm>
          <a:prstGeom prst="rect">
            <a:avLst/>
          </a:prstGeom>
          <a:noFill/>
        </p:spPr>
        <p:txBody>
          <a:bodyPr wrap="none" rtlCol="0">
            <a:spAutoFit/>
          </a:bodyPr>
          <a:lstStyle/>
          <a:p>
            <a:r>
              <a:rPr lang="en-US" dirty="0" smtClean="0">
                <a:solidFill>
                  <a:schemeClr val="bg1"/>
                </a:solidFill>
              </a:rPr>
              <a:t>4.0</a:t>
            </a:r>
            <a:endParaRPr lang="en-US" dirty="0">
              <a:solidFill>
                <a:schemeClr val="bg1"/>
              </a:solidFill>
            </a:endParaRPr>
          </a:p>
        </p:txBody>
      </p:sp>
      <p:sp>
        <p:nvSpPr>
          <p:cNvPr id="13" name="TextBox 12"/>
          <p:cNvSpPr txBox="1"/>
          <p:nvPr/>
        </p:nvSpPr>
        <p:spPr>
          <a:xfrm>
            <a:off x="2133600" y="4648200"/>
            <a:ext cx="476412" cy="369332"/>
          </a:xfrm>
          <a:prstGeom prst="rect">
            <a:avLst/>
          </a:prstGeom>
          <a:noFill/>
        </p:spPr>
        <p:txBody>
          <a:bodyPr wrap="none" rtlCol="0">
            <a:spAutoFit/>
          </a:bodyPr>
          <a:lstStyle/>
          <a:p>
            <a:r>
              <a:rPr lang="en-US" dirty="0" smtClean="0">
                <a:solidFill>
                  <a:schemeClr val="bg1"/>
                </a:solidFill>
              </a:rPr>
              <a:t>7.1</a:t>
            </a:r>
            <a:endParaRPr lang="en-US" dirty="0">
              <a:solidFill>
                <a:schemeClr val="bg1"/>
              </a:solidFill>
            </a:endParaRPr>
          </a:p>
        </p:txBody>
      </p:sp>
      <p:sp>
        <p:nvSpPr>
          <p:cNvPr id="14" name="TextBox 13"/>
          <p:cNvSpPr txBox="1"/>
          <p:nvPr/>
        </p:nvSpPr>
        <p:spPr>
          <a:xfrm>
            <a:off x="4648200" y="2895600"/>
            <a:ext cx="476412" cy="369332"/>
          </a:xfrm>
          <a:prstGeom prst="rect">
            <a:avLst/>
          </a:prstGeom>
          <a:noFill/>
        </p:spPr>
        <p:txBody>
          <a:bodyPr wrap="none" rtlCol="0">
            <a:spAutoFit/>
          </a:bodyPr>
          <a:lstStyle/>
          <a:p>
            <a:r>
              <a:rPr lang="en-US" dirty="0" smtClean="0">
                <a:solidFill>
                  <a:schemeClr val="bg1"/>
                </a:solidFill>
              </a:rPr>
              <a:t>8.9</a:t>
            </a:r>
            <a:endParaRPr lang="en-US" dirty="0">
              <a:solidFill>
                <a:schemeClr val="bg1"/>
              </a:solidFill>
            </a:endParaRPr>
          </a:p>
        </p:txBody>
      </p:sp>
      <p:sp>
        <p:nvSpPr>
          <p:cNvPr id="15" name="TextBox 14"/>
          <p:cNvSpPr txBox="1"/>
          <p:nvPr/>
        </p:nvSpPr>
        <p:spPr>
          <a:xfrm>
            <a:off x="5334000" y="2133600"/>
            <a:ext cx="476412" cy="369332"/>
          </a:xfrm>
          <a:prstGeom prst="rect">
            <a:avLst/>
          </a:prstGeom>
          <a:noFill/>
        </p:spPr>
        <p:txBody>
          <a:bodyPr wrap="none" rtlCol="0">
            <a:spAutoFit/>
          </a:bodyPr>
          <a:lstStyle/>
          <a:p>
            <a:r>
              <a:rPr lang="en-US" dirty="0" smtClean="0">
                <a:solidFill>
                  <a:schemeClr val="bg1"/>
                </a:solidFill>
              </a:rPr>
              <a:t>3.8</a:t>
            </a:r>
            <a:endParaRPr lang="en-US" dirty="0">
              <a:solidFill>
                <a:schemeClr val="bg1"/>
              </a:solidFill>
            </a:endParaRPr>
          </a:p>
        </p:txBody>
      </p:sp>
      <p:sp>
        <p:nvSpPr>
          <p:cNvPr id="16" name="TextBox 15"/>
          <p:cNvSpPr txBox="1"/>
          <p:nvPr/>
        </p:nvSpPr>
        <p:spPr>
          <a:xfrm>
            <a:off x="5638800" y="4800600"/>
            <a:ext cx="476412" cy="369332"/>
          </a:xfrm>
          <a:prstGeom prst="rect">
            <a:avLst/>
          </a:prstGeom>
          <a:noFill/>
        </p:spPr>
        <p:txBody>
          <a:bodyPr wrap="none" rtlCol="0">
            <a:spAutoFit/>
          </a:bodyPr>
          <a:lstStyle/>
          <a:p>
            <a:r>
              <a:rPr lang="en-US" dirty="0" smtClean="0">
                <a:solidFill>
                  <a:schemeClr val="bg1"/>
                </a:solidFill>
              </a:rPr>
              <a:t>4.2</a:t>
            </a:r>
            <a:endParaRPr lang="en-US" dirty="0">
              <a:solidFill>
                <a:schemeClr val="bg1"/>
              </a:solidFill>
            </a:endParaRPr>
          </a:p>
        </p:txBody>
      </p:sp>
      <p:sp>
        <p:nvSpPr>
          <p:cNvPr id="17" name="TextBox 16"/>
          <p:cNvSpPr txBox="1"/>
          <p:nvPr/>
        </p:nvSpPr>
        <p:spPr>
          <a:xfrm>
            <a:off x="4191000" y="3962400"/>
            <a:ext cx="476412" cy="369332"/>
          </a:xfrm>
          <a:prstGeom prst="rect">
            <a:avLst/>
          </a:prstGeom>
          <a:noFill/>
        </p:spPr>
        <p:txBody>
          <a:bodyPr wrap="none" rtlCol="0">
            <a:spAutoFit/>
          </a:bodyPr>
          <a:lstStyle/>
          <a:p>
            <a:r>
              <a:rPr lang="en-US" dirty="0" smtClean="0">
                <a:solidFill>
                  <a:schemeClr val="bg1"/>
                </a:solidFill>
              </a:rPr>
              <a:t>5.3</a:t>
            </a:r>
            <a:endParaRPr lang="en-US" dirty="0">
              <a:solidFill>
                <a:schemeClr val="bg1"/>
              </a:solidFill>
            </a:endParaRPr>
          </a:p>
        </p:txBody>
      </p:sp>
      <p:sp>
        <p:nvSpPr>
          <p:cNvPr id="18" name="TextBox 17"/>
          <p:cNvSpPr txBox="1"/>
          <p:nvPr/>
        </p:nvSpPr>
        <p:spPr>
          <a:xfrm>
            <a:off x="3657600" y="2057400"/>
            <a:ext cx="476412" cy="369332"/>
          </a:xfrm>
          <a:prstGeom prst="rect">
            <a:avLst/>
          </a:prstGeom>
          <a:noFill/>
        </p:spPr>
        <p:txBody>
          <a:bodyPr wrap="none" rtlCol="0">
            <a:spAutoFit/>
          </a:bodyPr>
          <a:lstStyle/>
          <a:p>
            <a:r>
              <a:rPr lang="en-US" dirty="0" smtClean="0">
                <a:solidFill>
                  <a:schemeClr val="bg1"/>
                </a:solidFill>
              </a:rPr>
              <a:t>3.1</a:t>
            </a:r>
            <a:endParaRPr lang="en-US" dirty="0">
              <a:solidFill>
                <a:schemeClr val="bg1"/>
              </a:solidFill>
            </a:endParaRPr>
          </a:p>
        </p:txBody>
      </p:sp>
      <p:sp>
        <p:nvSpPr>
          <p:cNvPr id="19" name="TextBox 18"/>
          <p:cNvSpPr txBox="1"/>
          <p:nvPr/>
        </p:nvSpPr>
        <p:spPr>
          <a:xfrm>
            <a:off x="2514600" y="5257800"/>
            <a:ext cx="593432" cy="369332"/>
          </a:xfrm>
          <a:prstGeom prst="rect">
            <a:avLst/>
          </a:prstGeom>
          <a:noFill/>
        </p:spPr>
        <p:txBody>
          <a:bodyPr wrap="none" rtlCol="0">
            <a:spAutoFit/>
          </a:bodyPr>
          <a:lstStyle/>
          <a:p>
            <a:r>
              <a:rPr lang="en-US" dirty="0" smtClean="0">
                <a:solidFill>
                  <a:schemeClr val="bg1"/>
                </a:solidFill>
              </a:rPr>
              <a:t>16.9</a:t>
            </a:r>
            <a:endParaRPr lang="en-US" dirty="0">
              <a:solidFill>
                <a:schemeClr val="bg1"/>
              </a:solidFill>
            </a:endParaRPr>
          </a:p>
        </p:txBody>
      </p:sp>
      <p:sp>
        <p:nvSpPr>
          <p:cNvPr id="20" name="TextBox 19"/>
          <p:cNvSpPr txBox="1"/>
          <p:nvPr/>
        </p:nvSpPr>
        <p:spPr>
          <a:xfrm>
            <a:off x="2209800" y="2286000"/>
            <a:ext cx="476412" cy="369332"/>
          </a:xfrm>
          <a:prstGeom prst="rect">
            <a:avLst/>
          </a:prstGeom>
          <a:noFill/>
        </p:spPr>
        <p:txBody>
          <a:bodyPr wrap="none" rtlCol="0">
            <a:spAutoFit/>
          </a:bodyPr>
          <a:lstStyle/>
          <a:p>
            <a:r>
              <a:rPr lang="en-US" dirty="0" smtClean="0">
                <a:solidFill>
                  <a:schemeClr val="bg1"/>
                </a:solidFill>
              </a:rPr>
              <a:t>7.9</a:t>
            </a:r>
            <a:endParaRPr lang="en-US" dirty="0">
              <a:solidFill>
                <a:schemeClr val="bg1"/>
              </a:solidFill>
            </a:endParaRPr>
          </a:p>
        </p:txBody>
      </p:sp>
      <p:sp>
        <p:nvSpPr>
          <p:cNvPr id="21" name="TextBox 20"/>
          <p:cNvSpPr txBox="1"/>
          <p:nvPr/>
        </p:nvSpPr>
        <p:spPr>
          <a:xfrm>
            <a:off x="4495800" y="2057400"/>
            <a:ext cx="593432" cy="369332"/>
          </a:xfrm>
          <a:prstGeom prst="rect">
            <a:avLst/>
          </a:prstGeom>
          <a:noFill/>
        </p:spPr>
        <p:txBody>
          <a:bodyPr wrap="none" rtlCol="0">
            <a:spAutoFit/>
          </a:bodyPr>
          <a:lstStyle/>
          <a:p>
            <a:r>
              <a:rPr lang="en-US" dirty="0" smtClean="0">
                <a:solidFill>
                  <a:schemeClr val="bg1"/>
                </a:solidFill>
              </a:rPr>
              <a:t>13.6</a:t>
            </a:r>
            <a:endParaRPr lang="en-US" dirty="0">
              <a:solidFill>
                <a:schemeClr val="bg1"/>
              </a:solidFill>
            </a:endParaRPr>
          </a:p>
        </p:txBody>
      </p:sp>
      <p:sp>
        <p:nvSpPr>
          <p:cNvPr id="22" name="TextBox 21"/>
          <p:cNvSpPr txBox="1"/>
          <p:nvPr/>
        </p:nvSpPr>
        <p:spPr>
          <a:xfrm>
            <a:off x="3886200" y="4800600"/>
            <a:ext cx="476412" cy="369332"/>
          </a:xfrm>
          <a:prstGeom prst="rect">
            <a:avLst/>
          </a:prstGeom>
          <a:noFill/>
        </p:spPr>
        <p:txBody>
          <a:bodyPr wrap="none" rtlCol="0">
            <a:spAutoFit/>
          </a:bodyPr>
          <a:lstStyle/>
          <a:p>
            <a:r>
              <a:rPr lang="en-US" dirty="0" smtClean="0">
                <a:solidFill>
                  <a:schemeClr val="bg1"/>
                </a:solidFill>
              </a:rPr>
              <a:t>5.8</a:t>
            </a:r>
            <a:endParaRPr lang="en-US" dirty="0">
              <a:solidFill>
                <a:schemeClr val="bg1"/>
              </a:solidFill>
            </a:endParaRPr>
          </a:p>
        </p:txBody>
      </p:sp>
      <p:sp>
        <p:nvSpPr>
          <p:cNvPr id="23" name="TextBox 22"/>
          <p:cNvSpPr txBox="1"/>
          <p:nvPr/>
        </p:nvSpPr>
        <p:spPr>
          <a:xfrm>
            <a:off x="5486400" y="2743200"/>
            <a:ext cx="476412" cy="369332"/>
          </a:xfrm>
          <a:prstGeom prst="rect">
            <a:avLst/>
          </a:prstGeom>
          <a:noFill/>
        </p:spPr>
        <p:txBody>
          <a:bodyPr wrap="none" rtlCol="0">
            <a:spAutoFit/>
          </a:bodyPr>
          <a:lstStyle/>
          <a:p>
            <a:r>
              <a:rPr lang="en-US" dirty="0" smtClean="0">
                <a:solidFill>
                  <a:schemeClr val="bg1"/>
                </a:solidFill>
              </a:rPr>
              <a:t>7.1</a:t>
            </a:r>
            <a:endParaRPr lang="en-US" dirty="0">
              <a:solidFill>
                <a:schemeClr val="bg1"/>
              </a:solidFill>
            </a:endParaRPr>
          </a:p>
        </p:txBody>
      </p:sp>
      <p:sp>
        <p:nvSpPr>
          <p:cNvPr id="24" name="TextBox 23"/>
          <p:cNvSpPr txBox="1"/>
          <p:nvPr/>
        </p:nvSpPr>
        <p:spPr>
          <a:xfrm>
            <a:off x="3352800" y="14478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25" name="TextBox 24"/>
          <p:cNvSpPr txBox="1"/>
          <p:nvPr/>
        </p:nvSpPr>
        <p:spPr>
          <a:xfrm>
            <a:off x="5562600" y="3657600"/>
            <a:ext cx="476412" cy="369332"/>
          </a:xfrm>
          <a:prstGeom prst="rect">
            <a:avLst/>
          </a:prstGeom>
          <a:noFill/>
        </p:spPr>
        <p:txBody>
          <a:bodyPr wrap="none" rtlCol="0">
            <a:spAutoFit/>
          </a:bodyPr>
          <a:lstStyle/>
          <a:p>
            <a:r>
              <a:rPr lang="en-US" dirty="0" smtClean="0">
                <a:solidFill>
                  <a:schemeClr val="bg1"/>
                </a:solidFill>
              </a:rPr>
              <a:t>4.4</a:t>
            </a:r>
            <a:endParaRPr lang="en-US" dirty="0">
              <a:solidFill>
                <a:schemeClr val="bg1"/>
              </a:solidFill>
            </a:endParaRPr>
          </a:p>
        </p:txBody>
      </p:sp>
      <p:sp>
        <p:nvSpPr>
          <p:cNvPr id="26" name="TextBox 25"/>
          <p:cNvSpPr txBox="1"/>
          <p:nvPr/>
        </p:nvSpPr>
        <p:spPr>
          <a:xfrm>
            <a:off x="2209800" y="1524000"/>
            <a:ext cx="476412" cy="369332"/>
          </a:xfrm>
          <a:prstGeom prst="rect">
            <a:avLst/>
          </a:prstGeom>
          <a:noFill/>
        </p:spPr>
        <p:txBody>
          <a:bodyPr wrap="none" rtlCol="0">
            <a:spAutoFit/>
          </a:bodyPr>
          <a:lstStyle/>
          <a:p>
            <a:r>
              <a:rPr lang="en-US" dirty="0" smtClean="0">
                <a:solidFill>
                  <a:schemeClr val="bg1"/>
                </a:solidFill>
              </a:rPr>
              <a:t>6.5</a:t>
            </a:r>
            <a:endParaRPr lang="en-US" dirty="0">
              <a:solidFill>
                <a:schemeClr val="bg1"/>
              </a:solidFill>
            </a:endParaRPr>
          </a:p>
        </p:txBody>
      </p:sp>
      <p:sp>
        <p:nvSpPr>
          <p:cNvPr id="27" name="TextBox 26"/>
          <p:cNvSpPr txBox="1"/>
          <p:nvPr/>
        </p:nvSpPr>
        <p:spPr>
          <a:xfrm>
            <a:off x="4648200" y="2438400"/>
            <a:ext cx="476412" cy="369332"/>
          </a:xfrm>
          <a:prstGeom prst="rect">
            <a:avLst/>
          </a:prstGeom>
          <a:noFill/>
        </p:spPr>
        <p:txBody>
          <a:bodyPr wrap="none" rtlCol="0">
            <a:spAutoFit/>
          </a:bodyPr>
          <a:lstStyle/>
          <a:p>
            <a:r>
              <a:rPr lang="en-US" dirty="0" smtClean="0">
                <a:solidFill>
                  <a:schemeClr val="bg1"/>
                </a:solidFill>
              </a:rPr>
              <a:t>6.7</a:t>
            </a:r>
            <a:endParaRPr lang="en-US" dirty="0">
              <a:solidFill>
                <a:schemeClr val="bg1"/>
              </a:solidFill>
            </a:endParaRPr>
          </a:p>
        </p:txBody>
      </p:sp>
      <p:sp>
        <p:nvSpPr>
          <p:cNvPr id="28" name="TextBox 27"/>
          <p:cNvSpPr txBox="1"/>
          <p:nvPr/>
        </p:nvSpPr>
        <p:spPr>
          <a:xfrm>
            <a:off x="3276600" y="2362200"/>
            <a:ext cx="476412" cy="369332"/>
          </a:xfrm>
          <a:prstGeom prst="rect">
            <a:avLst/>
          </a:prstGeom>
          <a:noFill/>
        </p:spPr>
        <p:txBody>
          <a:bodyPr wrap="none" rtlCol="0">
            <a:spAutoFit/>
          </a:bodyPr>
          <a:lstStyle/>
          <a:p>
            <a:r>
              <a:rPr lang="en-US" dirty="0" smtClean="0">
                <a:solidFill>
                  <a:schemeClr val="bg1"/>
                </a:solidFill>
              </a:rPr>
              <a:t>7.8</a:t>
            </a:r>
            <a:endParaRPr lang="en-US" dirty="0">
              <a:solidFill>
                <a:schemeClr val="bg1"/>
              </a:solidFill>
            </a:endParaRPr>
          </a:p>
        </p:txBody>
      </p:sp>
      <p:sp>
        <p:nvSpPr>
          <p:cNvPr id="29" name="TextBox 28"/>
          <p:cNvSpPr txBox="1"/>
          <p:nvPr/>
        </p:nvSpPr>
        <p:spPr>
          <a:xfrm>
            <a:off x="3810000" y="2590800"/>
            <a:ext cx="476412" cy="369332"/>
          </a:xfrm>
          <a:prstGeom prst="rect">
            <a:avLst/>
          </a:prstGeom>
          <a:noFill/>
        </p:spPr>
        <p:txBody>
          <a:bodyPr wrap="none" rtlCol="0">
            <a:spAutoFit/>
          </a:bodyPr>
          <a:lstStyle/>
          <a:p>
            <a:r>
              <a:rPr lang="en-US" dirty="0" smtClean="0">
                <a:solidFill>
                  <a:schemeClr val="bg1"/>
                </a:solidFill>
              </a:rPr>
              <a:t>5.2</a:t>
            </a:r>
            <a:endParaRPr lang="en-US" dirty="0">
              <a:solidFill>
                <a:schemeClr val="bg1"/>
              </a:solidFill>
            </a:endParaRPr>
          </a:p>
        </p:txBody>
      </p:sp>
      <p:sp>
        <p:nvSpPr>
          <p:cNvPr id="30" name="TextBox 29"/>
          <p:cNvSpPr txBox="1"/>
          <p:nvPr/>
        </p:nvSpPr>
        <p:spPr>
          <a:xfrm>
            <a:off x="2971800" y="4495800"/>
            <a:ext cx="476412" cy="369332"/>
          </a:xfrm>
          <a:prstGeom prst="rect">
            <a:avLst/>
          </a:prstGeom>
          <a:noFill/>
        </p:spPr>
        <p:txBody>
          <a:bodyPr wrap="none" rtlCol="0">
            <a:spAutoFit/>
          </a:bodyPr>
          <a:lstStyle/>
          <a:p>
            <a:r>
              <a:rPr lang="en-US" dirty="0" smtClean="0">
                <a:solidFill>
                  <a:schemeClr val="bg1"/>
                </a:solidFill>
              </a:rPr>
              <a:t>6.1</a:t>
            </a:r>
            <a:endParaRPr lang="en-US" dirty="0">
              <a:solidFill>
                <a:schemeClr val="bg1"/>
              </a:solidFill>
            </a:endParaRPr>
          </a:p>
        </p:txBody>
      </p:sp>
      <p:sp>
        <p:nvSpPr>
          <p:cNvPr id="31" name="TextBox 30"/>
          <p:cNvSpPr txBox="1"/>
          <p:nvPr/>
        </p:nvSpPr>
        <p:spPr>
          <a:xfrm>
            <a:off x="3200400" y="3810000"/>
            <a:ext cx="476412" cy="369332"/>
          </a:xfrm>
          <a:prstGeom prst="rect">
            <a:avLst/>
          </a:prstGeom>
          <a:noFill/>
        </p:spPr>
        <p:txBody>
          <a:bodyPr wrap="none" rtlCol="0">
            <a:spAutoFit/>
          </a:bodyPr>
          <a:lstStyle/>
          <a:p>
            <a:r>
              <a:rPr lang="en-US" dirty="0" smtClean="0">
                <a:solidFill>
                  <a:schemeClr val="bg1"/>
                </a:solidFill>
              </a:rPr>
              <a:t>4.8</a:t>
            </a:r>
            <a:endParaRPr lang="en-US" dirty="0">
              <a:solidFill>
                <a:schemeClr val="bg1"/>
              </a:solidFill>
            </a:endParaRPr>
          </a:p>
        </p:txBody>
      </p:sp>
      <p:sp>
        <p:nvSpPr>
          <p:cNvPr id="32" name="TextBox 31"/>
          <p:cNvSpPr txBox="1"/>
          <p:nvPr/>
        </p:nvSpPr>
        <p:spPr>
          <a:xfrm>
            <a:off x="4038600" y="1600200"/>
            <a:ext cx="476412" cy="369332"/>
          </a:xfrm>
          <a:prstGeom prst="rect">
            <a:avLst/>
          </a:prstGeom>
          <a:noFill/>
        </p:spPr>
        <p:txBody>
          <a:bodyPr wrap="none" rtlCol="0">
            <a:spAutoFit/>
          </a:bodyPr>
          <a:lstStyle/>
          <a:p>
            <a:r>
              <a:rPr lang="en-US" dirty="0" smtClean="0">
                <a:solidFill>
                  <a:schemeClr val="bg1"/>
                </a:solidFill>
              </a:rPr>
              <a:t>7.9</a:t>
            </a:r>
            <a:endParaRPr lang="en-US" dirty="0">
              <a:solidFill>
                <a:schemeClr val="bg1"/>
              </a:solidFill>
            </a:endParaRPr>
          </a:p>
        </p:txBody>
      </p:sp>
      <p:sp>
        <p:nvSpPr>
          <p:cNvPr id="33" name="TextBox 32"/>
          <p:cNvSpPr txBox="1"/>
          <p:nvPr/>
        </p:nvSpPr>
        <p:spPr>
          <a:xfrm>
            <a:off x="3962400" y="3352800"/>
            <a:ext cx="476412" cy="369332"/>
          </a:xfrm>
          <a:prstGeom prst="rect">
            <a:avLst/>
          </a:prstGeom>
          <a:noFill/>
        </p:spPr>
        <p:txBody>
          <a:bodyPr wrap="none" rtlCol="0">
            <a:spAutoFit/>
          </a:bodyPr>
          <a:lstStyle/>
          <a:p>
            <a:r>
              <a:rPr lang="en-US" dirty="0" smtClean="0">
                <a:solidFill>
                  <a:schemeClr val="bg1"/>
                </a:solidFill>
              </a:rPr>
              <a:t>7.9</a:t>
            </a:r>
            <a:endParaRPr lang="en-US" dirty="0">
              <a:solidFill>
                <a:schemeClr val="bg1"/>
              </a:solidFill>
            </a:endParaRPr>
          </a:p>
        </p:txBody>
      </p:sp>
      <p:sp>
        <p:nvSpPr>
          <p:cNvPr id="34" name="TextBox 33"/>
          <p:cNvSpPr txBox="1"/>
          <p:nvPr/>
        </p:nvSpPr>
        <p:spPr>
          <a:xfrm>
            <a:off x="5486400" y="1524000"/>
            <a:ext cx="476412" cy="369332"/>
          </a:xfrm>
          <a:prstGeom prst="rect">
            <a:avLst/>
          </a:prstGeom>
          <a:noFill/>
        </p:spPr>
        <p:txBody>
          <a:bodyPr wrap="none" rtlCol="0">
            <a:spAutoFit/>
          </a:bodyPr>
          <a:lstStyle/>
          <a:p>
            <a:r>
              <a:rPr lang="en-US" dirty="0" smtClean="0">
                <a:solidFill>
                  <a:schemeClr val="bg1"/>
                </a:solidFill>
              </a:rPr>
              <a:t>4.3</a:t>
            </a:r>
            <a:endParaRPr lang="en-US" dirty="0">
              <a:solidFill>
                <a:schemeClr val="bg1"/>
              </a:solidFill>
            </a:endParaRPr>
          </a:p>
        </p:txBody>
      </p:sp>
      <p:sp>
        <p:nvSpPr>
          <p:cNvPr id="35" name="TextBox 34"/>
          <p:cNvSpPr txBox="1"/>
          <p:nvPr/>
        </p:nvSpPr>
        <p:spPr>
          <a:xfrm>
            <a:off x="3276600" y="3124200"/>
            <a:ext cx="476412" cy="369332"/>
          </a:xfrm>
          <a:prstGeom prst="rect">
            <a:avLst/>
          </a:prstGeom>
          <a:noFill/>
        </p:spPr>
        <p:txBody>
          <a:bodyPr wrap="none" rtlCol="0">
            <a:spAutoFit/>
          </a:bodyPr>
          <a:lstStyle/>
          <a:p>
            <a:r>
              <a:rPr lang="en-US" dirty="0" smtClean="0">
                <a:solidFill>
                  <a:schemeClr val="bg1"/>
                </a:solidFill>
              </a:rPr>
              <a:t>7.8</a:t>
            </a:r>
            <a:endParaRPr lang="en-US" dirty="0">
              <a:solidFill>
                <a:schemeClr val="bg1"/>
              </a:solidFill>
            </a:endParaRPr>
          </a:p>
        </p:txBody>
      </p:sp>
      <p:sp>
        <p:nvSpPr>
          <p:cNvPr id="36" name="TextBox 35"/>
          <p:cNvSpPr txBox="1"/>
          <p:nvPr/>
        </p:nvSpPr>
        <p:spPr>
          <a:xfrm>
            <a:off x="1981200" y="5715000"/>
            <a:ext cx="476412" cy="369332"/>
          </a:xfrm>
          <a:prstGeom prst="rect">
            <a:avLst/>
          </a:prstGeom>
          <a:noFill/>
        </p:spPr>
        <p:txBody>
          <a:bodyPr wrap="none" rtlCol="0">
            <a:spAutoFit/>
          </a:bodyPr>
          <a:lstStyle/>
          <a:p>
            <a:r>
              <a:rPr lang="en-US" dirty="0" smtClean="0">
                <a:solidFill>
                  <a:schemeClr val="bg1"/>
                </a:solidFill>
              </a:rPr>
              <a:t>5.4</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92162"/>
          </a:xfrm>
        </p:spPr>
        <p:txBody>
          <a:bodyPr/>
          <a:lstStyle/>
          <a:p>
            <a:r>
              <a:rPr lang="en-US" dirty="0" smtClean="0"/>
              <a:t>NM UI Continued Claims Duration</a:t>
            </a:r>
            <a:endParaRPr lang="en-US" dirty="0"/>
          </a:p>
        </p:txBody>
      </p:sp>
      <p:pic>
        <p:nvPicPr>
          <p:cNvPr id="41985" name="Picture 1" descr="C:\Users\sreagan\AppData\Local\Microsoft\Windows\Temporary Internet Files\Content.IE5\EXFYB66G\MP900444188[1].jpg"/>
          <p:cNvPicPr>
            <a:picLocks noChangeAspect="1" noChangeArrowheads="1"/>
          </p:cNvPicPr>
          <p:nvPr/>
        </p:nvPicPr>
        <p:blipFill>
          <a:blip r:embed="rId3" cstate="print"/>
          <a:srcRect/>
          <a:stretch>
            <a:fillRect/>
          </a:stretch>
        </p:blipFill>
        <p:spPr bwMode="auto">
          <a:xfrm>
            <a:off x="0" y="3352800"/>
            <a:ext cx="1752600" cy="2667000"/>
          </a:xfrm>
          <a:prstGeom prst="rect">
            <a:avLst/>
          </a:prstGeom>
          <a:noFill/>
        </p:spPr>
      </p:pic>
      <p:sp>
        <p:nvSpPr>
          <p:cNvPr id="7" name="TextBox 6"/>
          <p:cNvSpPr txBox="1"/>
          <p:nvPr/>
        </p:nvSpPr>
        <p:spPr>
          <a:xfrm>
            <a:off x="0" y="1905000"/>
            <a:ext cx="2133600" cy="1292662"/>
          </a:xfrm>
          <a:prstGeom prst="rect">
            <a:avLst/>
          </a:prstGeom>
          <a:noFill/>
        </p:spPr>
        <p:txBody>
          <a:bodyPr wrap="square" rtlCol="0">
            <a:spAutoFit/>
          </a:bodyPr>
          <a:lstStyle/>
          <a:p>
            <a:r>
              <a:rPr lang="en-US" sz="1200" dirty="0" smtClean="0"/>
              <a:t>Based on UI Summary Data 2</a:t>
            </a:r>
            <a:r>
              <a:rPr lang="en-US" sz="1200" baseline="30000" dirty="0" smtClean="0"/>
              <a:t>nd</a:t>
            </a:r>
            <a:r>
              <a:rPr lang="en-US" sz="1200" dirty="0" smtClean="0"/>
              <a:t>  Qtr 2011:</a:t>
            </a:r>
          </a:p>
          <a:p>
            <a:endParaRPr lang="en-US" dirty="0" smtClean="0"/>
          </a:p>
          <a:p>
            <a:r>
              <a:rPr lang="en-US" dirty="0" smtClean="0"/>
              <a:t>Average Duration 21.5 weeks in 2010</a:t>
            </a:r>
            <a:endParaRPr lang="en-US" dirty="0"/>
          </a:p>
        </p:txBody>
      </p:sp>
      <p:graphicFrame>
        <p:nvGraphicFramePr>
          <p:cNvPr id="9" name="Chart 8"/>
          <p:cNvGraphicFramePr>
            <a:graphicFrameLocks noGrp="1"/>
          </p:cNvGraphicFramePr>
          <p:nvPr/>
        </p:nvGraphicFramePr>
        <p:xfrm>
          <a:off x="1981200" y="152400"/>
          <a:ext cx="7162800" cy="6297083"/>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944562"/>
          </a:xfrm>
        </p:spPr>
        <p:txBody>
          <a:bodyPr/>
          <a:lstStyle/>
          <a:p>
            <a:pPr algn="ctr"/>
            <a:r>
              <a:rPr lang="en-US" dirty="0" smtClean="0"/>
              <a:t>US Unemployment Rates for </a:t>
            </a:r>
            <a:br>
              <a:rPr lang="en-US" dirty="0" smtClean="0"/>
            </a:br>
            <a:r>
              <a:rPr lang="en-US" dirty="0" smtClean="0"/>
              <a:t>Men and Women</a:t>
            </a:r>
            <a:endParaRPr lang="en-US" dirty="0"/>
          </a:p>
        </p:txBody>
      </p:sp>
      <p:graphicFrame>
        <p:nvGraphicFramePr>
          <p:cNvPr id="3" name="Chart 2"/>
          <p:cNvGraphicFramePr/>
          <p:nvPr/>
        </p:nvGraphicFramePr>
        <p:xfrm>
          <a:off x="76200" y="1676400"/>
          <a:ext cx="90678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1676400" y="6400800"/>
            <a:ext cx="4154407" cy="276999"/>
          </a:xfrm>
          <a:prstGeom prst="rect">
            <a:avLst/>
          </a:prstGeom>
          <a:noFill/>
        </p:spPr>
        <p:txBody>
          <a:bodyPr wrap="none" rtlCol="0">
            <a:spAutoFit/>
          </a:bodyPr>
          <a:lstStyle/>
          <a:p>
            <a:r>
              <a:rPr lang="en-US" sz="1200" i="1" dirty="0" smtClean="0"/>
              <a:t>Source: US Bureau of Labor Statistics, Current Population Survey</a:t>
            </a:r>
            <a:endParaRPr lang="en-US" sz="1200" i="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b="0" dirty="0" smtClean="0"/>
              <a:t>New Mexico Unemployment Rate by Age</a:t>
            </a:r>
            <a:endParaRPr lang="en-US" dirty="0"/>
          </a:p>
        </p:txBody>
      </p:sp>
      <p:sp>
        <p:nvSpPr>
          <p:cNvPr id="4" name="TextBox 3"/>
          <p:cNvSpPr txBox="1"/>
          <p:nvPr/>
        </p:nvSpPr>
        <p:spPr>
          <a:xfrm>
            <a:off x="3352800" y="990600"/>
            <a:ext cx="2291076" cy="369332"/>
          </a:xfrm>
          <a:prstGeom prst="rect">
            <a:avLst/>
          </a:prstGeom>
          <a:noFill/>
        </p:spPr>
        <p:txBody>
          <a:bodyPr wrap="none" rtlCol="0">
            <a:spAutoFit/>
          </a:bodyPr>
          <a:lstStyle/>
          <a:p>
            <a:r>
              <a:rPr lang="en-US" dirty="0" smtClean="0"/>
              <a:t>2011 annual averages</a:t>
            </a:r>
            <a:endParaRPr lang="en-US" dirty="0"/>
          </a:p>
        </p:txBody>
      </p:sp>
      <p:graphicFrame>
        <p:nvGraphicFramePr>
          <p:cNvPr id="5" name="Chart 4"/>
          <p:cNvGraphicFramePr/>
          <p:nvPr/>
        </p:nvGraphicFramePr>
        <p:xfrm>
          <a:off x="533400" y="990600"/>
          <a:ext cx="830580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752600" y="6400800"/>
            <a:ext cx="5450403" cy="307777"/>
          </a:xfrm>
          <a:prstGeom prst="rect">
            <a:avLst/>
          </a:prstGeom>
          <a:noFill/>
        </p:spPr>
        <p:txBody>
          <a:bodyPr wrap="none" rtlCol="0">
            <a:spAutoFit/>
          </a:bodyPr>
          <a:lstStyle/>
          <a:p>
            <a:r>
              <a:rPr lang="en-US" sz="1400" i="1" dirty="0" smtClean="0"/>
              <a:t>Source: Census Geographic Profile of Employment and Unemployment</a:t>
            </a:r>
            <a:endParaRPr lang="en-US" sz="1400" i="1" dirty="0"/>
          </a:p>
        </p:txBody>
      </p:sp>
      <p:pic>
        <p:nvPicPr>
          <p:cNvPr id="7" name="Picture 6" descr="youthJobless.jpg"/>
          <p:cNvPicPr>
            <a:picLocks noChangeAspect="1"/>
          </p:cNvPicPr>
          <p:nvPr/>
        </p:nvPicPr>
        <p:blipFill>
          <a:blip r:embed="rId4" cstate="print"/>
          <a:stretch>
            <a:fillRect/>
          </a:stretch>
        </p:blipFill>
        <p:spPr>
          <a:xfrm>
            <a:off x="5715000" y="838200"/>
            <a:ext cx="3124200" cy="3124200"/>
          </a:xfrm>
          <a:prstGeom prst="rect">
            <a:avLst/>
          </a:prstGeom>
          <a:noFill/>
          <a:ln>
            <a:noFill/>
          </a:ln>
        </p:spPr>
      </p:pic>
      <p:sp>
        <p:nvSpPr>
          <p:cNvPr id="8" name="TextBox 7"/>
          <p:cNvSpPr txBox="1"/>
          <p:nvPr/>
        </p:nvSpPr>
        <p:spPr>
          <a:xfrm>
            <a:off x="5410200" y="990600"/>
            <a:ext cx="641522" cy="369332"/>
          </a:xfrm>
          <a:prstGeom prst="rect">
            <a:avLst/>
          </a:prstGeom>
          <a:noFill/>
        </p:spPr>
        <p:txBody>
          <a:bodyPr wrap="none" rtlCol="0">
            <a:spAutoFit/>
          </a:bodyPr>
          <a:lstStyle/>
          <a:p>
            <a:r>
              <a:rPr lang="en-US" dirty="0" smtClean="0"/>
              <a:t>7.4%</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Mexico 2010 Unemployment Rate</a:t>
            </a:r>
            <a:endParaRPr lang="en-US" dirty="0"/>
          </a:p>
        </p:txBody>
      </p:sp>
      <p:graphicFrame>
        <p:nvGraphicFramePr>
          <p:cNvPr id="3" name="Chart 2"/>
          <p:cNvGraphicFramePr/>
          <p:nvPr/>
        </p:nvGraphicFramePr>
        <p:xfrm>
          <a:off x="228600" y="990600"/>
          <a:ext cx="8534400" cy="4953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1828800" y="6248400"/>
            <a:ext cx="4510466" cy="307777"/>
          </a:xfrm>
          <a:prstGeom prst="rect">
            <a:avLst/>
          </a:prstGeom>
          <a:noFill/>
        </p:spPr>
        <p:txBody>
          <a:bodyPr wrap="none" rtlCol="0">
            <a:spAutoFit/>
          </a:bodyPr>
          <a:lstStyle/>
          <a:p>
            <a:r>
              <a:rPr lang="en-US" sz="1400" i="1" dirty="0" smtClean="0"/>
              <a:t>Source: 2010 American Community Survey 1-Year Estimates</a:t>
            </a:r>
            <a:endParaRPr lang="en-US" sz="1400" i="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92162"/>
          </a:xfrm>
        </p:spPr>
        <p:txBody>
          <a:bodyPr/>
          <a:lstStyle/>
          <a:p>
            <a:r>
              <a:rPr lang="en-US" dirty="0" smtClean="0"/>
              <a:t>2010 Census Population by County</a:t>
            </a:r>
            <a:endParaRPr lang="en-US" dirty="0"/>
          </a:p>
        </p:txBody>
      </p:sp>
      <p:pic>
        <p:nvPicPr>
          <p:cNvPr id="113666" name="Picture 2"/>
          <p:cNvPicPr>
            <a:picLocks noChangeAspect="1" noChangeArrowheads="1"/>
          </p:cNvPicPr>
          <p:nvPr/>
        </p:nvPicPr>
        <p:blipFill>
          <a:blip r:embed="rId3" cstate="print"/>
          <a:srcRect/>
          <a:stretch>
            <a:fillRect/>
          </a:stretch>
        </p:blipFill>
        <p:spPr bwMode="auto">
          <a:xfrm>
            <a:off x="152400" y="914400"/>
            <a:ext cx="8867775" cy="586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National Trends – </a:t>
            </a:r>
            <a:r>
              <a:rPr lang="en-US" sz="2400" dirty="0" smtClean="0"/>
              <a:t>projected population by age</a:t>
            </a:r>
            <a:endParaRPr lang="en-US" sz="2400" dirty="0"/>
          </a:p>
        </p:txBody>
      </p:sp>
      <p:graphicFrame>
        <p:nvGraphicFramePr>
          <p:cNvPr id="44034" name="Content Placeholder 4"/>
          <p:cNvGraphicFramePr>
            <a:graphicFrameLocks noGrp="1"/>
          </p:cNvGraphicFramePr>
          <p:nvPr/>
        </p:nvGraphicFramePr>
        <p:xfrm>
          <a:off x="228600" y="1143000"/>
          <a:ext cx="8763000" cy="4953000"/>
        </p:xfrm>
        <a:graphic>
          <a:graphicData uri="http://schemas.openxmlformats.org/presentationml/2006/ole">
            <p:oleObj spid="_x0000_s44034" r:id="rId4" imgW="8760711" imgH="4956478" progId="Excel.Sheet.8">
              <p:embed/>
            </p:oleObj>
          </a:graphicData>
        </a:graphic>
      </p:graphicFrame>
      <p:sp>
        <p:nvSpPr>
          <p:cNvPr id="5" name="Rectangle 4"/>
          <p:cNvSpPr/>
          <p:nvPr/>
        </p:nvSpPr>
        <p:spPr>
          <a:xfrm>
            <a:off x="1905000" y="6096000"/>
            <a:ext cx="4876800" cy="307777"/>
          </a:xfrm>
          <a:prstGeom prst="rect">
            <a:avLst/>
          </a:prstGeom>
        </p:spPr>
        <p:txBody>
          <a:bodyPr wrap="square">
            <a:spAutoFit/>
          </a:bodyPr>
          <a:lstStyle/>
          <a:p>
            <a:r>
              <a:rPr lang="fr-FR" sz="1400" dirty="0" smtClean="0">
                <a:latin typeface="Calibri" pitchFamily="34" charset="0"/>
              </a:rPr>
              <a:t>Source: Population Division, U.S. Census Bureau</a:t>
            </a:r>
            <a:endParaRPr lang="en-US" sz="1400" dirty="0">
              <a:latin typeface="Calibri"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1"/>
          <p:cNvSpPr>
            <a:spLocks noGrp="1"/>
          </p:cNvSpPr>
          <p:nvPr>
            <p:ph type="title"/>
          </p:nvPr>
        </p:nvSpPr>
        <p:spPr/>
        <p:txBody>
          <a:bodyPr/>
          <a:lstStyle/>
          <a:p>
            <a:pPr eaLnBrk="1" hangingPunct="1"/>
            <a:r>
              <a:rPr lang="en-US" dirty="0" smtClean="0"/>
              <a:t>NM Population Projections by Age</a:t>
            </a:r>
          </a:p>
        </p:txBody>
      </p:sp>
      <p:graphicFrame>
        <p:nvGraphicFramePr>
          <p:cNvPr id="7170" name="Chart 3"/>
          <p:cNvGraphicFramePr>
            <a:graphicFrameLocks/>
          </p:cNvGraphicFramePr>
          <p:nvPr/>
        </p:nvGraphicFramePr>
        <p:xfrm>
          <a:off x="0" y="685800"/>
          <a:ext cx="9144000" cy="5638800"/>
        </p:xfrm>
        <a:graphic>
          <a:graphicData uri="http://schemas.openxmlformats.org/presentationml/2006/ole">
            <p:oleObj spid="_x0000_s86018" name="Worksheet" r:id="rId4" imgW="8641012" imgH="3863376" progId="Excel.Sheet.8">
              <p:embed/>
            </p:oleObj>
          </a:graphicData>
        </a:graphic>
      </p:graphicFrame>
      <p:sp>
        <p:nvSpPr>
          <p:cNvPr id="7172" name="TextBox 4"/>
          <p:cNvSpPr txBox="1">
            <a:spLocks noChangeArrowheads="1"/>
          </p:cNvSpPr>
          <p:nvPr/>
        </p:nvSpPr>
        <p:spPr bwMode="auto">
          <a:xfrm>
            <a:off x="1371600" y="6096000"/>
            <a:ext cx="7543800" cy="461665"/>
          </a:xfrm>
          <a:prstGeom prst="rect">
            <a:avLst/>
          </a:prstGeom>
          <a:noFill/>
          <a:ln w="9525">
            <a:noFill/>
            <a:miter lim="800000"/>
            <a:headEnd/>
            <a:tailEnd/>
          </a:ln>
        </p:spPr>
        <p:txBody>
          <a:bodyPr>
            <a:spAutoFit/>
          </a:bodyPr>
          <a:lstStyle/>
          <a:p>
            <a:r>
              <a:rPr lang="fr-FR" sz="1200" dirty="0">
                <a:latin typeface="Calibri" pitchFamily="34" charset="0"/>
              </a:rPr>
              <a:t>Source: U.S.Census Bureau, Population Division, </a:t>
            </a:r>
            <a:r>
              <a:rPr lang="fr-FR" sz="1200" dirty="0" err="1">
                <a:latin typeface="Calibri" pitchFamily="34" charset="0"/>
              </a:rPr>
              <a:t>Interim</a:t>
            </a:r>
            <a:r>
              <a:rPr lang="fr-FR" sz="1200" dirty="0">
                <a:latin typeface="Calibri" pitchFamily="34" charset="0"/>
              </a:rPr>
              <a:t> State Population</a:t>
            </a:r>
          </a:p>
          <a:p>
            <a:r>
              <a:rPr lang="fr-FR" sz="1200" dirty="0">
                <a:latin typeface="Calibri" pitchFamily="34" charset="0"/>
              </a:rPr>
              <a:t> Projections, 2005</a:t>
            </a:r>
            <a:endParaRPr lang="en-US" sz="1200" dirty="0">
              <a:latin typeface="Calibri"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p:txBody>
          <a:bodyPr/>
          <a:lstStyle/>
          <a:p>
            <a:pPr eaLnBrk="1" hangingPunct="1"/>
            <a:r>
              <a:rPr lang="en-US" smtClean="0"/>
              <a:t>NM Employment Projections</a:t>
            </a:r>
          </a:p>
        </p:txBody>
      </p:sp>
      <p:graphicFrame>
        <p:nvGraphicFramePr>
          <p:cNvPr id="9218" name="Content Placeholder 4"/>
          <p:cNvGraphicFramePr>
            <a:graphicFrameLocks noGrp="1"/>
          </p:cNvGraphicFramePr>
          <p:nvPr>
            <p:ph idx="1"/>
          </p:nvPr>
        </p:nvGraphicFramePr>
        <p:xfrm>
          <a:off x="457200" y="1066800"/>
          <a:ext cx="8229600" cy="4953000"/>
        </p:xfrm>
        <a:graphic>
          <a:graphicData uri="http://schemas.openxmlformats.org/presentationml/2006/ole">
            <p:oleObj spid="_x0000_s1026" r:id="rId3" imgW="8230313" imgH="4956478" progId="Excel.Sheet.8">
              <p:embed/>
            </p:oleObj>
          </a:graphicData>
        </a:graphic>
      </p:graphicFrame>
      <p:sp>
        <p:nvSpPr>
          <p:cNvPr id="9220" name="TextBox 5"/>
          <p:cNvSpPr txBox="1">
            <a:spLocks noChangeArrowheads="1"/>
          </p:cNvSpPr>
          <p:nvPr/>
        </p:nvSpPr>
        <p:spPr bwMode="auto">
          <a:xfrm>
            <a:off x="6629400" y="990600"/>
            <a:ext cx="2286000" cy="646113"/>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a:spAutoFit/>
          </a:bodyPr>
          <a:lstStyle/>
          <a:p>
            <a:r>
              <a:rPr lang="en-US" dirty="0">
                <a:latin typeface="Calibri" pitchFamily="34" charset="0"/>
              </a:rPr>
              <a:t>Annual Average Percent Change 0.97</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5-Point Star 4"/>
          <p:cNvSpPr/>
          <p:nvPr/>
        </p:nvSpPr>
        <p:spPr>
          <a:xfrm>
            <a:off x="8077200" y="0"/>
            <a:ext cx="914400" cy="762000"/>
          </a:xfrm>
          <a:prstGeom prst="star5">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001000" y="152400"/>
            <a:ext cx="1143000" cy="584775"/>
          </a:xfrm>
          <a:prstGeom prst="rect">
            <a:avLst/>
          </a:prstGeom>
          <a:noFill/>
        </p:spPr>
        <p:txBody>
          <a:bodyPr wrap="square" rtlCol="0">
            <a:spAutoFit/>
          </a:bodyPr>
          <a:lstStyle/>
          <a:p>
            <a:pPr algn="r"/>
            <a:r>
              <a:rPr lang="en-US" sz="1600" dirty="0" smtClean="0"/>
              <a:t>Projected </a:t>
            </a:r>
          </a:p>
          <a:p>
            <a:pPr algn="r"/>
            <a:r>
              <a:rPr lang="en-US" sz="1600" dirty="0" smtClean="0"/>
              <a:t>958,000</a:t>
            </a:r>
            <a:endParaRPr lang="en-US" sz="1600" dirty="0"/>
          </a:p>
        </p:txBody>
      </p:sp>
      <p:sp>
        <p:nvSpPr>
          <p:cNvPr id="6" name="Title 5"/>
          <p:cNvSpPr>
            <a:spLocks noGrp="1"/>
          </p:cNvSpPr>
          <p:nvPr>
            <p:ph type="title"/>
          </p:nvPr>
        </p:nvSpPr>
        <p:spPr>
          <a:xfrm>
            <a:off x="2667000" y="0"/>
            <a:ext cx="3962400" cy="914400"/>
          </a:xfrm>
        </p:spPr>
        <p:txBody>
          <a:bodyPr/>
          <a:lstStyle/>
          <a:p>
            <a:r>
              <a:rPr lang="en-US" dirty="0" smtClean="0"/>
              <a:t>NM Job Recovery</a:t>
            </a:r>
            <a:endParaRPr lang="en-US" dirty="0"/>
          </a:p>
        </p:txBody>
      </p:sp>
      <p:sp>
        <p:nvSpPr>
          <p:cNvPr id="7" name="TextBox 6"/>
          <p:cNvSpPr txBox="1"/>
          <p:nvPr/>
        </p:nvSpPr>
        <p:spPr>
          <a:xfrm>
            <a:off x="3733800" y="4572000"/>
            <a:ext cx="1295400" cy="954107"/>
          </a:xfrm>
          <a:prstGeom prst="rect">
            <a:avLst/>
          </a:prstGeom>
          <a:noFill/>
        </p:spPr>
        <p:txBody>
          <a:bodyPr wrap="square" rtlCol="0">
            <a:spAutoFit/>
          </a:bodyPr>
          <a:lstStyle/>
          <a:p>
            <a:r>
              <a:rPr lang="en-US" sz="1400" dirty="0" smtClean="0"/>
              <a:t>Minimum Employment January 2011 at 795,700</a:t>
            </a:r>
            <a:endParaRPr lang="en-US" sz="1400" dirty="0"/>
          </a:p>
        </p:txBody>
      </p:sp>
      <p:graphicFrame>
        <p:nvGraphicFramePr>
          <p:cNvPr id="8" name="Chart 7"/>
          <p:cNvGraphicFramePr>
            <a:graphicFrameLocks noGrp="1"/>
          </p:cNvGraphicFramePr>
          <p:nvPr/>
        </p:nvGraphicFramePr>
        <p:xfrm>
          <a:off x="243840" y="323850"/>
          <a:ext cx="8656320" cy="615315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219200" y="762000"/>
            <a:ext cx="1320746" cy="646331"/>
          </a:xfrm>
          <a:prstGeom prst="rect">
            <a:avLst/>
          </a:prstGeom>
          <a:noFill/>
        </p:spPr>
        <p:txBody>
          <a:bodyPr wrap="none" rtlCol="0">
            <a:spAutoFit/>
          </a:bodyPr>
          <a:lstStyle/>
          <a:p>
            <a:r>
              <a:rPr lang="en-US" sz="1200" dirty="0" smtClean="0"/>
              <a:t>Max Employment </a:t>
            </a:r>
          </a:p>
          <a:p>
            <a:r>
              <a:rPr lang="en-US" sz="1200" dirty="0" smtClean="0"/>
              <a:t> Sept. 2008</a:t>
            </a:r>
          </a:p>
          <a:p>
            <a:r>
              <a:rPr lang="en-US" sz="1200" dirty="0" smtClean="0"/>
              <a:t> at 852,900</a:t>
            </a:r>
            <a:endParaRPr lang="en-US" sz="12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3" cstate="print"/>
          <a:srcRect/>
          <a:stretch>
            <a:fillRect/>
          </a:stretch>
        </p:blipFill>
        <p:spPr bwMode="auto">
          <a:xfrm>
            <a:off x="152400" y="228600"/>
            <a:ext cx="8832850" cy="5772150"/>
          </a:xfrm>
          <a:prstGeom prst="rect">
            <a:avLst/>
          </a:prstGeom>
          <a:noFill/>
          <a:ln w="9525">
            <a:noFill/>
            <a:miter lim="800000"/>
            <a:headEnd/>
            <a:tailEnd/>
          </a:ln>
        </p:spPr>
      </p:pic>
      <p:sp>
        <p:nvSpPr>
          <p:cNvPr id="5" name="TextBox 4"/>
          <p:cNvSpPr txBox="1"/>
          <p:nvPr/>
        </p:nvSpPr>
        <p:spPr>
          <a:xfrm>
            <a:off x="471" y="6211669"/>
            <a:ext cx="9143529" cy="646331"/>
          </a:xfrm>
          <a:prstGeom prst="rect">
            <a:avLst/>
          </a:prstGeom>
          <a:noFill/>
        </p:spPr>
        <p:txBody>
          <a:bodyPr wrap="square" rtlCol="0">
            <a:spAutoFit/>
          </a:bodyPr>
          <a:lstStyle/>
          <a:p>
            <a:r>
              <a:rPr lang="en-US" dirty="0" err="1" smtClean="0"/>
              <a:t>Casselman</a:t>
            </a:r>
            <a:r>
              <a:rPr lang="en-US" dirty="0" smtClean="0"/>
              <a:t>, Ben. “A State-by-State Look at Long Road to Jobs Recovery.”  Wall Street Journal Blog, November 14, 2011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Tigger</a:t>
            </a:r>
            <a:r>
              <a:rPr lang="en-US" dirty="0" smtClean="0"/>
              <a:t> Slide</a:t>
            </a:r>
            <a:endParaRPr lang="en-US" dirty="0"/>
          </a:p>
        </p:txBody>
      </p:sp>
      <p:pic>
        <p:nvPicPr>
          <p:cNvPr id="37890" name="Content Placeholder 3" descr="tigger_economics.jpg"/>
          <p:cNvPicPr>
            <a:picLocks noGrp="1" noChangeAspect="1"/>
          </p:cNvPicPr>
          <p:nvPr>
            <p:ph idx="4294967295"/>
          </p:nvPr>
        </p:nvPicPr>
        <p:blipFill>
          <a:blip r:embed="rId3" cstate="print"/>
          <a:srcRect/>
          <a:stretch>
            <a:fillRect/>
          </a:stretch>
        </p:blipFill>
        <p:spPr bwMode="auto">
          <a:xfrm>
            <a:off x="0" y="0"/>
            <a:ext cx="9144000" cy="6934200"/>
          </a:xfrm>
          <a:prstGeom prst="rect">
            <a:avLst/>
          </a:prstGeom>
          <a:noFill/>
          <a:ln>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92162"/>
          </a:xfrm>
        </p:spPr>
        <p:txBody>
          <a:bodyPr/>
          <a:lstStyle/>
          <a:p>
            <a:r>
              <a:rPr lang="en-US" dirty="0" smtClean="0"/>
              <a:t>Occupations</a:t>
            </a:r>
            <a:endParaRPr lang="en-US"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a:defRPr/>
            </a:pPr>
            <a:fld id="{7E8DF409-D00C-42D6-B5A6-E7A8C04ACE0B}" type="slidenum">
              <a:rPr lang="en-US" smtClean="0"/>
              <a:pPr>
                <a:defRPr/>
              </a:pPr>
              <a:t>32</a:t>
            </a:fld>
            <a:endParaRPr lang="en-US" dirty="0"/>
          </a:p>
        </p:txBody>
      </p:sp>
      <p:pic>
        <p:nvPicPr>
          <p:cNvPr id="3075" name="Picture 3" descr="C:\Users\sreagan\AppData\Local\Microsoft\Windows\Temporary Internet Files\Content.IE5\EXFYB66G\MC910215892[1].jpg"/>
          <p:cNvPicPr>
            <a:picLocks noChangeAspect="1" noChangeArrowheads="1"/>
          </p:cNvPicPr>
          <p:nvPr/>
        </p:nvPicPr>
        <p:blipFill>
          <a:blip r:embed="rId3" cstate="print"/>
          <a:srcRect/>
          <a:stretch>
            <a:fillRect/>
          </a:stretch>
        </p:blipFill>
        <p:spPr bwMode="auto">
          <a:xfrm>
            <a:off x="0" y="838200"/>
            <a:ext cx="9144000" cy="601980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52400"/>
            <a:ext cx="8229600" cy="792162"/>
          </a:xfrm>
        </p:spPr>
        <p:txBody>
          <a:bodyPr/>
          <a:lstStyle/>
          <a:p>
            <a:r>
              <a:rPr lang="en-US" dirty="0" smtClean="0"/>
              <a:t>O*NET / SOC  2010  Code Structure</a:t>
            </a:r>
            <a:endParaRPr lang="en-US" dirty="0"/>
          </a:p>
        </p:txBody>
      </p:sp>
      <p:sp>
        <p:nvSpPr>
          <p:cNvPr id="4" name="TextBox 3"/>
          <p:cNvSpPr txBox="1"/>
          <p:nvPr/>
        </p:nvSpPr>
        <p:spPr>
          <a:xfrm>
            <a:off x="914400" y="914400"/>
            <a:ext cx="6873292" cy="369332"/>
          </a:xfrm>
          <a:prstGeom prst="rect">
            <a:avLst/>
          </a:prstGeom>
          <a:solidFill>
            <a:schemeClr val="accent5">
              <a:lumMod val="60000"/>
              <a:lumOff val="40000"/>
            </a:schemeClr>
          </a:solidFill>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dirty="0" smtClean="0"/>
              <a:t>Sample code : 15-1152.00   Title: Computer Network Support Specialists</a:t>
            </a:r>
            <a:endParaRPr lang="en-US" dirty="0"/>
          </a:p>
        </p:txBody>
      </p:sp>
      <p:sp>
        <p:nvSpPr>
          <p:cNvPr id="5" name="TextBox 4"/>
          <p:cNvSpPr txBox="1"/>
          <p:nvPr/>
        </p:nvSpPr>
        <p:spPr>
          <a:xfrm>
            <a:off x="0" y="2326481"/>
            <a:ext cx="4941417" cy="3139321"/>
          </a:xfrm>
          <a:prstGeom prst="rect">
            <a:avLst/>
          </a:prstGeom>
          <a:noFill/>
        </p:spPr>
        <p:txBody>
          <a:bodyPr wrap="none" rtlCol="0">
            <a:spAutoFit/>
          </a:bodyPr>
          <a:lstStyle/>
          <a:p>
            <a:r>
              <a:rPr lang="en-US" dirty="0" smtClean="0"/>
              <a:t>11- Management Occupations</a:t>
            </a:r>
          </a:p>
          <a:p>
            <a:r>
              <a:rPr lang="en-US" dirty="0" smtClean="0"/>
              <a:t>13- Business &amp; Financial Operations Occupations</a:t>
            </a:r>
          </a:p>
          <a:p>
            <a:r>
              <a:rPr lang="en-US" dirty="0" smtClean="0"/>
              <a:t>15- Computer and Mathematical Occupations</a:t>
            </a:r>
          </a:p>
          <a:p>
            <a:r>
              <a:rPr lang="en-US" dirty="0" smtClean="0"/>
              <a:t>17-Architecture and engineering Occupations</a:t>
            </a:r>
          </a:p>
          <a:p>
            <a:r>
              <a:rPr lang="en-US" dirty="0" smtClean="0"/>
              <a:t>19- Life, Physical, and Social Science Occupations</a:t>
            </a:r>
          </a:p>
          <a:p>
            <a:r>
              <a:rPr lang="en-US" dirty="0" smtClean="0"/>
              <a:t>21- Community and Social services Occupations</a:t>
            </a:r>
          </a:p>
          <a:p>
            <a:r>
              <a:rPr lang="en-US" dirty="0" smtClean="0"/>
              <a:t>23- Legal Occupations</a:t>
            </a:r>
          </a:p>
          <a:p>
            <a:r>
              <a:rPr lang="en-US" dirty="0" smtClean="0"/>
              <a:t>25- Education, Training, and Library Occupations</a:t>
            </a:r>
          </a:p>
          <a:p>
            <a:r>
              <a:rPr lang="en-US" dirty="0" smtClean="0"/>
              <a:t>27- Arts, Design, Entertainment, Sports &amp; Related</a:t>
            </a:r>
          </a:p>
          <a:p>
            <a:r>
              <a:rPr lang="en-US" dirty="0" smtClean="0"/>
              <a:t>29- Healthcare Practitioners and Technical </a:t>
            </a:r>
            <a:r>
              <a:rPr lang="en-US" dirty="0" err="1" smtClean="0"/>
              <a:t>Occs</a:t>
            </a:r>
            <a:r>
              <a:rPr lang="en-US" dirty="0" smtClean="0"/>
              <a:t>.</a:t>
            </a:r>
          </a:p>
          <a:p>
            <a:r>
              <a:rPr lang="en-US" dirty="0" smtClean="0"/>
              <a:t>31- Healthcare Support Occupations</a:t>
            </a:r>
          </a:p>
        </p:txBody>
      </p:sp>
      <p:sp>
        <p:nvSpPr>
          <p:cNvPr id="6" name="TextBox 5"/>
          <p:cNvSpPr txBox="1"/>
          <p:nvPr/>
        </p:nvSpPr>
        <p:spPr>
          <a:xfrm>
            <a:off x="4572000" y="2326481"/>
            <a:ext cx="4688784" cy="3693319"/>
          </a:xfrm>
          <a:prstGeom prst="rect">
            <a:avLst/>
          </a:prstGeom>
          <a:noFill/>
        </p:spPr>
        <p:txBody>
          <a:bodyPr wrap="square" rtlCol="0">
            <a:spAutoFit/>
          </a:bodyPr>
          <a:lstStyle/>
          <a:p>
            <a:r>
              <a:rPr lang="en-US" dirty="0" smtClean="0"/>
              <a:t>33- Protective Service Occupations</a:t>
            </a:r>
          </a:p>
          <a:p>
            <a:r>
              <a:rPr lang="en-US" dirty="0" smtClean="0"/>
              <a:t>35- Food Preparation &amp; Serving Related </a:t>
            </a:r>
            <a:r>
              <a:rPr lang="en-US" dirty="0" err="1" smtClean="0"/>
              <a:t>Occs</a:t>
            </a:r>
            <a:r>
              <a:rPr lang="en-US" dirty="0" smtClean="0"/>
              <a:t>.</a:t>
            </a:r>
          </a:p>
          <a:p>
            <a:r>
              <a:rPr lang="en-US" dirty="0" smtClean="0"/>
              <a:t>37- Building &amp; Grounds Cleaning &amp; Maintenance</a:t>
            </a:r>
          </a:p>
          <a:p>
            <a:r>
              <a:rPr lang="en-US" dirty="0" smtClean="0"/>
              <a:t>39- Personal Care and Service Occupations</a:t>
            </a:r>
          </a:p>
          <a:p>
            <a:r>
              <a:rPr lang="en-US" dirty="0" smtClean="0"/>
              <a:t>41- Sales and Related Occupations</a:t>
            </a:r>
          </a:p>
          <a:p>
            <a:r>
              <a:rPr lang="en-US" dirty="0" smtClean="0"/>
              <a:t>43- Office &amp;Administrative Support </a:t>
            </a:r>
            <a:r>
              <a:rPr lang="en-US" dirty="0" err="1" smtClean="0"/>
              <a:t>Wkrs</a:t>
            </a:r>
            <a:endParaRPr lang="en-US" dirty="0" smtClean="0"/>
          </a:p>
          <a:p>
            <a:r>
              <a:rPr lang="en-US" dirty="0" smtClean="0"/>
              <a:t>45- Farming, Fishing, and Forestry </a:t>
            </a:r>
            <a:r>
              <a:rPr lang="en-US" dirty="0" err="1" smtClean="0"/>
              <a:t>Occs</a:t>
            </a:r>
            <a:r>
              <a:rPr lang="en-US" dirty="0" smtClean="0"/>
              <a:t>.</a:t>
            </a:r>
          </a:p>
          <a:p>
            <a:r>
              <a:rPr lang="en-US" dirty="0" smtClean="0"/>
              <a:t>47- Construction and Extraction </a:t>
            </a:r>
            <a:r>
              <a:rPr lang="en-US" dirty="0" err="1" smtClean="0"/>
              <a:t>Occs</a:t>
            </a:r>
            <a:r>
              <a:rPr lang="en-US" dirty="0" smtClean="0"/>
              <a:t>.</a:t>
            </a:r>
          </a:p>
          <a:p>
            <a:r>
              <a:rPr lang="en-US" dirty="0" smtClean="0"/>
              <a:t>49- Installation, Maintenance, and Repair</a:t>
            </a:r>
          </a:p>
          <a:p>
            <a:r>
              <a:rPr lang="en-US" dirty="0" smtClean="0"/>
              <a:t>51- Production Occupations</a:t>
            </a:r>
          </a:p>
          <a:p>
            <a:r>
              <a:rPr lang="en-US" dirty="0" smtClean="0"/>
              <a:t>53- Transportation and Material Moving</a:t>
            </a:r>
          </a:p>
          <a:p>
            <a:r>
              <a:rPr lang="en-US" dirty="0" smtClean="0"/>
              <a:t>55- Military Specific Occupations</a:t>
            </a:r>
          </a:p>
          <a:p>
            <a:endParaRPr lang="en-US" dirty="0"/>
          </a:p>
        </p:txBody>
      </p:sp>
      <p:sp>
        <p:nvSpPr>
          <p:cNvPr id="7" name="TextBox 6"/>
          <p:cNvSpPr txBox="1"/>
          <p:nvPr/>
        </p:nvSpPr>
        <p:spPr>
          <a:xfrm>
            <a:off x="228600" y="1828800"/>
            <a:ext cx="2667000"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smtClean="0"/>
              <a:t>Organized into Groups:</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a:xfrm>
            <a:off x="228600" y="0"/>
            <a:ext cx="8534400" cy="533400"/>
          </a:xfrm>
        </p:spPr>
        <p:txBody>
          <a:bodyPr/>
          <a:lstStyle/>
          <a:p>
            <a:pPr eaLnBrk="1" hangingPunct="1"/>
            <a:r>
              <a:rPr lang="en-US" sz="3200" dirty="0" smtClean="0"/>
              <a:t>NM Occupational Category Employment 2009</a:t>
            </a:r>
          </a:p>
        </p:txBody>
      </p:sp>
      <p:graphicFrame>
        <p:nvGraphicFramePr>
          <p:cNvPr id="13314" name="Content Placeholder 4"/>
          <p:cNvGraphicFramePr>
            <a:graphicFrameLocks noGrp="1"/>
          </p:cNvGraphicFramePr>
          <p:nvPr>
            <p:ph idx="1"/>
          </p:nvPr>
        </p:nvGraphicFramePr>
        <p:xfrm>
          <a:off x="0" y="463550"/>
          <a:ext cx="9118600" cy="6386513"/>
        </p:xfrm>
        <a:graphic>
          <a:graphicData uri="http://schemas.openxmlformats.org/presentationml/2006/ole">
            <p:oleObj spid="_x0000_s2050" name="Worksheet" r:id="rId4" imgW="8427715" imgH="6233112" progId="Excel.Sheet.8">
              <p:embed/>
            </p:oleObj>
          </a:graphicData>
        </a:graphic>
      </p:graphicFrame>
      <p:sp>
        <p:nvSpPr>
          <p:cNvPr id="13316" name="TextBox 3"/>
          <p:cNvSpPr txBox="1">
            <a:spLocks noChangeArrowheads="1"/>
          </p:cNvSpPr>
          <p:nvPr/>
        </p:nvSpPr>
        <p:spPr bwMode="auto">
          <a:xfrm>
            <a:off x="1371600" y="6488113"/>
            <a:ext cx="7375525" cy="339725"/>
          </a:xfrm>
          <a:prstGeom prst="rect">
            <a:avLst/>
          </a:prstGeom>
          <a:noFill/>
          <a:ln w="9525">
            <a:noFill/>
            <a:miter lim="800000"/>
            <a:headEnd/>
            <a:tailEnd/>
          </a:ln>
        </p:spPr>
        <p:txBody>
          <a:bodyPr wrap="none">
            <a:spAutoFit/>
          </a:bodyPr>
          <a:lstStyle/>
          <a:p>
            <a:r>
              <a:rPr lang="en-US" sz="1600">
                <a:latin typeface="Calibri" pitchFamily="34" charset="0"/>
              </a:rPr>
              <a:t>Source: NM Department of Workforce Solutions Economic Research &amp; Analysis Bureau</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a:xfrm>
            <a:off x="457200" y="152400"/>
            <a:ext cx="8229600" cy="792163"/>
          </a:xfrm>
        </p:spPr>
        <p:txBody>
          <a:bodyPr/>
          <a:lstStyle/>
          <a:p>
            <a:pPr algn="ctr" eaLnBrk="1" hangingPunct="1"/>
            <a:r>
              <a:rPr lang="en-US" sz="1800" smtClean="0"/>
              <a:t>NM Occupational Group </a:t>
            </a:r>
            <a:br>
              <a:rPr lang="en-US" sz="1800" smtClean="0"/>
            </a:br>
            <a:r>
              <a:rPr lang="en-US" sz="1800" smtClean="0"/>
              <a:t>Annual Average Percent Change </a:t>
            </a:r>
            <a:br>
              <a:rPr lang="en-US" sz="1800" smtClean="0"/>
            </a:br>
            <a:r>
              <a:rPr lang="en-US" sz="1800" smtClean="0"/>
              <a:t>2009-2019</a:t>
            </a:r>
          </a:p>
        </p:txBody>
      </p:sp>
      <p:graphicFrame>
        <p:nvGraphicFramePr>
          <p:cNvPr id="14338" name="Content Placeholder 4"/>
          <p:cNvGraphicFramePr>
            <a:graphicFrameLocks noGrp="1"/>
          </p:cNvGraphicFramePr>
          <p:nvPr>
            <p:ph idx="1"/>
          </p:nvPr>
        </p:nvGraphicFramePr>
        <p:xfrm>
          <a:off x="0" y="842963"/>
          <a:ext cx="8915400" cy="6015037"/>
        </p:xfrm>
        <a:graphic>
          <a:graphicData uri="http://schemas.openxmlformats.org/presentationml/2006/ole">
            <p:oleObj spid="_x0000_s40962" name="Worksheet" r:id="rId4" imgW="8465750" imgH="5707368" progId="Excel.Sheet.8">
              <p:embed/>
            </p:oleObj>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0" y="1371600"/>
            <a:ext cx="3429000" cy="792162"/>
          </a:xfrm>
        </p:spPr>
        <p:txBody>
          <a:bodyPr/>
          <a:lstStyle/>
          <a:p>
            <a:r>
              <a:rPr lang="en-US" sz="2000" dirty="0" smtClean="0"/>
              <a:t>Occupational Employment </a:t>
            </a:r>
            <a:br>
              <a:rPr lang="en-US" sz="2000" dirty="0" smtClean="0"/>
            </a:br>
            <a:r>
              <a:rPr lang="en-US" sz="2000" dirty="0" smtClean="0"/>
              <a:t>by Education Needed</a:t>
            </a:r>
            <a:endParaRPr lang="en-US" sz="2000" dirty="0"/>
          </a:p>
        </p:txBody>
      </p:sp>
      <p:graphicFrame>
        <p:nvGraphicFramePr>
          <p:cNvPr id="5" name="Content Placeholder 4"/>
          <p:cNvGraphicFramePr>
            <a:graphicFrameLocks noGrp="1"/>
          </p:cNvGraphicFramePr>
          <p:nvPr>
            <p:ph idx="4294967295"/>
          </p:nvPr>
        </p:nvGraphicFramePr>
        <p:xfrm>
          <a:off x="457200" y="228600"/>
          <a:ext cx="9144000" cy="6172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600200" y="6400800"/>
            <a:ext cx="5163786" cy="307777"/>
          </a:xfrm>
          <a:prstGeom prst="rect">
            <a:avLst/>
          </a:prstGeom>
          <a:noFill/>
        </p:spPr>
        <p:txBody>
          <a:bodyPr wrap="none" rtlCol="0">
            <a:spAutoFit/>
          </a:bodyPr>
          <a:lstStyle/>
          <a:p>
            <a:r>
              <a:rPr lang="en-US" sz="1400" dirty="0" smtClean="0"/>
              <a:t>Source: 2009-2019 Estimated Employment Projections Unit NMDWS</a:t>
            </a:r>
            <a:endParaRPr lang="en-US" sz="1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http://www.virginmedia.com/images/waitresses431x280.jpg"/>
          <p:cNvPicPr>
            <a:picLocks noChangeAspect="1" noChangeArrowheads="1"/>
          </p:cNvPicPr>
          <p:nvPr/>
        </p:nvPicPr>
        <p:blipFill>
          <a:blip r:embed="rId3" cstate="print"/>
          <a:srcRect l="11137" r="36891"/>
          <a:stretch>
            <a:fillRect/>
          </a:stretch>
        </p:blipFill>
        <p:spPr bwMode="auto">
          <a:xfrm>
            <a:off x="0" y="1676400"/>
            <a:ext cx="2133600" cy="2667000"/>
          </a:xfrm>
          <a:prstGeom prst="rect">
            <a:avLst/>
          </a:prstGeom>
          <a:noFill/>
          <a:ln w="9525">
            <a:noFill/>
            <a:miter lim="800000"/>
            <a:headEnd/>
            <a:tailEnd/>
          </a:ln>
        </p:spPr>
      </p:pic>
      <p:sp>
        <p:nvSpPr>
          <p:cNvPr id="39939" name="Title 1"/>
          <p:cNvSpPr>
            <a:spLocks noGrp="1"/>
          </p:cNvSpPr>
          <p:nvPr>
            <p:ph type="title"/>
          </p:nvPr>
        </p:nvSpPr>
        <p:spPr/>
        <p:txBody>
          <a:bodyPr/>
          <a:lstStyle/>
          <a:p>
            <a:pPr algn="ctr" eaLnBrk="1" hangingPunct="1"/>
            <a:r>
              <a:rPr lang="en-US" dirty="0" smtClean="0"/>
              <a:t>10 Occupations with the </a:t>
            </a:r>
            <a:br>
              <a:rPr lang="en-US" dirty="0" smtClean="0"/>
            </a:br>
            <a:r>
              <a:rPr lang="en-US" dirty="0" smtClean="0"/>
              <a:t>Highest Employment In New Mexico</a:t>
            </a:r>
          </a:p>
        </p:txBody>
      </p:sp>
      <p:graphicFrame>
        <p:nvGraphicFramePr>
          <p:cNvPr id="5" name="Content Placeholder 4"/>
          <p:cNvGraphicFramePr>
            <a:graphicFrameLocks noGrp="1"/>
          </p:cNvGraphicFramePr>
          <p:nvPr>
            <p:ph idx="1"/>
          </p:nvPr>
        </p:nvGraphicFramePr>
        <p:xfrm>
          <a:off x="2057400" y="1219200"/>
          <a:ext cx="7086600" cy="5161280"/>
        </p:xfrm>
        <a:graphic>
          <a:graphicData uri="http://schemas.openxmlformats.org/drawingml/2006/table">
            <a:tbl>
              <a:tblPr firstRow="1" bandRow="1">
                <a:tableStyleId>{7DF18680-E054-41AD-8BC1-D1AEF772440D}</a:tableStyleId>
              </a:tblPr>
              <a:tblGrid>
                <a:gridCol w="5669280"/>
                <a:gridCol w="1417320"/>
              </a:tblGrid>
              <a:tr h="370840">
                <a:tc>
                  <a:txBody>
                    <a:bodyPr/>
                    <a:lstStyle/>
                    <a:p>
                      <a:endParaRPr lang="en-US" dirty="0" smtClean="0"/>
                    </a:p>
                    <a:p>
                      <a:endParaRPr lang="en-US" dirty="0" smtClean="0"/>
                    </a:p>
                    <a:p>
                      <a:r>
                        <a:rPr lang="en-US" dirty="0" smtClean="0"/>
                        <a:t>Occupation</a:t>
                      </a:r>
                      <a:endParaRPr lang="en-US" dirty="0"/>
                    </a:p>
                  </a:txBody>
                  <a:tcPr/>
                </a:tc>
                <a:tc>
                  <a:txBody>
                    <a:bodyPr/>
                    <a:lstStyle/>
                    <a:p>
                      <a:pPr algn="r"/>
                      <a:r>
                        <a:rPr lang="en-US" dirty="0" smtClean="0"/>
                        <a:t>2009 Estimated</a:t>
                      </a:r>
                      <a:r>
                        <a:rPr lang="en-US" baseline="0" dirty="0" smtClean="0"/>
                        <a:t> Employment</a:t>
                      </a:r>
                      <a:endParaRPr lang="en-US" dirty="0"/>
                    </a:p>
                  </a:txBody>
                  <a:tcPr/>
                </a:tc>
              </a:tr>
              <a:tr h="370840">
                <a:tc>
                  <a:txBody>
                    <a:bodyPr/>
                    <a:lstStyle/>
                    <a:p>
                      <a:r>
                        <a:rPr lang="en-US" dirty="0" smtClean="0"/>
                        <a:t>Retail Salespersons</a:t>
                      </a:r>
                      <a:endParaRPr lang="en-US" dirty="0"/>
                    </a:p>
                  </a:txBody>
                  <a:tcPr/>
                </a:tc>
                <a:tc>
                  <a:txBody>
                    <a:bodyPr/>
                    <a:lstStyle/>
                    <a:p>
                      <a:pPr algn="r"/>
                      <a:r>
                        <a:rPr lang="en-US" dirty="0" smtClean="0"/>
                        <a:t>29,520</a:t>
                      </a:r>
                      <a:endParaRPr lang="en-US" dirty="0"/>
                    </a:p>
                  </a:txBody>
                  <a:tcPr/>
                </a:tc>
              </a:tr>
              <a:tr h="370840">
                <a:tc>
                  <a:txBody>
                    <a:bodyPr/>
                    <a:lstStyle/>
                    <a:p>
                      <a:r>
                        <a:rPr lang="en-US" dirty="0" smtClean="0"/>
                        <a:t>Cashiers</a:t>
                      </a:r>
                      <a:endParaRPr lang="en-US" dirty="0"/>
                    </a:p>
                  </a:txBody>
                  <a:tcPr/>
                </a:tc>
                <a:tc>
                  <a:txBody>
                    <a:bodyPr/>
                    <a:lstStyle/>
                    <a:p>
                      <a:pPr algn="r"/>
                      <a:r>
                        <a:rPr lang="en-US" dirty="0" smtClean="0"/>
                        <a:t>20,684</a:t>
                      </a:r>
                      <a:endParaRPr lang="en-US" dirty="0"/>
                    </a:p>
                  </a:txBody>
                  <a:tcPr/>
                </a:tc>
              </a:tr>
              <a:tr h="370840">
                <a:tc>
                  <a:txBody>
                    <a:bodyPr/>
                    <a:lstStyle/>
                    <a:p>
                      <a:r>
                        <a:rPr lang="en-US" dirty="0" smtClean="0"/>
                        <a:t>Combined Food Preparation &amp; Serving Workers, Including Fast Food</a:t>
                      </a:r>
                      <a:endParaRPr lang="en-US" dirty="0"/>
                    </a:p>
                  </a:txBody>
                  <a:tcPr/>
                </a:tc>
                <a:tc>
                  <a:txBody>
                    <a:bodyPr/>
                    <a:lstStyle/>
                    <a:p>
                      <a:pPr algn="r"/>
                      <a:endParaRPr lang="en-US" dirty="0" smtClean="0"/>
                    </a:p>
                    <a:p>
                      <a:pPr algn="r"/>
                      <a:r>
                        <a:rPr lang="en-US" dirty="0" smtClean="0"/>
                        <a:t>17,194</a:t>
                      </a:r>
                      <a:endParaRPr lang="en-US" dirty="0"/>
                    </a:p>
                  </a:txBody>
                  <a:tcPr/>
                </a:tc>
              </a:tr>
              <a:tr h="370840">
                <a:tc>
                  <a:txBody>
                    <a:bodyPr/>
                    <a:lstStyle/>
                    <a:p>
                      <a:r>
                        <a:rPr lang="en-US" dirty="0" smtClean="0"/>
                        <a:t>Secretaries, Except Legal, Medical, and Executive</a:t>
                      </a:r>
                      <a:endParaRPr lang="en-US" dirty="0"/>
                    </a:p>
                  </a:txBody>
                  <a:tcPr/>
                </a:tc>
                <a:tc>
                  <a:txBody>
                    <a:bodyPr/>
                    <a:lstStyle/>
                    <a:p>
                      <a:pPr algn="r"/>
                      <a:r>
                        <a:rPr lang="en-US" dirty="0" smtClean="0"/>
                        <a:t>17,162 </a:t>
                      </a:r>
                      <a:endParaRPr lang="en-US" dirty="0"/>
                    </a:p>
                  </a:txBody>
                  <a:tcPr/>
                </a:tc>
              </a:tr>
              <a:tr h="370840">
                <a:tc>
                  <a:txBody>
                    <a:bodyPr/>
                    <a:lstStyle/>
                    <a:p>
                      <a:r>
                        <a:rPr lang="en-US" dirty="0" smtClean="0"/>
                        <a:t>Construction Laborer</a:t>
                      </a:r>
                      <a:endParaRPr lang="en-US" dirty="0"/>
                    </a:p>
                  </a:txBody>
                  <a:tcPr/>
                </a:tc>
                <a:tc>
                  <a:txBody>
                    <a:bodyPr/>
                    <a:lstStyle/>
                    <a:p>
                      <a:pPr algn="r"/>
                      <a:r>
                        <a:rPr lang="en-US" dirty="0" smtClean="0"/>
                        <a:t>14,853</a:t>
                      </a:r>
                      <a:endParaRPr lang="en-US" dirty="0"/>
                    </a:p>
                  </a:txBody>
                  <a:tcPr/>
                </a:tc>
              </a:tr>
              <a:tr h="370840">
                <a:tc>
                  <a:txBody>
                    <a:bodyPr/>
                    <a:lstStyle/>
                    <a:p>
                      <a:r>
                        <a:rPr lang="en-US" dirty="0" smtClean="0"/>
                        <a:t>Waiters and Waitresses </a:t>
                      </a:r>
                      <a:endParaRPr lang="en-US" dirty="0"/>
                    </a:p>
                  </a:txBody>
                  <a:tcPr/>
                </a:tc>
                <a:tc>
                  <a:txBody>
                    <a:bodyPr/>
                    <a:lstStyle/>
                    <a:p>
                      <a:pPr algn="r"/>
                      <a:r>
                        <a:rPr lang="en-US" dirty="0" smtClean="0"/>
                        <a:t>14,496</a:t>
                      </a:r>
                      <a:endParaRPr lang="en-US" dirty="0"/>
                    </a:p>
                  </a:txBody>
                  <a:tcPr/>
                </a:tc>
              </a:tr>
              <a:tr h="370840">
                <a:tc>
                  <a:txBody>
                    <a:bodyPr/>
                    <a:lstStyle/>
                    <a:p>
                      <a:r>
                        <a:rPr lang="en-US" dirty="0" smtClean="0"/>
                        <a:t>Personal and Home Care Aides </a:t>
                      </a:r>
                      <a:endParaRPr lang="en-US" dirty="0"/>
                    </a:p>
                  </a:txBody>
                  <a:tcPr/>
                </a:tc>
                <a:tc>
                  <a:txBody>
                    <a:bodyPr/>
                    <a:lstStyle/>
                    <a:p>
                      <a:pPr algn="r"/>
                      <a:r>
                        <a:rPr lang="en-US" dirty="0" smtClean="0"/>
                        <a:t>14,441 </a:t>
                      </a:r>
                      <a:endParaRPr lang="en-US" dirty="0"/>
                    </a:p>
                  </a:txBody>
                  <a:tcPr/>
                </a:tc>
              </a:tr>
              <a:tr h="370840">
                <a:tc>
                  <a:txBody>
                    <a:bodyPr/>
                    <a:lstStyle/>
                    <a:p>
                      <a:r>
                        <a:rPr lang="en-US" dirty="0" smtClean="0"/>
                        <a:t>General and Operations Managers </a:t>
                      </a:r>
                      <a:endParaRPr lang="en-US" dirty="0"/>
                    </a:p>
                  </a:txBody>
                  <a:tcPr/>
                </a:tc>
                <a:tc>
                  <a:txBody>
                    <a:bodyPr/>
                    <a:lstStyle/>
                    <a:p>
                      <a:pPr algn="r"/>
                      <a:r>
                        <a:rPr lang="en-US" dirty="0" smtClean="0"/>
                        <a:t>14,048</a:t>
                      </a:r>
                      <a:endParaRPr lang="en-US" dirty="0"/>
                    </a:p>
                  </a:txBody>
                  <a:tcPr/>
                </a:tc>
              </a:tr>
              <a:tr h="370840">
                <a:tc>
                  <a:txBody>
                    <a:bodyPr/>
                    <a:lstStyle/>
                    <a:p>
                      <a:r>
                        <a:rPr lang="en-US" dirty="0" smtClean="0"/>
                        <a:t>Janitors and Cleaners, Except Maids &amp; Housekeeping Cleaners</a:t>
                      </a:r>
                      <a:endParaRPr lang="en-US" dirty="0"/>
                    </a:p>
                  </a:txBody>
                  <a:tcPr/>
                </a:tc>
                <a:tc>
                  <a:txBody>
                    <a:bodyPr/>
                    <a:lstStyle/>
                    <a:p>
                      <a:pPr algn="r"/>
                      <a:endParaRPr lang="en-US" dirty="0" smtClean="0"/>
                    </a:p>
                    <a:p>
                      <a:pPr algn="r"/>
                      <a:r>
                        <a:rPr lang="en-US" dirty="0" smtClean="0"/>
                        <a:t>13,873 </a:t>
                      </a:r>
                      <a:endParaRPr lang="en-US" dirty="0"/>
                    </a:p>
                  </a:txBody>
                  <a:tcPr/>
                </a:tc>
              </a:tr>
              <a:tr h="370840">
                <a:tc>
                  <a:txBody>
                    <a:bodyPr/>
                    <a:lstStyle/>
                    <a:p>
                      <a:r>
                        <a:rPr lang="en-US" dirty="0" smtClean="0"/>
                        <a:t>Bookkeeping, Accounting, and Auditing Clerks</a:t>
                      </a:r>
                      <a:endParaRPr lang="en-US" dirty="0"/>
                    </a:p>
                  </a:txBody>
                  <a:tcPr/>
                </a:tc>
                <a:tc>
                  <a:txBody>
                    <a:bodyPr/>
                    <a:lstStyle/>
                    <a:p>
                      <a:pPr algn="r"/>
                      <a:r>
                        <a:rPr lang="en-US" dirty="0" smtClean="0"/>
                        <a:t>13,692 </a:t>
                      </a:r>
                      <a:endParaRPr lang="en-US" dirty="0"/>
                    </a:p>
                  </a:txBody>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381000" y="0"/>
            <a:ext cx="8229600" cy="792163"/>
          </a:xfrm>
        </p:spPr>
        <p:txBody>
          <a:bodyPr/>
          <a:lstStyle/>
          <a:p>
            <a:pPr eaLnBrk="1" hangingPunct="1"/>
            <a:r>
              <a:rPr lang="en-US" smtClean="0"/>
              <a:t>NM Occupations, Most Annual Openings</a:t>
            </a:r>
          </a:p>
        </p:txBody>
      </p:sp>
      <p:graphicFrame>
        <p:nvGraphicFramePr>
          <p:cNvPr id="4" name="Content Placeholder 3"/>
          <p:cNvGraphicFramePr>
            <a:graphicFrameLocks noGrp="1"/>
          </p:cNvGraphicFramePr>
          <p:nvPr>
            <p:ph idx="1"/>
          </p:nvPr>
        </p:nvGraphicFramePr>
        <p:xfrm>
          <a:off x="0" y="802064"/>
          <a:ext cx="6096000" cy="5217736"/>
        </p:xfrm>
        <a:graphic>
          <a:graphicData uri="http://schemas.openxmlformats.org/drawingml/2006/table">
            <a:tbl>
              <a:tblPr firstRow="1" bandRow="1">
                <a:tableStyleId>{7DF18680-E054-41AD-8BC1-D1AEF772440D}</a:tableStyleId>
              </a:tblPr>
              <a:tblGrid>
                <a:gridCol w="609600"/>
                <a:gridCol w="3276600"/>
                <a:gridCol w="952892"/>
                <a:gridCol w="1256908"/>
              </a:tblGrid>
              <a:tr h="525511">
                <a:tc>
                  <a:txBody>
                    <a:bodyPr/>
                    <a:lstStyle/>
                    <a:p>
                      <a:pPr algn="ctr" fontAlgn="b"/>
                      <a:r>
                        <a:rPr lang="en-US" sz="1600" u="none" strike="noStrike" dirty="0"/>
                        <a:t>Rank</a:t>
                      </a:r>
                      <a:endParaRPr lang="en-US" sz="1600" b="1" i="0" u="none" strike="noStrike" dirty="0">
                        <a:solidFill>
                          <a:srgbClr val="000000"/>
                        </a:solidFill>
                        <a:latin typeface="Arial"/>
                      </a:endParaRPr>
                    </a:p>
                  </a:txBody>
                  <a:tcPr marL="0" marR="0" marT="0" marB="0" anchor="b"/>
                </a:tc>
                <a:tc>
                  <a:txBody>
                    <a:bodyPr/>
                    <a:lstStyle/>
                    <a:p>
                      <a:pPr algn="ctr" fontAlgn="b"/>
                      <a:r>
                        <a:rPr lang="en-US" sz="1600" u="none" strike="noStrike" dirty="0"/>
                        <a:t>Occupational </a:t>
                      </a:r>
                      <a:endParaRPr lang="en-US" sz="1600" b="1" i="0" u="none" strike="noStrike" dirty="0">
                        <a:solidFill>
                          <a:srgbClr val="000000"/>
                        </a:solidFill>
                        <a:latin typeface="Arial"/>
                      </a:endParaRPr>
                    </a:p>
                  </a:txBody>
                  <a:tcPr marL="0" marR="0" marT="0" marB="0" anchor="b"/>
                </a:tc>
                <a:tc>
                  <a:txBody>
                    <a:bodyPr/>
                    <a:lstStyle/>
                    <a:p>
                      <a:pPr algn="ctr" fontAlgn="b"/>
                      <a:r>
                        <a:rPr lang="en-US" sz="1200" u="none" strike="noStrike" dirty="0" smtClean="0"/>
                        <a:t>Annual  Average Job </a:t>
                      </a:r>
                      <a:r>
                        <a:rPr lang="en-US" sz="1200" u="none" strike="noStrike" dirty="0"/>
                        <a:t>Openings </a:t>
                      </a:r>
                      <a:endParaRPr lang="en-US" sz="1200" b="1" i="0" u="none" strike="noStrike" dirty="0">
                        <a:solidFill>
                          <a:srgbClr val="000000"/>
                        </a:solidFill>
                        <a:latin typeface="Arial"/>
                      </a:endParaRPr>
                    </a:p>
                  </a:txBody>
                  <a:tcPr marL="0" marR="0" marT="0" marB="0" anchor="b"/>
                </a:tc>
                <a:tc>
                  <a:txBody>
                    <a:bodyPr/>
                    <a:lstStyle/>
                    <a:p>
                      <a:pPr algn="ctr" fontAlgn="b"/>
                      <a:r>
                        <a:rPr lang="en-US" sz="1200" u="none" strike="noStrike" dirty="0" smtClean="0"/>
                        <a:t>2009</a:t>
                      </a:r>
                    </a:p>
                    <a:p>
                      <a:pPr algn="ctr" fontAlgn="b"/>
                      <a:r>
                        <a:rPr lang="en-US" sz="1200" u="none" strike="noStrike" dirty="0" smtClean="0"/>
                        <a:t>Entry</a:t>
                      </a:r>
                      <a:r>
                        <a:rPr lang="en-US" sz="1200" u="none" strike="noStrike" baseline="0" dirty="0" smtClean="0"/>
                        <a:t> Level Wage (OES)</a:t>
                      </a:r>
                      <a:endParaRPr lang="en-US" sz="1200" b="1" i="0" u="none" strike="noStrike" dirty="0">
                        <a:solidFill>
                          <a:srgbClr val="000000"/>
                        </a:solidFill>
                        <a:latin typeface="Arial"/>
                      </a:endParaRPr>
                    </a:p>
                  </a:txBody>
                  <a:tcPr marL="0" marR="0" marT="0" marB="0" anchor="b"/>
                </a:tc>
              </a:tr>
              <a:tr h="289559">
                <a:tc>
                  <a:txBody>
                    <a:bodyPr/>
                    <a:lstStyle/>
                    <a:p>
                      <a:pPr algn="ctr" fontAlgn="b"/>
                      <a:r>
                        <a:rPr lang="en-US" sz="1400" kern="1200" dirty="0"/>
                        <a:t>1</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a:t>Retail Salespersons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1,167 </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$16,746</a:t>
                      </a:r>
                      <a:endParaRPr lang="en-US" sz="1800" b="0" i="0" u="none" strike="noStrike" kern="1200" dirty="0">
                        <a:solidFill>
                          <a:srgbClr val="000000"/>
                        </a:solidFill>
                        <a:latin typeface="Arial"/>
                        <a:ea typeface="+mn-ea"/>
                        <a:cs typeface="+mn-cs"/>
                      </a:endParaRPr>
                    </a:p>
                  </a:txBody>
                  <a:tcPr marL="0" marR="0" marT="0" marB="0" anchor="b"/>
                </a:tc>
              </a:tr>
              <a:tr h="304800">
                <a:tc>
                  <a:txBody>
                    <a:bodyPr/>
                    <a:lstStyle/>
                    <a:p>
                      <a:pPr algn="ctr" fontAlgn="b"/>
                      <a:r>
                        <a:rPr lang="en-US" sz="1400" kern="1200" dirty="0"/>
                        <a:t>2</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a:t>Cashiers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1,120</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$16,117</a:t>
                      </a:r>
                      <a:endParaRPr lang="en-US" sz="1800" b="0" i="0" u="none" strike="noStrike" kern="1200" dirty="0">
                        <a:solidFill>
                          <a:srgbClr val="000000"/>
                        </a:solidFill>
                        <a:latin typeface="Arial"/>
                        <a:ea typeface="+mn-ea"/>
                        <a:cs typeface="+mn-cs"/>
                      </a:endParaRPr>
                    </a:p>
                  </a:txBody>
                  <a:tcPr marL="0" marR="0" marT="0" marB="0" anchor="b"/>
                </a:tc>
              </a:tr>
              <a:tr h="304800">
                <a:tc>
                  <a:txBody>
                    <a:bodyPr/>
                    <a:lstStyle/>
                    <a:p>
                      <a:pPr algn="ctr" fontAlgn="b"/>
                      <a:r>
                        <a:rPr lang="en-US" sz="1400" kern="1200" dirty="0"/>
                        <a:t>3</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a:t>Waiters and Waitresses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939</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$16,292</a:t>
                      </a:r>
                      <a:endParaRPr lang="en-US" sz="1800" b="0" i="0" u="none" strike="noStrike" kern="1200" dirty="0">
                        <a:solidFill>
                          <a:srgbClr val="000000"/>
                        </a:solidFill>
                        <a:latin typeface="Arial"/>
                        <a:ea typeface="+mn-ea"/>
                        <a:cs typeface="+mn-cs"/>
                      </a:endParaRPr>
                    </a:p>
                  </a:txBody>
                  <a:tcPr marL="0" marR="0" marT="0" marB="0" anchor="b"/>
                </a:tc>
              </a:tr>
              <a:tr h="381000">
                <a:tc>
                  <a:txBody>
                    <a:bodyPr/>
                    <a:lstStyle/>
                    <a:p>
                      <a:pPr algn="ctr" fontAlgn="b"/>
                      <a:r>
                        <a:rPr lang="en-US" sz="1400" kern="1200" dirty="0"/>
                        <a:t>4</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a:t>Personal and Home Care Aides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a:t>882</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$17,477</a:t>
                      </a:r>
                      <a:endParaRPr lang="en-US" sz="1800" b="0" i="0" u="none" strike="noStrike" kern="1200" dirty="0">
                        <a:solidFill>
                          <a:srgbClr val="000000"/>
                        </a:solidFill>
                        <a:latin typeface="Arial"/>
                        <a:ea typeface="+mn-ea"/>
                        <a:cs typeface="+mn-cs"/>
                      </a:endParaRPr>
                    </a:p>
                  </a:txBody>
                  <a:tcPr marL="0" marR="0" marT="0" marB="0" anchor="b"/>
                </a:tc>
              </a:tr>
              <a:tr h="613096">
                <a:tc>
                  <a:txBody>
                    <a:bodyPr/>
                    <a:lstStyle/>
                    <a:p>
                      <a:pPr algn="ctr" fontAlgn="b"/>
                      <a:r>
                        <a:rPr lang="en-US" sz="1400" kern="1200" dirty="0"/>
                        <a:t>5</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a:t>Combined Food Preparation </a:t>
                      </a:r>
                      <a:r>
                        <a:rPr lang="en-US" sz="1800" u="none" strike="noStrike" kern="1200" dirty="0" smtClean="0"/>
                        <a:t>&amp; </a:t>
                      </a:r>
                      <a:r>
                        <a:rPr lang="en-US" sz="1800" u="none" strike="noStrike" kern="1200" dirty="0"/>
                        <a:t>Serving Workers, Including Fast Food</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851</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$16,252</a:t>
                      </a:r>
                      <a:endParaRPr lang="en-US" sz="1800" b="0" i="0" u="none" strike="noStrike" kern="1200" dirty="0">
                        <a:solidFill>
                          <a:srgbClr val="000000"/>
                        </a:solidFill>
                        <a:latin typeface="Arial"/>
                        <a:ea typeface="+mn-ea"/>
                        <a:cs typeface="+mn-cs"/>
                      </a:endParaRPr>
                    </a:p>
                  </a:txBody>
                  <a:tcPr marL="0" marR="0" marT="0" marB="0" anchor="b"/>
                </a:tc>
              </a:tr>
              <a:tr h="350520">
                <a:tc>
                  <a:txBody>
                    <a:bodyPr/>
                    <a:lstStyle/>
                    <a:p>
                      <a:pPr algn="ctr" fontAlgn="b"/>
                      <a:r>
                        <a:rPr lang="en-US" sz="1400" kern="1200" dirty="0"/>
                        <a:t>6</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smtClean="0"/>
                        <a:t>Customer Service Representatives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682</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$21,289</a:t>
                      </a:r>
                      <a:endParaRPr lang="en-US" sz="1800" b="0" i="0" u="none" strike="noStrike" kern="1200" dirty="0" smtClean="0">
                        <a:solidFill>
                          <a:srgbClr val="000000"/>
                        </a:solidFill>
                        <a:latin typeface="Arial"/>
                        <a:ea typeface="+mn-ea"/>
                        <a:cs typeface="+mn-cs"/>
                      </a:endParaRPr>
                    </a:p>
                  </a:txBody>
                  <a:tcPr marL="0" marR="0" marT="0" marB="0" anchor="b"/>
                </a:tc>
              </a:tr>
              <a:tr h="381000">
                <a:tc>
                  <a:txBody>
                    <a:bodyPr/>
                    <a:lstStyle/>
                    <a:p>
                      <a:pPr algn="ctr" fontAlgn="b"/>
                      <a:r>
                        <a:rPr lang="en-US" sz="1400" kern="1200" dirty="0" smtClean="0"/>
                        <a:t>7</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smtClean="0"/>
                        <a:t>Registered Nurses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539</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$48,863</a:t>
                      </a:r>
                      <a:endParaRPr lang="en-US" sz="1800" b="0" i="0" u="none" strike="noStrike" kern="1200" dirty="0" smtClean="0">
                        <a:solidFill>
                          <a:srgbClr val="000000"/>
                        </a:solidFill>
                        <a:latin typeface="Arial"/>
                        <a:ea typeface="+mn-ea"/>
                        <a:cs typeface="+mn-cs"/>
                      </a:endParaRPr>
                    </a:p>
                  </a:txBody>
                  <a:tcPr marL="0" marR="0" marT="0" marB="0" anchor="b"/>
                </a:tc>
              </a:tr>
              <a:tr h="304800">
                <a:tc>
                  <a:txBody>
                    <a:bodyPr/>
                    <a:lstStyle/>
                    <a:p>
                      <a:pPr algn="ctr" fontAlgn="b"/>
                      <a:r>
                        <a:rPr lang="en-US" sz="1400" kern="1200" dirty="0"/>
                        <a:t>8</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smtClean="0"/>
                        <a:t>Home Health Aides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524</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$17,548</a:t>
                      </a:r>
                      <a:endParaRPr lang="en-US" sz="1800" b="0" i="0" u="none" strike="noStrike" kern="1200" dirty="0" smtClean="0">
                        <a:solidFill>
                          <a:srgbClr val="000000"/>
                        </a:solidFill>
                        <a:latin typeface="Arial"/>
                        <a:ea typeface="+mn-ea"/>
                        <a:cs typeface="+mn-cs"/>
                      </a:endParaRPr>
                    </a:p>
                  </a:txBody>
                  <a:tcPr marL="0" marR="0" marT="0" marB="0" anchor="b"/>
                </a:tc>
              </a:tr>
              <a:tr h="506729">
                <a:tc>
                  <a:txBody>
                    <a:bodyPr/>
                    <a:lstStyle/>
                    <a:p>
                      <a:pPr algn="ctr" fontAlgn="b"/>
                      <a:r>
                        <a:rPr lang="en-US" sz="1400" kern="1200" dirty="0"/>
                        <a:t>9</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smtClean="0"/>
                        <a:t>First-Line Supervisors/Managers of Retail Sales Workers</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411</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$21,169</a:t>
                      </a:r>
                      <a:endParaRPr lang="en-US" sz="1800" b="0" i="0" u="none" strike="noStrike" kern="1200" dirty="0" smtClean="0">
                        <a:solidFill>
                          <a:srgbClr val="000000"/>
                        </a:solidFill>
                        <a:latin typeface="Arial"/>
                        <a:ea typeface="+mn-ea"/>
                        <a:cs typeface="+mn-cs"/>
                      </a:endParaRPr>
                    </a:p>
                  </a:txBody>
                  <a:tcPr marL="0" marR="0" marT="0" marB="0" anchor="b"/>
                </a:tc>
              </a:tr>
              <a:tr h="367921">
                <a:tc>
                  <a:txBody>
                    <a:bodyPr/>
                    <a:lstStyle/>
                    <a:p>
                      <a:pPr algn="ctr" fontAlgn="b"/>
                      <a:r>
                        <a:rPr lang="en-US" sz="1400" kern="1200" dirty="0"/>
                        <a:t>10</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800" u="none" strike="noStrike" kern="1200" dirty="0" smtClean="0"/>
                        <a:t>Stock Clerks &amp; Order Fillers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401</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$17,158</a:t>
                      </a:r>
                      <a:endParaRPr lang="en-US" sz="1800" b="0" i="0" u="none" strike="noStrike" kern="1200" dirty="0">
                        <a:solidFill>
                          <a:srgbClr val="000000"/>
                        </a:solidFill>
                        <a:latin typeface="Arial"/>
                        <a:ea typeface="+mn-ea"/>
                        <a:cs typeface="+mn-cs"/>
                      </a:endParaRPr>
                    </a:p>
                  </a:txBody>
                  <a:tcPr marL="0" marR="0" marT="0" marB="0" anchor="b"/>
                </a:tc>
              </a:tr>
              <a:tr h="613096">
                <a:tc>
                  <a:txBody>
                    <a:bodyPr/>
                    <a:lstStyle/>
                    <a:p>
                      <a:pPr algn="ctr" fontAlgn="b"/>
                      <a:r>
                        <a:rPr lang="en-US" sz="1400" kern="1200" dirty="0"/>
                        <a:t>11</a:t>
                      </a:r>
                      <a:endParaRPr lang="en-US" sz="1400" kern="1200" dirty="0">
                        <a:solidFill>
                          <a:schemeClr val="dk1"/>
                        </a:solidFill>
                        <a:latin typeface="Arial" pitchFamily="34" charset="0"/>
                        <a:ea typeface="+mn-ea"/>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Elementary School Teachers, Ex Special Education</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369</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800" u="none" strike="noStrike" kern="1200" dirty="0" smtClean="0"/>
                        <a:t>$39,581</a:t>
                      </a:r>
                      <a:endParaRPr lang="en-US" sz="1800" b="0" i="0" u="none" strike="noStrike" kern="1200" dirty="0">
                        <a:solidFill>
                          <a:srgbClr val="000000"/>
                        </a:solidFill>
                        <a:latin typeface="Arial"/>
                        <a:ea typeface="+mn-ea"/>
                        <a:cs typeface="+mn-cs"/>
                      </a:endParaRPr>
                    </a:p>
                  </a:txBody>
                  <a:tcPr marL="0" marR="0" marT="0" marB="0" anchor="b"/>
                </a:tc>
              </a:tr>
            </a:tbl>
          </a:graphicData>
        </a:graphic>
      </p:graphicFrame>
      <p:pic>
        <p:nvPicPr>
          <p:cNvPr id="41030" name="Picture 2" descr="http://housing.uiowa.edu/image/pictures/student_foodserviceworker.gif"/>
          <p:cNvPicPr>
            <a:picLocks noChangeAspect="1" noChangeArrowheads="1"/>
          </p:cNvPicPr>
          <p:nvPr/>
        </p:nvPicPr>
        <p:blipFill>
          <a:blip r:embed="rId3" cstate="print"/>
          <a:srcRect r="45070"/>
          <a:stretch>
            <a:fillRect/>
          </a:stretch>
        </p:blipFill>
        <p:spPr bwMode="auto">
          <a:xfrm>
            <a:off x="6096000" y="1447800"/>
            <a:ext cx="3048000" cy="46085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dirty="0" smtClean="0"/>
              <a:t>Highest Growth Jobs in NM</a:t>
            </a:r>
          </a:p>
        </p:txBody>
      </p:sp>
      <p:graphicFrame>
        <p:nvGraphicFramePr>
          <p:cNvPr id="5" name="Content Placeholder 4"/>
          <p:cNvGraphicFramePr>
            <a:graphicFrameLocks noGrp="1"/>
          </p:cNvGraphicFramePr>
          <p:nvPr>
            <p:ph idx="1"/>
          </p:nvPr>
        </p:nvGraphicFramePr>
        <p:xfrm>
          <a:off x="152400" y="1066800"/>
          <a:ext cx="8763000" cy="5664200"/>
        </p:xfrm>
        <a:graphic>
          <a:graphicData uri="http://schemas.openxmlformats.org/drawingml/2006/table">
            <a:tbl>
              <a:tblPr firstRow="1" bandRow="1">
                <a:tableStyleId>{7DF18680-E054-41AD-8BC1-D1AEF772440D}</a:tableStyleId>
              </a:tblPr>
              <a:tblGrid>
                <a:gridCol w="7545917"/>
                <a:gridCol w="1217083"/>
              </a:tblGrid>
              <a:tr h="370840">
                <a:tc>
                  <a:txBody>
                    <a:bodyPr/>
                    <a:lstStyle/>
                    <a:p>
                      <a:endParaRPr lang="en-US" dirty="0" smtClean="0"/>
                    </a:p>
                    <a:p>
                      <a:endParaRPr lang="en-US" dirty="0" smtClean="0"/>
                    </a:p>
                    <a:p>
                      <a:r>
                        <a:rPr lang="en-US" dirty="0" smtClean="0"/>
                        <a:t>Occupations</a:t>
                      </a:r>
                      <a:endParaRPr lang="en-US" dirty="0"/>
                    </a:p>
                  </a:txBody>
                  <a:tcPr/>
                </a:tc>
                <a:tc>
                  <a:txBody>
                    <a:bodyPr/>
                    <a:lstStyle/>
                    <a:p>
                      <a:pPr algn="r"/>
                      <a:r>
                        <a:rPr lang="en-US" sz="1400" dirty="0" smtClean="0"/>
                        <a:t>2009-2019 Annual Percent Change</a:t>
                      </a:r>
                      <a:endParaRPr lang="en-US"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Network Systems and Data Communications Analysts </a:t>
                      </a:r>
                      <a:endParaRPr lang="en-US" dirty="0">
                        <a:latin typeface="Arial" pitchFamily="34" charset="0"/>
                        <a:cs typeface="Arial" pitchFamily="34" charset="0"/>
                      </a:endParaRPr>
                    </a:p>
                  </a:txBody>
                  <a:tcPr/>
                </a:tc>
                <a:tc>
                  <a:txBody>
                    <a:bodyPr/>
                    <a:lstStyle/>
                    <a:p>
                      <a:pPr algn="r"/>
                      <a:r>
                        <a:rPr lang="en-US" dirty="0" smtClean="0"/>
                        <a:t>4.2%</a:t>
                      </a:r>
                      <a:endParaRPr lang="en-US" dirty="0">
                        <a:latin typeface="Arial" pitchFamily="34" charset="0"/>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Home Health Aides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4.0%</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Actuaries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3.9%</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Personal and Home Care Aides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3.9%</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Petroleum Engineers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3.8%</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Self-Enrichment Education Teachers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3.4%</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Medical Equipment Repairers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3.4%</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Pharmacy Technicians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3.0%</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Physical Therapist Aides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2.8%</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Compliance Officers, Except Agriculture, Construction, Health and Safety, and Transportation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2.7%</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Painting, Coating, and Decorating Workers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2.7%</a:t>
                      </a:r>
                      <a:endParaRPr lang="en-US" sz="1800" kern="1200" dirty="0">
                        <a:solidFill>
                          <a:schemeClr val="dk1"/>
                        </a:solidFill>
                        <a:latin typeface="Arial" pitchFamily="34" charset="0"/>
                        <a:ea typeface="+mn-ea"/>
                        <a:cs typeface="Arial" pitchFamily="34"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t>Medical Assistants </a:t>
                      </a:r>
                      <a:endParaRPr lang="en-US" sz="1800" kern="1200" dirty="0">
                        <a:solidFill>
                          <a:schemeClr val="dk1"/>
                        </a:solidFill>
                        <a:latin typeface="Arial" pitchFamily="34" charset="0"/>
                        <a:ea typeface="+mn-ea"/>
                        <a:cs typeface="Arial"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dirty="0" smtClean="0"/>
                        <a:t>2.6%</a:t>
                      </a:r>
                      <a:endParaRPr lang="en-US" sz="1800" kern="1200" dirty="0">
                        <a:solidFill>
                          <a:schemeClr val="dk1"/>
                        </a:solidFill>
                        <a:latin typeface="Arial" pitchFamily="34" charset="0"/>
                        <a:ea typeface="+mn-ea"/>
                        <a:cs typeface="Arial" pitchFamily="34" charset="0"/>
                      </a:endParaRPr>
                    </a:p>
                  </a:txBody>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0" y="0"/>
            <a:ext cx="3276600" cy="2819400"/>
          </a:xfrm>
        </p:spPr>
        <p:txBody>
          <a:bodyPr/>
          <a:lstStyle/>
          <a:p>
            <a:pPr eaLnBrk="1" hangingPunct="1"/>
            <a:r>
              <a:rPr lang="en-US" dirty="0" smtClean="0"/>
              <a:t>NM Occupations – High Wage &amp; Growth</a:t>
            </a:r>
          </a:p>
        </p:txBody>
      </p:sp>
      <p:graphicFrame>
        <p:nvGraphicFramePr>
          <p:cNvPr id="4" name="Content Placeholder 3"/>
          <p:cNvGraphicFramePr>
            <a:graphicFrameLocks noGrp="1"/>
          </p:cNvGraphicFramePr>
          <p:nvPr>
            <p:ph idx="1"/>
          </p:nvPr>
        </p:nvGraphicFramePr>
        <p:xfrm>
          <a:off x="3200400" y="0"/>
          <a:ext cx="5943600" cy="6324001"/>
        </p:xfrm>
        <a:graphic>
          <a:graphicData uri="http://schemas.openxmlformats.org/drawingml/2006/table">
            <a:tbl>
              <a:tblPr firstRow="1" bandRow="1">
                <a:tableStyleId>{7DF18680-E054-41AD-8BC1-D1AEF772440D}</a:tableStyleId>
              </a:tblPr>
              <a:tblGrid>
                <a:gridCol w="473894"/>
                <a:gridCol w="3791152"/>
                <a:gridCol w="947788"/>
                <a:gridCol w="730766"/>
              </a:tblGrid>
              <a:tr h="593864">
                <a:tc>
                  <a:txBody>
                    <a:bodyPr/>
                    <a:lstStyle/>
                    <a:p>
                      <a:pPr algn="l" fontAlgn="b"/>
                      <a:r>
                        <a:rPr lang="en-US" sz="1200" u="none" strike="noStrike" dirty="0"/>
                        <a:t>Rank</a:t>
                      </a:r>
                      <a:endParaRPr lang="en-US" sz="1200" b="1" i="0" u="none" strike="noStrike" dirty="0">
                        <a:solidFill>
                          <a:srgbClr val="000000"/>
                        </a:solidFill>
                        <a:latin typeface="Arial"/>
                      </a:endParaRPr>
                    </a:p>
                  </a:txBody>
                  <a:tcPr marL="0" marR="0" marT="0" marB="0" anchor="b"/>
                </a:tc>
                <a:tc>
                  <a:txBody>
                    <a:bodyPr/>
                    <a:lstStyle/>
                    <a:p>
                      <a:pPr algn="l" fontAlgn="b"/>
                      <a:r>
                        <a:rPr lang="en-US" sz="1200" u="none" strike="noStrike" dirty="0" smtClean="0"/>
                        <a:t>Occupational Title</a:t>
                      </a:r>
                      <a:endParaRPr lang="en-US" sz="1200" b="1" i="0" u="none" strike="noStrike" dirty="0">
                        <a:solidFill>
                          <a:srgbClr val="000000"/>
                        </a:solidFill>
                        <a:latin typeface="Arial"/>
                      </a:endParaRPr>
                    </a:p>
                  </a:txBody>
                  <a:tcPr marL="0" marR="0" marT="0" marB="0" anchor="b"/>
                </a:tc>
                <a:tc>
                  <a:txBody>
                    <a:bodyPr/>
                    <a:lstStyle/>
                    <a:p>
                      <a:pPr algn="r" fontAlgn="b"/>
                      <a:r>
                        <a:rPr lang="en-US" sz="1050" u="none" strike="noStrike" dirty="0" smtClean="0"/>
                        <a:t>2009</a:t>
                      </a:r>
                    </a:p>
                    <a:p>
                      <a:pPr algn="r" fontAlgn="b"/>
                      <a:r>
                        <a:rPr lang="en-US" sz="1050" u="none" strike="noStrike" dirty="0" smtClean="0"/>
                        <a:t>Annual Entry level Wage (O</a:t>
                      </a:r>
                      <a:r>
                        <a:rPr lang="en-US" sz="1000" u="none" strike="noStrike" dirty="0" smtClean="0"/>
                        <a:t>ES)</a:t>
                      </a:r>
                      <a:endParaRPr lang="en-US" sz="1000" b="1" i="0" u="none" strike="noStrike" dirty="0">
                        <a:solidFill>
                          <a:srgbClr val="000000"/>
                        </a:solidFill>
                        <a:latin typeface="Arial"/>
                      </a:endParaRPr>
                    </a:p>
                  </a:txBody>
                  <a:tcPr marL="0" marR="0" marT="0" marB="0" anchor="b"/>
                </a:tc>
                <a:tc>
                  <a:txBody>
                    <a:bodyPr/>
                    <a:lstStyle/>
                    <a:p>
                      <a:pPr algn="r" fontAlgn="b"/>
                      <a:r>
                        <a:rPr lang="en-US" sz="1100" u="none" strike="noStrike" dirty="0" smtClean="0"/>
                        <a:t>09-19</a:t>
                      </a:r>
                    </a:p>
                    <a:p>
                      <a:pPr algn="r" fontAlgn="b"/>
                      <a:r>
                        <a:rPr lang="en-US" sz="1100" u="none" strike="noStrike" dirty="0" smtClean="0"/>
                        <a:t>Annual </a:t>
                      </a:r>
                      <a:r>
                        <a:rPr lang="en-US" sz="1100" u="none" strike="noStrike" dirty="0"/>
                        <a:t>Job Growth </a:t>
                      </a:r>
                      <a:endParaRPr lang="en-US" sz="1100" b="1" i="0" u="none" strike="noStrike" dirty="0">
                        <a:solidFill>
                          <a:srgbClr val="000000"/>
                        </a:solidFill>
                        <a:latin typeface="Arial"/>
                      </a:endParaRPr>
                    </a:p>
                  </a:txBody>
                  <a:tcPr marL="0" marR="0" marT="0" marB="0" anchor="b"/>
                </a:tc>
              </a:tr>
              <a:tr h="320558">
                <a:tc>
                  <a:txBody>
                    <a:bodyPr/>
                    <a:lstStyle/>
                    <a:p>
                      <a:pPr algn="ctr" fontAlgn="b"/>
                      <a:r>
                        <a:rPr lang="en-US" sz="1800" u="none" strike="noStrike" dirty="0"/>
                        <a:t>1</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dirty="0" smtClean="0"/>
                        <a:t>Network Systems &amp; Data Communications Analysts</a:t>
                      </a:r>
                      <a:endParaRPr lang="en-US" sz="1800" b="0" i="0" u="none" strike="noStrike" dirty="0" smtClean="0">
                        <a:solidFill>
                          <a:srgbClr val="000000"/>
                        </a:solidFill>
                        <a:latin typeface="Arial"/>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$40,681</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4.2%</a:t>
                      </a:r>
                      <a:endParaRPr lang="en-US" sz="1800" b="0" i="0" u="none" strike="noStrike" dirty="0">
                        <a:solidFill>
                          <a:srgbClr val="000000"/>
                        </a:solidFill>
                        <a:latin typeface="Arial"/>
                      </a:endParaRPr>
                    </a:p>
                  </a:txBody>
                  <a:tcPr marL="0" marR="0" marT="0" marB="0" anchor="b"/>
                </a:tc>
              </a:tr>
              <a:tr h="454206">
                <a:tc>
                  <a:txBody>
                    <a:bodyPr/>
                    <a:lstStyle/>
                    <a:p>
                      <a:pPr algn="ctr" fontAlgn="b"/>
                      <a:r>
                        <a:rPr lang="en-US" sz="1800" u="none" strike="noStrike" dirty="0"/>
                        <a:t>2</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Petroleum Engineers</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$56,763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3.8%</a:t>
                      </a:r>
                      <a:endParaRPr lang="en-US" sz="1800" b="0" i="0" u="none" strike="noStrike" dirty="0">
                        <a:solidFill>
                          <a:srgbClr val="000000"/>
                        </a:solidFill>
                        <a:latin typeface="Arial"/>
                      </a:endParaRPr>
                    </a:p>
                  </a:txBody>
                  <a:tcPr marL="0" marR="0" marT="0" marB="0" anchor="b"/>
                </a:tc>
              </a:tr>
              <a:tr h="260226">
                <a:tc>
                  <a:txBody>
                    <a:bodyPr/>
                    <a:lstStyle/>
                    <a:p>
                      <a:pPr algn="ctr" fontAlgn="b"/>
                      <a:r>
                        <a:rPr lang="en-US" sz="1800" u="none" strike="noStrike" dirty="0"/>
                        <a:t>3</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Medical Equipment Repairs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$24,841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3.1%</a:t>
                      </a:r>
                      <a:endParaRPr lang="en-US" sz="1800" b="0" i="0" u="none" strike="noStrike" dirty="0">
                        <a:solidFill>
                          <a:srgbClr val="000000"/>
                        </a:solidFill>
                        <a:latin typeface="Arial"/>
                      </a:endParaRPr>
                    </a:p>
                  </a:txBody>
                  <a:tcPr marL="0" marR="0" marT="0" marB="0" anchor="b"/>
                </a:tc>
              </a:tr>
              <a:tr h="339224">
                <a:tc>
                  <a:txBody>
                    <a:bodyPr/>
                    <a:lstStyle/>
                    <a:p>
                      <a:pPr algn="ctr" fontAlgn="b"/>
                      <a:r>
                        <a:rPr lang="en-US" sz="1800" u="none" strike="noStrike" dirty="0"/>
                        <a:t>4</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 Compliance Officers (Environmental, EEO Property, Regulatory)</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$31,356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2.7%</a:t>
                      </a:r>
                      <a:endParaRPr lang="en-US" sz="1800" b="0" i="0" u="none" strike="noStrike" dirty="0">
                        <a:solidFill>
                          <a:srgbClr val="000000"/>
                        </a:solidFill>
                        <a:latin typeface="Arial"/>
                      </a:endParaRPr>
                    </a:p>
                  </a:txBody>
                  <a:tcPr marL="0" marR="0" marT="0" marB="0" anchor="b"/>
                </a:tc>
              </a:tr>
              <a:tr h="454206">
                <a:tc>
                  <a:txBody>
                    <a:bodyPr/>
                    <a:lstStyle/>
                    <a:p>
                      <a:pPr algn="ctr" fontAlgn="b"/>
                      <a:r>
                        <a:rPr lang="en-US" sz="1800" u="none" strike="noStrike" dirty="0"/>
                        <a:t>5</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Radiation Therapists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$46,765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2.6%</a:t>
                      </a:r>
                      <a:endParaRPr lang="en-US" sz="1800" b="0" i="0" u="none" strike="noStrike" dirty="0">
                        <a:solidFill>
                          <a:srgbClr val="000000"/>
                        </a:solidFill>
                        <a:latin typeface="Arial"/>
                      </a:endParaRPr>
                    </a:p>
                  </a:txBody>
                  <a:tcPr marL="0" marR="0" marT="0" marB="0" anchor="b"/>
                </a:tc>
              </a:tr>
              <a:tr h="415705">
                <a:tc>
                  <a:txBody>
                    <a:bodyPr/>
                    <a:lstStyle/>
                    <a:p>
                      <a:pPr algn="ctr" fontAlgn="b"/>
                      <a:r>
                        <a:rPr lang="en-US" sz="1800" u="none" strike="noStrike" dirty="0"/>
                        <a:t>6</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Physical Therapists </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$41,922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2.6%</a:t>
                      </a:r>
                      <a:endParaRPr lang="en-US" sz="1800" b="0" i="0" u="none" strike="noStrike" dirty="0">
                        <a:solidFill>
                          <a:srgbClr val="000000"/>
                        </a:solidFill>
                        <a:latin typeface="Arial"/>
                      </a:endParaRPr>
                    </a:p>
                  </a:txBody>
                  <a:tcPr marL="0" marR="0" marT="0" marB="0" anchor="b"/>
                </a:tc>
              </a:tr>
              <a:tr h="250933">
                <a:tc>
                  <a:txBody>
                    <a:bodyPr/>
                    <a:lstStyle/>
                    <a:p>
                      <a:pPr algn="ctr" fontAlgn="b"/>
                      <a:r>
                        <a:rPr lang="en-US" sz="1800" u="none" strike="noStrike" dirty="0"/>
                        <a:t>7</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Dental Hygienists</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600" u="none" strike="noStrike" dirty="0" smtClean="0"/>
                        <a:t>$27.51hrly  </a:t>
                      </a:r>
                      <a:endParaRPr lang="en-US" sz="1600" b="0" i="0" u="none" strike="noStrike" dirty="0">
                        <a:solidFill>
                          <a:srgbClr val="000000"/>
                        </a:solidFill>
                        <a:latin typeface="Arial"/>
                      </a:endParaRPr>
                    </a:p>
                  </a:txBody>
                  <a:tcPr marL="0" marR="0" marT="0" marB="0" anchor="b"/>
                </a:tc>
                <a:tc>
                  <a:txBody>
                    <a:bodyPr/>
                    <a:lstStyle/>
                    <a:p>
                      <a:pPr algn="r" fontAlgn="b"/>
                      <a:r>
                        <a:rPr lang="en-US" sz="1800" u="none" strike="noStrike" dirty="0" smtClean="0"/>
                        <a:t>2.6%</a:t>
                      </a:r>
                      <a:endParaRPr lang="en-US" sz="1800" b="0" i="0" u="none" strike="noStrike" dirty="0">
                        <a:solidFill>
                          <a:srgbClr val="000000"/>
                        </a:solidFill>
                        <a:latin typeface="Arial"/>
                      </a:endParaRPr>
                    </a:p>
                  </a:txBody>
                  <a:tcPr marL="0" marR="0" marT="0" marB="0" anchor="b"/>
                </a:tc>
              </a:tr>
              <a:tr h="339224">
                <a:tc>
                  <a:txBody>
                    <a:bodyPr/>
                    <a:lstStyle/>
                    <a:p>
                      <a:pPr algn="ctr" fontAlgn="b"/>
                      <a:r>
                        <a:rPr lang="en-US" sz="1800" u="none" strike="noStrike" dirty="0"/>
                        <a:t>8</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Cardiovascular Technologists and Technicians</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dirty="0" smtClean="0"/>
                        <a:t>$31,671 </a:t>
                      </a:r>
                      <a:endParaRPr lang="en-US" sz="1800" b="0" i="0" u="none" strike="noStrike" dirty="0">
                        <a:solidFill>
                          <a:srgbClr val="000000"/>
                        </a:solidFill>
                        <a:latin typeface="Arial"/>
                      </a:endParaRPr>
                    </a:p>
                  </a:txBody>
                  <a:tcPr marL="0" marR="0" marT="0" marB="0" anchor="b"/>
                </a:tc>
                <a:tc>
                  <a:txBody>
                    <a:bodyPr/>
                    <a:lstStyle/>
                    <a:p>
                      <a:pPr algn="r" fontAlgn="b"/>
                      <a:r>
                        <a:rPr lang="en-US" sz="1800" u="none" strike="noStrike" dirty="0" smtClean="0"/>
                        <a:t>2.5%</a:t>
                      </a:r>
                      <a:endParaRPr lang="en-US" sz="1800" b="0" i="0" u="none" strike="noStrike" dirty="0">
                        <a:solidFill>
                          <a:srgbClr val="000000"/>
                        </a:solidFill>
                        <a:latin typeface="Arial"/>
                      </a:endParaRPr>
                    </a:p>
                  </a:txBody>
                  <a:tcPr marL="0" marR="0" marT="0" marB="0" anchor="b"/>
                </a:tc>
              </a:tr>
              <a:tr h="415705">
                <a:tc>
                  <a:txBody>
                    <a:bodyPr/>
                    <a:lstStyle/>
                    <a:p>
                      <a:pPr algn="ctr" fontAlgn="b"/>
                      <a:r>
                        <a:rPr lang="en-US" sz="1800" u="none" strike="noStrike" dirty="0" smtClean="0"/>
                        <a:t>9</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Surgical Technologists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kern="1200" dirty="0" smtClean="0"/>
                        <a:t>$25,607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2.5%</a:t>
                      </a:r>
                      <a:endParaRPr lang="en-US" sz="1800" b="0" i="0" u="none" strike="noStrike" dirty="0">
                        <a:solidFill>
                          <a:srgbClr val="000000"/>
                        </a:solidFill>
                        <a:latin typeface="Arial"/>
                      </a:endParaRPr>
                    </a:p>
                  </a:txBody>
                  <a:tcPr marL="0" marR="0" marT="0" marB="0" anchor="b"/>
                </a:tc>
              </a:tr>
              <a:tr h="454206">
                <a:tc>
                  <a:txBody>
                    <a:bodyPr/>
                    <a:lstStyle/>
                    <a:p>
                      <a:pPr algn="ctr" fontAlgn="b"/>
                      <a:r>
                        <a:rPr lang="en-US" sz="1800" u="none" strike="noStrike" dirty="0" smtClean="0"/>
                        <a:t>10</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Medical and Clinical Laboratory Technologists </a:t>
                      </a:r>
                      <a:endParaRPr lang="en-US" sz="1800" b="0" i="0" u="none" strike="noStrike" kern="1200" dirty="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$28,493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2.3%</a:t>
                      </a:r>
                      <a:endParaRPr lang="en-US" sz="1800" b="0" i="0" u="none" strike="noStrike" dirty="0">
                        <a:solidFill>
                          <a:srgbClr val="000000"/>
                        </a:solidFill>
                        <a:latin typeface="Arial"/>
                      </a:endParaRPr>
                    </a:p>
                  </a:txBody>
                  <a:tcPr marL="0" marR="0" marT="0" marB="0" anchor="b"/>
                </a:tc>
              </a:tr>
              <a:tr h="415705">
                <a:tc>
                  <a:txBody>
                    <a:bodyPr/>
                    <a:lstStyle/>
                    <a:p>
                      <a:pPr algn="ctr" fontAlgn="b"/>
                      <a:r>
                        <a:rPr lang="en-US" sz="1800" u="none" strike="noStrike" dirty="0" smtClean="0"/>
                        <a:t>11</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Computer Software Engineers</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kern="1200" dirty="0" smtClean="0"/>
                        <a:t>$52,435 </a:t>
                      </a:r>
                      <a:endParaRPr lang="en-US" sz="1800" b="0" i="0" u="none" strike="noStrike" kern="1200" dirty="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2.2%</a:t>
                      </a:r>
                      <a:endParaRPr lang="en-US" sz="1800" b="0" i="0" u="none" strike="noStrike" dirty="0">
                        <a:solidFill>
                          <a:srgbClr val="000000"/>
                        </a:solidFill>
                        <a:latin typeface="Arial"/>
                      </a:endParaRPr>
                    </a:p>
                  </a:txBody>
                  <a:tcPr marL="0" marR="0" marT="0" marB="0" anchor="b"/>
                </a:tc>
              </a:tr>
              <a:tr h="415705">
                <a:tc>
                  <a:txBody>
                    <a:bodyPr/>
                    <a:lstStyle/>
                    <a:p>
                      <a:pPr algn="ctr" fontAlgn="b"/>
                      <a:r>
                        <a:rPr lang="en-US" sz="1800" u="none" strike="noStrike" dirty="0" smtClean="0"/>
                        <a:t>12</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Training and Development Specialists</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$35,539</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2.2%</a:t>
                      </a:r>
                      <a:endParaRPr lang="en-US" sz="1800" b="0" i="0" u="none" strike="noStrike" dirty="0">
                        <a:solidFill>
                          <a:srgbClr val="000000"/>
                        </a:solidFill>
                        <a:latin typeface="Arial"/>
                      </a:endParaRPr>
                    </a:p>
                  </a:txBody>
                  <a:tcPr marL="0" marR="0" marT="0" marB="0" anchor="b"/>
                </a:tc>
              </a:tr>
              <a:tr h="415705">
                <a:tc>
                  <a:txBody>
                    <a:bodyPr/>
                    <a:lstStyle/>
                    <a:p>
                      <a:pPr algn="ctr" fontAlgn="b"/>
                      <a:r>
                        <a:rPr lang="en-US" sz="1800" u="none" strike="noStrike" dirty="0" smtClean="0"/>
                        <a:t>13</a:t>
                      </a:r>
                      <a:endParaRPr lang="en-US" sz="1800" b="0" i="0" u="none" strike="noStrike" dirty="0">
                        <a:solidFill>
                          <a:srgbClr val="000000"/>
                        </a:solidFill>
                        <a:latin typeface="Arial"/>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Detectives and Criminal Investigators </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800" u="none" strike="noStrike" kern="1200" dirty="0" smtClean="0"/>
                        <a:t>$42,114 </a:t>
                      </a:r>
                      <a:endParaRPr lang="en-US" sz="1800" b="0" i="0" u="none" strike="noStrike" kern="1200" dirty="0" smtClean="0">
                        <a:solidFill>
                          <a:srgbClr val="000000"/>
                        </a:solidFill>
                        <a:latin typeface="Arial"/>
                        <a:ea typeface="+mn-ea"/>
                        <a:cs typeface="+mn-cs"/>
                      </a:endParaRPr>
                    </a:p>
                  </a:txBody>
                  <a:tcPr marL="0" marR="0" marT="0" marB="0" anchor="b"/>
                </a:tc>
                <a:tc>
                  <a:txBody>
                    <a:bodyPr/>
                    <a:lstStyle/>
                    <a:p>
                      <a:pPr algn="r" fontAlgn="b"/>
                      <a:r>
                        <a:rPr lang="en-US" sz="1800" u="none" strike="noStrike" dirty="0" smtClean="0"/>
                        <a:t>2.1%</a:t>
                      </a:r>
                      <a:endParaRPr lang="en-US" sz="1800" b="0" i="0" u="none" strike="noStrike" dirty="0">
                        <a:solidFill>
                          <a:srgbClr val="000000"/>
                        </a:solidFill>
                        <a:latin typeface="Arial"/>
                      </a:endParaRPr>
                    </a:p>
                  </a:txBody>
                  <a:tcPr marL="0" marR="0" marT="0" marB="0" anchor="b"/>
                </a:tc>
              </a:tr>
            </a:tbl>
          </a:graphicData>
        </a:graphic>
      </p:graphicFrame>
      <p:pic>
        <p:nvPicPr>
          <p:cNvPr id="43088" name="Picture 2" descr="http://t0.gstatic.com/images?q=tbn:SDxMr031nZrV_M:http://www.neilsquire.ca/wp-content/uploads/2010/08/Computer-Programmer-Ryan-Thomas.jpg&amp;t=1"/>
          <p:cNvPicPr>
            <a:picLocks noChangeAspect="1" noChangeArrowheads="1"/>
          </p:cNvPicPr>
          <p:nvPr/>
        </p:nvPicPr>
        <p:blipFill>
          <a:blip r:embed="rId3" cstate="print"/>
          <a:srcRect l="25000" t="-2500"/>
          <a:stretch>
            <a:fillRect/>
          </a:stretch>
        </p:blipFill>
        <p:spPr bwMode="auto">
          <a:xfrm>
            <a:off x="0" y="2743200"/>
            <a:ext cx="3200400" cy="3124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dirty="0" smtClean="0"/>
              <a:t>Show me the money!</a:t>
            </a:r>
          </a:p>
        </p:txBody>
      </p:sp>
      <p:graphicFrame>
        <p:nvGraphicFramePr>
          <p:cNvPr id="5" name="Content Placeholder 4"/>
          <p:cNvGraphicFramePr>
            <a:graphicFrameLocks noGrp="1"/>
          </p:cNvGraphicFramePr>
          <p:nvPr>
            <p:ph idx="1"/>
          </p:nvPr>
        </p:nvGraphicFramePr>
        <p:xfrm>
          <a:off x="2362200" y="1066800"/>
          <a:ext cx="6553200" cy="5318760"/>
        </p:xfrm>
        <a:graphic>
          <a:graphicData uri="http://schemas.openxmlformats.org/drawingml/2006/table">
            <a:tbl>
              <a:tblPr firstRow="1" bandRow="1">
                <a:tableStyleId>{7DF18680-E054-41AD-8BC1-D1AEF772440D}</a:tableStyleId>
              </a:tblPr>
              <a:tblGrid>
                <a:gridCol w="5156200"/>
                <a:gridCol w="1397000"/>
              </a:tblGrid>
              <a:tr h="875434">
                <a:tc>
                  <a:txBody>
                    <a:bodyPr/>
                    <a:lstStyle/>
                    <a:p>
                      <a:r>
                        <a:rPr lang="en-US" dirty="0" smtClean="0"/>
                        <a:t>12 Highest</a:t>
                      </a:r>
                      <a:r>
                        <a:rPr lang="en-US" baseline="0" dirty="0" smtClean="0"/>
                        <a:t> paying jobs in New Mexico</a:t>
                      </a:r>
                    </a:p>
                    <a:p>
                      <a:endParaRPr lang="en-US" baseline="0" dirty="0" smtClean="0"/>
                    </a:p>
                    <a:p>
                      <a:r>
                        <a:rPr lang="en-US" dirty="0" smtClean="0"/>
                        <a:t>Occupation</a:t>
                      </a:r>
                      <a:endParaRPr lang="en-US" dirty="0"/>
                    </a:p>
                  </a:txBody>
                  <a:tcPr/>
                </a:tc>
                <a:tc>
                  <a:txBody>
                    <a:bodyPr/>
                    <a:lstStyle/>
                    <a:p>
                      <a:pPr algn="r"/>
                      <a:r>
                        <a:rPr lang="en-US" baseline="0" dirty="0" smtClean="0"/>
                        <a:t>Annual Median Wage (OES )</a:t>
                      </a:r>
                      <a:endParaRPr lang="en-US" dirty="0"/>
                    </a:p>
                  </a:txBody>
                  <a:tcPr/>
                </a:tc>
              </a:tr>
              <a:tr h="381000">
                <a:tc>
                  <a:txBody>
                    <a:bodyPr/>
                    <a:lstStyle/>
                    <a:p>
                      <a:r>
                        <a:rPr lang="en-US" dirty="0" smtClean="0"/>
                        <a:t>Family and General Practitioners</a:t>
                      </a:r>
                      <a:endParaRPr lang="en-US" dirty="0"/>
                    </a:p>
                  </a:txBody>
                  <a:tcPr/>
                </a:tc>
                <a:tc>
                  <a:txBody>
                    <a:bodyPr/>
                    <a:lstStyle/>
                    <a:p>
                      <a:pPr algn="r"/>
                      <a:r>
                        <a:rPr lang="en-US" dirty="0" smtClean="0"/>
                        <a:t>$167,202</a:t>
                      </a:r>
                      <a:endParaRPr lang="en-US" dirty="0"/>
                    </a:p>
                  </a:txBody>
                  <a:tcPr/>
                </a:tc>
              </a:tr>
              <a:tr h="35503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Dentists, General </a:t>
                      </a:r>
                      <a:endParaRPr lang="en-US" dirty="0"/>
                    </a:p>
                  </a:txBody>
                  <a:tcPr/>
                </a:tc>
                <a:tc>
                  <a:txBody>
                    <a:bodyPr/>
                    <a:lstStyle/>
                    <a:p>
                      <a:pPr algn="r"/>
                      <a:r>
                        <a:rPr lang="en-US" dirty="0" smtClean="0"/>
                        <a:t>$163,711</a:t>
                      </a:r>
                      <a:endParaRPr lang="en-US" dirty="0"/>
                    </a:p>
                  </a:txBody>
                  <a:tcPr/>
                </a:tc>
              </a:tr>
              <a:tr h="355037">
                <a:tc>
                  <a:txBody>
                    <a:bodyPr/>
                    <a:lstStyle/>
                    <a:p>
                      <a:r>
                        <a:rPr lang="en-US" dirty="0" smtClean="0"/>
                        <a:t>Obstetricians and Gynecologists</a:t>
                      </a:r>
                      <a:endParaRPr lang="en-US" dirty="0"/>
                    </a:p>
                  </a:txBody>
                  <a:tcPr/>
                </a:tc>
                <a:tc>
                  <a:txBody>
                    <a:bodyPr/>
                    <a:lstStyle/>
                    <a:p>
                      <a:pPr algn="r"/>
                      <a:r>
                        <a:rPr lang="en-US" dirty="0" smtClean="0"/>
                        <a:t>$163,216</a:t>
                      </a:r>
                      <a:endParaRPr lang="en-US" dirty="0"/>
                    </a:p>
                  </a:txBody>
                  <a:tcPr/>
                </a:tc>
              </a:tr>
              <a:tr h="355037">
                <a:tc>
                  <a:txBody>
                    <a:bodyPr/>
                    <a:lstStyle/>
                    <a:p>
                      <a:r>
                        <a:rPr lang="en-US" dirty="0" smtClean="0"/>
                        <a:t>Pediatricians, General</a:t>
                      </a:r>
                      <a:endParaRPr lang="en-US" dirty="0"/>
                    </a:p>
                  </a:txBody>
                  <a:tcPr/>
                </a:tc>
                <a:tc>
                  <a:txBody>
                    <a:bodyPr/>
                    <a:lstStyle/>
                    <a:p>
                      <a:pPr algn="r"/>
                      <a:r>
                        <a:rPr lang="en-US" dirty="0" smtClean="0"/>
                        <a:t>$161,955</a:t>
                      </a:r>
                      <a:endParaRPr lang="en-US" dirty="0"/>
                    </a:p>
                  </a:txBody>
                  <a:tcPr/>
                </a:tc>
              </a:tr>
              <a:tr h="355037">
                <a:tc>
                  <a:txBody>
                    <a:bodyPr/>
                    <a:lstStyle/>
                    <a:p>
                      <a:r>
                        <a:rPr lang="en-US" dirty="0" smtClean="0"/>
                        <a:t>Podiatrists</a:t>
                      </a:r>
                      <a:endParaRPr lang="en-US" dirty="0"/>
                    </a:p>
                  </a:txBody>
                  <a:tcPr/>
                </a:tc>
                <a:tc>
                  <a:txBody>
                    <a:bodyPr/>
                    <a:lstStyle/>
                    <a:p>
                      <a:pPr algn="r"/>
                      <a:r>
                        <a:rPr lang="en-US" dirty="0" smtClean="0"/>
                        <a:t>$131,556</a:t>
                      </a:r>
                      <a:endParaRPr lang="en-US" dirty="0"/>
                    </a:p>
                  </a:txBody>
                  <a:tcPr/>
                </a:tc>
              </a:tr>
              <a:tr h="355037">
                <a:tc>
                  <a:txBody>
                    <a:bodyPr/>
                    <a:lstStyle/>
                    <a:p>
                      <a:r>
                        <a:rPr lang="en-US" dirty="0" smtClean="0"/>
                        <a:t>Engineering Managers</a:t>
                      </a:r>
                      <a:endParaRPr lang="en-US" dirty="0"/>
                    </a:p>
                  </a:txBody>
                  <a:tcPr/>
                </a:tc>
                <a:tc>
                  <a:txBody>
                    <a:bodyPr/>
                    <a:lstStyle/>
                    <a:p>
                      <a:pPr algn="r"/>
                      <a:r>
                        <a:rPr lang="en-US" dirty="0" smtClean="0"/>
                        <a:t>$126,672</a:t>
                      </a:r>
                      <a:endParaRPr lang="en-US" dirty="0"/>
                    </a:p>
                  </a:txBody>
                  <a:tcPr/>
                </a:tc>
              </a:tr>
              <a:tr h="355037">
                <a:tc>
                  <a:txBody>
                    <a:bodyPr/>
                    <a:lstStyle/>
                    <a:p>
                      <a:r>
                        <a:rPr lang="en-US" dirty="0" smtClean="0"/>
                        <a:t>Actuaries </a:t>
                      </a:r>
                      <a:endParaRPr lang="en-US" dirty="0"/>
                    </a:p>
                  </a:txBody>
                  <a:tcPr/>
                </a:tc>
                <a:tc>
                  <a:txBody>
                    <a:bodyPr/>
                    <a:lstStyle/>
                    <a:p>
                      <a:pPr algn="r"/>
                      <a:r>
                        <a:rPr lang="en-US" dirty="0" smtClean="0"/>
                        <a:t> $123,353</a:t>
                      </a:r>
                      <a:endParaRPr lang="en-US" dirty="0"/>
                    </a:p>
                  </a:txBody>
                  <a:tcPr/>
                </a:tc>
              </a:tr>
              <a:tr h="355037">
                <a:tc>
                  <a:txBody>
                    <a:bodyPr/>
                    <a:lstStyle/>
                    <a:p>
                      <a:r>
                        <a:rPr lang="en-US" dirty="0" smtClean="0"/>
                        <a:t>Nuclear Engineers</a:t>
                      </a:r>
                      <a:endParaRPr lang="en-US" dirty="0"/>
                    </a:p>
                  </a:txBody>
                  <a:tcPr/>
                </a:tc>
                <a:tc>
                  <a:txBody>
                    <a:bodyPr/>
                    <a:lstStyle/>
                    <a:p>
                      <a:pPr algn="r"/>
                      <a:r>
                        <a:rPr lang="en-US" dirty="0" smtClean="0"/>
                        <a:t>$119,862</a:t>
                      </a:r>
                      <a:endParaRPr lang="en-US" dirty="0"/>
                    </a:p>
                  </a:txBody>
                  <a:tcPr/>
                </a:tc>
              </a:tr>
              <a:tr h="355037">
                <a:tc>
                  <a:txBody>
                    <a:bodyPr/>
                    <a:lstStyle/>
                    <a:p>
                      <a:r>
                        <a:rPr lang="en-US" dirty="0" smtClean="0"/>
                        <a:t>Law Teachers, Postsecondary</a:t>
                      </a:r>
                      <a:endParaRPr lang="en-US" dirty="0"/>
                    </a:p>
                  </a:txBody>
                  <a:tcPr/>
                </a:tc>
                <a:tc>
                  <a:txBody>
                    <a:bodyPr/>
                    <a:lstStyle/>
                    <a:p>
                      <a:pPr algn="r"/>
                      <a:r>
                        <a:rPr lang="en-US" dirty="0" smtClean="0"/>
                        <a:t> $117,219</a:t>
                      </a:r>
                      <a:endParaRPr lang="en-US" dirty="0"/>
                    </a:p>
                  </a:txBody>
                  <a:tcPr/>
                </a:tc>
              </a:tr>
              <a:tr h="355037">
                <a:tc>
                  <a:txBody>
                    <a:bodyPr/>
                    <a:lstStyle/>
                    <a:p>
                      <a:r>
                        <a:rPr lang="en-US" dirty="0" smtClean="0"/>
                        <a:t>Agricultural Sciences Teachers, Postsecondary</a:t>
                      </a:r>
                      <a:endParaRPr lang="en-US" dirty="0"/>
                    </a:p>
                  </a:txBody>
                  <a:tcPr/>
                </a:tc>
                <a:tc>
                  <a:txBody>
                    <a:bodyPr/>
                    <a:lstStyle/>
                    <a:p>
                      <a:pPr algn="r"/>
                      <a:r>
                        <a:rPr lang="en-US" dirty="0" smtClean="0"/>
                        <a:t> $113,687</a:t>
                      </a:r>
                      <a:endParaRPr lang="en-US" dirty="0"/>
                    </a:p>
                  </a:txBody>
                  <a:tcPr/>
                </a:tc>
              </a:tr>
              <a:tr h="355037">
                <a:tc>
                  <a:txBody>
                    <a:bodyPr/>
                    <a:lstStyle/>
                    <a:p>
                      <a:r>
                        <a:rPr lang="en-US" dirty="0" smtClean="0"/>
                        <a:t>Air Traffic Controllers</a:t>
                      </a:r>
                      <a:endParaRPr lang="en-US" dirty="0"/>
                    </a:p>
                  </a:txBody>
                  <a:tcPr/>
                </a:tc>
                <a:tc>
                  <a:txBody>
                    <a:bodyPr/>
                    <a:lstStyle/>
                    <a:p>
                      <a:pPr algn="r"/>
                      <a:r>
                        <a:rPr lang="en-US" dirty="0" smtClean="0"/>
                        <a:t> $108,423</a:t>
                      </a:r>
                      <a:endParaRPr lang="en-US" dirty="0"/>
                    </a:p>
                  </a:txBody>
                  <a:tcPr/>
                </a:tc>
              </a:tr>
              <a:tr h="355037">
                <a:tc>
                  <a:txBody>
                    <a:bodyPr/>
                    <a:lstStyle/>
                    <a:p>
                      <a:r>
                        <a:rPr lang="en-US" dirty="0" smtClean="0"/>
                        <a:t>Pharmacists</a:t>
                      </a:r>
                      <a:endParaRPr lang="en-US" dirty="0"/>
                    </a:p>
                  </a:txBody>
                  <a:tcPr/>
                </a:tc>
                <a:tc>
                  <a:txBody>
                    <a:bodyPr/>
                    <a:lstStyle/>
                    <a:p>
                      <a:pPr algn="r"/>
                      <a:r>
                        <a:rPr lang="en-US" dirty="0" smtClean="0"/>
                        <a:t>$104,506</a:t>
                      </a:r>
                      <a:endParaRPr lang="en-US" dirty="0"/>
                    </a:p>
                  </a:txBody>
                  <a:tcPr/>
                </a:tc>
              </a:tr>
            </a:tbl>
          </a:graphicData>
        </a:graphic>
      </p:graphicFrame>
      <p:pic>
        <p:nvPicPr>
          <p:cNvPr id="44079" name="Picture 2" descr="http://www.washingtonwatch.com/blog/wp-content/uploads/2009/02/stack-of-money.jpg"/>
          <p:cNvPicPr>
            <a:picLocks noChangeAspect="1" noChangeArrowheads="1"/>
          </p:cNvPicPr>
          <p:nvPr/>
        </p:nvPicPr>
        <p:blipFill>
          <a:blip r:embed="rId3" cstate="print"/>
          <a:srcRect/>
          <a:stretch>
            <a:fillRect/>
          </a:stretch>
        </p:blipFill>
        <p:spPr bwMode="auto">
          <a:xfrm>
            <a:off x="0" y="990600"/>
            <a:ext cx="2362200"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US" dirty="0" smtClean="0"/>
              <a:t>Lowest Paying Jobs in New Mexico</a:t>
            </a:r>
          </a:p>
        </p:txBody>
      </p:sp>
      <p:graphicFrame>
        <p:nvGraphicFramePr>
          <p:cNvPr id="5" name="Content Placeholder 4"/>
          <p:cNvGraphicFramePr>
            <a:graphicFrameLocks noGrp="1"/>
          </p:cNvGraphicFramePr>
          <p:nvPr>
            <p:ph idx="1"/>
          </p:nvPr>
        </p:nvGraphicFramePr>
        <p:xfrm>
          <a:off x="381000" y="990600"/>
          <a:ext cx="8534400" cy="5105401"/>
        </p:xfrm>
        <a:graphic>
          <a:graphicData uri="http://schemas.openxmlformats.org/drawingml/2006/table">
            <a:tbl>
              <a:tblPr firstRow="1" bandRow="1">
                <a:tableStyleId>{7DF18680-E054-41AD-8BC1-D1AEF772440D}</a:tableStyleId>
              </a:tblPr>
              <a:tblGrid>
                <a:gridCol w="5645834"/>
                <a:gridCol w="1444283"/>
                <a:gridCol w="1444283"/>
              </a:tblGrid>
              <a:tr h="922663">
                <a:tc>
                  <a:txBody>
                    <a:bodyPr/>
                    <a:lstStyle/>
                    <a:p>
                      <a:endParaRPr lang="en-US" dirty="0" smtClean="0"/>
                    </a:p>
                    <a:p>
                      <a:endParaRPr lang="en-US" dirty="0" smtClean="0"/>
                    </a:p>
                    <a:p>
                      <a:r>
                        <a:rPr lang="en-US" dirty="0" smtClean="0"/>
                        <a:t>Occupation</a:t>
                      </a:r>
                      <a:endParaRPr lang="en-US" dirty="0"/>
                    </a:p>
                  </a:txBody>
                  <a:tcPr/>
                </a:tc>
                <a:tc>
                  <a:txBody>
                    <a:bodyPr/>
                    <a:lstStyle/>
                    <a:p>
                      <a:pPr algn="r"/>
                      <a:r>
                        <a:rPr lang="en-US" dirty="0" smtClean="0"/>
                        <a:t>2009 Annual Median Wage (OES)</a:t>
                      </a:r>
                      <a:endParaRPr lang="en-US" dirty="0"/>
                    </a:p>
                  </a:txBody>
                  <a:tcPr/>
                </a:tc>
                <a:tc>
                  <a:txBody>
                    <a:bodyPr/>
                    <a:lstStyle/>
                    <a:p>
                      <a:pPr algn="r"/>
                      <a:r>
                        <a:rPr lang="en-US" dirty="0" smtClean="0"/>
                        <a:t>2009</a:t>
                      </a:r>
                      <a:r>
                        <a:rPr lang="en-US" baseline="0" dirty="0" smtClean="0"/>
                        <a:t> Hourly Median Wage (OES)</a:t>
                      </a:r>
                      <a:endParaRPr lang="en-US" dirty="0"/>
                    </a:p>
                  </a:txBody>
                  <a:tcPr/>
                </a:tc>
              </a:tr>
              <a:tr h="374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Ushers, Lobby Attendants, and Ticket Takers  </a:t>
                      </a:r>
                      <a:endParaRPr lang="en-US" dirty="0"/>
                    </a:p>
                  </a:txBody>
                  <a:tcPr/>
                </a:tc>
                <a:tc>
                  <a:txBody>
                    <a:bodyPr/>
                    <a:lstStyle/>
                    <a:p>
                      <a:pPr algn="r"/>
                      <a:r>
                        <a:rPr lang="en-US" dirty="0" smtClean="0"/>
                        <a:t>$16,090</a:t>
                      </a:r>
                      <a:endParaRPr lang="en-US" dirty="0"/>
                    </a:p>
                  </a:txBody>
                  <a:tcPr/>
                </a:tc>
                <a:tc>
                  <a:txBody>
                    <a:bodyPr/>
                    <a:lstStyle/>
                    <a:p>
                      <a:pPr algn="r"/>
                      <a:r>
                        <a:rPr lang="en-US" dirty="0" smtClean="0"/>
                        <a:t>$7.74</a:t>
                      </a:r>
                      <a:endParaRPr lang="en-US" dirty="0"/>
                    </a:p>
                  </a:txBody>
                  <a:tcPr/>
                </a:tc>
              </a:tr>
              <a:tr h="374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Textile Cutting Machine Setters, Operators, and Tenders </a:t>
                      </a:r>
                      <a:endParaRPr lang="en-US" dirty="0"/>
                    </a:p>
                  </a:txBody>
                  <a:tcPr/>
                </a:tc>
                <a:tc>
                  <a:txBody>
                    <a:bodyPr/>
                    <a:lstStyle/>
                    <a:p>
                      <a:pPr algn="r"/>
                      <a:r>
                        <a:rPr lang="en-US" dirty="0" smtClean="0"/>
                        <a:t>$16,222</a:t>
                      </a:r>
                      <a:endParaRPr lang="en-US" dirty="0"/>
                    </a:p>
                  </a:txBody>
                  <a:tcPr/>
                </a:tc>
                <a:tc>
                  <a:txBody>
                    <a:bodyPr/>
                    <a:lstStyle/>
                    <a:p>
                      <a:pPr algn="r"/>
                      <a:r>
                        <a:rPr lang="en-US" dirty="0" smtClean="0"/>
                        <a:t>$7.80</a:t>
                      </a:r>
                      <a:endParaRPr lang="en-US" dirty="0"/>
                    </a:p>
                  </a:txBody>
                  <a:tcPr/>
                </a:tc>
              </a:tr>
              <a:tr h="374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Baggage Porters and Bellhops </a:t>
                      </a:r>
                      <a:endParaRPr lang="en-US" dirty="0"/>
                    </a:p>
                  </a:txBody>
                  <a:tcPr/>
                </a:tc>
                <a:tc>
                  <a:txBody>
                    <a:bodyPr/>
                    <a:lstStyle/>
                    <a:p>
                      <a:pPr algn="r"/>
                      <a:r>
                        <a:rPr lang="en-US" dirty="0" smtClean="0"/>
                        <a:t>$16,414</a:t>
                      </a:r>
                      <a:endParaRPr lang="en-US" dirty="0"/>
                    </a:p>
                  </a:txBody>
                  <a:tcPr/>
                </a:tc>
                <a:tc>
                  <a:txBody>
                    <a:bodyPr/>
                    <a:lstStyle/>
                    <a:p>
                      <a:pPr algn="r"/>
                      <a:r>
                        <a:rPr lang="en-US" dirty="0" smtClean="0"/>
                        <a:t>$7.89</a:t>
                      </a:r>
                      <a:endParaRPr lang="en-US" dirty="0"/>
                    </a:p>
                  </a:txBody>
                  <a:tcPr/>
                </a:tc>
              </a:tr>
              <a:tr h="6458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Combined Food Preparation and Serving Workers, Including Fast Food</a:t>
                      </a:r>
                      <a:endParaRPr lang="en-US" dirty="0"/>
                    </a:p>
                  </a:txBody>
                  <a:tcPr/>
                </a:tc>
                <a:tc>
                  <a:txBody>
                    <a:bodyPr/>
                    <a:lstStyle/>
                    <a:p>
                      <a:pPr algn="r"/>
                      <a:r>
                        <a:rPr lang="en-US" dirty="0" smtClean="0"/>
                        <a:t>$16,424</a:t>
                      </a:r>
                      <a:endParaRPr lang="en-US" dirty="0"/>
                    </a:p>
                  </a:txBody>
                  <a:tcPr/>
                </a:tc>
                <a:tc>
                  <a:txBody>
                    <a:bodyPr/>
                    <a:lstStyle/>
                    <a:p>
                      <a:pPr algn="r"/>
                      <a:r>
                        <a:rPr lang="en-US" dirty="0" smtClean="0"/>
                        <a:t>$7.90</a:t>
                      </a:r>
                      <a:endParaRPr lang="en-US" dirty="0"/>
                    </a:p>
                  </a:txBody>
                  <a:tcPr/>
                </a:tc>
              </a:tr>
              <a:tr h="6458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Cleaning, Washing, and Metal Pickling Equipment Operators and Tenders </a:t>
                      </a:r>
                      <a:endParaRPr lang="en-US" dirty="0"/>
                    </a:p>
                  </a:txBody>
                  <a:tcPr/>
                </a:tc>
                <a:tc>
                  <a:txBody>
                    <a:bodyPr/>
                    <a:lstStyle/>
                    <a:p>
                      <a:pPr algn="r"/>
                      <a:r>
                        <a:rPr lang="en-US" dirty="0" smtClean="0"/>
                        <a:t>$16,475</a:t>
                      </a:r>
                      <a:endParaRPr lang="en-US" dirty="0"/>
                    </a:p>
                  </a:txBody>
                  <a:tcPr/>
                </a:tc>
                <a:tc>
                  <a:txBody>
                    <a:bodyPr/>
                    <a:lstStyle/>
                    <a:p>
                      <a:pPr algn="r"/>
                      <a:r>
                        <a:rPr lang="en-US" dirty="0" smtClean="0"/>
                        <a:t>$7.92</a:t>
                      </a:r>
                      <a:endParaRPr lang="en-US" dirty="0"/>
                    </a:p>
                  </a:txBody>
                  <a:tcPr/>
                </a:tc>
              </a:tr>
              <a:tr h="374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Costume Attendants </a:t>
                      </a:r>
                      <a:endParaRPr lang="en-US" dirty="0"/>
                    </a:p>
                  </a:txBody>
                  <a:tcPr/>
                </a:tc>
                <a:tc>
                  <a:txBody>
                    <a:bodyPr/>
                    <a:lstStyle/>
                    <a:p>
                      <a:pPr algn="r"/>
                      <a:r>
                        <a:rPr lang="en-US" dirty="0" smtClean="0"/>
                        <a:t>$16,495</a:t>
                      </a:r>
                      <a:endParaRPr lang="en-US" dirty="0"/>
                    </a:p>
                  </a:txBody>
                  <a:tcPr/>
                </a:tc>
                <a:tc>
                  <a:txBody>
                    <a:bodyPr/>
                    <a:lstStyle/>
                    <a:p>
                      <a:pPr algn="r"/>
                      <a:r>
                        <a:rPr lang="en-US" dirty="0" smtClean="0"/>
                        <a:t>$7.93</a:t>
                      </a:r>
                      <a:endParaRPr lang="en-US" dirty="0"/>
                    </a:p>
                  </a:txBody>
                  <a:tcPr/>
                </a:tc>
              </a:tr>
              <a:tr h="6458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Farmworkers</a:t>
                      </a:r>
                      <a:r>
                        <a:rPr lang="en-US" dirty="0" smtClean="0"/>
                        <a:t> and Laborers, Crop, Nursery, and Greenhouse </a:t>
                      </a:r>
                      <a:endParaRPr lang="en-US" dirty="0"/>
                    </a:p>
                  </a:txBody>
                  <a:tcPr/>
                </a:tc>
                <a:tc>
                  <a:txBody>
                    <a:bodyPr/>
                    <a:lstStyle/>
                    <a:p>
                      <a:pPr algn="r"/>
                      <a:r>
                        <a:rPr lang="en-US" dirty="0" smtClean="0"/>
                        <a:t>$16,606 </a:t>
                      </a:r>
                      <a:endParaRPr lang="en-US" dirty="0"/>
                    </a:p>
                  </a:txBody>
                  <a:tcPr/>
                </a:tc>
                <a:tc>
                  <a:txBody>
                    <a:bodyPr/>
                    <a:lstStyle/>
                    <a:p>
                      <a:pPr algn="r"/>
                      <a:r>
                        <a:rPr lang="en-US" dirty="0" smtClean="0"/>
                        <a:t>$7.98</a:t>
                      </a:r>
                      <a:endParaRPr lang="en-US" dirty="0"/>
                    </a:p>
                  </a:txBody>
                  <a:tcPr/>
                </a:tc>
              </a:tr>
              <a:tr h="374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Designers, All Other </a:t>
                      </a:r>
                      <a:endParaRPr lang="en-US" dirty="0"/>
                    </a:p>
                  </a:txBody>
                  <a:tcPr/>
                </a:tc>
                <a:tc>
                  <a:txBody>
                    <a:bodyPr/>
                    <a:lstStyle/>
                    <a:p>
                      <a:pPr algn="r"/>
                      <a:r>
                        <a:rPr lang="en-US" dirty="0" smtClean="0"/>
                        <a:t>$16,617</a:t>
                      </a:r>
                      <a:endParaRPr lang="en-US" dirty="0"/>
                    </a:p>
                  </a:txBody>
                  <a:tcPr/>
                </a:tc>
                <a:tc>
                  <a:txBody>
                    <a:bodyPr/>
                    <a:lstStyle/>
                    <a:p>
                      <a:pPr algn="r"/>
                      <a:r>
                        <a:rPr lang="en-US" dirty="0" smtClean="0"/>
                        <a:t>$7.99</a:t>
                      </a:r>
                      <a:endParaRPr lang="en-US" dirty="0"/>
                    </a:p>
                  </a:txBody>
                  <a:tcPr/>
                </a:tc>
              </a:tr>
              <a:tr h="374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Waiters and Waitresses  </a:t>
                      </a:r>
                      <a:endParaRPr lang="en-US" dirty="0"/>
                    </a:p>
                  </a:txBody>
                  <a:tcPr/>
                </a:tc>
                <a:tc>
                  <a:txBody>
                    <a:bodyPr/>
                    <a:lstStyle/>
                    <a:p>
                      <a:pPr algn="r"/>
                      <a:r>
                        <a:rPr lang="en-US" dirty="0" smtClean="0"/>
                        <a:t>$16,646</a:t>
                      </a:r>
                      <a:endParaRPr lang="en-US" dirty="0"/>
                    </a:p>
                  </a:txBody>
                  <a:tcPr/>
                </a:tc>
                <a:tc>
                  <a:txBody>
                    <a:bodyPr/>
                    <a:lstStyle/>
                    <a:p>
                      <a:pPr algn="r"/>
                      <a:r>
                        <a:rPr lang="en-US" dirty="0" smtClean="0"/>
                        <a:t>$8.00</a:t>
                      </a:r>
                      <a:endParaRPr lang="en-US" dirty="0"/>
                    </a:p>
                  </a:txBody>
                  <a:tcPr/>
                </a:tc>
              </a:tr>
            </a:tbl>
          </a:graphicData>
        </a:graphic>
      </p:graphicFrame>
      <p:pic>
        <p:nvPicPr>
          <p:cNvPr id="45105" name="Picture 5" descr="pumpkin.bmp"/>
          <p:cNvPicPr>
            <a:picLocks noChangeAspect="1"/>
          </p:cNvPicPr>
          <p:nvPr/>
        </p:nvPicPr>
        <p:blipFill>
          <a:blip r:embed="rId3" cstate="print"/>
          <a:srcRect/>
          <a:stretch>
            <a:fillRect/>
          </a:stretch>
        </p:blipFill>
        <p:spPr bwMode="auto">
          <a:xfrm>
            <a:off x="7467600" y="0"/>
            <a:ext cx="1447800" cy="99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http://cache.thephoenix.com/secure/uploadedImages/The_Phoenix/News/This_Just_In/TJI_ClearChannel_Falling.jpg"/>
          <p:cNvPicPr>
            <a:picLocks noChangeAspect="1" noChangeArrowheads="1"/>
          </p:cNvPicPr>
          <p:nvPr/>
        </p:nvPicPr>
        <p:blipFill>
          <a:blip r:embed="rId3" cstate="print"/>
          <a:srcRect l="28632" r="17474"/>
          <a:stretch>
            <a:fillRect/>
          </a:stretch>
        </p:blipFill>
        <p:spPr bwMode="auto">
          <a:xfrm>
            <a:off x="6705600" y="2895600"/>
            <a:ext cx="2438400" cy="3276600"/>
          </a:xfrm>
          <a:prstGeom prst="rect">
            <a:avLst/>
          </a:prstGeom>
          <a:noFill/>
          <a:ln w="9525">
            <a:noFill/>
            <a:miter lim="800000"/>
            <a:headEnd/>
            <a:tailEnd/>
          </a:ln>
        </p:spPr>
      </p:pic>
      <p:sp>
        <p:nvSpPr>
          <p:cNvPr id="46083" name="Title 1"/>
          <p:cNvSpPr>
            <a:spLocks noGrp="1"/>
          </p:cNvSpPr>
          <p:nvPr>
            <p:ph type="title"/>
          </p:nvPr>
        </p:nvSpPr>
        <p:spPr>
          <a:xfrm>
            <a:off x="381000" y="152400"/>
            <a:ext cx="8229600" cy="792163"/>
          </a:xfrm>
        </p:spPr>
        <p:txBody>
          <a:bodyPr/>
          <a:lstStyle/>
          <a:p>
            <a:pPr eaLnBrk="1" hangingPunct="1"/>
            <a:r>
              <a:rPr lang="en-US" sz="2800" smtClean="0"/>
              <a:t>The Top 15 NM Occupations in Decline 2009-2019</a:t>
            </a:r>
          </a:p>
        </p:txBody>
      </p:sp>
      <p:graphicFrame>
        <p:nvGraphicFramePr>
          <p:cNvPr id="5" name="Content Placeholder 4"/>
          <p:cNvGraphicFramePr>
            <a:graphicFrameLocks noGrp="1"/>
          </p:cNvGraphicFramePr>
          <p:nvPr>
            <p:ph idx="1"/>
          </p:nvPr>
        </p:nvGraphicFramePr>
        <p:xfrm>
          <a:off x="0" y="822325"/>
          <a:ext cx="6705600" cy="6035040"/>
        </p:xfrm>
        <a:graphic>
          <a:graphicData uri="http://schemas.openxmlformats.org/drawingml/2006/table">
            <a:tbl>
              <a:tblPr firstRow="1" bandRow="1">
                <a:tableStyleId>{7DF18680-E054-41AD-8BC1-D1AEF772440D}</a:tableStyleId>
              </a:tblPr>
              <a:tblGrid>
                <a:gridCol w="5381037"/>
                <a:gridCol w="1324563"/>
              </a:tblGrid>
              <a:tr h="914400">
                <a:tc>
                  <a:txBody>
                    <a:bodyPr/>
                    <a:lstStyle/>
                    <a:p>
                      <a:endParaRPr lang="en-US" dirty="0" smtClean="0"/>
                    </a:p>
                    <a:p>
                      <a:endParaRPr lang="en-US" dirty="0" smtClean="0"/>
                    </a:p>
                    <a:p>
                      <a:r>
                        <a:rPr lang="en-US" dirty="0" smtClean="0"/>
                        <a:t>Occupation Title</a:t>
                      </a:r>
                      <a:endParaRPr lang="en-US" dirty="0"/>
                    </a:p>
                  </a:txBody>
                  <a:tcPr/>
                </a:tc>
                <a:tc>
                  <a:txBody>
                    <a:bodyPr/>
                    <a:lstStyle/>
                    <a:p>
                      <a:pPr algn="r"/>
                      <a:r>
                        <a:rPr lang="en-US" dirty="0" smtClean="0"/>
                        <a:t>Annual Percent Change</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Textile Cutting Machine Setters </a:t>
                      </a:r>
                      <a:r>
                        <a:rPr lang="en-US" dirty="0" err="1" smtClean="0"/>
                        <a:t>Optrs</a:t>
                      </a:r>
                      <a:r>
                        <a:rPr lang="en-US" dirty="0" smtClean="0"/>
                        <a:t>  </a:t>
                      </a:r>
                      <a:endParaRPr lang="en-US" dirty="0"/>
                    </a:p>
                  </a:txBody>
                  <a:tcPr/>
                </a:tc>
                <a:tc>
                  <a:txBody>
                    <a:bodyPr/>
                    <a:lstStyle/>
                    <a:p>
                      <a:pPr algn="r"/>
                      <a:r>
                        <a:rPr lang="en-US" dirty="0" smtClean="0"/>
                        <a:t>-5.6%</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Bindery Workers </a:t>
                      </a:r>
                      <a:endParaRPr lang="en-US" dirty="0"/>
                    </a:p>
                  </a:txBody>
                  <a:tcPr/>
                </a:tc>
                <a:tc>
                  <a:txBody>
                    <a:bodyPr/>
                    <a:lstStyle/>
                    <a:p>
                      <a:pPr algn="r"/>
                      <a:r>
                        <a:rPr lang="en-US" dirty="0" smtClean="0"/>
                        <a:t>-5.5%</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Drilling &amp; Boring Machine Tool </a:t>
                      </a:r>
                      <a:r>
                        <a:rPr lang="en-US" dirty="0" err="1" smtClean="0"/>
                        <a:t>Optrs</a:t>
                      </a:r>
                      <a:r>
                        <a:rPr lang="en-US" dirty="0" smtClean="0"/>
                        <a:t> , Metal &amp; Plastic </a:t>
                      </a:r>
                      <a:endParaRPr lang="en-US" dirty="0"/>
                    </a:p>
                  </a:txBody>
                  <a:tcPr/>
                </a:tc>
                <a:tc>
                  <a:txBody>
                    <a:bodyPr/>
                    <a:lstStyle/>
                    <a:p>
                      <a:pPr algn="r"/>
                      <a:r>
                        <a:rPr lang="en-US" dirty="0" smtClean="0"/>
                        <a:t>-4.4%</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Sewing Machine Operators </a:t>
                      </a:r>
                      <a:endParaRPr lang="en-US" dirty="0"/>
                    </a:p>
                  </a:txBody>
                  <a:tcPr/>
                </a:tc>
                <a:tc>
                  <a:txBody>
                    <a:bodyPr/>
                    <a:lstStyle/>
                    <a:p>
                      <a:pPr algn="r"/>
                      <a:r>
                        <a:rPr lang="en-US" dirty="0" smtClean="0"/>
                        <a:t>-4.4%</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Milling &amp; </a:t>
                      </a:r>
                      <a:r>
                        <a:rPr lang="en-US" dirty="0" err="1" smtClean="0"/>
                        <a:t>Planing</a:t>
                      </a:r>
                      <a:r>
                        <a:rPr lang="en-US" dirty="0" smtClean="0"/>
                        <a:t> Machine </a:t>
                      </a:r>
                      <a:r>
                        <a:rPr lang="en-US" dirty="0" err="1" smtClean="0"/>
                        <a:t>Optrs</a:t>
                      </a:r>
                      <a:r>
                        <a:rPr lang="en-US" dirty="0" smtClean="0"/>
                        <a:t>, Metal &amp; Plastic </a:t>
                      </a:r>
                      <a:endParaRPr lang="en-US" dirty="0"/>
                    </a:p>
                  </a:txBody>
                  <a:tcPr/>
                </a:tc>
                <a:tc>
                  <a:txBody>
                    <a:bodyPr/>
                    <a:lstStyle/>
                    <a:p>
                      <a:pPr algn="r"/>
                      <a:r>
                        <a:rPr lang="en-US" dirty="0" smtClean="0"/>
                        <a:t>-4.3%</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Aircraft Cargo Handling Supervisors </a:t>
                      </a:r>
                      <a:endParaRPr lang="en-US" dirty="0"/>
                    </a:p>
                  </a:txBody>
                  <a:tcPr/>
                </a:tc>
                <a:tc>
                  <a:txBody>
                    <a:bodyPr/>
                    <a:lstStyle/>
                    <a:p>
                      <a:pPr algn="r"/>
                      <a:r>
                        <a:rPr lang="en-US" dirty="0" smtClean="0"/>
                        <a:t>-4.3%</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Dental Laboratory Technicians </a:t>
                      </a:r>
                      <a:endParaRPr lang="en-US" dirty="0"/>
                    </a:p>
                  </a:txBody>
                  <a:tcPr/>
                </a:tc>
                <a:tc>
                  <a:txBody>
                    <a:bodyPr/>
                    <a:lstStyle/>
                    <a:p>
                      <a:pPr algn="r"/>
                      <a:r>
                        <a:rPr lang="en-US" dirty="0" smtClean="0"/>
                        <a:t>-4.1%</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Packaging &amp; Filling Machine Operators </a:t>
                      </a:r>
                      <a:endParaRPr lang="en-US" dirty="0"/>
                    </a:p>
                  </a:txBody>
                  <a:tcPr/>
                </a:tc>
                <a:tc>
                  <a:txBody>
                    <a:bodyPr/>
                    <a:lstStyle/>
                    <a:p>
                      <a:pPr algn="r"/>
                      <a:r>
                        <a:rPr lang="en-US" dirty="0" smtClean="0"/>
                        <a:t>-3.4%</a:t>
                      </a:r>
                      <a:endParaRPr lang="en-US" dirty="0"/>
                    </a:p>
                  </a:txBody>
                  <a:tcPr/>
                </a:tc>
              </a:tr>
              <a:tr h="358565">
                <a:tc>
                  <a:txBody>
                    <a:bodyPr/>
                    <a:lstStyle/>
                    <a:p>
                      <a:r>
                        <a:rPr lang="en-US" dirty="0" smtClean="0"/>
                        <a:t>Job Printers</a:t>
                      </a:r>
                      <a:endParaRPr lang="en-US" dirty="0"/>
                    </a:p>
                  </a:txBody>
                  <a:tcPr/>
                </a:tc>
                <a:tc>
                  <a:txBody>
                    <a:bodyPr/>
                    <a:lstStyle/>
                    <a:p>
                      <a:pPr algn="r"/>
                      <a:r>
                        <a:rPr lang="en-US" dirty="0" smtClean="0"/>
                        <a:t>-3.4%</a:t>
                      </a:r>
                      <a:endParaRPr lang="en-US" dirty="0"/>
                    </a:p>
                  </a:txBody>
                  <a:tcPr/>
                </a:tc>
              </a:tr>
              <a:tr h="358565">
                <a:tc>
                  <a:txBody>
                    <a:bodyPr/>
                    <a:lstStyle/>
                    <a:p>
                      <a:r>
                        <a:rPr lang="en-US" dirty="0" smtClean="0"/>
                        <a:t>Semiconductor Processors</a:t>
                      </a:r>
                      <a:endParaRPr lang="en-US" dirty="0"/>
                    </a:p>
                  </a:txBody>
                  <a:tcPr/>
                </a:tc>
                <a:tc>
                  <a:txBody>
                    <a:bodyPr/>
                    <a:lstStyle/>
                    <a:p>
                      <a:pPr algn="r"/>
                      <a:r>
                        <a:rPr lang="en-US" dirty="0" smtClean="0"/>
                        <a:t>-3.4%</a:t>
                      </a:r>
                      <a:endParaRPr lang="en-US" dirty="0"/>
                    </a:p>
                  </a:txBody>
                  <a:tcPr/>
                </a:tc>
              </a:tr>
              <a:tr h="358565">
                <a:tc>
                  <a:txBody>
                    <a:bodyPr/>
                    <a:lstStyle/>
                    <a:p>
                      <a:r>
                        <a:rPr lang="en-US" dirty="0" smtClean="0"/>
                        <a:t>Jewelers  Precious Stone &amp; Metal Workers</a:t>
                      </a:r>
                      <a:endParaRPr lang="en-US" dirty="0"/>
                    </a:p>
                  </a:txBody>
                  <a:tcPr/>
                </a:tc>
                <a:tc>
                  <a:txBody>
                    <a:bodyPr/>
                    <a:lstStyle/>
                    <a:p>
                      <a:pPr algn="r"/>
                      <a:r>
                        <a:rPr lang="en-US" dirty="0" smtClean="0"/>
                        <a:t>-3.3%</a:t>
                      </a:r>
                      <a:endParaRPr lang="en-US" dirty="0"/>
                    </a:p>
                  </a:txBody>
                  <a:tcPr/>
                </a:tc>
              </a:tr>
              <a:tr h="358565">
                <a:tc>
                  <a:txBody>
                    <a:bodyPr/>
                    <a:lstStyle/>
                    <a:p>
                      <a:r>
                        <a:rPr lang="en-US" dirty="0" smtClean="0"/>
                        <a:t>Order Clerks</a:t>
                      </a:r>
                      <a:endParaRPr lang="en-US" dirty="0"/>
                    </a:p>
                  </a:txBody>
                  <a:tcPr/>
                </a:tc>
                <a:tc>
                  <a:txBody>
                    <a:bodyPr/>
                    <a:lstStyle/>
                    <a:p>
                      <a:pPr algn="r"/>
                      <a:r>
                        <a:rPr lang="en-US" dirty="0" smtClean="0"/>
                        <a:t>-3.2%</a:t>
                      </a:r>
                      <a:endParaRPr lang="en-US" dirty="0"/>
                    </a:p>
                  </a:txBody>
                  <a:tcPr/>
                </a:tc>
              </a:tr>
              <a:tr h="3585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Postal Service Mail Sorters</a:t>
                      </a:r>
                      <a:r>
                        <a:rPr lang="en-US" baseline="0" dirty="0" smtClean="0"/>
                        <a:t> </a:t>
                      </a:r>
                      <a:r>
                        <a:rPr lang="en-US" dirty="0" smtClean="0"/>
                        <a:t>&amp; Processing Machine </a:t>
                      </a:r>
                      <a:r>
                        <a:rPr lang="en-US" dirty="0" err="1" smtClean="0"/>
                        <a:t>Optrs</a:t>
                      </a:r>
                      <a:r>
                        <a:rPr lang="en-US" dirty="0" smtClean="0"/>
                        <a:t> </a:t>
                      </a:r>
                      <a:endParaRPr lang="en-US" dirty="0"/>
                    </a:p>
                  </a:txBody>
                  <a:tcPr/>
                </a:tc>
                <a:tc>
                  <a:txBody>
                    <a:bodyPr/>
                    <a:lstStyle/>
                    <a:p>
                      <a:pPr algn="r"/>
                      <a:r>
                        <a:rPr lang="en-US" dirty="0" smtClean="0"/>
                        <a:t>-3.1%</a:t>
                      </a:r>
                      <a:endParaRPr lang="en-US" dirty="0"/>
                    </a:p>
                  </a:txBody>
                  <a:tcPr/>
                </a:tc>
              </a:tr>
              <a:tr h="358565">
                <a:tc>
                  <a:txBody>
                    <a:bodyPr/>
                    <a:lstStyle/>
                    <a:p>
                      <a:r>
                        <a:rPr lang="en-US" dirty="0" smtClean="0"/>
                        <a:t>Photographic Processing Machine </a:t>
                      </a:r>
                      <a:r>
                        <a:rPr lang="en-US" dirty="0" err="1" smtClean="0"/>
                        <a:t>Optrs</a:t>
                      </a:r>
                      <a:endParaRPr lang="en-US" dirty="0"/>
                    </a:p>
                  </a:txBody>
                  <a:tcPr/>
                </a:tc>
                <a:tc>
                  <a:txBody>
                    <a:bodyPr/>
                    <a:lstStyle/>
                    <a:p>
                      <a:pPr algn="r"/>
                      <a:r>
                        <a:rPr lang="en-US" dirty="0" smtClean="0"/>
                        <a:t>-2.9%</a:t>
                      </a:r>
                      <a:endParaRPr lang="en-US" dirty="0"/>
                    </a:p>
                  </a:txBody>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0" y="0"/>
            <a:ext cx="9144000" cy="792162"/>
          </a:xfrm>
          <a:ln w="9525">
            <a:solidFill>
              <a:srgbClr val="FFCC00"/>
            </a:solidFill>
          </a:ln>
          <a:effectLst>
            <a:softEdge rad="12700"/>
          </a:effectLst>
        </p:spPr>
        <p:txBody>
          <a:bodyPr/>
          <a:lstStyle/>
          <a:p>
            <a:pPr eaLnBrk="1" hangingPunct="1"/>
            <a:r>
              <a:rPr lang="en-US" dirty="0" smtClean="0"/>
              <a:t>Detailed job profile for over 800 occupations </a:t>
            </a:r>
          </a:p>
        </p:txBody>
      </p:sp>
      <p:sp>
        <p:nvSpPr>
          <p:cNvPr id="47107" name="Content Placeholder 2"/>
          <p:cNvSpPr>
            <a:spLocks noGrp="1"/>
          </p:cNvSpPr>
          <p:nvPr>
            <p:ph idx="1"/>
          </p:nvPr>
        </p:nvSpPr>
        <p:spPr>
          <a:xfrm>
            <a:off x="457200" y="914400"/>
            <a:ext cx="8229600" cy="5029200"/>
          </a:xfrm>
        </p:spPr>
        <p:txBody>
          <a:bodyPr/>
          <a:lstStyle/>
          <a:p>
            <a:pPr eaLnBrk="1" hangingPunct="1"/>
            <a:r>
              <a:rPr lang="en-US" sz="2400" dirty="0" smtClean="0">
                <a:latin typeface="Arial" charset="0"/>
                <a:cs typeface="Arial" charset="0"/>
              </a:rPr>
              <a:t>Job Description +knowledge, skills, tasks, abilities</a:t>
            </a:r>
          </a:p>
          <a:p>
            <a:pPr marL="742950" lvl="2" indent="-342900"/>
            <a:r>
              <a:rPr lang="en-US" sz="2000" dirty="0" smtClean="0">
                <a:latin typeface="Arial" charset="0"/>
                <a:cs typeface="Arial" charset="0"/>
              </a:rPr>
              <a:t>SOC and O*NET</a:t>
            </a:r>
          </a:p>
          <a:p>
            <a:pPr marL="342900" lvl="1" indent="-342900">
              <a:buFont typeface="Arial" charset="0"/>
              <a:buChar char="•"/>
            </a:pPr>
            <a:r>
              <a:rPr lang="en-US" sz="2400" dirty="0" smtClean="0">
                <a:latin typeface="Arial" charset="0"/>
                <a:cs typeface="Arial" charset="0"/>
              </a:rPr>
              <a:t>Training Program Completers</a:t>
            </a:r>
          </a:p>
          <a:p>
            <a:pPr marL="742950" lvl="2" indent="-342900"/>
            <a:r>
              <a:rPr lang="en-US" sz="1600" b="1" dirty="0" smtClean="0">
                <a:latin typeface="Arial" charset="0"/>
                <a:cs typeface="Arial" charset="0"/>
              </a:rPr>
              <a:t>Classification </a:t>
            </a:r>
            <a:r>
              <a:rPr lang="en-US" sz="1200" b="1" dirty="0" smtClean="0">
                <a:latin typeface="Arial" charset="0"/>
                <a:cs typeface="Arial" charset="0"/>
              </a:rPr>
              <a:t>of Instructional Programs (CIP) </a:t>
            </a:r>
            <a:r>
              <a:rPr lang="en-US" sz="1200" dirty="0" smtClean="0">
                <a:latin typeface="Arial" charset="0"/>
                <a:cs typeface="Arial" charset="0"/>
              </a:rPr>
              <a:t>crosswalk Many-to-Many</a:t>
            </a:r>
          </a:p>
          <a:p>
            <a:pPr eaLnBrk="1" hangingPunct="1"/>
            <a:r>
              <a:rPr lang="en-US" sz="2400" dirty="0" smtClean="0">
                <a:latin typeface="Arial" charset="0"/>
                <a:cs typeface="Arial" charset="0"/>
              </a:rPr>
              <a:t>Typical Education Requirements</a:t>
            </a:r>
          </a:p>
          <a:p>
            <a:pPr eaLnBrk="1" hangingPunct="1"/>
            <a:r>
              <a:rPr lang="en-US" sz="2400" dirty="0" smtClean="0">
                <a:latin typeface="Arial" charset="0"/>
                <a:cs typeface="Arial" charset="0"/>
              </a:rPr>
              <a:t>Wage Statistics by area and industry</a:t>
            </a:r>
          </a:p>
          <a:p>
            <a:pPr eaLnBrk="1" hangingPunct="1"/>
            <a:r>
              <a:rPr lang="en-US" sz="2400" dirty="0" smtClean="0">
                <a:latin typeface="Arial" charset="0"/>
                <a:cs typeface="Arial" charset="0"/>
              </a:rPr>
              <a:t>Employment Projections</a:t>
            </a:r>
          </a:p>
          <a:p>
            <a:pPr eaLnBrk="1" hangingPunct="1"/>
            <a:r>
              <a:rPr lang="en-US" sz="2400" dirty="0" smtClean="0">
                <a:latin typeface="Arial" charset="0"/>
                <a:cs typeface="Arial" charset="0"/>
              </a:rPr>
              <a:t>Employment by Industry</a:t>
            </a:r>
          </a:p>
          <a:p>
            <a:pPr eaLnBrk="1" hangingPunct="1"/>
            <a:r>
              <a:rPr lang="en-US" sz="2400" dirty="0" smtClean="0">
                <a:latin typeface="Arial" charset="0"/>
                <a:cs typeface="Arial" charset="0"/>
              </a:rPr>
              <a:t>Area’s available:</a:t>
            </a:r>
          </a:p>
          <a:p>
            <a:pPr lvl="1"/>
            <a:r>
              <a:rPr lang="en-US" sz="2000" dirty="0" smtClean="0">
                <a:latin typeface="Arial" charset="0"/>
                <a:cs typeface="Arial" charset="0"/>
              </a:rPr>
              <a:t> Statewide, </a:t>
            </a:r>
          </a:p>
          <a:p>
            <a:pPr lvl="1"/>
            <a:r>
              <a:rPr lang="en-US" sz="2000" dirty="0" smtClean="0">
                <a:latin typeface="Arial" charset="0"/>
                <a:cs typeface="Arial" charset="0"/>
              </a:rPr>
              <a:t>4 MSA’s, </a:t>
            </a:r>
          </a:p>
          <a:p>
            <a:pPr lvl="1"/>
            <a:r>
              <a:rPr lang="en-US" sz="2000" dirty="0" smtClean="0">
                <a:latin typeface="Arial" charset="0"/>
                <a:cs typeface="Arial" charset="0"/>
              </a:rPr>
              <a:t>4 Workforce Investment Regions</a:t>
            </a:r>
          </a:p>
          <a:p>
            <a:pPr>
              <a:buNone/>
            </a:pPr>
            <a:r>
              <a:rPr lang="en-US" dirty="0" smtClean="0">
                <a:latin typeface="Arial" charset="0"/>
                <a:cs typeface="Arial" charset="0"/>
              </a:rPr>
              <a:t> </a:t>
            </a:r>
          </a:p>
          <a:p>
            <a:pPr eaLnBrk="1" hangingPunct="1"/>
            <a:endParaRPr lang="en-US"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638800" cy="792162"/>
          </a:xfrm>
        </p:spPr>
        <p:txBody>
          <a:bodyPr/>
          <a:lstStyle/>
          <a:p>
            <a:r>
              <a:rPr lang="en-US" dirty="0" smtClean="0"/>
              <a:t>Tools for LMI</a:t>
            </a:r>
            <a:endParaRPr lang="en-US" dirty="0"/>
          </a:p>
        </p:txBody>
      </p:sp>
      <p:sp>
        <p:nvSpPr>
          <p:cNvPr id="4" name="TextBox 3"/>
          <p:cNvSpPr txBox="1"/>
          <p:nvPr/>
        </p:nvSpPr>
        <p:spPr>
          <a:xfrm>
            <a:off x="1371600" y="914400"/>
            <a:ext cx="7086600" cy="3970318"/>
          </a:xfrm>
          <a:prstGeom prst="rect">
            <a:avLst/>
          </a:prstGeom>
          <a:noFill/>
        </p:spPr>
        <p:txBody>
          <a:bodyPr wrap="square" rtlCol="0">
            <a:spAutoFit/>
          </a:bodyPr>
          <a:lstStyle/>
          <a:p>
            <a:pPr>
              <a:lnSpc>
                <a:spcPct val="200000"/>
              </a:lnSpc>
              <a:buFont typeface="Arial" pitchFamily="34" charset="0"/>
              <a:buChar char="•"/>
            </a:pPr>
            <a:r>
              <a:rPr lang="en-US" dirty="0" smtClean="0"/>
              <a:t> Career Solutions : </a:t>
            </a:r>
            <a:r>
              <a:rPr lang="en-US" dirty="0" smtClean="0">
                <a:hlinkClick r:id="rId2"/>
              </a:rPr>
              <a:t>http://www.dws.state.nm.us/careersolutions/</a:t>
            </a:r>
            <a:endParaRPr lang="en-US" dirty="0" smtClean="0"/>
          </a:p>
          <a:p>
            <a:pPr>
              <a:lnSpc>
                <a:spcPct val="200000"/>
              </a:lnSpc>
              <a:buFont typeface="Arial" pitchFamily="34" charset="0"/>
              <a:buChar char="•"/>
            </a:pPr>
            <a:r>
              <a:rPr lang="en-US" dirty="0" smtClean="0"/>
              <a:t> LASER: </a:t>
            </a:r>
            <a:r>
              <a:rPr lang="en-US" dirty="0" smtClean="0">
                <a:hlinkClick r:id="rId3"/>
              </a:rPr>
              <a:t>http://laser.state.nm.us/</a:t>
            </a:r>
            <a:endParaRPr lang="en-US" dirty="0" smtClean="0"/>
          </a:p>
          <a:p>
            <a:pPr>
              <a:lnSpc>
                <a:spcPct val="200000"/>
              </a:lnSpc>
              <a:buFont typeface="Arial" pitchFamily="34" charset="0"/>
              <a:buChar char="•"/>
            </a:pPr>
            <a:r>
              <a:rPr lang="en-US" dirty="0" smtClean="0"/>
              <a:t> NM Workforce Connection: </a:t>
            </a:r>
            <a:r>
              <a:rPr lang="en-US" dirty="0" smtClean="0">
                <a:hlinkClick r:id="rId4"/>
              </a:rPr>
              <a:t>https://www.jobs.state.nm.us/</a:t>
            </a:r>
            <a:endParaRPr lang="en-US" dirty="0" smtClean="0"/>
          </a:p>
          <a:p>
            <a:pPr>
              <a:lnSpc>
                <a:spcPct val="200000"/>
              </a:lnSpc>
              <a:buFont typeface="Arial" pitchFamily="34" charset="0"/>
              <a:buChar char="•"/>
            </a:pPr>
            <a:r>
              <a:rPr lang="en-US" dirty="0" smtClean="0"/>
              <a:t> Green Jobs: </a:t>
            </a:r>
            <a:r>
              <a:rPr lang="en-US" dirty="0" smtClean="0">
                <a:hlinkClick r:id="rId5"/>
              </a:rPr>
              <a:t>http://www.greenjobs.state.nm.us</a:t>
            </a:r>
            <a:endParaRPr lang="en-US" dirty="0" smtClean="0"/>
          </a:p>
          <a:p>
            <a:pPr>
              <a:lnSpc>
                <a:spcPct val="200000"/>
              </a:lnSpc>
              <a:buFont typeface="Arial" pitchFamily="34" charset="0"/>
              <a:buChar char="•"/>
            </a:pPr>
            <a:r>
              <a:rPr lang="en-US" dirty="0" smtClean="0"/>
              <a:t> National </a:t>
            </a:r>
            <a:r>
              <a:rPr lang="en-US" dirty="0" smtClean="0">
                <a:hlinkClick r:id="rId6"/>
              </a:rPr>
              <a:t>http://careeronestop.org/</a:t>
            </a:r>
            <a:endParaRPr lang="en-US" dirty="0" smtClean="0"/>
          </a:p>
          <a:p>
            <a:pPr>
              <a:lnSpc>
                <a:spcPct val="200000"/>
              </a:lnSpc>
              <a:buFont typeface="Arial" pitchFamily="34" charset="0"/>
              <a:buChar char="•"/>
            </a:pPr>
            <a:r>
              <a:rPr lang="en-US" dirty="0" smtClean="0"/>
              <a:t> O*NET lookup </a:t>
            </a:r>
            <a:r>
              <a:rPr lang="en-US" dirty="0" smtClean="0">
                <a:hlinkClick r:id="rId7"/>
              </a:rPr>
              <a:t>http://www.onetonline.org/</a:t>
            </a:r>
            <a:r>
              <a:rPr lang="en-US" dirty="0" smtClean="0"/>
              <a:t> </a:t>
            </a:r>
          </a:p>
          <a:p>
            <a:pPr>
              <a:lnSpc>
                <a:spcPct val="200000"/>
              </a:lnSpc>
              <a:buFont typeface="Arial" pitchFamily="34" charset="0"/>
              <a:buChar char="•"/>
            </a:pPr>
            <a:r>
              <a:rPr lang="en-US" dirty="0" smtClean="0"/>
              <a:t>O*NET Academy </a:t>
            </a:r>
            <a:r>
              <a:rPr lang="en-US" dirty="0" smtClean="0">
                <a:hlinkClick r:id="rId8"/>
              </a:rPr>
              <a:t>http://www.onetacademy.org/</a:t>
            </a:r>
            <a:r>
              <a:rPr lang="en-US" dirty="0" smtClean="0"/>
              <a:t>  </a:t>
            </a:r>
          </a:p>
        </p:txBody>
      </p:sp>
      <p:pic>
        <p:nvPicPr>
          <p:cNvPr id="18434" name="Picture 2" descr="http://www.idealaunch.com/blog/wp-content/uploads/2009/12/internet-marketing-strategy-traffic1.jpg"/>
          <p:cNvPicPr>
            <a:picLocks noChangeAspect="1" noChangeArrowheads="1"/>
          </p:cNvPicPr>
          <p:nvPr/>
        </p:nvPicPr>
        <p:blipFill>
          <a:blip r:embed="rId9" cstate="print"/>
          <a:srcRect/>
          <a:stretch>
            <a:fillRect/>
          </a:stretch>
        </p:blipFill>
        <p:spPr bwMode="auto">
          <a:xfrm>
            <a:off x="1143000" y="4800600"/>
            <a:ext cx="7772401" cy="1213218"/>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Education Pays</a:t>
            </a:r>
            <a:endParaRPr lang="en-US" dirty="0"/>
          </a:p>
        </p:txBody>
      </p:sp>
      <p:pic>
        <p:nvPicPr>
          <p:cNvPr id="5" name="Picture 4" descr="ep_chart_BLS.JPG"/>
          <p:cNvPicPr>
            <a:picLocks noChangeAspect="1"/>
          </p:cNvPicPr>
          <p:nvPr/>
        </p:nvPicPr>
        <p:blipFill>
          <a:blip r:embed="rId3" cstate="print"/>
          <a:stretch>
            <a:fillRect/>
          </a:stretch>
        </p:blipFill>
        <p:spPr>
          <a:xfrm>
            <a:off x="152400" y="304800"/>
            <a:ext cx="8855004" cy="57150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Text Placeholder 2"/>
          <p:cNvSpPr>
            <a:spLocks noGrp="1"/>
          </p:cNvSpPr>
          <p:nvPr>
            <p:ph type="body" sz="quarter" idx="10"/>
          </p:nvPr>
        </p:nvSpPr>
        <p:spPr/>
        <p:txBody>
          <a:bodyPr/>
          <a:lstStyle/>
          <a:p>
            <a:r>
              <a:rPr lang="en-US" dirty="0" smtClean="0">
                <a:latin typeface="Arial" charset="0"/>
                <a:cs typeface="Arial" charset="0"/>
              </a:rPr>
              <a:t>Suzan Reagan</a:t>
            </a:r>
          </a:p>
          <a:p>
            <a:r>
              <a:rPr lang="en-US" dirty="0" smtClean="0">
                <a:latin typeface="Arial" charset="0"/>
                <a:cs typeface="Arial" charset="0"/>
              </a:rPr>
              <a:t>E-mail </a:t>
            </a:r>
            <a:r>
              <a:rPr lang="en-US" dirty="0" smtClean="0">
                <a:latin typeface="Arial" charset="0"/>
                <a:cs typeface="Arial" charset="0"/>
                <a:hlinkClick r:id="rId2"/>
              </a:rPr>
              <a:t>suzan.reagan@state.nm.us</a:t>
            </a:r>
            <a:endParaRPr lang="en-US" dirty="0" smtClean="0">
              <a:latin typeface="Arial" charset="0"/>
              <a:cs typeface="Arial" charset="0"/>
            </a:endParaRPr>
          </a:p>
          <a:p>
            <a:r>
              <a:rPr lang="en-US" dirty="0" smtClean="0">
                <a:latin typeface="Arial" charset="0"/>
                <a:cs typeface="Arial" charset="0"/>
              </a:rPr>
              <a:t>Phone (505) 383-2731</a:t>
            </a:r>
          </a:p>
          <a:p>
            <a:r>
              <a:rPr lang="en-US" dirty="0" smtClean="0">
                <a:latin typeface="Arial" charset="0"/>
                <a:cs typeface="Arial" charset="0"/>
              </a:rPr>
              <a:t>Ashley Leach , Phone (505) 383-2737</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LMI info-201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LMI info-2011</Template>
  <TotalTime>5362</TotalTime>
  <Words>3065</Words>
  <Application>Microsoft Office PowerPoint</Application>
  <PresentationFormat>On-screen Show (4:3)</PresentationFormat>
  <Paragraphs>581</Paragraphs>
  <Slides>47</Slides>
  <Notes>43</Notes>
  <HiddenSlides>0</HiddenSlides>
  <MMClips>0</MMClips>
  <ScaleCrop>false</ScaleCrop>
  <HeadingPairs>
    <vt:vector size="8" baseType="variant">
      <vt:variant>
        <vt:lpstr>Theme</vt:lpstr>
      </vt:variant>
      <vt:variant>
        <vt:i4>2</vt:i4>
      </vt:variant>
      <vt:variant>
        <vt:lpstr>Embedded OLE Servers</vt:lpstr>
      </vt:variant>
      <vt:variant>
        <vt:i4>2</vt:i4>
      </vt:variant>
      <vt:variant>
        <vt:lpstr>Slide Titles</vt:lpstr>
      </vt:variant>
      <vt:variant>
        <vt:i4>47</vt:i4>
      </vt:variant>
      <vt:variant>
        <vt:lpstr>Custom Shows</vt:lpstr>
      </vt:variant>
      <vt:variant>
        <vt:i4>3</vt:i4>
      </vt:variant>
    </vt:vector>
  </HeadingPairs>
  <TitlesOfParts>
    <vt:vector size="54" baseType="lpstr">
      <vt:lpstr>LMI info-2011</vt:lpstr>
      <vt:lpstr>1_Custom Design</vt:lpstr>
      <vt:lpstr>Microsoft Office Excel 97-2003 Worksheet</vt:lpstr>
      <vt:lpstr>Worksheet</vt:lpstr>
      <vt:lpstr>The Great Recession</vt:lpstr>
      <vt:lpstr>Labor Market Information</vt:lpstr>
      <vt:lpstr>Agenda</vt:lpstr>
      <vt:lpstr>The Great Recession</vt:lpstr>
      <vt:lpstr>Housing</vt:lpstr>
      <vt:lpstr>Oil Rig</vt:lpstr>
      <vt:lpstr>Manufacturing</vt:lpstr>
      <vt:lpstr>US Retail Sales</vt:lpstr>
      <vt:lpstr>NM vs. US Employment</vt:lpstr>
      <vt:lpstr>How BAD?</vt:lpstr>
      <vt:lpstr>NM Industries Change</vt:lpstr>
      <vt:lpstr>Central  Area Industry Change</vt:lpstr>
      <vt:lpstr>Eastern  Area Industry Change</vt:lpstr>
      <vt:lpstr>Northern Area Industry Change</vt:lpstr>
      <vt:lpstr>Southwestern  Area Industry Change</vt:lpstr>
      <vt:lpstr>NM Employment Industry Mix</vt:lpstr>
      <vt:lpstr>The Great Recession Ended July 2009?</vt:lpstr>
      <vt:lpstr>Current Employment Situation</vt:lpstr>
      <vt:lpstr>What about… </vt:lpstr>
      <vt:lpstr>County Unemployment Rates</vt:lpstr>
      <vt:lpstr>NM UI Continued Claims Duration</vt:lpstr>
      <vt:lpstr>US Unemployment Rates for  Men and Women</vt:lpstr>
      <vt:lpstr>New Mexico Unemployment Rate by Age</vt:lpstr>
      <vt:lpstr>New Mexico 2010 Unemployment Rate</vt:lpstr>
      <vt:lpstr>2010 Census Population by County</vt:lpstr>
      <vt:lpstr>National Trends – projected population by age</vt:lpstr>
      <vt:lpstr>NM Population Projections by Age</vt:lpstr>
      <vt:lpstr>NM Employment Projections</vt:lpstr>
      <vt:lpstr>NM Job Recovery</vt:lpstr>
      <vt:lpstr>Slide 30</vt:lpstr>
      <vt:lpstr>Tigger Slide</vt:lpstr>
      <vt:lpstr>Occupations</vt:lpstr>
      <vt:lpstr>O*NET / SOC  2010  Code Structure</vt:lpstr>
      <vt:lpstr>NM Occupational Category Employment 2009</vt:lpstr>
      <vt:lpstr>NM Occupational Group  Annual Average Percent Change  2009-2019</vt:lpstr>
      <vt:lpstr>Occupational Employment  by Education Needed</vt:lpstr>
      <vt:lpstr>10 Occupations with the  Highest Employment In New Mexico</vt:lpstr>
      <vt:lpstr>NM Occupations, Most Annual Openings</vt:lpstr>
      <vt:lpstr>Highest Growth Jobs in NM</vt:lpstr>
      <vt:lpstr>NM Occupations – High Wage &amp; Growth</vt:lpstr>
      <vt:lpstr>Show me the money!</vt:lpstr>
      <vt:lpstr>Lowest Paying Jobs in New Mexico</vt:lpstr>
      <vt:lpstr>The Top 15 NM Occupations in Decline 2009-2019</vt:lpstr>
      <vt:lpstr>Detailed job profile for over 800 occupations </vt:lpstr>
      <vt:lpstr>Tools for LMI</vt:lpstr>
      <vt:lpstr>Education Pays</vt:lpstr>
      <vt:lpstr>Thank You!</vt:lpstr>
      <vt:lpstr>p20council</vt:lpstr>
      <vt:lpstr>Area Offices</vt:lpstr>
      <vt:lpstr>Recession Story</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 Market Information</dc:title>
  <dc:creator>ER&amp;A</dc:creator>
  <cp:lastModifiedBy>ER&amp;A</cp:lastModifiedBy>
  <cp:revision>500</cp:revision>
  <dcterms:created xsi:type="dcterms:W3CDTF">2011-08-11T15:35:24Z</dcterms:created>
  <dcterms:modified xsi:type="dcterms:W3CDTF">2012-03-22T14:35:28Z</dcterms:modified>
</cp:coreProperties>
</file>