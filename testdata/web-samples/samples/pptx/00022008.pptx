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4" r:id="rId1"/>
  </p:sldMasterIdLst>
  <p:notesMasterIdLst>
    <p:notesMasterId r:id="rId15"/>
  </p:notesMasterIdLst>
  <p:handoutMasterIdLst>
    <p:handoutMasterId r:id="rId16"/>
  </p:handoutMasterIdLst>
  <p:sldIdLst>
    <p:sldId id="256" r:id="rId2"/>
    <p:sldId id="313" r:id="rId3"/>
    <p:sldId id="304" r:id="rId4"/>
    <p:sldId id="305" r:id="rId5"/>
    <p:sldId id="297" r:id="rId6"/>
    <p:sldId id="310" r:id="rId7"/>
    <p:sldId id="312" r:id="rId8"/>
    <p:sldId id="306" r:id="rId9"/>
    <p:sldId id="307" r:id="rId10"/>
    <p:sldId id="303" r:id="rId11"/>
    <p:sldId id="308" r:id="rId12"/>
    <p:sldId id="311" r:id="rId13"/>
    <p:sldId id="309" r:id="rId14"/>
  </p:sldIdLst>
  <p:sldSz cx="9144000" cy="6858000" type="letter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3015" autoAdjust="0"/>
    <p:restoredTop sz="94316" autoAdjust="0"/>
  </p:normalViewPr>
  <p:slideViewPr>
    <p:cSldViewPr>
      <p:cViewPr varScale="1">
        <p:scale>
          <a:sx n="107" d="100"/>
          <a:sy n="107" d="100"/>
        </p:scale>
        <p:origin x="-17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7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782" y="-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5139"/>
          </a:xfrm>
          <a:prstGeom prst="rect">
            <a:avLst/>
          </a:prstGeom>
        </p:spPr>
        <p:txBody>
          <a:bodyPr vert="horz" lIns="91432" tIns="45717" rIns="91432" bIns="45717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465139"/>
          </a:xfrm>
          <a:prstGeom prst="rect">
            <a:avLst/>
          </a:prstGeom>
        </p:spPr>
        <p:txBody>
          <a:bodyPr vert="horz" lIns="91432" tIns="45717" rIns="91432" bIns="45717" rtlCol="0"/>
          <a:lstStyle>
            <a:lvl1pPr algn="r">
              <a:defRPr sz="1300"/>
            </a:lvl1pPr>
          </a:lstStyle>
          <a:p>
            <a:fld id="{45457373-AC54-4476-B4D8-54DB86832FB5}" type="datetimeFigureOut">
              <a:rPr lang="en-US" smtClean="0"/>
              <a:pPr/>
              <a:t>10/3/2012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9"/>
          </a:xfrm>
          <a:prstGeom prst="rect">
            <a:avLst/>
          </a:prstGeom>
        </p:spPr>
        <p:txBody>
          <a:bodyPr vert="horz" lIns="91432" tIns="45717" rIns="91432" bIns="45717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8829675"/>
            <a:ext cx="3038475" cy="465139"/>
          </a:xfrm>
          <a:prstGeom prst="rect">
            <a:avLst/>
          </a:prstGeom>
        </p:spPr>
        <p:txBody>
          <a:bodyPr vert="horz" lIns="91432" tIns="45717" rIns="91432" bIns="45717" rtlCol="0" anchor="b"/>
          <a:lstStyle>
            <a:lvl1pPr algn="r">
              <a:defRPr sz="1300"/>
            </a:lvl1pPr>
          </a:lstStyle>
          <a:p>
            <a:fld id="{F62713FB-A294-48F3-A05F-1CEA6E83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90958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39" tIns="46568" rIns="93139" bIns="4656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3139" tIns="46568" rIns="93139" bIns="46568" rtlCol="0"/>
          <a:lstStyle>
            <a:lvl1pPr algn="r">
              <a:defRPr sz="1300"/>
            </a:lvl1pPr>
          </a:lstStyle>
          <a:p>
            <a:fld id="{8AEEC4B0-8785-400F-B819-6EC47873A75E}" type="datetimeFigureOut">
              <a:rPr lang="en-US" smtClean="0"/>
              <a:pPr/>
              <a:t>10/3/2012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9" tIns="46568" rIns="93139" bIns="4656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3139" tIns="46568" rIns="93139" bIns="4656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8"/>
            <a:ext cx="3037840" cy="464820"/>
          </a:xfrm>
          <a:prstGeom prst="rect">
            <a:avLst/>
          </a:prstGeom>
        </p:spPr>
        <p:txBody>
          <a:bodyPr vert="horz" lIns="93139" tIns="46568" rIns="93139" bIns="4656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4820"/>
          </a:xfrm>
          <a:prstGeom prst="rect">
            <a:avLst/>
          </a:prstGeom>
        </p:spPr>
        <p:txBody>
          <a:bodyPr vert="horz" lIns="93139" tIns="46568" rIns="93139" bIns="46568" rtlCol="0" anchor="b"/>
          <a:lstStyle>
            <a:lvl1pPr algn="r">
              <a:defRPr sz="1300"/>
            </a:lvl1pPr>
          </a:lstStyle>
          <a:p>
            <a:fld id="{04F12A2F-FFE9-4D42-B5CD-33FE44653F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7248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12A2F-FFE9-4D42-B5CD-33FE44653FE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633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12A2F-FFE9-4D42-B5CD-33FE44653FE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63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latin typeface="+mj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1B5E8EB-5EB6-406C-A7A3-629DAECE0F37}" type="datetime1">
              <a:rPr lang="en-US" smtClean="0"/>
              <a:pPr/>
              <a:t>10/3/2012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40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MPA Worldwide Research &amp; Analysis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524000" y="6629400"/>
            <a:ext cx="914400" cy="914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2" y="2743202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5"/>
          <p:cNvSpPr txBox="1">
            <a:spLocks/>
          </p:cNvSpPr>
          <p:nvPr/>
        </p:nvSpPr>
        <p:spPr>
          <a:xfrm>
            <a:off x="609602" y="6400800"/>
            <a:ext cx="3860799" cy="285750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U.S. National Opinion Tracking: December 2010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MPAA3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1000" y="6290998"/>
            <a:ext cx="673483" cy="376501"/>
          </a:xfrm>
          <a:prstGeom prst="rect">
            <a:avLst/>
          </a:prstGeom>
        </p:spPr>
      </p:pic>
      <p:sp>
        <p:nvSpPr>
          <p:cNvPr id="11" name="Footer Placeholder 5"/>
          <p:cNvSpPr txBox="1">
            <a:spLocks/>
          </p:cNvSpPr>
          <p:nvPr/>
        </p:nvSpPr>
        <p:spPr>
          <a:xfrm>
            <a:off x="4114800" y="6400800"/>
            <a:ext cx="3860799" cy="285750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1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2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B49A837B-A54D-4FE5-A0B1-A28684CD1EEC}" type="datetime1">
              <a:rPr lang="en-US" smtClean="0"/>
              <a:pPr/>
              <a:t>10/3/2012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1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gi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28575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914400"/>
            <a:ext cx="8156448" cy="5212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57150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49" y="571500"/>
            <a:ext cx="8553451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57150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5"/>
          <p:cNvSpPr txBox="1">
            <a:spLocks/>
          </p:cNvSpPr>
          <p:nvPr/>
        </p:nvSpPr>
        <p:spPr>
          <a:xfrm>
            <a:off x="609602" y="6400800"/>
            <a:ext cx="4257672" cy="285750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ENFORCEMENT IN THE ENTERTAINMENT INDUSTRIES	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MPAA3.gi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001000" y="6290998"/>
            <a:ext cx="673483" cy="376501"/>
          </a:xfrm>
          <a:prstGeom prst="rect">
            <a:avLst/>
          </a:prstGeom>
        </p:spPr>
      </p:pic>
      <p:sp>
        <p:nvSpPr>
          <p:cNvPr id="11" name="Footer Placeholder 5"/>
          <p:cNvSpPr txBox="1">
            <a:spLocks/>
          </p:cNvSpPr>
          <p:nvPr/>
        </p:nvSpPr>
        <p:spPr>
          <a:xfrm>
            <a:off x="4114800" y="6400800"/>
            <a:ext cx="3860799" cy="285750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8509000" cy="54864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3100" dirty="0" smtClean="0">
                <a:solidFill>
                  <a:schemeClr val="tx1"/>
                </a:solidFill>
              </a:rPr>
              <a:t/>
            </a:r>
            <a:br>
              <a:rPr lang="en-US" sz="3100" dirty="0" smtClean="0">
                <a:solidFill>
                  <a:schemeClr val="tx1"/>
                </a:solidFill>
              </a:rPr>
            </a:br>
            <a:r>
              <a:rPr lang="en-US" sz="3100" dirty="0" smtClean="0">
                <a:solidFill>
                  <a:schemeClr val="tx1"/>
                </a:solidFill>
              </a:rPr>
              <a:t>ENFORCEMENT ISSUES IN THE ENTERTAINMENT industries</a:t>
            </a:r>
            <a:br>
              <a:rPr lang="en-US" sz="3100" dirty="0" smtClean="0">
                <a:solidFill>
                  <a:schemeClr val="tx1"/>
                </a:solidFill>
              </a:rPr>
            </a:br>
            <a:r>
              <a:rPr lang="en-US" sz="3100" dirty="0" smtClean="0">
                <a:solidFill>
                  <a:schemeClr val="tx1"/>
                </a:solidFill>
              </a:rPr>
              <a:t/>
            </a:r>
            <a:br>
              <a:rPr lang="en-US" sz="3100" dirty="0" smtClean="0">
                <a:solidFill>
                  <a:schemeClr val="tx1"/>
                </a:solidFill>
              </a:rPr>
            </a:br>
            <a:r>
              <a:rPr lang="en-US" sz="2800" dirty="0" err="1" smtClean="0">
                <a:solidFill>
                  <a:schemeClr val="tx1"/>
                </a:solidFill>
              </a:rPr>
              <a:t>karen</a:t>
            </a:r>
            <a:r>
              <a:rPr lang="en-US" sz="2800" dirty="0" smtClean="0">
                <a:solidFill>
                  <a:schemeClr val="tx1"/>
                </a:solidFill>
              </a:rPr>
              <a:t> r. </a:t>
            </a:r>
            <a:r>
              <a:rPr lang="en-US" sz="2800" dirty="0" err="1" smtClean="0">
                <a:solidFill>
                  <a:schemeClr val="tx1"/>
                </a:solidFill>
              </a:rPr>
              <a:t>thorland</a:t>
            </a:r>
            <a:r>
              <a:rPr lang="en-US" sz="2700" dirty="0" smtClean="0">
                <a:solidFill>
                  <a:schemeClr val="tx1"/>
                </a:solidFill>
              </a:rPr>
              <a:t/>
            </a:r>
            <a:br>
              <a:rPr lang="en-US" sz="2700" dirty="0" smtClean="0">
                <a:solidFill>
                  <a:schemeClr val="tx1"/>
                </a:solidFill>
              </a:rPr>
            </a:br>
            <a:r>
              <a:rPr lang="en-US" sz="2700" dirty="0" smtClean="0">
                <a:solidFill>
                  <a:schemeClr val="tx1"/>
                </a:solidFill>
              </a:rPr>
              <a:t/>
            </a:r>
            <a:br>
              <a:rPr lang="en-US" sz="27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/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2700" dirty="0" smtClean="0">
                <a:solidFill>
                  <a:schemeClr val="tx1"/>
                </a:solidFill>
              </a:rPr>
              <a:t>October 4, 2012</a:t>
            </a:r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MOTION PICTURE ASSOCIATION OF AMERICA</a:t>
            </a:r>
          </a:p>
        </p:txBody>
      </p:sp>
      <p:pic>
        <p:nvPicPr>
          <p:cNvPr id="6" name="Picture 5" descr="MPAA3-inverse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6096000"/>
            <a:ext cx="1062038" cy="593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MOTION PICTURE ASSOCIATION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33401" y="1447800"/>
            <a:ext cx="8077200" cy="4648200"/>
            <a:chOff x="428625" y="1524000"/>
            <a:chExt cx="8410575" cy="4419600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2" cstate="print">
              <a:biLevel thresh="75000"/>
            </a:blip>
            <a:srcRect/>
            <a:stretch>
              <a:fillRect/>
            </a:stretch>
          </p:blipFill>
          <p:spPr bwMode="auto">
            <a:xfrm>
              <a:off x="3407801" y="3886200"/>
              <a:ext cx="2466975" cy="2047875"/>
            </a:xfrm>
            <a:prstGeom prst="rect">
              <a:avLst/>
            </a:prstGeom>
            <a:noFill/>
            <a:ln w="76200">
              <a:solidFill>
                <a:srgbClr val="FFFFFF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Rectangle 49"/>
            <p:cNvSpPr>
              <a:spLocks noChangeArrowheads="1"/>
            </p:cNvSpPr>
            <p:nvPr/>
          </p:nvSpPr>
          <p:spPr bwMode="auto">
            <a:xfrm>
              <a:off x="3552825" y="4151672"/>
              <a:ext cx="2133600" cy="1182328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2" cstate="print">
              <a:biLevel thresh="75000"/>
            </a:blip>
            <a:srcRect/>
            <a:stretch>
              <a:fillRect/>
            </a:stretch>
          </p:blipFill>
          <p:spPr bwMode="auto">
            <a:xfrm>
              <a:off x="428625" y="1533525"/>
              <a:ext cx="2466975" cy="2047875"/>
            </a:xfrm>
            <a:prstGeom prst="rect">
              <a:avLst/>
            </a:prstGeom>
            <a:noFill/>
            <a:ln w="76200">
              <a:solidFill>
                <a:srgbClr val="FFFFFF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Picture 2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3242"/>
            <a:stretch>
              <a:fillRect/>
            </a:stretch>
          </p:blipFill>
          <p:spPr bwMode="auto">
            <a:xfrm>
              <a:off x="563817" y="1782096"/>
              <a:ext cx="2133600" cy="998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tangle 23"/>
            <p:cNvSpPr>
              <a:spLocks noChangeArrowheads="1"/>
            </p:cNvSpPr>
            <p:nvPr/>
          </p:nvSpPr>
          <p:spPr bwMode="auto">
            <a:xfrm>
              <a:off x="428625" y="2828925"/>
              <a:ext cx="2438400" cy="5303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100307" tIns="49273" rIns="100307" bIns="49273">
              <a:spAutoFit/>
            </a:bodyPr>
            <a:lstStyle/>
            <a:p>
              <a:pPr algn="ctr" defTabSz="1014413" eaLnBrk="0" hangingPunct="0"/>
              <a:r>
                <a:rPr lang="en-US" altLang="zh-TW" sz="1400" b="1" dirty="0" smtClean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Walt Disney Studios</a:t>
              </a:r>
            </a:p>
            <a:p>
              <a:pPr algn="ctr" defTabSz="1014413" eaLnBrk="0" hangingPunct="0"/>
              <a:r>
                <a:rPr lang="en-US" altLang="zh-TW" sz="1400" b="1" dirty="0" smtClean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Motion Pictures</a:t>
              </a:r>
              <a:endParaRPr lang="en-US" altLang="zh-TW" sz="1400" b="1" dirty="0">
                <a:solidFill>
                  <a:schemeClr val="bg1"/>
                </a:solidFill>
                <a:latin typeface="Calibri" pitchFamily="34" charset="0"/>
                <a:ea typeface="新細明體" pitchFamily="18" charset="-120"/>
              </a:endParaRPr>
            </a:p>
          </p:txBody>
        </p:sp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2" cstate="print">
              <a:biLevel thresh="75000"/>
            </a:blip>
            <a:srcRect/>
            <a:stretch>
              <a:fillRect/>
            </a:stretch>
          </p:blipFill>
          <p:spPr bwMode="auto">
            <a:xfrm>
              <a:off x="3371850" y="1524000"/>
              <a:ext cx="2466975" cy="2047875"/>
            </a:xfrm>
            <a:prstGeom prst="rect">
              <a:avLst/>
            </a:prstGeom>
            <a:noFill/>
            <a:ln w="76200">
              <a:solidFill>
                <a:srgbClr val="FFFFFF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0537" y="1752600"/>
              <a:ext cx="2133600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3400424" y="2848896"/>
              <a:ext cx="2438401" cy="5303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100307" tIns="49273" rIns="100307" bIns="49273">
              <a:spAutoFit/>
            </a:bodyPr>
            <a:lstStyle/>
            <a:p>
              <a:pPr algn="ctr" defTabSz="1014413" eaLnBrk="0" hangingPunct="0"/>
              <a:r>
                <a:rPr lang="en-US" altLang="zh-TW" sz="1400" b="1" dirty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Paramount Pictures Corporation</a:t>
              </a:r>
            </a:p>
          </p:txBody>
        </p:sp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2" cstate="print">
              <a:biLevel thresh="75000"/>
            </a:blip>
            <a:srcRect/>
            <a:stretch>
              <a:fillRect/>
            </a:stretch>
          </p:blipFill>
          <p:spPr bwMode="auto">
            <a:xfrm>
              <a:off x="6372225" y="1533525"/>
              <a:ext cx="2466975" cy="2047875"/>
            </a:xfrm>
            <a:prstGeom prst="rect">
              <a:avLst/>
            </a:prstGeom>
            <a:noFill/>
            <a:ln w="76200">
              <a:solidFill>
                <a:srgbClr val="FFFFFF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6" name="Picture 3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1497" y="1752600"/>
              <a:ext cx="2099184" cy="1165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Rectangle 33"/>
            <p:cNvSpPr>
              <a:spLocks noChangeArrowheads="1"/>
            </p:cNvSpPr>
            <p:nvPr/>
          </p:nvSpPr>
          <p:spPr bwMode="auto">
            <a:xfrm>
              <a:off x="6372225" y="2971800"/>
              <a:ext cx="2438400" cy="2994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100307" tIns="49273" rIns="100307" bIns="49273">
              <a:spAutoFit/>
            </a:bodyPr>
            <a:lstStyle/>
            <a:p>
              <a:pPr algn="ctr" defTabSz="1014413" eaLnBrk="0" hangingPunct="0">
                <a:spcBef>
                  <a:spcPct val="20000"/>
                </a:spcBef>
              </a:pPr>
              <a:r>
                <a:rPr lang="en-US" altLang="zh-TW" sz="1400" b="1" dirty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Universal </a:t>
              </a:r>
              <a:r>
                <a:rPr lang="en-US" altLang="zh-TW" sz="1400" b="1" dirty="0" smtClean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City Studios LLC</a:t>
              </a:r>
              <a:endParaRPr lang="en-US" altLang="zh-TW" sz="1400" b="1" dirty="0">
                <a:solidFill>
                  <a:schemeClr val="bg1"/>
                </a:solidFill>
                <a:latin typeface="Calibri" pitchFamily="34" charset="0"/>
                <a:ea typeface="新細明體" pitchFamily="18" charset="-120"/>
              </a:endParaRPr>
            </a:p>
          </p:txBody>
        </p:sp>
        <p:pic>
          <p:nvPicPr>
            <p:cNvPr id="18" name="Picture 5"/>
            <p:cNvPicPr>
              <a:picLocks noChangeAspect="1" noChangeArrowheads="1"/>
            </p:cNvPicPr>
            <p:nvPr/>
          </p:nvPicPr>
          <p:blipFill>
            <a:blip r:embed="rId2" cstate="print">
              <a:biLevel thresh="75000"/>
            </a:blip>
            <a:srcRect/>
            <a:stretch>
              <a:fillRect/>
            </a:stretch>
          </p:blipFill>
          <p:spPr bwMode="auto">
            <a:xfrm>
              <a:off x="428625" y="3886200"/>
              <a:ext cx="2466975" cy="2047875"/>
            </a:xfrm>
            <a:prstGeom prst="rect">
              <a:avLst/>
            </a:prstGeom>
            <a:noFill/>
            <a:ln w="76200">
              <a:solidFill>
                <a:srgbClr val="FFFFFF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Rectangle 42"/>
            <p:cNvSpPr>
              <a:spLocks noChangeArrowheads="1"/>
            </p:cNvSpPr>
            <p:nvPr/>
          </p:nvSpPr>
          <p:spPr bwMode="auto">
            <a:xfrm>
              <a:off x="428625" y="5266876"/>
              <a:ext cx="2438400" cy="5303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100307" tIns="49273" rIns="100307" bIns="49273">
              <a:spAutoFit/>
            </a:bodyPr>
            <a:lstStyle/>
            <a:p>
              <a:pPr algn="ctr" defTabSz="1014413" eaLnBrk="0" hangingPunct="0"/>
              <a:r>
                <a:rPr lang="en-US" altLang="zh-TW" sz="1400" b="1" dirty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Warner </a:t>
              </a:r>
              <a:r>
                <a:rPr lang="en-US" altLang="zh-TW" sz="1400" b="1" dirty="0" smtClean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Bros.</a:t>
              </a:r>
            </a:p>
            <a:p>
              <a:pPr algn="ctr" defTabSz="1014413" eaLnBrk="0" hangingPunct="0"/>
              <a:r>
                <a:rPr lang="en-US" altLang="zh-TW" sz="1400" b="1" dirty="0" smtClean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Entertainment Inc.</a:t>
              </a:r>
              <a:endParaRPr lang="en-US" altLang="zh-TW" sz="1400" b="1" dirty="0">
                <a:solidFill>
                  <a:schemeClr val="bg1"/>
                </a:solidFill>
                <a:latin typeface="Calibri" pitchFamily="34" charset="0"/>
                <a:ea typeface="新細明體" pitchFamily="18" charset="-120"/>
              </a:endParaRPr>
            </a:p>
          </p:txBody>
        </p:sp>
        <p:pic>
          <p:nvPicPr>
            <p:cNvPr id="20" name="Picture 50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277953" y="4193456"/>
              <a:ext cx="695632" cy="1093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51"/>
            <p:cNvSpPr>
              <a:spLocks noChangeArrowheads="1"/>
            </p:cNvSpPr>
            <p:nvPr/>
          </p:nvSpPr>
          <p:spPr bwMode="auto">
            <a:xfrm>
              <a:off x="3410257" y="5264869"/>
              <a:ext cx="2438400" cy="5303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100307" tIns="49273" rIns="100307" bIns="49273">
              <a:spAutoFit/>
            </a:bodyPr>
            <a:lstStyle/>
            <a:p>
              <a:pPr algn="ctr" defTabSz="1014413"/>
              <a:r>
                <a:rPr lang="en-US" altLang="zh-CN" sz="1400" b="1" dirty="0">
                  <a:solidFill>
                    <a:schemeClr val="bg1"/>
                  </a:solidFill>
                  <a:latin typeface="Calibri" pitchFamily="34" charset="0"/>
                  <a:ea typeface="MS PGothic" pitchFamily="34" charset="-128"/>
                </a:rPr>
                <a:t>Sony </a:t>
              </a:r>
              <a:r>
                <a:rPr lang="en-US" altLang="zh-CN" sz="1400" b="1" dirty="0" smtClean="0">
                  <a:solidFill>
                    <a:schemeClr val="bg1"/>
                  </a:solidFill>
                  <a:latin typeface="Calibri" pitchFamily="34" charset="0"/>
                  <a:ea typeface="MS PGothic" pitchFamily="34" charset="-128"/>
                </a:rPr>
                <a:t>Pictures</a:t>
              </a:r>
            </a:p>
            <a:p>
              <a:pPr algn="ctr" defTabSz="1014413"/>
              <a:r>
                <a:rPr lang="en-US" altLang="zh-CN" sz="1400" b="1" dirty="0" smtClean="0">
                  <a:solidFill>
                    <a:schemeClr val="bg1"/>
                  </a:solidFill>
                  <a:latin typeface="Calibri" pitchFamily="34" charset="0"/>
                  <a:ea typeface="MS PGothic" pitchFamily="34" charset="-128"/>
                </a:rPr>
                <a:t>Entertainment Inc</a:t>
              </a:r>
              <a:endParaRPr lang="en-US" altLang="zh-CN" sz="1400" b="1" dirty="0">
                <a:solidFill>
                  <a:schemeClr val="bg1"/>
                </a:solidFill>
                <a:latin typeface="Calibri" pitchFamily="34" charset="0"/>
                <a:ea typeface="MS PGothic" pitchFamily="34" charset="-128"/>
              </a:endParaRPr>
            </a:p>
          </p:txBody>
        </p:sp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2" cstate="print">
              <a:biLevel thresh="75000"/>
            </a:blip>
            <a:srcRect/>
            <a:stretch>
              <a:fillRect/>
            </a:stretch>
          </p:blipFill>
          <p:spPr bwMode="auto">
            <a:xfrm>
              <a:off x="6372225" y="3895725"/>
              <a:ext cx="2466975" cy="2047875"/>
            </a:xfrm>
            <a:prstGeom prst="rect">
              <a:avLst/>
            </a:prstGeom>
            <a:noFill/>
            <a:ln w="76200">
              <a:solidFill>
                <a:srgbClr val="FFFFFF"/>
              </a:solidFill>
              <a:miter lim="800000"/>
              <a:headEnd/>
              <a:tailEnd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5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524625" y="4114800"/>
              <a:ext cx="2133600" cy="1165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Rectangle 60"/>
            <p:cNvSpPr>
              <a:spLocks noChangeArrowheads="1"/>
            </p:cNvSpPr>
            <p:nvPr/>
          </p:nvSpPr>
          <p:spPr bwMode="auto">
            <a:xfrm>
              <a:off x="6399213" y="5264869"/>
              <a:ext cx="241141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TW" sz="1400" b="1" dirty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Twentieth Century </a:t>
              </a:r>
              <a:r>
                <a:rPr lang="en-US" altLang="zh-TW" sz="1400" b="1" dirty="0" smtClean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Fox</a:t>
              </a:r>
            </a:p>
            <a:p>
              <a:pPr algn="ctr" eaLnBrk="0" hangingPunct="0"/>
              <a:r>
                <a:rPr lang="en-US" altLang="zh-TW" sz="1400" b="1" dirty="0" smtClean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Film  </a:t>
              </a:r>
              <a:r>
                <a:rPr lang="en-US" altLang="zh-TW" sz="1400" b="1" dirty="0">
                  <a:solidFill>
                    <a:schemeClr val="bg1"/>
                  </a:solidFill>
                  <a:latin typeface="Calibri" pitchFamily="34" charset="0"/>
                  <a:ea typeface="新細明體" pitchFamily="18" charset="-120"/>
                </a:rPr>
                <a:t>Corporation</a:t>
              </a:r>
            </a:p>
          </p:txBody>
        </p:sp>
        <p:sp>
          <p:nvSpPr>
            <p:cNvPr id="25" name="Rectangle 49"/>
            <p:cNvSpPr>
              <a:spLocks noChangeArrowheads="1"/>
            </p:cNvSpPr>
            <p:nvPr/>
          </p:nvSpPr>
          <p:spPr bwMode="auto">
            <a:xfrm>
              <a:off x="595312" y="4114800"/>
              <a:ext cx="2133600" cy="1182328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6" name="Picture 41" descr="Warner Bros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885825" y="4114800"/>
              <a:ext cx="1552575" cy="1181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29173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381000" y="3163568"/>
            <a:ext cx="8229600" cy="2932432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Numerous copyright infringement actions against DVD sellers.</a:t>
            </a:r>
          </a:p>
          <a:p>
            <a:r>
              <a:rPr lang="en-US" dirty="0" smtClean="0"/>
              <a:t>Relief obtained has included:</a:t>
            </a:r>
          </a:p>
          <a:p>
            <a:pPr lvl="1"/>
            <a:r>
              <a:rPr lang="en-US" dirty="0" smtClean="0"/>
              <a:t>Orders to immediately stop selling DVDS</a:t>
            </a:r>
          </a:p>
          <a:p>
            <a:pPr lvl="1"/>
            <a:r>
              <a:rPr lang="en-US" dirty="0" smtClean="0"/>
              <a:t>Damages typically ranging from $5,000 to $25,000 USD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PAST CIVIL LITIGATION BY ENTERTAINMENT INDUSTRY</a:t>
            </a:r>
            <a:endParaRPr lang="en-US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338835" y="878402"/>
            <a:ext cx="2914650" cy="2352675"/>
            <a:chOff x="304800" y="3469926"/>
            <a:chExt cx="2914650" cy="2655570"/>
          </a:xfrm>
        </p:grpSpPr>
        <p:sp>
          <p:nvSpPr>
            <p:cNvPr id="7" name="Rectangle 6"/>
            <p:cNvSpPr>
              <a:spLocks noChangeAspect="1"/>
            </p:cNvSpPr>
            <p:nvPr/>
          </p:nvSpPr>
          <p:spPr>
            <a:xfrm>
              <a:off x="304800" y="3469926"/>
              <a:ext cx="2914650" cy="2655570"/>
            </a:xfrm>
            <a:prstGeom prst="rect">
              <a:avLst/>
            </a:prstGeom>
            <a:gradFill>
              <a:gsLst>
                <a:gs pos="51000">
                  <a:srgbClr val="000099"/>
                </a:gs>
                <a:gs pos="83000">
                  <a:srgbClr val="FFC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5715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991" y="3687096"/>
              <a:ext cx="2458859" cy="1905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" name="Group 167"/>
            <p:cNvGrpSpPr>
              <a:grpSpLocks noChangeAspect="1"/>
            </p:cNvGrpSpPr>
            <p:nvPr/>
          </p:nvGrpSpPr>
          <p:grpSpPr bwMode="auto">
            <a:xfrm>
              <a:off x="757485" y="5001041"/>
              <a:ext cx="2007869" cy="613966"/>
              <a:chOff x="720" y="2665"/>
              <a:chExt cx="1488" cy="455"/>
            </a:xfrm>
          </p:grpSpPr>
          <p:pic>
            <p:nvPicPr>
              <p:cNvPr id="11" name="Picture 131" descr="DVD_Logo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0" y="2732"/>
                <a:ext cx="496" cy="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2" name="Picture 133" descr="VCD logotype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35" y="2665"/>
                <a:ext cx="477" cy="4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3" name="Picture 135" descr="blu-ray-logo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1750" y="2780"/>
                <a:ext cx="45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0" name="AutoShape 139"/>
            <p:cNvSpPr>
              <a:spLocks noChangeAspect="1" noChangeArrowheads="1"/>
            </p:cNvSpPr>
            <p:nvPr/>
          </p:nvSpPr>
          <p:spPr bwMode="auto">
            <a:xfrm>
              <a:off x="358140" y="5595906"/>
              <a:ext cx="2785110" cy="453390"/>
            </a:xfrm>
            <a:prstGeom prst="roundRect">
              <a:avLst>
                <a:gd name="adj" fmla="val 17500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 dirty="0" smtClean="0">
                  <a:ln>
                    <a:solidFill>
                      <a:srgbClr val="000099"/>
                    </a:solidFill>
                  </a:ln>
                  <a:solidFill>
                    <a:srgbClr val="000099"/>
                  </a:solidFill>
                  <a:latin typeface="Calibri" pitchFamily="34" charset="0"/>
                  <a:ea typeface="宋体" pitchFamily="2" charset="-122"/>
                </a:rPr>
                <a:t>HARD </a:t>
              </a:r>
              <a:r>
                <a:rPr lang="en-US" altLang="zh-CN" b="1" dirty="0">
                  <a:ln>
                    <a:solidFill>
                      <a:srgbClr val="000099"/>
                    </a:solidFill>
                  </a:ln>
                  <a:solidFill>
                    <a:srgbClr val="000099"/>
                  </a:solidFill>
                  <a:latin typeface="Calibri" pitchFamily="34" charset="0"/>
                  <a:ea typeface="宋体" pitchFamily="2" charset="-122"/>
                </a:rPr>
                <a:t>GOODS </a:t>
              </a:r>
              <a:r>
                <a:rPr lang="en-US" altLang="zh-CN" b="1" dirty="0" smtClean="0">
                  <a:ln>
                    <a:solidFill>
                      <a:srgbClr val="000099"/>
                    </a:solidFill>
                  </a:ln>
                  <a:solidFill>
                    <a:srgbClr val="000099"/>
                  </a:solidFill>
                  <a:latin typeface="Calibri" pitchFamily="34" charset="0"/>
                  <a:ea typeface="宋体" pitchFamily="2" charset="-122"/>
                </a:rPr>
                <a:t>THEFT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660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533400" y="3200400"/>
            <a:ext cx="8153400" cy="30480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Rightsholders have had past litigation successes against pirate sites.</a:t>
            </a:r>
          </a:p>
          <a:p>
            <a:r>
              <a:rPr lang="en-US" sz="2400" b="1" dirty="0" smtClean="0"/>
              <a:t>Typically injunctive relief has not been obtained, despite availability.</a:t>
            </a:r>
          </a:p>
          <a:p>
            <a:r>
              <a:rPr lang="en-US" sz="2400" b="1" dirty="0" smtClean="0"/>
              <a:t>Damages do not always compensate for the costs of litigation or serve to deter piracy.</a:t>
            </a:r>
          </a:p>
          <a:p>
            <a:endParaRPr lang="en-US" sz="2000" dirty="0"/>
          </a:p>
          <a:p>
            <a:endParaRPr lang="en-US" sz="20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PAST CIVIL LITIGATION BY ENTERTAINMENT INDUSTRY</a:t>
            </a:r>
            <a:endParaRPr lang="en-US" sz="24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188090" y="884420"/>
            <a:ext cx="2290661" cy="2228850"/>
            <a:chOff x="5345674" y="3469926"/>
            <a:chExt cx="2914650" cy="2655570"/>
          </a:xfrm>
        </p:grpSpPr>
        <p:sp>
          <p:nvSpPr>
            <p:cNvPr id="15" name="Rectangle 14"/>
            <p:cNvSpPr>
              <a:spLocks noChangeAspect="1"/>
            </p:cNvSpPr>
            <p:nvPr/>
          </p:nvSpPr>
          <p:spPr>
            <a:xfrm>
              <a:off x="5345674" y="3469926"/>
              <a:ext cx="2914650" cy="2655570"/>
            </a:xfrm>
            <a:prstGeom prst="rect">
              <a:avLst/>
            </a:prstGeom>
            <a:gradFill>
              <a:gsLst>
                <a:gs pos="51000">
                  <a:srgbClr val="000099"/>
                </a:gs>
                <a:gs pos="83000">
                  <a:srgbClr val="FFC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57150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16" name="Picture 165" descr="Picture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593080" y="3687096"/>
              <a:ext cx="2655570" cy="16209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AutoShape 140"/>
            <p:cNvSpPr>
              <a:spLocks noChangeAspect="1" noChangeArrowheads="1"/>
            </p:cNvSpPr>
            <p:nvPr/>
          </p:nvSpPr>
          <p:spPr bwMode="auto">
            <a:xfrm>
              <a:off x="5488242" y="5439696"/>
              <a:ext cx="2720340" cy="518160"/>
            </a:xfrm>
            <a:prstGeom prst="roundRect">
              <a:avLst>
                <a:gd name="adj" fmla="val 17500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 dirty="0" smtClean="0">
                  <a:ln>
                    <a:solidFill>
                      <a:srgbClr val="000099"/>
                    </a:solidFill>
                  </a:ln>
                  <a:solidFill>
                    <a:srgbClr val="000099"/>
                  </a:solidFill>
                  <a:latin typeface="Calibri" pitchFamily="34" charset="0"/>
                  <a:ea typeface="宋体" pitchFamily="2" charset="-122"/>
                </a:rPr>
                <a:t>ONLINE </a:t>
              </a:r>
            </a:p>
            <a:p>
              <a:pPr algn="ctr"/>
              <a:r>
                <a:rPr lang="en-US" altLang="zh-CN" b="1" dirty="0" smtClean="0">
                  <a:ln>
                    <a:solidFill>
                      <a:srgbClr val="000099"/>
                    </a:solidFill>
                  </a:ln>
                  <a:solidFill>
                    <a:srgbClr val="000099"/>
                  </a:solidFill>
                  <a:latin typeface="Calibri" pitchFamily="34" charset="0"/>
                  <a:ea typeface="宋体" pitchFamily="2" charset="-122"/>
                </a:rPr>
                <a:t>CONTENT THEFT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895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0" y="1108364"/>
            <a:ext cx="6820959" cy="14478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1499" y="228600"/>
            <a:ext cx="8153400" cy="285750"/>
          </a:xfrm>
        </p:spPr>
        <p:txBody>
          <a:bodyPr>
            <a:noAutofit/>
          </a:bodyPr>
          <a:lstStyle/>
          <a:p>
            <a:r>
              <a:rPr lang="en-US" sz="2400" dirty="0" smtClean="0"/>
              <a:t>PAST CIVIL LITIGATION BY ENTERTAINMENT INDUSTRY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81000" y="373380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CCAF0A"/>
              </a:buClr>
              <a:buFont typeface="Arial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  <a:p>
            <a:pPr lvl="0">
              <a:buClr>
                <a:srgbClr val="CCAF0A"/>
              </a:buClr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7145" y="373380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CCAF0A"/>
              </a:buClr>
              <a:buFont typeface="Arial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  <a:p>
            <a:pPr lvl="0">
              <a:buClr>
                <a:srgbClr val="CCAF0A"/>
              </a:buClr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" y="2590800"/>
            <a:ext cx="8534399" cy="367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700"/>
              </a:spcBef>
              <a:buClr>
                <a:srgbClr val="CCAF0A"/>
              </a:buClr>
              <a:buSzPct val="60000"/>
            </a:pPr>
            <a:r>
              <a:rPr lang="en-US" sz="2200" b="1" dirty="0" smtClean="0">
                <a:solidFill>
                  <a:prstClr val="black"/>
                </a:solidFill>
              </a:rPr>
              <a:t>Sohu.com</a:t>
            </a:r>
            <a:endParaRPr lang="en-US" sz="2200" b="1" dirty="0">
              <a:solidFill>
                <a:prstClr val="black"/>
              </a:solidFill>
            </a:endParaRPr>
          </a:p>
          <a:p>
            <a:pPr marL="320040" lvl="0" indent="-320040">
              <a:spcBef>
                <a:spcPts val="700"/>
              </a:spcBef>
              <a:buClr>
                <a:srgbClr val="CCAF0A"/>
              </a:buClr>
              <a:buSzPct val="60000"/>
              <a:buFont typeface="Wingdings"/>
              <a:buChar char=""/>
            </a:pPr>
            <a:r>
              <a:rPr lang="en-US" sz="2200" b="1" dirty="0" smtClean="0">
                <a:solidFill>
                  <a:prstClr val="black"/>
                </a:solidFill>
              </a:rPr>
              <a:t>Provided registered users with paid download (pay-per-month) of movies without authorization from studios.</a:t>
            </a:r>
            <a:endParaRPr lang="en-US" sz="2200" b="1" dirty="0">
              <a:solidFill>
                <a:prstClr val="black"/>
              </a:solidFill>
            </a:endParaRPr>
          </a:p>
          <a:p>
            <a:pPr marL="320040" lvl="0" indent="-320040">
              <a:spcBef>
                <a:spcPts val="700"/>
              </a:spcBef>
              <a:buClr>
                <a:srgbClr val="CCAF0A"/>
              </a:buClr>
              <a:buSzPct val="60000"/>
              <a:buFont typeface="Wingdings"/>
              <a:buChar char=""/>
            </a:pPr>
            <a:r>
              <a:rPr lang="en-US" sz="2200" b="1" dirty="0" smtClean="0">
                <a:solidFill>
                  <a:prstClr val="black"/>
                </a:solidFill>
              </a:rPr>
              <a:t>In 2006, the studios sued </a:t>
            </a:r>
            <a:r>
              <a:rPr lang="en-US" sz="2200" b="1" dirty="0" err="1" smtClean="0">
                <a:solidFill>
                  <a:prstClr val="black"/>
                </a:solidFill>
              </a:rPr>
              <a:t>Sohu</a:t>
            </a:r>
            <a:r>
              <a:rPr lang="en-US" sz="2200" b="1" dirty="0">
                <a:solidFill>
                  <a:prstClr val="black"/>
                </a:solidFill>
              </a:rPr>
              <a:t> </a:t>
            </a:r>
            <a:r>
              <a:rPr lang="en-US" sz="2200" b="1" dirty="0" smtClean="0">
                <a:solidFill>
                  <a:prstClr val="black"/>
                </a:solidFill>
              </a:rPr>
              <a:t>for copyright infringement and obtain a judgment.</a:t>
            </a:r>
          </a:p>
          <a:p>
            <a:pPr marL="777240" lvl="1" indent="-320040">
              <a:spcBef>
                <a:spcPts val="700"/>
              </a:spcBef>
              <a:buClr>
                <a:srgbClr val="CCAF0A"/>
              </a:buClr>
              <a:buSzPct val="60000"/>
              <a:buFont typeface="Wingdings"/>
              <a:buChar char=""/>
            </a:pPr>
            <a:r>
              <a:rPr lang="en-US" sz="2200" b="1" dirty="0">
                <a:solidFill>
                  <a:prstClr val="black"/>
                </a:solidFill>
              </a:rPr>
              <a:t>O</a:t>
            </a:r>
            <a:r>
              <a:rPr lang="en-US" sz="2200" b="1" dirty="0" smtClean="0">
                <a:solidFill>
                  <a:prstClr val="black"/>
                </a:solidFill>
              </a:rPr>
              <a:t>rdered to stop infringement of studios’ right of communication.</a:t>
            </a:r>
          </a:p>
          <a:p>
            <a:pPr marL="777240" lvl="1" indent="-320040">
              <a:spcBef>
                <a:spcPts val="700"/>
              </a:spcBef>
              <a:buClr>
                <a:srgbClr val="CCAF0A"/>
              </a:buClr>
              <a:buSzPct val="60000"/>
              <a:buFont typeface="Wingdings"/>
              <a:buChar char=""/>
            </a:pPr>
            <a:r>
              <a:rPr lang="en-US" sz="2200" b="1" dirty="0">
                <a:solidFill>
                  <a:prstClr val="black"/>
                </a:solidFill>
              </a:rPr>
              <a:t>O</a:t>
            </a:r>
            <a:r>
              <a:rPr lang="en-US" sz="2200" b="1" dirty="0" smtClean="0">
                <a:solidFill>
                  <a:prstClr val="black"/>
                </a:solidFill>
              </a:rPr>
              <a:t>rdered to apologize to plaintiffs.</a:t>
            </a:r>
          </a:p>
          <a:p>
            <a:pPr marL="777240" lvl="1" indent="-320040">
              <a:spcBef>
                <a:spcPts val="700"/>
              </a:spcBef>
              <a:buClr>
                <a:srgbClr val="CCAF0A"/>
              </a:buClr>
              <a:buSzPct val="60000"/>
              <a:buFont typeface="Wingdings"/>
              <a:buChar char=""/>
            </a:pPr>
            <a:r>
              <a:rPr lang="en-US" sz="2200" b="1" dirty="0" smtClean="0">
                <a:solidFill>
                  <a:prstClr val="black"/>
                </a:solidFill>
              </a:rPr>
              <a:t>Ordered to pay approximately $138,000 in damages.</a:t>
            </a:r>
          </a:p>
          <a:p>
            <a:pPr marL="777240" lvl="1" indent="-320040">
              <a:spcBef>
                <a:spcPts val="700"/>
              </a:spcBef>
              <a:buClr>
                <a:srgbClr val="CCAF0A"/>
              </a:buClr>
              <a:buSzPct val="60000"/>
              <a:buFont typeface="Wingdings"/>
              <a:buChar char=""/>
            </a:pPr>
            <a:endParaRPr lang="en-US" sz="2200" b="1" dirty="0">
              <a:solidFill>
                <a:prstClr val="black"/>
              </a:solidFill>
            </a:endParaRPr>
          </a:p>
        </p:txBody>
      </p:sp>
      <p:pic>
        <p:nvPicPr>
          <p:cNvPr id="1026" name="Picture 2" descr="https://encrypted-tbn1.gstatic.com/images?q=tbn:ANd9GcTCPZAdVY_WSu_10hYkxkJPotjoDcH0QyuPnxv5HAwR8NsOGGLoa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244" y="228600"/>
            <a:ext cx="991219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1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 smtClean="0"/>
              <a:t>Under current law/regulations, video hosting platforms are required to remove infringing content immediately once a takedown notice is issued.</a:t>
            </a:r>
          </a:p>
          <a:p>
            <a:pPr lvl="1"/>
            <a:r>
              <a:rPr lang="en-US" b="1" dirty="0" smtClean="0"/>
              <a:t>Notice sending requires that rightsholders search for their content on these sites.</a:t>
            </a:r>
          </a:p>
          <a:p>
            <a:pPr lvl="1"/>
            <a:r>
              <a:rPr lang="en-US" b="1" dirty="0" smtClean="0"/>
              <a:t>Once notices are sent, rightsholders must then monitor the sites for compliance.</a:t>
            </a:r>
          </a:p>
          <a:p>
            <a:pPr lvl="1"/>
            <a:r>
              <a:rPr lang="en-US" b="1" dirty="0" smtClean="0"/>
              <a:t>If monitoring shows that content is not removed civil litigation may follow.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ENFORCEMENT ACTIONS BY INDUSTRY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34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The online piracy landscape has greatly changed in recent years with the Chinese </a:t>
            </a:r>
            <a:r>
              <a:rPr lang="en-US" sz="3200" b="1" dirty="0" smtClean="0"/>
              <a:t>government </a:t>
            </a:r>
            <a:r>
              <a:rPr lang="en-US" sz="3200" b="1" dirty="0"/>
              <a:t>initiating a number of measures, including strengthened legislation, to curtail online piracy.</a:t>
            </a:r>
          </a:p>
          <a:p>
            <a:r>
              <a:rPr lang="en-US" sz="3200" b="1" dirty="0"/>
              <a:t>Strong government enforcement </a:t>
            </a:r>
            <a:r>
              <a:rPr lang="en-US" sz="3200" b="1" dirty="0" smtClean="0"/>
              <a:t>actions by the NCAC in recent years have resulted in a reduction in the volume of infringing content on video hosting platforms.</a:t>
            </a:r>
          </a:p>
          <a:p>
            <a:pPr marL="0" indent="0">
              <a:buNone/>
            </a:pPr>
            <a:endParaRPr lang="en-US" sz="3200" b="1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GOVERNMENT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87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>
            <a:norm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2800" b="1" dirty="0" smtClean="0"/>
              <a:t>Migration of piracy from video hosting sites to hybrid streaming “rogue” sites using P2P technology are growing immensely in popularity and are difficult to enforce against.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sz="2800" b="1" dirty="0" smtClean="0"/>
              <a:t>Second-tier </a:t>
            </a:r>
            <a:r>
              <a:rPr lang="en-US" sz="2800" b="1" dirty="0"/>
              <a:t>UGC sites are becoming more popular locations for unauthorized </a:t>
            </a:r>
            <a:r>
              <a:rPr lang="en-US" sz="2800" b="1" dirty="0" smtClean="0"/>
              <a:t>content.</a:t>
            </a:r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sz="2800" b="1" dirty="0" smtClean="0"/>
              <a:t>Growth </a:t>
            </a:r>
            <a:r>
              <a:rPr lang="en-US" sz="2800" b="1" dirty="0"/>
              <a:t>of Internet TV and related </a:t>
            </a:r>
            <a:r>
              <a:rPr lang="en-US" sz="2800" b="1" dirty="0" smtClean="0"/>
              <a:t>devices brings new means of infringement. </a:t>
            </a:r>
            <a:endParaRPr lang="en-US" sz="2800" b="1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CHALLENGES REMAIN – THE LANDSCAPE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64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153400" cy="4876800"/>
          </a:xfrm>
        </p:spPr>
        <p:txBody>
          <a:bodyPr>
            <a:normAutofit/>
          </a:bodyPr>
          <a:lstStyle/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b="1" dirty="0" smtClean="0"/>
              <a:t>As in other countries, the copyright law </a:t>
            </a:r>
            <a:r>
              <a:rPr lang="en-US" b="1" dirty="0"/>
              <a:t>struggles to keep pace with the rapid developments in media technology and changes in consumer </a:t>
            </a:r>
            <a:r>
              <a:rPr lang="en-US" b="1" dirty="0" smtClean="0"/>
              <a:t>trends.</a:t>
            </a:r>
            <a:endParaRPr lang="en-US" b="1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endParaRPr lang="en-US" b="1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b="1" dirty="0" smtClean="0"/>
              <a:t>Some legal </a:t>
            </a:r>
            <a:r>
              <a:rPr lang="en-US" b="1" dirty="0"/>
              <a:t>uncertainty remains, particularly in key issues such as liability, burdens of proof and </a:t>
            </a:r>
            <a:r>
              <a:rPr lang="en-US" b="1" dirty="0" smtClean="0"/>
              <a:t>fault.</a:t>
            </a:r>
            <a:endParaRPr lang="en-US" b="1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endParaRPr lang="en-US" b="1" dirty="0"/>
          </a:p>
          <a:p>
            <a:pPr marL="342900" lvl="1" indent="-342900" defTabSz="7556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b="1" dirty="0"/>
              <a:t>Bringing litigation can also be unnecessarily difficult and often results in high costs to the rights owner but low penalties to the </a:t>
            </a:r>
            <a:r>
              <a:rPr lang="en-US" b="1" dirty="0" smtClean="0"/>
              <a:t>infringers.</a:t>
            </a:r>
            <a:endParaRPr lang="en-US" b="1" dirty="0"/>
          </a:p>
          <a:p>
            <a:pPr marL="617220" lvl="2" indent="-342900" defTabSz="75565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</a:pPr>
            <a:r>
              <a:rPr lang="en-US" b="1" dirty="0" smtClean="0"/>
              <a:t>Damages awards may be a cost of doing business for some sites.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CHALLENGES REMAIN – THE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9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285750"/>
          </a:xfrm>
        </p:spPr>
        <p:txBody>
          <a:bodyPr>
            <a:noAutofit/>
          </a:bodyPr>
          <a:lstStyle/>
          <a:p>
            <a:r>
              <a:rPr lang="en-US" sz="2400" dirty="0" smtClean="0"/>
              <a:t>XUNLEI – AN EXAMPLE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66800"/>
            <a:ext cx="4748110" cy="281940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913909"/>
            <a:ext cx="6735876" cy="2383295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23821">
            <a:off x="4921122" y="1848213"/>
            <a:ext cx="4126805" cy="66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5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153400" cy="487680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b="1" dirty="0" smtClean="0"/>
              <a:t>Proposed overhaul of the Copyright Law makes a number of important improvements.</a:t>
            </a:r>
          </a:p>
          <a:p>
            <a:r>
              <a:rPr lang="en-US" sz="2400" b="1" dirty="0" smtClean="0"/>
              <a:t>As with all legal systems, the impact of any amendments on content theft will depend on not only the adoption of these changes but also the implementation of the measures.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400" b="1" dirty="0" smtClean="0"/>
              <a:t>There are new opportunities for rightsholders to form alliances with the Chinese government to work together towards a common goal of reducing Internet piracy and reinforce the laws which regulate online activities.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400" b="1" dirty="0" smtClean="0"/>
              <a:t>Enforcement efforts, such as notice sending notices and litigation, are not a solution to content theft alone and need to be coupled with continued cooperative efforts with government and stake holders in China (including technology companies, entertainment distributors and rightsholders).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SOLUTIONS?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59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153400" cy="4876800"/>
          </a:xfrm>
        </p:spPr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400" b="1" dirty="0" smtClean="0"/>
              <a:t>Some specific goals include: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en-US" sz="2400" b="1" dirty="0"/>
              <a:t>C</a:t>
            </a:r>
            <a:r>
              <a:rPr lang="en-US" sz="2400" b="1" dirty="0" smtClean="0"/>
              <a:t>ivil </a:t>
            </a:r>
            <a:r>
              <a:rPr lang="en-US" sz="2400" b="1" dirty="0"/>
              <a:t>compensation standards </a:t>
            </a:r>
            <a:r>
              <a:rPr lang="en-US" sz="2400" b="1" dirty="0" smtClean="0"/>
              <a:t>that take into </a:t>
            </a:r>
            <a:r>
              <a:rPr lang="en-US" sz="2400" b="1" dirty="0"/>
              <a:t>consideration the popularity, production costs, box office takings of the </a:t>
            </a:r>
            <a:r>
              <a:rPr lang="en-US" sz="2400" b="1" dirty="0" smtClean="0"/>
              <a:t>film, </a:t>
            </a:r>
            <a:r>
              <a:rPr lang="en-US" sz="2400" b="1" dirty="0"/>
              <a:t>and the release date, duration and scope of the infringing </a:t>
            </a:r>
            <a:r>
              <a:rPr lang="en-US" sz="2400" b="1" dirty="0" smtClean="0"/>
              <a:t>act, </a:t>
            </a:r>
            <a:r>
              <a:rPr lang="en-US" sz="2400" b="1" dirty="0"/>
              <a:t>as well as the infringer’s business scope and illegal gain from the </a:t>
            </a:r>
            <a:r>
              <a:rPr lang="en-US" sz="2400" b="1" dirty="0" smtClean="0"/>
              <a:t>infringement (i.e., </a:t>
            </a:r>
            <a:r>
              <a:rPr lang="en-US" sz="2400" b="1" dirty="0"/>
              <a:t>not just </a:t>
            </a:r>
            <a:r>
              <a:rPr lang="en-US" sz="2400" b="1" dirty="0" smtClean="0"/>
              <a:t> the actual </a:t>
            </a:r>
            <a:r>
              <a:rPr lang="en-US" sz="2400" b="1" dirty="0"/>
              <a:t>loss of the </a:t>
            </a:r>
            <a:r>
              <a:rPr lang="en-US" sz="2400" b="1" dirty="0" smtClean="0"/>
              <a:t>rights </a:t>
            </a:r>
            <a:r>
              <a:rPr lang="en-US" sz="2400" b="1" dirty="0"/>
              <a:t>owner and the illegal income of the </a:t>
            </a:r>
            <a:r>
              <a:rPr lang="en-US" sz="2400" b="1" dirty="0" smtClean="0"/>
              <a:t>infringer, which can be hard to calculate).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en-US" sz="2400" b="1" dirty="0" smtClean="0"/>
              <a:t>Less cumbersome evidence collection tools are need so that more works can be included in claims.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en-US" sz="2400" b="1" dirty="0" smtClean="0"/>
              <a:t>Provide preliminary relief in the form of injunctions where warranted</a:t>
            </a:r>
            <a:r>
              <a:rPr lang="en-US" sz="2100" b="1" dirty="0" smtClean="0"/>
              <a:t>. 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sz="2400" b="1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SOLUTIONS?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78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153400" cy="48768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8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urvey Them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27079</TotalTime>
  <Words>706</Words>
  <Application>Microsoft Office PowerPoint</Application>
  <PresentationFormat>Letter Paper (8.5x11 in)</PresentationFormat>
  <Paragraphs>78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Survey Theme</vt:lpstr>
      <vt:lpstr> ENFORCEMENT ISSUES IN THE ENTERTAINMENT industries  karen r. thorland   October 4, 2012</vt:lpstr>
      <vt:lpstr>THE MOTION PICTURE ASSOCIATION</vt:lpstr>
      <vt:lpstr>PAST CIVIL LITIGATION BY ENTERTAINMENT INDUSTRY</vt:lpstr>
      <vt:lpstr>PAST CIVIL LITIGATION BY ENTERTAINMENT INDUSTRY</vt:lpstr>
      <vt:lpstr>PAST CIVIL LITIGATION BY ENTERTAINMENT INDUSTRY</vt:lpstr>
      <vt:lpstr>OTHER ENFORCEMENT ACTIONS BY INDUSTRY</vt:lpstr>
      <vt:lpstr>GOVERNMENT ACTION</vt:lpstr>
      <vt:lpstr>CHALLENGES REMAIN – THE LANDSCAPE</vt:lpstr>
      <vt:lpstr>CHALLENGES REMAIN – THE LAW</vt:lpstr>
      <vt:lpstr>XUNLEI – AN EXAMPLE</vt:lpstr>
      <vt:lpstr>SOLUTIONS?</vt:lpstr>
      <vt:lpstr>SOLUTIONS?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Ben</dc:creator>
  <cp:lastModifiedBy>llee</cp:lastModifiedBy>
  <cp:revision>1839</cp:revision>
  <cp:lastPrinted>2012-03-19T16:55:34Z</cp:lastPrinted>
  <dcterms:created xsi:type="dcterms:W3CDTF">2006-08-16T00:00:00Z</dcterms:created>
  <dcterms:modified xsi:type="dcterms:W3CDTF">2012-10-03T17:41:39Z</dcterms:modified>
</cp:coreProperties>
</file>