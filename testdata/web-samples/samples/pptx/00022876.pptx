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tiff" ContentType="image/tif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99" r:id="rId2"/>
    <p:sldId id="300" r:id="rId3"/>
    <p:sldId id="314" r:id="rId4"/>
    <p:sldId id="315" r:id="rId5"/>
    <p:sldId id="316" r:id="rId6"/>
    <p:sldId id="317" r:id="rId7"/>
    <p:sldId id="325" r:id="rId8"/>
    <p:sldId id="256" r:id="rId9"/>
    <p:sldId id="257" r:id="rId10"/>
    <p:sldId id="319" r:id="rId11"/>
    <p:sldId id="332"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327" r:id="rId25"/>
    <p:sldId id="337" r:id="rId26"/>
    <p:sldId id="341" r:id="rId27"/>
    <p:sldId id="328" r:id="rId28"/>
    <p:sldId id="334" r:id="rId29"/>
    <p:sldId id="340" r:id="rId30"/>
    <p:sldId id="342" r:id="rId31"/>
    <p:sldId id="330" r:id="rId32"/>
    <p:sldId id="336" r:id="rId33"/>
    <p:sldId id="339" r:id="rId34"/>
    <p:sldId id="331" r:id="rId35"/>
    <p:sldId id="343" r:id="rId36"/>
    <p:sldId id="344" r:id="rId37"/>
    <p:sldId id="345" r:id="rId38"/>
    <p:sldId id="34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14" autoAdjust="0"/>
    <p:restoredTop sz="94660"/>
  </p:normalViewPr>
  <p:slideViewPr>
    <p:cSldViewPr>
      <p:cViewPr varScale="1">
        <p:scale>
          <a:sx n="103" d="100"/>
          <a:sy n="103" d="100"/>
        </p:scale>
        <p:origin x="-1158"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jwoberly\Desktop\Copy%20of%20Cc205-266.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Documents%20and%20Settings\jwoberly\Desktop\Copy%20of%20Cc205-266.xls"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x val="9.2531615366261075E-2"/>
          <c:y val="8.5418235764007713E-2"/>
          <c:w val="0.8628867016622922"/>
          <c:h val="0.76551691455234749"/>
        </c:manualLayout>
      </c:layout>
      <c:lineChart>
        <c:grouping val="standard"/>
        <c:ser>
          <c:idx val="0"/>
          <c:order val="0"/>
          <c:marker>
            <c:symbol val="none"/>
          </c:marker>
          <c:cat>
            <c:strRef>
              <c:f>'Cc205-266'!$A$7:$A$64</c:f>
              <c:strCache>
                <c:ptCount val="58"/>
                <c:pt idx="0">
                  <c:v>1804</c:v>
                </c:pt>
                <c:pt idx="1">
                  <c:v>1805</c:v>
                </c:pt>
                <c:pt idx="2">
                  <c:v>1806</c:v>
                </c:pt>
                <c:pt idx="3">
                  <c:v>1807</c:v>
                </c:pt>
                <c:pt idx="4">
                  <c:v>1808</c:v>
                </c:pt>
                <c:pt idx="5">
                  <c:v>1809</c:v>
                </c:pt>
                <c:pt idx="6">
                  <c:v>1810</c:v>
                </c:pt>
                <c:pt idx="7">
                  <c:v>1811</c:v>
                </c:pt>
                <c:pt idx="8">
                  <c:v>1812</c:v>
                </c:pt>
                <c:pt idx="9">
                  <c:v>1813</c:v>
                </c:pt>
                <c:pt idx="10">
                  <c:v>1814</c:v>
                </c:pt>
                <c:pt idx="11">
                  <c:v>1815</c:v>
                </c:pt>
                <c:pt idx="12">
                  <c:v>1816</c:v>
                </c:pt>
                <c:pt idx="13">
                  <c:v>1817</c:v>
                </c:pt>
                <c:pt idx="14">
                  <c:v>1818</c:v>
                </c:pt>
                <c:pt idx="15">
                  <c:v>1819</c:v>
                </c:pt>
                <c:pt idx="16">
                  <c:v>1820</c:v>
                </c:pt>
                <c:pt idx="17">
                  <c:v>1821</c:v>
                </c:pt>
                <c:pt idx="18">
                  <c:v>1822</c:v>
                </c:pt>
                <c:pt idx="19">
                  <c:v>1823</c:v>
                </c:pt>
                <c:pt idx="20">
                  <c:v>1824</c:v>
                </c:pt>
                <c:pt idx="21">
                  <c:v>1825</c:v>
                </c:pt>
                <c:pt idx="22">
                  <c:v>1826</c:v>
                </c:pt>
                <c:pt idx="23">
                  <c:v>1827</c:v>
                </c:pt>
                <c:pt idx="24">
                  <c:v>1828</c:v>
                </c:pt>
                <c:pt idx="25">
                  <c:v>1829</c:v>
                </c:pt>
                <c:pt idx="26">
                  <c:v>1830</c:v>
                </c:pt>
                <c:pt idx="27">
                  <c:v>1831</c:v>
                </c:pt>
                <c:pt idx="28">
                  <c:v>1832</c:v>
                </c:pt>
                <c:pt idx="29">
                  <c:v>1833</c:v>
                </c:pt>
                <c:pt idx="30">
                  <c:v>1834</c:v>
                </c:pt>
                <c:pt idx="31">
                  <c:v>1835</c:v>
                </c:pt>
                <c:pt idx="32">
                  <c:v>1836</c:v>
                </c:pt>
                <c:pt idx="33">
                  <c:v>1837</c:v>
                </c:pt>
                <c:pt idx="34">
                  <c:v>1838</c:v>
                </c:pt>
                <c:pt idx="35">
                  <c:v>1839</c:v>
                </c:pt>
                <c:pt idx="36">
                  <c:v>1840</c:v>
                </c:pt>
                <c:pt idx="37">
                  <c:v>1841</c:v>
                </c:pt>
                <c:pt idx="38">
                  <c:v>1842</c:v>
                </c:pt>
                <c:pt idx="39">
                  <c:v>1843</c:v>
                </c:pt>
                <c:pt idx="40">
                  <c:v>1844</c:v>
                </c:pt>
                <c:pt idx="41">
                  <c:v>1845</c:v>
                </c:pt>
                <c:pt idx="42">
                  <c:v>1846</c:v>
                </c:pt>
                <c:pt idx="43">
                  <c:v>1847</c:v>
                </c:pt>
                <c:pt idx="44">
                  <c:v>1848</c:v>
                </c:pt>
                <c:pt idx="45">
                  <c:v>1849</c:v>
                </c:pt>
                <c:pt idx="46">
                  <c:v>1850</c:v>
                </c:pt>
                <c:pt idx="47">
                  <c:v>1851</c:v>
                </c:pt>
                <c:pt idx="48">
                  <c:v>1852</c:v>
                </c:pt>
                <c:pt idx="49">
                  <c:v>1853</c:v>
                </c:pt>
                <c:pt idx="50">
                  <c:v>1854</c:v>
                </c:pt>
                <c:pt idx="51">
                  <c:v>1855</c:v>
                </c:pt>
                <c:pt idx="52">
                  <c:v>1856</c:v>
                </c:pt>
                <c:pt idx="53">
                  <c:v>1857</c:v>
                </c:pt>
                <c:pt idx="54">
                  <c:v>1858</c:v>
                </c:pt>
                <c:pt idx="55">
                  <c:v>1859</c:v>
                </c:pt>
                <c:pt idx="56">
                  <c:v>1860</c:v>
                </c:pt>
                <c:pt idx="57">
                  <c:v>1861</c:v>
                </c:pt>
              </c:strCache>
            </c:strRef>
          </c:cat>
          <c:val>
            <c:numRef>
              <c:f>'Cc205-266'!$B$7:$B$64</c:f>
              <c:numCache>
                <c:formatCode>General</c:formatCode>
                <c:ptCount val="58"/>
                <c:pt idx="0">
                  <c:v>0.2</c:v>
                </c:pt>
                <c:pt idx="1">
                  <c:v>0.23</c:v>
                </c:pt>
                <c:pt idx="2">
                  <c:v>0.22000000000000006</c:v>
                </c:pt>
                <c:pt idx="3">
                  <c:v>0.22000000000000006</c:v>
                </c:pt>
                <c:pt idx="4">
                  <c:v>0.19000000000000006</c:v>
                </c:pt>
                <c:pt idx="5">
                  <c:v>0.16000000000000006</c:v>
                </c:pt>
                <c:pt idx="6">
                  <c:v>0.16000000000000006</c:v>
                </c:pt>
                <c:pt idx="7">
                  <c:v>0.16000000000000006</c:v>
                </c:pt>
                <c:pt idx="8">
                  <c:v>0.11000000000000003</c:v>
                </c:pt>
                <c:pt idx="9">
                  <c:v>0.13</c:v>
                </c:pt>
                <c:pt idx="10">
                  <c:v>0.15000000000000005</c:v>
                </c:pt>
                <c:pt idx="11">
                  <c:v>0.21000000000000005</c:v>
                </c:pt>
                <c:pt idx="12">
                  <c:v>0.3000000000000001</c:v>
                </c:pt>
                <c:pt idx="13">
                  <c:v>0.27</c:v>
                </c:pt>
                <c:pt idx="14">
                  <c:v>0.24000000000000005</c:v>
                </c:pt>
                <c:pt idx="15">
                  <c:v>0.24000000000000005</c:v>
                </c:pt>
                <c:pt idx="16">
                  <c:v>0.17</c:v>
                </c:pt>
                <c:pt idx="17">
                  <c:v>0.14000000000000001</c:v>
                </c:pt>
                <c:pt idx="18">
                  <c:v>0.14000000000000001</c:v>
                </c:pt>
                <c:pt idx="19">
                  <c:v>0.11000000000000003</c:v>
                </c:pt>
                <c:pt idx="20">
                  <c:v>0.15000000000000005</c:v>
                </c:pt>
                <c:pt idx="21">
                  <c:v>0.19000000000000006</c:v>
                </c:pt>
                <c:pt idx="22">
                  <c:v>0.12000000000000002</c:v>
                </c:pt>
                <c:pt idx="23">
                  <c:v>9.0000000000000038E-2</c:v>
                </c:pt>
                <c:pt idx="24">
                  <c:v>0.1</c:v>
                </c:pt>
                <c:pt idx="25">
                  <c:v>0.1</c:v>
                </c:pt>
                <c:pt idx="26">
                  <c:v>0.1</c:v>
                </c:pt>
                <c:pt idx="27">
                  <c:v>0.1</c:v>
                </c:pt>
                <c:pt idx="28">
                  <c:v>9.0000000000000038E-2</c:v>
                </c:pt>
                <c:pt idx="29">
                  <c:v>0.12000000000000002</c:v>
                </c:pt>
                <c:pt idx="30">
                  <c:v>0.13</c:v>
                </c:pt>
                <c:pt idx="31">
                  <c:v>0.18000000000000005</c:v>
                </c:pt>
                <c:pt idx="32">
                  <c:v>0.17</c:v>
                </c:pt>
                <c:pt idx="33">
                  <c:v>0.13</c:v>
                </c:pt>
                <c:pt idx="34">
                  <c:v>0.1</c:v>
                </c:pt>
                <c:pt idx="35">
                  <c:v>0.13</c:v>
                </c:pt>
                <c:pt idx="36">
                  <c:v>9.0000000000000038E-2</c:v>
                </c:pt>
                <c:pt idx="37">
                  <c:v>0.1</c:v>
                </c:pt>
                <c:pt idx="38">
                  <c:v>8.0000000000000029E-2</c:v>
                </c:pt>
                <c:pt idx="39">
                  <c:v>7.0000000000000034E-2</c:v>
                </c:pt>
                <c:pt idx="40">
                  <c:v>8.0000000000000029E-2</c:v>
                </c:pt>
                <c:pt idx="41">
                  <c:v>6.0000000000000019E-2</c:v>
                </c:pt>
                <c:pt idx="42">
                  <c:v>8.0000000000000029E-2</c:v>
                </c:pt>
                <c:pt idx="43">
                  <c:v>0.11000000000000003</c:v>
                </c:pt>
                <c:pt idx="44">
                  <c:v>8.0000000000000029E-2</c:v>
                </c:pt>
                <c:pt idx="45">
                  <c:v>8.0000000000000029E-2</c:v>
                </c:pt>
                <c:pt idx="46">
                  <c:v>0.12000000000000002</c:v>
                </c:pt>
                <c:pt idx="47">
                  <c:v>0.12000000000000002</c:v>
                </c:pt>
                <c:pt idx="48">
                  <c:v>0.1</c:v>
                </c:pt>
                <c:pt idx="49">
                  <c:v>0.11000000000000003</c:v>
                </c:pt>
                <c:pt idx="50">
                  <c:v>0.11000000000000003</c:v>
                </c:pt>
                <c:pt idx="51">
                  <c:v>0.1</c:v>
                </c:pt>
                <c:pt idx="52">
                  <c:v>0.1</c:v>
                </c:pt>
                <c:pt idx="53">
                  <c:v>0.14000000000000001</c:v>
                </c:pt>
                <c:pt idx="54">
                  <c:v>0.12000000000000002</c:v>
                </c:pt>
                <c:pt idx="55">
                  <c:v>0.12000000000000002</c:v>
                </c:pt>
                <c:pt idx="56">
                  <c:v>0.11000000000000003</c:v>
                </c:pt>
                <c:pt idx="57">
                  <c:v>0.13</c:v>
                </c:pt>
              </c:numCache>
            </c:numRef>
          </c:val>
        </c:ser>
        <c:marker val="1"/>
        <c:axId val="80862208"/>
        <c:axId val="81310464"/>
      </c:lineChart>
      <c:catAx>
        <c:axId val="80862208"/>
        <c:scaling>
          <c:orientation val="minMax"/>
        </c:scaling>
        <c:axPos val="b"/>
        <c:tickLblPos val="nextTo"/>
        <c:crossAx val="81310464"/>
        <c:crosses val="autoZero"/>
        <c:auto val="1"/>
        <c:lblAlgn val="ctr"/>
        <c:lblOffset val="100"/>
      </c:catAx>
      <c:valAx>
        <c:axId val="81310464"/>
        <c:scaling>
          <c:orientation val="minMax"/>
        </c:scaling>
        <c:axPos val="l"/>
        <c:majorGridlines/>
        <c:numFmt formatCode="General" sourceLinked="1"/>
        <c:tickLblPos val="nextTo"/>
        <c:crossAx val="80862208"/>
        <c:crosses val="autoZero"/>
        <c:crossBetween val="between"/>
      </c:valAx>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9.2531615366261116E-2"/>
          <c:y val="8.5418235764007713E-2"/>
          <c:w val="0.8628867016622922"/>
          <c:h val="0.76551691455234749"/>
        </c:manualLayout>
      </c:layout>
      <c:lineChart>
        <c:grouping val="standard"/>
        <c:ser>
          <c:idx val="0"/>
          <c:order val="0"/>
          <c:marker>
            <c:symbol val="none"/>
          </c:marker>
          <c:cat>
            <c:strRef>
              <c:f>'Cc205-266'!$A$7:$A$64</c:f>
              <c:strCache>
                <c:ptCount val="58"/>
                <c:pt idx="0">
                  <c:v>1804</c:v>
                </c:pt>
                <c:pt idx="1">
                  <c:v>1805</c:v>
                </c:pt>
                <c:pt idx="2">
                  <c:v>1806</c:v>
                </c:pt>
                <c:pt idx="3">
                  <c:v>1807</c:v>
                </c:pt>
                <c:pt idx="4">
                  <c:v>1808</c:v>
                </c:pt>
                <c:pt idx="5">
                  <c:v>1809</c:v>
                </c:pt>
                <c:pt idx="6">
                  <c:v>1810</c:v>
                </c:pt>
                <c:pt idx="7">
                  <c:v>1811</c:v>
                </c:pt>
                <c:pt idx="8">
                  <c:v>1812</c:v>
                </c:pt>
                <c:pt idx="9">
                  <c:v>1813</c:v>
                </c:pt>
                <c:pt idx="10">
                  <c:v>1814</c:v>
                </c:pt>
                <c:pt idx="11">
                  <c:v>1815</c:v>
                </c:pt>
                <c:pt idx="12">
                  <c:v>1816</c:v>
                </c:pt>
                <c:pt idx="13">
                  <c:v>1817</c:v>
                </c:pt>
                <c:pt idx="14">
                  <c:v>1818</c:v>
                </c:pt>
                <c:pt idx="15">
                  <c:v>1819</c:v>
                </c:pt>
                <c:pt idx="16">
                  <c:v>1820</c:v>
                </c:pt>
                <c:pt idx="17">
                  <c:v>1821</c:v>
                </c:pt>
                <c:pt idx="18">
                  <c:v>1822</c:v>
                </c:pt>
                <c:pt idx="19">
                  <c:v>1823</c:v>
                </c:pt>
                <c:pt idx="20">
                  <c:v>1824</c:v>
                </c:pt>
                <c:pt idx="21">
                  <c:v>1825</c:v>
                </c:pt>
                <c:pt idx="22">
                  <c:v>1826</c:v>
                </c:pt>
                <c:pt idx="23">
                  <c:v>1827</c:v>
                </c:pt>
                <c:pt idx="24">
                  <c:v>1828</c:v>
                </c:pt>
                <c:pt idx="25">
                  <c:v>1829</c:v>
                </c:pt>
                <c:pt idx="26">
                  <c:v>1830</c:v>
                </c:pt>
                <c:pt idx="27">
                  <c:v>1831</c:v>
                </c:pt>
                <c:pt idx="28">
                  <c:v>1832</c:v>
                </c:pt>
                <c:pt idx="29">
                  <c:v>1833</c:v>
                </c:pt>
                <c:pt idx="30">
                  <c:v>1834</c:v>
                </c:pt>
                <c:pt idx="31">
                  <c:v>1835</c:v>
                </c:pt>
                <c:pt idx="32">
                  <c:v>1836</c:v>
                </c:pt>
                <c:pt idx="33">
                  <c:v>1837</c:v>
                </c:pt>
                <c:pt idx="34">
                  <c:v>1838</c:v>
                </c:pt>
                <c:pt idx="35">
                  <c:v>1839</c:v>
                </c:pt>
                <c:pt idx="36">
                  <c:v>1840</c:v>
                </c:pt>
                <c:pt idx="37">
                  <c:v>1841</c:v>
                </c:pt>
                <c:pt idx="38">
                  <c:v>1842</c:v>
                </c:pt>
                <c:pt idx="39">
                  <c:v>1843</c:v>
                </c:pt>
                <c:pt idx="40">
                  <c:v>1844</c:v>
                </c:pt>
                <c:pt idx="41">
                  <c:v>1845</c:v>
                </c:pt>
                <c:pt idx="42">
                  <c:v>1846</c:v>
                </c:pt>
                <c:pt idx="43">
                  <c:v>1847</c:v>
                </c:pt>
                <c:pt idx="44">
                  <c:v>1848</c:v>
                </c:pt>
                <c:pt idx="45">
                  <c:v>1849</c:v>
                </c:pt>
                <c:pt idx="46">
                  <c:v>1850</c:v>
                </c:pt>
                <c:pt idx="47">
                  <c:v>1851</c:v>
                </c:pt>
                <c:pt idx="48">
                  <c:v>1852</c:v>
                </c:pt>
                <c:pt idx="49">
                  <c:v>1853</c:v>
                </c:pt>
                <c:pt idx="50">
                  <c:v>1854</c:v>
                </c:pt>
                <c:pt idx="51">
                  <c:v>1855</c:v>
                </c:pt>
                <c:pt idx="52">
                  <c:v>1856</c:v>
                </c:pt>
                <c:pt idx="53">
                  <c:v>1857</c:v>
                </c:pt>
                <c:pt idx="54">
                  <c:v>1858</c:v>
                </c:pt>
                <c:pt idx="55">
                  <c:v>1859</c:v>
                </c:pt>
                <c:pt idx="56">
                  <c:v>1860</c:v>
                </c:pt>
                <c:pt idx="57">
                  <c:v>1861</c:v>
                </c:pt>
              </c:strCache>
            </c:strRef>
          </c:cat>
          <c:val>
            <c:numRef>
              <c:f>'Cc205-266'!$B$7:$B$64</c:f>
              <c:numCache>
                <c:formatCode>General</c:formatCode>
                <c:ptCount val="58"/>
                <c:pt idx="0">
                  <c:v>0.2</c:v>
                </c:pt>
                <c:pt idx="1">
                  <c:v>0.23</c:v>
                </c:pt>
                <c:pt idx="2">
                  <c:v>0.22000000000000003</c:v>
                </c:pt>
                <c:pt idx="3">
                  <c:v>0.22000000000000003</c:v>
                </c:pt>
                <c:pt idx="4">
                  <c:v>0.19000000000000003</c:v>
                </c:pt>
                <c:pt idx="5">
                  <c:v>0.16000000000000003</c:v>
                </c:pt>
                <c:pt idx="6">
                  <c:v>0.16000000000000003</c:v>
                </c:pt>
                <c:pt idx="7">
                  <c:v>0.16000000000000003</c:v>
                </c:pt>
                <c:pt idx="8">
                  <c:v>0.11000000000000001</c:v>
                </c:pt>
                <c:pt idx="9">
                  <c:v>0.13</c:v>
                </c:pt>
                <c:pt idx="10">
                  <c:v>0.15000000000000011</c:v>
                </c:pt>
                <c:pt idx="11">
                  <c:v>0.2100000000000001</c:v>
                </c:pt>
                <c:pt idx="12">
                  <c:v>0.30000000000000021</c:v>
                </c:pt>
                <c:pt idx="13">
                  <c:v>0.27</c:v>
                </c:pt>
                <c:pt idx="14">
                  <c:v>0.2400000000000001</c:v>
                </c:pt>
                <c:pt idx="15">
                  <c:v>0.2400000000000001</c:v>
                </c:pt>
                <c:pt idx="16">
                  <c:v>0.17</c:v>
                </c:pt>
                <c:pt idx="17">
                  <c:v>0.14000000000000001</c:v>
                </c:pt>
                <c:pt idx="18">
                  <c:v>0.14000000000000001</c:v>
                </c:pt>
                <c:pt idx="19">
                  <c:v>0.11000000000000001</c:v>
                </c:pt>
                <c:pt idx="20">
                  <c:v>0.15000000000000011</c:v>
                </c:pt>
                <c:pt idx="21">
                  <c:v>0.19000000000000003</c:v>
                </c:pt>
                <c:pt idx="22">
                  <c:v>0.12000000000000002</c:v>
                </c:pt>
                <c:pt idx="23">
                  <c:v>9.0000000000000024E-2</c:v>
                </c:pt>
                <c:pt idx="24">
                  <c:v>0.1</c:v>
                </c:pt>
                <c:pt idx="25">
                  <c:v>0.1</c:v>
                </c:pt>
                <c:pt idx="26">
                  <c:v>0.1</c:v>
                </c:pt>
                <c:pt idx="27">
                  <c:v>0.1</c:v>
                </c:pt>
                <c:pt idx="28">
                  <c:v>9.0000000000000024E-2</c:v>
                </c:pt>
                <c:pt idx="29">
                  <c:v>0.12000000000000002</c:v>
                </c:pt>
                <c:pt idx="30">
                  <c:v>0.13</c:v>
                </c:pt>
                <c:pt idx="31">
                  <c:v>0.1800000000000001</c:v>
                </c:pt>
                <c:pt idx="32">
                  <c:v>0.17</c:v>
                </c:pt>
                <c:pt idx="33">
                  <c:v>0.13</c:v>
                </c:pt>
                <c:pt idx="34">
                  <c:v>0.1</c:v>
                </c:pt>
                <c:pt idx="35">
                  <c:v>0.13</c:v>
                </c:pt>
                <c:pt idx="36">
                  <c:v>9.0000000000000024E-2</c:v>
                </c:pt>
                <c:pt idx="37">
                  <c:v>0.1</c:v>
                </c:pt>
                <c:pt idx="38">
                  <c:v>8.0000000000000043E-2</c:v>
                </c:pt>
                <c:pt idx="39">
                  <c:v>7.0000000000000021E-2</c:v>
                </c:pt>
                <c:pt idx="40">
                  <c:v>8.0000000000000043E-2</c:v>
                </c:pt>
                <c:pt idx="41">
                  <c:v>6.0000000000000032E-2</c:v>
                </c:pt>
                <c:pt idx="42">
                  <c:v>8.0000000000000043E-2</c:v>
                </c:pt>
                <c:pt idx="43">
                  <c:v>0.11000000000000001</c:v>
                </c:pt>
                <c:pt idx="44">
                  <c:v>8.0000000000000043E-2</c:v>
                </c:pt>
                <c:pt idx="45">
                  <c:v>8.0000000000000043E-2</c:v>
                </c:pt>
                <c:pt idx="46">
                  <c:v>0.12000000000000002</c:v>
                </c:pt>
                <c:pt idx="47">
                  <c:v>0.12000000000000002</c:v>
                </c:pt>
                <c:pt idx="48">
                  <c:v>0.1</c:v>
                </c:pt>
                <c:pt idx="49">
                  <c:v>0.11000000000000001</c:v>
                </c:pt>
                <c:pt idx="50">
                  <c:v>0.11000000000000001</c:v>
                </c:pt>
                <c:pt idx="51">
                  <c:v>0.1</c:v>
                </c:pt>
                <c:pt idx="52">
                  <c:v>0.1</c:v>
                </c:pt>
                <c:pt idx="53">
                  <c:v>0.14000000000000001</c:v>
                </c:pt>
                <c:pt idx="54">
                  <c:v>0.12000000000000002</c:v>
                </c:pt>
                <c:pt idx="55">
                  <c:v>0.12000000000000002</c:v>
                </c:pt>
                <c:pt idx="56">
                  <c:v>0.11000000000000001</c:v>
                </c:pt>
                <c:pt idx="57">
                  <c:v>0.13</c:v>
                </c:pt>
              </c:numCache>
            </c:numRef>
          </c:val>
        </c:ser>
        <c:marker val="1"/>
        <c:axId val="81005184"/>
        <c:axId val="81011072"/>
      </c:lineChart>
      <c:catAx>
        <c:axId val="81005184"/>
        <c:scaling>
          <c:orientation val="minMax"/>
        </c:scaling>
        <c:axPos val="b"/>
        <c:tickLblPos val="nextTo"/>
        <c:crossAx val="81011072"/>
        <c:crosses val="autoZero"/>
        <c:auto val="1"/>
        <c:lblAlgn val="ctr"/>
        <c:lblOffset val="100"/>
      </c:catAx>
      <c:valAx>
        <c:axId val="81011072"/>
        <c:scaling>
          <c:orientation val="minMax"/>
        </c:scaling>
        <c:axPos val="l"/>
        <c:majorGridlines/>
        <c:numFmt formatCode="General" sourceLinked="1"/>
        <c:tickLblPos val="nextTo"/>
        <c:crossAx val="81005184"/>
        <c:crosses val="autoZero"/>
        <c:crossBetween val="between"/>
      </c:valAx>
    </c:plotArea>
    <c:plotVisOnly val="1"/>
  </c:chart>
  <c:externalData r:id="rId1"/>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4A6A98A5-46BC-4355-983C-208DBF898FA3}" type="datetimeFigureOut">
              <a:rPr lang="en-US" smtClean="0"/>
              <a:pPr/>
              <a:t>11/5/2010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5E8FBECE-5B39-46F1-BF80-AB51B5DD4BF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A6A98A5-46BC-4355-983C-208DBF898FA3}" type="datetimeFigureOut">
              <a:rPr lang="en-US" smtClean="0"/>
              <a:pPr/>
              <a:t>11/5/2010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A6A98A5-46BC-4355-983C-208DBF898FA3}" type="datetimeFigureOut">
              <a:rPr lang="en-US" smtClean="0"/>
              <a:pPr/>
              <a:t>11/5/2010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8FBECE-5B39-46F1-BF80-AB51B5DD4BF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A6A98A5-46BC-4355-983C-208DBF898FA3}" type="datetimeFigureOut">
              <a:rPr lang="en-US" smtClean="0"/>
              <a:pPr/>
              <a:t>11/5/2010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A6A98A5-46BC-4355-983C-208DBF898FA3}" type="datetimeFigureOut">
              <a:rPr lang="en-US" smtClean="0"/>
              <a:pPr/>
              <a:t>11/5/2010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A6A98A5-46BC-4355-983C-208DBF898FA3}" type="datetimeFigureOut">
              <a:rPr lang="en-US" smtClean="0"/>
              <a:pPr/>
              <a:t>11/5/2010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6A98A5-46BC-4355-983C-208DBF898FA3}" type="datetimeFigureOut">
              <a:rPr lang="en-US" smtClean="0"/>
              <a:pPr/>
              <a:t>11/5/2010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A6A98A5-46BC-4355-983C-208DBF898FA3}" type="datetimeFigureOut">
              <a:rPr lang="en-US" smtClean="0"/>
              <a:pPr/>
              <a:t>11/5/2010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A6A98A5-46BC-4355-983C-208DBF898FA3}" type="datetimeFigureOut">
              <a:rPr lang="en-US" smtClean="0"/>
              <a:pPr/>
              <a:t>11/5/2010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5E8FBECE-5B39-46F1-BF80-AB51B5DD4BF5}"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A6A98A5-46BC-4355-983C-208DBF898FA3}" type="datetimeFigureOut">
              <a:rPr lang="en-US" smtClean="0"/>
              <a:pPr/>
              <a:t>11/5/2010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A6A98A5-46BC-4355-983C-208DBF898FA3}" type="datetimeFigureOut">
              <a:rPr lang="en-US" smtClean="0"/>
              <a:pPr/>
              <a:t>11/5/2010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8FBECE-5B39-46F1-BF80-AB51B5DD4BF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A6A98A5-46BC-4355-983C-208DBF898FA3}" type="datetimeFigureOut">
              <a:rPr lang="en-US" smtClean="0"/>
              <a:pPr/>
              <a:t>11/5/2010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5E8FBECE-5B39-46F1-BF80-AB51B5DD4BF5}"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www.icpsr.umich.edu/cgi-bin/SDA-ID/ICPSR/hsda?icpsr+07423-0001" TargetMode="External"/><Relationship Id="rId3" Type="http://schemas.openxmlformats.org/officeDocument/2006/relationships/image" Target="../media/image3.tiff"/><Relationship Id="rId7" Type="http://schemas.openxmlformats.org/officeDocument/2006/relationships/hyperlink" Target="http://www.icpsr.umich.edu/icpsrweb/ICPSR/ssvd/variables?study=New+Orleans+Slave+Sale+Sample,+1804-1862&amp;series=Economics+of+American+Negro+Slavery+Series" TargetMode="External"/><Relationship Id="rId2" Type="http://schemas.openxmlformats.org/officeDocument/2006/relationships/image" Target="../media/image2.tiff"/><Relationship Id="rId1" Type="http://schemas.openxmlformats.org/officeDocument/2006/relationships/slideLayout" Target="../slideLayouts/slideLayout7.xml"/><Relationship Id="rId6" Type="http://schemas.openxmlformats.org/officeDocument/2006/relationships/hyperlink" Target="http://www.icpsr.umich.edu/icpsrweb/ICPSR/studies/7423/documentation" TargetMode="External"/><Relationship Id="rId5" Type="http://schemas.openxmlformats.org/officeDocument/2006/relationships/hyperlink" Target="http://www.icpsr.umich.edu/icpsrweb/ICPSR/studies/7423/detail" TargetMode="External"/><Relationship Id="rId4" Type="http://schemas.openxmlformats.org/officeDocument/2006/relationships/hyperlink" Target="http://www.icpsr.umich.edu/RCMD/" TargetMode="External"/><Relationship Id="rId9" Type="http://schemas.openxmlformats.org/officeDocument/2006/relationships/hyperlink" Target="http://www.icpsr.umich.edu/icpsrweb/ICPSR/studies/7423/sda?SDAType=other"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6" Type="http://schemas.openxmlformats.org/officeDocument/2006/relationships/hyperlink" Target="http://hsus.cambridge.org/HSUSWeb" TargetMode="External"/><Relationship Id="rId5" Type="http://schemas.openxmlformats.org/officeDocument/2006/relationships/chart" Target="../charts/chart1.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7.xml"/><Relationship Id="rId4" Type="http://schemas.openxmlformats.org/officeDocument/2006/relationships/hyperlink" Target="mailto:joberly@uwec.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itle 1"/>
          <p:cNvSpPr txBox="1">
            <a:spLocks/>
          </p:cNvSpPr>
          <p:nvPr/>
        </p:nvSpPr>
        <p:spPr>
          <a:xfrm>
            <a:off x="685800" y="838200"/>
            <a:ext cx="8229600" cy="1143000"/>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1" i="1" u="none" strike="noStrike" kern="1200" cap="none" spc="0" normalizeH="0" baseline="0" noProof="0" dirty="0" smtClean="0">
                <a:ln>
                  <a:noFill/>
                </a:ln>
                <a:solidFill>
                  <a:schemeClr val="tx2"/>
                </a:solidFill>
                <a:effectLst/>
                <a:uLnTx/>
                <a:uFillTx/>
                <a:latin typeface="+mj-lt"/>
                <a:ea typeface="+mj-ea"/>
                <a:cs typeface="+mj-cs"/>
              </a:rPr>
              <a:t>Students Analyzing Data in the Large Lecture Class:   Active Learning with SDA Online Analysis</a:t>
            </a:r>
            <a:r>
              <a:rPr kumimoji="0" lang="en-US" sz="4000" b="0" i="0" u="none" strike="noStrike" kern="1200" cap="none" spc="0" normalizeH="0" baseline="0" noProof="0" dirty="0" smtClean="0">
                <a:ln>
                  <a:noFill/>
                </a:ln>
                <a:solidFill>
                  <a:schemeClr val="tx2"/>
                </a:solidFill>
                <a:effectLst/>
                <a:uLnTx/>
                <a:uFillTx/>
                <a:latin typeface="+mj-lt"/>
                <a:ea typeface="+mj-ea"/>
                <a:cs typeface="+mj-cs"/>
              </a:rPr>
              <a:t> </a:t>
            </a:r>
            <a:endParaRPr kumimoji="0" lang="en-US"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8" name="TextBox 7"/>
          <p:cNvSpPr txBox="1"/>
          <p:nvPr/>
        </p:nvSpPr>
        <p:spPr>
          <a:xfrm>
            <a:off x="914400" y="2895600"/>
            <a:ext cx="7491603" cy="646331"/>
          </a:xfrm>
          <a:prstGeom prst="rect">
            <a:avLst/>
          </a:prstGeom>
          <a:noFill/>
        </p:spPr>
        <p:txBody>
          <a:bodyPr wrap="none" rtlCol="0">
            <a:spAutoFit/>
          </a:bodyPr>
          <a:lstStyle/>
          <a:p>
            <a:r>
              <a:rPr lang="en-US" dirty="0" smtClean="0"/>
              <a:t>by Jim </a:t>
            </a:r>
            <a:r>
              <a:rPr lang="en-US" dirty="0" err="1" smtClean="0"/>
              <a:t>Oberly</a:t>
            </a:r>
            <a:r>
              <a:rPr lang="en-US" dirty="0" smtClean="0"/>
              <a:t>, Department of History, University of Wisconsin-Eau Claire</a:t>
            </a:r>
          </a:p>
          <a:p>
            <a:r>
              <a:rPr lang="en-US" dirty="0" smtClean="0"/>
              <a:t>               For  presentation to the 2010 ICPSR Social Science Data Fair</a:t>
            </a:r>
            <a:endParaRPr lang="en-US" dirty="0"/>
          </a:p>
        </p:txBody>
      </p:sp>
      <p:pic>
        <p:nvPicPr>
          <p:cNvPr id="9" name="Picture 8" descr="UWECstudents2.JPG"/>
          <p:cNvPicPr>
            <a:picLocks noChangeAspect="1"/>
          </p:cNvPicPr>
          <p:nvPr/>
        </p:nvPicPr>
        <p:blipFill>
          <a:blip r:embed="rId4" cstate="print"/>
          <a:stretch>
            <a:fillRect/>
          </a:stretch>
        </p:blipFill>
        <p:spPr>
          <a:xfrm>
            <a:off x="2286000" y="3886200"/>
            <a:ext cx="4113680" cy="2735758"/>
          </a:xfrm>
          <a:prstGeom prst="rect">
            <a:avLst/>
          </a:prstGeom>
        </p:spPr>
      </p:pic>
      <p:sp>
        <p:nvSpPr>
          <p:cNvPr id="10" name="TextBox 9"/>
          <p:cNvSpPr txBox="1"/>
          <p:nvPr/>
        </p:nvSpPr>
        <p:spPr>
          <a:xfrm>
            <a:off x="6580478" y="6096000"/>
            <a:ext cx="2563522" cy="246221"/>
          </a:xfrm>
          <a:prstGeom prst="rect">
            <a:avLst/>
          </a:prstGeom>
          <a:noFill/>
        </p:spPr>
        <p:txBody>
          <a:bodyPr wrap="none" rtlCol="0">
            <a:spAutoFit/>
          </a:bodyPr>
          <a:lstStyle/>
          <a:p>
            <a:r>
              <a:rPr lang="en-US" sz="1000" dirty="0" smtClean="0"/>
              <a:t>Photo Credit: UW-Eau Claire News Bureau</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itle 1"/>
          <p:cNvSpPr txBox="1">
            <a:spLocks/>
          </p:cNvSpPr>
          <p:nvPr/>
        </p:nvSpPr>
        <p:spPr>
          <a:xfrm>
            <a:off x="533400" y="1143000"/>
            <a:ext cx="8229600" cy="1143000"/>
          </a:xfrm>
          <a:prstGeom prst="rect">
            <a:avLst/>
          </a:prstGeom>
        </p:spPr>
        <p:txBody>
          <a:bodyPr>
            <a:normAutofit fontScale="8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ICPSR Data in the Classroom</a:t>
            </a:r>
            <a:br>
              <a:rPr kumimoji="0" lang="en-US" sz="5000" b="0" i="0" u="none" strike="noStrike" kern="1200" cap="none" spc="0" normalizeH="0" baseline="0" noProof="0" dirty="0" smtClean="0">
                <a:ln>
                  <a:noFill/>
                </a:ln>
                <a:solidFill>
                  <a:schemeClr val="tx2"/>
                </a:solidFill>
                <a:effectLst/>
                <a:uLnTx/>
                <a:uFillTx/>
                <a:latin typeface="+mj-lt"/>
                <a:ea typeface="+mj-ea"/>
                <a:cs typeface="+mj-cs"/>
              </a:rPr>
            </a:b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8" name="Content Placeholder 2"/>
          <p:cNvSpPr txBox="1">
            <a:spLocks/>
          </p:cNvSpPr>
          <p:nvPr/>
        </p:nvSpPr>
        <p:spPr>
          <a:xfrm>
            <a:off x="457200" y="1935480"/>
            <a:ext cx="8229600" cy="4389120"/>
          </a:xfrm>
          <a:prstGeom prst="rect">
            <a:avLst/>
          </a:prstGeom>
        </p:spPr>
        <p:txBody>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ICPSR Set-Ups for ANES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ICPSR </a:t>
            </a:r>
            <a:r>
              <a:rPr lang="en-US" sz="2600" dirty="0" smtClean="0"/>
              <a:t>Online Learning Center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ICPSR Research Paper Competitions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SDA analysis and retrospective conversion of popular datasets</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Use # 1… Instructor lecture illustrations and/or simulations</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Use # 2…  student term-papers</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itle 1"/>
          <p:cNvSpPr txBox="1">
            <a:spLocks/>
          </p:cNvSpPr>
          <p:nvPr/>
        </p:nvSpPr>
        <p:spPr>
          <a:xfrm>
            <a:off x="457200" y="914400"/>
            <a:ext cx="8229600" cy="114300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The Current Classroom Setting</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8" name="Content Placeholder 2"/>
          <p:cNvSpPr txBox="1">
            <a:spLocks/>
          </p:cNvSpPr>
          <p:nvPr/>
        </p:nvSpPr>
        <p:spPr>
          <a:xfrm>
            <a:off x="457200" y="1935480"/>
            <a:ext cx="8229600" cy="4389120"/>
          </a:xfrm>
          <a:prstGeom prst="rect">
            <a:avLst/>
          </a:prstGeom>
        </p:spPr>
        <p:txBody>
          <a:bodyPr>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Wi-fi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nearly universal in academic buildings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Larger and larger class-size sections, especially in introductory classes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Widespread use by students of laptops and notebooks, and now, handheld PDAs in class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Challenge:  how to engage students in active learning and take advantage of the current classroom setting?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itle 1"/>
          <p:cNvSpPr txBox="1">
            <a:spLocks/>
          </p:cNvSpPr>
          <p:nvPr/>
        </p:nvSpPr>
        <p:spPr>
          <a:xfrm>
            <a:off x="381000" y="990600"/>
            <a:ext cx="8229600" cy="114300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dirty="0" smtClean="0">
                <a:solidFill>
                  <a:schemeClr val="tx2"/>
                </a:solidFill>
                <a:latin typeface="+mj-lt"/>
                <a:ea typeface="+mj-ea"/>
                <a:cs typeface="+mj-cs"/>
              </a:rPr>
              <a:t>One drawback to the current classroom setting</a:t>
            </a:r>
            <a:r>
              <a:rPr kumimoji="0" lang="en-US" sz="3200" b="0" i="0" u="none" strike="noStrike" kern="1200" cap="none" spc="0" normalizeH="0" baseline="0" noProof="0" dirty="0" smtClean="0">
                <a:ln>
                  <a:noFill/>
                </a:ln>
                <a:solidFill>
                  <a:schemeClr val="tx2"/>
                </a:solidFill>
                <a:effectLst/>
                <a:uLnTx/>
                <a:uFillTx/>
                <a:latin typeface="+mj-lt"/>
                <a:ea typeface="+mj-ea"/>
                <a:cs typeface="+mj-cs"/>
              </a:rPr>
              <a:t>:</a:t>
            </a:r>
            <a:r>
              <a:rPr kumimoji="0" lang="en-US" sz="3200" b="0" i="0" u="none" strike="noStrike" kern="1200" cap="none" spc="0" normalizeH="0" noProof="0" dirty="0" smtClean="0">
                <a:ln>
                  <a:noFill/>
                </a:ln>
                <a:solidFill>
                  <a:schemeClr val="tx2"/>
                </a:solidFill>
                <a:effectLst/>
                <a:uLnTx/>
                <a:uFillTx/>
                <a:latin typeface="+mj-lt"/>
                <a:ea typeface="+mj-ea"/>
                <a:cs typeface="+mj-cs"/>
              </a:rPr>
              <a:t>  		</a:t>
            </a:r>
            <a:r>
              <a:rPr kumimoji="0" lang="en-US" sz="3200" b="0" i="0" u="none" strike="noStrike" kern="1200" cap="none" spc="0" normalizeH="0" baseline="0" noProof="0" dirty="0" smtClean="0">
                <a:ln>
                  <a:noFill/>
                </a:ln>
                <a:solidFill>
                  <a:schemeClr val="tx2"/>
                </a:solidFill>
                <a:effectLst/>
                <a:uLnTx/>
                <a:uFillTx/>
                <a:latin typeface="+mj-lt"/>
                <a:ea typeface="+mj-ea"/>
                <a:cs typeface="+mj-cs"/>
              </a:rPr>
              <a:t>Student “multi-tasking”</a:t>
            </a:r>
            <a:r>
              <a:rPr kumimoji="0" lang="en-US" sz="3200" b="0" i="0" u="none" strike="noStrike" kern="1200" cap="none" spc="0" normalizeH="0" noProof="0" dirty="0" smtClean="0">
                <a:ln>
                  <a:noFill/>
                </a:ln>
                <a:solidFill>
                  <a:schemeClr val="tx2"/>
                </a:solidFill>
                <a:effectLst/>
                <a:uLnTx/>
                <a:uFillTx/>
                <a:latin typeface="+mj-lt"/>
                <a:ea typeface="+mj-ea"/>
                <a:cs typeface="+mj-cs"/>
              </a:rPr>
              <a:t> in class</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sp>
        <p:nvSpPr>
          <p:cNvPr id="8" name="Content Placeholder 2"/>
          <p:cNvSpPr txBox="1">
            <a:spLocks/>
          </p:cNvSpPr>
          <p:nvPr/>
        </p:nvSpPr>
        <p:spPr>
          <a:xfrm>
            <a:off x="381000" y="2133600"/>
            <a:ext cx="8229600" cy="4389120"/>
          </a:xfrm>
          <a:prstGeom prst="rect">
            <a:avLst/>
          </a:prstGeom>
        </p:spPr>
        <p:txBody>
          <a:bodyPr>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“Wide Web of diversions gets laptops evicted from lecture halls”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Washington Post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March 9, 2010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“Top ten do’s and don’ts for classroom laptop use” </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USA TODAY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College: The Blog” October 19, 2010</a:t>
            </a:r>
            <a:endParaRPr kumimoji="0" lang="en-US" sz="2000" b="1"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US" sz="2600" b="1" i="0" u="none" strike="noStrike" kern="1200" cap="none" spc="0" normalizeH="0" baseline="0" noProof="0" dirty="0">
              <a:ln>
                <a:noFill/>
              </a:ln>
              <a:solidFill>
                <a:schemeClr val="tx1"/>
              </a:solidFill>
              <a:effectLst/>
              <a:uLnTx/>
              <a:uFillTx/>
              <a:latin typeface="+mn-lt"/>
              <a:ea typeface="+mn-ea"/>
              <a:cs typeface="+mn-cs"/>
            </a:endParaRPr>
          </a:p>
        </p:txBody>
      </p:sp>
      <p:pic>
        <p:nvPicPr>
          <p:cNvPr id="9" name="Picture 8" descr="UWECstudents3.JPG"/>
          <p:cNvPicPr>
            <a:picLocks noChangeAspect="1"/>
          </p:cNvPicPr>
          <p:nvPr/>
        </p:nvPicPr>
        <p:blipFill>
          <a:blip r:embed="rId4" cstate="print"/>
          <a:stretch>
            <a:fillRect/>
          </a:stretch>
        </p:blipFill>
        <p:spPr>
          <a:xfrm>
            <a:off x="0" y="3810000"/>
            <a:ext cx="4227755" cy="2807494"/>
          </a:xfrm>
          <a:prstGeom prst="rect">
            <a:avLst/>
          </a:prstGeom>
        </p:spPr>
      </p:pic>
      <p:pic>
        <p:nvPicPr>
          <p:cNvPr id="10" name="Picture 9" descr="UWECstudents1.JPG"/>
          <p:cNvPicPr>
            <a:picLocks noChangeAspect="1"/>
          </p:cNvPicPr>
          <p:nvPr/>
        </p:nvPicPr>
        <p:blipFill>
          <a:blip r:embed="rId5" cstate="print"/>
          <a:stretch>
            <a:fillRect/>
          </a:stretch>
        </p:blipFill>
        <p:spPr>
          <a:xfrm>
            <a:off x="4953000" y="3810000"/>
            <a:ext cx="3429836" cy="2743200"/>
          </a:xfrm>
          <a:prstGeom prst="rect">
            <a:avLst/>
          </a:prstGeom>
        </p:spPr>
      </p:pic>
      <p:sp>
        <p:nvSpPr>
          <p:cNvPr id="11" name="TextBox 10"/>
          <p:cNvSpPr txBox="1"/>
          <p:nvPr/>
        </p:nvSpPr>
        <p:spPr>
          <a:xfrm>
            <a:off x="3505200" y="6611779"/>
            <a:ext cx="2614818" cy="246221"/>
          </a:xfrm>
          <a:prstGeom prst="rect">
            <a:avLst/>
          </a:prstGeom>
          <a:noFill/>
        </p:spPr>
        <p:txBody>
          <a:bodyPr wrap="none" rtlCol="0">
            <a:spAutoFit/>
          </a:bodyPr>
          <a:lstStyle/>
          <a:p>
            <a:r>
              <a:rPr lang="en-US" sz="1000" dirty="0" smtClean="0"/>
              <a:t>Photo Credits: UW-Eau Claire News Bureau</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itle 1"/>
          <p:cNvSpPr txBox="1">
            <a:spLocks/>
          </p:cNvSpPr>
          <p:nvPr/>
        </p:nvSpPr>
        <p:spPr>
          <a:xfrm>
            <a:off x="0" y="1371600"/>
            <a:ext cx="9372600" cy="8382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2"/>
                </a:solidFill>
                <a:effectLst/>
                <a:uLnTx/>
                <a:uFillTx/>
                <a:latin typeface="+mj-lt"/>
                <a:ea typeface="+mj-ea"/>
                <a:cs typeface="+mj-cs"/>
              </a:rPr>
              <a:t>One solution…for at least some classes</a:t>
            </a:r>
            <a:endParaRPr kumimoji="0" lang="en-US" sz="4400" b="0" i="0" u="none" strike="noStrike" kern="1200" cap="none" spc="0" normalizeH="0" baseline="0" noProof="0" dirty="0">
              <a:ln>
                <a:noFill/>
              </a:ln>
              <a:solidFill>
                <a:schemeClr val="tx2"/>
              </a:solidFill>
              <a:effectLst/>
              <a:uLnTx/>
              <a:uFillTx/>
              <a:latin typeface="+mj-lt"/>
              <a:ea typeface="+mj-ea"/>
              <a:cs typeface="+mj-cs"/>
            </a:endParaRPr>
          </a:p>
        </p:txBody>
      </p:sp>
      <p:sp>
        <p:nvSpPr>
          <p:cNvPr id="8" name="Content Placeholder 2"/>
          <p:cNvSpPr txBox="1">
            <a:spLocks/>
          </p:cNvSpPr>
          <p:nvPr/>
        </p:nvSpPr>
        <p:spPr>
          <a:xfrm>
            <a:off x="457200" y="2667000"/>
            <a:ext cx="8229600" cy="3657600"/>
          </a:xfrm>
          <a:prstGeom prst="rect">
            <a:avLst/>
          </a:prstGeom>
        </p:spPr>
        <p:txBody>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Organize a class around a big question or set of questions and have the students engage in a 50-minute scholarly enterprise of finding a scholar’s work and then testing the propositions of that scholar by using SDA of the scholar’s dataset</a:t>
            </a:r>
          </a:p>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lang="en-US" sz="2000" dirty="0" smtClean="0"/>
              <a:t>Example of a “big” question:   Was  the  American  Civil  War  a “necessary” war?</a:t>
            </a:r>
          </a:p>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endParaRPr lang="en-US" sz="20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lang="en-US" sz="2000" dirty="0" smtClean="0"/>
              <a:t>Rephrased:  if the war was about  saving the Union and the destruction of slavery, could the  Union have been saved and the nation spared a war by a peaceful abolition because of economic reasons?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228600" y="1143000"/>
            <a:ext cx="8404865" cy="6647974"/>
          </a:xfrm>
          <a:prstGeom prst="rect">
            <a:avLst/>
          </a:prstGeom>
          <a:noFill/>
        </p:spPr>
        <p:txBody>
          <a:bodyPr wrap="square" rtlCol="0">
            <a:spAutoFit/>
          </a:bodyPr>
          <a:lstStyle/>
          <a:p>
            <a:endParaRPr lang="en-US" dirty="0" smtClean="0"/>
          </a:p>
          <a:p>
            <a:r>
              <a:rPr lang="en-US" sz="2400" dirty="0" smtClean="0"/>
              <a:t>Counterfactual assumption by past historians that the South would have abolished slavery in a decade or so after 1860 because it was an anachronistic institution and un-economic.  </a:t>
            </a:r>
          </a:p>
          <a:p>
            <a:pPr lvl="2"/>
            <a:endParaRPr lang="en-US" dirty="0" smtClean="0"/>
          </a:p>
          <a:p>
            <a:pPr lvl="2">
              <a:buFont typeface="Arial" pitchFamily="34" charset="0"/>
              <a:buChar char="•"/>
            </a:pPr>
            <a:r>
              <a:rPr lang="en-US" dirty="0" smtClean="0"/>
              <a:t>Charles W. </a:t>
            </a:r>
            <a:r>
              <a:rPr lang="en-US" dirty="0" err="1" smtClean="0"/>
              <a:t>Ramsdell</a:t>
            </a:r>
            <a:r>
              <a:rPr lang="en-US" dirty="0" smtClean="0"/>
              <a:t>, “The Natural Limits of Slavery Expansion,” </a:t>
            </a:r>
            <a:r>
              <a:rPr lang="en-US" i="1" dirty="0" smtClean="0"/>
              <a:t>Southwestern Historical Quarterly </a:t>
            </a:r>
            <a:r>
              <a:rPr lang="en-US" dirty="0" smtClean="0"/>
              <a:t>33, No. 2 (1929): 91-111</a:t>
            </a:r>
          </a:p>
          <a:p>
            <a:pPr lvl="2"/>
            <a:endParaRPr lang="en-US" dirty="0" smtClean="0"/>
          </a:p>
          <a:p>
            <a:pPr lvl="2">
              <a:buFont typeface="Arial" pitchFamily="34" charset="0"/>
              <a:buChar char="•"/>
            </a:pPr>
            <a:r>
              <a:rPr lang="en-US" dirty="0" smtClean="0"/>
              <a:t>James G. Randall, “The Blundering Generation” </a:t>
            </a:r>
            <a:r>
              <a:rPr lang="en-US" i="1" dirty="0" smtClean="0"/>
              <a:t>Mississippi Valley Historical Review</a:t>
            </a:r>
            <a:r>
              <a:rPr lang="en-US" dirty="0" smtClean="0"/>
              <a:t> 27, No. 1 (1940): 3-28</a:t>
            </a:r>
          </a:p>
          <a:p>
            <a:endParaRPr lang="en-US" dirty="0" smtClean="0"/>
          </a:p>
          <a:p>
            <a:endParaRPr lang="en-US" dirty="0" smtClean="0"/>
          </a:p>
          <a:p>
            <a:r>
              <a:rPr lang="en-US" dirty="0" smtClean="0"/>
              <a:t>Nobel Prize winner Robert </a:t>
            </a:r>
            <a:r>
              <a:rPr lang="en-US" dirty="0" err="1" smtClean="0"/>
              <a:t>Fogel</a:t>
            </a:r>
            <a:r>
              <a:rPr lang="en-US" dirty="0" smtClean="0"/>
              <a:t>, and co-author Stanley </a:t>
            </a:r>
            <a:r>
              <a:rPr lang="en-US" dirty="0" err="1" smtClean="0"/>
              <a:t>Engerman</a:t>
            </a:r>
            <a:r>
              <a:rPr lang="en-US" dirty="0" smtClean="0"/>
              <a:t> tried to test this</a:t>
            </a:r>
          </a:p>
          <a:p>
            <a:r>
              <a:rPr lang="en-US" dirty="0" smtClean="0"/>
              <a:t>counterfactual in 1974.   </a:t>
            </a:r>
            <a:r>
              <a:rPr lang="en-US" i="1" dirty="0" smtClean="0"/>
              <a:t>Time on the Cross: The Economics of American Negro </a:t>
            </a:r>
            <a:r>
              <a:rPr lang="en-US" dirty="0" smtClean="0"/>
              <a:t>Slavery (Boston: Little Brown, 1974).</a:t>
            </a:r>
          </a:p>
          <a:p>
            <a:endParaRPr lang="en-US" dirty="0" smtClean="0"/>
          </a:p>
          <a:p>
            <a:r>
              <a:rPr lang="en-US" sz="2400" b="1" dirty="0" smtClean="0"/>
              <a:t>They also made their data available to students to check their findings via ICPSR</a:t>
            </a:r>
          </a:p>
          <a:p>
            <a:endParaRPr lang="en-US" dirty="0" smtClean="0"/>
          </a:p>
          <a:p>
            <a:endParaRPr lang="en-US" dirty="0" smtClean="0"/>
          </a:p>
          <a:p>
            <a:endParaRPr lang="en-US" dirty="0" smtClean="0"/>
          </a:p>
          <a:p>
            <a:endParaRPr lang="en-US" dirty="0"/>
          </a:p>
        </p:txBody>
      </p:sp>
      <p:sp>
        <p:nvSpPr>
          <p:cNvPr id="8" name="Rectangle 7"/>
          <p:cNvSpPr/>
          <p:nvPr/>
        </p:nvSpPr>
        <p:spPr>
          <a:xfrm>
            <a:off x="914400" y="3995678"/>
            <a:ext cx="7239000" cy="1754326"/>
          </a:xfrm>
          <a:prstGeom prst="rect">
            <a:avLst/>
          </a:prstGeom>
        </p:spPr>
        <p:txBody>
          <a:bodyPr wrap="square">
            <a:spAutoFit/>
          </a:bodyPr>
          <a:lstStyle/>
          <a:p>
            <a:r>
              <a:rPr lang="en-US" dirty="0" smtClean="0"/>
              <a:t> </a:t>
            </a:r>
          </a:p>
          <a:p>
            <a:endParaRPr lang="en-US" dirty="0" smtClean="0"/>
          </a:p>
          <a:p>
            <a:endParaRPr lang="en-US" dirty="0" smtClean="0"/>
          </a:p>
          <a:p>
            <a:endParaRPr lang="en-US" dirty="0" smtClean="0"/>
          </a:p>
          <a:p>
            <a:endParaRPr lang="en-US" dirty="0" smtClean="0"/>
          </a:p>
          <a:p>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Rectangle 6"/>
          <p:cNvSpPr/>
          <p:nvPr/>
        </p:nvSpPr>
        <p:spPr>
          <a:xfrm>
            <a:off x="838200" y="1066800"/>
            <a:ext cx="7315200" cy="6186309"/>
          </a:xfrm>
          <a:prstGeom prst="rect">
            <a:avLst/>
          </a:prstGeom>
        </p:spPr>
        <p:txBody>
          <a:bodyPr wrap="square">
            <a:spAutoFit/>
          </a:bodyPr>
          <a:lstStyle/>
          <a:p>
            <a:r>
              <a:rPr lang="en-US" sz="2200" dirty="0" smtClean="0"/>
              <a:t>Some propositions  from Profs. </a:t>
            </a:r>
            <a:r>
              <a:rPr lang="en-US" sz="2200" dirty="0" err="1" smtClean="0"/>
              <a:t>Fogel</a:t>
            </a:r>
            <a:r>
              <a:rPr lang="en-US" sz="2200" dirty="0" smtClean="0"/>
              <a:t> &amp; </a:t>
            </a:r>
            <a:r>
              <a:rPr lang="en-US" sz="2200" dirty="0" err="1" smtClean="0"/>
              <a:t>Engerman</a:t>
            </a:r>
            <a:r>
              <a:rPr lang="en-US" sz="2200" dirty="0" smtClean="0"/>
              <a:t> about the economics of plantation slavery in the Antebellum South—</a:t>
            </a:r>
          </a:p>
          <a:p>
            <a:endParaRPr lang="en-US" sz="2200" dirty="0" smtClean="0"/>
          </a:p>
          <a:p>
            <a:pPr marL="457200" indent="-457200"/>
            <a:r>
              <a:rPr lang="en-US" sz="2200" dirty="0" smtClean="0"/>
              <a:t>1.--the slave system was not “economically moribund” on</a:t>
            </a:r>
          </a:p>
          <a:p>
            <a:pPr marL="457200" indent="-457200"/>
            <a:r>
              <a:rPr lang="en-US" sz="2200" dirty="0" smtClean="0"/>
              <a:t>the eve of the Civil War and purely economic factors would</a:t>
            </a:r>
          </a:p>
          <a:p>
            <a:pPr marL="457200" indent="-457200"/>
            <a:r>
              <a:rPr lang="en-US" sz="2200" dirty="0" smtClean="0"/>
              <a:t>not have led to its abolition    </a:t>
            </a:r>
          </a:p>
          <a:p>
            <a:pPr marL="457200" indent="-457200"/>
            <a:r>
              <a:rPr lang="en-US" sz="2200" dirty="0" smtClean="0"/>
              <a:t>                </a:t>
            </a:r>
          </a:p>
          <a:p>
            <a:r>
              <a:rPr lang="en-US" sz="2200" dirty="0" smtClean="0"/>
              <a:t>2. --price trends of slaves reflected “rational” (within an evil system) expectations that the institution would continue</a:t>
            </a:r>
          </a:p>
          <a:p>
            <a:endParaRPr lang="en-US" sz="2200" dirty="0" smtClean="0"/>
          </a:p>
          <a:p>
            <a:r>
              <a:rPr lang="en-US" sz="2200" dirty="0" smtClean="0"/>
              <a:t>3. --prices of slaves were also rational in that differentials existed for age, gender, skill</a:t>
            </a:r>
          </a:p>
          <a:p>
            <a:endParaRPr lang="en-US" sz="2200" dirty="0" smtClean="0"/>
          </a:p>
          <a:p>
            <a:r>
              <a:rPr lang="en-US" sz="2200" dirty="0" smtClean="0"/>
              <a:t>4. --Owners took care not to break up families by sale; individuals sold were done so at an age they would normally leave their households…</a:t>
            </a:r>
            <a:br>
              <a:rPr lang="en-US" sz="2200" dirty="0" smtClean="0"/>
            </a:b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pic>
        <p:nvPicPr>
          <p:cNvPr id="5" name="Picture 4" descr="ICPSR-1.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CPSR-2.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Rectangle 6"/>
          <p:cNvSpPr/>
          <p:nvPr/>
        </p:nvSpPr>
        <p:spPr>
          <a:xfrm>
            <a:off x="0" y="1219200"/>
            <a:ext cx="8686800" cy="6309420"/>
          </a:xfrm>
          <a:prstGeom prst="rect">
            <a:avLst/>
          </a:prstGeom>
        </p:spPr>
        <p:txBody>
          <a:bodyPr wrap="square">
            <a:spAutoFit/>
          </a:bodyPr>
          <a:lstStyle/>
          <a:p>
            <a:pPr lvl="0" fontAlgn="base">
              <a:spcBef>
                <a:spcPct val="0"/>
              </a:spcBef>
              <a:spcAft>
                <a:spcPct val="0"/>
              </a:spcAft>
            </a:pPr>
            <a:r>
              <a:rPr lang="en-US" b="1" dirty="0" smtClean="0">
                <a:latin typeface="Arial" charset="0"/>
                <a:cs typeface="Arial" charset="0"/>
              </a:rPr>
              <a:t>New Orleans Slave Sale Sample, 1804-1862</a:t>
            </a:r>
          </a:p>
          <a:p>
            <a:pPr lvl="0" fontAlgn="base">
              <a:spcBef>
                <a:spcPct val="0"/>
              </a:spcBef>
              <a:spcAft>
                <a:spcPct val="0"/>
              </a:spcAft>
            </a:pPr>
            <a:endParaRPr lang="en-US" b="1" dirty="0" smtClean="0">
              <a:latin typeface="Arial" charset="0"/>
              <a:cs typeface="Arial" charset="0"/>
            </a:endParaRPr>
          </a:p>
          <a:p>
            <a:pPr lvl="0" fontAlgn="base">
              <a:spcBef>
                <a:spcPct val="0"/>
              </a:spcBef>
              <a:spcAft>
                <a:spcPct val="0"/>
              </a:spcAft>
            </a:pPr>
            <a:r>
              <a:rPr lang="en-US" dirty="0" err="1" smtClean="0">
                <a:latin typeface="Arial" charset="0"/>
                <a:cs typeface="Arial" charset="0"/>
              </a:rPr>
              <a:t>Fogel</a:t>
            </a:r>
            <a:r>
              <a:rPr lang="en-US" dirty="0" smtClean="0">
                <a:latin typeface="Arial" charset="0"/>
                <a:cs typeface="Arial" charset="0"/>
              </a:rPr>
              <a:t>, Robert W.; </a:t>
            </a:r>
            <a:r>
              <a:rPr lang="en-US" dirty="0" err="1" smtClean="0">
                <a:latin typeface="Arial" charset="0"/>
                <a:cs typeface="Arial" charset="0"/>
              </a:rPr>
              <a:t>Engerman</a:t>
            </a:r>
            <a:r>
              <a:rPr lang="en-US" dirty="0" smtClean="0">
                <a:latin typeface="Arial" charset="0"/>
                <a:cs typeface="Arial" charset="0"/>
              </a:rPr>
              <a:t>, Stanley L. </a:t>
            </a:r>
          </a:p>
          <a:p>
            <a:pPr lvl="0" eaLnBrk="0" fontAlgn="base" hangingPunct="0">
              <a:spcBef>
                <a:spcPct val="0"/>
              </a:spcBef>
              <a:spcAft>
                <a:spcPct val="0"/>
              </a:spcAft>
            </a:pPr>
            <a:r>
              <a:rPr lang="en-US" b="1" dirty="0" smtClean="0">
                <a:latin typeface="Arial" charset="0"/>
                <a:cs typeface="Arial" charset="0"/>
              </a:rPr>
              <a:t>Summary:</a:t>
            </a:r>
            <a:r>
              <a:rPr lang="en-US" dirty="0" smtClean="0">
                <a:latin typeface="Arial" charset="0"/>
                <a:cs typeface="Arial" charset="0"/>
              </a:rPr>
              <a:t> This study includes data on slave sales that occurred on the New Orleans slave market between 1804-1862. For each sale, information was recorded on the date of the sale, the number of slaves on the invoice, the geographical origin of the buyer and seller, the sale price, and characteristics of the slaves sold (age, sex, family relationship, and occupation). The information presented for each transaction was obtained from the notarized bills of sale in the New Orleans </a:t>
            </a:r>
            <a:r>
              <a:rPr lang="en-US" dirty="0" err="1" smtClean="0">
                <a:latin typeface="Arial" charset="0"/>
                <a:cs typeface="Arial" charset="0"/>
              </a:rPr>
              <a:t>Notarial</a:t>
            </a:r>
            <a:r>
              <a:rPr lang="en-US" dirty="0" smtClean="0">
                <a:latin typeface="Arial" charset="0"/>
                <a:cs typeface="Arial" charset="0"/>
              </a:rPr>
              <a:t> Archival Office. </a:t>
            </a:r>
          </a:p>
          <a:p>
            <a:pPr lvl="0" eaLnBrk="0" fontAlgn="base" hangingPunct="0">
              <a:spcBef>
                <a:spcPct val="0"/>
              </a:spcBef>
              <a:spcAft>
                <a:spcPct val="0"/>
              </a:spcAft>
            </a:pPr>
            <a:endParaRPr lang="en-US" sz="1400" dirty="0" smtClean="0">
              <a:latin typeface="Arial" charset="0"/>
              <a:cs typeface="Arial" charset="0"/>
            </a:endParaRPr>
          </a:p>
          <a:p>
            <a:pPr lvl="0" eaLnBrk="0" fontAlgn="base" hangingPunct="0">
              <a:spcBef>
                <a:spcPct val="0"/>
              </a:spcBef>
              <a:spcAft>
                <a:spcPct val="0"/>
              </a:spcAft>
              <a:buFontTx/>
              <a:buChar char="•"/>
            </a:pPr>
            <a:r>
              <a:rPr lang="en-US" sz="1400" dirty="0" smtClean="0">
                <a:latin typeface="Arial" charset="0"/>
                <a:cs typeface="Arial" charset="0"/>
              </a:rPr>
              <a:t>This study is provided by </a:t>
            </a:r>
            <a:r>
              <a:rPr lang="en-US" sz="1400" dirty="0" smtClean="0">
                <a:latin typeface="Arial" charset="0"/>
                <a:cs typeface="Arial" charset="0"/>
                <a:hlinkClick r:id="rId4"/>
              </a:rPr>
              <a:t>Resource Center for Minority Data</a:t>
            </a:r>
            <a:r>
              <a:rPr lang="en-US" sz="1400" dirty="0" smtClean="0">
                <a:latin typeface="Arial" charset="0"/>
                <a:cs typeface="Arial" charset="0"/>
              </a:rPr>
              <a:t> (RCMD).</a:t>
            </a:r>
          </a:p>
          <a:p>
            <a:pPr lvl="0" eaLnBrk="0" fontAlgn="base" hangingPunct="0">
              <a:spcBef>
                <a:spcPct val="0"/>
              </a:spcBef>
              <a:spcAft>
                <a:spcPct val="0"/>
              </a:spcAft>
            </a:pPr>
            <a:endParaRPr lang="en-US" sz="1400" b="1" dirty="0" smtClean="0">
              <a:latin typeface="Arial" charset="0"/>
              <a:cs typeface="Arial" charset="0"/>
            </a:endParaRPr>
          </a:p>
          <a:p>
            <a:pPr lvl="0" eaLnBrk="0" fontAlgn="base" hangingPunct="0">
              <a:spcBef>
                <a:spcPct val="0"/>
              </a:spcBef>
              <a:spcAft>
                <a:spcPct val="0"/>
              </a:spcAft>
            </a:pPr>
            <a:r>
              <a:rPr lang="en-US" sz="1400" b="1" dirty="0" smtClean="0">
                <a:latin typeface="Arial" charset="0"/>
                <a:cs typeface="Arial" charset="0"/>
              </a:rPr>
              <a:t>What Can I Do With This Collection?</a:t>
            </a:r>
          </a:p>
          <a:p>
            <a:pPr lvl="0" eaLnBrk="0" fontAlgn="base" hangingPunct="0">
              <a:spcBef>
                <a:spcPct val="0"/>
              </a:spcBef>
              <a:spcAft>
                <a:spcPct val="0"/>
              </a:spcAft>
              <a:buFontTx/>
              <a:buChar char="•"/>
            </a:pPr>
            <a:r>
              <a:rPr lang="en-US" sz="1400" dirty="0" smtClean="0">
                <a:latin typeface="Arial" charset="0"/>
                <a:cs typeface="Arial" charset="0"/>
              </a:rPr>
              <a:t>Explore</a:t>
            </a:r>
          </a:p>
          <a:p>
            <a:pPr lvl="1" eaLnBrk="0" fontAlgn="base" hangingPunct="0">
              <a:spcBef>
                <a:spcPct val="0"/>
              </a:spcBef>
              <a:spcAft>
                <a:spcPct val="0"/>
              </a:spcAft>
              <a:buFontTx/>
              <a:buChar char="•"/>
            </a:pPr>
            <a:r>
              <a:rPr lang="en-US" sz="1400" dirty="0" smtClean="0">
                <a:latin typeface="Arial" charset="0"/>
                <a:cs typeface="Arial" charset="0"/>
                <a:hlinkClick r:id="rId5"/>
              </a:rPr>
              <a:t>View study description</a:t>
            </a:r>
            <a:endParaRPr lang="en-US" sz="1400" dirty="0" smtClean="0">
              <a:latin typeface="Arial" charset="0"/>
              <a:cs typeface="Arial" charset="0"/>
            </a:endParaRPr>
          </a:p>
          <a:p>
            <a:pPr lvl="1" eaLnBrk="0" fontAlgn="base" hangingPunct="0">
              <a:spcBef>
                <a:spcPct val="0"/>
              </a:spcBef>
              <a:spcAft>
                <a:spcPct val="0"/>
              </a:spcAft>
              <a:buFontTx/>
              <a:buChar char="•"/>
            </a:pPr>
            <a:r>
              <a:rPr lang="en-US" sz="1400" dirty="0" smtClean="0">
                <a:latin typeface="Arial" charset="0"/>
                <a:cs typeface="Arial" charset="0"/>
                <a:hlinkClick r:id="rId6"/>
              </a:rPr>
              <a:t>Browse documentation files</a:t>
            </a:r>
            <a:r>
              <a:rPr lang="en-US" sz="1400" dirty="0" smtClean="0">
                <a:latin typeface="Arial" charset="0"/>
                <a:cs typeface="Arial" charset="0"/>
              </a:rPr>
              <a:t> (login not required)</a:t>
            </a:r>
          </a:p>
          <a:p>
            <a:pPr lvl="1" eaLnBrk="0" fontAlgn="base" hangingPunct="0">
              <a:spcBef>
                <a:spcPct val="0"/>
              </a:spcBef>
              <a:spcAft>
                <a:spcPct val="0"/>
              </a:spcAft>
              <a:buFontTx/>
              <a:buChar char="•"/>
            </a:pPr>
            <a:r>
              <a:rPr lang="en-US" sz="1400" dirty="0" smtClean="0">
                <a:latin typeface="Arial" charset="0"/>
                <a:cs typeface="Arial" charset="0"/>
              </a:rPr>
              <a:t>Variables:</a:t>
            </a:r>
          </a:p>
          <a:p>
            <a:pPr lvl="2" eaLnBrk="0" fontAlgn="base" hangingPunct="0">
              <a:spcBef>
                <a:spcPct val="0"/>
              </a:spcBef>
              <a:spcAft>
                <a:spcPct val="0"/>
              </a:spcAft>
              <a:buFontTx/>
              <a:buChar char="•"/>
            </a:pPr>
            <a:r>
              <a:rPr lang="en-US" sz="1400" dirty="0" smtClean="0">
                <a:latin typeface="Arial" charset="0"/>
                <a:cs typeface="Arial" charset="0"/>
                <a:hlinkClick r:id="rId7"/>
              </a:rPr>
              <a:t>List all variables in this study</a:t>
            </a:r>
            <a:endParaRPr lang="en-US" sz="1400" dirty="0" smtClean="0">
              <a:latin typeface="Arial" charset="0"/>
              <a:cs typeface="Arial" charset="0"/>
            </a:endParaRPr>
          </a:p>
          <a:p>
            <a:pPr lvl="2" eaLnBrk="0" fontAlgn="base" hangingPunct="0">
              <a:spcBef>
                <a:spcPct val="0"/>
              </a:spcBef>
              <a:spcAft>
                <a:spcPct val="0"/>
              </a:spcAft>
              <a:buFontTx/>
              <a:buChar char="•"/>
            </a:pPr>
            <a:r>
              <a:rPr lang="en-US" sz="1400" dirty="0" smtClean="0">
                <a:latin typeface="Arial" charset="0"/>
                <a:cs typeface="Arial" charset="0"/>
              </a:rPr>
              <a:t>Search the variables in this study</a:t>
            </a:r>
          </a:p>
          <a:p>
            <a:pPr lvl="2" eaLnBrk="0" fontAlgn="base" hangingPunct="0">
              <a:spcBef>
                <a:spcPct val="0"/>
              </a:spcBef>
              <a:spcAft>
                <a:spcPct val="0"/>
              </a:spcAft>
              <a:buFontTx/>
              <a:buChar char="•"/>
            </a:pPr>
            <a:endParaRPr lang="en-US" sz="1400" dirty="0" smtClean="0">
              <a:latin typeface="Arial" charset="0"/>
              <a:cs typeface="Arial" charset="0"/>
            </a:endParaRPr>
          </a:p>
          <a:p>
            <a:r>
              <a:rPr lang="en-US" sz="1400" dirty="0" smtClean="0"/>
              <a:t>	Analyze online</a:t>
            </a:r>
          </a:p>
          <a:p>
            <a:r>
              <a:rPr lang="en-US" sz="1400" dirty="0" smtClean="0">
                <a:hlinkClick r:id="rId8"/>
              </a:rPr>
              <a:t> 	Analyze data using SDA</a:t>
            </a:r>
            <a:r>
              <a:rPr lang="en-US" sz="1400" dirty="0" smtClean="0"/>
              <a:t> 			Go ahead…click here….				</a:t>
            </a:r>
          </a:p>
          <a:p>
            <a:r>
              <a:rPr lang="en-US" sz="1400" dirty="0" smtClean="0">
                <a:hlinkClick r:id="rId9"/>
              </a:rPr>
              <a:t>	 Additional analysis tools</a:t>
            </a:r>
            <a:r>
              <a:rPr lang="en-US" sz="1400" dirty="0" smtClean="0"/>
              <a:t> (subset, recode syntax, </a:t>
            </a:r>
          </a:p>
          <a:p>
            <a:r>
              <a:rPr lang="en-US" sz="1400" dirty="0" smtClean="0"/>
              <a:t>                                                                sample characteristics)</a:t>
            </a:r>
          </a:p>
        </p:txBody>
      </p:sp>
      <p:sp>
        <p:nvSpPr>
          <p:cNvPr id="9" name="Left Arrow 8"/>
          <p:cNvSpPr/>
          <p:nvPr/>
        </p:nvSpPr>
        <p:spPr>
          <a:xfrm>
            <a:off x="3352800" y="6400800"/>
            <a:ext cx="19690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609600" y="1676400"/>
            <a:ext cx="8182368" cy="5078313"/>
          </a:xfrm>
          <a:prstGeom prst="rect">
            <a:avLst/>
          </a:prstGeom>
          <a:noFill/>
        </p:spPr>
        <p:txBody>
          <a:bodyPr wrap="none" rtlCol="0">
            <a:spAutoFit/>
          </a:bodyPr>
          <a:lstStyle/>
          <a:p>
            <a:r>
              <a:rPr lang="en-US" dirty="0" smtClean="0"/>
              <a:t>At this point in the class, I take a few minutes to demonstrate how to use SDA </a:t>
            </a:r>
          </a:p>
          <a:p>
            <a:r>
              <a:rPr lang="en-US" dirty="0" smtClean="0"/>
              <a:t>(Statistical Data Analysis) online, working from the ICPSR website.   </a:t>
            </a:r>
          </a:p>
          <a:p>
            <a:endParaRPr lang="en-US" dirty="0" smtClean="0"/>
          </a:p>
          <a:p>
            <a:endParaRPr lang="en-US" dirty="0" smtClean="0"/>
          </a:p>
          <a:p>
            <a:r>
              <a:rPr lang="en-US" dirty="0" smtClean="0"/>
              <a:t>I also take a few minutes to talk with the class about the proposition that the </a:t>
            </a:r>
          </a:p>
          <a:p>
            <a:r>
              <a:rPr lang="en-US" dirty="0" smtClean="0"/>
              <a:t>slave system was evil but also that the prices paid for human beings tell us</a:t>
            </a:r>
          </a:p>
          <a:p>
            <a:r>
              <a:rPr lang="en-US" dirty="0" smtClean="0"/>
              <a:t>about the expectations of the owners.  It was the actions of the slave-owners that </a:t>
            </a:r>
          </a:p>
          <a:p>
            <a:r>
              <a:rPr lang="en-US" dirty="0" smtClean="0"/>
              <a:t>led to secession and war in 1860-1861.  </a:t>
            </a:r>
          </a:p>
          <a:p>
            <a:endParaRPr lang="en-US" dirty="0" smtClean="0"/>
          </a:p>
          <a:p>
            <a:endParaRPr lang="en-US" dirty="0" smtClean="0"/>
          </a:p>
          <a:p>
            <a:endParaRPr lang="en-US" dirty="0" smtClean="0"/>
          </a:p>
          <a:p>
            <a:r>
              <a:rPr lang="en-US" dirty="0" smtClean="0"/>
              <a:t>Note:  my school is an ICPSR member so if my students access SDA in class,</a:t>
            </a:r>
          </a:p>
          <a:p>
            <a:r>
              <a:rPr lang="en-US" dirty="0" smtClean="0"/>
              <a:t>they are doing so from a recognized ISP address.    If they later work off-campus,</a:t>
            </a:r>
          </a:p>
          <a:p>
            <a:r>
              <a:rPr lang="en-US" dirty="0" smtClean="0"/>
              <a:t>they will need to get a “</a:t>
            </a:r>
            <a:r>
              <a:rPr lang="en-US" dirty="0" err="1" smtClean="0"/>
              <a:t>MyData</a:t>
            </a:r>
            <a:r>
              <a:rPr lang="en-US" dirty="0" smtClean="0"/>
              <a:t>” account. </a:t>
            </a:r>
          </a:p>
          <a:p>
            <a:endParaRPr lang="en-US" dirty="0" smtClean="0"/>
          </a:p>
          <a:p>
            <a:endParaRPr lang="en-US" dirty="0" smtClean="0"/>
          </a:p>
          <a:p>
            <a:endParaRPr lang="en-US" dirty="0" smtClean="0"/>
          </a:p>
          <a:p>
            <a:r>
              <a:rPr lang="en-US" dirty="0" smtClean="0"/>
              <a: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3.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4.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5.jpg"/>
          <p:cNvPicPr>
            <a:picLocks noChangeAspect="1"/>
          </p:cNvPicPr>
          <p:nvPr/>
        </p:nvPicPr>
        <p:blipFill>
          <a:blip r:embed="rId2" cstate="print"/>
          <a:stretch>
            <a:fillRect/>
          </a:stretch>
        </p:blipFill>
        <p:spPr>
          <a:xfrm>
            <a:off x="0" y="0"/>
            <a:ext cx="9144000" cy="6858000"/>
          </a:xfrm>
          <a:prstGeom prst="rect">
            <a:avLst/>
          </a:prstGeom>
        </p:spPr>
      </p:pic>
      <p:sp>
        <p:nvSpPr>
          <p:cNvPr id="3" name="Left Arrow 2"/>
          <p:cNvSpPr/>
          <p:nvPr/>
        </p:nvSpPr>
        <p:spPr>
          <a:xfrm>
            <a:off x="2971800" y="5181600"/>
            <a:ext cx="978408" cy="152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4343400" y="5181600"/>
            <a:ext cx="3415550" cy="369332"/>
          </a:xfrm>
          <a:prstGeom prst="rect">
            <a:avLst/>
          </a:prstGeom>
          <a:noFill/>
        </p:spPr>
        <p:txBody>
          <a:bodyPr wrap="none" rtlCol="0">
            <a:spAutoFit/>
          </a:bodyPr>
          <a:lstStyle/>
          <a:p>
            <a:r>
              <a:rPr lang="en-US" dirty="0" smtClean="0"/>
              <a:t>Click on “I Agree” to launch SDA</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6.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7.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8.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9.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10.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11.jpg"/>
          <p:cNvPicPr>
            <a:picLocks noChangeAspect="1"/>
          </p:cNvPicPr>
          <p:nvPr/>
        </p:nvPicPr>
        <p:blipFill>
          <a:blip r:embed="rId2" cstate="print"/>
          <a:stretch>
            <a:fillRect/>
          </a:stretch>
        </p:blipFill>
        <p:spPr>
          <a:xfrm>
            <a:off x="0" y="0"/>
            <a:ext cx="9144000" cy="6858000"/>
          </a:xfrm>
          <a:prstGeom prst="rect">
            <a:avLst/>
          </a:prstGeom>
        </p:spPr>
      </p:pic>
      <p:pic>
        <p:nvPicPr>
          <p:cNvPr id="3" name="Picture 2" descr="ICPSR-6.jpg"/>
          <p:cNvPicPr>
            <a:picLocks noChangeAspect="1"/>
          </p:cNvPicPr>
          <p:nvPr/>
        </p:nvPicPr>
        <p:blipFill>
          <a:blip r:embed="rId3" cstate="print"/>
          <a:stretch>
            <a:fillRect/>
          </a:stretch>
        </p:blipFill>
        <p:spPr>
          <a:xfrm>
            <a:off x="152400" y="152400"/>
            <a:ext cx="9144000" cy="6858000"/>
          </a:xfrm>
          <a:prstGeom prst="rect">
            <a:avLst/>
          </a:prstGeom>
        </p:spPr>
      </p:pic>
      <p:sp>
        <p:nvSpPr>
          <p:cNvPr id="6" name="Left Arrow 5"/>
          <p:cNvSpPr/>
          <p:nvPr/>
        </p:nvSpPr>
        <p:spPr>
          <a:xfrm>
            <a:off x="4038600" y="1524000"/>
            <a:ext cx="3505200" cy="533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7" name="TextBox 6"/>
          <p:cNvSpPr txBox="1"/>
          <p:nvPr/>
        </p:nvSpPr>
        <p:spPr>
          <a:xfrm>
            <a:off x="7620000" y="1600200"/>
            <a:ext cx="1384031" cy="646331"/>
          </a:xfrm>
          <a:prstGeom prst="rect">
            <a:avLst/>
          </a:prstGeom>
          <a:noFill/>
        </p:spPr>
        <p:txBody>
          <a:bodyPr wrap="square" rtlCol="0">
            <a:spAutoFit/>
          </a:bodyPr>
          <a:lstStyle/>
          <a:p>
            <a:r>
              <a:rPr lang="en-US" dirty="0" smtClean="0"/>
              <a:t>Let’s see the</a:t>
            </a:r>
          </a:p>
          <a:p>
            <a:r>
              <a:rPr lang="en-US" dirty="0" smtClean="0"/>
              <a:t>Codebook</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12.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13.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PSR-14.jpg"/>
          <p:cNvPicPr>
            <a:picLocks noChangeAspect="1"/>
          </p:cNvPicPr>
          <p:nvPr/>
        </p:nvPicPr>
        <p:blipFill>
          <a:blip r:embed="rId2" cstate="print"/>
          <a:stretch>
            <a:fillRect/>
          </a:stretch>
        </p:blipFill>
        <p:spPr>
          <a:xfrm>
            <a:off x="0" y="0"/>
            <a:ext cx="9144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0" y="1143000"/>
            <a:ext cx="8915400" cy="6432530"/>
          </a:xfrm>
          <a:prstGeom prst="rect">
            <a:avLst/>
          </a:prstGeom>
          <a:noFill/>
        </p:spPr>
        <p:txBody>
          <a:bodyPr wrap="square" rtlCol="0">
            <a:spAutoFit/>
          </a:bodyPr>
          <a:lstStyle/>
          <a:p>
            <a:r>
              <a:rPr lang="en-US" sz="3200" dirty="0" smtClean="0"/>
              <a:t>Now it is time to organize the class into small groups and assign specific research tasks. Assume a class of 50 students, divided into groups of 5 (this can be expanded easily with larger classes by</a:t>
            </a:r>
          </a:p>
          <a:p>
            <a:r>
              <a:rPr lang="en-US" sz="3200" dirty="0" smtClean="0"/>
              <a:t>assigning groups to check one another’s work).</a:t>
            </a:r>
          </a:p>
          <a:p>
            <a:endParaRPr lang="en-US" sz="3200" dirty="0" smtClean="0"/>
          </a:p>
          <a:p>
            <a:r>
              <a:rPr lang="en-US" sz="3200" dirty="0" smtClean="0"/>
              <a:t>Remember the questions:</a:t>
            </a:r>
          </a:p>
          <a:p>
            <a:endParaRPr lang="en-US" sz="3200" dirty="0" smtClean="0"/>
          </a:p>
          <a:p>
            <a:pPr marL="342900" indent="-342900"/>
            <a:r>
              <a:rPr lang="en-US" sz="2000" dirty="0" smtClean="0"/>
              <a:t>  # 1–the slave system was not “economically moribund” on the eve of the Civil War and purely economic factors would not have led to its abolition </a:t>
            </a:r>
          </a:p>
          <a:p>
            <a:pPr marL="342900" indent="-342900"/>
            <a:endParaRPr lang="en-US" sz="1600" dirty="0" smtClean="0"/>
          </a:p>
          <a:p>
            <a:r>
              <a:rPr lang="en-US" sz="1600" dirty="0" smtClean="0"/>
              <a:t> </a:t>
            </a:r>
            <a:endParaRPr lang="en-US" sz="2000" dirty="0" smtClean="0"/>
          </a:p>
          <a:p>
            <a:pPr marL="342900" indent="-342900"/>
            <a:r>
              <a:rPr lang="en-US" sz="2000" dirty="0" smtClean="0"/>
              <a:t>SDA Test:   Compare Means-- price (V14) by year (v4).  Also, graph it.  </a:t>
            </a:r>
          </a:p>
          <a:p>
            <a:pPr marL="342900" indent="-342900"/>
            <a:endParaRPr lang="en-US" sz="1600" dirty="0" smtClean="0"/>
          </a:p>
          <a:p>
            <a:pPr marL="342900" indent="-342900"/>
            <a:endParaRPr lang="en-US" sz="1600" dirty="0" smtClean="0"/>
          </a:p>
          <a:p>
            <a:pPr marL="342900" indent="-342900"/>
            <a:endParaRPr lang="en-US" sz="1600" dirty="0" smtClean="0"/>
          </a:p>
          <a:p>
            <a:r>
              <a:rPr lang="en-US" sz="1600" dirty="0" smtClean="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pic>
        <p:nvPicPr>
          <p:cNvPr id="2050" name="Picture 2"/>
          <p:cNvPicPr>
            <a:picLocks noChangeAspect="1" noChangeArrowheads="1"/>
          </p:cNvPicPr>
          <p:nvPr/>
        </p:nvPicPr>
        <p:blipFill>
          <a:blip r:embed="rId4" cstate="print"/>
          <a:srcRect/>
          <a:stretch>
            <a:fillRect/>
          </a:stretch>
        </p:blipFill>
        <p:spPr bwMode="auto">
          <a:xfrm>
            <a:off x="228600" y="1905000"/>
            <a:ext cx="8305800" cy="4781550"/>
          </a:xfrm>
          <a:prstGeom prst="rect">
            <a:avLst/>
          </a:prstGeom>
          <a:noFill/>
          <a:ln w="9525">
            <a:noFill/>
            <a:miter lim="800000"/>
            <a:headEnd/>
            <a:tailEnd/>
          </a:ln>
          <a:effectLst/>
        </p:spPr>
      </p:pic>
      <p:sp>
        <p:nvSpPr>
          <p:cNvPr id="8" name="TextBox 7"/>
          <p:cNvSpPr txBox="1"/>
          <p:nvPr/>
        </p:nvSpPr>
        <p:spPr>
          <a:xfrm>
            <a:off x="304800" y="1066800"/>
            <a:ext cx="8541782" cy="369332"/>
          </a:xfrm>
          <a:prstGeom prst="rect">
            <a:avLst/>
          </a:prstGeom>
          <a:noFill/>
        </p:spPr>
        <p:txBody>
          <a:bodyPr wrap="square" rtlCol="0">
            <a:spAutoFit/>
          </a:bodyPr>
          <a:lstStyle/>
          <a:p>
            <a:r>
              <a:rPr lang="en-US" dirty="0" smtClean="0"/>
              <a:t>Chart:  Price of Persons Sold over time in the New Orleans Slave Market, 1804-1862 </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1371600" y="3995678"/>
            <a:ext cx="6400800" cy="2862322"/>
          </a:xfrm>
          <a:prstGeom prst="rect">
            <a:avLst/>
          </a:prstGeom>
          <a:noFill/>
        </p:spPr>
        <p:txBody>
          <a:bodyPr wrap="square" rtlCol="0">
            <a:spAutoFit/>
          </a:bodyPr>
          <a:lstStyle/>
          <a:p>
            <a:r>
              <a:rPr lang="en-US" dirty="0" smtClean="0"/>
              <a:t>Class discussion….Ask the team assigned to research and present on this graph:</a:t>
            </a:r>
          </a:p>
          <a:p>
            <a:endParaRPr lang="en-US" dirty="0" smtClean="0"/>
          </a:p>
          <a:p>
            <a:r>
              <a:rPr lang="en-US" dirty="0" smtClean="0"/>
              <a:t>Question # 1– is there any pattern you see in the distribution of prices over time between 1804 and 1862?</a:t>
            </a:r>
          </a:p>
          <a:p>
            <a:endParaRPr lang="en-US" dirty="0" smtClean="0"/>
          </a:p>
          <a:p>
            <a:r>
              <a:rPr lang="en-US" dirty="0" smtClean="0"/>
              <a:t>Question # 2—do you see any indication in the immediate years before the Civil War that the price of slaves was declining?</a:t>
            </a:r>
          </a:p>
          <a:p>
            <a:endParaRPr lang="en-US" dirty="0" smtClean="0"/>
          </a:p>
        </p:txBody>
      </p:sp>
      <p:pic>
        <p:nvPicPr>
          <p:cNvPr id="8" name="Picture 2"/>
          <p:cNvPicPr>
            <a:picLocks noChangeAspect="1" noChangeArrowheads="1"/>
          </p:cNvPicPr>
          <p:nvPr/>
        </p:nvPicPr>
        <p:blipFill>
          <a:blip r:embed="rId4" cstate="print"/>
          <a:srcRect/>
          <a:stretch>
            <a:fillRect/>
          </a:stretch>
        </p:blipFill>
        <p:spPr bwMode="auto">
          <a:xfrm>
            <a:off x="1981200" y="1066800"/>
            <a:ext cx="4953000" cy="2851383"/>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0" y="1143000"/>
            <a:ext cx="8915400" cy="2923877"/>
          </a:xfrm>
          <a:prstGeom prst="rect">
            <a:avLst/>
          </a:prstGeom>
          <a:noFill/>
        </p:spPr>
        <p:txBody>
          <a:bodyPr wrap="square" rtlCol="0">
            <a:spAutoFit/>
          </a:bodyPr>
          <a:lstStyle/>
          <a:p>
            <a:r>
              <a:rPr lang="en-US" sz="3200" dirty="0" smtClean="0"/>
              <a:t># </a:t>
            </a:r>
            <a:r>
              <a:rPr lang="en-US" sz="2000" dirty="0" smtClean="0"/>
              <a:t>2. --price trends of slaves reflected “rational” expectation that the institution would continue  </a:t>
            </a:r>
          </a:p>
          <a:p>
            <a:endParaRPr lang="en-US" sz="2000" dirty="0" smtClean="0"/>
          </a:p>
          <a:p>
            <a:pPr marL="342900" indent="-342900"/>
            <a:endParaRPr lang="en-US" sz="1600" dirty="0" smtClean="0"/>
          </a:p>
          <a:p>
            <a:pPr marL="342900" indent="-342900"/>
            <a:r>
              <a:rPr lang="en-US" sz="1600" dirty="0" smtClean="0"/>
              <a:t>Test:   Graph price of cotton year-by-year while the New Orleans slave market was operating, 1804-1861.   Source:  </a:t>
            </a:r>
            <a:r>
              <a:rPr lang="en-US" sz="1600" i="1" dirty="0" smtClean="0"/>
              <a:t>Historical Statistics of the United States: </a:t>
            </a:r>
            <a:r>
              <a:rPr lang="en-US" sz="1600" i="1" dirty="0" err="1" smtClean="0"/>
              <a:t>Millenial</a:t>
            </a:r>
            <a:r>
              <a:rPr lang="en-US" sz="1600" i="1" dirty="0" smtClean="0"/>
              <a:t> Edition</a:t>
            </a:r>
          </a:p>
          <a:p>
            <a:pPr marL="342900" indent="-342900"/>
            <a:endParaRPr lang="en-US" sz="1600" dirty="0" smtClean="0"/>
          </a:p>
          <a:p>
            <a:pPr marL="342900" indent="-342900"/>
            <a:endParaRPr lang="en-US" sz="1600" dirty="0" smtClean="0"/>
          </a:p>
          <a:p>
            <a:pPr marL="342900" indent="-342900"/>
            <a:endParaRPr lang="en-US" sz="1600" dirty="0" smtClean="0"/>
          </a:p>
          <a:p>
            <a:r>
              <a:rPr lang="en-US" sz="1600" dirty="0" smtClean="0"/>
              <a:t>  </a:t>
            </a:r>
          </a:p>
        </p:txBody>
      </p:sp>
      <p:sp>
        <p:nvSpPr>
          <p:cNvPr id="8" name="TextBox 7"/>
          <p:cNvSpPr txBox="1"/>
          <p:nvPr/>
        </p:nvSpPr>
        <p:spPr>
          <a:xfrm>
            <a:off x="0" y="3733800"/>
            <a:ext cx="8933148" cy="2308324"/>
          </a:xfrm>
          <a:prstGeom prst="rect">
            <a:avLst/>
          </a:prstGeom>
          <a:noFill/>
        </p:spPr>
        <p:txBody>
          <a:bodyPr wrap="square" rtlCol="0">
            <a:spAutoFit/>
          </a:bodyPr>
          <a:lstStyle/>
          <a:p>
            <a:r>
              <a:rPr lang="en-US" dirty="0" smtClean="0"/>
              <a:t>Bonus  variants on question # 2:   Did the price of slaves ever  fall in the New Orleans slave market at times of political crisis?   In the spring of 1850 before the “Compromise</a:t>
            </a:r>
          </a:p>
          <a:p>
            <a:r>
              <a:rPr lang="en-US" dirty="0" smtClean="0"/>
              <a:t>of 1850?  In the late fall of 1859 after John Brown’s Raid?   Right before (or after)</a:t>
            </a:r>
          </a:p>
          <a:p>
            <a:r>
              <a:rPr lang="en-US" dirty="0" smtClean="0"/>
              <a:t>the election of Abraham Lincoln?</a:t>
            </a:r>
          </a:p>
          <a:p>
            <a:endParaRPr lang="en-US" dirty="0" smtClean="0"/>
          </a:p>
          <a:p>
            <a:r>
              <a:rPr lang="en-US" dirty="0" smtClean="0"/>
              <a:t>Test:  Use the “Selection Filter” on SDA to isolate year (V4) and month (V3) to narrow</a:t>
            </a:r>
          </a:p>
          <a:p>
            <a:r>
              <a:rPr lang="en-US" dirty="0" smtClean="0"/>
              <a:t>the prices examined. </a:t>
            </a:r>
          </a:p>
          <a:p>
            <a:r>
              <a:rPr lang="en-US" dirty="0" smtClean="0"/>
              <a:t>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pic>
        <p:nvPicPr>
          <p:cNvPr id="4152" name="Picture 56"/>
          <p:cNvPicPr>
            <a:picLocks noChangeAspect="1" noChangeArrowheads="1"/>
          </p:cNvPicPr>
          <p:nvPr/>
        </p:nvPicPr>
        <p:blipFill>
          <a:blip r:embed="rId4" cstate="print"/>
          <a:srcRect/>
          <a:stretch>
            <a:fillRect/>
          </a:stretch>
        </p:blipFill>
        <p:spPr bwMode="auto">
          <a:xfrm>
            <a:off x="6248400" y="1066800"/>
            <a:ext cx="2895600" cy="866775"/>
          </a:xfrm>
          <a:prstGeom prst="rect">
            <a:avLst/>
          </a:prstGeom>
          <a:noFill/>
          <a:ln w="9525">
            <a:noFill/>
            <a:miter lim="800000"/>
            <a:headEnd/>
            <a:tailEnd/>
          </a:ln>
        </p:spPr>
      </p:pic>
      <p:graphicFrame>
        <p:nvGraphicFramePr>
          <p:cNvPr id="46" name="Table 45"/>
          <p:cNvGraphicFramePr>
            <a:graphicFrameLocks noGrp="1"/>
          </p:cNvGraphicFramePr>
          <p:nvPr/>
        </p:nvGraphicFramePr>
        <p:xfrm>
          <a:off x="6172200" y="1981201"/>
          <a:ext cx="2819400" cy="4876799"/>
        </p:xfrm>
        <a:graphic>
          <a:graphicData uri="http://schemas.openxmlformats.org/drawingml/2006/table">
            <a:tbl>
              <a:tblPr/>
              <a:tblGrid>
                <a:gridCol w="1407115"/>
                <a:gridCol w="1412285"/>
              </a:tblGrid>
              <a:tr h="899586">
                <a:tc>
                  <a:txBody>
                    <a:bodyPr/>
                    <a:lstStyle/>
                    <a:p>
                      <a:pPr algn="l" fontAlgn="b"/>
                      <a:endParaRPr lang="en-US" sz="900" b="0" i="0" u="none" strike="noStrike" dirty="0">
                        <a:latin typeface="Arial"/>
                      </a:endParaRPr>
                    </a:p>
                  </a:txBody>
                  <a:tcPr marL="8284" marR="8284" marT="8284"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700" b="1" i="0" u="none" strike="noStrike" dirty="0">
                          <a:latin typeface="Arial"/>
                        </a:rPr>
                        <a:t>Table Cc205-266.  Wholesale prices of selected commodities: 1784-1998 </a:t>
                      </a:r>
                    </a:p>
                  </a:txBody>
                  <a:tcPr marL="8284" marR="8284" marT="828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335">
                <a:tc>
                  <a:txBody>
                    <a:bodyPr/>
                    <a:lstStyle/>
                    <a:p>
                      <a:pPr algn="l" fontAlgn="b"/>
                      <a:endParaRPr lang="en-US" sz="900" b="0" i="0" u="none" strike="noStrike">
                        <a:latin typeface="Arial"/>
                      </a:endParaRPr>
                    </a:p>
                  </a:txBody>
                  <a:tcPr marL="8284" marR="8284" marT="828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latin typeface="Arial"/>
                      </a:endParaRPr>
                    </a:p>
                  </a:txBody>
                  <a:tcPr marL="8284" marR="8284" marT="82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rowSpan="4">
                  <a:txBody>
                    <a:bodyPr/>
                    <a:lstStyle/>
                    <a:p>
                      <a:pPr algn="l" fontAlgn="t"/>
                      <a:r>
                        <a:rPr lang="en-US" sz="700" b="1" i="0" u="none" strike="noStrike" dirty="0">
                          <a:latin typeface="Arial"/>
                        </a:rPr>
                        <a:t>Year </a:t>
                      </a:r>
                    </a:p>
                  </a:txBody>
                  <a:tcPr marL="8284" marR="8284" marT="828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700" b="1" i="0" u="none" strike="noStrike" dirty="0">
                          <a:latin typeface="Arial"/>
                        </a:rPr>
                        <a:t>Cotton, raw </a:t>
                      </a:r>
                    </a:p>
                  </a:txBody>
                  <a:tcPr marL="8284" marR="8284" marT="828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7877">
                <a:tc vMerge="1">
                  <a:txBody>
                    <a:bodyPr/>
                    <a:lstStyle/>
                    <a:p>
                      <a:endParaRPr lang="en-US"/>
                    </a:p>
                  </a:txBody>
                  <a:tcPr/>
                </a:tc>
                <a:tc>
                  <a:txBody>
                    <a:bodyPr/>
                    <a:lstStyle/>
                    <a:p>
                      <a:pPr algn="l" fontAlgn="t"/>
                      <a:r>
                        <a:rPr lang="en-US" sz="700" b="1" i="0" u="none" strike="noStrike" dirty="0">
                          <a:latin typeface="Arial"/>
                        </a:rPr>
                        <a:t>Cole and Hammond </a:t>
                      </a:r>
                    </a:p>
                  </a:txBody>
                  <a:tcPr marL="8284" marR="8284" marT="828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vMerge="1">
                  <a:txBody>
                    <a:bodyPr/>
                    <a:lstStyle/>
                    <a:p>
                      <a:endParaRPr lang="en-US"/>
                    </a:p>
                  </a:txBody>
                  <a:tcPr/>
                </a:tc>
                <a:tc>
                  <a:txBody>
                    <a:bodyPr/>
                    <a:lstStyle/>
                    <a:p>
                      <a:pPr algn="l" fontAlgn="t"/>
                      <a:r>
                        <a:rPr lang="en-US" sz="700" b="1" i="0" u="none" strike="noStrike">
                          <a:latin typeface="Arial"/>
                        </a:rPr>
                        <a:t>Cc222 </a:t>
                      </a:r>
                    </a:p>
                  </a:txBody>
                  <a:tcPr marL="8284" marR="8284" marT="828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7877">
                <a:tc vMerge="1">
                  <a:txBody>
                    <a:bodyPr/>
                    <a:lstStyle/>
                    <a:p>
                      <a:endParaRPr lang="en-US"/>
                    </a:p>
                  </a:txBody>
                  <a:tcPr/>
                </a:tc>
                <a:tc>
                  <a:txBody>
                    <a:bodyPr/>
                    <a:lstStyle/>
                    <a:p>
                      <a:pPr algn="l" fontAlgn="t"/>
                      <a:r>
                        <a:rPr lang="en-US" sz="700" b="1" i="0" u="none" strike="noStrike" dirty="0">
                          <a:latin typeface="Arial"/>
                        </a:rPr>
                        <a:t>Dollars per pound</a:t>
                      </a:r>
                    </a:p>
                  </a:txBody>
                  <a:tcPr marL="8284" marR="8284" marT="828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1804</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smtClean="0">
                          <a:latin typeface="Arial"/>
                        </a:rPr>
                        <a:t>0.20</a:t>
                      </a:r>
                      <a:endParaRPr lang="en-US" sz="700" b="0" i="0" u="none" strike="noStrike" dirty="0">
                        <a:latin typeface="Arial"/>
                      </a:endParaRP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1805</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a:latin typeface="Arial"/>
                        </a:rPr>
                        <a:t>0.23</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1806</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0.22</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1807</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a:latin typeface="Arial"/>
                        </a:rPr>
                        <a:t>0.22</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1808</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0.19</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1809</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a:latin typeface="Arial"/>
                        </a:rPr>
                        <a:t>0.16</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1810</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0.16</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1811</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0.16</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1812</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0.11</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1813</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a:latin typeface="Arial"/>
                        </a:rPr>
                        <a:t>0.13</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1814</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0.15</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1815</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0.21</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1816</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smtClean="0">
                          <a:latin typeface="Arial"/>
                        </a:rPr>
                        <a:t>0.30</a:t>
                      </a:r>
                      <a:endParaRPr lang="en-US" sz="700" b="0" i="0" u="none" strike="noStrike" dirty="0">
                        <a:latin typeface="Arial"/>
                      </a:endParaRP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1817</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0.27</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1818</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0.24</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1819</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0.24</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796">
                <a:tc>
                  <a:txBody>
                    <a:bodyPr/>
                    <a:lstStyle/>
                    <a:p>
                      <a:pPr algn="r" fontAlgn="b"/>
                      <a:r>
                        <a:rPr lang="en-US" sz="700" b="0" i="0" u="none" strike="noStrike">
                          <a:latin typeface="Arial"/>
                        </a:rPr>
                        <a:t>1820</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700" b="0" i="0" u="none" strike="noStrike" dirty="0">
                          <a:latin typeface="Arial"/>
                        </a:rPr>
                        <a:t>0.17</a:t>
                      </a:r>
                    </a:p>
                  </a:txBody>
                  <a:tcPr marL="8284" marR="8284" marT="82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7" name="Chart 46"/>
          <p:cNvGraphicFramePr/>
          <p:nvPr/>
        </p:nvGraphicFramePr>
        <p:xfrm>
          <a:off x="228600" y="2133600"/>
          <a:ext cx="5029200" cy="3505200"/>
        </p:xfrm>
        <a:graphic>
          <a:graphicData uri="http://schemas.openxmlformats.org/drawingml/2006/chart">
            <c:chart xmlns:c="http://schemas.openxmlformats.org/drawingml/2006/chart" xmlns:r="http://schemas.openxmlformats.org/officeDocument/2006/relationships" r:id="rId5"/>
          </a:graphicData>
        </a:graphic>
      </p:graphicFrame>
      <p:sp>
        <p:nvSpPr>
          <p:cNvPr id="48" name="TextBox 47"/>
          <p:cNvSpPr txBox="1"/>
          <p:nvPr/>
        </p:nvSpPr>
        <p:spPr>
          <a:xfrm>
            <a:off x="457200" y="1524000"/>
            <a:ext cx="5335435" cy="369332"/>
          </a:xfrm>
          <a:prstGeom prst="rect">
            <a:avLst/>
          </a:prstGeom>
          <a:noFill/>
        </p:spPr>
        <p:txBody>
          <a:bodyPr wrap="none" rtlCol="0">
            <a:spAutoFit/>
          </a:bodyPr>
          <a:lstStyle/>
          <a:p>
            <a:r>
              <a:rPr lang="en-US" dirty="0" smtClean="0"/>
              <a:t>Cotton prices 1804-1861 (cents/pound of raw cotton)</a:t>
            </a:r>
            <a:endParaRPr lang="en-US" dirty="0"/>
          </a:p>
        </p:txBody>
      </p:sp>
      <p:sp>
        <p:nvSpPr>
          <p:cNvPr id="49" name="TextBox 48"/>
          <p:cNvSpPr txBox="1"/>
          <p:nvPr/>
        </p:nvSpPr>
        <p:spPr>
          <a:xfrm>
            <a:off x="152400" y="5867400"/>
            <a:ext cx="4993803" cy="923330"/>
          </a:xfrm>
          <a:prstGeom prst="rect">
            <a:avLst/>
          </a:prstGeom>
          <a:noFill/>
        </p:spPr>
        <p:txBody>
          <a:bodyPr wrap="none" rtlCol="0">
            <a:spAutoFit/>
          </a:bodyPr>
          <a:lstStyle/>
          <a:p>
            <a:r>
              <a:rPr lang="en-US" dirty="0" smtClean="0"/>
              <a:t>Source:  </a:t>
            </a:r>
            <a:r>
              <a:rPr lang="en-US" i="1" dirty="0" smtClean="0"/>
              <a:t>Historical Statistics of the United States:</a:t>
            </a:r>
          </a:p>
          <a:p>
            <a:r>
              <a:rPr lang="en-US" i="1" dirty="0" err="1" smtClean="0"/>
              <a:t>Millenial</a:t>
            </a:r>
            <a:r>
              <a:rPr lang="en-US" i="1" dirty="0" smtClean="0"/>
              <a:t> Edition</a:t>
            </a:r>
            <a:r>
              <a:rPr lang="en-US" dirty="0" smtClean="0"/>
              <a:t>, accessed at :</a:t>
            </a:r>
          </a:p>
          <a:p>
            <a:r>
              <a:rPr lang="en-US" dirty="0" smtClean="0">
                <a:solidFill>
                  <a:srgbClr val="002060"/>
                </a:solidFill>
                <a:hlinkClick r:id="rId6"/>
              </a:rPr>
              <a:t>http://hsus.cambridge.org/HSUSWeb</a:t>
            </a:r>
            <a:endParaRPr lang="en-US" dirty="0" smtClean="0">
              <a:solidFill>
                <a:srgbClr val="00206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990600" y="4114800"/>
            <a:ext cx="7467600" cy="1200329"/>
          </a:xfrm>
          <a:prstGeom prst="rect">
            <a:avLst/>
          </a:prstGeom>
          <a:noFill/>
        </p:spPr>
        <p:txBody>
          <a:bodyPr wrap="square" rtlCol="0">
            <a:spAutoFit/>
          </a:bodyPr>
          <a:lstStyle/>
          <a:p>
            <a:r>
              <a:rPr lang="en-US" dirty="0" smtClean="0"/>
              <a:t>Question for group presenting data on the price of cotton, 1804-1862:</a:t>
            </a:r>
          </a:p>
          <a:p>
            <a:endParaRPr lang="en-US" dirty="0" smtClean="0"/>
          </a:p>
          <a:p>
            <a:r>
              <a:rPr lang="en-US" dirty="0" smtClean="0"/>
              <a:t>Do you see any patterns or trends?   What relationship, if any, do you see between the trends in the price of cotton and in slave prices? </a:t>
            </a:r>
            <a:endParaRPr lang="en-US" dirty="0"/>
          </a:p>
        </p:txBody>
      </p:sp>
      <p:graphicFrame>
        <p:nvGraphicFramePr>
          <p:cNvPr id="8" name="Chart 7"/>
          <p:cNvGraphicFramePr/>
          <p:nvPr/>
        </p:nvGraphicFramePr>
        <p:xfrm>
          <a:off x="1828800" y="990600"/>
          <a:ext cx="5334000" cy="28956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pic>
        <p:nvPicPr>
          <p:cNvPr id="3074" name="Picture 2"/>
          <p:cNvPicPr>
            <a:picLocks noChangeAspect="1" noChangeArrowheads="1"/>
          </p:cNvPicPr>
          <p:nvPr/>
        </p:nvPicPr>
        <p:blipFill>
          <a:blip r:embed="rId4" cstate="print"/>
          <a:srcRect/>
          <a:stretch>
            <a:fillRect/>
          </a:stretch>
        </p:blipFill>
        <p:spPr bwMode="auto">
          <a:xfrm>
            <a:off x="152400" y="1905000"/>
            <a:ext cx="5972175" cy="4781550"/>
          </a:xfrm>
          <a:prstGeom prst="rect">
            <a:avLst/>
          </a:prstGeom>
          <a:noFill/>
          <a:ln w="9525">
            <a:noFill/>
            <a:miter lim="800000"/>
            <a:headEnd/>
            <a:tailEnd/>
          </a:ln>
          <a:effectLst/>
        </p:spPr>
      </p:pic>
      <p:sp>
        <p:nvSpPr>
          <p:cNvPr id="8" name="TextBox 7"/>
          <p:cNvSpPr txBox="1"/>
          <p:nvPr/>
        </p:nvSpPr>
        <p:spPr>
          <a:xfrm>
            <a:off x="1066800" y="1524000"/>
            <a:ext cx="4953000" cy="369332"/>
          </a:xfrm>
          <a:prstGeom prst="rect">
            <a:avLst/>
          </a:prstGeom>
          <a:noFill/>
        </p:spPr>
        <p:txBody>
          <a:bodyPr wrap="square" rtlCol="0">
            <a:spAutoFit/>
          </a:bodyPr>
          <a:lstStyle/>
          <a:p>
            <a:r>
              <a:rPr lang="en-US" dirty="0" smtClean="0"/>
              <a:t>New Orleans slave-sale prices by month, 1859 </a:t>
            </a:r>
            <a:endParaRPr lang="en-US" dirty="0"/>
          </a:p>
        </p:txBody>
      </p:sp>
      <p:cxnSp>
        <p:nvCxnSpPr>
          <p:cNvPr id="12" name="Straight Arrow Connector 11"/>
          <p:cNvCxnSpPr/>
          <p:nvPr/>
        </p:nvCxnSpPr>
        <p:spPr>
          <a:xfrm rot="10800000" flipV="1">
            <a:off x="4724400" y="2286000"/>
            <a:ext cx="24384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162800" y="1600200"/>
            <a:ext cx="1981200" cy="1200329"/>
          </a:xfrm>
          <a:prstGeom prst="rect">
            <a:avLst/>
          </a:prstGeom>
          <a:noFill/>
        </p:spPr>
        <p:txBody>
          <a:bodyPr wrap="square" rtlCol="0">
            <a:spAutoFit/>
          </a:bodyPr>
          <a:lstStyle/>
          <a:p>
            <a:r>
              <a:rPr lang="en-US" dirty="0" smtClean="0"/>
              <a:t>Date of John Brown’s raid on</a:t>
            </a:r>
          </a:p>
          <a:p>
            <a:r>
              <a:rPr lang="en-US" dirty="0" smtClean="0"/>
              <a:t>Harper’s Ferry, </a:t>
            </a:r>
          </a:p>
          <a:p>
            <a:r>
              <a:rPr lang="en-US" dirty="0" smtClean="0"/>
              <a:t>Oct. 16, 1859</a:t>
            </a:r>
            <a:endParaRPr lang="en-US" dirty="0"/>
          </a:p>
        </p:txBody>
      </p:sp>
      <p:sp>
        <p:nvSpPr>
          <p:cNvPr id="15" name="TextBox 14"/>
          <p:cNvSpPr txBox="1"/>
          <p:nvPr/>
        </p:nvSpPr>
        <p:spPr>
          <a:xfrm>
            <a:off x="6781800" y="4267200"/>
            <a:ext cx="2263184" cy="1754326"/>
          </a:xfrm>
          <a:prstGeom prst="rect">
            <a:avLst/>
          </a:prstGeom>
          <a:noFill/>
        </p:spPr>
        <p:txBody>
          <a:bodyPr wrap="none" rtlCol="0">
            <a:spAutoFit/>
          </a:bodyPr>
          <a:lstStyle/>
          <a:p>
            <a:r>
              <a:rPr lang="en-US" dirty="0" smtClean="0"/>
              <a:t>Question:  your</a:t>
            </a:r>
          </a:p>
          <a:p>
            <a:r>
              <a:rPr lang="en-US" dirty="0" smtClean="0"/>
              <a:t>interpretation of the</a:t>
            </a:r>
          </a:p>
          <a:p>
            <a:r>
              <a:rPr lang="en-US" dirty="0" smtClean="0"/>
              <a:t>effect of the Harper’s</a:t>
            </a:r>
          </a:p>
          <a:p>
            <a:r>
              <a:rPr lang="en-US" dirty="0" smtClean="0"/>
              <a:t>Ferry raid on New </a:t>
            </a:r>
          </a:p>
          <a:p>
            <a:r>
              <a:rPr lang="en-US" dirty="0" smtClean="0"/>
              <a:t>Orleans slave-sale </a:t>
            </a:r>
          </a:p>
          <a:p>
            <a:r>
              <a:rPr lang="en-US" dirty="0" smtClean="0"/>
              <a:t>prices?</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0" y="1143000"/>
            <a:ext cx="8915400" cy="5447645"/>
          </a:xfrm>
          <a:prstGeom prst="rect">
            <a:avLst/>
          </a:prstGeom>
          <a:noFill/>
        </p:spPr>
        <p:txBody>
          <a:bodyPr wrap="square" rtlCol="0">
            <a:spAutoFit/>
          </a:bodyPr>
          <a:lstStyle/>
          <a:p>
            <a:r>
              <a:rPr lang="en-US" sz="3200" dirty="0" smtClean="0"/>
              <a:t> </a:t>
            </a:r>
          </a:p>
          <a:p>
            <a:r>
              <a:rPr lang="en-US" sz="3200" dirty="0" smtClean="0"/>
              <a:t>#3. --prices of slaves were also rational in that differentials existed for age, gender, skill</a:t>
            </a:r>
          </a:p>
          <a:p>
            <a:endParaRPr lang="en-US" sz="3200" dirty="0" smtClean="0"/>
          </a:p>
          <a:p>
            <a:pPr>
              <a:buFont typeface="Arial" pitchFamily="34" charset="0"/>
              <a:buChar char="•"/>
            </a:pPr>
            <a:r>
              <a:rPr lang="en-US" sz="3200" dirty="0" smtClean="0"/>
              <a:t>Tests:  Compare Means of price (V14) by:	</a:t>
            </a:r>
          </a:p>
          <a:p>
            <a:pPr lvl="1">
              <a:buFont typeface="Arial" pitchFamily="34" charset="0"/>
              <a:buChar char="•"/>
            </a:pPr>
            <a:r>
              <a:rPr lang="en-US" sz="3200" dirty="0" smtClean="0"/>
              <a:t>Age (V16)</a:t>
            </a:r>
          </a:p>
          <a:p>
            <a:pPr lvl="1">
              <a:buFont typeface="Arial" pitchFamily="34" charset="0"/>
              <a:buChar char="•"/>
            </a:pPr>
            <a:r>
              <a:rPr lang="en-US" sz="3200" dirty="0" smtClean="0"/>
              <a:t>Sex (v15) 			</a:t>
            </a:r>
          </a:p>
          <a:p>
            <a:pPr lvl="1">
              <a:buFont typeface="Arial" pitchFamily="34" charset="0"/>
              <a:buChar char="•"/>
            </a:pPr>
            <a:r>
              <a:rPr lang="en-US" sz="3200" dirty="0" smtClean="0"/>
              <a:t>Occupation (V42)</a:t>
            </a:r>
          </a:p>
          <a:p>
            <a:pPr marL="342900" indent="-342900"/>
            <a:endParaRPr lang="en-US" sz="1600" dirty="0" smtClean="0"/>
          </a:p>
          <a:p>
            <a:pPr marL="342900" indent="-342900"/>
            <a:r>
              <a:rPr lang="en-US" sz="2000" dirty="0" smtClean="0"/>
              <a:t>Bonus:   Use the Recode on Occupation (V42) to produce means of prices for</a:t>
            </a:r>
          </a:p>
          <a:p>
            <a:pPr marL="342900" indent="-342900"/>
            <a:r>
              <a:rPr lang="en-US" sz="2000" dirty="0" smtClean="0"/>
              <a:t>skilled and unskilled persons (students will have to decide what was skilled or unskilled slave labor in antebellum Louisiana)</a:t>
            </a:r>
          </a:p>
          <a:p>
            <a:r>
              <a:rPr lang="en-US" sz="1600" dirty="0" smtClean="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pic>
        <p:nvPicPr>
          <p:cNvPr id="4098" name="Picture 2"/>
          <p:cNvPicPr>
            <a:picLocks noChangeAspect="1" noChangeArrowheads="1"/>
          </p:cNvPicPr>
          <p:nvPr/>
        </p:nvPicPr>
        <p:blipFill>
          <a:blip r:embed="rId4" cstate="print"/>
          <a:srcRect/>
          <a:stretch>
            <a:fillRect/>
          </a:stretch>
        </p:blipFill>
        <p:spPr bwMode="auto">
          <a:xfrm>
            <a:off x="0" y="1600200"/>
            <a:ext cx="6091143" cy="4876800"/>
          </a:xfrm>
          <a:prstGeom prst="rect">
            <a:avLst/>
          </a:prstGeom>
          <a:noFill/>
          <a:ln w="9525">
            <a:noFill/>
            <a:miter lim="800000"/>
            <a:headEnd/>
            <a:tailEnd/>
          </a:ln>
          <a:effectLst/>
        </p:spPr>
      </p:pic>
      <p:sp>
        <p:nvSpPr>
          <p:cNvPr id="8" name="TextBox 7"/>
          <p:cNvSpPr txBox="1"/>
          <p:nvPr/>
        </p:nvSpPr>
        <p:spPr>
          <a:xfrm>
            <a:off x="457200" y="1295400"/>
            <a:ext cx="8229600" cy="369332"/>
          </a:xfrm>
          <a:prstGeom prst="rect">
            <a:avLst/>
          </a:prstGeom>
          <a:noFill/>
        </p:spPr>
        <p:txBody>
          <a:bodyPr wrap="square" rtlCol="0">
            <a:spAutoFit/>
          </a:bodyPr>
          <a:lstStyle/>
          <a:p>
            <a:r>
              <a:rPr lang="en-US" dirty="0" smtClean="0"/>
              <a:t>Chart of price of persons by age, New Orleans slave-sale market, 1804-1862</a:t>
            </a:r>
            <a:endParaRPr lang="en-US" dirty="0"/>
          </a:p>
        </p:txBody>
      </p:sp>
      <p:sp>
        <p:nvSpPr>
          <p:cNvPr id="9" name="TextBox 8"/>
          <p:cNvSpPr txBox="1"/>
          <p:nvPr/>
        </p:nvSpPr>
        <p:spPr>
          <a:xfrm>
            <a:off x="7010400" y="3048000"/>
            <a:ext cx="2093330" cy="2585323"/>
          </a:xfrm>
          <a:prstGeom prst="rect">
            <a:avLst/>
          </a:prstGeom>
          <a:noFill/>
        </p:spPr>
        <p:txBody>
          <a:bodyPr wrap="none" rtlCol="0">
            <a:spAutoFit/>
          </a:bodyPr>
          <a:lstStyle/>
          <a:p>
            <a:r>
              <a:rPr lang="en-US" dirty="0" smtClean="0"/>
              <a:t>Question:  what</a:t>
            </a:r>
          </a:p>
          <a:p>
            <a:r>
              <a:rPr lang="en-US" dirty="0" smtClean="0"/>
              <a:t>pattern do you see?</a:t>
            </a:r>
          </a:p>
          <a:p>
            <a:r>
              <a:rPr lang="en-US" dirty="0" smtClean="0"/>
              <a:t>Any exceptions or</a:t>
            </a:r>
          </a:p>
          <a:p>
            <a:r>
              <a:rPr lang="en-US" dirty="0" smtClean="0"/>
              <a:t>anomalies?</a:t>
            </a:r>
          </a:p>
          <a:p>
            <a:endParaRPr lang="en-US" dirty="0" smtClean="0"/>
          </a:p>
          <a:p>
            <a:r>
              <a:rPr lang="en-US" dirty="0" smtClean="0"/>
              <a:t>Question:  how</a:t>
            </a:r>
          </a:p>
          <a:p>
            <a:r>
              <a:rPr lang="en-US" dirty="0" smtClean="0"/>
              <a:t>do you explain</a:t>
            </a:r>
          </a:p>
          <a:p>
            <a:r>
              <a:rPr lang="en-US" dirty="0" smtClean="0"/>
              <a:t>the pattern(s) you</a:t>
            </a:r>
          </a:p>
          <a:p>
            <a:r>
              <a:rPr lang="en-US" dirty="0" smtClean="0"/>
              <a:t>see?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pic>
        <p:nvPicPr>
          <p:cNvPr id="5122" name="Picture 2"/>
          <p:cNvPicPr>
            <a:picLocks noChangeAspect="1" noChangeArrowheads="1"/>
          </p:cNvPicPr>
          <p:nvPr/>
        </p:nvPicPr>
        <p:blipFill>
          <a:blip r:embed="rId4" cstate="print"/>
          <a:srcRect/>
          <a:stretch>
            <a:fillRect/>
          </a:stretch>
        </p:blipFill>
        <p:spPr bwMode="auto">
          <a:xfrm>
            <a:off x="0" y="1905000"/>
            <a:ext cx="5972175" cy="4781550"/>
          </a:xfrm>
          <a:prstGeom prst="rect">
            <a:avLst/>
          </a:prstGeom>
          <a:noFill/>
          <a:ln w="9525">
            <a:noFill/>
            <a:miter lim="800000"/>
            <a:headEnd/>
            <a:tailEnd/>
          </a:ln>
          <a:effectLst/>
        </p:spPr>
      </p:pic>
      <p:sp>
        <p:nvSpPr>
          <p:cNvPr id="8" name="Rectangle 7"/>
          <p:cNvSpPr/>
          <p:nvPr/>
        </p:nvSpPr>
        <p:spPr>
          <a:xfrm>
            <a:off x="457200" y="1295400"/>
            <a:ext cx="8382000" cy="369332"/>
          </a:xfrm>
          <a:prstGeom prst="rect">
            <a:avLst/>
          </a:prstGeom>
        </p:spPr>
        <p:txBody>
          <a:bodyPr wrap="square">
            <a:spAutoFit/>
          </a:bodyPr>
          <a:lstStyle/>
          <a:p>
            <a:r>
              <a:rPr lang="en-US" dirty="0" smtClean="0"/>
              <a:t>Chart of price of persons by sex, New Orleans slave-sale market, 1804-1862</a:t>
            </a:r>
            <a:endParaRPr lang="en-US" dirty="0"/>
          </a:p>
        </p:txBody>
      </p:sp>
      <p:sp>
        <p:nvSpPr>
          <p:cNvPr id="9" name="TextBox 8"/>
          <p:cNvSpPr txBox="1"/>
          <p:nvPr/>
        </p:nvSpPr>
        <p:spPr>
          <a:xfrm>
            <a:off x="6031610" y="2819400"/>
            <a:ext cx="3112390" cy="923330"/>
          </a:xfrm>
          <a:prstGeom prst="rect">
            <a:avLst/>
          </a:prstGeom>
          <a:noFill/>
        </p:spPr>
        <p:txBody>
          <a:bodyPr wrap="none" rtlCol="0">
            <a:spAutoFit/>
          </a:bodyPr>
          <a:lstStyle/>
          <a:p>
            <a:r>
              <a:rPr lang="en-US" dirty="0" smtClean="0"/>
              <a:t>Question:  what do you</a:t>
            </a:r>
          </a:p>
          <a:p>
            <a:r>
              <a:rPr lang="en-US" dirty="0" smtClean="0"/>
              <a:t>see in the chart?  How do you</a:t>
            </a:r>
          </a:p>
          <a:p>
            <a:r>
              <a:rPr lang="en-US" dirty="0" smtClean="0"/>
              <a:t>explain it?</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pic>
        <p:nvPicPr>
          <p:cNvPr id="6146" name="Picture 2"/>
          <p:cNvPicPr>
            <a:picLocks noChangeAspect="1" noChangeArrowheads="1"/>
          </p:cNvPicPr>
          <p:nvPr/>
        </p:nvPicPr>
        <p:blipFill>
          <a:blip r:embed="rId4" cstate="print"/>
          <a:srcRect/>
          <a:stretch>
            <a:fillRect/>
          </a:stretch>
        </p:blipFill>
        <p:spPr bwMode="auto">
          <a:xfrm>
            <a:off x="0" y="2076450"/>
            <a:ext cx="5972175" cy="4781550"/>
          </a:xfrm>
          <a:prstGeom prst="rect">
            <a:avLst/>
          </a:prstGeom>
          <a:noFill/>
          <a:ln w="9525">
            <a:noFill/>
            <a:miter lim="800000"/>
            <a:headEnd/>
            <a:tailEnd/>
          </a:ln>
          <a:effectLst/>
        </p:spPr>
      </p:pic>
      <p:sp>
        <p:nvSpPr>
          <p:cNvPr id="8" name="Rectangle 7"/>
          <p:cNvSpPr/>
          <p:nvPr/>
        </p:nvSpPr>
        <p:spPr>
          <a:xfrm>
            <a:off x="457200" y="1295400"/>
            <a:ext cx="8382000" cy="369332"/>
          </a:xfrm>
          <a:prstGeom prst="rect">
            <a:avLst/>
          </a:prstGeom>
        </p:spPr>
        <p:txBody>
          <a:bodyPr wrap="square">
            <a:spAutoFit/>
          </a:bodyPr>
          <a:lstStyle/>
          <a:p>
            <a:r>
              <a:rPr lang="en-US" dirty="0" smtClean="0"/>
              <a:t>Chart of price of persons by skill, New Orleans slave-sale market, 1804-1862</a:t>
            </a:r>
            <a:endParaRPr lang="en-US" dirty="0"/>
          </a:p>
        </p:txBody>
      </p:sp>
      <p:sp>
        <p:nvSpPr>
          <p:cNvPr id="9" name="TextBox 8"/>
          <p:cNvSpPr txBox="1"/>
          <p:nvPr/>
        </p:nvSpPr>
        <p:spPr>
          <a:xfrm>
            <a:off x="6324600" y="2667000"/>
            <a:ext cx="2173415" cy="1200329"/>
          </a:xfrm>
          <a:prstGeom prst="rect">
            <a:avLst/>
          </a:prstGeom>
          <a:noFill/>
        </p:spPr>
        <p:txBody>
          <a:bodyPr wrap="none" rtlCol="0">
            <a:spAutoFit/>
          </a:bodyPr>
          <a:lstStyle/>
          <a:p>
            <a:r>
              <a:rPr lang="en-US" dirty="0" smtClean="0"/>
              <a:t>Question:  what do</a:t>
            </a:r>
          </a:p>
          <a:p>
            <a:r>
              <a:rPr lang="en-US" dirty="0" smtClean="0"/>
              <a:t>you see in the chart</a:t>
            </a:r>
          </a:p>
          <a:p>
            <a:r>
              <a:rPr lang="en-US" dirty="0" smtClean="0"/>
              <a:t>to the left?  How do</a:t>
            </a:r>
          </a:p>
          <a:p>
            <a:r>
              <a:rPr lang="en-US" dirty="0" smtClean="0"/>
              <a:t>you interpret it?</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0" y="990600"/>
            <a:ext cx="8915400" cy="2000548"/>
          </a:xfrm>
          <a:prstGeom prst="rect">
            <a:avLst/>
          </a:prstGeom>
          <a:noFill/>
        </p:spPr>
        <p:txBody>
          <a:bodyPr wrap="square" rtlCol="0">
            <a:spAutoFit/>
          </a:bodyPr>
          <a:lstStyle/>
          <a:p>
            <a:r>
              <a:rPr lang="en-US" sz="2000" dirty="0" smtClean="0"/>
              <a:t>4. --Owners took care not to break up families by sale; individuals sold were done so at an age they would normally leave their households…</a:t>
            </a:r>
            <a:br>
              <a:rPr lang="en-US" sz="2000" dirty="0" smtClean="0"/>
            </a:br>
            <a:endParaRPr lang="en-US" sz="2000" dirty="0" smtClean="0"/>
          </a:p>
          <a:p>
            <a:r>
              <a:rPr lang="en-US" sz="1600" dirty="0" smtClean="0"/>
              <a:t>Test:  Run a frequency tabulation on Family Relationship (V35)  </a:t>
            </a:r>
          </a:p>
          <a:p>
            <a:pPr marL="342900" indent="-342900"/>
            <a:endParaRPr lang="en-US" sz="1600" dirty="0" smtClean="0"/>
          </a:p>
          <a:p>
            <a:pPr marL="342900" indent="-342900"/>
            <a:endParaRPr lang="en-US" sz="1600" dirty="0" smtClean="0"/>
          </a:p>
          <a:p>
            <a:r>
              <a:rPr lang="en-US" sz="1600" dirty="0" smtClean="0"/>
              <a:t>  </a:t>
            </a:r>
          </a:p>
        </p:txBody>
      </p:sp>
      <p:sp>
        <p:nvSpPr>
          <p:cNvPr id="9" name="TextBox 8"/>
          <p:cNvSpPr txBox="1"/>
          <p:nvPr/>
        </p:nvSpPr>
        <p:spPr>
          <a:xfrm>
            <a:off x="1828800" y="2819400"/>
            <a:ext cx="184731" cy="369332"/>
          </a:xfrm>
          <a:prstGeom prst="rect">
            <a:avLst/>
          </a:prstGeom>
          <a:noFill/>
        </p:spPr>
        <p:txBody>
          <a:bodyPr wrap="none" rtlCol="0">
            <a:spAutoFit/>
          </a:bodyPr>
          <a:lstStyle/>
          <a:p>
            <a:endParaRPr lang="en-US" dirty="0"/>
          </a:p>
        </p:txBody>
      </p:sp>
      <p:graphicFrame>
        <p:nvGraphicFramePr>
          <p:cNvPr id="10" name="Table 9"/>
          <p:cNvGraphicFramePr>
            <a:graphicFrameLocks noGrp="1"/>
          </p:cNvGraphicFramePr>
          <p:nvPr/>
        </p:nvGraphicFramePr>
        <p:xfrm>
          <a:off x="1371600" y="2209800"/>
          <a:ext cx="3493517" cy="4544042"/>
        </p:xfrm>
        <a:graphic>
          <a:graphicData uri="http://schemas.openxmlformats.org/drawingml/2006/table">
            <a:tbl>
              <a:tblPr/>
              <a:tblGrid>
                <a:gridCol w="1208099"/>
                <a:gridCol w="1001701"/>
                <a:gridCol w="762000"/>
                <a:gridCol w="521717"/>
              </a:tblGrid>
              <a:tr h="270038">
                <a:tc>
                  <a:txBody>
                    <a:bodyPr/>
                    <a:lstStyle/>
                    <a:p>
                      <a:pPr marL="0" marR="0">
                        <a:lnSpc>
                          <a:spcPct val="115000"/>
                        </a:lnSpc>
                        <a:spcBef>
                          <a:spcPts val="0"/>
                        </a:spcBef>
                        <a:spcAft>
                          <a:spcPts val="0"/>
                        </a:spcAft>
                      </a:pPr>
                      <a:r>
                        <a:rPr lang="en-US" sz="1200" dirty="0">
                          <a:latin typeface="Times New Roman"/>
                          <a:ea typeface="Calibri"/>
                          <a:cs typeface="Times New Roman"/>
                        </a:rPr>
                        <a:t>Family Relation </a:t>
                      </a:r>
                      <a:endParaRPr lang="en-US" sz="1100" dirty="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endParaRPr lang="en-US" sz="1200">
                        <a:latin typeface="Times New Roman"/>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1600"/>
                        </a:lnSpc>
                        <a:spcBef>
                          <a:spcPts val="0"/>
                        </a:spcBef>
                        <a:spcAft>
                          <a:spcPts val="0"/>
                        </a:spcAft>
                      </a:pPr>
                      <a:r>
                        <a:rPr lang="en-US" sz="900" dirty="0">
                          <a:solidFill>
                            <a:srgbClr val="000000"/>
                          </a:solidFill>
                          <a:latin typeface="Arial"/>
                          <a:ea typeface="Calibri"/>
                          <a:cs typeface="Times New Roman"/>
                        </a:rPr>
                        <a:t>Frequency</a:t>
                      </a:r>
                      <a:endParaRPr lang="en-US" sz="1100" dirty="0">
                        <a:latin typeface="Calibri"/>
                        <a:ea typeface="Calibri"/>
                        <a:cs typeface="Times New Roman"/>
                      </a:endParaRPr>
                    </a:p>
                  </a:txBody>
                  <a:tcPr marL="18782" marR="18782" marT="18782" marB="18782"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0" marR="0" algn="ctr">
                        <a:lnSpc>
                          <a:spcPts val="1600"/>
                        </a:lnSpc>
                        <a:spcBef>
                          <a:spcPts val="0"/>
                        </a:spcBef>
                        <a:spcAft>
                          <a:spcPts val="0"/>
                        </a:spcAft>
                      </a:pPr>
                      <a:r>
                        <a:rPr lang="en-US" sz="900">
                          <a:solidFill>
                            <a:srgbClr val="000000"/>
                          </a:solidFill>
                          <a:latin typeface="Arial"/>
                          <a:ea typeface="Calibri"/>
                          <a:cs typeface="Times New Roman"/>
                        </a:rPr>
                        <a:t>Percent</a:t>
                      </a:r>
                      <a:endParaRPr lang="en-US" sz="1100">
                        <a:latin typeface="Calibri"/>
                        <a:ea typeface="Calibri"/>
                        <a:cs typeface="Times New Roman"/>
                      </a:endParaRPr>
                    </a:p>
                  </a:txBody>
                  <a:tcPr marL="18782" marR="18782" marT="18782" marB="18782"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r>
              <a:tr h="177265">
                <a:tc rowSpan="9">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 </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Husband and wife</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38</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.8</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r>
              <a:tr h="341562">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Husband, wife, and 1-3 children</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33</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.7</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177265">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Siblings</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24</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.5</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505859">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Mother and children, with separate prices reported for each</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15</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.3</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177265">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Father and child</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2</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.0</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177265">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Granddaughter</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3</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.1</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341562">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Husband, wife, and four or more children</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12</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.2</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341562">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Mother and four or more children</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22</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.4</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177265">
                <a:tc vMerge="1">
                  <a:txBody>
                    <a:bodyPr/>
                    <a:lstStyle/>
                    <a:p>
                      <a:endParaRPr lang="en-US"/>
                    </a:p>
                  </a:txBody>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Total</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149</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3.0</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341562">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 </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No family relation indicated</a:t>
                      </a:r>
                      <a:endParaRPr lang="en-US" sz="1100">
                        <a:latin typeface="Calibri"/>
                        <a:ea typeface="Calibri"/>
                        <a:cs typeface="Times New Roman"/>
                      </a:endParaRPr>
                    </a:p>
                  </a:txBody>
                  <a:tcPr marL="18782" marR="18782" marT="18782" marB="18782">
                    <a:lnL>
                      <a:noFill/>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4860</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0" marR="0" algn="r">
                        <a:lnSpc>
                          <a:spcPts val="1600"/>
                        </a:lnSpc>
                        <a:spcBef>
                          <a:spcPts val="0"/>
                        </a:spcBef>
                        <a:spcAft>
                          <a:spcPts val="0"/>
                        </a:spcAft>
                      </a:pPr>
                      <a:r>
                        <a:rPr lang="en-US" sz="900">
                          <a:solidFill>
                            <a:srgbClr val="000000"/>
                          </a:solidFill>
                          <a:latin typeface="Arial"/>
                          <a:ea typeface="Calibri"/>
                          <a:cs typeface="Times New Roman"/>
                        </a:rPr>
                        <a:t>97.0</a:t>
                      </a:r>
                      <a:endParaRPr lang="en-US" sz="110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r>
              <a:tr h="177265">
                <a:tc gridSpan="2">
                  <a:txBody>
                    <a:bodyPr/>
                    <a:lstStyle/>
                    <a:p>
                      <a:pPr marL="0" marR="0">
                        <a:lnSpc>
                          <a:spcPts val="1600"/>
                        </a:lnSpc>
                        <a:spcBef>
                          <a:spcPts val="0"/>
                        </a:spcBef>
                        <a:spcAft>
                          <a:spcPts val="0"/>
                        </a:spcAft>
                      </a:pPr>
                      <a:r>
                        <a:rPr lang="en-US" sz="900">
                          <a:solidFill>
                            <a:srgbClr val="000000"/>
                          </a:solidFill>
                          <a:latin typeface="Arial"/>
                          <a:ea typeface="Calibri"/>
                          <a:cs typeface="Times New Roman"/>
                        </a:rPr>
                        <a:t>Total</a:t>
                      </a:r>
                      <a:endParaRPr lang="en-US" sz="110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0" marR="0" algn="r">
                        <a:lnSpc>
                          <a:spcPts val="1600"/>
                        </a:lnSpc>
                        <a:spcBef>
                          <a:spcPts val="0"/>
                        </a:spcBef>
                        <a:spcAft>
                          <a:spcPts val="0"/>
                        </a:spcAft>
                      </a:pPr>
                      <a:r>
                        <a:rPr lang="en-US" sz="900" dirty="0">
                          <a:solidFill>
                            <a:srgbClr val="000000"/>
                          </a:solidFill>
                          <a:latin typeface="Arial"/>
                          <a:ea typeface="Calibri"/>
                          <a:cs typeface="Times New Roman"/>
                        </a:rPr>
                        <a:t>5009</a:t>
                      </a:r>
                      <a:endParaRPr lang="en-US" sz="1100" dirty="0">
                        <a:latin typeface="Calibri"/>
                        <a:ea typeface="Calibri"/>
                        <a:cs typeface="Times New Roman"/>
                      </a:endParaRPr>
                    </a:p>
                  </a:txBody>
                  <a:tcPr marL="18782" marR="18782" marT="18782" marB="18782">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solidFill>
                      <a:srgbClr val="FFFFFF"/>
                    </a:solidFill>
                  </a:tcPr>
                </a:tc>
                <a:tc>
                  <a:txBody>
                    <a:bodyPr/>
                    <a:lstStyle/>
                    <a:p>
                      <a:pPr marL="0" marR="0" algn="r">
                        <a:lnSpc>
                          <a:spcPts val="1600"/>
                        </a:lnSpc>
                        <a:spcBef>
                          <a:spcPts val="0"/>
                        </a:spcBef>
                        <a:spcAft>
                          <a:spcPts val="0"/>
                        </a:spcAft>
                      </a:pPr>
                      <a:r>
                        <a:rPr lang="en-US" sz="900" dirty="0">
                          <a:solidFill>
                            <a:srgbClr val="000000"/>
                          </a:solidFill>
                          <a:latin typeface="Arial"/>
                          <a:ea typeface="Calibri"/>
                          <a:cs typeface="Times New Roman"/>
                        </a:rPr>
                        <a:t>100.0</a:t>
                      </a:r>
                      <a:endParaRPr lang="en-US" sz="1100" dirty="0">
                        <a:latin typeface="Calibri"/>
                        <a:ea typeface="Calibri"/>
                        <a:cs typeface="Times New Roman"/>
                      </a:endParaRPr>
                    </a:p>
                  </a:txBody>
                  <a:tcPr marL="18782" marR="18782" marT="18782" marB="1878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solidFill>
                      <a:srgbClr val="FFFFFF"/>
                    </a:solidFill>
                  </a:tcPr>
                </a:tc>
              </a:tr>
            </a:tbl>
          </a:graphicData>
        </a:graphic>
      </p:graphicFrame>
      <p:sp>
        <p:nvSpPr>
          <p:cNvPr id="11" name="TextBox 10"/>
          <p:cNvSpPr txBox="1"/>
          <p:nvPr/>
        </p:nvSpPr>
        <p:spPr>
          <a:xfrm>
            <a:off x="5257800" y="3581400"/>
            <a:ext cx="3041855" cy="1754326"/>
          </a:xfrm>
          <a:prstGeom prst="rect">
            <a:avLst/>
          </a:prstGeom>
          <a:noFill/>
        </p:spPr>
        <p:txBody>
          <a:bodyPr wrap="square" rtlCol="0">
            <a:spAutoFit/>
          </a:bodyPr>
          <a:lstStyle/>
          <a:p>
            <a:r>
              <a:rPr lang="en-US" dirty="0" smtClean="0"/>
              <a:t>Question:  How do you interpret the data in the table at the left?   What does it mean that 97% of the persons sold had “no family relation”?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7" name="TextBox 6"/>
          <p:cNvSpPr txBox="1"/>
          <p:nvPr/>
        </p:nvSpPr>
        <p:spPr>
          <a:xfrm>
            <a:off x="0" y="990601"/>
            <a:ext cx="3276600" cy="3970318"/>
          </a:xfrm>
          <a:prstGeom prst="rect">
            <a:avLst/>
          </a:prstGeom>
          <a:noFill/>
        </p:spPr>
        <p:txBody>
          <a:bodyPr wrap="square" rtlCol="0">
            <a:spAutoFit/>
          </a:bodyPr>
          <a:lstStyle/>
          <a:p>
            <a:r>
              <a:rPr lang="en-US" sz="2000" dirty="0" smtClean="0"/>
              <a:t>4. --Owners took care not to break up families by sale; individuals sold were done so at an age they would normally leave their households…</a:t>
            </a:r>
            <a:br>
              <a:rPr lang="en-US" sz="2000" dirty="0" smtClean="0"/>
            </a:br>
            <a:endParaRPr lang="en-US" sz="2000" dirty="0" smtClean="0"/>
          </a:p>
          <a:p>
            <a:r>
              <a:rPr lang="en-US" sz="1600" dirty="0" smtClean="0"/>
              <a:t>Test:  Instead of checking Family Relation (V35), run a frequency tabulation on Number of Slaves on Invoice (V12)</a:t>
            </a:r>
          </a:p>
          <a:p>
            <a:pPr marL="342900" indent="-342900"/>
            <a:endParaRPr lang="en-US" sz="1600" dirty="0" smtClean="0"/>
          </a:p>
          <a:p>
            <a:pPr marL="342900" indent="-342900"/>
            <a:endParaRPr lang="en-US" sz="1600" dirty="0" smtClean="0"/>
          </a:p>
          <a:p>
            <a:r>
              <a:rPr lang="en-US" sz="1600" dirty="0" smtClean="0"/>
              <a:t>  </a:t>
            </a:r>
          </a:p>
        </p:txBody>
      </p:sp>
      <p:sp>
        <p:nvSpPr>
          <p:cNvPr id="9" name="TextBox 8"/>
          <p:cNvSpPr txBox="1"/>
          <p:nvPr/>
        </p:nvSpPr>
        <p:spPr>
          <a:xfrm>
            <a:off x="1828800" y="2819400"/>
            <a:ext cx="184731" cy="369332"/>
          </a:xfrm>
          <a:prstGeom prst="rect">
            <a:avLst/>
          </a:prstGeom>
          <a:noFill/>
        </p:spPr>
        <p:txBody>
          <a:bodyPr wrap="none" rtlCol="0">
            <a:spAutoFit/>
          </a:bodyPr>
          <a:lstStyle/>
          <a:p>
            <a:endParaRPr lang="en-US" dirty="0"/>
          </a:p>
        </p:txBody>
      </p:sp>
      <p:sp>
        <p:nvSpPr>
          <p:cNvPr id="5120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16" name="Table 15"/>
          <p:cNvGraphicFramePr>
            <a:graphicFrameLocks noGrp="1"/>
          </p:cNvGraphicFramePr>
          <p:nvPr/>
        </p:nvGraphicFramePr>
        <p:xfrm>
          <a:off x="3962401" y="1396988"/>
          <a:ext cx="3428998" cy="5156211"/>
        </p:xfrm>
        <a:graphic>
          <a:graphicData uri="http://schemas.openxmlformats.org/drawingml/2006/table">
            <a:tbl>
              <a:tblPr/>
              <a:tblGrid>
                <a:gridCol w="844061"/>
                <a:gridCol w="844061"/>
                <a:gridCol w="896815"/>
                <a:gridCol w="844061"/>
              </a:tblGrid>
              <a:tr h="582153">
                <a:tc>
                  <a:txBody>
                    <a:bodyPr/>
                    <a:lstStyle/>
                    <a:p>
                      <a:pPr algn="l" fontAlgn="b"/>
                      <a:r>
                        <a:rPr lang="en-US" sz="700" b="0" i="0" u="none" strike="noStrike" dirty="0">
                          <a:solidFill>
                            <a:srgbClr val="000000"/>
                          </a:solidFill>
                          <a:latin typeface="Calibri"/>
                        </a:rPr>
                        <a:t>Number of slaves per invoice</a:t>
                      </a:r>
                    </a:p>
                  </a:txBody>
                  <a:tcPr marL="6426" marR="6426" marT="6426"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700" b="0" i="0" u="none" strike="noStrike">
                          <a:solidFill>
                            <a:srgbClr val="000000"/>
                          </a:solidFill>
                          <a:latin typeface="Calibri"/>
                        </a:rPr>
                        <a:t>number of invoices</a:t>
                      </a:r>
                    </a:p>
                  </a:txBody>
                  <a:tcPr marL="6426" marR="6426" marT="6426" marB="0" anchor="b">
                    <a:lnL>
                      <a:noFill/>
                    </a:lnL>
                    <a:lnR>
                      <a:noFill/>
                    </a:lnR>
                    <a:lnT>
                      <a:noFill/>
                    </a:lnT>
                    <a:lnB w="12700" cap="flat" cmpd="sng" algn="ctr">
                      <a:solidFill>
                        <a:srgbClr val="000000"/>
                      </a:solidFill>
                      <a:prstDash val="solid"/>
                      <a:round/>
                      <a:headEnd type="none" w="med" len="med"/>
                      <a:tailEnd type="none" w="med" len="med"/>
                    </a:lnB>
                  </a:tcPr>
                </a:tc>
                <a:tc gridSpan="2">
                  <a:txBody>
                    <a:bodyPr/>
                    <a:lstStyle/>
                    <a:p>
                      <a:pPr algn="ctr" fontAlgn="ctr"/>
                      <a:r>
                        <a:rPr lang="en-US" sz="600" b="1" i="0" u="none" strike="noStrike">
                          <a:solidFill>
                            <a:srgbClr val="000000"/>
                          </a:solidFill>
                          <a:latin typeface="Arial Bold"/>
                        </a:rPr>
                        <a:t>total slaves sold on invoices</a:t>
                      </a:r>
                    </a:p>
                  </a:txBody>
                  <a:tcPr marL="6426" marR="6426" marT="6426" marB="0" anchor="ctr">
                    <a:lnL>
                      <a:noFill/>
                    </a:lnL>
                    <a:lnR>
                      <a:noFill/>
                    </a:lnR>
                    <a:lnT>
                      <a:noFill/>
                    </a:lnT>
                    <a:lnB>
                      <a:noFill/>
                    </a:lnB>
                  </a:tcPr>
                </a:tc>
                <a:tc hMerge="1">
                  <a:txBody>
                    <a:bodyPr/>
                    <a:lstStyle/>
                    <a:p>
                      <a:endParaRPr lang="en-US"/>
                    </a:p>
                  </a:txBody>
                  <a:tcPr/>
                </a:tc>
              </a:tr>
              <a:tr h="163068">
                <a:tc>
                  <a:txBody>
                    <a:bodyPr/>
                    <a:lstStyle/>
                    <a:p>
                      <a:pPr algn="l" fontAlgn="t"/>
                      <a:r>
                        <a:rPr lang="en-US" sz="600" b="0" i="0" u="none" strike="noStrike">
                          <a:solidFill>
                            <a:srgbClr val="000000"/>
                          </a:solidFill>
                          <a:latin typeface="Arial"/>
                        </a:rPr>
                        <a:t>1</a:t>
                      </a:r>
                    </a:p>
                  </a:txBody>
                  <a:tcPr marL="6426" marR="6426" marT="6426"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fontAlgn="t"/>
                      <a:r>
                        <a:rPr lang="en-US" sz="600" b="0" i="0" u="none" strike="noStrike">
                          <a:solidFill>
                            <a:srgbClr val="000000"/>
                          </a:solidFill>
                          <a:latin typeface="Arial"/>
                        </a:rPr>
                        <a:t>2725</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r" fontAlgn="b"/>
                      <a:r>
                        <a:rPr lang="en-US" sz="700" b="0" i="0" u="none" strike="noStrike">
                          <a:solidFill>
                            <a:srgbClr val="000000"/>
                          </a:solidFill>
                          <a:latin typeface="Arial"/>
                        </a:rPr>
                        <a:t>2725</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2</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720</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1440</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3</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285</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855</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4</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214</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856</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5</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133</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665</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6</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158</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948</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7</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111</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777</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8</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53</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424</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dirty="0">
                          <a:solidFill>
                            <a:srgbClr val="000000"/>
                          </a:solidFill>
                          <a:latin typeface="Arial"/>
                        </a:rPr>
                        <a:t>9</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62</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558</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10</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56</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560</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11</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67</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737</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12</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30</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360</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14</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45</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630</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15</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15</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225</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16</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16</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256</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18</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18</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324</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19</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19</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361</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21</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36</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756</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24</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24</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576</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25</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25</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625</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26</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26</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676</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28</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28</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784</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31</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31</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961</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38</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36</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1368</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39</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27</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1053</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40</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18</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720</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63068">
                <a:tc>
                  <a:txBody>
                    <a:bodyPr/>
                    <a:lstStyle/>
                    <a:p>
                      <a:pPr algn="l" fontAlgn="t"/>
                      <a:r>
                        <a:rPr lang="en-US" sz="600" b="0" i="0" u="none" strike="noStrike">
                          <a:solidFill>
                            <a:srgbClr val="000000"/>
                          </a:solidFill>
                          <a:latin typeface="Arial"/>
                        </a:rPr>
                        <a:t>46</a:t>
                      </a:r>
                    </a:p>
                  </a:txBody>
                  <a:tcPr marL="6426" marR="6426" marT="6426"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t"/>
                      <a:r>
                        <a:rPr lang="en-US" sz="600" b="0" i="0" u="none" strike="noStrike">
                          <a:solidFill>
                            <a:srgbClr val="000000"/>
                          </a:solidFill>
                          <a:latin typeface="Arial"/>
                        </a:rPr>
                        <a:t>31</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700" b="0" i="0" u="none" strike="noStrike">
                          <a:solidFill>
                            <a:srgbClr val="000000"/>
                          </a:solidFill>
                          <a:latin typeface="Arial"/>
                        </a:rPr>
                        <a:t>1426</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a:solidFill>
                          <a:srgbClr val="000000"/>
                        </a:solidFill>
                        <a:latin typeface="Calibri"/>
                      </a:endParaRPr>
                    </a:p>
                  </a:txBody>
                  <a:tcPr marL="6426" marR="6426" marT="6426" marB="0" anchor="b">
                    <a:lnL>
                      <a:noFill/>
                    </a:lnL>
                    <a:lnR>
                      <a:noFill/>
                    </a:lnR>
                    <a:lnT>
                      <a:noFill/>
                    </a:lnT>
                    <a:lnB>
                      <a:noFill/>
                    </a:lnB>
                  </a:tcPr>
                </a:tc>
              </a:tr>
              <a:tr h="171222">
                <a:tc>
                  <a:txBody>
                    <a:bodyPr/>
                    <a:lstStyle/>
                    <a:p>
                      <a:pPr algn="l" fontAlgn="t"/>
                      <a:r>
                        <a:rPr lang="en-US" sz="600" b="0" i="0" u="none" strike="noStrike">
                          <a:solidFill>
                            <a:srgbClr val="000000"/>
                          </a:solidFill>
                          <a:latin typeface="Arial"/>
                        </a:rPr>
                        <a:t>Total</a:t>
                      </a:r>
                    </a:p>
                  </a:txBody>
                  <a:tcPr marL="6426" marR="6426" marT="6426"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t"/>
                      <a:r>
                        <a:rPr lang="en-US" sz="600" b="0" i="0" u="none" strike="noStrike">
                          <a:solidFill>
                            <a:srgbClr val="000000"/>
                          </a:solidFill>
                          <a:latin typeface="Arial"/>
                        </a:rPr>
                        <a:t>5009</a:t>
                      </a:r>
                    </a:p>
                  </a:txBody>
                  <a:tcPr marL="6426" marR="6426" marT="6426"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en-US" sz="700" b="0" i="0" u="none" strike="noStrike">
                          <a:solidFill>
                            <a:srgbClr val="000000"/>
                          </a:solidFill>
                          <a:latin typeface="Arial"/>
                        </a:rPr>
                        <a:t>21646</a:t>
                      </a:r>
                    </a:p>
                  </a:txBody>
                  <a:tcPr marL="6426" marR="6426" marT="6426"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700" b="0" i="0" u="none" strike="noStrike" dirty="0">
                        <a:solidFill>
                          <a:srgbClr val="000000"/>
                        </a:solidFill>
                        <a:latin typeface="Calibri"/>
                      </a:endParaRPr>
                    </a:p>
                  </a:txBody>
                  <a:tcPr marL="6426" marR="6426" marT="6426" marB="0" anchor="b">
                    <a:lnL>
                      <a:noFill/>
                    </a:lnL>
                    <a:lnR>
                      <a:noFill/>
                    </a:lnR>
                    <a:lnT>
                      <a:noFill/>
                    </a:lnT>
                    <a:lnB>
                      <a:noFill/>
                    </a:lnB>
                  </a:tcPr>
                </a:tc>
              </a:tr>
            </a:tbl>
          </a:graphicData>
        </a:graphic>
      </p:graphicFrame>
      <p:sp>
        <p:nvSpPr>
          <p:cNvPr id="17" name="TextBox 16"/>
          <p:cNvSpPr txBox="1"/>
          <p:nvPr/>
        </p:nvSpPr>
        <p:spPr>
          <a:xfrm>
            <a:off x="152400" y="4724400"/>
            <a:ext cx="3504806" cy="1754326"/>
          </a:xfrm>
          <a:prstGeom prst="rect">
            <a:avLst/>
          </a:prstGeom>
          <a:noFill/>
        </p:spPr>
        <p:txBody>
          <a:bodyPr wrap="none" rtlCol="0">
            <a:spAutoFit/>
          </a:bodyPr>
          <a:lstStyle/>
          <a:p>
            <a:r>
              <a:rPr lang="en-US" dirty="0" smtClean="0"/>
              <a:t>Question:  how do you interpret</a:t>
            </a:r>
          </a:p>
          <a:p>
            <a:r>
              <a:rPr lang="en-US" dirty="0" smtClean="0"/>
              <a:t>the table to the right?  How does</a:t>
            </a:r>
          </a:p>
          <a:p>
            <a:r>
              <a:rPr lang="en-US" dirty="0" smtClean="0"/>
              <a:t>it compare with the table for</a:t>
            </a:r>
          </a:p>
          <a:p>
            <a:r>
              <a:rPr lang="en-US" dirty="0" smtClean="0"/>
              <a:t>Family Relation?   What are</a:t>
            </a:r>
          </a:p>
          <a:p>
            <a:r>
              <a:rPr lang="en-US" dirty="0" smtClean="0"/>
              <a:t>the implications for the </a:t>
            </a:r>
          </a:p>
          <a:p>
            <a:r>
              <a:rPr lang="en-US" dirty="0" smtClean="0"/>
              <a:t>difference between V35 and V12? </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9" name="TextBox 8"/>
          <p:cNvSpPr txBox="1"/>
          <p:nvPr/>
        </p:nvSpPr>
        <p:spPr>
          <a:xfrm>
            <a:off x="1828800" y="2819400"/>
            <a:ext cx="184731" cy="369332"/>
          </a:xfrm>
          <a:prstGeom prst="rect">
            <a:avLst/>
          </a:prstGeom>
          <a:noFill/>
        </p:spPr>
        <p:txBody>
          <a:bodyPr wrap="none" rtlCol="0">
            <a:spAutoFit/>
          </a:bodyPr>
          <a:lstStyle/>
          <a:p>
            <a:endParaRPr lang="en-US" dirty="0"/>
          </a:p>
        </p:txBody>
      </p:sp>
      <p:sp>
        <p:nvSpPr>
          <p:cNvPr id="5120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11" name="Picture 10" descr="ICPSR-17.jpg"/>
          <p:cNvPicPr>
            <a:picLocks noChangeAspect="1"/>
          </p:cNvPicPr>
          <p:nvPr/>
        </p:nvPicPr>
        <p:blipFill>
          <a:blip r:embed="rId4" cstate="print"/>
          <a:stretch>
            <a:fillRect/>
          </a:stretch>
        </p:blipFill>
        <p:spPr>
          <a:xfrm>
            <a:off x="914400" y="1876425"/>
            <a:ext cx="7048500" cy="4981575"/>
          </a:xfrm>
          <a:prstGeom prst="rect">
            <a:avLst/>
          </a:prstGeom>
        </p:spPr>
      </p:pic>
      <p:sp>
        <p:nvSpPr>
          <p:cNvPr id="12" name="TextBox 11"/>
          <p:cNvSpPr txBox="1"/>
          <p:nvPr/>
        </p:nvSpPr>
        <p:spPr>
          <a:xfrm>
            <a:off x="685800" y="1143000"/>
            <a:ext cx="7938840" cy="369332"/>
          </a:xfrm>
          <a:prstGeom prst="rect">
            <a:avLst/>
          </a:prstGeom>
          <a:noFill/>
        </p:spPr>
        <p:txBody>
          <a:bodyPr wrap="none" rtlCol="0">
            <a:spAutoFit/>
          </a:bodyPr>
          <a:lstStyle/>
          <a:p>
            <a:r>
              <a:rPr lang="en-US" dirty="0" smtClean="0"/>
              <a:t>Refer students to the valuable “ICPSR Bibliography of Data-Related Literature”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8382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seal2_hr.tif"/>
          <p:cNvPicPr>
            <a:picLocks noChangeAspect="1"/>
          </p:cNvPicPr>
          <p:nvPr/>
        </p:nvPicPr>
        <p:blipFill>
          <a:blip r:embed="rId2" cstate="print"/>
          <a:stretch>
            <a:fillRect/>
          </a:stretch>
        </p:blipFill>
        <p:spPr>
          <a:xfrm>
            <a:off x="0" y="0"/>
            <a:ext cx="1058992" cy="1066800"/>
          </a:xfrm>
          <a:prstGeom prst="rect">
            <a:avLst/>
          </a:prstGeom>
        </p:spPr>
      </p:pic>
      <p:pic>
        <p:nvPicPr>
          <p:cNvPr id="5" name="Picture 4" descr="seal2_hr.tif"/>
          <p:cNvPicPr>
            <a:picLocks noChangeAspect="1"/>
          </p:cNvPicPr>
          <p:nvPr/>
        </p:nvPicPr>
        <p:blipFill>
          <a:blip r:embed="rId2" cstate="print"/>
          <a:stretch>
            <a:fillRect/>
          </a:stretch>
        </p:blipFill>
        <p:spPr>
          <a:xfrm>
            <a:off x="8085009" y="-1"/>
            <a:ext cx="1058992" cy="1066801"/>
          </a:xfrm>
          <a:prstGeom prst="rect">
            <a:avLst/>
          </a:prstGeom>
        </p:spPr>
      </p:pic>
      <p:pic>
        <p:nvPicPr>
          <p:cNvPr id="6" name="Picture 5" descr="lcUWEC.tif"/>
          <p:cNvPicPr>
            <a:picLocks noChangeAspect="1"/>
          </p:cNvPicPr>
          <p:nvPr/>
        </p:nvPicPr>
        <p:blipFill>
          <a:blip r:embed="rId3" cstate="print"/>
          <a:stretch>
            <a:fillRect/>
          </a:stretch>
        </p:blipFill>
        <p:spPr>
          <a:xfrm>
            <a:off x="1752600" y="304800"/>
            <a:ext cx="5867400" cy="451790"/>
          </a:xfrm>
          <a:prstGeom prst="rect">
            <a:avLst/>
          </a:prstGeom>
        </p:spPr>
      </p:pic>
      <p:sp>
        <p:nvSpPr>
          <p:cNvPr id="9" name="TextBox 8"/>
          <p:cNvSpPr txBox="1"/>
          <p:nvPr/>
        </p:nvSpPr>
        <p:spPr>
          <a:xfrm>
            <a:off x="1828800" y="2819400"/>
            <a:ext cx="184731" cy="369332"/>
          </a:xfrm>
          <a:prstGeom prst="rect">
            <a:avLst/>
          </a:prstGeom>
          <a:noFill/>
        </p:spPr>
        <p:txBody>
          <a:bodyPr wrap="none" rtlCol="0">
            <a:spAutoFit/>
          </a:bodyPr>
          <a:lstStyle/>
          <a:p>
            <a:endParaRPr lang="en-US" dirty="0"/>
          </a:p>
        </p:txBody>
      </p:sp>
      <p:sp>
        <p:nvSpPr>
          <p:cNvPr id="5120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 name="TextBox 9"/>
          <p:cNvSpPr txBox="1"/>
          <p:nvPr/>
        </p:nvSpPr>
        <p:spPr>
          <a:xfrm>
            <a:off x="457200" y="2438400"/>
            <a:ext cx="8305800" cy="1477328"/>
          </a:xfrm>
          <a:prstGeom prst="rect">
            <a:avLst/>
          </a:prstGeom>
          <a:noFill/>
        </p:spPr>
        <p:txBody>
          <a:bodyPr wrap="square" rtlCol="0">
            <a:spAutoFit/>
          </a:bodyPr>
          <a:lstStyle/>
          <a:p>
            <a:r>
              <a:rPr lang="en-US" dirty="0" smtClean="0"/>
              <a:t>Questions?   Comments?  Observations?   Ask your questions  in real time of the Webinar moderator, or if you are viewing this presentation at a subsequent data, feel free to email me at:  </a:t>
            </a:r>
            <a:r>
              <a:rPr lang="en-US" dirty="0" smtClean="0">
                <a:hlinkClick r:id="rId4"/>
              </a:rPr>
              <a:t>joberly@uwec.edu</a:t>
            </a:r>
            <a:endParaRPr lang="en-US" dirty="0" smtClean="0"/>
          </a:p>
          <a:p>
            <a:endParaRPr lang="en-US" dirty="0" smtClean="0"/>
          </a:p>
          <a:p>
            <a:r>
              <a:rPr lang="en-US" dirty="0" smtClean="0"/>
              <a:t>Thanks for participating in this ICPSR Data Fair Webinar.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439</TotalTime>
  <Words>1824</Words>
  <Application>Microsoft Office PowerPoint</Application>
  <PresentationFormat>On-screen Show (4:3)</PresentationFormat>
  <Paragraphs>363</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Flow</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University of Minnesota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jwoberly</dc:creator>
  <cp:lastModifiedBy>lindamd</cp:lastModifiedBy>
  <cp:revision>87</cp:revision>
  <dcterms:created xsi:type="dcterms:W3CDTF">2010-11-01T16:51:42Z</dcterms:created>
  <dcterms:modified xsi:type="dcterms:W3CDTF">2010-11-05T12:07:50Z</dcterms:modified>
</cp:coreProperties>
</file>